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72" r:id="rId16"/>
    <p:sldId id="269" r:id="rId17"/>
    <p:sldId id="270" r:id="rId18"/>
    <p:sldId id="273" r:id="rId19"/>
    <p:sldId id="274" r:id="rId20"/>
    <p:sldId id="275" r:id="rId21"/>
    <p:sldId id="276" r:id="rId22"/>
    <p:sldId id="278" r:id="rId23"/>
    <p:sldId id="279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36243C-1932-40A0-9A51-2F6C0098D5AB}">
          <p14:sldIdLst>
            <p14:sldId id="256"/>
            <p14:sldId id="257"/>
            <p14:sldId id="258"/>
            <p14:sldId id="260"/>
            <p14:sldId id="259"/>
            <p14:sldId id="262"/>
            <p14:sldId id="261"/>
            <p14:sldId id="263"/>
            <p14:sldId id="265"/>
            <p14:sldId id="264"/>
            <p14:sldId id="266"/>
            <p14:sldId id="267"/>
            <p14:sldId id="268"/>
            <p14:sldId id="271"/>
            <p14:sldId id="272"/>
            <p14:sldId id="269"/>
            <p14:sldId id="270"/>
            <p14:sldId id="273"/>
            <p14:sldId id="274"/>
            <p14:sldId id="275"/>
            <p14:sldId id="276"/>
            <p14:sldId id="278"/>
            <p14:sldId id="279"/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867" autoAdjust="0"/>
  </p:normalViewPr>
  <p:slideViewPr>
    <p:cSldViewPr snapToGrid="0">
      <p:cViewPr varScale="1">
        <p:scale>
          <a:sx n="103" d="100"/>
          <a:sy n="103" d="100"/>
        </p:scale>
        <p:origin x="13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66006-2B61-4839-AB18-741932683107}" type="datetimeFigureOut">
              <a:rPr lang="en-IE" smtClean="0"/>
              <a:t>01/02/2023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990F3-4588-49CA-957C-F3975B18027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515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You can do some of your own investigation and come to your own conclusions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613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We will use https://blockchair.com/ often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269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Images Around 1894 / BOE operating from  1734 till 1920 (Demolished)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77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Image Taken from : https://www.docusign.com/how-it-works/electronic-signature/digital-signature/digital-signature-faq</a:t>
            </a:r>
          </a:p>
          <a:p>
            <a:endParaRPr lang="en-I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A mathematical scheme for demonstrating authenticity of digital messages or documents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126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An Agreement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2014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Solar Mining is a possibility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0990F3-4588-49CA-957C-F3975B18027A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217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D8D0-A114-61ED-D616-61F2D096E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3D756-9EAB-1ECB-92F4-7D8E1BE2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1B7F0-3D42-D9ED-11F7-7C2C6729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CE16-D562-4939-896E-95EF4874066C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2E27-04EB-1B6A-A86B-024FD7A8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7881-86D3-289E-FFB3-031218B5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420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1737-555A-D632-9489-93757DF8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B460-71A9-94A3-B668-87A3C3AF1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A36-0696-D639-6F65-1E456752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EB1D-5F94-41DF-A983-A2308BEEF24B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6140B-F734-354C-DCB1-AB63649E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D78C6-07E3-6448-9B14-47D8BCA7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66246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C6E2-920A-8624-E7E4-90D0441E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CA5BB-FFEE-862A-EDD9-39A117392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ABDD0-2CB8-50D7-42BA-E101DF82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9ACEE-DB4A-41FE-8EBF-04F8CC5C4792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BB623-E955-C9A9-B996-0A802CA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546A8-EA06-8EE0-547A-05C1E254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2917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E728-82AF-592F-1886-83BD186C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3CFE-8DD5-C9A6-4BFE-FEC30B6BA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B445C-D9D5-992A-652E-D1732AB98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C2920-2EEC-709F-C544-EC3A8B3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0B18-6E23-489B-A450-72FE60809727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F0DB9-015D-1449-CC70-382B0355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396E2-E977-27A5-62D8-68A9DDD2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197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F1CC-BB44-32A6-D388-CF241747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9AC0F-C121-479C-4EF9-54EC188A9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BDEA8-7992-7BA3-DA45-30ADF4085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113A5-E887-38B0-D110-74FF5D58C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10A9F-665E-14F8-9ABD-DE4A129ED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D7153-5FB7-F151-46A6-DAB98692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2296-6F61-4D39-B312-769E199D4294}" type="datetime1">
              <a:rPr lang="en-IE" smtClean="0"/>
              <a:t>01/02/2023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48158-D0D4-98DA-916A-1A5C1A8D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8C0BA-E931-BC21-9E22-3AF76CD4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799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723A-B268-4E8B-D8A6-0924DEE9B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AE7C1-E20E-7533-41DB-CC3C1E4E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EBC7-E3E7-48A1-8AC0-373F01448368}" type="datetime1">
              <a:rPr lang="en-IE" smtClean="0"/>
              <a:t>01/02/2023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6FF331-1D12-5B33-E9D8-2E2E4644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EBBBF-691A-5E88-F30F-B321DFA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499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0C6B4-76D5-22E5-0DCF-83930E43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4E298-E90A-4423-ABB0-13D64439CA35}" type="datetime1">
              <a:rPr lang="en-IE" smtClean="0"/>
              <a:t>01/02/2023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3D234-C004-2645-2235-5CF94777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DCE55-ABD0-E94D-CA9F-3E4B813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792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C68E-EA21-0F10-F9F0-52133CD6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2AA8-0A54-D9EC-4604-C3B73FFF8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35D7E-46D7-F76A-8E1B-DFA20F234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78149-2FC4-3191-BDB5-092B57E95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B143-860D-4D37-8F73-2FAFB7D1A2E4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36F20-90F6-A6E0-1861-CC07553B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F037E-0F65-2C18-4423-EA492D4B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795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DBFE-6448-FFB5-29E0-810BC0DC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F700B-707D-EFA6-2A85-62037AC35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BA2E5-820A-1284-4969-2EDE8ADC9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AC5B5-94CA-079C-6BF3-35BE140B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5DA25-BBC0-4972-8017-9736CF861B08}" type="datetime1">
              <a:rPr lang="en-IE" smtClean="0"/>
              <a:t>01/02/2023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7728C-9994-2C1F-A1D4-E42730D0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EE40B-982B-2684-5A2E-CDFE3966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725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7DCC-E47E-7DA0-FF69-D95A8C76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67EF5-7780-9434-4374-C68411F99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53B4-2509-7489-2C4C-74C9FCC0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7332E-2AD3-4D4A-A747-E3A9C18768C7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9146A-FA51-AA98-261B-51EA5ABE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CCDF5-6D0A-60D1-D363-96D1C140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432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01972-983B-E95F-F3AA-E0E363599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576B-806A-15C4-41B0-20FA99B6F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B3C03-6A0B-A24A-9CAC-DF9AF845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9509-F6E3-4AFF-B4CD-B9E4145984D3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F4B8-CA9E-155A-3E3F-F35E4D3C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7E9B8-B522-7E90-FC03-4F149753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909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0E2E8-ED19-86AF-31CE-C897884C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5D5EA-2AF1-2AAB-4ABA-B49BEDDE2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2FDF5-E3B2-792C-C0A0-C38DDCBC4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C7AB3-D15D-45DC-A30D-85C8B10592C6}" type="datetime1">
              <a:rPr lang="en-IE" smtClean="0"/>
              <a:t>01/02/2023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A580A-77A5-8AEA-B13E-49970DB34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E"/>
              <a:t>SHeeney23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FA035-9BD3-1F7F-21AA-F7C092CB4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45787-9862-47EA-B616-839E77E54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185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atoshi_Nakamot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toshi_Nakamoto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ckchair.com/bitcoin/block/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ckchair.com/bitcoin/charts/pric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2pfoundation.ning.com/forum/topics/bitcoin-open-source" TargetMode="External"/><Relationship Id="rId2" Type="http://schemas.openxmlformats.org/officeDocument/2006/relationships/hyperlink" Target="https://wiki.p2pfoundation.net/Bitco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url?sa=t&amp;rct=j&amp;q=&amp;esrc=s&amp;source=web&amp;cd=&amp;ved=2ahUKEwirnpWn5vT8AhUBmVwKHSYLBngQFnoECAsQAQ&amp;url=https%3A%2F%2Fbitcoin.org%2Fbitcoin.pdf&amp;usg=AOvVaw05-4mYD7EyyKjwcHh8i0Vw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cointalk.org/index.php?topic=137.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ckchair.com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t&amp;rct=j&amp;q=&amp;esrc=s&amp;source=web&amp;cd=&amp;ved=2ahUKEwivh4KN8PT8AhWaSMAKHStICI4QFnoECAsQAQ&amp;url=http%3A%2F%2Fwww.hashcash.org%2Fhashcash.pdf&amp;usg=AOvVaw1dxIg7zkXIlHZUy8hwwb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xorbin.com/tools/sha256-hash-calculato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bitcoin.it/wiki/Difficulty" TargetMode="External"/><Relationship Id="rId2" Type="http://schemas.openxmlformats.org/officeDocument/2006/relationships/hyperlink" Target="https://www.coinwarz.com/mining/bitcoin/difficulty-chart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ndersbrownworth.com/blockchain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84E-BD47-3C3A-2496-82062DA81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3465443" cy="2387600"/>
          </a:xfrm>
        </p:spPr>
        <p:txBody>
          <a:bodyPr/>
          <a:lstStyle/>
          <a:p>
            <a:pPr algn="l"/>
            <a:r>
              <a:rPr lang="en-IE" b="1" dirty="0"/>
              <a:t>Blockchain</a:t>
            </a:r>
            <a:br>
              <a:rPr lang="en-IE" b="1" dirty="0"/>
            </a:br>
            <a:r>
              <a:rPr lang="en-IE" b="1" dirty="0">
                <a:solidFill>
                  <a:srgbClr val="FF0000"/>
                </a:solidFill>
              </a:rPr>
              <a:t>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06BEA-6275-6630-07E9-A5C9E637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053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B606-0D40-7786-79A0-5B5E4334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DAB5-1103-DCC7-8070-F135FEEF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</a:t>
            </a:r>
          </a:p>
          <a:p>
            <a:r>
              <a:rPr lang="en-IE" dirty="0"/>
              <a:t>Bitcoin as a Currency</a:t>
            </a:r>
          </a:p>
          <a:p>
            <a:r>
              <a:rPr lang="en-IE" dirty="0"/>
              <a:t>The Components of the System</a:t>
            </a:r>
          </a:p>
          <a:p>
            <a:r>
              <a:rPr lang="en-IE" dirty="0"/>
              <a:t>Some of the Processes – Mining / Consensus</a:t>
            </a:r>
          </a:p>
          <a:p>
            <a:r>
              <a:rPr lang="en-IE" dirty="0"/>
              <a:t>The Software Protocol</a:t>
            </a:r>
          </a:p>
          <a:p>
            <a:r>
              <a:rPr lang="en-IE" dirty="0"/>
              <a:t>The History</a:t>
            </a:r>
          </a:p>
          <a:p>
            <a:r>
              <a:rPr lang="en-IE" dirty="0"/>
              <a:t>A Transaction Lifecycle</a:t>
            </a:r>
          </a:p>
          <a:p>
            <a:r>
              <a:rPr lang="en-IE" dirty="0"/>
              <a:t>Wallets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06BFE-6024-491C-94B8-DF218E5D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493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8077-CE9E-B39E-954D-5A0C76C0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BTC / Bitcoin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F26A-5E3E-63AC-49FF-B07F51072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1</a:t>
            </a:r>
            <a:r>
              <a:rPr lang="en-IE" baseline="30000" dirty="0"/>
              <a:t>st</a:t>
            </a:r>
            <a:r>
              <a:rPr lang="en-IE" dirty="0"/>
              <a:t> Blockchain and Crypto Currency</a:t>
            </a:r>
          </a:p>
          <a:p>
            <a:r>
              <a:rPr lang="en-IE" dirty="0"/>
              <a:t>Created / Appeared in 2009</a:t>
            </a:r>
          </a:p>
          <a:p>
            <a:endParaRPr lang="en-IE" dirty="0"/>
          </a:p>
          <a:p>
            <a:r>
              <a:rPr lang="en-IE" dirty="0"/>
              <a:t>The Father of Crypto</a:t>
            </a:r>
          </a:p>
          <a:p>
            <a:r>
              <a:rPr lang="en-IE" dirty="0"/>
              <a:t>Speculated to be Created by Satoshi Nakamoto</a:t>
            </a:r>
          </a:p>
          <a:p>
            <a:r>
              <a:rPr lang="en-IE" dirty="0">
                <a:hlinkClick r:id="rId2"/>
              </a:rPr>
              <a:t>Wiki Link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All other cryptocurrencies are considered as Alt-Coins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435B9-B4B3-C279-59AF-84D34FB8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20818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1945B-49FB-E1E2-96D3-53969229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Picture 4" descr="C:\Users\Rommel\Dropbox\NCI\Blockchain\Images\satoshi.jpg">
            <a:extLst>
              <a:ext uri="{FF2B5EF4-FFF2-40B4-BE49-F238E27FC236}">
                <a16:creationId xmlns:a16="http://schemas.microsoft.com/office/drawing/2014/main" id="{7FCC602D-F0DB-6082-D7CE-1631B8028F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693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341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743C-7479-437C-E4EF-0A20C99D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Satoshi Nakamoto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748EB-325E-DB14-513D-53F486E6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5" name="Picture 3" descr="C:\Users\Rommel\Dropbox\NCI\Blockchain\Images\how_an_ordinary_man_became_father_of_bitcoin.jpg">
            <a:extLst>
              <a:ext uri="{FF2B5EF4-FFF2-40B4-BE49-F238E27FC236}">
                <a16:creationId xmlns:a16="http://schemas.microsoft.com/office/drawing/2014/main" id="{DF4D8915-26C6-BDC9-8AC3-66FD9193A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95592" y="1428302"/>
            <a:ext cx="3111453" cy="1637607"/>
          </a:xfrm>
          <a:prstGeom prst="rect">
            <a:avLst/>
          </a:prstGeom>
          <a:noFill/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9FAC5B-244B-29E9-5535-E0DA09DAF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hlinkClick r:id="rId3"/>
              </a:rPr>
              <a:t>Wiki Link</a:t>
            </a:r>
            <a:endParaRPr lang="en-IE" dirty="0"/>
          </a:p>
          <a:p>
            <a:endParaRPr lang="en-IE" dirty="0"/>
          </a:p>
          <a:p>
            <a:r>
              <a:rPr lang="en-IE" dirty="0" err="1"/>
              <a:t>PsudoName</a:t>
            </a:r>
            <a:r>
              <a:rPr lang="en-IE" dirty="0"/>
              <a:t> – Not Real Name</a:t>
            </a:r>
          </a:p>
          <a:p>
            <a:r>
              <a:rPr lang="en-IE" dirty="0"/>
              <a:t>Reporters Did approach this individual but he denied ownership</a:t>
            </a:r>
          </a:p>
          <a:p>
            <a:r>
              <a:rPr lang="en-IE" dirty="0"/>
              <a:t>There are possible individuals who may be responsible</a:t>
            </a:r>
          </a:p>
          <a:p>
            <a:pPr lvl="1"/>
            <a:r>
              <a:rPr lang="en-IE" dirty="0"/>
              <a:t>Hal </a:t>
            </a:r>
            <a:r>
              <a:rPr lang="en-IE" dirty="0" err="1"/>
              <a:t>Finey</a:t>
            </a:r>
            <a:r>
              <a:rPr lang="en-IE" dirty="0"/>
              <a:t> (Cryptographic Pioneer) </a:t>
            </a:r>
          </a:p>
          <a:p>
            <a:pPr lvl="1"/>
            <a:r>
              <a:rPr lang="en-IE" dirty="0"/>
              <a:t>Nick Szabo (Smart Contracts)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DC4A0D-DB24-E3FE-8B26-DD179D2C8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827" y="5114502"/>
            <a:ext cx="1407248" cy="1424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06F000-820B-70BB-39B9-C163F7C1A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725" y="4428702"/>
            <a:ext cx="1282562" cy="14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8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8305-D1BA-8F7D-10BC-5E626DC3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Satoshi Nakamoto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7E6FF-41E3-5DBA-CA9B-3A75A105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Alternative Theories Suggest : 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Some do Know , but the majority do not and may never know. 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D4C71-9DC0-DA93-4EB2-A4812559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433974-8252-2489-E522-05EF0EBDF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689" y="2445854"/>
            <a:ext cx="59817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2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06FA-7C13-7ED6-9055-5C58D30E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 the Beginning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47782-60CE-062B-7026-624758AF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First Transaction Took Place in 2009. </a:t>
            </a:r>
          </a:p>
          <a:p>
            <a:r>
              <a:rPr lang="en-IE" dirty="0"/>
              <a:t>Jan 3, 2009 6:15 PMUTC</a:t>
            </a:r>
          </a:p>
          <a:p>
            <a:r>
              <a:rPr lang="en-IE" dirty="0"/>
              <a:t>The value of BTC was : $0 and the amount was 50btc</a:t>
            </a:r>
          </a:p>
          <a:p>
            <a:r>
              <a:rPr lang="en-IE" dirty="0"/>
              <a:t>If that transaction took place in Nov 2021 at the height of BTC value, the transaction would be worth 50 X 65,000$</a:t>
            </a:r>
          </a:p>
          <a:p>
            <a:r>
              <a:rPr lang="en-IE" dirty="0">
                <a:hlinkClick r:id="rId3"/>
              </a:rPr>
              <a:t>The Genesis Block</a:t>
            </a:r>
            <a:endParaRPr lang="en-IE" dirty="0"/>
          </a:p>
          <a:p>
            <a:endParaRPr lang="en-IE" dirty="0"/>
          </a:p>
          <a:p>
            <a:r>
              <a:rPr lang="en-IE" dirty="0">
                <a:hlinkClick r:id="rId4"/>
              </a:rPr>
              <a:t>Entire Price History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50A3A-BC32-644A-2684-ED729DE9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91199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0DA0-1AF5-EED7-B3C9-1C0FD89B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Else Happened at the start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0FD2-4551-542A-230B-BD1F2069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82" y="1593712"/>
            <a:ext cx="10515600" cy="4351338"/>
          </a:xfrm>
        </p:spPr>
        <p:txBody>
          <a:bodyPr/>
          <a:lstStyle/>
          <a:p>
            <a:r>
              <a:rPr lang="en-IE" dirty="0">
                <a:hlinkClick r:id="rId2"/>
              </a:rPr>
              <a:t>P2PFoundation</a:t>
            </a:r>
            <a:endParaRPr lang="en-IE" dirty="0"/>
          </a:p>
          <a:p>
            <a:r>
              <a:rPr lang="en-IE" dirty="0">
                <a:hlinkClick r:id="rId3"/>
              </a:rPr>
              <a:t>The Post </a:t>
            </a:r>
            <a:endParaRPr lang="en-IE" dirty="0"/>
          </a:p>
          <a:p>
            <a:r>
              <a:rPr lang="en-IE" dirty="0">
                <a:hlinkClick r:id="rId4"/>
              </a:rPr>
              <a:t>The whitepaper</a:t>
            </a:r>
            <a:endParaRPr lang="en-IE" dirty="0"/>
          </a:p>
          <a:p>
            <a:pPr lvl="1"/>
            <a:r>
              <a:rPr lang="en-IE" dirty="0"/>
              <a:t>More on WPs and ICOs Later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64E84-66B8-6465-4D10-62D47108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45483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069BF-4E07-1F72-2C79-70220BD4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DC6C0-EE4C-55A5-C355-6BF18FAC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894" y="0"/>
            <a:ext cx="5380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2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DA625-A383-22B3-AA7F-E59AE825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82944-AD5D-C1F2-A164-1662CD1AF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8575"/>
            <a:ext cx="57912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3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C1EF-3FEB-424E-5BFD-82531B3E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77609" cy="1325563"/>
          </a:xfrm>
        </p:spPr>
        <p:txBody>
          <a:bodyPr/>
          <a:lstStyle/>
          <a:p>
            <a:r>
              <a:rPr lang="en-IE" dirty="0"/>
              <a:t>The Humour &amp; </a:t>
            </a:r>
            <a:br>
              <a:rPr lang="en-IE" dirty="0"/>
            </a:br>
            <a:r>
              <a:rPr lang="en-IE" dirty="0"/>
              <a:t>Who Could Have Known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9D17A-FE49-66D9-5F37-AD3D32BE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79157" cy="4351338"/>
          </a:xfrm>
        </p:spPr>
        <p:txBody>
          <a:bodyPr/>
          <a:lstStyle/>
          <a:p>
            <a:r>
              <a:rPr lang="en-IE" dirty="0"/>
              <a:t>Bitcoin Pizza Day – May 22</a:t>
            </a:r>
            <a:r>
              <a:rPr lang="en-IE" baseline="30000" dirty="0"/>
              <a:t>nd</a:t>
            </a:r>
            <a:endParaRPr lang="en-IE" dirty="0"/>
          </a:p>
          <a:p>
            <a:r>
              <a:rPr lang="en-IE" dirty="0"/>
              <a:t>In May, 2010 Laszlo </a:t>
            </a:r>
            <a:r>
              <a:rPr lang="en-IE" dirty="0" err="1"/>
              <a:t>Hanyecz</a:t>
            </a:r>
            <a:r>
              <a:rPr lang="en-IE" dirty="0"/>
              <a:t> set out to buy two large pizzas with bitcoin. </a:t>
            </a:r>
          </a:p>
          <a:p>
            <a:r>
              <a:rPr lang="en-IE" dirty="0">
                <a:hlinkClick r:id="rId2"/>
              </a:rPr>
              <a:t>The Post</a:t>
            </a:r>
            <a:endParaRPr lang="en-IE" dirty="0"/>
          </a:p>
          <a:p>
            <a:r>
              <a:rPr lang="en-IE" dirty="0"/>
              <a:t>How Much was it worth Then and how Much is it worth now? Use BC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6E28B-2AB3-5778-425A-0DFA966E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F9AD7-79B7-818E-9FB8-0B1668EDA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251" y="115581"/>
            <a:ext cx="1786559" cy="1374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CE9AA6-F88A-4ACF-B4AA-B8FEB116E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087" y="98576"/>
            <a:ext cx="1453392" cy="1406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CC786B-C85F-92A8-533B-354CB571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37443"/>
            <a:ext cx="12192000" cy="19292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61447DD-5F20-514F-97F5-4C3D431F36C1}"/>
              </a:ext>
            </a:extLst>
          </p:cNvPr>
          <p:cNvSpPr txBox="1"/>
          <p:nvPr/>
        </p:nvSpPr>
        <p:spPr>
          <a:xfrm>
            <a:off x="0" y="63563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6"/>
              </a:rPr>
              <a:t>https://blockchair.com/</a:t>
            </a:r>
            <a:r>
              <a:rPr lang="en-I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75709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1980-243F-2F9E-D216-251BD343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Technical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743F-C284-7B34-F499-70EF0E1E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Peer to Peer (P2P)</a:t>
            </a:r>
          </a:p>
          <a:p>
            <a:r>
              <a:rPr lang="en-IE" dirty="0"/>
              <a:t>Decentralised </a:t>
            </a:r>
          </a:p>
          <a:p>
            <a:r>
              <a:rPr lang="en-IE" dirty="0"/>
              <a:t>Immutable</a:t>
            </a:r>
          </a:p>
          <a:p>
            <a:r>
              <a:rPr lang="en-IE" dirty="0"/>
              <a:t>Distributed, shared ledger of events</a:t>
            </a:r>
          </a:p>
          <a:p>
            <a:endParaRPr lang="en-IE" dirty="0"/>
          </a:p>
          <a:p>
            <a:r>
              <a:rPr lang="en-IE" dirty="0"/>
              <a:t>What Applications do you think this tech </a:t>
            </a:r>
          </a:p>
          <a:p>
            <a:pPr marL="0" indent="0">
              <a:buNone/>
            </a:pPr>
            <a:r>
              <a:rPr lang="en-IE" dirty="0"/>
              <a:t>would be Useful ? 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044C7-CC6C-05B6-AC2A-8636ED67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AA5A751-38EB-806A-77FC-39B65EA7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33357" y="1690688"/>
            <a:ext cx="2984127" cy="1485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654E95-B50C-A31C-0EF5-2CE8B1DF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8052" y="4075907"/>
            <a:ext cx="4127500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961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9628-1AD9-2065-5171-05F5C956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Ledger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BE9E-A6CB-C161-467C-4B80F660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7" y="1825625"/>
            <a:ext cx="11582399" cy="4351338"/>
          </a:xfrm>
        </p:spPr>
        <p:txBody>
          <a:bodyPr>
            <a:normAutofit/>
          </a:bodyPr>
          <a:lstStyle/>
          <a:p>
            <a:r>
              <a:rPr lang="en-IE" dirty="0"/>
              <a:t>There exists some Issues with ledgers</a:t>
            </a:r>
          </a:p>
          <a:p>
            <a:r>
              <a:rPr lang="en-IE" dirty="0"/>
              <a:t>Susceptible to fraud</a:t>
            </a:r>
          </a:p>
          <a:p>
            <a:r>
              <a:rPr lang="en-IE" dirty="0"/>
              <a:t>Susceptible to human error</a:t>
            </a:r>
          </a:p>
          <a:p>
            <a:r>
              <a:rPr lang="en-IE" dirty="0"/>
              <a:t>Rely on intermediary to prevent double spend e.g. bank, </a:t>
            </a:r>
            <a:r>
              <a:rPr lang="en-IE" dirty="0" err="1"/>
              <a:t>paypal</a:t>
            </a:r>
            <a:endParaRPr lang="en-IE" dirty="0"/>
          </a:p>
          <a:p>
            <a:r>
              <a:rPr lang="en-IE" dirty="0"/>
              <a:t>Full control out of the hands of the consumer</a:t>
            </a:r>
          </a:p>
          <a:p>
            <a:r>
              <a:rPr lang="en-IE" dirty="0"/>
              <a:t>In some cases the power of these </a:t>
            </a:r>
          </a:p>
          <a:p>
            <a:pPr marL="0" indent="0">
              <a:buNone/>
            </a:pPr>
            <a:r>
              <a:rPr lang="en-IE" dirty="0"/>
              <a:t>intermediaries can result in over-extensions of power: </a:t>
            </a:r>
          </a:p>
          <a:p>
            <a:r>
              <a:rPr lang="en-IE" dirty="0" err="1"/>
              <a:t>Paypal</a:t>
            </a:r>
            <a:r>
              <a:rPr lang="en-IE" dirty="0"/>
              <a:t> block payments to Wikileaks etc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1866C-C1D4-3684-1A3C-FFE7FCFB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469E8-863D-BECD-E154-73654022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260" y="4437"/>
            <a:ext cx="3918740" cy="205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63D654-5397-6CEA-B9F8-3AC9C96A1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626" y="4283480"/>
            <a:ext cx="3803373" cy="25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06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A168-5E5F-E756-A84E-FF6C2952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Cryptographic Beginnings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C2F30-66FF-4C77-AFF2-B90FC032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 is a paradigm </a:t>
            </a:r>
          </a:p>
          <a:p>
            <a:r>
              <a:rPr lang="en-IE" dirty="0"/>
              <a:t>A collection of Technologies combined to provide a new tec / service</a:t>
            </a:r>
          </a:p>
          <a:p>
            <a:r>
              <a:rPr lang="en-IE" dirty="0"/>
              <a:t>Distributed Computing </a:t>
            </a:r>
          </a:p>
          <a:p>
            <a:r>
              <a:rPr lang="en-IE" dirty="0"/>
              <a:t>Peer to Peer </a:t>
            </a:r>
          </a:p>
          <a:p>
            <a:r>
              <a:rPr lang="en-IE" dirty="0"/>
              <a:t>Digital Signatures </a:t>
            </a:r>
          </a:p>
          <a:p>
            <a:r>
              <a:rPr lang="en-IE" dirty="0"/>
              <a:t>Consensus </a:t>
            </a:r>
          </a:p>
          <a:p>
            <a:r>
              <a:rPr lang="en-IE" dirty="0"/>
              <a:t>Hashing Algorithms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AA094-FCE4-EACB-1164-D274B89B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3543630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90B2-F78C-28C2-2F8A-5F54D6B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50426" cy="1325563"/>
          </a:xfrm>
        </p:spPr>
        <p:txBody>
          <a:bodyPr/>
          <a:lstStyle/>
          <a:p>
            <a:r>
              <a:rPr lang="en-IE" dirty="0"/>
              <a:t>Digital Signature </a:t>
            </a:r>
            <a:br>
              <a:rPr lang="en-IE" dirty="0"/>
            </a:br>
            <a:r>
              <a:rPr lang="en-IE" dirty="0"/>
              <a:t>Non Repudiation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CC1EB-53FF-729B-F872-9E4165EB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D0F0F-44FA-4E32-38F2-AFA06194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40" y="1547813"/>
            <a:ext cx="9210675" cy="4629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C4F20D-22B6-3C3C-CF2E-DC7B8F728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85724"/>
            <a:ext cx="39624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2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F019-5089-DA19-4C61-D257F118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Consensus “To Achieve a Consensus”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1B0C-FB51-9A59-1501-2C4B88B91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BTC uses a POW consensus Mechanism</a:t>
            </a:r>
          </a:p>
          <a:p>
            <a:r>
              <a:rPr lang="en-IE" dirty="0"/>
              <a:t>Proof of Work</a:t>
            </a:r>
          </a:p>
          <a:p>
            <a:r>
              <a:rPr lang="en-IE" dirty="0"/>
              <a:t>There are several Variations of Consensus mechanisms across differing Blockchains. </a:t>
            </a:r>
          </a:p>
          <a:p>
            <a:r>
              <a:rPr lang="en-IE" dirty="0"/>
              <a:t>Ethereum recently converted to a POS , proof of stake. </a:t>
            </a:r>
          </a:p>
          <a:p>
            <a:r>
              <a:rPr lang="en-IE" dirty="0"/>
              <a:t>We will investigate some other Consensus Mechanisms as we progress. </a:t>
            </a:r>
          </a:p>
          <a:p>
            <a:r>
              <a:rPr lang="en-IE" dirty="0"/>
              <a:t>BTC First with POW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34404-856E-79FF-B2F0-7E0A1022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59850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67E2-36B7-3091-212B-11F58651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Proof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CFAE-48C4-0582-ABDD-86472B16A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E" b="1" dirty="0"/>
              <a:t>Proof of Work:</a:t>
            </a:r>
          </a:p>
          <a:p>
            <a:r>
              <a:rPr lang="en-IE" dirty="0"/>
              <a:t>Based on Adam Back’s </a:t>
            </a:r>
            <a:r>
              <a:rPr lang="en-IE" dirty="0" err="1"/>
              <a:t>Hashcash</a:t>
            </a:r>
            <a:r>
              <a:rPr lang="en-IE" dirty="0"/>
              <a:t> (2002) the </a:t>
            </a:r>
            <a:r>
              <a:rPr lang="en-IE" dirty="0" err="1"/>
              <a:t>PoW</a:t>
            </a:r>
            <a:r>
              <a:rPr lang="en-IE" dirty="0"/>
              <a:t> involves scanning for a value that when hashed, the hash begins with a number of zero bits. </a:t>
            </a:r>
          </a:p>
          <a:p>
            <a:r>
              <a:rPr lang="en-IE" dirty="0"/>
              <a:t>Miners (which we will discuss in more detail later) confirm proof of work by incrementing a nonce in the block until a value is found that gives the required zero bits to solve the block’s hash.</a:t>
            </a:r>
          </a:p>
          <a:p>
            <a:r>
              <a:rPr lang="en-IE" dirty="0"/>
              <a:t>This </a:t>
            </a:r>
            <a:r>
              <a:rPr lang="en-IE" dirty="0" err="1"/>
              <a:t>PoW</a:t>
            </a:r>
            <a:r>
              <a:rPr lang="en-IE" dirty="0"/>
              <a:t> also solves the problem of determining representation in majority decision making. </a:t>
            </a:r>
          </a:p>
          <a:p>
            <a:r>
              <a:rPr lang="en-IE" dirty="0"/>
              <a:t>Proof-of-Work is essentially ‘one-CPU-one-Vote’. The majority decision is represented by the longest chain, which has the greatest </a:t>
            </a:r>
            <a:r>
              <a:rPr lang="en-IE" dirty="0" err="1"/>
              <a:t>PoW</a:t>
            </a:r>
            <a:r>
              <a:rPr lang="en-IE" dirty="0"/>
              <a:t> efforts invested in it.</a:t>
            </a:r>
          </a:p>
          <a:p>
            <a:r>
              <a:rPr lang="en-IE" dirty="0"/>
              <a:t>To modify a past block, an attacker would have to redo the </a:t>
            </a:r>
            <a:r>
              <a:rPr lang="en-IE" dirty="0" err="1"/>
              <a:t>PoW</a:t>
            </a:r>
            <a:r>
              <a:rPr lang="en-IE" dirty="0"/>
              <a:t> of the block and all blocks after it and then catch up with and surpass the work of the honest nodes. </a:t>
            </a:r>
          </a:p>
          <a:p>
            <a:r>
              <a:rPr lang="en-IE" dirty="0"/>
              <a:t>The likelihood of this diminishes exponentially as subsequent blocks are added.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04955-074E-E8D8-F5DB-6413935F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C2961-FCC6-DEAA-4D8C-DEC74528DB63}"/>
              </a:ext>
            </a:extLst>
          </p:cNvPr>
          <p:cNvSpPr txBox="1"/>
          <p:nvPr/>
        </p:nvSpPr>
        <p:spPr>
          <a:xfrm>
            <a:off x="9144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 err="1">
                <a:hlinkClick r:id="rId2"/>
              </a:rPr>
              <a:t>HashCash</a:t>
            </a:r>
            <a:r>
              <a:rPr lang="en-IE" dirty="0">
                <a:hlinkClick r:id="rId2"/>
              </a:rPr>
              <a:t> PDF</a:t>
            </a:r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4C9D7-FECA-FE37-C41E-8E3CCF33217E}"/>
              </a:ext>
            </a:extLst>
          </p:cNvPr>
          <p:cNvSpPr txBox="1"/>
          <p:nvPr/>
        </p:nvSpPr>
        <p:spPr>
          <a:xfrm>
            <a:off x="6096000" y="2301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 err="1"/>
              <a:t>Hashcash</a:t>
            </a:r>
            <a:r>
              <a:rPr lang="en-IE" dirty="0"/>
              <a:t> was proposed in 1997 by Adam Back and described more formally in Back's 2002 paper "</a:t>
            </a:r>
            <a:r>
              <a:rPr lang="en-IE" dirty="0" err="1"/>
              <a:t>Hashcash</a:t>
            </a:r>
            <a:r>
              <a:rPr lang="en-IE" dirty="0"/>
              <a:t> - A Denial of Service Counter-Measure".</a:t>
            </a:r>
          </a:p>
        </p:txBody>
      </p:sp>
    </p:spTree>
    <p:extLst>
      <p:ext uri="{BB962C8B-B14F-4D97-AF65-F5344CB8AC3E}">
        <p14:creationId xmlns:p14="http://schemas.microsoft.com/office/powerpoint/2010/main" val="1089681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545CA-40CA-C94F-8D10-F08F0F65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CA8956-9436-9FF4-9DDA-9D04E0168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6625" y="3331351"/>
            <a:ext cx="2987748" cy="311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5C869697-8DBC-6B20-561C-F4EC0768E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71930" y="656864"/>
            <a:ext cx="3571161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88052-B36C-C036-4A35-FE88FEBED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974" y="1535596"/>
            <a:ext cx="5035278" cy="2274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41B7C9-8AD2-DB04-87C8-1ECF5B4B7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968" y="4064276"/>
            <a:ext cx="5553075" cy="1790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E52642-8E67-35A3-BD13-D7F18C582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91" y="238539"/>
            <a:ext cx="3740628" cy="27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75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62A9-5C1F-A431-9443-CB1186F0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Hashing / SHA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ED156-57B8-B5DD-47F7-3CBF290C4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Hashing , given from cryptography is an irreplaceable feature within the BTC Network. </a:t>
            </a:r>
          </a:p>
          <a:p>
            <a:r>
              <a:rPr lang="en-IE" dirty="0"/>
              <a:t>It is used throughout </a:t>
            </a:r>
          </a:p>
          <a:p>
            <a:pPr lvl="1"/>
            <a:r>
              <a:rPr lang="en-IE" dirty="0"/>
              <a:t>Verifying Transactions </a:t>
            </a:r>
          </a:p>
          <a:p>
            <a:pPr lvl="1"/>
            <a:r>
              <a:rPr lang="en-IE" dirty="0"/>
              <a:t>Ensuring No Modifications / Immutability</a:t>
            </a:r>
          </a:p>
          <a:p>
            <a:pPr lvl="1"/>
            <a:r>
              <a:rPr lang="en-IE" dirty="0"/>
              <a:t>Used to Perform Computational work</a:t>
            </a:r>
          </a:p>
          <a:p>
            <a:pPr lvl="1"/>
            <a:r>
              <a:rPr lang="en-IE" dirty="0"/>
              <a:t>Those workings are then used for POW , proof of work</a:t>
            </a:r>
          </a:p>
          <a:p>
            <a:pPr lvl="1"/>
            <a:r>
              <a:rPr lang="en-IE" dirty="0"/>
              <a:t>Demo of SHA-256 – </a:t>
            </a:r>
            <a:r>
              <a:rPr lang="en-IE" dirty="0">
                <a:hlinkClick r:id="rId2"/>
              </a:rPr>
              <a:t>SHA Calculator 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57A68-AE31-1099-EBF6-084D0372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251711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8C92-6227-1656-937A-D5877C30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The Miners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3E828-CD1B-C91C-A246-9455DEDF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682A2-4981-B463-1B7C-F22873D1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57" y="1396716"/>
            <a:ext cx="5571633" cy="4217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BF851-0C7F-3F22-EA01-C6764F2A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09" y="1396716"/>
            <a:ext cx="5841543" cy="41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45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D4B3-9516-E04C-D061-111D2DBB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solidFill>
                  <a:schemeClr val="bg1"/>
                </a:solidFill>
              </a:rPr>
              <a:t>The Miners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F78A0-55B0-5C39-35F7-C849DBC6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D3B177-8695-BC2F-E8C1-27815D8CE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8460"/>
            <a:ext cx="6438122" cy="5184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5DDB56-5976-A29B-E71B-7674BE01B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79" y="1308460"/>
            <a:ext cx="5578421" cy="541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8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96AC-38E2-3D3F-973D-C6A657579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5DECC8-06F4-3360-6E8B-003DE0E58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5016" y="1825625"/>
            <a:ext cx="544130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E" dirty="0"/>
          </a:p>
          <a:p>
            <a:r>
              <a:rPr lang="en-IE" dirty="0"/>
              <a:t>This is the process by which new Bitcoin is added to the money supply. It also serves to protect the network against fraudulent transactions and double-spend and is based upon the key concepts discussed to this point. </a:t>
            </a:r>
          </a:p>
          <a:p>
            <a:r>
              <a:rPr lang="en-IE" dirty="0"/>
              <a:t>Essentially, miners provide processing power to the network in exchange for the opportunity to earn bitcoin as reward.</a:t>
            </a:r>
          </a:p>
          <a:p>
            <a:endParaRPr lang="en-I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4FAAC-5AA4-ED08-238D-0EAA2BBBB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Miners validate new transactions and record them on the blockchain, the global, distributed and shared ledger. Blocks are mined every 10 minutes, with a block containing all transactions since the last block was mined. Once the block is added to the blockchain the transactions are confirmed</a:t>
            </a:r>
          </a:p>
          <a:p>
            <a:r>
              <a:rPr lang="en-IE" dirty="0"/>
              <a:t>Miners receive rewards for mining blocks;  new coins for creating a new block and transaction fees for the transactions within the block. </a:t>
            </a:r>
          </a:p>
          <a:p>
            <a:r>
              <a:rPr lang="en-IE" dirty="0"/>
              <a:t> The party who successfully mines the block is the party who first solves the Proof-of-Work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BC1C7-436D-7480-70E9-3E01682F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2746616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03AF-23CE-0333-D04E-10D77A84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Difficulty &amp; Rewards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6D1B7-D7ED-C44A-665E-F1C461902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E" dirty="0"/>
              <a:t>The Current Difficulty Level in BTC : </a:t>
            </a:r>
          </a:p>
          <a:p>
            <a:r>
              <a:rPr lang="en-IE" dirty="0">
                <a:hlinkClick r:id="rId2"/>
              </a:rPr>
              <a:t>https://www.coinwarz.com/mining/bitcoin/difficulty-chart</a:t>
            </a:r>
            <a:r>
              <a:rPr lang="en-IE" dirty="0"/>
              <a:t> </a:t>
            </a:r>
          </a:p>
          <a:p>
            <a:endParaRPr lang="en-IE" dirty="0"/>
          </a:p>
          <a:p>
            <a:r>
              <a:rPr lang="en-IE" dirty="0"/>
              <a:t>17 Leading Zeros </a:t>
            </a:r>
          </a:p>
          <a:p>
            <a:r>
              <a:rPr lang="en-IE" dirty="0">
                <a:hlinkClick r:id="rId3"/>
              </a:rPr>
              <a:t>https://en.bitcoin.it/wiki/Difficulty</a:t>
            </a:r>
            <a:r>
              <a:rPr lang="en-IE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E4C6-E067-BDF4-9159-C582E06F8C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The Current Reward : </a:t>
            </a:r>
          </a:p>
          <a:p>
            <a:r>
              <a:rPr lang="en-IE" dirty="0">
                <a:effectLst/>
              </a:rPr>
              <a:t>The current bitcoin block reward is composed of </a:t>
            </a:r>
            <a:r>
              <a:rPr lang="en-IE" b="1" dirty="0">
                <a:effectLst/>
              </a:rPr>
              <a:t>6.25 newly generated coins per block</a:t>
            </a:r>
            <a:r>
              <a:rPr lang="en-IE" dirty="0">
                <a:effectLst/>
              </a:rPr>
              <a:t>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EBB54-DF92-DF14-B119-1DA44B6C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SHeeney23</a:t>
            </a:r>
          </a:p>
        </p:txBody>
      </p:sp>
    </p:spTree>
    <p:extLst>
      <p:ext uri="{BB962C8B-B14F-4D97-AF65-F5344CB8AC3E}">
        <p14:creationId xmlns:p14="http://schemas.microsoft.com/office/powerpoint/2010/main" val="4224519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6FE2-8A52-BD0A-89CC-7948D05B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Hashing Demo / BTC Functions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3A502-9703-B189-82ED-3732F49B5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9008" cy="4351338"/>
          </a:xfrm>
        </p:spPr>
        <p:txBody>
          <a:bodyPr>
            <a:normAutofit lnSpcReduction="10000"/>
          </a:bodyPr>
          <a:lstStyle/>
          <a:p>
            <a:r>
              <a:rPr lang="en-IE" dirty="0"/>
              <a:t>SHA-256</a:t>
            </a:r>
          </a:p>
          <a:p>
            <a:r>
              <a:rPr lang="en-IE" dirty="0"/>
              <a:t>“The SHA (Secure Hash Algorithm) is one of a number of cryptographic hash functions. A cryptographic hash is like a signature for a text or a data file. SHA-256 algorithm generates an almost-unique, fixed size 256-bit (32-byte) hash. Hash is a one way function – it cannot be decrypted back. This makes it suitable for password validation, challenge hash authentication, anti-tamper, digital signatures.”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8D0A5-7F80-FFF4-66D4-62F9EA49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dirty="0"/>
              <a:t>SHeeney23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A2D61259-2AB6-0F25-40F7-4F913A457D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5496" y="2184400"/>
            <a:ext cx="5126504" cy="3633787"/>
          </a:xfrm>
        </p:spPr>
      </p:pic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3518D6C3-BF0A-C753-1376-A76DF5D6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208" y="2228851"/>
            <a:ext cx="4767943" cy="36337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58A79C-6183-6DAE-DBFD-4ADE8EB49458}"/>
              </a:ext>
            </a:extLst>
          </p:cNvPr>
          <p:cNvSpPr txBox="1"/>
          <p:nvPr/>
        </p:nvSpPr>
        <p:spPr>
          <a:xfrm>
            <a:off x="398495" y="6081991"/>
            <a:ext cx="11395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https://andersbrownworth.com/blockchain/</a:t>
            </a:r>
            <a:r>
              <a:rPr lang="en-IE" dirty="0"/>
              <a:t>  - Fantastic Resource For Beginners to understand some of the workings</a:t>
            </a:r>
          </a:p>
        </p:txBody>
      </p:sp>
    </p:spTree>
    <p:extLst>
      <p:ext uri="{BB962C8B-B14F-4D97-AF65-F5344CB8AC3E}">
        <p14:creationId xmlns:p14="http://schemas.microsoft.com/office/powerpoint/2010/main" val="187556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1087</Words>
  <Application>Microsoft Office PowerPoint</Application>
  <PresentationFormat>Widescreen</PresentationFormat>
  <Paragraphs>166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Blockchain One</vt:lpstr>
      <vt:lpstr>Overview</vt:lpstr>
      <vt:lpstr>BTC / Bitcoin </vt:lpstr>
      <vt:lpstr>PowerPoint Presentation</vt:lpstr>
      <vt:lpstr>Satoshi Nakamoto</vt:lpstr>
      <vt:lpstr>Satoshi Nakamoto</vt:lpstr>
      <vt:lpstr>In the Beginning</vt:lpstr>
      <vt:lpstr>What Else Happened at the start ? </vt:lpstr>
      <vt:lpstr>PowerPoint Presentation</vt:lpstr>
      <vt:lpstr>PowerPoint Presentation</vt:lpstr>
      <vt:lpstr>The Humour &amp;  Who Could Have Known ? </vt:lpstr>
      <vt:lpstr>Technical Infrastructure</vt:lpstr>
      <vt:lpstr>A Ledger</vt:lpstr>
      <vt:lpstr>Cryptographic Beginnings</vt:lpstr>
      <vt:lpstr>Digital Signature  Non Repudiation</vt:lpstr>
      <vt:lpstr>Consensus “To Achieve a Consensus” </vt:lpstr>
      <vt:lpstr>Proof Of Work</vt:lpstr>
      <vt:lpstr>PowerPoint Presentation</vt:lpstr>
      <vt:lpstr>Hashing / SHA</vt:lpstr>
      <vt:lpstr>The Miners</vt:lpstr>
      <vt:lpstr>The Miners</vt:lpstr>
      <vt:lpstr>Mining</vt:lpstr>
      <vt:lpstr>Difficulty &amp; Rewards</vt:lpstr>
      <vt:lpstr>Hashing Demo / BTC Functions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One</dc:title>
  <dc:creator>Rommel</dc:creator>
  <cp:lastModifiedBy>Rommel</cp:lastModifiedBy>
  <cp:revision>47</cp:revision>
  <dcterms:created xsi:type="dcterms:W3CDTF">2023-02-01T15:08:20Z</dcterms:created>
  <dcterms:modified xsi:type="dcterms:W3CDTF">2023-02-01T18:08:57Z</dcterms:modified>
</cp:coreProperties>
</file>