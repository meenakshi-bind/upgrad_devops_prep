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66" r:id="rId3"/>
    <p:sldId id="282" r:id="rId4"/>
    <p:sldId id="268" r:id="rId5"/>
    <p:sldId id="281" r:id="rId6"/>
    <p:sldId id="257" r:id="rId7"/>
    <p:sldId id="283" r:id="rId8"/>
    <p:sldId id="258" r:id="rId9"/>
    <p:sldId id="259" r:id="rId10"/>
    <p:sldId id="284" r:id="rId11"/>
    <p:sldId id="278" r:id="rId12"/>
    <p:sldId id="270" r:id="rId13"/>
    <p:sldId id="271" r:id="rId14"/>
    <p:sldId id="272" r:id="rId15"/>
    <p:sldId id="273" r:id="rId16"/>
    <p:sldId id="260" r:id="rId17"/>
    <p:sldId id="267" r:id="rId18"/>
    <p:sldId id="261" r:id="rId19"/>
    <p:sldId id="262" r:id="rId20"/>
    <p:sldId id="263" r:id="rId21"/>
    <p:sldId id="279" r:id="rId22"/>
    <p:sldId id="280" r:id="rId23"/>
    <p:sldId id="264" r:id="rId24"/>
    <p:sldId id="274" r:id="rId25"/>
    <p:sldId id="275" r:id="rId26"/>
    <p:sldId id="277" r:id="rId27"/>
    <p:sldId id="276" r:id="rId28"/>
    <p:sldId id="285" r:id="rId29"/>
    <p:sldId id="265" r:id="rId30"/>
    <p:sldId id="286" r:id="rId31"/>
    <p:sldId id="287" r:id="rId32"/>
    <p:sldId id="288" r:id="rId33"/>
    <p:sldId id="292" r:id="rId34"/>
    <p:sldId id="289" r:id="rId35"/>
    <p:sldId id="290" r:id="rId36"/>
    <p:sldId id="291" r:id="rId37"/>
    <p:sldId id="303" r:id="rId38"/>
    <p:sldId id="293" r:id="rId39"/>
    <p:sldId id="300" r:id="rId40"/>
    <p:sldId id="294" r:id="rId41"/>
    <p:sldId id="302" r:id="rId42"/>
    <p:sldId id="301" r:id="rId43"/>
    <p:sldId id="304" r:id="rId44"/>
    <p:sldId id="295" r:id="rId45"/>
    <p:sldId id="299" r:id="rId46"/>
    <p:sldId id="298" r:id="rId47"/>
    <p:sldId id="29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7" autoAdjust="0"/>
    <p:restoredTop sz="94360" autoAdjust="0"/>
  </p:normalViewPr>
  <p:slideViewPr>
    <p:cSldViewPr snapToGrid="0">
      <p:cViewPr varScale="1">
        <p:scale>
          <a:sx n="105" d="100"/>
          <a:sy n="105" d="100"/>
        </p:scale>
        <p:origin x="54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F1C9E8-16F8-4FFF-A073-E52AEA0CE627}" type="datetimeFigureOut">
              <a:rPr lang="en-IE" smtClean="0"/>
              <a:t>17/10/2023</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4EA26-535D-4754-8B0F-80BB6808B9EE}" type="slidenum">
              <a:rPr lang="en-IE" smtClean="0"/>
              <a:t>‹#›</a:t>
            </a:fld>
            <a:endParaRPr lang="en-IE"/>
          </a:p>
        </p:txBody>
      </p:sp>
    </p:spTree>
    <p:extLst>
      <p:ext uri="{BB962C8B-B14F-4D97-AF65-F5344CB8AC3E}">
        <p14:creationId xmlns:p14="http://schemas.microsoft.com/office/powerpoint/2010/main" val="3810296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thereum.org/en/developers/docs/web2-vs-web3"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hlinkClick r:id="rId3"/>
              </a:rPr>
              <a:t>https://ethereum.org/en/developers/docs/web2-vs-web3</a:t>
            </a:r>
            <a:endParaRPr lang="en-IE" dirty="0"/>
          </a:p>
        </p:txBody>
      </p:sp>
      <p:sp>
        <p:nvSpPr>
          <p:cNvPr id="4" name="Slide Number Placeholder 3"/>
          <p:cNvSpPr>
            <a:spLocks noGrp="1"/>
          </p:cNvSpPr>
          <p:nvPr>
            <p:ph type="sldNum" sz="quarter" idx="5"/>
          </p:nvPr>
        </p:nvSpPr>
        <p:spPr/>
        <p:txBody>
          <a:bodyPr/>
          <a:lstStyle/>
          <a:p>
            <a:fld id="{7F44EA26-535D-4754-8B0F-80BB6808B9EE}" type="slidenum">
              <a:rPr lang="en-IE" smtClean="0"/>
              <a:t>11</a:t>
            </a:fld>
            <a:endParaRPr lang="en-IE"/>
          </a:p>
        </p:txBody>
      </p:sp>
    </p:spTree>
    <p:extLst>
      <p:ext uri="{BB962C8B-B14F-4D97-AF65-F5344CB8AC3E}">
        <p14:creationId xmlns:p14="http://schemas.microsoft.com/office/powerpoint/2010/main" val="1538239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https://artsandculture.google.com/asset/the-tower-of-babel-pieter-bruegel-the-elder/bAGKOdJfvfAhYQ?hl=en </a:t>
            </a:r>
          </a:p>
        </p:txBody>
      </p:sp>
      <p:sp>
        <p:nvSpPr>
          <p:cNvPr id="4" name="Slide Number Placeholder 3"/>
          <p:cNvSpPr>
            <a:spLocks noGrp="1"/>
          </p:cNvSpPr>
          <p:nvPr>
            <p:ph type="sldNum" sz="quarter" idx="5"/>
          </p:nvPr>
        </p:nvSpPr>
        <p:spPr/>
        <p:txBody>
          <a:bodyPr/>
          <a:lstStyle/>
          <a:p>
            <a:fld id="{7F44EA26-535D-4754-8B0F-80BB6808B9EE}" type="slidenum">
              <a:rPr lang="en-IE" smtClean="0"/>
              <a:t>31</a:t>
            </a:fld>
            <a:endParaRPr lang="en-IE"/>
          </a:p>
        </p:txBody>
      </p:sp>
    </p:spTree>
    <p:extLst>
      <p:ext uri="{BB962C8B-B14F-4D97-AF65-F5344CB8AC3E}">
        <p14:creationId xmlns:p14="http://schemas.microsoft.com/office/powerpoint/2010/main" val="1173186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All images taken from wallpapercave.com</a:t>
            </a:r>
          </a:p>
        </p:txBody>
      </p:sp>
      <p:sp>
        <p:nvSpPr>
          <p:cNvPr id="4" name="Slide Number Placeholder 3"/>
          <p:cNvSpPr>
            <a:spLocks noGrp="1"/>
          </p:cNvSpPr>
          <p:nvPr>
            <p:ph type="sldNum" sz="quarter" idx="5"/>
          </p:nvPr>
        </p:nvSpPr>
        <p:spPr/>
        <p:txBody>
          <a:bodyPr/>
          <a:lstStyle/>
          <a:p>
            <a:fld id="{7F44EA26-535D-4754-8B0F-80BB6808B9EE}" type="slidenum">
              <a:rPr lang="en-IE" smtClean="0"/>
              <a:t>33</a:t>
            </a:fld>
            <a:endParaRPr lang="en-IE"/>
          </a:p>
        </p:txBody>
      </p:sp>
    </p:spTree>
    <p:extLst>
      <p:ext uri="{BB962C8B-B14F-4D97-AF65-F5344CB8AC3E}">
        <p14:creationId xmlns:p14="http://schemas.microsoft.com/office/powerpoint/2010/main" val="4011853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https://ethereum.org/en/staking/</a:t>
            </a:r>
          </a:p>
        </p:txBody>
      </p:sp>
      <p:sp>
        <p:nvSpPr>
          <p:cNvPr id="4" name="Slide Number Placeholder 3"/>
          <p:cNvSpPr>
            <a:spLocks noGrp="1"/>
          </p:cNvSpPr>
          <p:nvPr>
            <p:ph type="sldNum" sz="quarter" idx="5"/>
          </p:nvPr>
        </p:nvSpPr>
        <p:spPr/>
        <p:txBody>
          <a:bodyPr/>
          <a:lstStyle/>
          <a:p>
            <a:fld id="{7F44EA26-535D-4754-8B0F-80BB6808B9EE}" type="slidenum">
              <a:rPr lang="en-IE" smtClean="0"/>
              <a:t>41</a:t>
            </a:fld>
            <a:endParaRPr lang="en-IE"/>
          </a:p>
        </p:txBody>
      </p:sp>
    </p:spTree>
    <p:extLst>
      <p:ext uri="{BB962C8B-B14F-4D97-AF65-F5344CB8AC3E}">
        <p14:creationId xmlns:p14="http://schemas.microsoft.com/office/powerpoint/2010/main" val="3230771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02258-7D84-5251-87AE-7BFCD30B53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BD66DCC4-7C55-EA32-9903-5A787FEC3D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5DF2C454-1AA2-4FDF-BEE5-BBEEC3628E06}"/>
              </a:ext>
            </a:extLst>
          </p:cNvPr>
          <p:cNvSpPr>
            <a:spLocks noGrp="1"/>
          </p:cNvSpPr>
          <p:nvPr>
            <p:ph type="dt" sz="half" idx="10"/>
          </p:nvPr>
        </p:nvSpPr>
        <p:spPr/>
        <p:txBody>
          <a:bodyPr/>
          <a:lstStyle/>
          <a:p>
            <a:fld id="{E9265120-9918-4573-9EE4-03B93097B71B}" type="datetimeFigureOut">
              <a:rPr lang="en-IE" smtClean="0"/>
              <a:t>17/10/2023</a:t>
            </a:fld>
            <a:endParaRPr lang="en-IE"/>
          </a:p>
        </p:txBody>
      </p:sp>
      <p:sp>
        <p:nvSpPr>
          <p:cNvPr id="5" name="Footer Placeholder 4">
            <a:extLst>
              <a:ext uri="{FF2B5EF4-FFF2-40B4-BE49-F238E27FC236}">
                <a16:creationId xmlns:a16="http://schemas.microsoft.com/office/drawing/2014/main" id="{116BAD09-98C6-0D66-858E-E987188CF04C}"/>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1608EB2-1D46-D8C1-4B29-DAD75A1A5E61}"/>
              </a:ext>
            </a:extLst>
          </p:cNvPr>
          <p:cNvSpPr>
            <a:spLocks noGrp="1"/>
          </p:cNvSpPr>
          <p:nvPr>
            <p:ph type="sldNum" sz="quarter" idx="12"/>
          </p:nvPr>
        </p:nvSpPr>
        <p:spPr/>
        <p:txBody>
          <a:bodyPr/>
          <a:lstStyle/>
          <a:p>
            <a:fld id="{CA4B4B33-9CD3-4430-BE92-921E05219AD0}" type="slidenum">
              <a:rPr lang="en-IE" smtClean="0"/>
              <a:t>‹#›</a:t>
            </a:fld>
            <a:endParaRPr lang="en-IE"/>
          </a:p>
        </p:txBody>
      </p:sp>
    </p:spTree>
    <p:extLst>
      <p:ext uri="{BB962C8B-B14F-4D97-AF65-F5344CB8AC3E}">
        <p14:creationId xmlns:p14="http://schemas.microsoft.com/office/powerpoint/2010/main" val="2123909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446DC-5DD8-A8C9-7C98-91004194A197}"/>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D703A359-4B9F-684B-743E-AAF1347AEE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E6B3CE45-500C-52CF-1C26-264FE001FFD6}"/>
              </a:ext>
            </a:extLst>
          </p:cNvPr>
          <p:cNvSpPr>
            <a:spLocks noGrp="1"/>
          </p:cNvSpPr>
          <p:nvPr>
            <p:ph type="dt" sz="half" idx="10"/>
          </p:nvPr>
        </p:nvSpPr>
        <p:spPr/>
        <p:txBody>
          <a:bodyPr/>
          <a:lstStyle/>
          <a:p>
            <a:fld id="{E9265120-9918-4573-9EE4-03B93097B71B}" type="datetimeFigureOut">
              <a:rPr lang="en-IE" smtClean="0"/>
              <a:t>17/10/2023</a:t>
            </a:fld>
            <a:endParaRPr lang="en-IE"/>
          </a:p>
        </p:txBody>
      </p:sp>
      <p:sp>
        <p:nvSpPr>
          <p:cNvPr id="5" name="Footer Placeholder 4">
            <a:extLst>
              <a:ext uri="{FF2B5EF4-FFF2-40B4-BE49-F238E27FC236}">
                <a16:creationId xmlns:a16="http://schemas.microsoft.com/office/drawing/2014/main" id="{18CED5FB-938E-2F5B-E369-D62F85484622}"/>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D471E18D-4D3A-0603-45D0-50B3BC12AB99}"/>
              </a:ext>
            </a:extLst>
          </p:cNvPr>
          <p:cNvSpPr>
            <a:spLocks noGrp="1"/>
          </p:cNvSpPr>
          <p:nvPr>
            <p:ph type="sldNum" sz="quarter" idx="12"/>
          </p:nvPr>
        </p:nvSpPr>
        <p:spPr/>
        <p:txBody>
          <a:bodyPr/>
          <a:lstStyle/>
          <a:p>
            <a:fld id="{CA4B4B33-9CD3-4430-BE92-921E05219AD0}" type="slidenum">
              <a:rPr lang="en-IE" smtClean="0"/>
              <a:t>‹#›</a:t>
            </a:fld>
            <a:endParaRPr lang="en-IE"/>
          </a:p>
        </p:txBody>
      </p:sp>
    </p:spTree>
    <p:extLst>
      <p:ext uri="{BB962C8B-B14F-4D97-AF65-F5344CB8AC3E}">
        <p14:creationId xmlns:p14="http://schemas.microsoft.com/office/powerpoint/2010/main" val="2170355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66FF4-7A81-6A02-EBFF-9FE596F9F3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D4F94173-3E6A-2AB6-1081-2F10A3085C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7D3957-DA52-77DC-C1DC-5E30943C8896}"/>
              </a:ext>
            </a:extLst>
          </p:cNvPr>
          <p:cNvSpPr>
            <a:spLocks noGrp="1"/>
          </p:cNvSpPr>
          <p:nvPr>
            <p:ph type="dt" sz="half" idx="10"/>
          </p:nvPr>
        </p:nvSpPr>
        <p:spPr/>
        <p:txBody>
          <a:bodyPr/>
          <a:lstStyle/>
          <a:p>
            <a:fld id="{E9265120-9918-4573-9EE4-03B93097B71B}" type="datetimeFigureOut">
              <a:rPr lang="en-IE" smtClean="0"/>
              <a:t>17/10/2023</a:t>
            </a:fld>
            <a:endParaRPr lang="en-IE"/>
          </a:p>
        </p:txBody>
      </p:sp>
      <p:sp>
        <p:nvSpPr>
          <p:cNvPr id="5" name="Footer Placeholder 4">
            <a:extLst>
              <a:ext uri="{FF2B5EF4-FFF2-40B4-BE49-F238E27FC236}">
                <a16:creationId xmlns:a16="http://schemas.microsoft.com/office/drawing/2014/main" id="{4EC7DE36-577F-5F22-82EC-2FEECBFC1FDB}"/>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4B4D1658-B087-AC7A-420C-2AB8741065FC}"/>
              </a:ext>
            </a:extLst>
          </p:cNvPr>
          <p:cNvSpPr>
            <a:spLocks noGrp="1"/>
          </p:cNvSpPr>
          <p:nvPr>
            <p:ph type="sldNum" sz="quarter" idx="12"/>
          </p:nvPr>
        </p:nvSpPr>
        <p:spPr/>
        <p:txBody>
          <a:bodyPr/>
          <a:lstStyle/>
          <a:p>
            <a:fld id="{CA4B4B33-9CD3-4430-BE92-921E05219AD0}" type="slidenum">
              <a:rPr lang="en-IE" smtClean="0"/>
              <a:t>‹#›</a:t>
            </a:fld>
            <a:endParaRPr lang="en-IE"/>
          </a:p>
        </p:txBody>
      </p:sp>
    </p:spTree>
    <p:extLst>
      <p:ext uri="{BB962C8B-B14F-4D97-AF65-F5344CB8AC3E}">
        <p14:creationId xmlns:p14="http://schemas.microsoft.com/office/powerpoint/2010/main" val="989416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4BFD0-23FA-8B12-E031-F78BC3F21C06}"/>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E4AD7E13-02F0-E2B6-8F73-1292C706EA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E010C5B8-AD1E-E7C2-0C8A-0A5670CBD3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C52556BE-D329-B9AE-9008-DF889C97DBD9}"/>
              </a:ext>
            </a:extLst>
          </p:cNvPr>
          <p:cNvSpPr>
            <a:spLocks noGrp="1"/>
          </p:cNvSpPr>
          <p:nvPr>
            <p:ph type="dt" sz="half" idx="10"/>
          </p:nvPr>
        </p:nvSpPr>
        <p:spPr/>
        <p:txBody>
          <a:bodyPr/>
          <a:lstStyle/>
          <a:p>
            <a:fld id="{E9265120-9918-4573-9EE4-03B93097B71B}" type="datetimeFigureOut">
              <a:rPr lang="en-IE" smtClean="0"/>
              <a:t>17/10/2023</a:t>
            </a:fld>
            <a:endParaRPr lang="en-IE"/>
          </a:p>
        </p:txBody>
      </p:sp>
      <p:sp>
        <p:nvSpPr>
          <p:cNvPr id="6" name="Footer Placeholder 5">
            <a:extLst>
              <a:ext uri="{FF2B5EF4-FFF2-40B4-BE49-F238E27FC236}">
                <a16:creationId xmlns:a16="http://schemas.microsoft.com/office/drawing/2014/main" id="{5C40E58D-296C-2E7C-8969-0BC10F326B9D}"/>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D6B2A0BE-24AC-28F0-B6E9-2285119771CC}"/>
              </a:ext>
            </a:extLst>
          </p:cNvPr>
          <p:cNvSpPr>
            <a:spLocks noGrp="1"/>
          </p:cNvSpPr>
          <p:nvPr>
            <p:ph type="sldNum" sz="quarter" idx="12"/>
          </p:nvPr>
        </p:nvSpPr>
        <p:spPr/>
        <p:txBody>
          <a:bodyPr/>
          <a:lstStyle/>
          <a:p>
            <a:fld id="{CA4B4B33-9CD3-4430-BE92-921E05219AD0}" type="slidenum">
              <a:rPr lang="en-IE" smtClean="0"/>
              <a:t>‹#›</a:t>
            </a:fld>
            <a:endParaRPr lang="en-IE"/>
          </a:p>
        </p:txBody>
      </p:sp>
    </p:spTree>
    <p:extLst>
      <p:ext uri="{BB962C8B-B14F-4D97-AF65-F5344CB8AC3E}">
        <p14:creationId xmlns:p14="http://schemas.microsoft.com/office/powerpoint/2010/main" val="903568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A3842-207F-44E2-0413-A058021B4421}"/>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D288F820-27A3-437F-A636-BAA4D2E48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D7B357-A2AF-23F4-8389-324BF10B8B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593DA76E-AAE8-562A-37CD-8633CE625A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2BBFDD-69BC-3F38-761C-0A896319D6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01934027-7837-9D14-8E7E-E7AFD1662121}"/>
              </a:ext>
            </a:extLst>
          </p:cNvPr>
          <p:cNvSpPr>
            <a:spLocks noGrp="1"/>
          </p:cNvSpPr>
          <p:nvPr>
            <p:ph type="dt" sz="half" idx="10"/>
          </p:nvPr>
        </p:nvSpPr>
        <p:spPr/>
        <p:txBody>
          <a:bodyPr/>
          <a:lstStyle/>
          <a:p>
            <a:fld id="{E9265120-9918-4573-9EE4-03B93097B71B}" type="datetimeFigureOut">
              <a:rPr lang="en-IE" smtClean="0"/>
              <a:t>17/10/2023</a:t>
            </a:fld>
            <a:endParaRPr lang="en-IE"/>
          </a:p>
        </p:txBody>
      </p:sp>
      <p:sp>
        <p:nvSpPr>
          <p:cNvPr id="8" name="Footer Placeholder 7">
            <a:extLst>
              <a:ext uri="{FF2B5EF4-FFF2-40B4-BE49-F238E27FC236}">
                <a16:creationId xmlns:a16="http://schemas.microsoft.com/office/drawing/2014/main" id="{FDA40873-53F1-9457-13A1-47EB4A1ACCC9}"/>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8A68A4E6-79FB-D38A-857C-E5F55EB7F472}"/>
              </a:ext>
            </a:extLst>
          </p:cNvPr>
          <p:cNvSpPr>
            <a:spLocks noGrp="1"/>
          </p:cNvSpPr>
          <p:nvPr>
            <p:ph type="sldNum" sz="quarter" idx="12"/>
          </p:nvPr>
        </p:nvSpPr>
        <p:spPr/>
        <p:txBody>
          <a:bodyPr/>
          <a:lstStyle/>
          <a:p>
            <a:fld id="{CA4B4B33-9CD3-4430-BE92-921E05219AD0}" type="slidenum">
              <a:rPr lang="en-IE" smtClean="0"/>
              <a:t>‹#›</a:t>
            </a:fld>
            <a:endParaRPr lang="en-IE"/>
          </a:p>
        </p:txBody>
      </p:sp>
    </p:spTree>
    <p:extLst>
      <p:ext uri="{BB962C8B-B14F-4D97-AF65-F5344CB8AC3E}">
        <p14:creationId xmlns:p14="http://schemas.microsoft.com/office/powerpoint/2010/main" val="2354211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2843C-EA1D-7756-2149-D0E66A6E4A5E}"/>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7A048FEB-9D23-29B0-2F9E-7A8185B4682C}"/>
              </a:ext>
            </a:extLst>
          </p:cNvPr>
          <p:cNvSpPr>
            <a:spLocks noGrp="1"/>
          </p:cNvSpPr>
          <p:nvPr>
            <p:ph type="dt" sz="half" idx="10"/>
          </p:nvPr>
        </p:nvSpPr>
        <p:spPr/>
        <p:txBody>
          <a:bodyPr/>
          <a:lstStyle/>
          <a:p>
            <a:fld id="{E9265120-9918-4573-9EE4-03B93097B71B}" type="datetimeFigureOut">
              <a:rPr lang="en-IE" smtClean="0"/>
              <a:t>17/10/2023</a:t>
            </a:fld>
            <a:endParaRPr lang="en-IE"/>
          </a:p>
        </p:txBody>
      </p:sp>
      <p:sp>
        <p:nvSpPr>
          <p:cNvPr id="4" name="Footer Placeholder 3">
            <a:extLst>
              <a:ext uri="{FF2B5EF4-FFF2-40B4-BE49-F238E27FC236}">
                <a16:creationId xmlns:a16="http://schemas.microsoft.com/office/drawing/2014/main" id="{279BABC9-EA8B-6E3A-DDA8-C0E92316236E}"/>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02F86573-1C29-7A20-1454-14BADD898259}"/>
              </a:ext>
            </a:extLst>
          </p:cNvPr>
          <p:cNvSpPr>
            <a:spLocks noGrp="1"/>
          </p:cNvSpPr>
          <p:nvPr>
            <p:ph type="sldNum" sz="quarter" idx="12"/>
          </p:nvPr>
        </p:nvSpPr>
        <p:spPr/>
        <p:txBody>
          <a:bodyPr/>
          <a:lstStyle/>
          <a:p>
            <a:fld id="{CA4B4B33-9CD3-4430-BE92-921E05219AD0}" type="slidenum">
              <a:rPr lang="en-IE" smtClean="0"/>
              <a:t>‹#›</a:t>
            </a:fld>
            <a:endParaRPr lang="en-IE"/>
          </a:p>
        </p:txBody>
      </p:sp>
    </p:spTree>
    <p:extLst>
      <p:ext uri="{BB962C8B-B14F-4D97-AF65-F5344CB8AC3E}">
        <p14:creationId xmlns:p14="http://schemas.microsoft.com/office/powerpoint/2010/main" val="25668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93EA99-2275-E0D9-E2C1-0D7E54C61C0A}"/>
              </a:ext>
            </a:extLst>
          </p:cNvPr>
          <p:cNvSpPr>
            <a:spLocks noGrp="1"/>
          </p:cNvSpPr>
          <p:nvPr>
            <p:ph type="dt" sz="half" idx="10"/>
          </p:nvPr>
        </p:nvSpPr>
        <p:spPr/>
        <p:txBody>
          <a:bodyPr/>
          <a:lstStyle/>
          <a:p>
            <a:fld id="{E9265120-9918-4573-9EE4-03B93097B71B}" type="datetimeFigureOut">
              <a:rPr lang="en-IE" smtClean="0"/>
              <a:t>17/10/2023</a:t>
            </a:fld>
            <a:endParaRPr lang="en-IE"/>
          </a:p>
        </p:txBody>
      </p:sp>
      <p:sp>
        <p:nvSpPr>
          <p:cNvPr id="3" name="Footer Placeholder 2">
            <a:extLst>
              <a:ext uri="{FF2B5EF4-FFF2-40B4-BE49-F238E27FC236}">
                <a16:creationId xmlns:a16="http://schemas.microsoft.com/office/drawing/2014/main" id="{197BBA17-B62C-FB7F-2AAC-2CCA798822F2}"/>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4111666F-96FF-C66F-1B64-325AF6B55E85}"/>
              </a:ext>
            </a:extLst>
          </p:cNvPr>
          <p:cNvSpPr>
            <a:spLocks noGrp="1"/>
          </p:cNvSpPr>
          <p:nvPr>
            <p:ph type="sldNum" sz="quarter" idx="12"/>
          </p:nvPr>
        </p:nvSpPr>
        <p:spPr/>
        <p:txBody>
          <a:bodyPr/>
          <a:lstStyle/>
          <a:p>
            <a:fld id="{CA4B4B33-9CD3-4430-BE92-921E05219AD0}" type="slidenum">
              <a:rPr lang="en-IE" smtClean="0"/>
              <a:t>‹#›</a:t>
            </a:fld>
            <a:endParaRPr lang="en-IE"/>
          </a:p>
        </p:txBody>
      </p:sp>
    </p:spTree>
    <p:extLst>
      <p:ext uri="{BB962C8B-B14F-4D97-AF65-F5344CB8AC3E}">
        <p14:creationId xmlns:p14="http://schemas.microsoft.com/office/powerpoint/2010/main" val="3515137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DB1F1-8100-D100-AE64-B6A77D982D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005301D5-4C37-23D6-C795-E96D1D3B64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44155F84-4F15-F7BC-219E-D7EBB11310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E3BB9B-0E83-490E-556A-E397C6903A9D}"/>
              </a:ext>
            </a:extLst>
          </p:cNvPr>
          <p:cNvSpPr>
            <a:spLocks noGrp="1"/>
          </p:cNvSpPr>
          <p:nvPr>
            <p:ph type="dt" sz="half" idx="10"/>
          </p:nvPr>
        </p:nvSpPr>
        <p:spPr/>
        <p:txBody>
          <a:bodyPr/>
          <a:lstStyle/>
          <a:p>
            <a:fld id="{E9265120-9918-4573-9EE4-03B93097B71B}" type="datetimeFigureOut">
              <a:rPr lang="en-IE" smtClean="0"/>
              <a:t>17/10/2023</a:t>
            </a:fld>
            <a:endParaRPr lang="en-IE"/>
          </a:p>
        </p:txBody>
      </p:sp>
      <p:sp>
        <p:nvSpPr>
          <p:cNvPr id="6" name="Footer Placeholder 5">
            <a:extLst>
              <a:ext uri="{FF2B5EF4-FFF2-40B4-BE49-F238E27FC236}">
                <a16:creationId xmlns:a16="http://schemas.microsoft.com/office/drawing/2014/main" id="{0EBAC289-66DD-6CF7-B77D-06B76D56F4DE}"/>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312A2330-FF1D-0AA6-9484-B7A0D239DE9D}"/>
              </a:ext>
            </a:extLst>
          </p:cNvPr>
          <p:cNvSpPr>
            <a:spLocks noGrp="1"/>
          </p:cNvSpPr>
          <p:nvPr>
            <p:ph type="sldNum" sz="quarter" idx="12"/>
          </p:nvPr>
        </p:nvSpPr>
        <p:spPr/>
        <p:txBody>
          <a:bodyPr/>
          <a:lstStyle/>
          <a:p>
            <a:fld id="{CA4B4B33-9CD3-4430-BE92-921E05219AD0}" type="slidenum">
              <a:rPr lang="en-IE" smtClean="0"/>
              <a:t>‹#›</a:t>
            </a:fld>
            <a:endParaRPr lang="en-IE"/>
          </a:p>
        </p:txBody>
      </p:sp>
    </p:spTree>
    <p:extLst>
      <p:ext uri="{BB962C8B-B14F-4D97-AF65-F5344CB8AC3E}">
        <p14:creationId xmlns:p14="http://schemas.microsoft.com/office/powerpoint/2010/main" val="2278464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4A634-F31E-1307-0630-7530E98452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820A2BC4-26F2-AD5E-6D49-8EDD5C1770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47AC5F12-9CBD-5EE6-3D0C-35768010B4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D61017-0F2A-1BFB-C4F7-1EFD743ECEDA}"/>
              </a:ext>
            </a:extLst>
          </p:cNvPr>
          <p:cNvSpPr>
            <a:spLocks noGrp="1"/>
          </p:cNvSpPr>
          <p:nvPr>
            <p:ph type="dt" sz="half" idx="10"/>
          </p:nvPr>
        </p:nvSpPr>
        <p:spPr/>
        <p:txBody>
          <a:bodyPr/>
          <a:lstStyle/>
          <a:p>
            <a:fld id="{E9265120-9918-4573-9EE4-03B93097B71B}" type="datetimeFigureOut">
              <a:rPr lang="en-IE" smtClean="0"/>
              <a:t>17/10/2023</a:t>
            </a:fld>
            <a:endParaRPr lang="en-IE"/>
          </a:p>
        </p:txBody>
      </p:sp>
      <p:sp>
        <p:nvSpPr>
          <p:cNvPr id="6" name="Footer Placeholder 5">
            <a:extLst>
              <a:ext uri="{FF2B5EF4-FFF2-40B4-BE49-F238E27FC236}">
                <a16:creationId xmlns:a16="http://schemas.microsoft.com/office/drawing/2014/main" id="{552C7E69-E117-8AD2-462B-149154751EAD}"/>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230320AD-9EF4-628B-F53E-E293A75E13C6}"/>
              </a:ext>
            </a:extLst>
          </p:cNvPr>
          <p:cNvSpPr>
            <a:spLocks noGrp="1"/>
          </p:cNvSpPr>
          <p:nvPr>
            <p:ph type="sldNum" sz="quarter" idx="12"/>
          </p:nvPr>
        </p:nvSpPr>
        <p:spPr/>
        <p:txBody>
          <a:bodyPr/>
          <a:lstStyle/>
          <a:p>
            <a:fld id="{CA4B4B33-9CD3-4430-BE92-921E05219AD0}" type="slidenum">
              <a:rPr lang="en-IE" smtClean="0"/>
              <a:t>‹#›</a:t>
            </a:fld>
            <a:endParaRPr lang="en-IE"/>
          </a:p>
        </p:txBody>
      </p:sp>
    </p:spTree>
    <p:extLst>
      <p:ext uri="{BB962C8B-B14F-4D97-AF65-F5344CB8AC3E}">
        <p14:creationId xmlns:p14="http://schemas.microsoft.com/office/powerpoint/2010/main" val="1591493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2774C-244A-078B-636E-D32DF1F06E70}"/>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06933808-9F29-094D-5447-0F3E5F3837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90D32B62-A9BF-E1BE-73DF-EF47347FE36B}"/>
              </a:ext>
            </a:extLst>
          </p:cNvPr>
          <p:cNvSpPr>
            <a:spLocks noGrp="1"/>
          </p:cNvSpPr>
          <p:nvPr>
            <p:ph type="dt" sz="half" idx="10"/>
          </p:nvPr>
        </p:nvSpPr>
        <p:spPr/>
        <p:txBody>
          <a:bodyPr/>
          <a:lstStyle/>
          <a:p>
            <a:fld id="{E9265120-9918-4573-9EE4-03B93097B71B}" type="datetimeFigureOut">
              <a:rPr lang="en-IE" smtClean="0"/>
              <a:t>17/10/2023</a:t>
            </a:fld>
            <a:endParaRPr lang="en-IE"/>
          </a:p>
        </p:txBody>
      </p:sp>
      <p:sp>
        <p:nvSpPr>
          <p:cNvPr id="5" name="Footer Placeholder 4">
            <a:extLst>
              <a:ext uri="{FF2B5EF4-FFF2-40B4-BE49-F238E27FC236}">
                <a16:creationId xmlns:a16="http://schemas.microsoft.com/office/drawing/2014/main" id="{33749F8E-C226-BE18-AB78-0AAB2C559B36}"/>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7AF139EC-FFF8-F6DA-B04C-349C9C54AE1D}"/>
              </a:ext>
            </a:extLst>
          </p:cNvPr>
          <p:cNvSpPr>
            <a:spLocks noGrp="1"/>
          </p:cNvSpPr>
          <p:nvPr>
            <p:ph type="sldNum" sz="quarter" idx="12"/>
          </p:nvPr>
        </p:nvSpPr>
        <p:spPr/>
        <p:txBody>
          <a:bodyPr/>
          <a:lstStyle/>
          <a:p>
            <a:fld id="{CA4B4B33-9CD3-4430-BE92-921E05219AD0}" type="slidenum">
              <a:rPr lang="en-IE" smtClean="0"/>
              <a:t>‹#›</a:t>
            </a:fld>
            <a:endParaRPr lang="en-IE"/>
          </a:p>
        </p:txBody>
      </p:sp>
    </p:spTree>
    <p:extLst>
      <p:ext uri="{BB962C8B-B14F-4D97-AF65-F5344CB8AC3E}">
        <p14:creationId xmlns:p14="http://schemas.microsoft.com/office/powerpoint/2010/main" val="303453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B69DDD-DC55-E35B-B1CE-B69CFFC9CC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2C174729-45B0-1B3C-1596-28DF28EB80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55BFD838-27D7-E2CF-9B25-FCF5D5F3F41C}"/>
              </a:ext>
            </a:extLst>
          </p:cNvPr>
          <p:cNvSpPr>
            <a:spLocks noGrp="1"/>
          </p:cNvSpPr>
          <p:nvPr>
            <p:ph type="dt" sz="half" idx="10"/>
          </p:nvPr>
        </p:nvSpPr>
        <p:spPr/>
        <p:txBody>
          <a:bodyPr/>
          <a:lstStyle/>
          <a:p>
            <a:fld id="{E9265120-9918-4573-9EE4-03B93097B71B}" type="datetimeFigureOut">
              <a:rPr lang="en-IE" smtClean="0"/>
              <a:t>17/10/2023</a:t>
            </a:fld>
            <a:endParaRPr lang="en-IE"/>
          </a:p>
        </p:txBody>
      </p:sp>
      <p:sp>
        <p:nvSpPr>
          <p:cNvPr id="5" name="Footer Placeholder 4">
            <a:extLst>
              <a:ext uri="{FF2B5EF4-FFF2-40B4-BE49-F238E27FC236}">
                <a16:creationId xmlns:a16="http://schemas.microsoft.com/office/drawing/2014/main" id="{252A61FD-99D9-75DB-B03E-38DD6AC2DC1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88DE912-99E1-D956-9A5D-2C57A1707CA6}"/>
              </a:ext>
            </a:extLst>
          </p:cNvPr>
          <p:cNvSpPr>
            <a:spLocks noGrp="1"/>
          </p:cNvSpPr>
          <p:nvPr>
            <p:ph type="sldNum" sz="quarter" idx="12"/>
          </p:nvPr>
        </p:nvSpPr>
        <p:spPr/>
        <p:txBody>
          <a:bodyPr/>
          <a:lstStyle/>
          <a:p>
            <a:fld id="{CA4B4B33-9CD3-4430-BE92-921E05219AD0}" type="slidenum">
              <a:rPr lang="en-IE" smtClean="0"/>
              <a:t>‹#›</a:t>
            </a:fld>
            <a:endParaRPr lang="en-IE"/>
          </a:p>
        </p:txBody>
      </p:sp>
    </p:spTree>
    <p:extLst>
      <p:ext uri="{BB962C8B-B14F-4D97-AF65-F5344CB8AC3E}">
        <p14:creationId xmlns:p14="http://schemas.microsoft.com/office/powerpoint/2010/main" val="360090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480015-B418-CEFD-7642-6755FC25D8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BA804D4F-5D05-00B6-03A4-02AC483FF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369DC2D5-52D9-3CB3-8337-54897F5F9E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65120-9918-4573-9EE4-03B93097B71B}" type="datetimeFigureOut">
              <a:rPr lang="en-IE" smtClean="0"/>
              <a:t>17/10/2023</a:t>
            </a:fld>
            <a:endParaRPr lang="en-IE"/>
          </a:p>
        </p:txBody>
      </p:sp>
      <p:sp>
        <p:nvSpPr>
          <p:cNvPr id="5" name="Footer Placeholder 4">
            <a:extLst>
              <a:ext uri="{FF2B5EF4-FFF2-40B4-BE49-F238E27FC236}">
                <a16:creationId xmlns:a16="http://schemas.microsoft.com/office/drawing/2014/main" id="{50252D07-C148-D026-5B08-A1F96AD5F4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F924AB6A-1767-C79D-F931-9A7E999382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4B4B33-9CD3-4430-BE92-921E05219AD0}" type="slidenum">
              <a:rPr lang="en-IE" smtClean="0"/>
              <a:t>‹#›</a:t>
            </a:fld>
            <a:endParaRPr lang="en-IE"/>
          </a:p>
        </p:txBody>
      </p:sp>
    </p:spTree>
    <p:extLst>
      <p:ext uri="{BB962C8B-B14F-4D97-AF65-F5344CB8AC3E}">
        <p14:creationId xmlns:p14="http://schemas.microsoft.com/office/powerpoint/2010/main" val="36462632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gi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stephendiehl.com/blog/web3-bullshit.html" TargetMode="Externa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hyperlink" Target="https://lasserouhiainen.com/5-main-benefits-of-web3-infographic/"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mobile.twitter.com/gavofyork" TargetMode="External"/><Relationship Id="rId7"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hyperlink" Target="https://cointelegraph.com/blockchain-for-beginners/what-are-parachains-a-guide-to-polkadot-and-kusama-parachains" TargetMode="External"/><Relationship Id="rId5" Type="http://schemas.openxmlformats.org/officeDocument/2006/relationships/hyperlink" Target="https://parachains.info/" TargetMode="External"/><Relationship Id="rId4" Type="http://schemas.openxmlformats.org/officeDocument/2006/relationships/hyperlink" Target="https://wiki.polkadot.network/docs/learn-kusama-vs-polkadot"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www.home.cern/" TargetMode="Externa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5" Type="http://schemas.openxmlformats.org/officeDocument/2006/relationships/hyperlink" Target="https://www.preethikasireddy.com/post/the-architecture-of-a-web-3-0-application" TargetMode="Externa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 Id="rId4" Type="http://schemas.openxmlformats.org/officeDocument/2006/relationships/hyperlink" Target="https://www.preethikasireddy.com/post/the-architecture-of-a-web-3-0-application"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hyperlink" Target="https://trufflesuite.com/" TargetMode="External"/><Relationship Id="rId7" Type="http://schemas.openxmlformats.org/officeDocument/2006/relationships/image" Target="../media/image38.png"/><Relationship Id="rId2" Type="http://schemas.openxmlformats.org/officeDocument/2006/relationships/hyperlink" Target="https://hardhat.org/" TargetMode="Externa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hyperlink" Target="https://ipfs.io/" TargetMode="External"/></Relationships>
</file>

<file path=ppt/slides/_rels/slide2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hyperlink" Target="https://docs.openzeppelin.com/" TargetMode="External"/><Relationship Id="rId7" Type="http://schemas.openxmlformats.org/officeDocument/2006/relationships/image" Target="../media/image42.png"/><Relationship Id="rId2" Type="http://schemas.openxmlformats.org/officeDocument/2006/relationships/hyperlink" Target="https://github.com/OpenZeppelin/openzeppelin-contracts" TargetMode="External"/><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hyperlink" Target="https://www.openzeppelin.com/"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docs.openzeppelin.com/learn/developing-smart-contracts" TargetMode="External"/><Relationship Id="rId2" Type="http://schemas.openxmlformats.org/officeDocument/2006/relationships/hyperlink" Target="https://docs.openzeppelin.com/contracts/4.x/" TargetMode="Externa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c/HashLipsNFT" TargetMode="External"/><Relationship Id="rId2" Type="http://schemas.openxmlformats.org/officeDocument/2006/relationships/image" Target="../media/image45.gif"/><Relationship Id="rId1" Type="http://schemas.openxmlformats.org/officeDocument/2006/relationships/slideLayout" Target="../slideLayouts/slideLayout4.xml"/><Relationship Id="rId4" Type="http://schemas.openxmlformats.org/officeDocument/2006/relationships/hyperlink" Target="https://www.youtube.com/c/naderdabit"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psl.com/feed-posts/web3-engineer-take" TargetMode="External"/><Relationship Id="rId2" Type="http://schemas.openxmlformats.org/officeDocument/2006/relationships/hyperlink" Target="https://www.channelnonfiction.com/web-3-0-semantic-technologies/" TargetMode="Externa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hyperlink" Target="https://web3js.readthedocs.io/en/v1.2.9/getting-started.html" TargetMode="External"/><Relationship Id="rId3" Type="http://schemas.openxmlformats.org/officeDocument/2006/relationships/hyperlink" Target="https://www.stephendiehl.com/blog/web3-bullshit.html" TargetMode="External"/><Relationship Id="rId7" Type="http://schemas.openxmlformats.org/officeDocument/2006/relationships/hyperlink" Target="https://academy.binance.com/en/articles/the-evolution-of-the-internet-web-3-0-explained" TargetMode="External"/><Relationship Id="rId2" Type="http://schemas.openxmlformats.org/officeDocument/2006/relationships/hyperlink" Target="https://www.youtube.com/watch?v=wHTcrmhskto" TargetMode="External"/><Relationship Id="rId1" Type="http://schemas.openxmlformats.org/officeDocument/2006/relationships/slideLayout" Target="../slideLayouts/slideLayout4.xml"/><Relationship Id="rId6" Type="http://schemas.openxmlformats.org/officeDocument/2006/relationships/hyperlink" Target="https://dev.to/pragativerma18/evolution-of-web-42eh" TargetMode="External"/><Relationship Id="rId11" Type="http://schemas.openxmlformats.org/officeDocument/2006/relationships/hyperlink" Target="https://docs.google.com/document/d/1SWJw_NTyUvgdB_asRzsnVyKjciW8dZbeqQeUeWsEiQc/edit" TargetMode="External"/><Relationship Id="rId5" Type="http://schemas.openxmlformats.org/officeDocument/2006/relationships/hyperlink" Target="https://www.martechalliance.com/stories/whats-the-difference-between-web-1.0-web-2.0-and-web-3.0" TargetMode="External"/><Relationship Id="rId10" Type="http://schemas.openxmlformats.org/officeDocument/2006/relationships/hyperlink" Target="https://www.youtube.com/watch?v=bIbmLgmEvM0" TargetMode="External"/><Relationship Id="rId4" Type="http://schemas.openxmlformats.org/officeDocument/2006/relationships/hyperlink" Target="https://lasserouhiainen.com/5-main-benefits-of-web3-infographic/" TargetMode="External"/><Relationship Id="rId9" Type="http://schemas.openxmlformats.org/officeDocument/2006/relationships/hyperlink" Target="https://trufflesuite.com/tutorial/"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ec.europa.eu/info/strategy/priorities-2019-2024/europe-fit-digital-age/european-digital-identity_en" TargetMode="External"/><Relationship Id="rId2" Type="http://schemas.openxmlformats.org/officeDocument/2006/relationships/hyperlink" Target="https://www.youtube.com/watch?v=EFIs-oL1c4g" TargetMode="External"/><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8.png"/><Relationship Id="rId7" Type="http://schemas.openxmlformats.org/officeDocument/2006/relationships/hyperlink" Target="https://www.ecb.europa.eu/paym/digital_euro/html/index.en.html"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49.wmf"/><Relationship Id="rId4" Type="http://schemas.openxmlformats.org/officeDocument/2006/relationships/oleObject" Target="../embeddings/oleObject1.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cointelegraph.com/learn/ethereum-2-0-staking-a-beginners-guide-on-how-to-stake-eth"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etherscan.io/tx/0xa96beb71d48205db34a1f852edd43cd9baf9ec3f9036d4dbf6da5d69f9900e8b"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messari.io/screener/defi-coins" TargetMode="External"/><Relationship Id="rId2" Type="http://schemas.openxmlformats.org/officeDocument/2006/relationships/hyperlink" Target="https://coinlobster.com/combined-defi"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aqru.io/" TargetMode="External"/><Relationship Id="rId2" Type="http://schemas.openxmlformats.org/officeDocument/2006/relationships/hyperlink" Target="https://defiprime.com/" TargetMode="External"/><Relationship Id="rId1" Type="http://schemas.openxmlformats.org/officeDocument/2006/relationships/slideLayout" Target="../slideLayouts/slideLayout2.xml"/><Relationship Id="rId6" Type="http://schemas.openxmlformats.org/officeDocument/2006/relationships/hyperlink" Target="https://www.kraken.com/" TargetMode="External"/><Relationship Id="rId5" Type="http://schemas.openxmlformats.org/officeDocument/2006/relationships/hyperlink" Target="https://www.youhodler.com/" TargetMode="External"/><Relationship Id="rId4" Type="http://schemas.openxmlformats.org/officeDocument/2006/relationships/hyperlink" Target="https://www.binance.com/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6B57E-2CEB-01D7-8168-D93C0F62C732}"/>
              </a:ext>
            </a:extLst>
          </p:cNvPr>
          <p:cNvSpPr>
            <a:spLocks noGrp="1"/>
          </p:cNvSpPr>
          <p:nvPr>
            <p:ph type="ctrTitle"/>
          </p:nvPr>
        </p:nvSpPr>
        <p:spPr/>
        <p:txBody>
          <a:bodyPr/>
          <a:lstStyle/>
          <a:p>
            <a:r>
              <a:rPr lang="en-IE"/>
              <a:t>Blockchain</a:t>
            </a:r>
            <a:endParaRPr lang="en-IE" dirty="0"/>
          </a:p>
        </p:txBody>
      </p:sp>
      <p:sp>
        <p:nvSpPr>
          <p:cNvPr id="3" name="Subtitle 2">
            <a:extLst>
              <a:ext uri="{FF2B5EF4-FFF2-40B4-BE49-F238E27FC236}">
                <a16:creationId xmlns:a16="http://schemas.microsoft.com/office/drawing/2014/main" id="{496CD9FA-70CA-C3FF-C7D8-C8F929948A3C}"/>
              </a:ext>
            </a:extLst>
          </p:cNvPr>
          <p:cNvSpPr>
            <a:spLocks noGrp="1"/>
          </p:cNvSpPr>
          <p:nvPr>
            <p:ph type="subTitle" idx="1"/>
          </p:nvPr>
        </p:nvSpPr>
        <p:spPr/>
        <p:txBody>
          <a:bodyPr/>
          <a:lstStyle/>
          <a:p>
            <a:r>
              <a:rPr lang="en-IE" dirty="0"/>
              <a:t>Composition of </a:t>
            </a:r>
            <a:r>
              <a:rPr lang="en-IE"/>
              <a:t>a Web 3.0 DApp</a:t>
            </a:r>
            <a:endParaRPr lang="en-IE" dirty="0"/>
          </a:p>
        </p:txBody>
      </p:sp>
      <p:sp>
        <p:nvSpPr>
          <p:cNvPr id="4" name="TextBox 3">
            <a:extLst>
              <a:ext uri="{FF2B5EF4-FFF2-40B4-BE49-F238E27FC236}">
                <a16:creationId xmlns:a16="http://schemas.microsoft.com/office/drawing/2014/main" id="{A6EEC5D2-8428-6806-1F0E-E36F5DBCAC0F}"/>
              </a:ext>
            </a:extLst>
          </p:cNvPr>
          <p:cNvSpPr txBox="1"/>
          <p:nvPr/>
        </p:nvSpPr>
        <p:spPr>
          <a:xfrm>
            <a:off x="0" y="6488668"/>
            <a:ext cx="1005532" cy="369332"/>
          </a:xfrm>
          <a:prstGeom prst="rect">
            <a:avLst/>
          </a:prstGeom>
          <a:noFill/>
        </p:spPr>
        <p:txBody>
          <a:bodyPr wrap="none" rtlCol="0">
            <a:spAutoFit/>
          </a:bodyPr>
          <a:lstStyle/>
          <a:p>
            <a:r>
              <a:rPr lang="en-IE" dirty="0" err="1"/>
              <a:t>SHeeney</a:t>
            </a:r>
            <a:endParaRPr lang="en-IE" dirty="0"/>
          </a:p>
        </p:txBody>
      </p:sp>
    </p:spTree>
    <p:extLst>
      <p:ext uri="{BB962C8B-B14F-4D97-AF65-F5344CB8AC3E}">
        <p14:creationId xmlns:p14="http://schemas.microsoft.com/office/powerpoint/2010/main" val="2208227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B186C-84EC-654D-C829-625BE3859CA0}"/>
              </a:ext>
            </a:extLst>
          </p:cNvPr>
          <p:cNvSpPr>
            <a:spLocks noGrp="1"/>
          </p:cNvSpPr>
          <p:nvPr>
            <p:ph type="title"/>
          </p:nvPr>
        </p:nvSpPr>
        <p:spPr/>
        <p:txBody>
          <a:bodyPr/>
          <a:lstStyle/>
          <a:p>
            <a:r>
              <a:rPr lang="en-IE" dirty="0"/>
              <a:t>Evolution</a:t>
            </a:r>
          </a:p>
        </p:txBody>
      </p:sp>
      <p:pic>
        <p:nvPicPr>
          <p:cNvPr id="7" name="Content Placeholder 6">
            <a:extLst>
              <a:ext uri="{FF2B5EF4-FFF2-40B4-BE49-F238E27FC236}">
                <a16:creationId xmlns:a16="http://schemas.microsoft.com/office/drawing/2014/main" id="{1B7500A0-53DA-EAE1-0FB2-F47D329D1A22}"/>
              </a:ext>
            </a:extLst>
          </p:cNvPr>
          <p:cNvPicPr>
            <a:picLocks noGrp="1" noChangeAspect="1"/>
          </p:cNvPicPr>
          <p:nvPr>
            <p:ph idx="1"/>
          </p:nvPr>
        </p:nvPicPr>
        <p:blipFill>
          <a:blip r:embed="rId2"/>
          <a:stretch>
            <a:fillRect/>
          </a:stretch>
        </p:blipFill>
        <p:spPr>
          <a:xfrm>
            <a:off x="838200" y="1690688"/>
            <a:ext cx="10363200" cy="4946784"/>
          </a:xfrm>
        </p:spPr>
      </p:pic>
    </p:spTree>
    <p:extLst>
      <p:ext uri="{BB962C8B-B14F-4D97-AF65-F5344CB8AC3E}">
        <p14:creationId xmlns:p14="http://schemas.microsoft.com/office/powerpoint/2010/main" val="2837442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45D89-0C5E-28E5-A550-A826CD61B6B0}"/>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AB3BEB47-A984-AC45-C1E9-E222CEEFD2EE}"/>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EEABF308-4545-3F3E-5944-4B085F3EB75A}"/>
              </a:ext>
            </a:extLst>
          </p:cNvPr>
          <p:cNvPicPr>
            <a:picLocks noChangeAspect="1"/>
          </p:cNvPicPr>
          <p:nvPr/>
        </p:nvPicPr>
        <p:blipFill>
          <a:blip r:embed="rId2"/>
          <a:stretch>
            <a:fillRect/>
          </a:stretch>
        </p:blipFill>
        <p:spPr>
          <a:xfrm>
            <a:off x="0" y="7637"/>
            <a:ext cx="12192000" cy="6842726"/>
          </a:xfrm>
          <a:prstGeom prst="rect">
            <a:avLst/>
          </a:prstGeom>
        </p:spPr>
      </p:pic>
    </p:spTree>
    <p:extLst>
      <p:ext uri="{BB962C8B-B14F-4D97-AF65-F5344CB8AC3E}">
        <p14:creationId xmlns:p14="http://schemas.microsoft.com/office/powerpoint/2010/main" val="24300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184D4-DB71-0C5D-34A6-5A312EE705C5}"/>
              </a:ext>
            </a:extLst>
          </p:cNvPr>
          <p:cNvSpPr>
            <a:spLocks noGrp="1"/>
          </p:cNvSpPr>
          <p:nvPr>
            <p:ph type="title"/>
          </p:nvPr>
        </p:nvSpPr>
        <p:spPr/>
        <p:txBody>
          <a:bodyPr/>
          <a:lstStyle/>
          <a:p>
            <a:r>
              <a:rPr lang="en-IE" dirty="0"/>
              <a:t>In the Beginning – And It was good</a:t>
            </a:r>
          </a:p>
        </p:txBody>
      </p:sp>
      <p:sp>
        <p:nvSpPr>
          <p:cNvPr id="3" name="Content Placeholder 2">
            <a:extLst>
              <a:ext uri="{FF2B5EF4-FFF2-40B4-BE49-F238E27FC236}">
                <a16:creationId xmlns:a16="http://schemas.microsoft.com/office/drawing/2014/main" id="{26B3BC5B-3D96-056C-22D0-F4574F0AA109}"/>
              </a:ext>
            </a:extLst>
          </p:cNvPr>
          <p:cNvSpPr>
            <a:spLocks noGrp="1"/>
          </p:cNvSpPr>
          <p:nvPr>
            <p:ph sz="half" idx="1"/>
          </p:nvPr>
        </p:nvSpPr>
        <p:spPr/>
        <p:txBody>
          <a:bodyPr>
            <a:normAutofit fontScale="85000" lnSpcReduction="10000"/>
          </a:bodyPr>
          <a:lstStyle/>
          <a:p>
            <a:r>
              <a:rPr lang="en-IE" dirty="0"/>
              <a:t>Web 1.0 </a:t>
            </a:r>
          </a:p>
          <a:p>
            <a:r>
              <a:rPr lang="en-IE" dirty="0"/>
              <a:t>Documents connected over a network connected with hyper-links</a:t>
            </a:r>
          </a:p>
          <a:p>
            <a:r>
              <a:rPr lang="en-IE" dirty="0"/>
              <a:t>Web1 (1980s - early 2000’s) The first phase of the Internet, Web1, was mainly about providing the everyday consumer with online content and information. </a:t>
            </a:r>
          </a:p>
          <a:p>
            <a:endParaRPr lang="en-IE" dirty="0"/>
          </a:p>
        </p:txBody>
      </p:sp>
      <p:sp>
        <p:nvSpPr>
          <p:cNvPr id="4" name="Content Placeholder 3">
            <a:extLst>
              <a:ext uri="{FF2B5EF4-FFF2-40B4-BE49-F238E27FC236}">
                <a16:creationId xmlns:a16="http://schemas.microsoft.com/office/drawing/2014/main" id="{12CA561B-3774-711B-46A6-7DC40CAAFD39}"/>
              </a:ext>
            </a:extLst>
          </p:cNvPr>
          <p:cNvSpPr>
            <a:spLocks noGrp="1"/>
          </p:cNvSpPr>
          <p:nvPr>
            <p:ph sz="half" idx="2"/>
          </p:nvPr>
        </p:nvSpPr>
        <p:spPr/>
        <p:txBody>
          <a:bodyPr>
            <a:normAutofit fontScale="85000" lnSpcReduction="10000"/>
          </a:bodyPr>
          <a:lstStyle/>
          <a:p>
            <a:r>
              <a:rPr lang="en-IE" dirty="0"/>
              <a:t>As consumers could only read information or content online,  and not yet interact with it, Web1 was incredibly static. </a:t>
            </a:r>
          </a:p>
          <a:p>
            <a:r>
              <a:rPr lang="en-IE" dirty="0"/>
              <a:t>When you think about Web1, think Internet Explorer, Yahoo, or Netscape. While web1 was read-only, the companies we associate with web1 were built on open protocols (meaning pretty much any person or organization could build on the internet and know they were subject to the same rules as the next person or organization). </a:t>
            </a:r>
          </a:p>
          <a:p>
            <a:endParaRPr lang="en-IE" dirty="0"/>
          </a:p>
        </p:txBody>
      </p:sp>
    </p:spTree>
    <p:extLst>
      <p:ext uri="{BB962C8B-B14F-4D97-AF65-F5344CB8AC3E}">
        <p14:creationId xmlns:p14="http://schemas.microsoft.com/office/powerpoint/2010/main" val="542591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4F86E-4649-095D-CF1B-79C9402849C8}"/>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997323F7-F034-725F-A3FC-46D2363E24EB}"/>
              </a:ext>
            </a:extLst>
          </p:cNvPr>
          <p:cNvSpPr>
            <a:spLocks noGrp="1"/>
          </p:cNvSpPr>
          <p:nvPr>
            <p:ph sz="half" idx="1"/>
          </p:nvPr>
        </p:nvSpPr>
        <p:spPr/>
        <p:txBody>
          <a:bodyPr/>
          <a:lstStyle/>
          <a:p>
            <a:endParaRPr lang="en-IE"/>
          </a:p>
        </p:txBody>
      </p:sp>
      <p:sp>
        <p:nvSpPr>
          <p:cNvPr id="4" name="Content Placeholder 3">
            <a:extLst>
              <a:ext uri="{FF2B5EF4-FFF2-40B4-BE49-F238E27FC236}">
                <a16:creationId xmlns:a16="http://schemas.microsoft.com/office/drawing/2014/main" id="{F2651A9E-EEA8-519E-F1F2-7CC2EE596666}"/>
              </a:ext>
            </a:extLst>
          </p:cNvPr>
          <p:cNvSpPr>
            <a:spLocks noGrp="1"/>
          </p:cNvSpPr>
          <p:nvPr>
            <p:ph sz="half" idx="2"/>
          </p:nvPr>
        </p:nvSpPr>
        <p:spPr/>
        <p:txBody>
          <a:bodyPr/>
          <a:lstStyle/>
          <a:p>
            <a:endParaRPr lang="en-IE"/>
          </a:p>
        </p:txBody>
      </p:sp>
      <p:pic>
        <p:nvPicPr>
          <p:cNvPr id="6" name="Picture 5">
            <a:extLst>
              <a:ext uri="{FF2B5EF4-FFF2-40B4-BE49-F238E27FC236}">
                <a16:creationId xmlns:a16="http://schemas.microsoft.com/office/drawing/2014/main" id="{A2479A28-E8E0-33B9-F9F1-40D2B396022F}"/>
              </a:ext>
            </a:extLst>
          </p:cNvPr>
          <p:cNvPicPr>
            <a:picLocks noChangeAspect="1"/>
          </p:cNvPicPr>
          <p:nvPr/>
        </p:nvPicPr>
        <p:blipFill>
          <a:blip r:embed="rId2"/>
          <a:stretch>
            <a:fillRect/>
          </a:stretch>
        </p:blipFill>
        <p:spPr>
          <a:xfrm>
            <a:off x="76200" y="184427"/>
            <a:ext cx="12115800" cy="6489145"/>
          </a:xfrm>
          <a:prstGeom prst="rect">
            <a:avLst/>
          </a:prstGeom>
        </p:spPr>
      </p:pic>
    </p:spTree>
    <p:extLst>
      <p:ext uri="{BB962C8B-B14F-4D97-AF65-F5344CB8AC3E}">
        <p14:creationId xmlns:p14="http://schemas.microsoft.com/office/powerpoint/2010/main" val="2191838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813067-246F-E793-82E4-75A96D9FF1A7}"/>
              </a:ext>
            </a:extLst>
          </p:cNvPr>
          <p:cNvSpPr>
            <a:spLocks noGrp="1"/>
          </p:cNvSpPr>
          <p:nvPr>
            <p:ph type="title"/>
          </p:nvPr>
        </p:nvSpPr>
        <p:spPr/>
        <p:txBody>
          <a:bodyPr/>
          <a:lstStyle/>
          <a:p>
            <a:r>
              <a:rPr lang="en-IE" dirty="0"/>
              <a:t>What is Web3 </a:t>
            </a:r>
          </a:p>
        </p:txBody>
      </p:sp>
      <p:sp>
        <p:nvSpPr>
          <p:cNvPr id="5" name="Content Placeholder 4">
            <a:extLst>
              <a:ext uri="{FF2B5EF4-FFF2-40B4-BE49-F238E27FC236}">
                <a16:creationId xmlns:a16="http://schemas.microsoft.com/office/drawing/2014/main" id="{205ECF63-76F0-2C7E-34ED-003095EBD239}"/>
              </a:ext>
            </a:extLst>
          </p:cNvPr>
          <p:cNvSpPr>
            <a:spLocks noGrp="1"/>
          </p:cNvSpPr>
          <p:nvPr>
            <p:ph sz="half" idx="1"/>
          </p:nvPr>
        </p:nvSpPr>
        <p:spPr/>
        <p:txBody>
          <a:bodyPr/>
          <a:lstStyle/>
          <a:p>
            <a:r>
              <a:rPr lang="en-IE" dirty="0"/>
              <a:t>Web 1.0 						</a:t>
            </a:r>
          </a:p>
        </p:txBody>
      </p:sp>
      <p:sp>
        <p:nvSpPr>
          <p:cNvPr id="6" name="Content Placeholder 5">
            <a:extLst>
              <a:ext uri="{FF2B5EF4-FFF2-40B4-BE49-F238E27FC236}">
                <a16:creationId xmlns:a16="http://schemas.microsoft.com/office/drawing/2014/main" id="{50155540-56EA-1F60-B779-F38BC67B08B9}"/>
              </a:ext>
            </a:extLst>
          </p:cNvPr>
          <p:cNvSpPr>
            <a:spLocks noGrp="1"/>
          </p:cNvSpPr>
          <p:nvPr>
            <p:ph sz="half" idx="2"/>
          </p:nvPr>
        </p:nvSpPr>
        <p:spPr/>
        <p:txBody>
          <a:bodyPr/>
          <a:lstStyle/>
          <a:p>
            <a:r>
              <a:rPr lang="en-IE" dirty="0"/>
              <a:t>Web 1.0 provided a static experience for users without the ability to create the content-rich sites we have today</a:t>
            </a:r>
          </a:p>
        </p:txBody>
      </p:sp>
      <p:pic>
        <p:nvPicPr>
          <p:cNvPr id="8" name="Picture 7">
            <a:extLst>
              <a:ext uri="{FF2B5EF4-FFF2-40B4-BE49-F238E27FC236}">
                <a16:creationId xmlns:a16="http://schemas.microsoft.com/office/drawing/2014/main" id="{F3E34815-2BC1-6FB2-EE5C-5455ECB789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917950"/>
            <a:ext cx="5880100" cy="2940050"/>
          </a:xfrm>
          <a:prstGeom prst="rect">
            <a:avLst/>
          </a:prstGeom>
        </p:spPr>
      </p:pic>
      <p:pic>
        <p:nvPicPr>
          <p:cNvPr id="10" name="Picture 9">
            <a:extLst>
              <a:ext uri="{FF2B5EF4-FFF2-40B4-BE49-F238E27FC236}">
                <a16:creationId xmlns:a16="http://schemas.microsoft.com/office/drawing/2014/main" id="{A8C20F23-6612-B86B-6851-14407DC2EF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0632" y="4165600"/>
            <a:ext cx="3589867" cy="2692400"/>
          </a:xfrm>
          <a:prstGeom prst="rect">
            <a:avLst/>
          </a:prstGeom>
        </p:spPr>
      </p:pic>
    </p:spTree>
    <p:extLst>
      <p:ext uri="{BB962C8B-B14F-4D97-AF65-F5344CB8AC3E}">
        <p14:creationId xmlns:p14="http://schemas.microsoft.com/office/powerpoint/2010/main" val="3519787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F0E47-A649-B5B5-125F-515185BC27FA}"/>
              </a:ext>
            </a:extLst>
          </p:cNvPr>
          <p:cNvSpPr>
            <a:spLocks noGrp="1"/>
          </p:cNvSpPr>
          <p:nvPr>
            <p:ph type="title"/>
          </p:nvPr>
        </p:nvSpPr>
        <p:spPr/>
        <p:txBody>
          <a:bodyPr/>
          <a:lstStyle/>
          <a:p>
            <a:r>
              <a:rPr lang="en-IE" dirty="0"/>
              <a:t>Web 2.0 – Current Era - Centralization</a:t>
            </a:r>
          </a:p>
        </p:txBody>
      </p:sp>
      <p:sp>
        <p:nvSpPr>
          <p:cNvPr id="3" name="Content Placeholder 2">
            <a:extLst>
              <a:ext uri="{FF2B5EF4-FFF2-40B4-BE49-F238E27FC236}">
                <a16:creationId xmlns:a16="http://schemas.microsoft.com/office/drawing/2014/main" id="{10C9CD3D-AAB0-2649-0827-E7C8B48FDC72}"/>
              </a:ext>
            </a:extLst>
          </p:cNvPr>
          <p:cNvSpPr>
            <a:spLocks noGrp="1"/>
          </p:cNvSpPr>
          <p:nvPr>
            <p:ph sz="half" idx="1"/>
          </p:nvPr>
        </p:nvSpPr>
        <p:spPr/>
        <p:txBody>
          <a:bodyPr>
            <a:normAutofit fontScale="70000" lnSpcReduction="20000"/>
          </a:bodyPr>
          <a:lstStyle/>
          <a:p>
            <a:r>
              <a:rPr lang="en-IE" dirty="0"/>
              <a:t>Web2 is the version of the internet most of us know and use today. Where Web1 was static and “read-only,” Web2 was “read-write,” and interactive. Under Web2, the internet became more usable: web2 was dynamic and users could consume, interact with, and create content on the internet themselves. </a:t>
            </a:r>
          </a:p>
          <a:p>
            <a:r>
              <a:rPr lang="en-IE" dirty="0"/>
              <a:t>Along the way, the internet became largely dominated by the four behemoths we know today as Apple, Amazon, Facebook, and Google. Web2 also saw an explosion in the use of smartphones, and most of internet use was through mobile apps and hardware built by these companies. While this meant more people could participate in the internet, it also meant the internet was becoming increasingly controlled by the leading digital platforms. </a:t>
            </a:r>
          </a:p>
          <a:p>
            <a:endParaRPr lang="en-IE" dirty="0"/>
          </a:p>
        </p:txBody>
      </p:sp>
      <p:sp>
        <p:nvSpPr>
          <p:cNvPr id="4" name="Content Placeholder 3">
            <a:extLst>
              <a:ext uri="{FF2B5EF4-FFF2-40B4-BE49-F238E27FC236}">
                <a16:creationId xmlns:a16="http://schemas.microsoft.com/office/drawing/2014/main" id="{833CC1BA-922C-3298-7974-D559B95F50C4}"/>
              </a:ext>
            </a:extLst>
          </p:cNvPr>
          <p:cNvSpPr>
            <a:spLocks noGrp="1"/>
          </p:cNvSpPr>
          <p:nvPr>
            <p:ph sz="half" idx="2"/>
          </p:nvPr>
        </p:nvSpPr>
        <p:spPr/>
        <p:txBody>
          <a:bodyPr>
            <a:normAutofit fontScale="70000" lnSpcReduction="20000"/>
          </a:bodyPr>
          <a:lstStyle/>
          <a:p>
            <a:r>
              <a:rPr lang="en-IE" dirty="0"/>
              <a:t>Why is this a problem? In the centralized internet we know today, Apple can take a 30% cut on all paid-app downloads and in-app purchases, Twitter and Facebook can de-platform the POTUS, and the everyday consumer has less privacy, security, and control over their online information than ever before. </a:t>
            </a:r>
          </a:p>
          <a:p>
            <a:pPr marL="0" indent="0">
              <a:buNone/>
            </a:pPr>
            <a:endParaRPr lang="en-IE" dirty="0"/>
          </a:p>
        </p:txBody>
      </p:sp>
      <p:pic>
        <p:nvPicPr>
          <p:cNvPr id="5" name="Picture 4">
            <a:extLst>
              <a:ext uri="{FF2B5EF4-FFF2-40B4-BE49-F238E27FC236}">
                <a16:creationId xmlns:a16="http://schemas.microsoft.com/office/drawing/2014/main" id="{6A45227A-5F49-AFA7-5C5A-39A3E12AD97B}"/>
              </a:ext>
            </a:extLst>
          </p:cNvPr>
          <p:cNvPicPr>
            <a:picLocks noChangeAspect="1"/>
          </p:cNvPicPr>
          <p:nvPr/>
        </p:nvPicPr>
        <p:blipFill>
          <a:blip r:embed="rId2"/>
          <a:stretch>
            <a:fillRect/>
          </a:stretch>
        </p:blipFill>
        <p:spPr>
          <a:xfrm>
            <a:off x="6583363" y="4197807"/>
            <a:ext cx="4770437" cy="2114093"/>
          </a:xfrm>
          <a:prstGeom prst="rect">
            <a:avLst/>
          </a:prstGeom>
        </p:spPr>
      </p:pic>
    </p:spTree>
    <p:extLst>
      <p:ext uri="{BB962C8B-B14F-4D97-AF65-F5344CB8AC3E}">
        <p14:creationId xmlns:p14="http://schemas.microsoft.com/office/powerpoint/2010/main" val="239452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813067-246F-E793-82E4-75A96D9FF1A7}"/>
              </a:ext>
            </a:extLst>
          </p:cNvPr>
          <p:cNvSpPr>
            <a:spLocks noGrp="1"/>
          </p:cNvSpPr>
          <p:nvPr>
            <p:ph type="title"/>
          </p:nvPr>
        </p:nvSpPr>
        <p:spPr/>
        <p:txBody>
          <a:bodyPr/>
          <a:lstStyle/>
          <a:p>
            <a:r>
              <a:rPr lang="en-IE" dirty="0"/>
              <a:t>What is Web </a:t>
            </a:r>
          </a:p>
        </p:txBody>
      </p:sp>
      <p:sp>
        <p:nvSpPr>
          <p:cNvPr id="5" name="Content Placeholder 4">
            <a:extLst>
              <a:ext uri="{FF2B5EF4-FFF2-40B4-BE49-F238E27FC236}">
                <a16:creationId xmlns:a16="http://schemas.microsoft.com/office/drawing/2014/main" id="{205ECF63-76F0-2C7E-34ED-003095EBD239}"/>
              </a:ext>
            </a:extLst>
          </p:cNvPr>
          <p:cNvSpPr>
            <a:spLocks noGrp="1"/>
          </p:cNvSpPr>
          <p:nvPr>
            <p:ph sz="half" idx="1"/>
          </p:nvPr>
        </p:nvSpPr>
        <p:spPr/>
        <p:txBody>
          <a:bodyPr>
            <a:normAutofit fontScale="92500" lnSpcReduction="20000"/>
          </a:bodyPr>
          <a:lstStyle/>
          <a:p>
            <a:r>
              <a:rPr lang="en-IE" dirty="0"/>
              <a:t>Web 2.0</a:t>
            </a:r>
          </a:p>
          <a:p>
            <a:r>
              <a:rPr lang="en-IE" dirty="0"/>
              <a:t>First came to fruition in 2004</a:t>
            </a:r>
          </a:p>
          <a:p>
            <a:r>
              <a:rPr lang="en-IE" dirty="0"/>
              <a:t>More participation in the web through social media platforms </a:t>
            </a:r>
          </a:p>
          <a:p>
            <a:endParaRPr lang="en-IE" dirty="0"/>
          </a:p>
          <a:p>
            <a:r>
              <a:rPr lang="en-IE" dirty="0"/>
              <a:t>We are currently living in the era of web 2.0 </a:t>
            </a:r>
          </a:p>
          <a:p>
            <a:endParaRPr lang="en-IE" dirty="0"/>
          </a:p>
          <a:p>
            <a:r>
              <a:rPr lang="en-IE" dirty="0"/>
              <a:t>Web 2.0 brought us together with social media and dynamic websites, but at the cost of centralization.</a:t>
            </a:r>
          </a:p>
          <a:p>
            <a:endParaRPr lang="en-IE" dirty="0"/>
          </a:p>
        </p:txBody>
      </p:sp>
      <p:pic>
        <p:nvPicPr>
          <p:cNvPr id="3" name="Picture 2">
            <a:extLst>
              <a:ext uri="{FF2B5EF4-FFF2-40B4-BE49-F238E27FC236}">
                <a16:creationId xmlns:a16="http://schemas.microsoft.com/office/drawing/2014/main" id="{F82A3292-2113-09ED-3FC4-41FD563682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5400" y="3943916"/>
            <a:ext cx="2819400" cy="2819400"/>
          </a:xfrm>
          <a:prstGeom prst="rect">
            <a:avLst/>
          </a:prstGeom>
        </p:spPr>
      </p:pic>
      <p:pic>
        <p:nvPicPr>
          <p:cNvPr id="8" name="Picture 7">
            <a:extLst>
              <a:ext uri="{FF2B5EF4-FFF2-40B4-BE49-F238E27FC236}">
                <a16:creationId xmlns:a16="http://schemas.microsoft.com/office/drawing/2014/main" id="{39B2BA6D-2F78-1196-92AB-E8DE63BCA8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2876" y="94684"/>
            <a:ext cx="4606647" cy="3461882"/>
          </a:xfrm>
          <a:prstGeom prst="rect">
            <a:avLst/>
          </a:prstGeom>
        </p:spPr>
      </p:pic>
    </p:spTree>
    <p:extLst>
      <p:ext uri="{BB962C8B-B14F-4D97-AF65-F5344CB8AC3E}">
        <p14:creationId xmlns:p14="http://schemas.microsoft.com/office/powerpoint/2010/main" val="604791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813067-246F-E793-82E4-75A96D9FF1A7}"/>
              </a:ext>
            </a:extLst>
          </p:cNvPr>
          <p:cNvSpPr>
            <a:spLocks noGrp="1"/>
          </p:cNvSpPr>
          <p:nvPr>
            <p:ph type="title"/>
          </p:nvPr>
        </p:nvSpPr>
        <p:spPr/>
        <p:txBody>
          <a:bodyPr/>
          <a:lstStyle/>
          <a:p>
            <a:r>
              <a:rPr lang="en-IE" dirty="0"/>
              <a:t>Web3</a:t>
            </a:r>
          </a:p>
        </p:txBody>
      </p:sp>
      <p:sp>
        <p:nvSpPr>
          <p:cNvPr id="5" name="Content Placeholder 4">
            <a:extLst>
              <a:ext uri="{FF2B5EF4-FFF2-40B4-BE49-F238E27FC236}">
                <a16:creationId xmlns:a16="http://schemas.microsoft.com/office/drawing/2014/main" id="{205ECF63-76F0-2C7E-34ED-003095EBD239}"/>
              </a:ext>
            </a:extLst>
          </p:cNvPr>
          <p:cNvSpPr>
            <a:spLocks noGrp="1"/>
          </p:cNvSpPr>
          <p:nvPr>
            <p:ph sz="half" idx="1"/>
          </p:nvPr>
        </p:nvSpPr>
        <p:spPr/>
        <p:txBody>
          <a:bodyPr>
            <a:normAutofit fontScale="85000" lnSpcReduction="10000"/>
          </a:bodyPr>
          <a:lstStyle/>
          <a:p>
            <a:r>
              <a:rPr lang="en-IE" dirty="0"/>
              <a:t>Web 3.0</a:t>
            </a:r>
          </a:p>
          <a:p>
            <a:endParaRPr lang="en-IE" dirty="0"/>
          </a:p>
          <a:p>
            <a:r>
              <a:rPr lang="en-IE" dirty="0"/>
              <a:t>Web3, the future internet we’re moving towards, is a decentralized internet. Under Web3, the internet is shared online and governed by the collective “we,” rather than owned by centralized entities.</a:t>
            </a:r>
          </a:p>
          <a:p>
            <a:r>
              <a:rPr lang="en-IE" dirty="0"/>
              <a:t>The Web3 world is one that has open-source protocols at its foundation. Web3 is about rearchitecting internet services and products so that they benefit people rather than entities. </a:t>
            </a:r>
          </a:p>
          <a:p>
            <a:endParaRPr lang="en-IE" dirty="0"/>
          </a:p>
          <a:p>
            <a:endParaRPr lang="en-IE" dirty="0"/>
          </a:p>
        </p:txBody>
      </p:sp>
      <p:sp>
        <p:nvSpPr>
          <p:cNvPr id="6" name="Content Placeholder 5">
            <a:extLst>
              <a:ext uri="{FF2B5EF4-FFF2-40B4-BE49-F238E27FC236}">
                <a16:creationId xmlns:a16="http://schemas.microsoft.com/office/drawing/2014/main" id="{50155540-56EA-1F60-B779-F38BC67B08B9}"/>
              </a:ext>
            </a:extLst>
          </p:cNvPr>
          <p:cNvSpPr>
            <a:spLocks noGrp="1"/>
          </p:cNvSpPr>
          <p:nvPr>
            <p:ph sz="half" idx="2"/>
          </p:nvPr>
        </p:nvSpPr>
        <p:spPr/>
        <p:txBody>
          <a:bodyPr>
            <a:normAutofit fontScale="85000" lnSpcReduction="10000"/>
          </a:bodyPr>
          <a:lstStyle/>
          <a:p>
            <a:r>
              <a:rPr lang="en-IE" dirty="0"/>
              <a:t>Web 3.0 looks to give us control of our online information and also create a semantic web. This means that machines will easily read and process user-generated content. Blockchain will provide the power for decentralization, free digital identities with crypto wallets, and open digital economies.</a:t>
            </a:r>
          </a:p>
        </p:txBody>
      </p:sp>
      <p:pic>
        <p:nvPicPr>
          <p:cNvPr id="8" name="Picture 7">
            <a:extLst>
              <a:ext uri="{FF2B5EF4-FFF2-40B4-BE49-F238E27FC236}">
                <a16:creationId xmlns:a16="http://schemas.microsoft.com/office/drawing/2014/main" id="{09622AC5-1136-39D2-4635-83AC5CCE8A66}"/>
              </a:ext>
            </a:extLst>
          </p:cNvPr>
          <p:cNvPicPr>
            <a:picLocks noChangeAspect="1"/>
          </p:cNvPicPr>
          <p:nvPr/>
        </p:nvPicPr>
        <p:blipFill>
          <a:blip r:embed="rId2"/>
          <a:stretch>
            <a:fillRect/>
          </a:stretch>
        </p:blipFill>
        <p:spPr>
          <a:xfrm>
            <a:off x="8686800" y="1"/>
            <a:ext cx="3505200" cy="1743566"/>
          </a:xfrm>
          <a:prstGeom prst="rect">
            <a:avLst/>
          </a:prstGeom>
        </p:spPr>
      </p:pic>
    </p:spTree>
    <p:extLst>
      <p:ext uri="{BB962C8B-B14F-4D97-AF65-F5344CB8AC3E}">
        <p14:creationId xmlns:p14="http://schemas.microsoft.com/office/powerpoint/2010/main" val="3774455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FA379-C0E8-950F-10D4-28B52B4E0F5F}"/>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D264B152-A53E-FF39-75F9-59729836DF8D}"/>
              </a:ext>
            </a:extLst>
          </p:cNvPr>
          <p:cNvSpPr>
            <a:spLocks noGrp="1"/>
          </p:cNvSpPr>
          <p:nvPr>
            <p:ph sz="half" idx="1"/>
          </p:nvPr>
        </p:nvSpPr>
        <p:spPr/>
        <p:txBody>
          <a:bodyPr/>
          <a:lstStyle/>
          <a:p>
            <a:endParaRPr lang="en-IE"/>
          </a:p>
        </p:txBody>
      </p:sp>
      <p:sp>
        <p:nvSpPr>
          <p:cNvPr id="4" name="Content Placeholder 3">
            <a:extLst>
              <a:ext uri="{FF2B5EF4-FFF2-40B4-BE49-F238E27FC236}">
                <a16:creationId xmlns:a16="http://schemas.microsoft.com/office/drawing/2014/main" id="{9D56D116-5F0F-40BC-EB9C-A19149E1AC56}"/>
              </a:ext>
            </a:extLst>
          </p:cNvPr>
          <p:cNvSpPr>
            <a:spLocks noGrp="1"/>
          </p:cNvSpPr>
          <p:nvPr>
            <p:ph sz="half" idx="2"/>
          </p:nvPr>
        </p:nvSpPr>
        <p:spPr/>
        <p:txBody>
          <a:bodyPr/>
          <a:lstStyle/>
          <a:p>
            <a:endParaRPr lang="en-IE"/>
          </a:p>
        </p:txBody>
      </p:sp>
      <p:pic>
        <p:nvPicPr>
          <p:cNvPr id="5" name="Picture 4">
            <a:extLst>
              <a:ext uri="{FF2B5EF4-FFF2-40B4-BE49-F238E27FC236}">
                <a16:creationId xmlns:a16="http://schemas.microsoft.com/office/drawing/2014/main" id="{1CB93866-64EF-6D7E-08D5-98DF889ABE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299" y="0"/>
            <a:ext cx="12369800" cy="6858000"/>
          </a:xfrm>
          <a:prstGeom prst="rect">
            <a:avLst/>
          </a:prstGeom>
        </p:spPr>
      </p:pic>
    </p:spTree>
    <p:extLst>
      <p:ext uri="{BB962C8B-B14F-4D97-AF65-F5344CB8AC3E}">
        <p14:creationId xmlns:p14="http://schemas.microsoft.com/office/powerpoint/2010/main" val="1675530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65EAA-A702-8DDE-F922-B4FF47B542F1}"/>
              </a:ext>
            </a:extLst>
          </p:cNvPr>
          <p:cNvSpPr>
            <a:spLocks noGrp="1"/>
          </p:cNvSpPr>
          <p:nvPr>
            <p:ph type="title"/>
          </p:nvPr>
        </p:nvSpPr>
        <p:spPr/>
        <p:txBody>
          <a:bodyPr>
            <a:normAutofit/>
          </a:bodyPr>
          <a:lstStyle/>
          <a:p>
            <a:r>
              <a:rPr lang="en-IE" dirty="0"/>
              <a:t>Versus </a:t>
            </a:r>
          </a:p>
        </p:txBody>
      </p:sp>
      <p:sp>
        <p:nvSpPr>
          <p:cNvPr id="3" name="Content Placeholder 2">
            <a:extLst>
              <a:ext uri="{FF2B5EF4-FFF2-40B4-BE49-F238E27FC236}">
                <a16:creationId xmlns:a16="http://schemas.microsoft.com/office/drawing/2014/main" id="{C27F6CF0-5967-B6F7-157E-181A6D19EFA4}"/>
              </a:ext>
            </a:extLst>
          </p:cNvPr>
          <p:cNvSpPr>
            <a:spLocks noGrp="1"/>
          </p:cNvSpPr>
          <p:nvPr>
            <p:ph sz="half" idx="1"/>
          </p:nvPr>
        </p:nvSpPr>
        <p:spPr/>
        <p:txBody>
          <a:bodyPr/>
          <a:lstStyle/>
          <a:p>
            <a:pPr marL="0" indent="0">
              <a:buNone/>
            </a:pPr>
            <a:r>
              <a:rPr lang="en-IE" dirty="0"/>
              <a:t>	</a:t>
            </a:r>
          </a:p>
        </p:txBody>
      </p:sp>
      <p:sp>
        <p:nvSpPr>
          <p:cNvPr id="4" name="Content Placeholder 3">
            <a:extLst>
              <a:ext uri="{FF2B5EF4-FFF2-40B4-BE49-F238E27FC236}">
                <a16:creationId xmlns:a16="http://schemas.microsoft.com/office/drawing/2014/main" id="{90484678-FAA4-2CFB-FC0D-8DEAB6EB2875}"/>
              </a:ext>
            </a:extLst>
          </p:cNvPr>
          <p:cNvSpPr>
            <a:spLocks noGrp="1"/>
          </p:cNvSpPr>
          <p:nvPr>
            <p:ph sz="half" idx="2"/>
          </p:nvPr>
        </p:nvSpPr>
        <p:spPr/>
        <p:txBody>
          <a:bodyPr/>
          <a:lstStyle/>
          <a:p>
            <a:pPr marL="0" indent="0">
              <a:buNone/>
            </a:pPr>
            <a:endParaRPr lang="en-IE" dirty="0"/>
          </a:p>
        </p:txBody>
      </p:sp>
      <p:pic>
        <p:nvPicPr>
          <p:cNvPr id="8" name="Picture 7">
            <a:extLst>
              <a:ext uri="{FF2B5EF4-FFF2-40B4-BE49-F238E27FC236}">
                <a16:creationId xmlns:a16="http://schemas.microsoft.com/office/drawing/2014/main" id="{D5996FAB-257F-A655-232E-72A3D5EF0522}"/>
              </a:ext>
            </a:extLst>
          </p:cNvPr>
          <p:cNvPicPr>
            <a:picLocks noChangeAspect="1"/>
          </p:cNvPicPr>
          <p:nvPr/>
        </p:nvPicPr>
        <p:blipFill>
          <a:blip r:embed="rId3"/>
          <a:stretch>
            <a:fillRect/>
          </a:stretch>
        </p:blipFill>
        <p:spPr>
          <a:xfrm>
            <a:off x="28174" y="-78317"/>
            <a:ext cx="5867801" cy="3807884"/>
          </a:xfrm>
          <a:prstGeom prst="rect">
            <a:avLst/>
          </a:prstGeom>
        </p:spPr>
      </p:pic>
      <p:pic>
        <p:nvPicPr>
          <p:cNvPr id="10" name="Picture 9">
            <a:extLst>
              <a:ext uri="{FF2B5EF4-FFF2-40B4-BE49-F238E27FC236}">
                <a16:creationId xmlns:a16="http://schemas.microsoft.com/office/drawing/2014/main" id="{FCD6A6C7-7A6A-4BE1-6D63-CDF5D4D66A16}"/>
              </a:ext>
            </a:extLst>
          </p:cNvPr>
          <p:cNvPicPr>
            <a:picLocks noChangeAspect="1"/>
          </p:cNvPicPr>
          <p:nvPr/>
        </p:nvPicPr>
        <p:blipFill>
          <a:blip r:embed="rId4"/>
          <a:stretch>
            <a:fillRect/>
          </a:stretch>
        </p:blipFill>
        <p:spPr>
          <a:xfrm>
            <a:off x="5895975" y="-78317"/>
            <a:ext cx="6358797" cy="3807884"/>
          </a:xfrm>
          <a:prstGeom prst="rect">
            <a:avLst/>
          </a:prstGeom>
        </p:spPr>
      </p:pic>
      <p:pic>
        <p:nvPicPr>
          <p:cNvPr id="12" name="Picture 11">
            <a:extLst>
              <a:ext uri="{FF2B5EF4-FFF2-40B4-BE49-F238E27FC236}">
                <a16:creationId xmlns:a16="http://schemas.microsoft.com/office/drawing/2014/main" id="{A473F6E5-DB6C-DFCE-3820-41D8FFB1C2D3}"/>
              </a:ext>
            </a:extLst>
          </p:cNvPr>
          <p:cNvPicPr>
            <a:picLocks noChangeAspect="1"/>
          </p:cNvPicPr>
          <p:nvPr/>
        </p:nvPicPr>
        <p:blipFill>
          <a:blip r:embed="rId5"/>
          <a:stretch>
            <a:fillRect/>
          </a:stretch>
        </p:blipFill>
        <p:spPr>
          <a:xfrm>
            <a:off x="6011417" y="3729566"/>
            <a:ext cx="6243355" cy="3128433"/>
          </a:xfrm>
          <a:prstGeom prst="rect">
            <a:avLst/>
          </a:prstGeom>
        </p:spPr>
      </p:pic>
      <p:pic>
        <p:nvPicPr>
          <p:cNvPr id="14" name="Picture 13">
            <a:extLst>
              <a:ext uri="{FF2B5EF4-FFF2-40B4-BE49-F238E27FC236}">
                <a16:creationId xmlns:a16="http://schemas.microsoft.com/office/drawing/2014/main" id="{DB0F394E-7DC9-097C-41FB-5AD0A05E27A3}"/>
              </a:ext>
            </a:extLst>
          </p:cNvPr>
          <p:cNvPicPr>
            <a:picLocks noChangeAspect="1"/>
          </p:cNvPicPr>
          <p:nvPr/>
        </p:nvPicPr>
        <p:blipFill>
          <a:blip r:embed="rId6"/>
          <a:stretch>
            <a:fillRect/>
          </a:stretch>
        </p:blipFill>
        <p:spPr>
          <a:xfrm>
            <a:off x="152000" y="3769837"/>
            <a:ext cx="5867800" cy="3047890"/>
          </a:xfrm>
          <a:prstGeom prst="rect">
            <a:avLst/>
          </a:prstGeom>
        </p:spPr>
      </p:pic>
    </p:spTree>
    <p:extLst>
      <p:ext uri="{BB962C8B-B14F-4D97-AF65-F5344CB8AC3E}">
        <p14:creationId xmlns:p14="http://schemas.microsoft.com/office/powerpoint/2010/main" val="278665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FB926-A011-6F74-0385-A6D21AE232F4}"/>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8CC93C3B-6230-08C9-D8BB-39F983FAECCE}"/>
              </a:ext>
            </a:extLst>
          </p:cNvPr>
          <p:cNvSpPr>
            <a:spLocks noGrp="1"/>
          </p:cNvSpPr>
          <p:nvPr>
            <p:ph sz="half" idx="1"/>
          </p:nvPr>
        </p:nvSpPr>
        <p:spPr/>
        <p:txBody>
          <a:bodyPr/>
          <a:lstStyle/>
          <a:p>
            <a:endParaRPr lang="en-IE"/>
          </a:p>
        </p:txBody>
      </p:sp>
      <p:sp>
        <p:nvSpPr>
          <p:cNvPr id="4" name="Content Placeholder 3">
            <a:extLst>
              <a:ext uri="{FF2B5EF4-FFF2-40B4-BE49-F238E27FC236}">
                <a16:creationId xmlns:a16="http://schemas.microsoft.com/office/drawing/2014/main" id="{4682DB3F-D751-B229-4D0F-503E3D65EFDF}"/>
              </a:ext>
            </a:extLst>
          </p:cNvPr>
          <p:cNvSpPr>
            <a:spLocks noGrp="1"/>
          </p:cNvSpPr>
          <p:nvPr>
            <p:ph sz="half" idx="2"/>
          </p:nvPr>
        </p:nvSpPr>
        <p:spPr/>
        <p:txBody>
          <a:bodyPr/>
          <a:lstStyle/>
          <a:p>
            <a:endParaRPr lang="en-IE"/>
          </a:p>
        </p:txBody>
      </p:sp>
      <p:pic>
        <p:nvPicPr>
          <p:cNvPr id="6" name="Picture 5">
            <a:extLst>
              <a:ext uri="{FF2B5EF4-FFF2-40B4-BE49-F238E27FC236}">
                <a16:creationId xmlns:a16="http://schemas.microsoft.com/office/drawing/2014/main" id="{25889EDC-E440-AD7A-CB73-DAB1BF545FA7}"/>
              </a:ext>
            </a:extLst>
          </p:cNvPr>
          <p:cNvPicPr>
            <a:picLocks noChangeAspect="1"/>
          </p:cNvPicPr>
          <p:nvPr/>
        </p:nvPicPr>
        <p:blipFill>
          <a:blip r:embed="rId2"/>
          <a:stretch>
            <a:fillRect/>
          </a:stretch>
        </p:blipFill>
        <p:spPr>
          <a:xfrm>
            <a:off x="114299" y="175419"/>
            <a:ext cx="11552715" cy="6507162"/>
          </a:xfrm>
          <a:prstGeom prst="rect">
            <a:avLst/>
          </a:prstGeom>
        </p:spPr>
      </p:pic>
    </p:spTree>
    <p:extLst>
      <p:ext uri="{BB962C8B-B14F-4D97-AF65-F5344CB8AC3E}">
        <p14:creationId xmlns:p14="http://schemas.microsoft.com/office/powerpoint/2010/main" val="735990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4204A-2ECD-6F10-CD50-02BB4F937763}"/>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FE3A4820-EEAD-D806-1AF6-D97795760BDE}"/>
              </a:ext>
            </a:extLst>
          </p:cNvPr>
          <p:cNvSpPr>
            <a:spLocks noGrp="1"/>
          </p:cNvSpPr>
          <p:nvPr>
            <p:ph sz="half" idx="1"/>
          </p:nvPr>
        </p:nvSpPr>
        <p:spPr/>
        <p:txBody>
          <a:bodyPr/>
          <a:lstStyle/>
          <a:p>
            <a:endParaRPr lang="en-IE"/>
          </a:p>
        </p:txBody>
      </p:sp>
      <p:sp>
        <p:nvSpPr>
          <p:cNvPr id="4" name="Content Placeholder 3">
            <a:extLst>
              <a:ext uri="{FF2B5EF4-FFF2-40B4-BE49-F238E27FC236}">
                <a16:creationId xmlns:a16="http://schemas.microsoft.com/office/drawing/2014/main" id="{719EC941-5978-9E00-CC79-C82C7257D9D3}"/>
              </a:ext>
            </a:extLst>
          </p:cNvPr>
          <p:cNvSpPr>
            <a:spLocks noGrp="1"/>
          </p:cNvSpPr>
          <p:nvPr>
            <p:ph sz="half" idx="2"/>
          </p:nvPr>
        </p:nvSpPr>
        <p:spPr/>
        <p:txBody>
          <a:bodyPr/>
          <a:lstStyle/>
          <a:p>
            <a:endParaRPr lang="en-IE"/>
          </a:p>
        </p:txBody>
      </p:sp>
      <p:pic>
        <p:nvPicPr>
          <p:cNvPr id="6" name="Picture 5">
            <a:extLst>
              <a:ext uri="{FF2B5EF4-FFF2-40B4-BE49-F238E27FC236}">
                <a16:creationId xmlns:a16="http://schemas.microsoft.com/office/drawing/2014/main" id="{608FA442-9206-EF13-DA76-688945A16E4F}"/>
              </a:ext>
            </a:extLst>
          </p:cNvPr>
          <p:cNvPicPr>
            <a:picLocks noChangeAspect="1"/>
          </p:cNvPicPr>
          <p:nvPr/>
        </p:nvPicPr>
        <p:blipFill>
          <a:blip r:embed="rId2"/>
          <a:stretch>
            <a:fillRect/>
          </a:stretch>
        </p:blipFill>
        <p:spPr>
          <a:xfrm>
            <a:off x="0" y="0"/>
            <a:ext cx="12192000" cy="6656736"/>
          </a:xfrm>
          <a:prstGeom prst="rect">
            <a:avLst/>
          </a:prstGeom>
        </p:spPr>
      </p:pic>
    </p:spTree>
    <p:extLst>
      <p:ext uri="{BB962C8B-B14F-4D97-AF65-F5344CB8AC3E}">
        <p14:creationId xmlns:p14="http://schemas.microsoft.com/office/powerpoint/2010/main" val="2715543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88116-4252-FBC4-ECC9-FEEBD76DF7B3}"/>
              </a:ext>
            </a:extLst>
          </p:cNvPr>
          <p:cNvSpPr>
            <a:spLocks noGrp="1"/>
          </p:cNvSpPr>
          <p:nvPr>
            <p:ph type="title"/>
          </p:nvPr>
        </p:nvSpPr>
        <p:spPr/>
        <p:txBody>
          <a:bodyPr/>
          <a:lstStyle/>
          <a:p>
            <a:r>
              <a:rPr lang="en-IE" dirty="0"/>
              <a:t>Critical Opinion – Both Side - Infancy </a:t>
            </a:r>
          </a:p>
        </p:txBody>
      </p:sp>
      <p:sp>
        <p:nvSpPr>
          <p:cNvPr id="6" name="TextBox 5">
            <a:extLst>
              <a:ext uri="{FF2B5EF4-FFF2-40B4-BE49-F238E27FC236}">
                <a16:creationId xmlns:a16="http://schemas.microsoft.com/office/drawing/2014/main" id="{06DF0FEA-5BFE-F43E-83BB-C085D3A69EEC}"/>
              </a:ext>
            </a:extLst>
          </p:cNvPr>
          <p:cNvSpPr txBox="1"/>
          <p:nvPr/>
        </p:nvSpPr>
        <p:spPr>
          <a:xfrm>
            <a:off x="660400" y="6311900"/>
            <a:ext cx="6096000" cy="369332"/>
          </a:xfrm>
          <a:prstGeom prst="rect">
            <a:avLst/>
          </a:prstGeom>
          <a:noFill/>
        </p:spPr>
        <p:txBody>
          <a:bodyPr wrap="square">
            <a:spAutoFit/>
          </a:bodyPr>
          <a:lstStyle/>
          <a:p>
            <a:r>
              <a:rPr lang="en-IE" dirty="0">
                <a:hlinkClick r:id="rId2"/>
              </a:rPr>
              <a:t>https://www.stephendiehl.com/blog/web3-bullshit.html</a:t>
            </a:r>
            <a:r>
              <a:rPr lang="en-IE" dirty="0"/>
              <a:t> </a:t>
            </a:r>
          </a:p>
        </p:txBody>
      </p:sp>
      <p:pic>
        <p:nvPicPr>
          <p:cNvPr id="8" name="Picture 7">
            <a:extLst>
              <a:ext uri="{FF2B5EF4-FFF2-40B4-BE49-F238E27FC236}">
                <a16:creationId xmlns:a16="http://schemas.microsoft.com/office/drawing/2014/main" id="{C98A79AD-57C8-1B18-1238-0D72FD82DF7B}"/>
              </a:ext>
            </a:extLst>
          </p:cNvPr>
          <p:cNvPicPr>
            <a:picLocks noChangeAspect="1"/>
          </p:cNvPicPr>
          <p:nvPr/>
        </p:nvPicPr>
        <p:blipFill>
          <a:blip r:embed="rId3"/>
          <a:stretch>
            <a:fillRect/>
          </a:stretch>
        </p:blipFill>
        <p:spPr>
          <a:xfrm>
            <a:off x="0" y="2823369"/>
            <a:ext cx="6096000" cy="1768475"/>
          </a:xfrm>
          <a:prstGeom prst="rect">
            <a:avLst/>
          </a:prstGeom>
        </p:spPr>
      </p:pic>
      <p:sp>
        <p:nvSpPr>
          <p:cNvPr id="10" name="TextBox 9">
            <a:extLst>
              <a:ext uri="{FF2B5EF4-FFF2-40B4-BE49-F238E27FC236}">
                <a16:creationId xmlns:a16="http://schemas.microsoft.com/office/drawing/2014/main" id="{569BE1B0-43D0-5574-937B-59E710C590A9}"/>
              </a:ext>
            </a:extLst>
          </p:cNvPr>
          <p:cNvSpPr txBox="1"/>
          <p:nvPr/>
        </p:nvSpPr>
        <p:spPr>
          <a:xfrm>
            <a:off x="6273800" y="6211669"/>
            <a:ext cx="6096000" cy="646331"/>
          </a:xfrm>
          <a:prstGeom prst="rect">
            <a:avLst/>
          </a:prstGeom>
          <a:noFill/>
        </p:spPr>
        <p:txBody>
          <a:bodyPr wrap="square">
            <a:spAutoFit/>
          </a:bodyPr>
          <a:lstStyle/>
          <a:p>
            <a:r>
              <a:rPr lang="en-IE" dirty="0">
                <a:hlinkClick r:id="rId4"/>
              </a:rPr>
              <a:t>https://lasserouhiainen.com/5-main-benefits-of-web3-infographic/</a:t>
            </a:r>
            <a:r>
              <a:rPr lang="en-IE" dirty="0"/>
              <a:t> </a:t>
            </a:r>
          </a:p>
        </p:txBody>
      </p:sp>
      <p:pic>
        <p:nvPicPr>
          <p:cNvPr id="12" name="Picture 11">
            <a:extLst>
              <a:ext uri="{FF2B5EF4-FFF2-40B4-BE49-F238E27FC236}">
                <a16:creationId xmlns:a16="http://schemas.microsoft.com/office/drawing/2014/main" id="{C6D70FF2-6D6C-854E-9683-9245405B0735}"/>
              </a:ext>
            </a:extLst>
          </p:cNvPr>
          <p:cNvPicPr>
            <a:picLocks noChangeAspect="1"/>
          </p:cNvPicPr>
          <p:nvPr/>
        </p:nvPicPr>
        <p:blipFill>
          <a:blip r:embed="rId5"/>
          <a:stretch>
            <a:fillRect/>
          </a:stretch>
        </p:blipFill>
        <p:spPr>
          <a:xfrm>
            <a:off x="6416675" y="2165054"/>
            <a:ext cx="4692650" cy="3472018"/>
          </a:xfrm>
          <a:prstGeom prst="rect">
            <a:avLst/>
          </a:prstGeom>
        </p:spPr>
      </p:pic>
    </p:spTree>
    <p:extLst>
      <p:ext uri="{BB962C8B-B14F-4D97-AF65-F5344CB8AC3E}">
        <p14:creationId xmlns:p14="http://schemas.microsoft.com/office/powerpoint/2010/main" val="2072600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D286E-AB36-7658-74F0-B76BC00579CF}"/>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C93BBE08-C92A-DA72-7A1A-BF8B323D557C}"/>
              </a:ext>
            </a:extLst>
          </p:cNvPr>
          <p:cNvSpPr>
            <a:spLocks noGrp="1"/>
          </p:cNvSpPr>
          <p:nvPr>
            <p:ph sz="half" idx="1"/>
          </p:nvPr>
        </p:nvSpPr>
        <p:spPr/>
        <p:txBody>
          <a:bodyPr/>
          <a:lstStyle/>
          <a:p>
            <a:endParaRPr lang="en-IE"/>
          </a:p>
        </p:txBody>
      </p:sp>
      <p:sp>
        <p:nvSpPr>
          <p:cNvPr id="4" name="Content Placeholder 3">
            <a:extLst>
              <a:ext uri="{FF2B5EF4-FFF2-40B4-BE49-F238E27FC236}">
                <a16:creationId xmlns:a16="http://schemas.microsoft.com/office/drawing/2014/main" id="{B97CE9E6-32AA-C9A3-E63B-33361636FE1B}"/>
              </a:ext>
            </a:extLst>
          </p:cNvPr>
          <p:cNvSpPr>
            <a:spLocks noGrp="1"/>
          </p:cNvSpPr>
          <p:nvPr>
            <p:ph sz="half" idx="2"/>
          </p:nvPr>
        </p:nvSpPr>
        <p:spPr/>
        <p:txBody>
          <a:bodyPr/>
          <a:lstStyle/>
          <a:p>
            <a:endParaRPr lang="en-IE"/>
          </a:p>
        </p:txBody>
      </p:sp>
      <p:pic>
        <p:nvPicPr>
          <p:cNvPr id="6" name="Picture 5">
            <a:extLst>
              <a:ext uri="{FF2B5EF4-FFF2-40B4-BE49-F238E27FC236}">
                <a16:creationId xmlns:a16="http://schemas.microsoft.com/office/drawing/2014/main" id="{415E322A-A4F9-FA4A-19ED-61F543F51A29}"/>
              </a:ext>
            </a:extLst>
          </p:cNvPr>
          <p:cNvPicPr>
            <a:picLocks noChangeAspect="1"/>
          </p:cNvPicPr>
          <p:nvPr/>
        </p:nvPicPr>
        <p:blipFill>
          <a:blip r:embed="rId2"/>
          <a:stretch>
            <a:fillRect/>
          </a:stretch>
        </p:blipFill>
        <p:spPr>
          <a:xfrm>
            <a:off x="0" y="7280"/>
            <a:ext cx="12192000" cy="6169683"/>
          </a:xfrm>
          <a:prstGeom prst="rect">
            <a:avLst/>
          </a:prstGeom>
        </p:spPr>
      </p:pic>
      <p:sp>
        <p:nvSpPr>
          <p:cNvPr id="7" name="TextBox 6">
            <a:extLst>
              <a:ext uri="{FF2B5EF4-FFF2-40B4-BE49-F238E27FC236}">
                <a16:creationId xmlns:a16="http://schemas.microsoft.com/office/drawing/2014/main" id="{E9F10C17-74E9-C5BF-67B7-3158F05F23E3}"/>
              </a:ext>
            </a:extLst>
          </p:cNvPr>
          <p:cNvSpPr txBox="1"/>
          <p:nvPr/>
        </p:nvSpPr>
        <p:spPr>
          <a:xfrm>
            <a:off x="635000" y="6438900"/>
            <a:ext cx="4292600" cy="369332"/>
          </a:xfrm>
          <a:prstGeom prst="rect">
            <a:avLst/>
          </a:prstGeom>
          <a:noFill/>
        </p:spPr>
        <p:txBody>
          <a:bodyPr wrap="square" rtlCol="0">
            <a:spAutoFit/>
          </a:bodyPr>
          <a:lstStyle/>
          <a:p>
            <a:r>
              <a:rPr lang="en-IE" dirty="0"/>
              <a:t>Dot Com Bubble</a:t>
            </a:r>
          </a:p>
        </p:txBody>
      </p:sp>
    </p:spTree>
    <p:extLst>
      <p:ext uri="{BB962C8B-B14F-4D97-AF65-F5344CB8AC3E}">
        <p14:creationId xmlns:p14="http://schemas.microsoft.com/office/powerpoint/2010/main" val="2581768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0DB6A-DB40-02F8-03D4-E5CAC5B54AFE}"/>
              </a:ext>
            </a:extLst>
          </p:cNvPr>
          <p:cNvSpPr>
            <a:spLocks noGrp="1"/>
          </p:cNvSpPr>
          <p:nvPr>
            <p:ph type="title"/>
          </p:nvPr>
        </p:nvSpPr>
        <p:spPr/>
        <p:txBody>
          <a:bodyPr/>
          <a:lstStyle/>
          <a:p>
            <a:r>
              <a:rPr lang="en-IE" dirty="0"/>
              <a:t>Web3</a:t>
            </a:r>
          </a:p>
        </p:txBody>
      </p:sp>
      <p:sp>
        <p:nvSpPr>
          <p:cNvPr id="7" name="Content Placeholder 6">
            <a:extLst>
              <a:ext uri="{FF2B5EF4-FFF2-40B4-BE49-F238E27FC236}">
                <a16:creationId xmlns:a16="http://schemas.microsoft.com/office/drawing/2014/main" id="{16611A58-0C3E-E5EC-27C4-07BA8747B1DA}"/>
              </a:ext>
            </a:extLst>
          </p:cNvPr>
          <p:cNvSpPr>
            <a:spLocks noGrp="1"/>
          </p:cNvSpPr>
          <p:nvPr>
            <p:ph sz="half" idx="1"/>
          </p:nvPr>
        </p:nvSpPr>
        <p:spPr/>
        <p:txBody>
          <a:bodyPr>
            <a:normAutofit fontScale="92500" lnSpcReduction="20000"/>
          </a:bodyPr>
          <a:lstStyle/>
          <a:p>
            <a:r>
              <a:rPr lang="en-IE" dirty="0"/>
              <a:t>Web 3.0 (also known as Web3) is the next generation of Internet technology that heavily relies on machine learning, artificial intelligence (AI), and blockchain technology. The term was created by Gavin Wood, </a:t>
            </a:r>
            <a:r>
              <a:rPr lang="en-IE" dirty="0" err="1"/>
              <a:t>Polkadot's</a:t>
            </a:r>
            <a:r>
              <a:rPr lang="en-IE" dirty="0"/>
              <a:t> founder and the co-founder of Ethereum. While Web 2.0 focuses on user-created content hosted on centralized websites, Web 3.0 will give users more control of their online data. </a:t>
            </a:r>
          </a:p>
        </p:txBody>
      </p:sp>
      <p:sp>
        <p:nvSpPr>
          <p:cNvPr id="8" name="Content Placeholder 7">
            <a:extLst>
              <a:ext uri="{FF2B5EF4-FFF2-40B4-BE49-F238E27FC236}">
                <a16:creationId xmlns:a16="http://schemas.microsoft.com/office/drawing/2014/main" id="{AF1C05FB-BBCD-84D4-E87D-A95F185B401B}"/>
              </a:ext>
            </a:extLst>
          </p:cNvPr>
          <p:cNvSpPr>
            <a:spLocks noGrp="1"/>
          </p:cNvSpPr>
          <p:nvPr>
            <p:ph sz="half" idx="2"/>
          </p:nvPr>
        </p:nvSpPr>
        <p:spPr/>
        <p:txBody>
          <a:bodyPr>
            <a:normAutofit fontScale="92500" lnSpcReduction="20000"/>
          </a:bodyPr>
          <a:lstStyle/>
          <a:p>
            <a:r>
              <a:rPr lang="en-IE" dirty="0"/>
              <a:t>The movement aims to create open, connected, intelligent websites and web apps with an improved machine-based understanding of data. Decentralization and digital economies also play an important role in Web 3.0, as they allow us to place value on the content created on the net. It's also important to understand that Web 3.0 is a changing concept. There is no single definition, and its exact meaning can differ from person to person.</a:t>
            </a:r>
          </a:p>
        </p:txBody>
      </p:sp>
    </p:spTree>
    <p:extLst>
      <p:ext uri="{BB962C8B-B14F-4D97-AF65-F5344CB8AC3E}">
        <p14:creationId xmlns:p14="http://schemas.microsoft.com/office/powerpoint/2010/main" val="2147514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35F4D56-5417-6AFC-567B-CCB81D4E00E1}"/>
              </a:ext>
            </a:extLst>
          </p:cNvPr>
          <p:cNvPicPr>
            <a:picLocks noGrp="1" noChangeAspect="1"/>
          </p:cNvPicPr>
          <p:nvPr>
            <p:ph sz="half" idx="1"/>
          </p:nvPr>
        </p:nvPicPr>
        <p:blipFill>
          <a:blip r:embed="rId2"/>
          <a:stretch>
            <a:fillRect/>
          </a:stretch>
        </p:blipFill>
        <p:spPr>
          <a:xfrm>
            <a:off x="339669" y="174624"/>
            <a:ext cx="2581331" cy="6674493"/>
          </a:xfrm>
        </p:spPr>
      </p:pic>
      <p:sp>
        <p:nvSpPr>
          <p:cNvPr id="4" name="Content Placeholder 3">
            <a:extLst>
              <a:ext uri="{FF2B5EF4-FFF2-40B4-BE49-F238E27FC236}">
                <a16:creationId xmlns:a16="http://schemas.microsoft.com/office/drawing/2014/main" id="{A06373D9-A3B1-F4B9-3EF7-5C47FD208570}"/>
              </a:ext>
            </a:extLst>
          </p:cNvPr>
          <p:cNvSpPr>
            <a:spLocks noGrp="1"/>
          </p:cNvSpPr>
          <p:nvPr>
            <p:ph sz="half" idx="2"/>
          </p:nvPr>
        </p:nvSpPr>
        <p:spPr>
          <a:xfrm>
            <a:off x="3263900" y="1825625"/>
            <a:ext cx="8089900" cy="4351338"/>
          </a:xfrm>
        </p:spPr>
        <p:txBody>
          <a:bodyPr>
            <a:normAutofit fontScale="92500" lnSpcReduction="10000"/>
          </a:bodyPr>
          <a:lstStyle/>
          <a:p>
            <a:r>
              <a:rPr lang="en-IE" dirty="0">
                <a:hlinkClick r:id="rId3"/>
              </a:rPr>
              <a:t>https://mobile.twitter.com/gavofyork</a:t>
            </a:r>
            <a:r>
              <a:rPr lang="en-IE" dirty="0"/>
              <a:t> </a:t>
            </a:r>
          </a:p>
          <a:p>
            <a:endParaRPr lang="en-IE" dirty="0"/>
          </a:p>
          <a:p>
            <a:r>
              <a:rPr lang="en-IE" dirty="0">
                <a:hlinkClick r:id="rId4"/>
              </a:rPr>
              <a:t>https://wiki.polkadot.network/docs/learn-kusama-vs-polkadot</a:t>
            </a:r>
            <a:r>
              <a:rPr lang="en-IE" dirty="0"/>
              <a:t> </a:t>
            </a:r>
          </a:p>
          <a:p>
            <a:endParaRPr lang="en-IE" dirty="0"/>
          </a:p>
          <a:p>
            <a:r>
              <a:rPr lang="en-IE" dirty="0">
                <a:hlinkClick r:id="rId5"/>
              </a:rPr>
              <a:t>https://parachains.info/</a:t>
            </a:r>
            <a:r>
              <a:rPr lang="en-IE" dirty="0"/>
              <a:t> </a:t>
            </a:r>
          </a:p>
          <a:p>
            <a:endParaRPr lang="en-IE" dirty="0"/>
          </a:p>
          <a:p>
            <a:r>
              <a:rPr lang="en-IE" dirty="0">
                <a:hlinkClick r:id="rId6"/>
              </a:rPr>
              <a:t>https://cointelegraph.com/blockchain-for-beginners/what-are-parachains-a-guide-to-polkadot-and-kusama-parachains</a:t>
            </a:r>
            <a:r>
              <a:rPr lang="en-IE" dirty="0"/>
              <a:t> </a:t>
            </a:r>
          </a:p>
        </p:txBody>
      </p:sp>
      <p:pic>
        <p:nvPicPr>
          <p:cNvPr id="8" name="Picture 7">
            <a:extLst>
              <a:ext uri="{FF2B5EF4-FFF2-40B4-BE49-F238E27FC236}">
                <a16:creationId xmlns:a16="http://schemas.microsoft.com/office/drawing/2014/main" id="{1AAFB75F-265F-F945-F174-BFC0C502B904}"/>
              </a:ext>
            </a:extLst>
          </p:cNvPr>
          <p:cNvPicPr>
            <a:picLocks noChangeAspect="1"/>
          </p:cNvPicPr>
          <p:nvPr/>
        </p:nvPicPr>
        <p:blipFill>
          <a:blip r:embed="rId7"/>
          <a:stretch>
            <a:fillRect/>
          </a:stretch>
        </p:blipFill>
        <p:spPr>
          <a:xfrm>
            <a:off x="8166100" y="0"/>
            <a:ext cx="3467100" cy="1580208"/>
          </a:xfrm>
          <a:prstGeom prst="rect">
            <a:avLst/>
          </a:prstGeom>
        </p:spPr>
      </p:pic>
    </p:spTree>
    <p:extLst>
      <p:ext uri="{BB962C8B-B14F-4D97-AF65-F5344CB8AC3E}">
        <p14:creationId xmlns:p14="http://schemas.microsoft.com/office/powerpoint/2010/main" val="3661601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813067-246F-E793-82E4-75A96D9FF1A7}"/>
              </a:ext>
            </a:extLst>
          </p:cNvPr>
          <p:cNvSpPr>
            <a:spLocks noGrp="1"/>
          </p:cNvSpPr>
          <p:nvPr>
            <p:ph type="title"/>
          </p:nvPr>
        </p:nvSpPr>
        <p:spPr/>
        <p:txBody>
          <a:bodyPr/>
          <a:lstStyle/>
          <a:p>
            <a:r>
              <a:rPr lang="en-IE" dirty="0"/>
              <a:t>A Vision for the Future</a:t>
            </a:r>
          </a:p>
        </p:txBody>
      </p:sp>
      <p:sp>
        <p:nvSpPr>
          <p:cNvPr id="5" name="Content Placeholder 4">
            <a:extLst>
              <a:ext uri="{FF2B5EF4-FFF2-40B4-BE49-F238E27FC236}">
                <a16:creationId xmlns:a16="http://schemas.microsoft.com/office/drawing/2014/main" id="{205ECF63-76F0-2C7E-34ED-003095EBD239}"/>
              </a:ext>
            </a:extLst>
          </p:cNvPr>
          <p:cNvSpPr>
            <a:spLocks noGrp="1"/>
          </p:cNvSpPr>
          <p:nvPr>
            <p:ph sz="half" idx="1"/>
          </p:nvPr>
        </p:nvSpPr>
        <p:spPr/>
        <p:txBody>
          <a:bodyPr>
            <a:normAutofit fontScale="92500" lnSpcReduction="10000"/>
          </a:bodyPr>
          <a:lstStyle/>
          <a:p>
            <a:r>
              <a:rPr lang="en-IE" dirty="0"/>
              <a:t>“I have a dream for the Web [in which computers] become capable of </a:t>
            </a:r>
            <a:r>
              <a:rPr lang="en-IE" dirty="0" err="1"/>
              <a:t>analyzing</a:t>
            </a:r>
            <a:r>
              <a:rPr lang="en-IE" dirty="0"/>
              <a:t> all the data on the Web – the content, links, and transactions between people and computers. A "Semantic Web," which makes this possible, has yet to emerge, but when it does, the day-to-day mechanisms of trade, bureaucracy, and our daily lives will be handled by machines talking to machines.” - TBL</a:t>
            </a:r>
          </a:p>
        </p:txBody>
      </p:sp>
      <p:pic>
        <p:nvPicPr>
          <p:cNvPr id="8" name="Content Placeholder 7">
            <a:extLst>
              <a:ext uri="{FF2B5EF4-FFF2-40B4-BE49-F238E27FC236}">
                <a16:creationId xmlns:a16="http://schemas.microsoft.com/office/drawing/2014/main" id="{BBF73AA8-3879-5FFD-7221-F30C6A7CF7F0}"/>
              </a:ext>
            </a:extLst>
          </p:cNvPr>
          <p:cNvPicPr>
            <a:picLocks noGrp="1" noChangeAspect="1"/>
          </p:cNvPicPr>
          <p:nvPr>
            <p:ph sz="half" idx="2"/>
          </p:nvPr>
        </p:nvPicPr>
        <p:blipFill>
          <a:blip r:embed="rId2"/>
          <a:stretch>
            <a:fillRect/>
          </a:stretch>
        </p:blipFill>
        <p:spPr>
          <a:xfrm>
            <a:off x="6172200" y="2390524"/>
            <a:ext cx="5181600" cy="3221540"/>
          </a:xfrm>
        </p:spPr>
      </p:pic>
    </p:spTree>
    <p:extLst>
      <p:ext uri="{BB962C8B-B14F-4D97-AF65-F5344CB8AC3E}">
        <p14:creationId xmlns:p14="http://schemas.microsoft.com/office/powerpoint/2010/main" val="2292652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813067-246F-E793-82E4-75A96D9FF1A7}"/>
              </a:ext>
            </a:extLst>
          </p:cNvPr>
          <p:cNvSpPr>
            <a:spLocks noGrp="1"/>
          </p:cNvSpPr>
          <p:nvPr>
            <p:ph type="title"/>
          </p:nvPr>
        </p:nvSpPr>
        <p:spPr/>
        <p:txBody>
          <a:bodyPr/>
          <a:lstStyle/>
          <a:p>
            <a:r>
              <a:rPr lang="en-IE" dirty="0" err="1"/>
              <a:t>Cern</a:t>
            </a:r>
            <a:r>
              <a:rPr lang="en-IE" dirty="0"/>
              <a:t> </a:t>
            </a:r>
          </a:p>
        </p:txBody>
      </p:sp>
      <p:sp>
        <p:nvSpPr>
          <p:cNvPr id="5" name="Content Placeholder 4">
            <a:extLst>
              <a:ext uri="{FF2B5EF4-FFF2-40B4-BE49-F238E27FC236}">
                <a16:creationId xmlns:a16="http://schemas.microsoft.com/office/drawing/2014/main" id="{205ECF63-76F0-2C7E-34ED-003095EBD239}"/>
              </a:ext>
            </a:extLst>
          </p:cNvPr>
          <p:cNvSpPr>
            <a:spLocks noGrp="1"/>
          </p:cNvSpPr>
          <p:nvPr>
            <p:ph sz="half" idx="1"/>
          </p:nvPr>
        </p:nvSpPr>
        <p:spPr/>
        <p:txBody>
          <a:bodyPr/>
          <a:lstStyle/>
          <a:p>
            <a:r>
              <a:rPr lang="en-IE" dirty="0">
                <a:hlinkClick r:id="rId2"/>
              </a:rPr>
              <a:t>https://www.home.cern/</a:t>
            </a:r>
            <a:r>
              <a:rPr lang="en-IE" dirty="0"/>
              <a:t> </a:t>
            </a:r>
          </a:p>
        </p:txBody>
      </p:sp>
      <p:pic>
        <p:nvPicPr>
          <p:cNvPr id="10" name="Content Placeholder 9">
            <a:extLst>
              <a:ext uri="{FF2B5EF4-FFF2-40B4-BE49-F238E27FC236}">
                <a16:creationId xmlns:a16="http://schemas.microsoft.com/office/drawing/2014/main" id="{9370E467-CF52-FBE6-7B2B-C9C0305F2328}"/>
              </a:ext>
            </a:extLst>
          </p:cNvPr>
          <p:cNvPicPr>
            <a:picLocks noGrp="1" noChangeAspect="1"/>
          </p:cNvPicPr>
          <p:nvPr>
            <p:ph sz="half" idx="2"/>
          </p:nvPr>
        </p:nvPicPr>
        <p:blipFill>
          <a:blip r:embed="rId3"/>
          <a:stretch>
            <a:fillRect/>
          </a:stretch>
        </p:blipFill>
        <p:spPr>
          <a:xfrm>
            <a:off x="6339264" y="1825625"/>
            <a:ext cx="4847471" cy="4351338"/>
          </a:xfrm>
        </p:spPr>
      </p:pic>
      <p:pic>
        <p:nvPicPr>
          <p:cNvPr id="3" name="Picture 2">
            <a:extLst>
              <a:ext uri="{FF2B5EF4-FFF2-40B4-BE49-F238E27FC236}">
                <a16:creationId xmlns:a16="http://schemas.microsoft.com/office/drawing/2014/main" id="{BE34B77E-040C-AFC6-4CA3-40D2348280DE}"/>
              </a:ext>
            </a:extLst>
          </p:cNvPr>
          <p:cNvPicPr>
            <a:picLocks noChangeAspect="1"/>
          </p:cNvPicPr>
          <p:nvPr/>
        </p:nvPicPr>
        <p:blipFill>
          <a:blip r:embed="rId4"/>
          <a:stretch>
            <a:fillRect/>
          </a:stretch>
        </p:blipFill>
        <p:spPr>
          <a:xfrm>
            <a:off x="9883775" y="365125"/>
            <a:ext cx="1314450" cy="828675"/>
          </a:xfrm>
          <a:prstGeom prst="rect">
            <a:avLst/>
          </a:prstGeom>
        </p:spPr>
      </p:pic>
      <p:pic>
        <p:nvPicPr>
          <p:cNvPr id="8" name="Picture 7">
            <a:extLst>
              <a:ext uri="{FF2B5EF4-FFF2-40B4-BE49-F238E27FC236}">
                <a16:creationId xmlns:a16="http://schemas.microsoft.com/office/drawing/2014/main" id="{08909387-F4F4-DA36-467D-7C76428B0EA5}"/>
              </a:ext>
            </a:extLst>
          </p:cNvPr>
          <p:cNvPicPr>
            <a:picLocks noChangeAspect="1"/>
          </p:cNvPicPr>
          <p:nvPr/>
        </p:nvPicPr>
        <p:blipFill>
          <a:blip r:embed="rId5"/>
          <a:stretch>
            <a:fillRect/>
          </a:stretch>
        </p:blipFill>
        <p:spPr>
          <a:xfrm>
            <a:off x="838200" y="2608263"/>
            <a:ext cx="4660966" cy="3170238"/>
          </a:xfrm>
          <a:prstGeom prst="rect">
            <a:avLst/>
          </a:prstGeom>
        </p:spPr>
      </p:pic>
    </p:spTree>
    <p:extLst>
      <p:ext uri="{BB962C8B-B14F-4D97-AF65-F5344CB8AC3E}">
        <p14:creationId xmlns:p14="http://schemas.microsoft.com/office/powerpoint/2010/main" val="2451232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813067-246F-E793-82E4-75A96D9FF1A7}"/>
              </a:ext>
            </a:extLst>
          </p:cNvPr>
          <p:cNvSpPr>
            <a:spLocks noGrp="1"/>
          </p:cNvSpPr>
          <p:nvPr>
            <p:ph type="title"/>
          </p:nvPr>
        </p:nvSpPr>
        <p:spPr/>
        <p:txBody>
          <a:bodyPr/>
          <a:lstStyle/>
          <a:p>
            <a:r>
              <a:rPr lang="en-IE" dirty="0"/>
              <a:t>Old and New</a:t>
            </a:r>
          </a:p>
        </p:txBody>
      </p:sp>
      <p:pic>
        <p:nvPicPr>
          <p:cNvPr id="10" name="Content Placeholder 9">
            <a:extLst>
              <a:ext uri="{FF2B5EF4-FFF2-40B4-BE49-F238E27FC236}">
                <a16:creationId xmlns:a16="http://schemas.microsoft.com/office/drawing/2014/main" id="{B837DD3A-BE2F-759C-F49D-543323AFFE0D}"/>
              </a:ext>
            </a:extLst>
          </p:cNvPr>
          <p:cNvPicPr>
            <a:picLocks noGrp="1" noChangeAspect="1"/>
          </p:cNvPicPr>
          <p:nvPr>
            <p:ph sz="half" idx="1"/>
          </p:nvPr>
        </p:nvPicPr>
        <p:blipFill>
          <a:blip r:embed="rId2"/>
          <a:stretch>
            <a:fillRect/>
          </a:stretch>
        </p:blipFill>
        <p:spPr>
          <a:xfrm>
            <a:off x="6388100" y="2569821"/>
            <a:ext cx="5181600" cy="2773987"/>
          </a:xfrm>
        </p:spPr>
      </p:pic>
      <p:pic>
        <p:nvPicPr>
          <p:cNvPr id="3" name="Picture 2">
            <a:extLst>
              <a:ext uri="{FF2B5EF4-FFF2-40B4-BE49-F238E27FC236}">
                <a16:creationId xmlns:a16="http://schemas.microsoft.com/office/drawing/2014/main" id="{5B63297F-9FFA-CEB6-FCF1-153032F097F1}"/>
              </a:ext>
            </a:extLst>
          </p:cNvPr>
          <p:cNvPicPr>
            <a:picLocks noChangeAspect="1"/>
          </p:cNvPicPr>
          <p:nvPr/>
        </p:nvPicPr>
        <p:blipFill>
          <a:blip r:embed="rId3"/>
          <a:stretch>
            <a:fillRect/>
          </a:stretch>
        </p:blipFill>
        <p:spPr>
          <a:xfrm>
            <a:off x="380205" y="2569821"/>
            <a:ext cx="5627690" cy="2818466"/>
          </a:xfrm>
          <a:prstGeom prst="rect">
            <a:avLst/>
          </a:prstGeom>
        </p:spPr>
      </p:pic>
    </p:spTree>
    <p:extLst>
      <p:ext uri="{BB962C8B-B14F-4D97-AF65-F5344CB8AC3E}">
        <p14:creationId xmlns:p14="http://schemas.microsoft.com/office/powerpoint/2010/main" val="1787158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9B77-2272-5B78-B5CC-5EEBB898A16B}"/>
              </a:ext>
            </a:extLst>
          </p:cNvPr>
          <p:cNvSpPr>
            <a:spLocks noGrp="1"/>
          </p:cNvSpPr>
          <p:nvPr>
            <p:ph type="title"/>
          </p:nvPr>
        </p:nvSpPr>
        <p:spPr/>
        <p:txBody>
          <a:bodyPr/>
          <a:lstStyle/>
          <a:p>
            <a:r>
              <a:rPr lang="en-IE" dirty="0"/>
              <a:t>Architecture</a:t>
            </a:r>
          </a:p>
        </p:txBody>
      </p:sp>
      <p:pic>
        <p:nvPicPr>
          <p:cNvPr id="6" name="Picture 5">
            <a:extLst>
              <a:ext uri="{FF2B5EF4-FFF2-40B4-BE49-F238E27FC236}">
                <a16:creationId xmlns:a16="http://schemas.microsoft.com/office/drawing/2014/main" id="{51BE128F-6F8D-4FE5-CB5F-E54BF2B4D425}"/>
              </a:ext>
            </a:extLst>
          </p:cNvPr>
          <p:cNvPicPr>
            <a:picLocks noChangeAspect="1"/>
          </p:cNvPicPr>
          <p:nvPr/>
        </p:nvPicPr>
        <p:blipFill>
          <a:blip r:embed="rId2"/>
          <a:stretch>
            <a:fillRect/>
          </a:stretch>
        </p:blipFill>
        <p:spPr>
          <a:xfrm>
            <a:off x="685800" y="1690688"/>
            <a:ext cx="4478921" cy="4699000"/>
          </a:xfrm>
          <a:prstGeom prst="rect">
            <a:avLst/>
          </a:prstGeom>
        </p:spPr>
      </p:pic>
      <p:pic>
        <p:nvPicPr>
          <p:cNvPr id="8" name="Picture 7">
            <a:extLst>
              <a:ext uri="{FF2B5EF4-FFF2-40B4-BE49-F238E27FC236}">
                <a16:creationId xmlns:a16="http://schemas.microsoft.com/office/drawing/2014/main" id="{F24655EC-C4D2-DEEB-F19D-0C6B91E64626}"/>
              </a:ext>
            </a:extLst>
          </p:cNvPr>
          <p:cNvPicPr>
            <a:picLocks noChangeAspect="1"/>
          </p:cNvPicPr>
          <p:nvPr/>
        </p:nvPicPr>
        <p:blipFill>
          <a:blip r:embed="rId3"/>
          <a:stretch>
            <a:fillRect/>
          </a:stretch>
        </p:blipFill>
        <p:spPr>
          <a:xfrm>
            <a:off x="6685885" y="1648452"/>
            <a:ext cx="4478921" cy="4893635"/>
          </a:xfrm>
          <a:prstGeom prst="rect">
            <a:avLst/>
          </a:prstGeom>
        </p:spPr>
      </p:pic>
      <p:pic>
        <p:nvPicPr>
          <p:cNvPr id="10" name="Picture 9">
            <a:extLst>
              <a:ext uri="{FF2B5EF4-FFF2-40B4-BE49-F238E27FC236}">
                <a16:creationId xmlns:a16="http://schemas.microsoft.com/office/drawing/2014/main" id="{12924C71-CD1A-5C50-718A-399D5511AC86}"/>
              </a:ext>
            </a:extLst>
          </p:cNvPr>
          <p:cNvPicPr>
            <a:picLocks noChangeAspect="1"/>
          </p:cNvPicPr>
          <p:nvPr/>
        </p:nvPicPr>
        <p:blipFill>
          <a:blip r:embed="rId4"/>
          <a:stretch>
            <a:fillRect/>
          </a:stretch>
        </p:blipFill>
        <p:spPr>
          <a:xfrm>
            <a:off x="8890000" y="2548"/>
            <a:ext cx="3302000" cy="1515918"/>
          </a:xfrm>
          <a:prstGeom prst="rect">
            <a:avLst/>
          </a:prstGeom>
        </p:spPr>
      </p:pic>
      <p:sp>
        <p:nvSpPr>
          <p:cNvPr id="12" name="TextBox 11">
            <a:extLst>
              <a:ext uri="{FF2B5EF4-FFF2-40B4-BE49-F238E27FC236}">
                <a16:creationId xmlns:a16="http://schemas.microsoft.com/office/drawing/2014/main" id="{D9EAC03E-2394-2E19-E83D-022CE2B78146}"/>
              </a:ext>
            </a:extLst>
          </p:cNvPr>
          <p:cNvSpPr txBox="1"/>
          <p:nvPr/>
        </p:nvSpPr>
        <p:spPr>
          <a:xfrm>
            <a:off x="0" y="6218921"/>
            <a:ext cx="6096000" cy="646331"/>
          </a:xfrm>
          <a:prstGeom prst="rect">
            <a:avLst/>
          </a:prstGeom>
          <a:noFill/>
        </p:spPr>
        <p:txBody>
          <a:bodyPr wrap="square">
            <a:spAutoFit/>
          </a:bodyPr>
          <a:lstStyle/>
          <a:p>
            <a:r>
              <a:rPr lang="en-IE" dirty="0">
                <a:hlinkClick r:id="rId5"/>
              </a:rPr>
              <a:t>https://www.preethikasireddy.com/post/the-architecture-of-a-web-3-0-application</a:t>
            </a:r>
            <a:r>
              <a:rPr lang="en-IE" dirty="0"/>
              <a:t> </a:t>
            </a:r>
          </a:p>
        </p:txBody>
      </p:sp>
    </p:spTree>
    <p:extLst>
      <p:ext uri="{BB962C8B-B14F-4D97-AF65-F5344CB8AC3E}">
        <p14:creationId xmlns:p14="http://schemas.microsoft.com/office/powerpoint/2010/main" val="1100869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FC2CB-6811-7D7B-8D4E-75BFC0DFD08C}"/>
              </a:ext>
            </a:extLst>
          </p:cNvPr>
          <p:cNvSpPr>
            <a:spLocks noGrp="1"/>
          </p:cNvSpPr>
          <p:nvPr>
            <p:ph type="title"/>
          </p:nvPr>
        </p:nvSpPr>
        <p:spPr/>
        <p:txBody>
          <a:bodyPr/>
          <a:lstStyle/>
          <a:p>
            <a:pPr algn="ctr"/>
            <a:r>
              <a:rPr lang="en-IE" dirty="0"/>
              <a:t>More Depth</a:t>
            </a:r>
          </a:p>
        </p:txBody>
      </p:sp>
      <p:pic>
        <p:nvPicPr>
          <p:cNvPr id="8" name="Content Placeholder 7">
            <a:extLst>
              <a:ext uri="{FF2B5EF4-FFF2-40B4-BE49-F238E27FC236}">
                <a16:creationId xmlns:a16="http://schemas.microsoft.com/office/drawing/2014/main" id="{0B0FF3A7-18FE-90B3-9C5A-4327AC6F2489}"/>
              </a:ext>
            </a:extLst>
          </p:cNvPr>
          <p:cNvPicPr>
            <a:picLocks noGrp="1" noChangeAspect="1"/>
          </p:cNvPicPr>
          <p:nvPr>
            <p:ph sz="half" idx="1"/>
          </p:nvPr>
        </p:nvPicPr>
        <p:blipFill>
          <a:blip r:embed="rId2"/>
          <a:stretch>
            <a:fillRect/>
          </a:stretch>
        </p:blipFill>
        <p:spPr>
          <a:xfrm>
            <a:off x="1731750" y="1825625"/>
            <a:ext cx="3394499" cy="4351338"/>
          </a:xfrm>
        </p:spPr>
      </p:pic>
      <p:pic>
        <p:nvPicPr>
          <p:cNvPr id="10" name="Content Placeholder 9">
            <a:extLst>
              <a:ext uri="{FF2B5EF4-FFF2-40B4-BE49-F238E27FC236}">
                <a16:creationId xmlns:a16="http://schemas.microsoft.com/office/drawing/2014/main" id="{92C1072E-1AFD-C204-1E26-6D609E8478EA}"/>
              </a:ext>
            </a:extLst>
          </p:cNvPr>
          <p:cNvPicPr>
            <a:picLocks noGrp="1" noChangeAspect="1"/>
          </p:cNvPicPr>
          <p:nvPr>
            <p:ph sz="half" idx="2"/>
          </p:nvPr>
        </p:nvPicPr>
        <p:blipFill>
          <a:blip r:embed="rId3"/>
          <a:stretch>
            <a:fillRect/>
          </a:stretch>
        </p:blipFill>
        <p:spPr>
          <a:xfrm>
            <a:off x="6858293" y="1825625"/>
            <a:ext cx="3809413" cy="4351338"/>
          </a:xfrm>
        </p:spPr>
      </p:pic>
      <p:sp>
        <p:nvSpPr>
          <p:cNvPr id="12" name="TextBox 11">
            <a:extLst>
              <a:ext uri="{FF2B5EF4-FFF2-40B4-BE49-F238E27FC236}">
                <a16:creationId xmlns:a16="http://schemas.microsoft.com/office/drawing/2014/main" id="{5E2653AB-B9EE-2049-700F-B51F7D0D2148}"/>
              </a:ext>
            </a:extLst>
          </p:cNvPr>
          <p:cNvSpPr txBox="1"/>
          <p:nvPr/>
        </p:nvSpPr>
        <p:spPr>
          <a:xfrm>
            <a:off x="0" y="6211669"/>
            <a:ext cx="6096000" cy="646331"/>
          </a:xfrm>
          <a:prstGeom prst="rect">
            <a:avLst/>
          </a:prstGeom>
          <a:noFill/>
        </p:spPr>
        <p:txBody>
          <a:bodyPr wrap="square">
            <a:spAutoFit/>
          </a:bodyPr>
          <a:lstStyle/>
          <a:p>
            <a:r>
              <a:rPr lang="en-IE" dirty="0">
                <a:hlinkClick r:id="rId4"/>
              </a:rPr>
              <a:t>https://www.preethikasireddy.com/post/the-architecture-of-a-web-3-0-application</a:t>
            </a:r>
            <a:r>
              <a:rPr lang="en-IE" dirty="0"/>
              <a:t> </a:t>
            </a:r>
          </a:p>
        </p:txBody>
      </p:sp>
    </p:spTree>
    <p:extLst>
      <p:ext uri="{BB962C8B-B14F-4D97-AF65-F5344CB8AC3E}">
        <p14:creationId xmlns:p14="http://schemas.microsoft.com/office/powerpoint/2010/main" val="1867470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813067-246F-E793-82E4-75A96D9FF1A7}"/>
              </a:ext>
            </a:extLst>
          </p:cNvPr>
          <p:cNvSpPr>
            <a:spLocks noGrp="1"/>
          </p:cNvSpPr>
          <p:nvPr>
            <p:ph type="title"/>
          </p:nvPr>
        </p:nvSpPr>
        <p:spPr/>
        <p:txBody>
          <a:bodyPr/>
          <a:lstStyle/>
          <a:p>
            <a:r>
              <a:rPr lang="en-IE" dirty="0"/>
              <a:t>Own it</a:t>
            </a:r>
          </a:p>
        </p:txBody>
      </p:sp>
      <p:pic>
        <p:nvPicPr>
          <p:cNvPr id="3" name="Picture 2">
            <a:extLst>
              <a:ext uri="{FF2B5EF4-FFF2-40B4-BE49-F238E27FC236}">
                <a16:creationId xmlns:a16="http://schemas.microsoft.com/office/drawing/2014/main" id="{F43541C5-8D1F-0FBC-F33B-006390F20F9B}"/>
              </a:ext>
            </a:extLst>
          </p:cNvPr>
          <p:cNvPicPr>
            <a:picLocks noChangeAspect="1"/>
          </p:cNvPicPr>
          <p:nvPr/>
        </p:nvPicPr>
        <p:blipFill>
          <a:blip r:embed="rId2"/>
          <a:stretch>
            <a:fillRect/>
          </a:stretch>
        </p:blipFill>
        <p:spPr>
          <a:xfrm>
            <a:off x="534686" y="2489200"/>
            <a:ext cx="5637514" cy="2298700"/>
          </a:xfrm>
          <a:prstGeom prst="rect">
            <a:avLst/>
          </a:prstGeom>
        </p:spPr>
      </p:pic>
      <p:pic>
        <p:nvPicPr>
          <p:cNvPr id="8" name="Picture 7">
            <a:extLst>
              <a:ext uri="{FF2B5EF4-FFF2-40B4-BE49-F238E27FC236}">
                <a16:creationId xmlns:a16="http://schemas.microsoft.com/office/drawing/2014/main" id="{7825DDF6-9C25-E1AC-0D23-0C608F30261E}"/>
              </a:ext>
            </a:extLst>
          </p:cNvPr>
          <p:cNvPicPr>
            <a:picLocks noChangeAspect="1"/>
          </p:cNvPicPr>
          <p:nvPr/>
        </p:nvPicPr>
        <p:blipFill>
          <a:blip r:embed="rId3"/>
          <a:stretch>
            <a:fillRect/>
          </a:stretch>
        </p:blipFill>
        <p:spPr>
          <a:xfrm>
            <a:off x="6374626" y="2489200"/>
            <a:ext cx="5131574" cy="2298700"/>
          </a:xfrm>
          <a:prstGeom prst="rect">
            <a:avLst/>
          </a:prstGeom>
        </p:spPr>
      </p:pic>
      <p:pic>
        <p:nvPicPr>
          <p:cNvPr id="10" name="Picture 9">
            <a:extLst>
              <a:ext uri="{FF2B5EF4-FFF2-40B4-BE49-F238E27FC236}">
                <a16:creationId xmlns:a16="http://schemas.microsoft.com/office/drawing/2014/main" id="{1BD5B594-4AA9-BCDE-F156-AF2E0683E692}"/>
              </a:ext>
            </a:extLst>
          </p:cNvPr>
          <p:cNvPicPr>
            <a:picLocks noChangeAspect="1"/>
          </p:cNvPicPr>
          <p:nvPr/>
        </p:nvPicPr>
        <p:blipFill>
          <a:blip r:embed="rId4"/>
          <a:stretch>
            <a:fillRect/>
          </a:stretch>
        </p:blipFill>
        <p:spPr>
          <a:xfrm>
            <a:off x="3377794" y="4419157"/>
            <a:ext cx="5588812" cy="2556318"/>
          </a:xfrm>
          <a:prstGeom prst="rect">
            <a:avLst/>
          </a:prstGeom>
        </p:spPr>
      </p:pic>
    </p:spTree>
    <p:extLst>
      <p:ext uri="{BB962C8B-B14F-4D97-AF65-F5344CB8AC3E}">
        <p14:creationId xmlns:p14="http://schemas.microsoft.com/office/powerpoint/2010/main" val="2318502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55F2D-FE20-6B5B-09C1-2C446A5919DA}"/>
              </a:ext>
            </a:extLst>
          </p:cNvPr>
          <p:cNvSpPr>
            <a:spLocks noGrp="1"/>
          </p:cNvSpPr>
          <p:nvPr>
            <p:ph type="title"/>
          </p:nvPr>
        </p:nvSpPr>
        <p:spPr/>
        <p:txBody>
          <a:bodyPr/>
          <a:lstStyle/>
          <a:p>
            <a:r>
              <a:rPr lang="en-IE" dirty="0"/>
              <a:t>Backend &amp; Storage</a:t>
            </a:r>
          </a:p>
        </p:txBody>
      </p:sp>
      <p:sp>
        <p:nvSpPr>
          <p:cNvPr id="3" name="Content Placeholder 2">
            <a:extLst>
              <a:ext uri="{FF2B5EF4-FFF2-40B4-BE49-F238E27FC236}">
                <a16:creationId xmlns:a16="http://schemas.microsoft.com/office/drawing/2014/main" id="{C06496B1-EDA1-380A-054D-8D0398F5D930}"/>
              </a:ext>
            </a:extLst>
          </p:cNvPr>
          <p:cNvSpPr>
            <a:spLocks noGrp="1"/>
          </p:cNvSpPr>
          <p:nvPr>
            <p:ph sz="half" idx="1"/>
          </p:nvPr>
        </p:nvSpPr>
        <p:spPr/>
        <p:txBody>
          <a:bodyPr/>
          <a:lstStyle/>
          <a:p>
            <a:r>
              <a:rPr lang="en-IE" dirty="0"/>
              <a:t>Truffle &amp; Hardhat 	</a:t>
            </a:r>
          </a:p>
          <a:p>
            <a:r>
              <a:rPr lang="en-IE" dirty="0"/>
              <a:t>Testing Networks</a:t>
            </a:r>
          </a:p>
          <a:p>
            <a:r>
              <a:rPr lang="en-IE" dirty="0"/>
              <a:t>Accounts / Credits / Gas</a:t>
            </a:r>
          </a:p>
          <a:p>
            <a:r>
              <a:rPr lang="en-IE" dirty="0"/>
              <a:t>Development Frameworks </a:t>
            </a:r>
          </a:p>
          <a:p>
            <a:r>
              <a:rPr lang="en-IE" dirty="0">
                <a:hlinkClick r:id="rId2"/>
              </a:rPr>
              <a:t>https://hardhat.org/</a:t>
            </a:r>
            <a:endParaRPr lang="en-IE" dirty="0"/>
          </a:p>
          <a:p>
            <a:r>
              <a:rPr lang="en-IE" dirty="0">
                <a:hlinkClick r:id="rId3"/>
              </a:rPr>
              <a:t>https://trufflesuite.com/</a:t>
            </a:r>
            <a:r>
              <a:rPr lang="en-IE" dirty="0"/>
              <a:t>  	</a:t>
            </a:r>
          </a:p>
        </p:txBody>
      </p:sp>
      <p:sp>
        <p:nvSpPr>
          <p:cNvPr id="4" name="Content Placeholder 3">
            <a:extLst>
              <a:ext uri="{FF2B5EF4-FFF2-40B4-BE49-F238E27FC236}">
                <a16:creationId xmlns:a16="http://schemas.microsoft.com/office/drawing/2014/main" id="{E6369530-9678-142E-4181-7792688D11A3}"/>
              </a:ext>
            </a:extLst>
          </p:cNvPr>
          <p:cNvSpPr>
            <a:spLocks noGrp="1"/>
          </p:cNvSpPr>
          <p:nvPr>
            <p:ph sz="half" idx="2"/>
          </p:nvPr>
        </p:nvSpPr>
        <p:spPr/>
        <p:txBody>
          <a:bodyPr/>
          <a:lstStyle/>
          <a:p>
            <a:r>
              <a:rPr lang="en-IE" dirty="0"/>
              <a:t>IPFS  </a:t>
            </a:r>
            <a:r>
              <a:rPr lang="en-IE" dirty="0">
                <a:hlinkClick r:id="rId4"/>
              </a:rPr>
              <a:t>https://ipfs.io/</a:t>
            </a:r>
            <a:r>
              <a:rPr lang="en-IE" dirty="0"/>
              <a:t> </a:t>
            </a:r>
          </a:p>
          <a:p>
            <a:r>
              <a:rPr lang="en-IE" dirty="0"/>
              <a:t>The Peer of Peers</a:t>
            </a:r>
          </a:p>
          <a:p>
            <a:r>
              <a:rPr lang="en-IE" dirty="0"/>
              <a:t>Think Torrent and Napster</a:t>
            </a:r>
          </a:p>
        </p:txBody>
      </p:sp>
      <p:pic>
        <p:nvPicPr>
          <p:cNvPr id="6" name="Picture 5">
            <a:extLst>
              <a:ext uri="{FF2B5EF4-FFF2-40B4-BE49-F238E27FC236}">
                <a16:creationId xmlns:a16="http://schemas.microsoft.com/office/drawing/2014/main" id="{86C8C307-1DC6-C02F-B8AB-12D9193D3AAF}"/>
              </a:ext>
            </a:extLst>
          </p:cNvPr>
          <p:cNvPicPr>
            <a:picLocks noChangeAspect="1"/>
          </p:cNvPicPr>
          <p:nvPr/>
        </p:nvPicPr>
        <p:blipFill>
          <a:blip r:embed="rId5"/>
          <a:stretch>
            <a:fillRect/>
          </a:stretch>
        </p:blipFill>
        <p:spPr>
          <a:xfrm>
            <a:off x="6700988" y="3284143"/>
            <a:ext cx="4848704" cy="3459558"/>
          </a:xfrm>
          <a:prstGeom prst="rect">
            <a:avLst/>
          </a:prstGeom>
        </p:spPr>
      </p:pic>
      <p:pic>
        <p:nvPicPr>
          <p:cNvPr id="8" name="Picture 7">
            <a:extLst>
              <a:ext uri="{FF2B5EF4-FFF2-40B4-BE49-F238E27FC236}">
                <a16:creationId xmlns:a16="http://schemas.microsoft.com/office/drawing/2014/main" id="{2BE63F5E-997C-3192-C257-66250952A928}"/>
              </a:ext>
            </a:extLst>
          </p:cNvPr>
          <p:cNvPicPr>
            <a:picLocks noChangeAspect="1"/>
          </p:cNvPicPr>
          <p:nvPr/>
        </p:nvPicPr>
        <p:blipFill>
          <a:blip r:embed="rId6"/>
          <a:stretch>
            <a:fillRect/>
          </a:stretch>
        </p:blipFill>
        <p:spPr>
          <a:xfrm>
            <a:off x="4362450" y="3863975"/>
            <a:ext cx="1809750" cy="590550"/>
          </a:xfrm>
          <a:prstGeom prst="rect">
            <a:avLst/>
          </a:prstGeom>
        </p:spPr>
      </p:pic>
      <p:pic>
        <p:nvPicPr>
          <p:cNvPr id="10" name="Picture 9">
            <a:extLst>
              <a:ext uri="{FF2B5EF4-FFF2-40B4-BE49-F238E27FC236}">
                <a16:creationId xmlns:a16="http://schemas.microsoft.com/office/drawing/2014/main" id="{AAD68BDA-3C49-2885-A9CB-050D81496EB8}"/>
              </a:ext>
            </a:extLst>
          </p:cNvPr>
          <p:cNvPicPr>
            <a:picLocks noChangeAspect="1"/>
          </p:cNvPicPr>
          <p:nvPr/>
        </p:nvPicPr>
        <p:blipFill>
          <a:blip r:embed="rId7"/>
          <a:stretch>
            <a:fillRect/>
          </a:stretch>
        </p:blipFill>
        <p:spPr>
          <a:xfrm>
            <a:off x="4904896" y="4454525"/>
            <a:ext cx="1447800" cy="381000"/>
          </a:xfrm>
          <a:prstGeom prst="rect">
            <a:avLst/>
          </a:prstGeom>
        </p:spPr>
      </p:pic>
      <p:pic>
        <p:nvPicPr>
          <p:cNvPr id="12" name="Picture 11">
            <a:extLst>
              <a:ext uri="{FF2B5EF4-FFF2-40B4-BE49-F238E27FC236}">
                <a16:creationId xmlns:a16="http://schemas.microsoft.com/office/drawing/2014/main" id="{D91A46D4-CF51-CDDF-195C-32CFB5ACC22F}"/>
              </a:ext>
            </a:extLst>
          </p:cNvPr>
          <p:cNvPicPr>
            <a:picLocks noChangeAspect="1"/>
          </p:cNvPicPr>
          <p:nvPr/>
        </p:nvPicPr>
        <p:blipFill>
          <a:blip r:embed="rId8"/>
          <a:stretch>
            <a:fillRect/>
          </a:stretch>
        </p:blipFill>
        <p:spPr>
          <a:xfrm>
            <a:off x="6469692" y="722144"/>
            <a:ext cx="5080000" cy="748445"/>
          </a:xfrm>
          <a:prstGeom prst="rect">
            <a:avLst/>
          </a:prstGeom>
        </p:spPr>
      </p:pic>
    </p:spTree>
    <p:extLst>
      <p:ext uri="{BB962C8B-B14F-4D97-AF65-F5344CB8AC3E}">
        <p14:creationId xmlns:p14="http://schemas.microsoft.com/office/powerpoint/2010/main" val="3491932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8A135-CAA8-1355-A02F-6DDC086CE550}"/>
              </a:ext>
            </a:extLst>
          </p:cNvPr>
          <p:cNvSpPr>
            <a:spLocks noGrp="1"/>
          </p:cNvSpPr>
          <p:nvPr>
            <p:ph type="title"/>
          </p:nvPr>
        </p:nvSpPr>
        <p:spPr/>
        <p:txBody>
          <a:bodyPr/>
          <a:lstStyle/>
          <a:p>
            <a:r>
              <a:rPr lang="en-IE" dirty="0"/>
              <a:t>Open Zeppelin </a:t>
            </a:r>
          </a:p>
        </p:txBody>
      </p:sp>
      <p:sp>
        <p:nvSpPr>
          <p:cNvPr id="3" name="Content Placeholder 2">
            <a:extLst>
              <a:ext uri="{FF2B5EF4-FFF2-40B4-BE49-F238E27FC236}">
                <a16:creationId xmlns:a16="http://schemas.microsoft.com/office/drawing/2014/main" id="{950982D7-F5F7-2FEE-A5F3-4681A9FC40EB}"/>
              </a:ext>
            </a:extLst>
          </p:cNvPr>
          <p:cNvSpPr>
            <a:spLocks noGrp="1"/>
          </p:cNvSpPr>
          <p:nvPr>
            <p:ph sz="half" idx="1"/>
          </p:nvPr>
        </p:nvSpPr>
        <p:spPr/>
        <p:txBody>
          <a:bodyPr>
            <a:normAutofit lnSpcReduction="10000"/>
          </a:bodyPr>
          <a:lstStyle/>
          <a:p>
            <a:r>
              <a:rPr lang="en-IE" dirty="0"/>
              <a:t>Git Hub Repo : </a:t>
            </a:r>
          </a:p>
          <a:p>
            <a:r>
              <a:rPr lang="en-IE" dirty="0">
                <a:hlinkClick r:id="rId2"/>
              </a:rPr>
              <a:t>https://github.com/OpenZeppelin/openzeppelin-contracts</a:t>
            </a:r>
            <a:r>
              <a:rPr lang="en-IE" dirty="0"/>
              <a:t> </a:t>
            </a:r>
          </a:p>
          <a:p>
            <a:endParaRPr lang="en-IE" dirty="0"/>
          </a:p>
          <a:p>
            <a:r>
              <a:rPr lang="en-IE" dirty="0"/>
              <a:t>Documentation: </a:t>
            </a:r>
          </a:p>
          <a:p>
            <a:r>
              <a:rPr lang="en-IE" dirty="0">
                <a:hlinkClick r:id="rId3"/>
              </a:rPr>
              <a:t>https://docs.openzeppelin.com/</a:t>
            </a:r>
            <a:endParaRPr lang="en-IE" dirty="0"/>
          </a:p>
          <a:p>
            <a:endParaRPr lang="en-IE" dirty="0"/>
          </a:p>
          <a:p>
            <a:r>
              <a:rPr lang="en-IE" dirty="0"/>
              <a:t>Site: </a:t>
            </a:r>
          </a:p>
          <a:p>
            <a:r>
              <a:rPr lang="en-IE" dirty="0">
                <a:hlinkClick r:id="rId4"/>
              </a:rPr>
              <a:t>https://www.openzeppelin.com/</a:t>
            </a:r>
            <a:r>
              <a:rPr lang="en-IE" dirty="0"/>
              <a:t>  </a:t>
            </a:r>
          </a:p>
        </p:txBody>
      </p:sp>
      <p:pic>
        <p:nvPicPr>
          <p:cNvPr id="12" name="Content Placeholder 11">
            <a:extLst>
              <a:ext uri="{FF2B5EF4-FFF2-40B4-BE49-F238E27FC236}">
                <a16:creationId xmlns:a16="http://schemas.microsoft.com/office/drawing/2014/main" id="{FC23C8E9-CFCD-0548-CB56-20B39A87634D}"/>
              </a:ext>
            </a:extLst>
          </p:cNvPr>
          <p:cNvPicPr>
            <a:picLocks noGrp="1" noChangeAspect="1"/>
          </p:cNvPicPr>
          <p:nvPr>
            <p:ph sz="half" idx="2"/>
          </p:nvPr>
        </p:nvPicPr>
        <p:blipFill>
          <a:blip r:embed="rId5"/>
          <a:stretch>
            <a:fillRect/>
          </a:stretch>
        </p:blipFill>
        <p:spPr>
          <a:xfrm>
            <a:off x="6172200" y="3234417"/>
            <a:ext cx="5181600" cy="1533753"/>
          </a:xfrm>
        </p:spPr>
      </p:pic>
      <p:pic>
        <p:nvPicPr>
          <p:cNvPr id="6" name="Picture 5">
            <a:extLst>
              <a:ext uri="{FF2B5EF4-FFF2-40B4-BE49-F238E27FC236}">
                <a16:creationId xmlns:a16="http://schemas.microsoft.com/office/drawing/2014/main" id="{D60E41F2-B592-39DA-1AA6-51B31900584A}"/>
              </a:ext>
            </a:extLst>
          </p:cNvPr>
          <p:cNvPicPr>
            <a:picLocks noChangeAspect="1"/>
          </p:cNvPicPr>
          <p:nvPr/>
        </p:nvPicPr>
        <p:blipFill>
          <a:blip r:embed="rId6"/>
          <a:stretch>
            <a:fillRect/>
          </a:stretch>
        </p:blipFill>
        <p:spPr>
          <a:xfrm>
            <a:off x="4600575" y="680243"/>
            <a:ext cx="3524250" cy="809625"/>
          </a:xfrm>
          <a:prstGeom prst="rect">
            <a:avLst/>
          </a:prstGeom>
        </p:spPr>
      </p:pic>
      <p:pic>
        <p:nvPicPr>
          <p:cNvPr id="8" name="Picture 7">
            <a:extLst>
              <a:ext uri="{FF2B5EF4-FFF2-40B4-BE49-F238E27FC236}">
                <a16:creationId xmlns:a16="http://schemas.microsoft.com/office/drawing/2014/main" id="{E5606B78-D7E2-4EF3-1094-6E7C9552ED2C}"/>
              </a:ext>
            </a:extLst>
          </p:cNvPr>
          <p:cNvPicPr>
            <a:picLocks noChangeAspect="1"/>
          </p:cNvPicPr>
          <p:nvPr/>
        </p:nvPicPr>
        <p:blipFill>
          <a:blip r:embed="rId7"/>
          <a:stretch>
            <a:fillRect/>
          </a:stretch>
        </p:blipFill>
        <p:spPr>
          <a:xfrm>
            <a:off x="6796087" y="1476374"/>
            <a:ext cx="4250921" cy="1751013"/>
          </a:xfrm>
          <a:prstGeom prst="rect">
            <a:avLst/>
          </a:prstGeom>
        </p:spPr>
      </p:pic>
      <p:pic>
        <p:nvPicPr>
          <p:cNvPr id="10" name="Picture 9">
            <a:extLst>
              <a:ext uri="{FF2B5EF4-FFF2-40B4-BE49-F238E27FC236}">
                <a16:creationId xmlns:a16="http://schemas.microsoft.com/office/drawing/2014/main" id="{686BCF9E-81C2-B38C-B6A6-02FEDFBE14AC}"/>
              </a:ext>
            </a:extLst>
          </p:cNvPr>
          <p:cNvPicPr>
            <a:picLocks noChangeAspect="1"/>
          </p:cNvPicPr>
          <p:nvPr/>
        </p:nvPicPr>
        <p:blipFill>
          <a:blip r:embed="rId8"/>
          <a:stretch>
            <a:fillRect/>
          </a:stretch>
        </p:blipFill>
        <p:spPr>
          <a:xfrm>
            <a:off x="6654371" y="4822033"/>
            <a:ext cx="4534351" cy="1119186"/>
          </a:xfrm>
          <a:prstGeom prst="rect">
            <a:avLst/>
          </a:prstGeom>
        </p:spPr>
      </p:pic>
    </p:spTree>
    <p:extLst>
      <p:ext uri="{BB962C8B-B14F-4D97-AF65-F5344CB8AC3E}">
        <p14:creationId xmlns:p14="http://schemas.microsoft.com/office/powerpoint/2010/main" val="1124528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676B173-8EBD-40A7-70C8-5A4AEEDF1142}"/>
              </a:ext>
            </a:extLst>
          </p:cNvPr>
          <p:cNvSpPr>
            <a:spLocks noGrp="1"/>
          </p:cNvSpPr>
          <p:nvPr>
            <p:ph sz="half" idx="2"/>
          </p:nvPr>
        </p:nvSpPr>
        <p:spPr/>
        <p:txBody>
          <a:bodyPr/>
          <a:lstStyle/>
          <a:p>
            <a:r>
              <a:rPr lang="en-IE" dirty="0">
                <a:hlinkClick r:id="rId2"/>
              </a:rPr>
              <a:t>Get Started: </a:t>
            </a:r>
          </a:p>
          <a:p>
            <a:r>
              <a:rPr lang="en-IE" dirty="0">
                <a:hlinkClick r:id="rId2"/>
              </a:rPr>
              <a:t>https://docs.openzeppelin.com/contracts/4.x/</a:t>
            </a:r>
            <a:r>
              <a:rPr lang="en-IE" dirty="0"/>
              <a:t> </a:t>
            </a:r>
          </a:p>
          <a:p>
            <a:endParaRPr lang="en-IE" dirty="0"/>
          </a:p>
          <a:p>
            <a:r>
              <a:rPr lang="en-IE" dirty="0"/>
              <a:t>Try This : </a:t>
            </a:r>
          </a:p>
          <a:p>
            <a:r>
              <a:rPr lang="en-IE" dirty="0">
                <a:hlinkClick r:id="rId3"/>
              </a:rPr>
              <a:t>https://docs.openzeppelin.com/learn/developing-smart-contracts</a:t>
            </a:r>
            <a:r>
              <a:rPr lang="en-IE" dirty="0"/>
              <a:t> </a:t>
            </a:r>
          </a:p>
        </p:txBody>
      </p:sp>
      <p:sp>
        <p:nvSpPr>
          <p:cNvPr id="5" name="Title 1">
            <a:extLst>
              <a:ext uri="{FF2B5EF4-FFF2-40B4-BE49-F238E27FC236}">
                <a16:creationId xmlns:a16="http://schemas.microsoft.com/office/drawing/2014/main" id="{D128B6D9-D2A9-C961-17F7-82FBC7F3614E}"/>
              </a:ext>
            </a:extLst>
          </p:cNvPr>
          <p:cNvSpPr>
            <a:spLocks noGrp="1"/>
          </p:cNvSpPr>
          <p:nvPr>
            <p:ph type="title"/>
          </p:nvPr>
        </p:nvSpPr>
        <p:spPr>
          <a:xfrm>
            <a:off x="838200" y="365125"/>
            <a:ext cx="10515600" cy="1325563"/>
          </a:xfrm>
        </p:spPr>
        <p:txBody>
          <a:bodyPr/>
          <a:lstStyle/>
          <a:p>
            <a:r>
              <a:rPr lang="en-IE" dirty="0"/>
              <a:t>Open Zeppelin </a:t>
            </a:r>
          </a:p>
        </p:txBody>
      </p:sp>
      <p:pic>
        <p:nvPicPr>
          <p:cNvPr id="6" name="Picture 5">
            <a:extLst>
              <a:ext uri="{FF2B5EF4-FFF2-40B4-BE49-F238E27FC236}">
                <a16:creationId xmlns:a16="http://schemas.microsoft.com/office/drawing/2014/main" id="{B9D0DF19-5685-D2D0-B006-00FDFFF3A649}"/>
              </a:ext>
            </a:extLst>
          </p:cNvPr>
          <p:cNvPicPr>
            <a:picLocks noChangeAspect="1"/>
          </p:cNvPicPr>
          <p:nvPr/>
        </p:nvPicPr>
        <p:blipFill>
          <a:blip r:embed="rId4"/>
          <a:stretch>
            <a:fillRect/>
          </a:stretch>
        </p:blipFill>
        <p:spPr>
          <a:xfrm>
            <a:off x="4600575" y="680243"/>
            <a:ext cx="3524250" cy="809625"/>
          </a:xfrm>
          <a:prstGeom prst="rect">
            <a:avLst/>
          </a:prstGeom>
        </p:spPr>
      </p:pic>
      <p:pic>
        <p:nvPicPr>
          <p:cNvPr id="8" name="Picture 7">
            <a:extLst>
              <a:ext uri="{FF2B5EF4-FFF2-40B4-BE49-F238E27FC236}">
                <a16:creationId xmlns:a16="http://schemas.microsoft.com/office/drawing/2014/main" id="{B840F2C4-6ED6-4A05-6540-BCA65E1FCED5}"/>
              </a:ext>
            </a:extLst>
          </p:cNvPr>
          <p:cNvPicPr>
            <a:picLocks noChangeAspect="1"/>
          </p:cNvPicPr>
          <p:nvPr/>
        </p:nvPicPr>
        <p:blipFill>
          <a:blip r:embed="rId5"/>
          <a:stretch>
            <a:fillRect/>
          </a:stretch>
        </p:blipFill>
        <p:spPr>
          <a:xfrm>
            <a:off x="744380" y="1747044"/>
            <a:ext cx="5197161" cy="4508500"/>
          </a:xfrm>
          <a:prstGeom prst="rect">
            <a:avLst/>
          </a:prstGeom>
        </p:spPr>
      </p:pic>
    </p:spTree>
    <p:extLst>
      <p:ext uri="{BB962C8B-B14F-4D97-AF65-F5344CB8AC3E}">
        <p14:creationId xmlns:p14="http://schemas.microsoft.com/office/powerpoint/2010/main" val="13218450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4BF09-4840-DBC3-4CE2-682F6A6F1835}"/>
              </a:ext>
            </a:extLst>
          </p:cNvPr>
          <p:cNvSpPr>
            <a:spLocks noGrp="1"/>
          </p:cNvSpPr>
          <p:nvPr>
            <p:ph type="title"/>
          </p:nvPr>
        </p:nvSpPr>
        <p:spPr/>
        <p:txBody>
          <a:bodyPr/>
          <a:lstStyle/>
          <a:p>
            <a:r>
              <a:rPr lang="en-IE" dirty="0"/>
              <a:t>Investigation </a:t>
            </a:r>
          </a:p>
        </p:txBody>
      </p:sp>
      <p:pic>
        <p:nvPicPr>
          <p:cNvPr id="6" name="Content Placeholder 5">
            <a:extLst>
              <a:ext uri="{FF2B5EF4-FFF2-40B4-BE49-F238E27FC236}">
                <a16:creationId xmlns:a16="http://schemas.microsoft.com/office/drawing/2014/main" id="{F989B248-C2C7-00E8-C65D-08A3A876795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11199" y="2240686"/>
            <a:ext cx="4534334" cy="3423514"/>
          </a:xfrm>
        </p:spPr>
      </p:pic>
      <p:sp>
        <p:nvSpPr>
          <p:cNvPr id="4" name="Content Placeholder 3">
            <a:extLst>
              <a:ext uri="{FF2B5EF4-FFF2-40B4-BE49-F238E27FC236}">
                <a16:creationId xmlns:a16="http://schemas.microsoft.com/office/drawing/2014/main" id="{396B21C7-F035-C31C-E2AF-8C0F33EE69D3}"/>
              </a:ext>
            </a:extLst>
          </p:cNvPr>
          <p:cNvSpPr>
            <a:spLocks noGrp="1"/>
          </p:cNvSpPr>
          <p:nvPr>
            <p:ph sz="half" idx="2"/>
          </p:nvPr>
        </p:nvSpPr>
        <p:spPr/>
        <p:txBody>
          <a:bodyPr/>
          <a:lstStyle/>
          <a:p>
            <a:r>
              <a:rPr lang="en-IE" dirty="0">
                <a:hlinkClick r:id="rId3"/>
              </a:rPr>
              <a:t>https://www.youtube.com/c/HashLipsNFT</a:t>
            </a:r>
            <a:r>
              <a:rPr lang="en-IE" dirty="0"/>
              <a:t> - </a:t>
            </a:r>
            <a:r>
              <a:rPr lang="en-IE" dirty="0" err="1"/>
              <a:t>HashLips</a:t>
            </a:r>
            <a:r>
              <a:rPr lang="en-IE" dirty="0"/>
              <a:t> NFT </a:t>
            </a:r>
          </a:p>
          <a:p>
            <a:endParaRPr lang="en-IE" dirty="0"/>
          </a:p>
          <a:p>
            <a:endParaRPr lang="en-IE" dirty="0"/>
          </a:p>
          <a:p>
            <a:r>
              <a:rPr lang="en-IE" dirty="0">
                <a:hlinkClick r:id="rId4"/>
              </a:rPr>
              <a:t>https://www.youtube.com/c/naderdabit</a:t>
            </a:r>
            <a:r>
              <a:rPr lang="en-IE" dirty="0"/>
              <a:t> - Nader </a:t>
            </a:r>
            <a:r>
              <a:rPr lang="en-IE" dirty="0" err="1"/>
              <a:t>Dabit</a:t>
            </a:r>
            <a:endParaRPr lang="en-IE" dirty="0"/>
          </a:p>
        </p:txBody>
      </p:sp>
    </p:spTree>
    <p:extLst>
      <p:ext uri="{BB962C8B-B14F-4D97-AF65-F5344CB8AC3E}">
        <p14:creationId xmlns:p14="http://schemas.microsoft.com/office/powerpoint/2010/main" val="721269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FAEF1-50F3-B308-E88E-DAAE6E8279F5}"/>
              </a:ext>
            </a:extLst>
          </p:cNvPr>
          <p:cNvSpPr>
            <a:spLocks noGrp="1"/>
          </p:cNvSpPr>
          <p:nvPr>
            <p:ph type="title"/>
          </p:nvPr>
        </p:nvSpPr>
        <p:spPr/>
        <p:txBody>
          <a:bodyPr/>
          <a:lstStyle/>
          <a:p>
            <a:r>
              <a:rPr lang="en-IE" dirty="0"/>
              <a:t>Further </a:t>
            </a:r>
          </a:p>
        </p:txBody>
      </p:sp>
      <p:sp>
        <p:nvSpPr>
          <p:cNvPr id="3" name="Content Placeholder 2">
            <a:extLst>
              <a:ext uri="{FF2B5EF4-FFF2-40B4-BE49-F238E27FC236}">
                <a16:creationId xmlns:a16="http://schemas.microsoft.com/office/drawing/2014/main" id="{D1AE4AA7-7E5F-B824-2615-2171D017F11B}"/>
              </a:ext>
            </a:extLst>
          </p:cNvPr>
          <p:cNvSpPr>
            <a:spLocks noGrp="1"/>
          </p:cNvSpPr>
          <p:nvPr>
            <p:ph sz="half" idx="1"/>
          </p:nvPr>
        </p:nvSpPr>
        <p:spPr/>
        <p:txBody>
          <a:bodyPr>
            <a:normAutofit fontScale="92500" lnSpcReduction="20000"/>
          </a:bodyPr>
          <a:lstStyle/>
          <a:p>
            <a:r>
              <a:rPr lang="en-IE" dirty="0">
                <a:hlinkClick r:id="rId2"/>
              </a:rPr>
              <a:t>https://www.channelnonfiction.com/web-3-0-semantic-technologies/</a:t>
            </a:r>
            <a:r>
              <a:rPr lang="en-IE" dirty="0"/>
              <a:t> </a:t>
            </a:r>
          </a:p>
          <a:p>
            <a:r>
              <a:rPr lang="en-IE" dirty="0"/>
              <a:t>Web 3.0: Semantic Technologies</a:t>
            </a:r>
          </a:p>
          <a:p>
            <a:endParaRPr lang="en-IE" dirty="0"/>
          </a:p>
          <a:p>
            <a:endParaRPr lang="en-IE" dirty="0"/>
          </a:p>
          <a:p>
            <a:endParaRPr lang="en-IE" dirty="0"/>
          </a:p>
          <a:p>
            <a:r>
              <a:rPr lang="en-IE" dirty="0">
                <a:hlinkClick r:id="rId3"/>
              </a:rPr>
              <a:t>https://www.psl.com/feed-posts/web3-engineer-take</a:t>
            </a:r>
            <a:r>
              <a:rPr lang="en-IE" dirty="0"/>
              <a:t> </a:t>
            </a:r>
          </a:p>
          <a:p>
            <a:r>
              <a:rPr lang="en-IE" dirty="0"/>
              <a:t>An Engineer's Hype-Free Observations on Web3 (and its Possibilities)</a:t>
            </a:r>
          </a:p>
        </p:txBody>
      </p:sp>
      <p:sp>
        <p:nvSpPr>
          <p:cNvPr id="4" name="Content Placeholder 3">
            <a:extLst>
              <a:ext uri="{FF2B5EF4-FFF2-40B4-BE49-F238E27FC236}">
                <a16:creationId xmlns:a16="http://schemas.microsoft.com/office/drawing/2014/main" id="{D1ECBFA4-96F0-0E43-9BF7-7EB4E1C38068}"/>
              </a:ext>
            </a:extLst>
          </p:cNvPr>
          <p:cNvSpPr>
            <a:spLocks noGrp="1"/>
          </p:cNvSpPr>
          <p:nvPr>
            <p:ph sz="half" idx="2"/>
          </p:nvPr>
        </p:nvSpPr>
        <p:spPr/>
        <p:txBody>
          <a:bodyPr>
            <a:normAutofit fontScale="92500" lnSpcReduction="20000"/>
          </a:bodyPr>
          <a:lstStyle/>
          <a:p>
            <a:r>
              <a:rPr lang="en-IE" dirty="0"/>
              <a:t>Sir Tim Berners-Lee, inventor of the World Wide Web, discusses the web’s future, which involves semantic searches more focused on links between things or allowing a way for machines to create more consequential meaning from all the words, phrases and images available online today. Google recently updated its search engine, project “Hummingbird,” to function more semantically. Google’s search today is more about things and less about strings (of words).</a:t>
            </a:r>
          </a:p>
        </p:txBody>
      </p:sp>
    </p:spTree>
    <p:extLst>
      <p:ext uri="{BB962C8B-B14F-4D97-AF65-F5344CB8AC3E}">
        <p14:creationId xmlns:p14="http://schemas.microsoft.com/office/powerpoint/2010/main" val="38934290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813067-246F-E793-82E4-75A96D9FF1A7}"/>
              </a:ext>
            </a:extLst>
          </p:cNvPr>
          <p:cNvSpPr>
            <a:spLocks noGrp="1"/>
          </p:cNvSpPr>
          <p:nvPr>
            <p:ph type="title"/>
          </p:nvPr>
        </p:nvSpPr>
        <p:spPr/>
        <p:txBody>
          <a:bodyPr/>
          <a:lstStyle/>
          <a:p>
            <a:r>
              <a:rPr lang="en-IE" dirty="0"/>
              <a:t>Sources 	</a:t>
            </a:r>
          </a:p>
        </p:txBody>
      </p:sp>
      <p:sp>
        <p:nvSpPr>
          <p:cNvPr id="5" name="Content Placeholder 4">
            <a:extLst>
              <a:ext uri="{FF2B5EF4-FFF2-40B4-BE49-F238E27FC236}">
                <a16:creationId xmlns:a16="http://schemas.microsoft.com/office/drawing/2014/main" id="{205ECF63-76F0-2C7E-34ED-003095EBD239}"/>
              </a:ext>
            </a:extLst>
          </p:cNvPr>
          <p:cNvSpPr>
            <a:spLocks noGrp="1"/>
          </p:cNvSpPr>
          <p:nvPr>
            <p:ph sz="half" idx="1"/>
          </p:nvPr>
        </p:nvSpPr>
        <p:spPr/>
        <p:txBody>
          <a:bodyPr>
            <a:normAutofit fontScale="92500" lnSpcReduction="20000"/>
          </a:bodyPr>
          <a:lstStyle/>
          <a:p>
            <a:r>
              <a:rPr lang="en-IE" dirty="0">
                <a:hlinkClick r:id="rId2"/>
              </a:rPr>
              <a:t>https://www.youtube.com/watch?v=wHTcrmhskto</a:t>
            </a:r>
            <a:r>
              <a:rPr lang="en-IE" dirty="0"/>
              <a:t> </a:t>
            </a:r>
          </a:p>
          <a:p>
            <a:r>
              <a:rPr lang="en-IE" dirty="0">
                <a:hlinkClick r:id="rId3"/>
              </a:rPr>
              <a:t>https://www.stephendiehl.com/blog/web3-bullshit.html</a:t>
            </a:r>
            <a:r>
              <a:rPr lang="en-IE" dirty="0"/>
              <a:t> </a:t>
            </a:r>
          </a:p>
          <a:p>
            <a:r>
              <a:rPr lang="en-IE" dirty="0">
                <a:hlinkClick r:id="rId4"/>
              </a:rPr>
              <a:t>https://lasserouhiainen.com/5-main-benefits-of-web3-infographic/</a:t>
            </a:r>
            <a:r>
              <a:rPr lang="en-IE" dirty="0"/>
              <a:t> </a:t>
            </a:r>
          </a:p>
          <a:p>
            <a:r>
              <a:rPr lang="en-IE" dirty="0">
                <a:hlinkClick r:id="rId5"/>
              </a:rPr>
              <a:t>https://www.martechalliance.com/stories/whats-the-difference-between-web-1.0-web-2.0-and-web-3.0</a:t>
            </a:r>
            <a:r>
              <a:rPr lang="en-IE" dirty="0"/>
              <a:t> </a:t>
            </a:r>
          </a:p>
        </p:txBody>
      </p:sp>
      <p:sp>
        <p:nvSpPr>
          <p:cNvPr id="6" name="Content Placeholder 5">
            <a:extLst>
              <a:ext uri="{FF2B5EF4-FFF2-40B4-BE49-F238E27FC236}">
                <a16:creationId xmlns:a16="http://schemas.microsoft.com/office/drawing/2014/main" id="{50155540-56EA-1F60-B779-F38BC67B08B9}"/>
              </a:ext>
            </a:extLst>
          </p:cNvPr>
          <p:cNvSpPr>
            <a:spLocks noGrp="1"/>
          </p:cNvSpPr>
          <p:nvPr>
            <p:ph sz="half" idx="2"/>
          </p:nvPr>
        </p:nvSpPr>
        <p:spPr/>
        <p:txBody>
          <a:bodyPr>
            <a:normAutofit fontScale="92500" lnSpcReduction="20000"/>
          </a:bodyPr>
          <a:lstStyle/>
          <a:p>
            <a:r>
              <a:rPr lang="en-IE" dirty="0">
                <a:hlinkClick r:id="rId6"/>
              </a:rPr>
              <a:t>https://dev.to/pragativerma18/evolution-of-web-42eh</a:t>
            </a:r>
            <a:r>
              <a:rPr lang="en-IE" dirty="0"/>
              <a:t> </a:t>
            </a:r>
          </a:p>
          <a:p>
            <a:r>
              <a:rPr lang="en-IE" dirty="0">
                <a:hlinkClick r:id="rId7"/>
              </a:rPr>
              <a:t>https://academy.binance.com/en/articles/the-evolution-of-the-internet-web-3-0-explained</a:t>
            </a:r>
            <a:r>
              <a:rPr lang="en-IE" dirty="0"/>
              <a:t> </a:t>
            </a:r>
          </a:p>
          <a:p>
            <a:r>
              <a:rPr lang="en-IE" dirty="0">
                <a:hlinkClick r:id="rId8"/>
              </a:rPr>
              <a:t>https://web3js.readthedocs.io/en/v1.2.9/getting-started.html</a:t>
            </a:r>
            <a:r>
              <a:rPr lang="en-IE" dirty="0"/>
              <a:t> </a:t>
            </a:r>
          </a:p>
          <a:p>
            <a:r>
              <a:rPr lang="en-IE" dirty="0">
                <a:hlinkClick r:id="rId9"/>
              </a:rPr>
              <a:t>https://trufflesuite.com/tutorial/</a:t>
            </a:r>
            <a:endParaRPr lang="en-IE" dirty="0"/>
          </a:p>
          <a:p>
            <a:r>
              <a:rPr lang="en-IE" dirty="0">
                <a:hlinkClick r:id="rId10"/>
              </a:rPr>
              <a:t>https://www.youtube.com/watch?v=bIbmLgmEvM0</a:t>
            </a:r>
            <a:r>
              <a:rPr lang="en-IE" dirty="0"/>
              <a:t> </a:t>
            </a:r>
          </a:p>
          <a:p>
            <a:r>
              <a:rPr lang="en-IE" dirty="0">
                <a:hlinkClick r:id="rId11"/>
              </a:rPr>
              <a:t>https://docs.google.com/document/d/1SWJw_NTyUvgdB_asRzsnVyKjciW8dZbeqQeUeWsEiQc/edit#</a:t>
            </a:r>
            <a:r>
              <a:rPr lang="en-IE" dirty="0"/>
              <a:t>  </a:t>
            </a:r>
          </a:p>
          <a:p>
            <a:endParaRPr lang="en-IE" dirty="0"/>
          </a:p>
        </p:txBody>
      </p:sp>
    </p:spTree>
    <p:extLst>
      <p:ext uri="{BB962C8B-B14F-4D97-AF65-F5344CB8AC3E}">
        <p14:creationId xmlns:p14="http://schemas.microsoft.com/office/powerpoint/2010/main" val="966075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2884A-A54A-053D-6BFD-138D009A919B}"/>
              </a:ext>
            </a:extLst>
          </p:cNvPr>
          <p:cNvSpPr>
            <a:spLocks noGrp="1"/>
          </p:cNvSpPr>
          <p:nvPr>
            <p:ph type="title"/>
          </p:nvPr>
        </p:nvSpPr>
        <p:spPr/>
        <p:txBody>
          <a:bodyPr/>
          <a:lstStyle/>
          <a:p>
            <a:r>
              <a:rPr lang="en-IE" dirty="0"/>
              <a:t>Web and the Image of the Future</a:t>
            </a:r>
          </a:p>
        </p:txBody>
      </p:sp>
      <p:sp>
        <p:nvSpPr>
          <p:cNvPr id="3" name="Content Placeholder 2">
            <a:extLst>
              <a:ext uri="{FF2B5EF4-FFF2-40B4-BE49-F238E27FC236}">
                <a16:creationId xmlns:a16="http://schemas.microsoft.com/office/drawing/2014/main" id="{886D7CA4-F13B-6611-E310-84B7BCBF9AA3}"/>
              </a:ext>
            </a:extLst>
          </p:cNvPr>
          <p:cNvSpPr>
            <a:spLocks noGrp="1"/>
          </p:cNvSpPr>
          <p:nvPr>
            <p:ph sz="half" idx="1"/>
          </p:nvPr>
        </p:nvSpPr>
        <p:spPr/>
        <p:txBody>
          <a:bodyPr/>
          <a:lstStyle/>
          <a:p>
            <a:r>
              <a:rPr lang="en-IE" dirty="0">
                <a:hlinkClick r:id="rId2"/>
              </a:rPr>
              <a:t>https://www.youtube.com/watch?v=EFIs-oL1c4g</a:t>
            </a:r>
            <a:r>
              <a:rPr lang="en-IE" dirty="0"/>
              <a:t> </a:t>
            </a:r>
          </a:p>
        </p:txBody>
      </p:sp>
      <p:sp>
        <p:nvSpPr>
          <p:cNvPr id="6" name="TextBox 5">
            <a:extLst>
              <a:ext uri="{FF2B5EF4-FFF2-40B4-BE49-F238E27FC236}">
                <a16:creationId xmlns:a16="http://schemas.microsoft.com/office/drawing/2014/main" id="{C7EB75BE-F41E-A71A-C1E7-EC38404F3333}"/>
              </a:ext>
            </a:extLst>
          </p:cNvPr>
          <p:cNvSpPr txBox="1"/>
          <p:nvPr/>
        </p:nvSpPr>
        <p:spPr>
          <a:xfrm>
            <a:off x="215900" y="6211669"/>
            <a:ext cx="6096000" cy="646331"/>
          </a:xfrm>
          <a:prstGeom prst="rect">
            <a:avLst/>
          </a:prstGeom>
          <a:noFill/>
        </p:spPr>
        <p:txBody>
          <a:bodyPr wrap="square">
            <a:spAutoFit/>
          </a:bodyPr>
          <a:lstStyle/>
          <a:p>
            <a:r>
              <a:rPr lang="en-IE" dirty="0">
                <a:hlinkClick r:id="rId3"/>
              </a:rPr>
              <a:t>https://ec.europa.eu/info/strategy/priorities-2019-2024/europe-fit-digital-age/european-digital-identity_en</a:t>
            </a:r>
            <a:r>
              <a:rPr lang="en-IE" dirty="0"/>
              <a:t> </a:t>
            </a:r>
          </a:p>
        </p:txBody>
      </p:sp>
      <p:pic>
        <p:nvPicPr>
          <p:cNvPr id="8" name="Picture 7">
            <a:extLst>
              <a:ext uri="{FF2B5EF4-FFF2-40B4-BE49-F238E27FC236}">
                <a16:creationId xmlns:a16="http://schemas.microsoft.com/office/drawing/2014/main" id="{7C9FE5A5-99BA-492A-B0BF-2406D551A0CC}"/>
              </a:ext>
            </a:extLst>
          </p:cNvPr>
          <p:cNvPicPr>
            <a:picLocks noChangeAspect="1"/>
          </p:cNvPicPr>
          <p:nvPr/>
        </p:nvPicPr>
        <p:blipFill>
          <a:blip r:embed="rId4"/>
          <a:stretch>
            <a:fillRect/>
          </a:stretch>
        </p:blipFill>
        <p:spPr>
          <a:xfrm>
            <a:off x="0" y="3692525"/>
            <a:ext cx="8105775" cy="2619375"/>
          </a:xfrm>
          <a:prstGeom prst="rect">
            <a:avLst/>
          </a:prstGeom>
        </p:spPr>
      </p:pic>
      <p:pic>
        <p:nvPicPr>
          <p:cNvPr id="10" name="Picture 9">
            <a:extLst>
              <a:ext uri="{FF2B5EF4-FFF2-40B4-BE49-F238E27FC236}">
                <a16:creationId xmlns:a16="http://schemas.microsoft.com/office/drawing/2014/main" id="{C3D54F3E-61E9-202B-A2FD-77B725A7BEBF}"/>
              </a:ext>
            </a:extLst>
          </p:cNvPr>
          <p:cNvPicPr>
            <a:picLocks noChangeAspect="1"/>
          </p:cNvPicPr>
          <p:nvPr/>
        </p:nvPicPr>
        <p:blipFill>
          <a:blip r:embed="rId5"/>
          <a:stretch>
            <a:fillRect/>
          </a:stretch>
        </p:blipFill>
        <p:spPr>
          <a:xfrm>
            <a:off x="8105775" y="2427069"/>
            <a:ext cx="3347041" cy="3784600"/>
          </a:xfrm>
          <a:prstGeom prst="rect">
            <a:avLst/>
          </a:prstGeom>
        </p:spPr>
      </p:pic>
    </p:spTree>
    <p:extLst>
      <p:ext uri="{BB962C8B-B14F-4D97-AF65-F5344CB8AC3E}">
        <p14:creationId xmlns:p14="http://schemas.microsoft.com/office/powerpoint/2010/main" val="35186720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71AD6-6C7A-7413-DFD0-9A7117CFF4DF}"/>
              </a:ext>
            </a:extLst>
          </p:cNvPr>
          <p:cNvSpPr>
            <a:spLocks noGrp="1"/>
          </p:cNvSpPr>
          <p:nvPr>
            <p:ph type="title"/>
          </p:nvPr>
        </p:nvSpPr>
        <p:spPr/>
        <p:txBody>
          <a:bodyPr/>
          <a:lstStyle/>
          <a:p>
            <a:r>
              <a:rPr lang="en-IE" dirty="0"/>
              <a:t>A new currency for a new identity </a:t>
            </a:r>
          </a:p>
        </p:txBody>
      </p:sp>
      <p:pic>
        <p:nvPicPr>
          <p:cNvPr id="6" name="Picture 5">
            <a:extLst>
              <a:ext uri="{FF2B5EF4-FFF2-40B4-BE49-F238E27FC236}">
                <a16:creationId xmlns:a16="http://schemas.microsoft.com/office/drawing/2014/main" id="{B8BF56FB-0426-2F6F-2F1F-FE48247A07D9}"/>
              </a:ext>
            </a:extLst>
          </p:cNvPr>
          <p:cNvPicPr>
            <a:picLocks noChangeAspect="1"/>
          </p:cNvPicPr>
          <p:nvPr/>
        </p:nvPicPr>
        <p:blipFill>
          <a:blip r:embed="rId3"/>
          <a:stretch>
            <a:fillRect/>
          </a:stretch>
        </p:blipFill>
        <p:spPr>
          <a:xfrm>
            <a:off x="534454" y="2272506"/>
            <a:ext cx="5561546" cy="3457575"/>
          </a:xfrm>
          <a:prstGeom prst="rect">
            <a:avLst/>
          </a:prstGeom>
        </p:spPr>
      </p:pic>
      <p:graphicFrame>
        <p:nvGraphicFramePr>
          <p:cNvPr id="7" name="Object 6">
            <a:extLst>
              <a:ext uri="{FF2B5EF4-FFF2-40B4-BE49-F238E27FC236}">
                <a16:creationId xmlns:a16="http://schemas.microsoft.com/office/drawing/2014/main" id="{7C8C04E4-4E77-87F7-647C-7B725E80A9D7}"/>
              </a:ext>
            </a:extLst>
          </p:cNvPr>
          <p:cNvGraphicFramePr>
            <a:graphicFrameLocks noChangeAspect="1"/>
          </p:cNvGraphicFramePr>
          <p:nvPr>
            <p:extLst>
              <p:ext uri="{D42A27DB-BD31-4B8C-83A1-F6EECF244321}">
                <p14:modId xmlns:p14="http://schemas.microsoft.com/office/powerpoint/2010/main" val="2036895906"/>
              </p:ext>
            </p:extLst>
          </p:nvPr>
        </p:nvGraphicFramePr>
        <p:xfrm>
          <a:off x="1755775" y="6265862"/>
          <a:ext cx="2141538" cy="454025"/>
        </p:xfrm>
        <a:graphic>
          <a:graphicData uri="http://schemas.openxmlformats.org/presentationml/2006/ole">
            <mc:AlternateContent xmlns:mc="http://schemas.openxmlformats.org/markup-compatibility/2006">
              <mc:Choice xmlns:v="urn:schemas-microsoft-com:vml" Requires="v">
                <p:oleObj name="Packager Shell Object" showAsIcon="1" r:id="rId4" imgW="2140920" imgH="453600" progId="Package">
                  <p:embed/>
                </p:oleObj>
              </mc:Choice>
              <mc:Fallback>
                <p:oleObj name="Packager Shell Object" showAsIcon="1" r:id="rId4" imgW="2140920" imgH="453600" progId="Package">
                  <p:embed/>
                  <p:pic>
                    <p:nvPicPr>
                      <p:cNvPr id="0" name=""/>
                      <p:cNvPicPr/>
                      <p:nvPr/>
                    </p:nvPicPr>
                    <p:blipFill>
                      <a:blip r:embed="rId5"/>
                      <a:stretch>
                        <a:fillRect/>
                      </a:stretch>
                    </p:blipFill>
                    <p:spPr>
                      <a:xfrm>
                        <a:off x="1755775" y="6265862"/>
                        <a:ext cx="2141538" cy="454025"/>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81F41F4F-9206-6FF5-AD90-3DDCFCD8E45B}"/>
              </a:ext>
            </a:extLst>
          </p:cNvPr>
          <p:cNvPicPr>
            <a:picLocks noChangeAspect="1"/>
          </p:cNvPicPr>
          <p:nvPr/>
        </p:nvPicPr>
        <p:blipFill>
          <a:blip r:embed="rId6"/>
          <a:stretch>
            <a:fillRect/>
          </a:stretch>
        </p:blipFill>
        <p:spPr>
          <a:xfrm>
            <a:off x="6096000" y="2752725"/>
            <a:ext cx="5676900" cy="2778423"/>
          </a:xfrm>
          <a:prstGeom prst="rect">
            <a:avLst/>
          </a:prstGeom>
        </p:spPr>
      </p:pic>
      <p:sp>
        <p:nvSpPr>
          <p:cNvPr id="11" name="TextBox 10">
            <a:extLst>
              <a:ext uri="{FF2B5EF4-FFF2-40B4-BE49-F238E27FC236}">
                <a16:creationId xmlns:a16="http://schemas.microsoft.com/office/drawing/2014/main" id="{73369E98-2C91-09B4-0D6E-2DAB1652B7C7}"/>
              </a:ext>
            </a:extLst>
          </p:cNvPr>
          <p:cNvSpPr txBox="1"/>
          <p:nvPr/>
        </p:nvSpPr>
        <p:spPr>
          <a:xfrm>
            <a:off x="5715000" y="6211669"/>
            <a:ext cx="6096000" cy="646331"/>
          </a:xfrm>
          <a:prstGeom prst="rect">
            <a:avLst/>
          </a:prstGeom>
          <a:noFill/>
        </p:spPr>
        <p:txBody>
          <a:bodyPr wrap="square">
            <a:spAutoFit/>
          </a:bodyPr>
          <a:lstStyle/>
          <a:p>
            <a:r>
              <a:rPr lang="en-IE" dirty="0">
                <a:hlinkClick r:id="rId7"/>
              </a:rPr>
              <a:t>https://www.ecb.europa.eu/paym/digital_euro/html/index.en.html</a:t>
            </a:r>
            <a:r>
              <a:rPr lang="en-IE" dirty="0"/>
              <a:t> </a:t>
            </a:r>
          </a:p>
        </p:txBody>
      </p:sp>
      <p:pic>
        <p:nvPicPr>
          <p:cNvPr id="13" name="Picture 12">
            <a:extLst>
              <a:ext uri="{FF2B5EF4-FFF2-40B4-BE49-F238E27FC236}">
                <a16:creationId xmlns:a16="http://schemas.microsoft.com/office/drawing/2014/main" id="{1EC3CD53-FF0C-3102-34A8-A67D7827ACA4}"/>
              </a:ext>
            </a:extLst>
          </p:cNvPr>
          <p:cNvPicPr>
            <a:picLocks noChangeAspect="1"/>
          </p:cNvPicPr>
          <p:nvPr/>
        </p:nvPicPr>
        <p:blipFill>
          <a:blip r:embed="rId8"/>
          <a:stretch>
            <a:fillRect/>
          </a:stretch>
        </p:blipFill>
        <p:spPr>
          <a:xfrm>
            <a:off x="8763000" y="164165"/>
            <a:ext cx="3363912" cy="1908039"/>
          </a:xfrm>
          <a:prstGeom prst="rect">
            <a:avLst/>
          </a:prstGeom>
        </p:spPr>
      </p:pic>
    </p:spTree>
    <p:extLst>
      <p:ext uri="{BB962C8B-B14F-4D97-AF65-F5344CB8AC3E}">
        <p14:creationId xmlns:p14="http://schemas.microsoft.com/office/powerpoint/2010/main" val="2964158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82891A8-51BD-0A39-533F-F5972A0B4182}"/>
              </a:ext>
            </a:extLst>
          </p:cNvPr>
          <p:cNvSpPr>
            <a:spLocks noGrp="1"/>
          </p:cNvSpPr>
          <p:nvPr>
            <p:ph type="ctrTitle"/>
          </p:nvPr>
        </p:nvSpPr>
        <p:spPr/>
        <p:txBody>
          <a:bodyPr/>
          <a:lstStyle/>
          <a:p>
            <a:r>
              <a:rPr lang="en-IE" dirty="0"/>
              <a:t>DEFI</a:t>
            </a:r>
          </a:p>
        </p:txBody>
      </p:sp>
      <p:sp>
        <p:nvSpPr>
          <p:cNvPr id="6" name="Subtitle 5">
            <a:extLst>
              <a:ext uri="{FF2B5EF4-FFF2-40B4-BE49-F238E27FC236}">
                <a16:creationId xmlns:a16="http://schemas.microsoft.com/office/drawing/2014/main" id="{EA83AB96-0F5B-3B74-595C-C62439BCD4FB}"/>
              </a:ext>
            </a:extLst>
          </p:cNvPr>
          <p:cNvSpPr>
            <a:spLocks noGrp="1"/>
          </p:cNvSpPr>
          <p:nvPr>
            <p:ph type="subTitle" idx="1"/>
          </p:nvPr>
        </p:nvSpPr>
        <p:spPr/>
        <p:txBody>
          <a:bodyPr/>
          <a:lstStyle/>
          <a:p>
            <a:r>
              <a:rPr lang="en-IE" dirty="0"/>
              <a:t>Decentralized Finance</a:t>
            </a:r>
          </a:p>
        </p:txBody>
      </p:sp>
    </p:spTree>
    <p:extLst>
      <p:ext uri="{BB962C8B-B14F-4D97-AF65-F5344CB8AC3E}">
        <p14:creationId xmlns:p14="http://schemas.microsoft.com/office/powerpoint/2010/main" val="28146462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8629E-D08C-5CF4-562B-BA2F2F4788B5}"/>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1458A850-036E-6F43-6FA5-4D5E3AC870A5}"/>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F4E61BB1-94FE-467A-98A9-512AA0DA99B3}"/>
              </a:ext>
            </a:extLst>
          </p:cNvPr>
          <p:cNvPicPr>
            <a:picLocks noChangeAspect="1"/>
          </p:cNvPicPr>
          <p:nvPr/>
        </p:nvPicPr>
        <p:blipFill>
          <a:blip r:embed="rId3"/>
          <a:stretch>
            <a:fillRect/>
          </a:stretch>
        </p:blipFill>
        <p:spPr>
          <a:xfrm>
            <a:off x="-1" y="-1"/>
            <a:ext cx="12192001" cy="6877099"/>
          </a:xfrm>
          <a:prstGeom prst="rect">
            <a:avLst/>
          </a:prstGeom>
        </p:spPr>
      </p:pic>
    </p:spTree>
    <p:extLst>
      <p:ext uri="{BB962C8B-B14F-4D97-AF65-F5344CB8AC3E}">
        <p14:creationId xmlns:p14="http://schemas.microsoft.com/office/powerpoint/2010/main" val="1607649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84869-FF68-F626-85E4-3D02E0210466}"/>
              </a:ext>
            </a:extLst>
          </p:cNvPr>
          <p:cNvSpPr>
            <a:spLocks noGrp="1"/>
          </p:cNvSpPr>
          <p:nvPr>
            <p:ph type="title"/>
          </p:nvPr>
        </p:nvSpPr>
        <p:spPr/>
        <p:txBody>
          <a:bodyPr/>
          <a:lstStyle/>
          <a:p>
            <a:r>
              <a:rPr lang="en-IE" dirty="0"/>
              <a:t>Decentralization	</a:t>
            </a:r>
          </a:p>
        </p:txBody>
      </p:sp>
      <p:sp>
        <p:nvSpPr>
          <p:cNvPr id="3" name="Content Placeholder 2">
            <a:extLst>
              <a:ext uri="{FF2B5EF4-FFF2-40B4-BE49-F238E27FC236}">
                <a16:creationId xmlns:a16="http://schemas.microsoft.com/office/drawing/2014/main" id="{4B271034-7E77-0744-2DBA-125D124086F1}"/>
              </a:ext>
            </a:extLst>
          </p:cNvPr>
          <p:cNvSpPr>
            <a:spLocks noGrp="1"/>
          </p:cNvSpPr>
          <p:nvPr>
            <p:ph idx="1"/>
          </p:nvPr>
        </p:nvSpPr>
        <p:spPr/>
        <p:txBody>
          <a:bodyPr/>
          <a:lstStyle/>
          <a:p>
            <a:r>
              <a:rPr lang="en-IE" dirty="0"/>
              <a:t>An characteristic/attribute of having no centralized point</a:t>
            </a:r>
          </a:p>
          <a:p>
            <a:r>
              <a:rPr lang="en-IE" dirty="0"/>
              <a:t>Discussed in great lengths regarding P2P systems , distributed systems</a:t>
            </a:r>
          </a:p>
          <a:p>
            <a:endParaRPr lang="en-IE" dirty="0"/>
          </a:p>
          <a:p>
            <a:r>
              <a:rPr lang="en-IE" dirty="0"/>
              <a:t>Has become extremely popular over the last 3 years</a:t>
            </a:r>
          </a:p>
        </p:txBody>
      </p:sp>
    </p:spTree>
    <p:extLst>
      <p:ext uri="{BB962C8B-B14F-4D97-AF65-F5344CB8AC3E}">
        <p14:creationId xmlns:p14="http://schemas.microsoft.com/office/powerpoint/2010/main" val="2940251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D9196-D930-2BE6-2554-64C43CB362EC}"/>
              </a:ext>
            </a:extLst>
          </p:cNvPr>
          <p:cNvSpPr>
            <a:spLocks noGrp="1"/>
          </p:cNvSpPr>
          <p:nvPr>
            <p:ph type="title"/>
          </p:nvPr>
        </p:nvSpPr>
        <p:spPr/>
        <p:txBody>
          <a:bodyPr/>
          <a:lstStyle/>
          <a:p>
            <a:r>
              <a:rPr lang="en-IE" dirty="0"/>
              <a:t>Financial Independence / Interdependence	</a:t>
            </a:r>
          </a:p>
        </p:txBody>
      </p:sp>
      <p:sp>
        <p:nvSpPr>
          <p:cNvPr id="3" name="Content Placeholder 2">
            <a:extLst>
              <a:ext uri="{FF2B5EF4-FFF2-40B4-BE49-F238E27FC236}">
                <a16:creationId xmlns:a16="http://schemas.microsoft.com/office/drawing/2014/main" id="{19CD1674-276C-633F-09EE-3F0D85E7FE85}"/>
              </a:ext>
            </a:extLst>
          </p:cNvPr>
          <p:cNvSpPr>
            <a:spLocks noGrp="1"/>
          </p:cNvSpPr>
          <p:nvPr>
            <p:ph idx="1"/>
          </p:nvPr>
        </p:nvSpPr>
        <p:spPr/>
        <p:txBody>
          <a:bodyPr>
            <a:normAutofit fontScale="92500" lnSpcReduction="10000"/>
          </a:bodyPr>
          <a:lstStyle/>
          <a:p>
            <a:r>
              <a:rPr lang="en-IE" dirty="0"/>
              <a:t>Defi , allows individuals to engage in complex financial trading without the reliance upon a central financial body. </a:t>
            </a:r>
          </a:p>
          <a:p>
            <a:endParaRPr lang="en-IE" dirty="0"/>
          </a:p>
          <a:p>
            <a:r>
              <a:rPr lang="en-IE" dirty="0"/>
              <a:t>Smart Contracts dictate abilities , not laws or regulations</a:t>
            </a:r>
          </a:p>
          <a:p>
            <a:r>
              <a:rPr lang="en-IE" dirty="0"/>
              <a:t>No KYC , Financial Background Checks, </a:t>
            </a:r>
            <a:r>
              <a:rPr lang="en-IE" dirty="0" err="1"/>
              <a:t>e.g</a:t>
            </a:r>
            <a:r>
              <a:rPr lang="en-IE" dirty="0"/>
              <a:t> Mortgage Approval. </a:t>
            </a:r>
          </a:p>
          <a:p>
            <a:endParaRPr lang="en-IE" dirty="0"/>
          </a:p>
          <a:p>
            <a:r>
              <a:rPr lang="en-IE" dirty="0"/>
              <a:t>There are a variety of types of Defi Engagement Available to individuals</a:t>
            </a:r>
          </a:p>
          <a:p>
            <a:endParaRPr lang="en-IE" dirty="0"/>
          </a:p>
          <a:p>
            <a:r>
              <a:rPr lang="en-IE" dirty="0"/>
              <a:t>The major pre-requisite for engagement in Defi , is simply holding blockchain assets.  </a:t>
            </a:r>
          </a:p>
        </p:txBody>
      </p:sp>
    </p:spTree>
    <p:extLst>
      <p:ext uri="{BB962C8B-B14F-4D97-AF65-F5344CB8AC3E}">
        <p14:creationId xmlns:p14="http://schemas.microsoft.com/office/powerpoint/2010/main" val="10266789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61B29-1FA0-E44D-184D-B75CE732BC05}"/>
              </a:ext>
            </a:extLst>
          </p:cNvPr>
          <p:cNvSpPr>
            <a:spLocks noGrp="1"/>
          </p:cNvSpPr>
          <p:nvPr>
            <p:ph type="title"/>
          </p:nvPr>
        </p:nvSpPr>
        <p:spPr/>
        <p:txBody>
          <a:bodyPr/>
          <a:lstStyle/>
          <a:p>
            <a:r>
              <a:rPr lang="en-IE" dirty="0"/>
              <a:t>KYC / KYB / Due Diligence	</a:t>
            </a:r>
          </a:p>
        </p:txBody>
      </p:sp>
      <p:sp>
        <p:nvSpPr>
          <p:cNvPr id="3" name="Content Placeholder 2">
            <a:extLst>
              <a:ext uri="{FF2B5EF4-FFF2-40B4-BE49-F238E27FC236}">
                <a16:creationId xmlns:a16="http://schemas.microsoft.com/office/drawing/2014/main" id="{33C9D08F-0D1D-A159-BC92-282E650B22C6}"/>
              </a:ext>
            </a:extLst>
          </p:cNvPr>
          <p:cNvSpPr>
            <a:spLocks noGrp="1"/>
          </p:cNvSpPr>
          <p:nvPr>
            <p:ph idx="1"/>
          </p:nvPr>
        </p:nvSpPr>
        <p:spPr/>
        <p:txBody>
          <a:bodyPr>
            <a:normAutofit fontScale="85000" lnSpcReduction="20000"/>
          </a:bodyPr>
          <a:lstStyle/>
          <a:p>
            <a:r>
              <a:rPr lang="en-IE" dirty="0"/>
              <a:t>Recognised Standard within the financial services .</a:t>
            </a:r>
          </a:p>
          <a:p>
            <a:r>
              <a:rPr lang="en-IE" dirty="0"/>
              <a:t>Any financial services business operating within the EU must abide by EU and State regulations regarding compliance </a:t>
            </a:r>
          </a:p>
          <a:p>
            <a:r>
              <a:rPr lang="en-IE" dirty="0"/>
              <a:t>“Know your Customer / Business” </a:t>
            </a:r>
          </a:p>
          <a:p>
            <a:endParaRPr lang="en-IE" dirty="0"/>
          </a:p>
          <a:p>
            <a:r>
              <a:rPr lang="en-GB" dirty="0"/>
              <a:t>Designed to prevent money laundering, financing terrorism and other crimes involving money. It also refers to the policies, procedures, and technology used by banks and financial services companies to comply with KYC regulations.</a:t>
            </a:r>
            <a:endParaRPr lang="en-IE" dirty="0"/>
          </a:p>
          <a:p>
            <a:endParaRPr lang="en-IE" dirty="0"/>
          </a:p>
          <a:p>
            <a:r>
              <a:rPr lang="en-IE" dirty="0"/>
              <a:t>Vital Requirement for Traditional financial Services. </a:t>
            </a:r>
          </a:p>
          <a:p>
            <a:r>
              <a:rPr lang="en-IE" dirty="0"/>
              <a:t>Due Diligence – Checks / Balance Sheets / Financials etc </a:t>
            </a:r>
          </a:p>
          <a:p>
            <a:r>
              <a:rPr lang="en-IE" dirty="0"/>
              <a:t>PP </a:t>
            </a:r>
          </a:p>
          <a:p>
            <a:endParaRPr lang="en-IE" dirty="0"/>
          </a:p>
        </p:txBody>
      </p:sp>
    </p:spTree>
    <p:extLst>
      <p:ext uri="{BB962C8B-B14F-4D97-AF65-F5344CB8AC3E}">
        <p14:creationId xmlns:p14="http://schemas.microsoft.com/office/powerpoint/2010/main" val="7619589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9233E-E055-747D-0F6C-428582F73CF0}"/>
              </a:ext>
            </a:extLst>
          </p:cNvPr>
          <p:cNvSpPr>
            <a:spLocks noGrp="1"/>
          </p:cNvSpPr>
          <p:nvPr>
            <p:ph type="title"/>
          </p:nvPr>
        </p:nvSpPr>
        <p:spPr/>
        <p:txBody>
          <a:bodyPr/>
          <a:lstStyle/>
          <a:p>
            <a:r>
              <a:rPr lang="en-GB" dirty="0"/>
              <a:t>Passive Income</a:t>
            </a:r>
            <a:endParaRPr lang="en-IE" dirty="0"/>
          </a:p>
        </p:txBody>
      </p:sp>
      <p:sp>
        <p:nvSpPr>
          <p:cNvPr id="3" name="Content Placeholder 2">
            <a:extLst>
              <a:ext uri="{FF2B5EF4-FFF2-40B4-BE49-F238E27FC236}">
                <a16:creationId xmlns:a16="http://schemas.microsoft.com/office/drawing/2014/main" id="{F6A908AC-6E1A-B83A-DB8C-A83931AC3436}"/>
              </a:ext>
            </a:extLst>
          </p:cNvPr>
          <p:cNvSpPr>
            <a:spLocks noGrp="1"/>
          </p:cNvSpPr>
          <p:nvPr>
            <p:ph idx="1"/>
          </p:nvPr>
        </p:nvSpPr>
        <p:spPr/>
        <p:txBody>
          <a:bodyPr/>
          <a:lstStyle/>
          <a:p>
            <a:r>
              <a:rPr lang="en-IE" dirty="0"/>
              <a:t>The Ability to create Income without major commitments</a:t>
            </a:r>
          </a:p>
          <a:p>
            <a:endParaRPr lang="en-IE" dirty="0"/>
          </a:p>
          <a:p>
            <a:r>
              <a:rPr lang="en-IE" dirty="0"/>
              <a:t>There are risks associated</a:t>
            </a:r>
          </a:p>
          <a:p>
            <a:endParaRPr lang="en-IE" dirty="0"/>
          </a:p>
          <a:p>
            <a:r>
              <a:rPr lang="en-IE" dirty="0"/>
              <a:t>Fluctuations / Attacks / Traditional Financial Risks also </a:t>
            </a:r>
          </a:p>
          <a:p>
            <a:endParaRPr lang="en-IE" dirty="0"/>
          </a:p>
          <a:p>
            <a:endParaRPr lang="en-IE" dirty="0"/>
          </a:p>
        </p:txBody>
      </p:sp>
    </p:spTree>
    <p:extLst>
      <p:ext uri="{BB962C8B-B14F-4D97-AF65-F5344CB8AC3E}">
        <p14:creationId xmlns:p14="http://schemas.microsoft.com/office/powerpoint/2010/main" val="36478941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9134D-2702-6AD2-0DF6-625056392CE3}"/>
              </a:ext>
            </a:extLst>
          </p:cNvPr>
          <p:cNvSpPr>
            <a:spLocks noGrp="1"/>
          </p:cNvSpPr>
          <p:nvPr>
            <p:ph type="title"/>
          </p:nvPr>
        </p:nvSpPr>
        <p:spPr>
          <a:xfrm>
            <a:off x="838200" y="365125"/>
            <a:ext cx="7278189" cy="1325563"/>
          </a:xfrm>
        </p:spPr>
        <p:txBody>
          <a:bodyPr/>
          <a:lstStyle/>
          <a:p>
            <a:r>
              <a:rPr lang="en-IE" dirty="0"/>
              <a:t>So what is Defi ? </a:t>
            </a:r>
          </a:p>
        </p:txBody>
      </p:sp>
      <p:sp>
        <p:nvSpPr>
          <p:cNvPr id="3" name="Content Placeholder 2">
            <a:extLst>
              <a:ext uri="{FF2B5EF4-FFF2-40B4-BE49-F238E27FC236}">
                <a16:creationId xmlns:a16="http://schemas.microsoft.com/office/drawing/2014/main" id="{EF677340-CCCF-D097-C140-16BE040AF817}"/>
              </a:ext>
            </a:extLst>
          </p:cNvPr>
          <p:cNvSpPr>
            <a:spLocks noGrp="1"/>
          </p:cNvSpPr>
          <p:nvPr>
            <p:ph idx="1"/>
          </p:nvPr>
        </p:nvSpPr>
        <p:spPr>
          <a:xfrm>
            <a:off x="838200" y="1825625"/>
            <a:ext cx="7278189" cy="4351338"/>
          </a:xfrm>
        </p:spPr>
        <p:txBody>
          <a:bodyPr/>
          <a:lstStyle/>
          <a:p>
            <a:r>
              <a:rPr lang="en-IE" dirty="0"/>
              <a:t>The ability to Engage in complex Financial Trading's. </a:t>
            </a:r>
          </a:p>
          <a:p>
            <a:r>
              <a:rPr lang="en-IE" dirty="0"/>
              <a:t>Primarily popular actions currently include : </a:t>
            </a:r>
          </a:p>
          <a:p>
            <a:r>
              <a:rPr lang="en-IE" dirty="0"/>
              <a:t>Staking , Yielding , Swapping</a:t>
            </a:r>
          </a:p>
        </p:txBody>
      </p:sp>
      <p:pic>
        <p:nvPicPr>
          <p:cNvPr id="5" name="Picture 4">
            <a:extLst>
              <a:ext uri="{FF2B5EF4-FFF2-40B4-BE49-F238E27FC236}">
                <a16:creationId xmlns:a16="http://schemas.microsoft.com/office/drawing/2014/main" id="{CCDFCD21-890D-9700-2907-3CA633E1DCE1}"/>
              </a:ext>
            </a:extLst>
          </p:cNvPr>
          <p:cNvPicPr>
            <a:picLocks noChangeAspect="1"/>
          </p:cNvPicPr>
          <p:nvPr/>
        </p:nvPicPr>
        <p:blipFill>
          <a:blip r:embed="rId2"/>
          <a:stretch>
            <a:fillRect/>
          </a:stretch>
        </p:blipFill>
        <p:spPr>
          <a:xfrm>
            <a:off x="8319328" y="0"/>
            <a:ext cx="3872672" cy="6858000"/>
          </a:xfrm>
          <a:prstGeom prst="rect">
            <a:avLst/>
          </a:prstGeom>
        </p:spPr>
      </p:pic>
      <p:pic>
        <p:nvPicPr>
          <p:cNvPr id="7" name="Picture 6">
            <a:extLst>
              <a:ext uri="{FF2B5EF4-FFF2-40B4-BE49-F238E27FC236}">
                <a16:creationId xmlns:a16="http://schemas.microsoft.com/office/drawing/2014/main" id="{4938E427-2FD0-B160-C955-127D0E4EEFD5}"/>
              </a:ext>
            </a:extLst>
          </p:cNvPr>
          <p:cNvPicPr>
            <a:picLocks noChangeAspect="1"/>
          </p:cNvPicPr>
          <p:nvPr/>
        </p:nvPicPr>
        <p:blipFill>
          <a:blip r:embed="rId3"/>
          <a:stretch>
            <a:fillRect/>
          </a:stretch>
        </p:blipFill>
        <p:spPr>
          <a:xfrm>
            <a:off x="601445" y="4025189"/>
            <a:ext cx="7514944" cy="2467686"/>
          </a:xfrm>
          <a:prstGeom prst="rect">
            <a:avLst/>
          </a:prstGeom>
        </p:spPr>
      </p:pic>
    </p:spTree>
    <p:extLst>
      <p:ext uri="{BB962C8B-B14F-4D97-AF65-F5344CB8AC3E}">
        <p14:creationId xmlns:p14="http://schemas.microsoft.com/office/powerpoint/2010/main" val="34259606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48A56-A924-E321-CED5-7F2421335E69}"/>
              </a:ext>
            </a:extLst>
          </p:cNvPr>
          <p:cNvPicPr>
            <a:picLocks noChangeAspect="1"/>
          </p:cNvPicPr>
          <p:nvPr/>
        </p:nvPicPr>
        <p:blipFill>
          <a:blip r:embed="rId2"/>
          <a:stretch>
            <a:fillRect/>
          </a:stretch>
        </p:blipFill>
        <p:spPr>
          <a:xfrm>
            <a:off x="3314700" y="661987"/>
            <a:ext cx="5562600" cy="5534025"/>
          </a:xfrm>
          <a:prstGeom prst="rect">
            <a:avLst/>
          </a:prstGeom>
        </p:spPr>
      </p:pic>
    </p:spTree>
    <p:extLst>
      <p:ext uri="{BB962C8B-B14F-4D97-AF65-F5344CB8AC3E}">
        <p14:creationId xmlns:p14="http://schemas.microsoft.com/office/powerpoint/2010/main" val="14181804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A7A47-6334-3E64-5273-454C97CC8E8C}"/>
              </a:ext>
            </a:extLst>
          </p:cNvPr>
          <p:cNvSpPr>
            <a:spLocks noGrp="1"/>
          </p:cNvSpPr>
          <p:nvPr>
            <p:ph type="title"/>
          </p:nvPr>
        </p:nvSpPr>
        <p:spPr/>
        <p:txBody>
          <a:bodyPr/>
          <a:lstStyle/>
          <a:p>
            <a:r>
              <a:rPr lang="en-IE" dirty="0"/>
              <a:t>Staking </a:t>
            </a:r>
          </a:p>
        </p:txBody>
      </p:sp>
      <p:sp>
        <p:nvSpPr>
          <p:cNvPr id="3" name="Content Placeholder 2">
            <a:extLst>
              <a:ext uri="{FF2B5EF4-FFF2-40B4-BE49-F238E27FC236}">
                <a16:creationId xmlns:a16="http://schemas.microsoft.com/office/drawing/2014/main" id="{0B72C3CE-A5AC-2399-9265-4ED594DC0AE6}"/>
              </a:ext>
            </a:extLst>
          </p:cNvPr>
          <p:cNvSpPr>
            <a:spLocks noGrp="1"/>
          </p:cNvSpPr>
          <p:nvPr>
            <p:ph idx="1"/>
          </p:nvPr>
        </p:nvSpPr>
        <p:spPr/>
        <p:txBody>
          <a:bodyPr/>
          <a:lstStyle/>
          <a:p>
            <a:r>
              <a:rPr lang="en-IE" dirty="0"/>
              <a:t>This is more obvious and clear now that staking has become mainstream within the Ethereum Network</a:t>
            </a:r>
          </a:p>
          <a:p>
            <a:r>
              <a:rPr lang="en-IE" dirty="0"/>
              <a:t>Proof of Stake </a:t>
            </a:r>
          </a:p>
          <a:p>
            <a:r>
              <a:rPr lang="en-IE" dirty="0"/>
              <a:t>Within the context of Defi , staking involves providing crypto assets to a network to ensure its security and to check transactions. </a:t>
            </a:r>
          </a:p>
          <a:p>
            <a:r>
              <a:rPr lang="en-IE" dirty="0"/>
              <a:t>As a result , the </a:t>
            </a:r>
            <a:r>
              <a:rPr lang="en-IE" dirty="0" err="1"/>
              <a:t>staker</a:t>
            </a:r>
            <a:r>
              <a:rPr lang="en-IE" dirty="0"/>
              <a:t> receives a reward / compensation </a:t>
            </a:r>
          </a:p>
          <a:p>
            <a:r>
              <a:rPr lang="en-IE" dirty="0"/>
              <a:t>Often times , a </a:t>
            </a:r>
            <a:r>
              <a:rPr lang="en-IE" dirty="0" err="1"/>
              <a:t>staker</a:t>
            </a:r>
            <a:r>
              <a:rPr lang="en-IE" dirty="0"/>
              <a:t> will receive tokens for the selected network, </a:t>
            </a:r>
          </a:p>
          <a:p>
            <a:pPr marL="0" indent="0">
              <a:buNone/>
            </a:pPr>
            <a:r>
              <a:rPr lang="en-IE" dirty="0"/>
              <a:t>The value of which may increase overtime. These tokens may then also be exchanged for other crypto assets.  </a:t>
            </a:r>
          </a:p>
        </p:txBody>
      </p:sp>
    </p:spTree>
    <p:extLst>
      <p:ext uri="{BB962C8B-B14F-4D97-AF65-F5344CB8AC3E}">
        <p14:creationId xmlns:p14="http://schemas.microsoft.com/office/powerpoint/2010/main" val="18871512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51339-4FF5-F96B-1D3D-A1DBBA25AEA1}"/>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656F6764-676A-D672-95A2-043A57A6CC54}"/>
              </a:ext>
            </a:extLst>
          </p:cNvPr>
          <p:cNvSpPr>
            <a:spLocks noGrp="1"/>
          </p:cNvSpPr>
          <p:nvPr>
            <p:ph idx="1"/>
          </p:nvPr>
        </p:nvSpPr>
        <p:spPr/>
        <p:txBody>
          <a:bodyPr/>
          <a:lstStyle/>
          <a:p>
            <a:endParaRPr lang="en-IE"/>
          </a:p>
        </p:txBody>
      </p:sp>
      <p:sp>
        <p:nvSpPr>
          <p:cNvPr id="5" name="TextBox 4">
            <a:extLst>
              <a:ext uri="{FF2B5EF4-FFF2-40B4-BE49-F238E27FC236}">
                <a16:creationId xmlns:a16="http://schemas.microsoft.com/office/drawing/2014/main" id="{6BC84B9E-21BF-98ED-7D06-631E2AD370C7}"/>
              </a:ext>
            </a:extLst>
          </p:cNvPr>
          <p:cNvSpPr txBox="1"/>
          <p:nvPr/>
        </p:nvSpPr>
        <p:spPr>
          <a:xfrm>
            <a:off x="3047189" y="3244334"/>
            <a:ext cx="6094378" cy="369332"/>
          </a:xfrm>
          <a:prstGeom prst="rect">
            <a:avLst/>
          </a:prstGeom>
          <a:noFill/>
        </p:spPr>
        <p:txBody>
          <a:bodyPr wrap="square">
            <a:spAutoFit/>
          </a:bodyPr>
          <a:lstStyle/>
          <a:p>
            <a:r>
              <a:rPr lang="en-IE" dirty="0"/>
              <a:t>https://ethereum.org/en/staking/</a:t>
            </a:r>
          </a:p>
        </p:txBody>
      </p:sp>
      <p:pic>
        <p:nvPicPr>
          <p:cNvPr id="7" name="Picture 6">
            <a:extLst>
              <a:ext uri="{FF2B5EF4-FFF2-40B4-BE49-F238E27FC236}">
                <a16:creationId xmlns:a16="http://schemas.microsoft.com/office/drawing/2014/main" id="{71B78586-6E77-7398-C1E7-B5334C7F72B9}"/>
              </a:ext>
            </a:extLst>
          </p:cNvPr>
          <p:cNvPicPr>
            <a:picLocks noChangeAspect="1"/>
          </p:cNvPicPr>
          <p:nvPr/>
        </p:nvPicPr>
        <p:blipFill>
          <a:blip r:embed="rId3"/>
          <a:stretch>
            <a:fillRect/>
          </a:stretch>
        </p:blipFill>
        <p:spPr>
          <a:xfrm>
            <a:off x="223220" y="295804"/>
            <a:ext cx="11742316" cy="5897060"/>
          </a:xfrm>
          <a:prstGeom prst="rect">
            <a:avLst/>
          </a:prstGeom>
        </p:spPr>
      </p:pic>
    </p:spTree>
    <p:extLst>
      <p:ext uri="{BB962C8B-B14F-4D97-AF65-F5344CB8AC3E}">
        <p14:creationId xmlns:p14="http://schemas.microsoft.com/office/powerpoint/2010/main" val="13595041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2F388-BF47-D0F9-8B69-112557CEF94B}"/>
              </a:ext>
            </a:extLst>
          </p:cNvPr>
          <p:cNvSpPr>
            <a:spLocks noGrp="1"/>
          </p:cNvSpPr>
          <p:nvPr>
            <p:ph type="title"/>
          </p:nvPr>
        </p:nvSpPr>
        <p:spPr/>
        <p:txBody>
          <a:bodyPr/>
          <a:lstStyle/>
          <a:p>
            <a:r>
              <a:rPr lang="en-IE" dirty="0"/>
              <a:t>Staking</a:t>
            </a:r>
          </a:p>
        </p:txBody>
      </p:sp>
      <p:sp>
        <p:nvSpPr>
          <p:cNvPr id="3" name="Content Placeholder 2">
            <a:extLst>
              <a:ext uri="{FF2B5EF4-FFF2-40B4-BE49-F238E27FC236}">
                <a16:creationId xmlns:a16="http://schemas.microsoft.com/office/drawing/2014/main" id="{BB0A85A9-CE5F-52B8-3A88-F341FF7483A8}"/>
              </a:ext>
            </a:extLst>
          </p:cNvPr>
          <p:cNvSpPr>
            <a:spLocks noGrp="1"/>
          </p:cNvSpPr>
          <p:nvPr>
            <p:ph idx="1"/>
          </p:nvPr>
        </p:nvSpPr>
        <p:spPr/>
        <p:txBody>
          <a:bodyPr>
            <a:normAutofit lnSpcReduction="10000"/>
          </a:bodyPr>
          <a:lstStyle/>
          <a:p>
            <a:r>
              <a:rPr lang="en-GB" dirty="0"/>
              <a:t>Generally speaking, in order to participate in staking, a person needs to have a certain amount of coins and run a staking node. By communicating with the network, the investor’s staking node helps to validate transactions and create new blocks. As a “thank you” for the contribution to the network, the investor earns a share of the block rewards.</a:t>
            </a:r>
          </a:p>
          <a:p>
            <a:endParaRPr lang="en-GB" dirty="0"/>
          </a:p>
          <a:p>
            <a:r>
              <a:rPr lang="en-GB" dirty="0"/>
              <a:t>ERC-20 liquidity token represents your staked ETH</a:t>
            </a:r>
          </a:p>
          <a:p>
            <a:endParaRPr lang="en-GB" dirty="0"/>
          </a:p>
          <a:p>
            <a:r>
              <a:rPr lang="en-GB" dirty="0">
                <a:hlinkClick r:id="rId2"/>
              </a:rPr>
              <a:t>Good resource for more on Staking</a:t>
            </a:r>
            <a:endParaRPr lang="en-IE" dirty="0"/>
          </a:p>
        </p:txBody>
      </p:sp>
    </p:spTree>
    <p:extLst>
      <p:ext uri="{BB962C8B-B14F-4D97-AF65-F5344CB8AC3E}">
        <p14:creationId xmlns:p14="http://schemas.microsoft.com/office/powerpoint/2010/main" val="25491245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D59F5-B8EC-482A-BE50-08842A9A5E80}"/>
              </a:ext>
            </a:extLst>
          </p:cNvPr>
          <p:cNvSpPr>
            <a:spLocks noGrp="1"/>
          </p:cNvSpPr>
          <p:nvPr>
            <p:ph type="title"/>
          </p:nvPr>
        </p:nvSpPr>
        <p:spPr/>
        <p:txBody>
          <a:bodyPr/>
          <a:lstStyle/>
          <a:p>
            <a:r>
              <a:rPr lang="en-GB" dirty="0"/>
              <a:t>Requirements for Staking 	</a:t>
            </a:r>
            <a:endParaRPr lang="en-IE" dirty="0"/>
          </a:p>
        </p:txBody>
      </p:sp>
      <p:sp>
        <p:nvSpPr>
          <p:cNvPr id="3" name="Content Placeholder 2">
            <a:extLst>
              <a:ext uri="{FF2B5EF4-FFF2-40B4-BE49-F238E27FC236}">
                <a16:creationId xmlns:a16="http://schemas.microsoft.com/office/drawing/2014/main" id="{9D7DA304-E520-EEBC-E389-5896031FDEEA}"/>
              </a:ext>
            </a:extLst>
          </p:cNvPr>
          <p:cNvSpPr>
            <a:spLocks noGrp="1"/>
          </p:cNvSpPr>
          <p:nvPr>
            <p:ph idx="1"/>
          </p:nvPr>
        </p:nvSpPr>
        <p:spPr/>
        <p:txBody>
          <a:bodyPr/>
          <a:lstStyle/>
          <a:p>
            <a:r>
              <a:rPr lang="en-GB" dirty="0"/>
              <a:t>Users will need a computer with enough memory space to download both Ethereum blockchains — the old and new — as a minimum requirement. Ethereum 1.0 already has roughly 900 terabytes of data and is growing at a rate of about 1 gigabyte each day.</a:t>
            </a:r>
          </a:p>
          <a:p>
            <a:endParaRPr lang="en-GB" dirty="0"/>
          </a:p>
          <a:p>
            <a:r>
              <a:rPr lang="en-GB" dirty="0"/>
              <a:t>Validators must also keep their nodes connected to the blockchain at all times. As a result, a good internet connection is a must-have. After you've installed the validator software on your computer, you'll need to send at least 32 ETH to the Ethereum staking contract address.</a:t>
            </a:r>
            <a:endParaRPr lang="en-IE" dirty="0"/>
          </a:p>
        </p:txBody>
      </p:sp>
    </p:spTree>
    <p:extLst>
      <p:ext uri="{BB962C8B-B14F-4D97-AF65-F5344CB8AC3E}">
        <p14:creationId xmlns:p14="http://schemas.microsoft.com/office/powerpoint/2010/main" val="25710731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50025-9BEB-82EF-E438-3BD1F2F1D633}"/>
              </a:ext>
            </a:extLst>
          </p:cNvPr>
          <p:cNvSpPr>
            <a:spLocks noGrp="1"/>
          </p:cNvSpPr>
          <p:nvPr>
            <p:ph type="title"/>
          </p:nvPr>
        </p:nvSpPr>
        <p:spPr/>
        <p:txBody>
          <a:bodyPr/>
          <a:lstStyle/>
          <a:p>
            <a:r>
              <a:rPr lang="en-IE" dirty="0"/>
              <a:t>Yielding</a:t>
            </a:r>
          </a:p>
        </p:txBody>
      </p:sp>
      <p:sp>
        <p:nvSpPr>
          <p:cNvPr id="3" name="Content Placeholder 2">
            <a:extLst>
              <a:ext uri="{FF2B5EF4-FFF2-40B4-BE49-F238E27FC236}">
                <a16:creationId xmlns:a16="http://schemas.microsoft.com/office/drawing/2014/main" id="{BDEC1C02-C50F-EE37-7575-8BB294251F40}"/>
              </a:ext>
            </a:extLst>
          </p:cNvPr>
          <p:cNvSpPr>
            <a:spLocks noGrp="1"/>
          </p:cNvSpPr>
          <p:nvPr>
            <p:ph idx="1"/>
          </p:nvPr>
        </p:nvSpPr>
        <p:spPr/>
        <p:txBody>
          <a:bodyPr/>
          <a:lstStyle/>
          <a:p>
            <a:r>
              <a:rPr lang="en-IE" dirty="0"/>
              <a:t>Yielding Differs from staking, in that rather than staking your crypto assets to the network. </a:t>
            </a:r>
          </a:p>
          <a:p>
            <a:r>
              <a:rPr lang="en-IE" dirty="0"/>
              <a:t>You are actually loaning out your crypto assets to other individuals in the network. </a:t>
            </a:r>
          </a:p>
          <a:p>
            <a:r>
              <a:rPr lang="en-IE" dirty="0"/>
              <a:t>As a result the “Yielder” then receives a percentage / rate for providing liquidity. </a:t>
            </a:r>
          </a:p>
          <a:p>
            <a:r>
              <a:rPr lang="en-IE" dirty="0"/>
              <a:t>The term liquidity refers to exchanging or selling hard/digital assets for fiat currency. This is a common term and not specific to Defi.</a:t>
            </a:r>
          </a:p>
        </p:txBody>
      </p:sp>
    </p:spTree>
    <p:extLst>
      <p:ext uri="{BB962C8B-B14F-4D97-AF65-F5344CB8AC3E}">
        <p14:creationId xmlns:p14="http://schemas.microsoft.com/office/powerpoint/2010/main" val="17614936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F391B-3AE6-6C5F-2C3E-5E553A787396}"/>
              </a:ext>
            </a:extLst>
          </p:cNvPr>
          <p:cNvSpPr>
            <a:spLocks noGrp="1"/>
          </p:cNvSpPr>
          <p:nvPr>
            <p:ph type="title"/>
          </p:nvPr>
        </p:nvSpPr>
        <p:spPr/>
        <p:txBody>
          <a:bodyPr/>
          <a:lstStyle/>
          <a:p>
            <a:r>
              <a:rPr lang="en-IE" dirty="0"/>
              <a:t>Swaps</a:t>
            </a:r>
          </a:p>
        </p:txBody>
      </p:sp>
      <p:sp>
        <p:nvSpPr>
          <p:cNvPr id="3" name="Content Placeholder 2">
            <a:extLst>
              <a:ext uri="{FF2B5EF4-FFF2-40B4-BE49-F238E27FC236}">
                <a16:creationId xmlns:a16="http://schemas.microsoft.com/office/drawing/2014/main" id="{2493FAAD-04B7-C82F-B193-9FAB7F574C7D}"/>
              </a:ext>
            </a:extLst>
          </p:cNvPr>
          <p:cNvSpPr>
            <a:spLocks noGrp="1"/>
          </p:cNvSpPr>
          <p:nvPr>
            <p:ph idx="1"/>
          </p:nvPr>
        </p:nvSpPr>
        <p:spPr/>
        <p:txBody>
          <a:bodyPr>
            <a:normAutofit fontScale="92500" lnSpcReduction="10000"/>
          </a:bodyPr>
          <a:lstStyle/>
          <a:p>
            <a:r>
              <a:rPr lang="en-IE" dirty="0"/>
              <a:t>Recent TX : </a:t>
            </a:r>
            <a:r>
              <a:rPr lang="en-IE" dirty="0">
                <a:hlinkClick r:id="rId2"/>
              </a:rPr>
              <a:t>https://etherscan.io/tx/0xa96beb71d48205db34a1f852edd43cd9baf9ec3f9036d4dbf6da5d69f9900e8b</a:t>
            </a:r>
            <a:r>
              <a:rPr lang="en-IE" dirty="0"/>
              <a:t> </a:t>
            </a:r>
          </a:p>
          <a:p>
            <a:endParaRPr lang="en-IE" dirty="0"/>
          </a:p>
          <a:p>
            <a:r>
              <a:rPr lang="en-IE" dirty="0"/>
              <a:t>Swapping is also a popular activity within the Defi Arena</a:t>
            </a:r>
          </a:p>
          <a:p>
            <a:r>
              <a:rPr lang="en-IE" dirty="0"/>
              <a:t>The ability to swap tokens. </a:t>
            </a:r>
          </a:p>
          <a:p>
            <a:endParaRPr lang="en-IE" dirty="0"/>
          </a:p>
          <a:p>
            <a:r>
              <a:rPr lang="en-IE" dirty="0"/>
              <a:t>Popular swap platforms: </a:t>
            </a:r>
          </a:p>
          <a:p>
            <a:r>
              <a:rPr lang="en-IE" dirty="0"/>
              <a:t>Uni Swap </a:t>
            </a:r>
          </a:p>
          <a:p>
            <a:r>
              <a:rPr lang="en-IE" dirty="0"/>
              <a:t>Sushi Swap </a:t>
            </a:r>
          </a:p>
        </p:txBody>
      </p:sp>
    </p:spTree>
    <p:extLst>
      <p:ext uri="{BB962C8B-B14F-4D97-AF65-F5344CB8AC3E}">
        <p14:creationId xmlns:p14="http://schemas.microsoft.com/office/powerpoint/2010/main" val="11557612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98D53-00E6-8026-7FDE-3FADCB4D97E6}"/>
              </a:ext>
            </a:extLst>
          </p:cNvPr>
          <p:cNvSpPr>
            <a:spLocks noGrp="1"/>
          </p:cNvSpPr>
          <p:nvPr>
            <p:ph type="title"/>
          </p:nvPr>
        </p:nvSpPr>
        <p:spPr/>
        <p:txBody>
          <a:bodyPr/>
          <a:lstStyle/>
          <a:p>
            <a:r>
              <a:rPr lang="en-IE" dirty="0"/>
              <a:t>Live Defi Trades</a:t>
            </a:r>
          </a:p>
        </p:txBody>
      </p:sp>
      <p:sp>
        <p:nvSpPr>
          <p:cNvPr id="3" name="Content Placeholder 2">
            <a:extLst>
              <a:ext uri="{FF2B5EF4-FFF2-40B4-BE49-F238E27FC236}">
                <a16:creationId xmlns:a16="http://schemas.microsoft.com/office/drawing/2014/main" id="{330E6F0C-EBAC-86FA-0F7E-F4250B34C6E4}"/>
              </a:ext>
            </a:extLst>
          </p:cNvPr>
          <p:cNvSpPr>
            <a:spLocks noGrp="1"/>
          </p:cNvSpPr>
          <p:nvPr>
            <p:ph idx="1"/>
          </p:nvPr>
        </p:nvSpPr>
        <p:spPr/>
        <p:txBody>
          <a:bodyPr/>
          <a:lstStyle/>
          <a:p>
            <a:r>
              <a:rPr lang="en-IE" dirty="0">
                <a:hlinkClick r:id="rId2"/>
              </a:rPr>
              <a:t>https://coinlobster.com/combined-defi</a:t>
            </a:r>
            <a:r>
              <a:rPr lang="en-IE" dirty="0"/>
              <a:t> </a:t>
            </a:r>
          </a:p>
          <a:p>
            <a:endParaRPr lang="en-IE" dirty="0"/>
          </a:p>
          <a:p>
            <a:r>
              <a:rPr lang="en-IE" dirty="0">
                <a:hlinkClick r:id="rId3"/>
              </a:rPr>
              <a:t>https://messari.io/screener/defi-coins</a:t>
            </a:r>
            <a:r>
              <a:rPr lang="en-IE" dirty="0"/>
              <a:t> </a:t>
            </a:r>
          </a:p>
        </p:txBody>
      </p:sp>
    </p:spTree>
    <p:extLst>
      <p:ext uri="{BB962C8B-B14F-4D97-AF65-F5344CB8AC3E}">
        <p14:creationId xmlns:p14="http://schemas.microsoft.com/office/powerpoint/2010/main" val="10893739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A2185-36A5-4944-5654-BFEA48F5BD04}"/>
              </a:ext>
            </a:extLst>
          </p:cNvPr>
          <p:cNvSpPr>
            <a:spLocks noGrp="1"/>
          </p:cNvSpPr>
          <p:nvPr>
            <p:ph type="title"/>
          </p:nvPr>
        </p:nvSpPr>
        <p:spPr/>
        <p:txBody>
          <a:bodyPr/>
          <a:lstStyle/>
          <a:p>
            <a:r>
              <a:rPr lang="en-IE" dirty="0"/>
              <a:t>Defi Platforms 	</a:t>
            </a:r>
          </a:p>
        </p:txBody>
      </p:sp>
      <p:sp>
        <p:nvSpPr>
          <p:cNvPr id="3" name="Content Placeholder 2">
            <a:extLst>
              <a:ext uri="{FF2B5EF4-FFF2-40B4-BE49-F238E27FC236}">
                <a16:creationId xmlns:a16="http://schemas.microsoft.com/office/drawing/2014/main" id="{A4AEA1C7-0337-12C8-2ED7-CD77B0C37ADF}"/>
              </a:ext>
            </a:extLst>
          </p:cNvPr>
          <p:cNvSpPr>
            <a:spLocks noGrp="1"/>
          </p:cNvSpPr>
          <p:nvPr>
            <p:ph idx="1"/>
          </p:nvPr>
        </p:nvSpPr>
        <p:spPr/>
        <p:txBody>
          <a:bodyPr/>
          <a:lstStyle/>
          <a:p>
            <a:r>
              <a:rPr lang="en-IE" dirty="0"/>
              <a:t>Good Source of Further Info on Available Defi Services </a:t>
            </a:r>
          </a:p>
          <a:p>
            <a:r>
              <a:rPr lang="en-IE" dirty="0">
                <a:hlinkClick r:id="rId2"/>
              </a:rPr>
              <a:t>https://defiprime.com/</a:t>
            </a:r>
            <a:r>
              <a:rPr lang="en-IE" dirty="0"/>
              <a:t> </a:t>
            </a:r>
          </a:p>
          <a:p>
            <a:endParaRPr lang="en-IE" dirty="0"/>
          </a:p>
          <a:p>
            <a:r>
              <a:rPr lang="en-IE" dirty="0">
                <a:hlinkClick r:id="rId3"/>
              </a:rPr>
              <a:t>https://aqru.io/</a:t>
            </a:r>
            <a:r>
              <a:rPr lang="en-IE" dirty="0"/>
              <a:t> </a:t>
            </a:r>
          </a:p>
          <a:p>
            <a:r>
              <a:rPr lang="en-IE" dirty="0">
                <a:hlinkClick r:id="rId4"/>
              </a:rPr>
              <a:t>https://www.binance.com/en</a:t>
            </a:r>
            <a:r>
              <a:rPr lang="en-IE" dirty="0"/>
              <a:t> </a:t>
            </a:r>
          </a:p>
          <a:p>
            <a:r>
              <a:rPr lang="en-IE" dirty="0">
                <a:hlinkClick r:id="rId5"/>
              </a:rPr>
              <a:t>https://www.youhodler.com/</a:t>
            </a:r>
            <a:r>
              <a:rPr lang="en-IE" dirty="0"/>
              <a:t> </a:t>
            </a:r>
          </a:p>
          <a:p>
            <a:r>
              <a:rPr lang="en-IE" dirty="0">
                <a:hlinkClick r:id="rId6"/>
              </a:rPr>
              <a:t>https://www.kraken.com/</a:t>
            </a:r>
            <a:r>
              <a:rPr lang="en-IE" dirty="0"/>
              <a:t> </a:t>
            </a:r>
          </a:p>
        </p:txBody>
      </p:sp>
    </p:spTree>
    <p:extLst>
      <p:ext uri="{BB962C8B-B14F-4D97-AF65-F5344CB8AC3E}">
        <p14:creationId xmlns:p14="http://schemas.microsoft.com/office/powerpoint/2010/main" val="25009077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341</TotalTime>
  <Words>2095</Words>
  <Application>Microsoft Office PowerPoint</Application>
  <PresentationFormat>Widescreen</PresentationFormat>
  <Paragraphs>200</Paragraphs>
  <Slides>47</Slides>
  <Notes>4</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2" baseType="lpstr">
      <vt:lpstr>Arial</vt:lpstr>
      <vt:lpstr>Calibri</vt:lpstr>
      <vt:lpstr>Calibri Light</vt:lpstr>
      <vt:lpstr>Office Theme</vt:lpstr>
      <vt:lpstr>Packager Shell Object</vt:lpstr>
      <vt:lpstr>Blockchain</vt:lpstr>
      <vt:lpstr>Evolution</vt:lpstr>
      <vt:lpstr>PowerPoint Presentation</vt:lpstr>
      <vt:lpstr>In the Beginning – And It was good</vt:lpstr>
      <vt:lpstr>PowerPoint Presentation</vt:lpstr>
      <vt:lpstr>What is Web3 </vt:lpstr>
      <vt:lpstr>Web 2.0 – Current Era - Centralization</vt:lpstr>
      <vt:lpstr>What is Web </vt:lpstr>
      <vt:lpstr>Web3</vt:lpstr>
      <vt:lpstr>PowerPoint Presentation</vt:lpstr>
      <vt:lpstr>Versus </vt:lpstr>
      <vt:lpstr>PowerPoint Presentation</vt:lpstr>
      <vt:lpstr>PowerPoint Presentation</vt:lpstr>
      <vt:lpstr>Critical Opinion – Both Side - Infancy </vt:lpstr>
      <vt:lpstr>PowerPoint Presentation</vt:lpstr>
      <vt:lpstr>Web3</vt:lpstr>
      <vt:lpstr>PowerPoint Presentation</vt:lpstr>
      <vt:lpstr>A Vision for the Future</vt:lpstr>
      <vt:lpstr>Cern </vt:lpstr>
      <vt:lpstr>Old and New</vt:lpstr>
      <vt:lpstr>Architecture</vt:lpstr>
      <vt:lpstr>More Depth</vt:lpstr>
      <vt:lpstr>Own it</vt:lpstr>
      <vt:lpstr>Backend &amp; Storage</vt:lpstr>
      <vt:lpstr>Open Zeppelin </vt:lpstr>
      <vt:lpstr>Open Zeppelin </vt:lpstr>
      <vt:lpstr>Investigation </vt:lpstr>
      <vt:lpstr>Further </vt:lpstr>
      <vt:lpstr>Sources  </vt:lpstr>
      <vt:lpstr>Web and the Image of the Future</vt:lpstr>
      <vt:lpstr>A new currency for a new identity </vt:lpstr>
      <vt:lpstr>DEFI</vt:lpstr>
      <vt:lpstr>PowerPoint Presentation</vt:lpstr>
      <vt:lpstr>Decentralization </vt:lpstr>
      <vt:lpstr>Financial Independence / Interdependence </vt:lpstr>
      <vt:lpstr>KYC / KYB / Due Diligence </vt:lpstr>
      <vt:lpstr>Passive Income</vt:lpstr>
      <vt:lpstr>So what is Defi ? </vt:lpstr>
      <vt:lpstr>PowerPoint Presentation</vt:lpstr>
      <vt:lpstr>Staking </vt:lpstr>
      <vt:lpstr>PowerPoint Presentation</vt:lpstr>
      <vt:lpstr>Staking</vt:lpstr>
      <vt:lpstr>Requirements for Staking  </vt:lpstr>
      <vt:lpstr>Yielding</vt:lpstr>
      <vt:lpstr>Swaps</vt:lpstr>
      <vt:lpstr>Live Defi Trades</vt:lpstr>
      <vt:lpstr>Defi Platforms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BlockchainAppDev</dc:title>
  <dc:creator>Rommel;SHeeney</dc:creator>
  <cp:lastModifiedBy>Michael Andrews</cp:lastModifiedBy>
  <cp:revision>73</cp:revision>
  <dcterms:created xsi:type="dcterms:W3CDTF">2022-06-20T14:15:12Z</dcterms:created>
  <dcterms:modified xsi:type="dcterms:W3CDTF">2023-10-17T07:22:51Z</dcterms:modified>
</cp:coreProperties>
</file>