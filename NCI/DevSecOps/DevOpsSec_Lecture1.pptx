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67"/>
  </p:notesMasterIdLst>
  <p:sldIdLst>
    <p:sldId id="257" r:id="rId5"/>
    <p:sldId id="321" r:id="rId6"/>
    <p:sldId id="402" r:id="rId7"/>
    <p:sldId id="266" r:id="rId8"/>
    <p:sldId id="267" r:id="rId9"/>
    <p:sldId id="268" r:id="rId10"/>
    <p:sldId id="269" r:id="rId11"/>
    <p:sldId id="270" r:id="rId12"/>
    <p:sldId id="272" r:id="rId13"/>
    <p:sldId id="273" r:id="rId14"/>
    <p:sldId id="274" r:id="rId15"/>
    <p:sldId id="278" r:id="rId16"/>
    <p:sldId id="280" r:id="rId17"/>
    <p:sldId id="372" r:id="rId18"/>
    <p:sldId id="373" r:id="rId19"/>
    <p:sldId id="374" r:id="rId20"/>
    <p:sldId id="376" r:id="rId21"/>
    <p:sldId id="377" r:id="rId22"/>
    <p:sldId id="378" r:id="rId23"/>
    <p:sldId id="379" r:id="rId24"/>
    <p:sldId id="380" r:id="rId25"/>
    <p:sldId id="281" r:id="rId26"/>
    <p:sldId id="282" r:id="rId27"/>
    <p:sldId id="283" r:id="rId28"/>
    <p:sldId id="286" r:id="rId29"/>
    <p:sldId id="287" r:id="rId30"/>
    <p:sldId id="382" r:id="rId31"/>
    <p:sldId id="383" r:id="rId32"/>
    <p:sldId id="384" r:id="rId33"/>
    <p:sldId id="293" r:id="rId34"/>
    <p:sldId id="362" r:id="rId35"/>
    <p:sldId id="294" r:id="rId36"/>
    <p:sldId id="295" r:id="rId37"/>
    <p:sldId id="296" r:id="rId38"/>
    <p:sldId id="385" r:id="rId39"/>
    <p:sldId id="300" r:id="rId40"/>
    <p:sldId id="301" r:id="rId41"/>
    <p:sldId id="302" r:id="rId42"/>
    <p:sldId id="303" r:id="rId43"/>
    <p:sldId id="304" r:id="rId44"/>
    <p:sldId id="307" r:id="rId45"/>
    <p:sldId id="308" r:id="rId46"/>
    <p:sldId id="309" r:id="rId47"/>
    <p:sldId id="310" r:id="rId48"/>
    <p:sldId id="311" r:id="rId49"/>
    <p:sldId id="312" r:id="rId50"/>
    <p:sldId id="313" r:id="rId51"/>
    <p:sldId id="314" r:id="rId52"/>
    <p:sldId id="315" r:id="rId53"/>
    <p:sldId id="318" r:id="rId54"/>
    <p:sldId id="319" r:id="rId55"/>
    <p:sldId id="389" r:id="rId56"/>
    <p:sldId id="390" r:id="rId57"/>
    <p:sldId id="391" r:id="rId58"/>
    <p:sldId id="394" r:id="rId59"/>
    <p:sldId id="395" r:id="rId60"/>
    <p:sldId id="396" r:id="rId61"/>
    <p:sldId id="397" r:id="rId62"/>
    <p:sldId id="398" r:id="rId63"/>
    <p:sldId id="399" r:id="rId64"/>
    <p:sldId id="400" r:id="rId65"/>
    <p:sldId id="401" r:id="rId66"/>
  </p:sldIdLst>
  <p:sldSz cx="11520488" cy="6480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75566B-8D85-42B5-A37F-1E3F3E5B9D16}">
          <p14:sldIdLst>
            <p14:sldId id="257"/>
            <p14:sldId id="321"/>
            <p14:sldId id="402"/>
            <p14:sldId id="266"/>
            <p14:sldId id="267"/>
            <p14:sldId id="268"/>
            <p14:sldId id="269"/>
            <p14:sldId id="270"/>
            <p14:sldId id="272"/>
            <p14:sldId id="273"/>
            <p14:sldId id="274"/>
            <p14:sldId id="278"/>
            <p14:sldId id="280"/>
            <p14:sldId id="372"/>
            <p14:sldId id="373"/>
            <p14:sldId id="374"/>
            <p14:sldId id="376"/>
            <p14:sldId id="377"/>
            <p14:sldId id="378"/>
            <p14:sldId id="379"/>
            <p14:sldId id="380"/>
            <p14:sldId id="281"/>
            <p14:sldId id="282"/>
            <p14:sldId id="283"/>
            <p14:sldId id="286"/>
            <p14:sldId id="287"/>
            <p14:sldId id="382"/>
            <p14:sldId id="383"/>
            <p14:sldId id="384"/>
            <p14:sldId id="293"/>
            <p14:sldId id="362"/>
            <p14:sldId id="294"/>
            <p14:sldId id="295"/>
            <p14:sldId id="296"/>
            <p14:sldId id="385"/>
            <p14:sldId id="300"/>
            <p14:sldId id="301"/>
            <p14:sldId id="302"/>
            <p14:sldId id="303"/>
            <p14:sldId id="304"/>
            <p14:sldId id="307"/>
            <p14:sldId id="308"/>
            <p14:sldId id="309"/>
            <p14:sldId id="310"/>
            <p14:sldId id="311"/>
            <p14:sldId id="312"/>
            <p14:sldId id="313"/>
            <p14:sldId id="314"/>
            <p14:sldId id="315"/>
            <p14:sldId id="318"/>
            <p14:sldId id="319"/>
            <p14:sldId id="389"/>
            <p14:sldId id="390"/>
            <p14:sldId id="391"/>
            <p14:sldId id="394"/>
            <p14:sldId id="395"/>
            <p14:sldId id="396"/>
            <p14:sldId id="397"/>
            <p14:sldId id="398"/>
            <p14:sldId id="399"/>
            <p14:sldId id="400"/>
            <p14:sldId id="401"/>
          </p14:sldIdLst>
        </p14:section>
      </p14:sectionLst>
    </p:ext>
    <p:ext uri="{EFAFB233-063F-42B5-8137-9DF3F51BA10A}">
      <p15:sldGuideLst xmlns:p15="http://schemas.microsoft.com/office/powerpoint/2012/main">
        <p15:guide id="1" orient="horz" pos="2041"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91" autoAdjust="0"/>
  </p:normalViewPr>
  <p:slideViewPr>
    <p:cSldViewPr snapToGrid="0" snapToObjects="1">
      <p:cViewPr varScale="1">
        <p:scale>
          <a:sx n="84" d="100"/>
          <a:sy n="84" d="100"/>
        </p:scale>
        <p:origin x="558" y="84"/>
      </p:cViewPr>
      <p:guideLst>
        <p:guide orient="horz" pos="2041"/>
        <p:guide pos="3629"/>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9130B-EF57-48DF-81F6-4DE4C18A72AD}" type="datetimeFigureOut">
              <a:rPr lang="en-US" smtClean="0"/>
              <a:t>10/8/2020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D9D91-DF88-42C3-AF2F-12A73699AB56}" type="slidenum">
              <a:rPr lang="en-US" smtClean="0"/>
              <a:t>‹#›</a:t>
            </a:fld>
            <a:endParaRPr lang="en-US"/>
          </a:p>
        </p:txBody>
      </p:sp>
    </p:spTree>
    <p:extLst>
      <p:ext uri="{BB962C8B-B14F-4D97-AF65-F5344CB8AC3E}">
        <p14:creationId xmlns:p14="http://schemas.microsoft.com/office/powerpoint/2010/main" val="314030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nfoq.com/news/2015/06/devops-definition"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puppetlabs.com/2015-devops-report"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info.puppetlabs.com/devops-guide-for-it-managers.html"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forbes.com/sites/stevedenning/2011/11/19/peggy-noonan-on-steve-jobs-and-why-big-companies-di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zone.com/articles/devops-devops-principle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en.wikipedia.org/wiki/Social_class" TargetMode="External"/><Relationship Id="rId2" Type="http://schemas.openxmlformats.org/officeDocument/2006/relationships/slide" Target="../slides/slide50.xml"/><Relationship Id="rId1" Type="http://schemas.openxmlformats.org/officeDocument/2006/relationships/notesMaster" Target="../notesMasters/notesMaster1.xml"/><Relationship Id="rId6" Type="http://schemas.openxmlformats.org/officeDocument/2006/relationships/hyperlink" Target="http://en.wikipedia.org/wiki/Early_adopters" TargetMode="External"/><Relationship Id="rId5" Type="http://schemas.openxmlformats.org/officeDocument/2006/relationships/hyperlink" Target="http://en.wikipedia.org/wiki/Opinion_leadership" TargetMode="External"/><Relationship Id="rId4" Type="http://schemas.openxmlformats.org/officeDocument/2006/relationships/hyperlink" Target="http://en.wikipedia.org/wiki/Diffusion_of_innovations#CITEREFRogers1962_5th_ed"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We are uncovering better ways of developing</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software by doing it and helping others do it.</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Through this work we have come to value:</a:t>
            </a:r>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Individuals and interactions over processes and tools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Working software over comprehensive documentation</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Customer collaboration over contract negotiation</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Responding to change over following a plan</a:t>
            </a:r>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That is, while there is value in the items on the right, we value the items on the left more.</a:t>
            </a:r>
          </a:p>
          <a:p>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4</a:t>
            </a:fld>
            <a:endParaRPr lang="en-US"/>
          </a:p>
        </p:txBody>
      </p:sp>
    </p:spTree>
    <p:extLst>
      <p:ext uri="{BB962C8B-B14F-4D97-AF65-F5344CB8AC3E}">
        <p14:creationId xmlns:p14="http://schemas.microsoft.com/office/powerpoint/2010/main" val="2255413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indent="-742950">
              <a:buFont typeface="+mj-lt"/>
              <a:buAutoNum type="arabicPeriod"/>
            </a:pPr>
            <a:r>
              <a:rPr lang="en-GB" b="0" dirty="0"/>
              <a:t>Our highest priority is to satisfy the customer through early and continuous delivery of valuable software.</a:t>
            </a:r>
          </a:p>
          <a:p>
            <a:pPr marL="742950" indent="-742950">
              <a:buFont typeface="+mj-lt"/>
              <a:buAutoNum type="arabicPeriod"/>
            </a:pPr>
            <a:r>
              <a:rPr lang="en-GB" b="0" dirty="0"/>
              <a:t>Welcome changing requirements, even late in development. Agile processes harness change for the customer's competitive advantage.</a:t>
            </a:r>
          </a:p>
          <a:p>
            <a:pPr marL="742950" indent="-742950">
              <a:buFont typeface="+mj-lt"/>
              <a:buAutoNum type="arabicPeriod"/>
            </a:pPr>
            <a:r>
              <a:rPr lang="en-GB" b="0" dirty="0"/>
              <a:t>Deliver working software frequently, from a couple of weeks to a couple of months, with a preference to the shorter timescale.</a:t>
            </a:r>
          </a:p>
          <a:p>
            <a:pPr marL="742950" indent="-742950">
              <a:buFont typeface="+mj-lt"/>
              <a:buAutoNum type="arabicPeriod"/>
            </a:pPr>
            <a:r>
              <a:rPr lang="en-GB" b="0" dirty="0"/>
              <a:t>Business people and developers must work together daily throughout the project.</a:t>
            </a:r>
          </a:p>
          <a:p>
            <a:pPr marL="742950" indent="-742950">
              <a:buFont typeface="+mj-lt"/>
              <a:buAutoNum type="arabicPeriod"/>
            </a:pPr>
            <a:r>
              <a:rPr lang="en-GB" b="0" dirty="0"/>
              <a:t>Build projects around motivated individuals. Give them the environment and support they need, and trust them to get the job done.</a:t>
            </a:r>
          </a:p>
          <a:p>
            <a:pPr marL="742950" indent="-742950">
              <a:buFont typeface="+mj-lt"/>
              <a:buAutoNum type="arabicPeriod"/>
            </a:pPr>
            <a:r>
              <a:rPr lang="en-GB" b="0" dirty="0"/>
              <a:t>The most efficient and effective method of conveying information to and within a development team is face-to-face conversation.</a:t>
            </a:r>
          </a:p>
          <a:p>
            <a:pPr marL="742950" indent="-742950">
              <a:buFont typeface="+mj-lt"/>
              <a:buAutoNum type="arabicPeriod"/>
            </a:pPr>
            <a:r>
              <a:rPr lang="en-GB" b="0" dirty="0"/>
              <a:t>Working software is the primary measure of progress.</a:t>
            </a:r>
          </a:p>
          <a:p>
            <a:pPr marL="742950" indent="-742950">
              <a:buFont typeface="+mj-lt"/>
              <a:buAutoNum type="arabicPeriod"/>
            </a:pPr>
            <a:r>
              <a:rPr lang="en-GB" b="0" dirty="0"/>
              <a:t>Agile processes promote sustainable development. The sponsors, developers, and users should be able to maintain a constant pace indefinitely.</a:t>
            </a:r>
          </a:p>
          <a:p>
            <a:pPr marL="742950" indent="-742950">
              <a:buFont typeface="+mj-lt"/>
              <a:buAutoNum type="arabicPeriod"/>
            </a:pPr>
            <a:r>
              <a:rPr lang="en-GB" b="0" dirty="0"/>
              <a:t>Continuous attention to technical excellence and good design enhances agility.</a:t>
            </a:r>
          </a:p>
          <a:p>
            <a:pPr marL="742950" indent="-742950">
              <a:buFont typeface="+mj-lt"/>
              <a:buAutoNum type="arabicPeriod"/>
            </a:pPr>
            <a:r>
              <a:rPr lang="en-GB" b="0" dirty="0"/>
              <a:t>Simplicity--the art of maximizing the amount of work not done--is essential.</a:t>
            </a:r>
          </a:p>
          <a:p>
            <a:pPr marL="742950" indent="-742950">
              <a:buFont typeface="+mj-lt"/>
              <a:buAutoNum type="arabicPeriod"/>
            </a:pPr>
            <a:r>
              <a:rPr lang="en-GB" b="0" dirty="0"/>
              <a:t>The best architectures, requirements, and designs emerge from self-organizing teams. </a:t>
            </a:r>
          </a:p>
          <a:p>
            <a:pPr marL="742950" indent="-742950">
              <a:buFont typeface="+mj-lt"/>
              <a:buAutoNum type="arabicPeriod"/>
            </a:pPr>
            <a:r>
              <a:rPr lang="en-GB" b="0" dirty="0"/>
              <a:t>At regular intervals, the team reflects on how to become more effective, then tunes and adjusts its </a:t>
            </a:r>
            <a:r>
              <a:rPr lang="en-GB" b="0" dirty="0" err="1"/>
              <a:t>behavior</a:t>
            </a:r>
            <a:r>
              <a:rPr lang="en-GB" b="0" dirty="0"/>
              <a:t> accordingly.</a:t>
            </a:r>
          </a:p>
          <a:p>
            <a:endParaRPr lang="en-US" dirty="0"/>
          </a:p>
        </p:txBody>
      </p:sp>
      <p:sp>
        <p:nvSpPr>
          <p:cNvPr id="4" name="Slide Number Placeholder 3"/>
          <p:cNvSpPr>
            <a:spLocks noGrp="1"/>
          </p:cNvSpPr>
          <p:nvPr>
            <p:ph type="sldNum" sz="quarter" idx="10"/>
          </p:nvPr>
        </p:nvSpPr>
        <p:spPr/>
        <p:txBody>
          <a:bodyPr/>
          <a:lstStyle/>
          <a:p>
            <a:fld id="{0F5D9D91-DF88-42C3-AF2F-12A73699AB56}" type="slidenum">
              <a:rPr lang="en-US" smtClean="0"/>
              <a:t>5</a:t>
            </a:fld>
            <a:endParaRPr lang="en-US"/>
          </a:p>
        </p:txBody>
      </p:sp>
    </p:spTree>
    <p:extLst>
      <p:ext uri="{BB962C8B-B14F-4D97-AF65-F5344CB8AC3E}">
        <p14:creationId xmlns:p14="http://schemas.microsoft.com/office/powerpoint/2010/main" val="3169175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Continuous Delivery of value to the customer</a:t>
            </a:r>
            <a:endParaRPr lang="en-US" dirty="0"/>
          </a:p>
        </p:txBody>
      </p:sp>
      <p:sp>
        <p:nvSpPr>
          <p:cNvPr id="4" name="Slide Number Placeholder 3"/>
          <p:cNvSpPr>
            <a:spLocks noGrp="1"/>
          </p:cNvSpPr>
          <p:nvPr>
            <p:ph type="sldNum" sz="quarter" idx="10"/>
          </p:nvPr>
        </p:nvSpPr>
        <p:spPr/>
        <p:txBody>
          <a:bodyPr/>
          <a:lstStyle/>
          <a:p>
            <a:fld id="{0F5D9D91-DF88-42C3-AF2F-12A73699AB56}" type="slidenum">
              <a:rPr lang="en-US" smtClean="0"/>
              <a:t>6</a:t>
            </a:fld>
            <a:endParaRPr lang="en-US"/>
          </a:p>
        </p:txBody>
      </p:sp>
    </p:spTree>
    <p:extLst>
      <p:ext uri="{BB962C8B-B14F-4D97-AF65-F5344CB8AC3E}">
        <p14:creationId xmlns:p14="http://schemas.microsoft.com/office/powerpoint/2010/main" val="1897274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startAt="3"/>
            </a:pPr>
            <a:r>
              <a:rPr lang="en-GB" baseline="0" dirty="0"/>
              <a:t>Agile - thinking in weeks/months; DevOps – thinking in minutes</a:t>
            </a:r>
          </a:p>
          <a:p>
            <a:pPr marL="228600" indent="-228600">
              <a:buAutoNum type="arabicPeriod" startAt="3"/>
            </a:pPr>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7</a:t>
            </a:fld>
            <a:endParaRPr lang="en-US"/>
          </a:p>
        </p:txBody>
      </p:sp>
    </p:spTree>
    <p:extLst>
      <p:ext uri="{BB962C8B-B14F-4D97-AF65-F5344CB8AC3E}">
        <p14:creationId xmlns:p14="http://schemas.microsoft.com/office/powerpoint/2010/main" val="1813621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4. No mention of Ops; DevOps extends this to break down the ops silo and have ops team members working with business people and </a:t>
            </a:r>
            <a:r>
              <a:rPr lang="en-GB" dirty="0" err="1"/>
              <a:t>devs</a:t>
            </a:r>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8</a:t>
            </a:fld>
            <a:endParaRPr lang="en-US"/>
          </a:p>
        </p:txBody>
      </p:sp>
    </p:spTree>
    <p:extLst>
      <p:ext uri="{BB962C8B-B14F-4D97-AF65-F5344CB8AC3E}">
        <p14:creationId xmlns:p14="http://schemas.microsoft.com/office/powerpoint/2010/main" val="314322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Scrum is an Agile framework.</a:t>
            </a:r>
          </a:p>
          <a:p>
            <a:endParaRPr lang="en-GB" dirty="0"/>
          </a:p>
          <a:p>
            <a:r>
              <a:rPr lang="en-GB" dirty="0"/>
              <a:t>Very clear roles too:</a:t>
            </a:r>
          </a:p>
          <a:p>
            <a:r>
              <a:rPr lang="en-GB" dirty="0"/>
              <a:t>Product Owner</a:t>
            </a:r>
          </a:p>
          <a:p>
            <a:r>
              <a:rPr lang="en-GB" dirty="0"/>
              <a:t>Scrum Master</a:t>
            </a:r>
          </a:p>
          <a:p>
            <a:r>
              <a:rPr lang="en-GB" dirty="0"/>
              <a:t>Dev Team</a:t>
            </a:r>
          </a:p>
          <a:p>
            <a:endParaRPr lang="en-GB" dirty="0"/>
          </a:p>
          <a:p>
            <a:r>
              <a:rPr lang="en-GB" dirty="0"/>
              <a:t>Certifications</a:t>
            </a:r>
          </a:p>
          <a:p>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9</a:t>
            </a:fld>
            <a:endParaRPr lang="en-US"/>
          </a:p>
        </p:txBody>
      </p:sp>
    </p:spTree>
    <p:extLst>
      <p:ext uri="{BB962C8B-B14F-4D97-AF65-F5344CB8AC3E}">
        <p14:creationId xmlns:p14="http://schemas.microsoft.com/office/powerpoint/2010/main" val="104901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Agile software development</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a:t>2007 – Patrick Dubois, </a:t>
            </a:r>
            <a:r>
              <a:rPr lang="en-GB" baseline="0" dirty="0"/>
              <a:t>Consultant in Belgium, wanted to know about all areas of the </a:t>
            </a:r>
            <a:r>
              <a:rPr lang="en-GB" baseline="0" dirty="0" err="1"/>
              <a:t>sw</a:t>
            </a:r>
            <a:r>
              <a:rPr lang="en-GB" baseline="0" dirty="0"/>
              <a:t> dev lifecycle; </a:t>
            </a:r>
            <a:r>
              <a:rPr lang="en-GB" dirty="0"/>
              <a:t>working on project to upgrade data </a:t>
            </a:r>
            <a:r>
              <a:rPr lang="en-GB" dirty="0" err="1"/>
              <a:t>center</a:t>
            </a:r>
            <a:r>
              <a:rPr lang="en-GB" dirty="0"/>
              <a:t> = Dev very agile, Ops very structured</a:t>
            </a:r>
          </a:p>
          <a:p>
            <a:r>
              <a:rPr lang="en-GB" dirty="0"/>
              <a:t>2007 - posts about Operations being a competitive advantage * </a:t>
            </a:r>
          </a:p>
          <a:p>
            <a:r>
              <a:rPr lang="en-GB" dirty="0"/>
              <a:t>2008 – Agile Conf – Andrew Shafer BOF for “Agile Infrastructure” </a:t>
            </a:r>
            <a:r>
              <a:rPr lang="en-GB" dirty="0">
                <a:sym typeface="Wingdings" panose="05000000000000000000" pitchFamily="2" charset="2"/>
              </a:rPr>
              <a:t> </a:t>
            </a:r>
            <a:r>
              <a:rPr lang="en-GB" dirty="0"/>
              <a:t>Agile System Administration Google Group - bridge between dev &amp; sys admin</a:t>
            </a:r>
          </a:p>
          <a:p>
            <a:r>
              <a:rPr lang="en-GB" dirty="0"/>
              <a:t>Velocity 2009 – “10+ Deploys Per Day: Dev and Ops Cooperation” by John </a:t>
            </a:r>
            <a:r>
              <a:rPr lang="en-GB" dirty="0" err="1"/>
              <a:t>Allspaw</a:t>
            </a:r>
            <a:r>
              <a:rPr lang="en-GB" dirty="0"/>
              <a:t> and Paul Hammond, Flicker *</a:t>
            </a:r>
            <a:endParaRPr lang="en-US" dirty="0"/>
          </a:p>
          <a:p>
            <a:r>
              <a:rPr lang="en-GB" dirty="0"/>
              <a:t>Oct 2009 – Patrick Dubois started </a:t>
            </a:r>
            <a:r>
              <a:rPr lang="en-GB" dirty="0" err="1"/>
              <a:t>DevOpsDays</a:t>
            </a:r>
            <a:r>
              <a:rPr lang="en-GB" dirty="0"/>
              <a:t> in Belgium for </a:t>
            </a:r>
            <a:r>
              <a:rPr lang="en-GB" dirty="0" err="1"/>
              <a:t>devs</a:t>
            </a:r>
            <a:r>
              <a:rPr lang="en-GB" dirty="0"/>
              <a:t> and sys </a:t>
            </a:r>
            <a:r>
              <a:rPr lang="en-GB" dirty="0" err="1"/>
              <a:t>admins</a:t>
            </a:r>
            <a:r>
              <a:rPr lang="en-GB" dirty="0"/>
              <a:t> </a:t>
            </a:r>
            <a:r>
              <a:rPr lang="en-GB" dirty="0">
                <a:sym typeface="Wingdings" panose="05000000000000000000" pitchFamily="2" charset="2"/>
              </a:rPr>
              <a:t> </a:t>
            </a:r>
            <a:r>
              <a:rPr lang="en-GB" dirty="0"/>
              <a:t>#</a:t>
            </a:r>
            <a:r>
              <a:rPr lang="en-GB" dirty="0" err="1"/>
              <a:t>DevOps</a:t>
            </a:r>
            <a:r>
              <a:rPr lang="en-GB" dirty="0"/>
              <a:t> on twitter</a:t>
            </a:r>
          </a:p>
          <a:p>
            <a:r>
              <a:rPr lang="en-GB" dirty="0"/>
              <a:t>2010 – Continuous Delivery book published by </a:t>
            </a:r>
            <a:r>
              <a:rPr lang="en-GB" dirty="0" err="1"/>
              <a:t>Jez</a:t>
            </a:r>
            <a:r>
              <a:rPr lang="en-GB" dirty="0"/>
              <a:t> Humble and Dave Farley</a:t>
            </a:r>
          </a:p>
          <a:p>
            <a:r>
              <a:rPr lang="en-GB" dirty="0"/>
              <a:t>2010/11 – Tools like Chef, Puppet, </a:t>
            </a:r>
            <a:r>
              <a:rPr lang="en-GB" dirty="0" err="1"/>
              <a:t>Logstach</a:t>
            </a:r>
            <a:r>
              <a:rPr lang="en-GB" dirty="0"/>
              <a:t>, Vagrant, </a:t>
            </a:r>
            <a:r>
              <a:rPr lang="en-GB" dirty="0" err="1"/>
              <a:t>SaltStack</a:t>
            </a:r>
            <a:r>
              <a:rPr lang="en-GB" dirty="0"/>
              <a:t>, Hudson, etc.</a:t>
            </a:r>
          </a:p>
          <a:p>
            <a:r>
              <a:rPr lang="en-GB" dirty="0"/>
              <a:t>2011 – Gartner and Vendors started picking up on it</a:t>
            </a:r>
          </a:p>
          <a:p>
            <a:r>
              <a:rPr lang="en-GB" dirty="0"/>
              <a:t>2013 – The Phoenix Project by Gene Kim, Kevin Behr, George </a:t>
            </a:r>
            <a:r>
              <a:rPr lang="en-GB" dirty="0" err="1"/>
              <a:t>Spafford</a:t>
            </a:r>
            <a:endParaRPr lang="en-GB" dirty="0"/>
          </a:p>
          <a:p>
            <a:r>
              <a:rPr lang="en-GB" dirty="0"/>
              <a:t>Practices:  Lean, CI/CD * , Infrastructure as code **, </a:t>
            </a:r>
            <a:r>
              <a:rPr lang="en-GB" sz="1400" dirty="0"/>
              <a:t>Availability of cloud and platform as a service (</a:t>
            </a:r>
            <a:r>
              <a:rPr lang="en-GB" sz="1400" dirty="0" err="1"/>
              <a:t>PaaS</a:t>
            </a:r>
            <a:r>
              <a:rPr lang="en-GB" sz="1400" dirty="0"/>
              <a:t>) technologies ** </a:t>
            </a:r>
          </a:p>
          <a:p>
            <a:endParaRPr lang="en-GB" dirty="0"/>
          </a:p>
          <a:p>
            <a:endParaRPr lang="en-GB" dirty="0"/>
          </a:p>
          <a:p>
            <a:endParaRPr lang="en-GB" dirty="0"/>
          </a:p>
          <a:p>
            <a:r>
              <a:rPr lang="en-GB" dirty="0"/>
              <a:t>Rhythm of agile dev; </a:t>
            </a:r>
            <a:r>
              <a:rPr lang="en-GB" dirty="0" err="1"/>
              <a:t>firefighting</a:t>
            </a:r>
            <a:r>
              <a:rPr lang="en-GB" dirty="0"/>
              <a:t> and unpredictability of traditional</a:t>
            </a:r>
            <a:r>
              <a:rPr lang="en-GB" baseline="0" dirty="0"/>
              <a:t> </a:t>
            </a:r>
            <a:r>
              <a:rPr lang="en-GB" baseline="0" dirty="0" err="1"/>
              <a:t>opps</a:t>
            </a:r>
            <a:endParaRPr lang="en-GB" baseline="0" dirty="0"/>
          </a:p>
          <a:p>
            <a:endParaRPr lang="en-GB" baseline="0" dirty="0"/>
          </a:p>
          <a:p>
            <a:r>
              <a:rPr lang="en-GB" baseline="0" dirty="0"/>
              <a:t>Competitive advantage, especially for </a:t>
            </a:r>
            <a:r>
              <a:rPr lang="en-GB" baseline="0" dirty="0" err="1"/>
              <a:t>startups</a:t>
            </a:r>
            <a:endParaRPr lang="en-GB" baseline="0" dirty="0"/>
          </a:p>
          <a:p>
            <a:r>
              <a:rPr lang="en-GB" dirty="0"/>
              <a:t>2010 – </a:t>
            </a:r>
            <a:r>
              <a:rPr lang="en-GB" dirty="0" err="1"/>
              <a:t>DevOps</a:t>
            </a:r>
            <a:r>
              <a:rPr lang="en-GB" dirty="0"/>
              <a:t> Days, Sydney (Lindsay </a:t>
            </a:r>
            <a:r>
              <a:rPr lang="en-GB" dirty="0" err="1"/>
              <a:t>Holmwood</a:t>
            </a:r>
            <a:r>
              <a:rPr lang="en-GB" dirty="0"/>
              <a:t>)</a:t>
            </a:r>
          </a:p>
          <a:p>
            <a:r>
              <a:rPr lang="en-GB" dirty="0"/>
              <a:t>2010 – </a:t>
            </a:r>
            <a:r>
              <a:rPr lang="en-GB" dirty="0" err="1"/>
              <a:t>DevOps</a:t>
            </a:r>
            <a:r>
              <a:rPr lang="en-GB" dirty="0"/>
              <a:t> Days, Mountain View, CA (Damon Edwards, Andrew Shafer, John Willis)</a:t>
            </a:r>
          </a:p>
          <a:p>
            <a:r>
              <a:rPr lang="en-GB" dirty="0"/>
              <a:t>98 to date</a:t>
            </a:r>
            <a:r>
              <a:rPr lang="en-GB" baseline="0" dirty="0"/>
              <a:t> across the world</a:t>
            </a:r>
            <a:endParaRPr lang="en-GB" dirty="0"/>
          </a:p>
          <a:p>
            <a:endParaRPr lang="en-GB" dirty="0"/>
          </a:p>
          <a:p>
            <a:r>
              <a:rPr lang="en-GB" dirty="0"/>
              <a:t>2007 – 2010 - Eric Reis blogged about lessons learned in his </a:t>
            </a:r>
            <a:r>
              <a:rPr lang="en-GB" dirty="0" err="1"/>
              <a:t>startup</a:t>
            </a:r>
            <a:endParaRPr lang="en-GB" dirty="0"/>
          </a:p>
          <a:p>
            <a:endParaRPr lang="en-GB" dirty="0"/>
          </a:p>
          <a:p>
            <a:r>
              <a:rPr lang="en-GB" baseline="0" dirty="0"/>
              <a:t>http://www.information-age.com/devops-will-become-mainstream-among-global-2000-2016-gartner-123459119/</a:t>
            </a:r>
          </a:p>
          <a:p>
            <a:r>
              <a:rPr lang="en-US" sz="1200" b="0" i="0" kern="1200" dirty="0">
                <a:solidFill>
                  <a:schemeClr val="tx1"/>
                </a:solidFill>
                <a:latin typeface="+mn-lt"/>
                <a:ea typeface="+mn-ea"/>
                <a:cs typeface="+mn-cs"/>
              </a:rPr>
              <a:t>By 2016, </a:t>
            </a:r>
            <a:r>
              <a:rPr lang="en-US" sz="1200" b="0" i="0" kern="1200" dirty="0" err="1">
                <a:solidFill>
                  <a:schemeClr val="tx1"/>
                </a:solidFill>
                <a:latin typeface="+mn-lt"/>
                <a:ea typeface="+mn-ea"/>
                <a:cs typeface="+mn-cs"/>
              </a:rPr>
              <a:t>DevOps</a:t>
            </a:r>
            <a:r>
              <a:rPr lang="en-US" sz="1200" b="0" i="0" kern="1200" dirty="0">
                <a:solidFill>
                  <a:schemeClr val="tx1"/>
                </a:solidFill>
                <a:latin typeface="+mn-lt"/>
                <a:ea typeface="+mn-ea"/>
                <a:cs typeface="+mn-cs"/>
              </a:rPr>
              <a:t> will evolve from a niche strategy employed by large cloud providers to a mainstream strategy employed by 25% of Global 2000 </a:t>
            </a:r>
            <a:r>
              <a:rPr lang="en-US" sz="1200" b="0" i="0" kern="1200" dirty="0" err="1">
                <a:solidFill>
                  <a:schemeClr val="tx1"/>
                </a:solidFill>
                <a:latin typeface="+mn-lt"/>
                <a:ea typeface="+mn-ea"/>
                <a:cs typeface="+mn-cs"/>
              </a:rPr>
              <a:t>organisations</a:t>
            </a:r>
            <a:r>
              <a:rPr lang="en-US" sz="1200" b="0" i="0" kern="1200" dirty="0">
                <a:solidFill>
                  <a:schemeClr val="tx1"/>
                </a:solidFill>
                <a:latin typeface="+mn-lt"/>
                <a:ea typeface="+mn-ea"/>
                <a:cs typeface="+mn-cs"/>
              </a:rPr>
              <a:t>, analyst firm Gartner has predicted.</a:t>
            </a:r>
          </a:p>
          <a:p>
            <a:endParaRPr lang="en-US" sz="1200" b="0" i="0" kern="1200" baseline="0" dirty="0">
              <a:solidFill>
                <a:schemeClr val="tx1"/>
              </a:solidFill>
              <a:latin typeface="+mn-lt"/>
              <a:ea typeface="+mn-ea"/>
              <a:cs typeface="+mn-cs"/>
            </a:endParaRPr>
          </a:p>
          <a:p>
            <a:r>
              <a:rPr lang="en-US" sz="1200" b="0" i="0" kern="1200" dirty="0">
                <a:solidFill>
                  <a:schemeClr val="tx1"/>
                </a:solidFill>
                <a:latin typeface="+mn-lt"/>
                <a:ea typeface="+mn-ea"/>
                <a:cs typeface="+mn-cs"/>
              </a:rPr>
              <a:t>Although </a:t>
            </a:r>
            <a:r>
              <a:rPr lang="en-US" sz="1200" b="0" i="0" kern="1200" dirty="0" err="1">
                <a:solidFill>
                  <a:schemeClr val="tx1"/>
                </a:solidFill>
                <a:latin typeface="+mn-lt"/>
                <a:ea typeface="+mn-ea"/>
                <a:cs typeface="+mn-cs"/>
              </a:rPr>
              <a:t>DevOps</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emphasises</a:t>
            </a:r>
            <a:r>
              <a:rPr lang="en-US" sz="1200" b="0" i="0" kern="1200" dirty="0">
                <a:solidFill>
                  <a:schemeClr val="tx1"/>
                </a:solidFill>
                <a:latin typeface="+mn-lt"/>
                <a:ea typeface="+mn-ea"/>
                <a:cs typeface="+mn-cs"/>
              </a:rPr>
              <a:t> people and culture over tools and processes, implementation </a:t>
            </a:r>
            <a:r>
              <a:rPr lang="en-US" sz="1200" b="0" i="0" kern="1200" dirty="0" err="1">
                <a:solidFill>
                  <a:schemeClr val="tx1"/>
                </a:solidFill>
                <a:latin typeface="+mn-lt"/>
                <a:ea typeface="+mn-ea"/>
                <a:cs typeface="+mn-cs"/>
              </a:rPr>
              <a:t>utilises</a:t>
            </a:r>
            <a:r>
              <a:rPr lang="en-US" sz="1200" b="0" i="0" kern="1200" dirty="0">
                <a:solidFill>
                  <a:schemeClr val="tx1"/>
                </a:solidFill>
                <a:latin typeface="+mn-lt"/>
                <a:ea typeface="+mn-ea"/>
                <a:cs typeface="+mn-cs"/>
              </a:rPr>
              <a:t> technology. As a result, Gartner expects the total for </a:t>
            </a:r>
            <a:r>
              <a:rPr lang="en-US" sz="1200" b="0" i="0" kern="1200" dirty="0" err="1">
                <a:solidFill>
                  <a:schemeClr val="tx1"/>
                </a:solidFill>
                <a:latin typeface="+mn-lt"/>
                <a:ea typeface="+mn-ea"/>
                <a:cs typeface="+mn-cs"/>
              </a:rPr>
              <a:t>DevOps</a:t>
            </a:r>
            <a:r>
              <a:rPr lang="en-US" sz="1200" b="0" i="0" kern="1200" dirty="0">
                <a:solidFill>
                  <a:schemeClr val="tx1"/>
                </a:solidFill>
                <a:latin typeface="+mn-lt"/>
                <a:ea typeface="+mn-ea"/>
                <a:cs typeface="+mn-cs"/>
              </a:rPr>
              <a:t> tool sets to reach $2.3 billion in 2015, up 21.1% from $1.9 billion in 2014.</a:t>
            </a:r>
          </a:p>
          <a:p>
            <a:r>
              <a:rPr lang="en-US" sz="1200" b="0" i="0" kern="1200" dirty="0">
                <a:solidFill>
                  <a:schemeClr val="tx1"/>
                </a:solidFill>
                <a:latin typeface="+mn-lt"/>
                <a:ea typeface="+mn-ea"/>
                <a:cs typeface="+mn-cs"/>
              </a:rPr>
              <a:t>Gartner said that rather than being a market per se, </a:t>
            </a:r>
            <a:r>
              <a:rPr lang="en-US" sz="1200" b="0" i="0" kern="1200" dirty="0" err="1">
                <a:solidFill>
                  <a:schemeClr val="tx1"/>
                </a:solidFill>
                <a:latin typeface="+mn-lt"/>
                <a:ea typeface="+mn-ea"/>
                <a:cs typeface="+mn-cs"/>
              </a:rPr>
              <a:t>DevOps</a:t>
            </a:r>
            <a:r>
              <a:rPr lang="en-US" sz="1200" b="0" i="0" kern="1200" dirty="0">
                <a:solidFill>
                  <a:schemeClr val="tx1"/>
                </a:solidFill>
                <a:latin typeface="+mn-lt"/>
                <a:ea typeface="+mn-ea"/>
                <a:cs typeface="+mn-cs"/>
              </a:rPr>
              <a:t> is a philosophy; a cultural shift that merges operations with development and demands a linked tool chain of technologies to facilitate collaborative change.</a:t>
            </a:r>
          </a:p>
          <a:p>
            <a:endParaRPr lang="en-GB" baseline="0" dirty="0"/>
          </a:p>
          <a:p>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12</a:t>
            </a:fld>
            <a:endParaRPr lang="en-US"/>
          </a:p>
        </p:txBody>
      </p:sp>
    </p:spTree>
    <p:extLst>
      <p:ext uri="{BB962C8B-B14F-4D97-AF65-F5344CB8AC3E}">
        <p14:creationId xmlns:p14="http://schemas.microsoft.com/office/powerpoint/2010/main" val="2383087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http://www.devopsdigest.com/17-ways-to-define-devops-4 </a:t>
            </a:r>
          </a:p>
          <a:p>
            <a:endParaRPr lang="en-US" dirty="0"/>
          </a:p>
          <a:p>
            <a:r>
              <a:rPr lang="en-US" dirty="0"/>
              <a:t>No agreed definition</a:t>
            </a:r>
          </a:p>
          <a:p>
            <a:r>
              <a:rPr lang="en-US" dirty="0"/>
              <a:t>Word</a:t>
            </a:r>
            <a:r>
              <a:rPr lang="en-US" baseline="0" dirty="0"/>
              <a:t> itself is a combination of Development and Operations</a:t>
            </a:r>
          </a:p>
          <a:p>
            <a:endParaRPr lang="en-US" baseline="0" dirty="0"/>
          </a:p>
          <a:p>
            <a:r>
              <a:rPr lang="en-US" baseline="0" dirty="0"/>
              <a:t>That’s not what is important</a:t>
            </a:r>
          </a:p>
        </p:txBody>
      </p:sp>
      <p:sp>
        <p:nvSpPr>
          <p:cNvPr id="4" name="Slide Number Placeholder 3"/>
          <p:cNvSpPr>
            <a:spLocks noGrp="1"/>
          </p:cNvSpPr>
          <p:nvPr>
            <p:ph type="sldNum" sz="quarter" idx="10"/>
          </p:nvPr>
        </p:nvSpPr>
        <p:spPr/>
        <p:txBody>
          <a:bodyPr/>
          <a:lstStyle/>
          <a:p>
            <a:fld id="{E00B8B14-0DA4-4938-B140-950D7CC83499}" type="slidenum">
              <a:rPr lang="en-US" smtClean="0"/>
              <a:pPr/>
              <a:t>13</a:t>
            </a:fld>
            <a:endParaRPr lang="en-US"/>
          </a:p>
        </p:txBody>
      </p:sp>
    </p:spTree>
    <p:extLst>
      <p:ext uri="{BB962C8B-B14F-4D97-AF65-F5344CB8AC3E}">
        <p14:creationId xmlns:p14="http://schemas.microsoft.com/office/powerpoint/2010/main" val="1452355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0F5D9D91-DF88-42C3-AF2F-12A73699AB56}" type="slidenum">
              <a:rPr lang="en-US" smtClean="0"/>
              <a:t>20</a:t>
            </a:fld>
            <a:endParaRPr lang="en-US"/>
          </a:p>
        </p:txBody>
      </p:sp>
    </p:spTree>
    <p:extLst>
      <p:ext uri="{BB962C8B-B14F-4D97-AF65-F5344CB8AC3E}">
        <p14:creationId xmlns:p14="http://schemas.microsoft.com/office/powerpoint/2010/main" val="632661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While everyone supplies slightly different words, the same working understanding of DevOps is nearly universal. Analysts, authors, industry, and community leaders all agree. The ideas are big and mutually supportive. In short: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https://www.infoq.com/news/2015/06/devops-definition</a:t>
            </a:r>
            <a:r>
              <a:rPr lang="en-US" dirty="0"/>
              <a:t> </a:t>
            </a:r>
          </a:p>
          <a:p>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22</a:t>
            </a:fld>
            <a:endParaRPr lang="en-US"/>
          </a:p>
        </p:txBody>
      </p:sp>
    </p:spTree>
    <p:extLst>
      <p:ext uri="{BB962C8B-B14F-4D97-AF65-F5344CB8AC3E}">
        <p14:creationId xmlns:p14="http://schemas.microsoft.com/office/powerpoint/2010/main" val="4288786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Damon Edwards and John Willis described DevOps in 2010 in the first US based </a:t>
            </a:r>
            <a:r>
              <a:rPr lang="en-GB" sz="1200" b="0" i="0" kern="1200" dirty="0" err="1">
                <a:solidFill>
                  <a:schemeClr val="tx1"/>
                </a:solidFill>
                <a:effectLst/>
                <a:latin typeface="+mn-lt"/>
                <a:ea typeface="+mn-ea"/>
                <a:cs typeface="+mn-cs"/>
              </a:rPr>
              <a:t>DevOpsDays</a:t>
            </a:r>
            <a:r>
              <a:rPr lang="en-GB" sz="1200" b="0" i="0" kern="1200" dirty="0">
                <a:solidFill>
                  <a:schemeClr val="tx1"/>
                </a:solidFill>
                <a:effectLst/>
                <a:latin typeface="+mn-lt"/>
                <a:ea typeface="+mn-ea"/>
                <a:cs typeface="+mn-cs"/>
              </a:rPr>
              <a:t> in Mountain View, CA</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http://devopsdictionary.com/wiki/CAMS</a:t>
            </a:r>
          </a:p>
          <a:p>
            <a:pPr rtl="0"/>
            <a:r>
              <a:rPr lang="en-US" sz="1200" b="1" kern="1200" dirty="0">
                <a:solidFill>
                  <a:schemeClr val="tx1"/>
                </a:solidFill>
                <a:effectLst/>
                <a:latin typeface="+mn-lt"/>
                <a:ea typeface="+mn-ea"/>
                <a:cs typeface="+mn-cs"/>
              </a:rPr>
              <a:t>Culture</a:t>
            </a:r>
          </a:p>
          <a:p>
            <a:pPr rtl="0"/>
            <a:r>
              <a:rPr lang="en-US" sz="1200" kern="1200" dirty="0">
                <a:solidFill>
                  <a:schemeClr val="tx1"/>
                </a:solidFill>
                <a:effectLst/>
                <a:latin typeface="+mn-lt"/>
                <a:ea typeface="+mn-ea"/>
                <a:cs typeface="+mn-cs"/>
              </a:rPr>
              <a:t>DevOps is mostly about breaking down barriers between teams. An enormous amount of time is wasted with tickets sitting in queues, or individuals writing handoff documentation for the person sitting right next to them. In pathological organizations it is unsafe to ask other people questions or to look for help outside of official channels. In healthy organizations, such behavior is rewarded and supported with inquiry into why existing processes fail. Fostering a safe environment for innovation and productivity is a key challenge for leadership and directly opposes our tribal managerial instincts. </a:t>
            </a:r>
          </a:p>
          <a:p>
            <a:pPr rtl="0"/>
            <a:r>
              <a:rPr lang="en-US" sz="1200" b="1" kern="1200" dirty="0">
                <a:solidFill>
                  <a:schemeClr val="tx1"/>
                </a:solidFill>
                <a:effectLst/>
                <a:latin typeface="+mn-lt"/>
                <a:ea typeface="+mn-ea"/>
                <a:cs typeface="+mn-cs"/>
              </a:rPr>
              <a:t>Automation</a:t>
            </a:r>
          </a:p>
          <a:p>
            <a:pPr rtl="0"/>
            <a:r>
              <a:rPr lang="en-US" sz="1200" kern="1200" dirty="0">
                <a:solidFill>
                  <a:schemeClr val="tx1"/>
                </a:solidFill>
                <a:effectLst/>
                <a:latin typeface="+mn-lt"/>
                <a:ea typeface="+mn-ea"/>
                <a:cs typeface="+mn-cs"/>
              </a:rPr>
              <a:t>Perhaps the most visible aspect of DevOps. Many people focus on the productivity gains (output per worker per hour) as the main reason to adopt DevOps. But automation is used not just to save time, but also prevent defects, create consistency, and enable self-service. </a:t>
            </a:r>
          </a:p>
          <a:p>
            <a:pPr rtl="0"/>
            <a:r>
              <a:rPr lang="en-US" sz="1200" b="1" kern="1200" dirty="0">
                <a:solidFill>
                  <a:schemeClr val="tx1"/>
                </a:solidFill>
                <a:effectLst/>
                <a:latin typeface="+mn-lt"/>
                <a:ea typeface="+mn-ea"/>
                <a:cs typeface="+mn-cs"/>
              </a:rPr>
              <a:t>Measurement</a:t>
            </a:r>
          </a:p>
          <a:p>
            <a:pPr rtl="0"/>
            <a:r>
              <a:rPr lang="en-US" sz="1200" kern="1200" dirty="0">
                <a:solidFill>
                  <a:schemeClr val="tx1"/>
                </a:solidFill>
                <a:effectLst/>
                <a:latin typeface="+mn-lt"/>
                <a:ea typeface="+mn-ea"/>
                <a:cs typeface="+mn-cs"/>
              </a:rPr>
              <a:t>How can you have continuous improvement without the ability to measure improvement? How do you know if an automation task is worthwhile? Basing decisions on data, rather than instinct, leads to an objective, blameless path of improvement. Data should be transparent, accessible to all, meaningful, and able to be visualized in an ad hoc manner. </a:t>
            </a:r>
          </a:p>
          <a:p>
            <a:pPr rtl="0"/>
            <a:r>
              <a:rPr lang="en-US" sz="1200" b="1" kern="1200" dirty="0">
                <a:solidFill>
                  <a:schemeClr val="tx1"/>
                </a:solidFill>
                <a:effectLst/>
                <a:latin typeface="+mn-lt"/>
                <a:ea typeface="+mn-ea"/>
                <a:cs typeface="+mn-cs"/>
              </a:rPr>
              <a:t>Sharing</a:t>
            </a:r>
          </a:p>
          <a:p>
            <a:pPr rtl="0"/>
            <a:r>
              <a:rPr lang="en-US" sz="1200" kern="1200" dirty="0">
                <a:solidFill>
                  <a:schemeClr val="tx1"/>
                </a:solidFill>
                <a:effectLst/>
                <a:latin typeface="+mn-lt"/>
                <a:ea typeface="+mn-ea"/>
                <a:cs typeface="+mn-cs"/>
              </a:rPr>
              <a:t>Key the success of DevOps at any organization is sharing the tools, discoveries, and lessons. By finding people with similar needs across the organization, new opportunities to collaborate can be discovered, duplicate work can be eliminated, and a powerful sense of engagement can be created among the staff. Outside the organization, sharing tools and code with people in the community helps get new features implemented in open source software quickly. Conference participation leaves staff feeling energized and informed about new ways to innovate. </a:t>
            </a:r>
          </a:p>
          <a:p>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https://www.infoq.com/news/2015/06/devops-definition</a:t>
            </a:r>
          </a:p>
          <a:p>
            <a:r>
              <a:rPr lang="en-GB" sz="1200" b="1" i="0" kern="1200" dirty="0">
                <a:solidFill>
                  <a:schemeClr val="tx1"/>
                </a:solidFill>
                <a:effectLst/>
                <a:latin typeface="+mn-lt"/>
                <a:ea typeface="+mn-ea"/>
                <a:cs typeface="+mn-cs"/>
              </a:rPr>
              <a:t>Culture</a:t>
            </a:r>
            <a:r>
              <a:rPr lang="en-GB" sz="1200" b="0" i="0" kern="1200" dirty="0">
                <a:solidFill>
                  <a:schemeClr val="tx1"/>
                </a:solidFill>
                <a:effectLst/>
                <a:latin typeface="+mn-lt"/>
                <a:ea typeface="+mn-ea"/>
                <a:cs typeface="+mn-cs"/>
              </a:rPr>
              <a:t> – Own the change to drive collaboration and communication</a:t>
            </a:r>
          </a:p>
          <a:p>
            <a:r>
              <a:rPr lang="en-GB" sz="1200" b="1" i="0" kern="1200" dirty="0">
                <a:solidFill>
                  <a:schemeClr val="tx1"/>
                </a:solidFill>
                <a:effectLst/>
                <a:latin typeface="+mn-lt"/>
                <a:ea typeface="+mn-ea"/>
                <a:cs typeface="+mn-cs"/>
              </a:rPr>
              <a:t>Automation</a:t>
            </a:r>
            <a:r>
              <a:rPr lang="en-GB" sz="1200" b="0" i="0" kern="1200" dirty="0">
                <a:solidFill>
                  <a:schemeClr val="tx1"/>
                </a:solidFill>
                <a:effectLst/>
                <a:latin typeface="+mn-lt"/>
                <a:ea typeface="+mn-ea"/>
                <a:cs typeface="+mn-cs"/>
              </a:rPr>
              <a:t> – Take manual steps out of your value chain</a:t>
            </a:r>
          </a:p>
          <a:p>
            <a:r>
              <a:rPr lang="en-GB" sz="1200" b="1" i="0" kern="1200" dirty="0">
                <a:solidFill>
                  <a:schemeClr val="tx1"/>
                </a:solidFill>
                <a:effectLst/>
                <a:latin typeface="+mn-lt"/>
                <a:ea typeface="+mn-ea"/>
                <a:cs typeface="+mn-cs"/>
              </a:rPr>
              <a:t>Lean</a:t>
            </a:r>
            <a:r>
              <a:rPr lang="en-GB" sz="1200" b="0" i="0" kern="1200" dirty="0">
                <a:solidFill>
                  <a:schemeClr val="tx1"/>
                </a:solidFill>
                <a:effectLst/>
                <a:latin typeface="+mn-lt"/>
                <a:ea typeface="+mn-ea"/>
                <a:cs typeface="+mn-cs"/>
              </a:rPr>
              <a:t> – Use lean principles to enable higher cycle frequency</a:t>
            </a:r>
          </a:p>
          <a:p>
            <a:r>
              <a:rPr lang="en-GB" sz="1200" b="1" i="0" kern="1200" dirty="0">
                <a:solidFill>
                  <a:schemeClr val="tx1"/>
                </a:solidFill>
                <a:effectLst/>
                <a:latin typeface="+mn-lt"/>
                <a:ea typeface="+mn-ea"/>
                <a:cs typeface="+mn-cs"/>
              </a:rPr>
              <a:t>Metrics</a:t>
            </a:r>
            <a:r>
              <a:rPr lang="en-GB" sz="1200" b="0" i="0" kern="1200" dirty="0">
                <a:solidFill>
                  <a:schemeClr val="tx1"/>
                </a:solidFill>
                <a:effectLst/>
                <a:latin typeface="+mn-lt"/>
                <a:ea typeface="+mn-ea"/>
                <a:cs typeface="+mn-cs"/>
              </a:rPr>
              <a:t> – Measure everything and use data to refine cycles</a:t>
            </a:r>
          </a:p>
          <a:p>
            <a:r>
              <a:rPr lang="en-GB" sz="1200" b="1" i="0" kern="1200" dirty="0">
                <a:solidFill>
                  <a:schemeClr val="tx1"/>
                </a:solidFill>
                <a:effectLst/>
                <a:latin typeface="+mn-lt"/>
                <a:ea typeface="+mn-ea"/>
                <a:cs typeface="+mn-cs"/>
              </a:rPr>
              <a:t>Sharing</a:t>
            </a:r>
            <a:r>
              <a:rPr lang="en-GB" sz="1200" b="0" i="0" kern="1200" dirty="0">
                <a:solidFill>
                  <a:schemeClr val="tx1"/>
                </a:solidFill>
                <a:effectLst/>
                <a:latin typeface="+mn-lt"/>
                <a:ea typeface="+mn-ea"/>
                <a:cs typeface="+mn-cs"/>
              </a:rPr>
              <a:t> – Share experiences, successful or not, to enable others to learn</a:t>
            </a:r>
          </a:p>
          <a:p>
            <a:pPr marL="0" indent="0">
              <a:buFont typeface="+mj-lt"/>
              <a:buNone/>
            </a:pPr>
            <a:endParaRPr lang="en-GB" sz="1200" b="0" i="0" kern="1200" dirty="0">
              <a:solidFill>
                <a:schemeClr val="tx1"/>
              </a:solidFill>
              <a:effectLst/>
              <a:latin typeface="+mn-lt"/>
              <a:ea typeface="+mn-ea"/>
              <a:cs typeface="+mn-cs"/>
            </a:endParaRPr>
          </a:p>
          <a:p>
            <a:pPr marL="0" indent="0">
              <a:buFont typeface="+mj-lt"/>
              <a:buNone/>
            </a:pPr>
            <a:r>
              <a:rPr lang="en-GB" sz="1200" b="0" i="0" kern="1200" dirty="0">
                <a:solidFill>
                  <a:schemeClr val="tx1"/>
                </a:solidFill>
                <a:effectLst/>
                <a:latin typeface="+mn-lt"/>
                <a:ea typeface="+mn-ea"/>
                <a:cs typeface="+mn-cs"/>
              </a:rPr>
              <a:t>Damon Edwards and John Willis described DevOps in 2010 in the first US based </a:t>
            </a:r>
            <a:r>
              <a:rPr lang="en-GB" sz="1200" b="0" i="0" kern="1200" dirty="0" err="1">
                <a:solidFill>
                  <a:schemeClr val="tx1"/>
                </a:solidFill>
                <a:effectLst/>
                <a:latin typeface="+mn-lt"/>
                <a:ea typeface="+mn-ea"/>
                <a:cs typeface="+mn-cs"/>
              </a:rPr>
              <a:t>DevOpsDays</a:t>
            </a:r>
            <a:r>
              <a:rPr lang="en-GB" sz="1200" b="0" i="0" kern="1200" dirty="0">
                <a:solidFill>
                  <a:schemeClr val="tx1"/>
                </a:solidFill>
                <a:effectLst/>
                <a:latin typeface="+mn-lt"/>
                <a:ea typeface="+mn-ea"/>
                <a:cs typeface="+mn-cs"/>
              </a:rPr>
              <a:t> in Mountain View, CA</a:t>
            </a:r>
            <a:endParaRPr lang="en-GB" sz="1200" b="1" i="0" kern="1200" dirty="0">
              <a:solidFill>
                <a:schemeClr val="tx1"/>
              </a:solidFill>
              <a:effectLst/>
              <a:latin typeface="+mn-lt"/>
              <a:ea typeface="+mn-ea"/>
              <a:cs typeface="+mn-cs"/>
            </a:endParaRPr>
          </a:p>
          <a:p>
            <a:pPr marL="228600" indent="-228600">
              <a:buFont typeface="+mj-lt"/>
              <a:buAutoNum type="arabicPeriod"/>
            </a:pPr>
            <a:r>
              <a:rPr lang="en-GB" sz="1200" b="1" i="0" kern="1200" dirty="0">
                <a:solidFill>
                  <a:schemeClr val="tx1"/>
                </a:solidFill>
                <a:effectLst/>
                <a:latin typeface="+mn-lt"/>
                <a:ea typeface="+mn-ea"/>
                <a:cs typeface="+mn-cs"/>
              </a:rPr>
              <a:t>Culture</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DevOps is a cultural undertaking, so it's about more than acquiring new tools and taking on new practices. It’s about setting expectations and priorities, and the fundamental beliefs that guide them. Our </a:t>
            </a:r>
            <a:r>
              <a:rPr lang="en-GB" sz="1200" b="0" i="0" u="none" strike="noStrike" kern="1200" dirty="0">
                <a:solidFill>
                  <a:schemeClr val="tx1"/>
                </a:solidFill>
                <a:effectLst/>
                <a:latin typeface="+mn-lt"/>
                <a:ea typeface="+mn-ea"/>
                <a:cs typeface="+mn-cs"/>
                <a:hlinkClick r:id="rId3"/>
              </a:rPr>
              <a:t>2015 State of DevOps Report</a:t>
            </a:r>
            <a:r>
              <a:rPr lang="en-GB" sz="1200" b="0" i="0" kern="1200" dirty="0">
                <a:solidFill>
                  <a:schemeClr val="tx1"/>
                </a:solidFill>
                <a:effectLst/>
                <a:latin typeface="+mn-lt"/>
                <a:ea typeface="+mn-ea"/>
                <a:cs typeface="+mn-cs"/>
              </a:rPr>
              <a:t> showed there's a strong link between culture and successful management practices, much of it coming out of lean management principles and a collaborative approach to problem solving. For DevOps to succeed, that collaboration has to take place both within and between teams.</a:t>
            </a:r>
          </a:p>
          <a:p>
            <a:pPr marL="228600" indent="-228600">
              <a:buFont typeface="+mj-lt"/>
              <a:buAutoNum type="arabicPeriod"/>
            </a:pPr>
            <a:r>
              <a:rPr lang="en-GB" sz="1200" b="1" i="0" kern="1200" dirty="0">
                <a:solidFill>
                  <a:schemeClr val="tx1"/>
                </a:solidFill>
                <a:effectLst/>
                <a:latin typeface="+mn-lt"/>
                <a:ea typeface="+mn-ea"/>
                <a:cs typeface="+mn-cs"/>
              </a:rPr>
              <a:t>Automation</a:t>
            </a:r>
            <a:br>
              <a:rPr lang="en-GB" sz="1200" b="0" i="0" kern="1200" dirty="0">
                <a:solidFill>
                  <a:schemeClr val="tx1"/>
                </a:solidFill>
                <a:effectLst/>
                <a:latin typeface="+mn-lt"/>
                <a:ea typeface="+mn-ea"/>
                <a:cs typeface="+mn-cs"/>
              </a:rPr>
            </a:br>
            <a:r>
              <a:rPr lang="en-GB" sz="1200" b="0" i="0" kern="1200" dirty="0" err="1">
                <a:solidFill>
                  <a:schemeClr val="tx1"/>
                </a:solidFill>
                <a:effectLst/>
                <a:latin typeface="+mn-lt"/>
                <a:ea typeface="+mn-ea"/>
                <a:cs typeface="+mn-cs"/>
              </a:rPr>
              <a:t>Automation</a:t>
            </a:r>
            <a:r>
              <a:rPr lang="en-GB" sz="1200" b="0" i="0" kern="1200" dirty="0">
                <a:solidFill>
                  <a:schemeClr val="tx1"/>
                </a:solidFill>
                <a:effectLst/>
                <a:latin typeface="+mn-lt"/>
                <a:ea typeface="+mn-ea"/>
                <a:cs typeface="+mn-cs"/>
              </a:rPr>
              <a:t> is a given in any team that has embraced DevOps; it’s just the way everything is done. Automating common and repetitive processes frees up time for higher-level work and opens up opportunities for innovations that wouldn’t be possible otherwise.</a:t>
            </a:r>
          </a:p>
          <a:p>
            <a:pPr marL="228600" indent="-228600">
              <a:buFont typeface="+mj-lt"/>
              <a:buAutoNum type="arabicPeriod"/>
            </a:pPr>
            <a:r>
              <a:rPr lang="en-GB" sz="1200" b="1" i="0" kern="1200" dirty="0">
                <a:solidFill>
                  <a:schemeClr val="tx1"/>
                </a:solidFill>
                <a:effectLst/>
                <a:latin typeface="+mn-lt"/>
                <a:ea typeface="+mn-ea"/>
                <a:cs typeface="+mn-cs"/>
              </a:rPr>
              <a:t>Measurement</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Integrating feedback into the work is a fundamental part of agile and lean practices. For mature organizations, this means measuring everything that moves in production, and sharing those measurements with everyone involved in software development and delivery — not just the ops team, or just the </a:t>
            </a:r>
            <a:r>
              <a:rPr lang="en-GB" sz="1200" b="0" i="0" kern="1200" dirty="0" err="1">
                <a:solidFill>
                  <a:schemeClr val="tx1"/>
                </a:solidFill>
                <a:effectLst/>
                <a:latin typeface="+mn-lt"/>
                <a:ea typeface="+mn-ea"/>
                <a:cs typeface="+mn-cs"/>
              </a:rPr>
              <a:t>devs</a:t>
            </a:r>
            <a:r>
              <a:rPr lang="en-GB" sz="1200" b="0" i="0" kern="1200" dirty="0">
                <a:solidFill>
                  <a:schemeClr val="tx1"/>
                </a:solidFill>
                <a:effectLst/>
                <a:latin typeface="+mn-lt"/>
                <a:ea typeface="+mn-ea"/>
                <a:cs typeface="+mn-cs"/>
              </a:rPr>
              <a:t>. Measuring and reporting everything can seem overwhelming, though. So start with just the crucial measurements, one or two things that everyone agrees really matter. It could be deployment frequency, lead time to changes, mean time to recovery, change fail rate — whichever seems the most important to where your team is right now. Gathering and sharing these metrics will show you where you've got opportunities for quick wins — and these boost everyone's morale.</a:t>
            </a:r>
          </a:p>
          <a:p>
            <a:pPr marL="228600" indent="-228600">
              <a:buFont typeface="+mj-lt"/>
              <a:buAutoNum type="arabicPeriod"/>
            </a:pPr>
            <a:r>
              <a:rPr lang="en-GB" sz="1200" b="1" i="0" kern="1200" dirty="0">
                <a:solidFill>
                  <a:schemeClr val="tx1"/>
                </a:solidFill>
                <a:effectLst/>
                <a:latin typeface="+mn-lt"/>
                <a:ea typeface="+mn-ea"/>
                <a:cs typeface="+mn-cs"/>
              </a:rPr>
              <a:t>Sharing</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Today’s organizations and software require teams of people with different skills and specialized knowledge. To work efficiently, it’s important to work well together, and sharing is how you get there. Expose metrics to everyone within your organization who might be interested. Keep things simple and clear — explain how these metrics affect software delivery and overall company performance. Sharing progress data will also help foster a more effective DevOps culture.</a:t>
            </a:r>
          </a:p>
          <a:p>
            <a:r>
              <a:rPr lang="en-GB" sz="1200" b="0" i="0" kern="1200" dirty="0">
                <a:solidFill>
                  <a:schemeClr val="tx1"/>
                </a:solidFill>
                <a:effectLst/>
                <a:latin typeface="+mn-lt"/>
                <a:ea typeface="+mn-ea"/>
                <a:cs typeface="+mn-cs"/>
              </a:rPr>
              <a:t>When identifying and making changes to how you and your team work, it’s useful to think about those changes in terms of culture, automation, measurement and sharing. Base your choices on maximizing opportunities in these areas, and you should find yourself well on your way to breaking down silos and improving your organization.</a:t>
            </a:r>
          </a:p>
          <a:p>
            <a:r>
              <a:rPr lang="en-GB" sz="1200" b="0" i="0" kern="1200" dirty="0">
                <a:solidFill>
                  <a:schemeClr val="tx1"/>
                </a:solidFill>
                <a:effectLst/>
                <a:latin typeface="+mn-lt"/>
                <a:ea typeface="+mn-ea"/>
                <a:cs typeface="+mn-cs"/>
              </a:rPr>
              <a:t>There's a lot more to DevOps thinking, planning and execution, and Gareth </a:t>
            </a:r>
            <a:r>
              <a:rPr lang="en-GB" sz="1200" b="0" i="0" kern="1200" dirty="0" err="1">
                <a:solidFill>
                  <a:schemeClr val="tx1"/>
                </a:solidFill>
                <a:effectLst/>
                <a:latin typeface="+mn-lt"/>
                <a:ea typeface="+mn-ea"/>
                <a:cs typeface="+mn-cs"/>
              </a:rPr>
              <a:t>Rushgrove</a:t>
            </a:r>
            <a:r>
              <a:rPr lang="en-GB" sz="1200" b="0" i="0" kern="1200" dirty="0">
                <a:solidFill>
                  <a:schemeClr val="tx1"/>
                </a:solidFill>
                <a:effectLst/>
                <a:latin typeface="+mn-lt"/>
                <a:ea typeface="+mn-ea"/>
                <a:cs typeface="+mn-cs"/>
              </a:rPr>
              <a:t> covers how to work with your operations team, the development team and higher-up managers in his paper, </a:t>
            </a:r>
            <a:r>
              <a:rPr lang="en-GB" sz="1200" b="0" i="0" u="none" strike="noStrike" kern="1200" dirty="0">
                <a:solidFill>
                  <a:schemeClr val="tx1"/>
                </a:solidFill>
                <a:effectLst/>
                <a:latin typeface="+mn-lt"/>
                <a:ea typeface="+mn-ea"/>
                <a:cs typeface="+mn-cs"/>
                <a:hlinkClick r:id="rId4"/>
              </a:rPr>
              <a:t>Get Started with DevOps: A Guide for IT Managers</a:t>
            </a:r>
            <a:r>
              <a:rPr lang="en-GB" sz="1200" b="0" i="0" kern="1200" dirty="0">
                <a:solidFill>
                  <a:schemeClr val="tx1"/>
                </a:solidFill>
                <a:effectLst/>
                <a:latin typeface="+mn-lt"/>
                <a:ea typeface="+mn-ea"/>
                <a:cs typeface="+mn-cs"/>
              </a:rPr>
              <a:t>. Check it out for practical guidance, as well as DevOps philosophy.</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http://blogs.forrester.com/eveline_oehrlich/15-03-02-devops_now_with_calmss</a:t>
            </a:r>
          </a:p>
          <a:p>
            <a:r>
              <a:rPr lang="en-GB" sz="1200" b="0" i="0" kern="1200" dirty="0">
                <a:solidFill>
                  <a:schemeClr val="tx1"/>
                </a:solidFill>
                <a:effectLst/>
                <a:latin typeface="+mn-lt"/>
                <a:ea typeface="+mn-ea"/>
                <a:cs typeface="+mn-cs"/>
              </a:rPr>
              <a:t>L – Lean – Jez</a:t>
            </a:r>
            <a:r>
              <a:rPr lang="en-GB" sz="1200" b="0" i="0" kern="1200" baseline="0" dirty="0">
                <a:solidFill>
                  <a:schemeClr val="tx1"/>
                </a:solidFill>
                <a:effectLst/>
                <a:latin typeface="+mn-lt"/>
                <a:ea typeface="+mn-ea"/>
                <a:cs typeface="+mn-cs"/>
              </a:rPr>
              <a:t> Humble</a:t>
            </a:r>
          </a:p>
          <a:p>
            <a:r>
              <a:rPr lang="en-GB" sz="1200" b="0" i="0" kern="1200" dirty="0">
                <a:solidFill>
                  <a:schemeClr val="tx1"/>
                </a:solidFill>
                <a:effectLst/>
                <a:latin typeface="+mn-lt"/>
                <a:ea typeface="+mn-ea"/>
                <a:cs typeface="+mn-cs"/>
              </a:rPr>
              <a:t>S – Sourcing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https://www.diazhilterscheid.de/en/ready-for-cams-the-foundation-of-devops/</a:t>
            </a:r>
          </a:p>
          <a:p>
            <a:r>
              <a:rPr lang="en-GB" sz="1200" b="0" i="0" kern="1200" dirty="0">
                <a:solidFill>
                  <a:schemeClr val="tx1"/>
                </a:solidFill>
                <a:effectLst/>
                <a:latin typeface="+mn-lt"/>
                <a:ea typeface="+mn-ea"/>
                <a:cs typeface="+mn-cs"/>
              </a:rPr>
              <a:t>Also described as four pillars</a:t>
            </a:r>
          </a:p>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00B8B14-0DA4-4938-B140-950D7CC83499}" type="slidenum">
              <a:rPr lang="en-US" smtClean="0"/>
              <a:pPr/>
              <a:t>25</a:t>
            </a:fld>
            <a:endParaRPr lang="en-US"/>
          </a:p>
        </p:txBody>
      </p:sp>
    </p:spTree>
    <p:extLst>
      <p:ext uri="{BB962C8B-B14F-4D97-AF65-F5344CB8AC3E}">
        <p14:creationId xmlns:p14="http://schemas.microsoft.com/office/powerpoint/2010/main" val="2387711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dirty="0"/>
              <a:t>Breaking down silos</a:t>
            </a:r>
            <a:br>
              <a:rPr lang="en-US" dirty="0"/>
            </a:br>
            <a:r>
              <a:rPr lang="en-US" dirty="0"/>
              <a:t>We’re all in the same boat; think about the business value streams</a:t>
            </a:r>
            <a:r>
              <a:rPr lang="en-US" baseline="0" dirty="0"/>
              <a:t> that are enabled by IT</a:t>
            </a:r>
            <a:br>
              <a:rPr lang="en-US" baseline="0" dirty="0"/>
            </a:br>
            <a:r>
              <a:rPr lang="en-US" baseline="0" dirty="0"/>
              <a:t>- Requirements id-</a:t>
            </a:r>
            <a:r>
              <a:rPr lang="en-US" baseline="0" dirty="0" err="1"/>
              <a:t>ed</a:t>
            </a:r>
            <a:r>
              <a:rPr lang="en-US" baseline="0" dirty="0"/>
              <a:t>; Built in Dev, transitioned to Ops, deliver value to </a:t>
            </a:r>
            <a:r>
              <a:rPr lang="en-US" baseline="0" dirty="0" err="1"/>
              <a:t>cust</a:t>
            </a:r>
            <a:br>
              <a:rPr lang="en-US" baseline="0" dirty="0"/>
            </a:br>
            <a:r>
              <a:rPr lang="en-US" baseline="0" dirty="0"/>
              <a:t>RESULTS in BUILD QUALITY IN (never pass known defect downstream, never optimize only for local, understand entire system, it’s not just ops problem now)</a:t>
            </a:r>
          </a:p>
          <a:p>
            <a:pPr marL="228600" indent="-228600">
              <a:buAutoNum type="arabicParenR"/>
            </a:pPr>
            <a:endParaRPr lang="en-US" baseline="0" dirty="0"/>
          </a:p>
          <a:p>
            <a:pPr marL="228600" indent="-228600">
              <a:buAutoNum type="arabicParenR"/>
            </a:pPr>
            <a:r>
              <a:rPr lang="en-US" baseline="0" dirty="0"/>
              <a:t>CI and auto testing = bug found in Prod is 100xs more expensive to fix</a:t>
            </a:r>
            <a:br>
              <a:rPr lang="en-US" baseline="0" dirty="0"/>
            </a:br>
            <a:r>
              <a:rPr lang="en-US" baseline="0" dirty="0"/>
              <a:t>- Systems feedback, monitoring</a:t>
            </a:r>
            <a:br>
              <a:rPr lang="en-US" baseline="0" dirty="0"/>
            </a:br>
            <a:r>
              <a:rPr lang="en-US" baseline="0" dirty="0"/>
              <a:t>- Customer feedback</a:t>
            </a:r>
            <a:br>
              <a:rPr lang="en-US" baseline="0" dirty="0"/>
            </a:br>
            <a:endParaRPr lang="en-US" baseline="0" dirty="0"/>
          </a:p>
          <a:p>
            <a:pPr marL="228600" indent="-228600">
              <a:buAutoNum type="arabicParenR"/>
            </a:pPr>
            <a:r>
              <a:rPr lang="en-GB" sz="1200" b="0" i="0" kern="1200" dirty="0">
                <a:solidFill>
                  <a:schemeClr val="tx1"/>
                </a:solidFill>
                <a:effectLst/>
                <a:latin typeface="+mn-lt"/>
                <a:ea typeface="+mn-ea"/>
                <a:cs typeface="+mn-cs"/>
              </a:rPr>
              <a:t>continual experimentation, taking risks and learning from failure; and understanding that repetition and practice is the prerequisite to mastery.</a:t>
            </a:r>
            <a:br>
              <a:rPr lang="en-US" baseline="0" dirty="0"/>
            </a:br>
            <a:r>
              <a:rPr lang="en-US" baseline="0" dirty="0"/>
              <a:t>- </a:t>
            </a:r>
            <a:r>
              <a:rPr lang="en-GB" sz="1200" b="0" i="0" kern="1200" dirty="0">
                <a:solidFill>
                  <a:schemeClr val="tx1"/>
                </a:solidFill>
                <a:effectLst/>
                <a:latin typeface="+mn-lt"/>
                <a:ea typeface="+mn-ea"/>
                <a:cs typeface="+mn-cs"/>
              </a:rPr>
              <a:t>Allocating time for the improvement of daily work</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Creating rituals that reward the team for taking risks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Introducing faults into the system to increase resilience</a:t>
            </a:r>
          </a:p>
          <a:p>
            <a:pPr marL="228600" indent="-228600">
              <a:buAutoNum type="arabicParenR"/>
            </a:pPr>
            <a:endParaRPr lang="en-US" baseline="0" dirty="0"/>
          </a:p>
          <a:p>
            <a:pPr marL="228600" indent="-228600">
              <a:buAutoNum type="arabicParenR"/>
            </a:pPr>
            <a:endParaRPr lang="en-US" baseline="0" dirty="0"/>
          </a:p>
          <a:p>
            <a:pPr marL="228600" indent="-228600">
              <a:buAutoNum type="arabicParenR"/>
            </a:pPr>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26</a:t>
            </a:fld>
            <a:endParaRPr lang="en-US"/>
          </a:p>
        </p:txBody>
      </p:sp>
    </p:spTree>
    <p:extLst>
      <p:ext uri="{BB962C8B-B14F-4D97-AF65-F5344CB8AC3E}">
        <p14:creationId xmlns:p14="http://schemas.microsoft.com/office/powerpoint/2010/main" val="3403738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dirty="0"/>
              <a:t>Breaking down silos</a:t>
            </a:r>
            <a:br>
              <a:rPr lang="en-US" dirty="0"/>
            </a:br>
            <a:r>
              <a:rPr lang="en-US" dirty="0"/>
              <a:t>We’re all in the same boat; think about the business value streams</a:t>
            </a:r>
            <a:r>
              <a:rPr lang="en-US" baseline="0" dirty="0"/>
              <a:t> that are enabled by IT</a:t>
            </a:r>
            <a:br>
              <a:rPr lang="en-US" baseline="0" dirty="0"/>
            </a:br>
            <a:r>
              <a:rPr lang="en-US" baseline="0" dirty="0"/>
              <a:t>- Requirements id-</a:t>
            </a:r>
            <a:r>
              <a:rPr lang="en-US" baseline="0" dirty="0" err="1"/>
              <a:t>ed</a:t>
            </a:r>
            <a:r>
              <a:rPr lang="en-US" baseline="0" dirty="0"/>
              <a:t>; Built in Dev, transitioned to Ops, deliver value to </a:t>
            </a:r>
            <a:r>
              <a:rPr lang="en-US" baseline="0" dirty="0" err="1"/>
              <a:t>cust</a:t>
            </a:r>
            <a:br>
              <a:rPr lang="en-US" baseline="0" dirty="0"/>
            </a:br>
            <a:r>
              <a:rPr lang="en-US" baseline="0" dirty="0"/>
              <a:t>RESULTS in BUILD QUALITY IN (never pass known defect downstream, never optimize only for local, understand entire system, it’s not just ops problem now)</a:t>
            </a:r>
          </a:p>
          <a:p>
            <a:pPr marL="228600" indent="-228600">
              <a:buAutoNum type="arabicParenR"/>
            </a:pPr>
            <a:endParaRPr lang="en-US" baseline="0" dirty="0"/>
          </a:p>
          <a:p>
            <a:pPr marL="228600" indent="-228600">
              <a:buAutoNum type="arabicParenR"/>
            </a:pPr>
            <a:r>
              <a:rPr lang="en-US" baseline="0" dirty="0"/>
              <a:t>CI and auto testing = bug found in Prod is 100xs more expensive to fix</a:t>
            </a:r>
            <a:br>
              <a:rPr lang="en-US" baseline="0" dirty="0"/>
            </a:br>
            <a:r>
              <a:rPr lang="en-US" baseline="0" dirty="0"/>
              <a:t>- Systems feedback, monitoring</a:t>
            </a:r>
            <a:br>
              <a:rPr lang="en-US" baseline="0" dirty="0"/>
            </a:br>
            <a:r>
              <a:rPr lang="en-US" baseline="0" dirty="0"/>
              <a:t>- Customer feedback</a:t>
            </a:r>
            <a:br>
              <a:rPr lang="en-US" baseline="0" dirty="0"/>
            </a:br>
            <a:endParaRPr lang="en-US" baseline="0" dirty="0"/>
          </a:p>
          <a:p>
            <a:pPr marL="228600" indent="-228600">
              <a:buAutoNum type="arabicParenR"/>
            </a:pPr>
            <a:r>
              <a:rPr lang="en-GB" sz="1200" b="0" i="0" kern="1200" dirty="0">
                <a:solidFill>
                  <a:schemeClr val="tx1"/>
                </a:solidFill>
                <a:effectLst/>
                <a:latin typeface="+mn-lt"/>
                <a:ea typeface="+mn-ea"/>
                <a:cs typeface="+mn-cs"/>
              </a:rPr>
              <a:t>continual experimentation, taking risks and learning from failure; and understanding that repetition and practice is the prerequisite to mastery.</a:t>
            </a:r>
            <a:br>
              <a:rPr lang="en-US" baseline="0" dirty="0"/>
            </a:br>
            <a:r>
              <a:rPr lang="en-US" baseline="0" dirty="0"/>
              <a:t>- </a:t>
            </a:r>
            <a:r>
              <a:rPr lang="en-GB" sz="1200" b="0" i="0" kern="1200" dirty="0">
                <a:solidFill>
                  <a:schemeClr val="tx1"/>
                </a:solidFill>
                <a:effectLst/>
                <a:latin typeface="+mn-lt"/>
                <a:ea typeface="+mn-ea"/>
                <a:cs typeface="+mn-cs"/>
              </a:rPr>
              <a:t>Allocating time for the improvement of daily work</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Creating rituals that reward the team for taking risks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Introducing faults into the system to increase resilience</a:t>
            </a:r>
          </a:p>
          <a:p>
            <a:pPr marL="228600" indent="-228600">
              <a:buAutoNum type="arabicParenR"/>
            </a:pPr>
            <a:endParaRPr lang="en-US" baseline="0" dirty="0"/>
          </a:p>
          <a:p>
            <a:pPr marL="228600" indent="-228600">
              <a:buAutoNum type="arabicParenR"/>
            </a:pPr>
            <a:endParaRPr lang="en-US" baseline="0" dirty="0"/>
          </a:p>
          <a:p>
            <a:pPr marL="228600" indent="-228600">
              <a:buAutoNum type="arabicParenR"/>
            </a:pPr>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27</a:t>
            </a:fld>
            <a:endParaRPr lang="en-US"/>
          </a:p>
        </p:txBody>
      </p:sp>
    </p:spTree>
    <p:extLst>
      <p:ext uri="{BB962C8B-B14F-4D97-AF65-F5344CB8AC3E}">
        <p14:creationId xmlns:p14="http://schemas.microsoft.com/office/powerpoint/2010/main" val="372202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dirty="0"/>
              <a:t>Breaking down silos</a:t>
            </a:r>
            <a:br>
              <a:rPr lang="en-US" dirty="0"/>
            </a:br>
            <a:r>
              <a:rPr lang="en-US" dirty="0"/>
              <a:t>We’re all in the same boat; think about the business value streams</a:t>
            </a:r>
            <a:r>
              <a:rPr lang="en-US" baseline="0" dirty="0"/>
              <a:t> that are enabled by IT</a:t>
            </a:r>
            <a:br>
              <a:rPr lang="en-US" baseline="0" dirty="0"/>
            </a:br>
            <a:r>
              <a:rPr lang="en-US" baseline="0" dirty="0"/>
              <a:t>- Requirements id-</a:t>
            </a:r>
            <a:r>
              <a:rPr lang="en-US" baseline="0" dirty="0" err="1"/>
              <a:t>ed</a:t>
            </a:r>
            <a:r>
              <a:rPr lang="en-US" baseline="0" dirty="0"/>
              <a:t>; Built in Dev, transitioned to Ops, deliver value to </a:t>
            </a:r>
            <a:r>
              <a:rPr lang="en-US" baseline="0" dirty="0" err="1"/>
              <a:t>cust</a:t>
            </a:r>
            <a:br>
              <a:rPr lang="en-US" baseline="0" dirty="0"/>
            </a:br>
            <a:r>
              <a:rPr lang="en-US" baseline="0" dirty="0"/>
              <a:t>RESULTS in BUILD QUALITY IN (never pass known defect downstream, never optimize only for local, understand entire system, it’s not just ops problem now)</a:t>
            </a:r>
          </a:p>
          <a:p>
            <a:pPr marL="228600" indent="-228600">
              <a:buAutoNum type="arabicParenR"/>
            </a:pPr>
            <a:endParaRPr lang="en-US" baseline="0" dirty="0"/>
          </a:p>
          <a:p>
            <a:pPr marL="228600" indent="-228600">
              <a:buAutoNum type="arabicParenR"/>
            </a:pPr>
            <a:r>
              <a:rPr lang="en-US" baseline="0" dirty="0"/>
              <a:t>CI and auto testing = bug found in Prod is 100xs more expensive to fix</a:t>
            </a:r>
            <a:br>
              <a:rPr lang="en-US" baseline="0" dirty="0"/>
            </a:br>
            <a:r>
              <a:rPr lang="en-US" baseline="0" dirty="0"/>
              <a:t>- Systems feedback, monitoring</a:t>
            </a:r>
            <a:br>
              <a:rPr lang="en-US" baseline="0" dirty="0"/>
            </a:br>
            <a:r>
              <a:rPr lang="en-US" baseline="0" dirty="0"/>
              <a:t>- Customer feedback</a:t>
            </a:r>
            <a:br>
              <a:rPr lang="en-US" baseline="0" dirty="0"/>
            </a:br>
            <a:endParaRPr lang="en-US" baseline="0" dirty="0"/>
          </a:p>
          <a:p>
            <a:pPr marL="228600" indent="-228600">
              <a:buAutoNum type="arabicParenR"/>
            </a:pPr>
            <a:r>
              <a:rPr lang="en-GB" sz="1200" b="0" i="0" kern="1200" dirty="0">
                <a:solidFill>
                  <a:schemeClr val="tx1"/>
                </a:solidFill>
                <a:effectLst/>
                <a:latin typeface="+mn-lt"/>
                <a:ea typeface="+mn-ea"/>
                <a:cs typeface="+mn-cs"/>
              </a:rPr>
              <a:t>continual experimentation, taking risks and learning from failure; and understanding that repetition and practice is the prerequisite to mastery.</a:t>
            </a:r>
            <a:br>
              <a:rPr lang="en-US" baseline="0" dirty="0"/>
            </a:br>
            <a:r>
              <a:rPr lang="en-US" baseline="0" dirty="0"/>
              <a:t>- </a:t>
            </a:r>
            <a:r>
              <a:rPr lang="en-GB" sz="1200" b="0" i="0" kern="1200" dirty="0">
                <a:solidFill>
                  <a:schemeClr val="tx1"/>
                </a:solidFill>
                <a:effectLst/>
                <a:latin typeface="+mn-lt"/>
                <a:ea typeface="+mn-ea"/>
                <a:cs typeface="+mn-cs"/>
              </a:rPr>
              <a:t>Allocating time for the improvement of daily work</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Creating rituals that reward the team for taking risks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Introducing faults into the system to increase resilience</a:t>
            </a:r>
          </a:p>
          <a:p>
            <a:pPr marL="228600" indent="-228600">
              <a:buAutoNum type="arabicParenR"/>
            </a:pPr>
            <a:endParaRPr lang="en-US" baseline="0" dirty="0"/>
          </a:p>
          <a:p>
            <a:pPr marL="228600" indent="-228600">
              <a:buAutoNum type="arabicParenR"/>
            </a:pPr>
            <a:endParaRPr lang="en-US" baseline="0" dirty="0"/>
          </a:p>
          <a:p>
            <a:pPr marL="228600" indent="-228600">
              <a:buAutoNum type="arabicParenR"/>
            </a:pPr>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28</a:t>
            </a:fld>
            <a:endParaRPr lang="en-US"/>
          </a:p>
        </p:txBody>
      </p:sp>
    </p:spTree>
    <p:extLst>
      <p:ext uri="{BB962C8B-B14F-4D97-AF65-F5344CB8AC3E}">
        <p14:creationId xmlns:p14="http://schemas.microsoft.com/office/powerpoint/2010/main" val="3837022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dirty="0"/>
              <a:t>Breaking down silos</a:t>
            </a:r>
            <a:br>
              <a:rPr lang="en-US" dirty="0"/>
            </a:br>
            <a:r>
              <a:rPr lang="en-US" dirty="0"/>
              <a:t>We’re all in the same boat; think about the business value streams</a:t>
            </a:r>
            <a:r>
              <a:rPr lang="en-US" baseline="0" dirty="0"/>
              <a:t> that are enabled by IT</a:t>
            </a:r>
            <a:br>
              <a:rPr lang="en-US" baseline="0" dirty="0"/>
            </a:br>
            <a:r>
              <a:rPr lang="en-US" baseline="0" dirty="0"/>
              <a:t>- Requirements id-</a:t>
            </a:r>
            <a:r>
              <a:rPr lang="en-US" baseline="0" dirty="0" err="1"/>
              <a:t>ed</a:t>
            </a:r>
            <a:r>
              <a:rPr lang="en-US" baseline="0" dirty="0"/>
              <a:t>; Built in Dev, transitioned to Ops, deliver value to </a:t>
            </a:r>
            <a:r>
              <a:rPr lang="en-US" baseline="0" dirty="0" err="1"/>
              <a:t>cust</a:t>
            </a:r>
            <a:br>
              <a:rPr lang="en-US" baseline="0" dirty="0"/>
            </a:br>
            <a:r>
              <a:rPr lang="en-US" baseline="0" dirty="0"/>
              <a:t>RESULTS in BUILD QUALITY IN (never pass known defect downstream, never optimize only for local, understand entire system, it’s not just ops problem now)</a:t>
            </a:r>
          </a:p>
          <a:p>
            <a:pPr marL="228600" indent="-228600">
              <a:buAutoNum type="arabicParenR"/>
            </a:pPr>
            <a:endParaRPr lang="en-US" baseline="0" dirty="0"/>
          </a:p>
          <a:p>
            <a:pPr marL="228600" indent="-228600">
              <a:buAutoNum type="arabicParenR"/>
            </a:pPr>
            <a:r>
              <a:rPr lang="en-US" baseline="0" dirty="0"/>
              <a:t>CI and auto testing = bug found in Prod is 100xs more expensive to fix</a:t>
            </a:r>
            <a:br>
              <a:rPr lang="en-US" baseline="0" dirty="0"/>
            </a:br>
            <a:r>
              <a:rPr lang="en-US" baseline="0" dirty="0"/>
              <a:t>- Systems feedback, monitoring</a:t>
            </a:r>
            <a:br>
              <a:rPr lang="en-US" baseline="0" dirty="0"/>
            </a:br>
            <a:r>
              <a:rPr lang="en-US" baseline="0" dirty="0"/>
              <a:t>- Customer feedback</a:t>
            </a:r>
            <a:br>
              <a:rPr lang="en-US" baseline="0" dirty="0"/>
            </a:br>
            <a:endParaRPr lang="en-US" baseline="0" dirty="0"/>
          </a:p>
          <a:p>
            <a:pPr marL="228600" indent="-228600">
              <a:buAutoNum type="arabicParenR"/>
            </a:pPr>
            <a:r>
              <a:rPr lang="en-GB" sz="1200" b="0" i="0" kern="1200" dirty="0">
                <a:solidFill>
                  <a:schemeClr val="tx1"/>
                </a:solidFill>
                <a:effectLst/>
                <a:latin typeface="+mn-lt"/>
                <a:ea typeface="+mn-ea"/>
                <a:cs typeface="+mn-cs"/>
              </a:rPr>
              <a:t>continual experimentation, taking risks and learning from failure; and understanding that repetition and practice is the prerequisite to mastery.</a:t>
            </a:r>
            <a:br>
              <a:rPr lang="en-US" baseline="0" dirty="0"/>
            </a:br>
            <a:r>
              <a:rPr lang="en-US" baseline="0" dirty="0"/>
              <a:t>- </a:t>
            </a:r>
            <a:r>
              <a:rPr lang="en-GB" sz="1200" b="0" i="0" kern="1200" dirty="0">
                <a:solidFill>
                  <a:schemeClr val="tx1"/>
                </a:solidFill>
                <a:effectLst/>
                <a:latin typeface="+mn-lt"/>
                <a:ea typeface="+mn-ea"/>
                <a:cs typeface="+mn-cs"/>
              </a:rPr>
              <a:t>Allocating time for the improvement of daily work</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Creating rituals that reward the team for taking risks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Introducing faults into the system to increase resilience</a:t>
            </a:r>
          </a:p>
          <a:p>
            <a:pPr marL="228600" indent="-228600">
              <a:buAutoNum type="arabicParenR"/>
            </a:pPr>
            <a:endParaRPr lang="en-US" baseline="0" dirty="0"/>
          </a:p>
          <a:p>
            <a:pPr marL="228600" indent="-228600">
              <a:buAutoNum type="arabicParenR"/>
            </a:pPr>
            <a:endParaRPr lang="en-US" baseline="0" dirty="0"/>
          </a:p>
          <a:p>
            <a:pPr marL="228600" indent="-228600">
              <a:buAutoNum type="arabicParenR"/>
            </a:pPr>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29</a:t>
            </a:fld>
            <a:endParaRPr lang="en-US"/>
          </a:p>
        </p:txBody>
      </p:sp>
    </p:spTree>
    <p:extLst>
      <p:ext uri="{BB962C8B-B14F-4D97-AF65-F5344CB8AC3E}">
        <p14:creationId xmlns:p14="http://schemas.microsoft.com/office/powerpoint/2010/main" val="347059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864017" rtl="0" eaLnBrk="0" fontAlgn="t" latinLnBrk="0" hangingPunct="0">
              <a:lnSpc>
                <a:spcPct val="100000"/>
              </a:lnSpc>
              <a:spcBef>
                <a:spcPct val="0"/>
              </a:spcBef>
              <a:spcAft>
                <a:spcPct val="0"/>
              </a:spcAft>
              <a:buClrTx/>
              <a:buSzTx/>
              <a:buFont typeface="+mj-lt"/>
              <a:buNone/>
              <a:tabLst/>
              <a:defRPr/>
            </a:pPr>
            <a:r>
              <a:rPr lang="en-US" altLang="en-US" sz="1200" b="0" dirty="0">
                <a:solidFill>
                  <a:srgbClr val="FFFFFF"/>
                </a:solidFill>
                <a:latin typeface="Arial" panose="020B0604020202020204" pitchFamily="34" charset="0"/>
                <a:cs typeface="Arial" panose="020B0604020202020204" pitchFamily="34" charset="0"/>
              </a:rPr>
              <a:t>HTTP://WWW.GALLOP.NET/BLOG/6-COMPELLING-BUSINESS-BENEFITS-OF-DEVOPS/#XRG3WFQGGBX9LY5L.99</a:t>
            </a:r>
            <a:endParaRPr lang="en-US" altLang="en-US" sz="1200" b="0" dirty="0">
              <a:solidFill>
                <a:srgbClr val="000000"/>
              </a:solidFill>
              <a:latin typeface="inherit"/>
            </a:endParaRP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Ensure faster time-to-market/delivery times that improves ROI. DevOps is basically the application of Agile principles, and thus the end result is faster development of software, ensuring more frequent delivery.</a:t>
            </a: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Improve collaboration between teams (Business / Dev / Ops) – aptly labelled the ‘War Room’– by improving the transparency required for effective decision making. Today, more than ever before, development teams need to break down their inter-departmental silos, and collaborate and communicate in a dynamic, round the clock environment. DevOps paves the way to improve business agility by providing the much need atmosphere of mutual collaboration, communication, and integration across globally collocated teams in an IT organization. The earlier set boundaries based on roles are getting blurred in such an encouraging DevOps atmosphere. All team members, together, are responsible for the quality and timelines of deliverables</a:t>
            </a:r>
            <a:br>
              <a:rPr lang="en-US" altLang="en-US" sz="1200" b="0" i="1" dirty="0">
                <a:solidFill>
                  <a:srgbClr val="666666"/>
                </a:solidFill>
                <a:latin typeface="inherit"/>
                <a:cs typeface="Arial" panose="020B0604020202020204" pitchFamily="34" charset="0"/>
              </a:rPr>
            </a:br>
            <a:r>
              <a:rPr lang="en-US" altLang="en-US" sz="1200" b="0" i="1" dirty="0">
                <a:solidFill>
                  <a:srgbClr val="666666"/>
                </a:solidFill>
                <a:latin typeface="inherit"/>
                <a:cs typeface="Arial" panose="020B0604020202020204" pitchFamily="34" charset="0"/>
              </a:rPr>
              <a:t>image: http://www.gallop.net/blog/wp-content/uploads/2016/02/devops-img.jpg</a:t>
            </a:r>
            <a:endParaRPr lang="en-US" altLang="en-US" sz="1200" b="0" i="0" dirty="0">
              <a:solidFill>
                <a:srgbClr val="000000"/>
              </a:solidFill>
              <a:latin typeface="inherit"/>
              <a:cs typeface="+mn-cs"/>
            </a:endParaRP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Stable/reliable operating environments.</a:t>
            </a: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Early detection and faster correction of defects that helps provide the best services and robust features that must be delivered to customers</a:t>
            </a: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Continuous Release and Deployment, Continuous Testing, and Continuous Monitoring – Today’s software development practices require teams to continuously deliver quality software, reduced go-to-market timelines, and adaptation of shorter release cycles. DevOps, using its practices of Continuous Release and Deployment, Continuous Testing, and Continuous Monitoring, provides just that.</a:t>
            </a:r>
          </a:p>
          <a:p>
            <a:pPr marL="228600" indent="-228600" defTabSz="864017" eaLnBrk="0" fontAlgn="t" hangingPunct="0">
              <a:spcBef>
                <a:spcPct val="0"/>
              </a:spcBef>
              <a:spcAft>
                <a:spcPct val="0"/>
              </a:spcAft>
              <a:buFont typeface="+mj-lt"/>
              <a:buAutoNum type="arabicPeriod"/>
            </a:pPr>
            <a:r>
              <a:rPr lang="en-US" altLang="en-US" sz="1200" b="0" dirty="0">
                <a:solidFill>
                  <a:srgbClr val="000000"/>
                </a:solidFill>
                <a:latin typeface="inherit"/>
              </a:rPr>
              <a:t>Time to focus – thus improving quality</a:t>
            </a:r>
          </a:p>
          <a:p>
            <a:pPr defTabSz="864017" eaLnBrk="0" fontAlgn="t" hangingPunct="0">
              <a:spcBef>
                <a:spcPct val="0"/>
              </a:spcBef>
              <a:spcAft>
                <a:spcPct val="0"/>
              </a:spcAft>
            </a:pPr>
            <a:br>
              <a:rPr lang="en-US" altLang="en-US" sz="800" b="0" dirty="0">
                <a:solidFill>
                  <a:srgbClr val="FFFFFF"/>
                </a:solidFill>
                <a:latin typeface="Arial" panose="020B0604020202020204" pitchFamily="34" charset="0"/>
                <a:cs typeface="Arial" panose="020B0604020202020204" pitchFamily="34" charset="0"/>
              </a:rPr>
            </a:br>
            <a:endParaRPr lang="en-US" b="0" dirty="0"/>
          </a:p>
        </p:txBody>
      </p:sp>
      <p:sp>
        <p:nvSpPr>
          <p:cNvPr id="4" name="Slide Number Placeholder 3"/>
          <p:cNvSpPr>
            <a:spLocks noGrp="1"/>
          </p:cNvSpPr>
          <p:nvPr>
            <p:ph type="sldNum" sz="quarter" idx="10"/>
          </p:nvPr>
        </p:nvSpPr>
        <p:spPr/>
        <p:txBody>
          <a:bodyPr/>
          <a:lstStyle/>
          <a:p>
            <a:fld id="{0F5D9D91-DF88-42C3-AF2F-12A73699AB56}" type="slidenum">
              <a:rPr lang="en-US" smtClean="0"/>
              <a:t>31</a:t>
            </a:fld>
            <a:endParaRPr lang="en-US"/>
          </a:p>
        </p:txBody>
      </p:sp>
    </p:spTree>
    <p:extLst>
      <p:ext uri="{BB962C8B-B14F-4D97-AF65-F5344CB8AC3E}">
        <p14:creationId xmlns:p14="http://schemas.microsoft.com/office/powerpoint/2010/main" val="924544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“creative destruction” - the process by which large companies eventually get crushed by innovations made elsewhere.</a:t>
            </a:r>
          </a:p>
          <a:p>
            <a:endParaRPr lang="en-GB" sz="1200" b="0" i="0" kern="1200" dirty="0">
              <a:solidFill>
                <a:schemeClr val="tx1"/>
              </a:solidFill>
              <a:effectLst/>
              <a:latin typeface="+mn-lt"/>
              <a:ea typeface="+mn-ea"/>
              <a:cs typeface="+mn-cs"/>
            </a:endParaRPr>
          </a:p>
          <a:p>
            <a:r>
              <a:rPr lang="en-GB" dirty="0"/>
              <a:t>Life expectancy of a firm in the Fortune 500 </a:t>
            </a:r>
          </a:p>
          <a:p>
            <a:r>
              <a:rPr lang="en-GB" dirty="0"/>
              <a:t>1955 - ~60 years			2015 - &lt;20 years and declining</a:t>
            </a:r>
          </a:p>
          <a:p>
            <a:endParaRPr lang="en-GB" dirty="0"/>
          </a:p>
          <a:p>
            <a:r>
              <a:rPr lang="en-GB" dirty="0"/>
              <a:t>“Milking the cash cow” no longer works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http://www.forbes.com/sites/stevedenning/2011/11/19/peggy-noonan-on-steve-jobs-and-why-big-companies-die/#18dcfce23e57</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“Fifty years ago, “milking the cash cow” could go on for many decades. What’s different today is that globalization and the shift in power in the marketplace from buyer to seller is dramatically shortening the life expectancy of firms that are merely milking their cash cows. Half a century ago, the life expectancy of a firm in the Fortune 500 was around 75 years. Now it’s less than 15 years and declining even further.” </a:t>
            </a:r>
            <a:endParaRPr lang="en-US" dirty="0"/>
          </a:p>
          <a:p>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32</a:t>
            </a:fld>
            <a:endParaRPr lang="en-US"/>
          </a:p>
        </p:txBody>
      </p:sp>
    </p:spTree>
    <p:extLst>
      <p:ext uri="{BB962C8B-B14F-4D97-AF65-F5344CB8AC3E}">
        <p14:creationId xmlns:p14="http://schemas.microsoft.com/office/powerpoint/2010/main" val="3736276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5</a:t>
            </a:r>
            <a:r>
              <a:rPr lang="en-GB" baseline="30000" dirty="0"/>
              <a:t>th</a:t>
            </a:r>
            <a:r>
              <a:rPr lang="en-GB" dirty="0"/>
              <a:t> annual report</a:t>
            </a:r>
          </a:p>
          <a:p>
            <a:r>
              <a:rPr lang="en-GB" dirty="0"/>
              <a:t>4,600 technical professionals</a:t>
            </a:r>
          </a:p>
          <a:p>
            <a:endParaRPr lang="en-GB" dirty="0"/>
          </a:p>
          <a:p>
            <a:r>
              <a:rPr lang="en-GB" sz="1200" b="0" i="0" u="none" strike="noStrike" kern="1200" baseline="0" dirty="0">
                <a:solidFill>
                  <a:schemeClr val="tx1"/>
                </a:solidFill>
                <a:latin typeface="+mn-lt"/>
                <a:ea typeface="+mn-ea"/>
                <a:cs typeface="+mn-cs"/>
              </a:rPr>
              <a:t>High IT Performers = deploy on demand, &lt; 1 hr lead time, &lt; 1 hr MTTR, &lt; 15% change failure rate</a:t>
            </a:r>
            <a:endParaRPr lang="en-US" sz="1200" b="0" i="0" u="none" strike="noStrike" kern="1200" baseline="0" dirty="0">
              <a:solidFill>
                <a:schemeClr val="tx1"/>
              </a:solidFill>
              <a:latin typeface="+mn-lt"/>
              <a:ea typeface="+mn-ea"/>
              <a:cs typeface="+mn-cs"/>
            </a:endParaRPr>
          </a:p>
          <a:p>
            <a:r>
              <a:rPr lang="en-GB" sz="1200" b="0" i="1" u="none" strike="noStrike" kern="1200" baseline="0" dirty="0">
                <a:solidFill>
                  <a:schemeClr val="tx1"/>
                </a:solidFill>
                <a:latin typeface="+mn-lt"/>
                <a:ea typeface="+mn-ea"/>
                <a:cs typeface="+mn-cs"/>
              </a:rPr>
              <a:t>lead time - how long does it take to go from code commit to code successfully running in production</a:t>
            </a:r>
            <a:endParaRPr lang="en-GB" sz="1200" b="0" i="0" u="none" strike="noStrike" kern="1200" baseline="0" dirty="0">
              <a:solidFill>
                <a:schemeClr val="tx1"/>
              </a:solidFill>
              <a:latin typeface="+mn-lt"/>
              <a:ea typeface="+mn-ea"/>
              <a:cs typeface="+mn-cs"/>
            </a:endParaRPr>
          </a:p>
          <a:p>
            <a:endParaRPr lang="en-GB" dirty="0"/>
          </a:p>
          <a:p>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33</a:t>
            </a:fld>
            <a:endParaRPr lang="en-US"/>
          </a:p>
        </p:txBody>
      </p:sp>
    </p:spTree>
    <p:extLst>
      <p:ext uri="{BB962C8B-B14F-4D97-AF65-F5344CB8AC3E}">
        <p14:creationId xmlns:p14="http://schemas.microsoft.com/office/powerpoint/2010/main" val="301029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2016 State of DevOps Report (cont.)</a:t>
            </a:r>
          </a:p>
          <a:p>
            <a:pPr marL="171450" indent="-171450">
              <a:buFont typeface="Arial" panose="020B0604020202020204" pitchFamily="34" charset="0"/>
              <a:buChar char="•"/>
            </a:pPr>
            <a:r>
              <a:rPr lang="en-GB" dirty="0"/>
              <a:t>Employees in high-performing teams were </a:t>
            </a:r>
            <a:r>
              <a:rPr lang="en-GB" b="1" dirty="0"/>
              <a:t>2.2 times more likely to recommend their organization</a:t>
            </a:r>
            <a:r>
              <a:rPr lang="en-GB" dirty="0"/>
              <a:t> as a great place to work.</a:t>
            </a:r>
          </a:p>
          <a:p>
            <a:pPr marL="171450" indent="-171450">
              <a:buFont typeface="Arial" panose="020B0604020202020204" pitchFamily="34" charset="0"/>
              <a:buChar char="•"/>
            </a:pPr>
            <a:r>
              <a:rPr lang="en-GB" dirty="0"/>
              <a:t>Taking a lean approach to product development (for example, splitting work into small batches and implementing customer feedback) </a:t>
            </a:r>
            <a:r>
              <a:rPr lang="en-GB" b="1" dirty="0"/>
              <a:t>predicts higher IT performance and less deployment pain</a:t>
            </a:r>
            <a:r>
              <a:rPr lang="en-GB" dirty="0"/>
              <a:t>.</a:t>
            </a:r>
          </a:p>
          <a:p>
            <a:endParaRPr lang="en-US" dirty="0"/>
          </a:p>
          <a:p>
            <a:r>
              <a:rPr lang="en-GB" dirty="0"/>
              <a:t>5</a:t>
            </a:r>
            <a:r>
              <a:rPr lang="en-GB" baseline="30000" dirty="0"/>
              <a:t>th</a:t>
            </a:r>
            <a:r>
              <a:rPr lang="en-GB" dirty="0"/>
              <a:t> annual report</a:t>
            </a:r>
          </a:p>
          <a:p>
            <a:r>
              <a:rPr lang="en-GB" dirty="0"/>
              <a:t>4,600 technical professionals</a:t>
            </a:r>
          </a:p>
          <a:p>
            <a:endParaRPr lang="en-GB" dirty="0"/>
          </a:p>
          <a:p>
            <a:r>
              <a:rPr lang="en-GB" sz="1200" b="0" i="0" u="none" strike="noStrike" kern="1200" baseline="0" dirty="0">
                <a:solidFill>
                  <a:schemeClr val="tx1"/>
                </a:solidFill>
                <a:latin typeface="+mn-lt"/>
                <a:ea typeface="+mn-ea"/>
                <a:cs typeface="+mn-cs"/>
              </a:rPr>
              <a:t>High IT Performers = deploy on demand, &lt; 1 hr lead time, &lt; 1 hr MTTR, &lt; 15% change failure rate</a:t>
            </a:r>
            <a:endParaRPr lang="en-US" sz="1200" b="0" i="0" u="none" strike="noStrike" kern="1200" baseline="0" dirty="0">
              <a:solidFill>
                <a:schemeClr val="tx1"/>
              </a:solidFill>
              <a:latin typeface="+mn-lt"/>
              <a:ea typeface="+mn-ea"/>
              <a:cs typeface="+mn-cs"/>
            </a:endParaRPr>
          </a:p>
          <a:p>
            <a:r>
              <a:rPr lang="en-GB" sz="1200" b="0" i="1" u="none" strike="noStrike" kern="1200" baseline="0" dirty="0">
                <a:solidFill>
                  <a:schemeClr val="tx1"/>
                </a:solidFill>
                <a:latin typeface="+mn-lt"/>
                <a:ea typeface="+mn-ea"/>
                <a:cs typeface="+mn-cs"/>
              </a:rPr>
              <a:t>lead time - how long does it take to go from code commit to code successfully running in production</a:t>
            </a:r>
            <a:endParaRPr lang="en-GB" sz="1200" b="0" i="0" u="none" strike="noStrike" kern="1200" baseline="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34</a:t>
            </a:fld>
            <a:endParaRPr lang="en-US"/>
          </a:p>
        </p:txBody>
      </p:sp>
    </p:spTree>
    <p:extLst>
      <p:ext uri="{BB962C8B-B14F-4D97-AF65-F5344CB8AC3E}">
        <p14:creationId xmlns:p14="http://schemas.microsoft.com/office/powerpoint/2010/main" val="29949339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DevOps = DevOps Principles + DevOps Practices - </a:t>
            </a:r>
            <a:r>
              <a:rPr lang="en-US" dirty="0" err="1">
                <a:hlinkClick r:id="rId3"/>
              </a:rPr>
              <a:t>DZone</a:t>
            </a:r>
            <a:r>
              <a:rPr lang="en-US" dirty="0">
                <a:hlinkClick r:id="rId3"/>
              </a:rPr>
              <a:t> DevOps</a:t>
            </a:r>
            <a:endParaRPr lang="en-US" dirty="0"/>
          </a:p>
          <a:p>
            <a:endParaRPr lang="en-GB" b="1" dirty="0"/>
          </a:p>
          <a:p>
            <a:endParaRPr lang="en-GB" b="1" dirty="0"/>
          </a:p>
          <a:p>
            <a:r>
              <a:rPr lang="en-US" b="1" dirty="0"/>
              <a:t>https://www.youtube.com/watch?v=LdOe18KhtT4 10+ deploys a day at Etsy – Velocity 2009</a:t>
            </a:r>
          </a:p>
        </p:txBody>
      </p:sp>
      <p:sp>
        <p:nvSpPr>
          <p:cNvPr id="4" name="Slide Number Placeholder 3"/>
          <p:cNvSpPr>
            <a:spLocks noGrp="1"/>
          </p:cNvSpPr>
          <p:nvPr>
            <p:ph type="sldNum" sz="quarter" idx="10"/>
          </p:nvPr>
        </p:nvSpPr>
        <p:spPr/>
        <p:txBody>
          <a:bodyPr/>
          <a:lstStyle/>
          <a:p>
            <a:fld id="{E00B8B14-0DA4-4938-B140-950D7CC83499}" type="slidenum">
              <a:rPr lang="en-US" smtClean="0"/>
              <a:pPr/>
              <a:t>36</a:t>
            </a:fld>
            <a:endParaRPr lang="en-US"/>
          </a:p>
        </p:txBody>
      </p:sp>
    </p:spTree>
    <p:extLst>
      <p:ext uri="{BB962C8B-B14F-4D97-AF65-F5344CB8AC3E}">
        <p14:creationId xmlns:p14="http://schemas.microsoft.com/office/powerpoint/2010/main" val="3191142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Deployment frequency </a:t>
            </a:r>
            <a:r>
              <a:rPr lang="en-GB" dirty="0"/>
              <a:t>For the primary application or service you work on, how often does your organization deploy code? </a:t>
            </a:r>
          </a:p>
          <a:p>
            <a:r>
              <a:rPr lang="en-GB" b="1" dirty="0"/>
              <a:t>Lead time for changes </a:t>
            </a:r>
            <a:r>
              <a:rPr lang="en-GB" dirty="0"/>
              <a:t>For the primary application or service you work on, what is your lead time for changes (i.e., how long does it take to go from code commit to code successfully running in production)? </a:t>
            </a:r>
          </a:p>
          <a:p>
            <a:r>
              <a:rPr lang="en-GB" b="1" dirty="0"/>
              <a:t>Mean time to recover (MTTR) </a:t>
            </a:r>
            <a:r>
              <a:rPr lang="en-GB" dirty="0"/>
              <a:t>For the primary application or service you work on, how long does it generally take to restore service when a service incident occurs (e.g., unplanned outage, service impairment)? </a:t>
            </a:r>
          </a:p>
          <a:p>
            <a:r>
              <a:rPr lang="en-GB" b="1" dirty="0"/>
              <a:t>Change failure rate </a:t>
            </a:r>
            <a:r>
              <a:rPr lang="en-GB" dirty="0"/>
              <a:t>For the primary application or service you work on, what percentage of the changes either result in degraded service or subsequently require remediation (e.g., lead to service impairment, service outage, require a hotfix, rollback, fix forward, patch)?</a:t>
            </a:r>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37</a:t>
            </a:fld>
            <a:endParaRPr lang="en-US"/>
          </a:p>
        </p:txBody>
      </p:sp>
    </p:spTree>
    <p:extLst>
      <p:ext uri="{BB962C8B-B14F-4D97-AF65-F5344CB8AC3E}">
        <p14:creationId xmlns:p14="http://schemas.microsoft.com/office/powerpoint/2010/main" val="3994644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code usually</a:t>
            </a:r>
            <a:r>
              <a:rPr lang="en-US" baseline="0" dirty="0"/>
              <a:t> goes to a VCS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41</a:t>
            </a:fld>
            <a:endParaRPr lang="en-US"/>
          </a:p>
        </p:txBody>
      </p:sp>
    </p:spTree>
    <p:extLst>
      <p:ext uri="{BB962C8B-B14F-4D97-AF65-F5344CB8AC3E}">
        <p14:creationId xmlns:p14="http://schemas.microsoft.com/office/powerpoint/2010/main" val="2514878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42</a:t>
            </a:fld>
            <a:endParaRPr lang="en-US"/>
          </a:p>
        </p:txBody>
      </p:sp>
    </p:spTree>
    <p:extLst>
      <p:ext uri="{BB962C8B-B14F-4D97-AF65-F5344CB8AC3E}">
        <p14:creationId xmlns:p14="http://schemas.microsoft.com/office/powerpoint/2010/main" val="3619144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43</a:t>
            </a:fld>
            <a:endParaRPr lang="en-US"/>
          </a:p>
        </p:txBody>
      </p:sp>
    </p:spTree>
    <p:extLst>
      <p:ext uri="{BB962C8B-B14F-4D97-AF65-F5344CB8AC3E}">
        <p14:creationId xmlns:p14="http://schemas.microsoft.com/office/powerpoint/2010/main" val="914648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44</a:t>
            </a:fld>
            <a:endParaRPr lang="en-US"/>
          </a:p>
        </p:txBody>
      </p:sp>
    </p:spTree>
    <p:extLst>
      <p:ext uri="{BB962C8B-B14F-4D97-AF65-F5344CB8AC3E}">
        <p14:creationId xmlns:p14="http://schemas.microsoft.com/office/powerpoint/2010/main" val="3818814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45</a:t>
            </a:fld>
            <a:endParaRPr lang="en-US"/>
          </a:p>
        </p:txBody>
      </p:sp>
    </p:spTree>
    <p:extLst>
      <p:ext uri="{BB962C8B-B14F-4D97-AF65-F5344CB8AC3E}">
        <p14:creationId xmlns:p14="http://schemas.microsoft.com/office/powerpoint/2010/main" val="6536114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46</a:t>
            </a:fld>
            <a:endParaRPr lang="en-US"/>
          </a:p>
        </p:txBody>
      </p:sp>
    </p:spTree>
    <p:extLst>
      <p:ext uri="{BB962C8B-B14F-4D97-AF65-F5344CB8AC3E}">
        <p14:creationId xmlns:p14="http://schemas.microsoft.com/office/powerpoint/2010/main" val="570663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47</a:t>
            </a:fld>
            <a:endParaRPr lang="en-US"/>
          </a:p>
        </p:txBody>
      </p:sp>
    </p:spTree>
    <p:extLst>
      <p:ext uri="{BB962C8B-B14F-4D97-AF65-F5344CB8AC3E}">
        <p14:creationId xmlns:p14="http://schemas.microsoft.com/office/powerpoint/2010/main" val="7085568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48</a:t>
            </a:fld>
            <a:endParaRPr lang="en-US"/>
          </a:p>
        </p:txBody>
      </p:sp>
    </p:spTree>
    <p:extLst>
      <p:ext uri="{BB962C8B-B14F-4D97-AF65-F5344CB8AC3E}">
        <p14:creationId xmlns:p14="http://schemas.microsoft.com/office/powerpoint/2010/main" val="1048327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application</a:t>
            </a:r>
            <a:r>
              <a:rPr lang="en-US" baseline="0" dirty="0"/>
              <a:t> usually kicks off a CI process</a:t>
            </a:r>
            <a:endParaRPr lang="en-US" dirty="0"/>
          </a:p>
        </p:txBody>
      </p:sp>
      <p:sp>
        <p:nvSpPr>
          <p:cNvPr id="4" name="Slide Number Placeholder 3"/>
          <p:cNvSpPr>
            <a:spLocks noGrp="1"/>
          </p:cNvSpPr>
          <p:nvPr>
            <p:ph type="sldNum" sz="quarter" idx="10"/>
          </p:nvPr>
        </p:nvSpPr>
        <p:spPr/>
        <p:txBody>
          <a:bodyPr/>
          <a:lstStyle/>
          <a:p>
            <a:fld id="{87498C35-2CA1-4787-8D16-AA5DAAEE4383}" type="slidenum">
              <a:rPr lang="en-US" smtClean="0"/>
              <a:pPr/>
              <a:t>49</a:t>
            </a:fld>
            <a:endParaRPr lang="en-US"/>
          </a:p>
        </p:txBody>
      </p:sp>
    </p:spTree>
    <p:extLst>
      <p:ext uri="{BB962C8B-B14F-4D97-AF65-F5344CB8AC3E}">
        <p14:creationId xmlns:p14="http://schemas.microsoft.com/office/powerpoint/2010/main" val="4020766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1. </a:t>
            </a:r>
            <a:r>
              <a:rPr lang="en-GB" sz="1200" b="0" i="0" kern="1200" dirty="0">
                <a:solidFill>
                  <a:schemeClr val="tx1"/>
                </a:solidFill>
                <a:effectLst/>
                <a:latin typeface="+mn-lt"/>
                <a:ea typeface="+mn-ea"/>
                <a:cs typeface="+mn-cs"/>
              </a:rPr>
              <a:t>DevOps Is More for Dev Than for Ops</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2. Ops Can Be More Agile Without Starting From Scratch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3. DevOps Isn’t Well Suited to Complex Production Environments</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4. Implementing DevOps Can Make Things Worse Before Making Them Better</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5. Open Source Isn’t Always as Important as Battle-tested</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Containers</a:t>
            </a:r>
          </a:p>
          <a:p>
            <a:pPr fontAlgn="base"/>
            <a:r>
              <a:rPr lang="en-GB" sz="1200" b="1" i="0" kern="1200" dirty="0">
                <a:solidFill>
                  <a:schemeClr val="tx1"/>
                </a:solidFill>
                <a:effectLst/>
                <a:latin typeface="+mn-lt"/>
                <a:ea typeface="+mn-ea"/>
                <a:cs typeface="+mn-cs"/>
              </a:rPr>
              <a:t>https://ondigitalmarketing.com/learn/odm/foundations/5-customer-segments-technology-adoption </a:t>
            </a:r>
          </a:p>
          <a:p>
            <a:pPr fontAlgn="base"/>
            <a:r>
              <a:rPr lang="en-GB" sz="1200" b="1" i="0" kern="1200" dirty="0">
                <a:solidFill>
                  <a:schemeClr val="tx1"/>
                </a:solidFill>
                <a:effectLst/>
                <a:latin typeface="+mn-lt"/>
                <a:ea typeface="+mn-ea"/>
                <a:cs typeface="+mn-cs"/>
              </a:rPr>
              <a:t>Innovators (2.5%)</a:t>
            </a:r>
            <a:r>
              <a:rPr lang="en-GB" sz="1200" b="0" i="0" kern="1200" dirty="0">
                <a:solidFill>
                  <a:schemeClr val="tx1"/>
                </a:solidFill>
                <a:effectLst/>
                <a:latin typeface="+mn-lt"/>
                <a:ea typeface="+mn-ea"/>
                <a:cs typeface="+mn-cs"/>
              </a:rPr>
              <a:t> – Innovators are the first individuals to adopt an innovation. Innovators are willing to take risks, youngest in age, have the highest</a:t>
            </a:r>
            <a:r>
              <a:rPr lang="en-GB" sz="1200" b="0" i="0" u="none" strike="noStrike" kern="1200" dirty="0">
                <a:solidFill>
                  <a:schemeClr val="tx1"/>
                </a:solidFill>
                <a:effectLst/>
                <a:latin typeface="+mn-lt"/>
                <a:ea typeface="+mn-ea"/>
                <a:cs typeface="+mn-cs"/>
                <a:hlinkClick r:id="rId3"/>
              </a:rPr>
              <a:t> social class</a:t>
            </a:r>
            <a:r>
              <a:rPr lang="en-GB" sz="1200" b="0" i="0" kern="1200" dirty="0">
                <a:solidFill>
                  <a:schemeClr val="tx1"/>
                </a:solidFill>
                <a:effectLst/>
                <a:latin typeface="+mn-lt"/>
                <a:ea typeface="+mn-ea"/>
                <a:cs typeface="+mn-cs"/>
              </a:rPr>
              <a:t>, have great financial lucidity, very social and have closest contact to scientific sources and interaction with other innovators. Risk tolerance has them adopting technologies which may ultimately fail. Financial resources help absorb these failures. (</a:t>
            </a:r>
            <a:r>
              <a:rPr lang="en-GB" sz="1200" b="0" i="0" u="none" strike="noStrike" kern="1200" dirty="0">
                <a:solidFill>
                  <a:schemeClr val="tx1"/>
                </a:solidFill>
                <a:effectLst/>
                <a:latin typeface="+mn-lt"/>
                <a:ea typeface="+mn-ea"/>
                <a:cs typeface="+mn-cs"/>
                <a:hlinkClick r:id="rId4"/>
              </a:rPr>
              <a:t>Rogers 1962 5th </a:t>
            </a:r>
            <a:r>
              <a:rPr lang="en-GB" sz="1200" b="0" i="0" u="none" strike="noStrike" kern="1200" dirty="0" err="1">
                <a:solidFill>
                  <a:schemeClr val="tx1"/>
                </a:solidFill>
                <a:effectLst/>
                <a:latin typeface="+mn-lt"/>
                <a:ea typeface="+mn-ea"/>
                <a:cs typeface="+mn-cs"/>
                <a:hlinkClick r:id="rId4"/>
              </a:rPr>
              <a:t>ed</a:t>
            </a:r>
            <a:r>
              <a:rPr lang="en-GB" sz="1200" b="0" i="0" kern="1200" dirty="0">
                <a:solidFill>
                  <a:schemeClr val="tx1"/>
                </a:solidFill>
                <a:effectLst/>
                <a:latin typeface="+mn-lt"/>
                <a:ea typeface="+mn-ea"/>
                <a:cs typeface="+mn-cs"/>
              </a:rPr>
              <a:t>, p. 282)</a:t>
            </a:r>
          </a:p>
          <a:p>
            <a:pPr fontAlgn="base"/>
            <a:r>
              <a:rPr lang="en-GB" sz="1200" b="1" i="0" kern="1200" dirty="0">
                <a:solidFill>
                  <a:schemeClr val="tx1"/>
                </a:solidFill>
                <a:effectLst/>
                <a:latin typeface="+mn-lt"/>
                <a:ea typeface="+mn-ea"/>
                <a:cs typeface="+mn-cs"/>
              </a:rPr>
              <a:t>Early Adopters (13.5%)</a:t>
            </a:r>
            <a:r>
              <a:rPr lang="en-GB" sz="1200" b="0" i="0" kern="1200" dirty="0">
                <a:solidFill>
                  <a:schemeClr val="tx1"/>
                </a:solidFill>
                <a:effectLst/>
                <a:latin typeface="+mn-lt"/>
                <a:ea typeface="+mn-ea"/>
                <a:cs typeface="+mn-cs"/>
              </a:rPr>
              <a:t> – This is the second fastest category of individuals who adopt an innovation. These individuals have the highest degree of</a:t>
            </a:r>
            <a:r>
              <a:rPr lang="en-GB" sz="1200" b="0" i="0" u="none" strike="noStrike" kern="1200" dirty="0">
                <a:solidFill>
                  <a:schemeClr val="tx1"/>
                </a:solidFill>
                <a:effectLst/>
                <a:latin typeface="+mn-lt"/>
                <a:ea typeface="+mn-ea"/>
                <a:cs typeface="+mn-cs"/>
                <a:hlinkClick r:id="rId5"/>
              </a:rPr>
              <a:t> opinion leadership</a:t>
            </a:r>
            <a:r>
              <a:rPr lang="en-GB" sz="1200" b="0" i="0" kern="1200" dirty="0">
                <a:solidFill>
                  <a:schemeClr val="tx1"/>
                </a:solidFill>
                <a:effectLst/>
                <a:latin typeface="+mn-lt"/>
                <a:ea typeface="+mn-ea"/>
                <a:cs typeface="+mn-cs"/>
              </a:rPr>
              <a:t> among the other adopter categories.</a:t>
            </a:r>
            <a:r>
              <a:rPr lang="en-GB" sz="1200" b="0" i="0" u="none" strike="noStrike" kern="1200" dirty="0">
                <a:solidFill>
                  <a:schemeClr val="tx1"/>
                </a:solidFill>
                <a:effectLst/>
                <a:latin typeface="+mn-lt"/>
                <a:ea typeface="+mn-ea"/>
                <a:cs typeface="+mn-cs"/>
                <a:hlinkClick r:id="rId6"/>
              </a:rPr>
              <a:t> Early adopters</a:t>
            </a:r>
            <a:r>
              <a:rPr lang="en-GB" sz="1200" b="0" i="0" kern="1200" dirty="0">
                <a:solidFill>
                  <a:schemeClr val="tx1"/>
                </a:solidFill>
                <a:effectLst/>
                <a:latin typeface="+mn-lt"/>
                <a:ea typeface="+mn-ea"/>
                <a:cs typeface="+mn-cs"/>
              </a:rPr>
              <a:t> are typically younger in age, have a higher social status, have more financial lucidity, advanced education, and are more socially forward than late adopters. More discrete in adoption choices than innovators. Realize judicious choice of adoption will help them maintain central communication position (</a:t>
            </a:r>
            <a:r>
              <a:rPr lang="en-GB" sz="1200" b="0" i="0" u="none" strike="noStrike" kern="1200" dirty="0">
                <a:solidFill>
                  <a:schemeClr val="tx1"/>
                </a:solidFill>
                <a:effectLst/>
                <a:latin typeface="+mn-lt"/>
                <a:ea typeface="+mn-ea"/>
                <a:cs typeface="+mn-cs"/>
                <a:hlinkClick r:id="rId4"/>
              </a:rPr>
              <a:t>Rogers 1962 5th </a:t>
            </a:r>
            <a:r>
              <a:rPr lang="en-GB" sz="1200" b="0" i="0" u="none" strike="noStrike" kern="1200" dirty="0" err="1">
                <a:solidFill>
                  <a:schemeClr val="tx1"/>
                </a:solidFill>
                <a:effectLst/>
                <a:latin typeface="+mn-lt"/>
                <a:ea typeface="+mn-ea"/>
                <a:cs typeface="+mn-cs"/>
                <a:hlinkClick r:id="rId4"/>
              </a:rPr>
              <a:t>ed</a:t>
            </a:r>
            <a:r>
              <a:rPr lang="en-GB" sz="1200" b="0" i="0" kern="1200" dirty="0">
                <a:solidFill>
                  <a:schemeClr val="tx1"/>
                </a:solidFill>
                <a:effectLst/>
                <a:latin typeface="+mn-lt"/>
                <a:ea typeface="+mn-ea"/>
                <a:cs typeface="+mn-cs"/>
              </a:rPr>
              <a:t>, p. 283).</a:t>
            </a:r>
          </a:p>
          <a:p>
            <a:pPr fontAlgn="base"/>
            <a:r>
              <a:rPr lang="en-GB" sz="1200" b="1" i="0" kern="1200" dirty="0">
                <a:solidFill>
                  <a:schemeClr val="tx1"/>
                </a:solidFill>
                <a:effectLst/>
                <a:latin typeface="+mn-lt"/>
                <a:ea typeface="+mn-ea"/>
                <a:cs typeface="+mn-cs"/>
              </a:rPr>
              <a:t>Early Majority (34%)</a:t>
            </a:r>
            <a:r>
              <a:rPr lang="en-GB" sz="1200" b="0" i="0" kern="1200" dirty="0">
                <a:solidFill>
                  <a:schemeClr val="tx1"/>
                </a:solidFill>
                <a:effectLst/>
                <a:latin typeface="+mn-lt"/>
                <a:ea typeface="+mn-ea"/>
                <a:cs typeface="+mn-cs"/>
              </a:rPr>
              <a:t> – Individuals in this category adopt an innovation after a varying degree of time. This time of adoption is significantly longer than the innovators and early adopters. Early Majority tend to be slower in the adoption process, have above average social status, contact with early adopters, and seldom hold positions of</a:t>
            </a:r>
            <a:r>
              <a:rPr lang="en-GB" sz="1200" b="0" i="0" u="none" strike="noStrike" kern="1200" dirty="0">
                <a:solidFill>
                  <a:schemeClr val="tx1"/>
                </a:solidFill>
                <a:effectLst/>
                <a:latin typeface="+mn-lt"/>
                <a:ea typeface="+mn-ea"/>
                <a:cs typeface="+mn-cs"/>
                <a:hlinkClick r:id="rId5"/>
              </a:rPr>
              <a:t> opinion leadership</a:t>
            </a:r>
            <a:r>
              <a:rPr lang="en-GB" sz="1200" b="0" i="0" kern="1200" dirty="0">
                <a:solidFill>
                  <a:schemeClr val="tx1"/>
                </a:solidFill>
                <a:effectLst/>
                <a:latin typeface="+mn-lt"/>
                <a:ea typeface="+mn-ea"/>
                <a:cs typeface="+mn-cs"/>
              </a:rPr>
              <a:t> in a system (</a:t>
            </a:r>
            <a:r>
              <a:rPr lang="en-GB" sz="1200" b="0" i="0" u="none" strike="noStrike" kern="1200" dirty="0">
                <a:solidFill>
                  <a:schemeClr val="tx1"/>
                </a:solidFill>
                <a:effectLst/>
                <a:latin typeface="+mn-lt"/>
                <a:ea typeface="+mn-ea"/>
                <a:cs typeface="+mn-cs"/>
                <a:hlinkClick r:id="rId4"/>
              </a:rPr>
              <a:t>Rogers 1962 5th </a:t>
            </a:r>
            <a:r>
              <a:rPr lang="en-GB" sz="1200" b="0" i="0" u="none" strike="noStrike" kern="1200" dirty="0" err="1">
                <a:solidFill>
                  <a:schemeClr val="tx1"/>
                </a:solidFill>
                <a:effectLst/>
                <a:latin typeface="+mn-lt"/>
                <a:ea typeface="+mn-ea"/>
                <a:cs typeface="+mn-cs"/>
                <a:hlinkClick r:id="rId4"/>
              </a:rPr>
              <a:t>ed</a:t>
            </a:r>
            <a:r>
              <a:rPr lang="en-GB" sz="1200" b="0" i="0" kern="1200" dirty="0">
                <a:solidFill>
                  <a:schemeClr val="tx1"/>
                </a:solidFill>
                <a:effectLst/>
                <a:latin typeface="+mn-lt"/>
                <a:ea typeface="+mn-ea"/>
                <a:cs typeface="+mn-cs"/>
              </a:rPr>
              <a:t>, p. 283)</a:t>
            </a:r>
          </a:p>
          <a:p>
            <a:pPr fontAlgn="base"/>
            <a:r>
              <a:rPr lang="en-GB" sz="1200" b="1" i="0" kern="1200" dirty="0">
                <a:solidFill>
                  <a:schemeClr val="tx1"/>
                </a:solidFill>
                <a:effectLst/>
                <a:latin typeface="+mn-lt"/>
                <a:ea typeface="+mn-ea"/>
                <a:cs typeface="+mn-cs"/>
              </a:rPr>
              <a:t>Late Majority (34%)</a:t>
            </a:r>
            <a:r>
              <a:rPr lang="en-GB" sz="1200" b="0" i="0" kern="1200" dirty="0">
                <a:solidFill>
                  <a:schemeClr val="tx1"/>
                </a:solidFill>
                <a:effectLst/>
                <a:latin typeface="+mn-lt"/>
                <a:ea typeface="+mn-ea"/>
                <a:cs typeface="+mn-cs"/>
              </a:rPr>
              <a:t> – Individuals in this category will adopt an innovation after the average member of the society. These individuals approach an innovation with a high degree of </a:t>
            </a:r>
            <a:r>
              <a:rPr lang="en-GB" sz="1200" b="0" i="0" kern="1200" dirty="0" err="1">
                <a:solidFill>
                  <a:schemeClr val="tx1"/>
                </a:solidFill>
                <a:effectLst/>
                <a:latin typeface="+mn-lt"/>
                <a:ea typeface="+mn-ea"/>
                <a:cs typeface="+mn-cs"/>
              </a:rPr>
              <a:t>skepticism</a:t>
            </a:r>
            <a:r>
              <a:rPr lang="en-GB" sz="1200" b="0" i="0" kern="1200" dirty="0">
                <a:solidFill>
                  <a:schemeClr val="tx1"/>
                </a:solidFill>
                <a:effectLst/>
                <a:latin typeface="+mn-lt"/>
                <a:ea typeface="+mn-ea"/>
                <a:cs typeface="+mn-cs"/>
              </a:rPr>
              <a:t> and after the majority of society has adopted the innovation. Late Majority are typically </a:t>
            </a:r>
            <a:r>
              <a:rPr lang="en-GB" sz="1200" b="0" i="0" kern="1200" dirty="0" err="1">
                <a:solidFill>
                  <a:schemeClr val="tx1"/>
                </a:solidFill>
                <a:effectLst/>
                <a:latin typeface="+mn-lt"/>
                <a:ea typeface="+mn-ea"/>
                <a:cs typeface="+mn-cs"/>
              </a:rPr>
              <a:t>skeptical</a:t>
            </a:r>
            <a:r>
              <a:rPr lang="en-GB" sz="1200" b="0" i="0" kern="1200" dirty="0">
                <a:solidFill>
                  <a:schemeClr val="tx1"/>
                </a:solidFill>
                <a:effectLst/>
                <a:latin typeface="+mn-lt"/>
                <a:ea typeface="+mn-ea"/>
                <a:cs typeface="+mn-cs"/>
              </a:rPr>
              <a:t> about an innovation, have below average social status, very little financial lucidity, in contact with others in late majority and early majority, very little</a:t>
            </a:r>
            <a:r>
              <a:rPr lang="en-GB" sz="1200" b="0" i="0" u="none" strike="noStrike" kern="1200" dirty="0">
                <a:solidFill>
                  <a:schemeClr val="tx1"/>
                </a:solidFill>
                <a:effectLst/>
                <a:latin typeface="+mn-lt"/>
                <a:ea typeface="+mn-ea"/>
                <a:cs typeface="+mn-cs"/>
                <a:hlinkClick r:id="rId5"/>
              </a:rPr>
              <a:t> opinion leadership</a:t>
            </a:r>
            <a:r>
              <a:rPr lang="en-GB" sz="1200" b="0" i="0" kern="1200" dirty="0">
                <a:solidFill>
                  <a:schemeClr val="tx1"/>
                </a:solidFill>
                <a:effectLst/>
                <a:latin typeface="+mn-lt"/>
                <a:ea typeface="+mn-ea"/>
                <a:cs typeface="+mn-cs"/>
              </a:rPr>
              <a:t>.</a:t>
            </a:r>
          </a:p>
          <a:p>
            <a:pPr fontAlgn="base"/>
            <a:r>
              <a:rPr lang="en-GB" sz="1200" b="1" i="0" kern="1200" dirty="0">
                <a:solidFill>
                  <a:schemeClr val="tx1"/>
                </a:solidFill>
                <a:effectLst/>
                <a:latin typeface="+mn-lt"/>
                <a:ea typeface="+mn-ea"/>
                <a:cs typeface="+mn-cs"/>
              </a:rPr>
              <a:t>Laggards (16%)</a:t>
            </a:r>
            <a:r>
              <a:rPr lang="en-GB" sz="1200" b="0" i="0" kern="1200" dirty="0">
                <a:solidFill>
                  <a:schemeClr val="tx1"/>
                </a:solidFill>
                <a:effectLst/>
                <a:latin typeface="+mn-lt"/>
                <a:ea typeface="+mn-ea"/>
                <a:cs typeface="+mn-cs"/>
              </a:rPr>
              <a:t> – Individuals in this category are the last to adopt an innovation. Unlike some of the previous categories, individuals in this category show little to no opinion leadership. These individuals typically have an aversion to change-agents and tend to be advanced in age. Laggards typically tend to be focused on “traditions”, likely to have lowest social status, lowest financial fluidity, be oldest of all other adopters, in contact with only family and close friends, very little to no</a:t>
            </a:r>
            <a:r>
              <a:rPr lang="en-GB" sz="1200" b="0" i="0" u="none" strike="noStrike" kern="1200" dirty="0">
                <a:solidFill>
                  <a:schemeClr val="tx1"/>
                </a:solidFill>
                <a:effectLst/>
                <a:latin typeface="+mn-lt"/>
                <a:ea typeface="+mn-ea"/>
                <a:cs typeface="+mn-cs"/>
                <a:hlinkClick r:id="rId5"/>
              </a:rPr>
              <a:t> opinion leadership</a:t>
            </a:r>
            <a:r>
              <a:rPr lang="en-GB"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E00B8B14-0DA4-4938-B140-950D7CC83499}" type="slidenum">
              <a:rPr lang="en-US" smtClean="0"/>
              <a:pPr/>
              <a:t>50</a:t>
            </a:fld>
            <a:endParaRPr lang="en-US"/>
          </a:p>
        </p:txBody>
      </p:sp>
    </p:spTree>
    <p:extLst>
      <p:ext uri="{BB962C8B-B14F-4D97-AF65-F5344CB8AC3E}">
        <p14:creationId xmlns:p14="http://schemas.microsoft.com/office/powerpoint/2010/main" val="718811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Velocity 09: John </a:t>
            </a:r>
            <a:r>
              <a:rPr lang="en-GB" sz="1200" b="0" i="0" kern="1200" dirty="0" err="1">
                <a:solidFill>
                  <a:schemeClr val="tx1"/>
                </a:solidFill>
                <a:effectLst/>
                <a:latin typeface="+mn-lt"/>
                <a:ea typeface="+mn-ea"/>
                <a:cs typeface="+mn-cs"/>
              </a:rPr>
              <a:t>Allspaw</a:t>
            </a:r>
            <a:r>
              <a:rPr lang="en-GB" sz="1200" b="0" i="0" kern="1200" dirty="0">
                <a:solidFill>
                  <a:schemeClr val="tx1"/>
                </a:solidFill>
                <a:effectLst/>
                <a:latin typeface="+mn-lt"/>
                <a:ea typeface="+mn-ea"/>
                <a:cs typeface="+mn-cs"/>
              </a:rPr>
              <a:t> and Paul Hammond, "10+ Deploys Per</a:t>
            </a:r>
            <a:r>
              <a:rPr lang="en-GB" sz="1200" b="0" i="0" kern="1200" baseline="0" dirty="0">
                <a:solidFill>
                  <a:schemeClr val="tx1"/>
                </a:solidFill>
                <a:effectLst/>
                <a:latin typeface="+mn-lt"/>
                <a:ea typeface="+mn-ea"/>
                <a:cs typeface="+mn-cs"/>
              </a:rPr>
              <a:t> Day at Flickr”</a:t>
            </a:r>
            <a:endParaRPr lang="en-US" dirty="0"/>
          </a:p>
        </p:txBody>
      </p:sp>
      <p:sp>
        <p:nvSpPr>
          <p:cNvPr id="4" name="Slide Number Placeholder 3"/>
          <p:cNvSpPr>
            <a:spLocks noGrp="1"/>
          </p:cNvSpPr>
          <p:nvPr>
            <p:ph type="sldNum" sz="quarter" idx="10"/>
          </p:nvPr>
        </p:nvSpPr>
        <p:spPr/>
        <p:txBody>
          <a:bodyPr/>
          <a:lstStyle/>
          <a:p>
            <a:fld id="{E00B8B14-0DA4-4938-B140-950D7CC83499}" type="slidenum">
              <a:rPr lang="en-US" smtClean="0"/>
              <a:pPr/>
              <a:t>51</a:t>
            </a:fld>
            <a:endParaRPr lang="en-US"/>
          </a:p>
        </p:txBody>
      </p:sp>
    </p:spTree>
    <p:extLst>
      <p:ext uri="{BB962C8B-B14F-4D97-AF65-F5344CB8AC3E}">
        <p14:creationId xmlns:p14="http://schemas.microsoft.com/office/powerpoint/2010/main" val="1388310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6527" y="648017"/>
            <a:ext cx="7560320" cy="2808077"/>
          </a:xfrm>
        </p:spPr>
        <p:txBody>
          <a:bodyPr anchor="b">
            <a:normAutofit/>
          </a:bodyPr>
          <a:lstStyle>
            <a:lvl1pPr algn="l">
              <a:defRPr sz="4536">
                <a:effectLst/>
              </a:defRPr>
            </a:lvl1pPr>
          </a:lstStyle>
          <a:p>
            <a:r>
              <a:rPr lang="en-US"/>
              <a:t>Click to edit Master title style</a:t>
            </a:r>
            <a:endParaRPr lang="en-US" dirty="0"/>
          </a:p>
        </p:txBody>
      </p:sp>
      <p:sp>
        <p:nvSpPr>
          <p:cNvPr id="3" name="Subtitle 2"/>
          <p:cNvSpPr>
            <a:spLocks noGrp="1"/>
          </p:cNvSpPr>
          <p:nvPr>
            <p:ph type="subTitle" idx="1"/>
          </p:nvPr>
        </p:nvSpPr>
        <p:spPr>
          <a:xfrm>
            <a:off x="646527" y="3632099"/>
            <a:ext cx="6048256" cy="1840049"/>
          </a:xfrm>
        </p:spPr>
        <p:txBody>
          <a:bodyPr anchor="t">
            <a:normAutofit/>
          </a:bodyPr>
          <a:lstStyle>
            <a:lvl1pPr marL="0" indent="0" algn="l">
              <a:buNone/>
              <a:defRPr sz="1984">
                <a:solidFill>
                  <a:schemeClr val="bg2">
                    <a:lumMod val="75000"/>
                  </a:schemeClr>
                </a:solidFill>
              </a:defRPr>
            </a:lvl1pPr>
            <a:lvl2pPr marL="432008" indent="0" algn="ctr">
              <a:buNone/>
              <a:defRPr>
                <a:solidFill>
                  <a:schemeClr val="tx1">
                    <a:tint val="75000"/>
                  </a:schemeClr>
                </a:solidFill>
              </a:defRPr>
            </a:lvl2pPr>
            <a:lvl3pPr marL="864017" indent="0" algn="ctr">
              <a:buNone/>
              <a:defRPr>
                <a:solidFill>
                  <a:schemeClr val="tx1">
                    <a:tint val="75000"/>
                  </a:schemeClr>
                </a:solidFill>
              </a:defRPr>
            </a:lvl3pPr>
            <a:lvl4pPr marL="1296025" indent="0" algn="ctr">
              <a:buNone/>
              <a:defRPr>
                <a:solidFill>
                  <a:schemeClr val="tx1">
                    <a:tint val="75000"/>
                  </a:schemeClr>
                </a:solidFill>
              </a:defRPr>
            </a:lvl4pPr>
            <a:lvl5pPr marL="1728033" indent="0" algn="ctr">
              <a:buNone/>
              <a:defRPr>
                <a:solidFill>
                  <a:schemeClr val="tx1">
                    <a:tint val="75000"/>
                  </a:schemeClr>
                </a:solidFill>
              </a:defRPr>
            </a:lvl5pPr>
            <a:lvl6pPr marL="2160041" indent="0" algn="ctr">
              <a:buNone/>
              <a:defRPr>
                <a:solidFill>
                  <a:schemeClr val="tx1">
                    <a:tint val="75000"/>
                  </a:schemeClr>
                </a:solidFill>
              </a:defRPr>
            </a:lvl6pPr>
            <a:lvl7pPr marL="2592050" indent="0" algn="ctr">
              <a:buNone/>
              <a:defRPr>
                <a:solidFill>
                  <a:schemeClr val="tx1">
                    <a:tint val="75000"/>
                  </a:schemeClr>
                </a:solidFill>
              </a:defRPr>
            </a:lvl7pPr>
            <a:lvl8pPr marL="3024058" indent="0" algn="ctr">
              <a:buNone/>
              <a:defRPr>
                <a:solidFill>
                  <a:schemeClr val="tx1">
                    <a:tint val="75000"/>
                  </a:schemeClr>
                </a:solidFill>
              </a:defRPr>
            </a:lvl8pPr>
            <a:lvl9pPr marL="3456066"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7774829" y="8001"/>
            <a:ext cx="3600153" cy="360009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5771744" y="86502"/>
            <a:ext cx="5745744" cy="57456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6837290" y="216006"/>
            <a:ext cx="4680198" cy="468012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6931793" y="30500"/>
            <a:ext cx="4585696" cy="4585625"/>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413315" y="576017"/>
            <a:ext cx="4104173" cy="410411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665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45936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6526" y="1896051"/>
            <a:ext cx="8064343" cy="2155901"/>
          </a:xfrm>
        </p:spPr>
        <p:txBody>
          <a:bodyPr anchor="b">
            <a:normAutofit/>
          </a:bodyPr>
          <a:lstStyle>
            <a:lvl1pPr algn="l">
              <a:defRPr sz="3402" b="0" cap="all"/>
            </a:lvl1pPr>
          </a:lstStyle>
          <a:p>
            <a:r>
              <a:rPr lang="en-US"/>
              <a:t>Click to edit Master title style</a:t>
            </a:r>
            <a:endParaRPr lang="en-US" dirty="0"/>
          </a:p>
        </p:txBody>
      </p:sp>
      <p:sp>
        <p:nvSpPr>
          <p:cNvPr id="3" name="Text Placeholder 2"/>
          <p:cNvSpPr>
            <a:spLocks noGrp="1"/>
          </p:cNvSpPr>
          <p:nvPr>
            <p:ph type="body" idx="1"/>
          </p:nvPr>
        </p:nvSpPr>
        <p:spPr>
          <a:xfrm>
            <a:off x="646528" y="4248115"/>
            <a:ext cx="8064342" cy="1416038"/>
          </a:xfrm>
        </p:spPr>
        <p:txBody>
          <a:bodyPr anchor="t">
            <a:normAutofit/>
          </a:bodyPr>
          <a:lstStyle>
            <a:lvl1pPr marL="0" indent="0" algn="l">
              <a:buNone/>
              <a:defRPr sz="1701">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10684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46527" y="648018"/>
            <a:ext cx="4665698" cy="341609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88233" y="648018"/>
            <a:ext cx="4662697" cy="341609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15875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18540" y="648018"/>
            <a:ext cx="4393686" cy="544514"/>
          </a:xfrm>
        </p:spPr>
        <p:txBody>
          <a:bodyPr anchor="b">
            <a:noAutofit/>
          </a:bodyPr>
          <a:lstStyle>
            <a:lvl1pPr marL="0" indent="0">
              <a:buNone/>
              <a:defRPr sz="2646" b="0">
                <a:solidFill>
                  <a:schemeClr val="tx1"/>
                </a:solidFill>
              </a:defRPr>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Edit Master text styles</a:t>
            </a:r>
          </a:p>
        </p:txBody>
      </p:sp>
      <p:sp>
        <p:nvSpPr>
          <p:cNvPr id="4" name="Content Placeholder 3"/>
          <p:cNvSpPr>
            <a:spLocks noGrp="1"/>
          </p:cNvSpPr>
          <p:nvPr>
            <p:ph sz="half" idx="2"/>
          </p:nvPr>
        </p:nvSpPr>
        <p:spPr>
          <a:xfrm>
            <a:off x="646527" y="1200532"/>
            <a:ext cx="4665698" cy="286357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44243" y="648018"/>
            <a:ext cx="4408187" cy="544514"/>
          </a:xfrm>
        </p:spPr>
        <p:txBody>
          <a:bodyPr anchor="b">
            <a:noAutofit/>
          </a:bodyPr>
          <a:lstStyle>
            <a:lvl1pPr marL="0" indent="0">
              <a:buNone/>
              <a:defRPr sz="2646" b="0">
                <a:solidFill>
                  <a:schemeClr val="tx1"/>
                </a:solidFill>
              </a:defRPr>
            </a:lvl1pPr>
            <a:lvl2pPr marL="432008" indent="0">
              <a:buNone/>
              <a:defRPr sz="1890" b="1"/>
            </a:lvl2pPr>
            <a:lvl3pPr marL="864017" indent="0">
              <a:buNone/>
              <a:defRPr sz="1701" b="1"/>
            </a:lvl3pPr>
            <a:lvl4pPr marL="1296025" indent="0">
              <a:buNone/>
              <a:defRPr sz="1512" b="1"/>
            </a:lvl4pPr>
            <a:lvl5pPr marL="1728033" indent="0">
              <a:buNone/>
              <a:defRPr sz="1512" b="1"/>
            </a:lvl5pPr>
            <a:lvl6pPr marL="2160041" indent="0">
              <a:buNone/>
              <a:defRPr sz="1512" b="1"/>
            </a:lvl6pPr>
            <a:lvl7pPr marL="2592050" indent="0">
              <a:buNone/>
              <a:defRPr sz="1512" b="1"/>
            </a:lvl7pPr>
            <a:lvl8pPr marL="3024058" indent="0">
              <a:buNone/>
              <a:defRPr sz="1512" b="1"/>
            </a:lvl8pPr>
            <a:lvl9pPr marL="3456066" indent="0">
              <a:buNone/>
              <a:defRPr sz="1512" b="1"/>
            </a:lvl9pPr>
          </a:lstStyle>
          <a:p>
            <a:pPr lvl="0"/>
            <a:r>
              <a:rPr lang="en-US"/>
              <a:t>Edit Master text styles</a:t>
            </a:r>
          </a:p>
        </p:txBody>
      </p:sp>
      <p:sp>
        <p:nvSpPr>
          <p:cNvPr id="6" name="Content Placeholder 5"/>
          <p:cNvSpPr>
            <a:spLocks noGrp="1"/>
          </p:cNvSpPr>
          <p:nvPr>
            <p:ph sz="quarter" idx="4"/>
          </p:nvPr>
        </p:nvSpPr>
        <p:spPr>
          <a:xfrm>
            <a:off x="5486732" y="1192532"/>
            <a:ext cx="4657698" cy="286357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0373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60922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350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94783" y="648018"/>
            <a:ext cx="3456146" cy="1296035"/>
          </a:xfrm>
        </p:spPr>
        <p:txBody>
          <a:bodyPr anchor="b">
            <a:normAutofit/>
          </a:bodyPr>
          <a:lstStyle>
            <a:lvl1pPr algn="l">
              <a:defRPr sz="2268" b="0"/>
            </a:lvl1pPr>
          </a:lstStyle>
          <a:p>
            <a:r>
              <a:rPr lang="en-US"/>
              <a:t>Click to edit Master title style</a:t>
            </a:r>
            <a:endParaRPr lang="en-US" dirty="0"/>
          </a:p>
        </p:txBody>
      </p:sp>
      <p:sp>
        <p:nvSpPr>
          <p:cNvPr id="3" name="Content Placeholder 2"/>
          <p:cNvSpPr>
            <a:spLocks noGrp="1"/>
          </p:cNvSpPr>
          <p:nvPr>
            <p:ph idx="1"/>
          </p:nvPr>
        </p:nvSpPr>
        <p:spPr>
          <a:xfrm>
            <a:off x="646527" y="648018"/>
            <a:ext cx="5616239" cy="50161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94783" y="2088056"/>
            <a:ext cx="3456146" cy="1976054"/>
          </a:xfrm>
        </p:spPr>
        <p:txBody>
          <a:bodyPr anchor="t">
            <a:normAutofit/>
          </a:bodyPr>
          <a:lstStyle>
            <a:lvl1pPr marL="0" indent="0">
              <a:buNone/>
              <a:defRPr sz="1512"/>
            </a:lvl1pPr>
            <a:lvl2pPr marL="432008" indent="0">
              <a:buNone/>
              <a:defRPr sz="1134"/>
            </a:lvl2pPr>
            <a:lvl3pPr marL="864017" indent="0">
              <a:buNone/>
              <a:defRPr sz="945"/>
            </a:lvl3pPr>
            <a:lvl4pPr marL="1296025" indent="0">
              <a:buNone/>
              <a:defRPr sz="850"/>
            </a:lvl4pPr>
            <a:lvl5pPr marL="1728033" indent="0">
              <a:buNone/>
              <a:defRPr sz="850"/>
            </a:lvl5pPr>
            <a:lvl6pPr marL="2160041" indent="0">
              <a:buNone/>
              <a:defRPr sz="850"/>
            </a:lvl6pPr>
            <a:lvl7pPr marL="2592050" indent="0">
              <a:buNone/>
              <a:defRPr sz="850"/>
            </a:lvl7pPr>
            <a:lvl8pPr marL="3024058" indent="0">
              <a:buNone/>
              <a:defRPr sz="850"/>
            </a:lvl8pPr>
            <a:lvl9pPr marL="3456066"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01122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62689" y="1368037"/>
            <a:ext cx="5688241" cy="1080029"/>
          </a:xfrm>
        </p:spPr>
        <p:txBody>
          <a:bodyPr anchor="b">
            <a:normAutofit/>
          </a:bodyPr>
          <a:lstStyle>
            <a:lvl1pPr algn="l">
              <a:defRPr sz="2646"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34539" y="864023"/>
            <a:ext cx="3100264" cy="4320117"/>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512"/>
            </a:lvl1pPr>
            <a:lvl2pPr marL="432008" indent="0">
              <a:buNone/>
              <a:defRPr sz="1512"/>
            </a:lvl2pPr>
            <a:lvl3pPr marL="864017" indent="0">
              <a:buNone/>
              <a:defRPr sz="1512"/>
            </a:lvl3pPr>
            <a:lvl4pPr marL="1296025" indent="0">
              <a:buNone/>
              <a:defRPr sz="1512"/>
            </a:lvl4pPr>
            <a:lvl5pPr marL="1728033" indent="0">
              <a:buNone/>
              <a:defRPr sz="1512"/>
            </a:lvl5pPr>
            <a:lvl6pPr marL="2160041" indent="0">
              <a:buNone/>
              <a:defRPr sz="1512"/>
            </a:lvl6pPr>
            <a:lvl7pPr marL="2592050" indent="0">
              <a:buNone/>
              <a:defRPr sz="1512"/>
            </a:lvl7pPr>
            <a:lvl8pPr marL="3024058" indent="0">
              <a:buNone/>
              <a:defRPr sz="1512"/>
            </a:lvl8pPr>
            <a:lvl9pPr marL="3456066" indent="0">
              <a:buNone/>
              <a:defRPr sz="1512"/>
            </a:lvl9pPr>
          </a:lstStyle>
          <a:p>
            <a:r>
              <a:rPr lang="en-US"/>
              <a:t>Click icon to add picture</a:t>
            </a:r>
            <a:endParaRPr lang="en-US" dirty="0"/>
          </a:p>
        </p:txBody>
      </p:sp>
      <p:sp>
        <p:nvSpPr>
          <p:cNvPr id="4" name="Text Placeholder 3"/>
          <p:cNvSpPr>
            <a:spLocks noGrp="1"/>
          </p:cNvSpPr>
          <p:nvPr>
            <p:ph type="body" sz="half" idx="2"/>
          </p:nvPr>
        </p:nvSpPr>
        <p:spPr>
          <a:xfrm>
            <a:off x="4462689" y="2624071"/>
            <a:ext cx="5689741" cy="1936052"/>
          </a:xfrm>
        </p:spPr>
        <p:txBody>
          <a:bodyPr anchor="t">
            <a:normAutofit/>
          </a:bodyPr>
          <a:lstStyle>
            <a:lvl1pPr marL="0" indent="0">
              <a:buNone/>
              <a:defRPr sz="1701"/>
            </a:lvl1pPr>
            <a:lvl2pPr marL="432008" indent="0">
              <a:buNone/>
              <a:defRPr sz="1134"/>
            </a:lvl2pPr>
            <a:lvl3pPr marL="864017" indent="0">
              <a:buNone/>
              <a:defRPr sz="945"/>
            </a:lvl3pPr>
            <a:lvl4pPr marL="1296025" indent="0">
              <a:buNone/>
              <a:defRPr sz="850"/>
            </a:lvl4pPr>
            <a:lvl5pPr marL="1728033" indent="0">
              <a:buNone/>
              <a:defRPr sz="850"/>
            </a:lvl5pPr>
            <a:lvl6pPr marL="2160041" indent="0">
              <a:buNone/>
              <a:defRPr sz="850"/>
            </a:lvl6pPr>
            <a:lvl7pPr marL="2592050" indent="0">
              <a:buNone/>
              <a:defRPr sz="850"/>
            </a:lvl7pPr>
            <a:lvl8pPr marL="3024058" indent="0">
              <a:buNone/>
              <a:defRPr sz="850"/>
            </a:lvl8pPr>
            <a:lvl9pPr marL="3456066"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8865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48027" y="504013"/>
            <a:ext cx="10222933" cy="295208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512"/>
            </a:lvl1pPr>
            <a:lvl2pPr marL="432008" indent="0">
              <a:buNone/>
              <a:defRPr sz="1512"/>
            </a:lvl2pPr>
            <a:lvl3pPr marL="864017" indent="0">
              <a:buNone/>
              <a:defRPr sz="1512"/>
            </a:lvl3pPr>
            <a:lvl4pPr marL="1296025" indent="0">
              <a:buNone/>
              <a:defRPr sz="1512"/>
            </a:lvl4pPr>
            <a:lvl5pPr marL="1728033" indent="0">
              <a:buNone/>
              <a:defRPr sz="1512"/>
            </a:lvl5pPr>
            <a:lvl6pPr marL="2160041" indent="0">
              <a:buNone/>
              <a:defRPr sz="1512"/>
            </a:lvl6pPr>
            <a:lvl7pPr marL="2592050" indent="0">
              <a:buNone/>
              <a:defRPr sz="1512"/>
            </a:lvl7pPr>
            <a:lvl8pPr marL="3024058" indent="0">
              <a:buNone/>
              <a:defRPr sz="1512"/>
            </a:lvl8pPr>
            <a:lvl9pPr marL="3456066" indent="0">
              <a:buNone/>
              <a:defRPr sz="1512"/>
            </a:lvl9pPr>
          </a:lstStyle>
          <a:p>
            <a:r>
              <a:rPr lang="en-US"/>
              <a:t>Click icon to add picture</a:t>
            </a:r>
            <a:endParaRPr lang="en-US" dirty="0"/>
          </a:p>
        </p:txBody>
      </p:sp>
      <p:sp>
        <p:nvSpPr>
          <p:cNvPr id="16" name="Text Placeholder 9"/>
          <p:cNvSpPr>
            <a:spLocks noGrp="1"/>
          </p:cNvSpPr>
          <p:nvPr>
            <p:ph type="body" sz="quarter" idx="14"/>
          </p:nvPr>
        </p:nvSpPr>
        <p:spPr>
          <a:xfrm>
            <a:off x="864039" y="3632098"/>
            <a:ext cx="7846830" cy="432012"/>
          </a:xfrm>
        </p:spPr>
        <p:txBody>
          <a:bodyPr anchor="t">
            <a:normAutofit/>
          </a:bodyPr>
          <a:lstStyle>
            <a:lvl1pPr marL="0" indent="0">
              <a:buFontTx/>
              <a:buNone/>
              <a:defRPr sz="1512"/>
            </a:lvl1pPr>
            <a:lvl2pPr marL="432008" indent="0">
              <a:buFontTx/>
              <a:buNone/>
              <a:defRPr/>
            </a:lvl2pPr>
            <a:lvl3pPr marL="864017" indent="0">
              <a:buFontTx/>
              <a:buNone/>
              <a:defRPr/>
            </a:lvl3pPr>
            <a:lvl4pPr marL="1296025" indent="0">
              <a:buFontTx/>
              <a:buNone/>
              <a:defRPr/>
            </a:lvl4pPr>
            <a:lvl5pPr marL="1728033"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9950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46528" y="648018"/>
            <a:ext cx="9504403" cy="2592070"/>
          </a:xfrm>
        </p:spPr>
        <p:txBody>
          <a:bodyPr anchor="ctr">
            <a:normAutofit/>
          </a:bodyPr>
          <a:lstStyle>
            <a:lvl1pPr algn="l">
              <a:defRPr sz="3024" b="0" cap="all"/>
            </a:lvl1pPr>
          </a:lstStyle>
          <a:p>
            <a:r>
              <a:rPr lang="en-US"/>
              <a:t>Click to edit Master title style</a:t>
            </a:r>
            <a:endParaRPr lang="en-US" dirty="0"/>
          </a:p>
        </p:txBody>
      </p:sp>
      <p:sp>
        <p:nvSpPr>
          <p:cNvPr id="3" name="Text Placeholder 2"/>
          <p:cNvSpPr>
            <a:spLocks noGrp="1"/>
          </p:cNvSpPr>
          <p:nvPr>
            <p:ph type="body" idx="1"/>
          </p:nvPr>
        </p:nvSpPr>
        <p:spPr>
          <a:xfrm>
            <a:off x="646527" y="3888105"/>
            <a:ext cx="8065842" cy="1776048"/>
          </a:xfrm>
        </p:spPr>
        <p:txBody>
          <a:bodyPr anchor="ctr">
            <a:normAutofit/>
          </a:bodyPr>
          <a:lstStyle>
            <a:lvl1pPr marL="0" indent="0" algn="l">
              <a:buNone/>
              <a:defRPr sz="1890">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73676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8545" y="648018"/>
            <a:ext cx="8640367" cy="2592070"/>
          </a:xfrm>
        </p:spPr>
        <p:txBody>
          <a:bodyPr anchor="ctr">
            <a:normAutofit/>
          </a:bodyPr>
          <a:lstStyle>
            <a:lvl1pPr algn="l">
              <a:defRPr sz="3024"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66557" y="3240087"/>
            <a:ext cx="8064342" cy="360010"/>
          </a:xfrm>
        </p:spPr>
        <p:txBody>
          <a:bodyPr anchor="ctr"/>
          <a:lstStyle>
            <a:lvl1pPr marL="0" indent="0">
              <a:buFontTx/>
              <a:buNone/>
              <a:defRPr/>
            </a:lvl1pPr>
            <a:lvl2pPr marL="432008" indent="0">
              <a:buFontTx/>
              <a:buNone/>
              <a:defRPr/>
            </a:lvl2pPr>
            <a:lvl3pPr marL="864017" indent="0">
              <a:buFontTx/>
              <a:buNone/>
              <a:defRPr/>
            </a:lvl3pPr>
            <a:lvl4pPr marL="1296025" indent="0">
              <a:buFontTx/>
              <a:buNone/>
              <a:defRPr/>
            </a:lvl4pPr>
            <a:lvl5pPr marL="1728033" indent="0">
              <a:buFontTx/>
              <a:buNone/>
              <a:defRPr/>
            </a:lvl5pPr>
          </a:lstStyle>
          <a:p>
            <a:pPr lvl="0"/>
            <a:r>
              <a:rPr lang="en-US"/>
              <a:t>Edit Master text styles</a:t>
            </a:r>
          </a:p>
        </p:txBody>
      </p:sp>
      <p:sp>
        <p:nvSpPr>
          <p:cNvPr id="3" name="Text Placeholder 2"/>
          <p:cNvSpPr>
            <a:spLocks noGrp="1"/>
          </p:cNvSpPr>
          <p:nvPr>
            <p:ph type="body" idx="1"/>
          </p:nvPr>
        </p:nvSpPr>
        <p:spPr>
          <a:xfrm>
            <a:off x="646528" y="4064111"/>
            <a:ext cx="8064342" cy="1592041"/>
          </a:xfrm>
        </p:spPr>
        <p:txBody>
          <a:bodyPr anchor="ctr">
            <a:normAutofit/>
          </a:bodyPr>
          <a:lstStyle>
            <a:lvl1pPr marL="0" indent="0" algn="l">
              <a:buNone/>
              <a:defRPr sz="1890">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02521" y="767475"/>
            <a:ext cx="576024" cy="552559"/>
          </a:xfrm>
          <a:prstGeom prst="rect">
            <a:avLst/>
          </a:prstGeom>
        </p:spPr>
        <p:txBody>
          <a:bodyPr vert="horz" lIns="86402" tIns="43201" rIns="86402" bIns="43201" rtlCol="0" anchor="ctr">
            <a:noAutofit/>
          </a:bodyPr>
          <a:lstStyle/>
          <a:p>
            <a:pPr lvl="0"/>
            <a:r>
              <a:rPr lang="en-US" sz="7559" dirty="0">
                <a:solidFill>
                  <a:schemeClr val="tx1"/>
                </a:solidFill>
                <a:effectLst/>
              </a:rPr>
              <a:t>“</a:t>
            </a:r>
          </a:p>
        </p:txBody>
      </p:sp>
      <p:sp>
        <p:nvSpPr>
          <p:cNvPr id="15" name="TextBox 14"/>
          <p:cNvSpPr txBox="1"/>
          <p:nvPr/>
        </p:nvSpPr>
        <p:spPr>
          <a:xfrm>
            <a:off x="9718911" y="2616072"/>
            <a:ext cx="576024" cy="552559"/>
          </a:xfrm>
          <a:prstGeom prst="rect">
            <a:avLst/>
          </a:prstGeom>
        </p:spPr>
        <p:txBody>
          <a:bodyPr vert="horz" lIns="86402" tIns="43201" rIns="86402" bIns="43201" rtlCol="0" anchor="ctr">
            <a:noAutofit/>
          </a:bodyPr>
          <a:lstStyle/>
          <a:p>
            <a:pPr lvl="0" algn="r"/>
            <a:r>
              <a:rPr lang="en-US" sz="7559" dirty="0">
                <a:solidFill>
                  <a:schemeClr val="tx1"/>
                </a:solidFill>
                <a:effectLst/>
              </a:rPr>
              <a:t>”</a:t>
            </a:r>
          </a:p>
        </p:txBody>
      </p:sp>
    </p:spTree>
    <p:extLst>
      <p:ext uri="{BB962C8B-B14F-4D97-AF65-F5344CB8AC3E}">
        <p14:creationId xmlns:p14="http://schemas.microsoft.com/office/powerpoint/2010/main" val="48421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46527" y="3240087"/>
            <a:ext cx="8064342" cy="1603886"/>
          </a:xfrm>
        </p:spPr>
        <p:txBody>
          <a:bodyPr anchor="b">
            <a:normAutofit/>
          </a:bodyPr>
          <a:lstStyle>
            <a:lvl1pPr algn="l">
              <a:defRPr sz="3024" b="0" cap="all"/>
            </a:lvl1pPr>
          </a:lstStyle>
          <a:p>
            <a:r>
              <a:rPr lang="en-US"/>
              <a:t>Click to edit Master title style</a:t>
            </a:r>
            <a:endParaRPr lang="en-US" dirty="0"/>
          </a:p>
        </p:txBody>
      </p:sp>
      <p:sp>
        <p:nvSpPr>
          <p:cNvPr id="3" name="Text Placeholder 2"/>
          <p:cNvSpPr>
            <a:spLocks noGrp="1"/>
          </p:cNvSpPr>
          <p:nvPr>
            <p:ph type="body" idx="1"/>
          </p:nvPr>
        </p:nvSpPr>
        <p:spPr>
          <a:xfrm>
            <a:off x="646526" y="4850192"/>
            <a:ext cx="8065844" cy="812998"/>
          </a:xfrm>
        </p:spPr>
        <p:txBody>
          <a:bodyPr anchor="t">
            <a:normAutofit/>
          </a:bodyPr>
          <a:lstStyle>
            <a:lvl1pPr marL="0" indent="0" algn="l">
              <a:buNone/>
              <a:defRPr sz="1890">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3469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78546" y="648018"/>
            <a:ext cx="8640366" cy="2592070"/>
          </a:xfrm>
        </p:spPr>
        <p:txBody>
          <a:bodyPr anchor="ctr">
            <a:normAutofit/>
          </a:bodyPr>
          <a:lstStyle>
            <a:lvl1pPr algn="l">
              <a:defRPr sz="3024"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46527" y="3712101"/>
            <a:ext cx="8064343" cy="992026"/>
          </a:xfrm>
        </p:spPr>
        <p:txBody>
          <a:bodyPr vert="horz" lIns="91440" tIns="45720" rIns="91440" bIns="45720" rtlCol="0" anchor="b">
            <a:normAutofit/>
          </a:bodyPr>
          <a:lstStyle>
            <a:lvl1pPr>
              <a:buNone/>
              <a:defRPr lang="en-US" sz="2268"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46526" y="4704127"/>
            <a:ext cx="8064343" cy="960026"/>
          </a:xfrm>
        </p:spPr>
        <p:txBody>
          <a:bodyPr anchor="t">
            <a:normAutofit/>
          </a:bodyPr>
          <a:lstStyle>
            <a:lvl1pPr marL="0" indent="0" algn="l">
              <a:buNone/>
              <a:defRPr sz="1701">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02521" y="767475"/>
            <a:ext cx="576024" cy="552559"/>
          </a:xfrm>
          <a:prstGeom prst="rect">
            <a:avLst/>
          </a:prstGeom>
        </p:spPr>
        <p:txBody>
          <a:bodyPr vert="horz" lIns="86402" tIns="43201" rIns="86402" bIns="43201" rtlCol="0" anchor="ctr">
            <a:noAutofit/>
          </a:bodyPr>
          <a:lstStyle/>
          <a:p>
            <a:pPr lvl="0"/>
            <a:r>
              <a:rPr lang="en-US" sz="7559" dirty="0">
                <a:solidFill>
                  <a:schemeClr val="tx1"/>
                </a:solidFill>
                <a:effectLst/>
              </a:rPr>
              <a:t>“</a:t>
            </a:r>
          </a:p>
        </p:txBody>
      </p:sp>
      <p:sp>
        <p:nvSpPr>
          <p:cNvPr id="12" name="TextBox 11"/>
          <p:cNvSpPr txBox="1"/>
          <p:nvPr/>
        </p:nvSpPr>
        <p:spPr>
          <a:xfrm>
            <a:off x="9718911" y="2616072"/>
            <a:ext cx="576024" cy="552559"/>
          </a:xfrm>
          <a:prstGeom prst="rect">
            <a:avLst/>
          </a:prstGeom>
        </p:spPr>
        <p:txBody>
          <a:bodyPr vert="horz" lIns="86402" tIns="43201" rIns="86402" bIns="43201" rtlCol="0" anchor="ctr">
            <a:noAutofit/>
          </a:bodyPr>
          <a:lstStyle/>
          <a:p>
            <a:pPr lvl="0" algn="r"/>
            <a:r>
              <a:rPr lang="en-US" sz="7559" dirty="0">
                <a:solidFill>
                  <a:schemeClr val="tx1"/>
                </a:solidFill>
                <a:effectLst/>
              </a:rPr>
              <a:t>”</a:t>
            </a:r>
          </a:p>
        </p:txBody>
      </p:sp>
    </p:spTree>
    <p:extLst>
      <p:ext uri="{BB962C8B-B14F-4D97-AF65-F5344CB8AC3E}">
        <p14:creationId xmlns:p14="http://schemas.microsoft.com/office/powerpoint/2010/main" val="1933462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46528" y="648018"/>
            <a:ext cx="9504403" cy="259207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46527" y="3712101"/>
            <a:ext cx="8064342" cy="792021"/>
          </a:xfrm>
        </p:spPr>
        <p:txBody>
          <a:bodyPr vert="horz" lIns="91440" tIns="45720" rIns="91440" bIns="45720" rtlCol="0" anchor="b">
            <a:normAutofit/>
          </a:bodyPr>
          <a:lstStyle>
            <a:lvl1pPr>
              <a:buNone/>
              <a:defRPr lang="en-US" sz="2268"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46526" y="4504121"/>
            <a:ext cx="8064343" cy="1160032"/>
          </a:xfrm>
        </p:spPr>
        <p:txBody>
          <a:bodyPr anchor="t">
            <a:normAutofit/>
          </a:bodyPr>
          <a:lstStyle>
            <a:lvl1pPr marL="0" indent="0" algn="l">
              <a:buNone/>
              <a:defRPr sz="1701">
                <a:solidFill>
                  <a:schemeClr val="bg2">
                    <a:lumMod val="75000"/>
                  </a:schemeClr>
                </a:solidFill>
              </a:defRPr>
            </a:lvl1pPr>
            <a:lvl2pPr marL="432008" indent="0">
              <a:buNone/>
              <a:defRPr sz="1701">
                <a:solidFill>
                  <a:schemeClr val="tx1">
                    <a:tint val="75000"/>
                  </a:schemeClr>
                </a:solidFill>
              </a:defRPr>
            </a:lvl2pPr>
            <a:lvl3pPr marL="864017" indent="0">
              <a:buNone/>
              <a:defRPr sz="1512">
                <a:solidFill>
                  <a:schemeClr val="tx1">
                    <a:tint val="75000"/>
                  </a:schemeClr>
                </a:solidFill>
              </a:defRPr>
            </a:lvl3pPr>
            <a:lvl4pPr marL="1296025" indent="0">
              <a:buNone/>
              <a:defRPr sz="1323">
                <a:solidFill>
                  <a:schemeClr val="tx1">
                    <a:tint val="75000"/>
                  </a:schemeClr>
                </a:solidFill>
              </a:defRPr>
            </a:lvl4pPr>
            <a:lvl5pPr marL="1728033" indent="0">
              <a:buNone/>
              <a:defRPr sz="1323">
                <a:solidFill>
                  <a:schemeClr val="tx1">
                    <a:tint val="75000"/>
                  </a:schemeClr>
                </a:solidFill>
              </a:defRPr>
            </a:lvl5pPr>
            <a:lvl6pPr marL="2160041" indent="0">
              <a:buNone/>
              <a:defRPr sz="1323">
                <a:solidFill>
                  <a:schemeClr val="tx1">
                    <a:tint val="75000"/>
                  </a:schemeClr>
                </a:solidFill>
              </a:defRPr>
            </a:lvl6pPr>
            <a:lvl7pPr marL="2592050" indent="0">
              <a:buNone/>
              <a:defRPr sz="1323">
                <a:solidFill>
                  <a:schemeClr val="tx1">
                    <a:tint val="75000"/>
                  </a:schemeClr>
                </a:solidFill>
              </a:defRPr>
            </a:lvl7pPr>
            <a:lvl8pPr marL="3024058" indent="0">
              <a:buNone/>
              <a:defRPr sz="1323">
                <a:solidFill>
                  <a:schemeClr val="tx1">
                    <a:tint val="75000"/>
                  </a:schemeClr>
                </a:solidFill>
              </a:defRPr>
            </a:lvl8pPr>
            <a:lvl9pPr marL="3456066"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99205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630410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06847" y="648017"/>
            <a:ext cx="1944082" cy="4320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48028" y="648018"/>
            <a:ext cx="7392313" cy="5016135"/>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9623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23" name="Rectangle 22"/>
          <p:cNvSpPr>
            <a:spLocks noChangeAspect="1"/>
          </p:cNvSpPr>
          <p:nvPr userDrawn="1"/>
        </p:nvSpPr>
        <p:spPr>
          <a:xfrm>
            <a:off x="-360000" y="-359913"/>
            <a:ext cx="5324000" cy="7200000"/>
          </a:xfrm>
          <a:prstGeom prst="rect">
            <a:avLst/>
          </a:prstGeom>
          <a:blipFill>
            <a:blip r:embed="rId2">
              <a:alphaModFix amt="20000"/>
            </a:blip>
            <a:stretch>
              <a:fillRect/>
            </a:stretch>
          </a:blipFill>
        </p:spPr>
        <p:txBody>
          <a:bodyPr lIns="0" tIns="0" rIns="0" bIns="0" rtlCol="0" anchor="ctr">
            <a:spAutoFit/>
          </a:bodyPr>
          <a:lstStyle/>
          <a:p>
            <a:pPr algn="l"/>
            <a:endParaRPr lang="en-US" sz="2400" dirty="0">
              <a:solidFill>
                <a:schemeClr val="accent1"/>
              </a:solidFill>
            </a:endParaRPr>
          </a:p>
        </p:txBody>
      </p:sp>
      <p:sp>
        <p:nvSpPr>
          <p:cNvPr id="2" name="Title 1"/>
          <p:cNvSpPr>
            <a:spLocks noGrp="1"/>
          </p:cNvSpPr>
          <p:nvPr>
            <p:ph type="title" hasCustomPrompt="1"/>
          </p:nvPr>
        </p:nvSpPr>
        <p:spPr>
          <a:xfrm>
            <a:off x="360364" y="360363"/>
            <a:ext cx="10799762" cy="5759449"/>
          </a:xfrm>
        </p:spPr>
        <p:txBody>
          <a:bodyPr anchor="ctr"/>
          <a:lstStyle>
            <a:lvl1pPr algn="r">
              <a:defRPr sz="6000" b="0" i="0" cap="none">
                <a:solidFill>
                  <a:schemeClr val="accent1"/>
                </a:solidFill>
                <a:latin typeface="+mj-lt"/>
                <a:cs typeface="Arial"/>
              </a:defRPr>
            </a:lvl1pPr>
          </a:lstStyle>
          <a:p>
            <a:r>
              <a:rPr lang="en-US" dirty="0"/>
              <a:t>Section Title</a:t>
            </a:r>
          </a:p>
        </p:txBody>
      </p:sp>
    </p:spTree>
    <p:extLst>
      <p:ext uri="{BB962C8B-B14F-4D97-AF65-F5344CB8AC3E}">
        <p14:creationId xmlns:p14="http://schemas.microsoft.com/office/powerpoint/2010/main" val="3836293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125" y="360363"/>
            <a:ext cx="10800000" cy="5759450"/>
          </a:xfrm>
        </p:spPr>
        <p:txBody>
          <a:bodyPr/>
          <a:lstStyle>
            <a:lvl1pPr marL="0" indent="0">
              <a:buFont typeface="Wingdings" charset="2"/>
              <a:buNone/>
              <a:defRPr>
                <a:solidFill>
                  <a:schemeClr val="tx2"/>
                </a:solidFill>
              </a:defRPr>
            </a:lvl1pPr>
            <a:lvl2pPr marL="576027" indent="0">
              <a:buFont typeface="Wingdings" charset="2"/>
              <a:buNone/>
              <a:defRPr>
                <a:solidFill>
                  <a:srgbClr val="474947"/>
                </a:solidFill>
              </a:defRPr>
            </a:lvl2pPr>
            <a:lvl3pPr marL="1152053" indent="0">
              <a:buFont typeface="Wingdings" charset="2"/>
              <a:buNone/>
              <a:defRPr>
                <a:solidFill>
                  <a:srgbClr val="474947"/>
                </a:solidFill>
              </a:defRPr>
            </a:lvl3pPr>
            <a:lvl4pPr marL="1728079" indent="0">
              <a:buFont typeface="Wingdings" charset="2"/>
              <a:buNone/>
              <a:defRPr>
                <a:solidFill>
                  <a:srgbClr val="474947"/>
                </a:solidFill>
              </a:defRPr>
            </a:lvl4pPr>
            <a:lvl5pPr marL="2304105" indent="0">
              <a:buFont typeface="Wingdings" charset="2"/>
              <a:buNone/>
              <a:defRPr>
                <a:solidFill>
                  <a:srgbClr val="474947"/>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9054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8699867" y="2800076"/>
            <a:ext cx="2817623" cy="3032082"/>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46527" y="4240114"/>
            <a:ext cx="8064342" cy="142403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46527" y="648018"/>
            <a:ext cx="8064342" cy="341609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358896" y="5832158"/>
            <a:ext cx="1512064" cy="345009"/>
          </a:xfrm>
          <a:prstGeom prst="rect">
            <a:avLst/>
          </a:prstGeom>
        </p:spPr>
        <p:txBody>
          <a:bodyPr vert="horz" lIns="91440" tIns="45720" rIns="91440" bIns="45720" rtlCol="0" anchor="t"/>
          <a:lstStyle>
            <a:lvl1pPr algn="r">
              <a:defRPr sz="945" b="0" i="0">
                <a:solidFill>
                  <a:schemeClr val="bg2">
                    <a:lumMod val="50000"/>
                  </a:schemeClr>
                </a:solidFill>
                <a:effectLst/>
                <a:latin typeface="+mn-lt"/>
              </a:defRPr>
            </a:lvl1pPr>
          </a:lstStyle>
          <a:p>
            <a:fld id="{B61BEF0D-F0BB-DE4B-95CE-6DB70DBA9567}" type="datetimeFigureOut">
              <a:rPr lang="en-US" dirty="0"/>
              <a:pPr/>
              <a:t>10/8/2020</a:t>
            </a:fld>
            <a:endParaRPr lang="en-US" dirty="0"/>
          </a:p>
        </p:txBody>
      </p:sp>
      <p:sp>
        <p:nvSpPr>
          <p:cNvPr id="5" name="Footer Placeholder 4"/>
          <p:cNvSpPr>
            <a:spLocks noGrp="1"/>
          </p:cNvSpPr>
          <p:nvPr>
            <p:ph type="ftr" sz="quarter" idx="3"/>
          </p:nvPr>
        </p:nvSpPr>
        <p:spPr>
          <a:xfrm>
            <a:off x="646527" y="5832158"/>
            <a:ext cx="7128302" cy="345009"/>
          </a:xfrm>
          <a:prstGeom prst="rect">
            <a:avLst/>
          </a:prstGeom>
        </p:spPr>
        <p:txBody>
          <a:bodyPr vert="horz" lIns="91440" tIns="45720" rIns="91440" bIns="45720" rtlCol="0" anchor="t"/>
          <a:lstStyle>
            <a:lvl1pPr algn="l">
              <a:defRPr sz="945"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9792415" y="5271143"/>
            <a:ext cx="1079332" cy="633017"/>
          </a:xfrm>
          <a:prstGeom prst="rect">
            <a:avLst/>
          </a:prstGeom>
        </p:spPr>
        <p:txBody>
          <a:bodyPr vert="horz" lIns="91440" tIns="45720" rIns="91440" bIns="45720" rtlCol="0" anchor="b"/>
          <a:lstStyle>
            <a:lvl1pPr algn="r">
              <a:defRPr sz="3024" b="0" i="0">
                <a:solidFill>
                  <a:schemeClr val="bg2">
                    <a:lumMod val="50000"/>
                  </a:schemeClr>
                </a:solidFill>
                <a:effectLst/>
                <a:latin typeface="+mn-lt"/>
              </a:defRPr>
            </a:lvl1pPr>
          </a:lstStyle>
          <a:p>
            <a:fld id="{D57F1E4F-1CFF-5643-939E-217C01CDF565}" type="slidenum">
              <a:rPr lang="en-US" dirty="0"/>
              <a:pPr/>
              <a:t>‹#›</a:t>
            </a:fld>
            <a:endParaRPr lang="en-US" dirty="0"/>
          </a:p>
        </p:txBody>
      </p:sp>
      <p:sp>
        <p:nvSpPr>
          <p:cNvPr id="13" name="TextBox 12"/>
          <p:cNvSpPr txBox="1"/>
          <p:nvPr userDrawn="1"/>
        </p:nvSpPr>
        <p:spPr>
          <a:xfrm>
            <a:off x="1587525" y="1153073"/>
            <a:ext cx="184731" cy="441339"/>
          </a:xfrm>
          <a:prstGeom prst="rect">
            <a:avLst/>
          </a:prstGeom>
          <a:noFill/>
        </p:spPr>
        <p:txBody>
          <a:bodyPr wrap="none" rtlCol="0">
            <a:spAutoFit/>
          </a:bodyPr>
          <a:lstStyle/>
          <a:p>
            <a:endParaRPr lang="en-US" sz="2268" dirty="0"/>
          </a:p>
        </p:txBody>
      </p:sp>
    </p:spTree>
    <p:extLst>
      <p:ext uri="{BB962C8B-B14F-4D97-AF65-F5344CB8AC3E}">
        <p14:creationId xmlns:p14="http://schemas.microsoft.com/office/powerpoint/2010/main" val="291778151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9" r:id="rId18"/>
    <p:sldLayoutId id="2147483656" r:id="rId19"/>
  </p:sldLayoutIdLst>
  <p:txStyles>
    <p:title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0005" indent="-270005" algn="l" defTabSz="432008" rtl="0" eaLnBrk="1" latinLnBrk="0" hangingPunct="1">
        <a:spcBef>
          <a:spcPct val="20000"/>
        </a:spcBef>
        <a:spcAft>
          <a:spcPts val="567"/>
        </a:spcAft>
        <a:buClr>
          <a:schemeClr val="tx1"/>
        </a:buClr>
        <a:buSzPct val="80000"/>
        <a:buFont typeface="Wingdings 3" panose="05040102010807070707" pitchFamily="18" charset="2"/>
        <a:buChar char=""/>
        <a:defRPr sz="1890" kern="1200" cap="none">
          <a:solidFill>
            <a:schemeClr val="bg2">
              <a:lumMod val="75000"/>
            </a:schemeClr>
          </a:solidFill>
          <a:effectLst/>
          <a:latin typeface="+mn-lt"/>
          <a:ea typeface="+mn-ea"/>
          <a:cs typeface="+mn-cs"/>
        </a:defRPr>
      </a:lvl1pPr>
      <a:lvl2pPr marL="702013" indent="-270005" algn="l" defTabSz="432008" rtl="0" eaLnBrk="1" latinLnBrk="0" hangingPunct="1">
        <a:spcBef>
          <a:spcPct val="20000"/>
        </a:spcBef>
        <a:spcAft>
          <a:spcPts val="567"/>
        </a:spcAft>
        <a:buClr>
          <a:schemeClr val="tx1"/>
        </a:buClr>
        <a:buSzPct val="80000"/>
        <a:buFont typeface="Wingdings 3" panose="05040102010807070707" pitchFamily="18" charset="2"/>
        <a:buChar char=""/>
        <a:defRPr sz="1701" kern="1200" cap="none">
          <a:solidFill>
            <a:schemeClr val="bg2">
              <a:lumMod val="75000"/>
            </a:schemeClr>
          </a:solidFill>
          <a:effectLst/>
          <a:latin typeface="+mn-lt"/>
          <a:ea typeface="+mn-ea"/>
          <a:cs typeface="+mn-cs"/>
        </a:defRPr>
      </a:lvl2pPr>
      <a:lvl3pPr marL="1134022" indent="-270005" algn="l" defTabSz="432008" rtl="0" eaLnBrk="1" latinLnBrk="0" hangingPunct="1">
        <a:spcBef>
          <a:spcPct val="20000"/>
        </a:spcBef>
        <a:spcAft>
          <a:spcPts val="567"/>
        </a:spcAft>
        <a:buClr>
          <a:schemeClr val="tx1"/>
        </a:buClr>
        <a:buSzPct val="80000"/>
        <a:buFont typeface="Wingdings 3" panose="05040102010807070707" pitchFamily="18" charset="2"/>
        <a:buChar char=""/>
        <a:defRPr sz="1512" kern="1200" cap="none">
          <a:solidFill>
            <a:schemeClr val="bg2">
              <a:lumMod val="75000"/>
            </a:schemeClr>
          </a:solidFill>
          <a:effectLst/>
          <a:latin typeface="+mn-lt"/>
          <a:ea typeface="+mn-ea"/>
          <a:cs typeface="+mn-cs"/>
        </a:defRPr>
      </a:lvl3pPr>
      <a:lvl4pPr marL="1458028" indent="-162003"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4pPr>
      <a:lvl5pPr marL="1890036" indent="-162003"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5pPr>
      <a:lvl6pPr marL="2376046" indent="-216004"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6pPr>
      <a:lvl7pPr marL="2808054" indent="-216004"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7pPr>
      <a:lvl8pPr marL="3240062" indent="-216004"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8pPr>
      <a:lvl9pPr marL="3672070" indent="-216004" algn="l" defTabSz="432008" rtl="0" eaLnBrk="1" latinLnBrk="0" hangingPunct="1">
        <a:spcBef>
          <a:spcPct val="20000"/>
        </a:spcBef>
        <a:spcAft>
          <a:spcPts val="567"/>
        </a:spcAft>
        <a:buClr>
          <a:schemeClr val="tx1"/>
        </a:buClr>
        <a:buSzPct val="80000"/>
        <a:buFont typeface="Wingdings 3" panose="05040102010807070707" pitchFamily="18" charset="2"/>
        <a:buChar char=""/>
        <a:defRPr sz="1323" kern="1200" cap="none">
          <a:solidFill>
            <a:schemeClr val="bg2">
              <a:lumMod val="75000"/>
            </a:schemeClr>
          </a:solidFill>
          <a:effectLst/>
          <a:latin typeface="+mn-lt"/>
          <a:ea typeface="+mn-ea"/>
          <a:cs typeface="+mn-cs"/>
        </a:defRPr>
      </a:lvl9pPr>
    </p:bodyStyle>
    <p:otherStyle>
      <a:defPPr>
        <a:defRPr lang="en-US"/>
      </a:defPPr>
      <a:lvl1pPr marL="0" algn="l" defTabSz="432008" rtl="0" eaLnBrk="1" latinLnBrk="0" hangingPunct="1">
        <a:defRPr sz="1701" kern="1200">
          <a:solidFill>
            <a:schemeClr val="tx1"/>
          </a:solidFill>
          <a:latin typeface="+mn-lt"/>
          <a:ea typeface="+mn-ea"/>
          <a:cs typeface="+mn-cs"/>
        </a:defRPr>
      </a:lvl1pPr>
      <a:lvl2pPr marL="432008" algn="l" defTabSz="432008" rtl="0" eaLnBrk="1" latinLnBrk="0" hangingPunct="1">
        <a:defRPr sz="1701" kern="1200">
          <a:solidFill>
            <a:schemeClr val="tx1"/>
          </a:solidFill>
          <a:latin typeface="+mn-lt"/>
          <a:ea typeface="+mn-ea"/>
          <a:cs typeface="+mn-cs"/>
        </a:defRPr>
      </a:lvl2pPr>
      <a:lvl3pPr marL="864017" algn="l" defTabSz="432008" rtl="0" eaLnBrk="1" latinLnBrk="0" hangingPunct="1">
        <a:defRPr sz="1701" kern="1200">
          <a:solidFill>
            <a:schemeClr val="tx1"/>
          </a:solidFill>
          <a:latin typeface="+mn-lt"/>
          <a:ea typeface="+mn-ea"/>
          <a:cs typeface="+mn-cs"/>
        </a:defRPr>
      </a:lvl3pPr>
      <a:lvl4pPr marL="1296025" algn="l" defTabSz="432008" rtl="0" eaLnBrk="1" latinLnBrk="0" hangingPunct="1">
        <a:defRPr sz="1701" kern="1200">
          <a:solidFill>
            <a:schemeClr val="tx1"/>
          </a:solidFill>
          <a:latin typeface="+mn-lt"/>
          <a:ea typeface="+mn-ea"/>
          <a:cs typeface="+mn-cs"/>
        </a:defRPr>
      </a:lvl4pPr>
      <a:lvl5pPr marL="1728033" algn="l" defTabSz="432008" rtl="0" eaLnBrk="1" latinLnBrk="0" hangingPunct="1">
        <a:defRPr sz="1701" kern="1200">
          <a:solidFill>
            <a:schemeClr val="tx1"/>
          </a:solidFill>
          <a:latin typeface="+mn-lt"/>
          <a:ea typeface="+mn-ea"/>
          <a:cs typeface="+mn-cs"/>
        </a:defRPr>
      </a:lvl5pPr>
      <a:lvl6pPr marL="2160041" algn="l" defTabSz="432008" rtl="0" eaLnBrk="1" latinLnBrk="0" hangingPunct="1">
        <a:defRPr sz="1701" kern="1200">
          <a:solidFill>
            <a:schemeClr val="tx1"/>
          </a:solidFill>
          <a:latin typeface="+mn-lt"/>
          <a:ea typeface="+mn-ea"/>
          <a:cs typeface="+mn-cs"/>
        </a:defRPr>
      </a:lvl6pPr>
      <a:lvl7pPr marL="2592050" algn="l" defTabSz="432008" rtl="0" eaLnBrk="1" latinLnBrk="0" hangingPunct="1">
        <a:defRPr sz="1701" kern="1200">
          <a:solidFill>
            <a:schemeClr val="tx1"/>
          </a:solidFill>
          <a:latin typeface="+mn-lt"/>
          <a:ea typeface="+mn-ea"/>
          <a:cs typeface="+mn-cs"/>
        </a:defRPr>
      </a:lvl7pPr>
      <a:lvl8pPr marL="3024058" algn="l" defTabSz="432008" rtl="0" eaLnBrk="1" latinLnBrk="0" hangingPunct="1">
        <a:defRPr sz="1701" kern="1200">
          <a:solidFill>
            <a:schemeClr val="tx1"/>
          </a:solidFill>
          <a:latin typeface="+mn-lt"/>
          <a:ea typeface="+mn-ea"/>
          <a:cs typeface="+mn-cs"/>
        </a:defRPr>
      </a:lvl8pPr>
      <a:lvl9pPr marL="3456066" algn="l" defTabSz="432008" rtl="0" eaLnBrk="1" latinLnBrk="0" hangingPunct="1">
        <a:defRPr sz="17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629" userDrawn="1">
          <p15:clr>
            <a:srgbClr val="F26B43"/>
          </p15:clr>
        </p15:guide>
        <p15:guide id="3" pos="7030" userDrawn="1">
          <p15:clr>
            <a:srgbClr val="F26B43"/>
          </p15:clr>
        </p15:guide>
        <p15:guide id="4" pos="227" userDrawn="1">
          <p15:clr>
            <a:srgbClr val="F26B43"/>
          </p15:clr>
        </p15:guide>
        <p15:guide id="5" orient="horz" pos="227" userDrawn="1">
          <p15:clr>
            <a:srgbClr val="F26B43"/>
          </p15:clr>
        </p15:guide>
        <p15:guide id="6" orient="horz" pos="680" userDrawn="1">
          <p15:clr>
            <a:srgbClr val="F26B43"/>
          </p15:clr>
        </p15:guide>
        <p15:guide id="7" orient="horz" pos="907" userDrawn="1">
          <p15:clr>
            <a:srgbClr val="F26B43"/>
          </p15:clr>
        </p15:guide>
        <p15:guide id="8" orient="horz" pos="3855" userDrawn="1">
          <p15:clr>
            <a:srgbClr val="F26B43"/>
          </p15:clr>
        </p15:guide>
        <p15:guide id="9" orient="horz" pos="204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twitter.com/@SQLStephanie" TargetMode="External"/><Relationship Id="rId2" Type="http://schemas.openxmlformats.org/officeDocument/2006/relationships/hyperlink" Target="mailto:Stephanie.Herr@red-gate.com?subject=DevOpsForTheDatabaseSlides"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hyperlink" Target="http://www.twitter.com/Redgat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mailto:tapabrata.pal@capitalone.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agilemanifesto.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agilemanifesto.org/principles.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agilemanifesto.org/principle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agilemanifesto.org/principles.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agilemanifesto.org/principles.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scrum.org/Resources/What-is-Scru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cardinalsolutions.com/blog/2015/05/assuring-quality-in-the-new-agile-worl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agilemodeling.com/essays/costOfChange.htm"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itrevolution.com/the-convergence-of-devop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itrevolution.com/the-history-of-devops" TargetMode="External"/><Relationship Id="rId4" Type="http://schemas.openxmlformats.org/officeDocument/2006/relationships/hyperlink" Target="https://www.ibm.com/developerworks/library/se-devops/part1"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hannel9.msdn.com/Series/DevOps-Fundamentals/Introduction-to-DevOps"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hannel9.msdn.com/Series/DevOps-Fundamentals/Introduction-to-DevOps"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hannel9.msdn.com/Series/DevOps-Fundamentals/Introduction-to-DevOp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slideshare.net/GrantFritchey/building-an-automated-database-deployment-pipeline" TargetMode="External"/><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hyperlink" Target="https://commons.wikimedia.org/wiki/File:Mocking_Bird_Argument.jp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hyperlink" Target="https://commons.wikimedia.org/wiki/File:Mocking_Bird_Argument.jpg" TargetMode="External"/><Relationship Id="rId4" Type="http://schemas.openxmlformats.org/officeDocument/2006/relationships/hyperlink" Target="http://www.slideshare.net/GrantFritchey/building-an-automated-database-deployment-pipelin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hyperlink" Target="https://commons.wikimedia.org/wiki/File:Mocking_Bird_Argument.jpg" TargetMode="External"/><Relationship Id="rId5" Type="http://schemas.openxmlformats.org/officeDocument/2006/relationships/hyperlink" Target="http://www.slideshare.net/GrantFritchey/building-an-automated-database-deployment-pipeline" TargetMode="Externa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medium.com/point-nine-news/do-you-speak-devtools-73237550bf4f"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javacodegeeks.com/2015/12/devops-myth-efficiency-part.html"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evops.com/2015/05/13/surprise-broad-agreement-on-the-definition-of-devop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www.slideshare.net/jedi4ever/devops-paris-jug-2011"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hyperlink" Target="http://www.slideshare.net/jedi4ever/devops-paris-jug-2011"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puppet.com/blog/devops-principles-for-it-manager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itrevolution.com/the-three-ways-principles-underpinning-devop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itrevolution.com/the-three-ways-principles-underpinning-devop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itrevolution.com/the-three-ways-principles-underpinning-devops" TargetMode="Externa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itrevolution.com/the-three-ways-principles-underpinning-devops"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hyperlink" Target="http://www.gallop.net/blog/6-compelling-business-benefits-of-devop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infoq.com/articles/devops-lessons-microsoft"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technologyreview.com/s/519226/technology-is-wiping-out-companies-faster-than-ever/"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puppet.com/resources/white-paper/2016-state-of-devops-report" TargetMode="Externa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hyperlink" Target="https://puppet.com/resources/white-paper/2016-state-of-devops-report"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hyperlink" Target="https://dzone.com/articles/devops-devops-principle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youtube.com/watch?v=LdOe18KhtT4"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puppet.com/resources/white-paper/2016-state-of-devops-report"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puppet.com/resources/white-paper/2016-state-of-devops-report"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blog.scrum.org/devops-taught-agile-vice-versa"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zone.com/articles/devops-anti-patterns-warning" TargetMode="External"/><Relationship Id="rId2" Type="http://schemas.openxmlformats.org/officeDocument/2006/relationships/hyperlink" Target="https://theagileadmin.com/what-is-devops" TargetMode="External"/><Relationship Id="rId1" Type="http://schemas.openxmlformats.org/officeDocument/2006/relationships/slideLayout" Target="../slideLayouts/slideLayout2.xml"/><Relationship Id="rId4" Type="http://schemas.openxmlformats.org/officeDocument/2006/relationships/hyperlink" Target="https://blog.devopsguys.com/2013/02/20/twelve-devops-anti-patterns"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emf"/><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emf"/><Relationship Id="rId7" Type="http://schemas.openxmlformats.org/officeDocument/2006/relationships/image" Target="../media/image32.emf"/><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40.gif"/><Relationship Id="rId3" Type="http://schemas.openxmlformats.org/officeDocument/2006/relationships/image" Target="../media/image32.emf"/><Relationship Id="rId7" Type="http://schemas.openxmlformats.org/officeDocument/2006/relationships/image" Target="../media/image35.png"/><Relationship Id="rId12"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34.emf"/><Relationship Id="rId11" Type="http://schemas.openxmlformats.org/officeDocument/2006/relationships/image" Target="../media/image38.png"/><Relationship Id="rId5" Type="http://schemas.openxmlformats.org/officeDocument/2006/relationships/image" Target="../media/image31.png"/><Relationship Id="rId10" Type="http://schemas.openxmlformats.org/officeDocument/2006/relationships/image" Target="../media/image37.png"/><Relationship Id="rId4" Type="http://schemas.openxmlformats.org/officeDocument/2006/relationships/image" Target="../media/image30.emf"/><Relationship Id="rId9" Type="http://schemas.openxmlformats.org/officeDocument/2006/relationships/image" Target="../media/image36.png"/></Relationships>
</file>

<file path=ppt/slides/_rels/slide4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3" Type="http://schemas.openxmlformats.org/officeDocument/2006/relationships/image" Target="../media/image32.emf"/><Relationship Id="rId7" Type="http://schemas.openxmlformats.org/officeDocument/2006/relationships/image" Target="../media/image34.emf"/><Relationship Id="rId12"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37.png"/><Relationship Id="rId5" Type="http://schemas.openxmlformats.org/officeDocument/2006/relationships/image" Target="../media/image30.emf"/><Relationship Id="rId10" Type="http://schemas.openxmlformats.org/officeDocument/2006/relationships/image" Target="../media/image36.png"/><Relationship Id="rId4" Type="http://schemas.openxmlformats.org/officeDocument/2006/relationships/image" Target="../media/image40.gif"/><Relationship Id="rId9"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emf"/></Relationships>
</file>

<file path=ppt/slides/_rels/slide4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3.png"/><Relationship Id="rId4" Type="http://schemas.openxmlformats.org/officeDocument/2006/relationships/image" Target="../media/image32.emf"/></Relationships>
</file>

<file path=ppt/slides/_rels/slide4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emf"/><Relationship Id="rId7" Type="http://schemas.openxmlformats.org/officeDocument/2006/relationships/image" Target="../media/image34.emf"/><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3.png"/><Relationship Id="rId4" Type="http://schemas.openxmlformats.org/officeDocument/2006/relationships/image" Target="../media/image32.emf"/></Relationships>
</file>

<file path=ppt/slides/_rels/slide4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emf"/><Relationship Id="rId7" Type="http://schemas.openxmlformats.org/officeDocument/2006/relationships/image" Target="../media/image34.emf"/><Relationship Id="rId12"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emf"/><Relationship Id="rId9" Type="http://schemas.openxmlformats.org/officeDocument/2006/relationships/image" Target="../media/image36.png"/></Relationships>
</file>

<file path=ppt/slides/_rels/slide4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1.png"/><Relationship Id="rId3" Type="http://schemas.openxmlformats.org/officeDocument/2006/relationships/image" Target="../media/image30.emf"/><Relationship Id="rId7" Type="http://schemas.openxmlformats.org/officeDocument/2006/relationships/image" Target="../media/image34.emf"/><Relationship Id="rId12"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emf"/><Relationship Id="rId9"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hyperlink" Target="https://dzone.com/articles/five-things-your-operations-team-doesnt-tell-you-a"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hyperlink" Target="http://www.infoworld.com/article/3009004/devops/why-devops-is-burning-out-developers.html" TargetMode="External"/><Relationship Id="rId4" Type="http://schemas.openxmlformats.org/officeDocument/2006/relationships/hyperlink" Target="https://www.youtube.com/watch?v=qLUt6bwNnks"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www.youtube.com/watch?v=LdOe18KhtT4"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jp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5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jpg"/><Relationship Id="rId2" Type="http://schemas.openxmlformats.org/officeDocument/2006/relationships/image" Target="../media/image46.png"/><Relationship Id="rId16" Type="http://schemas.openxmlformats.org/officeDocument/2006/relationships/image" Target="../media/image60.jp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58.xml.rels><?xml version="1.0" encoding="UTF-8" standalone="yes"?>
<Relationships xmlns="http://schemas.openxmlformats.org/package/2006/relationships"><Relationship Id="rId26" Type="http://schemas.openxmlformats.org/officeDocument/2006/relationships/image" Target="../media/image85.png"/><Relationship Id="rId21" Type="http://schemas.openxmlformats.org/officeDocument/2006/relationships/image" Target="../media/image80.png"/><Relationship Id="rId42" Type="http://schemas.openxmlformats.org/officeDocument/2006/relationships/image" Target="../media/image101.png"/><Relationship Id="rId47" Type="http://schemas.openxmlformats.org/officeDocument/2006/relationships/image" Target="../media/image106.png"/><Relationship Id="rId63" Type="http://schemas.openxmlformats.org/officeDocument/2006/relationships/image" Target="../media/image122.png"/><Relationship Id="rId68" Type="http://schemas.openxmlformats.org/officeDocument/2006/relationships/image" Target="../media/image127.png"/><Relationship Id="rId7" Type="http://schemas.openxmlformats.org/officeDocument/2006/relationships/image" Target="../media/image66.png"/><Relationship Id="rId2" Type="http://schemas.openxmlformats.org/officeDocument/2006/relationships/image" Target="../media/image61.png"/><Relationship Id="rId16" Type="http://schemas.openxmlformats.org/officeDocument/2006/relationships/image" Target="../media/image75.png"/><Relationship Id="rId29" Type="http://schemas.openxmlformats.org/officeDocument/2006/relationships/image" Target="../media/image88.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37" Type="http://schemas.openxmlformats.org/officeDocument/2006/relationships/image" Target="../media/image96.png"/><Relationship Id="rId40" Type="http://schemas.openxmlformats.org/officeDocument/2006/relationships/image" Target="../media/image99.png"/><Relationship Id="rId45" Type="http://schemas.openxmlformats.org/officeDocument/2006/relationships/image" Target="../media/image104.png"/><Relationship Id="rId53" Type="http://schemas.openxmlformats.org/officeDocument/2006/relationships/image" Target="../media/image112.png"/><Relationship Id="rId58" Type="http://schemas.openxmlformats.org/officeDocument/2006/relationships/image" Target="../media/image117.png"/><Relationship Id="rId66" Type="http://schemas.openxmlformats.org/officeDocument/2006/relationships/image" Target="../media/image125.png"/><Relationship Id="rId5" Type="http://schemas.openxmlformats.org/officeDocument/2006/relationships/image" Target="../media/image64.png"/><Relationship Id="rId61" Type="http://schemas.openxmlformats.org/officeDocument/2006/relationships/image" Target="../media/image120.png"/><Relationship Id="rId19" Type="http://schemas.openxmlformats.org/officeDocument/2006/relationships/image" Target="../media/image7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94.png"/><Relationship Id="rId43" Type="http://schemas.openxmlformats.org/officeDocument/2006/relationships/image" Target="../media/image102.png"/><Relationship Id="rId48" Type="http://schemas.openxmlformats.org/officeDocument/2006/relationships/image" Target="../media/image107.png"/><Relationship Id="rId56" Type="http://schemas.openxmlformats.org/officeDocument/2006/relationships/image" Target="../media/image115.png"/><Relationship Id="rId64" Type="http://schemas.openxmlformats.org/officeDocument/2006/relationships/image" Target="../media/image123.png"/><Relationship Id="rId69" Type="http://schemas.openxmlformats.org/officeDocument/2006/relationships/image" Target="../media/image128.png"/><Relationship Id="rId8" Type="http://schemas.openxmlformats.org/officeDocument/2006/relationships/image" Target="../media/image67.png"/><Relationship Id="rId51" Type="http://schemas.openxmlformats.org/officeDocument/2006/relationships/image" Target="../media/image110.png"/><Relationship Id="rId3" Type="http://schemas.openxmlformats.org/officeDocument/2006/relationships/image" Target="../media/image62.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2.png"/><Relationship Id="rId38" Type="http://schemas.openxmlformats.org/officeDocument/2006/relationships/image" Target="../media/image97.png"/><Relationship Id="rId46" Type="http://schemas.openxmlformats.org/officeDocument/2006/relationships/image" Target="../media/image105.png"/><Relationship Id="rId59" Type="http://schemas.openxmlformats.org/officeDocument/2006/relationships/image" Target="../media/image118.png"/><Relationship Id="rId67" Type="http://schemas.openxmlformats.org/officeDocument/2006/relationships/image" Target="../media/image126.png"/><Relationship Id="rId20" Type="http://schemas.openxmlformats.org/officeDocument/2006/relationships/image" Target="../media/image79.png"/><Relationship Id="rId41" Type="http://schemas.openxmlformats.org/officeDocument/2006/relationships/image" Target="../media/image100.png"/><Relationship Id="rId54" Type="http://schemas.openxmlformats.org/officeDocument/2006/relationships/image" Target="../media/image113.png"/><Relationship Id="rId6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65.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36" Type="http://schemas.openxmlformats.org/officeDocument/2006/relationships/image" Target="../media/image95.png"/><Relationship Id="rId49" Type="http://schemas.openxmlformats.org/officeDocument/2006/relationships/image" Target="../media/image108.png"/><Relationship Id="rId57" Type="http://schemas.openxmlformats.org/officeDocument/2006/relationships/image" Target="../media/image116.png"/><Relationship Id="rId10" Type="http://schemas.openxmlformats.org/officeDocument/2006/relationships/image" Target="../media/image69.png"/><Relationship Id="rId31" Type="http://schemas.openxmlformats.org/officeDocument/2006/relationships/image" Target="../media/image90.png"/><Relationship Id="rId44" Type="http://schemas.openxmlformats.org/officeDocument/2006/relationships/image" Target="../media/image103.png"/><Relationship Id="rId52" Type="http://schemas.openxmlformats.org/officeDocument/2006/relationships/image" Target="../media/image111.png"/><Relationship Id="rId60" Type="http://schemas.openxmlformats.org/officeDocument/2006/relationships/image" Target="../media/image119.png"/><Relationship Id="rId65" Type="http://schemas.openxmlformats.org/officeDocument/2006/relationships/image" Target="../media/image124.png"/><Relationship Id="rId4" Type="http://schemas.openxmlformats.org/officeDocument/2006/relationships/image" Target="../media/image63.png"/><Relationship Id="rId9" Type="http://schemas.openxmlformats.org/officeDocument/2006/relationships/image" Target="../media/image68.png"/><Relationship Id="rId13" Type="http://schemas.openxmlformats.org/officeDocument/2006/relationships/image" Target="../media/image72.png"/><Relationship Id="rId18" Type="http://schemas.openxmlformats.org/officeDocument/2006/relationships/image" Target="../media/image77.png"/><Relationship Id="rId39" Type="http://schemas.openxmlformats.org/officeDocument/2006/relationships/image" Target="../media/image98.png"/><Relationship Id="rId34" Type="http://schemas.openxmlformats.org/officeDocument/2006/relationships/image" Target="../media/image93.png"/><Relationship Id="rId50" Type="http://schemas.openxmlformats.org/officeDocument/2006/relationships/image" Target="../media/image109.png"/><Relationship Id="rId55" Type="http://schemas.openxmlformats.org/officeDocument/2006/relationships/image" Target="../media/image114.png"/></Relationships>
</file>

<file path=ppt/slides/_rels/slide5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30.png"/><Relationship Id="rId7" Type="http://schemas.openxmlformats.org/officeDocument/2006/relationships/image" Target="../media/image132.png"/><Relationship Id="rId2"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31.png"/><Relationship Id="rId4" Type="http://schemas.openxmlformats.org/officeDocument/2006/relationships/image" Target="../media/image73.png"/><Relationship Id="rId9" Type="http://schemas.openxmlformats.org/officeDocument/2006/relationships/image" Target="../media/image133.png"/></Relationships>
</file>

<file path=ppt/slides/_rels/slide6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38.jpg"/><Relationship Id="rId2" Type="http://schemas.openxmlformats.org/officeDocument/2006/relationships/image" Target="../media/image137.png"/><Relationship Id="rId1" Type="http://schemas.openxmlformats.org/officeDocument/2006/relationships/slideLayout" Target="../slideLayouts/slideLayout6.xml"/><Relationship Id="rId5" Type="http://schemas.openxmlformats.org/officeDocument/2006/relationships/image" Target="../media/image140.jpg"/><Relationship Id="rId4"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Agenda	</a:t>
            </a:r>
          </a:p>
        </p:txBody>
      </p:sp>
      <p:sp>
        <p:nvSpPr>
          <p:cNvPr id="19" name="Content Placeholder 18"/>
          <p:cNvSpPr>
            <a:spLocks noGrp="1"/>
          </p:cNvSpPr>
          <p:nvPr>
            <p:ph idx="1"/>
          </p:nvPr>
        </p:nvSpPr>
        <p:spPr/>
        <p:txBody>
          <a:bodyPr/>
          <a:lstStyle/>
          <a:p>
            <a:pPr marL="571500" indent="-571500">
              <a:buFont typeface="Arial" panose="020B0604020202020204" pitchFamily="34" charset="0"/>
              <a:buChar char="•"/>
            </a:pPr>
            <a:r>
              <a:rPr lang="en-GB" dirty="0"/>
              <a:t>Why DevOps?</a:t>
            </a:r>
          </a:p>
          <a:p>
            <a:pPr marL="571500" indent="-571500">
              <a:buFont typeface="Arial" panose="020B0604020202020204" pitchFamily="34" charset="0"/>
              <a:buChar char="•"/>
            </a:pPr>
            <a:r>
              <a:rPr lang="en-GB" dirty="0"/>
              <a:t>DevOps Practices</a:t>
            </a:r>
          </a:p>
          <a:p>
            <a:pPr marL="571500" indent="-571500">
              <a:buFont typeface="Arial" panose="020B0604020202020204" pitchFamily="34" charset="0"/>
              <a:buChar char="•"/>
            </a:pPr>
            <a:r>
              <a:rPr lang="en-GB" dirty="0"/>
              <a:t>Why </a:t>
            </a:r>
            <a:r>
              <a:rPr lang="en-GB" dirty="0" err="1"/>
              <a:t>DevOpsSec</a:t>
            </a:r>
            <a:r>
              <a:rPr lang="en-GB" dirty="0"/>
              <a:t>?</a:t>
            </a:r>
          </a:p>
          <a:p>
            <a:pPr marL="571500" indent="-571500">
              <a:buFont typeface="Arial" panose="020B0604020202020204" pitchFamily="34" charset="0"/>
              <a:buChar char="•"/>
            </a:pPr>
            <a:endParaRPr lang="en-US" dirty="0"/>
          </a:p>
        </p:txBody>
      </p:sp>
    </p:spTree>
    <p:extLst>
      <p:ext uri="{BB962C8B-B14F-4D97-AF65-F5344CB8AC3E}">
        <p14:creationId xmlns:p14="http://schemas.microsoft.com/office/powerpoint/2010/main" val="388021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1238865"/>
            <a:ext cx="10368280" cy="2541237"/>
          </a:xfrm>
        </p:spPr>
        <p:txBody>
          <a:bodyPr/>
          <a:lstStyle/>
          <a:p>
            <a:pPr algn="ctr"/>
            <a:r>
              <a:rPr lang="en-GB" dirty="0"/>
              <a:t>based on the works of</a:t>
            </a:r>
            <a:endParaRPr lang="en-US" dirty="0"/>
          </a:p>
        </p:txBody>
      </p:sp>
      <p:sp>
        <p:nvSpPr>
          <p:cNvPr id="4" name="Rectangle 3"/>
          <p:cNvSpPr/>
          <p:nvPr/>
        </p:nvSpPr>
        <p:spPr>
          <a:xfrm>
            <a:off x="3166675" y="4173112"/>
            <a:ext cx="5727155" cy="484876"/>
          </a:xfrm>
          <a:prstGeom prst="rect">
            <a:avLst/>
          </a:prstGeom>
        </p:spPr>
        <p:txBody>
          <a:bodyPr>
            <a:spAutoFit/>
          </a:bodyPr>
          <a:lstStyle/>
          <a:p>
            <a:pPr>
              <a:spcAft>
                <a:spcPts val="2551"/>
              </a:spcAft>
              <a:defRPr/>
            </a:pPr>
            <a:r>
              <a:rPr lang="en-US" sz="2551" dirty="0">
                <a:solidFill>
                  <a:schemeClr val="tx1">
                    <a:lumMod val="50000"/>
                    <a:lumOff val="50000"/>
                  </a:schemeClr>
                </a:solidFill>
                <a:latin typeface="Microsoft Sans Serif" panose="020B0604020202020204" pitchFamily="34" charset="0"/>
                <a:ea typeface="ヒラギノ角ゴ ProN W3" charset="0"/>
                <a:hlinkClick r:id="rId2"/>
              </a:rPr>
              <a:t>Stephanie.Herr@red-gate.com</a:t>
            </a:r>
            <a:endParaRPr lang="en-US" sz="2551" dirty="0">
              <a:solidFill>
                <a:schemeClr val="tx1">
                  <a:lumMod val="50000"/>
                  <a:lumOff val="50000"/>
                </a:schemeClr>
              </a:solidFill>
              <a:latin typeface="Microsoft Sans Serif" panose="020B0604020202020204" pitchFamily="34" charset="0"/>
              <a:ea typeface="ヒラギノ角ゴ ProN W3" charset="0"/>
            </a:endParaRPr>
          </a:p>
        </p:txBody>
      </p:sp>
      <p:sp>
        <p:nvSpPr>
          <p:cNvPr id="5" name="Rectangle 4">
            <a:hlinkClick r:id="rId3"/>
          </p:cNvPr>
          <p:cNvSpPr/>
          <p:nvPr/>
        </p:nvSpPr>
        <p:spPr>
          <a:xfrm>
            <a:off x="3166675" y="4819630"/>
            <a:ext cx="5492693" cy="484876"/>
          </a:xfrm>
          <a:prstGeom prst="rect">
            <a:avLst/>
          </a:prstGeom>
        </p:spPr>
        <p:txBody>
          <a:bodyPr wrap="square">
            <a:spAutoFit/>
          </a:bodyPr>
          <a:lstStyle/>
          <a:p>
            <a:pPr>
              <a:spcAft>
                <a:spcPts val="2551"/>
              </a:spcAft>
              <a:defRPr/>
            </a:pPr>
            <a:r>
              <a:rPr lang="en-US" sz="2551" dirty="0">
                <a:solidFill>
                  <a:schemeClr val="tx1">
                    <a:lumMod val="50000"/>
                    <a:lumOff val="50000"/>
                  </a:schemeClr>
                </a:solidFill>
                <a:latin typeface="Microsoft Sans Serif" panose="020B0604020202020204" pitchFamily="34" charset="0"/>
                <a:ea typeface="ヒラギノ角ゴ ProN W3" charset="0"/>
                <a:hlinkClick r:id="rId3"/>
              </a:rPr>
              <a:t>@</a:t>
            </a:r>
            <a:r>
              <a:rPr lang="en-US" sz="2551" dirty="0" err="1">
                <a:solidFill>
                  <a:schemeClr val="tx1">
                    <a:lumMod val="50000"/>
                    <a:lumOff val="50000"/>
                  </a:schemeClr>
                </a:solidFill>
                <a:latin typeface="Microsoft Sans Serif" panose="020B0604020202020204" pitchFamily="34" charset="0"/>
                <a:ea typeface="ヒラギノ角ゴ ProN W3" charset="0"/>
                <a:hlinkClick r:id="rId3"/>
              </a:rPr>
              <a:t>SQLStephanie</a:t>
            </a:r>
            <a:r>
              <a:rPr lang="en-US" sz="2551" dirty="0">
                <a:solidFill>
                  <a:schemeClr val="tx1">
                    <a:lumMod val="50000"/>
                    <a:lumOff val="50000"/>
                  </a:schemeClr>
                </a:solidFill>
                <a:latin typeface="Microsoft Sans Serif" panose="020B0604020202020204" pitchFamily="34" charset="0"/>
                <a:ea typeface="ヒラギノ角ゴ ProN W3" charset="0"/>
              </a:rPr>
              <a:t>			</a:t>
            </a:r>
            <a:r>
              <a:rPr lang="en-GB" sz="2551" dirty="0">
                <a:solidFill>
                  <a:schemeClr val="tx1">
                    <a:lumMod val="50000"/>
                    <a:lumOff val="50000"/>
                  </a:schemeClr>
                </a:solidFill>
                <a:latin typeface="Microsoft Sans Serif" panose="020B0604020202020204" pitchFamily="34" charset="0"/>
                <a:ea typeface="ヒラギノ角ゴ ProN W3" charset="0"/>
                <a:hlinkClick r:id="rId4"/>
              </a:rPr>
              <a:t>@Redgate</a:t>
            </a:r>
            <a:endParaRPr lang="en-GB" sz="2551" dirty="0">
              <a:solidFill>
                <a:schemeClr val="tx1">
                  <a:lumMod val="50000"/>
                  <a:lumOff val="50000"/>
                </a:schemeClr>
              </a:solidFill>
              <a:latin typeface="Microsoft Sans Serif" panose="020B0604020202020204" pitchFamily="34" charset="0"/>
              <a:ea typeface="ヒラギノ角ゴ ProN W3" charset="0"/>
            </a:endParaRPr>
          </a:p>
        </p:txBody>
      </p:sp>
      <p:pic>
        <p:nvPicPr>
          <p:cNvPr id="6" name="Picture 2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26659" y="4263116"/>
            <a:ext cx="438012" cy="35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78122" y="4862972"/>
            <a:ext cx="538076" cy="436511"/>
          </a:xfrm>
          <a:prstGeom prst="rect">
            <a:avLst/>
          </a:prstGeom>
        </p:spPr>
      </p:pic>
    </p:spTree>
    <p:extLst>
      <p:ext uri="{BB962C8B-B14F-4D97-AF65-F5344CB8AC3E}">
        <p14:creationId xmlns:p14="http://schemas.microsoft.com/office/powerpoint/2010/main" val="456235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36080" y="6118989"/>
            <a:ext cx="848135" cy="224902"/>
          </a:xfrm>
          <a:prstGeom prst="rect">
            <a:avLst/>
          </a:prstGeom>
        </p:spPr>
        <p:txBody>
          <a:bodyPr vert="horz" wrap="square" lIns="0" tIns="8732" rIns="0" bIns="0" rtlCol="0">
            <a:spAutoFit/>
          </a:bodyPr>
          <a:lstStyle/>
          <a:p>
            <a:pPr marL="7277">
              <a:spcBef>
                <a:spcPts val="69"/>
              </a:spcBef>
            </a:pPr>
            <a:r>
              <a:rPr sz="1404" spc="-14" dirty="0">
                <a:latin typeface="Arial"/>
                <a:cs typeface="Arial"/>
              </a:rPr>
              <a:t>@TopoPal</a:t>
            </a:r>
            <a:endParaRPr sz="1404">
              <a:latin typeface="Arial"/>
              <a:cs typeface="Arial"/>
            </a:endParaRPr>
          </a:p>
        </p:txBody>
      </p:sp>
      <p:sp>
        <p:nvSpPr>
          <p:cNvPr id="3" name="object 3"/>
          <p:cNvSpPr/>
          <p:nvPr/>
        </p:nvSpPr>
        <p:spPr>
          <a:xfrm>
            <a:off x="2512777" y="-1"/>
            <a:ext cx="7145415" cy="5033897"/>
          </a:xfrm>
          <a:prstGeom prst="rect">
            <a:avLst/>
          </a:prstGeom>
          <a:blipFill>
            <a:blip r:embed="rId2" cstate="print"/>
            <a:stretch>
              <a:fillRect/>
            </a:stretch>
          </a:blipFill>
        </p:spPr>
        <p:txBody>
          <a:bodyPr wrap="square" lIns="0" tIns="0" rIns="0" bIns="0" rtlCol="0"/>
          <a:lstStyle/>
          <a:p>
            <a:endParaRPr sz="1031"/>
          </a:p>
        </p:txBody>
      </p:sp>
      <p:sp>
        <p:nvSpPr>
          <p:cNvPr id="4" name="object 4"/>
          <p:cNvSpPr/>
          <p:nvPr/>
        </p:nvSpPr>
        <p:spPr>
          <a:xfrm>
            <a:off x="2750963" y="793593"/>
            <a:ext cx="6666950" cy="3078174"/>
          </a:xfrm>
          <a:prstGeom prst="rect">
            <a:avLst/>
          </a:prstGeom>
          <a:blipFill>
            <a:blip r:embed="rId3" cstate="print"/>
            <a:stretch>
              <a:fillRect/>
            </a:stretch>
          </a:blipFill>
        </p:spPr>
        <p:txBody>
          <a:bodyPr wrap="square" lIns="0" tIns="0" rIns="0" bIns="0" rtlCol="0"/>
          <a:lstStyle/>
          <a:p>
            <a:endParaRPr sz="1031"/>
          </a:p>
        </p:txBody>
      </p:sp>
      <p:sp>
        <p:nvSpPr>
          <p:cNvPr id="5" name="object 5"/>
          <p:cNvSpPr txBox="1">
            <a:spLocks noGrp="1"/>
          </p:cNvSpPr>
          <p:nvPr>
            <p:ph type="title"/>
          </p:nvPr>
        </p:nvSpPr>
        <p:spPr>
          <a:xfrm>
            <a:off x="4739011" y="986094"/>
            <a:ext cx="2689218" cy="886220"/>
          </a:xfrm>
          <a:prstGeom prst="rect">
            <a:avLst/>
          </a:prstGeom>
        </p:spPr>
        <p:txBody>
          <a:bodyPr vert="horz" wrap="square" lIns="0" tIns="9096" rIns="0" bIns="0" rtlCol="0" anchor="ctr">
            <a:spAutoFit/>
          </a:bodyPr>
          <a:lstStyle/>
          <a:p>
            <a:pPr algn="ctr">
              <a:spcBef>
                <a:spcPts val="72"/>
              </a:spcBef>
            </a:pPr>
            <a:r>
              <a:rPr sz="2063" spc="-11" dirty="0">
                <a:solidFill>
                  <a:srgbClr val="941100"/>
                </a:solidFill>
              </a:rPr>
              <a:t>Tapabrata </a:t>
            </a:r>
            <a:r>
              <a:rPr sz="2063" spc="-20" dirty="0">
                <a:solidFill>
                  <a:srgbClr val="941100"/>
                </a:solidFill>
              </a:rPr>
              <a:t>“Topo”</a:t>
            </a:r>
            <a:r>
              <a:rPr sz="2063" spc="-3" dirty="0">
                <a:solidFill>
                  <a:srgbClr val="941100"/>
                </a:solidFill>
              </a:rPr>
              <a:t> </a:t>
            </a:r>
            <a:r>
              <a:rPr sz="2063" spc="6" dirty="0">
                <a:solidFill>
                  <a:srgbClr val="941100"/>
                </a:solidFill>
              </a:rPr>
              <a:t>Pal</a:t>
            </a:r>
            <a:endParaRPr sz="2063"/>
          </a:p>
          <a:p>
            <a:pPr marL="9460" algn="ctr">
              <a:spcBef>
                <a:spcPts val="83"/>
              </a:spcBef>
            </a:pPr>
            <a:r>
              <a:rPr sz="1490" spc="9" dirty="0">
                <a:solidFill>
                  <a:srgbClr val="003A6F"/>
                </a:solidFill>
              </a:rPr>
              <a:t>Engineering</a:t>
            </a:r>
            <a:r>
              <a:rPr sz="1490" dirty="0">
                <a:solidFill>
                  <a:srgbClr val="003A6F"/>
                </a:solidFill>
              </a:rPr>
              <a:t> </a:t>
            </a:r>
            <a:r>
              <a:rPr sz="1490" spc="9" dirty="0">
                <a:solidFill>
                  <a:srgbClr val="003A6F"/>
                </a:solidFill>
              </a:rPr>
              <a:t>Fellow</a:t>
            </a:r>
            <a:endParaRPr sz="1490"/>
          </a:p>
        </p:txBody>
      </p:sp>
      <p:sp>
        <p:nvSpPr>
          <p:cNvPr id="6" name="object 6"/>
          <p:cNvSpPr txBox="1"/>
          <p:nvPr/>
        </p:nvSpPr>
        <p:spPr>
          <a:xfrm>
            <a:off x="3557062" y="2104631"/>
            <a:ext cx="5055701" cy="1403236"/>
          </a:xfrm>
          <a:prstGeom prst="rect">
            <a:avLst/>
          </a:prstGeom>
        </p:spPr>
        <p:txBody>
          <a:bodyPr vert="horz" wrap="square" lIns="0" tIns="4730" rIns="0" bIns="0" rtlCol="0">
            <a:spAutoFit/>
          </a:bodyPr>
          <a:lstStyle/>
          <a:p>
            <a:pPr marL="6913" marR="2911" indent="-5094" algn="ctr">
              <a:lnSpc>
                <a:spcPct val="101600"/>
              </a:lnSpc>
              <a:spcBef>
                <a:spcPts val="37"/>
              </a:spcBef>
            </a:pPr>
            <a:r>
              <a:rPr sz="1318" b="1" dirty="0">
                <a:solidFill>
                  <a:srgbClr val="003A6F"/>
                </a:solidFill>
                <a:latin typeface="Arial"/>
                <a:cs typeface="Arial"/>
              </a:rPr>
              <a:t>Product </a:t>
            </a:r>
            <a:r>
              <a:rPr sz="1318" b="1" spc="-9" dirty="0">
                <a:solidFill>
                  <a:srgbClr val="003A6F"/>
                </a:solidFill>
                <a:latin typeface="Arial"/>
                <a:cs typeface="Arial"/>
              </a:rPr>
              <a:t>Manager, </a:t>
            </a:r>
            <a:r>
              <a:rPr sz="1318" b="1" dirty="0">
                <a:solidFill>
                  <a:srgbClr val="003A6F"/>
                </a:solidFill>
                <a:latin typeface="Arial"/>
                <a:cs typeface="Arial"/>
              </a:rPr>
              <a:t>Shared Continuous Delivery </a:t>
            </a:r>
            <a:r>
              <a:rPr sz="1318" b="1" spc="-20" dirty="0">
                <a:solidFill>
                  <a:srgbClr val="003A6F"/>
                </a:solidFill>
                <a:latin typeface="Arial"/>
                <a:cs typeface="Arial"/>
              </a:rPr>
              <a:t>Tools </a:t>
            </a:r>
            <a:r>
              <a:rPr sz="1318" b="1" dirty="0">
                <a:solidFill>
                  <a:srgbClr val="003A6F"/>
                </a:solidFill>
                <a:latin typeface="Arial"/>
                <a:cs typeface="Arial"/>
              </a:rPr>
              <a:t>Platform  Community </a:t>
            </a:r>
            <a:r>
              <a:rPr sz="1318" b="1" spc="-9" dirty="0">
                <a:solidFill>
                  <a:srgbClr val="003A6F"/>
                </a:solidFill>
                <a:latin typeface="Arial"/>
                <a:cs typeface="Arial"/>
              </a:rPr>
              <a:t>Manager, </a:t>
            </a:r>
            <a:r>
              <a:rPr sz="1318" b="1" dirty="0">
                <a:solidFill>
                  <a:srgbClr val="003A6F"/>
                </a:solidFill>
                <a:latin typeface="Arial"/>
                <a:cs typeface="Arial"/>
              </a:rPr>
              <a:t>Hygieia Open Source DevOps</a:t>
            </a:r>
            <a:r>
              <a:rPr sz="1318" b="1" spc="32" dirty="0">
                <a:solidFill>
                  <a:srgbClr val="003A6F"/>
                </a:solidFill>
                <a:latin typeface="Arial"/>
                <a:cs typeface="Arial"/>
              </a:rPr>
              <a:t> </a:t>
            </a:r>
            <a:r>
              <a:rPr sz="1318" b="1" dirty="0">
                <a:solidFill>
                  <a:srgbClr val="003A6F"/>
                </a:solidFill>
                <a:latin typeface="Arial"/>
                <a:cs typeface="Arial"/>
              </a:rPr>
              <a:t>Dashboard</a:t>
            </a:r>
            <a:endParaRPr sz="1318">
              <a:latin typeface="Arial"/>
              <a:cs typeface="Arial"/>
            </a:endParaRPr>
          </a:p>
          <a:p>
            <a:pPr>
              <a:lnSpc>
                <a:spcPct val="100000"/>
              </a:lnSpc>
            </a:pPr>
            <a:endParaRPr sz="1318">
              <a:latin typeface="Times New Roman"/>
              <a:cs typeface="Times New Roman"/>
            </a:endParaRPr>
          </a:p>
          <a:p>
            <a:pPr>
              <a:lnSpc>
                <a:spcPct val="100000"/>
              </a:lnSpc>
            </a:pPr>
            <a:endParaRPr sz="1748">
              <a:latin typeface="Times New Roman"/>
              <a:cs typeface="Times New Roman"/>
            </a:endParaRPr>
          </a:p>
          <a:p>
            <a:pPr marL="3639" algn="ctr">
              <a:lnSpc>
                <a:spcPts val="2006"/>
              </a:lnSpc>
            </a:pPr>
            <a:r>
              <a:rPr sz="1690" spc="3" dirty="0">
                <a:solidFill>
                  <a:srgbClr val="801B80"/>
                </a:solidFill>
                <a:latin typeface="Arial"/>
                <a:cs typeface="Arial"/>
                <a:hlinkClick r:id="rId4"/>
              </a:rPr>
              <a:t>tapabrata.pal@capitalone.com</a:t>
            </a:r>
            <a:endParaRPr sz="1690">
              <a:latin typeface="Arial"/>
              <a:cs typeface="Arial"/>
            </a:endParaRPr>
          </a:p>
          <a:p>
            <a:pPr marL="1092" algn="ctr">
              <a:lnSpc>
                <a:spcPts val="2006"/>
              </a:lnSpc>
            </a:pPr>
            <a:r>
              <a:rPr sz="1690" b="1" spc="-11" dirty="0">
                <a:solidFill>
                  <a:srgbClr val="801B80"/>
                </a:solidFill>
                <a:latin typeface="Arial"/>
                <a:cs typeface="Arial"/>
              </a:rPr>
              <a:t>@TopoPal</a:t>
            </a:r>
            <a:endParaRPr sz="1690">
              <a:latin typeface="Arial"/>
              <a:cs typeface="Arial"/>
            </a:endParaRPr>
          </a:p>
        </p:txBody>
      </p:sp>
      <p:sp>
        <p:nvSpPr>
          <p:cNvPr id="7" name="object 7"/>
          <p:cNvSpPr txBox="1"/>
          <p:nvPr/>
        </p:nvSpPr>
        <p:spPr>
          <a:xfrm>
            <a:off x="2915090" y="4066786"/>
            <a:ext cx="4591428" cy="1683645"/>
          </a:xfrm>
          <a:prstGeom prst="rect">
            <a:avLst/>
          </a:prstGeom>
        </p:spPr>
        <p:txBody>
          <a:bodyPr vert="horz" wrap="square" lIns="0" tIns="228134" rIns="0" bIns="0" rtlCol="0">
            <a:spAutoFit/>
          </a:bodyPr>
          <a:lstStyle/>
          <a:p>
            <a:pPr marL="7277">
              <a:spcBef>
                <a:spcPts val="1796"/>
              </a:spcBef>
            </a:pPr>
            <a:r>
              <a:rPr sz="3123" b="1" spc="-6" dirty="0">
                <a:solidFill>
                  <a:srgbClr val="919191"/>
                </a:solidFill>
                <a:latin typeface="Arial"/>
                <a:cs typeface="Arial"/>
              </a:rPr>
              <a:t>Past:</a:t>
            </a:r>
            <a:endParaRPr sz="3123">
              <a:latin typeface="Arial"/>
              <a:cs typeface="Arial"/>
            </a:endParaRPr>
          </a:p>
          <a:p>
            <a:pPr marL="151000" indent="-143723">
              <a:spcBef>
                <a:spcPts val="808"/>
              </a:spcBef>
              <a:buChar char="•"/>
              <a:tabLst>
                <a:tab pos="151000" algn="l"/>
                <a:tab pos="151364" algn="l"/>
              </a:tabLst>
            </a:pPr>
            <a:r>
              <a:rPr sz="1404" spc="9" dirty="0">
                <a:solidFill>
                  <a:srgbClr val="919191"/>
                </a:solidFill>
                <a:latin typeface="Arial"/>
                <a:cs typeface="Arial"/>
              </a:rPr>
              <a:t>PhD </a:t>
            </a:r>
            <a:r>
              <a:rPr sz="1404" spc="3" dirty="0">
                <a:solidFill>
                  <a:srgbClr val="919191"/>
                </a:solidFill>
                <a:latin typeface="Arial"/>
                <a:cs typeface="Arial"/>
              </a:rPr>
              <a:t>in </a:t>
            </a:r>
            <a:r>
              <a:rPr sz="1404" spc="6" dirty="0">
                <a:solidFill>
                  <a:srgbClr val="919191"/>
                </a:solidFill>
                <a:latin typeface="Arial"/>
                <a:cs typeface="Arial"/>
              </a:rPr>
              <a:t>Semiconductor</a:t>
            </a:r>
            <a:r>
              <a:rPr sz="1404" spc="-6" dirty="0">
                <a:solidFill>
                  <a:srgbClr val="919191"/>
                </a:solidFill>
                <a:latin typeface="Arial"/>
                <a:cs typeface="Arial"/>
              </a:rPr>
              <a:t> </a:t>
            </a:r>
            <a:r>
              <a:rPr sz="1404" spc="6" dirty="0">
                <a:solidFill>
                  <a:srgbClr val="919191"/>
                </a:solidFill>
                <a:latin typeface="Arial"/>
                <a:cs typeface="Arial"/>
              </a:rPr>
              <a:t>Physics</a:t>
            </a:r>
            <a:endParaRPr sz="1404">
              <a:latin typeface="Arial"/>
              <a:cs typeface="Arial"/>
            </a:endParaRPr>
          </a:p>
          <a:p>
            <a:pPr marL="151000" marR="466098" indent="-143723">
              <a:lnSpc>
                <a:spcPts val="1702"/>
              </a:lnSpc>
              <a:spcBef>
                <a:spcPts val="57"/>
              </a:spcBef>
              <a:buChar char="•"/>
              <a:tabLst>
                <a:tab pos="151000" algn="l"/>
                <a:tab pos="151364" algn="l"/>
              </a:tabLst>
            </a:pPr>
            <a:r>
              <a:rPr sz="1404" spc="6" dirty="0">
                <a:solidFill>
                  <a:srgbClr val="919191"/>
                </a:solidFill>
                <a:latin typeface="Arial"/>
                <a:cs typeface="Arial"/>
              </a:rPr>
              <a:t>20 years </a:t>
            </a:r>
            <a:r>
              <a:rPr sz="1404" spc="3" dirty="0">
                <a:solidFill>
                  <a:srgbClr val="919191"/>
                </a:solidFill>
                <a:latin typeface="Arial"/>
                <a:cs typeface="Arial"/>
              </a:rPr>
              <a:t>of IT </a:t>
            </a:r>
            <a:r>
              <a:rPr sz="1404" spc="6" dirty="0">
                <a:solidFill>
                  <a:srgbClr val="919191"/>
                </a:solidFill>
                <a:latin typeface="Arial"/>
                <a:cs typeface="Arial"/>
              </a:rPr>
              <a:t>experience as </a:t>
            </a:r>
            <a:r>
              <a:rPr sz="1404" spc="-3" dirty="0">
                <a:solidFill>
                  <a:srgbClr val="919191"/>
                </a:solidFill>
                <a:latin typeface="Arial"/>
                <a:cs typeface="Arial"/>
              </a:rPr>
              <a:t>Developer,</a:t>
            </a:r>
            <a:r>
              <a:rPr sz="1404" spc="-109" dirty="0">
                <a:solidFill>
                  <a:srgbClr val="919191"/>
                </a:solidFill>
                <a:latin typeface="Arial"/>
                <a:cs typeface="Arial"/>
              </a:rPr>
              <a:t> </a:t>
            </a:r>
            <a:r>
              <a:rPr sz="1404" spc="3" dirty="0">
                <a:solidFill>
                  <a:srgbClr val="919191"/>
                </a:solidFill>
                <a:latin typeface="Arial"/>
                <a:cs typeface="Arial"/>
              </a:rPr>
              <a:t>Architect,  </a:t>
            </a:r>
            <a:r>
              <a:rPr sz="1404" spc="6" dirty="0">
                <a:solidFill>
                  <a:srgbClr val="919191"/>
                </a:solidFill>
                <a:latin typeface="Arial"/>
                <a:cs typeface="Arial"/>
              </a:rPr>
              <a:t>System</a:t>
            </a:r>
            <a:r>
              <a:rPr sz="1404" dirty="0">
                <a:solidFill>
                  <a:srgbClr val="919191"/>
                </a:solidFill>
                <a:latin typeface="Arial"/>
                <a:cs typeface="Arial"/>
              </a:rPr>
              <a:t> </a:t>
            </a:r>
            <a:r>
              <a:rPr sz="1404" spc="6" dirty="0">
                <a:solidFill>
                  <a:srgbClr val="919191"/>
                </a:solidFill>
                <a:latin typeface="Arial"/>
                <a:cs typeface="Arial"/>
              </a:rPr>
              <a:t>Engineer</a:t>
            </a:r>
            <a:endParaRPr sz="1404">
              <a:latin typeface="Arial"/>
              <a:cs typeface="Arial"/>
            </a:endParaRPr>
          </a:p>
          <a:p>
            <a:pPr marL="151000" indent="-143723">
              <a:lnSpc>
                <a:spcPts val="1639"/>
              </a:lnSpc>
              <a:buChar char="•"/>
              <a:tabLst>
                <a:tab pos="151000" algn="l"/>
                <a:tab pos="151364" algn="l"/>
              </a:tabLst>
            </a:pPr>
            <a:r>
              <a:rPr sz="1404" spc="6" dirty="0">
                <a:solidFill>
                  <a:srgbClr val="919191"/>
                </a:solidFill>
                <a:latin typeface="Arial"/>
                <a:cs typeface="Arial"/>
              </a:rPr>
              <a:t>Experience </a:t>
            </a:r>
            <a:r>
              <a:rPr sz="1404" spc="3" dirty="0">
                <a:solidFill>
                  <a:srgbClr val="919191"/>
                </a:solidFill>
                <a:latin typeface="Arial"/>
                <a:cs typeface="Arial"/>
              </a:rPr>
              <a:t>in Retail, </a:t>
            </a:r>
            <a:r>
              <a:rPr sz="1404" spc="6" dirty="0">
                <a:solidFill>
                  <a:srgbClr val="919191"/>
                </a:solidFill>
                <a:latin typeface="Arial"/>
                <a:cs typeface="Arial"/>
              </a:rPr>
              <a:t>Healthcare and Finance </a:t>
            </a:r>
            <a:r>
              <a:rPr sz="1404" spc="3" dirty="0">
                <a:solidFill>
                  <a:srgbClr val="919191"/>
                </a:solidFill>
                <a:latin typeface="Arial"/>
                <a:cs typeface="Arial"/>
              </a:rPr>
              <a:t>industries</a:t>
            </a:r>
            <a:endParaRPr sz="1404">
              <a:latin typeface="Arial"/>
              <a:cs typeface="Arial"/>
            </a:endParaRPr>
          </a:p>
        </p:txBody>
      </p:sp>
    </p:spTree>
    <p:extLst>
      <p:ext uri="{BB962C8B-B14F-4D97-AF65-F5344CB8AC3E}">
        <p14:creationId xmlns:p14="http://schemas.microsoft.com/office/powerpoint/2010/main" val="41942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Agile Manifesto</a:t>
            </a:r>
            <a:endParaRPr lang="en-GB" dirty="0"/>
          </a:p>
        </p:txBody>
      </p:sp>
      <p:sp>
        <p:nvSpPr>
          <p:cNvPr id="3" name="Content Placeholder 2"/>
          <p:cNvSpPr>
            <a:spLocks noGrp="1"/>
          </p:cNvSpPr>
          <p:nvPr>
            <p:ph idx="1"/>
          </p:nvPr>
        </p:nvSpPr>
        <p:spPr/>
        <p:txBody>
          <a:bodyPr>
            <a:normAutofit fontScale="85000" lnSpcReduction="20000"/>
          </a:bodyPr>
          <a:lstStyle/>
          <a:p>
            <a:r>
              <a:rPr lang="en-GB" sz="3200" dirty="0"/>
              <a:t>Individuals and interactions </a:t>
            </a:r>
            <a:r>
              <a:rPr lang="en-GB" sz="3200" b="0" dirty="0"/>
              <a:t>over processes and tools</a:t>
            </a:r>
            <a:br>
              <a:rPr lang="en-GB" sz="3200" dirty="0"/>
            </a:br>
            <a:br>
              <a:rPr lang="en-GB" sz="3200" dirty="0"/>
            </a:br>
            <a:r>
              <a:rPr lang="en-GB" sz="3200" dirty="0"/>
              <a:t>Working software </a:t>
            </a:r>
            <a:r>
              <a:rPr lang="en-GB" sz="3200" b="0" dirty="0"/>
              <a:t>over comprehensive documentation</a:t>
            </a:r>
            <a:br>
              <a:rPr lang="en-GB" sz="3200" dirty="0"/>
            </a:br>
            <a:br>
              <a:rPr lang="en-GB" sz="3200" dirty="0"/>
            </a:br>
            <a:r>
              <a:rPr lang="en-GB" sz="3200" dirty="0"/>
              <a:t>Customer collaboration </a:t>
            </a:r>
            <a:r>
              <a:rPr lang="en-GB" sz="3200" b="0" dirty="0"/>
              <a:t>over contract negotiation</a:t>
            </a:r>
            <a:br>
              <a:rPr lang="en-GB" sz="3200" b="0" dirty="0"/>
            </a:br>
            <a:br>
              <a:rPr lang="en-GB" sz="3200" b="0" dirty="0"/>
            </a:br>
            <a:r>
              <a:rPr lang="en-GB" sz="3200" dirty="0"/>
              <a:t>Responding to change </a:t>
            </a:r>
            <a:r>
              <a:rPr lang="en-GB" sz="3200" b="0" dirty="0"/>
              <a:t>over following a plan</a:t>
            </a:r>
          </a:p>
        </p:txBody>
      </p:sp>
      <p:sp>
        <p:nvSpPr>
          <p:cNvPr id="7" name="Rectangle 6"/>
          <p:cNvSpPr/>
          <p:nvPr/>
        </p:nvSpPr>
        <p:spPr>
          <a:xfrm>
            <a:off x="8040882" y="5934797"/>
            <a:ext cx="2672718" cy="354071"/>
          </a:xfrm>
          <a:prstGeom prst="rect">
            <a:avLst/>
          </a:prstGeom>
        </p:spPr>
        <p:txBody>
          <a:bodyPr wrap="none">
            <a:spAutoFit/>
          </a:bodyPr>
          <a:lstStyle/>
          <a:p>
            <a:pPr algn="r"/>
            <a:r>
              <a:rPr lang="en-GB" sz="1701" dirty="0">
                <a:hlinkClick r:id="rId3"/>
              </a:rPr>
              <a:t>http://agilemanifesto.org</a:t>
            </a:r>
            <a:endParaRPr lang="en-GB" sz="1701" dirty="0"/>
          </a:p>
        </p:txBody>
      </p:sp>
    </p:spTree>
    <p:extLst>
      <p:ext uri="{BB962C8B-B14F-4D97-AF65-F5344CB8AC3E}">
        <p14:creationId xmlns:p14="http://schemas.microsoft.com/office/powerpoint/2010/main" val="3588925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12 Principles behind the Agile Manifesto</a:t>
            </a:r>
            <a:endParaRPr lang="en-US" dirty="0"/>
          </a:p>
        </p:txBody>
      </p:sp>
      <p:sp>
        <p:nvSpPr>
          <p:cNvPr id="7" name="Rectangle 6"/>
          <p:cNvSpPr/>
          <p:nvPr/>
        </p:nvSpPr>
        <p:spPr>
          <a:xfrm>
            <a:off x="6633444" y="5934797"/>
            <a:ext cx="4080156" cy="354071"/>
          </a:xfrm>
          <a:prstGeom prst="rect">
            <a:avLst/>
          </a:prstGeom>
        </p:spPr>
        <p:txBody>
          <a:bodyPr wrap="none">
            <a:spAutoFit/>
          </a:bodyPr>
          <a:lstStyle/>
          <a:p>
            <a:pPr algn="r"/>
            <a:r>
              <a:rPr lang="en-GB" sz="1701" dirty="0">
                <a:hlinkClick r:id="rId3"/>
              </a:rPr>
              <a:t>http://agilemanifesto.org/principles.html</a:t>
            </a:r>
            <a:endParaRPr lang="en-GB" sz="1701" dirty="0"/>
          </a:p>
        </p:txBody>
      </p:sp>
    </p:spTree>
    <p:extLst>
      <p:ext uri="{BB962C8B-B14F-4D97-AF65-F5344CB8AC3E}">
        <p14:creationId xmlns:p14="http://schemas.microsoft.com/office/powerpoint/2010/main" val="77175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Principles</a:t>
            </a:r>
            <a:endParaRPr lang="en-US" dirty="0"/>
          </a:p>
        </p:txBody>
      </p:sp>
      <p:sp>
        <p:nvSpPr>
          <p:cNvPr id="3" name="Content Placeholder 2"/>
          <p:cNvSpPr>
            <a:spLocks noGrp="1"/>
          </p:cNvSpPr>
          <p:nvPr>
            <p:ph idx="1"/>
          </p:nvPr>
        </p:nvSpPr>
        <p:spPr/>
        <p:txBody>
          <a:bodyPr>
            <a:normAutofit/>
          </a:bodyPr>
          <a:lstStyle/>
          <a:p>
            <a:pPr marL="742950" indent="-742950">
              <a:buFont typeface="+mj-lt"/>
              <a:buAutoNum type="arabicPeriod"/>
            </a:pPr>
            <a:r>
              <a:rPr lang="en-GB" b="1" dirty="0">
                <a:solidFill>
                  <a:schemeClr val="tx1"/>
                </a:solidFill>
              </a:rPr>
              <a:t>Our highest priority is to satisfy the customer through early and continuous delivery of valuable software.</a:t>
            </a:r>
          </a:p>
        </p:txBody>
      </p:sp>
      <p:sp>
        <p:nvSpPr>
          <p:cNvPr id="5" name="Rectangle 4"/>
          <p:cNvSpPr/>
          <p:nvPr/>
        </p:nvSpPr>
        <p:spPr>
          <a:xfrm>
            <a:off x="6633444" y="5934797"/>
            <a:ext cx="4080156" cy="354071"/>
          </a:xfrm>
          <a:prstGeom prst="rect">
            <a:avLst/>
          </a:prstGeom>
        </p:spPr>
        <p:txBody>
          <a:bodyPr wrap="none">
            <a:spAutoFit/>
          </a:bodyPr>
          <a:lstStyle/>
          <a:p>
            <a:pPr algn="r"/>
            <a:r>
              <a:rPr lang="en-GB" sz="1701" dirty="0">
                <a:hlinkClick r:id="rId3"/>
              </a:rPr>
              <a:t>http://agilemanifesto.org/principles.html</a:t>
            </a:r>
            <a:endParaRPr lang="en-GB" sz="1701" dirty="0"/>
          </a:p>
        </p:txBody>
      </p:sp>
    </p:spTree>
    <p:extLst>
      <p:ext uri="{BB962C8B-B14F-4D97-AF65-F5344CB8AC3E}">
        <p14:creationId xmlns:p14="http://schemas.microsoft.com/office/powerpoint/2010/main" val="2764384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Principles</a:t>
            </a:r>
            <a:endParaRPr lang="en-US" dirty="0"/>
          </a:p>
        </p:txBody>
      </p:sp>
      <p:sp>
        <p:nvSpPr>
          <p:cNvPr id="3" name="Content Placeholder 2"/>
          <p:cNvSpPr>
            <a:spLocks noGrp="1"/>
          </p:cNvSpPr>
          <p:nvPr>
            <p:ph idx="1"/>
          </p:nvPr>
        </p:nvSpPr>
        <p:spPr/>
        <p:txBody>
          <a:bodyPr>
            <a:normAutofit/>
          </a:bodyPr>
          <a:lstStyle/>
          <a:p>
            <a:pPr marL="742950" indent="-742950">
              <a:buFont typeface="+mj-lt"/>
              <a:buAutoNum type="arabicPeriod" startAt="3"/>
            </a:pPr>
            <a:r>
              <a:rPr lang="en-GB" b="1" dirty="0">
                <a:solidFill>
                  <a:schemeClr val="tx1"/>
                </a:solidFill>
              </a:rPr>
              <a:t>Deliver working software frequently, from a couple of weeks to a couple of months, with a preference to the shorter timescale.</a:t>
            </a:r>
            <a:endParaRPr lang="en-GB" dirty="0">
              <a:solidFill>
                <a:schemeClr val="tx1"/>
              </a:solidFill>
            </a:endParaRPr>
          </a:p>
        </p:txBody>
      </p:sp>
      <p:sp>
        <p:nvSpPr>
          <p:cNvPr id="5" name="Rectangle 4"/>
          <p:cNvSpPr/>
          <p:nvPr/>
        </p:nvSpPr>
        <p:spPr>
          <a:xfrm>
            <a:off x="6633444" y="5934797"/>
            <a:ext cx="4080156" cy="354071"/>
          </a:xfrm>
          <a:prstGeom prst="rect">
            <a:avLst/>
          </a:prstGeom>
        </p:spPr>
        <p:txBody>
          <a:bodyPr wrap="none">
            <a:spAutoFit/>
          </a:bodyPr>
          <a:lstStyle/>
          <a:p>
            <a:pPr algn="r"/>
            <a:r>
              <a:rPr lang="en-GB" sz="1701" dirty="0">
                <a:hlinkClick r:id="rId3"/>
              </a:rPr>
              <a:t>http://agilemanifesto.org/principles.html</a:t>
            </a:r>
            <a:endParaRPr lang="en-GB" sz="1701" dirty="0"/>
          </a:p>
        </p:txBody>
      </p:sp>
    </p:spTree>
    <p:extLst>
      <p:ext uri="{BB962C8B-B14F-4D97-AF65-F5344CB8AC3E}">
        <p14:creationId xmlns:p14="http://schemas.microsoft.com/office/powerpoint/2010/main" val="3152106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Principles</a:t>
            </a:r>
            <a:endParaRPr lang="en-US" dirty="0"/>
          </a:p>
        </p:txBody>
      </p:sp>
      <p:sp>
        <p:nvSpPr>
          <p:cNvPr id="3" name="Content Placeholder 2"/>
          <p:cNvSpPr>
            <a:spLocks noGrp="1"/>
          </p:cNvSpPr>
          <p:nvPr>
            <p:ph idx="1"/>
          </p:nvPr>
        </p:nvSpPr>
        <p:spPr/>
        <p:txBody>
          <a:bodyPr>
            <a:normAutofit/>
          </a:bodyPr>
          <a:lstStyle/>
          <a:p>
            <a:pPr marL="742950" indent="-742950">
              <a:buFont typeface="+mj-lt"/>
              <a:buAutoNum type="arabicPeriod" startAt="4"/>
            </a:pPr>
            <a:r>
              <a:rPr lang="en-GB" b="1" dirty="0">
                <a:solidFill>
                  <a:schemeClr val="tx1"/>
                </a:solidFill>
              </a:rPr>
              <a:t>Business people and developers must work together daily throughout the project.</a:t>
            </a:r>
          </a:p>
        </p:txBody>
      </p:sp>
      <p:sp>
        <p:nvSpPr>
          <p:cNvPr id="5" name="Rectangle 4"/>
          <p:cNvSpPr/>
          <p:nvPr/>
        </p:nvSpPr>
        <p:spPr>
          <a:xfrm>
            <a:off x="6633444" y="5934797"/>
            <a:ext cx="4080156" cy="354071"/>
          </a:xfrm>
          <a:prstGeom prst="rect">
            <a:avLst/>
          </a:prstGeom>
        </p:spPr>
        <p:txBody>
          <a:bodyPr wrap="none">
            <a:spAutoFit/>
          </a:bodyPr>
          <a:lstStyle/>
          <a:p>
            <a:pPr algn="r"/>
            <a:r>
              <a:rPr lang="en-GB" sz="1701" dirty="0">
                <a:hlinkClick r:id="rId3"/>
              </a:rPr>
              <a:t>http://agilemanifesto.org/principles.html</a:t>
            </a:r>
            <a:endParaRPr lang="en-GB" sz="1701" dirty="0"/>
          </a:p>
        </p:txBody>
      </p:sp>
    </p:spTree>
    <p:extLst>
      <p:ext uri="{BB962C8B-B14F-4D97-AF65-F5344CB8AC3E}">
        <p14:creationId xmlns:p14="http://schemas.microsoft.com/office/powerpoint/2010/main" val="3445622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a:t>
            </a:r>
            <a:endParaRPr lang="en-US" dirty="0"/>
          </a:p>
        </p:txBody>
      </p:sp>
      <p:pic>
        <p:nvPicPr>
          <p:cNvPr id="4" name="Picture 3"/>
          <p:cNvPicPr>
            <a:picLocks noChangeAspect="1"/>
          </p:cNvPicPr>
          <p:nvPr/>
        </p:nvPicPr>
        <p:blipFill>
          <a:blip r:embed="rId3" cstate="print"/>
          <a:stretch>
            <a:fillRect/>
          </a:stretch>
        </p:blipFill>
        <p:spPr>
          <a:xfrm>
            <a:off x="1035650" y="465993"/>
            <a:ext cx="9449188" cy="3946238"/>
          </a:xfrm>
          <a:prstGeom prst="rect">
            <a:avLst/>
          </a:prstGeom>
        </p:spPr>
      </p:pic>
      <p:sp>
        <p:nvSpPr>
          <p:cNvPr id="3" name="Rectangle 2"/>
          <p:cNvSpPr/>
          <p:nvPr/>
        </p:nvSpPr>
        <p:spPr>
          <a:xfrm>
            <a:off x="5760244" y="5959851"/>
            <a:ext cx="4926092" cy="354071"/>
          </a:xfrm>
          <a:prstGeom prst="rect">
            <a:avLst/>
          </a:prstGeom>
        </p:spPr>
        <p:txBody>
          <a:bodyPr wrap="none">
            <a:spAutoFit/>
          </a:bodyPr>
          <a:lstStyle/>
          <a:p>
            <a:pPr algn="r"/>
            <a:r>
              <a:rPr lang="en-US" sz="1701" dirty="0">
                <a:hlinkClick r:id="rId4"/>
              </a:rPr>
              <a:t>https://www.scrum.org/Resources/What-is-Scrum</a:t>
            </a:r>
            <a:endParaRPr lang="en-US" sz="1701" dirty="0"/>
          </a:p>
        </p:txBody>
      </p:sp>
    </p:spTree>
    <p:extLst>
      <p:ext uri="{BB962C8B-B14F-4D97-AF65-F5344CB8AC3E}">
        <p14:creationId xmlns:p14="http://schemas.microsoft.com/office/powerpoint/2010/main" val="3052682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01424" y="5948799"/>
            <a:ext cx="8912176" cy="354071"/>
          </a:xfrm>
          <a:prstGeom prst="rect">
            <a:avLst/>
          </a:prstGeom>
        </p:spPr>
        <p:txBody>
          <a:bodyPr wrap="square">
            <a:spAutoFit/>
          </a:bodyPr>
          <a:lstStyle/>
          <a:p>
            <a:pPr algn="r"/>
            <a:r>
              <a:rPr lang="en-US" sz="1701" dirty="0">
                <a:hlinkClick r:id="rId2"/>
              </a:rPr>
              <a:t>http://www.cardinalsolutions.com/blog/2015/05/assuring-quality-in-the-new-agile-world</a:t>
            </a:r>
            <a:endParaRPr lang="en-US" sz="1701" dirty="0"/>
          </a:p>
        </p:txBody>
      </p:sp>
      <p:pic>
        <p:nvPicPr>
          <p:cNvPr id="5" name="Picture 4"/>
          <p:cNvPicPr>
            <a:picLocks noChangeAspect="1"/>
          </p:cNvPicPr>
          <p:nvPr/>
        </p:nvPicPr>
        <p:blipFill>
          <a:blip r:embed="rId3" cstate="print"/>
          <a:stretch>
            <a:fillRect/>
          </a:stretch>
        </p:blipFill>
        <p:spPr>
          <a:xfrm>
            <a:off x="2032208" y="206190"/>
            <a:ext cx="7456073" cy="5577701"/>
          </a:xfrm>
          <a:prstGeom prst="rect">
            <a:avLst/>
          </a:prstGeom>
        </p:spPr>
      </p:pic>
    </p:spTree>
    <p:extLst>
      <p:ext uri="{BB962C8B-B14F-4D97-AF65-F5344CB8AC3E}">
        <p14:creationId xmlns:p14="http://schemas.microsoft.com/office/powerpoint/2010/main" val="1648746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934027" y="0"/>
            <a:ext cx="7652436" cy="6064466"/>
          </a:xfrm>
          <a:prstGeom prst="rect">
            <a:avLst/>
          </a:prstGeom>
        </p:spPr>
      </p:pic>
      <p:sp>
        <p:nvSpPr>
          <p:cNvPr id="6" name="Rectangle 5"/>
          <p:cNvSpPr/>
          <p:nvPr/>
        </p:nvSpPr>
        <p:spPr>
          <a:xfrm>
            <a:off x="4988571" y="6119813"/>
            <a:ext cx="5725029" cy="354071"/>
          </a:xfrm>
          <a:prstGeom prst="rect">
            <a:avLst/>
          </a:prstGeom>
        </p:spPr>
        <p:txBody>
          <a:bodyPr wrap="none">
            <a:spAutoFit/>
          </a:bodyPr>
          <a:lstStyle/>
          <a:p>
            <a:pPr algn="r"/>
            <a:r>
              <a:rPr lang="en-US" sz="1701" dirty="0">
                <a:hlinkClick r:id="rId3"/>
              </a:rPr>
              <a:t>http://www.agilemodeling.com/essays/costOfChange.htm</a:t>
            </a:r>
            <a:endParaRPr lang="en-US" sz="1701" dirty="0"/>
          </a:p>
        </p:txBody>
      </p:sp>
    </p:spTree>
    <p:extLst>
      <p:ext uri="{BB962C8B-B14F-4D97-AF65-F5344CB8AC3E}">
        <p14:creationId xmlns:p14="http://schemas.microsoft.com/office/powerpoint/2010/main" val="2263577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2" name="Straight Arrow Connector 81"/>
          <p:cNvCxnSpPr/>
          <p:nvPr/>
        </p:nvCxnSpPr>
        <p:spPr>
          <a:xfrm>
            <a:off x="2768769" y="2426329"/>
            <a:ext cx="1975297" cy="508089"/>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3016020" y="3521303"/>
            <a:ext cx="1679139" cy="40755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89" y="5724041"/>
            <a:ext cx="11520311" cy="703078"/>
          </a:xfrm>
          <a:prstGeom prst="rect">
            <a:avLst/>
          </a:prstGeom>
          <a:solidFill>
            <a:schemeClr val="bg1"/>
          </a:solidFill>
        </p:spPr>
        <p:txBody>
          <a:bodyPr wrap="square">
            <a:spAutoFit/>
          </a:bodyPr>
          <a:lstStyle/>
          <a:p>
            <a:pPr lvl="1" algn="r"/>
            <a:r>
              <a:rPr lang="en-US" sz="1323" dirty="0">
                <a:hlinkClick r:id="rId3"/>
              </a:rPr>
              <a:t>http://itrevolution.com/the-convergence-of-devops</a:t>
            </a:r>
            <a:endParaRPr lang="en-US" sz="1701" dirty="0"/>
          </a:p>
          <a:p>
            <a:pPr lvl="1" algn="r"/>
            <a:r>
              <a:rPr lang="en-US" sz="1323" dirty="0">
                <a:hlinkClick r:id="rId4"/>
              </a:rPr>
              <a:t>https://www.ibm.com/developerworks/library/se-devops/part1</a:t>
            </a:r>
            <a:endParaRPr lang="en-US" sz="1323" dirty="0"/>
          </a:p>
          <a:p>
            <a:pPr lvl="1" algn="r"/>
            <a:r>
              <a:rPr lang="en-US" sz="1323" dirty="0">
                <a:hlinkClick r:id="rId5"/>
              </a:rPr>
              <a:t>http://itrevolution.com/the-history-of-devops</a:t>
            </a:r>
            <a:endParaRPr lang="en-US" sz="1323" dirty="0"/>
          </a:p>
        </p:txBody>
      </p:sp>
      <p:sp>
        <p:nvSpPr>
          <p:cNvPr id="2" name="Title 1"/>
          <p:cNvSpPr>
            <a:spLocks noGrp="1"/>
          </p:cNvSpPr>
          <p:nvPr>
            <p:ph type="title"/>
          </p:nvPr>
        </p:nvSpPr>
        <p:spPr/>
        <p:txBody>
          <a:bodyPr/>
          <a:lstStyle/>
          <a:p>
            <a:pPr algn="l"/>
            <a:r>
              <a:rPr lang="en-US" sz="3600" dirty="0"/>
              <a:t>Background</a:t>
            </a:r>
          </a:p>
        </p:txBody>
      </p:sp>
      <p:grpSp>
        <p:nvGrpSpPr>
          <p:cNvPr id="16" name="Group 15"/>
          <p:cNvGrpSpPr/>
          <p:nvPr/>
        </p:nvGrpSpPr>
        <p:grpSpPr>
          <a:xfrm>
            <a:off x="4952164" y="0"/>
            <a:ext cx="1616161" cy="1616161"/>
            <a:chOff x="5122368" y="131999"/>
            <a:chExt cx="1710391" cy="1710391"/>
          </a:xfrm>
        </p:grpSpPr>
        <p:sp>
          <p:nvSpPr>
            <p:cNvPr id="50" name="Oval 49"/>
            <p:cNvSpPr/>
            <p:nvPr/>
          </p:nvSpPr>
          <p:spPr>
            <a:xfrm>
              <a:off x="5122368" y="131999"/>
              <a:ext cx="1710391" cy="1710391"/>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51" name="Oval 16"/>
            <p:cNvSpPr/>
            <p:nvPr/>
          </p:nvSpPr>
          <p:spPr>
            <a:xfrm>
              <a:off x="5372849" y="382480"/>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Agile</a:t>
              </a:r>
            </a:p>
          </p:txBody>
        </p:sp>
      </p:grpSp>
      <p:grpSp>
        <p:nvGrpSpPr>
          <p:cNvPr id="17" name="Group 16"/>
          <p:cNvGrpSpPr/>
          <p:nvPr/>
        </p:nvGrpSpPr>
        <p:grpSpPr>
          <a:xfrm>
            <a:off x="6715695" y="364501"/>
            <a:ext cx="1616161" cy="1616161"/>
            <a:chOff x="6929030" y="112224"/>
            <a:chExt cx="1710391" cy="1710391"/>
          </a:xfrm>
        </p:grpSpPr>
        <p:sp>
          <p:nvSpPr>
            <p:cNvPr id="48" name="Oval 47"/>
            <p:cNvSpPr/>
            <p:nvPr/>
          </p:nvSpPr>
          <p:spPr>
            <a:xfrm>
              <a:off x="6929030" y="112224"/>
              <a:ext cx="1710391" cy="1710391"/>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49" name="Oval 18"/>
            <p:cNvSpPr/>
            <p:nvPr/>
          </p:nvSpPr>
          <p:spPr>
            <a:xfrm>
              <a:off x="7179511" y="362705"/>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2007-2008</a:t>
              </a:r>
              <a:br>
                <a:rPr lang="en-US" sz="1512" b="1" dirty="0"/>
              </a:br>
              <a:r>
                <a:rPr lang="en-US" sz="1512" b="1" dirty="0"/>
                <a:t> Patrick </a:t>
              </a:r>
              <a:r>
                <a:rPr lang="en-US" sz="1512" b="1" dirty="0" err="1"/>
                <a:t>Debois</a:t>
              </a:r>
              <a:r>
                <a:rPr lang="en-US" sz="1512" b="1" dirty="0"/>
                <a:t> </a:t>
              </a:r>
              <a:r>
                <a:rPr lang="en-US" sz="1512" b="1" dirty="0">
                  <a:sym typeface="Wingdings" pitchFamily="2" charset="2"/>
                </a:rPr>
                <a:t></a:t>
              </a:r>
              <a:r>
                <a:rPr lang="en-US" sz="1512" b="1" dirty="0"/>
                <a:t> Agile Sys Admin GG</a:t>
              </a:r>
            </a:p>
          </p:txBody>
        </p:sp>
      </p:grpSp>
      <p:grpSp>
        <p:nvGrpSpPr>
          <p:cNvPr id="18" name="Group 17"/>
          <p:cNvGrpSpPr/>
          <p:nvPr/>
        </p:nvGrpSpPr>
        <p:grpSpPr>
          <a:xfrm>
            <a:off x="8298428" y="1118598"/>
            <a:ext cx="1616161" cy="1616161"/>
            <a:chOff x="8707561" y="392704"/>
            <a:chExt cx="1710391" cy="1710391"/>
          </a:xfrm>
        </p:grpSpPr>
        <p:sp>
          <p:nvSpPr>
            <p:cNvPr id="46" name="Oval 45"/>
            <p:cNvSpPr/>
            <p:nvPr/>
          </p:nvSpPr>
          <p:spPr>
            <a:xfrm>
              <a:off x="8707561" y="392704"/>
              <a:ext cx="1710391" cy="1710391"/>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sz="1701" dirty="0"/>
            </a:p>
          </p:txBody>
        </p:sp>
        <p:sp>
          <p:nvSpPr>
            <p:cNvPr id="47" name="Oval 20"/>
            <p:cNvSpPr/>
            <p:nvPr/>
          </p:nvSpPr>
          <p:spPr>
            <a:xfrm>
              <a:off x="8958042" y="643185"/>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2007 </a:t>
              </a:r>
              <a:br>
                <a:rPr lang="en-US" sz="1512" b="1" dirty="0"/>
              </a:br>
              <a:r>
                <a:rPr lang="en-US" sz="1512" b="1" dirty="0"/>
                <a:t>Ops =  comp advantage </a:t>
              </a:r>
            </a:p>
          </p:txBody>
        </p:sp>
      </p:grpSp>
      <p:grpSp>
        <p:nvGrpSpPr>
          <p:cNvPr id="19" name="Group 18"/>
          <p:cNvGrpSpPr/>
          <p:nvPr/>
        </p:nvGrpSpPr>
        <p:grpSpPr>
          <a:xfrm>
            <a:off x="9610796" y="2317858"/>
            <a:ext cx="1616161" cy="1616161"/>
            <a:chOff x="9851994" y="2058701"/>
            <a:chExt cx="1710391" cy="1710391"/>
          </a:xfrm>
        </p:grpSpPr>
        <p:sp>
          <p:nvSpPr>
            <p:cNvPr id="44" name="Oval 43"/>
            <p:cNvSpPr/>
            <p:nvPr/>
          </p:nvSpPr>
          <p:spPr>
            <a:xfrm>
              <a:off x="9851994" y="2058701"/>
              <a:ext cx="1710391" cy="1710391"/>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sz="1701" dirty="0"/>
            </a:p>
          </p:txBody>
        </p:sp>
        <p:sp>
          <p:nvSpPr>
            <p:cNvPr id="45" name="Oval 22"/>
            <p:cNvSpPr/>
            <p:nvPr/>
          </p:nvSpPr>
          <p:spPr>
            <a:xfrm>
              <a:off x="10102475" y="2309182"/>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2009</a:t>
              </a:r>
              <a:br>
                <a:rPr lang="en-US" sz="1512" b="1" dirty="0"/>
              </a:br>
              <a:r>
                <a:rPr lang="en-US" sz="1512" b="1" dirty="0"/>
                <a:t>Velocity: 10+ deploys / day</a:t>
              </a:r>
            </a:p>
          </p:txBody>
        </p:sp>
      </p:grpSp>
      <p:grpSp>
        <p:nvGrpSpPr>
          <p:cNvPr id="20" name="Group 19"/>
          <p:cNvGrpSpPr/>
          <p:nvPr/>
        </p:nvGrpSpPr>
        <p:grpSpPr>
          <a:xfrm>
            <a:off x="8338220" y="3439863"/>
            <a:ext cx="1616161" cy="1616161"/>
            <a:chOff x="9767589" y="4074259"/>
            <a:chExt cx="1710391" cy="1710391"/>
          </a:xfrm>
        </p:grpSpPr>
        <p:sp>
          <p:nvSpPr>
            <p:cNvPr id="42" name="Oval 41"/>
            <p:cNvSpPr/>
            <p:nvPr/>
          </p:nvSpPr>
          <p:spPr>
            <a:xfrm>
              <a:off x="9767589" y="4074259"/>
              <a:ext cx="1710391" cy="1710391"/>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sz="1701" dirty="0"/>
            </a:p>
          </p:txBody>
        </p:sp>
        <p:sp>
          <p:nvSpPr>
            <p:cNvPr id="43" name="Oval 24"/>
            <p:cNvSpPr/>
            <p:nvPr/>
          </p:nvSpPr>
          <p:spPr>
            <a:xfrm>
              <a:off x="9986080" y="4366435"/>
              <a:ext cx="1346773"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2009 </a:t>
              </a:r>
              <a:br>
                <a:rPr lang="en-US" sz="1512" b="1" dirty="0"/>
              </a:br>
              <a:r>
                <a:rPr lang="en-US" sz="1512" b="1" dirty="0" err="1"/>
                <a:t>DevOpsDays</a:t>
              </a:r>
              <a:endParaRPr lang="en-US" sz="1512" b="1" dirty="0"/>
            </a:p>
          </p:txBody>
        </p:sp>
      </p:grpSp>
      <p:grpSp>
        <p:nvGrpSpPr>
          <p:cNvPr id="21" name="Group 20"/>
          <p:cNvGrpSpPr/>
          <p:nvPr/>
        </p:nvGrpSpPr>
        <p:grpSpPr>
          <a:xfrm>
            <a:off x="6638355" y="4108256"/>
            <a:ext cx="1616161" cy="1616161"/>
            <a:chOff x="7865099" y="4074259"/>
            <a:chExt cx="1710391" cy="1710391"/>
          </a:xfrm>
        </p:grpSpPr>
        <p:sp>
          <p:nvSpPr>
            <p:cNvPr id="40" name="Oval 39"/>
            <p:cNvSpPr/>
            <p:nvPr/>
          </p:nvSpPr>
          <p:spPr>
            <a:xfrm>
              <a:off x="7865099" y="4074259"/>
              <a:ext cx="1710391" cy="1710391"/>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41" name="Oval 26"/>
            <p:cNvSpPr/>
            <p:nvPr/>
          </p:nvSpPr>
          <p:spPr>
            <a:xfrm>
              <a:off x="8115580" y="4324740"/>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a:t>
              </a:r>
              <a:r>
                <a:rPr lang="en-US" sz="1512" b="1" dirty="0" err="1"/>
                <a:t>DevOps</a:t>
              </a:r>
              <a:endParaRPr lang="en-US" sz="1512" b="1" dirty="0"/>
            </a:p>
          </p:txBody>
        </p:sp>
      </p:grpSp>
      <p:grpSp>
        <p:nvGrpSpPr>
          <p:cNvPr id="22" name="Group 21"/>
          <p:cNvGrpSpPr/>
          <p:nvPr/>
        </p:nvGrpSpPr>
        <p:grpSpPr>
          <a:xfrm>
            <a:off x="4952164" y="4466909"/>
            <a:ext cx="1616161" cy="1616161"/>
            <a:chOff x="6257368" y="4074259"/>
            <a:chExt cx="1710391" cy="1710391"/>
          </a:xfrm>
        </p:grpSpPr>
        <p:sp>
          <p:nvSpPr>
            <p:cNvPr id="38" name="Oval 37"/>
            <p:cNvSpPr/>
            <p:nvPr/>
          </p:nvSpPr>
          <p:spPr>
            <a:xfrm>
              <a:off x="6257368" y="4074259"/>
              <a:ext cx="1710391" cy="1710391"/>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9" name="Oval 28"/>
            <p:cNvSpPr/>
            <p:nvPr/>
          </p:nvSpPr>
          <p:spPr>
            <a:xfrm>
              <a:off x="6507849" y="4324740"/>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2010</a:t>
              </a:r>
              <a:br>
                <a:rPr lang="en-US" sz="1512" b="1" dirty="0"/>
              </a:br>
              <a:r>
                <a:rPr lang="en-US" sz="1512" b="1" dirty="0"/>
                <a:t>Continuous Integration / Continuous Delivery</a:t>
              </a:r>
            </a:p>
          </p:txBody>
        </p:sp>
      </p:grpSp>
      <p:grpSp>
        <p:nvGrpSpPr>
          <p:cNvPr id="23" name="Group 22"/>
          <p:cNvGrpSpPr/>
          <p:nvPr/>
        </p:nvGrpSpPr>
        <p:grpSpPr>
          <a:xfrm>
            <a:off x="3174473" y="4059350"/>
            <a:ext cx="1616161" cy="1616161"/>
            <a:chOff x="4578818" y="4074259"/>
            <a:chExt cx="1710391" cy="1710391"/>
          </a:xfrm>
        </p:grpSpPr>
        <p:sp>
          <p:nvSpPr>
            <p:cNvPr id="36" name="Oval 35"/>
            <p:cNvSpPr/>
            <p:nvPr/>
          </p:nvSpPr>
          <p:spPr>
            <a:xfrm>
              <a:off x="4578818" y="4074259"/>
              <a:ext cx="1710391" cy="1710391"/>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37" name="Oval 30"/>
            <p:cNvSpPr/>
            <p:nvPr/>
          </p:nvSpPr>
          <p:spPr>
            <a:xfrm>
              <a:off x="4829299" y="4324740"/>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2010 – 2011 Tools / Gartner / Vendors</a:t>
              </a:r>
            </a:p>
          </p:txBody>
        </p:sp>
      </p:grpSp>
      <p:grpSp>
        <p:nvGrpSpPr>
          <p:cNvPr id="24" name="Group 23"/>
          <p:cNvGrpSpPr/>
          <p:nvPr/>
        </p:nvGrpSpPr>
        <p:grpSpPr>
          <a:xfrm>
            <a:off x="1544933" y="3472467"/>
            <a:ext cx="1616161" cy="1616161"/>
            <a:chOff x="2664486" y="4074259"/>
            <a:chExt cx="1710391" cy="1710391"/>
          </a:xfrm>
        </p:grpSpPr>
        <p:sp>
          <p:nvSpPr>
            <p:cNvPr id="34" name="Oval 33"/>
            <p:cNvSpPr/>
            <p:nvPr/>
          </p:nvSpPr>
          <p:spPr>
            <a:xfrm>
              <a:off x="2664486" y="4074259"/>
              <a:ext cx="1710391" cy="1710391"/>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35" name="Oval 32"/>
            <p:cNvSpPr/>
            <p:nvPr/>
          </p:nvSpPr>
          <p:spPr>
            <a:xfrm>
              <a:off x="2914967" y="4324740"/>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2013 </a:t>
              </a:r>
              <a:br>
                <a:rPr lang="en-US" sz="1512" b="1" dirty="0"/>
              </a:br>
              <a:r>
                <a:rPr lang="en-US" sz="1512" b="1" dirty="0"/>
                <a:t>The Phoenix Project</a:t>
              </a:r>
            </a:p>
          </p:txBody>
        </p:sp>
      </p:grpSp>
      <p:grpSp>
        <p:nvGrpSpPr>
          <p:cNvPr id="25" name="Group 24"/>
          <p:cNvGrpSpPr/>
          <p:nvPr/>
        </p:nvGrpSpPr>
        <p:grpSpPr>
          <a:xfrm>
            <a:off x="260927" y="2384115"/>
            <a:ext cx="1616161" cy="1616161"/>
            <a:chOff x="1239519" y="3302013"/>
            <a:chExt cx="1710391" cy="1710391"/>
          </a:xfrm>
        </p:grpSpPr>
        <p:sp>
          <p:nvSpPr>
            <p:cNvPr id="32" name="Oval 31"/>
            <p:cNvSpPr/>
            <p:nvPr/>
          </p:nvSpPr>
          <p:spPr>
            <a:xfrm>
              <a:off x="1239519" y="3302013"/>
              <a:ext cx="1710391" cy="1710391"/>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33" name="Oval 34"/>
            <p:cNvSpPr/>
            <p:nvPr/>
          </p:nvSpPr>
          <p:spPr>
            <a:xfrm>
              <a:off x="1490000" y="3552494"/>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2007 – 2010 </a:t>
              </a:r>
              <a:br>
                <a:rPr lang="en-US" sz="1512" b="1" dirty="0"/>
              </a:br>
              <a:r>
                <a:rPr lang="en-US" sz="1512" b="1" dirty="0"/>
                <a:t>Lean</a:t>
              </a:r>
            </a:p>
          </p:txBody>
        </p:sp>
      </p:grpSp>
      <p:grpSp>
        <p:nvGrpSpPr>
          <p:cNvPr id="26" name="Group 25"/>
          <p:cNvGrpSpPr/>
          <p:nvPr/>
        </p:nvGrpSpPr>
        <p:grpSpPr>
          <a:xfrm>
            <a:off x="1423987" y="1083955"/>
            <a:ext cx="1616161" cy="1616161"/>
            <a:chOff x="1760111" y="1650004"/>
            <a:chExt cx="1710391" cy="1710391"/>
          </a:xfrm>
        </p:grpSpPr>
        <p:sp>
          <p:nvSpPr>
            <p:cNvPr id="30" name="Oval 29"/>
            <p:cNvSpPr/>
            <p:nvPr/>
          </p:nvSpPr>
          <p:spPr>
            <a:xfrm>
              <a:off x="1760111" y="1650004"/>
              <a:ext cx="1710391" cy="1710391"/>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1" name="Oval 36"/>
            <p:cNvSpPr/>
            <p:nvPr/>
          </p:nvSpPr>
          <p:spPr>
            <a:xfrm>
              <a:off x="2010592" y="1900485"/>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err="1"/>
                <a:t>Infrastruct</a:t>
              </a:r>
              <a:r>
                <a:rPr lang="en-US" sz="1512" b="1" dirty="0"/>
                <a:t> as code</a:t>
              </a:r>
            </a:p>
          </p:txBody>
        </p:sp>
      </p:grpSp>
      <p:grpSp>
        <p:nvGrpSpPr>
          <p:cNvPr id="27" name="Group 26"/>
          <p:cNvGrpSpPr/>
          <p:nvPr/>
        </p:nvGrpSpPr>
        <p:grpSpPr>
          <a:xfrm>
            <a:off x="3089284" y="437786"/>
            <a:ext cx="1616161" cy="1616161"/>
            <a:chOff x="3229204" y="569344"/>
            <a:chExt cx="1710391" cy="1710391"/>
          </a:xfrm>
        </p:grpSpPr>
        <p:sp>
          <p:nvSpPr>
            <p:cNvPr id="28" name="Oval 27"/>
            <p:cNvSpPr/>
            <p:nvPr/>
          </p:nvSpPr>
          <p:spPr>
            <a:xfrm>
              <a:off x="3229204" y="569344"/>
              <a:ext cx="1710391" cy="1710391"/>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9" name="Oval 38"/>
            <p:cNvSpPr/>
            <p:nvPr/>
          </p:nvSpPr>
          <p:spPr>
            <a:xfrm>
              <a:off x="3479685" y="819825"/>
              <a:ext cx="1209429" cy="1209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600" tIns="9600" rIns="9600" bIns="9600" numCol="1" spcCol="1270" anchor="ctr" anchorCtr="0">
              <a:noAutofit/>
            </a:bodyPr>
            <a:lstStyle/>
            <a:p>
              <a:pPr algn="ctr" defTabSz="672013">
                <a:lnSpc>
                  <a:spcPct val="90000"/>
                </a:lnSpc>
                <a:spcBef>
                  <a:spcPct val="0"/>
                </a:spcBef>
                <a:spcAft>
                  <a:spcPct val="35000"/>
                </a:spcAft>
              </a:pPr>
              <a:r>
                <a:rPr lang="en-US" sz="1512" b="1" dirty="0"/>
                <a:t>Cloud and </a:t>
              </a:r>
              <a:r>
                <a:rPr lang="en-US" sz="1512" b="1" dirty="0" err="1"/>
                <a:t>PaaS</a:t>
              </a:r>
              <a:endParaRPr lang="en-US" sz="1512" b="1" dirty="0"/>
            </a:p>
          </p:txBody>
        </p:sp>
      </p:grpSp>
      <p:sp>
        <p:nvSpPr>
          <p:cNvPr id="52" name="Oval 51"/>
          <p:cNvSpPr/>
          <p:nvPr/>
        </p:nvSpPr>
        <p:spPr>
          <a:xfrm>
            <a:off x="4553952" y="2510559"/>
            <a:ext cx="2244207" cy="145090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024" b="1" dirty="0" err="1">
                <a:solidFill>
                  <a:schemeClr val="tx1"/>
                </a:solidFill>
              </a:rPr>
              <a:t>DevOps</a:t>
            </a:r>
            <a:endParaRPr lang="en-US" sz="1701" b="1" dirty="0">
              <a:solidFill>
                <a:schemeClr val="tx1"/>
              </a:solidFill>
            </a:endParaRPr>
          </a:p>
        </p:txBody>
      </p:sp>
      <p:cxnSp>
        <p:nvCxnSpPr>
          <p:cNvPr id="54" name="Straight Arrow Connector 53"/>
          <p:cNvCxnSpPr>
            <a:stCxn id="50" idx="4"/>
            <a:endCxn id="52" idx="0"/>
          </p:cNvCxnSpPr>
          <p:nvPr/>
        </p:nvCxnSpPr>
        <p:spPr>
          <a:xfrm flipH="1">
            <a:off x="5676056" y="1616161"/>
            <a:ext cx="84189" cy="89439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a:endCxn id="52" idx="7"/>
          </p:cNvCxnSpPr>
          <p:nvPr/>
        </p:nvCxnSpPr>
        <p:spPr>
          <a:xfrm flipH="1">
            <a:off x="6469502" y="1760652"/>
            <a:ext cx="540592" cy="962387"/>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6651439" y="2380139"/>
            <a:ext cx="1776954" cy="537977"/>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a:stCxn id="44" idx="2"/>
            <a:endCxn id="52" idx="6"/>
          </p:cNvCxnSpPr>
          <p:nvPr/>
        </p:nvCxnSpPr>
        <p:spPr>
          <a:xfrm flipH="1">
            <a:off x="6798159" y="3125939"/>
            <a:ext cx="2812637" cy="11007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38" idx="0"/>
            <a:endCxn id="52" idx="4"/>
          </p:cNvCxnSpPr>
          <p:nvPr/>
        </p:nvCxnSpPr>
        <p:spPr>
          <a:xfrm flipH="1" flipV="1">
            <a:off x="5676056" y="3961465"/>
            <a:ext cx="84189" cy="505444"/>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stCxn id="40" idx="1"/>
            <a:endCxn id="52" idx="5"/>
          </p:cNvCxnSpPr>
          <p:nvPr/>
        </p:nvCxnSpPr>
        <p:spPr>
          <a:xfrm flipH="1" flipV="1">
            <a:off x="6469502" y="3748985"/>
            <a:ext cx="405534" cy="595952"/>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H="1" flipV="1">
            <a:off x="6684042" y="3619116"/>
            <a:ext cx="1728047" cy="309744"/>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a:stCxn id="28" idx="5"/>
            <a:endCxn id="52" idx="1"/>
          </p:cNvCxnSpPr>
          <p:nvPr/>
        </p:nvCxnSpPr>
        <p:spPr>
          <a:xfrm>
            <a:off x="4468764" y="1817266"/>
            <a:ext cx="413845" cy="90577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a:stCxn id="32" idx="6"/>
            <a:endCxn id="52" idx="2"/>
          </p:cNvCxnSpPr>
          <p:nvPr/>
        </p:nvCxnSpPr>
        <p:spPr>
          <a:xfrm>
            <a:off x="1877088" y="3192196"/>
            <a:ext cx="2676864" cy="43816"/>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a:stCxn id="36" idx="7"/>
            <a:endCxn id="52" idx="3"/>
          </p:cNvCxnSpPr>
          <p:nvPr/>
        </p:nvCxnSpPr>
        <p:spPr>
          <a:xfrm flipV="1">
            <a:off x="4553953" y="3748985"/>
            <a:ext cx="328656" cy="547046"/>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773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DevOps?</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900857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038" y="360363"/>
            <a:ext cx="11087250" cy="720000"/>
          </a:xfrm>
        </p:spPr>
        <p:txBody>
          <a:bodyPr/>
          <a:lstStyle/>
          <a:p>
            <a:r>
              <a:rPr lang="en-GB" dirty="0"/>
              <a:t>Ch9 – Microsoft – Introduction to DevOps</a:t>
            </a:r>
            <a:endParaRPr lang="en-US" dirty="0"/>
          </a:p>
        </p:txBody>
      </p:sp>
      <p:pic>
        <p:nvPicPr>
          <p:cNvPr id="4" name="Picture 3"/>
          <p:cNvPicPr>
            <a:picLocks noChangeAspect="1"/>
          </p:cNvPicPr>
          <p:nvPr/>
        </p:nvPicPr>
        <p:blipFill>
          <a:blip r:embed="rId2" cstate="print"/>
          <a:stretch>
            <a:fillRect/>
          </a:stretch>
        </p:blipFill>
        <p:spPr>
          <a:xfrm>
            <a:off x="1741636" y="1255534"/>
            <a:ext cx="8037217" cy="3969107"/>
          </a:xfrm>
          <a:prstGeom prst="rect">
            <a:avLst/>
          </a:prstGeom>
        </p:spPr>
      </p:pic>
      <p:sp>
        <p:nvSpPr>
          <p:cNvPr id="5" name="Rectangle 4"/>
          <p:cNvSpPr/>
          <p:nvPr/>
        </p:nvSpPr>
        <p:spPr>
          <a:xfrm>
            <a:off x="2103290" y="5950021"/>
            <a:ext cx="8610310" cy="354071"/>
          </a:xfrm>
          <a:prstGeom prst="rect">
            <a:avLst/>
          </a:prstGeom>
        </p:spPr>
        <p:txBody>
          <a:bodyPr wrap="square">
            <a:spAutoFit/>
          </a:bodyPr>
          <a:lstStyle/>
          <a:p>
            <a:pPr algn="r"/>
            <a:r>
              <a:rPr lang="en-US" sz="1701" dirty="0">
                <a:hlinkClick r:id="rId3"/>
              </a:rPr>
              <a:t>https://channel9.msdn.com/Series/DevOps-Fundamentals/Introduction-to-DevOps</a:t>
            </a:r>
            <a:r>
              <a:rPr lang="en-US" sz="1701" dirty="0"/>
              <a:t> </a:t>
            </a:r>
          </a:p>
        </p:txBody>
      </p:sp>
    </p:spTree>
    <p:extLst>
      <p:ext uri="{BB962C8B-B14F-4D97-AF65-F5344CB8AC3E}">
        <p14:creationId xmlns:p14="http://schemas.microsoft.com/office/powerpoint/2010/main" val="4283092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stretch>
            <a:fillRect/>
          </a:stretch>
        </p:blipFill>
        <p:spPr>
          <a:xfrm>
            <a:off x="1674134" y="1273534"/>
            <a:ext cx="8172221" cy="3933106"/>
          </a:xfrm>
          <a:prstGeom prst="rect">
            <a:avLst/>
          </a:prstGeom>
        </p:spPr>
      </p:pic>
      <p:sp>
        <p:nvSpPr>
          <p:cNvPr id="2" name="Title 1"/>
          <p:cNvSpPr>
            <a:spLocks noGrp="1"/>
          </p:cNvSpPr>
          <p:nvPr>
            <p:ph type="title"/>
          </p:nvPr>
        </p:nvSpPr>
        <p:spPr>
          <a:xfrm>
            <a:off x="361038" y="360363"/>
            <a:ext cx="11159450" cy="720000"/>
          </a:xfrm>
        </p:spPr>
        <p:txBody>
          <a:bodyPr/>
          <a:lstStyle/>
          <a:p>
            <a:r>
              <a:rPr lang="en-GB" dirty="0"/>
              <a:t>Ch9 – Microsoft – Introduction to DevOps</a:t>
            </a:r>
            <a:endParaRPr lang="en-US" dirty="0"/>
          </a:p>
        </p:txBody>
      </p:sp>
      <p:sp>
        <p:nvSpPr>
          <p:cNvPr id="5" name="Rectangle 4"/>
          <p:cNvSpPr/>
          <p:nvPr/>
        </p:nvSpPr>
        <p:spPr>
          <a:xfrm>
            <a:off x="2103290" y="5946104"/>
            <a:ext cx="8610310" cy="354071"/>
          </a:xfrm>
          <a:prstGeom prst="rect">
            <a:avLst/>
          </a:prstGeom>
        </p:spPr>
        <p:txBody>
          <a:bodyPr wrap="square">
            <a:spAutoFit/>
          </a:bodyPr>
          <a:lstStyle/>
          <a:p>
            <a:pPr algn="r"/>
            <a:r>
              <a:rPr lang="en-US" sz="1701" dirty="0">
                <a:hlinkClick r:id="rId3"/>
              </a:rPr>
              <a:t>https://channel9.msdn.com/Series/DevOps-Fundamentals/Introduction-to-DevOps</a:t>
            </a:r>
            <a:r>
              <a:rPr lang="en-US" sz="1701" dirty="0"/>
              <a:t> </a:t>
            </a:r>
          </a:p>
        </p:txBody>
      </p:sp>
    </p:spTree>
    <p:extLst>
      <p:ext uri="{BB962C8B-B14F-4D97-AF65-F5344CB8AC3E}">
        <p14:creationId xmlns:p14="http://schemas.microsoft.com/office/powerpoint/2010/main" val="3412796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038" y="360363"/>
            <a:ext cx="11078106" cy="720000"/>
          </a:xfrm>
        </p:spPr>
        <p:txBody>
          <a:bodyPr/>
          <a:lstStyle/>
          <a:p>
            <a:r>
              <a:rPr lang="en-GB" dirty="0"/>
              <a:t>Ch9 – Microsoft – Introduction to DevOps</a:t>
            </a:r>
            <a:endParaRPr lang="en-US" dirty="0"/>
          </a:p>
        </p:txBody>
      </p:sp>
      <p:sp>
        <p:nvSpPr>
          <p:cNvPr id="5" name="Rectangle 4"/>
          <p:cNvSpPr/>
          <p:nvPr/>
        </p:nvSpPr>
        <p:spPr>
          <a:xfrm>
            <a:off x="2103290" y="5940175"/>
            <a:ext cx="8610310" cy="354071"/>
          </a:xfrm>
          <a:prstGeom prst="rect">
            <a:avLst/>
          </a:prstGeom>
        </p:spPr>
        <p:txBody>
          <a:bodyPr wrap="square">
            <a:spAutoFit/>
          </a:bodyPr>
          <a:lstStyle/>
          <a:p>
            <a:pPr algn="r"/>
            <a:r>
              <a:rPr lang="en-US" sz="1701" dirty="0">
                <a:hlinkClick r:id="rId2"/>
              </a:rPr>
              <a:t>https://channel9.msdn.com/Series/DevOps-Fundamentals/Introduction-to-DevOps</a:t>
            </a:r>
            <a:r>
              <a:rPr lang="en-US" sz="1701" dirty="0"/>
              <a:t> </a:t>
            </a:r>
          </a:p>
        </p:txBody>
      </p:sp>
      <p:pic>
        <p:nvPicPr>
          <p:cNvPr id="8" name="Picture 7"/>
          <p:cNvPicPr>
            <a:picLocks noChangeAspect="1"/>
          </p:cNvPicPr>
          <p:nvPr/>
        </p:nvPicPr>
        <p:blipFill>
          <a:blip r:embed="rId3" cstate="print"/>
          <a:stretch>
            <a:fillRect/>
          </a:stretch>
        </p:blipFill>
        <p:spPr>
          <a:xfrm>
            <a:off x="1809138" y="1291535"/>
            <a:ext cx="7902213" cy="3897105"/>
          </a:xfrm>
          <a:prstGeom prst="rect">
            <a:avLst/>
          </a:prstGeom>
        </p:spPr>
      </p:pic>
    </p:spTree>
    <p:extLst>
      <p:ext uri="{BB962C8B-B14F-4D97-AF65-F5344CB8AC3E}">
        <p14:creationId xmlns:p14="http://schemas.microsoft.com/office/powerpoint/2010/main" val="124419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41652" y="647700"/>
            <a:ext cx="6073422" cy="3416300"/>
          </a:xfrm>
        </p:spPr>
      </p:pic>
      <p:sp>
        <p:nvSpPr>
          <p:cNvPr id="6" name="Rectangle 5"/>
          <p:cNvSpPr/>
          <p:nvPr/>
        </p:nvSpPr>
        <p:spPr>
          <a:xfrm>
            <a:off x="485782" y="4809477"/>
            <a:ext cx="10349858" cy="615810"/>
          </a:xfrm>
          <a:prstGeom prst="rect">
            <a:avLst/>
          </a:prstGeom>
        </p:spPr>
        <p:txBody>
          <a:bodyPr wrap="square">
            <a:spAutoFit/>
          </a:bodyPr>
          <a:lstStyle/>
          <a:p>
            <a:pPr algn="r"/>
            <a:r>
              <a:rPr lang="en-US" sz="1701" dirty="0">
                <a:hlinkClick r:id="rId3"/>
              </a:rPr>
              <a:t>http://www.slideshare.net/GrantFritchey/building-an-automated-database-deployment-pipeline</a:t>
            </a:r>
            <a:endParaRPr lang="en-US" sz="1701" dirty="0"/>
          </a:p>
          <a:p>
            <a:pPr algn="r"/>
            <a:r>
              <a:rPr lang="en-US" sz="1701" dirty="0">
                <a:hlinkClick r:id="rId4"/>
              </a:rPr>
              <a:t>https://commons.wikimedia.org/wiki/File:Mocking_Bird_Argument.jpg</a:t>
            </a:r>
            <a:endParaRPr lang="en-US" sz="1701" dirty="0"/>
          </a:p>
        </p:txBody>
      </p:sp>
    </p:spTree>
    <p:extLst>
      <p:ext uri="{BB962C8B-B14F-4D97-AF65-F5344CB8AC3E}">
        <p14:creationId xmlns:p14="http://schemas.microsoft.com/office/powerpoint/2010/main" val="2077080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41652" y="647700"/>
            <a:ext cx="6073422" cy="3416300"/>
          </a:xfrm>
        </p:spPr>
      </p:pic>
      <p:pic>
        <p:nvPicPr>
          <p:cNvPr id="6" name="Picture 5"/>
          <p:cNvPicPr>
            <a:picLocks noChangeAspect="1"/>
          </p:cNvPicPr>
          <p:nvPr/>
        </p:nvPicPr>
        <p:blipFill>
          <a:blip r:embed="rId3" cstate="print"/>
          <a:srcRect r="37141"/>
          <a:stretch>
            <a:fillRect/>
          </a:stretch>
        </p:blipFill>
        <p:spPr>
          <a:xfrm>
            <a:off x="586972" y="48907"/>
            <a:ext cx="3651721" cy="678818"/>
          </a:xfrm>
          <a:prstGeom prst="rect">
            <a:avLst/>
          </a:prstGeom>
        </p:spPr>
      </p:pic>
      <p:pic>
        <p:nvPicPr>
          <p:cNvPr id="9" name="Picture 8"/>
          <p:cNvPicPr>
            <a:picLocks noChangeAspect="1"/>
          </p:cNvPicPr>
          <p:nvPr/>
        </p:nvPicPr>
        <p:blipFill>
          <a:blip r:embed="rId3" cstate="print"/>
          <a:srcRect l="61736"/>
          <a:stretch>
            <a:fillRect/>
          </a:stretch>
        </p:blipFill>
        <p:spPr>
          <a:xfrm>
            <a:off x="1353182" y="614818"/>
            <a:ext cx="2222904" cy="678818"/>
          </a:xfrm>
          <a:prstGeom prst="rect">
            <a:avLst/>
          </a:prstGeom>
        </p:spPr>
      </p:pic>
      <p:sp>
        <p:nvSpPr>
          <p:cNvPr id="8" name="Rectangle 7"/>
          <p:cNvSpPr/>
          <p:nvPr/>
        </p:nvSpPr>
        <p:spPr>
          <a:xfrm>
            <a:off x="485782" y="4809477"/>
            <a:ext cx="10349858" cy="615810"/>
          </a:xfrm>
          <a:prstGeom prst="rect">
            <a:avLst/>
          </a:prstGeom>
        </p:spPr>
        <p:txBody>
          <a:bodyPr wrap="square">
            <a:spAutoFit/>
          </a:bodyPr>
          <a:lstStyle/>
          <a:p>
            <a:pPr algn="r"/>
            <a:r>
              <a:rPr lang="en-US" sz="1701" dirty="0">
                <a:hlinkClick r:id="rId4"/>
              </a:rPr>
              <a:t>http://www.slideshare.net/GrantFritchey/building-an-automated-database-deployment-pipeline</a:t>
            </a:r>
            <a:endParaRPr lang="en-US" sz="1701" dirty="0"/>
          </a:p>
          <a:p>
            <a:pPr algn="r"/>
            <a:r>
              <a:rPr lang="en-US" sz="1701" dirty="0">
                <a:hlinkClick r:id="rId5"/>
              </a:rPr>
              <a:t>https://commons.wikimedia.org/wiki/File:Mocking_Bird_Argument.jpg</a:t>
            </a:r>
            <a:endParaRPr lang="en-US" sz="1701" dirty="0"/>
          </a:p>
        </p:txBody>
      </p:sp>
    </p:spTree>
    <p:extLst>
      <p:ext uri="{BB962C8B-B14F-4D97-AF65-F5344CB8AC3E}">
        <p14:creationId xmlns:p14="http://schemas.microsoft.com/office/powerpoint/2010/main" val="4264372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41652" y="647700"/>
            <a:ext cx="6073422" cy="3416300"/>
          </a:xfrm>
        </p:spPr>
      </p:pic>
      <p:pic>
        <p:nvPicPr>
          <p:cNvPr id="6" name="Picture 5"/>
          <p:cNvPicPr>
            <a:picLocks noChangeAspect="1"/>
          </p:cNvPicPr>
          <p:nvPr/>
        </p:nvPicPr>
        <p:blipFill>
          <a:blip r:embed="rId3" cstate="print"/>
          <a:srcRect r="37141"/>
          <a:stretch>
            <a:fillRect/>
          </a:stretch>
        </p:blipFill>
        <p:spPr>
          <a:xfrm>
            <a:off x="586972" y="48907"/>
            <a:ext cx="3651721" cy="678818"/>
          </a:xfrm>
          <a:prstGeom prst="rect">
            <a:avLst/>
          </a:prstGeom>
        </p:spPr>
      </p:pic>
      <p:pic>
        <p:nvPicPr>
          <p:cNvPr id="7" name="Picture 6"/>
          <p:cNvPicPr>
            <a:picLocks noChangeAspect="1"/>
          </p:cNvPicPr>
          <p:nvPr/>
        </p:nvPicPr>
        <p:blipFill>
          <a:blip r:embed="rId4" cstate="print"/>
          <a:srcRect r="61296"/>
          <a:stretch>
            <a:fillRect/>
          </a:stretch>
        </p:blipFill>
        <p:spPr>
          <a:xfrm>
            <a:off x="6406903" y="-1"/>
            <a:ext cx="3537605" cy="755822"/>
          </a:xfrm>
          <a:prstGeom prst="rect">
            <a:avLst/>
          </a:prstGeom>
        </p:spPr>
      </p:pic>
      <p:pic>
        <p:nvPicPr>
          <p:cNvPr id="8" name="Picture 7"/>
          <p:cNvPicPr>
            <a:picLocks noChangeAspect="1"/>
          </p:cNvPicPr>
          <p:nvPr/>
        </p:nvPicPr>
        <p:blipFill>
          <a:blip r:embed="rId4" cstate="print"/>
          <a:srcRect l="38555"/>
          <a:stretch>
            <a:fillRect/>
          </a:stretch>
        </p:blipFill>
        <p:spPr>
          <a:xfrm>
            <a:off x="5904248" y="567864"/>
            <a:ext cx="5616152" cy="755822"/>
          </a:xfrm>
          <a:prstGeom prst="rect">
            <a:avLst/>
          </a:prstGeom>
        </p:spPr>
      </p:pic>
      <p:pic>
        <p:nvPicPr>
          <p:cNvPr id="9" name="Picture 8"/>
          <p:cNvPicPr>
            <a:picLocks noChangeAspect="1"/>
          </p:cNvPicPr>
          <p:nvPr/>
        </p:nvPicPr>
        <p:blipFill>
          <a:blip r:embed="rId3" cstate="print"/>
          <a:srcRect l="61736"/>
          <a:stretch>
            <a:fillRect/>
          </a:stretch>
        </p:blipFill>
        <p:spPr>
          <a:xfrm>
            <a:off x="1353182" y="614818"/>
            <a:ext cx="2222904" cy="678818"/>
          </a:xfrm>
          <a:prstGeom prst="rect">
            <a:avLst/>
          </a:prstGeom>
        </p:spPr>
      </p:pic>
      <p:sp>
        <p:nvSpPr>
          <p:cNvPr id="11" name="Rectangle 10"/>
          <p:cNvSpPr/>
          <p:nvPr/>
        </p:nvSpPr>
        <p:spPr>
          <a:xfrm>
            <a:off x="485782" y="4809477"/>
            <a:ext cx="10349858" cy="615810"/>
          </a:xfrm>
          <a:prstGeom prst="rect">
            <a:avLst/>
          </a:prstGeom>
        </p:spPr>
        <p:txBody>
          <a:bodyPr wrap="square">
            <a:spAutoFit/>
          </a:bodyPr>
          <a:lstStyle/>
          <a:p>
            <a:pPr algn="r"/>
            <a:r>
              <a:rPr lang="en-US" sz="1701" dirty="0">
                <a:hlinkClick r:id="rId5"/>
              </a:rPr>
              <a:t>http://www.slideshare.net/GrantFritchey/building-an-automated-database-deployment-pipeline</a:t>
            </a:r>
            <a:endParaRPr lang="en-US" sz="1701" dirty="0"/>
          </a:p>
          <a:p>
            <a:pPr algn="r"/>
            <a:r>
              <a:rPr lang="en-US" sz="1701" dirty="0">
                <a:hlinkClick r:id="rId6"/>
              </a:rPr>
              <a:t>https://commons.wikimedia.org/wiki/File:Mocking_Bird_Argument.jpg</a:t>
            </a:r>
            <a:endParaRPr lang="en-US" sz="1701" dirty="0"/>
          </a:p>
        </p:txBody>
      </p:sp>
    </p:spTree>
    <p:extLst>
      <p:ext uri="{BB962C8B-B14F-4D97-AF65-F5344CB8AC3E}">
        <p14:creationId xmlns:p14="http://schemas.microsoft.com/office/powerpoint/2010/main" val="2942274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73363" y="931862"/>
            <a:ext cx="3810000" cy="2847975"/>
          </a:xfrm>
        </p:spPr>
      </p:pic>
      <p:sp>
        <p:nvSpPr>
          <p:cNvPr id="5" name="Rectangle 4"/>
          <p:cNvSpPr/>
          <p:nvPr/>
        </p:nvSpPr>
        <p:spPr>
          <a:xfrm>
            <a:off x="1418366" y="4447312"/>
            <a:ext cx="9066634" cy="354071"/>
          </a:xfrm>
          <a:prstGeom prst="rect">
            <a:avLst/>
          </a:prstGeom>
        </p:spPr>
        <p:txBody>
          <a:bodyPr wrap="square">
            <a:spAutoFit/>
          </a:bodyPr>
          <a:lstStyle/>
          <a:p>
            <a:pPr algn="r"/>
            <a:r>
              <a:rPr lang="en-US" sz="1701" dirty="0">
                <a:hlinkClick r:id="rId4"/>
              </a:rPr>
              <a:t>https://medium.com/point-nine-news/do-you-speak-devtools-73237550bf4f</a:t>
            </a:r>
            <a:endParaRPr lang="en-US" sz="1701" dirty="0"/>
          </a:p>
        </p:txBody>
      </p:sp>
    </p:spTree>
    <p:extLst>
      <p:ext uri="{BB962C8B-B14F-4D97-AF65-F5344CB8AC3E}">
        <p14:creationId xmlns:p14="http://schemas.microsoft.com/office/powerpoint/2010/main" val="1191080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25421" y="647700"/>
            <a:ext cx="5105883" cy="3416300"/>
          </a:xfrm>
        </p:spPr>
      </p:pic>
      <p:sp>
        <p:nvSpPr>
          <p:cNvPr id="5" name="Rectangle 4"/>
          <p:cNvSpPr/>
          <p:nvPr/>
        </p:nvSpPr>
        <p:spPr>
          <a:xfrm>
            <a:off x="2331721" y="4717165"/>
            <a:ext cx="8381880" cy="354071"/>
          </a:xfrm>
          <a:prstGeom prst="rect">
            <a:avLst/>
          </a:prstGeom>
        </p:spPr>
        <p:txBody>
          <a:bodyPr wrap="square">
            <a:spAutoFit/>
          </a:bodyPr>
          <a:lstStyle/>
          <a:p>
            <a:pPr algn="r"/>
            <a:r>
              <a:rPr lang="en-US" sz="1701" dirty="0">
                <a:hlinkClick r:id="rId3"/>
              </a:rPr>
              <a:t>https://www.javacodegeeks.com/2015/12/devops-myth-efficiency-part.html</a:t>
            </a:r>
            <a:r>
              <a:rPr lang="en-US" sz="1701" dirty="0"/>
              <a:t> </a:t>
            </a:r>
          </a:p>
        </p:txBody>
      </p:sp>
    </p:spTree>
    <p:extLst>
      <p:ext uri="{BB962C8B-B14F-4D97-AF65-F5344CB8AC3E}">
        <p14:creationId xmlns:p14="http://schemas.microsoft.com/office/powerpoint/2010/main" val="2200426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Surprise! </a:t>
            </a:r>
            <a:br>
              <a:rPr lang="en-GB" dirty="0"/>
            </a:br>
            <a:r>
              <a:rPr lang="en-GB" sz="4000" dirty="0"/>
              <a:t>Broad Agreement on the Definition of DevOps</a:t>
            </a:r>
            <a:endParaRPr lang="en-US" sz="4000" dirty="0"/>
          </a:p>
        </p:txBody>
      </p:sp>
      <p:sp>
        <p:nvSpPr>
          <p:cNvPr id="3" name="Content Placeholder 2"/>
          <p:cNvSpPr>
            <a:spLocks noGrp="1"/>
          </p:cNvSpPr>
          <p:nvPr>
            <p:ph idx="1"/>
          </p:nvPr>
        </p:nvSpPr>
        <p:spPr>
          <a:xfrm>
            <a:off x="451565" y="54266"/>
            <a:ext cx="10800000" cy="4351387"/>
          </a:xfrm>
        </p:spPr>
        <p:txBody>
          <a:bodyPr>
            <a:normAutofit/>
          </a:bodyPr>
          <a:lstStyle/>
          <a:p>
            <a:pPr>
              <a:spcBef>
                <a:spcPts val="0"/>
              </a:spcBef>
            </a:pPr>
            <a:r>
              <a:rPr lang="en-GB" sz="1600" dirty="0"/>
              <a:t>“DevOps exists to help the business win</a:t>
            </a:r>
          </a:p>
          <a:p>
            <a:pPr>
              <a:spcBef>
                <a:spcPts val="1800"/>
              </a:spcBef>
            </a:pPr>
            <a:r>
              <a:rPr lang="en-GB" sz="1600" dirty="0"/>
              <a:t>Broad scope, but </a:t>
            </a:r>
            <a:r>
              <a:rPr lang="en-GB" sz="1600" dirty="0" err="1"/>
              <a:t>centered</a:t>
            </a:r>
            <a:r>
              <a:rPr lang="en-GB" sz="1600" dirty="0"/>
              <a:t> on IT </a:t>
            </a:r>
          </a:p>
          <a:p>
            <a:pPr>
              <a:spcBef>
                <a:spcPts val="1800"/>
              </a:spcBef>
            </a:pPr>
            <a:r>
              <a:rPr lang="en-GB" sz="1600" dirty="0"/>
              <a:t>Foundations in Agile and Lean </a:t>
            </a:r>
          </a:p>
          <a:p>
            <a:pPr>
              <a:spcBef>
                <a:spcPts val="1800"/>
              </a:spcBef>
            </a:pPr>
            <a:r>
              <a:rPr lang="en-GB" sz="1600" dirty="0"/>
              <a:t>Culture is very important</a:t>
            </a:r>
          </a:p>
          <a:p>
            <a:pPr>
              <a:spcBef>
                <a:spcPts val="1800"/>
              </a:spcBef>
            </a:pPr>
            <a:r>
              <a:rPr lang="en-GB" sz="1600" dirty="0"/>
              <a:t>Feedback is fuel for innovation </a:t>
            </a:r>
          </a:p>
          <a:p>
            <a:pPr>
              <a:spcBef>
                <a:spcPts val="1800"/>
              </a:spcBef>
            </a:pPr>
            <a:r>
              <a:rPr lang="en-GB" sz="1600" dirty="0"/>
              <a:t>Automation helps</a:t>
            </a:r>
            <a:r>
              <a:rPr lang="en-GB" dirty="0"/>
              <a:t>”</a:t>
            </a:r>
          </a:p>
        </p:txBody>
      </p:sp>
      <p:pic>
        <p:nvPicPr>
          <p:cNvPr id="4" name="Picture 3"/>
          <p:cNvPicPr>
            <a:picLocks noChangeAspect="1"/>
          </p:cNvPicPr>
          <p:nvPr/>
        </p:nvPicPr>
        <p:blipFill>
          <a:blip r:embed="rId3" cstate="print"/>
          <a:stretch>
            <a:fillRect/>
          </a:stretch>
        </p:blipFill>
        <p:spPr>
          <a:xfrm>
            <a:off x="6320546" y="1169589"/>
            <a:ext cx="4150239" cy="1800104"/>
          </a:xfrm>
          <a:prstGeom prst="rect">
            <a:avLst/>
          </a:prstGeom>
        </p:spPr>
      </p:pic>
      <p:sp>
        <p:nvSpPr>
          <p:cNvPr id="5" name="Rectangle 4"/>
          <p:cNvSpPr/>
          <p:nvPr/>
        </p:nvSpPr>
        <p:spPr>
          <a:xfrm>
            <a:off x="1394460" y="5918922"/>
            <a:ext cx="9429750" cy="354071"/>
          </a:xfrm>
          <a:prstGeom prst="rect">
            <a:avLst/>
          </a:prstGeom>
        </p:spPr>
        <p:txBody>
          <a:bodyPr wrap="square">
            <a:spAutoFit/>
          </a:bodyPr>
          <a:lstStyle/>
          <a:p>
            <a:pPr marL="170932" algn="r"/>
            <a:r>
              <a:rPr lang="en-US" sz="1701" dirty="0">
                <a:hlinkClick r:id="rId4"/>
              </a:rPr>
              <a:t>https://devops.com/2015/05/13/surprise-broad-agreement-on-the-definition-of-devops</a:t>
            </a:r>
            <a:r>
              <a:rPr lang="en-US" sz="1701" dirty="0"/>
              <a:t> </a:t>
            </a:r>
          </a:p>
        </p:txBody>
      </p:sp>
    </p:spTree>
    <p:extLst>
      <p:ext uri="{BB962C8B-B14F-4D97-AF65-F5344CB8AC3E}">
        <p14:creationId xmlns:p14="http://schemas.microsoft.com/office/powerpoint/2010/main" val="2115944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DevOps by Patrick </a:t>
            </a:r>
            <a:r>
              <a:rPr lang="en-GB" dirty="0" err="1"/>
              <a:t>Debois</a:t>
            </a:r>
            <a:r>
              <a:rPr lang="en-GB" dirty="0"/>
              <a:t> – Feb 2011</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454364" y="5940175"/>
            <a:ext cx="6259236" cy="354071"/>
          </a:xfrm>
          <a:prstGeom prst="rect">
            <a:avLst/>
          </a:prstGeom>
        </p:spPr>
        <p:txBody>
          <a:bodyPr wrap="square">
            <a:spAutoFit/>
          </a:bodyPr>
          <a:lstStyle/>
          <a:p>
            <a:pPr algn="r"/>
            <a:r>
              <a:rPr lang="en-US" sz="1701" dirty="0">
                <a:hlinkClick r:id="rId2"/>
              </a:rPr>
              <a:t>http://www.slideshare.net/jedi4ever/devops-paris-jug-2011</a:t>
            </a:r>
            <a:endParaRPr lang="en-US" sz="1701" dirty="0"/>
          </a:p>
        </p:txBody>
      </p:sp>
      <p:pic>
        <p:nvPicPr>
          <p:cNvPr id="5" name="Picture 4"/>
          <p:cNvPicPr>
            <a:picLocks noChangeAspect="1"/>
          </p:cNvPicPr>
          <p:nvPr/>
        </p:nvPicPr>
        <p:blipFill>
          <a:blip r:embed="rId3" cstate="print"/>
          <a:stretch>
            <a:fillRect/>
          </a:stretch>
        </p:blipFill>
        <p:spPr>
          <a:xfrm>
            <a:off x="216340" y="1229946"/>
            <a:ext cx="5491784" cy="4126358"/>
          </a:xfrm>
          <a:prstGeom prst="rect">
            <a:avLst/>
          </a:prstGeom>
        </p:spPr>
      </p:pic>
      <p:pic>
        <p:nvPicPr>
          <p:cNvPr id="6" name="Picture 5"/>
          <p:cNvPicPr>
            <a:picLocks noChangeAspect="1"/>
          </p:cNvPicPr>
          <p:nvPr/>
        </p:nvPicPr>
        <p:blipFill>
          <a:blip r:embed="rId4" cstate="print"/>
          <a:stretch>
            <a:fillRect/>
          </a:stretch>
        </p:blipFill>
        <p:spPr>
          <a:xfrm>
            <a:off x="5788174" y="1229946"/>
            <a:ext cx="5501809" cy="4126358"/>
          </a:xfrm>
          <a:prstGeom prst="rect">
            <a:avLst/>
          </a:prstGeom>
        </p:spPr>
      </p:pic>
    </p:spTree>
    <p:extLst>
      <p:ext uri="{BB962C8B-B14F-4D97-AF65-F5344CB8AC3E}">
        <p14:creationId xmlns:p14="http://schemas.microsoft.com/office/powerpoint/2010/main" val="34256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DevOps by Patrick </a:t>
            </a:r>
            <a:r>
              <a:rPr lang="en-GB" dirty="0" err="1"/>
              <a:t>Debois</a:t>
            </a:r>
            <a:r>
              <a:rPr lang="en-GB" dirty="0"/>
              <a:t> – Feb 2011</a:t>
            </a:r>
            <a:endParaRPr lang="en-US" dirty="0"/>
          </a:p>
        </p:txBody>
      </p:sp>
      <p:sp>
        <p:nvSpPr>
          <p:cNvPr id="3" name="Content Placeholder 2"/>
          <p:cNvSpPr>
            <a:spLocks noGrp="1"/>
          </p:cNvSpPr>
          <p:nvPr>
            <p:ph idx="1"/>
          </p:nvPr>
        </p:nvSpPr>
        <p:spPr/>
        <p:txBody>
          <a:bodyPr/>
          <a:lstStyle/>
          <a:p>
            <a:endParaRPr lang="en-US" dirty="0"/>
          </a:p>
        </p:txBody>
      </p:sp>
      <p:pic>
        <p:nvPicPr>
          <p:cNvPr id="7" name="Picture 6"/>
          <p:cNvPicPr>
            <a:picLocks noChangeAspect="1"/>
          </p:cNvPicPr>
          <p:nvPr/>
        </p:nvPicPr>
        <p:blipFill>
          <a:blip r:embed="rId2" cstate="print"/>
          <a:stretch>
            <a:fillRect/>
          </a:stretch>
        </p:blipFill>
        <p:spPr>
          <a:xfrm>
            <a:off x="-42403" y="1229946"/>
            <a:ext cx="6737147" cy="4208875"/>
          </a:xfrm>
          <a:prstGeom prst="rect">
            <a:avLst/>
          </a:prstGeom>
        </p:spPr>
      </p:pic>
      <p:pic>
        <p:nvPicPr>
          <p:cNvPr id="8" name="Picture 7"/>
          <p:cNvPicPr>
            <a:picLocks noChangeAspect="1"/>
          </p:cNvPicPr>
          <p:nvPr/>
        </p:nvPicPr>
        <p:blipFill>
          <a:blip r:embed="rId3" cstate="print"/>
          <a:stretch>
            <a:fillRect/>
          </a:stretch>
        </p:blipFill>
        <p:spPr>
          <a:xfrm>
            <a:off x="6737235" y="1599599"/>
            <a:ext cx="4783164" cy="3571638"/>
          </a:xfrm>
          <a:prstGeom prst="rect">
            <a:avLst/>
          </a:prstGeom>
        </p:spPr>
      </p:pic>
      <p:sp>
        <p:nvSpPr>
          <p:cNvPr id="9" name="Rectangle 8"/>
          <p:cNvSpPr/>
          <p:nvPr/>
        </p:nvSpPr>
        <p:spPr>
          <a:xfrm>
            <a:off x="4454364" y="5940175"/>
            <a:ext cx="6259236" cy="354071"/>
          </a:xfrm>
          <a:prstGeom prst="rect">
            <a:avLst/>
          </a:prstGeom>
        </p:spPr>
        <p:txBody>
          <a:bodyPr wrap="square">
            <a:spAutoFit/>
          </a:bodyPr>
          <a:lstStyle/>
          <a:p>
            <a:pPr algn="r"/>
            <a:r>
              <a:rPr lang="en-US" sz="1701" dirty="0">
                <a:hlinkClick r:id="rId4"/>
              </a:rPr>
              <a:t>http://www.slideshare.net/jedi4ever/devops-paris-jug-2011</a:t>
            </a:r>
            <a:endParaRPr lang="en-US" sz="1701" dirty="0"/>
          </a:p>
        </p:txBody>
      </p:sp>
    </p:spTree>
    <p:extLst>
      <p:ext uri="{BB962C8B-B14F-4D97-AF65-F5344CB8AC3E}">
        <p14:creationId xmlns:p14="http://schemas.microsoft.com/office/powerpoint/2010/main" val="150376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DevOps Values – CALMS</a:t>
            </a:r>
            <a:endParaRPr lang="en-US" dirty="0"/>
          </a:p>
        </p:txBody>
      </p:sp>
      <p:sp>
        <p:nvSpPr>
          <p:cNvPr id="3" name="Content Placeholder 2"/>
          <p:cNvSpPr>
            <a:spLocks noGrp="1"/>
          </p:cNvSpPr>
          <p:nvPr>
            <p:ph idx="1"/>
          </p:nvPr>
        </p:nvSpPr>
        <p:spPr/>
        <p:txBody>
          <a:bodyPr/>
          <a:lstStyle/>
          <a:p>
            <a:r>
              <a:rPr lang="en-GB" dirty="0">
                <a:solidFill>
                  <a:schemeClr val="accent1"/>
                </a:solidFill>
              </a:rPr>
              <a:t>C</a:t>
            </a:r>
            <a:r>
              <a:rPr lang="en-GB" dirty="0"/>
              <a:t>ulture</a:t>
            </a:r>
          </a:p>
          <a:p>
            <a:r>
              <a:rPr lang="en-GB" dirty="0">
                <a:solidFill>
                  <a:schemeClr val="accent1"/>
                </a:solidFill>
              </a:rPr>
              <a:t>A</a:t>
            </a:r>
            <a:r>
              <a:rPr lang="en-GB" dirty="0"/>
              <a:t>utomation</a:t>
            </a:r>
          </a:p>
          <a:p>
            <a:r>
              <a:rPr lang="en-GB" dirty="0">
                <a:solidFill>
                  <a:schemeClr val="accent1"/>
                </a:solidFill>
              </a:rPr>
              <a:t>L</a:t>
            </a:r>
            <a:r>
              <a:rPr lang="en-GB" dirty="0"/>
              <a:t>ean</a:t>
            </a:r>
          </a:p>
          <a:p>
            <a:r>
              <a:rPr lang="en-GB" dirty="0">
                <a:solidFill>
                  <a:schemeClr val="accent1"/>
                </a:solidFill>
              </a:rPr>
              <a:t>M</a:t>
            </a:r>
            <a:r>
              <a:rPr lang="en-GB" dirty="0"/>
              <a:t>easurement</a:t>
            </a:r>
          </a:p>
          <a:p>
            <a:r>
              <a:rPr lang="en-GB" dirty="0">
                <a:solidFill>
                  <a:schemeClr val="accent1"/>
                </a:solidFill>
              </a:rPr>
              <a:t>S</a:t>
            </a:r>
            <a:r>
              <a:rPr lang="en-GB" dirty="0"/>
              <a:t>haring</a:t>
            </a:r>
          </a:p>
          <a:p>
            <a:endParaRPr lang="en-US" dirty="0">
              <a:hlinkClick r:id="rId3"/>
            </a:endParaRPr>
          </a:p>
          <a:p>
            <a:endParaRPr lang="en-US" dirty="0">
              <a:hlinkClick r:id="rId3"/>
            </a:endParaRPr>
          </a:p>
        </p:txBody>
      </p:sp>
      <p:sp>
        <p:nvSpPr>
          <p:cNvPr id="6" name="Rectangle 5"/>
          <p:cNvSpPr/>
          <p:nvPr/>
        </p:nvSpPr>
        <p:spPr>
          <a:xfrm>
            <a:off x="4685796" y="5936750"/>
            <a:ext cx="6027804" cy="354071"/>
          </a:xfrm>
          <a:prstGeom prst="rect">
            <a:avLst/>
          </a:prstGeom>
        </p:spPr>
        <p:txBody>
          <a:bodyPr wrap="none">
            <a:spAutoFit/>
          </a:bodyPr>
          <a:lstStyle/>
          <a:p>
            <a:pPr algn="r"/>
            <a:r>
              <a:rPr lang="en-US" sz="1701" dirty="0">
                <a:hlinkClick r:id="rId3"/>
              </a:rPr>
              <a:t>https://puppet.com/blog/devops-principles-for-it-managers</a:t>
            </a:r>
            <a:r>
              <a:rPr lang="en-US" sz="1701" dirty="0"/>
              <a:t> </a:t>
            </a:r>
          </a:p>
        </p:txBody>
      </p:sp>
    </p:spTree>
    <p:extLst>
      <p:ext uri="{BB962C8B-B14F-4D97-AF65-F5344CB8AC3E}">
        <p14:creationId xmlns:p14="http://schemas.microsoft.com/office/powerpoint/2010/main" val="370251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59507"/>
            <a:ext cx="10944296" cy="1080029"/>
          </a:xfrm>
        </p:spPr>
        <p:txBody>
          <a:bodyPr>
            <a:normAutofit fontScale="90000"/>
          </a:bodyPr>
          <a:lstStyle/>
          <a:p>
            <a:pPr fontAlgn="base"/>
            <a:r>
              <a:rPr lang="en-GB" dirty="0"/>
              <a:t>The Three Ways: </a:t>
            </a:r>
            <a:br>
              <a:rPr lang="en-GB" dirty="0"/>
            </a:br>
            <a:r>
              <a:rPr lang="en-GB" sz="4000" dirty="0"/>
              <a:t>The Principles Underpinning DevOps by Gene Kim</a:t>
            </a:r>
            <a:endParaRPr lang="en-US" sz="4000" dirty="0"/>
          </a:p>
        </p:txBody>
      </p:sp>
      <p:sp>
        <p:nvSpPr>
          <p:cNvPr id="7" name="Rectangle 6"/>
          <p:cNvSpPr/>
          <p:nvPr/>
        </p:nvSpPr>
        <p:spPr>
          <a:xfrm>
            <a:off x="2432018" y="5932311"/>
            <a:ext cx="8281582" cy="354071"/>
          </a:xfrm>
          <a:prstGeom prst="rect">
            <a:avLst/>
          </a:prstGeom>
        </p:spPr>
        <p:txBody>
          <a:bodyPr wrap="square">
            <a:spAutoFit/>
          </a:bodyPr>
          <a:lstStyle/>
          <a:p>
            <a:pPr algn="r"/>
            <a:r>
              <a:rPr lang="en-US" sz="1701" dirty="0">
                <a:hlinkClick r:id="rId3"/>
              </a:rPr>
              <a:t>http://itrevolution.com/the-three-ways-principles-underpinning-devops</a:t>
            </a:r>
            <a:endParaRPr lang="en-US" sz="1701" dirty="0"/>
          </a:p>
        </p:txBody>
      </p:sp>
    </p:spTree>
    <p:extLst>
      <p:ext uri="{BB962C8B-B14F-4D97-AF65-F5344CB8AC3E}">
        <p14:creationId xmlns:p14="http://schemas.microsoft.com/office/powerpoint/2010/main" val="1595512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59507"/>
            <a:ext cx="10944296" cy="1080029"/>
          </a:xfrm>
        </p:spPr>
        <p:txBody>
          <a:bodyPr>
            <a:normAutofit fontScale="90000"/>
          </a:bodyPr>
          <a:lstStyle/>
          <a:p>
            <a:pPr fontAlgn="base"/>
            <a:r>
              <a:rPr lang="en-GB" dirty="0"/>
              <a:t>The Three Ways: </a:t>
            </a:r>
            <a:br>
              <a:rPr lang="en-GB" dirty="0"/>
            </a:br>
            <a:r>
              <a:rPr lang="en-GB" sz="4000" dirty="0"/>
              <a:t>The Principles Underpinning DevOps by Gene Kim</a:t>
            </a:r>
            <a:endParaRPr lang="en-US" sz="4000" dirty="0"/>
          </a:p>
        </p:txBody>
      </p:sp>
      <p:pic>
        <p:nvPicPr>
          <p:cNvPr id="4" name="Picture 3"/>
          <p:cNvPicPr>
            <a:picLocks noChangeAspect="1"/>
          </p:cNvPicPr>
          <p:nvPr/>
        </p:nvPicPr>
        <p:blipFill>
          <a:blip r:embed="rId3" cstate="print"/>
          <a:stretch>
            <a:fillRect/>
          </a:stretch>
        </p:blipFill>
        <p:spPr>
          <a:xfrm>
            <a:off x="306506" y="1904870"/>
            <a:ext cx="3681099" cy="1557042"/>
          </a:xfrm>
          <a:prstGeom prst="rect">
            <a:avLst/>
          </a:prstGeom>
        </p:spPr>
      </p:pic>
      <p:sp>
        <p:nvSpPr>
          <p:cNvPr id="7" name="Rectangle 6"/>
          <p:cNvSpPr/>
          <p:nvPr/>
        </p:nvSpPr>
        <p:spPr>
          <a:xfrm>
            <a:off x="2432018" y="5932311"/>
            <a:ext cx="8281582" cy="354071"/>
          </a:xfrm>
          <a:prstGeom prst="rect">
            <a:avLst/>
          </a:prstGeom>
        </p:spPr>
        <p:txBody>
          <a:bodyPr wrap="square">
            <a:spAutoFit/>
          </a:bodyPr>
          <a:lstStyle/>
          <a:p>
            <a:pPr algn="r"/>
            <a:r>
              <a:rPr lang="en-US" sz="1701" dirty="0">
                <a:hlinkClick r:id="rId4"/>
              </a:rPr>
              <a:t>http://itrevolution.com/the-three-ways-principles-underpinning-devops</a:t>
            </a:r>
            <a:endParaRPr lang="en-US" sz="1701" dirty="0"/>
          </a:p>
        </p:txBody>
      </p:sp>
    </p:spTree>
    <p:extLst>
      <p:ext uri="{BB962C8B-B14F-4D97-AF65-F5344CB8AC3E}">
        <p14:creationId xmlns:p14="http://schemas.microsoft.com/office/powerpoint/2010/main" val="1087395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59507"/>
            <a:ext cx="10944296" cy="1080029"/>
          </a:xfrm>
        </p:spPr>
        <p:txBody>
          <a:bodyPr>
            <a:normAutofit fontScale="90000"/>
          </a:bodyPr>
          <a:lstStyle/>
          <a:p>
            <a:pPr fontAlgn="base"/>
            <a:r>
              <a:rPr lang="en-GB" dirty="0"/>
              <a:t>The Three Ways: </a:t>
            </a:r>
            <a:br>
              <a:rPr lang="en-GB" dirty="0"/>
            </a:br>
            <a:r>
              <a:rPr lang="en-GB" sz="4000" dirty="0"/>
              <a:t>The Principles Underpinning DevOps by Gene Kim</a:t>
            </a:r>
            <a:endParaRPr lang="en-US" sz="4000" dirty="0"/>
          </a:p>
        </p:txBody>
      </p:sp>
      <p:pic>
        <p:nvPicPr>
          <p:cNvPr id="4" name="Picture 3"/>
          <p:cNvPicPr>
            <a:picLocks noChangeAspect="1"/>
          </p:cNvPicPr>
          <p:nvPr/>
        </p:nvPicPr>
        <p:blipFill>
          <a:blip r:embed="rId3" cstate="print"/>
          <a:stretch>
            <a:fillRect/>
          </a:stretch>
        </p:blipFill>
        <p:spPr>
          <a:xfrm>
            <a:off x="306506" y="1904870"/>
            <a:ext cx="3681099" cy="1557042"/>
          </a:xfrm>
          <a:prstGeom prst="rect">
            <a:avLst/>
          </a:prstGeom>
        </p:spPr>
      </p:pic>
      <p:pic>
        <p:nvPicPr>
          <p:cNvPr id="5" name="Picture 4"/>
          <p:cNvPicPr>
            <a:picLocks noChangeAspect="1"/>
          </p:cNvPicPr>
          <p:nvPr/>
        </p:nvPicPr>
        <p:blipFill>
          <a:blip r:embed="rId4" cstate="print"/>
          <a:stretch>
            <a:fillRect/>
          </a:stretch>
        </p:blipFill>
        <p:spPr>
          <a:xfrm>
            <a:off x="3956289" y="2688801"/>
            <a:ext cx="3582097" cy="1827049"/>
          </a:xfrm>
          <a:prstGeom prst="rect">
            <a:avLst/>
          </a:prstGeom>
        </p:spPr>
      </p:pic>
      <p:sp>
        <p:nvSpPr>
          <p:cNvPr id="7" name="Rectangle 6"/>
          <p:cNvSpPr/>
          <p:nvPr/>
        </p:nvSpPr>
        <p:spPr>
          <a:xfrm>
            <a:off x="2432018" y="5932311"/>
            <a:ext cx="8281582" cy="354071"/>
          </a:xfrm>
          <a:prstGeom prst="rect">
            <a:avLst/>
          </a:prstGeom>
        </p:spPr>
        <p:txBody>
          <a:bodyPr wrap="square">
            <a:spAutoFit/>
          </a:bodyPr>
          <a:lstStyle/>
          <a:p>
            <a:pPr algn="r"/>
            <a:r>
              <a:rPr lang="en-US" sz="1701" dirty="0">
                <a:hlinkClick r:id="rId5"/>
              </a:rPr>
              <a:t>http://itrevolution.com/the-three-ways-principles-underpinning-devops</a:t>
            </a:r>
            <a:endParaRPr lang="en-US" sz="1701" dirty="0"/>
          </a:p>
        </p:txBody>
      </p:sp>
    </p:spTree>
    <p:extLst>
      <p:ext uri="{BB962C8B-B14F-4D97-AF65-F5344CB8AC3E}">
        <p14:creationId xmlns:p14="http://schemas.microsoft.com/office/powerpoint/2010/main" val="1473717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04" y="259507"/>
            <a:ext cx="10944296" cy="1080029"/>
          </a:xfrm>
        </p:spPr>
        <p:txBody>
          <a:bodyPr>
            <a:normAutofit fontScale="90000"/>
          </a:bodyPr>
          <a:lstStyle/>
          <a:p>
            <a:pPr fontAlgn="base"/>
            <a:r>
              <a:rPr lang="en-GB" dirty="0"/>
              <a:t>The Three Ways: </a:t>
            </a:r>
            <a:br>
              <a:rPr lang="en-GB" dirty="0"/>
            </a:br>
            <a:r>
              <a:rPr lang="en-GB" sz="4000" dirty="0"/>
              <a:t>The Principles Underpinning DevOps by Gene Kim</a:t>
            </a:r>
            <a:endParaRPr lang="en-US" sz="4000" dirty="0"/>
          </a:p>
        </p:txBody>
      </p:sp>
      <p:pic>
        <p:nvPicPr>
          <p:cNvPr id="4" name="Picture 3"/>
          <p:cNvPicPr>
            <a:picLocks noChangeAspect="1"/>
          </p:cNvPicPr>
          <p:nvPr/>
        </p:nvPicPr>
        <p:blipFill>
          <a:blip r:embed="rId3" cstate="print"/>
          <a:stretch>
            <a:fillRect/>
          </a:stretch>
        </p:blipFill>
        <p:spPr>
          <a:xfrm>
            <a:off x="306506" y="1904870"/>
            <a:ext cx="3681099" cy="1557042"/>
          </a:xfrm>
          <a:prstGeom prst="rect">
            <a:avLst/>
          </a:prstGeom>
        </p:spPr>
      </p:pic>
      <p:pic>
        <p:nvPicPr>
          <p:cNvPr id="5" name="Picture 4"/>
          <p:cNvPicPr>
            <a:picLocks noChangeAspect="1"/>
          </p:cNvPicPr>
          <p:nvPr/>
        </p:nvPicPr>
        <p:blipFill>
          <a:blip r:embed="rId4" cstate="print"/>
          <a:stretch>
            <a:fillRect/>
          </a:stretch>
        </p:blipFill>
        <p:spPr>
          <a:xfrm>
            <a:off x="3956289" y="2688801"/>
            <a:ext cx="3582097" cy="1827049"/>
          </a:xfrm>
          <a:prstGeom prst="rect">
            <a:avLst/>
          </a:prstGeom>
        </p:spPr>
      </p:pic>
      <p:pic>
        <p:nvPicPr>
          <p:cNvPr id="6" name="Picture 5"/>
          <p:cNvPicPr>
            <a:picLocks noChangeAspect="1"/>
          </p:cNvPicPr>
          <p:nvPr/>
        </p:nvPicPr>
        <p:blipFill>
          <a:blip r:embed="rId5" cstate="print"/>
          <a:stretch>
            <a:fillRect/>
          </a:stretch>
        </p:blipFill>
        <p:spPr>
          <a:xfrm>
            <a:off x="7523374" y="3791647"/>
            <a:ext cx="3609097" cy="1899051"/>
          </a:xfrm>
          <a:prstGeom prst="rect">
            <a:avLst/>
          </a:prstGeom>
        </p:spPr>
      </p:pic>
      <p:sp>
        <p:nvSpPr>
          <p:cNvPr id="7" name="Rectangle 6"/>
          <p:cNvSpPr/>
          <p:nvPr/>
        </p:nvSpPr>
        <p:spPr>
          <a:xfrm>
            <a:off x="2432018" y="5932311"/>
            <a:ext cx="8281582" cy="354071"/>
          </a:xfrm>
          <a:prstGeom prst="rect">
            <a:avLst/>
          </a:prstGeom>
        </p:spPr>
        <p:txBody>
          <a:bodyPr wrap="square">
            <a:spAutoFit/>
          </a:bodyPr>
          <a:lstStyle/>
          <a:p>
            <a:pPr algn="r"/>
            <a:r>
              <a:rPr lang="en-US" sz="1701" dirty="0">
                <a:hlinkClick r:id="rId6"/>
              </a:rPr>
              <a:t>http://itrevolution.com/the-three-ways-principles-underpinning-devops</a:t>
            </a:r>
            <a:endParaRPr lang="en-US" sz="1701" dirty="0"/>
          </a:p>
        </p:txBody>
      </p:sp>
    </p:spTree>
    <p:extLst>
      <p:ext uri="{BB962C8B-B14F-4D97-AF65-F5344CB8AC3E}">
        <p14:creationId xmlns:p14="http://schemas.microsoft.com/office/powerpoint/2010/main" val="1453702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DevOps?</a:t>
            </a:r>
            <a:endParaRPr lang="en-US" dirty="0"/>
          </a:p>
        </p:txBody>
      </p:sp>
    </p:spTree>
    <p:extLst>
      <p:ext uri="{BB962C8B-B14F-4D97-AF65-F5344CB8AC3E}">
        <p14:creationId xmlns:p14="http://schemas.microsoft.com/office/powerpoint/2010/main" val="3180648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Benefits</a:t>
            </a:r>
            <a:endParaRPr lang="en-US" dirty="0"/>
          </a:p>
        </p:txBody>
      </p:sp>
      <p:sp>
        <p:nvSpPr>
          <p:cNvPr id="3" name="Content Placeholder 2"/>
          <p:cNvSpPr>
            <a:spLocks noGrp="1"/>
          </p:cNvSpPr>
          <p:nvPr>
            <p:ph idx="1"/>
          </p:nvPr>
        </p:nvSpPr>
        <p:spPr/>
        <p:txBody>
          <a:bodyPr>
            <a:normAutofit/>
          </a:bodyPr>
          <a:lstStyle/>
          <a:p>
            <a:pPr marL="602941" indent="-432008">
              <a:buFont typeface="+mj-lt"/>
              <a:buAutoNum type="arabicPeriod"/>
            </a:pPr>
            <a:r>
              <a:rPr lang="en-GB" dirty="0"/>
              <a:t>Faster time-to-market/delivery times that improves ROI</a:t>
            </a:r>
          </a:p>
          <a:p>
            <a:pPr marL="602941" indent="-432008">
              <a:buFont typeface="+mj-lt"/>
              <a:buAutoNum type="arabicPeriod"/>
            </a:pPr>
            <a:r>
              <a:rPr lang="en-GB" dirty="0"/>
              <a:t>Engaged, empowered cross-discipline teams</a:t>
            </a:r>
          </a:p>
          <a:p>
            <a:pPr marL="602941" indent="-432008">
              <a:buFont typeface="+mj-lt"/>
              <a:buAutoNum type="arabicPeriod"/>
            </a:pPr>
            <a:r>
              <a:rPr lang="en-GB" dirty="0"/>
              <a:t>Stable/reliable operating environments</a:t>
            </a:r>
          </a:p>
          <a:p>
            <a:pPr marL="602941" indent="-432008">
              <a:buFont typeface="+mj-lt"/>
              <a:buAutoNum type="arabicPeriod"/>
            </a:pPr>
            <a:r>
              <a:rPr lang="en-GB" dirty="0"/>
              <a:t>Early detection and faster correction of defects</a:t>
            </a:r>
          </a:p>
          <a:p>
            <a:pPr marL="602941" indent="-432008">
              <a:buFont typeface="+mj-lt"/>
              <a:buAutoNum type="arabicPeriod"/>
            </a:pPr>
            <a:r>
              <a:rPr lang="en-GB" dirty="0"/>
              <a:t>Improved quality</a:t>
            </a:r>
            <a:endParaRPr lang="en-US" dirty="0"/>
          </a:p>
        </p:txBody>
      </p:sp>
      <p:sp>
        <p:nvSpPr>
          <p:cNvPr id="4" name="Rectangle 1"/>
          <p:cNvSpPr>
            <a:spLocks noChangeArrowheads="1"/>
          </p:cNvSpPr>
          <p:nvPr/>
        </p:nvSpPr>
        <p:spPr bwMode="auto">
          <a:xfrm>
            <a:off x="-600010203" y="-130870"/>
            <a:ext cx="65" cy="2617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US" sz="1701"/>
          </a:p>
        </p:txBody>
      </p:sp>
      <p:sp>
        <p:nvSpPr>
          <p:cNvPr id="10" name="Rectangle 9"/>
          <p:cNvSpPr/>
          <p:nvPr/>
        </p:nvSpPr>
        <p:spPr>
          <a:xfrm>
            <a:off x="2548890" y="5811908"/>
            <a:ext cx="8164710" cy="615810"/>
          </a:xfrm>
          <a:prstGeom prst="rect">
            <a:avLst/>
          </a:prstGeom>
        </p:spPr>
        <p:txBody>
          <a:bodyPr wrap="square">
            <a:spAutoFit/>
          </a:bodyPr>
          <a:lstStyle/>
          <a:p>
            <a:pPr algn="r"/>
            <a:r>
              <a:rPr lang="en-US" sz="1701" dirty="0">
                <a:hlinkClick r:id="rId3"/>
              </a:rPr>
              <a:t>http://www.gallop.net/blog/6-compelling-business-benefits-of-devops</a:t>
            </a:r>
            <a:endParaRPr lang="en-US" sz="1701" dirty="0"/>
          </a:p>
          <a:p>
            <a:pPr algn="r"/>
            <a:r>
              <a:rPr lang="en-US" sz="1701" dirty="0">
                <a:hlinkClick r:id="rId4"/>
              </a:rPr>
              <a:t>https://www.infoq.com/articles/devops-lessons-microsoft</a:t>
            </a:r>
            <a:endParaRPr lang="en-US" sz="1701" dirty="0"/>
          </a:p>
        </p:txBody>
      </p:sp>
    </p:spTree>
    <p:extLst>
      <p:ext uri="{BB962C8B-B14F-4D97-AF65-F5344CB8AC3E}">
        <p14:creationId xmlns:p14="http://schemas.microsoft.com/office/powerpoint/2010/main" val="300037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“Technology Is Wiping Out Companies Faster than Ever”</a:t>
            </a:r>
            <a:endParaRPr lang="en-US" sz="3200" dirty="0"/>
          </a:p>
        </p:txBody>
      </p:sp>
      <p:pic>
        <p:nvPicPr>
          <p:cNvPr id="4" name="Picture 3"/>
          <p:cNvPicPr>
            <a:picLocks noChangeAspect="1"/>
          </p:cNvPicPr>
          <p:nvPr/>
        </p:nvPicPr>
        <p:blipFill>
          <a:blip r:embed="rId3" cstate="print"/>
          <a:stretch>
            <a:fillRect/>
          </a:stretch>
        </p:blipFill>
        <p:spPr>
          <a:xfrm>
            <a:off x="2351515" y="194310"/>
            <a:ext cx="7183218" cy="4184240"/>
          </a:xfrm>
          <a:prstGeom prst="rect">
            <a:avLst/>
          </a:prstGeom>
        </p:spPr>
      </p:pic>
      <p:sp>
        <p:nvSpPr>
          <p:cNvPr id="6" name="Rectangle 5"/>
          <p:cNvSpPr/>
          <p:nvPr/>
        </p:nvSpPr>
        <p:spPr>
          <a:xfrm>
            <a:off x="308610" y="5930096"/>
            <a:ext cx="10824210" cy="354071"/>
          </a:xfrm>
          <a:prstGeom prst="rect">
            <a:avLst/>
          </a:prstGeom>
        </p:spPr>
        <p:txBody>
          <a:bodyPr wrap="square">
            <a:spAutoFit/>
          </a:bodyPr>
          <a:lstStyle/>
          <a:p>
            <a:pPr marL="170932" algn="r"/>
            <a:r>
              <a:rPr lang="en-US" sz="1701" dirty="0">
                <a:hlinkClick r:id="rId4"/>
              </a:rPr>
              <a:t>https://www.technologyreview.com/s/519226/technology-is-wiping-out-companies-faster-than-ever</a:t>
            </a:r>
            <a:r>
              <a:rPr lang="en-US" sz="1701" dirty="0"/>
              <a:t> </a:t>
            </a:r>
          </a:p>
        </p:txBody>
      </p:sp>
    </p:spTree>
    <p:extLst>
      <p:ext uri="{BB962C8B-B14F-4D97-AF65-F5344CB8AC3E}">
        <p14:creationId xmlns:p14="http://schemas.microsoft.com/office/powerpoint/2010/main" val="2812071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2016 State of DevOps Report</a:t>
            </a:r>
            <a:endParaRPr lang="en-US" dirty="0"/>
          </a:p>
        </p:txBody>
      </p:sp>
      <p:pic>
        <p:nvPicPr>
          <p:cNvPr id="6" name="Content Placeholder 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66284" y="647700"/>
            <a:ext cx="2024157" cy="3416300"/>
          </a:xfr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104" y="1044708"/>
            <a:ext cx="7199294" cy="543546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5398" y="4037359"/>
            <a:ext cx="1450478" cy="2448065"/>
          </a:xfrm>
          <a:prstGeom prst="rect">
            <a:avLst/>
          </a:prstGeom>
        </p:spPr>
      </p:pic>
      <p:sp>
        <p:nvSpPr>
          <p:cNvPr id="4" name="Rectangle 3"/>
          <p:cNvSpPr/>
          <p:nvPr/>
        </p:nvSpPr>
        <p:spPr>
          <a:xfrm>
            <a:off x="8550296" y="1875461"/>
            <a:ext cx="2315282" cy="1139286"/>
          </a:xfrm>
          <a:prstGeom prst="rect">
            <a:avLst/>
          </a:prstGeom>
        </p:spPr>
        <p:txBody>
          <a:bodyPr wrap="square">
            <a:spAutoFit/>
          </a:bodyPr>
          <a:lstStyle/>
          <a:p>
            <a:pPr algn="r"/>
            <a:r>
              <a:rPr lang="en-US" sz="1701" dirty="0">
                <a:hlinkClick r:id="rId5"/>
              </a:rPr>
              <a:t>https://puppet.com/ resources/white-paper/ 2016-state-of-devops-report</a:t>
            </a:r>
            <a:r>
              <a:rPr lang="en-US" sz="1701" dirty="0"/>
              <a:t> </a:t>
            </a:r>
          </a:p>
        </p:txBody>
      </p:sp>
    </p:spTree>
    <p:extLst>
      <p:ext uri="{BB962C8B-B14F-4D97-AF65-F5344CB8AC3E}">
        <p14:creationId xmlns:p14="http://schemas.microsoft.com/office/powerpoint/2010/main" val="3476224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p>
        </p:txBody>
      </p:sp>
      <p:sp>
        <p:nvSpPr>
          <p:cNvPr id="4" name="Rectangle 3"/>
          <p:cNvSpPr/>
          <p:nvPr/>
        </p:nvSpPr>
        <p:spPr>
          <a:xfrm>
            <a:off x="2870063" y="5931822"/>
            <a:ext cx="7843537" cy="354071"/>
          </a:xfrm>
          <a:prstGeom prst="rect">
            <a:avLst/>
          </a:prstGeom>
        </p:spPr>
        <p:txBody>
          <a:bodyPr wrap="square">
            <a:spAutoFit/>
          </a:bodyPr>
          <a:lstStyle/>
          <a:p>
            <a:pPr algn="r"/>
            <a:r>
              <a:rPr lang="en-US" sz="1701" dirty="0">
                <a:hlinkClick r:id="rId3"/>
              </a:rPr>
              <a:t>https://puppet.com/resources/white-paper/2016-state-of-devops-report</a:t>
            </a:r>
            <a:r>
              <a:rPr lang="en-US" sz="1701" dirty="0"/>
              <a:t> </a:t>
            </a:r>
          </a:p>
        </p:txBody>
      </p:sp>
      <p:pic>
        <p:nvPicPr>
          <p:cNvPr id="5" name="Picture 4"/>
          <p:cNvPicPr>
            <a:picLocks noChangeAspect="1"/>
          </p:cNvPicPr>
          <p:nvPr/>
        </p:nvPicPr>
        <p:blipFill>
          <a:blip r:embed="rId4"/>
          <a:stretch>
            <a:fillRect/>
          </a:stretch>
        </p:blipFill>
        <p:spPr>
          <a:xfrm>
            <a:off x="0" y="169247"/>
            <a:ext cx="11569550" cy="5513797"/>
          </a:xfrm>
          <a:prstGeom prst="rect">
            <a:avLst/>
          </a:prstGeom>
        </p:spPr>
      </p:pic>
    </p:spTree>
    <p:extLst>
      <p:ext uri="{BB962C8B-B14F-4D97-AF65-F5344CB8AC3E}">
        <p14:creationId xmlns:p14="http://schemas.microsoft.com/office/powerpoint/2010/main" val="1648451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b="1" dirty="0"/>
              <a:t>DevOps </a:t>
            </a:r>
            <a:br>
              <a:rPr lang="en-GB" b="1" dirty="0"/>
            </a:br>
            <a:r>
              <a:rPr lang="en-GB" b="1" dirty="0"/>
              <a:t>Practices</a:t>
            </a:r>
            <a:br>
              <a:rPr lang="en-GB" dirty="0"/>
            </a:br>
            <a:endParaRPr lang="en-US" dirty="0"/>
          </a:p>
        </p:txBody>
      </p:sp>
    </p:spTree>
    <p:extLst>
      <p:ext uri="{BB962C8B-B14F-4D97-AF65-F5344CB8AC3E}">
        <p14:creationId xmlns:p14="http://schemas.microsoft.com/office/powerpoint/2010/main" val="3635033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DevOps Practices</a:t>
            </a:r>
            <a:endParaRPr lang="en-US" dirty="0"/>
          </a:p>
        </p:txBody>
      </p:sp>
      <p:sp>
        <p:nvSpPr>
          <p:cNvPr id="4" name="Content Placeholder 3"/>
          <p:cNvSpPr>
            <a:spLocks noGrp="1"/>
          </p:cNvSpPr>
          <p:nvPr>
            <p:ph idx="1"/>
          </p:nvPr>
        </p:nvSpPr>
        <p:spPr/>
        <p:txBody>
          <a:bodyPr>
            <a:normAutofit fontScale="85000" lnSpcReduction="20000"/>
          </a:bodyPr>
          <a:lstStyle/>
          <a:p>
            <a:pPr>
              <a:spcBef>
                <a:spcPts val="1800"/>
              </a:spcBef>
            </a:pPr>
            <a:r>
              <a:rPr lang="en-US" dirty="0"/>
              <a:t>Automated Provisioning, Infrastructure as Code </a:t>
            </a:r>
          </a:p>
          <a:p>
            <a:pPr>
              <a:spcBef>
                <a:spcPts val="1800"/>
              </a:spcBef>
            </a:pPr>
            <a:r>
              <a:rPr lang="en-US" dirty="0"/>
              <a:t>Small frequent changes</a:t>
            </a:r>
          </a:p>
          <a:p>
            <a:pPr>
              <a:spcBef>
                <a:spcPts val="1800"/>
              </a:spcBef>
            </a:pPr>
            <a:r>
              <a:rPr lang="en-US" dirty="0"/>
              <a:t>Version Control </a:t>
            </a:r>
          </a:p>
          <a:p>
            <a:pPr>
              <a:spcBef>
                <a:spcPts val="1800"/>
              </a:spcBef>
            </a:pPr>
            <a:r>
              <a:rPr lang="en-US" dirty="0"/>
              <a:t>Continuous Integration (including automated testing)</a:t>
            </a:r>
          </a:p>
          <a:p>
            <a:pPr>
              <a:spcBef>
                <a:spcPts val="1800"/>
              </a:spcBef>
            </a:pPr>
            <a:r>
              <a:rPr lang="en-US" dirty="0"/>
              <a:t>Continuous Delivery / Release Management</a:t>
            </a:r>
          </a:p>
          <a:p>
            <a:pPr>
              <a:spcBef>
                <a:spcPts val="1800"/>
              </a:spcBef>
            </a:pPr>
            <a:r>
              <a:rPr lang="en-GB" dirty="0"/>
              <a:t>Measuring metrics </a:t>
            </a:r>
          </a:p>
          <a:p>
            <a:pPr>
              <a:spcBef>
                <a:spcPts val="1800"/>
              </a:spcBef>
            </a:pPr>
            <a:r>
              <a:rPr lang="en-US" dirty="0"/>
              <a:t>Feature flags (develop on trunk), Canary Releases, Dark Launches </a:t>
            </a:r>
          </a:p>
          <a:p>
            <a:pPr>
              <a:spcBef>
                <a:spcPts val="1800"/>
              </a:spcBef>
            </a:pPr>
            <a:endParaRPr lang="en-GB" dirty="0"/>
          </a:p>
          <a:p>
            <a:pPr marL="170932">
              <a:spcBef>
                <a:spcPts val="1800"/>
              </a:spcBef>
            </a:pPr>
            <a:endParaRPr lang="en-US" dirty="0"/>
          </a:p>
        </p:txBody>
      </p:sp>
      <p:sp>
        <p:nvSpPr>
          <p:cNvPr id="5" name="Rectangle 4"/>
          <p:cNvSpPr/>
          <p:nvPr/>
        </p:nvSpPr>
        <p:spPr>
          <a:xfrm>
            <a:off x="5427665" y="5811908"/>
            <a:ext cx="5285935" cy="615810"/>
          </a:xfrm>
          <a:prstGeom prst="rect">
            <a:avLst/>
          </a:prstGeom>
        </p:spPr>
        <p:txBody>
          <a:bodyPr wrap="none">
            <a:spAutoFit/>
          </a:bodyPr>
          <a:lstStyle/>
          <a:p>
            <a:pPr algn="r"/>
            <a:r>
              <a:rPr lang="en-US" sz="1701" dirty="0">
                <a:hlinkClick r:id="rId3"/>
              </a:rPr>
              <a:t>https://dzone.com/articles/devops-devops-principles</a:t>
            </a:r>
            <a:br>
              <a:rPr lang="en-US" sz="1701" dirty="0"/>
            </a:br>
            <a:r>
              <a:rPr lang="en-US" sz="1701" dirty="0">
                <a:hlinkClick r:id="rId4"/>
              </a:rPr>
              <a:t>https://www.youtube.com/watch?v=LdOe18KhtT4</a:t>
            </a:r>
            <a:endParaRPr lang="en-US" sz="1701" dirty="0"/>
          </a:p>
        </p:txBody>
      </p:sp>
    </p:spTree>
    <p:extLst>
      <p:ext uri="{BB962C8B-B14F-4D97-AF65-F5344CB8AC3E}">
        <p14:creationId xmlns:p14="http://schemas.microsoft.com/office/powerpoint/2010/main" val="2005285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DevOps Measurements</a:t>
            </a:r>
            <a:endParaRPr lang="en-US" dirty="0"/>
          </a:p>
        </p:txBody>
      </p:sp>
      <p:sp>
        <p:nvSpPr>
          <p:cNvPr id="3" name="Content Placeholder 2"/>
          <p:cNvSpPr>
            <a:spLocks noGrp="1"/>
          </p:cNvSpPr>
          <p:nvPr>
            <p:ph idx="1"/>
          </p:nvPr>
        </p:nvSpPr>
        <p:spPr/>
        <p:txBody>
          <a:bodyPr/>
          <a:lstStyle/>
          <a:p>
            <a:r>
              <a:rPr lang="en-GB"/>
              <a:t>Deployment frequency</a:t>
            </a:r>
          </a:p>
          <a:p>
            <a:r>
              <a:rPr lang="en-GB"/>
              <a:t>Lead time for changes</a:t>
            </a:r>
          </a:p>
          <a:p>
            <a:r>
              <a:rPr lang="en-GB"/>
              <a:t>Change failure rate</a:t>
            </a:r>
          </a:p>
          <a:p>
            <a:r>
              <a:rPr lang="en-GB"/>
              <a:t>Mean time to recover (MTTR)</a:t>
            </a:r>
            <a:endParaRPr lang="en-GB" dirty="0"/>
          </a:p>
        </p:txBody>
      </p:sp>
      <p:sp>
        <p:nvSpPr>
          <p:cNvPr id="4" name="Rectangle 3"/>
          <p:cNvSpPr/>
          <p:nvPr/>
        </p:nvSpPr>
        <p:spPr>
          <a:xfrm>
            <a:off x="3569785" y="5940175"/>
            <a:ext cx="7143815" cy="354071"/>
          </a:xfrm>
          <a:prstGeom prst="rect">
            <a:avLst/>
          </a:prstGeom>
        </p:spPr>
        <p:txBody>
          <a:bodyPr wrap="none">
            <a:spAutoFit/>
          </a:bodyPr>
          <a:lstStyle/>
          <a:p>
            <a:pPr algn="r"/>
            <a:r>
              <a:rPr lang="en-US" sz="1701" dirty="0">
                <a:hlinkClick r:id="rId3"/>
              </a:rPr>
              <a:t>https://puppet.com/resources/white-paper/2016-state-of-devops-report</a:t>
            </a:r>
            <a:endParaRPr lang="en-US" sz="1701" dirty="0"/>
          </a:p>
        </p:txBody>
      </p:sp>
    </p:spTree>
    <p:extLst>
      <p:ext uri="{BB962C8B-B14F-4D97-AF65-F5344CB8AC3E}">
        <p14:creationId xmlns:p14="http://schemas.microsoft.com/office/powerpoint/2010/main" val="970843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071118" y="8275"/>
            <a:ext cx="9378253" cy="5670153"/>
          </a:xfrm>
          <a:prstGeom prst="rect">
            <a:avLst/>
          </a:prstGeom>
        </p:spPr>
      </p:pic>
      <p:sp>
        <p:nvSpPr>
          <p:cNvPr id="5" name="Rectangle 4"/>
          <p:cNvSpPr/>
          <p:nvPr/>
        </p:nvSpPr>
        <p:spPr>
          <a:xfrm>
            <a:off x="2997047" y="5942777"/>
            <a:ext cx="7716553" cy="354071"/>
          </a:xfrm>
          <a:prstGeom prst="rect">
            <a:avLst/>
          </a:prstGeom>
        </p:spPr>
        <p:txBody>
          <a:bodyPr wrap="square">
            <a:spAutoFit/>
          </a:bodyPr>
          <a:lstStyle/>
          <a:p>
            <a:pPr algn="r"/>
            <a:r>
              <a:rPr lang="en-US" sz="1701" dirty="0">
                <a:hlinkClick r:id="rId3"/>
              </a:rPr>
              <a:t>https://puppet.com/resources/white-paper/2016-state-of-devops-report</a:t>
            </a:r>
            <a:endParaRPr lang="en-US" sz="1701" dirty="0"/>
          </a:p>
        </p:txBody>
      </p:sp>
    </p:spTree>
    <p:extLst>
      <p:ext uri="{BB962C8B-B14F-4D97-AF65-F5344CB8AC3E}">
        <p14:creationId xmlns:p14="http://schemas.microsoft.com/office/powerpoint/2010/main" val="638147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DevOps and Agile</a:t>
            </a:r>
            <a:endParaRPr lang="en-US" dirty="0"/>
          </a:p>
        </p:txBody>
      </p:sp>
      <p:sp>
        <p:nvSpPr>
          <p:cNvPr id="3" name="Content Placeholder 2"/>
          <p:cNvSpPr>
            <a:spLocks noGrp="1"/>
          </p:cNvSpPr>
          <p:nvPr>
            <p:ph idx="1"/>
          </p:nvPr>
        </p:nvSpPr>
        <p:spPr/>
        <p:txBody>
          <a:bodyPr>
            <a:normAutofit fontScale="77500" lnSpcReduction="20000"/>
          </a:bodyPr>
          <a:lstStyle/>
          <a:p>
            <a:pPr>
              <a:spcBef>
                <a:spcPts val="1800"/>
              </a:spcBef>
            </a:pPr>
            <a:r>
              <a:rPr lang="en-GB" dirty="0"/>
              <a:t>Agile needs automation to really boost velocity</a:t>
            </a:r>
          </a:p>
          <a:p>
            <a:pPr>
              <a:spcBef>
                <a:spcPts val="1800"/>
              </a:spcBef>
            </a:pPr>
            <a:r>
              <a:rPr lang="en-GB" dirty="0"/>
              <a:t>The gap between “potentially releasable” and “actually released” can be vast</a:t>
            </a:r>
          </a:p>
          <a:p>
            <a:pPr>
              <a:spcBef>
                <a:spcPts val="1800"/>
              </a:spcBef>
            </a:pPr>
            <a:r>
              <a:rPr lang="en-GB" dirty="0"/>
              <a:t>Product Owner and stakeholder feedback is great but real customer feedback is the true test of value delivered</a:t>
            </a:r>
          </a:p>
          <a:p>
            <a:pPr>
              <a:spcBef>
                <a:spcPts val="1800"/>
              </a:spcBef>
            </a:pPr>
            <a:r>
              <a:rPr lang="en-GB" dirty="0"/>
              <a:t>Application architecture matters</a:t>
            </a:r>
          </a:p>
          <a:p>
            <a:pPr>
              <a:spcBef>
                <a:spcPts val="1800"/>
              </a:spcBef>
            </a:pPr>
            <a:r>
              <a:rPr lang="en-GB" dirty="0"/>
              <a:t>Small batch size is really important for fast feedback cycles and reducing release risk</a:t>
            </a:r>
          </a:p>
          <a:p>
            <a:pPr>
              <a:spcBef>
                <a:spcPts val="1800"/>
              </a:spcBef>
            </a:pPr>
            <a:r>
              <a:rPr lang="en-GB" dirty="0"/>
              <a:t>Agile teams need DevOps practices, and DevOps needs </a:t>
            </a:r>
            <a:r>
              <a:rPr lang="en-GB" dirty="0" err="1"/>
              <a:t>Agile’s</a:t>
            </a:r>
            <a:r>
              <a:rPr lang="en-GB" dirty="0"/>
              <a:t> teaming model and connection to business value to drive better results</a:t>
            </a:r>
          </a:p>
          <a:p>
            <a:endParaRPr lang="en-US" dirty="0"/>
          </a:p>
        </p:txBody>
      </p:sp>
      <p:sp>
        <p:nvSpPr>
          <p:cNvPr id="4" name="Rectangle 3"/>
          <p:cNvSpPr/>
          <p:nvPr/>
        </p:nvSpPr>
        <p:spPr>
          <a:xfrm>
            <a:off x="5289486" y="5940175"/>
            <a:ext cx="5424114" cy="354071"/>
          </a:xfrm>
          <a:prstGeom prst="rect">
            <a:avLst/>
          </a:prstGeom>
        </p:spPr>
        <p:txBody>
          <a:bodyPr wrap="none">
            <a:spAutoFit/>
          </a:bodyPr>
          <a:lstStyle/>
          <a:p>
            <a:pPr algn="r"/>
            <a:r>
              <a:rPr lang="en-US" sz="1701" dirty="0">
                <a:hlinkClick r:id="rId2"/>
              </a:rPr>
              <a:t>https://blog.scrum.org/devops-taught-agile-vice-versa</a:t>
            </a:r>
            <a:endParaRPr lang="en-US" sz="1701" dirty="0"/>
          </a:p>
        </p:txBody>
      </p:sp>
    </p:spTree>
    <p:extLst>
      <p:ext uri="{BB962C8B-B14F-4D97-AF65-F5344CB8AC3E}">
        <p14:creationId xmlns:p14="http://schemas.microsoft.com/office/powerpoint/2010/main" val="3745975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Anti-patterns</a:t>
            </a:r>
            <a:endParaRPr lang="en-US" dirty="0"/>
          </a:p>
        </p:txBody>
      </p:sp>
      <p:sp>
        <p:nvSpPr>
          <p:cNvPr id="3" name="Content Placeholder 2"/>
          <p:cNvSpPr>
            <a:spLocks noGrp="1"/>
          </p:cNvSpPr>
          <p:nvPr>
            <p:ph idx="1"/>
          </p:nvPr>
        </p:nvSpPr>
        <p:spPr>
          <a:xfrm>
            <a:off x="462995" y="342533"/>
            <a:ext cx="10800000" cy="4238611"/>
          </a:xfrm>
        </p:spPr>
        <p:txBody>
          <a:bodyPr>
            <a:normAutofit fontScale="77500" lnSpcReduction="20000"/>
          </a:bodyPr>
          <a:lstStyle/>
          <a:p>
            <a:pPr>
              <a:spcBef>
                <a:spcPts val="1800"/>
              </a:spcBef>
            </a:pPr>
            <a:r>
              <a:rPr lang="en-GB" dirty="0"/>
              <a:t>Management just saying we’re doing DevOps</a:t>
            </a:r>
          </a:p>
          <a:p>
            <a:pPr>
              <a:spcBef>
                <a:spcPts val="1800"/>
              </a:spcBef>
            </a:pPr>
            <a:r>
              <a:rPr lang="en-GB" dirty="0"/>
              <a:t>Just changing job titles to DevOps</a:t>
            </a:r>
          </a:p>
          <a:p>
            <a:pPr>
              <a:spcBef>
                <a:spcPts val="1800"/>
              </a:spcBef>
            </a:pPr>
            <a:r>
              <a:rPr lang="en-GB" dirty="0"/>
              <a:t>Just merging dev and ops teams or creating a separate DevOps team </a:t>
            </a:r>
          </a:p>
          <a:p>
            <a:pPr>
              <a:spcBef>
                <a:spcPts val="1800"/>
              </a:spcBef>
            </a:pPr>
            <a:r>
              <a:rPr lang="en-GB" dirty="0"/>
              <a:t>Committing is done</a:t>
            </a:r>
          </a:p>
          <a:p>
            <a:pPr>
              <a:spcBef>
                <a:spcPts val="1800"/>
              </a:spcBef>
            </a:pPr>
            <a:r>
              <a:rPr lang="en-GB" dirty="0"/>
              <a:t>My responsibility ends here</a:t>
            </a:r>
          </a:p>
          <a:p>
            <a:pPr>
              <a:spcBef>
                <a:spcPts val="1800"/>
              </a:spcBef>
            </a:pPr>
            <a:r>
              <a:rPr lang="en-GB" dirty="0" err="1"/>
              <a:t>Devs</a:t>
            </a:r>
            <a:r>
              <a:rPr lang="en-GB" dirty="0"/>
              <a:t> blaming Ops; Ops blaming </a:t>
            </a:r>
            <a:r>
              <a:rPr lang="en-GB" dirty="0" err="1"/>
              <a:t>Devs</a:t>
            </a:r>
            <a:endParaRPr lang="en-GB" dirty="0"/>
          </a:p>
          <a:p>
            <a:pPr>
              <a:spcBef>
                <a:spcPts val="1800"/>
              </a:spcBef>
            </a:pPr>
            <a:r>
              <a:rPr lang="en-GB" dirty="0"/>
              <a:t>Ops not involved early</a:t>
            </a:r>
          </a:p>
          <a:p>
            <a:pPr>
              <a:spcBef>
                <a:spcPts val="1800"/>
              </a:spcBef>
            </a:pPr>
            <a:r>
              <a:rPr lang="en-GB" dirty="0"/>
              <a:t>DevOps means Developers Managing Production</a:t>
            </a:r>
          </a:p>
          <a:p>
            <a:pPr>
              <a:spcBef>
                <a:spcPts val="1800"/>
              </a:spcBef>
            </a:pPr>
            <a:r>
              <a:rPr lang="en-GB" dirty="0"/>
              <a:t>It’s not just automation or a tool (or set of tools)</a:t>
            </a:r>
          </a:p>
        </p:txBody>
      </p:sp>
      <p:sp>
        <p:nvSpPr>
          <p:cNvPr id="4" name="Rectangle 3"/>
          <p:cNvSpPr/>
          <p:nvPr/>
        </p:nvSpPr>
        <p:spPr>
          <a:xfrm>
            <a:off x="3732586" y="5603486"/>
            <a:ext cx="6981014" cy="877548"/>
          </a:xfrm>
          <a:prstGeom prst="rect">
            <a:avLst/>
          </a:prstGeom>
        </p:spPr>
        <p:txBody>
          <a:bodyPr wrap="none">
            <a:spAutoFit/>
          </a:bodyPr>
          <a:lstStyle/>
          <a:p>
            <a:pPr algn="r"/>
            <a:r>
              <a:rPr lang="en-GB" sz="1701" dirty="0">
                <a:hlinkClick r:id="rId2"/>
              </a:rPr>
              <a:t>https://theagileadmin.com/what-is-devops</a:t>
            </a:r>
            <a:endParaRPr lang="en-GB" sz="1701" dirty="0"/>
          </a:p>
          <a:p>
            <a:pPr algn="r"/>
            <a:r>
              <a:rPr lang="en-US" sz="1701" dirty="0">
                <a:hlinkClick r:id="rId3"/>
              </a:rPr>
              <a:t>https://dzone.com/articles/devops-anti-patterns-warning</a:t>
            </a:r>
            <a:endParaRPr lang="en-US" sz="1701" dirty="0"/>
          </a:p>
          <a:p>
            <a:pPr algn="r"/>
            <a:r>
              <a:rPr lang="en-US" sz="1701" dirty="0">
                <a:hlinkClick r:id="rId4"/>
              </a:rPr>
              <a:t>https://blog.devopsguys.com/2013/02/20/twelve-devops-anti-patterns</a:t>
            </a:r>
            <a:endParaRPr lang="en-US" sz="1701" dirty="0"/>
          </a:p>
        </p:txBody>
      </p:sp>
    </p:spTree>
    <p:extLst>
      <p:ext uri="{BB962C8B-B14F-4D97-AF65-F5344CB8AC3E}">
        <p14:creationId xmlns:p14="http://schemas.microsoft.com/office/powerpoint/2010/main" val="10052487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340" y="22875"/>
            <a:ext cx="8064342" cy="1424039"/>
          </a:xfrm>
        </p:spPr>
        <p:txBody>
          <a:bodyPr/>
          <a:lstStyle/>
          <a:p>
            <a:r>
              <a:rPr lang="en-US" dirty="0"/>
              <a:t>Delivery Pipeline</a:t>
            </a:r>
          </a:p>
        </p:txBody>
      </p:sp>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2" name="TextBox 21"/>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27" name="Picture 26"/>
          <p:cNvPicPr>
            <a:picLocks noChangeAspect="1"/>
          </p:cNvPicPr>
          <p:nvPr/>
        </p:nvPicPr>
        <p:blipFill>
          <a:blip r:embed="rId3" cstate="print"/>
          <a:stretch>
            <a:fillRect/>
          </a:stretch>
        </p:blipFill>
        <p:spPr>
          <a:xfrm>
            <a:off x="421234" y="2073239"/>
            <a:ext cx="194106" cy="393553"/>
          </a:xfrm>
          <a:prstGeom prst="rect">
            <a:avLst/>
          </a:prstGeom>
        </p:spPr>
      </p:pic>
      <p:sp>
        <p:nvSpPr>
          <p:cNvPr id="28" name="TextBox 27"/>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29" name="TextBox 2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30" name="Picture 29"/>
          <p:cNvPicPr>
            <a:picLocks noChangeAspect="1"/>
          </p:cNvPicPr>
          <p:nvPr/>
        </p:nvPicPr>
        <p:blipFill>
          <a:blip r:embed="rId3" cstate="print"/>
          <a:stretch>
            <a:fillRect/>
          </a:stretch>
        </p:blipFill>
        <p:spPr>
          <a:xfrm>
            <a:off x="421235" y="3992028"/>
            <a:ext cx="194106" cy="393553"/>
          </a:xfrm>
          <a:prstGeom prst="rect">
            <a:avLst/>
          </a:prstGeom>
        </p:spPr>
      </p:pic>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3424" y="4471701"/>
            <a:ext cx="769579" cy="769579"/>
          </a:xfrm>
          <a:prstGeom prst="rect">
            <a:avLst/>
          </a:prstGeom>
        </p:spPr>
      </p:pic>
      <p:pic>
        <p:nvPicPr>
          <p:cNvPr id="39" name="Picture 38"/>
          <p:cNvPicPr>
            <a:picLocks noChangeAspect="1"/>
          </p:cNvPicPr>
          <p:nvPr/>
        </p:nvPicPr>
        <p:blipFill>
          <a:blip r:embed="rId5" cstate="print"/>
          <a:stretch>
            <a:fillRect/>
          </a:stretch>
        </p:blipFill>
        <p:spPr>
          <a:xfrm>
            <a:off x="2352656" y="2296896"/>
            <a:ext cx="367682" cy="511171"/>
          </a:xfrm>
          <a:prstGeom prst="rect">
            <a:avLst/>
          </a:prstGeom>
        </p:spPr>
      </p:pic>
      <p:pic>
        <p:nvPicPr>
          <p:cNvPr id="40" name="Picture 3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41" name="Down Arrow 40"/>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42" name="Down Arrow 41"/>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43" name="TextBox 42"/>
          <p:cNvSpPr txBox="1"/>
          <p:nvPr/>
        </p:nvSpPr>
        <p:spPr>
          <a:xfrm>
            <a:off x="2252382" y="2821769"/>
            <a:ext cx="568229" cy="295915"/>
          </a:xfrm>
          <a:prstGeom prst="rect">
            <a:avLst/>
          </a:prstGeom>
          <a:noFill/>
        </p:spPr>
        <p:txBody>
          <a:bodyPr wrap="square" rtlCol="0">
            <a:spAutoFit/>
          </a:bodyPr>
          <a:lstStyle/>
          <a:p>
            <a:r>
              <a:rPr lang="en-US" sz="1323" dirty="0"/>
              <a:t>Dev</a:t>
            </a:r>
          </a:p>
        </p:txBody>
      </p:sp>
      <p:cxnSp>
        <p:nvCxnSpPr>
          <p:cNvPr id="45" name="Straight Arrow Connector 44"/>
          <p:cNvCxnSpPr>
            <a:stCxn id="31" idx="1"/>
          </p:cNvCxnSpPr>
          <p:nvPr/>
        </p:nvCxnSpPr>
        <p:spPr>
          <a:xfrm flipH="1" flipV="1">
            <a:off x="2749791" y="4856490"/>
            <a:ext cx="643633" cy="1"/>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561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3424" y="4471701"/>
            <a:ext cx="769579" cy="769579"/>
          </a:xfrm>
          <a:prstGeom prst="rect">
            <a:avLst/>
          </a:prstGeom>
        </p:spPr>
      </p:pic>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pic>
        <p:nvPicPr>
          <p:cNvPr id="27" name="Picture 26"/>
          <p:cNvPicPr>
            <a:picLocks noChangeAspect="1"/>
          </p:cNvPicPr>
          <p:nvPr/>
        </p:nvPicPr>
        <p:blipFill>
          <a:blip r:embed="rId5" cstate="print"/>
          <a:stretch>
            <a:fillRect/>
          </a:stretch>
        </p:blipFill>
        <p:spPr>
          <a:xfrm>
            <a:off x="4766656" y="4540211"/>
            <a:ext cx="674247" cy="645309"/>
          </a:xfrm>
          <a:prstGeom prst="rect">
            <a:avLst/>
          </a:prstGeom>
        </p:spPr>
      </p:pic>
      <p:sp>
        <p:nvSpPr>
          <p:cNvPr id="28" name="Rectangle 27"/>
          <p:cNvSpPr/>
          <p:nvPr/>
        </p:nvSpPr>
        <p:spPr>
          <a:xfrm>
            <a:off x="4679806" y="4575760"/>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29" name="Rectangle 28"/>
          <p:cNvSpPr/>
          <p:nvPr/>
        </p:nvSpPr>
        <p:spPr>
          <a:xfrm>
            <a:off x="4628066" y="502027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33" name="Rectangle 32"/>
          <p:cNvSpPr/>
          <p:nvPr/>
        </p:nvSpPr>
        <p:spPr>
          <a:xfrm>
            <a:off x="5212833" y="458008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34" name="Rectangle 33"/>
          <p:cNvSpPr/>
          <p:nvPr/>
        </p:nvSpPr>
        <p:spPr>
          <a:xfrm>
            <a:off x="5229359" y="5046701"/>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45848" y="4718415"/>
            <a:ext cx="338877" cy="338877"/>
          </a:xfrm>
          <a:prstGeom prst="rect">
            <a:avLst/>
          </a:prstGeom>
        </p:spPr>
      </p:pic>
      <p:sp>
        <p:nvSpPr>
          <p:cNvPr id="14" name="Oval 13"/>
          <p:cNvSpPr/>
          <p:nvPr/>
        </p:nvSpPr>
        <p:spPr>
          <a:xfrm>
            <a:off x="5046463" y="4498564"/>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54" name="Picture 53"/>
          <p:cNvPicPr>
            <a:picLocks noChangeAspect="1"/>
          </p:cNvPicPr>
          <p:nvPr/>
        </p:nvPicPr>
        <p:blipFill>
          <a:blip r:embed="rId7" cstate="print"/>
          <a:stretch>
            <a:fillRect/>
          </a:stretch>
        </p:blipFill>
        <p:spPr>
          <a:xfrm>
            <a:off x="2352656" y="2296896"/>
            <a:ext cx="367682" cy="511171"/>
          </a:xfrm>
          <a:prstGeom prst="rect">
            <a:avLst/>
          </a:prstGeom>
        </p:spPr>
      </p:pic>
      <p:pic>
        <p:nvPicPr>
          <p:cNvPr id="55" name="Picture 5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56" name="Down Arrow 55"/>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57" name="Down Arrow 56"/>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58" name="TextBox 57"/>
          <p:cNvSpPr txBox="1"/>
          <p:nvPr/>
        </p:nvSpPr>
        <p:spPr>
          <a:xfrm>
            <a:off x="2252382" y="2821769"/>
            <a:ext cx="568229" cy="295915"/>
          </a:xfrm>
          <a:prstGeom prst="rect">
            <a:avLst/>
          </a:prstGeom>
          <a:noFill/>
        </p:spPr>
        <p:txBody>
          <a:bodyPr wrap="square" rtlCol="0">
            <a:spAutoFit/>
          </a:bodyPr>
          <a:lstStyle/>
          <a:p>
            <a:r>
              <a:rPr lang="en-US" sz="1323" dirty="0"/>
              <a:t>Dev</a:t>
            </a:r>
          </a:p>
        </p:txBody>
      </p:sp>
      <p:cxnSp>
        <p:nvCxnSpPr>
          <p:cNvPr id="60" name="Straight Arrow Connector 59"/>
          <p:cNvCxnSpPr/>
          <p:nvPr/>
        </p:nvCxnSpPr>
        <p:spPr>
          <a:xfrm>
            <a:off x="4184729" y="4856489"/>
            <a:ext cx="443338"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a:stCxn id="8" idx="1"/>
          </p:cNvCxnSpPr>
          <p:nvPr/>
        </p:nvCxnSpPr>
        <p:spPr>
          <a:xfrm flipH="1" flipV="1">
            <a:off x="2749791" y="4856490"/>
            <a:ext cx="643633" cy="1"/>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
        <p:nvSpPr>
          <p:cNvPr id="5" name="Title 4"/>
          <p:cNvSpPr>
            <a:spLocks noGrp="1"/>
          </p:cNvSpPr>
          <p:nvPr>
            <p:ph type="title"/>
          </p:nvPr>
        </p:nvSpPr>
        <p:spPr/>
        <p:txBody>
          <a:bodyPr/>
          <a:lstStyle/>
          <a:p>
            <a:endParaRPr lang="en-IE"/>
          </a:p>
        </p:txBody>
      </p:sp>
    </p:spTree>
    <p:extLst>
      <p:ext uri="{BB962C8B-B14F-4D97-AF65-F5344CB8AC3E}">
        <p14:creationId xmlns:p14="http://schemas.microsoft.com/office/powerpoint/2010/main" val="69071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66667E-6 1.48148E-6 C 0.01862 1.48148E-6 0.03411 0.02037 0.03411 0.04583 C 0.03411 0.07129 0.01862 0.09236 1.66667E-6 0.09236 C -0.01901 0.09236 -0.03412 0.07129 -0.03412 0.04583 C -0.03412 0.02037 -0.01901 1.48148E-6 1.66667E-6 1.48148E-6 Z " pathEditMode="relative" rAng="0" ptsTypes="AAAAA">
                                      <p:cBhvr>
                                        <p:cTn id="6" dur="2000" fill="hold"/>
                                        <p:tgtEl>
                                          <p:spTgt spid="14"/>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sp>
        <p:nvSpPr>
          <p:cNvPr id="32" name="Pentagon 31"/>
          <p:cNvSpPr/>
          <p:nvPr/>
        </p:nvSpPr>
        <p:spPr>
          <a:xfrm>
            <a:off x="5945293" y="1389372"/>
            <a:ext cx="2963836"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Testing</a:t>
            </a:r>
          </a:p>
        </p:txBody>
      </p:sp>
      <p:pic>
        <p:nvPicPr>
          <p:cNvPr id="37" name="Picture 36"/>
          <p:cNvPicPr>
            <a:picLocks noChangeAspect="1"/>
          </p:cNvPicPr>
          <p:nvPr/>
        </p:nvPicPr>
        <p:blipFill>
          <a:blip r:embed="rId3" cstate="print"/>
          <a:stretch>
            <a:fillRect/>
          </a:stretch>
        </p:blipFill>
        <p:spPr>
          <a:xfrm>
            <a:off x="7476426" y="2286925"/>
            <a:ext cx="367682" cy="511171"/>
          </a:xfrm>
          <a:prstGeom prst="rect">
            <a:avLst/>
          </a:prstGeom>
        </p:spPr>
      </p:pic>
      <p:sp>
        <p:nvSpPr>
          <p:cNvPr id="18" name="TextBox 17"/>
          <p:cNvSpPr txBox="1"/>
          <p:nvPr/>
        </p:nvSpPr>
        <p:spPr>
          <a:xfrm>
            <a:off x="7469464" y="2825240"/>
            <a:ext cx="568229" cy="295915"/>
          </a:xfrm>
          <a:prstGeom prst="rect">
            <a:avLst/>
          </a:prstGeom>
          <a:noFill/>
        </p:spPr>
        <p:txBody>
          <a:bodyPr wrap="square" rtlCol="0">
            <a:spAutoFit/>
          </a:bodyPr>
          <a:lstStyle/>
          <a:p>
            <a:r>
              <a:rPr lang="en-US" sz="1323" dirty="0"/>
              <a:t>QA</a:t>
            </a:r>
          </a:p>
        </p:txBody>
      </p:sp>
      <p:sp>
        <p:nvSpPr>
          <p:cNvPr id="82" name="TextBox 81"/>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83" name="Picture 82"/>
          <p:cNvPicPr>
            <a:picLocks noChangeAspect="1"/>
          </p:cNvPicPr>
          <p:nvPr/>
        </p:nvPicPr>
        <p:blipFill>
          <a:blip r:embed="rId4" cstate="print"/>
          <a:stretch>
            <a:fillRect/>
          </a:stretch>
        </p:blipFill>
        <p:spPr>
          <a:xfrm>
            <a:off x="421234" y="2073239"/>
            <a:ext cx="194106" cy="393553"/>
          </a:xfrm>
          <a:prstGeom prst="rect">
            <a:avLst/>
          </a:prstGeom>
        </p:spPr>
      </p:pic>
      <p:sp>
        <p:nvSpPr>
          <p:cNvPr id="84" name="TextBox 83"/>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85" name="TextBox 84"/>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86" name="Picture 85"/>
          <p:cNvPicPr>
            <a:picLocks noChangeAspect="1"/>
          </p:cNvPicPr>
          <p:nvPr/>
        </p:nvPicPr>
        <p:blipFill>
          <a:blip r:embed="rId4" cstate="print"/>
          <a:stretch>
            <a:fillRect/>
          </a:stretch>
        </p:blipFill>
        <p:spPr>
          <a:xfrm>
            <a:off x="421235" y="3992028"/>
            <a:ext cx="194106" cy="393553"/>
          </a:xfrm>
          <a:prstGeom prst="rect">
            <a:avLst/>
          </a:prstGeom>
        </p:spPr>
      </p:pic>
      <p:pic>
        <p:nvPicPr>
          <p:cNvPr id="87" name="Picture 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93424" y="4471701"/>
            <a:ext cx="769579" cy="769579"/>
          </a:xfrm>
          <a:prstGeom prst="rect">
            <a:avLst/>
          </a:prstGeom>
        </p:spPr>
      </p:pic>
      <p:pic>
        <p:nvPicPr>
          <p:cNvPr id="88" name="Picture 87"/>
          <p:cNvPicPr>
            <a:picLocks noChangeAspect="1"/>
          </p:cNvPicPr>
          <p:nvPr/>
        </p:nvPicPr>
        <p:blipFill>
          <a:blip r:embed="rId6" cstate="print"/>
          <a:stretch>
            <a:fillRect/>
          </a:stretch>
        </p:blipFill>
        <p:spPr>
          <a:xfrm>
            <a:off x="4766656" y="4540211"/>
            <a:ext cx="674247" cy="645309"/>
          </a:xfrm>
          <a:prstGeom prst="rect">
            <a:avLst/>
          </a:prstGeom>
        </p:spPr>
      </p:pic>
      <p:sp>
        <p:nvSpPr>
          <p:cNvPr id="89" name="Rectangle 88"/>
          <p:cNvSpPr/>
          <p:nvPr/>
        </p:nvSpPr>
        <p:spPr>
          <a:xfrm>
            <a:off x="4679806" y="4575760"/>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90" name="Rectangle 89"/>
          <p:cNvSpPr/>
          <p:nvPr/>
        </p:nvSpPr>
        <p:spPr>
          <a:xfrm>
            <a:off x="4628066" y="502027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91" name="Rectangle 90"/>
          <p:cNvSpPr/>
          <p:nvPr/>
        </p:nvSpPr>
        <p:spPr>
          <a:xfrm>
            <a:off x="5212833" y="458008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92" name="Rectangle 91"/>
          <p:cNvSpPr/>
          <p:nvPr/>
        </p:nvSpPr>
        <p:spPr>
          <a:xfrm>
            <a:off x="5229359" y="5046701"/>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93" name="Picture 9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45848" y="4718415"/>
            <a:ext cx="338877" cy="338877"/>
          </a:xfrm>
          <a:prstGeom prst="rect">
            <a:avLst/>
          </a:prstGeom>
        </p:spPr>
      </p:pic>
      <p:sp>
        <p:nvSpPr>
          <p:cNvPr id="94" name="Oval 93"/>
          <p:cNvSpPr/>
          <p:nvPr/>
        </p:nvSpPr>
        <p:spPr>
          <a:xfrm>
            <a:off x="5046463" y="4498564"/>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95" name="Picture 94"/>
          <p:cNvPicPr>
            <a:picLocks noChangeAspect="1"/>
          </p:cNvPicPr>
          <p:nvPr/>
        </p:nvPicPr>
        <p:blipFill>
          <a:blip r:embed="rId3" cstate="print"/>
          <a:stretch>
            <a:fillRect/>
          </a:stretch>
        </p:blipFill>
        <p:spPr>
          <a:xfrm>
            <a:off x="2352656" y="2296896"/>
            <a:ext cx="367682" cy="511171"/>
          </a:xfrm>
          <a:prstGeom prst="rect">
            <a:avLst/>
          </a:prstGeom>
        </p:spPr>
      </p:pic>
      <p:pic>
        <p:nvPicPr>
          <p:cNvPr id="96" name="Picture 9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97" name="Down Arrow 96"/>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98" name="Down Arrow 97"/>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99" name="TextBox 98"/>
          <p:cNvSpPr txBox="1"/>
          <p:nvPr/>
        </p:nvSpPr>
        <p:spPr>
          <a:xfrm>
            <a:off x="2252382" y="2821769"/>
            <a:ext cx="568229" cy="295915"/>
          </a:xfrm>
          <a:prstGeom prst="rect">
            <a:avLst/>
          </a:prstGeom>
          <a:noFill/>
        </p:spPr>
        <p:txBody>
          <a:bodyPr wrap="square" rtlCol="0">
            <a:spAutoFit/>
          </a:bodyPr>
          <a:lstStyle/>
          <a:p>
            <a:r>
              <a:rPr lang="en-US" sz="1323" dirty="0"/>
              <a:t>Dev</a:t>
            </a:r>
          </a:p>
        </p:txBody>
      </p:sp>
      <p:cxnSp>
        <p:nvCxnSpPr>
          <p:cNvPr id="100" name="Straight Arrow Connector 99"/>
          <p:cNvCxnSpPr/>
          <p:nvPr/>
        </p:nvCxnSpPr>
        <p:spPr>
          <a:xfrm>
            <a:off x="4184729" y="4856489"/>
            <a:ext cx="443338"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a:stCxn id="87" idx="1"/>
          </p:cNvCxnSpPr>
          <p:nvPr/>
        </p:nvCxnSpPr>
        <p:spPr>
          <a:xfrm flipH="1" flipV="1">
            <a:off x="2749791" y="4856490"/>
            <a:ext cx="643633" cy="1"/>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2820611" y="2502518"/>
            <a:ext cx="312468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p:nvPr/>
        </p:nvCxnSpPr>
        <p:spPr>
          <a:xfrm>
            <a:off x="5546300" y="4856489"/>
            <a:ext cx="85448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109" name="Picture 10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77061" y="4282643"/>
            <a:ext cx="482135" cy="745090"/>
          </a:xfrm>
          <a:prstGeom prst="rect">
            <a:avLst/>
          </a:prstGeom>
        </p:spPr>
      </p:pic>
      <p:pic>
        <p:nvPicPr>
          <p:cNvPr id="110" name="Picture 10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238079" y="4188640"/>
            <a:ext cx="720969" cy="720969"/>
          </a:xfrm>
          <a:prstGeom prst="rect">
            <a:avLst/>
          </a:prstGeom>
        </p:spPr>
      </p:pic>
      <p:pic>
        <p:nvPicPr>
          <p:cNvPr id="111" name="Picture 1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11736" y="4214644"/>
            <a:ext cx="593792" cy="593792"/>
          </a:xfrm>
          <a:prstGeom prst="rect">
            <a:avLst/>
          </a:prstGeom>
        </p:spPr>
      </p:pic>
      <p:pic>
        <p:nvPicPr>
          <p:cNvPr id="112" name="Picture 1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04764" y="4471701"/>
            <a:ext cx="673470" cy="673470"/>
          </a:xfrm>
          <a:prstGeom prst="rect">
            <a:avLst/>
          </a:prstGeom>
        </p:spPr>
      </p:pic>
      <p:pic>
        <p:nvPicPr>
          <p:cNvPr id="115" name="Picture 11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154131" y="2753488"/>
            <a:ext cx="1139067" cy="934215"/>
          </a:xfrm>
          <a:prstGeom prst="rect">
            <a:avLst/>
          </a:prstGeom>
        </p:spPr>
      </p:pic>
      <p:sp>
        <p:nvSpPr>
          <p:cNvPr id="116" name="Flowchart: Document 115"/>
          <p:cNvSpPr/>
          <p:nvPr/>
        </p:nvSpPr>
        <p:spPr>
          <a:xfrm>
            <a:off x="6312498" y="2047788"/>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a:t>Alter table Orders</a:t>
            </a:r>
          </a:p>
          <a:p>
            <a:r>
              <a:rPr lang="en-US" sz="756"/>
              <a:t>Add status tinyint;</a:t>
            </a:r>
          </a:p>
          <a:p>
            <a:endParaRPr lang="en-US" sz="756"/>
          </a:p>
          <a:p>
            <a:r>
              <a:rPr lang="en-US" sz="756"/>
              <a:t>Create procedure GetOrders</a:t>
            </a:r>
          </a:p>
          <a:p>
            <a:r>
              <a:rPr lang="en-US" sz="756"/>
              <a:t>…..</a:t>
            </a:r>
            <a:endParaRPr lang="en-US" sz="756" dirty="0"/>
          </a:p>
        </p:txBody>
      </p:sp>
      <p:sp>
        <p:nvSpPr>
          <p:cNvPr id="3" name="Title 2"/>
          <p:cNvSpPr>
            <a:spLocks noGrp="1"/>
          </p:cNvSpPr>
          <p:nvPr>
            <p:ph type="title"/>
          </p:nvPr>
        </p:nvSpPr>
        <p:spPr/>
        <p:txBody>
          <a:bodyPr/>
          <a:lstStyle/>
          <a:p>
            <a:endParaRPr lang="en-IE"/>
          </a:p>
        </p:txBody>
      </p:sp>
      <p:sp>
        <p:nvSpPr>
          <p:cNvPr id="38"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332116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66667E-6 1.48148E-6 C 0.01862 1.48148E-6 0.03411 0.02037 0.03411 0.04583 C 0.03411 0.07129 0.01862 0.09236 1.66667E-6 0.09236 C -0.01901 0.09236 -0.03412 0.07129 -0.03412 0.04583 C -0.03412 0.02037 -0.01901 1.48148E-6 1.66667E-6 1.48148E-6 Z " pathEditMode="relative" rAng="0" ptsTypes="AAAAA">
                                      <p:cBhvr>
                                        <p:cTn id="6" dur="2000" fill="hold"/>
                                        <p:tgtEl>
                                          <p:spTgt spid="94"/>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sp>
        <p:nvSpPr>
          <p:cNvPr id="32" name="Pentagon 31"/>
          <p:cNvSpPr/>
          <p:nvPr/>
        </p:nvSpPr>
        <p:spPr>
          <a:xfrm>
            <a:off x="5945292" y="1389372"/>
            <a:ext cx="2944637"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Testing</a:t>
            </a:r>
          </a:p>
        </p:txBody>
      </p:sp>
      <p:sp>
        <p:nvSpPr>
          <p:cNvPr id="42" name="Pentagon 41"/>
          <p:cNvSpPr/>
          <p:nvPr/>
        </p:nvSpPr>
        <p:spPr>
          <a:xfrm>
            <a:off x="8980333" y="1386949"/>
            <a:ext cx="2069654"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Production</a:t>
            </a:r>
          </a:p>
        </p:txBody>
      </p:sp>
      <p:pic>
        <p:nvPicPr>
          <p:cNvPr id="43" name="Picture 42"/>
          <p:cNvPicPr>
            <a:picLocks noChangeAspect="1"/>
          </p:cNvPicPr>
          <p:nvPr/>
        </p:nvPicPr>
        <p:blipFill>
          <a:blip r:embed="rId3" cstate="print"/>
          <a:stretch>
            <a:fillRect/>
          </a:stretch>
        </p:blipFill>
        <p:spPr>
          <a:xfrm>
            <a:off x="10266207" y="2193526"/>
            <a:ext cx="367682" cy="511171"/>
          </a:xfrm>
          <a:prstGeom prst="rect">
            <a:avLst/>
          </a:prstGeom>
        </p:spPr>
      </p:pic>
      <p:sp>
        <p:nvSpPr>
          <p:cNvPr id="44" name="TextBox 43"/>
          <p:cNvSpPr txBox="1"/>
          <p:nvPr/>
        </p:nvSpPr>
        <p:spPr>
          <a:xfrm>
            <a:off x="10266207" y="2764883"/>
            <a:ext cx="568229" cy="295915"/>
          </a:xfrm>
          <a:prstGeom prst="rect">
            <a:avLst/>
          </a:prstGeom>
          <a:noFill/>
        </p:spPr>
        <p:txBody>
          <a:bodyPr wrap="square" rtlCol="0">
            <a:spAutoFit/>
          </a:bodyPr>
          <a:lstStyle/>
          <a:p>
            <a:r>
              <a:rPr lang="en-US" sz="1323" dirty="0"/>
              <a:t>Prod</a:t>
            </a:r>
          </a:p>
        </p:txBody>
      </p:sp>
      <p:pic>
        <p:nvPicPr>
          <p:cNvPr id="45" name="Picture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57464" y="2645666"/>
            <a:ext cx="1139067" cy="934215"/>
          </a:xfrm>
          <a:prstGeom prst="rect">
            <a:avLst/>
          </a:prstGeom>
        </p:spPr>
      </p:pic>
      <p:pic>
        <p:nvPicPr>
          <p:cNvPr id="53" name="Picture 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4131" y="2753488"/>
            <a:ext cx="1139067" cy="934215"/>
          </a:xfrm>
          <a:prstGeom prst="rect">
            <a:avLst/>
          </a:prstGeom>
        </p:spPr>
      </p:pic>
      <p:pic>
        <p:nvPicPr>
          <p:cNvPr id="55" name="Picture 54"/>
          <p:cNvPicPr>
            <a:picLocks noChangeAspect="1"/>
          </p:cNvPicPr>
          <p:nvPr/>
        </p:nvPicPr>
        <p:blipFill>
          <a:blip r:embed="rId3" cstate="print"/>
          <a:stretch>
            <a:fillRect/>
          </a:stretch>
        </p:blipFill>
        <p:spPr>
          <a:xfrm>
            <a:off x="7476426" y="2286925"/>
            <a:ext cx="367682" cy="511171"/>
          </a:xfrm>
          <a:prstGeom prst="rect">
            <a:avLst/>
          </a:prstGeom>
        </p:spPr>
      </p:pic>
      <p:sp>
        <p:nvSpPr>
          <p:cNvPr id="56" name="TextBox 55"/>
          <p:cNvSpPr txBox="1"/>
          <p:nvPr/>
        </p:nvSpPr>
        <p:spPr>
          <a:xfrm>
            <a:off x="7469464" y="2825240"/>
            <a:ext cx="568229" cy="295915"/>
          </a:xfrm>
          <a:prstGeom prst="rect">
            <a:avLst/>
          </a:prstGeom>
          <a:noFill/>
        </p:spPr>
        <p:txBody>
          <a:bodyPr wrap="square" rtlCol="0">
            <a:spAutoFit/>
          </a:bodyPr>
          <a:lstStyle/>
          <a:p>
            <a:r>
              <a:rPr lang="en-US" sz="1323" dirty="0"/>
              <a:t>QA</a:t>
            </a:r>
          </a:p>
        </p:txBody>
      </p:sp>
      <p:sp>
        <p:nvSpPr>
          <p:cNvPr id="57" name="TextBox 56"/>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58" name="Picture 57"/>
          <p:cNvPicPr>
            <a:picLocks noChangeAspect="1"/>
          </p:cNvPicPr>
          <p:nvPr/>
        </p:nvPicPr>
        <p:blipFill>
          <a:blip r:embed="rId5" cstate="print"/>
          <a:stretch>
            <a:fillRect/>
          </a:stretch>
        </p:blipFill>
        <p:spPr>
          <a:xfrm>
            <a:off x="421234" y="2073239"/>
            <a:ext cx="194106" cy="393553"/>
          </a:xfrm>
          <a:prstGeom prst="rect">
            <a:avLst/>
          </a:prstGeom>
        </p:spPr>
      </p:pic>
      <p:sp>
        <p:nvSpPr>
          <p:cNvPr id="59" name="TextBox 58"/>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60" name="TextBox 59"/>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61" name="Picture 60"/>
          <p:cNvPicPr>
            <a:picLocks noChangeAspect="1"/>
          </p:cNvPicPr>
          <p:nvPr/>
        </p:nvPicPr>
        <p:blipFill>
          <a:blip r:embed="rId5" cstate="print"/>
          <a:stretch>
            <a:fillRect/>
          </a:stretch>
        </p:blipFill>
        <p:spPr>
          <a:xfrm>
            <a:off x="421235" y="3992028"/>
            <a:ext cx="194106" cy="393553"/>
          </a:xfrm>
          <a:prstGeom prst="rect">
            <a:avLst/>
          </a:prstGeom>
        </p:spPr>
      </p:pic>
      <p:pic>
        <p:nvPicPr>
          <p:cNvPr id="62" name="Picture 6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93424" y="4471701"/>
            <a:ext cx="769579" cy="769579"/>
          </a:xfrm>
          <a:prstGeom prst="rect">
            <a:avLst/>
          </a:prstGeom>
        </p:spPr>
      </p:pic>
      <p:pic>
        <p:nvPicPr>
          <p:cNvPr id="63" name="Picture 62"/>
          <p:cNvPicPr>
            <a:picLocks noChangeAspect="1"/>
          </p:cNvPicPr>
          <p:nvPr/>
        </p:nvPicPr>
        <p:blipFill>
          <a:blip r:embed="rId7" cstate="print"/>
          <a:stretch>
            <a:fillRect/>
          </a:stretch>
        </p:blipFill>
        <p:spPr>
          <a:xfrm>
            <a:off x="4766656" y="4540211"/>
            <a:ext cx="674247" cy="645309"/>
          </a:xfrm>
          <a:prstGeom prst="rect">
            <a:avLst/>
          </a:prstGeom>
        </p:spPr>
      </p:pic>
      <p:sp>
        <p:nvSpPr>
          <p:cNvPr id="64" name="Rectangle 63"/>
          <p:cNvSpPr/>
          <p:nvPr/>
        </p:nvSpPr>
        <p:spPr>
          <a:xfrm>
            <a:off x="4679806" y="4575760"/>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65" name="Rectangle 64"/>
          <p:cNvSpPr/>
          <p:nvPr/>
        </p:nvSpPr>
        <p:spPr>
          <a:xfrm>
            <a:off x="4628066" y="502027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66" name="Rectangle 65"/>
          <p:cNvSpPr/>
          <p:nvPr/>
        </p:nvSpPr>
        <p:spPr>
          <a:xfrm>
            <a:off x="5212833" y="4580087"/>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67" name="Rectangle 66"/>
          <p:cNvSpPr/>
          <p:nvPr/>
        </p:nvSpPr>
        <p:spPr>
          <a:xfrm>
            <a:off x="5229359" y="5046701"/>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68" name="Picture 6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45848" y="4718415"/>
            <a:ext cx="338877" cy="338877"/>
          </a:xfrm>
          <a:prstGeom prst="rect">
            <a:avLst/>
          </a:prstGeom>
        </p:spPr>
      </p:pic>
      <p:sp>
        <p:nvSpPr>
          <p:cNvPr id="69" name="Oval 68"/>
          <p:cNvSpPr/>
          <p:nvPr/>
        </p:nvSpPr>
        <p:spPr>
          <a:xfrm>
            <a:off x="5046463" y="4498564"/>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70" name="Picture 69"/>
          <p:cNvPicPr>
            <a:picLocks noChangeAspect="1"/>
          </p:cNvPicPr>
          <p:nvPr/>
        </p:nvPicPr>
        <p:blipFill>
          <a:blip r:embed="rId3" cstate="print"/>
          <a:stretch>
            <a:fillRect/>
          </a:stretch>
        </p:blipFill>
        <p:spPr>
          <a:xfrm>
            <a:off x="2352656" y="2296896"/>
            <a:ext cx="367682" cy="511171"/>
          </a:xfrm>
          <a:prstGeom prst="rect">
            <a:avLst/>
          </a:prstGeom>
        </p:spPr>
      </p:pic>
      <p:pic>
        <p:nvPicPr>
          <p:cNvPr id="71" name="Picture 7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72" name="Down Arrow 71"/>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73" name="Down Arrow 72"/>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74" name="TextBox 73"/>
          <p:cNvSpPr txBox="1"/>
          <p:nvPr/>
        </p:nvSpPr>
        <p:spPr>
          <a:xfrm>
            <a:off x="2252382" y="2821769"/>
            <a:ext cx="568229" cy="295915"/>
          </a:xfrm>
          <a:prstGeom prst="rect">
            <a:avLst/>
          </a:prstGeom>
          <a:noFill/>
        </p:spPr>
        <p:txBody>
          <a:bodyPr wrap="square" rtlCol="0">
            <a:spAutoFit/>
          </a:bodyPr>
          <a:lstStyle/>
          <a:p>
            <a:r>
              <a:rPr lang="en-US" sz="1323" dirty="0"/>
              <a:t>Dev</a:t>
            </a:r>
          </a:p>
        </p:txBody>
      </p:sp>
      <p:cxnSp>
        <p:nvCxnSpPr>
          <p:cNvPr id="75" name="Straight Arrow Connector 74"/>
          <p:cNvCxnSpPr/>
          <p:nvPr/>
        </p:nvCxnSpPr>
        <p:spPr>
          <a:xfrm>
            <a:off x="4184729" y="4856489"/>
            <a:ext cx="443338"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a:stCxn id="62" idx="1"/>
          </p:cNvCxnSpPr>
          <p:nvPr/>
        </p:nvCxnSpPr>
        <p:spPr>
          <a:xfrm flipH="1" flipV="1">
            <a:off x="2749791" y="4856490"/>
            <a:ext cx="643633" cy="1"/>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2820611" y="2502518"/>
            <a:ext cx="312468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5546300" y="4856489"/>
            <a:ext cx="85448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79" name="Picture 7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77061" y="4282643"/>
            <a:ext cx="482135" cy="745090"/>
          </a:xfrm>
          <a:prstGeom prst="rect">
            <a:avLst/>
          </a:prstGeom>
        </p:spPr>
      </p:pic>
      <p:pic>
        <p:nvPicPr>
          <p:cNvPr id="80" name="Picture 7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38079" y="4188640"/>
            <a:ext cx="720969" cy="720969"/>
          </a:xfrm>
          <a:prstGeom prst="rect">
            <a:avLst/>
          </a:prstGeom>
        </p:spPr>
      </p:pic>
      <p:pic>
        <p:nvPicPr>
          <p:cNvPr id="81" name="Picture 8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11736" y="4214644"/>
            <a:ext cx="593792" cy="593792"/>
          </a:xfrm>
          <a:prstGeom prst="rect">
            <a:avLst/>
          </a:prstGeom>
        </p:spPr>
      </p:pic>
      <p:pic>
        <p:nvPicPr>
          <p:cNvPr id="82" name="Picture 8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604764" y="4471701"/>
            <a:ext cx="673470" cy="673470"/>
          </a:xfrm>
          <a:prstGeom prst="rect">
            <a:avLst/>
          </a:prstGeom>
        </p:spPr>
      </p:pic>
      <p:cxnSp>
        <p:nvCxnSpPr>
          <p:cNvPr id="83" name="Straight Arrow Connector 82"/>
          <p:cNvCxnSpPr/>
          <p:nvPr/>
        </p:nvCxnSpPr>
        <p:spPr>
          <a:xfrm>
            <a:off x="8232691" y="4835130"/>
            <a:ext cx="85448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84" name="Picture 8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363452" y="4261284"/>
            <a:ext cx="482135" cy="745090"/>
          </a:xfrm>
          <a:prstGeom prst="rect">
            <a:avLst/>
          </a:prstGeom>
        </p:spPr>
      </p:pic>
      <p:pic>
        <p:nvPicPr>
          <p:cNvPr id="85" name="Picture 8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924471" y="4167282"/>
            <a:ext cx="720969" cy="720969"/>
          </a:xfrm>
          <a:prstGeom prst="rect">
            <a:avLst/>
          </a:prstGeom>
        </p:spPr>
      </p:pic>
      <p:pic>
        <p:nvPicPr>
          <p:cNvPr id="86" name="Picture 8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598128" y="4193286"/>
            <a:ext cx="593792" cy="593792"/>
          </a:xfrm>
          <a:prstGeom prst="rect">
            <a:avLst/>
          </a:prstGeom>
        </p:spPr>
      </p:pic>
      <p:pic>
        <p:nvPicPr>
          <p:cNvPr id="87" name="Picture 8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291156" y="4450342"/>
            <a:ext cx="673470" cy="673470"/>
          </a:xfrm>
          <a:prstGeom prst="rect">
            <a:avLst/>
          </a:prstGeom>
        </p:spPr>
      </p:pic>
      <p:sp>
        <p:nvSpPr>
          <p:cNvPr id="88" name="Flowchart: Document 87"/>
          <p:cNvSpPr/>
          <p:nvPr/>
        </p:nvSpPr>
        <p:spPr>
          <a:xfrm>
            <a:off x="6312498" y="2047788"/>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a:t>Alter table Orders</a:t>
            </a:r>
          </a:p>
          <a:p>
            <a:r>
              <a:rPr lang="en-US" sz="756"/>
              <a:t>Add status tinyint;</a:t>
            </a:r>
          </a:p>
          <a:p>
            <a:endParaRPr lang="en-US" sz="756"/>
          </a:p>
          <a:p>
            <a:r>
              <a:rPr lang="en-US" sz="756"/>
              <a:t>Create procedure GetOrders</a:t>
            </a:r>
          </a:p>
          <a:p>
            <a:r>
              <a:rPr lang="en-US" sz="756"/>
              <a:t>…..</a:t>
            </a:r>
            <a:endParaRPr lang="en-US" sz="756" dirty="0"/>
          </a:p>
        </p:txBody>
      </p:sp>
      <p:sp>
        <p:nvSpPr>
          <p:cNvPr id="89" name="Flowchart: Document 88"/>
          <p:cNvSpPr/>
          <p:nvPr/>
        </p:nvSpPr>
        <p:spPr>
          <a:xfrm>
            <a:off x="9188539" y="2003670"/>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a:t>Alter table Orders</a:t>
            </a:r>
          </a:p>
          <a:p>
            <a:r>
              <a:rPr lang="en-US" sz="756"/>
              <a:t>Add status tinyint;</a:t>
            </a:r>
          </a:p>
          <a:p>
            <a:endParaRPr lang="en-US" sz="756"/>
          </a:p>
          <a:p>
            <a:r>
              <a:rPr lang="en-US" sz="756"/>
              <a:t>Create procedure GetOrders</a:t>
            </a:r>
          </a:p>
          <a:p>
            <a:r>
              <a:rPr lang="en-US" sz="756"/>
              <a:t>…..</a:t>
            </a:r>
            <a:endParaRPr lang="en-US" sz="756" dirty="0"/>
          </a:p>
        </p:txBody>
      </p:sp>
      <p:cxnSp>
        <p:nvCxnSpPr>
          <p:cNvPr id="90" name="Straight Arrow Connector 89"/>
          <p:cNvCxnSpPr/>
          <p:nvPr/>
        </p:nvCxnSpPr>
        <p:spPr>
          <a:xfrm flipV="1">
            <a:off x="7995200" y="2497812"/>
            <a:ext cx="1159197" cy="4705"/>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p:nvPr>
        </p:nvSpPr>
        <p:spPr/>
        <p:txBody>
          <a:bodyPr/>
          <a:lstStyle/>
          <a:p>
            <a:endParaRPr lang="en-IE"/>
          </a:p>
        </p:txBody>
      </p:sp>
      <p:sp>
        <p:nvSpPr>
          <p:cNvPr id="48"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91031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66667E-6 1.48148E-6 C 0.01862 1.48148E-6 0.03411 0.02037 0.03411 0.04583 C 0.03411 0.07129 0.01862 0.09236 1.66667E-6 0.09236 C -0.01901 0.09236 -0.03412 0.07129 -0.03412 0.04583 C -0.03412 0.02037 -0.01901 1.48148E-6 1.66667E-6 1.48148E-6 Z " pathEditMode="relative" rAng="0" ptsTypes="AAAAA">
                                      <p:cBhvr>
                                        <p:cTn id="6" dur="2000" fill="hold"/>
                                        <p:tgtEl>
                                          <p:spTgt spid="69"/>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pic>
        <p:nvPicPr>
          <p:cNvPr id="6" name="Picture 5"/>
          <p:cNvPicPr>
            <a:picLocks noChangeAspect="1"/>
          </p:cNvPicPr>
          <p:nvPr/>
        </p:nvPicPr>
        <p:blipFill>
          <a:blip r:embed="rId4" cstate="print"/>
          <a:stretch>
            <a:fillRect/>
          </a:stretch>
        </p:blipFill>
        <p:spPr>
          <a:xfrm>
            <a:off x="2352656" y="2296896"/>
            <a:ext cx="367682" cy="511171"/>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4" name="Down Arrow 23"/>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25" name="Down Arrow 24"/>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38" name="TextBox 37"/>
          <p:cNvSpPr txBox="1"/>
          <p:nvPr/>
        </p:nvSpPr>
        <p:spPr>
          <a:xfrm>
            <a:off x="2252382" y="2821769"/>
            <a:ext cx="568229" cy="295915"/>
          </a:xfrm>
          <a:prstGeom prst="rect">
            <a:avLst/>
          </a:prstGeom>
          <a:noFill/>
        </p:spPr>
        <p:txBody>
          <a:bodyPr wrap="square" rtlCol="0">
            <a:spAutoFit/>
          </a:bodyPr>
          <a:lstStyle/>
          <a:p>
            <a:r>
              <a:rPr lang="en-US" sz="1323" dirty="0"/>
              <a:t>Dev</a:t>
            </a:r>
          </a:p>
        </p:txBody>
      </p:sp>
      <p:sp>
        <p:nvSpPr>
          <p:cNvPr id="5" name="Title 4"/>
          <p:cNvSpPr>
            <a:spLocks noGrp="1"/>
          </p:cNvSpPr>
          <p:nvPr>
            <p:ph type="title"/>
          </p:nvPr>
        </p:nvSpPr>
        <p:spPr/>
        <p:txBody>
          <a:bodyPr/>
          <a:lstStyle/>
          <a:p>
            <a:endParaRPr lang="en-IE"/>
          </a:p>
        </p:txBody>
      </p:sp>
      <p:sp>
        <p:nvSpPr>
          <p:cNvPr id="16"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2464925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pic>
        <p:nvPicPr>
          <p:cNvPr id="6" name="Picture 5"/>
          <p:cNvPicPr>
            <a:picLocks noChangeAspect="1"/>
          </p:cNvPicPr>
          <p:nvPr/>
        </p:nvPicPr>
        <p:blipFill>
          <a:blip r:embed="rId4" cstate="print"/>
          <a:stretch>
            <a:fillRect/>
          </a:stretch>
        </p:blipFill>
        <p:spPr>
          <a:xfrm>
            <a:off x="2352656" y="2296896"/>
            <a:ext cx="367682" cy="511171"/>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4" name="Down Arrow 23"/>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25" name="Down Arrow 24"/>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5545" y="3440875"/>
            <a:ext cx="769579" cy="769579"/>
          </a:xfrm>
          <a:prstGeom prst="rect">
            <a:avLst/>
          </a:prstGeom>
        </p:spPr>
      </p:pic>
      <p:sp>
        <p:nvSpPr>
          <p:cNvPr id="38" name="TextBox 37"/>
          <p:cNvSpPr txBox="1"/>
          <p:nvPr/>
        </p:nvSpPr>
        <p:spPr>
          <a:xfrm>
            <a:off x="2252382" y="2821769"/>
            <a:ext cx="568229" cy="295915"/>
          </a:xfrm>
          <a:prstGeom prst="rect">
            <a:avLst/>
          </a:prstGeom>
          <a:noFill/>
        </p:spPr>
        <p:txBody>
          <a:bodyPr wrap="square" rtlCol="0">
            <a:spAutoFit/>
          </a:bodyPr>
          <a:lstStyle/>
          <a:p>
            <a:r>
              <a:rPr lang="en-US" sz="1323" dirty="0"/>
              <a:t>Dev</a:t>
            </a:r>
          </a:p>
        </p:txBody>
      </p:sp>
      <p:cxnSp>
        <p:nvCxnSpPr>
          <p:cNvPr id="69" name="Straight Arrow Connector 68"/>
          <p:cNvCxnSpPr/>
          <p:nvPr/>
        </p:nvCxnSpPr>
        <p:spPr>
          <a:xfrm>
            <a:off x="2660349" y="2999719"/>
            <a:ext cx="468492" cy="502127"/>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p:nvPr/>
        </p:nvCxnSpPr>
        <p:spPr>
          <a:xfrm flipH="1">
            <a:off x="2673547" y="4146343"/>
            <a:ext cx="477473" cy="505266"/>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p>
            <a:endParaRPr lang="en-IE"/>
          </a:p>
        </p:txBody>
      </p:sp>
      <p:sp>
        <p:nvSpPr>
          <p:cNvPr id="19"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993891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pic>
        <p:nvPicPr>
          <p:cNvPr id="6" name="Picture 5"/>
          <p:cNvPicPr>
            <a:picLocks noChangeAspect="1"/>
          </p:cNvPicPr>
          <p:nvPr/>
        </p:nvPicPr>
        <p:blipFill>
          <a:blip r:embed="rId4" cstate="print"/>
          <a:stretch>
            <a:fillRect/>
          </a:stretch>
        </p:blipFill>
        <p:spPr>
          <a:xfrm>
            <a:off x="2352656" y="2296896"/>
            <a:ext cx="367682" cy="511171"/>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4" name="Down Arrow 23"/>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25" name="Down Arrow 24"/>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5545" y="3440875"/>
            <a:ext cx="769579" cy="769579"/>
          </a:xfrm>
          <a:prstGeom prst="rect">
            <a:avLst/>
          </a:prstGeom>
        </p:spPr>
      </p:pic>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pic>
        <p:nvPicPr>
          <p:cNvPr id="27" name="Picture 26"/>
          <p:cNvPicPr>
            <a:picLocks noChangeAspect="1"/>
          </p:cNvPicPr>
          <p:nvPr/>
        </p:nvPicPr>
        <p:blipFill>
          <a:blip r:embed="rId7" cstate="print"/>
          <a:stretch>
            <a:fillRect/>
          </a:stretch>
        </p:blipFill>
        <p:spPr>
          <a:xfrm>
            <a:off x="4771178" y="3543492"/>
            <a:ext cx="674247" cy="645309"/>
          </a:xfrm>
          <a:prstGeom prst="rect">
            <a:avLst/>
          </a:prstGeom>
        </p:spPr>
      </p:pic>
      <p:sp>
        <p:nvSpPr>
          <p:cNvPr id="28" name="Rectangle 27"/>
          <p:cNvSpPr/>
          <p:nvPr/>
        </p:nvSpPr>
        <p:spPr>
          <a:xfrm>
            <a:off x="4684328" y="3579042"/>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29" name="Rectangle 28"/>
          <p:cNvSpPr/>
          <p:nvPr/>
        </p:nvSpPr>
        <p:spPr>
          <a:xfrm>
            <a:off x="4632589" y="402355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33" name="Rectangle 32"/>
          <p:cNvSpPr/>
          <p:nvPr/>
        </p:nvSpPr>
        <p:spPr>
          <a:xfrm>
            <a:off x="5277891" y="355147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34" name="Rectangle 33"/>
          <p:cNvSpPr/>
          <p:nvPr/>
        </p:nvSpPr>
        <p:spPr>
          <a:xfrm>
            <a:off x="5246889" y="4023557"/>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13" name="Picture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50370" y="3721696"/>
            <a:ext cx="338877" cy="338877"/>
          </a:xfrm>
          <a:prstGeom prst="rect">
            <a:avLst/>
          </a:prstGeom>
        </p:spPr>
      </p:pic>
      <p:sp>
        <p:nvSpPr>
          <p:cNvPr id="38" name="TextBox 37"/>
          <p:cNvSpPr txBox="1"/>
          <p:nvPr/>
        </p:nvSpPr>
        <p:spPr>
          <a:xfrm>
            <a:off x="2252382" y="2821769"/>
            <a:ext cx="568229" cy="295915"/>
          </a:xfrm>
          <a:prstGeom prst="rect">
            <a:avLst/>
          </a:prstGeom>
          <a:noFill/>
        </p:spPr>
        <p:txBody>
          <a:bodyPr wrap="square" rtlCol="0">
            <a:spAutoFit/>
          </a:bodyPr>
          <a:lstStyle/>
          <a:p>
            <a:r>
              <a:rPr lang="en-US" sz="1323" dirty="0"/>
              <a:t>Dev</a:t>
            </a:r>
          </a:p>
        </p:txBody>
      </p:sp>
      <p:sp>
        <p:nvSpPr>
          <p:cNvPr id="41" name="Oval 40"/>
          <p:cNvSpPr/>
          <p:nvPr/>
        </p:nvSpPr>
        <p:spPr>
          <a:xfrm>
            <a:off x="5050985" y="3501846"/>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cxnSp>
        <p:nvCxnSpPr>
          <p:cNvPr id="64" name="Straight Arrow Connector 63"/>
          <p:cNvCxnSpPr/>
          <p:nvPr/>
        </p:nvCxnSpPr>
        <p:spPr>
          <a:xfrm>
            <a:off x="3866947" y="3824670"/>
            <a:ext cx="761119"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a:off x="2660349" y="2999719"/>
            <a:ext cx="468492" cy="502127"/>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p:nvPr/>
        </p:nvCxnSpPr>
        <p:spPr>
          <a:xfrm flipH="1">
            <a:off x="2673547" y="4146343"/>
            <a:ext cx="477473" cy="505266"/>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p>
            <a:endParaRPr lang="en-IE"/>
          </a:p>
        </p:txBody>
      </p:sp>
      <p:sp>
        <p:nvSpPr>
          <p:cNvPr id="30"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29964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04167E-6 -4.81481E-6 C 0.01862 -4.81481E-6 0.03411 0.02038 0.03411 0.04584 C 0.03411 0.0713 0.01862 0.09237 1.04167E-6 0.09237 C -0.01901 0.09237 -0.03412 0.0713 -0.03412 0.04584 C -0.03412 0.02038 -0.01901 -4.81481E-6 1.04167E-6 -4.81481E-6 Z " pathEditMode="relative" rAng="0" ptsTypes="AAAAA">
                                      <p:cBhvr>
                                        <p:cTn id="6" dur="2000" fill="hold"/>
                                        <p:tgtEl>
                                          <p:spTgt spid="41"/>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pic>
        <p:nvPicPr>
          <p:cNvPr id="6" name="Picture 5"/>
          <p:cNvPicPr>
            <a:picLocks noChangeAspect="1"/>
          </p:cNvPicPr>
          <p:nvPr/>
        </p:nvPicPr>
        <p:blipFill>
          <a:blip r:embed="rId4" cstate="print"/>
          <a:stretch>
            <a:fillRect/>
          </a:stretch>
        </p:blipFill>
        <p:spPr>
          <a:xfrm>
            <a:off x="2352656" y="2296896"/>
            <a:ext cx="367682" cy="511171"/>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4" name="Down Arrow 23"/>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25" name="Down Arrow 24"/>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5545" y="3440875"/>
            <a:ext cx="769579" cy="769579"/>
          </a:xfrm>
          <a:prstGeom prst="rect">
            <a:avLst/>
          </a:prstGeom>
        </p:spPr>
      </p:pic>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pic>
        <p:nvPicPr>
          <p:cNvPr id="27" name="Picture 26"/>
          <p:cNvPicPr>
            <a:picLocks noChangeAspect="1"/>
          </p:cNvPicPr>
          <p:nvPr/>
        </p:nvPicPr>
        <p:blipFill>
          <a:blip r:embed="rId7" cstate="print"/>
          <a:stretch>
            <a:fillRect/>
          </a:stretch>
        </p:blipFill>
        <p:spPr>
          <a:xfrm>
            <a:off x="4771178" y="3543492"/>
            <a:ext cx="674247" cy="645309"/>
          </a:xfrm>
          <a:prstGeom prst="rect">
            <a:avLst/>
          </a:prstGeom>
        </p:spPr>
      </p:pic>
      <p:sp>
        <p:nvSpPr>
          <p:cNvPr id="28" name="Rectangle 27"/>
          <p:cNvSpPr/>
          <p:nvPr/>
        </p:nvSpPr>
        <p:spPr>
          <a:xfrm>
            <a:off x="4684328" y="3579042"/>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29" name="Rectangle 28"/>
          <p:cNvSpPr/>
          <p:nvPr/>
        </p:nvSpPr>
        <p:spPr>
          <a:xfrm>
            <a:off x="4632589" y="402355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33" name="Rectangle 32"/>
          <p:cNvSpPr/>
          <p:nvPr/>
        </p:nvSpPr>
        <p:spPr>
          <a:xfrm>
            <a:off x="5277891" y="355147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34" name="Rectangle 33"/>
          <p:cNvSpPr/>
          <p:nvPr/>
        </p:nvSpPr>
        <p:spPr>
          <a:xfrm>
            <a:off x="5246889" y="4023557"/>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13" name="Picture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50370" y="3721696"/>
            <a:ext cx="338877" cy="338877"/>
          </a:xfrm>
          <a:prstGeom prst="rect">
            <a:avLst/>
          </a:prstGeom>
        </p:spPr>
      </p:pic>
      <p:sp>
        <p:nvSpPr>
          <p:cNvPr id="32" name="Pentagon 31"/>
          <p:cNvSpPr/>
          <p:nvPr/>
        </p:nvSpPr>
        <p:spPr>
          <a:xfrm>
            <a:off x="5945292" y="1389372"/>
            <a:ext cx="2944637"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Testing</a:t>
            </a:r>
          </a:p>
        </p:txBody>
      </p:sp>
      <p:pic>
        <p:nvPicPr>
          <p:cNvPr id="37" name="Picture 36"/>
          <p:cNvPicPr>
            <a:picLocks noChangeAspect="1"/>
          </p:cNvPicPr>
          <p:nvPr/>
        </p:nvPicPr>
        <p:blipFill>
          <a:blip r:embed="rId4" cstate="print"/>
          <a:stretch>
            <a:fillRect/>
          </a:stretch>
        </p:blipFill>
        <p:spPr>
          <a:xfrm>
            <a:off x="7754357" y="2819229"/>
            <a:ext cx="367682" cy="511171"/>
          </a:xfrm>
          <a:prstGeom prst="rect">
            <a:avLst/>
          </a:prstGeom>
        </p:spPr>
      </p:pic>
      <p:sp>
        <p:nvSpPr>
          <p:cNvPr id="18" name="TextBox 17"/>
          <p:cNvSpPr txBox="1"/>
          <p:nvPr/>
        </p:nvSpPr>
        <p:spPr>
          <a:xfrm>
            <a:off x="7699539" y="3285208"/>
            <a:ext cx="568229" cy="295915"/>
          </a:xfrm>
          <a:prstGeom prst="rect">
            <a:avLst/>
          </a:prstGeom>
          <a:noFill/>
        </p:spPr>
        <p:txBody>
          <a:bodyPr wrap="square" rtlCol="0">
            <a:spAutoFit/>
          </a:bodyPr>
          <a:lstStyle/>
          <a:p>
            <a:r>
              <a:rPr lang="en-US" sz="1323" dirty="0"/>
              <a:t>QA</a:t>
            </a:r>
          </a:p>
        </p:txBody>
      </p:sp>
      <p:sp>
        <p:nvSpPr>
          <p:cNvPr id="38" name="TextBox 37"/>
          <p:cNvSpPr txBox="1"/>
          <p:nvPr/>
        </p:nvSpPr>
        <p:spPr>
          <a:xfrm>
            <a:off x="2252382" y="2821769"/>
            <a:ext cx="568229" cy="295915"/>
          </a:xfrm>
          <a:prstGeom prst="rect">
            <a:avLst/>
          </a:prstGeom>
          <a:noFill/>
        </p:spPr>
        <p:txBody>
          <a:bodyPr wrap="square" rtlCol="0">
            <a:spAutoFit/>
          </a:bodyPr>
          <a:lstStyle/>
          <a:p>
            <a:r>
              <a:rPr lang="en-US" sz="1323" dirty="0"/>
              <a:t>Dev</a:t>
            </a:r>
          </a:p>
        </p:txBody>
      </p:sp>
      <p:sp>
        <p:nvSpPr>
          <p:cNvPr id="41" name="Oval 40"/>
          <p:cNvSpPr/>
          <p:nvPr/>
        </p:nvSpPr>
        <p:spPr>
          <a:xfrm>
            <a:off x="5050985" y="3501846"/>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40" name="Flowchart: Document 39"/>
          <p:cNvSpPr/>
          <p:nvPr/>
        </p:nvSpPr>
        <p:spPr>
          <a:xfrm>
            <a:off x="6328482" y="2769801"/>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a:t>Alter table Orders</a:t>
            </a:r>
          </a:p>
          <a:p>
            <a:r>
              <a:rPr lang="en-US" sz="756"/>
              <a:t>Add status tinyint;</a:t>
            </a:r>
          </a:p>
          <a:p>
            <a:endParaRPr lang="en-US" sz="756"/>
          </a:p>
          <a:p>
            <a:r>
              <a:rPr lang="en-US" sz="756"/>
              <a:t>Create procedure GetOrders</a:t>
            </a:r>
          </a:p>
          <a:p>
            <a:r>
              <a:rPr lang="en-US" sz="756"/>
              <a:t>…..</a:t>
            </a:r>
            <a:endParaRPr lang="en-US" sz="756" dirty="0"/>
          </a:p>
        </p:txBody>
      </p:sp>
      <p:pic>
        <p:nvPicPr>
          <p:cNvPr id="56" name="Picture 5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64517" y="3824670"/>
            <a:ext cx="482135" cy="745090"/>
          </a:xfrm>
          <a:prstGeom prst="rect">
            <a:avLst/>
          </a:prstGeom>
        </p:spPr>
      </p:pic>
      <p:pic>
        <p:nvPicPr>
          <p:cNvPr id="59" name="Picture 5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225536" y="3730667"/>
            <a:ext cx="720969" cy="720969"/>
          </a:xfrm>
          <a:prstGeom prst="rect">
            <a:avLst/>
          </a:prstGeom>
        </p:spPr>
      </p:pic>
      <p:pic>
        <p:nvPicPr>
          <p:cNvPr id="60" name="Picture 5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99192" y="3756671"/>
            <a:ext cx="593792" cy="593792"/>
          </a:xfrm>
          <a:prstGeom prst="rect">
            <a:avLst/>
          </a:prstGeom>
        </p:spPr>
      </p:pic>
      <p:pic>
        <p:nvPicPr>
          <p:cNvPr id="61" name="Picture 6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592221" y="4013728"/>
            <a:ext cx="673470" cy="673470"/>
          </a:xfrm>
          <a:prstGeom prst="rect">
            <a:avLst/>
          </a:prstGeom>
        </p:spPr>
      </p:pic>
      <p:cxnSp>
        <p:nvCxnSpPr>
          <p:cNvPr id="63" name="Straight Arrow Connector 62"/>
          <p:cNvCxnSpPr/>
          <p:nvPr/>
        </p:nvCxnSpPr>
        <p:spPr>
          <a:xfrm>
            <a:off x="5566664" y="3866147"/>
            <a:ext cx="65887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p:nvPr/>
        </p:nvCxnSpPr>
        <p:spPr>
          <a:xfrm>
            <a:off x="3866947" y="3824670"/>
            <a:ext cx="761119"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a:off x="2660349" y="2999719"/>
            <a:ext cx="468492" cy="502127"/>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p:nvPr/>
        </p:nvCxnSpPr>
        <p:spPr>
          <a:xfrm flipH="1">
            <a:off x="2673547" y="4146343"/>
            <a:ext cx="477473" cy="505266"/>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p>
            <a:endParaRPr lang="en-IE"/>
          </a:p>
        </p:txBody>
      </p:sp>
      <p:sp>
        <p:nvSpPr>
          <p:cNvPr id="39"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54575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04167E-6 -4.81481E-6 C 0.01862 -4.81481E-6 0.03411 0.02038 0.03411 0.04584 C 0.03411 0.0713 0.01862 0.09237 1.04167E-6 0.09237 C -0.01901 0.09237 -0.03412 0.0713 -0.03412 0.04584 C -0.03412 0.02038 -0.01901 -4.81481E-6 1.04167E-6 -4.81481E-6 Z " pathEditMode="relative" rAng="0" ptsTypes="AAAAA">
                                      <p:cBhvr>
                                        <p:cTn id="6" dur="2000" fill="hold"/>
                                        <p:tgtEl>
                                          <p:spTgt spid="41"/>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77534" y="3866147"/>
            <a:ext cx="1544802" cy="1953355"/>
          </a:xfrm>
          <a:prstGeom prst="rect">
            <a:avLst/>
          </a:prstGeom>
          <a:noFill/>
          <a:ln>
            <a:solidFill>
              <a:schemeClr val="tx1"/>
            </a:solidFill>
          </a:ln>
        </p:spPr>
        <p:txBody>
          <a:bodyPr wrap="square" rtlCol="0">
            <a:spAutoFit/>
          </a:bodyPr>
          <a:lstStyle/>
          <a:p>
            <a:r>
              <a:rPr lang="en-US" sz="756" dirty="0"/>
              <a:t>using System;</a:t>
            </a:r>
          </a:p>
          <a:p>
            <a:r>
              <a:rPr lang="en-US" sz="756" dirty="0"/>
              <a:t>using </a:t>
            </a:r>
            <a:r>
              <a:rPr lang="en-US" sz="756" dirty="0" err="1"/>
              <a:t>System.Collections.Generic</a:t>
            </a:r>
            <a:r>
              <a:rPr lang="en-US" sz="756" dirty="0"/>
              <a:t>;</a:t>
            </a:r>
          </a:p>
          <a:p>
            <a:r>
              <a:rPr lang="en-US" sz="756" dirty="0"/>
              <a:t>using </a:t>
            </a:r>
            <a:r>
              <a:rPr lang="en-US" sz="756" dirty="0" err="1"/>
              <a:t>System.Text</a:t>
            </a:r>
            <a:r>
              <a:rPr lang="en-US" sz="756" dirty="0"/>
              <a:t>;</a:t>
            </a:r>
          </a:p>
          <a:p>
            <a:r>
              <a:rPr lang="en-US" sz="756" dirty="0"/>
              <a:t>using </a:t>
            </a:r>
            <a:r>
              <a:rPr lang="en-US" sz="756" dirty="0" err="1"/>
              <a:t>eBay.Service.Core.Sdk</a:t>
            </a:r>
            <a:r>
              <a:rPr lang="en-US" sz="756" dirty="0"/>
              <a:t>;</a:t>
            </a:r>
          </a:p>
          <a:p>
            <a:r>
              <a:rPr lang="en-US" sz="756" dirty="0"/>
              <a:t>using </a:t>
            </a:r>
            <a:r>
              <a:rPr lang="en-US" sz="756" dirty="0" err="1"/>
              <a:t>eBay.Service.Core.Soap</a:t>
            </a:r>
            <a:r>
              <a:rPr lang="en-US" sz="756" dirty="0"/>
              <a:t>;</a:t>
            </a:r>
          </a:p>
          <a:p>
            <a:r>
              <a:rPr lang="en-US" sz="756" dirty="0"/>
              <a:t>namespace </a:t>
            </a:r>
            <a:r>
              <a:rPr lang="en-US" sz="756" dirty="0" err="1"/>
              <a:t>Trading_Samples</a:t>
            </a:r>
            <a:endParaRPr lang="en-US" sz="756" dirty="0"/>
          </a:p>
          <a:p>
            <a:r>
              <a:rPr lang="en-US" sz="756" dirty="0"/>
              <a:t>{</a:t>
            </a:r>
          </a:p>
          <a:p>
            <a:r>
              <a:rPr lang="en-US" sz="756" dirty="0"/>
              <a:t>    class Program</a:t>
            </a:r>
          </a:p>
          <a:p>
            <a:r>
              <a:rPr lang="en-US" sz="756" dirty="0"/>
              <a:t>    {</a:t>
            </a:r>
          </a:p>
          <a:p>
            <a:r>
              <a:rPr lang="en-US" sz="756" dirty="0"/>
              <a:t>        static void Main(string[] </a:t>
            </a:r>
            <a:r>
              <a:rPr lang="en-US" sz="756" dirty="0" err="1"/>
              <a:t>args</a:t>
            </a:r>
            <a:r>
              <a:rPr lang="en-US" sz="756" dirty="0"/>
              <a:t>)</a:t>
            </a:r>
          </a:p>
          <a:p>
            <a:r>
              <a:rPr lang="en-US" sz="756" dirty="0"/>
              <a:t>        {</a:t>
            </a:r>
          </a:p>
          <a:p>
            <a:r>
              <a:rPr lang="en-US" sz="756" dirty="0"/>
              <a:t>            </a:t>
            </a:r>
            <a:r>
              <a:rPr lang="en-US" sz="756" dirty="0" err="1"/>
              <a:t>MakeGetOrders</a:t>
            </a:r>
            <a:r>
              <a:rPr lang="en-US" sz="756" dirty="0"/>
              <a:t>();</a:t>
            </a:r>
          </a:p>
          <a:p>
            <a:r>
              <a:rPr lang="en-US" sz="756" dirty="0"/>
              <a:t>            </a:t>
            </a:r>
            <a:r>
              <a:rPr lang="en-US" sz="756" dirty="0" err="1"/>
              <a:t>Console.ReadLine</a:t>
            </a:r>
            <a:r>
              <a:rPr lang="en-US" sz="756" dirty="0"/>
              <a:t>();</a:t>
            </a:r>
          </a:p>
          <a:p>
            <a:endParaRPr lang="en-US" sz="756" dirty="0"/>
          </a:p>
        </p:txBody>
      </p:sp>
      <p:pic>
        <p:nvPicPr>
          <p:cNvPr id="3" name="Picture 2"/>
          <p:cNvPicPr>
            <a:picLocks noChangeAspect="1"/>
          </p:cNvPicPr>
          <p:nvPr/>
        </p:nvPicPr>
        <p:blipFill>
          <a:blip r:embed="rId3" cstate="print"/>
          <a:stretch>
            <a:fillRect/>
          </a:stretch>
        </p:blipFill>
        <p:spPr>
          <a:xfrm>
            <a:off x="421234" y="2073239"/>
            <a:ext cx="194106" cy="393553"/>
          </a:xfrm>
          <a:prstGeom prst="rect">
            <a:avLst/>
          </a:prstGeom>
        </p:spPr>
      </p:pic>
      <p:pic>
        <p:nvPicPr>
          <p:cNvPr id="4" name="Picture 3"/>
          <p:cNvPicPr>
            <a:picLocks noChangeAspect="1"/>
          </p:cNvPicPr>
          <p:nvPr/>
        </p:nvPicPr>
        <p:blipFill>
          <a:blip r:embed="rId3" cstate="print"/>
          <a:stretch>
            <a:fillRect/>
          </a:stretch>
        </p:blipFill>
        <p:spPr>
          <a:xfrm>
            <a:off x="383367" y="3074562"/>
            <a:ext cx="194106" cy="393553"/>
          </a:xfrm>
          <a:prstGeom prst="rect">
            <a:avLst/>
          </a:prstGeom>
        </p:spPr>
      </p:pic>
      <p:pic>
        <p:nvPicPr>
          <p:cNvPr id="6" name="Picture 5"/>
          <p:cNvPicPr>
            <a:picLocks noChangeAspect="1"/>
          </p:cNvPicPr>
          <p:nvPr/>
        </p:nvPicPr>
        <p:blipFill>
          <a:blip r:embed="rId4" cstate="print"/>
          <a:stretch>
            <a:fillRect/>
          </a:stretch>
        </p:blipFill>
        <p:spPr>
          <a:xfrm>
            <a:off x="2352656" y="2296896"/>
            <a:ext cx="367682" cy="511171"/>
          </a:xfrm>
          <a:prstGeom prst="rect">
            <a:avLst/>
          </a:prstGeom>
        </p:spPr>
      </p:pic>
      <p:sp>
        <p:nvSpPr>
          <p:cNvPr id="7" name="TextBox 6"/>
          <p:cNvSpPr txBox="1"/>
          <p:nvPr/>
        </p:nvSpPr>
        <p:spPr>
          <a:xfrm>
            <a:off x="753782" y="2008311"/>
            <a:ext cx="1163358" cy="804195"/>
          </a:xfrm>
          <a:prstGeom prst="rect">
            <a:avLst/>
          </a:prstGeom>
          <a:noFill/>
          <a:ln>
            <a:solidFill>
              <a:schemeClr val="tx1"/>
            </a:solidFill>
          </a:ln>
        </p:spPr>
        <p:txBody>
          <a:bodyPr wrap="square" rtlCol="0">
            <a:spAutoFit/>
          </a:bodyPr>
          <a:lstStyle/>
          <a:p>
            <a:r>
              <a:rPr lang="en-US" sz="661" dirty="0"/>
              <a:t>Create table Orders</a:t>
            </a:r>
          </a:p>
          <a:p>
            <a:r>
              <a:rPr lang="en-US" sz="661" dirty="0"/>
              <a:t>( </a:t>
            </a:r>
            <a:r>
              <a:rPr lang="en-US" sz="661" dirty="0" err="1"/>
              <a:t>OrderID</a:t>
            </a:r>
            <a:r>
              <a:rPr lang="en-US" sz="661" dirty="0"/>
              <a:t> </a:t>
            </a:r>
            <a:r>
              <a:rPr lang="en-US" sz="661" dirty="0" err="1"/>
              <a:t>int</a:t>
            </a:r>
            <a:endParaRPr lang="en-US" sz="661" dirty="0"/>
          </a:p>
          <a:p>
            <a:r>
              <a:rPr lang="en-US" sz="661" dirty="0"/>
              <a:t>,  </a:t>
            </a:r>
            <a:r>
              <a:rPr lang="en-US" sz="661" dirty="0" err="1"/>
              <a:t>OrderDate</a:t>
            </a:r>
            <a:r>
              <a:rPr lang="en-US" sz="661" dirty="0"/>
              <a:t> </a:t>
            </a:r>
            <a:r>
              <a:rPr lang="en-US" sz="661" dirty="0" err="1"/>
              <a:t>datetime</a:t>
            </a:r>
            <a:endParaRPr lang="en-US" sz="661" dirty="0"/>
          </a:p>
          <a:p>
            <a:r>
              <a:rPr lang="en-US" sz="661" dirty="0"/>
              <a:t>, </a:t>
            </a:r>
            <a:r>
              <a:rPr lang="en-US" sz="661" dirty="0" err="1"/>
              <a:t>salesrep</a:t>
            </a:r>
            <a:r>
              <a:rPr lang="en-US" sz="661" dirty="0"/>
              <a:t> </a:t>
            </a:r>
            <a:r>
              <a:rPr lang="en-US" sz="661" dirty="0" err="1"/>
              <a:t>int</a:t>
            </a:r>
            <a:endParaRPr lang="en-US" sz="661" dirty="0"/>
          </a:p>
          <a:p>
            <a:r>
              <a:rPr lang="en-US" sz="661" dirty="0"/>
              <a:t>, </a:t>
            </a:r>
            <a:r>
              <a:rPr lang="en-US" sz="661" dirty="0" err="1"/>
              <a:t>customerid</a:t>
            </a:r>
            <a:r>
              <a:rPr lang="en-US" sz="661" dirty="0"/>
              <a:t> </a:t>
            </a:r>
            <a:r>
              <a:rPr lang="en-US" sz="661" dirty="0" err="1"/>
              <a:t>int</a:t>
            </a:r>
            <a:endParaRPr lang="en-US" sz="661" dirty="0"/>
          </a:p>
          <a:p>
            <a:r>
              <a:rPr lang="en-US" sz="661" dirty="0"/>
              <a:t>, status </a:t>
            </a:r>
            <a:r>
              <a:rPr lang="en-US" sz="661" dirty="0" err="1"/>
              <a:t>tnyint</a:t>
            </a:r>
            <a:endParaRPr lang="en-US" sz="661" dirty="0"/>
          </a:p>
          <a:p>
            <a:r>
              <a:rPr lang="en-US" sz="661" dirty="0"/>
              <a:t>)</a:t>
            </a:r>
          </a:p>
        </p:txBody>
      </p:sp>
      <p:sp>
        <p:nvSpPr>
          <p:cNvPr id="9" name="TextBox 8"/>
          <p:cNvSpPr txBox="1"/>
          <p:nvPr/>
        </p:nvSpPr>
        <p:spPr>
          <a:xfrm>
            <a:off x="692902" y="2889587"/>
            <a:ext cx="1399884" cy="804195"/>
          </a:xfrm>
          <a:prstGeom prst="rect">
            <a:avLst/>
          </a:prstGeom>
          <a:noFill/>
          <a:ln>
            <a:solidFill>
              <a:schemeClr val="tx1"/>
            </a:solidFill>
          </a:ln>
        </p:spPr>
        <p:txBody>
          <a:bodyPr wrap="square" rtlCol="0">
            <a:spAutoFit/>
          </a:bodyPr>
          <a:lstStyle/>
          <a:p>
            <a:r>
              <a:rPr lang="en-US" sz="661" dirty="0"/>
              <a:t>Create procedure </a:t>
            </a:r>
            <a:r>
              <a:rPr lang="en-US" sz="661" dirty="0" err="1"/>
              <a:t>GetOrders</a:t>
            </a:r>
            <a:endParaRPr lang="en-US" sz="661" dirty="0"/>
          </a:p>
          <a:p>
            <a:r>
              <a:rPr lang="en-US" sz="661" dirty="0"/>
              <a:t>   @o </a:t>
            </a:r>
            <a:r>
              <a:rPr lang="en-US" sz="661" dirty="0" err="1"/>
              <a:t>datetime</a:t>
            </a:r>
            <a:endParaRPr lang="en-US" sz="661" dirty="0"/>
          </a:p>
          <a:p>
            <a:r>
              <a:rPr lang="en-US" sz="661" dirty="0"/>
              <a:t>As</a:t>
            </a:r>
          </a:p>
          <a:p>
            <a:r>
              <a:rPr lang="en-US" sz="661" dirty="0"/>
              <a:t>Begin</a:t>
            </a:r>
          </a:p>
          <a:p>
            <a:r>
              <a:rPr lang="en-US" sz="661" dirty="0"/>
              <a:t>Select *</a:t>
            </a:r>
          </a:p>
          <a:p>
            <a:r>
              <a:rPr lang="en-US" sz="661" dirty="0"/>
              <a:t> from orders</a:t>
            </a:r>
          </a:p>
          <a:p>
            <a:r>
              <a:rPr lang="en-US" sz="661" dirty="0"/>
              <a:t>Where </a:t>
            </a:r>
            <a:r>
              <a:rPr lang="en-US" sz="661" dirty="0" err="1"/>
              <a:t>orderdate</a:t>
            </a:r>
            <a:r>
              <a:rPr lang="en-US" sz="661" dirty="0"/>
              <a:t> &gt; @o</a:t>
            </a:r>
          </a:p>
        </p:txBody>
      </p:sp>
      <p:pic>
        <p:nvPicPr>
          <p:cNvPr id="10" name="Picture 9"/>
          <p:cNvPicPr>
            <a:picLocks noChangeAspect="1"/>
          </p:cNvPicPr>
          <p:nvPr/>
        </p:nvPicPr>
        <p:blipFill>
          <a:blip r:embed="rId3" cstate="print"/>
          <a:stretch>
            <a:fillRect/>
          </a:stretch>
        </p:blipFill>
        <p:spPr>
          <a:xfrm>
            <a:off x="421235" y="3992028"/>
            <a:ext cx="194106" cy="39355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4528" y="4663812"/>
            <a:ext cx="424627" cy="424627"/>
          </a:xfrm>
          <a:prstGeom prst="rect">
            <a:avLst/>
          </a:prstGeom>
        </p:spPr>
      </p:pic>
      <p:sp>
        <p:nvSpPr>
          <p:cNvPr id="21" name="Pentagon 20"/>
          <p:cNvSpPr/>
          <p:nvPr/>
        </p:nvSpPr>
        <p:spPr>
          <a:xfrm>
            <a:off x="711108" y="1386949"/>
            <a:ext cx="3258088"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Development</a:t>
            </a:r>
          </a:p>
        </p:txBody>
      </p:sp>
      <p:sp>
        <p:nvSpPr>
          <p:cNvPr id="24" name="Down Arrow 23"/>
          <p:cNvSpPr/>
          <p:nvPr/>
        </p:nvSpPr>
        <p:spPr>
          <a:xfrm rot="13187025">
            <a:off x="2135386" y="2639259"/>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25" name="Down Arrow 24"/>
          <p:cNvSpPr/>
          <p:nvPr/>
        </p:nvSpPr>
        <p:spPr>
          <a:xfrm rot="17328919">
            <a:off x="2113836" y="2309362"/>
            <a:ext cx="117817" cy="22845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5545" y="3440875"/>
            <a:ext cx="769579" cy="769579"/>
          </a:xfrm>
          <a:prstGeom prst="rect">
            <a:avLst/>
          </a:prstGeom>
        </p:spPr>
      </p:pic>
      <p:sp>
        <p:nvSpPr>
          <p:cNvPr id="19" name="Pentagon 18"/>
          <p:cNvSpPr/>
          <p:nvPr/>
        </p:nvSpPr>
        <p:spPr>
          <a:xfrm>
            <a:off x="4050198" y="1392235"/>
            <a:ext cx="1817212"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Continuous Integration</a:t>
            </a:r>
          </a:p>
        </p:txBody>
      </p:sp>
      <p:pic>
        <p:nvPicPr>
          <p:cNvPr id="27" name="Picture 26"/>
          <p:cNvPicPr>
            <a:picLocks noChangeAspect="1"/>
          </p:cNvPicPr>
          <p:nvPr/>
        </p:nvPicPr>
        <p:blipFill>
          <a:blip r:embed="rId7" cstate="print"/>
          <a:stretch>
            <a:fillRect/>
          </a:stretch>
        </p:blipFill>
        <p:spPr>
          <a:xfrm>
            <a:off x="4771178" y="3543492"/>
            <a:ext cx="674247" cy="645309"/>
          </a:xfrm>
          <a:prstGeom prst="rect">
            <a:avLst/>
          </a:prstGeom>
        </p:spPr>
      </p:pic>
      <p:sp>
        <p:nvSpPr>
          <p:cNvPr id="28" name="Rectangle 27"/>
          <p:cNvSpPr/>
          <p:nvPr/>
        </p:nvSpPr>
        <p:spPr>
          <a:xfrm>
            <a:off x="4684328" y="3579042"/>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Build</a:t>
            </a:r>
          </a:p>
        </p:txBody>
      </p:sp>
      <p:sp>
        <p:nvSpPr>
          <p:cNvPr id="29" name="Rectangle 28"/>
          <p:cNvSpPr/>
          <p:nvPr/>
        </p:nvSpPr>
        <p:spPr>
          <a:xfrm>
            <a:off x="4632589" y="402355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Commit</a:t>
            </a:r>
          </a:p>
        </p:txBody>
      </p:sp>
      <p:sp>
        <p:nvSpPr>
          <p:cNvPr id="33" name="Rectangle 32"/>
          <p:cNvSpPr/>
          <p:nvPr/>
        </p:nvSpPr>
        <p:spPr>
          <a:xfrm>
            <a:off x="5277891" y="3551478"/>
            <a:ext cx="475712"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Test</a:t>
            </a:r>
          </a:p>
        </p:txBody>
      </p:sp>
      <p:sp>
        <p:nvSpPr>
          <p:cNvPr id="34" name="Rectangle 33"/>
          <p:cNvSpPr/>
          <p:nvPr/>
        </p:nvSpPr>
        <p:spPr>
          <a:xfrm>
            <a:off x="5246889" y="4023557"/>
            <a:ext cx="506714" cy="136323"/>
          </a:xfrm>
          <a:prstGeom prst="rect">
            <a:avLst/>
          </a:prstGeom>
        </p:spPr>
        <p:txBody>
          <a:bodyPr wrap="square" lIns="48601" tIns="24301" rIns="48601" bIns="24301">
            <a:spAutoFit/>
          </a:bodyPr>
          <a:lstStyle/>
          <a:p>
            <a:pPr defTabSz="243005"/>
            <a:r>
              <a:rPr lang="en-US" sz="567" b="1" dirty="0">
                <a:solidFill>
                  <a:prstClr val="black"/>
                </a:solidFill>
                <a:latin typeface="Arial"/>
                <a:cs typeface="Arial"/>
              </a:rPr>
              <a:t>Publish</a:t>
            </a:r>
          </a:p>
        </p:txBody>
      </p:sp>
      <p:pic>
        <p:nvPicPr>
          <p:cNvPr id="13" name="Picture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50370" y="3721696"/>
            <a:ext cx="338877" cy="338877"/>
          </a:xfrm>
          <a:prstGeom prst="rect">
            <a:avLst/>
          </a:prstGeom>
        </p:spPr>
      </p:pic>
      <p:sp>
        <p:nvSpPr>
          <p:cNvPr id="32" name="Pentagon 31"/>
          <p:cNvSpPr/>
          <p:nvPr/>
        </p:nvSpPr>
        <p:spPr>
          <a:xfrm>
            <a:off x="5945292" y="1389372"/>
            <a:ext cx="2944637"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Testing</a:t>
            </a:r>
          </a:p>
        </p:txBody>
      </p:sp>
      <p:pic>
        <p:nvPicPr>
          <p:cNvPr id="37" name="Picture 36"/>
          <p:cNvPicPr>
            <a:picLocks noChangeAspect="1"/>
          </p:cNvPicPr>
          <p:nvPr/>
        </p:nvPicPr>
        <p:blipFill>
          <a:blip r:embed="rId4" cstate="print"/>
          <a:stretch>
            <a:fillRect/>
          </a:stretch>
        </p:blipFill>
        <p:spPr>
          <a:xfrm>
            <a:off x="7754357" y="2819229"/>
            <a:ext cx="367682" cy="511171"/>
          </a:xfrm>
          <a:prstGeom prst="rect">
            <a:avLst/>
          </a:prstGeom>
        </p:spPr>
      </p:pic>
      <p:sp>
        <p:nvSpPr>
          <p:cNvPr id="18" name="TextBox 17"/>
          <p:cNvSpPr txBox="1"/>
          <p:nvPr/>
        </p:nvSpPr>
        <p:spPr>
          <a:xfrm>
            <a:off x="7699539" y="3285208"/>
            <a:ext cx="568229" cy="295915"/>
          </a:xfrm>
          <a:prstGeom prst="rect">
            <a:avLst/>
          </a:prstGeom>
          <a:noFill/>
        </p:spPr>
        <p:txBody>
          <a:bodyPr wrap="square" rtlCol="0">
            <a:spAutoFit/>
          </a:bodyPr>
          <a:lstStyle/>
          <a:p>
            <a:r>
              <a:rPr lang="en-US" sz="1323" dirty="0"/>
              <a:t>QA</a:t>
            </a:r>
          </a:p>
        </p:txBody>
      </p:sp>
      <p:sp>
        <p:nvSpPr>
          <p:cNvPr id="38" name="TextBox 37"/>
          <p:cNvSpPr txBox="1"/>
          <p:nvPr/>
        </p:nvSpPr>
        <p:spPr>
          <a:xfrm>
            <a:off x="2252382" y="2821769"/>
            <a:ext cx="568229" cy="295915"/>
          </a:xfrm>
          <a:prstGeom prst="rect">
            <a:avLst/>
          </a:prstGeom>
          <a:noFill/>
        </p:spPr>
        <p:txBody>
          <a:bodyPr wrap="square" rtlCol="0">
            <a:spAutoFit/>
          </a:bodyPr>
          <a:lstStyle/>
          <a:p>
            <a:r>
              <a:rPr lang="en-US" sz="1323" dirty="0"/>
              <a:t>Dev</a:t>
            </a:r>
          </a:p>
        </p:txBody>
      </p:sp>
      <p:sp>
        <p:nvSpPr>
          <p:cNvPr id="41" name="Oval 40"/>
          <p:cNvSpPr/>
          <p:nvPr/>
        </p:nvSpPr>
        <p:spPr>
          <a:xfrm>
            <a:off x="5050985" y="3501846"/>
            <a:ext cx="109055" cy="154391"/>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1"/>
          </a:p>
        </p:txBody>
      </p:sp>
      <p:sp>
        <p:nvSpPr>
          <p:cNvPr id="42" name="Pentagon 41"/>
          <p:cNvSpPr/>
          <p:nvPr/>
        </p:nvSpPr>
        <p:spPr>
          <a:xfrm>
            <a:off x="8980333" y="1386949"/>
            <a:ext cx="2069654" cy="345538"/>
          </a:xfrm>
          <a:prstGeom prst="homePlate">
            <a:avLst/>
          </a:prstGeom>
          <a:solidFill>
            <a:srgbClr val="CC0000"/>
          </a:solidFill>
          <a:ln w="19050" cmpd="sng">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50" dirty="0">
                <a:solidFill>
                  <a:srgbClr val="FFFFFF"/>
                </a:solidFill>
              </a:rPr>
              <a:t>Production</a:t>
            </a:r>
          </a:p>
        </p:txBody>
      </p:sp>
      <p:pic>
        <p:nvPicPr>
          <p:cNvPr id="43" name="Picture 42"/>
          <p:cNvPicPr>
            <a:picLocks noChangeAspect="1"/>
          </p:cNvPicPr>
          <p:nvPr/>
        </p:nvPicPr>
        <p:blipFill>
          <a:blip r:embed="rId4" cstate="print"/>
          <a:stretch>
            <a:fillRect/>
          </a:stretch>
        </p:blipFill>
        <p:spPr>
          <a:xfrm>
            <a:off x="10636882" y="2719056"/>
            <a:ext cx="367682" cy="511171"/>
          </a:xfrm>
          <a:prstGeom prst="rect">
            <a:avLst/>
          </a:prstGeom>
        </p:spPr>
      </p:pic>
      <p:sp>
        <p:nvSpPr>
          <p:cNvPr id="44" name="TextBox 43"/>
          <p:cNvSpPr txBox="1"/>
          <p:nvPr/>
        </p:nvSpPr>
        <p:spPr>
          <a:xfrm>
            <a:off x="10563002" y="3246789"/>
            <a:ext cx="568229" cy="295915"/>
          </a:xfrm>
          <a:prstGeom prst="rect">
            <a:avLst/>
          </a:prstGeom>
          <a:noFill/>
        </p:spPr>
        <p:txBody>
          <a:bodyPr wrap="square" rtlCol="0">
            <a:spAutoFit/>
          </a:bodyPr>
          <a:lstStyle/>
          <a:p>
            <a:r>
              <a:rPr lang="en-US" sz="1323" dirty="0"/>
              <a:t>Prod</a:t>
            </a:r>
          </a:p>
        </p:txBody>
      </p:sp>
      <p:pic>
        <p:nvPicPr>
          <p:cNvPr id="50" name="Picture 4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30371" y="3730667"/>
            <a:ext cx="720969" cy="720969"/>
          </a:xfrm>
          <a:prstGeom prst="rect">
            <a:avLst/>
          </a:prstGeom>
        </p:spPr>
      </p:pic>
      <p:pic>
        <p:nvPicPr>
          <p:cNvPr id="51" name="Picture 5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704027" y="3756671"/>
            <a:ext cx="593792" cy="593792"/>
          </a:xfrm>
          <a:prstGeom prst="rect">
            <a:avLst/>
          </a:prstGeom>
        </p:spPr>
      </p:pic>
      <p:pic>
        <p:nvPicPr>
          <p:cNvPr id="52" name="Picture 5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97055" y="4013728"/>
            <a:ext cx="673470" cy="673470"/>
          </a:xfrm>
          <a:prstGeom prst="rect">
            <a:avLst/>
          </a:prstGeom>
        </p:spPr>
      </p:pic>
      <p:sp>
        <p:nvSpPr>
          <p:cNvPr id="40" name="Flowchart: Document 39"/>
          <p:cNvSpPr/>
          <p:nvPr/>
        </p:nvSpPr>
        <p:spPr>
          <a:xfrm>
            <a:off x="6328482" y="2769801"/>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a:t>Alter table Orders</a:t>
            </a:r>
          </a:p>
          <a:p>
            <a:r>
              <a:rPr lang="en-US" sz="756"/>
              <a:t>Add status tinyint;</a:t>
            </a:r>
          </a:p>
          <a:p>
            <a:endParaRPr lang="en-US" sz="756"/>
          </a:p>
          <a:p>
            <a:r>
              <a:rPr lang="en-US" sz="756"/>
              <a:t>Create procedure GetOrders</a:t>
            </a:r>
          </a:p>
          <a:p>
            <a:r>
              <a:rPr lang="en-US" sz="756"/>
              <a:t>…..</a:t>
            </a:r>
            <a:endParaRPr lang="en-US" sz="756" dirty="0"/>
          </a:p>
        </p:txBody>
      </p:sp>
      <p:pic>
        <p:nvPicPr>
          <p:cNvPr id="56" name="Picture 5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664517" y="3824670"/>
            <a:ext cx="482135" cy="745090"/>
          </a:xfrm>
          <a:prstGeom prst="rect">
            <a:avLst/>
          </a:prstGeom>
        </p:spPr>
      </p:pic>
      <p:pic>
        <p:nvPicPr>
          <p:cNvPr id="58" name="Picture 5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235373" y="3773798"/>
            <a:ext cx="482135" cy="745090"/>
          </a:xfrm>
          <a:prstGeom prst="rect">
            <a:avLst/>
          </a:prstGeom>
        </p:spPr>
      </p:pic>
      <p:pic>
        <p:nvPicPr>
          <p:cNvPr id="59" name="Picture 5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25536" y="3730667"/>
            <a:ext cx="720969" cy="720969"/>
          </a:xfrm>
          <a:prstGeom prst="rect">
            <a:avLst/>
          </a:prstGeom>
        </p:spPr>
      </p:pic>
      <p:pic>
        <p:nvPicPr>
          <p:cNvPr id="60" name="Picture 5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899192" y="3756671"/>
            <a:ext cx="593792" cy="593792"/>
          </a:xfrm>
          <a:prstGeom prst="rect">
            <a:avLst/>
          </a:prstGeom>
        </p:spPr>
      </p:pic>
      <p:pic>
        <p:nvPicPr>
          <p:cNvPr id="61" name="Picture 6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92221" y="4013728"/>
            <a:ext cx="673470" cy="673470"/>
          </a:xfrm>
          <a:prstGeom prst="rect">
            <a:avLst/>
          </a:prstGeom>
        </p:spPr>
      </p:pic>
      <p:cxnSp>
        <p:nvCxnSpPr>
          <p:cNvPr id="63" name="Straight Arrow Connector 62"/>
          <p:cNvCxnSpPr/>
          <p:nvPr/>
        </p:nvCxnSpPr>
        <p:spPr>
          <a:xfrm>
            <a:off x="5566664" y="3866147"/>
            <a:ext cx="65887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p:nvPr/>
        </p:nvCxnSpPr>
        <p:spPr>
          <a:xfrm>
            <a:off x="3866947" y="3824670"/>
            <a:ext cx="761119"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66" name="Flowchart: Document 65"/>
          <p:cNvSpPr/>
          <p:nvPr/>
        </p:nvSpPr>
        <p:spPr>
          <a:xfrm>
            <a:off x="9443616" y="2718684"/>
            <a:ext cx="1015448" cy="909459"/>
          </a:xfrm>
          <a:prstGeom prst="flowChartDocument">
            <a:avLst/>
          </a:prstGeom>
          <a:ln w="3175"/>
        </p:spPr>
        <p:style>
          <a:lnRef idx="2">
            <a:schemeClr val="dk1"/>
          </a:lnRef>
          <a:fillRef idx="1">
            <a:schemeClr val="lt1"/>
          </a:fillRef>
          <a:effectRef idx="0">
            <a:schemeClr val="dk1"/>
          </a:effectRef>
          <a:fontRef idx="minor">
            <a:schemeClr val="dk1"/>
          </a:fontRef>
        </p:style>
        <p:txBody>
          <a:bodyPr rtlCol="0" anchor="ctr"/>
          <a:lstStyle/>
          <a:p>
            <a:r>
              <a:rPr lang="en-US" sz="756" dirty="0"/>
              <a:t>Alter table Orders</a:t>
            </a:r>
          </a:p>
          <a:p>
            <a:r>
              <a:rPr lang="en-US" sz="756" dirty="0"/>
              <a:t>Add status </a:t>
            </a:r>
            <a:r>
              <a:rPr lang="en-US" sz="756" dirty="0" err="1"/>
              <a:t>tinyint</a:t>
            </a:r>
            <a:r>
              <a:rPr lang="en-US" sz="756" dirty="0"/>
              <a:t>;</a:t>
            </a:r>
          </a:p>
          <a:p>
            <a:endParaRPr lang="en-US" sz="756" dirty="0"/>
          </a:p>
          <a:p>
            <a:r>
              <a:rPr lang="en-US" sz="756" dirty="0"/>
              <a:t>Create procedure </a:t>
            </a:r>
            <a:r>
              <a:rPr lang="en-US" sz="756" dirty="0" err="1"/>
              <a:t>GetOrders</a:t>
            </a:r>
            <a:endParaRPr lang="en-US" sz="756" dirty="0"/>
          </a:p>
          <a:p>
            <a:r>
              <a:rPr lang="en-US" sz="756" dirty="0"/>
              <a:t>…..</a:t>
            </a:r>
          </a:p>
        </p:txBody>
      </p:sp>
      <p:cxnSp>
        <p:nvCxnSpPr>
          <p:cNvPr id="67" name="Straight Arrow Connector 66"/>
          <p:cNvCxnSpPr/>
          <p:nvPr/>
        </p:nvCxnSpPr>
        <p:spPr>
          <a:xfrm>
            <a:off x="8321462" y="3866147"/>
            <a:ext cx="65887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68" name="Picture 67"/>
          <p:cNvPicPr>
            <a:picLocks noChangeAspect="1"/>
          </p:cNvPicPr>
          <p:nvPr/>
        </p:nvPicPr>
        <p:blipFill>
          <a:blip r:embed="rId13" cstate="print"/>
          <a:stretch>
            <a:fillRect/>
          </a:stretch>
        </p:blipFill>
        <p:spPr>
          <a:xfrm>
            <a:off x="8902042" y="2770280"/>
            <a:ext cx="495013" cy="936025"/>
          </a:xfrm>
          <a:prstGeom prst="rect">
            <a:avLst/>
          </a:prstGeom>
        </p:spPr>
      </p:pic>
      <p:cxnSp>
        <p:nvCxnSpPr>
          <p:cNvPr id="69" name="Straight Arrow Connector 68"/>
          <p:cNvCxnSpPr/>
          <p:nvPr/>
        </p:nvCxnSpPr>
        <p:spPr>
          <a:xfrm>
            <a:off x="2660349" y="2999719"/>
            <a:ext cx="468492" cy="502127"/>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p:nvPr/>
        </p:nvCxnSpPr>
        <p:spPr>
          <a:xfrm flipH="1">
            <a:off x="2673547" y="4146343"/>
            <a:ext cx="477473" cy="505266"/>
          </a:xfrm>
          <a:prstGeom prst="straightConnector1">
            <a:avLst/>
          </a:prstGeom>
          <a:ln w="762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p>
            <a:endParaRPr lang="en-IE"/>
          </a:p>
        </p:txBody>
      </p:sp>
      <p:sp>
        <p:nvSpPr>
          <p:cNvPr id="47" name="Title 1"/>
          <p:cNvSpPr txBox="1">
            <a:spLocks/>
          </p:cNvSpPr>
          <p:nvPr/>
        </p:nvSpPr>
        <p:spPr>
          <a:xfrm>
            <a:off x="615340" y="22875"/>
            <a:ext cx="8064342" cy="1424039"/>
          </a:xfrm>
          <a:prstGeom prst="rect">
            <a:avLst/>
          </a:prstGeom>
          <a:effectLst/>
        </p:spPr>
        <p:txBody>
          <a:bodyPr vert="horz" lIns="91440" tIns="45720" rIns="91440" bIns="45720" rtlCol="0" anchor="ctr">
            <a:normAutofit/>
          </a:bodyPr>
          <a:lstStyle>
            <a:lvl1pPr algn="l" defTabSz="432008" rtl="0" eaLnBrk="1" latinLnBrk="0" hangingPunct="1">
              <a:spcBef>
                <a:spcPct val="0"/>
              </a:spcBef>
              <a:buNone/>
              <a:defRPr sz="3402"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Delivery Pipeline</a:t>
            </a:r>
            <a:endParaRPr lang="en-US" dirty="0"/>
          </a:p>
        </p:txBody>
      </p:sp>
    </p:spTree>
    <p:extLst>
      <p:ext uri="{BB962C8B-B14F-4D97-AF65-F5344CB8AC3E}">
        <p14:creationId xmlns:p14="http://schemas.microsoft.com/office/powerpoint/2010/main" val="394027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0" nodeType="withEffect">
                                  <p:stCondLst>
                                    <p:cond delay="0"/>
                                  </p:stCondLst>
                                  <p:childTnLst>
                                    <p:animMotion origin="layout" path="M 1.04167E-6 -4.81481E-6 C 0.01862 -4.81481E-6 0.03411 0.02038 0.03411 0.04584 C 0.03411 0.0713 0.01862 0.09237 1.04167E-6 0.09237 C -0.01901 0.09237 -0.03412 0.0713 -0.03412 0.04584 C -0.03412 0.02038 -0.01901 -4.81481E-6 1.04167E-6 -4.81481E-6 Z " pathEditMode="relative" rAng="0" ptsTypes="AAAAA">
                                      <p:cBhvr>
                                        <p:cTn id="6" dur="2000" fill="hold"/>
                                        <p:tgtEl>
                                          <p:spTgt spid="41"/>
                                        </p:tgtEl>
                                        <p:attrNameLst>
                                          <p:attrName>ppt_x</p:attrName>
                                          <p:attrName>ppt_y</p:attrName>
                                        </p:attrNameLst>
                                      </p:cBhvr>
                                      <p:rCtr x="0" y="46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It won’t happen overnight</a:t>
            </a:r>
            <a:endParaRPr lang="en-US" dirty="0"/>
          </a:p>
        </p:txBody>
      </p:sp>
      <p:sp>
        <p:nvSpPr>
          <p:cNvPr id="3" name="Content Placeholder 2"/>
          <p:cNvSpPr>
            <a:spLocks noGrp="1"/>
          </p:cNvSpPr>
          <p:nvPr>
            <p:ph idx="1"/>
          </p:nvPr>
        </p:nvSpPr>
        <p:spPr>
          <a:xfrm>
            <a:off x="646527" y="334756"/>
            <a:ext cx="10558474" cy="4276616"/>
          </a:xfrm>
        </p:spPr>
        <p:txBody>
          <a:bodyPr>
            <a:normAutofit lnSpcReduction="10000"/>
          </a:bodyPr>
          <a:lstStyle/>
          <a:p>
            <a:r>
              <a:rPr lang="en-GB" b="0" dirty="0"/>
              <a:t>Changing your culture is hard</a:t>
            </a:r>
          </a:p>
          <a:p>
            <a:endParaRPr lang="en-GB" b="0" dirty="0"/>
          </a:p>
          <a:p>
            <a:r>
              <a:rPr lang="en-GB" b="0" dirty="0"/>
              <a:t>Five things your operations team doesn’t tell you about DevOps </a:t>
            </a:r>
            <a:br>
              <a:rPr lang="en-GB" b="0" dirty="0"/>
            </a:br>
            <a:r>
              <a:rPr lang="en-GB" b="0" dirty="0"/>
              <a:t>- </a:t>
            </a:r>
            <a:r>
              <a:rPr lang="en-US" sz="2268" b="0" dirty="0">
                <a:hlinkClick r:id="rId3"/>
              </a:rPr>
              <a:t>https://dzone.com/articles/five-things-your-operations-team-doesnt-tell-you-a</a:t>
            </a:r>
            <a:endParaRPr lang="en-US" b="0" dirty="0"/>
          </a:p>
          <a:p>
            <a:endParaRPr lang="en-GB" b="0" dirty="0"/>
          </a:p>
          <a:p>
            <a:r>
              <a:rPr lang="en-GB" b="0" dirty="0"/>
              <a:t>GOTO 2016: DevOps - The Good, The Bad, The Ugly - Jeff Smith</a:t>
            </a:r>
            <a:br>
              <a:rPr lang="en-GB" b="0" dirty="0"/>
            </a:br>
            <a:r>
              <a:rPr lang="en-GB" b="0" dirty="0"/>
              <a:t>- </a:t>
            </a:r>
            <a:r>
              <a:rPr lang="en-GB" sz="2268" b="0" dirty="0">
                <a:hlinkClick r:id="rId4"/>
              </a:rPr>
              <a:t>https://www.youtube.com/watch?v=qLUt6bwNnks</a:t>
            </a:r>
            <a:endParaRPr lang="en-GB" b="0" dirty="0"/>
          </a:p>
          <a:p>
            <a:endParaRPr lang="en-GB" b="0" dirty="0"/>
          </a:p>
          <a:p>
            <a:r>
              <a:rPr lang="en-GB" b="0" dirty="0"/>
              <a:t>Why DevOps is burning out Developers</a:t>
            </a:r>
            <a:br>
              <a:rPr lang="en-GB" b="0" dirty="0"/>
            </a:br>
            <a:r>
              <a:rPr lang="en-GB" b="0" dirty="0"/>
              <a:t>- </a:t>
            </a:r>
            <a:r>
              <a:rPr lang="en-GB" sz="1890" b="0" dirty="0">
                <a:hlinkClick r:id="rId5"/>
              </a:rPr>
              <a:t>http://www.infoworld.com/article/3009004/devops/why-devops-is-burning-out-developers.html</a:t>
            </a:r>
            <a:endParaRPr lang="en-GB" b="0" dirty="0"/>
          </a:p>
          <a:p>
            <a:pPr marL="170932"/>
            <a:endParaRPr lang="en-GB" dirty="0"/>
          </a:p>
        </p:txBody>
      </p:sp>
    </p:spTree>
    <p:extLst>
      <p:ext uri="{BB962C8B-B14F-4D97-AF65-F5344CB8AC3E}">
        <p14:creationId xmlns:p14="http://schemas.microsoft.com/office/powerpoint/2010/main" val="1532747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cstate="print"/>
          <a:stretch>
            <a:fillRect/>
          </a:stretch>
        </p:blipFill>
        <p:spPr>
          <a:xfrm>
            <a:off x="1355235" y="647700"/>
            <a:ext cx="6646256" cy="3416300"/>
          </a:xfrm>
          <a:prstGeom prst="rect">
            <a:avLst/>
          </a:prstGeom>
        </p:spPr>
      </p:pic>
      <p:sp>
        <p:nvSpPr>
          <p:cNvPr id="5" name="Rectangle 4"/>
          <p:cNvSpPr/>
          <p:nvPr/>
        </p:nvSpPr>
        <p:spPr>
          <a:xfrm>
            <a:off x="820911" y="5940175"/>
            <a:ext cx="9878666" cy="354071"/>
          </a:xfrm>
          <a:prstGeom prst="rect">
            <a:avLst/>
          </a:prstGeom>
        </p:spPr>
        <p:txBody>
          <a:bodyPr wrap="none">
            <a:spAutoFit/>
          </a:bodyPr>
          <a:lstStyle/>
          <a:p>
            <a:pPr algn="r"/>
            <a:r>
              <a:rPr lang="en-GB" sz="1701" dirty="0">
                <a:hlinkClick r:id="rId4"/>
              </a:rPr>
              <a:t>Velocity 2009 - John </a:t>
            </a:r>
            <a:r>
              <a:rPr lang="en-GB" sz="1701" dirty="0" err="1">
                <a:hlinkClick r:id="rId4"/>
              </a:rPr>
              <a:t>Allspaw</a:t>
            </a:r>
            <a:r>
              <a:rPr lang="en-GB" sz="1701" dirty="0">
                <a:hlinkClick r:id="rId4"/>
              </a:rPr>
              <a:t> and Paul Hammond, "10+ Deploys Per Day: Dev and Ops Coordination”</a:t>
            </a:r>
            <a:r>
              <a:rPr lang="en-GB" sz="1701" dirty="0"/>
              <a:t> </a:t>
            </a:r>
            <a:endParaRPr lang="en-US" sz="1701" dirty="0"/>
          </a:p>
        </p:txBody>
      </p:sp>
    </p:spTree>
    <p:extLst>
      <p:ext uri="{BB962C8B-B14F-4D97-AF65-F5344CB8AC3E}">
        <p14:creationId xmlns:p14="http://schemas.microsoft.com/office/powerpoint/2010/main" val="6234755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b="1" dirty="0"/>
              <a:t>Conclusion</a:t>
            </a:r>
            <a:endParaRPr lang="en-US" b="1" dirty="0"/>
          </a:p>
        </p:txBody>
      </p:sp>
    </p:spTree>
    <p:extLst>
      <p:ext uri="{BB962C8B-B14F-4D97-AF65-F5344CB8AC3E}">
        <p14:creationId xmlns:p14="http://schemas.microsoft.com/office/powerpoint/2010/main" val="1634907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What about Security?</a:t>
            </a:r>
          </a:p>
        </p:txBody>
      </p:sp>
    </p:spTree>
    <p:extLst>
      <p:ext uri="{BB962C8B-B14F-4D97-AF65-F5344CB8AC3E}">
        <p14:creationId xmlns:p14="http://schemas.microsoft.com/office/powerpoint/2010/main" val="37893904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It is no good if it is not Secure</a:t>
            </a:r>
          </a:p>
        </p:txBody>
      </p:sp>
    </p:spTree>
    <p:extLst>
      <p:ext uri="{BB962C8B-B14F-4D97-AF65-F5344CB8AC3E}">
        <p14:creationId xmlns:p14="http://schemas.microsoft.com/office/powerpoint/2010/main" val="46259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8535" y="2489874"/>
            <a:ext cx="1043786" cy="1991932"/>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5088442" y="2489874"/>
            <a:ext cx="1043786" cy="1991932"/>
          </a:xfrm>
          <a:prstGeom prst="rect">
            <a:avLst/>
          </a:prstGeom>
          <a:blipFill>
            <a:blip r:embed="rId2" cstate="print"/>
            <a:stretch>
              <a:fillRect/>
            </a:stretch>
          </a:blipFill>
        </p:spPr>
        <p:txBody>
          <a:bodyPr wrap="square" lIns="0" tIns="0" rIns="0" bIns="0" rtlCol="0"/>
          <a:lstStyle/>
          <a:p>
            <a:endParaRPr sz="1031"/>
          </a:p>
        </p:txBody>
      </p:sp>
      <p:sp>
        <p:nvSpPr>
          <p:cNvPr id="4" name="object 4"/>
          <p:cNvSpPr/>
          <p:nvPr/>
        </p:nvSpPr>
        <p:spPr>
          <a:xfrm>
            <a:off x="7302346" y="2489874"/>
            <a:ext cx="1043786" cy="1991932"/>
          </a:xfrm>
          <a:prstGeom prst="rect">
            <a:avLst/>
          </a:prstGeom>
          <a:blipFill>
            <a:blip r:embed="rId2" cstate="print"/>
            <a:stretch>
              <a:fillRect/>
            </a:stretch>
          </a:blipFill>
        </p:spPr>
        <p:txBody>
          <a:bodyPr wrap="square" lIns="0" tIns="0" rIns="0" bIns="0" rtlCol="0"/>
          <a:lstStyle/>
          <a:p>
            <a:endParaRPr sz="1031"/>
          </a:p>
        </p:txBody>
      </p:sp>
      <p:sp>
        <p:nvSpPr>
          <p:cNvPr id="5" name="object 5"/>
          <p:cNvSpPr/>
          <p:nvPr/>
        </p:nvSpPr>
        <p:spPr>
          <a:xfrm>
            <a:off x="2934365" y="1871919"/>
            <a:ext cx="1007956" cy="629972"/>
          </a:xfrm>
          <a:prstGeom prst="rect">
            <a:avLst/>
          </a:prstGeom>
          <a:blipFill>
            <a:blip r:embed="rId3" cstate="print"/>
            <a:stretch>
              <a:fillRect/>
            </a:stretch>
          </a:blipFill>
        </p:spPr>
        <p:txBody>
          <a:bodyPr wrap="square" lIns="0" tIns="0" rIns="0" bIns="0" rtlCol="0"/>
          <a:lstStyle/>
          <a:p>
            <a:endParaRPr sz="1031"/>
          </a:p>
        </p:txBody>
      </p:sp>
      <p:sp>
        <p:nvSpPr>
          <p:cNvPr id="6" name="object 6"/>
          <p:cNvSpPr/>
          <p:nvPr/>
        </p:nvSpPr>
        <p:spPr>
          <a:xfrm>
            <a:off x="2952364" y="1889917"/>
            <a:ext cx="972208" cy="594168"/>
          </a:xfrm>
          <a:custGeom>
            <a:avLst/>
            <a:gdLst/>
            <a:ahLst/>
            <a:cxnLst/>
            <a:rect l="l" t="t" r="r" b="b"/>
            <a:pathLst>
              <a:path w="1696720" h="1036954">
                <a:moveTo>
                  <a:pt x="0" y="0"/>
                </a:moveTo>
                <a:lnTo>
                  <a:pt x="1696283" y="0"/>
                </a:lnTo>
                <a:lnTo>
                  <a:pt x="1696283" y="1036617"/>
                </a:lnTo>
                <a:lnTo>
                  <a:pt x="0" y="1036617"/>
                </a:lnTo>
                <a:lnTo>
                  <a:pt x="0" y="0"/>
                </a:lnTo>
                <a:close/>
              </a:path>
            </a:pathLst>
          </a:custGeom>
          <a:solidFill>
            <a:srgbClr val="005493"/>
          </a:solidFill>
        </p:spPr>
        <p:txBody>
          <a:bodyPr wrap="square" lIns="0" tIns="0" rIns="0" bIns="0" rtlCol="0"/>
          <a:lstStyle/>
          <a:p>
            <a:endParaRPr sz="1031"/>
          </a:p>
        </p:txBody>
      </p:sp>
      <p:sp>
        <p:nvSpPr>
          <p:cNvPr id="7" name="object 7"/>
          <p:cNvSpPr/>
          <p:nvPr/>
        </p:nvSpPr>
        <p:spPr>
          <a:xfrm>
            <a:off x="2952364" y="1889917"/>
            <a:ext cx="972208" cy="594168"/>
          </a:xfrm>
          <a:custGeom>
            <a:avLst/>
            <a:gdLst/>
            <a:ahLst/>
            <a:cxnLst/>
            <a:rect l="l" t="t" r="r" b="b"/>
            <a:pathLst>
              <a:path w="1696720" h="1036954">
                <a:moveTo>
                  <a:pt x="0" y="0"/>
                </a:moveTo>
                <a:lnTo>
                  <a:pt x="1696283" y="0"/>
                </a:lnTo>
                <a:lnTo>
                  <a:pt x="1696283" y="1036617"/>
                </a:lnTo>
                <a:lnTo>
                  <a:pt x="0" y="1036617"/>
                </a:lnTo>
                <a:lnTo>
                  <a:pt x="0" y="0"/>
                </a:lnTo>
                <a:close/>
              </a:path>
            </a:pathLst>
          </a:custGeom>
          <a:ln w="20941">
            <a:solidFill>
              <a:srgbClr val="FFFFFF"/>
            </a:solidFill>
          </a:ln>
        </p:spPr>
        <p:txBody>
          <a:bodyPr wrap="square" lIns="0" tIns="0" rIns="0" bIns="0" rtlCol="0"/>
          <a:lstStyle/>
          <a:p>
            <a:endParaRPr sz="1031"/>
          </a:p>
        </p:txBody>
      </p:sp>
      <p:sp>
        <p:nvSpPr>
          <p:cNvPr id="8" name="object 8"/>
          <p:cNvSpPr txBox="1"/>
          <p:nvPr/>
        </p:nvSpPr>
        <p:spPr>
          <a:xfrm>
            <a:off x="2952364" y="2092631"/>
            <a:ext cx="972208" cy="166716"/>
          </a:xfrm>
          <a:prstGeom prst="rect">
            <a:avLst/>
          </a:prstGeom>
        </p:spPr>
        <p:txBody>
          <a:bodyPr vert="horz" wrap="square" lIns="0" tIns="8005" rIns="0" bIns="0" rtlCol="0">
            <a:spAutoFit/>
          </a:bodyPr>
          <a:lstStyle/>
          <a:p>
            <a:pPr marL="197937">
              <a:spcBef>
                <a:spcPts val="63"/>
              </a:spcBef>
            </a:pPr>
            <a:r>
              <a:rPr sz="1031" b="1" dirty="0">
                <a:solidFill>
                  <a:srgbClr val="FFFFFF"/>
                </a:solidFill>
                <a:latin typeface="Arial"/>
                <a:cs typeface="Arial"/>
              </a:rPr>
              <a:t>Shift</a:t>
            </a:r>
            <a:r>
              <a:rPr sz="1031" b="1" spc="-9" dirty="0">
                <a:solidFill>
                  <a:srgbClr val="FFFFFF"/>
                </a:solidFill>
                <a:latin typeface="Arial"/>
                <a:cs typeface="Arial"/>
              </a:rPr>
              <a:t> </a:t>
            </a:r>
            <a:r>
              <a:rPr sz="1031" b="1" spc="3" dirty="0">
                <a:solidFill>
                  <a:srgbClr val="FFFFFF"/>
                </a:solidFill>
                <a:latin typeface="Arial"/>
                <a:cs typeface="Arial"/>
              </a:rPr>
              <a:t>Left</a:t>
            </a:r>
            <a:endParaRPr sz="1031">
              <a:latin typeface="Arial"/>
              <a:cs typeface="Arial"/>
            </a:endParaRPr>
          </a:p>
        </p:txBody>
      </p:sp>
      <p:sp>
        <p:nvSpPr>
          <p:cNvPr id="9" name="object 9"/>
          <p:cNvSpPr/>
          <p:nvPr/>
        </p:nvSpPr>
        <p:spPr>
          <a:xfrm>
            <a:off x="5094272" y="1871919"/>
            <a:ext cx="1007956" cy="629972"/>
          </a:xfrm>
          <a:prstGeom prst="rect">
            <a:avLst/>
          </a:prstGeom>
          <a:blipFill>
            <a:blip r:embed="rId3" cstate="print"/>
            <a:stretch>
              <a:fillRect/>
            </a:stretch>
          </a:blipFill>
        </p:spPr>
        <p:txBody>
          <a:bodyPr wrap="square" lIns="0" tIns="0" rIns="0" bIns="0" rtlCol="0"/>
          <a:lstStyle/>
          <a:p>
            <a:endParaRPr sz="1031"/>
          </a:p>
        </p:txBody>
      </p:sp>
      <p:sp>
        <p:nvSpPr>
          <p:cNvPr id="10" name="object 10"/>
          <p:cNvSpPr/>
          <p:nvPr/>
        </p:nvSpPr>
        <p:spPr>
          <a:xfrm>
            <a:off x="5112272" y="1889917"/>
            <a:ext cx="972208" cy="594168"/>
          </a:xfrm>
          <a:custGeom>
            <a:avLst/>
            <a:gdLst/>
            <a:ahLst/>
            <a:cxnLst/>
            <a:rect l="l" t="t" r="r" b="b"/>
            <a:pathLst>
              <a:path w="1696720" h="1036954">
                <a:moveTo>
                  <a:pt x="0" y="0"/>
                </a:moveTo>
                <a:lnTo>
                  <a:pt x="1696283" y="0"/>
                </a:lnTo>
                <a:lnTo>
                  <a:pt x="1696283" y="1036617"/>
                </a:lnTo>
                <a:lnTo>
                  <a:pt x="0" y="1036617"/>
                </a:lnTo>
                <a:lnTo>
                  <a:pt x="0" y="0"/>
                </a:lnTo>
                <a:close/>
              </a:path>
            </a:pathLst>
          </a:custGeom>
          <a:solidFill>
            <a:srgbClr val="005493"/>
          </a:solidFill>
        </p:spPr>
        <p:txBody>
          <a:bodyPr wrap="square" lIns="0" tIns="0" rIns="0" bIns="0" rtlCol="0"/>
          <a:lstStyle/>
          <a:p>
            <a:endParaRPr sz="1031"/>
          </a:p>
        </p:txBody>
      </p:sp>
      <p:sp>
        <p:nvSpPr>
          <p:cNvPr id="11" name="object 11"/>
          <p:cNvSpPr/>
          <p:nvPr/>
        </p:nvSpPr>
        <p:spPr>
          <a:xfrm>
            <a:off x="5112272" y="1889917"/>
            <a:ext cx="972208" cy="594168"/>
          </a:xfrm>
          <a:custGeom>
            <a:avLst/>
            <a:gdLst/>
            <a:ahLst/>
            <a:cxnLst/>
            <a:rect l="l" t="t" r="r" b="b"/>
            <a:pathLst>
              <a:path w="1696720" h="1036954">
                <a:moveTo>
                  <a:pt x="0" y="0"/>
                </a:moveTo>
                <a:lnTo>
                  <a:pt x="1696283" y="0"/>
                </a:lnTo>
                <a:lnTo>
                  <a:pt x="1696283" y="1036617"/>
                </a:lnTo>
                <a:lnTo>
                  <a:pt x="0" y="1036617"/>
                </a:lnTo>
                <a:lnTo>
                  <a:pt x="0" y="0"/>
                </a:lnTo>
                <a:close/>
              </a:path>
            </a:pathLst>
          </a:custGeom>
          <a:ln w="20941">
            <a:solidFill>
              <a:srgbClr val="FFFFFF"/>
            </a:solidFill>
          </a:ln>
        </p:spPr>
        <p:txBody>
          <a:bodyPr wrap="square" lIns="0" tIns="0" rIns="0" bIns="0" rtlCol="0"/>
          <a:lstStyle/>
          <a:p>
            <a:endParaRPr sz="1031"/>
          </a:p>
        </p:txBody>
      </p:sp>
      <p:sp>
        <p:nvSpPr>
          <p:cNvPr id="12" name="object 12"/>
          <p:cNvSpPr txBox="1"/>
          <p:nvPr/>
        </p:nvSpPr>
        <p:spPr>
          <a:xfrm>
            <a:off x="5112272" y="1975037"/>
            <a:ext cx="972208" cy="381314"/>
          </a:xfrm>
          <a:prstGeom prst="rect">
            <a:avLst/>
          </a:prstGeom>
        </p:spPr>
        <p:txBody>
          <a:bodyPr vert="horz" wrap="square" lIns="0" tIns="6913" rIns="0" bIns="0" rtlCol="0">
            <a:spAutoFit/>
          </a:bodyPr>
          <a:lstStyle/>
          <a:p>
            <a:pPr marL="143723" marR="141175" indent="35658">
              <a:lnSpc>
                <a:spcPct val="118300"/>
              </a:lnSpc>
              <a:spcBef>
                <a:spcPts val="54"/>
              </a:spcBef>
            </a:pPr>
            <a:r>
              <a:rPr sz="1031" b="1" spc="3" dirty="0">
                <a:solidFill>
                  <a:srgbClr val="FFFFFF"/>
                </a:solidFill>
                <a:latin typeface="Arial"/>
                <a:cs typeface="Arial"/>
              </a:rPr>
              <a:t>Automate  Everyt</a:t>
            </a:r>
            <a:r>
              <a:rPr sz="1031" b="1" dirty="0">
                <a:solidFill>
                  <a:srgbClr val="FFFFFF"/>
                </a:solidFill>
                <a:latin typeface="Arial"/>
                <a:cs typeface="Arial"/>
              </a:rPr>
              <a:t>hin</a:t>
            </a:r>
            <a:r>
              <a:rPr sz="1031" b="1" spc="3" dirty="0">
                <a:solidFill>
                  <a:srgbClr val="FFFFFF"/>
                </a:solidFill>
                <a:latin typeface="Arial"/>
                <a:cs typeface="Arial"/>
              </a:rPr>
              <a:t>g</a:t>
            </a:r>
            <a:endParaRPr sz="1031">
              <a:latin typeface="Arial"/>
              <a:cs typeface="Arial"/>
            </a:endParaRPr>
          </a:p>
        </p:txBody>
      </p:sp>
      <p:sp>
        <p:nvSpPr>
          <p:cNvPr id="13" name="object 13"/>
          <p:cNvSpPr/>
          <p:nvPr/>
        </p:nvSpPr>
        <p:spPr>
          <a:xfrm>
            <a:off x="7254179" y="1871919"/>
            <a:ext cx="1115951" cy="629972"/>
          </a:xfrm>
          <a:prstGeom prst="rect">
            <a:avLst/>
          </a:prstGeom>
          <a:blipFill>
            <a:blip r:embed="rId4" cstate="print"/>
            <a:stretch>
              <a:fillRect/>
            </a:stretch>
          </a:blipFill>
        </p:spPr>
        <p:txBody>
          <a:bodyPr wrap="square" lIns="0" tIns="0" rIns="0" bIns="0" rtlCol="0"/>
          <a:lstStyle/>
          <a:p>
            <a:endParaRPr sz="1031"/>
          </a:p>
        </p:txBody>
      </p:sp>
      <p:sp>
        <p:nvSpPr>
          <p:cNvPr id="14" name="object 14"/>
          <p:cNvSpPr/>
          <p:nvPr/>
        </p:nvSpPr>
        <p:spPr>
          <a:xfrm>
            <a:off x="7272178" y="1889917"/>
            <a:ext cx="1080271" cy="594168"/>
          </a:xfrm>
          <a:custGeom>
            <a:avLst/>
            <a:gdLst/>
            <a:ahLst/>
            <a:cxnLst/>
            <a:rect l="l" t="t" r="r" b="b"/>
            <a:pathLst>
              <a:path w="1885315" h="1036954">
                <a:moveTo>
                  <a:pt x="0" y="0"/>
                </a:moveTo>
                <a:lnTo>
                  <a:pt x="1884759" y="0"/>
                </a:lnTo>
                <a:lnTo>
                  <a:pt x="1884759" y="1036617"/>
                </a:lnTo>
                <a:lnTo>
                  <a:pt x="0" y="1036617"/>
                </a:lnTo>
                <a:lnTo>
                  <a:pt x="0" y="0"/>
                </a:lnTo>
                <a:close/>
              </a:path>
            </a:pathLst>
          </a:custGeom>
          <a:solidFill>
            <a:srgbClr val="005493"/>
          </a:solidFill>
        </p:spPr>
        <p:txBody>
          <a:bodyPr wrap="square" lIns="0" tIns="0" rIns="0" bIns="0" rtlCol="0"/>
          <a:lstStyle/>
          <a:p>
            <a:endParaRPr sz="1031"/>
          </a:p>
        </p:txBody>
      </p:sp>
      <p:sp>
        <p:nvSpPr>
          <p:cNvPr id="15" name="object 15"/>
          <p:cNvSpPr/>
          <p:nvPr/>
        </p:nvSpPr>
        <p:spPr>
          <a:xfrm>
            <a:off x="7272178" y="1889917"/>
            <a:ext cx="1080271" cy="594168"/>
          </a:xfrm>
          <a:custGeom>
            <a:avLst/>
            <a:gdLst/>
            <a:ahLst/>
            <a:cxnLst/>
            <a:rect l="l" t="t" r="r" b="b"/>
            <a:pathLst>
              <a:path w="1885315" h="1036954">
                <a:moveTo>
                  <a:pt x="0" y="0"/>
                </a:moveTo>
                <a:lnTo>
                  <a:pt x="1884759" y="0"/>
                </a:lnTo>
                <a:lnTo>
                  <a:pt x="1884759" y="1036617"/>
                </a:lnTo>
                <a:lnTo>
                  <a:pt x="0" y="1036617"/>
                </a:lnTo>
                <a:lnTo>
                  <a:pt x="0" y="0"/>
                </a:lnTo>
                <a:close/>
              </a:path>
            </a:pathLst>
          </a:custGeom>
          <a:ln w="20941">
            <a:solidFill>
              <a:srgbClr val="FFFFFF"/>
            </a:solidFill>
          </a:ln>
        </p:spPr>
        <p:txBody>
          <a:bodyPr wrap="square" lIns="0" tIns="0" rIns="0" bIns="0" rtlCol="0"/>
          <a:lstStyle/>
          <a:p>
            <a:endParaRPr sz="1031"/>
          </a:p>
        </p:txBody>
      </p:sp>
      <p:sp>
        <p:nvSpPr>
          <p:cNvPr id="16" name="object 16"/>
          <p:cNvSpPr txBox="1"/>
          <p:nvPr/>
        </p:nvSpPr>
        <p:spPr>
          <a:xfrm>
            <a:off x="7272178" y="1975037"/>
            <a:ext cx="1080271" cy="381314"/>
          </a:xfrm>
          <a:prstGeom prst="rect">
            <a:avLst/>
          </a:prstGeom>
        </p:spPr>
        <p:txBody>
          <a:bodyPr vert="horz" wrap="square" lIns="0" tIns="6913" rIns="0" bIns="0" rtlCol="0">
            <a:spAutoFit/>
          </a:bodyPr>
          <a:lstStyle/>
          <a:p>
            <a:pPr marL="197937" marR="188113">
              <a:lnSpc>
                <a:spcPct val="118300"/>
              </a:lnSpc>
              <a:spcBef>
                <a:spcPts val="54"/>
              </a:spcBef>
            </a:pPr>
            <a:r>
              <a:rPr sz="1031" b="1" dirty="0">
                <a:solidFill>
                  <a:srgbClr val="FFFFFF"/>
                </a:solidFill>
                <a:latin typeface="Arial"/>
                <a:cs typeface="Arial"/>
              </a:rPr>
              <a:t>Dashboard  </a:t>
            </a:r>
            <a:r>
              <a:rPr sz="1031" b="1" spc="3" dirty="0">
                <a:solidFill>
                  <a:srgbClr val="FFFFFF"/>
                </a:solidFill>
                <a:latin typeface="Arial"/>
                <a:cs typeface="Arial"/>
              </a:rPr>
              <a:t>Everyt</a:t>
            </a:r>
            <a:r>
              <a:rPr sz="1031" b="1" dirty="0">
                <a:solidFill>
                  <a:srgbClr val="FFFFFF"/>
                </a:solidFill>
                <a:latin typeface="Arial"/>
                <a:cs typeface="Arial"/>
              </a:rPr>
              <a:t>hin</a:t>
            </a:r>
            <a:r>
              <a:rPr sz="1031" b="1" spc="3" dirty="0">
                <a:solidFill>
                  <a:srgbClr val="FFFFFF"/>
                </a:solidFill>
                <a:latin typeface="Arial"/>
                <a:cs typeface="Arial"/>
              </a:rPr>
              <a:t>g</a:t>
            </a:r>
            <a:endParaRPr sz="1031">
              <a:latin typeface="Arial"/>
              <a:cs typeface="Arial"/>
            </a:endParaRPr>
          </a:p>
        </p:txBody>
      </p:sp>
      <p:sp>
        <p:nvSpPr>
          <p:cNvPr id="18" name="object 18"/>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a:t>
            </a:r>
            <a:r>
              <a:rPr spc="-14" dirty="0" err="1"/>
              <a:t>TopoPal</a:t>
            </a:r>
            <a:endParaRPr spc="-14" dirty="0"/>
          </a:p>
        </p:txBody>
      </p:sp>
      <p:sp>
        <p:nvSpPr>
          <p:cNvPr id="17" name="object 17"/>
          <p:cNvSpPr txBox="1">
            <a:spLocks noGrp="1"/>
          </p:cNvSpPr>
          <p:nvPr>
            <p:ph type="title"/>
          </p:nvPr>
        </p:nvSpPr>
        <p:spPr>
          <a:xfrm>
            <a:off x="3041084" y="375985"/>
            <a:ext cx="5210337" cy="1050461"/>
          </a:xfrm>
          <a:prstGeom prst="rect">
            <a:avLst/>
          </a:prstGeom>
        </p:spPr>
        <p:txBody>
          <a:bodyPr vert="horz" wrap="square" lIns="0" tIns="9824" rIns="0" bIns="0" rtlCol="0" anchor="ctr">
            <a:spAutoFit/>
          </a:bodyPr>
          <a:lstStyle/>
          <a:p>
            <a:pPr marL="7277">
              <a:spcBef>
                <a:spcPts val="77"/>
              </a:spcBef>
            </a:pPr>
            <a:r>
              <a:rPr sz="3381" spc="-138" dirty="0">
                <a:solidFill>
                  <a:srgbClr val="941100"/>
                </a:solidFill>
                <a:latin typeface="Gill Sans MT"/>
                <a:cs typeface="Gill Sans MT"/>
              </a:rPr>
              <a:t>Three </a:t>
            </a:r>
            <a:r>
              <a:rPr sz="3381" spc="-112" dirty="0">
                <a:solidFill>
                  <a:srgbClr val="941100"/>
                </a:solidFill>
                <a:latin typeface="Gill Sans MT"/>
                <a:cs typeface="Gill Sans MT"/>
              </a:rPr>
              <a:t>Pillars </a:t>
            </a:r>
            <a:r>
              <a:rPr sz="3381" spc="-77" dirty="0">
                <a:solidFill>
                  <a:srgbClr val="941100"/>
                </a:solidFill>
                <a:latin typeface="Gill Sans MT"/>
                <a:cs typeface="Gill Sans MT"/>
              </a:rPr>
              <a:t>of</a:t>
            </a:r>
            <a:r>
              <a:rPr sz="3381" spc="241" dirty="0">
                <a:solidFill>
                  <a:srgbClr val="941100"/>
                </a:solidFill>
                <a:latin typeface="Gill Sans MT"/>
                <a:cs typeface="Gill Sans MT"/>
              </a:rPr>
              <a:t> </a:t>
            </a:r>
            <a:r>
              <a:rPr sz="3381" spc="-115" dirty="0">
                <a:solidFill>
                  <a:srgbClr val="941100"/>
                </a:solidFill>
                <a:latin typeface="Gill Sans MT"/>
                <a:cs typeface="Gill Sans MT"/>
              </a:rPr>
              <a:t>DevOpsSec</a:t>
            </a:r>
            <a:endParaRPr sz="3381" dirty="0">
              <a:latin typeface="Gill Sans MT"/>
              <a:cs typeface="Gill Sans MT"/>
            </a:endParaRPr>
          </a:p>
        </p:txBody>
      </p:sp>
    </p:spTree>
    <p:extLst>
      <p:ext uri="{BB962C8B-B14F-4D97-AF65-F5344CB8AC3E}">
        <p14:creationId xmlns:p14="http://schemas.microsoft.com/office/powerpoint/2010/main" val="2737843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15676" y="1693887"/>
            <a:ext cx="2724599" cy="2559929"/>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2290907" y="1669113"/>
            <a:ext cx="2630640" cy="2465954"/>
          </a:xfrm>
          <a:prstGeom prst="rect">
            <a:avLst/>
          </a:prstGeom>
          <a:blipFill>
            <a:blip r:embed="rId3" cstate="print"/>
            <a:stretch>
              <a:fillRect/>
            </a:stretch>
          </a:blipFill>
        </p:spPr>
        <p:txBody>
          <a:bodyPr wrap="square" lIns="0" tIns="0" rIns="0" bIns="0" rtlCol="0"/>
          <a:lstStyle/>
          <a:p>
            <a:endParaRPr sz="1031"/>
          </a:p>
        </p:txBody>
      </p:sp>
      <p:sp>
        <p:nvSpPr>
          <p:cNvPr id="4" name="object 4"/>
          <p:cNvSpPr txBox="1"/>
          <p:nvPr/>
        </p:nvSpPr>
        <p:spPr>
          <a:xfrm>
            <a:off x="2546540" y="3380461"/>
            <a:ext cx="444261" cy="188527"/>
          </a:xfrm>
          <a:prstGeom prst="rect">
            <a:avLst/>
          </a:prstGeom>
        </p:spPr>
        <p:txBody>
          <a:bodyPr vert="horz" wrap="square" lIns="0" tIns="5094" rIns="0" bIns="0" rtlCol="0">
            <a:spAutoFit/>
          </a:bodyPr>
          <a:lstStyle/>
          <a:p>
            <a:pPr marL="116434" marR="2911" indent="-109520">
              <a:lnSpc>
                <a:spcPct val="104000"/>
              </a:lnSpc>
              <a:spcBef>
                <a:spcPts val="40"/>
              </a:spcBef>
            </a:pPr>
            <a:r>
              <a:rPr sz="573" spc="6" dirty="0">
                <a:latin typeface="Arial"/>
                <a:cs typeface="Arial"/>
              </a:rPr>
              <a:t>Code</a:t>
            </a:r>
            <a:r>
              <a:rPr sz="573" spc="-32" dirty="0">
                <a:latin typeface="Arial"/>
                <a:cs typeface="Arial"/>
              </a:rPr>
              <a:t> </a:t>
            </a:r>
            <a:r>
              <a:rPr sz="573" spc="3" dirty="0">
                <a:latin typeface="Arial"/>
                <a:cs typeface="Arial"/>
              </a:rPr>
              <a:t>Quality  </a:t>
            </a:r>
            <a:r>
              <a:rPr sz="573" spc="6" dirty="0">
                <a:latin typeface="Arial"/>
                <a:cs typeface="Arial"/>
              </a:rPr>
              <a:t>Check</a:t>
            </a:r>
            <a:endParaRPr sz="573">
              <a:latin typeface="Arial"/>
              <a:cs typeface="Arial"/>
            </a:endParaRPr>
          </a:p>
        </p:txBody>
      </p:sp>
      <p:sp>
        <p:nvSpPr>
          <p:cNvPr id="5" name="object 5"/>
          <p:cNvSpPr txBox="1"/>
          <p:nvPr/>
        </p:nvSpPr>
        <p:spPr>
          <a:xfrm>
            <a:off x="3415383" y="3658094"/>
            <a:ext cx="366033" cy="280219"/>
          </a:xfrm>
          <a:prstGeom prst="rect">
            <a:avLst/>
          </a:prstGeom>
        </p:spPr>
        <p:txBody>
          <a:bodyPr vert="horz" wrap="square" lIns="0" tIns="5094" rIns="0" bIns="0" rtlCol="0">
            <a:spAutoFit/>
          </a:bodyPr>
          <a:lstStyle/>
          <a:p>
            <a:pPr marL="6913" marR="2911" indent="-364" algn="ctr">
              <a:lnSpc>
                <a:spcPct val="104000"/>
              </a:lnSpc>
              <a:spcBef>
                <a:spcPts val="40"/>
              </a:spcBef>
            </a:pPr>
            <a:r>
              <a:rPr sz="573" spc="3" dirty="0">
                <a:latin typeface="Arial"/>
                <a:cs typeface="Arial"/>
              </a:rPr>
              <a:t>Unit/  Integration  </a:t>
            </a:r>
            <a:r>
              <a:rPr sz="573" spc="-11" dirty="0">
                <a:latin typeface="Arial"/>
                <a:cs typeface="Arial"/>
              </a:rPr>
              <a:t>Test</a:t>
            </a:r>
            <a:endParaRPr sz="573">
              <a:latin typeface="Arial"/>
              <a:cs typeface="Arial"/>
            </a:endParaRPr>
          </a:p>
        </p:txBody>
      </p:sp>
      <p:sp>
        <p:nvSpPr>
          <p:cNvPr id="6" name="object 6"/>
          <p:cNvSpPr txBox="1"/>
          <p:nvPr/>
        </p:nvSpPr>
        <p:spPr>
          <a:xfrm>
            <a:off x="4342736" y="3374408"/>
            <a:ext cx="370036" cy="188527"/>
          </a:xfrm>
          <a:prstGeom prst="rect">
            <a:avLst/>
          </a:prstGeom>
        </p:spPr>
        <p:txBody>
          <a:bodyPr vert="horz" wrap="square" lIns="0" tIns="5094" rIns="0" bIns="0" rtlCol="0">
            <a:spAutoFit/>
          </a:bodyPr>
          <a:lstStyle/>
          <a:p>
            <a:pPr marL="7277" marR="2911" indent="72043">
              <a:lnSpc>
                <a:spcPct val="104000"/>
              </a:lnSpc>
              <a:spcBef>
                <a:spcPts val="40"/>
              </a:spcBef>
            </a:pPr>
            <a:r>
              <a:rPr sz="573" spc="6" dirty="0">
                <a:latin typeface="Arial"/>
                <a:cs typeface="Arial"/>
              </a:rPr>
              <a:t>Binary  Repository</a:t>
            </a:r>
            <a:endParaRPr sz="573">
              <a:latin typeface="Arial"/>
              <a:cs typeface="Arial"/>
            </a:endParaRPr>
          </a:p>
        </p:txBody>
      </p:sp>
      <p:sp>
        <p:nvSpPr>
          <p:cNvPr id="7" name="object 7"/>
          <p:cNvSpPr txBox="1"/>
          <p:nvPr/>
        </p:nvSpPr>
        <p:spPr>
          <a:xfrm>
            <a:off x="4484323" y="2798501"/>
            <a:ext cx="244871" cy="96983"/>
          </a:xfrm>
          <a:prstGeom prst="rect">
            <a:avLst/>
          </a:prstGeom>
        </p:spPr>
        <p:txBody>
          <a:bodyPr vert="horz" wrap="square" lIns="0" tIns="8732" rIns="0" bIns="0" rtlCol="0">
            <a:spAutoFit/>
          </a:bodyPr>
          <a:lstStyle/>
          <a:p>
            <a:pPr marL="7277">
              <a:spcBef>
                <a:spcPts val="69"/>
              </a:spcBef>
            </a:pPr>
            <a:r>
              <a:rPr sz="573" spc="3" dirty="0">
                <a:latin typeface="Arial"/>
                <a:cs typeface="Arial"/>
              </a:rPr>
              <a:t>CI</a:t>
            </a:r>
            <a:r>
              <a:rPr sz="573" spc="-46" dirty="0">
                <a:latin typeface="Arial"/>
                <a:cs typeface="Arial"/>
              </a:rPr>
              <a:t> </a:t>
            </a:r>
            <a:r>
              <a:rPr sz="573" spc="-11" dirty="0">
                <a:latin typeface="Arial"/>
                <a:cs typeface="Arial"/>
              </a:rPr>
              <a:t>Tool</a:t>
            </a:r>
            <a:endParaRPr sz="573">
              <a:latin typeface="Arial"/>
              <a:cs typeface="Arial"/>
            </a:endParaRPr>
          </a:p>
        </p:txBody>
      </p:sp>
      <p:sp>
        <p:nvSpPr>
          <p:cNvPr id="8" name="object 8"/>
          <p:cNvSpPr txBox="1"/>
          <p:nvPr/>
        </p:nvSpPr>
        <p:spPr>
          <a:xfrm>
            <a:off x="3553393" y="1962044"/>
            <a:ext cx="138627" cy="96983"/>
          </a:xfrm>
          <a:prstGeom prst="rect">
            <a:avLst/>
          </a:prstGeom>
        </p:spPr>
        <p:txBody>
          <a:bodyPr vert="horz" wrap="square" lIns="0" tIns="8732" rIns="0" bIns="0" rtlCol="0">
            <a:spAutoFit/>
          </a:bodyPr>
          <a:lstStyle/>
          <a:p>
            <a:pPr marL="7277">
              <a:spcBef>
                <a:spcPts val="69"/>
              </a:spcBef>
            </a:pPr>
            <a:r>
              <a:rPr sz="573" spc="6" dirty="0">
                <a:latin typeface="Arial"/>
                <a:cs typeface="Arial"/>
              </a:rPr>
              <a:t>IDE</a:t>
            </a:r>
            <a:endParaRPr sz="573">
              <a:latin typeface="Arial"/>
              <a:cs typeface="Arial"/>
            </a:endParaRPr>
          </a:p>
        </p:txBody>
      </p:sp>
      <p:sp>
        <p:nvSpPr>
          <p:cNvPr id="9" name="object 9"/>
          <p:cNvSpPr txBox="1"/>
          <p:nvPr/>
        </p:nvSpPr>
        <p:spPr>
          <a:xfrm>
            <a:off x="2867608" y="2061363"/>
            <a:ext cx="254331" cy="188527"/>
          </a:xfrm>
          <a:prstGeom prst="rect">
            <a:avLst/>
          </a:prstGeom>
        </p:spPr>
        <p:txBody>
          <a:bodyPr vert="horz" wrap="square" lIns="0" tIns="5094" rIns="0" bIns="0" rtlCol="0">
            <a:spAutoFit/>
          </a:bodyPr>
          <a:lstStyle/>
          <a:p>
            <a:pPr marL="7277" marR="2911" indent="1819">
              <a:lnSpc>
                <a:spcPct val="104000"/>
              </a:lnSpc>
              <a:spcBef>
                <a:spcPts val="40"/>
              </a:spcBef>
            </a:pPr>
            <a:r>
              <a:rPr sz="573" spc="3" dirty="0">
                <a:latin typeface="Arial"/>
                <a:cs typeface="Arial"/>
              </a:rPr>
              <a:t>Source  Control</a:t>
            </a:r>
            <a:endParaRPr sz="573">
              <a:latin typeface="Arial"/>
              <a:cs typeface="Arial"/>
            </a:endParaRPr>
          </a:p>
        </p:txBody>
      </p:sp>
      <p:sp>
        <p:nvSpPr>
          <p:cNvPr id="10" name="object 10"/>
          <p:cNvSpPr txBox="1"/>
          <p:nvPr/>
        </p:nvSpPr>
        <p:spPr>
          <a:xfrm>
            <a:off x="2487056" y="2767975"/>
            <a:ext cx="312184" cy="188527"/>
          </a:xfrm>
          <a:prstGeom prst="rect">
            <a:avLst/>
          </a:prstGeom>
        </p:spPr>
        <p:txBody>
          <a:bodyPr vert="horz" wrap="square" lIns="0" tIns="5094" rIns="0" bIns="0" rtlCol="0">
            <a:spAutoFit/>
          </a:bodyPr>
          <a:lstStyle/>
          <a:p>
            <a:pPr marL="69132" marR="2911" indent="-62219">
              <a:lnSpc>
                <a:spcPct val="104000"/>
              </a:lnSpc>
              <a:spcBef>
                <a:spcPts val="40"/>
              </a:spcBef>
            </a:pPr>
            <a:r>
              <a:rPr sz="573" spc="3" dirty="0">
                <a:latin typeface="Arial"/>
                <a:cs typeface="Arial"/>
              </a:rPr>
              <a:t>Agile</a:t>
            </a:r>
            <a:r>
              <a:rPr sz="573" spc="-40" dirty="0">
                <a:latin typeface="Arial"/>
                <a:cs typeface="Arial"/>
              </a:rPr>
              <a:t> </a:t>
            </a:r>
            <a:r>
              <a:rPr sz="573" spc="9" dirty="0">
                <a:latin typeface="Arial"/>
                <a:cs typeface="Arial"/>
              </a:rPr>
              <a:t>PM  </a:t>
            </a:r>
            <a:r>
              <a:rPr sz="573" spc="-11" dirty="0">
                <a:latin typeface="Arial"/>
                <a:cs typeface="Arial"/>
              </a:rPr>
              <a:t>Tools</a:t>
            </a:r>
            <a:endParaRPr sz="573">
              <a:latin typeface="Arial"/>
              <a:cs typeface="Arial"/>
            </a:endParaRPr>
          </a:p>
        </p:txBody>
      </p:sp>
      <p:sp>
        <p:nvSpPr>
          <p:cNvPr id="11" name="object 11"/>
          <p:cNvSpPr txBox="1"/>
          <p:nvPr/>
        </p:nvSpPr>
        <p:spPr>
          <a:xfrm>
            <a:off x="4113086" y="2141182"/>
            <a:ext cx="448628" cy="188527"/>
          </a:xfrm>
          <a:prstGeom prst="rect">
            <a:avLst/>
          </a:prstGeom>
        </p:spPr>
        <p:txBody>
          <a:bodyPr vert="horz" wrap="square" lIns="0" tIns="5094" rIns="0" bIns="0" rtlCol="0">
            <a:spAutoFit/>
          </a:bodyPr>
          <a:lstStyle/>
          <a:p>
            <a:pPr marL="7277" marR="2911" indent="109157">
              <a:lnSpc>
                <a:spcPct val="104000"/>
              </a:lnSpc>
              <a:spcBef>
                <a:spcPts val="40"/>
              </a:spcBef>
            </a:pPr>
            <a:r>
              <a:rPr sz="573" spc="6" dirty="0">
                <a:latin typeface="Arial"/>
                <a:cs typeface="Arial"/>
              </a:rPr>
              <a:t>Defect  Management</a:t>
            </a:r>
            <a:endParaRPr sz="573">
              <a:latin typeface="Arial"/>
              <a:cs typeface="Arial"/>
            </a:endParaRPr>
          </a:p>
        </p:txBody>
      </p:sp>
      <p:sp>
        <p:nvSpPr>
          <p:cNvPr id="12" name="object 12"/>
          <p:cNvSpPr txBox="1"/>
          <p:nvPr/>
        </p:nvSpPr>
        <p:spPr>
          <a:xfrm rot="18600000">
            <a:off x="3057866" y="2566179"/>
            <a:ext cx="420401" cy="64120"/>
          </a:xfrm>
          <a:prstGeom prst="rect">
            <a:avLst/>
          </a:prstGeom>
        </p:spPr>
        <p:txBody>
          <a:bodyPr vert="horz" wrap="square" lIns="0" tIns="0" rIns="0" bIns="0" rtlCol="0">
            <a:spAutoFit/>
          </a:bodyPr>
          <a:lstStyle/>
          <a:p>
            <a:pPr>
              <a:lnSpc>
                <a:spcPts val="504"/>
              </a:lnSpc>
            </a:pPr>
            <a:r>
              <a:rPr sz="516" dirty="0">
                <a:latin typeface="Arial"/>
                <a:cs typeface="Arial"/>
              </a:rPr>
              <a:t>Reques</a:t>
            </a:r>
            <a:r>
              <a:rPr sz="516" spc="-3" dirty="0">
                <a:latin typeface="Arial"/>
                <a:cs typeface="Arial"/>
              </a:rPr>
              <a:t>t</a:t>
            </a:r>
            <a:r>
              <a:rPr sz="516" dirty="0">
                <a:latin typeface="Arial"/>
                <a:cs typeface="Arial"/>
              </a:rPr>
              <a:t>, Plan</a:t>
            </a:r>
            <a:endParaRPr sz="516">
              <a:latin typeface="Arial"/>
              <a:cs typeface="Arial"/>
            </a:endParaRPr>
          </a:p>
        </p:txBody>
      </p:sp>
      <p:sp>
        <p:nvSpPr>
          <p:cNvPr id="13" name="object 13"/>
          <p:cNvSpPr txBox="1"/>
          <p:nvPr/>
        </p:nvSpPr>
        <p:spPr>
          <a:xfrm rot="3900000">
            <a:off x="2963453" y="3180303"/>
            <a:ext cx="441973" cy="64120"/>
          </a:xfrm>
          <a:prstGeom prst="rect">
            <a:avLst/>
          </a:prstGeom>
        </p:spPr>
        <p:txBody>
          <a:bodyPr vert="horz" wrap="square" lIns="0" tIns="0" rIns="0" bIns="0" rtlCol="0">
            <a:spAutoFit/>
          </a:bodyPr>
          <a:lstStyle/>
          <a:p>
            <a:pPr>
              <a:lnSpc>
                <a:spcPts val="504"/>
              </a:lnSpc>
            </a:pPr>
            <a:r>
              <a:rPr sz="516" dirty="0">
                <a:latin typeface="Arial"/>
                <a:cs typeface="Arial"/>
              </a:rPr>
              <a:t>Report Resul</a:t>
            </a:r>
            <a:r>
              <a:rPr sz="516" spc="-3" dirty="0">
                <a:latin typeface="Arial"/>
                <a:cs typeface="Arial"/>
              </a:rPr>
              <a:t>t</a:t>
            </a:r>
            <a:r>
              <a:rPr sz="516" dirty="0">
                <a:latin typeface="Arial"/>
                <a:cs typeface="Arial"/>
              </a:rPr>
              <a:t>s</a:t>
            </a:r>
            <a:endParaRPr sz="516">
              <a:latin typeface="Arial"/>
              <a:cs typeface="Arial"/>
            </a:endParaRPr>
          </a:p>
        </p:txBody>
      </p:sp>
      <p:sp>
        <p:nvSpPr>
          <p:cNvPr id="14" name="object 14"/>
          <p:cNvSpPr txBox="1"/>
          <p:nvPr/>
        </p:nvSpPr>
        <p:spPr>
          <a:xfrm rot="20460000">
            <a:off x="3544243" y="3365496"/>
            <a:ext cx="495642" cy="64120"/>
          </a:xfrm>
          <a:prstGeom prst="rect">
            <a:avLst/>
          </a:prstGeom>
        </p:spPr>
        <p:txBody>
          <a:bodyPr vert="horz" wrap="square" lIns="0" tIns="0" rIns="0" bIns="0" rtlCol="0">
            <a:spAutoFit/>
          </a:bodyPr>
          <a:lstStyle/>
          <a:p>
            <a:pPr>
              <a:lnSpc>
                <a:spcPts val="512"/>
              </a:lnSpc>
            </a:pPr>
            <a:r>
              <a:rPr sz="516" dirty="0">
                <a:latin typeface="Arial"/>
                <a:cs typeface="Arial"/>
              </a:rPr>
              <a:t>Automated</a:t>
            </a:r>
            <a:r>
              <a:rPr sz="516" spc="-57" dirty="0">
                <a:latin typeface="Arial"/>
                <a:cs typeface="Arial"/>
              </a:rPr>
              <a:t> </a:t>
            </a:r>
            <a:r>
              <a:rPr sz="516" spc="-11" dirty="0">
                <a:latin typeface="Arial"/>
                <a:cs typeface="Arial"/>
              </a:rPr>
              <a:t>T</a:t>
            </a:r>
            <a:r>
              <a:rPr sz="774" spc="-17" baseline="3086" dirty="0">
                <a:latin typeface="Arial"/>
                <a:cs typeface="Arial"/>
              </a:rPr>
              <a:t>ests</a:t>
            </a:r>
            <a:endParaRPr sz="774" baseline="3086">
              <a:latin typeface="Arial"/>
              <a:cs typeface="Arial"/>
            </a:endParaRPr>
          </a:p>
        </p:txBody>
      </p:sp>
      <p:sp>
        <p:nvSpPr>
          <p:cNvPr id="15" name="object 15"/>
          <p:cNvSpPr txBox="1"/>
          <p:nvPr/>
        </p:nvSpPr>
        <p:spPr>
          <a:xfrm rot="20460000">
            <a:off x="3607259" y="3443431"/>
            <a:ext cx="424354" cy="64120"/>
          </a:xfrm>
          <a:prstGeom prst="rect">
            <a:avLst/>
          </a:prstGeom>
        </p:spPr>
        <p:txBody>
          <a:bodyPr vert="horz" wrap="square" lIns="0" tIns="0" rIns="0" bIns="0" rtlCol="0">
            <a:spAutoFit/>
          </a:bodyPr>
          <a:lstStyle/>
          <a:p>
            <a:pPr>
              <a:lnSpc>
                <a:spcPts val="512"/>
              </a:lnSpc>
            </a:pPr>
            <a:r>
              <a:rPr sz="516" dirty="0">
                <a:latin typeface="Arial"/>
                <a:cs typeface="Arial"/>
              </a:rPr>
              <a:t>Code</a:t>
            </a:r>
            <a:r>
              <a:rPr sz="516" spc="-72" dirty="0">
                <a:latin typeface="Arial"/>
                <a:cs typeface="Arial"/>
              </a:rPr>
              <a:t> </a:t>
            </a:r>
            <a:r>
              <a:rPr sz="516" dirty="0">
                <a:latin typeface="Arial"/>
                <a:cs typeface="Arial"/>
              </a:rPr>
              <a:t>Analysi</a:t>
            </a:r>
            <a:r>
              <a:rPr sz="774" baseline="3086" dirty="0">
                <a:latin typeface="Arial"/>
                <a:cs typeface="Arial"/>
              </a:rPr>
              <a:t>s</a:t>
            </a:r>
            <a:endParaRPr sz="774" baseline="3086">
              <a:latin typeface="Arial"/>
              <a:cs typeface="Arial"/>
            </a:endParaRPr>
          </a:p>
        </p:txBody>
      </p:sp>
      <p:sp>
        <p:nvSpPr>
          <p:cNvPr id="16" name="object 16"/>
          <p:cNvSpPr txBox="1"/>
          <p:nvPr/>
        </p:nvSpPr>
        <p:spPr>
          <a:xfrm rot="5580000">
            <a:off x="4016819" y="2954404"/>
            <a:ext cx="327677" cy="64120"/>
          </a:xfrm>
          <a:prstGeom prst="rect">
            <a:avLst/>
          </a:prstGeom>
        </p:spPr>
        <p:txBody>
          <a:bodyPr vert="horz" wrap="square" lIns="0" tIns="0" rIns="0" bIns="0" rtlCol="0">
            <a:spAutoFit/>
          </a:bodyPr>
          <a:lstStyle/>
          <a:p>
            <a:pPr>
              <a:lnSpc>
                <a:spcPts val="521"/>
              </a:lnSpc>
            </a:pPr>
            <a:r>
              <a:rPr sz="774" spc="4" baseline="3086" dirty="0">
                <a:latin typeface="Arial"/>
                <a:cs typeface="Arial"/>
              </a:rPr>
              <a:t>A</a:t>
            </a:r>
            <a:r>
              <a:rPr sz="774" spc="-17" baseline="3086" dirty="0">
                <a:latin typeface="Arial"/>
                <a:cs typeface="Arial"/>
              </a:rPr>
              <a:t>uto</a:t>
            </a:r>
            <a:r>
              <a:rPr sz="774" spc="4" baseline="3086" dirty="0">
                <a:latin typeface="Arial"/>
                <a:cs typeface="Arial"/>
              </a:rPr>
              <a:t>m</a:t>
            </a:r>
            <a:r>
              <a:rPr sz="774" spc="-17" baseline="3086" dirty="0">
                <a:latin typeface="Arial"/>
                <a:cs typeface="Arial"/>
              </a:rPr>
              <a:t>a</a:t>
            </a:r>
            <a:r>
              <a:rPr sz="516" spc="-11" dirty="0">
                <a:latin typeface="Arial"/>
                <a:cs typeface="Arial"/>
              </a:rPr>
              <a:t>te</a:t>
            </a:r>
            <a:r>
              <a:rPr sz="516" dirty="0">
                <a:latin typeface="Arial"/>
                <a:cs typeface="Arial"/>
              </a:rPr>
              <a:t>d</a:t>
            </a:r>
            <a:endParaRPr sz="516">
              <a:latin typeface="Arial"/>
              <a:cs typeface="Arial"/>
            </a:endParaRPr>
          </a:p>
        </p:txBody>
      </p:sp>
      <p:sp>
        <p:nvSpPr>
          <p:cNvPr id="17" name="object 17"/>
          <p:cNvSpPr txBox="1"/>
          <p:nvPr/>
        </p:nvSpPr>
        <p:spPr>
          <a:xfrm rot="5580000">
            <a:off x="4017186" y="2948520"/>
            <a:ext cx="162219" cy="64120"/>
          </a:xfrm>
          <a:prstGeom prst="rect">
            <a:avLst/>
          </a:prstGeom>
        </p:spPr>
        <p:txBody>
          <a:bodyPr vert="horz" wrap="square" lIns="0" tIns="0" rIns="0" bIns="0" rtlCol="0">
            <a:spAutoFit/>
          </a:bodyPr>
          <a:lstStyle/>
          <a:p>
            <a:pPr>
              <a:lnSpc>
                <a:spcPts val="510"/>
              </a:lnSpc>
            </a:pPr>
            <a:r>
              <a:rPr sz="774" spc="4" baseline="3086" dirty="0">
                <a:latin typeface="Arial"/>
                <a:cs typeface="Arial"/>
              </a:rPr>
              <a:t>B</a:t>
            </a:r>
            <a:r>
              <a:rPr sz="774" spc="-17" baseline="3086" dirty="0">
                <a:latin typeface="Arial"/>
                <a:cs typeface="Arial"/>
              </a:rPr>
              <a:t>u</a:t>
            </a:r>
            <a:r>
              <a:rPr sz="516" spc="-11" dirty="0">
                <a:latin typeface="Arial"/>
                <a:cs typeface="Arial"/>
              </a:rPr>
              <a:t>il</a:t>
            </a:r>
            <a:r>
              <a:rPr sz="516" dirty="0">
                <a:latin typeface="Arial"/>
                <a:cs typeface="Arial"/>
              </a:rPr>
              <a:t>d</a:t>
            </a:r>
            <a:endParaRPr sz="516">
              <a:latin typeface="Arial"/>
              <a:cs typeface="Arial"/>
            </a:endParaRPr>
          </a:p>
        </p:txBody>
      </p:sp>
      <p:sp>
        <p:nvSpPr>
          <p:cNvPr id="18" name="object 18"/>
          <p:cNvSpPr txBox="1"/>
          <p:nvPr/>
        </p:nvSpPr>
        <p:spPr>
          <a:xfrm rot="1260000">
            <a:off x="3586052" y="2435058"/>
            <a:ext cx="539305" cy="64120"/>
          </a:xfrm>
          <a:prstGeom prst="rect">
            <a:avLst/>
          </a:prstGeom>
        </p:spPr>
        <p:txBody>
          <a:bodyPr vert="horz" wrap="square" lIns="0" tIns="0" rIns="0" bIns="0" rtlCol="0">
            <a:spAutoFit/>
          </a:bodyPr>
          <a:lstStyle/>
          <a:p>
            <a:pPr>
              <a:lnSpc>
                <a:spcPts val="504"/>
              </a:lnSpc>
            </a:pPr>
            <a:r>
              <a:rPr sz="516" dirty="0">
                <a:latin typeface="Arial"/>
                <a:cs typeface="Arial"/>
              </a:rPr>
              <a:t>Develop, Unit</a:t>
            </a:r>
            <a:r>
              <a:rPr sz="516" spc="-34" dirty="0">
                <a:latin typeface="Arial"/>
                <a:cs typeface="Arial"/>
              </a:rPr>
              <a:t> </a:t>
            </a:r>
            <a:r>
              <a:rPr sz="516" spc="-14" dirty="0">
                <a:latin typeface="Arial"/>
                <a:cs typeface="Arial"/>
              </a:rPr>
              <a:t>Test</a:t>
            </a:r>
            <a:endParaRPr sz="516">
              <a:latin typeface="Arial"/>
              <a:cs typeface="Arial"/>
            </a:endParaRPr>
          </a:p>
        </p:txBody>
      </p:sp>
      <p:sp>
        <p:nvSpPr>
          <p:cNvPr id="19" name="object 19"/>
          <p:cNvSpPr txBox="1"/>
          <p:nvPr/>
        </p:nvSpPr>
        <p:spPr>
          <a:xfrm>
            <a:off x="3364210" y="2776120"/>
            <a:ext cx="565060" cy="244793"/>
          </a:xfrm>
          <a:prstGeom prst="rect">
            <a:avLst/>
          </a:prstGeom>
        </p:spPr>
        <p:txBody>
          <a:bodyPr vert="horz" wrap="square" lIns="0" tIns="13826" rIns="0" bIns="0" rtlCol="0">
            <a:spAutoFit/>
          </a:bodyPr>
          <a:lstStyle/>
          <a:p>
            <a:pPr marL="26198" marR="2911" indent="-19284">
              <a:lnSpc>
                <a:spcPts val="911"/>
              </a:lnSpc>
              <a:spcBef>
                <a:spcPts val="109"/>
              </a:spcBef>
            </a:pPr>
            <a:r>
              <a:rPr sz="774" b="1" spc="3" dirty="0">
                <a:solidFill>
                  <a:srgbClr val="005493"/>
                </a:solidFill>
                <a:latin typeface="Arial"/>
                <a:cs typeface="Arial"/>
              </a:rPr>
              <a:t>C</a:t>
            </a:r>
            <a:r>
              <a:rPr sz="774" b="1" dirty="0">
                <a:solidFill>
                  <a:srgbClr val="005493"/>
                </a:solidFill>
                <a:latin typeface="Arial"/>
                <a:cs typeface="Arial"/>
              </a:rPr>
              <a:t>ontinuous  Integration</a:t>
            </a:r>
            <a:endParaRPr sz="774">
              <a:latin typeface="Arial"/>
              <a:cs typeface="Arial"/>
            </a:endParaRPr>
          </a:p>
        </p:txBody>
      </p:sp>
      <p:sp>
        <p:nvSpPr>
          <p:cNvPr id="20" name="object 20"/>
          <p:cNvSpPr/>
          <p:nvPr/>
        </p:nvSpPr>
        <p:spPr>
          <a:xfrm>
            <a:off x="5093939" y="1690877"/>
            <a:ext cx="1758257" cy="2562938"/>
          </a:xfrm>
          <a:prstGeom prst="rect">
            <a:avLst/>
          </a:prstGeom>
          <a:blipFill>
            <a:blip r:embed="rId4" cstate="print"/>
            <a:stretch>
              <a:fillRect/>
            </a:stretch>
          </a:blipFill>
        </p:spPr>
        <p:txBody>
          <a:bodyPr wrap="square" lIns="0" tIns="0" rIns="0" bIns="0" rtlCol="0"/>
          <a:lstStyle/>
          <a:p>
            <a:endParaRPr sz="1031"/>
          </a:p>
        </p:txBody>
      </p:sp>
      <p:sp>
        <p:nvSpPr>
          <p:cNvPr id="21" name="object 21"/>
          <p:cNvSpPr/>
          <p:nvPr/>
        </p:nvSpPr>
        <p:spPr>
          <a:xfrm>
            <a:off x="5068940" y="1665913"/>
            <a:ext cx="1658262" cy="2463084"/>
          </a:xfrm>
          <a:prstGeom prst="rect">
            <a:avLst/>
          </a:prstGeom>
          <a:blipFill>
            <a:blip r:embed="rId5" cstate="print"/>
            <a:stretch>
              <a:fillRect/>
            </a:stretch>
          </a:blipFill>
        </p:spPr>
        <p:txBody>
          <a:bodyPr wrap="square" lIns="0" tIns="0" rIns="0" bIns="0" rtlCol="0"/>
          <a:lstStyle/>
          <a:p>
            <a:endParaRPr sz="1031"/>
          </a:p>
        </p:txBody>
      </p:sp>
      <p:sp>
        <p:nvSpPr>
          <p:cNvPr id="22" name="object 22"/>
          <p:cNvSpPr/>
          <p:nvPr/>
        </p:nvSpPr>
        <p:spPr>
          <a:xfrm>
            <a:off x="5073107" y="1678395"/>
            <a:ext cx="1658430" cy="2454898"/>
          </a:xfrm>
          <a:custGeom>
            <a:avLst/>
            <a:gdLst/>
            <a:ahLst/>
            <a:cxnLst/>
            <a:rect l="l" t="t" r="r" b="b"/>
            <a:pathLst>
              <a:path w="2894329" h="4284345">
                <a:moveTo>
                  <a:pt x="2763150" y="4284106"/>
                </a:moveTo>
                <a:lnTo>
                  <a:pt x="2810006" y="4269637"/>
                </a:lnTo>
                <a:lnTo>
                  <a:pt x="2850246" y="4239471"/>
                </a:lnTo>
                <a:lnTo>
                  <a:pt x="2879660" y="4197131"/>
                </a:lnTo>
                <a:lnTo>
                  <a:pt x="2894036" y="4146143"/>
                </a:lnTo>
                <a:lnTo>
                  <a:pt x="2894036" y="120535"/>
                </a:lnTo>
                <a:lnTo>
                  <a:pt x="2879546" y="69819"/>
                </a:lnTo>
                <a:lnTo>
                  <a:pt x="2849338" y="29386"/>
                </a:lnTo>
                <a:lnTo>
                  <a:pt x="2806939" y="4394"/>
                </a:lnTo>
                <a:lnTo>
                  <a:pt x="2755879" y="0"/>
                </a:lnTo>
                <a:lnTo>
                  <a:pt x="129431" y="0"/>
                </a:lnTo>
                <a:lnTo>
                  <a:pt x="78508" y="4394"/>
                </a:lnTo>
                <a:lnTo>
                  <a:pt x="37063" y="29386"/>
                </a:lnTo>
                <a:lnTo>
                  <a:pt x="9445" y="69819"/>
                </a:lnTo>
                <a:lnTo>
                  <a:pt x="0" y="120535"/>
                </a:lnTo>
                <a:lnTo>
                  <a:pt x="0" y="4146143"/>
                </a:lnTo>
                <a:lnTo>
                  <a:pt x="9445" y="4197131"/>
                </a:lnTo>
                <a:lnTo>
                  <a:pt x="37063" y="4239471"/>
                </a:lnTo>
                <a:lnTo>
                  <a:pt x="78508" y="4269637"/>
                </a:lnTo>
                <a:lnTo>
                  <a:pt x="129431" y="4284106"/>
                </a:lnTo>
                <a:lnTo>
                  <a:pt x="2763150" y="4284106"/>
                </a:lnTo>
                <a:close/>
              </a:path>
            </a:pathLst>
          </a:custGeom>
          <a:ln w="3488">
            <a:solidFill>
              <a:srgbClr val="000000"/>
            </a:solidFill>
          </a:ln>
        </p:spPr>
        <p:txBody>
          <a:bodyPr wrap="square" lIns="0" tIns="0" rIns="0" bIns="0" rtlCol="0"/>
          <a:lstStyle/>
          <a:p>
            <a:endParaRPr sz="1031"/>
          </a:p>
        </p:txBody>
      </p:sp>
      <p:sp>
        <p:nvSpPr>
          <p:cNvPr id="23" name="object 23"/>
          <p:cNvSpPr/>
          <p:nvPr/>
        </p:nvSpPr>
        <p:spPr>
          <a:xfrm>
            <a:off x="5392260" y="3681784"/>
            <a:ext cx="1080999" cy="250693"/>
          </a:xfrm>
          <a:custGeom>
            <a:avLst/>
            <a:gdLst/>
            <a:ahLst/>
            <a:cxnLst/>
            <a:rect l="l" t="t" r="r" b="b"/>
            <a:pathLst>
              <a:path w="1886584" h="437515">
                <a:moveTo>
                  <a:pt x="1755279" y="0"/>
                </a:moveTo>
                <a:lnTo>
                  <a:pt x="130886" y="0"/>
                </a:lnTo>
                <a:lnTo>
                  <a:pt x="79939" y="10271"/>
                </a:lnTo>
                <a:lnTo>
                  <a:pt x="38335" y="38282"/>
                </a:lnTo>
                <a:lnTo>
                  <a:pt x="10285" y="79827"/>
                </a:lnTo>
                <a:lnTo>
                  <a:pt x="0" y="130701"/>
                </a:lnTo>
                <a:lnTo>
                  <a:pt x="0" y="306475"/>
                </a:lnTo>
                <a:lnTo>
                  <a:pt x="10285" y="357350"/>
                </a:lnTo>
                <a:lnTo>
                  <a:pt x="38335" y="398895"/>
                </a:lnTo>
                <a:lnTo>
                  <a:pt x="79939" y="426905"/>
                </a:lnTo>
                <a:lnTo>
                  <a:pt x="130886" y="437177"/>
                </a:lnTo>
                <a:lnTo>
                  <a:pt x="1755279" y="437177"/>
                </a:lnTo>
                <a:lnTo>
                  <a:pt x="1806228" y="426905"/>
                </a:lnTo>
                <a:lnTo>
                  <a:pt x="1847831" y="398895"/>
                </a:lnTo>
                <a:lnTo>
                  <a:pt x="1875880" y="357350"/>
                </a:lnTo>
                <a:lnTo>
                  <a:pt x="1886165" y="306475"/>
                </a:lnTo>
                <a:lnTo>
                  <a:pt x="1886165" y="130701"/>
                </a:lnTo>
                <a:lnTo>
                  <a:pt x="1875880" y="79827"/>
                </a:lnTo>
                <a:lnTo>
                  <a:pt x="1847831" y="38282"/>
                </a:lnTo>
                <a:lnTo>
                  <a:pt x="1806228" y="10271"/>
                </a:lnTo>
                <a:lnTo>
                  <a:pt x="1755279" y="0"/>
                </a:lnTo>
                <a:close/>
              </a:path>
            </a:pathLst>
          </a:custGeom>
          <a:solidFill>
            <a:srgbClr val="FFFFFF"/>
          </a:solidFill>
        </p:spPr>
        <p:txBody>
          <a:bodyPr wrap="square" lIns="0" tIns="0" rIns="0" bIns="0" rtlCol="0"/>
          <a:lstStyle/>
          <a:p>
            <a:endParaRPr sz="1031"/>
          </a:p>
        </p:txBody>
      </p:sp>
      <p:sp>
        <p:nvSpPr>
          <p:cNvPr id="24" name="object 24"/>
          <p:cNvSpPr/>
          <p:nvPr/>
        </p:nvSpPr>
        <p:spPr>
          <a:xfrm>
            <a:off x="5398093" y="3683811"/>
            <a:ext cx="1075178" cy="249965"/>
          </a:xfrm>
          <a:custGeom>
            <a:avLst/>
            <a:gdLst/>
            <a:ahLst/>
            <a:cxnLst/>
            <a:rect l="l" t="t" r="r" b="b"/>
            <a:pathLst>
              <a:path w="1876425" h="436245">
                <a:moveTo>
                  <a:pt x="1745147" y="435671"/>
                </a:moveTo>
                <a:lnTo>
                  <a:pt x="1796070" y="424225"/>
                </a:lnTo>
                <a:lnTo>
                  <a:pt x="1837665" y="395610"/>
                </a:lnTo>
                <a:lnTo>
                  <a:pt x="1865723" y="353843"/>
                </a:lnTo>
                <a:lnTo>
                  <a:pt x="1876033" y="302937"/>
                </a:lnTo>
                <a:lnTo>
                  <a:pt x="1876033" y="127163"/>
                </a:lnTo>
                <a:lnTo>
                  <a:pt x="1865722" y="76344"/>
                </a:lnTo>
                <a:lnTo>
                  <a:pt x="1837660" y="35185"/>
                </a:lnTo>
                <a:lnTo>
                  <a:pt x="1796051" y="8225"/>
                </a:lnTo>
                <a:lnTo>
                  <a:pt x="1745104" y="0"/>
                </a:lnTo>
                <a:lnTo>
                  <a:pt x="120706" y="0"/>
                </a:lnTo>
                <a:lnTo>
                  <a:pt x="69918" y="8225"/>
                </a:lnTo>
                <a:lnTo>
                  <a:pt x="29428" y="35185"/>
                </a:lnTo>
                <a:lnTo>
                  <a:pt x="4400" y="76344"/>
                </a:lnTo>
                <a:lnTo>
                  <a:pt x="0" y="127163"/>
                </a:lnTo>
                <a:lnTo>
                  <a:pt x="0" y="302937"/>
                </a:lnTo>
                <a:lnTo>
                  <a:pt x="4400" y="353843"/>
                </a:lnTo>
                <a:lnTo>
                  <a:pt x="29428" y="395610"/>
                </a:lnTo>
                <a:lnTo>
                  <a:pt x="69918" y="424225"/>
                </a:lnTo>
                <a:lnTo>
                  <a:pt x="120706" y="435671"/>
                </a:lnTo>
                <a:lnTo>
                  <a:pt x="1745147" y="435671"/>
                </a:lnTo>
                <a:close/>
              </a:path>
            </a:pathLst>
          </a:custGeom>
          <a:ln w="3485">
            <a:solidFill>
              <a:srgbClr val="000000"/>
            </a:solidFill>
          </a:ln>
        </p:spPr>
        <p:txBody>
          <a:bodyPr wrap="square" lIns="0" tIns="0" rIns="0" bIns="0" rtlCol="0"/>
          <a:lstStyle/>
          <a:p>
            <a:endParaRPr sz="1031"/>
          </a:p>
        </p:txBody>
      </p:sp>
      <p:sp>
        <p:nvSpPr>
          <p:cNvPr id="25" name="object 25"/>
          <p:cNvSpPr txBox="1"/>
          <p:nvPr/>
        </p:nvSpPr>
        <p:spPr>
          <a:xfrm>
            <a:off x="5543879" y="3707792"/>
            <a:ext cx="777912" cy="190323"/>
          </a:xfrm>
          <a:prstGeom prst="rect">
            <a:avLst/>
          </a:prstGeom>
        </p:spPr>
        <p:txBody>
          <a:bodyPr vert="horz" wrap="square" lIns="0" tIns="5094" rIns="0" bIns="0" rtlCol="0">
            <a:spAutoFit/>
          </a:bodyPr>
          <a:lstStyle/>
          <a:p>
            <a:pPr marL="188477" marR="2911" indent="-181564">
              <a:lnSpc>
                <a:spcPct val="104800"/>
              </a:lnSpc>
              <a:spcBef>
                <a:spcPts val="40"/>
              </a:spcBef>
            </a:pPr>
            <a:r>
              <a:rPr sz="573" spc="6" dirty="0">
                <a:latin typeface="Arial"/>
                <a:cs typeface="Arial"/>
              </a:rPr>
              <a:t>Automated/Continuous  </a:t>
            </a:r>
            <a:r>
              <a:rPr sz="573" spc="9" dirty="0">
                <a:latin typeface="Arial"/>
                <a:cs typeface="Arial"/>
              </a:rPr>
              <a:t>Deployment</a:t>
            </a:r>
            <a:endParaRPr sz="573">
              <a:latin typeface="Arial"/>
              <a:cs typeface="Arial"/>
            </a:endParaRPr>
          </a:p>
        </p:txBody>
      </p:sp>
      <p:sp>
        <p:nvSpPr>
          <p:cNvPr id="26" name="object 26"/>
          <p:cNvSpPr/>
          <p:nvPr/>
        </p:nvSpPr>
        <p:spPr>
          <a:xfrm>
            <a:off x="5187458" y="2123682"/>
            <a:ext cx="780095" cy="780459"/>
          </a:xfrm>
          <a:custGeom>
            <a:avLst/>
            <a:gdLst/>
            <a:ahLst/>
            <a:cxnLst/>
            <a:rect l="l" t="t" r="r" b="b"/>
            <a:pathLst>
              <a:path w="1361440" h="1362075">
                <a:moveTo>
                  <a:pt x="452285" y="1309257"/>
                </a:moveTo>
                <a:lnTo>
                  <a:pt x="134577" y="1309257"/>
                </a:lnTo>
                <a:lnTo>
                  <a:pt x="449908" y="1361937"/>
                </a:lnTo>
                <a:lnTo>
                  <a:pt x="451592" y="1340042"/>
                </a:lnTo>
                <a:lnTo>
                  <a:pt x="451103" y="1319159"/>
                </a:lnTo>
                <a:lnTo>
                  <a:pt x="452285" y="1309257"/>
                </a:lnTo>
                <a:close/>
              </a:path>
              <a:path w="1361440" h="1362075">
                <a:moveTo>
                  <a:pt x="1048413" y="0"/>
                </a:moveTo>
                <a:lnTo>
                  <a:pt x="1053683" y="195460"/>
                </a:lnTo>
                <a:lnTo>
                  <a:pt x="998777" y="202554"/>
                </a:lnTo>
                <a:lnTo>
                  <a:pt x="921123" y="217602"/>
                </a:lnTo>
                <a:lnTo>
                  <a:pt x="841729" y="237421"/>
                </a:lnTo>
                <a:lnTo>
                  <a:pt x="764282" y="264248"/>
                </a:lnTo>
                <a:lnTo>
                  <a:pt x="714364" y="284854"/>
                </a:lnTo>
                <a:lnTo>
                  <a:pt x="630679" y="323822"/>
                </a:lnTo>
                <a:lnTo>
                  <a:pt x="606694" y="337628"/>
                </a:lnTo>
                <a:lnTo>
                  <a:pt x="581117" y="350858"/>
                </a:lnTo>
                <a:lnTo>
                  <a:pt x="515610" y="391917"/>
                </a:lnTo>
                <a:lnTo>
                  <a:pt x="477273" y="420325"/>
                </a:lnTo>
                <a:lnTo>
                  <a:pt x="461908" y="432756"/>
                </a:lnTo>
                <a:lnTo>
                  <a:pt x="443283" y="446706"/>
                </a:lnTo>
                <a:lnTo>
                  <a:pt x="428424" y="460222"/>
                </a:lnTo>
                <a:lnTo>
                  <a:pt x="415233" y="471643"/>
                </a:lnTo>
                <a:lnTo>
                  <a:pt x="390737" y="494783"/>
                </a:lnTo>
                <a:lnTo>
                  <a:pt x="293237" y="595741"/>
                </a:lnTo>
                <a:lnTo>
                  <a:pt x="263371" y="628120"/>
                </a:lnTo>
                <a:lnTo>
                  <a:pt x="249955" y="647561"/>
                </a:lnTo>
                <a:lnTo>
                  <a:pt x="217691" y="688973"/>
                </a:lnTo>
                <a:lnTo>
                  <a:pt x="201522" y="711017"/>
                </a:lnTo>
                <a:lnTo>
                  <a:pt x="186946" y="733637"/>
                </a:lnTo>
                <a:lnTo>
                  <a:pt x="172875" y="757342"/>
                </a:lnTo>
                <a:lnTo>
                  <a:pt x="160978" y="780032"/>
                </a:lnTo>
                <a:lnTo>
                  <a:pt x="146908" y="803737"/>
                </a:lnTo>
                <a:lnTo>
                  <a:pt x="136098" y="825924"/>
                </a:lnTo>
                <a:lnTo>
                  <a:pt x="126449" y="844931"/>
                </a:lnTo>
                <a:lnTo>
                  <a:pt x="114553" y="867621"/>
                </a:lnTo>
                <a:lnTo>
                  <a:pt x="96268" y="907802"/>
                </a:lnTo>
                <a:lnTo>
                  <a:pt x="89374" y="924207"/>
                </a:lnTo>
                <a:lnTo>
                  <a:pt x="80156" y="946971"/>
                </a:lnTo>
                <a:lnTo>
                  <a:pt x="72101" y="966555"/>
                </a:lnTo>
                <a:lnTo>
                  <a:pt x="65057" y="988306"/>
                </a:lnTo>
                <a:lnTo>
                  <a:pt x="57359" y="1014321"/>
                </a:lnTo>
                <a:lnTo>
                  <a:pt x="50390" y="1033399"/>
                </a:lnTo>
                <a:lnTo>
                  <a:pt x="43853" y="1056235"/>
                </a:lnTo>
                <a:lnTo>
                  <a:pt x="37896" y="1077481"/>
                </a:lnTo>
                <a:lnTo>
                  <a:pt x="32951" y="1100894"/>
                </a:lnTo>
                <a:lnTo>
                  <a:pt x="28588" y="1122716"/>
                </a:lnTo>
                <a:lnTo>
                  <a:pt x="23211" y="1142372"/>
                </a:lnTo>
                <a:lnTo>
                  <a:pt x="20009" y="1161017"/>
                </a:lnTo>
                <a:lnTo>
                  <a:pt x="15065" y="1184429"/>
                </a:lnTo>
                <a:lnTo>
                  <a:pt x="11208" y="1207337"/>
                </a:lnTo>
                <a:lnTo>
                  <a:pt x="9598" y="1226557"/>
                </a:lnTo>
                <a:lnTo>
                  <a:pt x="7483" y="1244696"/>
                </a:lnTo>
                <a:lnTo>
                  <a:pt x="4786" y="1264423"/>
                </a:lnTo>
                <a:lnTo>
                  <a:pt x="3177" y="1283643"/>
                </a:lnTo>
                <a:lnTo>
                  <a:pt x="2148" y="1301275"/>
                </a:lnTo>
                <a:lnTo>
                  <a:pt x="1626" y="1319990"/>
                </a:lnTo>
                <a:lnTo>
                  <a:pt x="597" y="1337622"/>
                </a:lnTo>
                <a:lnTo>
                  <a:pt x="0" y="1359010"/>
                </a:lnTo>
                <a:lnTo>
                  <a:pt x="134577" y="1309257"/>
                </a:lnTo>
                <a:lnTo>
                  <a:pt x="452285" y="1309257"/>
                </a:lnTo>
                <a:lnTo>
                  <a:pt x="454603" y="1289821"/>
                </a:lnTo>
                <a:lnTo>
                  <a:pt x="458179" y="1257809"/>
                </a:lnTo>
                <a:lnTo>
                  <a:pt x="463704" y="1232806"/>
                </a:lnTo>
                <a:lnTo>
                  <a:pt x="477078" y="1176442"/>
                </a:lnTo>
                <a:lnTo>
                  <a:pt x="487024" y="1146740"/>
                </a:lnTo>
                <a:lnTo>
                  <a:pt x="495305" y="1119137"/>
                </a:lnTo>
                <a:lnTo>
                  <a:pt x="505177" y="1092109"/>
                </a:lnTo>
                <a:lnTo>
                  <a:pt x="518816" y="1064647"/>
                </a:lnTo>
                <a:lnTo>
                  <a:pt x="531949" y="1036102"/>
                </a:lnTo>
                <a:lnTo>
                  <a:pt x="565748" y="978141"/>
                </a:lnTo>
                <a:lnTo>
                  <a:pt x="602076" y="925601"/>
                </a:lnTo>
                <a:lnTo>
                  <a:pt x="701982" y="818206"/>
                </a:lnTo>
                <a:lnTo>
                  <a:pt x="764152" y="768326"/>
                </a:lnTo>
                <a:lnTo>
                  <a:pt x="806762" y="740569"/>
                </a:lnTo>
                <a:lnTo>
                  <a:pt x="851977" y="715556"/>
                </a:lnTo>
                <a:lnTo>
                  <a:pt x="925806" y="683816"/>
                </a:lnTo>
                <a:lnTo>
                  <a:pt x="976156" y="666969"/>
                </a:lnTo>
                <a:lnTo>
                  <a:pt x="1047438" y="649609"/>
                </a:lnTo>
                <a:lnTo>
                  <a:pt x="1067358" y="646931"/>
                </a:lnTo>
                <a:lnTo>
                  <a:pt x="1186353" y="646931"/>
                </a:lnTo>
                <a:lnTo>
                  <a:pt x="1361028" y="405947"/>
                </a:lnTo>
                <a:lnTo>
                  <a:pt x="1048413" y="0"/>
                </a:lnTo>
                <a:close/>
              </a:path>
              <a:path w="1361440" h="1362075">
                <a:moveTo>
                  <a:pt x="1186353" y="646931"/>
                </a:moveTo>
                <a:lnTo>
                  <a:pt x="1067358" y="646931"/>
                </a:lnTo>
                <a:lnTo>
                  <a:pt x="1073746" y="802285"/>
                </a:lnTo>
                <a:lnTo>
                  <a:pt x="1186353" y="646931"/>
                </a:lnTo>
                <a:close/>
              </a:path>
            </a:pathLst>
          </a:custGeom>
          <a:solidFill>
            <a:srgbClr val="05F900"/>
          </a:solidFill>
        </p:spPr>
        <p:txBody>
          <a:bodyPr wrap="square" lIns="0" tIns="0" rIns="0" bIns="0" rtlCol="0"/>
          <a:lstStyle/>
          <a:p>
            <a:endParaRPr sz="1031"/>
          </a:p>
        </p:txBody>
      </p:sp>
      <p:sp>
        <p:nvSpPr>
          <p:cNvPr id="27" name="object 27"/>
          <p:cNvSpPr/>
          <p:nvPr/>
        </p:nvSpPr>
        <p:spPr>
          <a:xfrm>
            <a:off x="5187459" y="2123682"/>
            <a:ext cx="780095" cy="780459"/>
          </a:xfrm>
          <a:custGeom>
            <a:avLst/>
            <a:gdLst/>
            <a:ahLst/>
            <a:cxnLst/>
            <a:rect l="l" t="t" r="r" b="b"/>
            <a:pathLst>
              <a:path w="1361440" h="1362075">
                <a:moveTo>
                  <a:pt x="390737" y="494783"/>
                </a:moveTo>
                <a:lnTo>
                  <a:pt x="293237" y="595740"/>
                </a:lnTo>
                <a:lnTo>
                  <a:pt x="263370" y="628119"/>
                </a:lnTo>
                <a:lnTo>
                  <a:pt x="249954" y="647560"/>
                </a:lnTo>
                <a:lnTo>
                  <a:pt x="217691" y="688972"/>
                </a:lnTo>
                <a:lnTo>
                  <a:pt x="201522" y="711016"/>
                </a:lnTo>
                <a:lnTo>
                  <a:pt x="186944" y="733636"/>
                </a:lnTo>
                <a:lnTo>
                  <a:pt x="172874" y="757340"/>
                </a:lnTo>
                <a:lnTo>
                  <a:pt x="160978" y="780032"/>
                </a:lnTo>
                <a:lnTo>
                  <a:pt x="146907" y="803737"/>
                </a:lnTo>
                <a:lnTo>
                  <a:pt x="136098" y="825923"/>
                </a:lnTo>
                <a:lnTo>
                  <a:pt x="126449" y="844928"/>
                </a:lnTo>
                <a:lnTo>
                  <a:pt x="114552" y="867621"/>
                </a:lnTo>
                <a:lnTo>
                  <a:pt x="105409" y="887711"/>
                </a:lnTo>
                <a:lnTo>
                  <a:pt x="96268" y="907802"/>
                </a:lnTo>
                <a:lnTo>
                  <a:pt x="89373" y="924206"/>
                </a:lnTo>
                <a:lnTo>
                  <a:pt x="80156" y="946970"/>
                </a:lnTo>
                <a:lnTo>
                  <a:pt x="72100" y="966553"/>
                </a:lnTo>
                <a:lnTo>
                  <a:pt x="65057" y="988305"/>
                </a:lnTo>
                <a:lnTo>
                  <a:pt x="57358" y="1014321"/>
                </a:lnTo>
                <a:lnTo>
                  <a:pt x="50389" y="1033399"/>
                </a:lnTo>
                <a:lnTo>
                  <a:pt x="43852" y="1056234"/>
                </a:lnTo>
                <a:lnTo>
                  <a:pt x="37895" y="1077480"/>
                </a:lnTo>
                <a:lnTo>
                  <a:pt x="32951" y="1100893"/>
                </a:lnTo>
                <a:lnTo>
                  <a:pt x="28586" y="1122716"/>
                </a:lnTo>
                <a:lnTo>
                  <a:pt x="23211" y="1142372"/>
                </a:lnTo>
                <a:lnTo>
                  <a:pt x="20009" y="1161016"/>
                </a:lnTo>
                <a:lnTo>
                  <a:pt x="15064" y="1184429"/>
                </a:lnTo>
                <a:lnTo>
                  <a:pt x="11206" y="1207336"/>
                </a:lnTo>
                <a:lnTo>
                  <a:pt x="9598" y="1226557"/>
                </a:lnTo>
                <a:lnTo>
                  <a:pt x="7482" y="1244694"/>
                </a:lnTo>
                <a:lnTo>
                  <a:pt x="4786" y="1264422"/>
                </a:lnTo>
                <a:lnTo>
                  <a:pt x="3177" y="1283643"/>
                </a:lnTo>
                <a:lnTo>
                  <a:pt x="2147" y="1301274"/>
                </a:lnTo>
                <a:lnTo>
                  <a:pt x="1625" y="1319989"/>
                </a:lnTo>
                <a:lnTo>
                  <a:pt x="597" y="1337621"/>
                </a:lnTo>
                <a:lnTo>
                  <a:pt x="0" y="1359010"/>
                </a:lnTo>
                <a:lnTo>
                  <a:pt x="134577" y="1309256"/>
                </a:lnTo>
                <a:lnTo>
                  <a:pt x="449907" y="1361936"/>
                </a:lnTo>
                <a:lnTo>
                  <a:pt x="451591" y="1340042"/>
                </a:lnTo>
                <a:lnTo>
                  <a:pt x="451103" y="1319159"/>
                </a:lnTo>
                <a:lnTo>
                  <a:pt x="454603" y="1289821"/>
                </a:lnTo>
                <a:lnTo>
                  <a:pt x="463704" y="1232806"/>
                </a:lnTo>
                <a:lnTo>
                  <a:pt x="477078" y="1176441"/>
                </a:lnTo>
                <a:lnTo>
                  <a:pt x="487024" y="1146740"/>
                </a:lnTo>
                <a:lnTo>
                  <a:pt x="495304" y="1119134"/>
                </a:lnTo>
                <a:lnTo>
                  <a:pt x="505176" y="1092108"/>
                </a:lnTo>
                <a:lnTo>
                  <a:pt x="518814" y="1064646"/>
                </a:lnTo>
                <a:lnTo>
                  <a:pt x="531948" y="1036101"/>
                </a:lnTo>
                <a:lnTo>
                  <a:pt x="565747" y="978141"/>
                </a:lnTo>
                <a:lnTo>
                  <a:pt x="602075" y="925600"/>
                </a:lnTo>
                <a:lnTo>
                  <a:pt x="701982" y="818206"/>
                </a:lnTo>
                <a:lnTo>
                  <a:pt x="764152" y="768326"/>
                </a:lnTo>
                <a:lnTo>
                  <a:pt x="806761" y="740568"/>
                </a:lnTo>
                <a:lnTo>
                  <a:pt x="851976" y="715556"/>
                </a:lnTo>
                <a:lnTo>
                  <a:pt x="925805" y="683816"/>
                </a:lnTo>
                <a:lnTo>
                  <a:pt x="976155" y="666967"/>
                </a:lnTo>
                <a:lnTo>
                  <a:pt x="1025850" y="654382"/>
                </a:lnTo>
                <a:lnTo>
                  <a:pt x="1067357" y="646930"/>
                </a:lnTo>
                <a:lnTo>
                  <a:pt x="1073745" y="802285"/>
                </a:lnTo>
                <a:lnTo>
                  <a:pt x="1361027" y="405947"/>
                </a:lnTo>
                <a:lnTo>
                  <a:pt x="1048411" y="0"/>
                </a:lnTo>
                <a:lnTo>
                  <a:pt x="1053682" y="195459"/>
                </a:lnTo>
                <a:lnTo>
                  <a:pt x="1026229" y="199006"/>
                </a:lnTo>
                <a:lnTo>
                  <a:pt x="998777" y="202554"/>
                </a:lnTo>
                <a:lnTo>
                  <a:pt x="974510" y="207256"/>
                </a:lnTo>
                <a:lnTo>
                  <a:pt x="945390" y="212899"/>
                </a:lnTo>
                <a:lnTo>
                  <a:pt x="921123" y="217602"/>
                </a:lnTo>
                <a:lnTo>
                  <a:pt x="890336" y="225342"/>
                </a:lnTo>
                <a:lnTo>
                  <a:pt x="866576" y="231128"/>
                </a:lnTo>
                <a:lnTo>
                  <a:pt x="841728" y="237420"/>
                </a:lnTo>
                <a:lnTo>
                  <a:pt x="789203" y="255281"/>
                </a:lnTo>
                <a:lnTo>
                  <a:pt x="744213" y="272273"/>
                </a:lnTo>
                <a:lnTo>
                  <a:pt x="681759" y="300035"/>
                </a:lnTo>
                <a:lnTo>
                  <a:pt x="655675" y="312182"/>
                </a:lnTo>
                <a:lnTo>
                  <a:pt x="630678" y="323821"/>
                </a:lnTo>
                <a:lnTo>
                  <a:pt x="606694" y="337628"/>
                </a:lnTo>
                <a:lnTo>
                  <a:pt x="581116" y="350858"/>
                </a:lnTo>
                <a:lnTo>
                  <a:pt x="559306" y="363652"/>
                </a:lnTo>
                <a:lnTo>
                  <a:pt x="515609" y="391917"/>
                </a:lnTo>
                <a:lnTo>
                  <a:pt x="477273" y="420323"/>
                </a:lnTo>
                <a:lnTo>
                  <a:pt x="461908" y="432755"/>
                </a:lnTo>
                <a:lnTo>
                  <a:pt x="443283" y="446705"/>
                </a:lnTo>
                <a:lnTo>
                  <a:pt x="428423" y="460221"/>
                </a:lnTo>
                <a:lnTo>
                  <a:pt x="415233" y="471642"/>
                </a:lnTo>
                <a:lnTo>
                  <a:pt x="398706" y="487253"/>
                </a:lnTo>
                <a:lnTo>
                  <a:pt x="390737" y="494783"/>
                </a:lnTo>
                <a:close/>
              </a:path>
            </a:pathLst>
          </a:custGeom>
          <a:ln w="10463">
            <a:solidFill>
              <a:srgbClr val="000000"/>
            </a:solidFill>
          </a:ln>
        </p:spPr>
        <p:txBody>
          <a:bodyPr wrap="square" lIns="0" tIns="0" rIns="0" bIns="0" rtlCol="0"/>
          <a:lstStyle/>
          <a:p>
            <a:endParaRPr sz="1031"/>
          </a:p>
        </p:txBody>
      </p:sp>
      <p:sp>
        <p:nvSpPr>
          <p:cNvPr id="28" name="object 28"/>
          <p:cNvSpPr txBox="1"/>
          <p:nvPr/>
        </p:nvSpPr>
        <p:spPr>
          <a:xfrm rot="19020000">
            <a:off x="5410438" y="2473910"/>
            <a:ext cx="187616" cy="76944"/>
          </a:xfrm>
          <a:prstGeom prst="rect">
            <a:avLst/>
          </a:prstGeom>
        </p:spPr>
        <p:txBody>
          <a:bodyPr vert="horz" wrap="square" lIns="0" tIns="0" rIns="0" bIns="0" rtlCol="0">
            <a:spAutoFit/>
          </a:bodyPr>
          <a:lstStyle/>
          <a:p>
            <a:pPr>
              <a:lnSpc>
                <a:spcPts val="647"/>
              </a:lnSpc>
            </a:pPr>
            <a:r>
              <a:rPr sz="659" spc="-3" dirty="0">
                <a:latin typeface="Arial"/>
                <a:cs typeface="Arial"/>
              </a:rPr>
              <a:t>P</a:t>
            </a:r>
            <a:r>
              <a:rPr sz="659" spc="-14" dirty="0">
                <a:latin typeface="Arial"/>
                <a:cs typeface="Arial"/>
              </a:rPr>
              <a:t>la</a:t>
            </a:r>
            <a:r>
              <a:rPr sz="988" spc="-4" baseline="2415" dirty="0">
                <a:latin typeface="Arial"/>
                <a:cs typeface="Arial"/>
              </a:rPr>
              <a:t>n</a:t>
            </a:r>
            <a:endParaRPr sz="988" baseline="2415">
              <a:latin typeface="Arial"/>
              <a:cs typeface="Arial"/>
            </a:endParaRPr>
          </a:p>
        </p:txBody>
      </p:sp>
      <p:sp>
        <p:nvSpPr>
          <p:cNvPr id="29" name="object 29"/>
          <p:cNvSpPr/>
          <p:nvPr/>
        </p:nvSpPr>
        <p:spPr>
          <a:xfrm>
            <a:off x="5069688" y="2745593"/>
            <a:ext cx="778276" cy="829215"/>
          </a:xfrm>
          <a:custGeom>
            <a:avLst/>
            <a:gdLst/>
            <a:ahLst/>
            <a:cxnLst/>
            <a:rect l="l" t="t" r="r" b="b"/>
            <a:pathLst>
              <a:path w="1358265" h="1447164">
                <a:moveTo>
                  <a:pt x="661589" y="370665"/>
                </a:moveTo>
                <a:lnTo>
                  <a:pt x="210476" y="370665"/>
                </a:lnTo>
                <a:lnTo>
                  <a:pt x="213273" y="404987"/>
                </a:lnTo>
                <a:lnTo>
                  <a:pt x="220325" y="459758"/>
                </a:lnTo>
                <a:lnTo>
                  <a:pt x="235324" y="537217"/>
                </a:lnTo>
                <a:lnTo>
                  <a:pt x="255103" y="616407"/>
                </a:lnTo>
                <a:lnTo>
                  <a:pt x="281909" y="693645"/>
                </a:lnTo>
                <a:lnTo>
                  <a:pt x="302509" y="743427"/>
                </a:lnTo>
                <a:lnTo>
                  <a:pt x="341477" y="826877"/>
                </a:lnTo>
                <a:lnTo>
                  <a:pt x="369610" y="875790"/>
                </a:lnTo>
                <a:lnTo>
                  <a:pt x="409681" y="938933"/>
                </a:lnTo>
                <a:lnTo>
                  <a:pt x="423644" y="957501"/>
                </a:lnTo>
                <a:lnTo>
                  <a:pt x="437533" y="978742"/>
                </a:lnTo>
                <a:lnTo>
                  <a:pt x="466039" y="1014286"/>
                </a:lnTo>
                <a:lnTo>
                  <a:pt x="507065" y="1062474"/>
                </a:lnTo>
                <a:lnTo>
                  <a:pt x="605475" y="1168382"/>
                </a:lnTo>
                <a:lnTo>
                  <a:pt x="643257" y="1198288"/>
                </a:lnTo>
                <a:lnTo>
                  <a:pt x="661061" y="1213747"/>
                </a:lnTo>
                <a:lnTo>
                  <a:pt x="684730" y="1230432"/>
                </a:lnTo>
                <a:lnTo>
                  <a:pt x="706807" y="1246541"/>
                </a:lnTo>
                <a:lnTo>
                  <a:pt x="729464" y="1261060"/>
                </a:lnTo>
                <a:lnTo>
                  <a:pt x="799684" y="1300930"/>
                </a:lnTo>
                <a:lnTo>
                  <a:pt x="883809" y="1342241"/>
                </a:lnTo>
                <a:lnTo>
                  <a:pt x="920370" y="1358202"/>
                </a:lnTo>
                <a:lnTo>
                  <a:pt x="962798" y="1375389"/>
                </a:lnTo>
                <a:lnTo>
                  <a:pt x="1011166" y="1391130"/>
                </a:lnTo>
                <a:lnTo>
                  <a:pt x="1052655" y="1403476"/>
                </a:lnTo>
                <a:lnTo>
                  <a:pt x="1138970" y="1423977"/>
                </a:lnTo>
                <a:lnTo>
                  <a:pt x="1204071" y="1435884"/>
                </a:lnTo>
                <a:lnTo>
                  <a:pt x="1242019" y="1440644"/>
                </a:lnTo>
                <a:lnTo>
                  <a:pt x="1280546" y="1443814"/>
                </a:lnTo>
                <a:lnTo>
                  <a:pt x="1356085" y="1446903"/>
                </a:lnTo>
                <a:lnTo>
                  <a:pt x="1357907" y="997452"/>
                </a:lnTo>
                <a:lnTo>
                  <a:pt x="1316625" y="996883"/>
                </a:lnTo>
                <a:lnTo>
                  <a:pt x="1228999" y="984910"/>
                </a:lnTo>
                <a:lnTo>
                  <a:pt x="1173605" y="971123"/>
                </a:lnTo>
                <a:lnTo>
                  <a:pt x="1089107" y="943178"/>
                </a:lnTo>
                <a:lnTo>
                  <a:pt x="1006575" y="902444"/>
                </a:lnTo>
                <a:lnTo>
                  <a:pt x="946493" y="864450"/>
                </a:lnTo>
                <a:lnTo>
                  <a:pt x="900822" y="828982"/>
                </a:lnTo>
                <a:lnTo>
                  <a:pt x="826214" y="743960"/>
                </a:lnTo>
                <a:lnTo>
                  <a:pt x="801622" y="712885"/>
                </a:lnTo>
                <a:lnTo>
                  <a:pt x="772179" y="672499"/>
                </a:lnTo>
                <a:lnTo>
                  <a:pt x="746576" y="629007"/>
                </a:lnTo>
                <a:lnTo>
                  <a:pt x="712595" y="559068"/>
                </a:lnTo>
                <a:lnTo>
                  <a:pt x="693155" y="506107"/>
                </a:lnTo>
                <a:lnTo>
                  <a:pt x="679433" y="459721"/>
                </a:lnTo>
                <a:lnTo>
                  <a:pt x="668465" y="410730"/>
                </a:lnTo>
                <a:lnTo>
                  <a:pt x="661589" y="370665"/>
                </a:lnTo>
                <a:close/>
              </a:path>
              <a:path w="1358265" h="1447164">
                <a:moveTo>
                  <a:pt x="518281" y="0"/>
                </a:moveTo>
                <a:lnTo>
                  <a:pt x="0" y="378954"/>
                </a:lnTo>
                <a:lnTo>
                  <a:pt x="210476" y="370665"/>
                </a:lnTo>
                <a:lnTo>
                  <a:pt x="661589" y="370665"/>
                </a:lnTo>
                <a:lnTo>
                  <a:pt x="661546" y="370412"/>
                </a:lnTo>
                <a:lnTo>
                  <a:pt x="661057" y="349529"/>
                </a:lnTo>
                <a:lnTo>
                  <a:pt x="886094" y="338420"/>
                </a:lnTo>
                <a:lnTo>
                  <a:pt x="518281" y="0"/>
                </a:lnTo>
                <a:close/>
              </a:path>
            </a:pathLst>
          </a:custGeom>
          <a:solidFill>
            <a:srgbClr val="CC99FF"/>
          </a:solidFill>
        </p:spPr>
        <p:txBody>
          <a:bodyPr wrap="square" lIns="0" tIns="0" rIns="0" bIns="0" rtlCol="0"/>
          <a:lstStyle/>
          <a:p>
            <a:endParaRPr sz="1031"/>
          </a:p>
        </p:txBody>
      </p:sp>
      <p:sp>
        <p:nvSpPr>
          <p:cNvPr id="30" name="object 30"/>
          <p:cNvSpPr/>
          <p:nvPr/>
        </p:nvSpPr>
        <p:spPr>
          <a:xfrm>
            <a:off x="5069688" y="2745592"/>
            <a:ext cx="778276" cy="829215"/>
          </a:xfrm>
          <a:custGeom>
            <a:avLst/>
            <a:gdLst/>
            <a:ahLst/>
            <a:cxnLst/>
            <a:rect l="l" t="t" r="r" b="b"/>
            <a:pathLst>
              <a:path w="1358265" h="1447164">
                <a:moveTo>
                  <a:pt x="826215" y="743960"/>
                </a:moveTo>
                <a:lnTo>
                  <a:pt x="801623" y="712885"/>
                </a:lnTo>
                <a:lnTo>
                  <a:pt x="772179" y="672500"/>
                </a:lnTo>
                <a:lnTo>
                  <a:pt x="746577" y="629007"/>
                </a:lnTo>
                <a:lnTo>
                  <a:pt x="712594" y="559068"/>
                </a:lnTo>
                <a:lnTo>
                  <a:pt x="693156" y="506106"/>
                </a:lnTo>
                <a:lnTo>
                  <a:pt x="679433" y="459719"/>
                </a:lnTo>
                <a:lnTo>
                  <a:pt x="668465" y="410731"/>
                </a:lnTo>
                <a:lnTo>
                  <a:pt x="661547" y="370412"/>
                </a:lnTo>
                <a:lnTo>
                  <a:pt x="661057" y="349529"/>
                </a:lnTo>
                <a:lnTo>
                  <a:pt x="886094" y="338419"/>
                </a:lnTo>
                <a:lnTo>
                  <a:pt x="518282" y="0"/>
                </a:lnTo>
                <a:lnTo>
                  <a:pt x="0" y="378954"/>
                </a:lnTo>
                <a:lnTo>
                  <a:pt x="210476" y="370665"/>
                </a:lnTo>
                <a:lnTo>
                  <a:pt x="213273" y="404987"/>
                </a:lnTo>
                <a:lnTo>
                  <a:pt x="220324" y="459758"/>
                </a:lnTo>
                <a:lnTo>
                  <a:pt x="235325" y="537216"/>
                </a:lnTo>
                <a:lnTo>
                  <a:pt x="255104" y="616407"/>
                </a:lnTo>
                <a:lnTo>
                  <a:pt x="281909" y="693646"/>
                </a:lnTo>
                <a:lnTo>
                  <a:pt x="302509" y="743427"/>
                </a:lnTo>
                <a:lnTo>
                  <a:pt x="329838" y="801949"/>
                </a:lnTo>
                <a:lnTo>
                  <a:pt x="341477" y="826877"/>
                </a:lnTo>
                <a:lnTo>
                  <a:pt x="369610" y="875789"/>
                </a:lnTo>
                <a:lnTo>
                  <a:pt x="382412" y="897536"/>
                </a:lnTo>
                <a:lnTo>
                  <a:pt x="409682" y="938933"/>
                </a:lnTo>
                <a:lnTo>
                  <a:pt x="423644" y="957502"/>
                </a:lnTo>
                <a:lnTo>
                  <a:pt x="437533" y="978742"/>
                </a:lnTo>
                <a:lnTo>
                  <a:pt x="466040" y="1014286"/>
                </a:lnTo>
                <a:lnTo>
                  <a:pt x="507065" y="1062472"/>
                </a:lnTo>
                <a:lnTo>
                  <a:pt x="605476" y="1168381"/>
                </a:lnTo>
                <a:lnTo>
                  <a:pt x="643258" y="1198287"/>
                </a:lnTo>
                <a:lnTo>
                  <a:pt x="661061" y="1213746"/>
                </a:lnTo>
                <a:lnTo>
                  <a:pt x="684731" y="1230433"/>
                </a:lnTo>
                <a:lnTo>
                  <a:pt x="706808" y="1246541"/>
                </a:lnTo>
                <a:lnTo>
                  <a:pt x="729464" y="1261059"/>
                </a:lnTo>
                <a:lnTo>
                  <a:pt x="799684" y="1300929"/>
                </a:lnTo>
                <a:lnTo>
                  <a:pt x="840951" y="1321296"/>
                </a:lnTo>
                <a:lnTo>
                  <a:pt x="883809" y="1342241"/>
                </a:lnTo>
                <a:lnTo>
                  <a:pt x="920371" y="1358202"/>
                </a:lnTo>
                <a:lnTo>
                  <a:pt x="962799" y="1375389"/>
                </a:lnTo>
                <a:lnTo>
                  <a:pt x="1011166" y="1391130"/>
                </a:lnTo>
                <a:lnTo>
                  <a:pt x="1052657" y="1403476"/>
                </a:lnTo>
                <a:lnTo>
                  <a:pt x="1097407" y="1414304"/>
                </a:lnTo>
                <a:lnTo>
                  <a:pt x="1138972" y="1423977"/>
                </a:lnTo>
                <a:lnTo>
                  <a:pt x="1204071" y="1435884"/>
                </a:lnTo>
                <a:lnTo>
                  <a:pt x="1242020" y="1440644"/>
                </a:lnTo>
                <a:lnTo>
                  <a:pt x="1280547" y="1443813"/>
                </a:lnTo>
                <a:lnTo>
                  <a:pt x="1356085" y="1446902"/>
                </a:lnTo>
                <a:lnTo>
                  <a:pt x="1357908" y="997451"/>
                </a:lnTo>
                <a:lnTo>
                  <a:pt x="1316626" y="996884"/>
                </a:lnTo>
                <a:lnTo>
                  <a:pt x="1228999" y="984910"/>
                </a:lnTo>
                <a:lnTo>
                  <a:pt x="1173605" y="971121"/>
                </a:lnTo>
                <a:lnTo>
                  <a:pt x="1143846" y="961230"/>
                </a:lnTo>
                <a:lnTo>
                  <a:pt x="1089107" y="943178"/>
                </a:lnTo>
                <a:lnTo>
                  <a:pt x="1061598" y="929600"/>
                </a:lnTo>
                <a:lnTo>
                  <a:pt x="1006576" y="902443"/>
                </a:lnTo>
                <a:lnTo>
                  <a:pt x="946493" y="864449"/>
                </a:lnTo>
                <a:lnTo>
                  <a:pt x="922319" y="846680"/>
                </a:lnTo>
                <a:lnTo>
                  <a:pt x="900823" y="828981"/>
                </a:lnTo>
                <a:lnTo>
                  <a:pt x="826215" y="743960"/>
                </a:lnTo>
                <a:close/>
              </a:path>
            </a:pathLst>
          </a:custGeom>
          <a:ln w="10463">
            <a:solidFill>
              <a:srgbClr val="000000"/>
            </a:solidFill>
          </a:ln>
        </p:spPr>
        <p:txBody>
          <a:bodyPr wrap="square" lIns="0" tIns="0" rIns="0" bIns="0" rtlCol="0"/>
          <a:lstStyle/>
          <a:p>
            <a:endParaRPr sz="1031"/>
          </a:p>
        </p:txBody>
      </p:sp>
      <p:sp>
        <p:nvSpPr>
          <p:cNvPr id="31" name="object 31"/>
          <p:cNvSpPr txBox="1"/>
          <p:nvPr/>
        </p:nvSpPr>
        <p:spPr>
          <a:xfrm rot="14700000">
            <a:off x="5310229" y="3209945"/>
            <a:ext cx="289852" cy="76944"/>
          </a:xfrm>
          <a:prstGeom prst="rect">
            <a:avLst/>
          </a:prstGeom>
        </p:spPr>
        <p:txBody>
          <a:bodyPr vert="horz" wrap="square" lIns="0" tIns="0" rIns="0" bIns="0" rtlCol="0">
            <a:spAutoFit/>
          </a:bodyPr>
          <a:lstStyle/>
          <a:p>
            <a:pPr>
              <a:lnSpc>
                <a:spcPts val="639"/>
              </a:lnSpc>
            </a:pPr>
            <a:r>
              <a:rPr sz="659" spc="-6" dirty="0">
                <a:latin typeface="Arial"/>
                <a:cs typeface="Arial"/>
              </a:rPr>
              <a:t>Monito</a:t>
            </a:r>
            <a:r>
              <a:rPr sz="659" spc="-3" dirty="0">
                <a:latin typeface="Arial"/>
                <a:cs typeface="Arial"/>
              </a:rPr>
              <a:t>r</a:t>
            </a:r>
            <a:endParaRPr sz="659">
              <a:latin typeface="Arial"/>
              <a:cs typeface="Arial"/>
            </a:endParaRPr>
          </a:p>
        </p:txBody>
      </p:sp>
      <p:sp>
        <p:nvSpPr>
          <p:cNvPr id="32" name="object 32"/>
          <p:cNvSpPr/>
          <p:nvPr/>
        </p:nvSpPr>
        <p:spPr>
          <a:xfrm>
            <a:off x="5757146" y="2912760"/>
            <a:ext cx="774274" cy="773910"/>
          </a:xfrm>
          <a:custGeom>
            <a:avLst/>
            <a:gdLst/>
            <a:ahLst/>
            <a:cxnLst/>
            <a:rect l="l" t="t" r="r" b="b"/>
            <a:pathLst>
              <a:path w="1351279" h="1350645">
                <a:moveTo>
                  <a:pt x="244872" y="478584"/>
                </a:moveTo>
                <a:lnTo>
                  <a:pt x="0" y="911908"/>
                </a:lnTo>
                <a:lnTo>
                  <a:pt x="285427" y="1350306"/>
                </a:lnTo>
                <a:lnTo>
                  <a:pt x="277554" y="1152102"/>
                </a:lnTo>
                <a:lnTo>
                  <a:pt x="339917" y="1146812"/>
                </a:lnTo>
                <a:lnTo>
                  <a:pt x="391636" y="1138562"/>
                </a:lnTo>
                <a:lnTo>
                  <a:pt x="420251" y="1131835"/>
                </a:lnTo>
                <a:lnTo>
                  <a:pt x="443434" y="1127638"/>
                </a:lnTo>
                <a:lnTo>
                  <a:pt x="473632" y="1121489"/>
                </a:lnTo>
                <a:lnTo>
                  <a:pt x="497977" y="1114113"/>
                </a:lnTo>
                <a:lnTo>
                  <a:pt x="522824" y="1107820"/>
                </a:lnTo>
                <a:lnTo>
                  <a:pt x="576938" y="1090537"/>
                </a:lnTo>
                <a:lnTo>
                  <a:pt x="621429" y="1072462"/>
                </a:lnTo>
                <a:lnTo>
                  <a:pt x="733876" y="1021420"/>
                </a:lnTo>
                <a:lnTo>
                  <a:pt x="757864" y="1007613"/>
                </a:lnTo>
                <a:lnTo>
                  <a:pt x="783434" y="994383"/>
                </a:lnTo>
                <a:lnTo>
                  <a:pt x="806334" y="981082"/>
                </a:lnTo>
                <a:lnTo>
                  <a:pt x="827642" y="967204"/>
                </a:lnTo>
                <a:lnTo>
                  <a:pt x="847349" y="952746"/>
                </a:lnTo>
                <a:lnTo>
                  <a:pt x="864887" y="939302"/>
                </a:lnTo>
                <a:lnTo>
                  <a:pt x="887285" y="924917"/>
                </a:lnTo>
                <a:lnTo>
                  <a:pt x="905399" y="909883"/>
                </a:lnTo>
                <a:lnTo>
                  <a:pt x="938299" y="884006"/>
                </a:lnTo>
                <a:lnTo>
                  <a:pt x="953670" y="871575"/>
                </a:lnTo>
                <a:lnTo>
                  <a:pt x="970193" y="855962"/>
                </a:lnTo>
                <a:lnTo>
                  <a:pt x="986140" y="841940"/>
                </a:lnTo>
                <a:lnTo>
                  <a:pt x="1002663" y="826328"/>
                </a:lnTo>
                <a:lnTo>
                  <a:pt x="1018108" y="811222"/>
                </a:lnTo>
                <a:lnTo>
                  <a:pt x="1035207" y="794020"/>
                </a:lnTo>
                <a:lnTo>
                  <a:pt x="1050746" y="777521"/>
                </a:lnTo>
                <a:lnTo>
                  <a:pt x="1109144" y="702583"/>
                </a:lnTo>
                <a:lnTo>
                  <a:pt x="256852" y="702583"/>
                </a:lnTo>
                <a:lnTo>
                  <a:pt x="244872" y="478584"/>
                </a:lnTo>
                <a:close/>
              </a:path>
              <a:path w="1351279" h="1350645">
                <a:moveTo>
                  <a:pt x="898624" y="0"/>
                </a:moveTo>
                <a:lnTo>
                  <a:pt x="896101" y="71103"/>
                </a:lnTo>
                <a:lnTo>
                  <a:pt x="880321" y="156299"/>
                </a:lnTo>
                <a:lnTo>
                  <a:pt x="854312" y="242295"/>
                </a:lnTo>
                <a:lnTo>
                  <a:pt x="818763" y="324824"/>
                </a:lnTo>
                <a:lnTo>
                  <a:pt x="784963" y="382783"/>
                </a:lnTo>
                <a:lnTo>
                  <a:pt x="744860" y="435759"/>
                </a:lnTo>
                <a:lnTo>
                  <a:pt x="713185" y="475581"/>
                </a:lnTo>
                <a:lnTo>
                  <a:pt x="647103" y="541736"/>
                </a:lnTo>
                <a:lnTo>
                  <a:pt x="601492" y="576408"/>
                </a:lnTo>
                <a:lnTo>
                  <a:pt x="537578" y="618046"/>
                </a:lnTo>
                <a:lnTo>
                  <a:pt x="439256" y="662509"/>
                </a:lnTo>
                <a:lnTo>
                  <a:pt x="389485" y="677767"/>
                </a:lnTo>
                <a:lnTo>
                  <a:pt x="340297" y="691436"/>
                </a:lnTo>
                <a:lnTo>
                  <a:pt x="296111" y="698818"/>
                </a:lnTo>
                <a:lnTo>
                  <a:pt x="256852" y="702583"/>
                </a:lnTo>
                <a:lnTo>
                  <a:pt x="1109144" y="702583"/>
                </a:lnTo>
                <a:lnTo>
                  <a:pt x="1133015" y="671951"/>
                </a:lnTo>
                <a:lnTo>
                  <a:pt x="1203296" y="556103"/>
                </a:lnTo>
                <a:lnTo>
                  <a:pt x="1235065" y="493810"/>
                </a:lnTo>
                <a:lnTo>
                  <a:pt x="1253347" y="453629"/>
                </a:lnTo>
                <a:lnTo>
                  <a:pt x="1277524" y="394875"/>
                </a:lnTo>
                <a:lnTo>
                  <a:pt x="1293345" y="346603"/>
                </a:lnTo>
                <a:lnTo>
                  <a:pt x="1311722" y="283950"/>
                </a:lnTo>
                <a:lnTo>
                  <a:pt x="1321617" y="237124"/>
                </a:lnTo>
                <a:lnTo>
                  <a:pt x="1326988" y="217468"/>
                </a:lnTo>
                <a:lnTo>
                  <a:pt x="1330193" y="198825"/>
                </a:lnTo>
                <a:lnTo>
                  <a:pt x="1334046" y="175919"/>
                </a:lnTo>
                <a:lnTo>
                  <a:pt x="1338412" y="154094"/>
                </a:lnTo>
                <a:lnTo>
                  <a:pt x="1341114" y="134367"/>
                </a:lnTo>
                <a:lnTo>
                  <a:pt x="1343229" y="116229"/>
                </a:lnTo>
                <a:lnTo>
                  <a:pt x="1347532" y="77281"/>
                </a:lnTo>
                <a:lnTo>
                  <a:pt x="1349082" y="40934"/>
                </a:lnTo>
                <a:lnTo>
                  <a:pt x="1349019" y="23809"/>
                </a:lnTo>
                <a:lnTo>
                  <a:pt x="1350705" y="1914"/>
                </a:lnTo>
                <a:lnTo>
                  <a:pt x="898624" y="0"/>
                </a:lnTo>
                <a:close/>
              </a:path>
            </a:pathLst>
          </a:custGeom>
          <a:solidFill>
            <a:srgbClr val="FF9900"/>
          </a:solidFill>
        </p:spPr>
        <p:txBody>
          <a:bodyPr wrap="square" lIns="0" tIns="0" rIns="0" bIns="0" rtlCol="0"/>
          <a:lstStyle/>
          <a:p>
            <a:endParaRPr sz="1031"/>
          </a:p>
        </p:txBody>
      </p:sp>
      <p:sp>
        <p:nvSpPr>
          <p:cNvPr id="33" name="object 33"/>
          <p:cNvSpPr/>
          <p:nvPr/>
        </p:nvSpPr>
        <p:spPr>
          <a:xfrm>
            <a:off x="5757146" y="2912759"/>
            <a:ext cx="774274" cy="773910"/>
          </a:xfrm>
          <a:custGeom>
            <a:avLst/>
            <a:gdLst/>
            <a:ahLst/>
            <a:cxnLst/>
            <a:rect l="l" t="t" r="r" b="b"/>
            <a:pathLst>
              <a:path w="1351279" h="1350645">
                <a:moveTo>
                  <a:pt x="1050741" y="777521"/>
                </a:moveTo>
                <a:lnTo>
                  <a:pt x="1133016" y="671951"/>
                </a:lnTo>
                <a:lnTo>
                  <a:pt x="1176239" y="603006"/>
                </a:lnTo>
                <a:lnTo>
                  <a:pt x="1203293" y="556103"/>
                </a:lnTo>
                <a:lnTo>
                  <a:pt x="1235068" y="493809"/>
                </a:lnTo>
                <a:lnTo>
                  <a:pt x="1253353" y="453628"/>
                </a:lnTo>
                <a:lnTo>
                  <a:pt x="1269464" y="414460"/>
                </a:lnTo>
                <a:lnTo>
                  <a:pt x="1293349" y="346603"/>
                </a:lnTo>
                <a:lnTo>
                  <a:pt x="1311724" y="283950"/>
                </a:lnTo>
                <a:lnTo>
                  <a:pt x="1321613" y="237124"/>
                </a:lnTo>
                <a:lnTo>
                  <a:pt x="1326989" y="217468"/>
                </a:lnTo>
                <a:lnTo>
                  <a:pt x="1330192" y="198824"/>
                </a:lnTo>
                <a:lnTo>
                  <a:pt x="1334049" y="175917"/>
                </a:lnTo>
                <a:lnTo>
                  <a:pt x="1338413" y="154094"/>
                </a:lnTo>
                <a:lnTo>
                  <a:pt x="1341109" y="134367"/>
                </a:lnTo>
                <a:lnTo>
                  <a:pt x="1343225" y="116229"/>
                </a:lnTo>
                <a:lnTo>
                  <a:pt x="1347530" y="77280"/>
                </a:lnTo>
                <a:lnTo>
                  <a:pt x="1349082" y="40934"/>
                </a:lnTo>
                <a:lnTo>
                  <a:pt x="1349023" y="23809"/>
                </a:lnTo>
                <a:lnTo>
                  <a:pt x="1350707" y="1914"/>
                </a:lnTo>
                <a:lnTo>
                  <a:pt x="898625" y="0"/>
                </a:lnTo>
                <a:lnTo>
                  <a:pt x="899114" y="20883"/>
                </a:lnTo>
                <a:lnTo>
                  <a:pt x="896104" y="71103"/>
                </a:lnTo>
                <a:lnTo>
                  <a:pt x="880316" y="156300"/>
                </a:lnTo>
                <a:lnTo>
                  <a:pt x="854316" y="242294"/>
                </a:lnTo>
                <a:lnTo>
                  <a:pt x="818759" y="324822"/>
                </a:lnTo>
                <a:lnTo>
                  <a:pt x="784960" y="382782"/>
                </a:lnTo>
                <a:lnTo>
                  <a:pt x="744863" y="435758"/>
                </a:lnTo>
                <a:lnTo>
                  <a:pt x="713180" y="475580"/>
                </a:lnTo>
                <a:lnTo>
                  <a:pt x="647102" y="541736"/>
                </a:lnTo>
                <a:lnTo>
                  <a:pt x="601488" y="576408"/>
                </a:lnTo>
                <a:lnTo>
                  <a:pt x="537573" y="618045"/>
                </a:lnTo>
                <a:lnTo>
                  <a:pt x="439255" y="662508"/>
                </a:lnTo>
                <a:lnTo>
                  <a:pt x="389484" y="677767"/>
                </a:lnTo>
                <a:lnTo>
                  <a:pt x="340296" y="691435"/>
                </a:lnTo>
                <a:lnTo>
                  <a:pt x="296110" y="698816"/>
                </a:lnTo>
                <a:lnTo>
                  <a:pt x="256852" y="702583"/>
                </a:lnTo>
                <a:lnTo>
                  <a:pt x="244871" y="478584"/>
                </a:lnTo>
                <a:lnTo>
                  <a:pt x="0" y="911907"/>
                </a:lnTo>
                <a:lnTo>
                  <a:pt x="285427" y="1350305"/>
                </a:lnTo>
                <a:lnTo>
                  <a:pt x="277554" y="1152102"/>
                </a:lnTo>
                <a:lnTo>
                  <a:pt x="311958" y="1149274"/>
                </a:lnTo>
                <a:lnTo>
                  <a:pt x="339916" y="1146811"/>
                </a:lnTo>
                <a:lnTo>
                  <a:pt x="365777" y="1142687"/>
                </a:lnTo>
                <a:lnTo>
                  <a:pt x="391635" y="1138561"/>
                </a:lnTo>
                <a:lnTo>
                  <a:pt x="420250" y="1131834"/>
                </a:lnTo>
                <a:lnTo>
                  <a:pt x="443430" y="1127637"/>
                </a:lnTo>
                <a:lnTo>
                  <a:pt x="473637" y="1121489"/>
                </a:lnTo>
                <a:lnTo>
                  <a:pt x="497977" y="1114113"/>
                </a:lnTo>
                <a:lnTo>
                  <a:pt x="522825" y="1107820"/>
                </a:lnTo>
                <a:lnTo>
                  <a:pt x="552020" y="1099503"/>
                </a:lnTo>
                <a:lnTo>
                  <a:pt x="576942" y="1090537"/>
                </a:lnTo>
                <a:lnTo>
                  <a:pt x="600271" y="1080993"/>
                </a:lnTo>
                <a:lnTo>
                  <a:pt x="621426" y="1072461"/>
                </a:lnTo>
                <a:lnTo>
                  <a:pt x="651277" y="1059880"/>
                </a:lnTo>
                <a:lnTo>
                  <a:pt x="683881" y="1044698"/>
                </a:lnTo>
                <a:lnTo>
                  <a:pt x="709965" y="1032553"/>
                </a:lnTo>
                <a:lnTo>
                  <a:pt x="733875" y="1021419"/>
                </a:lnTo>
                <a:lnTo>
                  <a:pt x="757859" y="1007613"/>
                </a:lnTo>
                <a:lnTo>
                  <a:pt x="783436" y="994383"/>
                </a:lnTo>
                <a:lnTo>
                  <a:pt x="806333" y="981082"/>
                </a:lnTo>
                <a:lnTo>
                  <a:pt x="827639" y="967203"/>
                </a:lnTo>
                <a:lnTo>
                  <a:pt x="847350" y="952746"/>
                </a:lnTo>
                <a:lnTo>
                  <a:pt x="864889" y="939301"/>
                </a:lnTo>
                <a:lnTo>
                  <a:pt x="887281" y="924916"/>
                </a:lnTo>
                <a:lnTo>
                  <a:pt x="905400" y="909883"/>
                </a:lnTo>
                <a:lnTo>
                  <a:pt x="921850" y="896943"/>
                </a:lnTo>
                <a:lnTo>
                  <a:pt x="938303" y="884005"/>
                </a:lnTo>
                <a:lnTo>
                  <a:pt x="953667" y="871574"/>
                </a:lnTo>
                <a:lnTo>
                  <a:pt x="970194" y="855961"/>
                </a:lnTo>
                <a:lnTo>
                  <a:pt x="986139" y="841940"/>
                </a:lnTo>
                <a:lnTo>
                  <a:pt x="1002665" y="826328"/>
                </a:lnTo>
                <a:lnTo>
                  <a:pt x="1018104" y="811222"/>
                </a:lnTo>
                <a:lnTo>
                  <a:pt x="1035211" y="794020"/>
                </a:lnTo>
                <a:lnTo>
                  <a:pt x="1050741" y="777521"/>
                </a:lnTo>
                <a:close/>
              </a:path>
            </a:pathLst>
          </a:custGeom>
          <a:ln w="10463">
            <a:solidFill>
              <a:srgbClr val="373773"/>
            </a:solidFill>
          </a:ln>
        </p:spPr>
        <p:txBody>
          <a:bodyPr wrap="square" lIns="0" tIns="0" rIns="0" bIns="0" rtlCol="0"/>
          <a:lstStyle/>
          <a:p>
            <a:endParaRPr sz="1031"/>
          </a:p>
        </p:txBody>
      </p:sp>
      <p:sp>
        <p:nvSpPr>
          <p:cNvPr id="34" name="object 34"/>
          <p:cNvSpPr txBox="1"/>
          <p:nvPr/>
        </p:nvSpPr>
        <p:spPr>
          <a:xfrm rot="18960000">
            <a:off x="6120862" y="3264143"/>
            <a:ext cx="225871" cy="89768"/>
          </a:xfrm>
          <a:prstGeom prst="rect">
            <a:avLst/>
          </a:prstGeom>
        </p:spPr>
        <p:txBody>
          <a:bodyPr vert="horz" wrap="square" lIns="0" tIns="0" rIns="0" bIns="0" rtlCol="0">
            <a:spAutoFit/>
          </a:bodyPr>
          <a:lstStyle/>
          <a:p>
            <a:pPr>
              <a:lnSpc>
                <a:spcPts val="650"/>
              </a:lnSpc>
            </a:pPr>
            <a:r>
              <a:rPr sz="659" spc="-52" dirty="0">
                <a:latin typeface="Arial"/>
                <a:cs typeface="Arial"/>
              </a:rPr>
              <a:t>V</a:t>
            </a:r>
            <a:r>
              <a:rPr sz="659" spc="-14" dirty="0">
                <a:latin typeface="Arial"/>
                <a:cs typeface="Arial"/>
              </a:rPr>
              <a:t>e</a:t>
            </a:r>
            <a:r>
              <a:rPr sz="659" spc="-3" dirty="0">
                <a:latin typeface="Arial"/>
                <a:cs typeface="Arial"/>
              </a:rPr>
              <a:t>r</a:t>
            </a:r>
            <a:r>
              <a:rPr sz="659" spc="-14" dirty="0">
                <a:latin typeface="Arial"/>
                <a:cs typeface="Arial"/>
              </a:rPr>
              <a:t>i</a:t>
            </a:r>
            <a:r>
              <a:rPr sz="988" spc="-21" baseline="2415" dirty="0">
                <a:latin typeface="Arial"/>
                <a:cs typeface="Arial"/>
              </a:rPr>
              <a:t>f</a:t>
            </a:r>
            <a:r>
              <a:rPr sz="988" spc="-4" baseline="2415" dirty="0">
                <a:latin typeface="Arial"/>
                <a:cs typeface="Arial"/>
              </a:rPr>
              <a:t>y</a:t>
            </a:r>
            <a:endParaRPr sz="988" baseline="2415">
              <a:latin typeface="Arial"/>
              <a:cs typeface="Arial"/>
            </a:endParaRPr>
          </a:p>
        </p:txBody>
      </p:sp>
      <p:sp>
        <p:nvSpPr>
          <p:cNvPr id="35" name="object 35"/>
          <p:cNvSpPr/>
          <p:nvPr/>
        </p:nvSpPr>
        <p:spPr>
          <a:xfrm>
            <a:off x="5868366" y="2230197"/>
            <a:ext cx="778640" cy="767724"/>
          </a:xfrm>
          <a:custGeom>
            <a:avLst/>
            <a:gdLst/>
            <a:ahLst/>
            <a:cxnLst/>
            <a:rect l="l" t="t" r="r" b="b"/>
            <a:pathLst>
              <a:path w="1358900" h="1339850">
                <a:moveTo>
                  <a:pt x="3414" y="0"/>
                </a:moveTo>
                <a:lnTo>
                  <a:pt x="165700" y="215730"/>
                </a:lnTo>
                <a:lnTo>
                  <a:pt x="0" y="448873"/>
                </a:lnTo>
                <a:lnTo>
                  <a:pt x="21943" y="450529"/>
                </a:lnTo>
                <a:lnTo>
                  <a:pt x="72277" y="453480"/>
                </a:lnTo>
                <a:lnTo>
                  <a:pt x="184807" y="476287"/>
                </a:lnTo>
                <a:lnTo>
                  <a:pt x="242221" y="494411"/>
                </a:lnTo>
                <a:lnTo>
                  <a:pt x="325413" y="530881"/>
                </a:lnTo>
                <a:lnTo>
                  <a:pt x="383474" y="564539"/>
                </a:lnTo>
                <a:lnTo>
                  <a:pt x="458602" y="620594"/>
                </a:lnTo>
                <a:lnTo>
                  <a:pt x="542547" y="705636"/>
                </a:lnTo>
                <a:lnTo>
                  <a:pt x="588054" y="767465"/>
                </a:lnTo>
                <a:lnTo>
                  <a:pt x="625875" y="834296"/>
                </a:lnTo>
                <a:lnTo>
                  <a:pt x="658690" y="907415"/>
                </a:lnTo>
                <a:lnTo>
                  <a:pt x="680794" y="980246"/>
                </a:lnTo>
                <a:lnTo>
                  <a:pt x="691768" y="1029234"/>
                </a:lnTo>
                <a:lnTo>
                  <a:pt x="701632" y="1098529"/>
                </a:lnTo>
                <a:lnTo>
                  <a:pt x="702480" y="1125843"/>
                </a:lnTo>
                <a:lnTo>
                  <a:pt x="488005" y="1142586"/>
                </a:lnTo>
                <a:lnTo>
                  <a:pt x="946441" y="1339453"/>
                </a:lnTo>
                <a:lnTo>
                  <a:pt x="1342126" y="1102032"/>
                </a:lnTo>
                <a:lnTo>
                  <a:pt x="1153126" y="1102032"/>
                </a:lnTo>
                <a:lnTo>
                  <a:pt x="1150330" y="1067709"/>
                </a:lnTo>
                <a:lnTo>
                  <a:pt x="1142927" y="1006509"/>
                </a:lnTo>
                <a:lnTo>
                  <a:pt x="1135796" y="954411"/>
                </a:lnTo>
                <a:lnTo>
                  <a:pt x="1129084" y="925871"/>
                </a:lnTo>
                <a:lnTo>
                  <a:pt x="1117682" y="873126"/>
                </a:lnTo>
                <a:lnTo>
                  <a:pt x="1111410" y="848341"/>
                </a:lnTo>
                <a:lnTo>
                  <a:pt x="1096824" y="794440"/>
                </a:lnTo>
                <a:lnTo>
                  <a:pt x="1086772" y="770090"/>
                </a:lnTo>
                <a:lnTo>
                  <a:pt x="1069788" y="725222"/>
                </a:lnTo>
                <a:lnTo>
                  <a:pt x="1057212" y="695454"/>
                </a:lnTo>
                <a:lnTo>
                  <a:pt x="1018753" y="613089"/>
                </a:lnTo>
                <a:lnTo>
                  <a:pt x="990618" y="564176"/>
                </a:lnTo>
                <a:lnTo>
                  <a:pt x="978398" y="540840"/>
                </a:lnTo>
                <a:lnTo>
                  <a:pt x="950043" y="499948"/>
                </a:lnTo>
                <a:lnTo>
                  <a:pt x="936588" y="482464"/>
                </a:lnTo>
                <a:lnTo>
                  <a:pt x="907144" y="442079"/>
                </a:lnTo>
                <a:lnTo>
                  <a:pt x="894191" y="425679"/>
                </a:lnTo>
                <a:lnTo>
                  <a:pt x="868799" y="393963"/>
                </a:lnTo>
                <a:lnTo>
                  <a:pt x="855376" y="379821"/>
                </a:lnTo>
                <a:lnTo>
                  <a:pt x="765965" y="292754"/>
                </a:lnTo>
                <a:lnTo>
                  <a:pt x="753441" y="280110"/>
                </a:lnTo>
                <a:lnTo>
                  <a:pt x="697349" y="233663"/>
                </a:lnTo>
                <a:lnTo>
                  <a:pt x="628953" y="186350"/>
                </a:lnTo>
                <a:lnTo>
                  <a:pt x="558725" y="146479"/>
                </a:lnTo>
                <a:lnTo>
                  <a:pt x="518548" y="125605"/>
                </a:lnTo>
                <a:lnTo>
                  <a:pt x="475691" y="104661"/>
                </a:lnTo>
                <a:lnTo>
                  <a:pt x="415232" y="80036"/>
                </a:lnTo>
                <a:lnTo>
                  <a:pt x="373820" y="65015"/>
                </a:lnTo>
                <a:lnTo>
                  <a:pt x="306848" y="43425"/>
                </a:lnTo>
                <a:lnTo>
                  <a:pt x="262095" y="32599"/>
                </a:lnTo>
                <a:lnTo>
                  <a:pt x="239143" y="28775"/>
                </a:lnTo>
                <a:lnTo>
                  <a:pt x="200760" y="20256"/>
                </a:lnTo>
                <a:lnTo>
                  <a:pt x="98216" y="4673"/>
                </a:lnTo>
                <a:lnTo>
                  <a:pt x="42525" y="1580"/>
                </a:lnTo>
                <a:lnTo>
                  <a:pt x="24853" y="572"/>
                </a:lnTo>
                <a:lnTo>
                  <a:pt x="3414" y="0"/>
                </a:lnTo>
                <a:close/>
              </a:path>
              <a:path w="1358900" h="1339850">
                <a:moveTo>
                  <a:pt x="1358826" y="1092011"/>
                </a:moveTo>
                <a:lnTo>
                  <a:pt x="1153126" y="1102032"/>
                </a:lnTo>
                <a:lnTo>
                  <a:pt x="1342126" y="1102032"/>
                </a:lnTo>
                <a:lnTo>
                  <a:pt x="1358826" y="1092011"/>
                </a:lnTo>
                <a:close/>
              </a:path>
            </a:pathLst>
          </a:custGeom>
          <a:solidFill>
            <a:srgbClr val="3366FF"/>
          </a:solidFill>
        </p:spPr>
        <p:txBody>
          <a:bodyPr wrap="square" lIns="0" tIns="0" rIns="0" bIns="0" rtlCol="0"/>
          <a:lstStyle/>
          <a:p>
            <a:endParaRPr sz="1031"/>
          </a:p>
        </p:txBody>
      </p:sp>
      <p:sp>
        <p:nvSpPr>
          <p:cNvPr id="36" name="object 36"/>
          <p:cNvSpPr/>
          <p:nvPr/>
        </p:nvSpPr>
        <p:spPr>
          <a:xfrm>
            <a:off x="5868366" y="2230196"/>
            <a:ext cx="778640" cy="767724"/>
          </a:xfrm>
          <a:custGeom>
            <a:avLst/>
            <a:gdLst/>
            <a:ahLst/>
            <a:cxnLst/>
            <a:rect l="l" t="t" r="r" b="b"/>
            <a:pathLst>
              <a:path w="1358900" h="1339850">
                <a:moveTo>
                  <a:pt x="855376" y="379821"/>
                </a:moveTo>
                <a:lnTo>
                  <a:pt x="765962" y="292754"/>
                </a:lnTo>
                <a:lnTo>
                  <a:pt x="753444" y="280110"/>
                </a:lnTo>
                <a:lnTo>
                  <a:pt x="734628" y="262485"/>
                </a:lnTo>
                <a:lnTo>
                  <a:pt x="697352" y="233662"/>
                </a:lnTo>
                <a:lnTo>
                  <a:pt x="628949" y="186348"/>
                </a:lnTo>
                <a:lnTo>
                  <a:pt x="558729" y="146478"/>
                </a:lnTo>
                <a:lnTo>
                  <a:pt x="518550" y="125605"/>
                </a:lnTo>
                <a:lnTo>
                  <a:pt x="475690" y="104661"/>
                </a:lnTo>
                <a:lnTo>
                  <a:pt x="438042" y="89206"/>
                </a:lnTo>
                <a:lnTo>
                  <a:pt x="373820" y="65015"/>
                </a:lnTo>
                <a:lnTo>
                  <a:pt x="306844" y="43426"/>
                </a:lnTo>
                <a:lnTo>
                  <a:pt x="262095" y="32598"/>
                </a:lnTo>
                <a:lnTo>
                  <a:pt x="239139" y="28774"/>
                </a:lnTo>
                <a:lnTo>
                  <a:pt x="200760" y="20257"/>
                </a:lnTo>
                <a:lnTo>
                  <a:pt x="135077" y="9939"/>
                </a:lnTo>
                <a:lnTo>
                  <a:pt x="78953" y="3088"/>
                </a:lnTo>
                <a:lnTo>
                  <a:pt x="42524" y="1580"/>
                </a:lnTo>
                <a:lnTo>
                  <a:pt x="24853" y="572"/>
                </a:lnTo>
                <a:lnTo>
                  <a:pt x="3416" y="0"/>
                </a:lnTo>
                <a:lnTo>
                  <a:pt x="165700" y="215730"/>
                </a:lnTo>
                <a:lnTo>
                  <a:pt x="0" y="448872"/>
                </a:lnTo>
                <a:lnTo>
                  <a:pt x="21943" y="450529"/>
                </a:lnTo>
                <a:lnTo>
                  <a:pt x="72276" y="453480"/>
                </a:lnTo>
                <a:lnTo>
                  <a:pt x="103272" y="457519"/>
                </a:lnTo>
                <a:lnTo>
                  <a:pt x="156567" y="469645"/>
                </a:lnTo>
                <a:lnTo>
                  <a:pt x="242227" y="494410"/>
                </a:lnTo>
                <a:lnTo>
                  <a:pt x="325414" y="530880"/>
                </a:lnTo>
                <a:lnTo>
                  <a:pt x="383471" y="564539"/>
                </a:lnTo>
                <a:lnTo>
                  <a:pt x="397695" y="573749"/>
                </a:lnTo>
                <a:lnTo>
                  <a:pt x="411920" y="582957"/>
                </a:lnTo>
                <a:lnTo>
                  <a:pt x="458602" y="620594"/>
                </a:lnTo>
                <a:lnTo>
                  <a:pt x="542551" y="705635"/>
                </a:lnTo>
                <a:lnTo>
                  <a:pt x="588052" y="767465"/>
                </a:lnTo>
                <a:lnTo>
                  <a:pt x="625875" y="834295"/>
                </a:lnTo>
                <a:lnTo>
                  <a:pt x="658695" y="907414"/>
                </a:lnTo>
                <a:lnTo>
                  <a:pt x="680796" y="980245"/>
                </a:lnTo>
                <a:lnTo>
                  <a:pt x="691764" y="1029234"/>
                </a:lnTo>
                <a:lnTo>
                  <a:pt x="701629" y="1098527"/>
                </a:lnTo>
                <a:lnTo>
                  <a:pt x="702475" y="1125842"/>
                </a:lnTo>
                <a:lnTo>
                  <a:pt x="488008" y="1142585"/>
                </a:lnTo>
                <a:lnTo>
                  <a:pt x="946445" y="1339452"/>
                </a:lnTo>
                <a:lnTo>
                  <a:pt x="1358830" y="1092011"/>
                </a:lnTo>
                <a:lnTo>
                  <a:pt x="1153131" y="1102031"/>
                </a:lnTo>
                <a:lnTo>
                  <a:pt x="1150334" y="1067709"/>
                </a:lnTo>
                <a:lnTo>
                  <a:pt x="1142926" y="1006507"/>
                </a:lnTo>
                <a:lnTo>
                  <a:pt x="1135798" y="954411"/>
                </a:lnTo>
                <a:lnTo>
                  <a:pt x="1129087" y="925870"/>
                </a:lnTo>
                <a:lnTo>
                  <a:pt x="1117688" y="873124"/>
                </a:lnTo>
                <a:lnTo>
                  <a:pt x="1111407" y="848341"/>
                </a:lnTo>
                <a:lnTo>
                  <a:pt x="1096822" y="794440"/>
                </a:lnTo>
                <a:lnTo>
                  <a:pt x="1086776" y="770090"/>
                </a:lnTo>
                <a:lnTo>
                  <a:pt x="1069792" y="725222"/>
                </a:lnTo>
                <a:lnTo>
                  <a:pt x="1057214" y="695454"/>
                </a:lnTo>
                <a:lnTo>
                  <a:pt x="1029887" y="636931"/>
                </a:lnTo>
                <a:lnTo>
                  <a:pt x="1018753" y="613089"/>
                </a:lnTo>
                <a:lnTo>
                  <a:pt x="990619" y="564176"/>
                </a:lnTo>
                <a:lnTo>
                  <a:pt x="978399" y="540840"/>
                </a:lnTo>
                <a:lnTo>
                  <a:pt x="950042" y="499947"/>
                </a:lnTo>
                <a:lnTo>
                  <a:pt x="936585" y="482464"/>
                </a:lnTo>
                <a:lnTo>
                  <a:pt x="907142" y="442079"/>
                </a:lnTo>
                <a:lnTo>
                  <a:pt x="894191" y="425678"/>
                </a:lnTo>
                <a:lnTo>
                  <a:pt x="868797" y="393963"/>
                </a:lnTo>
                <a:lnTo>
                  <a:pt x="855376" y="379821"/>
                </a:lnTo>
                <a:close/>
              </a:path>
            </a:pathLst>
          </a:custGeom>
          <a:ln w="10463">
            <a:solidFill>
              <a:srgbClr val="A78450"/>
            </a:solidFill>
          </a:ln>
        </p:spPr>
        <p:txBody>
          <a:bodyPr wrap="square" lIns="0" tIns="0" rIns="0" bIns="0" rtlCol="0"/>
          <a:lstStyle/>
          <a:p>
            <a:endParaRPr sz="1031"/>
          </a:p>
        </p:txBody>
      </p:sp>
      <p:sp>
        <p:nvSpPr>
          <p:cNvPr id="37" name="object 37"/>
          <p:cNvSpPr txBox="1"/>
          <p:nvPr/>
        </p:nvSpPr>
        <p:spPr>
          <a:xfrm rot="3240000">
            <a:off x="6103619" y="2495999"/>
            <a:ext cx="273863" cy="76944"/>
          </a:xfrm>
          <a:prstGeom prst="rect">
            <a:avLst/>
          </a:prstGeom>
        </p:spPr>
        <p:txBody>
          <a:bodyPr vert="horz" wrap="square" lIns="0" tIns="0" rIns="0" bIns="0" rtlCol="0">
            <a:spAutoFit/>
          </a:bodyPr>
          <a:lstStyle/>
          <a:p>
            <a:pPr>
              <a:lnSpc>
                <a:spcPts val="619"/>
              </a:lnSpc>
            </a:pPr>
            <a:r>
              <a:rPr sz="659" spc="-3" dirty="0">
                <a:solidFill>
                  <a:srgbClr val="FFFFFF"/>
                </a:solidFill>
                <a:latin typeface="Arial"/>
                <a:cs typeface="Arial"/>
              </a:rPr>
              <a:t>Deploy</a:t>
            </a:r>
            <a:endParaRPr sz="659">
              <a:latin typeface="Arial"/>
              <a:cs typeface="Arial"/>
            </a:endParaRPr>
          </a:p>
        </p:txBody>
      </p:sp>
      <p:sp>
        <p:nvSpPr>
          <p:cNvPr id="38" name="object 38"/>
          <p:cNvSpPr txBox="1"/>
          <p:nvPr/>
        </p:nvSpPr>
        <p:spPr>
          <a:xfrm>
            <a:off x="5605919" y="2781160"/>
            <a:ext cx="586891" cy="244793"/>
          </a:xfrm>
          <a:prstGeom prst="rect">
            <a:avLst/>
          </a:prstGeom>
        </p:spPr>
        <p:txBody>
          <a:bodyPr vert="horz" wrap="square" lIns="0" tIns="13826" rIns="0" bIns="0" rtlCol="0">
            <a:spAutoFit/>
          </a:bodyPr>
          <a:lstStyle/>
          <a:p>
            <a:pPr marL="7277" marR="2911" indent="8368">
              <a:lnSpc>
                <a:spcPts val="917"/>
              </a:lnSpc>
              <a:spcBef>
                <a:spcPts val="109"/>
              </a:spcBef>
            </a:pPr>
            <a:r>
              <a:rPr sz="774" b="1" spc="3" dirty="0">
                <a:solidFill>
                  <a:srgbClr val="005493"/>
                </a:solidFill>
                <a:latin typeface="Arial"/>
                <a:cs typeface="Arial"/>
              </a:rPr>
              <a:t>Continuous  </a:t>
            </a:r>
            <a:r>
              <a:rPr sz="774" b="1" spc="6" dirty="0">
                <a:solidFill>
                  <a:srgbClr val="005493"/>
                </a:solidFill>
                <a:latin typeface="Arial"/>
                <a:cs typeface="Arial"/>
              </a:rPr>
              <a:t>Deployment</a:t>
            </a:r>
            <a:endParaRPr sz="774">
              <a:latin typeface="Arial"/>
              <a:cs typeface="Arial"/>
            </a:endParaRPr>
          </a:p>
        </p:txBody>
      </p:sp>
      <p:sp>
        <p:nvSpPr>
          <p:cNvPr id="39" name="object 39"/>
          <p:cNvSpPr/>
          <p:nvPr/>
        </p:nvSpPr>
        <p:spPr>
          <a:xfrm>
            <a:off x="6887361" y="1696406"/>
            <a:ext cx="2881440" cy="2557410"/>
          </a:xfrm>
          <a:prstGeom prst="rect">
            <a:avLst/>
          </a:prstGeom>
          <a:blipFill>
            <a:blip r:embed="rId6" cstate="print"/>
            <a:stretch>
              <a:fillRect/>
            </a:stretch>
          </a:blipFill>
        </p:spPr>
        <p:txBody>
          <a:bodyPr wrap="square" lIns="0" tIns="0" rIns="0" bIns="0" rtlCol="0"/>
          <a:lstStyle/>
          <a:p>
            <a:endParaRPr sz="1031"/>
          </a:p>
        </p:txBody>
      </p:sp>
      <p:sp>
        <p:nvSpPr>
          <p:cNvPr id="40" name="object 40"/>
          <p:cNvSpPr/>
          <p:nvPr/>
        </p:nvSpPr>
        <p:spPr>
          <a:xfrm>
            <a:off x="6862660" y="1671736"/>
            <a:ext cx="2790881" cy="2463831"/>
          </a:xfrm>
          <a:prstGeom prst="rect">
            <a:avLst/>
          </a:prstGeom>
          <a:blipFill>
            <a:blip r:embed="rId7" cstate="print"/>
            <a:stretch>
              <a:fillRect/>
            </a:stretch>
          </a:blipFill>
        </p:spPr>
        <p:txBody>
          <a:bodyPr wrap="square" lIns="0" tIns="0" rIns="0" bIns="0" rtlCol="0"/>
          <a:lstStyle/>
          <a:p>
            <a:endParaRPr sz="1031"/>
          </a:p>
        </p:txBody>
      </p:sp>
      <p:sp>
        <p:nvSpPr>
          <p:cNvPr id="41" name="object 41"/>
          <p:cNvSpPr txBox="1"/>
          <p:nvPr/>
        </p:nvSpPr>
        <p:spPr>
          <a:xfrm>
            <a:off x="8761297" y="2114729"/>
            <a:ext cx="356573" cy="96615"/>
          </a:xfrm>
          <a:prstGeom prst="rect">
            <a:avLst/>
          </a:prstGeom>
        </p:spPr>
        <p:txBody>
          <a:bodyPr vert="horz" wrap="square" lIns="0" tIns="8368" rIns="0" bIns="0" rtlCol="0">
            <a:spAutoFit/>
          </a:bodyPr>
          <a:lstStyle/>
          <a:p>
            <a:pPr marL="7277">
              <a:spcBef>
                <a:spcPts val="65"/>
              </a:spcBef>
            </a:pPr>
            <a:r>
              <a:rPr sz="573" spc="-11" dirty="0">
                <a:latin typeface="Arial"/>
                <a:cs typeface="Arial"/>
              </a:rPr>
              <a:t>Test</a:t>
            </a:r>
            <a:r>
              <a:rPr sz="573" spc="-40" dirty="0">
                <a:latin typeface="Arial"/>
                <a:cs typeface="Arial"/>
              </a:rPr>
              <a:t> </a:t>
            </a:r>
            <a:r>
              <a:rPr sz="573" spc="6" dirty="0">
                <a:latin typeface="Arial"/>
                <a:cs typeface="Arial"/>
              </a:rPr>
              <a:t>Mgmt</a:t>
            </a:r>
            <a:endParaRPr sz="573">
              <a:latin typeface="Arial"/>
              <a:cs typeface="Arial"/>
            </a:endParaRPr>
          </a:p>
        </p:txBody>
      </p:sp>
      <p:sp>
        <p:nvSpPr>
          <p:cNvPr id="42" name="object 42"/>
          <p:cNvSpPr txBox="1"/>
          <p:nvPr/>
        </p:nvSpPr>
        <p:spPr>
          <a:xfrm>
            <a:off x="8997407" y="2323505"/>
            <a:ext cx="533405" cy="96615"/>
          </a:xfrm>
          <a:prstGeom prst="rect">
            <a:avLst/>
          </a:prstGeom>
        </p:spPr>
        <p:txBody>
          <a:bodyPr vert="horz" wrap="square" lIns="0" tIns="8368" rIns="0" bIns="0" rtlCol="0">
            <a:spAutoFit/>
          </a:bodyPr>
          <a:lstStyle/>
          <a:p>
            <a:pPr marL="7277">
              <a:spcBef>
                <a:spcPts val="65"/>
              </a:spcBef>
            </a:pPr>
            <a:r>
              <a:rPr sz="573" spc="-11" dirty="0">
                <a:latin typeface="Arial"/>
                <a:cs typeface="Arial"/>
              </a:rPr>
              <a:t>Test </a:t>
            </a:r>
            <a:r>
              <a:rPr sz="573" spc="3" dirty="0">
                <a:latin typeface="Arial"/>
                <a:cs typeface="Arial"/>
              </a:rPr>
              <a:t>Data</a:t>
            </a:r>
            <a:r>
              <a:rPr sz="573" spc="-23" dirty="0">
                <a:latin typeface="Arial"/>
                <a:cs typeface="Arial"/>
              </a:rPr>
              <a:t> </a:t>
            </a:r>
            <a:r>
              <a:rPr sz="573" spc="6" dirty="0">
                <a:latin typeface="Arial"/>
                <a:cs typeface="Arial"/>
              </a:rPr>
              <a:t>Mgmt</a:t>
            </a:r>
            <a:endParaRPr sz="573">
              <a:latin typeface="Arial"/>
              <a:cs typeface="Arial"/>
            </a:endParaRPr>
          </a:p>
        </p:txBody>
      </p:sp>
      <p:sp>
        <p:nvSpPr>
          <p:cNvPr id="43" name="object 43"/>
          <p:cNvSpPr txBox="1"/>
          <p:nvPr/>
        </p:nvSpPr>
        <p:spPr>
          <a:xfrm rot="19020000">
            <a:off x="7983023" y="2485812"/>
            <a:ext cx="314490" cy="76944"/>
          </a:xfrm>
          <a:prstGeom prst="rect">
            <a:avLst/>
          </a:prstGeom>
        </p:spPr>
        <p:txBody>
          <a:bodyPr vert="horz" wrap="square" lIns="0" tIns="0" rIns="0" bIns="0" rtlCol="0">
            <a:spAutoFit/>
          </a:bodyPr>
          <a:lstStyle/>
          <a:p>
            <a:pPr>
              <a:lnSpc>
                <a:spcPts val="645"/>
              </a:lnSpc>
            </a:pPr>
            <a:r>
              <a:rPr sz="630" spc="-3" dirty="0">
                <a:solidFill>
                  <a:srgbClr val="FFFFFF"/>
                </a:solidFill>
                <a:latin typeface="Arial"/>
                <a:cs typeface="Arial"/>
              </a:rPr>
              <a:t>De</a:t>
            </a:r>
            <a:r>
              <a:rPr sz="630" spc="9" dirty="0">
                <a:solidFill>
                  <a:srgbClr val="FFFFFF"/>
                </a:solidFill>
                <a:latin typeface="Arial"/>
                <a:cs typeface="Arial"/>
              </a:rPr>
              <a:t>v</a:t>
            </a:r>
            <a:r>
              <a:rPr sz="630" spc="-3" dirty="0">
                <a:solidFill>
                  <a:srgbClr val="FFFFFF"/>
                </a:solidFill>
                <a:latin typeface="Arial"/>
                <a:cs typeface="Arial"/>
              </a:rPr>
              <a:t>e</a:t>
            </a:r>
            <a:r>
              <a:rPr sz="945" spc="-9" baseline="2525" dirty="0">
                <a:solidFill>
                  <a:srgbClr val="FFFFFF"/>
                </a:solidFill>
                <a:latin typeface="Arial"/>
                <a:cs typeface="Arial"/>
              </a:rPr>
              <a:t>lo</a:t>
            </a:r>
            <a:r>
              <a:rPr sz="945" spc="13" baseline="2525" dirty="0">
                <a:solidFill>
                  <a:srgbClr val="FFFFFF"/>
                </a:solidFill>
                <a:latin typeface="Arial"/>
                <a:cs typeface="Arial"/>
              </a:rPr>
              <a:t>p</a:t>
            </a:r>
            <a:endParaRPr sz="945" baseline="2525">
              <a:latin typeface="Arial"/>
              <a:cs typeface="Arial"/>
            </a:endParaRPr>
          </a:p>
        </p:txBody>
      </p:sp>
      <p:sp>
        <p:nvSpPr>
          <p:cNvPr id="44" name="object 44"/>
          <p:cNvSpPr txBox="1"/>
          <p:nvPr/>
        </p:nvSpPr>
        <p:spPr>
          <a:xfrm rot="14700000">
            <a:off x="7906188" y="3262562"/>
            <a:ext cx="321869" cy="76944"/>
          </a:xfrm>
          <a:prstGeom prst="rect">
            <a:avLst/>
          </a:prstGeom>
        </p:spPr>
        <p:txBody>
          <a:bodyPr vert="horz" wrap="square" lIns="0" tIns="0" rIns="0" bIns="0" rtlCol="0">
            <a:spAutoFit/>
          </a:bodyPr>
          <a:lstStyle/>
          <a:p>
            <a:pPr>
              <a:lnSpc>
                <a:spcPts val="625"/>
              </a:lnSpc>
            </a:pPr>
            <a:r>
              <a:rPr sz="630" spc="9" dirty="0">
                <a:solidFill>
                  <a:srgbClr val="FFFFFF"/>
                </a:solidFill>
                <a:latin typeface="Arial"/>
                <a:cs typeface="Arial"/>
              </a:rPr>
              <a:t>Pr</a:t>
            </a:r>
            <a:r>
              <a:rPr sz="630" spc="6" dirty="0">
                <a:solidFill>
                  <a:srgbClr val="FFFFFF"/>
                </a:solidFill>
                <a:latin typeface="Arial"/>
                <a:cs typeface="Arial"/>
              </a:rPr>
              <a:t>o</a:t>
            </a:r>
            <a:r>
              <a:rPr sz="630" spc="14" dirty="0">
                <a:solidFill>
                  <a:srgbClr val="FFFFFF"/>
                </a:solidFill>
                <a:latin typeface="Arial"/>
                <a:cs typeface="Arial"/>
              </a:rPr>
              <a:t>m</a:t>
            </a:r>
            <a:r>
              <a:rPr sz="630" spc="3" dirty="0">
                <a:solidFill>
                  <a:srgbClr val="FFFFFF"/>
                </a:solidFill>
                <a:latin typeface="Arial"/>
                <a:cs typeface="Arial"/>
              </a:rPr>
              <a:t>ot</a:t>
            </a:r>
            <a:r>
              <a:rPr sz="630" spc="9" dirty="0">
                <a:solidFill>
                  <a:srgbClr val="FFFFFF"/>
                </a:solidFill>
                <a:latin typeface="Arial"/>
                <a:cs typeface="Arial"/>
              </a:rPr>
              <a:t>e</a:t>
            </a:r>
            <a:endParaRPr sz="630">
              <a:latin typeface="Arial"/>
              <a:cs typeface="Arial"/>
            </a:endParaRPr>
          </a:p>
        </p:txBody>
      </p:sp>
      <p:sp>
        <p:nvSpPr>
          <p:cNvPr id="45" name="object 45"/>
          <p:cNvSpPr txBox="1"/>
          <p:nvPr/>
        </p:nvSpPr>
        <p:spPr>
          <a:xfrm rot="18960000">
            <a:off x="8728646" y="3309129"/>
            <a:ext cx="223236" cy="76944"/>
          </a:xfrm>
          <a:prstGeom prst="rect">
            <a:avLst/>
          </a:prstGeom>
        </p:spPr>
        <p:txBody>
          <a:bodyPr vert="horz" wrap="square" lIns="0" tIns="0" rIns="0" bIns="0" rtlCol="0">
            <a:spAutoFit/>
          </a:bodyPr>
          <a:lstStyle/>
          <a:p>
            <a:pPr>
              <a:lnSpc>
                <a:spcPts val="639"/>
              </a:lnSpc>
            </a:pPr>
            <a:r>
              <a:rPr sz="630" spc="-37" dirty="0">
                <a:solidFill>
                  <a:srgbClr val="FFFFFF"/>
                </a:solidFill>
                <a:latin typeface="Arial"/>
                <a:cs typeface="Arial"/>
              </a:rPr>
              <a:t>V</a:t>
            </a:r>
            <a:r>
              <a:rPr sz="630" spc="-3" dirty="0">
                <a:solidFill>
                  <a:srgbClr val="FFFFFF"/>
                </a:solidFill>
                <a:latin typeface="Arial"/>
                <a:cs typeface="Arial"/>
              </a:rPr>
              <a:t>e</a:t>
            </a:r>
            <a:r>
              <a:rPr sz="630" spc="6" dirty="0">
                <a:solidFill>
                  <a:srgbClr val="FFFFFF"/>
                </a:solidFill>
                <a:latin typeface="Arial"/>
                <a:cs typeface="Arial"/>
              </a:rPr>
              <a:t>r</a:t>
            </a:r>
            <a:r>
              <a:rPr sz="630" spc="-9" dirty="0">
                <a:solidFill>
                  <a:srgbClr val="FFFFFF"/>
                </a:solidFill>
                <a:latin typeface="Arial"/>
                <a:cs typeface="Arial"/>
              </a:rPr>
              <a:t>i</a:t>
            </a:r>
            <a:r>
              <a:rPr sz="945" spc="-13" baseline="2525" dirty="0">
                <a:solidFill>
                  <a:srgbClr val="FFFFFF"/>
                </a:solidFill>
                <a:latin typeface="Arial"/>
                <a:cs typeface="Arial"/>
              </a:rPr>
              <a:t>f</a:t>
            </a:r>
            <a:r>
              <a:rPr sz="945" spc="13" baseline="2525" dirty="0">
                <a:solidFill>
                  <a:srgbClr val="FFFFFF"/>
                </a:solidFill>
                <a:latin typeface="Arial"/>
                <a:cs typeface="Arial"/>
              </a:rPr>
              <a:t>y</a:t>
            </a:r>
            <a:endParaRPr sz="945" baseline="2525">
              <a:latin typeface="Arial"/>
              <a:cs typeface="Arial"/>
            </a:endParaRPr>
          </a:p>
        </p:txBody>
      </p:sp>
      <p:sp>
        <p:nvSpPr>
          <p:cNvPr id="46" name="object 46"/>
          <p:cNvSpPr txBox="1"/>
          <p:nvPr/>
        </p:nvSpPr>
        <p:spPr>
          <a:xfrm rot="3240000">
            <a:off x="8719302" y="2582178"/>
            <a:ext cx="309929" cy="76944"/>
          </a:xfrm>
          <a:prstGeom prst="rect">
            <a:avLst/>
          </a:prstGeom>
        </p:spPr>
        <p:txBody>
          <a:bodyPr vert="horz" wrap="square" lIns="0" tIns="0" rIns="0" bIns="0" rtlCol="0">
            <a:spAutoFit/>
          </a:bodyPr>
          <a:lstStyle/>
          <a:p>
            <a:pPr>
              <a:lnSpc>
                <a:spcPts val="639"/>
              </a:lnSpc>
            </a:pPr>
            <a:r>
              <a:rPr sz="945" spc="13" baseline="2525" dirty="0">
                <a:solidFill>
                  <a:srgbClr val="FFFFFF"/>
                </a:solidFill>
                <a:latin typeface="Arial"/>
                <a:cs typeface="Arial"/>
              </a:rPr>
              <a:t>Ex</a:t>
            </a:r>
            <a:r>
              <a:rPr sz="945" spc="-4" baseline="2525" dirty="0">
                <a:solidFill>
                  <a:srgbClr val="FFFFFF"/>
                </a:solidFill>
                <a:latin typeface="Arial"/>
                <a:cs typeface="Arial"/>
              </a:rPr>
              <a:t>e</a:t>
            </a:r>
            <a:r>
              <a:rPr sz="945" spc="13" baseline="2525" dirty="0">
                <a:solidFill>
                  <a:srgbClr val="FFFFFF"/>
                </a:solidFill>
                <a:latin typeface="Arial"/>
                <a:cs typeface="Arial"/>
              </a:rPr>
              <a:t>c</a:t>
            </a:r>
            <a:r>
              <a:rPr sz="945" spc="-4" baseline="2525" dirty="0">
                <a:solidFill>
                  <a:srgbClr val="FFFFFF"/>
                </a:solidFill>
                <a:latin typeface="Arial"/>
                <a:cs typeface="Arial"/>
              </a:rPr>
              <a:t>u</a:t>
            </a:r>
            <a:r>
              <a:rPr sz="630" spc="-9" dirty="0">
                <a:solidFill>
                  <a:srgbClr val="FFFFFF"/>
                </a:solidFill>
                <a:latin typeface="Arial"/>
                <a:cs typeface="Arial"/>
              </a:rPr>
              <a:t>t</a:t>
            </a:r>
            <a:r>
              <a:rPr sz="630" spc="9" dirty="0">
                <a:solidFill>
                  <a:srgbClr val="FFFFFF"/>
                </a:solidFill>
                <a:latin typeface="Arial"/>
                <a:cs typeface="Arial"/>
              </a:rPr>
              <a:t>e</a:t>
            </a:r>
            <a:endParaRPr sz="630">
              <a:latin typeface="Arial"/>
              <a:cs typeface="Arial"/>
            </a:endParaRPr>
          </a:p>
        </p:txBody>
      </p:sp>
      <p:sp>
        <p:nvSpPr>
          <p:cNvPr id="47" name="object 47"/>
          <p:cNvSpPr txBox="1"/>
          <p:nvPr/>
        </p:nvSpPr>
        <p:spPr>
          <a:xfrm>
            <a:off x="7721001" y="2200357"/>
            <a:ext cx="416973"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Service</a:t>
            </a:r>
            <a:r>
              <a:rPr sz="573" spc="-40" dirty="0">
                <a:latin typeface="Arial"/>
                <a:cs typeface="Arial"/>
              </a:rPr>
              <a:t> </a:t>
            </a:r>
            <a:r>
              <a:rPr sz="573" spc="-11" dirty="0">
                <a:latin typeface="Arial"/>
                <a:cs typeface="Arial"/>
              </a:rPr>
              <a:t>Test</a:t>
            </a:r>
            <a:endParaRPr sz="573">
              <a:latin typeface="Arial"/>
              <a:cs typeface="Arial"/>
            </a:endParaRPr>
          </a:p>
        </p:txBody>
      </p:sp>
      <p:sp>
        <p:nvSpPr>
          <p:cNvPr id="48" name="object 48"/>
          <p:cNvSpPr txBox="1"/>
          <p:nvPr/>
        </p:nvSpPr>
        <p:spPr>
          <a:xfrm>
            <a:off x="7603453" y="2357201"/>
            <a:ext cx="244143"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UI</a:t>
            </a:r>
            <a:r>
              <a:rPr sz="573" spc="-46" dirty="0">
                <a:latin typeface="Arial"/>
                <a:cs typeface="Arial"/>
              </a:rPr>
              <a:t> </a:t>
            </a:r>
            <a:r>
              <a:rPr sz="573" spc="-11" dirty="0">
                <a:latin typeface="Arial"/>
                <a:cs typeface="Arial"/>
              </a:rPr>
              <a:t>Test</a:t>
            </a:r>
            <a:endParaRPr sz="573">
              <a:latin typeface="Arial"/>
              <a:cs typeface="Arial"/>
            </a:endParaRPr>
          </a:p>
        </p:txBody>
      </p:sp>
      <p:sp>
        <p:nvSpPr>
          <p:cNvPr id="49" name="object 49"/>
          <p:cNvSpPr txBox="1"/>
          <p:nvPr/>
        </p:nvSpPr>
        <p:spPr>
          <a:xfrm>
            <a:off x="7378333" y="2511724"/>
            <a:ext cx="434437" cy="250952"/>
          </a:xfrm>
          <a:prstGeom prst="rect">
            <a:avLst/>
          </a:prstGeom>
        </p:spPr>
        <p:txBody>
          <a:bodyPr vert="horz" wrap="square" lIns="0" tIns="8368" rIns="0" bIns="0" rtlCol="0">
            <a:spAutoFit/>
          </a:bodyPr>
          <a:lstStyle/>
          <a:p>
            <a:pPr marL="45118">
              <a:spcBef>
                <a:spcPts val="65"/>
              </a:spcBef>
            </a:pPr>
            <a:r>
              <a:rPr sz="573" spc="3" dirty="0">
                <a:latin typeface="Arial"/>
                <a:cs typeface="Arial"/>
              </a:rPr>
              <a:t>Device</a:t>
            </a:r>
            <a:r>
              <a:rPr sz="573" spc="-40" dirty="0">
                <a:latin typeface="Arial"/>
                <a:cs typeface="Arial"/>
              </a:rPr>
              <a:t> </a:t>
            </a:r>
            <a:r>
              <a:rPr sz="573" spc="-11" dirty="0">
                <a:latin typeface="Arial"/>
                <a:cs typeface="Arial"/>
              </a:rPr>
              <a:t>Test</a:t>
            </a:r>
            <a:endParaRPr sz="573">
              <a:latin typeface="Arial"/>
              <a:cs typeface="Arial"/>
            </a:endParaRPr>
          </a:p>
          <a:p>
            <a:pPr>
              <a:spcBef>
                <a:spcPts val="26"/>
              </a:spcBef>
            </a:pPr>
            <a:endParaRPr sz="430">
              <a:latin typeface="Times New Roman"/>
              <a:cs typeface="Times New Roman"/>
            </a:endParaRPr>
          </a:p>
          <a:p>
            <a:pPr marL="7277"/>
            <a:r>
              <a:rPr sz="573" spc="3" dirty="0">
                <a:latin typeface="Arial"/>
                <a:cs typeface="Arial"/>
              </a:rPr>
              <a:t>Perf</a:t>
            </a:r>
            <a:r>
              <a:rPr sz="573" spc="-17" dirty="0">
                <a:latin typeface="Arial"/>
                <a:cs typeface="Arial"/>
              </a:rPr>
              <a:t> </a:t>
            </a:r>
            <a:r>
              <a:rPr sz="573" spc="-11" dirty="0">
                <a:latin typeface="Arial"/>
                <a:cs typeface="Arial"/>
              </a:rPr>
              <a:t>Test</a:t>
            </a:r>
            <a:endParaRPr sz="573">
              <a:latin typeface="Arial"/>
              <a:cs typeface="Arial"/>
            </a:endParaRPr>
          </a:p>
        </p:txBody>
      </p:sp>
      <p:sp>
        <p:nvSpPr>
          <p:cNvPr id="50" name="object 50"/>
          <p:cNvSpPr txBox="1"/>
          <p:nvPr/>
        </p:nvSpPr>
        <p:spPr>
          <a:xfrm>
            <a:off x="7256876" y="2821857"/>
            <a:ext cx="437712"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Security</a:t>
            </a:r>
            <a:r>
              <a:rPr sz="573" spc="-40" dirty="0">
                <a:latin typeface="Arial"/>
                <a:cs typeface="Arial"/>
              </a:rPr>
              <a:t> </a:t>
            </a:r>
            <a:r>
              <a:rPr sz="573" spc="-11" dirty="0">
                <a:latin typeface="Arial"/>
                <a:cs typeface="Arial"/>
              </a:rPr>
              <a:t>Test</a:t>
            </a:r>
            <a:endParaRPr sz="573">
              <a:latin typeface="Arial"/>
              <a:cs typeface="Arial"/>
            </a:endParaRPr>
          </a:p>
        </p:txBody>
      </p:sp>
      <p:sp>
        <p:nvSpPr>
          <p:cNvPr id="51" name="object 51"/>
          <p:cNvSpPr txBox="1"/>
          <p:nvPr/>
        </p:nvSpPr>
        <p:spPr>
          <a:xfrm>
            <a:off x="8196943" y="2761874"/>
            <a:ext cx="563240" cy="244793"/>
          </a:xfrm>
          <a:prstGeom prst="rect">
            <a:avLst/>
          </a:prstGeom>
        </p:spPr>
        <p:txBody>
          <a:bodyPr vert="horz" wrap="square" lIns="0" tIns="13826" rIns="0" bIns="0" rtlCol="0">
            <a:spAutoFit/>
          </a:bodyPr>
          <a:lstStyle/>
          <a:p>
            <a:pPr marL="109520" marR="2911" indent="-102607">
              <a:lnSpc>
                <a:spcPts val="905"/>
              </a:lnSpc>
              <a:spcBef>
                <a:spcPts val="109"/>
              </a:spcBef>
            </a:pPr>
            <a:r>
              <a:rPr sz="774" b="1" spc="3" dirty="0">
                <a:solidFill>
                  <a:srgbClr val="005493"/>
                </a:solidFill>
                <a:latin typeface="Arial"/>
                <a:cs typeface="Arial"/>
              </a:rPr>
              <a:t>C</a:t>
            </a:r>
            <a:r>
              <a:rPr sz="774" b="1" spc="-3" dirty="0">
                <a:solidFill>
                  <a:srgbClr val="005493"/>
                </a:solidFill>
                <a:latin typeface="Arial"/>
                <a:cs typeface="Arial"/>
              </a:rPr>
              <a:t>on</a:t>
            </a:r>
            <a:r>
              <a:rPr sz="774" b="1" dirty="0">
                <a:solidFill>
                  <a:srgbClr val="005493"/>
                </a:solidFill>
                <a:latin typeface="Arial"/>
                <a:cs typeface="Arial"/>
              </a:rPr>
              <a:t>t</a:t>
            </a:r>
            <a:r>
              <a:rPr sz="774" b="1" spc="-3" dirty="0">
                <a:solidFill>
                  <a:srgbClr val="005493"/>
                </a:solidFill>
                <a:latin typeface="Arial"/>
                <a:cs typeface="Arial"/>
              </a:rPr>
              <a:t>inuou</a:t>
            </a:r>
            <a:r>
              <a:rPr sz="774" b="1" dirty="0">
                <a:solidFill>
                  <a:srgbClr val="005493"/>
                </a:solidFill>
                <a:latin typeface="Arial"/>
                <a:cs typeface="Arial"/>
              </a:rPr>
              <a:t>s  </a:t>
            </a:r>
            <a:r>
              <a:rPr sz="774" b="1" spc="-9" dirty="0">
                <a:solidFill>
                  <a:srgbClr val="005493"/>
                </a:solidFill>
                <a:latin typeface="Arial"/>
                <a:cs typeface="Arial"/>
              </a:rPr>
              <a:t>Testing</a:t>
            </a:r>
            <a:endParaRPr sz="774">
              <a:latin typeface="Arial"/>
              <a:cs typeface="Arial"/>
            </a:endParaRPr>
          </a:p>
        </p:txBody>
      </p:sp>
      <p:sp>
        <p:nvSpPr>
          <p:cNvPr id="52" name="object 52"/>
          <p:cNvSpPr txBox="1"/>
          <p:nvPr/>
        </p:nvSpPr>
        <p:spPr>
          <a:xfrm>
            <a:off x="8138958" y="1854274"/>
            <a:ext cx="437712" cy="188527"/>
          </a:xfrm>
          <a:prstGeom prst="rect">
            <a:avLst/>
          </a:prstGeom>
        </p:spPr>
        <p:txBody>
          <a:bodyPr vert="horz" wrap="square" lIns="0" tIns="5094" rIns="0" bIns="0" rtlCol="0">
            <a:spAutoFit/>
          </a:bodyPr>
          <a:lstStyle/>
          <a:p>
            <a:pPr marL="7277" marR="2911" indent="87689">
              <a:lnSpc>
                <a:spcPct val="103600"/>
              </a:lnSpc>
              <a:spcBef>
                <a:spcPts val="40"/>
              </a:spcBef>
            </a:pPr>
            <a:r>
              <a:rPr sz="573" spc="3" dirty="0">
                <a:latin typeface="Arial"/>
                <a:cs typeface="Arial"/>
              </a:rPr>
              <a:t>Service  </a:t>
            </a:r>
            <a:r>
              <a:rPr sz="573" spc="-6" dirty="0">
                <a:latin typeface="Arial"/>
                <a:cs typeface="Arial"/>
              </a:rPr>
              <a:t>V</a:t>
            </a:r>
            <a:r>
              <a:rPr sz="573" spc="3" dirty="0">
                <a:latin typeface="Arial"/>
                <a:cs typeface="Arial"/>
              </a:rPr>
              <a:t>ir</a:t>
            </a:r>
            <a:r>
              <a:rPr sz="573" dirty="0">
                <a:latin typeface="Arial"/>
                <a:cs typeface="Arial"/>
              </a:rPr>
              <a:t>t</a:t>
            </a:r>
            <a:r>
              <a:rPr sz="573" spc="3" dirty="0">
                <a:latin typeface="Arial"/>
                <a:cs typeface="Arial"/>
              </a:rPr>
              <a:t>ualization</a:t>
            </a:r>
            <a:endParaRPr sz="573">
              <a:latin typeface="Arial"/>
              <a:cs typeface="Arial"/>
            </a:endParaRPr>
          </a:p>
        </p:txBody>
      </p:sp>
      <p:sp>
        <p:nvSpPr>
          <p:cNvPr id="53" name="object 53"/>
          <p:cNvSpPr txBox="1"/>
          <p:nvPr/>
        </p:nvSpPr>
        <p:spPr>
          <a:xfrm>
            <a:off x="7134472" y="2996361"/>
            <a:ext cx="557055"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Acceptance</a:t>
            </a:r>
            <a:r>
              <a:rPr sz="573" spc="-32" dirty="0">
                <a:latin typeface="Arial"/>
                <a:cs typeface="Arial"/>
              </a:rPr>
              <a:t> </a:t>
            </a:r>
            <a:r>
              <a:rPr sz="573" spc="-11" dirty="0">
                <a:latin typeface="Arial"/>
                <a:cs typeface="Arial"/>
              </a:rPr>
              <a:t>Test</a:t>
            </a:r>
            <a:endParaRPr sz="573">
              <a:latin typeface="Arial"/>
              <a:cs typeface="Arial"/>
            </a:endParaRPr>
          </a:p>
        </p:txBody>
      </p:sp>
      <p:sp>
        <p:nvSpPr>
          <p:cNvPr id="54" name="object 54"/>
          <p:cNvSpPr/>
          <p:nvPr/>
        </p:nvSpPr>
        <p:spPr>
          <a:xfrm>
            <a:off x="4845287" y="3866833"/>
            <a:ext cx="467971" cy="287986"/>
          </a:xfrm>
          <a:prstGeom prst="rect">
            <a:avLst/>
          </a:prstGeom>
          <a:blipFill>
            <a:blip r:embed="rId8" cstate="print"/>
            <a:stretch>
              <a:fillRect/>
            </a:stretch>
          </a:blipFill>
        </p:spPr>
        <p:txBody>
          <a:bodyPr wrap="square" lIns="0" tIns="0" rIns="0" bIns="0" rtlCol="0"/>
          <a:lstStyle/>
          <a:p>
            <a:endParaRPr sz="1031"/>
          </a:p>
        </p:txBody>
      </p:sp>
      <p:sp>
        <p:nvSpPr>
          <p:cNvPr id="55" name="object 55"/>
          <p:cNvSpPr/>
          <p:nvPr/>
        </p:nvSpPr>
        <p:spPr>
          <a:xfrm>
            <a:off x="4847539" y="3866833"/>
            <a:ext cx="465728" cy="290353"/>
          </a:xfrm>
          <a:custGeom>
            <a:avLst/>
            <a:gdLst/>
            <a:ahLst/>
            <a:cxnLst/>
            <a:rect l="l" t="t" r="r" b="b"/>
            <a:pathLst>
              <a:path w="812800" h="506729">
                <a:moveTo>
                  <a:pt x="0" y="506527"/>
                </a:moveTo>
                <a:lnTo>
                  <a:pt x="362838" y="506527"/>
                </a:lnTo>
                <a:lnTo>
                  <a:pt x="412338" y="501902"/>
                </a:lnTo>
                <a:lnTo>
                  <a:pt x="459817" y="490677"/>
                </a:lnTo>
                <a:lnTo>
                  <a:pt x="504727" y="473290"/>
                </a:lnTo>
                <a:lnTo>
                  <a:pt x="546524" y="450181"/>
                </a:lnTo>
                <a:lnTo>
                  <a:pt x="584659" y="421787"/>
                </a:lnTo>
                <a:lnTo>
                  <a:pt x="618589" y="388550"/>
                </a:lnTo>
                <a:lnTo>
                  <a:pt x="647765" y="350906"/>
                </a:lnTo>
                <a:lnTo>
                  <a:pt x="671643" y="309296"/>
                </a:lnTo>
                <a:lnTo>
                  <a:pt x="689676" y="264158"/>
                </a:lnTo>
                <a:lnTo>
                  <a:pt x="701317" y="215931"/>
                </a:lnTo>
                <a:lnTo>
                  <a:pt x="719082" y="109251"/>
                </a:lnTo>
                <a:lnTo>
                  <a:pt x="812785" y="124841"/>
                </a:lnTo>
                <a:lnTo>
                  <a:pt x="640977" y="0"/>
                </a:lnTo>
                <a:lnTo>
                  <a:pt x="437975" y="62480"/>
                </a:lnTo>
                <a:lnTo>
                  <a:pt x="531678" y="78070"/>
                </a:lnTo>
                <a:lnTo>
                  <a:pt x="513912" y="184751"/>
                </a:lnTo>
                <a:lnTo>
                  <a:pt x="500668" y="226451"/>
                </a:lnTo>
                <a:lnTo>
                  <a:pt x="476988" y="262026"/>
                </a:lnTo>
                <a:lnTo>
                  <a:pt x="444823" y="290079"/>
                </a:lnTo>
                <a:lnTo>
                  <a:pt x="406123" y="309216"/>
                </a:lnTo>
                <a:lnTo>
                  <a:pt x="362838" y="318041"/>
                </a:lnTo>
                <a:lnTo>
                  <a:pt x="0" y="318041"/>
                </a:lnTo>
                <a:lnTo>
                  <a:pt x="0" y="506527"/>
                </a:lnTo>
                <a:close/>
              </a:path>
            </a:pathLst>
          </a:custGeom>
          <a:ln w="3175">
            <a:solidFill>
              <a:srgbClr val="000000"/>
            </a:solidFill>
          </a:ln>
        </p:spPr>
        <p:txBody>
          <a:bodyPr wrap="square" lIns="0" tIns="0" rIns="0" bIns="0" rtlCol="0"/>
          <a:lstStyle/>
          <a:p>
            <a:endParaRPr sz="1031"/>
          </a:p>
        </p:txBody>
      </p:sp>
      <p:sp>
        <p:nvSpPr>
          <p:cNvPr id="56" name="object 56"/>
          <p:cNvSpPr/>
          <p:nvPr/>
        </p:nvSpPr>
        <p:spPr>
          <a:xfrm>
            <a:off x="6621212" y="3866833"/>
            <a:ext cx="467968" cy="287986"/>
          </a:xfrm>
          <a:prstGeom prst="rect">
            <a:avLst/>
          </a:prstGeom>
          <a:blipFill>
            <a:blip r:embed="rId9" cstate="print"/>
            <a:stretch>
              <a:fillRect/>
            </a:stretch>
          </a:blipFill>
        </p:spPr>
        <p:txBody>
          <a:bodyPr wrap="square" lIns="0" tIns="0" rIns="0" bIns="0" rtlCol="0"/>
          <a:lstStyle/>
          <a:p>
            <a:endParaRPr sz="1031"/>
          </a:p>
        </p:txBody>
      </p:sp>
      <p:sp>
        <p:nvSpPr>
          <p:cNvPr id="57" name="object 57"/>
          <p:cNvSpPr/>
          <p:nvPr/>
        </p:nvSpPr>
        <p:spPr>
          <a:xfrm>
            <a:off x="6623462" y="3866832"/>
            <a:ext cx="465728" cy="290353"/>
          </a:xfrm>
          <a:custGeom>
            <a:avLst/>
            <a:gdLst/>
            <a:ahLst/>
            <a:cxnLst/>
            <a:rect l="l" t="t" r="r" b="b"/>
            <a:pathLst>
              <a:path w="812800" h="506729">
                <a:moveTo>
                  <a:pt x="0" y="506527"/>
                </a:moveTo>
                <a:lnTo>
                  <a:pt x="362838" y="506527"/>
                </a:lnTo>
                <a:lnTo>
                  <a:pt x="412338" y="501902"/>
                </a:lnTo>
                <a:lnTo>
                  <a:pt x="459817" y="490677"/>
                </a:lnTo>
                <a:lnTo>
                  <a:pt x="504727" y="473290"/>
                </a:lnTo>
                <a:lnTo>
                  <a:pt x="546524" y="450181"/>
                </a:lnTo>
                <a:lnTo>
                  <a:pt x="584659" y="421787"/>
                </a:lnTo>
                <a:lnTo>
                  <a:pt x="618589" y="388550"/>
                </a:lnTo>
                <a:lnTo>
                  <a:pt x="647765" y="350906"/>
                </a:lnTo>
                <a:lnTo>
                  <a:pt x="671643" y="309296"/>
                </a:lnTo>
                <a:lnTo>
                  <a:pt x="689676" y="264158"/>
                </a:lnTo>
                <a:lnTo>
                  <a:pt x="701317" y="215931"/>
                </a:lnTo>
                <a:lnTo>
                  <a:pt x="719082" y="109251"/>
                </a:lnTo>
                <a:lnTo>
                  <a:pt x="812785" y="124841"/>
                </a:lnTo>
                <a:lnTo>
                  <a:pt x="640977" y="0"/>
                </a:lnTo>
                <a:lnTo>
                  <a:pt x="437975" y="62480"/>
                </a:lnTo>
                <a:lnTo>
                  <a:pt x="531678" y="78070"/>
                </a:lnTo>
                <a:lnTo>
                  <a:pt x="513912" y="184751"/>
                </a:lnTo>
                <a:lnTo>
                  <a:pt x="500668" y="226451"/>
                </a:lnTo>
                <a:lnTo>
                  <a:pt x="476988" y="262026"/>
                </a:lnTo>
                <a:lnTo>
                  <a:pt x="444823" y="290079"/>
                </a:lnTo>
                <a:lnTo>
                  <a:pt x="406123" y="309216"/>
                </a:lnTo>
                <a:lnTo>
                  <a:pt x="362838" y="318041"/>
                </a:lnTo>
                <a:lnTo>
                  <a:pt x="0" y="318041"/>
                </a:lnTo>
                <a:lnTo>
                  <a:pt x="0" y="506527"/>
                </a:lnTo>
                <a:close/>
              </a:path>
            </a:pathLst>
          </a:custGeom>
          <a:ln w="3175">
            <a:solidFill>
              <a:srgbClr val="000000"/>
            </a:solidFill>
          </a:ln>
        </p:spPr>
        <p:txBody>
          <a:bodyPr wrap="square" lIns="0" tIns="0" rIns="0" bIns="0" rtlCol="0"/>
          <a:lstStyle/>
          <a:p>
            <a:endParaRPr sz="1031"/>
          </a:p>
        </p:txBody>
      </p:sp>
      <p:sp>
        <p:nvSpPr>
          <p:cNvPr id="58" name="object 58"/>
          <p:cNvSpPr/>
          <p:nvPr/>
        </p:nvSpPr>
        <p:spPr>
          <a:xfrm>
            <a:off x="5073216" y="1040817"/>
            <a:ext cx="1814667" cy="591111"/>
          </a:xfrm>
          <a:prstGeom prst="rect">
            <a:avLst/>
          </a:prstGeom>
          <a:blipFill>
            <a:blip r:embed="rId10" cstate="print"/>
            <a:stretch>
              <a:fillRect/>
            </a:stretch>
          </a:blipFill>
        </p:spPr>
        <p:txBody>
          <a:bodyPr wrap="square" lIns="0" tIns="0" rIns="0" bIns="0" rtlCol="0"/>
          <a:lstStyle/>
          <a:p>
            <a:endParaRPr sz="1031"/>
          </a:p>
        </p:txBody>
      </p:sp>
      <p:sp>
        <p:nvSpPr>
          <p:cNvPr id="59" name="object 59"/>
          <p:cNvSpPr/>
          <p:nvPr/>
        </p:nvSpPr>
        <p:spPr>
          <a:xfrm>
            <a:off x="5049852" y="1017483"/>
            <a:ext cx="1728996" cy="497778"/>
          </a:xfrm>
          <a:prstGeom prst="rect">
            <a:avLst/>
          </a:prstGeom>
          <a:blipFill>
            <a:blip r:embed="rId11" cstate="print"/>
            <a:stretch>
              <a:fillRect/>
            </a:stretch>
          </a:blipFill>
        </p:spPr>
        <p:txBody>
          <a:bodyPr wrap="square" lIns="0" tIns="0" rIns="0" bIns="0" rtlCol="0"/>
          <a:lstStyle/>
          <a:p>
            <a:endParaRPr sz="1031"/>
          </a:p>
        </p:txBody>
      </p:sp>
      <p:sp>
        <p:nvSpPr>
          <p:cNvPr id="60" name="object 60"/>
          <p:cNvSpPr/>
          <p:nvPr/>
        </p:nvSpPr>
        <p:spPr>
          <a:xfrm>
            <a:off x="5053746" y="1021373"/>
            <a:ext cx="1721376" cy="498111"/>
          </a:xfrm>
          <a:custGeom>
            <a:avLst/>
            <a:gdLst/>
            <a:ahLst/>
            <a:cxnLst/>
            <a:rect l="l" t="t" r="r" b="b"/>
            <a:pathLst>
              <a:path w="3004184" h="869314">
                <a:moveTo>
                  <a:pt x="2881560" y="868734"/>
                </a:moveTo>
                <a:lnTo>
                  <a:pt x="2949305" y="834572"/>
                </a:lnTo>
                <a:lnTo>
                  <a:pt x="2975786" y="801183"/>
                </a:lnTo>
                <a:lnTo>
                  <a:pt x="2994653" y="759771"/>
                </a:lnTo>
                <a:lnTo>
                  <a:pt x="3003890" y="712470"/>
                </a:lnTo>
                <a:lnTo>
                  <a:pt x="3003890" y="142738"/>
                </a:lnTo>
                <a:lnTo>
                  <a:pt x="2994603" y="95546"/>
                </a:lnTo>
                <a:lnTo>
                  <a:pt x="2975386" y="54891"/>
                </a:lnTo>
                <a:lnTo>
                  <a:pt x="2947954" y="23557"/>
                </a:lnTo>
                <a:lnTo>
                  <a:pt x="2914023" y="4332"/>
                </a:lnTo>
                <a:lnTo>
                  <a:pt x="2875308" y="0"/>
                </a:lnTo>
                <a:lnTo>
                  <a:pt x="115534" y="0"/>
                </a:lnTo>
                <a:lnTo>
                  <a:pt x="76923" y="4332"/>
                </a:lnTo>
                <a:lnTo>
                  <a:pt x="43722" y="23557"/>
                </a:lnTo>
                <a:lnTo>
                  <a:pt x="18274" y="54891"/>
                </a:lnTo>
                <a:lnTo>
                  <a:pt x="2920" y="95546"/>
                </a:lnTo>
                <a:lnTo>
                  <a:pt x="0" y="142738"/>
                </a:lnTo>
                <a:lnTo>
                  <a:pt x="0" y="712470"/>
                </a:lnTo>
                <a:lnTo>
                  <a:pt x="2920" y="759771"/>
                </a:lnTo>
                <a:lnTo>
                  <a:pt x="18274" y="801183"/>
                </a:lnTo>
                <a:lnTo>
                  <a:pt x="43722" y="834572"/>
                </a:lnTo>
                <a:lnTo>
                  <a:pt x="76923" y="857801"/>
                </a:lnTo>
                <a:lnTo>
                  <a:pt x="115534" y="868734"/>
                </a:lnTo>
                <a:lnTo>
                  <a:pt x="2881560" y="868734"/>
                </a:lnTo>
                <a:close/>
              </a:path>
            </a:pathLst>
          </a:custGeom>
          <a:ln w="3258">
            <a:solidFill>
              <a:srgbClr val="000000"/>
            </a:solidFill>
          </a:ln>
        </p:spPr>
        <p:txBody>
          <a:bodyPr wrap="square" lIns="0" tIns="0" rIns="0" bIns="0" rtlCol="0"/>
          <a:lstStyle/>
          <a:p>
            <a:endParaRPr sz="1031"/>
          </a:p>
        </p:txBody>
      </p:sp>
      <p:sp>
        <p:nvSpPr>
          <p:cNvPr id="61" name="object 61"/>
          <p:cNvSpPr txBox="1"/>
          <p:nvPr/>
        </p:nvSpPr>
        <p:spPr>
          <a:xfrm>
            <a:off x="5204877" y="1033568"/>
            <a:ext cx="1411739" cy="119711"/>
          </a:xfrm>
          <a:prstGeom prst="rect">
            <a:avLst/>
          </a:prstGeom>
        </p:spPr>
        <p:txBody>
          <a:bodyPr vert="horz" wrap="square" lIns="0" tIns="9460" rIns="0" bIns="0" rtlCol="0">
            <a:spAutoFit/>
          </a:bodyPr>
          <a:lstStyle/>
          <a:p>
            <a:pPr marL="7277">
              <a:spcBef>
                <a:spcPts val="74"/>
              </a:spcBef>
            </a:pPr>
            <a:r>
              <a:rPr sz="716" b="1" u="heavy" spc="6" dirty="0">
                <a:solidFill>
                  <a:srgbClr val="005493"/>
                </a:solidFill>
                <a:uFill>
                  <a:solidFill>
                    <a:srgbClr val="005493"/>
                  </a:solidFill>
                </a:uFill>
                <a:latin typeface="Arial"/>
                <a:cs typeface="Arial"/>
              </a:rPr>
              <a:t>Infrastructure </a:t>
            </a:r>
            <a:r>
              <a:rPr sz="716" b="1" u="heavy" spc="9" dirty="0">
                <a:solidFill>
                  <a:srgbClr val="005493"/>
                </a:solidFill>
                <a:uFill>
                  <a:solidFill>
                    <a:srgbClr val="005493"/>
                  </a:solidFill>
                </a:uFill>
                <a:latin typeface="Arial"/>
                <a:cs typeface="Arial"/>
              </a:rPr>
              <a:t>and</a:t>
            </a:r>
            <a:r>
              <a:rPr sz="716" b="1" u="heavy" dirty="0">
                <a:solidFill>
                  <a:srgbClr val="005493"/>
                </a:solidFill>
                <a:uFill>
                  <a:solidFill>
                    <a:srgbClr val="005493"/>
                  </a:solidFill>
                </a:uFill>
                <a:latin typeface="Arial"/>
                <a:cs typeface="Arial"/>
              </a:rPr>
              <a:t> </a:t>
            </a:r>
            <a:r>
              <a:rPr sz="716" b="1" u="heavy" spc="9" dirty="0">
                <a:solidFill>
                  <a:srgbClr val="005493"/>
                </a:solidFill>
                <a:uFill>
                  <a:solidFill>
                    <a:srgbClr val="005493"/>
                  </a:solidFill>
                </a:uFill>
                <a:latin typeface="Arial"/>
                <a:cs typeface="Arial"/>
              </a:rPr>
              <a:t>Environment</a:t>
            </a:r>
            <a:endParaRPr sz="716">
              <a:latin typeface="Arial"/>
              <a:cs typeface="Arial"/>
            </a:endParaRPr>
          </a:p>
        </p:txBody>
      </p:sp>
      <p:sp>
        <p:nvSpPr>
          <p:cNvPr id="62" name="object 62"/>
          <p:cNvSpPr/>
          <p:nvPr/>
        </p:nvSpPr>
        <p:spPr>
          <a:xfrm>
            <a:off x="5746106" y="1204776"/>
            <a:ext cx="473879" cy="260283"/>
          </a:xfrm>
          <a:prstGeom prst="rect">
            <a:avLst/>
          </a:prstGeom>
          <a:blipFill>
            <a:blip r:embed="rId12" cstate="print"/>
            <a:stretch>
              <a:fillRect/>
            </a:stretch>
          </a:blipFill>
        </p:spPr>
        <p:txBody>
          <a:bodyPr wrap="square" lIns="0" tIns="0" rIns="0" bIns="0" rtlCol="0"/>
          <a:lstStyle/>
          <a:p>
            <a:endParaRPr sz="1031"/>
          </a:p>
        </p:txBody>
      </p:sp>
      <p:sp>
        <p:nvSpPr>
          <p:cNvPr id="63" name="object 63"/>
          <p:cNvSpPr/>
          <p:nvPr/>
        </p:nvSpPr>
        <p:spPr>
          <a:xfrm>
            <a:off x="2347156" y="4332747"/>
            <a:ext cx="7449204" cy="653037"/>
          </a:xfrm>
          <a:prstGeom prst="rect">
            <a:avLst/>
          </a:prstGeom>
          <a:blipFill>
            <a:blip r:embed="rId13" cstate="print"/>
            <a:stretch>
              <a:fillRect/>
            </a:stretch>
          </a:blipFill>
        </p:spPr>
        <p:txBody>
          <a:bodyPr wrap="square" lIns="0" tIns="0" rIns="0" bIns="0" rtlCol="0"/>
          <a:lstStyle/>
          <a:p>
            <a:endParaRPr sz="1031"/>
          </a:p>
        </p:txBody>
      </p:sp>
      <p:sp>
        <p:nvSpPr>
          <p:cNvPr id="64" name="object 64"/>
          <p:cNvSpPr/>
          <p:nvPr/>
        </p:nvSpPr>
        <p:spPr>
          <a:xfrm>
            <a:off x="2321498" y="4306969"/>
            <a:ext cx="7355124" cy="549926"/>
          </a:xfrm>
          <a:prstGeom prst="rect">
            <a:avLst/>
          </a:prstGeom>
          <a:blipFill>
            <a:blip r:embed="rId14" cstate="print"/>
            <a:stretch>
              <a:fillRect/>
            </a:stretch>
          </a:blipFill>
        </p:spPr>
        <p:txBody>
          <a:bodyPr wrap="square" lIns="0" tIns="0" rIns="0" bIns="0" rtlCol="0"/>
          <a:lstStyle/>
          <a:p>
            <a:endParaRPr sz="1031"/>
          </a:p>
        </p:txBody>
      </p:sp>
      <p:sp>
        <p:nvSpPr>
          <p:cNvPr id="65" name="object 65"/>
          <p:cNvSpPr/>
          <p:nvPr/>
        </p:nvSpPr>
        <p:spPr>
          <a:xfrm>
            <a:off x="2325774" y="4311264"/>
            <a:ext cx="7346867" cy="550141"/>
          </a:xfrm>
          <a:custGeom>
            <a:avLst/>
            <a:gdLst/>
            <a:ahLst/>
            <a:cxnLst/>
            <a:rect l="l" t="t" r="r" b="b"/>
            <a:pathLst>
              <a:path w="12821919" h="960120">
                <a:moveTo>
                  <a:pt x="12687079" y="959744"/>
                </a:moveTo>
                <a:lnTo>
                  <a:pt x="12743413" y="928744"/>
                </a:lnTo>
                <a:lnTo>
                  <a:pt x="12767807" y="896943"/>
                </a:lnTo>
                <a:lnTo>
                  <a:pt x="12788611" y="856165"/>
                </a:lnTo>
                <a:lnTo>
                  <a:pt x="12805017" y="807827"/>
                </a:lnTo>
                <a:lnTo>
                  <a:pt x="12816220" y="753349"/>
                </a:lnTo>
                <a:lnTo>
                  <a:pt x="12821412" y="694148"/>
                </a:lnTo>
                <a:lnTo>
                  <a:pt x="12821412" y="250653"/>
                </a:lnTo>
                <a:lnTo>
                  <a:pt x="12816207" y="191496"/>
                </a:lnTo>
                <a:lnTo>
                  <a:pt x="12804912" y="137322"/>
                </a:lnTo>
                <a:lnTo>
                  <a:pt x="12788258" y="89813"/>
                </a:lnTo>
                <a:lnTo>
                  <a:pt x="12766972" y="50646"/>
                </a:lnTo>
                <a:lnTo>
                  <a:pt x="12741781" y="21502"/>
                </a:lnTo>
                <a:lnTo>
                  <a:pt x="12682601" y="0"/>
                </a:lnTo>
                <a:lnTo>
                  <a:pt x="126870" y="0"/>
                </a:lnTo>
                <a:lnTo>
                  <a:pt x="67968" y="21502"/>
                </a:lnTo>
                <a:lnTo>
                  <a:pt x="23441" y="89813"/>
                </a:lnTo>
                <a:lnTo>
                  <a:pt x="8910" y="137322"/>
                </a:lnTo>
                <a:lnTo>
                  <a:pt x="784" y="191496"/>
                </a:lnTo>
                <a:lnTo>
                  <a:pt x="0" y="250653"/>
                </a:lnTo>
                <a:lnTo>
                  <a:pt x="0" y="694148"/>
                </a:lnTo>
                <a:lnTo>
                  <a:pt x="784" y="753349"/>
                </a:lnTo>
                <a:lnTo>
                  <a:pt x="8910" y="807827"/>
                </a:lnTo>
                <a:lnTo>
                  <a:pt x="23441" y="856165"/>
                </a:lnTo>
                <a:lnTo>
                  <a:pt x="43439" y="896943"/>
                </a:lnTo>
                <a:lnTo>
                  <a:pt x="67968" y="928744"/>
                </a:lnTo>
                <a:lnTo>
                  <a:pt x="126870" y="959744"/>
                </a:lnTo>
                <a:lnTo>
                  <a:pt x="12687079" y="959744"/>
                </a:lnTo>
                <a:close/>
              </a:path>
            </a:pathLst>
          </a:custGeom>
          <a:ln w="3598">
            <a:solidFill>
              <a:srgbClr val="000000"/>
            </a:solidFill>
          </a:ln>
        </p:spPr>
        <p:txBody>
          <a:bodyPr wrap="square" lIns="0" tIns="0" rIns="0" bIns="0" rtlCol="0"/>
          <a:lstStyle/>
          <a:p>
            <a:endParaRPr sz="1031"/>
          </a:p>
        </p:txBody>
      </p:sp>
      <p:sp>
        <p:nvSpPr>
          <p:cNvPr id="66" name="object 66"/>
          <p:cNvSpPr txBox="1"/>
          <p:nvPr/>
        </p:nvSpPr>
        <p:spPr>
          <a:xfrm>
            <a:off x="4184833" y="4411410"/>
            <a:ext cx="3622130" cy="330397"/>
          </a:xfrm>
          <a:prstGeom prst="rect">
            <a:avLst/>
          </a:prstGeom>
        </p:spPr>
        <p:txBody>
          <a:bodyPr vert="horz" wrap="square" lIns="0" tIns="8368" rIns="0" bIns="0" rtlCol="0">
            <a:spAutoFit/>
          </a:bodyPr>
          <a:lstStyle/>
          <a:p>
            <a:pPr algn="ctr">
              <a:spcBef>
                <a:spcPts val="65"/>
              </a:spcBef>
            </a:pPr>
            <a:r>
              <a:rPr sz="802" b="1" u="heavy" spc="3" dirty="0">
                <a:solidFill>
                  <a:srgbClr val="005493"/>
                </a:solidFill>
                <a:uFill>
                  <a:solidFill>
                    <a:srgbClr val="005493"/>
                  </a:solidFill>
                </a:uFill>
                <a:latin typeface="Arial"/>
                <a:cs typeface="Arial"/>
              </a:rPr>
              <a:t>Dashboard/Feedback</a:t>
            </a:r>
            <a:endParaRPr sz="802">
              <a:latin typeface="Arial"/>
              <a:cs typeface="Arial"/>
            </a:endParaRPr>
          </a:p>
          <a:p>
            <a:pPr>
              <a:spcBef>
                <a:spcPts val="3"/>
              </a:spcBef>
            </a:pPr>
            <a:endParaRPr sz="688">
              <a:latin typeface="Times New Roman"/>
              <a:cs typeface="Times New Roman"/>
            </a:endParaRPr>
          </a:p>
          <a:p>
            <a:pPr algn="ctr">
              <a:lnSpc>
                <a:spcPct val="100000"/>
              </a:lnSpc>
            </a:pPr>
            <a:r>
              <a:rPr sz="602" dirty="0">
                <a:latin typeface="Arial"/>
                <a:cs typeface="Arial"/>
              </a:rPr>
              <a:t>End to End </a:t>
            </a:r>
            <a:r>
              <a:rPr sz="602" spc="-6" dirty="0">
                <a:latin typeface="Arial"/>
                <a:cs typeface="Arial"/>
              </a:rPr>
              <a:t>Traceability, </a:t>
            </a:r>
            <a:r>
              <a:rPr sz="602" dirty="0">
                <a:latin typeface="Arial"/>
                <a:cs typeface="Arial"/>
              </a:rPr>
              <a:t>Real time status of Code, Build, </a:t>
            </a:r>
            <a:r>
              <a:rPr sz="602" spc="-6" dirty="0">
                <a:latin typeface="Arial"/>
                <a:cs typeface="Arial"/>
              </a:rPr>
              <a:t>Deploy, </a:t>
            </a:r>
            <a:r>
              <a:rPr sz="602" spc="-14" dirty="0">
                <a:latin typeface="Arial"/>
                <a:cs typeface="Arial"/>
              </a:rPr>
              <a:t>Test, </a:t>
            </a:r>
            <a:r>
              <a:rPr sz="602" dirty="0">
                <a:latin typeface="Arial"/>
                <a:cs typeface="Arial"/>
              </a:rPr>
              <a:t>Application and Environment</a:t>
            </a:r>
            <a:r>
              <a:rPr sz="602" spc="95" dirty="0">
                <a:latin typeface="Arial"/>
                <a:cs typeface="Arial"/>
              </a:rPr>
              <a:t> </a:t>
            </a:r>
            <a:r>
              <a:rPr sz="602" dirty="0">
                <a:latin typeface="Arial"/>
                <a:cs typeface="Arial"/>
              </a:rPr>
              <a:t>Health</a:t>
            </a:r>
            <a:endParaRPr sz="602">
              <a:latin typeface="Arial"/>
              <a:cs typeface="Arial"/>
            </a:endParaRPr>
          </a:p>
        </p:txBody>
      </p:sp>
      <p:sp>
        <p:nvSpPr>
          <p:cNvPr id="67" name="object 67"/>
          <p:cNvSpPr/>
          <p:nvPr/>
        </p:nvSpPr>
        <p:spPr>
          <a:xfrm>
            <a:off x="3575836" y="4055688"/>
            <a:ext cx="315094" cy="320188"/>
          </a:xfrm>
          <a:custGeom>
            <a:avLst/>
            <a:gdLst/>
            <a:ahLst/>
            <a:cxnLst/>
            <a:rect l="l" t="t" r="r" b="b"/>
            <a:pathLst>
              <a:path w="549909" h="558800">
                <a:moveTo>
                  <a:pt x="405258" y="0"/>
                </a:moveTo>
                <a:lnTo>
                  <a:pt x="130475" y="4456"/>
                </a:lnTo>
                <a:lnTo>
                  <a:pt x="137391" y="424498"/>
                </a:lnTo>
                <a:lnTo>
                  <a:pt x="0" y="426725"/>
                </a:lnTo>
                <a:lnTo>
                  <a:pt x="277028" y="558622"/>
                </a:lnTo>
                <a:lnTo>
                  <a:pt x="545252" y="420041"/>
                </a:lnTo>
                <a:lnTo>
                  <a:pt x="412173" y="420041"/>
                </a:lnTo>
                <a:lnTo>
                  <a:pt x="405258" y="0"/>
                </a:lnTo>
                <a:close/>
              </a:path>
              <a:path w="549909" h="558800">
                <a:moveTo>
                  <a:pt x="549565" y="417813"/>
                </a:moveTo>
                <a:lnTo>
                  <a:pt x="412173" y="420041"/>
                </a:lnTo>
                <a:lnTo>
                  <a:pt x="545252" y="420041"/>
                </a:lnTo>
                <a:lnTo>
                  <a:pt x="549565" y="417813"/>
                </a:lnTo>
                <a:close/>
              </a:path>
            </a:pathLst>
          </a:custGeom>
          <a:solidFill>
            <a:srgbClr val="AA7942"/>
          </a:solidFill>
        </p:spPr>
        <p:txBody>
          <a:bodyPr wrap="square" lIns="0" tIns="0" rIns="0" bIns="0" rtlCol="0"/>
          <a:lstStyle/>
          <a:p>
            <a:endParaRPr sz="1031"/>
          </a:p>
        </p:txBody>
      </p:sp>
      <p:sp>
        <p:nvSpPr>
          <p:cNvPr id="68" name="object 68"/>
          <p:cNvSpPr/>
          <p:nvPr/>
        </p:nvSpPr>
        <p:spPr>
          <a:xfrm>
            <a:off x="3575836" y="4055688"/>
            <a:ext cx="315094" cy="320188"/>
          </a:xfrm>
          <a:custGeom>
            <a:avLst/>
            <a:gdLst/>
            <a:ahLst/>
            <a:cxnLst/>
            <a:rect l="l" t="t" r="r" b="b"/>
            <a:pathLst>
              <a:path w="549909" h="558800">
                <a:moveTo>
                  <a:pt x="405258" y="0"/>
                </a:moveTo>
                <a:lnTo>
                  <a:pt x="130475" y="4456"/>
                </a:lnTo>
                <a:lnTo>
                  <a:pt x="137391" y="424498"/>
                </a:lnTo>
                <a:lnTo>
                  <a:pt x="0" y="426725"/>
                </a:lnTo>
                <a:lnTo>
                  <a:pt x="277028" y="558622"/>
                </a:lnTo>
                <a:lnTo>
                  <a:pt x="545252" y="420041"/>
                </a:lnTo>
                <a:lnTo>
                  <a:pt x="412173" y="420041"/>
                </a:lnTo>
                <a:lnTo>
                  <a:pt x="405258" y="0"/>
                </a:lnTo>
                <a:close/>
              </a:path>
              <a:path w="549909" h="558800">
                <a:moveTo>
                  <a:pt x="549565" y="417813"/>
                </a:moveTo>
                <a:lnTo>
                  <a:pt x="412173" y="420041"/>
                </a:lnTo>
                <a:lnTo>
                  <a:pt x="545252" y="420041"/>
                </a:lnTo>
                <a:lnTo>
                  <a:pt x="549565" y="417813"/>
                </a:lnTo>
                <a:close/>
              </a:path>
            </a:pathLst>
          </a:custGeom>
          <a:solidFill>
            <a:srgbClr val="AA7942"/>
          </a:solidFill>
        </p:spPr>
        <p:txBody>
          <a:bodyPr wrap="square" lIns="0" tIns="0" rIns="0" bIns="0" rtlCol="0"/>
          <a:lstStyle/>
          <a:p>
            <a:endParaRPr sz="1031"/>
          </a:p>
        </p:txBody>
      </p:sp>
      <p:sp>
        <p:nvSpPr>
          <p:cNvPr id="69" name="object 69"/>
          <p:cNvSpPr/>
          <p:nvPr/>
        </p:nvSpPr>
        <p:spPr>
          <a:xfrm>
            <a:off x="3575836" y="4055690"/>
            <a:ext cx="315094" cy="320188"/>
          </a:xfrm>
          <a:custGeom>
            <a:avLst/>
            <a:gdLst/>
            <a:ahLst/>
            <a:cxnLst/>
            <a:rect l="l" t="t" r="r" b="b"/>
            <a:pathLst>
              <a:path w="549909" h="558800">
                <a:moveTo>
                  <a:pt x="130475" y="4454"/>
                </a:moveTo>
                <a:lnTo>
                  <a:pt x="137391" y="424496"/>
                </a:lnTo>
                <a:lnTo>
                  <a:pt x="0" y="426725"/>
                </a:lnTo>
                <a:lnTo>
                  <a:pt x="277027" y="558622"/>
                </a:lnTo>
                <a:lnTo>
                  <a:pt x="549565" y="417812"/>
                </a:lnTo>
                <a:lnTo>
                  <a:pt x="412174" y="420041"/>
                </a:lnTo>
                <a:lnTo>
                  <a:pt x="405257" y="0"/>
                </a:lnTo>
                <a:lnTo>
                  <a:pt x="130475" y="4454"/>
                </a:lnTo>
                <a:close/>
              </a:path>
            </a:pathLst>
          </a:custGeom>
          <a:ln w="3650">
            <a:solidFill>
              <a:srgbClr val="A78450"/>
            </a:solidFill>
          </a:ln>
        </p:spPr>
        <p:txBody>
          <a:bodyPr wrap="square" lIns="0" tIns="0" rIns="0" bIns="0" rtlCol="0"/>
          <a:lstStyle/>
          <a:p>
            <a:endParaRPr sz="1031"/>
          </a:p>
        </p:txBody>
      </p:sp>
      <p:sp>
        <p:nvSpPr>
          <p:cNvPr id="70" name="object 70"/>
          <p:cNvSpPr/>
          <p:nvPr/>
        </p:nvSpPr>
        <p:spPr>
          <a:xfrm>
            <a:off x="5861772" y="4043190"/>
            <a:ext cx="315094" cy="321280"/>
          </a:xfrm>
          <a:custGeom>
            <a:avLst/>
            <a:gdLst/>
            <a:ahLst/>
            <a:cxnLst/>
            <a:rect l="l" t="t" r="r" b="b"/>
            <a:pathLst>
              <a:path w="549909" h="560704">
                <a:moveTo>
                  <a:pt x="405254" y="0"/>
                </a:moveTo>
                <a:lnTo>
                  <a:pt x="130467" y="4440"/>
                </a:lnTo>
                <a:lnTo>
                  <a:pt x="137391" y="426337"/>
                </a:lnTo>
                <a:lnTo>
                  <a:pt x="0" y="428557"/>
                </a:lnTo>
                <a:lnTo>
                  <a:pt x="277017" y="560469"/>
                </a:lnTo>
                <a:lnTo>
                  <a:pt x="545267" y="421896"/>
                </a:lnTo>
                <a:lnTo>
                  <a:pt x="412175" y="421896"/>
                </a:lnTo>
                <a:lnTo>
                  <a:pt x="405254" y="0"/>
                </a:lnTo>
                <a:close/>
              </a:path>
              <a:path w="549909" h="560704">
                <a:moveTo>
                  <a:pt x="549564" y="419676"/>
                </a:moveTo>
                <a:lnTo>
                  <a:pt x="412175" y="421896"/>
                </a:lnTo>
                <a:lnTo>
                  <a:pt x="545267" y="421896"/>
                </a:lnTo>
                <a:lnTo>
                  <a:pt x="549564" y="419676"/>
                </a:lnTo>
                <a:close/>
              </a:path>
            </a:pathLst>
          </a:custGeom>
          <a:solidFill>
            <a:srgbClr val="AA7942"/>
          </a:solidFill>
        </p:spPr>
        <p:txBody>
          <a:bodyPr wrap="square" lIns="0" tIns="0" rIns="0" bIns="0" rtlCol="0"/>
          <a:lstStyle/>
          <a:p>
            <a:endParaRPr sz="1031"/>
          </a:p>
        </p:txBody>
      </p:sp>
      <p:sp>
        <p:nvSpPr>
          <p:cNvPr id="71" name="object 71"/>
          <p:cNvSpPr/>
          <p:nvPr/>
        </p:nvSpPr>
        <p:spPr>
          <a:xfrm>
            <a:off x="5861772" y="4043190"/>
            <a:ext cx="315094" cy="321280"/>
          </a:xfrm>
          <a:custGeom>
            <a:avLst/>
            <a:gdLst/>
            <a:ahLst/>
            <a:cxnLst/>
            <a:rect l="l" t="t" r="r" b="b"/>
            <a:pathLst>
              <a:path w="549909" h="560704">
                <a:moveTo>
                  <a:pt x="405254" y="0"/>
                </a:moveTo>
                <a:lnTo>
                  <a:pt x="130467" y="4440"/>
                </a:lnTo>
                <a:lnTo>
                  <a:pt x="137391" y="426337"/>
                </a:lnTo>
                <a:lnTo>
                  <a:pt x="0" y="428557"/>
                </a:lnTo>
                <a:lnTo>
                  <a:pt x="277017" y="560469"/>
                </a:lnTo>
                <a:lnTo>
                  <a:pt x="545267" y="421896"/>
                </a:lnTo>
                <a:lnTo>
                  <a:pt x="412175" y="421896"/>
                </a:lnTo>
                <a:lnTo>
                  <a:pt x="405254" y="0"/>
                </a:lnTo>
                <a:close/>
              </a:path>
              <a:path w="549909" h="560704">
                <a:moveTo>
                  <a:pt x="549564" y="419676"/>
                </a:moveTo>
                <a:lnTo>
                  <a:pt x="412175" y="421896"/>
                </a:lnTo>
                <a:lnTo>
                  <a:pt x="545267" y="421896"/>
                </a:lnTo>
                <a:lnTo>
                  <a:pt x="549564" y="419676"/>
                </a:lnTo>
                <a:close/>
              </a:path>
            </a:pathLst>
          </a:custGeom>
          <a:solidFill>
            <a:srgbClr val="AA7942"/>
          </a:solidFill>
        </p:spPr>
        <p:txBody>
          <a:bodyPr wrap="square" lIns="0" tIns="0" rIns="0" bIns="0" rtlCol="0"/>
          <a:lstStyle/>
          <a:p>
            <a:endParaRPr sz="1031"/>
          </a:p>
        </p:txBody>
      </p:sp>
      <p:sp>
        <p:nvSpPr>
          <p:cNvPr id="72" name="object 72"/>
          <p:cNvSpPr/>
          <p:nvPr/>
        </p:nvSpPr>
        <p:spPr>
          <a:xfrm>
            <a:off x="5861772" y="4043191"/>
            <a:ext cx="315094" cy="321280"/>
          </a:xfrm>
          <a:custGeom>
            <a:avLst/>
            <a:gdLst/>
            <a:ahLst/>
            <a:cxnLst/>
            <a:rect l="l" t="t" r="r" b="b"/>
            <a:pathLst>
              <a:path w="549909" h="560704">
                <a:moveTo>
                  <a:pt x="130468" y="4441"/>
                </a:moveTo>
                <a:lnTo>
                  <a:pt x="137391" y="426339"/>
                </a:lnTo>
                <a:lnTo>
                  <a:pt x="0" y="428558"/>
                </a:lnTo>
                <a:lnTo>
                  <a:pt x="277020" y="560470"/>
                </a:lnTo>
                <a:lnTo>
                  <a:pt x="549567" y="419676"/>
                </a:lnTo>
                <a:lnTo>
                  <a:pt x="412175" y="421897"/>
                </a:lnTo>
                <a:lnTo>
                  <a:pt x="405251" y="0"/>
                </a:lnTo>
                <a:lnTo>
                  <a:pt x="130468" y="4441"/>
                </a:lnTo>
                <a:close/>
              </a:path>
            </a:pathLst>
          </a:custGeom>
          <a:ln w="3650">
            <a:solidFill>
              <a:srgbClr val="A78450"/>
            </a:solidFill>
          </a:ln>
        </p:spPr>
        <p:txBody>
          <a:bodyPr wrap="square" lIns="0" tIns="0" rIns="0" bIns="0" rtlCol="0"/>
          <a:lstStyle/>
          <a:p>
            <a:endParaRPr sz="1031"/>
          </a:p>
        </p:txBody>
      </p:sp>
      <p:sp>
        <p:nvSpPr>
          <p:cNvPr id="73" name="object 73"/>
          <p:cNvSpPr/>
          <p:nvPr/>
        </p:nvSpPr>
        <p:spPr>
          <a:xfrm>
            <a:off x="8253730" y="4072358"/>
            <a:ext cx="315094" cy="320188"/>
          </a:xfrm>
          <a:custGeom>
            <a:avLst/>
            <a:gdLst/>
            <a:ahLst/>
            <a:cxnLst/>
            <a:rect l="l" t="t" r="r" b="b"/>
            <a:pathLst>
              <a:path w="549909" h="558800">
                <a:moveTo>
                  <a:pt x="405254" y="0"/>
                </a:moveTo>
                <a:lnTo>
                  <a:pt x="130467" y="4456"/>
                </a:lnTo>
                <a:lnTo>
                  <a:pt x="137388" y="424498"/>
                </a:lnTo>
                <a:lnTo>
                  <a:pt x="0" y="426726"/>
                </a:lnTo>
                <a:lnTo>
                  <a:pt x="277028" y="558622"/>
                </a:lnTo>
                <a:lnTo>
                  <a:pt x="545251" y="420041"/>
                </a:lnTo>
                <a:lnTo>
                  <a:pt x="412175" y="420041"/>
                </a:lnTo>
                <a:lnTo>
                  <a:pt x="405254" y="0"/>
                </a:lnTo>
                <a:close/>
              </a:path>
              <a:path w="549909" h="558800">
                <a:moveTo>
                  <a:pt x="549564" y="417813"/>
                </a:moveTo>
                <a:lnTo>
                  <a:pt x="412175" y="420041"/>
                </a:lnTo>
                <a:lnTo>
                  <a:pt x="545251" y="420041"/>
                </a:lnTo>
                <a:lnTo>
                  <a:pt x="549564" y="417813"/>
                </a:lnTo>
                <a:close/>
              </a:path>
            </a:pathLst>
          </a:custGeom>
          <a:solidFill>
            <a:srgbClr val="AA7942"/>
          </a:solidFill>
        </p:spPr>
        <p:txBody>
          <a:bodyPr wrap="square" lIns="0" tIns="0" rIns="0" bIns="0" rtlCol="0"/>
          <a:lstStyle/>
          <a:p>
            <a:endParaRPr sz="1031"/>
          </a:p>
        </p:txBody>
      </p:sp>
      <p:sp>
        <p:nvSpPr>
          <p:cNvPr id="74" name="object 74"/>
          <p:cNvSpPr/>
          <p:nvPr/>
        </p:nvSpPr>
        <p:spPr>
          <a:xfrm>
            <a:off x="8253730" y="4072358"/>
            <a:ext cx="315094" cy="320188"/>
          </a:xfrm>
          <a:custGeom>
            <a:avLst/>
            <a:gdLst/>
            <a:ahLst/>
            <a:cxnLst/>
            <a:rect l="l" t="t" r="r" b="b"/>
            <a:pathLst>
              <a:path w="549909" h="558800">
                <a:moveTo>
                  <a:pt x="405254" y="0"/>
                </a:moveTo>
                <a:lnTo>
                  <a:pt x="130467" y="4456"/>
                </a:lnTo>
                <a:lnTo>
                  <a:pt x="137388" y="424498"/>
                </a:lnTo>
                <a:lnTo>
                  <a:pt x="0" y="426726"/>
                </a:lnTo>
                <a:lnTo>
                  <a:pt x="277028" y="558622"/>
                </a:lnTo>
                <a:lnTo>
                  <a:pt x="545251" y="420041"/>
                </a:lnTo>
                <a:lnTo>
                  <a:pt x="412175" y="420041"/>
                </a:lnTo>
                <a:lnTo>
                  <a:pt x="405254" y="0"/>
                </a:lnTo>
                <a:close/>
              </a:path>
              <a:path w="549909" h="558800">
                <a:moveTo>
                  <a:pt x="549564" y="417813"/>
                </a:moveTo>
                <a:lnTo>
                  <a:pt x="412175" y="420041"/>
                </a:lnTo>
                <a:lnTo>
                  <a:pt x="545251" y="420041"/>
                </a:lnTo>
                <a:lnTo>
                  <a:pt x="549564" y="417813"/>
                </a:lnTo>
                <a:close/>
              </a:path>
            </a:pathLst>
          </a:custGeom>
          <a:solidFill>
            <a:srgbClr val="AA7942"/>
          </a:solidFill>
        </p:spPr>
        <p:txBody>
          <a:bodyPr wrap="square" lIns="0" tIns="0" rIns="0" bIns="0" rtlCol="0"/>
          <a:lstStyle/>
          <a:p>
            <a:endParaRPr sz="1031"/>
          </a:p>
        </p:txBody>
      </p:sp>
      <p:sp>
        <p:nvSpPr>
          <p:cNvPr id="75" name="object 75"/>
          <p:cNvSpPr/>
          <p:nvPr/>
        </p:nvSpPr>
        <p:spPr>
          <a:xfrm>
            <a:off x="8253730" y="4072360"/>
            <a:ext cx="315094" cy="320188"/>
          </a:xfrm>
          <a:custGeom>
            <a:avLst/>
            <a:gdLst/>
            <a:ahLst/>
            <a:cxnLst/>
            <a:rect l="l" t="t" r="r" b="b"/>
            <a:pathLst>
              <a:path w="549909" h="558800">
                <a:moveTo>
                  <a:pt x="130475" y="4454"/>
                </a:moveTo>
                <a:lnTo>
                  <a:pt x="137391" y="424496"/>
                </a:lnTo>
                <a:lnTo>
                  <a:pt x="0" y="426725"/>
                </a:lnTo>
                <a:lnTo>
                  <a:pt x="277027" y="558622"/>
                </a:lnTo>
                <a:lnTo>
                  <a:pt x="549565" y="417812"/>
                </a:lnTo>
                <a:lnTo>
                  <a:pt x="412174" y="420041"/>
                </a:lnTo>
                <a:lnTo>
                  <a:pt x="405257" y="0"/>
                </a:lnTo>
                <a:lnTo>
                  <a:pt x="130475" y="4454"/>
                </a:lnTo>
                <a:close/>
              </a:path>
            </a:pathLst>
          </a:custGeom>
          <a:ln w="3650">
            <a:solidFill>
              <a:srgbClr val="A78450"/>
            </a:solidFill>
          </a:ln>
        </p:spPr>
        <p:txBody>
          <a:bodyPr wrap="square" lIns="0" tIns="0" rIns="0" bIns="0" rtlCol="0"/>
          <a:lstStyle/>
          <a:p>
            <a:endParaRPr sz="1031"/>
          </a:p>
        </p:txBody>
      </p:sp>
      <p:sp>
        <p:nvSpPr>
          <p:cNvPr id="76" name="object 76"/>
          <p:cNvSpPr/>
          <p:nvPr/>
        </p:nvSpPr>
        <p:spPr>
          <a:xfrm>
            <a:off x="6585154" y="1352935"/>
            <a:ext cx="360092" cy="503991"/>
          </a:xfrm>
          <a:prstGeom prst="rect">
            <a:avLst/>
          </a:prstGeom>
          <a:blipFill>
            <a:blip r:embed="rId15" cstate="print"/>
            <a:stretch>
              <a:fillRect/>
            </a:stretch>
          </a:blipFill>
        </p:spPr>
        <p:txBody>
          <a:bodyPr wrap="square" lIns="0" tIns="0" rIns="0" bIns="0" rtlCol="0"/>
          <a:lstStyle/>
          <a:p>
            <a:endParaRPr sz="1031"/>
          </a:p>
        </p:txBody>
      </p:sp>
      <p:sp>
        <p:nvSpPr>
          <p:cNvPr id="77" name="object 77"/>
          <p:cNvSpPr/>
          <p:nvPr/>
        </p:nvSpPr>
        <p:spPr>
          <a:xfrm>
            <a:off x="6585152" y="1352934"/>
            <a:ext cx="360212" cy="506479"/>
          </a:xfrm>
          <a:custGeom>
            <a:avLst/>
            <a:gdLst/>
            <a:ahLst/>
            <a:cxnLst/>
            <a:rect l="l" t="t" r="r" b="b"/>
            <a:pathLst>
              <a:path w="628650" h="883919">
                <a:moveTo>
                  <a:pt x="120967" y="883501"/>
                </a:moveTo>
                <a:lnTo>
                  <a:pt x="421179" y="883501"/>
                </a:lnTo>
                <a:lnTo>
                  <a:pt x="468704" y="876544"/>
                </a:lnTo>
                <a:lnTo>
                  <a:pt x="512330" y="859824"/>
                </a:lnTo>
                <a:lnTo>
                  <a:pt x="550815" y="834523"/>
                </a:lnTo>
                <a:lnTo>
                  <a:pt x="582913" y="801825"/>
                </a:lnTo>
                <a:lnTo>
                  <a:pt x="607381" y="762911"/>
                </a:lnTo>
                <a:lnTo>
                  <a:pt x="622974" y="718963"/>
                </a:lnTo>
                <a:lnTo>
                  <a:pt x="628448" y="671165"/>
                </a:lnTo>
                <a:lnTo>
                  <a:pt x="625978" y="639087"/>
                </a:lnTo>
                <a:lnTo>
                  <a:pt x="618685" y="607954"/>
                </a:lnTo>
                <a:lnTo>
                  <a:pt x="606740" y="578309"/>
                </a:lnTo>
                <a:lnTo>
                  <a:pt x="590316" y="550698"/>
                </a:lnTo>
                <a:lnTo>
                  <a:pt x="243023" y="57697"/>
                </a:lnTo>
                <a:lnTo>
                  <a:pt x="324031" y="0"/>
                </a:lnTo>
                <a:lnTo>
                  <a:pt x="104635" y="33939"/>
                </a:lnTo>
                <a:lnTo>
                  <a:pt x="0" y="230789"/>
                </a:lnTo>
                <a:lnTo>
                  <a:pt x="81007" y="173091"/>
                </a:lnTo>
                <a:lnTo>
                  <a:pt x="428300" y="666093"/>
                </a:lnTo>
                <a:lnTo>
                  <a:pt x="431086" y="670047"/>
                </a:lnTo>
                <a:lnTo>
                  <a:pt x="430156" y="675523"/>
                </a:lnTo>
                <a:lnTo>
                  <a:pt x="426223" y="678325"/>
                </a:lnTo>
                <a:lnTo>
                  <a:pt x="424749" y="679375"/>
                </a:lnTo>
                <a:lnTo>
                  <a:pt x="422986" y="679939"/>
                </a:lnTo>
                <a:lnTo>
                  <a:pt x="421179" y="679468"/>
                </a:lnTo>
                <a:lnTo>
                  <a:pt x="120967" y="679468"/>
                </a:lnTo>
                <a:lnTo>
                  <a:pt x="120967" y="883501"/>
                </a:lnTo>
                <a:close/>
              </a:path>
            </a:pathLst>
          </a:custGeom>
          <a:ln w="3175">
            <a:solidFill>
              <a:srgbClr val="000000"/>
            </a:solidFill>
          </a:ln>
        </p:spPr>
        <p:txBody>
          <a:bodyPr wrap="square" lIns="0" tIns="0" rIns="0" bIns="0" rtlCol="0"/>
          <a:lstStyle/>
          <a:p>
            <a:endParaRPr sz="1031"/>
          </a:p>
        </p:txBody>
      </p:sp>
      <p:sp>
        <p:nvSpPr>
          <p:cNvPr id="78" name="object 78"/>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Tree>
    <p:extLst>
      <p:ext uri="{BB962C8B-B14F-4D97-AF65-F5344CB8AC3E}">
        <p14:creationId xmlns:p14="http://schemas.microsoft.com/office/powerpoint/2010/main" val="2040361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15676" y="1693887"/>
            <a:ext cx="2724599" cy="2559929"/>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2290907" y="1669113"/>
            <a:ext cx="2630640" cy="2465954"/>
          </a:xfrm>
          <a:prstGeom prst="rect">
            <a:avLst/>
          </a:prstGeom>
          <a:blipFill>
            <a:blip r:embed="rId3" cstate="print"/>
            <a:stretch>
              <a:fillRect/>
            </a:stretch>
          </a:blipFill>
        </p:spPr>
        <p:txBody>
          <a:bodyPr wrap="square" lIns="0" tIns="0" rIns="0" bIns="0" rtlCol="0"/>
          <a:lstStyle/>
          <a:p>
            <a:endParaRPr sz="1031"/>
          </a:p>
        </p:txBody>
      </p:sp>
      <p:sp>
        <p:nvSpPr>
          <p:cNvPr id="4" name="object 4"/>
          <p:cNvSpPr txBox="1"/>
          <p:nvPr/>
        </p:nvSpPr>
        <p:spPr>
          <a:xfrm>
            <a:off x="2546540" y="3380461"/>
            <a:ext cx="444261" cy="188527"/>
          </a:xfrm>
          <a:prstGeom prst="rect">
            <a:avLst/>
          </a:prstGeom>
        </p:spPr>
        <p:txBody>
          <a:bodyPr vert="horz" wrap="square" lIns="0" tIns="5094" rIns="0" bIns="0" rtlCol="0">
            <a:spAutoFit/>
          </a:bodyPr>
          <a:lstStyle/>
          <a:p>
            <a:pPr marL="116434" marR="2911" indent="-109520">
              <a:lnSpc>
                <a:spcPct val="104000"/>
              </a:lnSpc>
              <a:spcBef>
                <a:spcPts val="40"/>
              </a:spcBef>
            </a:pPr>
            <a:r>
              <a:rPr sz="573" spc="6" dirty="0">
                <a:latin typeface="Arial"/>
                <a:cs typeface="Arial"/>
              </a:rPr>
              <a:t>Code</a:t>
            </a:r>
            <a:r>
              <a:rPr sz="573" spc="-32" dirty="0">
                <a:latin typeface="Arial"/>
                <a:cs typeface="Arial"/>
              </a:rPr>
              <a:t> </a:t>
            </a:r>
            <a:r>
              <a:rPr sz="573" spc="3" dirty="0">
                <a:latin typeface="Arial"/>
                <a:cs typeface="Arial"/>
              </a:rPr>
              <a:t>Quality  </a:t>
            </a:r>
            <a:r>
              <a:rPr sz="573" spc="6" dirty="0">
                <a:latin typeface="Arial"/>
                <a:cs typeface="Arial"/>
              </a:rPr>
              <a:t>Check</a:t>
            </a:r>
            <a:endParaRPr sz="573">
              <a:latin typeface="Arial"/>
              <a:cs typeface="Arial"/>
            </a:endParaRPr>
          </a:p>
        </p:txBody>
      </p:sp>
      <p:sp>
        <p:nvSpPr>
          <p:cNvPr id="5" name="object 5"/>
          <p:cNvSpPr txBox="1"/>
          <p:nvPr/>
        </p:nvSpPr>
        <p:spPr>
          <a:xfrm>
            <a:off x="3415383" y="3658094"/>
            <a:ext cx="366033" cy="280219"/>
          </a:xfrm>
          <a:prstGeom prst="rect">
            <a:avLst/>
          </a:prstGeom>
        </p:spPr>
        <p:txBody>
          <a:bodyPr vert="horz" wrap="square" lIns="0" tIns="5094" rIns="0" bIns="0" rtlCol="0">
            <a:spAutoFit/>
          </a:bodyPr>
          <a:lstStyle/>
          <a:p>
            <a:pPr marL="6913" marR="2911" indent="-364" algn="ctr">
              <a:lnSpc>
                <a:spcPct val="104000"/>
              </a:lnSpc>
              <a:spcBef>
                <a:spcPts val="40"/>
              </a:spcBef>
            </a:pPr>
            <a:r>
              <a:rPr sz="573" spc="3" dirty="0">
                <a:latin typeface="Arial"/>
                <a:cs typeface="Arial"/>
              </a:rPr>
              <a:t>Unit/  Integration  </a:t>
            </a:r>
            <a:r>
              <a:rPr sz="573" spc="-11" dirty="0">
                <a:latin typeface="Arial"/>
                <a:cs typeface="Arial"/>
              </a:rPr>
              <a:t>Test</a:t>
            </a:r>
            <a:endParaRPr sz="573">
              <a:latin typeface="Arial"/>
              <a:cs typeface="Arial"/>
            </a:endParaRPr>
          </a:p>
        </p:txBody>
      </p:sp>
      <p:sp>
        <p:nvSpPr>
          <p:cNvPr id="6" name="object 6"/>
          <p:cNvSpPr txBox="1"/>
          <p:nvPr/>
        </p:nvSpPr>
        <p:spPr>
          <a:xfrm>
            <a:off x="4342736" y="3374408"/>
            <a:ext cx="370036" cy="188527"/>
          </a:xfrm>
          <a:prstGeom prst="rect">
            <a:avLst/>
          </a:prstGeom>
        </p:spPr>
        <p:txBody>
          <a:bodyPr vert="horz" wrap="square" lIns="0" tIns="5094" rIns="0" bIns="0" rtlCol="0">
            <a:spAutoFit/>
          </a:bodyPr>
          <a:lstStyle/>
          <a:p>
            <a:pPr marL="7277" marR="2911" indent="72043">
              <a:lnSpc>
                <a:spcPct val="104000"/>
              </a:lnSpc>
              <a:spcBef>
                <a:spcPts val="40"/>
              </a:spcBef>
            </a:pPr>
            <a:r>
              <a:rPr sz="573" spc="6" dirty="0">
                <a:latin typeface="Arial"/>
                <a:cs typeface="Arial"/>
              </a:rPr>
              <a:t>Binary  Repository</a:t>
            </a:r>
            <a:endParaRPr sz="573">
              <a:latin typeface="Arial"/>
              <a:cs typeface="Arial"/>
            </a:endParaRPr>
          </a:p>
        </p:txBody>
      </p:sp>
      <p:sp>
        <p:nvSpPr>
          <p:cNvPr id="7" name="object 7"/>
          <p:cNvSpPr txBox="1"/>
          <p:nvPr/>
        </p:nvSpPr>
        <p:spPr>
          <a:xfrm>
            <a:off x="4484323" y="2798501"/>
            <a:ext cx="244871" cy="96983"/>
          </a:xfrm>
          <a:prstGeom prst="rect">
            <a:avLst/>
          </a:prstGeom>
        </p:spPr>
        <p:txBody>
          <a:bodyPr vert="horz" wrap="square" lIns="0" tIns="8732" rIns="0" bIns="0" rtlCol="0">
            <a:spAutoFit/>
          </a:bodyPr>
          <a:lstStyle/>
          <a:p>
            <a:pPr marL="7277">
              <a:spcBef>
                <a:spcPts val="69"/>
              </a:spcBef>
            </a:pPr>
            <a:r>
              <a:rPr sz="573" spc="3" dirty="0">
                <a:latin typeface="Arial"/>
                <a:cs typeface="Arial"/>
              </a:rPr>
              <a:t>CI</a:t>
            </a:r>
            <a:r>
              <a:rPr sz="573" spc="-46" dirty="0">
                <a:latin typeface="Arial"/>
                <a:cs typeface="Arial"/>
              </a:rPr>
              <a:t> </a:t>
            </a:r>
            <a:r>
              <a:rPr sz="573" spc="-11" dirty="0">
                <a:latin typeface="Arial"/>
                <a:cs typeface="Arial"/>
              </a:rPr>
              <a:t>Tool</a:t>
            </a:r>
            <a:endParaRPr sz="573">
              <a:latin typeface="Arial"/>
              <a:cs typeface="Arial"/>
            </a:endParaRPr>
          </a:p>
        </p:txBody>
      </p:sp>
      <p:sp>
        <p:nvSpPr>
          <p:cNvPr id="8" name="object 8"/>
          <p:cNvSpPr txBox="1"/>
          <p:nvPr/>
        </p:nvSpPr>
        <p:spPr>
          <a:xfrm>
            <a:off x="3553393" y="1962044"/>
            <a:ext cx="138627" cy="96983"/>
          </a:xfrm>
          <a:prstGeom prst="rect">
            <a:avLst/>
          </a:prstGeom>
        </p:spPr>
        <p:txBody>
          <a:bodyPr vert="horz" wrap="square" lIns="0" tIns="8732" rIns="0" bIns="0" rtlCol="0">
            <a:spAutoFit/>
          </a:bodyPr>
          <a:lstStyle/>
          <a:p>
            <a:pPr marL="7277">
              <a:spcBef>
                <a:spcPts val="69"/>
              </a:spcBef>
            </a:pPr>
            <a:r>
              <a:rPr sz="573" spc="6" dirty="0">
                <a:latin typeface="Arial"/>
                <a:cs typeface="Arial"/>
              </a:rPr>
              <a:t>IDE</a:t>
            </a:r>
            <a:endParaRPr sz="573">
              <a:latin typeface="Arial"/>
              <a:cs typeface="Arial"/>
            </a:endParaRPr>
          </a:p>
        </p:txBody>
      </p:sp>
      <p:sp>
        <p:nvSpPr>
          <p:cNvPr id="9" name="object 9"/>
          <p:cNvSpPr txBox="1"/>
          <p:nvPr/>
        </p:nvSpPr>
        <p:spPr>
          <a:xfrm>
            <a:off x="2867608" y="2061363"/>
            <a:ext cx="254331" cy="188527"/>
          </a:xfrm>
          <a:prstGeom prst="rect">
            <a:avLst/>
          </a:prstGeom>
        </p:spPr>
        <p:txBody>
          <a:bodyPr vert="horz" wrap="square" lIns="0" tIns="5094" rIns="0" bIns="0" rtlCol="0">
            <a:spAutoFit/>
          </a:bodyPr>
          <a:lstStyle/>
          <a:p>
            <a:pPr marL="7277" marR="2911" indent="1819">
              <a:lnSpc>
                <a:spcPct val="104000"/>
              </a:lnSpc>
              <a:spcBef>
                <a:spcPts val="40"/>
              </a:spcBef>
            </a:pPr>
            <a:r>
              <a:rPr sz="573" spc="3" dirty="0">
                <a:latin typeface="Arial"/>
                <a:cs typeface="Arial"/>
              </a:rPr>
              <a:t>Source  Control</a:t>
            </a:r>
            <a:endParaRPr sz="573">
              <a:latin typeface="Arial"/>
              <a:cs typeface="Arial"/>
            </a:endParaRPr>
          </a:p>
        </p:txBody>
      </p:sp>
      <p:sp>
        <p:nvSpPr>
          <p:cNvPr id="10" name="object 10"/>
          <p:cNvSpPr txBox="1"/>
          <p:nvPr/>
        </p:nvSpPr>
        <p:spPr>
          <a:xfrm>
            <a:off x="2487056" y="2767975"/>
            <a:ext cx="312184" cy="188527"/>
          </a:xfrm>
          <a:prstGeom prst="rect">
            <a:avLst/>
          </a:prstGeom>
        </p:spPr>
        <p:txBody>
          <a:bodyPr vert="horz" wrap="square" lIns="0" tIns="5094" rIns="0" bIns="0" rtlCol="0">
            <a:spAutoFit/>
          </a:bodyPr>
          <a:lstStyle/>
          <a:p>
            <a:pPr marL="69132" marR="2911" indent="-62219">
              <a:lnSpc>
                <a:spcPct val="104000"/>
              </a:lnSpc>
              <a:spcBef>
                <a:spcPts val="40"/>
              </a:spcBef>
            </a:pPr>
            <a:r>
              <a:rPr sz="573" spc="3" dirty="0">
                <a:latin typeface="Arial"/>
                <a:cs typeface="Arial"/>
              </a:rPr>
              <a:t>Agile</a:t>
            </a:r>
            <a:r>
              <a:rPr sz="573" spc="-40" dirty="0">
                <a:latin typeface="Arial"/>
                <a:cs typeface="Arial"/>
              </a:rPr>
              <a:t> </a:t>
            </a:r>
            <a:r>
              <a:rPr sz="573" spc="9" dirty="0">
                <a:latin typeface="Arial"/>
                <a:cs typeface="Arial"/>
              </a:rPr>
              <a:t>PM  </a:t>
            </a:r>
            <a:r>
              <a:rPr sz="573" spc="-11" dirty="0">
                <a:latin typeface="Arial"/>
                <a:cs typeface="Arial"/>
              </a:rPr>
              <a:t>Tools</a:t>
            </a:r>
            <a:endParaRPr sz="573">
              <a:latin typeface="Arial"/>
              <a:cs typeface="Arial"/>
            </a:endParaRPr>
          </a:p>
        </p:txBody>
      </p:sp>
      <p:sp>
        <p:nvSpPr>
          <p:cNvPr id="11" name="object 11"/>
          <p:cNvSpPr txBox="1"/>
          <p:nvPr/>
        </p:nvSpPr>
        <p:spPr>
          <a:xfrm>
            <a:off x="4113086" y="2141182"/>
            <a:ext cx="448628" cy="188527"/>
          </a:xfrm>
          <a:prstGeom prst="rect">
            <a:avLst/>
          </a:prstGeom>
        </p:spPr>
        <p:txBody>
          <a:bodyPr vert="horz" wrap="square" lIns="0" tIns="5094" rIns="0" bIns="0" rtlCol="0">
            <a:spAutoFit/>
          </a:bodyPr>
          <a:lstStyle/>
          <a:p>
            <a:pPr marL="7277" marR="2911" indent="109157">
              <a:lnSpc>
                <a:spcPct val="104000"/>
              </a:lnSpc>
              <a:spcBef>
                <a:spcPts val="40"/>
              </a:spcBef>
            </a:pPr>
            <a:r>
              <a:rPr sz="573" spc="6" dirty="0">
                <a:latin typeface="Arial"/>
                <a:cs typeface="Arial"/>
              </a:rPr>
              <a:t>Defect  Management</a:t>
            </a:r>
            <a:endParaRPr sz="573">
              <a:latin typeface="Arial"/>
              <a:cs typeface="Arial"/>
            </a:endParaRPr>
          </a:p>
        </p:txBody>
      </p:sp>
      <p:sp>
        <p:nvSpPr>
          <p:cNvPr id="12" name="object 12"/>
          <p:cNvSpPr txBox="1"/>
          <p:nvPr/>
        </p:nvSpPr>
        <p:spPr>
          <a:xfrm rot="18600000">
            <a:off x="3057866" y="2566179"/>
            <a:ext cx="420401" cy="64120"/>
          </a:xfrm>
          <a:prstGeom prst="rect">
            <a:avLst/>
          </a:prstGeom>
        </p:spPr>
        <p:txBody>
          <a:bodyPr vert="horz" wrap="square" lIns="0" tIns="0" rIns="0" bIns="0" rtlCol="0">
            <a:spAutoFit/>
          </a:bodyPr>
          <a:lstStyle/>
          <a:p>
            <a:pPr>
              <a:lnSpc>
                <a:spcPts val="504"/>
              </a:lnSpc>
            </a:pPr>
            <a:r>
              <a:rPr sz="516" dirty="0">
                <a:latin typeface="Arial"/>
                <a:cs typeface="Arial"/>
              </a:rPr>
              <a:t>Reques</a:t>
            </a:r>
            <a:r>
              <a:rPr sz="516" spc="-3" dirty="0">
                <a:latin typeface="Arial"/>
                <a:cs typeface="Arial"/>
              </a:rPr>
              <a:t>t</a:t>
            </a:r>
            <a:r>
              <a:rPr sz="516" dirty="0">
                <a:latin typeface="Arial"/>
                <a:cs typeface="Arial"/>
              </a:rPr>
              <a:t>, Plan</a:t>
            </a:r>
            <a:endParaRPr sz="516">
              <a:latin typeface="Arial"/>
              <a:cs typeface="Arial"/>
            </a:endParaRPr>
          </a:p>
        </p:txBody>
      </p:sp>
      <p:sp>
        <p:nvSpPr>
          <p:cNvPr id="13" name="object 13"/>
          <p:cNvSpPr txBox="1"/>
          <p:nvPr/>
        </p:nvSpPr>
        <p:spPr>
          <a:xfrm rot="3900000">
            <a:off x="2963453" y="3180303"/>
            <a:ext cx="441973" cy="64120"/>
          </a:xfrm>
          <a:prstGeom prst="rect">
            <a:avLst/>
          </a:prstGeom>
        </p:spPr>
        <p:txBody>
          <a:bodyPr vert="horz" wrap="square" lIns="0" tIns="0" rIns="0" bIns="0" rtlCol="0">
            <a:spAutoFit/>
          </a:bodyPr>
          <a:lstStyle/>
          <a:p>
            <a:pPr>
              <a:lnSpc>
                <a:spcPts val="504"/>
              </a:lnSpc>
            </a:pPr>
            <a:r>
              <a:rPr sz="516" dirty="0">
                <a:latin typeface="Arial"/>
                <a:cs typeface="Arial"/>
              </a:rPr>
              <a:t>Report Resul</a:t>
            </a:r>
            <a:r>
              <a:rPr sz="516" spc="-3" dirty="0">
                <a:latin typeface="Arial"/>
                <a:cs typeface="Arial"/>
              </a:rPr>
              <a:t>t</a:t>
            </a:r>
            <a:r>
              <a:rPr sz="516" dirty="0">
                <a:latin typeface="Arial"/>
                <a:cs typeface="Arial"/>
              </a:rPr>
              <a:t>s</a:t>
            </a:r>
            <a:endParaRPr sz="516">
              <a:latin typeface="Arial"/>
              <a:cs typeface="Arial"/>
            </a:endParaRPr>
          </a:p>
        </p:txBody>
      </p:sp>
      <p:sp>
        <p:nvSpPr>
          <p:cNvPr id="14" name="object 14"/>
          <p:cNvSpPr txBox="1"/>
          <p:nvPr/>
        </p:nvSpPr>
        <p:spPr>
          <a:xfrm rot="20460000">
            <a:off x="3544243" y="3365496"/>
            <a:ext cx="495642" cy="64120"/>
          </a:xfrm>
          <a:prstGeom prst="rect">
            <a:avLst/>
          </a:prstGeom>
        </p:spPr>
        <p:txBody>
          <a:bodyPr vert="horz" wrap="square" lIns="0" tIns="0" rIns="0" bIns="0" rtlCol="0">
            <a:spAutoFit/>
          </a:bodyPr>
          <a:lstStyle/>
          <a:p>
            <a:pPr>
              <a:lnSpc>
                <a:spcPts val="512"/>
              </a:lnSpc>
            </a:pPr>
            <a:r>
              <a:rPr sz="516" dirty="0">
                <a:latin typeface="Arial"/>
                <a:cs typeface="Arial"/>
              </a:rPr>
              <a:t>Automated</a:t>
            </a:r>
            <a:r>
              <a:rPr sz="516" spc="-57" dirty="0">
                <a:latin typeface="Arial"/>
                <a:cs typeface="Arial"/>
              </a:rPr>
              <a:t> </a:t>
            </a:r>
            <a:r>
              <a:rPr sz="516" spc="-11" dirty="0">
                <a:latin typeface="Arial"/>
                <a:cs typeface="Arial"/>
              </a:rPr>
              <a:t>T</a:t>
            </a:r>
            <a:r>
              <a:rPr sz="774" spc="-17" baseline="3086" dirty="0">
                <a:latin typeface="Arial"/>
                <a:cs typeface="Arial"/>
              </a:rPr>
              <a:t>ests</a:t>
            </a:r>
            <a:endParaRPr sz="774" baseline="3086">
              <a:latin typeface="Arial"/>
              <a:cs typeface="Arial"/>
            </a:endParaRPr>
          </a:p>
        </p:txBody>
      </p:sp>
      <p:sp>
        <p:nvSpPr>
          <p:cNvPr id="15" name="object 15"/>
          <p:cNvSpPr txBox="1"/>
          <p:nvPr/>
        </p:nvSpPr>
        <p:spPr>
          <a:xfrm rot="20460000">
            <a:off x="3607259" y="3443431"/>
            <a:ext cx="424354" cy="64120"/>
          </a:xfrm>
          <a:prstGeom prst="rect">
            <a:avLst/>
          </a:prstGeom>
        </p:spPr>
        <p:txBody>
          <a:bodyPr vert="horz" wrap="square" lIns="0" tIns="0" rIns="0" bIns="0" rtlCol="0">
            <a:spAutoFit/>
          </a:bodyPr>
          <a:lstStyle/>
          <a:p>
            <a:pPr>
              <a:lnSpc>
                <a:spcPts val="512"/>
              </a:lnSpc>
            </a:pPr>
            <a:r>
              <a:rPr sz="516" dirty="0">
                <a:latin typeface="Arial"/>
                <a:cs typeface="Arial"/>
              </a:rPr>
              <a:t>Code</a:t>
            </a:r>
            <a:r>
              <a:rPr sz="516" spc="-72" dirty="0">
                <a:latin typeface="Arial"/>
                <a:cs typeface="Arial"/>
              </a:rPr>
              <a:t> </a:t>
            </a:r>
            <a:r>
              <a:rPr sz="516" dirty="0">
                <a:latin typeface="Arial"/>
                <a:cs typeface="Arial"/>
              </a:rPr>
              <a:t>Analysi</a:t>
            </a:r>
            <a:r>
              <a:rPr sz="774" baseline="3086" dirty="0">
                <a:latin typeface="Arial"/>
                <a:cs typeface="Arial"/>
              </a:rPr>
              <a:t>s</a:t>
            </a:r>
            <a:endParaRPr sz="774" baseline="3086">
              <a:latin typeface="Arial"/>
              <a:cs typeface="Arial"/>
            </a:endParaRPr>
          </a:p>
        </p:txBody>
      </p:sp>
      <p:sp>
        <p:nvSpPr>
          <p:cNvPr id="16" name="object 16"/>
          <p:cNvSpPr txBox="1"/>
          <p:nvPr/>
        </p:nvSpPr>
        <p:spPr>
          <a:xfrm rot="5580000">
            <a:off x="4016819" y="2954404"/>
            <a:ext cx="327677" cy="64120"/>
          </a:xfrm>
          <a:prstGeom prst="rect">
            <a:avLst/>
          </a:prstGeom>
        </p:spPr>
        <p:txBody>
          <a:bodyPr vert="horz" wrap="square" lIns="0" tIns="0" rIns="0" bIns="0" rtlCol="0">
            <a:spAutoFit/>
          </a:bodyPr>
          <a:lstStyle/>
          <a:p>
            <a:pPr>
              <a:lnSpc>
                <a:spcPts val="521"/>
              </a:lnSpc>
            </a:pPr>
            <a:r>
              <a:rPr sz="774" spc="4" baseline="3086" dirty="0">
                <a:latin typeface="Arial"/>
                <a:cs typeface="Arial"/>
              </a:rPr>
              <a:t>A</a:t>
            </a:r>
            <a:r>
              <a:rPr sz="774" spc="-17" baseline="3086" dirty="0">
                <a:latin typeface="Arial"/>
                <a:cs typeface="Arial"/>
              </a:rPr>
              <a:t>uto</a:t>
            </a:r>
            <a:r>
              <a:rPr sz="774" spc="4" baseline="3086" dirty="0">
                <a:latin typeface="Arial"/>
                <a:cs typeface="Arial"/>
              </a:rPr>
              <a:t>m</a:t>
            </a:r>
            <a:r>
              <a:rPr sz="774" spc="-17" baseline="3086" dirty="0">
                <a:latin typeface="Arial"/>
                <a:cs typeface="Arial"/>
              </a:rPr>
              <a:t>a</a:t>
            </a:r>
            <a:r>
              <a:rPr sz="516" spc="-11" dirty="0">
                <a:latin typeface="Arial"/>
                <a:cs typeface="Arial"/>
              </a:rPr>
              <a:t>te</a:t>
            </a:r>
            <a:r>
              <a:rPr sz="516" dirty="0">
                <a:latin typeface="Arial"/>
                <a:cs typeface="Arial"/>
              </a:rPr>
              <a:t>d</a:t>
            </a:r>
            <a:endParaRPr sz="516">
              <a:latin typeface="Arial"/>
              <a:cs typeface="Arial"/>
            </a:endParaRPr>
          </a:p>
        </p:txBody>
      </p:sp>
      <p:sp>
        <p:nvSpPr>
          <p:cNvPr id="17" name="object 17"/>
          <p:cNvSpPr txBox="1"/>
          <p:nvPr/>
        </p:nvSpPr>
        <p:spPr>
          <a:xfrm rot="5580000">
            <a:off x="4017186" y="2948520"/>
            <a:ext cx="162219" cy="64120"/>
          </a:xfrm>
          <a:prstGeom prst="rect">
            <a:avLst/>
          </a:prstGeom>
        </p:spPr>
        <p:txBody>
          <a:bodyPr vert="horz" wrap="square" lIns="0" tIns="0" rIns="0" bIns="0" rtlCol="0">
            <a:spAutoFit/>
          </a:bodyPr>
          <a:lstStyle/>
          <a:p>
            <a:pPr>
              <a:lnSpc>
                <a:spcPts val="510"/>
              </a:lnSpc>
            </a:pPr>
            <a:r>
              <a:rPr sz="774" spc="4" baseline="3086" dirty="0">
                <a:latin typeface="Arial"/>
                <a:cs typeface="Arial"/>
              </a:rPr>
              <a:t>B</a:t>
            </a:r>
            <a:r>
              <a:rPr sz="774" spc="-17" baseline="3086" dirty="0">
                <a:latin typeface="Arial"/>
                <a:cs typeface="Arial"/>
              </a:rPr>
              <a:t>u</a:t>
            </a:r>
            <a:r>
              <a:rPr sz="516" spc="-11" dirty="0">
                <a:latin typeface="Arial"/>
                <a:cs typeface="Arial"/>
              </a:rPr>
              <a:t>il</a:t>
            </a:r>
            <a:r>
              <a:rPr sz="516" dirty="0">
                <a:latin typeface="Arial"/>
                <a:cs typeface="Arial"/>
              </a:rPr>
              <a:t>d</a:t>
            </a:r>
            <a:endParaRPr sz="516">
              <a:latin typeface="Arial"/>
              <a:cs typeface="Arial"/>
            </a:endParaRPr>
          </a:p>
        </p:txBody>
      </p:sp>
      <p:sp>
        <p:nvSpPr>
          <p:cNvPr id="18" name="object 18"/>
          <p:cNvSpPr txBox="1"/>
          <p:nvPr/>
        </p:nvSpPr>
        <p:spPr>
          <a:xfrm rot="1260000">
            <a:off x="3586052" y="2435058"/>
            <a:ext cx="539305" cy="64120"/>
          </a:xfrm>
          <a:prstGeom prst="rect">
            <a:avLst/>
          </a:prstGeom>
        </p:spPr>
        <p:txBody>
          <a:bodyPr vert="horz" wrap="square" lIns="0" tIns="0" rIns="0" bIns="0" rtlCol="0">
            <a:spAutoFit/>
          </a:bodyPr>
          <a:lstStyle/>
          <a:p>
            <a:pPr>
              <a:lnSpc>
                <a:spcPts val="504"/>
              </a:lnSpc>
            </a:pPr>
            <a:r>
              <a:rPr sz="516" dirty="0">
                <a:latin typeface="Arial"/>
                <a:cs typeface="Arial"/>
              </a:rPr>
              <a:t>Develop, Unit</a:t>
            </a:r>
            <a:r>
              <a:rPr sz="516" spc="-34" dirty="0">
                <a:latin typeface="Arial"/>
                <a:cs typeface="Arial"/>
              </a:rPr>
              <a:t> </a:t>
            </a:r>
            <a:r>
              <a:rPr sz="516" spc="-14" dirty="0">
                <a:latin typeface="Arial"/>
                <a:cs typeface="Arial"/>
              </a:rPr>
              <a:t>Test</a:t>
            </a:r>
            <a:endParaRPr sz="516">
              <a:latin typeface="Arial"/>
              <a:cs typeface="Arial"/>
            </a:endParaRPr>
          </a:p>
        </p:txBody>
      </p:sp>
      <p:sp>
        <p:nvSpPr>
          <p:cNvPr id="19" name="object 19"/>
          <p:cNvSpPr txBox="1"/>
          <p:nvPr/>
        </p:nvSpPr>
        <p:spPr>
          <a:xfrm>
            <a:off x="3364210" y="2776120"/>
            <a:ext cx="565060" cy="244793"/>
          </a:xfrm>
          <a:prstGeom prst="rect">
            <a:avLst/>
          </a:prstGeom>
        </p:spPr>
        <p:txBody>
          <a:bodyPr vert="horz" wrap="square" lIns="0" tIns="13826" rIns="0" bIns="0" rtlCol="0">
            <a:spAutoFit/>
          </a:bodyPr>
          <a:lstStyle/>
          <a:p>
            <a:pPr marL="26198" marR="2911" indent="-19284">
              <a:lnSpc>
                <a:spcPts val="911"/>
              </a:lnSpc>
              <a:spcBef>
                <a:spcPts val="109"/>
              </a:spcBef>
            </a:pPr>
            <a:r>
              <a:rPr sz="774" b="1" spc="3" dirty="0">
                <a:solidFill>
                  <a:srgbClr val="005493"/>
                </a:solidFill>
                <a:latin typeface="Arial"/>
                <a:cs typeface="Arial"/>
              </a:rPr>
              <a:t>C</a:t>
            </a:r>
            <a:r>
              <a:rPr sz="774" b="1" dirty="0">
                <a:solidFill>
                  <a:srgbClr val="005493"/>
                </a:solidFill>
                <a:latin typeface="Arial"/>
                <a:cs typeface="Arial"/>
              </a:rPr>
              <a:t>ontinuous  Integration</a:t>
            </a:r>
            <a:endParaRPr sz="774">
              <a:latin typeface="Arial"/>
              <a:cs typeface="Arial"/>
            </a:endParaRPr>
          </a:p>
        </p:txBody>
      </p:sp>
      <p:sp>
        <p:nvSpPr>
          <p:cNvPr id="20" name="object 20"/>
          <p:cNvSpPr/>
          <p:nvPr/>
        </p:nvSpPr>
        <p:spPr>
          <a:xfrm>
            <a:off x="5093939" y="1690877"/>
            <a:ext cx="1758257" cy="2562938"/>
          </a:xfrm>
          <a:prstGeom prst="rect">
            <a:avLst/>
          </a:prstGeom>
          <a:blipFill>
            <a:blip r:embed="rId4" cstate="print"/>
            <a:stretch>
              <a:fillRect/>
            </a:stretch>
          </a:blipFill>
        </p:spPr>
        <p:txBody>
          <a:bodyPr wrap="square" lIns="0" tIns="0" rIns="0" bIns="0" rtlCol="0"/>
          <a:lstStyle/>
          <a:p>
            <a:endParaRPr sz="1031"/>
          </a:p>
        </p:txBody>
      </p:sp>
      <p:sp>
        <p:nvSpPr>
          <p:cNvPr id="21" name="object 21"/>
          <p:cNvSpPr/>
          <p:nvPr/>
        </p:nvSpPr>
        <p:spPr>
          <a:xfrm>
            <a:off x="5068940" y="1665913"/>
            <a:ext cx="1658262" cy="2463084"/>
          </a:xfrm>
          <a:prstGeom prst="rect">
            <a:avLst/>
          </a:prstGeom>
          <a:blipFill>
            <a:blip r:embed="rId5" cstate="print"/>
            <a:stretch>
              <a:fillRect/>
            </a:stretch>
          </a:blipFill>
        </p:spPr>
        <p:txBody>
          <a:bodyPr wrap="square" lIns="0" tIns="0" rIns="0" bIns="0" rtlCol="0"/>
          <a:lstStyle/>
          <a:p>
            <a:endParaRPr sz="1031"/>
          </a:p>
        </p:txBody>
      </p:sp>
      <p:sp>
        <p:nvSpPr>
          <p:cNvPr id="22" name="object 22"/>
          <p:cNvSpPr/>
          <p:nvPr/>
        </p:nvSpPr>
        <p:spPr>
          <a:xfrm>
            <a:off x="5073107" y="1678395"/>
            <a:ext cx="1658430" cy="2454898"/>
          </a:xfrm>
          <a:custGeom>
            <a:avLst/>
            <a:gdLst/>
            <a:ahLst/>
            <a:cxnLst/>
            <a:rect l="l" t="t" r="r" b="b"/>
            <a:pathLst>
              <a:path w="2894329" h="4284345">
                <a:moveTo>
                  <a:pt x="2763150" y="4284106"/>
                </a:moveTo>
                <a:lnTo>
                  <a:pt x="2810006" y="4269637"/>
                </a:lnTo>
                <a:lnTo>
                  <a:pt x="2850246" y="4239471"/>
                </a:lnTo>
                <a:lnTo>
                  <a:pt x="2879660" y="4197131"/>
                </a:lnTo>
                <a:lnTo>
                  <a:pt x="2894036" y="4146143"/>
                </a:lnTo>
                <a:lnTo>
                  <a:pt x="2894036" y="120535"/>
                </a:lnTo>
                <a:lnTo>
                  <a:pt x="2879546" y="69819"/>
                </a:lnTo>
                <a:lnTo>
                  <a:pt x="2849338" y="29386"/>
                </a:lnTo>
                <a:lnTo>
                  <a:pt x="2806939" y="4394"/>
                </a:lnTo>
                <a:lnTo>
                  <a:pt x="2755879" y="0"/>
                </a:lnTo>
                <a:lnTo>
                  <a:pt x="129431" y="0"/>
                </a:lnTo>
                <a:lnTo>
                  <a:pt x="78508" y="4394"/>
                </a:lnTo>
                <a:lnTo>
                  <a:pt x="37063" y="29386"/>
                </a:lnTo>
                <a:lnTo>
                  <a:pt x="9445" y="69819"/>
                </a:lnTo>
                <a:lnTo>
                  <a:pt x="0" y="120535"/>
                </a:lnTo>
                <a:lnTo>
                  <a:pt x="0" y="4146143"/>
                </a:lnTo>
                <a:lnTo>
                  <a:pt x="9445" y="4197131"/>
                </a:lnTo>
                <a:lnTo>
                  <a:pt x="37063" y="4239471"/>
                </a:lnTo>
                <a:lnTo>
                  <a:pt x="78508" y="4269637"/>
                </a:lnTo>
                <a:lnTo>
                  <a:pt x="129431" y="4284106"/>
                </a:lnTo>
                <a:lnTo>
                  <a:pt x="2763150" y="4284106"/>
                </a:lnTo>
                <a:close/>
              </a:path>
            </a:pathLst>
          </a:custGeom>
          <a:ln w="3488">
            <a:solidFill>
              <a:srgbClr val="000000"/>
            </a:solidFill>
          </a:ln>
        </p:spPr>
        <p:txBody>
          <a:bodyPr wrap="square" lIns="0" tIns="0" rIns="0" bIns="0" rtlCol="0"/>
          <a:lstStyle/>
          <a:p>
            <a:endParaRPr sz="1031"/>
          </a:p>
        </p:txBody>
      </p:sp>
      <p:sp>
        <p:nvSpPr>
          <p:cNvPr id="23" name="object 23"/>
          <p:cNvSpPr/>
          <p:nvPr/>
        </p:nvSpPr>
        <p:spPr>
          <a:xfrm>
            <a:off x="5392260" y="3681784"/>
            <a:ext cx="1080999" cy="250693"/>
          </a:xfrm>
          <a:custGeom>
            <a:avLst/>
            <a:gdLst/>
            <a:ahLst/>
            <a:cxnLst/>
            <a:rect l="l" t="t" r="r" b="b"/>
            <a:pathLst>
              <a:path w="1886584" h="437515">
                <a:moveTo>
                  <a:pt x="1755279" y="0"/>
                </a:moveTo>
                <a:lnTo>
                  <a:pt x="130886" y="0"/>
                </a:lnTo>
                <a:lnTo>
                  <a:pt x="79939" y="10271"/>
                </a:lnTo>
                <a:lnTo>
                  <a:pt x="38335" y="38282"/>
                </a:lnTo>
                <a:lnTo>
                  <a:pt x="10285" y="79827"/>
                </a:lnTo>
                <a:lnTo>
                  <a:pt x="0" y="130701"/>
                </a:lnTo>
                <a:lnTo>
                  <a:pt x="0" y="306475"/>
                </a:lnTo>
                <a:lnTo>
                  <a:pt x="10285" y="357350"/>
                </a:lnTo>
                <a:lnTo>
                  <a:pt x="38335" y="398895"/>
                </a:lnTo>
                <a:lnTo>
                  <a:pt x="79939" y="426905"/>
                </a:lnTo>
                <a:lnTo>
                  <a:pt x="130886" y="437177"/>
                </a:lnTo>
                <a:lnTo>
                  <a:pt x="1755279" y="437177"/>
                </a:lnTo>
                <a:lnTo>
                  <a:pt x="1806228" y="426905"/>
                </a:lnTo>
                <a:lnTo>
                  <a:pt x="1847831" y="398895"/>
                </a:lnTo>
                <a:lnTo>
                  <a:pt x="1875880" y="357350"/>
                </a:lnTo>
                <a:lnTo>
                  <a:pt x="1886165" y="306475"/>
                </a:lnTo>
                <a:lnTo>
                  <a:pt x="1886165" y="130701"/>
                </a:lnTo>
                <a:lnTo>
                  <a:pt x="1875880" y="79827"/>
                </a:lnTo>
                <a:lnTo>
                  <a:pt x="1847831" y="38282"/>
                </a:lnTo>
                <a:lnTo>
                  <a:pt x="1806228" y="10271"/>
                </a:lnTo>
                <a:lnTo>
                  <a:pt x="1755279" y="0"/>
                </a:lnTo>
                <a:close/>
              </a:path>
            </a:pathLst>
          </a:custGeom>
          <a:solidFill>
            <a:srgbClr val="FFFFFF"/>
          </a:solidFill>
        </p:spPr>
        <p:txBody>
          <a:bodyPr wrap="square" lIns="0" tIns="0" rIns="0" bIns="0" rtlCol="0"/>
          <a:lstStyle/>
          <a:p>
            <a:endParaRPr sz="1031"/>
          </a:p>
        </p:txBody>
      </p:sp>
      <p:sp>
        <p:nvSpPr>
          <p:cNvPr id="24" name="object 24"/>
          <p:cNvSpPr/>
          <p:nvPr/>
        </p:nvSpPr>
        <p:spPr>
          <a:xfrm>
            <a:off x="5398093" y="3683811"/>
            <a:ext cx="1075178" cy="249965"/>
          </a:xfrm>
          <a:custGeom>
            <a:avLst/>
            <a:gdLst/>
            <a:ahLst/>
            <a:cxnLst/>
            <a:rect l="l" t="t" r="r" b="b"/>
            <a:pathLst>
              <a:path w="1876425" h="436245">
                <a:moveTo>
                  <a:pt x="1745147" y="435671"/>
                </a:moveTo>
                <a:lnTo>
                  <a:pt x="1796070" y="424225"/>
                </a:lnTo>
                <a:lnTo>
                  <a:pt x="1837665" y="395610"/>
                </a:lnTo>
                <a:lnTo>
                  <a:pt x="1865723" y="353843"/>
                </a:lnTo>
                <a:lnTo>
                  <a:pt x="1876033" y="302937"/>
                </a:lnTo>
                <a:lnTo>
                  <a:pt x="1876033" y="127163"/>
                </a:lnTo>
                <a:lnTo>
                  <a:pt x="1865722" y="76344"/>
                </a:lnTo>
                <a:lnTo>
                  <a:pt x="1837660" y="35185"/>
                </a:lnTo>
                <a:lnTo>
                  <a:pt x="1796051" y="8225"/>
                </a:lnTo>
                <a:lnTo>
                  <a:pt x="1745104" y="0"/>
                </a:lnTo>
                <a:lnTo>
                  <a:pt x="120706" y="0"/>
                </a:lnTo>
                <a:lnTo>
                  <a:pt x="69918" y="8225"/>
                </a:lnTo>
                <a:lnTo>
                  <a:pt x="29428" y="35185"/>
                </a:lnTo>
                <a:lnTo>
                  <a:pt x="4400" y="76344"/>
                </a:lnTo>
                <a:lnTo>
                  <a:pt x="0" y="127163"/>
                </a:lnTo>
                <a:lnTo>
                  <a:pt x="0" y="302937"/>
                </a:lnTo>
                <a:lnTo>
                  <a:pt x="4400" y="353843"/>
                </a:lnTo>
                <a:lnTo>
                  <a:pt x="29428" y="395610"/>
                </a:lnTo>
                <a:lnTo>
                  <a:pt x="69918" y="424225"/>
                </a:lnTo>
                <a:lnTo>
                  <a:pt x="120706" y="435671"/>
                </a:lnTo>
                <a:lnTo>
                  <a:pt x="1745147" y="435671"/>
                </a:lnTo>
                <a:close/>
              </a:path>
            </a:pathLst>
          </a:custGeom>
          <a:ln w="3485">
            <a:solidFill>
              <a:srgbClr val="000000"/>
            </a:solidFill>
          </a:ln>
        </p:spPr>
        <p:txBody>
          <a:bodyPr wrap="square" lIns="0" tIns="0" rIns="0" bIns="0" rtlCol="0"/>
          <a:lstStyle/>
          <a:p>
            <a:endParaRPr sz="1031"/>
          </a:p>
        </p:txBody>
      </p:sp>
      <p:sp>
        <p:nvSpPr>
          <p:cNvPr id="25" name="object 25"/>
          <p:cNvSpPr txBox="1"/>
          <p:nvPr/>
        </p:nvSpPr>
        <p:spPr>
          <a:xfrm>
            <a:off x="5543879" y="3707792"/>
            <a:ext cx="777912" cy="190323"/>
          </a:xfrm>
          <a:prstGeom prst="rect">
            <a:avLst/>
          </a:prstGeom>
        </p:spPr>
        <p:txBody>
          <a:bodyPr vert="horz" wrap="square" lIns="0" tIns="5094" rIns="0" bIns="0" rtlCol="0">
            <a:spAutoFit/>
          </a:bodyPr>
          <a:lstStyle/>
          <a:p>
            <a:pPr marL="188477" marR="2911" indent="-181564">
              <a:lnSpc>
                <a:spcPct val="104800"/>
              </a:lnSpc>
              <a:spcBef>
                <a:spcPts val="40"/>
              </a:spcBef>
            </a:pPr>
            <a:r>
              <a:rPr sz="573" spc="6" dirty="0">
                <a:latin typeface="Arial"/>
                <a:cs typeface="Arial"/>
              </a:rPr>
              <a:t>Automated/Continuous  </a:t>
            </a:r>
            <a:r>
              <a:rPr sz="573" spc="9" dirty="0">
                <a:latin typeface="Arial"/>
                <a:cs typeface="Arial"/>
              </a:rPr>
              <a:t>Deployment</a:t>
            </a:r>
            <a:endParaRPr sz="573">
              <a:latin typeface="Arial"/>
              <a:cs typeface="Arial"/>
            </a:endParaRPr>
          </a:p>
        </p:txBody>
      </p:sp>
      <p:sp>
        <p:nvSpPr>
          <p:cNvPr id="26" name="object 26"/>
          <p:cNvSpPr/>
          <p:nvPr/>
        </p:nvSpPr>
        <p:spPr>
          <a:xfrm>
            <a:off x="5187458" y="2123682"/>
            <a:ext cx="780095" cy="780459"/>
          </a:xfrm>
          <a:custGeom>
            <a:avLst/>
            <a:gdLst/>
            <a:ahLst/>
            <a:cxnLst/>
            <a:rect l="l" t="t" r="r" b="b"/>
            <a:pathLst>
              <a:path w="1361440" h="1362075">
                <a:moveTo>
                  <a:pt x="452285" y="1309257"/>
                </a:moveTo>
                <a:lnTo>
                  <a:pt x="134577" y="1309257"/>
                </a:lnTo>
                <a:lnTo>
                  <a:pt x="449908" y="1361937"/>
                </a:lnTo>
                <a:lnTo>
                  <a:pt x="451592" y="1340042"/>
                </a:lnTo>
                <a:lnTo>
                  <a:pt x="451103" y="1319159"/>
                </a:lnTo>
                <a:lnTo>
                  <a:pt x="452285" y="1309257"/>
                </a:lnTo>
                <a:close/>
              </a:path>
              <a:path w="1361440" h="1362075">
                <a:moveTo>
                  <a:pt x="1048413" y="0"/>
                </a:moveTo>
                <a:lnTo>
                  <a:pt x="1053683" y="195460"/>
                </a:lnTo>
                <a:lnTo>
                  <a:pt x="998777" y="202554"/>
                </a:lnTo>
                <a:lnTo>
                  <a:pt x="921123" y="217602"/>
                </a:lnTo>
                <a:lnTo>
                  <a:pt x="841729" y="237421"/>
                </a:lnTo>
                <a:lnTo>
                  <a:pt x="764282" y="264248"/>
                </a:lnTo>
                <a:lnTo>
                  <a:pt x="714364" y="284854"/>
                </a:lnTo>
                <a:lnTo>
                  <a:pt x="630679" y="323822"/>
                </a:lnTo>
                <a:lnTo>
                  <a:pt x="606694" y="337628"/>
                </a:lnTo>
                <a:lnTo>
                  <a:pt x="581117" y="350858"/>
                </a:lnTo>
                <a:lnTo>
                  <a:pt x="515610" y="391917"/>
                </a:lnTo>
                <a:lnTo>
                  <a:pt x="477273" y="420325"/>
                </a:lnTo>
                <a:lnTo>
                  <a:pt x="461908" y="432756"/>
                </a:lnTo>
                <a:lnTo>
                  <a:pt x="443283" y="446706"/>
                </a:lnTo>
                <a:lnTo>
                  <a:pt x="428424" y="460222"/>
                </a:lnTo>
                <a:lnTo>
                  <a:pt x="415233" y="471643"/>
                </a:lnTo>
                <a:lnTo>
                  <a:pt x="390737" y="494783"/>
                </a:lnTo>
                <a:lnTo>
                  <a:pt x="293237" y="595741"/>
                </a:lnTo>
                <a:lnTo>
                  <a:pt x="263371" y="628120"/>
                </a:lnTo>
                <a:lnTo>
                  <a:pt x="249955" y="647561"/>
                </a:lnTo>
                <a:lnTo>
                  <a:pt x="217691" y="688973"/>
                </a:lnTo>
                <a:lnTo>
                  <a:pt x="201522" y="711017"/>
                </a:lnTo>
                <a:lnTo>
                  <a:pt x="186946" y="733637"/>
                </a:lnTo>
                <a:lnTo>
                  <a:pt x="172875" y="757342"/>
                </a:lnTo>
                <a:lnTo>
                  <a:pt x="160978" y="780032"/>
                </a:lnTo>
                <a:lnTo>
                  <a:pt x="146908" y="803737"/>
                </a:lnTo>
                <a:lnTo>
                  <a:pt x="136098" y="825924"/>
                </a:lnTo>
                <a:lnTo>
                  <a:pt x="126449" y="844931"/>
                </a:lnTo>
                <a:lnTo>
                  <a:pt x="114553" y="867621"/>
                </a:lnTo>
                <a:lnTo>
                  <a:pt x="96268" y="907802"/>
                </a:lnTo>
                <a:lnTo>
                  <a:pt x="89374" y="924207"/>
                </a:lnTo>
                <a:lnTo>
                  <a:pt x="80156" y="946971"/>
                </a:lnTo>
                <a:lnTo>
                  <a:pt x="72101" y="966555"/>
                </a:lnTo>
                <a:lnTo>
                  <a:pt x="65057" y="988306"/>
                </a:lnTo>
                <a:lnTo>
                  <a:pt x="57359" y="1014321"/>
                </a:lnTo>
                <a:lnTo>
                  <a:pt x="50390" y="1033399"/>
                </a:lnTo>
                <a:lnTo>
                  <a:pt x="43853" y="1056235"/>
                </a:lnTo>
                <a:lnTo>
                  <a:pt x="37896" y="1077481"/>
                </a:lnTo>
                <a:lnTo>
                  <a:pt x="32951" y="1100894"/>
                </a:lnTo>
                <a:lnTo>
                  <a:pt x="28588" y="1122716"/>
                </a:lnTo>
                <a:lnTo>
                  <a:pt x="23211" y="1142372"/>
                </a:lnTo>
                <a:lnTo>
                  <a:pt x="20009" y="1161017"/>
                </a:lnTo>
                <a:lnTo>
                  <a:pt x="15065" y="1184429"/>
                </a:lnTo>
                <a:lnTo>
                  <a:pt x="11208" y="1207337"/>
                </a:lnTo>
                <a:lnTo>
                  <a:pt x="9598" y="1226557"/>
                </a:lnTo>
                <a:lnTo>
                  <a:pt x="7483" y="1244696"/>
                </a:lnTo>
                <a:lnTo>
                  <a:pt x="4786" y="1264423"/>
                </a:lnTo>
                <a:lnTo>
                  <a:pt x="3177" y="1283643"/>
                </a:lnTo>
                <a:lnTo>
                  <a:pt x="2148" y="1301275"/>
                </a:lnTo>
                <a:lnTo>
                  <a:pt x="1626" y="1319990"/>
                </a:lnTo>
                <a:lnTo>
                  <a:pt x="597" y="1337622"/>
                </a:lnTo>
                <a:lnTo>
                  <a:pt x="0" y="1359010"/>
                </a:lnTo>
                <a:lnTo>
                  <a:pt x="134577" y="1309257"/>
                </a:lnTo>
                <a:lnTo>
                  <a:pt x="452285" y="1309257"/>
                </a:lnTo>
                <a:lnTo>
                  <a:pt x="454603" y="1289821"/>
                </a:lnTo>
                <a:lnTo>
                  <a:pt x="458179" y="1257809"/>
                </a:lnTo>
                <a:lnTo>
                  <a:pt x="463704" y="1232806"/>
                </a:lnTo>
                <a:lnTo>
                  <a:pt x="477078" y="1176442"/>
                </a:lnTo>
                <a:lnTo>
                  <a:pt x="487024" y="1146740"/>
                </a:lnTo>
                <a:lnTo>
                  <a:pt x="495305" y="1119137"/>
                </a:lnTo>
                <a:lnTo>
                  <a:pt x="505177" y="1092109"/>
                </a:lnTo>
                <a:lnTo>
                  <a:pt x="518816" y="1064647"/>
                </a:lnTo>
                <a:lnTo>
                  <a:pt x="531949" y="1036102"/>
                </a:lnTo>
                <a:lnTo>
                  <a:pt x="565748" y="978141"/>
                </a:lnTo>
                <a:lnTo>
                  <a:pt x="602076" y="925601"/>
                </a:lnTo>
                <a:lnTo>
                  <a:pt x="701982" y="818206"/>
                </a:lnTo>
                <a:lnTo>
                  <a:pt x="764152" y="768326"/>
                </a:lnTo>
                <a:lnTo>
                  <a:pt x="806762" y="740569"/>
                </a:lnTo>
                <a:lnTo>
                  <a:pt x="851977" y="715556"/>
                </a:lnTo>
                <a:lnTo>
                  <a:pt x="925806" y="683816"/>
                </a:lnTo>
                <a:lnTo>
                  <a:pt x="976156" y="666969"/>
                </a:lnTo>
                <a:lnTo>
                  <a:pt x="1047438" y="649609"/>
                </a:lnTo>
                <a:lnTo>
                  <a:pt x="1067358" y="646931"/>
                </a:lnTo>
                <a:lnTo>
                  <a:pt x="1186353" y="646931"/>
                </a:lnTo>
                <a:lnTo>
                  <a:pt x="1361028" y="405947"/>
                </a:lnTo>
                <a:lnTo>
                  <a:pt x="1048413" y="0"/>
                </a:lnTo>
                <a:close/>
              </a:path>
              <a:path w="1361440" h="1362075">
                <a:moveTo>
                  <a:pt x="1186353" y="646931"/>
                </a:moveTo>
                <a:lnTo>
                  <a:pt x="1067358" y="646931"/>
                </a:lnTo>
                <a:lnTo>
                  <a:pt x="1073746" y="802285"/>
                </a:lnTo>
                <a:lnTo>
                  <a:pt x="1186353" y="646931"/>
                </a:lnTo>
                <a:close/>
              </a:path>
            </a:pathLst>
          </a:custGeom>
          <a:solidFill>
            <a:srgbClr val="05F900"/>
          </a:solidFill>
        </p:spPr>
        <p:txBody>
          <a:bodyPr wrap="square" lIns="0" tIns="0" rIns="0" bIns="0" rtlCol="0"/>
          <a:lstStyle/>
          <a:p>
            <a:endParaRPr sz="1031"/>
          </a:p>
        </p:txBody>
      </p:sp>
      <p:sp>
        <p:nvSpPr>
          <p:cNvPr id="27" name="object 27"/>
          <p:cNvSpPr/>
          <p:nvPr/>
        </p:nvSpPr>
        <p:spPr>
          <a:xfrm>
            <a:off x="5187459" y="2123682"/>
            <a:ext cx="780095" cy="780459"/>
          </a:xfrm>
          <a:custGeom>
            <a:avLst/>
            <a:gdLst/>
            <a:ahLst/>
            <a:cxnLst/>
            <a:rect l="l" t="t" r="r" b="b"/>
            <a:pathLst>
              <a:path w="1361440" h="1362075">
                <a:moveTo>
                  <a:pt x="390737" y="494783"/>
                </a:moveTo>
                <a:lnTo>
                  <a:pt x="293237" y="595740"/>
                </a:lnTo>
                <a:lnTo>
                  <a:pt x="263370" y="628119"/>
                </a:lnTo>
                <a:lnTo>
                  <a:pt x="249954" y="647560"/>
                </a:lnTo>
                <a:lnTo>
                  <a:pt x="217691" y="688972"/>
                </a:lnTo>
                <a:lnTo>
                  <a:pt x="201522" y="711016"/>
                </a:lnTo>
                <a:lnTo>
                  <a:pt x="186944" y="733636"/>
                </a:lnTo>
                <a:lnTo>
                  <a:pt x="172874" y="757340"/>
                </a:lnTo>
                <a:lnTo>
                  <a:pt x="160978" y="780032"/>
                </a:lnTo>
                <a:lnTo>
                  <a:pt x="146907" y="803737"/>
                </a:lnTo>
                <a:lnTo>
                  <a:pt x="136098" y="825923"/>
                </a:lnTo>
                <a:lnTo>
                  <a:pt x="126449" y="844928"/>
                </a:lnTo>
                <a:lnTo>
                  <a:pt x="114552" y="867621"/>
                </a:lnTo>
                <a:lnTo>
                  <a:pt x="105409" y="887711"/>
                </a:lnTo>
                <a:lnTo>
                  <a:pt x="96268" y="907802"/>
                </a:lnTo>
                <a:lnTo>
                  <a:pt x="89373" y="924206"/>
                </a:lnTo>
                <a:lnTo>
                  <a:pt x="80156" y="946970"/>
                </a:lnTo>
                <a:lnTo>
                  <a:pt x="72100" y="966553"/>
                </a:lnTo>
                <a:lnTo>
                  <a:pt x="65057" y="988305"/>
                </a:lnTo>
                <a:lnTo>
                  <a:pt x="57358" y="1014321"/>
                </a:lnTo>
                <a:lnTo>
                  <a:pt x="50389" y="1033399"/>
                </a:lnTo>
                <a:lnTo>
                  <a:pt x="43852" y="1056234"/>
                </a:lnTo>
                <a:lnTo>
                  <a:pt x="37895" y="1077480"/>
                </a:lnTo>
                <a:lnTo>
                  <a:pt x="32951" y="1100893"/>
                </a:lnTo>
                <a:lnTo>
                  <a:pt x="28586" y="1122716"/>
                </a:lnTo>
                <a:lnTo>
                  <a:pt x="23211" y="1142372"/>
                </a:lnTo>
                <a:lnTo>
                  <a:pt x="20009" y="1161016"/>
                </a:lnTo>
                <a:lnTo>
                  <a:pt x="15064" y="1184429"/>
                </a:lnTo>
                <a:lnTo>
                  <a:pt x="11206" y="1207336"/>
                </a:lnTo>
                <a:lnTo>
                  <a:pt x="9598" y="1226557"/>
                </a:lnTo>
                <a:lnTo>
                  <a:pt x="7482" y="1244694"/>
                </a:lnTo>
                <a:lnTo>
                  <a:pt x="4786" y="1264422"/>
                </a:lnTo>
                <a:lnTo>
                  <a:pt x="3177" y="1283643"/>
                </a:lnTo>
                <a:lnTo>
                  <a:pt x="2147" y="1301274"/>
                </a:lnTo>
                <a:lnTo>
                  <a:pt x="1625" y="1319989"/>
                </a:lnTo>
                <a:lnTo>
                  <a:pt x="597" y="1337621"/>
                </a:lnTo>
                <a:lnTo>
                  <a:pt x="0" y="1359010"/>
                </a:lnTo>
                <a:lnTo>
                  <a:pt x="134577" y="1309256"/>
                </a:lnTo>
                <a:lnTo>
                  <a:pt x="449907" y="1361936"/>
                </a:lnTo>
                <a:lnTo>
                  <a:pt x="451591" y="1340042"/>
                </a:lnTo>
                <a:lnTo>
                  <a:pt x="451103" y="1319159"/>
                </a:lnTo>
                <a:lnTo>
                  <a:pt x="454603" y="1289821"/>
                </a:lnTo>
                <a:lnTo>
                  <a:pt x="463704" y="1232806"/>
                </a:lnTo>
                <a:lnTo>
                  <a:pt x="477078" y="1176441"/>
                </a:lnTo>
                <a:lnTo>
                  <a:pt x="487024" y="1146740"/>
                </a:lnTo>
                <a:lnTo>
                  <a:pt x="495304" y="1119134"/>
                </a:lnTo>
                <a:lnTo>
                  <a:pt x="505176" y="1092108"/>
                </a:lnTo>
                <a:lnTo>
                  <a:pt x="518814" y="1064646"/>
                </a:lnTo>
                <a:lnTo>
                  <a:pt x="531948" y="1036101"/>
                </a:lnTo>
                <a:lnTo>
                  <a:pt x="565747" y="978141"/>
                </a:lnTo>
                <a:lnTo>
                  <a:pt x="602075" y="925600"/>
                </a:lnTo>
                <a:lnTo>
                  <a:pt x="701982" y="818206"/>
                </a:lnTo>
                <a:lnTo>
                  <a:pt x="764152" y="768326"/>
                </a:lnTo>
                <a:lnTo>
                  <a:pt x="806761" y="740568"/>
                </a:lnTo>
                <a:lnTo>
                  <a:pt x="851976" y="715556"/>
                </a:lnTo>
                <a:lnTo>
                  <a:pt x="925805" y="683816"/>
                </a:lnTo>
                <a:lnTo>
                  <a:pt x="976155" y="666967"/>
                </a:lnTo>
                <a:lnTo>
                  <a:pt x="1025850" y="654382"/>
                </a:lnTo>
                <a:lnTo>
                  <a:pt x="1067357" y="646930"/>
                </a:lnTo>
                <a:lnTo>
                  <a:pt x="1073745" y="802285"/>
                </a:lnTo>
                <a:lnTo>
                  <a:pt x="1361027" y="405947"/>
                </a:lnTo>
                <a:lnTo>
                  <a:pt x="1048411" y="0"/>
                </a:lnTo>
                <a:lnTo>
                  <a:pt x="1053682" y="195459"/>
                </a:lnTo>
                <a:lnTo>
                  <a:pt x="1026229" y="199006"/>
                </a:lnTo>
                <a:lnTo>
                  <a:pt x="998777" y="202554"/>
                </a:lnTo>
                <a:lnTo>
                  <a:pt x="974510" y="207256"/>
                </a:lnTo>
                <a:lnTo>
                  <a:pt x="945390" y="212899"/>
                </a:lnTo>
                <a:lnTo>
                  <a:pt x="921123" y="217602"/>
                </a:lnTo>
                <a:lnTo>
                  <a:pt x="890336" y="225342"/>
                </a:lnTo>
                <a:lnTo>
                  <a:pt x="866576" y="231128"/>
                </a:lnTo>
                <a:lnTo>
                  <a:pt x="841728" y="237420"/>
                </a:lnTo>
                <a:lnTo>
                  <a:pt x="789203" y="255281"/>
                </a:lnTo>
                <a:lnTo>
                  <a:pt x="744213" y="272273"/>
                </a:lnTo>
                <a:lnTo>
                  <a:pt x="681759" y="300035"/>
                </a:lnTo>
                <a:lnTo>
                  <a:pt x="655675" y="312182"/>
                </a:lnTo>
                <a:lnTo>
                  <a:pt x="630678" y="323821"/>
                </a:lnTo>
                <a:lnTo>
                  <a:pt x="606694" y="337628"/>
                </a:lnTo>
                <a:lnTo>
                  <a:pt x="581116" y="350858"/>
                </a:lnTo>
                <a:lnTo>
                  <a:pt x="559306" y="363652"/>
                </a:lnTo>
                <a:lnTo>
                  <a:pt x="515609" y="391917"/>
                </a:lnTo>
                <a:lnTo>
                  <a:pt x="477273" y="420323"/>
                </a:lnTo>
                <a:lnTo>
                  <a:pt x="461908" y="432755"/>
                </a:lnTo>
                <a:lnTo>
                  <a:pt x="443283" y="446705"/>
                </a:lnTo>
                <a:lnTo>
                  <a:pt x="428423" y="460221"/>
                </a:lnTo>
                <a:lnTo>
                  <a:pt x="415233" y="471642"/>
                </a:lnTo>
                <a:lnTo>
                  <a:pt x="398706" y="487253"/>
                </a:lnTo>
                <a:lnTo>
                  <a:pt x="390737" y="494783"/>
                </a:lnTo>
                <a:close/>
              </a:path>
            </a:pathLst>
          </a:custGeom>
          <a:ln w="10463">
            <a:solidFill>
              <a:srgbClr val="000000"/>
            </a:solidFill>
          </a:ln>
        </p:spPr>
        <p:txBody>
          <a:bodyPr wrap="square" lIns="0" tIns="0" rIns="0" bIns="0" rtlCol="0"/>
          <a:lstStyle/>
          <a:p>
            <a:endParaRPr sz="1031"/>
          </a:p>
        </p:txBody>
      </p:sp>
      <p:sp>
        <p:nvSpPr>
          <p:cNvPr id="28" name="object 28"/>
          <p:cNvSpPr txBox="1"/>
          <p:nvPr/>
        </p:nvSpPr>
        <p:spPr>
          <a:xfrm rot="19020000">
            <a:off x="5410438" y="2473910"/>
            <a:ext cx="187616" cy="76944"/>
          </a:xfrm>
          <a:prstGeom prst="rect">
            <a:avLst/>
          </a:prstGeom>
        </p:spPr>
        <p:txBody>
          <a:bodyPr vert="horz" wrap="square" lIns="0" tIns="0" rIns="0" bIns="0" rtlCol="0">
            <a:spAutoFit/>
          </a:bodyPr>
          <a:lstStyle/>
          <a:p>
            <a:pPr>
              <a:lnSpc>
                <a:spcPts val="647"/>
              </a:lnSpc>
            </a:pPr>
            <a:r>
              <a:rPr sz="659" spc="-3" dirty="0">
                <a:latin typeface="Arial"/>
                <a:cs typeface="Arial"/>
              </a:rPr>
              <a:t>P</a:t>
            </a:r>
            <a:r>
              <a:rPr sz="659" spc="-14" dirty="0">
                <a:latin typeface="Arial"/>
                <a:cs typeface="Arial"/>
              </a:rPr>
              <a:t>la</a:t>
            </a:r>
            <a:r>
              <a:rPr sz="988" spc="-4" baseline="2415" dirty="0">
                <a:latin typeface="Arial"/>
                <a:cs typeface="Arial"/>
              </a:rPr>
              <a:t>n</a:t>
            </a:r>
            <a:endParaRPr sz="988" baseline="2415">
              <a:latin typeface="Arial"/>
              <a:cs typeface="Arial"/>
            </a:endParaRPr>
          </a:p>
        </p:txBody>
      </p:sp>
      <p:sp>
        <p:nvSpPr>
          <p:cNvPr id="29" name="object 29"/>
          <p:cNvSpPr/>
          <p:nvPr/>
        </p:nvSpPr>
        <p:spPr>
          <a:xfrm>
            <a:off x="5069688" y="2745593"/>
            <a:ext cx="778276" cy="829215"/>
          </a:xfrm>
          <a:custGeom>
            <a:avLst/>
            <a:gdLst/>
            <a:ahLst/>
            <a:cxnLst/>
            <a:rect l="l" t="t" r="r" b="b"/>
            <a:pathLst>
              <a:path w="1358265" h="1447164">
                <a:moveTo>
                  <a:pt x="661589" y="370665"/>
                </a:moveTo>
                <a:lnTo>
                  <a:pt x="210476" y="370665"/>
                </a:lnTo>
                <a:lnTo>
                  <a:pt x="213273" y="404987"/>
                </a:lnTo>
                <a:lnTo>
                  <a:pt x="220325" y="459758"/>
                </a:lnTo>
                <a:lnTo>
                  <a:pt x="235324" y="537217"/>
                </a:lnTo>
                <a:lnTo>
                  <a:pt x="255103" y="616407"/>
                </a:lnTo>
                <a:lnTo>
                  <a:pt x="281909" y="693645"/>
                </a:lnTo>
                <a:lnTo>
                  <a:pt x="302509" y="743427"/>
                </a:lnTo>
                <a:lnTo>
                  <a:pt x="341477" y="826877"/>
                </a:lnTo>
                <a:lnTo>
                  <a:pt x="369610" y="875790"/>
                </a:lnTo>
                <a:lnTo>
                  <a:pt x="409681" y="938933"/>
                </a:lnTo>
                <a:lnTo>
                  <a:pt x="423644" y="957501"/>
                </a:lnTo>
                <a:lnTo>
                  <a:pt x="437533" y="978742"/>
                </a:lnTo>
                <a:lnTo>
                  <a:pt x="466039" y="1014286"/>
                </a:lnTo>
                <a:lnTo>
                  <a:pt x="507065" y="1062474"/>
                </a:lnTo>
                <a:lnTo>
                  <a:pt x="605475" y="1168382"/>
                </a:lnTo>
                <a:lnTo>
                  <a:pt x="643257" y="1198288"/>
                </a:lnTo>
                <a:lnTo>
                  <a:pt x="661061" y="1213747"/>
                </a:lnTo>
                <a:lnTo>
                  <a:pt x="684730" y="1230432"/>
                </a:lnTo>
                <a:lnTo>
                  <a:pt x="706807" y="1246541"/>
                </a:lnTo>
                <a:lnTo>
                  <a:pt x="729464" y="1261060"/>
                </a:lnTo>
                <a:lnTo>
                  <a:pt x="799684" y="1300930"/>
                </a:lnTo>
                <a:lnTo>
                  <a:pt x="883809" y="1342241"/>
                </a:lnTo>
                <a:lnTo>
                  <a:pt x="920370" y="1358202"/>
                </a:lnTo>
                <a:lnTo>
                  <a:pt x="962798" y="1375389"/>
                </a:lnTo>
                <a:lnTo>
                  <a:pt x="1011166" y="1391130"/>
                </a:lnTo>
                <a:lnTo>
                  <a:pt x="1052655" y="1403476"/>
                </a:lnTo>
                <a:lnTo>
                  <a:pt x="1138970" y="1423977"/>
                </a:lnTo>
                <a:lnTo>
                  <a:pt x="1204071" y="1435884"/>
                </a:lnTo>
                <a:lnTo>
                  <a:pt x="1242019" y="1440644"/>
                </a:lnTo>
                <a:lnTo>
                  <a:pt x="1280546" y="1443814"/>
                </a:lnTo>
                <a:lnTo>
                  <a:pt x="1356085" y="1446903"/>
                </a:lnTo>
                <a:lnTo>
                  <a:pt x="1357907" y="997452"/>
                </a:lnTo>
                <a:lnTo>
                  <a:pt x="1316625" y="996883"/>
                </a:lnTo>
                <a:lnTo>
                  <a:pt x="1228999" y="984910"/>
                </a:lnTo>
                <a:lnTo>
                  <a:pt x="1173605" y="971123"/>
                </a:lnTo>
                <a:lnTo>
                  <a:pt x="1089107" y="943178"/>
                </a:lnTo>
                <a:lnTo>
                  <a:pt x="1006575" y="902444"/>
                </a:lnTo>
                <a:lnTo>
                  <a:pt x="946493" y="864450"/>
                </a:lnTo>
                <a:lnTo>
                  <a:pt x="900822" y="828982"/>
                </a:lnTo>
                <a:lnTo>
                  <a:pt x="826214" y="743960"/>
                </a:lnTo>
                <a:lnTo>
                  <a:pt x="801622" y="712885"/>
                </a:lnTo>
                <a:lnTo>
                  <a:pt x="772179" y="672499"/>
                </a:lnTo>
                <a:lnTo>
                  <a:pt x="746576" y="629007"/>
                </a:lnTo>
                <a:lnTo>
                  <a:pt x="712595" y="559068"/>
                </a:lnTo>
                <a:lnTo>
                  <a:pt x="693155" y="506107"/>
                </a:lnTo>
                <a:lnTo>
                  <a:pt x="679433" y="459721"/>
                </a:lnTo>
                <a:lnTo>
                  <a:pt x="668465" y="410730"/>
                </a:lnTo>
                <a:lnTo>
                  <a:pt x="661589" y="370665"/>
                </a:lnTo>
                <a:close/>
              </a:path>
              <a:path w="1358265" h="1447164">
                <a:moveTo>
                  <a:pt x="518281" y="0"/>
                </a:moveTo>
                <a:lnTo>
                  <a:pt x="0" y="378954"/>
                </a:lnTo>
                <a:lnTo>
                  <a:pt x="210476" y="370665"/>
                </a:lnTo>
                <a:lnTo>
                  <a:pt x="661589" y="370665"/>
                </a:lnTo>
                <a:lnTo>
                  <a:pt x="661546" y="370412"/>
                </a:lnTo>
                <a:lnTo>
                  <a:pt x="661057" y="349529"/>
                </a:lnTo>
                <a:lnTo>
                  <a:pt x="886094" y="338420"/>
                </a:lnTo>
                <a:lnTo>
                  <a:pt x="518281" y="0"/>
                </a:lnTo>
                <a:close/>
              </a:path>
            </a:pathLst>
          </a:custGeom>
          <a:solidFill>
            <a:srgbClr val="CC99FF"/>
          </a:solidFill>
        </p:spPr>
        <p:txBody>
          <a:bodyPr wrap="square" lIns="0" tIns="0" rIns="0" bIns="0" rtlCol="0"/>
          <a:lstStyle/>
          <a:p>
            <a:endParaRPr sz="1031"/>
          </a:p>
        </p:txBody>
      </p:sp>
      <p:sp>
        <p:nvSpPr>
          <p:cNvPr id="30" name="object 30"/>
          <p:cNvSpPr/>
          <p:nvPr/>
        </p:nvSpPr>
        <p:spPr>
          <a:xfrm>
            <a:off x="5069688" y="2745592"/>
            <a:ext cx="778276" cy="829215"/>
          </a:xfrm>
          <a:custGeom>
            <a:avLst/>
            <a:gdLst/>
            <a:ahLst/>
            <a:cxnLst/>
            <a:rect l="l" t="t" r="r" b="b"/>
            <a:pathLst>
              <a:path w="1358265" h="1447164">
                <a:moveTo>
                  <a:pt x="826215" y="743960"/>
                </a:moveTo>
                <a:lnTo>
                  <a:pt x="801623" y="712885"/>
                </a:lnTo>
                <a:lnTo>
                  <a:pt x="772179" y="672500"/>
                </a:lnTo>
                <a:lnTo>
                  <a:pt x="746577" y="629007"/>
                </a:lnTo>
                <a:lnTo>
                  <a:pt x="712594" y="559068"/>
                </a:lnTo>
                <a:lnTo>
                  <a:pt x="693156" y="506106"/>
                </a:lnTo>
                <a:lnTo>
                  <a:pt x="679433" y="459719"/>
                </a:lnTo>
                <a:lnTo>
                  <a:pt x="668465" y="410731"/>
                </a:lnTo>
                <a:lnTo>
                  <a:pt x="661547" y="370412"/>
                </a:lnTo>
                <a:lnTo>
                  <a:pt x="661057" y="349529"/>
                </a:lnTo>
                <a:lnTo>
                  <a:pt x="886094" y="338419"/>
                </a:lnTo>
                <a:lnTo>
                  <a:pt x="518282" y="0"/>
                </a:lnTo>
                <a:lnTo>
                  <a:pt x="0" y="378954"/>
                </a:lnTo>
                <a:lnTo>
                  <a:pt x="210476" y="370665"/>
                </a:lnTo>
                <a:lnTo>
                  <a:pt x="213273" y="404987"/>
                </a:lnTo>
                <a:lnTo>
                  <a:pt x="220324" y="459758"/>
                </a:lnTo>
                <a:lnTo>
                  <a:pt x="235325" y="537216"/>
                </a:lnTo>
                <a:lnTo>
                  <a:pt x="255104" y="616407"/>
                </a:lnTo>
                <a:lnTo>
                  <a:pt x="281909" y="693646"/>
                </a:lnTo>
                <a:lnTo>
                  <a:pt x="302509" y="743427"/>
                </a:lnTo>
                <a:lnTo>
                  <a:pt x="329838" y="801949"/>
                </a:lnTo>
                <a:lnTo>
                  <a:pt x="341477" y="826877"/>
                </a:lnTo>
                <a:lnTo>
                  <a:pt x="369610" y="875789"/>
                </a:lnTo>
                <a:lnTo>
                  <a:pt x="382412" y="897536"/>
                </a:lnTo>
                <a:lnTo>
                  <a:pt x="409682" y="938933"/>
                </a:lnTo>
                <a:lnTo>
                  <a:pt x="423644" y="957502"/>
                </a:lnTo>
                <a:lnTo>
                  <a:pt x="437533" y="978742"/>
                </a:lnTo>
                <a:lnTo>
                  <a:pt x="466040" y="1014286"/>
                </a:lnTo>
                <a:lnTo>
                  <a:pt x="507065" y="1062472"/>
                </a:lnTo>
                <a:lnTo>
                  <a:pt x="605476" y="1168381"/>
                </a:lnTo>
                <a:lnTo>
                  <a:pt x="643258" y="1198287"/>
                </a:lnTo>
                <a:lnTo>
                  <a:pt x="661061" y="1213746"/>
                </a:lnTo>
                <a:lnTo>
                  <a:pt x="684731" y="1230433"/>
                </a:lnTo>
                <a:lnTo>
                  <a:pt x="706808" y="1246541"/>
                </a:lnTo>
                <a:lnTo>
                  <a:pt x="729464" y="1261059"/>
                </a:lnTo>
                <a:lnTo>
                  <a:pt x="799684" y="1300929"/>
                </a:lnTo>
                <a:lnTo>
                  <a:pt x="840951" y="1321296"/>
                </a:lnTo>
                <a:lnTo>
                  <a:pt x="883809" y="1342241"/>
                </a:lnTo>
                <a:lnTo>
                  <a:pt x="920371" y="1358202"/>
                </a:lnTo>
                <a:lnTo>
                  <a:pt x="962799" y="1375389"/>
                </a:lnTo>
                <a:lnTo>
                  <a:pt x="1011166" y="1391130"/>
                </a:lnTo>
                <a:lnTo>
                  <a:pt x="1052657" y="1403476"/>
                </a:lnTo>
                <a:lnTo>
                  <a:pt x="1097407" y="1414304"/>
                </a:lnTo>
                <a:lnTo>
                  <a:pt x="1138972" y="1423977"/>
                </a:lnTo>
                <a:lnTo>
                  <a:pt x="1204071" y="1435884"/>
                </a:lnTo>
                <a:lnTo>
                  <a:pt x="1242020" y="1440644"/>
                </a:lnTo>
                <a:lnTo>
                  <a:pt x="1280547" y="1443813"/>
                </a:lnTo>
                <a:lnTo>
                  <a:pt x="1356085" y="1446902"/>
                </a:lnTo>
                <a:lnTo>
                  <a:pt x="1357908" y="997451"/>
                </a:lnTo>
                <a:lnTo>
                  <a:pt x="1316626" y="996884"/>
                </a:lnTo>
                <a:lnTo>
                  <a:pt x="1228999" y="984910"/>
                </a:lnTo>
                <a:lnTo>
                  <a:pt x="1173605" y="971121"/>
                </a:lnTo>
                <a:lnTo>
                  <a:pt x="1143846" y="961230"/>
                </a:lnTo>
                <a:lnTo>
                  <a:pt x="1089107" y="943178"/>
                </a:lnTo>
                <a:lnTo>
                  <a:pt x="1061598" y="929600"/>
                </a:lnTo>
                <a:lnTo>
                  <a:pt x="1006576" y="902443"/>
                </a:lnTo>
                <a:lnTo>
                  <a:pt x="946493" y="864449"/>
                </a:lnTo>
                <a:lnTo>
                  <a:pt x="922319" y="846680"/>
                </a:lnTo>
                <a:lnTo>
                  <a:pt x="900823" y="828981"/>
                </a:lnTo>
                <a:lnTo>
                  <a:pt x="826215" y="743960"/>
                </a:lnTo>
                <a:close/>
              </a:path>
            </a:pathLst>
          </a:custGeom>
          <a:ln w="10463">
            <a:solidFill>
              <a:srgbClr val="000000"/>
            </a:solidFill>
          </a:ln>
        </p:spPr>
        <p:txBody>
          <a:bodyPr wrap="square" lIns="0" tIns="0" rIns="0" bIns="0" rtlCol="0"/>
          <a:lstStyle/>
          <a:p>
            <a:endParaRPr sz="1031"/>
          </a:p>
        </p:txBody>
      </p:sp>
      <p:sp>
        <p:nvSpPr>
          <p:cNvPr id="31" name="object 31"/>
          <p:cNvSpPr txBox="1"/>
          <p:nvPr/>
        </p:nvSpPr>
        <p:spPr>
          <a:xfrm rot="14700000">
            <a:off x="5310229" y="3209945"/>
            <a:ext cx="289852" cy="76944"/>
          </a:xfrm>
          <a:prstGeom prst="rect">
            <a:avLst/>
          </a:prstGeom>
        </p:spPr>
        <p:txBody>
          <a:bodyPr vert="horz" wrap="square" lIns="0" tIns="0" rIns="0" bIns="0" rtlCol="0">
            <a:spAutoFit/>
          </a:bodyPr>
          <a:lstStyle/>
          <a:p>
            <a:pPr>
              <a:lnSpc>
                <a:spcPts val="639"/>
              </a:lnSpc>
            </a:pPr>
            <a:r>
              <a:rPr sz="659" spc="-6" dirty="0">
                <a:latin typeface="Arial"/>
                <a:cs typeface="Arial"/>
              </a:rPr>
              <a:t>Monito</a:t>
            </a:r>
            <a:r>
              <a:rPr sz="659" spc="-3" dirty="0">
                <a:latin typeface="Arial"/>
                <a:cs typeface="Arial"/>
              </a:rPr>
              <a:t>r</a:t>
            </a:r>
            <a:endParaRPr sz="659">
              <a:latin typeface="Arial"/>
              <a:cs typeface="Arial"/>
            </a:endParaRPr>
          </a:p>
        </p:txBody>
      </p:sp>
      <p:sp>
        <p:nvSpPr>
          <p:cNvPr id="32" name="object 32"/>
          <p:cNvSpPr/>
          <p:nvPr/>
        </p:nvSpPr>
        <p:spPr>
          <a:xfrm>
            <a:off x="5757146" y="2912760"/>
            <a:ext cx="774274" cy="773910"/>
          </a:xfrm>
          <a:custGeom>
            <a:avLst/>
            <a:gdLst/>
            <a:ahLst/>
            <a:cxnLst/>
            <a:rect l="l" t="t" r="r" b="b"/>
            <a:pathLst>
              <a:path w="1351279" h="1350645">
                <a:moveTo>
                  <a:pt x="244872" y="478584"/>
                </a:moveTo>
                <a:lnTo>
                  <a:pt x="0" y="911908"/>
                </a:lnTo>
                <a:lnTo>
                  <a:pt x="285427" y="1350306"/>
                </a:lnTo>
                <a:lnTo>
                  <a:pt x="277554" y="1152102"/>
                </a:lnTo>
                <a:lnTo>
                  <a:pt x="339917" y="1146812"/>
                </a:lnTo>
                <a:lnTo>
                  <a:pt x="391636" y="1138562"/>
                </a:lnTo>
                <a:lnTo>
                  <a:pt x="420251" y="1131835"/>
                </a:lnTo>
                <a:lnTo>
                  <a:pt x="443434" y="1127638"/>
                </a:lnTo>
                <a:lnTo>
                  <a:pt x="473632" y="1121489"/>
                </a:lnTo>
                <a:lnTo>
                  <a:pt x="497977" y="1114113"/>
                </a:lnTo>
                <a:lnTo>
                  <a:pt x="522824" y="1107820"/>
                </a:lnTo>
                <a:lnTo>
                  <a:pt x="576938" y="1090537"/>
                </a:lnTo>
                <a:lnTo>
                  <a:pt x="621429" y="1072462"/>
                </a:lnTo>
                <a:lnTo>
                  <a:pt x="733876" y="1021420"/>
                </a:lnTo>
                <a:lnTo>
                  <a:pt x="757864" y="1007613"/>
                </a:lnTo>
                <a:lnTo>
                  <a:pt x="783434" y="994383"/>
                </a:lnTo>
                <a:lnTo>
                  <a:pt x="806334" y="981082"/>
                </a:lnTo>
                <a:lnTo>
                  <a:pt x="827642" y="967204"/>
                </a:lnTo>
                <a:lnTo>
                  <a:pt x="847349" y="952746"/>
                </a:lnTo>
                <a:lnTo>
                  <a:pt x="864887" y="939302"/>
                </a:lnTo>
                <a:lnTo>
                  <a:pt x="887285" y="924917"/>
                </a:lnTo>
                <a:lnTo>
                  <a:pt x="905399" y="909883"/>
                </a:lnTo>
                <a:lnTo>
                  <a:pt x="938299" y="884006"/>
                </a:lnTo>
                <a:lnTo>
                  <a:pt x="953670" y="871575"/>
                </a:lnTo>
                <a:lnTo>
                  <a:pt x="970193" y="855962"/>
                </a:lnTo>
                <a:lnTo>
                  <a:pt x="986140" y="841940"/>
                </a:lnTo>
                <a:lnTo>
                  <a:pt x="1002663" y="826328"/>
                </a:lnTo>
                <a:lnTo>
                  <a:pt x="1018108" y="811222"/>
                </a:lnTo>
                <a:lnTo>
                  <a:pt x="1035207" y="794020"/>
                </a:lnTo>
                <a:lnTo>
                  <a:pt x="1050746" y="777521"/>
                </a:lnTo>
                <a:lnTo>
                  <a:pt x="1109144" y="702583"/>
                </a:lnTo>
                <a:lnTo>
                  <a:pt x="256852" y="702583"/>
                </a:lnTo>
                <a:lnTo>
                  <a:pt x="244872" y="478584"/>
                </a:lnTo>
                <a:close/>
              </a:path>
              <a:path w="1351279" h="1350645">
                <a:moveTo>
                  <a:pt x="898624" y="0"/>
                </a:moveTo>
                <a:lnTo>
                  <a:pt x="896101" y="71103"/>
                </a:lnTo>
                <a:lnTo>
                  <a:pt x="880321" y="156299"/>
                </a:lnTo>
                <a:lnTo>
                  <a:pt x="854312" y="242295"/>
                </a:lnTo>
                <a:lnTo>
                  <a:pt x="818763" y="324824"/>
                </a:lnTo>
                <a:lnTo>
                  <a:pt x="784963" y="382783"/>
                </a:lnTo>
                <a:lnTo>
                  <a:pt x="744860" y="435759"/>
                </a:lnTo>
                <a:lnTo>
                  <a:pt x="713185" y="475581"/>
                </a:lnTo>
                <a:lnTo>
                  <a:pt x="647103" y="541736"/>
                </a:lnTo>
                <a:lnTo>
                  <a:pt x="601492" y="576408"/>
                </a:lnTo>
                <a:lnTo>
                  <a:pt x="537578" y="618046"/>
                </a:lnTo>
                <a:lnTo>
                  <a:pt x="439256" y="662509"/>
                </a:lnTo>
                <a:lnTo>
                  <a:pt x="389485" y="677767"/>
                </a:lnTo>
                <a:lnTo>
                  <a:pt x="340297" y="691436"/>
                </a:lnTo>
                <a:lnTo>
                  <a:pt x="296111" y="698818"/>
                </a:lnTo>
                <a:lnTo>
                  <a:pt x="256852" y="702583"/>
                </a:lnTo>
                <a:lnTo>
                  <a:pt x="1109144" y="702583"/>
                </a:lnTo>
                <a:lnTo>
                  <a:pt x="1133015" y="671951"/>
                </a:lnTo>
                <a:lnTo>
                  <a:pt x="1203296" y="556103"/>
                </a:lnTo>
                <a:lnTo>
                  <a:pt x="1235065" y="493810"/>
                </a:lnTo>
                <a:lnTo>
                  <a:pt x="1253347" y="453629"/>
                </a:lnTo>
                <a:lnTo>
                  <a:pt x="1277524" y="394875"/>
                </a:lnTo>
                <a:lnTo>
                  <a:pt x="1293345" y="346603"/>
                </a:lnTo>
                <a:lnTo>
                  <a:pt x="1311722" y="283950"/>
                </a:lnTo>
                <a:lnTo>
                  <a:pt x="1321617" y="237124"/>
                </a:lnTo>
                <a:lnTo>
                  <a:pt x="1326988" y="217468"/>
                </a:lnTo>
                <a:lnTo>
                  <a:pt x="1330193" y="198825"/>
                </a:lnTo>
                <a:lnTo>
                  <a:pt x="1334046" y="175919"/>
                </a:lnTo>
                <a:lnTo>
                  <a:pt x="1338412" y="154094"/>
                </a:lnTo>
                <a:lnTo>
                  <a:pt x="1341114" y="134367"/>
                </a:lnTo>
                <a:lnTo>
                  <a:pt x="1343229" y="116229"/>
                </a:lnTo>
                <a:lnTo>
                  <a:pt x="1347532" y="77281"/>
                </a:lnTo>
                <a:lnTo>
                  <a:pt x="1349082" y="40934"/>
                </a:lnTo>
                <a:lnTo>
                  <a:pt x="1349019" y="23809"/>
                </a:lnTo>
                <a:lnTo>
                  <a:pt x="1350705" y="1914"/>
                </a:lnTo>
                <a:lnTo>
                  <a:pt x="898624" y="0"/>
                </a:lnTo>
                <a:close/>
              </a:path>
            </a:pathLst>
          </a:custGeom>
          <a:solidFill>
            <a:srgbClr val="FF9900"/>
          </a:solidFill>
        </p:spPr>
        <p:txBody>
          <a:bodyPr wrap="square" lIns="0" tIns="0" rIns="0" bIns="0" rtlCol="0"/>
          <a:lstStyle/>
          <a:p>
            <a:endParaRPr sz="1031"/>
          </a:p>
        </p:txBody>
      </p:sp>
      <p:sp>
        <p:nvSpPr>
          <p:cNvPr id="33" name="object 33"/>
          <p:cNvSpPr/>
          <p:nvPr/>
        </p:nvSpPr>
        <p:spPr>
          <a:xfrm>
            <a:off x="5757146" y="2912759"/>
            <a:ext cx="774274" cy="773910"/>
          </a:xfrm>
          <a:custGeom>
            <a:avLst/>
            <a:gdLst/>
            <a:ahLst/>
            <a:cxnLst/>
            <a:rect l="l" t="t" r="r" b="b"/>
            <a:pathLst>
              <a:path w="1351279" h="1350645">
                <a:moveTo>
                  <a:pt x="1050741" y="777521"/>
                </a:moveTo>
                <a:lnTo>
                  <a:pt x="1133016" y="671951"/>
                </a:lnTo>
                <a:lnTo>
                  <a:pt x="1176239" y="603006"/>
                </a:lnTo>
                <a:lnTo>
                  <a:pt x="1203293" y="556103"/>
                </a:lnTo>
                <a:lnTo>
                  <a:pt x="1235068" y="493809"/>
                </a:lnTo>
                <a:lnTo>
                  <a:pt x="1253353" y="453628"/>
                </a:lnTo>
                <a:lnTo>
                  <a:pt x="1269464" y="414460"/>
                </a:lnTo>
                <a:lnTo>
                  <a:pt x="1293349" y="346603"/>
                </a:lnTo>
                <a:lnTo>
                  <a:pt x="1311724" y="283950"/>
                </a:lnTo>
                <a:lnTo>
                  <a:pt x="1321613" y="237124"/>
                </a:lnTo>
                <a:lnTo>
                  <a:pt x="1326989" y="217468"/>
                </a:lnTo>
                <a:lnTo>
                  <a:pt x="1330192" y="198824"/>
                </a:lnTo>
                <a:lnTo>
                  <a:pt x="1334049" y="175917"/>
                </a:lnTo>
                <a:lnTo>
                  <a:pt x="1338413" y="154094"/>
                </a:lnTo>
                <a:lnTo>
                  <a:pt x="1341109" y="134367"/>
                </a:lnTo>
                <a:lnTo>
                  <a:pt x="1343225" y="116229"/>
                </a:lnTo>
                <a:lnTo>
                  <a:pt x="1347530" y="77280"/>
                </a:lnTo>
                <a:lnTo>
                  <a:pt x="1349082" y="40934"/>
                </a:lnTo>
                <a:lnTo>
                  <a:pt x="1349023" y="23809"/>
                </a:lnTo>
                <a:lnTo>
                  <a:pt x="1350707" y="1914"/>
                </a:lnTo>
                <a:lnTo>
                  <a:pt x="898625" y="0"/>
                </a:lnTo>
                <a:lnTo>
                  <a:pt x="899114" y="20883"/>
                </a:lnTo>
                <a:lnTo>
                  <a:pt x="896104" y="71103"/>
                </a:lnTo>
                <a:lnTo>
                  <a:pt x="880316" y="156300"/>
                </a:lnTo>
                <a:lnTo>
                  <a:pt x="854316" y="242294"/>
                </a:lnTo>
                <a:lnTo>
                  <a:pt x="818759" y="324822"/>
                </a:lnTo>
                <a:lnTo>
                  <a:pt x="784960" y="382782"/>
                </a:lnTo>
                <a:lnTo>
                  <a:pt x="744863" y="435758"/>
                </a:lnTo>
                <a:lnTo>
                  <a:pt x="713180" y="475580"/>
                </a:lnTo>
                <a:lnTo>
                  <a:pt x="647102" y="541736"/>
                </a:lnTo>
                <a:lnTo>
                  <a:pt x="601488" y="576408"/>
                </a:lnTo>
                <a:lnTo>
                  <a:pt x="537573" y="618045"/>
                </a:lnTo>
                <a:lnTo>
                  <a:pt x="439255" y="662508"/>
                </a:lnTo>
                <a:lnTo>
                  <a:pt x="389484" y="677767"/>
                </a:lnTo>
                <a:lnTo>
                  <a:pt x="340296" y="691435"/>
                </a:lnTo>
                <a:lnTo>
                  <a:pt x="296110" y="698816"/>
                </a:lnTo>
                <a:lnTo>
                  <a:pt x="256852" y="702583"/>
                </a:lnTo>
                <a:lnTo>
                  <a:pt x="244871" y="478584"/>
                </a:lnTo>
                <a:lnTo>
                  <a:pt x="0" y="911907"/>
                </a:lnTo>
                <a:lnTo>
                  <a:pt x="285427" y="1350305"/>
                </a:lnTo>
                <a:lnTo>
                  <a:pt x="277554" y="1152102"/>
                </a:lnTo>
                <a:lnTo>
                  <a:pt x="311958" y="1149274"/>
                </a:lnTo>
                <a:lnTo>
                  <a:pt x="339916" y="1146811"/>
                </a:lnTo>
                <a:lnTo>
                  <a:pt x="365777" y="1142687"/>
                </a:lnTo>
                <a:lnTo>
                  <a:pt x="391635" y="1138561"/>
                </a:lnTo>
                <a:lnTo>
                  <a:pt x="420250" y="1131834"/>
                </a:lnTo>
                <a:lnTo>
                  <a:pt x="443430" y="1127637"/>
                </a:lnTo>
                <a:lnTo>
                  <a:pt x="473637" y="1121489"/>
                </a:lnTo>
                <a:lnTo>
                  <a:pt x="497977" y="1114113"/>
                </a:lnTo>
                <a:lnTo>
                  <a:pt x="522825" y="1107820"/>
                </a:lnTo>
                <a:lnTo>
                  <a:pt x="552020" y="1099503"/>
                </a:lnTo>
                <a:lnTo>
                  <a:pt x="576942" y="1090537"/>
                </a:lnTo>
                <a:lnTo>
                  <a:pt x="600271" y="1080993"/>
                </a:lnTo>
                <a:lnTo>
                  <a:pt x="621426" y="1072461"/>
                </a:lnTo>
                <a:lnTo>
                  <a:pt x="651277" y="1059880"/>
                </a:lnTo>
                <a:lnTo>
                  <a:pt x="683881" y="1044698"/>
                </a:lnTo>
                <a:lnTo>
                  <a:pt x="709965" y="1032553"/>
                </a:lnTo>
                <a:lnTo>
                  <a:pt x="733875" y="1021419"/>
                </a:lnTo>
                <a:lnTo>
                  <a:pt x="757859" y="1007613"/>
                </a:lnTo>
                <a:lnTo>
                  <a:pt x="783436" y="994383"/>
                </a:lnTo>
                <a:lnTo>
                  <a:pt x="806333" y="981082"/>
                </a:lnTo>
                <a:lnTo>
                  <a:pt x="827639" y="967203"/>
                </a:lnTo>
                <a:lnTo>
                  <a:pt x="847350" y="952746"/>
                </a:lnTo>
                <a:lnTo>
                  <a:pt x="864889" y="939301"/>
                </a:lnTo>
                <a:lnTo>
                  <a:pt x="887281" y="924916"/>
                </a:lnTo>
                <a:lnTo>
                  <a:pt x="905400" y="909883"/>
                </a:lnTo>
                <a:lnTo>
                  <a:pt x="921850" y="896943"/>
                </a:lnTo>
                <a:lnTo>
                  <a:pt x="938303" y="884005"/>
                </a:lnTo>
                <a:lnTo>
                  <a:pt x="953667" y="871574"/>
                </a:lnTo>
                <a:lnTo>
                  <a:pt x="970194" y="855961"/>
                </a:lnTo>
                <a:lnTo>
                  <a:pt x="986139" y="841940"/>
                </a:lnTo>
                <a:lnTo>
                  <a:pt x="1002665" y="826328"/>
                </a:lnTo>
                <a:lnTo>
                  <a:pt x="1018104" y="811222"/>
                </a:lnTo>
                <a:lnTo>
                  <a:pt x="1035211" y="794020"/>
                </a:lnTo>
                <a:lnTo>
                  <a:pt x="1050741" y="777521"/>
                </a:lnTo>
                <a:close/>
              </a:path>
            </a:pathLst>
          </a:custGeom>
          <a:ln w="10463">
            <a:solidFill>
              <a:srgbClr val="373773"/>
            </a:solidFill>
          </a:ln>
        </p:spPr>
        <p:txBody>
          <a:bodyPr wrap="square" lIns="0" tIns="0" rIns="0" bIns="0" rtlCol="0"/>
          <a:lstStyle/>
          <a:p>
            <a:endParaRPr sz="1031"/>
          </a:p>
        </p:txBody>
      </p:sp>
      <p:sp>
        <p:nvSpPr>
          <p:cNvPr id="34" name="object 34"/>
          <p:cNvSpPr txBox="1"/>
          <p:nvPr/>
        </p:nvSpPr>
        <p:spPr>
          <a:xfrm rot="18960000">
            <a:off x="6120862" y="3264143"/>
            <a:ext cx="225871" cy="89768"/>
          </a:xfrm>
          <a:prstGeom prst="rect">
            <a:avLst/>
          </a:prstGeom>
        </p:spPr>
        <p:txBody>
          <a:bodyPr vert="horz" wrap="square" lIns="0" tIns="0" rIns="0" bIns="0" rtlCol="0">
            <a:spAutoFit/>
          </a:bodyPr>
          <a:lstStyle/>
          <a:p>
            <a:pPr>
              <a:lnSpc>
                <a:spcPts val="650"/>
              </a:lnSpc>
            </a:pPr>
            <a:r>
              <a:rPr sz="659" spc="-52" dirty="0">
                <a:latin typeface="Arial"/>
                <a:cs typeface="Arial"/>
              </a:rPr>
              <a:t>V</a:t>
            </a:r>
            <a:r>
              <a:rPr sz="659" spc="-14" dirty="0">
                <a:latin typeface="Arial"/>
                <a:cs typeface="Arial"/>
              </a:rPr>
              <a:t>e</a:t>
            </a:r>
            <a:r>
              <a:rPr sz="659" spc="-3" dirty="0">
                <a:latin typeface="Arial"/>
                <a:cs typeface="Arial"/>
              </a:rPr>
              <a:t>r</a:t>
            </a:r>
            <a:r>
              <a:rPr sz="659" spc="-14" dirty="0">
                <a:latin typeface="Arial"/>
                <a:cs typeface="Arial"/>
              </a:rPr>
              <a:t>i</a:t>
            </a:r>
            <a:r>
              <a:rPr sz="988" spc="-21" baseline="2415" dirty="0">
                <a:latin typeface="Arial"/>
                <a:cs typeface="Arial"/>
              </a:rPr>
              <a:t>f</a:t>
            </a:r>
            <a:r>
              <a:rPr sz="988" spc="-4" baseline="2415" dirty="0">
                <a:latin typeface="Arial"/>
                <a:cs typeface="Arial"/>
              </a:rPr>
              <a:t>y</a:t>
            </a:r>
            <a:endParaRPr sz="988" baseline="2415">
              <a:latin typeface="Arial"/>
              <a:cs typeface="Arial"/>
            </a:endParaRPr>
          </a:p>
        </p:txBody>
      </p:sp>
      <p:sp>
        <p:nvSpPr>
          <p:cNvPr id="35" name="object 35"/>
          <p:cNvSpPr/>
          <p:nvPr/>
        </p:nvSpPr>
        <p:spPr>
          <a:xfrm>
            <a:off x="5868366" y="2230197"/>
            <a:ext cx="778640" cy="767724"/>
          </a:xfrm>
          <a:custGeom>
            <a:avLst/>
            <a:gdLst/>
            <a:ahLst/>
            <a:cxnLst/>
            <a:rect l="l" t="t" r="r" b="b"/>
            <a:pathLst>
              <a:path w="1358900" h="1339850">
                <a:moveTo>
                  <a:pt x="3414" y="0"/>
                </a:moveTo>
                <a:lnTo>
                  <a:pt x="165700" y="215730"/>
                </a:lnTo>
                <a:lnTo>
                  <a:pt x="0" y="448873"/>
                </a:lnTo>
                <a:lnTo>
                  <a:pt x="21943" y="450529"/>
                </a:lnTo>
                <a:lnTo>
                  <a:pt x="72277" y="453480"/>
                </a:lnTo>
                <a:lnTo>
                  <a:pt x="184807" y="476287"/>
                </a:lnTo>
                <a:lnTo>
                  <a:pt x="242221" y="494411"/>
                </a:lnTo>
                <a:lnTo>
                  <a:pt x="325413" y="530881"/>
                </a:lnTo>
                <a:lnTo>
                  <a:pt x="383474" y="564539"/>
                </a:lnTo>
                <a:lnTo>
                  <a:pt x="458602" y="620594"/>
                </a:lnTo>
                <a:lnTo>
                  <a:pt x="542547" y="705636"/>
                </a:lnTo>
                <a:lnTo>
                  <a:pt x="588054" y="767465"/>
                </a:lnTo>
                <a:lnTo>
                  <a:pt x="625875" y="834296"/>
                </a:lnTo>
                <a:lnTo>
                  <a:pt x="658690" y="907415"/>
                </a:lnTo>
                <a:lnTo>
                  <a:pt x="680794" y="980246"/>
                </a:lnTo>
                <a:lnTo>
                  <a:pt x="691768" y="1029234"/>
                </a:lnTo>
                <a:lnTo>
                  <a:pt x="701632" y="1098529"/>
                </a:lnTo>
                <a:lnTo>
                  <a:pt x="702480" y="1125843"/>
                </a:lnTo>
                <a:lnTo>
                  <a:pt x="488005" y="1142586"/>
                </a:lnTo>
                <a:lnTo>
                  <a:pt x="946441" y="1339453"/>
                </a:lnTo>
                <a:lnTo>
                  <a:pt x="1342126" y="1102032"/>
                </a:lnTo>
                <a:lnTo>
                  <a:pt x="1153126" y="1102032"/>
                </a:lnTo>
                <a:lnTo>
                  <a:pt x="1150330" y="1067709"/>
                </a:lnTo>
                <a:lnTo>
                  <a:pt x="1142927" y="1006509"/>
                </a:lnTo>
                <a:lnTo>
                  <a:pt x="1135796" y="954411"/>
                </a:lnTo>
                <a:lnTo>
                  <a:pt x="1129084" y="925871"/>
                </a:lnTo>
                <a:lnTo>
                  <a:pt x="1117682" y="873126"/>
                </a:lnTo>
                <a:lnTo>
                  <a:pt x="1111410" y="848341"/>
                </a:lnTo>
                <a:lnTo>
                  <a:pt x="1096824" y="794440"/>
                </a:lnTo>
                <a:lnTo>
                  <a:pt x="1086772" y="770090"/>
                </a:lnTo>
                <a:lnTo>
                  <a:pt x="1069788" y="725222"/>
                </a:lnTo>
                <a:lnTo>
                  <a:pt x="1057212" y="695454"/>
                </a:lnTo>
                <a:lnTo>
                  <a:pt x="1018753" y="613089"/>
                </a:lnTo>
                <a:lnTo>
                  <a:pt x="990618" y="564176"/>
                </a:lnTo>
                <a:lnTo>
                  <a:pt x="978398" y="540840"/>
                </a:lnTo>
                <a:lnTo>
                  <a:pt x="950043" y="499948"/>
                </a:lnTo>
                <a:lnTo>
                  <a:pt x="936588" y="482464"/>
                </a:lnTo>
                <a:lnTo>
                  <a:pt x="907144" y="442079"/>
                </a:lnTo>
                <a:lnTo>
                  <a:pt x="894191" y="425679"/>
                </a:lnTo>
                <a:lnTo>
                  <a:pt x="868799" y="393963"/>
                </a:lnTo>
                <a:lnTo>
                  <a:pt x="855376" y="379821"/>
                </a:lnTo>
                <a:lnTo>
                  <a:pt x="765965" y="292754"/>
                </a:lnTo>
                <a:lnTo>
                  <a:pt x="753441" y="280110"/>
                </a:lnTo>
                <a:lnTo>
                  <a:pt x="697349" y="233663"/>
                </a:lnTo>
                <a:lnTo>
                  <a:pt x="628953" y="186350"/>
                </a:lnTo>
                <a:lnTo>
                  <a:pt x="558725" y="146479"/>
                </a:lnTo>
                <a:lnTo>
                  <a:pt x="518548" y="125605"/>
                </a:lnTo>
                <a:lnTo>
                  <a:pt x="475691" y="104661"/>
                </a:lnTo>
                <a:lnTo>
                  <a:pt x="415232" y="80036"/>
                </a:lnTo>
                <a:lnTo>
                  <a:pt x="373820" y="65015"/>
                </a:lnTo>
                <a:lnTo>
                  <a:pt x="306848" y="43425"/>
                </a:lnTo>
                <a:lnTo>
                  <a:pt x="262095" y="32599"/>
                </a:lnTo>
                <a:lnTo>
                  <a:pt x="239143" y="28775"/>
                </a:lnTo>
                <a:lnTo>
                  <a:pt x="200760" y="20256"/>
                </a:lnTo>
                <a:lnTo>
                  <a:pt x="98216" y="4673"/>
                </a:lnTo>
                <a:lnTo>
                  <a:pt x="42525" y="1580"/>
                </a:lnTo>
                <a:lnTo>
                  <a:pt x="24853" y="572"/>
                </a:lnTo>
                <a:lnTo>
                  <a:pt x="3414" y="0"/>
                </a:lnTo>
                <a:close/>
              </a:path>
              <a:path w="1358900" h="1339850">
                <a:moveTo>
                  <a:pt x="1358826" y="1092011"/>
                </a:moveTo>
                <a:lnTo>
                  <a:pt x="1153126" y="1102032"/>
                </a:lnTo>
                <a:lnTo>
                  <a:pt x="1342126" y="1102032"/>
                </a:lnTo>
                <a:lnTo>
                  <a:pt x="1358826" y="1092011"/>
                </a:lnTo>
                <a:close/>
              </a:path>
            </a:pathLst>
          </a:custGeom>
          <a:solidFill>
            <a:srgbClr val="3366FF"/>
          </a:solidFill>
        </p:spPr>
        <p:txBody>
          <a:bodyPr wrap="square" lIns="0" tIns="0" rIns="0" bIns="0" rtlCol="0"/>
          <a:lstStyle/>
          <a:p>
            <a:endParaRPr sz="1031"/>
          </a:p>
        </p:txBody>
      </p:sp>
      <p:sp>
        <p:nvSpPr>
          <p:cNvPr id="36" name="object 36"/>
          <p:cNvSpPr/>
          <p:nvPr/>
        </p:nvSpPr>
        <p:spPr>
          <a:xfrm>
            <a:off x="5868366" y="2230196"/>
            <a:ext cx="778640" cy="767724"/>
          </a:xfrm>
          <a:custGeom>
            <a:avLst/>
            <a:gdLst/>
            <a:ahLst/>
            <a:cxnLst/>
            <a:rect l="l" t="t" r="r" b="b"/>
            <a:pathLst>
              <a:path w="1358900" h="1339850">
                <a:moveTo>
                  <a:pt x="855376" y="379821"/>
                </a:moveTo>
                <a:lnTo>
                  <a:pt x="765962" y="292754"/>
                </a:lnTo>
                <a:lnTo>
                  <a:pt x="753444" y="280110"/>
                </a:lnTo>
                <a:lnTo>
                  <a:pt x="734628" y="262485"/>
                </a:lnTo>
                <a:lnTo>
                  <a:pt x="697352" y="233662"/>
                </a:lnTo>
                <a:lnTo>
                  <a:pt x="628949" y="186348"/>
                </a:lnTo>
                <a:lnTo>
                  <a:pt x="558729" y="146478"/>
                </a:lnTo>
                <a:lnTo>
                  <a:pt x="518550" y="125605"/>
                </a:lnTo>
                <a:lnTo>
                  <a:pt x="475690" y="104661"/>
                </a:lnTo>
                <a:lnTo>
                  <a:pt x="438042" y="89206"/>
                </a:lnTo>
                <a:lnTo>
                  <a:pt x="373820" y="65015"/>
                </a:lnTo>
                <a:lnTo>
                  <a:pt x="306844" y="43426"/>
                </a:lnTo>
                <a:lnTo>
                  <a:pt x="262095" y="32598"/>
                </a:lnTo>
                <a:lnTo>
                  <a:pt x="239139" y="28774"/>
                </a:lnTo>
                <a:lnTo>
                  <a:pt x="200760" y="20257"/>
                </a:lnTo>
                <a:lnTo>
                  <a:pt x="135077" y="9939"/>
                </a:lnTo>
                <a:lnTo>
                  <a:pt x="78953" y="3088"/>
                </a:lnTo>
                <a:lnTo>
                  <a:pt x="42524" y="1580"/>
                </a:lnTo>
                <a:lnTo>
                  <a:pt x="24853" y="572"/>
                </a:lnTo>
                <a:lnTo>
                  <a:pt x="3416" y="0"/>
                </a:lnTo>
                <a:lnTo>
                  <a:pt x="165700" y="215730"/>
                </a:lnTo>
                <a:lnTo>
                  <a:pt x="0" y="448872"/>
                </a:lnTo>
                <a:lnTo>
                  <a:pt x="21943" y="450529"/>
                </a:lnTo>
                <a:lnTo>
                  <a:pt x="72276" y="453480"/>
                </a:lnTo>
                <a:lnTo>
                  <a:pt x="103272" y="457519"/>
                </a:lnTo>
                <a:lnTo>
                  <a:pt x="156567" y="469645"/>
                </a:lnTo>
                <a:lnTo>
                  <a:pt x="242227" y="494410"/>
                </a:lnTo>
                <a:lnTo>
                  <a:pt x="325414" y="530880"/>
                </a:lnTo>
                <a:lnTo>
                  <a:pt x="383471" y="564539"/>
                </a:lnTo>
                <a:lnTo>
                  <a:pt x="397695" y="573749"/>
                </a:lnTo>
                <a:lnTo>
                  <a:pt x="411920" y="582957"/>
                </a:lnTo>
                <a:lnTo>
                  <a:pt x="458602" y="620594"/>
                </a:lnTo>
                <a:lnTo>
                  <a:pt x="542551" y="705635"/>
                </a:lnTo>
                <a:lnTo>
                  <a:pt x="588052" y="767465"/>
                </a:lnTo>
                <a:lnTo>
                  <a:pt x="625875" y="834295"/>
                </a:lnTo>
                <a:lnTo>
                  <a:pt x="658695" y="907414"/>
                </a:lnTo>
                <a:lnTo>
                  <a:pt x="680796" y="980245"/>
                </a:lnTo>
                <a:lnTo>
                  <a:pt x="691764" y="1029234"/>
                </a:lnTo>
                <a:lnTo>
                  <a:pt x="701629" y="1098527"/>
                </a:lnTo>
                <a:lnTo>
                  <a:pt x="702475" y="1125842"/>
                </a:lnTo>
                <a:lnTo>
                  <a:pt x="488008" y="1142585"/>
                </a:lnTo>
                <a:lnTo>
                  <a:pt x="946445" y="1339452"/>
                </a:lnTo>
                <a:lnTo>
                  <a:pt x="1358830" y="1092011"/>
                </a:lnTo>
                <a:lnTo>
                  <a:pt x="1153131" y="1102031"/>
                </a:lnTo>
                <a:lnTo>
                  <a:pt x="1150334" y="1067709"/>
                </a:lnTo>
                <a:lnTo>
                  <a:pt x="1142926" y="1006507"/>
                </a:lnTo>
                <a:lnTo>
                  <a:pt x="1135798" y="954411"/>
                </a:lnTo>
                <a:lnTo>
                  <a:pt x="1129087" y="925870"/>
                </a:lnTo>
                <a:lnTo>
                  <a:pt x="1117688" y="873124"/>
                </a:lnTo>
                <a:lnTo>
                  <a:pt x="1111407" y="848341"/>
                </a:lnTo>
                <a:lnTo>
                  <a:pt x="1096822" y="794440"/>
                </a:lnTo>
                <a:lnTo>
                  <a:pt x="1086776" y="770090"/>
                </a:lnTo>
                <a:lnTo>
                  <a:pt x="1069792" y="725222"/>
                </a:lnTo>
                <a:lnTo>
                  <a:pt x="1057214" y="695454"/>
                </a:lnTo>
                <a:lnTo>
                  <a:pt x="1029887" y="636931"/>
                </a:lnTo>
                <a:lnTo>
                  <a:pt x="1018753" y="613089"/>
                </a:lnTo>
                <a:lnTo>
                  <a:pt x="990619" y="564176"/>
                </a:lnTo>
                <a:lnTo>
                  <a:pt x="978399" y="540840"/>
                </a:lnTo>
                <a:lnTo>
                  <a:pt x="950042" y="499947"/>
                </a:lnTo>
                <a:lnTo>
                  <a:pt x="936585" y="482464"/>
                </a:lnTo>
                <a:lnTo>
                  <a:pt x="907142" y="442079"/>
                </a:lnTo>
                <a:lnTo>
                  <a:pt x="894191" y="425678"/>
                </a:lnTo>
                <a:lnTo>
                  <a:pt x="868797" y="393963"/>
                </a:lnTo>
                <a:lnTo>
                  <a:pt x="855376" y="379821"/>
                </a:lnTo>
                <a:close/>
              </a:path>
            </a:pathLst>
          </a:custGeom>
          <a:ln w="10463">
            <a:solidFill>
              <a:srgbClr val="A78450"/>
            </a:solidFill>
          </a:ln>
        </p:spPr>
        <p:txBody>
          <a:bodyPr wrap="square" lIns="0" tIns="0" rIns="0" bIns="0" rtlCol="0"/>
          <a:lstStyle/>
          <a:p>
            <a:endParaRPr sz="1031"/>
          </a:p>
        </p:txBody>
      </p:sp>
      <p:sp>
        <p:nvSpPr>
          <p:cNvPr id="37" name="object 37"/>
          <p:cNvSpPr txBox="1"/>
          <p:nvPr/>
        </p:nvSpPr>
        <p:spPr>
          <a:xfrm rot="3240000">
            <a:off x="6103619" y="2495999"/>
            <a:ext cx="273863" cy="76944"/>
          </a:xfrm>
          <a:prstGeom prst="rect">
            <a:avLst/>
          </a:prstGeom>
        </p:spPr>
        <p:txBody>
          <a:bodyPr vert="horz" wrap="square" lIns="0" tIns="0" rIns="0" bIns="0" rtlCol="0">
            <a:spAutoFit/>
          </a:bodyPr>
          <a:lstStyle/>
          <a:p>
            <a:pPr>
              <a:lnSpc>
                <a:spcPts val="619"/>
              </a:lnSpc>
            </a:pPr>
            <a:r>
              <a:rPr sz="659" spc="-3" dirty="0">
                <a:solidFill>
                  <a:srgbClr val="FFFFFF"/>
                </a:solidFill>
                <a:latin typeface="Arial"/>
                <a:cs typeface="Arial"/>
              </a:rPr>
              <a:t>Deploy</a:t>
            </a:r>
            <a:endParaRPr sz="659">
              <a:latin typeface="Arial"/>
              <a:cs typeface="Arial"/>
            </a:endParaRPr>
          </a:p>
        </p:txBody>
      </p:sp>
      <p:sp>
        <p:nvSpPr>
          <p:cNvPr id="38" name="object 38"/>
          <p:cNvSpPr txBox="1"/>
          <p:nvPr/>
        </p:nvSpPr>
        <p:spPr>
          <a:xfrm>
            <a:off x="5605919" y="2781160"/>
            <a:ext cx="586891" cy="244793"/>
          </a:xfrm>
          <a:prstGeom prst="rect">
            <a:avLst/>
          </a:prstGeom>
        </p:spPr>
        <p:txBody>
          <a:bodyPr vert="horz" wrap="square" lIns="0" tIns="13826" rIns="0" bIns="0" rtlCol="0">
            <a:spAutoFit/>
          </a:bodyPr>
          <a:lstStyle/>
          <a:p>
            <a:pPr marL="7277" marR="2911" indent="8368">
              <a:lnSpc>
                <a:spcPts val="917"/>
              </a:lnSpc>
              <a:spcBef>
                <a:spcPts val="109"/>
              </a:spcBef>
            </a:pPr>
            <a:r>
              <a:rPr sz="774" b="1" spc="3" dirty="0">
                <a:solidFill>
                  <a:srgbClr val="005493"/>
                </a:solidFill>
                <a:latin typeface="Arial"/>
                <a:cs typeface="Arial"/>
              </a:rPr>
              <a:t>Continuous  </a:t>
            </a:r>
            <a:r>
              <a:rPr sz="774" b="1" spc="6" dirty="0">
                <a:solidFill>
                  <a:srgbClr val="005493"/>
                </a:solidFill>
                <a:latin typeface="Arial"/>
                <a:cs typeface="Arial"/>
              </a:rPr>
              <a:t>Deployment</a:t>
            </a:r>
            <a:endParaRPr sz="774">
              <a:latin typeface="Arial"/>
              <a:cs typeface="Arial"/>
            </a:endParaRPr>
          </a:p>
        </p:txBody>
      </p:sp>
      <p:sp>
        <p:nvSpPr>
          <p:cNvPr id="39" name="object 39"/>
          <p:cNvSpPr/>
          <p:nvPr/>
        </p:nvSpPr>
        <p:spPr>
          <a:xfrm>
            <a:off x="6887361" y="1696406"/>
            <a:ext cx="2881440" cy="2557410"/>
          </a:xfrm>
          <a:prstGeom prst="rect">
            <a:avLst/>
          </a:prstGeom>
          <a:blipFill>
            <a:blip r:embed="rId6" cstate="print"/>
            <a:stretch>
              <a:fillRect/>
            </a:stretch>
          </a:blipFill>
        </p:spPr>
        <p:txBody>
          <a:bodyPr wrap="square" lIns="0" tIns="0" rIns="0" bIns="0" rtlCol="0"/>
          <a:lstStyle/>
          <a:p>
            <a:endParaRPr sz="1031"/>
          </a:p>
        </p:txBody>
      </p:sp>
      <p:sp>
        <p:nvSpPr>
          <p:cNvPr id="40" name="object 40"/>
          <p:cNvSpPr/>
          <p:nvPr/>
        </p:nvSpPr>
        <p:spPr>
          <a:xfrm>
            <a:off x="6862660" y="1671736"/>
            <a:ext cx="2790881" cy="2463831"/>
          </a:xfrm>
          <a:prstGeom prst="rect">
            <a:avLst/>
          </a:prstGeom>
          <a:blipFill>
            <a:blip r:embed="rId7" cstate="print"/>
            <a:stretch>
              <a:fillRect/>
            </a:stretch>
          </a:blipFill>
        </p:spPr>
        <p:txBody>
          <a:bodyPr wrap="square" lIns="0" tIns="0" rIns="0" bIns="0" rtlCol="0"/>
          <a:lstStyle/>
          <a:p>
            <a:endParaRPr sz="1031"/>
          </a:p>
        </p:txBody>
      </p:sp>
      <p:sp>
        <p:nvSpPr>
          <p:cNvPr id="41" name="object 41"/>
          <p:cNvSpPr txBox="1"/>
          <p:nvPr/>
        </p:nvSpPr>
        <p:spPr>
          <a:xfrm>
            <a:off x="8761297" y="2114729"/>
            <a:ext cx="356573" cy="96615"/>
          </a:xfrm>
          <a:prstGeom prst="rect">
            <a:avLst/>
          </a:prstGeom>
        </p:spPr>
        <p:txBody>
          <a:bodyPr vert="horz" wrap="square" lIns="0" tIns="8368" rIns="0" bIns="0" rtlCol="0">
            <a:spAutoFit/>
          </a:bodyPr>
          <a:lstStyle/>
          <a:p>
            <a:pPr marL="7277">
              <a:spcBef>
                <a:spcPts val="65"/>
              </a:spcBef>
            </a:pPr>
            <a:r>
              <a:rPr sz="573" spc="-11" dirty="0">
                <a:latin typeface="Arial"/>
                <a:cs typeface="Arial"/>
              </a:rPr>
              <a:t>Test</a:t>
            </a:r>
            <a:r>
              <a:rPr sz="573" spc="-40" dirty="0">
                <a:latin typeface="Arial"/>
                <a:cs typeface="Arial"/>
              </a:rPr>
              <a:t> </a:t>
            </a:r>
            <a:r>
              <a:rPr sz="573" spc="6" dirty="0">
                <a:latin typeface="Arial"/>
                <a:cs typeface="Arial"/>
              </a:rPr>
              <a:t>Mgmt</a:t>
            </a:r>
            <a:endParaRPr sz="573">
              <a:latin typeface="Arial"/>
              <a:cs typeface="Arial"/>
            </a:endParaRPr>
          </a:p>
        </p:txBody>
      </p:sp>
      <p:sp>
        <p:nvSpPr>
          <p:cNvPr id="42" name="object 42"/>
          <p:cNvSpPr txBox="1"/>
          <p:nvPr/>
        </p:nvSpPr>
        <p:spPr>
          <a:xfrm>
            <a:off x="8997407" y="2323505"/>
            <a:ext cx="533405" cy="96615"/>
          </a:xfrm>
          <a:prstGeom prst="rect">
            <a:avLst/>
          </a:prstGeom>
        </p:spPr>
        <p:txBody>
          <a:bodyPr vert="horz" wrap="square" lIns="0" tIns="8368" rIns="0" bIns="0" rtlCol="0">
            <a:spAutoFit/>
          </a:bodyPr>
          <a:lstStyle/>
          <a:p>
            <a:pPr marL="7277">
              <a:spcBef>
                <a:spcPts val="65"/>
              </a:spcBef>
            </a:pPr>
            <a:r>
              <a:rPr sz="573" spc="-11" dirty="0">
                <a:latin typeface="Arial"/>
                <a:cs typeface="Arial"/>
              </a:rPr>
              <a:t>Test </a:t>
            </a:r>
            <a:r>
              <a:rPr sz="573" spc="3" dirty="0">
                <a:latin typeface="Arial"/>
                <a:cs typeface="Arial"/>
              </a:rPr>
              <a:t>Data</a:t>
            </a:r>
            <a:r>
              <a:rPr sz="573" spc="-23" dirty="0">
                <a:latin typeface="Arial"/>
                <a:cs typeface="Arial"/>
              </a:rPr>
              <a:t> </a:t>
            </a:r>
            <a:r>
              <a:rPr sz="573" spc="6" dirty="0">
                <a:latin typeface="Arial"/>
                <a:cs typeface="Arial"/>
              </a:rPr>
              <a:t>Mgmt</a:t>
            </a:r>
            <a:endParaRPr sz="573">
              <a:latin typeface="Arial"/>
              <a:cs typeface="Arial"/>
            </a:endParaRPr>
          </a:p>
        </p:txBody>
      </p:sp>
      <p:sp>
        <p:nvSpPr>
          <p:cNvPr id="43" name="object 43"/>
          <p:cNvSpPr txBox="1"/>
          <p:nvPr/>
        </p:nvSpPr>
        <p:spPr>
          <a:xfrm rot="19020000">
            <a:off x="7983023" y="2485812"/>
            <a:ext cx="314490" cy="76944"/>
          </a:xfrm>
          <a:prstGeom prst="rect">
            <a:avLst/>
          </a:prstGeom>
        </p:spPr>
        <p:txBody>
          <a:bodyPr vert="horz" wrap="square" lIns="0" tIns="0" rIns="0" bIns="0" rtlCol="0">
            <a:spAutoFit/>
          </a:bodyPr>
          <a:lstStyle/>
          <a:p>
            <a:pPr>
              <a:lnSpc>
                <a:spcPts val="645"/>
              </a:lnSpc>
            </a:pPr>
            <a:r>
              <a:rPr sz="630" spc="-3" dirty="0">
                <a:solidFill>
                  <a:srgbClr val="FFFFFF"/>
                </a:solidFill>
                <a:latin typeface="Arial"/>
                <a:cs typeface="Arial"/>
              </a:rPr>
              <a:t>De</a:t>
            </a:r>
            <a:r>
              <a:rPr sz="630" spc="9" dirty="0">
                <a:solidFill>
                  <a:srgbClr val="FFFFFF"/>
                </a:solidFill>
                <a:latin typeface="Arial"/>
                <a:cs typeface="Arial"/>
              </a:rPr>
              <a:t>v</a:t>
            </a:r>
            <a:r>
              <a:rPr sz="630" spc="-3" dirty="0">
                <a:solidFill>
                  <a:srgbClr val="FFFFFF"/>
                </a:solidFill>
                <a:latin typeface="Arial"/>
                <a:cs typeface="Arial"/>
              </a:rPr>
              <a:t>e</a:t>
            </a:r>
            <a:r>
              <a:rPr sz="945" spc="-9" baseline="2525" dirty="0">
                <a:solidFill>
                  <a:srgbClr val="FFFFFF"/>
                </a:solidFill>
                <a:latin typeface="Arial"/>
                <a:cs typeface="Arial"/>
              </a:rPr>
              <a:t>lo</a:t>
            </a:r>
            <a:r>
              <a:rPr sz="945" spc="13" baseline="2525" dirty="0">
                <a:solidFill>
                  <a:srgbClr val="FFFFFF"/>
                </a:solidFill>
                <a:latin typeface="Arial"/>
                <a:cs typeface="Arial"/>
              </a:rPr>
              <a:t>p</a:t>
            </a:r>
            <a:endParaRPr sz="945" baseline="2525">
              <a:latin typeface="Arial"/>
              <a:cs typeface="Arial"/>
            </a:endParaRPr>
          </a:p>
        </p:txBody>
      </p:sp>
      <p:sp>
        <p:nvSpPr>
          <p:cNvPr id="44" name="object 44"/>
          <p:cNvSpPr txBox="1"/>
          <p:nvPr/>
        </p:nvSpPr>
        <p:spPr>
          <a:xfrm rot="14700000">
            <a:off x="7906188" y="3262562"/>
            <a:ext cx="321869" cy="76944"/>
          </a:xfrm>
          <a:prstGeom prst="rect">
            <a:avLst/>
          </a:prstGeom>
        </p:spPr>
        <p:txBody>
          <a:bodyPr vert="horz" wrap="square" lIns="0" tIns="0" rIns="0" bIns="0" rtlCol="0">
            <a:spAutoFit/>
          </a:bodyPr>
          <a:lstStyle/>
          <a:p>
            <a:pPr>
              <a:lnSpc>
                <a:spcPts val="625"/>
              </a:lnSpc>
            </a:pPr>
            <a:r>
              <a:rPr sz="630" spc="9" dirty="0">
                <a:solidFill>
                  <a:srgbClr val="FFFFFF"/>
                </a:solidFill>
                <a:latin typeface="Arial"/>
                <a:cs typeface="Arial"/>
              </a:rPr>
              <a:t>Pr</a:t>
            </a:r>
            <a:r>
              <a:rPr sz="630" spc="6" dirty="0">
                <a:solidFill>
                  <a:srgbClr val="FFFFFF"/>
                </a:solidFill>
                <a:latin typeface="Arial"/>
                <a:cs typeface="Arial"/>
              </a:rPr>
              <a:t>o</a:t>
            </a:r>
            <a:r>
              <a:rPr sz="630" spc="14" dirty="0">
                <a:solidFill>
                  <a:srgbClr val="FFFFFF"/>
                </a:solidFill>
                <a:latin typeface="Arial"/>
                <a:cs typeface="Arial"/>
              </a:rPr>
              <a:t>m</a:t>
            </a:r>
            <a:r>
              <a:rPr sz="630" spc="3" dirty="0">
                <a:solidFill>
                  <a:srgbClr val="FFFFFF"/>
                </a:solidFill>
                <a:latin typeface="Arial"/>
                <a:cs typeface="Arial"/>
              </a:rPr>
              <a:t>ot</a:t>
            </a:r>
            <a:r>
              <a:rPr sz="630" spc="9" dirty="0">
                <a:solidFill>
                  <a:srgbClr val="FFFFFF"/>
                </a:solidFill>
                <a:latin typeface="Arial"/>
                <a:cs typeface="Arial"/>
              </a:rPr>
              <a:t>e</a:t>
            </a:r>
            <a:endParaRPr sz="630">
              <a:latin typeface="Arial"/>
              <a:cs typeface="Arial"/>
            </a:endParaRPr>
          </a:p>
        </p:txBody>
      </p:sp>
      <p:sp>
        <p:nvSpPr>
          <p:cNvPr id="45" name="object 45"/>
          <p:cNvSpPr txBox="1"/>
          <p:nvPr/>
        </p:nvSpPr>
        <p:spPr>
          <a:xfrm rot="18960000">
            <a:off x="8728646" y="3309129"/>
            <a:ext cx="223236" cy="76944"/>
          </a:xfrm>
          <a:prstGeom prst="rect">
            <a:avLst/>
          </a:prstGeom>
        </p:spPr>
        <p:txBody>
          <a:bodyPr vert="horz" wrap="square" lIns="0" tIns="0" rIns="0" bIns="0" rtlCol="0">
            <a:spAutoFit/>
          </a:bodyPr>
          <a:lstStyle/>
          <a:p>
            <a:pPr>
              <a:lnSpc>
                <a:spcPts val="639"/>
              </a:lnSpc>
            </a:pPr>
            <a:r>
              <a:rPr sz="630" spc="-37" dirty="0">
                <a:solidFill>
                  <a:srgbClr val="FFFFFF"/>
                </a:solidFill>
                <a:latin typeface="Arial"/>
                <a:cs typeface="Arial"/>
              </a:rPr>
              <a:t>V</a:t>
            </a:r>
            <a:r>
              <a:rPr sz="630" spc="-3" dirty="0">
                <a:solidFill>
                  <a:srgbClr val="FFFFFF"/>
                </a:solidFill>
                <a:latin typeface="Arial"/>
                <a:cs typeface="Arial"/>
              </a:rPr>
              <a:t>e</a:t>
            </a:r>
            <a:r>
              <a:rPr sz="630" spc="6" dirty="0">
                <a:solidFill>
                  <a:srgbClr val="FFFFFF"/>
                </a:solidFill>
                <a:latin typeface="Arial"/>
                <a:cs typeface="Arial"/>
              </a:rPr>
              <a:t>r</a:t>
            </a:r>
            <a:r>
              <a:rPr sz="630" spc="-9" dirty="0">
                <a:solidFill>
                  <a:srgbClr val="FFFFFF"/>
                </a:solidFill>
                <a:latin typeface="Arial"/>
                <a:cs typeface="Arial"/>
              </a:rPr>
              <a:t>i</a:t>
            </a:r>
            <a:r>
              <a:rPr sz="945" spc="-13" baseline="2525" dirty="0">
                <a:solidFill>
                  <a:srgbClr val="FFFFFF"/>
                </a:solidFill>
                <a:latin typeface="Arial"/>
                <a:cs typeface="Arial"/>
              </a:rPr>
              <a:t>f</a:t>
            </a:r>
            <a:r>
              <a:rPr sz="945" spc="13" baseline="2525" dirty="0">
                <a:solidFill>
                  <a:srgbClr val="FFFFFF"/>
                </a:solidFill>
                <a:latin typeface="Arial"/>
                <a:cs typeface="Arial"/>
              </a:rPr>
              <a:t>y</a:t>
            </a:r>
            <a:endParaRPr sz="945" baseline="2525">
              <a:latin typeface="Arial"/>
              <a:cs typeface="Arial"/>
            </a:endParaRPr>
          </a:p>
        </p:txBody>
      </p:sp>
      <p:sp>
        <p:nvSpPr>
          <p:cNvPr id="46" name="object 46"/>
          <p:cNvSpPr txBox="1"/>
          <p:nvPr/>
        </p:nvSpPr>
        <p:spPr>
          <a:xfrm rot="3240000">
            <a:off x="8719302" y="2582178"/>
            <a:ext cx="309929" cy="76944"/>
          </a:xfrm>
          <a:prstGeom prst="rect">
            <a:avLst/>
          </a:prstGeom>
        </p:spPr>
        <p:txBody>
          <a:bodyPr vert="horz" wrap="square" lIns="0" tIns="0" rIns="0" bIns="0" rtlCol="0">
            <a:spAutoFit/>
          </a:bodyPr>
          <a:lstStyle/>
          <a:p>
            <a:pPr>
              <a:lnSpc>
                <a:spcPts val="639"/>
              </a:lnSpc>
            </a:pPr>
            <a:r>
              <a:rPr sz="945" spc="13" baseline="2525" dirty="0">
                <a:solidFill>
                  <a:srgbClr val="FFFFFF"/>
                </a:solidFill>
                <a:latin typeface="Arial"/>
                <a:cs typeface="Arial"/>
              </a:rPr>
              <a:t>Ex</a:t>
            </a:r>
            <a:r>
              <a:rPr sz="945" spc="-4" baseline="2525" dirty="0">
                <a:solidFill>
                  <a:srgbClr val="FFFFFF"/>
                </a:solidFill>
                <a:latin typeface="Arial"/>
                <a:cs typeface="Arial"/>
              </a:rPr>
              <a:t>e</a:t>
            </a:r>
            <a:r>
              <a:rPr sz="945" spc="13" baseline="2525" dirty="0">
                <a:solidFill>
                  <a:srgbClr val="FFFFFF"/>
                </a:solidFill>
                <a:latin typeface="Arial"/>
                <a:cs typeface="Arial"/>
              </a:rPr>
              <a:t>c</a:t>
            </a:r>
            <a:r>
              <a:rPr sz="945" spc="-4" baseline="2525" dirty="0">
                <a:solidFill>
                  <a:srgbClr val="FFFFFF"/>
                </a:solidFill>
                <a:latin typeface="Arial"/>
                <a:cs typeface="Arial"/>
              </a:rPr>
              <a:t>u</a:t>
            </a:r>
            <a:r>
              <a:rPr sz="630" spc="-9" dirty="0">
                <a:solidFill>
                  <a:srgbClr val="FFFFFF"/>
                </a:solidFill>
                <a:latin typeface="Arial"/>
                <a:cs typeface="Arial"/>
              </a:rPr>
              <a:t>t</a:t>
            </a:r>
            <a:r>
              <a:rPr sz="630" spc="9" dirty="0">
                <a:solidFill>
                  <a:srgbClr val="FFFFFF"/>
                </a:solidFill>
                <a:latin typeface="Arial"/>
                <a:cs typeface="Arial"/>
              </a:rPr>
              <a:t>e</a:t>
            </a:r>
            <a:endParaRPr sz="630">
              <a:latin typeface="Arial"/>
              <a:cs typeface="Arial"/>
            </a:endParaRPr>
          </a:p>
        </p:txBody>
      </p:sp>
      <p:sp>
        <p:nvSpPr>
          <p:cNvPr id="47" name="object 47"/>
          <p:cNvSpPr txBox="1"/>
          <p:nvPr/>
        </p:nvSpPr>
        <p:spPr>
          <a:xfrm>
            <a:off x="7721001" y="2200357"/>
            <a:ext cx="416973"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Service</a:t>
            </a:r>
            <a:r>
              <a:rPr sz="573" spc="-40" dirty="0">
                <a:latin typeface="Arial"/>
                <a:cs typeface="Arial"/>
              </a:rPr>
              <a:t> </a:t>
            </a:r>
            <a:r>
              <a:rPr sz="573" spc="-11" dirty="0">
                <a:latin typeface="Arial"/>
                <a:cs typeface="Arial"/>
              </a:rPr>
              <a:t>Test</a:t>
            </a:r>
            <a:endParaRPr sz="573">
              <a:latin typeface="Arial"/>
              <a:cs typeface="Arial"/>
            </a:endParaRPr>
          </a:p>
        </p:txBody>
      </p:sp>
      <p:sp>
        <p:nvSpPr>
          <p:cNvPr id="48" name="object 48"/>
          <p:cNvSpPr txBox="1"/>
          <p:nvPr/>
        </p:nvSpPr>
        <p:spPr>
          <a:xfrm>
            <a:off x="7603453" y="2357201"/>
            <a:ext cx="244143"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UI</a:t>
            </a:r>
            <a:r>
              <a:rPr sz="573" spc="-46" dirty="0">
                <a:latin typeface="Arial"/>
                <a:cs typeface="Arial"/>
              </a:rPr>
              <a:t> </a:t>
            </a:r>
            <a:r>
              <a:rPr sz="573" spc="-11" dirty="0">
                <a:latin typeface="Arial"/>
                <a:cs typeface="Arial"/>
              </a:rPr>
              <a:t>Test</a:t>
            </a:r>
            <a:endParaRPr sz="573">
              <a:latin typeface="Arial"/>
              <a:cs typeface="Arial"/>
            </a:endParaRPr>
          </a:p>
        </p:txBody>
      </p:sp>
      <p:sp>
        <p:nvSpPr>
          <p:cNvPr id="49" name="object 49"/>
          <p:cNvSpPr txBox="1"/>
          <p:nvPr/>
        </p:nvSpPr>
        <p:spPr>
          <a:xfrm>
            <a:off x="7378333" y="2511724"/>
            <a:ext cx="434437" cy="250952"/>
          </a:xfrm>
          <a:prstGeom prst="rect">
            <a:avLst/>
          </a:prstGeom>
        </p:spPr>
        <p:txBody>
          <a:bodyPr vert="horz" wrap="square" lIns="0" tIns="8368" rIns="0" bIns="0" rtlCol="0">
            <a:spAutoFit/>
          </a:bodyPr>
          <a:lstStyle/>
          <a:p>
            <a:pPr marL="45118">
              <a:spcBef>
                <a:spcPts val="65"/>
              </a:spcBef>
            </a:pPr>
            <a:r>
              <a:rPr sz="573" spc="3" dirty="0">
                <a:latin typeface="Arial"/>
                <a:cs typeface="Arial"/>
              </a:rPr>
              <a:t>Device</a:t>
            </a:r>
            <a:r>
              <a:rPr sz="573" spc="-40" dirty="0">
                <a:latin typeface="Arial"/>
                <a:cs typeface="Arial"/>
              </a:rPr>
              <a:t> </a:t>
            </a:r>
            <a:r>
              <a:rPr sz="573" spc="-11" dirty="0">
                <a:latin typeface="Arial"/>
                <a:cs typeface="Arial"/>
              </a:rPr>
              <a:t>Test</a:t>
            </a:r>
            <a:endParaRPr sz="573">
              <a:latin typeface="Arial"/>
              <a:cs typeface="Arial"/>
            </a:endParaRPr>
          </a:p>
          <a:p>
            <a:pPr>
              <a:spcBef>
                <a:spcPts val="26"/>
              </a:spcBef>
            </a:pPr>
            <a:endParaRPr sz="430">
              <a:latin typeface="Times New Roman"/>
              <a:cs typeface="Times New Roman"/>
            </a:endParaRPr>
          </a:p>
          <a:p>
            <a:pPr marL="7277"/>
            <a:r>
              <a:rPr sz="573" spc="3" dirty="0">
                <a:latin typeface="Arial"/>
                <a:cs typeface="Arial"/>
              </a:rPr>
              <a:t>Perf</a:t>
            </a:r>
            <a:r>
              <a:rPr sz="573" spc="-17" dirty="0">
                <a:latin typeface="Arial"/>
                <a:cs typeface="Arial"/>
              </a:rPr>
              <a:t> </a:t>
            </a:r>
            <a:r>
              <a:rPr sz="573" spc="-11" dirty="0">
                <a:latin typeface="Arial"/>
                <a:cs typeface="Arial"/>
              </a:rPr>
              <a:t>Test</a:t>
            </a:r>
            <a:endParaRPr sz="573">
              <a:latin typeface="Arial"/>
              <a:cs typeface="Arial"/>
            </a:endParaRPr>
          </a:p>
        </p:txBody>
      </p:sp>
      <p:sp>
        <p:nvSpPr>
          <p:cNvPr id="50" name="object 50"/>
          <p:cNvSpPr txBox="1"/>
          <p:nvPr/>
        </p:nvSpPr>
        <p:spPr>
          <a:xfrm>
            <a:off x="7256876" y="2821857"/>
            <a:ext cx="437712"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Security</a:t>
            </a:r>
            <a:r>
              <a:rPr sz="573" spc="-40" dirty="0">
                <a:latin typeface="Arial"/>
                <a:cs typeface="Arial"/>
              </a:rPr>
              <a:t> </a:t>
            </a:r>
            <a:r>
              <a:rPr sz="573" spc="-11" dirty="0">
                <a:latin typeface="Arial"/>
                <a:cs typeface="Arial"/>
              </a:rPr>
              <a:t>Test</a:t>
            </a:r>
            <a:endParaRPr sz="573">
              <a:latin typeface="Arial"/>
              <a:cs typeface="Arial"/>
            </a:endParaRPr>
          </a:p>
        </p:txBody>
      </p:sp>
      <p:sp>
        <p:nvSpPr>
          <p:cNvPr id="51" name="object 51"/>
          <p:cNvSpPr txBox="1"/>
          <p:nvPr/>
        </p:nvSpPr>
        <p:spPr>
          <a:xfrm>
            <a:off x="8196943" y="2761874"/>
            <a:ext cx="563240" cy="244793"/>
          </a:xfrm>
          <a:prstGeom prst="rect">
            <a:avLst/>
          </a:prstGeom>
        </p:spPr>
        <p:txBody>
          <a:bodyPr vert="horz" wrap="square" lIns="0" tIns="13826" rIns="0" bIns="0" rtlCol="0">
            <a:spAutoFit/>
          </a:bodyPr>
          <a:lstStyle/>
          <a:p>
            <a:pPr marL="109520" marR="2911" indent="-102607">
              <a:lnSpc>
                <a:spcPts val="905"/>
              </a:lnSpc>
              <a:spcBef>
                <a:spcPts val="109"/>
              </a:spcBef>
            </a:pPr>
            <a:r>
              <a:rPr sz="774" b="1" spc="3" dirty="0">
                <a:solidFill>
                  <a:srgbClr val="005493"/>
                </a:solidFill>
                <a:latin typeface="Arial"/>
                <a:cs typeface="Arial"/>
              </a:rPr>
              <a:t>C</a:t>
            </a:r>
            <a:r>
              <a:rPr sz="774" b="1" spc="-3" dirty="0">
                <a:solidFill>
                  <a:srgbClr val="005493"/>
                </a:solidFill>
                <a:latin typeface="Arial"/>
                <a:cs typeface="Arial"/>
              </a:rPr>
              <a:t>on</a:t>
            </a:r>
            <a:r>
              <a:rPr sz="774" b="1" dirty="0">
                <a:solidFill>
                  <a:srgbClr val="005493"/>
                </a:solidFill>
                <a:latin typeface="Arial"/>
                <a:cs typeface="Arial"/>
              </a:rPr>
              <a:t>t</a:t>
            </a:r>
            <a:r>
              <a:rPr sz="774" b="1" spc="-3" dirty="0">
                <a:solidFill>
                  <a:srgbClr val="005493"/>
                </a:solidFill>
                <a:latin typeface="Arial"/>
                <a:cs typeface="Arial"/>
              </a:rPr>
              <a:t>inuou</a:t>
            </a:r>
            <a:r>
              <a:rPr sz="774" b="1" dirty="0">
                <a:solidFill>
                  <a:srgbClr val="005493"/>
                </a:solidFill>
                <a:latin typeface="Arial"/>
                <a:cs typeface="Arial"/>
              </a:rPr>
              <a:t>s  </a:t>
            </a:r>
            <a:r>
              <a:rPr sz="774" b="1" spc="-9" dirty="0">
                <a:solidFill>
                  <a:srgbClr val="005493"/>
                </a:solidFill>
                <a:latin typeface="Arial"/>
                <a:cs typeface="Arial"/>
              </a:rPr>
              <a:t>Testing</a:t>
            </a:r>
            <a:endParaRPr sz="774">
              <a:latin typeface="Arial"/>
              <a:cs typeface="Arial"/>
            </a:endParaRPr>
          </a:p>
        </p:txBody>
      </p:sp>
      <p:sp>
        <p:nvSpPr>
          <p:cNvPr id="52" name="object 52"/>
          <p:cNvSpPr txBox="1"/>
          <p:nvPr/>
        </p:nvSpPr>
        <p:spPr>
          <a:xfrm>
            <a:off x="8138958" y="1854274"/>
            <a:ext cx="437712" cy="188527"/>
          </a:xfrm>
          <a:prstGeom prst="rect">
            <a:avLst/>
          </a:prstGeom>
        </p:spPr>
        <p:txBody>
          <a:bodyPr vert="horz" wrap="square" lIns="0" tIns="5094" rIns="0" bIns="0" rtlCol="0">
            <a:spAutoFit/>
          </a:bodyPr>
          <a:lstStyle/>
          <a:p>
            <a:pPr marL="7277" marR="2911" indent="87689">
              <a:lnSpc>
                <a:spcPct val="103600"/>
              </a:lnSpc>
              <a:spcBef>
                <a:spcPts val="40"/>
              </a:spcBef>
            </a:pPr>
            <a:r>
              <a:rPr sz="573" spc="3" dirty="0">
                <a:latin typeface="Arial"/>
                <a:cs typeface="Arial"/>
              </a:rPr>
              <a:t>Service  </a:t>
            </a:r>
            <a:r>
              <a:rPr sz="573" spc="-6" dirty="0">
                <a:latin typeface="Arial"/>
                <a:cs typeface="Arial"/>
              </a:rPr>
              <a:t>V</a:t>
            </a:r>
            <a:r>
              <a:rPr sz="573" spc="3" dirty="0">
                <a:latin typeface="Arial"/>
                <a:cs typeface="Arial"/>
              </a:rPr>
              <a:t>ir</a:t>
            </a:r>
            <a:r>
              <a:rPr sz="573" dirty="0">
                <a:latin typeface="Arial"/>
                <a:cs typeface="Arial"/>
              </a:rPr>
              <a:t>t</a:t>
            </a:r>
            <a:r>
              <a:rPr sz="573" spc="3" dirty="0">
                <a:latin typeface="Arial"/>
                <a:cs typeface="Arial"/>
              </a:rPr>
              <a:t>ualization</a:t>
            </a:r>
            <a:endParaRPr sz="573">
              <a:latin typeface="Arial"/>
              <a:cs typeface="Arial"/>
            </a:endParaRPr>
          </a:p>
        </p:txBody>
      </p:sp>
      <p:sp>
        <p:nvSpPr>
          <p:cNvPr id="53" name="object 53"/>
          <p:cNvSpPr txBox="1"/>
          <p:nvPr/>
        </p:nvSpPr>
        <p:spPr>
          <a:xfrm>
            <a:off x="7134472" y="2996361"/>
            <a:ext cx="557055" cy="96615"/>
          </a:xfrm>
          <a:prstGeom prst="rect">
            <a:avLst/>
          </a:prstGeom>
        </p:spPr>
        <p:txBody>
          <a:bodyPr vert="horz" wrap="square" lIns="0" tIns="8368" rIns="0" bIns="0" rtlCol="0">
            <a:spAutoFit/>
          </a:bodyPr>
          <a:lstStyle/>
          <a:p>
            <a:pPr marL="7277">
              <a:spcBef>
                <a:spcPts val="65"/>
              </a:spcBef>
            </a:pPr>
            <a:r>
              <a:rPr sz="573" spc="3" dirty="0">
                <a:latin typeface="Arial"/>
                <a:cs typeface="Arial"/>
              </a:rPr>
              <a:t>Acceptance</a:t>
            </a:r>
            <a:r>
              <a:rPr sz="573" spc="-32" dirty="0">
                <a:latin typeface="Arial"/>
                <a:cs typeface="Arial"/>
              </a:rPr>
              <a:t> </a:t>
            </a:r>
            <a:r>
              <a:rPr sz="573" spc="-11" dirty="0">
                <a:latin typeface="Arial"/>
                <a:cs typeface="Arial"/>
              </a:rPr>
              <a:t>Test</a:t>
            </a:r>
            <a:endParaRPr sz="573">
              <a:latin typeface="Arial"/>
              <a:cs typeface="Arial"/>
            </a:endParaRPr>
          </a:p>
        </p:txBody>
      </p:sp>
      <p:sp>
        <p:nvSpPr>
          <p:cNvPr id="54" name="object 54"/>
          <p:cNvSpPr/>
          <p:nvPr/>
        </p:nvSpPr>
        <p:spPr>
          <a:xfrm>
            <a:off x="4845287" y="3866833"/>
            <a:ext cx="467971" cy="287986"/>
          </a:xfrm>
          <a:prstGeom prst="rect">
            <a:avLst/>
          </a:prstGeom>
          <a:blipFill>
            <a:blip r:embed="rId8" cstate="print"/>
            <a:stretch>
              <a:fillRect/>
            </a:stretch>
          </a:blipFill>
        </p:spPr>
        <p:txBody>
          <a:bodyPr wrap="square" lIns="0" tIns="0" rIns="0" bIns="0" rtlCol="0"/>
          <a:lstStyle/>
          <a:p>
            <a:endParaRPr sz="1031"/>
          </a:p>
        </p:txBody>
      </p:sp>
      <p:sp>
        <p:nvSpPr>
          <p:cNvPr id="55" name="object 55"/>
          <p:cNvSpPr/>
          <p:nvPr/>
        </p:nvSpPr>
        <p:spPr>
          <a:xfrm>
            <a:off x="4847539" y="3866833"/>
            <a:ext cx="465728" cy="290353"/>
          </a:xfrm>
          <a:custGeom>
            <a:avLst/>
            <a:gdLst/>
            <a:ahLst/>
            <a:cxnLst/>
            <a:rect l="l" t="t" r="r" b="b"/>
            <a:pathLst>
              <a:path w="812800" h="506729">
                <a:moveTo>
                  <a:pt x="0" y="506527"/>
                </a:moveTo>
                <a:lnTo>
                  <a:pt x="362838" y="506527"/>
                </a:lnTo>
                <a:lnTo>
                  <a:pt x="412338" y="501902"/>
                </a:lnTo>
                <a:lnTo>
                  <a:pt x="459817" y="490677"/>
                </a:lnTo>
                <a:lnTo>
                  <a:pt x="504727" y="473290"/>
                </a:lnTo>
                <a:lnTo>
                  <a:pt x="546524" y="450181"/>
                </a:lnTo>
                <a:lnTo>
                  <a:pt x="584659" y="421787"/>
                </a:lnTo>
                <a:lnTo>
                  <a:pt x="618589" y="388550"/>
                </a:lnTo>
                <a:lnTo>
                  <a:pt x="647765" y="350906"/>
                </a:lnTo>
                <a:lnTo>
                  <a:pt x="671643" y="309296"/>
                </a:lnTo>
                <a:lnTo>
                  <a:pt x="689676" y="264158"/>
                </a:lnTo>
                <a:lnTo>
                  <a:pt x="701317" y="215931"/>
                </a:lnTo>
                <a:lnTo>
                  <a:pt x="719082" y="109251"/>
                </a:lnTo>
                <a:lnTo>
                  <a:pt x="812785" y="124841"/>
                </a:lnTo>
                <a:lnTo>
                  <a:pt x="640977" y="0"/>
                </a:lnTo>
                <a:lnTo>
                  <a:pt x="437975" y="62480"/>
                </a:lnTo>
                <a:lnTo>
                  <a:pt x="531678" y="78070"/>
                </a:lnTo>
                <a:lnTo>
                  <a:pt x="513912" y="184751"/>
                </a:lnTo>
                <a:lnTo>
                  <a:pt x="500668" y="226451"/>
                </a:lnTo>
                <a:lnTo>
                  <a:pt x="476988" y="262026"/>
                </a:lnTo>
                <a:lnTo>
                  <a:pt x="444823" y="290079"/>
                </a:lnTo>
                <a:lnTo>
                  <a:pt x="406123" y="309216"/>
                </a:lnTo>
                <a:lnTo>
                  <a:pt x="362838" y="318041"/>
                </a:lnTo>
                <a:lnTo>
                  <a:pt x="0" y="318041"/>
                </a:lnTo>
                <a:lnTo>
                  <a:pt x="0" y="506527"/>
                </a:lnTo>
                <a:close/>
              </a:path>
            </a:pathLst>
          </a:custGeom>
          <a:ln w="3175">
            <a:solidFill>
              <a:srgbClr val="000000"/>
            </a:solidFill>
          </a:ln>
        </p:spPr>
        <p:txBody>
          <a:bodyPr wrap="square" lIns="0" tIns="0" rIns="0" bIns="0" rtlCol="0"/>
          <a:lstStyle/>
          <a:p>
            <a:endParaRPr sz="1031"/>
          </a:p>
        </p:txBody>
      </p:sp>
      <p:sp>
        <p:nvSpPr>
          <p:cNvPr id="56" name="object 56"/>
          <p:cNvSpPr/>
          <p:nvPr/>
        </p:nvSpPr>
        <p:spPr>
          <a:xfrm>
            <a:off x="6621212" y="3866833"/>
            <a:ext cx="467968" cy="287986"/>
          </a:xfrm>
          <a:prstGeom prst="rect">
            <a:avLst/>
          </a:prstGeom>
          <a:blipFill>
            <a:blip r:embed="rId9" cstate="print"/>
            <a:stretch>
              <a:fillRect/>
            </a:stretch>
          </a:blipFill>
        </p:spPr>
        <p:txBody>
          <a:bodyPr wrap="square" lIns="0" tIns="0" rIns="0" bIns="0" rtlCol="0"/>
          <a:lstStyle/>
          <a:p>
            <a:endParaRPr sz="1031"/>
          </a:p>
        </p:txBody>
      </p:sp>
      <p:sp>
        <p:nvSpPr>
          <p:cNvPr id="57" name="object 57"/>
          <p:cNvSpPr/>
          <p:nvPr/>
        </p:nvSpPr>
        <p:spPr>
          <a:xfrm>
            <a:off x="6623462" y="3866832"/>
            <a:ext cx="465728" cy="290353"/>
          </a:xfrm>
          <a:custGeom>
            <a:avLst/>
            <a:gdLst/>
            <a:ahLst/>
            <a:cxnLst/>
            <a:rect l="l" t="t" r="r" b="b"/>
            <a:pathLst>
              <a:path w="812800" h="506729">
                <a:moveTo>
                  <a:pt x="0" y="506527"/>
                </a:moveTo>
                <a:lnTo>
                  <a:pt x="362838" y="506527"/>
                </a:lnTo>
                <a:lnTo>
                  <a:pt x="412338" y="501902"/>
                </a:lnTo>
                <a:lnTo>
                  <a:pt x="459817" y="490677"/>
                </a:lnTo>
                <a:lnTo>
                  <a:pt x="504727" y="473290"/>
                </a:lnTo>
                <a:lnTo>
                  <a:pt x="546524" y="450181"/>
                </a:lnTo>
                <a:lnTo>
                  <a:pt x="584659" y="421787"/>
                </a:lnTo>
                <a:lnTo>
                  <a:pt x="618589" y="388550"/>
                </a:lnTo>
                <a:lnTo>
                  <a:pt x="647765" y="350906"/>
                </a:lnTo>
                <a:lnTo>
                  <a:pt x="671643" y="309296"/>
                </a:lnTo>
                <a:lnTo>
                  <a:pt x="689676" y="264158"/>
                </a:lnTo>
                <a:lnTo>
                  <a:pt x="701317" y="215931"/>
                </a:lnTo>
                <a:lnTo>
                  <a:pt x="719082" y="109251"/>
                </a:lnTo>
                <a:lnTo>
                  <a:pt x="812785" y="124841"/>
                </a:lnTo>
                <a:lnTo>
                  <a:pt x="640977" y="0"/>
                </a:lnTo>
                <a:lnTo>
                  <a:pt x="437975" y="62480"/>
                </a:lnTo>
                <a:lnTo>
                  <a:pt x="531678" y="78070"/>
                </a:lnTo>
                <a:lnTo>
                  <a:pt x="513912" y="184751"/>
                </a:lnTo>
                <a:lnTo>
                  <a:pt x="500668" y="226451"/>
                </a:lnTo>
                <a:lnTo>
                  <a:pt x="476988" y="262026"/>
                </a:lnTo>
                <a:lnTo>
                  <a:pt x="444823" y="290079"/>
                </a:lnTo>
                <a:lnTo>
                  <a:pt x="406123" y="309216"/>
                </a:lnTo>
                <a:lnTo>
                  <a:pt x="362838" y="318041"/>
                </a:lnTo>
                <a:lnTo>
                  <a:pt x="0" y="318041"/>
                </a:lnTo>
                <a:lnTo>
                  <a:pt x="0" y="506527"/>
                </a:lnTo>
                <a:close/>
              </a:path>
            </a:pathLst>
          </a:custGeom>
          <a:ln w="3175">
            <a:solidFill>
              <a:srgbClr val="000000"/>
            </a:solidFill>
          </a:ln>
        </p:spPr>
        <p:txBody>
          <a:bodyPr wrap="square" lIns="0" tIns="0" rIns="0" bIns="0" rtlCol="0"/>
          <a:lstStyle/>
          <a:p>
            <a:endParaRPr sz="1031"/>
          </a:p>
        </p:txBody>
      </p:sp>
      <p:sp>
        <p:nvSpPr>
          <p:cNvPr id="58" name="object 58"/>
          <p:cNvSpPr/>
          <p:nvPr/>
        </p:nvSpPr>
        <p:spPr>
          <a:xfrm>
            <a:off x="5073216" y="1040817"/>
            <a:ext cx="1814667" cy="591111"/>
          </a:xfrm>
          <a:prstGeom prst="rect">
            <a:avLst/>
          </a:prstGeom>
          <a:blipFill>
            <a:blip r:embed="rId10" cstate="print"/>
            <a:stretch>
              <a:fillRect/>
            </a:stretch>
          </a:blipFill>
        </p:spPr>
        <p:txBody>
          <a:bodyPr wrap="square" lIns="0" tIns="0" rIns="0" bIns="0" rtlCol="0"/>
          <a:lstStyle/>
          <a:p>
            <a:endParaRPr sz="1031"/>
          </a:p>
        </p:txBody>
      </p:sp>
      <p:sp>
        <p:nvSpPr>
          <p:cNvPr id="59" name="object 59"/>
          <p:cNvSpPr/>
          <p:nvPr/>
        </p:nvSpPr>
        <p:spPr>
          <a:xfrm>
            <a:off x="5049852" y="1017483"/>
            <a:ext cx="1728996" cy="497778"/>
          </a:xfrm>
          <a:prstGeom prst="rect">
            <a:avLst/>
          </a:prstGeom>
          <a:blipFill>
            <a:blip r:embed="rId11" cstate="print"/>
            <a:stretch>
              <a:fillRect/>
            </a:stretch>
          </a:blipFill>
        </p:spPr>
        <p:txBody>
          <a:bodyPr wrap="square" lIns="0" tIns="0" rIns="0" bIns="0" rtlCol="0"/>
          <a:lstStyle/>
          <a:p>
            <a:endParaRPr sz="1031"/>
          </a:p>
        </p:txBody>
      </p:sp>
      <p:sp>
        <p:nvSpPr>
          <p:cNvPr id="60" name="object 60"/>
          <p:cNvSpPr/>
          <p:nvPr/>
        </p:nvSpPr>
        <p:spPr>
          <a:xfrm>
            <a:off x="5053746" y="1021373"/>
            <a:ext cx="1721376" cy="498111"/>
          </a:xfrm>
          <a:custGeom>
            <a:avLst/>
            <a:gdLst/>
            <a:ahLst/>
            <a:cxnLst/>
            <a:rect l="l" t="t" r="r" b="b"/>
            <a:pathLst>
              <a:path w="3004184" h="869314">
                <a:moveTo>
                  <a:pt x="2881560" y="868734"/>
                </a:moveTo>
                <a:lnTo>
                  <a:pt x="2949305" y="834572"/>
                </a:lnTo>
                <a:lnTo>
                  <a:pt x="2975786" y="801183"/>
                </a:lnTo>
                <a:lnTo>
                  <a:pt x="2994653" y="759771"/>
                </a:lnTo>
                <a:lnTo>
                  <a:pt x="3003890" y="712470"/>
                </a:lnTo>
                <a:lnTo>
                  <a:pt x="3003890" y="142738"/>
                </a:lnTo>
                <a:lnTo>
                  <a:pt x="2994603" y="95546"/>
                </a:lnTo>
                <a:lnTo>
                  <a:pt x="2975386" y="54891"/>
                </a:lnTo>
                <a:lnTo>
                  <a:pt x="2947954" y="23557"/>
                </a:lnTo>
                <a:lnTo>
                  <a:pt x="2914023" y="4332"/>
                </a:lnTo>
                <a:lnTo>
                  <a:pt x="2875308" y="0"/>
                </a:lnTo>
                <a:lnTo>
                  <a:pt x="115534" y="0"/>
                </a:lnTo>
                <a:lnTo>
                  <a:pt x="76923" y="4332"/>
                </a:lnTo>
                <a:lnTo>
                  <a:pt x="43722" y="23557"/>
                </a:lnTo>
                <a:lnTo>
                  <a:pt x="18274" y="54891"/>
                </a:lnTo>
                <a:lnTo>
                  <a:pt x="2920" y="95546"/>
                </a:lnTo>
                <a:lnTo>
                  <a:pt x="0" y="142738"/>
                </a:lnTo>
                <a:lnTo>
                  <a:pt x="0" y="712470"/>
                </a:lnTo>
                <a:lnTo>
                  <a:pt x="2920" y="759771"/>
                </a:lnTo>
                <a:lnTo>
                  <a:pt x="18274" y="801183"/>
                </a:lnTo>
                <a:lnTo>
                  <a:pt x="43722" y="834572"/>
                </a:lnTo>
                <a:lnTo>
                  <a:pt x="76923" y="857801"/>
                </a:lnTo>
                <a:lnTo>
                  <a:pt x="115534" y="868734"/>
                </a:lnTo>
                <a:lnTo>
                  <a:pt x="2881560" y="868734"/>
                </a:lnTo>
                <a:close/>
              </a:path>
            </a:pathLst>
          </a:custGeom>
          <a:ln w="3258">
            <a:solidFill>
              <a:srgbClr val="000000"/>
            </a:solidFill>
          </a:ln>
        </p:spPr>
        <p:txBody>
          <a:bodyPr wrap="square" lIns="0" tIns="0" rIns="0" bIns="0" rtlCol="0"/>
          <a:lstStyle/>
          <a:p>
            <a:endParaRPr sz="1031"/>
          </a:p>
        </p:txBody>
      </p:sp>
      <p:sp>
        <p:nvSpPr>
          <p:cNvPr id="61" name="object 61"/>
          <p:cNvSpPr txBox="1"/>
          <p:nvPr/>
        </p:nvSpPr>
        <p:spPr>
          <a:xfrm>
            <a:off x="5204877" y="1033568"/>
            <a:ext cx="1411739" cy="119711"/>
          </a:xfrm>
          <a:prstGeom prst="rect">
            <a:avLst/>
          </a:prstGeom>
        </p:spPr>
        <p:txBody>
          <a:bodyPr vert="horz" wrap="square" lIns="0" tIns="9460" rIns="0" bIns="0" rtlCol="0">
            <a:spAutoFit/>
          </a:bodyPr>
          <a:lstStyle/>
          <a:p>
            <a:pPr marL="7277">
              <a:spcBef>
                <a:spcPts val="74"/>
              </a:spcBef>
            </a:pPr>
            <a:r>
              <a:rPr sz="716" b="1" u="heavy" spc="6" dirty="0">
                <a:solidFill>
                  <a:srgbClr val="005493"/>
                </a:solidFill>
                <a:uFill>
                  <a:solidFill>
                    <a:srgbClr val="005493"/>
                  </a:solidFill>
                </a:uFill>
                <a:latin typeface="Arial"/>
                <a:cs typeface="Arial"/>
              </a:rPr>
              <a:t>Infrastructure </a:t>
            </a:r>
            <a:r>
              <a:rPr sz="716" b="1" u="heavy" spc="9" dirty="0">
                <a:solidFill>
                  <a:srgbClr val="005493"/>
                </a:solidFill>
                <a:uFill>
                  <a:solidFill>
                    <a:srgbClr val="005493"/>
                  </a:solidFill>
                </a:uFill>
                <a:latin typeface="Arial"/>
                <a:cs typeface="Arial"/>
              </a:rPr>
              <a:t>and</a:t>
            </a:r>
            <a:r>
              <a:rPr sz="716" b="1" u="heavy" dirty="0">
                <a:solidFill>
                  <a:srgbClr val="005493"/>
                </a:solidFill>
                <a:uFill>
                  <a:solidFill>
                    <a:srgbClr val="005493"/>
                  </a:solidFill>
                </a:uFill>
                <a:latin typeface="Arial"/>
                <a:cs typeface="Arial"/>
              </a:rPr>
              <a:t> </a:t>
            </a:r>
            <a:r>
              <a:rPr sz="716" b="1" u="heavy" spc="9" dirty="0">
                <a:solidFill>
                  <a:srgbClr val="005493"/>
                </a:solidFill>
                <a:uFill>
                  <a:solidFill>
                    <a:srgbClr val="005493"/>
                  </a:solidFill>
                </a:uFill>
                <a:latin typeface="Arial"/>
                <a:cs typeface="Arial"/>
              </a:rPr>
              <a:t>Environment</a:t>
            </a:r>
            <a:endParaRPr sz="716">
              <a:latin typeface="Arial"/>
              <a:cs typeface="Arial"/>
            </a:endParaRPr>
          </a:p>
        </p:txBody>
      </p:sp>
      <p:sp>
        <p:nvSpPr>
          <p:cNvPr id="62" name="object 62"/>
          <p:cNvSpPr/>
          <p:nvPr/>
        </p:nvSpPr>
        <p:spPr>
          <a:xfrm>
            <a:off x="5746106" y="1204776"/>
            <a:ext cx="473879" cy="260283"/>
          </a:xfrm>
          <a:prstGeom prst="rect">
            <a:avLst/>
          </a:prstGeom>
          <a:blipFill>
            <a:blip r:embed="rId12" cstate="print"/>
            <a:stretch>
              <a:fillRect/>
            </a:stretch>
          </a:blipFill>
        </p:spPr>
        <p:txBody>
          <a:bodyPr wrap="square" lIns="0" tIns="0" rIns="0" bIns="0" rtlCol="0"/>
          <a:lstStyle/>
          <a:p>
            <a:endParaRPr sz="1031"/>
          </a:p>
        </p:txBody>
      </p:sp>
      <p:sp>
        <p:nvSpPr>
          <p:cNvPr id="63" name="object 63"/>
          <p:cNvSpPr/>
          <p:nvPr/>
        </p:nvSpPr>
        <p:spPr>
          <a:xfrm>
            <a:off x="2347156" y="4332747"/>
            <a:ext cx="7449204" cy="653037"/>
          </a:xfrm>
          <a:prstGeom prst="rect">
            <a:avLst/>
          </a:prstGeom>
          <a:blipFill>
            <a:blip r:embed="rId13" cstate="print"/>
            <a:stretch>
              <a:fillRect/>
            </a:stretch>
          </a:blipFill>
        </p:spPr>
        <p:txBody>
          <a:bodyPr wrap="square" lIns="0" tIns="0" rIns="0" bIns="0" rtlCol="0"/>
          <a:lstStyle/>
          <a:p>
            <a:endParaRPr sz="1031"/>
          </a:p>
        </p:txBody>
      </p:sp>
      <p:sp>
        <p:nvSpPr>
          <p:cNvPr id="64" name="object 64"/>
          <p:cNvSpPr/>
          <p:nvPr/>
        </p:nvSpPr>
        <p:spPr>
          <a:xfrm>
            <a:off x="2321498" y="4306969"/>
            <a:ext cx="7355124" cy="549926"/>
          </a:xfrm>
          <a:prstGeom prst="rect">
            <a:avLst/>
          </a:prstGeom>
          <a:blipFill>
            <a:blip r:embed="rId14" cstate="print"/>
            <a:stretch>
              <a:fillRect/>
            </a:stretch>
          </a:blipFill>
        </p:spPr>
        <p:txBody>
          <a:bodyPr wrap="square" lIns="0" tIns="0" rIns="0" bIns="0" rtlCol="0"/>
          <a:lstStyle/>
          <a:p>
            <a:endParaRPr sz="1031"/>
          </a:p>
        </p:txBody>
      </p:sp>
      <p:sp>
        <p:nvSpPr>
          <p:cNvPr id="65" name="object 65"/>
          <p:cNvSpPr/>
          <p:nvPr/>
        </p:nvSpPr>
        <p:spPr>
          <a:xfrm>
            <a:off x="2325774" y="4311264"/>
            <a:ext cx="7346867" cy="550141"/>
          </a:xfrm>
          <a:custGeom>
            <a:avLst/>
            <a:gdLst/>
            <a:ahLst/>
            <a:cxnLst/>
            <a:rect l="l" t="t" r="r" b="b"/>
            <a:pathLst>
              <a:path w="12821919" h="960120">
                <a:moveTo>
                  <a:pt x="12687079" y="959744"/>
                </a:moveTo>
                <a:lnTo>
                  <a:pt x="12743413" y="928744"/>
                </a:lnTo>
                <a:lnTo>
                  <a:pt x="12767807" y="896943"/>
                </a:lnTo>
                <a:lnTo>
                  <a:pt x="12788611" y="856165"/>
                </a:lnTo>
                <a:lnTo>
                  <a:pt x="12805017" y="807827"/>
                </a:lnTo>
                <a:lnTo>
                  <a:pt x="12816220" y="753349"/>
                </a:lnTo>
                <a:lnTo>
                  <a:pt x="12821412" y="694148"/>
                </a:lnTo>
                <a:lnTo>
                  <a:pt x="12821412" y="250653"/>
                </a:lnTo>
                <a:lnTo>
                  <a:pt x="12816207" y="191496"/>
                </a:lnTo>
                <a:lnTo>
                  <a:pt x="12804912" y="137322"/>
                </a:lnTo>
                <a:lnTo>
                  <a:pt x="12788258" y="89813"/>
                </a:lnTo>
                <a:lnTo>
                  <a:pt x="12766972" y="50646"/>
                </a:lnTo>
                <a:lnTo>
                  <a:pt x="12741781" y="21502"/>
                </a:lnTo>
                <a:lnTo>
                  <a:pt x="12682601" y="0"/>
                </a:lnTo>
                <a:lnTo>
                  <a:pt x="126870" y="0"/>
                </a:lnTo>
                <a:lnTo>
                  <a:pt x="67968" y="21502"/>
                </a:lnTo>
                <a:lnTo>
                  <a:pt x="23441" y="89813"/>
                </a:lnTo>
                <a:lnTo>
                  <a:pt x="8910" y="137322"/>
                </a:lnTo>
                <a:lnTo>
                  <a:pt x="784" y="191496"/>
                </a:lnTo>
                <a:lnTo>
                  <a:pt x="0" y="250653"/>
                </a:lnTo>
                <a:lnTo>
                  <a:pt x="0" y="694148"/>
                </a:lnTo>
                <a:lnTo>
                  <a:pt x="784" y="753349"/>
                </a:lnTo>
                <a:lnTo>
                  <a:pt x="8910" y="807827"/>
                </a:lnTo>
                <a:lnTo>
                  <a:pt x="23441" y="856165"/>
                </a:lnTo>
                <a:lnTo>
                  <a:pt x="43439" y="896943"/>
                </a:lnTo>
                <a:lnTo>
                  <a:pt x="67968" y="928744"/>
                </a:lnTo>
                <a:lnTo>
                  <a:pt x="126870" y="959744"/>
                </a:lnTo>
                <a:lnTo>
                  <a:pt x="12687079" y="959744"/>
                </a:lnTo>
                <a:close/>
              </a:path>
            </a:pathLst>
          </a:custGeom>
          <a:ln w="3598">
            <a:solidFill>
              <a:srgbClr val="000000"/>
            </a:solidFill>
          </a:ln>
        </p:spPr>
        <p:txBody>
          <a:bodyPr wrap="square" lIns="0" tIns="0" rIns="0" bIns="0" rtlCol="0"/>
          <a:lstStyle/>
          <a:p>
            <a:endParaRPr sz="1031"/>
          </a:p>
        </p:txBody>
      </p:sp>
      <p:sp>
        <p:nvSpPr>
          <p:cNvPr id="66" name="object 66"/>
          <p:cNvSpPr txBox="1"/>
          <p:nvPr/>
        </p:nvSpPr>
        <p:spPr>
          <a:xfrm>
            <a:off x="4184833" y="4411410"/>
            <a:ext cx="3622130" cy="330397"/>
          </a:xfrm>
          <a:prstGeom prst="rect">
            <a:avLst/>
          </a:prstGeom>
        </p:spPr>
        <p:txBody>
          <a:bodyPr vert="horz" wrap="square" lIns="0" tIns="8368" rIns="0" bIns="0" rtlCol="0">
            <a:spAutoFit/>
          </a:bodyPr>
          <a:lstStyle/>
          <a:p>
            <a:pPr algn="ctr">
              <a:spcBef>
                <a:spcPts val="65"/>
              </a:spcBef>
            </a:pPr>
            <a:r>
              <a:rPr sz="802" b="1" u="heavy" spc="3" dirty="0">
                <a:solidFill>
                  <a:srgbClr val="005493"/>
                </a:solidFill>
                <a:uFill>
                  <a:solidFill>
                    <a:srgbClr val="005493"/>
                  </a:solidFill>
                </a:uFill>
                <a:latin typeface="Arial"/>
                <a:cs typeface="Arial"/>
              </a:rPr>
              <a:t>Dashboard/Feedback</a:t>
            </a:r>
            <a:endParaRPr sz="802">
              <a:latin typeface="Arial"/>
              <a:cs typeface="Arial"/>
            </a:endParaRPr>
          </a:p>
          <a:p>
            <a:pPr>
              <a:spcBef>
                <a:spcPts val="3"/>
              </a:spcBef>
            </a:pPr>
            <a:endParaRPr sz="688">
              <a:latin typeface="Times New Roman"/>
              <a:cs typeface="Times New Roman"/>
            </a:endParaRPr>
          </a:p>
          <a:p>
            <a:pPr algn="ctr">
              <a:lnSpc>
                <a:spcPct val="100000"/>
              </a:lnSpc>
            </a:pPr>
            <a:r>
              <a:rPr sz="602" dirty="0">
                <a:latin typeface="Arial"/>
                <a:cs typeface="Arial"/>
              </a:rPr>
              <a:t>End to End </a:t>
            </a:r>
            <a:r>
              <a:rPr sz="602" spc="-6" dirty="0">
                <a:latin typeface="Arial"/>
                <a:cs typeface="Arial"/>
              </a:rPr>
              <a:t>Traceability, </a:t>
            </a:r>
            <a:r>
              <a:rPr sz="602" dirty="0">
                <a:latin typeface="Arial"/>
                <a:cs typeface="Arial"/>
              </a:rPr>
              <a:t>Real time status of Code, Build, </a:t>
            </a:r>
            <a:r>
              <a:rPr sz="602" spc="-6" dirty="0">
                <a:latin typeface="Arial"/>
                <a:cs typeface="Arial"/>
              </a:rPr>
              <a:t>Deploy, </a:t>
            </a:r>
            <a:r>
              <a:rPr sz="602" spc="-14" dirty="0">
                <a:latin typeface="Arial"/>
                <a:cs typeface="Arial"/>
              </a:rPr>
              <a:t>Test, </a:t>
            </a:r>
            <a:r>
              <a:rPr sz="602" dirty="0">
                <a:latin typeface="Arial"/>
                <a:cs typeface="Arial"/>
              </a:rPr>
              <a:t>Application and Environment</a:t>
            </a:r>
            <a:r>
              <a:rPr sz="602" spc="95" dirty="0">
                <a:latin typeface="Arial"/>
                <a:cs typeface="Arial"/>
              </a:rPr>
              <a:t> </a:t>
            </a:r>
            <a:r>
              <a:rPr sz="602" dirty="0">
                <a:latin typeface="Arial"/>
                <a:cs typeface="Arial"/>
              </a:rPr>
              <a:t>Health</a:t>
            </a:r>
            <a:endParaRPr sz="602">
              <a:latin typeface="Arial"/>
              <a:cs typeface="Arial"/>
            </a:endParaRPr>
          </a:p>
        </p:txBody>
      </p:sp>
      <p:sp>
        <p:nvSpPr>
          <p:cNvPr id="67" name="object 67"/>
          <p:cNvSpPr/>
          <p:nvPr/>
        </p:nvSpPr>
        <p:spPr>
          <a:xfrm>
            <a:off x="3575836" y="4055688"/>
            <a:ext cx="315094" cy="320188"/>
          </a:xfrm>
          <a:custGeom>
            <a:avLst/>
            <a:gdLst/>
            <a:ahLst/>
            <a:cxnLst/>
            <a:rect l="l" t="t" r="r" b="b"/>
            <a:pathLst>
              <a:path w="549909" h="558800">
                <a:moveTo>
                  <a:pt x="405258" y="0"/>
                </a:moveTo>
                <a:lnTo>
                  <a:pt x="130475" y="4456"/>
                </a:lnTo>
                <a:lnTo>
                  <a:pt x="137391" y="424498"/>
                </a:lnTo>
                <a:lnTo>
                  <a:pt x="0" y="426725"/>
                </a:lnTo>
                <a:lnTo>
                  <a:pt x="277028" y="558622"/>
                </a:lnTo>
                <a:lnTo>
                  <a:pt x="545252" y="420041"/>
                </a:lnTo>
                <a:lnTo>
                  <a:pt x="412173" y="420041"/>
                </a:lnTo>
                <a:lnTo>
                  <a:pt x="405258" y="0"/>
                </a:lnTo>
                <a:close/>
              </a:path>
              <a:path w="549909" h="558800">
                <a:moveTo>
                  <a:pt x="549565" y="417813"/>
                </a:moveTo>
                <a:lnTo>
                  <a:pt x="412173" y="420041"/>
                </a:lnTo>
                <a:lnTo>
                  <a:pt x="545252" y="420041"/>
                </a:lnTo>
                <a:lnTo>
                  <a:pt x="549565" y="417813"/>
                </a:lnTo>
                <a:close/>
              </a:path>
            </a:pathLst>
          </a:custGeom>
          <a:solidFill>
            <a:srgbClr val="AA7942"/>
          </a:solidFill>
        </p:spPr>
        <p:txBody>
          <a:bodyPr wrap="square" lIns="0" tIns="0" rIns="0" bIns="0" rtlCol="0"/>
          <a:lstStyle/>
          <a:p>
            <a:endParaRPr sz="1031"/>
          </a:p>
        </p:txBody>
      </p:sp>
      <p:sp>
        <p:nvSpPr>
          <p:cNvPr id="68" name="object 68"/>
          <p:cNvSpPr/>
          <p:nvPr/>
        </p:nvSpPr>
        <p:spPr>
          <a:xfrm>
            <a:off x="3575836" y="4055688"/>
            <a:ext cx="315094" cy="320188"/>
          </a:xfrm>
          <a:custGeom>
            <a:avLst/>
            <a:gdLst/>
            <a:ahLst/>
            <a:cxnLst/>
            <a:rect l="l" t="t" r="r" b="b"/>
            <a:pathLst>
              <a:path w="549909" h="558800">
                <a:moveTo>
                  <a:pt x="405258" y="0"/>
                </a:moveTo>
                <a:lnTo>
                  <a:pt x="130475" y="4456"/>
                </a:lnTo>
                <a:lnTo>
                  <a:pt x="137391" y="424498"/>
                </a:lnTo>
                <a:lnTo>
                  <a:pt x="0" y="426725"/>
                </a:lnTo>
                <a:lnTo>
                  <a:pt x="277028" y="558622"/>
                </a:lnTo>
                <a:lnTo>
                  <a:pt x="545252" y="420041"/>
                </a:lnTo>
                <a:lnTo>
                  <a:pt x="412173" y="420041"/>
                </a:lnTo>
                <a:lnTo>
                  <a:pt x="405258" y="0"/>
                </a:lnTo>
                <a:close/>
              </a:path>
              <a:path w="549909" h="558800">
                <a:moveTo>
                  <a:pt x="549565" y="417813"/>
                </a:moveTo>
                <a:lnTo>
                  <a:pt x="412173" y="420041"/>
                </a:lnTo>
                <a:lnTo>
                  <a:pt x="545252" y="420041"/>
                </a:lnTo>
                <a:lnTo>
                  <a:pt x="549565" y="417813"/>
                </a:lnTo>
                <a:close/>
              </a:path>
            </a:pathLst>
          </a:custGeom>
          <a:solidFill>
            <a:srgbClr val="AA7942"/>
          </a:solidFill>
        </p:spPr>
        <p:txBody>
          <a:bodyPr wrap="square" lIns="0" tIns="0" rIns="0" bIns="0" rtlCol="0"/>
          <a:lstStyle/>
          <a:p>
            <a:endParaRPr sz="1031"/>
          </a:p>
        </p:txBody>
      </p:sp>
      <p:sp>
        <p:nvSpPr>
          <p:cNvPr id="69" name="object 69"/>
          <p:cNvSpPr/>
          <p:nvPr/>
        </p:nvSpPr>
        <p:spPr>
          <a:xfrm>
            <a:off x="3575836" y="4055690"/>
            <a:ext cx="315094" cy="320188"/>
          </a:xfrm>
          <a:custGeom>
            <a:avLst/>
            <a:gdLst/>
            <a:ahLst/>
            <a:cxnLst/>
            <a:rect l="l" t="t" r="r" b="b"/>
            <a:pathLst>
              <a:path w="549909" h="558800">
                <a:moveTo>
                  <a:pt x="130475" y="4454"/>
                </a:moveTo>
                <a:lnTo>
                  <a:pt x="137391" y="424496"/>
                </a:lnTo>
                <a:lnTo>
                  <a:pt x="0" y="426725"/>
                </a:lnTo>
                <a:lnTo>
                  <a:pt x="277027" y="558622"/>
                </a:lnTo>
                <a:lnTo>
                  <a:pt x="549565" y="417812"/>
                </a:lnTo>
                <a:lnTo>
                  <a:pt x="412174" y="420041"/>
                </a:lnTo>
                <a:lnTo>
                  <a:pt x="405257" y="0"/>
                </a:lnTo>
                <a:lnTo>
                  <a:pt x="130475" y="4454"/>
                </a:lnTo>
                <a:close/>
              </a:path>
            </a:pathLst>
          </a:custGeom>
          <a:ln w="3650">
            <a:solidFill>
              <a:srgbClr val="A78450"/>
            </a:solidFill>
          </a:ln>
        </p:spPr>
        <p:txBody>
          <a:bodyPr wrap="square" lIns="0" tIns="0" rIns="0" bIns="0" rtlCol="0"/>
          <a:lstStyle/>
          <a:p>
            <a:endParaRPr sz="1031"/>
          </a:p>
        </p:txBody>
      </p:sp>
      <p:sp>
        <p:nvSpPr>
          <p:cNvPr id="70" name="object 70"/>
          <p:cNvSpPr/>
          <p:nvPr/>
        </p:nvSpPr>
        <p:spPr>
          <a:xfrm>
            <a:off x="5861772" y="4043190"/>
            <a:ext cx="315094" cy="321280"/>
          </a:xfrm>
          <a:custGeom>
            <a:avLst/>
            <a:gdLst/>
            <a:ahLst/>
            <a:cxnLst/>
            <a:rect l="l" t="t" r="r" b="b"/>
            <a:pathLst>
              <a:path w="549909" h="560704">
                <a:moveTo>
                  <a:pt x="405254" y="0"/>
                </a:moveTo>
                <a:lnTo>
                  <a:pt x="130467" y="4440"/>
                </a:lnTo>
                <a:lnTo>
                  <a:pt x="137391" y="426337"/>
                </a:lnTo>
                <a:lnTo>
                  <a:pt x="0" y="428557"/>
                </a:lnTo>
                <a:lnTo>
                  <a:pt x="277017" y="560469"/>
                </a:lnTo>
                <a:lnTo>
                  <a:pt x="545267" y="421896"/>
                </a:lnTo>
                <a:lnTo>
                  <a:pt x="412175" y="421896"/>
                </a:lnTo>
                <a:lnTo>
                  <a:pt x="405254" y="0"/>
                </a:lnTo>
                <a:close/>
              </a:path>
              <a:path w="549909" h="560704">
                <a:moveTo>
                  <a:pt x="549564" y="419676"/>
                </a:moveTo>
                <a:lnTo>
                  <a:pt x="412175" y="421896"/>
                </a:lnTo>
                <a:lnTo>
                  <a:pt x="545267" y="421896"/>
                </a:lnTo>
                <a:lnTo>
                  <a:pt x="549564" y="419676"/>
                </a:lnTo>
                <a:close/>
              </a:path>
            </a:pathLst>
          </a:custGeom>
          <a:solidFill>
            <a:srgbClr val="AA7942"/>
          </a:solidFill>
        </p:spPr>
        <p:txBody>
          <a:bodyPr wrap="square" lIns="0" tIns="0" rIns="0" bIns="0" rtlCol="0"/>
          <a:lstStyle/>
          <a:p>
            <a:endParaRPr sz="1031"/>
          </a:p>
        </p:txBody>
      </p:sp>
      <p:sp>
        <p:nvSpPr>
          <p:cNvPr id="71" name="object 71"/>
          <p:cNvSpPr/>
          <p:nvPr/>
        </p:nvSpPr>
        <p:spPr>
          <a:xfrm>
            <a:off x="5861772" y="4043190"/>
            <a:ext cx="315094" cy="321280"/>
          </a:xfrm>
          <a:custGeom>
            <a:avLst/>
            <a:gdLst/>
            <a:ahLst/>
            <a:cxnLst/>
            <a:rect l="l" t="t" r="r" b="b"/>
            <a:pathLst>
              <a:path w="549909" h="560704">
                <a:moveTo>
                  <a:pt x="405254" y="0"/>
                </a:moveTo>
                <a:lnTo>
                  <a:pt x="130467" y="4440"/>
                </a:lnTo>
                <a:lnTo>
                  <a:pt x="137391" y="426337"/>
                </a:lnTo>
                <a:lnTo>
                  <a:pt x="0" y="428557"/>
                </a:lnTo>
                <a:lnTo>
                  <a:pt x="277017" y="560469"/>
                </a:lnTo>
                <a:lnTo>
                  <a:pt x="545267" y="421896"/>
                </a:lnTo>
                <a:lnTo>
                  <a:pt x="412175" y="421896"/>
                </a:lnTo>
                <a:lnTo>
                  <a:pt x="405254" y="0"/>
                </a:lnTo>
                <a:close/>
              </a:path>
              <a:path w="549909" h="560704">
                <a:moveTo>
                  <a:pt x="549564" y="419676"/>
                </a:moveTo>
                <a:lnTo>
                  <a:pt x="412175" y="421896"/>
                </a:lnTo>
                <a:lnTo>
                  <a:pt x="545267" y="421896"/>
                </a:lnTo>
                <a:lnTo>
                  <a:pt x="549564" y="419676"/>
                </a:lnTo>
                <a:close/>
              </a:path>
            </a:pathLst>
          </a:custGeom>
          <a:solidFill>
            <a:srgbClr val="AA7942"/>
          </a:solidFill>
        </p:spPr>
        <p:txBody>
          <a:bodyPr wrap="square" lIns="0" tIns="0" rIns="0" bIns="0" rtlCol="0"/>
          <a:lstStyle/>
          <a:p>
            <a:endParaRPr sz="1031"/>
          </a:p>
        </p:txBody>
      </p:sp>
      <p:sp>
        <p:nvSpPr>
          <p:cNvPr id="72" name="object 72"/>
          <p:cNvSpPr/>
          <p:nvPr/>
        </p:nvSpPr>
        <p:spPr>
          <a:xfrm>
            <a:off x="5861772" y="4043191"/>
            <a:ext cx="315094" cy="321280"/>
          </a:xfrm>
          <a:custGeom>
            <a:avLst/>
            <a:gdLst/>
            <a:ahLst/>
            <a:cxnLst/>
            <a:rect l="l" t="t" r="r" b="b"/>
            <a:pathLst>
              <a:path w="549909" h="560704">
                <a:moveTo>
                  <a:pt x="130468" y="4441"/>
                </a:moveTo>
                <a:lnTo>
                  <a:pt x="137391" y="426339"/>
                </a:lnTo>
                <a:lnTo>
                  <a:pt x="0" y="428558"/>
                </a:lnTo>
                <a:lnTo>
                  <a:pt x="277020" y="560470"/>
                </a:lnTo>
                <a:lnTo>
                  <a:pt x="549567" y="419676"/>
                </a:lnTo>
                <a:lnTo>
                  <a:pt x="412175" y="421897"/>
                </a:lnTo>
                <a:lnTo>
                  <a:pt x="405251" y="0"/>
                </a:lnTo>
                <a:lnTo>
                  <a:pt x="130468" y="4441"/>
                </a:lnTo>
                <a:close/>
              </a:path>
            </a:pathLst>
          </a:custGeom>
          <a:ln w="3650">
            <a:solidFill>
              <a:srgbClr val="A78450"/>
            </a:solidFill>
          </a:ln>
        </p:spPr>
        <p:txBody>
          <a:bodyPr wrap="square" lIns="0" tIns="0" rIns="0" bIns="0" rtlCol="0"/>
          <a:lstStyle/>
          <a:p>
            <a:endParaRPr sz="1031"/>
          </a:p>
        </p:txBody>
      </p:sp>
      <p:sp>
        <p:nvSpPr>
          <p:cNvPr id="73" name="object 73"/>
          <p:cNvSpPr/>
          <p:nvPr/>
        </p:nvSpPr>
        <p:spPr>
          <a:xfrm>
            <a:off x="8253730" y="4072358"/>
            <a:ext cx="315094" cy="320188"/>
          </a:xfrm>
          <a:custGeom>
            <a:avLst/>
            <a:gdLst/>
            <a:ahLst/>
            <a:cxnLst/>
            <a:rect l="l" t="t" r="r" b="b"/>
            <a:pathLst>
              <a:path w="549909" h="558800">
                <a:moveTo>
                  <a:pt x="405254" y="0"/>
                </a:moveTo>
                <a:lnTo>
                  <a:pt x="130467" y="4456"/>
                </a:lnTo>
                <a:lnTo>
                  <a:pt x="137388" y="424498"/>
                </a:lnTo>
                <a:lnTo>
                  <a:pt x="0" y="426726"/>
                </a:lnTo>
                <a:lnTo>
                  <a:pt x="277028" y="558622"/>
                </a:lnTo>
                <a:lnTo>
                  <a:pt x="545251" y="420041"/>
                </a:lnTo>
                <a:lnTo>
                  <a:pt x="412175" y="420041"/>
                </a:lnTo>
                <a:lnTo>
                  <a:pt x="405254" y="0"/>
                </a:lnTo>
                <a:close/>
              </a:path>
              <a:path w="549909" h="558800">
                <a:moveTo>
                  <a:pt x="549564" y="417813"/>
                </a:moveTo>
                <a:lnTo>
                  <a:pt x="412175" y="420041"/>
                </a:lnTo>
                <a:lnTo>
                  <a:pt x="545251" y="420041"/>
                </a:lnTo>
                <a:lnTo>
                  <a:pt x="549564" y="417813"/>
                </a:lnTo>
                <a:close/>
              </a:path>
            </a:pathLst>
          </a:custGeom>
          <a:solidFill>
            <a:srgbClr val="AA7942"/>
          </a:solidFill>
        </p:spPr>
        <p:txBody>
          <a:bodyPr wrap="square" lIns="0" tIns="0" rIns="0" bIns="0" rtlCol="0"/>
          <a:lstStyle/>
          <a:p>
            <a:endParaRPr sz="1031"/>
          </a:p>
        </p:txBody>
      </p:sp>
      <p:sp>
        <p:nvSpPr>
          <p:cNvPr id="74" name="object 74"/>
          <p:cNvSpPr/>
          <p:nvPr/>
        </p:nvSpPr>
        <p:spPr>
          <a:xfrm>
            <a:off x="8253730" y="4072358"/>
            <a:ext cx="315094" cy="320188"/>
          </a:xfrm>
          <a:custGeom>
            <a:avLst/>
            <a:gdLst/>
            <a:ahLst/>
            <a:cxnLst/>
            <a:rect l="l" t="t" r="r" b="b"/>
            <a:pathLst>
              <a:path w="549909" h="558800">
                <a:moveTo>
                  <a:pt x="405254" y="0"/>
                </a:moveTo>
                <a:lnTo>
                  <a:pt x="130467" y="4456"/>
                </a:lnTo>
                <a:lnTo>
                  <a:pt x="137388" y="424498"/>
                </a:lnTo>
                <a:lnTo>
                  <a:pt x="0" y="426726"/>
                </a:lnTo>
                <a:lnTo>
                  <a:pt x="277028" y="558622"/>
                </a:lnTo>
                <a:lnTo>
                  <a:pt x="545251" y="420041"/>
                </a:lnTo>
                <a:lnTo>
                  <a:pt x="412175" y="420041"/>
                </a:lnTo>
                <a:lnTo>
                  <a:pt x="405254" y="0"/>
                </a:lnTo>
                <a:close/>
              </a:path>
              <a:path w="549909" h="558800">
                <a:moveTo>
                  <a:pt x="549564" y="417813"/>
                </a:moveTo>
                <a:lnTo>
                  <a:pt x="412175" y="420041"/>
                </a:lnTo>
                <a:lnTo>
                  <a:pt x="545251" y="420041"/>
                </a:lnTo>
                <a:lnTo>
                  <a:pt x="549564" y="417813"/>
                </a:lnTo>
                <a:close/>
              </a:path>
            </a:pathLst>
          </a:custGeom>
          <a:solidFill>
            <a:srgbClr val="AA7942"/>
          </a:solidFill>
        </p:spPr>
        <p:txBody>
          <a:bodyPr wrap="square" lIns="0" tIns="0" rIns="0" bIns="0" rtlCol="0"/>
          <a:lstStyle/>
          <a:p>
            <a:endParaRPr sz="1031"/>
          </a:p>
        </p:txBody>
      </p:sp>
      <p:sp>
        <p:nvSpPr>
          <p:cNvPr id="75" name="object 75"/>
          <p:cNvSpPr/>
          <p:nvPr/>
        </p:nvSpPr>
        <p:spPr>
          <a:xfrm>
            <a:off x="8253730" y="4072360"/>
            <a:ext cx="315094" cy="320188"/>
          </a:xfrm>
          <a:custGeom>
            <a:avLst/>
            <a:gdLst/>
            <a:ahLst/>
            <a:cxnLst/>
            <a:rect l="l" t="t" r="r" b="b"/>
            <a:pathLst>
              <a:path w="549909" h="558800">
                <a:moveTo>
                  <a:pt x="130475" y="4454"/>
                </a:moveTo>
                <a:lnTo>
                  <a:pt x="137391" y="424496"/>
                </a:lnTo>
                <a:lnTo>
                  <a:pt x="0" y="426725"/>
                </a:lnTo>
                <a:lnTo>
                  <a:pt x="277027" y="558622"/>
                </a:lnTo>
                <a:lnTo>
                  <a:pt x="549565" y="417812"/>
                </a:lnTo>
                <a:lnTo>
                  <a:pt x="412174" y="420041"/>
                </a:lnTo>
                <a:lnTo>
                  <a:pt x="405257" y="0"/>
                </a:lnTo>
                <a:lnTo>
                  <a:pt x="130475" y="4454"/>
                </a:lnTo>
                <a:close/>
              </a:path>
            </a:pathLst>
          </a:custGeom>
          <a:ln w="3650">
            <a:solidFill>
              <a:srgbClr val="A78450"/>
            </a:solidFill>
          </a:ln>
        </p:spPr>
        <p:txBody>
          <a:bodyPr wrap="square" lIns="0" tIns="0" rIns="0" bIns="0" rtlCol="0"/>
          <a:lstStyle/>
          <a:p>
            <a:endParaRPr sz="1031"/>
          </a:p>
        </p:txBody>
      </p:sp>
      <p:sp>
        <p:nvSpPr>
          <p:cNvPr id="76" name="object 76"/>
          <p:cNvSpPr/>
          <p:nvPr/>
        </p:nvSpPr>
        <p:spPr>
          <a:xfrm>
            <a:off x="6585154" y="1352935"/>
            <a:ext cx="360092" cy="503991"/>
          </a:xfrm>
          <a:prstGeom prst="rect">
            <a:avLst/>
          </a:prstGeom>
          <a:blipFill>
            <a:blip r:embed="rId15" cstate="print"/>
            <a:stretch>
              <a:fillRect/>
            </a:stretch>
          </a:blipFill>
        </p:spPr>
        <p:txBody>
          <a:bodyPr wrap="square" lIns="0" tIns="0" rIns="0" bIns="0" rtlCol="0"/>
          <a:lstStyle/>
          <a:p>
            <a:endParaRPr sz="1031"/>
          </a:p>
        </p:txBody>
      </p:sp>
      <p:sp>
        <p:nvSpPr>
          <p:cNvPr id="77" name="object 77"/>
          <p:cNvSpPr/>
          <p:nvPr/>
        </p:nvSpPr>
        <p:spPr>
          <a:xfrm>
            <a:off x="6585152" y="1352934"/>
            <a:ext cx="360212" cy="506479"/>
          </a:xfrm>
          <a:custGeom>
            <a:avLst/>
            <a:gdLst/>
            <a:ahLst/>
            <a:cxnLst/>
            <a:rect l="l" t="t" r="r" b="b"/>
            <a:pathLst>
              <a:path w="628650" h="883919">
                <a:moveTo>
                  <a:pt x="120967" y="883501"/>
                </a:moveTo>
                <a:lnTo>
                  <a:pt x="421179" y="883501"/>
                </a:lnTo>
                <a:lnTo>
                  <a:pt x="468704" y="876544"/>
                </a:lnTo>
                <a:lnTo>
                  <a:pt x="512330" y="859824"/>
                </a:lnTo>
                <a:lnTo>
                  <a:pt x="550815" y="834523"/>
                </a:lnTo>
                <a:lnTo>
                  <a:pt x="582913" y="801825"/>
                </a:lnTo>
                <a:lnTo>
                  <a:pt x="607381" y="762911"/>
                </a:lnTo>
                <a:lnTo>
                  <a:pt x="622974" y="718963"/>
                </a:lnTo>
                <a:lnTo>
                  <a:pt x="628448" y="671165"/>
                </a:lnTo>
                <a:lnTo>
                  <a:pt x="625978" y="639087"/>
                </a:lnTo>
                <a:lnTo>
                  <a:pt x="618685" y="607954"/>
                </a:lnTo>
                <a:lnTo>
                  <a:pt x="606740" y="578309"/>
                </a:lnTo>
                <a:lnTo>
                  <a:pt x="590316" y="550698"/>
                </a:lnTo>
                <a:lnTo>
                  <a:pt x="243023" y="57697"/>
                </a:lnTo>
                <a:lnTo>
                  <a:pt x="324031" y="0"/>
                </a:lnTo>
                <a:lnTo>
                  <a:pt x="104635" y="33939"/>
                </a:lnTo>
                <a:lnTo>
                  <a:pt x="0" y="230789"/>
                </a:lnTo>
                <a:lnTo>
                  <a:pt x="81007" y="173091"/>
                </a:lnTo>
                <a:lnTo>
                  <a:pt x="428300" y="666093"/>
                </a:lnTo>
                <a:lnTo>
                  <a:pt x="431086" y="670047"/>
                </a:lnTo>
                <a:lnTo>
                  <a:pt x="430156" y="675523"/>
                </a:lnTo>
                <a:lnTo>
                  <a:pt x="426223" y="678325"/>
                </a:lnTo>
                <a:lnTo>
                  <a:pt x="424749" y="679375"/>
                </a:lnTo>
                <a:lnTo>
                  <a:pt x="422986" y="679939"/>
                </a:lnTo>
                <a:lnTo>
                  <a:pt x="421179" y="679468"/>
                </a:lnTo>
                <a:lnTo>
                  <a:pt x="120967" y="679468"/>
                </a:lnTo>
                <a:lnTo>
                  <a:pt x="120967" y="883501"/>
                </a:lnTo>
                <a:close/>
              </a:path>
            </a:pathLst>
          </a:custGeom>
          <a:ln w="3175">
            <a:solidFill>
              <a:srgbClr val="000000"/>
            </a:solidFill>
          </a:ln>
        </p:spPr>
        <p:txBody>
          <a:bodyPr wrap="square" lIns="0" tIns="0" rIns="0" bIns="0" rtlCol="0"/>
          <a:lstStyle/>
          <a:p>
            <a:endParaRPr sz="1031"/>
          </a:p>
        </p:txBody>
      </p:sp>
      <p:sp>
        <p:nvSpPr>
          <p:cNvPr id="78" name="object 78"/>
          <p:cNvSpPr/>
          <p:nvPr/>
        </p:nvSpPr>
        <p:spPr>
          <a:xfrm>
            <a:off x="3714332" y="1859919"/>
            <a:ext cx="275988" cy="305987"/>
          </a:xfrm>
          <a:prstGeom prst="rect">
            <a:avLst/>
          </a:prstGeom>
          <a:blipFill>
            <a:blip r:embed="rId16" cstate="print"/>
            <a:stretch>
              <a:fillRect/>
            </a:stretch>
          </a:blipFill>
        </p:spPr>
        <p:txBody>
          <a:bodyPr wrap="square" lIns="0" tIns="0" rIns="0" bIns="0" rtlCol="0"/>
          <a:lstStyle/>
          <a:p>
            <a:endParaRPr sz="1031"/>
          </a:p>
        </p:txBody>
      </p:sp>
      <p:sp>
        <p:nvSpPr>
          <p:cNvPr id="79" name="object 79"/>
          <p:cNvSpPr/>
          <p:nvPr/>
        </p:nvSpPr>
        <p:spPr>
          <a:xfrm>
            <a:off x="2520384" y="1985914"/>
            <a:ext cx="281987" cy="305987"/>
          </a:xfrm>
          <a:prstGeom prst="rect">
            <a:avLst/>
          </a:prstGeom>
          <a:blipFill>
            <a:blip r:embed="rId16" cstate="print"/>
            <a:stretch>
              <a:fillRect/>
            </a:stretch>
          </a:blipFill>
        </p:spPr>
        <p:txBody>
          <a:bodyPr wrap="square" lIns="0" tIns="0" rIns="0" bIns="0" rtlCol="0"/>
          <a:lstStyle/>
          <a:p>
            <a:endParaRPr sz="1031"/>
          </a:p>
        </p:txBody>
      </p:sp>
      <p:sp>
        <p:nvSpPr>
          <p:cNvPr id="80" name="object 80"/>
          <p:cNvSpPr/>
          <p:nvPr/>
        </p:nvSpPr>
        <p:spPr>
          <a:xfrm>
            <a:off x="2886369" y="3461850"/>
            <a:ext cx="281987" cy="305987"/>
          </a:xfrm>
          <a:prstGeom prst="rect">
            <a:avLst/>
          </a:prstGeom>
          <a:blipFill>
            <a:blip r:embed="rId16" cstate="print"/>
            <a:stretch>
              <a:fillRect/>
            </a:stretch>
          </a:blipFill>
        </p:spPr>
        <p:txBody>
          <a:bodyPr wrap="square" lIns="0" tIns="0" rIns="0" bIns="0" rtlCol="0"/>
          <a:lstStyle/>
          <a:p>
            <a:endParaRPr sz="1031"/>
          </a:p>
        </p:txBody>
      </p:sp>
      <p:sp>
        <p:nvSpPr>
          <p:cNvPr id="81" name="object 81"/>
          <p:cNvSpPr/>
          <p:nvPr/>
        </p:nvSpPr>
        <p:spPr>
          <a:xfrm>
            <a:off x="3786329" y="3647842"/>
            <a:ext cx="281987" cy="305987"/>
          </a:xfrm>
          <a:prstGeom prst="rect">
            <a:avLst/>
          </a:prstGeom>
          <a:blipFill>
            <a:blip r:embed="rId16" cstate="print"/>
            <a:stretch>
              <a:fillRect/>
            </a:stretch>
          </a:blipFill>
        </p:spPr>
        <p:txBody>
          <a:bodyPr wrap="square" lIns="0" tIns="0" rIns="0" bIns="0" rtlCol="0"/>
          <a:lstStyle/>
          <a:p>
            <a:endParaRPr sz="1031"/>
          </a:p>
        </p:txBody>
      </p:sp>
      <p:sp>
        <p:nvSpPr>
          <p:cNvPr id="82" name="object 82"/>
          <p:cNvSpPr/>
          <p:nvPr/>
        </p:nvSpPr>
        <p:spPr>
          <a:xfrm>
            <a:off x="4638292" y="3179862"/>
            <a:ext cx="275988" cy="305987"/>
          </a:xfrm>
          <a:prstGeom prst="rect">
            <a:avLst/>
          </a:prstGeom>
          <a:blipFill>
            <a:blip r:embed="rId16" cstate="print"/>
            <a:stretch>
              <a:fillRect/>
            </a:stretch>
          </a:blipFill>
        </p:spPr>
        <p:txBody>
          <a:bodyPr wrap="square" lIns="0" tIns="0" rIns="0" bIns="0" rtlCol="0"/>
          <a:lstStyle/>
          <a:p>
            <a:endParaRPr sz="1031"/>
          </a:p>
        </p:txBody>
      </p:sp>
      <p:sp>
        <p:nvSpPr>
          <p:cNvPr id="83" name="object 83"/>
          <p:cNvSpPr/>
          <p:nvPr/>
        </p:nvSpPr>
        <p:spPr>
          <a:xfrm>
            <a:off x="4638292" y="2507891"/>
            <a:ext cx="275988" cy="305987"/>
          </a:xfrm>
          <a:prstGeom prst="rect">
            <a:avLst/>
          </a:prstGeom>
          <a:blipFill>
            <a:blip r:embed="rId16" cstate="print"/>
            <a:stretch>
              <a:fillRect/>
            </a:stretch>
          </a:blipFill>
        </p:spPr>
        <p:txBody>
          <a:bodyPr wrap="square" lIns="0" tIns="0" rIns="0" bIns="0" rtlCol="0"/>
          <a:lstStyle/>
          <a:p>
            <a:endParaRPr sz="1031"/>
          </a:p>
        </p:txBody>
      </p:sp>
      <p:sp>
        <p:nvSpPr>
          <p:cNvPr id="84" name="object 84"/>
          <p:cNvSpPr/>
          <p:nvPr/>
        </p:nvSpPr>
        <p:spPr>
          <a:xfrm>
            <a:off x="6990190" y="2663885"/>
            <a:ext cx="275988" cy="305987"/>
          </a:xfrm>
          <a:prstGeom prst="rect">
            <a:avLst/>
          </a:prstGeom>
          <a:blipFill>
            <a:blip r:embed="rId16" cstate="print"/>
            <a:stretch>
              <a:fillRect/>
            </a:stretch>
          </a:blipFill>
        </p:spPr>
        <p:txBody>
          <a:bodyPr wrap="square" lIns="0" tIns="0" rIns="0" bIns="0" rtlCol="0"/>
          <a:lstStyle/>
          <a:p>
            <a:endParaRPr sz="1031"/>
          </a:p>
        </p:txBody>
      </p:sp>
      <p:sp>
        <p:nvSpPr>
          <p:cNvPr id="85" name="object 85"/>
          <p:cNvSpPr/>
          <p:nvPr/>
        </p:nvSpPr>
        <p:spPr>
          <a:xfrm>
            <a:off x="9216095" y="2429894"/>
            <a:ext cx="275988" cy="305987"/>
          </a:xfrm>
          <a:prstGeom prst="rect">
            <a:avLst/>
          </a:prstGeom>
          <a:blipFill>
            <a:blip r:embed="rId16" cstate="print"/>
            <a:stretch>
              <a:fillRect/>
            </a:stretch>
          </a:blipFill>
        </p:spPr>
        <p:txBody>
          <a:bodyPr wrap="square" lIns="0" tIns="0" rIns="0" bIns="0" rtlCol="0"/>
          <a:lstStyle/>
          <a:p>
            <a:endParaRPr sz="1031"/>
          </a:p>
        </p:txBody>
      </p:sp>
      <p:sp>
        <p:nvSpPr>
          <p:cNvPr id="86" name="object 86"/>
          <p:cNvSpPr/>
          <p:nvPr/>
        </p:nvSpPr>
        <p:spPr>
          <a:xfrm>
            <a:off x="6240223" y="1163949"/>
            <a:ext cx="281987" cy="305987"/>
          </a:xfrm>
          <a:prstGeom prst="rect">
            <a:avLst/>
          </a:prstGeom>
          <a:blipFill>
            <a:blip r:embed="rId16" cstate="print"/>
            <a:stretch>
              <a:fillRect/>
            </a:stretch>
          </a:blipFill>
        </p:spPr>
        <p:txBody>
          <a:bodyPr wrap="square" lIns="0" tIns="0" rIns="0" bIns="0" rtlCol="0"/>
          <a:lstStyle/>
          <a:p>
            <a:endParaRPr sz="1031"/>
          </a:p>
        </p:txBody>
      </p:sp>
      <p:sp>
        <p:nvSpPr>
          <p:cNvPr id="87" name="object 87"/>
          <p:cNvSpPr/>
          <p:nvPr/>
        </p:nvSpPr>
        <p:spPr>
          <a:xfrm>
            <a:off x="6390216" y="3419852"/>
            <a:ext cx="275988" cy="305987"/>
          </a:xfrm>
          <a:prstGeom prst="rect">
            <a:avLst/>
          </a:prstGeom>
          <a:blipFill>
            <a:blip r:embed="rId16" cstate="print"/>
            <a:stretch>
              <a:fillRect/>
            </a:stretch>
          </a:blipFill>
        </p:spPr>
        <p:txBody>
          <a:bodyPr wrap="square" lIns="0" tIns="0" rIns="0" bIns="0" rtlCol="0"/>
          <a:lstStyle/>
          <a:p>
            <a:endParaRPr sz="1031"/>
          </a:p>
        </p:txBody>
      </p:sp>
      <p:sp>
        <p:nvSpPr>
          <p:cNvPr id="88" name="object 88"/>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Tree>
    <p:extLst>
      <p:ext uri="{BB962C8B-B14F-4D97-AF65-F5344CB8AC3E}">
        <p14:creationId xmlns:p14="http://schemas.microsoft.com/office/powerpoint/2010/main" val="3761195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360347" y="227833"/>
            <a:ext cx="4997940" cy="450134"/>
          </a:xfrm>
          <a:prstGeom prst="rect">
            <a:avLst/>
          </a:prstGeom>
          <a:blipFill>
            <a:blip r:embed="rId2" cstate="print"/>
            <a:stretch>
              <a:fillRect/>
            </a:stretch>
          </a:blipFill>
        </p:spPr>
        <p:txBody>
          <a:bodyPr wrap="square" lIns="0" tIns="0" rIns="0" bIns="0" rtlCol="0"/>
          <a:lstStyle/>
          <a:p>
            <a:endParaRPr sz="1031"/>
          </a:p>
        </p:txBody>
      </p:sp>
      <p:sp>
        <p:nvSpPr>
          <p:cNvPr id="3" name="object 3"/>
          <p:cNvSpPr txBox="1"/>
          <p:nvPr/>
        </p:nvSpPr>
        <p:spPr>
          <a:xfrm>
            <a:off x="3474168" y="299703"/>
            <a:ext cx="4793001" cy="237009"/>
          </a:xfrm>
          <a:prstGeom prst="rect">
            <a:avLst/>
          </a:prstGeom>
        </p:spPr>
        <p:txBody>
          <a:bodyPr vert="horz" wrap="square" lIns="0" tIns="7641" rIns="0" bIns="0" rtlCol="0">
            <a:spAutoFit/>
          </a:bodyPr>
          <a:lstStyle/>
          <a:p>
            <a:pPr marL="7277">
              <a:spcBef>
                <a:spcPts val="60"/>
              </a:spcBef>
            </a:pPr>
            <a:r>
              <a:rPr sz="1490" b="1" spc="-11" dirty="0">
                <a:solidFill>
                  <a:srgbClr val="941100"/>
                </a:solidFill>
                <a:latin typeface="Arial"/>
                <a:cs typeface="Arial"/>
              </a:rPr>
              <a:t>Delivery </a:t>
            </a:r>
            <a:r>
              <a:rPr sz="1490" b="1" spc="-17" dirty="0">
                <a:solidFill>
                  <a:srgbClr val="941100"/>
                </a:solidFill>
                <a:latin typeface="Arial"/>
                <a:cs typeface="Arial"/>
              </a:rPr>
              <a:t>Pipeline: </a:t>
            </a:r>
            <a:r>
              <a:rPr sz="1490" b="1" spc="6" dirty="0">
                <a:solidFill>
                  <a:srgbClr val="941100"/>
                </a:solidFill>
                <a:latin typeface="Arial"/>
                <a:cs typeface="Arial"/>
              </a:rPr>
              <a:t>Automated, </a:t>
            </a:r>
            <a:r>
              <a:rPr sz="1490" b="1" spc="-9" dirty="0">
                <a:solidFill>
                  <a:srgbClr val="941100"/>
                </a:solidFill>
                <a:latin typeface="Arial"/>
                <a:cs typeface="Arial"/>
              </a:rPr>
              <a:t>Continuous,</a:t>
            </a:r>
            <a:r>
              <a:rPr sz="1490" b="1" spc="17" dirty="0">
                <a:solidFill>
                  <a:srgbClr val="941100"/>
                </a:solidFill>
                <a:latin typeface="Arial"/>
                <a:cs typeface="Arial"/>
              </a:rPr>
              <a:t> </a:t>
            </a:r>
            <a:r>
              <a:rPr sz="1490" b="1" spc="3" dirty="0">
                <a:solidFill>
                  <a:srgbClr val="941100"/>
                </a:solidFill>
                <a:latin typeface="Arial"/>
                <a:cs typeface="Arial"/>
              </a:rPr>
              <a:t>Compliant</a:t>
            </a:r>
            <a:endParaRPr sz="1490">
              <a:latin typeface="Arial"/>
              <a:cs typeface="Arial"/>
            </a:endParaRPr>
          </a:p>
        </p:txBody>
      </p:sp>
      <p:sp>
        <p:nvSpPr>
          <p:cNvPr id="4" name="object 4"/>
          <p:cNvSpPr/>
          <p:nvPr/>
        </p:nvSpPr>
        <p:spPr>
          <a:xfrm>
            <a:off x="2352391" y="1761107"/>
            <a:ext cx="1123375" cy="440797"/>
          </a:xfrm>
          <a:prstGeom prst="rect">
            <a:avLst/>
          </a:prstGeom>
          <a:blipFill>
            <a:blip r:embed="rId3" cstate="print"/>
            <a:stretch>
              <a:fillRect/>
            </a:stretch>
          </a:blipFill>
        </p:spPr>
        <p:txBody>
          <a:bodyPr wrap="square" lIns="0" tIns="0" rIns="0" bIns="0" rtlCol="0"/>
          <a:lstStyle/>
          <a:p>
            <a:endParaRPr sz="1031"/>
          </a:p>
        </p:txBody>
      </p:sp>
      <p:sp>
        <p:nvSpPr>
          <p:cNvPr id="5" name="object 5"/>
          <p:cNvSpPr/>
          <p:nvPr/>
        </p:nvSpPr>
        <p:spPr>
          <a:xfrm>
            <a:off x="2393827" y="1793249"/>
            <a:ext cx="1040503" cy="358147"/>
          </a:xfrm>
          <a:prstGeom prst="rect">
            <a:avLst/>
          </a:prstGeom>
          <a:blipFill>
            <a:blip r:embed="rId4" cstate="print"/>
            <a:stretch>
              <a:fillRect/>
            </a:stretch>
          </a:blipFill>
        </p:spPr>
        <p:txBody>
          <a:bodyPr wrap="square" lIns="0" tIns="0" rIns="0" bIns="0" rtlCol="0"/>
          <a:lstStyle/>
          <a:p>
            <a:endParaRPr sz="1031"/>
          </a:p>
        </p:txBody>
      </p:sp>
      <p:sp>
        <p:nvSpPr>
          <p:cNvPr id="6" name="object 6"/>
          <p:cNvSpPr/>
          <p:nvPr/>
        </p:nvSpPr>
        <p:spPr>
          <a:xfrm>
            <a:off x="2393827" y="1793248"/>
            <a:ext cx="1040612" cy="358393"/>
          </a:xfrm>
          <a:custGeom>
            <a:avLst/>
            <a:gdLst/>
            <a:ahLst/>
            <a:cxnLst/>
            <a:rect l="l" t="t" r="r" b="b"/>
            <a:pathLst>
              <a:path w="1816100" h="625475">
                <a:moveTo>
                  <a:pt x="64279" y="0"/>
                </a:moveTo>
                <a:lnTo>
                  <a:pt x="1751629" y="0"/>
                </a:lnTo>
                <a:lnTo>
                  <a:pt x="1776649" y="5037"/>
                </a:lnTo>
                <a:lnTo>
                  <a:pt x="1797081" y="18776"/>
                </a:lnTo>
                <a:lnTo>
                  <a:pt x="1810857" y="39153"/>
                </a:lnTo>
                <a:lnTo>
                  <a:pt x="1815909" y="64107"/>
                </a:lnTo>
                <a:lnTo>
                  <a:pt x="1815909" y="560940"/>
                </a:lnTo>
                <a:lnTo>
                  <a:pt x="1810857" y="585893"/>
                </a:lnTo>
                <a:lnTo>
                  <a:pt x="1797081" y="606270"/>
                </a:lnTo>
                <a:lnTo>
                  <a:pt x="1776649" y="620009"/>
                </a:lnTo>
                <a:lnTo>
                  <a:pt x="1751629" y="625047"/>
                </a:lnTo>
                <a:lnTo>
                  <a:pt x="64279" y="625047"/>
                </a:lnTo>
                <a:lnTo>
                  <a:pt x="39259" y="620009"/>
                </a:lnTo>
                <a:lnTo>
                  <a:pt x="18827" y="606270"/>
                </a:lnTo>
                <a:lnTo>
                  <a:pt x="5051" y="585893"/>
                </a:lnTo>
                <a:lnTo>
                  <a:pt x="0" y="560940"/>
                </a:lnTo>
                <a:lnTo>
                  <a:pt x="0" y="64107"/>
                </a:lnTo>
                <a:lnTo>
                  <a:pt x="5051" y="39153"/>
                </a:lnTo>
                <a:lnTo>
                  <a:pt x="18827" y="18776"/>
                </a:lnTo>
                <a:lnTo>
                  <a:pt x="39259" y="5037"/>
                </a:lnTo>
                <a:lnTo>
                  <a:pt x="64279" y="0"/>
                </a:lnTo>
                <a:close/>
              </a:path>
            </a:pathLst>
          </a:custGeom>
          <a:ln w="16031">
            <a:solidFill>
              <a:srgbClr val="445E2D"/>
            </a:solidFill>
          </a:ln>
        </p:spPr>
        <p:txBody>
          <a:bodyPr wrap="square" lIns="0" tIns="0" rIns="0" bIns="0" rtlCol="0"/>
          <a:lstStyle/>
          <a:p>
            <a:endParaRPr sz="1031"/>
          </a:p>
        </p:txBody>
      </p:sp>
      <p:sp>
        <p:nvSpPr>
          <p:cNvPr id="7" name="object 7"/>
          <p:cNvSpPr/>
          <p:nvPr/>
        </p:nvSpPr>
        <p:spPr>
          <a:xfrm>
            <a:off x="3577054" y="1761107"/>
            <a:ext cx="837927" cy="440797"/>
          </a:xfrm>
          <a:prstGeom prst="rect">
            <a:avLst/>
          </a:prstGeom>
          <a:blipFill>
            <a:blip r:embed="rId5" cstate="print"/>
            <a:stretch>
              <a:fillRect/>
            </a:stretch>
          </a:blipFill>
        </p:spPr>
        <p:txBody>
          <a:bodyPr wrap="square" lIns="0" tIns="0" rIns="0" bIns="0" rtlCol="0"/>
          <a:lstStyle/>
          <a:p>
            <a:endParaRPr sz="1031"/>
          </a:p>
        </p:txBody>
      </p:sp>
      <p:sp>
        <p:nvSpPr>
          <p:cNvPr id="8" name="object 8"/>
          <p:cNvSpPr/>
          <p:nvPr/>
        </p:nvSpPr>
        <p:spPr>
          <a:xfrm>
            <a:off x="3618490" y="1793249"/>
            <a:ext cx="764263" cy="358147"/>
          </a:xfrm>
          <a:prstGeom prst="rect">
            <a:avLst/>
          </a:prstGeom>
          <a:blipFill>
            <a:blip r:embed="rId6" cstate="print"/>
            <a:stretch>
              <a:fillRect/>
            </a:stretch>
          </a:blipFill>
        </p:spPr>
        <p:txBody>
          <a:bodyPr wrap="square" lIns="0" tIns="0" rIns="0" bIns="0" rtlCol="0"/>
          <a:lstStyle/>
          <a:p>
            <a:endParaRPr sz="1031"/>
          </a:p>
        </p:txBody>
      </p:sp>
      <p:sp>
        <p:nvSpPr>
          <p:cNvPr id="9" name="object 9"/>
          <p:cNvSpPr/>
          <p:nvPr/>
        </p:nvSpPr>
        <p:spPr>
          <a:xfrm>
            <a:off x="3618489" y="1793248"/>
            <a:ext cx="764450" cy="358393"/>
          </a:xfrm>
          <a:custGeom>
            <a:avLst/>
            <a:gdLst/>
            <a:ahLst/>
            <a:cxnLst/>
            <a:rect l="l" t="t" r="r" b="b"/>
            <a:pathLst>
              <a:path w="1334134" h="625475">
                <a:moveTo>
                  <a:pt x="64279" y="0"/>
                </a:moveTo>
                <a:lnTo>
                  <a:pt x="1269529" y="0"/>
                </a:lnTo>
                <a:lnTo>
                  <a:pt x="1294549" y="5037"/>
                </a:lnTo>
                <a:lnTo>
                  <a:pt x="1314981" y="18776"/>
                </a:lnTo>
                <a:lnTo>
                  <a:pt x="1328757" y="39153"/>
                </a:lnTo>
                <a:lnTo>
                  <a:pt x="1333809" y="64107"/>
                </a:lnTo>
                <a:lnTo>
                  <a:pt x="1333809" y="560940"/>
                </a:lnTo>
                <a:lnTo>
                  <a:pt x="1328757" y="585893"/>
                </a:lnTo>
                <a:lnTo>
                  <a:pt x="1314981" y="606270"/>
                </a:lnTo>
                <a:lnTo>
                  <a:pt x="1294549" y="620009"/>
                </a:lnTo>
                <a:lnTo>
                  <a:pt x="1269529" y="625047"/>
                </a:lnTo>
                <a:lnTo>
                  <a:pt x="64279" y="625047"/>
                </a:lnTo>
                <a:lnTo>
                  <a:pt x="39259" y="620009"/>
                </a:lnTo>
                <a:lnTo>
                  <a:pt x="18827" y="606270"/>
                </a:lnTo>
                <a:lnTo>
                  <a:pt x="5051" y="585893"/>
                </a:lnTo>
                <a:lnTo>
                  <a:pt x="0" y="560940"/>
                </a:lnTo>
                <a:lnTo>
                  <a:pt x="0" y="64107"/>
                </a:lnTo>
                <a:lnTo>
                  <a:pt x="5051" y="39153"/>
                </a:lnTo>
                <a:lnTo>
                  <a:pt x="18827" y="18776"/>
                </a:lnTo>
                <a:lnTo>
                  <a:pt x="39259" y="5037"/>
                </a:lnTo>
                <a:lnTo>
                  <a:pt x="64279" y="0"/>
                </a:lnTo>
                <a:close/>
              </a:path>
            </a:pathLst>
          </a:custGeom>
          <a:ln w="16034">
            <a:solidFill>
              <a:srgbClr val="445E2D"/>
            </a:solidFill>
          </a:ln>
        </p:spPr>
        <p:txBody>
          <a:bodyPr wrap="square" lIns="0" tIns="0" rIns="0" bIns="0" rtlCol="0"/>
          <a:lstStyle/>
          <a:p>
            <a:endParaRPr sz="1031"/>
          </a:p>
        </p:txBody>
      </p:sp>
      <p:sp>
        <p:nvSpPr>
          <p:cNvPr id="10" name="object 10"/>
          <p:cNvSpPr txBox="1"/>
          <p:nvPr/>
        </p:nvSpPr>
        <p:spPr>
          <a:xfrm>
            <a:off x="3772051" y="1847579"/>
            <a:ext cx="451538" cy="229327"/>
          </a:xfrm>
          <a:prstGeom prst="rect">
            <a:avLst/>
          </a:prstGeom>
        </p:spPr>
        <p:txBody>
          <a:bodyPr vert="horz" wrap="square" lIns="0" tIns="8732" rIns="0" bIns="0" rtlCol="0">
            <a:spAutoFit/>
          </a:bodyPr>
          <a:lstStyle/>
          <a:p>
            <a:pPr marL="7277">
              <a:spcBef>
                <a:spcPts val="69"/>
              </a:spcBef>
            </a:pPr>
            <a:r>
              <a:rPr sz="1433" spc="49" dirty="0">
                <a:solidFill>
                  <a:srgbClr val="FFFFFF"/>
                </a:solidFill>
                <a:latin typeface="Arial"/>
                <a:cs typeface="Arial"/>
              </a:rPr>
              <a:t>Build</a:t>
            </a:r>
            <a:endParaRPr sz="1433">
              <a:latin typeface="Arial"/>
              <a:cs typeface="Arial"/>
            </a:endParaRPr>
          </a:p>
        </p:txBody>
      </p:sp>
      <p:sp>
        <p:nvSpPr>
          <p:cNvPr id="11" name="object 11"/>
          <p:cNvSpPr/>
          <p:nvPr/>
        </p:nvSpPr>
        <p:spPr>
          <a:xfrm>
            <a:off x="8144217" y="1761107"/>
            <a:ext cx="1224662" cy="440797"/>
          </a:xfrm>
          <a:prstGeom prst="rect">
            <a:avLst/>
          </a:prstGeom>
          <a:blipFill>
            <a:blip r:embed="rId7" cstate="print"/>
            <a:stretch>
              <a:fillRect/>
            </a:stretch>
          </a:blipFill>
        </p:spPr>
        <p:txBody>
          <a:bodyPr wrap="square" lIns="0" tIns="0" rIns="0" bIns="0" rtlCol="0"/>
          <a:lstStyle/>
          <a:p>
            <a:endParaRPr sz="1031"/>
          </a:p>
        </p:txBody>
      </p:sp>
      <p:sp>
        <p:nvSpPr>
          <p:cNvPr id="12" name="object 12"/>
          <p:cNvSpPr/>
          <p:nvPr/>
        </p:nvSpPr>
        <p:spPr>
          <a:xfrm>
            <a:off x="8185651" y="1793249"/>
            <a:ext cx="1151002" cy="358147"/>
          </a:xfrm>
          <a:prstGeom prst="rect">
            <a:avLst/>
          </a:prstGeom>
          <a:blipFill>
            <a:blip r:embed="rId8" cstate="print"/>
            <a:stretch>
              <a:fillRect/>
            </a:stretch>
          </a:blipFill>
        </p:spPr>
        <p:txBody>
          <a:bodyPr wrap="square" lIns="0" tIns="0" rIns="0" bIns="0" rtlCol="0"/>
          <a:lstStyle/>
          <a:p>
            <a:endParaRPr sz="1031"/>
          </a:p>
        </p:txBody>
      </p:sp>
      <p:sp>
        <p:nvSpPr>
          <p:cNvPr id="13" name="object 13"/>
          <p:cNvSpPr/>
          <p:nvPr/>
        </p:nvSpPr>
        <p:spPr>
          <a:xfrm>
            <a:off x="8185651" y="1793248"/>
            <a:ext cx="1151222" cy="358393"/>
          </a:xfrm>
          <a:custGeom>
            <a:avLst/>
            <a:gdLst/>
            <a:ahLst/>
            <a:cxnLst/>
            <a:rect l="l" t="t" r="r" b="b"/>
            <a:pathLst>
              <a:path w="2009140" h="625475">
                <a:moveTo>
                  <a:pt x="64279" y="0"/>
                </a:moveTo>
                <a:lnTo>
                  <a:pt x="1944468" y="0"/>
                </a:lnTo>
                <a:lnTo>
                  <a:pt x="1969489" y="5037"/>
                </a:lnTo>
                <a:lnTo>
                  <a:pt x="1989921" y="18776"/>
                </a:lnTo>
                <a:lnTo>
                  <a:pt x="2003697" y="39153"/>
                </a:lnTo>
                <a:lnTo>
                  <a:pt x="2008748" y="64107"/>
                </a:lnTo>
                <a:lnTo>
                  <a:pt x="2008748" y="560940"/>
                </a:lnTo>
                <a:lnTo>
                  <a:pt x="2003697" y="585893"/>
                </a:lnTo>
                <a:lnTo>
                  <a:pt x="1989921" y="606270"/>
                </a:lnTo>
                <a:lnTo>
                  <a:pt x="1969489" y="620009"/>
                </a:lnTo>
                <a:lnTo>
                  <a:pt x="1944468" y="625047"/>
                </a:lnTo>
                <a:lnTo>
                  <a:pt x="64279" y="625047"/>
                </a:lnTo>
                <a:lnTo>
                  <a:pt x="39259" y="620009"/>
                </a:lnTo>
                <a:lnTo>
                  <a:pt x="18827" y="606270"/>
                </a:lnTo>
                <a:lnTo>
                  <a:pt x="5051" y="585893"/>
                </a:lnTo>
                <a:lnTo>
                  <a:pt x="0" y="560940"/>
                </a:lnTo>
                <a:lnTo>
                  <a:pt x="0" y="64107"/>
                </a:lnTo>
                <a:lnTo>
                  <a:pt x="5051" y="39153"/>
                </a:lnTo>
                <a:lnTo>
                  <a:pt x="18827" y="18776"/>
                </a:lnTo>
                <a:lnTo>
                  <a:pt x="39259" y="5037"/>
                </a:lnTo>
                <a:lnTo>
                  <a:pt x="64279" y="0"/>
                </a:lnTo>
                <a:close/>
              </a:path>
            </a:pathLst>
          </a:custGeom>
          <a:ln w="16030">
            <a:solidFill>
              <a:srgbClr val="445E2D"/>
            </a:solidFill>
          </a:ln>
        </p:spPr>
        <p:txBody>
          <a:bodyPr wrap="square" lIns="0" tIns="0" rIns="0" bIns="0" rtlCol="0"/>
          <a:lstStyle/>
          <a:p>
            <a:endParaRPr sz="1031"/>
          </a:p>
        </p:txBody>
      </p:sp>
      <p:sp>
        <p:nvSpPr>
          <p:cNvPr id="14" name="object 14"/>
          <p:cNvSpPr txBox="1"/>
          <p:nvPr/>
        </p:nvSpPr>
        <p:spPr>
          <a:xfrm>
            <a:off x="8499182" y="1797071"/>
            <a:ext cx="523945" cy="341833"/>
          </a:xfrm>
          <a:prstGeom prst="rect">
            <a:avLst/>
          </a:prstGeom>
        </p:spPr>
        <p:txBody>
          <a:bodyPr vert="horz" wrap="square" lIns="0" tIns="6549" rIns="0" bIns="0" rtlCol="0">
            <a:spAutoFit/>
          </a:bodyPr>
          <a:lstStyle/>
          <a:p>
            <a:pPr marL="14917" marR="2911" indent="-8005">
              <a:spcBef>
                <a:spcPts val="52"/>
              </a:spcBef>
            </a:pPr>
            <a:r>
              <a:rPr sz="1089" dirty="0">
                <a:solidFill>
                  <a:srgbClr val="FFFFFF"/>
                </a:solidFill>
                <a:latin typeface="Arial"/>
                <a:cs typeface="Arial"/>
              </a:rPr>
              <a:t>Release  </a:t>
            </a:r>
            <a:r>
              <a:rPr sz="1089" spc="34" dirty="0">
                <a:solidFill>
                  <a:srgbClr val="FFFFFF"/>
                </a:solidFill>
                <a:latin typeface="Arial"/>
                <a:cs typeface="Arial"/>
              </a:rPr>
              <a:t>Monitor</a:t>
            </a:r>
            <a:endParaRPr sz="1089">
              <a:latin typeface="Arial"/>
              <a:cs typeface="Arial"/>
            </a:endParaRPr>
          </a:p>
        </p:txBody>
      </p:sp>
      <p:sp>
        <p:nvSpPr>
          <p:cNvPr id="15" name="object 15"/>
          <p:cNvSpPr/>
          <p:nvPr/>
        </p:nvSpPr>
        <p:spPr>
          <a:xfrm>
            <a:off x="4516269" y="1761107"/>
            <a:ext cx="3471412" cy="440797"/>
          </a:xfrm>
          <a:prstGeom prst="rect">
            <a:avLst/>
          </a:prstGeom>
          <a:blipFill>
            <a:blip r:embed="rId9" cstate="print"/>
            <a:stretch>
              <a:fillRect/>
            </a:stretch>
          </a:blipFill>
        </p:spPr>
        <p:txBody>
          <a:bodyPr wrap="square" lIns="0" tIns="0" rIns="0" bIns="0" rtlCol="0"/>
          <a:lstStyle/>
          <a:p>
            <a:endParaRPr sz="1031"/>
          </a:p>
        </p:txBody>
      </p:sp>
      <p:sp>
        <p:nvSpPr>
          <p:cNvPr id="16" name="object 16"/>
          <p:cNvSpPr/>
          <p:nvPr/>
        </p:nvSpPr>
        <p:spPr>
          <a:xfrm>
            <a:off x="4557705" y="1793249"/>
            <a:ext cx="3397748" cy="358147"/>
          </a:xfrm>
          <a:prstGeom prst="rect">
            <a:avLst/>
          </a:prstGeom>
          <a:blipFill>
            <a:blip r:embed="rId10" cstate="print"/>
            <a:stretch>
              <a:fillRect/>
            </a:stretch>
          </a:blipFill>
        </p:spPr>
        <p:txBody>
          <a:bodyPr wrap="square" lIns="0" tIns="0" rIns="0" bIns="0" rtlCol="0"/>
          <a:lstStyle/>
          <a:p>
            <a:endParaRPr sz="1031"/>
          </a:p>
        </p:txBody>
      </p:sp>
      <p:sp>
        <p:nvSpPr>
          <p:cNvPr id="17" name="object 17"/>
          <p:cNvSpPr/>
          <p:nvPr/>
        </p:nvSpPr>
        <p:spPr>
          <a:xfrm>
            <a:off x="4557704" y="1793248"/>
            <a:ext cx="3397999" cy="358393"/>
          </a:xfrm>
          <a:custGeom>
            <a:avLst/>
            <a:gdLst/>
            <a:ahLst/>
            <a:cxnLst/>
            <a:rect l="l" t="t" r="r" b="b"/>
            <a:pathLst>
              <a:path w="5930265" h="625475">
                <a:moveTo>
                  <a:pt x="64279" y="0"/>
                </a:moveTo>
                <a:lnTo>
                  <a:pt x="5865546" y="0"/>
                </a:lnTo>
                <a:lnTo>
                  <a:pt x="5890567" y="5037"/>
                </a:lnTo>
                <a:lnTo>
                  <a:pt x="5910999" y="18776"/>
                </a:lnTo>
                <a:lnTo>
                  <a:pt x="5924775" y="39153"/>
                </a:lnTo>
                <a:lnTo>
                  <a:pt x="5929826" y="64107"/>
                </a:lnTo>
                <a:lnTo>
                  <a:pt x="5929826" y="560940"/>
                </a:lnTo>
                <a:lnTo>
                  <a:pt x="5924775" y="585893"/>
                </a:lnTo>
                <a:lnTo>
                  <a:pt x="5910999" y="606270"/>
                </a:lnTo>
                <a:lnTo>
                  <a:pt x="5890567" y="620009"/>
                </a:lnTo>
                <a:lnTo>
                  <a:pt x="5865546" y="625047"/>
                </a:lnTo>
                <a:lnTo>
                  <a:pt x="64279" y="625047"/>
                </a:lnTo>
                <a:lnTo>
                  <a:pt x="39259" y="620009"/>
                </a:lnTo>
                <a:lnTo>
                  <a:pt x="18827" y="606270"/>
                </a:lnTo>
                <a:lnTo>
                  <a:pt x="5051" y="585893"/>
                </a:lnTo>
                <a:lnTo>
                  <a:pt x="0" y="560940"/>
                </a:lnTo>
                <a:lnTo>
                  <a:pt x="0" y="64107"/>
                </a:lnTo>
                <a:lnTo>
                  <a:pt x="5051" y="39153"/>
                </a:lnTo>
                <a:lnTo>
                  <a:pt x="18827" y="18776"/>
                </a:lnTo>
                <a:lnTo>
                  <a:pt x="39259" y="5037"/>
                </a:lnTo>
                <a:lnTo>
                  <a:pt x="64279" y="0"/>
                </a:lnTo>
                <a:close/>
              </a:path>
            </a:pathLst>
          </a:custGeom>
          <a:ln w="16027">
            <a:solidFill>
              <a:srgbClr val="445E2D"/>
            </a:solidFill>
          </a:ln>
        </p:spPr>
        <p:txBody>
          <a:bodyPr wrap="square" lIns="0" tIns="0" rIns="0" bIns="0" rtlCol="0"/>
          <a:lstStyle/>
          <a:p>
            <a:endParaRPr sz="1031"/>
          </a:p>
        </p:txBody>
      </p:sp>
      <p:sp>
        <p:nvSpPr>
          <p:cNvPr id="18" name="object 18"/>
          <p:cNvSpPr txBox="1"/>
          <p:nvPr/>
        </p:nvSpPr>
        <p:spPr>
          <a:xfrm>
            <a:off x="5220532" y="1847579"/>
            <a:ext cx="2069945" cy="229327"/>
          </a:xfrm>
          <a:prstGeom prst="rect">
            <a:avLst/>
          </a:prstGeom>
        </p:spPr>
        <p:txBody>
          <a:bodyPr vert="horz" wrap="square" lIns="0" tIns="8732" rIns="0" bIns="0" rtlCol="0">
            <a:spAutoFit/>
          </a:bodyPr>
          <a:lstStyle/>
          <a:p>
            <a:pPr marL="7277">
              <a:spcBef>
                <a:spcPts val="69"/>
              </a:spcBef>
            </a:pPr>
            <a:r>
              <a:rPr sz="1433" spc="40" dirty="0">
                <a:solidFill>
                  <a:srgbClr val="FFFFFF"/>
                </a:solidFill>
                <a:latin typeface="Arial"/>
                <a:cs typeface="Arial"/>
              </a:rPr>
              <a:t>Deploy </a:t>
            </a:r>
            <a:r>
              <a:rPr sz="1433" spc="32" dirty="0">
                <a:solidFill>
                  <a:srgbClr val="FFFFFF"/>
                </a:solidFill>
                <a:latin typeface="Arial"/>
                <a:cs typeface="Arial"/>
              </a:rPr>
              <a:t>+ </a:t>
            </a:r>
            <a:r>
              <a:rPr sz="1433" spc="-14" dirty="0">
                <a:solidFill>
                  <a:srgbClr val="FFFFFF"/>
                </a:solidFill>
                <a:latin typeface="Arial"/>
                <a:cs typeface="Arial"/>
              </a:rPr>
              <a:t>Test</a:t>
            </a:r>
            <a:r>
              <a:rPr sz="1433" spc="-97" dirty="0">
                <a:solidFill>
                  <a:srgbClr val="FFFFFF"/>
                </a:solidFill>
                <a:latin typeface="Arial"/>
                <a:cs typeface="Arial"/>
              </a:rPr>
              <a:t> </a:t>
            </a:r>
            <a:r>
              <a:rPr sz="1433" spc="40" dirty="0">
                <a:solidFill>
                  <a:srgbClr val="FFFFFF"/>
                </a:solidFill>
                <a:latin typeface="Arial"/>
                <a:cs typeface="Arial"/>
              </a:rPr>
              <a:t>Execution</a:t>
            </a:r>
            <a:endParaRPr sz="1433">
              <a:latin typeface="Arial"/>
              <a:cs typeface="Arial"/>
            </a:endParaRPr>
          </a:p>
        </p:txBody>
      </p:sp>
      <p:sp>
        <p:nvSpPr>
          <p:cNvPr id="19" name="object 19"/>
          <p:cNvSpPr/>
          <p:nvPr/>
        </p:nvSpPr>
        <p:spPr>
          <a:xfrm>
            <a:off x="3383686" y="1862122"/>
            <a:ext cx="285447" cy="257132"/>
          </a:xfrm>
          <a:prstGeom prst="rect">
            <a:avLst/>
          </a:prstGeom>
          <a:blipFill>
            <a:blip r:embed="rId11" cstate="print"/>
            <a:stretch>
              <a:fillRect/>
            </a:stretch>
          </a:blipFill>
        </p:spPr>
        <p:txBody>
          <a:bodyPr wrap="square" lIns="0" tIns="0" rIns="0" bIns="0" rtlCol="0"/>
          <a:lstStyle/>
          <a:p>
            <a:endParaRPr sz="1031"/>
          </a:p>
        </p:txBody>
      </p:sp>
      <p:sp>
        <p:nvSpPr>
          <p:cNvPr id="20" name="object 20"/>
          <p:cNvSpPr/>
          <p:nvPr/>
        </p:nvSpPr>
        <p:spPr>
          <a:xfrm>
            <a:off x="3443538" y="1896181"/>
            <a:ext cx="171374" cy="146996"/>
          </a:xfrm>
          <a:custGeom>
            <a:avLst/>
            <a:gdLst/>
            <a:ahLst/>
            <a:cxnLst/>
            <a:rect l="l" t="t" r="r" b="b"/>
            <a:pathLst>
              <a:path w="299085" h="256539">
                <a:moveTo>
                  <a:pt x="128559" y="0"/>
                </a:moveTo>
                <a:lnTo>
                  <a:pt x="128559" y="60762"/>
                </a:lnTo>
                <a:lnTo>
                  <a:pt x="0" y="60762"/>
                </a:lnTo>
                <a:lnTo>
                  <a:pt x="0" y="188977"/>
                </a:lnTo>
                <a:lnTo>
                  <a:pt x="128559" y="188977"/>
                </a:lnTo>
                <a:lnTo>
                  <a:pt x="128559" y="256429"/>
                </a:lnTo>
                <a:lnTo>
                  <a:pt x="298496" y="128214"/>
                </a:lnTo>
                <a:lnTo>
                  <a:pt x="128559" y="0"/>
                </a:lnTo>
                <a:close/>
              </a:path>
            </a:pathLst>
          </a:custGeom>
          <a:solidFill>
            <a:srgbClr val="FFFFFF"/>
          </a:solidFill>
        </p:spPr>
        <p:txBody>
          <a:bodyPr wrap="square" lIns="0" tIns="0" rIns="0" bIns="0" rtlCol="0"/>
          <a:lstStyle/>
          <a:p>
            <a:endParaRPr sz="1031"/>
          </a:p>
        </p:txBody>
      </p:sp>
      <p:sp>
        <p:nvSpPr>
          <p:cNvPr id="21" name="object 21"/>
          <p:cNvSpPr/>
          <p:nvPr/>
        </p:nvSpPr>
        <p:spPr>
          <a:xfrm>
            <a:off x="3443537" y="1896181"/>
            <a:ext cx="171374" cy="146996"/>
          </a:xfrm>
          <a:custGeom>
            <a:avLst/>
            <a:gdLst/>
            <a:ahLst/>
            <a:cxnLst/>
            <a:rect l="l" t="t" r="r" b="b"/>
            <a:pathLst>
              <a:path w="299085" h="256539">
                <a:moveTo>
                  <a:pt x="0" y="188978"/>
                </a:moveTo>
                <a:lnTo>
                  <a:pt x="0" y="60763"/>
                </a:lnTo>
                <a:lnTo>
                  <a:pt x="128559" y="60763"/>
                </a:lnTo>
                <a:lnTo>
                  <a:pt x="128559" y="0"/>
                </a:lnTo>
                <a:lnTo>
                  <a:pt x="298496" y="128214"/>
                </a:lnTo>
                <a:lnTo>
                  <a:pt x="128559" y="256429"/>
                </a:lnTo>
                <a:lnTo>
                  <a:pt x="128559" y="188978"/>
                </a:lnTo>
                <a:lnTo>
                  <a:pt x="0" y="188978"/>
                </a:lnTo>
                <a:close/>
              </a:path>
            </a:pathLst>
          </a:custGeom>
          <a:ln w="16045">
            <a:solidFill>
              <a:srgbClr val="797979"/>
            </a:solidFill>
          </a:ln>
        </p:spPr>
        <p:txBody>
          <a:bodyPr wrap="square" lIns="0" tIns="0" rIns="0" bIns="0" rtlCol="0"/>
          <a:lstStyle/>
          <a:p>
            <a:endParaRPr sz="1031"/>
          </a:p>
        </p:txBody>
      </p:sp>
      <p:sp>
        <p:nvSpPr>
          <p:cNvPr id="22" name="object 22"/>
          <p:cNvSpPr/>
          <p:nvPr/>
        </p:nvSpPr>
        <p:spPr>
          <a:xfrm>
            <a:off x="4313693" y="1908039"/>
            <a:ext cx="285447" cy="257132"/>
          </a:xfrm>
          <a:prstGeom prst="rect">
            <a:avLst/>
          </a:prstGeom>
          <a:blipFill>
            <a:blip r:embed="rId12" cstate="print"/>
            <a:stretch>
              <a:fillRect/>
            </a:stretch>
          </a:blipFill>
        </p:spPr>
        <p:txBody>
          <a:bodyPr wrap="square" lIns="0" tIns="0" rIns="0" bIns="0" rtlCol="0"/>
          <a:lstStyle/>
          <a:p>
            <a:endParaRPr sz="1031"/>
          </a:p>
        </p:txBody>
      </p:sp>
      <p:sp>
        <p:nvSpPr>
          <p:cNvPr id="23" name="object 23"/>
          <p:cNvSpPr/>
          <p:nvPr/>
        </p:nvSpPr>
        <p:spPr>
          <a:xfrm>
            <a:off x="4382753" y="1943615"/>
            <a:ext cx="167007" cy="146996"/>
          </a:xfrm>
          <a:custGeom>
            <a:avLst/>
            <a:gdLst/>
            <a:ahLst/>
            <a:cxnLst/>
            <a:rect l="l" t="t" r="r" b="b"/>
            <a:pathLst>
              <a:path w="291465" h="256539">
                <a:moveTo>
                  <a:pt x="112489" y="0"/>
                </a:moveTo>
                <a:lnTo>
                  <a:pt x="112489" y="74140"/>
                </a:lnTo>
                <a:lnTo>
                  <a:pt x="0" y="74140"/>
                </a:lnTo>
                <a:lnTo>
                  <a:pt x="0" y="202355"/>
                </a:lnTo>
                <a:lnTo>
                  <a:pt x="112489" y="202355"/>
                </a:lnTo>
                <a:lnTo>
                  <a:pt x="112489" y="256429"/>
                </a:lnTo>
                <a:lnTo>
                  <a:pt x="291220" y="128214"/>
                </a:lnTo>
                <a:lnTo>
                  <a:pt x="112489" y="0"/>
                </a:lnTo>
                <a:close/>
              </a:path>
            </a:pathLst>
          </a:custGeom>
          <a:solidFill>
            <a:srgbClr val="FFFFFF"/>
          </a:solidFill>
        </p:spPr>
        <p:txBody>
          <a:bodyPr wrap="square" lIns="0" tIns="0" rIns="0" bIns="0" rtlCol="0"/>
          <a:lstStyle/>
          <a:p>
            <a:endParaRPr sz="1031"/>
          </a:p>
        </p:txBody>
      </p:sp>
      <p:sp>
        <p:nvSpPr>
          <p:cNvPr id="24" name="object 24"/>
          <p:cNvSpPr/>
          <p:nvPr/>
        </p:nvSpPr>
        <p:spPr>
          <a:xfrm>
            <a:off x="4382752" y="1943615"/>
            <a:ext cx="167007" cy="146996"/>
          </a:xfrm>
          <a:custGeom>
            <a:avLst/>
            <a:gdLst/>
            <a:ahLst/>
            <a:cxnLst/>
            <a:rect l="l" t="t" r="r" b="b"/>
            <a:pathLst>
              <a:path w="291465" h="256539">
                <a:moveTo>
                  <a:pt x="0" y="202354"/>
                </a:moveTo>
                <a:lnTo>
                  <a:pt x="0" y="74139"/>
                </a:lnTo>
                <a:lnTo>
                  <a:pt x="112489" y="74139"/>
                </a:lnTo>
                <a:lnTo>
                  <a:pt x="112489" y="0"/>
                </a:lnTo>
                <a:lnTo>
                  <a:pt x="291220" y="128214"/>
                </a:lnTo>
                <a:lnTo>
                  <a:pt x="112489" y="256429"/>
                </a:lnTo>
                <a:lnTo>
                  <a:pt x="112489" y="202354"/>
                </a:lnTo>
                <a:lnTo>
                  <a:pt x="0" y="202354"/>
                </a:lnTo>
                <a:close/>
              </a:path>
            </a:pathLst>
          </a:custGeom>
          <a:ln w="16045">
            <a:solidFill>
              <a:srgbClr val="797979"/>
            </a:solidFill>
          </a:ln>
        </p:spPr>
        <p:txBody>
          <a:bodyPr wrap="square" lIns="0" tIns="0" rIns="0" bIns="0" rtlCol="0"/>
          <a:lstStyle/>
          <a:p>
            <a:endParaRPr sz="1031"/>
          </a:p>
        </p:txBody>
      </p:sp>
      <p:sp>
        <p:nvSpPr>
          <p:cNvPr id="25" name="object 25"/>
          <p:cNvSpPr/>
          <p:nvPr/>
        </p:nvSpPr>
        <p:spPr>
          <a:xfrm>
            <a:off x="7895600" y="1862122"/>
            <a:ext cx="340695" cy="257132"/>
          </a:xfrm>
          <a:prstGeom prst="rect">
            <a:avLst/>
          </a:prstGeom>
          <a:blipFill>
            <a:blip r:embed="rId13" cstate="print"/>
            <a:stretch>
              <a:fillRect/>
            </a:stretch>
          </a:blipFill>
        </p:spPr>
        <p:txBody>
          <a:bodyPr wrap="square" lIns="0" tIns="0" rIns="0" bIns="0" rtlCol="0"/>
          <a:lstStyle/>
          <a:p>
            <a:endParaRPr sz="1031"/>
          </a:p>
        </p:txBody>
      </p:sp>
      <p:sp>
        <p:nvSpPr>
          <p:cNvPr id="26" name="object 26"/>
          <p:cNvSpPr/>
          <p:nvPr/>
        </p:nvSpPr>
        <p:spPr>
          <a:xfrm>
            <a:off x="7955452" y="1896181"/>
            <a:ext cx="227043" cy="146996"/>
          </a:xfrm>
          <a:custGeom>
            <a:avLst/>
            <a:gdLst/>
            <a:ahLst/>
            <a:cxnLst/>
            <a:rect l="l" t="t" r="r" b="b"/>
            <a:pathLst>
              <a:path w="396240" h="256539">
                <a:moveTo>
                  <a:pt x="224977" y="0"/>
                </a:moveTo>
                <a:lnTo>
                  <a:pt x="224977" y="60762"/>
                </a:lnTo>
                <a:lnTo>
                  <a:pt x="0" y="60762"/>
                </a:lnTo>
                <a:lnTo>
                  <a:pt x="0" y="188977"/>
                </a:lnTo>
                <a:lnTo>
                  <a:pt x="224977" y="188977"/>
                </a:lnTo>
                <a:lnTo>
                  <a:pt x="224977" y="256429"/>
                </a:lnTo>
                <a:lnTo>
                  <a:pt x="395925" y="128214"/>
                </a:lnTo>
                <a:lnTo>
                  <a:pt x="224977" y="0"/>
                </a:lnTo>
                <a:close/>
              </a:path>
            </a:pathLst>
          </a:custGeom>
          <a:solidFill>
            <a:srgbClr val="FFFFFF"/>
          </a:solidFill>
        </p:spPr>
        <p:txBody>
          <a:bodyPr wrap="square" lIns="0" tIns="0" rIns="0" bIns="0" rtlCol="0"/>
          <a:lstStyle/>
          <a:p>
            <a:endParaRPr sz="1031"/>
          </a:p>
        </p:txBody>
      </p:sp>
      <p:sp>
        <p:nvSpPr>
          <p:cNvPr id="27" name="object 27"/>
          <p:cNvSpPr/>
          <p:nvPr/>
        </p:nvSpPr>
        <p:spPr>
          <a:xfrm>
            <a:off x="7955450" y="1896181"/>
            <a:ext cx="227043" cy="146996"/>
          </a:xfrm>
          <a:custGeom>
            <a:avLst/>
            <a:gdLst/>
            <a:ahLst/>
            <a:cxnLst/>
            <a:rect l="l" t="t" r="r" b="b"/>
            <a:pathLst>
              <a:path w="396240" h="256539">
                <a:moveTo>
                  <a:pt x="0" y="188978"/>
                </a:moveTo>
                <a:lnTo>
                  <a:pt x="0" y="60763"/>
                </a:lnTo>
                <a:lnTo>
                  <a:pt x="224979" y="60763"/>
                </a:lnTo>
                <a:lnTo>
                  <a:pt x="224979" y="0"/>
                </a:lnTo>
                <a:lnTo>
                  <a:pt x="395929" y="128214"/>
                </a:lnTo>
                <a:lnTo>
                  <a:pt x="224979" y="256429"/>
                </a:lnTo>
                <a:lnTo>
                  <a:pt x="224979" y="188978"/>
                </a:lnTo>
                <a:lnTo>
                  <a:pt x="0" y="188978"/>
                </a:lnTo>
                <a:close/>
              </a:path>
            </a:pathLst>
          </a:custGeom>
          <a:ln w="16039">
            <a:solidFill>
              <a:srgbClr val="797979"/>
            </a:solidFill>
          </a:ln>
        </p:spPr>
        <p:txBody>
          <a:bodyPr wrap="square" lIns="0" tIns="0" rIns="0" bIns="0" rtlCol="0"/>
          <a:lstStyle/>
          <a:p>
            <a:endParaRPr sz="1031"/>
          </a:p>
        </p:txBody>
      </p:sp>
      <p:sp>
        <p:nvSpPr>
          <p:cNvPr id="28" name="object 28"/>
          <p:cNvSpPr/>
          <p:nvPr/>
        </p:nvSpPr>
        <p:spPr>
          <a:xfrm>
            <a:off x="2350775" y="2332399"/>
            <a:ext cx="1119204" cy="1278206"/>
          </a:xfrm>
          <a:custGeom>
            <a:avLst/>
            <a:gdLst/>
            <a:ahLst/>
            <a:cxnLst/>
            <a:rect l="l" t="t" r="r" b="b"/>
            <a:pathLst>
              <a:path w="1953260" h="2230754">
                <a:moveTo>
                  <a:pt x="125006" y="0"/>
                </a:moveTo>
                <a:lnTo>
                  <a:pt x="1828216" y="0"/>
                </a:lnTo>
                <a:lnTo>
                  <a:pt x="1876875" y="9874"/>
                </a:lnTo>
                <a:lnTo>
                  <a:pt x="1916609" y="36802"/>
                </a:lnTo>
                <a:lnTo>
                  <a:pt x="1943399" y="76741"/>
                </a:lnTo>
                <a:lnTo>
                  <a:pt x="1953223" y="125650"/>
                </a:lnTo>
                <a:lnTo>
                  <a:pt x="1953223" y="2104648"/>
                </a:lnTo>
                <a:lnTo>
                  <a:pt x="1943399" y="2153557"/>
                </a:lnTo>
                <a:lnTo>
                  <a:pt x="1916609" y="2193496"/>
                </a:lnTo>
                <a:lnTo>
                  <a:pt x="1876875" y="2220424"/>
                </a:lnTo>
                <a:lnTo>
                  <a:pt x="1828216" y="2230298"/>
                </a:lnTo>
                <a:lnTo>
                  <a:pt x="125006" y="2230298"/>
                </a:lnTo>
                <a:lnTo>
                  <a:pt x="76348" y="2220424"/>
                </a:lnTo>
                <a:lnTo>
                  <a:pt x="36613" y="2193496"/>
                </a:lnTo>
                <a:lnTo>
                  <a:pt x="9823" y="2153557"/>
                </a:lnTo>
                <a:lnTo>
                  <a:pt x="0" y="2104648"/>
                </a:lnTo>
                <a:lnTo>
                  <a:pt x="0" y="125650"/>
                </a:lnTo>
                <a:lnTo>
                  <a:pt x="9823" y="76741"/>
                </a:lnTo>
                <a:lnTo>
                  <a:pt x="36613" y="36802"/>
                </a:lnTo>
                <a:lnTo>
                  <a:pt x="76348" y="9874"/>
                </a:lnTo>
                <a:lnTo>
                  <a:pt x="125006" y="0"/>
                </a:lnTo>
                <a:close/>
              </a:path>
            </a:pathLst>
          </a:custGeom>
          <a:ln w="15660">
            <a:solidFill>
              <a:srgbClr val="000000"/>
            </a:solidFill>
          </a:ln>
        </p:spPr>
        <p:txBody>
          <a:bodyPr wrap="square" lIns="0" tIns="0" rIns="0" bIns="0" rtlCol="0"/>
          <a:lstStyle/>
          <a:p>
            <a:endParaRPr sz="1031"/>
          </a:p>
        </p:txBody>
      </p:sp>
      <p:sp>
        <p:nvSpPr>
          <p:cNvPr id="29" name="object 29"/>
          <p:cNvSpPr/>
          <p:nvPr/>
        </p:nvSpPr>
        <p:spPr>
          <a:xfrm>
            <a:off x="2337346" y="2705883"/>
            <a:ext cx="1092322" cy="539976"/>
          </a:xfrm>
          <a:prstGeom prst="rect">
            <a:avLst/>
          </a:prstGeom>
          <a:blipFill>
            <a:blip r:embed="rId14" cstate="print"/>
            <a:stretch>
              <a:fillRect/>
            </a:stretch>
          </a:blipFill>
        </p:spPr>
        <p:txBody>
          <a:bodyPr wrap="square" lIns="0" tIns="0" rIns="0" bIns="0" rtlCol="0"/>
          <a:lstStyle/>
          <a:p>
            <a:endParaRPr sz="1031"/>
          </a:p>
        </p:txBody>
      </p:sp>
      <p:sp>
        <p:nvSpPr>
          <p:cNvPr id="30" name="object 30"/>
          <p:cNvSpPr/>
          <p:nvPr/>
        </p:nvSpPr>
        <p:spPr>
          <a:xfrm>
            <a:off x="2377636" y="2737381"/>
            <a:ext cx="1020694" cy="458980"/>
          </a:xfrm>
          <a:prstGeom prst="rect">
            <a:avLst/>
          </a:prstGeom>
          <a:blipFill>
            <a:blip r:embed="rId15" cstate="print"/>
            <a:stretch>
              <a:fillRect/>
            </a:stretch>
          </a:blipFill>
        </p:spPr>
        <p:txBody>
          <a:bodyPr wrap="square" lIns="0" tIns="0" rIns="0" bIns="0" rtlCol="0"/>
          <a:lstStyle/>
          <a:p>
            <a:endParaRPr sz="1031"/>
          </a:p>
        </p:txBody>
      </p:sp>
      <p:sp>
        <p:nvSpPr>
          <p:cNvPr id="31" name="object 31"/>
          <p:cNvSpPr/>
          <p:nvPr/>
        </p:nvSpPr>
        <p:spPr>
          <a:xfrm>
            <a:off x="2377636" y="2737381"/>
            <a:ext cx="1020964" cy="459179"/>
          </a:xfrm>
          <a:custGeom>
            <a:avLst/>
            <a:gdLst/>
            <a:ahLst/>
            <a:cxnLst/>
            <a:rect l="l" t="t" r="r" b="b"/>
            <a:pathLst>
              <a:path w="1781810" h="801370">
                <a:moveTo>
                  <a:pt x="62503" y="0"/>
                </a:moveTo>
                <a:lnTo>
                  <a:pt x="1718836" y="0"/>
                </a:lnTo>
                <a:lnTo>
                  <a:pt x="1743165" y="4937"/>
                </a:lnTo>
                <a:lnTo>
                  <a:pt x="1763032" y="18401"/>
                </a:lnTo>
                <a:lnTo>
                  <a:pt x="1776427" y="38371"/>
                </a:lnTo>
                <a:lnTo>
                  <a:pt x="1781339" y="62825"/>
                </a:lnTo>
                <a:lnTo>
                  <a:pt x="1781339" y="738197"/>
                </a:lnTo>
                <a:lnTo>
                  <a:pt x="1776427" y="762651"/>
                </a:lnTo>
                <a:lnTo>
                  <a:pt x="1763032" y="782621"/>
                </a:lnTo>
                <a:lnTo>
                  <a:pt x="1743165" y="796085"/>
                </a:lnTo>
                <a:lnTo>
                  <a:pt x="1718836" y="801022"/>
                </a:lnTo>
                <a:lnTo>
                  <a:pt x="62503" y="801022"/>
                </a:lnTo>
                <a:lnTo>
                  <a:pt x="38174" y="796085"/>
                </a:lnTo>
                <a:lnTo>
                  <a:pt x="18306" y="782621"/>
                </a:lnTo>
                <a:lnTo>
                  <a:pt x="4911" y="762651"/>
                </a:lnTo>
                <a:lnTo>
                  <a:pt x="0" y="738197"/>
                </a:lnTo>
                <a:lnTo>
                  <a:pt x="0" y="62825"/>
                </a:lnTo>
                <a:lnTo>
                  <a:pt x="4911" y="38371"/>
                </a:lnTo>
                <a:lnTo>
                  <a:pt x="18306" y="18401"/>
                </a:lnTo>
                <a:lnTo>
                  <a:pt x="38174" y="4937"/>
                </a:lnTo>
                <a:lnTo>
                  <a:pt x="62503" y="0"/>
                </a:lnTo>
                <a:close/>
              </a:path>
            </a:pathLst>
          </a:custGeom>
          <a:ln w="15692">
            <a:solidFill>
              <a:srgbClr val="445E2D"/>
            </a:solidFill>
          </a:ln>
        </p:spPr>
        <p:txBody>
          <a:bodyPr wrap="square" lIns="0" tIns="0" rIns="0" bIns="0" rtlCol="0"/>
          <a:lstStyle/>
          <a:p>
            <a:endParaRPr sz="1031"/>
          </a:p>
        </p:txBody>
      </p:sp>
      <p:sp>
        <p:nvSpPr>
          <p:cNvPr id="32" name="object 32"/>
          <p:cNvSpPr txBox="1"/>
          <p:nvPr/>
        </p:nvSpPr>
        <p:spPr>
          <a:xfrm>
            <a:off x="2725845" y="2855390"/>
            <a:ext cx="319097" cy="203212"/>
          </a:xfrm>
          <a:prstGeom prst="rect">
            <a:avLst/>
          </a:prstGeom>
        </p:spPr>
        <p:txBody>
          <a:bodyPr vert="horz" wrap="square" lIns="0" tIns="9096" rIns="0" bIns="0" rtlCol="0">
            <a:spAutoFit/>
          </a:bodyPr>
          <a:lstStyle/>
          <a:p>
            <a:pPr marL="7277">
              <a:spcBef>
                <a:spcPts val="72"/>
              </a:spcBef>
            </a:pPr>
            <a:r>
              <a:rPr sz="1261" spc="49" dirty="0">
                <a:solidFill>
                  <a:srgbClr val="FFFFFF"/>
                </a:solidFill>
                <a:latin typeface="Arial"/>
                <a:cs typeface="Arial"/>
              </a:rPr>
              <a:t>App</a:t>
            </a:r>
            <a:endParaRPr sz="1261">
              <a:latin typeface="Arial"/>
              <a:cs typeface="Arial"/>
            </a:endParaRPr>
          </a:p>
        </p:txBody>
      </p:sp>
      <p:sp>
        <p:nvSpPr>
          <p:cNvPr id="33" name="object 33"/>
          <p:cNvSpPr/>
          <p:nvPr/>
        </p:nvSpPr>
        <p:spPr>
          <a:xfrm>
            <a:off x="2337346" y="3218860"/>
            <a:ext cx="1092322" cy="332986"/>
          </a:xfrm>
          <a:prstGeom prst="rect">
            <a:avLst/>
          </a:prstGeom>
          <a:blipFill>
            <a:blip r:embed="rId16" cstate="print"/>
            <a:stretch>
              <a:fillRect/>
            </a:stretch>
          </a:blipFill>
        </p:spPr>
        <p:txBody>
          <a:bodyPr wrap="square" lIns="0" tIns="0" rIns="0" bIns="0" rtlCol="0"/>
          <a:lstStyle/>
          <a:p>
            <a:endParaRPr sz="1031"/>
          </a:p>
        </p:txBody>
      </p:sp>
      <p:sp>
        <p:nvSpPr>
          <p:cNvPr id="34" name="object 34"/>
          <p:cNvSpPr/>
          <p:nvPr/>
        </p:nvSpPr>
        <p:spPr>
          <a:xfrm>
            <a:off x="2377636" y="3250359"/>
            <a:ext cx="1020694" cy="251989"/>
          </a:xfrm>
          <a:prstGeom prst="rect">
            <a:avLst/>
          </a:prstGeom>
          <a:blipFill>
            <a:blip r:embed="rId17" cstate="print"/>
            <a:stretch>
              <a:fillRect/>
            </a:stretch>
          </a:blipFill>
        </p:spPr>
        <p:txBody>
          <a:bodyPr wrap="square" lIns="0" tIns="0" rIns="0" bIns="0" rtlCol="0"/>
          <a:lstStyle/>
          <a:p>
            <a:endParaRPr sz="1031"/>
          </a:p>
        </p:txBody>
      </p:sp>
      <p:sp>
        <p:nvSpPr>
          <p:cNvPr id="35" name="object 35"/>
          <p:cNvSpPr/>
          <p:nvPr/>
        </p:nvSpPr>
        <p:spPr>
          <a:xfrm>
            <a:off x="2377636" y="3250359"/>
            <a:ext cx="1020964" cy="252148"/>
          </a:xfrm>
          <a:custGeom>
            <a:avLst/>
            <a:gdLst/>
            <a:ahLst/>
            <a:cxnLst/>
            <a:rect l="l" t="t" r="r" b="b"/>
            <a:pathLst>
              <a:path w="1781810" h="440054">
                <a:moveTo>
                  <a:pt x="62503" y="0"/>
                </a:moveTo>
                <a:lnTo>
                  <a:pt x="1718836" y="0"/>
                </a:lnTo>
                <a:lnTo>
                  <a:pt x="1743165" y="4937"/>
                </a:lnTo>
                <a:lnTo>
                  <a:pt x="1763032" y="18401"/>
                </a:lnTo>
                <a:lnTo>
                  <a:pt x="1776427" y="38371"/>
                </a:lnTo>
                <a:lnTo>
                  <a:pt x="1781339" y="62825"/>
                </a:lnTo>
                <a:lnTo>
                  <a:pt x="1781339" y="376951"/>
                </a:lnTo>
                <a:lnTo>
                  <a:pt x="1776427" y="401406"/>
                </a:lnTo>
                <a:lnTo>
                  <a:pt x="1763032" y="421375"/>
                </a:lnTo>
                <a:lnTo>
                  <a:pt x="1743165" y="434839"/>
                </a:lnTo>
                <a:lnTo>
                  <a:pt x="1718836" y="439777"/>
                </a:lnTo>
                <a:lnTo>
                  <a:pt x="62503" y="439777"/>
                </a:lnTo>
                <a:lnTo>
                  <a:pt x="38174" y="434839"/>
                </a:lnTo>
                <a:lnTo>
                  <a:pt x="18306" y="421375"/>
                </a:lnTo>
                <a:lnTo>
                  <a:pt x="4911" y="401406"/>
                </a:lnTo>
                <a:lnTo>
                  <a:pt x="0" y="376951"/>
                </a:lnTo>
                <a:lnTo>
                  <a:pt x="0" y="62825"/>
                </a:lnTo>
                <a:lnTo>
                  <a:pt x="4911" y="38371"/>
                </a:lnTo>
                <a:lnTo>
                  <a:pt x="18306" y="18401"/>
                </a:lnTo>
                <a:lnTo>
                  <a:pt x="38174" y="4937"/>
                </a:lnTo>
                <a:lnTo>
                  <a:pt x="62503" y="0"/>
                </a:lnTo>
                <a:close/>
              </a:path>
            </a:pathLst>
          </a:custGeom>
          <a:ln w="15701">
            <a:solidFill>
              <a:srgbClr val="445E2D"/>
            </a:solidFill>
          </a:ln>
        </p:spPr>
        <p:txBody>
          <a:bodyPr wrap="square" lIns="0" tIns="0" rIns="0" bIns="0" rtlCol="0"/>
          <a:lstStyle/>
          <a:p>
            <a:endParaRPr sz="1031"/>
          </a:p>
        </p:txBody>
      </p:sp>
      <p:sp>
        <p:nvSpPr>
          <p:cNvPr id="36" name="object 36"/>
          <p:cNvSpPr txBox="1"/>
          <p:nvPr/>
        </p:nvSpPr>
        <p:spPr>
          <a:xfrm>
            <a:off x="2725764" y="3263561"/>
            <a:ext cx="319461" cy="203212"/>
          </a:xfrm>
          <a:prstGeom prst="rect">
            <a:avLst/>
          </a:prstGeom>
        </p:spPr>
        <p:txBody>
          <a:bodyPr vert="horz" wrap="square" lIns="0" tIns="9096" rIns="0" bIns="0" rtlCol="0">
            <a:spAutoFit/>
          </a:bodyPr>
          <a:lstStyle/>
          <a:p>
            <a:pPr marL="7277">
              <a:spcBef>
                <a:spcPts val="72"/>
              </a:spcBef>
            </a:pPr>
            <a:r>
              <a:rPr sz="1261" spc="-163" dirty="0">
                <a:solidFill>
                  <a:srgbClr val="FFFFFF"/>
                </a:solidFill>
                <a:latin typeface="Arial"/>
                <a:cs typeface="Arial"/>
              </a:rPr>
              <a:t>T</a:t>
            </a:r>
            <a:r>
              <a:rPr sz="1261" spc="34" dirty="0">
                <a:solidFill>
                  <a:srgbClr val="FFFFFF"/>
                </a:solidFill>
                <a:latin typeface="Arial"/>
                <a:cs typeface="Arial"/>
              </a:rPr>
              <a:t>est</a:t>
            </a:r>
            <a:endParaRPr sz="1261">
              <a:latin typeface="Arial"/>
              <a:cs typeface="Arial"/>
            </a:endParaRPr>
          </a:p>
        </p:txBody>
      </p:sp>
      <p:sp>
        <p:nvSpPr>
          <p:cNvPr id="37" name="object 37"/>
          <p:cNvSpPr/>
          <p:nvPr/>
        </p:nvSpPr>
        <p:spPr>
          <a:xfrm>
            <a:off x="2337346" y="2372897"/>
            <a:ext cx="1092322" cy="386983"/>
          </a:xfrm>
          <a:prstGeom prst="rect">
            <a:avLst/>
          </a:prstGeom>
          <a:blipFill>
            <a:blip r:embed="rId18" cstate="print"/>
            <a:stretch>
              <a:fillRect/>
            </a:stretch>
          </a:blipFill>
        </p:spPr>
        <p:txBody>
          <a:bodyPr wrap="square" lIns="0" tIns="0" rIns="0" bIns="0" rtlCol="0"/>
          <a:lstStyle/>
          <a:p>
            <a:endParaRPr sz="1031"/>
          </a:p>
        </p:txBody>
      </p:sp>
      <p:sp>
        <p:nvSpPr>
          <p:cNvPr id="38" name="object 38"/>
          <p:cNvSpPr/>
          <p:nvPr/>
        </p:nvSpPr>
        <p:spPr>
          <a:xfrm>
            <a:off x="2377636" y="2404395"/>
            <a:ext cx="1020694" cy="305987"/>
          </a:xfrm>
          <a:prstGeom prst="rect">
            <a:avLst/>
          </a:prstGeom>
          <a:blipFill>
            <a:blip r:embed="rId19" cstate="print"/>
            <a:stretch>
              <a:fillRect/>
            </a:stretch>
          </a:blipFill>
        </p:spPr>
        <p:txBody>
          <a:bodyPr wrap="square" lIns="0" tIns="0" rIns="0" bIns="0" rtlCol="0"/>
          <a:lstStyle/>
          <a:p>
            <a:endParaRPr sz="1031"/>
          </a:p>
        </p:txBody>
      </p:sp>
      <p:sp>
        <p:nvSpPr>
          <p:cNvPr id="39" name="object 39"/>
          <p:cNvSpPr/>
          <p:nvPr/>
        </p:nvSpPr>
        <p:spPr>
          <a:xfrm>
            <a:off x="2377636" y="2404396"/>
            <a:ext cx="1020964" cy="305998"/>
          </a:xfrm>
          <a:custGeom>
            <a:avLst/>
            <a:gdLst/>
            <a:ahLst/>
            <a:cxnLst/>
            <a:rect l="l" t="t" r="r" b="b"/>
            <a:pathLst>
              <a:path w="1781810" h="534035">
                <a:moveTo>
                  <a:pt x="62503" y="0"/>
                </a:moveTo>
                <a:lnTo>
                  <a:pt x="1718836" y="0"/>
                </a:lnTo>
                <a:lnTo>
                  <a:pt x="1743165" y="4937"/>
                </a:lnTo>
                <a:lnTo>
                  <a:pt x="1763032" y="18401"/>
                </a:lnTo>
                <a:lnTo>
                  <a:pt x="1776427" y="38371"/>
                </a:lnTo>
                <a:lnTo>
                  <a:pt x="1781339" y="62825"/>
                </a:lnTo>
                <a:lnTo>
                  <a:pt x="1781339" y="471189"/>
                </a:lnTo>
                <a:lnTo>
                  <a:pt x="1776427" y="495644"/>
                </a:lnTo>
                <a:lnTo>
                  <a:pt x="1763032" y="515613"/>
                </a:lnTo>
                <a:lnTo>
                  <a:pt x="1743165" y="529077"/>
                </a:lnTo>
                <a:lnTo>
                  <a:pt x="1718836" y="534015"/>
                </a:lnTo>
                <a:lnTo>
                  <a:pt x="62503" y="534015"/>
                </a:lnTo>
                <a:lnTo>
                  <a:pt x="38174" y="529077"/>
                </a:lnTo>
                <a:lnTo>
                  <a:pt x="18306" y="515613"/>
                </a:lnTo>
                <a:lnTo>
                  <a:pt x="4911" y="495644"/>
                </a:lnTo>
                <a:lnTo>
                  <a:pt x="0" y="471189"/>
                </a:lnTo>
                <a:lnTo>
                  <a:pt x="0" y="62825"/>
                </a:lnTo>
                <a:lnTo>
                  <a:pt x="4911" y="38371"/>
                </a:lnTo>
                <a:lnTo>
                  <a:pt x="18306" y="18401"/>
                </a:lnTo>
                <a:lnTo>
                  <a:pt x="38174" y="4937"/>
                </a:lnTo>
                <a:lnTo>
                  <a:pt x="62503" y="0"/>
                </a:lnTo>
                <a:close/>
              </a:path>
            </a:pathLst>
          </a:custGeom>
          <a:ln w="15699">
            <a:solidFill>
              <a:srgbClr val="445E2D"/>
            </a:solidFill>
          </a:ln>
        </p:spPr>
        <p:txBody>
          <a:bodyPr wrap="square" lIns="0" tIns="0" rIns="0" bIns="0" rtlCol="0"/>
          <a:lstStyle/>
          <a:p>
            <a:endParaRPr sz="1031"/>
          </a:p>
        </p:txBody>
      </p:sp>
      <p:sp>
        <p:nvSpPr>
          <p:cNvPr id="40" name="object 40"/>
          <p:cNvSpPr txBox="1"/>
          <p:nvPr/>
        </p:nvSpPr>
        <p:spPr>
          <a:xfrm>
            <a:off x="2710857" y="2447218"/>
            <a:ext cx="349296" cy="203212"/>
          </a:xfrm>
          <a:prstGeom prst="rect">
            <a:avLst/>
          </a:prstGeom>
        </p:spPr>
        <p:txBody>
          <a:bodyPr vert="horz" wrap="square" lIns="0" tIns="9096" rIns="0" bIns="0" rtlCol="0">
            <a:spAutoFit/>
          </a:bodyPr>
          <a:lstStyle/>
          <a:p>
            <a:pPr marL="7277">
              <a:spcBef>
                <a:spcPts val="72"/>
              </a:spcBef>
            </a:pPr>
            <a:r>
              <a:rPr sz="1261" spc="20" dirty="0">
                <a:solidFill>
                  <a:srgbClr val="FFFFFF"/>
                </a:solidFill>
                <a:latin typeface="Arial"/>
                <a:cs typeface="Arial"/>
              </a:rPr>
              <a:t>Infra</a:t>
            </a:r>
            <a:endParaRPr sz="1261">
              <a:latin typeface="Arial"/>
              <a:cs typeface="Arial"/>
            </a:endParaRPr>
          </a:p>
        </p:txBody>
      </p:sp>
      <p:sp>
        <p:nvSpPr>
          <p:cNvPr id="41" name="object 41"/>
          <p:cNvSpPr/>
          <p:nvPr/>
        </p:nvSpPr>
        <p:spPr>
          <a:xfrm>
            <a:off x="4362597" y="2280250"/>
            <a:ext cx="3731285" cy="1382995"/>
          </a:xfrm>
          <a:custGeom>
            <a:avLst/>
            <a:gdLst/>
            <a:ahLst/>
            <a:cxnLst/>
            <a:rect l="l" t="t" r="r" b="b"/>
            <a:pathLst>
              <a:path w="6511925" h="2413635">
                <a:moveTo>
                  <a:pt x="135663" y="0"/>
                </a:moveTo>
                <a:lnTo>
                  <a:pt x="6376202" y="0"/>
                </a:lnTo>
                <a:lnTo>
                  <a:pt x="6419083" y="6932"/>
                </a:lnTo>
                <a:lnTo>
                  <a:pt x="6456324" y="26235"/>
                </a:lnTo>
                <a:lnTo>
                  <a:pt x="6485691" y="55671"/>
                </a:lnTo>
                <a:lnTo>
                  <a:pt x="6504950" y="92998"/>
                </a:lnTo>
                <a:lnTo>
                  <a:pt x="6511866" y="135978"/>
                </a:lnTo>
                <a:lnTo>
                  <a:pt x="6511866" y="2277633"/>
                </a:lnTo>
                <a:lnTo>
                  <a:pt x="6504950" y="2320612"/>
                </a:lnTo>
                <a:lnTo>
                  <a:pt x="6485691" y="2357940"/>
                </a:lnTo>
                <a:lnTo>
                  <a:pt x="6456324" y="2387375"/>
                </a:lnTo>
                <a:lnTo>
                  <a:pt x="6419083" y="2406679"/>
                </a:lnTo>
                <a:lnTo>
                  <a:pt x="6376202" y="2413611"/>
                </a:lnTo>
                <a:lnTo>
                  <a:pt x="135663" y="2413611"/>
                </a:lnTo>
                <a:lnTo>
                  <a:pt x="92783" y="2406679"/>
                </a:lnTo>
                <a:lnTo>
                  <a:pt x="55542" y="2387375"/>
                </a:lnTo>
                <a:lnTo>
                  <a:pt x="26175" y="2357940"/>
                </a:lnTo>
                <a:lnTo>
                  <a:pt x="6916" y="2320612"/>
                </a:lnTo>
                <a:lnTo>
                  <a:pt x="0" y="2277633"/>
                </a:lnTo>
                <a:lnTo>
                  <a:pt x="0" y="135978"/>
                </a:lnTo>
                <a:lnTo>
                  <a:pt x="6916" y="92998"/>
                </a:lnTo>
                <a:lnTo>
                  <a:pt x="26175" y="55671"/>
                </a:lnTo>
                <a:lnTo>
                  <a:pt x="55542" y="26235"/>
                </a:lnTo>
                <a:lnTo>
                  <a:pt x="92783" y="6932"/>
                </a:lnTo>
                <a:lnTo>
                  <a:pt x="135663" y="0"/>
                </a:lnTo>
                <a:close/>
              </a:path>
            </a:pathLst>
          </a:custGeom>
          <a:ln w="16992">
            <a:solidFill>
              <a:srgbClr val="000000"/>
            </a:solidFill>
          </a:ln>
        </p:spPr>
        <p:txBody>
          <a:bodyPr wrap="square" lIns="0" tIns="0" rIns="0" bIns="0" rtlCol="0"/>
          <a:lstStyle/>
          <a:p>
            <a:endParaRPr sz="1031"/>
          </a:p>
        </p:txBody>
      </p:sp>
      <p:sp>
        <p:nvSpPr>
          <p:cNvPr id="42" name="object 42"/>
          <p:cNvSpPr/>
          <p:nvPr/>
        </p:nvSpPr>
        <p:spPr>
          <a:xfrm>
            <a:off x="4357739" y="2820782"/>
            <a:ext cx="602442" cy="360354"/>
          </a:xfrm>
          <a:prstGeom prst="rect">
            <a:avLst/>
          </a:prstGeom>
          <a:blipFill>
            <a:blip r:embed="rId20" cstate="print"/>
            <a:stretch>
              <a:fillRect/>
            </a:stretch>
          </a:blipFill>
        </p:spPr>
        <p:txBody>
          <a:bodyPr wrap="square" lIns="0" tIns="0" rIns="0" bIns="0" rtlCol="0"/>
          <a:lstStyle/>
          <a:p>
            <a:endParaRPr sz="1031"/>
          </a:p>
        </p:txBody>
      </p:sp>
      <p:sp>
        <p:nvSpPr>
          <p:cNvPr id="43" name="object 43"/>
          <p:cNvSpPr/>
          <p:nvPr/>
        </p:nvSpPr>
        <p:spPr>
          <a:xfrm>
            <a:off x="4411182" y="2854869"/>
            <a:ext cx="514990" cy="282440"/>
          </a:xfrm>
          <a:prstGeom prst="rect">
            <a:avLst/>
          </a:prstGeom>
          <a:blipFill>
            <a:blip r:embed="rId21" cstate="print"/>
            <a:stretch>
              <a:fillRect/>
            </a:stretch>
          </a:blipFill>
        </p:spPr>
        <p:txBody>
          <a:bodyPr wrap="square" lIns="0" tIns="0" rIns="0" bIns="0" rtlCol="0"/>
          <a:lstStyle/>
          <a:p>
            <a:endParaRPr sz="1031"/>
          </a:p>
        </p:txBody>
      </p:sp>
      <p:sp>
        <p:nvSpPr>
          <p:cNvPr id="44" name="object 44"/>
          <p:cNvSpPr/>
          <p:nvPr/>
        </p:nvSpPr>
        <p:spPr>
          <a:xfrm>
            <a:off x="4411181" y="2854869"/>
            <a:ext cx="515212" cy="282712"/>
          </a:xfrm>
          <a:custGeom>
            <a:avLst/>
            <a:gdLst/>
            <a:ahLst/>
            <a:cxnLst/>
            <a:rect l="l" t="t" r="r" b="b"/>
            <a:pathLst>
              <a:path w="899159" h="493395">
                <a:moveTo>
                  <a:pt x="67831" y="0"/>
                </a:moveTo>
                <a:lnTo>
                  <a:pt x="830941" y="0"/>
                </a:lnTo>
                <a:lnTo>
                  <a:pt x="857344" y="5343"/>
                </a:lnTo>
                <a:lnTo>
                  <a:pt x="878905" y="19913"/>
                </a:lnTo>
                <a:lnTo>
                  <a:pt x="893442" y="41524"/>
                </a:lnTo>
                <a:lnTo>
                  <a:pt x="898773" y="67989"/>
                </a:lnTo>
                <a:lnTo>
                  <a:pt x="898773" y="424931"/>
                </a:lnTo>
                <a:lnTo>
                  <a:pt x="893442" y="451395"/>
                </a:lnTo>
                <a:lnTo>
                  <a:pt x="878905" y="473006"/>
                </a:lnTo>
                <a:lnTo>
                  <a:pt x="857344" y="487577"/>
                </a:lnTo>
                <a:lnTo>
                  <a:pt x="830941"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45" name="object 45"/>
          <p:cNvSpPr txBox="1"/>
          <p:nvPr/>
        </p:nvSpPr>
        <p:spPr>
          <a:xfrm>
            <a:off x="4563275" y="2927999"/>
            <a:ext cx="205575" cy="124567"/>
          </a:xfrm>
          <a:prstGeom prst="rect">
            <a:avLst/>
          </a:prstGeom>
        </p:spPr>
        <p:txBody>
          <a:bodyPr vert="horz" wrap="square" lIns="0" tIns="9824" rIns="0" bIns="0" rtlCol="0">
            <a:spAutoFit/>
          </a:bodyPr>
          <a:lstStyle/>
          <a:p>
            <a:pPr marL="7277">
              <a:spcBef>
                <a:spcPts val="77"/>
              </a:spcBef>
            </a:pPr>
            <a:r>
              <a:rPr sz="745" spc="-11" dirty="0">
                <a:solidFill>
                  <a:srgbClr val="FFFFFF"/>
                </a:solidFill>
                <a:latin typeface="Arial"/>
                <a:cs typeface="Arial"/>
              </a:rPr>
              <a:t>DEV</a:t>
            </a:r>
            <a:endParaRPr sz="745">
              <a:latin typeface="Arial"/>
              <a:cs typeface="Arial"/>
            </a:endParaRPr>
          </a:p>
        </p:txBody>
      </p:sp>
      <p:sp>
        <p:nvSpPr>
          <p:cNvPr id="46" name="object 46"/>
          <p:cNvSpPr/>
          <p:nvPr/>
        </p:nvSpPr>
        <p:spPr>
          <a:xfrm>
            <a:off x="4989331" y="2820782"/>
            <a:ext cx="602442" cy="360354"/>
          </a:xfrm>
          <a:prstGeom prst="rect">
            <a:avLst/>
          </a:prstGeom>
          <a:blipFill>
            <a:blip r:embed="rId22" cstate="print"/>
            <a:stretch>
              <a:fillRect/>
            </a:stretch>
          </a:blipFill>
        </p:spPr>
        <p:txBody>
          <a:bodyPr wrap="square" lIns="0" tIns="0" rIns="0" bIns="0" rtlCol="0"/>
          <a:lstStyle/>
          <a:p>
            <a:endParaRPr sz="1031"/>
          </a:p>
        </p:txBody>
      </p:sp>
      <p:sp>
        <p:nvSpPr>
          <p:cNvPr id="47" name="object 47"/>
          <p:cNvSpPr/>
          <p:nvPr/>
        </p:nvSpPr>
        <p:spPr>
          <a:xfrm>
            <a:off x="5042774" y="2854869"/>
            <a:ext cx="524707" cy="282440"/>
          </a:xfrm>
          <a:prstGeom prst="rect">
            <a:avLst/>
          </a:prstGeom>
          <a:blipFill>
            <a:blip r:embed="rId23" cstate="print"/>
            <a:stretch>
              <a:fillRect/>
            </a:stretch>
          </a:blipFill>
        </p:spPr>
        <p:txBody>
          <a:bodyPr wrap="square" lIns="0" tIns="0" rIns="0" bIns="0" rtlCol="0"/>
          <a:lstStyle/>
          <a:p>
            <a:endParaRPr sz="1031"/>
          </a:p>
        </p:txBody>
      </p:sp>
      <p:sp>
        <p:nvSpPr>
          <p:cNvPr id="48" name="object 48"/>
          <p:cNvSpPr/>
          <p:nvPr/>
        </p:nvSpPr>
        <p:spPr>
          <a:xfrm>
            <a:off x="5042773" y="2854869"/>
            <a:ext cx="525036" cy="282712"/>
          </a:xfrm>
          <a:custGeom>
            <a:avLst/>
            <a:gdLst/>
            <a:ahLst/>
            <a:cxnLst/>
            <a:rect l="l" t="t" r="r" b="b"/>
            <a:pathLst>
              <a:path w="916304" h="493395">
                <a:moveTo>
                  <a:pt x="67831" y="0"/>
                </a:moveTo>
                <a:lnTo>
                  <a:pt x="847899" y="0"/>
                </a:lnTo>
                <a:lnTo>
                  <a:pt x="874302" y="5343"/>
                </a:lnTo>
                <a:lnTo>
                  <a:pt x="895863" y="19913"/>
                </a:lnTo>
                <a:lnTo>
                  <a:pt x="910400" y="41524"/>
                </a:lnTo>
                <a:lnTo>
                  <a:pt x="915731" y="67989"/>
                </a:lnTo>
                <a:lnTo>
                  <a:pt x="915731" y="424931"/>
                </a:lnTo>
                <a:lnTo>
                  <a:pt x="910400" y="451395"/>
                </a:lnTo>
                <a:lnTo>
                  <a:pt x="895863" y="473006"/>
                </a:lnTo>
                <a:lnTo>
                  <a:pt x="874302" y="487577"/>
                </a:lnTo>
                <a:lnTo>
                  <a:pt x="847899"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49" name="object 49"/>
          <p:cNvSpPr txBox="1"/>
          <p:nvPr/>
        </p:nvSpPr>
        <p:spPr>
          <a:xfrm>
            <a:off x="5214756" y="2927999"/>
            <a:ext cx="169554"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INT</a:t>
            </a:r>
            <a:endParaRPr sz="745">
              <a:latin typeface="Arial"/>
              <a:cs typeface="Arial"/>
            </a:endParaRPr>
          </a:p>
        </p:txBody>
      </p:sp>
      <p:sp>
        <p:nvSpPr>
          <p:cNvPr id="50" name="object 50"/>
          <p:cNvSpPr/>
          <p:nvPr/>
        </p:nvSpPr>
        <p:spPr>
          <a:xfrm>
            <a:off x="5601490" y="2820782"/>
            <a:ext cx="602442" cy="360354"/>
          </a:xfrm>
          <a:prstGeom prst="rect">
            <a:avLst/>
          </a:prstGeom>
          <a:blipFill>
            <a:blip r:embed="rId24" cstate="print"/>
            <a:stretch>
              <a:fillRect/>
            </a:stretch>
          </a:blipFill>
        </p:spPr>
        <p:txBody>
          <a:bodyPr wrap="square" lIns="0" tIns="0" rIns="0" bIns="0" rtlCol="0"/>
          <a:lstStyle/>
          <a:p>
            <a:endParaRPr sz="1031"/>
          </a:p>
        </p:txBody>
      </p:sp>
      <p:sp>
        <p:nvSpPr>
          <p:cNvPr id="51" name="object 51"/>
          <p:cNvSpPr/>
          <p:nvPr/>
        </p:nvSpPr>
        <p:spPr>
          <a:xfrm>
            <a:off x="5645217" y="2854869"/>
            <a:ext cx="524708" cy="282440"/>
          </a:xfrm>
          <a:prstGeom prst="rect">
            <a:avLst/>
          </a:prstGeom>
          <a:blipFill>
            <a:blip r:embed="rId25" cstate="print"/>
            <a:stretch>
              <a:fillRect/>
            </a:stretch>
          </a:blipFill>
        </p:spPr>
        <p:txBody>
          <a:bodyPr wrap="square" lIns="0" tIns="0" rIns="0" bIns="0" rtlCol="0"/>
          <a:lstStyle/>
          <a:p>
            <a:endParaRPr sz="1031"/>
          </a:p>
        </p:txBody>
      </p:sp>
      <p:sp>
        <p:nvSpPr>
          <p:cNvPr id="52" name="object 52"/>
          <p:cNvSpPr/>
          <p:nvPr/>
        </p:nvSpPr>
        <p:spPr>
          <a:xfrm>
            <a:off x="5645214" y="2854869"/>
            <a:ext cx="525036" cy="282712"/>
          </a:xfrm>
          <a:custGeom>
            <a:avLst/>
            <a:gdLst/>
            <a:ahLst/>
            <a:cxnLst/>
            <a:rect l="l" t="t" r="r" b="b"/>
            <a:pathLst>
              <a:path w="916304" h="493395">
                <a:moveTo>
                  <a:pt x="67831" y="0"/>
                </a:moveTo>
                <a:lnTo>
                  <a:pt x="847899" y="0"/>
                </a:lnTo>
                <a:lnTo>
                  <a:pt x="874302" y="5343"/>
                </a:lnTo>
                <a:lnTo>
                  <a:pt x="895863" y="19913"/>
                </a:lnTo>
                <a:lnTo>
                  <a:pt x="910400" y="41524"/>
                </a:lnTo>
                <a:lnTo>
                  <a:pt x="915731" y="67989"/>
                </a:lnTo>
                <a:lnTo>
                  <a:pt x="915731" y="424931"/>
                </a:lnTo>
                <a:lnTo>
                  <a:pt x="910400" y="451395"/>
                </a:lnTo>
                <a:lnTo>
                  <a:pt x="895863" y="473006"/>
                </a:lnTo>
                <a:lnTo>
                  <a:pt x="874302" y="487577"/>
                </a:lnTo>
                <a:lnTo>
                  <a:pt x="847899"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53" name="object 53"/>
          <p:cNvSpPr txBox="1"/>
          <p:nvPr/>
        </p:nvSpPr>
        <p:spPr>
          <a:xfrm>
            <a:off x="5828782" y="2927999"/>
            <a:ext cx="153545"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QA</a:t>
            </a:r>
            <a:endParaRPr sz="745">
              <a:latin typeface="Arial"/>
              <a:cs typeface="Arial"/>
            </a:endParaRPr>
          </a:p>
        </p:txBody>
      </p:sp>
      <p:sp>
        <p:nvSpPr>
          <p:cNvPr id="54" name="object 54"/>
          <p:cNvSpPr/>
          <p:nvPr/>
        </p:nvSpPr>
        <p:spPr>
          <a:xfrm>
            <a:off x="6816090" y="2820782"/>
            <a:ext cx="602442" cy="360354"/>
          </a:xfrm>
          <a:prstGeom prst="rect">
            <a:avLst/>
          </a:prstGeom>
          <a:blipFill>
            <a:blip r:embed="rId24" cstate="print"/>
            <a:stretch>
              <a:fillRect/>
            </a:stretch>
          </a:blipFill>
        </p:spPr>
        <p:txBody>
          <a:bodyPr wrap="square" lIns="0" tIns="0" rIns="0" bIns="0" rtlCol="0"/>
          <a:lstStyle/>
          <a:p>
            <a:endParaRPr sz="1031"/>
          </a:p>
        </p:txBody>
      </p:sp>
      <p:sp>
        <p:nvSpPr>
          <p:cNvPr id="55" name="object 55"/>
          <p:cNvSpPr/>
          <p:nvPr/>
        </p:nvSpPr>
        <p:spPr>
          <a:xfrm>
            <a:off x="6859817" y="2854869"/>
            <a:ext cx="524707" cy="282440"/>
          </a:xfrm>
          <a:prstGeom prst="rect">
            <a:avLst/>
          </a:prstGeom>
          <a:blipFill>
            <a:blip r:embed="rId23" cstate="print"/>
            <a:stretch>
              <a:fillRect/>
            </a:stretch>
          </a:blipFill>
        </p:spPr>
        <p:txBody>
          <a:bodyPr wrap="square" lIns="0" tIns="0" rIns="0" bIns="0" rtlCol="0"/>
          <a:lstStyle/>
          <a:p>
            <a:endParaRPr sz="1031"/>
          </a:p>
        </p:txBody>
      </p:sp>
      <p:sp>
        <p:nvSpPr>
          <p:cNvPr id="56" name="object 56"/>
          <p:cNvSpPr/>
          <p:nvPr/>
        </p:nvSpPr>
        <p:spPr>
          <a:xfrm>
            <a:off x="6859815" y="2854869"/>
            <a:ext cx="525036" cy="282712"/>
          </a:xfrm>
          <a:custGeom>
            <a:avLst/>
            <a:gdLst/>
            <a:ahLst/>
            <a:cxnLst/>
            <a:rect l="l" t="t" r="r" b="b"/>
            <a:pathLst>
              <a:path w="916304" h="493395">
                <a:moveTo>
                  <a:pt x="67831" y="0"/>
                </a:moveTo>
                <a:lnTo>
                  <a:pt x="847899" y="0"/>
                </a:lnTo>
                <a:lnTo>
                  <a:pt x="874302" y="5343"/>
                </a:lnTo>
                <a:lnTo>
                  <a:pt x="895863" y="19913"/>
                </a:lnTo>
                <a:lnTo>
                  <a:pt x="910400" y="41524"/>
                </a:lnTo>
                <a:lnTo>
                  <a:pt x="915731" y="67989"/>
                </a:lnTo>
                <a:lnTo>
                  <a:pt x="915731" y="424931"/>
                </a:lnTo>
                <a:lnTo>
                  <a:pt x="910400" y="451395"/>
                </a:lnTo>
                <a:lnTo>
                  <a:pt x="895863" y="473006"/>
                </a:lnTo>
                <a:lnTo>
                  <a:pt x="874302" y="487577"/>
                </a:lnTo>
                <a:lnTo>
                  <a:pt x="847899"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57" name="object 57"/>
          <p:cNvSpPr txBox="1"/>
          <p:nvPr/>
        </p:nvSpPr>
        <p:spPr>
          <a:xfrm>
            <a:off x="6984010" y="2927999"/>
            <a:ext cx="266702"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PERF</a:t>
            </a:r>
            <a:endParaRPr sz="745">
              <a:latin typeface="Arial"/>
              <a:cs typeface="Arial"/>
            </a:endParaRPr>
          </a:p>
        </p:txBody>
      </p:sp>
      <p:sp>
        <p:nvSpPr>
          <p:cNvPr id="58" name="object 58"/>
          <p:cNvSpPr/>
          <p:nvPr/>
        </p:nvSpPr>
        <p:spPr>
          <a:xfrm>
            <a:off x="7418530" y="2820782"/>
            <a:ext cx="660742" cy="360354"/>
          </a:xfrm>
          <a:prstGeom prst="rect">
            <a:avLst/>
          </a:prstGeom>
          <a:blipFill>
            <a:blip r:embed="rId26" cstate="print"/>
            <a:stretch>
              <a:fillRect/>
            </a:stretch>
          </a:blipFill>
        </p:spPr>
        <p:txBody>
          <a:bodyPr wrap="square" lIns="0" tIns="0" rIns="0" bIns="0" rtlCol="0"/>
          <a:lstStyle/>
          <a:p>
            <a:endParaRPr sz="1031"/>
          </a:p>
        </p:txBody>
      </p:sp>
      <p:sp>
        <p:nvSpPr>
          <p:cNvPr id="59" name="object 59"/>
          <p:cNvSpPr/>
          <p:nvPr/>
        </p:nvSpPr>
        <p:spPr>
          <a:xfrm>
            <a:off x="7462257" y="2854869"/>
            <a:ext cx="583006" cy="282440"/>
          </a:xfrm>
          <a:prstGeom prst="rect">
            <a:avLst/>
          </a:prstGeom>
          <a:blipFill>
            <a:blip r:embed="rId27" cstate="print"/>
            <a:stretch>
              <a:fillRect/>
            </a:stretch>
          </a:blipFill>
        </p:spPr>
        <p:txBody>
          <a:bodyPr wrap="square" lIns="0" tIns="0" rIns="0" bIns="0" rtlCol="0"/>
          <a:lstStyle/>
          <a:p>
            <a:endParaRPr sz="1031"/>
          </a:p>
        </p:txBody>
      </p:sp>
      <p:sp>
        <p:nvSpPr>
          <p:cNvPr id="60" name="object 60"/>
          <p:cNvSpPr/>
          <p:nvPr/>
        </p:nvSpPr>
        <p:spPr>
          <a:xfrm>
            <a:off x="7462256" y="2854869"/>
            <a:ext cx="583252" cy="282712"/>
          </a:xfrm>
          <a:custGeom>
            <a:avLst/>
            <a:gdLst/>
            <a:ahLst/>
            <a:cxnLst/>
            <a:rect l="l" t="t" r="r" b="b"/>
            <a:pathLst>
              <a:path w="1017905" h="493395">
                <a:moveTo>
                  <a:pt x="67831" y="0"/>
                </a:moveTo>
                <a:lnTo>
                  <a:pt x="949647" y="0"/>
                </a:lnTo>
                <a:lnTo>
                  <a:pt x="976050" y="5343"/>
                </a:lnTo>
                <a:lnTo>
                  <a:pt x="997611" y="19913"/>
                </a:lnTo>
                <a:lnTo>
                  <a:pt x="1012148" y="41524"/>
                </a:lnTo>
                <a:lnTo>
                  <a:pt x="1017479" y="67989"/>
                </a:lnTo>
                <a:lnTo>
                  <a:pt x="1017479" y="424931"/>
                </a:lnTo>
                <a:lnTo>
                  <a:pt x="1012148" y="451395"/>
                </a:lnTo>
                <a:lnTo>
                  <a:pt x="997611" y="473006"/>
                </a:lnTo>
                <a:lnTo>
                  <a:pt x="976050" y="487577"/>
                </a:lnTo>
                <a:lnTo>
                  <a:pt x="949647"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9">
            <a:solidFill>
              <a:srgbClr val="445E2D"/>
            </a:solidFill>
          </a:ln>
        </p:spPr>
        <p:txBody>
          <a:bodyPr wrap="square" lIns="0" tIns="0" rIns="0" bIns="0" rtlCol="0"/>
          <a:lstStyle/>
          <a:p>
            <a:endParaRPr sz="1031"/>
          </a:p>
        </p:txBody>
      </p:sp>
      <p:sp>
        <p:nvSpPr>
          <p:cNvPr id="61" name="object 61"/>
          <p:cNvSpPr txBox="1"/>
          <p:nvPr/>
        </p:nvSpPr>
        <p:spPr>
          <a:xfrm>
            <a:off x="7604927" y="2927999"/>
            <a:ext cx="291808"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PROD</a:t>
            </a:r>
            <a:endParaRPr sz="745">
              <a:latin typeface="Arial"/>
              <a:cs typeface="Arial"/>
            </a:endParaRPr>
          </a:p>
        </p:txBody>
      </p:sp>
      <p:sp>
        <p:nvSpPr>
          <p:cNvPr id="62" name="object 62"/>
          <p:cNvSpPr/>
          <p:nvPr/>
        </p:nvSpPr>
        <p:spPr>
          <a:xfrm>
            <a:off x="4357739" y="3298008"/>
            <a:ext cx="602442" cy="301918"/>
          </a:xfrm>
          <a:prstGeom prst="rect">
            <a:avLst/>
          </a:prstGeom>
          <a:blipFill>
            <a:blip r:embed="rId28" cstate="print"/>
            <a:stretch>
              <a:fillRect/>
            </a:stretch>
          </a:blipFill>
        </p:spPr>
        <p:txBody>
          <a:bodyPr wrap="square" lIns="0" tIns="0" rIns="0" bIns="0" rtlCol="0"/>
          <a:lstStyle/>
          <a:p>
            <a:endParaRPr sz="1031"/>
          </a:p>
        </p:txBody>
      </p:sp>
      <p:sp>
        <p:nvSpPr>
          <p:cNvPr id="63" name="object 63"/>
          <p:cNvSpPr/>
          <p:nvPr/>
        </p:nvSpPr>
        <p:spPr>
          <a:xfrm>
            <a:off x="4411182" y="3332096"/>
            <a:ext cx="514990" cy="214264"/>
          </a:xfrm>
          <a:prstGeom prst="rect">
            <a:avLst/>
          </a:prstGeom>
          <a:blipFill>
            <a:blip r:embed="rId29" cstate="print"/>
            <a:stretch>
              <a:fillRect/>
            </a:stretch>
          </a:blipFill>
        </p:spPr>
        <p:txBody>
          <a:bodyPr wrap="square" lIns="0" tIns="0" rIns="0" bIns="0" rtlCol="0"/>
          <a:lstStyle/>
          <a:p>
            <a:endParaRPr sz="1031"/>
          </a:p>
        </p:txBody>
      </p:sp>
      <p:sp>
        <p:nvSpPr>
          <p:cNvPr id="64" name="object 64"/>
          <p:cNvSpPr/>
          <p:nvPr/>
        </p:nvSpPr>
        <p:spPr>
          <a:xfrm>
            <a:off x="4411181" y="3332096"/>
            <a:ext cx="515212" cy="214308"/>
          </a:xfrm>
          <a:custGeom>
            <a:avLst/>
            <a:gdLst/>
            <a:ahLst/>
            <a:cxnLst/>
            <a:rect l="l" t="t" r="r" b="b"/>
            <a:pathLst>
              <a:path w="899159" h="374014">
                <a:moveTo>
                  <a:pt x="67831" y="0"/>
                </a:moveTo>
                <a:lnTo>
                  <a:pt x="830941" y="0"/>
                </a:lnTo>
                <a:lnTo>
                  <a:pt x="857344" y="5343"/>
                </a:lnTo>
                <a:lnTo>
                  <a:pt x="878905" y="19913"/>
                </a:lnTo>
                <a:lnTo>
                  <a:pt x="893442" y="41524"/>
                </a:lnTo>
                <a:lnTo>
                  <a:pt x="898773" y="67989"/>
                </a:lnTo>
                <a:lnTo>
                  <a:pt x="898773" y="305950"/>
                </a:lnTo>
                <a:lnTo>
                  <a:pt x="893442" y="332414"/>
                </a:lnTo>
                <a:lnTo>
                  <a:pt x="878905" y="354025"/>
                </a:lnTo>
                <a:lnTo>
                  <a:pt x="857344" y="368596"/>
                </a:lnTo>
                <a:lnTo>
                  <a:pt x="830941"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1">
            <a:solidFill>
              <a:srgbClr val="445E2D"/>
            </a:solidFill>
          </a:ln>
        </p:spPr>
        <p:txBody>
          <a:bodyPr wrap="square" lIns="0" tIns="0" rIns="0" bIns="0" rtlCol="0"/>
          <a:lstStyle/>
          <a:p>
            <a:endParaRPr sz="1031"/>
          </a:p>
        </p:txBody>
      </p:sp>
      <p:sp>
        <p:nvSpPr>
          <p:cNvPr id="65" name="object 65"/>
          <p:cNvSpPr txBox="1"/>
          <p:nvPr/>
        </p:nvSpPr>
        <p:spPr>
          <a:xfrm>
            <a:off x="4563275" y="3369718"/>
            <a:ext cx="205575" cy="124567"/>
          </a:xfrm>
          <a:prstGeom prst="rect">
            <a:avLst/>
          </a:prstGeom>
        </p:spPr>
        <p:txBody>
          <a:bodyPr vert="horz" wrap="square" lIns="0" tIns="9824" rIns="0" bIns="0" rtlCol="0">
            <a:spAutoFit/>
          </a:bodyPr>
          <a:lstStyle/>
          <a:p>
            <a:pPr marL="7277">
              <a:spcBef>
                <a:spcPts val="77"/>
              </a:spcBef>
            </a:pPr>
            <a:r>
              <a:rPr sz="745" spc="-11" dirty="0">
                <a:solidFill>
                  <a:srgbClr val="FFFFFF"/>
                </a:solidFill>
                <a:latin typeface="Arial"/>
                <a:cs typeface="Arial"/>
              </a:rPr>
              <a:t>DEV</a:t>
            </a:r>
            <a:endParaRPr sz="745">
              <a:latin typeface="Arial"/>
              <a:cs typeface="Arial"/>
            </a:endParaRPr>
          </a:p>
        </p:txBody>
      </p:sp>
      <p:sp>
        <p:nvSpPr>
          <p:cNvPr id="66" name="object 66"/>
          <p:cNvSpPr/>
          <p:nvPr/>
        </p:nvSpPr>
        <p:spPr>
          <a:xfrm>
            <a:off x="4989331" y="3298008"/>
            <a:ext cx="602442" cy="301918"/>
          </a:xfrm>
          <a:prstGeom prst="rect">
            <a:avLst/>
          </a:prstGeom>
          <a:blipFill>
            <a:blip r:embed="rId30" cstate="print"/>
            <a:stretch>
              <a:fillRect/>
            </a:stretch>
          </a:blipFill>
        </p:spPr>
        <p:txBody>
          <a:bodyPr wrap="square" lIns="0" tIns="0" rIns="0" bIns="0" rtlCol="0"/>
          <a:lstStyle/>
          <a:p>
            <a:endParaRPr sz="1031"/>
          </a:p>
        </p:txBody>
      </p:sp>
      <p:sp>
        <p:nvSpPr>
          <p:cNvPr id="67" name="object 67"/>
          <p:cNvSpPr/>
          <p:nvPr/>
        </p:nvSpPr>
        <p:spPr>
          <a:xfrm>
            <a:off x="5042774" y="3332096"/>
            <a:ext cx="524707" cy="214264"/>
          </a:xfrm>
          <a:prstGeom prst="rect">
            <a:avLst/>
          </a:prstGeom>
          <a:blipFill>
            <a:blip r:embed="rId31" cstate="print"/>
            <a:stretch>
              <a:fillRect/>
            </a:stretch>
          </a:blipFill>
        </p:spPr>
        <p:txBody>
          <a:bodyPr wrap="square" lIns="0" tIns="0" rIns="0" bIns="0" rtlCol="0"/>
          <a:lstStyle/>
          <a:p>
            <a:endParaRPr sz="1031"/>
          </a:p>
        </p:txBody>
      </p:sp>
      <p:sp>
        <p:nvSpPr>
          <p:cNvPr id="68" name="object 68"/>
          <p:cNvSpPr/>
          <p:nvPr/>
        </p:nvSpPr>
        <p:spPr>
          <a:xfrm>
            <a:off x="5042773" y="3332096"/>
            <a:ext cx="525036" cy="214308"/>
          </a:xfrm>
          <a:custGeom>
            <a:avLst/>
            <a:gdLst/>
            <a:ahLst/>
            <a:cxnLst/>
            <a:rect l="l" t="t" r="r" b="b"/>
            <a:pathLst>
              <a:path w="916304" h="374014">
                <a:moveTo>
                  <a:pt x="67831" y="0"/>
                </a:moveTo>
                <a:lnTo>
                  <a:pt x="847899" y="0"/>
                </a:lnTo>
                <a:lnTo>
                  <a:pt x="874302" y="5343"/>
                </a:lnTo>
                <a:lnTo>
                  <a:pt x="895863" y="19913"/>
                </a:lnTo>
                <a:lnTo>
                  <a:pt x="910400" y="41524"/>
                </a:lnTo>
                <a:lnTo>
                  <a:pt x="915731" y="67989"/>
                </a:lnTo>
                <a:lnTo>
                  <a:pt x="915731" y="305950"/>
                </a:lnTo>
                <a:lnTo>
                  <a:pt x="910400" y="332414"/>
                </a:lnTo>
                <a:lnTo>
                  <a:pt x="895863" y="354025"/>
                </a:lnTo>
                <a:lnTo>
                  <a:pt x="874302" y="368596"/>
                </a:lnTo>
                <a:lnTo>
                  <a:pt x="847899"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1">
            <a:solidFill>
              <a:srgbClr val="445E2D"/>
            </a:solidFill>
          </a:ln>
        </p:spPr>
        <p:txBody>
          <a:bodyPr wrap="square" lIns="0" tIns="0" rIns="0" bIns="0" rtlCol="0"/>
          <a:lstStyle/>
          <a:p>
            <a:endParaRPr sz="1031"/>
          </a:p>
        </p:txBody>
      </p:sp>
      <p:sp>
        <p:nvSpPr>
          <p:cNvPr id="69" name="object 69"/>
          <p:cNvSpPr txBox="1"/>
          <p:nvPr/>
        </p:nvSpPr>
        <p:spPr>
          <a:xfrm>
            <a:off x="5214756" y="3369718"/>
            <a:ext cx="169554"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INT</a:t>
            </a:r>
            <a:endParaRPr sz="745">
              <a:latin typeface="Arial"/>
              <a:cs typeface="Arial"/>
            </a:endParaRPr>
          </a:p>
        </p:txBody>
      </p:sp>
      <p:sp>
        <p:nvSpPr>
          <p:cNvPr id="70" name="object 70"/>
          <p:cNvSpPr/>
          <p:nvPr/>
        </p:nvSpPr>
        <p:spPr>
          <a:xfrm>
            <a:off x="6203931" y="2820782"/>
            <a:ext cx="602442" cy="360354"/>
          </a:xfrm>
          <a:prstGeom prst="rect">
            <a:avLst/>
          </a:prstGeom>
          <a:blipFill>
            <a:blip r:embed="rId24" cstate="print"/>
            <a:stretch>
              <a:fillRect/>
            </a:stretch>
          </a:blipFill>
        </p:spPr>
        <p:txBody>
          <a:bodyPr wrap="square" lIns="0" tIns="0" rIns="0" bIns="0" rtlCol="0"/>
          <a:lstStyle/>
          <a:p>
            <a:endParaRPr sz="1031"/>
          </a:p>
        </p:txBody>
      </p:sp>
      <p:sp>
        <p:nvSpPr>
          <p:cNvPr id="71" name="object 71"/>
          <p:cNvSpPr/>
          <p:nvPr/>
        </p:nvSpPr>
        <p:spPr>
          <a:xfrm>
            <a:off x="6247657" y="2854869"/>
            <a:ext cx="524707" cy="282440"/>
          </a:xfrm>
          <a:prstGeom prst="rect">
            <a:avLst/>
          </a:prstGeom>
          <a:blipFill>
            <a:blip r:embed="rId32" cstate="print"/>
            <a:stretch>
              <a:fillRect/>
            </a:stretch>
          </a:blipFill>
        </p:spPr>
        <p:txBody>
          <a:bodyPr wrap="square" lIns="0" tIns="0" rIns="0" bIns="0" rtlCol="0"/>
          <a:lstStyle/>
          <a:p>
            <a:endParaRPr sz="1031"/>
          </a:p>
        </p:txBody>
      </p:sp>
      <p:sp>
        <p:nvSpPr>
          <p:cNvPr id="72" name="object 72"/>
          <p:cNvSpPr/>
          <p:nvPr/>
        </p:nvSpPr>
        <p:spPr>
          <a:xfrm>
            <a:off x="6247657" y="2854869"/>
            <a:ext cx="525036" cy="282712"/>
          </a:xfrm>
          <a:custGeom>
            <a:avLst/>
            <a:gdLst/>
            <a:ahLst/>
            <a:cxnLst/>
            <a:rect l="l" t="t" r="r" b="b"/>
            <a:pathLst>
              <a:path w="916304" h="493395">
                <a:moveTo>
                  <a:pt x="67831" y="0"/>
                </a:moveTo>
                <a:lnTo>
                  <a:pt x="847899" y="0"/>
                </a:lnTo>
                <a:lnTo>
                  <a:pt x="874302" y="5343"/>
                </a:lnTo>
                <a:lnTo>
                  <a:pt x="895863" y="19913"/>
                </a:lnTo>
                <a:lnTo>
                  <a:pt x="910400" y="41524"/>
                </a:lnTo>
                <a:lnTo>
                  <a:pt x="915731" y="67989"/>
                </a:lnTo>
                <a:lnTo>
                  <a:pt x="915731" y="424931"/>
                </a:lnTo>
                <a:lnTo>
                  <a:pt x="910400" y="451395"/>
                </a:lnTo>
                <a:lnTo>
                  <a:pt x="895863" y="473006"/>
                </a:lnTo>
                <a:lnTo>
                  <a:pt x="874302" y="487577"/>
                </a:lnTo>
                <a:lnTo>
                  <a:pt x="847899" y="492920"/>
                </a:lnTo>
                <a:lnTo>
                  <a:pt x="67831" y="492920"/>
                </a:lnTo>
                <a:lnTo>
                  <a:pt x="41428" y="487577"/>
                </a:lnTo>
                <a:lnTo>
                  <a:pt x="19867" y="473006"/>
                </a:lnTo>
                <a:lnTo>
                  <a:pt x="5330" y="451395"/>
                </a:lnTo>
                <a:lnTo>
                  <a:pt x="0" y="424931"/>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73" name="object 73"/>
          <p:cNvSpPr txBox="1"/>
          <p:nvPr/>
        </p:nvSpPr>
        <p:spPr>
          <a:xfrm>
            <a:off x="6406907" y="2927999"/>
            <a:ext cx="209214"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SEC</a:t>
            </a:r>
            <a:endParaRPr sz="745">
              <a:latin typeface="Arial"/>
              <a:cs typeface="Arial"/>
            </a:endParaRPr>
          </a:p>
        </p:txBody>
      </p:sp>
      <p:sp>
        <p:nvSpPr>
          <p:cNvPr id="74" name="object 74"/>
          <p:cNvSpPr/>
          <p:nvPr/>
        </p:nvSpPr>
        <p:spPr>
          <a:xfrm>
            <a:off x="5601490" y="3298008"/>
            <a:ext cx="602442" cy="301918"/>
          </a:xfrm>
          <a:prstGeom prst="rect">
            <a:avLst/>
          </a:prstGeom>
          <a:blipFill>
            <a:blip r:embed="rId33" cstate="print"/>
            <a:stretch>
              <a:fillRect/>
            </a:stretch>
          </a:blipFill>
        </p:spPr>
        <p:txBody>
          <a:bodyPr wrap="square" lIns="0" tIns="0" rIns="0" bIns="0" rtlCol="0"/>
          <a:lstStyle/>
          <a:p>
            <a:endParaRPr sz="1031"/>
          </a:p>
        </p:txBody>
      </p:sp>
      <p:sp>
        <p:nvSpPr>
          <p:cNvPr id="75" name="object 75"/>
          <p:cNvSpPr/>
          <p:nvPr/>
        </p:nvSpPr>
        <p:spPr>
          <a:xfrm>
            <a:off x="5645217" y="3332096"/>
            <a:ext cx="524708" cy="214264"/>
          </a:xfrm>
          <a:prstGeom prst="rect">
            <a:avLst/>
          </a:prstGeom>
          <a:blipFill>
            <a:blip r:embed="rId34" cstate="print"/>
            <a:stretch>
              <a:fillRect/>
            </a:stretch>
          </a:blipFill>
        </p:spPr>
        <p:txBody>
          <a:bodyPr wrap="square" lIns="0" tIns="0" rIns="0" bIns="0" rtlCol="0"/>
          <a:lstStyle/>
          <a:p>
            <a:endParaRPr sz="1031"/>
          </a:p>
        </p:txBody>
      </p:sp>
      <p:sp>
        <p:nvSpPr>
          <p:cNvPr id="76" name="object 76"/>
          <p:cNvSpPr/>
          <p:nvPr/>
        </p:nvSpPr>
        <p:spPr>
          <a:xfrm>
            <a:off x="5645214" y="3332096"/>
            <a:ext cx="525036" cy="214308"/>
          </a:xfrm>
          <a:custGeom>
            <a:avLst/>
            <a:gdLst/>
            <a:ahLst/>
            <a:cxnLst/>
            <a:rect l="l" t="t" r="r" b="b"/>
            <a:pathLst>
              <a:path w="916304" h="374014">
                <a:moveTo>
                  <a:pt x="67831" y="0"/>
                </a:moveTo>
                <a:lnTo>
                  <a:pt x="847899" y="0"/>
                </a:lnTo>
                <a:lnTo>
                  <a:pt x="874302" y="5343"/>
                </a:lnTo>
                <a:lnTo>
                  <a:pt x="895863" y="19913"/>
                </a:lnTo>
                <a:lnTo>
                  <a:pt x="910400" y="41524"/>
                </a:lnTo>
                <a:lnTo>
                  <a:pt x="915731" y="67989"/>
                </a:lnTo>
                <a:lnTo>
                  <a:pt x="915731" y="305950"/>
                </a:lnTo>
                <a:lnTo>
                  <a:pt x="910400" y="332414"/>
                </a:lnTo>
                <a:lnTo>
                  <a:pt x="895863" y="354025"/>
                </a:lnTo>
                <a:lnTo>
                  <a:pt x="874302" y="368596"/>
                </a:lnTo>
                <a:lnTo>
                  <a:pt x="847899"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1">
            <a:solidFill>
              <a:srgbClr val="445E2D"/>
            </a:solidFill>
          </a:ln>
        </p:spPr>
        <p:txBody>
          <a:bodyPr wrap="square" lIns="0" tIns="0" rIns="0" bIns="0" rtlCol="0"/>
          <a:lstStyle/>
          <a:p>
            <a:endParaRPr sz="1031"/>
          </a:p>
        </p:txBody>
      </p:sp>
      <p:sp>
        <p:nvSpPr>
          <p:cNvPr id="77" name="object 77"/>
          <p:cNvSpPr txBox="1"/>
          <p:nvPr/>
        </p:nvSpPr>
        <p:spPr>
          <a:xfrm>
            <a:off x="5828782" y="3369718"/>
            <a:ext cx="153545"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QA</a:t>
            </a:r>
            <a:endParaRPr sz="745">
              <a:latin typeface="Arial"/>
              <a:cs typeface="Arial"/>
            </a:endParaRPr>
          </a:p>
        </p:txBody>
      </p:sp>
      <p:sp>
        <p:nvSpPr>
          <p:cNvPr id="78" name="object 78"/>
          <p:cNvSpPr/>
          <p:nvPr/>
        </p:nvSpPr>
        <p:spPr>
          <a:xfrm>
            <a:off x="6203931" y="3298008"/>
            <a:ext cx="602442" cy="301918"/>
          </a:xfrm>
          <a:prstGeom prst="rect">
            <a:avLst/>
          </a:prstGeom>
          <a:blipFill>
            <a:blip r:embed="rId33" cstate="print"/>
            <a:stretch>
              <a:fillRect/>
            </a:stretch>
          </a:blipFill>
        </p:spPr>
        <p:txBody>
          <a:bodyPr wrap="square" lIns="0" tIns="0" rIns="0" bIns="0" rtlCol="0"/>
          <a:lstStyle/>
          <a:p>
            <a:endParaRPr sz="1031"/>
          </a:p>
        </p:txBody>
      </p:sp>
      <p:sp>
        <p:nvSpPr>
          <p:cNvPr id="79" name="object 79"/>
          <p:cNvSpPr/>
          <p:nvPr/>
        </p:nvSpPr>
        <p:spPr>
          <a:xfrm>
            <a:off x="6247657" y="3332096"/>
            <a:ext cx="524707" cy="214264"/>
          </a:xfrm>
          <a:prstGeom prst="rect">
            <a:avLst/>
          </a:prstGeom>
          <a:blipFill>
            <a:blip r:embed="rId35" cstate="print"/>
            <a:stretch>
              <a:fillRect/>
            </a:stretch>
          </a:blipFill>
        </p:spPr>
        <p:txBody>
          <a:bodyPr wrap="square" lIns="0" tIns="0" rIns="0" bIns="0" rtlCol="0"/>
          <a:lstStyle/>
          <a:p>
            <a:endParaRPr sz="1031"/>
          </a:p>
        </p:txBody>
      </p:sp>
      <p:sp>
        <p:nvSpPr>
          <p:cNvPr id="80" name="object 80"/>
          <p:cNvSpPr/>
          <p:nvPr/>
        </p:nvSpPr>
        <p:spPr>
          <a:xfrm>
            <a:off x="6247657" y="3332096"/>
            <a:ext cx="525036" cy="214308"/>
          </a:xfrm>
          <a:custGeom>
            <a:avLst/>
            <a:gdLst/>
            <a:ahLst/>
            <a:cxnLst/>
            <a:rect l="l" t="t" r="r" b="b"/>
            <a:pathLst>
              <a:path w="916304" h="374014">
                <a:moveTo>
                  <a:pt x="67831" y="0"/>
                </a:moveTo>
                <a:lnTo>
                  <a:pt x="847899" y="0"/>
                </a:lnTo>
                <a:lnTo>
                  <a:pt x="874302" y="5343"/>
                </a:lnTo>
                <a:lnTo>
                  <a:pt x="895863" y="19913"/>
                </a:lnTo>
                <a:lnTo>
                  <a:pt x="910400" y="41524"/>
                </a:lnTo>
                <a:lnTo>
                  <a:pt x="915731" y="67989"/>
                </a:lnTo>
                <a:lnTo>
                  <a:pt x="915731" y="305950"/>
                </a:lnTo>
                <a:lnTo>
                  <a:pt x="910400" y="332414"/>
                </a:lnTo>
                <a:lnTo>
                  <a:pt x="895863" y="354025"/>
                </a:lnTo>
                <a:lnTo>
                  <a:pt x="874302" y="368596"/>
                </a:lnTo>
                <a:lnTo>
                  <a:pt x="847899"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1">
            <a:solidFill>
              <a:srgbClr val="445E2D"/>
            </a:solidFill>
          </a:ln>
        </p:spPr>
        <p:txBody>
          <a:bodyPr wrap="square" lIns="0" tIns="0" rIns="0" bIns="0" rtlCol="0"/>
          <a:lstStyle/>
          <a:p>
            <a:endParaRPr sz="1031"/>
          </a:p>
        </p:txBody>
      </p:sp>
      <p:sp>
        <p:nvSpPr>
          <p:cNvPr id="81" name="object 81"/>
          <p:cNvSpPr txBox="1"/>
          <p:nvPr/>
        </p:nvSpPr>
        <p:spPr>
          <a:xfrm>
            <a:off x="6406907" y="3369718"/>
            <a:ext cx="209214"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SEC</a:t>
            </a:r>
            <a:endParaRPr sz="745">
              <a:latin typeface="Arial"/>
              <a:cs typeface="Arial"/>
            </a:endParaRPr>
          </a:p>
        </p:txBody>
      </p:sp>
      <p:sp>
        <p:nvSpPr>
          <p:cNvPr id="82" name="object 82"/>
          <p:cNvSpPr/>
          <p:nvPr/>
        </p:nvSpPr>
        <p:spPr>
          <a:xfrm>
            <a:off x="6816090" y="3298008"/>
            <a:ext cx="602442" cy="301918"/>
          </a:xfrm>
          <a:prstGeom prst="rect">
            <a:avLst/>
          </a:prstGeom>
          <a:blipFill>
            <a:blip r:embed="rId33" cstate="print"/>
            <a:stretch>
              <a:fillRect/>
            </a:stretch>
          </a:blipFill>
        </p:spPr>
        <p:txBody>
          <a:bodyPr wrap="square" lIns="0" tIns="0" rIns="0" bIns="0" rtlCol="0"/>
          <a:lstStyle/>
          <a:p>
            <a:endParaRPr sz="1031"/>
          </a:p>
        </p:txBody>
      </p:sp>
      <p:sp>
        <p:nvSpPr>
          <p:cNvPr id="83" name="object 83"/>
          <p:cNvSpPr/>
          <p:nvPr/>
        </p:nvSpPr>
        <p:spPr>
          <a:xfrm>
            <a:off x="6859817" y="3332096"/>
            <a:ext cx="524707" cy="214264"/>
          </a:xfrm>
          <a:prstGeom prst="rect">
            <a:avLst/>
          </a:prstGeom>
          <a:blipFill>
            <a:blip r:embed="rId31" cstate="print"/>
            <a:stretch>
              <a:fillRect/>
            </a:stretch>
          </a:blipFill>
        </p:spPr>
        <p:txBody>
          <a:bodyPr wrap="square" lIns="0" tIns="0" rIns="0" bIns="0" rtlCol="0"/>
          <a:lstStyle/>
          <a:p>
            <a:endParaRPr sz="1031"/>
          </a:p>
        </p:txBody>
      </p:sp>
      <p:sp>
        <p:nvSpPr>
          <p:cNvPr id="84" name="object 84"/>
          <p:cNvSpPr/>
          <p:nvPr/>
        </p:nvSpPr>
        <p:spPr>
          <a:xfrm>
            <a:off x="6859815" y="3332096"/>
            <a:ext cx="525036" cy="214308"/>
          </a:xfrm>
          <a:custGeom>
            <a:avLst/>
            <a:gdLst/>
            <a:ahLst/>
            <a:cxnLst/>
            <a:rect l="l" t="t" r="r" b="b"/>
            <a:pathLst>
              <a:path w="916304" h="374014">
                <a:moveTo>
                  <a:pt x="67831" y="0"/>
                </a:moveTo>
                <a:lnTo>
                  <a:pt x="847899" y="0"/>
                </a:lnTo>
                <a:lnTo>
                  <a:pt x="874302" y="5343"/>
                </a:lnTo>
                <a:lnTo>
                  <a:pt x="895863" y="19913"/>
                </a:lnTo>
                <a:lnTo>
                  <a:pt x="910400" y="41524"/>
                </a:lnTo>
                <a:lnTo>
                  <a:pt x="915731" y="67989"/>
                </a:lnTo>
                <a:lnTo>
                  <a:pt x="915731" y="305950"/>
                </a:lnTo>
                <a:lnTo>
                  <a:pt x="910400" y="332414"/>
                </a:lnTo>
                <a:lnTo>
                  <a:pt x="895863" y="354025"/>
                </a:lnTo>
                <a:lnTo>
                  <a:pt x="874302" y="368596"/>
                </a:lnTo>
                <a:lnTo>
                  <a:pt x="847899"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1">
            <a:solidFill>
              <a:srgbClr val="445E2D"/>
            </a:solidFill>
          </a:ln>
        </p:spPr>
        <p:txBody>
          <a:bodyPr wrap="square" lIns="0" tIns="0" rIns="0" bIns="0" rtlCol="0"/>
          <a:lstStyle/>
          <a:p>
            <a:endParaRPr sz="1031"/>
          </a:p>
        </p:txBody>
      </p:sp>
      <p:sp>
        <p:nvSpPr>
          <p:cNvPr id="85" name="object 85"/>
          <p:cNvSpPr txBox="1"/>
          <p:nvPr/>
        </p:nvSpPr>
        <p:spPr>
          <a:xfrm>
            <a:off x="6984010" y="3369718"/>
            <a:ext cx="266702"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PERF</a:t>
            </a:r>
            <a:endParaRPr sz="745">
              <a:latin typeface="Arial"/>
              <a:cs typeface="Arial"/>
            </a:endParaRPr>
          </a:p>
        </p:txBody>
      </p:sp>
      <p:sp>
        <p:nvSpPr>
          <p:cNvPr id="86" name="object 86"/>
          <p:cNvSpPr/>
          <p:nvPr/>
        </p:nvSpPr>
        <p:spPr>
          <a:xfrm>
            <a:off x="7418530" y="3298008"/>
            <a:ext cx="660742" cy="301918"/>
          </a:xfrm>
          <a:prstGeom prst="rect">
            <a:avLst/>
          </a:prstGeom>
          <a:blipFill>
            <a:blip r:embed="rId36" cstate="print"/>
            <a:stretch>
              <a:fillRect/>
            </a:stretch>
          </a:blipFill>
        </p:spPr>
        <p:txBody>
          <a:bodyPr wrap="square" lIns="0" tIns="0" rIns="0" bIns="0" rtlCol="0"/>
          <a:lstStyle/>
          <a:p>
            <a:endParaRPr sz="1031"/>
          </a:p>
        </p:txBody>
      </p:sp>
      <p:sp>
        <p:nvSpPr>
          <p:cNvPr id="87" name="object 87"/>
          <p:cNvSpPr/>
          <p:nvPr/>
        </p:nvSpPr>
        <p:spPr>
          <a:xfrm>
            <a:off x="7462257" y="3332096"/>
            <a:ext cx="583006" cy="214264"/>
          </a:xfrm>
          <a:prstGeom prst="rect">
            <a:avLst/>
          </a:prstGeom>
          <a:blipFill>
            <a:blip r:embed="rId37" cstate="print"/>
            <a:stretch>
              <a:fillRect/>
            </a:stretch>
          </a:blipFill>
        </p:spPr>
        <p:txBody>
          <a:bodyPr wrap="square" lIns="0" tIns="0" rIns="0" bIns="0" rtlCol="0"/>
          <a:lstStyle/>
          <a:p>
            <a:endParaRPr sz="1031"/>
          </a:p>
        </p:txBody>
      </p:sp>
      <p:sp>
        <p:nvSpPr>
          <p:cNvPr id="88" name="object 88"/>
          <p:cNvSpPr/>
          <p:nvPr/>
        </p:nvSpPr>
        <p:spPr>
          <a:xfrm>
            <a:off x="7462256" y="3332096"/>
            <a:ext cx="583252" cy="214308"/>
          </a:xfrm>
          <a:custGeom>
            <a:avLst/>
            <a:gdLst/>
            <a:ahLst/>
            <a:cxnLst/>
            <a:rect l="l" t="t" r="r" b="b"/>
            <a:pathLst>
              <a:path w="1017905" h="374014">
                <a:moveTo>
                  <a:pt x="67831" y="0"/>
                </a:moveTo>
                <a:lnTo>
                  <a:pt x="949647" y="0"/>
                </a:lnTo>
                <a:lnTo>
                  <a:pt x="976050" y="5343"/>
                </a:lnTo>
                <a:lnTo>
                  <a:pt x="997611" y="19913"/>
                </a:lnTo>
                <a:lnTo>
                  <a:pt x="1012148" y="41524"/>
                </a:lnTo>
                <a:lnTo>
                  <a:pt x="1017479" y="67989"/>
                </a:lnTo>
                <a:lnTo>
                  <a:pt x="1017479" y="305950"/>
                </a:lnTo>
                <a:lnTo>
                  <a:pt x="1012148" y="332414"/>
                </a:lnTo>
                <a:lnTo>
                  <a:pt x="997611" y="354025"/>
                </a:lnTo>
                <a:lnTo>
                  <a:pt x="976050" y="368596"/>
                </a:lnTo>
                <a:lnTo>
                  <a:pt x="949647" y="373939"/>
                </a:lnTo>
                <a:lnTo>
                  <a:pt x="67831" y="373939"/>
                </a:lnTo>
                <a:lnTo>
                  <a:pt x="41428" y="368596"/>
                </a:lnTo>
                <a:lnTo>
                  <a:pt x="19867" y="354025"/>
                </a:lnTo>
                <a:lnTo>
                  <a:pt x="5330" y="332414"/>
                </a:lnTo>
                <a:lnTo>
                  <a:pt x="0" y="305950"/>
                </a:lnTo>
                <a:lnTo>
                  <a:pt x="0" y="67989"/>
                </a:lnTo>
                <a:lnTo>
                  <a:pt x="5330" y="41524"/>
                </a:lnTo>
                <a:lnTo>
                  <a:pt x="19867" y="19913"/>
                </a:lnTo>
                <a:lnTo>
                  <a:pt x="41428" y="5343"/>
                </a:lnTo>
                <a:lnTo>
                  <a:pt x="67831" y="0"/>
                </a:lnTo>
                <a:close/>
              </a:path>
            </a:pathLst>
          </a:custGeom>
          <a:ln w="16992">
            <a:solidFill>
              <a:srgbClr val="445E2D"/>
            </a:solidFill>
          </a:ln>
        </p:spPr>
        <p:txBody>
          <a:bodyPr wrap="square" lIns="0" tIns="0" rIns="0" bIns="0" rtlCol="0"/>
          <a:lstStyle/>
          <a:p>
            <a:endParaRPr sz="1031"/>
          </a:p>
        </p:txBody>
      </p:sp>
      <p:sp>
        <p:nvSpPr>
          <p:cNvPr id="89" name="object 89"/>
          <p:cNvSpPr txBox="1"/>
          <p:nvPr/>
        </p:nvSpPr>
        <p:spPr>
          <a:xfrm>
            <a:off x="7604927" y="3369718"/>
            <a:ext cx="291808"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PROD</a:t>
            </a:r>
            <a:endParaRPr sz="745">
              <a:latin typeface="Arial"/>
              <a:cs typeface="Arial"/>
            </a:endParaRPr>
          </a:p>
        </p:txBody>
      </p:sp>
      <p:sp>
        <p:nvSpPr>
          <p:cNvPr id="90" name="object 90"/>
          <p:cNvSpPr/>
          <p:nvPr/>
        </p:nvSpPr>
        <p:spPr>
          <a:xfrm>
            <a:off x="4357739" y="2382512"/>
            <a:ext cx="602442" cy="360354"/>
          </a:xfrm>
          <a:prstGeom prst="rect">
            <a:avLst/>
          </a:prstGeom>
          <a:blipFill>
            <a:blip r:embed="rId38" cstate="print"/>
            <a:stretch>
              <a:fillRect/>
            </a:stretch>
          </a:blipFill>
        </p:spPr>
        <p:txBody>
          <a:bodyPr wrap="square" lIns="0" tIns="0" rIns="0" bIns="0" rtlCol="0"/>
          <a:lstStyle/>
          <a:p>
            <a:endParaRPr sz="1031"/>
          </a:p>
        </p:txBody>
      </p:sp>
      <p:sp>
        <p:nvSpPr>
          <p:cNvPr id="91" name="object 91"/>
          <p:cNvSpPr/>
          <p:nvPr/>
        </p:nvSpPr>
        <p:spPr>
          <a:xfrm>
            <a:off x="4411182" y="2416600"/>
            <a:ext cx="514990" cy="272700"/>
          </a:xfrm>
          <a:prstGeom prst="rect">
            <a:avLst/>
          </a:prstGeom>
          <a:blipFill>
            <a:blip r:embed="rId39" cstate="print"/>
            <a:stretch>
              <a:fillRect/>
            </a:stretch>
          </a:blipFill>
        </p:spPr>
        <p:txBody>
          <a:bodyPr wrap="square" lIns="0" tIns="0" rIns="0" bIns="0" rtlCol="0"/>
          <a:lstStyle/>
          <a:p>
            <a:endParaRPr sz="1031"/>
          </a:p>
        </p:txBody>
      </p:sp>
      <p:sp>
        <p:nvSpPr>
          <p:cNvPr id="92" name="object 92"/>
          <p:cNvSpPr/>
          <p:nvPr/>
        </p:nvSpPr>
        <p:spPr>
          <a:xfrm>
            <a:off x="4411181" y="2416600"/>
            <a:ext cx="515212" cy="272888"/>
          </a:xfrm>
          <a:custGeom>
            <a:avLst/>
            <a:gdLst/>
            <a:ahLst/>
            <a:cxnLst/>
            <a:rect l="l" t="t" r="r" b="b"/>
            <a:pathLst>
              <a:path w="899159" h="476250">
                <a:moveTo>
                  <a:pt x="67831" y="0"/>
                </a:moveTo>
                <a:lnTo>
                  <a:pt x="830941" y="0"/>
                </a:lnTo>
                <a:lnTo>
                  <a:pt x="857344" y="5343"/>
                </a:lnTo>
                <a:lnTo>
                  <a:pt x="878905" y="19913"/>
                </a:lnTo>
                <a:lnTo>
                  <a:pt x="893442" y="41524"/>
                </a:lnTo>
                <a:lnTo>
                  <a:pt x="898773" y="67989"/>
                </a:lnTo>
                <a:lnTo>
                  <a:pt x="898773" y="407934"/>
                </a:lnTo>
                <a:lnTo>
                  <a:pt x="893442" y="434398"/>
                </a:lnTo>
                <a:lnTo>
                  <a:pt x="878905" y="456009"/>
                </a:lnTo>
                <a:lnTo>
                  <a:pt x="857344" y="470580"/>
                </a:lnTo>
                <a:lnTo>
                  <a:pt x="830941"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93" name="object 93"/>
          <p:cNvSpPr txBox="1"/>
          <p:nvPr/>
        </p:nvSpPr>
        <p:spPr>
          <a:xfrm>
            <a:off x="4563275" y="2486279"/>
            <a:ext cx="205575" cy="124567"/>
          </a:xfrm>
          <a:prstGeom prst="rect">
            <a:avLst/>
          </a:prstGeom>
        </p:spPr>
        <p:txBody>
          <a:bodyPr vert="horz" wrap="square" lIns="0" tIns="9824" rIns="0" bIns="0" rtlCol="0">
            <a:spAutoFit/>
          </a:bodyPr>
          <a:lstStyle/>
          <a:p>
            <a:pPr marL="7277">
              <a:spcBef>
                <a:spcPts val="77"/>
              </a:spcBef>
            </a:pPr>
            <a:r>
              <a:rPr sz="745" spc="-11" dirty="0">
                <a:solidFill>
                  <a:srgbClr val="FFFFFF"/>
                </a:solidFill>
                <a:latin typeface="Arial"/>
                <a:cs typeface="Arial"/>
              </a:rPr>
              <a:t>DEV</a:t>
            </a:r>
            <a:endParaRPr sz="745">
              <a:latin typeface="Arial"/>
              <a:cs typeface="Arial"/>
            </a:endParaRPr>
          </a:p>
        </p:txBody>
      </p:sp>
      <p:sp>
        <p:nvSpPr>
          <p:cNvPr id="94" name="object 94"/>
          <p:cNvSpPr/>
          <p:nvPr/>
        </p:nvSpPr>
        <p:spPr>
          <a:xfrm>
            <a:off x="4989331" y="2382512"/>
            <a:ext cx="602442" cy="360354"/>
          </a:xfrm>
          <a:prstGeom prst="rect">
            <a:avLst/>
          </a:prstGeom>
          <a:blipFill>
            <a:blip r:embed="rId40" cstate="print"/>
            <a:stretch>
              <a:fillRect/>
            </a:stretch>
          </a:blipFill>
        </p:spPr>
        <p:txBody>
          <a:bodyPr wrap="square" lIns="0" tIns="0" rIns="0" bIns="0" rtlCol="0"/>
          <a:lstStyle/>
          <a:p>
            <a:endParaRPr sz="1031"/>
          </a:p>
        </p:txBody>
      </p:sp>
      <p:sp>
        <p:nvSpPr>
          <p:cNvPr id="95" name="object 95"/>
          <p:cNvSpPr/>
          <p:nvPr/>
        </p:nvSpPr>
        <p:spPr>
          <a:xfrm>
            <a:off x="5042774" y="2416600"/>
            <a:ext cx="524707" cy="272700"/>
          </a:xfrm>
          <a:prstGeom prst="rect">
            <a:avLst/>
          </a:prstGeom>
          <a:blipFill>
            <a:blip r:embed="rId41" cstate="print"/>
            <a:stretch>
              <a:fillRect/>
            </a:stretch>
          </a:blipFill>
        </p:spPr>
        <p:txBody>
          <a:bodyPr wrap="square" lIns="0" tIns="0" rIns="0" bIns="0" rtlCol="0"/>
          <a:lstStyle/>
          <a:p>
            <a:endParaRPr sz="1031"/>
          </a:p>
        </p:txBody>
      </p:sp>
      <p:sp>
        <p:nvSpPr>
          <p:cNvPr id="96" name="object 96"/>
          <p:cNvSpPr/>
          <p:nvPr/>
        </p:nvSpPr>
        <p:spPr>
          <a:xfrm>
            <a:off x="5042773" y="2416600"/>
            <a:ext cx="525036" cy="272888"/>
          </a:xfrm>
          <a:custGeom>
            <a:avLst/>
            <a:gdLst/>
            <a:ahLst/>
            <a:cxnLst/>
            <a:rect l="l" t="t" r="r" b="b"/>
            <a:pathLst>
              <a:path w="916304" h="476250">
                <a:moveTo>
                  <a:pt x="67831" y="0"/>
                </a:moveTo>
                <a:lnTo>
                  <a:pt x="847899" y="0"/>
                </a:lnTo>
                <a:lnTo>
                  <a:pt x="874302" y="5343"/>
                </a:lnTo>
                <a:lnTo>
                  <a:pt x="895863" y="19913"/>
                </a:lnTo>
                <a:lnTo>
                  <a:pt x="910400" y="41524"/>
                </a:lnTo>
                <a:lnTo>
                  <a:pt x="915731" y="67989"/>
                </a:lnTo>
                <a:lnTo>
                  <a:pt x="915731" y="407934"/>
                </a:lnTo>
                <a:lnTo>
                  <a:pt x="910400" y="434398"/>
                </a:lnTo>
                <a:lnTo>
                  <a:pt x="895863" y="456009"/>
                </a:lnTo>
                <a:lnTo>
                  <a:pt x="874302" y="470580"/>
                </a:lnTo>
                <a:lnTo>
                  <a:pt x="847899"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97" name="object 97"/>
          <p:cNvSpPr txBox="1"/>
          <p:nvPr/>
        </p:nvSpPr>
        <p:spPr>
          <a:xfrm>
            <a:off x="5214756" y="2486279"/>
            <a:ext cx="169554"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INT</a:t>
            </a:r>
            <a:endParaRPr sz="745">
              <a:latin typeface="Arial"/>
              <a:cs typeface="Arial"/>
            </a:endParaRPr>
          </a:p>
        </p:txBody>
      </p:sp>
      <p:sp>
        <p:nvSpPr>
          <p:cNvPr id="98" name="object 98"/>
          <p:cNvSpPr/>
          <p:nvPr/>
        </p:nvSpPr>
        <p:spPr>
          <a:xfrm>
            <a:off x="5601490" y="2382512"/>
            <a:ext cx="602442" cy="360354"/>
          </a:xfrm>
          <a:prstGeom prst="rect">
            <a:avLst/>
          </a:prstGeom>
          <a:blipFill>
            <a:blip r:embed="rId42" cstate="print"/>
            <a:stretch>
              <a:fillRect/>
            </a:stretch>
          </a:blipFill>
        </p:spPr>
        <p:txBody>
          <a:bodyPr wrap="square" lIns="0" tIns="0" rIns="0" bIns="0" rtlCol="0"/>
          <a:lstStyle/>
          <a:p>
            <a:endParaRPr sz="1031"/>
          </a:p>
        </p:txBody>
      </p:sp>
      <p:sp>
        <p:nvSpPr>
          <p:cNvPr id="99" name="object 99"/>
          <p:cNvSpPr/>
          <p:nvPr/>
        </p:nvSpPr>
        <p:spPr>
          <a:xfrm>
            <a:off x="5645217" y="2416600"/>
            <a:ext cx="524708" cy="272700"/>
          </a:xfrm>
          <a:prstGeom prst="rect">
            <a:avLst/>
          </a:prstGeom>
          <a:blipFill>
            <a:blip r:embed="rId43" cstate="print"/>
            <a:stretch>
              <a:fillRect/>
            </a:stretch>
          </a:blipFill>
        </p:spPr>
        <p:txBody>
          <a:bodyPr wrap="square" lIns="0" tIns="0" rIns="0" bIns="0" rtlCol="0"/>
          <a:lstStyle/>
          <a:p>
            <a:endParaRPr sz="1031"/>
          </a:p>
        </p:txBody>
      </p:sp>
      <p:sp>
        <p:nvSpPr>
          <p:cNvPr id="100" name="object 100"/>
          <p:cNvSpPr/>
          <p:nvPr/>
        </p:nvSpPr>
        <p:spPr>
          <a:xfrm>
            <a:off x="5645214" y="2416600"/>
            <a:ext cx="525036" cy="272888"/>
          </a:xfrm>
          <a:custGeom>
            <a:avLst/>
            <a:gdLst/>
            <a:ahLst/>
            <a:cxnLst/>
            <a:rect l="l" t="t" r="r" b="b"/>
            <a:pathLst>
              <a:path w="916304" h="476250">
                <a:moveTo>
                  <a:pt x="67831" y="0"/>
                </a:moveTo>
                <a:lnTo>
                  <a:pt x="847899" y="0"/>
                </a:lnTo>
                <a:lnTo>
                  <a:pt x="874302" y="5343"/>
                </a:lnTo>
                <a:lnTo>
                  <a:pt x="895863" y="19913"/>
                </a:lnTo>
                <a:lnTo>
                  <a:pt x="910400" y="41524"/>
                </a:lnTo>
                <a:lnTo>
                  <a:pt x="915731" y="67989"/>
                </a:lnTo>
                <a:lnTo>
                  <a:pt x="915731" y="407934"/>
                </a:lnTo>
                <a:lnTo>
                  <a:pt x="910400" y="434398"/>
                </a:lnTo>
                <a:lnTo>
                  <a:pt x="895863" y="456009"/>
                </a:lnTo>
                <a:lnTo>
                  <a:pt x="874302" y="470580"/>
                </a:lnTo>
                <a:lnTo>
                  <a:pt x="847899"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101" name="object 101"/>
          <p:cNvSpPr txBox="1"/>
          <p:nvPr/>
        </p:nvSpPr>
        <p:spPr>
          <a:xfrm>
            <a:off x="5828782" y="2486279"/>
            <a:ext cx="153545"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QA</a:t>
            </a:r>
            <a:endParaRPr sz="745">
              <a:latin typeface="Arial"/>
              <a:cs typeface="Arial"/>
            </a:endParaRPr>
          </a:p>
        </p:txBody>
      </p:sp>
      <p:sp>
        <p:nvSpPr>
          <p:cNvPr id="102" name="object 102"/>
          <p:cNvSpPr/>
          <p:nvPr/>
        </p:nvSpPr>
        <p:spPr>
          <a:xfrm>
            <a:off x="6203931" y="2382512"/>
            <a:ext cx="602442" cy="360354"/>
          </a:xfrm>
          <a:prstGeom prst="rect">
            <a:avLst/>
          </a:prstGeom>
          <a:blipFill>
            <a:blip r:embed="rId42" cstate="print"/>
            <a:stretch>
              <a:fillRect/>
            </a:stretch>
          </a:blipFill>
        </p:spPr>
        <p:txBody>
          <a:bodyPr wrap="square" lIns="0" tIns="0" rIns="0" bIns="0" rtlCol="0"/>
          <a:lstStyle/>
          <a:p>
            <a:endParaRPr sz="1031"/>
          </a:p>
        </p:txBody>
      </p:sp>
      <p:sp>
        <p:nvSpPr>
          <p:cNvPr id="103" name="object 103"/>
          <p:cNvSpPr/>
          <p:nvPr/>
        </p:nvSpPr>
        <p:spPr>
          <a:xfrm>
            <a:off x="6247657" y="2416600"/>
            <a:ext cx="524707" cy="272700"/>
          </a:xfrm>
          <a:prstGeom prst="rect">
            <a:avLst/>
          </a:prstGeom>
          <a:blipFill>
            <a:blip r:embed="rId44" cstate="print"/>
            <a:stretch>
              <a:fillRect/>
            </a:stretch>
          </a:blipFill>
        </p:spPr>
        <p:txBody>
          <a:bodyPr wrap="square" lIns="0" tIns="0" rIns="0" bIns="0" rtlCol="0"/>
          <a:lstStyle/>
          <a:p>
            <a:endParaRPr sz="1031"/>
          </a:p>
        </p:txBody>
      </p:sp>
      <p:sp>
        <p:nvSpPr>
          <p:cNvPr id="104" name="object 104"/>
          <p:cNvSpPr/>
          <p:nvPr/>
        </p:nvSpPr>
        <p:spPr>
          <a:xfrm>
            <a:off x="6247657" y="2416600"/>
            <a:ext cx="525036" cy="272888"/>
          </a:xfrm>
          <a:custGeom>
            <a:avLst/>
            <a:gdLst/>
            <a:ahLst/>
            <a:cxnLst/>
            <a:rect l="l" t="t" r="r" b="b"/>
            <a:pathLst>
              <a:path w="916304" h="476250">
                <a:moveTo>
                  <a:pt x="67831" y="0"/>
                </a:moveTo>
                <a:lnTo>
                  <a:pt x="847899" y="0"/>
                </a:lnTo>
                <a:lnTo>
                  <a:pt x="874302" y="5343"/>
                </a:lnTo>
                <a:lnTo>
                  <a:pt x="895863" y="19913"/>
                </a:lnTo>
                <a:lnTo>
                  <a:pt x="910400" y="41524"/>
                </a:lnTo>
                <a:lnTo>
                  <a:pt x="915731" y="67989"/>
                </a:lnTo>
                <a:lnTo>
                  <a:pt x="915731" y="407934"/>
                </a:lnTo>
                <a:lnTo>
                  <a:pt x="910400" y="434398"/>
                </a:lnTo>
                <a:lnTo>
                  <a:pt x="895863" y="456009"/>
                </a:lnTo>
                <a:lnTo>
                  <a:pt x="874302" y="470580"/>
                </a:lnTo>
                <a:lnTo>
                  <a:pt x="847899"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105" name="object 105"/>
          <p:cNvSpPr txBox="1"/>
          <p:nvPr/>
        </p:nvSpPr>
        <p:spPr>
          <a:xfrm>
            <a:off x="6406907" y="2486279"/>
            <a:ext cx="209214"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SEC</a:t>
            </a:r>
            <a:endParaRPr sz="745">
              <a:latin typeface="Arial"/>
              <a:cs typeface="Arial"/>
            </a:endParaRPr>
          </a:p>
        </p:txBody>
      </p:sp>
      <p:sp>
        <p:nvSpPr>
          <p:cNvPr id="106" name="object 106"/>
          <p:cNvSpPr/>
          <p:nvPr/>
        </p:nvSpPr>
        <p:spPr>
          <a:xfrm>
            <a:off x="6816090" y="2382512"/>
            <a:ext cx="602442" cy="360354"/>
          </a:xfrm>
          <a:prstGeom prst="rect">
            <a:avLst/>
          </a:prstGeom>
          <a:blipFill>
            <a:blip r:embed="rId42" cstate="print"/>
            <a:stretch>
              <a:fillRect/>
            </a:stretch>
          </a:blipFill>
        </p:spPr>
        <p:txBody>
          <a:bodyPr wrap="square" lIns="0" tIns="0" rIns="0" bIns="0" rtlCol="0"/>
          <a:lstStyle/>
          <a:p>
            <a:endParaRPr sz="1031"/>
          </a:p>
        </p:txBody>
      </p:sp>
      <p:sp>
        <p:nvSpPr>
          <p:cNvPr id="107" name="object 107"/>
          <p:cNvSpPr/>
          <p:nvPr/>
        </p:nvSpPr>
        <p:spPr>
          <a:xfrm>
            <a:off x="6859817" y="2416600"/>
            <a:ext cx="524707" cy="272700"/>
          </a:xfrm>
          <a:prstGeom prst="rect">
            <a:avLst/>
          </a:prstGeom>
          <a:blipFill>
            <a:blip r:embed="rId41" cstate="print"/>
            <a:stretch>
              <a:fillRect/>
            </a:stretch>
          </a:blipFill>
        </p:spPr>
        <p:txBody>
          <a:bodyPr wrap="square" lIns="0" tIns="0" rIns="0" bIns="0" rtlCol="0"/>
          <a:lstStyle/>
          <a:p>
            <a:endParaRPr sz="1031"/>
          </a:p>
        </p:txBody>
      </p:sp>
      <p:sp>
        <p:nvSpPr>
          <p:cNvPr id="108" name="object 108"/>
          <p:cNvSpPr/>
          <p:nvPr/>
        </p:nvSpPr>
        <p:spPr>
          <a:xfrm>
            <a:off x="6859815" y="2416600"/>
            <a:ext cx="525036" cy="272888"/>
          </a:xfrm>
          <a:custGeom>
            <a:avLst/>
            <a:gdLst/>
            <a:ahLst/>
            <a:cxnLst/>
            <a:rect l="l" t="t" r="r" b="b"/>
            <a:pathLst>
              <a:path w="916304" h="476250">
                <a:moveTo>
                  <a:pt x="67831" y="0"/>
                </a:moveTo>
                <a:lnTo>
                  <a:pt x="847899" y="0"/>
                </a:lnTo>
                <a:lnTo>
                  <a:pt x="874302" y="5343"/>
                </a:lnTo>
                <a:lnTo>
                  <a:pt x="895863" y="19913"/>
                </a:lnTo>
                <a:lnTo>
                  <a:pt x="910400" y="41524"/>
                </a:lnTo>
                <a:lnTo>
                  <a:pt x="915731" y="67989"/>
                </a:lnTo>
                <a:lnTo>
                  <a:pt x="915731" y="407934"/>
                </a:lnTo>
                <a:lnTo>
                  <a:pt x="910400" y="434398"/>
                </a:lnTo>
                <a:lnTo>
                  <a:pt x="895863" y="456009"/>
                </a:lnTo>
                <a:lnTo>
                  <a:pt x="874302" y="470580"/>
                </a:lnTo>
                <a:lnTo>
                  <a:pt x="847899"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88">
            <a:solidFill>
              <a:srgbClr val="445E2D"/>
            </a:solidFill>
          </a:ln>
        </p:spPr>
        <p:txBody>
          <a:bodyPr wrap="square" lIns="0" tIns="0" rIns="0" bIns="0" rtlCol="0"/>
          <a:lstStyle/>
          <a:p>
            <a:endParaRPr sz="1031"/>
          </a:p>
        </p:txBody>
      </p:sp>
      <p:sp>
        <p:nvSpPr>
          <p:cNvPr id="109" name="object 109"/>
          <p:cNvSpPr txBox="1"/>
          <p:nvPr/>
        </p:nvSpPr>
        <p:spPr>
          <a:xfrm>
            <a:off x="6984010" y="2486279"/>
            <a:ext cx="266702" cy="124567"/>
          </a:xfrm>
          <a:prstGeom prst="rect">
            <a:avLst/>
          </a:prstGeom>
        </p:spPr>
        <p:txBody>
          <a:bodyPr vert="horz" wrap="square" lIns="0" tIns="9824" rIns="0" bIns="0" rtlCol="0">
            <a:spAutoFit/>
          </a:bodyPr>
          <a:lstStyle/>
          <a:p>
            <a:pPr marL="7277">
              <a:spcBef>
                <a:spcPts val="77"/>
              </a:spcBef>
            </a:pPr>
            <a:r>
              <a:rPr sz="745" spc="-3" dirty="0">
                <a:solidFill>
                  <a:srgbClr val="FFFFFF"/>
                </a:solidFill>
                <a:latin typeface="Arial"/>
                <a:cs typeface="Arial"/>
              </a:rPr>
              <a:t>PERF</a:t>
            </a:r>
            <a:endParaRPr sz="745">
              <a:latin typeface="Arial"/>
              <a:cs typeface="Arial"/>
            </a:endParaRPr>
          </a:p>
        </p:txBody>
      </p:sp>
      <p:sp>
        <p:nvSpPr>
          <p:cNvPr id="110" name="object 110"/>
          <p:cNvSpPr/>
          <p:nvPr/>
        </p:nvSpPr>
        <p:spPr>
          <a:xfrm>
            <a:off x="7418530" y="2382512"/>
            <a:ext cx="660742" cy="360354"/>
          </a:xfrm>
          <a:prstGeom prst="rect">
            <a:avLst/>
          </a:prstGeom>
          <a:blipFill>
            <a:blip r:embed="rId45" cstate="print"/>
            <a:stretch>
              <a:fillRect/>
            </a:stretch>
          </a:blipFill>
        </p:spPr>
        <p:txBody>
          <a:bodyPr wrap="square" lIns="0" tIns="0" rIns="0" bIns="0" rtlCol="0"/>
          <a:lstStyle/>
          <a:p>
            <a:endParaRPr sz="1031"/>
          </a:p>
        </p:txBody>
      </p:sp>
      <p:sp>
        <p:nvSpPr>
          <p:cNvPr id="111" name="object 111"/>
          <p:cNvSpPr/>
          <p:nvPr/>
        </p:nvSpPr>
        <p:spPr>
          <a:xfrm>
            <a:off x="7462257" y="2416600"/>
            <a:ext cx="583006" cy="272700"/>
          </a:xfrm>
          <a:prstGeom prst="rect">
            <a:avLst/>
          </a:prstGeom>
          <a:blipFill>
            <a:blip r:embed="rId46" cstate="print"/>
            <a:stretch>
              <a:fillRect/>
            </a:stretch>
          </a:blipFill>
        </p:spPr>
        <p:txBody>
          <a:bodyPr wrap="square" lIns="0" tIns="0" rIns="0" bIns="0" rtlCol="0"/>
          <a:lstStyle/>
          <a:p>
            <a:endParaRPr sz="1031"/>
          </a:p>
        </p:txBody>
      </p:sp>
      <p:sp>
        <p:nvSpPr>
          <p:cNvPr id="112" name="object 112"/>
          <p:cNvSpPr/>
          <p:nvPr/>
        </p:nvSpPr>
        <p:spPr>
          <a:xfrm>
            <a:off x="7462256" y="2416600"/>
            <a:ext cx="583252" cy="272888"/>
          </a:xfrm>
          <a:custGeom>
            <a:avLst/>
            <a:gdLst/>
            <a:ahLst/>
            <a:cxnLst/>
            <a:rect l="l" t="t" r="r" b="b"/>
            <a:pathLst>
              <a:path w="1017905" h="476250">
                <a:moveTo>
                  <a:pt x="67831" y="0"/>
                </a:moveTo>
                <a:lnTo>
                  <a:pt x="949647" y="0"/>
                </a:lnTo>
                <a:lnTo>
                  <a:pt x="976050" y="5343"/>
                </a:lnTo>
                <a:lnTo>
                  <a:pt x="997611" y="19913"/>
                </a:lnTo>
                <a:lnTo>
                  <a:pt x="1012148" y="41524"/>
                </a:lnTo>
                <a:lnTo>
                  <a:pt x="1017479" y="67989"/>
                </a:lnTo>
                <a:lnTo>
                  <a:pt x="1017479" y="407934"/>
                </a:lnTo>
                <a:lnTo>
                  <a:pt x="1012148" y="434398"/>
                </a:lnTo>
                <a:lnTo>
                  <a:pt x="997611" y="456009"/>
                </a:lnTo>
                <a:lnTo>
                  <a:pt x="976050" y="470580"/>
                </a:lnTo>
                <a:lnTo>
                  <a:pt x="949647" y="475923"/>
                </a:lnTo>
                <a:lnTo>
                  <a:pt x="67831" y="475923"/>
                </a:lnTo>
                <a:lnTo>
                  <a:pt x="41428" y="470580"/>
                </a:lnTo>
                <a:lnTo>
                  <a:pt x="19867" y="456009"/>
                </a:lnTo>
                <a:lnTo>
                  <a:pt x="5330" y="434398"/>
                </a:lnTo>
                <a:lnTo>
                  <a:pt x="0" y="407934"/>
                </a:lnTo>
                <a:lnTo>
                  <a:pt x="0" y="67989"/>
                </a:lnTo>
                <a:lnTo>
                  <a:pt x="5330" y="41524"/>
                </a:lnTo>
                <a:lnTo>
                  <a:pt x="19867" y="19913"/>
                </a:lnTo>
                <a:lnTo>
                  <a:pt x="41428" y="5343"/>
                </a:lnTo>
                <a:lnTo>
                  <a:pt x="67831" y="0"/>
                </a:lnTo>
                <a:close/>
              </a:path>
            </a:pathLst>
          </a:custGeom>
          <a:ln w="16990">
            <a:solidFill>
              <a:srgbClr val="445E2D"/>
            </a:solidFill>
          </a:ln>
        </p:spPr>
        <p:txBody>
          <a:bodyPr wrap="square" lIns="0" tIns="0" rIns="0" bIns="0" rtlCol="0"/>
          <a:lstStyle/>
          <a:p>
            <a:endParaRPr sz="1031"/>
          </a:p>
        </p:txBody>
      </p:sp>
      <p:sp>
        <p:nvSpPr>
          <p:cNvPr id="113" name="object 113"/>
          <p:cNvSpPr txBox="1"/>
          <p:nvPr/>
        </p:nvSpPr>
        <p:spPr>
          <a:xfrm>
            <a:off x="7604927" y="2486279"/>
            <a:ext cx="291808" cy="124567"/>
          </a:xfrm>
          <a:prstGeom prst="rect">
            <a:avLst/>
          </a:prstGeom>
        </p:spPr>
        <p:txBody>
          <a:bodyPr vert="horz" wrap="square" lIns="0" tIns="9824" rIns="0" bIns="0" rtlCol="0">
            <a:spAutoFit/>
          </a:bodyPr>
          <a:lstStyle/>
          <a:p>
            <a:pPr marL="7277">
              <a:spcBef>
                <a:spcPts val="77"/>
              </a:spcBef>
            </a:pPr>
            <a:r>
              <a:rPr sz="745" spc="6" dirty="0">
                <a:solidFill>
                  <a:srgbClr val="FFFFFF"/>
                </a:solidFill>
                <a:latin typeface="Arial"/>
                <a:cs typeface="Arial"/>
              </a:rPr>
              <a:t>PROD</a:t>
            </a:r>
            <a:endParaRPr sz="745">
              <a:latin typeface="Arial"/>
              <a:cs typeface="Arial"/>
            </a:endParaRPr>
          </a:p>
        </p:txBody>
      </p:sp>
      <p:sp>
        <p:nvSpPr>
          <p:cNvPr id="114" name="object 114"/>
          <p:cNvSpPr/>
          <p:nvPr/>
        </p:nvSpPr>
        <p:spPr>
          <a:xfrm>
            <a:off x="4843579" y="2879218"/>
            <a:ext cx="301221" cy="272700"/>
          </a:xfrm>
          <a:prstGeom prst="rect">
            <a:avLst/>
          </a:prstGeom>
          <a:blipFill>
            <a:blip r:embed="rId47" cstate="print"/>
            <a:stretch>
              <a:fillRect/>
            </a:stretch>
          </a:blipFill>
        </p:spPr>
        <p:txBody>
          <a:bodyPr wrap="square" lIns="0" tIns="0" rIns="0" bIns="0" rtlCol="0"/>
          <a:lstStyle/>
          <a:p>
            <a:endParaRPr sz="1031"/>
          </a:p>
        </p:txBody>
      </p:sp>
      <p:sp>
        <p:nvSpPr>
          <p:cNvPr id="115" name="object 115"/>
          <p:cNvSpPr/>
          <p:nvPr/>
        </p:nvSpPr>
        <p:spPr>
          <a:xfrm>
            <a:off x="4916455" y="2910890"/>
            <a:ext cx="176467" cy="156092"/>
          </a:xfrm>
          <a:custGeom>
            <a:avLst/>
            <a:gdLst/>
            <a:ahLst/>
            <a:cxnLst/>
            <a:rect l="l" t="t" r="r" b="b"/>
            <a:pathLst>
              <a:path w="307975" h="272414">
                <a:moveTo>
                  <a:pt x="118705" y="0"/>
                </a:moveTo>
                <a:lnTo>
                  <a:pt x="118705" y="72205"/>
                </a:lnTo>
                <a:lnTo>
                  <a:pt x="0" y="72205"/>
                </a:lnTo>
                <a:lnTo>
                  <a:pt x="0" y="208183"/>
                </a:lnTo>
                <a:lnTo>
                  <a:pt x="118705" y="208183"/>
                </a:lnTo>
                <a:lnTo>
                  <a:pt x="118705" y="271956"/>
                </a:lnTo>
                <a:lnTo>
                  <a:pt x="307847" y="135978"/>
                </a:lnTo>
                <a:lnTo>
                  <a:pt x="118705" y="0"/>
                </a:lnTo>
                <a:close/>
              </a:path>
            </a:pathLst>
          </a:custGeom>
          <a:solidFill>
            <a:srgbClr val="FFFFFF"/>
          </a:solidFill>
        </p:spPr>
        <p:txBody>
          <a:bodyPr wrap="square" lIns="0" tIns="0" rIns="0" bIns="0" rtlCol="0"/>
          <a:lstStyle/>
          <a:p>
            <a:endParaRPr sz="1031"/>
          </a:p>
        </p:txBody>
      </p:sp>
      <p:sp>
        <p:nvSpPr>
          <p:cNvPr id="116" name="object 116"/>
          <p:cNvSpPr/>
          <p:nvPr/>
        </p:nvSpPr>
        <p:spPr>
          <a:xfrm>
            <a:off x="4916455" y="2910890"/>
            <a:ext cx="176467" cy="156092"/>
          </a:xfrm>
          <a:custGeom>
            <a:avLst/>
            <a:gdLst/>
            <a:ahLst/>
            <a:cxnLst/>
            <a:rect l="l" t="t" r="r" b="b"/>
            <a:pathLst>
              <a:path w="307975" h="272414">
                <a:moveTo>
                  <a:pt x="0" y="208182"/>
                </a:moveTo>
                <a:lnTo>
                  <a:pt x="0" y="72204"/>
                </a:lnTo>
                <a:lnTo>
                  <a:pt x="118705" y="72204"/>
                </a:lnTo>
                <a:lnTo>
                  <a:pt x="118705" y="0"/>
                </a:lnTo>
                <a:lnTo>
                  <a:pt x="307846" y="135978"/>
                </a:lnTo>
                <a:lnTo>
                  <a:pt x="118705" y="271956"/>
                </a:lnTo>
                <a:lnTo>
                  <a:pt x="118705" y="208182"/>
                </a:lnTo>
                <a:lnTo>
                  <a:pt x="0" y="208182"/>
                </a:lnTo>
                <a:close/>
              </a:path>
            </a:pathLst>
          </a:custGeom>
          <a:ln w="16980">
            <a:solidFill>
              <a:srgbClr val="797979"/>
            </a:solidFill>
          </a:ln>
        </p:spPr>
        <p:txBody>
          <a:bodyPr wrap="square" lIns="0" tIns="0" rIns="0" bIns="0" rtlCol="0"/>
          <a:lstStyle/>
          <a:p>
            <a:endParaRPr sz="1031"/>
          </a:p>
        </p:txBody>
      </p:sp>
      <p:sp>
        <p:nvSpPr>
          <p:cNvPr id="117" name="object 117"/>
          <p:cNvSpPr/>
          <p:nvPr/>
        </p:nvSpPr>
        <p:spPr>
          <a:xfrm>
            <a:off x="5475172" y="2879218"/>
            <a:ext cx="301221" cy="272700"/>
          </a:xfrm>
          <a:prstGeom prst="rect">
            <a:avLst/>
          </a:prstGeom>
          <a:blipFill>
            <a:blip r:embed="rId48" cstate="print"/>
            <a:stretch>
              <a:fillRect/>
            </a:stretch>
          </a:blipFill>
        </p:spPr>
        <p:txBody>
          <a:bodyPr wrap="square" lIns="0" tIns="0" rIns="0" bIns="0" rtlCol="0"/>
          <a:lstStyle/>
          <a:p>
            <a:endParaRPr sz="1031"/>
          </a:p>
        </p:txBody>
      </p:sp>
      <p:sp>
        <p:nvSpPr>
          <p:cNvPr id="118" name="object 118"/>
          <p:cNvSpPr/>
          <p:nvPr/>
        </p:nvSpPr>
        <p:spPr>
          <a:xfrm>
            <a:off x="5538331" y="2910890"/>
            <a:ext cx="178651" cy="156092"/>
          </a:xfrm>
          <a:custGeom>
            <a:avLst/>
            <a:gdLst/>
            <a:ahLst/>
            <a:cxnLst/>
            <a:rect l="l" t="t" r="r" b="b"/>
            <a:pathLst>
              <a:path w="311784" h="272414">
                <a:moveTo>
                  <a:pt x="135663" y="0"/>
                </a:moveTo>
                <a:lnTo>
                  <a:pt x="135663" y="72205"/>
                </a:lnTo>
                <a:lnTo>
                  <a:pt x="0" y="72205"/>
                </a:lnTo>
                <a:lnTo>
                  <a:pt x="0" y="208183"/>
                </a:lnTo>
                <a:lnTo>
                  <a:pt x="135663" y="208183"/>
                </a:lnTo>
                <a:lnTo>
                  <a:pt x="135663" y="271956"/>
                </a:lnTo>
                <a:lnTo>
                  <a:pt x="311185" y="135978"/>
                </a:lnTo>
                <a:lnTo>
                  <a:pt x="135663" y="0"/>
                </a:lnTo>
                <a:close/>
              </a:path>
            </a:pathLst>
          </a:custGeom>
          <a:solidFill>
            <a:srgbClr val="FFFFFF"/>
          </a:solidFill>
        </p:spPr>
        <p:txBody>
          <a:bodyPr wrap="square" lIns="0" tIns="0" rIns="0" bIns="0" rtlCol="0"/>
          <a:lstStyle/>
          <a:p>
            <a:endParaRPr sz="1031"/>
          </a:p>
        </p:txBody>
      </p:sp>
      <p:sp>
        <p:nvSpPr>
          <p:cNvPr id="119" name="object 119"/>
          <p:cNvSpPr/>
          <p:nvPr/>
        </p:nvSpPr>
        <p:spPr>
          <a:xfrm>
            <a:off x="5538330" y="2910890"/>
            <a:ext cx="178651" cy="156092"/>
          </a:xfrm>
          <a:custGeom>
            <a:avLst/>
            <a:gdLst/>
            <a:ahLst/>
            <a:cxnLst/>
            <a:rect l="l" t="t" r="r" b="b"/>
            <a:pathLst>
              <a:path w="311784" h="272414">
                <a:moveTo>
                  <a:pt x="0" y="208182"/>
                </a:moveTo>
                <a:lnTo>
                  <a:pt x="0" y="72204"/>
                </a:lnTo>
                <a:lnTo>
                  <a:pt x="135663" y="72204"/>
                </a:lnTo>
                <a:lnTo>
                  <a:pt x="135663" y="0"/>
                </a:lnTo>
                <a:lnTo>
                  <a:pt x="311185" y="135978"/>
                </a:lnTo>
                <a:lnTo>
                  <a:pt x="135663" y="271956"/>
                </a:lnTo>
                <a:lnTo>
                  <a:pt x="135663" y="208182"/>
                </a:lnTo>
                <a:lnTo>
                  <a:pt x="0" y="208182"/>
                </a:lnTo>
                <a:close/>
              </a:path>
            </a:pathLst>
          </a:custGeom>
          <a:ln w="16980">
            <a:solidFill>
              <a:srgbClr val="797979"/>
            </a:solidFill>
          </a:ln>
        </p:spPr>
        <p:txBody>
          <a:bodyPr wrap="square" lIns="0" tIns="0" rIns="0" bIns="0" rtlCol="0"/>
          <a:lstStyle/>
          <a:p>
            <a:endParaRPr sz="1031"/>
          </a:p>
        </p:txBody>
      </p:sp>
      <p:sp>
        <p:nvSpPr>
          <p:cNvPr id="120" name="object 120"/>
          <p:cNvSpPr/>
          <p:nvPr/>
        </p:nvSpPr>
        <p:spPr>
          <a:xfrm>
            <a:off x="6058179" y="2879218"/>
            <a:ext cx="301221" cy="272700"/>
          </a:xfrm>
          <a:prstGeom prst="rect">
            <a:avLst/>
          </a:prstGeom>
          <a:blipFill>
            <a:blip r:embed="rId49" cstate="print"/>
            <a:stretch>
              <a:fillRect/>
            </a:stretch>
          </a:blipFill>
        </p:spPr>
        <p:txBody>
          <a:bodyPr wrap="square" lIns="0" tIns="0" rIns="0" bIns="0" rtlCol="0"/>
          <a:lstStyle/>
          <a:p>
            <a:endParaRPr sz="1031"/>
          </a:p>
        </p:txBody>
      </p:sp>
      <p:sp>
        <p:nvSpPr>
          <p:cNvPr id="121" name="object 121"/>
          <p:cNvSpPr/>
          <p:nvPr/>
        </p:nvSpPr>
        <p:spPr>
          <a:xfrm>
            <a:off x="6121339" y="2910890"/>
            <a:ext cx="183744" cy="156092"/>
          </a:xfrm>
          <a:custGeom>
            <a:avLst/>
            <a:gdLst/>
            <a:ahLst/>
            <a:cxnLst/>
            <a:rect l="l" t="t" r="r" b="b"/>
            <a:pathLst>
              <a:path w="320675" h="272414">
                <a:moveTo>
                  <a:pt x="135660" y="0"/>
                </a:moveTo>
                <a:lnTo>
                  <a:pt x="135660" y="72205"/>
                </a:lnTo>
                <a:lnTo>
                  <a:pt x="0" y="72205"/>
                </a:lnTo>
                <a:lnTo>
                  <a:pt x="0" y="208183"/>
                </a:lnTo>
                <a:lnTo>
                  <a:pt x="135660" y="208183"/>
                </a:lnTo>
                <a:lnTo>
                  <a:pt x="135660" y="271956"/>
                </a:lnTo>
                <a:lnTo>
                  <a:pt x="320136" y="135978"/>
                </a:lnTo>
                <a:lnTo>
                  <a:pt x="135660" y="0"/>
                </a:lnTo>
                <a:close/>
              </a:path>
            </a:pathLst>
          </a:custGeom>
          <a:solidFill>
            <a:srgbClr val="FFFFFF"/>
          </a:solidFill>
        </p:spPr>
        <p:txBody>
          <a:bodyPr wrap="square" lIns="0" tIns="0" rIns="0" bIns="0" rtlCol="0"/>
          <a:lstStyle/>
          <a:p>
            <a:endParaRPr sz="1031"/>
          </a:p>
        </p:txBody>
      </p:sp>
      <p:sp>
        <p:nvSpPr>
          <p:cNvPr id="122" name="object 122"/>
          <p:cNvSpPr/>
          <p:nvPr/>
        </p:nvSpPr>
        <p:spPr>
          <a:xfrm>
            <a:off x="6121338" y="2910890"/>
            <a:ext cx="183744" cy="156092"/>
          </a:xfrm>
          <a:custGeom>
            <a:avLst/>
            <a:gdLst/>
            <a:ahLst/>
            <a:cxnLst/>
            <a:rect l="l" t="t" r="r" b="b"/>
            <a:pathLst>
              <a:path w="320675" h="272414">
                <a:moveTo>
                  <a:pt x="0" y="208182"/>
                </a:moveTo>
                <a:lnTo>
                  <a:pt x="0" y="72204"/>
                </a:lnTo>
                <a:lnTo>
                  <a:pt x="135663" y="72204"/>
                </a:lnTo>
                <a:lnTo>
                  <a:pt x="135663" y="0"/>
                </a:lnTo>
                <a:lnTo>
                  <a:pt x="320132" y="135978"/>
                </a:lnTo>
                <a:lnTo>
                  <a:pt x="135663" y="271956"/>
                </a:lnTo>
                <a:lnTo>
                  <a:pt x="135663" y="208182"/>
                </a:lnTo>
                <a:lnTo>
                  <a:pt x="0" y="208182"/>
                </a:lnTo>
                <a:close/>
              </a:path>
            </a:pathLst>
          </a:custGeom>
          <a:ln w="16980">
            <a:solidFill>
              <a:srgbClr val="797979"/>
            </a:solidFill>
          </a:ln>
        </p:spPr>
        <p:txBody>
          <a:bodyPr wrap="square" lIns="0" tIns="0" rIns="0" bIns="0" rtlCol="0"/>
          <a:lstStyle/>
          <a:p>
            <a:endParaRPr sz="1031"/>
          </a:p>
        </p:txBody>
      </p:sp>
      <p:sp>
        <p:nvSpPr>
          <p:cNvPr id="123" name="object 123"/>
          <p:cNvSpPr/>
          <p:nvPr/>
        </p:nvSpPr>
        <p:spPr>
          <a:xfrm>
            <a:off x="6650905" y="2879218"/>
            <a:ext cx="301221" cy="272700"/>
          </a:xfrm>
          <a:prstGeom prst="rect">
            <a:avLst/>
          </a:prstGeom>
          <a:blipFill>
            <a:blip r:embed="rId50" cstate="print"/>
            <a:stretch>
              <a:fillRect/>
            </a:stretch>
          </a:blipFill>
        </p:spPr>
        <p:txBody>
          <a:bodyPr wrap="square" lIns="0" tIns="0" rIns="0" bIns="0" rtlCol="0"/>
          <a:lstStyle/>
          <a:p>
            <a:endParaRPr sz="1031"/>
          </a:p>
        </p:txBody>
      </p:sp>
      <p:sp>
        <p:nvSpPr>
          <p:cNvPr id="124" name="object 124"/>
          <p:cNvSpPr/>
          <p:nvPr/>
        </p:nvSpPr>
        <p:spPr>
          <a:xfrm>
            <a:off x="6723778" y="2910890"/>
            <a:ext cx="177559" cy="156092"/>
          </a:xfrm>
          <a:custGeom>
            <a:avLst/>
            <a:gdLst/>
            <a:ahLst/>
            <a:cxnLst/>
            <a:rect l="l" t="t" r="r" b="b"/>
            <a:pathLst>
              <a:path w="309879" h="272414">
                <a:moveTo>
                  <a:pt x="118708" y="0"/>
                </a:moveTo>
                <a:lnTo>
                  <a:pt x="118708" y="72205"/>
                </a:lnTo>
                <a:lnTo>
                  <a:pt x="0" y="72205"/>
                </a:lnTo>
                <a:lnTo>
                  <a:pt x="0" y="208183"/>
                </a:lnTo>
                <a:lnTo>
                  <a:pt x="118708" y="208183"/>
                </a:lnTo>
                <a:lnTo>
                  <a:pt x="118708" y="271956"/>
                </a:lnTo>
                <a:lnTo>
                  <a:pt x="309320" y="135978"/>
                </a:lnTo>
                <a:lnTo>
                  <a:pt x="118708" y="0"/>
                </a:lnTo>
                <a:close/>
              </a:path>
            </a:pathLst>
          </a:custGeom>
          <a:solidFill>
            <a:srgbClr val="FFFFFF"/>
          </a:solidFill>
        </p:spPr>
        <p:txBody>
          <a:bodyPr wrap="square" lIns="0" tIns="0" rIns="0" bIns="0" rtlCol="0"/>
          <a:lstStyle/>
          <a:p>
            <a:endParaRPr sz="1031"/>
          </a:p>
        </p:txBody>
      </p:sp>
      <p:sp>
        <p:nvSpPr>
          <p:cNvPr id="125" name="object 125"/>
          <p:cNvSpPr/>
          <p:nvPr/>
        </p:nvSpPr>
        <p:spPr>
          <a:xfrm>
            <a:off x="6723779" y="2910890"/>
            <a:ext cx="177559" cy="156092"/>
          </a:xfrm>
          <a:custGeom>
            <a:avLst/>
            <a:gdLst/>
            <a:ahLst/>
            <a:cxnLst/>
            <a:rect l="l" t="t" r="r" b="b"/>
            <a:pathLst>
              <a:path w="309879" h="272414">
                <a:moveTo>
                  <a:pt x="0" y="208182"/>
                </a:moveTo>
                <a:lnTo>
                  <a:pt x="0" y="72204"/>
                </a:lnTo>
                <a:lnTo>
                  <a:pt x="118705" y="72204"/>
                </a:lnTo>
                <a:lnTo>
                  <a:pt x="118705" y="0"/>
                </a:lnTo>
                <a:lnTo>
                  <a:pt x="309317" y="135978"/>
                </a:lnTo>
                <a:lnTo>
                  <a:pt x="118705" y="271956"/>
                </a:lnTo>
                <a:lnTo>
                  <a:pt x="118705" y="208182"/>
                </a:lnTo>
                <a:lnTo>
                  <a:pt x="0" y="208182"/>
                </a:lnTo>
                <a:close/>
              </a:path>
            </a:pathLst>
          </a:custGeom>
          <a:ln w="16980">
            <a:solidFill>
              <a:srgbClr val="797979"/>
            </a:solidFill>
          </a:ln>
        </p:spPr>
        <p:txBody>
          <a:bodyPr wrap="square" lIns="0" tIns="0" rIns="0" bIns="0" rtlCol="0"/>
          <a:lstStyle/>
          <a:p>
            <a:endParaRPr sz="1031"/>
          </a:p>
        </p:txBody>
      </p:sp>
      <p:sp>
        <p:nvSpPr>
          <p:cNvPr id="126" name="object 126"/>
          <p:cNvSpPr/>
          <p:nvPr/>
        </p:nvSpPr>
        <p:spPr>
          <a:xfrm>
            <a:off x="7272779" y="2879218"/>
            <a:ext cx="301221" cy="272700"/>
          </a:xfrm>
          <a:prstGeom prst="rect">
            <a:avLst/>
          </a:prstGeom>
          <a:blipFill>
            <a:blip r:embed="rId51" cstate="print"/>
            <a:stretch>
              <a:fillRect/>
            </a:stretch>
          </a:blipFill>
        </p:spPr>
        <p:txBody>
          <a:bodyPr wrap="square" lIns="0" tIns="0" rIns="0" bIns="0" rtlCol="0"/>
          <a:lstStyle/>
          <a:p>
            <a:endParaRPr sz="1031"/>
          </a:p>
        </p:txBody>
      </p:sp>
      <p:sp>
        <p:nvSpPr>
          <p:cNvPr id="127" name="object 127"/>
          <p:cNvSpPr/>
          <p:nvPr/>
        </p:nvSpPr>
        <p:spPr>
          <a:xfrm>
            <a:off x="7335937" y="2910890"/>
            <a:ext cx="180834" cy="156092"/>
          </a:xfrm>
          <a:custGeom>
            <a:avLst/>
            <a:gdLst/>
            <a:ahLst/>
            <a:cxnLst/>
            <a:rect l="l" t="t" r="r" b="b"/>
            <a:pathLst>
              <a:path w="315594" h="272414">
                <a:moveTo>
                  <a:pt x="135671" y="0"/>
                </a:moveTo>
                <a:lnTo>
                  <a:pt x="135671" y="72205"/>
                </a:lnTo>
                <a:lnTo>
                  <a:pt x="0" y="72205"/>
                </a:lnTo>
                <a:lnTo>
                  <a:pt x="0" y="208183"/>
                </a:lnTo>
                <a:lnTo>
                  <a:pt x="135671" y="208183"/>
                </a:lnTo>
                <a:lnTo>
                  <a:pt x="135671" y="271956"/>
                </a:lnTo>
                <a:lnTo>
                  <a:pt x="315466" y="135978"/>
                </a:lnTo>
                <a:lnTo>
                  <a:pt x="135671" y="0"/>
                </a:lnTo>
                <a:close/>
              </a:path>
            </a:pathLst>
          </a:custGeom>
          <a:solidFill>
            <a:srgbClr val="FFFFFF"/>
          </a:solidFill>
        </p:spPr>
        <p:txBody>
          <a:bodyPr wrap="square" lIns="0" tIns="0" rIns="0" bIns="0" rtlCol="0"/>
          <a:lstStyle/>
          <a:p>
            <a:endParaRPr sz="1031"/>
          </a:p>
        </p:txBody>
      </p:sp>
      <p:sp>
        <p:nvSpPr>
          <p:cNvPr id="128" name="object 128"/>
          <p:cNvSpPr/>
          <p:nvPr/>
        </p:nvSpPr>
        <p:spPr>
          <a:xfrm>
            <a:off x="7335938" y="2910890"/>
            <a:ext cx="180834" cy="156092"/>
          </a:xfrm>
          <a:custGeom>
            <a:avLst/>
            <a:gdLst/>
            <a:ahLst/>
            <a:cxnLst/>
            <a:rect l="l" t="t" r="r" b="b"/>
            <a:pathLst>
              <a:path w="315594" h="272414">
                <a:moveTo>
                  <a:pt x="0" y="208182"/>
                </a:moveTo>
                <a:lnTo>
                  <a:pt x="0" y="72204"/>
                </a:lnTo>
                <a:lnTo>
                  <a:pt x="135663" y="72204"/>
                </a:lnTo>
                <a:lnTo>
                  <a:pt x="135663" y="0"/>
                </a:lnTo>
                <a:lnTo>
                  <a:pt x="315459" y="135978"/>
                </a:lnTo>
                <a:lnTo>
                  <a:pt x="135663" y="271956"/>
                </a:lnTo>
                <a:lnTo>
                  <a:pt x="135663" y="208182"/>
                </a:lnTo>
                <a:lnTo>
                  <a:pt x="0" y="208182"/>
                </a:lnTo>
                <a:close/>
              </a:path>
            </a:pathLst>
          </a:custGeom>
          <a:ln w="16980">
            <a:solidFill>
              <a:srgbClr val="797979"/>
            </a:solidFill>
          </a:ln>
        </p:spPr>
        <p:txBody>
          <a:bodyPr wrap="square" lIns="0" tIns="0" rIns="0" bIns="0" rtlCol="0"/>
          <a:lstStyle/>
          <a:p>
            <a:endParaRPr sz="1031"/>
          </a:p>
        </p:txBody>
      </p:sp>
      <p:sp>
        <p:nvSpPr>
          <p:cNvPr id="129" name="object 129"/>
          <p:cNvSpPr/>
          <p:nvPr/>
        </p:nvSpPr>
        <p:spPr>
          <a:xfrm>
            <a:off x="4843579" y="3327225"/>
            <a:ext cx="301221" cy="272700"/>
          </a:xfrm>
          <a:prstGeom prst="rect">
            <a:avLst/>
          </a:prstGeom>
          <a:blipFill>
            <a:blip r:embed="rId52" cstate="print"/>
            <a:stretch>
              <a:fillRect/>
            </a:stretch>
          </a:blipFill>
        </p:spPr>
        <p:txBody>
          <a:bodyPr wrap="square" lIns="0" tIns="0" rIns="0" bIns="0" rtlCol="0"/>
          <a:lstStyle/>
          <a:p>
            <a:endParaRPr sz="1031"/>
          </a:p>
        </p:txBody>
      </p:sp>
      <p:sp>
        <p:nvSpPr>
          <p:cNvPr id="130" name="object 130"/>
          <p:cNvSpPr/>
          <p:nvPr/>
        </p:nvSpPr>
        <p:spPr>
          <a:xfrm>
            <a:off x="4916455" y="3362425"/>
            <a:ext cx="176467" cy="156092"/>
          </a:xfrm>
          <a:custGeom>
            <a:avLst/>
            <a:gdLst/>
            <a:ahLst/>
            <a:cxnLst/>
            <a:rect l="l" t="t" r="r" b="b"/>
            <a:pathLst>
              <a:path w="307975" h="272414">
                <a:moveTo>
                  <a:pt x="118705" y="0"/>
                </a:moveTo>
                <a:lnTo>
                  <a:pt x="118705" y="66048"/>
                </a:lnTo>
                <a:lnTo>
                  <a:pt x="0" y="66048"/>
                </a:lnTo>
                <a:lnTo>
                  <a:pt x="0" y="202026"/>
                </a:lnTo>
                <a:lnTo>
                  <a:pt x="118705" y="202026"/>
                </a:lnTo>
                <a:lnTo>
                  <a:pt x="118705" y="271956"/>
                </a:lnTo>
                <a:lnTo>
                  <a:pt x="307847" y="135978"/>
                </a:lnTo>
                <a:lnTo>
                  <a:pt x="118705" y="0"/>
                </a:lnTo>
                <a:close/>
              </a:path>
            </a:pathLst>
          </a:custGeom>
          <a:solidFill>
            <a:srgbClr val="FFFFFF"/>
          </a:solidFill>
        </p:spPr>
        <p:txBody>
          <a:bodyPr wrap="square" lIns="0" tIns="0" rIns="0" bIns="0" rtlCol="0"/>
          <a:lstStyle/>
          <a:p>
            <a:endParaRPr sz="1031"/>
          </a:p>
        </p:txBody>
      </p:sp>
      <p:sp>
        <p:nvSpPr>
          <p:cNvPr id="131" name="object 131"/>
          <p:cNvSpPr/>
          <p:nvPr/>
        </p:nvSpPr>
        <p:spPr>
          <a:xfrm>
            <a:off x="4916455" y="3362426"/>
            <a:ext cx="176467" cy="156092"/>
          </a:xfrm>
          <a:custGeom>
            <a:avLst/>
            <a:gdLst/>
            <a:ahLst/>
            <a:cxnLst/>
            <a:rect l="l" t="t" r="r" b="b"/>
            <a:pathLst>
              <a:path w="307975" h="272414">
                <a:moveTo>
                  <a:pt x="0" y="202026"/>
                </a:moveTo>
                <a:lnTo>
                  <a:pt x="0" y="66047"/>
                </a:lnTo>
                <a:lnTo>
                  <a:pt x="118705" y="66047"/>
                </a:lnTo>
                <a:lnTo>
                  <a:pt x="118705" y="0"/>
                </a:lnTo>
                <a:lnTo>
                  <a:pt x="307846" y="135978"/>
                </a:lnTo>
                <a:lnTo>
                  <a:pt x="118705" y="271956"/>
                </a:lnTo>
                <a:lnTo>
                  <a:pt x="118705" y="202026"/>
                </a:lnTo>
                <a:lnTo>
                  <a:pt x="0" y="202026"/>
                </a:lnTo>
                <a:close/>
              </a:path>
            </a:pathLst>
          </a:custGeom>
          <a:ln w="16980">
            <a:solidFill>
              <a:srgbClr val="797979"/>
            </a:solidFill>
          </a:ln>
        </p:spPr>
        <p:txBody>
          <a:bodyPr wrap="square" lIns="0" tIns="0" rIns="0" bIns="0" rtlCol="0"/>
          <a:lstStyle/>
          <a:p>
            <a:endParaRPr sz="1031"/>
          </a:p>
        </p:txBody>
      </p:sp>
      <p:sp>
        <p:nvSpPr>
          <p:cNvPr id="132" name="object 132"/>
          <p:cNvSpPr/>
          <p:nvPr/>
        </p:nvSpPr>
        <p:spPr>
          <a:xfrm>
            <a:off x="5475172" y="3327225"/>
            <a:ext cx="301221" cy="272700"/>
          </a:xfrm>
          <a:prstGeom prst="rect">
            <a:avLst/>
          </a:prstGeom>
          <a:blipFill>
            <a:blip r:embed="rId53" cstate="print"/>
            <a:stretch>
              <a:fillRect/>
            </a:stretch>
          </a:blipFill>
        </p:spPr>
        <p:txBody>
          <a:bodyPr wrap="square" lIns="0" tIns="0" rIns="0" bIns="0" rtlCol="0"/>
          <a:lstStyle/>
          <a:p>
            <a:endParaRPr sz="1031"/>
          </a:p>
        </p:txBody>
      </p:sp>
      <p:sp>
        <p:nvSpPr>
          <p:cNvPr id="133" name="object 133"/>
          <p:cNvSpPr/>
          <p:nvPr/>
        </p:nvSpPr>
        <p:spPr>
          <a:xfrm>
            <a:off x="5538331" y="3362425"/>
            <a:ext cx="178651" cy="156092"/>
          </a:xfrm>
          <a:custGeom>
            <a:avLst/>
            <a:gdLst/>
            <a:ahLst/>
            <a:cxnLst/>
            <a:rect l="l" t="t" r="r" b="b"/>
            <a:pathLst>
              <a:path w="311784" h="272414">
                <a:moveTo>
                  <a:pt x="135663" y="0"/>
                </a:moveTo>
                <a:lnTo>
                  <a:pt x="135663" y="66048"/>
                </a:lnTo>
                <a:lnTo>
                  <a:pt x="0" y="66048"/>
                </a:lnTo>
                <a:lnTo>
                  <a:pt x="0" y="202026"/>
                </a:lnTo>
                <a:lnTo>
                  <a:pt x="135663" y="202026"/>
                </a:lnTo>
                <a:lnTo>
                  <a:pt x="135663" y="271956"/>
                </a:lnTo>
                <a:lnTo>
                  <a:pt x="311185" y="135978"/>
                </a:lnTo>
                <a:lnTo>
                  <a:pt x="135663" y="0"/>
                </a:lnTo>
                <a:close/>
              </a:path>
            </a:pathLst>
          </a:custGeom>
          <a:solidFill>
            <a:srgbClr val="FFFFFF"/>
          </a:solidFill>
        </p:spPr>
        <p:txBody>
          <a:bodyPr wrap="square" lIns="0" tIns="0" rIns="0" bIns="0" rtlCol="0"/>
          <a:lstStyle/>
          <a:p>
            <a:endParaRPr sz="1031"/>
          </a:p>
        </p:txBody>
      </p:sp>
      <p:sp>
        <p:nvSpPr>
          <p:cNvPr id="134" name="object 134"/>
          <p:cNvSpPr/>
          <p:nvPr/>
        </p:nvSpPr>
        <p:spPr>
          <a:xfrm>
            <a:off x="5538330" y="3362426"/>
            <a:ext cx="178651" cy="156092"/>
          </a:xfrm>
          <a:custGeom>
            <a:avLst/>
            <a:gdLst/>
            <a:ahLst/>
            <a:cxnLst/>
            <a:rect l="l" t="t" r="r" b="b"/>
            <a:pathLst>
              <a:path w="311784" h="272414">
                <a:moveTo>
                  <a:pt x="0" y="202026"/>
                </a:moveTo>
                <a:lnTo>
                  <a:pt x="0" y="66047"/>
                </a:lnTo>
                <a:lnTo>
                  <a:pt x="135663" y="66047"/>
                </a:lnTo>
                <a:lnTo>
                  <a:pt x="135663" y="0"/>
                </a:lnTo>
                <a:lnTo>
                  <a:pt x="311185" y="135978"/>
                </a:lnTo>
                <a:lnTo>
                  <a:pt x="135663" y="271956"/>
                </a:lnTo>
                <a:lnTo>
                  <a:pt x="135663" y="202026"/>
                </a:lnTo>
                <a:lnTo>
                  <a:pt x="0" y="202026"/>
                </a:lnTo>
                <a:close/>
              </a:path>
            </a:pathLst>
          </a:custGeom>
          <a:ln w="16980">
            <a:solidFill>
              <a:srgbClr val="797979"/>
            </a:solidFill>
          </a:ln>
        </p:spPr>
        <p:txBody>
          <a:bodyPr wrap="square" lIns="0" tIns="0" rIns="0" bIns="0" rtlCol="0"/>
          <a:lstStyle/>
          <a:p>
            <a:endParaRPr sz="1031"/>
          </a:p>
        </p:txBody>
      </p:sp>
      <p:sp>
        <p:nvSpPr>
          <p:cNvPr id="135" name="object 135"/>
          <p:cNvSpPr/>
          <p:nvPr/>
        </p:nvSpPr>
        <p:spPr>
          <a:xfrm>
            <a:off x="6058179" y="3327225"/>
            <a:ext cx="301221" cy="272700"/>
          </a:xfrm>
          <a:prstGeom prst="rect">
            <a:avLst/>
          </a:prstGeom>
          <a:blipFill>
            <a:blip r:embed="rId54" cstate="print"/>
            <a:stretch>
              <a:fillRect/>
            </a:stretch>
          </a:blipFill>
        </p:spPr>
        <p:txBody>
          <a:bodyPr wrap="square" lIns="0" tIns="0" rIns="0" bIns="0" rtlCol="0"/>
          <a:lstStyle/>
          <a:p>
            <a:endParaRPr sz="1031"/>
          </a:p>
        </p:txBody>
      </p:sp>
      <p:sp>
        <p:nvSpPr>
          <p:cNvPr id="136" name="object 136"/>
          <p:cNvSpPr/>
          <p:nvPr/>
        </p:nvSpPr>
        <p:spPr>
          <a:xfrm>
            <a:off x="6121339" y="3362425"/>
            <a:ext cx="183744" cy="156092"/>
          </a:xfrm>
          <a:custGeom>
            <a:avLst/>
            <a:gdLst/>
            <a:ahLst/>
            <a:cxnLst/>
            <a:rect l="l" t="t" r="r" b="b"/>
            <a:pathLst>
              <a:path w="320675" h="272414">
                <a:moveTo>
                  <a:pt x="135660" y="0"/>
                </a:moveTo>
                <a:lnTo>
                  <a:pt x="135660" y="66048"/>
                </a:lnTo>
                <a:lnTo>
                  <a:pt x="0" y="66048"/>
                </a:lnTo>
                <a:lnTo>
                  <a:pt x="0" y="202026"/>
                </a:lnTo>
                <a:lnTo>
                  <a:pt x="135660" y="202026"/>
                </a:lnTo>
                <a:lnTo>
                  <a:pt x="135660" y="271956"/>
                </a:lnTo>
                <a:lnTo>
                  <a:pt x="320136" y="135978"/>
                </a:lnTo>
                <a:lnTo>
                  <a:pt x="135660" y="0"/>
                </a:lnTo>
                <a:close/>
              </a:path>
            </a:pathLst>
          </a:custGeom>
          <a:solidFill>
            <a:srgbClr val="FFFFFF"/>
          </a:solidFill>
        </p:spPr>
        <p:txBody>
          <a:bodyPr wrap="square" lIns="0" tIns="0" rIns="0" bIns="0" rtlCol="0"/>
          <a:lstStyle/>
          <a:p>
            <a:endParaRPr sz="1031"/>
          </a:p>
        </p:txBody>
      </p:sp>
      <p:sp>
        <p:nvSpPr>
          <p:cNvPr id="137" name="object 137"/>
          <p:cNvSpPr/>
          <p:nvPr/>
        </p:nvSpPr>
        <p:spPr>
          <a:xfrm>
            <a:off x="6121338" y="3362426"/>
            <a:ext cx="183744" cy="156092"/>
          </a:xfrm>
          <a:custGeom>
            <a:avLst/>
            <a:gdLst/>
            <a:ahLst/>
            <a:cxnLst/>
            <a:rect l="l" t="t" r="r" b="b"/>
            <a:pathLst>
              <a:path w="320675" h="272414">
                <a:moveTo>
                  <a:pt x="0" y="202026"/>
                </a:moveTo>
                <a:lnTo>
                  <a:pt x="0" y="66047"/>
                </a:lnTo>
                <a:lnTo>
                  <a:pt x="135663" y="66047"/>
                </a:lnTo>
                <a:lnTo>
                  <a:pt x="135663" y="0"/>
                </a:lnTo>
                <a:lnTo>
                  <a:pt x="320132" y="135978"/>
                </a:lnTo>
                <a:lnTo>
                  <a:pt x="135663" y="271956"/>
                </a:lnTo>
                <a:lnTo>
                  <a:pt x="135663" y="202026"/>
                </a:lnTo>
                <a:lnTo>
                  <a:pt x="0" y="202026"/>
                </a:lnTo>
                <a:close/>
              </a:path>
            </a:pathLst>
          </a:custGeom>
          <a:ln w="16980">
            <a:solidFill>
              <a:srgbClr val="797979"/>
            </a:solidFill>
          </a:ln>
        </p:spPr>
        <p:txBody>
          <a:bodyPr wrap="square" lIns="0" tIns="0" rIns="0" bIns="0" rtlCol="0"/>
          <a:lstStyle/>
          <a:p>
            <a:endParaRPr sz="1031"/>
          </a:p>
        </p:txBody>
      </p:sp>
      <p:sp>
        <p:nvSpPr>
          <p:cNvPr id="138" name="object 138"/>
          <p:cNvSpPr/>
          <p:nvPr/>
        </p:nvSpPr>
        <p:spPr>
          <a:xfrm>
            <a:off x="6650905" y="3327225"/>
            <a:ext cx="301221" cy="272700"/>
          </a:xfrm>
          <a:prstGeom prst="rect">
            <a:avLst/>
          </a:prstGeom>
          <a:blipFill>
            <a:blip r:embed="rId55" cstate="print"/>
            <a:stretch>
              <a:fillRect/>
            </a:stretch>
          </a:blipFill>
        </p:spPr>
        <p:txBody>
          <a:bodyPr wrap="square" lIns="0" tIns="0" rIns="0" bIns="0" rtlCol="0"/>
          <a:lstStyle/>
          <a:p>
            <a:endParaRPr sz="1031"/>
          </a:p>
        </p:txBody>
      </p:sp>
      <p:sp>
        <p:nvSpPr>
          <p:cNvPr id="139" name="object 139"/>
          <p:cNvSpPr/>
          <p:nvPr/>
        </p:nvSpPr>
        <p:spPr>
          <a:xfrm>
            <a:off x="6714065" y="3362425"/>
            <a:ext cx="179014" cy="156092"/>
          </a:xfrm>
          <a:custGeom>
            <a:avLst/>
            <a:gdLst/>
            <a:ahLst/>
            <a:cxnLst/>
            <a:rect l="l" t="t" r="r" b="b"/>
            <a:pathLst>
              <a:path w="312420" h="272414">
                <a:moveTo>
                  <a:pt x="135660" y="0"/>
                </a:moveTo>
                <a:lnTo>
                  <a:pt x="135660" y="66048"/>
                </a:lnTo>
                <a:lnTo>
                  <a:pt x="0" y="66048"/>
                </a:lnTo>
                <a:lnTo>
                  <a:pt x="0" y="202026"/>
                </a:lnTo>
                <a:lnTo>
                  <a:pt x="135660" y="202026"/>
                </a:lnTo>
                <a:lnTo>
                  <a:pt x="135660" y="271956"/>
                </a:lnTo>
                <a:lnTo>
                  <a:pt x="312116" y="135978"/>
                </a:lnTo>
                <a:lnTo>
                  <a:pt x="135660" y="0"/>
                </a:lnTo>
                <a:close/>
              </a:path>
            </a:pathLst>
          </a:custGeom>
          <a:solidFill>
            <a:srgbClr val="FFFFFF"/>
          </a:solidFill>
        </p:spPr>
        <p:txBody>
          <a:bodyPr wrap="square" lIns="0" tIns="0" rIns="0" bIns="0" rtlCol="0"/>
          <a:lstStyle/>
          <a:p>
            <a:endParaRPr sz="1031"/>
          </a:p>
        </p:txBody>
      </p:sp>
      <p:sp>
        <p:nvSpPr>
          <p:cNvPr id="140" name="object 140"/>
          <p:cNvSpPr/>
          <p:nvPr/>
        </p:nvSpPr>
        <p:spPr>
          <a:xfrm>
            <a:off x="6714063" y="3362426"/>
            <a:ext cx="179014" cy="156092"/>
          </a:xfrm>
          <a:custGeom>
            <a:avLst/>
            <a:gdLst/>
            <a:ahLst/>
            <a:cxnLst/>
            <a:rect l="l" t="t" r="r" b="b"/>
            <a:pathLst>
              <a:path w="312420" h="272414">
                <a:moveTo>
                  <a:pt x="0" y="202026"/>
                </a:moveTo>
                <a:lnTo>
                  <a:pt x="0" y="66047"/>
                </a:lnTo>
                <a:lnTo>
                  <a:pt x="135663" y="66047"/>
                </a:lnTo>
                <a:lnTo>
                  <a:pt x="135663" y="0"/>
                </a:lnTo>
                <a:lnTo>
                  <a:pt x="312120" y="135978"/>
                </a:lnTo>
                <a:lnTo>
                  <a:pt x="135663" y="271956"/>
                </a:lnTo>
                <a:lnTo>
                  <a:pt x="135663" y="202026"/>
                </a:lnTo>
                <a:lnTo>
                  <a:pt x="0" y="202026"/>
                </a:lnTo>
                <a:close/>
              </a:path>
            </a:pathLst>
          </a:custGeom>
          <a:ln w="16980">
            <a:solidFill>
              <a:srgbClr val="797979"/>
            </a:solidFill>
          </a:ln>
        </p:spPr>
        <p:txBody>
          <a:bodyPr wrap="square" lIns="0" tIns="0" rIns="0" bIns="0" rtlCol="0"/>
          <a:lstStyle/>
          <a:p>
            <a:endParaRPr sz="1031"/>
          </a:p>
        </p:txBody>
      </p:sp>
      <p:sp>
        <p:nvSpPr>
          <p:cNvPr id="141" name="object 141"/>
          <p:cNvSpPr/>
          <p:nvPr/>
        </p:nvSpPr>
        <p:spPr>
          <a:xfrm>
            <a:off x="7272779" y="3327225"/>
            <a:ext cx="301221" cy="272700"/>
          </a:xfrm>
          <a:prstGeom prst="rect">
            <a:avLst/>
          </a:prstGeom>
          <a:blipFill>
            <a:blip r:embed="rId56" cstate="print"/>
            <a:stretch>
              <a:fillRect/>
            </a:stretch>
          </a:blipFill>
        </p:spPr>
        <p:txBody>
          <a:bodyPr wrap="square" lIns="0" tIns="0" rIns="0" bIns="0" rtlCol="0"/>
          <a:lstStyle/>
          <a:p>
            <a:endParaRPr sz="1031"/>
          </a:p>
        </p:txBody>
      </p:sp>
      <p:sp>
        <p:nvSpPr>
          <p:cNvPr id="142" name="object 142"/>
          <p:cNvSpPr/>
          <p:nvPr/>
        </p:nvSpPr>
        <p:spPr>
          <a:xfrm>
            <a:off x="7335937" y="3362425"/>
            <a:ext cx="180834" cy="156092"/>
          </a:xfrm>
          <a:custGeom>
            <a:avLst/>
            <a:gdLst/>
            <a:ahLst/>
            <a:cxnLst/>
            <a:rect l="l" t="t" r="r" b="b"/>
            <a:pathLst>
              <a:path w="315594" h="272414">
                <a:moveTo>
                  <a:pt x="135671" y="0"/>
                </a:moveTo>
                <a:lnTo>
                  <a:pt x="135671" y="66048"/>
                </a:lnTo>
                <a:lnTo>
                  <a:pt x="0" y="66048"/>
                </a:lnTo>
                <a:lnTo>
                  <a:pt x="0" y="202026"/>
                </a:lnTo>
                <a:lnTo>
                  <a:pt x="135671" y="202026"/>
                </a:lnTo>
                <a:lnTo>
                  <a:pt x="135671" y="271956"/>
                </a:lnTo>
                <a:lnTo>
                  <a:pt x="315466" y="135978"/>
                </a:lnTo>
                <a:lnTo>
                  <a:pt x="135671" y="0"/>
                </a:lnTo>
                <a:close/>
              </a:path>
            </a:pathLst>
          </a:custGeom>
          <a:solidFill>
            <a:srgbClr val="FFFFFF"/>
          </a:solidFill>
        </p:spPr>
        <p:txBody>
          <a:bodyPr wrap="square" lIns="0" tIns="0" rIns="0" bIns="0" rtlCol="0"/>
          <a:lstStyle/>
          <a:p>
            <a:endParaRPr sz="1031"/>
          </a:p>
        </p:txBody>
      </p:sp>
      <p:sp>
        <p:nvSpPr>
          <p:cNvPr id="143" name="object 143"/>
          <p:cNvSpPr/>
          <p:nvPr/>
        </p:nvSpPr>
        <p:spPr>
          <a:xfrm>
            <a:off x="7335938" y="3362426"/>
            <a:ext cx="180834" cy="156092"/>
          </a:xfrm>
          <a:custGeom>
            <a:avLst/>
            <a:gdLst/>
            <a:ahLst/>
            <a:cxnLst/>
            <a:rect l="l" t="t" r="r" b="b"/>
            <a:pathLst>
              <a:path w="315594" h="272414">
                <a:moveTo>
                  <a:pt x="0" y="202026"/>
                </a:moveTo>
                <a:lnTo>
                  <a:pt x="0" y="66047"/>
                </a:lnTo>
                <a:lnTo>
                  <a:pt x="135663" y="66047"/>
                </a:lnTo>
                <a:lnTo>
                  <a:pt x="135663" y="0"/>
                </a:lnTo>
                <a:lnTo>
                  <a:pt x="315459" y="135978"/>
                </a:lnTo>
                <a:lnTo>
                  <a:pt x="135663" y="271956"/>
                </a:lnTo>
                <a:lnTo>
                  <a:pt x="135663" y="202026"/>
                </a:lnTo>
                <a:lnTo>
                  <a:pt x="0" y="202026"/>
                </a:lnTo>
                <a:close/>
              </a:path>
            </a:pathLst>
          </a:custGeom>
          <a:ln w="16980">
            <a:solidFill>
              <a:srgbClr val="797979"/>
            </a:solidFill>
          </a:ln>
        </p:spPr>
        <p:txBody>
          <a:bodyPr wrap="square" lIns="0" tIns="0" rIns="0" bIns="0" rtlCol="0"/>
          <a:lstStyle/>
          <a:p>
            <a:endParaRPr sz="1031"/>
          </a:p>
        </p:txBody>
      </p:sp>
      <p:sp>
        <p:nvSpPr>
          <p:cNvPr id="144" name="object 144"/>
          <p:cNvSpPr/>
          <p:nvPr/>
        </p:nvSpPr>
        <p:spPr>
          <a:xfrm>
            <a:off x="4843579" y="2460427"/>
            <a:ext cx="301221" cy="272700"/>
          </a:xfrm>
          <a:prstGeom prst="rect">
            <a:avLst/>
          </a:prstGeom>
          <a:blipFill>
            <a:blip r:embed="rId57" cstate="print"/>
            <a:stretch>
              <a:fillRect/>
            </a:stretch>
          </a:blipFill>
        </p:spPr>
        <p:txBody>
          <a:bodyPr wrap="square" lIns="0" tIns="0" rIns="0" bIns="0" rtlCol="0"/>
          <a:lstStyle/>
          <a:p>
            <a:endParaRPr sz="1031"/>
          </a:p>
        </p:txBody>
      </p:sp>
      <p:sp>
        <p:nvSpPr>
          <p:cNvPr id="145" name="object 145"/>
          <p:cNvSpPr/>
          <p:nvPr/>
        </p:nvSpPr>
        <p:spPr>
          <a:xfrm>
            <a:off x="4916455" y="2496778"/>
            <a:ext cx="176467" cy="156092"/>
          </a:xfrm>
          <a:custGeom>
            <a:avLst/>
            <a:gdLst/>
            <a:ahLst/>
            <a:cxnLst/>
            <a:rect l="l" t="t" r="r" b="b"/>
            <a:pathLst>
              <a:path w="307975" h="272414">
                <a:moveTo>
                  <a:pt x="118705" y="0"/>
                </a:moveTo>
                <a:lnTo>
                  <a:pt x="118705" y="64040"/>
                </a:lnTo>
                <a:lnTo>
                  <a:pt x="0" y="64040"/>
                </a:lnTo>
                <a:lnTo>
                  <a:pt x="0" y="200019"/>
                </a:lnTo>
                <a:lnTo>
                  <a:pt x="118705" y="200019"/>
                </a:lnTo>
                <a:lnTo>
                  <a:pt x="118705" y="271956"/>
                </a:lnTo>
                <a:lnTo>
                  <a:pt x="307847" y="135978"/>
                </a:lnTo>
                <a:lnTo>
                  <a:pt x="118705" y="0"/>
                </a:lnTo>
                <a:close/>
              </a:path>
            </a:pathLst>
          </a:custGeom>
          <a:solidFill>
            <a:srgbClr val="FFFFFF"/>
          </a:solidFill>
        </p:spPr>
        <p:txBody>
          <a:bodyPr wrap="square" lIns="0" tIns="0" rIns="0" bIns="0" rtlCol="0"/>
          <a:lstStyle/>
          <a:p>
            <a:endParaRPr sz="1031"/>
          </a:p>
        </p:txBody>
      </p:sp>
      <p:sp>
        <p:nvSpPr>
          <p:cNvPr id="146" name="object 146"/>
          <p:cNvSpPr/>
          <p:nvPr/>
        </p:nvSpPr>
        <p:spPr>
          <a:xfrm>
            <a:off x="4916455" y="2496778"/>
            <a:ext cx="176467" cy="156092"/>
          </a:xfrm>
          <a:custGeom>
            <a:avLst/>
            <a:gdLst/>
            <a:ahLst/>
            <a:cxnLst/>
            <a:rect l="l" t="t" r="r" b="b"/>
            <a:pathLst>
              <a:path w="307975" h="272414">
                <a:moveTo>
                  <a:pt x="0" y="200018"/>
                </a:moveTo>
                <a:lnTo>
                  <a:pt x="0" y="64040"/>
                </a:lnTo>
                <a:lnTo>
                  <a:pt x="118705" y="64040"/>
                </a:lnTo>
                <a:lnTo>
                  <a:pt x="118705" y="0"/>
                </a:lnTo>
                <a:lnTo>
                  <a:pt x="307846" y="135978"/>
                </a:lnTo>
                <a:lnTo>
                  <a:pt x="118705" y="271956"/>
                </a:lnTo>
                <a:lnTo>
                  <a:pt x="118705" y="200018"/>
                </a:lnTo>
                <a:lnTo>
                  <a:pt x="0" y="200018"/>
                </a:lnTo>
                <a:close/>
              </a:path>
            </a:pathLst>
          </a:custGeom>
          <a:ln w="16980">
            <a:solidFill>
              <a:srgbClr val="797979"/>
            </a:solidFill>
          </a:ln>
        </p:spPr>
        <p:txBody>
          <a:bodyPr wrap="square" lIns="0" tIns="0" rIns="0" bIns="0" rtlCol="0"/>
          <a:lstStyle/>
          <a:p>
            <a:endParaRPr sz="1031"/>
          </a:p>
        </p:txBody>
      </p:sp>
      <p:sp>
        <p:nvSpPr>
          <p:cNvPr id="147" name="object 147"/>
          <p:cNvSpPr/>
          <p:nvPr/>
        </p:nvSpPr>
        <p:spPr>
          <a:xfrm>
            <a:off x="5475172" y="2460427"/>
            <a:ext cx="301221" cy="272700"/>
          </a:xfrm>
          <a:prstGeom prst="rect">
            <a:avLst/>
          </a:prstGeom>
          <a:blipFill>
            <a:blip r:embed="rId58" cstate="print"/>
            <a:stretch>
              <a:fillRect/>
            </a:stretch>
          </a:blipFill>
        </p:spPr>
        <p:txBody>
          <a:bodyPr wrap="square" lIns="0" tIns="0" rIns="0" bIns="0" rtlCol="0"/>
          <a:lstStyle/>
          <a:p>
            <a:endParaRPr sz="1031"/>
          </a:p>
        </p:txBody>
      </p:sp>
      <p:sp>
        <p:nvSpPr>
          <p:cNvPr id="148" name="object 148"/>
          <p:cNvSpPr/>
          <p:nvPr/>
        </p:nvSpPr>
        <p:spPr>
          <a:xfrm>
            <a:off x="5538331" y="2496778"/>
            <a:ext cx="178651" cy="156092"/>
          </a:xfrm>
          <a:custGeom>
            <a:avLst/>
            <a:gdLst/>
            <a:ahLst/>
            <a:cxnLst/>
            <a:rect l="l" t="t" r="r" b="b"/>
            <a:pathLst>
              <a:path w="311784" h="272414">
                <a:moveTo>
                  <a:pt x="135663" y="0"/>
                </a:moveTo>
                <a:lnTo>
                  <a:pt x="135663" y="64040"/>
                </a:lnTo>
                <a:lnTo>
                  <a:pt x="0" y="64040"/>
                </a:lnTo>
                <a:lnTo>
                  <a:pt x="0" y="200019"/>
                </a:lnTo>
                <a:lnTo>
                  <a:pt x="135663" y="200019"/>
                </a:lnTo>
                <a:lnTo>
                  <a:pt x="135663" y="271956"/>
                </a:lnTo>
                <a:lnTo>
                  <a:pt x="311185" y="135978"/>
                </a:lnTo>
                <a:lnTo>
                  <a:pt x="135663" y="0"/>
                </a:lnTo>
                <a:close/>
              </a:path>
            </a:pathLst>
          </a:custGeom>
          <a:solidFill>
            <a:srgbClr val="FFFFFF"/>
          </a:solidFill>
        </p:spPr>
        <p:txBody>
          <a:bodyPr wrap="square" lIns="0" tIns="0" rIns="0" bIns="0" rtlCol="0"/>
          <a:lstStyle/>
          <a:p>
            <a:endParaRPr sz="1031"/>
          </a:p>
        </p:txBody>
      </p:sp>
      <p:sp>
        <p:nvSpPr>
          <p:cNvPr id="149" name="object 149"/>
          <p:cNvSpPr/>
          <p:nvPr/>
        </p:nvSpPr>
        <p:spPr>
          <a:xfrm>
            <a:off x="5538330" y="2496778"/>
            <a:ext cx="178651" cy="156092"/>
          </a:xfrm>
          <a:custGeom>
            <a:avLst/>
            <a:gdLst/>
            <a:ahLst/>
            <a:cxnLst/>
            <a:rect l="l" t="t" r="r" b="b"/>
            <a:pathLst>
              <a:path w="311784" h="272414">
                <a:moveTo>
                  <a:pt x="0" y="200018"/>
                </a:moveTo>
                <a:lnTo>
                  <a:pt x="0" y="64040"/>
                </a:lnTo>
                <a:lnTo>
                  <a:pt x="135663" y="64040"/>
                </a:lnTo>
                <a:lnTo>
                  <a:pt x="135663" y="0"/>
                </a:lnTo>
                <a:lnTo>
                  <a:pt x="311185" y="135978"/>
                </a:lnTo>
                <a:lnTo>
                  <a:pt x="135663" y="271956"/>
                </a:lnTo>
                <a:lnTo>
                  <a:pt x="135663" y="200018"/>
                </a:lnTo>
                <a:lnTo>
                  <a:pt x="0" y="200018"/>
                </a:lnTo>
                <a:close/>
              </a:path>
            </a:pathLst>
          </a:custGeom>
          <a:ln w="16980">
            <a:solidFill>
              <a:srgbClr val="797979"/>
            </a:solidFill>
          </a:ln>
        </p:spPr>
        <p:txBody>
          <a:bodyPr wrap="square" lIns="0" tIns="0" rIns="0" bIns="0" rtlCol="0"/>
          <a:lstStyle/>
          <a:p>
            <a:endParaRPr sz="1031"/>
          </a:p>
        </p:txBody>
      </p:sp>
      <p:sp>
        <p:nvSpPr>
          <p:cNvPr id="150" name="object 150"/>
          <p:cNvSpPr/>
          <p:nvPr/>
        </p:nvSpPr>
        <p:spPr>
          <a:xfrm>
            <a:off x="6058179" y="2460427"/>
            <a:ext cx="301221" cy="272700"/>
          </a:xfrm>
          <a:prstGeom prst="rect">
            <a:avLst/>
          </a:prstGeom>
          <a:blipFill>
            <a:blip r:embed="rId59" cstate="print"/>
            <a:stretch>
              <a:fillRect/>
            </a:stretch>
          </a:blipFill>
        </p:spPr>
        <p:txBody>
          <a:bodyPr wrap="square" lIns="0" tIns="0" rIns="0" bIns="0" rtlCol="0"/>
          <a:lstStyle/>
          <a:p>
            <a:endParaRPr sz="1031"/>
          </a:p>
        </p:txBody>
      </p:sp>
      <p:sp>
        <p:nvSpPr>
          <p:cNvPr id="151" name="object 151"/>
          <p:cNvSpPr/>
          <p:nvPr/>
        </p:nvSpPr>
        <p:spPr>
          <a:xfrm>
            <a:off x="6121339" y="2496778"/>
            <a:ext cx="183744" cy="156092"/>
          </a:xfrm>
          <a:custGeom>
            <a:avLst/>
            <a:gdLst/>
            <a:ahLst/>
            <a:cxnLst/>
            <a:rect l="l" t="t" r="r" b="b"/>
            <a:pathLst>
              <a:path w="320675" h="272414">
                <a:moveTo>
                  <a:pt x="135660" y="0"/>
                </a:moveTo>
                <a:lnTo>
                  <a:pt x="135660" y="64040"/>
                </a:lnTo>
                <a:lnTo>
                  <a:pt x="0" y="64040"/>
                </a:lnTo>
                <a:lnTo>
                  <a:pt x="0" y="200019"/>
                </a:lnTo>
                <a:lnTo>
                  <a:pt x="135660" y="200019"/>
                </a:lnTo>
                <a:lnTo>
                  <a:pt x="135660" y="271956"/>
                </a:lnTo>
                <a:lnTo>
                  <a:pt x="320136" y="135978"/>
                </a:lnTo>
                <a:lnTo>
                  <a:pt x="135660" y="0"/>
                </a:lnTo>
                <a:close/>
              </a:path>
            </a:pathLst>
          </a:custGeom>
          <a:solidFill>
            <a:srgbClr val="FFFFFF"/>
          </a:solidFill>
        </p:spPr>
        <p:txBody>
          <a:bodyPr wrap="square" lIns="0" tIns="0" rIns="0" bIns="0" rtlCol="0"/>
          <a:lstStyle/>
          <a:p>
            <a:endParaRPr sz="1031"/>
          </a:p>
        </p:txBody>
      </p:sp>
      <p:sp>
        <p:nvSpPr>
          <p:cNvPr id="152" name="object 152"/>
          <p:cNvSpPr/>
          <p:nvPr/>
        </p:nvSpPr>
        <p:spPr>
          <a:xfrm>
            <a:off x="6121338" y="2496778"/>
            <a:ext cx="183744" cy="156092"/>
          </a:xfrm>
          <a:custGeom>
            <a:avLst/>
            <a:gdLst/>
            <a:ahLst/>
            <a:cxnLst/>
            <a:rect l="l" t="t" r="r" b="b"/>
            <a:pathLst>
              <a:path w="320675" h="272414">
                <a:moveTo>
                  <a:pt x="0" y="200018"/>
                </a:moveTo>
                <a:lnTo>
                  <a:pt x="0" y="64040"/>
                </a:lnTo>
                <a:lnTo>
                  <a:pt x="135663" y="64040"/>
                </a:lnTo>
                <a:lnTo>
                  <a:pt x="135663" y="0"/>
                </a:lnTo>
                <a:lnTo>
                  <a:pt x="320132" y="135978"/>
                </a:lnTo>
                <a:lnTo>
                  <a:pt x="135663" y="271956"/>
                </a:lnTo>
                <a:lnTo>
                  <a:pt x="135663" y="200018"/>
                </a:lnTo>
                <a:lnTo>
                  <a:pt x="0" y="200018"/>
                </a:lnTo>
                <a:close/>
              </a:path>
            </a:pathLst>
          </a:custGeom>
          <a:ln w="16980">
            <a:solidFill>
              <a:srgbClr val="797979"/>
            </a:solidFill>
          </a:ln>
        </p:spPr>
        <p:txBody>
          <a:bodyPr wrap="square" lIns="0" tIns="0" rIns="0" bIns="0" rtlCol="0"/>
          <a:lstStyle/>
          <a:p>
            <a:endParaRPr sz="1031"/>
          </a:p>
        </p:txBody>
      </p:sp>
      <p:sp>
        <p:nvSpPr>
          <p:cNvPr id="153" name="object 153"/>
          <p:cNvSpPr/>
          <p:nvPr/>
        </p:nvSpPr>
        <p:spPr>
          <a:xfrm>
            <a:off x="6650905" y="2460427"/>
            <a:ext cx="301221" cy="272700"/>
          </a:xfrm>
          <a:prstGeom prst="rect">
            <a:avLst/>
          </a:prstGeom>
          <a:blipFill>
            <a:blip r:embed="rId60" cstate="print"/>
            <a:stretch>
              <a:fillRect/>
            </a:stretch>
          </a:blipFill>
        </p:spPr>
        <p:txBody>
          <a:bodyPr wrap="square" lIns="0" tIns="0" rIns="0" bIns="0" rtlCol="0"/>
          <a:lstStyle/>
          <a:p>
            <a:endParaRPr sz="1031"/>
          </a:p>
        </p:txBody>
      </p:sp>
      <p:sp>
        <p:nvSpPr>
          <p:cNvPr id="154" name="object 154"/>
          <p:cNvSpPr/>
          <p:nvPr/>
        </p:nvSpPr>
        <p:spPr>
          <a:xfrm>
            <a:off x="6714065" y="2496778"/>
            <a:ext cx="179014" cy="156092"/>
          </a:xfrm>
          <a:custGeom>
            <a:avLst/>
            <a:gdLst/>
            <a:ahLst/>
            <a:cxnLst/>
            <a:rect l="l" t="t" r="r" b="b"/>
            <a:pathLst>
              <a:path w="312420" h="272414">
                <a:moveTo>
                  <a:pt x="135660" y="0"/>
                </a:moveTo>
                <a:lnTo>
                  <a:pt x="135660" y="64040"/>
                </a:lnTo>
                <a:lnTo>
                  <a:pt x="0" y="64040"/>
                </a:lnTo>
                <a:lnTo>
                  <a:pt x="0" y="200019"/>
                </a:lnTo>
                <a:lnTo>
                  <a:pt x="135660" y="200019"/>
                </a:lnTo>
                <a:lnTo>
                  <a:pt x="135660" y="271956"/>
                </a:lnTo>
                <a:lnTo>
                  <a:pt x="312116" y="135978"/>
                </a:lnTo>
                <a:lnTo>
                  <a:pt x="135660" y="0"/>
                </a:lnTo>
                <a:close/>
              </a:path>
            </a:pathLst>
          </a:custGeom>
          <a:solidFill>
            <a:srgbClr val="FFFFFF"/>
          </a:solidFill>
        </p:spPr>
        <p:txBody>
          <a:bodyPr wrap="square" lIns="0" tIns="0" rIns="0" bIns="0" rtlCol="0"/>
          <a:lstStyle/>
          <a:p>
            <a:endParaRPr sz="1031"/>
          </a:p>
        </p:txBody>
      </p:sp>
      <p:sp>
        <p:nvSpPr>
          <p:cNvPr id="155" name="object 155"/>
          <p:cNvSpPr/>
          <p:nvPr/>
        </p:nvSpPr>
        <p:spPr>
          <a:xfrm>
            <a:off x="6714063" y="2496778"/>
            <a:ext cx="179014" cy="156092"/>
          </a:xfrm>
          <a:custGeom>
            <a:avLst/>
            <a:gdLst/>
            <a:ahLst/>
            <a:cxnLst/>
            <a:rect l="l" t="t" r="r" b="b"/>
            <a:pathLst>
              <a:path w="312420" h="272414">
                <a:moveTo>
                  <a:pt x="0" y="200018"/>
                </a:moveTo>
                <a:lnTo>
                  <a:pt x="0" y="64040"/>
                </a:lnTo>
                <a:lnTo>
                  <a:pt x="135663" y="64040"/>
                </a:lnTo>
                <a:lnTo>
                  <a:pt x="135663" y="0"/>
                </a:lnTo>
                <a:lnTo>
                  <a:pt x="312120" y="135978"/>
                </a:lnTo>
                <a:lnTo>
                  <a:pt x="135663" y="271956"/>
                </a:lnTo>
                <a:lnTo>
                  <a:pt x="135663" y="200018"/>
                </a:lnTo>
                <a:lnTo>
                  <a:pt x="0" y="200018"/>
                </a:lnTo>
                <a:close/>
              </a:path>
            </a:pathLst>
          </a:custGeom>
          <a:ln w="16980">
            <a:solidFill>
              <a:srgbClr val="797979"/>
            </a:solidFill>
          </a:ln>
        </p:spPr>
        <p:txBody>
          <a:bodyPr wrap="square" lIns="0" tIns="0" rIns="0" bIns="0" rtlCol="0"/>
          <a:lstStyle/>
          <a:p>
            <a:endParaRPr sz="1031"/>
          </a:p>
        </p:txBody>
      </p:sp>
      <p:sp>
        <p:nvSpPr>
          <p:cNvPr id="156" name="object 156"/>
          <p:cNvSpPr/>
          <p:nvPr/>
        </p:nvSpPr>
        <p:spPr>
          <a:xfrm>
            <a:off x="7233912" y="2460427"/>
            <a:ext cx="301221" cy="272700"/>
          </a:xfrm>
          <a:prstGeom prst="rect">
            <a:avLst/>
          </a:prstGeom>
          <a:blipFill>
            <a:blip r:embed="rId61" cstate="print"/>
            <a:stretch>
              <a:fillRect/>
            </a:stretch>
          </a:blipFill>
        </p:spPr>
        <p:txBody>
          <a:bodyPr wrap="square" lIns="0" tIns="0" rIns="0" bIns="0" rtlCol="0"/>
          <a:lstStyle/>
          <a:p>
            <a:endParaRPr sz="1031"/>
          </a:p>
        </p:txBody>
      </p:sp>
      <p:sp>
        <p:nvSpPr>
          <p:cNvPr id="157" name="object 157"/>
          <p:cNvSpPr/>
          <p:nvPr/>
        </p:nvSpPr>
        <p:spPr>
          <a:xfrm>
            <a:off x="7297071" y="2496778"/>
            <a:ext cx="184108" cy="156092"/>
          </a:xfrm>
          <a:custGeom>
            <a:avLst/>
            <a:gdLst/>
            <a:ahLst/>
            <a:cxnLst/>
            <a:rect l="l" t="t" r="r" b="b"/>
            <a:pathLst>
              <a:path w="321309" h="272414">
                <a:moveTo>
                  <a:pt x="135660" y="0"/>
                </a:moveTo>
                <a:lnTo>
                  <a:pt x="135660" y="64040"/>
                </a:lnTo>
                <a:lnTo>
                  <a:pt x="0" y="64040"/>
                </a:lnTo>
                <a:lnTo>
                  <a:pt x="0" y="200019"/>
                </a:lnTo>
                <a:lnTo>
                  <a:pt x="135660" y="200019"/>
                </a:lnTo>
                <a:lnTo>
                  <a:pt x="135660" y="271956"/>
                </a:lnTo>
                <a:lnTo>
                  <a:pt x="321068" y="135978"/>
                </a:lnTo>
                <a:lnTo>
                  <a:pt x="135660" y="0"/>
                </a:lnTo>
                <a:close/>
              </a:path>
            </a:pathLst>
          </a:custGeom>
          <a:solidFill>
            <a:srgbClr val="FFFFFF"/>
          </a:solidFill>
        </p:spPr>
        <p:txBody>
          <a:bodyPr wrap="square" lIns="0" tIns="0" rIns="0" bIns="0" rtlCol="0"/>
          <a:lstStyle/>
          <a:p>
            <a:endParaRPr sz="1031"/>
          </a:p>
        </p:txBody>
      </p:sp>
      <p:sp>
        <p:nvSpPr>
          <p:cNvPr id="158" name="object 158"/>
          <p:cNvSpPr/>
          <p:nvPr/>
        </p:nvSpPr>
        <p:spPr>
          <a:xfrm>
            <a:off x="7297071" y="2496778"/>
            <a:ext cx="184108" cy="156092"/>
          </a:xfrm>
          <a:custGeom>
            <a:avLst/>
            <a:gdLst/>
            <a:ahLst/>
            <a:cxnLst/>
            <a:rect l="l" t="t" r="r" b="b"/>
            <a:pathLst>
              <a:path w="321309" h="272414">
                <a:moveTo>
                  <a:pt x="0" y="200018"/>
                </a:moveTo>
                <a:lnTo>
                  <a:pt x="0" y="64040"/>
                </a:lnTo>
                <a:lnTo>
                  <a:pt x="135663" y="64040"/>
                </a:lnTo>
                <a:lnTo>
                  <a:pt x="135663" y="0"/>
                </a:lnTo>
                <a:lnTo>
                  <a:pt x="321067" y="135978"/>
                </a:lnTo>
                <a:lnTo>
                  <a:pt x="135663" y="271956"/>
                </a:lnTo>
                <a:lnTo>
                  <a:pt x="135663" y="200018"/>
                </a:lnTo>
                <a:lnTo>
                  <a:pt x="0" y="200018"/>
                </a:lnTo>
                <a:close/>
              </a:path>
            </a:pathLst>
          </a:custGeom>
          <a:ln w="16980">
            <a:solidFill>
              <a:srgbClr val="797979"/>
            </a:solidFill>
          </a:ln>
        </p:spPr>
        <p:txBody>
          <a:bodyPr wrap="square" lIns="0" tIns="0" rIns="0" bIns="0" rtlCol="0"/>
          <a:lstStyle/>
          <a:p>
            <a:endParaRPr sz="1031"/>
          </a:p>
        </p:txBody>
      </p:sp>
      <p:sp>
        <p:nvSpPr>
          <p:cNvPr id="159" name="object 159"/>
          <p:cNvSpPr/>
          <p:nvPr/>
        </p:nvSpPr>
        <p:spPr>
          <a:xfrm>
            <a:off x="8166372" y="2286147"/>
            <a:ext cx="1337514" cy="1377174"/>
          </a:xfrm>
          <a:custGeom>
            <a:avLst/>
            <a:gdLst/>
            <a:ahLst/>
            <a:cxnLst/>
            <a:rect l="l" t="t" r="r" b="b"/>
            <a:pathLst>
              <a:path w="2334259" h="2403475">
                <a:moveTo>
                  <a:pt x="135316" y="0"/>
                </a:moveTo>
                <a:lnTo>
                  <a:pt x="2198886" y="0"/>
                </a:lnTo>
                <a:lnTo>
                  <a:pt x="2241656" y="6902"/>
                </a:lnTo>
                <a:lnTo>
                  <a:pt x="2278802" y="26125"/>
                </a:lnTo>
                <a:lnTo>
                  <a:pt x="2308094" y="55436"/>
                </a:lnTo>
                <a:lnTo>
                  <a:pt x="2327304" y="92605"/>
                </a:lnTo>
                <a:lnTo>
                  <a:pt x="2334202" y="135404"/>
                </a:lnTo>
                <a:lnTo>
                  <a:pt x="2334202" y="2268021"/>
                </a:lnTo>
                <a:lnTo>
                  <a:pt x="2327304" y="2310820"/>
                </a:lnTo>
                <a:lnTo>
                  <a:pt x="2308094" y="2347990"/>
                </a:lnTo>
                <a:lnTo>
                  <a:pt x="2278802" y="2377301"/>
                </a:lnTo>
                <a:lnTo>
                  <a:pt x="2241656" y="2396523"/>
                </a:lnTo>
                <a:lnTo>
                  <a:pt x="2198886" y="2403426"/>
                </a:lnTo>
                <a:lnTo>
                  <a:pt x="135316" y="2403426"/>
                </a:lnTo>
                <a:lnTo>
                  <a:pt x="92545" y="2396523"/>
                </a:lnTo>
                <a:lnTo>
                  <a:pt x="55400" y="2377301"/>
                </a:lnTo>
                <a:lnTo>
                  <a:pt x="26108" y="2347990"/>
                </a:lnTo>
                <a:lnTo>
                  <a:pt x="6898" y="2310820"/>
                </a:lnTo>
                <a:lnTo>
                  <a:pt x="0" y="2268021"/>
                </a:lnTo>
                <a:lnTo>
                  <a:pt x="0" y="135404"/>
                </a:lnTo>
                <a:lnTo>
                  <a:pt x="6898" y="92605"/>
                </a:lnTo>
                <a:lnTo>
                  <a:pt x="26108" y="55436"/>
                </a:lnTo>
                <a:lnTo>
                  <a:pt x="55400" y="26125"/>
                </a:lnTo>
                <a:lnTo>
                  <a:pt x="92545" y="6902"/>
                </a:lnTo>
                <a:lnTo>
                  <a:pt x="135316" y="0"/>
                </a:lnTo>
                <a:close/>
              </a:path>
            </a:pathLst>
          </a:custGeom>
          <a:ln w="16919">
            <a:solidFill>
              <a:srgbClr val="000000"/>
            </a:solidFill>
          </a:ln>
        </p:spPr>
        <p:txBody>
          <a:bodyPr wrap="square" lIns="0" tIns="0" rIns="0" bIns="0" rtlCol="0"/>
          <a:lstStyle/>
          <a:p>
            <a:endParaRPr sz="1031"/>
          </a:p>
        </p:txBody>
      </p:sp>
      <p:sp>
        <p:nvSpPr>
          <p:cNvPr id="160" name="object 160"/>
          <p:cNvSpPr/>
          <p:nvPr/>
        </p:nvSpPr>
        <p:spPr>
          <a:xfrm>
            <a:off x="8345669" y="2397677"/>
            <a:ext cx="881962" cy="358834"/>
          </a:xfrm>
          <a:prstGeom prst="rect">
            <a:avLst/>
          </a:prstGeom>
          <a:blipFill>
            <a:blip r:embed="rId62" cstate="print"/>
            <a:stretch>
              <a:fillRect/>
            </a:stretch>
          </a:blipFill>
        </p:spPr>
        <p:txBody>
          <a:bodyPr wrap="square" lIns="0" tIns="0" rIns="0" bIns="0" rtlCol="0"/>
          <a:lstStyle/>
          <a:p>
            <a:endParaRPr sz="1031"/>
          </a:p>
        </p:txBody>
      </p:sp>
      <p:sp>
        <p:nvSpPr>
          <p:cNvPr id="161" name="object 161"/>
          <p:cNvSpPr/>
          <p:nvPr/>
        </p:nvSpPr>
        <p:spPr>
          <a:xfrm>
            <a:off x="8389282" y="2431621"/>
            <a:ext cx="794737" cy="281248"/>
          </a:xfrm>
          <a:prstGeom prst="rect">
            <a:avLst/>
          </a:prstGeom>
          <a:blipFill>
            <a:blip r:embed="rId63" cstate="print"/>
            <a:stretch>
              <a:fillRect/>
            </a:stretch>
          </a:blipFill>
        </p:spPr>
        <p:txBody>
          <a:bodyPr wrap="square" lIns="0" tIns="0" rIns="0" bIns="0" rtlCol="0"/>
          <a:lstStyle/>
          <a:p>
            <a:endParaRPr sz="1031"/>
          </a:p>
        </p:txBody>
      </p:sp>
      <p:sp>
        <p:nvSpPr>
          <p:cNvPr id="162" name="object 162"/>
          <p:cNvSpPr/>
          <p:nvPr/>
        </p:nvSpPr>
        <p:spPr>
          <a:xfrm>
            <a:off x="8389286" y="2431621"/>
            <a:ext cx="795013" cy="281256"/>
          </a:xfrm>
          <a:custGeom>
            <a:avLst/>
            <a:gdLst/>
            <a:ahLst/>
            <a:cxnLst/>
            <a:rect l="l" t="t" r="r" b="b"/>
            <a:pathLst>
              <a:path w="1387475" h="490854">
                <a:moveTo>
                  <a:pt x="67658" y="0"/>
                </a:moveTo>
                <a:lnTo>
                  <a:pt x="1319331" y="0"/>
                </a:lnTo>
                <a:lnTo>
                  <a:pt x="1345667" y="5320"/>
                </a:lnTo>
                <a:lnTo>
                  <a:pt x="1367173" y="19829"/>
                </a:lnTo>
                <a:lnTo>
                  <a:pt x="1381672" y="41349"/>
                </a:lnTo>
                <a:lnTo>
                  <a:pt x="1386989" y="67702"/>
                </a:lnTo>
                <a:lnTo>
                  <a:pt x="1386989" y="423138"/>
                </a:lnTo>
                <a:lnTo>
                  <a:pt x="1381672" y="449490"/>
                </a:lnTo>
                <a:lnTo>
                  <a:pt x="1367173" y="471010"/>
                </a:lnTo>
                <a:lnTo>
                  <a:pt x="1345667" y="485520"/>
                </a:lnTo>
                <a:lnTo>
                  <a:pt x="1319331" y="490840"/>
                </a:lnTo>
                <a:lnTo>
                  <a:pt x="67658" y="490840"/>
                </a:lnTo>
                <a:lnTo>
                  <a:pt x="41322" y="485520"/>
                </a:lnTo>
                <a:lnTo>
                  <a:pt x="19816" y="471010"/>
                </a:lnTo>
                <a:lnTo>
                  <a:pt x="5316" y="449490"/>
                </a:lnTo>
                <a:lnTo>
                  <a:pt x="0" y="423138"/>
                </a:lnTo>
                <a:lnTo>
                  <a:pt x="0" y="67702"/>
                </a:lnTo>
                <a:lnTo>
                  <a:pt x="5316" y="41349"/>
                </a:lnTo>
                <a:lnTo>
                  <a:pt x="19816" y="19829"/>
                </a:lnTo>
                <a:lnTo>
                  <a:pt x="41322" y="5320"/>
                </a:lnTo>
                <a:lnTo>
                  <a:pt x="67658" y="0"/>
                </a:lnTo>
                <a:close/>
              </a:path>
            </a:pathLst>
          </a:custGeom>
          <a:ln w="16924">
            <a:solidFill>
              <a:srgbClr val="445E2D"/>
            </a:solidFill>
          </a:ln>
        </p:spPr>
        <p:txBody>
          <a:bodyPr wrap="square" lIns="0" tIns="0" rIns="0" bIns="0" rtlCol="0"/>
          <a:lstStyle/>
          <a:p>
            <a:endParaRPr sz="1031"/>
          </a:p>
        </p:txBody>
      </p:sp>
      <p:sp>
        <p:nvSpPr>
          <p:cNvPr id="163" name="object 163"/>
          <p:cNvSpPr txBox="1"/>
          <p:nvPr/>
        </p:nvSpPr>
        <p:spPr>
          <a:xfrm>
            <a:off x="8637802" y="2480776"/>
            <a:ext cx="296174" cy="171571"/>
          </a:xfrm>
          <a:prstGeom prst="rect">
            <a:avLst/>
          </a:prstGeom>
        </p:spPr>
        <p:txBody>
          <a:bodyPr vert="horz" wrap="square" lIns="0" tIns="8368" rIns="0" bIns="0" rtlCol="0">
            <a:spAutoFit/>
          </a:bodyPr>
          <a:lstStyle/>
          <a:p>
            <a:pPr marL="7277">
              <a:spcBef>
                <a:spcPts val="65"/>
              </a:spcBef>
            </a:pPr>
            <a:r>
              <a:rPr sz="1060" spc="17" dirty="0">
                <a:solidFill>
                  <a:srgbClr val="FFFFFF"/>
                </a:solidFill>
                <a:latin typeface="Arial"/>
                <a:cs typeface="Arial"/>
              </a:rPr>
              <a:t>Infra</a:t>
            </a:r>
            <a:endParaRPr sz="1060">
              <a:latin typeface="Arial"/>
              <a:cs typeface="Arial"/>
            </a:endParaRPr>
          </a:p>
        </p:txBody>
      </p:sp>
      <p:sp>
        <p:nvSpPr>
          <p:cNvPr id="164" name="object 164"/>
          <p:cNvSpPr/>
          <p:nvPr/>
        </p:nvSpPr>
        <p:spPr>
          <a:xfrm>
            <a:off x="8374745" y="2824398"/>
            <a:ext cx="852886" cy="358834"/>
          </a:xfrm>
          <a:prstGeom prst="rect">
            <a:avLst/>
          </a:prstGeom>
          <a:blipFill>
            <a:blip r:embed="rId64" cstate="print"/>
            <a:stretch>
              <a:fillRect/>
            </a:stretch>
          </a:blipFill>
        </p:spPr>
        <p:txBody>
          <a:bodyPr wrap="square" lIns="0" tIns="0" rIns="0" bIns="0" rtlCol="0"/>
          <a:lstStyle/>
          <a:p>
            <a:endParaRPr sz="1031"/>
          </a:p>
        </p:txBody>
      </p:sp>
      <p:sp>
        <p:nvSpPr>
          <p:cNvPr id="165" name="object 165"/>
          <p:cNvSpPr/>
          <p:nvPr/>
        </p:nvSpPr>
        <p:spPr>
          <a:xfrm>
            <a:off x="8418357" y="2858341"/>
            <a:ext cx="765663" cy="281248"/>
          </a:xfrm>
          <a:prstGeom prst="rect">
            <a:avLst/>
          </a:prstGeom>
          <a:blipFill>
            <a:blip r:embed="rId65" cstate="print"/>
            <a:stretch>
              <a:fillRect/>
            </a:stretch>
          </a:blipFill>
        </p:spPr>
        <p:txBody>
          <a:bodyPr wrap="square" lIns="0" tIns="0" rIns="0" bIns="0" rtlCol="0"/>
          <a:lstStyle/>
          <a:p>
            <a:endParaRPr sz="1031"/>
          </a:p>
        </p:txBody>
      </p:sp>
      <p:sp>
        <p:nvSpPr>
          <p:cNvPr id="166" name="object 166"/>
          <p:cNvSpPr/>
          <p:nvPr/>
        </p:nvSpPr>
        <p:spPr>
          <a:xfrm>
            <a:off x="8418362" y="2858341"/>
            <a:ext cx="765905" cy="281256"/>
          </a:xfrm>
          <a:custGeom>
            <a:avLst/>
            <a:gdLst/>
            <a:ahLst/>
            <a:cxnLst/>
            <a:rect l="l" t="t" r="r" b="b"/>
            <a:pathLst>
              <a:path w="1336675" h="490854">
                <a:moveTo>
                  <a:pt x="67658" y="0"/>
                </a:moveTo>
                <a:lnTo>
                  <a:pt x="1268588" y="0"/>
                </a:lnTo>
                <a:lnTo>
                  <a:pt x="1294923" y="5320"/>
                </a:lnTo>
                <a:lnTo>
                  <a:pt x="1316429" y="19829"/>
                </a:lnTo>
                <a:lnTo>
                  <a:pt x="1330929" y="41349"/>
                </a:lnTo>
                <a:lnTo>
                  <a:pt x="1336246" y="67702"/>
                </a:lnTo>
                <a:lnTo>
                  <a:pt x="1336246" y="423138"/>
                </a:lnTo>
                <a:lnTo>
                  <a:pt x="1330929" y="449490"/>
                </a:lnTo>
                <a:lnTo>
                  <a:pt x="1316429" y="471010"/>
                </a:lnTo>
                <a:lnTo>
                  <a:pt x="1294923" y="485520"/>
                </a:lnTo>
                <a:lnTo>
                  <a:pt x="1268588" y="490840"/>
                </a:lnTo>
                <a:lnTo>
                  <a:pt x="67658" y="490840"/>
                </a:lnTo>
                <a:lnTo>
                  <a:pt x="41322" y="485520"/>
                </a:lnTo>
                <a:lnTo>
                  <a:pt x="19816" y="471010"/>
                </a:lnTo>
                <a:lnTo>
                  <a:pt x="5316" y="449490"/>
                </a:lnTo>
                <a:lnTo>
                  <a:pt x="0" y="423138"/>
                </a:lnTo>
                <a:lnTo>
                  <a:pt x="0" y="67702"/>
                </a:lnTo>
                <a:lnTo>
                  <a:pt x="5316" y="41349"/>
                </a:lnTo>
                <a:lnTo>
                  <a:pt x="19816" y="19829"/>
                </a:lnTo>
                <a:lnTo>
                  <a:pt x="41322" y="5320"/>
                </a:lnTo>
                <a:lnTo>
                  <a:pt x="67658" y="0"/>
                </a:lnTo>
                <a:close/>
              </a:path>
            </a:pathLst>
          </a:custGeom>
          <a:ln w="16924">
            <a:solidFill>
              <a:srgbClr val="445E2D"/>
            </a:solidFill>
          </a:ln>
        </p:spPr>
        <p:txBody>
          <a:bodyPr wrap="square" lIns="0" tIns="0" rIns="0" bIns="0" rtlCol="0"/>
          <a:lstStyle/>
          <a:p>
            <a:endParaRPr sz="1031"/>
          </a:p>
        </p:txBody>
      </p:sp>
      <p:sp>
        <p:nvSpPr>
          <p:cNvPr id="167" name="object 167"/>
          <p:cNvSpPr txBox="1"/>
          <p:nvPr/>
        </p:nvSpPr>
        <p:spPr>
          <a:xfrm>
            <a:off x="8654999" y="2902037"/>
            <a:ext cx="289261" cy="183678"/>
          </a:xfrm>
          <a:prstGeom prst="rect">
            <a:avLst/>
          </a:prstGeom>
        </p:spPr>
        <p:txBody>
          <a:bodyPr vert="horz" wrap="square" lIns="0" tIns="7277" rIns="0" bIns="0" rtlCol="0">
            <a:spAutoFit/>
          </a:bodyPr>
          <a:lstStyle/>
          <a:p>
            <a:pPr marL="7277">
              <a:spcBef>
                <a:spcPts val="57"/>
              </a:spcBef>
            </a:pPr>
            <a:r>
              <a:rPr sz="1146" spc="40" dirty="0">
                <a:solidFill>
                  <a:srgbClr val="FFFFFF"/>
                </a:solidFill>
                <a:latin typeface="Arial"/>
                <a:cs typeface="Arial"/>
              </a:rPr>
              <a:t>App</a:t>
            </a:r>
            <a:endParaRPr sz="1146">
              <a:latin typeface="Arial"/>
              <a:cs typeface="Arial"/>
            </a:endParaRPr>
          </a:p>
        </p:txBody>
      </p:sp>
      <p:sp>
        <p:nvSpPr>
          <p:cNvPr id="168" name="object 168"/>
          <p:cNvSpPr txBox="1"/>
          <p:nvPr/>
        </p:nvSpPr>
        <p:spPr>
          <a:xfrm>
            <a:off x="2373481" y="1350519"/>
            <a:ext cx="776821" cy="727407"/>
          </a:xfrm>
          <a:prstGeom prst="rect">
            <a:avLst/>
          </a:prstGeom>
        </p:spPr>
        <p:txBody>
          <a:bodyPr vert="horz" wrap="square" lIns="0" tIns="10188" rIns="0" bIns="0" rtlCol="0">
            <a:spAutoFit/>
          </a:bodyPr>
          <a:lstStyle/>
          <a:p>
            <a:pPr marL="7277">
              <a:spcBef>
                <a:spcPts val="80"/>
              </a:spcBef>
            </a:pPr>
            <a:r>
              <a:rPr sz="1977" spc="20" dirty="0">
                <a:solidFill>
                  <a:srgbClr val="909090"/>
                </a:solidFill>
                <a:latin typeface="Arial"/>
                <a:cs typeface="Arial"/>
              </a:rPr>
              <a:t>Flow</a:t>
            </a:r>
            <a:endParaRPr sz="1977">
              <a:latin typeface="Arial"/>
              <a:cs typeface="Arial"/>
            </a:endParaRPr>
          </a:p>
          <a:p>
            <a:pPr marL="312188">
              <a:spcBef>
                <a:spcPts val="1533"/>
              </a:spcBef>
            </a:pPr>
            <a:r>
              <a:rPr sz="1433" spc="43" dirty="0">
                <a:solidFill>
                  <a:srgbClr val="FFFFFF"/>
                </a:solidFill>
                <a:latin typeface="Arial"/>
                <a:cs typeface="Arial"/>
              </a:rPr>
              <a:t>Code</a:t>
            </a:r>
            <a:endParaRPr sz="1433">
              <a:latin typeface="Arial"/>
              <a:cs typeface="Arial"/>
            </a:endParaRPr>
          </a:p>
        </p:txBody>
      </p:sp>
      <p:sp>
        <p:nvSpPr>
          <p:cNvPr id="169" name="object 169"/>
          <p:cNvSpPr/>
          <p:nvPr/>
        </p:nvSpPr>
        <p:spPr>
          <a:xfrm>
            <a:off x="3089984" y="1293815"/>
            <a:ext cx="698470" cy="460238"/>
          </a:xfrm>
          <a:prstGeom prst="rect">
            <a:avLst/>
          </a:prstGeom>
          <a:blipFill>
            <a:blip r:embed="rId66" cstate="print"/>
            <a:stretch>
              <a:fillRect/>
            </a:stretch>
          </a:blipFill>
        </p:spPr>
        <p:txBody>
          <a:bodyPr wrap="square" lIns="0" tIns="0" rIns="0" bIns="0" rtlCol="0"/>
          <a:lstStyle/>
          <a:p>
            <a:endParaRPr sz="1031"/>
          </a:p>
        </p:txBody>
      </p:sp>
      <p:sp>
        <p:nvSpPr>
          <p:cNvPr id="170" name="object 170"/>
          <p:cNvSpPr/>
          <p:nvPr/>
        </p:nvSpPr>
        <p:spPr>
          <a:xfrm>
            <a:off x="3198762" y="1360479"/>
            <a:ext cx="503933" cy="253968"/>
          </a:xfrm>
          <a:custGeom>
            <a:avLst/>
            <a:gdLst/>
            <a:ahLst/>
            <a:cxnLst/>
            <a:rect l="l" t="t" r="r" b="b"/>
            <a:pathLst>
              <a:path w="879475" h="443230">
                <a:moveTo>
                  <a:pt x="725648" y="332323"/>
                </a:moveTo>
                <a:lnTo>
                  <a:pt x="576517" y="332323"/>
                </a:lnTo>
                <a:lnTo>
                  <a:pt x="578279" y="443098"/>
                </a:lnTo>
                <a:lnTo>
                  <a:pt x="725648" y="332323"/>
                </a:lnTo>
                <a:close/>
              </a:path>
              <a:path w="879475" h="443230">
                <a:moveTo>
                  <a:pt x="571230" y="0"/>
                </a:moveTo>
                <a:lnTo>
                  <a:pt x="572993" y="110774"/>
                </a:lnTo>
                <a:lnTo>
                  <a:pt x="0" y="119887"/>
                </a:lnTo>
                <a:lnTo>
                  <a:pt x="3525" y="341435"/>
                </a:lnTo>
                <a:lnTo>
                  <a:pt x="576517" y="332323"/>
                </a:lnTo>
                <a:lnTo>
                  <a:pt x="725648" y="332323"/>
                </a:lnTo>
                <a:lnTo>
                  <a:pt x="879463" y="216703"/>
                </a:lnTo>
                <a:lnTo>
                  <a:pt x="571230" y="0"/>
                </a:lnTo>
                <a:close/>
              </a:path>
            </a:pathLst>
          </a:custGeom>
          <a:solidFill>
            <a:srgbClr val="FFFFFF"/>
          </a:solidFill>
        </p:spPr>
        <p:txBody>
          <a:bodyPr wrap="square" lIns="0" tIns="0" rIns="0" bIns="0" rtlCol="0"/>
          <a:lstStyle/>
          <a:p>
            <a:endParaRPr sz="1031"/>
          </a:p>
        </p:txBody>
      </p:sp>
      <p:sp>
        <p:nvSpPr>
          <p:cNvPr id="171" name="object 171"/>
          <p:cNvSpPr/>
          <p:nvPr/>
        </p:nvSpPr>
        <p:spPr>
          <a:xfrm>
            <a:off x="3198762" y="1360479"/>
            <a:ext cx="503933" cy="253968"/>
          </a:xfrm>
          <a:custGeom>
            <a:avLst/>
            <a:gdLst/>
            <a:ahLst/>
            <a:cxnLst/>
            <a:rect l="l" t="t" r="r" b="b"/>
            <a:pathLst>
              <a:path w="879475" h="443230">
                <a:moveTo>
                  <a:pt x="3525" y="341435"/>
                </a:moveTo>
                <a:lnTo>
                  <a:pt x="0" y="119886"/>
                </a:lnTo>
                <a:lnTo>
                  <a:pt x="572991" y="110774"/>
                </a:lnTo>
                <a:lnTo>
                  <a:pt x="571229" y="0"/>
                </a:lnTo>
                <a:lnTo>
                  <a:pt x="879463" y="216703"/>
                </a:lnTo>
                <a:lnTo>
                  <a:pt x="578279" y="443098"/>
                </a:lnTo>
                <a:lnTo>
                  <a:pt x="576517" y="332324"/>
                </a:lnTo>
                <a:lnTo>
                  <a:pt x="3525" y="341435"/>
                </a:lnTo>
                <a:close/>
              </a:path>
            </a:pathLst>
          </a:custGeom>
          <a:ln w="27698">
            <a:solidFill>
              <a:srgbClr val="797979"/>
            </a:solidFill>
          </a:ln>
        </p:spPr>
        <p:txBody>
          <a:bodyPr wrap="square" lIns="0" tIns="0" rIns="0" bIns="0" rtlCol="0"/>
          <a:lstStyle/>
          <a:p>
            <a:endParaRPr sz="1031"/>
          </a:p>
        </p:txBody>
      </p:sp>
      <p:sp>
        <p:nvSpPr>
          <p:cNvPr id="172" name="object 172"/>
          <p:cNvSpPr txBox="1">
            <a:spLocks noGrp="1"/>
          </p:cNvSpPr>
          <p:nvPr>
            <p:ph type="title"/>
          </p:nvPr>
        </p:nvSpPr>
        <p:spPr>
          <a:xfrm>
            <a:off x="8256243" y="1265568"/>
            <a:ext cx="1642137" cy="348637"/>
          </a:xfrm>
          <a:prstGeom prst="rect">
            <a:avLst/>
          </a:prstGeom>
        </p:spPr>
        <p:txBody>
          <a:bodyPr vert="horz" wrap="square" lIns="0" tIns="9096" rIns="0" bIns="0" rtlCol="0" anchor="ctr">
            <a:spAutoFit/>
          </a:bodyPr>
          <a:lstStyle/>
          <a:p>
            <a:pPr marL="7277">
              <a:spcBef>
                <a:spcPts val="72"/>
              </a:spcBef>
            </a:pPr>
            <a:r>
              <a:rPr sz="2206" spc="20" dirty="0">
                <a:solidFill>
                  <a:srgbClr val="909090"/>
                </a:solidFill>
                <a:latin typeface="Arial"/>
                <a:cs typeface="Arial"/>
              </a:rPr>
              <a:t>Feedback</a:t>
            </a:r>
            <a:endParaRPr sz="2206" dirty="0">
              <a:latin typeface="Arial"/>
              <a:cs typeface="Arial"/>
            </a:endParaRPr>
          </a:p>
        </p:txBody>
      </p:sp>
      <p:sp>
        <p:nvSpPr>
          <p:cNvPr id="173" name="object 173"/>
          <p:cNvSpPr/>
          <p:nvPr/>
        </p:nvSpPr>
        <p:spPr>
          <a:xfrm>
            <a:off x="7530167" y="1246491"/>
            <a:ext cx="725460" cy="511432"/>
          </a:xfrm>
          <a:prstGeom prst="rect">
            <a:avLst/>
          </a:prstGeom>
          <a:blipFill>
            <a:blip r:embed="rId67" cstate="print"/>
            <a:stretch>
              <a:fillRect/>
            </a:stretch>
          </a:blipFill>
        </p:spPr>
        <p:txBody>
          <a:bodyPr wrap="square" lIns="0" tIns="0" rIns="0" bIns="0" rtlCol="0"/>
          <a:lstStyle/>
          <a:p>
            <a:endParaRPr sz="1031"/>
          </a:p>
        </p:txBody>
      </p:sp>
      <p:sp>
        <p:nvSpPr>
          <p:cNvPr id="174" name="object 174"/>
          <p:cNvSpPr/>
          <p:nvPr/>
        </p:nvSpPr>
        <p:spPr>
          <a:xfrm>
            <a:off x="7648165" y="1323859"/>
            <a:ext cx="502841" cy="282347"/>
          </a:xfrm>
          <a:custGeom>
            <a:avLst/>
            <a:gdLst/>
            <a:ahLst/>
            <a:cxnLst/>
            <a:rect l="l" t="t" r="r" b="b"/>
            <a:pathLst>
              <a:path w="877569" h="492760">
                <a:moveTo>
                  <a:pt x="344020" y="0"/>
                </a:moveTo>
                <a:lnTo>
                  <a:pt x="0" y="240167"/>
                </a:lnTo>
                <a:lnTo>
                  <a:pt x="335246" y="492371"/>
                </a:lnTo>
                <a:lnTo>
                  <a:pt x="337434" y="369277"/>
                </a:lnTo>
                <a:lnTo>
                  <a:pt x="873325" y="369277"/>
                </a:lnTo>
                <a:lnTo>
                  <a:pt x="877543" y="132584"/>
                </a:lnTo>
                <a:lnTo>
                  <a:pt x="341832" y="123092"/>
                </a:lnTo>
                <a:lnTo>
                  <a:pt x="344020" y="0"/>
                </a:lnTo>
                <a:close/>
              </a:path>
              <a:path w="877569" h="492760">
                <a:moveTo>
                  <a:pt x="873325" y="369277"/>
                </a:moveTo>
                <a:lnTo>
                  <a:pt x="337434" y="369277"/>
                </a:lnTo>
                <a:lnTo>
                  <a:pt x="873156" y="378770"/>
                </a:lnTo>
                <a:lnTo>
                  <a:pt x="873325" y="369277"/>
                </a:lnTo>
                <a:close/>
              </a:path>
            </a:pathLst>
          </a:custGeom>
          <a:solidFill>
            <a:srgbClr val="FFFFFF"/>
          </a:solidFill>
        </p:spPr>
        <p:txBody>
          <a:bodyPr wrap="square" lIns="0" tIns="0" rIns="0" bIns="0" rtlCol="0"/>
          <a:lstStyle/>
          <a:p>
            <a:endParaRPr sz="1031"/>
          </a:p>
        </p:txBody>
      </p:sp>
      <p:sp>
        <p:nvSpPr>
          <p:cNvPr id="175" name="object 175"/>
          <p:cNvSpPr/>
          <p:nvPr/>
        </p:nvSpPr>
        <p:spPr>
          <a:xfrm>
            <a:off x="7648168" y="1323859"/>
            <a:ext cx="502841" cy="282347"/>
          </a:xfrm>
          <a:custGeom>
            <a:avLst/>
            <a:gdLst/>
            <a:ahLst/>
            <a:cxnLst/>
            <a:rect l="l" t="t" r="r" b="b"/>
            <a:pathLst>
              <a:path w="877569" h="492760">
                <a:moveTo>
                  <a:pt x="877542" y="132585"/>
                </a:moveTo>
                <a:lnTo>
                  <a:pt x="873151" y="378770"/>
                </a:lnTo>
                <a:lnTo>
                  <a:pt x="337434" y="369278"/>
                </a:lnTo>
                <a:lnTo>
                  <a:pt x="335239" y="492371"/>
                </a:lnTo>
                <a:lnTo>
                  <a:pt x="0" y="240167"/>
                </a:lnTo>
                <a:lnTo>
                  <a:pt x="344021" y="0"/>
                </a:lnTo>
                <a:lnTo>
                  <a:pt x="341825" y="123092"/>
                </a:lnTo>
                <a:lnTo>
                  <a:pt x="877542" y="132585"/>
                </a:lnTo>
                <a:close/>
              </a:path>
            </a:pathLst>
          </a:custGeom>
          <a:ln w="30802">
            <a:solidFill>
              <a:srgbClr val="797979"/>
            </a:solidFill>
          </a:ln>
        </p:spPr>
        <p:txBody>
          <a:bodyPr wrap="square" lIns="0" tIns="0" rIns="0" bIns="0" rtlCol="0"/>
          <a:lstStyle/>
          <a:p>
            <a:endParaRPr sz="1031"/>
          </a:p>
        </p:txBody>
      </p:sp>
      <p:sp>
        <p:nvSpPr>
          <p:cNvPr id="176" name="object 176"/>
          <p:cNvSpPr txBox="1"/>
          <p:nvPr/>
        </p:nvSpPr>
        <p:spPr>
          <a:xfrm>
            <a:off x="3203625" y="4240263"/>
            <a:ext cx="5075349" cy="267052"/>
          </a:xfrm>
          <a:prstGeom prst="rect">
            <a:avLst/>
          </a:prstGeom>
        </p:spPr>
        <p:txBody>
          <a:bodyPr vert="horz" wrap="square" lIns="0" tIns="6913" rIns="0" bIns="0" rtlCol="0">
            <a:spAutoFit/>
          </a:bodyPr>
          <a:lstStyle/>
          <a:p>
            <a:pPr marL="7277">
              <a:spcBef>
                <a:spcPts val="54"/>
              </a:spcBef>
            </a:pPr>
            <a:r>
              <a:rPr sz="1690" spc="17" dirty="0">
                <a:solidFill>
                  <a:srgbClr val="941100"/>
                </a:solidFill>
                <a:latin typeface="Arial"/>
                <a:cs typeface="Arial"/>
              </a:rPr>
              <a:t>Automated </a:t>
            </a:r>
            <a:r>
              <a:rPr sz="1690" spc="20" dirty="0">
                <a:solidFill>
                  <a:srgbClr val="941100"/>
                </a:solidFill>
                <a:latin typeface="Arial"/>
                <a:cs typeface="Arial"/>
              </a:rPr>
              <a:t>Audit </a:t>
            </a:r>
            <a:r>
              <a:rPr sz="1690" spc="11" dirty="0">
                <a:solidFill>
                  <a:srgbClr val="941100"/>
                </a:solidFill>
                <a:latin typeface="Arial"/>
                <a:cs typeface="Arial"/>
              </a:rPr>
              <a:t>and </a:t>
            </a:r>
            <a:r>
              <a:rPr sz="1690" spc="9" dirty="0">
                <a:solidFill>
                  <a:srgbClr val="941100"/>
                </a:solidFill>
                <a:latin typeface="Arial"/>
                <a:cs typeface="Arial"/>
              </a:rPr>
              <a:t>Security </a:t>
            </a:r>
            <a:r>
              <a:rPr sz="1690" spc="11" dirty="0">
                <a:solidFill>
                  <a:srgbClr val="941100"/>
                </a:solidFill>
                <a:latin typeface="Arial"/>
                <a:cs typeface="Arial"/>
              </a:rPr>
              <a:t>Controls </a:t>
            </a:r>
            <a:r>
              <a:rPr sz="1690" spc="14" dirty="0">
                <a:solidFill>
                  <a:srgbClr val="941100"/>
                </a:solidFill>
                <a:latin typeface="Arial"/>
                <a:cs typeface="Arial"/>
              </a:rPr>
              <a:t>at </a:t>
            </a:r>
            <a:r>
              <a:rPr sz="1690" spc="-11" dirty="0">
                <a:solidFill>
                  <a:srgbClr val="941100"/>
                </a:solidFill>
                <a:latin typeface="Arial"/>
                <a:cs typeface="Arial"/>
              </a:rPr>
              <a:t>every</a:t>
            </a:r>
            <a:r>
              <a:rPr sz="1690" spc="-92" dirty="0">
                <a:solidFill>
                  <a:srgbClr val="941100"/>
                </a:solidFill>
                <a:latin typeface="Arial"/>
                <a:cs typeface="Arial"/>
              </a:rPr>
              <a:t> </a:t>
            </a:r>
            <a:r>
              <a:rPr sz="1690" spc="23" dirty="0">
                <a:solidFill>
                  <a:srgbClr val="941100"/>
                </a:solidFill>
                <a:latin typeface="Arial"/>
                <a:cs typeface="Arial"/>
              </a:rPr>
              <a:t>step</a:t>
            </a:r>
            <a:endParaRPr sz="1690">
              <a:latin typeface="Arial"/>
              <a:cs typeface="Arial"/>
            </a:endParaRPr>
          </a:p>
        </p:txBody>
      </p:sp>
      <p:sp>
        <p:nvSpPr>
          <p:cNvPr id="177" name="object 177"/>
          <p:cNvSpPr/>
          <p:nvPr/>
        </p:nvSpPr>
        <p:spPr>
          <a:xfrm>
            <a:off x="2580381" y="4236875"/>
            <a:ext cx="591602" cy="388924"/>
          </a:xfrm>
          <a:prstGeom prst="rect">
            <a:avLst/>
          </a:prstGeom>
          <a:blipFill>
            <a:blip r:embed="rId68" cstate="print"/>
            <a:stretch>
              <a:fillRect/>
            </a:stretch>
          </a:blipFill>
        </p:spPr>
        <p:txBody>
          <a:bodyPr wrap="square" lIns="0" tIns="0" rIns="0" bIns="0" rtlCol="0"/>
          <a:lstStyle/>
          <a:p>
            <a:endParaRPr sz="1031"/>
          </a:p>
        </p:txBody>
      </p:sp>
      <p:sp>
        <p:nvSpPr>
          <p:cNvPr id="178" name="object 178"/>
          <p:cNvSpPr/>
          <p:nvPr/>
        </p:nvSpPr>
        <p:spPr>
          <a:xfrm>
            <a:off x="2673127" y="4294541"/>
            <a:ext cx="420975" cy="214672"/>
          </a:xfrm>
          <a:custGeom>
            <a:avLst/>
            <a:gdLst/>
            <a:ahLst/>
            <a:cxnLst/>
            <a:rect l="l" t="t" r="r" b="b"/>
            <a:pathLst>
              <a:path w="734695" h="374650">
                <a:moveTo>
                  <a:pt x="258113" y="0"/>
                </a:moveTo>
                <a:lnTo>
                  <a:pt x="0" y="187252"/>
                </a:lnTo>
                <a:lnTo>
                  <a:pt x="258125" y="374488"/>
                </a:lnTo>
                <a:lnTo>
                  <a:pt x="258121" y="280866"/>
                </a:lnTo>
                <a:lnTo>
                  <a:pt x="734665" y="280851"/>
                </a:lnTo>
                <a:lnTo>
                  <a:pt x="734659" y="93622"/>
                </a:lnTo>
                <a:lnTo>
                  <a:pt x="258116" y="93622"/>
                </a:lnTo>
                <a:lnTo>
                  <a:pt x="258113" y="0"/>
                </a:lnTo>
                <a:close/>
              </a:path>
              <a:path w="734695" h="374650">
                <a:moveTo>
                  <a:pt x="734659" y="93606"/>
                </a:moveTo>
                <a:lnTo>
                  <a:pt x="258116" y="93622"/>
                </a:lnTo>
                <a:lnTo>
                  <a:pt x="734659" y="93622"/>
                </a:lnTo>
                <a:close/>
              </a:path>
            </a:pathLst>
          </a:custGeom>
          <a:solidFill>
            <a:srgbClr val="FFFFFF"/>
          </a:solidFill>
        </p:spPr>
        <p:txBody>
          <a:bodyPr wrap="square" lIns="0" tIns="0" rIns="0" bIns="0" rtlCol="0"/>
          <a:lstStyle/>
          <a:p>
            <a:endParaRPr sz="1031"/>
          </a:p>
        </p:txBody>
      </p:sp>
      <p:sp>
        <p:nvSpPr>
          <p:cNvPr id="179" name="object 179"/>
          <p:cNvSpPr/>
          <p:nvPr/>
        </p:nvSpPr>
        <p:spPr>
          <a:xfrm>
            <a:off x="2673127" y="4294544"/>
            <a:ext cx="420975" cy="214672"/>
          </a:xfrm>
          <a:custGeom>
            <a:avLst/>
            <a:gdLst/>
            <a:ahLst/>
            <a:cxnLst/>
            <a:rect l="l" t="t" r="r" b="b"/>
            <a:pathLst>
              <a:path w="734695" h="374650">
                <a:moveTo>
                  <a:pt x="734659" y="93605"/>
                </a:moveTo>
                <a:lnTo>
                  <a:pt x="734666" y="280849"/>
                </a:lnTo>
                <a:lnTo>
                  <a:pt x="258121" y="280866"/>
                </a:lnTo>
                <a:lnTo>
                  <a:pt x="258126" y="374488"/>
                </a:lnTo>
                <a:lnTo>
                  <a:pt x="0" y="187251"/>
                </a:lnTo>
                <a:lnTo>
                  <a:pt x="258112" y="0"/>
                </a:lnTo>
                <a:lnTo>
                  <a:pt x="258117" y="93622"/>
                </a:lnTo>
                <a:lnTo>
                  <a:pt x="734659" y="93605"/>
                </a:lnTo>
                <a:close/>
              </a:path>
            </a:pathLst>
          </a:custGeom>
          <a:ln w="23417">
            <a:solidFill>
              <a:srgbClr val="797979"/>
            </a:solidFill>
          </a:ln>
        </p:spPr>
        <p:txBody>
          <a:bodyPr wrap="square" lIns="0" tIns="0" rIns="0" bIns="0" rtlCol="0"/>
          <a:lstStyle/>
          <a:p>
            <a:endParaRPr sz="1031"/>
          </a:p>
        </p:txBody>
      </p:sp>
      <p:sp>
        <p:nvSpPr>
          <p:cNvPr id="180" name="object 180"/>
          <p:cNvSpPr/>
          <p:nvPr/>
        </p:nvSpPr>
        <p:spPr>
          <a:xfrm>
            <a:off x="8294720" y="4236875"/>
            <a:ext cx="631939" cy="388924"/>
          </a:xfrm>
          <a:prstGeom prst="rect">
            <a:avLst/>
          </a:prstGeom>
          <a:blipFill>
            <a:blip r:embed="rId69" cstate="print"/>
            <a:stretch>
              <a:fillRect/>
            </a:stretch>
          </a:blipFill>
        </p:spPr>
        <p:txBody>
          <a:bodyPr wrap="square" lIns="0" tIns="0" rIns="0" bIns="0" rtlCol="0"/>
          <a:lstStyle/>
          <a:p>
            <a:endParaRPr sz="1031"/>
          </a:p>
        </p:txBody>
      </p:sp>
      <p:sp>
        <p:nvSpPr>
          <p:cNvPr id="181" name="object 181"/>
          <p:cNvSpPr/>
          <p:nvPr/>
        </p:nvSpPr>
        <p:spPr>
          <a:xfrm>
            <a:off x="8387716" y="4299106"/>
            <a:ext cx="458451" cy="214672"/>
          </a:xfrm>
          <a:custGeom>
            <a:avLst/>
            <a:gdLst/>
            <a:ahLst/>
            <a:cxnLst/>
            <a:rect l="l" t="t" r="r" b="b"/>
            <a:pathLst>
              <a:path w="800100" h="374650">
                <a:moveTo>
                  <a:pt x="544276" y="0"/>
                </a:moveTo>
                <a:lnTo>
                  <a:pt x="542894" y="93611"/>
                </a:lnTo>
                <a:lnTo>
                  <a:pt x="2666" y="93611"/>
                </a:lnTo>
                <a:lnTo>
                  <a:pt x="0" y="272853"/>
                </a:lnTo>
                <a:lnTo>
                  <a:pt x="540109" y="280835"/>
                </a:lnTo>
                <a:lnTo>
                  <a:pt x="538716" y="374447"/>
                </a:lnTo>
                <a:lnTo>
                  <a:pt x="799588" y="191037"/>
                </a:lnTo>
                <a:lnTo>
                  <a:pt x="669384" y="93611"/>
                </a:lnTo>
                <a:lnTo>
                  <a:pt x="542894" y="93611"/>
                </a:lnTo>
                <a:lnTo>
                  <a:pt x="2785" y="85630"/>
                </a:lnTo>
                <a:lnTo>
                  <a:pt x="658718" y="85630"/>
                </a:lnTo>
                <a:lnTo>
                  <a:pt x="544276" y="0"/>
                </a:lnTo>
                <a:close/>
              </a:path>
            </a:pathLst>
          </a:custGeom>
          <a:solidFill>
            <a:srgbClr val="FFFFFF"/>
          </a:solidFill>
        </p:spPr>
        <p:txBody>
          <a:bodyPr wrap="square" lIns="0" tIns="0" rIns="0" bIns="0" rtlCol="0"/>
          <a:lstStyle/>
          <a:p>
            <a:endParaRPr sz="1031"/>
          </a:p>
        </p:txBody>
      </p:sp>
      <p:sp>
        <p:nvSpPr>
          <p:cNvPr id="182" name="object 182"/>
          <p:cNvSpPr/>
          <p:nvPr/>
        </p:nvSpPr>
        <p:spPr>
          <a:xfrm>
            <a:off x="8387719" y="4299109"/>
            <a:ext cx="458451" cy="214672"/>
          </a:xfrm>
          <a:custGeom>
            <a:avLst/>
            <a:gdLst/>
            <a:ahLst/>
            <a:cxnLst/>
            <a:rect l="l" t="t" r="r" b="b"/>
            <a:pathLst>
              <a:path w="800100" h="374650">
                <a:moveTo>
                  <a:pt x="0" y="272854"/>
                </a:moveTo>
                <a:lnTo>
                  <a:pt x="2780" y="85631"/>
                </a:lnTo>
                <a:lnTo>
                  <a:pt x="542888" y="93612"/>
                </a:lnTo>
                <a:lnTo>
                  <a:pt x="544277" y="0"/>
                </a:lnTo>
                <a:lnTo>
                  <a:pt x="799588" y="191038"/>
                </a:lnTo>
                <a:lnTo>
                  <a:pt x="538716" y="374445"/>
                </a:lnTo>
                <a:lnTo>
                  <a:pt x="540108" y="280835"/>
                </a:lnTo>
                <a:lnTo>
                  <a:pt x="0" y="272854"/>
                </a:lnTo>
                <a:close/>
              </a:path>
            </a:pathLst>
          </a:custGeom>
          <a:ln w="23416">
            <a:solidFill>
              <a:srgbClr val="797979"/>
            </a:solidFill>
          </a:ln>
        </p:spPr>
        <p:txBody>
          <a:bodyPr wrap="square" lIns="0" tIns="0" rIns="0" bIns="0" rtlCol="0"/>
          <a:lstStyle/>
          <a:p>
            <a:endParaRPr sz="1031"/>
          </a:p>
        </p:txBody>
      </p:sp>
      <p:sp>
        <p:nvSpPr>
          <p:cNvPr id="183" name="object 183"/>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Tree>
    <p:extLst>
      <p:ext uri="{BB962C8B-B14F-4D97-AF65-F5344CB8AC3E}">
        <p14:creationId xmlns:p14="http://schemas.microsoft.com/office/powerpoint/2010/main" val="13475837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75838" y="2413738"/>
            <a:ext cx="1771224" cy="2005179"/>
          </a:xfrm>
          <a:custGeom>
            <a:avLst/>
            <a:gdLst/>
            <a:ahLst/>
            <a:cxnLst/>
            <a:rect l="l" t="t" r="r" b="b"/>
            <a:pathLst>
              <a:path w="3091179" h="3499484">
                <a:moveTo>
                  <a:pt x="197819" y="0"/>
                </a:moveTo>
                <a:lnTo>
                  <a:pt x="2893105" y="0"/>
                </a:lnTo>
                <a:lnTo>
                  <a:pt x="2938463" y="5206"/>
                </a:lnTo>
                <a:lnTo>
                  <a:pt x="2980101" y="20035"/>
                </a:lnTo>
                <a:lnTo>
                  <a:pt x="3016831" y="43306"/>
                </a:lnTo>
                <a:lnTo>
                  <a:pt x="3047465" y="73833"/>
                </a:lnTo>
                <a:lnTo>
                  <a:pt x="3070817" y="110434"/>
                </a:lnTo>
                <a:lnTo>
                  <a:pt x="3085699" y="151926"/>
                </a:lnTo>
                <a:lnTo>
                  <a:pt x="3090924" y="197125"/>
                </a:lnTo>
                <a:lnTo>
                  <a:pt x="3090924" y="3301857"/>
                </a:lnTo>
                <a:lnTo>
                  <a:pt x="3085699" y="3347056"/>
                </a:lnTo>
                <a:lnTo>
                  <a:pt x="3070817" y="3388548"/>
                </a:lnTo>
                <a:lnTo>
                  <a:pt x="3047465" y="3425149"/>
                </a:lnTo>
                <a:lnTo>
                  <a:pt x="3016831" y="3455676"/>
                </a:lnTo>
                <a:lnTo>
                  <a:pt x="2980101" y="3478947"/>
                </a:lnTo>
                <a:lnTo>
                  <a:pt x="2938463" y="3493776"/>
                </a:lnTo>
                <a:lnTo>
                  <a:pt x="2893105" y="3498983"/>
                </a:lnTo>
                <a:lnTo>
                  <a:pt x="197819" y="3498983"/>
                </a:lnTo>
                <a:lnTo>
                  <a:pt x="152461" y="3493776"/>
                </a:lnTo>
                <a:lnTo>
                  <a:pt x="110823" y="3478947"/>
                </a:lnTo>
                <a:lnTo>
                  <a:pt x="74093" y="3455676"/>
                </a:lnTo>
                <a:lnTo>
                  <a:pt x="43458" y="3425149"/>
                </a:lnTo>
                <a:lnTo>
                  <a:pt x="20106" y="3388548"/>
                </a:lnTo>
                <a:lnTo>
                  <a:pt x="5224" y="3347056"/>
                </a:lnTo>
                <a:lnTo>
                  <a:pt x="0" y="3301857"/>
                </a:lnTo>
                <a:lnTo>
                  <a:pt x="0" y="197125"/>
                </a:lnTo>
                <a:lnTo>
                  <a:pt x="5224" y="151926"/>
                </a:lnTo>
                <a:lnTo>
                  <a:pt x="20106" y="110434"/>
                </a:lnTo>
                <a:lnTo>
                  <a:pt x="43458" y="73833"/>
                </a:lnTo>
                <a:lnTo>
                  <a:pt x="74093" y="43306"/>
                </a:lnTo>
                <a:lnTo>
                  <a:pt x="110823" y="20035"/>
                </a:lnTo>
                <a:lnTo>
                  <a:pt x="152461" y="5206"/>
                </a:lnTo>
                <a:lnTo>
                  <a:pt x="197819" y="0"/>
                </a:lnTo>
                <a:close/>
              </a:path>
            </a:pathLst>
          </a:custGeom>
          <a:ln w="24689">
            <a:solidFill>
              <a:srgbClr val="000000"/>
            </a:solidFill>
          </a:ln>
        </p:spPr>
        <p:txBody>
          <a:bodyPr wrap="square" lIns="0" tIns="0" rIns="0" bIns="0" rtlCol="0"/>
          <a:lstStyle/>
          <a:p>
            <a:endParaRPr sz="1031"/>
          </a:p>
        </p:txBody>
      </p:sp>
      <p:sp>
        <p:nvSpPr>
          <p:cNvPr id="3" name="object 3"/>
          <p:cNvSpPr/>
          <p:nvPr/>
        </p:nvSpPr>
        <p:spPr>
          <a:xfrm>
            <a:off x="1797092" y="1841919"/>
            <a:ext cx="1728571" cy="522401"/>
          </a:xfrm>
          <a:prstGeom prst="rect">
            <a:avLst/>
          </a:prstGeom>
          <a:blipFill>
            <a:blip r:embed="rId2" cstate="print"/>
            <a:stretch>
              <a:fillRect/>
            </a:stretch>
          </a:blipFill>
        </p:spPr>
        <p:txBody>
          <a:bodyPr wrap="square" lIns="0" tIns="0" rIns="0" bIns="0" rtlCol="0"/>
          <a:lstStyle/>
          <a:p>
            <a:endParaRPr sz="1031"/>
          </a:p>
        </p:txBody>
      </p:sp>
      <p:sp>
        <p:nvSpPr>
          <p:cNvPr id="4" name="object 4"/>
          <p:cNvSpPr/>
          <p:nvPr/>
        </p:nvSpPr>
        <p:spPr>
          <a:xfrm>
            <a:off x="1860851" y="1891336"/>
            <a:ext cx="1601053" cy="395331"/>
          </a:xfrm>
          <a:prstGeom prst="rect">
            <a:avLst/>
          </a:prstGeom>
          <a:blipFill>
            <a:blip r:embed="rId3" cstate="print"/>
            <a:stretch>
              <a:fillRect/>
            </a:stretch>
          </a:blipFill>
        </p:spPr>
        <p:txBody>
          <a:bodyPr wrap="square" lIns="0" tIns="0" rIns="0" bIns="0" rtlCol="0"/>
          <a:lstStyle/>
          <a:p>
            <a:endParaRPr sz="1031"/>
          </a:p>
        </p:txBody>
      </p:sp>
      <p:sp>
        <p:nvSpPr>
          <p:cNvPr id="5" name="object 5"/>
          <p:cNvSpPr/>
          <p:nvPr/>
        </p:nvSpPr>
        <p:spPr>
          <a:xfrm>
            <a:off x="1860851" y="1891337"/>
            <a:ext cx="1601305" cy="395505"/>
          </a:xfrm>
          <a:custGeom>
            <a:avLst/>
            <a:gdLst/>
            <a:ahLst/>
            <a:cxnLst/>
            <a:rect l="l" t="t" r="r" b="b"/>
            <a:pathLst>
              <a:path w="2794635" h="690245">
                <a:moveTo>
                  <a:pt x="98909" y="0"/>
                </a:moveTo>
                <a:lnTo>
                  <a:pt x="2695285" y="0"/>
                </a:lnTo>
                <a:lnTo>
                  <a:pt x="2733785" y="7745"/>
                </a:lnTo>
                <a:lnTo>
                  <a:pt x="2765225" y="28868"/>
                </a:lnTo>
                <a:lnTo>
                  <a:pt x="2786422" y="60197"/>
                </a:lnTo>
                <a:lnTo>
                  <a:pt x="2794195" y="98562"/>
                </a:lnTo>
                <a:lnTo>
                  <a:pt x="2794195" y="591377"/>
                </a:lnTo>
                <a:lnTo>
                  <a:pt x="2786422" y="629742"/>
                </a:lnTo>
                <a:lnTo>
                  <a:pt x="2765225" y="661071"/>
                </a:lnTo>
                <a:lnTo>
                  <a:pt x="2733785" y="682194"/>
                </a:lnTo>
                <a:lnTo>
                  <a:pt x="2695285" y="689940"/>
                </a:lnTo>
                <a:lnTo>
                  <a:pt x="98909" y="689940"/>
                </a:lnTo>
                <a:lnTo>
                  <a:pt x="60409" y="682194"/>
                </a:lnTo>
                <a:lnTo>
                  <a:pt x="28969" y="661071"/>
                </a:lnTo>
                <a:lnTo>
                  <a:pt x="7772" y="629742"/>
                </a:lnTo>
                <a:lnTo>
                  <a:pt x="0" y="591377"/>
                </a:lnTo>
                <a:lnTo>
                  <a:pt x="0" y="98562"/>
                </a:lnTo>
                <a:lnTo>
                  <a:pt x="7772" y="60197"/>
                </a:lnTo>
                <a:lnTo>
                  <a:pt x="28969" y="28868"/>
                </a:lnTo>
                <a:lnTo>
                  <a:pt x="60409" y="7745"/>
                </a:lnTo>
                <a:lnTo>
                  <a:pt x="98909" y="0"/>
                </a:lnTo>
                <a:close/>
              </a:path>
            </a:pathLst>
          </a:custGeom>
          <a:ln w="24645">
            <a:solidFill>
              <a:srgbClr val="445E2D"/>
            </a:solidFill>
          </a:ln>
        </p:spPr>
        <p:txBody>
          <a:bodyPr wrap="square" lIns="0" tIns="0" rIns="0" bIns="0" rtlCol="0"/>
          <a:lstStyle/>
          <a:p>
            <a:endParaRPr sz="1031"/>
          </a:p>
        </p:txBody>
      </p:sp>
      <p:sp>
        <p:nvSpPr>
          <p:cNvPr id="6" name="object 6"/>
          <p:cNvSpPr txBox="1"/>
          <p:nvPr/>
        </p:nvSpPr>
        <p:spPr>
          <a:xfrm>
            <a:off x="2478826" y="1995288"/>
            <a:ext cx="366397" cy="178519"/>
          </a:xfrm>
          <a:prstGeom prst="rect">
            <a:avLst/>
          </a:prstGeom>
        </p:spPr>
        <p:txBody>
          <a:bodyPr vert="horz" wrap="square" lIns="0" tIns="6549" rIns="0" bIns="0" rtlCol="0">
            <a:spAutoFit/>
          </a:bodyPr>
          <a:lstStyle/>
          <a:p>
            <a:pPr marL="7277">
              <a:spcBef>
                <a:spcPts val="52"/>
              </a:spcBef>
            </a:pPr>
            <a:r>
              <a:rPr sz="1117" spc="23" dirty="0">
                <a:solidFill>
                  <a:srgbClr val="FFFFFF"/>
                </a:solidFill>
                <a:latin typeface="Arial"/>
                <a:cs typeface="Arial"/>
              </a:rPr>
              <a:t>Code</a:t>
            </a:r>
            <a:endParaRPr sz="1117">
              <a:latin typeface="Arial"/>
              <a:cs typeface="Arial"/>
            </a:endParaRPr>
          </a:p>
        </p:txBody>
      </p:sp>
      <p:sp>
        <p:nvSpPr>
          <p:cNvPr id="7" name="object 7"/>
          <p:cNvSpPr/>
          <p:nvPr/>
        </p:nvSpPr>
        <p:spPr>
          <a:xfrm>
            <a:off x="1754586" y="2999674"/>
            <a:ext cx="1728571" cy="847137"/>
          </a:xfrm>
          <a:prstGeom prst="rect">
            <a:avLst/>
          </a:prstGeom>
          <a:blipFill>
            <a:blip r:embed="rId4" cstate="print"/>
            <a:stretch>
              <a:fillRect/>
            </a:stretch>
          </a:blipFill>
        </p:spPr>
        <p:txBody>
          <a:bodyPr wrap="square" lIns="0" tIns="0" rIns="0" bIns="0" rtlCol="0"/>
          <a:lstStyle/>
          <a:p>
            <a:endParaRPr sz="1031"/>
          </a:p>
        </p:txBody>
      </p:sp>
      <p:sp>
        <p:nvSpPr>
          <p:cNvPr id="8" name="object 8"/>
          <p:cNvSpPr/>
          <p:nvPr/>
        </p:nvSpPr>
        <p:spPr>
          <a:xfrm>
            <a:off x="1818345" y="3049091"/>
            <a:ext cx="1615222" cy="720066"/>
          </a:xfrm>
          <a:prstGeom prst="rect">
            <a:avLst/>
          </a:prstGeom>
          <a:blipFill>
            <a:blip r:embed="rId5" cstate="print"/>
            <a:stretch>
              <a:fillRect/>
            </a:stretch>
          </a:blipFill>
        </p:spPr>
        <p:txBody>
          <a:bodyPr wrap="square" lIns="0" tIns="0" rIns="0" bIns="0" rtlCol="0"/>
          <a:lstStyle/>
          <a:p>
            <a:endParaRPr sz="1031"/>
          </a:p>
        </p:txBody>
      </p:sp>
      <p:sp>
        <p:nvSpPr>
          <p:cNvPr id="9" name="object 9"/>
          <p:cNvSpPr/>
          <p:nvPr/>
        </p:nvSpPr>
        <p:spPr>
          <a:xfrm>
            <a:off x="1818344" y="3049091"/>
            <a:ext cx="1615496" cy="720424"/>
          </a:xfrm>
          <a:custGeom>
            <a:avLst/>
            <a:gdLst/>
            <a:ahLst/>
            <a:cxnLst/>
            <a:rect l="l" t="t" r="r" b="b"/>
            <a:pathLst>
              <a:path w="2819400" h="1257300">
                <a:moveTo>
                  <a:pt x="98909" y="0"/>
                </a:moveTo>
                <a:lnTo>
                  <a:pt x="2720013" y="0"/>
                </a:lnTo>
                <a:lnTo>
                  <a:pt x="2758512" y="7745"/>
                </a:lnTo>
                <a:lnTo>
                  <a:pt x="2789952" y="28868"/>
                </a:lnTo>
                <a:lnTo>
                  <a:pt x="2811149" y="60198"/>
                </a:lnTo>
                <a:lnTo>
                  <a:pt x="2818922" y="98562"/>
                </a:lnTo>
                <a:lnTo>
                  <a:pt x="2818922" y="1158114"/>
                </a:lnTo>
                <a:lnTo>
                  <a:pt x="2811149" y="1196478"/>
                </a:lnTo>
                <a:lnTo>
                  <a:pt x="2789952" y="1227808"/>
                </a:lnTo>
                <a:lnTo>
                  <a:pt x="2758512" y="1248931"/>
                </a:lnTo>
                <a:lnTo>
                  <a:pt x="2720013" y="1256677"/>
                </a:lnTo>
                <a:lnTo>
                  <a:pt x="98909" y="1256677"/>
                </a:lnTo>
                <a:lnTo>
                  <a:pt x="60409" y="1248931"/>
                </a:lnTo>
                <a:lnTo>
                  <a:pt x="28969" y="1227808"/>
                </a:lnTo>
                <a:lnTo>
                  <a:pt x="7772" y="1196478"/>
                </a:lnTo>
                <a:lnTo>
                  <a:pt x="0" y="1158114"/>
                </a:lnTo>
                <a:lnTo>
                  <a:pt x="0" y="98562"/>
                </a:lnTo>
                <a:lnTo>
                  <a:pt x="7772" y="60198"/>
                </a:lnTo>
                <a:lnTo>
                  <a:pt x="28969" y="28868"/>
                </a:lnTo>
                <a:lnTo>
                  <a:pt x="60409" y="7745"/>
                </a:lnTo>
                <a:lnTo>
                  <a:pt x="98909" y="0"/>
                </a:lnTo>
                <a:close/>
              </a:path>
            </a:pathLst>
          </a:custGeom>
          <a:ln w="24655">
            <a:solidFill>
              <a:srgbClr val="445E2D"/>
            </a:solidFill>
          </a:ln>
        </p:spPr>
        <p:txBody>
          <a:bodyPr wrap="square" lIns="0" tIns="0" rIns="0" bIns="0" rtlCol="0"/>
          <a:lstStyle/>
          <a:p>
            <a:endParaRPr sz="1031"/>
          </a:p>
        </p:txBody>
      </p:sp>
      <p:sp>
        <p:nvSpPr>
          <p:cNvPr id="10" name="object 10"/>
          <p:cNvSpPr txBox="1"/>
          <p:nvPr/>
        </p:nvSpPr>
        <p:spPr>
          <a:xfrm>
            <a:off x="2162006" y="3330140"/>
            <a:ext cx="919814" cy="143989"/>
          </a:xfrm>
          <a:prstGeom prst="rect">
            <a:avLst/>
          </a:prstGeom>
        </p:spPr>
        <p:txBody>
          <a:bodyPr vert="horz" wrap="square" lIns="0" tIns="7277" rIns="0" bIns="0" rtlCol="0">
            <a:spAutoFit/>
          </a:bodyPr>
          <a:lstStyle/>
          <a:p>
            <a:pPr marL="7277">
              <a:spcBef>
                <a:spcPts val="57"/>
              </a:spcBef>
            </a:pPr>
            <a:r>
              <a:rPr sz="888" spc="29" dirty="0">
                <a:solidFill>
                  <a:srgbClr val="FFFFFF"/>
                </a:solidFill>
                <a:latin typeface="Arial"/>
                <a:cs typeface="Arial"/>
              </a:rPr>
              <a:t>Application</a:t>
            </a:r>
            <a:r>
              <a:rPr sz="888" spc="-46" dirty="0">
                <a:solidFill>
                  <a:srgbClr val="FFFFFF"/>
                </a:solidFill>
                <a:latin typeface="Arial"/>
                <a:cs typeface="Arial"/>
              </a:rPr>
              <a:t> </a:t>
            </a:r>
            <a:r>
              <a:rPr sz="888" spc="23" dirty="0">
                <a:solidFill>
                  <a:srgbClr val="FFFFFF"/>
                </a:solidFill>
                <a:latin typeface="Arial"/>
                <a:cs typeface="Arial"/>
              </a:rPr>
              <a:t>Code</a:t>
            </a:r>
            <a:endParaRPr sz="888">
              <a:latin typeface="Arial"/>
              <a:cs typeface="Arial"/>
            </a:endParaRPr>
          </a:p>
        </p:txBody>
      </p:sp>
      <p:sp>
        <p:nvSpPr>
          <p:cNvPr id="11" name="object 11"/>
          <p:cNvSpPr/>
          <p:nvPr/>
        </p:nvSpPr>
        <p:spPr>
          <a:xfrm>
            <a:off x="1754586" y="3804454"/>
            <a:ext cx="1728571" cy="522401"/>
          </a:xfrm>
          <a:prstGeom prst="rect">
            <a:avLst/>
          </a:prstGeom>
          <a:blipFill>
            <a:blip r:embed="rId6" cstate="print"/>
            <a:stretch>
              <a:fillRect/>
            </a:stretch>
          </a:blipFill>
        </p:spPr>
        <p:txBody>
          <a:bodyPr wrap="square" lIns="0" tIns="0" rIns="0" bIns="0" rtlCol="0"/>
          <a:lstStyle/>
          <a:p>
            <a:endParaRPr sz="1031"/>
          </a:p>
        </p:txBody>
      </p:sp>
      <p:sp>
        <p:nvSpPr>
          <p:cNvPr id="12" name="object 12"/>
          <p:cNvSpPr/>
          <p:nvPr/>
        </p:nvSpPr>
        <p:spPr>
          <a:xfrm>
            <a:off x="1818345" y="3853871"/>
            <a:ext cx="1615222" cy="395331"/>
          </a:xfrm>
          <a:prstGeom prst="rect">
            <a:avLst/>
          </a:prstGeom>
          <a:blipFill>
            <a:blip r:embed="rId7" cstate="print"/>
            <a:stretch>
              <a:fillRect/>
            </a:stretch>
          </a:blipFill>
        </p:spPr>
        <p:txBody>
          <a:bodyPr wrap="square" lIns="0" tIns="0" rIns="0" bIns="0" rtlCol="0"/>
          <a:lstStyle/>
          <a:p>
            <a:endParaRPr sz="1031"/>
          </a:p>
        </p:txBody>
      </p:sp>
      <p:sp>
        <p:nvSpPr>
          <p:cNvPr id="13" name="object 13"/>
          <p:cNvSpPr/>
          <p:nvPr/>
        </p:nvSpPr>
        <p:spPr>
          <a:xfrm>
            <a:off x="1818344" y="3853872"/>
            <a:ext cx="1615496" cy="395505"/>
          </a:xfrm>
          <a:custGeom>
            <a:avLst/>
            <a:gdLst/>
            <a:ahLst/>
            <a:cxnLst/>
            <a:rect l="l" t="t" r="r" b="b"/>
            <a:pathLst>
              <a:path w="2819400" h="690245">
                <a:moveTo>
                  <a:pt x="98909" y="0"/>
                </a:moveTo>
                <a:lnTo>
                  <a:pt x="2720013" y="0"/>
                </a:lnTo>
                <a:lnTo>
                  <a:pt x="2758512" y="7745"/>
                </a:lnTo>
                <a:lnTo>
                  <a:pt x="2789952" y="28868"/>
                </a:lnTo>
                <a:lnTo>
                  <a:pt x="2811149" y="60198"/>
                </a:lnTo>
                <a:lnTo>
                  <a:pt x="2818922" y="98562"/>
                </a:lnTo>
                <a:lnTo>
                  <a:pt x="2818922" y="591377"/>
                </a:lnTo>
                <a:lnTo>
                  <a:pt x="2811149" y="629742"/>
                </a:lnTo>
                <a:lnTo>
                  <a:pt x="2789952" y="661071"/>
                </a:lnTo>
                <a:lnTo>
                  <a:pt x="2758512" y="682194"/>
                </a:lnTo>
                <a:lnTo>
                  <a:pt x="2720013" y="689940"/>
                </a:lnTo>
                <a:lnTo>
                  <a:pt x="98909" y="689940"/>
                </a:lnTo>
                <a:lnTo>
                  <a:pt x="60409" y="682194"/>
                </a:lnTo>
                <a:lnTo>
                  <a:pt x="28969" y="661071"/>
                </a:lnTo>
                <a:lnTo>
                  <a:pt x="7772" y="629742"/>
                </a:lnTo>
                <a:lnTo>
                  <a:pt x="0" y="591377"/>
                </a:lnTo>
                <a:lnTo>
                  <a:pt x="0" y="98562"/>
                </a:lnTo>
                <a:lnTo>
                  <a:pt x="7772" y="60198"/>
                </a:lnTo>
                <a:lnTo>
                  <a:pt x="28969" y="28868"/>
                </a:lnTo>
                <a:lnTo>
                  <a:pt x="60409" y="7745"/>
                </a:lnTo>
                <a:lnTo>
                  <a:pt x="98909" y="0"/>
                </a:lnTo>
                <a:close/>
              </a:path>
            </a:pathLst>
          </a:custGeom>
          <a:ln w="24645">
            <a:solidFill>
              <a:srgbClr val="445E2D"/>
            </a:solidFill>
          </a:ln>
        </p:spPr>
        <p:txBody>
          <a:bodyPr wrap="square" lIns="0" tIns="0" rIns="0" bIns="0" rtlCol="0"/>
          <a:lstStyle/>
          <a:p>
            <a:endParaRPr sz="1031"/>
          </a:p>
        </p:txBody>
      </p:sp>
      <p:sp>
        <p:nvSpPr>
          <p:cNvPr id="14" name="object 14"/>
          <p:cNvSpPr txBox="1"/>
          <p:nvPr/>
        </p:nvSpPr>
        <p:spPr>
          <a:xfrm>
            <a:off x="2350959" y="3970496"/>
            <a:ext cx="541773" cy="143989"/>
          </a:xfrm>
          <a:prstGeom prst="rect">
            <a:avLst/>
          </a:prstGeom>
        </p:spPr>
        <p:txBody>
          <a:bodyPr vert="horz" wrap="square" lIns="0" tIns="7277" rIns="0" bIns="0" rtlCol="0">
            <a:spAutoFit/>
          </a:bodyPr>
          <a:lstStyle/>
          <a:p>
            <a:pPr marL="7277">
              <a:spcBef>
                <a:spcPts val="57"/>
              </a:spcBef>
            </a:pPr>
            <a:r>
              <a:rPr sz="888" spc="-11" dirty="0">
                <a:solidFill>
                  <a:srgbClr val="FFFFFF"/>
                </a:solidFill>
                <a:latin typeface="Arial"/>
                <a:cs typeface="Arial"/>
              </a:rPr>
              <a:t>Test</a:t>
            </a:r>
            <a:r>
              <a:rPr sz="888" spc="-43" dirty="0">
                <a:solidFill>
                  <a:srgbClr val="FFFFFF"/>
                </a:solidFill>
                <a:latin typeface="Arial"/>
                <a:cs typeface="Arial"/>
              </a:rPr>
              <a:t> </a:t>
            </a:r>
            <a:r>
              <a:rPr sz="888" spc="23" dirty="0">
                <a:solidFill>
                  <a:srgbClr val="FFFFFF"/>
                </a:solidFill>
                <a:latin typeface="Arial"/>
                <a:cs typeface="Arial"/>
              </a:rPr>
              <a:t>Code</a:t>
            </a:r>
            <a:endParaRPr sz="888">
              <a:latin typeface="Arial"/>
              <a:cs typeface="Arial"/>
            </a:endParaRPr>
          </a:p>
        </p:txBody>
      </p:sp>
      <p:sp>
        <p:nvSpPr>
          <p:cNvPr id="15" name="object 15"/>
          <p:cNvSpPr/>
          <p:nvPr/>
        </p:nvSpPr>
        <p:spPr>
          <a:xfrm>
            <a:off x="1754586" y="2477272"/>
            <a:ext cx="1728571" cy="607114"/>
          </a:xfrm>
          <a:prstGeom prst="rect">
            <a:avLst/>
          </a:prstGeom>
          <a:blipFill>
            <a:blip r:embed="rId8" cstate="print"/>
            <a:stretch>
              <a:fillRect/>
            </a:stretch>
          </a:blipFill>
        </p:spPr>
        <p:txBody>
          <a:bodyPr wrap="square" lIns="0" tIns="0" rIns="0" bIns="0" rtlCol="0"/>
          <a:lstStyle/>
          <a:p>
            <a:endParaRPr sz="1031"/>
          </a:p>
        </p:txBody>
      </p:sp>
      <p:sp>
        <p:nvSpPr>
          <p:cNvPr id="16" name="object 16"/>
          <p:cNvSpPr/>
          <p:nvPr/>
        </p:nvSpPr>
        <p:spPr>
          <a:xfrm>
            <a:off x="1818345" y="2526689"/>
            <a:ext cx="1615222" cy="480044"/>
          </a:xfrm>
          <a:prstGeom prst="rect">
            <a:avLst/>
          </a:prstGeom>
          <a:blipFill>
            <a:blip r:embed="rId9" cstate="print"/>
            <a:stretch>
              <a:fillRect/>
            </a:stretch>
          </a:blipFill>
        </p:spPr>
        <p:txBody>
          <a:bodyPr wrap="square" lIns="0" tIns="0" rIns="0" bIns="0" rtlCol="0"/>
          <a:lstStyle/>
          <a:p>
            <a:endParaRPr sz="1031"/>
          </a:p>
        </p:txBody>
      </p:sp>
      <p:sp>
        <p:nvSpPr>
          <p:cNvPr id="17" name="object 17"/>
          <p:cNvSpPr/>
          <p:nvPr/>
        </p:nvSpPr>
        <p:spPr>
          <a:xfrm>
            <a:off x="1818344" y="2526690"/>
            <a:ext cx="1615496" cy="480282"/>
          </a:xfrm>
          <a:custGeom>
            <a:avLst/>
            <a:gdLst/>
            <a:ahLst/>
            <a:cxnLst/>
            <a:rect l="l" t="t" r="r" b="b"/>
            <a:pathLst>
              <a:path w="2819400" h="838200">
                <a:moveTo>
                  <a:pt x="98909" y="0"/>
                </a:moveTo>
                <a:lnTo>
                  <a:pt x="2720013" y="0"/>
                </a:lnTo>
                <a:lnTo>
                  <a:pt x="2758512" y="7745"/>
                </a:lnTo>
                <a:lnTo>
                  <a:pt x="2789952" y="28868"/>
                </a:lnTo>
                <a:lnTo>
                  <a:pt x="2811149" y="60198"/>
                </a:lnTo>
                <a:lnTo>
                  <a:pt x="2818922" y="98562"/>
                </a:lnTo>
                <a:lnTo>
                  <a:pt x="2818922" y="739221"/>
                </a:lnTo>
                <a:lnTo>
                  <a:pt x="2811149" y="777586"/>
                </a:lnTo>
                <a:lnTo>
                  <a:pt x="2789952" y="808915"/>
                </a:lnTo>
                <a:lnTo>
                  <a:pt x="2758512" y="830038"/>
                </a:lnTo>
                <a:lnTo>
                  <a:pt x="2720013" y="837784"/>
                </a:lnTo>
                <a:lnTo>
                  <a:pt x="98909" y="837784"/>
                </a:lnTo>
                <a:lnTo>
                  <a:pt x="60409" y="830038"/>
                </a:lnTo>
                <a:lnTo>
                  <a:pt x="28969" y="808915"/>
                </a:lnTo>
                <a:lnTo>
                  <a:pt x="7772" y="777586"/>
                </a:lnTo>
                <a:lnTo>
                  <a:pt x="0" y="739221"/>
                </a:lnTo>
                <a:lnTo>
                  <a:pt x="0" y="98562"/>
                </a:lnTo>
                <a:lnTo>
                  <a:pt x="7772" y="60198"/>
                </a:lnTo>
                <a:lnTo>
                  <a:pt x="28969" y="28868"/>
                </a:lnTo>
                <a:lnTo>
                  <a:pt x="60409" y="7745"/>
                </a:lnTo>
                <a:lnTo>
                  <a:pt x="98909" y="0"/>
                </a:lnTo>
                <a:close/>
              </a:path>
            </a:pathLst>
          </a:custGeom>
          <a:ln w="24647">
            <a:solidFill>
              <a:srgbClr val="445E2D"/>
            </a:solidFill>
          </a:ln>
        </p:spPr>
        <p:txBody>
          <a:bodyPr wrap="square" lIns="0" tIns="0" rIns="0" bIns="0" rtlCol="0"/>
          <a:lstStyle/>
          <a:p>
            <a:endParaRPr sz="1031"/>
          </a:p>
        </p:txBody>
      </p:sp>
      <p:sp>
        <p:nvSpPr>
          <p:cNvPr id="18" name="object 18"/>
          <p:cNvSpPr txBox="1"/>
          <p:nvPr/>
        </p:nvSpPr>
        <p:spPr>
          <a:xfrm>
            <a:off x="2106352" y="2689784"/>
            <a:ext cx="1031151" cy="143989"/>
          </a:xfrm>
          <a:prstGeom prst="rect">
            <a:avLst/>
          </a:prstGeom>
        </p:spPr>
        <p:txBody>
          <a:bodyPr vert="horz" wrap="square" lIns="0" tIns="7277" rIns="0" bIns="0" rtlCol="0">
            <a:spAutoFit/>
          </a:bodyPr>
          <a:lstStyle/>
          <a:p>
            <a:pPr marL="7277">
              <a:spcBef>
                <a:spcPts val="57"/>
              </a:spcBef>
            </a:pPr>
            <a:r>
              <a:rPr sz="888" spc="20" dirty="0">
                <a:solidFill>
                  <a:srgbClr val="FFFFFF"/>
                </a:solidFill>
                <a:latin typeface="Arial"/>
                <a:cs typeface="Arial"/>
              </a:rPr>
              <a:t>Infrastructure</a:t>
            </a:r>
            <a:r>
              <a:rPr sz="888" spc="-26" dirty="0">
                <a:solidFill>
                  <a:srgbClr val="FFFFFF"/>
                </a:solidFill>
                <a:latin typeface="Arial"/>
                <a:cs typeface="Arial"/>
              </a:rPr>
              <a:t> </a:t>
            </a:r>
            <a:r>
              <a:rPr sz="888" spc="23" dirty="0">
                <a:solidFill>
                  <a:srgbClr val="FFFFFF"/>
                </a:solidFill>
                <a:latin typeface="Arial"/>
                <a:cs typeface="Arial"/>
              </a:rPr>
              <a:t>Code</a:t>
            </a:r>
            <a:endParaRPr sz="888">
              <a:latin typeface="Arial"/>
              <a:cs typeface="Arial"/>
            </a:endParaRPr>
          </a:p>
        </p:txBody>
      </p:sp>
      <p:sp>
        <p:nvSpPr>
          <p:cNvPr id="21" name="object 21"/>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
        <p:nvSpPr>
          <p:cNvPr id="19" name="object 19"/>
          <p:cNvSpPr txBox="1"/>
          <p:nvPr/>
        </p:nvSpPr>
        <p:spPr>
          <a:xfrm>
            <a:off x="3912171" y="1872141"/>
            <a:ext cx="3504607" cy="1639440"/>
          </a:xfrm>
          <a:prstGeom prst="rect">
            <a:avLst/>
          </a:prstGeom>
        </p:spPr>
        <p:txBody>
          <a:bodyPr vert="horz" wrap="square" lIns="0" tIns="99331" rIns="0" bIns="0" rtlCol="0">
            <a:spAutoFit/>
          </a:bodyPr>
          <a:lstStyle/>
          <a:p>
            <a:pPr marL="221952" indent="-214674">
              <a:spcBef>
                <a:spcPts val="782"/>
              </a:spcBef>
              <a:buClr>
                <a:srgbClr val="C81D3B"/>
              </a:buClr>
              <a:buFont typeface="Wingdings"/>
              <a:buChar char=""/>
              <a:tabLst>
                <a:tab pos="222315" algn="l"/>
              </a:tabLst>
            </a:pPr>
            <a:r>
              <a:rPr sz="2063" b="1" spc="-89" dirty="0">
                <a:latin typeface="Gill Sans MT"/>
                <a:cs typeface="Gill Sans MT"/>
              </a:rPr>
              <a:t>IDE </a:t>
            </a:r>
            <a:r>
              <a:rPr sz="2063" b="1" spc="-74" dirty="0">
                <a:latin typeface="Gill Sans MT"/>
                <a:cs typeface="Gill Sans MT"/>
              </a:rPr>
              <a:t>Security</a:t>
            </a:r>
            <a:r>
              <a:rPr sz="2063" b="1" spc="89" dirty="0">
                <a:latin typeface="Gill Sans MT"/>
                <a:cs typeface="Gill Sans MT"/>
              </a:rPr>
              <a:t> </a:t>
            </a:r>
            <a:r>
              <a:rPr sz="2063" b="1" spc="-77" dirty="0">
                <a:latin typeface="Gill Sans MT"/>
                <a:cs typeface="Gill Sans MT"/>
              </a:rPr>
              <a:t>Plugins</a:t>
            </a:r>
            <a:endParaRPr sz="2063">
              <a:latin typeface="Gill Sans MT"/>
              <a:cs typeface="Gill Sans MT"/>
            </a:endParaRPr>
          </a:p>
          <a:p>
            <a:pPr marL="221952" indent="-214674">
              <a:spcBef>
                <a:spcPts val="728"/>
              </a:spcBef>
              <a:buClr>
                <a:srgbClr val="C81D3B"/>
              </a:buClr>
              <a:buFont typeface="Wingdings"/>
              <a:buChar char=""/>
              <a:tabLst>
                <a:tab pos="222315" algn="l"/>
              </a:tabLst>
            </a:pPr>
            <a:r>
              <a:rPr sz="2063" b="1" spc="-89" dirty="0">
                <a:latin typeface="Gill Sans MT"/>
                <a:cs typeface="Gill Sans MT"/>
              </a:rPr>
              <a:t>Secure </a:t>
            </a:r>
            <a:r>
              <a:rPr sz="2063" b="1" spc="-69" dirty="0">
                <a:latin typeface="Gill Sans MT"/>
                <a:cs typeface="Gill Sans MT"/>
              </a:rPr>
              <a:t>Coding</a:t>
            </a:r>
            <a:r>
              <a:rPr sz="2063" b="1" spc="83" dirty="0">
                <a:latin typeface="Gill Sans MT"/>
                <a:cs typeface="Gill Sans MT"/>
              </a:rPr>
              <a:t> </a:t>
            </a:r>
            <a:r>
              <a:rPr sz="2063" b="1" spc="-74" dirty="0">
                <a:latin typeface="Gill Sans MT"/>
                <a:cs typeface="Gill Sans MT"/>
              </a:rPr>
              <a:t>Practices</a:t>
            </a:r>
            <a:endParaRPr sz="2063">
              <a:latin typeface="Gill Sans MT"/>
              <a:cs typeface="Gill Sans MT"/>
            </a:endParaRPr>
          </a:p>
          <a:p>
            <a:pPr marL="221952" indent="-214674">
              <a:spcBef>
                <a:spcPts val="733"/>
              </a:spcBef>
              <a:buClr>
                <a:srgbClr val="C81D3B"/>
              </a:buClr>
              <a:buFont typeface="Wingdings"/>
              <a:buChar char=""/>
              <a:tabLst>
                <a:tab pos="222315" algn="l"/>
              </a:tabLst>
            </a:pPr>
            <a:r>
              <a:rPr sz="2063" b="1" spc="-74" dirty="0">
                <a:latin typeface="Gill Sans MT"/>
                <a:cs typeface="Gill Sans MT"/>
              </a:rPr>
              <a:t>Security</a:t>
            </a:r>
            <a:r>
              <a:rPr sz="2063" b="1" dirty="0">
                <a:latin typeface="Gill Sans MT"/>
                <a:cs typeface="Gill Sans MT"/>
              </a:rPr>
              <a:t> </a:t>
            </a:r>
            <a:r>
              <a:rPr sz="2063" b="1" spc="-80" dirty="0">
                <a:latin typeface="Gill Sans MT"/>
                <a:cs typeface="Gill Sans MT"/>
              </a:rPr>
              <a:t>BDD</a:t>
            </a:r>
            <a:endParaRPr sz="2063">
              <a:latin typeface="Gill Sans MT"/>
              <a:cs typeface="Gill Sans MT"/>
            </a:endParaRPr>
          </a:p>
          <a:p>
            <a:pPr marL="221952" indent="-214674">
              <a:spcBef>
                <a:spcPts val="722"/>
              </a:spcBef>
              <a:buClr>
                <a:srgbClr val="C81D3B"/>
              </a:buClr>
              <a:buFont typeface="Wingdings"/>
              <a:buChar char=""/>
              <a:tabLst>
                <a:tab pos="222315" algn="l"/>
              </a:tabLst>
            </a:pPr>
            <a:r>
              <a:rPr sz="2063" b="1" spc="-63" dirty="0">
                <a:latin typeface="Gill Sans MT"/>
                <a:cs typeface="Gill Sans MT"/>
              </a:rPr>
              <a:t>Open </a:t>
            </a:r>
            <a:r>
              <a:rPr sz="2063" b="1" spc="-83" dirty="0">
                <a:latin typeface="Gill Sans MT"/>
                <a:cs typeface="Gill Sans MT"/>
              </a:rPr>
              <a:t>Source </a:t>
            </a:r>
            <a:r>
              <a:rPr sz="2063" b="1" spc="-69" dirty="0">
                <a:latin typeface="Gill Sans MT"/>
                <a:cs typeface="Gill Sans MT"/>
              </a:rPr>
              <a:t>Bill </a:t>
            </a:r>
            <a:r>
              <a:rPr sz="2063" b="1" spc="-49" dirty="0">
                <a:latin typeface="Gill Sans MT"/>
                <a:cs typeface="Gill Sans MT"/>
              </a:rPr>
              <a:t>of</a:t>
            </a:r>
            <a:r>
              <a:rPr sz="2063" b="1" spc="195" dirty="0">
                <a:latin typeface="Gill Sans MT"/>
                <a:cs typeface="Gill Sans MT"/>
              </a:rPr>
              <a:t> </a:t>
            </a:r>
            <a:r>
              <a:rPr sz="2063" b="1" spc="-72" dirty="0">
                <a:latin typeface="Gill Sans MT"/>
                <a:cs typeface="Gill Sans MT"/>
              </a:rPr>
              <a:t>Material</a:t>
            </a:r>
            <a:endParaRPr sz="2063">
              <a:latin typeface="Gill Sans MT"/>
              <a:cs typeface="Gill Sans MT"/>
            </a:endParaRPr>
          </a:p>
        </p:txBody>
      </p:sp>
      <p:sp>
        <p:nvSpPr>
          <p:cNvPr id="20" name="object 20"/>
          <p:cNvSpPr txBox="1">
            <a:spLocks noGrp="1"/>
          </p:cNvSpPr>
          <p:nvPr>
            <p:ph type="title"/>
          </p:nvPr>
        </p:nvSpPr>
        <p:spPr>
          <a:xfrm>
            <a:off x="3041084" y="375985"/>
            <a:ext cx="4347648" cy="1050461"/>
          </a:xfrm>
          <a:prstGeom prst="rect">
            <a:avLst/>
          </a:prstGeom>
        </p:spPr>
        <p:txBody>
          <a:bodyPr vert="horz" wrap="square" lIns="0" tIns="9824" rIns="0" bIns="0" rtlCol="0" anchor="ctr">
            <a:spAutoFit/>
          </a:bodyPr>
          <a:lstStyle/>
          <a:p>
            <a:pPr marL="7277">
              <a:spcBef>
                <a:spcPts val="77"/>
              </a:spcBef>
            </a:pPr>
            <a:r>
              <a:rPr sz="3381" spc="-123" dirty="0">
                <a:solidFill>
                  <a:srgbClr val="941100"/>
                </a:solidFill>
                <a:latin typeface="Gill Sans MT"/>
                <a:cs typeface="Gill Sans MT"/>
              </a:rPr>
              <a:t>Security </a:t>
            </a:r>
            <a:r>
              <a:rPr sz="3381" spc="-120" dirty="0">
                <a:solidFill>
                  <a:srgbClr val="941100"/>
                </a:solidFill>
                <a:latin typeface="Gill Sans MT"/>
                <a:cs typeface="Gill Sans MT"/>
              </a:rPr>
              <a:t>during</a:t>
            </a:r>
            <a:r>
              <a:rPr sz="3381" spc="86" dirty="0">
                <a:solidFill>
                  <a:srgbClr val="941100"/>
                </a:solidFill>
                <a:latin typeface="Gill Sans MT"/>
                <a:cs typeface="Gill Sans MT"/>
              </a:rPr>
              <a:t> </a:t>
            </a:r>
            <a:r>
              <a:rPr sz="3381" spc="-115" dirty="0">
                <a:solidFill>
                  <a:srgbClr val="941100"/>
                </a:solidFill>
                <a:latin typeface="Gill Sans MT"/>
                <a:cs typeface="Gill Sans MT"/>
              </a:rPr>
              <a:t>Coding</a:t>
            </a:r>
            <a:endParaRPr sz="3381">
              <a:latin typeface="Gill Sans MT"/>
              <a:cs typeface="Gill Sans MT"/>
            </a:endParaRPr>
          </a:p>
        </p:txBody>
      </p:sp>
    </p:spTree>
    <p:extLst>
      <p:ext uri="{BB962C8B-B14F-4D97-AF65-F5344CB8AC3E}">
        <p14:creationId xmlns:p14="http://schemas.microsoft.com/office/powerpoint/2010/main" val="19872504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4441" y="2501892"/>
            <a:ext cx="2459893" cy="653971"/>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1274078" y="2563753"/>
            <a:ext cx="2318317" cy="494897"/>
          </a:xfrm>
          <a:prstGeom prst="rect">
            <a:avLst/>
          </a:prstGeom>
          <a:blipFill>
            <a:blip r:embed="rId3" cstate="print"/>
            <a:stretch>
              <a:fillRect/>
            </a:stretch>
          </a:blipFill>
        </p:spPr>
        <p:txBody>
          <a:bodyPr wrap="square" lIns="0" tIns="0" rIns="0" bIns="0" rtlCol="0"/>
          <a:lstStyle/>
          <a:p>
            <a:endParaRPr sz="1031"/>
          </a:p>
        </p:txBody>
      </p:sp>
      <p:sp>
        <p:nvSpPr>
          <p:cNvPr id="4" name="object 4"/>
          <p:cNvSpPr/>
          <p:nvPr/>
        </p:nvSpPr>
        <p:spPr>
          <a:xfrm>
            <a:off x="1274077" y="2563754"/>
            <a:ext cx="2318455" cy="495200"/>
          </a:xfrm>
          <a:custGeom>
            <a:avLst/>
            <a:gdLst/>
            <a:ahLst/>
            <a:cxnLst/>
            <a:rect l="l" t="t" r="r" b="b"/>
            <a:pathLst>
              <a:path w="4046220" h="864235">
                <a:moveTo>
                  <a:pt x="123541" y="0"/>
                </a:moveTo>
                <a:lnTo>
                  <a:pt x="3922438" y="0"/>
                </a:lnTo>
                <a:lnTo>
                  <a:pt x="3970525" y="9696"/>
                </a:lnTo>
                <a:lnTo>
                  <a:pt x="4009794" y="36139"/>
                </a:lnTo>
                <a:lnTo>
                  <a:pt x="4036271" y="75358"/>
                </a:lnTo>
                <a:lnTo>
                  <a:pt x="4045979" y="123386"/>
                </a:lnTo>
                <a:lnTo>
                  <a:pt x="4045979" y="740319"/>
                </a:lnTo>
                <a:lnTo>
                  <a:pt x="4036271" y="788347"/>
                </a:lnTo>
                <a:lnTo>
                  <a:pt x="4009794" y="827567"/>
                </a:lnTo>
                <a:lnTo>
                  <a:pt x="3970525" y="854010"/>
                </a:lnTo>
                <a:lnTo>
                  <a:pt x="3922438" y="863706"/>
                </a:lnTo>
                <a:lnTo>
                  <a:pt x="123541" y="863706"/>
                </a:lnTo>
                <a:lnTo>
                  <a:pt x="75454" y="854010"/>
                </a:lnTo>
                <a:lnTo>
                  <a:pt x="36184" y="827567"/>
                </a:lnTo>
                <a:lnTo>
                  <a:pt x="9708" y="788347"/>
                </a:lnTo>
                <a:lnTo>
                  <a:pt x="0" y="740319"/>
                </a:lnTo>
                <a:lnTo>
                  <a:pt x="0" y="123386"/>
                </a:lnTo>
                <a:lnTo>
                  <a:pt x="9708" y="75358"/>
                </a:lnTo>
                <a:lnTo>
                  <a:pt x="36184" y="36139"/>
                </a:lnTo>
                <a:lnTo>
                  <a:pt x="75454" y="9696"/>
                </a:lnTo>
                <a:lnTo>
                  <a:pt x="123541" y="0"/>
                </a:lnTo>
                <a:close/>
              </a:path>
            </a:pathLst>
          </a:custGeom>
          <a:ln w="30848">
            <a:solidFill>
              <a:srgbClr val="445E2D"/>
            </a:solidFill>
          </a:ln>
        </p:spPr>
        <p:txBody>
          <a:bodyPr wrap="square" lIns="0" tIns="0" rIns="0" bIns="0" rtlCol="0"/>
          <a:lstStyle/>
          <a:p>
            <a:endParaRPr sz="1031"/>
          </a:p>
        </p:txBody>
      </p:sp>
      <p:sp>
        <p:nvSpPr>
          <p:cNvPr id="5" name="object 5"/>
          <p:cNvSpPr txBox="1"/>
          <p:nvPr/>
        </p:nvSpPr>
        <p:spPr>
          <a:xfrm>
            <a:off x="2212120" y="2695719"/>
            <a:ext cx="434437" cy="220781"/>
          </a:xfrm>
          <a:prstGeom prst="rect">
            <a:avLst/>
          </a:prstGeom>
        </p:spPr>
        <p:txBody>
          <a:bodyPr vert="horz" wrap="square" lIns="0" tIns="9096" rIns="0" bIns="0" rtlCol="0">
            <a:spAutoFit/>
          </a:bodyPr>
          <a:lstStyle/>
          <a:p>
            <a:pPr marL="7277">
              <a:spcBef>
                <a:spcPts val="72"/>
              </a:spcBef>
            </a:pPr>
            <a:r>
              <a:rPr sz="1375" spc="49" dirty="0">
                <a:solidFill>
                  <a:srgbClr val="FFFFFF"/>
                </a:solidFill>
                <a:latin typeface="Arial"/>
                <a:cs typeface="Arial"/>
              </a:rPr>
              <a:t>Build</a:t>
            </a:r>
            <a:endParaRPr sz="1375">
              <a:latin typeface="Arial"/>
              <a:cs typeface="Arial"/>
            </a:endParaRPr>
          </a:p>
        </p:txBody>
      </p:sp>
      <p:sp>
        <p:nvSpPr>
          <p:cNvPr id="8" name="object 8"/>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
        <p:nvSpPr>
          <p:cNvPr id="6" name="object 6"/>
          <p:cNvSpPr txBox="1"/>
          <p:nvPr/>
        </p:nvSpPr>
        <p:spPr>
          <a:xfrm>
            <a:off x="3912171" y="1872141"/>
            <a:ext cx="2884242" cy="1639440"/>
          </a:xfrm>
          <a:prstGeom prst="rect">
            <a:avLst/>
          </a:prstGeom>
        </p:spPr>
        <p:txBody>
          <a:bodyPr vert="horz" wrap="square" lIns="0" tIns="99331" rIns="0" bIns="0" rtlCol="0">
            <a:spAutoFit/>
          </a:bodyPr>
          <a:lstStyle/>
          <a:p>
            <a:pPr marL="221952" indent="-214674">
              <a:spcBef>
                <a:spcPts val="782"/>
              </a:spcBef>
              <a:buClr>
                <a:srgbClr val="C81D3B"/>
              </a:buClr>
              <a:buFont typeface="Wingdings"/>
              <a:buChar char=""/>
              <a:tabLst>
                <a:tab pos="222315" algn="l"/>
              </a:tabLst>
            </a:pPr>
            <a:r>
              <a:rPr sz="2063" b="1" spc="-69" dirty="0">
                <a:latin typeface="Gill Sans MT"/>
                <a:cs typeface="Gill Sans MT"/>
              </a:rPr>
              <a:t>Bill </a:t>
            </a:r>
            <a:r>
              <a:rPr sz="2063" b="1" spc="-49" dirty="0">
                <a:latin typeface="Gill Sans MT"/>
                <a:cs typeface="Gill Sans MT"/>
              </a:rPr>
              <a:t>of</a:t>
            </a:r>
            <a:r>
              <a:rPr sz="2063" b="1" spc="69" dirty="0">
                <a:latin typeface="Gill Sans MT"/>
                <a:cs typeface="Gill Sans MT"/>
              </a:rPr>
              <a:t> </a:t>
            </a:r>
            <a:r>
              <a:rPr sz="2063" b="1" spc="-69" dirty="0">
                <a:latin typeface="Gill Sans MT"/>
                <a:cs typeface="Gill Sans MT"/>
              </a:rPr>
              <a:t>Materials</a:t>
            </a:r>
            <a:endParaRPr sz="2063">
              <a:latin typeface="Gill Sans MT"/>
              <a:cs typeface="Gill Sans MT"/>
            </a:endParaRPr>
          </a:p>
          <a:p>
            <a:pPr marL="221952" indent="-214674">
              <a:spcBef>
                <a:spcPts val="728"/>
              </a:spcBef>
              <a:buClr>
                <a:srgbClr val="C81D3B"/>
              </a:buClr>
              <a:buFont typeface="Wingdings"/>
              <a:buChar char=""/>
              <a:tabLst>
                <a:tab pos="222315" algn="l"/>
              </a:tabLst>
            </a:pPr>
            <a:r>
              <a:rPr sz="2063" b="1" spc="-83" dirty="0">
                <a:latin typeface="Gill Sans MT"/>
                <a:cs typeface="Gill Sans MT"/>
              </a:rPr>
              <a:t>Static </a:t>
            </a:r>
            <a:r>
              <a:rPr sz="2063" b="1" spc="-63" dirty="0">
                <a:latin typeface="Gill Sans MT"/>
                <a:cs typeface="Gill Sans MT"/>
              </a:rPr>
              <a:t>Code</a:t>
            </a:r>
            <a:r>
              <a:rPr sz="2063" b="1" spc="-49" dirty="0">
                <a:latin typeface="Gill Sans MT"/>
                <a:cs typeface="Gill Sans MT"/>
              </a:rPr>
              <a:t> </a:t>
            </a:r>
            <a:r>
              <a:rPr sz="2063" b="1" spc="-65" dirty="0">
                <a:latin typeface="Gill Sans MT"/>
                <a:cs typeface="Gill Sans MT"/>
              </a:rPr>
              <a:t>Analysis</a:t>
            </a:r>
            <a:endParaRPr sz="2063">
              <a:latin typeface="Gill Sans MT"/>
              <a:cs typeface="Gill Sans MT"/>
            </a:endParaRPr>
          </a:p>
          <a:p>
            <a:pPr marL="221952" indent="-214674">
              <a:spcBef>
                <a:spcPts val="733"/>
              </a:spcBef>
              <a:buClr>
                <a:srgbClr val="C81D3B"/>
              </a:buClr>
              <a:buFont typeface="Wingdings"/>
              <a:buChar char=""/>
              <a:tabLst>
                <a:tab pos="222315" algn="l"/>
              </a:tabLst>
            </a:pPr>
            <a:r>
              <a:rPr sz="2063" b="1" spc="-83" dirty="0">
                <a:latin typeface="Gill Sans MT"/>
                <a:cs typeface="Gill Sans MT"/>
              </a:rPr>
              <a:t>Static </a:t>
            </a:r>
            <a:r>
              <a:rPr sz="2063" b="1" spc="-74" dirty="0">
                <a:latin typeface="Gill Sans MT"/>
                <a:cs typeface="Gill Sans MT"/>
              </a:rPr>
              <a:t>Security</a:t>
            </a:r>
            <a:r>
              <a:rPr sz="2063" b="1" spc="-69" dirty="0">
                <a:latin typeface="Gill Sans MT"/>
                <a:cs typeface="Gill Sans MT"/>
              </a:rPr>
              <a:t> </a:t>
            </a:r>
            <a:r>
              <a:rPr sz="2063" b="1" spc="-65" dirty="0">
                <a:latin typeface="Gill Sans MT"/>
                <a:cs typeface="Gill Sans MT"/>
              </a:rPr>
              <a:t>Analysis</a:t>
            </a:r>
            <a:endParaRPr sz="2063">
              <a:latin typeface="Gill Sans MT"/>
              <a:cs typeface="Gill Sans MT"/>
            </a:endParaRPr>
          </a:p>
          <a:p>
            <a:pPr marL="221952" indent="-214674">
              <a:spcBef>
                <a:spcPts val="722"/>
              </a:spcBef>
              <a:buClr>
                <a:srgbClr val="C81D3B"/>
              </a:buClr>
              <a:buFont typeface="Wingdings"/>
              <a:buChar char=""/>
              <a:tabLst>
                <a:tab pos="222315" algn="l"/>
              </a:tabLst>
            </a:pPr>
            <a:r>
              <a:rPr sz="2063" b="1" spc="-74" dirty="0">
                <a:latin typeface="Gill Sans MT"/>
                <a:cs typeface="Gill Sans MT"/>
              </a:rPr>
              <a:t>Security</a:t>
            </a:r>
            <a:r>
              <a:rPr sz="2063" b="1" spc="-3" dirty="0">
                <a:latin typeface="Gill Sans MT"/>
                <a:cs typeface="Gill Sans MT"/>
              </a:rPr>
              <a:t> </a:t>
            </a:r>
            <a:r>
              <a:rPr sz="2063" b="1" spc="-80" dirty="0">
                <a:latin typeface="Gill Sans MT"/>
                <a:cs typeface="Gill Sans MT"/>
              </a:rPr>
              <a:t>BDD</a:t>
            </a:r>
            <a:endParaRPr sz="2063">
              <a:latin typeface="Gill Sans MT"/>
              <a:cs typeface="Gill Sans MT"/>
            </a:endParaRPr>
          </a:p>
        </p:txBody>
      </p:sp>
      <p:sp>
        <p:nvSpPr>
          <p:cNvPr id="7" name="object 7"/>
          <p:cNvSpPr txBox="1">
            <a:spLocks noGrp="1"/>
          </p:cNvSpPr>
          <p:nvPr>
            <p:ph type="title"/>
          </p:nvPr>
        </p:nvSpPr>
        <p:spPr>
          <a:xfrm>
            <a:off x="3041084" y="375985"/>
            <a:ext cx="4505559" cy="1050461"/>
          </a:xfrm>
          <a:prstGeom prst="rect">
            <a:avLst/>
          </a:prstGeom>
        </p:spPr>
        <p:txBody>
          <a:bodyPr vert="horz" wrap="square" lIns="0" tIns="9824" rIns="0" bIns="0" rtlCol="0" anchor="ctr">
            <a:spAutoFit/>
          </a:bodyPr>
          <a:lstStyle/>
          <a:p>
            <a:pPr marL="7277">
              <a:spcBef>
                <a:spcPts val="77"/>
              </a:spcBef>
            </a:pPr>
            <a:r>
              <a:rPr sz="3381" spc="-123" dirty="0">
                <a:solidFill>
                  <a:srgbClr val="941100"/>
                </a:solidFill>
                <a:latin typeface="Gill Sans MT"/>
                <a:cs typeface="Gill Sans MT"/>
              </a:rPr>
              <a:t>Security </a:t>
            </a:r>
            <a:r>
              <a:rPr sz="3381" spc="-120" dirty="0">
                <a:solidFill>
                  <a:srgbClr val="941100"/>
                </a:solidFill>
                <a:latin typeface="Gill Sans MT"/>
                <a:cs typeface="Gill Sans MT"/>
              </a:rPr>
              <a:t>during</a:t>
            </a:r>
            <a:r>
              <a:rPr sz="3381" spc="89" dirty="0">
                <a:solidFill>
                  <a:srgbClr val="941100"/>
                </a:solidFill>
                <a:latin typeface="Gill Sans MT"/>
                <a:cs typeface="Gill Sans MT"/>
              </a:rPr>
              <a:t> </a:t>
            </a:r>
            <a:r>
              <a:rPr sz="3381" spc="-126" dirty="0">
                <a:solidFill>
                  <a:srgbClr val="941100"/>
                </a:solidFill>
                <a:latin typeface="Gill Sans MT"/>
                <a:cs typeface="Gill Sans MT"/>
              </a:rPr>
              <a:t>Building</a:t>
            </a:r>
            <a:endParaRPr sz="3381">
              <a:latin typeface="Gill Sans MT"/>
              <a:cs typeface="Gill Sans MT"/>
            </a:endParaRPr>
          </a:p>
        </p:txBody>
      </p:sp>
    </p:spTree>
    <p:extLst>
      <p:ext uri="{BB962C8B-B14F-4D97-AF65-F5344CB8AC3E}">
        <p14:creationId xmlns:p14="http://schemas.microsoft.com/office/powerpoint/2010/main" val="26556600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4463" y="3051174"/>
            <a:ext cx="3476627" cy="446674"/>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725961" y="3083744"/>
            <a:ext cx="3402852" cy="362923"/>
          </a:xfrm>
          <a:prstGeom prst="rect">
            <a:avLst/>
          </a:prstGeom>
          <a:blipFill>
            <a:blip r:embed="rId3" cstate="print"/>
            <a:stretch>
              <a:fillRect/>
            </a:stretch>
          </a:blipFill>
        </p:spPr>
        <p:txBody>
          <a:bodyPr wrap="square" lIns="0" tIns="0" rIns="0" bIns="0" rtlCol="0"/>
          <a:lstStyle/>
          <a:p>
            <a:endParaRPr sz="1031"/>
          </a:p>
        </p:txBody>
      </p:sp>
      <p:sp>
        <p:nvSpPr>
          <p:cNvPr id="4" name="object 4"/>
          <p:cNvSpPr/>
          <p:nvPr/>
        </p:nvSpPr>
        <p:spPr>
          <a:xfrm>
            <a:off x="725962" y="3083743"/>
            <a:ext cx="3403092" cy="363123"/>
          </a:xfrm>
          <a:custGeom>
            <a:avLst/>
            <a:gdLst/>
            <a:ahLst/>
            <a:cxnLst/>
            <a:rect l="l" t="t" r="r" b="b"/>
            <a:pathLst>
              <a:path w="5939155" h="633729">
                <a:moveTo>
                  <a:pt x="64376" y="0"/>
                </a:moveTo>
                <a:lnTo>
                  <a:pt x="5874360" y="0"/>
                </a:lnTo>
                <a:lnTo>
                  <a:pt x="5899418" y="5105"/>
                </a:lnTo>
                <a:lnTo>
                  <a:pt x="5919881" y="19026"/>
                </a:lnTo>
                <a:lnTo>
                  <a:pt x="5933677" y="39675"/>
                </a:lnTo>
                <a:lnTo>
                  <a:pt x="5938736" y="64962"/>
                </a:lnTo>
                <a:lnTo>
                  <a:pt x="5938736" y="568419"/>
                </a:lnTo>
                <a:lnTo>
                  <a:pt x="5933677" y="593705"/>
                </a:lnTo>
                <a:lnTo>
                  <a:pt x="5919881" y="614354"/>
                </a:lnTo>
                <a:lnTo>
                  <a:pt x="5899418" y="628276"/>
                </a:lnTo>
                <a:lnTo>
                  <a:pt x="5874360" y="633381"/>
                </a:lnTo>
                <a:lnTo>
                  <a:pt x="64376" y="633381"/>
                </a:lnTo>
                <a:lnTo>
                  <a:pt x="39318" y="628276"/>
                </a:lnTo>
                <a:lnTo>
                  <a:pt x="18855" y="614354"/>
                </a:lnTo>
                <a:lnTo>
                  <a:pt x="5059" y="593705"/>
                </a:lnTo>
                <a:lnTo>
                  <a:pt x="0" y="568419"/>
                </a:lnTo>
                <a:lnTo>
                  <a:pt x="0" y="64962"/>
                </a:lnTo>
                <a:lnTo>
                  <a:pt x="5059" y="39675"/>
                </a:lnTo>
                <a:lnTo>
                  <a:pt x="18855" y="19026"/>
                </a:lnTo>
                <a:lnTo>
                  <a:pt x="39318" y="5105"/>
                </a:lnTo>
                <a:lnTo>
                  <a:pt x="64376" y="0"/>
                </a:lnTo>
                <a:close/>
              </a:path>
            </a:pathLst>
          </a:custGeom>
          <a:ln w="16238">
            <a:solidFill>
              <a:srgbClr val="445E2D"/>
            </a:solidFill>
          </a:ln>
        </p:spPr>
        <p:txBody>
          <a:bodyPr wrap="square" lIns="0" tIns="0" rIns="0" bIns="0" rtlCol="0"/>
          <a:lstStyle/>
          <a:p>
            <a:endParaRPr sz="1031"/>
          </a:p>
        </p:txBody>
      </p:sp>
      <p:sp>
        <p:nvSpPr>
          <p:cNvPr id="5" name="object 5"/>
          <p:cNvSpPr txBox="1"/>
          <p:nvPr/>
        </p:nvSpPr>
        <p:spPr>
          <a:xfrm>
            <a:off x="730614" y="3138895"/>
            <a:ext cx="3393632" cy="232521"/>
          </a:xfrm>
          <a:prstGeom prst="rect">
            <a:avLst/>
          </a:prstGeom>
        </p:spPr>
        <p:txBody>
          <a:bodyPr vert="horz" wrap="square" lIns="0" tIns="7641" rIns="0" bIns="0" rtlCol="0">
            <a:spAutoFit/>
          </a:bodyPr>
          <a:lstStyle/>
          <a:p>
            <a:pPr marL="666219">
              <a:spcBef>
                <a:spcPts val="60"/>
              </a:spcBef>
            </a:pPr>
            <a:r>
              <a:rPr sz="1461" spc="26" dirty="0">
                <a:solidFill>
                  <a:srgbClr val="FFFFFF"/>
                </a:solidFill>
                <a:latin typeface="Arial"/>
                <a:cs typeface="Arial"/>
              </a:rPr>
              <a:t>Deploy </a:t>
            </a:r>
            <a:r>
              <a:rPr sz="1461" spc="17" dirty="0">
                <a:solidFill>
                  <a:srgbClr val="FFFFFF"/>
                </a:solidFill>
                <a:latin typeface="Arial"/>
                <a:cs typeface="Arial"/>
              </a:rPr>
              <a:t>+ </a:t>
            </a:r>
            <a:r>
              <a:rPr sz="1461" spc="-26" dirty="0">
                <a:solidFill>
                  <a:srgbClr val="FFFFFF"/>
                </a:solidFill>
                <a:latin typeface="Arial"/>
                <a:cs typeface="Arial"/>
              </a:rPr>
              <a:t>Test</a:t>
            </a:r>
            <a:r>
              <a:rPr sz="1461" spc="-57" dirty="0">
                <a:solidFill>
                  <a:srgbClr val="FFFFFF"/>
                </a:solidFill>
                <a:latin typeface="Arial"/>
                <a:cs typeface="Arial"/>
              </a:rPr>
              <a:t> </a:t>
            </a:r>
            <a:r>
              <a:rPr sz="1461" spc="26" dirty="0">
                <a:solidFill>
                  <a:srgbClr val="FFFFFF"/>
                </a:solidFill>
                <a:latin typeface="Arial"/>
                <a:cs typeface="Arial"/>
              </a:rPr>
              <a:t>Execution</a:t>
            </a:r>
            <a:endParaRPr sz="1461">
              <a:latin typeface="Arial"/>
              <a:cs typeface="Arial"/>
            </a:endParaRPr>
          </a:p>
        </p:txBody>
      </p:sp>
      <p:sp>
        <p:nvSpPr>
          <p:cNvPr id="8" name="object 8"/>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
        <p:nvSpPr>
          <p:cNvPr id="6" name="object 6"/>
          <p:cNvSpPr txBox="1">
            <a:spLocks noGrp="1"/>
          </p:cNvSpPr>
          <p:nvPr>
            <p:ph type="title"/>
          </p:nvPr>
        </p:nvSpPr>
        <p:spPr>
          <a:xfrm>
            <a:off x="3041084" y="375985"/>
            <a:ext cx="2994125" cy="1050461"/>
          </a:xfrm>
          <a:prstGeom prst="rect">
            <a:avLst/>
          </a:prstGeom>
        </p:spPr>
        <p:txBody>
          <a:bodyPr vert="horz" wrap="square" lIns="0" tIns="9824" rIns="0" bIns="0" rtlCol="0" anchor="ctr">
            <a:spAutoFit/>
          </a:bodyPr>
          <a:lstStyle/>
          <a:p>
            <a:pPr marL="7277">
              <a:spcBef>
                <a:spcPts val="77"/>
              </a:spcBef>
            </a:pPr>
            <a:r>
              <a:rPr sz="3381" spc="-123" dirty="0">
                <a:solidFill>
                  <a:srgbClr val="941100"/>
                </a:solidFill>
                <a:latin typeface="Gill Sans MT"/>
                <a:cs typeface="Gill Sans MT"/>
              </a:rPr>
              <a:t>Security</a:t>
            </a:r>
            <a:r>
              <a:rPr sz="3381" spc="-284" dirty="0">
                <a:solidFill>
                  <a:srgbClr val="941100"/>
                </a:solidFill>
                <a:latin typeface="Gill Sans MT"/>
                <a:cs typeface="Gill Sans MT"/>
              </a:rPr>
              <a:t> </a:t>
            </a:r>
            <a:r>
              <a:rPr sz="3381" spc="-175" dirty="0">
                <a:solidFill>
                  <a:srgbClr val="941100"/>
                </a:solidFill>
                <a:latin typeface="Gill Sans MT"/>
                <a:cs typeface="Gill Sans MT"/>
              </a:rPr>
              <a:t>Testing</a:t>
            </a:r>
            <a:endParaRPr sz="3381">
              <a:latin typeface="Gill Sans MT"/>
              <a:cs typeface="Gill Sans MT"/>
            </a:endParaRPr>
          </a:p>
        </p:txBody>
      </p:sp>
      <p:sp>
        <p:nvSpPr>
          <p:cNvPr id="7" name="object 7"/>
          <p:cNvSpPr txBox="1"/>
          <p:nvPr/>
        </p:nvSpPr>
        <p:spPr>
          <a:xfrm>
            <a:off x="4344728" y="2347319"/>
            <a:ext cx="3715276" cy="1639440"/>
          </a:xfrm>
          <a:prstGeom prst="rect">
            <a:avLst/>
          </a:prstGeom>
        </p:spPr>
        <p:txBody>
          <a:bodyPr vert="horz" wrap="square" lIns="0" tIns="99331" rIns="0" bIns="0" rtlCol="0">
            <a:spAutoFit/>
          </a:bodyPr>
          <a:lstStyle/>
          <a:p>
            <a:pPr marL="221224" indent="-213947">
              <a:spcBef>
                <a:spcPts val="782"/>
              </a:spcBef>
              <a:buClr>
                <a:srgbClr val="C81D3B"/>
              </a:buClr>
              <a:buFont typeface="Wingdings"/>
              <a:buChar char=""/>
              <a:tabLst>
                <a:tab pos="221588" algn="l"/>
              </a:tabLst>
            </a:pPr>
            <a:r>
              <a:rPr sz="2063" b="1" spc="-65" dirty="0">
                <a:latin typeface="Gill Sans MT"/>
                <a:cs typeface="Gill Sans MT"/>
              </a:rPr>
              <a:t>Application </a:t>
            </a:r>
            <a:r>
              <a:rPr sz="2063" b="1" spc="-74" dirty="0">
                <a:latin typeface="Gill Sans MT"/>
                <a:cs typeface="Gill Sans MT"/>
              </a:rPr>
              <a:t>Security</a:t>
            </a:r>
            <a:r>
              <a:rPr sz="2063" b="1" spc="-89" dirty="0">
                <a:latin typeface="Gill Sans MT"/>
                <a:cs typeface="Gill Sans MT"/>
              </a:rPr>
              <a:t> </a:t>
            </a:r>
            <a:r>
              <a:rPr sz="2063" b="1" spc="-106" dirty="0">
                <a:latin typeface="Gill Sans MT"/>
                <a:cs typeface="Gill Sans MT"/>
              </a:rPr>
              <a:t>Testing</a:t>
            </a:r>
            <a:endParaRPr sz="2063">
              <a:latin typeface="Gill Sans MT"/>
              <a:cs typeface="Gill Sans MT"/>
            </a:endParaRPr>
          </a:p>
          <a:p>
            <a:pPr marL="221224" indent="-213947">
              <a:spcBef>
                <a:spcPts val="728"/>
              </a:spcBef>
              <a:buClr>
                <a:srgbClr val="C81D3B"/>
              </a:buClr>
              <a:buFont typeface="Wingdings"/>
              <a:buChar char=""/>
              <a:tabLst>
                <a:tab pos="221588" algn="l"/>
              </a:tabLst>
            </a:pPr>
            <a:r>
              <a:rPr sz="2063" b="1" spc="-80" dirty="0">
                <a:latin typeface="Gill Sans MT"/>
                <a:cs typeface="Gill Sans MT"/>
              </a:rPr>
              <a:t>Penetration</a:t>
            </a:r>
            <a:r>
              <a:rPr sz="2063" b="1" spc="-146" dirty="0">
                <a:latin typeface="Gill Sans MT"/>
                <a:cs typeface="Gill Sans MT"/>
              </a:rPr>
              <a:t> </a:t>
            </a:r>
            <a:r>
              <a:rPr sz="2063" b="1" spc="-106" dirty="0">
                <a:latin typeface="Gill Sans MT"/>
                <a:cs typeface="Gill Sans MT"/>
              </a:rPr>
              <a:t>Testing</a:t>
            </a:r>
            <a:endParaRPr sz="2063">
              <a:latin typeface="Gill Sans MT"/>
              <a:cs typeface="Gill Sans MT"/>
            </a:endParaRPr>
          </a:p>
          <a:p>
            <a:pPr marL="221224" indent="-213947">
              <a:spcBef>
                <a:spcPts val="728"/>
              </a:spcBef>
              <a:buClr>
                <a:srgbClr val="C81D3B"/>
              </a:buClr>
              <a:buFont typeface="Wingdings"/>
              <a:buChar char=""/>
              <a:tabLst>
                <a:tab pos="221588" algn="l"/>
              </a:tabLst>
            </a:pPr>
            <a:r>
              <a:rPr sz="2063" b="1" spc="-77" dirty="0">
                <a:latin typeface="Gill Sans MT"/>
                <a:cs typeface="Gill Sans MT"/>
              </a:rPr>
              <a:t>Data </a:t>
            </a:r>
            <a:r>
              <a:rPr sz="2063" b="1" spc="-74" dirty="0">
                <a:latin typeface="Gill Sans MT"/>
                <a:cs typeface="Gill Sans MT"/>
              </a:rPr>
              <a:t>Security</a:t>
            </a:r>
            <a:r>
              <a:rPr sz="2063" b="1" spc="-69" dirty="0">
                <a:latin typeface="Gill Sans MT"/>
                <a:cs typeface="Gill Sans MT"/>
              </a:rPr>
              <a:t> </a:t>
            </a:r>
            <a:r>
              <a:rPr sz="2063" b="1" spc="-106" dirty="0">
                <a:latin typeface="Gill Sans MT"/>
                <a:cs typeface="Gill Sans MT"/>
              </a:rPr>
              <a:t>Testing</a:t>
            </a:r>
            <a:endParaRPr sz="2063">
              <a:latin typeface="Gill Sans MT"/>
              <a:cs typeface="Gill Sans MT"/>
            </a:endParaRPr>
          </a:p>
          <a:p>
            <a:pPr marL="221224" indent="-213947">
              <a:spcBef>
                <a:spcPts val="733"/>
              </a:spcBef>
              <a:buClr>
                <a:srgbClr val="C81D3B"/>
              </a:buClr>
              <a:buFont typeface="Wingdings"/>
              <a:buChar char=""/>
              <a:tabLst>
                <a:tab pos="221588" algn="l"/>
              </a:tabLst>
            </a:pPr>
            <a:r>
              <a:rPr sz="2063" b="1" spc="-65" dirty="0">
                <a:latin typeface="Gill Sans MT"/>
                <a:cs typeface="Gill Sans MT"/>
              </a:rPr>
              <a:t>Configuration </a:t>
            </a:r>
            <a:r>
              <a:rPr sz="2063" b="1" spc="-74" dirty="0">
                <a:latin typeface="Gill Sans MT"/>
                <a:cs typeface="Gill Sans MT"/>
              </a:rPr>
              <a:t>Security</a:t>
            </a:r>
            <a:r>
              <a:rPr sz="2063" b="1" spc="-117" dirty="0">
                <a:latin typeface="Gill Sans MT"/>
                <a:cs typeface="Gill Sans MT"/>
              </a:rPr>
              <a:t> </a:t>
            </a:r>
            <a:r>
              <a:rPr sz="2063" b="1" spc="-106" dirty="0">
                <a:latin typeface="Gill Sans MT"/>
                <a:cs typeface="Gill Sans MT"/>
              </a:rPr>
              <a:t>Testing</a:t>
            </a:r>
            <a:endParaRPr sz="2063">
              <a:latin typeface="Gill Sans MT"/>
              <a:cs typeface="Gill Sans MT"/>
            </a:endParaRPr>
          </a:p>
        </p:txBody>
      </p:sp>
    </p:spTree>
    <p:extLst>
      <p:ext uri="{BB962C8B-B14F-4D97-AF65-F5344CB8AC3E}">
        <p14:creationId xmlns:p14="http://schemas.microsoft.com/office/powerpoint/2010/main" val="4027612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90894" y="997738"/>
            <a:ext cx="5538698" cy="4256253"/>
          </a:xfrm>
          <a:prstGeom prst="rect">
            <a:avLst/>
          </a:prstGeom>
          <a:blipFill>
            <a:blip r:embed="rId2" cstate="print"/>
            <a:stretch>
              <a:fillRect/>
            </a:stretch>
          </a:blipFill>
        </p:spPr>
        <p:txBody>
          <a:bodyPr wrap="square" lIns="0" tIns="0" rIns="0" bIns="0" rtlCol="0"/>
          <a:lstStyle/>
          <a:p>
            <a:endParaRPr sz="1031"/>
          </a:p>
        </p:txBody>
      </p:sp>
      <p:sp>
        <p:nvSpPr>
          <p:cNvPr id="3" name="object 3"/>
          <p:cNvSpPr/>
          <p:nvPr/>
        </p:nvSpPr>
        <p:spPr>
          <a:xfrm>
            <a:off x="3222354" y="1343942"/>
            <a:ext cx="5075781" cy="3791836"/>
          </a:xfrm>
          <a:prstGeom prst="rect">
            <a:avLst/>
          </a:prstGeom>
          <a:blipFill>
            <a:blip r:embed="rId3" cstate="print"/>
            <a:stretch>
              <a:fillRect/>
            </a:stretch>
          </a:blipFill>
        </p:spPr>
        <p:txBody>
          <a:bodyPr wrap="square" lIns="0" tIns="0" rIns="0" bIns="0" rtlCol="0"/>
          <a:lstStyle/>
          <a:p>
            <a:endParaRPr sz="1031"/>
          </a:p>
        </p:txBody>
      </p:sp>
      <p:sp>
        <p:nvSpPr>
          <p:cNvPr id="4" name="object 4"/>
          <p:cNvSpPr/>
          <p:nvPr/>
        </p:nvSpPr>
        <p:spPr>
          <a:xfrm>
            <a:off x="3114612" y="1384039"/>
            <a:ext cx="5291264" cy="3483651"/>
          </a:xfrm>
          <a:prstGeom prst="rect">
            <a:avLst/>
          </a:prstGeom>
          <a:blipFill>
            <a:blip r:embed="rId4" cstate="print"/>
            <a:stretch>
              <a:fillRect/>
            </a:stretch>
          </a:blipFill>
        </p:spPr>
        <p:txBody>
          <a:bodyPr wrap="square" lIns="0" tIns="0" rIns="0" bIns="0" rtlCol="0"/>
          <a:lstStyle/>
          <a:p>
            <a:endParaRPr sz="1031"/>
          </a:p>
        </p:txBody>
      </p:sp>
      <p:sp>
        <p:nvSpPr>
          <p:cNvPr id="5" name="object 5"/>
          <p:cNvSpPr/>
          <p:nvPr/>
        </p:nvSpPr>
        <p:spPr>
          <a:xfrm>
            <a:off x="3348349" y="1733924"/>
            <a:ext cx="4823791" cy="3011870"/>
          </a:xfrm>
          <a:prstGeom prst="rect">
            <a:avLst/>
          </a:prstGeom>
          <a:blipFill>
            <a:blip r:embed="rId5" cstate="print"/>
            <a:stretch>
              <a:fillRect/>
            </a:stretch>
          </a:blipFill>
        </p:spPr>
        <p:txBody>
          <a:bodyPr wrap="square" lIns="0" tIns="0" rIns="0" bIns="0" rtlCol="0"/>
          <a:lstStyle/>
          <a:p>
            <a:endParaRPr sz="1031"/>
          </a:p>
        </p:txBody>
      </p:sp>
      <p:sp>
        <p:nvSpPr>
          <p:cNvPr id="6" name="object 6"/>
          <p:cNvSpPr txBox="1">
            <a:spLocks noGrp="1"/>
          </p:cNvSpPr>
          <p:nvPr>
            <p:ph type="title"/>
          </p:nvPr>
        </p:nvSpPr>
        <p:spPr>
          <a:xfrm>
            <a:off x="3539062" y="249990"/>
            <a:ext cx="3404912" cy="1050461"/>
          </a:xfrm>
          <a:prstGeom prst="rect">
            <a:avLst/>
          </a:prstGeom>
        </p:spPr>
        <p:txBody>
          <a:bodyPr vert="horz" wrap="square" lIns="0" tIns="9824" rIns="0" bIns="0" rtlCol="0" anchor="ctr">
            <a:spAutoFit/>
          </a:bodyPr>
          <a:lstStyle/>
          <a:p>
            <a:pPr marL="7277">
              <a:spcBef>
                <a:spcPts val="77"/>
              </a:spcBef>
            </a:pPr>
            <a:r>
              <a:rPr sz="3381" spc="-123" dirty="0">
                <a:solidFill>
                  <a:srgbClr val="941100"/>
                </a:solidFill>
                <a:latin typeface="Gill Sans MT"/>
                <a:cs typeface="Gill Sans MT"/>
              </a:rPr>
              <a:t>Security</a:t>
            </a:r>
            <a:r>
              <a:rPr sz="3381" spc="-29" dirty="0">
                <a:solidFill>
                  <a:srgbClr val="941100"/>
                </a:solidFill>
                <a:latin typeface="Gill Sans MT"/>
                <a:cs typeface="Gill Sans MT"/>
              </a:rPr>
              <a:t> </a:t>
            </a:r>
            <a:r>
              <a:rPr sz="3381" spc="-120" dirty="0">
                <a:solidFill>
                  <a:srgbClr val="941100"/>
                </a:solidFill>
                <a:latin typeface="Gill Sans MT"/>
                <a:cs typeface="Gill Sans MT"/>
              </a:rPr>
              <a:t>Shift-Left</a:t>
            </a:r>
            <a:endParaRPr sz="3381">
              <a:latin typeface="Gill Sans MT"/>
              <a:cs typeface="Gill Sans MT"/>
            </a:endParaRPr>
          </a:p>
        </p:txBody>
      </p:sp>
      <p:sp>
        <p:nvSpPr>
          <p:cNvPr id="7" name="object 7"/>
          <p:cNvSpPr txBox="1">
            <a:spLocks noGrp="1"/>
          </p:cNvSpPr>
          <p:nvPr>
            <p:ph type="ftr" sz="quarter" idx="4294967295"/>
          </p:nvPr>
        </p:nvSpPr>
        <p:spPr>
          <a:xfrm>
            <a:off x="493" y="0"/>
            <a:ext cx="0" cy="1641475"/>
          </a:xfrm>
          <a:prstGeom prst="rect">
            <a:avLst/>
          </a:prstGeom>
        </p:spPr>
        <p:txBody>
          <a:bodyPr vert="horz" wrap="square" lIns="0" tIns="0" rIns="0" bIns="0" rtlCol="0">
            <a:spAutoFit/>
          </a:bodyPr>
          <a:lstStyle/>
          <a:p>
            <a:pPr marL="7277">
              <a:lnSpc>
                <a:spcPts val="1622"/>
              </a:lnSpc>
            </a:pPr>
            <a:r>
              <a:rPr spc="-14" dirty="0"/>
              <a:t>@TopoPal</a:t>
            </a:r>
          </a:p>
        </p:txBody>
      </p:sp>
    </p:spTree>
    <p:extLst>
      <p:ext uri="{BB962C8B-B14F-4D97-AF65-F5344CB8AC3E}">
        <p14:creationId xmlns:p14="http://schemas.microsoft.com/office/powerpoint/2010/main" val="2842305384"/>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09E5EBF977394D926FD50F1F28090E" ma:contentTypeVersion="5" ma:contentTypeDescription="Create a new document." ma:contentTypeScope="" ma:versionID="4ebe729ed51e2ea9792f212953f4379e">
  <xsd:schema xmlns:xsd="http://www.w3.org/2001/XMLSchema" xmlns:xs="http://www.w3.org/2001/XMLSchema" xmlns:p="http://schemas.microsoft.com/office/2006/metadata/properties" xmlns:ns3="0f8a6664-4b00-4146-bc2e-e1ee0f337ce9" xmlns:ns4="4d421c5c-29e1-43b5-bbfa-45595c37891d" targetNamespace="http://schemas.microsoft.com/office/2006/metadata/properties" ma:root="true" ma:fieldsID="da70e80b32fd7a889334e2f82c407354" ns3:_="" ns4:_="">
    <xsd:import namespace="0f8a6664-4b00-4146-bc2e-e1ee0f337ce9"/>
    <xsd:import namespace="4d421c5c-29e1-43b5-bbfa-45595c37891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8a6664-4b00-4146-bc2e-e1ee0f337ce9"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421c5c-29e1-43b5-bbfa-45595c37891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711156-089B-443B-B7BE-9F7EB8E212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8a6664-4b00-4146-bc2e-e1ee0f337ce9"/>
    <ds:schemaRef ds:uri="4d421c5c-29e1-43b5-bbfa-45595c3789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300F53-6EE8-433E-B911-5C2A8CD6525A}">
  <ds:schemaRefs>
    <ds:schemaRef ds:uri="http://schemas.microsoft.com/sharepoint/v3/contenttype/forms"/>
  </ds:schemaRefs>
</ds:datastoreItem>
</file>

<file path=customXml/itemProps3.xml><?xml version="1.0" encoding="utf-8"?>
<ds:datastoreItem xmlns:ds="http://schemas.openxmlformats.org/officeDocument/2006/customXml" ds:itemID="{18964E7B-B3DC-4D77-A766-936881D834D5}">
  <ds:schemaRefs>
    <ds:schemaRef ds:uri="0f8a6664-4b00-4146-bc2e-e1ee0f337ce9"/>
    <ds:schemaRef ds:uri="4d421c5c-29e1-43b5-bbfa-45595c37891d"/>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2490</Words>
  <Application>Microsoft Office PowerPoint</Application>
  <PresentationFormat>Custom</PresentationFormat>
  <Paragraphs>862</Paragraphs>
  <Slides>62</Slides>
  <Notes>32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Slice</vt:lpstr>
      <vt:lpstr>Agenda </vt:lpstr>
      <vt:lpstr>based on the works of</vt:lpstr>
      <vt:lpstr>Tapabrata “Topo” Pal Engineering Fellow</vt:lpstr>
      <vt:lpstr>Agile Manifesto</vt:lpstr>
      <vt:lpstr>12 Principles behind the Agile Manifesto</vt:lpstr>
      <vt:lpstr>Agile Principles</vt:lpstr>
      <vt:lpstr>Agile Principles</vt:lpstr>
      <vt:lpstr>Agile Principles</vt:lpstr>
      <vt:lpstr>Scrum</vt:lpstr>
      <vt:lpstr>PowerPoint Presentation</vt:lpstr>
      <vt:lpstr>PowerPoint Presentation</vt:lpstr>
      <vt:lpstr>Background</vt:lpstr>
      <vt:lpstr>What is DevOps?</vt:lpstr>
      <vt:lpstr>Ch9 – Microsoft – Introduction to DevOps</vt:lpstr>
      <vt:lpstr>Ch9 – Microsoft – Introduction to DevOps</vt:lpstr>
      <vt:lpstr>Ch9 – Microsoft – Introduction to DevOps</vt:lpstr>
      <vt:lpstr> </vt:lpstr>
      <vt:lpstr> </vt:lpstr>
      <vt:lpstr> </vt:lpstr>
      <vt:lpstr>PowerPoint Presentation</vt:lpstr>
      <vt:lpstr>PowerPoint Presentation</vt:lpstr>
      <vt:lpstr>Surprise!  Broad Agreement on the Definition of DevOps</vt:lpstr>
      <vt:lpstr>DevOps by Patrick Debois – Feb 2011</vt:lpstr>
      <vt:lpstr>DevOps by Patrick Debois – Feb 2011</vt:lpstr>
      <vt:lpstr>DevOps Values – CALMS</vt:lpstr>
      <vt:lpstr>The Three Ways:  The Principles Underpinning DevOps by Gene Kim</vt:lpstr>
      <vt:lpstr>The Three Ways:  The Principles Underpinning DevOps by Gene Kim</vt:lpstr>
      <vt:lpstr>The Three Ways:  The Principles Underpinning DevOps by Gene Kim</vt:lpstr>
      <vt:lpstr>The Three Ways:  The Principles Underpinning DevOps by Gene Kim</vt:lpstr>
      <vt:lpstr>Why DevOps?</vt:lpstr>
      <vt:lpstr>Benefits</vt:lpstr>
      <vt:lpstr>“Technology Is Wiping Out Companies Faster than Ever”</vt:lpstr>
      <vt:lpstr>2016 State of DevOps Report</vt:lpstr>
      <vt:lpstr>PowerPoint Presentation</vt:lpstr>
      <vt:lpstr>DevOps  Practices </vt:lpstr>
      <vt:lpstr>DevOps Practices</vt:lpstr>
      <vt:lpstr>DevOps Measurements</vt:lpstr>
      <vt:lpstr>PowerPoint Presentation</vt:lpstr>
      <vt:lpstr>DevOps and Agile</vt:lpstr>
      <vt:lpstr>Anti-patterns</vt:lpstr>
      <vt:lpstr>Delivery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won’t happen overnight</vt:lpstr>
      <vt:lpstr>PowerPoint Presentation</vt:lpstr>
      <vt:lpstr>Conclusion</vt:lpstr>
      <vt:lpstr>What about Security?</vt:lpstr>
      <vt:lpstr>It is no good if it is not Secure</vt:lpstr>
      <vt:lpstr>Three Pillars of DevOpsSec</vt:lpstr>
      <vt:lpstr>PowerPoint Presentation</vt:lpstr>
      <vt:lpstr>PowerPoint Presentation</vt:lpstr>
      <vt:lpstr>Feedback</vt:lpstr>
      <vt:lpstr>Security during Coding</vt:lpstr>
      <vt:lpstr>Security during Building</vt:lpstr>
      <vt:lpstr>Security Testing</vt:lpstr>
      <vt:lpstr>Security Shift-Left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 </dc:title>
  <dc:creator/>
  <cp:lastModifiedBy/>
  <cp:revision>2</cp:revision>
  <dcterms:created xsi:type="dcterms:W3CDTF">2019-09-15T18:08:10Z</dcterms:created>
  <dcterms:modified xsi:type="dcterms:W3CDTF">2020-10-08T11:19:33Z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0x0101008709E5EBF977394D926FD50F1F28090E</vt:lpwstr>
  </property>
</Properties>
</file>