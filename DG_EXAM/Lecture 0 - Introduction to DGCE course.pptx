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1"/>
  </p:sldMasterIdLst>
  <p:notesMasterIdLst>
    <p:notesMasterId r:id="rId12"/>
  </p:notesMasterIdLst>
  <p:sldIdLst>
    <p:sldId id="256" r:id="rId2"/>
    <p:sldId id="257" r:id="rId3"/>
    <p:sldId id="269" r:id="rId4"/>
    <p:sldId id="263" r:id="rId5"/>
    <p:sldId id="264" r:id="rId6"/>
    <p:sldId id="270" r:id="rId7"/>
    <p:sldId id="262" r:id="rId8"/>
    <p:sldId id="278" r:id="rId9"/>
    <p:sldId id="276" r:id="rId10"/>
    <p:sldId id="27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08450411-E420-4242-AC9D-0258FE3ABDE4}">
          <p14:sldIdLst>
            <p14:sldId id="256"/>
            <p14:sldId id="257"/>
          </p14:sldIdLst>
        </p14:section>
        <p14:section name="Introduction and contacts" id="{883BC242-C521-434D-8DDA-28625AA2121B}">
          <p14:sldIdLst>
            <p14:sldId id="269"/>
            <p14:sldId id="263"/>
          </p14:sldIdLst>
        </p14:section>
        <p14:section name="Course contents" id="{39BF3023-1EA6-4753-8893-C62CDCBED2F0}">
          <p14:sldIdLst>
            <p14:sldId id="264"/>
          </p14:sldIdLst>
        </p14:section>
        <p14:section name="Course delivery" id="{137EEE50-8931-47C8-BBB5-7BB34A884D10}">
          <p14:sldIdLst>
            <p14:sldId id="270"/>
            <p14:sldId id="262"/>
            <p14:sldId id="278"/>
          </p14:sldIdLst>
        </p14:section>
        <p14:section name="Resources" id="{EEE5B68F-8B1D-4C43-8182-A3F004A02703}">
          <p14:sldIdLst>
            <p14:sldId id="276"/>
            <p14:sldId id="27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2" autoAdjust="0"/>
    <p:restoredTop sz="94808" autoAdjust="0"/>
  </p:normalViewPr>
  <p:slideViewPr>
    <p:cSldViewPr snapToGrid="0" showGuides="1">
      <p:cViewPr varScale="1">
        <p:scale>
          <a:sx n="110" d="100"/>
          <a:sy n="110" d="100"/>
        </p:scale>
        <p:origin x="76" y="7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8089F3-01B7-48A9-BE4C-3054F471C863}" type="datetimeFigureOut">
              <a:rPr lang="en-IE" smtClean="0"/>
              <a:t>18/05/2026</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E77605-55D4-4D23-88ED-3E263C195F89}" type="slidenum">
              <a:rPr lang="en-IE" smtClean="0"/>
              <a:t>‹#›</a:t>
            </a:fld>
            <a:endParaRPr lang="en-IE"/>
          </a:p>
        </p:txBody>
      </p:sp>
    </p:spTree>
    <p:extLst>
      <p:ext uri="{BB962C8B-B14F-4D97-AF65-F5344CB8AC3E}">
        <p14:creationId xmlns:p14="http://schemas.microsoft.com/office/powerpoint/2010/main" val="1790864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5"/>
          </p:nvPr>
        </p:nvSpPr>
        <p:spPr/>
        <p:txBody>
          <a:bodyPr/>
          <a:lstStyle/>
          <a:p>
            <a:fld id="{CAE77605-55D4-4D23-88ED-3E263C195F89}" type="slidenum">
              <a:rPr lang="en-IE" smtClean="0"/>
              <a:t>1</a:t>
            </a:fld>
            <a:endParaRPr lang="en-IE"/>
          </a:p>
        </p:txBody>
      </p:sp>
    </p:spTree>
    <p:extLst>
      <p:ext uri="{BB962C8B-B14F-4D97-AF65-F5344CB8AC3E}">
        <p14:creationId xmlns:p14="http://schemas.microsoft.com/office/powerpoint/2010/main" val="1723748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CAE77605-55D4-4D23-88ED-3E263C195F89}" type="slidenum">
              <a:rPr lang="en-IE" smtClean="0"/>
              <a:t>3</a:t>
            </a:fld>
            <a:endParaRPr lang="en-IE"/>
          </a:p>
        </p:txBody>
      </p:sp>
    </p:spTree>
    <p:extLst>
      <p:ext uri="{BB962C8B-B14F-4D97-AF65-F5344CB8AC3E}">
        <p14:creationId xmlns:p14="http://schemas.microsoft.com/office/powerpoint/2010/main" val="1513965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779A035B-5DEA-40A1-8D08-244C86C57E36}" type="slidenum">
              <a:rPr lang="en-IE" smtClean="0"/>
              <a:t>6</a:t>
            </a:fld>
            <a:endParaRPr lang="en-IE"/>
          </a:p>
        </p:txBody>
      </p:sp>
    </p:spTree>
    <p:extLst>
      <p:ext uri="{BB962C8B-B14F-4D97-AF65-F5344CB8AC3E}">
        <p14:creationId xmlns:p14="http://schemas.microsoft.com/office/powerpoint/2010/main" val="40405952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r>
              <a:rPr lang="en-US"/>
              <a:t>Sept 2020</a:t>
            </a:r>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r>
              <a:rPr lang="en-US"/>
              <a:t>PGDDA_JAN20O - Streams 1&amp;2 (Sept 2020)</a:t>
            </a:r>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289826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r>
              <a:rPr lang="en-US"/>
              <a:t>Sept 2020</a:t>
            </a:r>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r>
              <a:rPr lang="en-US"/>
              <a:t>PGDDA_JAN20O - Streams 1&amp;2 (Sept 2020)</a:t>
            </a:r>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94615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r>
              <a:rPr lang="en-US"/>
              <a:t>Sept 2020</a:t>
            </a:r>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r>
              <a:rPr lang="en-US"/>
              <a:t>PGDDA_JAN20O - Streams 1&amp;2 (Sept 2020)</a:t>
            </a:r>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0070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r>
              <a:rPr lang="en-US"/>
              <a:t>Sept 2020</a:t>
            </a:r>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r>
              <a:rPr lang="en-US"/>
              <a:t>PGDDA_JAN20O - Streams 1&amp;2 (Sept 2020)</a:t>
            </a:r>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04032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r>
              <a:rPr lang="en-US"/>
              <a:t>Sept 2020</a:t>
            </a:r>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r>
              <a:rPr lang="en-US"/>
              <a:t>PGDDA_JAN20O - Streams 1&amp;2 (Sept 2020)</a:t>
            </a:r>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921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r>
              <a:rPr lang="en-US"/>
              <a:t>Sept 2020</a:t>
            </a:r>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r>
              <a:rPr lang="en-US"/>
              <a:t>PGDDA_JAN20O - Streams 1&amp;2 (Sept 2020)</a:t>
            </a:r>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59146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r>
              <a:rPr lang="en-US"/>
              <a:t>Sept 2020</a:t>
            </a:r>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r>
              <a:rPr lang="en-US"/>
              <a:t>PGDDA_JAN20O - Streams 1&amp;2 (Sept 2020)</a:t>
            </a:r>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2723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r>
              <a:rPr lang="en-US"/>
              <a:t>Sept 2020</a:t>
            </a:r>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r>
              <a:rPr lang="en-US"/>
              <a:t>PGDDA_JAN20O - Streams 1&amp;2 (Sept 2020)</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91893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r>
              <a:rPr lang="en-US"/>
              <a:t>Sept 2020</a:t>
            </a:r>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r>
              <a:rPr lang="en-US"/>
              <a:t>PGDDA_JAN20O - Streams 1&amp;2 (Sept 2020)</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196224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r>
              <a:rPr lang="en-US"/>
              <a:t>Sept 2020</a:t>
            </a:r>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r>
              <a:rPr lang="en-US"/>
              <a:t>PGDDA_JAN20O - Streams 1&amp;2 (Sept 2020)</a:t>
            </a:r>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121819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r>
              <a:rPr lang="en-US"/>
              <a:t>Sept 2020</a:t>
            </a:r>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r>
              <a:rPr lang="en-US"/>
              <a:t>PGDDA_JAN20O - Streams 1&amp;2 (Sept 2020)</a:t>
            </a:r>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55927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E"/>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r>
              <a:rPr lang="en-US"/>
              <a:t>Sept 2020</a:t>
            </a:r>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r>
              <a:rPr lang="en-US"/>
              <a:t>PGDDA_JAN20O - Streams 1&amp;2 (Sept 2020)</a:t>
            </a:r>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510342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37" r:id="rId6"/>
    <p:sldLayoutId id="2147483733" r:id="rId7"/>
    <p:sldLayoutId id="2147483734" r:id="rId8"/>
    <p:sldLayoutId id="2147483735" r:id="rId9"/>
    <p:sldLayoutId id="2147483736" r:id="rId10"/>
    <p:sldLayoutId id="2147483738" r:id="rId11"/>
  </p:sldLayoutIdLst>
  <p:hf hdr="0" ftr="0" dt="0"/>
  <p:txStyles>
    <p:titleStyle>
      <a:lvl1pPr algn="l" defTabSz="914400" rtl="0" eaLnBrk="1" latinLnBrk="0" hangingPunct="1">
        <a:lnSpc>
          <a:spcPct val="80000"/>
        </a:lnSpc>
        <a:spcBef>
          <a:spcPct val="0"/>
        </a:spcBef>
        <a:buNone/>
        <a:defRPr sz="54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3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10000"/>
        </a:lnSpc>
        <a:spcBef>
          <a:spcPts val="200"/>
        </a:spcBef>
        <a:spcAft>
          <a:spcPts val="400"/>
        </a:spcAft>
        <a:buClrTx/>
        <a:buFont typeface="Calibri" pitchFamily="34" charset="0"/>
        <a:buChar char="◦"/>
        <a:defRPr sz="21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1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vikas.sahni@ncirl.i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nci360.ncirl.i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moodle2025.ncirl.ie/course/view.php?id=1382"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82F060-A4AF-4E0B-B364-7C6BA4A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6220" y="0"/>
            <a:ext cx="464131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6FACC86-AD7D-4F34-82CE-958D3D26D297}"/>
              </a:ext>
            </a:extLst>
          </p:cNvPr>
          <p:cNvSpPr>
            <a:spLocks noGrp="1"/>
          </p:cNvSpPr>
          <p:nvPr>
            <p:ph type="ctrTitle"/>
          </p:nvPr>
        </p:nvSpPr>
        <p:spPr>
          <a:xfrm>
            <a:off x="484814" y="640080"/>
            <a:ext cx="3659246" cy="2850319"/>
          </a:xfrm>
        </p:spPr>
        <p:txBody>
          <a:bodyPr>
            <a:normAutofit fontScale="90000"/>
          </a:bodyPr>
          <a:lstStyle/>
          <a:p>
            <a:r>
              <a:rPr lang="en-US" sz="5400" dirty="0">
                <a:solidFill>
                  <a:srgbClr val="FFFFFF"/>
                </a:solidFill>
              </a:rPr>
              <a:t>Data Governance, Compliance and Ethics</a:t>
            </a:r>
            <a:endParaRPr lang="en-IE" sz="5400" dirty="0">
              <a:solidFill>
                <a:srgbClr val="FFFFFF"/>
              </a:solidFill>
            </a:endParaRPr>
          </a:p>
        </p:txBody>
      </p:sp>
      <p:sp>
        <p:nvSpPr>
          <p:cNvPr id="3" name="Subtitle 2">
            <a:extLst>
              <a:ext uri="{FF2B5EF4-FFF2-40B4-BE49-F238E27FC236}">
                <a16:creationId xmlns:a16="http://schemas.microsoft.com/office/drawing/2014/main" id="{4A6004EE-6CD9-40D2-A9D8-B12EB1BB7B1A}"/>
              </a:ext>
            </a:extLst>
          </p:cNvPr>
          <p:cNvSpPr>
            <a:spLocks noGrp="1"/>
          </p:cNvSpPr>
          <p:nvPr>
            <p:ph type="subTitle" idx="1"/>
          </p:nvPr>
        </p:nvSpPr>
        <p:spPr>
          <a:xfrm>
            <a:off x="484814" y="3812134"/>
            <a:ext cx="4042798" cy="2349823"/>
          </a:xfrm>
        </p:spPr>
        <p:txBody>
          <a:bodyPr>
            <a:normAutofit/>
          </a:bodyPr>
          <a:lstStyle/>
          <a:p>
            <a:r>
              <a:rPr lang="en-IE" dirty="0">
                <a:ea typeface="Calibri" panose="020F0502020204030204" pitchFamily="34" charset="0"/>
                <a:cs typeface="Times New Roman" panose="02020603050405020304" pitchFamily="18" charset="0"/>
              </a:rPr>
              <a:t>Lecture 0: Introduction to Course</a:t>
            </a:r>
          </a:p>
          <a:p>
            <a:endParaRPr lang="en-IE" sz="1400" b="1" i="0" dirty="0">
              <a:effectLst/>
              <a:latin typeface="Raleway" panose="020B0503030101060003" pitchFamily="34" charset="0"/>
            </a:endParaRPr>
          </a:p>
          <a:p>
            <a:endParaRPr lang="en-IE" sz="1800" dirty="0">
              <a:ea typeface="Calibri" panose="020F0502020204030204" pitchFamily="34" charset="0"/>
              <a:cs typeface="Times New Roman" panose="02020603050405020304" pitchFamily="18" charset="0"/>
            </a:endParaRPr>
          </a:p>
        </p:txBody>
      </p:sp>
      <p:cxnSp>
        <p:nvCxnSpPr>
          <p:cNvPr id="11" name="Straight Connector 10">
            <a:extLst>
              <a:ext uri="{FF2B5EF4-FFF2-40B4-BE49-F238E27FC236}">
                <a16:creationId xmlns:a16="http://schemas.microsoft.com/office/drawing/2014/main" id="{B9EB6DAA-2F0C-43D5-A577-15D5D2C4E3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22797" y="3651268"/>
            <a:ext cx="338328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FFA373A4-8CF5-4C62-8C69-5858730AC661}"/>
              </a:ext>
            </a:extLst>
          </p:cNvPr>
          <p:cNvPicPr>
            <a:picLocks noChangeAspect="1"/>
          </p:cNvPicPr>
          <p:nvPr/>
        </p:nvPicPr>
        <p:blipFill rotWithShape="1">
          <a:blip r:embed="rId3"/>
          <a:srcRect t="5845" r="-1" b="3402"/>
          <a:stretch/>
        </p:blipFill>
        <p:spPr>
          <a:xfrm>
            <a:off x="4635095" y="10"/>
            <a:ext cx="7556889" cy="6857990"/>
          </a:xfrm>
          <a:prstGeom prst="rect">
            <a:avLst/>
          </a:prstGeom>
        </p:spPr>
      </p:pic>
      <p:pic>
        <p:nvPicPr>
          <p:cNvPr id="5" name="Picture 4" descr="A picture containing person, person, holding, front&#10;&#10;Description automatically generated">
            <a:extLst>
              <a:ext uri="{FF2B5EF4-FFF2-40B4-BE49-F238E27FC236}">
                <a16:creationId xmlns:a16="http://schemas.microsoft.com/office/drawing/2014/main" id="{DE8ECC77-79D9-42C4-89E8-5967B93C7B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2357011"/>
            <a:ext cx="4813662" cy="2910246"/>
          </a:xfrm>
          <a:prstGeom prst="rect">
            <a:avLst/>
          </a:prstGeom>
        </p:spPr>
      </p:pic>
      <p:sp>
        <p:nvSpPr>
          <p:cNvPr id="10" name="TextBox 9">
            <a:extLst>
              <a:ext uri="{FF2B5EF4-FFF2-40B4-BE49-F238E27FC236}">
                <a16:creationId xmlns:a16="http://schemas.microsoft.com/office/drawing/2014/main" id="{BCB14013-B8B3-4261-94A5-FD09E479321C}"/>
              </a:ext>
            </a:extLst>
          </p:cNvPr>
          <p:cNvSpPr txBox="1"/>
          <p:nvPr/>
        </p:nvSpPr>
        <p:spPr>
          <a:xfrm>
            <a:off x="548882" y="6299026"/>
            <a:ext cx="3840696" cy="369332"/>
          </a:xfrm>
          <a:prstGeom prst="rect">
            <a:avLst/>
          </a:prstGeom>
          <a:noFill/>
        </p:spPr>
        <p:txBody>
          <a:bodyPr wrap="square">
            <a:spAutoFit/>
          </a:bodyPr>
          <a:lstStyle/>
          <a:p>
            <a:r>
              <a:rPr lang="en-IE" dirty="0">
                <a:solidFill>
                  <a:srgbClr val="FFFFFF"/>
                </a:solidFill>
              </a:rPr>
              <a:t>vikas.sahni@ncirl.ie</a:t>
            </a:r>
            <a:endParaRPr lang="en-IE" sz="1800" dirty="0">
              <a:solidFill>
                <a:srgbClr val="FFFFFF"/>
              </a:solidFill>
            </a:endParaRPr>
          </a:p>
        </p:txBody>
      </p:sp>
    </p:spTree>
    <p:extLst>
      <p:ext uri="{BB962C8B-B14F-4D97-AF65-F5344CB8AC3E}">
        <p14:creationId xmlns:p14="http://schemas.microsoft.com/office/powerpoint/2010/main" val="28022840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1">
            <a:extLst>
              <a:ext uri="{FF2B5EF4-FFF2-40B4-BE49-F238E27FC236}">
                <a16:creationId xmlns:a16="http://schemas.microsoft.com/office/drawing/2014/main" id="{F4FAA6B4-BAFB-4474-9B14-DC83A90965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FEFD5D-6F50-4F01-8BA0-D6AF0CA2C207}"/>
              </a:ext>
            </a:extLst>
          </p:cNvPr>
          <p:cNvSpPr>
            <a:spLocks noGrp="1"/>
          </p:cNvSpPr>
          <p:nvPr>
            <p:ph type="title"/>
          </p:nvPr>
        </p:nvSpPr>
        <p:spPr>
          <a:xfrm>
            <a:off x="1097280" y="286603"/>
            <a:ext cx="10058400" cy="1450757"/>
          </a:xfrm>
        </p:spPr>
        <p:txBody>
          <a:bodyPr>
            <a:normAutofit/>
          </a:bodyPr>
          <a:lstStyle/>
          <a:p>
            <a:r>
              <a:rPr lang="en-US"/>
              <a:t>Overview</a:t>
            </a:r>
            <a:endParaRPr lang="en-IE" dirty="0"/>
          </a:p>
        </p:txBody>
      </p:sp>
      <p:cxnSp>
        <p:nvCxnSpPr>
          <p:cNvPr id="19" name="!!Straight Connector">
            <a:extLst>
              <a:ext uri="{FF2B5EF4-FFF2-40B4-BE49-F238E27FC236}">
                <a16:creationId xmlns:a16="http://schemas.microsoft.com/office/drawing/2014/main" id="{4364CDC3-ADB0-4691-9286-5925F160C2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0A30531-B5C2-4A59-844A-59CA0DA2ECB4}"/>
              </a:ext>
            </a:extLst>
          </p:cNvPr>
          <p:cNvSpPr>
            <a:spLocks noGrp="1"/>
          </p:cNvSpPr>
          <p:nvPr>
            <p:ph idx="1"/>
          </p:nvPr>
        </p:nvSpPr>
        <p:spPr>
          <a:xfrm>
            <a:off x="1365337" y="1958787"/>
            <a:ext cx="6066971" cy="4486481"/>
          </a:xfrm>
        </p:spPr>
        <p:txBody>
          <a:bodyPr>
            <a:noAutofit/>
          </a:bodyPr>
          <a:lstStyle/>
          <a:p>
            <a:pPr>
              <a:lnSpc>
                <a:spcPct val="100000"/>
              </a:lnSpc>
            </a:pPr>
            <a:r>
              <a:rPr lang="en-US" sz="1500" dirty="0"/>
              <a:t>Introduction and Module Team</a:t>
            </a:r>
          </a:p>
          <a:p>
            <a:pPr>
              <a:lnSpc>
                <a:spcPct val="100000"/>
              </a:lnSpc>
            </a:pPr>
            <a:r>
              <a:rPr lang="en-US" sz="1500" dirty="0"/>
              <a:t>Staying Connected</a:t>
            </a:r>
          </a:p>
          <a:p>
            <a:pPr>
              <a:lnSpc>
                <a:spcPct val="100000"/>
              </a:lnSpc>
            </a:pPr>
            <a:r>
              <a:rPr lang="en-US" sz="1500" dirty="0"/>
              <a:t>Course contents</a:t>
            </a:r>
          </a:p>
          <a:p>
            <a:pPr lvl="1">
              <a:lnSpc>
                <a:spcPct val="100000"/>
              </a:lnSpc>
            </a:pPr>
            <a:r>
              <a:rPr lang="en-US" sz="1500" dirty="0"/>
              <a:t>Learning objectives</a:t>
            </a:r>
          </a:p>
          <a:p>
            <a:pPr lvl="1">
              <a:lnSpc>
                <a:spcPct val="100000"/>
              </a:lnSpc>
            </a:pPr>
            <a:r>
              <a:rPr lang="en-US" sz="1500" dirty="0"/>
              <a:t>Course Outline (in next slide deck)</a:t>
            </a:r>
          </a:p>
          <a:p>
            <a:pPr>
              <a:lnSpc>
                <a:spcPct val="100000"/>
              </a:lnSpc>
            </a:pPr>
            <a:r>
              <a:rPr lang="en-US" sz="1500" dirty="0"/>
              <a:t>Arrangements for Course delivery</a:t>
            </a:r>
          </a:p>
          <a:p>
            <a:pPr>
              <a:lnSpc>
                <a:spcPct val="100000"/>
              </a:lnSpc>
            </a:pPr>
            <a:r>
              <a:rPr lang="en-US" sz="1500" dirty="0"/>
              <a:t>Course Timeline</a:t>
            </a:r>
          </a:p>
          <a:p>
            <a:pPr>
              <a:lnSpc>
                <a:spcPct val="100000"/>
              </a:lnSpc>
            </a:pPr>
            <a:r>
              <a:rPr lang="en-US" sz="1500" dirty="0"/>
              <a:t>Arrangements for labs tutorials</a:t>
            </a:r>
          </a:p>
          <a:p>
            <a:pPr lvl="1">
              <a:lnSpc>
                <a:spcPct val="100000"/>
              </a:lnSpc>
            </a:pPr>
            <a:r>
              <a:rPr lang="en-US" sz="1500" dirty="0"/>
              <a:t>Timeline</a:t>
            </a:r>
          </a:p>
          <a:p>
            <a:pPr lvl="1">
              <a:lnSpc>
                <a:spcPct val="100000"/>
              </a:lnSpc>
            </a:pPr>
            <a:r>
              <a:rPr lang="en-US" sz="1500" dirty="0"/>
              <a:t>Delivery methods</a:t>
            </a:r>
          </a:p>
          <a:p>
            <a:pPr marL="0">
              <a:lnSpc>
                <a:spcPct val="100000"/>
              </a:lnSpc>
              <a:buNone/>
            </a:pPr>
            <a:r>
              <a:rPr lang="en-US" sz="1500" dirty="0"/>
              <a:t>Course Assessments</a:t>
            </a:r>
          </a:p>
          <a:p>
            <a:pPr marL="0" indent="0">
              <a:lnSpc>
                <a:spcPct val="100000"/>
              </a:lnSpc>
              <a:buNone/>
            </a:pPr>
            <a:r>
              <a:rPr lang="en-US" sz="1500" dirty="0"/>
              <a:t>Course Reading and Resources</a:t>
            </a:r>
            <a:endParaRPr lang="en-IE" sz="1500" dirty="0"/>
          </a:p>
        </p:txBody>
      </p:sp>
      <p:sp>
        <p:nvSpPr>
          <p:cNvPr id="20" name="Rectangle 15">
            <a:extLst>
              <a:ext uri="{FF2B5EF4-FFF2-40B4-BE49-F238E27FC236}">
                <a16:creationId xmlns:a16="http://schemas.microsoft.com/office/drawing/2014/main" id="{DB148495-5F82-48E2-A76C-C8E1C8949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Slide Number Placeholder 6">
            <a:extLst>
              <a:ext uri="{FF2B5EF4-FFF2-40B4-BE49-F238E27FC236}">
                <a16:creationId xmlns:a16="http://schemas.microsoft.com/office/drawing/2014/main" id="{B7D86716-D28A-44E0-A302-418F99DC3A87}"/>
              </a:ext>
            </a:extLst>
          </p:cNvPr>
          <p:cNvSpPr>
            <a:spLocks noGrp="1"/>
          </p:cNvSpPr>
          <p:nvPr>
            <p:ph type="sldNum" sz="quarter" idx="12"/>
          </p:nvPr>
        </p:nvSpPr>
        <p:spPr>
          <a:xfrm>
            <a:off x="10993582" y="6446838"/>
            <a:ext cx="780010" cy="365125"/>
          </a:xfrm>
        </p:spPr>
        <p:txBody>
          <a:bodyPr>
            <a:normAutofit/>
          </a:bodyPr>
          <a:lstStyle/>
          <a:p>
            <a:pPr>
              <a:spcAft>
                <a:spcPts val="600"/>
              </a:spcAft>
            </a:pPr>
            <a:fld id="{3A98EE3D-8CD1-4C3F-BD1C-C98C9596463C}" type="slidenum">
              <a:rPr lang="en-US" smtClean="0"/>
              <a:pPr>
                <a:spcAft>
                  <a:spcPts val="600"/>
                </a:spcAft>
              </a:pPr>
              <a:t>2</a:t>
            </a:fld>
            <a:endParaRPr lang="en-US"/>
          </a:p>
        </p:txBody>
      </p:sp>
    </p:spTree>
    <p:extLst>
      <p:ext uri="{BB962C8B-B14F-4D97-AF65-F5344CB8AC3E}">
        <p14:creationId xmlns:p14="http://schemas.microsoft.com/office/powerpoint/2010/main" val="2039592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46BA1-5532-4468-B508-BC50EBB94909}"/>
              </a:ext>
            </a:extLst>
          </p:cNvPr>
          <p:cNvSpPr>
            <a:spLocks noGrp="1"/>
          </p:cNvSpPr>
          <p:nvPr>
            <p:ph type="title"/>
          </p:nvPr>
        </p:nvSpPr>
        <p:spPr/>
        <p:txBody>
          <a:bodyPr/>
          <a:lstStyle/>
          <a:p>
            <a:r>
              <a:rPr lang="en-US" dirty="0"/>
              <a:t>Module Team</a:t>
            </a:r>
            <a:endParaRPr lang="en-IE" dirty="0"/>
          </a:p>
        </p:txBody>
      </p:sp>
      <p:sp>
        <p:nvSpPr>
          <p:cNvPr id="3" name="Content Placeholder 2">
            <a:extLst>
              <a:ext uri="{FF2B5EF4-FFF2-40B4-BE49-F238E27FC236}">
                <a16:creationId xmlns:a16="http://schemas.microsoft.com/office/drawing/2014/main" id="{8B6EA53B-41CA-4576-8245-CA9200B93184}"/>
              </a:ext>
            </a:extLst>
          </p:cNvPr>
          <p:cNvSpPr>
            <a:spLocks noGrp="1"/>
          </p:cNvSpPr>
          <p:nvPr>
            <p:ph idx="1"/>
          </p:nvPr>
        </p:nvSpPr>
        <p:spPr/>
        <p:txBody>
          <a:bodyPr>
            <a:normAutofit/>
          </a:bodyPr>
          <a:lstStyle/>
          <a:p>
            <a:r>
              <a:rPr lang="en-US" dirty="0"/>
              <a:t>Content Creator</a:t>
            </a:r>
            <a:r>
              <a:rPr lang="en-US"/>
              <a:t>: Jaswinder Singh </a:t>
            </a:r>
          </a:p>
          <a:p>
            <a:r>
              <a:rPr lang="en-US" dirty="0"/>
              <a:t>Lecturer:  Vikas Sahni (</a:t>
            </a:r>
            <a:r>
              <a:rPr lang="en-US" dirty="0">
                <a:hlinkClick r:id="rId3"/>
              </a:rPr>
              <a:t>vikas.sahni@ncirl.ie</a:t>
            </a:r>
            <a:r>
              <a:rPr lang="en-US" dirty="0"/>
              <a:t>)</a:t>
            </a:r>
          </a:p>
        </p:txBody>
      </p:sp>
    </p:spTree>
    <p:extLst>
      <p:ext uri="{BB962C8B-B14F-4D97-AF65-F5344CB8AC3E}">
        <p14:creationId xmlns:p14="http://schemas.microsoft.com/office/powerpoint/2010/main" val="988764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3DF7B-A732-4F8D-9961-CEEED908B47E}"/>
              </a:ext>
            </a:extLst>
          </p:cNvPr>
          <p:cNvSpPr>
            <a:spLocks noGrp="1"/>
          </p:cNvSpPr>
          <p:nvPr>
            <p:ph type="title"/>
          </p:nvPr>
        </p:nvSpPr>
        <p:spPr/>
        <p:txBody>
          <a:bodyPr/>
          <a:lstStyle/>
          <a:p>
            <a:r>
              <a:rPr lang="en-US" dirty="0"/>
              <a:t>Staying connected</a:t>
            </a:r>
            <a:endParaRPr lang="en-IE" dirty="0"/>
          </a:p>
        </p:txBody>
      </p:sp>
      <p:sp>
        <p:nvSpPr>
          <p:cNvPr id="3" name="Content Placeholder 2">
            <a:extLst>
              <a:ext uri="{FF2B5EF4-FFF2-40B4-BE49-F238E27FC236}">
                <a16:creationId xmlns:a16="http://schemas.microsoft.com/office/drawing/2014/main" id="{B4BA7EBF-73AA-475D-A19A-DFF8DA2A9CEC}"/>
              </a:ext>
            </a:extLst>
          </p:cNvPr>
          <p:cNvSpPr>
            <a:spLocks noGrp="1"/>
          </p:cNvSpPr>
          <p:nvPr>
            <p:ph idx="1"/>
          </p:nvPr>
        </p:nvSpPr>
        <p:spPr/>
        <p:txBody>
          <a:bodyPr>
            <a:normAutofit fontScale="92500" lnSpcReduction="10000"/>
          </a:bodyPr>
          <a:lstStyle/>
          <a:p>
            <a:pPr marL="0" indent="0">
              <a:buNone/>
            </a:pPr>
            <a:r>
              <a:rPr lang="en-US" dirty="0"/>
              <a:t>Watch for course announcements through Moodle.</a:t>
            </a:r>
          </a:p>
          <a:p>
            <a:pPr marL="0" indent="0">
              <a:buNone/>
            </a:pPr>
            <a:r>
              <a:rPr lang="en-US" dirty="0"/>
              <a:t>“Ask a question”:  Use this to ask general course related questions so that others can participate and see answers</a:t>
            </a:r>
          </a:p>
          <a:p>
            <a:pPr marL="0" indent="0">
              <a:buNone/>
            </a:pPr>
            <a:r>
              <a:rPr lang="en-US" dirty="0"/>
              <a:t>For questions specifically related to your own participation on course: </a:t>
            </a:r>
          </a:p>
          <a:p>
            <a:pPr marL="0" indent="0">
              <a:buNone/>
            </a:pPr>
            <a:r>
              <a:rPr lang="en-US" b="1" dirty="0"/>
              <a:t>		Use the Tutorial time</a:t>
            </a:r>
          </a:p>
          <a:p>
            <a:pPr marL="0" indent="0">
              <a:buNone/>
            </a:pPr>
            <a:r>
              <a:rPr lang="en-US" dirty="0"/>
              <a:t>Request for deferrals etc. to NCI360 (</a:t>
            </a:r>
            <a:r>
              <a:rPr lang="en-IE" dirty="0">
                <a:hlinkClick r:id="rId2"/>
              </a:rPr>
              <a:t>https://nci360.ncirl.ie/</a:t>
            </a:r>
            <a:r>
              <a:rPr lang="en-US" dirty="0"/>
              <a:t>)</a:t>
            </a:r>
          </a:p>
          <a:p>
            <a:pPr marL="0" indent="0">
              <a:buNone/>
            </a:pPr>
            <a:r>
              <a:rPr lang="en-IE" b="1" dirty="0">
                <a:solidFill>
                  <a:srgbClr val="FF0000"/>
                </a:solidFill>
              </a:rPr>
              <a:t>Note:  </a:t>
            </a:r>
            <a:r>
              <a:rPr lang="en-IE" dirty="0">
                <a:solidFill>
                  <a:srgbClr val="FF0000"/>
                </a:solidFill>
              </a:rPr>
              <a:t>Communication outside class should be through email.  Please do not use MS Teams for messaging outside of class.</a:t>
            </a:r>
          </a:p>
          <a:p>
            <a:pPr marL="0" indent="0">
              <a:buNone/>
            </a:pPr>
            <a:endParaRPr lang="en-US" dirty="0"/>
          </a:p>
          <a:p>
            <a:pPr marL="0" indent="0">
              <a:buNone/>
            </a:pPr>
            <a:endParaRPr lang="en-IE" dirty="0"/>
          </a:p>
        </p:txBody>
      </p:sp>
      <p:sp>
        <p:nvSpPr>
          <p:cNvPr id="7" name="Slide Number Placeholder 6">
            <a:extLst>
              <a:ext uri="{FF2B5EF4-FFF2-40B4-BE49-F238E27FC236}">
                <a16:creationId xmlns:a16="http://schemas.microsoft.com/office/drawing/2014/main" id="{0CAF454B-FEEB-4D98-822F-FBFD9CCF7C81}"/>
              </a:ext>
            </a:extLst>
          </p:cNvPr>
          <p:cNvSpPr>
            <a:spLocks noGrp="1"/>
          </p:cNvSpPr>
          <p:nvPr>
            <p:ph type="sldNum" sz="quarter" idx="12"/>
          </p:nvPr>
        </p:nvSpPr>
        <p:spPr/>
        <p:txBody>
          <a:bodyPr/>
          <a:lstStyle/>
          <a:p>
            <a:fld id="{3A98EE3D-8CD1-4C3F-BD1C-C98C9596463C}" type="slidenum">
              <a:rPr lang="en-US" smtClean="0"/>
              <a:t>4</a:t>
            </a:fld>
            <a:endParaRPr lang="en-US" dirty="0"/>
          </a:p>
        </p:txBody>
      </p:sp>
    </p:spTree>
    <p:extLst>
      <p:ext uri="{BB962C8B-B14F-4D97-AF65-F5344CB8AC3E}">
        <p14:creationId xmlns:p14="http://schemas.microsoft.com/office/powerpoint/2010/main" val="4053851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8F0A37D-2337-4AAF-98B0-7E4E9B98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2755AB-671F-4BC1-9B38-A94DECC38F20}"/>
              </a:ext>
            </a:extLst>
          </p:cNvPr>
          <p:cNvSpPr>
            <a:spLocks noGrp="1"/>
          </p:cNvSpPr>
          <p:nvPr>
            <p:ph type="title"/>
          </p:nvPr>
        </p:nvSpPr>
        <p:spPr>
          <a:xfrm>
            <a:off x="1097280" y="286603"/>
            <a:ext cx="10058400" cy="1450757"/>
          </a:xfrm>
        </p:spPr>
        <p:txBody>
          <a:bodyPr>
            <a:normAutofit/>
          </a:bodyPr>
          <a:lstStyle/>
          <a:p>
            <a:r>
              <a:rPr lang="en-US" dirty="0"/>
              <a:t>Learning Outcomes (MSCCLOUD)</a:t>
            </a:r>
            <a:endParaRPr lang="en-IE" dirty="0"/>
          </a:p>
        </p:txBody>
      </p:sp>
      <p:cxnSp>
        <p:nvCxnSpPr>
          <p:cNvPr id="14" name="Straight Connector 13">
            <a:extLst>
              <a:ext uri="{FF2B5EF4-FFF2-40B4-BE49-F238E27FC236}">
                <a16:creationId xmlns:a16="http://schemas.microsoft.com/office/drawing/2014/main" id="{F15CCCF0-E573-463A-9760-1FDC0B2CFB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F7234D70-FB65-4E99-985E-64D219674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Slide Number Placeholder 6">
            <a:extLst>
              <a:ext uri="{FF2B5EF4-FFF2-40B4-BE49-F238E27FC236}">
                <a16:creationId xmlns:a16="http://schemas.microsoft.com/office/drawing/2014/main" id="{6E576955-40C4-48B0-81B1-7E29A92AC3AB}"/>
              </a:ext>
            </a:extLst>
          </p:cNvPr>
          <p:cNvSpPr>
            <a:spLocks noGrp="1"/>
          </p:cNvSpPr>
          <p:nvPr>
            <p:ph type="sldNum" sz="quarter" idx="12"/>
          </p:nvPr>
        </p:nvSpPr>
        <p:spPr>
          <a:xfrm>
            <a:off x="10993582" y="6446838"/>
            <a:ext cx="780010" cy="365125"/>
          </a:xfrm>
        </p:spPr>
        <p:txBody>
          <a:bodyPr>
            <a:normAutofit/>
          </a:bodyPr>
          <a:lstStyle/>
          <a:p>
            <a:pPr>
              <a:spcAft>
                <a:spcPts val="600"/>
              </a:spcAft>
            </a:pPr>
            <a:fld id="{3A98EE3D-8CD1-4C3F-BD1C-C98C9596463C}" type="slidenum">
              <a:rPr lang="en-US" smtClean="0"/>
              <a:pPr>
                <a:spcAft>
                  <a:spcPts val="600"/>
                </a:spcAft>
              </a:pPr>
              <a:t>5</a:t>
            </a:fld>
            <a:endParaRPr lang="en-US"/>
          </a:p>
        </p:txBody>
      </p:sp>
      <p:graphicFrame>
        <p:nvGraphicFramePr>
          <p:cNvPr id="4" name="Content Placeholder 3">
            <a:extLst>
              <a:ext uri="{FF2B5EF4-FFF2-40B4-BE49-F238E27FC236}">
                <a16:creationId xmlns:a16="http://schemas.microsoft.com/office/drawing/2014/main" id="{814BEB82-2517-1BBA-1FA1-3A8F5B2EEC46}"/>
              </a:ext>
            </a:extLst>
          </p:cNvPr>
          <p:cNvGraphicFramePr>
            <a:graphicFrameLocks noGrp="1"/>
          </p:cNvGraphicFramePr>
          <p:nvPr>
            <p:ph idx="1"/>
            <p:extLst>
              <p:ext uri="{D42A27DB-BD31-4B8C-83A1-F6EECF244321}">
                <p14:modId xmlns:p14="http://schemas.microsoft.com/office/powerpoint/2010/main" val="1171068187"/>
              </p:ext>
            </p:extLst>
          </p:nvPr>
        </p:nvGraphicFramePr>
        <p:xfrm>
          <a:off x="1096963" y="2119454"/>
          <a:ext cx="10058401" cy="3744204"/>
        </p:xfrm>
        <a:graphic>
          <a:graphicData uri="http://schemas.openxmlformats.org/drawingml/2006/table">
            <a:tbl>
              <a:tblPr firstRow="1" bandRow="1"/>
              <a:tblGrid>
                <a:gridCol w="754599">
                  <a:extLst>
                    <a:ext uri="{9D8B030D-6E8A-4147-A177-3AD203B41FA5}">
                      <a16:colId xmlns:a16="http://schemas.microsoft.com/office/drawing/2014/main" val="1141593490"/>
                    </a:ext>
                  </a:extLst>
                </a:gridCol>
                <a:gridCol w="9303802">
                  <a:extLst>
                    <a:ext uri="{9D8B030D-6E8A-4147-A177-3AD203B41FA5}">
                      <a16:colId xmlns:a16="http://schemas.microsoft.com/office/drawing/2014/main" val="3550735498"/>
                    </a:ext>
                  </a:extLst>
                </a:gridCol>
              </a:tblGrid>
              <a:tr h="464972">
                <a:tc>
                  <a:txBody>
                    <a:bodyPr/>
                    <a:lstStyle/>
                    <a:p>
                      <a:pPr algn="l" fontAlgn="t"/>
                      <a:r>
                        <a:rPr lang="en-IE" sz="2100">
                          <a:solidFill>
                            <a:srgbClr val="000000"/>
                          </a:solidFill>
                          <a:effectLst/>
                        </a:rPr>
                        <a:t>#</a:t>
                      </a:r>
                    </a:p>
                  </a:txBody>
                  <a:tcPr marL="54523" marR="54523" marT="54523" marB="5452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EF3"/>
                    </a:solidFill>
                  </a:tcPr>
                </a:tc>
                <a:tc>
                  <a:txBody>
                    <a:bodyPr/>
                    <a:lstStyle/>
                    <a:p>
                      <a:pPr algn="l" fontAlgn="t"/>
                      <a:r>
                        <a:rPr lang="en-IE" sz="2100">
                          <a:solidFill>
                            <a:srgbClr val="000000"/>
                          </a:solidFill>
                          <a:effectLst/>
                        </a:rPr>
                        <a:t>Learning Outcome Description</a:t>
                      </a:r>
                    </a:p>
                  </a:txBody>
                  <a:tcPr marL="54523" marR="54523" marT="54523" marB="5452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EF3"/>
                    </a:solidFill>
                  </a:tcPr>
                </a:tc>
                <a:extLst>
                  <a:ext uri="{0D108BD9-81ED-4DB2-BD59-A6C34878D82A}">
                    <a16:rowId xmlns:a16="http://schemas.microsoft.com/office/drawing/2014/main" val="3504851804"/>
                  </a:ext>
                </a:extLst>
              </a:tr>
              <a:tr h="779025">
                <a:tc>
                  <a:txBody>
                    <a:bodyPr/>
                    <a:lstStyle/>
                    <a:p>
                      <a:pPr algn="l" fontAlgn="t"/>
                      <a:r>
                        <a:rPr lang="en-IE" sz="2100">
                          <a:effectLst/>
                        </a:rPr>
                        <a:t>LO1</a:t>
                      </a:r>
                    </a:p>
                  </a:txBody>
                  <a:tcPr marL="54523" marR="54523" marT="54523" marB="5452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l" fontAlgn="t"/>
                      <a:r>
                        <a:rPr lang="en-IE" sz="2100">
                          <a:effectLst/>
                        </a:rPr>
                        <a:t>Critically interpret the corporate Governance, Compliance and regulatory frameworks associated with the capture, processing, and stewardship of Data.</a:t>
                      </a:r>
                    </a:p>
                  </a:txBody>
                  <a:tcPr marL="54523" marR="54523" marT="54523" marB="5452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7899839"/>
                  </a:ext>
                </a:extLst>
              </a:tr>
              <a:tr h="1407130">
                <a:tc>
                  <a:txBody>
                    <a:bodyPr/>
                    <a:lstStyle/>
                    <a:p>
                      <a:pPr algn="l" fontAlgn="t"/>
                      <a:r>
                        <a:rPr lang="en-IE" sz="2100">
                          <a:effectLst/>
                        </a:rPr>
                        <a:t>LO2</a:t>
                      </a:r>
                    </a:p>
                  </a:txBody>
                  <a:tcPr marL="54523" marR="54523" marT="54523" marB="5452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l" fontAlgn="t"/>
                      <a:r>
                        <a:rPr lang="en-IE" sz="2100">
                          <a:effectLst/>
                        </a:rPr>
                        <a:t>Critically interpret the roles and responsibilities pertaining to data security, privacy, risk management, and data protection. Data protection and GDPR as key constraints in the business environment to be reflected in the internal environment of the organisation.</a:t>
                      </a:r>
                    </a:p>
                  </a:txBody>
                  <a:tcPr marL="54523" marR="54523" marT="54523" marB="5452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398554464"/>
                  </a:ext>
                </a:extLst>
              </a:tr>
              <a:tr h="1093077">
                <a:tc>
                  <a:txBody>
                    <a:bodyPr/>
                    <a:lstStyle/>
                    <a:p>
                      <a:pPr algn="l" fontAlgn="t"/>
                      <a:r>
                        <a:rPr lang="en-IE" sz="2100">
                          <a:effectLst/>
                        </a:rPr>
                        <a:t>LO3</a:t>
                      </a:r>
                    </a:p>
                  </a:txBody>
                  <a:tcPr marL="54523" marR="54523" marT="54523" marB="5452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pPr algn="l" fontAlgn="t"/>
                      <a:r>
                        <a:rPr lang="en-IE" sz="2100">
                          <a:effectLst/>
                        </a:rPr>
                        <a:t>Evaluate ethical constructs and their dynamic evolution within an ICT data environment and appraise the interplay of fairness, accountability, and transparency in algorithmic decision making systems.</a:t>
                      </a:r>
                    </a:p>
                  </a:txBody>
                  <a:tcPr marL="54523" marR="54523" marT="54523" marB="54523">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315558010"/>
                  </a:ext>
                </a:extLst>
              </a:tr>
            </a:tbl>
          </a:graphicData>
        </a:graphic>
      </p:graphicFrame>
    </p:spTree>
    <p:extLst>
      <p:ext uri="{BB962C8B-B14F-4D97-AF65-F5344CB8AC3E}">
        <p14:creationId xmlns:p14="http://schemas.microsoft.com/office/powerpoint/2010/main" val="2587628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2909" y="73026"/>
            <a:ext cx="10018713" cy="1752599"/>
          </a:xfrm>
        </p:spPr>
        <p:txBody>
          <a:bodyPr/>
          <a:lstStyle/>
          <a:p>
            <a:r>
              <a:rPr lang="en-IE" dirty="0"/>
              <a:t>Arrangements for Course Delivery</a:t>
            </a:r>
          </a:p>
        </p:txBody>
      </p:sp>
      <p:sp>
        <p:nvSpPr>
          <p:cNvPr id="3" name="Content Placeholder 2"/>
          <p:cNvSpPr>
            <a:spLocks noGrp="1"/>
          </p:cNvSpPr>
          <p:nvPr>
            <p:ph idx="1"/>
          </p:nvPr>
        </p:nvSpPr>
        <p:spPr>
          <a:xfrm>
            <a:off x="1358978" y="2062692"/>
            <a:ext cx="9852644" cy="3694641"/>
          </a:xfrm>
        </p:spPr>
        <p:txBody>
          <a:bodyPr>
            <a:normAutofit lnSpcReduction="10000"/>
          </a:bodyPr>
          <a:lstStyle/>
          <a:p>
            <a:r>
              <a:rPr lang="en-IE" dirty="0"/>
              <a:t>All course materials (lecture notes, activities, resources via Moodle page). </a:t>
            </a:r>
          </a:p>
          <a:p>
            <a:r>
              <a:rPr lang="en-IE" dirty="0"/>
              <a:t>Main Moodle Page: </a:t>
            </a:r>
            <a:r>
              <a:rPr lang="en-IE" b="1" i="0" dirty="0">
                <a:solidFill>
                  <a:srgbClr val="1D2125"/>
                </a:solidFill>
                <a:effectLst/>
                <a:latin typeface="-apple-system"/>
              </a:rPr>
              <a:t>MSCCLOUD</a:t>
            </a:r>
          </a:p>
          <a:p>
            <a:r>
              <a:rPr lang="en-IE" dirty="0"/>
              <a:t>Self Enrolment Link: </a:t>
            </a:r>
            <a:r>
              <a:rPr lang="en-IE" dirty="0">
                <a:hlinkClick r:id="rId3"/>
              </a:rPr>
              <a:t>https://moodle2025.ncirl.ie/course/view.php?id=1382</a:t>
            </a:r>
            <a:endParaRPr lang="en-IE" dirty="0"/>
          </a:p>
          <a:p>
            <a:r>
              <a:rPr lang="en-IE" dirty="0"/>
              <a:t>Lecture and Tutorials (Week 2 onwards): </a:t>
            </a:r>
            <a:r>
              <a:rPr lang="en-IE" b="1" dirty="0"/>
              <a:t>Theatre 2, Mayor Square Building</a:t>
            </a:r>
          </a:p>
          <a:p>
            <a:r>
              <a:rPr lang="en-IE" b="1" dirty="0"/>
              <a:t>10:00 – 12:00 pm lecture</a:t>
            </a:r>
          </a:p>
          <a:p>
            <a:r>
              <a:rPr lang="en-IE" b="1" dirty="0"/>
              <a:t>09:00 – 10:00 Group A tutorial, 12:00 – 13:00 Group B tutorial</a:t>
            </a:r>
          </a:p>
          <a:p>
            <a:r>
              <a:rPr lang="en-IE" dirty="0"/>
              <a:t>Normally try to take a 10/15 minute comfort break around 11:00</a:t>
            </a:r>
          </a:p>
        </p:txBody>
      </p:sp>
    </p:spTree>
    <p:extLst>
      <p:ext uri="{BB962C8B-B14F-4D97-AF65-F5344CB8AC3E}">
        <p14:creationId xmlns:p14="http://schemas.microsoft.com/office/powerpoint/2010/main" val="42776504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1963A-BB65-4168-BF67-67F8B8A89A94}"/>
              </a:ext>
            </a:extLst>
          </p:cNvPr>
          <p:cNvSpPr>
            <a:spLocks noGrp="1"/>
          </p:cNvSpPr>
          <p:nvPr>
            <p:ph type="title"/>
          </p:nvPr>
        </p:nvSpPr>
        <p:spPr/>
        <p:txBody>
          <a:bodyPr/>
          <a:lstStyle/>
          <a:p>
            <a:r>
              <a:rPr lang="en-US" dirty="0"/>
              <a:t>Course Assessment</a:t>
            </a:r>
            <a:endParaRPr lang="en-IE" dirty="0"/>
          </a:p>
        </p:txBody>
      </p:sp>
      <p:sp>
        <p:nvSpPr>
          <p:cNvPr id="3" name="Content Placeholder 2">
            <a:extLst>
              <a:ext uri="{FF2B5EF4-FFF2-40B4-BE49-F238E27FC236}">
                <a16:creationId xmlns:a16="http://schemas.microsoft.com/office/drawing/2014/main" id="{D5B3677E-8EE6-4F69-A1C2-BB7F2C316AC9}"/>
              </a:ext>
            </a:extLst>
          </p:cNvPr>
          <p:cNvSpPr>
            <a:spLocks noGrp="1"/>
          </p:cNvSpPr>
          <p:nvPr>
            <p:ph idx="1"/>
          </p:nvPr>
        </p:nvSpPr>
        <p:spPr>
          <a:xfrm>
            <a:off x="1097280" y="2108201"/>
            <a:ext cx="10058400" cy="4081584"/>
          </a:xfrm>
        </p:spPr>
        <p:txBody>
          <a:bodyPr>
            <a:noAutofit/>
          </a:bodyPr>
          <a:lstStyle/>
          <a:p>
            <a:r>
              <a:rPr lang="en-US" sz="2400" dirty="0"/>
              <a:t>Extent to which students meet learning objectives assessed as follows:</a:t>
            </a:r>
          </a:p>
          <a:p>
            <a:pPr algn="l"/>
            <a:r>
              <a:rPr lang="en-IE" sz="2400" dirty="0"/>
              <a:t>Assessment Type: </a:t>
            </a:r>
            <a:r>
              <a:rPr lang="en-IE" sz="2400" b="1" dirty="0"/>
              <a:t>Continuous Assessment</a:t>
            </a:r>
          </a:p>
          <a:p>
            <a:pPr algn="l"/>
            <a:r>
              <a:rPr lang="en-IE" sz="2400" dirty="0"/>
              <a:t>This assessment element will assess learners’ insights and evaluation of ethical issues that are related to their own research work.</a:t>
            </a:r>
          </a:p>
          <a:p>
            <a:pPr>
              <a:buFont typeface="Wingdings" pitchFamily="2" charset="2"/>
              <a:buChar char="§"/>
            </a:pPr>
            <a:r>
              <a:rPr lang="en-IE" sz="2400" dirty="0"/>
              <a:t> % of total: </a:t>
            </a:r>
            <a:r>
              <a:rPr lang="en-IE" sz="2400" b="1" dirty="0"/>
              <a:t>40</a:t>
            </a:r>
          </a:p>
          <a:p>
            <a:pPr>
              <a:buFont typeface="Wingdings" pitchFamily="2" charset="2"/>
              <a:buChar char="§"/>
            </a:pPr>
            <a:r>
              <a:rPr lang="en-IE" sz="2400" dirty="0"/>
              <a:t> Assessment Due: 9</a:t>
            </a:r>
            <a:r>
              <a:rPr lang="en-IE" sz="2400" baseline="30000" dirty="0"/>
              <a:t>th</a:t>
            </a:r>
            <a:r>
              <a:rPr lang="en-IE" sz="2400" dirty="0"/>
              <a:t> July 2026</a:t>
            </a:r>
          </a:p>
          <a:p>
            <a:pPr>
              <a:buFont typeface="Wingdings" pitchFamily="2" charset="2"/>
              <a:buChar char="§"/>
            </a:pPr>
            <a:r>
              <a:rPr lang="en-IE" sz="2400" dirty="0"/>
              <a:t> Learning Outcomes addressed: 1,2,3</a:t>
            </a:r>
          </a:p>
          <a:p>
            <a:pPr algn="l"/>
            <a:r>
              <a:rPr lang="en-IE" sz="1800" dirty="0"/>
              <a:t> </a:t>
            </a:r>
          </a:p>
        </p:txBody>
      </p:sp>
      <p:sp>
        <p:nvSpPr>
          <p:cNvPr id="7" name="Slide Number Placeholder 6">
            <a:extLst>
              <a:ext uri="{FF2B5EF4-FFF2-40B4-BE49-F238E27FC236}">
                <a16:creationId xmlns:a16="http://schemas.microsoft.com/office/drawing/2014/main" id="{A64F5750-A64D-4A84-B8F2-76C96DC9B379}"/>
              </a:ext>
            </a:extLst>
          </p:cNvPr>
          <p:cNvSpPr>
            <a:spLocks noGrp="1"/>
          </p:cNvSpPr>
          <p:nvPr>
            <p:ph type="sldNum" sz="quarter" idx="12"/>
          </p:nvPr>
        </p:nvSpPr>
        <p:spPr/>
        <p:txBody>
          <a:bodyPr/>
          <a:lstStyle/>
          <a:p>
            <a:fld id="{3A98EE3D-8CD1-4C3F-BD1C-C98C9596463C}" type="slidenum">
              <a:rPr lang="en-US" smtClean="0"/>
              <a:t>7</a:t>
            </a:fld>
            <a:endParaRPr lang="en-US" dirty="0"/>
          </a:p>
        </p:txBody>
      </p:sp>
    </p:spTree>
    <p:extLst>
      <p:ext uri="{BB962C8B-B14F-4D97-AF65-F5344CB8AC3E}">
        <p14:creationId xmlns:p14="http://schemas.microsoft.com/office/powerpoint/2010/main" val="1772848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A1902-649E-4EE3-3B98-CBA6B84676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1D0B6-C186-5C89-F7A0-6E9D4E12C00C}"/>
              </a:ext>
            </a:extLst>
          </p:cNvPr>
          <p:cNvSpPr>
            <a:spLocks noGrp="1"/>
          </p:cNvSpPr>
          <p:nvPr>
            <p:ph type="title"/>
          </p:nvPr>
        </p:nvSpPr>
        <p:spPr/>
        <p:txBody>
          <a:bodyPr/>
          <a:lstStyle/>
          <a:p>
            <a:r>
              <a:rPr lang="en-US" dirty="0"/>
              <a:t>Course Assessment</a:t>
            </a:r>
            <a:endParaRPr lang="en-IE" dirty="0"/>
          </a:p>
        </p:txBody>
      </p:sp>
      <p:sp>
        <p:nvSpPr>
          <p:cNvPr id="3" name="Content Placeholder 2">
            <a:extLst>
              <a:ext uri="{FF2B5EF4-FFF2-40B4-BE49-F238E27FC236}">
                <a16:creationId xmlns:a16="http://schemas.microsoft.com/office/drawing/2014/main" id="{047A7573-7219-FA9A-8093-721DFC053085}"/>
              </a:ext>
            </a:extLst>
          </p:cNvPr>
          <p:cNvSpPr>
            <a:spLocks noGrp="1"/>
          </p:cNvSpPr>
          <p:nvPr>
            <p:ph idx="1"/>
          </p:nvPr>
        </p:nvSpPr>
        <p:spPr>
          <a:xfrm>
            <a:off x="1097280" y="2108201"/>
            <a:ext cx="10058400" cy="4081584"/>
          </a:xfrm>
        </p:spPr>
        <p:txBody>
          <a:bodyPr>
            <a:noAutofit/>
          </a:bodyPr>
          <a:lstStyle/>
          <a:p>
            <a:pPr algn="l"/>
            <a:r>
              <a:rPr lang="en-IE" sz="2400" dirty="0"/>
              <a:t>Assessment Type: </a:t>
            </a:r>
            <a:r>
              <a:rPr lang="en-IE" sz="2400" b="1" dirty="0"/>
              <a:t>Paper-based invigilated exam</a:t>
            </a:r>
          </a:p>
          <a:p>
            <a:pPr algn="l"/>
            <a:r>
              <a:rPr lang="en-IE" sz="2400" dirty="0"/>
              <a:t>This will assess learners’ knowledge, in-depth understanding and ability to appraise and address issues relating to data governance, ethics, privacy, data protection, fairness, accountability, and transparency of algorithmic systems .</a:t>
            </a:r>
          </a:p>
          <a:p>
            <a:pPr algn="l">
              <a:buFont typeface="Wingdings" pitchFamily="2" charset="2"/>
              <a:buChar char="§"/>
            </a:pPr>
            <a:r>
              <a:rPr lang="en-IE" sz="2400" dirty="0"/>
              <a:t> % of total: </a:t>
            </a:r>
            <a:r>
              <a:rPr lang="en-IE" sz="2400" b="1" dirty="0"/>
              <a:t>60</a:t>
            </a:r>
          </a:p>
          <a:p>
            <a:pPr algn="l">
              <a:buFont typeface="Wingdings" pitchFamily="2" charset="2"/>
              <a:buChar char="§"/>
            </a:pPr>
            <a:r>
              <a:rPr lang="en-IE" sz="2400" dirty="0"/>
              <a:t> Assessment Due: Exams Period (4</a:t>
            </a:r>
            <a:r>
              <a:rPr lang="en-IE" sz="2400" baseline="30000" dirty="0"/>
              <a:t>th</a:t>
            </a:r>
            <a:r>
              <a:rPr lang="en-IE" sz="2400" dirty="0"/>
              <a:t> August – 22</a:t>
            </a:r>
            <a:r>
              <a:rPr lang="en-IE" sz="2400" baseline="30000" dirty="0"/>
              <a:t>nd</a:t>
            </a:r>
            <a:r>
              <a:rPr lang="en-IE" sz="2400" dirty="0"/>
              <a:t> August, 2026 ) </a:t>
            </a:r>
          </a:p>
          <a:p>
            <a:pPr algn="l">
              <a:buFont typeface="Wingdings" pitchFamily="2" charset="2"/>
              <a:buChar char="§"/>
            </a:pPr>
            <a:r>
              <a:rPr lang="en-IE" sz="2400" dirty="0"/>
              <a:t> Learning Outcome(s) addressed: 1,2,3</a:t>
            </a:r>
          </a:p>
          <a:p>
            <a:pPr algn="l"/>
            <a:r>
              <a:rPr lang="en-IE" sz="1800" dirty="0"/>
              <a:t> </a:t>
            </a:r>
          </a:p>
        </p:txBody>
      </p:sp>
      <p:sp>
        <p:nvSpPr>
          <p:cNvPr id="7" name="Slide Number Placeholder 6">
            <a:extLst>
              <a:ext uri="{FF2B5EF4-FFF2-40B4-BE49-F238E27FC236}">
                <a16:creationId xmlns:a16="http://schemas.microsoft.com/office/drawing/2014/main" id="{977E6295-62EA-7030-B4E0-FAA7C2E5E877}"/>
              </a:ext>
            </a:extLst>
          </p:cNvPr>
          <p:cNvSpPr>
            <a:spLocks noGrp="1"/>
          </p:cNvSpPr>
          <p:nvPr>
            <p:ph type="sldNum" sz="quarter" idx="12"/>
          </p:nvPr>
        </p:nvSpPr>
        <p:spPr/>
        <p:txBody>
          <a:bodyPr/>
          <a:lstStyle/>
          <a:p>
            <a:fld id="{3A98EE3D-8CD1-4C3F-BD1C-C98C9596463C}" type="slidenum">
              <a:rPr lang="en-US" smtClean="0"/>
              <a:t>8</a:t>
            </a:fld>
            <a:endParaRPr lang="en-US" dirty="0"/>
          </a:p>
        </p:txBody>
      </p:sp>
    </p:spTree>
    <p:extLst>
      <p:ext uri="{BB962C8B-B14F-4D97-AF65-F5344CB8AC3E}">
        <p14:creationId xmlns:p14="http://schemas.microsoft.com/office/powerpoint/2010/main" val="2891558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D99079"/>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17C51A2-3966-4119-9892-5C4C4BC79CBD}"/>
              </a:ext>
            </a:extLst>
          </p:cNvPr>
          <p:cNvSpPr>
            <a:spLocks noGrp="1"/>
          </p:cNvSpPr>
          <p:nvPr>
            <p:ph type="title"/>
          </p:nvPr>
        </p:nvSpPr>
        <p:spPr>
          <a:xfrm>
            <a:off x="492370" y="516836"/>
            <a:ext cx="3084844" cy="1961086"/>
          </a:xfrm>
        </p:spPr>
        <p:txBody>
          <a:bodyPr>
            <a:normAutofit/>
          </a:bodyPr>
          <a:lstStyle/>
          <a:p>
            <a:r>
              <a:rPr lang="en-US" sz="4000">
                <a:solidFill>
                  <a:srgbClr val="FFFFFF"/>
                </a:solidFill>
              </a:rPr>
              <a:t>Course readings and resources</a:t>
            </a:r>
            <a:endParaRPr lang="en-IE" sz="4000">
              <a:solidFill>
                <a:srgbClr val="FFFFFF"/>
              </a:solidFill>
            </a:endParaRPr>
          </a:p>
        </p:txBody>
      </p:sp>
      <p:cxnSp>
        <p:nvCxnSpPr>
          <p:cNvPr id="33" name="Straight Connector 32">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3987589-F638-4D4F-8D4B-A79FF4156A45}"/>
              </a:ext>
            </a:extLst>
          </p:cNvPr>
          <p:cNvSpPr>
            <a:spLocks noGrp="1"/>
          </p:cNvSpPr>
          <p:nvPr>
            <p:ph idx="1"/>
          </p:nvPr>
        </p:nvSpPr>
        <p:spPr>
          <a:xfrm>
            <a:off x="571752" y="2799654"/>
            <a:ext cx="3005462" cy="3189665"/>
          </a:xfrm>
        </p:spPr>
        <p:txBody>
          <a:bodyPr>
            <a:normAutofit/>
          </a:bodyPr>
          <a:lstStyle/>
          <a:p>
            <a:pPr marL="0" indent="0">
              <a:lnSpc>
                <a:spcPct val="100000"/>
              </a:lnSpc>
              <a:spcBef>
                <a:spcPts val="600"/>
              </a:spcBef>
              <a:spcAft>
                <a:spcPts val="600"/>
              </a:spcAft>
              <a:buSzPts val="1000"/>
              <a:buNone/>
              <a:tabLst>
                <a:tab pos="457200" algn="l"/>
              </a:tabLst>
            </a:pPr>
            <a:r>
              <a:rPr lang="en-US" sz="1500" dirty="0">
                <a:solidFill>
                  <a:srgbClr val="FFFFFF"/>
                </a:solidFill>
                <a:latin typeface="Calibri" panose="020F0502020204030204" pitchFamily="34" charset="0"/>
              </a:rPr>
              <a:t>Online access to several readings will be made available through the Moodle page</a:t>
            </a:r>
          </a:p>
          <a:p>
            <a:pPr marL="0" indent="0">
              <a:lnSpc>
                <a:spcPct val="100000"/>
              </a:lnSpc>
              <a:spcBef>
                <a:spcPts val="600"/>
              </a:spcBef>
              <a:spcAft>
                <a:spcPts val="600"/>
              </a:spcAft>
              <a:buSzPts val="1000"/>
              <a:buNone/>
              <a:tabLst>
                <a:tab pos="457200" algn="l"/>
              </a:tabLst>
            </a:pPr>
            <a:r>
              <a:rPr lang="en-US" sz="1500" dirty="0">
                <a:solidFill>
                  <a:srgbClr val="FFFFFF"/>
                </a:solidFill>
                <a:latin typeface="Calibri" panose="020F0502020204030204" pitchFamily="34" charset="0"/>
              </a:rPr>
              <a:t>Specific chapter/papers/articles will be indicated in the section for the weekly lecture</a:t>
            </a:r>
          </a:p>
          <a:p>
            <a:pPr marL="0" indent="0">
              <a:lnSpc>
                <a:spcPct val="100000"/>
              </a:lnSpc>
              <a:spcBef>
                <a:spcPts val="600"/>
              </a:spcBef>
              <a:spcAft>
                <a:spcPts val="600"/>
              </a:spcAft>
              <a:buSzPts val="1000"/>
              <a:buNone/>
              <a:tabLst>
                <a:tab pos="457200" algn="l"/>
              </a:tabLst>
            </a:pPr>
            <a:r>
              <a:rPr lang="en-US" sz="1500" dirty="0">
                <a:solidFill>
                  <a:srgbClr val="FFFFFF"/>
                </a:solidFill>
                <a:latin typeface="Calibri" panose="020F0502020204030204" pitchFamily="34" charset="0"/>
              </a:rPr>
              <a:t>Other readings will be added as appropriate</a:t>
            </a:r>
          </a:p>
          <a:p>
            <a:pPr marL="0" indent="0">
              <a:lnSpc>
                <a:spcPct val="100000"/>
              </a:lnSpc>
              <a:spcBef>
                <a:spcPts val="600"/>
              </a:spcBef>
              <a:spcAft>
                <a:spcPts val="600"/>
              </a:spcAft>
              <a:buSzPts val="1000"/>
              <a:buNone/>
              <a:tabLst>
                <a:tab pos="457200" algn="l"/>
              </a:tabLst>
            </a:pPr>
            <a:endParaRPr lang="en-US" sz="1500" dirty="0">
              <a:solidFill>
                <a:srgbClr val="FFFFFF"/>
              </a:solidFill>
              <a:latin typeface="Calibri" panose="020F0502020204030204" pitchFamily="34" charset="0"/>
            </a:endParaRPr>
          </a:p>
          <a:p>
            <a:pPr marL="0" indent="0">
              <a:lnSpc>
                <a:spcPct val="100000"/>
              </a:lnSpc>
              <a:spcBef>
                <a:spcPts val="600"/>
              </a:spcBef>
              <a:spcAft>
                <a:spcPts val="600"/>
              </a:spcAft>
              <a:buSzPts val="1000"/>
              <a:buNone/>
              <a:tabLst>
                <a:tab pos="457200" algn="l"/>
              </a:tabLst>
            </a:pPr>
            <a:r>
              <a:rPr lang="en-US" sz="1500" dirty="0">
                <a:solidFill>
                  <a:srgbClr val="FFFFFF"/>
                </a:solidFill>
                <a:latin typeface="Calibri" panose="020F0502020204030204" pitchFamily="34" charset="0"/>
              </a:rPr>
              <a:t> </a:t>
            </a:r>
            <a:endParaRPr lang="en-IE" sz="1500" dirty="0">
              <a:solidFill>
                <a:srgbClr val="FFFFFF"/>
              </a:solidFill>
              <a:latin typeface="Calibri" panose="020F0502020204030204" pitchFamily="34" charset="0"/>
            </a:endParaRPr>
          </a:p>
        </p:txBody>
      </p:sp>
      <p:sp>
        <p:nvSpPr>
          <p:cNvPr id="4" name="Slide Number Placeholder 3">
            <a:extLst>
              <a:ext uri="{FF2B5EF4-FFF2-40B4-BE49-F238E27FC236}">
                <a16:creationId xmlns:a16="http://schemas.microsoft.com/office/drawing/2014/main" id="{C87B4B76-B993-46BA-AD1D-0CFA274DD209}"/>
              </a:ext>
            </a:extLst>
          </p:cNvPr>
          <p:cNvSpPr>
            <a:spLocks noGrp="1"/>
          </p:cNvSpPr>
          <p:nvPr>
            <p:ph type="sldNum" sz="quarter" idx="12"/>
          </p:nvPr>
        </p:nvSpPr>
        <p:spPr>
          <a:xfrm>
            <a:off x="10993582" y="6446838"/>
            <a:ext cx="780010" cy="365125"/>
          </a:xfrm>
        </p:spPr>
        <p:txBody>
          <a:bodyPr>
            <a:normAutofit/>
          </a:bodyPr>
          <a:lstStyle/>
          <a:p>
            <a:pPr>
              <a:spcAft>
                <a:spcPts val="600"/>
              </a:spcAft>
            </a:pPr>
            <a:fld id="{3A98EE3D-8CD1-4C3F-BD1C-C98C9596463C}" type="slidenum">
              <a:rPr lang="en-US" smtClean="0">
                <a:solidFill>
                  <a:schemeClr val="tx1">
                    <a:lumMod val="85000"/>
                    <a:lumOff val="15000"/>
                  </a:schemeClr>
                </a:solidFill>
              </a:rPr>
              <a:pPr>
                <a:spcAft>
                  <a:spcPts val="600"/>
                </a:spcAft>
              </a:pPr>
              <a:t>9</a:t>
            </a:fld>
            <a:endParaRPr lang="en-US">
              <a:solidFill>
                <a:schemeClr val="tx1">
                  <a:lumMod val="85000"/>
                  <a:lumOff val="15000"/>
                </a:schemeClr>
              </a:solidFill>
            </a:endParaRPr>
          </a:p>
        </p:txBody>
      </p:sp>
      <p:pic>
        <p:nvPicPr>
          <p:cNvPr id="6" name="Picture 5" descr="A screenshot of a computer&#10;&#10;Description automatically generated">
            <a:extLst>
              <a:ext uri="{FF2B5EF4-FFF2-40B4-BE49-F238E27FC236}">
                <a16:creationId xmlns:a16="http://schemas.microsoft.com/office/drawing/2014/main" id="{8E027790-8539-2B03-36EB-86600D090F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5429" y="291560"/>
            <a:ext cx="6841083" cy="3798301"/>
          </a:xfrm>
          <a:prstGeom prst="rect">
            <a:avLst/>
          </a:prstGeom>
        </p:spPr>
      </p:pic>
      <p:pic>
        <p:nvPicPr>
          <p:cNvPr id="9" name="Picture 8" descr="A close-up of a screen&#10;&#10;Description automatically generated">
            <a:extLst>
              <a:ext uri="{FF2B5EF4-FFF2-40B4-BE49-F238E27FC236}">
                <a16:creationId xmlns:a16="http://schemas.microsoft.com/office/drawing/2014/main" id="{89D907D7-3882-17A0-37F6-CA626DCF67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2717" y="4722131"/>
            <a:ext cx="7378700" cy="1257300"/>
          </a:xfrm>
          <a:prstGeom prst="rect">
            <a:avLst/>
          </a:prstGeom>
        </p:spPr>
      </p:pic>
    </p:spTree>
    <p:extLst>
      <p:ext uri="{BB962C8B-B14F-4D97-AF65-F5344CB8AC3E}">
        <p14:creationId xmlns:p14="http://schemas.microsoft.com/office/powerpoint/2010/main" val="3272310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8D8B4-8BB7-404D-A91C-D79948C8CA9D}"/>
              </a:ext>
            </a:extLst>
          </p:cNvPr>
          <p:cNvSpPr>
            <a:spLocks noGrp="1"/>
          </p:cNvSpPr>
          <p:nvPr>
            <p:ph type="title"/>
          </p:nvPr>
        </p:nvSpPr>
        <p:spPr/>
        <p:txBody>
          <a:bodyPr/>
          <a:lstStyle/>
          <a:p>
            <a:r>
              <a:rPr lang="en-US" dirty="0"/>
              <a:t>Questions?</a:t>
            </a:r>
            <a:endParaRPr lang="en-IE" dirty="0"/>
          </a:p>
        </p:txBody>
      </p:sp>
      <p:pic>
        <p:nvPicPr>
          <p:cNvPr id="6" name="Content Placeholder 5" descr="Sticky notes with question marks">
            <a:extLst>
              <a:ext uri="{FF2B5EF4-FFF2-40B4-BE49-F238E27FC236}">
                <a16:creationId xmlns:a16="http://schemas.microsoft.com/office/drawing/2014/main" id="{C06A57DC-11FE-4E24-8CAD-7E272A01F3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05572" y="2108200"/>
            <a:ext cx="5641182" cy="3760788"/>
          </a:xfrm>
        </p:spPr>
      </p:pic>
      <p:sp>
        <p:nvSpPr>
          <p:cNvPr id="4" name="Slide Number Placeholder 3">
            <a:extLst>
              <a:ext uri="{FF2B5EF4-FFF2-40B4-BE49-F238E27FC236}">
                <a16:creationId xmlns:a16="http://schemas.microsoft.com/office/drawing/2014/main" id="{E1A21492-FB9C-4465-B2CD-BB3FE9170E4E}"/>
              </a:ext>
            </a:extLst>
          </p:cNvPr>
          <p:cNvSpPr>
            <a:spLocks noGrp="1"/>
          </p:cNvSpPr>
          <p:nvPr>
            <p:ph type="sldNum" sz="quarter" idx="12"/>
          </p:nvPr>
        </p:nvSpPr>
        <p:spPr/>
        <p:txBody>
          <a:bodyPr/>
          <a:lstStyle/>
          <a:p>
            <a:fld id="{3A98EE3D-8CD1-4C3F-BD1C-C98C9596463C}" type="slidenum">
              <a:rPr lang="en-US" smtClean="0"/>
              <a:t>10</a:t>
            </a:fld>
            <a:endParaRPr lang="en-US" dirty="0"/>
          </a:p>
        </p:txBody>
      </p:sp>
    </p:spTree>
    <p:extLst>
      <p:ext uri="{BB962C8B-B14F-4D97-AF65-F5344CB8AC3E}">
        <p14:creationId xmlns:p14="http://schemas.microsoft.com/office/powerpoint/2010/main" val="3116460169"/>
      </p:ext>
    </p:extLst>
  </p:cSld>
  <p:clrMapOvr>
    <a:masterClrMapping/>
  </p:clrMapOvr>
</p:sld>
</file>

<file path=ppt/theme/theme1.xml><?xml version="1.0" encoding="utf-8"?>
<a:theme xmlns:a="http://schemas.openxmlformats.org/drawingml/2006/main" name="RetrospectVTI">
  <a:themeElements>
    <a:clrScheme name="AnalogousFromLightSeedRightStep">
      <a:dk1>
        <a:srgbClr val="000000"/>
      </a:dk1>
      <a:lt1>
        <a:srgbClr val="FFFFFF"/>
      </a:lt1>
      <a:dk2>
        <a:srgbClr val="413724"/>
      </a:dk2>
      <a:lt2>
        <a:srgbClr val="E2E7E8"/>
      </a:lt2>
      <a:accent1>
        <a:srgbClr val="D99079"/>
      </a:accent1>
      <a:accent2>
        <a:srgbClr val="C39D57"/>
      </a:accent2>
      <a:accent3>
        <a:srgbClr val="A1A662"/>
      </a:accent3>
      <a:accent4>
        <a:srgbClr val="84B054"/>
      </a:accent4>
      <a:accent5>
        <a:srgbClr val="66B55E"/>
      </a:accent5>
      <a:accent6>
        <a:srgbClr val="56B474"/>
      </a:accent6>
      <a:hlink>
        <a:srgbClr val="5C8A99"/>
      </a:hlink>
      <a:folHlink>
        <a:srgbClr val="828282"/>
      </a:folHlink>
    </a:clrScheme>
    <a:fontScheme name="Retrospect">
      <a:majorFont>
        <a:latin typeface="Tw Cen M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3011</TotalTime>
  <Words>545</Words>
  <Application>Microsoft Office PowerPoint</Application>
  <PresentationFormat>Widescreen</PresentationFormat>
  <Paragraphs>75</Paragraphs>
  <Slides>10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-apple-system</vt:lpstr>
      <vt:lpstr>Calibri</vt:lpstr>
      <vt:lpstr>Raleway</vt:lpstr>
      <vt:lpstr>Tw Cen MT</vt:lpstr>
      <vt:lpstr>Wingdings</vt:lpstr>
      <vt:lpstr>RetrospectVTI</vt:lpstr>
      <vt:lpstr>Data Governance, Compliance and Ethics</vt:lpstr>
      <vt:lpstr>Overview</vt:lpstr>
      <vt:lpstr>Module Team</vt:lpstr>
      <vt:lpstr>Staying connected</vt:lpstr>
      <vt:lpstr>Learning Outcomes (MSCCLOUD)</vt:lpstr>
      <vt:lpstr>Arrangements for Course Delivery</vt:lpstr>
      <vt:lpstr>Course Assessment</vt:lpstr>
      <vt:lpstr>Course Assessment</vt:lpstr>
      <vt:lpstr>Course readings and resources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Governance and Ethics</dc:title>
  <dc:creator>John Bohan</dc:creator>
  <cp:lastModifiedBy>Vikas Sahni</cp:lastModifiedBy>
  <cp:revision>59</cp:revision>
  <dcterms:created xsi:type="dcterms:W3CDTF">2020-09-21T11:27:59Z</dcterms:created>
  <dcterms:modified xsi:type="dcterms:W3CDTF">2026-05-18T09:58:27Z</dcterms:modified>
</cp:coreProperties>
</file>