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7" r:id="rId5"/>
    <p:sldId id="291" r:id="rId6"/>
    <p:sldId id="900" r:id="rId7"/>
    <p:sldId id="901" r:id="rId8"/>
    <p:sldId id="902" r:id="rId9"/>
    <p:sldId id="903" r:id="rId10"/>
    <p:sldId id="904" r:id="rId11"/>
    <p:sldId id="905" r:id="rId12"/>
    <p:sldId id="906" r:id="rId13"/>
    <p:sldId id="908" r:id="rId14"/>
    <p:sldId id="915" r:id="rId15"/>
    <p:sldId id="916" r:id="rId16"/>
    <p:sldId id="917" r:id="rId17"/>
    <p:sldId id="918" r:id="rId18"/>
    <p:sldId id="919" r:id="rId19"/>
    <p:sldId id="920" r:id="rId20"/>
    <p:sldId id="921" r:id="rId21"/>
    <p:sldId id="923" r:id="rId22"/>
    <p:sldId id="924" r:id="rId23"/>
    <p:sldId id="925" r:id="rId24"/>
    <p:sldId id="926" r:id="rId25"/>
    <p:sldId id="50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CF223D-BBBF-F842-F496-CD25BDC593C7}" name="Guest User" initials="GU" userId="S::urn:spo:anon#4304822281a88d9562b6b12501ce2a560fe442346c3fb0db45fb61d81d136e56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89DEDA-D87F-C8A7-0F1A-A7E1ADEDBCCD}" v="160" dt="2024-10-23T10:59:35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0383" autoAdjust="0"/>
  </p:normalViewPr>
  <p:slideViewPr>
    <p:cSldViewPr snapToGrid="0">
      <p:cViewPr varScale="1">
        <p:scale>
          <a:sx n="41" d="100"/>
          <a:sy n="41" d="100"/>
        </p:scale>
        <p:origin x="831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13585-F2F7-4CAB-A4E4-1512BB9B545B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69316-F612-48C3-B1C7-701A2C12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3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Lab 10 - https://microsoftlearning.github.io/AZ-104-MicrosoftAzureAdministrator/Instructions/Labs/LAB_10-Implement_Data_Protection.html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288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30F-11CB-4A38-D5FC-43AB22400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EC942-BB8A-34AC-C497-D4FD2BED0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584A-C19D-2D97-0AF6-751B4D27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7BBA-1403-8ADF-3C89-1C56F6A7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4B5EE-694E-0DD6-FBBC-DAEE073B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3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5A2D-7795-829E-0317-35A6629C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A543-0209-7742-9E7A-1C9448B44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7CC4-06DF-0598-CF9B-17940CC1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7B6F1-E547-28F3-214B-E14FA297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87C7-35CB-E756-85E9-6ED61FF7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6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13AF-764B-9BED-839B-1F2548D9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1ABD-DC52-E5BB-2552-51A8C55B3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81113-125C-2AC5-EA8C-E51F7236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0F60A-D639-FC0E-6607-3F9FDD3D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21C5-E274-8177-0A84-61FBD13E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4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8B2C-B56C-65F9-D55A-03C41560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C924-40A7-CCC5-5467-954F49538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46483-F4A5-9F85-2F36-57685DC1C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92291-7FB4-9BC0-C08C-602E7E48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FF5A3-AFC2-83AF-3AC5-A2DFC37C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1BCC1-B192-509A-B182-FDA38BEC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6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9D4F-6499-4E62-6BC4-A864B371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5EE0A-2D64-6EA3-C393-6A793B336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FDC3-5665-D55A-BF31-4799773D5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0E72C-7203-963D-54C2-7C5F8F9DD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B9FA4-2C32-85B9-E44F-E043C5711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A284C-82E5-0258-95ED-C939210B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87524-7C83-6978-13D2-68242941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0B3A0-9328-56ED-6165-5FE6725B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9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C313-A857-D2B6-4972-603A3209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E6E7C-9E05-38A0-50E5-475C61D1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5942B-9E3E-FE6B-DB1B-2B40E1C4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D417-DE49-E1CE-4813-90A27590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7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5A62D-5E35-4978-A21D-015D67A6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C7063-316D-7692-711E-1145293C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6D14C-0A1E-DA44-3394-36812D4E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22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4731-C279-E9B4-1350-D01064C5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4481-22CF-C3C5-7B97-22D9E52F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30EE-D49D-6439-35A7-D564C5416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7929C-043F-5FF4-6D6D-171B825F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329F1-C192-1700-B843-D4B943C3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8F1DF-4A4F-C67D-BE2E-1FE4CA53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37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8093-BF6B-B264-E311-398794DE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AD7C6-1734-B469-30B7-4A42BB717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E643E-D7E3-7AB3-F45D-CE539AA7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95D1-052E-D029-A14D-9768E55A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11458-BD09-D7A2-90F1-22EA0A4D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AD0DC-C873-E862-BD92-71ED2A4C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7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3DAD-FBC8-F5A7-4DFF-0EB88A10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120F-9120-CC06-97E9-33733579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3293-6891-933A-C374-086A5CDA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EA86-1716-99FC-624F-78142245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BAD29-F34E-E7C3-A14F-532F8C89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39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E1245-A4CF-CE70-BB65-F95B54A0B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C1FE-EE55-4B51-5B5A-E44581E04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06AF-DE1E-E1BF-5B20-319686EA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84D1-B61C-0604-F16A-3DAE3869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F065-EA66-D400-5822-2008989B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78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B1CA2-ECC1-4762-AAEA-FADDBF94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8F6B0-B57E-519B-311D-89ED4289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5897C-4441-701B-8C16-69E4C437F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4CA72-CAC1-4B24-B91B-249F70378C1E}" type="datetimeFigureOut">
              <a:rPr lang="en-IN" smtClean="0"/>
              <a:t>25-11-2024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07FF-709C-AC63-F960-09B72AA04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18F4-90CC-DE76-BC3D-75D676446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training/modules/protect-infrastructure-with-site-recovery/" TargetMode="Externa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7.svg"/><Relationship Id="rId3" Type="http://schemas.openxmlformats.org/officeDocument/2006/relationships/image" Target="../media/image3.emf"/><Relationship Id="rId7" Type="http://schemas.openxmlformats.org/officeDocument/2006/relationships/image" Target="../media/image19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5.emf"/><Relationship Id="rId15" Type="http://schemas.openxmlformats.org/officeDocument/2006/relationships/image" Target="../media/image25.svg"/><Relationship Id="rId10" Type="http://schemas.openxmlformats.org/officeDocument/2006/relationships/image" Target="../media/image22.png"/><Relationship Id="rId4" Type="http://schemas.openxmlformats.org/officeDocument/2006/relationships/image" Target="../media/image4.emf"/><Relationship Id="rId9" Type="http://schemas.openxmlformats.org/officeDocument/2006/relationships/image" Target="../media/image21.svg"/><Relationship Id="rId1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9679C1-BC8C-6DA1-DAAC-A17D4D80D152}"/>
              </a:ext>
            </a:extLst>
          </p:cNvPr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5;p35">
            <a:extLst>
              <a:ext uri="{FF2B5EF4-FFF2-40B4-BE49-F238E27FC236}">
                <a16:creationId xmlns:a16="http://schemas.microsoft.com/office/drawing/2014/main" id="{291948C9-9A2C-87BE-CE08-117DF3B40FEB}"/>
              </a:ext>
            </a:extLst>
          </p:cNvPr>
          <p:cNvSpPr txBox="1"/>
          <p:nvPr/>
        </p:nvSpPr>
        <p:spPr>
          <a:xfrm>
            <a:off x="1238600" y="3025047"/>
            <a:ext cx="10320821" cy="141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IN" sz="2400" b="1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Course: </a:t>
            </a: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Mastering Microsoft Azure	</a:t>
            </a: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IN" sz="2400" b="1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on:</a:t>
            </a:r>
            <a:endParaRPr lang="en-IN" sz="2400" b="1">
              <a:solidFill>
                <a:srgbClr val="004F9B"/>
              </a:solidFill>
              <a:latin typeface="Proxima Nova"/>
              <a:ea typeface="Proxima Nova"/>
              <a:cs typeface="Proxima Nova"/>
            </a:endParaRP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Instructor:</a:t>
            </a:r>
            <a:r>
              <a:rPr lang="en-IN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Siddhesh Prabhugaonkar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8B53D-9306-9D48-39AC-6DE1ADEA2CB3}"/>
              </a:ext>
            </a:extLst>
          </p:cNvPr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23375-B8AB-D09C-AE78-7CB2ACA91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181" y="674400"/>
            <a:ext cx="1214204" cy="321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38F4F-FD5E-21E6-1E9F-FDC54ACC9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6519"/>
            <a:ext cx="2242807" cy="178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2FBDC-6DA2-B87B-EE85-C2E7BA6F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112" y="-13039"/>
            <a:ext cx="964928" cy="1220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ACF819-EB7A-C5FA-9359-22256A6A50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3151" y="6109915"/>
            <a:ext cx="940736" cy="74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E7E7C-67F5-30B2-6350-6BDF088EE9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0" y="6388576"/>
            <a:ext cx="371088" cy="4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Introduction to Azure Backup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748195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41327FC-A911-CB49-C21C-7552DB7A8F89}"/>
              </a:ext>
            </a:extLst>
          </p:cNvPr>
          <p:cNvSpPr txBox="1">
            <a:spLocks/>
          </p:cNvSpPr>
          <p:nvPr/>
        </p:nvSpPr>
        <p:spPr>
          <a:xfrm>
            <a:off x="780603" y="1523279"/>
            <a:ext cx="11530584" cy="83002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dirty="0"/>
              <a:t>Learning Objectives: Introduction to Azure Backup</a:t>
            </a:r>
            <a:endParaRPr lang="en-US" sz="4000" dirty="0">
              <a:cs typeface="Calibri Ligh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B5B9CDF-5B2B-8630-323A-E5C066C06B87}"/>
              </a:ext>
            </a:extLst>
          </p:cNvPr>
          <p:cNvSpPr txBox="1">
            <a:spLocks/>
          </p:cNvSpPr>
          <p:nvPr/>
        </p:nvSpPr>
        <p:spPr>
          <a:xfrm>
            <a:off x="572387" y="2503161"/>
            <a:ext cx="5508303" cy="353074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What is Azure Backup?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How does Azure Backup work?</a:t>
            </a:r>
            <a:endParaRPr lang="en-US" sz="2000" spc="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Implement Azure Backup Centre</a:t>
            </a:r>
            <a:endParaRPr lang="en-US" sz="2000" spc="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Demonstration: Backup Azure File Shares</a:t>
            </a:r>
            <a:endParaRPr lang="en-US" sz="2000" spc="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Learning recap</a:t>
            </a:r>
            <a:endParaRPr lang="en-US" sz="2000" spc="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FE322-3AE9-4CAB-C196-B7E742852F2F}"/>
              </a:ext>
            </a:extLst>
          </p:cNvPr>
          <p:cNvSpPr txBox="1"/>
          <p:nvPr/>
        </p:nvSpPr>
        <p:spPr>
          <a:xfrm>
            <a:off x="6545895" y="2783510"/>
            <a:ext cx="4761702" cy="29700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kern="0" dirty="0">
                <a:solidFill>
                  <a:srgbClr val="243A5E"/>
                </a:solidFill>
              </a:rPr>
              <a:t>Monitor and maintain Azure resources (10%–15%): Implement backup and recovery</a:t>
            </a: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Create a Recovery Services vault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Create an Azure Backup vault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Create and configure a backup policy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Perform backup and restore operations by using Azure Backup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Configure and interpret reports and alerts for backups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6223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5F658086-BD21-A599-E2B5-207197FBD483}"/>
              </a:ext>
            </a:extLst>
          </p:cNvPr>
          <p:cNvSpPr txBox="1">
            <a:spLocks/>
          </p:cNvSpPr>
          <p:nvPr/>
        </p:nvSpPr>
        <p:spPr>
          <a:xfrm>
            <a:off x="235346" y="967905"/>
            <a:ext cx="11530584" cy="83002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What Is Azure Backup?</a:t>
            </a:r>
          </a:p>
        </p:txBody>
      </p:sp>
      <p:grpSp>
        <p:nvGrpSpPr>
          <p:cNvPr id="11" name="Group 10" descr="Image of the Azure Backup Features.">
            <a:extLst>
              <a:ext uri="{FF2B5EF4-FFF2-40B4-BE49-F238E27FC236}">
                <a16:creationId xmlns:a16="http://schemas.microsoft.com/office/drawing/2014/main" id="{EEFEC6E6-5224-E4E7-987D-BC5F3BB2E6D2}"/>
              </a:ext>
            </a:extLst>
          </p:cNvPr>
          <p:cNvGrpSpPr/>
          <p:nvPr/>
        </p:nvGrpSpPr>
        <p:grpSpPr>
          <a:xfrm>
            <a:off x="2391087" y="2083908"/>
            <a:ext cx="6794340" cy="4630799"/>
            <a:chOff x="1666754" y="1635765"/>
            <a:chExt cx="6794340" cy="511227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C4DD5C-24B1-40EC-7F8E-68BC44161C77}"/>
                </a:ext>
              </a:extLst>
            </p:cNvPr>
            <p:cNvSpPr/>
            <p:nvPr/>
          </p:nvSpPr>
          <p:spPr bwMode="auto">
            <a:xfrm>
              <a:off x="1666754" y="1635765"/>
              <a:ext cx="6794340" cy="5112275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8947E3-32EB-99E1-7D50-9C48084A202D}"/>
                </a:ext>
              </a:extLst>
            </p:cNvPr>
            <p:cNvSpPr/>
            <p:nvPr/>
          </p:nvSpPr>
          <p:spPr bwMode="auto">
            <a:xfrm>
              <a:off x="2233915" y="2577894"/>
              <a:ext cx="5486400" cy="2112688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C378A-1F1E-6FF5-FC33-36F37B937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57006" y="1728069"/>
              <a:ext cx="830020" cy="830020"/>
            </a:xfrm>
            <a:prstGeom prst="rect">
              <a:avLst/>
            </a:prstGeom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55F93D4-0880-C388-E40B-543B5F4F8012}"/>
                </a:ext>
              </a:extLst>
            </p:cNvPr>
            <p:cNvSpPr/>
            <p:nvPr/>
          </p:nvSpPr>
          <p:spPr bwMode="auto">
            <a:xfrm>
              <a:off x="2368553" y="2757610"/>
              <a:ext cx="1954925" cy="75406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Recovery Point Management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ACD6350-765F-C98C-13C9-46901B74C8F6}"/>
                </a:ext>
              </a:extLst>
            </p:cNvPr>
            <p:cNvSpPr/>
            <p:nvPr/>
          </p:nvSpPr>
          <p:spPr bwMode="auto">
            <a:xfrm>
              <a:off x="2394554" y="3691388"/>
              <a:ext cx="1954925" cy="75406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Storage Management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F353B38-64E8-A8FA-43FE-9ADEE0FD47E3}"/>
                </a:ext>
              </a:extLst>
            </p:cNvPr>
            <p:cNvSpPr/>
            <p:nvPr/>
          </p:nvSpPr>
          <p:spPr bwMode="auto">
            <a:xfrm>
              <a:off x="5495380" y="2757610"/>
              <a:ext cx="1954925" cy="75406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Resiliency and Availability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42E752A-4ED9-27D7-BC63-34945DE7A6CB}"/>
                </a:ext>
              </a:extLst>
            </p:cNvPr>
            <p:cNvSpPr/>
            <p:nvPr/>
          </p:nvSpPr>
          <p:spPr bwMode="auto">
            <a:xfrm>
              <a:off x="5521381" y="3691388"/>
              <a:ext cx="1954925" cy="75406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Data Tiering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F5F93D8-B401-0D6E-5FFC-7504836B3C58}"/>
                </a:ext>
              </a:extLst>
            </p:cNvPr>
            <p:cNvGrpSpPr/>
            <p:nvPr/>
          </p:nvGrpSpPr>
          <p:grpSpPr>
            <a:xfrm>
              <a:off x="4452229" y="3054472"/>
              <a:ext cx="914400" cy="930337"/>
              <a:chOff x="3948812" y="2927303"/>
              <a:chExt cx="914400" cy="930337"/>
            </a:xfrm>
          </p:grpSpPr>
          <p:pic>
            <p:nvPicPr>
              <p:cNvPr id="26" name="Graphic 25" descr="Table with solid fill">
                <a:extLst>
                  <a:ext uri="{FF2B5EF4-FFF2-40B4-BE49-F238E27FC236}">
                    <a16:creationId xmlns:a16="http://schemas.microsoft.com/office/drawing/2014/main" id="{178C3D4C-1320-5A3A-E0C1-2946F8CAA8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948812" y="292730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7" name="Hexagon 26">
                <a:extLst>
                  <a:ext uri="{FF2B5EF4-FFF2-40B4-BE49-F238E27FC236}">
                    <a16:creationId xmlns:a16="http://schemas.microsoft.com/office/drawing/2014/main" id="{DD738E54-24A6-0F7C-076D-2E3F246F7932}"/>
                  </a:ext>
                </a:extLst>
              </p:cNvPr>
              <p:cNvSpPr/>
              <p:nvPr/>
            </p:nvSpPr>
            <p:spPr bwMode="auto">
              <a:xfrm>
                <a:off x="4281970" y="3400440"/>
                <a:ext cx="490918" cy="457200"/>
              </a:xfrm>
              <a:prstGeom prst="hexagon">
                <a:avLst/>
              </a:prstGeom>
              <a:solidFill>
                <a:schemeClr val="accent3">
                  <a:lumMod val="75000"/>
                  <a:lumOff val="2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6256C8-CF5F-5188-02DE-431C84AB4917}"/>
                </a:ext>
              </a:extLst>
            </p:cNvPr>
            <p:cNvSpPr txBox="1"/>
            <p:nvPr/>
          </p:nvSpPr>
          <p:spPr>
            <a:xfrm>
              <a:off x="3517115" y="1975588"/>
              <a:ext cx="3211027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Azure Backup Service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2B3B22B-B7CC-E423-4DE2-73102DCAC3B7}"/>
                </a:ext>
              </a:extLst>
            </p:cNvPr>
            <p:cNvSpPr/>
            <p:nvPr/>
          </p:nvSpPr>
          <p:spPr bwMode="auto">
            <a:xfrm>
              <a:off x="1828300" y="4888596"/>
              <a:ext cx="1954925" cy="75406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/>
                </a:rPr>
                <a:t>Multi-User </a:t>
              </a:r>
              <a:r>
                <a:rPr lang="en-US" dirty="0" err="1">
                  <a:solidFill>
                    <a:schemeClr val="tx1"/>
                  </a:solidFill>
                  <a:ea typeface="Segoe UI" pitchFamily="34" charset="0"/>
                  <a:cs typeface="Segoe UI"/>
                </a:rPr>
                <a:t>Authorisation</a:t>
              </a:r>
              <a:endParaRPr lang="en-US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90BFE19-AB93-07AB-9393-80E1545E722D}"/>
                </a:ext>
              </a:extLst>
            </p:cNvPr>
            <p:cNvSpPr/>
            <p:nvPr/>
          </p:nvSpPr>
          <p:spPr bwMode="auto">
            <a:xfrm>
              <a:off x="1828300" y="5842179"/>
              <a:ext cx="1954925" cy="75406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/>
                </a:rPr>
                <a:t>Multi-Factor Authentication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0F6BE40-4034-C05B-1196-CB2A37848DE9}"/>
                </a:ext>
              </a:extLst>
            </p:cNvPr>
            <p:cNvSpPr/>
            <p:nvPr/>
          </p:nvSpPr>
          <p:spPr bwMode="auto">
            <a:xfrm>
              <a:off x="4046206" y="4888596"/>
              <a:ext cx="1954925" cy="75406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Policy Management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E6B667A-0E64-198D-BA84-3BDA8AE2CFBD}"/>
                </a:ext>
              </a:extLst>
            </p:cNvPr>
            <p:cNvSpPr/>
            <p:nvPr/>
          </p:nvSpPr>
          <p:spPr bwMode="auto">
            <a:xfrm>
              <a:off x="4046206" y="5842179"/>
              <a:ext cx="1954925" cy="75406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Access Control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F6DF3F3-582C-CC0C-9E3D-A72F813CD833}"/>
                </a:ext>
              </a:extLst>
            </p:cNvPr>
            <p:cNvSpPr/>
            <p:nvPr/>
          </p:nvSpPr>
          <p:spPr bwMode="auto">
            <a:xfrm>
              <a:off x="6264112" y="4888857"/>
              <a:ext cx="1954925" cy="170738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Segoe UI" pitchFamily="34" charset="0"/>
                  <a:cs typeface="Segoe UI"/>
                </a:rPr>
                <a:t>Monitoring and Reporting</a:t>
              </a:r>
              <a:endParaRPr lang="en-US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5DB08F8-BB88-9C6E-F179-01FEEDA1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330044" y="3311906"/>
            <a:ext cx="28203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Azure Virtual Machines</a:t>
            </a: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Azure Managed Disks</a:t>
            </a: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Azure Files Shares</a:t>
            </a: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SQL Server in Azure VMs</a:t>
            </a: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SAP HANA databases in Azure VMs</a:t>
            </a: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Azure Database for PostgreSQL servers</a:t>
            </a: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Azure Blobs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0BEBF8-B22E-62D7-7EE7-FC2B39689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2222" y="3927691"/>
            <a:ext cx="220449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/>
                <a:cs typeface="Segoe UI"/>
              </a:rPr>
              <a:t>On-premises files, folders and system state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619634A-0211-0F51-8447-E8114129D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29" idx="0"/>
          </p:cNvCxnSpPr>
          <p:nvPr/>
        </p:nvCxnSpPr>
        <p:spPr>
          <a:xfrm rot="10800000" flipV="1">
            <a:off x="1224467" y="2937307"/>
            <a:ext cx="1166620" cy="990384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E71BBBA-F93E-2FCE-560A-B0C4B7DCC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9185427" y="2937304"/>
            <a:ext cx="1554793" cy="374602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8B2F0EA-D919-C381-CF4D-7B621413384A}"/>
              </a:ext>
            </a:extLst>
          </p:cNvPr>
          <p:cNvSpPr txBox="1"/>
          <p:nvPr/>
        </p:nvSpPr>
        <p:spPr>
          <a:xfrm>
            <a:off x="473710" y="2457386"/>
            <a:ext cx="205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161616"/>
                </a:solidFill>
                <a:effectLst/>
                <a:highlight>
                  <a:srgbClr val="F2F2F2"/>
                </a:highlight>
                <a:latin typeface="Segoe UI" panose="020B0502040204020203" pitchFamily="34" charset="0"/>
              </a:rPr>
              <a:t>Backup agents</a:t>
            </a:r>
            <a:endParaRPr lang="en-US" u="sng" dirty="0">
              <a:highlight>
                <a:srgbClr val="F2F2F2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307AF1-3D92-2183-4136-0B747195004D}"/>
              </a:ext>
            </a:extLst>
          </p:cNvPr>
          <p:cNvSpPr txBox="1"/>
          <p:nvPr/>
        </p:nvSpPr>
        <p:spPr>
          <a:xfrm>
            <a:off x="9764665" y="2447705"/>
            <a:ext cx="205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161616"/>
                </a:solidFill>
                <a:effectLst/>
                <a:highlight>
                  <a:srgbClr val="EBEBEB"/>
                </a:highlight>
                <a:latin typeface="Segoe UI" panose="020B0502040204020203" pitchFamily="34" charset="0"/>
              </a:rPr>
              <a:t>Built-in backup</a:t>
            </a:r>
            <a:endParaRPr lang="en-US" u="sng" dirty="0">
              <a:highlight>
                <a:srgbClr val="EBEBE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47332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D2035EA-D296-B3F4-673A-5996BCF22DA4}"/>
              </a:ext>
            </a:extLst>
          </p:cNvPr>
          <p:cNvSpPr txBox="1">
            <a:spLocks/>
          </p:cNvSpPr>
          <p:nvPr/>
        </p:nvSpPr>
        <p:spPr>
          <a:xfrm>
            <a:off x="785380" y="1364489"/>
            <a:ext cx="11530584" cy="83002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Azure Backup Works (Vaults and Policies)</a:t>
            </a:r>
          </a:p>
        </p:txBody>
      </p:sp>
      <p:pic>
        <p:nvPicPr>
          <p:cNvPr id="11" name="Picture 10" descr="The Azure Backup Management Plane includes policy, metrics, and monitoring. ">
            <a:extLst>
              <a:ext uri="{FF2B5EF4-FFF2-40B4-BE49-F238E27FC236}">
                <a16:creationId xmlns:a16="http://schemas.microsoft.com/office/drawing/2014/main" id="{7F831289-7090-28B3-0C1C-7B91318123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278" y="2288605"/>
            <a:ext cx="10162327" cy="2142878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3513A28-F4DE-990B-8AE2-BAA448C8842A}"/>
              </a:ext>
            </a:extLst>
          </p:cNvPr>
          <p:cNvSpPr txBox="1">
            <a:spLocks/>
          </p:cNvSpPr>
          <p:nvPr/>
        </p:nvSpPr>
        <p:spPr>
          <a:xfrm>
            <a:off x="1619377" y="4738223"/>
            <a:ext cx="9638941" cy="198504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Vaults store backup copies, recovery points and backup policies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Two types of vaults: Backup vault and Recovery Service vault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Backup Policies define the data source, storage vault and backup schedule</a:t>
            </a:r>
            <a:endParaRPr lang="en-US" sz="2000" spc="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</a:rPr>
              <a:t>The Backup Center provides a single unified management experience (next slide)</a:t>
            </a:r>
            <a:endParaRPr lang="en-US" sz="2000" spc="0" dirty="0">
              <a:solidFill>
                <a:schemeClr val="tx1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4338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E1786EC-4816-BC80-99E9-2F358E077433}"/>
              </a:ext>
            </a:extLst>
          </p:cNvPr>
          <p:cNvSpPr txBox="1">
            <a:spLocks/>
          </p:cNvSpPr>
          <p:nvPr/>
        </p:nvSpPr>
        <p:spPr>
          <a:xfrm>
            <a:off x="418506" y="1011372"/>
            <a:ext cx="11530584" cy="830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Implement Azure Backup Center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8518F3-94F9-DC00-B795-DB40EAC9F7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80405" y="1904748"/>
            <a:ext cx="5410243" cy="1277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Single pane of glass to manage backups across a large and distributed Azure 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277C9-AC15-640D-513A-C69AF906D4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80405" y="3445896"/>
            <a:ext cx="5410243" cy="1277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Datasource-centric management focused on what you are backing 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96C84-6A03-A21C-BE9B-D246985FE4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80405" y="4987044"/>
            <a:ext cx="5410243" cy="1277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000" i="0" dirty="0">
                <a:solidFill>
                  <a:srgbClr val="171717"/>
                </a:solidFill>
                <a:effectLst/>
              </a:rPr>
              <a:t>Connected experiences with native integrations that enables management at scale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4" name="Picture 13" descr="Screenshot of the Backup Center. Jobs and Backup Instances are shown. ">
            <a:extLst>
              <a:ext uri="{FF2B5EF4-FFF2-40B4-BE49-F238E27FC236}">
                <a16:creationId xmlns:a16="http://schemas.microsoft.com/office/drawing/2014/main" id="{6A28B955-061B-5A83-987F-1957C5B6C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8335" y="1943514"/>
            <a:ext cx="5844470" cy="486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8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EC3EBF5-3067-CCB2-6433-861C73FD13D6}"/>
              </a:ext>
            </a:extLst>
          </p:cNvPr>
          <p:cNvSpPr txBox="1">
            <a:spLocks/>
          </p:cNvSpPr>
          <p:nvPr/>
        </p:nvSpPr>
        <p:spPr>
          <a:xfrm>
            <a:off x="661416" y="1864899"/>
            <a:ext cx="11530584" cy="83002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Backup Azure File Shares: Demonstration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0EC1D-8220-99B9-7D3E-18D7ACB2DFFD}"/>
              </a:ext>
            </a:extLst>
          </p:cNvPr>
          <p:cNvSpPr/>
          <p:nvPr/>
        </p:nvSpPr>
        <p:spPr bwMode="auto">
          <a:xfrm>
            <a:off x="1153485" y="2877252"/>
            <a:ext cx="7164818" cy="282006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Configure a storage account with file share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Create a Recovery Services vault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Configure file share backup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Verify and restore (optional) the backup</a:t>
            </a:r>
          </a:p>
        </p:txBody>
      </p:sp>
    </p:spTree>
    <p:extLst>
      <p:ext uri="{BB962C8B-B14F-4D97-AF65-F5344CB8AC3E}">
        <p14:creationId xmlns:p14="http://schemas.microsoft.com/office/powerpoint/2010/main" val="1214164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Configure Virtual Machine Backups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60757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594280-3834-8A7A-2183-6A75A74540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92797" y="1322140"/>
            <a:ext cx="11530584" cy="83002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/>
              <a:t>Learning Objectives: Configure Virtual Machine Backups </a:t>
            </a:r>
            <a:r>
              <a:rPr lang="en-US" sz="36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638CB55-D092-ED59-5E20-4DCABDA4CDC8}"/>
              </a:ext>
            </a:extLst>
          </p:cNvPr>
          <p:cNvSpPr txBox="1">
            <a:spLocks/>
          </p:cNvSpPr>
          <p:nvPr/>
        </p:nvSpPr>
        <p:spPr>
          <a:xfrm>
            <a:off x="572387" y="2371028"/>
            <a:ext cx="5753099" cy="45945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Explore options to protect virtual machine data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​Create virtual machine snapshots in Azure Backup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Setup Recovery Services Vault backup options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Backup Virtual Machines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Restore Virtual Machines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/>
              </a:rPr>
              <a:t>Virtual Machine Backups: </a:t>
            </a:r>
            <a:r>
              <a:rPr lang="en-US" sz="2000" spc="0" dirty="0">
                <a:solidFill>
                  <a:schemeClr val="tx1"/>
                </a:solidFill>
                <a:latin typeface="+mn-lt"/>
                <a:cs typeface="Calibri"/>
              </a:rPr>
              <a:t>Demonstration 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Manage soft delete (optional)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Implement Azure Site Recovery</a:t>
            </a:r>
          </a:p>
          <a:p>
            <a:pPr marL="342900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0" dirty="0">
                <a:solidFill>
                  <a:schemeClr val="tx1"/>
                </a:solidFill>
                <a:latin typeface="+mn-lt"/>
                <a:cs typeface="Segoe UI"/>
              </a:rPr>
              <a:t>Learning recap</a:t>
            </a:r>
            <a:endParaRPr lang="en-US" sz="2000" spc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1325D6-268A-ACCA-13E6-553ED8329108}"/>
              </a:ext>
            </a:extLst>
          </p:cNvPr>
          <p:cNvSpPr txBox="1"/>
          <p:nvPr/>
        </p:nvSpPr>
        <p:spPr>
          <a:xfrm>
            <a:off x="6558089" y="2822281"/>
            <a:ext cx="4761702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kern="0" dirty="0">
                <a:solidFill>
                  <a:srgbClr val="243A5E"/>
                </a:solidFill>
              </a:rPr>
              <a:t>Monitor and maintain Azure resources (10%–15%): Implement backup and recovery</a:t>
            </a: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Perform backup and restore operations by using Azure Backup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Configure Azure Site Recovery for Azure resources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Perform a failover to a secondary region by using Site Recovery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  <a:p>
            <a:pPr marL="172720" marR="0" lvl="0" indent="-17272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Configure and interpret reports and alerts for backups</a:t>
            </a:r>
            <a:endParaRPr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81466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0E65D27D-F4FA-4F7A-BEFA-C835581A5B1D}"/>
              </a:ext>
            </a:extLst>
          </p:cNvPr>
          <p:cNvSpPr txBox="1">
            <a:spLocks/>
          </p:cNvSpPr>
          <p:nvPr/>
        </p:nvSpPr>
        <p:spPr>
          <a:xfrm>
            <a:off x="439572" y="1650773"/>
            <a:ext cx="11530584" cy="830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/>
              <a:t>Explore options to protect virtual machine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505C87-68E8-2C23-4CA6-1F52BE197EE8}"/>
              </a:ext>
            </a:extLst>
          </p:cNvPr>
          <p:cNvSpPr/>
          <p:nvPr/>
        </p:nvSpPr>
        <p:spPr bwMode="auto">
          <a:xfrm>
            <a:off x="379247" y="2833292"/>
            <a:ext cx="3758495" cy="914400"/>
          </a:xfrm>
          <a:prstGeom prst="rect">
            <a:avLst/>
          </a:prstGeom>
          <a:solidFill>
            <a:srgbClr val="243A5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Snapshots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693FA-4768-4A6A-F9C1-6388420ABE8A}"/>
              </a:ext>
            </a:extLst>
          </p:cNvPr>
          <p:cNvSpPr/>
          <p:nvPr/>
        </p:nvSpPr>
        <p:spPr bwMode="auto">
          <a:xfrm>
            <a:off x="4295452" y="2833292"/>
            <a:ext cx="3758495" cy="9144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Azure Backup</a:t>
            </a:r>
            <a:endParaRPr lang="en-US" sz="2200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ABEF97-E452-73A7-DCB7-C3F253232895}"/>
              </a:ext>
            </a:extLst>
          </p:cNvPr>
          <p:cNvSpPr/>
          <p:nvPr/>
        </p:nvSpPr>
        <p:spPr bwMode="auto">
          <a:xfrm>
            <a:off x="8211657" y="2833292"/>
            <a:ext cx="3758495" cy="914400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rPr>
              <a:t>Azure Site Recovery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571C15-C84F-BC18-28E0-11A6DEE76C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79243" y="4100191"/>
            <a:ext cx="3758495" cy="19783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Managed snapshots provide a quick and simple option for backing up VMs that use Managed Disks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C2E94-174B-F945-4720-0E1E0821BB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295449" y="4100191"/>
            <a:ext cx="3758495" cy="19783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Azure Backup supports application-consistent backups for both Windows and Linux VMs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063E0B-5D19-2987-64AB-BC29330FD1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211657" y="4100191"/>
            <a:ext cx="3758495" cy="19783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Azure Site Recovery protects your VMs from a major disaster scenario when a whole region experiences an outage</a:t>
            </a:r>
          </a:p>
        </p:txBody>
      </p:sp>
    </p:spTree>
    <p:extLst>
      <p:ext uri="{BB962C8B-B14F-4D97-AF65-F5344CB8AC3E}">
        <p14:creationId xmlns:p14="http://schemas.microsoft.com/office/powerpoint/2010/main" val="22960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BF7A06B-EF3F-8CD5-FA62-662C1F824AD3}"/>
              </a:ext>
            </a:extLst>
          </p:cNvPr>
          <p:cNvSpPr txBox="1">
            <a:spLocks/>
          </p:cNvSpPr>
          <p:nvPr/>
        </p:nvSpPr>
        <p:spPr>
          <a:xfrm>
            <a:off x="419471" y="1266631"/>
            <a:ext cx="11530584" cy="83002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/>
              <a:t>Create Virtual Machine Snapshots in Azure Backup</a:t>
            </a:r>
          </a:p>
        </p:txBody>
      </p:sp>
      <p:pic>
        <p:nvPicPr>
          <p:cNvPr id="11" name="Picture 10" descr="A virtual machine snapshot is transferring data to an Azure Recovery Services vault">
            <a:extLst>
              <a:ext uri="{FF2B5EF4-FFF2-40B4-BE49-F238E27FC236}">
                <a16:creationId xmlns:a16="http://schemas.microsoft.com/office/drawing/2014/main" id="{3C40CE1E-A9CD-871A-D808-D89715DA99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04" y="2096651"/>
            <a:ext cx="11124732" cy="25482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894C160-FBCA-A894-4667-D427967426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79243" y="5155060"/>
            <a:ext cx="3758495" cy="13076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Use snapshots taken as part of a backup job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AF5CF-5504-D563-8AEC-55A26CC7A6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295449" y="5155060"/>
            <a:ext cx="3758495" cy="13076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Reduces recovery wait times – do not wait for data transfer to the vault to finish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24F109-19F4-650C-3D38-AE46996292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211657" y="5155060"/>
            <a:ext cx="3758495" cy="13076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Configure Instant Restore retention (standard or enhanced)</a:t>
            </a:r>
          </a:p>
        </p:txBody>
      </p:sp>
    </p:spTree>
    <p:extLst>
      <p:ext uri="{BB962C8B-B14F-4D97-AF65-F5344CB8AC3E}">
        <p14:creationId xmlns:p14="http://schemas.microsoft.com/office/powerpoint/2010/main" val="2787894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21D17F2-0BFB-2B77-01FF-143874F8CA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67962" y="1036384"/>
            <a:ext cx="11568684" cy="65563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/>
              <a:t>Set Up Azure Recovery Services Vault Backup Options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EAD591-C90A-D5DB-4F7C-CB2BE4E547FE}"/>
              </a:ext>
            </a:extLst>
          </p:cNvPr>
          <p:cNvSpPr txBox="1">
            <a:spLocks/>
          </p:cNvSpPr>
          <p:nvPr/>
        </p:nvSpPr>
        <p:spPr>
          <a:xfrm>
            <a:off x="539621" y="1724825"/>
            <a:ext cx="11568684" cy="4394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  <a:r>
              <a:rPr lang="en-US" sz="1800" dirty="0"/>
              <a:t>Multiple servers can be protected using the same Recovery Services vault </a:t>
            </a:r>
          </a:p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92160A-B0C5-D09D-7910-1C2BD6A420F5}"/>
              </a:ext>
            </a:extLst>
          </p:cNvPr>
          <p:cNvSpPr/>
          <p:nvPr/>
        </p:nvSpPr>
        <p:spPr>
          <a:xfrm>
            <a:off x="539621" y="2325441"/>
            <a:ext cx="5712683" cy="667512"/>
          </a:xfrm>
          <a:custGeom>
            <a:avLst/>
            <a:gdLst>
              <a:gd name="connsiteX0" fmla="*/ 0 w 2377347"/>
              <a:gd name="connsiteY0" fmla="*/ 0 h 1188673"/>
              <a:gd name="connsiteX1" fmla="*/ 2377347 w 2377347"/>
              <a:gd name="connsiteY1" fmla="*/ 0 h 1188673"/>
              <a:gd name="connsiteX2" fmla="*/ 2377347 w 2377347"/>
              <a:gd name="connsiteY2" fmla="*/ 1188673 h 1188673"/>
              <a:gd name="connsiteX3" fmla="*/ 0 w 2377347"/>
              <a:gd name="connsiteY3" fmla="*/ 1188673 h 1188673"/>
              <a:gd name="connsiteX4" fmla="*/ 0 w 2377347"/>
              <a:gd name="connsiteY4" fmla="*/ 0 h 1188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7347" h="1188673">
                <a:moveTo>
                  <a:pt x="0" y="0"/>
                </a:moveTo>
                <a:lnTo>
                  <a:pt x="2377347" y="0"/>
                </a:lnTo>
                <a:lnTo>
                  <a:pt x="2377347" y="1188673"/>
                </a:lnTo>
                <a:lnTo>
                  <a:pt x="0" y="1188673"/>
                </a:lnTo>
                <a:lnTo>
                  <a:pt x="0" y="0"/>
                </a:lnTo>
                <a:close/>
              </a:path>
            </a:pathLst>
          </a:custGeom>
          <a:solidFill>
            <a:srgbClr val="243A5E"/>
          </a:solidFill>
          <a:ln w="6350">
            <a:solidFill>
              <a:srgbClr val="243A5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Azure Workloads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235AC4-E4F8-75D9-9140-3434C5647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39622" y="3133666"/>
            <a:ext cx="5712682" cy="3589604"/>
          </a:xfrm>
          <a:prstGeom prst="rect">
            <a:avLst/>
          </a:prstGeom>
          <a:noFill/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IN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940E26-4B07-64DD-255B-43E87C9E4579}"/>
              </a:ext>
            </a:extLst>
          </p:cNvPr>
          <p:cNvSpPr/>
          <p:nvPr/>
        </p:nvSpPr>
        <p:spPr>
          <a:xfrm>
            <a:off x="6409339" y="2325441"/>
            <a:ext cx="5712683" cy="667512"/>
          </a:xfrm>
          <a:custGeom>
            <a:avLst/>
            <a:gdLst>
              <a:gd name="connsiteX0" fmla="*/ 0 w 2377347"/>
              <a:gd name="connsiteY0" fmla="*/ 0 h 1188673"/>
              <a:gd name="connsiteX1" fmla="*/ 2377347 w 2377347"/>
              <a:gd name="connsiteY1" fmla="*/ 0 h 1188673"/>
              <a:gd name="connsiteX2" fmla="*/ 2377347 w 2377347"/>
              <a:gd name="connsiteY2" fmla="*/ 1188673 h 1188673"/>
              <a:gd name="connsiteX3" fmla="*/ 0 w 2377347"/>
              <a:gd name="connsiteY3" fmla="*/ 1188673 h 1188673"/>
              <a:gd name="connsiteX4" fmla="*/ 0 w 2377347"/>
              <a:gd name="connsiteY4" fmla="*/ 0 h 1188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7347" h="1188673">
                <a:moveTo>
                  <a:pt x="0" y="0"/>
                </a:moveTo>
                <a:lnTo>
                  <a:pt x="2377347" y="0"/>
                </a:lnTo>
                <a:lnTo>
                  <a:pt x="2377347" y="1188673"/>
                </a:lnTo>
                <a:lnTo>
                  <a:pt x="0" y="1188673"/>
                </a:lnTo>
                <a:lnTo>
                  <a:pt x="0" y="0"/>
                </a:lnTo>
                <a:close/>
              </a:path>
            </a:pathLst>
          </a:custGeom>
          <a:solidFill>
            <a:srgbClr val="243A5E"/>
          </a:solidFill>
          <a:ln w="6350">
            <a:solidFill>
              <a:srgbClr val="243A5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37160" tIns="91440" rIns="137160" bIns="91440" numCol="1" spcCol="1270" anchor="ctr" anchorCtr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On-Premises Workloads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59EDC0-3D2B-9B50-9B9C-5231BBDBC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409339" y="3133666"/>
            <a:ext cx="5712682" cy="3589604"/>
          </a:xfrm>
          <a:prstGeom prst="rect">
            <a:avLst/>
          </a:prstGeom>
          <a:noFill/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IN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530297-6E66-9947-2028-8C5EF6B83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539" y="3226605"/>
            <a:ext cx="2026281" cy="33278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AC1BAB-9BC9-D6A1-20DB-DA82E24DD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175" y="3221614"/>
            <a:ext cx="2959098" cy="34137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4240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4FF69CD5-6B94-2C0D-2AC4-39888A4B339C}"/>
              </a:ext>
            </a:extLst>
          </p:cNvPr>
          <p:cNvSpPr txBox="1">
            <a:spLocks/>
          </p:cNvSpPr>
          <p:nvPr/>
        </p:nvSpPr>
        <p:spPr>
          <a:xfrm>
            <a:off x="580382" y="1203510"/>
            <a:ext cx="11530584" cy="830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Backup Virtual Machines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D4CADEA-0371-9D62-A59F-43556C02CC2B}"/>
              </a:ext>
            </a:extLst>
          </p:cNvPr>
          <p:cNvSpPr/>
          <p:nvPr/>
        </p:nvSpPr>
        <p:spPr bwMode="auto">
          <a:xfrm>
            <a:off x="777913" y="2530467"/>
            <a:ext cx="3751400" cy="1154014"/>
          </a:xfrm>
          <a:custGeom>
            <a:avLst/>
            <a:gdLst>
              <a:gd name="connsiteX0" fmla="*/ 0 w 3751400"/>
              <a:gd name="connsiteY0" fmla="*/ 0 h 1154014"/>
              <a:gd name="connsiteX1" fmla="*/ 3520597 w 3751400"/>
              <a:gd name="connsiteY1" fmla="*/ 0 h 1154014"/>
              <a:gd name="connsiteX2" fmla="*/ 3751400 w 3751400"/>
              <a:gd name="connsiteY2" fmla="*/ 577007 h 1154014"/>
              <a:gd name="connsiteX3" fmla="*/ 3520597 w 3751400"/>
              <a:gd name="connsiteY3" fmla="*/ 1154014 h 1154014"/>
              <a:gd name="connsiteX4" fmla="*/ 2111957 w 3751400"/>
              <a:gd name="connsiteY4" fmla="*/ 1154014 h 1154014"/>
              <a:gd name="connsiteX5" fmla="*/ 2120319 w 3751400"/>
              <a:gd name="connsiteY5" fmla="*/ 1112593 h 1154014"/>
              <a:gd name="connsiteX6" fmla="*/ 1875699 w 3751400"/>
              <a:gd name="connsiteY6" fmla="*/ 867973 h 1154014"/>
              <a:gd name="connsiteX7" fmla="*/ 1631079 w 3751400"/>
              <a:gd name="connsiteY7" fmla="*/ 1112593 h 1154014"/>
              <a:gd name="connsiteX8" fmla="*/ 1639442 w 3751400"/>
              <a:gd name="connsiteY8" fmla="*/ 1154014 h 1154014"/>
              <a:gd name="connsiteX9" fmla="*/ 0 w 3751400"/>
              <a:gd name="connsiteY9" fmla="*/ 1154014 h 1154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1400" h="1154014">
                <a:moveTo>
                  <a:pt x="0" y="0"/>
                </a:moveTo>
                <a:lnTo>
                  <a:pt x="3520597" y="0"/>
                </a:lnTo>
                <a:lnTo>
                  <a:pt x="3751400" y="577007"/>
                </a:lnTo>
                <a:lnTo>
                  <a:pt x="3520597" y="1154014"/>
                </a:lnTo>
                <a:lnTo>
                  <a:pt x="2111957" y="1154014"/>
                </a:lnTo>
                <a:lnTo>
                  <a:pt x="2120319" y="1112593"/>
                </a:lnTo>
                <a:cubicBezTo>
                  <a:pt x="2120319" y="977493"/>
                  <a:pt x="2010799" y="867973"/>
                  <a:pt x="1875699" y="867973"/>
                </a:cubicBezTo>
                <a:cubicBezTo>
                  <a:pt x="1740599" y="867973"/>
                  <a:pt x="1631079" y="977493"/>
                  <a:pt x="1631079" y="1112593"/>
                </a:cubicBezTo>
                <a:lnTo>
                  <a:pt x="1639442" y="1154014"/>
                </a:lnTo>
                <a:lnTo>
                  <a:pt x="0" y="1154014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3657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Create a recovery</a:t>
            </a:r>
            <a:b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services vault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03CD71-4060-0926-1CF4-1E0EDD1011DE}"/>
              </a:ext>
            </a:extLst>
          </p:cNvPr>
          <p:cNvSpPr/>
          <p:nvPr/>
        </p:nvSpPr>
        <p:spPr bwMode="auto">
          <a:xfrm>
            <a:off x="4457782" y="2530467"/>
            <a:ext cx="3751400" cy="1154014"/>
          </a:xfrm>
          <a:custGeom>
            <a:avLst/>
            <a:gdLst>
              <a:gd name="connsiteX0" fmla="*/ 0 w 3751400"/>
              <a:gd name="connsiteY0" fmla="*/ 0 h 1154014"/>
              <a:gd name="connsiteX1" fmla="*/ 3520597 w 3751400"/>
              <a:gd name="connsiteY1" fmla="*/ 0 h 1154014"/>
              <a:gd name="connsiteX2" fmla="*/ 3751400 w 3751400"/>
              <a:gd name="connsiteY2" fmla="*/ 577007 h 1154014"/>
              <a:gd name="connsiteX3" fmla="*/ 3520597 w 3751400"/>
              <a:gd name="connsiteY3" fmla="*/ 1154014 h 1154014"/>
              <a:gd name="connsiteX4" fmla="*/ 2111957 w 3751400"/>
              <a:gd name="connsiteY4" fmla="*/ 1154014 h 1154014"/>
              <a:gd name="connsiteX5" fmla="*/ 2120319 w 3751400"/>
              <a:gd name="connsiteY5" fmla="*/ 1112593 h 1154014"/>
              <a:gd name="connsiteX6" fmla="*/ 1875699 w 3751400"/>
              <a:gd name="connsiteY6" fmla="*/ 867973 h 1154014"/>
              <a:gd name="connsiteX7" fmla="*/ 1631079 w 3751400"/>
              <a:gd name="connsiteY7" fmla="*/ 1112593 h 1154014"/>
              <a:gd name="connsiteX8" fmla="*/ 1639442 w 3751400"/>
              <a:gd name="connsiteY8" fmla="*/ 1154014 h 1154014"/>
              <a:gd name="connsiteX9" fmla="*/ 0 w 3751400"/>
              <a:gd name="connsiteY9" fmla="*/ 1154014 h 1154014"/>
              <a:gd name="connsiteX10" fmla="*/ 230803 w 3751400"/>
              <a:gd name="connsiteY10" fmla="*/ 577007 h 1154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51400" h="1154014">
                <a:moveTo>
                  <a:pt x="0" y="0"/>
                </a:moveTo>
                <a:lnTo>
                  <a:pt x="3520597" y="0"/>
                </a:lnTo>
                <a:lnTo>
                  <a:pt x="3751400" y="577007"/>
                </a:lnTo>
                <a:lnTo>
                  <a:pt x="3520597" y="1154014"/>
                </a:lnTo>
                <a:lnTo>
                  <a:pt x="2111957" y="1154014"/>
                </a:lnTo>
                <a:lnTo>
                  <a:pt x="2120319" y="1112593"/>
                </a:lnTo>
                <a:cubicBezTo>
                  <a:pt x="2120319" y="977493"/>
                  <a:pt x="2010799" y="867973"/>
                  <a:pt x="1875699" y="867973"/>
                </a:cubicBezTo>
                <a:cubicBezTo>
                  <a:pt x="1740599" y="867973"/>
                  <a:pt x="1631079" y="977493"/>
                  <a:pt x="1631079" y="1112593"/>
                </a:cubicBezTo>
                <a:lnTo>
                  <a:pt x="1639442" y="1154014"/>
                </a:lnTo>
                <a:lnTo>
                  <a:pt x="0" y="1154014"/>
                </a:lnTo>
                <a:lnTo>
                  <a:pt x="230803" y="577007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3657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Use the Portal to</a:t>
            </a:r>
            <a:b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define the backup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946D495-A98F-537C-EE09-D5BDDCB581D1}"/>
              </a:ext>
            </a:extLst>
          </p:cNvPr>
          <p:cNvSpPr/>
          <p:nvPr/>
        </p:nvSpPr>
        <p:spPr bwMode="auto">
          <a:xfrm>
            <a:off x="8137652" y="2530467"/>
            <a:ext cx="3751400" cy="1154014"/>
          </a:xfrm>
          <a:custGeom>
            <a:avLst/>
            <a:gdLst>
              <a:gd name="connsiteX0" fmla="*/ 0 w 3751400"/>
              <a:gd name="connsiteY0" fmla="*/ 0 h 1154014"/>
              <a:gd name="connsiteX1" fmla="*/ 3520597 w 3751400"/>
              <a:gd name="connsiteY1" fmla="*/ 0 h 1154014"/>
              <a:gd name="connsiteX2" fmla="*/ 3751400 w 3751400"/>
              <a:gd name="connsiteY2" fmla="*/ 577007 h 1154014"/>
              <a:gd name="connsiteX3" fmla="*/ 3520597 w 3751400"/>
              <a:gd name="connsiteY3" fmla="*/ 1154014 h 1154014"/>
              <a:gd name="connsiteX4" fmla="*/ 2111957 w 3751400"/>
              <a:gd name="connsiteY4" fmla="*/ 1154014 h 1154014"/>
              <a:gd name="connsiteX5" fmla="*/ 2120319 w 3751400"/>
              <a:gd name="connsiteY5" fmla="*/ 1112593 h 1154014"/>
              <a:gd name="connsiteX6" fmla="*/ 1875699 w 3751400"/>
              <a:gd name="connsiteY6" fmla="*/ 867973 h 1154014"/>
              <a:gd name="connsiteX7" fmla="*/ 1631079 w 3751400"/>
              <a:gd name="connsiteY7" fmla="*/ 1112593 h 1154014"/>
              <a:gd name="connsiteX8" fmla="*/ 1639442 w 3751400"/>
              <a:gd name="connsiteY8" fmla="*/ 1154014 h 1154014"/>
              <a:gd name="connsiteX9" fmla="*/ 0 w 3751400"/>
              <a:gd name="connsiteY9" fmla="*/ 1154014 h 1154014"/>
              <a:gd name="connsiteX10" fmla="*/ 230803 w 3751400"/>
              <a:gd name="connsiteY10" fmla="*/ 577007 h 1154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51400" h="1154014">
                <a:moveTo>
                  <a:pt x="0" y="0"/>
                </a:moveTo>
                <a:lnTo>
                  <a:pt x="3520597" y="0"/>
                </a:lnTo>
                <a:lnTo>
                  <a:pt x="3751400" y="577007"/>
                </a:lnTo>
                <a:lnTo>
                  <a:pt x="3520597" y="1154014"/>
                </a:lnTo>
                <a:lnTo>
                  <a:pt x="2111957" y="1154014"/>
                </a:lnTo>
                <a:lnTo>
                  <a:pt x="2120319" y="1112593"/>
                </a:lnTo>
                <a:cubicBezTo>
                  <a:pt x="2120319" y="977493"/>
                  <a:pt x="2010799" y="867973"/>
                  <a:pt x="1875699" y="867973"/>
                </a:cubicBezTo>
                <a:cubicBezTo>
                  <a:pt x="1740599" y="867973"/>
                  <a:pt x="1631079" y="977493"/>
                  <a:pt x="1631079" y="1112593"/>
                </a:cubicBezTo>
                <a:lnTo>
                  <a:pt x="1639442" y="1154014"/>
                </a:lnTo>
                <a:lnTo>
                  <a:pt x="0" y="1154014"/>
                </a:lnTo>
                <a:lnTo>
                  <a:pt x="230803" y="577007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3657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Backup the</a:t>
            </a:r>
            <a:b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virtual machine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0B05A8-3E7E-FC18-9103-C44CB50BCB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42282" y="4668123"/>
            <a:ext cx="3755737" cy="171531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37160" rIns="18288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Use a Recovery Services Vault in the region where you are performing your Virtual Machine backups, and choose a replication strategy for Vault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95BCC2-D19C-BB0B-77D7-66F4239F75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455616" y="4668123"/>
            <a:ext cx="3755737" cy="171531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37160" rIns="18288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200"/>
              </a:spcBef>
              <a:tabLst>
                <a:tab pos="3429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Take snapshots (recovery points) of your data at defined intervals. These snapshots are stored in recovery services vaults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EB9092-4B92-D37A-E1A2-D691FDC429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368949" y="4668123"/>
            <a:ext cx="3764127" cy="171531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37160" rIns="18288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200"/>
              </a:spcBef>
              <a:tabLst>
                <a:tab pos="342900" algn="l"/>
              </a:tabLst>
            </a:pPr>
            <a:r>
              <a:rPr lang="en-US" sz="2000" dirty="0">
                <a:solidFill>
                  <a:schemeClr val="tx1"/>
                </a:solidFill>
              </a:rPr>
              <a:t>For the Backup extension to work, the Azure VM Agent must be installed on the Azure virtual machine</a:t>
            </a:r>
          </a:p>
        </p:txBody>
      </p:sp>
    </p:spTree>
    <p:extLst>
      <p:ext uri="{BB962C8B-B14F-4D97-AF65-F5344CB8AC3E}">
        <p14:creationId xmlns:p14="http://schemas.microsoft.com/office/powerpoint/2010/main" val="3817918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22AD4621-751B-7398-2902-149872562880}"/>
              </a:ext>
            </a:extLst>
          </p:cNvPr>
          <p:cNvSpPr txBox="1">
            <a:spLocks/>
          </p:cNvSpPr>
          <p:nvPr/>
        </p:nvSpPr>
        <p:spPr>
          <a:xfrm>
            <a:off x="572386" y="1557960"/>
            <a:ext cx="11530584" cy="830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Restore Virtual Machines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161F8-3A3F-B79A-2396-24805C4CCD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72387" y="2498532"/>
            <a:ext cx="5453258" cy="185229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457200" algn="l"/>
              </a:tabLst>
            </a:pPr>
            <a:r>
              <a:rPr lang="en-US" sz="2200" dirty="0">
                <a:solidFill>
                  <a:schemeClr val="tx1"/>
                </a:solidFill>
              </a:rPr>
              <a:t>Once you trigger the restore operation, the Backup service creates a job for tracking the restore operation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3AB31F-C7CC-5071-BBD5-F4718B439E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72386" y="4506413"/>
            <a:ext cx="5453258" cy="185229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200" dirty="0">
                <a:solidFill>
                  <a:schemeClr val="tx1"/>
                </a:solidFill>
              </a:rPr>
              <a:t>The Backup service also creates and temporarily displays notifications, so you monitor how the backup is proceeding</a:t>
            </a:r>
          </a:p>
        </p:txBody>
      </p:sp>
      <p:pic>
        <p:nvPicPr>
          <p:cNvPr id="13" name="Picture 5" descr="Screenshot of the VM restore page. Restore points are shown">
            <a:extLst>
              <a:ext uri="{FF2B5EF4-FFF2-40B4-BE49-F238E27FC236}">
                <a16:creationId xmlns:a16="http://schemas.microsoft.com/office/drawing/2014/main" id="{39AE4204-6DBA-CC5E-1BB3-90ADB72B51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932" y="2616821"/>
            <a:ext cx="5681208" cy="37418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9870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6016A05-F12A-371B-A2AB-7A158A45A593}"/>
              </a:ext>
            </a:extLst>
          </p:cNvPr>
          <p:cNvSpPr txBox="1">
            <a:spLocks/>
          </p:cNvSpPr>
          <p:nvPr/>
        </p:nvSpPr>
        <p:spPr>
          <a:xfrm>
            <a:off x="661416" y="2707596"/>
            <a:ext cx="11530584" cy="83002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Virtual Machine Backups: Demonstration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25BBFA-055A-F264-4270-C5434CD6F02A}"/>
              </a:ext>
            </a:extLst>
          </p:cNvPr>
          <p:cNvSpPr/>
          <p:nvPr/>
        </p:nvSpPr>
        <p:spPr bwMode="auto">
          <a:xfrm>
            <a:off x="1108912" y="3683150"/>
            <a:ext cx="5824308" cy="100434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Create a backup for virtual machines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Configure and review the backup policy</a:t>
            </a:r>
          </a:p>
        </p:txBody>
      </p:sp>
    </p:spTree>
    <p:extLst>
      <p:ext uri="{BB962C8B-B14F-4D97-AF65-F5344CB8AC3E}">
        <p14:creationId xmlns:p14="http://schemas.microsoft.com/office/powerpoint/2010/main" val="2435045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60C4E23-5370-A133-8FD4-82354AA088E1}"/>
              </a:ext>
            </a:extLst>
          </p:cNvPr>
          <p:cNvSpPr txBox="1">
            <a:spLocks/>
          </p:cNvSpPr>
          <p:nvPr/>
        </p:nvSpPr>
        <p:spPr>
          <a:xfrm>
            <a:off x="418504" y="1203510"/>
            <a:ext cx="11530584" cy="830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Manage Soft Delete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3278D1-BAED-540E-656E-57CA818B07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80405" y="2132607"/>
            <a:ext cx="5410243" cy="95006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457200" algn="l"/>
              </a:tabLst>
            </a:pPr>
            <a:r>
              <a:rPr lang="en-US" sz="2400" dirty="0">
                <a:solidFill>
                  <a:schemeClr val="tx1"/>
                </a:solidFill>
              </a:rPr>
              <a:t>Backup data is retained for 14 additional days*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265005-6492-0ACA-461F-00A372BB47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80404" y="3265369"/>
            <a:ext cx="5410243" cy="10665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400" dirty="0">
                <a:solidFill>
                  <a:schemeClr val="tx1"/>
                </a:solidFill>
              </a:rPr>
              <a:t>Recover soft deleted backup items using an ‘Undelete’ operation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9C4475-0F0C-DA91-0FB7-5CBAB5DD085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80403" y="4473608"/>
            <a:ext cx="5410243" cy="10665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400" dirty="0">
                <a:solidFill>
                  <a:schemeClr val="tx1"/>
                </a:solidFill>
              </a:rPr>
              <a:t>Also available for storage account containers and file shares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BD414-606C-0E92-161F-97A158E495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80404" y="5681848"/>
            <a:ext cx="5410243" cy="1066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7150">
              <a:spcBef>
                <a:spcPts val="1200"/>
              </a:spcBef>
              <a:tabLst>
                <a:tab pos="342900" algn="l"/>
              </a:tabLst>
            </a:pPr>
            <a:r>
              <a:rPr lang="en-US" sz="2400" dirty="0">
                <a:solidFill>
                  <a:schemeClr val="tx1"/>
                </a:solidFill>
              </a:rPr>
              <a:t>Natively built-in for all the recovery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services vaults</a:t>
            </a:r>
          </a:p>
        </p:txBody>
      </p:sp>
      <p:pic>
        <p:nvPicPr>
          <p:cNvPr id="15" name="Picture 14" descr="Flowchart showing a soft deleted state for 14 days until the item is permanently deleted">
            <a:extLst>
              <a:ext uri="{FF2B5EF4-FFF2-40B4-BE49-F238E27FC236}">
                <a16:creationId xmlns:a16="http://schemas.microsoft.com/office/drawing/2014/main" id="{E1BDDE9B-A4A3-C8A6-BA5D-19C6A00457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935" y="2777511"/>
            <a:ext cx="5793440" cy="350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3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3252D5A1-349F-3311-1AFC-A9E1315822FA}"/>
              </a:ext>
            </a:extLst>
          </p:cNvPr>
          <p:cNvSpPr txBox="1">
            <a:spLocks/>
          </p:cNvSpPr>
          <p:nvPr/>
        </p:nvSpPr>
        <p:spPr>
          <a:xfrm>
            <a:off x="572387" y="1584285"/>
            <a:ext cx="11530584" cy="830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hlinkClick r:id="rId6"/>
              </a:rPr>
              <a:t>Implement Azure Site Recovery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2585D9-D7F6-03ED-CC98-511E0D1AE4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72387" y="1999295"/>
            <a:ext cx="5400815" cy="4246578"/>
          </a:xfrm>
          <a:prstGeom prst="rect">
            <a:avLst/>
          </a:prstGeom>
          <a:noFill/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1775" indent="-231775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31775" algn="l"/>
              </a:tabLst>
            </a:pPr>
            <a:r>
              <a:rPr lang="en-US" sz="2000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Manages the orchestration of disaster recovery</a:t>
            </a:r>
          </a:p>
          <a:p>
            <a:pPr marL="231775" indent="-231775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2000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Replicates workloads continuously from a primary location or region to a secondary location</a:t>
            </a:r>
            <a:endParaRPr lang="en-US" sz="2000" dirty="0">
              <a:solidFill>
                <a:srgbClr val="161616"/>
              </a:solidFill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marL="231775" indent="-231775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sz="2000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Failover to shift to the secondary location; failback to return to the primary location</a:t>
            </a:r>
          </a:p>
        </p:txBody>
      </p:sp>
      <p:pic>
        <p:nvPicPr>
          <p:cNvPr id="12" name="Picture 3" descr="Screenshot of an Azure Site recovery architecture. Region 1 is using Traffic Manager to failover to Region 2">
            <a:extLst>
              <a:ext uri="{FF2B5EF4-FFF2-40B4-BE49-F238E27FC236}">
                <a16:creationId xmlns:a16="http://schemas.microsoft.com/office/drawing/2014/main" id="{6DA23499-0B7C-E5CD-CEB3-8ECE216012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453" y="2272432"/>
            <a:ext cx="5683651" cy="397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6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LAB: Implement Data Protection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135214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14187802-701C-23B3-1323-A069DE21AB90}"/>
              </a:ext>
            </a:extLst>
          </p:cNvPr>
          <p:cNvSpPr txBox="1">
            <a:spLocks/>
          </p:cNvSpPr>
          <p:nvPr/>
        </p:nvSpPr>
        <p:spPr>
          <a:xfrm>
            <a:off x="714913" y="1584285"/>
            <a:ext cx="11701941" cy="50224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Lab 10: Implement Data Protection</a:t>
            </a:r>
            <a:endParaRPr lang="en-IN" sz="40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3F15042-C414-1680-DECC-632BCE320B25}"/>
              </a:ext>
            </a:extLst>
          </p:cNvPr>
          <p:cNvSpPr txBox="1">
            <a:spLocks/>
          </p:cNvSpPr>
          <p:nvPr/>
        </p:nvSpPr>
        <p:spPr>
          <a:xfrm>
            <a:off x="466383" y="3273806"/>
            <a:ext cx="3461258" cy="310764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pc="0" dirty="0">
                <a:solidFill>
                  <a:schemeClr val="tx1"/>
                </a:solidFill>
                <a:latin typeface="+mn-lt"/>
                <a:cs typeface="Segoe UI Semilight"/>
              </a:rPr>
              <a:t>In this lab, you will learn about backup and recovery of Azure virtual machines</a:t>
            </a:r>
          </a:p>
          <a:p>
            <a:endParaRPr lang="en-US" sz="1800" spc="0" dirty="0">
              <a:solidFill>
                <a:schemeClr val="tx1"/>
              </a:solidFill>
              <a:latin typeface="+mn-lt"/>
              <a:cs typeface="Segoe UI Semilight"/>
            </a:endParaRPr>
          </a:p>
          <a:p>
            <a:r>
              <a:rPr lang="en-US" sz="1800" spc="0" dirty="0">
                <a:solidFill>
                  <a:schemeClr val="tx1"/>
                </a:solidFill>
                <a:latin typeface="+mn-lt"/>
                <a:cs typeface="Segoe UI Semilight"/>
              </a:rPr>
              <a:t>You will learn to create a Recovery Service vault and a backup policy for Azure virtual machines</a:t>
            </a:r>
            <a:endParaRPr lang="en-US" sz="1800" spc="0" dirty="0">
              <a:solidFill>
                <a:schemeClr val="tx1"/>
              </a:solidFill>
              <a:latin typeface="+mn-lt"/>
              <a:ea typeface="Calibri"/>
              <a:cs typeface="Segoe UI Semilight"/>
            </a:endParaRPr>
          </a:p>
          <a:p>
            <a:endParaRPr lang="en-US" sz="1800" spc="0" dirty="0">
              <a:solidFill>
                <a:schemeClr val="tx1"/>
              </a:solidFill>
              <a:latin typeface="+mn-lt"/>
              <a:cs typeface="Segoe UI Semilight"/>
            </a:endParaRPr>
          </a:p>
          <a:p>
            <a:r>
              <a:rPr lang="en-US" sz="1800" spc="0" dirty="0">
                <a:solidFill>
                  <a:schemeClr val="tx1"/>
                </a:solidFill>
                <a:latin typeface="+mn-lt"/>
                <a:cs typeface="Segoe UI Semilight"/>
              </a:rPr>
              <a:t>You will learn about disaster recovery with Azure Site Recovery for virtual machines</a:t>
            </a:r>
            <a:endParaRPr lang="en-US" sz="1800" spc="0" dirty="0">
              <a:solidFill>
                <a:schemeClr val="tx1"/>
              </a:solidFill>
              <a:latin typeface="+mn-lt"/>
              <a:ea typeface="Calibri"/>
              <a:cs typeface="Segoe UI Semi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85AFB4-C7DB-47B9-BCD3-B51BD8016E2E}"/>
              </a:ext>
            </a:extLst>
          </p:cNvPr>
          <p:cNvSpPr/>
          <p:nvPr/>
        </p:nvSpPr>
        <p:spPr bwMode="auto">
          <a:xfrm>
            <a:off x="5248905" y="3118559"/>
            <a:ext cx="6310750" cy="362417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54" tIns="137141" rIns="182854" bIns="137141" numCol="1" spcCol="1270" anchor="t" anchorCtr="0">
            <a:noAutofit/>
          </a:bodyPr>
          <a:lstStyle/>
          <a:p>
            <a:pPr>
              <a:spcAft>
                <a:spcPts val="612"/>
              </a:spcAft>
            </a:pPr>
            <a:r>
              <a:rPr lang="en-US" sz="2000" dirty="0">
                <a:solidFill>
                  <a:schemeClr val="tx1"/>
                </a:solidFill>
                <a:latin typeface="Segoe UI Semibold"/>
                <a:cs typeface="Segoe UI Semibold"/>
              </a:rPr>
              <a:t>Task 1</a:t>
            </a:r>
            <a:r>
              <a:rPr lang="en-US" sz="2000" dirty="0">
                <a:solidFill>
                  <a:schemeClr val="tx1"/>
                </a:solidFill>
                <a:cs typeface="Segoe UI Semilight"/>
              </a:rPr>
              <a:t>: Use a template to provision an infrastructure</a:t>
            </a:r>
          </a:p>
          <a:p>
            <a:pPr>
              <a:spcAft>
                <a:spcPts val="612"/>
              </a:spcAft>
            </a:pPr>
            <a:r>
              <a:rPr lang="en-US" sz="2000" dirty="0">
                <a:solidFill>
                  <a:srgbClr val="1F2328"/>
                </a:solidFill>
                <a:latin typeface="Segoe UI Semibold"/>
                <a:cs typeface="Segoe UI Semibold"/>
              </a:rPr>
              <a:t>Task 2</a:t>
            </a:r>
            <a:r>
              <a:rPr lang="en-US" sz="2000" dirty="0">
                <a:solidFill>
                  <a:srgbClr val="1F2328"/>
                </a:solidFill>
              </a:rPr>
              <a:t>: Create and configure a Recovery Services vault</a:t>
            </a:r>
            <a:endParaRPr lang="en-US" sz="2000" dirty="0">
              <a:solidFill>
                <a:srgbClr val="1F2328"/>
              </a:solidFill>
              <a:cs typeface="Calibri"/>
            </a:endParaRPr>
          </a:p>
          <a:p>
            <a:pPr>
              <a:spcAft>
                <a:spcPts val="612"/>
              </a:spcAft>
            </a:pPr>
            <a:r>
              <a:rPr lang="en-US" sz="2000" dirty="0">
                <a:solidFill>
                  <a:srgbClr val="1F2328"/>
                </a:solidFill>
                <a:latin typeface="Segoe UI Semibold"/>
                <a:cs typeface="Segoe UI Semibold"/>
              </a:rPr>
              <a:t>Task 3</a:t>
            </a:r>
            <a:r>
              <a:rPr lang="en-US" sz="2000" dirty="0">
                <a:solidFill>
                  <a:srgbClr val="1F2328"/>
                </a:solidFill>
              </a:rPr>
              <a:t>: Configure Azure virtual machine-level backup</a:t>
            </a:r>
            <a:endParaRPr lang="en-US" sz="2000" dirty="0">
              <a:solidFill>
                <a:srgbClr val="1F2328"/>
              </a:solidFill>
              <a:cs typeface="Calibri"/>
            </a:endParaRPr>
          </a:p>
          <a:p>
            <a:pPr>
              <a:spcAft>
                <a:spcPts val="612"/>
              </a:spcAft>
            </a:pPr>
            <a:r>
              <a:rPr lang="en-US" sz="2000" dirty="0">
                <a:solidFill>
                  <a:srgbClr val="1F2328"/>
                </a:solidFill>
                <a:latin typeface="Segoe UI Semibold"/>
                <a:cs typeface="Segoe UI Semibold"/>
              </a:rPr>
              <a:t>Task 4</a:t>
            </a:r>
            <a:r>
              <a:rPr lang="en-US" sz="2000" dirty="0">
                <a:solidFill>
                  <a:srgbClr val="1F2328"/>
                </a:solidFill>
              </a:rPr>
              <a:t>: Monitor Azure Backup</a:t>
            </a:r>
            <a:endParaRPr lang="en-US" sz="2000" dirty="0">
              <a:solidFill>
                <a:srgbClr val="1F2328"/>
              </a:solidFill>
              <a:cs typeface="Calibri"/>
            </a:endParaRPr>
          </a:p>
          <a:p>
            <a:pPr>
              <a:spcAft>
                <a:spcPts val="612"/>
              </a:spcAft>
            </a:pPr>
            <a:r>
              <a:rPr lang="en-US" sz="2000" dirty="0">
                <a:solidFill>
                  <a:srgbClr val="1F2328"/>
                </a:solidFill>
                <a:latin typeface="Segoe UI Semibold"/>
                <a:cs typeface="Segoe UI Semibold"/>
              </a:rPr>
              <a:t>Task 5</a:t>
            </a:r>
            <a:r>
              <a:rPr lang="en-US" sz="2000" dirty="0">
                <a:solidFill>
                  <a:srgbClr val="1F2328"/>
                </a:solidFill>
              </a:rPr>
              <a:t>: Enable virtual machine replication</a:t>
            </a:r>
            <a:endParaRPr lang="en-US" sz="2000" dirty="0">
              <a:solidFill>
                <a:srgbClr val="1F2328"/>
              </a:solidFill>
              <a:cs typeface="Calibri"/>
            </a:endParaRPr>
          </a:p>
          <a:p>
            <a:pPr>
              <a:spcAft>
                <a:spcPts val="612"/>
              </a:spcAft>
            </a:pPr>
            <a:endParaRPr lang="en-US" sz="2040" dirty="0">
              <a:solidFill>
                <a:schemeClr val="tx1"/>
              </a:solidFill>
              <a:cs typeface="Segoe UI Semilight"/>
            </a:endParaRPr>
          </a:p>
          <a:p>
            <a:pPr>
              <a:spcAft>
                <a:spcPts val="612"/>
              </a:spcAft>
            </a:pPr>
            <a:endParaRPr lang="en-US" sz="2040" dirty="0">
              <a:solidFill>
                <a:schemeClr val="tx1"/>
              </a:solidFill>
              <a:cs typeface="Segoe UI Semilight"/>
            </a:endParaRPr>
          </a:p>
          <a:p>
            <a:pPr>
              <a:spcAft>
                <a:spcPts val="612"/>
              </a:spcAft>
            </a:pPr>
            <a:endParaRPr lang="en-US" sz="2040" dirty="0">
              <a:solidFill>
                <a:schemeClr val="tx1"/>
              </a:solidFill>
              <a:cs typeface="Segoe UI Semilight"/>
            </a:endParaRPr>
          </a:p>
          <a:p>
            <a:pPr>
              <a:spcAft>
                <a:spcPts val="612"/>
              </a:spcAft>
            </a:pPr>
            <a:endParaRPr lang="en-US" sz="2040" dirty="0">
              <a:solidFill>
                <a:schemeClr val="tx1"/>
              </a:solidFill>
              <a:cs typeface="Segoe UI Semilight"/>
            </a:endParaRPr>
          </a:p>
          <a:p>
            <a:pPr>
              <a:spcAft>
                <a:spcPts val="612"/>
              </a:spcAft>
            </a:pPr>
            <a:endParaRPr lang="en-US" sz="2040" dirty="0">
              <a:solidFill>
                <a:schemeClr val="tx1"/>
              </a:solidFill>
              <a:cs typeface="Segoe UI Semilight"/>
            </a:endParaRPr>
          </a:p>
          <a:p>
            <a:pPr>
              <a:spcAft>
                <a:spcPts val="612"/>
              </a:spcAft>
            </a:pPr>
            <a:endParaRPr lang="en-US" sz="2040" dirty="0">
              <a:solidFill>
                <a:schemeClr val="tx1"/>
              </a:solidFill>
              <a:cs typeface="Segoe UI Semi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6ADD0-D471-8C00-5AD3-A71FBA060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149304" y="2797743"/>
            <a:ext cx="6215646" cy="4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4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Job Skills</a:t>
            </a:r>
            <a:endParaRPr lang="en-US" sz="2040" dirty="0"/>
          </a:p>
        </p:txBody>
      </p:sp>
    </p:spTree>
    <p:extLst>
      <p:ext uri="{BB962C8B-B14F-4D97-AF65-F5344CB8AC3E}">
        <p14:creationId xmlns:p14="http://schemas.microsoft.com/office/powerpoint/2010/main" val="2294235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E8C9EE1-26AD-54A7-C678-9EF02464786C}"/>
              </a:ext>
            </a:extLst>
          </p:cNvPr>
          <p:cNvSpPr txBox="1">
            <a:spLocks/>
          </p:cNvSpPr>
          <p:nvPr/>
        </p:nvSpPr>
        <p:spPr>
          <a:xfrm>
            <a:off x="731901" y="1297203"/>
            <a:ext cx="11530584" cy="83002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50" dirty="0"/>
              <a:t>Lab 10: Architecture Diagram</a:t>
            </a:r>
          </a:p>
        </p:txBody>
      </p:sp>
      <p:grpSp>
        <p:nvGrpSpPr>
          <p:cNvPr id="11" name="Group 10" descr="Architecture diagram for the data protection lab tasks. ">
            <a:extLst>
              <a:ext uri="{FF2B5EF4-FFF2-40B4-BE49-F238E27FC236}">
                <a16:creationId xmlns:a16="http://schemas.microsoft.com/office/drawing/2014/main" id="{1D3F1CDE-3C66-7E5A-31F3-C6674F177238}"/>
              </a:ext>
            </a:extLst>
          </p:cNvPr>
          <p:cNvGrpSpPr/>
          <p:nvPr/>
        </p:nvGrpSpPr>
        <p:grpSpPr>
          <a:xfrm>
            <a:off x="1665126" y="2085167"/>
            <a:ext cx="9964347" cy="4526533"/>
            <a:chOff x="829873" y="1328965"/>
            <a:chExt cx="9769855" cy="44381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1ED319-7C06-70A3-5756-C5D438913710}"/>
                </a:ext>
              </a:extLst>
            </p:cNvPr>
            <p:cNvSpPr/>
            <p:nvPr/>
          </p:nvSpPr>
          <p:spPr bwMode="auto">
            <a:xfrm>
              <a:off x="7093994" y="1839576"/>
              <a:ext cx="3505734" cy="2691880"/>
            </a:xfrm>
            <a:prstGeom prst="rect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60" tIns="143408" rIns="179260" bIns="1434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926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1632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cs typeface="Segoe UI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04EC29-FE36-A3B2-2E73-021158F25DE1}"/>
                </a:ext>
              </a:extLst>
            </p:cNvPr>
            <p:cNvSpPr/>
            <p:nvPr/>
          </p:nvSpPr>
          <p:spPr bwMode="auto">
            <a:xfrm>
              <a:off x="2331204" y="1885108"/>
              <a:ext cx="3501651" cy="3882037"/>
            </a:xfrm>
            <a:prstGeom prst="rect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60" tIns="143408" rIns="179260" bIns="1434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926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fr-FR" sz="1632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cs typeface="Segoe UI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8034C53-067E-1EEC-008A-8A447E698336}"/>
                </a:ext>
              </a:extLst>
            </p:cNvPr>
            <p:cNvSpPr txBox="1"/>
            <p:nvPr/>
          </p:nvSpPr>
          <p:spPr>
            <a:xfrm>
              <a:off x="2652957" y="1688076"/>
              <a:ext cx="2273358" cy="3434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fr-FR" sz="1632" dirty="0"/>
                <a:t>az104-rg-region1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57BC2F9-E214-733C-23C5-8CD0B50B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90326" y="1718364"/>
              <a:ext cx="368970" cy="33348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5C80A4-88B5-06DF-A397-8B253B35D1EF}"/>
                </a:ext>
              </a:extLst>
            </p:cNvPr>
            <p:cNvSpPr txBox="1"/>
            <p:nvPr/>
          </p:nvSpPr>
          <p:spPr>
            <a:xfrm>
              <a:off x="7572218" y="1688076"/>
              <a:ext cx="2129359" cy="3434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fr-FR" sz="1632" dirty="0"/>
                <a:t>az104-rg-region2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C9FBCC-63FD-5AFD-C603-1CBF312E225F}"/>
                </a:ext>
              </a:extLst>
            </p:cNvPr>
            <p:cNvSpPr/>
            <p:nvPr/>
          </p:nvSpPr>
          <p:spPr bwMode="auto">
            <a:xfrm>
              <a:off x="2618412" y="3247473"/>
              <a:ext cx="2941762" cy="107244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32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CDE706-2928-D6E2-881D-EC079CA415E0}"/>
                </a:ext>
              </a:extLst>
            </p:cNvPr>
            <p:cNvSpPr txBox="1"/>
            <p:nvPr/>
          </p:nvSpPr>
          <p:spPr>
            <a:xfrm>
              <a:off x="4720533" y="3263331"/>
              <a:ext cx="839641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32" b="1" dirty="0">
                  <a:solidFill>
                    <a:schemeClr val="tx2">
                      <a:lumMod val="50000"/>
                    </a:schemeClr>
                  </a:solidFill>
                </a:rPr>
                <a:t>Task</a:t>
              </a:r>
              <a:r>
                <a:rPr lang="fr-FR" sz="1632" b="1" dirty="0">
                  <a:solidFill>
                    <a:schemeClr val="tx2">
                      <a:lumMod val="50000"/>
                    </a:schemeClr>
                  </a:solidFill>
                </a:rPr>
                <a:t> 2</a:t>
              </a: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188340B-3C0E-7320-45CD-B8152C0D9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38861" y="3339835"/>
              <a:ext cx="676899" cy="611804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17FF112-497D-E7A8-C0E1-13006320B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5305" y="1672832"/>
              <a:ext cx="368970" cy="33348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DE577B-2E07-C4DC-3604-C4B7F1AFAE61}"/>
                </a:ext>
              </a:extLst>
            </p:cNvPr>
            <p:cNvSpPr txBox="1"/>
            <p:nvPr/>
          </p:nvSpPr>
          <p:spPr>
            <a:xfrm>
              <a:off x="3122226" y="3953885"/>
              <a:ext cx="2110168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32" dirty="0"/>
                <a:t>az104-rsv-region1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15B3723-6A4F-0B37-8305-055E628835C6}"/>
                </a:ext>
              </a:extLst>
            </p:cNvPr>
            <p:cNvSpPr/>
            <p:nvPr/>
          </p:nvSpPr>
          <p:spPr bwMode="auto">
            <a:xfrm>
              <a:off x="2622497" y="2079410"/>
              <a:ext cx="2941762" cy="107244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32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D92A1F-3B7A-F9E4-D618-9366DEF8CE4A}"/>
                </a:ext>
              </a:extLst>
            </p:cNvPr>
            <p:cNvSpPr txBox="1"/>
            <p:nvPr/>
          </p:nvSpPr>
          <p:spPr>
            <a:xfrm>
              <a:off x="3117427" y="2769462"/>
              <a:ext cx="1737146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632" dirty="0"/>
                <a:t>az104-10-vm0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111A4F06-484D-E79A-33D1-6A0D299DF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44564" y="2298731"/>
              <a:ext cx="482873" cy="436437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31A66A5-979D-6D2D-D7AC-BBEE4E47CD23}"/>
                </a:ext>
              </a:extLst>
            </p:cNvPr>
            <p:cNvSpPr/>
            <p:nvPr/>
          </p:nvSpPr>
          <p:spPr bwMode="auto">
            <a:xfrm>
              <a:off x="2621316" y="4480334"/>
              <a:ext cx="2941762" cy="107244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32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F5ED09-74A5-F0B6-9F28-A81F7930B037}"/>
                </a:ext>
              </a:extLst>
            </p:cNvPr>
            <p:cNvSpPr txBox="1"/>
            <p:nvPr/>
          </p:nvSpPr>
          <p:spPr>
            <a:xfrm>
              <a:off x="4723437" y="4496192"/>
              <a:ext cx="839641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32" b="1" dirty="0">
                  <a:solidFill>
                    <a:schemeClr val="tx2">
                      <a:lumMod val="50000"/>
                    </a:schemeClr>
                  </a:solidFill>
                </a:rPr>
                <a:t>Task</a:t>
              </a:r>
              <a:r>
                <a:rPr lang="fr-FR" sz="1632" b="1" dirty="0">
                  <a:solidFill>
                    <a:schemeClr val="tx2">
                      <a:lumMod val="50000"/>
                    </a:schemeClr>
                  </a:solidFill>
                </a:rPr>
                <a:t> 3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501F1D6F-C21D-1B63-71D9-35229CC55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773799" y="4531456"/>
              <a:ext cx="776923" cy="702209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CBB2511-5AAD-2CB6-3DB5-6FEA7C09F2FD}"/>
                </a:ext>
              </a:extLst>
            </p:cNvPr>
            <p:cNvSpPr txBox="1"/>
            <p:nvPr/>
          </p:nvSpPr>
          <p:spPr>
            <a:xfrm>
              <a:off x="3510260" y="1328965"/>
              <a:ext cx="1434353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32" b="1" dirty="0"/>
                <a:t>Region 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72105A-BEC4-9A77-C2EC-A1C32D0DB1E8}"/>
                </a:ext>
              </a:extLst>
            </p:cNvPr>
            <p:cNvSpPr txBox="1"/>
            <p:nvPr/>
          </p:nvSpPr>
          <p:spPr>
            <a:xfrm>
              <a:off x="8267224" y="1355829"/>
              <a:ext cx="1434353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32" b="1" dirty="0"/>
                <a:t>Region 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33E1ED-63E3-6A5B-CA3B-6CE77C4A18E7}"/>
                </a:ext>
              </a:extLst>
            </p:cNvPr>
            <p:cNvSpPr txBox="1"/>
            <p:nvPr/>
          </p:nvSpPr>
          <p:spPr>
            <a:xfrm>
              <a:off x="3331743" y="5206606"/>
              <a:ext cx="1691499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32" dirty="0"/>
                <a:t>Azure Backup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919731-8C3C-1CBD-5DE1-671C0404345C}"/>
                </a:ext>
              </a:extLst>
            </p:cNvPr>
            <p:cNvSpPr txBox="1"/>
            <p:nvPr/>
          </p:nvSpPr>
          <p:spPr>
            <a:xfrm>
              <a:off x="4682991" y="2061451"/>
              <a:ext cx="839641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32" b="1" dirty="0">
                  <a:solidFill>
                    <a:schemeClr val="tx2">
                      <a:lumMod val="50000"/>
                    </a:schemeClr>
                  </a:solidFill>
                </a:rPr>
                <a:t>Task 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D4A212F-6E30-EEA9-505B-6004AE696926}"/>
                </a:ext>
              </a:extLst>
            </p:cNvPr>
            <p:cNvSpPr/>
            <p:nvPr/>
          </p:nvSpPr>
          <p:spPr bwMode="auto">
            <a:xfrm>
              <a:off x="7381629" y="2093287"/>
              <a:ext cx="2941762" cy="107244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32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7383ECB-1BA4-2D5D-44A2-E14BEB819FA8}"/>
                </a:ext>
              </a:extLst>
            </p:cNvPr>
            <p:cNvSpPr txBox="1"/>
            <p:nvPr/>
          </p:nvSpPr>
          <p:spPr>
            <a:xfrm>
              <a:off x="9560585" y="2090073"/>
              <a:ext cx="839641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32" b="1" dirty="0">
                  <a:solidFill>
                    <a:schemeClr val="tx2">
                      <a:lumMod val="50000"/>
                    </a:schemeClr>
                  </a:solidFill>
                </a:rPr>
                <a:t>Task</a:t>
              </a:r>
              <a:r>
                <a:rPr lang="fr-FR" sz="1632" b="1" dirty="0">
                  <a:solidFill>
                    <a:schemeClr val="tx2">
                      <a:lumMod val="50000"/>
                    </a:schemeClr>
                  </a:solidFill>
                </a:rPr>
                <a:t> 5</a:t>
              </a:r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F5AC97D3-5D5B-CA48-0010-5ACE7D834DB9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4227437" y="2513435"/>
              <a:ext cx="3154192" cy="351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C4C300B1-B0BB-FC0B-2549-7C8DC00F8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06872" y="2142981"/>
              <a:ext cx="676899" cy="611804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CDE51806-C48D-FE5D-19B4-2BE1136B8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2031" y="4645757"/>
              <a:ext cx="843257" cy="76216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110FD9-6AF8-F014-FE53-14417713A270}"/>
                </a:ext>
              </a:extLst>
            </p:cNvPr>
            <p:cNvSpPr txBox="1"/>
            <p:nvPr/>
          </p:nvSpPr>
          <p:spPr>
            <a:xfrm>
              <a:off x="907371" y="4291646"/>
              <a:ext cx="839641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32" b="1" dirty="0">
                  <a:solidFill>
                    <a:schemeClr val="tx2">
                      <a:lumMod val="50000"/>
                    </a:schemeClr>
                  </a:solidFill>
                </a:rPr>
                <a:t>Task</a:t>
              </a:r>
              <a:r>
                <a:rPr lang="fr-FR" sz="1632" b="1" dirty="0">
                  <a:solidFill>
                    <a:schemeClr val="tx2">
                      <a:lumMod val="50000"/>
                    </a:schemeClr>
                  </a:solidFill>
                </a:rPr>
                <a:t> 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B5C432D-55E1-2773-6096-02014614B796}"/>
                </a:ext>
              </a:extLst>
            </p:cNvPr>
            <p:cNvSpPr txBox="1"/>
            <p:nvPr/>
          </p:nvSpPr>
          <p:spPr>
            <a:xfrm>
              <a:off x="829873" y="5386566"/>
              <a:ext cx="961495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32" dirty="0"/>
                <a:t>Monitor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0C9D10B-6B99-5452-34B1-BAAB0D97815B}"/>
                </a:ext>
              </a:extLst>
            </p:cNvPr>
            <p:cNvCxnSpPr>
              <a:cxnSpLocks/>
              <a:stCxn id="36" idx="3"/>
              <a:endCxn id="25" idx="1"/>
            </p:cNvCxnSpPr>
            <p:nvPr/>
          </p:nvCxnSpPr>
          <p:spPr>
            <a:xfrm flipV="1">
              <a:off x="1715288" y="5016556"/>
              <a:ext cx="906028" cy="1028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8AE8CE8-EF27-EF24-0D71-8C5C30AACBBC}"/>
                </a:ext>
              </a:extLst>
            </p:cNvPr>
            <p:cNvSpPr txBox="1"/>
            <p:nvPr/>
          </p:nvSpPr>
          <p:spPr>
            <a:xfrm>
              <a:off x="8000534" y="2754785"/>
              <a:ext cx="2110168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32" dirty="0"/>
                <a:t>az104-rsv-region2</a:t>
              </a: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E492AE61-98D5-776E-5699-AB90FF98D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08411" y="2136247"/>
              <a:ext cx="676899" cy="61180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360B79-13B1-ED44-59F4-70E3AEEC19C5}"/>
                </a:ext>
              </a:extLst>
            </p:cNvPr>
            <p:cNvSpPr txBox="1"/>
            <p:nvPr/>
          </p:nvSpPr>
          <p:spPr>
            <a:xfrm>
              <a:off x="5851894" y="2694741"/>
              <a:ext cx="1296266" cy="3748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36" dirty="0"/>
                <a:t>replication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344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303C1C7C00F045B33B06D7CDCE8711" ma:contentTypeVersion="6" ma:contentTypeDescription="Create a new document." ma:contentTypeScope="" ma:versionID="d2955efeaedeea000cf8c17f03f58435">
  <xsd:schema xmlns:xsd="http://www.w3.org/2001/XMLSchema" xmlns:xs="http://www.w3.org/2001/XMLSchema" xmlns:p="http://schemas.microsoft.com/office/2006/metadata/properties" xmlns:ns3="9b18da4c-8642-4680-9c2c-33eac315f718" targetNamespace="http://schemas.microsoft.com/office/2006/metadata/properties" ma:root="true" ma:fieldsID="5414c9e87e62002766041a340a06b184" ns3:_="">
    <xsd:import namespace="9b18da4c-8642-4680-9c2c-33eac315f71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18da4c-8642-4680-9c2c-33eac315f71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b18da4c-8642-4680-9c2c-33eac315f718" xsi:nil="true"/>
  </documentManagement>
</p:properties>
</file>

<file path=customXml/itemProps1.xml><?xml version="1.0" encoding="utf-8"?>
<ds:datastoreItem xmlns:ds="http://schemas.openxmlformats.org/officeDocument/2006/customXml" ds:itemID="{3D2EC4DA-9FDF-482B-B57F-11F17F0613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29F27B-69EC-4398-B471-22ED6E2434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18da4c-8642-4680-9c2c-33eac315f7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74E3C3-BB1D-4C76-A5DE-6E27BE2D7557}">
  <ds:schemaRefs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9b18da4c-8642-4680-9c2c-33eac315f71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911</Words>
  <Application>Microsoft Office PowerPoint</Application>
  <PresentationFormat>Widescreen</PresentationFormat>
  <Paragraphs>163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Lato</vt:lpstr>
      <vt:lpstr>Proxima Nova</vt:lpstr>
      <vt:lpstr>Segoe UI</vt:lpstr>
      <vt:lpstr>Segoe UI Semibold</vt:lpstr>
      <vt:lpstr>Segoe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Nikunj Singhal</cp:lastModifiedBy>
  <cp:revision>87</cp:revision>
  <dcterms:created xsi:type="dcterms:W3CDTF">2024-07-23T11:56:01Z</dcterms:created>
  <dcterms:modified xsi:type="dcterms:W3CDTF">2024-11-25T09:20:15Z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0x01010096303C1C7C00F045B33B06D7CDCE8711</vt:lpwstr>
  </property>
</Properties>
</file>