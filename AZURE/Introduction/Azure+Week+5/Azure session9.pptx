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12192000"/>
  <p:notesSz cx="6858000" cy="9144000"/>
  <p:embeddedFontLst>
    <p:embeddedFont>
      <p:font typeface="Proxima Nova"/>
      <p:regular r:id="rId44"/>
      <p:bold r:id="rId45"/>
      <p:italic r:id="rId46"/>
      <p:boldItalic r:id="rId47"/>
    </p:embeddedFont>
    <p:embeddedFont>
      <p:font typeface="Lato"/>
      <p:regular r:id="rId48"/>
      <p:bold r:id="rId49"/>
      <p:italic r:id="rId50"/>
      <p:boldItalic r:id="rId51"/>
    </p:embeddedFont>
    <p:embeddedFont>
      <p:font typeface="Quattrocento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6" roundtripDataSignature="AMtx7mjWmrQY2NpBhAeoVPfWmtsiwD58/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3" name="Payal Oak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0390FA-BAEE-4900-BDFF-1BFBC1B74F88}">
  <a:tblStyle styleId="{D70390FA-BAEE-4900-BDFF-1BFBC1B74F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AE582616-0ED8-4646-A9FB-8E8EB8BFD7D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ProximaNova-regular.fntdata"/><Relationship Id="rId43" Type="http://schemas.openxmlformats.org/officeDocument/2006/relationships/slide" Target="slides/slide37.xml"/><Relationship Id="rId46" Type="http://schemas.openxmlformats.org/officeDocument/2006/relationships/font" Target="fonts/ProximaNova-italic.fntdata"/><Relationship Id="rId45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48" Type="http://schemas.openxmlformats.org/officeDocument/2006/relationships/font" Target="fonts/Lato-regular.fntdata"/><Relationship Id="rId47" Type="http://schemas.openxmlformats.org/officeDocument/2006/relationships/font" Target="fonts/ProximaNova-boldItalic.fntdata"/><Relationship Id="rId49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ato-boldItalic.fntdata"/><Relationship Id="rId50" Type="http://schemas.openxmlformats.org/officeDocument/2006/relationships/font" Target="fonts/Lato-italic.fntdata"/><Relationship Id="rId53" Type="http://schemas.openxmlformats.org/officeDocument/2006/relationships/font" Target="fonts/QuattrocentoSans-bold.fntdata"/><Relationship Id="rId52" Type="http://schemas.openxmlformats.org/officeDocument/2006/relationships/font" Target="fonts/QuattrocentoSans-regular.fntdata"/><Relationship Id="rId11" Type="http://schemas.openxmlformats.org/officeDocument/2006/relationships/slide" Target="slides/slide5.xml"/><Relationship Id="rId55" Type="http://schemas.openxmlformats.org/officeDocument/2006/relationships/font" Target="fonts/QuattrocentoSans-boldItalic.fntdata"/><Relationship Id="rId10" Type="http://schemas.openxmlformats.org/officeDocument/2006/relationships/slide" Target="slides/slide4.xml"/><Relationship Id="rId54" Type="http://schemas.openxmlformats.org/officeDocument/2006/relationships/font" Target="fonts/Quattrocento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10-23T10:29:13.717">
    <p:pos x="780" y="1905"/>
    <p:text>Ensure that the spacing, hyphenation and casing of all the technical terms in this PPT are consistent and accurate throughout and make revisions accordingly.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FIGrxs"/>
      </p:ext>
    </p:extLst>
  </p:cm>
  <p:cm authorId="0" idx="2" dt="2024-10-23T10:29:25.185">
    <p:pos x="780" y="2005"/>
    <p:text>Please enter the missing text.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FIGrxw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4-10-23T10:29:39.708">
    <p:pos x="360" y="997"/>
    <p:text>Such slide headings are usually in all caps - please check and revise throughout accordingly.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FIGrx0"/>
      </p:ext>
    </p:extLst>
  </p:cm>
  <p:cm authorId="0" idx="4" dt="2024-10-23T10:31:15.830">
    <p:pos x="4144" y="1721"/>
    <p:text>Ensure that the casing of this is accurate and consistent throughout the document (plan vs Plan).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FIGrx4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4-10-23T10:39:51.431">
    <p:pos x="2582" y="3145"/>
    <p:text>Dedicate compute resources?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FIGrx8"/>
      </p:ext>
    </p:extLst>
  </p:cm>
  <p:cm authorId="0" idx="6" dt="2024-10-23T10:40:01.748">
    <p:pos x="5046" y="3145"/>
    <p:text>What is Isolated?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FIGryA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4-10-23T10:44:28.868">
    <p:pos x="238" y="2160"/>
    <p:text>Increased developer productivity?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FIGryI"/>
      </p:ext>
    </p:extLst>
  </p:cm>
  <p:cm authorId="0" idx="8" dt="2024-10-23T10:44:19.329">
    <p:pos x="238" y="2260"/>
    <p:text>other what?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FIGryE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4-10-23T10:45:21.647">
    <p:pos x="144" y="3288"/>
    <p:text>Ensure that the casing of this is accurate and consistent throughout the document (Service Plan vs service plan).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FIGryM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4-10-23T10:59:27.069">
    <p:pos x="348" y="2303"/>
    <p:text>priority-ordered or priority order list?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FIGryc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4-10-23T10:47:03.655">
    <p:pos x="3040" y="3407"/>
    <p:text>Ensure that the casing here is accurate and revise (if applicable).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FIGryQ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4-10-23T10:52:39.513">
    <p:pos x="124" y="763"/>
    <p:text>'Containers vs Virtual Machines'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FIGryU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4-10-23T10:53:15.030">
    <p:pos x="348" y="1175"/>
    <p:text>Ensure that the casing here is accurate and revise (if applicable).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FIGryY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Quattrocento Sans"/>
                <a:ea typeface="Quattrocento Sans"/>
                <a:cs typeface="Quattrocento Sans"/>
                <a:sym typeface="Quattrocento Sans"/>
              </a:rPr>
              <a:t>Five deployment slots could be: Test, Dev, Q&amp;A, Staging</a:t>
            </a:r>
            <a:r>
              <a:rPr lang="en-US">
                <a:latin typeface="Quattrocento Sans"/>
                <a:ea typeface="Quattrocento Sans"/>
                <a:cs typeface="Quattrocento Sans"/>
                <a:sym typeface="Quattrocento Sans"/>
              </a:rPr>
              <a:t> and</a:t>
            </a:r>
            <a:r>
              <a:rPr lang="en-US">
                <a:latin typeface="Quattrocento Sans"/>
                <a:ea typeface="Quattrocento Sans"/>
                <a:cs typeface="Quattrocento Sans"/>
                <a:sym typeface="Quattrocento Sans"/>
              </a:rPr>
              <a:t> Production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Quattrocento Sans"/>
                <a:ea typeface="Quattrocento Sans"/>
                <a:cs typeface="Quattrocento Sans"/>
                <a:sym typeface="Quattrocento Sans"/>
              </a:rPr>
              <a:t>Set up staging environments - https://docs.microsoft.com/azure/app-service/web-sites-staged-publishing?toc=%2Fazure%2Fapp-service%2Ftoc.json#add-a-deployment-slot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 Service Web App – block web access to non-production deployment slots - http://ruslany.net/2014/04/azure-web-sites-block-web-access-to-non-production-deployment-slots/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✔ Each App Service plan mode supports a different number of deployment slots. To find out the number of slots your app’s mode supports, see App Service Limits.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are 3 labs in Module 09. 09a is Web Apps. 09b is ACI. 09c is ACA.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 09a - https://microsoftlearning.github.io/AZ-104-MicrosoftAzureAdministrator/Instructions/Labs/LAB_09a-Implement_Web_Apps.html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Lab 09b - https://microsoftlearning.github.io/AZ-104-MicrosoftAzureAdministrator/Instructions/Labs/LAB_09b-Implement_Azure_Container_Instances.html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Lab 09c - https://microsoftlearning.github.io/AZ-104-MicrosoftAzureAdministrator/Instructions/Labs/LAB_09c-Implement-Azure-Container-Apps.html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13" name="Google Shape;713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4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3.xml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4.xml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5.xml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6.xml"/><Relationship Id="rId4" Type="http://schemas.openxmlformats.org/officeDocument/2006/relationships/image" Target="../media/image3.png"/><Relationship Id="rId5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7.xml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comments" Target="../comments/comment8.xml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comments" Target="../comments/comment9.xml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0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33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rotWithShape="0" algn="t" dir="5400000" dist="3810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"/>
          <p:cNvSpPr txBox="1"/>
          <p:nvPr>
            <p:ph idx="4294967295" type="sldNum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40665" l="25725" r="34749" t="37867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974708" y="2835973"/>
            <a:ext cx="10242584" cy="1891999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rotWithShape="0" algn="t" dir="5400000" dist="381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>
            <p:ph idx="4294967295" type="sldNum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6575" y="339777"/>
            <a:ext cx="839192" cy="83919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1238600" y="3025047"/>
            <a:ext cx="10320821" cy="141019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Course: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Mastering Microsoft Azure	</a:t>
            </a:r>
            <a:endParaRPr>
              <a:extLst>
                <a:ext uri="http://customooxmlschemas.google.com/">
                  <go:slidesCustomData xmlns:go="http://customooxmlschemas.google.com/" textRoundtripDataId="2"/>
                </a:ext>
              </a:extLst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Lecture </a:t>
            </a:r>
            <a:r>
              <a:rPr b="1" lang="en-US" sz="240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o</a:t>
            </a:r>
            <a:r>
              <a:rPr b="1" i="0" lang="en-US" sz="2400" u="none" cap="none" strike="noStrike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n</a:t>
            </a:r>
            <a:r>
              <a:rPr b="1" i="0" lang="en-US" sz="2400" u="none" cap="none" strike="noStrike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:</a:t>
            </a:r>
            <a:endParaRPr>
              <a:extLst>
                <a:ext uri="http://customooxmlschemas.google.com/">
                  <go:slidesCustomData xmlns:go="http://customooxmlschemas.google.com/" textRoundtripDataId="7"/>
                </a:ext>
              </a:extLst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Instructor:</a:t>
            </a:r>
            <a:r>
              <a:rPr b="0" i="0" lang="en-US" sz="2400" u="none" cap="none" strike="noStrike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textRoundtripDataId="10"/>
                  </a:ext>
                </a:extLst>
              </a:rPr>
              <a:t>Siddhesh Prabhugaonkar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502022" y="554705"/>
            <a:ext cx="4035748" cy="10538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9262181" y="674400"/>
            <a:ext cx="1214204" cy="32111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1" y="-6519"/>
            <a:ext cx="2242807" cy="17835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11240112" y="-13039"/>
            <a:ext cx="964928" cy="122063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 rot="10800000">
            <a:off x="11253151" y="6109915"/>
            <a:ext cx="940736" cy="74808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 rot="10800000">
            <a:off x="0" y="6388576"/>
            <a:ext cx="371088" cy="46942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4" name="Google Shape;114;p3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5" name="Google Shape;115;p3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" name="Google Shape;116;p3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7" name="Google Shape;117;p3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8" name="Google Shape;118;p3"/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Proxima Nova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Configure Azure App Service Plans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/>
        </p:nvSpPr>
        <p:spPr>
          <a:xfrm>
            <a:off x="6579604" y="2733052"/>
            <a:ext cx="47616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Implement and manage Azure compute resources (20</a:t>
            </a:r>
            <a:r>
              <a:rPr lang="en-US" sz="1800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%–</a:t>
            </a:r>
            <a:r>
              <a:rPr b="0" i="0" lang="en-US" sz="18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25%)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43A5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Create and configure the Azure App Service</a:t>
            </a:r>
            <a:endParaRPr/>
          </a:p>
          <a:p>
            <a:pPr indent="-173038" lvl="0" marL="17303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Provision an App Service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1"/>
                  </a:ext>
                </a:extLst>
              </a:rPr>
              <a:t>p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2"/>
                  </a:ext>
                </a:extLst>
              </a:rPr>
              <a:t>lan</a:t>
            </a:r>
            <a:endParaRPr/>
          </a:p>
          <a:p>
            <a:pPr indent="-173038" lvl="0" marL="173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Configure scaling for an App Service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</a:t>
            </a:r>
            <a:endParaRPr/>
          </a:p>
        </p:txBody>
      </p:sp>
      <p:sp>
        <p:nvSpPr>
          <p:cNvPr descr="Icon of a document with a checkmark" id="124" name="Google Shape;124;p4"/>
          <p:cNvSpPr/>
          <p:nvPr/>
        </p:nvSpPr>
        <p:spPr>
          <a:xfrm>
            <a:off x="572387" y="2552014"/>
            <a:ext cx="5406682" cy="392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Azure App Service Plans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the App Service Plan Pricing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 Up and Scale Out the App Service Plan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App Service Plan Scaling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Azure App Service Plans: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Demonstration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Recap</a:t>
            </a:r>
            <a:endParaRPr/>
          </a:p>
          <a:p>
            <a:pPr indent="-215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572387" y="1584285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3"/>
                  </a:ext>
                </a:extLst>
              </a:rPr>
              <a:t>Learning Objectives</a:t>
            </a: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4"/>
                  </a:ext>
                </a:extLst>
              </a:rPr>
              <a:t>: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5"/>
                  </a:ext>
                </a:extLst>
              </a:rPr>
              <a:t> Configure Azure App Service Plans </a:t>
            </a:r>
            <a:endParaRPr/>
          </a:p>
        </p:txBody>
      </p:sp>
      <p:sp>
        <p:nvSpPr>
          <p:cNvPr id="126" name="Google Shape;126;p4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9" name="Google Shape;129;p4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0" name="Google Shape;130;p4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1" name="Google Shape;131;p4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2" name="Google Shape;132;p4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/>
        </p:nvSpPr>
        <p:spPr>
          <a:xfrm>
            <a:off x="656341" y="2511814"/>
            <a:ext cx="8345375" cy="3846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Determines the performance, price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features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a set of compute resources for a web app to run:</a:t>
            </a:r>
            <a:endParaRPr/>
          </a:p>
          <a:p>
            <a:pPr indent="-342900" lvl="1" marL="809271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 where compute resources will be created </a:t>
            </a:r>
            <a:endParaRPr/>
          </a:p>
          <a:p>
            <a:pPr indent="-342900" lvl="1" marL="809271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virtual machine instances </a:t>
            </a:r>
            <a:endParaRPr/>
          </a:p>
          <a:p>
            <a:pPr indent="-342900" lvl="1" marL="809271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of virtual machine instances </a:t>
            </a:r>
            <a:endParaRPr/>
          </a:p>
          <a:p>
            <a:pPr indent="-342900" lvl="1" marL="809271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 tier (next slide)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or more apps can be configured to run in the same App Service plan</a:t>
            </a:r>
            <a:endParaRPr/>
          </a:p>
          <a:p>
            <a:pPr indent="-2032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656341" y="1681794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Azure App Service Plans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2" name="Google Shape;142;p5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3" name="Google Shape;143;p5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4" name="Google Shape;144;p5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5" name="Google Shape;145;p5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46" name="Google Shape;1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18736" y="2912208"/>
            <a:ext cx="1785116" cy="1785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8010807" y="4993989"/>
            <a:ext cx="3754389" cy="16071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6"/>
                  </a:ext>
                </a:extLst>
              </a:rPr>
              <a:t>Isolated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 apps 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dedicated Azure VMs in dedicated Azure virtual networks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4099577" y="4993989"/>
            <a:ext cx="3754389" cy="16071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7"/>
                  </a:ext>
                </a:extLst>
              </a:rPr>
              <a:t>Dedicated compute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7"/>
                  </a:ext>
                </a:extLst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(Basic, Standard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Premium)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apps in the same plan in dedicated Azure VMs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188348" y="4993989"/>
            <a:ext cx="3754389" cy="16071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compute (Free and Shared) Run apps 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same Azure VM as other App Service apps,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resources cannot scale out</a:t>
            </a:r>
            <a:endParaRPr/>
          </a:p>
        </p:txBody>
      </p:sp>
      <p:sp>
        <p:nvSpPr>
          <p:cNvPr id="154" name="Google Shape;154;p6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7" name="Google Shape;157;p6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8" name="Google Shape;158;p6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9" name="Google Shape;159;p6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0" name="Google Shape;160;p6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1" name="Google Shape;161;p6"/>
          <p:cNvSpPr txBox="1"/>
          <p:nvPr/>
        </p:nvSpPr>
        <p:spPr>
          <a:xfrm>
            <a:off x="220894" y="856732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App Service Plan Pricing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" name="Google Shape;162;p6"/>
          <p:cNvGraphicFramePr/>
          <p:nvPr/>
        </p:nvGraphicFramePr>
        <p:xfrm>
          <a:off x="220894" y="15448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{D70390FA-BAEE-4900-BDFF-1BFBC1B74F88}</a:tableStyleId>
              </a:tblPr>
              <a:tblGrid>
                <a:gridCol w="1824750"/>
                <a:gridCol w="821125"/>
                <a:gridCol w="1277325"/>
                <a:gridCol w="1529850"/>
                <a:gridCol w="1562100"/>
                <a:gridCol w="2095500"/>
                <a:gridCol w="24717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Selected Features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Free 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Shared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(dev/test)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Basic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(dedicated dev/test)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Standard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(production workloads)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Premium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(enhanced scale</a:t>
                      </a:r>
                      <a:b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</a:b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and performance)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Isolated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(high-performance, security and isolation)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Web, mobile or API apps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Unlimited 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Unlimited 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Unlimited 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Unlimited 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Disk space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GB 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GB 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GB 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GB 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 GB 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TB 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 Scale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Supported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Supported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Supported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Deployment </a:t>
                      </a:r>
                      <a:r>
                        <a:rPr lang="en-US" sz="1600"/>
                        <a:t>s</a:t>
                      </a: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lots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</a:t>
                      </a:r>
                      <a:r>
                        <a:rPr lang="en-US" sz="1600"/>
                        <a:t>i</a:t>
                      </a: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nstances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Quattrocento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–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Quattrocento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–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 to 3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 to 10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 to 30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 to 100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/>
          <p:nvPr/>
        </p:nvSpPr>
        <p:spPr>
          <a:xfrm>
            <a:off x="5926728" y="5158559"/>
            <a:ext cx="6034915" cy="136149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 out (increase the number of VM instances):</a:t>
            </a:r>
            <a:endParaRPr/>
          </a:p>
          <a:p>
            <a:pPr indent="-285750" lvl="1" marL="2857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(fixed number of instances)</a:t>
            </a:r>
            <a:endParaRPr/>
          </a:p>
          <a:p>
            <a:pPr indent="-285750" lvl="1" marL="2857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Autoscale (based on the predefined rules and schedules)</a:t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79243" y="5158559"/>
            <a:ext cx="5391773" cy="136149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 up (change the App Service plan):</a:t>
            </a:r>
            <a:endParaRPr/>
          </a:p>
          <a:p>
            <a:pPr indent="-285750" lvl="1" marL="2857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hardware (CPU, memory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disk)</a:t>
            </a:r>
            <a:endParaRPr/>
          </a:p>
          <a:p>
            <a:pPr indent="-285750" lvl="1" marL="2857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features (dedicated virtual machines, staging slots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autoscaling)</a:t>
            </a:r>
            <a:endParaRPr/>
          </a:p>
        </p:txBody>
      </p:sp>
      <p:sp>
        <p:nvSpPr>
          <p:cNvPr id="169" name="Google Shape;169;p7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0" name="Google Shape;1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2" name="Google Shape;172;p7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3" name="Google Shape;173;p7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4" name="Google Shape;174;p7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5" name="Google Shape;175;p7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6" name="Google Shape;176;p7"/>
          <p:cNvSpPr txBox="1"/>
          <p:nvPr/>
        </p:nvSpPr>
        <p:spPr>
          <a:xfrm>
            <a:off x="224004" y="1020854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 Up and Scale Out the App Service Plan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scaling out the App Service Plan.  Manual scale is selected and Instance count is set to 3" id="177" name="Google Shape;17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475" y="1660983"/>
            <a:ext cx="11017251" cy="3218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8159784" y="5362838"/>
            <a:ext cx="1732804" cy="128174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implement multiple rules - combine metrics and schedules</a:t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2035692" y="5362838"/>
            <a:ext cx="1732804" cy="128174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Improves availability and fault tolerance</a:t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172940" y="5362838"/>
            <a:ext cx="1732804" cy="128174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Adjust t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 resources based on the current demand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86" name="Google Shape;1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8" name="Google Shape;188;p8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9" name="Google Shape;189;p8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0" name="Google Shape;190;p8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1" name="Google Shape;191;p8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2" name="Google Shape;192;p8"/>
          <p:cNvSpPr txBox="1"/>
          <p:nvPr/>
        </p:nvSpPr>
        <p:spPr>
          <a:xfrm>
            <a:off x="172940" y="1039441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App Service Plan Scaling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 shot of the Default scale condition. Options available to scale based on a metric, add a rule, and define instance limits" id="193" name="Google Shape;19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6278" y="1763998"/>
            <a:ext cx="8899524" cy="336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/>
          <p:nvPr/>
        </p:nvSpPr>
        <p:spPr>
          <a:xfrm>
            <a:off x="3905271" y="5362838"/>
            <a:ext cx="2282126" cy="128174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 based on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metric (CPU percentage, memory percentage and HTTP requests) </a:t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6297032" y="5362838"/>
            <a:ext cx="1732804" cy="128174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 according to a schedule (weekdays, weekends, times and holidays)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10022536" y="5362838"/>
            <a:ext cx="1732804" cy="128174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scale in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02" name="Google Shape;2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4" name="Google Shape;204;p9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5" name="Google Shape;205;p9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6" name="Google Shape;206;p9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7" name="Google Shape;207;p9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8" name="Google Shape;208;p9"/>
          <p:cNvSpPr txBox="1"/>
          <p:nvPr/>
        </p:nvSpPr>
        <p:spPr>
          <a:xfrm>
            <a:off x="379243" y="2336486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App Service Plans: 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Demonstration 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849347" y="3400185"/>
            <a:ext cx="7498753" cy="1593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and deploy a simple App Service Plan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scaling options</a:t>
            </a:r>
            <a:endParaRPr/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15" name="Google Shape;2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7" name="Google Shape;217;p10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8" name="Google Shape;218;p10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9" name="Google Shape;219;p10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0" name="Google Shape;220;p10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1" name="Google Shape;221;p10"/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Proxima Nova"/>
              <a:buNone/>
            </a:pPr>
            <a:r>
              <a:rPr lang="en-US" sz="3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Configure Azure App Services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 txBox="1"/>
          <p:nvPr/>
        </p:nvSpPr>
        <p:spPr>
          <a:xfrm>
            <a:off x="6518427" y="2584631"/>
            <a:ext cx="47616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Implement and manage Azure compute resources (20</a:t>
            </a:r>
            <a:r>
              <a:rPr lang="en-US" sz="1800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%–</a:t>
            </a:r>
            <a:r>
              <a:rPr b="0" i="0" lang="en-US" sz="18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25%)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43A5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Create and configure the Azure App Service</a:t>
            </a:r>
            <a:endParaRPr/>
          </a:p>
          <a:p>
            <a:pPr indent="-173038" lvl="0" marL="173038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an App Service</a:t>
            </a:r>
            <a:endParaRPr/>
          </a:p>
          <a:p>
            <a:pPr indent="-173038" lvl="0" marL="173038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Configure certificates and TLS</a:t>
            </a:r>
            <a:endParaRPr/>
          </a:p>
          <a:p>
            <a:pPr indent="-173038" lvl="0" marL="173038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Map an existing custom DNS name</a:t>
            </a:r>
            <a:endParaRPr/>
          </a:p>
          <a:p>
            <a:pPr indent="-173038" lvl="0" marL="173038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Configure backup</a:t>
            </a:r>
            <a:endParaRPr/>
          </a:p>
          <a:p>
            <a:pPr indent="-173038" lvl="0" marL="173038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Configure networking settings</a:t>
            </a:r>
            <a:endParaRPr/>
          </a:p>
          <a:p>
            <a:pPr indent="-173038" lvl="0" marL="173038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Configure deployment slots</a:t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511210" y="2177167"/>
            <a:ext cx="5892631" cy="43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the Azure App Service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an App Service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Deployment Slots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Deployment Slots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an App Service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Custom Domain Names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 up an App Service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 App Services: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Demonstration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Recap</a:t>
            </a:r>
            <a:endParaRPr/>
          </a:p>
        </p:txBody>
      </p:sp>
      <p:sp>
        <p:nvSpPr>
          <p:cNvPr id="228" name="Google Shape;228;p11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29" name="Google Shape;22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1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1" name="Google Shape;231;p11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2" name="Google Shape;232;p11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3" name="Google Shape;233;p11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4" name="Google Shape;234;p11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5" name="Google Shape;235;p11"/>
          <p:cNvSpPr txBox="1"/>
          <p:nvPr/>
        </p:nvSpPr>
        <p:spPr>
          <a:xfrm>
            <a:off x="879920" y="1545715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Objectives: Configure Azure App Services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379243" y="3429000"/>
            <a:ext cx="11585448" cy="284053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7150" lIns="182875" spcFirstLastPara="1" rIns="182875" wrap="square" tIns="137150">
            <a:noAutofit/>
          </a:bodyPr>
          <a:lstStyle/>
          <a:p>
            <a:pPr indent="-225425" lvl="0" marL="2254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Includes Web Apps, API Apps, Mobile Apps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Apps</a:t>
            </a:r>
            <a:endParaRPr/>
          </a:p>
          <a:p>
            <a:pPr indent="-225425" lvl="0" marL="22542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Fully managed environment enabling high productivity development</a:t>
            </a:r>
            <a:endParaRPr/>
          </a:p>
          <a:p>
            <a:pPr indent="-225425" lvl="0" marL="22542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Platform-as-a-service (PaaS) offering for building and deploying highly available cloud apps 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web and mobile</a:t>
            </a:r>
            <a:endParaRPr/>
          </a:p>
          <a:p>
            <a:pPr indent="-225425" lvl="0" marL="22542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 handles the infrastructure so that developers can focus on core web apps and services</a:t>
            </a:r>
            <a:endParaRPr/>
          </a:p>
          <a:p>
            <a:pPr indent="-225425" lvl="0" marL="22542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8"/>
                  </a:ext>
                </a:extLst>
              </a:rPr>
              <a:t>Developer productivity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.NET, .NET Core, Java, Python and a host of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9"/>
                  </a:ext>
                </a:extLst>
              </a:rPr>
              <a:t>others</a:t>
            </a:r>
            <a:endParaRPr/>
          </a:p>
          <a:p>
            <a:pPr indent="-225425" lvl="0" marL="22542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enterprise-grade security and compliance</a:t>
            </a:r>
            <a:endParaRPr/>
          </a:p>
        </p:txBody>
      </p:sp>
      <p:pic>
        <p:nvPicPr>
          <p:cNvPr id="242" name="Google Shape;24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2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4" name="Google Shape;244;p12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5" name="Google Shape;245;p12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6" name="Google Shape;246;p12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7" name="Google Shape;247;p12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8" name="Google Shape;248;p12"/>
          <p:cNvSpPr txBox="1"/>
          <p:nvPr/>
        </p:nvSpPr>
        <p:spPr>
          <a:xfrm>
            <a:off x="379243" y="1007515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Azure App Service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velopment tools : .NET, Node.js, PHP, Java, Python, HTML and Custom Windows or Linux Container" id="249" name="Google Shape;24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130" y="1868015"/>
            <a:ext cx="10829925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/>
          <p:nvPr/>
        </p:nvSpPr>
        <p:spPr>
          <a:xfrm>
            <a:off x="524096" y="2382304"/>
            <a:ext cx="5122862" cy="76798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using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azurewebsites.net -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map to a custom domain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56" name="Google Shape;2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3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8" name="Google Shape;258;p13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9" name="Google Shape;259;p13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0" name="Google Shape;260;p13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1" name="Google Shape;261;p13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2" name="Google Shape;262;p13"/>
          <p:cNvSpPr txBox="1"/>
          <p:nvPr/>
        </p:nvSpPr>
        <p:spPr>
          <a:xfrm>
            <a:off x="548481" y="932642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an App Service</a:t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524096" y="1762662"/>
            <a:ext cx="5122862" cy="46078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must be unique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524096" y="3309139"/>
            <a:ext cx="5122862" cy="46078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Publish Code (Runtime Stack) 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524096" y="3928781"/>
            <a:ext cx="5122862" cy="46078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Publish Docker Container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524096" y="4548423"/>
            <a:ext cx="5122862" cy="46078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Linux or Windows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524096" y="5168066"/>
            <a:ext cx="5122862" cy="46078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 closest to your users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524096" y="5787709"/>
            <a:ext cx="5122862" cy="46078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Service Plan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shot of the Create Web App configuration page including the Publish radio button for Code or Docker Image" id="269" name="Google Shape;26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5074" y="1630146"/>
            <a:ext cx="5513556" cy="5024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/>
          <p:nvPr/>
        </p:nvSpPr>
        <p:spPr>
          <a:xfrm>
            <a:off x="8058034" y="5220894"/>
            <a:ext cx="1797212" cy="1264283"/>
          </a:xfrm>
          <a:custGeom>
            <a:rect b="b" l="l" r="r" t="t"/>
            <a:pathLst>
              <a:path extrusionOk="0" h="821142" w="1642285">
                <a:moveTo>
                  <a:pt x="0" y="0"/>
                </a:moveTo>
                <a:lnTo>
                  <a:pt x="1642285" y="0"/>
                </a:lnTo>
                <a:lnTo>
                  <a:pt x="1642285" y="821142"/>
                </a:lnTo>
                <a:lnTo>
                  <a:pt x="0" y="82114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Fallback to a last known good site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4143959" y="5220894"/>
            <a:ext cx="1797212" cy="1264283"/>
          </a:xfrm>
          <a:custGeom>
            <a:rect b="b" l="l" r="r" t="t"/>
            <a:pathLst>
              <a:path extrusionOk="0" h="821142" w="1642285">
                <a:moveTo>
                  <a:pt x="0" y="0"/>
                </a:moveTo>
                <a:lnTo>
                  <a:pt x="1642285" y="0"/>
                </a:lnTo>
                <a:lnTo>
                  <a:pt x="1642285" y="821142"/>
                </a:lnTo>
                <a:lnTo>
                  <a:pt x="0" y="82114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slots are live apps with their own hostnames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78" name="Google Shape;27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4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0" name="Google Shape;280;p14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1" name="Google Shape;281;p14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2" name="Google Shape;282;p14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3" name="Google Shape;283;p14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4" name="Google Shape;284;p14"/>
          <p:cNvSpPr txBox="1"/>
          <p:nvPr/>
        </p:nvSpPr>
        <p:spPr>
          <a:xfrm>
            <a:off x="240647" y="844688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Deployment Slots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501732" y="1690574"/>
            <a:ext cx="419319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Deployment with Stage Slot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descr="Graphic showing that two developers are sending information to GitHub. GitHub is sending information to the Staging slot. A production slot is shown which can swap information with the staging slot" id="286" name="Google Shape;286;p14"/>
          <p:cNvGrpSpPr/>
          <p:nvPr/>
        </p:nvGrpSpPr>
        <p:grpSpPr>
          <a:xfrm>
            <a:off x="507935" y="2427547"/>
            <a:ext cx="5685194" cy="2429358"/>
            <a:chOff x="732426" y="2150316"/>
            <a:chExt cx="5685194" cy="2429358"/>
          </a:xfrm>
        </p:grpSpPr>
        <p:pic>
          <p:nvPicPr>
            <p:cNvPr descr="Icon of a computer screen" id="287" name="Google Shape;287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209" y="2150316"/>
              <a:ext cx="439465" cy="4394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14"/>
            <p:cNvSpPr txBox="1"/>
            <p:nvPr/>
          </p:nvSpPr>
          <p:spPr>
            <a:xfrm>
              <a:off x="732426" y="2691418"/>
              <a:ext cx="815031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Developer 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9" name="Google Shape;289;p14"/>
            <p:cNvCxnSpPr/>
            <p:nvPr/>
          </p:nvCxnSpPr>
          <p:spPr>
            <a:xfrm>
              <a:off x="1695135" y="2531740"/>
              <a:ext cx="594481" cy="721607"/>
            </a:xfrm>
            <a:prstGeom prst="straightConnector1">
              <a:avLst/>
            </a:prstGeom>
            <a:noFill/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pic>
          <p:nvPicPr>
            <p:cNvPr descr="Icon of a computer screen" id="290" name="Google Shape;290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209" y="3839260"/>
              <a:ext cx="439465" cy="4394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14"/>
            <p:cNvSpPr txBox="1"/>
            <p:nvPr/>
          </p:nvSpPr>
          <p:spPr>
            <a:xfrm>
              <a:off x="732426" y="4395008"/>
              <a:ext cx="815031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Developer 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2" name="Google Shape;292;p14"/>
            <p:cNvCxnSpPr/>
            <p:nvPr/>
          </p:nvCxnSpPr>
          <p:spPr>
            <a:xfrm flipH="1" rot="10800000">
              <a:off x="1695135" y="3482506"/>
              <a:ext cx="596086" cy="723427"/>
            </a:xfrm>
            <a:prstGeom prst="straightConnector1">
              <a:avLst/>
            </a:prstGeom>
            <a:noFill/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93" name="Google Shape;293;p14"/>
            <p:cNvSpPr/>
            <p:nvPr/>
          </p:nvSpPr>
          <p:spPr>
            <a:xfrm>
              <a:off x="2431298" y="2820568"/>
              <a:ext cx="992869" cy="992869"/>
            </a:xfrm>
            <a:prstGeom prst="rect">
              <a:avLst/>
            </a:prstGeom>
            <a:solidFill>
              <a:srgbClr val="243A5E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GitHub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Github character silhouette | Free Icon" id="294" name="Google Shape;294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36475" y="2914748"/>
              <a:ext cx="582514" cy="58251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14"/>
            <p:cNvCxnSpPr/>
            <p:nvPr/>
          </p:nvCxnSpPr>
          <p:spPr>
            <a:xfrm>
              <a:off x="3481368" y="3317002"/>
              <a:ext cx="404556" cy="0"/>
            </a:xfrm>
            <a:prstGeom prst="straightConnector1">
              <a:avLst/>
            </a:prstGeom>
            <a:noFill/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pic>
          <p:nvPicPr>
            <p:cNvPr descr="Icons of a series of circles with rings enclosing a bigger circle at the centre" id="296" name="Google Shape;296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67369" y="2999117"/>
              <a:ext cx="439465" cy="4394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" name="Google Shape;297;p14"/>
            <p:cNvSpPr txBox="1"/>
            <p:nvPr/>
          </p:nvSpPr>
          <p:spPr>
            <a:xfrm>
              <a:off x="4229883" y="3554220"/>
              <a:ext cx="514436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Staging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8" name="Google Shape;298;p14"/>
            <p:cNvCxnSpPr/>
            <p:nvPr/>
          </p:nvCxnSpPr>
          <p:spPr>
            <a:xfrm>
              <a:off x="5041106" y="3317002"/>
              <a:ext cx="440532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299" name="Google Shape;299;p14"/>
            <p:cNvSpPr txBox="1"/>
            <p:nvPr/>
          </p:nvSpPr>
          <p:spPr>
            <a:xfrm>
              <a:off x="5094301" y="3023188"/>
              <a:ext cx="358624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Swap</a:t>
              </a:r>
              <a:endParaRPr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cons of a series of circles with rings enclosing a bigger circle at the centre" id="300" name="Google Shape;300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827017" y="2999117"/>
              <a:ext cx="439465" cy="4394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" name="Google Shape;301;p14"/>
            <p:cNvSpPr txBox="1"/>
            <p:nvPr/>
          </p:nvSpPr>
          <p:spPr>
            <a:xfrm>
              <a:off x="5675878" y="3554220"/>
              <a:ext cx="741742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Production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02" name="Google Shape;302;p14"/>
          <p:cNvGraphicFramePr/>
          <p:nvPr/>
        </p:nvGraphicFramePr>
        <p:xfrm>
          <a:off x="6736847" y="17943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{D70390FA-BAEE-4900-BDFF-1BFBC1B74F88}</a:tableStyleId>
              </a:tblPr>
              <a:tblGrid>
                <a:gridCol w="2537725"/>
                <a:gridCol w="2537725"/>
              </a:tblGrid>
              <a:tr h="60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Plan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Slots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</a:tr>
              <a:tr h="60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Free, Shared, Basic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3A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Up to 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Premium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Up to 20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Isolated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Up to 20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3" name="Google Shape;303;p14"/>
          <p:cNvSpPr/>
          <p:nvPr/>
        </p:nvSpPr>
        <p:spPr>
          <a:xfrm>
            <a:off x="229884" y="5220894"/>
            <a:ext cx="1797212" cy="1264283"/>
          </a:xfrm>
          <a:custGeom>
            <a:rect b="b" l="l" r="r" t="t"/>
            <a:pathLst>
              <a:path extrusionOk="0" h="821142" w="1642285">
                <a:moveTo>
                  <a:pt x="0" y="0"/>
                </a:moveTo>
                <a:lnTo>
                  <a:pt x="1642285" y="0"/>
                </a:lnTo>
                <a:lnTo>
                  <a:pt x="1642285" y="821142"/>
                </a:lnTo>
                <a:lnTo>
                  <a:pt x="0" y="82114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 to different deployment slots (depends on the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20"/>
                  </a:ext>
                </a:extLst>
              </a:rPr>
              <a:t>service plan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2186921" y="5220894"/>
            <a:ext cx="1797212" cy="1264283"/>
          </a:xfrm>
          <a:custGeom>
            <a:rect b="b" l="l" r="r" t="t"/>
            <a:pathLst>
              <a:path extrusionOk="0" h="821142" w="1642285">
                <a:moveTo>
                  <a:pt x="0" y="0"/>
                </a:moveTo>
                <a:lnTo>
                  <a:pt x="1642285" y="0"/>
                </a:lnTo>
                <a:lnTo>
                  <a:pt x="1642285" y="821142"/>
                </a:lnTo>
                <a:lnTo>
                  <a:pt x="0" y="82114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Validate changes before sending to production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6100996" y="5220894"/>
            <a:ext cx="1797212" cy="1264283"/>
          </a:xfrm>
          <a:custGeom>
            <a:rect b="b" l="l" r="r" t="t"/>
            <a:pathLst>
              <a:path extrusionOk="0" h="821142" w="1642285">
                <a:moveTo>
                  <a:pt x="0" y="0"/>
                </a:moveTo>
                <a:lnTo>
                  <a:pt x="1642285" y="0"/>
                </a:lnTo>
                <a:lnTo>
                  <a:pt x="1642285" y="821142"/>
                </a:lnTo>
                <a:lnTo>
                  <a:pt x="0" y="82114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Avoids a cold start - eliminates downtime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10015073" y="5220894"/>
            <a:ext cx="1797212" cy="1264283"/>
          </a:xfrm>
          <a:custGeom>
            <a:rect b="b" l="l" r="r" t="t"/>
            <a:pathLst>
              <a:path extrusionOk="0" h="821142" w="1642285">
                <a:moveTo>
                  <a:pt x="0" y="0"/>
                </a:moveTo>
                <a:lnTo>
                  <a:pt x="1642285" y="0"/>
                </a:lnTo>
                <a:lnTo>
                  <a:pt x="1642285" y="821142"/>
                </a:lnTo>
                <a:lnTo>
                  <a:pt x="0" y="82114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 Swap when pre-swap validation is not needed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12" name="Google Shape;3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5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4" name="Google Shape;314;p15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5" name="Google Shape;315;p15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6" name="Google Shape;316;p15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7" name="Google Shape;317;p15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8" name="Google Shape;318;p15"/>
          <p:cNvSpPr txBox="1"/>
          <p:nvPr/>
        </p:nvSpPr>
        <p:spPr>
          <a:xfrm>
            <a:off x="652613" y="1202370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Deployment Slots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607784" y="2041699"/>
            <a:ext cx="5542469" cy="66283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whether to clone an app configuration from another deployment slot</a:t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607784" y="2897973"/>
            <a:ext cx="5542469" cy="157423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 clone, pay attention to the settings:</a:t>
            </a:r>
            <a:endParaRPr/>
          </a:p>
          <a:p>
            <a:pPr indent="-168275" lvl="1" marL="16827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Slot-specific app settings and connection strings</a:t>
            </a:r>
            <a:endParaRPr/>
          </a:p>
          <a:p>
            <a:pPr indent="-168275" lvl="1" marL="16827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deployment settings</a:t>
            </a:r>
            <a:endParaRPr/>
          </a:p>
          <a:p>
            <a:pPr indent="-168275" lvl="1" marL="16827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Service authentication settings</a:t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607784" y="4665644"/>
            <a:ext cx="5542469" cy="9942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all settings are sticky (endpoints, custom domain names, SSL certificates and scaling)</a:t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607784" y="5853334"/>
            <a:ext cx="5542469" cy="66283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and edit your settings before swapping</a:t>
            </a:r>
            <a:endParaRPr/>
          </a:p>
        </p:txBody>
      </p:sp>
      <p:pic>
        <p:nvPicPr>
          <p:cNvPr descr="A screen shot of the Add a slot screen for an App Service.  The name of the slot is preproduction, and settings are cloned from appservice09" id="323" name="Google Shape;3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7380" y="3047995"/>
            <a:ext cx="5550538" cy="2168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"/>
          <p:cNvSpPr/>
          <p:nvPr/>
        </p:nvSpPr>
        <p:spPr>
          <a:xfrm>
            <a:off x="553337" y="3657190"/>
            <a:ext cx="5541264" cy="2957737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Security:</a:t>
            </a:r>
            <a:endParaRPr/>
          </a:p>
          <a:p>
            <a:pPr indent="-173038" lvl="1" marL="173038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Troubleshoot with Diagnostic Logs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ailed requests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 logging</a:t>
            </a:r>
            <a:endParaRPr/>
          </a:p>
          <a:p>
            <a:pPr indent="-173038" lvl="1" marL="173038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an SSL certificate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HTTPS</a:t>
            </a:r>
            <a:endParaRPr/>
          </a:p>
          <a:p>
            <a:pPr indent="-173038" lvl="1" marL="173038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a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21"/>
                  </a:ext>
                </a:extLst>
              </a:rPr>
              <a:t>priority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22"/>
                  </a:ext>
                </a:extLst>
              </a:rPr>
              <a:t>-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23"/>
                  </a:ext>
                </a:extLst>
              </a:rPr>
              <a:t>ordered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allow/deny list to control network access to the app</a:t>
            </a:r>
            <a:endParaRPr/>
          </a:p>
          <a:p>
            <a:pPr indent="-173038" lvl="1" marL="173038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secrets in the Azure Key Vault</a:t>
            </a:r>
            <a:endParaRPr/>
          </a:p>
        </p:txBody>
      </p:sp>
      <p:sp>
        <p:nvSpPr>
          <p:cNvPr id="329" name="Google Shape;329;p16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564448" y="1758481"/>
            <a:ext cx="5541264" cy="1721789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Authentication:</a:t>
            </a:r>
            <a:endParaRPr/>
          </a:p>
          <a:p>
            <a:pPr indent="-173038" lvl="1" marL="173038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authentication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efault anonymous</a:t>
            </a:r>
            <a:endParaRPr/>
          </a:p>
          <a:p>
            <a:pPr indent="-173038" lvl="1" marL="173038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 in with a third-party identity provider</a:t>
            </a:r>
            <a:endParaRPr/>
          </a:p>
        </p:txBody>
      </p:sp>
      <p:pic>
        <p:nvPicPr>
          <p:cNvPr id="331" name="Google Shape;3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6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3" name="Google Shape;333;p16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4" name="Google Shape;334;p16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5" name="Google Shape;335;p16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6" name="Google Shape;336;p16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7" name="Google Shape;337;p16"/>
          <p:cNvSpPr txBox="1"/>
          <p:nvPr/>
        </p:nvSpPr>
        <p:spPr>
          <a:xfrm>
            <a:off x="340420" y="812284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an App Service</a:t>
            </a:r>
            <a:endParaRPr/>
          </a:p>
        </p:txBody>
      </p:sp>
      <p:pic>
        <p:nvPicPr>
          <p:cNvPr descr="Screenshot of identity providers including Microsoft, Facebook, Google, and Twitter. " id="338" name="Google Shape;3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2831" y="1758481"/>
            <a:ext cx="4779848" cy="4703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"/>
          <p:cNvSpPr/>
          <p:nvPr/>
        </p:nvSpPr>
        <p:spPr>
          <a:xfrm>
            <a:off x="4826485" y="5409864"/>
            <a:ext cx="4331972" cy="11102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DNS registry for your domain provider - create a CNAME or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24"/>
                  </a:ext>
                </a:extLst>
              </a:rPr>
              <a:t>A record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the mapping</a:t>
            </a:r>
            <a:endParaRPr/>
          </a:p>
        </p:txBody>
      </p:sp>
      <p:sp>
        <p:nvSpPr>
          <p:cNvPr id="344" name="Google Shape;344;p17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45" name="Google Shape;3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7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47" name="Google Shape;347;p17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48" name="Google Shape;348;p17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49" name="Google Shape;349;p17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50" name="Google Shape;350;p17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51" name="Google Shape;351;p17"/>
          <p:cNvSpPr txBox="1"/>
          <p:nvPr/>
        </p:nvSpPr>
        <p:spPr>
          <a:xfrm>
            <a:off x="431061" y="1051638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Custom Domain Names</a:t>
            </a:r>
            <a:endParaRPr/>
          </a:p>
        </p:txBody>
      </p:sp>
      <p:pic>
        <p:nvPicPr>
          <p:cNvPr descr="Screenshot showing settings pop up window highlighting Custom Domains blade selection" id="352" name="Google Shape;3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7254" y="1856531"/>
            <a:ext cx="2178438" cy="3303554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descr="Arrow pointing right" id="353" name="Google Shape;353;p17"/>
          <p:cNvCxnSpPr/>
          <p:nvPr/>
        </p:nvCxnSpPr>
        <p:spPr>
          <a:xfrm>
            <a:off x="3654718" y="3508307"/>
            <a:ext cx="1175307" cy="0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Welcome to Contoso web page. The contoso.com URL is highlighted" id="354" name="Google Shape;3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7182" y="1856524"/>
            <a:ext cx="6033888" cy="330356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7"/>
          <p:cNvSpPr/>
          <p:nvPr/>
        </p:nvSpPr>
        <p:spPr>
          <a:xfrm>
            <a:off x="379243" y="5409864"/>
            <a:ext cx="2069200" cy="11102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Redirect the default web 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URL</a:t>
            </a:r>
            <a:endParaRPr/>
          </a:p>
        </p:txBody>
      </p:sp>
      <p:sp>
        <p:nvSpPr>
          <p:cNvPr id="356" name="Google Shape;356;p17"/>
          <p:cNvSpPr/>
          <p:nvPr/>
        </p:nvSpPr>
        <p:spPr>
          <a:xfrm>
            <a:off x="2602864" y="5409864"/>
            <a:ext cx="2069201" cy="11102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Validate the custom domain in Azure</a:t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9312878" y="5409864"/>
            <a:ext cx="2648767" cy="11102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73150" lIns="137150" spcFirstLastPara="1" rIns="13715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 the App Service plan supports custom domains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"/>
          <p:cNvSpPr/>
          <p:nvPr/>
        </p:nvSpPr>
        <p:spPr>
          <a:xfrm>
            <a:off x="652613" y="5742631"/>
            <a:ext cx="6097779" cy="7010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Restore your app on-demand to a previous state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create a new app</a:t>
            </a:r>
            <a:endParaRPr/>
          </a:p>
        </p:txBody>
      </p:sp>
      <p:sp>
        <p:nvSpPr>
          <p:cNvPr id="363" name="Google Shape;363;p18"/>
          <p:cNvSpPr/>
          <p:nvPr/>
        </p:nvSpPr>
        <p:spPr>
          <a:xfrm>
            <a:off x="652613" y="4913804"/>
            <a:ext cx="6097779" cy="7010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partial backups, and exclude items from the backup</a:t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652613" y="4008017"/>
            <a:ext cx="6097779" cy="77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Backups can be up to 10 GB of app and database content</a:t>
            </a:r>
            <a:endParaRPr/>
          </a:p>
        </p:txBody>
      </p:sp>
      <p:sp>
        <p:nvSpPr>
          <p:cNvPr id="365" name="Google Shape;365;p18"/>
          <p:cNvSpPr/>
          <p:nvPr/>
        </p:nvSpPr>
        <p:spPr>
          <a:xfrm>
            <a:off x="652613" y="3358715"/>
            <a:ext cx="6097779" cy="521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a Standard or Premium plan</a:t>
            </a:r>
            <a:endParaRPr/>
          </a:p>
        </p:txBody>
      </p:sp>
      <p:sp>
        <p:nvSpPr>
          <p:cNvPr id="366" name="Google Shape;366;p18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67" name="Google Shape;3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8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69" name="Google Shape;369;p18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0" name="Google Shape;370;p18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1" name="Google Shape;371;p18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2" name="Google Shape;372;p18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3" name="Google Shape;373;p18"/>
          <p:cNvSpPr txBox="1"/>
          <p:nvPr/>
        </p:nvSpPr>
        <p:spPr>
          <a:xfrm>
            <a:off x="224004" y="741906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Backup an App Service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652613" y="1803625"/>
            <a:ext cx="6097779" cy="521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app backups manually or on a schedule</a:t>
            </a:r>
            <a:endParaRPr/>
          </a:p>
        </p:txBody>
      </p:sp>
      <p:sp>
        <p:nvSpPr>
          <p:cNvPr id="375" name="Google Shape;375;p18"/>
          <p:cNvSpPr/>
          <p:nvPr/>
        </p:nvSpPr>
        <p:spPr>
          <a:xfrm>
            <a:off x="652613" y="2452929"/>
            <a:ext cx="6097779" cy="778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Backup the configuration, file content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database connected to the app</a:t>
            </a:r>
            <a:endParaRPr/>
          </a:p>
        </p:txBody>
      </p:sp>
      <p:pic>
        <p:nvPicPr>
          <p:cNvPr descr="Screenshot showing settings pop up window highlighting backups" id="376" name="Google Shape;3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8382" y="1451394"/>
            <a:ext cx="3176825" cy="501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9"/>
          <p:cNvSpPr/>
          <p:nvPr/>
        </p:nvSpPr>
        <p:spPr>
          <a:xfrm>
            <a:off x="883036" y="3415603"/>
            <a:ext cx="5415329" cy="159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Web App in Azure Portal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Verify whether the web app is running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Explore deployment slots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83" name="Google Shape;3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9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85" name="Google Shape;385;p19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86" name="Google Shape;386;p19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87" name="Google Shape;387;p19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88" name="Google Shape;388;p19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89" name="Google Shape;389;p19"/>
          <p:cNvSpPr txBox="1"/>
          <p:nvPr/>
        </p:nvSpPr>
        <p:spPr>
          <a:xfrm>
            <a:off x="379243" y="2221451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Azure App Services: 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Demonstration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0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95" name="Google Shape;3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0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97" name="Google Shape;397;p20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98" name="Google Shape;398;p20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99" name="Google Shape;399;p20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00" name="Google Shape;400;p20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01" name="Google Shape;401;p20"/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Proxima Nova"/>
              <a:buNone/>
            </a:pPr>
            <a:r>
              <a:rPr lang="en-US" sz="3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Configure Azure Container Instances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"/>
          <p:cNvSpPr txBox="1"/>
          <p:nvPr/>
        </p:nvSpPr>
        <p:spPr>
          <a:xfrm>
            <a:off x="6579604" y="2688401"/>
            <a:ext cx="47616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Implement and manage Azure compute resources (20</a:t>
            </a:r>
            <a:r>
              <a:rPr lang="en-US" sz="1800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%–</a:t>
            </a:r>
            <a:r>
              <a:rPr b="0" i="0" lang="en-US" sz="18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25%): Create and configure containers </a:t>
            </a:r>
            <a:r>
              <a:rPr lang="en-US" sz="1800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b="0" i="0" lang="en-US" sz="18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 Azure </a:t>
            </a:r>
            <a:r>
              <a:rPr lang="en-US" sz="1800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8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ortal</a:t>
            </a:r>
            <a:endParaRPr/>
          </a:p>
          <a:p>
            <a:pPr indent="-173038" lvl="0" marL="17303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and manage an Azure container registry</a:t>
            </a:r>
            <a:endParaRPr/>
          </a:p>
          <a:p>
            <a:pPr indent="-173038" lvl="0" marL="17303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Provision a container using Azure Container Instances (ACIs)</a:t>
            </a:r>
            <a:endParaRPr/>
          </a:p>
          <a:p>
            <a:pPr indent="-173038" lvl="0" marL="17303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Provision a container using Azure Container Apps (ACA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173038" lvl="0" marL="17303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 sizing and scaling for containers, including ACI and ACA</a:t>
            </a:r>
            <a:endParaRPr/>
          </a:p>
        </p:txBody>
      </p:sp>
      <p:sp>
        <p:nvSpPr>
          <p:cNvPr id="407" name="Google Shape;407;p21"/>
          <p:cNvSpPr/>
          <p:nvPr/>
        </p:nvSpPr>
        <p:spPr>
          <a:xfrm>
            <a:off x="572387" y="2357541"/>
            <a:ext cx="5439314" cy="4308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Containers to Virtual Machines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Container Images 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Azure Container Instances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Container Groups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Azure Container Instances: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Demonstration 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 Containers with Azure Container Apps 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container management solutions 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Azure Container Apps: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Demonstration 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Recap</a:t>
            </a:r>
            <a:endParaRPr/>
          </a:p>
        </p:txBody>
      </p:sp>
      <p:sp>
        <p:nvSpPr>
          <p:cNvPr id="408" name="Google Shape;408;p21"/>
          <p:cNvSpPr txBox="1"/>
          <p:nvPr/>
        </p:nvSpPr>
        <p:spPr>
          <a:xfrm>
            <a:off x="572387" y="1539634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Objectives: Configure Azure Container Instances </a:t>
            </a:r>
            <a:endParaRPr/>
          </a:p>
        </p:txBody>
      </p:sp>
      <p:sp>
        <p:nvSpPr>
          <p:cNvPr id="409" name="Google Shape;409;p21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10" name="Google Shape;4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1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12" name="Google Shape;412;p21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13" name="Google Shape;413;p21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14" name="Google Shape;414;p21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15" name="Google Shape;415;p21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2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21" name="Google Shape;4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2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23" name="Google Shape;423;p22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24" name="Google Shape;424;p22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25" name="Google Shape;425;p22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26" name="Google Shape;426;p22"/>
          <p:cNvSpPr txBox="1"/>
          <p:nvPr/>
        </p:nvSpPr>
        <p:spPr>
          <a:xfrm>
            <a:off x="216805" y="2116907"/>
            <a:ext cx="31362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1463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Operating system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Persistent storage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Fault tolerance</a:t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28" name="Google Shape;428;p22"/>
          <p:cNvSpPr txBox="1"/>
          <p:nvPr/>
        </p:nvSpPr>
        <p:spPr>
          <a:xfrm>
            <a:off x="197279" y="1211420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25"/>
                  </a:ext>
                </a:extLst>
              </a:rPr>
              <a:t>Compare Containers With Virtual Machines</a:t>
            </a:r>
            <a:endParaRPr/>
          </a:p>
        </p:txBody>
      </p:sp>
      <p:grpSp>
        <p:nvGrpSpPr>
          <p:cNvPr descr="Diagram server, host OS, do" id="429" name="Google Shape;429;p22"/>
          <p:cNvGrpSpPr/>
          <p:nvPr/>
        </p:nvGrpSpPr>
        <p:grpSpPr>
          <a:xfrm>
            <a:off x="3616115" y="1847274"/>
            <a:ext cx="8334695" cy="4678561"/>
            <a:chOff x="3750545" y="1499313"/>
            <a:chExt cx="8334695" cy="4678561"/>
          </a:xfrm>
        </p:grpSpPr>
        <p:sp>
          <p:nvSpPr>
            <p:cNvPr id="430" name="Google Shape;430;p22"/>
            <p:cNvSpPr/>
            <p:nvPr/>
          </p:nvSpPr>
          <p:spPr>
            <a:xfrm>
              <a:off x="3769756" y="5671098"/>
              <a:ext cx="8315484" cy="506776"/>
            </a:xfrm>
            <a:prstGeom prst="rect">
              <a:avLst/>
            </a:prstGeom>
            <a:solidFill>
              <a:srgbClr val="ADADAD"/>
            </a:solidFill>
            <a:ln>
              <a:noFill/>
            </a:ln>
          </p:spPr>
          <p:txBody>
            <a:bodyPr anchorCtr="0" anchor="ctr" bIns="146300" lIns="182875" spcFirstLastPara="1" rIns="182875" wrap="square" tIns="146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/>
            </a:p>
          </p:txBody>
        </p:sp>
        <p:sp>
          <p:nvSpPr>
            <p:cNvPr id="431" name="Google Shape;431;p22"/>
            <p:cNvSpPr/>
            <p:nvPr/>
          </p:nvSpPr>
          <p:spPr>
            <a:xfrm>
              <a:off x="3769756" y="5063774"/>
              <a:ext cx="8315484" cy="506776"/>
            </a:xfrm>
            <a:prstGeom prst="rect">
              <a:avLst/>
            </a:prstGeom>
            <a:solidFill>
              <a:srgbClr val="222A35"/>
            </a:solidFill>
            <a:ln>
              <a:noFill/>
            </a:ln>
          </p:spPr>
          <p:txBody>
            <a:bodyPr anchorCtr="0" anchor="ctr" bIns="146300" lIns="182875" spcFirstLastPara="1" rIns="182875" wrap="square" tIns="146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Host OS</a:t>
              </a:r>
              <a:endParaRPr/>
            </a:p>
          </p:txBody>
        </p:sp>
        <p:sp>
          <p:nvSpPr>
            <p:cNvPr id="432" name="Google Shape;432;p22"/>
            <p:cNvSpPr/>
            <p:nvPr/>
          </p:nvSpPr>
          <p:spPr>
            <a:xfrm>
              <a:off x="7861376" y="4485713"/>
              <a:ext cx="4083884" cy="506776"/>
            </a:xfrm>
            <a:prstGeom prst="rect">
              <a:avLst/>
            </a:prstGeom>
            <a:solidFill>
              <a:srgbClr val="323F4F"/>
            </a:solidFill>
            <a:ln>
              <a:noFill/>
            </a:ln>
          </p:spPr>
          <p:txBody>
            <a:bodyPr anchorCtr="0" anchor="ctr" bIns="146300" lIns="182875" spcFirstLastPara="1" rIns="182875" wrap="square" tIns="146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Hypervisor</a:t>
              </a:r>
              <a:endParaRPr/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9966812" y="1971615"/>
              <a:ext cx="1927952" cy="2417531"/>
            </a:xfrm>
            <a:prstGeom prst="rect">
              <a:avLst/>
            </a:prstGeom>
            <a:solidFill>
              <a:srgbClr val="DBDADA"/>
            </a:solidFill>
            <a:ln>
              <a:noFill/>
            </a:ln>
          </p:spPr>
          <p:txBody>
            <a:bodyPr anchorCtr="0" anchor="t" bIns="146300" lIns="182875" spcFirstLastPara="1" rIns="182875" wrap="square" tIns="146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4" name="Google Shape;434;p22"/>
            <p:cNvGrpSpPr/>
            <p:nvPr/>
          </p:nvGrpSpPr>
          <p:grpSpPr>
            <a:xfrm>
              <a:off x="10070373" y="2204830"/>
              <a:ext cx="1743680" cy="2008565"/>
              <a:chOff x="680034" y="1276877"/>
              <a:chExt cx="1743680" cy="2008565"/>
            </a:xfrm>
          </p:grpSpPr>
          <p:sp>
            <p:nvSpPr>
              <p:cNvPr id="435" name="Google Shape;435;p22"/>
              <p:cNvSpPr/>
              <p:nvPr/>
            </p:nvSpPr>
            <p:spPr>
              <a:xfrm>
                <a:off x="680035" y="2000992"/>
                <a:ext cx="1743678" cy="50677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</p:spPr>
            <p:txBody>
              <a:bodyPr anchorCtr="0" anchor="ctr" bIns="146300" lIns="182875" spcFirstLastPara="1" rIns="182875" wrap="square" tIns="1463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Bins/Libs</a:t>
                </a:r>
                <a:endParaRPr/>
              </a:p>
            </p:txBody>
          </p:sp>
          <p:sp>
            <p:nvSpPr>
              <p:cNvPr id="436" name="Google Shape;436;p22"/>
              <p:cNvSpPr/>
              <p:nvPr/>
            </p:nvSpPr>
            <p:spPr>
              <a:xfrm>
                <a:off x="680036" y="2778666"/>
                <a:ext cx="1743678" cy="506776"/>
              </a:xfrm>
              <a:prstGeom prst="rect">
                <a:avLst/>
              </a:prstGeom>
              <a:solidFill>
                <a:srgbClr val="FBE4D4"/>
              </a:solidFill>
              <a:ln>
                <a:noFill/>
              </a:ln>
            </p:spPr>
            <p:txBody>
              <a:bodyPr anchorCtr="0" anchor="ctr" bIns="146300" lIns="182875" spcFirstLastPara="1" rIns="182875" wrap="square" tIns="1463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Guest OS</a:t>
                </a:r>
                <a:endParaRPr/>
              </a:p>
            </p:txBody>
          </p:sp>
          <p:sp>
            <p:nvSpPr>
              <p:cNvPr id="437" name="Google Shape;437;p22"/>
              <p:cNvSpPr/>
              <p:nvPr/>
            </p:nvSpPr>
            <p:spPr>
              <a:xfrm>
                <a:off x="680034" y="1276877"/>
                <a:ext cx="1743678" cy="506776"/>
              </a:xfrm>
              <a:prstGeom prst="rect">
                <a:avLst/>
              </a:prstGeom>
              <a:solidFill>
                <a:srgbClr val="D5DBE5"/>
              </a:solidFill>
              <a:ln>
                <a:noFill/>
              </a:ln>
            </p:spPr>
            <p:txBody>
              <a:bodyPr anchorCtr="0" anchor="ctr" bIns="146300" lIns="182875" spcFirstLastPara="1" rIns="182875" wrap="square" tIns="1463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 B</a:t>
                </a:r>
                <a:endParaRPr/>
              </a:p>
            </p:txBody>
          </p:sp>
        </p:grpSp>
        <p:sp>
          <p:nvSpPr>
            <p:cNvPr id="438" name="Google Shape;438;p22"/>
            <p:cNvSpPr/>
            <p:nvPr/>
          </p:nvSpPr>
          <p:spPr>
            <a:xfrm>
              <a:off x="7871646" y="1971615"/>
              <a:ext cx="1927952" cy="2410100"/>
            </a:xfrm>
            <a:prstGeom prst="rect">
              <a:avLst/>
            </a:prstGeom>
            <a:solidFill>
              <a:srgbClr val="DBDADA"/>
            </a:solidFill>
            <a:ln>
              <a:noFill/>
            </a:ln>
          </p:spPr>
          <p:txBody>
            <a:bodyPr anchorCtr="0" anchor="t" bIns="146300" lIns="182875" spcFirstLastPara="1" rIns="182875" wrap="square" tIns="146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9" name="Google Shape;439;p22"/>
            <p:cNvGrpSpPr/>
            <p:nvPr/>
          </p:nvGrpSpPr>
          <p:grpSpPr>
            <a:xfrm>
              <a:off x="7963783" y="2204830"/>
              <a:ext cx="1743680" cy="2008565"/>
              <a:chOff x="680034" y="1276877"/>
              <a:chExt cx="1743680" cy="2008565"/>
            </a:xfrm>
          </p:grpSpPr>
          <p:sp>
            <p:nvSpPr>
              <p:cNvPr id="440" name="Google Shape;440;p22"/>
              <p:cNvSpPr/>
              <p:nvPr/>
            </p:nvSpPr>
            <p:spPr>
              <a:xfrm>
                <a:off x="680035" y="2000992"/>
                <a:ext cx="1743678" cy="50677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</p:spPr>
            <p:txBody>
              <a:bodyPr anchorCtr="0" anchor="ctr" bIns="146300" lIns="182875" spcFirstLastPara="1" rIns="182875" wrap="square" tIns="1463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Bins/Libs</a:t>
                </a:r>
                <a:endParaRPr/>
              </a:p>
            </p:txBody>
          </p:sp>
          <p:sp>
            <p:nvSpPr>
              <p:cNvPr id="441" name="Google Shape;441;p22"/>
              <p:cNvSpPr/>
              <p:nvPr/>
            </p:nvSpPr>
            <p:spPr>
              <a:xfrm>
                <a:off x="680036" y="2778666"/>
                <a:ext cx="1743678" cy="506776"/>
              </a:xfrm>
              <a:prstGeom prst="rect">
                <a:avLst/>
              </a:prstGeom>
              <a:solidFill>
                <a:srgbClr val="FBE4D4"/>
              </a:solidFill>
              <a:ln>
                <a:noFill/>
              </a:ln>
            </p:spPr>
            <p:txBody>
              <a:bodyPr anchorCtr="0" anchor="ctr" bIns="146300" lIns="182875" spcFirstLastPara="1" rIns="182875" wrap="square" tIns="1463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Guest OS</a:t>
                </a:r>
                <a:endParaRPr/>
              </a:p>
            </p:txBody>
          </p:sp>
          <p:sp>
            <p:nvSpPr>
              <p:cNvPr id="442" name="Google Shape;442;p22"/>
              <p:cNvSpPr/>
              <p:nvPr/>
            </p:nvSpPr>
            <p:spPr>
              <a:xfrm>
                <a:off x="680034" y="1276877"/>
                <a:ext cx="1743678" cy="506776"/>
              </a:xfrm>
              <a:prstGeom prst="rect">
                <a:avLst/>
              </a:prstGeom>
              <a:solidFill>
                <a:srgbClr val="D5DBE5"/>
              </a:solidFill>
              <a:ln>
                <a:noFill/>
              </a:ln>
            </p:spPr>
            <p:txBody>
              <a:bodyPr anchorCtr="0" anchor="ctr" bIns="146300" lIns="182875" spcFirstLastPara="1" rIns="182875" wrap="square" tIns="1463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 A</a:t>
                </a:r>
                <a:endParaRPr/>
              </a:p>
            </p:txBody>
          </p:sp>
        </p:grpSp>
        <p:sp>
          <p:nvSpPr>
            <p:cNvPr id="443" name="Google Shape;443;p22"/>
            <p:cNvSpPr txBox="1"/>
            <p:nvPr/>
          </p:nvSpPr>
          <p:spPr>
            <a:xfrm>
              <a:off x="10531688" y="1513668"/>
              <a:ext cx="798199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VM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2"/>
            <p:cNvSpPr txBox="1"/>
            <p:nvPr/>
          </p:nvSpPr>
          <p:spPr>
            <a:xfrm>
              <a:off x="8436522" y="1499313"/>
              <a:ext cx="798199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VM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5" name="Google Shape;445;p22"/>
            <p:cNvGrpSpPr/>
            <p:nvPr/>
          </p:nvGrpSpPr>
          <p:grpSpPr>
            <a:xfrm>
              <a:off x="3777167" y="1974587"/>
              <a:ext cx="1927952" cy="2410100"/>
              <a:chOff x="3852620" y="2000992"/>
              <a:chExt cx="1927952" cy="2229485"/>
            </a:xfrm>
          </p:grpSpPr>
          <p:sp>
            <p:nvSpPr>
              <p:cNvPr id="446" name="Google Shape;446;p22"/>
              <p:cNvSpPr/>
              <p:nvPr/>
            </p:nvSpPr>
            <p:spPr>
              <a:xfrm>
                <a:off x="3852620" y="2000992"/>
                <a:ext cx="1927952" cy="2229485"/>
              </a:xfrm>
              <a:prstGeom prst="rect">
                <a:avLst/>
              </a:prstGeom>
              <a:solidFill>
                <a:srgbClr val="DBDADA"/>
              </a:solidFill>
              <a:ln>
                <a:noFill/>
              </a:ln>
            </p:spPr>
            <p:txBody>
              <a:bodyPr anchorCtr="0" anchor="t" bIns="146300" lIns="182875" spcFirstLastPara="1" rIns="182875" wrap="square" tIns="1463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22"/>
              <p:cNvSpPr/>
              <p:nvPr/>
            </p:nvSpPr>
            <p:spPr>
              <a:xfrm>
                <a:off x="3966069" y="3571656"/>
                <a:ext cx="1701054" cy="50677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</p:spPr>
            <p:txBody>
              <a:bodyPr anchorCtr="0" anchor="ctr" bIns="146300" lIns="182875" spcFirstLastPara="1" rIns="182875" wrap="square" tIns="1463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Bins/Libs</a:t>
                </a:r>
                <a:endParaRPr/>
              </a:p>
            </p:txBody>
          </p:sp>
          <p:sp>
            <p:nvSpPr>
              <p:cNvPr id="448" name="Google Shape;448;p22"/>
              <p:cNvSpPr/>
              <p:nvPr/>
            </p:nvSpPr>
            <p:spPr>
              <a:xfrm rot="5400000">
                <a:off x="3711505" y="2432258"/>
                <a:ext cx="1227328" cy="758058"/>
              </a:xfrm>
              <a:prstGeom prst="rect">
                <a:avLst/>
              </a:prstGeom>
              <a:solidFill>
                <a:srgbClr val="D5DBE5"/>
              </a:solidFill>
              <a:ln>
                <a:noFill/>
              </a:ln>
            </p:spPr>
            <p:txBody>
              <a:bodyPr anchorCtr="0" anchor="ctr" bIns="146300" lIns="182875" spcFirstLastPara="1" rIns="182875" wrap="square" tIns="1463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 A</a:t>
                </a:r>
                <a:endParaRPr/>
              </a:p>
            </p:txBody>
          </p:sp>
          <p:sp>
            <p:nvSpPr>
              <p:cNvPr id="449" name="Google Shape;449;p22"/>
              <p:cNvSpPr/>
              <p:nvPr/>
            </p:nvSpPr>
            <p:spPr>
              <a:xfrm rot="5400000">
                <a:off x="4665521" y="2406848"/>
                <a:ext cx="1227328" cy="758058"/>
              </a:xfrm>
              <a:prstGeom prst="rect">
                <a:avLst/>
              </a:prstGeom>
              <a:solidFill>
                <a:srgbClr val="D5DBE5"/>
              </a:solidFill>
              <a:ln>
                <a:noFill/>
              </a:ln>
            </p:spPr>
            <p:txBody>
              <a:bodyPr anchorCtr="0" anchor="ctr" bIns="146300" lIns="182875" spcFirstLastPara="1" rIns="182875" wrap="square" tIns="1463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 A</a:t>
                </a:r>
                <a:endParaRPr/>
              </a:p>
            </p:txBody>
          </p:sp>
        </p:grpSp>
        <p:grpSp>
          <p:nvGrpSpPr>
            <p:cNvPr id="450" name="Google Shape;450;p22"/>
            <p:cNvGrpSpPr/>
            <p:nvPr/>
          </p:nvGrpSpPr>
          <p:grpSpPr>
            <a:xfrm>
              <a:off x="5818568" y="1979046"/>
              <a:ext cx="1927952" cy="2410100"/>
              <a:chOff x="3852620" y="2000992"/>
              <a:chExt cx="1927952" cy="2229485"/>
            </a:xfrm>
          </p:grpSpPr>
          <p:sp>
            <p:nvSpPr>
              <p:cNvPr id="451" name="Google Shape;451;p22"/>
              <p:cNvSpPr/>
              <p:nvPr/>
            </p:nvSpPr>
            <p:spPr>
              <a:xfrm>
                <a:off x="3852620" y="2000992"/>
                <a:ext cx="1927952" cy="2229485"/>
              </a:xfrm>
              <a:prstGeom prst="rect">
                <a:avLst/>
              </a:prstGeom>
              <a:solidFill>
                <a:srgbClr val="DBDADA"/>
              </a:solidFill>
              <a:ln>
                <a:noFill/>
              </a:ln>
            </p:spPr>
            <p:txBody>
              <a:bodyPr anchorCtr="0" anchor="t" bIns="146300" lIns="182875" spcFirstLastPara="1" rIns="182875" wrap="square" tIns="1463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22"/>
              <p:cNvSpPr/>
              <p:nvPr/>
            </p:nvSpPr>
            <p:spPr>
              <a:xfrm>
                <a:off x="3966069" y="3571656"/>
                <a:ext cx="1701054" cy="50677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</p:spPr>
            <p:txBody>
              <a:bodyPr anchorCtr="0" anchor="ctr" bIns="146300" lIns="182875" spcFirstLastPara="1" rIns="182875" wrap="square" tIns="1463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Bins/Libs</a:t>
                </a:r>
                <a:endParaRPr/>
              </a:p>
            </p:txBody>
          </p:sp>
          <p:sp>
            <p:nvSpPr>
              <p:cNvPr id="453" name="Google Shape;453;p22"/>
              <p:cNvSpPr/>
              <p:nvPr/>
            </p:nvSpPr>
            <p:spPr>
              <a:xfrm rot="5400000">
                <a:off x="3711505" y="2432258"/>
                <a:ext cx="1227328" cy="758058"/>
              </a:xfrm>
              <a:prstGeom prst="rect">
                <a:avLst/>
              </a:prstGeom>
              <a:solidFill>
                <a:srgbClr val="D5DBE5"/>
              </a:solidFill>
              <a:ln>
                <a:noFill/>
              </a:ln>
            </p:spPr>
            <p:txBody>
              <a:bodyPr anchorCtr="0" anchor="ctr" bIns="146300" lIns="182875" spcFirstLastPara="1" rIns="182875" wrap="square" tIns="1463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 B</a:t>
                </a:r>
                <a:endParaRPr/>
              </a:p>
            </p:txBody>
          </p:sp>
          <p:sp>
            <p:nvSpPr>
              <p:cNvPr id="454" name="Google Shape;454;p22"/>
              <p:cNvSpPr/>
              <p:nvPr/>
            </p:nvSpPr>
            <p:spPr>
              <a:xfrm rot="5400000">
                <a:off x="4665521" y="2406848"/>
                <a:ext cx="1227328" cy="758058"/>
              </a:xfrm>
              <a:prstGeom prst="rect">
                <a:avLst/>
              </a:prstGeom>
              <a:solidFill>
                <a:srgbClr val="D5DBE5"/>
              </a:solidFill>
              <a:ln>
                <a:noFill/>
              </a:ln>
            </p:spPr>
            <p:txBody>
              <a:bodyPr anchorCtr="0" anchor="ctr" bIns="146300" lIns="182875" spcFirstLastPara="1" rIns="182875" wrap="square" tIns="1463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 B</a:t>
                </a:r>
                <a:endParaRPr/>
              </a:p>
            </p:txBody>
          </p:sp>
        </p:grpSp>
        <p:sp>
          <p:nvSpPr>
            <p:cNvPr id="455" name="Google Shape;455;p22"/>
            <p:cNvSpPr txBox="1"/>
            <p:nvPr/>
          </p:nvSpPr>
          <p:spPr>
            <a:xfrm>
              <a:off x="6057303" y="1513668"/>
              <a:ext cx="1701054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Container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2"/>
            <p:cNvSpPr txBox="1"/>
            <p:nvPr/>
          </p:nvSpPr>
          <p:spPr>
            <a:xfrm>
              <a:off x="4090566" y="1509209"/>
              <a:ext cx="1701054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Container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3750545" y="4473072"/>
              <a:ext cx="4083884" cy="506776"/>
            </a:xfrm>
            <a:prstGeom prst="rect">
              <a:avLst/>
            </a:prstGeom>
            <a:solidFill>
              <a:srgbClr val="323F4F"/>
            </a:solidFill>
            <a:ln>
              <a:noFill/>
            </a:ln>
          </p:spPr>
          <p:txBody>
            <a:bodyPr anchorCtr="0" anchor="ctr" bIns="146300" lIns="182875" spcFirstLastPara="1" rIns="182875" wrap="square" tIns="146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Docker Engine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3"/>
          <p:cNvSpPr txBox="1"/>
          <p:nvPr/>
        </p:nvSpPr>
        <p:spPr>
          <a:xfrm>
            <a:off x="310058" y="2715659"/>
            <a:ext cx="3438193" cy="2805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3"/>
              <a:buFont typeface="Arial"/>
              <a:buNone/>
            </a:pPr>
            <a:r>
              <a:rPr lang="en-US" sz="24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container image is a lightweight, standalone</a:t>
            </a:r>
            <a:r>
              <a:rPr lang="en-US" sz="24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4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executable package of software that encapsulates everything needed to run an application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203"/>
              <a:buFont typeface="Arial"/>
              <a:buNone/>
            </a:pPr>
            <a:r>
              <a:t/>
            </a:r>
            <a:endParaRPr sz="244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203"/>
              <a:buFont typeface="Arial"/>
              <a:buNone/>
            </a:pPr>
            <a:r>
              <a:t/>
            </a:r>
            <a:endParaRPr sz="244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3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64" name="Google Shape;46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3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66" name="Google Shape;466;p23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67" name="Google Shape;467;p23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68" name="Google Shape;468;p23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69" name="Google Shape;469;p23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70" name="Google Shape;470;p23"/>
          <p:cNvSpPr txBox="1"/>
          <p:nvPr/>
        </p:nvSpPr>
        <p:spPr>
          <a:xfrm>
            <a:off x="0" y="807257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Container Images</a:t>
            </a:r>
            <a:endParaRPr/>
          </a:p>
        </p:txBody>
      </p:sp>
      <p:pic>
        <p:nvPicPr>
          <p:cNvPr descr="Image of a container image hosted in Azure Container Registry and used by various container services. " id="471" name="Google Shape;471;p23"/>
          <p:cNvPicPr preferRelativeResize="0"/>
          <p:nvPr/>
        </p:nvPicPr>
        <p:blipFill rotWithShape="1">
          <a:blip r:embed="rId4">
            <a:alphaModFix/>
          </a:blip>
          <a:srcRect b="739" l="-181" r="266" t="-822"/>
          <a:stretch/>
        </p:blipFill>
        <p:spPr>
          <a:xfrm>
            <a:off x="4099577" y="1408150"/>
            <a:ext cx="7735421" cy="516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77" name="Google Shape;47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4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79" name="Google Shape;479;p24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0" name="Google Shape;480;p24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1" name="Google Shape;481;p24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2" name="Google Shape;482;p24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3" name="Google Shape;483;p24"/>
          <p:cNvSpPr txBox="1"/>
          <p:nvPr/>
        </p:nvSpPr>
        <p:spPr>
          <a:xfrm>
            <a:off x="591436" y="1035834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Azure Container Instances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553337" y="1865854"/>
            <a:ext cx="5791198" cy="469580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182875" spcFirstLastPara="1" rIns="182875" wrap="square" tIns="13715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26"/>
                  </a:ext>
                </a:extLst>
              </a:rPr>
              <a:t>PaaS Service</a:t>
            </a:r>
            <a:endParaRPr>
              <a:extLst>
                <a:ext uri="http://customooxmlschemas.google.com/">
                  <go:slidesCustomData xmlns:go="http://customooxmlschemas.google.com/" textRoundtripDataId="27"/>
                </a:ext>
              </a:extLst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28"/>
                  </a:ext>
                </a:extLst>
              </a:rPr>
              <a:t>Fast startup times</a:t>
            </a:r>
            <a:endParaRPr>
              <a:extLst>
                <a:ext uri="http://customooxmlschemas.google.com/">
                  <go:slidesCustomData xmlns:go="http://customooxmlschemas.google.com/" textRoundtripDataId="29"/>
                </a:ext>
              </a:extLst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30"/>
                  </a:ext>
                </a:extLst>
              </a:rPr>
              <a:t>Public IP connectivity and DNS name</a:t>
            </a:r>
            <a:endParaRPr>
              <a:extLst>
                <a:ext uri="http://customooxmlschemas.google.com/">
                  <go:slidesCustomData xmlns:go="http://customooxmlschemas.google.com/" textRoundtripDataId="31"/>
                </a:ext>
              </a:extLst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32"/>
                  </a:ext>
                </a:extLst>
              </a:rPr>
              <a:t>Isolation features</a:t>
            </a:r>
            <a:endParaRPr>
              <a:extLst>
                <a:ext uri="http://customooxmlschemas.google.com/">
                  <go:slidesCustomData xmlns:go="http://customooxmlschemas.google.com/" textRoundtripDataId="33"/>
                </a:ext>
              </a:extLst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34"/>
                  </a:ext>
                </a:extLst>
              </a:rPr>
              <a:t>Custom sizes</a:t>
            </a:r>
            <a:endParaRPr>
              <a:extLst>
                <a:ext uri="http://customooxmlschemas.google.com/">
                  <go:slidesCustomData xmlns:go="http://customooxmlschemas.google.com/" textRoundtripDataId="35"/>
                </a:ext>
              </a:extLst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36"/>
                  </a:ext>
                </a:extLst>
              </a:rPr>
              <a:t>Persistent storage</a:t>
            </a:r>
            <a:endParaRPr>
              <a:extLst>
                <a:ext uri="http://customooxmlschemas.google.com/">
                  <go:slidesCustomData xmlns:go="http://customooxmlschemas.google.com/" textRoundtripDataId="37"/>
                </a:ext>
              </a:extLst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38"/>
                  </a:ext>
                </a:extLst>
              </a:rPr>
              <a:t>Linux and Windows Containers</a:t>
            </a:r>
            <a:endParaRPr>
              <a:extLst>
                <a:ext uri="http://customooxmlschemas.google.com/">
                  <go:slidesCustomData xmlns:go="http://customooxmlschemas.google.com/" textRoundtripDataId="39"/>
                </a:ext>
              </a:extLst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40"/>
                  </a:ext>
                </a:extLst>
              </a:rPr>
              <a:t>Co-scheduled Groups</a:t>
            </a:r>
            <a:endParaRPr>
              <a:extLst>
                <a:ext uri="http://customooxmlschemas.google.com/">
                  <go:slidesCustomData xmlns:go="http://customooxmlschemas.google.com/" textRoundtripDataId="41"/>
                </a:ext>
              </a:extLst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42"/>
                  </a:ext>
                </a:extLst>
              </a:rPr>
              <a:t>Virtual network Deployment</a:t>
            </a:r>
            <a:endParaRPr/>
          </a:p>
        </p:txBody>
      </p:sp>
      <p:pic>
        <p:nvPicPr>
          <p:cNvPr descr="A container (web server) is on a virtual machine in a virtual network. " id="485" name="Google Shape;48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0502" y="1670722"/>
            <a:ext cx="3149285" cy="442151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4"/>
          <p:cNvSpPr/>
          <p:nvPr/>
        </p:nvSpPr>
        <p:spPr>
          <a:xfrm>
            <a:off x="7166025" y="6025743"/>
            <a:ext cx="4552950" cy="8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300" lIns="182875" spcFirstLastPara="1" rIns="182875" wrap="square" tIns="146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Fastest way to run a container in Azure without provisioning a VM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5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92" name="Google Shape;49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5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94" name="Google Shape;494;p25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95" name="Google Shape;495;p25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96" name="Google Shape;496;p25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97" name="Google Shape;497;p25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98" name="Google Shape;498;p25"/>
          <p:cNvSpPr txBox="1"/>
          <p:nvPr/>
        </p:nvSpPr>
        <p:spPr>
          <a:xfrm>
            <a:off x="472397" y="1441217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Container Groups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472397" y="2586441"/>
            <a:ext cx="3649662" cy="42715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Top-level resource in Azure Container Instances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collection of containers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get scheduled on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same host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containers in the group share a life cycle, resources, local network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storage volumes</a:t>
            </a:r>
            <a:endParaRPr/>
          </a:p>
          <a:p>
            <a:pPr indent="-215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tainer Group working with Azure files which is connected to DNS through port 80" id="500" name="Google Shape;5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5217" y="2673139"/>
            <a:ext cx="7413379" cy="339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6"/>
          <p:cNvSpPr/>
          <p:nvPr/>
        </p:nvSpPr>
        <p:spPr>
          <a:xfrm>
            <a:off x="760916" y="3248455"/>
            <a:ext cx="6274988" cy="103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and configure a container instance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Verify the deployment of the container instance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07" name="Google Shape;50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6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09" name="Google Shape;509;p26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10" name="Google Shape;510;p26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11" name="Google Shape;511;p26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12" name="Google Shape;512;p26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13" name="Google Shape;513;p26"/>
          <p:cNvSpPr txBox="1"/>
          <p:nvPr/>
        </p:nvSpPr>
        <p:spPr>
          <a:xfrm>
            <a:off x="379243" y="2172637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Azure Container Instances: </a:t>
            </a: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Demonstration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7"/>
          <p:cNvSpPr/>
          <p:nvPr/>
        </p:nvSpPr>
        <p:spPr>
          <a:xfrm>
            <a:off x="379243" y="2378342"/>
            <a:ext cx="4847939" cy="4690554"/>
          </a:xfrm>
          <a:prstGeom prst="rect">
            <a:avLst/>
          </a:prstGeom>
          <a:noFill/>
          <a:ln>
            <a:noFill/>
          </a:ln>
        </p:spPr>
        <p:txBody>
          <a:bodyPr anchorCtr="0" anchor="t" bIns="137150" lIns="182875" spcFirstLastPara="1" rIns="182875" wrap="square" tIns="13715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to Azure Kubernetes Service - manages container orchestration</a:t>
            </a:r>
            <a:endParaRPr/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Container App environment creates a secure boundary around the apps and jobs</a:t>
            </a:r>
            <a:endParaRPr/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Container App runtime manages the environment (OS upgrades, scaling, versioning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failover) </a:t>
            </a:r>
            <a:endParaRPr/>
          </a:p>
          <a:p>
            <a:pPr indent="-190500" lvl="0" marL="3429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7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20" name="Google Shape;52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27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22" name="Google Shape;522;p27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23" name="Google Shape;523;p27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24" name="Google Shape;524;p27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25" name="Google Shape;525;p27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26" name="Google Shape;526;p27"/>
          <p:cNvSpPr txBox="1"/>
          <p:nvPr/>
        </p:nvSpPr>
        <p:spPr>
          <a:xfrm>
            <a:off x="379243" y="1567276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 Containers With Azure Container Apps </a:t>
            </a:r>
            <a:endParaRPr/>
          </a:p>
        </p:txBody>
      </p:sp>
      <p:pic>
        <p:nvPicPr>
          <p:cNvPr descr="Diagram showing the deployment architecture for the Azure Container Apps solution." id="527" name="Google Shape;52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7182" y="2649590"/>
            <a:ext cx="6906266" cy="3707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" name="Google Shape;532;p28"/>
          <p:cNvGraphicFramePr/>
          <p:nvPr/>
        </p:nvGraphicFramePr>
        <p:xfrm>
          <a:off x="572387" y="17268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{AE582616-0ED8-4646-A9FB-8E8EB8BFD7DD}</a:tableStyleId>
              </a:tblPr>
              <a:tblGrid>
                <a:gridCol w="1892200"/>
                <a:gridCol w="4333975"/>
                <a:gridCol w="5068925"/>
              </a:tblGrid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6625" marB="46625" marR="93250" marL="93250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Azure Container Apps</a:t>
                      </a:r>
                      <a:endParaRPr b="1"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Azure Kubernetes Service</a:t>
                      </a:r>
                      <a:endParaRPr b="1"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6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Overview</a:t>
                      </a:r>
                      <a:endParaRPr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Simplifies the deployment and management of microservices-based applications by abstracting away the underlying infrastructure</a:t>
                      </a:r>
                      <a:endParaRPr sz="1800" u="none" cap="none" strike="noStrike"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Simplifies the deploy</a:t>
                      </a:r>
                      <a:r>
                        <a:rPr lang="en-US" sz="1800"/>
                        <a:t>ment of</a:t>
                      </a:r>
                      <a:r>
                        <a:rPr lang="en-US" sz="1800" u="none" cap="none" strike="noStrike"/>
                        <a:t> a managed Kubernetes cluster in Azure by offloading the operational overhead to Azure</a:t>
                      </a:r>
                      <a:endParaRPr sz="1800" u="none" cap="none" strike="noStrike"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Deployment</a:t>
                      </a:r>
                      <a:endParaRPr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PaaS experience</a:t>
                      </a:r>
                      <a:endParaRPr sz="1800" u="none" cap="none" strike="noStrike"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Offers more control and customi</a:t>
                      </a:r>
                      <a:r>
                        <a:rPr lang="en-US" sz="1800"/>
                        <a:t>s</a:t>
                      </a:r>
                      <a:r>
                        <a:rPr lang="en-US" sz="1800" u="none" cap="none" strike="noStrike"/>
                        <a:t>ation</a:t>
                      </a:r>
                      <a:endParaRPr sz="1800" u="none" cap="none" strike="noStrike"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Management</a:t>
                      </a:r>
                      <a:endParaRPr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Fully managed by Azure</a:t>
                      </a:r>
                      <a:endParaRPr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Partially managed by Azure (control plane)</a:t>
                      </a:r>
                      <a:endParaRPr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Scalability</a:t>
                      </a:r>
                      <a:endParaRPr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HTTP-based autoscaling and event-driven scaling</a:t>
                      </a:r>
                      <a:endParaRPr sz="1800" u="none" cap="none" strike="noStrike"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Horizontal pod autoscaling and cluster autoscaling</a:t>
                      </a:r>
                      <a:endParaRPr sz="1800" u="none" cap="none" strike="noStrike"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Use Cases</a:t>
                      </a:r>
                      <a:endParaRPr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Rapid scaling and simplified management</a:t>
                      </a:r>
                      <a:endParaRPr sz="1800" u="none" cap="none" strike="noStrike"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Complex, long-running applications that require full Kubernetes features</a:t>
                      </a:r>
                      <a:endParaRPr sz="1800" u="none" cap="none" strike="noStrike"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Integration</a:t>
                      </a:r>
                      <a:endParaRPr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Azure Logic Apps, Functions</a:t>
                      </a:r>
                      <a:r>
                        <a:rPr lang="en-US" sz="1800"/>
                        <a:t> and</a:t>
                      </a:r>
                      <a:r>
                        <a:rPr lang="en-US" sz="1800" u="none" cap="none" strike="noStrike"/>
                        <a:t> Event Grid for event-driven architecture</a:t>
                      </a:r>
                      <a:endParaRPr sz="1800" u="none" cap="none" strike="noStrike"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Azure Policy for Kubernetes, Azure Monitor for containers</a:t>
                      </a:r>
                      <a:r>
                        <a:rPr lang="en-US" sz="1800"/>
                        <a:t> and</a:t>
                      </a:r>
                      <a:r>
                        <a:rPr lang="en-US" sz="1800" u="none" cap="none" strike="noStrike"/>
                        <a:t> Azure Defender for Kubernetes for comprehensive security and governance</a:t>
                      </a:r>
                      <a:endParaRPr sz="1800" u="none" cap="none" strike="noStrike"/>
                    </a:p>
                  </a:txBody>
                  <a:tcPr marT="46625" marB="46625" marR="93250" marL="9325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3" name="Google Shape;533;p28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34" name="Google Shape;53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28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36" name="Google Shape;536;p28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37" name="Google Shape;537;p28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38" name="Google Shape;538;p28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39" name="Google Shape;539;p28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40" name="Google Shape;540;p28"/>
          <p:cNvSpPr txBox="1"/>
          <p:nvPr/>
        </p:nvSpPr>
        <p:spPr>
          <a:xfrm>
            <a:off x="379243" y="1067996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Container Management Solutions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9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46" name="Google Shape;5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29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48" name="Google Shape;548;p29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49" name="Google Shape;549;p29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0" name="Google Shape;550;p29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1" name="Google Shape;551;p29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2" name="Google Shape;552;p29"/>
          <p:cNvSpPr txBox="1"/>
          <p:nvPr/>
        </p:nvSpPr>
        <p:spPr>
          <a:xfrm>
            <a:off x="409950" y="2222880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Azure Container Apps: 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Demonstration 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9"/>
          <p:cNvSpPr/>
          <p:nvPr/>
        </p:nvSpPr>
        <p:spPr>
          <a:xfrm>
            <a:off x="802381" y="3309455"/>
            <a:ext cx="8096897" cy="159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and deploy a container app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Verify whether the application URL displays the welcome message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0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59" name="Google Shape;55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30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61" name="Google Shape;561;p30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62" name="Google Shape;562;p30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63" name="Google Shape;563;p30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64" name="Google Shape;564;p30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65" name="Google Shape;565;p30"/>
          <p:cNvSpPr txBox="1"/>
          <p:nvPr/>
        </p:nvSpPr>
        <p:spPr>
          <a:xfrm>
            <a:off x="884903" y="2877899"/>
            <a:ext cx="10575196" cy="310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a: Implement Web Apps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b: Implement Azure Container Instances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c: Implement Azure Container Apps</a:t>
            </a:r>
            <a:endParaRPr sz="3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1"/>
          <p:cNvSpPr/>
          <p:nvPr/>
        </p:nvSpPr>
        <p:spPr>
          <a:xfrm>
            <a:off x="5112748" y="2937179"/>
            <a:ext cx="6709687" cy="34327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37125" lIns="182850" spcFirstLastPara="1" rIns="182850" wrap="square" tIns="13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Create and configure an Azure web app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Create and configure a deployment slot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3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Configure web app deployment settings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4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Swap deployment slots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5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Configure and test the autoscaling of a web app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1"/>
          <p:cNvSpPr txBox="1"/>
          <p:nvPr/>
        </p:nvSpPr>
        <p:spPr>
          <a:xfrm>
            <a:off x="379243" y="3189391"/>
            <a:ext cx="3787200" cy="27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lab, you will learn about Azure web apps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62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learn how to configure a web app to display a Hello World application in an external GitHub repository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62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learn how to create a staging slot and swap with the production slot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62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also learn about autoscaling to accommodate demand surges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1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74" name="Google Shape;57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31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76" name="Google Shape;576;p31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77" name="Google Shape;577;p31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78" name="Google Shape;578;p31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79" name="Google Shape;579;p31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80" name="Google Shape;580;p31"/>
          <p:cNvSpPr txBox="1"/>
          <p:nvPr/>
        </p:nvSpPr>
        <p:spPr>
          <a:xfrm>
            <a:off x="640063" y="1392415"/>
            <a:ext cx="11701941" cy="502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09a: Implement Web Apps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1"/>
          <p:cNvSpPr txBox="1"/>
          <p:nvPr/>
        </p:nvSpPr>
        <p:spPr>
          <a:xfrm>
            <a:off x="5074454" y="2605873"/>
            <a:ext cx="6215646" cy="414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Job Skills</a:t>
            </a:r>
            <a:endParaRPr sz="20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2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87" name="Google Shape;58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32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89" name="Google Shape;589;p32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90" name="Google Shape;590;p32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91" name="Google Shape;591;p32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92" name="Google Shape;592;p32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93" name="Google Shape;593;p32"/>
          <p:cNvSpPr txBox="1"/>
          <p:nvPr/>
        </p:nvSpPr>
        <p:spPr>
          <a:xfrm>
            <a:off x="990394" y="1342617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64"/>
              <a:buFont typeface="Calibri"/>
              <a:buNone/>
            </a:pPr>
            <a:r>
              <a:rPr lang="en-US" sz="326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09a: Web App Architecture Diagram</a:t>
            </a:r>
            <a:endParaRPr sz="326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descr="Architecture diagram for the web app lab tasks. " id="594" name="Google Shape;594;p32"/>
          <p:cNvGrpSpPr/>
          <p:nvPr/>
        </p:nvGrpSpPr>
        <p:grpSpPr>
          <a:xfrm>
            <a:off x="2673951" y="2272974"/>
            <a:ext cx="7965004" cy="4361569"/>
            <a:chOff x="2105891" y="1468579"/>
            <a:chExt cx="7809536" cy="4276436"/>
          </a:xfrm>
        </p:grpSpPr>
        <p:grpSp>
          <p:nvGrpSpPr>
            <p:cNvPr id="595" name="Google Shape;595;p32"/>
            <p:cNvGrpSpPr/>
            <p:nvPr/>
          </p:nvGrpSpPr>
          <p:grpSpPr>
            <a:xfrm>
              <a:off x="7489044" y="3635913"/>
              <a:ext cx="2255707" cy="1885711"/>
              <a:chOff x="4427564" y="3751883"/>
              <a:chExt cx="2255707" cy="1885711"/>
            </a:xfrm>
          </p:grpSpPr>
          <p:sp>
            <p:nvSpPr>
              <p:cNvPr id="596" name="Google Shape;596;p32"/>
              <p:cNvSpPr/>
              <p:nvPr/>
            </p:nvSpPr>
            <p:spPr>
              <a:xfrm>
                <a:off x="4427564" y="3751883"/>
                <a:ext cx="2255707" cy="1885711"/>
              </a:xfrm>
              <a:prstGeom prst="rect">
                <a:avLst/>
              </a:prstGeom>
              <a:solidFill>
                <a:srgbClr val="F2F2F2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143400" lIns="179250" spcFirstLastPara="1" rIns="179250" wrap="square" tIns="1434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3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97" name="Google Shape;597;p3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620804" y="4274838"/>
                <a:ext cx="476158" cy="4321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8" name="Google Shape;598;p32"/>
              <p:cNvSpPr txBox="1"/>
              <p:nvPr/>
            </p:nvSpPr>
            <p:spPr>
              <a:xfrm>
                <a:off x="5059016" y="4122245"/>
                <a:ext cx="1552849" cy="594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32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 Service Plan</a:t>
                </a:r>
                <a:endParaRPr/>
              </a:p>
            </p:txBody>
          </p:sp>
          <p:sp>
            <p:nvSpPr>
              <p:cNvPr id="599" name="Google Shape;599;p32"/>
              <p:cNvSpPr txBox="1"/>
              <p:nvPr/>
            </p:nvSpPr>
            <p:spPr>
              <a:xfrm>
                <a:off x="4466277" y="3816370"/>
                <a:ext cx="785212" cy="3434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32">
                    <a:solidFill>
                      <a:srgbClr val="1A605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Task 5</a:t>
                </a:r>
                <a:endParaRPr/>
              </a:p>
            </p:txBody>
          </p:sp>
        </p:grpSp>
        <p:sp>
          <p:nvSpPr>
            <p:cNvPr id="600" name="Google Shape;600;p32"/>
            <p:cNvSpPr/>
            <p:nvPr/>
          </p:nvSpPr>
          <p:spPr>
            <a:xfrm>
              <a:off x="4620354" y="4416723"/>
              <a:ext cx="2255707" cy="1104901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3400" lIns="179250" spcFirstLastPara="1" rIns="179250" wrap="square" tIns="143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32"/>
            <p:cNvSpPr/>
            <p:nvPr/>
          </p:nvSpPr>
          <p:spPr>
            <a:xfrm>
              <a:off x="4612048" y="1915808"/>
              <a:ext cx="2258269" cy="1091479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3400" lIns="179250" spcFirstLastPara="1" rIns="179250" wrap="square" tIns="143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32"/>
            <p:cNvSpPr txBox="1"/>
            <p:nvPr/>
          </p:nvSpPr>
          <p:spPr>
            <a:xfrm>
              <a:off x="5140135" y="2281393"/>
              <a:ext cx="1644865" cy="343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3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Production slot</a:t>
              </a:r>
              <a:endParaRPr/>
            </a:p>
          </p:txBody>
        </p:sp>
        <p:sp>
          <p:nvSpPr>
            <p:cNvPr id="603" name="Google Shape;603;p32"/>
            <p:cNvSpPr txBox="1"/>
            <p:nvPr/>
          </p:nvSpPr>
          <p:spPr>
            <a:xfrm>
              <a:off x="4682325" y="4434028"/>
              <a:ext cx="785212" cy="343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32">
                  <a:solidFill>
                    <a:srgbClr val="1A605E"/>
                  </a:solidFill>
                  <a:latin typeface="Calibri"/>
                  <a:ea typeface="Calibri"/>
                  <a:cs typeface="Calibri"/>
                  <a:sym typeface="Calibri"/>
                </a:rPr>
                <a:t>Task 3</a:t>
              </a:r>
              <a:endParaRPr/>
            </a:p>
          </p:txBody>
        </p:sp>
        <p:pic>
          <p:nvPicPr>
            <p:cNvPr id="604" name="Google Shape;604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87994" y="4836993"/>
              <a:ext cx="588821" cy="5344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5" name="Google Shape;605;p32"/>
            <p:cNvSpPr txBox="1"/>
            <p:nvPr/>
          </p:nvSpPr>
          <p:spPr>
            <a:xfrm>
              <a:off x="5180887" y="4836993"/>
              <a:ext cx="1800364" cy="594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3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External git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3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Hello world!</a:t>
              </a:r>
              <a:endParaRPr/>
            </a:p>
          </p:txBody>
        </p:sp>
        <p:pic>
          <p:nvPicPr>
            <p:cNvPr id="606" name="Google Shape;606;p3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48147" y="4790168"/>
              <a:ext cx="438565" cy="4321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32"/>
            <p:cNvSpPr txBox="1"/>
            <p:nvPr/>
          </p:nvSpPr>
          <p:spPr>
            <a:xfrm>
              <a:off x="8118812" y="4676785"/>
              <a:ext cx="1391603" cy="594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3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Autoscale rule</a:t>
              </a:r>
              <a:endParaRPr/>
            </a:p>
          </p:txBody>
        </p:sp>
        <p:grpSp>
          <p:nvGrpSpPr>
            <p:cNvPr id="608" name="Google Shape;608;p32"/>
            <p:cNvGrpSpPr/>
            <p:nvPr/>
          </p:nvGrpSpPr>
          <p:grpSpPr>
            <a:xfrm>
              <a:off x="2247704" y="3101545"/>
              <a:ext cx="2255707" cy="2420079"/>
              <a:chOff x="955534" y="1946124"/>
              <a:chExt cx="2255707" cy="2239573"/>
            </a:xfrm>
          </p:grpSpPr>
          <p:sp>
            <p:nvSpPr>
              <p:cNvPr id="609" name="Google Shape;609;p32"/>
              <p:cNvSpPr/>
              <p:nvPr/>
            </p:nvSpPr>
            <p:spPr>
              <a:xfrm>
                <a:off x="955534" y="1963524"/>
                <a:ext cx="2255707" cy="2222173"/>
              </a:xfrm>
              <a:prstGeom prst="rect">
                <a:avLst/>
              </a:prstGeom>
              <a:solidFill>
                <a:srgbClr val="F2F2F2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143400" lIns="179250" spcFirstLastPara="1" rIns="179250" wrap="square" tIns="1434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3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32"/>
              <p:cNvSpPr txBox="1"/>
              <p:nvPr/>
            </p:nvSpPr>
            <p:spPr>
              <a:xfrm>
                <a:off x="984403" y="1946124"/>
                <a:ext cx="839641" cy="317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32">
                    <a:solidFill>
                      <a:srgbClr val="1A605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Task 1</a:t>
                </a:r>
                <a:endParaRPr/>
              </a:p>
            </p:txBody>
          </p:sp>
          <p:pic>
            <p:nvPicPr>
              <p:cNvPr id="611" name="Google Shape;611;p3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737937" y="2224746"/>
                <a:ext cx="475714" cy="43177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2" name="Google Shape;612;p32"/>
              <p:cNvSpPr txBox="1"/>
              <p:nvPr/>
            </p:nvSpPr>
            <p:spPr>
              <a:xfrm>
                <a:off x="1379597" y="2639067"/>
                <a:ext cx="1391603" cy="317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32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 Service</a:t>
                </a:r>
                <a:endParaRPr/>
              </a:p>
            </p:txBody>
          </p:sp>
          <p:pic>
            <p:nvPicPr>
              <p:cNvPr id="613" name="Google Shape;613;p3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713329" y="3084525"/>
                <a:ext cx="512981" cy="5129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4" name="Google Shape;614;p32"/>
              <p:cNvSpPr txBox="1"/>
              <p:nvPr/>
            </p:nvSpPr>
            <p:spPr>
              <a:xfrm>
                <a:off x="1379597" y="3595442"/>
                <a:ext cx="1138081" cy="317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32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Web App</a:t>
                </a:r>
                <a:endParaRPr/>
              </a:p>
            </p:txBody>
          </p:sp>
        </p:grpSp>
        <p:sp>
          <p:nvSpPr>
            <p:cNvPr id="615" name="Google Shape;615;p32"/>
            <p:cNvSpPr/>
            <p:nvPr/>
          </p:nvSpPr>
          <p:spPr>
            <a:xfrm>
              <a:off x="4618245" y="3138173"/>
              <a:ext cx="2255707" cy="1027344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3400" lIns="179250" spcFirstLastPara="1" rIns="179250" wrap="square" tIns="143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32"/>
            <p:cNvSpPr txBox="1"/>
            <p:nvPr/>
          </p:nvSpPr>
          <p:spPr>
            <a:xfrm>
              <a:off x="5193422" y="3608171"/>
              <a:ext cx="1644865" cy="343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3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Staging slot</a:t>
              </a:r>
              <a:endParaRPr/>
            </a:p>
          </p:txBody>
        </p:sp>
        <p:sp>
          <p:nvSpPr>
            <p:cNvPr id="617" name="Google Shape;617;p32"/>
            <p:cNvSpPr txBox="1"/>
            <p:nvPr/>
          </p:nvSpPr>
          <p:spPr>
            <a:xfrm>
              <a:off x="4659011" y="3148211"/>
              <a:ext cx="839641" cy="343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32">
                  <a:solidFill>
                    <a:srgbClr val="1A605E"/>
                  </a:solidFill>
                  <a:latin typeface="Calibri"/>
                  <a:ea typeface="Calibri"/>
                  <a:cs typeface="Calibri"/>
                  <a:sym typeface="Calibri"/>
                </a:rPr>
                <a:t>Task 2</a:t>
              </a:r>
              <a:endParaRPr/>
            </a:p>
          </p:txBody>
        </p:sp>
        <p:pic>
          <p:nvPicPr>
            <p:cNvPr id="618" name="Google Shape;618;p3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79301" y="3539281"/>
              <a:ext cx="453846" cy="411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32"/>
            <p:cNvSpPr txBox="1"/>
            <p:nvPr/>
          </p:nvSpPr>
          <p:spPr>
            <a:xfrm>
              <a:off x="7180448" y="2762991"/>
              <a:ext cx="839641" cy="343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32">
                  <a:solidFill>
                    <a:srgbClr val="1A605E"/>
                  </a:solidFill>
                  <a:latin typeface="Calibri"/>
                  <a:ea typeface="Calibri"/>
                  <a:cs typeface="Calibri"/>
                  <a:sym typeface="Calibri"/>
                </a:rPr>
                <a:t>Task 4</a:t>
              </a:r>
              <a:endParaRPr/>
            </a:p>
          </p:txBody>
        </p:sp>
        <p:sp>
          <p:nvSpPr>
            <p:cNvPr id="620" name="Google Shape;620;p32"/>
            <p:cNvSpPr txBox="1"/>
            <p:nvPr/>
          </p:nvSpPr>
          <p:spPr>
            <a:xfrm>
              <a:off x="7206782" y="3042362"/>
              <a:ext cx="839641" cy="343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3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Swap</a:t>
              </a:r>
              <a:endParaRPr/>
            </a:p>
          </p:txBody>
        </p:sp>
        <p:sp>
          <p:nvSpPr>
            <p:cNvPr id="621" name="Google Shape;621;p32"/>
            <p:cNvSpPr/>
            <p:nvPr/>
          </p:nvSpPr>
          <p:spPr>
            <a:xfrm flipH="1">
              <a:off x="6847618" y="2464947"/>
              <a:ext cx="332830" cy="1280300"/>
            </a:xfrm>
            <a:prstGeom prst="leftBracket">
              <a:avLst>
                <a:gd fmla="val 8333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22" name="Google Shape;622;p32"/>
            <p:cNvCxnSpPr>
              <a:stCxn id="600" idx="0"/>
              <a:endCxn id="615" idx="2"/>
            </p:cNvCxnSpPr>
            <p:nvPr/>
          </p:nvCxnSpPr>
          <p:spPr>
            <a:xfrm rot="10800000">
              <a:off x="5746108" y="4165623"/>
              <a:ext cx="2100" cy="251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623" name="Google Shape;623;p32"/>
            <p:cNvSpPr/>
            <p:nvPr/>
          </p:nvSpPr>
          <p:spPr>
            <a:xfrm>
              <a:off x="2105891" y="1623310"/>
              <a:ext cx="7809536" cy="412170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9200" lIns="186500" spcFirstLastPara="1" rIns="186500" wrap="square" tIns="149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4" name="Google Shape;624;p32"/>
            <p:cNvGrpSpPr/>
            <p:nvPr/>
          </p:nvGrpSpPr>
          <p:grpSpPr>
            <a:xfrm>
              <a:off x="2197901" y="1468579"/>
              <a:ext cx="1972883" cy="346015"/>
              <a:chOff x="955534" y="1581875"/>
              <a:chExt cx="1972883" cy="346015"/>
            </a:xfrm>
          </p:grpSpPr>
          <p:sp>
            <p:nvSpPr>
              <p:cNvPr id="625" name="Google Shape;625;p32"/>
              <p:cNvSpPr txBox="1"/>
              <p:nvPr/>
            </p:nvSpPr>
            <p:spPr>
              <a:xfrm>
                <a:off x="955534" y="1581875"/>
                <a:ext cx="1972883" cy="34349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32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az104-09a-rg9a</a:t>
                </a:r>
                <a:endParaRPr/>
              </a:p>
            </p:txBody>
          </p:sp>
          <p:pic>
            <p:nvPicPr>
              <p:cNvPr id="626" name="Google Shape;626;p32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955534" y="1592996"/>
                <a:ext cx="368970" cy="3348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27" name="Google Shape;627;p3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44687" y="2212503"/>
              <a:ext cx="453846" cy="4119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3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34" name="Google Shape;6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33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36" name="Google Shape;636;p33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37" name="Google Shape;637;p33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38" name="Google Shape;638;p33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39" name="Google Shape;639;p33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40" name="Google Shape;640;p33"/>
          <p:cNvSpPr txBox="1"/>
          <p:nvPr/>
        </p:nvSpPr>
        <p:spPr>
          <a:xfrm>
            <a:off x="733591" y="1677121"/>
            <a:ext cx="11701941" cy="502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09b: Implement Azure Container Instances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3"/>
          <p:cNvSpPr txBox="1"/>
          <p:nvPr/>
        </p:nvSpPr>
        <p:spPr>
          <a:xfrm>
            <a:off x="592460" y="3418850"/>
            <a:ext cx="3509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lab, you will learn how to implement Azure Container Instances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how to deploy an Azure Container Instance to display a Hello World app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3"/>
          <p:cNvSpPr txBox="1"/>
          <p:nvPr/>
        </p:nvSpPr>
        <p:spPr>
          <a:xfrm>
            <a:off x="5167982" y="2890579"/>
            <a:ext cx="6215646" cy="414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Job Skills</a:t>
            </a:r>
            <a:endParaRPr sz="20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3"/>
          <p:cNvSpPr/>
          <p:nvPr/>
        </p:nvSpPr>
        <p:spPr>
          <a:xfrm>
            <a:off x="5204576" y="3233824"/>
            <a:ext cx="6791236" cy="36646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37125" lIns="182850" spcFirstLastPara="1" rIns="182850" wrap="square" tIns="13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r>
              <a:rPr lang="en-US" sz="20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Deploy an Azure Container Instance using a Docker image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r>
              <a:rPr lang="en-US" sz="20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Test and verify the deployment of an Azure Container Instance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4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49" name="Google Shape;64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34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51" name="Google Shape;651;p34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52" name="Google Shape;652;p34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53" name="Google Shape;653;p34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54" name="Google Shape;654;p34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55" name="Google Shape;655;p34"/>
          <p:cNvSpPr txBox="1"/>
          <p:nvPr/>
        </p:nvSpPr>
        <p:spPr>
          <a:xfrm>
            <a:off x="572387" y="1565776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64"/>
              <a:buFont typeface="Calibri"/>
              <a:buNone/>
            </a:pPr>
            <a:r>
              <a:rPr lang="en-US" sz="326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09b: Azure Container Instances Diagram</a:t>
            </a:r>
            <a:endParaRPr sz="326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descr="Architecture diagram for the azure container instance lab tasks. " id="656" name="Google Shape;656;p34"/>
          <p:cNvGrpSpPr/>
          <p:nvPr/>
        </p:nvGrpSpPr>
        <p:grpSpPr>
          <a:xfrm>
            <a:off x="3392519" y="3222375"/>
            <a:ext cx="5041077" cy="3120751"/>
            <a:chOff x="525208" y="2146197"/>
            <a:chExt cx="4615467" cy="2461857"/>
          </a:xfrm>
        </p:grpSpPr>
        <p:sp>
          <p:nvSpPr>
            <p:cNvPr id="657" name="Google Shape;657;p34"/>
            <p:cNvSpPr/>
            <p:nvPr/>
          </p:nvSpPr>
          <p:spPr>
            <a:xfrm>
              <a:off x="525208" y="2146197"/>
              <a:ext cx="2458939" cy="246185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3400" lIns="179250" spcFirstLastPara="1" rIns="179250" wrap="square" tIns="143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34"/>
            <p:cNvSpPr txBox="1"/>
            <p:nvPr/>
          </p:nvSpPr>
          <p:spPr>
            <a:xfrm>
              <a:off x="525208" y="2187967"/>
              <a:ext cx="1110286" cy="276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32">
                  <a:solidFill>
                    <a:srgbClr val="222A35"/>
                  </a:solidFill>
                  <a:latin typeface="Calibri"/>
                  <a:ea typeface="Calibri"/>
                  <a:cs typeface="Calibri"/>
                  <a:sym typeface="Calibri"/>
                </a:rPr>
                <a:t>Task 1</a:t>
              </a:r>
              <a:endParaRPr/>
            </a:p>
          </p:txBody>
        </p:sp>
        <p:sp>
          <p:nvSpPr>
            <p:cNvPr id="659" name="Google Shape;659;p34"/>
            <p:cNvSpPr/>
            <p:nvPr/>
          </p:nvSpPr>
          <p:spPr>
            <a:xfrm>
              <a:off x="695508" y="2857804"/>
              <a:ext cx="2165738" cy="1458626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3400" lIns="179250" spcFirstLastPara="1" rIns="179250" wrap="square" tIns="143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60" name="Google Shape;660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92060" y="3008373"/>
              <a:ext cx="601743" cy="5581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34"/>
            <p:cNvSpPr/>
            <p:nvPr/>
          </p:nvSpPr>
          <p:spPr>
            <a:xfrm>
              <a:off x="3232948" y="2163707"/>
              <a:ext cx="1907727" cy="244434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3400" lIns="179250" spcFirstLastPara="1" rIns="179250" wrap="square" tIns="143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34"/>
            <p:cNvSpPr txBox="1"/>
            <p:nvPr/>
          </p:nvSpPr>
          <p:spPr>
            <a:xfrm>
              <a:off x="3259612" y="2187967"/>
              <a:ext cx="1110286" cy="276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32">
                  <a:solidFill>
                    <a:srgbClr val="222A35"/>
                  </a:solidFill>
                  <a:latin typeface="Calibri"/>
                  <a:ea typeface="Calibri"/>
                  <a:cs typeface="Calibri"/>
                  <a:sym typeface="Calibri"/>
                </a:rPr>
                <a:t>Task 2</a:t>
              </a:r>
              <a:endParaRPr/>
            </a:p>
          </p:txBody>
        </p:sp>
        <p:cxnSp>
          <p:nvCxnSpPr>
            <p:cNvPr id="663" name="Google Shape;663;p34"/>
            <p:cNvCxnSpPr/>
            <p:nvPr/>
          </p:nvCxnSpPr>
          <p:spPr>
            <a:xfrm rot="10800000">
              <a:off x="2177127" y="3396197"/>
              <a:ext cx="130489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664" name="Google Shape;664;p34"/>
            <p:cNvSpPr txBox="1"/>
            <p:nvPr/>
          </p:nvSpPr>
          <p:spPr>
            <a:xfrm>
              <a:off x="764541" y="3689558"/>
              <a:ext cx="2165738" cy="276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3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Container Instance</a:t>
              </a:r>
              <a:endParaRPr/>
            </a:p>
          </p:txBody>
        </p:sp>
        <p:sp>
          <p:nvSpPr>
            <p:cNvPr id="665" name="Google Shape;665;p34"/>
            <p:cNvSpPr txBox="1"/>
            <p:nvPr/>
          </p:nvSpPr>
          <p:spPr>
            <a:xfrm>
              <a:off x="3392000" y="3884669"/>
              <a:ext cx="1748675" cy="276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3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 and verify</a:t>
              </a:r>
              <a:endParaRPr/>
            </a:p>
          </p:txBody>
        </p:sp>
        <p:pic>
          <p:nvPicPr>
            <p:cNvPr id="666" name="Google Shape;666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82017" y="2585379"/>
              <a:ext cx="1393223" cy="12239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7" name="Google Shape;667;p34"/>
          <p:cNvSpPr txBox="1"/>
          <p:nvPr/>
        </p:nvSpPr>
        <p:spPr>
          <a:xfrm>
            <a:off x="4393579" y="2625365"/>
            <a:ext cx="3312075" cy="560645"/>
          </a:xfrm>
          <a:prstGeom prst="rect">
            <a:avLst/>
          </a:prstGeom>
          <a:noFill/>
          <a:ln>
            <a:noFill/>
          </a:ln>
        </p:spPr>
        <p:txBody>
          <a:bodyPr anchorCtr="0" anchor="t" bIns="149200" lIns="186500" spcFirstLastPara="1" rIns="186500" wrap="square" tIns="1492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 Container Instances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5"/>
          <p:cNvSpPr/>
          <p:nvPr/>
        </p:nvSpPr>
        <p:spPr>
          <a:xfrm>
            <a:off x="5189827" y="3320622"/>
            <a:ext cx="6791236" cy="36646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37125" lIns="182850" spcFirstLastPara="1" rIns="182850" wrap="square" tIns="13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1</a:t>
            </a:r>
            <a:r>
              <a:rPr lang="en-US" sz="20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Create and configure an Azure Container App and environment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2</a:t>
            </a:r>
            <a:r>
              <a:rPr lang="en-US" sz="20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40">
                <a:solidFill>
                  <a:srgbClr val="1F23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and verify the deployment of the Azure Container App</a:t>
            </a:r>
            <a:endParaRPr sz="20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5"/>
          <p:cNvSpPr txBox="1"/>
          <p:nvPr/>
        </p:nvSpPr>
        <p:spPr>
          <a:xfrm>
            <a:off x="577711" y="3495400"/>
            <a:ext cx="3509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lab, you will learn how to implement Azure Container Apps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learn how to deploy the default Azure Container App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5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76" name="Google Shape;67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35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78" name="Google Shape;678;p35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79" name="Google Shape;679;p35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80" name="Google Shape;680;p35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81" name="Google Shape;681;p35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82" name="Google Shape;682;p35"/>
          <p:cNvSpPr txBox="1"/>
          <p:nvPr/>
        </p:nvSpPr>
        <p:spPr>
          <a:xfrm>
            <a:off x="718842" y="1753671"/>
            <a:ext cx="11701941" cy="502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09c: Implement Azure Container Apps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5"/>
          <p:cNvSpPr txBox="1"/>
          <p:nvPr/>
        </p:nvSpPr>
        <p:spPr>
          <a:xfrm>
            <a:off x="5153233" y="2967129"/>
            <a:ext cx="6215646" cy="414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Job Skills</a:t>
            </a:r>
            <a:endParaRPr sz="20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6"/>
          <p:cNvSpPr txBox="1"/>
          <p:nvPr/>
        </p:nvSpPr>
        <p:spPr>
          <a:xfrm>
            <a:off x="990394" y="1609206"/>
            <a:ext cx="11530584" cy="8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64"/>
              <a:buFont typeface="Calibri"/>
              <a:buNone/>
            </a:pPr>
            <a:r>
              <a:rPr lang="en-US" sz="326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09c: Azure Container Architecture Diagram</a:t>
            </a:r>
            <a:endParaRPr sz="326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6"/>
          <p:cNvSpPr txBox="1"/>
          <p:nvPr>
            <p:ph idx="12" type="sldNum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</a:pPr>
            <a:fld id="{00000000-1234-1234-1234-123412341234}" type="slidenum">
              <a:rPr lang="en-US" sz="900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90" name="Google Shape;69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36"/>
          <p:cNvSpPr/>
          <p:nvPr/>
        </p:nvSpPr>
        <p:spPr>
          <a:xfrm>
            <a:off x="8899278" y="715834"/>
            <a:ext cx="1212079" cy="32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92" name="Google Shape;692;p36"/>
          <p:cNvSpPr/>
          <p:nvPr/>
        </p:nvSpPr>
        <p:spPr>
          <a:xfrm>
            <a:off x="5075" y="11476"/>
            <a:ext cx="2238883" cy="17803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93" name="Google Shape;693;p36"/>
          <p:cNvSpPr/>
          <p:nvPr/>
        </p:nvSpPr>
        <p:spPr>
          <a:xfrm>
            <a:off x="11272968" y="-14988"/>
            <a:ext cx="963240" cy="12184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94" name="Google Shape;694;p36"/>
          <p:cNvSpPr/>
          <p:nvPr/>
        </p:nvSpPr>
        <p:spPr>
          <a:xfrm rot="10800000">
            <a:off x="11258318" y="6126356"/>
            <a:ext cx="939090" cy="746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95" name="Google Shape;695;p36"/>
          <p:cNvSpPr/>
          <p:nvPr/>
        </p:nvSpPr>
        <p:spPr>
          <a:xfrm rot="10800000">
            <a:off x="8803" y="6369939"/>
            <a:ext cx="370439" cy="4686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descr="Architecture diagram for the azure container apps lab tasks. " id="696" name="Google Shape;696;p36"/>
          <p:cNvGrpSpPr/>
          <p:nvPr/>
        </p:nvGrpSpPr>
        <p:grpSpPr>
          <a:xfrm>
            <a:off x="3740716" y="3340316"/>
            <a:ext cx="5304921" cy="3076985"/>
            <a:chOff x="6096000" y="2486534"/>
            <a:chExt cx="4918571" cy="2841990"/>
          </a:xfrm>
        </p:grpSpPr>
        <p:sp>
          <p:nvSpPr>
            <p:cNvPr id="697" name="Google Shape;697;p36"/>
            <p:cNvSpPr/>
            <p:nvPr/>
          </p:nvSpPr>
          <p:spPr>
            <a:xfrm>
              <a:off x="6096000" y="2486534"/>
              <a:ext cx="2602988" cy="282205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3400" lIns="179250" spcFirstLastPara="1" rIns="179250" wrap="square" tIns="143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6"/>
            <p:cNvSpPr txBox="1"/>
            <p:nvPr/>
          </p:nvSpPr>
          <p:spPr>
            <a:xfrm>
              <a:off x="6147653" y="2496256"/>
              <a:ext cx="1052891" cy="323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32">
                  <a:solidFill>
                    <a:srgbClr val="222A35"/>
                  </a:solidFill>
                  <a:latin typeface="Calibri"/>
                  <a:ea typeface="Calibri"/>
                  <a:cs typeface="Calibri"/>
                  <a:sym typeface="Calibri"/>
                </a:rPr>
                <a:t>Task 1</a:t>
              </a:r>
              <a:endParaRPr/>
            </a:p>
          </p:txBody>
        </p:sp>
        <p:sp>
          <p:nvSpPr>
            <p:cNvPr id="699" name="Google Shape;699;p36"/>
            <p:cNvSpPr/>
            <p:nvPr/>
          </p:nvSpPr>
          <p:spPr>
            <a:xfrm>
              <a:off x="6326018" y="2918778"/>
              <a:ext cx="2119248" cy="2247322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3400" lIns="179250" spcFirstLastPara="1" rIns="179250" wrap="square" tIns="143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6"/>
            <p:cNvSpPr/>
            <p:nvPr/>
          </p:nvSpPr>
          <p:spPr>
            <a:xfrm>
              <a:off x="8988240" y="2506467"/>
              <a:ext cx="2026331" cy="282205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3400" lIns="179250" spcFirstLastPara="1" rIns="179250" wrap="square" tIns="143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6"/>
            <p:cNvSpPr txBox="1"/>
            <p:nvPr/>
          </p:nvSpPr>
          <p:spPr>
            <a:xfrm>
              <a:off x="8988240" y="2497534"/>
              <a:ext cx="1052891" cy="323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32">
                  <a:solidFill>
                    <a:srgbClr val="222A35"/>
                  </a:solidFill>
                  <a:latin typeface="Calibri"/>
                  <a:ea typeface="Calibri"/>
                  <a:cs typeface="Calibri"/>
                  <a:sym typeface="Calibri"/>
                </a:rPr>
                <a:t>Task 2</a:t>
              </a:r>
              <a:endParaRPr/>
            </a:p>
          </p:txBody>
        </p:sp>
        <p:sp>
          <p:nvSpPr>
            <p:cNvPr id="702" name="Google Shape;702;p36"/>
            <p:cNvSpPr txBox="1"/>
            <p:nvPr/>
          </p:nvSpPr>
          <p:spPr>
            <a:xfrm>
              <a:off x="6674099" y="4788096"/>
              <a:ext cx="1705702" cy="323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3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Container App</a:t>
              </a:r>
              <a:endParaRPr/>
            </a:p>
          </p:txBody>
        </p:sp>
        <p:sp>
          <p:nvSpPr>
            <p:cNvPr id="703" name="Google Shape;703;p36"/>
            <p:cNvSpPr/>
            <p:nvPr/>
          </p:nvSpPr>
          <p:spPr>
            <a:xfrm>
              <a:off x="9186282" y="2940186"/>
              <a:ext cx="1708075" cy="1695251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43400" lIns="179250" spcFirstLastPara="1" rIns="179250" wrap="square" tIns="143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6"/>
            <p:cNvSpPr txBox="1"/>
            <p:nvPr/>
          </p:nvSpPr>
          <p:spPr>
            <a:xfrm>
              <a:off x="9302224" y="4124156"/>
              <a:ext cx="1658280" cy="323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3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 and verify</a:t>
              </a:r>
              <a:endParaRPr/>
            </a:p>
          </p:txBody>
        </p:sp>
        <p:pic>
          <p:nvPicPr>
            <p:cNvPr id="705" name="Google Shape;705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360894" y="3093459"/>
              <a:ext cx="1321202" cy="968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6" name="Google Shape;706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96048" y="4217224"/>
              <a:ext cx="635000" cy="595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7" name="Google Shape;707;p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22696" y="2993202"/>
              <a:ext cx="745798" cy="699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36"/>
            <p:cNvSpPr txBox="1"/>
            <p:nvPr/>
          </p:nvSpPr>
          <p:spPr>
            <a:xfrm>
              <a:off x="6597739" y="3646586"/>
              <a:ext cx="1705702" cy="560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3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Container Apps Environment</a:t>
              </a:r>
              <a:endParaRPr/>
            </a:p>
          </p:txBody>
        </p:sp>
        <p:cxnSp>
          <p:nvCxnSpPr>
            <p:cNvPr id="709" name="Google Shape;709;p36"/>
            <p:cNvCxnSpPr>
              <a:stCxn id="705" idx="1"/>
              <a:endCxn id="706" idx="3"/>
            </p:cNvCxnSpPr>
            <p:nvPr/>
          </p:nvCxnSpPr>
          <p:spPr>
            <a:xfrm flipH="1">
              <a:off x="7730994" y="3577915"/>
              <a:ext cx="1629900" cy="9369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10" name="Google Shape;710;p36"/>
          <p:cNvSpPr txBox="1"/>
          <p:nvPr/>
        </p:nvSpPr>
        <p:spPr>
          <a:xfrm>
            <a:off x="5142392" y="2663611"/>
            <a:ext cx="2837950" cy="560645"/>
          </a:xfrm>
          <a:prstGeom prst="rect">
            <a:avLst/>
          </a:prstGeom>
          <a:noFill/>
          <a:ln>
            <a:noFill/>
          </a:ln>
        </p:spPr>
        <p:txBody>
          <a:bodyPr anchorCtr="0" anchor="t" bIns="149200" lIns="186500" spcFirstLastPara="1" rIns="186500" wrap="square" tIns="1492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 Container Apps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7"/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rotWithShape="0" algn="t" dir="5400000" dist="3810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7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Thank You!</a:t>
            </a:r>
            <a:endParaRPr sz="4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7" name="Google Shape;717;p37"/>
          <p:cNvSpPr txBox="1"/>
          <p:nvPr>
            <p:ph idx="4294967295" type="sldNum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18" name="Google Shape;71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37"/>
          <p:cNvPicPr preferRelativeResize="0"/>
          <p:nvPr/>
        </p:nvPicPr>
        <p:blipFill rotWithShape="1">
          <a:blip r:embed="rId4">
            <a:alphaModFix/>
          </a:blip>
          <a:srcRect b="40665" l="25725" r="34749" t="37867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2024-07-23T11:56:01Z</dcterms:created>
  <dc:creator>Janvi Jannet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0x01010096303C1C7C00F045B33B06D7CDCE8711</vt:lpwstr>
  </property>
</Properties>
</file>