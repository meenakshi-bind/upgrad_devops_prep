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7" r:id="rId2"/>
    <p:sldId id="903" r:id="rId3"/>
    <p:sldId id="902" r:id="rId4"/>
    <p:sldId id="901" r:id="rId5"/>
    <p:sldId id="904" r:id="rId6"/>
    <p:sldId id="905" r:id="rId7"/>
    <p:sldId id="906" r:id="rId8"/>
    <p:sldId id="907" r:id="rId9"/>
    <p:sldId id="908" r:id="rId10"/>
    <p:sldId id="909" r:id="rId11"/>
    <p:sldId id="910" r:id="rId12"/>
    <p:sldId id="911" r:id="rId13"/>
    <p:sldId id="912" r:id="rId14"/>
    <p:sldId id="913" r:id="rId15"/>
    <p:sldId id="914" r:id="rId16"/>
    <p:sldId id="915" r:id="rId17"/>
    <p:sldId id="916" r:id="rId18"/>
    <p:sldId id="917" r:id="rId19"/>
    <p:sldId id="918" r:id="rId20"/>
    <p:sldId id="919" r:id="rId21"/>
    <p:sldId id="920" r:id="rId22"/>
    <p:sldId id="921" r:id="rId23"/>
    <p:sldId id="922" r:id="rId24"/>
    <p:sldId id="924" r:id="rId25"/>
    <p:sldId id="925" r:id="rId26"/>
    <p:sldId id="926" r:id="rId27"/>
    <p:sldId id="927" r:id="rId28"/>
    <p:sldId id="928" r:id="rId29"/>
    <p:sldId id="929" r:id="rId30"/>
    <p:sldId id="930" r:id="rId31"/>
    <p:sldId id="931" r:id="rId32"/>
    <p:sldId id="932" r:id="rId33"/>
    <p:sldId id="933" r:id="rId34"/>
    <p:sldId id="934" r:id="rId35"/>
    <p:sldId id="50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422" autoAdjust="0"/>
  </p:normalViewPr>
  <p:slideViewPr>
    <p:cSldViewPr snapToGrid="0">
      <p:cViewPr varScale="1">
        <p:scale>
          <a:sx n="72" d="100"/>
          <a:sy n="72" d="100"/>
        </p:scale>
        <p:origin x="44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13585-F2F7-4CAB-A4E4-1512BB9B545B}" type="datetimeFigureOut">
              <a:rPr lang="en-IN" smtClean="0"/>
              <a:t>14-11-2024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769316-F612-48C3-B1C7-701A2C12BC02}" type="slidenum">
              <a:rPr lang="en-IN" smtClean="0"/>
              <a:t>‹#›</a:t>
            </a:fld>
            <a:endParaRPr lang="en-IN"/>
          </a:p>
        </p:txBody>
      </p:sp>
    </p:spTree>
    <p:extLst>
      <p:ext uri="{BB962C8B-B14F-4D97-AF65-F5344CB8AC3E}">
        <p14:creationId xmlns:p14="http://schemas.microsoft.com/office/powerpoint/2010/main" val="83973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time, Tables and Queues are discussed. </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sz="1200" kern="1200" dirty="0">
                <a:solidFill>
                  <a:schemeClr val="tx1"/>
                </a:solidFill>
                <a:effectLst/>
                <a:latin typeface="Segoe UI Light" pitchFamily="34" charset="0"/>
                <a:ea typeface="+mn-ea"/>
                <a:cs typeface="+mn-cs"/>
              </a:rPr>
              <a:t>Introduction to the core Azure Storage services - https://docs.microsoft.com/azure/storage/common/storage-introduction?toc=%2fazure%2fstorage%2fblobs%2ftoc.json</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2</a:t>
            </a:fld>
            <a:endParaRPr lang="en-IN"/>
          </a:p>
        </p:txBody>
      </p:sp>
    </p:spTree>
    <p:extLst>
      <p:ext uri="{BB962C8B-B14F-4D97-AF65-F5344CB8AC3E}">
        <p14:creationId xmlns:p14="http://schemas.microsoft.com/office/powerpoint/2010/main" val="25284734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Segoe UI VSS (Regular)"/>
              </a:rPr>
              <a:t>Premium block blobs, File share and page blob supports LRS &amp; ZRS and Standard general-purpose v2 supports all replications.</a:t>
            </a:r>
          </a:p>
          <a:p>
            <a:endParaRPr lang="en-US" dirty="0"/>
          </a:p>
          <a:p>
            <a:r>
              <a:rPr lang="en-US" dirty="0"/>
              <a:t>Storage account overview - https://docs.microsoft.com/azure/storage/common/storage-account-overview</a:t>
            </a:r>
          </a:p>
          <a:p>
            <a:endParaRPr lang="en-US" dirty="0"/>
          </a:p>
          <a:p>
            <a:r>
              <a:rPr lang="en-US" dirty="0"/>
              <a:t>Create an Azure Storage account - https://docs.microsoft.com/azure/storage/common/storage-account-create</a:t>
            </a:r>
          </a:p>
          <a:p>
            <a:endParaRPr lang="en-US" dirty="0"/>
          </a:p>
          <a:p>
            <a:r>
              <a:rPr lang="en-US" dirty="0"/>
              <a:t>Upgrade to a general-purpose v2 storage account - https://docs.microsoft.com/azure/storage/common/storage-account-upgrade</a:t>
            </a:r>
          </a:p>
          <a:p>
            <a:endParaRPr lang="en-US" dirty="0"/>
          </a:p>
          <a:p>
            <a:r>
              <a:rPr lang="en-US" dirty="0"/>
              <a:t>Create an Azure Storage account  - https://docs.microsoft.com/learn/modules/create-azure-storage-account/</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3</a:t>
            </a:fld>
            <a:endParaRPr lang="en-IN"/>
          </a:p>
        </p:txBody>
      </p:sp>
    </p:spTree>
    <p:extLst>
      <p:ext uri="{BB962C8B-B14F-4D97-AF65-F5344CB8AC3E}">
        <p14:creationId xmlns:p14="http://schemas.microsoft.com/office/powerpoint/2010/main" val="698714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 Azure Storage account always replicates your data to help ensure durability and high availability. Azure Storage copies data so that it’s protected from planned and unplanned events, including transient hardware failures, network or power outages, and natural disasters.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You can replicate data within the same datacenter, across zonal datacenters within the same region, or across geographically separated regions.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Locally redundant storage (LRS) replicates data three times within a single datacenter. LRS provides at least 99.999999999 (11 nines) percent durability of objects over a given year. LRS is the lowest-cost replication option, and it offers the least durability compared to other options.</a:t>
            </a:r>
          </a:p>
          <a:p>
            <a:br>
              <a:rPr lang="en-US" b="0" dirty="0"/>
            </a:br>
            <a:r>
              <a:rPr lang="en-US" sz="1200" b="0" i="0" kern="1200" dirty="0">
                <a:solidFill>
                  <a:schemeClr val="tx1"/>
                </a:solidFill>
                <a:effectLst/>
                <a:latin typeface="+mn-lt"/>
                <a:ea typeface="+mn-ea"/>
                <a:cs typeface="+mn-cs"/>
              </a:rPr>
              <a:t>Zone-redundant storage (ZRS) replicates data synchronously across three storage clusters in a single region. Each storage cluster is physically separated from the others and is in its own availability zone (AZ).</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Geo-redundant storage (GRS) is designed to provide at least 99.99999999999999 (16 nines) percent durability of objects over a given year by replicating data to a secondary region that’s hundreds of miles away from the primary region.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Read-access geo-redundant storage (RA-GRS) is based on GRS. RA-GRS replicates data to another datacenter in a secondary region, and it also provides the option to read from the secondary region.</a:t>
            </a:r>
            <a:endParaRPr lang="en-US" b="0"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4</a:t>
            </a:fld>
            <a:endParaRPr lang="en-IN"/>
          </a:p>
        </p:txBody>
      </p:sp>
    </p:spTree>
    <p:extLst>
      <p:ext uri="{BB962C8B-B14F-4D97-AF65-F5344CB8AC3E}">
        <p14:creationId xmlns:p14="http://schemas.microsoft.com/office/powerpoint/2010/main" val="757739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Geographically zone-redundant storage (GZRS) combines the high availability of ZRS with the protection from regional outages that GRS provides. A GZRS storage account replicates data across three Azure AZs in the primary region, and to a secondary geographic region for protection from regional disasters.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Optionally, you can enable read access to data in the secondary region with read-access geographically zone-redundant storage (RA-GZRS) if your applications must read data in the event of a disaster in the primary region.</a:t>
            </a:r>
            <a:endParaRPr lang="en-US" b="0"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5</a:t>
            </a:fld>
            <a:endParaRPr lang="en-IN"/>
          </a:p>
        </p:txBody>
      </p:sp>
    </p:spTree>
    <p:extLst>
      <p:ext uri="{BB962C8B-B14F-4D97-AF65-F5344CB8AC3E}">
        <p14:creationId xmlns:p14="http://schemas.microsoft.com/office/powerpoint/2010/main" val="622342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Secure access to your storage account - https://docs.microsoft.com/learn/modules/secure-azure-storage-account/</a:t>
            </a:r>
          </a:p>
          <a:p>
            <a:endParaRPr lang="en-US" dirty="0"/>
          </a:p>
          <a:p>
            <a:r>
              <a:rPr lang="en-US" dirty="0"/>
              <a:t>✔️A Blob storage account only exposes the Blob service endpoint. And, you can also configure a custom domain name to use with your storage account.</a:t>
            </a:r>
          </a:p>
          <a:p>
            <a:r>
              <a:rPr lang="en-US" dirty="0"/>
              <a:t> </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6</a:t>
            </a:fld>
            <a:endParaRPr lang="en-IN"/>
          </a:p>
        </p:txBody>
      </p:sp>
    </p:spTree>
    <p:extLst>
      <p:ext uri="{BB962C8B-B14F-4D97-AF65-F5344CB8AC3E}">
        <p14:creationId xmlns:p14="http://schemas.microsoft.com/office/powerpoint/2010/main" val="2354263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Configure Azure Storage firewalls and virtual networks - https://docs.microsoft.com/azure/storage/common/storage-network-security</a:t>
            </a:r>
          </a:p>
          <a:p>
            <a:endParaRPr lang="en-US" dirty="0"/>
          </a:p>
          <a:p>
            <a:r>
              <a:rPr lang="en-US" dirty="0"/>
              <a:t>✔️It is important to test and ensure the service endpoint is limiting access as expected. </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7</a:t>
            </a:fld>
            <a:endParaRPr lang="en-IN"/>
          </a:p>
        </p:txBody>
      </p:sp>
    </p:spTree>
    <p:extLst>
      <p:ext uri="{BB962C8B-B14F-4D97-AF65-F5344CB8AC3E}">
        <p14:creationId xmlns:p14="http://schemas.microsoft.com/office/powerpoint/2010/main" val="756391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Demonstration storage accounts - https://microsoftlearning.github.io/AZ-104-MicrosoftAzureAdministrator/Instructions/Demos/07%20-%20Administer%20Azure%20Storage.html#configure-storage-accounts</a:t>
            </a: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8</a:t>
            </a:fld>
            <a:endParaRPr lang="en-IN"/>
          </a:p>
        </p:txBody>
      </p:sp>
    </p:spTree>
    <p:extLst>
      <p:ext uri="{BB962C8B-B14F-4D97-AF65-F5344CB8AC3E}">
        <p14:creationId xmlns:p14="http://schemas.microsoft.com/office/powerpoint/2010/main" val="2838282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Manage blob containers using the Azure portal - https://learn.microsoft.com/azure/storage/blobs/blob-containers-portal</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Configure anonymous public read access for containers and blobs - https://learn.microsoft.com/azure/storage/blobs/anonymous-read-access-configure?tabs=portal</a:t>
            </a: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11</a:t>
            </a:fld>
            <a:endParaRPr lang="en-IN"/>
          </a:p>
        </p:txBody>
      </p:sp>
    </p:spTree>
    <p:extLst>
      <p:ext uri="{BB962C8B-B14F-4D97-AF65-F5344CB8AC3E}">
        <p14:creationId xmlns:p14="http://schemas.microsoft.com/office/powerpoint/2010/main" val="31133207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b="0" i="0" dirty="0">
                <a:solidFill>
                  <a:srgbClr val="161616"/>
                </a:solidFill>
                <a:effectLst/>
                <a:latin typeface="Segoe UI" panose="020B0502040204020203" pitchFamily="34" charset="0"/>
              </a:rPr>
              <a:t>Access tiers for blob data - </a:t>
            </a:r>
            <a:r>
              <a:rPr lang="en-US" dirty="0"/>
              <a:t>- https://docs.microsoft.com/azure/storage/blobs/storage-blob-storage-tiers</a:t>
            </a:r>
          </a:p>
          <a:p>
            <a:endParaRPr lang="en-US" dirty="0"/>
          </a:p>
          <a:p>
            <a:r>
              <a:rPr lang="en-US" dirty="0"/>
              <a:t>Optimize storage performance and costs using Blob storage tiers - https://docs.microsoft.com/learn/modules/optimize-archive-costs-blob-storage/</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12</a:t>
            </a:fld>
            <a:endParaRPr lang="en-IN"/>
          </a:p>
        </p:txBody>
      </p:sp>
    </p:spTree>
    <p:extLst>
      <p:ext uri="{BB962C8B-B14F-4D97-AF65-F5344CB8AC3E}">
        <p14:creationId xmlns:p14="http://schemas.microsoft.com/office/powerpoint/2010/main" val="2651511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Store application data with Azure Blob storage - https://docs.microsoft.com/learn/modules/store-app-data-with-azure-blob-storage/</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13</a:t>
            </a:fld>
            <a:endParaRPr lang="en-IN"/>
          </a:p>
        </p:txBody>
      </p:sp>
    </p:spTree>
    <p:extLst>
      <p:ext uri="{BB962C8B-B14F-4D97-AF65-F5344CB8AC3E}">
        <p14:creationId xmlns:p14="http://schemas.microsoft.com/office/powerpoint/2010/main" val="484940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Object replication for blobs - https://docs.microsoft.com/azure/storage/blobs/object-replication-overview</a:t>
            </a: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14</a:t>
            </a:fld>
            <a:endParaRPr lang="en-IN"/>
          </a:p>
        </p:txBody>
      </p:sp>
    </p:spTree>
    <p:extLst>
      <p:ext uri="{BB962C8B-B14F-4D97-AF65-F5344CB8AC3E}">
        <p14:creationId xmlns:p14="http://schemas.microsoft.com/office/powerpoint/2010/main" val="35123479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Delegate access with a shared access signature - https://docs.microsoft.com/rest/api/storageservices/delegate-access-with-shared-access-signature</a:t>
            </a:r>
          </a:p>
          <a:p>
            <a:endParaRPr lang="en-US" dirty="0"/>
          </a:p>
          <a:p>
            <a:r>
              <a:rPr lang="en-US" dirty="0"/>
              <a:t>Grant limited access to Azure Storage resources using shared access signatures (SAS) - https://docs.microsoft.com/azure/storage/common/storage-sas-overview</a:t>
            </a:r>
          </a:p>
          <a:p>
            <a:endParaRPr lang="en-US" dirty="0"/>
          </a:p>
          <a:p>
            <a:r>
              <a:rPr lang="en-US" dirty="0"/>
              <a:t>Control access to Azure Storage with shared access signatures - https://docs.microsoft.com/learn/modules/control-access-to-azure-storage-with-sas/</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18</a:t>
            </a:fld>
            <a:endParaRPr lang="en-IN"/>
          </a:p>
        </p:txBody>
      </p:sp>
    </p:spTree>
    <p:extLst>
      <p:ext uri="{BB962C8B-B14F-4D97-AF65-F5344CB8AC3E}">
        <p14:creationId xmlns:p14="http://schemas.microsoft.com/office/powerpoint/2010/main" val="2701327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1200" b="0" i="0" u="none" strike="noStrike" kern="1200" dirty="0">
                <a:solidFill>
                  <a:schemeClr val="tx1"/>
                </a:solidFill>
                <a:effectLst/>
                <a:latin typeface="+mn-lt"/>
                <a:ea typeface="+mn-ea"/>
                <a:cs typeface="+mn-cs"/>
              </a:rPr>
              <a:t>Azure Storage encryption for data at rest - https://docs.microsoft.com/azure/storage/common/storage-service-encryption</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 SSE is enabled for all new and existing storage accounts and cannot be disabled. Because your data is secured by default, you don't need to modify your code or applications.</a:t>
            </a:r>
            <a:endParaRPr lang="en-US" i="0"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21</a:t>
            </a:fld>
            <a:endParaRPr lang="en-IN"/>
          </a:p>
        </p:txBody>
      </p:sp>
    </p:spTree>
    <p:extLst>
      <p:ext uri="{BB962C8B-B14F-4D97-AF65-F5344CB8AC3E}">
        <p14:creationId xmlns:p14="http://schemas.microsoft.com/office/powerpoint/2010/main" val="2527208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 To use customer-managed keys with SSE, you can either create a new key vault and key or you can use an existing key vault and key. The storage account and the key vault must be in the same region, but they can be in different subscriptions.</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 The key vault can also be used to store BitLocker keys.</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22</a:t>
            </a:fld>
            <a:endParaRPr lang="en-IN"/>
          </a:p>
        </p:txBody>
      </p:sp>
    </p:spTree>
    <p:extLst>
      <p:ext uri="{BB962C8B-B14F-4D97-AF65-F5344CB8AC3E}">
        <p14:creationId xmlns:p14="http://schemas.microsoft.com/office/powerpoint/2010/main" val="31116702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Azure Files? - https://docs.microsoft.com/azure/storage/files/storage-files-introduction	</a:t>
            </a:r>
          </a:p>
          <a:p>
            <a:endParaRPr lang="en-US" dirty="0"/>
          </a:p>
          <a:p>
            <a:r>
              <a:rPr lang="en-US" dirty="0"/>
              <a:t>✔️ When selecting which storage feature to use, you should also consider pricing. </a:t>
            </a:r>
          </a:p>
          <a:p>
            <a:r>
              <a:rPr lang="en-US" dirty="0"/>
              <a:t> </a:t>
            </a:r>
          </a:p>
          <a:p>
            <a:r>
              <a:rPr lang="en-US" dirty="0"/>
              <a:t> </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25</a:t>
            </a:fld>
            <a:endParaRPr lang="en-IN"/>
          </a:p>
        </p:txBody>
      </p:sp>
    </p:spTree>
    <p:extLst>
      <p:ext uri="{BB962C8B-B14F-4D97-AF65-F5344CB8AC3E}">
        <p14:creationId xmlns:p14="http://schemas.microsoft.com/office/powerpoint/2010/main" val="29071832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Azure Files with Linux - https://docs.microsoft.com/azure/storage/files/storage-how-to-use-files-linux </a:t>
            </a:r>
          </a:p>
          <a:p>
            <a:endParaRPr lang="en-US" dirty="0"/>
          </a:p>
          <a:p>
            <a:r>
              <a:rPr lang="en-US" dirty="0"/>
              <a:t>Create a persistent mount point for the Azure file share with /</a:t>
            </a:r>
            <a:r>
              <a:rPr lang="en-US" dirty="0" err="1"/>
              <a:t>etc</a:t>
            </a:r>
            <a:r>
              <a:rPr lang="en-US" dirty="0"/>
              <a:t>/</a:t>
            </a:r>
            <a:r>
              <a:rPr lang="en-US" dirty="0" err="1"/>
              <a:t>fstab</a:t>
            </a:r>
            <a:r>
              <a:rPr lang="en-US" dirty="0"/>
              <a:t> - https://docs.microsoft.com/azure/storage/files/storage-how-to-use-files-linux#create-a-persistent-mount-point-for-the-azure-file-share-with-etcfstab </a:t>
            </a:r>
          </a:p>
          <a:p>
            <a:endParaRPr lang="en-US" sz="2000" kern="1200" dirty="0">
              <a:solidFill>
                <a:schemeClr val="tx1"/>
              </a:solidFill>
              <a:effectLst/>
              <a:latin typeface="Segoe UI Light" pitchFamily="34" charset="0"/>
              <a:ea typeface="+mn-ea"/>
              <a:cs typeface="+mn-cs"/>
            </a:endParaRPr>
          </a:p>
          <a:p>
            <a:r>
              <a:rPr lang="en-US" sz="2000" kern="1200" dirty="0">
                <a:solidFill>
                  <a:schemeClr val="tx1"/>
                </a:solidFill>
                <a:effectLst/>
                <a:latin typeface="Segoe UI Light" pitchFamily="34" charset="0"/>
                <a:ea typeface="+mn-ea"/>
                <a:cs typeface="+mn-cs"/>
              </a:rPr>
              <a:t>Require secure transfer in Azure Storage - https://docs.microsoft.com/azure/storage/common/storage-require-secure-transfer </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26</a:t>
            </a:fld>
            <a:endParaRPr lang="en-IN"/>
          </a:p>
        </p:txBody>
      </p:sp>
    </p:spTree>
    <p:extLst>
      <p:ext uri="{BB962C8B-B14F-4D97-AF65-F5344CB8AC3E}">
        <p14:creationId xmlns:p14="http://schemas.microsoft.com/office/powerpoint/2010/main" val="31032383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Overview of share snapshots for Azure Files - https://docs.microsoft.com/azure/storage/files/storage-snapshots-files</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27</a:t>
            </a:fld>
            <a:endParaRPr lang="en-IN"/>
          </a:p>
        </p:txBody>
      </p:sp>
    </p:spTree>
    <p:extLst>
      <p:ext uri="{BB962C8B-B14F-4D97-AF65-F5344CB8AC3E}">
        <p14:creationId xmlns:p14="http://schemas.microsoft.com/office/powerpoint/2010/main" val="19437260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started with Storage Explorer - https://docs.microsoft.com/azure/vs-azure-tools-storage-manage-with-storage-explorer</a:t>
            </a:r>
          </a:p>
          <a:p>
            <a:endParaRPr lang="en-US" dirty="0"/>
          </a:p>
          <a:p>
            <a:r>
              <a:rPr lang="en-US" dirty="0"/>
              <a:t>Upload, download, and manage data with Azure Storage Explorer - https://docs.microsoft.com/learn/modules/upload-download-and-manage-data-with-azure-storage-explorer/</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29</a:t>
            </a:fld>
            <a:endParaRPr lang="en-IN"/>
          </a:p>
        </p:txBody>
      </p:sp>
    </p:spTree>
    <p:extLst>
      <p:ext uri="{BB962C8B-B14F-4D97-AF65-F5344CB8AC3E}">
        <p14:creationId xmlns:p14="http://schemas.microsoft.com/office/powerpoint/2010/main" val="2326249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Demonstration File Shares - https://microsoftlearning.github.io/AZ-104-MicrosoftAzureAdministrator/Instructions/Demos/07%20-%20Administer%20Azure%20Storage.html#configure-azure-files</a:t>
            </a: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30</a:t>
            </a:fld>
            <a:endParaRPr lang="en-IN"/>
          </a:p>
        </p:txBody>
      </p:sp>
    </p:spTree>
    <p:extLst>
      <p:ext uri="{BB962C8B-B14F-4D97-AF65-F5344CB8AC3E}">
        <p14:creationId xmlns:p14="http://schemas.microsoft.com/office/powerpoint/2010/main" val="32935169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Mention the new Secure storage for Azure Files and Azure Blob Storage credential, </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https://learn.microsoft.com/credentials/applied-skills/secure-storage-azure-files-azure-blob-storage.</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Lab 07 - https://microsoftlearning.github.io/AZ-104-MicrosoftAzureAdministrator/Instructions/Labs/LAB_07-Manage_Azure_Storage.html</a:t>
            </a:r>
          </a:p>
          <a:p>
            <a:endParaRPr lang="en-US" dirty="0"/>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32</a:t>
            </a:fld>
            <a:endParaRPr lang="en-IN"/>
          </a:p>
        </p:txBody>
      </p:sp>
    </p:spTree>
    <p:extLst>
      <p:ext uri="{BB962C8B-B14F-4D97-AF65-F5344CB8AC3E}">
        <p14:creationId xmlns:p14="http://schemas.microsoft.com/office/powerpoint/2010/main" val="242366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architecture diagram for the interactive lab simulation (previous lab), if you want to review that. </a:t>
            </a:r>
          </a:p>
          <a:p>
            <a:endParaRPr lang="en-US" dirty="0"/>
          </a:p>
        </p:txBody>
      </p:sp>
      <p:sp>
        <p:nvSpPr>
          <p:cNvPr id="4" name="Slide Number Placeholder 3"/>
          <p:cNvSpPr>
            <a:spLocks noGrp="1"/>
          </p:cNvSpPr>
          <p:nvPr>
            <p:ph type="sldNum" sz="quarter" idx="5"/>
          </p:nvPr>
        </p:nvSpPr>
        <p:spPr/>
        <p:txBody>
          <a:bodyPr/>
          <a:lstStyle/>
          <a:p>
            <a:fld id="{59769316-F612-48C3-B1C7-701A2C12BC02}" type="slidenum">
              <a:rPr lang="en-IN" smtClean="0"/>
              <a:t>34</a:t>
            </a:fld>
            <a:endParaRPr lang="en-IN"/>
          </a:p>
        </p:txBody>
      </p:sp>
    </p:spTree>
    <p:extLst>
      <p:ext uri="{BB962C8B-B14F-4D97-AF65-F5344CB8AC3E}">
        <p14:creationId xmlns:p14="http://schemas.microsoft.com/office/powerpoint/2010/main" val="8674587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AD30F-11CB-4A38-D5FC-43AB22400C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3EC942-BB8A-34AC-C497-D4FD2BED09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C1584A-C19D-2D97-0AF6-751B4D270ED7}"/>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5" name="Footer Placeholder 4">
            <a:extLst>
              <a:ext uri="{FF2B5EF4-FFF2-40B4-BE49-F238E27FC236}">
                <a16:creationId xmlns:a16="http://schemas.microsoft.com/office/drawing/2014/main" id="{45337BBA-1403-8ADF-3C89-1C56F6A7F4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84B5EE-694E-0DD6-FBBC-DAEE073BFFF3}"/>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3780336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5A2D-7795-829E-0317-35A6629C77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39A543-0209-7742-9E7A-1C9448B445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487CC4-06DF-0598-CF9B-17940CC13B33}"/>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5" name="Footer Placeholder 4">
            <a:extLst>
              <a:ext uri="{FF2B5EF4-FFF2-40B4-BE49-F238E27FC236}">
                <a16:creationId xmlns:a16="http://schemas.microsoft.com/office/drawing/2014/main" id="{E2A7B6F1-E547-28F3-214B-E14FA297E3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2887C7-35CB-E756-85E9-6ED61FF74BC3}"/>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416568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913AF-764B-9BED-839B-1F2548D99E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5A1ABD-DC52-E5BB-2552-51A8C55B30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E81113-125C-2AC5-EA8C-E51F723684D2}"/>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5" name="Footer Placeholder 4">
            <a:extLst>
              <a:ext uri="{FF2B5EF4-FFF2-40B4-BE49-F238E27FC236}">
                <a16:creationId xmlns:a16="http://schemas.microsoft.com/office/drawing/2014/main" id="{FF90F60A-D639-FC0E-6607-3F9FDD3D25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A821C5-E274-8177-0A84-61FBD13E10E8}"/>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3790946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C8B2C-B56C-65F9-D55A-03C415602C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EEC924-40A7-CCC5-5467-954F49538F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F846483-F4A5-9F85-2F36-57685DC1C6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1E92291-7FB4-9BC0-C08C-602E7E48CF7A}"/>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6" name="Footer Placeholder 5">
            <a:extLst>
              <a:ext uri="{FF2B5EF4-FFF2-40B4-BE49-F238E27FC236}">
                <a16:creationId xmlns:a16="http://schemas.microsoft.com/office/drawing/2014/main" id="{4B0FF5A3-AFC2-83AF-3AC5-A2DFC37C7D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11BCC1-B192-509A-B182-FDA38BEC59F6}"/>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438060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A9D4F-6499-4E62-6BC4-A864B371F3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05EE0A-2D64-6EA3-C393-6A793B3367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E6FDC3-5665-D55A-BF31-4799773D52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DD0E72C-7203-963D-54C2-7C5F8F9DDD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FB9FA4-2C32-85B9-E44F-E043C5711F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DA284C-82E5-0258-95ED-C939210BF6D6}"/>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8" name="Footer Placeholder 7">
            <a:extLst>
              <a:ext uri="{FF2B5EF4-FFF2-40B4-BE49-F238E27FC236}">
                <a16:creationId xmlns:a16="http://schemas.microsoft.com/office/drawing/2014/main" id="{5F287524-7C83-6978-13D2-682429417F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AB0B3A0-9328-56ED-6165-5FE6725B0D94}"/>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623398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2C313-A857-D2B6-4972-603A320971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EE6E7C-9E05-38A0-50E5-475C61D15BE9}"/>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4" name="Footer Placeholder 3">
            <a:extLst>
              <a:ext uri="{FF2B5EF4-FFF2-40B4-BE49-F238E27FC236}">
                <a16:creationId xmlns:a16="http://schemas.microsoft.com/office/drawing/2014/main" id="{BD55942B-9E3E-FE6B-DB1B-2B40E1C4EBB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2D1D417-DE49-E1CE-4813-90A275904C71}"/>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3769477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75A62D-5E35-4978-A21D-015D67A6AB3D}"/>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3" name="Footer Placeholder 2">
            <a:extLst>
              <a:ext uri="{FF2B5EF4-FFF2-40B4-BE49-F238E27FC236}">
                <a16:creationId xmlns:a16="http://schemas.microsoft.com/office/drawing/2014/main" id="{60BC7063-316D-7692-711E-1145293C609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BA6D14C-0A1E-DA44-3394-36812D4E4981}"/>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2428228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54731-C279-E9B4-1350-D01064C5EC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044481-22CF-C3C5-7B97-22D9E52FB0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3C30EE-D49D-6439-35A7-D564C5416F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17929C-043F-5FF4-6D6D-171B825F589D}"/>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6" name="Footer Placeholder 5">
            <a:extLst>
              <a:ext uri="{FF2B5EF4-FFF2-40B4-BE49-F238E27FC236}">
                <a16:creationId xmlns:a16="http://schemas.microsoft.com/office/drawing/2014/main" id="{3D3329F1-C192-1700-B843-D4B943C388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88F1DF-4A4F-C67D-BE2E-1FE4CA53EB14}"/>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1319379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C8093-BF6B-B264-E311-398794DE80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CAD7C6-1734-B469-30B7-4A42BB7179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41E643E-D7E3-7AB3-F45D-CE539AA738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2495D1-052E-D029-A14D-9768E55A447B}"/>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6" name="Footer Placeholder 5">
            <a:extLst>
              <a:ext uri="{FF2B5EF4-FFF2-40B4-BE49-F238E27FC236}">
                <a16:creationId xmlns:a16="http://schemas.microsoft.com/office/drawing/2014/main" id="{72B11458-BD09-D7A2-90F1-22EA0A4D46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FAD0DC-C873-E862-BD92-71ED2A4CA8B1}"/>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2576875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83DAD-FBC8-F5A7-4DFF-0EB88A10A2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C3120F-9120-CC06-97E9-33733579E4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B63293-6891-933A-C374-086A5CDA0532}"/>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5" name="Footer Placeholder 4">
            <a:extLst>
              <a:ext uri="{FF2B5EF4-FFF2-40B4-BE49-F238E27FC236}">
                <a16:creationId xmlns:a16="http://schemas.microsoft.com/office/drawing/2014/main" id="{BE87EA86-1716-99FC-624F-7814224536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DBAD29-F34E-E7C3-A14F-532F8C89643F}"/>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1337392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BE1245-A4CF-CE70-BB65-F95B54A0BD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A2C1FE-EE55-4B51-5B5A-E44581E04A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3906AF-DE1E-E1BF-5B20-319686EA48CF}"/>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5" name="Footer Placeholder 4">
            <a:extLst>
              <a:ext uri="{FF2B5EF4-FFF2-40B4-BE49-F238E27FC236}">
                <a16:creationId xmlns:a16="http://schemas.microsoft.com/office/drawing/2014/main" id="{671684D1-B61C-0604-F16A-3DAE3869A5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1DF065-EA66-D400-5822-2008989BC685}"/>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435786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2B1CA2-ECC1-4762-AAEA-FADDBF94C1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18F6B0-B57E-519B-311D-89ED42890B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45897C-4441-701B-8C16-69E4C437F2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34CA72-CAC1-4B24-B91B-249F70378C1E}" type="datetimeFigureOut">
              <a:rPr lang="en-IN" smtClean="0"/>
              <a:t>14-11-2024</a:t>
            </a:fld>
            <a:endParaRPr lang="en-IN"/>
          </a:p>
        </p:txBody>
      </p:sp>
      <p:sp>
        <p:nvSpPr>
          <p:cNvPr id="5" name="Footer Placeholder 4">
            <a:extLst>
              <a:ext uri="{FF2B5EF4-FFF2-40B4-BE49-F238E27FC236}">
                <a16:creationId xmlns:a16="http://schemas.microsoft.com/office/drawing/2014/main" id="{BA1E07FF-709C-AC63-F960-09B72AA04D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64918F4-90CC-DE76-BC3D-75D676446A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046CFF-0251-42EF-8D79-279D9C60CF15}" type="slidenum">
              <a:rPr lang="en-IN" smtClean="0"/>
              <a:t>‹#›</a:t>
            </a:fld>
            <a:endParaRPr lang="en-IN"/>
          </a:p>
        </p:txBody>
      </p:sp>
    </p:spTree>
    <p:extLst>
      <p:ext uri="{BB962C8B-B14F-4D97-AF65-F5344CB8AC3E}">
        <p14:creationId xmlns:p14="http://schemas.microsoft.com/office/powerpoint/2010/main" val="1922165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docs.microsoft.com/azure/storage/common/storage-redundancy"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emf"/><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emf"/><Relationship Id="rId4" Type="http://schemas.openxmlformats.org/officeDocument/2006/relationships/image" Target="../media/image4.emf"/><Relationship Id="rId9"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emf"/><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7.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image" Target="../media/image3.emf"/><Relationship Id="rId7" Type="http://schemas.openxmlformats.org/officeDocument/2006/relationships/image" Target="../media/image17.emf"/><Relationship Id="rId12" Type="http://schemas.openxmlformats.org/officeDocument/2006/relationships/image" Target="../media/image22.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emf"/><Relationship Id="rId11" Type="http://schemas.openxmlformats.org/officeDocument/2006/relationships/image" Target="../media/image21.emf"/><Relationship Id="rId5" Type="http://schemas.openxmlformats.org/officeDocument/2006/relationships/image" Target="../media/image5.emf"/><Relationship Id="rId10" Type="http://schemas.openxmlformats.org/officeDocument/2006/relationships/image" Target="../media/image20.emf"/><Relationship Id="rId4" Type="http://schemas.openxmlformats.org/officeDocument/2006/relationships/image" Target="../media/image4.emf"/><Relationship Id="rId9" Type="http://schemas.openxmlformats.org/officeDocument/2006/relationships/image" Target="../media/image19.emf"/></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5.emf"/><Relationship Id="rId4" Type="http://schemas.openxmlformats.org/officeDocument/2006/relationships/image" Target="../media/image4.emf"/></Relationships>
</file>

<file path=ppt/slides/_rels/slide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3.xml.rels><?xml version="1.0" encoding="UTF-8" standalone="yes"?>
<Relationships xmlns="http://schemas.openxmlformats.org/package/2006/relationships"><Relationship Id="rId8" Type="http://schemas.openxmlformats.org/officeDocument/2006/relationships/image" Target="../media/image29.emf"/><Relationship Id="rId13" Type="http://schemas.openxmlformats.org/officeDocument/2006/relationships/image" Target="../media/image34.emf"/><Relationship Id="rId3" Type="http://schemas.openxmlformats.org/officeDocument/2006/relationships/image" Target="../media/image3.emf"/><Relationship Id="rId7" Type="http://schemas.openxmlformats.org/officeDocument/2006/relationships/image" Target="../media/image28.emf"/><Relationship Id="rId12" Type="http://schemas.openxmlformats.org/officeDocument/2006/relationships/image" Target="../media/image3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7.emf"/><Relationship Id="rId11" Type="http://schemas.openxmlformats.org/officeDocument/2006/relationships/image" Target="../media/image32.emf"/><Relationship Id="rId5" Type="http://schemas.openxmlformats.org/officeDocument/2006/relationships/image" Target="../media/image5.emf"/><Relationship Id="rId10" Type="http://schemas.openxmlformats.org/officeDocument/2006/relationships/image" Target="../media/image31.emf"/><Relationship Id="rId4" Type="http://schemas.openxmlformats.org/officeDocument/2006/relationships/image" Target="../media/image4.emf"/><Relationship Id="rId9" Type="http://schemas.openxmlformats.org/officeDocument/2006/relationships/image" Target="../media/image30.emf"/><Relationship Id="rId14" Type="http://schemas.openxmlformats.org/officeDocument/2006/relationships/image" Target="../media/image35.emf"/></Relationships>
</file>

<file path=ppt/slides/_rels/slide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5.emf"/><Relationship Id="rId4" Type="http://schemas.openxmlformats.org/officeDocument/2006/relationships/image" Target="../media/image4.emf"/></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3.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3" Type="http://schemas.openxmlformats.org/officeDocument/2006/relationships/image" Target="../media/image3.emf"/><Relationship Id="rId7" Type="http://schemas.openxmlformats.org/officeDocument/2006/relationships/image" Target="../media/image41.svg"/><Relationship Id="rId12"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5.emf"/><Relationship Id="rId10" Type="http://schemas.openxmlformats.org/officeDocument/2006/relationships/image" Target="../media/image44.png"/><Relationship Id="rId4" Type="http://schemas.openxmlformats.org/officeDocument/2006/relationships/image" Target="../media/image4.emf"/><Relationship Id="rId9" Type="http://schemas.openxmlformats.org/officeDocument/2006/relationships/image" Target="../media/image43.svg"/></Relationships>
</file>

<file path=ppt/slides/_rels/slide34.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40.png"/><Relationship Id="rId18" Type="http://schemas.openxmlformats.org/officeDocument/2006/relationships/image" Target="../media/image52.jpeg"/><Relationship Id="rId3" Type="http://schemas.openxmlformats.org/officeDocument/2006/relationships/image" Target="../media/image1.png"/><Relationship Id="rId21"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47.svg"/><Relationship Id="rId17" Type="http://schemas.openxmlformats.org/officeDocument/2006/relationships/image" Target="../media/image44.png"/><Relationship Id="rId2" Type="http://schemas.openxmlformats.org/officeDocument/2006/relationships/notesSlide" Target="../notesSlides/notesSlide22.xml"/><Relationship Id="rId16" Type="http://schemas.openxmlformats.org/officeDocument/2006/relationships/image" Target="../media/image43.svg"/><Relationship Id="rId20" Type="http://schemas.openxmlformats.org/officeDocument/2006/relationships/image" Target="../media/image54.svg"/><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46.png"/><Relationship Id="rId5" Type="http://schemas.openxmlformats.org/officeDocument/2006/relationships/image" Target="../media/image4.emf"/><Relationship Id="rId15" Type="http://schemas.openxmlformats.org/officeDocument/2006/relationships/image" Target="../media/image42.png"/><Relationship Id="rId10" Type="http://schemas.openxmlformats.org/officeDocument/2006/relationships/image" Target="../media/image51.svg"/><Relationship Id="rId19" Type="http://schemas.openxmlformats.org/officeDocument/2006/relationships/image" Target="../media/image53.png"/><Relationship Id="rId4" Type="http://schemas.openxmlformats.org/officeDocument/2006/relationships/image" Target="../media/image3.emf"/><Relationship Id="rId9" Type="http://schemas.openxmlformats.org/officeDocument/2006/relationships/image" Target="../media/image50.png"/><Relationship Id="rId14" Type="http://schemas.openxmlformats.org/officeDocument/2006/relationships/image" Target="../media/image41.sv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rPr>
              <a:t>Configure Storage Accounts</a:t>
            </a: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1</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7" name="Title 1">
            <a:extLst>
              <a:ext uri="{FF2B5EF4-FFF2-40B4-BE49-F238E27FC236}">
                <a16:creationId xmlns:a16="http://schemas.microsoft.com/office/drawing/2014/main" id="{7330749B-F464-9E5B-A805-CF95989B1CA6}"/>
              </a:ext>
            </a:extLst>
          </p:cNvPr>
          <p:cNvSpPr txBox="1">
            <a:spLocks/>
          </p:cNvSpPr>
          <p:nvPr/>
        </p:nvSpPr>
        <p:spPr>
          <a:xfrm>
            <a:off x="8803" y="1097199"/>
            <a:ext cx="11568684" cy="6556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Explore Azure Storage Services </a:t>
            </a:r>
          </a:p>
        </p:txBody>
      </p:sp>
      <p:sp>
        <p:nvSpPr>
          <p:cNvPr id="18" name="Text Placeholder 7">
            <a:extLst>
              <a:ext uri="{FF2B5EF4-FFF2-40B4-BE49-F238E27FC236}">
                <a16:creationId xmlns:a16="http://schemas.microsoft.com/office/drawing/2014/main" id="{1D586C0F-5D04-CAB2-A3AF-636BE80B2865}"/>
              </a:ext>
            </a:extLst>
          </p:cNvPr>
          <p:cNvSpPr txBox="1">
            <a:spLocks/>
          </p:cNvSpPr>
          <p:nvPr/>
        </p:nvSpPr>
        <p:spPr>
          <a:xfrm>
            <a:off x="22518" y="1645976"/>
            <a:ext cx="11568684" cy="78303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dirty="0"/>
              <a:t>A service that you can use to store files, messages, tables, and other types of information</a:t>
            </a:r>
          </a:p>
          <a:p>
            <a:pPr algn="ctr"/>
            <a:endParaRPr lang="en-US" dirty="0"/>
          </a:p>
        </p:txBody>
      </p:sp>
      <p:sp>
        <p:nvSpPr>
          <p:cNvPr id="19" name="Rectangle 18">
            <a:extLst>
              <a:ext uri="{FF2B5EF4-FFF2-40B4-BE49-F238E27FC236}">
                <a16:creationId xmlns:a16="http://schemas.microsoft.com/office/drawing/2014/main" id="{CAD4A6DF-824B-16BA-5B24-AE8B4764D8B5}"/>
              </a:ext>
            </a:extLst>
          </p:cNvPr>
          <p:cNvSpPr/>
          <p:nvPr/>
        </p:nvSpPr>
        <p:spPr>
          <a:xfrm>
            <a:off x="379243" y="2341254"/>
            <a:ext cx="4924850" cy="1270988"/>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dirty="0">
                <a:solidFill>
                  <a:schemeClr val="tx1"/>
                </a:solidFill>
                <a:latin typeface="+mj-lt"/>
                <a:cs typeface="Segoe UI Semilight"/>
              </a:rPr>
              <a:t>Azure Containers: </a:t>
            </a:r>
            <a:r>
              <a:rPr lang="en-US" sz="2157" dirty="0">
                <a:solidFill>
                  <a:schemeClr val="tx1"/>
                </a:solidFill>
              </a:rPr>
              <a:t>A massively scalable object store for</a:t>
            </a:r>
            <a:br>
              <a:rPr lang="en-US" sz="2157" dirty="0">
                <a:solidFill>
                  <a:schemeClr val="tx1"/>
                </a:solidFill>
              </a:rPr>
            </a:br>
            <a:r>
              <a:rPr lang="en-US" sz="2157" dirty="0">
                <a:solidFill>
                  <a:schemeClr val="tx1"/>
                </a:solidFill>
              </a:rPr>
              <a:t>text and binary data</a:t>
            </a:r>
          </a:p>
        </p:txBody>
      </p:sp>
      <p:sp>
        <p:nvSpPr>
          <p:cNvPr id="20" name="Rectangle 19">
            <a:extLst>
              <a:ext uri="{FF2B5EF4-FFF2-40B4-BE49-F238E27FC236}">
                <a16:creationId xmlns:a16="http://schemas.microsoft.com/office/drawing/2014/main" id="{FF31E4F3-E42C-286D-7CCA-53C6B3736A9A}"/>
              </a:ext>
            </a:extLst>
          </p:cNvPr>
          <p:cNvSpPr/>
          <p:nvPr/>
        </p:nvSpPr>
        <p:spPr>
          <a:xfrm>
            <a:off x="379243" y="3743705"/>
            <a:ext cx="4924849" cy="941721"/>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dirty="0">
                <a:solidFill>
                  <a:schemeClr val="tx1"/>
                </a:solidFill>
                <a:latin typeface="+mj-lt"/>
                <a:cs typeface="Segoe UI Semilight"/>
              </a:rPr>
              <a:t>Azure Tables: </a:t>
            </a:r>
            <a:r>
              <a:rPr lang="en-US" sz="2157" dirty="0">
                <a:solidFill>
                  <a:schemeClr val="tx1"/>
                </a:solidFill>
                <a:cs typeface="Segoe UI Semilight"/>
              </a:rPr>
              <a:t>Ideal for storing structured, non-relational data</a:t>
            </a:r>
          </a:p>
        </p:txBody>
      </p:sp>
      <p:sp>
        <p:nvSpPr>
          <p:cNvPr id="21" name="Rectangle 20">
            <a:extLst>
              <a:ext uri="{FF2B5EF4-FFF2-40B4-BE49-F238E27FC236}">
                <a16:creationId xmlns:a16="http://schemas.microsoft.com/office/drawing/2014/main" id="{ACBF9D5A-1CBB-7B5E-0A6D-D41A60DC6AFE}"/>
              </a:ext>
            </a:extLst>
          </p:cNvPr>
          <p:cNvSpPr/>
          <p:nvPr/>
        </p:nvSpPr>
        <p:spPr>
          <a:xfrm>
            <a:off x="390138" y="4816890"/>
            <a:ext cx="4924848" cy="941721"/>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dirty="0">
                <a:solidFill>
                  <a:schemeClr val="tx1"/>
                </a:solidFill>
                <a:latin typeface="+mj-lt"/>
                <a:cs typeface="Segoe UI Semilight"/>
              </a:rPr>
              <a:t>Azure Queues:</a:t>
            </a:r>
            <a:r>
              <a:rPr lang="en-US" sz="2157" dirty="0">
                <a:solidFill>
                  <a:schemeClr val="tx1"/>
                </a:solidFill>
              </a:rPr>
              <a:t> A messaging store for reliable messaging between application components</a:t>
            </a:r>
          </a:p>
        </p:txBody>
      </p:sp>
      <p:sp>
        <p:nvSpPr>
          <p:cNvPr id="22" name="Rectangle 21">
            <a:extLst>
              <a:ext uri="{FF2B5EF4-FFF2-40B4-BE49-F238E27FC236}">
                <a16:creationId xmlns:a16="http://schemas.microsoft.com/office/drawing/2014/main" id="{F891C7F7-7E6B-14DA-29D9-96172B301A0C}"/>
              </a:ext>
            </a:extLst>
          </p:cNvPr>
          <p:cNvSpPr/>
          <p:nvPr/>
        </p:nvSpPr>
        <p:spPr>
          <a:xfrm>
            <a:off x="390136" y="5892462"/>
            <a:ext cx="4924849" cy="103228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dirty="0">
                <a:solidFill>
                  <a:schemeClr val="tx1"/>
                </a:solidFill>
                <a:latin typeface="+mj-lt"/>
                <a:cs typeface="Segoe UI Semilight"/>
              </a:rPr>
              <a:t>Azure Files: </a:t>
            </a:r>
            <a:r>
              <a:rPr lang="en-US" sz="2157" dirty="0">
                <a:solidFill>
                  <a:schemeClr val="tx1"/>
                </a:solidFill>
              </a:rPr>
              <a:t>Managed file shares for cloud or on-premises deployments</a:t>
            </a:r>
          </a:p>
        </p:txBody>
      </p:sp>
      <p:pic>
        <p:nvPicPr>
          <p:cNvPr id="23" name="Picture 22" descr="A resource group contains a storage account with containers, tables, queues, files, blobs, entities, messages, and directories. ">
            <a:extLst>
              <a:ext uri="{FF2B5EF4-FFF2-40B4-BE49-F238E27FC236}">
                <a16:creationId xmlns:a16="http://schemas.microsoft.com/office/drawing/2014/main" id="{69155B7B-AC6A-0228-0810-102B889AAD5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23256" y="2632054"/>
            <a:ext cx="6418972" cy="3691544"/>
          </a:xfrm>
          <a:prstGeom prst="rect">
            <a:avLst/>
          </a:prstGeom>
        </p:spPr>
      </p:pic>
    </p:spTree>
    <p:extLst>
      <p:ext uri="{BB962C8B-B14F-4D97-AF65-F5344CB8AC3E}">
        <p14:creationId xmlns:p14="http://schemas.microsoft.com/office/powerpoint/2010/main" val="1329765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26A9C967-5489-9E0F-6A30-86975152D14D}"/>
              </a:ext>
            </a:extLst>
          </p:cNvPr>
          <p:cNvSpPr txBox="1">
            <a:spLocks/>
          </p:cNvSpPr>
          <p:nvPr/>
        </p:nvSpPr>
        <p:spPr>
          <a:xfrm>
            <a:off x="600798" y="1435864"/>
            <a:ext cx="11568684" cy="6556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Determine Storage Account Kinds</a:t>
            </a:r>
            <a:endParaRPr lang="en-US" dirty="0"/>
          </a:p>
        </p:txBody>
      </p:sp>
      <p:sp>
        <p:nvSpPr>
          <p:cNvPr id="11" name="Text Placeholder 2">
            <a:extLst>
              <a:ext uri="{FF2B5EF4-FFF2-40B4-BE49-F238E27FC236}">
                <a16:creationId xmlns:a16="http://schemas.microsoft.com/office/drawing/2014/main" id="{1905B70B-341D-5AA6-A1A0-9913A9A70AAC}"/>
              </a:ext>
            </a:extLst>
          </p:cNvPr>
          <p:cNvSpPr txBox="1">
            <a:spLocks/>
          </p:cNvSpPr>
          <p:nvPr/>
        </p:nvSpPr>
        <p:spPr>
          <a:xfrm>
            <a:off x="614513" y="1984641"/>
            <a:ext cx="11568684" cy="43946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All storage accounts are encrypted using Storage Service Encryption (SSE) for data at rest</a:t>
            </a:r>
            <a:endParaRPr lang="en-US" dirty="0"/>
          </a:p>
        </p:txBody>
      </p:sp>
      <p:graphicFrame>
        <p:nvGraphicFramePr>
          <p:cNvPr id="12" name="Table 11">
            <a:extLst>
              <a:ext uri="{FF2B5EF4-FFF2-40B4-BE49-F238E27FC236}">
                <a16:creationId xmlns:a16="http://schemas.microsoft.com/office/drawing/2014/main" id="{E59FABEA-C17C-8D99-5174-0C993970F4FD}"/>
              </a:ext>
            </a:extLst>
          </p:cNvPr>
          <p:cNvGraphicFramePr>
            <a:graphicFrameLocks noGrp="1"/>
          </p:cNvGraphicFramePr>
          <p:nvPr>
            <p:extLst>
              <p:ext uri="{D42A27DB-BD31-4B8C-83A1-F6EECF244321}">
                <p14:modId xmlns:p14="http://schemas.microsoft.com/office/powerpoint/2010/main" val="2928603909"/>
              </p:ext>
            </p:extLst>
          </p:nvPr>
        </p:nvGraphicFramePr>
        <p:xfrm>
          <a:off x="600798" y="2765819"/>
          <a:ext cx="11283040" cy="3619956"/>
        </p:xfrm>
        <a:graphic>
          <a:graphicData uri="http://schemas.openxmlformats.org/drawingml/2006/table">
            <a:tbl>
              <a:tblPr firstRow="1">
                <a:tableStyleId>{2D5ABB26-0587-4C30-8999-92F81FD0307C}</a:tableStyleId>
              </a:tblPr>
              <a:tblGrid>
                <a:gridCol w="3351720">
                  <a:extLst>
                    <a:ext uri="{9D8B030D-6E8A-4147-A177-3AD203B41FA5}">
                      <a16:colId xmlns:a16="http://schemas.microsoft.com/office/drawing/2014/main" val="565760015"/>
                    </a:ext>
                  </a:extLst>
                </a:gridCol>
                <a:gridCol w="7931320">
                  <a:extLst>
                    <a:ext uri="{9D8B030D-6E8A-4147-A177-3AD203B41FA5}">
                      <a16:colId xmlns:a16="http://schemas.microsoft.com/office/drawing/2014/main" val="67243231"/>
                    </a:ext>
                  </a:extLst>
                </a:gridCol>
              </a:tblGrid>
              <a:tr h="463510">
                <a:tc>
                  <a:txBody>
                    <a:bodyPr/>
                    <a:lstStyle/>
                    <a:p>
                      <a:pPr algn="ctr"/>
                      <a:r>
                        <a:rPr lang="en-US" sz="2000" b="0" dirty="0">
                          <a:solidFill>
                            <a:schemeClr val="bg1"/>
                          </a:solidFill>
                          <a:effectLst/>
                          <a:latin typeface="+mj-lt"/>
                        </a:rPr>
                        <a:t>Storage Account</a:t>
                      </a:r>
                    </a:p>
                  </a:txBody>
                  <a:tcPr marL="137160" marR="137160" marT="91440" marB="91440"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chemeClr val="tx2">
                        <a:lumMod val="50000"/>
                      </a:schemeClr>
                    </a:solidFill>
                  </a:tcPr>
                </a:tc>
                <a:tc>
                  <a:txBody>
                    <a:bodyPr/>
                    <a:lstStyle/>
                    <a:p>
                      <a:pPr algn="l"/>
                      <a:r>
                        <a:rPr lang="en-US" sz="2000" dirty="0">
                          <a:solidFill>
                            <a:schemeClr val="bg1"/>
                          </a:solidFill>
                          <a:effectLst/>
                          <a:latin typeface="+mj-lt"/>
                        </a:rPr>
                        <a:t>Recommended usage</a:t>
                      </a:r>
                      <a:endParaRPr lang="en-US" sz="2000" b="0" dirty="0">
                        <a:solidFill>
                          <a:schemeClr val="bg1"/>
                        </a:solidFill>
                        <a:effectLst/>
                        <a:latin typeface="+mj-lt"/>
                      </a:endParaRPr>
                    </a:p>
                  </a:txBody>
                  <a:tcPr marL="137160" marR="137160"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917331877"/>
                  </a:ext>
                </a:extLst>
              </a:tr>
              <a:tr h="783069">
                <a:tc>
                  <a:txBody>
                    <a:bodyPr/>
                    <a:lstStyle/>
                    <a:p>
                      <a:pPr algn="l"/>
                      <a:r>
                        <a:rPr lang="en-US" sz="1800" dirty="0">
                          <a:solidFill>
                            <a:schemeClr val="tx1"/>
                          </a:solidFill>
                          <a:effectLst/>
                        </a:rPr>
                        <a:t>Standard general-purpose v2</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1800" dirty="0">
                          <a:solidFill>
                            <a:schemeClr val="tx1"/>
                          </a:solidFill>
                          <a:effectLst/>
                        </a:rPr>
                        <a:t>Most scenarios including Blob, File, Queue, Table, and Data Lake Storage.</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61086412"/>
                  </a:ext>
                </a:extLst>
              </a:tr>
              <a:tr h="783069">
                <a:tc>
                  <a:txBody>
                    <a:bodyPr/>
                    <a:lstStyle/>
                    <a:p>
                      <a:pPr algn="l"/>
                      <a:r>
                        <a:rPr lang="en-US" sz="1800" dirty="0">
                          <a:solidFill>
                            <a:schemeClr val="tx1"/>
                          </a:solidFill>
                          <a:effectLst/>
                        </a:rPr>
                        <a:t>Premium block blobs</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1800" dirty="0">
                          <a:solidFill>
                            <a:schemeClr val="tx1"/>
                          </a:solidFill>
                          <a:effectLst/>
                        </a:rPr>
                        <a:t>Block blob scenarios with high transactions rates, or scenarios that use smaller objects or require consistently low storage latency.</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47334802"/>
                  </a:ext>
                </a:extLst>
              </a:tr>
              <a:tr h="783069">
                <a:tc>
                  <a:txBody>
                    <a:bodyPr/>
                    <a:lstStyle/>
                    <a:p>
                      <a:pPr algn="l"/>
                      <a:r>
                        <a:rPr lang="en-US" sz="1800" dirty="0">
                          <a:solidFill>
                            <a:schemeClr val="tx1"/>
                          </a:solidFill>
                          <a:effectLst/>
                        </a:rPr>
                        <a:t>Premium file shares</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1800" dirty="0">
                          <a:solidFill>
                            <a:schemeClr val="tx1"/>
                          </a:solidFill>
                          <a:effectLst/>
                        </a:rPr>
                        <a:t>Enterprise or high-performance file share applications.</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19226042"/>
                  </a:ext>
                </a:extLst>
              </a:tr>
              <a:tr h="783069">
                <a:tc>
                  <a:txBody>
                    <a:bodyPr/>
                    <a:lstStyle/>
                    <a:p>
                      <a:pPr algn="l"/>
                      <a:r>
                        <a:rPr lang="en-US" sz="1800" dirty="0">
                          <a:solidFill>
                            <a:schemeClr val="tx1"/>
                          </a:solidFill>
                          <a:effectLst/>
                        </a:rPr>
                        <a:t>Premium page blobs</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1800" dirty="0">
                          <a:solidFill>
                            <a:schemeClr val="tx1"/>
                          </a:solidFill>
                          <a:effectLst/>
                        </a:rPr>
                        <a:t>Premium high-performance page blob scenarios.</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79097423"/>
                  </a:ext>
                </a:extLst>
              </a:tr>
            </a:tbl>
          </a:graphicData>
        </a:graphic>
      </p:graphicFrame>
    </p:spTree>
    <p:extLst>
      <p:ext uri="{BB962C8B-B14F-4D97-AF65-F5344CB8AC3E}">
        <p14:creationId xmlns:p14="http://schemas.microsoft.com/office/powerpoint/2010/main" val="1060775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0">
            <a:extLst>
              <a:ext uri="{FF2B5EF4-FFF2-40B4-BE49-F238E27FC236}">
                <a16:creationId xmlns:a16="http://schemas.microsoft.com/office/drawing/2014/main" id="{0C402498-7AD8-5AF5-7B09-59C88E58C09F}"/>
              </a:ext>
            </a:extLst>
          </p:cNvPr>
          <p:cNvSpPr txBox="1">
            <a:spLocks/>
          </p:cNvSpPr>
          <p:nvPr/>
        </p:nvSpPr>
        <p:spPr>
          <a:xfrm>
            <a:off x="531779" y="1376852"/>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hlinkClick r:id="rId7"/>
              </a:rPr>
              <a:t>Determine Replication Strategies </a:t>
            </a:r>
            <a:r>
              <a:rPr lang="en-US" sz="2800" dirty="0"/>
              <a:t>(1 of 2)</a:t>
            </a:r>
          </a:p>
        </p:txBody>
      </p:sp>
      <p:sp>
        <p:nvSpPr>
          <p:cNvPr id="11" name="Rectangle 10">
            <a:extLst>
              <a:ext uri="{FF2B5EF4-FFF2-40B4-BE49-F238E27FC236}">
                <a16:creationId xmlns:a16="http://schemas.microsoft.com/office/drawing/2014/main" id="{CF5503A7-009F-59A1-94E0-A46E847BE412}"/>
              </a:ext>
            </a:extLst>
          </p:cNvPr>
          <p:cNvSpPr/>
          <p:nvPr/>
        </p:nvSpPr>
        <p:spPr bwMode="auto">
          <a:xfrm>
            <a:off x="89854" y="4746047"/>
            <a:ext cx="2970548" cy="255244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spcBef>
                <a:spcPct val="0"/>
              </a:spcBef>
              <a:spcAft>
                <a:spcPts val="600"/>
              </a:spcAft>
              <a:defRPr/>
            </a:pPr>
            <a:r>
              <a:rPr lang="en-US" sz="1836" dirty="0">
                <a:solidFill>
                  <a:schemeClr val="accent1">
                    <a:lumMod val="50000"/>
                  </a:schemeClr>
                </a:solidFill>
                <a:latin typeface="Segoe UI Semibold" panose="020B0702040204020203" pitchFamily="34" charset="0"/>
                <a:ea typeface="Segoe UI" pitchFamily="34" charset="0"/>
                <a:cs typeface="Segoe UI Semibold" panose="020B0702040204020203" pitchFamily="34" charset="0"/>
              </a:rPr>
              <a:t>LRS</a:t>
            </a:r>
            <a:endParaRPr lang="en-US" dirty="0">
              <a:gradFill>
                <a:gsLst>
                  <a:gs pos="0">
                    <a:srgbClr val="FFFFFF"/>
                  </a:gs>
                  <a:gs pos="100000">
                    <a:srgbClr val="FFFFFF"/>
                  </a:gs>
                </a:gsLst>
                <a:lin ang="5400000" scaled="0"/>
              </a:gradFill>
              <a:latin typeface="Segoe UI Semilight"/>
              <a:ea typeface="Segoe UI" pitchFamily="34" charset="0"/>
              <a:cs typeface="Segoe UI" pitchFamily="34" charset="0"/>
            </a:endParaRP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Three replicas, one region</a:t>
            </a: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Protects against disk, node, rack failures</a:t>
            </a: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Write is acknowledged when all replicas are committed</a:t>
            </a: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Superior to dual-parity RAID</a:t>
            </a:r>
          </a:p>
          <a:p>
            <a:pPr defTabSz="932293" fontAlgn="base">
              <a:spcBef>
                <a:spcPct val="0"/>
              </a:spcBef>
              <a:spcAft>
                <a:spcPct val="0"/>
              </a:spcAft>
              <a:defRPr/>
            </a:pPr>
            <a:endParaRPr lang="en-US" sz="1599" dirty="0">
              <a:gradFill>
                <a:gsLst>
                  <a:gs pos="0">
                    <a:srgbClr val="FFFFFF"/>
                  </a:gs>
                  <a:gs pos="100000">
                    <a:srgbClr val="FFFFFF"/>
                  </a:gs>
                </a:gsLst>
                <a:lin ang="5400000" scaled="0"/>
              </a:gradFill>
              <a:latin typeface="Segoe UI Semilight"/>
              <a:ea typeface="Segoe UI" pitchFamily="34" charset="0"/>
              <a:cs typeface="Segoe UI" pitchFamily="34" charset="0"/>
            </a:endParaRPr>
          </a:p>
        </p:txBody>
      </p:sp>
      <p:sp>
        <p:nvSpPr>
          <p:cNvPr id="12" name="Rectangle 11">
            <a:extLst>
              <a:ext uri="{FF2B5EF4-FFF2-40B4-BE49-F238E27FC236}">
                <a16:creationId xmlns:a16="http://schemas.microsoft.com/office/drawing/2014/main" id="{7D2E0965-045E-C704-F702-DC522B8C912C}"/>
              </a:ext>
            </a:extLst>
          </p:cNvPr>
          <p:cNvSpPr/>
          <p:nvPr/>
        </p:nvSpPr>
        <p:spPr bwMode="auto">
          <a:xfrm>
            <a:off x="2954221" y="4762376"/>
            <a:ext cx="2850704" cy="255244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spcBef>
                <a:spcPct val="0"/>
              </a:spcBef>
              <a:spcAft>
                <a:spcPts val="600"/>
              </a:spcAft>
              <a:defRPr/>
            </a:pPr>
            <a:r>
              <a:rPr lang="en-US" sz="1836" dirty="0">
                <a:solidFill>
                  <a:schemeClr val="accent1">
                    <a:lumMod val="50000"/>
                  </a:schemeClr>
                </a:solidFill>
                <a:latin typeface="Segoe UI Semibold" panose="020B0702040204020203" pitchFamily="34" charset="0"/>
                <a:ea typeface="Segoe UI" pitchFamily="34" charset="0"/>
                <a:cs typeface="Segoe UI Semibold" panose="020B0702040204020203" pitchFamily="34" charset="0"/>
              </a:rPr>
              <a:t>ZRS</a:t>
            </a:r>
            <a:endParaRPr lang="en-US" dirty="0">
              <a:gradFill>
                <a:gsLst>
                  <a:gs pos="0">
                    <a:srgbClr val="FFFFFF"/>
                  </a:gs>
                  <a:gs pos="100000">
                    <a:srgbClr val="FFFFFF"/>
                  </a:gs>
                </a:gsLst>
                <a:lin ang="5400000" scaled="0"/>
              </a:gradFill>
              <a:latin typeface="Segoe UI Semilight"/>
              <a:ea typeface="Segoe UI" pitchFamily="34" charset="0"/>
              <a:cs typeface="Segoe UI" pitchFamily="34" charset="0"/>
            </a:endParaRP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Three replicas, three zones, one region</a:t>
            </a: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Protects against disk, node, rack, and zone failures</a:t>
            </a: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Synchronous writes to all three zones</a:t>
            </a:r>
          </a:p>
          <a:p>
            <a:pPr defTabSz="932293" fontAlgn="base">
              <a:spcBef>
                <a:spcPct val="0"/>
              </a:spcBef>
              <a:spcAft>
                <a:spcPct val="0"/>
              </a:spcAft>
              <a:defRPr/>
            </a:pPr>
            <a:endParaRPr lang="en-US" sz="1599" dirty="0">
              <a:gradFill>
                <a:gsLst>
                  <a:gs pos="0">
                    <a:srgbClr val="FFFFFF"/>
                  </a:gs>
                  <a:gs pos="100000">
                    <a:srgbClr val="FFFFFF"/>
                  </a:gs>
                </a:gsLst>
                <a:lin ang="5400000" scaled="0"/>
              </a:gradFill>
              <a:latin typeface="Segoe UI Semilight"/>
              <a:ea typeface="Segoe UI" pitchFamily="34" charset="0"/>
              <a:cs typeface="Segoe UI" pitchFamily="34" charset="0"/>
            </a:endParaRPr>
          </a:p>
        </p:txBody>
      </p:sp>
      <p:sp>
        <p:nvSpPr>
          <p:cNvPr id="13" name="Rectangle 12">
            <a:extLst>
              <a:ext uri="{FF2B5EF4-FFF2-40B4-BE49-F238E27FC236}">
                <a16:creationId xmlns:a16="http://schemas.microsoft.com/office/drawing/2014/main" id="{61FEC433-B0A6-2960-7B43-A132F69C0360}"/>
              </a:ext>
            </a:extLst>
          </p:cNvPr>
          <p:cNvSpPr/>
          <p:nvPr/>
        </p:nvSpPr>
        <p:spPr bwMode="auto">
          <a:xfrm>
            <a:off x="5962617" y="4787097"/>
            <a:ext cx="3070537" cy="255244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563">
              <a:spcAft>
                <a:spcPts val="600"/>
              </a:spcAft>
              <a:defRPr/>
            </a:pPr>
            <a:r>
              <a:rPr lang="en-US" sz="1632" dirty="0">
                <a:solidFill>
                  <a:schemeClr val="accent1">
                    <a:lumMod val="50000"/>
                  </a:schemeClr>
                </a:solidFill>
                <a:latin typeface="Segoe UI Semibold" panose="020B0702040204020203" pitchFamily="34" charset="0"/>
                <a:cs typeface="Segoe UI Semibold" panose="020B0702040204020203" pitchFamily="34" charset="0"/>
              </a:rPr>
              <a:t>GRS</a:t>
            </a:r>
          </a:p>
          <a:p>
            <a:pPr marL="291436" indent="-291436" defTabSz="932563">
              <a:spcAft>
                <a:spcPts val="612"/>
              </a:spcAft>
              <a:buFont typeface="Arial" panose="020B0604020202020204" pitchFamily="34" charset="0"/>
              <a:buChar char="•"/>
              <a:defRPr/>
            </a:pPr>
            <a:r>
              <a:rPr lang="en-US" sz="1428" dirty="0">
                <a:solidFill>
                  <a:srgbClr val="2F2F2F"/>
                </a:solidFill>
                <a:latin typeface="Segoe UI" panose="020B0502040204020203" pitchFamily="34" charset="0"/>
                <a:cs typeface="Segoe UI" panose="020B0502040204020203" pitchFamily="34" charset="0"/>
              </a:rPr>
              <a:t>Six replicas, two regions (three per region)</a:t>
            </a:r>
          </a:p>
          <a:p>
            <a:pPr marL="291436" indent="-291436" defTabSz="932563">
              <a:spcAft>
                <a:spcPts val="612"/>
              </a:spcAft>
              <a:buFont typeface="Arial" panose="020B0604020202020204" pitchFamily="34" charset="0"/>
              <a:buChar char="•"/>
              <a:defRPr/>
            </a:pPr>
            <a:r>
              <a:rPr lang="en-US" sz="1428" dirty="0">
                <a:solidFill>
                  <a:srgbClr val="2F2F2F"/>
                </a:solidFill>
                <a:latin typeface="Segoe UI" panose="020B0502040204020203" pitchFamily="34" charset="0"/>
                <a:cs typeface="Segoe UI" panose="020B0502040204020203" pitchFamily="34" charset="0"/>
              </a:rPr>
              <a:t>Protects against major regional disasters</a:t>
            </a:r>
          </a:p>
          <a:p>
            <a:pPr marL="291436" indent="-291436" defTabSz="932563">
              <a:spcAft>
                <a:spcPts val="612"/>
              </a:spcAft>
              <a:buFont typeface="Arial" panose="020B0604020202020204" pitchFamily="34" charset="0"/>
              <a:buChar char="•"/>
              <a:defRPr/>
            </a:pPr>
            <a:r>
              <a:rPr lang="en-US" sz="1428" dirty="0">
                <a:solidFill>
                  <a:srgbClr val="2F2F2F"/>
                </a:solidFill>
                <a:latin typeface="Segoe UI" panose="020B0502040204020203" pitchFamily="34" charset="0"/>
                <a:cs typeface="Segoe UI" panose="020B0502040204020203" pitchFamily="34" charset="0"/>
              </a:rPr>
              <a:t>Asynchronous copy to secondary</a:t>
            </a:r>
          </a:p>
          <a:p>
            <a:pPr marL="285695" indent="-285695" defTabSz="932563">
              <a:buFont typeface="Arial" panose="020B0604020202020204" pitchFamily="34" charset="0"/>
              <a:buChar char="•"/>
              <a:defRPr/>
            </a:pPr>
            <a:endParaRPr lang="en-US" sz="1428" dirty="0">
              <a:solidFill>
                <a:srgbClr val="2F2F2F"/>
              </a:solidFill>
              <a:latin typeface="Segoe UI Semilight"/>
            </a:endParaRPr>
          </a:p>
          <a:p>
            <a:pPr defTabSz="932563">
              <a:lnSpc>
                <a:spcPct val="90000"/>
              </a:lnSpc>
              <a:spcAft>
                <a:spcPts val="600"/>
              </a:spcAft>
              <a:defRPr/>
            </a:pPr>
            <a:endParaRPr lang="en-US" dirty="0">
              <a:solidFill>
                <a:srgbClr val="FFFFFF"/>
              </a:solidFill>
              <a:latin typeface="Segoe UI Semilight"/>
            </a:endParaRPr>
          </a:p>
          <a:p>
            <a:pPr defTabSz="932563">
              <a:lnSpc>
                <a:spcPct val="90000"/>
              </a:lnSpc>
              <a:spcAft>
                <a:spcPts val="600"/>
              </a:spcAft>
              <a:defRPr/>
            </a:pPr>
            <a:endParaRPr lang="en-US" dirty="0">
              <a:solidFill>
                <a:srgbClr val="FFFFFF"/>
              </a:solidFill>
              <a:latin typeface="Segoe UI Semilight"/>
            </a:endParaRPr>
          </a:p>
        </p:txBody>
      </p:sp>
      <p:sp>
        <p:nvSpPr>
          <p:cNvPr id="14" name="Rectangle 13">
            <a:extLst>
              <a:ext uri="{FF2B5EF4-FFF2-40B4-BE49-F238E27FC236}">
                <a16:creationId xmlns:a16="http://schemas.microsoft.com/office/drawing/2014/main" id="{23A1BEF5-3A35-2536-EA79-5744A9759552}"/>
              </a:ext>
            </a:extLst>
          </p:cNvPr>
          <p:cNvSpPr/>
          <p:nvPr/>
        </p:nvSpPr>
        <p:spPr bwMode="auto">
          <a:xfrm>
            <a:off x="9033154" y="4787097"/>
            <a:ext cx="3203054" cy="255244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563">
              <a:spcAft>
                <a:spcPts val="600"/>
              </a:spcAft>
              <a:defRPr/>
            </a:pPr>
            <a:r>
              <a:rPr lang="en-US" sz="1632" dirty="0">
                <a:solidFill>
                  <a:schemeClr val="accent1">
                    <a:lumMod val="50000"/>
                  </a:schemeClr>
                </a:solidFill>
                <a:latin typeface="Segoe UI Semibold" panose="020B0702040204020203" pitchFamily="34" charset="0"/>
                <a:cs typeface="Segoe UI Semibold" panose="020B0702040204020203" pitchFamily="34" charset="0"/>
              </a:rPr>
              <a:t>RA-GRS</a:t>
            </a:r>
            <a:endParaRPr lang="en-US" dirty="0">
              <a:solidFill>
                <a:srgbClr val="FFFFFF"/>
              </a:solidFill>
              <a:latin typeface="Segoe UI Semilight"/>
            </a:endParaRP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GRS + read access to secondary</a:t>
            </a: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Separate secondary endpoint</a:t>
            </a: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Recovery point objective (RPO) delay to secondary can be queried</a:t>
            </a:r>
            <a:endParaRPr lang="en-US" sz="1428" dirty="0">
              <a:solidFill>
                <a:srgbClr val="2F2F2F"/>
              </a:solidFill>
              <a:latin typeface="Segoe UI Semilight"/>
            </a:endParaRPr>
          </a:p>
          <a:p>
            <a:pPr defTabSz="932563">
              <a:lnSpc>
                <a:spcPct val="90000"/>
              </a:lnSpc>
              <a:spcAft>
                <a:spcPts val="600"/>
              </a:spcAft>
              <a:defRPr/>
            </a:pPr>
            <a:endParaRPr lang="en-US" dirty="0">
              <a:solidFill>
                <a:srgbClr val="FFFFFF"/>
              </a:solidFill>
              <a:latin typeface="Segoe UI Semilight"/>
            </a:endParaRPr>
          </a:p>
          <a:p>
            <a:pPr defTabSz="932563">
              <a:lnSpc>
                <a:spcPct val="90000"/>
              </a:lnSpc>
              <a:spcAft>
                <a:spcPts val="600"/>
              </a:spcAft>
              <a:defRPr/>
            </a:pPr>
            <a:endParaRPr lang="en-US" dirty="0">
              <a:solidFill>
                <a:srgbClr val="FFFFFF"/>
              </a:solidFill>
              <a:latin typeface="Segoe UI Semilight"/>
            </a:endParaRPr>
          </a:p>
        </p:txBody>
      </p:sp>
      <p:grpSp>
        <p:nvGrpSpPr>
          <p:cNvPr id="15" name="Group 14">
            <a:extLst>
              <a:ext uri="{FF2B5EF4-FFF2-40B4-BE49-F238E27FC236}">
                <a16:creationId xmlns:a16="http://schemas.microsoft.com/office/drawing/2014/main" id="{EBC357B6-9A42-1844-0F10-0301693F1A15}"/>
              </a:ext>
              <a:ext uri="{C183D7F6-B498-43B3-948B-1728B52AA6E4}">
                <adec:decorative xmlns:adec="http://schemas.microsoft.com/office/drawing/2017/decorative" val="1"/>
              </a:ext>
            </a:extLst>
          </p:cNvPr>
          <p:cNvGrpSpPr/>
          <p:nvPr/>
        </p:nvGrpSpPr>
        <p:grpSpPr>
          <a:xfrm>
            <a:off x="3644005" y="2561531"/>
            <a:ext cx="1478006" cy="1723178"/>
            <a:chOff x="3577364" y="1752136"/>
            <a:chExt cx="1478006" cy="1723178"/>
          </a:xfrm>
        </p:grpSpPr>
        <p:cxnSp>
          <p:nvCxnSpPr>
            <p:cNvPr id="16" name="Straight Arrow Connector 15">
              <a:extLst>
                <a:ext uri="{FF2B5EF4-FFF2-40B4-BE49-F238E27FC236}">
                  <a16:creationId xmlns:a16="http://schemas.microsoft.com/office/drawing/2014/main" id="{2E0B2DED-FA67-ED3A-81B6-D8B82DFB6F7F}"/>
                </a:ext>
              </a:extLst>
            </p:cNvPr>
            <p:cNvCxnSpPr>
              <a:cxnSpLocks/>
            </p:cNvCxnSpPr>
            <p:nvPr/>
          </p:nvCxnSpPr>
          <p:spPr>
            <a:xfrm>
              <a:off x="4312932" y="1752136"/>
              <a:ext cx="0" cy="474532"/>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384C573-F12D-73F6-8D61-D7809AF6A77C}"/>
                </a:ext>
              </a:extLst>
            </p:cNvPr>
            <p:cNvCxnSpPr>
              <a:cxnSpLocks/>
            </p:cNvCxnSpPr>
            <p:nvPr/>
          </p:nvCxnSpPr>
          <p:spPr>
            <a:xfrm flipH="1">
              <a:off x="3752870" y="1898337"/>
              <a:ext cx="452472" cy="896108"/>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084BAFC-CB79-D69A-205A-0F54E9EC8396}"/>
                </a:ext>
              </a:extLst>
            </p:cNvPr>
            <p:cNvCxnSpPr>
              <a:cxnSpLocks/>
            </p:cNvCxnSpPr>
            <p:nvPr/>
          </p:nvCxnSpPr>
          <p:spPr>
            <a:xfrm>
              <a:off x="4421745" y="1898337"/>
              <a:ext cx="413137" cy="910047"/>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Database_EFC7" title="Icon of a cylinder">
              <a:extLst>
                <a:ext uri="{FF2B5EF4-FFF2-40B4-BE49-F238E27FC236}">
                  <a16:creationId xmlns:a16="http://schemas.microsoft.com/office/drawing/2014/main" id="{F0ACD4D9-55E9-C123-28A7-A505C11DDCA1}"/>
                </a:ext>
              </a:extLst>
            </p:cNvPr>
            <p:cNvSpPr>
              <a:spLocks noChangeAspect="1" noEditPoints="1"/>
            </p:cNvSpPr>
            <p:nvPr/>
          </p:nvSpPr>
          <p:spPr bwMode="auto">
            <a:xfrm>
              <a:off x="3577364" y="2924150"/>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Z2</a:t>
              </a:r>
            </a:p>
          </p:txBody>
        </p:sp>
        <p:sp>
          <p:nvSpPr>
            <p:cNvPr id="20" name="Database_EFC7" title="Icon of a cylinder">
              <a:extLst>
                <a:ext uri="{FF2B5EF4-FFF2-40B4-BE49-F238E27FC236}">
                  <a16:creationId xmlns:a16="http://schemas.microsoft.com/office/drawing/2014/main" id="{C738299F-810A-27F2-90F9-60B41F80E053}"/>
                </a:ext>
              </a:extLst>
            </p:cNvPr>
            <p:cNvSpPr>
              <a:spLocks noChangeAspect="1" noEditPoints="1"/>
            </p:cNvSpPr>
            <p:nvPr/>
          </p:nvSpPr>
          <p:spPr bwMode="auto">
            <a:xfrm>
              <a:off x="4656946" y="2935049"/>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Z3</a:t>
              </a:r>
            </a:p>
          </p:txBody>
        </p:sp>
        <p:sp>
          <p:nvSpPr>
            <p:cNvPr id="21" name="Database_EFC7" title="Icon of a cylinder">
              <a:extLst>
                <a:ext uri="{FF2B5EF4-FFF2-40B4-BE49-F238E27FC236}">
                  <a16:creationId xmlns:a16="http://schemas.microsoft.com/office/drawing/2014/main" id="{A2784A27-CF29-ECC7-11E5-1FBA78F2549A}"/>
                </a:ext>
              </a:extLst>
            </p:cNvPr>
            <p:cNvSpPr>
              <a:spLocks noChangeAspect="1" noEditPoints="1"/>
            </p:cNvSpPr>
            <p:nvPr/>
          </p:nvSpPr>
          <p:spPr bwMode="auto">
            <a:xfrm>
              <a:off x="4103698" y="2323661"/>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Z1</a:t>
              </a:r>
            </a:p>
          </p:txBody>
        </p:sp>
      </p:grpSp>
      <p:grpSp>
        <p:nvGrpSpPr>
          <p:cNvPr id="22" name="Group 21">
            <a:extLst>
              <a:ext uri="{FF2B5EF4-FFF2-40B4-BE49-F238E27FC236}">
                <a16:creationId xmlns:a16="http://schemas.microsoft.com/office/drawing/2014/main" id="{54161E2F-3B11-83C6-7C96-425121601E73}"/>
              </a:ext>
              <a:ext uri="{C183D7F6-B498-43B3-948B-1728B52AA6E4}">
                <adec:decorative xmlns:adec="http://schemas.microsoft.com/office/drawing/2017/decorative" val="1"/>
              </a:ext>
            </a:extLst>
          </p:cNvPr>
          <p:cNvGrpSpPr/>
          <p:nvPr/>
        </p:nvGrpSpPr>
        <p:grpSpPr>
          <a:xfrm>
            <a:off x="6371798" y="2761584"/>
            <a:ext cx="2577506" cy="1956476"/>
            <a:chOff x="6305157" y="1952189"/>
            <a:chExt cx="2577506" cy="1956476"/>
          </a:xfrm>
        </p:grpSpPr>
        <p:sp>
          <p:nvSpPr>
            <p:cNvPr id="23" name="Rectangle 22">
              <a:extLst>
                <a:ext uri="{FF2B5EF4-FFF2-40B4-BE49-F238E27FC236}">
                  <a16:creationId xmlns:a16="http://schemas.microsoft.com/office/drawing/2014/main" id="{BC52A716-AEA0-0826-5E34-6D8922DDFADD}"/>
                </a:ext>
              </a:extLst>
            </p:cNvPr>
            <p:cNvSpPr>
              <a:spLocks noChangeAspect="1"/>
            </p:cNvSpPr>
            <p:nvPr/>
          </p:nvSpPr>
          <p:spPr bwMode="auto">
            <a:xfrm>
              <a:off x="6382176" y="2531003"/>
              <a:ext cx="1066649" cy="1013317"/>
            </a:xfrm>
            <a:prstGeom prst="rect">
              <a:avLst/>
            </a:prstGeom>
            <a:noFill/>
            <a:ln>
              <a:noFill/>
              <a:headEnd type="none" w="med" len="med"/>
              <a:tailEnd type="none" w="med" len="med"/>
            </a:ln>
          </p:spPr>
          <p:style>
            <a:lnRef idx="3">
              <a:schemeClr val="lt1"/>
            </a:lnRef>
            <a:fillRef idx="1">
              <a:schemeClr val="dk1"/>
            </a:fillRef>
            <a:effectRef idx="1">
              <a:schemeClr val="dk1"/>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400" dirty="0">
                <a:solidFill>
                  <a:schemeClr val="accent1">
                    <a:lumMod val="50000"/>
                  </a:schemeClr>
                </a:solidFill>
                <a:latin typeface="Segoe UI Semilight"/>
                <a:ea typeface="Segoe UI" pitchFamily="34" charset="0"/>
                <a:cs typeface="Segoe UI" pitchFamily="34" charset="0"/>
              </a:endParaRPr>
            </a:p>
          </p:txBody>
        </p:sp>
        <p:sp>
          <p:nvSpPr>
            <p:cNvPr id="24" name="TextBox 23">
              <a:extLst>
                <a:ext uri="{FF2B5EF4-FFF2-40B4-BE49-F238E27FC236}">
                  <a16:creationId xmlns:a16="http://schemas.microsoft.com/office/drawing/2014/main" id="{41D5DA3D-3E25-D67F-C0BC-8C199B6628DD}"/>
                </a:ext>
              </a:extLst>
            </p:cNvPr>
            <p:cNvSpPr txBox="1"/>
            <p:nvPr/>
          </p:nvSpPr>
          <p:spPr>
            <a:xfrm>
              <a:off x="6581071" y="2021463"/>
              <a:ext cx="1725869" cy="489322"/>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Typically, &gt;300mi</a:t>
              </a:r>
            </a:p>
          </p:txBody>
        </p:sp>
        <p:sp>
          <p:nvSpPr>
            <p:cNvPr id="25" name="TextBox 24">
              <a:extLst>
                <a:ext uri="{FF2B5EF4-FFF2-40B4-BE49-F238E27FC236}">
                  <a16:creationId xmlns:a16="http://schemas.microsoft.com/office/drawing/2014/main" id="{0F71B750-9191-C9B4-D467-6C12366F2FAB}"/>
                </a:ext>
              </a:extLst>
            </p:cNvPr>
            <p:cNvSpPr txBox="1"/>
            <p:nvPr/>
          </p:nvSpPr>
          <p:spPr>
            <a:xfrm>
              <a:off x="7062922" y="2723042"/>
              <a:ext cx="832548" cy="489322"/>
            </a:xfrm>
            <a:prstGeom prst="rect">
              <a:avLst/>
            </a:prstGeom>
            <a:solidFill>
              <a:srgbClr val="FFFFFF"/>
            </a:solid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Async</a:t>
              </a:r>
            </a:p>
          </p:txBody>
        </p:sp>
        <p:sp>
          <p:nvSpPr>
            <p:cNvPr id="26" name="TextBox 25">
              <a:extLst>
                <a:ext uri="{FF2B5EF4-FFF2-40B4-BE49-F238E27FC236}">
                  <a16:creationId xmlns:a16="http://schemas.microsoft.com/office/drawing/2014/main" id="{BF6AF3E8-5E89-211B-69E2-011EFAC447CE}"/>
                </a:ext>
              </a:extLst>
            </p:cNvPr>
            <p:cNvSpPr txBox="1"/>
            <p:nvPr/>
          </p:nvSpPr>
          <p:spPr>
            <a:xfrm>
              <a:off x="6305157" y="3419343"/>
              <a:ext cx="977587" cy="489322"/>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Primary</a:t>
              </a:r>
            </a:p>
          </p:txBody>
        </p:sp>
        <p:sp>
          <p:nvSpPr>
            <p:cNvPr id="27" name="TextBox 26">
              <a:extLst>
                <a:ext uri="{FF2B5EF4-FFF2-40B4-BE49-F238E27FC236}">
                  <a16:creationId xmlns:a16="http://schemas.microsoft.com/office/drawing/2014/main" id="{D6280FE4-A579-1D4D-2814-20BCFEEB3770}"/>
                </a:ext>
              </a:extLst>
            </p:cNvPr>
            <p:cNvSpPr txBox="1"/>
            <p:nvPr/>
          </p:nvSpPr>
          <p:spPr>
            <a:xfrm>
              <a:off x="7679053" y="3418692"/>
              <a:ext cx="1203610" cy="489322"/>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Secondary</a:t>
              </a:r>
            </a:p>
          </p:txBody>
        </p:sp>
        <p:sp>
          <p:nvSpPr>
            <p:cNvPr id="28" name="Database_EFC7" title="Icon of a cylinder">
              <a:extLst>
                <a:ext uri="{FF2B5EF4-FFF2-40B4-BE49-F238E27FC236}">
                  <a16:creationId xmlns:a16="http://schemas.microsoft.com/office/drawing/2014/main" id="{B09C7F31-9E49-4901-2295-C8F0AE59279C}"/>
                </a:ext>
              </a:extLst>
            </p:cNvPr>
            <p:cNvSpPr>
              <a:spLocks noChangeAspect="1" noEditPoints="1"/>
            </p:cNvSpPr>
            <p:nvPr/>
          </p:nvSpPr>
          <p:spPr bwMode="auto">
            <a:xfrm>
              <a:off x="6423545" y="2625802"/>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29" name="Database_EFC7" title="Icon of a cylinder">
              <a:extLst>
                <a:ext uri="{FF2B5EF4-FFF2-40B4-BE49-F238E27FC236}">
                  <a16:creationId xmlns:a16="http://schemas.microsoft.com/office/drawing/2014/main" id="{D28E11C9-D59D-8929-5A82-D54D2FF4892D}"/>
                </a:ext>
              </a:extLst>
            </p:cNvPr>
            <p:cNvSpPr>
              <a:spLocks noChangeAspect="1" noEditPoints="1"/>
            </p:cNvSpPr>
            <p:nvPr/>
          </p:nvSpPr>
          <p:spPr bwMode="auto">
            <a:xfrm>
              <a:off x="6578979" y="2781236"/>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9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30" name="Database_EFC7" title="Icon of a cylinder">
              <a:extLst>
                <a:ext uri="{FF2B5EF4-FFF2-40B4-BE49-F238E27FC236}">
                  <a16:creationId xmlns:a16="http://schemas.microsoft.com/office/drawing/2014/main" id="{90C5A093-0DF5-430C-D437-48063202ACE1}"/>
                </a:ext>
              </a:extLst>
            </p:cNvPr>
            <p:cNvSpPr>
              <a:spLocks noChangeAspect="1" noEditPoints="1"/>
            </p:cNvSpPr>
            <p:nvPr/>
          </p:nvSpPr>
          <p:spPr bwMode="auto">
            <a:xfrm>
              <a:off x="6734413" y="2936670"/>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9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cxnSp>
          <p:nvCxnSpPr>
            <p:cNvPr id="31" name="Straight Arrow Connector 30">
              <a:extLst>
                <a:ext uri="{FF2B5EF4-FFF2-40B4-BE49-F238E27FC236}">
                  <a16:creationId xmlns:a16="http://schemas.microsoft.com/office/drawing/2014/main" id="{D5D98B5F-AA17-AE11-A047-41B7B73A448F}"/>
                </a:ext>
              </a:extLst>
            </p:cNvPr>
            <p:cNvCxnSpPr>
              <a:cxnSpLocks/>
            </p:cNvCxnSpPr>
            <p:nvPr/>
          </p:nvCxnSpPr>
          <p:spPr>
            <a:xfrm flipV="1">
              <a:off x="6647600" y="1952189"/>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7684B2C-04EC-EF1C-B75C-C704938CAC3F}"/>
                </a:ext>
              </a:extLst>
            </p:cNvPr>
            <p:cNvCxnSpPr>
              <a:cxnSpLocks/>
            </p:cNvCxnSpPr>
            <p:nvPr/>
          </p:nvCxnSpPr>
          <p:spPr>
            <a:xfrm flipH="1">
              <a:off x="6501937" y="1976797"/>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3" name="Database_EFC7" title="Icon of a cylinder">
              <a:extLst>
                <a:ext uri="{FF2B5EF4-FFF2-40B4-BE49-F238E27FC236}">
                  <a16:creationId xmlns:a16="http://schemas.microsoft.com/office/drawing/2014/main" id="{1C7595B9-8FDE-4DE6-1052-6C05D29664CA}"/>
                </a:ext>
              </a:extLst>
            </p:cNvPr>
            <p:cNvSpPr>
              <a:spLocks noChangeAspect="1" noEditPoints="1"/>
            </p:cNvSpPr>
            <p:nvPr/>
          </p:nvSpPr>
          <p:spPr bwMode="auto">
            <a:xfrm>
              <a:off x="7836542" y="2642974"/>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34" name="Database_EFC7" title="Icon of a cylinder">
              <a:extLst>
                <a:ext uri="{FF2B5EF4-FFF2-40B4-BE49-F238E27FC236}">
                  <a16:creationId xmlns:a16="http://schemas.microsoft.com/office/drawing/2014/main" id="{029600D7-2BBE-4FD6-48A1-05D9B6850EA7}"/>
                </a:ext>
              </a:extLst>
            </p:cNvPr>
            <p:cNvSpPr>
              <a:spLocks noChangeAspect="1" noEditPoints="1"/>
            </p:cNvSpPr>
            <p:nvPr/>
          </p:nvSpPr>
          <p:spPr bwMode="auto">
            <a:xfrm>
              <a:off x="7991975" y="2798408"/>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35" name="Database_EFC7" title="Icon of a cylinder">
              <a:extLst>
                <a:ext uri="{FF2B5EF4-FFF2-40B4-BE49-F238E27FC236}">
                  <a16:creationId xmlns:a16="http://schemas.microsoft.com/office/drawing/2014/main" id="{DB119572-194B-9329-EF60-AC5DF2AC8E78}"/>
                </a:ext>
              </a:extLst>
            </p:cNvPr>
            <p:cNvSpPr>
              <a:spLocks noChangeAspect="1" noEditPoints="1"/>
            </p:cNvSpPr>
            <p:nvPr/>
          </p:nvSpPr>
          <p:spPr bwMode="auto">
            <a:xfrm>
              <a:off x="8147409" y="2953842"/>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cxnSp>
          <p:nvCxnSpPr>
            <p:cNvPr id="36" name="Straight Arrow Connector 35">
              <a:extLst>
                <a:ext uri="{FF2B5EF4-FFF2-40B4-BE49-F238E27FC236}">
                  <a16:creationId xmlns:a16="http://schemas.microsoft.com/office/drawing/2014/main" id="{49DCF869-4D4A-3D58-4A80-1657DEF9E5CD}"/>
                </a:ext>
              </a:extLst>
            </p:cNvPr>
            <p:cNvCxnSpPr>
              <a:cxnSpLocks/>
            </p:cNvCxnSpPr>
            <p:nvPr/>
          </p:nvCxnSpPr>
          <p:spPr>
            <a:xfrm>
              <a:off x="7106353" y="2778949"/>
              <a:ext cx="666634" cy="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8049E003-C0C0-75E9-AA5D-EF609572D1BE}"/>
              </a:ext>
              <a:ext uri="{C183D7F6-B498-43B3-948B-1728B52AA6E4}">
                <adec:decorative xmlns:adec="http://schemas.microsoft.com/office/drawing/2017/decorative" val="1"/>
              </a:ext>
            </a:extLst>
          </p:cNvPr>
          <p:cNvGrpSpPr/>
          <p:nvPr/>
        </p:nvGrpSpPr>
        <p:grpSpPr>
          <a:xfrm>
            <a:off x="9422991" y="2719539"/>
            <a:ext cx="2623943" cy="1986434"/>
            <a:chOff x="9356350" y="1910144"/>
            <a:chExt cx="2623943" cy="1986434"/>
          </a:xfrm>
        </p:grpSpPr>
        <p:sp>
          <p:nvSpPr>
            <p:cNvPr id="38" name="TextBox 37">
              <a:extLst>
                <a:ext uri="{FF2B5EF4-FFF2-40B4-BE49-F238E27FC236}">
                  <a16:creationId xmlns:a16="http://schemas.microsoft.com/office/drawing/2014/main" id="{9EA42139-EB41-3F18-5257-7ED82C9C7024}"/>
                </a:ext>
              </a:extLst>
            </p:cNvPr>
            <p:cNvSpPr txBox="1"/>
            <p:nvPr/>
          </p:nvSpPr>
          <p:spPr>
            <a:xfrm>
              <a:off x="9564157" y="2016210"/>
              <a:ext cx="1725869" cy="489322"/>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Typically, &gt;300mi</a:t>
              </a:r>
            </a:p>
          </p:txBody>
        </p:sp>
        <p:sp>
          <p:nvSpPr>
            <p:cNvPr id="39" name="TextBox 38">
              <a:extLst>
                <a:ext uri="{FF2B5EF4-FFF2-40B4-BE49-F238E27FC236}">
                  <a16:creationId xmlns:a16="http://schemas.microsoft.com/office/drawing/2014/main" id="{A3E17D3B-850E-EFC9-D65D-F80D1D7C959E}"/>
                </a:ext>
              </a:extLst>
            </p:cNvPr>
            <p:cNvSpPr txBox="1"/>
            <p:nvPr/>
          </p:nvSpPr>
          <p:spPr>
            <a:xfrm>
              <a:off x="10125949" y="2664069"/>
              <a:ext cx="832548" cy="489322"/>
            </a:xfrm>
            <a:prstGeom prst="rect">
              <a:avLst/>
            </a:prstGeom>
            <a:solidFill>
              <a:srgbClr val="FFFFFF"/>
            </a:solid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Async</a:t>
              </a:r>
            </a:p>
          </p:txBody>
        </p:sp>
        <p:sp>
          <p:nvSpPr>
            <p:cNvPr id="40" name="TextBox 39">
              <a:extLst>
                <a:ext uri="{FF2B5EF4-FFF2-40B4-BE49-F238E27FC236}">
                  <a16:creationId xmlns:a16="http://schemas.microsoft.com/office/drawing/2014/main" id="{3A32D50A-5458-2791-8AE7-A12D6E2524AA}"/>
                </a:ext>
              </a:extLst>
            </p:cNvPr>
            <p:cNvSpPr txBox="1"/>
            <p:nvPr/>
          </p:nvSpPr>
          <p:spPr>
            <a:xfrm>
              <a:off x="9451266" y="3407256"/>
              <a:ext cx="977587" cy="489322"/>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Primary</a:t>
              </a:r>
            </a:p>
          </p:txBody>
        </p:sp>
        <p:sp>
          <p:nvSpPr>
            <p:cNvPr id="41" name="TextBox 40">
              <a:extLst>
                <a:ext uri="{FF2B5EF4-FFF2-40B4-BE49-F238E27FC236}">
                  <a16:creationId xmlns:a16="http://schemas.microsoft.com/office/drawing/2014/main" id="{49BC1921-4BDC-E599-C1DF-BA128C6CBDB7}"/>
                </a:ext>
              </a:extLst>
            </p:cNvPr>
            <p:cNvSpPr txBox="1"/>
            <p:nvPr/>
          </p:nvSpPr>
          <p:spPr>
            <a:xfrm>
              <a:off x="10776683" y="3386537"/>
              <a:ext cx="1203610" cy="489322"/>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Secondary</a:t>
              </a:r>
            </a:p>
          </p:txBody>
        </p:sp>
        <p:sp>
          <p:nvSpPr>
            <p:cNvPr id="42" name="Rectangle 41">
              <a:extLst>
                <a:ext uri="{FF2B5EF4-FFF2-40B4-BE49-F238E27FC236}">
                  <a16:creationId xmlns:a16="http://schemas.microsoft.com/office/drawing/2014/main" id="{A3B715B2-9D2F-9453-C1BA-69634AE130A0}"/>
                </a:ext>
              </a:extLst>
            </p:cNvPr>
            <p:cNvSpPr>
              <a:spLocks noChangeAspect="1"/>
            </p:cNvSpPr>
            <p:nvPr/>
          </p:nvSpPr>
          <p:spPr bwMode="auto">
            <a:xfrm>
              <a:off x="9356350" y="2440380"/>
              <a:ext cx="1066649" cy="1013317"/>
            </a:xfrm>
            <a:prstGeom prst="rect">
              <a:avLst/>
            </a:prstGeom>
            <a:noFill/>
            <a:ln>
              <a:noFill/>
              <a:headEnd type="none" w="med" len="med"/>
              <a:tailEnd type="none" w="med" len="med"/>
            </a:ln>
          </p:spPr>
          <p:style>
            <a:lnRef idx="3">
              <a:schemeClr val="lt1"/>
            </a:lnRef>
            <a:fillRef idx="1">
              <a:schemeClr val="dk1"/>
            </a:fillRef>
            <a:effectRef idx="1">
              <a:schemeClr val="dk1"/>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400" dirty="0">
                <a:solidFill>
                  <a:schemeClr val="accent1">
                    <a:lumMod val="50000"/>
                  </a:schemeClr>
                </a:solidFill>
                <a:latin typeface="Segoe UI Semilight"/>
                <a:ea typeface="Segoe UI" pitchFamily="34" charset="0"/>
                <a:cs typeface="Segoe UI" pitchFamily="34" charset="0"/>
              </a:endParaRPr>
            </a:p>
          </p:txBody>
        </p:sp>
        <p:sp>
          <p:nvSpPr>
            <p:cNvPr id="43" name="Database_EFC7" title="Icon of a cylinder">
              <a:extLst>
                <a:ext uri="{FF2B5EF4-FFF2-40B4-BE49-F238E27FC236}">
                  <a16:creationId xmlns:a16="http://schemas.microsoft.com/office/drawing/2014/main" id="{A4313F09-B11F-EDB6-2B53-38CA67C51B34}"/>
                </a:ext>
              </a:extLst>
            </p:cNvPr>
            <p:cNvSpPr>
              <a:spLocks noChangeAspect="1" noEditPoints="1"/>
            </p:cNvSpPr>
            <p:nvPr/>
          </p:nvSpPr>
          <p:spPr bwMode="auto">
            <a:xfrm>
              <a:off x="9494082" y="2593794"/>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44" name="Database_EFC7" title="Icon of a cylinder">
              <a:extLst>
                <a:ext uri="{FF2B5EF4-FFF2-40B4-BE49-F238E27FC236}">
                  <a16:creationId xmlns:a16="http://schemas.microsoft.com/office/drawing/2014/main" id="{7CAB7F7E-B58B-3D4F-A5A2-0B02388A571D}"/>
                </a:ext>
              </a:extLst>
            </p:cNvPr>
            <p:cNvSpPr>
              <a:spLocks noChangeAspect="1" noEditPoints="1"/>
            </p:cNvSpPr>
            <p:nvPr/>
          </p:nvSpPr>
          <p:spPr bwMode="auto">
            <a:xfrm>
              <a:off x="9649516" y="2749228"/>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9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45" name="Database_EFC7" title="Icon of a cylinder">
              <a:extLst>
                <a:ext uri="{FF2B5EF4-FFF2-40B4-BE49-F238E27FC236}">
                  <a16:creationId xmlns:a16="http://schemas.microsoft.com/office/drawing/2014/main" id="{A7389A66-AF91-0E6C-BC0D-5249FBBF923E}"/>
                </a:ext>
              </a:extLst>
            </p:cNvPr>
            <p:cNvSpPr>
              <a:spLocks noChangeAspect="1" noEditPoints="1"/>
            </p:cNvSpPr>
            <p:nvPr/>
          </p:nvSpPr>
          <p:spPr bwMode="auto">
            <a:xfrm>
              <a:off x="9804950" y="2904662"/>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9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cxnSp>
          <p:nvCxnSpPr>
            <p:cNvPr id="46" name="Straight Arrow Connector 45">
              <a:extLst>
                <a:ext uri="{FF2B5EF4-FFF2-40B4-BE49-F238E27FC236}">
                  <a16:creationId xmlns:a16="http://schemas.microsoft.com/office/drawing/2014/main" id="{2F430D27-2C11-308C-079C-4B9758889A6E}"/>
                </a:ext>
              </a:extLst>
            </p:cNvPr>
            <p:cNvCxnSpPr>
              <a:cxnSpLocks/>
            </p:cNvCxnSpPr>
            <p:nvPr/>
          </p:nvCxnSpPr>
          <p:spPr>
            <a:xfrm flipV="1">
              <a:off x="9677062" y="1910144"/>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F9A1DDBE-4CBC-D1F6-7CA5-6AFCA766F636}"/>
                </a:ext>
              </a:extLst>
            </p:cNvPr>
            <p:cNvCxnSpPr>
              <a:cxnSpLocks/>
            </p:cNvCxnSpPr>
            <p:nvPr/>
          </p:nvCxnSpPr>
          <p:spPr>
            <a:xfrm flipH="1">
              <a:off x="9564186" y="1942194"/>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8" name="Database_EFC7" title="Icon of a cylinder">
              <a:extLst>
                <a:ext uri="{FF2B5EF4-FFF2-40B4-BE49-F238E27FC236}">
                  <a16:creationId xmlns:a16="http://schemas.microsoft.com/office/drawing/2014/main" id="{493759F2-3C5B-AA13-AAD2-8C5519D89EDA}"/>
                </a:ext>
              </a:extLst>
            </p:cNvPr>
            <p:cNvSpPr>
              <a:spLocks noChangeAspect="1" noEditPoints="1"/>
            </p:cNvSpPr>
            <p:nvPr/>
          </p:nvSpPr>
          <p:spPr bwMode="auto">
            <a:xfrm>
              <a:off x="10907079" y="2610966"/>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49" name="Database_EFC7" title="Icon of a cylinder">
              <a:extLst>
                <a:ext uri="{FF2B5EF4-FFF2-40B4-BE49-F238E27FC236}">
                  <a16:creationId xmlns:a16="http://schemas.microsoft.com/office/drawing/2014/main" id="{DC23D98B-1FE3-B9AE-64E7-D5DAB412B956}"/>
                </a:ext>
              </a:extLst>
            </p:cNvPr>
            <p:cNvSpPr>
              <a:spLocks noChangeAspect="1" noEditPoints="1"/>
            </p:cNvSpPr>
            <p:nvPr/>
          </p:nvSpPr>
          <p:spPr bwMode="auto">
            <a:xfrm>
              <a:off x="11062512" y="2766400"/>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50" name="Database_EFC7" title="Icon of a cylinder">
              <a:extLst>
                <a:ext uri="{FF2B5EF4-FFF2-40B4-BE49-F238E27FC236}">
                  <a16:creationId xmlns:a16="http://schemas.microsoft.com/office/drawing/2014/main" id="{6EA48F35-4995-19ED-FE79-4A2E01C3ADAA}"/>
                </a:ext>
              </a:extLst>
            </p:cNvPr>
            <p:cNvSpPr>
              <a:spLocks noChangeAspect="1" noEditPoints="1"/>
            </p:cNvSpPr>
            <p:nvPr/>
          </p:nvSpPr>
          <p:spPr bwMode="auto">
            <a:xfrm>
              <a:off x="11217946" y="2921834"/>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cxnSp>
          <p:nvCxnSpPr>
            <p:cNvPr id="51" name="Straight Arrow Connector 50">
              <a:extLst>
                <a:ext uri="{FF2B5EF4-FFF2-40B4-BE49-F238E27FC236}">
                  <a16:creationId xmlns:a16="http://schemas.microsoft.com/office/drawing/2014/main" id="{72F804C2-DFF5-3C85-EA39-7E18EB8FFC25}"/>
                </a:ext>
              </a:extLst>
            </p:cNvPr>
            <p:cNvCxnSpPr>
              <a:cxnSpLocks/>
            </p:cNvCxnSpPr>
            <p:nvPr/>
          </p:nvCxnSpPr>
          <p:spPr>
            <a:xfrm>
              <a:off x="10176890" y="2746941"/>
              <a:ext cx="666634" cy="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5A4BEE2-9AA3-3B0B-F9BC-AE2A1D90D493}"/>
                </a:ext>
              </a:extLst>
            </p:cNvPr>
            <p:cNvCxnSpPr>
              <a:cxnSpLocks/>
            </p:cNvCxnSpPr>
            <p:nvPr/>
          </p:nvCxnSpPr>
          <p:spPr>
            <a:xfrm flipV="1">
              <a:off x="11160708" y="1932774"/>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53" name="Rectangle 52">
            <a:extLst>
              <a:ext uri="{FF2B5EF4-FFF2-40B4-BE49-F238E27FC236}">
                <a16:creationId xmlns:a16="http://schemas.microsoft.com/office/drawing/2014/main" id="{014F20D6-6238-BD77-E297-AB137272FBDB}"/>
              </a:ext>
              <a:ext uri="{C183D7F6-B498-43B3-948B-1728B52AA6E4}">
                <adec:decorative xmlns:adec="http://schemas.microsoft.com/office/drawing/2017/decorative" val="1"/>
              </a:ext>
            </a:extLst>
          </p:cNvPr>
          <p:cNvSpPr/>
          <p:nvPr/>
        </p:nvSpPr>
        <p:spPr bwMode="auto">
          <a:xfrm>
            <a:off x="1355672" y="2123863"/>
            <a:ext cx="2850704" cy="3817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spcBef>
                <a:spcPct val="0"/>
              </a:spcBef>
              <a:spcAft>
                <a:spcPct val="0"/>
              </a:spcAft>
              <a:defRPr/>
            </a:pPr>
            <a:r>
              <a:rPr lang="en-US" dirty="0">
                <a:solidFill>
                  <a:srgbClr val="1A1A1A"/>
                </a:solidFill>
                <a:latin typeface="Segoe UI Semibold" panose="020B0702040204020203" pitchFamily="34" charset="0"/>
                <a:ea typeface="Segoe UI" pitchFamily="34" charset="0"/>
                <a:cs typeface="Segoe UI Semibold" panose="020B0702040204020203" pitchFamily="34" charset="0"/>
              </a:rPr>
              <a:t>Single region</a:t>
            </a:r>
          </a:p>
        </p:txBody>
      </p:sp>
      <p:sp>
        <p:nvSpPr>
          <p:cNvPr id="54" name="Rectangle 53">
            <a:extLst>
              <a:ext uri="{FF2B5EF4-FFF2-40B4-BE49-F238E27FC236}">
                <a16:creationId xmlns:a16="http://schemas.microsoft.com/office/drawing/2014/main" id="{3C08EF2A-75E3-F9A1-E8DF-79932EC32E7E}"/>
              </a:ext>
              <a:ext uri="{C183D7F6-B498-43B3-948B-1728B52AA6E4}">
                <adec:decorative xmlns:adec="http://schemas.microsoft.com/office/drawing/2017/decorative" val="1"/>
              </a:ext>
            </a:extLst>
          </p:cNvPr>
          <p:cNvSpPr/>
          <p:nvPr/>
        </p:nvSpPr>
        <p:spPr bwMode="auto">
          <a:xfrm>
            <a:off x="7362765" y="2241755"/>
            <a:ext cx="2850704" cy="3817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spcBef>
                <a:spcPct val="0"/>
              </a:spcBef>
              <a:spcAft>
                <a:spcPct val="0"/>
              </a:spcAft>
              <a:defRPr/>
            </a:pPr>
            <a:r>
              <a:rPr lang="en-US" dirty="0">
                <a:solidFill>
                  <a:srgbClr val="1A1A1A"/>
                </a:solidFill>
                <a:latin typeface="Segoe UI Semibold" panose="020B0702040204020203" pitchFamily="34" charset="0"/>
                <a:ea typeface="Segoe UI" pitchFamily="34" charset="0"/>
                <a:cs typeface="Segoe UI Semibold" panose="020B0702040204020203" pitchFamily="34" charset="0"/>
              </a:rPr>
              <a:t>Multiple regions</a:t>
            </a:r>
          </a:p>
        </p:txBody>
      </p:sp>
      <p:grpSp>
        <p:nvGrpSpPr>
          <p:cNvPr id="55" name="Group 54">
            <a:extLst>
              <a:ext uri="{FF2B5EF4-FFF2-40B4-BE49-F238E27FC236}">
                <a16:creationId xmlns:a16="http://schemas.microsoft.com/office/drawing/2014/main" id="{9AF21E30-7FE7-22DD-0941-132C4002348C}"/>
              </a:ext>
              <a:ext uri="{C183D7F6-B498-43B3-948B-1728B52AA6E4}">
                <adec:decorative xmlns:adec="http://schemas.microsoft.com/office/drawing/2017/decorative" val="1"/>
              </a:ext>
            </a:extLst>
          </p:cNvPr>
          <p:cNvGrpSpPr/>
          <p:nvPr/>
        </p:nvGrpSpPr>
        <p:grpSpPr>
          <a:xfrm>
            <a:off x="1121883" y="2707732"/>
            <a:ext cx="698448" cy="1546887"/>
            <a:chOff x="1055242" y="1898337"/>
            <a:chExt cx="698448" cy="1546887"/>
          </a:xfrm>
        </p:grpSpPr>
        <p:sp>
          <p:nvSpPr>
            <p:cNvPr id="56" name="Database_EFC7" title="Icon of a cylinder">
              <a:extLst>
                <a:ext uri="{FF2B5EF4-FFF2-40B4-BE49-F238E27FC236}">
                  <a16:creationId xmlns:a16="http://schemas.microsoft.com/office/drawing/2014/main" id="{374A6D2C-6D7E-6FF9-9BD9-E8E4597247DA}"/>
                </a:ext>
              </a:extLst>
            </p:cNvPr>
            <p:cNvSpPr>
              <a:spLocks noChangeAspect="1" noEditPoints="1"/>
            </p:cNvSpPr>
            <p:nvPr/>
          </p:nvSpPr>
          <p:spPr bwMode="auto">
            <a:xfrm>
              <a:off x="1055242" y="2630565"/>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57" name="Database_EFC7" title="Icon of a cylinder">
              <a:extLst>
                <a:ext uri="{FF2B5EF4-FFF2-40B4-BE49-F238E27FC236}">
                  <a16:creationId xmlns:a16="http://schemas.microsoft.com/office/drawing/2014/main" id="{B7F84A46-0EF8-9A2E-F3BE-C504DE927045}"/>
                </a:ext>
              </a:extLst>
            </p:cNvPr>
            <p:cNvSpPr>
              <a:spLocks noChangeAspect="1" noEditPoints="1"/>
            </p:cNvSpPr>
            <p:nvPr/>
          </p:nvSpPr>
          <p:spPr bwMode="auto">
            <a:xfrm>
              <a:off x="1210676" y="2785999"/>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9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58" name="Database_EFC7" title="Icon of a cylinder">
              <a:extLst>
                <a:ext uri="{FF2B5EF4-FFF2-40B4-BE49-F238E27FC236}">
                  <a16:creationId xmlns:a16="http://schemas.microsoft.com/office/drawing/2014/main" id="{FA348B76-26C1-15F3-7A40-1B9FBB48C6F2}"/>
                </a:ext>
              </a:extLst>
            </p:cNvPr>
            <p:cNvSpPr>
              <a:spLocks noChangeAspect="1" noEditPoints="1"/>
            </p:cNvSpPr>
            <p:nvPr/>
          </p:nvSpPr>
          <p:spPr bwMode="auto">
            <a:xfrm>
              <a:off x="1366110" y="2941433"/>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9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cxnSp>
          <p:nvCxnSpPr>
            <p:cNvPr id="59" name="Straight Arrow Connector 58">
              <a:extLst>
                <a:ext uri="{FF2B5EF4-FFF2-40B4-BE49-F238E27FC236}">
                  <a16:creationId xmlns:a16="http://schemas.microsoft.com/office/drawing/2014/main" id="{801E4B63-4DD7-9918-2881-93720806EAA4}"/>
                </a:ext>
              </a:extLst>
            </p:cNvPr>
            <p:cNvCxnSpPr>
              <a:cxnSpLocks/>
            </p:cNvCxnSpPr>
            <p:nvPr/>
          </p:nvCxnSpPr>
          <p:spPr>
            <a:xfrm flipV="1">
              <a:off x="1535861" y="1898337"/>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F0CACF19-1662-537F-0749-1349CB7F6DB6}"/>
                </a:ext>
              </a:extLst>
            </p:cNvPr>
            <p:cNvCxnSpPr>
              <a:cxnSpLocks/>
            </p:cNvCxnSpPr>
            <p:nvPr/>
          </p:nvCxnSpPr>
          <p:spPr>
            <a:xfrm flipH="1">
              <a:off x="1245541" y="1898337"/>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5390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57">
            <a:extLst>
              <a:ext uri="{FF2B5EF4-FFF2-40B4-BE49-F238E27FC236}">
                <a16:creationId xmlns:a16="http://schemas.microsoft.com/office/drawing/2014/main" id="{6248028F-8ADF-DFB7-E07C-46214CF1B61D}"/>
              </a:ext>
            </a:extLst>
          </p:cNvPr>
          <p:cNvSpPr txBox="1">
            <a:spLocks/>
          </p:cNvSpPr>
          <p:nvPr/>
        </p:nvSpPr>
        <p:spPr>
          <a:xfrm>
            <a:off x="282282" y="1243207"/>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a:t>Determine Replication Strategies (2 of 2)</a:t>
            </a:r>
            <a:endParaRPr lang="en-US" sz="2800" dirty="0"/>
          </a:p>
        </p:txBody>
      </p:sp>
      <p:sp>
        <p:nvSpPr>
          <p:cNvPr id="11" name="Rectangle 10">
            <a:extLst>
              <a:ext uri="{FF2B5EF4-FFF2-40B4-BE49-F238E27FC236}">
                <a16:creationId xmlns:a16="http://schemas.microsoft.com/office/drawing/2014/main" id="{18F2C74E-A327-2DAA-FF90-0C927E61C3B1}"/>
              </a:ext>
            </a:extLst>
          </p:cNvPr>
          <p:cNvSpPr/>
          <p:nvPr/>
        </p:nvSpPr>
        <p:spPr bwMode="auto">
          <a:xfrm>
            <a:off x="905766" y="4440562"/>
            <a:ext cx="4668893" cy="255244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spcBef>
                <a:spcPct val="0"/>
              </a:spcBef>
              <a:spcAft>
                <a:spcPts val="600"/>
              </a:spcAft>
              <a:defRPr/>
            </a:pPr>
            <a:r>
              <a:rPr lang="en-US" sz="2000" b="1" dirty="0">
                <a:solidFill>
                  <a:schemeClr val="accent1">
                    <a:lumMod val="50000"/>
                  </a:schemeClr>
                </a:solidFill>
                <a:ea typeface="Segoe UI" pitchFamily="34" charset="0"/>
                <a:cs typeface="Segoe UI Semibold" panose="020B0702040204020203" pitchFamily="34" charset="0"/>
              </a:rPr>
              <a:t>GZRS</a:t>
            </a:r>
            <a:endParaRPr lang="en-US" sz="2000" b="1" dirty="0">
              <a:gradFill>
                <a:gsLst>
                  <a:gs pos="0">
                    <a:srgbClr val="FFFFFF"/>
                  </a:gs>
                  <a:gs pos="100000">
                    <a:srgbClr val="FFFFFF"/>
                  </a:gs>
                </a:gsLst>
                <a:lin ang="5400000" scaled="0"/>
              </a:gradFill>
              <a:ea typeface="Segoe UI" pitchFamily="34" charset="0"/>
              <a:cs typeface="Segoe UI" pitchFamily="34" charset="0"/>
            </a:endParaRPr>
          </a:p>
          <a:p>
            <a:pPr marL="291436" indent="-291436" defTabSz="932293" fontAlgn="base">
              <a:spcBef>
                <a:spcPct val="0"/>
              </a:spcBef>
              <a:spcAft>
                <a:spcPts val="612"/>
              </a:spcAft>
              <a:buFont typeface="Arial" panose="020B0604020202020204" pitchFamily="34" charset="0"/>
              <a:buChar char="•"/>
              <a:defRPr/>
            </a:pPr>
            <a:r>
              <a:rPr lang="en-US" sz="2000" dirty="0">
                <a:solidFill>
                  <a:srgbClr val="2F2F2F"/>
                </a:solidFill>
                <a:ea typeface="Segoe UI" panose="020B0502040204020203" pitchFamily="34" charset="0"/>
                <a:cs typeface="Segoe UI" panose="020B0502040204020203" pitchFamily="34" charset="0"/>
              </a:rPr>
              <a:t>Six replicas, 3+1 zones, two regions</a:t>
            </a:r>
          </a:p>
          <a:p>
            <a:pPr marL="291436" indent="-291436" defTabSz="932293" fontAlgn="base">
              <a:spcBef>
                <a:spcPct val="0"/>
              </a:spcBef>
              <a:spcAft>
                <a:spcPts val="612"/>
              </a:spcAft>
              <a:buFont typeface="Arial" panose="020B0604020202020204" pitchFamily="34" charset="0"/>
              <a:buChar char="•"/>
              <a:defRPr/>
            </a:pPr>
            <a:r>
              <a:rPr lang="en-US" sz="2000" dirty="0">
                <a:solidFill>
                  <a:srgbClr val="2F2F2F"/>
                </a:solidFill>
                <a:ea typeface="Segoe UI" panose="020B0502040204020203" pitchFamily="34" charset="0"/>
                <a:cs typeface="Segoe UI" panose="020B0502040204020203" pitchFamily="34" charset="0"/>
              </a:rPr>
              <a:t>Protects against disk, node, rack, zone, and region failures</a:t>
            </a:r>
          </a:p>
          <a:p>
            <a:pPr marL="291436" indent="-291436" defTabSz="932293" fontAlgn="base">
              <a:spcBef>
                <a:spcPct val="0"/>
              </a:spcBef>
              <a:spcAft>
                <a:spcPts val="612"/>
              </a:spcAft>
              <a:buFont typeface="Arial" panose="020B0604020202020204" pitchFamily="34" charset="0"/>
              <a:buChar char="•"/>
              <a:defRPr/>
            </a:pPr>
            <a:r>
              <a:rPr lang="en-US" sz="2000" dirty="0">
                <a:solidFill>
                  <a:srgbClr val="2F2F2F"/>
                </a:solidFill>
                <a:ea typeface="Segoe UI" panose="020B0502040204020203" pitchFamily="34" charset="0"/>
                <a:cs typeface="Segoe UI" panose="020B0502040204020203" pitchFamily="34" charset="0"/>
              </a:rPr>
              <a:t>Synchronous writes to all three zones and a</a:t>
            </a:r>
            <a:r>
              <a:rPr lang="en-US" sz="2000" dirty="0">
                <a:solidFill>
                  <a:srgbClr val="2F2F2F"/>
                </a:solidFill>
                <a:cs typeface="Segoe UI" panose="020B0502040204020203" pitchFamily="34" charset="0"/>
              </a:rPr>
              <a:t>synchronous copy to secondary</a:t>
            </a:r>
            <a:endParaRPr lang="en-US" sz="2000" dirty="0">
              <a:solidFill>
                <a:srgbClr val="2F2F2F"/>
              </a:solidFill>
              <a:ea typeface="Segoe UI" panose="020B0502040204020203" pitchFamily="34" charset="0"/>
              <a:cs typeface="Segoe UI" panose="020B0502040204020203" pitchFamily="34" charset="0"/>
            </a:endParaRPr>
          </a:p>
          <a:p>
            <a:pPr defTabSz="932293" fontAlgn="base">
              <a:spcBef>
                <a:spcPct val="0"/>
              </a:spcBef>
              <a:spcAft>
                <a:spcPct val="0"/>
              </a:spcAft>
              <a:defRPr/>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11">
            <a:extLst>
              <a:ext uri="{FF2B5EF4-FFF2-40B4-BE49-F238E27FC236}">
                <a16:creationId xmlns:a16="http://schemas.microsoft.com/office/drawing/2014/main" id="{B9A98BBE-9ECC-78AB-95C3-3C609CAEA877}"/>
              </a:ext>
            </a:extLst>
          </p:cNvPr>
          <p:cNvSpPr/>
          <p:nvPr/>
        </p:nvSpPr>
        <p:spPr bwMode="auto">
          <a:xfrm>
            <a:off x="6773095" y="4485959"/>
            <a:ext cx="3986447" cy="255244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spcBef>
                <a:spcPct val="0"/>
              </a:spcBef>
              <a:spcAft>
                <a:spcPts val="600"/>
              </a:spcAft>
              <a:defRPr/>
            </a:pPr>
            <a:r>
              <a:rPr lang="en-US" sz="2000" b="1" dirty="0">
                <a:solidFill>
                  <a:schemeClr val="accent1">
                    <a:lumMod val="50000"/>
                  </a:schemeClr>
                </a:solidFill>
                <a:latin typeface="Segoe UI Semibold" panose="020B0702040204020203" pitchFamily="34" charset="0"/>
                <a:ea typeface="Segoe UI" pitchFamily="34" charset="0"/>
                <a:cs typeface="Segoe UI Semibold" panose="020B0702040204020203" pitchFamily="34" charset="0"/>
              </a:rPr>
              <a:t>RA-GZRS</a:t>
            </a:r>
            <a:endParaRPr lang="en-US" b="1" dirty="0">
              <a:gradFill>
                <a:gsLst>
                  <a:gs pos="0">
                    <a:srgbClr val="FFFFFF"/>
                  </a:gs>
                  <a:gs pos="100000">
                    <a:srgbClr val="FFFFFF"/>
                  </a:gs>
                </a:gsLst>
                <a:lin ang="5400000" scaled="0"/>
              </a:gradFill>
              <a:latin typeface="Segoe UI Semilight"/>
              <a:ea typeface="Segoe UI" pitchFamily="34" charset="0"/>
              <a:cs typeface="Segoe UI" pitchFamily="34" charset="0"/>
            </a:endParaRPr>
          </a:p>
          <a:p>
            <a:pPr marL="291436" indent="-291436" defTabSz="932293" fontAlgn="base">
              <a:spcBef>
                <a:spcPct val="0"/>
              </a:spcBef>
              <a:spcAft>
                <a:spcPts val="612"/>
              </a:spcAft>
              <a:buFont typeface="Arial" panose="020B0604020202020204" pitchFamily="34" charset="0"/>
              <a:buChar char="•"/>
              <a:defRPr/>
            </a:pPr>
            <a:r>
              <a:rPr lang="en-US" sz="2000" dirty="0">
                <a:solidFill>
                  <a:srgbClr val="2F2F2F"/>
                </a:solidFill>
                <a:ea typeface="Segoe UI" panose="020B0502040204020203" pitchFamily="34" charset="0"/>
                <a:cs typeface="Segoe UI" panose="020B0502040204020203" pitchFamily="34" charset="0"/>
              </a:rPr>
              <a:t>GZRS + read access to secondary</a:t>
            </a:r>
          </a:p>
          <a:p>
            <a:pPr marL="291436" indent="-291436" defTabSz="932293" fontAlgn="base">
              <a:spcBef>
                <a:spcPct val="0"/>
              </a:spcBef>
              <a:spcAft>
                <a:spcPts val="612"/>
              </a:spcAft>
              <a:buFont typeface="Arial" panose="020B0604020202020204" pitchFamily="34" charset="0"/>
              <a:buChar char="•"/>
              <a:defRPr/>
            </a:pPr>
            <a:r>
              <a:rPr lang="en-US" sz="2000" dirty="0">
                <a:solidFill>
                  <a:srgbClr val="2F2F2F"/>
                </a:solidFill>
                <a:ea typeface="Segoe UI" panose="020B0502040204020203" pitchFamily="34" charset="0"/>
                <a:cs typeface="Segoe UI" panose="020B0502040204020203" pitchFamily="34" charset="0"/>
              </a:rPr>
              <a:t>Separate secondary endpoint</a:t>
            </a:r>
          </a:p>
          <a:p>
            <a:pPr marL="291436" indent="-291436" defTabSz="932293" fontAlgn="base">
              <a:spcBef>
                <a:spcPct val="0"/>
              </a:spcBef>
              <a:spcAft>
                <a:spcPts val="612"/>
              </a:spcAft>
              <a:buFont typeface="Arial" panose="020B0604020202020204" pitchFamily="34" charset="0"/>
              <a:buChar char="•"/>
              <a:defRPr/>
            </a:pPr>
            <a:r>
              <a:rPr lang="en-US" sz="2000" dirty="0">
                <a:solidFill>
                  <a:srgbClr val="2F2F2F"/>
                </a:solidFill>
                <a:ea typeface="Segoe UI" panose="020B0502040204020203" pitchFamily="34" charset="0"/>
                <a:cs typeface="Segoe UI" panose="020B0502040204020203" pitchFamily="34" charset="0"/>
              </a:rPr>
              <a:t>RPO delay to secondary can be queried</a:t>
            </a:r>
            <a:endParaRPr lang="en-US" sz="2000" dirty="0">
              <a:solidFill>
                <a:srgbClr val="2F2F2F"/>
              </a:solidFill>
            </a:endParaRPr>
          </a:p>
        </p:txBody>
      </p:sp>
      <p:sp>
        <p:nvSpPr>
          <p:cNvPr id="13" name="Rectangle 12">
            <a:extLst>
              <a:ext uri="{FF2B5EF4-FFF2-40B4-BE49-F238E27FC236}">
                <a16:creationId xmlns:a16="http://schemas.microsoft.com/office/drawing/2014/main" id="{2E08D0B1-3284-E6D4-9423-482B950E0C5A}"/>
              </a:ext>
              <a:ext uri="{C183D7F6-B498-43B3-948B-1728B52AA6E4}">
                <adec:decorative xmlns:adec="http://schemas.microsoft.com/office/drawing/2017/decorative" val="1"/>
              </a:ext>
            </a:extLst>
          </p:cNvPr>
          <p:cNvSpPr/>
          <p:nvPr/>
        </p:nvSpPr>
        <p:spPr bwMode="auto">
          <a:xfrm>
            <a:off x="4927645" y="1899045"/>
            <a:ext cx="2850704" cy="3817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spcBef>
                <a:spcPct val="0"/>
              </a:spcBef>
              <a:spcAft>
                <a:spcPct val="0"/>
              </a:spcAft>
              <a:defRPr/>
            </a:pPr>
            <a:r>
              <a:rPr lang="en-US" dirty="0">
                <a:solidFill>
                  <a:srgbClr val="1A1A1A"/>
                </a:solidFill>
                <a:latin typeface="Segoe UI Semibold" panose="020B0702040204020203" pitchFamily="34" charset="0"/>
                <a:ea typeface="Segoe UI" pitchFamily="34" charset="0"/>
                <a:cs typeface="Segoe UI Semibold" panose="020B0702040204020203" pitchFamily="34" charset="0"/>
              </a:rPr>
              <a:t>Multiple regions</a:t>
            </a:r>
          </a:p>
        </p:txBody>
      </p:sp>
      <p:sp>
        <p:nvSpPr>
          <p:cNvPr id="14" name="TextBox 13">
            <a:extLst>
              <a:ext uri="{FF2B5EF4-FFF2-40B4-BE49-F238E27FC236}">
                <a16:creationId xmlns:a16="http://schemas.microsoft.com/office/drawing/2014/main" id="{0B80FF44-464C-C749-122B-3A85C5174E90}"/>
              </a:ext>
              <a:ext uri="{C183D7F6-B498-43B3-948B-1728B52AA6E4}">
                <adec:decorative xmlns:adec="http://schemas.microsoft.com/office/drawing/2017/decorative" val="1"/>
              </a:ext>
            </a:extLst>
          </p:cNvPr>
          <p:cNvSpPr txBox="1"/>
          <p:nvPr/>
        </p:nvSpPr>
        <p:spPr>
          <a:xfrm>
            <a:off x="8627759" y="2287329"/>
            <a:ext cx="1091616" cy="683222"/>
          </a:xfrm>
          <a:prstGeom prst="rect">
            <a:avLst/>
          </a:prstGeom>
          <a:noFill/>
        </p:spPr>
        <p:txBody>
          <a:bodyPr wrap="square" lIns="182854" tIns="146283" rIns="182854" bIns="146283" rtlCol="0">
            <a:spAutoFit/>
          </a:bodyPr>
          <a:lstStyle/>
          <a:p>
            <a:pPr defTabSz="932563">
              <a:lnSpc>
                <a:spcPct val="90000"/>
              </a:lnSpc>
              <a:spcAft>
                <a:spcPts val="600"/>
              </a:spcAft>
              <a:defRPr/>
            </a:pPr>
            <a:r>
              <a:rPr lang="en-US" sz="1400" dirty="0"/>
              <a:t>Typically, &gt;300mi</a:t>
            </a:r>
          </a:p>
        </p:txBody>
      </p:sp>
      <p:sp>
        <p:nvSpPr>
          <p:cNvPr id="15" name="TextBox 14">
            <a:extLst>
              <a:ext uri="{FF2B5EF4-FFF2-40B4-BE49-F238E27FC236}">
                <a16:creationId xmlns:a16="http://schemas.microsoft.com/office/drawing/2014/main" id="{191277EC-2213-60A9-9BF8-09C3CB0CC823}"/>
              </a:ext>
              <a:ext uri="{C183D7F6-B498-43B3-948B-1728B52AA6E4}">
                <adec:decorative xmlns:adec="http://schemas.microsoft.com/office/drawing/2017/decorative" val="1"/>
              </a:ext>
            </a:extLst>
          </p:cNvPr>
          <p:cNvSpPr txBox="1"/>
          <p:nvPr/>
        </p:nvSpPr>
        <p:spPr>
          <a:xfrm>
            <a:off x="9176793" y="3716024"/>
            <a:ext cx="890982" cy="683222"/>
          </a:xfrm>
          <a:prstGeom prst="rect">
            <a:avLst/>
          </a:prstGeom>
          <a:noFill/>
        </p:spPr>
        <p:txBody>
          <a:bodyPr wrap="square" lIns="182854" tIns="146283" rIns="182854" bIns="146283" rtlCol="0">
            <a:spAutoFit/>
          </a:bodyPr>
          <a:lstStyle/>
          <a:p>
            <a:pPr defTabSz="932563">
              <a:lnSpc>
                <a:spcPct val="90000"/>
              </a:lnSpc>
              <a:spcAft>
                <a:spcPts val="600"/>
              </a:spcAft>
              <a:defRPr/>
            </a:pPr>
            <a:r>
              <a:rPr lang="en-US" sz="1400" dirty="0"/>
              <a:t>Async   Read</a:t>
            </a:r>
          </a:p>
        </p:txBody>
      </p:sp>
      <p:sp>
        <p:nvSpPr>
          <p:cNvPr id="16" name="TextBox 15">
            <a:extLst>
              <a:ext uri="{FF2B5EF4-FFF2-40B4-BE49-F238E27FC236}">
                <a16:creationId xmlns:a16="http://schemas.microsoft.com/office/drawing/2014/main" id="{12BABBC8-30B7-9D58-A926-9DEFCE5EB527}"/>
              </a:ext>
              <a:ext uri="{C183D7F6-B498-43B3-948B-1728B52AA6E4}">
                <adec:decorative xmlns:adec="http://schemas.microsoft.com/office/drawing/2017/decorative" val="1"/>
              </a:ext>
            </a:extLst>
          </p:cNvPr>
          <p:cNvSpPr txBox="1"/>
          <p:nvPr/>
        </p:nvSpPr>
        <p:spPr>
          <a:xfrm>
            <a:off x="10429114" y="3290372"/>
            <a:ext cx="1080655" cy="461600"/>
          </a:xfrm>
          <a:prstGeom prst="rect">
            <a:avLst/>
          </a:prstGeom>
          <a:noFill/>
        </p:spPr>
        <p:txBody>
          <a:bodyPr wrap="none" lIns="182854" tIns="146283" rIns="182854" bIns="146283" rtlCol="0">
            <a:spAutoFit/>
          </a:bodyPr>
          <a:lstStyle/>
          <a:p>
            <a:pPr defTabSz="932563">
              <a:lnSpc>
                <a:spcPct val="90000"/>
              </a:lnSpc>
              <a:spcAft>
                <a:spcPts val="600"/>
              </a:spcAft>
              <a:defRPr/>
            </a:pPr>
            <a:r>
              <a:rPr lang="en-US" sz="1400" dirty="0"/>
              <a:t>Secondary</a:t>
            </a:r>
          </a:p>
        </p:txBody>
      </p:sp>
      <p:grpSp>
        <p:nvGrpSpPr>
          <p:cNvPr id="17" name="Group 16">
            <a:extLst>
              <a:ext uri="{FF2B5EF4-FFF2-40B4-BE49-F238E27FC236}">
                <a16:creationId xmlns:a16="http://schemas.microsoft.com/office/drawing/2014/main" id="{D8D5059C-D097-EA22-FC40-93614A15947D}"/>
              </a:ext>
              <a:ext uri="{C183D7F6-B498-43B3-948B-1728B52AA6E4}">
                <adec:decorative xmlns:adec="http://schemas.microsoft.com/office/drawing/2017/decorative" val="1"/>
              </a:ext>
            </a:extLst>
          </p:cNvPr>
          <p:cNvGrpSpPr/>
          <p:nvPr/>
        </p:nvGrpSpPr>
        <p:grpSpPr>
          <a:xfrm>
            <a:off x="7648953" y="2287329"/>
            <a:ext cx="2885762" cy="1719939"/>
            <a:chOff x="7408467" y="1731392"/>
            <a:chExt cx="2885762" cy="1719939"/>
          </a:xfrm>
        </p:grpSpPr>
        <p:cxnSp>
          <p:nvCxnSpPr>
            <p:cNvPr id="18" name="Straight Arrow Connector 17">
              <a:extLst>
                <a:ext uri="{FF2B5EF4-FFF2-40B4-BE49-F238E27FC236}">
                  <a16:creationId xmlns:a16="http://schemas.microsoft.com/office/drawing/2014/main" id="{A091B3A5-91B7-F7F7-E50B-4874BC83A8B7}"/>
                </a:ext>
              </a:extLst>
            </p:cNvPr>
            <p:cNvCxnSpPr>
              <a:cxnSpLocks/>
            </p:cNvCxnSpPr>
            <p:nvPr/>
          </p:nvCxnSpPr>
          <p:spPr>
            <a:xfrm>
              <a:off x="8124302" y="1731392"/>
              <a:ext cx="0" cy="474532"/>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Database_EFC7" title="Icon of a cylinder">
              <a:extLst>
                <a:ext uri="{FF2B5EF4-FFF2-40B4-BE49-F238E27FC236}">
                  <a16:creationId xmlns:a16="http://schemas.microsoft.com/office/drawing/2014/main" id="{C1024C64-0ADF-29F9-CADA-415B91E1DE93}"/>
                </a:ext>
              </a:extLst>
            </p:cNvPr>
            <p:cNvSpPr>
              <a:spLocks noChangeAspect="1" noEditPoints="1"/>
            </p:cNvSpPr>
            <p:nvPr/>
          </p:nvSpPr>
          <p:spPr bwMode="auto">
            <a:xfrm>
              <a:off x="7408467" y="2900167"/>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Z2</a:t>
              </a:r>
            </a:p>
          </p:txBody>
        </p:sp>
        <p:cxnSp>
          <p:nvCxnSpPr>
            <p:cNvPr id="20" name="Straight Arrow Connector 19">
              <a:extLst>
                <a:ext uri="{FF2B5EF4-FFF2-40B4-BE49-F238E27FC236}">
                  <a16:creationId xmlns:a16="http://schemas.microsoft.com/office/drawing/2014/main" id="{6E2CD21A-F85E-4FD3-9B9A-CD68D92B4DA9}"/>
                </a:ext>
              </a:extLst>
            </p:cNvPr>
            <p:cNvCxnSpPr>
              <a:cxnSpLocks/>
            </p:cNvCxnSpPr>
            <p:nvPr/>
          </p:nvCxnSpPr>
          <p:spPr>
            <a:xfrm flipH="1">
              <a:off x="7564239" y="1877593"/>
              <a:ext cx="452472" cy="896108"/>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F249537-60E7-D3A0-78DF-038157E488DB}"/>
                </a:ext>
              </a:extLst>
            </p:cNvPr>
            <p:cNvCxnSpPr>
              <a:cxnSpLocks/>
            </p:cNvCxnSpPr>
            <p:nvPr/>
          </p:nvCxnSpPr>
          <p:spPr>
            <a:xfrm>
              <a:off x="8233115" y="1877593"/>
              <a:ext cx="413137" cy="910047"/>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Database_EFC7" title="Icon of a cylinder">
              <a:extLst>
                <a:ext uri="{FF2B5EF4-FFF2-40B4-BE49-F238E27FC236}">
                  <a16:creationId xmlns:a16="http://schemas.microsoft.com/office/drawing/2014/main" id="{9EFFBCEB-8309-95EF-9DEA-E998F75133C7}"/>
                </a:ext>
              </a:extLst>
            </p:cNvPr>
            <p:cNvSpPr>
              <a:spLocks noChangeAspect="1" noEditPoints="1"/>
            </p:cNvSpPr>
            <p:nvPr/>
          </p:nvSpPr>
          <p:spPr bwMode="auto">
            <a:xfrm>
              <a:off x="9595781" y="2540559"/>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bg1">
                  <a:lumMod val="50000"/>
                </a:schemeClr>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rgbClr val="2F2F2F"/>
                </a:solidFill>
                <a:latin typeface="Segoe UI"/>
              </a:endParaRPr>
            </a:p>
          </p:txBody>
        </p:sp>
        <p:sp>
          <p:nvSpPr>
            <p:cNvPr id="23" name="Database_EFC7" title="Icon of a cylinder">
              <a:extLst>
                <a:ext uri="{FF2B5EF4-FFF2-40B4-BE49-F238E27FC236}">
                  <a16:creationId xmlns:a16="http://schemas.microsoft.com/office/drawing/2014/main" id="{8AB5C39C-3C24-7F62-6619-23427FC7F352}"/>
                </a:ext>
              </a:extLst>
            </p:cNvPr>
            <p:cNvSpPr>
              <a:spLocks noChangeAspect="1" noEditPoints="1"/>
            </p:cNvSpPr>
            <p:nvPr/>
          </p:nvSpPr>
          <p:spPr bwMode="auto">
            <a:xfrm>
              <a:off x="9751215" y="2695993"/>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bg1">
                  <a:lumMod val="50000"/>
                </a:schemeClr>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rgbClr val="2F2F2F"/>
                </a:solidFill>
                <a:latin typeface="Segoe UI"/>
              </a:endParaRPr>
            </a:p>
          </p:txBody>
        </p:sp>
        <p:sp>
          <p:nvSpPr>
            <p:cNvPr id="24" name="Database_EFC7" title="Icon of a cylinder">
              <a:extLst>
                <a:ext uri="{FF2B5EF4-FFF2-40B4-BE49-F238E27FC236}">
                  <a16:creationId xmlns:a16="http://schemas.microsoft.com/office/drawing/2014/main" id="{40227D70-9754-D225-EA87-130ED5C4DABF}"/>
                </a:ext>
              </a:extLst>
            </p:cNvPr>
            <p:cNvSpPr>
              <a:spLocks noChangeAspect="1" noEditPoints="1"/>
            </p:cNvSpPr>
            <p:nvPr/>
          </p:nvSpPr>
          <p:spPr bwMode="auto">
            <a:xfrm>
              <a:off x="9906649" y="2851427"/>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bg1">
                  <a:lumMod val="50000"/>
                </a:schemeClr>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rgbClr val="2F2F2F"/>
                </a:solidFill>
                <a:latin typeface="Segoe UI"/>
              </a:endParaRPr>
            </a:p>
          </p:txBody>
        </p:sp>
        <p:cxnSp>
          <p:nvCxnSpPr>
            <p:cNvPr id="25" name="Straight Arrow Connector 24">
              <a:extLst>
                <a:ext uri="{FF2B5EF4-FFF2-40B4-BE49-F238E27FC236}">
                  <a16:creationId xmlns:a16="http://schemas.microsoft.com/office/drawing/2014/main" id="{2C3C8EEB-9CDC-B64E-1D52-69EA2C3AE136}"/>
                </a:ext>
              </a:extLst>
            </p:cNvPr>
            <p:cNvCxnSpPr>
              <a:cxnSpLocks/>
            </p:cNvCxnSpPr>
            <p:nvPr/>
          </p:nvCxnSpPr>
          <p:spPr>
            <a:xfrm>
              <a:off x="9041907" y="3204360"/>
              <a:ext cx="666634" cy="0"/>
            </a:xfrm>
            <a:prstGeom prst="straightConnector1">
              <a:avLst/>
            </a:prstGeom>
            <a:ln w="28575">
              <a:solidFill>
                <a:schemeClr val="accent2">
                  <a:lumMod val="90000"/>
                  <a:lumOff val="1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Database_EFC7" title="Icon of a cylinder">
              <a:extLst>
                <a:ext uri="{FF2B5EF4-FFF2-40B4-BE49-F238E27FC236}">
                  <a16:creationId xmlns:a16="http://schemas.microsoft.com/office/drawing/2014/main" id="{DE034706-E4DC-F71E-D497-8BCDE2F52743}"/>
                </a:ext>
              </a:extLst>
            </p:cNvPr>
            <p:cNvSpPr>
              <a:spLocks noChangeAspect="1" noEditPoints="1"/>
            </p:cNvSpPr>
            <p:nvPr/>
          </p:nvSpPr>
          <p:spPr bwMode="auto">
            <a:xfrm>
              <a:off x="8488049" y="2911066"/>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Z3</a:t>
              </a:r>
            </a:p>
          </p:txBody>
        </p:sp>
        <p:sp>
          <p:nvSpPr>
            <p:cNvPr id="27" name="Database_EFC7" title="Icon of a cylinder">
              <a:extLst>
                <a:ext uri="{FF2B5EF4-FFF2-40B4-BE49-F238E27FC236}">
                  <a16:creationId xmlns:a16="http://schemas.microsoft.com/office/drawing/2014/main" id="{73DC9831-7FA8-753C-9887-E2C16FB51888}"/>
                </a:ext>
              </a:extLst>
            </p:cNvPr>
            <p:cNvSpPr>
              <a:spLocks noChangeAspect="1" noEditPoints="1"/>
            </p:cNvSpPr>
            <p:nvPr/>
          </p:nvSpPr>
          <p:spPr bwMode="auto">
            <a:xfrm>
              <a:off x="7934801" y="2299678"/>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Z1</a:t>
              </a:r>
            </a:p>
          </p:txBody>
        </p:sp>
      </p:grpSp>
      <p:sp>
        <p:nvSpPr>
          <p:cNvPr id="28" name="TextBox 27">
            <a:extLst>
              <a:ext uri="{FF2B5EF4-FFF2-40B4-BE49-F238E27FC236}">
                <a16:creationId xmlns:a16="http://schemas.microsoft.com/office/drawing/2014/main" id="{892E7117-F9DF-A60B-3B50-25939092DACB}"/>
              </a:ext>
              <a:ext uri="{C183D7F6-B498-43B3-948B-1728B52AA6E4}">
                <adec:decorative xmlns:adec="http://schemas.microsoft.com/office/drawing/2017/decorative" val="1"/>
              </a:ext>
            </a:extLst>
          </p:cNvPr>
          <p:cNvSpPr txBox="1"/>
          <p:nvPr/>
        </p:nvSpPr>
        <p:spPr>
          <a:xfrm>
            <a:off x="3366914" y="2670971"/>
            <a:ext cx="1725869" cy="489322"/>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t>Typically</a:t>
            </a:r>
            <a:r>
              <a:rPr lang="en-US" sz="1400" dirty="0">
                <a:gradFill>
                  <a:gsLst>
                    <a:gs pos="2917">
                      <a:srgbClr val="505050"/>
                    </a:gs>
                    <a:gs pos="30000">
                      <a:srgbClr val="505050"/>
                    </a:gs>
                  </a:gsLst>
                  <a:lin ang="5400000" scaled="0"/>
                </a:gradFill>
              </a:rPr>
              <a:t>, &gt;300mi</a:t>
            </a:r>
          </a:p>
        </p:txBody>
      </p:sp>
      <p:sp>
        <p:nvSpPr>
          <p:cNvPr id="29" name="TextBox 28">
            <a:extLst>
              <a:ext uri="{FF2B5EF4-FFF2-40B4-BE49-F238E27FC236}">
                <a16:creationId xmlns:a16="http://schemas.microsoft.com/office/drawing/2014/main" id="{0F203317-9572-465A-6744-4DDA0ED37884}"/>
              </a:ext>
              <a:ext uri="{C183D7F6-B498-43B3-948B-1728B52AA6E4}">
                <adec:decorative xmlns:adec="http://schemas.microsoft.com/office/drawing/2017/decorative" val="1"/>
              </a:ext>
            </a:extLst>
          </p:cNvPr>
          <p:cNvSpPr txBox="1"/>
          <p:nvPr/>
        </p:nvSpPr>
        <p:spPr>
          <a:xfrm>
            <a:off x="3768510" y="3716024"/>
            <a:ext cx="765165" cy="461600"/>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gradFill>
                  <a:gsLst>
                    <a:gs pos="2917">
                      <a:srgbClr val="505050"/>
                    </a:gs>
                    <a:gs pos="30000">
                      <a:srgbClr val="505050"/>
                    </a:gs>
                  </a:gsLst>
                  <a:lin ang="5400000" scaled="0"/>
                </a:gradFill>
              </a:rPr>
              <a:t>Async</a:t>
            </a:r>
          </a:p>
        </p:txBody>
      </p:sp>
      <p:sp>
        <p:nvSpPr>
          <p:cNvPr id="30" name="TextBox 29">
            <a:extLst>
              <a:ext uri="{FF2B5EF4-FFF2-40B4-BE49-F238E27FC236}">
                <a16:creationId xmlns:a16="http://schemas.microsoft.com/office/drawing/2014/main" id="{998DC484-AB0D-2EA4-B4A5-D3E822C49856}"/>
              </a:ext>
              <a:ext uri="{C183D7F6-B498-43B3-948B-1728B52AA6E4}">
                <adec:decorative xmlns:adec="http://schemas.microsoft.com/office/drawing/2017/decorative" val="1"/>
              </a:ext>
            </a:extLst>
          </p:cNvPr>
          <p:cNvSpPr txBox="1"/>
          <p:nvPr/>
        </p:nvSpPr>
        <p:spPr>
          <a:xfrm>
            <a:off x="5008861" y="3244596"/>
            <a:ext cx="1080655" cy="461600"/>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gradFill>
                  <a:gsLst>
                    <a:gs pos="2917">
                      <a:srgbClr val="505050"/>
                    </a:gs>
                    <a:gs pos="30000">
                      <a:srgbClr val="505050"/>
                    </a:gs>
                  </a:gsLst>
                  <a:lin ang="5400000" scaled="0"/>
                </a:gradFill>
              </a:rPr>
              <a:t>Secondary</a:t>
            </a:r>
          </a:p>
        </p:txBody>
      </p:sp>
      <p:grpSp>
        <p:nvGrpSpPr>
          <p:cNvPr id="31" name="Group 30">
            <a:extLst>
              <a:ext uri="{FF2B5EF4-FFF2-40B4-BE49-F238E27FC236}">
                <a16:creationId xmlns:a16="http://schemas.microsoft.com/office/drawing/2014/main" id="{F726523D-1664-09CC-639B-576E5F85ABC2}"/>
              </a:ext>
              <a:ext uri="{C183D7F6-B498-43B3-948B-1728B52AA6E4}">
                <adec:decorative xmlns:adec="http://schemas.microsoft.com/office/drawing/2017/decorative" val="1"/>
              </a:ext>
            </a:extLst>
          </p:cNvPr>
          <p:cNvGrpSpPr/>
          <p:nvPr/>
        </p:nvGrpSpPr>
        <p:grpSpPr>
          <a:xfrm>
            <a:off x="2190927" y="2287329"/>
            <a:ext cx="2903832" cy="1690687"/>
            <a:chOff x="1950441" y="1731392"/>
            <a:chExt cx="2903832" cy="1690687"/>
          </a:xfrm>
        </p:grpSpPr>
        <p:cxnSp>
          <p:nvCxnSpPr>
            <p:cNvPr id="32" name="Straight Arrow Connector 31">
              <a:extLst>
                <a:ext uri="{FF2B5EF4-FFF2-40B4-BE49-F238E27FC236}">
                  <a16:creationId xmlns:a16="http://schemas.microsoft.com/office/drawing/2014/main" id="{2AA07157-A6B8-2215-903F-264EFA6DF5EF}"/>
                </a:ext>
              </a:extLst>
            </p:cNvPr>
            <p:cNvCxnSpPr>
              <a:cxnSpLocks/>
            </p:cNvCxnSpPr>
            <p:nvPr/>
          </p:nvCxnSpPr>
          <p:spPr>
            <a:xfrm>
              <a:off x="2684346" y="1731392"/>
              <a:ext cx="0" cy="474532"/>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0CA81A3-5DAC-F346-EBAB-8911DF78B180}"/>
                </a:ext>
              </a:extLst>
            </p:cNvPr>
            <p:cNvCxnSpPr>
              <a:cxnSpLocks/>
            </p:cNvCxnSpPr>
            <p:nvPr/>
          </p:nvCxnSpPr>
          <p:spPr>
            <a:xfrm flipH="1">
              <a:off x="2124283" y="1877593"/>
              <a:ext cx="452472" cy="896108"/>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97883CD-4A43-ADBA-D8F7-C9E2A633EB6E}"/>
                </a:ext>
              </a:extLst>
            </p:cNvPr>
            <p:cNvCxnSpPr>
              <a:cxnSpLocks/>
            </p:cNvCxnSpPr>
            <p:nvPr/>
          </p:nvCxnSpPr>
          <p:spPr>
            <a:xfrm>
              <a:off x="2793159" y="1877593"/>
              <a:ext cx="413137" cy="910047"/>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5" name="Database_EFC7" title="Icon of a cylinder">
              <a:extLst>
                <a:ext uri="{FF2B5EF4-FFF2-40B4-BE49-F238E27FC236}">
                  <a16:creationId xmlns:a16="http://schemas.microsoft.com/office/drawing/2014/main" id="{75A76C0F-534A-6784-1CCC-2FB32E01AB77}"/>
                </a:ext>
              </a:extLst>
            </p:cNvPr>
            <p:cNvSpPr>
              <a:spLocks noChangeAspect="1" noEditPoints="1"/>
            </p:cNvSpPr>
            <p:nvPr/>
          </p:nvSpPr>
          <p:spPr bwMode="auto">
            <a:xfrm>
              <a:off x="4155825" y="2540559"/>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bg1">
                  <a:lumMod val="50000"/>
                </a:schemeClr>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400" dirty="0">
                <a:solidFill>
                  <a:srgbClr val="2F2F2F"/>
                </a:solidFill>
              </a:endParaRPr>
            </a:p>
          </p:txBody>
        </p:sp>
        <p:sp>
          <p:nvSpPr>
            <p:cNvPr id="36" name="Database_EFC7" title="Icon of a cylinder">
              <a:extLst>
                <a:ext uri="{FF2B5EF4-FFF2-40B4-BE49-F238E27FC236}">
                  <a16:creationId xmlns:a16="http://schemas.microsoft.com/office/drawing/2014/main" id="{2E3AFA97-F0F2-0ABC-A33E-6B43AC9CEA07}"/>
                </a:ext>
              </a:extLst>
            </p:cNvPr>
            <p:cNvSpPr>
              <a:spLocks noChangeAspect="1" noEditPoints="1"/>
            </p:cNvSpPr>
            <p:nvPr/>
          </p:nvSpPr>
          <p:spPr bwMode="auto">
            <a:xfrm>
              <a:off x="4311259" y="2695993"/>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bg1">
                  <a:lumMod val="50000"/>
                </a:schemeClr>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400" dirty="0">
                <a:solidFill>
                  <a:srgbClr val="2F2F2F"/>
                </a:solidFill>
              </a:endParaRPr>
            </a:p>
          </p:txBody>
        </p:sp>
        <p:sp>
          <p:nvSpPr>
            <p:cNvPr id="37" name="Database_EFC7" title="Icon of a cylinder">
              <a:extLst>
                <a:ext uri="{FF2B5EF4-FFF2-40B4-BE49-F238E27FC236}">
                  <a16:creationId xmlns:a16="http://schemas.microsoft.com/office/drawing/2014/main" id="{C8CDDE12-BD13-DA0B-8D76-839119DC205A}"/>
                </a:ext>
              </a:extLst>
            </p:cNvPr>
            <p:cNvSpPr>
              <a:spLocks noChangeAspect="1" noEditPoints="1"/>
            </p:cNvSpPr>
            <p:nvPr/>
          </p:nvSpPr>
          <p:spPr bwMode="auto">
            <a:xfrm>
              <a:off x="4466693" y="2851427"/>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bg1">
                  <a:lumMod val="50000"/>
                </a:schemeClr>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400" dirty="0">
                <a:solidFill>
                  <a:srgbClr val="2F2F2F"/>
                </a:solidFill>
              </a:endParaRPr>
            </a:p>
          </p:txBody>
        </p:sp>
        <p:cxnSp>
          <p:nvCxnSpPr>
            <p:cNvPr id="38" name="Straight Arrow Connector 37">
              <a:extLst>
                <a:ext uri="{FF2B5EF4-FFF2-40B4-BE49-F238E27FC236}">
                  <a16:creationId xmlns:a16="http://schemas.microsoft.com/office/drawing/2014/main" id="{B19AF2D9-4201-E2FA-EB24-790F492A3F8A}"/>
                </a:ext>
              </a:extLst>
            </p:cNvPr>
            <p:cNvCxnSpPr>
              <a:cxnSpLocks/>
            </p:cNvCxnSpPr>
            <p:nvPr/>
          </p:nvCxnSpPr>
          <p:spPr>
            <a:xfrm>
              <a:off x="3588513" y="3199784"/>
              <a:ext cx="680072" cy="4576"/>
            </a:xfrm>
            <a:prstGeom prst="straightConnector1">
              <a:avLst/>
            </a:prstGeom>
            <a:ln w="28575">
              <a:solidFill>
                <a:schemeClr val="accent2">
                  <a:lumMod val="90000"/>
                  <a:lumOff val="1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9" name="Database_EFC7" title="Icon of a cylinder">
              <a:extLst>
                <a:ext uri="{FF2B5EF4-FFF2-40B4-BE49-F238E27FC236}">
                  <a16:creationId xmlns:a16="http://schemas.microsoft.com/office/drawing/2014/main" id="{EDFA9221-1E26-2CC9-AF83-94D6D3760409}"/>
                </a:ext>
              </a:extLst>
            </p:cNvPr>
            <p:cNvSpPr>
              <a:spLocks noChangeAspect="1" noEditPoints="1"/>
            </p:cNvSpPr>
            <p:nvPr/>
          </p:nvSpPr>
          <p:spPr bwMode="auto">
            <a:xfrm>
              <a:off x="1950441" y="2870915"/>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Z2</a:t>
              </a:r>
            </a:p>
          </p:txBody>
        </p:sp>
        <p:sp>
          <p:nvSpPr>
            <p:cNvPr id="40" name="Database_EFC7" title="Icon of a cylinder">
              <a:extLst>
                <a:ext uri="{FF2B5EF4-FFF2-40B4-BE49-F238E27FC236}">
                  <a16:creationId xmlns:a16="http://schemas.microsoft.com/office/drawing/2014/main" id="{06275CBD-43F5-4AF9-59D2-736107C09585}"/>
                </a:ext>
              </a:extLst>
            </p:cNvPr>
            <p:cNvSpPr>
              <a:spLocks noChangeAspect="1" noEditPoints="1"/>
            </p:cNvSpPr>
            <p:nvPr/>
          </p:nvSpPr>
          <p:spPr bwMode="auto">
            <a:xfrm>
              <a:off x="3030023" y="2881814"/>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Z3</a:t>
              </a:r>
            </a:p>
          </p:txBody>
        </p:sp>
        <p:sp>
          <p:nvSpPr>
            <p:cNvPr id="41" name="Database_EFC7" title="Icon of a cylinder">
              <a:extLst>
                <a:ext uri="{FF2B5EF4-FFF2-40B4-BE49-F238E27FC236}">
                  <a16:creationId xmlns:a16="http://schemas.microsoft.com/office/drawing/2014/main" id="{691BB61D-6309-1269-EBD0-5532253AFFD1}"/>
                </a:ext>
              </a:extLst>
            </p:cNvPr>
            <p:cNvSpPr>
              <a:spLocks noChangeAspect="1" noEditPoints="1"/>
            </p:cNvSpPr>
            <p:nvPr/>
          </p:nvSpPr>
          <p:spPr bwMode="auto">
            <a:xfrm>
              <a:off x="2476775" y="2270426"/>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Z1</a:t>
              </a:r>
            </a:p>
          </p:txBody>
        </p:sp>
      </p:grpSp>
      <p:cxnSp>
        <p:nvCxnSpPr>
          <p:cNvPr id="42" name="Straight Arrow Connector 41">
            <a:extLst>
              <a:ext uri="{FF2B5EF4-FFF2-40B4-BE49-F238E27FC236}">
                <a16:creationId xmlns:a16="http://schemas.microsoft.com/office/drawing/2014/main" id="{812C5C27-E9FA-647C-5E1C-1943E7BB602B}"/>
              </a:ext>
              <a:ext uri="{C183D7F6-B498-43B3-948B-1728B52AA6E4}">
                <adec:decorative xmlns:adec="http://schemas.microsoft.com/office/drawing/2017/decorative" val="1"/>
              </a:ext>
            </a:extLst>
          </p:cNvPr>
          <p:cNvCxnSpPr>
            <a:cxnSpLocks/>
          </p:cNvCxnSpPr>
          <p:nvPr/>
        </p:nvCxnSpPr>
        <p:spPr>
          <a:xfrm flipV="1">
            <a:off x="9968769" y="2450351"/>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5544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AA6F7F69-8910-69AD-FC89-FC6854558FEC}"/>
              </a:ext>
            </a:extLst>
          </p:cNvPr>
          <p:cNvSpPr txBox="1">
            <a:spLocks/>
          </p:cNvSpPr>
          <p:nvPr/>
        </p:nvSpPr>
        <p:spPr>
          <a:xfrm>
            <a:off x="527886" y="1569366"/>
            <a:ext cx="11568684" cy="6556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Access Storage</a:t>
            </a:r>
            <a:endParaRPr lang="en-US" dirty="0"/>
          </a:p>
        </p:txBody>
      </p:sp>
      <p:sp>
        <p:nvSpPr>
          <p:cNvPr id="11" name="Text Placeholder 4">
            <a:extLst>
              <a:ext uri="{FF2B5EF4-FFF2-40B4-BE49-F238E27FC236}">
                <a16:creationId xmlns:a16="http://schemas.microsoft.com/office/drawing/2014/main" id="{831E8F56-E175-0572-E050-D0B70A3C56C6}"/>
              </a:ext>
            </a:extLst>
          </p:cNvPr>
          <p:cNvSpPr txBox="1">
            <a:spLocks/>
          </p:cNvSpPr>
          <p:nvPr/>
        </p:nvSpPr>
        <p:spPr>
          <a:xfrm>
            <a:off x="541601" y="2118143"/>
            <a:ext cx="11568684" cy="43946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Every object has a unique URL address – based on account name and storage type</a:t>
            </a:r>
          </a:p>
          <a:p>
            <a:endParaRPr lang="en-US" dirty="0"/>
          </a:p>
        </p:txBody>
      </p:sp>
      <p:sp>
        <p:nvSpPr>
          <p:cNvPr id="12" name="TextBox 11">
            <a:extLst>
              <a:ext uri="{FF2B5EF4-FFF2-40B4-BE49-F238E27FC236}">
                <a16:creationId xmlns:a16="http://schemas.microsoft.com/office/drawing/2014/main" id="{216B42CF-3303-D6A3-7C2A-7F3DC39E48DE}"/>
              </a:ext>
            </a:extLst>
          </p:cNvPr>
          <p:cNvSpPr txBox="1"/>
          <p:nvPr/>
        </p:nvSpPr>
        <p:spPr>
          <a:xfrm>
            <a:off x="1948218" y="3015655"/>
            <a:ext cx="8956653" cy="1477328"/>
          </a:xfrm>
          <a:prstGeom prst="rect">
            <a:avLst/>
          </a:prstGeom>
          <a:noFill/>
        </p:spPr>
        <p:txBody>
          <a:bodyPr wrap="square">
            <a:spAutoFit/>
          </a:bodyPr>
          <a:lstStyle/>
          <a:p>
            <a:pPr>
              <a:spcBef>
                <a:spcPts val="300"/>
              </a:spcBef>
            </a:pPr>
            <a:r>
              <a:rPr lang="en-US" sz="2000" dirty="0">
                <a:solidFill>
                  <a:schemeClr val="tx1"/>
                </a:solidFill>
              </a:rPr>
              <a:t>Container service: https://</a:t>
            </a:r>
            <a:r>
              <a:rPr lang="en-US" sz="2000" i="1" dirty="0">
                <a:solidFill>
                  <a:schemeClr val="tx1"/>
                </a:solidFill>
              </a:rPr>
              <a:t>mystorageaccount</a:t>
            </a:r>
            <a:r>
              <a:rPr lang="en-US" sz="2000" dirty="0">
                <a:solidFill>
                  <a:schemeClr val="tx1"/>
                </a:solidFill>
              </a:rPr>
              <a:t>.blob.core.windows.net</a:t>
            </a:r>
          </a:p>
          <a:p>
            <a:pPr>
              <a:spcBef>
                <a:spcPts val="400"/>
              </a:spcBef>
            </a:pPr>
            <a:r>
              <a:rPr lang="en-US" sz="2000" dirty="0">
                <a:solidFill>
                  <a:schemeClr val="tx1"/>
                </a:solidFill>
              </a:rPr>
              <a:t>Table service: https://</a:t>
            </a:r>
            <a:r>
              <a:rPr lang="en-US" sz="2000" i="1" dirty="0">
                <a:solidFill>
                  <a:schemeClr val="tx1"/>
                </a:solidFill>
              </a:rPr>
              <a:t>mystorageaccount</a:t>
            </a:r>
            <a:r>
              <a:rPr lang="en-US" sz="2000" dirty="0">
                <a:solidFill>
                  <a:schemeClr val="tx1"/>
                </a:solidFill>
              </a:rPr>
              <a:t>.table.core.windows.net</a:t>
            </a:r>
          </a:p>
          <a:p>
            <a:pPr>
              <a:spcBef>
                <a:spcPts val="400"/>
              </a:spcBef>
            </a:pPr>
            <a:r>
              <a:rPr lang="en-US" sz="2000" dirty="0">
                <a:solidFill>
                  <a:schemeClr val="tx1"/>
                </a:solidFill>
              </a:rPr>
              <a:t>Queue service: https://</a:t>
            </a:r>
            <a:r>
              <a:rPr lang="en-US" sz="2000" i="1" dirty="0">
                <a:solidFill>
                  <a:schemeClr val="tx1"/>
                </a:solidFill>
              </a:rPr>
              <a:t>mystorageaccount</a:t>
            </a:r>
            <a:r>
              <a:rPr lang="en-US" sz="2000" dirty="0">
                <a:solidFill>
                  <a:schemeClr val="tx1"/>
                </a:solidFill>
              </a:rPr>
              <a:t>.queue.core.windows.net</a:t>
            </a:r>
          </a:p>
          <a:p>
            <a:pPr>
              <a:spcBef>
                <a:spcPts val="400"/>
              </a:spcBef>
            </a:pPr>
            <a:r>
              <a:rPr lang="en-US" sz="2000" dirty="0">
                <a:solidFill>
                  <a:schemeClr val="tx1"/>
                </a:solidFill>
              </a:rPr>
              <a:t>File service: https://</a:t>
            </a:r>
            <a:r>
              <a:rPr lang="en-US" sz="2000" i="1" dirty="0">
                <a:solidFill>
                  <a:schemeClr val="tx1"/>
                </a:solidFill>
              </a:rPr>
              <a:t>mystorageaccount</a:t>
            </a:r>
            <a:r>
              <a:rPr lang="en-US" sz="2000" dirty="0">
                <a:solidFill>
                  <a:schemeClr val="tx1"/>
                </a:solidFill>
              </a:rPr>
              <a:t>.file.core.windows.net</a:t>
            </a:r>
          </a:p>
        </p:txBody>
      </p:sp>
      <p:sp>
        <p:nvSpPr>
          <p:cNvPr id="13" name="Rectangle 12">
            <a:extLst>
              <a:ext uri="{FF2B5EF4-FFF2-40B4-BE49-F238E27FC236}">
                <a16:creationId xmlns:a16="http://schemas.microsoft.com/office/drawing/2014/main" id="{AB9568E2-A075-10E3-4495-AE8691AF2675}"/>
              </a:ext>
            </a:extLst>
          </p:cNvPr>
          <p:cNvSpPr/>
          <p:nvPr/>
        </p:nvSpPr>
        <p:spPr>
          <a:xfrm>
            <a:off x="442825" y="4741748"/>
            <a:ext cx="8620449" cy="509139"/>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pPr marL="233363" indent="-233363">
              <a:buFont typeface="Arial" panose="020B0604020202020204" pitchFamily="34" charset="0"/>
              <a:buChar char="•"/>
            </a:pPr>
            <a:r>
              <a:rPr lang="en-US" sz="2200" dirty="0">
                <a:solidFill>
                  <a:schemeClr val="tx1"/>
                </a:solidFill>
                <a:cs typeface="Segoe UI Semilight"/>
              </a:rPr>
              <a:t>If you prefer you can configure a custom domain name</a:t>
            </a:r>
          </a:p>
        </p:txBody>
      </p:sp>
      <p:graphicFrame>
        <p:nvGraphicFramePr>
          <p:cNvPr id="14" name="Table 13">
            <a:extLst>
              <a:ext uri="{FF2B5EF4-FFF2-40B4-BE49-F238E27FC236}">
                <a16:creationId xmlns:a16="http://schemas.microsoft.com/office/drawing/2014/main" id="{50504248-4D80-CDFE-715A-94A71984AA1F}"/>
              </a:ext>
            </a:extLst>
          </p:cNvPr>
          <p:cNvGraphicFramePr>
            <a:graphicFrameLocks noGrp="1"/>
          </p:cNvGraphicFramePr>
          <p:nvPr>
            <p:extLst>
              <p:ext uri="{D42A27DB-BD31-4B8C-83A1-F6EECF244321}">
                <p14:modId xmlns:p14="http://schemas.microsoft.com/office/powerpoint/2010/main" val="196298234"/>
              </p:ext>
            </p:extLst>
          </p:nvPr>
        </p:nvGraphicFramePr>
        <p:xfrm>
          <a:off x="571235" y="5338708"/>
          <a:ext cx="11049529" cy="1020001"/>
        </p:xfrm>
        <a:graphic>
          <a:graphicData uri="http://schemas.openxmlformats.org/drawingml/2006/table">
            <a:tbl>
              <a:tblPr firstRow="1" firstCol="1" bandRow="1">
                <a:tableStyleId>{2D5ABB26-0587-4C30-8999-92F81FD0307C}</a:tableStyleId>
              </a:tblPr>
              <a:tblGrid>
                <a:gridCol w="4273628">
                  <a:extLst>
                    <a:ext uri="{9D8B030D-6E8A-4147-A177-3AD203B41FA5}">
                      <a16:colId xmlns:a16="http://schemas.microsoft.com/office/drawing/2014/main" val="2137939042"/>
                    </a:ext>
                  </a:extLst>
                </a:gridCol>
                <a:gridCol w="6775901">
                  <a:extLst>
                    <a:ext uri="{9D8B030D-6E8A-4147-A177-3AD203B41FA5}">
                      <a16:colId xmlns:a16="http://schemas.microsoft.com/office/drawing/2014/main" val="2937731976"/>
                    </a:ext>
                  </a:extLst>
                </a:gridCol>
              </a:tblGrid>
              <a:tr h="270404">
                <a:tc>
                  <a:txBody>
                    <a:bodyPr/>
                    <a:lstStyle/>
                    <a:p>
                      <a:pPr marL="0" marR="0">
                        <a:lnSpc>
                          <a:spcPct val="107000"/>
                        </a:lnSpc>
                        <a:spcBef>
                          <a:spcPts val="0"/>
                        </a:spcBef>
                        <a:spcAft>
                          <a:spcPts val="0"/>
                        </a:spcAft>
                      </a:pPr>
                      <a:r>
                        <a:rPr lang="en-US" sz="2200" dirty="0">
                          <a:solidFill>
                            <a:schemeClr val="bg1"/>
                          </a:solidFill>
                          <a:effectLst/>
                          <a:latin typeface="+mj-lt"/>
                        </a:rPr>
                        <a:t>CNAME record</a:t>
                      </a:r>
                      <a:endParaRPr lang="en-US" sz="2200" b="0" dirty="0">
                        <a:solidFill>
                          <a:schemeClr val="bg1"/>
                        </a:solidFill>
                        <a:effectLst/>
                        <a:latin typeface="+mj-lt"/>
                        <a:ea typeface="Calibri" panose="020F0502020204030204" pitchFamily="34" charset="0"/>
                        <a:cs typeface="Times New Roman" panose="02020603050405020304" pitchFamily="18" charset="0"/>
                      </a:endParaRPr>
                    </a:p>
                  </a:txBody>
                  <a:tcPr marL="137160" marR="137160" marT="91440" marB="91440">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lumMod val="50000"/>
                      </a:schemeClr>
                    </a:solidFill>
                  </a:tcPr>
                </a:tc>
                <a:tc>
                  <a:txBody>
                    <a:bodyPr/>
                    <a:lstStyle/>
                    <a:p>
                      <a:pPr marL="0" marR="0">
                        <a:lnSpc>
                          <a:spcPct val="107000"/>
                        </a:lnSpc>
                        <a:spcBef>
                          <a:spcPts val="0"/>
                        </a:spcBef>
                        <a:spcAft>
                          <a:spcPts val="0"/>
                        </a:spcAft>
                      </a:pPr>
                      <a:r>
                        <a:rPr lang="en-US" sz="2200" dirty="0">
                          <a:solidFill>
                            <a:schemeClr val="bg1"/>
                          </a:solidFill>
                          <a:effectLst/>
                          <a:latin typeface="+mj-lt"/>
                        </a:rPr>
                        <a:t>Target</a:t>
                      </a:r>
                      <a:endParaRPr lang="en-US" sz="2200" b="0" dirty="0">
                        <a:solidFill>
                          <a:schemeClr val="bg1"/>
                        </a:solidFill>
                        <a:effectLst/>
                        <a:latin typeface="+mj-lt"/>
                        <a:ea typeface="Calibri" panose="020F0502020204030204" pitchFamily="34" charset="0"/>
                        <a:cs typeface="Times New Roman" panose="02020603050405020304" pitchFamily="18" charset="0"/>
                      </a:endParaRPr>
                    </a:p>
                  </a:txBody>
                  <a:tcPr marL="137160" marR="137160" marT="91440" marB="91440">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944396381"/>
                  </a:ext>
                </a:extLst>
              </a:tr>
              <a:tr h="351567">
                <a:tc>
                  <a:txBody>
                    <a:bodyPr/>
                    <a:lstStyle/>
                    <a:p>
                      <a:pPr marL="0" marR="0">
                        <a:lnSpc>
                          <a:spcPct val="107000"/>
                        </a:lnSpc>
                        <a:spcBef>
                          <a:spcPts val="0"/>
                        </a:spcBef>
                        <a:spcAft>
                          <a:spcPts val="0"/>
                        </a:spcAft>
                      </a:pPr>
                      <a:r>
                        <a:rPr lang="en-US" sz="2000" dirty="0">
                          <a:solidFill>
                            <a:schemeClr val="tx1"/>
                          </a:solidFill>
                          <a:effectLst/>
                        </a:rPr>
                        <a:t>blobs.contoso.com</a:t>
                      </a:r>
                      <a:endParaRPr lang="en-US" sz="2000" b="0" dirty="0">
                        <a:solidFill>
                          <a:schemeClr val="tx1"/>
                        </a:solidFill>
                        <a:effectLst/>
                        <a:latin typeface="Open Sans" panose="020B0606030504020204"/>
                        <a:ea typeface="Calibri" panose="020F0502020204030204" pitchFamily="34" charset="0"/>
                        <a:cs typeface="Times New Roman" panose="02020603050405020304" pitchFamily="18" charset="0"/>
                      </a:endParaRPr>
                    </a:p>
                  </a:txBody>
                  <a:tcPr marL="137160" marR="137160" marT="91440" marB="9144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solidFill>
                            <a:schemeClr val="tx1"/>
                          </a:solidFill>
                          <a:effectLst/>
                        </a:rPr>
                        <a:t>contosoblobs.blob.core.windows.net</a:t>
                      </a:r>
                      <a:endParaRPr lang="en-US" sz="2000" dirty="0">
                        <a:solidFill>
                          <a:schemeClr val="tx1"/>
                        </a:solidFill>
                        <a:effectLst/>
                        <a:latin typeface="Open Sans" panose="020B0606030504020204"/>
                        <a:ea typeface="Calibri" panose="020F0502020204030204" pitchFamily="34" charset="0"/>
                        <a:cs typeface="Times New Roman" panose="02020603050405020304" pitchFamily="18" charset="0"/>
                      </a:endParaRPr>
                    </a:p>
                  </a:txBody>
                  <a:tcPr marL="137160" marR="137160" marT="91440" marB="9144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339293230"/>
                  </a:ext>
                </a:extLst>
              </a:tr>
            </a:tbl>
          </a:graphicData>
        </a:graphic>
      </p:graphicFrame>
    </p:spTree>
    <p:extLst>
      <p:ext uri="{BB962C8B-B14F-4D97-AF65-F5344CB8AC3E}">
        <p14:creationId xmlns:p14="http://schemas.microsoft.com/office/powerpoint/2010/main" val="426025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4" name="Title 16">
            <a:extLst>
              <a:ext uri="{FF2B5EF4-FFF2-40B4-BE49-F238E27FC236}">
                <a16:creationId xmlns:a16="http://schemas.microsoft.com/office/drawing/2014/main" id="{9F250665-0AD0-68F8-2602-532500AA2A5A}"/>
              </a:ext>
            </a:extLst>
          </p:cNvPr>
          <p:cNvSpPr txBox="1">
            <a:spLocks/>
          </p:cNvSpPr>
          <p:nvPr/>
        </p:nvSpPr>
        <p:spPr>
          <a:xfrm>
            <a:off x="560194" y="1504484"/>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Secure Storage Endpoints</a:t>
            </a:r>
            <a:endParaRPr lang="en-US" dirty="0"/>
          </a:p>
        </p:txBody>
      </p:sp>
      <p:sp>
        <p:nvSpPr>
          <p:cNvPr id="15" name="Rectangle 14">
            <a:extLst>
              <a:ext uri="{FF2B5EF4-FFF2-40B4-BE49-F238E27FC236}">
                <a16:creationId xmlns:a16="http://schemas.microsoft.com/office/drawing/2014/main" id="{6DCEE4F3-E261-7461-82C7-6C446A3C81E7}"/>
              </a:ext>
            </a:extLst>
          </p:cNvPr>
          <p:cNvSpPr/>
          <p:nvPr/>
        </p:nvSpPr>
        <p:spPr>
          <a:xfrm>
            <a:off x="572387" y="2519291"/>
            <a:ext cx="4971594" cy="140209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000" dirty="0">
                <a:solidFill>
                  <a:schemeClr val="tx1"/>
                </a:solidFill>
              </a:rPr>
              <a:t>Firewalls and Virtual Networks restrict access to the Storage Account from specific Subnets on Virtual Networks or public IP’s</a:t>
            </a:r>
          </a:p>
        </p:txBody>
      </p:sp>
      <p:sp>
        <p:nvSpPr>
          <p:cNvPr id="16" name="Rectangle 15">
            <a:extLst>
              <a:ext uri="{FF2B5EF4-FFF2-40B4-BE49-F238E27FC236}">
                <a16:creationId xmlns:a16="http://schemas.microsoft.com/office/drawing/2014/main" id="{446722FE-43AA-CADF-EEF9-CA5B4DF62576}"/>
              </a:ext>
            </a:extLst>
          </p:cNvPr>
          <p:cNvSpPr/>
          <p:nvPr/>
        </p:nvSpPr>
        <p:spPr>
          <a:xfrm>
            <a:off x="572387" y="4173032"/>
            <a:ext cx="4971594" cy="140209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000" dirty="0">
                <a:solidFill>
                  <a:schemeClr val="tx1"/>
                </a:solidFill>
              </a:rPr>
              <a:t>Subnets and Virtual Networks must exist</a:t>
            </a:r>
            <a:br>
              <a:rPr lang="en-US" sz="2000" dirty="0">
                <a:solidFill>
                  <a:schemeClr val="tx1"/>
                </a:solidFill>
              </a:rPr>
            </a:br>
            <a:r>
              <a:rPr lang="en-US" sz="2000" dirty="0">
                <a:solidFill>
                  <a:schemeClr val="tx1"/>
                </a:solidFill>
              </a:rPr>
              <a:t>in the same Azure Region or Region Pair</a:t>
            </a:r>
            <a:br>
              <a:rPr lang="en-US" sz="2000" dirty="0">
                <a:solidFill>
                  <a:schemeClr val="tx1"/>
                </a:solidFill>
              </a:rPr>
            </a:br>
            <a:r>
              <a:rPr lang="en-US" sz="2000" dirty="0">
                <a:solidFill>
                  <a:schemeClr val="tx1"/>
                </a:solidFill>
              </a:rPr>
              <a:t>as the Storage Account </a:t>
            </a:r>
          </a:p>
        </p:txBody>
      </p:sp>
      <p:pic>
        <p:nvPicPr>
          <p:cNvPr id="17" name="Picture 16" descr="Screenshot of the secure storage endpoints page. ">
            <a:extLst>
              <a:ext uri="{FF2B5EF4-FFF2-40B4-BE49-F238E27FC236}">
                <a16:creationId xmlns:a16="http://schemas.microsoft.com/office/drawing/2014/main" id="{992799C8-D8C3-450A-2DC6-1D3F6906102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25486" y="2177388"/>
            <a:ext cx="5505450" cy="4314825"/>
          </a:xfrm>
          <a:prstGeom prst="rect">
            <a:avLst/>
          </a:prstGeom>
        </p:spPr>
      </p:pic>
    </p:spTree>
    <p:extLst>
      <p:ext uri="{BB962C8B-B14F-4D97-AF65-F5344CB8AC3E}">
        <p14:creationId xmlns:p14="http://schemas.microsoft.com/office/powerpoint/2010/main" val="1474480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68A38C01-00C8-C8B1-8603-7E699861F23D}"/>
              </a:ext>
            </a:extLst>
          </p:cNvPr>
          <p:cNvSpPr txBox="1">
            <a:spLocks/>
          </p:cNvSpPr>
          <p:nvPr/>
        </p:nvSpPr>
        <p:spPr>
          <a:xfrm>
            <a:off x="661416" y="2469559"/>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Demonstration – Configure a storage account</a:t>
            </a:r>
            <a:endParaRPr lang="en-US" dirty="0"/>
          </a:p>
        </p:txBody>
      </p:sp>
      <p:sp>
        <p:nvSpPr>
          <p:cNvPr id="11" name="TextBox 10">
            <a:extLst>
              <a:ext uri="{FF2B5EF4-FFF2-40B4-BE49-F238E27FC236}">
                <a16:creationId xmlns:a16="http://schemas.microsoft.com/office/drawing/2014/main" id="{5D94A83E-8704-B410-FA2C-8DA6630B366A}"/>
              </a:ext>
            </a:extLst>
          </p:cNvPr>
          <p:cNvSpPr txBox="1"/>
          <p:nvPr/>
        </p:nvSpPr>
        <p:spPr>
          <a:xfrm>
            <a:off x="1165446" y="3735400"/>
            <a:ext cx="7175372" cy="892552"/>
          </a:xfrm>
          <a:prstGeom prst="rect">
            <a:avLst/>
          </a:prstGeom>
          <a:noFill/>
        </p:spPr>
        <p:txBody>
          <a:bodyPr wrap="square" lIns="0" tIns="0" rIns="0" bIns="0" rtlCol="0" anchor="ctr">
            <a:spAutoFit/>
          </a:bodyPr>
          <a:lstStyle/>
          <a:p>
            <a:pPr marL="342900" indent="-342900">
              <a:spcBef>
                <a:spcPts val="600"/>
              </a:spcBef>
              <a:spcAft>
                <a:spcPts val="600"/>
              </a:spcAft>
              <a:buFont typeface="Arial" panose="020B0604020202020204" pitchFamily="34" charset="0"/>
              <a:buChar char="•"/>
            </a:pPr>
            <a:r>
              <a:rPr lang="en-US" sz="2400" dirty="0"/>
              <a:t>Create a storage account</a:t>
            </a:r>
          </a:p>
          <a:p>
            <a:pPr marL="342900" indent="-342900">
              <a:spcBef>
                <a:spcPts val="600"/>
              </a:spcBef>
              <a:spcAft>
                <a:spcPts val="600"/>
              </a:spcAft>
              <a:buFont typeface="Arial" panose="020B0604020202020204" pitchFamily="34" charset="0"/>
              <a:buChar char="•"/>
            </a:pPr>
            <a:r>
              <a:rPr lang="en-US" sz="2400" dirty="0"/>
              <a:t>Configure storage account settings </a:t>
            </a:r>
          </a:p>
        </p:txBody>
      </p:sp>
    </p:spTree>
    <p:extLst>
      <p:ext uri="{BB962C8B-B14F-4D97-AF65-F5344CB8AC3E}">
        <p14:creationId xmlns:p14="http://schemas.microsoft.com/office/powerpoint/2010/main" val="2058876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Configure Blob Storage</a:t>
            </a: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2211557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D40A5D28-5324-AEF9-5087-ABE8B77512B2}"/>
              </a:ext>
            </a:extLst>
          </p:cNvPr>
          <p:cNvSpPr txBox="1">
            <a:spLocks/>
          </p:cNvSpPr>
          <p:nvPr/>
        </p:nvSpPr>
        <p:spPr>
          <a:xfrm>
            <a:off x="465138" y="567457"/>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t>Implement Blob Storage</a:t>
            </a:r>
          </a:p>
        </p:txBody>
      </p:sp>
      <p:sp>
        <p:nvSpPr>
          <p:cNvPr id="11" name="Rectangle 10">
            <a:extLst>
              <a:ext uri="{FF2B5EF4-FFF2-40B4-BE49-F238E27FC236}">
                <a16:creationId xmlns:a16="http://schemas.microsoft.com/office/drawing/2014/main" id="{BC5BDA72-C871-4B24-E369-8A26105713D9}"/>
              </a:ext>
            </a:extLst>
          </p:cNvPr>
          <p:cNvSpPr/>
          <p:nvPr/>
        </p:nvSpPr>
        <p:spPr>
          <a:xfrm>
            <a:off x="427034" y="1192214"/>
            <a:ext cx="4854771" cy="47301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a:solidFill>
                  <a:schemeClr val="tx1"/>
                </a:solidFill>
              </a:rPr>
              <a:t>Stores unstructured data in the cloud </a:t>
            </a:r>
          </a:p>
        </p:txBody>
      </p:sp>
      <p:sp>
        <p:nvSpPr>
          <p:cNvPr id="12" name="Rectangle 11">
            <a:extLst>
              <a:ext uri="{FF2B5EF4-FFF2-40B4-BE49-F238E27FC236}">
                <a16:creationId xmlns:a16="http://schemas.microsoft.com/office/drawing/2014/main" id="{613D93DB-7065-0FA8-A381-3E575CE889AF}"/>
              </a:ext>
            </a:extLst>
          </p:cNvPr>
          <p:cNvSpPr/>
          <p:nvPr/>
        </p:nvSpPr>
        <p:spPr>
          <a:xfrm>
            <a:off x="427034" y="1813497"/>
            <a:ext cx="4854771" cy="47301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a:solidFill>
                  <a:schemeClr val="tx1"/>
                </a:solidFill>
              </a:rPr>
              <a:t>Can store any type of text or binary data</a:t>
            </a:r>
          </a:p>
        </p:txBody>
      </p:sp>
      <p:sp>
        <p:nvSpPr>
          <p:cNvPr id="13" name="Rectangle 12">
            <a:extLst>
              <a:ext uri="{FF2B5EF4-FFF2-40B4-BE49-F238E27FC236}">
                <a16:creationId xmlns:a16="http://schemas.microsoft.com/office/drawing/2014/main" id="{66845E4D-8AD4-4B7F-EC30-03DAB75314D0}"/>
              </a:ext>
            </a:extLst>
          </p:cNvPr>
          <p:cNvSpPr/>
          <p:nvPr/>
        </p:nvSpPr>
        <p:spPr>
          <a:xfrm>
            <a:off x="427033" y="2434780"/>
            <a:ext cx="4854771" cy="47301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dirty="0">
                <a:solidFill>
                  <a:schemeClr val="tx1"/>
                </a:solidFill>
              </a:rPr>
              <a:t>Also referred to as </a:t>
            </a:r>
            <a:r>
              <a:rPr lang="en-US" i="1" dirty="0">
                <a:solidFill>
                  <a:schemeClr val="tx1"/>
                </a:solidFill>
              </a:rPr>
              <a:t>object storage</a:t>
            </a:r>
          </a:p>
        </p:txBody>
      </p:sp>
      <p:sp>
        <p:nvSpPr>
          <p:cNvPr id="14" name="Rectangle 13">
            <a:extLst>
              <a:ext uri="{FF2B5EF4-FFF2-40B4-BE49-F238E27FC236}">
                <a16:creationId xmlns:a16="http://schemas.microsoft.com/office/drawing/2014/main" id="{18869DBF-46A4-BC69-9BAA-C46C4EA12AF5}"/>
              </a:ext>
            </a:extLst>
          </p:cNvPr>
          <p:cNvSpPr/>
          <p:nvPr/>
        </p:nvSpPr>
        <p:spPr>
          <a:xfrm>
            <a:off x="427032" y="3056062"/>
            <a:ext cx="4854771" cy="330568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dirty="0">
                <a:solidFill>
                  <a:schemeClr val="tx1"/>
                </a:solidFill>
              </a:rPr>
              <a:t>Common uses:</a:t>
            </a:r>
          </a:p>
          <a:p>
            <a:pPr marL="347663" lvl="1" indent="-225425">
              <a:spcBef>
                <a:spcPts val="300"/>
              </a:spcBef>
              <a:spcAft>
                <a:spcPts val="600"/>
              </a:spcAft>
              <a:buFont typeface="Arial" panose="020B0604020202020204" pitchFamily="34" charset="0"/>
              <a:buChar char="•"/>
            </a:pPr>
            <a:r>
              <a:rPr lang="en-US" dirty="0">
                <a:solidFill>
                  <a:schemeClr val="tx1"/>
                </a:solidFill>
              </a:rPr>
              <a:t>Serving images or documents directly to a browser</a:t>
            </a:r>
          </a:p>
          <a:p>
            <a:pPr marL="347663" lvl="1" indent="-225425">
              <a:spcBef>
                <a:spcPts val="300"/>
              </a:spcBef>
              <a:spcAft>
                <a:spcPts val="600"/>
              </a:spcAft>
              <a:buFont typeface="Arial" panose="020B0604020202020204" pitchFamily="34" charset="0"/>
              <a:buChar char="•"/>
            </a:pPr>
            <a:r>
              <a:rPr lang="en-US" dirty="0">
                <a:solidFill>
                  <a:schemeClr val="tx1"/>
                </a:solidFill>
              </a:rPr>
              <a:t>Storing files for distributed access</a:t>
            </a:r>
          </a:p>
          <a:p>
            <a:pPr marL="347663" lvl="1" indent="-225425">
              <a:spcBef>
                <a:spcPts val="300"/>
              </a:spcBef>
              <a:spcAft>
                <a:spcPts val="600"/>
              </a:spcAft>
              <a:buFont typeface="Arial" panose="020B0604020202020204" pitchFamily="34" charset="0"/>
              <a:buChar char="•"/>
            </a:pPr>
            <a:r>
              <a:rPr lang="en-US" dirty="0">
                <a:solidFill>
                  <a:schemeClr val="tx1"/>
                </a:solidFill>
              </a:rPr>
              <a:t>Streaming video and audio</a:t>
            </a:r>
          </a:p>
          <a:p>
            <a:pPr marL="347663" lvl="1" indent="-225425">
              <a:spcBef>
                <a:spcPts val="300"/>
              </a:spcBef>
              <a:spcAft>
                <a:spcPts val="600"/>
              </a:spcAft>
              <a:buFont typeface="Arial" panose="020B0604020202020204" pitchFamily="34" charset="0"/>
              <a:buChar char="•"/>
            </a:pPr>
            <a:r>
              <a:rPr lang="en-US" dirty="0">
                <a:solidFill>
                  <a:schemeClr val="tx1"/>
                </a:solidFill>
              </a:rPr>
              <a:t>Storing data for backup and restore, disaster recovery, archiving</a:t>
            </a:r>
          </a:p>
          <a:p>
            <a:pPr marL="347663" lvl="1" indent="-225425">
              <a:spcBef>
                <a:spcPts val="300"/>
              </a:spcBef>
              <a:spcAft>
                <a:spcPts val="600"/>
              </a:spcAft>
              <a:buFont typeface="Arial" panose="020B0604020202020204" pitchFamily="34" charset="0"/>
              <a:buChar char="•"/>
            </a:pPr>
            <a:r>
              <a:rPr lang="en-US" dirty="0">
                <a:solidFill>
                  <a:schemeClr val="tx1"/>
                </a:solidFill>
              </a:rPr>
              <a:t>Storing data for analysis by an on-premises or Azure-hosted service</a:t>
            </a:r>
          </a:p>
        </p:txBody>
      </p:sp>
      <p:grpSp>
        <p:nvGrpSpPr>
          <p:cNvPr id="15" name="Group 14" descr="A storage account has a container and the container has blobs. ">
            <a:extLst>
              <a:ext uri="{FF2B5EF4-FFF2-40B4-BE49-F238E27FC236}">
                <a16:creationId xmlns:a16="http://schemas.microsoft.com/office/drawing/2014/main" id="{2B421B06-FA3D-3073-05D4-C9B2D9D7462B}"/>
              </a:ext>
            </a:extLst>
          </p:cNvPr>
          <p:cNvGrpSpPr/>
          <p:nvPr/>
        </p:nvGrpSpPr>
        <p:grpSpPr>
          <a:xfrm>
            <a:off x="5602869" y="2286507"/>
            <a:ext cx="6280926" cy="2856186"/>
            <a:chOff x="5602869" y="2286507"/>
            <a:chExt cx="6280926" cy="2856186"/>
          </a:xfrm>
        </p:grpSpPr>
        <p:sp>
          <p:nvSpPr>
            <p:cNvPr id="16" name="Rectangle 15">
              <a:extLst>
                <a:ext uri="{FF2B5EF4-FFF2-40B4-BE49-F238E27FC236}">
                  <a16:creationId xmlns:a16="http://schemas.microsoft.com/office/drawing/2014/main" id="{8934061F-5168-29AB-9E5A-D62594F97374}"/>
                </a:ext>
              </a:extLst>
            </p:cNvPr>
            <p:cNvSpPr/>
            <p:nvPr/>
          </p:nvSpPr>
          <p:spPr>
            <a:xfrm>
              <a:off x="5602869" y="2286509"/>
              <a:ext cx="1991112" cy="580325"/>
            </a:xfrm>
            <a:prstGeom prst="rect">
              <a:avLst/>
            </a:prstGeom>
            <a:solidFill>
              <a:schemeClr val="tx2">
                <a:lumMod val="5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bg1"/>
                  </a:solidFill>
                </a:rPr>
                <a:t>Storage Account</a:t>
              </a:r>
            </a:p>
          </p:txBody>
        </p:sp>
        <p:sp>
          <p:nvSpPr>
            <p:cNvPr id="17" name="Rectangle 16">
              <a:extLst>
                <a:ext uri="{FF2B5EF4-FFF2-40B4-BE49-F238E27FC236}">
                  <a16:creationId xmlns:a16="http://schemas.microsoft.com/office/drawing/2014/main" id="{52DE7AA2-2D00-11B2-4ECE-806797A02A59}"/>
                </a:ext>
              </a:extLst>
            </p:cNvPr>
            <p:cNvSpPr/>
            <p:nvPr/>
          </p:nvSpPr>
          <p:spPr>
            <a:xfrm>
              <a:off x="7747776" y="2297659"/>
              <a:ext cx="1991112" cy="580325"/>
            </a:xfrm>
            <a:prstGeom prst="rect">
              <a:avLst/>
            </a:prstGeom>
            <a:solidFill>
              <a:schemeClr val="tx2">
                <a:lumMod val="5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bg1"/>
                  </a:solidFill>
                </a:rPr>
                <a:t>Container</a:t>
              </a:r>
            </a:p>
          </p:txBody>
        </p:sp>
        <p:sp>
          <p:nvSpPr>
            <p:cNvPr id="18" name="Rectangle 17">
              <a:extLst>
                <a:ext uri="{FF2B5EF4-FFF2-40B4-BE49-F238E27FC236}">
                  <a16:creationId xmlns:a16="http://schemas.microsoft.com/office/drawing/2014/main" id="{A5450E90-4AFE-F28F-493A-A0E9897712AC}"/>
                </a:ext>
              </a:extLst>
            </p:cNvPr>
            <p:cNvSpPr/>
            <p:nvPr/>
          </p:nvSpPr>
          <p:spPr>
            <a:xfrm>
              <a:off x="9892683" y="2286507"/>
              <a:ext cx="1991112" cy="580325"/>
            </a:xfrm>
            <a:prstGeom prst="rect">
              <a:avLst/>
            </a:prstGeom>
            <a:solidFill>
              <a:schemeClr val="tx2">
                <a:lumMod val="5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bg1"/>
                  </a:solidFill>
                </a:rPr>
                <a:t>Blob</a:t>
              </a:r>
            </a:p>
          </p:txBody>
        </p:sp>
        <p:sp>
          <p:nvSpPr>
            <p:cNvPr id="19" name="Rectangle 18">
              <a:extLst>
                <a:ext uri="{FF2B5EF4-FFF2-40B4-BE49-F238E27FC236}">
                  <a16:creationId xmlns:a16="http://schemas.microsoft.com/office/drawing/2014/main" id="{32DB466B-327E-72E3-593B-4F0BD29C716C}"/>
                </a:ext>
              </a:extLst>
            </p:cNvPr>
            <p:cNvSpPr/>
            <p:nvPr/>
          </p:nvSpPr>
          <p:spPr>
            <a:xfrm>
              <a:off x="5757263" y="3762370"/>
              <a:ext cx="1581636" cy="416094"/>
            </a:xfrm>
            <a:prstGeom prst="rect">
              <a:avLst/>
            </a:prstGeom>
            <a:solidFill>
              <a:schemeClr val="tx2">
                <a:lumMod val="20000"/>
                <a:lumOff val="8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rPr>
                <a:t>Production</a:t>
              </a:r>
            </a:p>
          </p:txBody>
        </p:sp>
        <p:sp>
          <p:nvSpPr>
            <p:cNvPr id="20" name="Rectangle 19">
              <a:extLst>
                <a:ext uri="{FF2B5EF4-FFF2-40B4-BE49-F238E27FC236}">
                  <a16:creationId xmlns:a16="http://schemas.microsoft.com/office/drawing/2014/main" id="{57212B99-8DE3-42C4-0B91-F537A78C6DE6}"/>
                </a:ext>
              </a:extLst>
            </p:cNvPr>
            <p:cNvSpPr/>
            <p:nvPr/>
          </p:nvSpPr>
          <p:spPr>
            <a:xfrm>
              <a:off x="7939550" y="3182045"/>
              <a:ext cx="1550138" cy="580325"/>
            </a:xfrm>
            <a:prstGeom prst="rect">
              <a:avLst/>
            </a:prstGeom>
            <a:solidFill>
              <a:schemeClr val="tx2">
                <a:lumMod val="20000"/>
                <a:lumOff val="8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r"/>
              <a:r>
                <a:rPr lang="en-US" dirty="0">
                  <a:solidFill>
                    <a:schemeClr val="tx1"/>
                  </a:solidFill>
                </a:rPr>
                <a:t>Pictures</a:t>
              </a:r>
            </a:p>
          </p:txBody>
        </p:sp>
        <p:sp>
          <p:nvSpPr>
            <p:cNvPr id="21" name="Rectangle 20">
              <a:extLst>
                <a:ext uri="{FF2B5EF4-FFF2-40B4-BE49-F238E27FC236}">
                  <a16:creationId xmlns:a16="http://schemas.microsoft.com/office/drawing/2014/main" id="{9D1EB200-5FE6-9C9D-8AB3-33E2BEE3108A}"/>
                </a:ext>
              </a:extLst>
            </p:cNvPr>
            <p:cNvSpPr/>
            <p:nvPr/>
          </p:nvSpPr>
          <p:spPr>
            <a:xfrm>
              <a:off x="7939550" y="4211499"/>
              <a:ext cx="1550138" cy="580325"/>
            </a:xfrm>
            <a:prstGeom prst="rect">
              <a:avLst/>
            </a:prstGeom>
            <a:solidFill>
              <a:schemeClr val="tx2">
                <a:lumMod val="20000"/>
                <a:lumOff val="8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r"/>
              <a:r>
                <a:rPr lang="en-US" dirty="0">
                  <a:solidFill>
                    <a:schemeClr val="tx1"/>
                  </a:solidFill>
                </a:rPr>
                <a:t>Movies</a:t>
              </a:r>
            </a:p>
          </p:txBody>
        </p:sp>
        <p:sp>
          <p:nvSpPr>
            <p:cNvPr id="22" name="Rectangle 21">
              <a:extLst>
                <a:ext uri="{FF2B5EF4-FFF2-40B4-BE49-F238E27FC236}">
                  <a16:creationId xmlns:a16="http://schemas.microsoft.com/office/drawing/2014/main" id="{6A039B7D-C1BD-00AD-133D-1FE903F5E818}"/>
                </a:ext>
              </a:extLst>
            </p:cNvPr>
            <p:cNvSpPr/>
            <p:nvPr/>
          </p:nvSpPr>
          <p:spPr>
            <a:xfrm>
              <a:off x="9926671" y="3011030"/>
              <a:ext cx="1821105" cy="472537"/>
            </a:xfrm>
            <a:prstGeom prst="rect">
              <a:avLst/>
            </a:prstGeom>
            <a:solidFill>
              <a:schemeClr val="tx2">
                <a:lumMod val="20000"/>
                <a:lumOff val="8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r"/>
              <a:r>
                <a:rPr lang="en-US" dirty="0">
                  <a:solidFill>
                    <a:schemeClr val="tx1"/>
                  </a:solidFill>
                </a:rPr>
                <a:t>img001.jpg</a:t>
              </a:r>
            </a:p>
          </p:txBody>
        </p:sp>
        <p:sp>
          <p:nvSpPr>
            <p:cNvPr id="23" name="Rectangle 22">
              <a:extLst>
                <a:ext uri="{FF2B5EF4-FFF2-40B4-BE49-F238E27FC236}">
                  <a16:creationId xmlns:a16="http://schemas.microsoft.com/office/drawing/2014/main" id="{4F216CB6-F14D-9F83-489F-750CD7388A1F}"/>
                </a:ext>
              </a:extLst>
            </p:cNvPr>
            <p:cNvSpPr/>
            <p:nvPr/>
          </p:nvSpPr>
          <p:spPr>
            <a:xfrm>
              <a:off x="9926670" y="3554143"/>
              <a:ext cx="1821105" cy="472537"/>
            </a:xfrm>
            <a:prstGeom prst="rect">
              <a:avLst/>
            </a:prstGeom>
            <a:solidFill>
              <a:schemeClr val="tx2">
                <a:lumMod val="20000"/>
                <a:lumOff val="8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r"/>
              <a:r>
                <a:rPr lang="en-US" dirty="0">
                  <a:solidFill>
                    <a:schemeClr val="tx1"/>
                  </a:solidFill>
                </a:rPr>
                <a:t>img002.jpg</a:t>
              </a:r>
            </a:p>
          </p:txBody>
        </p:sp>
        <p:sp>
          <p:nvSpPr>
            <p:cNvPr id="24" name="Rectangle 23">
              <a:extLst>
                <a:ext uri="{FF2B5EF4-FFF2-40B4-BE49-F238E27FC236}">
                  <a16:creationId xmlns:a16="http://schemas.microsoft.com/office/drawing/2014/main" id="{8F3FDEDA-C6D7-B85C-D5A4-55EEDA5E5E61}"/>
                </a:ext>
              </a:extLst>
            </p:cNvPr>
            <p:cNvSpPr/>
            <p:nvPr/>
          </p:nvSpPr>
          <p:spPr>
            <a:xfrm>
              <a:off x="10017548" y="4318313"/>
              <a:ext cx="1719075" cy="378766"/>
            </a:xfrm>
            <a:prstGeom prst="rect">
              <a:avLst/>
            </a:prstGeom>
            <a:solidFill>
              <a:schemeClr val="tx2">
                <a:lumMod val="20000"/>
                <a:lumOff val="8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rPr>
                <a:t>  mov1.avi</a:t>
              </a:r>
            </a:p>
          </p:txBody>
        </p:sp>
        <p:pic>
          <p:nvPicPr>
            <p:cNvPr id="25" name="Graphic 24" descr="Image with solid fill">
              <a:extLst>
                <a:ext uri="{FF2B5EF4-FFF2-40B4-BE49-F238E27FC236}">
                  <a16:creationId xmlns:a16="http://schemas.microsoft.com/office/drawing/2014/main" id="{09768FA7-4837-F285-1837-4584797083C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06454" y="3228103"/>
              <a:ext cx="457200" cy="457200"/>
            </a:xfrm>
            <a:prstGeom prst="rect">
              <a:avLst/>
            </a:prstGeom>
          </p:spPr>
        </p:pic>
        <p:pic>
          <p:nvPicPr>
            <p:cNvPr id="26" name="Graphic 25" descr="Image with solid fill">
              <a:extLst>
                <a:ext uri="{FF2B5EF4-FFF2-40B4-BE49-F238E27FC236}">
                  <a16:creationId xmlns:a16="http://schemas.microsoft.com/office/drawing/2014/main" id="{ED765B2C-B48D-C946-BF20-5DDD0A4D1E5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71754" y="2979229"/>
              <a:ext cx="457200" cy="457200"/>
            </a:xfrm>
            <a:prstGeom prst="rect">
              <a:avLst/>
            </a:prstGeom>
          </p:spPr>
        </p:pic>
        <p:pic>
          <p:nvPicPr>
            <p:cNvPr id="27" name="Graphic 26" descr="Image with solid fill">
              <a:extLst>
                <a:ext uri="{FF2B5EF4-FFF2-40B4-BE49-F238E27FC236}">
                  <a16:creationId xmlns:a16="http://schemas.microsoft.com/office/drawing/2014/main" id="{9EA75221-A07D-4C52-576B-C3A9BFFD1B5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78251" y="3569481"/>
              <a:ext cx="457200" cy="457200"/>
            </a:xfrm>
            <a:prstGeom prst="rect">
              <a:avLst/>
            </a:prstGeom>
          </p:spPr>
        </p:pic>
        <p:pic>
          <p:nvPicPr>
            <p:cNvPr id="28" name="Graphic 27" descr="Video camera with solid fill">
              <a:extLst>
                <a:ext uri="{FF2B5EF4-FFF2-40B4-BE49-F238E27FC236}">
                  <a16:creationId xmlns:a16="http://schemas.microsoft.com/office/drawing/2014/main" id="{440658F2-4E24-0FFF-F40E-7BF009A572F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006454" y="4234791"/>
              <a:ext cx="457200" cy="457200"/>
            </a:xfrm>
            <a:prstGeom prst="rect">
              <a:avLst/>
            </a:prstGeom>
          </p:spPr>
        </p:pic>
        <p:pic>
          <p:nvPicPr>
            <p:cNvPr id="29" name="Graphic 28" descr="Video camera with solid fill">
              <a:extLst>
                <a:ext uri="{FF2B5EF4-FFF2-40B4-BE49-F238E27FC236}">
                  <a16:creationId xmlns:a16="http://schemas.microsoft.com/office/drawing/2014/main" id="{DB6C4D3B-AB17-4DA7-4AC9-EFAD70799A2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017548" y="4273492"/>
              <a:ext cx="457200" cy="457200"/>
            </a:xfrm>
            <a:prstGeom prst="rect">
              <a:avLst/>
            </a:prstGeom>
          </p:spPr>
        </p:pic>
        <p:sp>
          <p:nvSpPr>
            <p:cNvPr id="30" name="Rectangle 29">
              <a:extLst>
                <a:ext uri="{FF2B5EF4-FFF2-40B4-BE49-F238E27FC236}">
                  <a16:creationId xmlns:a16="http://schemas.microsoft.com/office/drawing/2014/main" id="{4232D6C7-57F3-5B36-0A67-BADCA2E0753D}"/>
                </a:ext>
                <a:ext uri="{C183D7F6-B498-43B3-948B-1728B52AA6E4}">
                  <adec:decorative xmlns:adec="http://schemas.microsoft.com/office/drawing/2017/decorative" val="1"/>
                </a:ext>
              </a:extLst>
            </p:cNvPr>
            <p:cNvSpPr/>
            <p:nvPr/>
          </p:nvSpPr>
          <p:spPr bwMode="auto">
            <a:xfrm>
              <a:off x="5609837" y="2866834"/>
              <a:ext cx="1934236" cy="222961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a:extLst>
                <a:ext uri="{FF2B5EF4-FFF2-40B4-BE49-F238E27FC236}">
                  <a16:creationId xmlns:a16="http://schemas.microsoft.com/office/drawing/2014/main" id="{FC791562-49CF-CCDE-80C6-A4B1CAD31ABC}"/>
                </a:ext>
                <a:ext uri="{C183D7F6-B498-43B3-948B-1728B52AA6E4}">
                  <adec:decorative xmlns:adec="http://schemas.microsoft.com/office/drawing/2017/decorative" val="1"/>
                </a:ext>
              </a:extLst>
            </p:cNvPr>
            <p:cNvSpPr/>
            <p:nvPr/>
          </p:nvSpPr>
          <p:spPr bwMode="auto">
            <a:xfrm>
              <a:off x="7768820" y="2913077"/>
              <a:ext cx="1934236" cy="222961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32" name="Rectangle 31">
              <a:extLst>
                <a:ext uri="{FF2B5EF4-FFF2-40B4-BE49-F238E27FC236}">
                  <a16:creationId xmlns:a16="http://schemas.microsoft.com/office/drawing/2014/main" id="{FFE73B4A-CD4E-75AB-5084-9DD17E7F816F}"/>
                </a:ext>
                <a:ext uri="{C183D7F6-B498-43B3-948B-1728B52AA6E4}">
                  <adec:decorative xmlns:adec="http://schemas.microsoft.com/office/drawing/2017/decorative" val="1"/>
                </a:ext>
              </a:extLst>
            </p:cNvPr>
            <p:cNvSpPr/>
            <p:nvPr/>
          </p:nvSpPr>
          <p:spPr bwMode="auto">
            <a:xfrm>
              <a:off x="9892684" y="2911872"/>
              <a:ext cx="1934236" cy="222961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cxnSp>
          <p:nvCxnSpPr>
            <p:cNvPr id="33" name="Connector: Elbow 32">
              <a:extLst>
                <a:ext uri="{FF2B5EF4-FFF2-40B4-BE49-F238E27FC236}">
                  <a16:creationId xmlns:a16="http://schemas.microsoft.com/office/drawing/2014/main" id="{CDB37FCE-CB31-3378-3F40-8496210A70B3}"/>
                </a:ext>
              </a:extLst>
            </p:cNvPr>
            <p:cNvCxnSpPr>
              <a:cxnSpLocks/>
              <a:stCxn id="19" idx="3"/>
              <a:endCxn id="20" idx="1"/>
            </p:cNvCxnSpPr>
            <p:nvPr/>
          </p:nvCxnSpPr>
          <p:spPr>
            <a:xfrm flipV="1">
              <a:off x="7338899" y="3472208"/>
              <a:ext cx="600651" cy="498209"/>
            </a:xfrm>
            <a:prstGeom prst="bentConnector3">
              <a:avLst/>
            </a:prstGeom>
            <a:ln>
              <a:solidFill>
                <a:schemeClr val="tx1"/>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0CF4F6A9-72B0-2A39-952F-1D5C908CC440}"/>
                </a:ext>
              </a:extLst>
            </p:cNvPr>
            <p:cNvCxnSpPr>
              <a:cxnSpLocks/>
              <a:stCxn id="19" idx="3"/>
              <a:endCxn id="21" idx="1"/>
            </p:cNvCxnSpPr>
            <p:nvPr/>
          </p:nvCxnSpPr>
          <p:spPr>
            <a:xfrm>
              <a:off x="7338899" y="3970417"/>
              <a:ext cx="600651" cy="531245"/>
            </a:xfrm>
            <a:prstGeom prst="bentConnector3">
              <a:avLst/>
            </a:prstGeom>
            <a:ln>
              <a:solidFill>
                <a:schemeClr val="tx1"/>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E8157459-97AA-1BC6-8B92-44036DACCBA5}"/>
                </a:ext>
              </a:extLst>
            </p:cNvPr>
            <p:cNvCxnSpPr>
              <a:cxnSpLocks/>
              <a:stCxn id="20" idx="3"/>
              <a:endCxn id="22" idx="1"/>
            </p:cNvCxnSpPr>
            <p:nvPr/>
          </p:nvCxnSpPr>
          <p:spPr>
            <a:xfrm flipV="1">
              <a:off x="9489688" y="3247299"/>
              <a:ext cx="436983" cy="224909"/>
            </a:xfrm>
            <a:prstGeom prst="bentConnector3">
              <a:avLst/>
            </a:prstGeom>
            <a:ln>
              <a:solidFill>
                <a:schemeClr val="tx1"/>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97676059-45B7-8BB0-3169-6F694F58D5DF}"/>
                </a:ext>
              </a:extLst>
            </p:cNvPr>
            <p:cNvCxnSpPr>
              <a:cxnSpLocks/>
              <a:stCxn id="20" idx="3"/>
              <a:endCxn id="23" idx="1"/>
            </p:cNvCxnSpPr>
            <p:nvPr/>
          </p:nvCxnSpPr>
          <p:spPr>
            <a:xfrm>
              <a:off x="9489688" y="3472208"/>
              <a:ext cx="436982" cy="318204"/>
            </a:xfrm>
            <a:prstGeom prst="bentConnector3">
              <a:avLst/>
            </a:prstGeom>
            <a:ln>
              <a:solidFill>
                <a:schemeClr val="tx1"/>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6224D47F-E45E-B7A6-2406-A259A7AA7990}"/>
                </a:ext>
              </a:extLst>
            </p:cNvPr>
            <p:cNvCxnSpPr>
              <a:cxnSpLocks/>
              <a:stCxn id="21" idx="3"/>
              <a:endCxn id="29" idx="1"/>
            </p:cNvCxnSpPr>
            <p:nvPr/>
          </p:nvCxnSpPr>
          <p:spPr>
            <a:xfrm>
              <a:off x="9489688" y="4501662"/>
              <a:ext cx="527860" cy="430"/>
            </a:xfrm>
            <a:prstGeom prst="bentConnector3">
              <a:avLst>
                <a:gd name="adj1" fmla="val 50000"/>
              </a:avLst>
            </a:prstGeom>
            <a:ln>
              <a:solidFill>
                <a:schemeClr val="tx1"/>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21288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280081B4-BDE0-8CED-006B-68094ADCEA01}"/>
              </a:ext>
            </a:extLst>
          </p:cNvPr>
          <p:cNvSpPr txBox="1">
            <a:spLocks/>
          </p:cNvSpPr>
          <p:nvPr/>
        </p:nvSpPr>
        <p:spPr>
          <a:xfrm>
            <a:off x="572387" y="1507893"/>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Create Blob Containers</a:t>
            </a:r>
            <a:endParaRPr lang="en-US" dirty="0"/>
          </a:p>
        </p:txBody>
      </p:sp>
      <p:sp>
        <p:nvSpPr>
          <p:cNvPr id="11" name="Rectangle 10">
            <a:extLst>
              <a:ext uri="{FF2B5EF4-FFF2-40B4-BE49-F238E27FC236}">
                <a16:creationId xmlns:a16="http://schemas.microsoft.com/office/drawing/2014/main" id="{AC6A3EE5-1DEB-961C-B1F0-4F36F084EAF9}"/>
              </a:ext>
            </a:extLst>
          </p:cNvPr>
          <p:cNvSpPr/>
          <p:nvPr/>
        </p:nvSpPr>
        <p:spPr>
          <a:xfrm>
            <a:off x="572387" y="3010319"/>
            <a:ext cx="5753099" cy="51787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All blobs must be in a container</a:t>
            </a:r>
          </a:p>
        </p:txBody>
      </p:sp>
      <p:sp>
        <p:nvSpPr>
          <p:cNvPr id="12" name="Rectangle 11">
            <a:extLst>
              <a:ext uri="{FF2B5EF4-FFF2-40B4-BE49-F238E27FC236}">
                <a16:creationId xmlns:a16="http://schemas.microsoft.com/office/drawing/2014/main" id="{AFF0FCC1-493C-64B1-CB2B-5568D0CCF587}"/>
              </a:ext>
            </a:extLst>
          </p:cNvPr>
          <p:cNvSpPr/>
          <p:nvPr/>
        </p:nvSpPr>
        <p:spPr>
          <a:xfrm>
            <a:off x="572387" y="3766204"/>
            <a:ext cx="5753099" cy="51787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Accounts have unlimited containers</a:t>
            </a:r>
          </a:p>
        </p:txBody>
      </p:sp>
      <p:sp>
        <p:nvSpPr>
          <p:cNvPr id="13" name="Rectangle 12">
            <a:extLst>
              <a:ext uri="{FF2B5EF4-FFF2-40B4-BE49-F238E27FC236}">
                <a16:creationId xmlns:a16="http://schemas.microsoft.com/office/drawing/2014/main" id="{56505035-B2D4-116C-2C73-0D77305E20D6}"/>
              </a:ext>
            </a:extLst>
          </p:cNvPr>
          <p:cNvSpPr/>
          <p:nvPr/>
        </p:nvSpPr>
        <p:spPr>
          <a:xfrm>
            <a:off x="572387" y="4522089"/>
            <a:ext cx="5753099" cy="51787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Containers can have unlimited blobs</a:t>
            </a:r>
          </a:p>
        </p:txBody>
      </p:sp>
      <p:sp>
        <p:nvSpPr>
          <p:cNvPr id="14" name="Rectangle 13">
            <a:extLst>
              <a:ext uri="{FF2B5EF4-FFF2-40B4-BE49-F238E27FC236}">
                <a16:creationId xmlns:a16="http://schemas.microsoft.com/office/drawing/2014/main" id="{3093501C-4B83-86F0-6650-73168E72BD7D}"/>
              </a:ext>
            </a:extLst>
          </p:cNvPr>
          <p:cNvSpPr/>
          <p:nvPr/>
        </p:nvSpPr>
        <p:spPr>
          <a:xfrm>
            <a:off x="572387" y="5277974"/>
            <a:ext cx="5753099" cy="51787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lvl="0"/>
            <a:r>
              <a:rPr lang="en-US" sz="2000" dirty="0">
                <a:solidFill>
                  <a:schemeClr val="tx1"/>
                </a:solidFill>
              </a:rPr>
              <a:t>Restrict access using the public access level </a:t>
            </a:r>
          </a:p>
        </p:txBody>
      </p:sp>
      <p:pic>
        <p:nvPicPr>
          <p:cNvPr id="15" name="Picture 14" descr="Screenshot of the Create Container portal page. ">
            <a:extLst>
              <a:ext uri="{FF2B5EF4-FFF2-40B4-BE49-F238E27FC236}">
                <a16:creationId xmlns:a16="http://schemas.microsoft.com/office/drawing/2014/main" id="{F67C776D-8A9E-EB3D-2C18-FEED80DEC6F2}"/>
              </a:ext>
            </a:extLst>
          </p:cNvPr>
          <p:cNvPicPr>
            <a:picLocks noChangeAspect="1"/>
          </p:cNvPicPr>
          <p:nvPr/>
        </p:nvPicPr>
        <p:blipFill>
          <a:blip r:embed="rId7"/>
          <a:stretch>
            <a:fillRect/>
          </a:stretch>
        </p:blipFill>
        <p:spPr>
          <a:xfrm>
            <a:off x="7034545" y="2674239"/>
            <a:ext cx="4514850" cy="3695700"/>
          </a:xfrm>
          <a:prstGeom prst="rect">
            <a:avLst/>
          </a:prstGeom>
        </p:spPr>
      </p:pic>
    </p:spTree>
    <p:extLst>
      <p:ext uri="{BB962C8B-B14F-4D97-AF65-F5344CB8AC3E}">
        <p14:creationId xmlns:p14="http://schemas.microsoft.com/office/powerpoint/2010/main" val="1302423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AC275200-EB5D-C458-79EC-A4934FBEE121}"/>
              </a:ext>
            </a:extLst>
          </p:cNvPr>
          <p:cNvSpPr txBox="1">
            <a:spLocks/>
          </p:cNvSpPr>
          <p:nvPr/>
        </p:nvSpPr>
        <p:spPr>
          <a:xfrm>
            <a:off x="705624" y="1184781"/>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cs typeface="Segoe UI"/>
              </a:rPr>
              <a:t>Create Blob Access Tiers</a:t>
            </a:r>
            <a:endParaRPr lang="en-US" dirty="0">
              <a:cs typeface="Segoe UI"/>
            </a:endParaRPr>
          </a:p>
        </p:txBody>
      </p:sp>
      <p:sp>
        <p:nvSpPr>
          <p:cNvPr id="11" name="Rectangle 10">
            <a:extLst>
              <a:ext uri="{FF2B5EF4-FFF2-40B4-BE49-F238E27FC236}">
                <a16:creationId xmlns:a16="http://schemas.microsoft.com/office/drawing/2014/main" id="{D33CB32A-4EE1-C759-4D93-9C8A8AD3863C}"/>
              </a:ext>
            </a:extLst>
          </p:cNvPr>
          <p:cNvSpPr/>
          <p:nvPr/>
        </p:nvSpPr>
        <p:spPr>
          <a:xfrm>
            <a:off x="719341" y="2014801"/>
            <a:ext cx="5777483" cy="90754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b="1" dirty="0">
                <a:solidFill>
                  <a:schemeClr val="tx1"/>
                </a:solidFill>
                <a:latin typeface="+mj-lt"/>
              </a:rPr>
              <a:t>Hot tier – </a:t>
            </a:r>
            <a:r>
              <a:rPr lang="en-US" sz="2000" dirty="0">
                <a:solidFill>
                  <a:schemeClr val="tx1"/>
                </a:solidFill>
              </a:rPr>
              <a:t>Data that is accessed or modified frequently</a:t>
            </a:r>
          </a:p>
        </p:txBody>
      </p:sp>
      <p:sp>
        <p:nvSpPr>
          <p:cNvPr id="12" name="Rectangle 11">
            <a:extLst>
              <a:ext uri="{FF2B5EF4-FFF2-40B4-BE49-F238E27FC236}">
                <a16:creationId xmlns:a16="http://schemas.microsoft.com/office/drawing/2014/main" id="{AED7F94E-9F9B-10D6-68CF-7CAA2CA20161}"/>
              </a:ext>
            </a:extLst>
          </p:cNvPr>
          <p:cNvSpPr/>
          <p:nvPr/>
        </p:nvSpPr>
        <p:spPr>
          <a:xfrm>
            <a:off x="719341" y="3050322"/>
            <a:ext cx="5777483" cy="108790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b="1" dirty="0">
                <a:solidFill>
                  <a:schemeClr val="tx1"/>
                </a:solidFill>
                <a:latin typeface="+mj-lt"/>
              </a:rPr>
              <a:t>Cool tier –</a:t>
            </a:r>
            <a:r>
              <a:rPr lang="en-US" sz="2000" dirty="0">
                <a:solidFill>
                  <a:schemeClr val="tx1"/>
                </a:solidFill>
                <a:latin typeface="+mj-lt"/>
              </a:rPr>
              <a:t> </a:t>
            </a:r>
            <a:r>
              <a:rPr lang="en-US" sz="2000" dirty="0">
                <a:solidFill>
                  <a:schemeClr val="tx1"/>
                </a:solidFill>
              </a:rPr>
              <a:t>Data that is infrequently accessed or modified and stored for at least 30 days</a:t>
            </a:r>
          </a:p>
        </p:txBody>
      </p:sp>
      <p:sp>
        <p:nvSpPr>
          <p:cNvPr id="13" name="Rectangle 12">
            <a:extLst>
              <a:ext uri="{FF2B5EF4-FFF2-40B4-BE49-F238E27FC236}">
                <a16:creationId xmlns:a16="http://schemas.microsoft.com/office/drawing/2014/main" id="{1C139829-E26E-74BE-1DEB-7D78387025C9}"/>
              </a:ext>
            </a:extLst>
          </p:cNvPr>
          <p:cNvSpPr/>
          <p:nvPr/>
        </p:nvSpPr>
        <p:spPr>
          <a:xfrm>
            <a:off x="705624" y="4191502"/>
            <a:ext cx="5777483" cy="108790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b="1" dirty="0">
                <a:solidFill>
                  <a:schemeClr val="tx1"/>
                </a:solidFill>
                <a:latin typeface="+mj-lt"/>
              </a:rPr>
              <a:t>Cold tier – </a:t>
            </a:r>
            <a:r>
              <a:rPr lang="en-US" sz="2000" dirty="0">
                <a:solidFill>
                  <a:schemeClr val="tx1"/>
                </a:solidFill>
              </a:rPr>
              <a:t>Data that is infrequently accessed or modified and stored for at least 90 days</a:t>
            </a:r>
          </a:p>
        </p:txBody>
      </p:sp>
      <p:sp>
        <p:nvSpPr>
          <p:cNvPr id="14" name="Rectangle 13">
            <a:extLst>
              <a:ext uri="{FF2B5EF4-FFF2-40B4-BE49-F238E27FC236}">
                <a16:creationId xmlns:a16="http://schemas.microsoft.com/office/drawing/2014/main" id="{579934EE-AC1F-36B3-8272-D98C12A0FBED}"/>
              </a:ext>
            </a:extLst>
          </p:cNvPr>
          <p:cNvSpPr/>
          <p:nvPr/>
        </p:nvSpPr>
        <p:spPr>
          <a:xfrm>
            <a:off x="705625" y="5407384"/>
            <a:ext cx="5777483" cy="108482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b="1" dirty="0">
                <a:solidFill>
                  <a:schemeClr val="tx1"/>
                </a:solidFill>
                <a:latin typeface="+mj-lt"/>
              </a:rPr>
              <a:t>Archive</a:t>
            </a:r>
            <a:r>
              <a:rPr lang="en-US" sz="2000" dirty="0">
                <a:solidFill>
                  <a:schemeClr val="tx1"/>
                </a:solidFill>
                <a:latin typeface="+mj-lt"/>
              </a:rPr>
              <a:t> – </a:t>
            </a:r>
            <a:r>
              <a:rPr lang="en-US" sz="2000" dirty="0">
                <a:solidFill>
                  <a:schemeClr val="tx1"/>
                </a:solidFill>
              </a:rPr>
              <a:t>Data that can tolerate several hours of retrieval latency and will remain in the Archive tier for at least 180 days</a:t>
            </a:r>
          </a:p>
        </p:txBody>
      </p:sp>
      <p:pic>
        <p:nvPicPr>
          <p:cNvPr id="15" name="Picture 14" descr="Screenshot access tiers">
            <a:extLst>
              <a:ext uri="{FF2B5EF4-FFF2-40B4-BE49-F238E27FC236}">
                <a16:creationId xmlns:a16="http://schemas.microsoft.com/office/drawing/2014/main" id="{18D4C75E-5B57-0DA9-10C5-ADBE9E90B45A}"/>
              </a:ext>
            </a:extLst>
          </p:cNvPr>
          <p:cNvPicPr>
            <a:picLocks noChangeAspect="1"/>
          </p:cNvPicPr>
          <p:nvPr/>
        </p:nvPicPr>
        <p:blipFill>
          <a:blip r:embed="rId7"/>
          <a:stretch>
            <a:fillRect/>
          </a:stretch>
        </p:blipFill>
        <p:spPr>
          <a:xfrm>
            <a:off x="7067788" y="2300979"/>
            <a:ext cx="4295775" cy="3371850"/>
          </a:xfrm>
          <a:prstGeom prst="rect">
            <a:avLst/>
          </a:prstGeom>
        </p:spPr>
      </p:pic>
    </p:spTree>
    <p:extLst>
      <p:ext uri="{BB962C8B-B14F-4D97-AF65-F5344CB8AC3E}">
        <p14:creationId xmlns:p14="http://schemas.microsoft.com/office/powerpoint/2010/main" val="1874465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6D739A06-715C-1707-5E9A-32197D5EBDC1}"/>
              </a:ext>
            </a:extLst>
          </p:cNvPr>
          <p:cNvSpPr txBox="1">
            <a:spLocks/>
          </p:cNvSpPr>
          <p:nvPr/>
        </p:nvSpPr>
        <p:spPr>
          <a:xfrm>
            <a:off x="1394286" y="694933"/>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t>Add Blob Lifecycle Management Rules</a:t>
            </a:r>
          </a:p>
        </p:txBody>
      </p:sp>
      <p:sp>
        <p:nvSpPr>
          <p:cNvPr id="11" name="Rectangle 10">
            <a:extLst>
              <a:ext uri="{FF2B5EF4-FFF2-40B4-BE49-F238E27FC236}">
                <a16:creationId xmlns:a16="http://schemas.microsoft.com/office/drawing/2014/main" id="{8319491A-1579-2F9E-6B0B-208343523DBE}"/>
              </a:ext>
            </a:extLst>
          </p:cNvPr>
          <p:cNvSpPr/>
          <p:nvPr/>
        </p:nvSpPr>
        <p:spPr>
          <a:xfrm>
            <a:off x="465138" y="1659326"/>
            <a:ext cx="5187210" cy="129354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spcBef>
                <a:spcPts val="600"/>
              </a:spcBef>
              <a:spcAft>
                <a:spcPts val="600"/>
              </a:spcAft>
            </a:pPr>
            <a:r>
              <a:rPr lang="en-US" sz="2000" dirty="0">
                <a:solidFill>
                  <a:schemeClr val="tx1"/>
                </a:solidFill>
                <a:cs typeface="Segoe UI Semilight"/>
              </a:rPr>
              <a:t>Transitioning of blobs to a cooler storage tier to optimize for performance and cost</a:t>
            </a:r>
            <a:endParaRPr lang="en-US" sz="2000" dirty="0">
              <a:solidFill>
                <a:schemeClr val="tx1"/>
              </a:solidFill>
            </a:endParaRPr>
          </a:p>
        </p:txBody>
      </p:sp>
      <p:sp>
        <p:nvSpPr>
          <p:cNvPr id="12" name="Rectangle 11">
            <a:extLst>
              <a:ext uri="{FF2B5EF4-FFF2-40B4-BE49-F238E27FC236}">
                <a16:creationId xmlns:a16="http://schemas.microsoft.com/office/drawing/2014/main" id="{1C1F92B2-16F4-B3C9-B9CC-49705F2446F0}"/>
              </a:ext>
            </a:extLst>
          </p:cNvPr>
          <p:cNvSpPr/>
          <p:nvPr/>
        </p:nvSpPr>
        <p:spPr>
          <a:xfrm>
            <a:off x="465138" y="3106564"/>
            <a:ext cx="5187210" cy="129354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spcBef>
                <a:spcPts val="600"/>
              </a:spcBef>
              <a:spcAft>
                <a:spcPts val="600"/>
              </a:spcAft>
            </a:pPr>
            <a:r>
              <a:rPr lang="en-US" sz="2000" dirty="0">
                <a:solidFill>
                  <a:schemeClr val="tx1"/>
                </a:solidFill>
                <a:cs typeface="Segoe UI Semilight"/>
              </a:rPr>
              <a:t>Delete blobs at the end of their lifecycle</a:t>
            </a:r>
            <a:endParaRPr lang="en-US" sz="2000" dirty="0">
              <a:solidFill>
                <a:schemeClr val="tx1"/>
              </a:solidFill>
            </a:endParaRPr>
          </a:p>
        </p:txBody>
      </p:sp>
      <p:sp>
        <p:nvSpPr>
          <p:cNvPr id="13" name="Rectangle 12">
            <a:extLst>
              <a:ext uri="{FF2B5EF4-FFF2-40B4-BE49-F238E27FC236}">
                <a16:creationId xmlns:a16="http://schemas.microsoft.com/office/drawing/2014/main" id="{BD669750-DDD9-0956-9FE6-7C70AF58EA89}"/>
              </a:ext>
            </a:extLst>
          </p:cNvPr>
          <p:cNvSpPr/>
          <p:nvPr/>
        </p:nvSpPr>
        <p:spPr>
          <a:xfrm>
            <a:off x="465138" y="4624461"/>
            <a:ext cx="5187210" cy="126464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spcBef>
                <a:spcPts val="600"/>
              </a:spcBef>
              <a:spcAft>
                <a:spcPts val="600"/>
              </a:spcAft>
            </a:pPr>
            <a:r>
              <a:rPr lang="en-US" sz="2000" dirty="0">
                <a:solidFill>
                  <a:schemeClr val="tx1"/>
                </a:solidFill>
                <a:cs typeface="Segoe UI Semilight"/>
              </a:rPr>
              <a:t>Apply rules to filtered paths in the Storage Account</a:t>
            </a:r>
            <a:endParaRPr lang="en-US" sz="2000" dirty="0">
              <a:solidFill>
                <a:schemeClr val="tx1"/>
              </a:solidFill>
            </a:endParaRPr>
          </a:p>
        </p:txBody>
      </p:sp>
      <p:pic>
        <p:nvPicPr>
          <p:cNvPr id="14" name="Picture 13" descr="Screenshot of the Add a rule page with If and Then conditions. ">
            <a:extLst>
              <a:ext uri="{FF2B5EF4-FFF2-40B4-BE49-F238E27FC236}">
                <a16:creationId xmlns:a16="http://schemas.microsoft.com/office/drawing/2014/main" id="{AFD638B8-07E5-8681-B8C4-9669E5213F4B}"/>
              </a:ext>
            </a:extLst>
          </p:cNvPr>
          <p:cNvPicPr>
            <a:picLocks noChangeAspect="1"/>
          </p:cNvPicPr>
          <p:nvPr/>
        </p:nvPicPr>
        <p:blipFill>
          <a:blip r:embed="rId7"/>
          <a:stretch>
            <a:fillRect/>
          </a:stretch>
        </p:blipFill>
        <p:spPr>
          <a:xfrm>
            <a:off x="5946155" y="1196931"/>
            <a:ext cx="6025182" cy="5230137"/>
          </a:xfrm>
          <a:prstGeom prst="rect">
            <a:avLst/>
          </a:prstGeom>
        </p:spPr>
      </p:pic>
    </p:spTree>
    <p:extLst>
      <p:ext uri="{BB962C8B-B14F-4D97-AF65-F5344CB8AC3E}">
        <p14:creationId xmlns:p14="http://schemas.microsoft.com/office/powerpoint/2010/main" val="3918997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6A56CB9F-769C-80E0-0928-A4D3B4628C79}"/>
              </a:ext>
            </a:extLst>
          </p:cNvPr>
          <p:cNvSpPr txBox="1">
            <a:spLocks/>
          </p:cNvSpPr>
          <p:nvPr/>
        </p:nvSpPr>
        <p:spPr>
          <a:xfrm>
            <a:off x="449594" y="1339146"/>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Determine Blob Object Replication</a:t>
            </a:r>
            <a:endParaRPr lang="en-US" dirty="0"/>
          </a:p>
        </p:txBody>
      </p:sp>
      <p:sp>
        <p:nvSpPr>
          <p:cNvPr id="11" name="Rectangle 10">
            <a:extLst>
              <a:ext uri="{FF2B5EF4-FFF2-40B4-BE49-F238E27FC236}">
                <a16:creationId xmlns:a16="http://schemas.microsoft.com/office/drawing/2014/main" id="{C3C6943A-5FF4-0EC5-6020-A8A1B532D112}"/>
              </a:ext>
            </a:extLst>
          </p:cNvPr>
          <p:cNvSpPr/>
          <p:nvPr/>
        </p:nvSpPr>
        <p:spPr>
          <a:xfrm>
            <a:off x="486664" y="2373477"/>
            <a:ext cx="5716029" cy="565986"/>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Asynchronous to any other Region</a:t>
            </a:r>
          </a:p>
        </p:txBody>
      </p:sp>
      <p:sp>
        <p:nvSpPr>
          <p:cNvPr id="12" name="Rectangle 11">
            <a:extLst>
              <a:ext uri="{FF2B5EF4-FFF2-40B4-BE49-F238E27FC236}">
                <a16:creationId xmlns:a16="http://schemas.microsoft.com/office/drawing/2014/main" id="{70354FCE-19F6-970F-7294-ED1264B15B3F}"/>
              </a:ext>
            </a:extLst>
          </p:cNvPr>
          <p:cNvSpPr/>
          <p:nvPr/>
        </p:nvSpPr>
        <p:spPr>
          <a:xfrm>
            <a:off x="486664" y="3199581"/>
            <a:ext cx="5716029" cy="565986"/>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Minimizes latency for read requests</a:t>
            </a:r>
          </a:p>
        </p:txBody>
      </p:sp>
      <p:sp>
        <p:nvSpPr>
          <p:cNvPr id="13" name="Rectangle 12">
            <a:extLst>
              <a:ext uri="{FF2B5EF4-FFF2-40B4-BE49-F238E27FC236}">
                <a16:creationId xmlns:a16="http://schemas.microsoft.com/office/drawing/2014/main" id="{9BB58140-0913-C571-A9E8-7D40184BB836}"/>
              </a:ext>
            </a:extLst>
          </p:cNvPr>
          <p:cNvSpPr/>
          <p:nvPr/>
        </p:nvSpPr>
        <p:spPr>
          <a:xfrm>
            <a:off x="486664" y="4025685"/>
            <a:ext cx="5716029" cy="565986"/>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Increases efficiency for compute workloads</a:t>
            </a:r>
          </a:p>
        </p:txBody>
      </p:sp>
      <p:sp>
        <p:nvSpPr>
          <p:cNvPr id="14" name="Rectangle 13">
            <a:extLst>
              <a:ext uri="{FF2B5EF4-FFF2-40B4-BE49-F238E27FC236}">
                <a16:creationId xmlns:a16="http://schemas.microsoft.com/office/drawing/2014/main" id="{A88CC2F8-AAE5-F068-2AD0-58137667635B}"/>
              </a:ext>
            </a:extLst>
          </p:cNvPr>
          <p:cNvSpPr/>
          <p:nvPr/>
        </p:nvSpPr>
        <p:spPr>
          <a:xfrm>
            <a:off x="486663" y="4851789"/>
            <a:ext cx="5716029" cy="565986"/>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lvl="0"/>
            <a:r>
              <a:rPr lang="en-US" sz="2000" dirty="0">
                <a:solidFill>
                  <a:schemeClr val="tx1"/>
                </a:solidFill>
              </a:rPr>
              <a:t>Optimizes data distribution</a:t>
            </a:r>
          </a:p>
        </p:txBody>
      </p:sp>
      <p:sp>
        <p:nvSpPr>
          <p:cNvPr id="15" name="Rectangle 14">
            <a:extLst>
              <a:ext uri="{FF2B5EF4-FFF2-40B4-BE49-F238E27FC236}">
                <a16:creationId xmlns:a16="http://schemas.microsoft.com/office/drawing/2014/main" id="{7204462F-D626-04DC-E254-E936C0471653}"/>
              </a:ext>
            </a:extLst>
          </p:cNvPr>
          <p:cNvSpPr/>
          <p:nvPr/>
        </p:nvSpPr>
        <p:spPr>
          <a:xfrm>
            <a:off x="486664" y="5677894"/>
            <a:ext cx="5716029" cy="777534"/>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Optimizes costs</a:t>
            </a:r>
          </a:p>
        </p:txBody>
      </p:sp>
      <p:pic>
        <p:nvPicPr>
          <p:cNvPr id="16" name="Picture 15" descr="Asynchronous replication of blob containers from one region to another. ">
            <a:extLst>
              <a:ext uri="{FF2B5EF4-FFF2-40B4-BE49-F238E27FC236}">
                <a16:creationId xmlns:a16="http://schemas.microsoft.com/office/drawing/2014/main" id="{734670A1-DFE2-B6A0-139F-3D2DED38AE94}"/>
              </a:ext>
            </a:extLst>
          </p:cNvPr>
          <p:cNvPicPr>
            <a:picLocks noChangeAspect="1"/>
          </p:cNvPicPr>
          <p:nvPr/>
        </p:nvPicPr>
        <p:blipFill>
          <a:blip r:embed="rId7"/>
          <a:stretch>
            <a:fillRect/>
          </a:stretch>
        </p:blipFill>
        <p:spPr>
          <a:xfrm>
            <a:off x="6422273" y="2575496"/>
            <a:ext cx="5729351" cy="3571346"/>
          </a:xfrm>
          <a:prstGeom prst="rect">
            <a:avLst/>
          </a:prstGeom>
        </p:spPr>
      </p:pic>
    </p:spTree>
    <p:extLst>
      <p:ext uri="{BB962C8B-B14F-4D97-AF65-F5344CB8AC3E}">
        <p14:creationId xmlns:p14="http://schemas.microsoft.com/office/powerpoint/2010/main" val="1421263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6DFE9E3F-6B57-719B-11C6-BBA8AC91FE0C}"/>
              </a:ext>
            </a:extLst>
          </p:cNvPr>
          <p:cNvSpPr txBox="1">
            <a:spLocks/>
          </p:cNvSpPr>
          <p:nvPr/>
        </p:nvSpPr>
        <p:spPr>
          <a:xfrm>
            <a:off x="661416" y="2433783"/>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Demonstration – Configure Blob Storage</a:t>
            </a:r>
            <a:endParaRPr lang="en-US" dirty="0"/>
          </a:p>
        </p:txBody>
      </p:sp>
      <p:sp>
        <p:nvSpPr>
          <p:cNvPr id="11" name="TextBox 10">
            <a:extLst>
              <a:ext uri="{FF2B5EF4-FFF2-40B4-BE49-F238E27FC236}">
                <a16:creationId xmlns:a16="http://schemas.microsoft.com/office/drawing/2014/main" id="{28C79354-C5D0-30C0-CFFF-64A1BBB2CDD6}"/>
              </a:ext>
            </a:extLst>
          </p:cNvPr>
          <p:cNvSpPr txBox="1"/>
          <p:nvPr/>
        </p:nvSpPr>
        <p:spPr>
          <a:xfrm>
            <a:off x="1089412" y="3618827"/>
            <a:ext cx="5465136" cy="1044901"/>
          </a:xfrm>
          <a:prstGeom prst="rect">
            <a:avLst/>
          </a:prstGeom>
          <a:noFill/>
        </p:spPr>
        <p:txBody>
          <a:bodyPr wrap="square">
            <a:spAutoFit/>
          </a:bodyPr>
          <a:lstStyle/>
          <a:p>
            <a:pPr marL="285750" indent="-285750" defTabSz="932472" fontAlgn="base">
              <a:lnSpc>
                <a:spcPct val="150000"/>
              </a:lnSpc>
              <a:spcBef>
                <a:spcPct val="0"/>
              </a:spcBef>
              <a:spcAft>
                <a:spcPct val="0"/>
              </a:spcAft>
              <a:buFont typeface="Arial" panose="020B0604020202020204" pitchFamily="34" charset="0"/>
              <a:buChar char="•"/>
            </a:pPr>
            <a:r>
              <a:rPr lang="en-US" sz="2200" dirty="0">
                <a:solidFill>
                  <a:schemeClr val="tx1"/>
                </a:solidFill>
              </a:rPr>
              <a:t>Create and configure a container</a:t>
            </a:r>
          </a:p>
          <a:p>
            <a:pPr marL="285750" indent="-285750" defTabSz="932472" fontAlgn="base">
              <a:lnSpc>
                <a:spcPct val="150000"/>
              </a:lnSpc>
              <a:spcBef>
                <a:spcPct val="0"/>
              </a:spcBef>
              <a:spcAft>
                <a:spcPct val="0"/>
              </a:spcAft>
              <a:buFont typeface="Arial" panose="020B0604020202020204" pitchFamily="34" charset="0"/>
              <a:buChar char="•"/>
            </a:pPr>
            <a:r>
              <a:rPr lang="en-US" sz="2200" dirty="0">
                <a:solidFill>
                  <a:schemeClr val="tx1"/>
                </a:solidFill>
              </a:rPr>
              <a:t>Manage </a:t>
            </a:r>
            <a:r>
              <a:rPr lang="en-US" sz="2200" dirty="0"/>
              <a:t>blobs in the container</a:t>
            </a:r>
            <a:endParaRPr lang="en-US" sz="2200" dirty="0">
              <a:solidFill>
                <a:schemeClr val="tx1"/>
              </a:solidFill>
            </a:endParaRPr>
          </a:p>
        </p:txBody>
      </p:sp>
    </p:spTree>
    <p:extLst>
      <p:ext uri="{BB962C8B-B14F-4D97-AF65-F5344CB8AC3E}">
        <p14:creationId xmlns:p14="http://schemas.microsoft.com/office/powerpoint/2010/main" val="2851476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Configure Storage Security</a:t>
            </a:r>
          </a:p>
          <a:p>
            <a:pPr marL="0" marR="0" lvl="0" indent="0" algn="ctr" rtl="0">
              <a:spcBef>
                <a:spcPts val="0"/>
              </a:spcBef>
              <a:spcAft>
                <a:spcPts val="0"/>
              </a:spcAft>
              <a:buNone/>
            </a:pPr>
            <a:endParaRPr lang="en-US" sz="3200" dirty="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2232228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8E804384-D73B-4380-AD35-7C0766A819D4}"/>
              </a:ext>
            </a:extLst>
          </p:cNvPr>
          <p:cNvSpPr txBox="1">
            <a:spLocks/>
          </p:cNvSpPr>
          <p:nvPr/>
        </p:nvSpPr>
        <p:spPr>
          <a:xfrm>
            <a:off x="-35785" y="821146"/>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Review Storage Security Strategies</a:t>
            </a:r>
            <a:endParaRPr lang="en-US" dirty="0"/>
          </a:p>
        </p:txBody>
      </p:sp>
      <p:pic>
        <p:nvPicPr>
          <p:cNvPr id="11" name="Picture 10" descr="Icon of three squares and a cloud">
            <a:extLst>
              <a:ext uri="{FF2B5EF4-FFF2-40B4-BE49-F238E27FC236}">
                <a16:creationId xmlns:a16="http://schemas.microsoft.com/office/drawing/2014/main" id="{D5055450-66F2-582C-F372-8ADB61C14251}"/>
              </a:ext>
            </a:extLst>
          </p:cNvPr>
          <p:cNvPicPr>
            <a:picLocks noChangeAspect="1"/>
          </p:cNvPicPr>
          <p:nvPr/>
        </p:nvPicPr>
        <p:blipFill>
          <a:blip r:embed="rId6"/>
          <a:stretch>
            <a:fillRect/>
          </a:stretch>
        </p:blipFill>
        <p:spPr>
          <a:xfrm>
            <a:off x="550162" y="1758899"/>
            <a:ext cx="859536" cy="859536"/>
          </a:xfrm>
          <a:prstGeom prst="rect">
            <a:avLst/>
          </a:prstGeom>
        </p:spPr>
      </p:pic>
      <p:sp>
        <p:nvSpPr>
          <p:cNvPr id="12" name="Rectangle 11">
            <a:extLst>
              <a:ext uri="{FF2B5EF4-FFF2-40B4-BE49-F238E27FC236}">
                <a16:creationId xmlns:a16="http://schemas.microsoft.com/office/drawing/2014/main" id="{1D86ACB3-7BB2-3450-3B7F-2D944B6AEA95}"/>
              </a:ext>
            </a:extLst>
          </p:cNvPr>
          <p:cNvSpPr/>
          <p:nvPr/>
        </p:nvSpPr>
        <p:spPr bwMode="auto">
          <a:xfrm>
            <a:off x="1676809" y="1672294"/>
            <a:ext cx="4023360"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r>
              <a:rPr lang="en-US" sz="2200" dirty="0">
                <a:solidFill>
                  <a:schemeClr val="tx1"/>
                </a:solidFill>
              </a:rPr>
              <a:t>Storage Service Encryption</a:t>
            </a:r>
          </a:p>
        </p:txBody>
      </p:sp>
      <p:cxnSp>
        <p:nvCxnSpPr>
          <p:cNvPr id="13" name="Straight Connector 12">
            <a:extLst>
              <a:ext uri="{FF2B5EF4-FFF2-40B4-BE49-F238E27FC236}">
                <a16:creationId xmlns:a16="http://schemas.microsoft.com/office/drawing/2014/main" id="{DCD59946-C3F0-F3F0-8789-D8383199F982}"/>
              </a:ext>
              <a:ext uri="{C183D7F6-B498-43B3-948B-1728B52AA6E4}">
                <adec:decorative xmlns:adec="http://schemas.microsoft.com/office/drawing/2017/decorative" val="1"/>
              </a:ext>
            </a:extLst>
          </p:cNvPr>
          <p:cNvCxnSpPr>
            <a:cxnSpLocks/>
          </p:cNvCxnSpPr>
          <p:nvPr/>
        </p:nvCxnSpPr>
        <p:spPr>
          <a:xfrm>
            <a:off x="1682049" y="2856863"/>
            <a:ext cx="433387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4" name="Picture 13" descr="Icon of a webpage showing six squares">
            <a:extLst>
              <a:ext uri="{FF2B5EF4-FFF2-40B4-BE49-F238E27FC236}">
                <a16:creationId xmlns:a16="http://schemas.microsoft.com/office/drawing/2014/main" id="{60D10DB0-79C3-0C66-BFD2-199B2E54C862}"/>
              </a:ext>
            </a:extLst>
          </p:cNvPr>
          <p:cNvPicPr>
            <a:picLocks noChangeAspect="1"/>
          </p:cNvPicPr>
          <p:nvPr/>
        </p:nvPicPr>
        <p:blipFill>
          <a:blip r:embed="rId7"/>
          <a:stretch>
            <a:fillRect/>
          </a:stretch>
        </p:blipFill>
        <p:spPr>
          <a:xfrm>
            <a:off x="550162" y="3096868"/>
            <a:ext cx="859536" cy="859536"/>
          </a:xfrm>
          <a:prstGeom prst="rect">
            <a:avLst/>
          </a:prstGeom>
        </p:spPr>
      </p:pic>
      <p:sp>
        <p:nvSpPr>
          <p:cNvPr id="15" name="Rectangle 14">
            <a:extLst>
              <a:ext uri="{FF2B5EF4-FFF2-40B4-BE49-F238E27FC236}">
                <a16:creationId xmlns:a16="http://schemas.microsoft.com/office/drawing/2014/main" id="{F9D37624-DD1E-C170-D35F-25EE5F695119}"/>
              </a:ext>
            </a:extLst>
          </p:cNvPr>
          <p:cNvSpPr/>
          <p:nvPr/>
        </p:nvSpPr>
        <p:spPr bwMode="auto">
          <a:xfrm>
            <a:off x="1676809" y="3017088"/>
            <a:ext cx="4023360"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200" dirty="0">
                <a:solidFill>
                  <a:schemeClr val="tx1"/>
                </a:solidFill>
              </a:rPr>
              <a:t>Authentication with Entra ID and RBAC</a:t>
            </a:r>
          </a:p>
        </p:txBody>
      </p:sp>
      <p:cxnSp>
        <p:nvCxnSpPr>
          <p:cNvPr id="16" name="Straight Connector 15">
            <a:extLst>
              <a:ext uri="{FF2B5EF4-FFF2-40B4-BE49-F238E27FC236}">
                <a16:creationId xmlns:a16="http://schemas.microsoft.com/office/drawing/2014/main" id="{012B5B21-833E-E5DB-C7EE-04723AE76C86}"/>
              </a:ext>
              <a:ext uri="{C183D7F6-B498-43B3-948B-1728B52AA6E4}">
                <adec:decorative xmlns:adec="http://schemas.microsoft.com/office/drawing/2017/decorative" val="1"/>
              </a:ext>
            </a:extLst>
          </p:cNvPr>
          <p:cNvCxnSpPr>
            <a:cxnSpLocks/>
          </p:cNvCxnSpPr>
          <p:nvPr/>
        </p:nvCxnSpPr>
        <p:spPr>
          <a:xfrm>
            <a:off x="1682049" y="4194832"/>
            <a:ext cx="433387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7" name="Picture 16" descr="Icon of three squares and a cloud">
            <a:extLst>
              <a:ext uri="{FF2B5EF4-FFF2-40B4-BE49-F238E27FC236}">
                <a16:creationId xmlns:a16="http://schemas.microsoft.com/office/drawing/2014/main" id="{6C1B36F6-ADAB-0548-3956-08833B0AEEF7}"/>
              </a:ext>
            </a:extLst>
          </p:cNvPr>
          <p:cNvPicPr>
            <a:picLocks noChangeAspect="1"/>
          </p:cNvPicPr>
          <p:nvPr/>
        </p:nvPicPr>
        <p:blipFill>
          <a:blip r:embed="rId8"/>
          <a:stretch>
            <a:fillRect/>
          </a:stretch>
        </p:blipFill>
        <p:spPr>
          <a:xfrm>
            <a:off x="550162" y="4434837"/>
            <a:ext cx="859536" cy="859536"/>
          </a:xfrm>
          <a:prstGeom prst="rect">
            <a:avLst/>
          </a:prstGeom>
        </p:spPr>
      </p:pic>
      <p:sp>
        <p:nvSpPr>
          <p:cNvPr id="18" name="Rectangle 17">
            <a:extLst>
              <a:ext uri="{FF2B5EF4-FFF2-40B4-BE49-F238E27FC236}">
                <a16:creationId xmlns:a16="http://schemas.microsoft.com/office/drawing/2014/main" id="{B059B0E9-BF1B-C1F8-893A-8198AAD8DB3E}"/>
              </a:ext>
            </a:extLst>
          </p:cNvPr>
          <p:cNvSpPr/>
          <p:nvPr/>
        </p:nvSpPr>
        <p:spPr bwMode="auto">
          <a:xfrm>
            <a:off x="1676809" y="4361882"/>
            <a:ext cx="4023360"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200">
                <a:solidFill>
                  <a:schemeClr val="tx1"/>
                </a:solidFill>
              </a:rPr>
              <a:t>Client-side encryption, HTTPS, and SMB 3.0 for data in transit</a:t>
            </a:r>
          </a:p>
        </p:txBody>
      </p:sp>
      <p:cxnSp>
        <p:nvCxnSpPr>
          <p:cNvPr id="19" name="Straight Connector 18">
            <a:extLst>
              <a:ext uri="{FF2B5EF4-FFF2-40B4-BE49-F238E27FC236}">
                <a16:creationId xmlns:a16="http://schemas.microsoft.com/office/drawing/2014/main" id="{A0590087-4C4F-BF41-E780-5D009D27B4A5}"/>
              </a:ext>
              <a:ext uri="{C183D7F6-B498-43B3-948B-1728B52AA6E4}">
                <adec:decorative xmlns:adec="http://schemas.microsoft.com/office/drawing/2017/decorative" val="1"/>
              </a:ext>
            </a:extLst>
          </p:cNvPr>
          <p:cNvCxnSpPr>
            <a:cxnSpLocks/>
          </p:cNvCxnSpPr>
          <p:nvPr/>
        </p:nvCxnSpPr>
        <p:spPr>
          <a:xfrm>
            <a:off x="1682049" y="5532801"/>
            <a:ext cx="433387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20" name="Picture 19" descr="Icon of three squares and a cloud">
            <a:extLst>
              <a:ext uri="{FF2B5EF4-FFF2-40B4-BE49-F238E27FC236}">
                <a16:creationId xmlns:a16="http://schemas.microsoft.com/office/drawing/2014/main" id="{9568DE5F-15BC-F5A8-BFEE-EBDABD7C90C1}"/>
              </a:ext>
            </a:extLst>
          </p:cNvPr>
          <p:cNvPicPr>
            <a:picLocks noChangeAspect="1"/>
          </p:cNvPicPr>
          <p:nvPr/>
        </p:nvPicPr>
        <p:blipFill>
          <a:blip r:embed="rId9"/>
          <a:stretch>
            <a:fillRect/>
          </a:stretch>
        </p:blipFill>
        <p:spPr>
          <a:xfrm>
            <a:off x="550162" y="5772807"/>
            <a:ext cx="859536" cy="859536"/>
          </a:xfrm>
          <a:prstGeom prst="rect">
            <a:avLst/>
          </a:prstGeom>
        </p:spPr>
      </p:pic>
      <p:sp>
        <p:nvSpPr>
          <p:cNvPr id="21" name="Rectangle 20">
            <a:extLst>
              <a:ext uri="{FF2B5EF4-FFF2-40B4-BE49-F238E27FC236}">
                <a16:creationId xmlns:a16="http://schemas.microsoft.com/office/drawing/2014/main" id="{B4A1D468-F059-796D-4733-5C6136E82D3C}"/>
              </a:ext>
            </a:extLst>
          </p:cNvPr>
          <p:cNvSpPr/>
          <p:nvPr/>
        </p:nvSpPr>
        <p:spPr bwMode="auto">
          <a:xfrm>
            <a:off x="1676809" y="5706674"/>
            <a:ext cx="4023360"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200">
                <a:solidFill>
                  <a:schemeClr val="tx1"/>
                </a:solidFill>
              </a:rPr>
              <a:t>Azure disk encryption</a:t>
            </a:r>
          </a:p>
        </p:txBody>
      </p:sp>
      <p:pic>
        <p:nvPicPr>
          <p:cNvPr id="22" name="Picture 21" descr="Icon of a magnifying glass">
            <a:extLst>
              <a:ext uri="{FF2B5EF4-FFF2-40B4-BE49-F238E27FC236}">
                <a16:creationId xmlns:a16="http://schemas.microsoft.com/office/drawing/2014/main" id="{5C9074C6-FC74-7559-2597-F57B01264AA6}"/>
              </a:ext>
            </a:extLst>
          </p:cNvPr>
          <p:cNvPicPr>
            <a:picLocks noChangeAspect="1"/>
          </p:cNvPicPr>
          <p:nvPr/>
        </p:nvPicPr>
        <p:blipFill>
          <a:blip r:embed="rId10"/>
          <a:stretch>
            <a:fillRect/>
          </a:stretch>
        </p:blipFill>
        <p:spPr>
          <a:xfrm>
            <a:off x="6404861" y="1758899"/>
            <a:ext cx="859536" cy="859536"/>
          </a:xfrm>
          <a:prstGeom prst="rect">
            <a:avLst/>
          </a:prstGeom>
        </p:spPr>
      </p:pic>
      <p:sp>
        <p:nvSpPr>
          <p:cNvPr id="23" name="Rectangle 22">
            <a:extLst>
              <a:ext uri="{FF2B5EF4-FFF2-40B4-BE49-F238E27FC236}">
                <a16:creationId xmlns:a16="http://schemas.microsoft.com/office/drawing/2014/main" id="{2C709222-A368-9942-AF55-77DC768CBDBC}"/>
              </a:ext>
            </a:extLst>
          </p:cNvPr>
          <p:cNvSpPr/>
          <p:nvPr/>
        </p:nvSpPr>
        <p:spPr bwMode="auto">
          <a:xfrm>
            <a:off x="7541187" y="1672294"/>
            <a:ext cx="4459922"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200">
                <a:solidFill>
                  <a:schemeClr val="tx1"/>
                </a:solidFill>
              </a:rPr>
              <a:t>Shared Access Signatures – delegated access</a:t>
            </a:r>
          </a:p>
        </p:txBody>
      </p:sp>
      <p:cxnSp>
        <p:nvCxnSpPr>
          <p:cNvPr id="24" name="Straight Connector 23">
            <a:extLst>
              <a:ext uri="{FF2B5EF4-FFF2-40B4-BE49-F238E27FC236}">
                <a16:creationId xmlns:a16="http://schemas.microsoft.com/office/drawing/2014/main" id="{75588EF6-02B3-13E7-61A2-16E563687262}"/>
              </a:ext>
              <a:ext uri="{C183D7F6-B498-43B3-948B-1728B52AA6E4}">
                <adec:decorative xmlns:adec="http://schemas.microsoft.com/office/drawing/2017/decorative" val="1"/>
              </a:ext>
            </a:extLst>
          </p:cNvPr>
          <p:cNvCxnSpPr>
            <a:cxnSpLocks/>
          </p:cNvCxnSpPr>
          <p:nvPr/>
        </p:nvCxnSpPr>
        <p:spPr>
          <a:xfrm>
            <a:off x="7536748" y="2856863"/>
            <a:ext cx="433387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25" name="Picture 24" descr="Icon of four circles connected by lines and arranged in a diamond pattern">
            <a:extLst>
              <a:ext uri="{FF2B5EF4-FFF2-40B4-BE49-F238E27FC236}">
                <a16:creationId xmlns:a16="http://schemas.microsoft.com/office/drawing/2014/main" id="{C3E24E5C-392D-5537-1BC0-09B7DDBFEF28}"/>
              </a:ext>
            </a:extLst>
          </p:cNvPr>
          <p:cNvPicPr>
            <a:picLocks noChangeAspect="1"/>
          </p:cNvPicPr>
          <p:nvPr/>
        </p:nvPicPr>
        <p:blipFill>
          <a:blip r:embed="rId11"/>
          <a:stretch>
            <a:fillRect/>
          </a:stretch>
        </p:blipFill>
        <p:spPr>
          <a:xfrm>
            <a:off x="6404861" y="3096868"/>
            <a:ext cx="859536" cy="859536"/>
          </a:xfrm>
          <a:prstGeom prst="rect">
            <a:avLst/>
          </a:prstGeom>
        </p:spPr>
      </p:pic>
      <p:sp>
        <p:nvSpPr>
          <p:cNvPr id="26" name="Rectangle 25">
            <a:extLst>
              <a:ext uri="{FF2B5EF4-FFF2-40B4-BE49-F238E27FC236}">
                <a16:creationId xmlns:a16="http://schemas.microsoft.com/office/drawing/2014/main" id="{D00C1E83-9C36-5BFF-4BD5-DF98474D0447}"/>
              </a:ext>
            </a:extLst>
          </p:cNvPr>
          <p:cNvSpPr/>
          <p:nvPr/>
        </p:nvSpPr>
        <p:spPr bwMode="auto">
          <a:xfrm>
            <a:off x="7541187" y="3017088"/>
            <a:ext cx="4459922"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200">
                <a:solidFill>
                  <a:schemeClr val="tx1"/>
                </a:solidFill>
              </a:rPr>
              <a:t>Shared Key – encrypted</a:t>
            </a:r>
            <a:br>
              <a:rPr lang="en-US" sz="2200">
                <a:solidFill>
                  <a:schemeClr val="tx1"/>
                </a:solidFill>
              </a:rPr>
            </a:br>
            <a:r>
              <a:rPr lang="en-US" sz="2200">
                <a:solidFill>
                  <a:schemeClr val="tx1"/>
                </a:solidFill>
              </a:rPr>
              <a:t>signature string</a:t>
            </a:r>
          </a:p>
        </p:txBody>
      </p:sp>
      <p:cxnSp>
        <p:nvCxnSpPr>
          <p:cNvPr id="27" name="Straight Connector 26">
            <a:extLst>
              <a:ext uri="{FF2B5EF4-FFF2-40B4-BE49-F238E27FC236}">
                <a16:creationId xmlns:a16="http://schemas.microsoft.com/office/drawing/2014/main" id="{2E1F5070-ECA6-F713-6964-3D560C33DF63}"/>
              </a:ext>
              <a:ext uri="{C183D7F6-B498-43B3-948B-1728B52AA6E4}">
                <adec:decorative xmlns:adec="http://schemas.microsoft.com/office/drawing/2017/decorative" val="1"/>
              </a:ext>
            </a:extLst>
          </p:cNvPr>
          <p:cNvCxnSpPr>
            <a:cxnSpLocks/>
          </p:cNvCxnSpPr>
          <p:nvPr/>
        </p:nvCxnSpPr>
        <p:spPr>
          <a:xfrm>
            <a:off x="7536748" y="4194832"/>
            <a:ext cx="433387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28" name="Picture 27" descr="Icon of a person">
            <a:extLst>
              <a:ext uri="{FF2B5EF4-FFF2-40B4-BE49-F238E27FC236}">
                <a16:creationId xmlns:a16="http://schemas.microsoft.com/office/drawing/2014/main" id="{31084238-1BAF-A1FD-F84B-474D51E3BCD9}"/>
              </a:ext>
            </a:extLst>
          </p:cNvPr>
          <p:cNvPicPr>
            <a:picLocks noChangeAspect="1"/>
          </p:cNvPicPr>
          <p:nvPr/>
        </p:nvPicPr>
        <p:blipFill>
          <a:blip r:embed="rId12"/>
          <a:stretch>
            <a:fillRect/>
          </a:stretch>
        </p:blipFill>
        <p:spPr>
          <a:xfrm>
            <a:off x="6404861" y="4434837"/>
            <a:ext cx="859536" cy="859536"/>
          </a:xfrm>
          <a:prstGeom prst="rect">
            <a:avLst/>
          </a:prstGeom>
        </p:spPr>
      </p:pic>
      <p:sp>
        <p:nvSpPr>
          <p:cNvPr id="29" name="Rectangle 28">
            <a:extLst>
              <a:ext uri="{FF2B5EF4-FFF2-40B4-BE49-F238E27FC236}">
                <a16:creationId xmlns:a16="http://schemas.microsoft.com/office/drawing/2014/main" id="{DB8E745A-87D6-BFDA-4BC9-BBD76C917723}"/>
              </a:ext>
            </a:extLst>
          </p:cNvPr>
          <p:cNvSpPr/>
          <p:nvPr/>
        </p:nvSpPr>
        <p:spPr bwMode="auto">
          <a:xfrm>
            <a:off x="7541187" y="4361882"/>
            <a:ext cx="4459922"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200">
                <a:solidFill>
                  <a:schemeClr val="tx1"/>
                </a:solidFill>
              </a:rPr>
              <a:t>Anonymous access to containers and blobs</a:t>
            </a:r>
          </a:p>
        </p:txBody>
      </p:sp>
    </p:spTree>
    <p:extLst>
      <p:ext uri="{BB962C8B-B14F-4D97-AF65-F5344CB8AC3E}">
        <p14:creationId xmlns:p14="http://schemas.microsoft.com/office/powerpoint/2010/main" val="1767998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AD2E9077-B6EE-2D07-899E-DDD9297CB2D2}"/>
              </a:ext>
            </a:extLst>
          </p:cNvPr>
          <p:cNvSpPr txBox="1">
            <a:spLocks/>
          </p:cNvSpPr>
          <p:nvPr/>
        </p:nvSpPr>
        <p:spPr>
          <a:xfrm>
            <a:off x="1609076" y="867381"/>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Create Shared Access Signatures</a:t>
            </a:r>
          </a:p>
        </p:txBody>
      </p:sp>
      <p:sp>
        <p:nvSpPr>
          <p:cNvPr id="11" name="Rectangle 10">
            <a:extLst>
              <a:ext uri="{FF2B5EF4-FFF2-40B4-BE49-F238E27FC236}">
                <a16:creationId xmlns:a16="http://schemas.microsoft.com/office/drawing/2014/main" id="{660E12B4-7452-D8A0-B666-0420074FF057}"/>
              </a:ext>
            </a:extLst>
          </p:cNvPr>
          <p:cNvSpPr/>
          <p:nvPr/>
        </p:nvSpPr>
        <p:spPr>
          <a:xfrm>
            <a:off x="553337" y="1952463"/>
            <a:ext cx="6326187" cy="80208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Provides delegated access to resources</a:t>
            </a:r>
          </a:p>
        </p:txBody>
      </p:sp>
      <p:sp>
        <p:nvSpPr>
          <p:cNvPr id="12" name="Rectangle 11">
            <a:extLst>
              <a:ext uri="{FF2B5EF4-FFF2-40B4-BE49-F238E27FC236}">
                <a16:creationId xmlns:a16="http://schemas.microsoft.com/office/drawing/2014/main" id="{DBE3C80A-8233-D75F-14C8-141BA1CFDDC4}"/>
              </a:ext>
            </a:extLst>
          </p:cNvPr>
          <p:cNvSpPr/>
          <p:nvPr/>
        </p:nvSpPr>
        <p:spPr>
          <a:xfrm>
            <a:off x="553337" y="3000557"/>
            <a:ext cx="6326187" cy="80208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cs typeface="Segoe UI Semilight"/>
              </a:rPr>
              <a:t>Grants access to clients without sharing your storage account keys</a:t>
            </a:r>
          </a:p>
        </p:txBody>
      </p:sp>
      <p:sp>
        <p:nvSpPr>
          <p:cNvPr id="13" name="Rectangle 12">
            <a:extLst>
              <a:ext uri="{FF2B5EF4-FFF2-40B4-BE49-F238E27FC236}">
                <a16:creationId xmlns:a16="http://schemas.microsoft.com/office/drawing/2014/main" id="{73DC1A9F-348D-D769-C6D9-E731B5D2A49B}"/>
              </a:ext>
            </a:extLst>
          </p:cNvPr>
          <p:cNvSpPr/>
          <p:nvPr/>
        </p:nvSpPr>
        <p:spPr>
          <a:xfrm>
            <a:off x="553337" y="4048652"/>
            <a:ext cx="6326187" cy="102083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cs typeface="Segoe UI Semilight"/>
              </a:rPr>
              <a:t>The account SAS delegates access</a:t>
            </a:r>
            <a:br>
              <a:rPr lang="en-US" sz="2000">
                <a:solidFill>
                  <a:schemeClr val="tx1"/>
                </a:solidFill>
                <a:cs typeface="Segoe UI Semilight"/>
              </a:rPr>
            </a:br>
            <a:r>
              <a:rPr lang="en-US" sz="2000">
                <a:solidFill>
                  <a:schemeClr val="tx1"/>
                </a:solidFill>
                <a:cs typeface="Segoe UI Semilight"/>
              </a:rPr>
              <a:t>to resources in one or more of the storage services</a:t>
            </a:r>
          </a:p>
        </p:txBody>
      </p:sp>
      <p:sp>
        <p:nvSpPr>
          <p:cNvPr id="14" name="Rectangle 13">
            <a:extLst>
              <a:ext uri="{FF2B5EF4-FFF2-40B4-BE49-F238E27FC236}">
                <a16:creationId xmlns:a16="http://schemas.microsoft.com/office/drawing/2014/main" id="{F79DA1C0-60C0-7AB2-187A-2AE4C1D11E40}"/>
              </a:ext>
            </a:extLst>
          </p:cNvPr>
          <p:cNvSpPr/>
          <p:nvPr/>
        </p:nvSpPr>
        <p:spPr>
          <a:xfrm>
            <a:off x="553337" y="5349101"/>
            <a:ext cx="6326187" cy="102083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The service SAS delegates access</a:t>
            </a:r>
            <a:br>
              <a:rPr lang="en-US" sz="2000">
                <a:solidFill>
                  <a:schemeClr val="tx1"/>
                </a:solidFill>
              </a:rPr>
            </a:br>
            <a:r>
              <a:rPr lang="en-US" sz="2000">
                <a:solidFill>
                  <a:schemeClr val="tx1"/>
                </a:solidFill>
              </a:rPr>
              <a:t>to a resource in just one of the storage services</a:t>
            </a:r>
          </a:p>
        </p:txBody>
      </p:sp>
      <p:pic>
        <p:nvPicPr>
          <p:cNvPr id="15" name="Picture 14" descr="Screenshot of the Generate SAS token and URL page. ">
            <a:extLst>
              <a:ext uri="{FF2B5EF4-FFF2-40B4-BE49-F238E27FC236}">
                <a16:creationId xmlns:a16="http://schemas.microsoft.com/office/drawing/2014/main" id="{115D68EA-C54D-CE7F-B329-C8081ACD7EA8}"/>
              </a:ext>
            </a:extLst>
          </p:cNvPr>
          <p:cNvPicPr>
            <a:picLocks noChangeAspect="1"/>
          </p:cNvPicPr>
          <p:nvPr/>
        </p:nvPicPr>
        <p:blipFill>
          <a:blip r:embed="rId7"/>
          <a:stretch>
            <a:fillRect/>
          </a:stretch>
        </p:blipFill>
        <p:spPr>
          <a:xfrm>
            <a:off x="7791035" y="1742716"/>
            <a:ext cx="3419474" cy="4793732"/>
          </a:xfrm>
          <a:prstGeom prst="rect">
            <a:avLst/>
          </a:prstGeom>
        </p:spPr>
      </p:pic>
    </p:spTree>
    <p:extLst>
      <p:ext uri="{BB962C8B-B14F-4D97-AF65-F5344CB8AC3E}">
        <p14:creationId xmlns:p14="http://schemas.microsoft.com/office/powerpoint/2010/main" val="1702838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54773CAD-A2F1-390C-5B11-4E546F5934E6}"/>
              </a:ext>
            </a:extLst>
          </p:cNvPr>
          <p:cNvSpPr txBox="1">
            <a:spLocks/>
          </p:cNvSpPr>
          <p:nvPr/>
        </p:nvSpPr>
        <p:spPr>
          <a:xfrm>
            <a:off x="2047546" y="496255"/>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Identify URI and SAS Parameters</a:t>
            </a:r>
          </a:p>
        </p:txBody>
      </p:sp>
      <p:sp>
        <p:nvSpPr>
          <p:cNvPr id="11" name="Rectangle 10">
            <a:extLst>
              <a:ext uri="{FF2B5EF4-FFF2-40B4-BE49-F238E27FC236}">
                <a16:creationId xmlns:a16="http://schemas.microsoft.com/office/drawing/2014/main" id="{3645A172-7E90-F97E-A390-3EFB3E9655EC}"/>
              </a:ext>
            </a:extLst>
          </p:cNvPr>
          <p:cNvSpPr/>
          <p:nvPr/>
        </p:nvSpPr>
        <p:spPr>
          <a:xfrm>
            <a:off x="427033" y="1192212"/>
            <a:ext cx="11582399" cy="1220788"/>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marL="290513" indent="-290513">
              <a:spcAft>
                <a:spcPts val="1200"/>
              </a:spcAft>
              <a:buFont typeface="Arial" panose="020B0604020202020204" pitchFamily="34" charset="0"/>
              <a:buChar char="•"/>
            </a:pPr>
            <a:r>
              <a:rPr lang="en-US" sz="2400">
                <a:solidFill>
                  <a:schemeClr val="tx1"/>
                </a:solidFill>
              </a:rPr>
              <a:t>A SAS is a signed URI that points to one or more storage resources </a:t>
            </a:r>
          </a:p>
          <a:p>
            <a:pPr marL="290513" indent="-290513">
              <a:spcAft>
                <a:spcPts val="1200"/>
              </a:spcAft>
              <a:buFont typeface="Arial" panose="020B0604020202020204" pitchFamily="34" charset="0"/>
              <a:buChar char="•"/>
            </a:pPr>
            <a:r>
              <a:rPr lang="en-US" sz="2400">
                <a:solidFill>
                  <a:schemeClr val="tx1"/>
                </a:solidFill>
              </a:rPr>
              <a:t>Consists of a storage resource URI and the SAS token</a:t>
            </a:r>
          </a:p>
        </p:txBody>
      </p:sp>
      <p:sp>
        <p:nvSpPr>
          <p:cNvPr id="12" name="Rectangle 11">
            <a:extLst>
              <a:ext uri="{FF2B5EF4-FFF2-40B4-BE49-F238E27FC236}">
                <a16:creationId xmlns:a16="http://schemas.microsoft.com/office/drawing/2014/main" id="{193D7146-ED85-7FCF-2E0D-8F7994F05CE4}"/>
              </a:ext>
              <a:ext uri="{C183D7F6-B498-43B3-948B-1728B52AA6E4}">
                <adec:decorative xmlns:adec="http://schemas.microsoft.com/office/drawing/2017/decorative" val="1"/>
              </a:ext>
            </a:extLst>
          </p:cNvPr>
          <p:cNvSpPr/>
          <p:nvPr/>
        </p:nvSpPr>
        <p:spPr bwMode="auto">
          <a:xfrm>
            <a:off x="427039" y="2525856"/>
            <a:ext cx="11582400" cy="2334012"/>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pic>
        <p:nvPicPr>
          <p:cNvPr id="13" name="Picture 12" descr="A diagram showing that the Storage Resource and the SAS token combine to form the URI">
            <a:extLst>
              <a:ext uri="{FF2B5EF4-FFF2-40B4-BE49-F238E27FC236}">
                <a16:creationId xmlns:a16="http://schemas.microsoft.com/office/drawing/2014/main" id="{3021BA7D-482B-6E16-D391-BE16A36C9CD3}"/>
              </a:ext>
            </a:extLst>
          </p:cNvPr>
          <p:cNvPicPr>
            <a:picLocks noChangeAspect="1"/>
          </p:cNvPicPr>
          <p:nvPr/>
        </p:nvPicPr>
        <p:blipFill>
          <a:blip r:embed="rId6"/>
          <a:stretch>
            <a:fillRect/>
          </a:stretch>
        </p:blipFill>
        <p:spPr>
          <a:xfrm>
            <a:off x="3285290" y="2561271"/>
            <a:ext cx="5854775" cy="1094850"/>
          </a:xfrm>
          <a:prstGeom prst="rect">
            <a:avLst/>
          </a:prstGeom>
        </p:spPr>
      </p:pic>
      <p:sp>
        <p:nvSpPr>
          <p:cNvPr id="14" name="Rectangle 13">
            <a:extLst>
              <a:ext uri="{FF2B5EF4-FFF2-40B4-BE49-F238E27FC236}">
                <a16:creationId xmlns:a16="http://schemas.microsoft.com/office/drawing/2014/main" id="{6C8FDDA5-529D-6679-9647-E48069AC6259}"/>
              </a:ext>
            </a:extLst>
          </p:cNvPr>
          <p:cNvSpPr/>
          <p:nvPr/>
        </p:nvSpPr>
        <p:spPr>
          <a:xfrm>
            <a:off x="2218267" y="3810953"/>
            <a:ext cx="7786930" cy="923330"/>
          </a:xfrm>
          <a:prstGeom prst="rect">
            <a:avLst/>
          </a:prstGeom>
        </p:spPr>
        <p:txBody>
          <a:bodyPr wrap="square">
            <a:spAutoFit/>
          </a:bodyPr>
          <a:lstStyle/>
          <a:p>
            <a:r>
              <a:rPr lang="en-US" dirty="0">
                <a:solidFill>
                  <a:srgbClr val="A31515"/>
                </a:solidFill>
                <a:latin typeface="Consolas" panose="020B0609020204030204" pitchFamily="49" charset="0"/>
              </a:rPr>
              <a:t>https://myaccount.blob.core.windows.net/?sp=r&amp;st=2020-05-11T18:31:43Z&amp;se=2020-05-12T02:31:43Z&amp;spr=https&amp;sv=2019-10-10&amp;sr=b&amp;sig=jOqABJZHfUVeBQ3yVn7kWiCKlO0sxCiK1rzEchfAz8U%3D</a:t>
            </a:r>
          </a:p>
        </p:txBody>
      </p:sp>
      <p:sp>
        <p:nvSpPr>
          <p:cNvPr id="15" name="Rectangle 14">
            <a:extLst>
              <a:ext uri="{FF2B5EF4-FFF2-40B4-BE49-F238E27FC236}">
                <a16:creationId xmlns:a16="http://schemas.microsoft.com/office/drawing/2014/main" id="{A4A3F889-82B1-ADE2-054A-849A1AC68458}"/>
              </a:ext>
            </a:extLst>
          </p:cNvPr>
          <p:cNvSpPr/>
          <p:nvPr/>
        </p:nvSpPr>
        <p:spPr>
          <a:xfrm>
            <a:off x="427033" y="5019138"/>
            <a:ext cx="11571291" cy="134260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a:spcAft>
                <a:spcPts val="1200"/>
              </a:spcAft>
            </a:pPr>
            <a:r>
              <a:rPr lang="en-US" sz="2400" dirty="0">
                <a:solidFill>
                  <a:schemeClr val="tx1"/>
                </a:solidFill>
              </a:rPr>
              <a:t>Includes parameters for resource URI, storage services version, services,</a:t>
            </a:r>
            <a:br>
              <a:rPr lang="en-US" sz="2400" dirty="0">
                <a:solidFill>
                  <a:schemeClr val="tx1"/>
                </a:solidFill>
              </a:rPr>
            </a:br>
            <a:r>
              <a:rPr lang="en-US" sz="2400" dirty="0">
                <a:solidFill>
                  <a:schemeClr val="tx1"/>
                </a:solidFill>
              </a:rPr>
              <a:t>resource types, start time, expiry time, resource, permissions, IP range, protocol, signature</a:t>
            </a:r>
          </a:p>
        </p:txBody>
      </p:sp>
    </p:spTree>
    <p:extLst>
      <p:ext uri="{BB962C8B-B14F-4D97-AF65-F5344CB8AC3E}">
        <p14:creationId xmlns:p14="http://schemas.microsoft.com/office/powerpoint/2010/main" val="2491253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2CB106F3-18E0-5305-8788-F5AC19F58E30}"/>
              </a:ext>
            </a:extLst>
          </p:cNvPr>
          <p:cNvSpPr txBox="1">
            <a:spLocks/>
          </p:cNvSpPr>
          <p:nvPr/>
        </p:nvSpPr>
        <p:spPr>
          <a:xfrm>
            <a:off x="379243" y="2217467"/>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Demonstration – Configure storage security</a:t>
            </a:r>
            <a:endParaRPr lang="en-US" dirty="0"/>
          </a:p>
        </p:txBody>
      </p:sp>
      <p:sp>
        <p:nvSpPr>
          <p:cNvPr id="11" name="TextBox 10">
            <a:extLst>
              <a:ext uri="{FF2B5EF4-FFF2-40B4-BE49-F238E27FC236}">
                <a16:creationId xmlns:a16="http://schemas.microsoft.com/office/drawing/2014/main" id="{21FDD24B-E28A-1469-8FEE-3A0E8E095436}"/>
              </a:ext>
            </a:extLst>
          </p:cNvPr>
          <p:cNvSpPr txBox="1"/>
          <p:nvPr/>
        </p:nvSpPr>
        <p:spPr>
          <a:xfrm>
            <a:off x="591930" y="3380613"/>
            <a:ext cx="6626742" cy="1685526"/>
          </a:xfrm>
          <a:prstGeom prst="rect">
            <a:avLst/>
          </a:prstGeom>
          <a:noFill/>
        </p:spPr>
        <p:txBody>
          <a:bodyPr wrap="square">
            <a:spAutoFit/>
          </a:bodyPr>
          <a:lstStyle/>
          <a:p>
            <a:pPr marL="285750" indent="-285750" defTabSz="932472" fontAlgn="base">
              <a:lnSpc>
                <a:spcPct val="150000"/>
              </a:lnSpc>
              <a:spcBef>
                <a:spcPct val="0"/>
              </a:spcBef>
              <a:spcAft>
                <a:spcPct val="0"/>
              </a:spcAft>
              <a:buFont typeface="Arial" panose="020B0604020202020204" pitchFamily="34" charset="0"/>
              <a:buChar char="•"/>
            </a:pPr>
            <a:r>
              <a:rPr lang="en-US" sz="2400" dirty="0">
                <a:solidFill>
                  <a:schemeClr val="tx1"/>
                </a:solidFill>
              </a:rPr>
              <a:t>Generate a shared access signature</a:t>
            </a:r>
          </a:p>
          <a:p>
            <a:pPr marL="285750" indent="-285750" defTabSz="932472" fontAlgn="base">
              <a:lnSpc>
                <a:spcPct val="150000"/>
              </a:lnSpc>
              <a:spcBef>
                <a:spcPct val="0"/>
              </a:spcBef>
              <a:spcAft>
                <a:spcPct val="0"/>
              </a:spcAft>
              <a:buFont typeface="Arial" panose="020B0604020202020204" pitchFamily="34" charset="0"/>
              <a:buChar char="•"/>
            </a:pPr>
            <a:r>
              <a:rPr lang="en-US" sz="2400" dirty="0">
                <a:solidFill>
                  <a:schemeClr val="tx1"/>
                </a:solidFill>
              </a:rPr>
              <a:t>Review the configuration permissions</a:t>
            </a:r>
          </a:p>
          <a:p>
            <a:pPr marL="285750" indent="-285750" defTabSz="932472" fontAlgn="base">
              <a:lnSpc>
                <a:spcPct val="150000"/>
              </a:lnSpc>
              <a:spcBef>
                <a:spcPct val="0"/>
              </a:spcBef>
              <a:spcAft>
                <a:spcPct val="0"/>
              </a:spcAft>
              <a:buFont typeface="Arial" panose="020B0604020202020204" pitchFamily="34" charset="0"/>
              <a:buChar char="•"/>
            </a:pPr>
            <a:r>
              <a:rPr lang="en-US" sz="2400" dirty="0">
                <a:solidFill>
                  <a:schemeClr val="tx1"/>
                </a:solidFill>
              </a:rPr>
              <a:t>Use the SAS URL to test the permissions</a:t>
            </a:r>
          </a:p>
        </p:txBody>
      </p:sp>
    </p:spTree>
    <p:extLst>
      <p:ext uri="{BB962C8B-B14F-4D97-AF65-F5344CB8AC3E}">
        <p14:creationId xmlns:p14="http://schemas.microsoft.com/office/powerpoint/2010/main" val="1690780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D125A4A4-9E04-F983-6056-0C5EC942A290}"/>
              </a:ext>
            </a:extLst>
          </p:cNvPr>
          <p:cNvSpPr txBox="1">
            <a:spLocks/>
          </p:cNvSpPr>
          <p:nvPr/>
        </p:nvSpPr>
        <p:spPr>
          <a:xfrm>
            <a:off x="210931" y="1278202"/>
            <a:ext cx="11568684" cy="6556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Determine Storage Service Encryption</a:t>
            </a:r>
          </a:p>
        </p:txBody>
      </p:sp>
      <p:sp>
        <p:nvSpPr>
          <p:cNvPr id="11" name="Text Placeholder 7">
            <a:extLst>
              <a:ext uri="{FF2B5EF4-FFF2-40B4-BE49-F238E27FC236}">
                <a16:creationId xmlns:a16="http://schemas.microsoft.com/office/drawing/2014/main" id="{6F0CA4E9-222E-BA74-23E7-70AEC88D2990}"/>
              </a:ext>
            </a:extLst>
          </p:cNvPr>
          <p:cNvSpPr txBox="1">
            <a:spLocks/>
          </p:cNvSpPr>
          <p:nvPr/>
        </p:nvSpPr>
        <p:spPr>
          <a:xfrm>
            <a:off x="224646" y="1826979"/>
            <a:ext cx="11568684" cy="43946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dirty="0"/>
              <a:t>You can use your own key </a:t>
            </a:r>
          </a:p>
        </p:txBody>
      </p:sp>
      <p:sp>
        <p:nvSpPr>
          <p:cNvPr id="12" name="Rectangle 11">
            <a:extLst>
              <a:ext uri="{FF2B5EF4-FFF2-40B4-BE49-F238E27FC236}">
                <a16:creationId xmlns:a16="http://schemas.microsoft.com/office/drawing/2014/main" id="{CA047774-BE86-7529-8EA9-8255DAFA07CD}"/>
              </a:ext>
            </a:extLst>
          </p:cNvPr>
          <p:cNvSpPr/>
          <p:nvPr/>
        </p:nvSpPr>
        <p:spPr>
          <a:xfrm>
            <a:off x="609597" y="2562580"/>
            <a:ext cx="5084766" cy="68444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Protects your data for security and compliance</a:t>
            </a:r>
          </a:p>
        </p:txBody>
      </p:sp>
      <p:sp>
        <p:nvSpPr>
          <p:cNvPr id="13" name="Rectangle 12">
            <a:extLst>
              <a:ext uri="{FF2B5EF4-FFF2-40B4-BE49-F238E27FC236}">
                <a16:creationId xmlns:a16="http://schemas.microsoft.com/office/drawing/2014/main" id="{F8DB6D15-1028-FDCE-58C8-A4830E196481}"/>
              </a:ext>
            </a:extLst>
          </p:cNvPr>
          <p:cNvSpPr/>
          <p:nvPr/>
        </p:nvSpPr>
        <p:spPr>
          <a:xfrm>
            <a:off x="609597" y="3536204"/>
            <a:ext cx="5084766" cy="68444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Automatically encrypts and decrypts</a:t>
            </a:r>
            <a:br>
              <a:rPr lang="en-US" sz="2000">
                <a:solidFill>
                  <a:schemeClr val="tx1"/>
                </a:solidFill>
              </a:rPr>
            </a:br>
            <a:r>
              <a:rPr lang="en-US" sz="2000">
                <a:solidFill>
                  <a:schemeClr val="tx1"/>
                </a:solidFill>
              </a:rPr>
              <a:t>your data</a:t>
            </a:r>
          </a:p>
        </p:txBody>
      </p:sp>
      <p:sp>
        <p:nvSpPr>
          <p:cNvPr id="14" name="Rectangle 13">
            <a:extLst>
              <a:ext uri="{FF2B5EF4-FFF2-40B4-BE49-F238E27FC236}">
                <a16:creationId xmlns:a16="http://schemas.microsoft.com/office/drawing/2014/main" id="{4D105438-265E-D834-54FD-558BD078A7D8}"/>
              </a:ext>
            </a:extLst>
          </p:cNvPr>
          <p:cNvSpPr/>
          <p:nvPr/>
        </p:nvSpPr>
        <p:spPr>
          <a:xfrm>
            <a:off x="609597" y="4509827"/>
            <a:ext cx="5084766" cy="49777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Encrypted through 256-bit AES encryption</a:t>
            </a:r>
          </a:p>
        </p:txBody>
      </p:sp>
      <p:sp>
        <p:nvSpPr>
          <p:cNvPr id="15" name="Rectangle 14">
            <a:extLst>
              <a:ext uri="{FF2B5EF4-FFF2-40B4-BE49-F238E27FC236}">
                <a16:creationId xmlns:a16="http://schemas.microsoft.com/office/drawing/2014/main" id="{90C1C079-B3A2-DE9E-999F-E86CEC8E77B5}"/>
              </a:ext>
            </a:extLst>
          </p:cNvPr>
          <p:cNvSpPr/>
          <p:nvPr/>
        </p:nvSpPr>
        <p:spPr>
          <a:xfrm>
            <a:off x="609597" y="5251874"/>
            <a:ext cx="5084766" cy="68444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Is enabled for all new and existing storage accounts and cannot be disabled</a:t>
            </a:r>
          </a:p>
        </p:txBody>
      </p:sp>
      <p:sp>
        <p:nvSpPr>
          <p:cNvPr id="16" name="Rectangle 15">
            <a:extLst>
              <a:ext uri="{FF2B5EF4-FFF2-40B4-BE49-F238E27FC236}">
                <a16:creationId xmlns:a16="http://schemas.microsoft.com/office/drawing/2014/main" id="{3CEB7649-9438-18B2-8D33-90FF58072152}"/>
              </a:ext>
            </a:extLst>
          </p:cNvPr>
          <p:cNvSpPr/>
          <p:nvPr/>
        </p:nvSpPr>
        <p:spPr>
          <a:xfrm>
            <a:off x="609597" y="6225495"/>
            <a:ext cx="5084766" cy="49777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Is transparent to users</a:t>
            </a:r>
          </a:p>
        </p:txBody>
      </p:sp>
      <p:pic>
        <p:nvPicPr>
          <p:cNvPr id="17" name="Picture 6" descr="A screenshot that talks about Storage Service Encryption page">
            <a:extLst>
              <a:ext uri="{FF2B5EF4-FFF2-40B4-BE49-F238E27FC236}">
                <a16:creationId xmlns:a16="http://schemas.microsoft.com/office/drawing/2014/main" id="{B4EC52E8-09D4-9BE3-AACC-FFFCC3B455B9}"/>
              </a:ext>
            </a:extLst>
          </p:cNvPr>
          <p:cNvPicPr>
            <a:picLocks noChangeAspect="1"/>
          </p:cNvPicPr>
          <p:nvPr/>
        </p:nvPicPr>
        <p:blipFill>
          <a:blip r:embed="rId7"/>
          <a:stretch>
            <a:fillRect/>
          </a:stretch>
        </p:blipFill>
        <p:spPr>
          <a:xfrm>
            <a:off x="6400799" y="2481638"/>
            <a:ext cx="5392531" cy="4156962"/>
          </a:xfrm>
          <a:prstGeom prst="rect">
            <a:avLst/>
          </a:prstGeom>
          <a:ln>
            <a:noFill/>
          </a:ln>
        </p:spPr>
      </p:pic>
    </p:spTree>
    <p:extLst>
      <p:ext uri="{BB962C8B-B14F-4D97-AF65-F5344CB8AC3E}">
        <p14:creationId xmlns:p14="http://schemas.microsoft.com/office/powerpoint/2010/main" val="1341841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9E40ECCB-4DB8-9A15-A1D0-D0E5D2613EE6}"/>
              </a:ext>
            </a:extLst>
          </p:cNvPr>
          <p:cNvSpPr txBox="1">
            <a:spLocks/>
          </p:cNvSpPr>
          <p:nvPr/>
        </p:nvSpPr>
        <p:spPr>
          <a:xfrm>
            <a:off x="671682" y="1187637"/>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Create Customer Managed Keys</a:t>
            </a:r>
            <a:endParaRPr lang="en-US" dirty="0"/>
          </a:p>
        </p:txBody>
      </p:sp>
      <p:sp>
        <p:nvSpPr>
          <p:cNvPr id="11" name="Rectangle 10">
            <a:extLst>
              <a:ext uri="{FF2B5EF4-FFF2-40B4-BE49-F238E27FC236}">
                <a16:creationId xmlns:a16="http://schemas.microsoft.com/office/drawing/2014/main" id="{DB5FEECB-6B72-1048-F685-26807EDE080F}"/>
              </a:ext>
            </a:extLst>
          </p:cNvPr>
          <p:cNvSpPr/>
          <p:nvPr/>
        </p:nvSpPr>
        <p:spPr>
          <a:xfrm>
            <a:off x="633578" y="1918719"/>
            <a:ext cx="5084766" cy="113015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Use the Azure Key Vault to manage your encryption keys</a:t>
            </a:r>
          </a:p>
        </p:txBody>
      </p:sp>
      <p:sp>
        <p:nvSpPr>
          <p:cNvPr id="12" name="Rectangle 11">
            <a:extLst>
              <a:ext uri="{FF2B5EF4-FFF2-40B4-BE49-F238E27FC236}">
                <a16:creationId xmlns:a16="http://schemas.microsoft.com/office/drawing/2014/main" id="{46DF1301-2AB0-6668-01B0-5FEE40FBA04C}"/>
              </a:ext>
            </a:extLst>
          </p:cNvPr>
          <p:cNvSpPr/>
          <p:nvPr/>
        </p:nvSpPr>
        <p:spPr>
          <a:xfrm>
            <a:off x="633578" y="3143519"/>
            <a:ext cx="5084766" cy="113015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Create your own encryption keys and</a:t>
            </a:r>
            <a:br>
              <a:rPr lang="en-US" sz="2000">
                <a:solidFill>
                  <a:schemeClr val="tx1"/>
                </a:solidFill>
              </a:rPr>
            </a:br>
            <a:r>
              <a:rPr lang="en-US" sz="2000">
                <a:solidFill>
                  <a:schemeClr val="tx1"/>
                </a:solidFill>
              </a:rPr>
              <a:t>store them in a key vault</a:t>
            </a:r>
          </a:p>
        </p:txBody>
      </p:sp>
      <p:sp>
        <p:nvSpPr>
          <p:cNvPr id="13" name="Rectangle 12">
            <a:extLst>
              <a:ext uri="{FF2B5EF4-FFF2-40B4-BE49-F238E27FC236}">
                <a16:creationId xmlns:a16="http://schemas.microsoft.com/office/drawing/2014/main" id="{28CE6437-9D74-F93B-4704-F9939653AC90}"/>
              </a:ext>
            </a:extLst>
          </p:cNvPr>
          <p:cNvSpPr/>
          <p:nvPr/>
        </p:nvSpPr>
        <p:spPr>
          <a:xfrm>
            <a:off x="633578" y="4368320"/>
            <a:ext cx="5084766" cy="113015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Use Azure Key Vault's APIs to generate encryption keys</a:t>
            </a:r>
          </a:p>
        </p:txBody>
      </p:sp>
      <p:sp>
        <p:nvSpPr>
          <p:cNvPr id="14" name="Rectangle 13">
            <a:extLst>
              <a:ext uri="{FF2B5EF4-FFF2-40B4-BE49-F238E27FC236}">
                <a16:creationId xmlns:a16="http://schemas.microsoft.com/office/drawing/2014/main" id="{4F9558EE-A70E-0D98-140C-161B3D814CD8}"/>
              </a:ext>
            </a:extLst>
          </p:cNvPr>
          <p:cNvSpPr/>
          <p:nvPr/>
        </p:nvSpPr>
        <p:spPr>
          <a:xfrm>
            <a:off x="633578" y="5593120"/>
            <a:ext cx="5084766" cy="113015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Custom keys give you more flexibility</a:t>
            </a:r>
            <a:br>
              <a:rPr lang="en-US" sz="2000">
                <a:solidFill>
                  <a:schemeClr val="tx1"/>
                </a:solidFill>
              </a:rPr>
            </a:br>
            <a:r>
              <a:rPr lang="en-US" sz="2000">
                <a:solidFill>
                  <a:schemeClr val="tx1"/>
                </a:solidFill>
              </a:rPr>
              <a:t>and control </a:t>
            </a:r>
          </a:p>
        </p:txBody>
      </p:sp>
      <p:pic>
        <p:nvPicPr>
          <p:cNvPr id="15" name="Picture 5" descr="A screenshot of using Customer Managed Keys for encryption, and selecting a key from the Key Vault">
            <a:extLst>
              <a:ext uri="{FF2B5EF4-FFF2-40B4-BE49-F238E27FC236}">
                <a16:creationId xmlns:a16="http://schemas.microsoft.com/office/drawing/2014/main" id="{AE79E054-F982-16D0-84C2-B8C2394F28C9}"/>
              </a:ext>
            </a:extLst>
          </p:cNvPr>
          <p:cNvPicPr>
            <a:picLocks noChangeAspect="1"/>
          </p:cNvPicPr>
          <p:nvPr/>
        </p:nvPicPr>
        <p:blipFill>
          <a:blip r:embed="rId7"/>
          <a:stretch>
            <a:fillRect/>
          </a:stretch>
        </p:blipFill>
        <p:spPr>
          <a:xfrm>
            <a:off x="5992477" y="2467008"/>
            <a:ext cx="6101772" cy="3797756"/>
          </a:xfrm>
          <a:prstGeom prst="rect">
            <a:avLst/>
          </a:prstGeom>
          <a:ln>
            <a:noFill/>
          </a:ln>
        </p:spPr>
      </p:pic>
    </p:spTree>
    <p:extLst>
      <p:ext uri="{BB962C8B-B14F-4D97-AF65-F5344CB8AC3E}">
        <p14:creationId xmlns:p14="http://schemas.microsoft.com/office/powerpoint/2010/main" val="27069902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E67D8487-B5EA-8279-BAEF-EFC34D94C5F8}"/>
              </a:ext>
            </a:extLst>
          </p:cNvPr>
          <p:cNvSpPr txBox="1">
            <a:spLocks/>
          </p:cNvSpPr>
          <p:nvPr/>
        </p:nvSpPr>
        <p:spPr>
          <a:xfrm>
            <a:off x="1574026" y="761283"/>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t>Apply Storage Security Best Practices</a:t>
            </a:r>
          </a:p>
        </p:txBody>
      </p:sp>
      <p:sp>
        <p:nvSpPr>
          <p:cNvPr id="11" name="TextBox 10">
            <a:extLst>
              <a:ext uri="{FF2B5EF4-FFF2-40B4-BE49-F238E27FC236}">
                <a16:creationId xmlns:a16="http://schemas.microsoft.com/office/drawing/2014/main" id="{F2C001CE-FDF8-B49D-36B4-5EF8A8CC4D47}"/>
              </a:ext>
            </a:extLst>
          </p:cNvPr>
          <p:cNvSpPr txBox="1"/>
          <p:nvPr/>
        </p:nvSpPr>
        <p:spPr>
          <a:xfrm>
            <a:off x="1511300" y="1609170"/>
            <a:ext cx="4177120" cy="553998"/>
          </a:xfrm>
          <a:prstGeom prst="rect">
            <a:avLst/>
          </a:prstGeom>
          <a:noFill/>
        </p:spPr>
        <p:txBody>
          <a:bodyPr wrap="square" lIns="0" tIns="0" rIns="0" bIns="0" rtlCol="0" anchor="ctr">
            <a:spAutoFit/>
          </a:bodyPr>
          <a:lstStyle/>
          <a:p>
            <a:pPr>
              <a:spcBef>
                <a:spcPts val="600"/>
              </a:spcBef>
              <a:spcAft>
                <a:spcPts val="600"/>
              </a:spcAft>
            </a:pPr>
            <a:r>
              <a:rPr lang="en-US" dirty="0"/>
              <a:t>Always use HTTPS to create or distribute a SAS</a:t>
            </a:r>
          </a:p>
        </p:txBody>
      </p:sp>
      <p:sp>
        <p:nvSpPr>
          <p:cNvPr id="12" name="TextBox 11">
            <a:extLst>
              <a:ext uri="{FF2B5EF4-FFF2-40B4-BE49-F238E27FC236}">
                <a16:creationId xmlns:a16="http://schemas.microsoft.com/office/drawing/2014/main" id="{53F5B1AE-557F-310D-800B-DE4B1CFFB6CA}"/>
              </a:ext>
            </a:extLst>
          </p:cNvPr>
          <p:cNvSpPr txBox="1"/>
          <p:nvPr/>
        </p:nvSpPr>
        <p:spPr>
          <a:xfrm>
            <a:off x="1511299" y="2628680"/>
            <a:ext cx="4047671" cy="553998"/>
          </a:xfrm>
          <a:prstGeom prst="rect">
            <a:avLst/>
          </a:prstGeom>
          <a:noFill/>
        </p:spPr>
        <p:txBody>
          <a:bodyPr wrap="square" lIns="0" tIns="0" rIns="0" bIns="0" rtlCol="0" anchor="ctr">
            <a:spAutoFit/>
          </a:bodyPr>
          <a:lstStyle/>
          <a:p>
            <a:r>
              <a:rPr lang="en-US"/>
              <a:t>Reference stored access policies where possible</a:t>
            </a:r>
          </a:p>
        </p:txBody>
      </p:sp>
      <p:sp>
        <p:nvSpPr>
          <p:cNvPr id="13" name="TextBox 12">
            <a:extLst>
              <a:ext uri="{FF2B5EF4-FFF2-40B4-BE49-F238E27FC236}">
                <a16:creationId xmlns:a16="http://schemas.microsoft.com/office/drawing/2014/main" id="{D0DCB8B5-57BE-DB9A-F235-A101C060D96C}"/>
              </a:ext>
            </a:extLst>
          </p:cNvPr>
          <p:cNvSpPr txBox="1"/>
          <p:nvPr/>
        </p:nvSpPr>
        <p:spPr>
          <a:xfrm>
            <a:off x="1511299" y="3663580"/>
            <a:ext cx="4047671" cy="553998"/>
          </a:xfrm>
          <a:prstGeom prst="rect">
            <a:avLst/>
          </a:prstGeom>
          <a:noFill/>
        </p:spPr>
        <p:txBody>
          <a:bodyPr wrap="square" lIns="0" tIns="0" rIns="0" bIns="0" rtlCol="0" anchor="ctr">
            <a:spAutoFit/>
          </a:bodyPr>
          <a:lstStyle/>
          <a:p>
            <a:r>
              <a:rPr lang="en-US"/>
              <a:t>Use near-term expiration times on an ad hoc SAS</a:t>
            </a:r>
          </a:p>
        </p:txBody>
      </p:sp>
      <p:sp>
        <p:nvSpPr>
          <p:cNvPr id="14" name="TextBox 13">
            <a:extLst>
              <a:ext uri="{FF2B5EF4-FFF2-40B4-BE49-F238E27FC236}">
                <a16:creationId xmlns:a16="http://schemas.microsoft.com/office/drawing/2014/main" id="{AC1971A6-4234-315B-8A41-A7750FE41F2D}"/>
              </a:ext>
            </a:extLst>
          </p:cNvPr>
          <p:cNvSpPr txBox="1"/>
          <p:nvPr/>
        </p:nvSpPr>
        <p:spPr>
          <a:xfrm>
            <a:off x="1543250" y="4741261"/>
            <a:ext cx="4663995" cy="553998"/>
          </a:xfrm>
          <a:prstGeom prst="rect">
            <a:avLst/>
          </a:prstGeom>
          <a:noFill/>
        </p:spPr>
        <p:txBody>
          <a:bodyPr wrap="square" lIns="0" tIns="0" rIns="0" bIns="0" rtlCol="0" anchor="ctr">
            <a:spAutoFit/>
          </a:bodyPr>
          <a:lstStyle/>
          <a:p>
            <a:r>
              <a:rPr lang="en-US" dirty="0"/>
              <a:t>Use Storage Analytics to monitor your application</a:t>
            </a:r>
          </a:p>
        </p:txBody>
      </p:sp>
      <p:sp>
        <p:nvSpPr>
          <p:cNvPr id="15" name="TextBox 14">
            <a:extLst>
              <a:ext uri="{FF2B5EF4-FFF2-40B4-BE49-F238E27FC236}">
                <a16:creationId xmlns:a16="http://schemas.microsoft.com/office/drawing/2014/main" id="{C4218CC8-618A-1F89-E953-A9A63C23E000}"/>
              </a:ext>
              <a:ext uri="{C183D7F6-B498-43B3-948B-1728B52AA6E4}">
                <adec:decorative xmlns:adec="http://schemas.microsoft.com/office/drawing/2017/decorative" val="0"/>
              </a:ext>
            </a:extLst>
          </p:cNvPr>
          <p:cNvSpPr txBox="1"/>
          <p:nvPr/>
        </p:nvSpPr>
        <p:spPr>
          <a:xfrm>
            <a:off x="1511299" y="5906436"/>
            <a:ext cx="4047671" cy="276999"/>
          </a:xfrm>
          <a:prstGeom prst="rect">
            <a:avLst/>
          </a:prstGeom>
          <a:noFill/>
        </p:spPr>
        <p:txBody>
          <a:bodyPr wrap="square" lIns="0" tIns="0" rIns="0" bIns="0" rtlCol="0" anchor="ctr">
            <a:spAutoFit/>
          </a:bodyPr>
          <a:lstStyle/>
          <a:p>
            <a:r>
              <a:rPr lang="en-US" dirty="0"/>
              <a:t>Be careful with SAS start time</a:t>
            </a:r>
          </a:p>
        </p:txBody>
      </p:sp>
      <p:sp>
        <p:nvSpPr>
          <p:cNvPr id="16" name="TextBox 15">
            <a:extLst>
              <a:ext uri="{FF2B5EF4-FFF2-40B4-BE49-F238E27FC236}">
                <a16:creationId xmlns:a16="http://schemas.microsoft.com/office/drawing/2014/main" id="{F392907C-9B30-64DA-3551-10C98FB5C0C9}"/>
              </a:ext>
            </a:extLst>
          </p:cNvPr>
          <p:cNvSpPr txBox="1"/>
          <p:nvPr/>
        </p:nvSpPr>
        <p:spPr>
          <a:xfrm>
            <a:off x="7339318" y="1747669"/>
            <a:ext cx="4663995" cy="276999"/>
          </a:xfrm>
          <a:prstGeom prst="rect">
            <a:avLst/>
          </a:prstGeom>
          <a:noFill/>
        </p:spPr>
        <p:txBody>
          <a:bodyPr wrap="square" lIns="0" tIns="0" rIns="0" bIns="0" rtlCol="0" anchor="ctr">
            <a:spAutoFit/>
          </a:bodyPr>
          <a:lstStyle/>
          <a:p>
            <a:pPr>
              <a:spcBef>
                <a:spcPts val="600"/>
              </a:spcBef>
              <a:spcAft>
                <a:spcPts val="600"/>
              </a:spcAft>
            </a:pPr>
            <a:r>
              <a:rPr lang="en-US"/>
              <a:t>Be specific with the resource to be accessed</a:t>
            </a:r>
          </a:p>
        </p:txBody>
      </p:sp>
      <p:sp>
        <p:nvSpPr>
          <p:cNvPr id="17" name="TextBox 16">
            <a:extLst>
              <a:ext uri="{FF2B5EF4-FFF2-40B4-BE49-F238E27FC236}">
                <a16:creationId xmlns:a16="http://schemas.microsoft.com/office/drawing/2014/main" id="{B264047C-8C83-D3BB-40E7-5266C2BE9729}"/>
              </a:ext>
            </a:extLst>
          </p:cNvPr>
          <p:cNvSpPr txBox="1"/>
          <p:nvPr/>
        </p:nvSpPr>
        <p:spPr>
          <a:xfrm>
            <a:off x="7339318" y="2628680"/>
            <a:ext cx="4663995" cy="553998"/>
          </a:xfrm>
          <a:prstGeom prst="rect">
            <a:avLst/>
          </a:prstGeom>
          <a:noFill/>
        </p:spPr>
        <p:txBody>
          <a:bodyPr wrap="square" lIns="0" tIns="0" rIns="0" bIns="0" rtlCol="0" anchor="ctr">
            <a:spAutoFit/>
          </a:bodyPr>
          <a:lstStyle/>
          <a:p>
            <a:r>
              <a:rPr lang="en-US"/>
              <a:t>Understand that your account will be billed for any usage</a:t>
            </a:r>
          </a:p>
        </p:txBody>
      </p:sp>
      <p:sp>
        <p:nvSpPr>
          <p:cNvPr id="18" name="TextBox 17">
            <a:extLst>
              <a:ext uri="{FF2B5EF4-FFF2-40B4-BE49-F238E27FC236}">
                <a16:creationId xmlns:a16="http://schemas.microsoft.com/office/drawing/2014/main" id="{07054355-4385-4CD9-BA65-EA7F5A8CD3AC}"/>
              </a:ext>
            </a:extLst>
          </p:cNvPr>
          <p:cNvSpPr txBox="1"/>
          <p:nvPr/>
        </p:nvSpPr>
        <p:spPr>
          <a:xfrm>
            <a:off x="7339318" y="3802080"/>
            <a:ext cx="4663995" cy="276999"/>
          </a:xfrm>
          <a:prstGeom prst="rect">
            <a:avLst/>
          </a:prstGeom>
          <a:noFill/>
        </p:spPr>
        <p:txBody>
          <a:bodyPr wrap="square" lIns="0" tIns="0" rIns="0" bIns="0" rtlCol="0" anchor="ctr">
            <a:spAutoFit/>
          </a:bodyPr>
          <a:lstStyle/>
          <a:p>
            <a:r>
              <a:rPr lang="en-US"/>
              <a:t>Validate data written using SAS</a:t>
            </a:r>
          </a:p>
        </p:txBody>
      </p:sp>
      <p:sp>
        <p:nvSpPr>
          <p:cNvPr id="19" name="TextBox 18">
            <a:extLst>
              <a:ext uri="{FF2B5EF4-FFF2-40B4-BE49-F238E27FC236}">
                <a16:creationId xmlns:a16="http://schemas.microsoft.com/office/drawing/2014/main" id="{6DEA0D52-D0E1-5BCC-7060-F83028E5B1FA}"/>
              </a:ext>
            </a:extLst>
          </p:cNvPr>
          <p:cNvSpPr txBox="1"/>
          <p:nvPr/>
        </p:nvSpPr>
        <p:spPr>
          <a:xfrm>
            <a:off x="7339318" y="4836976"/>
            <a:ext cx="4663995" cy="276999"/>
          </a:xfrm>
          <a:prstGeom prst="rect">
            <a:avLst/>
          </a:prstGeom>
          <a:noFill/>
        </p:spPr>
        <p:txBody>
          <a:bodyPr wrap="square" lIns="0" tIns="0" rIns="0" bIns="0" rtlCol="0" anchor="ctr">
            <a:spAutoFit/>
          </a:bodyPr>
          <a:lstStyle/>
          <a:p>
            <a:r>
              <a:rPr lang="en-US" dirty="0"/>
              <a:t>Don't assume SAS is always the correct choice</a:t>
            </a:r>
          </a:p>
        </p:txBody>
      </p:sp>
      <p:pic>
        <p:nvPicPr>
          <p:cNvPr id="20" name="Picture 19">
            <a:extLst>
              <a:ext uri="{FF2B5EF4-FFF2-40B4-BE49-F238E27FC236}">
                <a16:creationId xmlns:a16="http://schemas.microsoft.com/office/drawing/2014/main" id="{2C247EA2-BEF5-ABD7-4A09-2715D74AEB4E}"/>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33388" y="1461379"/>
            <a:ext cx="859536" cy="859536"/>
          </a:xfrm>
          <a:prstGeom prst="rect">
            <a:avLst/>
          </a:prstGeom>
        </p:spPr>
      </p:pic>
      <p:pic>
        <p:nvPicPr>
          <p:cNvPr id="21" name="Picture 20">
            <a:extLst>
              <a:ext uri="{FF2B5EF4-FFF2-40B4-BE49-F238E27FC236}">
                <a16:creationId xmlns:a16="http://schemas.microsoft.com/office/drawing/2014/main" id="{4B4E5830-6315-BCB3-0A10-81B2B0AF22A1}"/>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33388" y="2503750"/>
            <a:ext cx="859536" cy="859536"/>
          </a:xfrm>
          <a:prstGeom prst="rect">
            <a:avLst/>
          </a:prstGeom>
        </p:spPr>
      </p:pic>
      <p:pic>
        <p:nvPicPr>
          <p:cNvPr id="22" name="Picture 21">
            <a:extLst>
              <a:ext uri="{FF2B5EF4-FFF2-40B4-BE49-F238E27FC236}">
                <a16:creationId xmlns:a16="http://schemas.microsoft.com/office/drawing/2014/main" id="{2D002791-FAF2-EBEF-506E-7D77329E9205}"/>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33388" y="3546121"/>
            <a:ext cx="859536" cy="859536"/>
          </a:xfrm>
          <a:prstGeom prst="rect">
            <a:avLst/>
          </a:prstGeom>
        </p:spPr>
      </p:pic>
      <p:pic>
        <p:nvPicPr>
          <p:cNvPr id="23" name="Picture 22">
            <a:extLst>
              <a:ext uri="{FF2B5EF4-FFF2-40B4-BE49-F238E27FC236}">
                <a16:creationId xmlns:a16="http://schemas.microsoft.com/office/drawing/2014/main" id="{7B20D9E0-136F-F395-E86A-3DA2574F1A86}"/>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433388" y="4588492"/>
            <a:ext cx="859536" cy="859536"/>
          </a:xfrm>
          <a:prstGeom prst="rect">
            <a:avLst/>
          </a:prstGeom>
        </p:spPr>
      </p:pic>
      <p:pic>
        <p:nvPicPr>
          <p:cNvPr id="24" name="Picture 23">
            <a:extLst>
              <a:ext uri="{FF2B5EF4-FFF2-40B4-BE49-F238E27FC236}">
                <a16:creationId xmlns:a16="http://schemas.microsoft.com/office/drawing/2014/main" id="{9A10526D-4C8C-DD6D-334B-D3BEC92478B9}"/>
              </a:ex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433388" y="5630862"/>
            <a:ext cx="859536" cy="859536"/>
          </a:xfrm>
          <a:prstGeom prst="rect">
            <a:avLst/>
          </a:prstGeom>
        </p:spPr>
      </p:pic>
      <p:pic>
        <p:nvPicPr>
          <p:cNvPr id="25" name="Picture 24">
            <a:extLst>
              <a:ext uri="{FF2B5EF4-FFF2-40B4-BE49-F238E27FC236}">
                <a16:creationId xmlns:a16="http://schemas.microsoft.com/office/drawing/2014/main" id="{F12F1B56-4545-9F45-7921-F665D8C070F1}"/>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6274981" y="1461379"/>
            <a:ext cx="859536" cy="859536"/>
          </a:xfrm>
          <a:prstGeom prst="rect">
            <a:avLst/>
          </a:prstGeom>
        </p:spPr>
      </p:pic>
      <p:pic>
        <p:nvPicPr>
          <p:cNvPr id="26" name="Picture 25">
            <a:extLst>
              <a:ext uri="{FF2B5EF4-FFF2-40B4-BE49-F238E27FC236}">
                <a16:creationId xmlns:a16="http://schemas.microsoft.com/office/drawing/2014/main" id="{9CB52528-6A8E-5A00-8CD6-B34053BFCF94}"/>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6274981" y="2503750"/>
            <a:ext cx="859536" cy="859536"/>
          </a:xfrm>
          <a:prstGeom prst="rect">
            <a:avLst/>
          </a:prstGeom>
        </p:spPr>
      </p:pic>
      <p:pic>
        <p:nvPicPr>
          <p:cNvPr id="27" name="Picture 26">
            <a:extLst>
              <a:ext uri="{FF2B5EF4-FFF2-40B4-BE49-F238E27FC236}">
                <a16:creationId xmlns:a16="http://schemas.microsoft.com/office/drawing/2014/main" id="{0FC966C2-64BC-AE9C-129C-A19557BC0187}"/>
              </a:ext>
              <a:ext uri="{C183D7F6-B498-43B3-948B-1728B52AA6E4}">
                <adec:decorative xmlns:adec="http://schemas.microsoft.com/office/drawing/2017/decorative" val="1"/>
              </a:ext>
            </a:extLst>
          </p:cNvPr>
          <p:cNvPicPr>
            <a:picLocks noChangeAspect="1"/>
          </p:cNvPicPr>
          <p:nvPr/>
        </p:nvPicPr>
        <p:blipFill>
          <a:blip r:embed="rId13"/>
          <a:stretch>
            <a:fillRect/>
          </a:stretch>
        </p:blipFill>
        <p:spPr>
          <a:xfrm>
            <a:off x="6274981" y="3546121"/>
            <a:ext cx="859536" cy="859536"/>
          </a:xfrm>
          <a:prstGeom prst="rect">
            <a:avLst/>
          </a:prstGeom>
        </p:spPr>
      </p:pic>
      <p:pic>
        <p:nvPicPr>
          <p:cNvPr id="28" name="Picture 27">
            <a:extLst>
              <a:ext uri="{FF2B5EF4-FFF2-40B4-BE49-F238E27FC236}">
                <a16:creationId xmlns:a16="http://schemas.microsoft.com/office/drawing/2014/main" id="{757303FC-8980-08A6-D96D-70316964798B}"/>
              </a:ext>
              <a:ext uri="{C183D7F6-B498-43B3-948B-1728B52AA6E4}">
                <adec:decorative xmlns:adec="http://schemas.microsoft.com/office/drawing/2017/decorative" val="1"/>
              </a:ext>
            </a:extLst>
          </p:cNvPr>
          <p:cNvPicPr>
            <a:picLocks noChangeAspect="1"/>
          </p:cNvPicPr>
          <p:nvPr/>
        </p:nvPicPr>
        <p:blipFill>
          <a:blip r:embed="rId14"/>
          <a:stretch>
            <a:fillRect/>
          </a:stretch>
        </p:blipFill>
        <p:spPr>
          <a:xfrm>
            <a:off x="6274981" y="4588492"/>
            <a:ext cx="859536" cy="859536"/>
          </a:xfrm>
          <a:prstGeom prst="rect">
            <a:avLst/>
          </a:prstGeom>
        </p:spPr>
      </p:pic>
    </p:spTree>
    <p:extLst>
      <p:ext uri="{BB962C8B-B14F-4D97-AF65-F5344CB8AC3E}">
        <p14:creationId xmlns:p14="http://schemas.microsoft.com/office/powerpoint/2010/main" val="4013019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Configure Azure Files and File Sync</a:t>
            </a: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2306937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0356D94A-D288-3B1F-02F7-39F298F5FCE4}"/>
              </a:ext>
            </a:extLst>
          </p:cNvPr>
          <p:cNvSpPr txBox="1">
            <a:spLocks/>
          </p:cNvSpPr>
          <p:nvPr/>
        </p:nvSpPr>
        <p:spPr>
          <a:xfrm>
            <a:off x="546479" y="1437617"/>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Compare storage for file shares and blob data</a:t>
            </a:r>
            <a:endParaRPr lang="en-US" dirty="0"/>
          </a:p>
        </p:txBody>
      </p:sp>
      <p:graphicFrame>
        <p:nvGraphicFramePr>
          <p:cNvPr id="11" name="Table 10">
            <a:extLst>
              <a:ext uri="{FF2B5EF4-FFF2-40B4-BE49-F238E27FC236}">
                <a16:creationId xmlns:a16="http://schemas.microsoft.com/office/drawing/2014/main" id="{319E4472-BFD2-E242-3E29-256CF115B37C}"/>
              </a:ext>
            </a:extLst>
          </p:cNvPr>
          <p:cNvGraphicFramePr>
            <a:graphicFrameLocks noGrp="1"/>
          </p:cNvGraphicFramePr>
          <p:nvPr>
            <p:extLst>
              <p:ext uri="{D42A27DB-BD31-4B8C-83A1-F6EECF244321}">
                <p14:modId xmlns:p14="http://schemas.microsoft.com/office/powerpoint/2010/main" val="1094952259"/>
              </p:ext>
            </p:extLst>
          </p:nvPr>
        </p:nvGraphicFramePr>
        <p:xfrm>
          <a:off x="546479" y="2242630"/>
          <a:ext cx="11582400" cy="4249583"/>
        </p:xfrm>
        <a:graphic>
          <a:graphicData uri="http://schemas.openxmlformats.org/drawingml/2006/table">
            <a:tbl>
              <a:tblPr firstRow="1" firstCol="1" bandRow="1">
                <a:tableStyleId>{2D5ABB26-0587-4C30-8999-92F81FD0307C}</a:tableStyleId>
              </a:tblPr>
              <a:tblGrid>
                <a:gridCol w="1274762">
                  <a:extLst>
                    <a:ext uri="{9D8B030D-6E8A-4147-A177-3AD203B41FA5}">
                      <a16:colId xmlns:a16="http://schemas.microsoft.com/office/drawing/2014/main" val="645021739"/>
                    </a:ext>
                  </a:extLst>
                </a:gridCol>
                <a:gridCol w="4241800">
                  <a:extLst>
                    <a:ext uri="{9D8B030D-6E8A-4147-A177-3AD203B41FA5}">
                      <a16:colId xmlns:a16="http://schemas.microsoft.com/office/drawing/2014/main" val="3259532712"/>
                    </a:ext>
                  </a:extLst>
                </a:gridCol>
                <a:gridCol w="6065838">
                  <a:extLst>
                    <a:ext uri="{9D8B030D-6E8A-4147-A177-3AD203B41FA5}">
                      <a16:colId xmlns:a16="http://schemas.microsoft.com/office/drawing/2014/main" val="1501333279"/>
                    </a:ext>
                  </a:extLst>
                </a:gridCol>
              </a:tblGrid>
              <a:tr h="492705">
                <a:tc>
                  <a:txBody>
                    <a:bodyPr/>
                    <a:lstStyle/>
                    <a:p>
                      <a:pPr marL="0" marR="0" algn="l">
                        <a:lnSpc>
                          <a:spcPct val="100000"/>
                        </a:lnSpc>
                        <a:spcBef>
                          <a:spcPts val="0"/>
                        </a:spcBef>
                        <a:spcAft>
                          <a:spcPts val="0"/>
                        </a:spcAft>
                      </a:pPr>
                      <a:r>
                        <a:rPr lang="en-US" sz="2000" strike="noStrike" dirty="0">
                          <a:solidFill>
                            <a:schemeClr val="bg1"/>
                          </a:solidFill>
                          <a:effectLst/>
                          <a:latin typeface="+mj-lt"/>
                        </a:rPr>
                        <a:t>Feature</a:t>
                      </a:r>
                      <a:endParaRPr lang="en-US" sz="2000" b="0" strike="noStrike" dirty="0">
                        <a:solidFill>
                          <a:schemeClr val="bg1"/>
                        </a:solidFill>
                        <a:effectLst/>
                        <a:latin typeface="+mj-lt"/>
                        <a:ea typeface="Calibri" panose="020F0502020204030204" pitchFamily="34" charset="0"/>
                        <a:cs typeface="Segoe UI Semilight" panose="020B0402040204020203" pitchFamily="34" charset="0"/>
                      </a:endParaRPr>
                    </a:p>
                  </a:txBody>
                  <a:tcPr marL="137160" marR="137160" marT="91440" marB="91440">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0" algn="l">
                        <a:lnSpc>
                          <a:spcPct val="100000"/>
                        </a:lnSpc>
                        <a:spcBef>
                          <a:spcPts val="0"/>
                        </a:spcBef>
                        <a:spcAft>
                          <a:spcPts val="0"/>
                        </a:spcAft>
                      </a:pPr>
                      <a:r>
                        <a:rPr lang="en-US" sz="2000" strike="noStrike" dirty="0">
                          <a:solidFill>
                            <a:schemeClr val="bg1"/>
                          </a:solidFill>
                          <a:effectLst/>
                          <a:latin typeface="+mj-lt"/>
                        </a:rPr>
                        <a:t>Description</a:t>
                      </a:r>
                      <a:endParaRPr lang="en-US" sz="2000" b="0" strike="noStrike" dirty="0">
                        <a:solidFill>
                          <a:schemeClr val="bg1"/>
                        </a:solidFill>
                        <a:effectLst/>
                        <a:latin typeface="+mj-lt"/>
                        <a:ea typeface="Calibri" panose="020F0502020204030204" pitchFamily="34" charset="0"/>
                        <a:cs typeface="Segoe UI Semilight" panose="020B0402040204020203" pitchFamily="34" charset="0"/>
                      </a:endParaRPr>
                    </a:p>
                  </a:txBody>
                  <a:tcPr marL="137160" marR="137160" marT="91440" marB="9144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0" algn="l">
                        <a:lnSpc>
                          <a:spcPct val="100000"/>
                        </a:lnSpc>
                        <a:spcBef>
                          <a:spcPts val="0"/>
                        </a:spcBef>
                        <a:spcAft>
                          <a:spcPts val="0"/>
                        </a:spcAft>
                      </a:pPr>
                      <a:r>
                        <a:rPr lang="en-US" sz="2000" strike="noStrike">
                          <a:solidFill>
                            <a:schemeClr val="bg1"/>
                          </a:solidFill>
                          <a:effectLst/>
                          <a:latin typeface="+mj-lt"/>
                        </a:rPr>
                        <a:t>When to use</a:t>
                      </a:r>
                      <a:endParaRPr lang="en-US" sz="2000" b="0" strike="noStrike">
                        <a:solidFill>
                          <a:schemeClr val="bg1"/>
                        </a:solidFill>
                        <a:effectLst/>
                        <a:latin typeface="+mj-lt"/>
                        <a:ea typeface="Calibri" panose="020F0502020204030204" pitchFamily="34" charset="0"/>
                        <a:cs typeface="Segoe UI Semilight" panose="020B0402040204020203" pitchFamily="34" charset="0"/>
                      </a:endParaRPr>
                    </a:p>
                  </a:txBody>
                  <a:tcPr marL="137160" marR="137160" marT="91440" marB="91440">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609183505"/>
                  </a:ext>
                </a:extLst>
              </a:tr>
              <a:tr h="2032409">
                <a:tc>
                  <a:txBody>
                    <a:bodyPr/>
                    <a:lstStyle/>
                    <a:p>
                      <a:pPr marL="0" marR="0" algn="l">
                        <a:lnSpc>
                          <a:spcPct val="100000"/>
                        </a:lnSpc>
                        <a:spcBef>
                          <a:spcPts val="600"/>
                        </a:spcBef>
                        <a:spcAft>
                          <a:spcPts val="600"/>
                        </a:spcAft>
                      </a:pPr>
                      <a:r>
                        <a:rPr lang="en-US" sz="2000" strike="noStrike">
                          <a:solidFill>
                            <a:schemeClr val="tx1"/>
                          </a:solidFill>
                          <a:effectLst/>
                          <a:latin typeface="+mj-lt"/>
                        </a:rPr>
                        <a:t>Azure Files</a:t>
                      </a:r>
                      <a:endParaRPr lang="en-US" sz="2000" b="0" strike="noStrike">
                        <a:solidFill>
                          <a:schemeClr val="tx1"/>
                        </a:solidFill>
                        <a:effectLst/>
                        <a:latin typeface="+mj-lt"/>
                        <a:ea typeface="Calibri" panose="020F0502020204030204" pitchFamily="34" charset="0"/>
                        <a:cs typeface="Segoe UI Semilight" panose="020B0402040204020203" pitchFamily="34" charset="0"/>
                      </a:endParaRPr>
                    </a:p>
                  </a:txBody>
                  <a:tcPr marL="137160" marR="137160" marT="91440" marB="9144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l">
                        <a:lnSpc>
                          <a:spcPct val="100000"/>
                        </a:lnSpc>
                        <a:spcBef>
                          <a:spcPts val="600"/>
                        </a:spcBef>
                        <a:spcAft>
                          <a:spcPts val="600"/>
                        </a:spcAft>
                      </a:pPr>
                      <a:r>
                        <a:rPr lang="en-US" sz="2000" strike="noStrike">
                          <a:solidFill>
                            <a:schemeClr val="tx1"/>
                          </a:solidFill>
                          <a:effectLst/>
                        </a:rPr>
                        <a:t>SMB interface, client libraries, and a </a:t>
                      </a:r>
                      <a:r>
                        <a:rPr lang="en-US" sz="2000" strike="noStrike" kern="1200">
                          <a:solidFill>
                            <a:schemeClr val="tx1"/>
                          </a:solidFill>
                          <a:effectLst/>
                        </a:rPr>
                        <a:t>REST interface </a:t>
                      </a:r>
                      <a:r>
                        <a:rPr lang="en-US" sz="2000" strike="noStrike">
                          <a:solidFill>
                            <a:schemeClr val="tx1"/>
                          </a:solidFill>
                          <a:effectLst/>
                        </a:rPr>
                        <a:t>that allows access from anywhere to stored files</a:t>
                      </a:r>
                      <a:endParaRPr lang="en-US" sz="2000" b="0" strike="noStrike">
                        <a:solidFill>
                          <a:schemeClr val="tx1"/>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137160" marR="137160" marT="91440" marB="91440">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241300" marR="0" indent="-241300" algn="l" defTabSz="932742" rtl="0" eaLnBrk="1" latinLnBrk="0" hangingPunct="1">
                        <a:lnSpc>
                          <a:spcPct val="100000"/>
                        </a:lnSpc>
                        <a:spcBef>
                          <a:spcPts val="600"/>
                        </a:spcBef>
                        <a:spcAft>
                          <a:spcPts val="600"/>
                        </a:spcAft>
                        <a:buFont typeface="Arial" panose="020B0604020202020204" pitchFamily="34" charset="0"/>
                        <a:buChar char="•"/>
                      </a:pPr>
                      <a:r>
                        <a:rPr lang="en-US" sz="2000" strike="noStrike" kern="1200">
                          <a:solidFill>
                            <a:schemeClr val="tx1"/>
                          </a:solidFill>
                          <a:effectLst/>
                          <a:latin typeface="+mn-lt"/>
                          <a:ea typeface="+mn-ea"/>
                          <a:cs typeface="+mn-cs"/>
                        </a:rPr>
                        <a:t>Lift and shift an application to the cloud</a:t>
                      </a:r>
                    </a:p>
                    <a:p>
                      <a:pPr marL="241300" marR="0" indent="-241300" algn="l" defTabSz="932742" rtl="0" eaLnBrk="1" latinLnBrk="0" hangingPunct="1">
                        <a:lnSpc>
                          <a:spcPct val="100000"/>
                        </a:lnSpc>
                        <a:spcBef>
                          <a:spcPts val="600"/>
                        </a:spcBef>
                        <a:spcAft>
                          <a:spcPts val="600"/>
                        </a:spcAft>
                        <a:buFont typeface="Arial" panose="020B0604020202020204" pitchFamily="34" charset="0"/>
                        <a:buChar char="•"/>
                      </a:pPr>
                      <a:r>
                        <a:rPr lang="en-US" sz="2000" strike="noStrike" kern="1200">
                          <a:solidFill>
                            <a:schemeClr val="tx1"/>
                          </a:solidFill>
                          <a:effectLst/>
                          <a:latin typeface="+mn-lt"/>
                          <a:ea typeface="+mn-ea"/>
                          <a:cs typeface="+mn-cs"/>
                        </a:rPr>
                        <a:t>Store shared data across multiple virtual machines</a:t>
                      </a:r>
                    </a:p>
                    <a:p>
                      <a:pPr marL="241300" marR="0" indent="-241300" algn="l" defTabSz="932742" rtl="0" eaLnBrk="1" latinLnBrk="0" hangingPunct="1">
                        <a:lnSpc>
                          <a:spcPct val="100000"/>
                        </a:lnSpc>
                        <a:spcBef>
                          <a:spcPts val="600"/>
                        </a:spcBef>
                        <a:spcAft>
                          <a:spcPts val="600"/>
                        </a:spcAft>
                        <a:buFont typeface="Arial" panose="020B0604020202020204" pitchFamily="34" charset="0"/>
                        <a:buChar char="•"/>
                      </a:pPr>
                      <a:r>
                        <a:rPr lang="en-US" sz="2000" strike="noStrike" kern="1200">
                          <a:solidFill>
                            <a:schemeClr val="tx1"/>
                          </a:solidFill>
                          <a:effectLst/>
                          <a:latin typeface="+mn-lt"/>
                          <a:ea typeface="+mn-ea"/>
                          <a:cs typeface="+mn-cs"/>
                        </a:rPr>
                        <a:t>Store development and debugging tools that need to be accessed from many virtual machines</a:t>
                      </a:r>
                    </a:p>
                  </a:txBody>
                  <a:tcPr marL="137160" marR="137160" marT="91440" marB="9144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94669912"/>
                  </a:ext>
                </a:extLst>
              </a:tr>
              <a:tr h="1724469">
                <a:tc>
                  <a:txBody>
                    <a:bodyPr/>
                    <a:lstStyle/>
                    <a:p>
                      <a:pPr marL="0" marR="0" algn="l">
                        <a:lnSpc>
                          <a:spcPct val="100000"/>
                        </a:lnSpc>
                        <a:spcBef>
                          <a:spcPts val="600"/>
                        </a:spcBef>
                        <a:spcAft>
                          <a:spcPts val="600"/>
                        </a:spcAft>
                      </a:pPr>
                      <a:r>
                        <a:rPr lang="en-US" sz="2000" strike="noStrike">
                          <a:solidFill>
                            <a:schemeClr val="tx1"/>
                          </a:solidFill>
                          <a:effectLst/>
                          <a:latin typeface="+mj-lt"/>
                        </a:rPr>
                        <a:t>Azure Blobs</a:t>
                      </a:r>
                      <a:endParaRPr lang="en-US" sz="2000" b="0" strike="noStrike">
                        <a:solidFill>
                          <a:schemeClr val="tx1"/>
                        </a:solidFill>
                        <a:effectLst/>
                        <a:latin typeface="+mj-lt"/>
                        <a:ea typeface="Calibri" panose="020F0502020204030204" pitchFamily="34" charset="0"/>
                        <a:cs typeface="Segoe UI Semilight" panose="020B0402040204020203" pitchFamily="34" charset="0"/>
                      </a:endParaRPr>
                    </a:p>
                  </a:txBody>
                  <a:tcPr marL="137160" marR="137160" marT="91440" marB="9144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l">
                        <a:lnSpc>
                          <a:spcPct val="100000"/>
                        </a:lnSpc>
                        <a:spcBef>
                          <a:spcPts val="600"/>
                        </a:spcBef>
                        <a:spcAft>
                          <a:spcPts val="600"/>
                        </a:spcAft>
                      </a:pPr>
                      <a:r>
                        <a:rPr lang="en-US" sz="2000" strike="noStrike" dirty="0">
                          <a:solidFill>
                            <a:schemeClr val="tx1"/>
                          </a:solidFill>
                          <a:effectLst/>
                        </a:rPr>
                        <a:t>Client libraries and a </a:t>
                      </a:r>
                      <a:r>
                        <a:rPr lang="en-US" sz="2000" u="none" strike="noStrike" dirty="0">
                          <a:solidFill>
                            <a:schemeClr val="tx1"/>
                          </a:solidFill>
                          <a:effectLst/>
                        </a:rPr>
                        <a:t>REST interface</a:t>
                      </a:r>
                      <a:r>
                        <a:rPr lang="en-US" sz="2000" strike="noStrike" dirty="0">
                          <a:solidFill>
                            <a:schemeClr val="tx1"/>
                          </a:solidFill>
                          <a:effectLst/>
                        </a:rPr>
                        <a:t> that allows unstructured data (flat namespace) to be stored and accessed at a massive scale in block blobs</a:t>
                      </a:r>
                      <a:endParaRPr lang="en-US" sz="2000" b="0" strike="noStrike" dirty="0">
                        <a:solidFill>
                          <a:schemeClr val="tx1"/>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137160" marR="137160" marT="91440" marB="91440">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241300" marR="0" indent="-241300" algn="l" defTabSz="932742" rtl="0" eaLnBrk="1" latinLnBrk="0" hangingPunct="1">
                        <a:lnSpc>
                          <a:spcPct val="100000"/>
                        </a:lnSpc>
                        <a:spcBef>
                          <a:spcPts val="600"/>
                        </a:spcBef>
                        <a:spcAft>
                          <a:spcPts val="600"/>
                        </a:spcAft>
                        <a:buFont typeface="Arial" panose="020B0604020202020204" pitchFamily="34" charset="0"/>
                        <a:buChar char="•"/>
                      </a:pPr>
                      <a:r>
                        <a:rPr lang="en-US" sz="2000" strike="noStrike" kern="1200" dirty="0">
                          <a:solidFill>
                            <a:schemeClr val="tx1"/>
                          </a:solidFill>
                          <a:effectLst/>
                          <a:latin typeface="+mn-lt"/>
                          <a:ea typeface="+mn-ea"/>
                          <a:cs typeface="+mn-cs"/>
                        </a:rPr>
                        <a:t>Support streaming and random-access scenarios</a:t>
                      </a:r>
                    </a:p>
                    <a:p>
                      <a:pPr marL="241300" marR="0" indent="-241300" algn="l" defTabSz="932742" rtl="0" eaLnBrk="1" latinLnBrk="0" hangingPunct="1">
                        <a:lnSpc>
                          <a:spcPct val="100000"/>
                        </a:lnSpc>
                        <a:spcBef>
                          <a:spcPts val="600"/>
                        </a:spcBef>
                        <a:spcAft>
                          <a:spcPts val="600"/>
                        </a:spcAft>
                        <a:buFont typeface="Arial" panose="020B0604020202020204" pitchFamily="34" charset="0"/>
                        <a:buChar char="•"/>
                      </a:pPr>
                      <a:r>
                        <a:rPr lang="en-US" sz="2000" strike="noStrike" kern="1200" dirty="0">
                          <a:solidFill>
                            <a:schemeClr val="tx1"/>
                          </a:solidFill>
                          <a:effectLst/>
                          <a:latin typeface="+mn-lt"/>
                          <a:ea typeface="+mn-ea"/>
                          <a:cs typeface="+mn-cs"/>
                        </a:rPr>
                        <a:t>Access application data from anywhere</a:t>
                      </a:r>
                    </a:p>
                  </a:txBody>
                  <a:tcPr marL="137160" marR="137160" marT="91440" marB="9144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6284853"/>
                  </a:ext>
                </a:extLst>
              </a:tr>
            </a:tbl>
          </a:graphicData>
        </a:graphic>
      </p:graphicFrame>
    </p:spTree>
    <p:extLst>
      <p:ext uri="{BB962C8B-B14F-4D97-AF65-F5344CB8AC3E}">
        <p14:creationId xmlns:p14="http://schemas.microsoft.com/office/powerpoint/2010/main" val="159177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D11F2456-2D3B-5F93-A1FC-2D2CF7786360}"/>
              </a:ext>
            </a:extLst>
          </p:cNvPr>
          <p:cNvSpPr txBox="1">
            <a:spLocks/>
          </p:cNvSpPr>
          <p:nvPr/>
        </p:nvSpPr>
        <p:spPr>
          <a:xfrm>
            <a:off x="213181" y="972776"/>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Manage File Shares</a:t>
            </a:r>
          </a:p>
        </p:txBody>
      </p:sp>
      <p:sp>
        <p:nvSpPr>
          <p:cNvPr id="11" name="Rectangle 10">
            <a:extLst>
              <a:ext uri="{FF2B5EF4-FFF2-40B4-BE49-F238E27FC236}">
                <a16:creationId xmlns:a16="http://schemas.microsoft.com/office/drawing/2014/main" id="{6F3D03AE-4656-EAD8-56D8-2B8EC624CF26}"/>
              </a:ext>
            </a:extLst>
          </p:cNvPr>
          <p:cNvSpPr/>
          <p:nvPr/>
        </p:nvSpPr>
        <p:spPr>
          <a:xfrm>
            <a:off x="379243" y="1860682"/>
            <a:ext cx="5943621" cy="72905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dirty="0">
                <a:solidFill>
                  <a:schemeClr val="tx1"/>
                </a:solidFill>
              </a:rPr>
              <a:t>File share quotas</a:t>
            </a:r>
          </a:p>
        </p:txBody>
      </p:sp>
      <p:sp>
        <p:nvSpPr>
          <p:cNvPr id="12" name="Rectangle 11">
            <a:extLst>
              <a:ext uri="{FF2B5EF4-FFF2-40B4-BE49-F238E27FC236}">
                <a16:creationId xmlns:a16="http://schemas.microsoft.com/office/drawing/2014/main" id="{A3497B96-E7F2-0B7F-C804-C1420406AA9E}"/>
              </a:ext>
            </a:extLst>
          </p:cNvPr>
          <p:cNvSpPr/>
          <p:nvPr/>
        </p:nvSpPr>
        <p:spPr>
          <a:xfrm>
            <a:off x="379243" y="2868922"/>
            <a:ext cx="5943621" cy="72905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a:solidFill>
                  <a:schemeClr val="tx1"/>
                </a:solidFill>
              </a:rPr>
              <a:t>Windows – ensure port 445 is open</a:t>
            </a:r>
          </a:p>
        </p:txBody>
      </p:sp>
      <p:sp>
        <p:nvSpPr>
          <p:cNvPr id="13" name="Rectangle 12">
            <a:extLst>
              <a:ext uri="{FF2B5EF4-FFF2-40B4-BE49-F238E27FC236}">
                <a16:creationId xmlns:a16="http://schemas.microsoft.com/office/drawing/2014/main" id="{3C1768D6-5AD4-585E-27F1-B1516A3684F7}"/>
              </a:ext>
            </a:extLst>
          </p:cNvPr>
          <p:cNvSpPr/>
          <p:nvPr/>
        </p:nvSpPr>
        <p:spPr>
          <a:xfrm>
            <a:off x="379243" y="3877163"/>
            <a:ext cx="5943621" cy="72905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a:solidFill>
                  <a:schemeClr val="tx1"/>
                </a:solidFill>
              </a:rPr>
              <a:t>Linux – mount the drive</a:t>
            </a:r>
          </a:p>
        </p:txBody>
      </p:sp>
      <p:sp>
        <p:nvSpPr>
          <p:cNvPr id="14" name="Rectangle 13">
            <a:extLst>
              <a:ext uri="{FF2B5EF4-FFF2-40B4-BE49-F238E27FC236}">
                <a16:creationId xmlns:a16="http://schemas.microsoft.com/office/drawing/2014/main" id="{D03EDA50-0BA3-9717-08EC-326BFDD18E9F}"/>
              </a:ext>
            </a:extLst>
          </p:cNvPr>
          <p:cNvSpPr/>
          <p:nvPr/>
        </p:nvSpPr>
        <p:spPr>
          <a:xfrm>
            <a:off x="379243" y="4885404"/>
            <a:ext cx="5943621" cy="72905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a:solidFill>
                  <a:schemeClr val="tx1"/>
                </a:solidFill>
              </a:rPr>
              <a:t>MacOS – mount the drive</a:t>
            </a:r>
          </a:p>
        </p:txBody>
      </p:sp>
      <p:sp>
        <p:nvSpPr>
          <p:cNvPr id="15" name="Rectangle 14">
            <a:extLst>
              <a:ext uri="{FF2B5EF4-FFF2-40B4-BE49-F238E27FC236}">
                <a16:creationId xmlns:a16="http://schemas.microsoft.com/office/drawing/2014/main" id="{ED83530F-3A57-109D-61B9-193F39276E0A}"/>
              </a:ext>
            </a:extLst>
          </p:cNvPr>
          <p:cNvSpPr/>
          <p:nvPr/>
        </p:nvSpPr>
        <p:spPr>
          <a:xfrm>
            <a:off x="379243" y="5893646"/>
            <a:ext cx="5943621" cy="72905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a:solidFill>
                  <a:schemeClr val="tx1"/>
                </a:solidFill>
              </a:rPr>
              <a:t>Secure transfer required – SMB 3.0 encryption</a:t>
            </a:r>
          </a:p>
        </p:txBody>
      </p:sp>
      <p:pic>
        <p:nvPicPr>
          <p:cNvPr id="16" name="Picture 15" descr="Screenshot of the Connect Windows file share page in the portal. ">
            <a:extLst>
              <a:ext uri="{FF2B5EF4-FFF2-40B4-BE49-F238E27FC236}">
                <a16:creationId xmlns:a16="http://schemas.microsoft.com/office/drawing/2014/main" id="{44561489-6F7E-CC9A-4B4E-8542E74CAC3C}"/>
              </a:ext>
            </a:extLst>
          </p:cNvPr>
          <p:cNvPicPr>
            <a:picLocks noChangeAspect="1"/>
          </p:cNvPicPr>
          <p:nvPr/>
        </p:nvPicPr>
        <p:blipFill>
          <a:blip r:embed="rId7"/>
          <a:stretch>
            <a:fillRect/>
          </a:stretch>
        </p:blipFill>
        <p:spPr>
          <a:xfrm>
            <a:off x="6613185" y="2055398"/>
            <a:ext cx="5372850" cy="4372585"/>
          </a:xfrm>
          <a:prstGeom prst="rect">
            <a:avLst/>
          </a:prstGeom>
        </p:spPr>
      </p:pic>
    </p:spTree>
    <p:extLst>
      <p:ext uri="{BB962C8B-B14F-4D97-AF65-F5344CB8AC3E}">
        <p14:creationId xmlns:p14="http://schemas.microsoft.com/office/powerpoint/2010/main" val="4151768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77FE2264-F3F4-07C6-FB48-6C14289B3F4D}"/>
              </a:ext>
            </a:extLst>
          </p:cNvPr>
          <p:cNvSpPr txBox="1">
            <a:spLocks/>
          </p:cNvSpPr>
          <p:nvPr/>
        </p:nvSpPr>
        <p:spPr>
          <a:xfrm>
            <a:off x="540979" y="1584285"/>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Create File Share Snapshots</a:t>
            </a:r>
            <a:endParaRPr lang="en-US" dirty="0"/>
          </a:p>
        </p:txBody>
      </p:sp>
      <p:pic>
        <p:nvPicPr>
          <p:cNvPr id="11" name="Picture 5" descr="A screenshot of creating a snapshot for a file share">
            <a:extLst>
              <a:ext uri="{FF2B5EF4-FFF2-40B4-BE49-F238E27FC236}">
                <a16:creationId xmlns:a16="http://schemas.microsoft.com/office/drawing/2014/main" id="{95D8754F-E425-16F2-BBEB-EB4B1E99F798}"/>
              </a:ext>
            </a:extLst>
          </p:cNvPr>
          <p:cNvPicPr>
            <a:picLocks noChangeAspect="1"/>
          </p:cNvPicPr>
          <p:nvPr/>
        </p:nvPicPr>
        <p:blipFill>
          <a:blip r:embed="rId7"/>
          <a:stretch>
            <a:fillRect/>
          </a:stretch>
        </p:blipFill>
        <p:spPr>
          <a:xfrm>
            <a:off x="6026564" y="2970988"/>
            <a:ext cx="5745428" cy="1160788"/>
          </a:xfrm>
          <a:prstGeom prst="rect">
            <a:avLst/>
          </a:prstGeom>
          <a:ln>
            <a:solidFill>
              <a:schemeClr val="bg1">
                <a:lumMod val="75000"/>
              </a:schemeClr>
            </a:solidFill>
          </a:ln>
        </p:spPr>
      </p:pic>
      <p:sp>
        <p:nvSpPr>
          <p:cNvPr id="12" name="Rectangle 11">
            <a:extLst>
              <a:ext uri="{FF2B5EF4-FFF2-40B4-BE49-F238E27FC236}">
                <a16:creationId xmlns:a16="http://schemas.microsoft.com/office/drawing/2014/main" id="{F8B2C1D7-C7C0-3A49-0EC1-0DEB9F1BDF5B}"/>
              </a:ext>
            </a:extLst>
          </p:cNvPr>
          <p:cNvSpPr/>
          <p:nvPr/>
        </p:nvSpPr>
        <p:spPr>
          <a:xfrm>
            <a:off x="662385" y="2456901"/>
            <a:ext cx="4714921" cy="3614811"/>
          </a:xfrm>
          <a:prstGeom prst="rect">
            <a:avLst/>
          </a:prstGeom>
          <a:noFill/>
          <a:ln w="19050">
            <a:noFill/>
          </a:ln>
        </p:spPr>
        <p:style>
          <a:lnRef idx="0">
            <a:scrgbClr r="0" g="0" b="0"/>
          </a:lnRef>
          <a:fillRef idx="0">
            <a:scrgbClr r="0" g="0" b="0"/>
          </a:fillRef>
          <a:effectRef idx="0">
            <a:scrgbClr r="0" g="0" b="0"/>
          </a:effectRef>
          <a:fontRef idx="minor">
            <a:schemeClr val="lt1"/>
          </a:fontRef>
        </p:style>
        <p:txBody>
          <a:bodyPr spcFirstLastPara="0" vert="horz" wrap="square" lIns="109728" tIns="64008" rIns="109728" bIns="64008" numCol="1" spcCol="1270" anchor="t" anchorCtr="0">
            <a:noAutofit/>
          </a:bodyPr>
          <a:lstStyle/>
          <a:p>
            <a:pPr marL="174625" lvl="1" indent="-174625">
              <a:spcBef>
                <a:spcPts val="100"/>
              </a:spcBef>
              <a:spcAft>
                <a:spcPts val="600"/>
              </a:spcAft>
              <a:buFont typeface="Arial" panose="020B0604020202020204" pitchFamily="34" charset="0"/>
              <a:buChar char="•"/>
            </a:pPr>
            <a:r>
              <a:rPr lang="en-US" dirty="0">
                <a:solidFill>
                  <a:schemeClr val="tx1"/>
                </a:solidFill>
              </a:rPr>
              <a:t>Protection against application error and data corruption</a:t>
            </a:r>
            <a:endParaRPr lang="en-US" dirty="0">
              <a:solidFill>
                <a:schemeClr val="tx1"/>
              </a:solidFill>
              <a:cs typeface="Segoe UI"/>
            </a:endParaRPr>
          </a:p>
          <a:p>
            <a:pPr marL="174625" lvl="1" indent="-174625">
              <a:spcBef>
                <a:spcPts val="100"/>
              </a:spcBef>
              <a:spcAft>
                <a:spcPts val="600"/>
              </a:spcAft>
              <a:buFont typeface="Arial" panose="020B0604020202020204" pitchFamily="34" charset="0"/>
              <a:buChar char="•"/>
            </a:pPr>
            <a:r>
              <a:rPr lang="en-US" dirty="0">
                <a:solidFill>
                  <a:schemeClr val="tx1"/>
                </a:solidFill>
              </a:rPr>
              <a:t>Protection against accidental deletions or unintended changes</a:t>
            </a:r>
            <a:endParaRPr lang="en-US" dirty="0">
              <a:solidFill>
                <a:schemeClr val="tx1"/>
              </a:solidFill>
              <a:cs typeface="Segoe UI"/>
            </a:endParaRPr>
          </a:p>
          <a:p>
            <a:pPr marL="174625" lvl="1" indent="-174625">
              <a:spcBef>
                <a:spcPts val="100"/>
              </a:spcBef>
              <a:spcAft>
                <a:spcPts val="600"/>
              </a:spcAft>
              <a:buFont typeface="Arial" panose="020B0604020202020204" pitchFamily="34" charset="0"/>
              <a:buChar char="•"/>
            </a:pPr>
            <a:r>
              <a:rPr lang="en-US" dirty="0">
                <a:solidFill>
                  <a:schemeClr val="tx1"/>
                </a:solidFill>
              </a:rPr>
              <a:t>Support backup and recovery</a:t>
            </a:r>
          </a:p>
          <a:p>
            <a:pPr marL="0" lvl="1">
              <a:spcBef>
                <a:spcPts val="100"/>
              </a:spcBef>
              <a:spcAft>
                <a:spcPts val="600"/>
              </a:spcAft>
            </a:pPr>
            <a:endParaRPr lang="en-US" dirty="0">
              <a:solidFill>
                <a:schemeClr val="tx1"/>
              </a:solidFill>
            </a:endParaRPr>
          </a:p>
          <a:p>
            <a:pPr marL="174625" indent="-174625">
              <a:spcAft>
                <a:spcPts val="600"/>
              </a:spcAft>
              <a:buFont typeface="Arial" panose="020B0604020202020204" pitchFamily="34" charset="0"/>
              <a:buChar char="•"/>
            </a:pPr>
            <a:r>
              <a:rPr lang="en-US" dirty="0">
                <a:solidFill>
                  <a:schemeClr val="tx1"/>
                </a:solidFill>
                <a:cs typeface="Segoe UI Semilight"/>
              </a:rPr>
              <a:t>Incremental snapshot that captures the share state at a point in time</a:t>
            </a:r>
          </a:p>
          <a:p>
            <a:pPr marL="174625" indent="-174625">
              <a:spcAft>
                <a:spcPts val="600"/>
              </a:spcAft>
              <a:buFont typeface="Arial" panose="020B0604020202020204" pitchFamily="34" charset="0"/>
              <a:buChar char="•"/>
            </a:pPr>
            <a:r>
              <a:rPr lang="en-US" dirty="0">
                <a:solidFill>
                  <a:schemeClr val="tx1"/>
                </a:solidFill>
                <a:cs typeface="Segoe UI Semilight"/>
              </a:rPr>
              <a:t>Snapshot at the </a:t>
            </a:r>
            <a:r>
              <a:rPr lang="en-US" i="1" dirty="0">
                <a:solidFill>
                  <a:schemeClr val="tx1"/>
                </a:solidFill>
                <a:cs typeface="Segoe UI Semilight"/>
              </a:rPr>
              <a:t>file share level</a:t>
            </a:r>
            <a:r>
              <a:rPr lang="en-US" dirty="0">
                <a:solidFill>
                  <a:schemeClr val="tx1"/>
                </a:solidFill>
                <a:cs typeface="Segoe UI Semilight"/>
              </a:rPr>
              <a:t>,</a:t>
            </a:r>
            <a:br>
              <a:rPr lang="en-US" dirty="0">
                <a:solidFill>
                  <a:schemeClr val="tx1"/>
                </a:solidFill>
                <a:cs typeface="Segoe UI Semilight"/>
              </a:rPr>
            </a:br>
            <a:r>
              <a:rPr lang="en-US" dirty="0">
                <a:solidFill>
                  <a:schemeClr val="tx1"/>
                </a:solidFill>
                <a:cs typeface="Segoe UI Semilight"/>
              </a:rPr>
              <a:t>and restore at the </a:t>
            </a:r>
            <a:r>
              <a:rPr lang="en-US" i="1" dirty="0">
                <a:solidFill>
                  <a:schemeClr val="tx1"/>
                </a:solidFill>
                <a:cs typeface="Segoe UI Semilight"/>
              </a:rPr>
              <a:t>file level</a:t>
            </a:r>
          </a:p>
          <a:p>
            <a:pPr marL="174625" lvl="1" indent="-174625">
              <a:spcBef>
                <a:spcPts val="100"/>
              </a:spcBef>
              <a:spcAft>
                <a:spcPts val="600"/>
              </a:spcAft>
              <a:buFont typeface="Arial" panose="020B0604020202020204" pitchFamily="34" charset="0"/>
              <a:buChar char="•"/>
            </a:pPr>
            <a:r>
              <a:rPr lang="en-US" dirty="0">
                <a:solidFill>
                  <a:schemeClr val="tx1"/>
                </a:solidFill>
                <a:cs typeface="Segoe UI Semilight"/>
              </a:rPr>
              <a:t>Is read-only copy of your data</a:t>
            </a:r>
          </a:p>
          <a:p>
            <a:pPr marL="285750" indent="-285750">
              <a:buFont typeface="Arial" panose="020B0604020202020204" pitchFamily="34" charset="0"/>
              <a:buChar char="•"/>
            </a:pPr>
            <a:endParaRPr lang="en-US" dirty="0">
              <a:solidFill>
                <a:schemeClr val="tx1"/>
              </a:solidFill>
              <a:cs typeface="Segoe UI Semilight"/>
            </a:endParaRPr>
          </a:p>
          <a:p>
            <a:pPr marL="285750" indent="-285750">
              <a:buFont typeface="Arial" panose="020B0604020202020204" pitchFamily="34" charset="0"/>
              <a:buChar char="•"/>
            </a:pPr>
            <a:endParaRPr lang="en-US" dirty="0">
              <a:solidFill>
                <a:schemeClr val="tx1"/>
              </a:solidFill>
              <a:cs typeface="Segoe UI Semilight"/>
            </a:endParaRPr>
          </a:p>
          <a:p>
            <a:pPr marL="285750" indent="-285750">
              <a:buFont typeface="Arial" panose="020B0604020202020204" pitchFamily="34" charset="0"/>
              <a:buChar char="•"/>
            </a:pPr>
            <a:endParaRPr lang="en-US" dirty="0">
              <a:solidFill>
                <a:schemeClr val="tx1"/>
              </a:solidFill>
              <a:cs typeface="Segoe UI Semilight"/>
            </a:endParaRPr>
          </a:p>
        </p:txBody>
      </p:sp>
    </p:spTree>
    <p:extLst>
      <p:ext uri="{BB962C8B-B14F-4D97-AF65-F5344CB8AC3E}">
        <p14:creationId xmlns:p14="http://schemas.microsoft.com/office/powerpoint/2010/main" val="29338960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73B400AD-26B1-2690-97BE-A022AD596E53}"/>
              </a:ext>
            </a:extLst>
          </p:cNvPr>
          <p:cNvSpPr txBox="1">
            <a:spLocks/>
          </p:cNvSpPr>
          <p:nvPr/>
        </p:nvSpPr>
        <p:spPr>
          <a:xfrm>
            <a:off x="550755" y="1375482"/>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Implement soft delete for Azure Files</a:t>
            </a:r>
            <a:endParaRPr lang="en-US" dirty="0"/>
          </a:p>
        </p:txBody>
      </p:sp>
      <p:sp>
        <p:nvSpPr>
          <p:cNvPr id="11" name="Rectangle 10">
            <a:extLst>
              <a:ext uri="{FF2B5EF4-FFF2-40B4-BE49-F238E27FC236}">
                <a16:creationId xmlns:a16="http://schemas.microsoft.com/office/drawing/2014/main" id="{C7B54B40-092B-98F5-24BB-DE42F6BB9596}"/>
              </a:ext>
            </a:extLst>
          </p:cNvPr>
          <p:cNvSpPr/>
          <p:nvPr/>
        </p:nvSpPr>
        <p:spPr>
          <a:xfrm>
            <a:off x="672161" y="2248098"/>
            <a:ext cx="5351919" cy="3614811"/>
          </a:xfrm>
          <a:prstGeom prst="rect">
            <a:avLst/>
          </a:prstGeom>
          <a:noFill/>
          <a:ln w="19050">
            <a:noFill/>
          </a:ln>
        </p:spPr>
        <p:style>
          <a:lnRef idx="0">
            <a:scrgbClr r="0" g="0" b="0"/>
          </a:lnRef>
          <a:fillRef idx="0">
            <a:scrgbClr r="0" g="0" b="0"/>
          </a:fillRef>
          <a:effectRef idx="0">
            <a:scrgbClr r="0" g="0" b="0"/>
          </a:effectRef>
          <a:fontRef idx="minor">
            <a:schemeClr val="lt1"/>
          </a:fontRef>
        </p:style>
        <p:txBody>
          <a:bodyPr spcFirstLastPara="0" vert="horz" wrap="square" lIns="109728" tIns="64008" rIns="109728" bIns="64008" numCol="1" spcCol="1270" anchor="t" anchorCtr="0">
            <a:noAutofit/>
          </a:bodyPr>
          <a:lstStyle/>
          <a:p>
            <a:pPr marL="174625" lvl="1" indent="-174625">
              <a:spcBef>
                <a:spcPts val="100"/>
              </a:spcBef>
              <a:spcAft>
                <a:spcPts val="600"/>
              </a:spcAft>
              <a:buFont typeface="Arial" panose="020B0604020202020204" pitchFamily="34" charset="0"/>
              <a:buChar char="•"/>
            </a:pPr>
            <a:r>
              <a:rPr lang="en-US" dirty="0">
                <a:solidFill>
                  <a:schemeClr val="tx1"/>
                </a:solidFill>
              </a:rPr>
              <a:t>Recovery from accidental data loss</a:t>
            </a:r>
          </a:p>
          <a:p>
            <a:pPr marL="174625" lvl="1" indent="-174625">
              <a:spcBef>
                <a:spcPts val="100"/>
              </a:spcBef>
              <a:spcAft>
                <a:spcPts val="600"/>
              </a:spcAft>
              <a:buFont typeface="Arial" panose="020B0604020202020204" pitchFamily="34" charset="0"/>
              <a:buChar char="•"/>
            </a:pPr>
            <a:r>
              <a:rPr lang="en-US" dirty="0">
                <a:solidFill>
                  <a:schemeClr val="tx1"/>
                </a:solidFill>
              </a:rPr>
              <a:t>Useful in major change or upgrade scenarios</a:t>
            </a:r>
          </a:p>
          <a:p>
            <a:pPr marL="174625" lvl="1" indent="-174625">
              <a:spcBef>
                <a:spcPts val="100"/>
              </a:spcBef>
              <a:spcAft>
                <a:spcPts val="600"/>
              </a:spcAft>
              <a:buFont typeface="Arial" panose="020B0604020202020204" pitchFamily="34" charset="0"/>
              <a:buChar char="•"/>
            </a:pPr>
            <a:r>
              <a:rPr lang="en-US" dirty="0">
                <a:solidFill>
                  <a:schemeClr val="tx1"/>
                </a:solidFill>
              </a:rPr>
              <a:t>Business continuity – ransomware situations</a:t>
            </a:r>
          </a:p>
          <a:p>
            <a:pPr marL="174625" lvl="1" indent="-174625">
              <a:spcBef>
                <a:spcPts val="100"/>
              </a:spcBef>
              <a:spcAft>
                <a:spcPts val="600"/>
              </a:spcAft>
              <a:buFont typeface="Arial" panose="020B0604020202020204" pitchFamily="34" charset="0"/>
              <a:buChar char="•"/>
            </a:pPr>
            <a:r>
              <a:rPr lang="en-US" dirty="0">
                <a:solidFill>
                  <a:schemeClr val="tx1"/>
                </a:solidFill>
              </a:rPr>
              <a:t>Data compliance retention</a:t>
            </a:r>
          </a:p>
          <a:p>
            <a:pPr>
              <a:spcAft>
                <a:spcPts val="600"/>
              </a:spcAft>
            </a:pPr>
            <a:endParaRPr lang="en-US" dirty="0">
              <a:solidFill>
                <a:schemeClr val="tx1"/>
              </a:solidFill>
              <a:cs typeface="Segoe UI Semilight"/>
            </a:endParaRPr>
          </a:p>
          <a:p>
            <a:pPr marL="174625" indent="-174625">
              <a:spcAft>
                <a:spcPts val="600"/>
              </a:spcAft>
              <a:buFont typeface="Arial" panose="020B0604020202020204" pitchFamily="34" charset="0"/>
              <a:buChar char="•"/>
            </a:pPr>
            <a:r>
              <a:rPr lang="en-US" dirty="0">
                <a:solidFill>
                  <a:schemeClr val="tx1"/>
                </a:solidFill>
                <a:cs typeface="Segoe UI Semilight"/>
              </a:rPr>
              <a:t>Enabled at the storage account level</a:t>
            </a:r>
          </a:p>
          <a:p>
            <a:pPr marL="174625" indent="-174625">
              <a:spcAft>
                <a:spcPts val="600"/>
              </a:spcAft>
              <a:buFont typeface="Arial" panose="020B0604020202020204" pitchFamily="34" charset="0"/>
              <a:buChar char="•"/>
            </a:pPr>
            <a:r>
              <a:rPr lang="en-US" dirty="0">
                <a:solidFill>
                  <a:schemeClr val="tx1"/>
                </a:solidFill>
                <a:cs typeface="Segoe UI Semilight"/>
              </a:rPr>
              <a:t>Transitions content to a soft deleted state</a:t>
            </a:r>
          </a:p>
          <a:p>
            <a:pPr marL="174625" indent="-174625">
              <a:spcAft>
                <a:spcPts val="600"/>
              </a:spcAft>
              <a:buFont typeface="Arial" panose="020B0604020202020204" pitchFamily="34" charset="0"/>
              <a:buChar char="•"/>
            </a:pPr>
            <a:r>
              <a:rPr lang="en-US" dirty="0">
                <a:solidFill>
                  <a:schemeClr val="tx1"/>
                </a:solidFill>
                <a:cs typeface="Segoe UI Semilight"/>
              </a:rPr>
              <a:t>Provides a retention period of 1 - 365 days</a:t>
            </a:r>
          </a:p>
          <a:p>
            <a:pPr marL="174625" indent="-174625">
              <a:spcAft>
                <a:spcPts val="600"/>
              </a:spcAft>
              <a:buFont typeface="Arial" panose="020B0604020202020204" pitchFamily="34" charset="0"/>
              <a:buChar char="•"/>
            </a:pPr>
            <a:r>
              <a:rPr lang="en-US" dirty="0">
                <a:solidFill>
                  <a:schemeClr val="tx1"/>
                </a:solidFill>
                <a:cs typeface="Segoe UI Semilight"/>
              </a:rPr>
              <a:t>Works on new or existing file shares</a:t>
            </a:r>
          </a:p>
          <a:p>
            <a:pPr marL="174625" indent="-174625">
              <a:spcAft>
                <a:spcPts val="600"/>
              </a:spcAft>
              <a:buFont typeface="Arial" panose="020B0604020202020204" pitchFamily="34" charset="0"/>
              <a:buChar char="•"/>
            </a:pPr>
            <a:r>
              <a:rPr lang="en-US" dirty="0">
                <a:solidFill>
                  <a:schemeClr val="tx1"/>
                </a:solidFill>
                <a:cs typeface="Segoe UI Semilight"/>
              </a:rPr>
              <a:t>Doesn't work for NFS shares</a:t>
            </a:r>
          </a:p>
          <a:p>
            <a:pPr marL="285750" indent="-285750">
              <a:buFont typeface="Arial" panose="020B0604020202020204" pitchFamily="34" charset="0"/>
              <a:buChar char="•"/>
            </a:pPr>
            <a:endParaRPr lang="en-US" dirty="0">
              <a:solidFill>
                <a:schemeClr val="tx1"/>
              </a:solidFill>
              <a:cs typeface="Segoe UI Semilight"/>
            </a:endParaRPr>
          </a:p>
          <a:p>
            <a:pPr marL="285750" indent="-285750">
              <a:buFont typeface="Arial" panose="020B0604020202020204" pitchFamily="34" charset="0"/>
              <a:buChar char="•"/>
            </a:pPr>
            <a:endParaRPr lang="en-US" dirty="0">
              <a:solidFill>
                <a:schemeClr val="tx1"/>
              </a:solidFill>
              <a:cs typeface="Segoe UI Semilight"/>
            </a:endParaRPr>
          </a:p>
        </p:txBody>
      </p:sp>
      <p:pic>
        <p:nvPicPr>
          <p:cNvPr id="12" name="Picture 11">
            <a:extLst>
              <a:ext uri="{FF2B5EF4-FFF2-40B4-BE49-F238E27FC236}">
                <a16:creationId xmlns:a16="http://schemas.microsoft.com/office/drawing/2014/main" id="{B7BD6841-B970-24E1-EAAC-7A38DD6AA651}"/>
              </a:ext>
            </a:extLst>
          </p:cNvPr>
          <p:cNvPicPr>
            <a:picLocks noChangeAspect="1"/>
          </p:cNvPicPr>
          <p:nvPr/>
        </p:nvPicPr>
        <p:blipFill>
          <a:blip r:embed="rId6"/>
          <a:stretch>
            <a:fillRect/>
          </a:stretch>
        </p:blipFill>
        <p:spPr>
          <a:xfrm>
            <a:off x="6096000" y="2423837"/>
            <a:ext cx="5249008" cy="3762900"/>
          </a:xfrm>
          <a:prstGeom prst="rect">
            <a:avLst/>
          </a:prstGeom>
          <a:ln>
            <a:solidFill>
              <a:schemeClr val="bg1">
                <a:lumMod val="85000"/>
              </a:schemeClr>
            </a:solidFill>
          </a:ln>
        </p:spPr>
      </p:pic>
    </p:spTree>
    <p:extLst>
      <p:ext uri="{BB962C8B-B14F-4D97-AF65-F5344CB8AC3E}">
        <p14:creationId xmlns:p14="http://schemas.microsoft.com/office/powerpoint/2010/main" val="2466502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095F8EFC-BCF3-D347-CCBB-B01071828041}"/>
              </a:ext>
            </a:extLst>
          </p:cNvPr>
          <p:cNvSpPr txBox="1">
            <a:spLocks/>
          </p:cNvSpPr>
          <p:nvPr/>
        </p:nvSpPr>
        <p:spPr>
          <a:xfrm>
            <a:off x="458444" y="1267283"/>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Use Azure Storage Explorer</a:t>
            </a:r>
          </a:p>
        </p:txBody>
      </p:sp>
      <p:sp>
        <p:nvSpPr>
          <p:cNvPr id="11" name="Rectangle 10">
            <a:extLst>
              <a:ext uri="{FF2B5EF4-FFF2-40B4-BE49-F238E27FC236}">
                <a16:creationId xmlns:a16="http://schemas.microsoft.com/office/drawing/2014/main" id="{073C33F2-A2B2-8BC2-AA48-38D2E5119A14}"/>
              </a:ext>
            </a:extLst>
          </p:cNvPr>
          <p:cNvSpPr/>
          <p:nvPr/>
        </p:nvSpPr>
        <p:spPr>
          <a:xfrm>
            <a:off x="379243" y="2172748"/>
            <a:ext cx="5084766" cy="3670912"/>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342900" indent="-342900">
              <a:spcAft>
                <a:spcPts val="600"/>
              </a:spcAft>
              <a:buFont typeface="Arial" panose="020B0604020202020204" pitchFamily="34" charset="0"/>
              <a:buChar char="•"/>
            </a:pPr>
            <a:r>
              <a:rPr lang="en-US" sz="2000" dirty="0">
                <a:solidFill>
                  <a:schemeClr val="tx1"/>
                </a:solidFill>
              </a:rPr>
              <a:t>Download and install </a:t>
            </a:r>
          </a:p>
          <a:p>
            <a:pPr marL="342900" indent="-342900">
              <a:spcAft>
                <a:spcPts val="600"/>
              </a:spcAft>
              <a:buFont typeface="Arial" panose="020B0604020202020204" pitchFamily="34" charset="0"/>
              <a:buChar char="•"/>
            </a:pPr>
            <a:r>
              <a:rPr lang="en-US" sz="2000" dirty="0">
                <a:solidFill>
                  <a:schemeClr val="tx1"/>
                </a:solidFill>
              </a:rPr>
              <a:t>Access multiple accounts and subscriptions</a:t>
            </a:r>
          </a:p>
          <a:p>
            <a:pPr marL="342900" indent="-342900">
              <a:spcAft>
                <a:spcPts val="600"/>
              </a:spcAft>
              <a:buFont typeface="Arial" panose="020B0604020202020204" pitchFamily="34" charset="0"/>
              <a:buChar char="•"/>
            </a:pPr>
            <a:r>
              <a:rPr lang="en-US" sz="2000" dirty="0">
                <a:solidFill>
                  <a:schemeClr val="tx1"/>
                </a:solidFill>
              </a:rPr>
              <a:t>Create, delete, view, edit storage resources</a:t>
            </a:r>
          </a:p>
          <a:p>
            <a:pPr marL="342900" indent="-342900">
              <a:spcAft>
                <a:spcPts val="600"/>
              </a:spcAft>
              <a:buFont typeface="Arial" panose="020B0604020202020204" pitchFamily="34" charset="0"/>
              <a:buChar char="•"/>
            </a:pPr>
            <a:r>
              <a:rPr lang="en-US" sz="2000" dirty="0">
                <a:solidFill>
                  <a:schemeClr val="tx1"/>
                </a:solidFill>
              </a:rPr>
              <a:t>View and edit Blob, Queue, Table, File, Cosmos DB storage and Data Lake Storage</a:t>
            </a:r>
          </a:p>
          <a:p>
            <a:pPr marL="342900" indent="-342900">
              <a:spcAft>
                <a:spcPts val="600"/>
              </a:spcAft>
              <a:buFont typeface="Arial" panose="020B0604020202020204" pitchFamily="34" charset="0"/>
              <a:buChar char="•"/>
            </a:pPr>
            <a:r>
              <a:rPr lang="en-US" sz="2000" dirty="0">
                <a:solidFill>
                  <a:schemeClr val="tx1"/>
                </a:solidFill>
              </a:rPr>
              <a:t>Obtain shared access signature (SAS) keys</a:t>
            </a:r>
          </a:p>
          <a:p>
            <a:pPr marL="342900" indent="-342900">
              <a:spcAft>
                <a:spcPts val="600"/>
              </a:spcAft>
              <a:buFont typeface="Arial" panose="020B0604020202020204" pitchFamily="34" charset="0"/>
              <a:buChar char="•"/>
            </a:pPr>
            <a:r>
              <a:rPr lang="en-US" sz="2000" dirty="0">
                <a:solidFill>
                  <a:schemeClr val="tx1"/>
                </a:solidFill>
              </a:rPr>
              <a:t>Available for Windows, Mac, and Linux</a:t>
            </a:r>
          </a:p>
        </p:txBody>
      </p:sp>
      <p:pic>
        <p:nvPicPr>
          <p:cNvPr id="12" name="Picture 11" descr="Screenshot of the Storage Explorer. The navigation pane (left) is expanded and a folder in the blob container is selected. The folder (right pane) contains several documents">
            <a:extLst>
              <a:ext uri="{FF2B5EF4-FFF2-40B4-BE49-F238E27FC236}">
                <a16:creationId xmlns:a16="http://schemas.microsoft.com/office/drawing/2014/main" id="{BEB55B29-53F7-C113-86EE-8B40188A61D0}"/>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5784142" y="2398882"/>
            <a:ext cx="6070370" cy="3218644"/>
          </a:xfrm>
          <a:prstGeom prst="rect">
            <a:avLst/>
          </a:prstGeom>
          <a:noFill/>
          <a:ln>
            <a:solidFill>
              <a:schemeClr val="bg1">
                <a:lumMod val="65000"/>
              </a:schemeClr>
            </a:solidFill>
          </a:ln>
        </p:spPr>
      </p:pic>
      <p:sp>
        <p:nvSpPr>
          <p:cNvPr id="13" name="TextBox 12">
            <a:extLst>
              <a:ext uri="{FF2B5EF4-FFF2-40B4-BE49-F238E27FC236}">
                <a16:creationId xmlns:a16="http://schemas.microsoft.com/office/drawing/2014/main" id="{1A7ED3E2-B4E8-4F02-EF84-FBCEEF64A747}"/>
              </a:ext>
            </a:extLst>
          </p:cNvPr>
          <p:cNvSpPr txBox="1"/>
          <p:nvPr/>
        </p:nvSpPr>
        <p:spPr>
          <a:xfrm>
            <a:off x="6223736" y="5843660"/>
            <a:ext cx="4402736" cy="646331"/>
          </a:xfrm>
          <a:prstGeom prst="rect">
            <a:avLst/>
          </a:prstGeom>
          <a:noFill/>
        </p:spPr>
        <p:txBody>
          <a:bodyPr wrap="square">
            <a:spAutoFit/>
          </a:bodyPr>
          <a:lstStyle/>
          <a:p>
            <a:pPr algn="ctr"/>
            <a:r>
              <a:rPr lang="en-US" sz="1800" dirty="0">
                <a:solidFill>
                  <a:schemeClr val="tx1"/>
                </a:solidFill>
              </a:rPr>
              <a:t>Also consider portal-based Azure Storage Browser and Azure Storage Mover</a:t>
            </a:r>
            <a:endParaRPr lang="en-US" dirty="0"/>
          </a:p>
        </p:txBody>
      </p:sp>
    </p:spTree>
    <p:extLst>
      <p:ext uri="{BB962C8B-B14F-4D97-AF65-F5344CB8AC3E}">
        <p14:creationId xmlns:p14="http://schemas.microsoft.com/office/powerpoint/2010/main" val="17774095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7891180C-DEF4-4470-9421-3A445AABA829}"/>
              </a:ext>
            </a:extLst>
          </p:cNvPr>
          <p:cNvSpPr txBox="1">
            <a:spLocks/>
          </p:cNvSpPr>
          <p:nvPr/>
        </p:nvSpPr>
        <p:spPr>
          <a:xfrm>
            <a:off x="661416" y="2083854"/>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Demonstration – Configure File Shares</a:t>
            </a:r>
            <a:endParaRPr lang="en-US" dirty="0"/>
          </a:p>
        </p:txBody>
      </p:sp>
      <p:sp>
        <p:nvSpPr>
          <p:cNvPr id="11" name="Rectangle 10">
            <a:extLst>
              <a:ext uri="{FF2B5EF4-FFF2-40B4-BE49-F238E27FC236}">
                <a16:creationId xmlns:a16="http://schemas.microsoft.com/office/drawing/2014/main" id="{F6E1CEFF-0BFD-3DC6-DF21-7E718FB4F3FE}"/>
              </a:ext>
            </a:extLst>
          </p:cNvPr>
          <p:cNvSpPr/>
          <p:nvPr/>
        </p:nvSpPr>
        <p:spPr bwMode="auto">
          <a:xfrm>
            <a:off x="1199541" y="3161447"/>
            <a:ext cx="10198101" cy="185221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342900" indent="-342900" defTabSz="1022350">
              <a:lnSpc>
                <a:spcPct val="150000"/>
              </a:lnSpc>
              <a:spcBef>
                <a:spcPct val="0"/>
              </a:spcBef>
              <a:spcAft>
                <a:spcPct val="35000"/>
              </a:spcAft>
              <a:buFont typeface="Arial" panose="020B0604020202020204" pitchFamily="34" charset="0"/>
              <a:buChar char="•"/>
            </a:pPr>
            <a:r>
              <a:rPr lang="en-US" sz="2400" dirty="0">
                <a:solidFill>
                  <a:schemeClr val="tx1"/>
                </a:solidFill>
              </a:rPr>
              <a:t>Create a file share and upload a file</a:t>
            </a:r>
          </a:p>
          <a:p>
            <a:pPr marL="342900" indent="-342900" defTabSz="1022350">
              <a:lnSpc>
                <a:spcPct val="150000"/>
              </a:lnSpc>
              <a:spcBef>
                <a:spcPct val="0"/>
              </a:spcBef>
              <a:spcAft>
                <a:spcPct val="35000"/>
              </a:spcAft>
              <a:buFont typeface="Arial" panose="020B0604020202020204" pitchFamily="34" charset="0"/>
              <a:buChar char="•"/>
            </a:pPr>
            <a:r>
              <a:rPr lang="en-US" sz="2400" dirty="0">
                <a:solidFill>
                  <a:schemeClr val="tx1"/>
                </a:solidFill>
              </a:rPr>
              <a:t>Explore snapshots and soft delete</a:t>
            </a:r>
          </a:p>
          <a:p>
            <a:pPr marL="342900" indent="-342900" defTabSz="1022350">
              <a:lnSpc>
                <a:spcPct val="150000"/>
              </a:lnSpc>
              <a:spcBef>
                <a:spcPct val="0"/>
              </a:spcBef>
              <a:spcAft>
                <a:spcPct val="35000"/>
              </a:spcAft>
              <a:buFont typeface="Arial" panose="020B0604020202020204" pitchFamily="34" charset="0"/>
              <a:buChar char="•"/>
            </a:pPr>
            <a:r>
              <a:rPr lang="en-US" sz="2400" dirty="0">
                <a:solidFill>
                  <a:schemeClr val="tx1"/>
                </a:solidFill>
              </a:rPr>
              <a:t>Use the portal-based Storage Explorer (optional)</a:t>
            </a:r>
          </a:p>
        </p:txBody>
      </p:sp>
    </p:spTree>
    <p:extLst>
      <p:ext uri="{BB962C8B-B14F-4D97-AF65-F5344CB8AC3E}">
        <p14:creationId xmlns:p14="http://schemas.microsoft.com/office/powerpoint/2010/main" val="4290807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Lab – Manage Azure Storage</a:t>
            </a: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14689469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7C607ECC-6822-2A29-4D66-5480940ED665}"/>
              </a:ext>
            </a:extLst>
          </p:cNvPr>
          <p:cNvSpPr txBox="1">
            <a:spLocks/>
          </p:cNvSpPr>
          <p:nvPr/>
        </p:nvSpPr>
        <p:spPr>
          <a:xfrm>
            <a:off x="662754" y="1437916"/>
            <a:ext cx="11701941" cy="5022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Lab 07 – Manage Azure Storage</a:t>
            </a:r>
            <a:endParaRPr lang="en-US" dirty="0"/>
          </a:p>
        </p:txBody>
      </p:sp>
      <p:sp>
        <p:nvSpPr>
          <p:cNvPr id="11" name="Text Placeholder 2">
            <a:extLst>
              <a:ext uri="{FF2B5EF4-FFF2-40B4-BE49-F238E27FC236}">
                <a16:creationId xmlns:a16="http://schemas.microsoft.com/office/drawing/2014/main" id="{CE9F10E7-682B-8AAD-28C1-68AC360E3F3C}"/>
              </a:ext>
            </a:extLst>
          </p:cNvPr>
          <p:cNvSpPr txBox="1">
            <a:spLocks/>
          </p:cNvSpPr>
          <p:nvPr/>
        </p:nvSpPr>
        <p:spPr>
          <a:xfrm>
            <a:off x="379243" y="3240437"/>
            <a:ext cx="3782685" cy="2134545"/>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12"/>
              </a:spcAft>
            </a:pPr>
            <a:r>
              <a:rPr lang="en-US" sz="1800" spc="0" dirty="0">
                <a:solidFill>
                  <a:schemeClr val="tx1"/>
                </a:solidFill>
                <a:latin typeface="+mn-lt"/>
                <a:cs typeface="Segoe UI Semilight"/>
              </a:rPr>
              <a:t>In this lab you learn to create and configure storage accounts.</a:t>
            </a:r>
          </a:p>
          <a:p>
            <a:pPr>
              <a:spcAft>
                <a:spcPts val="612"/>
              </a:spcAft>
            </a:pPr>
            <a:r>
              <a:rPr lang="en-US" sz="1800" spc="0" dirty="0">
                <a:solidFill>
                  <a:schemeClr val="tx1"/>
                </a:solidFill>
                <a:latin typeface="+mn-lt"/>
                <a:cs typeface="Segoe UI Semilight"/>
              </a:rPr>
              <a:t>You learn to configure and secure blob containers. </a:t>
            </a:r>
          </a:p>
          <a:p>
            <a:pPr>
              <a:spcAft>
                <a:spcPts val="612"/>
              </a:spcAft>
            </a:pPr>
            <a:r>
              <a:rPr lang="en-US" sz="1800" spc="0" dirty="0">
                <a:solidFill>
                  <a:schemeClr val="tx1"/>
                </a:solidFill>
                <a:latin typeface="+mn-lt"/>
                <a:cs typeface="Segoe UI Semilight"/>
              </a:rPr>
              <a:t>You also learn to use Storage Browser to configure and secure Azure file shares. </a:t>
            </a:r>
          </a:p>
        </p:txBody>
      </p:sp>
      <p:sp>
        <p:nvSpPr>
          <p:cNvPr id="12" name="Rectangle 11">
            <a:extLst>
              <a:ext uri="{FF2B5EF4-FFF2-40B4-BE49-F238E27FC236}">
                <a16:creationId xmlns:a16="http://schemas.microsoft.com/office/drawing/2014/main" id="{552C6236-03D6-010F-24D4-CC7597CDC8E4}"/>
              </a:ext>
            </a:extLst>
          </p:cNvPr>
          <p:cNvSpPr/>
          <p:nvPr/>
        </p:nvSpPr>
        <p:spPr bwMode="auto">
          <a:xfrm>
            <a:off x="5191726" y="2968745"/>
            <a:ext cx="6653400" cy="3755141"/>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12"/>
              </a:spcAft>
            </a:pPr>
            <a:r>
              <a:rPr lang="en-US" sz="2000" dirty="0">
                <a:solidFill>
                  <a:schemeClr val="tx1"/>
                </a:solidFill>
                <a:latin typeface="+mj-lt"/>
                <a:cs typeface="Segoe UI Semilight"/>
              </a:rPr>
              <a:t>Task 1: </a:t>
            </a:r>
            <a:r>
              <a:rPr lang="en-US" sz="2000" dirty="0">
                <a:solidFill>
                  <a:schemeClr val="tx1"/>
                </a:solidFill>
                <a:cs typeface="Segoe UI Semilight"/>
              </a:rPr>
              <a:t>Create and configure Azure storage accounts.</a:t>
            </a:r>
          </a:p>
          <a:p>
            <a:pPr>
              <a:spcAft>
                <a:spcPts val="612"/>
              </a:spcAft>
            </a:pPr>
            <a:r>
              <a:rPr lang="en-US" sz="2000" dirty="0">
                <a:solidFill>
                  <a:schemeClr val="tx1"/>
                </a:solidFill>
                <a:latin typeface="+mj-lt"/>
                <a:cs typeface="Segoe UI Semilight"/>
              </a:rPr>
              <a:t>Task 2: </a:t>
            </a:r>
            <a:r>
              <a:rPr lang="en-US" sz="2000" dirty="0">
                <a:solidFill>
                  <a:schemeClr val="tx1"/>
                </a:solidFill>
                <a:cs typeface="Segoe UI Semilight"/>
              </a:rPr>
              <a:t>Create and configure secure blob storage.</a:t>
            </a:r>
          </a:p>
          <a:p>
            <a:pPr marL="816022" indent="-816022">
              <a:spcAft>
                <a:spcPts val="612"/>
              </a:spcAft>
            </a:pPr>
            <a:r>
              <a:rPr lang="en-US" sz="2000" dirty="0">
                <a:solidFill>
                  <a:schemeClr val="tx1"/>
                </a:solidFill>
                <a:latin typeface="+mj-lt"/>
                <a:cs typeface="Segoe UI Semilight"/>
              </a:rPr>
              <a:t>Task 3: </a:t>
            </a:r>
            <a:r>
              <a:rPr lang="en-US" sz="2000" dirty="0">
                <a:solidFill>
                  <a:schemeClr val="tx1"/>
                </a:solidFill>
                <a:cs typeface="Segoe UI Semilight"/>
              </a:rPr>
              <a:t>Create and configure secure Azure file storage.</a:t>
            </a:r>
          </a:p>
          <a:p>
            <a:pPr>
              <a:spcAft>
                <a:spcPts val="612"/>
              </a:spcAft>
            </a:pPr>
            <a:endParaRPr lang="en-US" sz="2000" dirty="0">
              <a:solidFill>
                <a:schemeClr val="tx1"/>
              </a:solidFill>
            </a:endParaRPr>
          </a:p>
          <a:p>
            <a:pPr>
              <a:spcAft>
                <a:spcPts val="612"/>
              </a:spcAft>
            </a:pPr>
            <a:endParaRPr lang="en-US" sz="2000" dirty="0">
              <a:solidFill>
                <a:schemeClr val="tx1"/>
              </a:solidFill>
            </a:endParaRPr>
          </a:p>
          <a:p>
            <a:pPr>
              <a:spcAft>
                <a:spcPts val="612"/>
              </a:spcAft>
            </a:pPr>
            <a:endParaRPr lang="en-US" sz="2000" dirty="0">
              <a:solidFill>
                <a:schemeClr val="tx1"/>
              </a:solidFill>
            </a:endParaRPr>
          </a:p>
          <a:p>
            <a:pPr>
              <a:spcAft>
                <a:spcPts val="612"/>
              </a:spcAft>
            </a:pPr>
            <a:endParaRPr lang="en-US" sz="2000" dirty="0">
              <a:solidFill>
                <a:schemeClr val="tx1"/>
              </a:solidFill>
            </a:endParaRPr>
          </a:p>
        </p:txBody>
      </p:sp>
      <p:sp>
        <p:nvSpPr>
          <p:cNvPr id="13" name="TextBox 12">
            <a:extLst>
              <a:ext uri="{FF2B5EF4-FFF2-40B4-BE49-F238E27FC236}">
                <a16:creationId xmlns:a16="http://schemas.microsoft.com/office/drawing/2014/main" id="{1D634D41-7C98-8A6F-C770-7E63287845AB}"/>
              </a:ext>
              <a:ext uri="{C183D7F6-B498-43B3-948B-1728B52AA6E4}">
                <adec:decorative xmlns:adec="http://schemas.microsoft.com/office/drawing/2017/decorative" val="1"/>
              </a:ext>
            </a:extLst>
          </p:cNvPr>
          <p:cNvSpPr txBox="1"/>
          <p:nvPr/>
        </p:nvSpPr>
        <p:spPr>
          <a:xfrm>
            <a:off x="5097145" y="2651374"/>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Tree>
    <p:extLst>
      <p:ext uri="{BB962C8B-B14F-4D97-AF65-F5344CB8AC3E}">
        <p14:creationId xmlns:p14="http://schemas.microsoft.com/office/powerpoint/2010/main" val="28434402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36C5F812-4F7F-7AA5-5E30-E96AD2F4E026}"/>
              </a:ext>
            </a:extLst>
          </p:cNvPr>
          <p:cNvSpPr txBox="1">
            <a:spLocks/>
          </p:cNvSpPr>
          <p:nvPr/>
        </p:nvSpPr>
        <p:spPr>
          <a:xfrm>
            <a:off x="572387" y="1442813"/>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64"/>
              <a:t>Lab 07 – Architecture diagram</a:t>
            </a:r>
            <a:endParaRPr lang="en-US" sz="3264" dirty="0"/>
          </a:p>
        </p:txBody>
      </p:sp>
      <p:grpSp>
        <p:nvGrpSpPr>
          <p:cNvPr id="11" name="Group 10" descr="Architecture diagram for the storage lab tasks. ">
            <a:extLst>
              <a:ext uri="{FF2B5EF4-FFF2-40B4-BE49-F238E27FC236}">
                <a16:creationId xmlns:a16="http://schemas.microsoft.com/office/drawing/2014/main" id="{209B6643-8E5B-6E92-17BF-C4962CAF65ED}"/>
              </a:ext>
            </a:extLst>
          </p:cNvPr>
          <p:cNvGrpSpPr/>
          <p:nvPr/>
        </p:nvGrpSpPr>
        <p:grpSpPr>
          <a:xfrm>
            <a:off x="3523879" y="2272833"/>
            <a:ext cx="5395133" cy="4253002"/>
            <a:chOff x="4926865" y="1577788"/>
            <a:chExt cx="4799842" cy="3944471"/>
          </a:xfrm>
        </p:grpSpPr>
        <p:sp>
          <p:nvSpPr>
            <p:cNvPr id="12" name="Rectangle 11">
              <a:extLst>
                <a:ext uri="{FF2B5EF4-FFF2-40B4-BE49-F238E27FC236}">
                  <a16:creationId xmlns:a16="http://schemas.microsoft.com/office/drawing/2014/main" id="{22192FBF-5865-1BB5-0769-851CE83E277F}"/>
                </a:ext>
              </a:extLst>
            </p:cNvPr>
            <p:cNvSpPr/>
            <p:nvPr/>
          </p:nvSpPr>
          <p:spPr bwMode="auto">
            <a:xfrm>
              <a:off x="4926865" y="1577788"/>
              <a:ext cx="4799842" cy="394447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CCE8A150-729A-A6BD-505C-63766A416693}"/>
                </a:ext>
              </a:extLst>
            </p:cNvPr>
            <p:cNvSpPr/>
            <p:nvPr/>
          </p:nvSpPr>
          <p:spPr bwMode="auto">
            <a:xfrm>
              <a:off x="5359998" y="3609695"/>
              <a:ext cx="1847432" cy="1479911"/>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01DC6322-5DD1-BE6E-9C93-E245F08F5D40}"/>
                </a:ext>
              </a:extLst>
            </p:cNvPr>
            <p:cNvSpPr/>
            <p:nvPr/>
          </p:nvSpPr>
          <p:spPr bwMode="auto">
            <a:xfrm>
              <a:off x="7498484" y="3603077"/>
              <a:ext cx="1840174" cy="1479911"/>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ea typeface="Segoe UI" pitchFamily="34" charset="0"/>
                <a:cs typeface="Segoe UI" pitchFamily="34" charset="0"/>
              </a:endParaRPr>
            </a:p>
          </p:txBody>
        </p:sp>
        <p:sp>
          <p:nvSpPr>
            <p:cNvPr id="15" name="Rectangle 14">
              <a:extLst>
                <a:ext uri="{FF2B5EF4-FFF2-40B4-BE49-F238E27FC236}">
                  <a16:creationId xmlns:a16="http://schemas.microsoft.com/office/drawing/2014/main" id="{9DA75E73-6E8C-E714-E881-1190B208901C}"/>
                </a:ext>
              </a:extLst>
            </p:cNvPr>
            <p:cNvSpPr/>
            <p:nvPr/>
          </p:nvSpPr>
          <p:spPr bwMode="auto">
            <a:xfrm>
              <a:off x="5029017" y="1888021"/>
              <a:ext cx="4453455" cy="3392191"/>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cs typeface="Segoe UI" pitchFamily="34" charset="0"/>
              </a:endParaRPr>
            </a:p>
          </p:txBody>
        </p:sp>
        <p:sp>
          <p:nvSpPr>
            <p:cNvPr id="16" name="TextBox 24">
              <a:extLst>
                <a:ext uri="{FF2B5EF4-FFF2-40B4-BE49-F238E27FC236}">
                  <a16:creationId xmlns:a16="http://schemas.microsoft.com/office/drawing/2014/main" id="{5C120C5F-61D5-092A-84C5-8233AC93FBF7}"/>
                </a:ext>
              </a:extLst>
            </p:cNvPr>
            <p:cNvSpPr txBox="1"/>
            <p:nvPr/>
          </p:nvSpPr>
          <p:spPr>
            <a:xfrm>
              <a:off x="5040337" y="1749454"/>
              <a:ext cx="1750924" cy="324916"/>
            </a:xfrm>
            <a:prstGeom prst="rect">
              <a:avLst/>
            </a:prstGeom>
            <a:solidFill>
              <a:schemeClr val="bg1"/>
            </a:solid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32" dirty="0"/>
                <a:t>az104-07-rg7</a:t>
              </a:r>
            </a:p>
          </p:txBody>
        </p:sp>
        <p:pic>
          <p:nvPicPr>
            <p:cNvPr id="17" name="Graphic 35">
              <a:extLst>
                <a:ext uri="{FF2B5EF4-FFF2-40B4-BE49-F238E27FC236}">
                  <a16:creationId xmlns:a16="http://schemas.microsoft.com/office/drawing/2014/main" id="{6EFFA7CE-E6D0-EF40-1614-678AC583302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96402" y="3963310"/>
              <a:ext cx="521658" cy="521658"/>
            </a:xfrm>
            <a:prstGeom prst="rect">
              <a:avLst/>
            </a:prstGeom>
          </p:spPr>
        </p:pic>
        <p:sp>
          <p:nvSpPr>
            <p:cNvPr id="18" name="TextBox 50">
              <a:extLst>
                <a:ext uri="{FF2B5EF4-FFF2-40B4-BE49-F238E27FC236}">
                  <a16:creationId xmlns:a16="http://schemas.microsoft.com/office/drawing/2014/main" id="{A9840363-A785-5D56-4518-FBCA18BEE100}"/>
                </a:ext>
              </a:extLst>
            </p:cNvPr>
            <p:cNvSpPr txBox="1"/>
            <p:nvPr/>
          </p:nvSpPr>
          <p:spPr>
            <a:xfrm>
              <a:off x="7443366" y="3604810"/>
              <a:ext cx="792235" cy="324916"/>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32" b="1" dirty="0">
                  <a:solidFill>
                    <a:schemeClr val="tx2">
                      <a:lumMod val="50000"/>
                    </a:schemeClr>
                  </a:solidFill>
                </a:rPr>
                <a:t>Task 3</a:t>
              </a:r>
            </a:p>
          </p:txBody>
        </p:sp>
        <p:sp>
          <p:nvSpPr>
            <p:cNvPr id="19" name="TextBox 57">
              <a:extLst>
                <a:ext uri="{FF2B5EF4-FFF2-40B4-BE49-F238E27FC236}">
                  <a16:creationId xmlns:a16="http://schemas.microsoft.com/office/drawing/2014/main" id="{8193D1AA-1C1D-8E5E-E12F-FC00CB497267}"/>
                </a:ext>
              </a:extLst>
            </p:cNvPr>
            <p:cNvSpPr txBox="1"/>
            <p:nvPr/>
          </p:nvSpPr>
          <p:spPr>
            <a:xfrm>
              <a:off x="5763306" y="4498826"/>
              <a:ext cx="1382650" cy="324916"/>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32" dirty="0"/>
                <a:t>Blob container</a:t>
              </a:r>
            </a:p>
          </p:txBody>
        </p:sp>
        <p:sp>
          <p:nvSpPr>
            <p:cNvPr id="20" name="TextBox 66">
              <a:extLst>
                <a:ext uri="{FF2B5EF4-FFF2-40B4-BE49-F238E27FC236}">
                  <a16:creationId xmlns:a16="http://schemas.microsoft.com/office/drawing/2014/main" id="{21CF1B66-9714-E4D8-A5A8-7BC19B863B95}"/>
                </a:ext>
              </a:extLst>
            </p:cNvPr>
            <p:cNvSpPr txBox="1"/>
            <p:nvPr/>
          </p:nvSpPr>
          <p:spPr>
            <a:xfrm>
              <a:off x="5367595" y="3580257"/>
              <a:ext cx="1537457" cy="324916"/>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32" b="1" dirty="0">
                  <a:solidFill>
                    <a:schemeClr val="tx2">
                      <a:lumMod val="50000"/>
                    </a:schemeClr>
                  </a:solidFill>
                </a:rPr>
                <a:t>Task 2</a:t>
              </a:r>
            </a:p>
          </p:txBody>
        </p:sp>
        <p:sp>
          <p:nvSpPr>
            <p:cNvPr id="21" name="Rectangle 20">
              <a:extLst>
                <a:ext uri="{FF2B5EF4-FFF2-40B4-BE49-F238E27FC236}">
                  <a16:creationId xmlns:a16="http://schemas.microsoft.com/office/drawing/2014/main" id="{5DA6F279-4DE5-95B3-C132-8DF8EF9E9A83}"/>
                </a:ext>
              </a:extLst>
            </p:cNvPr>
            <p:cNvSpPr/>
            <p:nvPr/>
          </p:nvSpPr>
          <p:spPr bwMode="auto">
            <a:xfrm>
              <a:off x="6131130" y="2211832"/>
              <a:ext cx="2537093" cy="982185"/>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ea typeface="Segoe UI" pitchFamily="34" charset="0"/>
                <a:cs typeface="Segoe UI" pitchFamily="34" charset="0"/>
              </a:endParaRPr>
            </a:p>
          </p:txBody>
        </p:sp>
        <p:pic>
          <p:nvPicPr>
            <p:cNvPr id="22" name="Graphic 23">
              <a:extLst>
                <a:ext uri="{FF2B5EF4-FFF2-40B4-BE49-F238E27FC236}">
                  <a16:creationId xmlns:a16="http://schemas.microsoft.com/office/drawing/2014/main" id="{8B858800-565A-B1B6-46AE-B23E806B08A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081198" y="2304755"/>
              <a:ext cx="521659" cy="521659"/>
            </a:xfrm>
            <a:prstGeom prst="rect">
              <a:avLst/>
            </a:prstGeom>
          </p:spPr>
        </p:pic>
        <p:sp>
          <p:nvSpPr>
            <p:cNvPr id="23" name="TextBox 27">
              <a:extLst>
                <a:ext uri="{FF2B5EF4-FFF2-40B4-BE49-F238E27FC236}">
                  <a16:creationId xmlns:a16="http://schemas.microsoft.com/office/drawing/2014/main" id="{E3D721A4-7321-9539-CD9F-8EBB8498E11F}"/>
                </a:ext>
              </a:extLst>
            </p:cNvPr>
            <p:cNvSpPr txBox="1"/>
            <p:nvPr/>
          </p:nvSpPr>
          <p:spPr>
            <a:xfrm>
              <a:off x="6535226" y="2792552"/>
              <a:ext cx="1583119" cy="324916"/>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32" dirty="0"/>
                <a:t>Storage account</a:t>
              </a:r>
            </a:p>
          </p:txBody>
        </p:sp>
        <p:pic>
          <p:nvPicPr>
            <p:cNvPr id="24" name="Picture 23">
              <a:extLst>
                <a:ext uri="{FF2B5EF4-FFF2-40B4-BE49-F238E27FC236}">
                  <a16:creationId xmlns:a16="http://schemas.microsoft.com/office/drawing/2014/main" id="{F5D70FD3-E432-409D-C46A-D73613A9F900}"/>
                </a:ext>
              </a:extLst>
            </p:cNvPr>
            <p:cNvPicPr>
              <a:picLocks noChangeAspect="1"/>
            </p:cNvPicPr>
            <p:nvPr/>
          </p:nvPicPr>
          <p:blipFill>
            <a:blip r:embed="rId10"/>
            <a:stretch>
              <a:fillRect/>
            </a:stretch>
          </p:blipFill>
          <p:spPr>
            <a:xfrm>
              <a:off x="7635991" y="2422261"/>
              <a:ext cx="288713" cy="266216"/>
            </a:xfrm>
            <a:prstGeom prst="rect">
              <a:avLst/>
            </a:prstGeom>
          </p:spPr>
        </p:pic>
        <p:cxnSp>
          <p:nvCxnSpPr>
            <p:cNvPr id="25" name="Connector: Elbow 24">
              <a:extLst>
                <a:ext uri="{FF2B5EF4-FFF2-40B4-BE49-F238E27FC236}">
                  <a16:creationId xmlns:a16="http://schemas.microsoft.com/office/drawing/2014/main" id="{96067E58-DACF-1AF2-2236-F39093AAA856}"/>
                </a:ext>
              </a:extLst>
            </p:cNvPr>
            <p:cNvCxnSpPr>
              <a:cxnSpLocks/>
              <a:stCxn id="23" idx="2"/>
              <a:endCxn id="17" idx="0"/>
            </p:cNvCxnSpPr>
            <p:nvPr/>
          </p:nvCxnSpPr>
          <p:spPr>
            <a:xfrm rot="5400000">
              <a:off x="6419088" y="3055611"/>
              <a:ext cx="845842" cy="969555"/>
            </a:xfrm>
            <a:prstGeom prst="bentConnector3">
              <a:avLst>
                <a:gd name="adj1" fmla="val 50000"/>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5BACD3DB-7382-7F72-5D63-1E0983B29043}"/>
                </a:ext>
              </a:extLst>
            </p:cNvPr>
            <p:cNvCxnSpPr>
              <a:cxnSpLocks/>
              <a:stCxn id="23" idx="2"/>
              <a:endCxn id="29" idx="0"/>
            </p:cNvCxnSpPr>
            <p:nvPr/>
          </p:nvCxnSpPr>
          <p:spPr>
            <a:xfrm rot="16200000" flipH="1">
              <a:off x="7454414" y="2989839"/>
              <a:ext cx="834060" cy="1089318"/>
            </a:xfrm>
            <a:prstGeom prst="bentConnector3">
              <a:avLst>
                <a:gd name="adj1" fmla="val 50000"/>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7" name="TextBox 44">
              <a:extLst>
                <a:ext uri="{FF2B5EF4-FFF2-40B4-BE49-F238E27FC236}">
                  <a16:creationId xmlns:a16="http://schemas.microsoft.com/office/drawing/2014/main" id="{21B2F487-9144-9212-0F46-15D3825ACB5A}"/>
                </a:ext>
              </a:extLst>
            </p:cNvPr>
            <p:cNvSpPr txBox="1"/>
            <p:nvPr/>
          </p:nvSpPr>
          <p:spPr>
            <a:xfrm>
              <a:off x="6234091" y="2202143"/>
              <a:ext cx="839641" cy="324916"/>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32" b="1" dirty="0">
                  <a:solidFill>
                    <a:schemeClr val="tx2">
                      <a:lumMod val="50000"/>
                    </a:schemeClr>
                  </a:solidFill>
                </a:rPr>
                <a:t>Task 1</a:t>
              </a:r>
            </a:p>
          </p:txBody>
        </p:sp>
        <p:sp>
          <p:nvSpPr>
            <p:cNvPr id="28" name="TextBox 38">
              <a:extLst>
                <a:ext uri="{FF2B5EF4-FFF2-40B4-BE49-F238E27FC236}">
                  <a16:creationId xmlns:a16="http://schemas.microsoft.com/office/drawing/2014/main" id="{AE53A444-74C4-ADD3-31F9-D1B6FE049412}"/>
                </a:ext>
              </a:extLst>
            </p:cNvPr>
            <p:cNvSpPr txBox="1"/>
            <p:nvPr/>
          </p:nvSpPr>
          <p:spPr>
            <a:xfrm>
              <a:off x="7945932" y="4515344"/>
              <a:ext cx="1072298" cy="324916"/>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32" dirty="0"/>
                <a:t>File share</a:t>
              </a:r>
            </a:p>
          </p:txBody>
        </p:sp>
        <p:pic>
          <p:nvPicPr>
            <p:cNvPr id="29" name="Picture 28">
              <a:extLst>
                <a:ext uri="{FF2B5EF4-FFF2-40B4-BE49-F238E27FC236}">
                  <a16:creationId xmlns:a16="http://schemas.microsoft.com/office/drawing/2014/main" id="{B50BCB74-82DD-17AA-1DCE-A73DFE237A7F}"/>
                </a:ext>
              </a:extLst>
            </p:cNvPr>
            <p:cNvPicPr>
              <a:picLocks noChangeAspect="1"/>
            </p:cNvPicPr>
            <p:nvPr/>
          </p:nvPicPr>
          <p:blipFill>
            <a:blip r:embed="rId11"/>
            <a:stretch>
              <a:fillRect/>
            </a:stretch>
          </p:blipFill>
          <p:spPr>
            <a:xfrm>
              <a:off x="8163984" y="3951528"/>
              <a:ext cx="504239" cy="494901"/>
            </a:xfrm>
            <a:prstGeom prst="rect">
              <a:avLst/>
            </a:prstGeom>
            <a:noFill/>
          </p:spPr>
        </p:pic>
        <p:pic>
          <p:nvPicPr>
            <p:cNvPr id="30" name="Graphic 26">
              <a:extLst>
                <a:ext uri="{FF2B5EF4-FFF2-40B4-BE49-F238E27FC236}">
                  <a16:creationId xmlns:a16="http://schemas.microsoft.com/office/drawing/2014/main" id="{C115991B-2E97-BB07-47E2-18FC6CAAB1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142126" y="1731768"/>
              <a:ext cx="368970" cy="368970"/>
            </a:xfrm>
            <a:prstGeom prst="rect">
              <a:avLst/>
            </a:prstGeom>
          </p:spPr>
        </p:pic>
      </p:grpSp>
    </p:spTree>
    <p:extLst>
      <p:ext uri="{BB962C8B-B14F-4D97-AF65-F5344CB8AC3E}">
        <p14:creationId xmlns:p14="http://schemas.microsoft.com/office/powerpoint/2010/main" val="39607245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8CE6E9B3-2D65-5A7A-5755-0C919071A939}"/>
              </a:ext>
            </a:extLst>
          </p:cNvPr>
          <p:cNvSpPr txBox="1">
            <a:spLocks/>
          </p:cNvSpPr>
          <p:nvPr/>
        </p:nvSpPr>
        <p:spPr>
          <a:xfrm>
            <a:off x="725766" y="1214628"/>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t>Lab 07 – Architecture diagram (interactive lab simulation)</a:t>
            </a:r>
          </a:p>
        </p:txBody>
      </p:sp>
      <p:grpSp>
        <p:nvGrpSpPr>
          <p:cNvPr id="11" name="Group 10" descr="Architecture diagram of the detailed lab steps. ">
            <a:extLst>
              <a:ext uri="{FF2B5EF4-FFF2-40B4-BE49-F238E27FC236}">
                <a16:creationId xmlns:a16="http://schemas.microsoft.com/office/drawing/2014/main" id="{828C3F4D-1BCB-FF52-D2D2-A13A334788B7}"/>
              </a:ext>
            </a:extLst>
          </p:cNvPr>
          <p:cNvGrpSpPr/>
          <p:nvPr/>
        </p:nvGrpSpPr>
        <p:grpSpPr>
          <a:xfrm>
            <a:off x="1093730" y="1976189"/>
            <a:ext cx="10116554" cy="4777365"/>
            <a:chOff x="628839" y="1486827"/>
            <a:chExt cx="10116554" cy="4777365"/>
          </a:xfrm>
        </p:grpSpPr>
        <p:sp>
          <p:nvSpPr>
            <p:cNvPr id="12" name="TextBox 11">
              <a:extLst>
                <a:ext uri="{FF2B5EF4-FFF2-40B4-BE49-F238E27FC236}">
                  <a16:creationId xmlns:a16="http://schemas.microsoft.com/office/drawing/2014/main" id="{AC43A5D5-FF94-75FB-61CB-F1A1CB711EE1}"/>
                </a:ext>
              </a:extLst>
            </p:cNvPr>
            <p:cNvSpPr txBox="1"/>
            <p:nvPr/>
          </p:nvSpPr>
          <p:spPr>
            <a:xfrm>
              <a:off x="4863469" y="3317360"/>
              <a:ext cx="856478" cy="271554"/>
            </a:xfrm>
            <a:prstGeom prst="rect">
              <a:avLst/>
            </a:prstGeom>
            <a:noFill/>
          </p:spPr>
          <p:txBody>
            <a:bodyPr wrap="square">
              <a:spAutoFit/>
            </a:bodyPr>
            <a:lstStyle/>
            <a:p>
              <a:r>
                <a:rPr lang="fr-FR" sz="1176" b="1" dirty="0" err="1">
                  <a:solidFill>
                    <a:srgbClr val="0070C0"/>
                  </a:solidFill>
                </a:rPr>
                <a:t>Task</a:t>
              </a:r>
              <a:r>
                <a:rPr lang="fr-FR" sz="1176" b="1" dirty="0">
                  <a:solidFill>
                    <a:srgbClr val="0070C0"/>
                  </a:solidFill>
                </a:rPr>
                <a:t> 6</a:t>
              </a:r>
            </a:p>
          </p:txBody>
        </p:sp>
        <p:sp>
          <p:nvSpPr>
            <p:cNvPr id="13" name="Rectangle 12">
              <a:extLst>
                <a:ext uri="{FF2B5EF4-FFF2-40B4-BE49-F238E27FC236}">
                  <a16:creationId xmlns:a16="http://schemas.microsoft.com/office/drawing/2014/main" id="{A0E480E7-B638-4AEC-369A-C0F5D47FA554}"/>
                </a:ext>
              </a:extLst>
            </p:cNvPr>
            <p:cNvSpPr/>
            <p:nvPr/>
          </p:nvSpPr>
          <p:spPr bwMode="auto">
            <a:xfrm>
              <a:off x="4494536" y="1486827"/>
              <a:ext cx="5006555" cy="477736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85" tIns="143428" rIns="179285" bIns="14342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fontAlgn="base">
                <a:lnSpc>
                  <a:spcPct val="90000"/>
                </a:lnSpc>
                <a:spcBef>
                  <a:spcPct val="0"/>
                </a:spcBef>
                <a:spcAft>
                  <a:spcPct val="0"/>
                </a:spcAft>
              </a:pPr>
              <a:endParaRPr lang="fr-FR"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4DF46410-4C11-989F-FD3C-E159628AE9C6}"/>
                </a:ext>
              </a:extLst>
            </p:cNvPr>
            <p:cNvSpPr/>
            <p:nvPr/>
          </p:nvSpPr>
          <p:spPr bwMode="auto">
            <a:xfrm>
              <a:off x="4936356" y="3780111"/>
              <a:ext cx="1884477" cy="2316178"/>
            </a:xfrm>
            <a:prstGeom prst="rect">
              <a:avLst/>
            </a:prstGeom>
            <a:solidFill>
              <a:schemeClr val="accent1">
                <a:lumMod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85" tIns="143428" rIns="179285" bIns="14342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fontAlgn="base">
                <a:lnSpc>
                  <a:spcPct val="90000"/>
                </a:lnSpc>
                <a:spcBef>
                  <a:spcPct val="0"/>
                </a:spcBef>
                <a:spcAft>
                  <a:spcPct val="0"/>
                </a:spcAft>
              </a:pPr>
              <a:endParaRPr lang="fr-FR"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15" name="Rectangle 14">
              <a:extLst>
                <a:ext uri="{FF2B5EF4-FFF2-40B4-BE49-F238E27FC236}">
                  <a16:creationId xmlns:a16="http://schemas.microsoft.com/office/drawing/2014/main" id="{A0DE5483-25BC-DEA8-AFFE-9200A47921CC}"/>
                </a:ext>
              </a:extLst>
            </p:cNvPr>
            <p:cNvSpPr/>
            <p:nvPr/>
          </p:nvSpPr>
          <p:spPr bwMode="auto">
            <a:xfrm>
              <a:off x="7117723" y="3773360"/>
              <a:ext cx="1877073" cy="2316178"/>
            </a:xfrm>
            <a:prstGeom prst="rect">
              <a:avLst/>
            </a:prstGeom>
            <a:solidFill>
              <a:schemeClr val="accent1">
                <a:lumMod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85" tIns="143428" rIns="179285" bIns="14342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fontAlgn="base">
                <a:lnSpc>
                  <a:spcPct val="90000"/>
                </a:lnSpc>
                <a:spcBef>
                  <a:spcPct val="0"/>
                </a:spcBef>
                <a:spcAft>
                  <a:spcPct val="0"/>
                </a:spcAft>
              </a:pPr>
              <a:endParaRPr lang="fr-FR"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16" name="Rectangle 15">
              <a:extLst>
                <a:ext uri="{FF2B5EF4-FFF2-40B4-BE49-F238E27FC236}">
                  <a16:creationId xmlns:a16="http://schemas.microsoft.com/office/drawing/2014/main" id="{569D468B-0BD5-4847-F34E-74077C0282A1}"/>
                </a:ext>
              </a:extLst>
            </p:cNvPr>
            <p:cNvSpPr/>
            <p:nvPr/>
          </p:nvSpPr>
          <p:spPr bwMode="auto">
            <a:xfrm>
              <a:off x="641920" y="2312308"/>
              <a:ext cx="3655241" cy="325755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85" tIns="143428" rIns="179285" bIns="14342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fontAlgn="base">
                <a:lnSpc>
                  <a:spcPct val="90000"/>
                </a:lnSpc>
                <a:spcBef>
                  <a:spcPct val="0"/>
                </a:spcBef>
                <a:spcAft>
                  <a:spcPct val="0"/>
                </a:spcAft>
              </a:pPr>
              <a:endParaRPr lang="fr-FR" sz="2353" dirty="0" err="1">
                <a:gradFill>
                  <a:gsLst>
                    <a:gs pos="0">
                      <a:srgbClr val="FFFFFF"/>
                    </a:gs>
                    <a:gs pos="100000">
                      <a:srgbClr val="FFFFFF"/>
                    </a:gs>
                  </a:gsLst>
                  <a:lin ang="5400000" scaled="0"/>
                </a:gradFill>
                <a:ea typeface="Segoe UI" pitchFamily="34" charset="0"/>
                <a:cs typeface="Segoe UI" pitchFamily="34" charset="0"/>
              </a:endParaRPr>
            </a:p>
          </p:txBody>
        </p:sp>
        <p:pic>
          <p:nvPicPr>
            <p:cNvPr id="17" name="Graphic 3">
              <a:extLst>
                <a:ext uri="{FF2B5EF4-FFF2-40B4-BE49-F238E27FC236}">
                  <a16:creationId xmlns:a16="http://schemas.microsoft.com/office/drawing/2014/main" id="{20EF41ED-1B48-677C-E3CB-AED41D6858C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208301" y="3951763"/>
              <a:ext cx="403078" cy="403078"/>
            </a:xfrm>
            <a:prstGeom prst="rect">
              <a:avLst/>
            </a:prstGeom>
          </p:spPr>
        </p:pic>
        <p:sp>
          <p:nvSpPr>
            <p:cNvPr id="18" name="TextBox 5">
              <a:extLst>
                <a:ext uri="{FF2B5EF4-FFF2-40B4-BE49-F238E27FC236}">
                  <a16:creationId xmlns:a16="http://schemas.microsoft.com/office/drawing/2014/main" id="{87D25DCC-E1DF-0079-571A-3E4462B6FB3E}"/>
                </a:ext>
              </a:extLst>
            </p:cNvPr>
            <p:cNvSpPr txBox="1"/>
            <p:nvPr/>
          </p:nvSpPr>
          <p:spPr>
            <a:xfrm>
              <a:off x="1748750" y="4372746"/>
              <a:ext cx="1322180" cy="633625"/>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176" b="1" dirty="0"/>
                <a:t>az104-07-vm0</a:t>
              </a:r>
            </a:p>
            <a:p>
              <a:pPr algn="ctr"/>
              <a:r>
                <a:rPr lang="fr-FR" sz="1176" dirty="0"/>
                <a:t>10.70.0.4</a:t>
              </a:r>
            </a:p>
            <a:p>
              <a:pPr algn="ctr"/>
              <a:endParaRPr lang="fr-FR" sz="1176" b="1" dirty="0"/>
            </a:p>
          </p:txBody>
        </p:sp>
        <p:pic>
          <p:nvPicPr>
            <p:cNvPr id="19" name="Graphic 7">
              <a:extLst>
                <a:ext uri="{FF2B5EF4-FFF2-40B4-BE49-F238E27FC236}">
                  <a16:creationId xmlns:a16="http://schemas.microsoft.com/office/drawing/2014/main" id="{685B14B3-85B2-35AE-3B9F-B4CF46771C8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49865" y="3151423"/>
              <a:ext cx="412418" cy="412418"/>
            </a:xfrm>
            <a:prstGeom prst="rect">
              <a:avLst/>
            </a:prstGeom>
          </p:spPr>
        </p:pic>
        <p:sp>
          <p:nvSpPr>
            <p:cNvPr id="20" name="Rectangle 19">
              <a:extLst>
                <a:ext uri="{FF2B5EF4-FFF2-40B4-BE49-F238E27FC236}">
                  <a16:creationId xmlns:a16="http://schemas.microsoft.com/office/drawing/2014/main" id="{C1A703AA-21C1-524B-EB8F-606DD4350C9B}"/>
                </a:ext>
              </a:extLst>
            </p:cNvPr>
            <p:cNvSpPr/>
            <p:nvPr/>
          </p:nvSpPr>
          <p:spPr bwMode="auto">
            <a:xfrm>
              <a:off x="1249865" y="3574261"/>
              <a:ext cx="2289695" cy="1390072"/>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85" tIns="143428" rIns="179285" bIns="14342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fontAlgn="base">
                <a:lnSpc>
                  <a:spcPct val="90000"/>
                </a:lnSpc>
                <a:spcBef>
                  <a:spcPct val="0"/>
                </a:spcBef>
                <a:spcAft>
                  <a:spcPct val="0"/>
                </a:spcAft>
              </a:pPr>
              <a:endParaRPr lang="fr-FR" sz="2353" dirty="0" err="1">
                <a:gradFill>
                  <a:gsLst>
                    <a:gs pos="0">
                      <a:srgbClr val="FFFFFF"/>
                    </a:gs>
                    <a:gs pos="100000">
                      <a:srgbClr val="FFFFFF"/>
                    </a:gs>
                  </a:gsLst>
                  <a:lin ang="5400000" scaled="0"/>
                </a:gradFill>
                <a:cs typeface="Segoe UI" pitchFamily="34" charset="0"/>
              </a:endParaRPr>
            </a:p>
          </p:txBody>
        </p:sp>
        <p:sp>
          <p:nvSpPr>
            <p:cNvPr id="21" name="TextBox 11">
              <a:extLst>
                <a:ext uri="{FF2B5EF4-FFF2-40B4-BE49-F238E27FC236}">
                  <a16:creationId xmlns:a16="http://schemas.microsoft.com/office/drawing/2014/main" id="{5C77E090-A722-4338-1403-C3357E47A850}"/>
                </a:ext>
              </a:extLst>
            </p:cNvPr>
            <p:cNvSpPr txBox="1"/>
            <p:nvPr/>
          </p:nvSpPr>
          <p:spPr>
            <a:xfrm>
              <a:off x="1662283" y="3188046"/>
              <a:ext cx="2688259" cy="271554"/>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176" b="1" dirty="0"/>
                <a:t>az104-05-vnet0 </a:t>
              </a:r>
              <a:r>
                <a:rPr lang="fr-FR" sz="1176" dirty="0"/>
                <a:t>10.70.0.0/22</a:t>
              </a:r>
            </a:p>
          </p:txBody>
        </p:sp>
        <p:sp>
          <p:nvSpPr>
            <p:cNvPr id="22" name="Rectangle 21">
              <a:extLst>
                <a:ext uri="{FF2B5EF4-FFF2-40B4-BE49-F238E27FC236}">
                  <a16:creationId xmlns:a16="http://schemas.microsoft.com/office/drawing/2014/main" id="{651F1398-ED73-9769-884A-A0859561362A}"/>
                </a:ext>
              </a:extLst>
            </p:cNvPr>
            <p:cNvSpPr/>
            <p:nvPr/>
          </p:nvSpPr>
          <p:spPr bwMode="auto">
            <a:xfrm>
              <a:off x="1621229" y="3862845"/>
              <a:ext cx="1600692" cy="981237"/>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85" tIns="143428" rIns="179285" bIns="14342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fontAlgn="base">
                <a:lnSpc>
                  <a:spcPct val="90000"/>
                </a:lnSpc>
                <a:spcBef>
                  <a:spcPct val="0"/>
                </a:spcBef>
                <a:spcAft>
                  <a:spcPct val="0"/>
                </a:spcAft>
              </a:pPr>
              <a:endParaRPr lang="fr-FR" sz="2353" dirty="0" err="1">
                <a:gradFill>
                  <a:gsLst>
                    <a:gs pos="0">
                      <a:srgbClr val="FFFFFF"/>
                    </a:gs>
                    <a:gs pos="100000">
                      <a:srgbClr val="FFFFFF"/>
                    </a:gs>
                  </a:gsLst>
                  <a:lin ang="5400000" scaled="0"/>
                </a:gradFill>
                <a:cs typeface="Segoe UI" pitchFamily="34" charset="0"/>
              </a:endParaRPr>
            </a:p>
          </p:txBody>
        </p:sp>
        <p:sp>
          <p:nvSpPr>
            <p:cNvPr id="23" name="TextBox 15">
              <a:extLst>
                <a:ext uri="{FF2B5EF4-FFF2-40B4-BE49-F238E27FC236}">
                  <a16:creationId xmlns:a16="http://schemas.microsoft.com/office/drawing/2014/main" id="{49729561-F993-6AE1-1256-C344F175D47E}"/>
                </a:ext>
              </a:extLst>
            </p:cNvPr>
            <p:cNvSpPr txBox="1"/>
            <p:nvPr/>
          </p:nvSpPr>
          <p:spPr>
            <a:xfrm>
              <a:off x="1578541" y="3593592"/>
              <a:ext cx="1848143" cy="271554"/>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176" b="1" dirty="0"/>
                <a:t>Subnet0 </a:t>
              </a:r>
              <a:r>
                <a:rPr lang="fr-FR" sz="1176" dirty="0"/>
                <a:t>10.70.0.0/24</a:t>
              </a:r>
            </a:p>
          </p:txBody>
        </p:sp>
        <p:sp>
          <p:nvSpPr>
            <p:cNvPr id="24" name="TextBox 17">
              <a:extLst>
                <a:ext uri="{FF2B5EF4-FFF2-40B4-BE49-F238E27FC236}">
                  <a16:creationId xmlns:a16="http://schemas.microsoft.com/office/drawing/2014/main" id="{D73DBC4A-8632-70CC-F6B3-1538AE29A644}"/>
                </a:ext>
              </a:extLst>
            </p:cNvPr>
            <p:cNvSpPr txBox="1"/>
            <p:nvPr/>
          </p:nvSpPr>
          <p:spPr>
            <a:xfrm>
              <a:off x="1456074" y="2776132"/>
              <a:ext cx="1297732" cy="271554"/>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176" b="1" dirty="0"/>
                <a:t>az104-07-rg0</a:t>
              </a:r>
            </a:p>
          </p:txBody>
        </p:sp>
        <p:sp>
          <p:nvSpPr>
            <p:cNvPr id="25" name="Rectangle 24">
              <a:extLst>
                <a:ext uri="{FF2B5EF4-FFF2-40B4-BE49-F238E27FC236}">
                  <a16:creationId xmlns:a16="http://schemas.microsoft.com/office/drawing/2014/main" id="{96008500-3C81-D549-55D0-A8D59B4AB42B}"/>
                </a:ext>
              </a:extLst>
            </p:cNvPr>
            <p:cNvSpPr/>
            <p:nvPr/>
          </p:nvSpPr>
          <p:spPr bwMode="auto">
            <a:xfrm>
              <a:off x="1083151" y="3119097"/>
              <a:ext cx="2773438" cy="2062055"/>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85" tIns="143428" rIns="179285" bIns="14342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fontAlgn="base">
                <a:lnSpc>
                  <a:spcPct val="90000"/>
                </a:lnSpc>
                <a:spcBef>
                  <a:spcPct val="0"/>
                </a:spcBef>
                <a:spcAft>
                  <a:spcPct val="0"/>
                </a:spcAft>
              </a:pPr>
              <a:endParaRPr lang="fr-FR" sz="2353" dirty="0" err="1">
                <a:gradFill>
                  <a:gsLst>
                    <a:gs pos="0">
                      <a:srgbClr val="FFFFFF"/>
                    </a:gs>
                    <a:gs pos="100000">
                      <a:srgbClr val="FFFFFF"/>
                    </a:gs>
                  </a:gsLst>
                  <a:lin ang="5400000" scaled="0"/>
                </a:gradFill>
                <a:cs typeface="Segoe UI" pitchFamily="34" charset="0"/>
              </a:endParaRPr>
            </a:p>
          </p:txBody>
        </p:sp>
        <p:pic>
          <p:nvPicPr>
            <p:cNvPr id="26" name="Graphic 21">
              <a:extLst>
                <a:ext uri="{FF2B5EF4-FFF2-40B4-BE49-F238E27FC236}">
                  <a16:creationId xmlns:a16="http://schemas.microsoft.com/office/drawing/2014/main" id="{851743D2-59A6-1C01-0A5D-B323E0BE28D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83150" y="2723725"/>
              <a:ext cx="376369" cy="376369"/>
            </a:xfrm>
            <a:prstGeom prst="rect">
              <a:avLst/>
            </a:prstGeom>
          </p:spPr>
        </p:pic>
        <p:sp>
          <p:nvSpPr>
            <p:cNvPr id="27" name="TextBox 24">
              <a:extLst>
                <a:ext uri="{FF2B5EF4-FFF2-40B4-BE49-F238E27FC236}">
                  <a16:creationId xmlns:a16="http://schemas.microsoft.com/office/drawing/2014/main" id="{DD2AF21C-CFCD-BA83-839D-977179929F52}"/>
                </a:ext>
              </a:extLst>
            </p:cNvPr>
            <p:cNvSpPr txBox="1"/>
            <p:nvPr/>
          </p:nvSpPr>
          <p:spPr>
            <a:xfrm>
              <a:off x="5087039" y="1916935"/>
              <a:ext cx="1297732" cy="271554"/>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176" b="1" dirty="0"/>
                <a:t>az104-07-rg1</a:t>
              </a:r>
            </a:p>
          </p:txBody>
        </p:sp>
        <p:sp>
          <p:nvSpPr>
            <p:cNvPr id="28" name="Rectangle 27">
              <a:extLst>
                <a:ext uri="{FF2B5EF4-FFF2-40B4-BE49-F238E27FC236}">
                  <a16:creationId xmlns:a16="http://schemas.microsoft.com/office/drawing/2014/main" id="{D8935D52-1F3C-3DF4-36DC-EE72059E7375}"/>
                </a:ext>
              </a:extLst>
            </p:cNvPr>
            <p:cNvSpPr/>
            <p:nvPr/>
          </p:nvSpPr>
          <p:spPr bwMode="auto">
            <a:xfrm>
              <a:off x="4695690" y="2259900"/>
              <a:ext cx="4445805" cy="3910651"/>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85" tIns="143428" rIns="179285" bIns="14342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fontAlgn="base">
                <a:lnSpc>
                  <a:spcPct val="90000"/>
                </a:lnSpc>
                <a:spcBef>
                  <a:spcPct val="0"/>
                </a:spcBef>
                <a:spcAft>
                  <a:spcPct val="0"/>
                </a:spcAft>
              </a:pPr>
              <a:endParaRPr lang="fr-FR" sz="2353" dirty="0" err="1">
                <a:gradFill>
                  <a:gsLst>
                    <a:gs pos="0">
                      <a:srgbClr val="FFFFFF"/>
                    </a:gs>
                    <a:gs pos="100000">
                      <a:srgbClr val="FFFFFF"/>
                    </a:gs>
                  </a:gsLst>
                  <a:lin ang="5400000" scaled="0"/>
                </a:gradFill>
                <a:cs typeface="Segoe UI" pitchFamily="34" charset="0"/>
              </a:endParaRPr>
            </a:p>
          </p:txBody>
        </p:sp>
        <p:pic>
          <p:nvPicPr>
            <p:cNvPr id="29" name="Graphic 26">
              <a:extLst>
                <a:ext uri="{FF2B5EF4-FFF2-40B4-BE49-F238E27FC236}">
                  <a16:creationId xmlns:a16="http://schemas.microsoft.com/office/drawing/2014/main" id="{87F4C7C0-32A6-4DC9-547B-DD0398D353C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714115" y="1864528"/>
              <a:ext cx="376369" cy="376369"/>
            </a:xfrm>
            <a:prstGeom prst="rect">
              <a:avLst/>
            </a:prstGeom>
          </p:spPr>
        </p:pic>
        <p:sp>
          <p:nvSpPr>
            <p:cNvPr id="30" name="TextBox 31">
              <a:extLst>
                <a:ext uri="{FF2B5EF4-FFF2-40B4-BE49-F238E27FC236}">
                  <a16:creationId xmlns:a16="http://schemas.microsoft.com/office/drawing/2014/main" id="{493B059C-74F1-9AAA-7154-50B7D5440576}"/>
                </a:ext>
              </a:extLst>
            </p:cNvPr>
            <p:cNvSpPr txBox="1"/>
            <p:nvPr/>
          </p:nvSpPr>
          <p:spPr>
            <a:xfrm>
              <a:off x="628839" y="2300730"/>
              <a:ext cx="856478" cy="271554"/>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176" b="1" dirty="0" err="1">
                  <a:solidFill>
                    <a:schemeClr val="tx2">
                      <a:lumMod val="50000"/>
                    </a:schemeClr>
                  </a:solidFill>
                </a:rPr>
                <a:t>Task</a:t>
              </a:r>
              <a:r>
                <a:rPr lang="fr-FR" sz="1176" b="1" dirty="0">
                  <a:solidFill>
                    <a:schemeClr val="tx2">
                      <a:lumMod val="50000"/>
                    </a:schemeClr>
                  </a:solidFill>
                </a:rPr>
                <a:t> 1</a:t>
              </a:r>
            </a:p>
          </p:txBody>
        </p:sp>
        <p:sp>
          <p:nvSpPr>
            <p:cNvPr id="31" name="TextBox 33">
              <a:extLst>
                <a:ext uri="{FF2B5EF4-FFF2-40B4-BE49-F238E27FC236}">
                  <a16:creationId xmlns:a16="http://schemas.microsoft.com/office/drawing/2014/main" id="{2D0933E7-08F9-B710-5B6A-6B42C0A95012}"/>
                </a:ext>
              </a:extLst>
            </p:cNvPr>
            <p:cNvSpPr txBox="1"/>
            <p:nvPr/>
          </p:nvSpPr>
          <p:spPr>
            <a:xfrm>
              <a:off x="4607644" y="1486827"/>
              <a:ext cx="856478" cy="271554"/>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176" b="1" dirty="0" err="1">
                  <a:solidFill>
                    <a:schemeClr val="tx2">
                      <a:lumMod val="50000"/>
                    </a:schemeClr>
                  </a:solidFill>
                </a:rPr>
                <a:t>Task</a:t>
              </a:r>
              <a:r>
                <a:rPr lang="fr-FR" sz="1176" b="1" dirty="0">
                  <a:solidFill>
                    <a:schemeClr val="tx2">
                      <a:lumMod val="50000"/>
                    </a:schemeClr>
                  </a:solidFill>
                </a:rPr>
                <a:t> 2</a:t>
              </a:r>
            </a:p>
          </p:txBody>
        </p:sp>
        <p:pic>
          <p:nvPicPr>
            <p:cNvPr id="32" name="Graphic 35">
              <a:extLst>
                <a:ext uri="{FF2B5EF4-FFF2-40B4-BE49-F238E27FC236}">
                  <a16:creationId xmlns:a16="http://schemas.microsoft.com/office/drawing/2014/main" id="{2A58B1A8-B1B5-3A3E-2B78-2BEA012C0E8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746180" y="4271276"/>
              <a:ext cx="532118" cy="532118"/>
            </a:xfrm>
            <a:prstGeom prst="rect">
              <a:avLst/>
            </a:prstGeom>
          </p:spPr>
        </p:pic>
        <p:sp>
          <p:nvSpPr>
            <p:cNvPr id="33" name="TextBox 43">
              <a:extLst>
                <a:ext uri="{FF2B5EF4-FFF2-40B4-BE49-F238E27FC236}">
                  <a16:creationId xmlns:a16="http://schemas.microsoft.com/office/drawing/2014/main" id="{438E3B6B-21E2-910F-9BE7-6BB929FB78B8}"/>
                </a:ext>
              </a:extLst>
            </p:cNvPr>
            <p:cNvSpPr txBox="1"/>
            <p:nvPr/>
          </p:nvSpPr>
          <p:spPr>
            <a:xfrm>
              <a:off x="7700353" y="5785549"/>
              <a:ext cx="897680" cy="271554"/>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176" b="1" dirty="0"/>
                <a:t>LICENSE</a:t>
              </a:r>
            </a:p>
          </p:txBody>
        </p:sp>
        <p:cxnSp>
          <p:nvCxnSpPr>
            <p:cNvPr id="34" name="Straight Connector 33">
              <a:extLst>
                <a:ext uri="{FF2B5EF4-FFF2-40B4-BE49-F238E27FC236}">
                  <a16:creationId xmlns:a16="http://schemas.microsoft.com/office/drawing/2014/main" id="{B3F564FF-AFD3-C8EE-98AB-B6978A6CDE3A}"/>
                </a:ext>
              </a:extLst>
            </p:cNvPr>
            <p:cNvCxnSpPr>
              <a:cxnSpLocks/>
            </p:cNvCxnSpPr>
            <p:nvPr/>
          </p:nvCxnSpPr>
          <p:spPr>
            <a:xfrm>
              <a:off x="8012239" y="5011053"/>
              <a:ext cx="1" cy="400284"/>
            </a:xfrm>
            <a:prstGeom prst="line">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5" name="TextBox 50">
              <a:extLst>
                <a:ext uri="{FF2B5EF4-FFF2-40B4-BE49-F238E27FC236}">
                  <a16:creationId xmlns:a16="http://schemas.microsoft.com/office/drawing/2014/main" id="{D15911B1-0AF8-1146-B0A3-531BF37083F8}"/>
                </a:ext>
              </a:extLst>
            </p:cNvPr>
            <p:cNvSpPr txBox="1"/>
            <p:nvPr/>
          </p:nvSpPr>
          <p:spPr>
            <a:xfrm>
              <a:off x="7061499" y="3775128"/>
              <a:ext cx="808121" cy="271554"/>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176" b="1" dirty="0" err="1">
                  <a:solidFill>
                    <a:schemeClr val="tx2">
                      <a:lumMod val="50000"/>
                    </a:schemeClr>
                  </a:solidFill>
                </a:rPr>
                <a:t>Task</a:t>
              </a:r>
              <a:r>
                <a:rPr lang="fr-FR" sz="1176" b="1" dirty="0">
                  <a:solidFill>
                    <a:schemeClr val="tx2">
                      <a:lumMod val="50000"/>
                    </a:schemeClr>
                  </a:solidFill>
                </a:rPr>
                <a:t> 3</a:t>
              </a:r>
            </a:p>
          </p:txBody>
        </p:sp>
        <p:sp>
          <p:nvSpPr>
            <p:cNvPr id="36" name="TextBox 57">
              <a:extLst>
                <a:ext uri="{FF2B5EF4-FFF2-40B4-BE49-F238E27FC236}">
                  <a16:creationId xmlns:a16="http://schemas.microsoft.com/office/drawing/2014/main" id="{117362B5-CBC1-BE7F-248B-666E5FC900A7}"/>
                </a:ext>
              </a:extLst>
            </p:cNvPr>
            <p:cNvSpPr txBox="1"/>
            <p:nvPr/>
          </p:nvSpPr>
          <p:spPr>
            <a:xfrm>
              <a:off x="5199267" y="4778811"/>
              <a:ext cx="1410375" cy="271554"/>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176" b="1" dirty="0"/>
                <a:t>az104-07-share</a:t>
              </a:r>
            </a:p>
          </p:txBody>
        </p:sp>
        <p:cxnSp>
          <p:nvCxnSpPr>
            <p:cNvPr id="37" name="Straight Arrow Connector 36">
              <a:extLst>
                <a:ext uri="{FF2B5EF4-FFF2-40B4-BE49-F238E27FC236}">
                  <a16:creationId xmlns:a16="http://schemas.microsoft.com/office/drawing/2014/main" id="{5A3F81AA-09CA-002A-9D39-19C9EA8CD69A}"/>
                </a:ext>
              </a:extLst>
            </p:cNvPr>
            <p:cNvCxnSpPr>
              <a:cxnSpLocks/>
              <a:stCxn id="17" idx="3"/>
              <a:endCxn id="53" idx="1"/>
            </p:cNvCxnSpPr>
            <p:nvPr/>
          </p:nvCxnSpPr>
          <p:spPr>
            <a:xfrm>
              <a:off x="2611379" y="4153302"/>
              <a:ext cx="2900438" cy="370387"/>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8" name="TextBox 66">
              <a:extLst>
                <a:ext uri="{FF2B5EF4-FFF2-40B4-BE49-F238E27FC236}">
                  <a16:creationId xmlns:a16="http://schemas.microsoft.com/office/drawing/2014/main" id="{0B04E2C8-850C-65E1-3C7C-E16E824E40AB}"/>
                </a:ext>
              </a:extLst>
            </p:cNvPr>
            <p:cNvSpPr txBox="1"/>
            <p:nvPr/>
          </p:nvSpPr>
          <p:spPr>
            <a:xfrm>
              <a:off x="4944105" y="3750083"/>
              <a:ext cx="1568286" cy="271554"/>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176" b="1" dirty="0" err="1">
                  <a:solidFill>
                    <a:schemeClr val="tx2">
                      <a:lumMod val="50000"/>
                    </a:schemeClr>
                  </a:solidFill>
                </a:rPr>
                <a:t>Task</a:t>
              </a:r>
              <a:r>
                <a:rPr lang="fr-FR" sz="1176" b="1" dirty="0">
                  <a:solidFill>
                    <a:schemeClr val="tx2">
                      <a:lumMod val="50000"/>
                    </a:schemeClr>
                  </a:solidFill>
                </a:rPr>
                <a:t> 5</a:t>
              </a:r>
            </a:p>
          </p:txBody>
        </p:sp>
        <p:sp>
          <p:nvSpPr>
            <p:cNvPr id="39" name="Rectangle 38">
              <a:extLst>
                <a:ext uri="{FF2B5EF4-FFF2-40B4-BE49-F238E27FC236}">
                  <a16:creationId xmlns:a16="http://schemas.microsoft.com/office/drawing/2014/main" id="{AA16EF94-0293-710C-1764-D4B7FF1BDDD3}"/>
                </a:ext>
              </a:extLst>
            </p:cNvPr>
            <p:cNvSpPr/>
            <p:nvPr/>
          </p:nvSpPr>
          <p:spPr bwMode="auto">
            <a:xfrm>
              <a:off x="5722950" y="2354218"/>
              <a:ext cx="5022443" cy="1001880"/>
            </a:xfrm>
            <a:prstGeom prst="rect">
              <a:avLst/>
            </a:prstGeom>
            <a:solidFill>
              <a:schemeClr val="accent1">
                <a:lumMod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85" tIns="143428" rIns="179285" bIns="14342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fontAlgn="base">
                <a:lnSpc>
                  <a:spcPct val="90000"/>
                </a:lnSpc>
                <a:spcBef>
                  <a:spcPct val="0"/>
                </a:spcBef>
                <a:spcAft>
                  <a:spcPct val="0"/>
                </a:spcAft>
              </a:pPr>
              <a:endParaRPr lang="fr-FR" sz="2353" dirty="0" err="1">
                <a:gradFill>
                  <a:gsLst>
                    <a:gs pos="0">
                      <a:srgbClr val="FFFFFF"/>
                    </a:gs>
                    <a:gs pos="100000">
                      <a:srgbClr val="FFFFFF"/>
                    </a:gs>
                  </a:gsLst>
                  <a:lin ang="5400000" scaled="0"/>
                </a:gradFill>
                <a:ea typeface="Segoe UI" pitchFamily="34" charset="0"/>
                <a:cs typeface="Segoe UI" pitchFamily="34" charset="0"/>
              </a:endParaRPr>
            </a:p>
          </p:txBody>
        </p:sp>
        <p:pic>
          <p:nvPicPr>
            <p:cNvPr id="40" name="Graphic 23">
              <a:extLst>
                <a:ext uri="{FF2B5EF4-FFF2-40B4-BE49-F238E27FC236}">
                  <a16:creationId xmlns:a16="http://schemas.microsoft.com/office/drawing/2014/main" id="{68B6F5E3-0167-4C7B-EC68-9C83DF96746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92069" y="2449004"/>
              <a:ext cx="532119" cy="532119"/>
            </a:xfrm>
            <a:prstGeom prst="rect">
              <a:avLst/>
            </a:prstGeom>
          </p:spPr>
        </p:pic>
        <p:sp>
          <p:nvSpPr>
            <p:cNvPr id="41" name="TextBox 27">
              <a:extLst>
                <a:ext uri="{FF2B5EF4-FFF2-40B4-BE49-F238E27FC236}">
                  <a16:creationId xmlns:a16="http://schemas.microsoft.com/office/drawing/2014/main" id="{165F79DC-D8F4-4CD2-5D41-0A3FDB8A8D8B}"/>
                </a:ext>
              </a:extLst>
            </p:cNvPr>
            <p:cNvSpPr txBox="1"/>
            <p:nvPr/>
          </p:nvSpPr>
          <p:spPr>
            <a:xfrm>
              <a:off x="6254756" y="2902278"/>
              <a:ext cx="1410375" cy="271554"/>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176" b="1" dirty="0"/>
                <a:t>Storage </a:t>
              </a:r>
              <a:r>
                <a:rPr lang="fr-FR" sz="1176" b="1" dirty="0" err="1"/>
                <a:t>account</a:t>
              </a:r>
              <a:endParaRPr lang="fr-FR" sz="1176" b="1" dirty="0"/>
            </a:p>
          </p:txBody>
        </p:sp>
        <p:pic>
          <p:nvPicPr>
            <p:cNvPr id="42" name="Picture 41">
              <a:extLst>
                <a:ext uri="{FF2B5EF4-FFF2-40B4-BE49-F238E27FC236}">
                  <a16:creationId xmlns:a16="http://schemas.microsoft.com/office/drawing/2014/main" id="{6A4A7484-90C6-96E1-C217-36BC9E336309}"/>
                </a:ext>
              </a:extLst>
            </p:cNvPr>
            <p:cNvPicPr>
              <a:picLocks noChangeAspect="1"/>
            </p:cNvPicPr>
            <p:nvPr/>
          </p:nvPicPr>
          <p:blipFill>
            <a:blip r:embed="rId17"/>
            <a:stretch>
              <a:fillRect/>
            </a:stretch>
          </p:blipFill>
          <p:spPr>
            <a:xfrm>
              <a:off x="7257987" y="2568867"/>
              <a:ext cx="294502" cy="271554"/>
            </a:xfrm>
            <a:prstGeom prst="rect">
              <a:avLst/>
            </a:prstGeom>
          </p:spPr>
        </p:pic>
        <p:cxnSp>
          <p:nvCxnSpPr>
            <p:cNvPr id="43" name="Connector: Elbow 42">
              <a:extLst>
                <a:ext uri="{FF2B5EF4-FFF2-40B4-BE49-F238E27FC236}">
                  <a16:creationId xmlns:a16="http://schemas.microsoft.com/office/drawing/2014/main" id="{370D0FC9-5861-8F5B-2F36-D1406BAE6B9D}"/>
                </a:ext>
              </a:extLst>
            </p:cNvPr>
            <p:cNvCxnSpPr>
              <a:cxnSpLocks/>
              <a:stCxn id="41" idx="2"/>
              <a:endCxn id="32" idx="0"/>
            </p:cNvCxnSpPr>
            <p:nvPr/>
          </p:nvCxnSpPr>
          <p:spPr>
            <a:xfrm rot="16200000" flipH="1">
              <a:off x="6937369" y="3196406"/>
              <a:ext cx="1097444" cy="1052295"/>
            </a:xfrm>
            <a:prstGeom prst="bentConnector3">
              <a:avLst>
                <a:gd name="adj1" fmla="val 34956"/>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B7FCFFCE-D533-D395-4334-820BB4C94899}"/>
                </a:ext>
              </a:extLst>
            </p:cNvPr>
            <p:cNvCxnSpPr>
              <a:cxnSpLocks/>
              <a:stCxn id="41" idx="2"/>
            </p:cNvCxnSpPr>
            <p:nvPr/>
          </p:nvCxnSpPr>
          <p:spPr>
            <a:xfrm rot="5400000">
              <a:off x="5768248" y="3174576"/>
              <a:ext cx="1192441" cy="1190953"/>
            </a:xfrm>
            <a:prstGeom prst="bentConnector3">
              <a:avLst>
                <a:gd name="adj1" fmla="val 32427"/>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2B2AF23E-2718-47DE-9899-DC9C1AC52E79}"/>
                </a:ext>
              </a:extLst>
            </p:cNvPr>
            <p:cNvSpPr txBox="1"/>
            <p:nvPr/>
          </p:nvSpPr>
          <p:spPr>
            <a:xfrm>
              <a:off x="7850059" y="2344615"/>
              <a:ext cx="856478" cy="271554"/>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176" b="1" dirty="0" err="1">
                  <a:solidFill>
                    <a:schemeClr val="tx2">
                      <a:lumMod val="50000"/>
                    </a:schemeClr>
                  </a:solidFill>
                </a:rPr>
                <a:t>Task</a:t>
              </a:r>
              <a:r>
                <a:rPr lang="fr-FR" sz="1176" b="1" dirty="0">
                  <a:solidFill>
                    <a:schemeClr val="tx2">
                      <a:lumMod val="50000"/>
                    </a:schemeClr>
                  </a:solidFill>
                </a:rPr>
                <a:t> 6</a:t>
              </a:r>
            </a:p>
          </p:txBody>
        </p:sp>
        <p:pic>
          <p:nvPicPr>
            <p:cNvPr id="46" name="Picture 45" descr="Deploy Edge without Desktop Icon – Mobile-First Cloud-First">
              <a:extLst>
                <a:ext uri="{FF2B5EF4-FFF2-40B4-BE49-F238E27FC236}">
                  <a16:creationId xmlns:a16="http://schemas.microsoft.com/office/drawing/2014/main" id="{69280942-D0DD-C088-423E-22ACCA8E0A5C}"/>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9619948" y="2833156"/>
              <a:ext cx="339447" cy="339447"/>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40">
              <a:extLst>
                <a:ext uri="{FF2B5EF4-FFF2-40B4-BE49-F238E27FC236}">
                  <a16:creationId xmlns:a16="http://schemas.microsoft.com/office/drawing/2014/main" id="{ACC34250-EC81-DB57-9BF9-C4B1C35029A8}"/>
                </a:ext>
              </a:extLst>
            </p:cNvPr>
            <p:cNvSpPr txBox="1"/>
            <p:nvPr/>
          </p:nvSpPr>
          <p:spPr>
            <a:xfrm>
              <a:off x="7491749" y="2546664"/>
              <a:ext cx="1410375" cy="454227"/>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176" b="1" dirty="0"/>
                <a:t>Storage </a:t>
              </a:r>
              <a:r>
                <a:rPr lang="fr-FR" sz="1176" b="1" dirty="0" err="1"/>
                <a:t>account</a:t>
              </a:r>
              <a:endParaRPr lang="fr-FR" sz="1176" b="1" dirty="0"/>
            </a:p>
            <a:p>
              <a:pPr algn="ctr"/>
              <a:r>
                <a:rPr lang="fr-FR" sz="1176" b="1" dirty="0"/>
                <a:t>Firewall </a:t>
              </a:r>
            </a:p>
          </p:txBody>
        </p:sp>
        <p:sp>
          <p:nvSpPr>
            <p:cNvPr id="48" name="TextBox 46">
              <a:extLst>
                <a:ext uri="{FF2B5EF4-FFF2-40B4-BE49-F238E27FC236}">
                  <a16:creationId xmlns:a16="http://schemas.microsoft.com/office/drawing/2014/main" id="{7E80CB02-0A60-2A13-D508-7B54609D0390}"/>
                </a:ext>
              </a:extLst>
            </p:cNvPr>
            <p:cNvSpPr txBox="1"/>
            <p:nvPr/>
          </p:nvSpPr>
          <p:spPr>
            <a:xfrm>
              <a:off x="9076622" y="2389056"/>
              <a:ext cx="1410375" cy="454227"/>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176" b="1" dirty="0"/>
                <a:t>Browser </a:t>
              </a:r>
              <a:r>
                <a:rPr lang="fr-FR" sz="1176" b="1" dirty="0" err="1"/>
                <a:t>Private</a:t>
              </a:r>
              <a:r>
                <a:rPr lang="fr-FR" sz="1176" b="1" dirty="0"/>
                <a:t> </a:t>
              </a:r>
              <a:r>
                <a:rPr lang="fr-FR" sz="1176" b="1" dirty="0" err="1"/>
                <a:t>windows</a:t>
              </a:r>
              <a:r>
                <a:rPr lang="fr-FR" sz="1176" b="1" dirty="0"/>
                <a:t> </a:t>
              </a:r>
            </a:p>
          </p:txBody>
        </p:sp>
        <p:pic>
          <p:nvPicPr>
            <p:cNvPr id="49" name="Graphic 42" descr="Paper">
              <a:extLst>
                <a:ext uri="{FF2B5EF4-FFF2-40B4-BE49-F238E27FC236}">
                  <a16:creationId xmlns:a16="http://schemas.microsoft.com/office/drawing/2014/main" id="{944827F7-7138-DE59-F817-A93868C660C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761915" y="5229462"/>
              <a:ext cx="556472" cy="556472"/>
            </a:xfrm>
            <a:prstGeom prst="rect">
              <a:avLst/>
            </a:prstGeom>
          </p:spPr>
        </p:pic>
        <p:sp>
          <p:nvSpPr>
            <p:cNvPr id="50" name="TextBox 38">
              <a:extLst>
                <a:ext uri="{FF2B5EF4-FFF2-40B4-BE49-F238E27FC236}">
                  <a16:creationId xmlns:a16="http://schemas.microsoft.com/office/drawing/2014/main" id="{652C8189-44E1-CF15-E1C6-CA8B5F5D3224}"/>
                </a:ext>
              </a:extLst>
            </p:cNvPr>
            <p:cNvSpPr txBox="1"/>
            <p:nvPr/>
          </p:nvSpPr>
          <p:spPr>
            <a:xfrm>
              <a:off x="7269600" y="4739499"/>
              <a:ext cx="1568285" cy="271554"/>
            </a:xfrm>
            <a:prstGeom prst="rect">
              <a:avLst/>
            </a:prstGeom>
            <a:solidFill>
              <a:srgbClr val="D3D3D3"/>
            </a:solid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176" b="1" dirty="0"/>
                <a:t>az104-07-container</a:t>
              </a:r>
            </a:p>
          </p:txBody>
        </p:sp>
        <p:cxnSp>
          <p:nvCxnSpPr>
            <p:cNvPr id="51" name="Connector: Elbow 50">
              <a:extLst>
                <a:ext uri="{FF2B5EF4-FFF2-40B4-BE49-F238E27FC236}">
                  <a16:creationId xmlns:a16="http://schemas.microsoft.com/office/drawing/2014/main" id="{86AB2F32-F812-7BA5-92AE-8D9202B67B90}"/>
                </a:ext>
              </a:extLst>
            </p:cNvPr>
            <p:cNvCxnSpPr>
              <a:cxnSpLocks/>
              <a:endCxn id="49" idx="3"/>
            </p:cNvCxnSpPr>
            <p:nvPr/>
          </p:nvCxnSpPr>
          <p:spPr>
            <a:xfrm rot="5400000">
              <a:off x="7909094" y="3622706"/>
              <a:ext cx="2294285" cy="1475698"/>
            </a:xfrm>
            <a:prstGeom prst="bentConnector2">
              <a:avLst/>
            </a:prstGeom>
            <a:ln>
              <a:solidFill>
                <a:schemeClr val="tx1"/>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sp>
          <p:nvSpPr>
            <p:cNvPr id="52" name="TextBox 50">
              <a:extLst>
                <a:ext uri="{FF2B5EF4-FFF2-40B4-BE49-F238E27FC236}">
                  <a16:creationId xmlns:a16="http://schemas.microsoft.com/office/drawing/2014/main" id="{E56DD2FB-48DE-96D5-7787-238DBE637D65}"/>
                </a:ext>
              </a:extLst>
            </p:cNvPr>
            <p:cNvSpPr txBox="1"/>
            <p:nvPr/>
          </p:nvSpPr>
          <p:spPr>
            <a:xfrm>
              <a:off x="9809751" y="4160344"/>
              <a:ext cx="808121" cy="271554"/>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176" b="1" dirty="0" err="1">
                  <a:solidFill>
                    <a:schemeClr val="tx2">
                      <a:lumMod val="50000"/>
                    </a:schemeClr>
                  </a:solidFill>
                </a:rPr>
                <a:t>Task</a:t>
              </a:r>
              <a:r>
                <a:rPr lang="fr-FR" sz="1176" b="1" dirty="0">
                  <a:solidFill>
                    <a:schemeClr val="tx2">
                      <a:lumMod val="50000"/>
                    </a:schemeClr>
                  </a:solidFill>
                </a:rPr>
                <a:t> 4</a:t>
              </a:r>
            </a:p>
          </p:txBody>
        </p:sp>
        <p:pic>
          <p:nvPicPr>
            <p:cNvPr id="53" name="Picture 52">
              <a:extLst>
                <a:ext uri="{FF2B5EF4-FFF2-40B4-BE49-F238E27FC236}">
                  <a16:creationId xmlns:a16="http://schemas.microsoft.com/office/drawing/2014/main" id="{78DC7BDA-9B44-7D91-E4DA-00EC1324E155}"/>
                </a:ext>
              </a:extLst>
            </p:cNvPr>
            <p:cNvPicPr>
              <a:picLocks noChangeAspect="1"/>
            </p:cNvPicPr>
            <p:nvPr/>
          </p:nvPicPr>
          <p:blipFill>
            <a:blip r:embed="rId21"/>
            <a:stretch>
              <a:fillRect/>
            </a:stretch>
          </p:blipFill>
          <p:spPr>
            <a:xfrm>
              <a:off x="5511817" y="4271276"/>
              <a:ext cx="514350" cy="504825"/>
            </a:xfrm>
            <a:prstGeom prst="rect">
              <a:avLst/>
            </a:prstGeom>
          </p:spPr>
        </p:pic>
      </p:grpSp>
    </p:spTree>
    <p:extLst>
      <p:ext uri="{BB962C8B-B14F-4D97-AF65-F5344CB8AC3E}">
        <p14:creationId xmlns:p14="http://schemas.microsoft.com/office/powerpoint/2010/main" val="3947713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Thank You!</a:t>
            </a:r>
            <a:endParaRPr lang="en-US" sz="4800" dirty="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wrap="square" lIns="121900" tIns="60933" rIns="121900" bIns="60933" anchor="ctr" anchorCtr="0">
            <a:noAutofit/>
          </a:bodyPr>
          <a:lstStyle/>
          <a:p>
            <a:fld id="{00000000-1234-1234-1234-123412341234}" type="slidenum">
              <a:rPr lang="en-IN">
                <a:solidFill>
                  <a:srgbClr val="FF0000"/>
                </a:solidFill>
                <a:latin typeface="Proxima Nova"/>
                <a:ea typeface="Proxima Nova"/>
                <a:cs typeface="Proxima Nova"/>
                <a:sym typeface="Proxima Nova"/>
              </a:rPr>
              <a:pPr/>
              <a:t>35</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387</TotalTime>
  <Words>2916</Words>
  <Application>Microsoft Office PowerPoint</Application>
  <PresentationFormat>Widescreen</PresentationFormat>
  <Paragraphs>402</Paragraphs>
  <Slides>35</Slides>
  <Notes>23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35</vt:i4>
      </vt:variant>
    </vt:vector>
  </HeadingPairs>
  <TitlesOfParts>
    <vt:vector size="48" baseType="lpstr">
      <vt:lpstr>Arial</vt:lpstr>
      <vt:lpstr>Calibri</vt:lpstr>
      <vt:lpstr>Calibri Light</vt:lpstr>
      <vt:lpstr>Consolas</vt:lpstr>
      <vt:lpstr>Lato</vt:lpstr>
      <vt:lpstr>Open Sans</vt:lpstr>
      <vt:lpstr>Proxima Nova</vt:lpstr>
      <vt:lpstr>Segoe UI</vt:lpstr>
      <vt:lpstr>Segoe UI Light</vt:lpstr>
      <vt:lpstr>Segoe UI Semibold</vt:lpstr>
      <vt:lpstr>Segoe UI Semilight</vt:lpstr>
      <vt:lpstr>Segoe UI VSS (Regular)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Janvi Jannet</dc:creator>
  <cp:lastModifiedBy>Nikunj Singhal</cp:lastModifiedBy>
  <cp:revision>9</cp:revision>
  <dcterms:created xsi:type="dcterms:W3CDTF">2024-07-23T11:56:01Z</dcterms:created>
  <dcterms:modified xsi:type="dcterms:W3CDTF">2024-11-14T09:59:02Z</dcterms:modified>
</cp:coreProperties>
</file>