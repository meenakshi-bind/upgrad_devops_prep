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7" r:id="rId2"/>
    <p:sldId id="901" r:id="rId3"/>
    <p:sldId id="902" r:id="rId4"/>
    <p:sldId id="903" r:id="rId5"/>
    <p:sldId id="904" r:id="rId6"/>
    <p:sldId id="905" r:id="rId7"/>
    <p:sldId id="906" r:id="rId8"/>
    <p:sldId id="908" r:id="rId9"/>
    <p:sldId id="915" r:id="rId10"/>
    <p:sldId id="916" r:id="rId11"/>
    <p:sldId id="917" r:id="rId12"/>
    <p:sldId id="918" r:id="rId13"/>
    <p:sldId id="919" r:id="rId14"/>
    <p:sldId id="920" r:id="rId15"/>
    <p:sldId id="921" r:id="rId16"/>
    <p:sldId id="923" r:id="rId17"/>
    <p:sldId id="924" r:id="rId18"/>
    <p:sldId id="925" r:id="rId19"/>
    <p:sldId id="926" r:id="rId20"/>
    <p:sldId id="927" r:id="rId21"/>
    <p:sldId id="928" r:id="rId22"/>
    <p:sldId id="929" r:id="rId23"/>
    <p:sldId id="930" r:id="rId24"/>
    <p:sldId id="503"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1953" autoAdjust="0"/>
  </p:normalViewPr>
  <p:slideViewPr>
    <p:cSldViewPr snapToGrid="0">
      <p:cViewPr varScale="1">
        <p:scale>
          <a:sx n="74" d="100"/>
          <a:sy n="74" d="100"/>
        </p:scale>
        <p:origin x="36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913585-F2F7-4CAB-A4E4-1512BB9B545B}" type="datetimeFigureOut">
              <a:rPr lang="en-IN" smtClean="0"/>
              <a:t>14-11-2024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769316-F612-48C3-B1C7-701A2C12BC02}" type="slidenum">
              <a:rPr lang="en-IN" smtClean="0"/>
              <a:t>‹#›</a:t>
            </a:fld>
            <a:endParaRPr lang="en-IN"/>
          </a:p>
        </p:txBody>
      </p:sp>
    </p:spTree>
    <p:extLst>
      <p:ext uri="{BB962C8B-B14F-4D97-AF65-F5344CB8AC3E}">
        <p14:creationId xmlns:p14="http://schemas.microsoft.com/office/powerpoint/2010/main" val="839738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3" name="Google Shape;61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lgn="l"/>
            <a:r>
              <a:rPr lang="en-US" b="1" i="0" dirty="0">
                <a:effectLst/>
                <a:latin typeface="-apple-system"/>
              </a:rPr>
              <a:t>Fault domain</a:t>
            </a:r>
            <a:endParaRPr lang="en-US" b="0" i="0" dirty="0">
              <a:effectLst/>
              <a:latin typeface="-apple-system"/>
            </a:endParaRPr>
          </a:p>
          <a:p>
            <a:pPr algn="l">
              <a:buFont typeface="Arial" panose="020B0604020202020204" pitchFamily="34" charset="0"/>
              <a:buChar char="•"/>
            </a:pPr>
            <a:r>
              <a:rPr lang="en-US" b="0" i="0" dirty="0">
                <a:effectLst/>
                <a:latin typeface="-apple-system"/>
              </a:rPr>
              <a:t>Prevent Hardware failures like limit the impact of potential physical hardware failures, network outages, or power interruptions</a:t>
            </a:r>
          </a:p>
          <a:p>
            <a:pPr algn="l">
              <a:buFont typeface="Arial" panose="020B0604020202020204" pitchFamily="34" charset="0"/>
              <a:buChar char="•"/>
            </a:pPr>
            <a:r>
              <a:rPr lang="en-US" b="0" i="0" dirty="0">
                <a:effectLst/>
                <a:latin typeface="-apple-system"/>
              </a:rPr>
              <a:t>1 Rack that share common power source and network switch.</a:t>
            </a:r>
          </a:p>
          <a:p>
            <a:pPr algn="l">
              <a:buFont typeface="Arial" panose="020B0604020202020204" pitchFamily="34" charset="0"/>
              <a:buChar char="•"/>
            </a:pPr>
            <a:r>
              <a:rPr lang="en-US" b="0" i="0" dirty="0">
                <a:effectLst/>
                <a:latin typeface="-apple-system"/>
              </a:rPr>
              <a:t>Max- 3 FD per availability set, Default value=2</a:t>
            </a:r>
          </a:p>
          <a:p>
            <a:pPr marL="0" algn="l"/>
            <a:r>
              <a:rPr lang="en-US" b="1" i="0" dirty="0">
                <a:effectLst/>
                <a:latin typeface="-apple-system"/>
              </a:rPr>
              <a:t>Update domain</a:t>
            </a:r>
            <a:endParaRPr lang="en-US" b="0" i="0" dirty="0">
              <a:effectLst/>
              <a:latin typeface="-apple-system"/>
            </a:endParaRPr>
          </a:p>
          <a:p>
            <a:pPr algn="l">
              <a:buFont typeface="Arial" panose="020B0604020202020204" pitchFamily="34" charset="0"/>
              <a:buChar char="•"/>
            </a:pPr>
            <a:r>
              <a:rPr lang="en-US" b="0" i="0" dirty="0">
                <a:effectLst/>
                <a:latin typeface="-apple-system"/>
              </a:rPr>
              <a:t>Max= 20 UD, Default=5</a:t>
            </a:r>
          </a:p>
          <a:p>
            <a:pPr algn="l">
              <a:buFont typeface="Arial" panose="020B0604020202020204" pitchFamily="34" charset="0"/>
              <a:buChar char="•"/>
            </a:pPr>
            <a:r>
              <a:rPr lang="en-US" b="0" i="0" dirty="0">
                <a:effectLst/>
                <a:latin typeface="-apple-system"/>
              </a:rPr>
              <a:t>Update domains indicate groups of virtual machines and underlying physical hardware that can be rebooted at the same time</a:t>
            </a:r>
          </a:p>
          <a:p>
            <a:pPr algn="l">
              <a:buFont typeface="Arial" panose="020B0604020202020204" pitchFamily="34" charset="0"/>
              <a:buChar char="•"/>
            </a:pPr>
            <a:r>
              <a:rPr lang="en-US" b="0" i="0" dirty="0">
                <a:effectLst/>
                <a:latin typeface="-apple-system"/>
              </a:rPr>
              <a:t>The order of update domains being rebooted may not proceed sequentially during planned maintenance, but only one update domain is rebooted at a time. A rebooted update domain is given 30 minutes to recover before maintenance is initiated on a different update domain.</a:t>
            </a:r>
          </a:p>
          <a:p>
            <a:endParaRPr lang="en-US"/>
          </a:p>
          <a:p>
            <a:endParaRPr lang="en-US"/>
          </a:p>
        </p:txBody>
      </p:sp>
      <p:sp>
        <p:nvSpPr>
          <p:cNvPr id="4" name="Slide Number Placeholder 3"/>
          <p:cNvSpPr>
            <a:spLocks noGrp="1"/>
          </p:cNvSpPr>
          <p:nvPr>
            <p:ph type="sldNum" sz="quarter" idx="5"/>
          </p:nvPr>
        </p:nvSpPr>
        <p:spPr/>
        <p:txBody>
          <a:bodyPr/>
          <a:lstStyle/>
          <a:p>
            <a:fld id="{59769316-F612-48C3-B1C7-701A2C12BC02}" type="slidenum">
              <a:rPr lang="en-IN" smtClean="0"/>
              <a:t>14</a:t>
            </a:fld>
            <a:endParaRPr lang="en-IN"/>
          </a:p>
        </p:txBody>
      </p:sp>
    </p:spTree>
    <p:extLst>
      <p:ext uri="{BB962C8B-B14F-4D97-AF65-F5344CB8AC3E}">
        <p14:creationId xmlns:p14="http://schemas.microsoft.com/office/powerpoint/2010/main" val="25765391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3" name="Google Shape;61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AD30F-11CB-4A38-D5FC-43AB22400CB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C3EC942-BB8A-34AC-C497-D4FD2BED09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2C1584A-C19D-2D97-0AF6-751B4D270ED7}"/>
              </a:ext>
            </a:extLst>
          </p:cNvPr>
          <p:cNvSpPr>
            <a:spLocks noGrp="1"/>
          </p:cNvSpPr>
          <p:nvPr>
            <p:ph type="dt" sz="half" idx="10"/>
          </p:nvPr>
        </p:nvSpPr>
        <p:spPr/>
        <p:txBody>
          <a:bodyPr/>
          <a:lstStyle/>
          <a:p>
            <a:fld id="{0234CA72-CAC1-4B24-B91B-249F70378C1E}" type="datetimeFigureOut">
              <a:rPr lang="en-IN" smtClean="0"/>
              <a:t>14-11-2024</a:t>
            </a:fld>
            <a:endParaRPr lang="en-IN"/>
          </a:p>
        </p:txBody>
      </p:sp>
      <p:sp>
        <p:nvSpPr>
          <p:cNvPr id="5" name="Footer Placeholder 4">
            <a:extLst>
              <a:ext uri="{FF2B5EF4-FFF2-40B4-BE49-F238E27FC236}">
                <a16:creationId xmlns:a16="http://schemas.microsoft.com/office/drawing/2014/main" id="{45337BBA-1403-8ADF-3C89-1C56F6A7F47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84B5EE-694E-0DD6-FBBC-DAEE073BFFF3}"/>
              </a:ext>
            </a:extLst>
          </p:cNvPr>
          <p:cNvSpPr>
            <a:spLocks noGrp="1"/>
          </p:cNvSpPr>
          <p:nvPr>
            <p:ph type="sldNum" sz="quarter" idx="12"/>
          </p:nvPr>
        </p:nvSpPr>
        <p:spPr/>
        <p:txBody>
          <a:bodyPr/>
          <a:lstStyle/>
          <a:p>
            <a:fld id="{9F046CFF-0251-42EF-8D79-279D9C60CF15}" type="slidenum">
              <a:rPr lang="en-IN" smtClean="0"/>
              <a:t>‹#›</a:t>
            </a:fld>
            <a:endParaRPr lang="en-IN"/>
          </a:p>
        </p:txBody>
      </p:sp>
    </p:spTree>
    <p:extLst>
      <p:ext uri="{BB962C8B-B14F-4D97-AF65-F5344CB8AC3E}">
        <p14:creationId xmlns:p14="http://schemas.microsoft.com/office/powerpoint/2010/main" val="37803367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55A2D-7795-829E-0317-35A6629C77A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139A543-0209-7742-9E7A-1C9448B445F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E487CC4-06DF-0598-CF9B-17940CC13B33}"/>
              </a:ext>
            </a:extLst>
          </p:cNvPr>
          <p:cNvSpPr>
            <a:spLocks noGrp="1"/>
          </p:cNvSpPr>
          <p:nvPr>
            <p:ph type="dt" sz="half" idx="10"/>
          </p:nvPr>
        </p:nvSpPr>
        <p:spPr/>
        <p:txBody>
          <a:bodyPr/>
          <a:lstStyle/>
          <a:p>
            <a:fld id="{0234CA72-CAC1-4B24-B91B-249F70378C1E}" type="datetimeFigureOut">
              <a:rPr lang="en-IN" smtClean="0"/>
              <a:t>14-11-2024</a:t>
            </a:fld>
            <a:endParaRPr lang="en-IN"/>
          </a:p>
        </p:txBody>
      </p:sp>
      <p:sp>
        <p:nvSpPr>
          <p:cNvPr id="5" name="Footer Placeholder 4">
            <a:extLst>
              <a:ext uri="{FF2B5EF4-FFF2-40B4-BE49-F238E27FC236}">
                <a16:creationId xmlns:a16="http://schemas.microsoft.com/office/drawing/2014/main" id="{E2A7B6F1-E547-28F3-214B-E14FA297E34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A2887C7-35CB-E756-85E9-6ED61FF74BC3}"/>
              </a:ext>
            </a:extLst>
          </p:cNvPr>
          <p:cNvSpPr>
            <a:spLocks noGrp="1"/>
          </p:cNvSpPr>
          <p:nvPr>
            <p:ph type="sldNum" sz="quarter" idx="12"/>
          </p:nvPr>
        </p:nvSpPr>
        <p:spPr/>
        <p:txBody>
          <a:bodyPr/>
          <a:lstStyle/>
          <a:p>
            <a:fld id="{9F046CFF-0251-42EF-8D79-279D9C60CF15}" type="slidenum">
              <a:rPr lang="en-IN" smtClean="0"/>
              <a:t>‹#›</a:t>
            </a:fld>
            <a:endParaRPr lang="en-IN"/>
          </a:p>
        </p:txBody>
      </p:sp>
    </p:spTree>
    <p:extLst>
      <p:ext uri="{BB962C8B-B14F-4D97-AF65-F5344CB8AC3E}">
        <p14:creationId xmlns:p14="http://schemas.microsoft.com/office/powerpoint/2010/main" val="4165685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913AF-764B-9BED-839B-1F2548D99EC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65A1ABD-DC52-E5BB-2552-51A8C55B309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E81113-125C-2AC5-EA8C-E51F723684D2}"/>
              </a:ext>
            </a:extLst>
          </p:cNvPr>
          <p:cNvSpPr>
            <a:spLocks noGrp="1"/>
          </p:cNvSpPr>
          <p:nvPr>
            <p:ph type="dt" sz="half" idx="10"/>
          </p:nvPr>
        </p:nvSpPr>
        <p:spPr/>
        <p:txBody>
          <a:bodyPr/>
          <a:lstStyle/>
          <a:p>
            <a:fld id="{0234CA72-CAC1-4B24-B91B-249F70378C1E}" type="datetimeFigureOut">
              <a:rPr lang="en-IN" smtClean="0"/>
              <a:t>14-11-2024</a:t>
            </a:fld>
            <a:endParaRPr lang="en-IN"/>
          </a:p>
        </p:txBody>
      </p:sp>
      <p:sp>
        <p:nvSpPr>
          <p:cNvPr id="5" name="Footer Placeholder 4">
            <a:extLst>
              <a:ext uri="{FF2B5EF4-FFF2-40B4-BE49-F238E27FC236}">
                <a16:creationId xmlns:a16="http://schemas.microsoft.com/office/drawing/2014/main" id="{FF90F60A-D639-FC0E-6607-3F9FDD3D256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BA821C5-E274-8177-0A84-61FBD13E10E8}"/>
              </a:ext>
            </a:extLst>
          </p:cNvPr>
          <p:cNvSpPr>
            <a:spLocks noGrp="1"/>
          </p:cNvSpPr>
          <p:nvPr>
            <p:ph type="sldNum" sz="quarter" idx="12"/>
          </p:nvPr>
        </p:nvSpPr>
        <p:spPr/>
        <p:txBody>
          <a:bodyPr/>
          <a:lstStyle/>
          <a:p>
            <a:fld id="{9F046CFF-0251-42EF-8D79-279D9C60CF15}" type="slidenum">
              <a:rPr lang="en-IN" smtClean="0"/>
              <a:t>‹#›</a:t>
            </a:fld>
            <a:endParaRPr lang="en-IN"/>
          </a:p>
        </p:txBody>
      </p:sp>
    </p:spTree>
    <p:extLst>
      <p:ext uri="{BB962C8B-B14F-4D97-AF65-F5344CB8AC3E}">
        <p14:creationId xmlns:p14="http://schemas.microsoft.com/office/powerpoint/2010/main" val="37909467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C8B2C-B56C-65F9-D55A-03C415602CB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AEEC924-40A7-CCC5-5467-954F49538F2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F846483-F4A5-9F85-2F36-57685DC1C6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1E92291-7FB4-9BC0-C08C-602E7E48CF7A}"/>
              </a:ext>
            </a:extLst>
          </p:cNvPr>
          <p:cNvSpPr>
            <a:spLocks noGrp="1"/>
          </p:cNvSpPr>
          <p:nvPr>
            <p:ph type="dt" sz="half" idx="10"/>
          </p:nvPr>
        </p:nvSpPr>
        <p:spPr/>
        <p:txBody>
          <a:bodyPr/>
          <a:lstStyle/>
          <a:p>
            <a:fld id="{0234CA72-CAC1-4B24-B91B-249F70378C1E}" type="datetimeFigureOut">
              <a:rPr lang="en-IN" smtClean="0"/>
              <a:t>14-11-2024</a:t>
            </a:fld>
            <a:endParaRPr lang="en-IN"/>
          </a:p>
        </p:txBody>
      </p:sp>
      <p:sp>
        <p:nvSpPr>
          <p:cNvPr id="6" name="Footer Placeholder 5">
            <a:extLst>
              <a:ext uri="{FF2B5EF4-FFF2-40B4-BE49-F238E27FC236}">
                <a16:creationId xmlns:a16="http://schemas.microsoft.com/office/drawing/2014/main" id="{4B0FF5A3-AFC2-83AF-3AC5-A2DFC37C7DD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C11BCC1-B192-509A-B182-FDA38BEC59F6}"/>
              </a:ext>
            </a:extLst>
          </p:cNvPr>
          <p:cNvSpPr>
            <a:spLocks noGrp="1"/>
          </p:cNvSpPr>
          <p:nvPr>
            <p:ph type="sldNum" sz="quarter" idx="12"/>
          </p:nvPr>
        </p:nvSpPr>
        <p:spPr/>
        <p:txBody>
          <a:bodyPr/>
          <a:lstStyle/>
          <a:p>
            <a:fld id="{9F046CFF-0251-42EF-8D79-279D9C60CF15}" type="slidenum">
              <a:rPr lang="en-IN" smtClean="0"/>
              <a:t>‹#›</a:t>
            </a:fld>
            <a:endParaRPr lang="en-IN"/>
          </a:p>
        </p:txBody>
      </p:sp>
    </p:spTree>
    <p:extLst>
      <p:ext uri="{BB962C8B-B14F-4D97-AF65-F5344CB8AC3E}">
        <p14:creationId xmlns:p14="http://schemas.microsoft.com/office/powerpoint/2010/main" val="4380601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A9D4F-6499-4E62-6BC4-A864B371F3C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605EE0A-2D64-6EA3-C393-6A793B3367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8E6FDC3-5665-D55A-BF31-4799773D523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DD0E72C-7203-963D-54C2-7C5F8F9DDD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FFB9FA4-2C32-85B9-E44F-E043C5711F6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0DA284C-82E5-0258-95ED-C939210BF6D6}"/>
              </a:ext>
            </a:extLst>
          </p:cNvPr>
          <p:cNvSpPr>
            <a:spLocks noGrp="1"/>
          </p:cNvSpPr>
          <p:nvPr>
            <p:ph type="dt" sz="half" idx="10"/>
          </p:nvPr>
        </p:nvSpPr>
        <p:spPr/>
        <p:txBody>
          <a:bodyPr/>
          <a:lstStyle/>
          <a:p>
            <a:fld id="{0234CA72-CAC1-4B24-B91B-249F70378C1E}" type="datetimeFigureOut">
              <a:rPr lang="en-IN" smtClean="0"/>
              <a:t>14-11-2024</a:t>
            </a:fld>
            <a:endParaRPr lang="en-IN"/>
          </a:p>
        </p:txBody>
      </p:sp>
      <p:sp>
        <p:nvSpPr>
          <p:cNvPr id="8" name="Footer Placeholder 7">
            <a:extLst>
              <a:ext uri="{FF2B5EF4-FFF2-40B4-BE49-F238E27FC236}">
                <a16:creationId xmlns:a16="http://schemas.microsoft.com/office/drawing/2014/main" id="{5F287524-7C83-6978-13D2-682429417F4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AB0B3A0-9328-56ED-6165-5FE6725B0D94}"/>
              </a:ext>
            </a:extLst>
          </p:cNvPr>
          <p:cNvSpPr>
            <a:spLocks noGrp="1"/>
          </p:cNvSpPr>
          <p:nvPr>
            <p:ph type="sldNum" sz="quarter" idx="12"/>
          </p:nvPr>
        </p:nvSpPr>
        <p:spPr/>
        <p:txBody>
          <a:bodyPr/>
          <a:lstStyle/>
          <a:p>
            <a:fld id="{9F046CFF-0251-42EF-8D79-279D9C60CF15}" type="slidenum">
              <a:rPr lang="en-IN" smtClean="0"/>
              <a:t>‹#›</a:t>
            </a:fld>
            <a:endParaRPr lang="en-IN"/>
          </a:p>
        </p:txBody>
      </p:sp>
    </p:spTree>
    <p:extLst>
      <p:ext uri="{BB962C8B-B14F-4D97-AF65-F5344CB8AC3E}">
        <p14:creationId xmlns:p14="http://schemas.microsoft.com/office/powerpoint/2010/main" val="6233988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2C313-A857-D2B6-4972-603A3209718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2EE6E7C-9E05-38A0-50E5-475C61D15BE9}"/>
              </a:ext>
            </a:extLst>
          </p:cNvPr>
          <p:cNvSpPr>
            <a:spLocks noGrp="1"/>
          </p:cNvSpPr>
          <p:nvPr>
            <p:ph type="dt" sz="half" idx="10"/>
          </p:nvPr>
        </p:nvSpPr>
        <p:spPr/>
        <p:txBody>
          <a:bodyPr/>
          <a:lstStyle/>
          <a:p>
            <a:fld id="{0234CA72-CAC1-4B24-B91B-249F70378C1E}" type="datetimeFigureOut">
              <a:rPr lang="en-IN" smtClean="0"/>
              <a:t>14-11-2024</a:t>
            </a:fld>
            <a:endParaRPr lang="en-IN"/>
          </a:p>
        </p:txBody>
      </p:sp>
      <p:sp>
        <p:nvSpPr>
          <p:cNvPr id="4" name="Footer Placeholder 3">
            <a:extLst>
              <a:ext uri="{FF2B5EF4-FFF2-40B4-BE49-F238E27FC236}">
                <a16:creationId xmlns:a16="http://schemas.microsoft.com/office/drawing/2014/main" id="{BD55942B-9E3E-FE6B-DB1B-2B40E1C4EBB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2D1D417-DE49-E1CE-4813-90A275904C71}"/>
              </a:ext>
            </a:extLst>
          </p:cNvPr>
          <p:cNvSpPr>
            <a:spLocks noGrp="1"/>
          </p:cNvSpPr>
          <p:nvPr>
            <p:ph type="sldNum" sz="quarter" idx="12"/>
          </p:nvPr>
        </p:nvSpPr>
        <p:spPr/>
        <p:txBody>
          <a:bodyPr/>
          <a:lstStyle/>
          <a:p>
            <a:fld id="{9F046CFF-0251-42EF-8D79-279D9C60CF15}" type="slidenum">
              <a:rPr lang="en-IN" smtClean="0"/>
              <a:t>‹#›</a:t>
            </a:fld>
            <a:endParaRPr lang="en-IN"/>
          </a:p>
        </p:txBody>
      </p:sp>
    </p:spTree>
    <p:extLst>
      <p:ext uri="{BB962C8B-B14F-4D97-AF65-F5344CB8AC3E}">
        <p14:creationId xmlns:p14="http://schemas.microsoft.com/office/powerpoint/2010/main" val="37694779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175A62D-5E35-4978-A21D-015D67A6AB3D}"/>
              </a:ext>
            </a:extLst>
          </p:cNvPr>
          <p:cNvSpPr>
            <a:spLocks noGrp="1"/>
          </p:cNvSpPr>
          <p:nvPr>
            <p:ph type="dt" sz="half" idx="10"/>
          </p:nvPr>
        </p:nvSpPr>
        <p:spPr/>
        <p:txBody>
          <a:bodyPr/>
          <a:lstStyle/>
          <a:p>
            <a:fld id="{0234CA72-CAC1-4B24-B91B-249F70378C1E}" type="datetimeFigureOut">
              <a:rPr lang="en-IN" smtClean="0"/>
              <a:t>14-11-2024</a:t>
            </a:fld>
            <a:endParaRPr lang="en-IN"/>
          </a:p>
        </p:txBody>
      </p:sp>
      <p:sp>
        <p:nvSpPr>
          <p:cNvPr id="3" name="Footer Placeholder 2">
            <a:extLst>
              <a:ext uri="{FF2B5EF4-FFF2-40B4-BE49-F238E27FC236}">
                <a16:creationId xmlns:a16="http://schemas.microsoft.com/office/drawing/2014/main" id="{60BC7063-316D-7692-711E-1145293C609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BA6D14C-0A1E-DA44-3394-36812D4E4981}"/>
              </a:ext>
            </a:extLst>
          </p:cNvPr>
          <p:cNvSpPr>
            <a:spLocks noGrp="1"/>
          </p:cNvSpPr>
          <p:nvPr>
            <p:ph type="sldNum" sz="quarter" idx="12"/>
          </p:nvPr>
        </p:nvSpPr>
        <p:spPr/>
        <p:txBody>
          <a:bodyPr/>
          <a:lstStyle/>
          <a:p>
            <a:fld id="{9F046CFF-0251-42EF-8D79-279D9C60CF15}" type="slidenum">
              <a:rPr lang="en-IN" smtClean="0"/>
              <a:t>‹#›</a:t>
            </a:fld>
            <a:endParaRPr lang="en-IN"/>
          </a:p>
        </p:txBody>
      </p:sp>
    </p:spTree>
    <p:extLst>
      <p:ext uri="{BB962C8B-B14F-4D97-AF65-F5344CB8AC3E}">
        <p14:creationId xmlns:p14="http://schemas.microsoft.com/office/powerpoint/2010/main" val="24282282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54731-C279-E9B4-1350-D01064C5EC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A044481-22CF-C3C5-7B97-22D9E52FB0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63C30EE-D49D-6439-35A7-D564C5416F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17929C-043F-5FF4-6D6D-171B825F589D}"/>
              </a:ext>
            </a:extLst>
          </p:cNvPr>
          <p:cNvSpPr>
            <a:spLocks noGrp="1"/>
          </p:cNvSpPr>
          <p:nvPr>
            <p:ph type="dt" sz="half" idx="10"/>
          </p:nvPr>
        </p:nvSpPr>
        <p:spPr/>
        <p:txBody>
          <a:bodyPr/>
          <a:lstStyle/>
          <a:p>
            <a:fld id="{0234CA72-CAC1-4B24-B91B-249F70378C1E}" type="datetimeFigureOut">
              <a:rPr lang="en-IN" smtClean="0"/>
              <a:t>14-11-2024</a:t>
            </a:fld>
            <a:endParaRPr lang="en-IN"/>
          </a:p>
        </p:txBody>
      </p:sp>
      <p:sp>
        <p:nvSpPr>
          <p:cNvPr id="6" name="Footer Placeholder 5">
            <a:extLst>
              <a:ext uri="{FF2B5EF4-FFF2-40B4-BE49-F238E27FC236}">
                <a16:creationId xmlns:a16="http://schemas.microsoft.com/office/drawing/2014/main" id="{3D3329F1-C192-1700-B843-D4B943C3881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288F1DF-4A4F-C67D-BE2E-1FE4CA53EB14}"/>
              </a:ext>
            </a:extLst>
          </p:cNvPr>
          <p:cNvSpPr>
            <a:spLocks noGrp="1"/>
          </p:cNvSpPr>
          <p:nvPr>
            <p:ph type="sldNum" sz="quarter" idx="12"/>
          </p:nvPr>
        </p:nvSpPr>
        <p:spPr/>
        <p:txBody>
          <a:bodyPr/>
          <a:lstStyle/>
          <a:p>
            <a:fld id="{9F046CFF-0251-42EF-8D79-279D9C60CF15}" type="slidenum">
              <a:rPr lang="en-IN" smtClean="0"/>
              <a:t>‹#›</a:t>
            </a:fld>
            <a:endParaRPr lang="en-IN"/>
          </a:p>
        </p:txBody>
      </p:sp>
    </p:spTree>
    <p:extLst>
      <p:ext uri="{BB962C8B-B14F-4D97-AF65-F5344CB8AC3E}">
        <p14:creationId xmlns:p14="http://schemas.microsoft.com/office/powerpoint/2010/main" val="13193791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C8093-BF6B-B264-E311-398794DE80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DCAD7C6-1734-B469-30B7-4A42BB71790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41E643E-D7E3-7AB3-F45D-CE539AA738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2495D1-052E-D029-A14D-9768E55A447B}"/>
              </a:ext>
            </a:extLst>
          </p:cNvPr>
          <p:cNvSpPr>
            <a:spLocks noGrp="1"/>
          </p:cNvSpPr>
          <p:nvPr>
            <p:ph type="dt" sz="half" idx="10"/>
          </p:nvPr>
        </p:nvSpPr>
        <p:spPr/>
        <p:txBody>
          <a:bodyPr/>
          <a:lstStyle/>
          <a:p>
            <a:fld id="{0234CA72-CAC1-4B24-B91B-249F70378C1E}" type="datetimeFigureOut">
              <a:rPr lang="en-IN" smtClean="0"/>
              <a:t>14-11-2024</a:t>
            </a:fld>
            <a:endParaRPr lang="en-IN"/>
          </a:p>
        </p:txBody>
      </p:sp>
      <p:sp>
        <p:nvSpPr>
          <p:cNvPr id="6" name="Footer Placeholder 5">
            <a:extLst>
              <a:ext uri="{FF2B5EF4-FFF2-40B4-BE49-F238E27FC236}">
                <a16:creationId xmlns:a16="http://schemas.microsoft.com/office/drawing/2014/main" id="{72B11458-BD09-D7A2-90F1-22EA0A4D461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AFAD0DC-C873-E862-BD92-71ED2A4CA8B1}"/>
              </a:ext>
            </a:extLst>
          </p:cNvPr>
          <p:cNvSpPr>
            <a:spLocks noGrp="1"/>
          </p:cNvSpPr>
          <p:nvPr>
            <p:ph type="sldNum" sz="quarter" idx="12"/>
          </p:nvPr>
        </p:nvSpPr>
        <p:spPr/>
        <p:txBody>
          <a:bodyPr/>
          <a:lstStyle/>
          <a:p>
            <a:fld id="{9F046CFF-0251-42EF-8D79-279D9C60CF15}" type="slidenum">
              <a:rPr lang="en-IN" smtClean="0"/>
              <a:t>‹#›</a:t>
            </a:fld>
            <a:endParaRPr lang="en-IN"/>
          </a:p>
        </p:txBody>
      </p:sp>
    </p:spTree>
    <p:extLst>
      <p:ext uri="{BB962C8B-B14F-4D97-AF65-F5344CB8AC3E}">
        <p14:creationId xmlns:p14="http://schemas.microsoft.com/office/powerpoint/2010/main" val="25768759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83DAD-FBC8-F5A7-4DFF-0EB88A10A23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FC3120F-9120-CC06-97E9-33733579E4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5B63293-6891-933A-C374-086A5CDA0532}"/>
              </a:ext>
            </a:extLst>
          </p:cNvPr>
          <p:cNvSpPr>
            <a:spLocks noGrp="1"/>
          </p:cNvSpPr>
          <p:nvPr>
            <p:ph type="dt" sz="half" idx="10"/>
          </p:nvPr>
        </p:nvSpPr>
        <p:spPr/>
        <p:txBody>
          <a:bodyPr/>
          <a:lstStyle/>
          <a:p>
            <a:fld id="{0234CA72-CAC1-4B24-B91B-249F70378C1E}" type="datetimeFigureOut">
              <a:rPr lang="en-IN" smtClean="0"/>
              <a:t>14-11-2024</a:t>
            </a:fld>
            <a:endParaRPr lang="en-IN"/>
          </a:p>
        </p:txBody>
      </p:sp>
      <p:sp>
        <p:nvSpPr>
          <p:cNvPr id="5" name="Footer Placeholder 4">
            <a:extLst>
              <a:ext uri="{FF2B5EF4-FFF2-40B4-BE49-F238E27FC236}">
                <a16:creationId xmlns:a16="http://schemas.microsoft.com/office/drawing/2014/main" id="{BE87EA86-1716-99FC-624F-7814224536E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DBAD29-F34E-E7C3-A14F-532F8C89643F}"/>
              </a:ext>
            </a:extLst>
          </p:cNvPr>
          <p:cNvSpPr>
            <a:spLocks noGrp="1"/>
          </p:cNvSpPr>
          <p:nvPr>
            <p:ph type="sldNum" sz="quarter" idx="12"/>
          </p:nvPr>
        </p:nvSpPr>
        <p:spPr/>
        <p:txBody>
          <a:bodyPr/>
          <a:lstStyle/>
          <a:p>
            <a:fld id="{9F046CFF-0251-42EF-8D79-279D9C60CF15}" type="slidenum">
              <a:rPr lang="en-IN" smtClean="0"/>
              <a:t>‹#›</a:t>
            </a:fld>
            <a:endParaRPr lang="en-IN"/>
          </a:p>
        </p:txBody>
      </p:sp>
    </p:spTree>
    <p:extLst>
      <p:ext uri="{BB962C8B-B14F-4D97-AF65-F5344CB8AC3E}">
        <p14:creationId xmlns:p14="http://schemas.microsoft.com/office/powerpoint/2010/main" val="13373920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5BE1245-A4CF-CE70-BB65-F95B54A0BDF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5A2C1FE-EE55-4B51-5B5A-E44581E04A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E3906AF-DE1E-E1BF-5B20-319686EA48CF}"/>
              </a:ext>
            </a:extLst>
          </p:cNvPr>
          <p:cNvSpPr>
            <a:spLocks noGrp="1"/>
          </p:cNvSpPr>
          <p:nvPr>
            <p:ph type="dt" sz="half" idx="10"/>
          </p:nvPr>
        </p:nvSpPr>
        <p:spPr/>
        <p:txBody>
          <a:bodyPr/>
          <a:lstStyle/>
          <a:p>
            <a:fld id="{0234CA72-CAC1-4B24-B91B-249F70378C1E}" type="datetimeFigureOut">
              <a:rPr lang="en-IN" smtClean="0"/>
              <a:t>14-11-2024</a:t>
            </a:fld>
            <a:endParaRPr lang="en-IN"/>
          </a:p>
        </p:txBody>
      </p:sp>
      <p:sp>
        <p:nvSpPr>
          <p:cNvPr id="5" name="Footer Placeholder 4">
            <a:extLst>
              <a:ext uri="{FF2B5EF4-FFF2-40B4-BE49-F238E27FC236}">
                <a16:creationId xmlns:a16="http://schemas.microsoft.com/office/drawing/2014/main" id="{671684D1-B61C-0604-F16A-3DAE3869A51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E1DF065-EA66-D400-5822-2008989BC685}"/>
              </a:ext>
            </a:extLst>
          </p:cNvPr>
          <p:cNvSpPr>
            <a:spLocks noGrp="1"/>
          </p:cNvSpPr>
          <p:nvPr>
            <p:ph type="sldNum" sz="quarter" idx="12"/>
          </p:nvPr>
        </p:nvSpPr>
        <p:spPr/>
        <p:txBody>
          <a:bodyPr/>
          <a:lstStyle/>
          <a:p>
            <a:fld id="{9F046CFF-0251-42EF-8D79-279D9C60CF15}" type="slidenum">
              <a:rPr lang="en-IN" smtClean="0"/>
              <a:t>‹#›</a:t>
            </a:fld>
            <a:endParaRPr lang="en-IN"/>
          </a:p>
        </p:txBody>
      </p:sp>
    </p:spTree>
    <p:extLst>
      <p:ext uri="{BB962C8B-B14F-4D97-AF65-F5344CB8AC3E}">
        <p14:creationId xmlns:p14="http://schemas.microsoft.com/office/powerpoint/2010/main" val="4357866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2B1CA2-ECC1-4762-AAEA-FADDBF94C1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518F6B0-B57E-519B-311D-89ED42890B3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C45897C-4441-701B-8C16-69E4C437F2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34CA72-CAC1-4B24-B91B-249F70378C1E}" type="datetimeFigureOut">
              <a:rPr lang="en-IN" smtClean="0"/>
              <a:t>14-11-2024</a:t>
            </a:fld>
            <a:endParaRPr lang="en-IN"/>
          </a:p>
        </p:txBody>
      </p:sp>
      <p:sp>
        <p:nvSpPr>
          <p:cNvPr id="5" name="Footer Placeholder 4">
            <a:extLst>
              <a:ext uri="{FF2B5EF4-FFF2-40B4-BE49-F238E27FC236}">
                <a16:creationId xmlns:a16="http://schemas.microsoft.com/office/drawing/2014/main" id="{BA1E07FF-709C-AC63-F960-09B72AA04D0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64918F4-90CC-DE76-BC3D-75D676446AC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F046CFF-0251-42EF-8D79-279D9C60CF15}" type="slidenum">
              <a:rPr lang="en-IN" smtClean="0"/>
              <a:t>‹#›</a:t>
            </a:fld>
            <a:endParaRPr lang="en-IN"/>
          </a:p>
        </p:txBody>
      </p:sp>
    </p:spTree>
    <p:extLst>
      <p:ext uri="{BB962C8B-B14F-4D97-AF65-F5344CB8AC3E}">
        <p14:creationId xmlns:p14="http://schemas.microsoft.com/office/powerpoint/2010/main" val="19221651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emf"/><Relationship Id="rId4" Type="http://schemas.openxmlformats.org/officeDocument/2006/relationships/image" Target="../media/image4.emf"/></Relationships>
</file>

<file path=ppt/slides/_rels/slide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wmf"/><Relationship Id="rId5" Type="http://schemas.openxmlformats.org/officeDocument/2006/relationships/image" Target="../media/image5.emf"/><Relationship Id="rId4" Type="http://schemas.openxmlformats.org/officeDocument/2006/relationships/image" Target="../media/image4.emf"/></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hyperlink" Target="https://azure.microsoft.com/pricing/details/virtual-machines/series/" TargetMode="External"/><Relationship Id="rId5" Type="http://schemas.openxmlformats.org/officeDocument/2006/relationships/image" Target="../media/image5.emf"/><Relationship Id="rId4" Type="http://schemas.openxmlformats.org/officeDocument/2006/relationships/image" Target="../media/image4.emf"/></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3.emf"/><Relationship Id="rId7" Type="http://schemas.openxmlformats.org/officeDocument/2006/relationships/image" Target="../media/image9.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5.emf"/><Relationship Id="rId10" Type="http://schemas.openxmlformats.org/officeDocument/2006/relationships/image" Target="../media/image12.png"/><Relationship Id="rId4" Type="http://schemas.openxmlformats.org/officeDocument/2006/relationships/image" Target="../media/image4.emf"/><Relationship Id="rId9" Type="http://schemas.openxmlformats.org/officeDocument/2006/relationships/image" Target="../media/image11.svg"/></Relationships>
</file>

<file path=ppt/slides/_rels/slide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5.emf"/><Relationship Id="rId4" Type="http://schemas.openxmlformats.org/officeDocument/2006/relationships/image" Target="../media/image4.emf"/></Relationships>
</file>

<file path=ppt/slides/_rels/slide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5.emf"/><Relationship Id="rId4" Type="http://schemas.openxmlformats.org/officeDocument/2006/relationships/image" Target="../media/image4.emf"/></Relationships>
</file>

<file path=ppt/slides/_rels/slide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5.emf"/><Relationship Id="rId4" Type="http://schemas.openxmlformats.org/officeDocument/2006/relationships/image" Target="../media/image4.emf"/></Relationships>
</file>

<file path=ppt/slides/_rels/slide1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1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1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1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5.emf"/><Relationship Id="rId4" Type="http://schemas.openxmlformats.org/officeDocument/2006/relationships/image" Target="../media/image4.emf"/></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1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5.emf"/><Relationship Id="rId4" Type="http://schemas.openxmlformats.org/officeDocument/2006/relationships/image" Target="../media/image4.emf"/></Relationships>
</file>

<file path=ppt/slides/_rels/slide16.xml.rels><?xml version="1.0" encoding="UTF-8" standalone="yes"?>
<Relationships xmlns="http://schemas.openxmlformats.org/package/2006/relationships"><Relationship Id="rId3" Type="http://schemas.openxmlformats.org/officeDocument/2006/relationships/image" Target="../media/image3.emf"/><Relationship Id="rId7"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5.emf"/><Relationship Id="rId4" Type="http://schemas.openxmlformats.org/officeDocument/2006/relationships/image" Target="../media/image4.emf"/></Relationships>
</file>

<file path=ppt/slides/_rels/slide1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5.emf"/><Relationship Id="rId4" Type="http://schemas.openxmlformats.org/officeDocument/2006/relationships/image" Target="../media/image4.emf"/></Relationships>
</file>

<file path=ppt/slides/_rels/slide1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5.emf"/><Relationship Id="rId4" Type="http://schemas.openxmlformats.org/officeDocument/2006/relationships/image" Target="../media/image4.emf"/></Relationships>
</file>

<file path=ppt/slides/_rels/slide1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2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2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22.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3.emf"/><Relationship Id="rId7" Type="http://schemas.openxmlformats.org/officeDocument/2006/relationships/image" Target="../media/image25.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4.png"/><Relationship Id="rId11" Type="http://schemas.openxmlformats.org/officeDocument/2006/relationships/image" Target="../media/image29.svg"/><Relationship Id="rId5" Type="http://schemas.openxmlformats.org/officeDocument/2006/relationships/image" Target="../media/image5.emf"/><Relationship Id="rId10" Type="http://schemas.openxmlformats.org/officeDocument/2006/relationships/image" Target="../media/image28.png"/><Relationship Id="rId4" Type="http://schemas.openxmlformats.org/officeDocument/2006/relationships/image" Target="../media/image4.emf"/><Relationship Id="rId9" Type="http://schemas.openxmlformats.org/officeDocument/2006/relationships/image" Target="../media/image27.svg"/></Relationships>
</file>

<file path=ppt/slides/_rels/slide23.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5.svg"/><Relationship Id="rId18" Type="http://schemas.openxmlformats.org/officeDocument/2006/relationships/image" Target="../media/image28.png"/><Relationship Id="rId3" Type="http://schemas.openxmlformats.org/officeDocument/2006/relationships/image" Target="../media/image3.emf"/><Relationship Id="rId21" Type="http://schemas.openxmlformats.org/officeDocument/2006/relationships/image" Target="../media/image41.svg"/><Relationship Id="rId7" Type="http://schemas.openxmlformats.org/officeDocument/2006/relationships/image" Target="../media/image25.svg"/><Relationship Id="rId12" Type="http://schemas.openxmlformats.org/officeDocument/2006/relationships/image" Target="../media/image34.png"/><Relationship Id="rId17" Type="http://schemas.openxmlformats.org/officeDocument/2006/relationships/image" Target="../media/image39.svg"/><Relationship Id="rId25" Type="http://schemas.openxmlformats.org/officeDocument/2006/relationships/image" Target="../media/image45.svg"/><Relationship Id="rId2" Type="http://schemas.openxmlformats.org/officeDocument/2006/relationships/image" Target="../media/image1.png"/><Relationship Id="rId16" Type="http://schemas.openxmlformats.org/officeDocument/2006/relationships/image" Target="../media/image38.png"/><Relationship Id="rId20"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image" Target="../media/image24.png"/><Relationship Id="rId11" Type="http://schemas.openxmlformats.org/officeDocument/2006/relationships/image" Target="../media/image33.svg"/><Relationship Id="rId24" Type="http://schemas.openxmlformats.org/officeDocument/2006/relationships/image" Target="../media/image44.png"/><Relationship Id="rId5" Type="http://schemas.openxmlformats.org/officeDocument/2006/relationships/image" Target="../media/image5.emf"/><Relationship Id="rId15" Type="http://schemas.openxmlformats.org/officeDocument/2006/relationships/image" Target="../media/image37.svg"/><Relationship Id="rId23" Type="http://schemas.openxmlformats.org/officeDocument/2006/relationships/image" Target="../media/image43.svg"/><Relationship Id="rId10" Type="http://schemas.openxmlformats.org/officeDocument/2006/relationships/image" Target="../media/image32.png"/><Relationship Id="rId19" Type="http://schemas.openxmlformats.org/officeDocument/2006/relationships/image" Target="../media/image29.svg"/><Relationship Id="rId4" Type="http://schemas.openxmlformats.org/officeDocument/2006/relationships/image" Target="../media/image4.emf"/><Relationship Id="rId9" Type="http://schemas.openxmlformats.org/officeDocument/2006/relationships/image" Target="../media/image31.svg"/><Relationship Id="rId14" Type="http://schemas.openxmlformats.org/officeDocument/2006/relationships/image" Target="../media/image36.png"/><Relationship Id="rId22" Type="http://schemas.openxmlformats.org/officeDocument/2006/relationships/image" Target="../media/image42.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2" name="Rectangle 1">
            <a:extLst>
              <a:ext uri="{FF2B5EF4-FFF2-40B4-BE49-F238E27FC236}">
                <a16:creationId xmlns:a16="http://schemas.microsoft.com/office/drawing/2014/main" id="{766814A4-BFD7-7A21-DFB9-863B5D439FE5}"/>
              </a:ext>
            </a:extLst>
          </p:cNvPr>
          <p:cNvSpPr/>
          <p:nvPr/>
        </p:nvSpPr>
        <p:spPr>
          <a:xfrm>
            <a:off x="0" y="2692672"/>
            <a:ext cx="12192000" cy="2751349"/>
          </a:xfrm>
          <a:prstGeom prst="rect">
            <a:avLst/>
          </a:prstGeom>
          <a:solidFill>
            <a:srgbClr val="004F9B"/>
          </a:solidFill>
          <a:ln>
            <a:noFill/>
          </a:ln>
          <a:effectLst>
            <a:outerShdw blurRad="50800" dist="38100" dir="5400000" algn="t"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15" name="Google Shape;615;p34"/>
          <p:cNvSpPr txBox="1"/>
          <p:nvPr/>
        </p:nvSpPr>
        <p:spPr>
          <a:xfrm>
            <a:off x="1162171" y="3429000"/>
            <a:ext cx="9867659" cy="1298677"/>
          </a:xfrm>
          <a:prstGeom prst="rect">
            <a:avLst/>
          </a:prstGeom>
          <a:noFill/>
          <a:ln>
            <a:noFill/>
          </a:ln>
        </p:spPr>
        <p:txBody>
          <a:bodyPr spcFirstLastPara="1" wrap="square" lIns="121900" tIns="60933" rIns="121900" bIns="60933" anchor="ctr" anchorCtr="0">
            <a:noAutofit/>
          </a:bodyPr>
          <a:lstStyle/>
          <a:p>
            <a:pPr algn="ctr">
              <a:lnSpc>
                <a:spcPct val="90000"/>
              </a:lnSpc>
              <a:buClr>
                <a:schemeClr val="dk1"/>
              </a:buClr>
              <a:buSzPts val="4000"/>
            </a:pPr>
            <a:r>
              <a:rPr lang="en-US" sz="4800" dirty="0">
                <a:solidFill>
                  <a:schemeClr val="bg1"/>
                </a:solidFill>
                <a:latin typeface="Lato"/>
                <a:ea typeface="Lato"/>
                <a:cs typeface="Lato"/>
                <a:sym typeface="Lato"/>
              </a:rPr>
              <a:t>Configure Virtual Machines</a:t>
            </a:r>
          </a:p>
        </p:txBody>
      </p:sp>
      <p:sp>
        <p:nvSpPr>
          <p:cNvPr id="617" name="Google Shape;617;p34"/>
          <p:cNvSpPr txBox="1">
            <a:spLocks noGrp="1"/>
          </p:cNvSpPr>
          <p:nvPr>
            <p:ph type="sldNum" idx="4294967295"/>
          </p:nvPr>
        </p:nvSpPr>
        <p:spPr>
          <a:xfrm>
            <a:off x="8682567" y="6356351"/>
            <a:ext cx="2743200" cy="366000"/>
          </a:xfrm>
          <a:prstGeom prst="rect">
            <a:avLst/>
          </a:prstGeom>
          <a:noFill/>
          <a:ln>
            <a:noFill/>
          </a:ln>
        </p:spPr>
        <p:txBody>
          <a:bodyPr spcFirstLastPara="1" vert="horz" wrap="square" lIns="121900" tIns="60933" rIns="121900" bIns="60933" rtlCol="0" anchor="ctr" anchorCtr="0">
            <a:noAutofit/>
          </a:bodyPr>
          <a:lstStyle/>
          <a:p>
            <a:fld id="{00000000-1234-1234-1234-123412341234}" type="slidenum">
              <a:rPr lang="en-IN">
                <a:solidFill>
                  <a:srgbClr val="FF0000"/>
                </a:solidFill>
                <a:latin typeface="Proxima Nova"/>
                <a:ea typeface="Proxima Nova"/>
                <a:cs typeface="Proxima Nova"/>
                <a:sym typeface="Proxima Nova"/>
              </a:rPr>
              <a:pPr/>
              <a:t>1</a:t>
            </a:fld>
            <a:endParaRPr>
              <a:solidFill>
                <a:srgbClr val="FF0000"/>
              </a:solidFill>
              <a:latin typeface="Proxima Nova"/>
              <a:ea typeface="Proxima Nova"/>
              <a:cs typeface="Proxima Nova"/>
              <a:sym typeface="Proxima Nova"/>
            </a:endParaRPr>
          </a:p>
        </p:txBody>
      </p:sp>
      <p:pic>
        <p:nvPicPr>
          <p:cNvPr id="618" name="Google Shape;618;p34"/>
          <p:cNvPicPr preferRelativeResize="0"/>
          <p:nvPr/>
        </p:nvPicPr>
        <p:blipFill>
          <a:blip r:embed="rId3">
            <a:alphaModFix/>
          </a:blip>
          <a:stretch>
            <a:fillRect/>
          </a:stretch>
        </p:blipFill>
        <p:spPr>
          <a:xfrm>
            <a:off x="9446335" y="135650"/>
            <a:ext cx="2058733" cy="2058733"/>
          </a:xfrm>
          <a:prstGeom prst="rect">
            <a:avLst/>
          </a:prstGeom>
          <a:noFill/>
          <a:ln>
            <a:noFill/>
          </a:ln>
        </p:spPr>
      </p:pic>
      <p:pic>
        <p:nvPicPr>
          <p:cNvPr id="7" name="Picture 6">
            <a:extLst>
              <a:ext uri="{FF2B5EF4-FFF2-40B4-BE49-F238E27FC236}">
                <a16:creationId xmlns:a16="http://schemas.microsoft.com/office/drawing/2014/main" id="{8343D47F-0850-4C54-ECA1-347E58687108}"/>
              </a:ext>
            </a:extLst>
          </p:cNvPr>
          <p:cNvPicPr>
            <a:picLocks noChangeAspect="1"/>
          </p:cNvPicPr>
          <p:nvPr/>
        </p:nvPicPr>
        <p:blipFill rotWithShape="1">
          <a:blip r:embed="rId4"/>
          <a:srcRect l="25725" t="37867" r="34750" b="40666"/>
          <a:stretch/>
        </p:blipFill>
        <p:spPr>
          <a:xfrm>
            <a:off x="1042416" y="709650"/>
            <a:ext cx="3504687" cy="107069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Title 16">
            <a:extLst>
              <a:ext uri="{FF2B5EF4-FFF2-40B4-BE49-F238E27FC236}">
                <a16:creationId xmlns:a16="http://schemas.microsoft.com/office/drawing/2014/main" id="{9A5FB12A-8EA2-C277-A7D9-FEC95818A2CC}"/>
              </a:ext>
            </a:extLst>
          </p:cNvPr>
          <p:cNvSpPr txBox="1">
            <a:spLocks/>
          </p:cNvSpPr>
          <p:nvPr/>
        </p:nvSpPr>
        <p:spPr>
          <a:xfrm>
            <a:off x="725611" y="1110213"/>
            <a:ext cx="11530584" cy="83002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Review Cloud Services Responsibilities</a:t>
            </a:r>
            <a:endParaRPr lang="en-US" dirty="0"/>
          </a:p>
        </p:txBody>
      </p:sp>
      <p:pic>
        <p:nvPicPr>
          <p:cNvPr id="11" name="Picture 10" descr="Diagram showing customer, Microsoft, and shared responsibilies.">
            <a:extLst>
              <a:ext uri="{FF2B5EF4-FFF2-40B4-BE49-F238E27FC236}">
                <a16:creationId xmlns:a16="http://schemas.microsoft.com/office/drawing/2014/main" id="{3F0D280C-000E-3303-CDDB-D3287D175C55}"/>
              </a:ext>
            </a:extLst>
          </p:cNvPr>
          <p:cNvPicPr>
            <a:picLocks noChangeAspect="1"/>
          </p:cNvPicPr>
          <p:nvPr/>
        </p:nvPicPr>
        <p:blipFill>
          <a:blip r:embed="rId6"/>
          <a:stretch>
            <a:fillRect/>
          </a:stretch>
        </p:blipFill>
        <p:spPr>
          <a:xfrm>
            <a:off x="1493526" y="1740886"/>
            <a:ext cx="9615055" cy="4943475"/>
          </a:xfrm>
          <a:prstGeom prst="rect">
            <a:avLst/>
          </a:prstGeom>
        </p:spPr>
      </p:pic>
    </p:spTree>
    <p:extLst>
      <p:ext uri="{BB962C8B-B14F-4D97-AF65-F5344CB8AC3E}">
        <p14:creationId xmlns:p14="http://schemas.microsoft.com/office/powerpoint/2010/main" val="33622345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3</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Title 16">
            <a:extLst>
              <a:ext uri="{FF2B5EF4-FFF2-40B4-BE49-F238E27FC236}">
                <a16:creationId xmlns:a16="http://schemas.microsoft.com/office/drawing/2014/main" id="{7E95F824-C757-9E3D-A994-765D8D4EF42D}"/>
              </a:ext>
            </a:extLst>
          </p:cNvPr>
          <p:cNvSpPr txBox="1">
            <a:spLocks/>
          </p:cNvSpPr>
          <p:nvPr/>
        </p:nvSpPr>
        <p:spPr>
          <a:xfrm>
            <a:off x="330708" y="1337665"/>
            <a:ext cx="11530584" cy="83002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t>Plan Virtual Machines</a:t>
            </a:r>
            <a:endParaRPr lang="en-US" dirty="0"/>
          </a:p>
        </p:txBody>
      </p:sp>
      <p:sp>
        <p:nvSpPr>
          <p:cNvPr id="11" name="Rectangle 10">
            <a:extLst>
              <a:ext uri="{FF2B5EF4-FFF2-40B4-BE49-F238E27FC236}">
                <a16:creationId xmlns:a16="http://schemas.microsoft.com/office/drawing/2014/main" id="{E82EADBF-5C17-447A-649F-9F681A576C3F}"/>
              </a:ext>
            </a:extLst>
          </p:cNvPr>
          <p:cNvSpPr/>
          <p:nvPr/>
        </p:nvSpPr>
        <p:spPr>
          <a:xfrm>
            <a:off x="572387" y="2314856"/>
            <a:ext cx="7410677" cy="656099"/>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t" anchorCtr="0">
            <a:noAutofit/>
          </a:bodyPr>
          <a:lstStyle/>
          <a:p>
            <a:pPr>
              <a:spcBef>
                <a:spcPts val="600"/>
              </a:spcBef>
            </a:pPr>
            <a:r>
              <a:rPr lang="en-US" sz="2200" dirty="0">
                <a:solidFill>
                  <a:schemeClr val="tx1"/>
                </a:solidFill>
                <a:latin typeface="+mj-lt"/>
                <a:cs typeface="Segoe UI" panose="020B0502040204020203" pitchFamily="34" charset="0"/>
              </a:rPr>
              <a:t>Start with the network</a:t>
            </a:r>
            <a:endParaRPr lang="en-US" sz="2000" dirty="0">
              <a:solidFill>
                <a:schemeClr val="tx1"/>
              </a:solidFill>
              <a:cs typeface="Segoe UI" panose="020B0502040204020203" pitchFamily="34" charset="0"/>
            </a:endParaRPr>
          </a:p>
        </p:txBody>
      </p:sp>
      <p:sp>
        <p:nvSpPr>
          <p:cNvPr id="12" name="Rectangle 11">
            <a:extLst>
              <a:ext uri="{FF2B5EF4-FFF2-40B4-BE49-F238E27FC236}">
                <a16:creationId xmlns:a16="http://schemas.microsoft.com/office/drawing/2014/main" id="{C9C160CC-966F-D6B5-B6A2-DF72D8EB2844}"/>
              </a:ext>
            </a:extLst>
          </p:cNvPr>
          <p:cNvSpPr/>
          <p:nvPr/>
        </p:nvSpPr>
        <p:spPr>
          <a:xfrm>
            <a:off x="572387" y="3849125"/>
            <a:ext cx="7410677" cy="1778546"/>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t" anchorCtr="0">
            <a:noAutofit/>
          </a:bodyPr>
          <a:lstStyle/>
          <a:p>
            <a:pPr>
              <a:spcBef>
                <a:spcPts val="600"/>
              </a:spcBef>
            </a:pPr>
            <a:r>
              <a:rPr lang="en-US" sz="2200" dirty="0">
                <a:solidFill>
                  <a:schemeClr val="tx1"/>
                </a:solidFill>
                <a:latin typeface="+mj-lt"/>
                <a:cs typeface="Segoe UI" panose="020B0502040204020203" pitchFamily="34" charset="0"/>
              </a:rPr>
              <a:t>Choose a location</a:t>
            </a:r>
          </a:p>
          <a:p>
            <a:pPr marL="230188" indent="-230188">
              <a:spcBef>
                <a:spcPts val="600"/>
              </a:spcBef>
              <a:spcAft>
                <a:spcPts val="600"/>
              </a:spcAft>
              <a:buFont typeface="Arial" panose="020B0604020202020204" pitchFamily="34" charset="0"/>
              <a:buChar char="•"/>
            </a:pPr>
            <a:r>
              <a:rPr lang="en-US" sz="2000" dirty="0">
                <a:solidFill>
                  <a:schemeClr val="tx1"/>
                </a:solidFill>
                <a:cs typeface="Segoe UI" panose="020B0502040204020203" pitchFamily="34" charset="0"/>
              </a:rPr>
              <a:t>Each region has different hardware and service capabilities</a:t>
            </a:r>
          </a:p>
          <a:p>
            <a:pPr marL="230188" indent="-230188">
              <a:spcBef>
                <a:spcPts val="600"/>
              </a:spcBef>
              <a:spcAft>
                <a:spcPts val="600"/>
              </a:spcAft>
              <a:buFont typeface="Arial" panose="020B0604020202020204" pitchFamily="34" charset="0"/>
              <a:buChar char="•"/>
            </a:pPr>
            <a:r>
              <a:rPr lang="en-US" sz="2000" dirty="0">
                <a:solidFill>
                  <a:schemeClr val="tx1"/>
                </a:solidFill>
                <a:cs typeface="Segoe UI" panose="020B0502040204020203" pitchFamily="34" charset="0"/>
              </a:rPr>
              <a:t>Locate Virtual Machines as close as possible to your users to ensure compliance and legal obligations</a:t>
            </a:r>
          </a:p>
        </p:txBody>
      </p:sp>
      <p:sp>
        <p:nvSpPr>
          <p:cNvPr id="13" name="Rectangle 12">
            <a:extLst>
              <a:ext uri="{FF2B5EF4-FFF2-40B4-BE49-F238E27FC236}">
                <a16:creationId xmlns:a16="http://schemas.microsoft.com/office/drawing/2014/main" id="{67EFF0AB-A3F9-84A3-F4D2-B99D2C422287}"/>
              </a:ext>
            </a:extLst>
          </p:cNvPr>
          <p:cNvSpPr/>
          <p:nvPr/>
        </p:nvSpPr>
        <p:spPr>
          <a:xfrm>
            <a:off x="572387" y="5770355"/>
            <a:ext cx="7410677" cy="735486"/>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t" anchorCtr="0">
            <a:noAutofit/>
          </a:bodyPr>
          <a:lstStyle/>
          <a:p>
            <a:pPr>
              <a:spcBef>
                <a:spcPts val="600"/>
              </a:spcBef>
            </a:pPr>
            <a:r>
              <a:rPr lang="en-US" sz="2200" dirty="0">
                <a:solidFill>
                  <a:schemeClr val="tx1"/>
                </a:solidFill>
                <a:latin typeface="+mj-lt"/>
                <a:cs typeface="Segoe UI" panose="020B0502040204020203" pitchFamily="34" charset="0"/>
              </a:rPr>
              <a:t>Consider pricing</a:t>
            </a:r>
          </a:p>
        </p:txBody>
      </p:sp>
      <p:pic>
        <p:nvPicPr>
          <p:cNvPr id="14" name="Picture 13">
            <a:extLst>
              <a:ext uri="{FF2B5EF4-FFF2-40B4-BE49-F238E27FC236}">
                <a16:creationId xmlns:a16="http://schemas.microsoft.com/office/drawing/2014/main" id="{733EA2F4-FFB8-D3E9-E66D-6FAD1030DA1A}"/>
              </a:ext>
              <a:ext uri="{C183D7F6-B498-43B3-948B-1728B52AA6E4}">
                <adec:decorative xmlns:adec="http://schemas.microsoft.com/office/drawing/2017/decorative" val="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811879" y="2278471"/>
            <a:ext cx="2905562" cy="3085362"/>
          </a:xfrm>
          <a:prstGeom prst="rect">
            <a:avLst/>
          </a:prstGeom>
        </p:spPr>
      </p:pic>
      <p:sp>
        <p:nvSpPr>
          <p:cNvPr id="15" name="Rectangle 14">
            <a:extLst>
              <a:ext uri="{FF2B5EF4-FFF2-40B4-BE49-F238E27FC236}">
                <a16:creationId xmlns:a16="http://schemas.microsoft.com/office/drawing/2014/main" id="{E43EEAFA-A3B8-EAF5-4E18-652128C5F2DB}"/>
              </a:ext>
              <a:ext uri="{C183D7F6-B498-43B3-948B-1728B52AA6E4}">
                <adec:decorative xmlns:adec="http://schemas.microsoft.com/office/drawing/2017/decorative" val="1"/>
              </a:ext>
            </a:extLst>
          </p:cNvPr>
          <p:cNvSpPr/>
          <p:nvPr/>
        </p:nvSpPr>
        <p:spPr>
          <a:xfrm>
            <a:off x="8811879" y="5634439"/>
            <a:ext cx="3264112" cy="734534"/>
          </a:xfrm>
          <a:prstGeom prst="rect">
            <a:avLst/>
          </a:prstGeom>
        </p:spPr>
        <p:txBody>
          <a:bodyPr wrap="square" anchor="t">
            <a:spAutoFit/>
          </a:bodyPr>
          <a:lstStyle/>
          <a:p>
            <a:pPr algn="ctr"/>
            <a:r>
              <a:rPr lang="en-US" sz="2000" dirty="0"/>
              <a:t>70+ Azure regions </a:t>
            </a:r>
          </a:p>
          <a:p>
            <a:pPr algn="ctr"/>
            <a:r>
              <a:rPr lang="en-US" sz="2000" dirty="0"/>
              <a:t>Available in 140 countries </a:t>
            </a:r>
          </a:p>
        </p:txBody>
      </p:sp>
      <p:sp>
        <p:nvSpPr>
          <p:cNvPr id="16" name="Rectangle 15">
            <a:extLst>
              <a:ext uri="{FF2B5EF4-FFF2-40B4-BE49-F238E27FC236}">
                <a16:creationId xmlns:a16="http://schemas.microsoft.com/office/drawing/2014/main" id="{99D413DA-EEF8-40EF-FD0F-DC9DDC9BEBFF}"/>
              </a:ext>
              <a:ext uri="{C183D7F6-B498-43B3-948B-1728B52AA6E4}">
                <adec:decorative xmlns:adec="http://schemas.microsoft.com/office/drawing/2017/decorative" val="1"/>
              </a:ext>
            </a:extLst>
          </p:cNvPr>
          <p:cNvSpPr/>
          <p:nvPr/>
        </p:nvSpPr>
        <p:spPr>
          <a:xfrm>
            <a:off x="572388" y="3058871"/>
            <a:ext cx="7410677" cy="656099"/>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t" anchorCtr="0">
            <a:noAutofit/>
          </a:bodyPr>
          <a:lstStyle/>
          <a:p>
            <a:pPr>
              <a:spcBef>
                <a:spcPts val="600"/>
              </a:spcBef>
            </a:pPr>
            <a:r>
              <a:rPr lang="en-US" sz="2200" dirty="0">
                <a:solidFill>
                  <a:schemeClr val="tx1"/>
                </a:solidFill>
                <a:latin typeface="+mj-lt"/>
                <a:cs typeface="Segoe UI" panose="020B0502040204020203" pitchFamily="34" charset="0"/>
              </a:rPr>
              <a:t>Name the virtual machine</a:t>
            </a:r>
            <a:endParaRPr lang="en-US" sz="2000" dirty="0">
              <a:solidFill>
                <a:schemeClr val="tx1"/>
              </a:solidFill>
              <a:cs typeface="Segoe UI" panose="020B0502040204020203" pitchFamily="34" charset="0"/>
            </a:endParaRPr>
          </a:p>
        </p:txBody>
      </p:sp>
    </p:spTree>
    <p:extLst>
      <p:ext uri="{BB962C8B-B14F-4D97-AF65-F5344CB8AC3E}">
        <p14:creationId xmlns:p14="http://schemas.microsoft.com/office/powerpoint/2010/main" val="28473328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4</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Title 1">
            <a:extLst>
              <a:ext uri="{FF2B5EF4-FFF2-40B4-BE49-F238E27FC236}">
                <a16:creationId xmlns:a16="http://schemas.microsoft.com/office/drawing/2014/main" id="{B3A111D4-4B9B-88DB-823C-6B0106195067}"/>
              </a:ext>
            </a:extLst>
          </p:cNvPr>
          <p:cNvSpPr txBox="1">
            <a:spLocks/>
          </p:cNvSpPr>
          <p:nvPr/>
        </p:nvSpPr>
        <p:spPr>
          <a:xfrm>
            <a:off x="555528" y="1124104"/>
            <a:ext cx="11530584" cy="83002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solidFill>
                  <a:schemeClr val="tx2">
                    <a:lumMod val="50000"/>
                  </a:schemeClr>
                </a:solidFill>
                <a:cs typeface="Segoe UI"/>
                <a:hlinkClick r:id="rId6">
                  <a:extLst>
                    <a:ext uri="{A12FA001-AC4F-418D-AE19-62706E023703}">
                      <ahyp:hlinkClr xmlns:ahyp="http://schemas.microsoft.com/office/drawing/2018/hyperlinkcolor" val="tx"/>
                    </a:ext>
                  </a:extLst>
                </a:hlinkClick>
              </a:rPr>
              <a:t>Determine Virtual Machine Sizing</a:t>
            </a:r>
            <a:endParaRPr lang="en-US" dirty="0">
              <a:solidFill>
                <a:schemeClr val="tx2">
                  <a:lumMod val="50000"/>
                </a:schemeClr>
              </a:solidFill>
            </a:endParaRPr>
          </a:p>
        </p:txBody>
      </p:sp>
      <p:graphicFrame>
        <p:nvGraphicFramePr>
          <p:cNvPr id="11" name="Table 4">
            <a:extLst>
              <a:ext uri="{FF2B5EF4-FFF2-40B4-BE49-F238E27FC236}">
                <a16:creationId xmlns:a16="http://schemas.microsoft.com/office/drawing/2014/main" id="{0F352934-78C2-E425-A262-A237BC17BCD8}"/>
              </a:ext>
            </a:extLst>
          </p:cNvPr>
          <p:cNvGraphicFramePr>
            <a:graphicFrameLocks noGrp="1"/>
          </p:cNvGraphicFramePr>
          <p:nvPr>
            <p:extLst>
              <p:ext uri="{D42A27DB-BD31-4B8C-83A1-F6EECF244321}">
                <p14:modId xmlns:p14="http://schemas.microsoft.com/office/powerpoint/2010/main" val="1009482175"/>
              </p:ext>
            </p:extLst>
          </p:nvPr>
        </p:nvGraphicFramePr>
        <p:xfrm>
          <a:off x="731901" y="1916414"/>
          <a:ext cx="11228756" cy="4806856"/>
        </p:xfrm>
        <a:graphic>
          <a:graphicData uri="http://schemas.openxmlformats.org/drawingml/2006/table">
            <a:tbl>
              <a:tblPr firstRow="1" bandRow="1">
                <a:tableStyleId>{5C22544A-7EE6-4342-B048-85BDC9FD1C3A}</a:tableStyleId>
              </a:tblPr>
              <a:tblGrid>
                <a:gridCol w="3398282">
                  <a:extLst>
                    <a:ext uri="{9D8B030D-6E8A-4147-A177-3AD203B41FA5}">
                      <a16:colId xmlns:a16="http://schemas.microsoft.com/office/drawing/2014/main" val="951393410"/>
                    </a:ext>
                  </a:extLst>
                </a:gridCol>
                <a:gridCol w="7830474">
                  <a:extLst>
                    <a:ext uri="{9D8B030D-6E8A-4147-A177-3AD203B41FA5}">
                      <a16:colId xmlns:a16="http://schemas.microsoft.com/office/drawing/2014/main" val="1149524049"/>
                    </a:ext>
                  </a:extLst>
                </a:gridCol>
              </a:tblGrid>
              <a:tr h="622164">
                <a:tc>
                  <a:txBody>
                    <a:bodyPr/>
                    <a:lstStyle/>
                    <a:p>
                      <a:pPr algn="ctr"/>
                      <a:r>
                        <a:rPr lang="en-US" sz="2000" dirty="0"/>
                        <a:t>Type</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50000"/>
                      </a:schemeClr>
                    </a:solidFill>
                  </a:tcPr>
                </a:tc>
                <a:tc>
                  <a:txBody>
                    <a:bodyPr/>
                    <a:lstStyle/>
                    <a:p>
                      <a:pPr algn="ctr"/>
                      <a:r>
                        <a:rPr lang="en-US" sz="2000" dirty="0"/>
                        <a:t>Description</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50000"/>
                      </a:schemeClr>
                    </a:solidFill>
                  </a:tcPr>
                </a:tc>
                <a:extLst>
                  <a:ext uri="{0D108BD9-81ED-4DB2-BD59-A6C34878D82A}">
                    <a16:rowId xmlns:a16="http://schemas.microsoft.com/office/drawing/2014/main" val="1451173392"/>
                  </a:ext>
                </a:extLst>
              </a:tr>
              <a:tr h="622164">
                <a:tc>
                  <a:txBody>
                    <a:bodyPr/>
                    <a:lstStyle/>
                    <a:p>
                      <a:r>
                        <a:rPr lang="en-US" sz="2000" dirty="0"/>
                        <a:t>General purpose</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000" dirty="0"/>
                        <a:t>Balanced CPU-to-memory ratio. </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72726645"/>
                  </a:ext>
                </a:extLst>
              </a:tr>
              <a:tr h="622164">
                <a:tc>
                  <a:txBody>
                    <a:bodyPr/>
                    <a:lstStyle/>
                    <a:p>
                      <a:r>
                        <a:rPr lang="en-US" sz="2000" dirty="0"/>
                        <a:t>Compute optimized</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000" dirty="0"/>
                        <a:t>High CPU-to-memory ratio. </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39172570"/>
                  </a:ext>
                </a:extLst>
              </a:tr>
              <a:tr h="622164">
                <a:tc>
                  <a:txBody>
                    <a:bodyPr/>
                    <a:lstStyle/>
                    <a:p>
                      <a:r>
                        <a:rPr lang="en-US" sz="2000" dirty="0"/>
                        <a:t>Memory optimized</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000" dirty="0"/>
                        <a:t>High memory-to-CPU ratio. </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65568098"/>
                  </a:ext>
                </a:extLst>
              </a:tr>
              <a:tr h="622164">
                <a:tc>
                  <a:txBody>
                    <a:bodyPr/>
                    <a:lstStyle/>
                    <a:p>
                      <a:r>
                        <a:rPr lang="en-US" sz="2000" dirty="0"/>
                        <a:t>Storage optimized</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000" dirty="0"/>
                        <a:t>High disk throughput and I/O.</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9862972"/>
                  </a:ext>
                </a:extLst>
              </a:tr>
              <a:tr h="1073872">
                <a:tc>
                  <a:txBody>
                    <a:bodyPr/>
                    <a:lstStyle/>
                    <a:p>
                      <a:r>
                        <a:rPr lang="en-US" sz="2000" dirty="0"/>
                        <a:t>GPU</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000" dirty="0"/>
                        <a:t>Specialized virtual machines targeted for heavy graphic rendering and video editing.</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8073887"/>
                  </a:ext>
                </a:extLst>
              </a:tr>
              <a:tr h="622164">
                <a:tc>
                  <a:txBody>
                    <a:bodyPr/>
                    <a:lstStyle/>
                    <a:p>
                      <a:r>
                        <a:rPr lang="en-US" sz="2000" dirty="0"/>
                        <a:t>High performance compute</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000" dirty="0"/>
                        <a:t>Our fastest and most powerful CPU virtual machines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69663882"/>
                  </a:ext>
                </a:extLst>
              </a:tr>
            </a:tbl>
          </a:graphicData>
        </a:graphic>
      </p:graphicFrame>
    </p:spTree>
    <p:extLst>
      <p:ext uri="{BB962C8B-B14F-4D97-AF65-F5344CB8AC3E}">
        <p14:creationId xmlns:p14="http://schemas.microsoft.com/office/powerpoint/2010/main" val="12943384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5</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Title 2">
            <a:extLst>
              <a:ext uri="{FF2B5EF4-FFF2-40B4-BE49-F238E27FC236}">
                <a16:creationId xmlns:a16="http://schemas.microsoft.com/office/drawing/2014/main" id="{491F06DB-11D3-3CB8-BCCC-812169FF05F9}"/>
              </a:ext>
            </a:extLst>
          </p:cNvPr>
          <p:cNvSpPr txBox="1">
            <a:spLocks/>
          </p:cNvSpPr>
          <p:nvPr/>
        </p:nvSpPr>
        <p:spPr>
          <a:xfrm>
            <a:off x="396029" y="1294898"/>
            <a:ext cx="11530584" cy="83002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t>Determine Virtual Machine Storage</a:t>
            </a:r>
          </a:p>
        </p:txBody>
      </p:sp>
      <p:sp>
        <p:nvSpPr>
          <p:cNvPr id="11" name="Rectangle 10">
            <a:extLst>
              <a:ext uri="{FF2B5EF4-FFF2-40B4-BE49-F238E27FC236}">
                <a16:creationId xmlns:a16="http://schemas.microsoft.com/office/drawing/2014/main" id="{3E1BEDDB-1CCE-A9AA-69D8-91705E64D729}"/>
              </a:ext>
            </a:extLst>
          </p:cNvPr>
          <p:cNvSpPr/>
          <p:nvPr/>
        </p:nvSpPr>
        <p:spPr>
          <a:xfrm>
            <a:off x="736868" y="2213161"/>
            <a:ext cx="7187765" cy="149189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marL="0" indent="0">
              <a:buNone/>
            </a:pPr>
            <a:r>
              <a:rPr lang="en-US" sz="2000" dirty="0">
                <a:solidFill>
                  <a:schemeClr val="tx2">
                    <a:lumMod val="50000"/>
                  </a:schemeClr>
                </a:solidFill>
              </a:rPr>
              <a:t>Each Azure VM has two or more disks:</a:t>
            </a:r>
          </a:p>
          <a:p>
            <a:pPr marL="339725" lvl="1" indent="-227013">
              <a:buFont typeface="Arial" panose="020B0604020202020204" pitchFamily="34" charset="0"/>
              <a:buChar char="•"/>
            </a:pPr>
            <a:r>
              <a:rPr lang="en-US" sz="2000" dirty="0">
                <a:solidFill>
                  <a:schemeClr val="tx1"/>
                </a:solidFill>
              </a:rPr>
              <a:t>OS disk</a:t>
            </a:r>
          </a:p>
          <a:p>
            <a:pPr marL="339725" lvl="1" indent="-227013">
              <a:buFont typeface="Arial" panose="020B0604020202020204" pitchFamily="34" charset="0"/>
              <a:buChar char="•"/>
            </a:pPr>
            <a:r>
              <a:rPr lang="en-US" sz="2000" dirty="0">
                <a:solidFill>
                  <a:schemeClr val="tx1"/>
                </a:solidFill>
              </a:rPr>
              <a:t>Temporary disk (not all SKUs have one, content can be lost)</a:t>
            </a:r>
          </a:p>
          <a:p>
            <a:pPr marL="339725" lvl="1" indent="-227013">
              <a:buFont typeface="Arial" panose="020B0604020202020204" pitchFamily="34" charset="0"/>
              <a:buChar char="•"/>
            </a:pPr>
            <a:r>
              <a:rPr lang="en-US" sz="2000" dirty="0">
                <a:solidFill>
                  <a:schemeClr val="tx1"/>
                </a:solidFill>
              </a:rPr>
              <a:t>Data disks (optional)</a:t>
            </a:r>
          </a:p>
        </p:txBody>
      </p:sp>
      <p:sp>
        <p:nvSpPr>
          <p:cNvPr id="12" name="Rectangle 11">
            <a:extLst>
              <a:ext uri="{FF2B5EF4-FFF2-40B4-BE49-F238E27FC236}">
                <a16:creationId xmlns:a16="http://schemas.microsoft.com/office/drawing/2014/main" id="{A90F78A3-26A2-E460-356F-93471F6310F0}"/>
              </a:ext>
            </a:extLst>
          </p:cNvPr>
          <p:cNvSpPr/>
          <p:nvPr/>
        </p:nvSpPr>
        <p:spPr>
          <a:xfrm>
            <a:off x="731901" y="3895225"/>
            <a:ext cx="7192732" cy="1379207"/>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marL="0" indent="0">
              <a:buNone/>
            </a:pPr>
            <a:r>
              <a:rPr lang="en-US" sz="2000" dirty="0">
                <a:solidFill>
                  <a:schemeClr val="tx2">
                    <a:lumMod val="50000"/>
                  </a:schemeClr>
                </a:solidFill>
              </a:rPr>
              <a:t>OS and data disks reside in Azure Storage accounts:</a:t>
            </a:r>
          </a:p>
          <a:p>
            <a:pPr marL="339725" lvl="1" indent="-227013">
              <a:buFont typeface="Arial" panose="020B0604020202020204" pitchFamily="34" charset="0"/>
              <a:buChar char="•"/>
            </a:pPr>
            <a:r>
              <a:rPr lang="en-US" sz="2000" dirty="0">
                <a:solidFill>
                  <a:schemeClr val="tx1"/>
                </a:solidFill>
              </a:rPr>
              <a:t>Azure-based storage service</a:t>
            </a:r>
          </a:p>
          <a:p>
            <a:pPr marL="339725" lvl="1" indent="-227013">
              <a:buFont typeface="Arial" panose="020B0604020202020204" pitchFamily="34" charset="0"/>
              <a:buChar char="•"/>
            </a:pPr>
            <a:r>
              <a:rPr lang="en-US" sz="2000" dirty="0">
                <a:solidFill>
                  <a:schemeClr val="tx1"/>
                </a:solidFill>
              </a:rPr>
              <a:t>Standard (HDD, SSD)  or Premium (SSD), or Ultra (SSD)</a:t>
            </a:r>
          </a:p>
        </p:txBody>
      </p:sp>
      <p:sp>
        <p:nvSpPr>
          <p:cNvPr id="13" name="Rectangle 12">
            <a:extLst>
              <a:ext uri="{FF2B5EF4-FFF2-40B4-BE49-F238E27FC236}">
                <a16:creationId xmlns:a16="http://schemas.microsoft.com/office/drawing/2014/main" id="{5359CD44-6584-C605-9C78-E98B4A728768}"/>
              </a:ext>
            </a:extLst>
          </p:cNvPr>
          <p:cNvSpPr/>
          <p:nvPr/>
        </p:nvSpPr>
        <p:spPr>
          <a:xfrm>
            <a:off x="731901" y="5464603"/>
            <a:ext cx="7192732" cy="1134578"/>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pPr marL="0" indent="0">
              <a:buNone/>
            </a:pPr>
            <a:r>
              <a:rPr lang="en-US" sz="2000" dirty="0">
                <a:solidFill>
                  <a:schemeClr val="tx2">
                    <a:lumMod val="50000"/>
                  </a:schemeClr>
                </a:solidFill>
              </a:rPr>
              <a:t>Azure VMs use managed disks</a:t>
            </a:r>
            <a:endParaRPr lang="en-US" sz="2000" dirty="0">
              <a:solidFill>
                <a:schemeClr val="tx1"/>
              </a:solidFill>
            </a:endParaRPr>
          </a:p>
        </p:txBody>
      </p:sp>
      <p:grpSp>
        <p:nvGrpSpPr>
          <p:cNvPr id="14" name="Group 13" descr="Illustration of disks of an Azure VM, which includes the C:\ OS disk, D:\ temporary disk and F:\ data disk. The OS and data disk resize in Azure blob storage.">
            <a:extLst>
              <a:ext uri="{FF2B5EF4-FFF2-40B4-BE49-F238E27FC236}">
                <a16:creationId xmlns:a16="http://schemas.microsoft.com/office/drawing/2014/main" id="{74778809-DE64-CC5E-F0A1-4DFED9C11B8F}"/>
              </a:ext>
            </a:extLst>
          </p:cNvPr>
          <p:cNvGrpSpPr/>
          <p:nvPr/>
        </p:nvGrpSpPr>
        <p:grpSpPr>
          <a:xfrm>
            <a:off x="8300083" y="2263533"/>
            <a:ext cx="4158914" cy="4333769"/>
            <a:chOff x="2792953" y="-713519"/>
            <a:chExt cx="7641048" cy="7340107"/>
          </a:xfrm>
        </p:grpSpPr>
        <p:pic>
          <p:nvPicPr>
            <p:cNvPr id="15" name="Graphic 14">
              <a:extLst>
                <a:ext uri="{FF2B5EF4-FFF2-40B4-BE49-F238E27FC236}">
                  <a16:creationId xmlns:a16="http://schemas.microsoft.com/office/drawing/2014/main" id="{87EF6FA5-E12D-13F3-39D7-DEC2008DDC5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823386" y="2648436"/>
              <a:ext cx="1407459" cy="1407460"/>
            </a:xfrm>
            <a:prstGeom prst="rect">
              <a:avLst/>
            </a:prstGeom>
          </p:spPr>
        </p:pic>
        <p:pic>
          <p:nvPicPr>
            <p:cNvPr id="16" name="Graphic 15">
              <a:extLst>
                <a:ext uri="{FF2B5EF4-FFF2-40B4-BE49-F238E27FC236}">
                  <a16:creationId xmlns:a16="http://schemas.microsoft.com/office/drawing/2014/main" id="{18E93E15-8A8E-E579-7229-4BCF8D17653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732117" y="2678274"/>
              <a:ext cx="1407459" cy="1407460"/>
            </a:xfrm>
            <a:prstGeom prst="rect">
              <a:avLst/>
            </a:prstGeom>
          </p:spPr>
        </p:pic>
        <p:pic>
          <p:nvPicPr>
            <p:cNvPr id="17" name="Graphic 16">
              <a:extLst>
                <a:ext uri="{FF2B5EF4-FFF2-40B4-BE49-F238E27FC236}">
                  <a16:creationId xmlns:a16="http://schemas.microsoft.com/office/drawing/2014/main" id="{86035591-0C4A-7687-0A79-721503102B9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012227" y="2678274"/>
              <a:ext cx="1407459" cy="1407460"/>
            </a:xfrm>
            <a:prstGeom prst="rect">
              <a:avLst/>
            </a:prstGeom>
          </p:spPr>
        </p:pic>
        <p:pic>
          <p:nvPicPr>
            <p:cNvPr id="18" name="Graphic 17">
              <a:extLst>
                <a:ext uri="{FF2B5EF4-FFF2-40B4-BE49-F238E27FC236}">
                  <a16:creationId xmlns:a16="http://schemas.microsoft.com/office/drawing/2014/main" id="{2E9A06E4-B157-998B-0886-61EBB8CF413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063342" y="5018129"/>
              <a:ext cx="1131010" cy="1131010"/>
            </a:xfrm>
            <a:prstGeom prst="rect">
              <a:avLst/>
            </a:prstGeom>
          </p:spPr>
        </p:pic>
        <p:pic>
          <p:nvPicPr>
            <p:cNvPr id="19" name="Graphic 18">
              <a:extLst>
                <a:ext uri="{FF2B5EF4-FFF2-40B4-BE49-F238E27FC236}">
                  <a16:creationId xmlns:a16="http://schemas.microsoft.com/office/drawing/2014/main" id="{9FE3BCE8-B44F-9AAA-30FA-3ACA84AE0B9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994502" y="-102586"/>
              <a:ext cx="1298573" cy="1298573"/>
            </a:xfrm>
            <a:prstGeom prst="rect">
              <a:avLst/>
            </a:prstGeom>
          </p:spPr>
        </p:pic>
        <p:cxnSp>
          <p:nvCxnSpPr>
            <p:cNvPr id="20" name="Straight Arrow Connector 19">
              <a:extLst>
                <a:ext uri="{FF2B5EF4-FFF2-40B4-BE49-F238E27FC236}">
                  <a16:creationId xmlns:a16="http://schemas.microsoft.com/office/drawing/2014/main" id="{13057DE7-8509-E3FD-C42E-DC6FF52B9A85}"/>
                </a:ext>
              </a:extLst>
            </p:cNvPr>
            <p:cNvCxnSpPr>
              <a:cxnSpLocks/>
              <a:stCxn id="17" idx="2"/>
              <a:endCxn id="18" idx="1"/>
            </p:cNvCxnSpPr>
            <p:nvPr/>
          </p:nvCxnSpPr>
          <p:spPr>
            <a:xfrm>
              <a:off x="3715956" y="4085733"/>
              <a:ext cx="2347386" cy="149790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71418A4F-1E0A-592E-51B2-9CD7E8740654}"/>
                </a:ext>
              </a:extLst>
            </p:cNvPr>
            <p:cNvCxnSpPr>
              <a:cxnSpLocks/>
              <a:stCxn id="16" idx="2"/>
              <a:endCxn id="18" idx="3"/>
            </p:cNvCxnSpPr>
            <p:nvPr/>
          </p:nvCxnSpPr>
          <p:spPr>
            <a:xfrm flipH="1">
              <a:off x="7194353" y="4085733"/>
              <a:ext cx="2241493" cy="149790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FC443AAA-D4C2-4B79-6507-B9A8DB86DE1A}"/>
                </a:ext>
              </a:extLst>
            </p:cNvPr>
            <p:cNvSpPr txBox="1"/>
            <p:nvPr/>
          </p:nvSpPr>
          <p:spPr>
            <a:xfrm>
              <a:off x="5141211" y="6053179"/>
              <a:ext cx="3005156" cy="573409"/>
            </a:xfrm>
            <a:prstGeom prst="rect">
              <a:avLst/>
            </a:prstGeom>
            <a:noFill/>
            <a:ln>
              <a:noFill/>
            </a:ln>
          </p:spPr>
          <p:txBody>
            <a:bodyPr wrap="square" rtlCol="0">
              <a:spAutoFit/>
            </a:bodyPr>
            <a:lstStyle/>
            <a:p>
              <a:pPr algn="ctr"/>
              <a:r>
                <a:rPr lang="en-US" sz="1600" dirty="0">
                  <a:latin typeface="Segoe UI" panose="020B0502040204020203" pitchFamily="34" charset="0"/>
                  <a:ea typeface="Segoe UI" panose="020B0502040204020203" pitchFamily="34" charset="0"/>
                  <a:cs typeface="Segoe UI" panose="020B0502040204020203" pitchFamily="34" charset="0"/>
                </a:rPr>
                <a:t>Azure blob</a:t>
              </a:r>
            </a:p>
          </p:txBody>
        </p:sp>
        <p:sp>
          <p:nvSpPr>
            <p:cNvPr id="23" name="TextBox 22">
              <a:extLst>
                <a:ext uri="{FF2B5EF4-FFF2-40B4-BE49-F238E27FC236}">
                  <a16:creationId xmlns:a16="http://schemas.microsoft.com/office/drawing/2014/main" id="{BED4868D-E92B-00C6-8251-E8A737C7D670}"/>
                </a:ext>
              </a:extLst>
            </p:cNvPr>
            <p:cNvSpPr txBox="1"/>
            <p:nvPr/>
          </p:nvSpPr>
          <p:spPr>
            <a:xfrm>
              <a:off x="4187806" y="-713519"/>
              <a:ext cx="4678613" cy="573409"/>
            </a:xfrm>
            <a:prstGeom prst="rect">
              <a:avLst/>
            </a:prstGeom>
            <a:noFill/>
            <a:ln>
              <a:noFill/>
            </a:ln>
          </p:spPr>
          <p:txBody>
            <a:bodyPr wrap="square" rtlCol="0">
              <a:spAutoFit/>
            </a:bodyPr>
            <a:lstStyle/>
            <a:p>
              <a:pPr algn="ctr"/>
              <a:r>
                <a:rPr lang="en-US" sz="1600" dirty="0">
                  <a:latin typeface="Segoe UI" panose="020B0502040204020203" pitchFamily="34" charset="0"/>
                  <a:ea typeface="Segoe UI" panose="020B0502040204020203" pitchFamily="34" charset="0"/>
                  <a:cs typeface="Segoe UI" panose="020B0502040204020203" pitchFamily="34" charset="0"/>
                </a:rPr>
                <a:t>Azure VM (Windows)</a:t>
              </a:r>
            </a:p>
          </p:txBody>
        </p:sp>
        <p:sp>
          <p:nvSpPr>
            <p:cNvPr id="24" name="TextBox 23">
              <a:extLst>
                <a:ext uri="{FF2B5EF4-FFF2-40B4-BE49-F238E27FC236}">
                  <a16:creationId xmlns:a16="http://schemas.microsoft.com/office/drawing/2014/main" id="{8C6B339F-B2F2-9AA7-AF5C-82EC745082C8}"/>
                </a:ext>
              </a:extLst>
            </p:cNvPr>
            <p:cNvSpPr txBox="1"/>
            <p:nvPr/>
          </p:nvSpPr>
          <p:spPr>
            <a:xfrm>
              <a:off x="2792953" y="1765886"/>
              <a:ext cx="1863032" cy="990433"/>
            </a:xfrm>
            <a:prstGeom prst="rect">
              <a:avLst/>
            </a:prstGeom>
            <a:noFill/>
            <a:ln>
              <a:noFill/>
            </a:ln>
          </p:spPr>
          <p:txBody>
            <a:bodyPr wrap="square" rtlCol="0">
              <a:spAutoFit/>
            </a:bodyPr>
            <a:lstStyle/>
            <a:p>
              <a:pPr algn="ctr"/>
              <a:r>
                <a:rPr lang="en-US" sz="1600" dirty="0">
                  <a:latin typeface="Segoe UI" panose="020B0502040204020203" pitchFamily="34" charset="0"/>
                  <a:ea typeface="Segoe UI" panose="020B0502040204020203" pitchFamily="34" charset="0"/>
                  <a:cs typeface="Segoe UI" panose="020B0502040204020203" pitchFamily="34" charset="0"/>
                </a:rPr>
                <a:t>C:\</a:t>
              </a:r>
            </a:p>
            <a:p>
              <a:pPr algn="ctr"/>
              <a:r>
                <a:rPr lang="en-US" sz="1600" dirty="0">
                  <a:latin typeface="Segoe UI" panose="020B0502040204020203" pitchFamily="34" charset="0"/>
                  <a:ea typeface="Segoe UI" panose="020B0502040204020203" pitchFamily="34" charset="0"/>
                  <a:cs typeface="Segoe UI" panose="020B0502040204020203" pitchFamily="34" charset="0"/>
                </a:rPr>
                <a:t>OS disk</a:t>
              </a:r>
            </a:p>
          </p:txBody>
        </p:sp>
        <p:sp>
          <p:nvSpPr>
            <p:cNvPr id="25" name="TextBox 24">
              <a:extLst>
                <a:ext uri="{FF2B5EF4-FFF2-40B4-BE49-F238E27FC236}">
                  <a16:creationId xmlns:a16="http://schemas.microsoft.com/office/drawing/2014/main" id="{DD2B1371-8203-2E98-28FD-45DBD36A86B0}"/>
                </a:ext>
              </a:extLst>
            </p:cNvPr>
            <p:cNvSpPr txBox="1"/>
            <p:nvPr/>
          </p:nvSpPr>
          <p:spPr>
            <a:xfrm>
              <a:off x="3941832" y="1713512"/>
              <a:ext cx="5170564" cy="990433"/>
            </a:xfrm>
            <a:prstGeom prst="rect">
              <a:avLst/>
            </a:prstGeom>
            <a:noFill/>
            <a:ln>
              <a:noFill/>
            </a:ln>
          </p:spPr>
          <p:txBody>
            <a:bodyPr wrap="square" rtlCol="0">
              <a:spAutoFit/>
            </a:bodyPr>
            <a:lstStyle/>
            <a:p>
              <a:pPr algn="ctr"/>
              <a:r>
                <a:rPr lang="en-US" sz="1600" dirty="0">
                  <a:latin typeface="Segoe UI" panose="020B0502040204020203" pitchFamily="34" charset="0"/>
                  <a:ea typeface="Segoe UI" panose="020B0502040204020203" pitchFamily="34" charset="0"/>
                  <a:cs typeface="Segoe UI" panose="020B0502040204020203" pitchFamily="34" charset="0"/>
                </a:rPr>
                <a:t>D:\</a:t>
              </a:r>
            </a:p>
            <a:p>
              <a:pPr algn="ctr"/>
              <a:r>
                <a:rPr lang="en-US" sz="1600" dirty="0">
                  <a:latin typeface="Segoe UI" panose="020B0502040204020203" pitchFamily="34" charset="0"/>
                  <a:ea typeface="Segoe UI" panose="020B0502040204020203" pitchFamily="34" charset="0"/>
                  <a:cs typeface="Segoe UI" panose="020B0502040204020203" pitchFamily="34" charset="0"/>
                </a:rPr>
                <a:t>Temporary disk</a:t>
              </a:r>
            </a:p>
          </p:txBody>
        </p:sp>
        <p:sp>
          <p:nvSpPr>
            <p:cNvPr id="26" name="TextBox 25">
              <a:extLst>
                <a:ext uri="{FF2B5EF4-FFF2-40B4-BE49-F238E27FC236}">
                  <a16:creationId xmlns:a16="http://schemas.microsoft.com/office/drawing/2014/main" id="{B4E68AF1-A0B3-DABA-C2AB-62FCD3AB0118}"/>
                </a:ext>
              </a:extLst>
            </p:cNvPr>
            <p:cNvSpPr txBox="1"/>
            <p:nvPr/>
          </p:nvSpPr>
          <p:spPr>
            <a:xfrm>
              <a:off x="8477737" y="1727986"/>
              <a:ext cx="1956264" cy="990433"/>
            </a:xfrm>
            <a:prstGeom prst="rect">
              <a:avLst/>
            </a:prstGeom>
            <a:noFill/>
            <a:ln>
              <a:noFill/>
            </a:ln>
          </p:spPr>
          <p:txBody>
            <a:bodyPr wrap="square" rtlCol="0">
              <a:spAutoFit/>
            </a:bodyPr>
            <a:lstStyle/>
            <a:p>
              <a:pPr algn="ctr"/>
              <a:r>
                <a:rPr lang="en-US" sz="1600" dirty="0">
                  <a:latin typeface="Segoe UI" panose="020B0502040204020203" pitchFamily="34" charset="0"/>
                  <a:ea typeface="Segoe UI" panose="020B0502040204020203" pitchFamily="34" charset="0"/>
                  <a:cs typeface="Segoe UI" panose="020B0502040204020203" pitchFamily="34" charset="0"/>
                </a:rPr>
                <a:t>F:\</a:t>
              </a:r>
            </a:p>
            <a:p>
              <a:pPr algn="ctr"/>
              <a:r>
                <a:rPr lang="en-US" sz="1600" dirty="0">
                  <a:latin typeface="Segoe UI" panose="020B0502040204020203" pitchFamily="34" charset="0"/>
                  <a:ea typeface="Segoe UI" panose="020B0502040204020203" pitchFamily="34" charset="0"/>
                  <a:cs typeface="Segoe UI" panose="020B0502040204020203" pitchFamily="34" charset="0"/>
                </a:rPr>
                <a:t>Data disk</a:t>
              </a:r>
            </a:p>
          </p:txBody>
        </p:sp>
      </p:grpSp>
    </p:spTree>
    <p:extLst>
      <p:ext uri="{BB962C8B-B14F-4D97-AF65-F5344CB8AC3E}">
        <p14:creationId xmlns:p14="http://schemas.microsoft.com/office/powerpoint/2010/main" val="32374874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6</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Title 1">
            <a:extLst>
              <a:ext uri="{FF2B5EF4-FFF2-40B4-BE49-F238E27FC236}">
                <a16:creationId xmlns:a16="http://schemas.microsoft.com/office/drawing/2014/main" id="{2306C7D4-6414-F0A9-A530-0A08F74627FA}"/>
              </a:ext>
            </a:extLst>
          </p:cNvPr>
          <p:cNvSpPr txBox="1">
            <a:spLocks/>
          </p:cNvSpPr>
          <p:nvPr/>
        </p:nvSpPr>
        <p:spPr>
          <a:xfrm>
            <a:off x="661416" y="2289162"/>
            <a:ext cx="11530584" cy="83002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Demonstration – Creating a VM in the Portal</a:t>
            </a:r>
            <a:endParaRPr lang="en-US" dirty="0"/>
          </a:p>
        </p:txBody>
      </p:sp>
      <p:sp>
        <p:nvSpPr>
          <p:cNvPr id="11" name="Rectangle 10">
            <a:extLst>
              <a:ext uri="{FF2B5EF4-FFF2-40B4-BE49-F238E27FC236}">
                <a16:creationId xmlns:a16="http://schemas.microsoft.com/office/drawing/2014/main" id="{11EF22E9-FCBA-CA19-706E-1739C7DC119F}"/>
              </a:ext>
            </a:extLst>
          </p:cNvPr>
          <p:cNvSpPr/>
          <p:nvPr/>
        </p:nvSpPr>
        <p:spPr bwMode="auto">
          <a:xfrm>
            <a:off x="1158529" y="3429000"/>
            <a:ext cx="8475663" cy="104241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342900" indent="-342900" defTabSz="1022350">
              <a:spcBef>
                <a:spcPct val="0"/>
              </a:spcBef>
              <a:spcAft>
                <a:spcPct val="35000"/>
              </a:spcAft>
              <a:buFont typeface="Arial" panose="020B0604020202020204" pitchFamily="34" charset="0"/>
              <a:buChar char="•"/>
            </a:pPr>
            <a:r>
              <a:rPr lang="en-US" sz="2400" dirty="0">
                <a:solidFill>
                  <a:schemeClr val="tx1"/>
                </a:solidFill>
              </a:rPr>
              <a:t>Create a virtual machine</a:t>
            </a:r>
          </a:p>
          <a:p>
            <a:pPr marL="342900" indent="-342900" defTabSz="1022350">
              <a:spcBef>
                <a:spcPct val="0"/>
              </a:spcBef>
              <a:spcAft>
                <a:spcPct val="35000"/>
              </a:spcAft>
              <a:buFont typeface="Arial" panose="020B0604020202020204" pitchFamily="34" charset="0"/>
              <a:buChar char="•"/>
            </a:pPr>
            <a:r>
              <a:rPr lang="en-US" sz="2400" dirty="0">
                <a:solidFill>
                  <a:schemeClr val="tx1"/>
                </a:solidFill>
              </a:rPr>
              <a:t>Connect to the virtual machine – Bastion, RDP, or SSH</a:t>
            </a:r>
          </a:p>
        </p:txBody>
      </p:sp>
    </p:spTree>
    <p:extLst>
      <p:ext uri="{BB962C8B-B14F-4D97-AF65-F5344CB8AC3E}">
        <p14:creationId xmlns:p14="http://schemas.microsoft.com/office/powerpoint/2010/main" val="12141641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7</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5" name="Title 1">
            <a:extLst>
              <a:ext uri="{FF2B5EF4-FFF2-40B4-BE49-F238E27FC236}">
                <a16:creationId xmlns:a16="http://schemas.microsoft.com/office/drawing/2014/main" id="{64A8B037-D466-E9BD-2E18-0E4A1778B3A3}"/>
              </a:ext>
            </a:extLst>
          </p:cNvPr>
          <p:cNvSpPr txBox="1">
            <a:spLocks/>
          </p:cNvSpPr>
          <p:nvPr/>
        </p:nvSpPr>
        <p:spPr>
          <a:xfrm>
            <a:off x="392958" y="1279520"/>
            <a:ext cx="11530584" cy="83002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t>Connect to Virtual Machines</a:t>
            </a:r>
          </a:p>
        </p:txBody>
      </p:sp>
      <p:pic>
        <p:nvPicPr>
          <p:cNvPr id="16" name="Picture 15" descr="A Bastion subnet provides access to a virtual machine subnet. ">
            <a:extLst>
              <a:ext uri="{FF2B5EF4-FFF2-40B4-BE49-F238E27FC236}">
                <a16:creationId xmlns:a16="http://schemas.microsoft.com/office/drawing/2014/main" id="{26DCAA18-FD42-FFF7-F34B-89272717D298}"/>
              </a:ext>
            </a:extLst>
          </p:cNvPr>
          <p:cNvPicPr>
            <a:picLocks noChangeAspect="1"/>
          </p:cNvPicPr>
          <p:nvPr/>
        </p:nvPicPr>
        <p:blipFill>
          <a:blip r:embed="rId6"/>
          <a:stretch>
            <a:fillRect/>
          </a:stretch>
        </p:blipFill>
        <p:spPr>
          <a:xfrm>
            <a:off x="1492245" y="2040389"/>
            <a:ext cx="8377244" cy="3418771"/>
          </a:xfrm>
          <a:prstGeom prst="rect">
            <a:avLst/>
          </a:prstGeom>
        </p:spPr>
      </p:pic>
      <p:sp>
        <p:nvSpPr>
          <p:cNvPr id="17" name="Rectangle 16">
            <a:extLst>
              <a:ext uri="{FF2B5EF4-FFF2-40B4-BE49-F238E27FC236}">
                <a16:creationId xmlns:a16="http://schemas.microsoft.com/office/drawing/2014/main" id="{B300E2C8-7D92-2C2E-CF8F-8E0521DE662A}"/>
              </a:ext>
            </a:extLst>
          </p:cNvPr>
          <p:cNvSpPr/>
          <p:nvPr/>
        </p:nvSpPr>
        <p:spPr>
          <a:xfrm>
            <a:off x="379243" y="5632943"/>
            <a:ext cx="3788653" cy="108097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ctr" anchorCtr="0">
            <a:noAutofit/>
          </a:bodyPr>
          <a:lstStyle/>
          <a:p>
            <a:r>
              <a:rPr lang="en-US" dirty="0">
                <a:solidFill>
                  <a:schemeClr val="tx1"/>
                </a:solidFill>
                <a:cs typeface="Segoe UI" panose="020B0502040204020203" pitchFamily="34" charset="0"/>
              </a:rPr>
              <a:t>Bastion Subnet for RDP/SSH through the Portal over SSL</a:t>
            </a:r>
          </a:p>
        </p:txBody>
      </p:sp>
      <p:sp>
        <p:nvSpPr>
          <p:cNvPr id="18" name="Rectangle 17">
            <a:extLst>
              <a:ext uri="{FF2B5EF4-FFF2-40B4-BE49-F238E27FC236}">
                <a16:creationId xmlns:a16="http://schemas.microsoft.com/office/drawing/2014/main" id="{82B203AC-CAC6-6B48-F761-9B58749B74A2}"/>
              </a:ext>
            </a:extLst>
          </p:cNvPr>
          <p:cNvSpPr/>
          <p:nvPr/>
        </p:nvSpPr>
        <p:spPr>
          <a:xfrm>
            <a:off x="4296685" y="5642299"/>
            <a:ext cx="3788654" cy="1080971"/>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ctr" anchorCtr="0">
            <a:noAutofit/>
          </a:bodyPr>
          <a:lstStyle/>
          <a:p>
            <a:r>
              <a:rPr lang="en-US" dirty="0">
                <a:solidFill>
                  <a:schemeClr val="tx1"/>
                </a:solidFill>
                <a:cs typeface="Segoe UI" panose="020B0502040204020203" pitchFamily="34" charset="0"/>
              </a:rPr>
              <a:t>Remote Desktop Protocol for Windows-based Virtual Machines</a:t>
            </a:r>
          </a:p>
        </p:txBody>
      </p:sp>
      <p:sp>
        <p:nvSpPr>
          <p:cNvPr id="19" name="Rectangle 18">
            <a:extLst>
              <a:ext uri="{FF2B5EF4-FFF2-40B4-BE49-F238E27FC236}">
                <a16:creationId xmlns:a16="http://schemas.microsoft.com/office/drawing/2014/main" id="{EC156343-A3FC-F30F-0292-9677ACD89131}"/>
              </a:ext>
            </a:extLst>
          </p:cNvPr>
          <p:cNvSpPr/>
          <p:nvPr/>
        </p:nvSpPr>
        <p:spPr>
          <a:xfrm>
            <a:off x="8134889" y="5623213"/>
            <a:ext cx="3788653" cy="1080971"/>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ctr" anchorCtr="0">
            <a:noAutofit/>
          </a:bodyPr>
          <a:lstStyle/>
          <a:p>
            <a:r>
              <a:rPr lang="en-US" dirty="0">
                <a:solidFill>
                  <a:schemeClr val="tx1"/>
                </a:solidFill>
                <a:cs typeface="Segoe UI" panose="020B0502040204020203" pitchFamily="34" charset="0"/>
              </a:rPr>
              <a:t>Secure Shell Protocol for Linux based Virtual Machines</a:t>
            </a:r>
          </a:p>
        </p:txBody>
      </p:sp>
    </p:spTree>
    <p:extLst>
      <p:ext uri="{BB962C8B-B14F-4D97-AF65-F5344CB8AC3E}">
        <p14:creationId xmlns:p14="http://schemas.microsoft.com/office/powerpoint/2010/main" val="26075747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8</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Title 1">
            <a:extLst>
              <a:ext uri="{FF2B5EF4-FFF2-40B4-BE49-F238E27FC236}">
                <a16:creationId xmlns:a16="http://schemas.microsoft.com/office/drawing/2014/main" id="{C55D5CEC-7FD6-3917-C3F9-129063E50DFF}"/>
              </a:ext>
            </a:extLst>
          </p:cNvPr>
          <p:cNvSpPr txBox="1">
            <a:spLocks/>
          </p:cNvSpPr>
          <p:nvPr/>
        </p:nvSpPr>
        <p:spPr>
          <a:xfrm>
            <a:off x="770001" y="1203510"/>
            <a:ext cx="11530584" cy="83002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Connect to Windows Virtual Machines </a:t>
            </a:r>
            <a:endParaRPr lang="en-US" dirty="0"/>
          </a:p>
        </p:txBody>
      </p:sp>
      <p:sp>
        <p:nvSpPr>
          <p:cNvPr id="11" name="Rectangle 10">
            <a:extLst>
              <a:ext uri="{FF2B5EF4-FFF2-40B4-BE49-F238E27FC236}">
                <a16:creationId xmlns:a16="http://schemas.microsoft.com/office/drawing/2014/main" id="{B08D77B1-682B-15A4-B18E-66B910799F88}"/>
              </a:ext>
            </a:extLst>
          </p:cNvPr>
          <p:cNvSpPr/>
          <p:nvPr/>
        </p:nvSpPr>
        <p:spPr>
          <a:xfrm>
            <a:off x="731901" y="2564268"/>
            <a:ext cx="4994048" cy="1721954"/>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ctr" anchorCtr="0">
            <a:noAutofit/>
          </a:bodyPr>
          <a:lstStyle/>
          <a:p>
            <a:r>
              <a:rPr lang="en-US" sz="2400" dirty="0">
                <a:solidFill>
                  <a:schemeClr val="tx1"/>
                </a:solidFill>
                <a:latin typeface="+mj-lt"/>
              </a:rPr>
              <a:t>Remote Desktop Protocol </a:t>
            </a:r>
            <a:r>
              <a:rPr lang="en-US" sz="2400" dirty="0">
                <a:solidFill>
                  <a:schemeClr val="tx1"/>
                </a:solidFill>
              </a:rPr>
              <a:t>(RDP) creates a GUI session and accepts inbound traffic on TCP port 3389</a:t>
            </a:r>
          </a:p>
        </p:txBody>
      </p:sp>
      <p:sp>
        <p:nvSpPr>
          <p:cNvPr id="12" name="Rectangle 11">
            <a:extLst>
              <a:ext uri="{FF2B5EF4-FFF2-40B4-BE49-F238E27FC236}">
                <a16:creationId xmlns:a16="http://schemas.microsoft.com/office/drawing/2014/main" id="{78F82740-EAF8-B4CC-18EB-49D667711E5C}"/>
              </a:ext>
            </a:extLst>
          </p:cNvPr>
          <p:cNvSpPr/>
          <p:nvPr/>
        </p:nvSpPr>
        <p:spPr>
          <a:xfrm>
            <a:off x="731901" y="4454929"/>
            <a:ext cx="4994048" cy="172195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ctr" anchorCtr="0">
            <a:noAutofit/>
          </a:bodyPr>
          <a:lstStyle/>
          <a:p>
            <a:r>
              <a:rPr lang="en-US" sz="2400" dirty="0">
                <a:solidFill>
                  <a:schemeClr val="tx1"/>
                </a:solidFill>
                <a:latin typeface="+mj-lt"/>
              </a:rPr>
              <a:t>WinRM</a:t>
            </a:r>
            <a:r>
              <a:rPr lang="en-US" sz="2400" dirty="0">
                <a:solidFill>
                  <a:schemeClr val="tx1"/>
                </a:solidFill>
              </a:rPr>
              <a:t> creates a command-line session so you can run scripts</a:t>
            </a:r>
          </a:p>
        </p:txBody>
      </p:sp>
      <p:pic>
        <p:nvPicPr>
          <p:cNvPr id="13" name="Picture 7" descr="Screenshot that shows Connect - highlighting RDP showing the flow to the Remote Desktop Connection pop up window">
            <a:extLst>
              <a:ext uri="{FF2B5EF4-FFF2-40B4-BE49-F238E27FC236}">
                <a16:creationId xmlns:a16="http://schemas.microsoft.com/office/drawing/2014/main" id="{759994B7-EDBD-5C2A-33BB-C2187DC0E11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604438" y="1985520"/>
            <a:ext cx="4325185" cy="4886295"/>
          </a:xfrm>
          <a:prstGeom prst="rect">
            <a:avLst/>
          </a:prstGeom>
        </p:spPr>
      </p:pic>
    </p:spTree>
    <p:extLst>
      <p:ext uri="{BB962C8B-B14F-4D97-AF65-F5344CB8AC3E}">
        <p14:creationId xmlns:p14="http://schemas.microsoft.com/office/powerpoint/2010/main" val="17814668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9</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Title 16">
            <a:extLst>
              <a:ext uri="{FF2B5EF4-FFF2-40B4-BE49-F238E27FC236}">
                <a16:creationId xmlns:a16="http://schemas.microsoft.com/office/drawing/2014/main" id="{2BBC5E42-0EE5-D13D-E9CB-3085CF79633E}"/>
              </a:ext>
            </a:extLst>
          </p:cNvPr>
          <p:cNvSpPr txBox="1">
            <a:spLocks/>
          </p:cNvSpPr>
          <p:nvPr/>
        </p:nvSpPr>
        <p:spPr>
          <a:xfrm>
            <a:off x="224004" y="1112110"/>
            <a:ext cx="11530584" cy="83002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t>Connect to Linux Virtual Machines </a:t>
            </a:r>
            <a:endParaRPr lang="en-US" dirty="0"/>
          </a:p>
        </p:txBody>
      </p:sp>
      <p:pic>
        <p:nvPicPr>
          <p:cNvPr id="11" name="Picture 4" descr="Screenshot of an Administrator account showing the Authentication type and SSH public key settings">
            <a:extLst>
              <a:ext uri="{FF2B5EF4-FFF2-40B4-BE49-F238E27FC236}">
                <a16:creationId xmlns:a16="http://schemas.microsoft.com/office/drawing/2014/main" id="{E6432D8A-9785-6E0C-84ED-6844876D6C6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11205" y="1819709"/>
            <a:ext cx="10945906" cy="3002586"/>
          </a:xfrm>
          <a:prstGeom prst="rect">
            <a:avLst/>
          </a:prstGeom>
        </p:spPr>
      </p:pic>
      <p:sp>
        <p:nvSpPr>
          <p:cNvPr id="12" name="Rectangle 11">
            <a:extLst>
              <a:ext uri="{FF2B5EF4-FFF2-40B4-BE49-F238E27FC236}">
                <a16:creationId xmlns:a16="http://schemas.microsoft.com/office/drawing/2014/main" id="{B0208B34-4B29-3E26-F872-318EC9356E50}"/>
              </a:ext>
            </a:extLst>
          </p:cNvPr>
          <p:cNvSpPr/>
          <p:nvPr/>
        </p:nvSpPr>
        <p:spPr>
          <a:xfrm>
            <a:off x="379243" y="4908714"/>
            <a:ext cx="3749058" cy="1583499"/>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t" anchorCtr="0">
            <a:noAutofit/>
          </a:bodyPr>
          <a:lstStyle/>
          <a:p>
            <a:r>
              <a:rPr lang="en-US" sz="2200" dirty="0">
                <a:solidFill>
                  <a:schemeClr val="tx1"/>
                </a:solidFill>
              </a:rPr>
              <a:t>Authenticate with a SSH public key or password</a:t>
            </a:r>
            <a:endParaRPr lang="bs-Latn-BA" sz="2200">
              <a:solidFill>
                <a:schemeClr val="tx1"/>
              </a:solidFill>
            </a:endParaRPr>
          </a:p>
        </p:txBody>
      </p:sp>
      <p:sp>
        <p:nvSpPr>
          <p:cNvPr id="13" name="Rectangle 12">
            <a:extLst>
              <a:ext uri="{FF2B5EF4-FFF2-40B4-BE49-F238E27FC236}">
                <a16:creationId xmlns:a16="http://schemas.microsoft.com/office/drawing/2014/main" id="{69945703-A761-D7CE-A822-8A004F5D09FB}"/>
              </a:ext>
            </a:extLst>
          </p:cNvPr>
          <p:cNvSpPr/>
          <p:nvPr/>
        </p:nvSpPr>
        <p:spPr>
          <a:xfrm>
            <a:off x="4295914" y="4908714"/>
            <a:ext cx="3749058" cy="1583499"/>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t" anchorCtr="0">
            <a:noAutofit/>
          </a:bodyPr>
          <a:lstStyle/>
          <a:p>
            <a:r>
              <a:rPr lang="en-US" sz="2200" dirty="0">
                <a:solidFill>
                  <a:schemeClr val="tx1"/>
                </a:solidFill>
              </a:rPr>
              <a:t>SSH is an encrypted connection protocol that allows secure logins over unsecured connections</a:t>
            </a:r>
          </a:p>
        </p:txBody>
      </p:sp>
      <p:sp>
        <p:nvSpPr>
          <p:cNvPr id="14" name="Rectangle 13">
            <a:extLst>
              <a:ext uri="{FF2B5EF4-FFF2-40B4-BE49-F238E27FC236}">
                <a16:creationId xmlns:a16="http://schemas.microsoft.com/office/drawing/2014/main" id="{93427451-D0CC-995F-339E-DCA67DD1096B}"/>
              </a:ext>
            </a:extLst>
          </p:cNvPr>
          <p:cNvSpPr/>
          <p:nvPr/>
        </p:nvSpPr>
        <p:spPr>
          <a:xfrm>
            <a:off x="8212584" y="4908714"/>
            <a:ext cx="3749058" cy="1583499"/>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t" anchorCtr="0">
            <a:noAutofit/>
          </a:bodyPr>
          <a:lstStyle/>
          <a:p>
            <a:r>
              <a:rPr lang="en-US" sz="2200" dirty="0">
                <a:solidFill>
                  <a:schemeClr val="tx1"/>
                </a:solidFill>
              </a:rPr>
              <a:t>There are public and private keys</a:t>
            </a:r>
          </a:p>
        </p:txBody>
      </p:sp>
    </p:spTree>
    <p:extLst>
      <p:ext uri="{BB962C8B-B14F-4D97-AF65-F5344CB8AC3E}">
        <p14:creationId xmlns:p14="http://schemas.microsoft.com/office/powerpoint/2010/main" val="2296061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10</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C2548839-3939-0CEE-BB80-F07D21DCA629}"/>
              </a:ext>
            </a:extLst>
          </p:cNvPr>
          <p:cNvSpPr txBox="1"/>
          <p:nvPr/>
        </p:nvSpPr>
        <p:spPr>
          <a:xfrm>
            <a:off x="2460426" y="2877900"/>
            <a:ext cx="7271148" cy="1102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3200" dirty="0">
                <a:solidFill>
                  <a:sysClr val="windowText" lastClr="000000"/>
                </a:solidFill>
                <a:latin typeface="Proxima Nova"/>
                <a:ea typeface="Proxima Nova"/>
                <a:cs typeface="Proxima Nova"/>
                <a:sym typeface="Proxima Nova"/>
              </a:rPr>
              <a:t>Configure Virtual Machine Availability</a:t>
            </a:r>
          </a:p>
          <a:p>
            <a:pPr marL="0" marR="0" lvl="0" indent="0" algn="ctr" rtl="0">
              <a:spcBef>
                <a:spcPts val="0"/>
              </a:spcBef>
              <a:spcAft>
                <a:spcPts val="0"/>
              </a:spcAft>
              <a:buNone/>
            </a:pPr>
            <a:endParaRPr lang="en-US" sz="3200" dirty="0">
              <a:solidFill>
                <a:sysClr val="windowText" lastClr="000000"/>
              </a:solidFill>
              <a:latin typeface="Proxima Nova"/>
              <a:ea typeface="Proxima Nova"/>
              <a:cs typeface="Proxima Nova"/>
              <a:sym typeface="Proxima Nova"/>
            </a:endParaRPr>
          </a:p>
          <a:p>
            <a:pPr marL="0" marR="0" lvl="0" indent="0" algn="ctr" rtl="0">
              <a:spcBef>
                <a:spcPts val="0"/>
              </a:spcBef>
              <a:spcAft>
                <a:spcPts val="0"/>
              </a:spcAft>
              <a:buNone/>
            </a:pPr>
            <a:endParaRPr sz="3200" dirty="0">
              <a:solidFill>
                <a:sysClr val="windowText" lastClr="000000"/>
              </a:solidFill>
              <a:latin typeface="Proxima Nova"/>
              <a:ea typeface="Proxima Nova"/>
              <a:cs typeface="Proxima Nova"/>
              <a:sym typeface="Proxima Nova"/>
            </a:endParaRPr>
          </a:p>
        </p:txBody>
      </p:sp>
    </p:spTree>
    <p:extLst>
      <p:ext uri="{BB962C8B-B14F-4D97-AF65-F5344CB8AC3E}">
        <p14:creationId xmlns:p14="http://schemas.microsoft.com/office/powerpoint/2010/main" val="27878944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11</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Title 1">
            <a:extLst>
              <a:ext uri="{FF2B5EF4-FFF2-40B4-BE49-F238E27FC236}">
                <a16:creationId xmlns:a16="http://schemas.microsoft.com/office/drawing/2014/main" id="{4C43EC74-21DF-71D9-155D-5CCC13791AC6}"/>
              </a:ext>
            </a:extLst>
          </p:cNvPr>
          <p:cNvSpPr txBox="1">
            <a:spLocks/>
          </p:cNvSpPr>
          <p:nvPr/>
        </p:nvSpPr>
        <p:spPr>
          <a:xfrm>
            <a:off x="1124516" y="876109"/>
            <a:ext cx="11530584" cy="83002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Configure Azure Virtual Machine Availability Introduction</a:t>
            </a:r>
          </a:p>
        </p:txBody>
      </p:sp>
      <p:sp>
        <p:nvSpPr>
          <p:cNvPr id="11" name="TextBox 10">
            <a:extLst>
              <a:ext uri="{FF2B5EF4-FFF2-40B4-BE49-F238E27FC236}">
                <a16:creationId xmlns:a16="http://schemas.microsoft.com/office/drawing/2014/main" id="{D26CF2D1-DE1A-F66D-0BDC-FC34D0291FBA}"/>
              </a:ext>
            </a:extLst>
          </p:cNvPr>
          <p:cNvSpPr txBox="1"/>
          <p:nvPr/>
        </p:nvSpPr>
        <p:spPr>
          <a:xfrm>
            <a:off x="760659" y="1357061"/>
            <a:ext cx="5671457" cy="4993780"/>
          </a:xfrm>
          <a:prstGeom prst="rect">
            <a:avLst/>
          </a:prstGeom>
          <a:noFill/>
        </p:spPr>
        <p:txBody>
          <a:bodyPr wrap="square" lIns="0" tIns="0" rIns="0" bIns="0" rtlCol="0" anchor="ctr">
            <a:noAutofit/>
          </a:bodyPr>
          <a:lstStyle/>
          <a:p>
            <a:pPr marL="342900" indent="-342900">
              <a:spcBef>
                <a:spcPct val="0"/>
              </a:spcBef>
              <a:spcAft>
                <a:spcPts val="600"/>
              </a:spcAft>
              <a:buFont typeface="Arial" panose="020B0604020202020204" pitchFamily="34" charset="0"/>
              <a:buChar char="•"/>
            </a:pPr>
            <a:r>
              <a:rPr lang="en-US" sz="2000" dirty="0"/>
              <a:t>Plan for Maintenance and Downtime</a:t>
            </a:r>
          </a:p>
          <a:p>
            <a:pPr marL="342900" indent="-342900">
              <a:spcBef>
                <a:spcPct val="0"/>
              </a:spcBef>
              <a:spcAft>
                <a:spcPts val="600"/>
              </a:spcAft>
              <a:buFont typeface="Arial" panose="020B0604020202020204" pitchFamily="34" charset="0"/>
              <a:buChar char="•"/>
            </a:pPr>
            <a:r>
              <a:rPr lang="en-US" sz="2000" dirty="0"/>
              <a:t>Setup Availability Sets</a:t>
            </a:r>
          </a:p>
          <a:p>
            <a:pPr marL="342900" indent="-342900">
              <a:spcBef>
                <a:spcPct val="0"/>
              </a:spcBef>
              <a:spcAft>
                <a:spcPts val="600"/>
              </a:spcAft>
              <a:buFont typeface="Arial" panose="020B0604020202020204" pitchFamily="34" charset="0"/>
              <a:buChar char="•"/>
            </a:pPr>
            <a:r>
              <a:rPr lang="en-US" sz="2000" dirty="0"/>
              <a:t>Review Update and Fault Domains</a:t>
            </a:r>
          </a:p>
          <a:p>
            <a:pPr marL="342900" indent="-342900">
              <a:spcBef>
                <a:spcPct val="0"/>
              </a:spcBef>
              <a:spcAft>
                <a:spcPts val="600"/>
              </a:spcAft>
              <a:buFont typeface="Arial" panose="020B0604020202020204" pitchFamily="34" charset="0"/>
              <a:buChar char="•"/>
            </a:pPr>
            <a:r>
              <a:rPr lang="en-US" sz="2000" dirty="0"/>
              <a:t>Review Availability Zones</a:t>
            </a:r>
          </a:p>
          <a:p>
            <a:pPr marL="342900" indent="-342900">
              <a:spcBef>
                <a:spcPct val="0"/>
              </a:spcBef>
              <a:spcAft>
                <a:spcPts val="600"/>
              </a:spcAft>
              <a:buFont typeface="Arial" panose="020B0604020202020204" pitchFamily="34" charset="0"/>
              <a:buChar char="•"/>
            </a:pPr>
            <a:r>
              <a:rPr lang="en-US" sz="2000" dirty="0"/>
              <a:t>Compare Vertical to Horizontal Scaling</a:t>
            </a:r>
          </a:p>
          <a:p>
            <a:pPr marL="342900" indent="-342900">
              <a:spcBef>
                <a:spcPct val="0"/>
              </a:spcBef>
              <a:spcAft>
                <a:spcPts val="600"/>
              </a:spcAft>
              <a:buFont typeface="Arial" panose="020B0604020202020204" pitchFamily="34" charset="0"/>
              <a:buChar char="•"/>
            </a:pPr>
            <a:r>
              <a:rPr lang="en-US" sz="2000" dirty="0"/>
              <a:t>Create Scale Sets (2 student topics)</a:t>
            </a:r>
          </a:p>
          <a:p>
            <a:pPr marL="342900" indent="-342900">
              <a:spcBef>
                <a:spcPct val="0"/>
              </a:spcBef>
              <a:spcAft>
                <a:spcPts val="600"/>
              </a:spcAft>
              <a:buFont typeface="Arial" panose="020B0604020202020204" pitchFamily="34" charset="0"/>
              <a:buChar char="•"/>
            </a:pPr>
            <a:r>
              <a:rPr lang="en-US" sz="2000" dirty="0"/>
              <a:t>Configure Autoscale (2 student topics)</a:t>
            </a:r>
          </a:p>
          <a:p>
            <a:pPr marL="342900" indent="-342900">
              <a:spcBef>
                <a:spcPct val="0"/>
              </a:spcBef>
              <a:spcAft>
                <a:spcPts val="600"/>
              </a:spcAft>
              <a:buFont typeface="Arial" panose="020B0604020202020204" pitchFamily="34" charset="0"/>
              <a:buChar char="•"/>
            </a:pPr>
            <a:r>
              <a:rPr lang="en-US" sz="2000" dirty="0"/>
              <a:t>Demonstration – Virtual Machine Scaling</a:t>
            </a:r>
          </a:p>
          <a:p>
            <a:pPr marL="342900" indent="-342900">
              <a:spcBef>
                <a:spcPct val="0"/>
              </a:spcBef>
              <a:spcAft>
                <a:spcPts val="600"/>
              </a:spcAft>
              <a:buFont typeface="Arial" panose="020B0604020202020204" pitchFamily="34" charset="0"/>
              <a:buChar char="•"/>
            </a:pPr>
            <a:r>
              <a:rPr lang="en-US" sz="2000" dirty="0"/>
              <a:t>Learning Recap</a:t>
            </a:r>
          </a:p>
        </p:txBody>
      </p:sp>
      <p:sp>
        <p:nvSpPr>
          <p:cNvPr id="12" name="TextBox 11">
            <a:extLst>
              <a:ext uri="{FF2B5EF4-FFF2-40B4-BE49-F238E27FC236}">
                <a16:creationId xmlns:a16="http://schemas.microsoft.com/office/drawing/2014/main" id="{72021A66-B4E2-9F53-41D3-E0E7B2755E7E}"/>
              </a:ext>
            </a:extLst>
          </p:cNvPr>
          <p:cNvSpPr txBox="1"/>
          <p:nvPr/>
        </p:nvSpPr>
        <p:spPr>
          <a:xfrm>
            <a:off x="6674041" y="2484385"/>
            <a:ext cx="4761702" cy="1831271"/>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600"/>
              </a:spcAft>
              <a:buClrTx/>
              <a:buSzTx/>
              <a:buFontTx/>
              <a:buNone/>
              <a:tabLst/>
              <a:defRPr/>
            </a:pPr>
            <a:r>
              <a:rPr kumimoji="0" lang="en-US" b="0" i="0" u="none" strike="noStrike" kern="0" cap="none" spc="0" normalizeH="0" baseline="0" noProof="0" dirty="0">
                <a:ln>
                  <a:noFill/>
                </a:ln>
                <a:solidFill>
                  <a:srgbClr val="243A5E"/>
                </a:solidFill>
                <a:effectLst/>
                <a:uLnTx/>
                <a:uFillTx/>
              </a:rPr>
              <a:t>Implement and manage Azure compute resources (20-25%): Create and configure virtual machines</a:t>
            </a:r>
          </a:p>
          <a:p>
            <a:pPr marL="173038" marR="0" lvl="0" indent="-173038"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rPr>
              <a:t>Configure VM availability options</a:t>
            </a:r>
          </a:p>
          <a:p>
            <a:pPr marL="173038" marR="0" lvl="0" indent="-173038"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rPr>
              <a:t>Deploy and configure VM scale sets</a:t>
            </a:r>
          </a:p>
          <a:p>
            <a:pPr marL="173038" marR="0" lvl="0" indent="-173038"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b="0" i="0" u="none" strike="noStrike" kern="0" cap="none" spc="0" normalizeH="0" baseline="0" noProof="0" dirty="0">
              <a:ln>
                <a:noFill/>
              </a:ln>
              <a:solidFill>
                <a:srgbClr val="000000"/>
              </a:solidFill>
              <a:effectLst/>
              <a:uLnTx/>
              <a:uFillTx/>
            </a:endParaRPr>
          </a:p>
        </p:txBody>
      </p:sp>
    </p:spTree>
    <p:extLst>
      <p:ext uri="{BB962C8B-B14F-4D97-AF65-F5344CB8AC3E}">
        <p14:creationId xmlns:p14="http://schemas.microsoft.com/office/powerpoint/2010/main" val="24442409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12</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Title 16">
            <a:extLst>
              <a:ext uri="{FF2B5EF4-FFF2-40B4-BE49-F238E27FC236}">
                <a16:creationId xmlns:a16="http://schemas.microsoft.com/office/drawing/2014/main" id="{D6EF10CD-6F04-207D-C332-B998304EADF5}"/>
              </a:ext>
            </a:extLst>
          </p:cNvPr>
          <p:cNvSpPr txBox="1">
            <a:spLocks/>
          </p:cNvSpPr>
          <p:nvPr/>
        </p:nvSpPr>
        <p:spPr>
          <a:xfrm>
            <a:off x="544606" y="1368147"/>
            <a:ext cx="11530584" cy="83002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Plan for Maintenance and Downtime</a:t>
            </a:r>
            <a:endParaRPr lang="en-US" dirty="0"/>
          </a:p>
        </p:txBody>
      </p:sp>
      <p:sp>
        <p:nvSpPr>
          <p:cNvPr id="11" name="Rectangle 10">
            <a:extLst>
              <a:ext uri="{FF2B5EF4-FFF2-40B4-BE49-F238E27FC236}">
                <a16:creationId xmlns:a16="http://schemas.microsoft.com/office/drawing/2014/main" id="{036EE9DA-B36D-AEF7-6543-BD43C9420C43}"/>
              </a:ext>
              <a:ext uri="{C183D7F6-B498-43B3-948B-1728B52AA6E4}">
                <adec:decorative xmlns:adec="http://schemas.microsoft.com/office/drawing/2017/decorative" val="0"/>
              </a:ext>
            </a:extLst>
          </p:cNvPr>
          <p:cNvSpPr/>
          <p:nvPr/>
        </p:nvSpPr>
        <p:spPr bwMode="auto">
          <a:xfrm>
            <a:off x="544606" y="2228533"/>
            <a:ext cx="3752503" cy="1097643"/>
          </a:xfrm>
          <a:prstGeom prst="rect">
            <a:avLst/>
          </a:prstGeom>
          <a:solidFill>
            <a:schemeClr val="tx2"/>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ctr" anchorCtr="0" forceAA="0" compatLnSpc="1">
            <a:prstTxWarp prst="textNoShape">
              <a:avLst/>
            </a:prstTxWarp>
            <a:noAutofit/>
          </a:bodyPr>
          <a:lstStyle/>
          <a:p>
            <a:pPr marL="57150" algn="ctr">
              <a:spcBef>
                <a:spcPts val="300"/>
              </a:spcBef>
              <a:spcAft>
                <a:spcPts val="600"/>
              </a:spcAft>
              <a:tabLst>
                <a:tab pos="342900" algn="l"/>
              </a:tabLst>
            </a:pPr>
            <a:r>
              <a:rPr lang="en-IN" sz="2600" dirty="0">
                <a:solidFill>
                  <a:schemeClr val="bg1"/>
                </a:solidFill>
                <a:latin typeface="+mj-lt"/>
              </a:rPr>
              <a:t>Unplanned Hardware Maintenance</a:t>
            </a:r>
            <a:endParaRPr lang="en-US" sz="2600" dirty="0">
              <a:solidFill>
                <a:schemeClr val="bg1"/>
              </a:solidFill>
              <a:latin typeface="+mj-lt"/>
            </a:endParaRPr>
          </a:p>
        </p:txBody>
      </p:sp>
      <p:sp>
        <p:nvSpPr>
          <p:cNvPr id="12" name="Rectangle 11">
            <a:extLst>
              <a:ext uri="{FF2B5EF4-FFF2-40B4-BE49-F238E27FC236}">
                <a16:creationId xmlns:a16="http://schemas.microsoft.com/office/drawing/2014/main" id="{5CF3FFFA-8B25-39FD-B0F4-91158CA08AC2}"/>
              </a:ext>
              <a:ext uri="{C183D7F6-B498-43B3-948B-1728B52AA6E4}">
                <adec:decorative xmlns:adec="http://schemas.microsoft.com/office/drawing/2017/decorative" val="0"/>
              </a:ext>
            </a:extLst>
          </p:cNvPr>
          <p:cNvSpPr/>
          <p:nvPr/>
        </p:nvSpPr>
        <p:spPr bwMode="auto">
          <a:xfrm>
            <a:off x="544606" y="3667263"/>
            <a:ext cx="3752503" cy="2691446"/>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t" anchorCtr="0" forceAA="0" compatLnSpc="1">
            <a:prstTxWarp prst="textNoShape">
              <a:avLst/>
            </a:prstTxWarp>
            <a:noAutofit/>
          </a:bodyPr>
          <a:lstStyle/>
          <a:p>
            <a:pPr marL="57150">
              <a:spcBef>
                <a:spcPts val="300"/>
              </a:spcBef>
              <a:spcAft>
                <a:spcPts val="600"/>
              </a:spcAft>
              <a:tabLst>
                <a:tab pos="457200" algn="l"/>
              </a:tabLst>
            </a:pPr>
            <a:r>
              <a:rPr lang="en-US" sz="2200" dirty="0">
                <a:solidFill>
                  <a:schemeClr val="tx1"/>
                </a:solidFill>
              </a:rPr>
              <a:t>When the platform predicts a failure, it will issue an </a:t>
            </a:r>
            <a:r>
              <a:rPr lang="en-US" sz="2200" dirty="0">
                <a:solidFill>
                  <a:schemeClr val="tx1"/>
                </a:solidFill>
                <a:latin typeface="+mj-lt"/>
              </a:rPr>
              <a:t>unplanned hardware maintenance </a:t>
            </a:r>
            <a:r>
              <a:rPr lang="en-US" sz="2200" dirty="0">
                <a:solidFill>
                  <a:schemeClr val="tx1"/>
                </a:solidFill>
              </a:rPr>
              <a:t>event</a:t>
            </a:r>
          </a:p>
          <a:p>
            <a:pPr marL="57150">
              <a:spcBef>
                <a:spcPts val="300"/>
              </a:spcBef>
              <a:spcAft>
                <a:spcPts val="600"/>
              </a:spcAft>
              <a:tabLst>
                <a:tab pos="457200" algn="l"/>
              </a:tabLst>
            </a:pPr>
            <a:r>
              <a:rPr lang="en-US" sz="2200" dirty="0">
                <a:solidFill>
                  <a:schemeClr val="tx1"/>
                </a:solidFill>
                <a:latin typeface="+mj-lt"/>
              </a:rPr>
              <a:t>Action: </a:t>
            </a:r>
            <a:r>
              <a:rPr lang="en-US" sz="2200" dirty="0">
                <a:solidFill>
                  <a:schemeClr val="tx1"/>
                </a:solidFill>
              </a:rPr>
              <a:t>Live migration</a:t>
            </a:r>
          </a:p>
        </p:txBody>
      </p:sp>
      <p:sp>
        <p:nvSpPr>
          <p:cNvPr id="13" name="Rectangle 12">
            <a:extLst>
              <a:ext uri="{FF2B5EF4-FFF2-40B4-BE49-F238E27FC236}">
                <a16:creationId xmlns:a16="http://schemas.microsoft.com/office/drawing/2014/main" id="{BF529044-B7CA-5E22-9ED2-9909B8B57F97}"/>
              </a:ext>
              <a:ext uri="{C183D7F6-B498-43B3-948B-1728B52AA6E4}">
                <adec:decorative xmlns:adec="http://schemas.microsoft.com/office/drawing/2017/decorative" val="0"/>
              </a:ext>
            </a:extLst>
          </p:cNvPr>
          <p:cNvSpPr/>
          <p:nvPr/>
        </p:nvSpPr>
        <p:spPr bwMode="auto">
          <a:xfrm>
            <a:off x="4459486" y="2228533"/>
            <a:ext cx="3691193" cy="1097643"/>
          </a:xfrm>
          <a:prstGeom prst="rect">
            <a:avLst/>
          </a:prstGeom>
          <a:solidFill>
            <a:schemeClr val="accent3"/>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ctr" anchorCtr="0" forceAA="0" compatLnSpc="1">
            <a:prstTxWarp prst="textNoShape">
              <a:avLst/>
            </a:prstTxWarp>
            <a:noAutofit/>
          </a:bodyPr>
          <a:lstStyle/>
          <a:p>
            <a:pPr marL="57150" algn="ctr">
              <a:spcBef>
                <a:spcPts val="300"/>
              </a:spcBef>
              <a:spcAft>
                <a:spcPts val="600"/>
              </a:spcAft>
              <a:tabLst>
                <a:tab pos="342900" algn="l"/>
              </a:tabLst>
            </a:pPr>
            <a:r>
              <a:rPr lang="en-US" sz="2600" dirty="0">
                <a:solidFill>
                  <a:schemeClr val="bg1"/>
                </a:solidFill>
                <a:latin typeface="+mj-lt"/>
              </a:rPr>
              <a:t>Unexpected</a:t>
            </a:r>
            <a:br>
              <a:rPr lang="en-US" sz="2600" dirty="0">
                <a:solidFill>
                  <a:schemeClr val="bg1"/>
                </a:solidFill>
                <a:latin typeface="+mj-lt"/>
              </a:rPr>
            </a:br>
            <a:r>
              <a:rPr lang="en-US" sz="2600" dirty="0">
                <a:solidFill>
                  <a:schemeClr val="bg1"/>
                </a:solidFill>
                <a:latin typeface="+mj-lt"/>
              </a:rPr>
              <a:t>Downtime</a:t>
            </a:r>
            <a:endParaRPr lang="en-US" sz="2600" dirty="0">
              <a:solidFill>
                <a:schemeClr val="bg1"/>
              </a:solidFill>
            </a:endParaRPr>
          </a:p>
        </p:txBody>
      </p:sp>
      <p:sp>
        <p:nvSpPr>
          <p:cNvPr id="14" name="Rectangle 13">
            <a:extLst>
              <a:ext uri="{FF2B5EF4-FFF2-40B4-BE49-F238E27FC236}">
                <a16:creationId xmlns:a16="http://schemas.microsoft.com/office/drawing/2014/main" id="{8F3F827F-F730-E003-FD0E-E333491444B4}"/>
              </a:ext>
              <a:ext uri="{C183D7F6-B498-43B3-948B-1728B52AA6E4}">
                <adec:decorative xmlns:adec="http://schemas.microsoft.com/office/drawing/2017/decorative" val="0"/>
              </a:ext>
            </a:extLst>
          </p:cNvPr>
          <p:cNvSpPr/>
          <p:nvPr/>
        </p:nvSpPr>
        <p:spPr bwMode="auto">
          <a:xfrm>
            <a:off x="4459486" y="3667263"/>
            <a:ext cx="3752503" cy="2691446"/>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t" anchorCtr="0" forceAA="0" compatLnSpc="1">
            <a:prstTxWarp prst="textNoShape">
              <a:avLst/>
            </a:prstTxWarp>
            <a:noAutofit/>
          </a:bodyPr>
          <a:lstStyle/>
          <a:p>
            <a:pPr marL="57150">
              <a:spcBef>
                <a:spcPts val="300"/>
              </a:spcBef>
              <a:spcAft>
                <a:spcPts val="600"/>
              </a:spcAft>
              <a:tabLst>
                <a:tab pos="342900" algn="l"/>
              </a:tabLst>
            </a:pPr>
            <a:r>
              <a:rPr lang="en-US" sz="2200" dirty="0">
                <a:solidFill>
                  <a:schemeClr val="tx1"/>
                </a:solidFill>
                <a:latin typeface="+mj-lt"/>
              </a:rPr>
              <a:t>Unexpected Downtime</a:t>
            </a:r>
            <a:br>
              <a:rPr lang="en-US" sz="2200" dirty="0">
                <a:solidFill>
                  <a:schemeClr val="tx1"/>
                </a:solidFill>
                <a:latin typeface="+mj-lt"/>
              </a:rPr>
            </a:br>
            <a:r>
              <a:rPr lang="en-US" sz="2200" dirty="0">
                <a:solidFill>
                  <a:schemeClr val="tx1"/>
                </a:solidFill>
              </a:rPr>
              <a:t>is when a virtual machine fails unexpectedly</a:t>
            </a:r>
          </a:p>
          <a:p>
            <a:pPr marL="57150">
              <a:spcBef>
                <a:spcPts val="300"/>
              </a:spcBef>
              <a:spcAft>
                <a:spcPts val="600"/>
              </a:spcAft>
              <a:tabLst>
                <a:tab pos="342900" algn="l"/>
              </a:tabLst>
            </a:pPr>
            <a:r>
              <a:rPr lang="en-US" sz="2200" dirty="0">
                <a:solidFill>
                  <a:schemeClr val="tx1"/>
                </a:solidFill>
                <a:latin typeface="+mj-lt"/>
              </a:rPr>
              <a:t>Action: </a:t>
            </a:r>
            <a:r>
              <a:rPr lang="en-US" sz="2200" dirty="0">
                <a:solidFill>
                  <a:schemeClr val="tx1"/>
                </a:solidFill>
              </a:rPr>
              <a:t>Automatically migrate (heal)</a:t>
            </a:r>
          </a:p>
        </p:txBody>
      </p:sp>
      <p:sp>
        <p:nvSpPr>
          <p:cNvPr id="15" name="Rectangle 14">
            <a:extLst>
              <a:ext uri="{FF2B5EF4-FFF2-40B4-BE49-F238E27FC236}">
                <a16:creationId xmlns:a16="http://schemas.microsoft.com/office/drawing/2014/main" id="{D38F8C72-4E6A-CEDB-CAE0-9C42F196DE43}"/>
              </a:ext>
              <a:ext uri="{C183D7F6-B498-43B3-948B-1728B52AA6E4}">
                <adec:decorative xmlns:adec="http://schemas.microsoft.com/office/drawing/2017/decorative" val="0"/>
              </a:ext>
            </a:extLst>
          </p:cNvPr>
          <p:cNvSpPr/>
          <p:nvPr/>
        </p:nvSpPr>
        <p:spPr bwMode="auto">
          <a:xfrm>
            <a:off x="8378249" y="2228533"/>
            <a:ext cx="3752503" cy="1097643"/>
          </a:xfrm>
          <a:prstGeom prst="rect">
            <a:avLst/>
          </a:prstGeom>
          <a:solidFill>
            <a:schemeClr val="accent5"/>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ctr" anchorCtr="0" forceAA="0" compatLnSpc="1">
            <a:prstTxWarp prst="textNoShape">
              <a:avLst/>
            </a:prstTxWarp>
            <a:noAutofit/>
          </a:bodyPr>
          <a:lstStyle/>
          <a:p>
            <a:pPr marL="57150" algn="ctr">
              <a:spcBef>
                <a:spcPts val="300"/>
              </a:spcBef>
              <a:spcAft>
                <a:spcPts val="600"/>
              </a:spcAft>
              <a:tabLst>
                <a:tab pos="342900" algn="l"/>
              </a:tabLst>
            </a:pPr>
            <a:r>
              <a:rPr lang="en-US" sz="2600" dirty="0">
                <a:solidFill>
                  <a:srgbClr val="000000"/>
                </a:solidFill>
                <a:latin typeface="+mj-lt"/>
              </a:rPr>
              <a:t>Planned</a:t>
            </a:r>
            <a:br>
              <a:rPr lang="en-US" sz="2600" dirty="0">
                <a:solidFill>
                  <a:srgbClr val="000000"/>
                </a:solidFill>
                <a:latin typeface="+mj-lt"/>
              </a:rPr>
            </a:br>
            <a:r>
              <a:rPr lang="en-US" sz="2600" dirty="0">
                <a:solidFill>
                  <a:srgbClr val="000000"/>
                </a:solidFill>
                <a:latin typeface="+mj-lt"/>
              </a:rPr>
              <a:t>Maintenance</a:t>
            </a:r>
            <a:endParaRPr lang="en-US" sz="2600" dirty="0">
              <a:solidFill>
                <a:srgbClr val="000000"/>
              </a:solidFill>
            </a:endParaRPr>
          </a:p>
        </p:txBody>
      </p:sp>
      <p:sp>
        <p:nvSpPr>
          <p:cNvPr id="16" name="Rectangle 15">
            <a:extLst>
              <a:ext uri="{FF2B5EF4-FFF2-40B4-BE49-F238E27FC236}">
                <a16:creationId xmlns:a16="http://schemas.microsoft.com/office/drawing/2014/main" id="{53BBC06A-2B97-2611-FC38-1C0D5002FB1F}"/>
              </a:ext>
              <a:ext uri="{C183D7F6-B498-43B3-948B-1728B52AA6E4}">
                <adec:decorative xmlns:adec="http://schemas.microsoft.com/office/drawing/2017/decorative" val="0"/>
              </a:ext>
            </a:extLst>
          </p:cNvPr>
          <p:cNvSpPr/>
          <p:nvPr/>
        </p:nvSpPr>
        <p:spPr bwMode="auto">
          <a:xfrm>
            <a:off x="8378249" y="3667263"/>
            <a:ext cx="3752503" cy="2691446"/>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37160" rIns="182880" bIns="137160" numCol="1" spcCol="0" rtlCol="0" fromWordArt="0" anchor="t" anchorCtr="0" forceAA="0" compatLnSpc="1">
            <a:prstTxWarp prst="textNoShape">
              <a:avLst/>
            </a:prstTxWarp>
            <a:noAutofit/>
          </a:bodyPr>
          <a:lstStyle/>
          <a:p>
            <a:pPr marL="57150">
              <a:spcBef>
                <a:spcPts val="300"/>
              </a:spcBef>
              <a:spcAft>
                <a:spcPts val="600"/>
              </a:spcAft>
              <a:tabLst>
                <a:tab pos="342900" algn="l"/>
              </a:tabLst>
            </a:pPr>
            <a:r>
              <a:rPr lang="en-US" sz="2200" dirty="0">
                <a:solidFill>
                  <a:schemeClr val="tx1"/>
                </a:solidFill>
                <a:latin typeface="+mj-lt"/>
              </a:rPr>
              <a:t>Planned Maintenance </a:t>
            </a:r>
            <a:r>
              <a:rPr lang="en-US" sz="2200" dirty="0">
                <a:solidFill>
                  <a:schemeClr val="tx1"/>
                </a:solidFill>
              </a:rPr>
              <a:t>events are periodic updates made to the Azure platform</a:t>
            </a:r>
          </a:p>
          <a:p>
            <a:pPr marL="57150">
              <a:spcBef>
                <a:spcPts val="300"/>
              </a:spcBef>
              <a:spcAft>
                <a:spcPts val="600"/>
              </a:spcAft>
              <a:tabLst>
                <a:tab pos="342900" algn="l"/>
              </a:tabLst>
            </a:pPr>
            <a:r>
              <a:rPr lang="en-US" sz="2200" dirty="0">
                <a:solidFill>
                  <a:schemeClr val="tx1"/>
                </a:solidFill>
                <a:latin typeface="+mj-lt"/>
              </a:rPr>
              <a:t>Action: </a:t>
            </a:r>
            <a:r>
              <a:rPr lang="en-US" sz="2200" dirty="0">
                <a:solidFill>
                  <a:schemeClr val="tx1"/>
                </a:solidFill>
              </a:rPr>
              <a:t>No action</a:t>
            </a:r>
          </a:p>
        </p:txBody>
      </p:sp>
    </p:spTree>
    <p:extLst>
      <p:ext uri="{BB962C8B-B14F-4D97-AF65-F5344CB8AC3E}">
        <p14:creationId xmlns:p14="http://schemas.microsoft.com/office/powerpoint/2010/main" val="38179184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13</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Title 16">
            <a:extLst>
              <a:ext uri="{FF2B5EF4-FFF2-40B4-BE49-F238E27FC236}">
                <a16:creationId xmlns:a16="http://schemas.microsoft.com/office/drawing/2014/main" id="{ADF43148-005E-46A4-D359-D086A62DFEA5}"/>
              </a:ext>
            </a:extLst>
          </p:cNvPr>
          <p:cNvSpPr txBox="1">
            <a:spLocks/>
          </p:cNvSpPr>
          <p:nvPr/>
        </p:nvSpPr>
        <p:spPr>
          <a:xfrm>
            <a:off x="459007" y="1067165"/>
            <a:ext cx="11530584" cy="83002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t>Setup Availability Sets</a:t>
            </a:r>
          </a:p>
        </p:txBody>
      </p:sp>
      <p:pic>
        <p:nvPicPr>
          <p:cNvPr id="11" name="Picture 4" descr="A screenshot of creating an Availability Set in the portal">
            <a:extLst>
              <a:ext uri="{FF2B5EF4-FFF2-40B4-BE49-F238E27FC236}">
                <a16:creationId xmlns:a16="http://schemas.microsoft.com/office/drawing/2014/main" id="{A5C240BA-08E2-AB2F-9B9A-ED29CC3F0DD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7426" y="2002508"/>
            <a:ext cx="7416296" cy="2234831"/>
          </a:xfrm>
          <a:prstGeom prst="rect">
            <a:avLst/>
          </a:prstGeom>
        </p:spPr>
      </p:pic>
      <p:sp>
        <p:nvSpPr>
          <p:cNvPr id="12" name="Rectangle 11">
            <a:extLst>
              <a:ext uri="{FF2B5EF4-FFF2-40B4-BE49-F238E27FC236}">
                <a16:creationId xmlns:a16="http://schemas.microsoft.com/office/drawing/2014/main" id="{1D9FEFE9-C288-D00D-9971-AD4FEAFA9C1D}"/>
              </a:ext>
            </a:extLst>
          </p:cNvPr>
          <p:cNvSpPr/>
          <p:nvPr/>
        </p:nvSpPr>
        <p:spPr>
          <a:xfrm>
            <a:off x="361147" y="4838932"/>
            <a:ext cx="2787671" cy="1497647"/>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t" anchorCtr="0">
            <a:noAutofit/>
          </a:bodyPr>
          <a:lstStyle/>
          <a:p>
            <a:r>
              <a:rPr lang="en-US" sz="2200" dirty="0">
                <a:solidFill>
                  <a:schemeClr val="tx1"/>
                </a:solidFill>
              </a:rPr>
              <a:t>Configure multiple Virtual Machines in an Availability Set</a:t>
            </a:r>
            <a:endParaRPr lang="bs-Latn-BA" sz="2200" dirty="0">
              <a:solidFill>
                <a:schemeClr val="tx1"/>
              </a:solidFill>
            </a:endParaRPr>
          </a:p>
        </p:txBody>
      </p:sp>
      <p:sp>
        <p:nvSpPr>
          <p:cNvPr id="13" name="Rectangle 12">
            <a:extLst>
              <a:ext uri="{FF2B5EF4-FFF2-40B4-BE49-F238E27FC236}">
                <a16:creationId xmlns:a16="http://schemas.microsoft.com/office/drawing/2014/main" id="{80EE8300-A2EE-7EF2-175F-8CD6DA553D07}"/>
              </a:ext>
            </a:extLst>
          </p:cNvPr>
          <p:cNvSpPr/>
          <p:nvPr/>
        </p:nvSpPr>
        <p:spPr>
          <a:xfrm>
            <a:off x="3292723" y="4838932"/>
            <a:ext cx="2787671" cy="1497647"/>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t" anchorCtr="0">
            <a:noAutofit/>
          </a:bodyPr>
          <a:lstStyle/>
          <a:p>
            <a:r>
              <a:rPr lang="en-US" sz="2200" dirty="0">
                <a:solidFill>
                  <a:schemeClr val="tx1"/>
                </a:solidFill>
              </a:rPr>
              <a:t>Configure each application tier</a:t>
            </a:r>
            <a:br>
              <a:rPr lang="en-US" sz="2200" dirty="0">
                <a:solidFill>
                  <a:schemeClr val="tx1"/>
                </a:solidFill>
              </a:rPr>
            </a:br>
            <a:r>
              <a:rPr lang="en-US" sz="2200" dirty="0">
                <a:solidFill>
                  <a:schemeClr val="tx1"/>
                </a:solidFill>
              </a:rPr>
              <a:t>into separate Availability Sets</a:t>
            </a:r>
          </a:p>
        </p:txBody>
      </p:sp>
      <p:sp>
        <p:nvSpPr>
          <p:cNvPr id="14" name="Rectangle 13">
            <a:extLst>
              <a:ext uri="{FF2B5EF4-FFF2-40B4-BE49-F238E27FC236}">
                <a16:creationId xmlns:a16="http://schemas.microsoft.com/office/drawing/2014/main" id="{77C0A565-B814-50FC-B718-DB1B5DA163DB}"/>
              </a:ext>
            </a:extLst>
          </p:cNvPr>
          <p:cNvSpPr/>
          <p:nvPr/>
        </p:nvSpPr>
        <p:spPr>
          <a:xfrm>
            <a:off x="6224299" y="4838932"/>
            <a:ext cx="2787671" cy="1497647"/>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t" anchorCtr="0">
            <a:noAutofit/>
          </a:bodyPr>
          <a:lstStyle/>
          <a:p>
            <a:r>
              <a:rPr lang="en-US" sz="2200" dirty="0">
                <a:solidFill>
                  <a:schemeClr val="tx1"/>
                </a:solidFill>
              </a:rPr>
              <a:t>Combine a Load Balancer with Availability Sets</a:t>
            </a:r>
          </a:p>
        </p:txBody>
      </p:sp>
      <p:sp>
        <p:nvSpPr>
          <p:cNvPr id="15" name="Rectangle 14">
            <a:extLst>
              <a:ext uri="{FF2B5EF4-FFF2-40B4-BE49-F238E27FC236}">
                <a16:creationId xmlns:a16="http://schemas.microsoft.com/office/drawing/2014/main" id="{27CDDD40-D007-887E-A2D3-A11535F44DCC}"/>
              </a:ext>
            </a:extLst>
          </p:cNvPr>
          <p:cNvSpPr/>
          <p:nvPr/>
        </p:nvSpPr>
        <p:spPr>
          <a:xfrm>
            <a:off x="9155876" y="4838932"/>
            <a:ext cx="2787671" cy="1497647"/>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t" anchorCtr="0">
            <a:noAutofit/>
          </a:bodyPr>
          <a:lstStyle/>
          <a:p>
            <a:r>
              <a:rPr lang="en-US" sz="2200" dirty="0">
                <a:solidFill>
                  <a:schemeClr val="tx1"/>
                </a:solidFill>
              </a:rPr>
              <a:t>Use managed disks with the Virtual Machines</a:t>
            </a:r>
          </a:p>
        </p:txBody>
      </p:sp>
      <p:sp>
        <p:nvSpPr>
          <p:cNvPr id="22" name="Rectangle 21">
            <a:extLst>
              <a:ext uri="{FF2B5EF4-FFF2-40B4-BE49-F238E27FC236}">
                <a16:creationId xmlns:a16="http://schemas.microsoft.com/office/drawing/2014/main" id="{5017A1A2-286B-588C-5CAE-5D9B945399EC}"/>
              </a:ext>
            </a:extLst>
          </p:cNvPr>
          <p:cNvSpPr/>
          <p:nvPr/>
        </p:nvSpPr>
        <p:spPr>
          <a:xfrm>
            <a:off x="8264253" y="2176093"/>
            <a:ext cx="3450347" cy="615553"/>
          </a:xfrm>
          <a:prstGeom prst="rect">
            <a:avLst/>
          </a:prstGeom>
        </p:spPr>
        <p:txBody>
          <a:bodyPr wrap="square" lIns="0" tIns="0" rIns="0" bIns="0" anchor="ctr">
            <a:spAutoFit/>
          </a:bodyPr>
          <a:lstStyle/>
          <a:p>
            <a:r>
              <a:rPr lang="en-US" sz="2000" dirty="0">
                <a:cs typeface="Segoe UI" panose="020B0502040204020203" pitchFamily="34" charset="0"/>
              </a:rPr>
              <a:t>Two or more instances in Availability Sets = 99.95% SLA</a:t>
            </a:r>
          </a:p>
        </p:txBody>
      </p:sp>
    </p:spTree>
    <p:extLst>
      <p:ext uri="{BB962C8B-B14F-4D97-AF65-F5344CB8AC3E}">
        <p14:creationId xmlns:p14="http://schemas.microsoft.com/office/powerpoint/2010/main" val="20498707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14</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0" name="Title 16">
            <a:extLst>
              <a:ext uri="{FF2B5EF4-FFF2-40B4-BE49-F238E27FC236}">
                <a16:creationId xmlns:a16="http://schemas.microsoft.com/office/drawing/2014/main" id="{C1C0BA73-8900-9BB2-57E0-C40D2296AB43}"/>
              </a:ext>
            </a:extLst>
          </p:cNvPr>
          <p:cNvSpPr txBox="1">
            <a:spLocks/>
          </p:cNvSpPr>
          <p:nvPr/>
        </p:nvSpPr>
        <p:spPr>
          <a:xfrm>
            <a:off x="572387" y="1233678"/>
            <a:ext cx="11530584" cy="83002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t>Review Update and Fault Domains</a:t>
            </a:r>
          </a:p>
        </p:txBody>
      </p:sp>
      <p:sp>
        <p:nvSpPr>
          <p:cNvPr id="11" name="Rectangle 10">
            <a:extLst>
              <a:ext uri="{FF2B5EF4-FFF2-40B4-BE49-F238E27FC236}">
                <a16:creationId xmlns:a16="http://schemas.microsoft.com/office/drawing/2014/main" id="{F20CDDF4-32BF-C220-F498-2E2E7018BAE4}"/>
              </a:ext>
            </a:extLst>
          </p:cNvPr>
          <p:cNvSpPr/>
          <p:nvPr/>
        </p:nvSpPr>
        <p:spPr>
          <a:xfrm>
            <a:off x="572387" y="2104183"/>
            <a:ext cx="4319774" cy="205930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t" anchorCtr="0">
            <a:noAutofit/>
          </a:bodyPr>
          <a:lstStyle/>
          <a:p>
            <a:r>
              <a:rPr lang="en-US" sz="2000" dirty="0">
                <a:solidFill>
                  <a:schemeClr val="tx2">
                    <a:lumMod val="50000"/>
                  </a:schemeClr>
                </a:solidFill>
                <a:latin typeface="+mj-lt"/>
              </a:rPr>
              <a:t>Update domains </a:t>
            </a:r>
            <a:r>
              <a:rPr lang="en-US" sz="2000" dirty="0">
                <a:solidFill>
                  <a:schemeClr val="tx1"/>
                </a:solidFill>
              </a:rPr>
              <a:t>allows Azure to perform incremental or rolling upgrades across a deployment.</a:t>
            </a:r>
            <a:br>
              <a:rPr lang="en-US" sz="2000" dirty="0">
                <a:solidFill>
                  <a:schemeClr val="tx1"/>
                </a:solidFill>
              </a:rPr>
            </a:br>
            <a:r>
              <a:rPr lang="en-US" sz="2000" dirty="0">
                <a:solidFill>
                  <a:schemeClr val="tx1"/>
                </a:solidFill>
              </a:rPr>
              <a:t>During planned maintenance,</a:t>
            </a:r>
            <a:br>
              <a:rPr lang="en-US" sz="2000" dirty="0">
                <a:solidFill>
                  <a:schemeClr val="tx1"/>
                </a:solidFill>
              </a:rPr>
            </a:br>
            <a:r>
              <a:rPr lang="en-US" sz="2000" dirty="0">
                <a:solidFill>
                  <a:schemeClr val="tx1"/>
                </a:solidFill>
              </a:rPr>
              <a:t>only one update domain is rebooted at a time</a:t>
            </a:r>
          </a:p>
        </p:txBody>
      </p:sp>
      <p:sp>
        <p:nvSpPr>
          <p:cNvPr id="12" name="Rectangle 11">
            <a:extLst>
              <a:ext uri="{FF2B5EF4-FFF2-40B4-BE49-F238E27FC236}">
                <a16:creationId xmlns:a16="http://schemas.microsoft.com/office/drawing/2014/main" id="{B111BE97-25AB-DFA1-88E6-D9F06D0CDC03}"/>
              </a:ext>
            </a:extLst>
          </p:cNvPr>
          <p:cNvSpPr/>
          <p:nvPr/>
        </p:nvSpPr>
        <p:spPr>
          <a:xfrm>
            <a:off x="572387" y="4391271"/>
            <a:ext cx="4319774" cy="2331999"/>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t" anchorCtr="0">
            <a:noAutofit/>
          </a:bodyPr>
          <a:lstStyle/>
          <a:p>
            <a:r>
              <a:rPr lang="en-US" sz="2000" dirty="0">
                <a:solidFill>
                  <a:schemeClr val="tx2">
                    <a:lumMod val="50000"/>
                  </a:schemeClr>
                </a:solidFill>
                <a:latin typeface="+mj-lt"/>
              </a:rPr>
              <a:t>Fault Domains </a:t>
            </a:r>
            <a:r>
              <a:rPr lang="en-US" sz="2000" dirty="0">
                <a:solidFill>
                  <a:schemeClr val="tx1"/>
                </a:solidFill>
              </a:rPr>
              <a:t>are a group of Virtual Machines that share a common set of hardware, switches, that share a single point of failure. VMs in an availability set are placed in at least two fault domains</a:t>
            </a:r>
          </a:p>
        </p:txBody>
      </p:sp>
      <p:pic>
        <p:nvPicPr>
          <p:cNvPr id="13" name="Picture 12" descr="An illustration showing two fault domains with two virtual machines each. The two top virtual machines from each fault domain host Internet information service and are part of a common availability set. The next two virtual machines in each domain host SQL database and are part of another availability set">
            <a:extLst>
              <a:ext uri="{FF2B5EF4-FFF2-40B4-BE49-F238E27FC236}">
                <a16:creationId xmlns:a16="http://schemas.microsoft.com/office/drawing/2014/main" id="{315B6760-438E-7549-1B0D-8A212A5E5720}"/>
              </a:ext>
            </a:extLst>
          </p:cNvPr>
          <p:cNvPicPr>
            <a:picLocks noChangeAspect="1"/>
          </p:cNvPicPr>
          <p:nvPr/>
        </p:nvPicPr>
        <p:blipFill>
          <a:blip r:embed="rId7"/>
          <a:stretch>
            <a:fillRect/>
          </a:stretch>
        </p:blipFill>
        <p:spPr>
          <a:xfrm>
            <a:off x="5203969" y="2328492"/>
            <a:ext cx="6847094" cy="3669982"/>
          </a:xfrm>
          <a:prstGeom prst="rect">
            <a:avLst/>
          </a:prstGeom>
        </p:spPr>
      </p:pic>
    </p:spTree>
    <p:extLst>
      <p:ext uri="{BB962C8B-B14F-4D97-AF65-F5344CB8AC3E}">
        <p14:creationId xmlns:p14="http://schemas.microsoft.com/office/powerpoint/2010/main" val="24350451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15</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Title 1">
            <a:extLst>
              <a:ext uri="{FF2B5EF4-FFF2-40B4-BE49-F238E27FC236}">
                <a16:creationId xmlns:a16="http://schemas.microsoft.com/office/drawing/2014/main" id="{3D37B59C-6A9F-0D01-4690-F4134C678192}"/>
              </a:ext>
            </a:extLst>
          </p:cNvPr>
          <p:cNvSpPr txBox="1">
            <a:spLocks/>
          </p:cNvSpPr>
          <p:nvPr/>
        </p:nvSpPr>
        <p:spPr>
          <a:xfrm>
            <a:off x="837329" y="977512"/>
            <a:ext cx="11530584" cy="83002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t>Review Availability Zones</a:t>
            </a:r>
            <a:endParaRPr lang="en-US" dirty="0"/>
          </a:p>
        </p:txBody>
      </p:sp>
      <p:sp>
        <p:nvSpPr>
          <p:cNvPr id="11" name="Rectangle 10">
            <a:extLst>
              <a:ext uri="{FF2B5EF4-FFF2-40B4-BE49-F238E27FC236}">
                <a16:creationId xmlns:a16="http://schemas.microsoft.com/office/drawing/2014/main" id="{EC282E42-A1F8-B446-89DF-32BAE1372E31}"/>
              </a:ext>
            </a:extLst>
          </p:cNvPr>
          <p:cNvSpPr/>
          <p:nvPr/>
        </p:nvSpPr>
        <p:spPr>
          <a:xfrm>
            <a:off x="837330" y="1917717"/>
            <a:ext cx="5059365" cy="84914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ctr" anchorCtr="0">
            <a:noAutofit/>
          </a:bodyPr>
          <a:lstStyle/>
          <a:p>
            <a:r>
              <a:rPr lang="en-US" sz="2000" dirty="0">
                <a:solidFill>
                  <a:schemeClr val="tx1"/>
                </a:solidFill>
              </a:rPr>
              <a:t>Unique physical locations</a:t>
            </a:r>
            <a:br>
              <a:rPr lang="en-US" sz="2000" dirty="0">
                <a:solidFill>
                  <a:schemeClr val="tx1"/>
                </a:solidFill>
              </a:rPr>
            </a:br>
            <a:r>
              <a:rPr lang="en-US" sz="2000" dirty="0">
                <a:solidFill>
                  <a:schemeClr val="tx1"/>
                </a:solidFill>
              </a:rPr>
              <a:t>in a region </a:t>
            </a:r>
          </a:p>
        </p:txBody>
      </p:sp>
      <p:sp>
        <p:nvSpPr>
          <p:cNvPr id="12" name="Rectangle 11">
            <a:extLst>
              <a:ext uri="{FF2B5EF4-FFF2-40B4-BE49-F238E27FC236}">
                <a16:creationId xmlns:a16="http://schemas.microsoft.com/office/drawing/2014/main" id="{4A646EA0-9ED2-F2E0-0E6B-2AB61612C4FE}"/>
              </a:ext>
            </a:extLst>
          </p:cNvPr>
          <p:cNvSpPr/>
          <p:nvPr/>
        </p:nvSpPr>
        <p:spPr>
          <a:xfrm>
            <a:off x="837329" y="2922885"/>
            <a:ext cx="5059365" cy="948078"/>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ctr" anchorCtr="0">
            <a:noAutofit/>
          </a:bodyPr>
          <a:lstStyle/>
          <a:p>
            <a:r>
              <a:rPr lang="en-US" sz="2000" dirty="0">
                <a:solidFill>
                  <a:schemeClr val="tx1"/>
                </a:solidFill>
              </a:rPr>
              <a:t>Includes datacenters with independent power, cooling, and networking</a:t>
            </a:r>
          </a:p>
        </p:txBody>
      </p:sp>
      <p:sp>
        <p:nvSpPr>
          <p:cNvPr id="13" name="Rectangle 12">
            <a:extLst>
              <a:ext uri="{FF2B5EF4-FFF2-40B4-BE49-F238E27FC236}">
                <a16:creationId xmlns:a16="http://schemas.microsoft.com/office/drawing/2014/main" id="{1D264A81-6EF4-4F41-637A-F3FFF026DCB2}"/>
              </a:ext>
            </a:extLst>
          </p:cNvPr>
          <p:cNvSpPr/>
          <p:nvPr/>
        </p:nvSpPr>
        <p:spPr>
          <a:xfrm>
            <a:off x="837329" y="4055660"/>
            <a:ext cx="5059365" cy="564569"/>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ctr" anchorCtr="0">
            <a:noAutofit/>
          </a:bodyPr>
          <a:lstStyle/>
          <a:p>
            <a:r>
              <a:rPr lang="en-US" sz="2000" dirty="0">
                <a:solidFill>
                  <a:schemeClr val="tx1"/>
                </a:solidFill>
              </a:rPr>
              <a:t>Protects from datacenter failures</a:t>
            </a:r>
          </a:p>
        </p:txBody>
      </p:sp>
      <p:sp>
        <p:nvSpPr>
          <p:cNvPr id="14" name="Rectangle 13">
            <a:extLst>
              <a:ext uri="{FF2B5EF4-FFF2-40B4-BE49-F238E27FC236}">
                <a16:creationId xmlns:a16="http://schemas.microsoft.com/office/drawing/2014/main" id="{D2A3ECE6-0C45-D8FD-62A7-4ABC7E90E2AF}"/>
              </a:ext>
            </a:extLst>
          </p:cNvPr>
          <p:cNvSpPr/>
          <p:nvPr/>
        </p:nvSpPr>
        <p:spPr>
          <a:xfrm>
            <a:off x="837329" y="4804924"/>
            <a:ext cx="5059365" cy="709124"/>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ctr" anchorCtr="0">
            <a:noAutofit/>
          </a:bodyPr>
          <a:lstStyle/>
          <a:p>
            <a:r>
              <a:rPr lang="en-US" sz="2000" dirty="0">
                <a:solidFill>
                  <a:schemeClr val="tx1"/>
                </a:solidFill>
              </a:rPr>
              <a:t>Combines update and</a:t>
            </a:r>
            <a:br>
              <a:rPr lang="en-US" sz="2000" dirty="0">
                <a:solidFill>
                  <a:schemeClr val="tx1"/>
                </a:solidFill>
              </a:rPr>
            </a:br>
            <a:r>
              <a:rPr lang="en-US" sz="2000" dirty="0">
                <a:solidFill>
                  <a:schemeClr val="tx1"/>
                </a:solidFill>
              </a:rPr>
              <a:t>fault domains</a:t>
            </a:r>
          </a:p>
        </p:txBody>
      </p:sp>
      <p:sp>
        <p:nvSpPr>
          <p:cNvPr id="15" name="Rectangle 14">
            <a:extLst>
              <a:ext uri="{FF2B5EF4-FFF2-40B4-BE49-F238E27FC236}">
                <a16:creationId xmlns:a16="http://schemas.microsoft.com/office/drawing/2014/main" id="{150937D4-A1E9-48C2-CE39-4F800D75D5A7}"/>
              </a:ext>
            </a:extLst>
          </p:cNvPr>
          <p:cNvSpPr/>
          <p:nvPr/>
        </p:nvSpPr>
        <p:spPr>
          <a:xfrm>
            <a:off x="837329" y="5698744"/>
            <a:ext cx="5059365" cy="61965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ctr" anchorCtr="0">
            <a:noAutofit/>
          </a:bodyPr>
          <a:lstStyle/>
          <a:p>
            <a:r>
              <a:rPr lang="en-US" sz="2000" dirty="0">
                <a:solidFill>
                  <a:schemeClr val="tx1"/>
                </a:solidFill>
              </a:rPr>
              <a:t>Provides 99.99% SLA​</a:t>
            </a:r>
          </a:p>
        </p:txBody>
      </p:sp>
      <p:pic>
        <p:nvPicPr>
          <p:cNvPr id="16" name="Picture 15" descr="Screenshot of an Azure region that shows Availability Zone 1, 2 and 3 are connected to one another">
            <a:extLst>
              <a:ext uri="{FF2B5EF4-FFF2-40B4-BE49-F238E27FC236}">
                <a16:creationId xmlns:a16="http://schemas.microsoft.com/office/drawing/2014/main" id="{0A82D06F-B316-2784-0C01-20D2002F207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56156" y="1618520"/>
            <a:ext cx="5532317" cy="4960388"/>
          </a:xfrm>
          <a:prstGeom prst="rect">
            <a:avLst/>
          </a:prstGeom>
          <a:ln>
            <a:noFill/>
          </a:ln>
        </p:spPr>
      </p:pic>
    </p:spTree>
    <p:extLst>
      <p:ext uri="{BB962C8B-B14F-4D97-AF65-F5344CB8AC3E}">
        <p14:creationId xmlns:p14="http://schemas.microsoft.com/office/powerpoint/2010/main" val="15294033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16</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Title 1">
            <a:extLst>
              <a:ext uri="{FF2B5EF4-FFF2-40B4-BE49-F238E27FC236}">
                <a16:creationId xmlns:a16="http://schemas.microsoft.com/office/drawing/2014/main" id="{9C42249E-2AAB-F530-EF15-528847310D5D}"/>
              </a:ext>
            </a:extLst>
          </p:cNvPr>
          <p:cNvSpPr txBox="1">
            <a:spLocks/>
          </p:cNvSpPr>
          <p:nvPr/>
        </p:nvSpPr>
        <p:spPr>
          <a:xfrm>
            <a:off x="401616" y="1256646"/>
            <a:ext cx="11530584" cy="83002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t>Compare Vertical to Horizontal Scaling</a:t>
            </a:r>
          </a:p>
        </p:txBody>
      </p:sp>
      <p:sp>
        <p:nvSpPr>
          <p:cNvPr id="11" name="Rectangle 10">
            <a:extLst>
              <a:ext uri="{FF2B5EF4-FFF2-40B4-BE49-F238E27FC236}">
                <a16:creationId xmlns:a16="http://schemas.microsoft.com/office/drawing/2014/main" id="{E25D7DD7-2C6F-3022-4E42-0D117CFEF6F1}"/>
              </a:ext>
            </a:extLst>
          </p:cNvPr>
          <p:cNvSpPr/>
          <p:nvPr/>
        </p:nvSpPr>
        <p:spPr>
          <a:xfrm>
            <a:off x="1115948" y="4711111"/>
            <a:ext cx="4315968" cy="1965976"/>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ctr" anchorCtr="0">
            <a:noAutofit/>
          </a:bodyPr>
          <a:lstStyle/>
          <a:p>
            <a:r>
              <a:rPr lang="en-US" sz="2000" dirty="0">
                <a:solidFill>
                  <a:schemeClr val="tx2">
                    <a:lumMod val="50000"/>
                  </a:schemeClr>
                </a:solidFill>
              </a:rPr>
              <a:t>Vertical scaling </a:t>
            </a:r>
            <a:r>
              <a:rPr lang="en-US" sz="2000" dirty="0">
                <a:solidFill>
                  <a:schemeClr val="tx1"/>
                </a:solidFill>
              </a:rPr>
              <a:t>(scale up and scale down) is the process of increasing or decreasing power to a single instance of a workload; usually manual​</a:t>
            </a:r>
          </a:p>
        </p:txBody>
      </p:sp>
      <p:sp>
        <p:nvSpPr>
          <p:cNvPr id="12" name="Rectangle 11">
            <a:extLst>
              <a:ext uri="{FF2B5EF4-FFF2-40B4-BE49-F238E27FC236}">
                <a16:creationId xmlns:a16="http://schemas.microsoft.com/office/drawing/2014/main" id="{DA0F910D-4F07-14C6-7CD4-D7E41F1D9682}"/>
              </a:ext>
            </a:extLst>
          </p:cNvPr>
          <p:cNvSpPr/>
          <p:nvPr/>
        </p:nvSpPr>
        <p:spPr>
          <a:xfrm>
            <a:off x="6689216" y="4749072"/>
            <a:ext cx="4315968" cy="1890055"/>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ctr" anchorCtr="0">
            <a:noAutofit/>
          </a:bodyPr>
          <a:lstStyle/>
          <a:p>
            <a:r>
              <a:rPr lang="en-US" sz="2000" dirty="0">
                <a:solidFill>
                  <a:schemeClr val="tx2">
                    <a:lumMod val="50000"/>
                  </a:schemeClr>
                </a:solidFill>
              </a:rPr>
              <a:t>Horizontal scaling </a:t>
            </a:r>
            <a:r>
              <a:rPr lang="en-US" sz="2000" dirty="0">
                <a:solidFill>
                  <a:schemeClr val="tx1"/>
                </a:solidFill>
              </a:rPr>
              <a:t>(scale out</a:t>
            </a:r>
            <a:br>
              <a:rPr lang="en-US" sz="2000" dirty="0">
                <a:solidFill>
                  <a:schemeClr val="tx1"/>
                </a:solidFill>
              </a:rPr>
            </a:br>
            <a:r>
              <a:rPr lang="en-US" sz="2000" dirty="0">
                <a:solidFill>
                  <a:schemeClr val="tx1"/>
                </a:solidFill>
              </a:rPr>
              <a:t>and scale in) is the process of increasing or decreasing the number of instances of a</a:t>
            </a:r>
            <a:br>
              <a:rPr lang="en-US" sz="2000" dirty="0">
                <a:solidFill>
                  <a:schemeClr val="tx1"/>
                </a:solidFill>
              </a:rPr>
            </a:br>
            <a:r>
              <a:rPr lang="en-US" sz="2000" dirty="0">
                <a:solidFill>
                  <a:schemeClr val="tx1"/>
                </a:solidFill>
              </a:rPr>
              <a:t>workload; frequently automated</a:t>
            </a:r>
          </a:p>
        </p:txBody>
      </p:sp>
      <p:pic>
        <p:nvPicPr>
          <p:cNvPr id="13" name="Picture 12">
            <a:extLst>
              <a:ext uri="{FF2B5EF4-FFF2-40B4-BE49-F238E27FC236}">
                <a16:creationId xmlns:a16="http://schemas.microsoft.com/office/drawing/2014/main" id="{D7B5CAD9-1E59-608A-7CFC-1D6C6EEAEB1C}"/>
              </a:ex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1230819" y="2453686"/>
            <a:ext cx="4086225" cy="2124075"/>
          </a:xfrm>
          <a:prstGeom prst="rect">
            <a:avLst/>
          </a:prstGeom>
        </p:spPr>
      </p:pic>
      <p:pic>
        <p:nvPicPr>
          <p:cNvPr id="14" name="Picture 13">
            <a:extLst>
              <a:ext uri="{FF2B5EF4-FFF2-40B4-BE49-F238E27FC236}">
                <a16:creationId xmlns:a16="http://schemas.microsoft.com/office/drawing/2014/main" id="{F0592886-1019-87EA-C7D7-BB550545F4D1}"/>
              </a:ex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6839466" y="2320336"/>
            <a:ext cx="3819525" cy="2390775"/>
          </a:xfrm>
          <a:prstGeom prst="rect">
            <a:avLst/>
          </a:prstGeom>
        </p:spPr>
      </p:pic>
    </p:spTree>
    <p:extLst>
      <p:ext uri="{BB962C8B-B14F-4D97-AF65-F5344CB8AC3E}">
        <p14:creationId xmlns:p14="http://schemas.microsoft.com/office/powerpoint/2010/main" val="3325760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17</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Title 1">
            <a:extLst>
              <a:ext uri="{FF2B5EF4-FFF2-40B4-BE49-F238E27FC236}">
                <a16:creationId xmlns:a16="http://schemas.microsoft.com/office/drawing/2014/main" id="{7A42EC8B-FA94-3CF9-034F-766D4D8846EB}"/>
              </a:ext>
            </a:extLst>
          </p:cNvPr>
          <p:cNvSpPr txBox="1">
            <a:spLocks/>
          </p:cNvSpPr>
          <p:nvPr/>
        </p:nvSpPr>
        <p:spPr>
          <a:xfrm>
            <a:off x="330708" y="1194196"/>
            <a:ext cx="11530584" cy="83002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t>Create Scale Sets</a:t>
            </a:r>
          </a:p>
        </p:txBody>
      </p:sp>
      <p:sp>
        <p:nvSpPr>
          <p:cNvPr id="11" name="Rectangle 10">
            <a:extLst>
              <a:ext uri="{FF2B5EF4-FFF2-40B4-BE49-F238E27FC236}">
                <a16:creationId xmlns:a16="http://schemas.microsoft.com/office/drawing/2014/main" id="{CBFE7B9B-9D0F-8456-97A8-5764FF154BC9}"/>
              </a:ext>
            </a:extLst>
          </p:cNvPr>
          <p:cNvSpPr/>
          <p:nvPr/>
        </p:nvSpPr>
        <p:spPr>
          <a:xfrm>
            <a:off x="465565" y="2024216"/>
            <a:ext cx="4475163" cy="868834"/>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dirty="0">
                <a:solidFill>
                  <a:schemeClr val="tx1"/>
                </a:solidFill>
                <a:latin typeface="+mj-lt"/>
                <a:cs typeface="Segoe UI" panose="020B0502040204020203" pitchFamily="34" charset="0"/>
              </a:rPr>
              <a:t>Instance count. </a:t>
            </a:r>
            <a:r>
              <a:rPr lang="en-US" sz="2000" dirty="0">
                <a:solidFill>
                  <a:schemeClr val="tx1"/>
                </a:solidFill>
                <a:cs typeface="Segoe UI" panose="020B0502040204020203" pitchFamily="34" charset="0"/>
              </a:rPr>
              <a:t>Number of VMs in the scale set (0 to 1000)</a:t>
            </a:r>
          </a:p>
        </p:txBody>
      </p:sp>
      <p:sp>
        <p:nvSpPr>
          <p:cNvPr id="12" name="Rectangle 11">
            <a:extLst>
              <a:ext uri="{FF2B5EF4-FFF2-40B4-BE49-F238E27FC236}">
                <a16:creationId xmlns:a16="http://schemas.microsoft.com/office/drawing/2014/main" id="{98C2E1BF-0E95-0DD1-66BC-8B7C6DAF1FFE}"/>
              </a:ext>
            </a:extLst>
          </p:cNvPr>
          <p:cNvSpPr/>
          <p:nvPr/>
        </p:nvSpPr>
        <p:spPr>
          <a:xfrm>
            <a:off x="465565" y="3019026"/>
            <a:ext cx="4475163" cy="914648"/>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dirty="0">
                <a:solidFill>
                  <a:schemeClr val="tx1"/>
                </a:solidFill>
                <a:latin typeface="+mj-lt"/>
                <a:cs typeface="Segoe UI" panose="020B0502040204020203" pitchFamily="34" charset="0"/>
              </a:rPr>
              <a:t>Instance size</a:t>
            </a:r>
            <a:r>
              <a:rPr lang="en-US" sz="2000" dirty="0">
                <a:solidFill>
                  <a:schemeClr val="tx1"/>
                </a:solidFill>
                <a:cs typeface="Segoe UI" panose="020B0502040204020203" pitchFamily="34" charset="0"/>
              </a:rPr>
              <a:t>. The size of each virtual machine in the scale set </a:t>
            </a:r>
          </a:p>
        </p:txBody>
      </p:sp>
      <p:sp>
        <p:nvSpPr>
          <p:cNvPr id="13" name="Rectangle 12">
            <a:extLst>
              <a:ext uri="{FF2B5EF4-FFF2-40B4-BE49-F238E27FC236}">
                <a16:creationId xmlns:a16="http://schemas.microsoft.com/office/drawing/2014/main" id="{A31536DF-4202-914D-DFB9-EE74D6FFCAF1}"/>
              </a:ext>
            </a:extLst>
          </p:cNvPr>
          <p:cNvSpPr/>
          <p:nvPr/>
        </p:nvSpPr>
        <p:spPr>
          <a:xfrm>
            <a:off x="465565" y="4067988"/>
            <a:ext cx="4475163" cy="914648"/>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dirty="0">
                <a:solidFill>
                  <a:schemeClr val="tx1"/>
                </a:solidFill>
                <a:latin typeface="+mj-lt"/>
                <a:cs typeface="Segoe UI" panose="020B0502040204020203" pitchFamily="34" charset="0"/>
              </a:rPr>
              <a:t>Azure Spot Instance. </a:t>
            </a:r>
            <a:r>
              <a:rPr lang="en-US" sz="2000" dirty="0">
                <a:solidFill>
                  <a:schemeClr val="tx1"/>
                </a:solidFill>
                <a:cs typeface="Segoe UI" panose="020B0502040204020203" pitchFamily="34" charset="0"/>
              </a:rPr>
              <a:t>Unused capacity at a discounted rate</a:t>
            </a:r>
          </a:p>
        </p:txBody>
      </p:sp>
      <p:sp>
        <p:nvSpPr>
          <p:cNvPr id="14" name="Rectangle 13">
            <a:extLst>
              <a:ext uri="{FF2B5EF4-FFF2-40B4-BE49-F238E27FC236}">
                <a16:creationId xmlns:a16="http://schemas.microsoft.com/office/drawing/2014/main" id="{06264FC6-B375-9623-F6F2-480F717BB31B}"/>
              </a:ext>
            </a:extLst>
          </p:cNvPr>
          <p:cNvSpPr/>
          <p:nvPr/>
        </p:nvSpPr>
        <p:spPr>
          <a:xfrm>
            <a:off x="465565" y="5135440"/>
            <a:ext cx="4475163" cy="568025"/>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dirty="0">
                <a:solidFill>
                  <a:schemeClr val="tx1"/>
                </a:solidFill>
                <a:latin typeface="+mj-lt"/>
                <a:cs typeface="Segoe UI" panose="020B0502040204020203" pitchFamily="34" charset="0"/>
              </a:rPr>
              <a:t>Use managed disks</a:t>
            </a:r>
          </a:p>
        </p:txBody>
      </p:sp>
      <p:sp>
        <p:nvSpPr>
          <p:cNvPr id="15" name="Rectangle 14">
            <a:extLst>
              <a:ext uri="{FF2B5EF4-FFF2-40B4-BE49-F238E27FC236}">
                <a16:creationId xmlns:a16="http://schemas.microsoft.com/office/drawing/2014/main" id="{400F5E7F-1B8F-19D5-4AE4-54B0C9B4C750}"/>
              </a:ext>
            </a:extLst>
          </p:cNvPr>
          <p:cNvSpPr/>
          <p:nvPr/>
        </p:nvSpPr>
        <p:spPr>
          <a:xfrm>
            <a:off x="465564" y="5856268"/>
            <a:ext cx="4475163" cy="568498"/>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ctr" anchorCtr="0">
            <a:noAutofit/>
          </a:bodyPr>
          <a:lstStyle/>
          <a:p>
            <a:r>
              <a:rPr lang="en-US" sz="2000" dirty="0">
                <a:solidFill>
                  <a:schemeClr val="tx1"/>
                </a:solidFill>
                <a:latin typeface="+mj-lt"/>
                <a:cs typeface="Segoe UI" panose="020B0502040204020203" pitchFamily="34" charset="0"/>
              </a:rPr>
              <a:t>Enable scaling beyond 100 instances</a:t>
            </a:r>
          </a:p>
        </p:txBody>
      </p:sp>
      <p:pic>
        <p:nvPicPr>
          <p:cNvPr id="16" name="Picture 15" descr="A screenshot of an instance page showing the initial instance count to 2">
            <a:extLst>
              <a:ext uri="{FF2B5EF4-FFF2-40B4-BE49-F238E27FC236}">
                <a16:creationId xmlns:a16="http://schemas.microsoft.com/office/drawing/2014/main" id="{A2248B37-47CB-91EB-1BC3-88684FD7F1CC}"/>
              </a:ext>
            </a:extLst>
          </p:cNvPr>
          <p:cNvPicPr>
            <a:picLocks noChangeAspect="1"/>
          </p:cNvPicPr>
          <p:nvPr/>
        </p:nvPicPr>
        <p:blipFill>
          <a:blip r:embed="rId6"/>
          <a:stretch>
            <a:fillRect/>
          </a:stretch>
        </p:blipFill>
        <p:spPr>
          <a:xfrm>
            <a:off x="5153747" y="2024216"/>
            <a:ext cx="7029450" cy="4400550"/>
          </a:xfrm>
          <a:prstGeom prst="rect">
            <a:avLst/>
          </a:prstGeom>
        </p:spPr>
      </p:pic>
    </p:spTree>
    <p:extLst>
      <p:ext uri="{BB962C8B-B14F-4D97-AF65-F5344CB8AC3E}">
        <p14:creationId xmlns:p14="http://schemas.microsoft.com/office/powerpoint/2010/main" val="41352149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18</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Title 16">
            <a:extLst>
              <a:ext uri="{FF2B5EF4-FFF2-40B4-BE49-F238E27FC236}">
                <a16:creationId xmlns:a16="http://schemas.microsoft.com/office/drawing/2014/main" id="{9030B51C-6A3B-87A7-B40B-3CC0C0188B92}"/>
              </a:ext>
            </a:extLst>
          </p:cNvPr>
          <p:cNvSpPr txBox="1">
            <a:spLocks/>
          </p:cNvSpPr>
          <p:nvPr/>
        </p:nvSpPr>
        <p:spPr>
          <a:xfrm>
            <a:off x="379243" y="1062709"/>
            <a:ext cx="11530584" cy="83002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t>Configure </a:t>
            </a:r>
            <a:r>
              <a:rPr lang="en-US" sz="4000" dirty="0" err="1"/>
              <a:t>Autoscale</a:t>
            </a:r>
            <a:endParaRPr lang="en-US" sz="4000" dirty="0"/>
          </a:p>
        </p:txBody>
      </p:sp>
      <p:sp>
        <p:nvSpPr>
          <p:cNvPr id="11" name="Rectangle 10">
            <a:extLst>
              <a:ext uri="{FF2B5EF4-FFF2-40B4-BE49-F238E27FC236}">
                <a16:creationId xmlns:a16="http://schemas.microsoft.com/office/drawing/2014/main" id="{47B48A34-84B1-5323-E3F6-6B815382C228}"/>
              </a:ext>
            </a:extLst>
          </p:cNvPr>
          <p:cNvSpPr/>
          <p:nvPr/>
        </p:nvSpPr>
        <p:spPr>
          <a:xfrm>
            <a:off x="555718" y="2508455"/>
            <a:ext cx="4921036" cy="1685447"/>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ctr" anchorCtr="0">
            <a:noAutofit/>
          </a:bodyPr>
          <a:lstStyle/>
          <a:p>
            <a:r>
              <a:rPr lang="en-US" sz="2400" dirty="0">
                <a:solidFill>
                  <a:schemeClr val="tx1"/>
                </a:solidFill>
              </a:rPr>
              <a:t>Define a minimum, maximum, and default number of VM instances</a:t>
            </a:r>
          </a:p>
        </p:txBody>
      </p:sp>
      <p:sp>
        <p:nvSpPr>
          <p:cNvPr id="12" name="Rectangle 11">
            <a:extLst>
              <a:ext uri="{FF2B5EF4-FFF2-40B4-BE49-F238E27FC236}">
                <a16:creationId xmlns:a16="http://schemas.microsoft.com/office/drawing/2014/main" id="{B69DBC96-BD57-62A7-EA22-63F3F162BCB5}"/>
              </a:ext>
            </a:extLst>
          </p:cNvPr>
          <p:cNvSpPr/>
          <p:nvPr/>
        </p:nvSpPr>
        <p:spPr>
          <a:xfrm>
            <a:off x="555718" y="4409288"/>
            <a:ext cx="4921036" cy="1685447"/>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ctr" anchorCtr="0">
            <a:noAutofit/>
          </a:bodyPr>
          <a:lstStyle/>
          <a:p>
            <a:r>
              <a:rPr lang="en-US" sz="2400" dirty="0">
                <a:solidFill>
                  <a:schemeClr val="tx1"/>
                </a:solidFill>
              </a:rPr>
              <a:t>Create more advanced scale sets with scale out and</a:t>
            </a:r>
            <a:br>
              <a:rPr lang="en-US" sz="2400" dirty="0">
                <a:solidFill>
                  <a:schemeClr val="tx1"/>
                </a:solidFill>
              </a:rPr>
            </a:br>
            <a:r>
              <a:rPr lang="en-US" sz="2400" dirty="0">
                <a:solidFill>
                  <a:schemeClr val="tx1"/>
                </a:solidFill>
              </a:rPr>
              <a:t>scale in parameters</a:t>
            </a:r>
          </a:p>
        </p:txBody>
      </p:sp>
      <p:pic>
        <p:nvPicPr>
          <p:cNvPr id="13" name="Picture 12" descr="Screenshot of the instances and autoscale settings. The initial instance count is 2. The scaling policy is Custom. The minimum number of VMs is 1. The maximum number of VMs is 10. The CPU threshold is 75%. The Duration in minutes is 10. The Number of VMs to increase by is 1. The CPU threshold is 25%. The Number of VMs to decrease by is 1">
            <a:extLst>
              <a:ext uri="{FF2B5EF4-FFF2-40B4-BE49-F238E27FC236}">
                <a16:creationId xmlns:a16="http://schemas.microsoft.com/office/drawing/2014/main" id="{D6B64F95-982C-BAEF-FD8C-2881976D8A38}"/>
              </a:ext>
            </a:extLst>
          </p:cNvPr>
          <p:cNvPicPr>
            <a:picLocks noChangeAspect="1"/>
          </p:cNvPicPr>
          <p:nvPr/>
        </p:nvPicPr>
        <p:blipFill>
          <a:blip r:embed="rId6"/>
          <a:stretch>
            <a:fillRect/>
          </a:stretch>
        </p:blipFill>
        <p:spPr>
          <a:xfrm>
            <a:off x="6586363" y="1862655"/>
            <a:ext cx="5059630" cy="4921720"/>
          </a:xfrm>
          <a:prstGeom prst="rect">
            <a:avLst/>
          </a:prstGeom>
        </p:spPr>
      </p:pic>
    </p:spTree>
    <p:extLst>
      <p:ext uri="{BB962C8B-B14F-4D97-AF65-F5344CB8AC3E}">
        <p14:creationId xmlns:p14="http://schemas.microsoft.com/office/powerpoint/2010/main" val="22942352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19</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Title 1">
            <a:extLst>
              <a:ext uri="{FF2B5EF4-FFF2-40B4-BE49-F238E27FC236}">
                <a16:creationId xmlns:a16="http://schemas.microsoft.com/office/drawing/2014/main" id="{52F62A45-BB63-6758-5A73-CCDB2708305C}"/>
              </a:ext>
            </a:extLst>
          </p:cNvPr>
          <p:cNvSpPr txBox="1">
            <a:spLocks/>
          </p:cNvSpPr>
          <p:nvPr/>
        </p:nvSpPr>
        <p:spPr>
          <a:xfrm>
            <a:off x="966583" y="2415963"/>
            <a:ext cx="11530584" cy="83002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Demonstration – Virtual Machine Scaling</a:t>
            </a:r>
            <a:endParaRPr lang="en-US" dirty="0"/>
          </a:p>
        </p:txBody>
      </p:sp>
      <p:sp>
        <p:nvSpPr>
          <p:cNvPr id="11" name="Rectangle 10">
            <a:extLst>
              <a:ext uri="{FF2B5EF4-FFF2-40B4-BE49-F238E27FC236}">
                <a16:creationId xmlns:a16="http://schemas.microsoft.com/office/drawing/2014/main" id="{C836DBFA-A565-9E1E-52B5-662644C7EFD8}"/>
              </a:ext>
            </a:extLst>
          </p:cNvPr>
          <p:cNvSpPr/>
          <p:nvPr/>
        </p:nvSpPr>
        <p:spPr bwMode="auto">
          <a:xfrm>
            <a:off x="1376611" y="3871486"/>
            <a:ext cx="10198101" cy="104241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342900" indent="-342900" defTabSz="1022350">
              <a:spcBef>
                <a:spcPct val="0"/>
              </a:spcBef>
              <a:spcAft>
                <a:spcPct val="35000"/>
              </a:spcAft>
              <a:buFont typeface="Arial" panose="020B0604020202020204" pitchFamily="34" charset="0"/>
              <a:buChar char="•"/>
            </a:pPr>
            <a:r>
              <a:rPr lang="en-US" sz="2400" dirty="0">
                <a:solidFill>
                  <a:schemeClr val="tx1"/>
                </a:solidFill>
              </a:rPr>
              <a:t>Configure Virtual Machine Scale Sets</a:t>
            </a:r>
          </a:p>
          <a:p>
            <a:pPr marL="342900" indent="-342900" defTabSz="1022350">
              <a:spcBef>
                <a:spcPct val="0"/>
              </a:spcBef>
              <a:spcAft>
                <a:spcPct val="35000"/>
              </a:spcAft>
              <a:buFont typeface="Arial" panose="020B0604020202020204" pitchFamily="34" charset="0"/>
              <a:buChar char="•"/>
            </a:pPr>
            <a:r>
              <a:rPr lang="en-US" sz="2400" dirty="0">
                <a:solidFill>
                  <a:schemeClr val="tx1"/>
                </a:solidFill>
              </a:rPr>
              <a:t>Review manual scaling, scale-in policies, and custom scaling options</a:t>
            </a:r>
          </a:p>
          <a:p>
            <a:pPr marL="342900" indent="-342900" defTabSz="1022350">
              <a:spcBef>
                <a:spcPct val="0"/>
              </a:spcBef>
              <a:spcAft>
                <a:spcPct val="35000"/>
              </a:spcAft>
              <a:buFont typeface="Arial" panose="020B0604020202020204" pitchFamily="34" charset="0"/>
              <a:buChar char="•"/>
            </a:pPr>
            <a:endParaRPr lang="en-US" sz="2400" dirty="0">
              <a:solidFill>
                <a:schemeClr val="tx1"/>
              </a:solidFill>
            </a:endParaRPr>
          </a:p>
        </p:txBody>
      </p:sp>
    </p:spTree>
    <p:extLst>
      <p:ext uri="{BB962C8B-B14F-4D97-AF65-F5344CB8AC3E}">
        <p14:creationId xmlns:p14="http://schemas.microsoft.com/office/powerpoint/2010/main" val="3203448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20</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C2548839-3939-0CEE-BB80-F07D21DCA629}"/>
              </a:ext>
            </a:extLst>
          </p:cNvPr>
          <p:cNvSpPr txBox="1"/>
          <p:nvPr/>
        </p:nvSpPr>
        <p:spPr>
          <a:xfrm>
            <a:off x="2460426" y="2877900"/>
            <a:ext cx="7271148" cy="1102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3200" dirty="0">
                <a:solidFill>
                  <a:sysClr val="windowText" lastClr="000000"/>
                </a:solidFill>
                <a:latin typeface="Proxima Nova"/>
                <a:ea typeface="Proxima Nova"/>
                <a:cs typeface="Proxima Nova"/>
                <a:sym typeface="Proxima Nova"/>
              </a:rPr>
              <a:t>LAB – Manage Virtual Machines</a:t>
            </a:r>
          </a:p>
          <a:p>
            <a:pPr marL="0" marR="0" lvl="0" indent="0" algn="ctr" rtl="0">
              <a:spcBef>
                <a:spcPts val="0"/>
              </a:spcBef>
              <a:spcAft>
                <a:spcPts val="0"/>
              </a:spcAft>
              <a:buNone/>
            </a:pPr>
            <a:endParaRPr lang="en-US" sz="3200" dirty="0">
              <a:solidFill>
                <a:sysClr val="windowText" lastClr="000000"/>
              </a:solidFill>
              <a:latin typeface="Proxima Nova"/>
              <a:ea typeface="Proxima Nova"/>
              <a:cs typeface="Proxima Nova"/>
              <a:sym typeface="Proxima Nova"/>
            </a:endParaRPr>
          </a:p>
          <a:p>
            <a:pPr marL="0" marR="0" lvl="0" indent="0" algn="ctr" rtl="0">
              <a:spcBef>
                <a:spcPts val="0"/>
              </a:spcBef>
              <a:spcAft>
                <a:spcPts val="0"/>
              </a:spcAft>
              <a:buNone/>
            </a:pPr>
            <a:endParaRPr sz="3200" dirty="0">
              <a:solidFill>
                <a:sysClr val="windowText" lastClr="000000"/>
              </a:solidFill>
              <a:latin typeface="Proxima Nova"/>
              <a:ea typeface="Proxima Nova"/>
              <a:cs typeface="Proxima Nova"/>
              <a:sym typeface="Proxima Nova"/>
            </a:endParaRPr>
          </a:p>
        </p:txBody>
      </p:sp>
    </p:spTree>
    <p:extLst>
      <p:ext uri="{BB962C8B-B14F-4D97-AF65-F5344CB8AC3E}">
        <p14:creationId xmlns:p14="http://schemas.microsoft.com/office/powerpoint/2010/main" val="6669181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21</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Title 1">
            <a:extLst>
              <a:ext uri="{FF2B5EF4-FFF2-40B4-BE49-F238E27FC236}">
                <a16:creationId xmlns:a16="http://schemas.microsoft.com/office/drawing/2014/main" id="{7DBB0BD9-6178-B3A6-9C24-41363CFC92B5}"/>
              </a:ext>
            </a:extLst>
          </p:cNvPr>
          <p:cNvSpPr txBox="1">
            <a:spLocks/>
          </p:cNvSpPr>
          <p:nvPr/>
        </p:nvSpPr>
        <p:spPr>
          <a:xfrm>
            <a:off x="701438" y="1374211"/>
            <a:ext cx="11701941" cy="502246"/>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Lab 08 – Manage Virtual Machines</a:t>
            </a:r>
            <a:endParaRPr lang="en-US" dirty="0"/>
          </a:p>
        </p:txBody>
      </p:sp>
      <p:sp>
        <p:nvSpPr>
          <p:cNvPr id="11" name="Rectangle 10">
            <a:extLst>
              <a:ext uri="{FF2B5EF4-FFF2-40B4-BE49-F238E27FC236}">
                <a16:creationId xmlns:a16="http://schemas.microsoft.com/office/drawing/2014/main" id="{F269B9AC-435F-3130-BA43-14A579B91A81}"/>
              </a:ext>
            </a:extLst>
          </p:cNvPr>
          <p:cNvSpPr/>
          <p:nvPr/>
        </p:nvSpPr>
        <p:spPr bwMode="auto">
          <a:xfrm>
            <a:off x="379243" y="3238207"/>
            <a:ext cx="3865947" cy="3060560"/>
          </a:xfrm>
          <a:prstGeom prst="rect">
            <a:avLst/>
          </a:prstGeom>
        </p:spPr>
        <p:txBody>
          <a:bodyPr vert="horz" wrap="square" lIns="0" tIns="0" rIns="0" bIns="0" rtlCol="0" anchor="t">
            <a:spAutoFit/>
          </a:bodyPr>
          <a:lstStyle/>
          <a:p>
            <a:pPr>
              <a:spcAft>
                <a:spcPts val="612"/>
              </a:spcAft>
              <a:buSzPct val="90000"/>
            </a:pPr>
            <a:r>
              <a:rPr lang="en-US" dirty="0">
                <a:cs typeface="Segoe UI" panose="020B0502040204020203" pitchFamily="34" charset="0"/>
              </a:rPr>
              <a:t>In this lab, you compare manual scaling of virtual machines to automatic scaling of virtual machines.</a:t>
            </a:r>
          </a:p>
          <a:p>
            <a:pPr>
              <a:spcAft>
                <a:spcPts val="612"/>
              </a:spcAft>
              <a:buSzPct val="90000"/>
            </a:pPr>
            <a:r>
              <a:rPr lang="en-US" dirty="0">
                <a:cs typeface="Segoe UI" panose="020B0502040204020203" pitchFamily="34" charset="0"/>
              </a:rPr>
              <a:t>You learn how to configure and resize a single virtual machine.</a:t>
            </a:r>
          </a:p>
          <a:p>
            <a:pPr>
              <a:spcAft>
                <a:spcPts val="612"/>
              </a:spcAft>
              <a:buSzPct val="90000"/>
            </a:pPr>
            <a:r>
              <a:rPr lang="en-US" dirty="0">
                <a:cs typeface="Segoe UI" panose="020B0502040204020203" pitchFamily="34" charset="0"/>
              </a:rPr>
              <a:t>You learn how create a virtual machine scale set and configure autoscaling.</a:t>
            </a:r>
          </a:p>
          <a:p>
            <a:pPr>
              <a:spcAft>
                <a:spcPts val="612"/>
              </a:spcAft>
              <a:buSzPct val="90000"/>
            </a:pPr>
            <a:r>
              <a:rPr lang="en-US" dirty="0">
                <a:cs typeface="Segoe UI" panose="020B0502040204020203" pitchFamily="34" charset="0"/>
              </a:rPr>
              <a:t>Optionally, you learn to use scripting to deploy a virtual machine.</a:t>
            </a:r>
          </a:p>
        </p:txBody>
      </p:sp>
      <p:sp>
        <p:nvSpPr>
          <p:cNvPr id="12" name="TextBox 11">
            <a:extLst>
              <a:ext uri="{FF2B5EF4-FFF2-40B4-BE49-F238E27FC236}">
                <a16:creationId xmlns:a16="http://schemas.microsoft.com/office/drawing/2014/main" id="{407C8A53-4DD4-55C6-7C54-E7700249EFA6}"/>
              </a:ext>
            </a:extLst>
          </p:cNvPr>
          <p:cNvSpPr txBox="1"/>
          <p:nvPr/>
        </p:nvSpPr>
        <p:spPr>
          <a:xfrm>
            <a:off x="5135829" y="2587669"/>
            <a:ext cx="6215646" cy="414353"/>
          </a:xfrm>
          <a:prstGeom prst="rect">
            <a:avLst/>
          </a:prstGeom>
          <a:noFill/>
        </p:spPr>
        <p:txBody>
          <a:bodyPr wrap="square">
            <a:spAutoFit/>
          </a:bodyPr>
          <a:lstStyle/>
          <a:p>
            <a:r>
              <a:rPr lang="en-US" sz="2040" dirty="0">
                <a:latin typeface="Segoe UI Semibold" panose="020B0702040204020203" pitchFamily="34" charset="0"/>
                <a:cs typeface="Segoe UI Semibold" panose="020B0702040204020203" pitchFamily="34" charset="0"/>
              </a:rPr>
              <a:t>Job Skills</a:t>
            </a:r>
            <a:endParaRPr lang="en-US" sz="2040" dirty="0"/>
          </a:p>
        </p:txBody>
      </p:sp>
      <p:sp>
        <p:nvSpPr>
          <p:cNvPr id="13" name="Rectangle 12">
            <a:extLst>
              <a:ext uri="{FF2B5EF4-FFF2-40B4-BE49-F238E27FC236}">
                <a16:creationId xmlns:a16="http://schemas.microsoft.com/office/drawing/2014/main" id="{653EEE6B-B9A7-CC74-CF55-22FD08BAF34F}"/>
              </a:ext>
              <a:ext uri="{C183D7F6-B498-43B3-948B-1728B52AA6E4}">
                <adec:decorative xmlns:adec="http://schemas.microsoft.com/office/drawing/2017/decorative" val="1"/>
              </a:ext>
            </a:extLst>
          </p:cNvPr>
          <p:cNvSpPr/>
          <p:nvPr/>
        </p:nvSpPr>
        <p:spPr bwMode="auto">
          <a:xfrm>
            <a:off x="5265740" y="2959566"/>
            <a:ext cx="6715820" cy="3755141"/>
          </a:xfrm>
          <a:prstGeom prst="rect">
            <a:avLst/>
          </a:prstGeom>
          <a:solidFill>
            <a:schemeClr val="bg1"/>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54" tIns="137141" rIns="182854" bIns="137141" numCol="1" spcCol="1270" anchor="t" anchorCtr="0">
            <a:noAutofit/>
          </a:bodyPr>
          <a:lstStyle/>
          <a:p>
            <a:pPr>
              <a:spcAft>
                <a:spcPts val="612"/>
              </a:spcAft>
            </a:pPr>
            <a:r>
              <a:rPr lang="en-US" sz="2000" dirty="0">
                <a:solidFill>
                  <a:schemeClr val="tx1"/>
                </a:solidFill>
                <a:latin typeface="+mj-lt"/>
                <a:cs typeface="Segoe UI Semilight"/>
              </a:rPr>
              <a:t>Task 1: </a:t>
            </a:r>
            <a:r>
              <a:rPr lang="en-US" sz="2000" dirty="0">
                <a:solidFill>
                  <a:schemeClr val="tx1"/>
                </a:solidFill>
                <a:cs typeface="Segoe UI Semilight"/>
              </a:rPr>
              <a:t>Deploy zone-resilient Azure virtual machines by using the Azure portal.</a:t>
            </a:r>
          </a:p>
          <a:p>
            <a:pPr>
              <a:spcAft>
                <a:spcPts val="612"/>
              </a:spcAft>
            </a:pPr>
            <a:r>
              <a:rPr lang="en-US" sz="2000" dirty="0">
                <a:solidFill>
                  <a:schemeClr val="tx1"/>
                </a:solidFill>
                <a:latin typeface="+mj-lt"/>
                <a:cs typeface="Segoe UI Semilight"/>
              </a:rPr>
              <a:t>Task 2: </a:t>
            </a:r>
            <a:r>
              <a:rPr lang="en-US" sz="2000" dirty="0">
                <a:solidFill>
                  <a:schemeClr val="tx1"/>
                </a:solidFill>
                <a:cs typeface="Segoe UI Semilight"/>
              </a:rPr>
              <a:t>Manage compute and storage scaling for virtual machines.</a:t>
            </a:r>
          </a:p>
          <a:p>
            <a:pPr>
              <a:spcAft>
                <a:spcPts val="612"/>
              </a:spcAft>
            </a:pPr>
            <a:r>
              <a:rPr lang="en-US" sz="2000" dirty="0">
                <a:solidFill>
                  <a:schemeClr val="tx1"/>
                </a:solidFill>
                <a:latin typeface="+mj-lt"/>
                <a:cs typeface="Segoe UI Semilight"/>
              </a:rPr>
              <a:t>Task 3: </a:t>
            </a:r>
            <a:r>
              <a:rPr lang="en-US" sz="2000" dirty="0">
                <a:solidFill>
                  <a:schemeClr val="tx1"/>
                </a:solidFill>
                <a:cs typeface="Segoe UI Semilight"/>
              </a:rPr>
              <a:t>Create and configure Azure Virtual Machine Scale Sets.</a:t>
            </a:r>
          </a:p>
          <a:p>
            <a:pPr>
              <a:spcAft>
                <a:spcPts val="612"/>
              </a:spcAft>
            </a:pPr>
            <a:r>
              <a:rPr lang="en-US" sz="2000" dirty="0">
                <a:solidFill>
                  <a:schemeClr val="tx1"/>
                </a:solidFill>
                <a:latin typeface="+mj-lt"/>
                <a:cs typeface="Segoe UI Semilight"/>
              </a:rPr>
              <a:t>Task 4: </a:t>
            </a:r>
            <a:r>
              <a:rPr lang="en-US" sz="2000" dirty="0">
                <a:solidFill>
                  <a:schemeClr val="tx1"/>
                </a:solidFill>
                <a:cs typeface="Segoe UI Semilight"/>
              </a:rPr>
              <a:t>Scale Azure Virtual Machine Scale Sets.</a:t>
            </a:r>
          </a:p>
          <a:p>
            <a:pPr>
              <a:spcAft>
                <a:spcPts val="612"/>
              </a:spcAft>
            </a:pPr>
            <a:r>
              <a:rPr lang="en-US" sz="2000" dirty="0">
                <a:solidFill>
                  <a:schemeClr val="tx1"/>
                </a:solidFill>
                <a:latin typeface="+mj-lt"/>
                <a:cs typeface="Segoe UI Semilight"/>
              </a:rPr>
              <a:t>Task 5: </a:t>
            </a:r>
            <a:r>
              <a:rPr lang="en-US" sz="2000" dirty="0">
                <a:solidFill>
                  <a:schemeClr val="tx1"/>
                </a:solidFill>
                <a:cs typeface="Segoe UI Semilight"/>
              </a:rPr>
              <a:t>Create a virtual machine using Azure PowerShell (option 1).</a:t>
            </a:r>
          </a:p>
          <a:p>
            <a:pPr>
              <a:spcAft>
                <a:spcPts val="612"/>
              </a:spcAft>
            </a:pPr>
            <a:r>
              <a:rPr lang="en-US" sz="2000" dirty="0">
                <a:solidFill>
                  <a:schemeClr val="tx1"/>
                </a:solidFill>
                <a:latin typeface="+mj-lt"/>
                <a:cs typeface="Segoe UI Semilight"/>
              </a:rPr>
              <a:t>Task 6: </a:t>
            </a:r>
            <a:r>
              <a:rPr lang="en-US" sz="2000" dirty="0">
                <a:solidFill>
                  <a:schemeClr val="tx1"/>
                </a:solidFill>
                <a:cs typeface="Segoe UI Semilight"/>
              </a:rPr>
              <a:t>Create a virtual machine using the CLI (option 2).</a:t>
            </a:r>
          </a:p>
          <a:p>
            <a:pPr>
              <a:spcAft>
                <a:spcPts val="612"/>
              </a:spcAft>
            </a:pPr>
            <a:endParaRPr lang="en-US" sz="2000" dirty="0">
              <a:solidFill>
                <a:schemeClr val="tx1"/>
              </a:solidFill>
            </a:endParaRPr>
          </a:p>
          <a:p>
            <a:pPr>
              <a:spcAft>
                <a:spcPts val="612"/>
              </a:spcAft>
            </a:pPr>
            <a:endParaRPr lang="en-US" sz="2000" dirty="0">
              <a:solidFill>
                <a:schemeClr val="tx1"/>
              </a:solidFill>
            </a:endParaRPr>
          </a:p>
          <a:p>
            <a:pPr>
              <a:spcAft>
                <a:spcPts val="612"/>
              </a:spcAft>
            </a:pPr>
            <a:endParaRPr lang="en-US" sz="2000" dirty="0">
              <a:solidFill>
                <a:schemeClr val="tx1"/>
              </a:solidFill>
            </a:endParaRPr>
          </a:p>
          <a:p>
            <a:pPr>
              <a:spcAft>
                <a:spcPts val="612"/>
              </a:spcAft>
            </a:pPr>
            <a:endParaRPr lang="en-US" sz="2000" dirty="0">
              <a:solidFill>
                <a:schemeClr val="tx1"/>
              </a:solidFill>
            </a:endParaRPr>
          </a:p>
        </p:txBody>
      </p:sp>
    </p:spTree>
    <p:extLst>
      <p:ext uri="{BB962C8B-B14F-4D97-AF65-F5344CB8AC3E}">
        <p14:creationId xmlns:p14="http://schemas.microsoft.com/office/powerpoint/2010/main" val="40505784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22</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Title 1">
            <a:extLst>
              <a:ext uri="{FF2B5EF4-FFF2-40B4-BE49-F238E27FC236}">
                <a16:creationId xmlns:a16="http://schemas.microsoft.com/office/drawing/2014/main" id="{D4176B6D-EC99-3200-46F1-799A15FD5309}"/>
              </a:ext>
            </a:extLst>
          </p:cNvPr>
          <p:cNvSpPr txBox="1">
            <a:spLocks/>
          </p:cNvSpPr>
          <p:nvPr/>
        </p:nvSpPr>
        <p:spPr>
          <a:xfrm>
            <a:off x="990394" y="1304009"/>
            <a:ext cx="11530584" cy="83002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64"/>
              <a:t>Lab 08 – Architecture diagram</a:t>
            </a:r>
            <a:endParaRPr lang="en-US" sz="3264" dirty="0"/>
          </a:p>
        </p:txBody>
      </p:sp>
      <p:grpSp>
        <p:nvGrpSpPr>
          <p:cNvPr id="11" name="Group 10" descr="Architecture diagram for the virtual machine lab tasks. ">
            <a:extLst>
              <a:ext uri="{FF2B5EF4-FFF2-40B4-BE49-F238E27FC236}">
                <a16:creationId xmlns:a16="http://schemas.microsoft.com/office/drawing/2014/main" id="{79BEC43D-8CC1-D3E2-F62A-9ADC60705C74}"/>
              </a:ext>
            </a:extLst>
          </p:cNvPr>
          <p:cNvGrpSpPr/>
          <p:nvPr/>
        </p:nvGrpSpPr>
        <p:grpSpPr>
          <a:xfrm>
            <a:off x="2431376" y="1933030"/>
            <a:ext cx="8510736" cy="4750521"/>
            <a:chOff x="1906120" y="1196478"/>
            <a:chExt cx="8510736" cy="4750521"/>
          </a:xfrm>
        </p:grpSpPr>
        <p:sp>
          <p:nvSpPr>
            <p:cNvPr id="12" name="TextBox 11">
              <a:extLst>
                <a:ext uri="{FF2B5EF4-FFF2-40B4-BE49-F238E27FC236}">
                  <a16:creationId xmlns:a16="http://schemas.microsoft.com/office/drawing/2014/main" id="{2C5DE7AD-0112-F203-7BA0-C5D44942FC54}"/>
                </a:ext>
              </a:extLst>
            </p:cNvPr>
            <p:cNvSpPr txBox="1"/>
            <p:nvPr/>
          </p:nvSpPr>
          <p:spPr>
            <a:xfrm>
              <a:off x="2402993" y="1196478"/>
              <a:ext cx="2708465" cy="531870"/>
            </a:xfrm>
            <a:prstGeom prst="rect">
              <a:avLst/>
            </a:prstGeom>
            <a:noFill/>
          </p:spPr>
          <p:txBody>
            <a:bodyPr wrap="none" lIns="186521" tIns="149217" rIns="186521" bIns="149217" rtlCol="0">
              <a:spAutoFit/>
            </a:bodyPr>
            <a:lstStyle/>
            <a:p>
              <a:pPr>
                <a:lnSpc>
                  <a:spcPct val="90000"/>
                </a:lnSpc>
                <a:spcAft>
                  <a:spcPts val="612"/>
                </a:spcAft>
              </a:pPr>
              <a:r>
                <a:rPr lang="en-US" sz="1632" b="1" dirty="0">
                  <a:gradFill>
                    <a:gsLst>
                      <a:gs pos="2917">
                        <a:schemeClr val="tx1"/>
                      </a:gs>
                      <a:gs pos="30000">
                        <a:schemeClr val="tx1"/>
                      </a:gs>
                    </a:gsLst>
                    <a:lin ang="5400000" scaled="0"/>
                  </a:gradFill>
                </a:rPr>
                <a:t>Azure Virtual Machines</a:t>
              </a:r>
            </a:p>
          </p:txBody>
        </p:sp>
        <p:sp>
          <p:nvSpPr>
            <p:cNvPr id="13" name="TextBox 12">
              <a:extLst>
                <a:ext uri="{FF2B5EF4-FFF2-40B4-BE49-F238E27FC236}">
                  <a16:creationId xmlns:a16="http://schemas.microsoft.com/office/drawing/2014/main" id="{01B0CD5B-37D6-0AB2-D41A-254B3CFF3214}"/>
                </a:ext>
              </a:extLst>
            </p:cNvPr>
            <p:cNvSpPr txBox="1"/>
            <p:nvPr/>
          </p:nvSpPr>
          <p:spPr>
            <a:xfrm>
              <a:off x="7024851" y="1196478"/>
              <a:ext cx="3016679" cy="531870"/>
            </a:xfrm>
            <a:prstGeom prst="rect">
              <a:avLst/>
            </a:prstGeom>
            <a:noFill/>
          </p:spPr>
          <p:txBody>
            <a:bodyPr wrap="none" lIns="186521" tIns="149217" rIns="186521" bIns="149217" rtlCol="0">
              <a:spAutoFit/>
            </a:bodyPr>
            <a:lstStyle/>
            <a:p>
              <a:pPr>
                <a:lnSpc>
                  <a:spcPct val="90000"/>
                </a:lnSpc>
                <a:spcAft>
                  <a:spcPts val="612"/>
                </a:spcAft>
              </a:pPr>
              <a:r>
                <a:rPr lang="en-US" sz="1632" b="1" dirty="0">
                  <a:gradFill>
                    <a:gsLst>
                      <a:gs pos="2917">
                        <a:schemeClr val="tx1"/>
                      </a:gs>
                      <a:gs pos="30000">
                        <a:schemeClr val="tx1"/>
                      </a:gs>
                    </a:gsLst>
                    <a:lin ang="5400000" scaled="0"/>
                  </a:gradFill>
                </a:rPr>
                <a:t>Virtual Machine Scale Sets</a:t>
              </a:r>
            </a:p>
          </p:txBody>
        </p:sp>
        <p:sp>
          <p:nvSpPr>
            <p:cNvPr id="14" name="Rectangle 13">
              <a:extLst>
                <a:ext uri="{FF2B5EF4-FFF2-40B4-BE49-F238E27FC236}">
                  <a16:creationId xmlns:a16="http://schemas.microsoft.com/office/drawing/2014/main" id="{8DF41D17-79D3-9174-F87A-41CB77F5A989}"/>
                </a:ext>
              </a:extLst>
            </p:cNvPr>
            <p:cNvSpPr/>
            <p:nvPr/>
          </p:nvSpPr>
          <p:spPr bwMode="auto">
            <a:xfrm>
              <a:off x="1958691" y="1690473"/>
              <a:ext cx="3837506" cy="1757104"/>
            </a:xfrm>
            <a:prstGeom prst="rect">
              <a:avLst/>
            </a:prstGeom>
            <a:solidFill>
              <a:schemeClr val="bg1">
                <a:lumMod val="95000"/>
              </a:schemeClr>
            </a:solidFill>
            <a:ln>
              <a:solidFill>
                <a:schemeClr val="tx1"/>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60" tIns="143408" rIns="179260" bIns="143408" numCol="1" spcCol="0" rtlCol="0" fromWordArt="0" anchor="t" anchorCtr="0" forceAA="0" compatLnSpc="1">
              <a:prstTxWarp prst="textNoShape">
                <a:avLst/>
              </a:prstTxWarp>
              <a:noAutofit/>
            </a:bodyPr>
            <a:lstStyle/>
            <a:p>
              <a:pPr algn="ctr" defTabSz="913926" fontAlgn="base">
                <a:lnSpc>
                  <a:spcPct val="90000"/>
                </a:lnSpc>
                <a:spcBef>
                  <a:spcPct val="0"/>
                </a:spcBef>
                <a:spcAft>
                  <a:spcPct val="0"/>
                </a:spcAft>
              </a:pPr>
              <a:endParaRPr lang="fr-FR" sz="1632" dirty="0">
                <a:gradFill>
                  <a:gsLst>
                    <a:gs pos="0">
                      <a:srgbClr val="FFFFFF"/>
                    </a:gs>
                    <a:gs pos="100000">
                      <a:srgbClr val="FFFFFF"/>
                    </a:gs>
                  </a:gsLst>
                  <a:lin ang="5400000" scaled="0"/>
                </a:gradFill>
                <a:cs typeface="Segoe UI" pitchFamily="34" charset="0"/>
              </a:endParaRPr>
            </a:p>
          </p:txBody>
        </p:sp>
        <p:pic>
          <p:nvPicPr>
            <p:cNvPr id="15" name="Graphic 14">
              <a:extLst>
                <a:ext uri="{FF2B5EF4-FFF2-40B4-BE49-F238E27FC236}">
                  <a16:creationId xmlns:a16="http://schemas.microsoft.com/office/drawing/2014/main" id="{21FB66E5-8B97-106B-1569-1EB9BE32ED0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602402" y="2200460"/>
              <a:ext cx="610717" cy="479298"/>
            </a:xfrm>
            <a:prstGeom prst="rect">
              <a:avLst/>
            </a:prstGeom>
          </p:spPr>
        </p:pic>
        <p:sp>
          <p:nvSpPr>
            <p:cNvPr id="16" name="TextBox 15">
              <a:extLst>
                <a:ext uri="{FF2B5EF4-FFF2-40B4-BE49-F238E27FC236}">
                  <a16:creationId xmlns:a16="http://schemas.microsoft.com/office/drawing/2014/main" id="{464C4B7B-43D5-E4C6-A481-A7C51A34A3D3}"/>
                </a:ext>
              </a:extLst>
            </p:cNvPr>
            <p:cNvSpPr txBox="1"/>
            <p:nvPr/>
          </p:nvSpPr>
          <p:spPr>
            <a:xfrm>
              <a:off x="1906120" y="2710823"/>
              <a:ext cx="2003283" cy="861701"/>
            </a:xfrm>
            <a:prstGeom prst="rect">
              <a:avLst/>
            </a:prstGeom>
            <a:noFill/>
          </p:spPr>
          <p:txBody>
            <a:bodyPr wrap="square">
              <a:spAutoFit/>
            </a:bodyPr>
            <a:lstStyle/>
            <a:p>
              <a:pPr algn="ctr" defTabSz="914191"/>
              <a:r>
                <a:rPr lang="fr-FR" sz="1632" dirty="0">
                  <a:solidFill>
                    <a:srgbClr val="000000"/>
                  </a:solidFill>
                </a:rPr>
                <a:t>az104-vm1</a:t>
              </a:r>
            </a:p>
            <a:p>
              <a:pPr algn="ctr" defTabSz="914191"/>
              <a:endParaRPr lang="fr-FR" sz="1632" dirty="0">
                <a:solidFill>
                  <a:srgbClr val="000000"/>
                </a:solidFill>
              </a:endParaRPr>
            </a:p>
            <a:p>
              <a:pPr algn="ctr" defTabSz="914191"/>
              <a:endParaRPr lang="fr-FR" sz="1632" dirty="0">
                <a:solidFill>
                  <a:srgbClr val="000000"/>
                </a:solidFill>
              </a:endParaRPr>
            </a:p>
          </p:txBody>
        </p:sp>
        <p:pic>
          <p:nvPicPr>
            <p:cNvPr id="17" name="Graphic 16">
              <a:extLst>
                <a:ext uri="{FF2B5EF4-FFF2-40B4-BE49-F238E27FC236}">
                  <a16:creationId xmlns:a16="http://schemas.microsoft.com/office/drawing/2014/main" id="{D1B1C692-F3B7-9A95-AA62-E85A87F69FC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489197" y="2202096"/>
              <a:ext cx="610717" cy="479298"/>
            </a:xfrm>
            <a:prstGeom prst="rect">
              <a:avLst/>
            </a:prstGeom>
          </p:spPr>
        </p:pic>
        <p:sp>
          <p:nvSpPr>
            <p:cNvPr id="18" name="TextBox 17">
              <a:extLst>
                <a:ext uri="{FF2B5EF4-FFF2-40B4-BE49-F238E27FC236}">
                  <a16:creationId xmlns:a16="http://schemas.microsoft.com/office/drawing/2014/main" id="{BBF7D9E8-BDD4-7E70-B4C3-CECFF1219DA3}"/>
                </a:ext>
              </a:extLst>
            </p:cNvPr>
            <p:cNvSpPr txBox="1"/>
            <p:nvPr/>
          </p:nvSpPr>
          <p:spPr>
            <a:xfrm>
              <a:off x="3792915" y="2712463"/>
              <a:ext cx="2003283" cy="606382"/>
            </a:xfrm>
            <a:prstGeom prst="rect">
              <a:avLst/>
            </a:prstGeom>
            <a:noFill/>
          </p:spPr>
          <p:txBody>
            <a:bodyPr wrap="square">
              <a:spAutoFit/>
            </a:bodyPr>
            <a:lstStyle/>
            <a:p>
              <a:pPr algn="ctr" defTabSz="914191"/>
              <a:r>
                <a:rPr lang="fr-FR" sz="1632" dirty="0">
                  <a:solidFill>
                    <a:srgbClr val="000000"/>
                  </a:solidFill>
                </a:rPr>
                <a:t>az104-vm2</a:t>
              </a:r>
            </a:p>
            <a:p>
              <a:pPr algn="ctr" defTabSz="914191"/>
              <a:endParaRPr lang="fr-FR" sz="1632" dirty="0">
                <a:solidFill>
                  <a:srgbClr val="000000"/>
                </a:solidFill>
              </a:endParaRPr>
            </a:p>
          </p:txBody>
        </p:sp>
        <p:sp>
          <p:nvSpPr>
            <p:cNvPr id="19" name="TextBox 18">
              <a:extLst>
                <a:ext uri="{FF2B5EF4-FFF2-40B4-BE49-F238E27FC236}">
                  <a16:creationId xmlns:a16="http://schemas.microsoft.com/office/drawing/2014/main" id="{C3C0A771-884E-F466-20BB-C8B2AF6FEE71}"/>
                </a:ext>
              </a:extLst>
            </p:cNvPr>
            <p:cNvSpPr txBox="1"/>
            <p:nvPr/>
          </p:nvSpPr>
          <p:spPr>
            <a:xfrm>
              <a:off x="2466733" y="2941635"/>
              <a:ext cx="1966240" cy="351063"/>
            </a:xfrm>
            <a:prstGeom prst="rect">
              <a:avLst/>
            </a:prstGeom>
            <a:noFill/>
          </p:spPr>
          <p:txBody>
            <a:bodyPr wrap="square">
              <a:spAutoFit/>
            </a:bodyPr>
            <a:lstStyle/>
            <a:p>
              <a:pPr defTabSz="914191"/>
              <a:r>
                <a:rPr lang="fr-FR" sz="1632" dirty="0">
                  <a:solidFill>
                    <a:srgbClr val="000000"/>
                  </a:solidFill>
                </a:rPr>
                <a:t>Zone1</a:t>
              </a:r>
            </a:p>
          </p:txBody>
        </p:sp>
        <p:sp>
          <p:nvSpPr>
            <p:cNvPr id="20" name="TextBox 19">
              <a:extLst>
                <a:ext uri="{FF2B5EF4-FFF2-40B4-BE49-F238E27FC236}">
                  <a16:creationId xmlns:a16="http://schemas.microsoft.com/office/drawing/2014/main" id="{5AD4C2C8-A26E-46DB-C862-73D465DD60B0}"/>
                </a:ext>
              </a:extLst>
            </p:cNvPr>
            <p:cNvSpPr txBox="1"/>
            <p:nvPr/>
          </p:nvSpPr>
          <p:spPr>
            <a:xfrm>
              <a:off x="4305909" y="2949563"/>
              <a:ext cx="1315603" cy="351063"/>
            </a:xfrm>
            <a:prstGeom prst="rect">
              <a:avLst/>
            </a:prstGeom>
            <a:noFill/>
          </p:spPr>
          <p:txBody>
            <a:bodyPr wrap="square">
              <a:spAutoFit/>
            </a:bodyPr>
            <a:lstStyle/>
            <a:p>
              <a:pPr defTabSz="914191"/>
              <a:r>
                <a:rPr lang="fr-FR" sz="1632" dirty="0">
                  <a:solidFill>
                    <a:srgbClr val="000000"/>
                  </a:solidFill>
                </a:rPr>
                <a:t>Zone2</a:t>
              </a:r>
            </a:p>
          </p:txBody>
        </p:sp>
        <p:sp>
          <p:nvSpPr>
            <p:cNvPr id="21" name="TextBox 20">
              <a:extLst>
                <a:ext uri="{FF2B5EF4-FFF2-40B4-BE49-F238E27FC236}">
                  <a16:creationId xmlns:a16="http://schemas.microsoft.com/office/drawing/2014/main" id="{9E7ED48C-C6A8-2576-E876-AD5846ECF37C}"/>
                </a:ext>
              </a:extLst>
            </p:cNvPr>
            <p:cNvSpPr txBox="1"/>
            <p:nvPr/>
          </p:nvSpPr>
          <p:spPr>
            <a:xfrm>
              <a:off x="4925747" y="1723836"/>
              <a:ext cx="946442" cy="351063"/>
            </a:xfrm>
            <a:prstGeom prst="rect">
              <a:avLst/>
            </a:prstGeom>
            <a:noFill/>
          </p:spPr>
          <p:txBody>
            <a:bodyPr wrap="square">
              <a:spAutoFit/>
            </a:bodyPr>
            <a:lstStyle/>
            <a:p>
              <a:pPr defTabSz="914191"/>
              <a:r>
                <a:rPr lang="fr-FR" sz="1632" b="1" dirty="0">
                  <a:solidFill>
                    <a:schemeClr val="tx2">
                      <a:lumMod val="50000"/>
                    </a:schemeClr>
                  </a:solidFill>
                </a:rPr>
                <a:t>Task 1</a:t>
              </a:r>
            </a:p>
          </p:txBody>
        </p:sp>
        <p:sp>
          <p:nvSpPr>
            <p:cNvPr id="22" name="Rectangle 21">
              <a:extLst>
                <a:ext uri="{FF2B5EF4-FFF2-40B4-BE49-F238E27FC236}">
                  <a16:creationId xmlns:a16="http://schemas.microsoft.com/office/drawing/2014/main" id="{61330F47-ADE5-7D6B-7C39-246225034D71}"/>
                </a:ext>
              </a:extLst>
            </p:cNvPr>
            <p:cNvSpPr/>
            <p:nvPr/>
          </p:nvSpPr>
          <p:spPr bwMode="auto">
            <a:xfrm>
              <a:off x="1944695" y="3659726"/>
              <a:ext cx="3853606" cy="1485547"/>
            </a:xfrm>
            <a:prstGeom prst="rect">
              <a:avLst/>
            </a:prstGeom>
            <a:solidFill>
              <a:schemeClr val="bg1">
                <a:lumMod val="95000"/>
              </a:schemeClr>
            </a:solidFill>
            <a:ln>
              <a:solidFill>
                <a:schemeClr val="tx1"/>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60" tIns="143408" rIns="179260" bIns="143408" numCol="1" spcCol="0" rtlCol="0" fromWordArt="0" anchor="t" anchorCtr="0" forceAA="0" compatLnSpc="1">
              <a:prstTxWarp prst="textNoShape">
                <a:avLst/>
              </a:prstTxWarp>
              <a:noAutofit/>
            </a:bodyPr>
            <a:lstStyle/>
            <a:p>
              <a:pPr algn="ctr" defTabSz="913926" fontAlgn="base">
                <a:lnSpc>
                  <a:spcPct val="90000"/>
                </a:lnSpc>
                <a:spcBef>
                  <a:spcPct val="0"/>
                </a:spcBef>
                <a:spcAft>
                  <a:spcPct val="0"/>
                </a:spcAft>
              </a:pPr>
              <a:endParaRPr lang="fr-FR" sz="1632" dirty="0">
                <a:gradFill>
                  <a:gsLst>
                    <a:gs pos="0">
                      <a:srgbClr val="FFFFFF"/>
                    </a:gs>
                    <a:gs pos="100000">
                      <a:srgbClr val="FFFFFF"/>
                    </a:gs>
                  </a:gsLst>
                  <a:lin ang="5400000" scaled="0"/>
                </a:gradFill>
                <a:cs typeface="Segoe UI" pitchFamily="34" charset="0"/>
              </a:endParaRPr>
            </a:p>
          </p:txBody>
        </p:sp>
        <p:sp>
          <p:nvSpPr>
            <p:cNvPr id="23" name="TextBox 22">
              <a:extLst>
                <a:ext uri="{FF2B5EF4-FFF2-40B4-BE49-F238E27FC236}">
                  <a16:creationId xmlns:a16="http://schemas.microsoft.com/office/drawing/2014/main" id="{A692154C-B123-FBA6-9F24-22D2470B4692}"/>
                </a:ext>
              </a:extLst>
            </p:cNvPr>
            <p:cNvSpPr txBox="1"/>
            <p:nvPr/>
          </p:nvSpPr>
          <p:spPr>
            <a:xfrm>
              <a:off x="4938049" y="3741913"/>
              <a:ext cx="865920" cy="349307"/>
            </a:xfrm>
            <a:prstGeom prst="rect">
              <a:avLst/>
            </a:prstGeom>
            <a:noFill/>
          </p:spPr>
          <p:txBody>
            <a:bodyPr wrap="square">
              <a:spAutoFit/>
            </a:bodyPr>
            <a:lstStyle/>
            <a:p>
              <a:pPr defTabSz="914191"/>
              <a:r>
                <a:rPr lang="en-US" sz="1632" b="1" dirty="0">
                  <a:solidFill>
                    <a:schemeClr val="tx2">
                      <a:lumMod val="50000"/>
                    </a:schemeClr>
                  </a:solidFill>
                </a:rPr>
                <a:t>Task</a:t>
              </a:r>
              <a:r>
                <a:rPr lang="fr-FR" sz="1632" b="1" dirty="0">
                  <a:solidFill>
                    <a:schemeClr val="tx2">
                      <a:lumMod val="50000"/>
                    </a:schemeClr>
                  </a:solidFill>
                </a:rPr>
                <a:t> 2</a:t>
              </a:r>
            </a:p>
          </p:txBody>
        </p:sp>
        <p:pic>
          <p:nvPicPr>
            <p:cNvPr id="24" name="Graphic 23">
              <a:extLst>
                <a:ext uri="{FF2B5EF4-FFF2-40B4-BE49-F238E27FC236}">
                  <a16:creationId xmlns:a16="http://schemas.microsoft.com/office/drawing/2014/main" id="{A2AE0498-3A2B-00F1-BA74-67D469E1683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884736" y="4188248"/>
              <a:ext cx="590760" cy="476902"/>
            </a:xfrm>
            <a:prstGeom prst="rect">
              <a:avLst/>
            </a:prstGeom>
          </p:spPr>
        </p:pic>
        <p:pic>
          <p:nvPicPr>
            <p:cNvPr id="25" name="Graphic 24">
              <a:extLst>
                <a:ext uri="{FF2B5EF4-FFF2-40B4-BE49-F238E27FC236}">
                  <a16:creationId xmlns:a16="http://schemas.microsoft.com/office/drawing/2014/main" id="{928869DA-7006-1BBF-8127-2ABA457BE7B9}"/>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948171" y="4123627"/>
              <a:ext cx="747092" cy="515596"/>
            </a:xfrm>
            <a:prstGeom prst="rect">
              <a:avLst/>
            </a:prstGeom>
          </p:spPr>
        </p:pic>
        <p:sp>
          <p:nvSpPr>
            <p:cNvPr id="26" name="TextBox 25">
              <a:extLst>
                <a:ext uri="{FF2B5EF4-FFF2-40B4-BE49-F238E27FC236}">
                  <a16:creationId xmlns:a16="http://schemas.microsoft.com/office/drawing/2014/main" id="{ACC8B0EC-4644-407D-0B50-ECD678A13D76}"/>
                </a:ext>
              </a:extLst>
            </p:cNvPr>
            <p:cNvSpPr txBox="1"/>
            <p:nvPr/>
          </p:nvSpPr>
          <p:spPr>
            <a:xfrm>
              <a:off x="2776043" y="4799192"/>
              <a:ext cx="2116212" cy="349307"/>
            </a:xfrm>
            <a:prstGeom prst="rect">
              <a:avLst/>
            </a:prstGeom>
            <a:noFill/>
          </p:spPr>
          <p:txBody>
            <a:bodyPr wrap="square">
              <a:spAutoFit/>
            </a:bodyPr>
            <a:lstStyle/>
            <a:p>
              <a:pPr defTabSz="914191"/>
              <a:r>
                <a:rPr lang="en-US" sz="1632" dirty="0"/>
                <a:t>resize</a:t>
              </a:r>
              <a:r>
                <a:rPr lang="fr-FR" sz="1632" dirty="0"/>
                <a:t> and update</a:t>
              </a:r>
            </a:p>
          </p:txBody>
        </p:sp>
        <p:cxnSp>
          <p:nvCxnSpPr>
            <p:cNvPr id="27" name="Connector: Elbow 26">
              <a:extLst>
                <a:ext uri="{FF2B5EF4-FFF2-40B4-BE49-F238E27FC236}">
                  <a16:creationId xmlns:a16="http://schemas.microsoft.com/office/drawing/2014/main" id="{366DC08C-0C3F-81C0-9D96-157ED8245BE9}"/>
                </a:ext>
              </a:extLst>
            </p:cNvPr>
            <p:cNvCxnSpPr>
              <a:cxnSpLocks/>
              <a:stCxn id="15" idx="3"/>
              <a:endCxn id="22" idx="0"/>
            </p:cNvCxnSpPr>
            <p:nvPr/>
          </p:nvCxnSpPr>
          <p:spPr>
            <a:xfrm>
              <a:off x="3213119" y="2440109"/>
              <a:ext cx="658380" cy="1219616"/>
            </a:xfrm>
            <a:prstGeom prst="bentConnector2">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6D701399-B22C-8A88-F44D-3B6AB69C5D6A}"/>
                </a:ext>
              </a:extLst>
            </p:cNvPr>
            <p:cNvSpPr/>
            <p:nvPr/>
          </p:nvSpPr>
          <p:spPr bwMode="auto">
            <a:xfrm>
              <a:off x="6500662" y="1694987"/>
              <a:ext cx="3877497" cy="1752717"/>
            </a:xfrm>
            <a:prstGeom prst="rect">
              <a:avLst/>
            </a:prstGeom>
            <a:solidFill>
              <a:schemeClr val="bg1">
                <a:lumMod val="95000"/>
              </a:schemeClr>
            </a:solidFill>
            <a:ln>
              <a:solidFill>
                <a:schemeClr val="tx1"/>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60" tIns="143408" rIns="179260" bIns="143408" numCol="1" spcCol="0" rtlCol="0" fromWordArt="0" anchor="t" anchorCtr="0" forceAA="0" compatLnSpc="1">
              <a:prstTxWarp prst="textNoShape">
                <a:avLst/>
              </a:prstTxWarp>
              <a:noAutofit/>
            </a:bodyPr>
            <a:lstStyle/>
            <a:p>
              <a:pPr algn="ctr" defTabSz="913926" fontAlgn="base">
                <a:lnSpc>
                  <a:spcPct val="90000"/>
                </a:lnSpc>
                <a:spcBef>
                  <a:spcPct val="0"/>
                </a:spcBef>
                <a:spcAft>
                  <a:spcPct val="0"/>
                </a:spcAft>
              </a:pPr>
              <a:endParaRPr lang="fr-FR" sz="1632" dirty="0">
                <a:gradFill>
                  <a:gsLst>
                    <a:gs pos="0">
                      <a:srgbClr val="FFFFFF"/>
                    </a:gs>
                    <a:gs pos="100000">
                      <a:srgbClr val="FFFFFF"/>
                    </a:gs>
                  </a:gsLst>
                  <a:lin ang="5400000" scaled="0"/>
                </a:gradFill>
                <a:cs typeface="Segoe UI" pitchFamily="34" charset="0"/>
              </a:endParaRPr>
            </a:p>
          </p:txBody>
        </p:sp>
        <p:pic>
          <p:nvPicPr>
            <p:cNvPr id="29" name="Graphic 28">
              <a:extLst>
                <a:ext uri="{FF2B5EF4-FFF2-40B4-BE49-F238E27FC236}">
                  <a16:creationId xmlns:a16="http://schemas.microsoft.com/office/drawing/2014/main" id="{94234C66-9587-E27D-4138-D686B525542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937930" y="2129654"/>
              <a:ext cx="823293" cy="698284"/>
            </a:xfrm>
            <a:prstGeom prst="rect">
              <a:avLst/>
            </a:prstGeom>
          </p:spPr>
        </p:pic>
        <p:sp>
          <p:nvSpPr>
            <p:cNvPr id="30" name="TextBox 29">
              <a:extLst>
                <a:ext uri="{FF2B5EF4-FFF2-40B4-BE49-F238E27FC236}">
                  <a16:creationId xmlns:a16="http://schemas.microsoft.com/office/drawing/2014/main" id="{21614795-96CF-7296-E510-ED296E290217}"/>
                </a:ext>
              </a:extLst>
            </p:cNvPr>
            <p:cNvSpPr txBox="1"/>
            <p:nvPr/>
          </p:nvSpPr>
          <p:spPr>
            <a:xfrm>
              <a:off x="7574704" y="2852979"/>
              <a:ext cx="1578462" cy="606488"/>
            </a:xfrm>
            <a:prstGeom prst="rect">
              <a:avLst/>
            </a:prstGeom>
            <a:noFill/>
          </p:spPr>
          <p:txBody>
            <a:bodyPr wrap="square">
              <a:spAutoFit/>
            </a:bodyPr>
            <a:lstStyle/>
            <a:p>
              <a:pPr algn="ctr" defTabSz="914191"/>
              <a:r>
                <a:rPr lang="fr-FR" sz="1632" dirty="0">
                  <a:solidFill>
                    <a:srgbClr val="000000"/>
                  </a:solidFill>
                </a:rPr>
                <a:t>vmss1</a:t>
              </a:r>
            </a:p>
            <a:p>
              <a:pPr algn="ctr" defTabSz="914191"/>
              <a:r>
                <a:rPr lang="fr-FR" sz="1632" dirty="0">
                  <a:solidFill>
                    <a:srgbClr val="000000"/>
                  </a:solidFill>
                </a:rPr>
                <a:t>Zone 1, 2, 3</a:t>
              </a:r>
            </a:p>
          </p:txBody>
        </p:sp>
        <p:sp>
          <p:nvSpPr>
            <p:cNvPr id="31" name="TextBox 30">
              <a:extLst>
                <a:ext uri="{FF2B5EF4-FFF2-40B4-BE49-F238E27FC236}">
                  <a16:creationId xmlns:a16="http://schemas.microsoft.com/office/drawing/2014/main" id="{772220E6-889C-BF14-C39A-09F11560DF85}"/>
                </a:ext>
              </a:extLst>
            </p:cNvPr>
            <p:cNvSpPr txBox="1"/>
            <p:nvPr/>
          </p:nvSpPr>
          <p:spPr>
            <a:xfrm>
              <a:off x="9548227" y="1760776"/>
              <a:ext cx="868629" cy="349307"/>
            </a:xfrm>
            <a:prstGeom prst="rect">
              <a:avLst/>
            </a:prstGeom>
            <a:noFill/>
          </p:spPr>
          <p:txBody>
            <a:bodyPr wrap="square">
              <a:spAutoFit/>
            </a:bodyPr>
            <a:lstStyle/>
            <a:p>
              <a:pPr defTabSz="914191"/>
              <a:r>
                <a:rPr lang="en-US" sz="1632" b="1" dirty="0">
                  <a:solidFill>
                    <a:schemeClr val="tx2">
                      <a:lumMod val="50000"/>
                    </a:schemeClr>
                  </a:solidFill>
                </a:rPr>
                <a:t>Task</a:t>
              </a:r>
              <a:r>
                <a:rPr lang="fr-FR" sz="1632" b="1" dirty="0">
                  <a:solidFill>
                    <a:schemeClr val="tx2">
                      <a:lumMod val="50000"/>
                    </a:schemeClr>
                  </a:solidFill>
                </a:rPr>
                <a:t> 3</a:t>
              </a:r>
            </a:p>
          </p:txBody>
        </p:sp>
        <p:sp>
          <p:nvSpPr>
            <p:cNvPr id="32" name="Rectangle 31">
              <a:extLst>
                <a:ext uri="{FF2B5EF4-FFF2-40B4-BE49-F238E27FC236}">
                  <a16:creationId xmlns:a16="http://schemas.microsoft.com/office/drawing/2014/main" id="{FC67D2EB-5156-F379-7FC9-4603C1CB9B3A}"/>
                </a:ext>
              </a:extLst>
            </p:cNvPr>
            <p:cNvSpPr/>
            <p:nvPr/>
          </p:nvSpPr>
          <p:spPr bwMode="auto">
            <a:xfrm>
              <a:off x="6500662" y="3655197"/>
              <a:ext cx="3877497" cy="1489288"/>
            </a:xfrm>
            <a:prstGeom prst="rect">
              <a:avLst/>
            </a:prstGeom>
            <a:solidFill>
              <a:schemeClr val="bg1">
                <a:lumMod val="95000"/>
              </a:schemeClr>
            </a:solidFill>
            <a:ln>
              <a:solidFill>
                <a:schemeClr val="tx1"/>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60" tIns="143408" rIns="179260" bIns="143408" numCol="1" spcCol="0" rtlCol="0" fromWordArt="0" anchor="t" anchorCtr="0" forceAA="0" compatLnSpc="1">
              <a:prstTxWarp prst="textNoShape">
                <a:avLst/>
              </a:prstTxWarp>
              <a:noAutofit/>
            </a:bodyPr>
            <a:lstStyle/>
            <a:p>
              <a:pPr algn="ctr" defTabSz="913926" fontAlgn="base">
                <a:lnSpc>
                  <a:spcPct val="90000"/>
                </a:lnSpc>
                <a:spcBef>
                  <a:spcPct val="0"/>
                </a:spcBef>
                <a:spcAft>
                  <a:spcPct val="0"/>
                </a:spcAft>
              </a:pPr>
              <a:endParaRPr lang="fr-FR" sz="1632" dirty="0">
                <a:gradFill>
                  <a:gsLst>
                    <a:gs pos="0">
                      <a:srgbClr val="FFFFFF"/>
                    </a:gs>
                    <a:gs pos="100000">
                      <a:srgbClr val="FFFFFF"/>
                    </a:gs>
                  </a:gsLst>
                  <a:lin ang="5400000" scaled="0"/>
                </a:gradFill>
                <a:cs typeface="Segoe UI" pitchFamily="34" charset="0"/>
              </a:endParaRPr>
            </a:p>
          </p:txBody>
        </p:sp>
        <p:pic>
          <p:nvPicPr>
            <p:cNvPr id="33" name="Graphic 32">
              <a:extLst>
                <a:ext uri="{FF2B5EF4-FFF2-40B4-BE49-F238E27FC236}">
                  <a16:creationId xmlns:a16="http://schemas.microsoft.com/office/drawing/2014/main" id="{2DD663F0-34AC-DDCD-1838-F53020563C4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934759" y="4173692"/>
              <a:ext cx="663494" cy="562748"/>
            </a:xfrm>
            <a:prstGeom prst="rect">
              <a:avLst/>
            </a:prstGeom>
          </p:spPr>
        </p:pic>
        <p:sp>
          <p:nvSpPr>
            <p:cNvPr id="34" name="TextBox 33">
              <a:extLst>
                <a:ext uri="{FF2B5EF4-FFF2-40B4-BE49-F238E27FC236}">
                  <a16:creationId xmlns:a16="http://schemas.microsoft.com/office/drawing/2014/main" id="{2788B56F-13A4-EE7B-345F-29BE2B3D3DF1}"/>
                </a:ext>
              </a:extLst>
            </p:cNvPr>
            <p:cNvSpPr txBox="1"/>
            <p:nvPr/>
          </p:nvSpPr>
          <p:spPr>
            <a:xfrm>
              <a:off x="7152809" y="4799191"/>
              <a:ext cx="2415910" cy="350330"/>
            </a:xfrm>
            <a:prstGeom prst="rect">
              <a:avLst/>
            </a:prstGeom>
            <a:noFill/>
          </p:spPr>
          <p:txBody>
            <a:bodyPr wrap="square">
              <a:spAutoFit/>
            </a:bodyPr>
            <a:lstStyle/>
            <a:p>
              <a:pPr algn="ctr" defTabSz="914191"/>
              <a:r>
                <a:rPr lang="en-US" sz="1632" dirty="0">
                  <a:solidFill>
                    <a:srgbClr val="000000"/>
                  </a:solidFill>
                </a:rPr>
                <a:t>custom auto scale rules</a:t>
              </a:r>
            </a:p>
          </p:txBody>
        </p:sp>
        <p:sp>
          <p:nvSpPr>
            <p:cNvPr id="35" name="TextBox 34">
              <a:extLst>
                <a:ext uri="{FF2B5EF4-FFF2-40B4-BE49-F238E27FC236}">
                  <a16:creationId xmlns:a16="http://schemas.microsoft.com/office/drawing/2014/main" id="{BCB7E167-56CA-A6ED-45F7-98C0A2B55694}"/>
                </a:ext>
              </a:extLst>
            </p:cNvPr>
            <p:cNvSpPr txBox="1"/>
            <p:nvPr/>
          </p:nvSpPr>
          <p:spPr>
            <a:xfrm>
              <a:off x="9541624" y="3741912"/>
              <a:ext cx="821040" cy="349307"/>
            </a:xfrm>
            <a:prstGeom prst="rect">
              <a:avLst/>
            </a:prstGeom>
            <a:noFill/>
          </p:spPr>
          <p:txBody>
            <a:bodyPr wrap="square">
              <a:spAutoFit/>
            </a:bodyPr>
            <a:lstStyle/>
            <a:p>
              <a:pPr defTabSz="914191"/>
              <a:r>
                <a:rPr lang="en-US" sz="1632" b="1" dirty="0">
                  <a:solidFill>
                    <a:schemeClr val="tx2">
                      <a:lumMod val="50000"/>
                    </a:schemeClr>
                  </a:solidFill>
                </a:rPr>
                <a:t>Task 4</a:t>
              </a:r>
              <a:endParaRPr lang="fr-FR" sz="1632" b="1" dirty="0">
                <a:solidFill>
                  <a:schemeClr val="tx2">
                    <a:lumMod val="50000"/>
                  </a:schemeClr>
                </a:solidFill>
              </a:endParaRPr>
            </a:p>
          </p:txBody>
        </p:sp>
        <p:cxnSp>
          <p:nvCxnSpPr>
            <p:cNvPr id="36" name="Straight Arrow Connector 35">
              <a:extLst>
                <a:ext uri="{FF2B5EF4-FFF2-40B4-BE49-F238E27FC236}">
                  <a16:creationId xmlns:a16="http://schemas.microsoft.com/office/drawing/2014/main" id="{DFCFC9FC-CC85-BA61-6B93-D3B74A7DA4E5}"/>
                </a:ext>
              </a:extLst>
            </p:cNvPr>
            <p:cNvCxnSpPr>
              <a:cxnSpLocks/>
              <a:stCxn id="28" idx="2"/>
              <a:endCxn id="32" idx="0"/>
            </p:cNvCxnSpPr>
            <p:nvPr/>
          </p:nvCxnSpPr>
          <p:spPr>
            <a:xfrm>
              <a:off x="8439411" y="3447704"/>
              <a:ext cx="0" cy="207493"/>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0939003-D056-6D80-3B63-ABA308D19D50}"/>
                </a:ext>
              </a:extLst>
            </p:cNvPr>
            <p:cNvSpPr txBox="1"/>
            <p:nvPr/>
          </p:nvSpPr>
          <p:spPr>
            <a:xfrm>
              <a:off x="2602401" y="5308467"/>
              <a:ext cx="7665859" cy="638532"/>
            </a:xfrm>
            <a:prstGeom prst="rect">
              <a:avLst/>
            </a:prstGeom>
            <a:noFill/>
          </p:spPr>
          <p:txBody>
            <a:bodyPr wrap="square">
              <a:spAutoFit/>
            </a:bodyPr>
            <a:lstStyle/>
            <a:p>
              <a:pPr defTabSz="914191"/>
              <a:r>
                <a:rPr lang="en-US" sz="1734" b="1" dirty="0">
                  <a:solidFill>
                    <a:schemeClr val="tx2">
                      <a:lumMod val="50000"/>
                    </a:schemeClr>
                  </a:solidFill>
                </a:rPr>
                <a:t>Task</a:t>
              </a:r>
              <a:r>
                <a:rPr lang="fr-FR" sz="1734" b="1" dirty="0">
                  <a:solidFill>
                    <a:schemeClr val="tx2">
                      <a:lumMod val="50000"/>
                    </a:schemeClr>
                  </a:solidFill>
                </a:rPr>
                <a:t> 5: </a:t>
              </a:r>
              <a:r>
                <a:rPr lang="en-US" sz="1734" dirty="0"/>
                <a:t>Create a virtual machine using Azure PowerShell (option 1)</a:t>
              </a:r>
              <a:endParaRPr lang="fr-FR" sz="1734" dirty="0"/>
            </a:p>
            <a:p>
              <a:pPr defTabSz="914191"/>
              <a:r>
                <a:rPr lang="en-US" sz="1734" b="1" dirty="0">
                  <a:solidFill>
                    <a:schemeClr val="tx2">
                      <a:lumMod val="50000"/>
                    </a:schemeClr>
                  </a:solidFill>
                </a:rPr>
                <a:t>Task 6: </a:t>
              </a:r>
              <a:r>
                <a:rPr lang="en-US" sz="1734" dirty="0"/>
                <a:t>Create a virtual machine using the CLI (option 2)</a:t>
              </a:r>
              <a:r>
                <a:rPr lang="fr-FR" sz="1734" dirty="0"/>
                <a:t> </a:t>
              </a:r>
            </a:p>
          </p:txBody>
        </p:sp>
      </p:grpSp>
    </p:spTree>
    <p:extLst>
      <p:ext uri="{BB962C8B-B14F-4D97-AF65-F5344CB8AC3E}">
        <p14:creationId xmlns:p14="http://schemas.microsoft.com/office/powerpoint/2010/main" val="24824828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23</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0" name="Title 1">
            <a:extLst>
              <a:ext uri="{FF2B5EF4-FFF2-40B4-BE49-F238E27FC236}">
                <a16:creationId xmlns:a16="http://schemas.microsoft.com/office/drawing/2014/main" id="{B11BAF7B-A981-7711-72B5-3E3C55D37898}"/>
              </a:ext>
            </a:extLst>
          </p:cNvPr>
          <p:cNvSpPr txBox="1">
            <a:spLocks/>
          </p:cNvSpPr>
          <p:nvPr/>
        </p:nvSpPr>
        <p:spPr>
          <a:xfrm>
            <a:off x="993171" y="1199577"/>
            <a:ext cx="11530584" cy="83002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t>Lab 08 – Architecture diagram (interactive lab simulation)</a:t>
            </a:r>
          </a:p>
        </p:txBody>
      </p:sp>
      <p:grpSp>
        <p:nvGrpSpPr>
          <p:cNvPr id="11" name="Group 10" descr="Architecture diagram of the detailed lab steps. ">
            <a:extLst>
              <a:ext uri="{FF2B5EF4-FFF2-40B4-BE49-F238E27FC236}">
                <a16:creationId xmlns:a16="http://schemas.microsoft.com/office/drawing/2014/main" id="{5B974266-7D60-6277-6D19-29B556C9217E}"/>
              </a:ext>
            </a:extLst>
          </p:cNvPr>
          <p:cNvGrpSpPr/>
          <p:nvPr/>
        </p:nvGrpSpPr>
        <p:grpSpPr>
          <a:xfrm>
            <a:off x="1003069" y="1974383"/>
            <a:ext cx="10586362" cy="4794191"/>
            <a:chOff x="598455" y="1324728"/>
            <a:chExt cx="10586362" cy="4098576"/>
          </a:xfrm>
        </p:grpSpPr>
        <p:sp>
          <p:nvSpPr>
            <p:cNvPr id="12" name="Rectangle 11">
              <a:extLst>
                <a:ext uri="{FF2B5EF4-FFF2-40B4-BE49-F238E27FC236}">
                  <a16:creationId xmlns:a16="http://schemas.microsoft.com/office/drawing/2014/main" id="{ED340707-4993-31CB-7134-063F0F60A01C}"/>
                </a:ext>
              </a:extLst>
            </p:cNvPr>
            <p:cNvSpPr/>
            <p:nvPr/>
          </p:nvSpPr>
          <p:spPr bwMode="auto">
            <a:xfrm>
              <a:off x="6920689" y="1333726"/>
              <a:ext cx="4264128" cy="407800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fr-FR" sz="2353"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3" name="Rectangle 12">
              <a:extLst>
                <a:ext uri="{FF2B5EF4-FFF2-40B4-BE49-F238E27FC236}">
                  <a16:creationId xmlns:a16="http://schemas.microsoft.com/office/drawing/2014/main" id="{06220D46-5125-3EBD-28AD-AD1270FA4C6B}"/>
                </a:ext>
              </a:extLst>
            </p:cNvPr>
            <p:cNvSpPr/>
            <p:nvPr/>
          </p:nvSpPr>
          <p:spPr bwMode="auto">
            <a:xfrm>
              <a:off x="4839629" y="1345304"/>
              <a:ext cx="1976835" cy="407800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fr-FR" sz="2353" dirty="0">
                <a:gradFill>
                  <a:gsLst>
                    <a:gs pos="0">
                      <a:srgbClr val="FFFFFF"/>
                    </a:gs>
                    <a:gs pos="100000">
                      <a:srgbClr val="FFFFFF"/>
                    </a:gs>
                  </a:gsLst>
                  <a:lin ang="5400000" scaled="0"/>
                </a:gradFill>
                <a:latin typeface="Segoe UI"/>
                <a:ea typeface="Segoe UI" pitchFamily="34" charset="0"/>
                <a:cs typeface="Segoe UI" pitchFamily="34" charset="0"/>
              </a:endParaRPr>
            </a:p>
          </p:txBody>
        </p:sp>
        <p:cxnSp>
          <p:nvCxnSpPr>
            <p:cNvPr id="14" name="Straight Connector 13">
              <a:extLst>
                <a:ext uri="{FF2B5EF4-FFF2-40B4-BE49-F238E27FC236}">
                  <a16:creationId xmlns:a16="http://schemas.microsoft.com/office/drawing/2014/main" id="{A4514F8C-DEAB-7394-3FC2-E65522E17E83}"/>
                </a:ext>
              </a:extLst>
            </p:cNvPr>
            <p:cNvCxnSpPr>
              <a:cxnSpLocks/>
              <a:stCxn id="33" idx="2"/>
              <a:endCxn id="35" idx="0"/>
            </p:cNvCxnSpPr>
            <p:nvPr/>
          </p:nvCxnSpPr>
          <p:spPr>
            <a:xfrm>
              <a:off x="5883403" y="3730092"/>
              <a:ext cx="839" cy="458013"/>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674D0CD-457C-BF14-BDCC-D4C9C91ADC4A}"/>
                </a:ext>
              </a:extLst>
            </p:cNvPr>
            <p:cNvCxnSpPr>
              <a:cxnSpLocks/>
              <a:stCxn id="31" idx="2"/>
              <a:endCxn id="33" idx="0"/>
            </p:cNvCxnSpPr>
            <p:nvPr/>
          </p:nvCxnSpPr>
          <p:spPr>
            <a:xfrm>
              <a:off x="5876914" y="2735769"/>
              <a:ext cx="6489" cy="462205"/>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119FD360-F431-A309-1CEB-84251E2FE666}"/>
                </a:ext>
              </a:extLst>
            </p:cNvPr>
            <p:cNvSpPr/>
            <p:nvPr/>
          </p:nvSpPr>
          <p:spPr bwMode="auto">
            <a:xfrm>
              <a:off x="611536" y="1345304"/>
              <a:ext cx="4151821" cy="407800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fr-FR" sz="2353" dirty="0">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17" name="Graphic 16">
              <a:extLst>
                <a:ext uri="{FF2B5EF4-FFF2-40B4-BE49-F238E27FC236}">
                  <a16:creationId xmlns:a16="http://schemas.microsoft.com/office/drawing/2014/main" id="{CCE727C6-0B4B-998D-0DB1-9C0BB45E5E8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965620" y="2903107"/>
              <a:ext cx="403078" cy="403078"/>
            </a:xfrm>
            <a:prstGeom prst="rect">
              <a:avLst/>
            </a:prstGeom>
          </p:spPr>
        </p:pic>
        <p:sp>
          <p:nvSpPr>
            <p:cNvPr id="18" name="TextBox 17">
              <a:extLst>
                <a:ext uri="{FF2B5EF4-FFF2-40B4-BE49-F238E27FC236}">
                  <a16:creationId xmlns:a16="http://schemas.microsoft.com/office/drawing/2014/main" id="{B4B8384E-B96E-3FE2-94F8-787FC75C6DD4}"/>
                </a:ext>
              </a:extLst>
            </p:cNvPr>
            <p:cNvSpPr txBox="1"/>
            <p:nvPr/>
          </p:nvSpPr>
          <p:spPr>
            <a:xfrm>
              <a:off x="1506069" y="3324090"/>
              <a:ext cx="1322180" cy="633625"/>
            </a:xfrm>
            <a:prstGeom prst="rect">
              <a:avLst/>
            </a:prstGeom>
            <a:noFill/>
          </p:spPr>
          <p:txBody>
            <a:bodyPr wrap="square">
              <a:spAutoFit/>
            </a:bodyPr>
            <a:lstStyle/>
            <a:p>
              <a:pPr algn="ctr" defTabSz="914367"/>
              <a:r>
                <a:rPr lang="fr-FR" sz="1176" b="1" dirty="0">
                  <a:solidFill>
                    <a:srgbClr val="000000"/>
                  </a:solidFill>
                  <a:latin typeface="Segoe UI"/>
                </a:rPr>
                <a:t>az104-08-vm0</a:t>
              </a:r>
            </a:p>
            <a:p>
              <a:pPr algn="ctr" defTabSz="914367"/>
              <a:r>
                <a:rPr lang="fr-FR" sz="1176" dirty="0">
                  <a:solidFill>
                    <a:srgbClr val="000000"/>
                  </a:solidFill>
                  <a:latin typeface="Segoe UI"/>
                </a:rPr>
                <a:t>10.80.0.4</a:t>
              </a:r>
            </a:p>
            <a:p>
              <a:pPr algn="ctr" defTabSz="914367"/>
              <a:endParaRPr lang="fr-FR" sz="1176" b="1" dirty="0">
                <a:solidFill>
                  <a:srgbClr val="000000"/>
                </a:solidFill>
                <a:latin typeface="Segoe UI"/>
              </a:endParaRPr>
            </a:p>
          </p:txBody>
        </p:sp>
        <p:pic>
          <p:nvPicPr>
            <p:cNvPr id="19" name="Graphic 18">
              <a:extLst>
                <a:ext uri="{FF2B5EF4-FFF2-40B4-BE49-F238E27FC236}">
                  <a16:creationId xmlns:a16="http://schemas.microsoft.com/office/drawing/2014/main" id="{E692902A-8A56-4EAA-0819-757299416D7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07184" y="2102768"/>
              <a:ext cx="412418" cy="412418"/>
            </a:xfrm>
            <a:prstGeom prst="rect">
              <a:avLst/>
            </a:prstGeom>
          </p:spPr>
        </p:pic>
        <p:sp>
          <p:nvSpPr>
            <p:cNvPr id="20" name="Rectangle 19">
              <a:extLst>
                <a:ext uri="{FF2B5EF4-FFF2-40B4-BE49-F238E27FC236}">
                  <a16:creationId xmlns:a16="http://schemas.microsoft.com/office/drawing/2014/main" id="{3E999B81-4838-3161-B50E-F40BC31703C5}"/>
                </a:ext>
              </a:extLst>
            </p:cNvPr>
            <p:cNvSpPr/>
            <p:nvPr/>
          </p:nvSpPr>
          <p:spPr bwMode="auto">
            <a:xfrm>
              <a:off x="1007184" y="2525604"/>
              <a:ext cx="3682003" cy="1669265"/>
            </a:xfrm>
            <a:prstGeom prst="rect">
              <a:avLst/>
            </a:prstGeom>
            <a:noFill/>
            <a:ln>
              <a:solidFill>
                <a:schemeClr val="tx1"/>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fr-FR" sz="2353" dirty="0">
                <a:gradFill>
                  <a:gsLst>
                    <a:gs pos="0">
                      <a:srgbClr val="FFFFFF"/>
                    </a:gs>
                    <a:gs pos="100000">
                      <a:srgbClr val="FFFFFF"/>
                    </a:gs>
                  </a:gsLst>
                  <a:lin ang="5400000" scaled="0"/>
                </a:gradFill>
                <a:latin typeface="Segoe UI"/>
                <a:cs typeface="Segoe UI" pitchFamily="34" charset="0"/>
              </a:endParaRPr>
            </a:p>
          </p:txBody>
        </p:sp>
        <p:sp>
          <p:nvSpPr>
            <p:cNvPr id="21" name="TextBox 20">
              <a:extLst>
                <a:ext uri="{FF2B5EF4-FFF2-40B4-BE49-F238E27FC236}">
                  <a16:creationId xmlns:a16="http://schemas.microsoft.com/office/drawing/2014/main" id="{7B416A9C-F5D2-DF94-0D00-B3852EB61395}"/>
                </a:ext>
              </a:extLst>
            </p:cNvPr>
            <p:cNvSpPr txBox="1"/>
            <p:nvPr/>
          </p:nvSpPr>
          <p:spPr>
            <a:xfrm>
              <a:off x="1419602" y="2139391"/>
              <a:ext cx="2688259" cy="271554"/>
            </a:xfrm>
            <a:prstGeom prst="rect">
              <a:avLst/>
            </a:prstGeom>
            <a:noFill/>
          </p:spPr>
          <p:txBody>
            <a:bodyPr wrap="square">
              <a:spAutoFit/>
            </a:bodyPr>
            <a:lstStyle/>
            <a:p>
              <a:pPr defTabSz="914367"/>
              <a:r>
                <a:rPr lang="fr-FR" sz="1176" b="1" dirty="0">
                  <a:solidFill>
                    <a:srgbClr val="000000"/>
                  </a:solidFill>
                  <a:latin typeface="Segoe UI"/>
                </a:rPr>
                <a:t>az104-06-vnet01 </a:t>
              </a:r>
              <a:r>
                <a:rPr lang="fr-FR" sz="1176" dirty="0">
                  <a:solidFill>
                    <a:srgbClr val="000000"/>
                  </a:solidFill>
                  <a:latin typeface="Segoe UI"/>
                </a:rPr>
                <a:t>10.80.0.0/20</a:t>
              </a:r>
            </a:p>
          </p:txBody>
        </p:sp>
        <p:sp>
          <p:nvSpPr>
            <p:cNvPr id="22" name="Rectangle 21">
              <a:extLst>
                <a:ext uri="{FF2B5EF4-FFF2-40B4-BE49-F238E27FC236}">
                  <a16:creationId xmlns:a16="http://schemas.microsoft.com/office/drawing/2014/main" id="{29FDDC69-F22B-0CD7-1FA4-80AAF295A844}"/>
                </a:ext>
              </a:extLst>
            </p:cNvPr>
            <p:cNvSpPr/>
            <p:nvPr/>
          </p:nvSpPr>
          <p:spPr bwMode="auto">
            <a:xfrm>
              <a:off x="1378548" y="2814189"/>
              <a:ext cx="3195022" cy="1227322"/>
            </a:xfrm>
            <a:prstGeom prst="rect">
              <a:avLst/>
            </a:prstGeom>
            <a:noFill/>
            <a:ln>
              <a:solidFill>
                <a:schemeClr val="tx1"/>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fr-FR" sz="2353" dirty="0">
                <a:gradFill>
                  <a:gsLst>
                    <a:gs pos="0">
                      <a:srgbClr val="FFFFFF"/>
                    </a:gs>
                    <a:gs pos="100000">
                      <a:srgbClr val="FFFFFF"/>
                    </a:gs>
                  </a:gsLst>
                  <a:lin ang="5400000" scaled="0"/>
                </a:gradFill>
                <a:latin typeface="Segoe UI"/>
                <a:cs typeface="Segoe UI" pitchFamily="34" charset="0"/>
              </a:endParaRPr>
            </a:p>
          </p:txBody>
        </p:sp>
        <p:sp>
          <p:nvSpPr>
            <p:cNvPr id="23" name="TextBox 22">
              <a:extLst>
                <a:ext uri="{FF2B5EF4-FFF2-40B4-BE49-F238E27FC236}">
                  <a16:creationId xmlns:a16="http://schemas.microsoft.com/office/drawing/2014/main" id="{4FED61F6-D8A2-7A02-9E55-20014E35F42F}"/>
                </a:ext>
              </a:extLst>
            </p:cNvPr>
            <p:cNvSpPr txBox="1"/>
            <p:nvPr/>
          </p:nvSpPr>
          <p:spPr>
            <a:xfrm>
              <a:off x="1335860" y="2544937"/>
              <a:ext cx="1848143" cy="271554"/>
            </a:xfrm>
            <a:prstGeom prst="rect">
              <a:avLst/>
            </a:prstGeom>
            <a:noFill/>
          </p:spPr>
          <p:txBody>
            <a:bodyPr wrap="square">
              <a:spAutoFit/>
            </a:bodyPr>
            <a:lstStyle/>
            <a:p>
              <a:pPr defTabSz="914367"/>
              <a:r>
                <a:rPr lang="fr-FR" sz="1176" b="1" dirty="0">
                  <a:solidFill>
                    <a:srgbClr val="000000"/>
                  </a:solidFill>
                  <a:latin typeface="Segoe UI"/>
                </a:rPr>
                <a:t>Subnet0 </a:t>
              </a:r>
              <a:r>
                <a:rPr lang="fr-FR" sz="1176" dirty="0">
                  <a:solidFill>
                    <a:srgbClr val="000000"/>
                  </a:solidFill>
                  <a:latin typeface="Segoe UI"/>
                </a:rPr>
                <a:t>10.80.0.0/24</a:t>
              </a:r>
            </a:p>
          </p:txBody>
        </p:sp>
        <p:sp>
          <p:nvSpPr>
            <p:cNvPr id="24" name="TextBox 23">
              <a:extLst>
                <a:ext uri="{FF2B5EF4-FFF2-40B4-BE49-F238E27FC236}">
                  <a16:creationId xmlns:a16="http://schemas.microsoft.com/office/drawing/2014/main" id="{806DF93E-B5DD-3709-A415-F0BF32D6C96D}"/>
                </a:ext>
              </a:extLst>
            </p:cNvPr>
            <p:cNvSpPr txBox="1"/>
            <p:nvPr/>
          </p:nvSpPr>
          <p:spPr>
            <a:xfrm>
              <a:off x="1213393" y="1705411"/>
              <a:ext cx="1297732" cy="271554"/>
            </a:xfrm>
            <a:prstGeom prst="rect">
              <a:avLst/>
            </a:prstGeom>
            <a:noFill/>
          </p:spPr>
          <p:txBody>
            <a:bodyPr wrap="square">
              <a:spAutoFit/>
            </a:bodyPr>
            <a:lstStyle/>
            <a:p>
              <a:pPr defTabSz="914367"/>
              <a:r>
                <a:rPr lang="fr-FR" sz="1176" b="1" dirty="0">
                  <a:solidFill>
                    <a:srgbClr val="000000"/>
                  </a:solidFill>
                  <a:latin typeface="Segoe UI"/>
                </a:rPr>
                <a:t>az104-08-rg01</a:t>
              </a:r>
            </a:p>
          </p:txBody>
        </p:sp>
        <p:sp>
          <p:nvSpPr>
            <p:cNvPr id="25" name="Rectangle 24">
              <a:extLst>
                <a:ext uri="{FF2B5EF4-FFF2-40B4-BE49-F238E27FC236}">
                  <a16:creationId xmlns:a16="http://schemas.microsoft.com/office/drawing/2014/main" id="{2C8F10E5-A68B-43C8-C932-052A63F12DA1}"/>
                </a:ext>
              </a:extLst>
            </p:cNvPr>
            <p:cNvSpPr/>
            <p:nvPr/>
          </p:nvSpPr>
          <p:spPr bwMode="auto">
            <a:xfrm>
              <a:off x="840470" y="2070440"/>
              <a:ext cx="5899722" cy="3082150"/>
            </a:xfrm>
            <a:prstGeom prst="rect">
              <a:avLst/>
            </a:prstGeom>
            <a:no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fr-FR" sz="2353" dirty="0">
                <a:gradFill>
                  <a:gsLst>
                    <a:gs pos="0">
                      <a:srgbClr val="FFFFFF"/>
                    </a:gs>
                    <a:gs pos="100000">
                      <a:srgbClr val="FFFFFF"/>
                    </a:gs>
                  </a:gsLst>
                  <a:lin ang="5400000" scaled="0"/>
                </a:gradFill>
                <a:latin typeface="Segoe UI"/>
                <a:cs typeface="Segoe UI" pitchFamily="34" charset="0"/>
              </a:endParaRPr>
            </a:p>
          </p:txBody>
        </p:sp>
        <p:pic>
          <p:nvPicPr>
            <p:cNvPr id="26" name="Graphic 25">
              <a:extLst>
                <a:ext uri="{FF2B5EF4-FFF2-40B4-BE49-F238E27FC236}">
                  <a16:creationId xmlns:a16="http://schemas.microsoft.com/office/drawing/2014/main" id="{E1DD47FF-238D-86E5-FCDB-0AC91F730E83}"/>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40469" y="1654024"/>
              <a:ext cx="376369" cy="376369"/>
            </a:xfrm>
            <a:prstGeom prst="rect">
              <a:avLst/>
            </a:prstGeom>
          </p:spPr>
        </p:pic>
        <p:pic>
          <p:nvPicPr>
            <p:cNvPr id="27" name="Graphic 26">
              <a:extLst>
                <a:ext uri="{FF2B5EF4-FFF2-40B4-BE49-F238E27FC236}">
                  <a16:creationId xmlns:a16="http://schemas.microsoft.com/office/drawing/2014/main" id="{EA88A0B3-16B9-06B5-138A-468FEFB58F6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710941" y="2904483"/>
              <a:ext cx="403078" cy="403078"/>
            </a:xfrm>
            <a:prstGeom prst="rect">
              <a:avLst/>
            </a:prstGeom>
          </p:spPr>
        </p:pic>
        <p:sp>
          <p:nvSpPr>
            <p:cNvPr id="28" name="TextBox 27">
              <a:extLst>
                <a:ext uri="{FF2B5EF4-FFF2-40B4-BE49-F238E27FC236}">
                  <a16:creationId xmlns:a16="http://schemas.microsoft.com/office/drawing/2014/main" id="{4F6406BE-99AA-C5DD-E111-7E0FD42D363C}"/>
                </a:ext>
              </a:extLst>
            </p:cNvPr>
            <p:cNvSpPr txBox="1"/>
            <p:nvPr/>
          </p:nvSpPr>
          <p:spPr>
            <a:xfrm>
              <a:off x="3251390" y="3325467"/>
              <a:ext cx="1322180" cy="633625"/>
            </a:xfrm>
            <a:prstGeom prst="rect">
              <a:avLst/>
            </a:prstGeom>
            <a:noFill/>
          </p:spPr>
          <p:txBody>
            <a:bodyPr wrap="square">
              <a:spAutoFit/>
            </a:bodyPr>
            <a:lstStyle/>
            <a:p>
              <a:pPr algn="ctr" defTabSz="914367"/>
              <a:r>
                <a:rPr lang="fr-FR" sz="1176" b="1" dirty="0">
                  <a:solidFill>
                    <a:srgbClr val="000000"/>
                  </a:solidFill>
                  <a:latin typeface="Segoe UI"/>
                </a:rPr>
                <a:t>az104-08-vm1</a:t>
              </a:r>
            </a:p>
            <a:p>
              <a:pPr algn="ctr" defTabSz="914367"/>
              <a:r>
                <a:rPr lang="fr-FR" sz="1176" dirty="0">
                  <a:solidFill>
                    <a:srgbClr val="000000"/>
                  </a:solidFill>
                  <a:latin typeface="Segoe UI"/>
                </a:rPr>
                <a:t>10.80.0.5</a:t>
              </a:r>
            </a:p>
            <a:p>
              <a:pPr algn="ctr" defTabSz="914367"/>
              <a:endParaRPr lang="fr-FR" sz="1176" b="1" dirty="0">
                <a:solidFill>
                  <a:srgbClr val="000000"/>
                </a:solidFill>
                <a:latin typeface="Segoe UI"/>
              </a:endParaRPr>
            </a:p>
          </p:txBody>
        </p:sp>
        <p:sp>
          <p:nvSpPr>
            <p:cNvPr id="29" name="TextBox 28">
              <a:extLst>
                <a:ext uri="{FF2B5EF4-FFF2-40B4-BE49-F238E27FC236}">
                  <a16:creationId xmlns:a16="http://schemas.microsoft.com/office/drawing/2014/main" id="{9E52D340-1ABB-8D61-1E8E-741EBC4DA297}"/>
                </a:ext>
              </a:extLst>
            </p:cNvPr>
            <p:cNvSpPr txBox="1"/>
            <p:nvPr/>
          </p:nvSpPr>
          <p:spPr>
            <a:xfrm>
              <a:off x="1876077" y="3748373"/>
              <a:ext cx="1297732" cy="271554"/>
            </a:xfrm>
            <a:prstGeom prst="rect">
              <a:avLst/>
            </a:prstGeom>
            <a:noFill/>
          </p:spPr>
          <p:txBody>
            <a:bodyPr wrap="square">
              <a:spAutoFit/>
            </a:bodyPr>
            <a:lstStyle/>
            <a:p>
              <a:pPr defTabSz="914367"/>
              <a:r>
                <a:rPr lang="fr-FR" sz="1176" b="1" dirty="0">
                  <a:solidFill>
                    <a:srgbClr val="000000"/>
                  </a:solidFill>
                  <a:latin typeface="Segoe UI"/>
                </a:rPr>
                <a:t>Zone1</a:t>
              </a:r>
            </a:p>
          </p:txBody>
        </p:sp>
        <p:sp>
          <p:nvSpPr>
            <p:cNvPr id="30" name="TextBox 29">
              <a:extLst>
                <a:ext uri="{FF2B5EF4-FFF2-40B4-BE49-F238E27FC236}">
                  <a16:creationId xmlns:a16="http://schemas.microsoft.com/office/drawing/2014/main" id="{AB581CFA-C37F-D8F5-3DD6-6C8CD0B112B0}"/>
                </a:ext>
              </a:extLst>
            </p:cNvPr>
            <p:cNvSpPr txBox="1"/>
            <p:nvPr/>
          </p:nvSpPr>
          <p:spPr>
            <a:xfrm>
              <a:off x="3621293" y="3737306"/>
              <a:ext cx="1297732" cy="271554"/>
            </a:xfrm>
            <a:prstGeom prst="rect">
              <a:avLst/>
            </a:prstGeom>
            <a:noFill/>
          </p:spPr>
          <p:txBody>
            <a:bodyPr wrap="square">
              <a:spAutoFit/>
            </a:bodyPr>
            <a:lstStyle/>
            <a:p>
              <a:pPr defTabSz="914367"/>
              <a:r>
                <a:rPr lang="fr-FR" sz="1176" b="1" dirty="0">
                  <a:solidFill>
                    <a:srgbClr val="000000"/>
                  </a:solidFill>
                  <a:latin typeface="Segoe UI"/>
                </a:rPr>
                <a:t>Zone2</a:t>
              </a:r>
            </a:p>
          </p:txBody>
        </p:sp>
        <p:pic>
          <p:nvPicPr>
            <p:cNvPr id="31" name="Graphic 30">
              <a:extLst>
                <a:ext uri="{FF2B5EF4-FFF2-40B4-BE49-F238E27FC236}">
                  <a16:creationId xmlns:a16="http://schemas.microsoft.com/office/drawing/2014/main" id="{35D49E7D-BE5E-F4F4-3B2B-DCCD51C7A48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610854" y="2203650"/>
              <a:ext cx="532119" cy="532119"/>
            </a:xfrm>
            <a:prstGeom prst="rect">
              <a:avLst/>
            </a:prstGeom>
          </p:spPr>
        </p:pic>
        <p:sp>
          <p:nvSpPr>
            <p:cNvPr id="32" name="TextBox 31">
              <a:extLst>
                <a:ext uri="{FF2B5EF4-FFF2-40B4-BE49-F238E27FC236}">
                  <a16:creationId xmlns:a16="http://schemas.microsoft.com/office/drawing/2014/main" id="{AFCFD8A9-DF5C-645F-111C-B271EFB21F03}"/>
                </a:ext>
              </a:extLst>
            </p:cNvPr>
            <p:cNvSpPr txBox="1"/>
            <p:nvPr/>
          </p:nvSpPr>
          <p:spPr>
            <a:xfrm>
              <a:off x="5046536" y="2735769"/>
              <a:ext cx="1693656" cy="271554"/>
            </a:xfrm>
            <a:prstGeom prst="rect">
              <a:avLst/>
            </a:prstGeom>
            <a:solidFill>
              <a:schemeClr val="bg1">
                <a:lumMod val="95000"/>
              </a:schemeClr>
            </a:solidFill>
          </p:spPr>
          <p:txBody>
            <a:bodyPr wrap="square">
              <a:spAutoFit/>
            </a:bodyPr>
            <a:lstStyle/>
            <a:p>
              <a:pPr defTabSz="914367"/>
              <a:r>
                <a:rPr lang="fr-FR" sz="1176" b="1" dirty="0">
                  <a:solidFill>
                    <a:srgbClr val="000000"/>
                  </a:solidFill>
                  <a:latin typeface="Segoe UI"/>
                </a:rPr>
                <a:t>az10408rg01diag938</a:t>
              </a:r>
            </a:p>
          </p:txBody>
        </p:sp>
        <p:pic>
          <p:nvPicPr>
            <p:cNvPr id="33" name="Graphic 32">
              <a:extLst>
                <a:ext uri="{FF2B5EF4-FFF2-40B4-BE49-F238E27FC236}">
                  <a16:creationId xmlns:a16="http://schemas.microsoft.com/office/drawing/2014/main" id="{9CAB3AEC-6762-2B27-097D-58A84F844A0D}"/>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617344" y="3197974"/>
              <a:ext cx="532118" cy="532118"/>
            </a:xfrm>
            <a:prstGeom prst="rect">
              <a:avLst/>
            </a:prstGeom>
          </p:spPr>
        </p:pic>
        <p:sp>
          <p:nvSpPr>
            <p:cNvPr id="34" name="TextBox 33">
              <a:extLst>
                <a:ext uri="{FF2B5EF4-FFF2-40B4-BE49-F238E27FC236}">
                  <a16:creationId xmlns:a16="http://schemas.microsoft.com/office/drawing/2014/main" id="{7B514370-941F-6194-F52F-100247DD1EF4}"/>
                </a:ext>
              </a:extLst>
            </p:cNvPr>
            <p:cNvSpPr txBox="1"/>
            <p:nvPr/>
          </p:nvSpPr>
          <p:spPr>
            <a:xfrm>
              <a:off x="5545976" y="3663328"/>
              <a:ext cx="1048629" cy="271554"/>
            </a:xfrm>
            <a:prstGeom prst="rect">
              <a:avLst/>
            </a:prstGeom>
            <a:solidFill>
              <a:schemeClr val="bg1">
                <a:lumMod val="95000"/>
              </a:schemeClr>
            </a:solidFill>
          </p:spPr>
          <p:txBody>
            <a:bodyPr wrap="square">
              <a:spAutoFit/>
            </a:bodyPr>
            <a:lstStyle/>
            <a:p>
              <a:pPr defTabSz="914367"/>
              <a:r>
                <a:rPr lang="fr-FR" sz="1176" b="1" dirty="0">
                  <a:solidFill>
                    <a:srgbClr val="000000"/>
                  </a:solidFill>
                  <a:latin typeface="Segoe UI"/>
                </a:rPr>
                <a:t>scripts</a:t>
              </a:r>
            </a:p>
          </p:txBody>
        </p:sp>
        <p:pic>
          <p:nvPicPr>
            <p:cNvPr id="35" name="Graphic 34" descr="Paper">
              <a:extLst>
                <a:ext uri="{FF2B5EF4-FFF2-40B4-BE49-F238E27FC236}">
                  <a16:creationId xmlns:a16="http://schemas.microsoft.com/office/drawing/2014/main" id="{93FEC371-EAEF-0969-D01F-1F991FD12248}"/>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5606006" y="4188105"/>
              <a:ext cx="556472" cy="556472"/>
            </a:xfrm>
            <a:prstGeom prst="rect">
              <a:avLst/>
            </a:prstGeom>
          </p:spPr>
        </p:pic>
        <p:sp>
          <p:nvSpPr>
            <p:cNvPr id="36" name="TextBox 35">
              <a:extLst>
                <a:ext uri="{FF2B5EF4-FFF2-40B4-BE49-F238E27FC236}">
                  <a16:creationId xmlns:a16="http://schemas.microsoft.com/office/drawing/2014/main" id="{D0A97559-2CE1-8F18-01BA-F68590FFB596}"/>
                </a:ext>
              </a:extLst>
            </p:cNvPr>
            <p:cNvSpPr txBox="1"/>
            <p:nvPr/>
          </p:nvSpPr>
          <p:spPr>
            <a:xfrm>
              <a:off x="4923937" y="4720379"/>
              <a:ext cx="1901782" cy="271554"/>
            </a:xfrm>
            <a:prstGeom prst="rect">
              <a:avLst/>
            </a:prstGeom>
            <a:noFill/>
          </p:spPr>
          <p:txBody>
            <a:bodyPr wrap="square">
              <a:spAutoFit/>
            </a:bodyPr>
            <a:lstStyle/>
            <a:p>
              <a:pPr defTabSz="914367"/>
              <a:r>
                <a:rPr lang="fr-FR" sz="1176" b="1" dirty="0">
                  <a:solidFill>
                    <a:srgbClr val="000000"/>
                  </a:solidFill>
                  <a:latin typeface="Segoe UI"/>
                </a:rPr>
                <a:t>az104-08-install_IIS.ps1</a:t>
              </a:r>
            </a:p>
          </p:txBody>
        </p:sp>
        <p:sp>
          <p:nvSpPr>
            <p:cNvPr id="37" name="TextBox 36">
              <a:extLst>
                <a:ext uri="{FF2B5EF4-FFF2-40B4-BE49-F238E27FC236}">
                  <a16:creationId xmlns:a16="http://schemas.microsoft.com/office/drawing/2014/main" id="{F4B37F81-302C-9BF2-891E-70711B9DF34E}"/>
                </a:ext>
              </a:extLst>
            </p:cNvPr>
            <p:cNvSpPr txBox="1"/>
            <p:nvPr/>
          </p:nvSpPr>
          <p:spPr>
            <a:xfrm>
              <a:off x="7379175" y="1651982"/>
              <a:ext cx="1297732" cy="271554"/>
            </a:xfrm>
            <a:prstGeom prst="rect">
              <a:avLst/>
            </a:prstGeom>
            <a:noFill/>
          </p:spPr>
          <p:txBody>
            <a:bodyPr wrap="square">
              <a:spAutoFit/>
            </a:bodyPr>
            <a:lstStyle/>
            <a:p>
              <a:pPr defTabSz="914367"/>
              <a:r>
                <a:rPr lang="fr-FR" sz="1176" b="1" dirty="0">
                  <a:solidFill>
                    <a:srgbClr val="000000"/>
                  </a:solidFill>
                  <a:latin typeface="Segoe UI"/>
                </a:rPr>
                <a:t>az104-08-rg02</a:t>
              </a:r>
            </a:p>
          </p:txBody>
        </p:sp>
        <p:sp>
          <p:nvSpPr>
            <p:cNvPr id="38" name="Rectangle 37">
              <a:extLst>
                <a:ext uri="{FF2B5EF4-FFF2-40B4-BE49-F238E27FC236}">
                  <a16:creationId xmlns:a16="http://schemas.microsoft.com/office/drawing/2014/main" id="{B6A9BB67-882D-3B41-1E5D-9974ED17BCB9}"/>
                </a:ext>
              </a:extLst>
            </p:cNvPr>
            <p:cNvSpPr/>
            <p:nvPr/>
          </p:nvSpPr>
          <p:spPr bwMode="auto">
            <a:xfrm>
              <a:off x="7006251" y="2070440"/>
              <a:ext cx="4093924" cy="3082150"/>
            </a:xfrm>
            <a:prstGeom prst="rect">
              <a:avLst/>
            </a:prstGeom>
            <a:no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fr-FR" sz="2353" dirty="0">
                <a:gradFill>
                  <a:gsLst>
                    <a:gs pos="0">
                      <a:srgbClr val="FFFFFF"/>
                    </a:gs>
                    <a:gs pos="100000">
                      <a:srgbClr val="FFFFFF"/>
                    </a:gs>
                  </a:gsLst>
                  <a:lin ang="5400000" scaled="0"/>
                </a:gradFill>
                <a:latin typeface="Segoe UI"/>
                <a:cs typeface="Segoe UI" pitchFamily="34" charset="0"/>
              </a:endParaRPr>
            </a:p>
          </p:txBody>
        </p:sp>
        <p:pic>
          <p:nvPicPr>
            <p:cNvPr id="39" name="Graphic 38">
              <a:extLst>
                <a:ext uri="{FF2B5EF4-FFF2-40B4-BE49-F238E27FC236}">
                  <a16:creationId xmlns:a16="http://schemas.microsoft.com/office/drawing/2014/main" id="{AD0C0903-60BF-2121-1A6A-79346C838F2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006251" y="1600595"/>
              <a:ext cx="376369" cy="376369"/>
            </a:xfrm>
            <a:prstGeom prst="rect">
              <a:avLst/>
            </a:prstGeom>
          </p:spPr>
        </p:pic>
        <p:pic>
          <p:nvPicPr>
            <p:cNvPr id="40" name="Graphic 39">
              <a:extLst>
                <a:ext uri="{FF2B5EF4-FFF2-40B4-BE49-F238E27FC236}">
                  <a16:creationId xmlns:a16="http://schemas.microsoft.com/office/drawing/2014/main" id="{704B88A8-B7B2-52D8-A879-933F65BAC09B}"/>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8052633" y="2903107"/>
              <a:ext cx="545491" cy="545491"/>
            </a:xfrm>
            <a:prstGeom prst="rect">
              <a:avLst/>
            </a:prstGeom>
          </p:spPr>
        </p:pic>
        <p:sp>
          <p:nvSpPr>
            <p:cNvPr id="41" name="TextBox 40">
              <a:extLst>
                <a:ext uri="{FF2B5EF4-FFF2-40B4-BE49-F238E27FC236}">
                  <a16:creationId xmlns:a16="http://schemas.microsoft.com/office/drawing/2014/main" id="{3133CEE1-403A-7ABC-DCF8-1B5B2CBC11DB}"/>
                </a:ext>
              </a:extLst>
            </p:cNvPr>
            <p:cNvSpPr txBox="1"/>
            <p:nvPr/>
          </p:nvSpPr>
          <p:spPr>
            <a:xfrm>
              <a:off x="7780327" y="3456912"/>
              <a:ext cx="1297732" cy="271554"/>
            </a:xfrm>
            <a:prstGeom prst="rect">
              <a:avLst/>
            </a:prstGeom>
            <a:noFill/>
          </p:spPr>
          <p:txBody>
            <a:bodyPr wrap="square">
              <a:spAutoFit/>
            </a:bodyPr>
            <a:lstStyle/>
            <a:p>
              <a:pPr defTabSz="914367"/>
              <a:r>
                <a:rPr lang="fr-FR" sz="1176" b="1" dirty="0">
                  <a:solidFill>
                    <a:srgbClr val="000000"/>
                  </a:solidFill>
                  <a:latin typeface="Segoe UI"/>
                </a:rPr>
                <a:t>az10408vmss0</a:t>
              </a:r>
            </a:p>
          </p:txBody>
        </p:sp>
        <p:sp>
          <p:nvSpPr>
            <p:cNvPr id="42" name="Rectangle 41">
              <a:extLst>
                <a:ext uri="{FF2B5EF4-FFF2-40B4-BE49-F238E27FC236}">
                  <a16:creationId xmlns:a16="http://schemas.microsoft.com/office/drawing/2014/main" id="{BF259486-436B-C26E-9A0B-7AA75A6C7103}"/>
                </a:ext>
              </a:extLst>
            </p:cNvPr>
            <p:cNvSpPr/>
            <p:nvPr/>
          </p:nvSpPr>
          <p:spPr bwMode="auto">
            <a:xfrm>
              <a:off x="7126684" y="2492953"/>
              <a:ext cx="3729458" cy="2498979"/>
            </a:xfrm>
            <a:prstGeom prst="rect">
              <a:avLst/>
            </a:prstGeom>
            <a:noFill/>
            <a:ln>
              <a:solidFill>
                <a:schemeClr val="tx1"/>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fr-FR" sz="2353" dirty="0">
                <a:gradFill>
                  <a:gsLst>
                    <a:gs pos="0">
                      <a:srgbClr val="FFFFFF"/>
                    </a:gs>
                    <a:gs pos="100000">
                      <a:srgbClr val="FFFFFF"/>
                    </a:gs>
                  </a:gsLst>
                  <a:lin ang="5400000" scaled="0"/>
                </a:gradFill>
                <a:latin typeface="Segoe UI"/>
                <a:cs typeface="Segoe UI" pitchFamily="34" charset="0"/>
              </a:endParaRPr>
            </a:p>
          </p:txBody>
        </p:sp>
        <p:sp>
          <p:nvSpPr>
            <p:cNvPr id="43" name="Rectangle 42">
              <a:extLst>
                <a:ext uri="{FF2B5EF4-FFF2-40B4-BE49-F238E27FC236}">
                  <a16:creationId xmlns:a16="http://schemas.microsoft.com/office/drawing/2014/main" id="{DC6D8339-B439-4113-0157-2ABC9DDB7486}"/>
                </a:ext>
              </a:extLst>
            </p:cNvPr>
            <p:cNvSpPr/>
            <p:nvPr/>
          </p:nvSpPr>
          <p:spPr bwMode="auto">
            <a:xfrm>
              <a:off x="7498049" y="2781538"/>
              <a:ext cx="3187882" cy="1963039"/>
            </a:xfrm>
            <a:prstGeom prst="rect">
              <a:avLst/>
            </a:prstGeom>
            <a:noFill/>
            <a:ln>
              <a:solidFill>
                <a:schemeClr val="tx1"/>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fr-FR" sz="2353" dirty="0">
                <a:gradFill>
                  <a:gsLst>
                    <a:gs pos="0">
                      <a:srgbClr val="FFFFFF"/>
                    </a:gs>
                    <a:gs pos="100000">
                      <a:srgbClr val="FFFFFF"/>
                    </a:gs>
                  </a:gsLst>
                  <a:lin ang="5400000" scaled="0"/>
                </a:gradFill>
                <a:latin typeface="Segoe UI"/>
                <a:cs typeface="Segoe UI" pitchFamily="34" charset="0"/>
              </a:endParaRPr>
            </a:p>
          </p:txBody>
        </p:sp>
        <p:pic>
          <p:nvPicPr>
            <p:cNvPr id="44" name="Graphic 43">
              <a:extLst>
                <a:ext uri="{FF2B5EF4-FFF2-40B4-BE49-F238E27FC236}">
                  <a16:creationId xmlns:a16="http://schemas.microsoft.com/office/drawing/2014/main" id="{9B8BA71F-B878-307B-D67E-B9A219E521B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145657" y="2095976"/>
              <a:ext cx="412418" cy="412418"/>
            </a:xfrm>
            <a:prstGeom prst="rect">
              <a:avLst/>
            </a:prstGeom>
          </p:spPr>
        </p:pic>
        <p:sp>
          <p:nvSpPr>
            <p:cNvPr id="45" name="TextBox 44">
              <a:extLst>
                <a:ext uri="{FF2B5EF4-FFF2-40B4-BE49-F238E27FC236}">
                  <a16:creationId xmlns:a16="http://schemas.microsoft.com/office/drawing/2014/main" id="{1930F0C1-FA05-26A4-2B2D-A7C0109C8590}"/>
                </a:ext>
              </a:extLst>
            </p:cNvPr>
            <p:cNvSpPr txBox="1"/>
            <p:nvPr/>
          </p:nvSpPr>
          <p:spPr>
            <a:xfrm>
              <a:off x="7558075" y="2152117"/>
              <a:ext cx="2688259" cy="271554"/>
            </a:xfrm>
            <a:prstGeom prst="rect">
              <a:avLst/>
            </a:prstGeom>
            <a:noFill/>
          </p:spPr>
          <p:txBody>
            <a:bodyPr wrap="square">
              <a:spAutoFit/>
            </a:bodyPr>
            <a:lstStyle/>
            <a:p>
              <a:pPr defTabSz="914367"/>
              <a:r>
                <a:rPr lang="fr-FR" sz="1176" b="1" dirty="0">
                  <a:solidFill>
                    <a:srgbClr val="000000"/>
                  </a:solidFill>
                  <a:latin typeface="Segoe UI"/>
                </a:rPr>
                <a:t>az104-08-rg02-vnet </a:t>
              </a:r>
              <a:r>
                <a:rPr lang="fr-FR" sz="1176" dirty="0">
                  <a:solidFill>
                    <a:srgbClr val="000000"/>
                  </a:solidFill>
                  <a:latin typeface="Segoe UI"/>
                </a:rPr>
                <a:t>10.82.0.0/20</a:t>
              </a:r>
            </a:p>
          </p:txBody>
        </p:sp>
        <p:sp>
          <p:nvSpPr>
            <p:cNvPr id="46" name="TextBox 45">
              <a:extLst>
                <a:ext uri="{FF2B5EF4-FFF2-40B4-BE49-F238E27FC236}">
                  <a16:creationId xmlns:a16="http://schemas.microsoft.com/office/drawing/2014/main" id="{FF587B93-740F-26F5-E81E-656D829E3FBA}"/>
                </a:ext>
              </a:extLst>
            </p:cNvPr>
            <p:cNvSpPr txBox="1"/>
            <p:nvPr/>
          </p:nvSpPr>
          <p:spPr>
            <a:xfrm>
              <a:off x="7432645" y="2523835"/>
              <a:ext cx="1848143" cy="271554"/>
            </a:xfrm>
            <a:prstGeom prst="rect">
              <a:avLst/>
            </a:prstGeom>
            <a:noFill/>
          </p:spPr>
          <p:txBody>
            <a:bodyPr wrap="square">
              <a:spAutoFit/>
            </a:bodyPr>
            <a:lstStyle/>
            <a:p>
              <a:pPr defTabSz="914367"/>
              <a:r>
                <a:rPr lang="fr-FR" sz="1176" b="1" dirty="0">
                  <a:solidFill>
                    <a:srgbClr val="000000"/>
                  </a:solidFill>
                  <a:latin typeface="Segoe UI"/>
                </a:rPr>
                <a:t>Subnet0 </a:t>
              </a:r>
              <a:r>
                <a:rPr lang="fr-FR" sz="1176" dirty="0">
                  <a:solidFill>
                    <a:srgbClr val="000000"/>
                  </a:solidFill>
                  <a:latin typeface="Segoe UI"/>
                </a:rPr>
                <a:t>10.82.0.0/24</a:t>
              </a:r>
            </a:p>
          </p:txBody>
        </p:sp>
        <p:pic>
          <p:nvPicPr>
            <p:cNvPr id="47" name="Graphic 46">
              <a:extLst>
                <a:ext uri="{FF2B5EF4-FFF2-40B4-BE49-F238E27FC236}">
                  <a16:creationId xmlns:a16="http://schemas.microsoft.com/office/drawing/2014/main" id="{EBD79169-DCA8-58B6-02CF-03224264709C}"/>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8183225" y="3943529"/>
              <a:ext cx="414898" cy="414898"/>
            </a:xfrm>
            <a:prstGeom prst="rect">
              <a:avLst/>
            </a:prstGeom>
          </p:spPr>
        </p:pic>
        <p:sp>
          <p:nvSpPr>
            <p:cNvPr id="48" name="TextBox 47">
              <a:extLst>
                <a:ext uri="{FF2B5EF4-FFF2-40B4-BE49-F238E27FC236}">
                  <a16:creationId xmlns:a16="http://schemas.microsoft.com/office/drawing/2014/main" id="{858A6BE8-47C6-2782-AD06-D75579D54A7C}"/>
                </a:ext>
              </a:extLst>
            </p:cNvPr>
            <p:cNvSpPr txBox="1"/>
            <p:nvPr/>
          </p:nvSpPr>
          <p:spPr>
            <a:xfrm>
              <a:off x="7618482" y="4389989"/>
              <a:ext cx="1698607" cy="271554"/>
            </a:xfrm>
            <a:prstGeom prst="rect">
              <a:avLst/>
            </a:prstGeom>
            <a:noFill/>
          </p:spPr>
          <p:txBody>
            <a:bodyPr wrap="square">
              <a:spAutoFit/>
            </a:bodyPr>
            <a:lstStyle/>
            <a:p>
              <a:pPr defTabSz="914367"/>
              <a:r>
                <a:rPr lang="fr-FR" sz="1176" b="1" dirty="0">
                  <a:solidFill>
                    <a:srgbClr val="000000"/>
                  </a:solidFill>
                  <a:latin typeface="Segoe UI"/>
                </a:rPr>
                <a:t>az10408vmss0-nsg</a:t>
              </a:r>
            </a:p>
          </p:txBody>
        </p:sp>
        <p:pic>
          <p:nvPicPr>
            <p:cNvPr id="49" name="Graphic 48">
              <a:extLst>
                <a:ext uri="{FF2B5EF4-FFF2-40B4-BE49-F238E27FC236}">
                  <a16:creationId xmlns:a16="http://schemas.microsoft.com/office/drawing/2014/main" id="{24F5B011-ACFA-AAB0-0C79-05F7692E9F59}"/>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9728128" y="2899104"/>
              <a:ext cx="498254" cy="498254"/>
            </a:xfrm>
            <a:prstGeom prst="rect">
              <a:avLst/>
            </a:prstGeom>
          </p:spPr>
        </p:pic>
        <p:sp>
          <p:nvSpPr>
            <p:cNvPr id="50" name="TextBox 49">
              <a:extLst>
                <a:ext uri="{FF2B5EF4-FFF2-40B4-BE49-F238E27FC236}">
                  <a16:creationId xmlns:a16="http://schemas.microsoft.com/office/drawing/2014/main" id="{EA82BA03-F043-1539-9C4E-B1E0F15297D2}"/>
                </a:ext>
              </a:extLst>
            </p:cNvPr>
            <p:cNvSpPr txBox="1"/>
            <p:nvPr/>
          </p:nvSpPr>
          <p:spPr>
            <a:xfrm>
              <a:off x="9303969" y="3445737"/>
              <a:ext cx="1542542" cy="271554"/>
            </a:xfrm>
            <a:prstGeom prst="rect">
              <a:avLst/>
            </a:prstGeom>
            <a:noFill/>
          </p:spPr>
          <p:txBody>
            <a:bodyPr wrap="square">
              <a:spAutoFit/>
            </a:bodyPr>
            <a:lstStyle/>
            <a:p>
              <a:pPr defTabSz="914367"/>
              <a:r>
                <a:rPr lang="fr-FR" sz="1176" b="1" dirty="0">
                  <a:solidFill>
                    <a:srgbClr val="000000"/>
                  </a:solidFill>
                  <a:latin typeface="Segoe UI"/>
                </a:rPr>
                <a:t>az10408vmss0-lb</a:t>
              </a:r>
            </a:p>
          </p:txBody>
        </p:sp>
        <p:pic>
          <p:nvPicPr>
            <p:cNvPr id="51" name="Graphic 50">
              <a:extLst>
                <a:ext uri="{FF2B5EF4-FFF2-40B4-BE49-F238E27FC236}">
                  <a16:creationId xmlns:a16="http://schemas.microsoft.com/office/drawing/2014/main" id="{E15BFA9F-906D-3422-E0C5-1A2FACDBB082}"/>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9776462" y="3944711"/>
              <a:ext cx="414898" cy="414898"/>
            </a:xfrm>
            <a:prstGeom prst="rect">
              <a:avLst/>
            </a:prstGeom>
          </p:spPr>
        </p:pic>
        <p:sp>
          <p:nvSpPr>
            <p:cNvPr id="52" name="TextBox 51">
              <a:extLst>
                <a:ext uri="{FF2B5EF4-FFF2-40B4-BE49-F238E27FC236}">
                  <a16:creationId xmlns:a16="http://schemas.microsoft.com/office/drawing/2014/main" id="{B5B6A3FA-0D06-B1E6-36C9-7228805D9DF1}"/>
                </a:ext>
              </a:extLst>
            </p:cNvPr>
            <p:cNvSpPr txBox="1"/>
            <p:nvPr/>
          </p:nvSpPr>
          <p:spPr>
            <a:xfrm>
              <a:off x="9346060" y="4382280"/>
              <a:ext cx="1542541" cy="271554"/>
            </a:xfrm>
            <a:prstGeom prst="rect">
              <a:avLst/>
            </a:prstGeom>
            <a:noFill/>
          </p:spPr>
          <p:txBody>
            <a:bodyPr wrap="square">
              <a:spAutoFit/>
            </a:bodyPr>
            <a:lstStyle/>
            <a:p>
              <a:pPr defTabSz="914367"/>
              <a:r>
                <a:rPr lang="fr-FR" sz="1176" b="1" dirty="0">
                  <a:solidFill>
                    <a:srgbClr val="000000"/>
                  </a:solidFill>
                  <a:latin typeface="Segoe UI"/>
                </a:rPr>
                <a:t>az10408vmss0-ip</a:t>
              </a:r>
            </a:p>
          </p:txBody>
        </p:sp>
        <p:sp>
          <p:nvSpPr>
            <p:cNvPr id="53" name="TextBox 52">
              <a:extLst>
                <a:ext uri="{FF2B5EF4-FFF2-40B4-BE49-F238E27FC236}">
                  <a16:creationId xmlns:a16="http://schemas.microsoft.com/office/drawing/2014/main" id="{6C34C469-5C37-FD9B-22E0-5B1400AD285C}"/>
                </a:ext>
              </a:extLst>
            </p:cNvPr>
            <p:cNvSpPr txBox="1"/>
            <p:nvPr/>
          </p:nvSpPr>
          <p:spPr>
            <a:xfrm>
              <a:off x="598455" y="1333727"/>
              <a:ext cx="856478" cy="271554"/>
            </a:xfrm>
            <a:prstGeom prst="rect">
              <a:avLst/>
            </a:prstGeom>
            <a:noFill/>
          </p:spPr>
          <p:txBody>
            <a:bodyPr wrap="square">
              <a:spAutoFit/>
            </a:bodyPr>
            <a:lstStyle/>
            <a:p>
              <a:pPr defTabSz="914367"/>
              <a:r>
                <a:rPr lang="fr-FR" sz="1176" b="1" dirty="0">
                  <a:solidFill>
                    <a:schemeClr val="tx2">
                      <a:lumMod val="50000"/>
                    </a:schemeClr>
                  </a:solidFill>
                  <a:latin typeface="Segoe UI"/>
                </a:rPr>
                <a:t>Task 1</a:t>
              </a:r>
            </a:p>
          </p:txBody>
        </p:sp>
        <p:sp>
          <p:nvSpPr>
            <p:cNvPr id="54" name="TextBox 53">
              <a:extLst>
                <a:ext uri="{FF2B5EF4-FFF2-40B4-BE49-F238E27FC236}">
                  <a16:creationId xmlns:a16="http://schemas.microsoft.com/office/drawing/2014/main" id="{83068943-5C1E-B2EB-FD3F-F1666C82B3D2}"/>
                </a:ext>
              </a:extLst>
            </p:cNvPr>
            <p:cNvSpPr txBox="1"/>
            <p:nvPr/>
          </p:nvSpPr>
          <p:spPr>
            <a:xfrm>
              <a:off x="4839628" y="1367216"/>
              <a:ext cx="856478" cy="271554"/>
            </a:xfrm>
            <a:prstGeom prst="rect">
              <a:avLst/>
            </a:prstGeom>
            <a:noFill/>
          </p:spPr>
          <p:txBody>
            <a:bodyPr wrap="square">
              <a:spAutoFit/>
            </a:bodyPr>
            <a:lstStyle/>
            <a:p>
              <a:pPr defTabSz="914367"/>
              <a:r>
                <a:rPr lang="fr-FR" sz="1176" b="1" dirty="0">
                  <a:solidFill>
                    <a:schemeClr val="tx2">
                      <a:lumMod val="50000"/>
                    </a:schemeClr>
                  </a:solidFill>
                  <a:latin typeface="Segoe UI"/>
                </a:rPr>
                <a:t>Task 2</a:t>
              </a:r>
            </a:p>
          </p:txBody>
        </p:sp>
        <p:sp>
          <p:nvSpPr>
            <p:cNvPr id="55" name="TextBox 54">
              <a:extLst>
                <a:ext uri="{FF2B5EF4-FFF2-40B4-BE49-F238E27FC236}">
                  <a16:creationId xmlns:a16="http://schemas.microsoft.com/office/drawing/2014/main" id="{C2812480-3963-A8F2-295F-A6109639FAD9}"/>
                </a:ext>
              </a:extLst>
            </p:cNvPr>
            <p:cNvSpPr txBox="1"/>
            <p:nvPr/>
          </p:nvSpPr>
          <p:spPr>
            <a:xfrm>
              <a:off x="6892733" y="1324728"/>
              <a:ext cx="2835394" cy="271554"/>
            </a:xfrm>
            <a:prstGeom prst="rect">
              <a:avLst/>
            </a:prstGeom>
            <a:noFill/>
          </p:spPr>
          <p:txBody>
            <a:bodyPr wrap="square">
              <a:spAutoFit/>
            </a:bodyPr>
            <a:lstStyle/>
            <a:p>
              <a:pPr defTabSz="914367"/>
              <a:r>
                <a:rPr lang="fr-FR" sz="1176" b="1" dirty="0">
                  <a:solidFill>
                    <a:schemeClr val="tx2">
                      <a:lumMod val="50000"/>
                    </a:schemeClr>
                  </a:solidFill>
                  <a:latin typeface="Segoe UI"/>
                </a:rPr>
                <a:t>Task 3, Task 4, Task 5, Task 6, Task 7 </a:t>
              </a:r>
            </a:p>
          </p:txBody>
        </p:sp>
      </p:grpSp>
    </p:spTree>
    <p:extLst>
      <p:ext uri="{BB962C8B-B14F-4D97-AF65-F5344CB8AC3E}">
        <p14:creationId xmlns:p14="http://schemas.microsoft.com/office/powerpoint/2010/main" val="8489762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2" name="Rectangle 1">
            <a:extLst>
              <a:ext uri="{FF2B5EF4-FFF2-40B4-BE49-F238E27FC236}">
                <a16:creationId xmlns:a16="http://schemas.microsoft.com/office/drawing/2014/main" id="{766814A4-BFD7-7A21-DFB9-863B5D439FE5}"/>
              </a:ext>
            </a:extLst>
          </p:cNvPr>
          <p:cNvSpPr/>
          <p:nvPr/>
        </p:nvSpPr>
        <p:spPr>
          <a:xfrm>
            <a:off x="0" y="2692672"/>
            <a:ext cx="12192000" cy="2751349"/>
          </a:xfrm>
          <a:prstGeom prst="rect">
            <a:avLst/>
          </a:prstGeom>
          <a:solidFill>
            <a:srgbClr val="004F9B"/>
          </a:solidFill>
          <a:ln>
            <a:noFill/>
          </a:ln>
          <a:effectLst>
            <a:outerShdw blurRad="50800" dist="38100" dir="5400000" algn="t"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p>
        </p:txBody>
      </p:sp>
      <p:sp>
        <p:nvSpPr>
          <p:cNvPr id="615" name="Google Shape;615;p34"/>
          <p:cNvSpPr txBox="1"/>
          <p:nvPr/>
        </p:nvSpPr>
        <p:spPr>
          <a:xfrm>
            <a:off x="1162171" y="3429000"/>
            <a:ext cx="9867659" cy="1298677"/>
          </a:xfrm>
          <a:prstGeom prst="rect">
            <a:avLst/>
          </a:prstGeom>
          <a:noFill/>
          <a:ln>
            <a:noFill/>
          </a:ln>
        </p:spPr>
        <p:txBody>
          <a:bodyPr spcFirstLastPara="1" wrap="square" lIns="121900" tIns="60933" rIns="121900" bIns="60933" anchor="ctr" anchorCtr="0">
            <a:noAutofit/>
          </a:bodyPr>
          <a:lstStyle/>
          <a:p>
            <a:pPr algn="ctr">
              <a:lnSpc>
                <a:spcPct val="90000"/>
              </a:lnSpc>
              <a:buClr>
                <a:schemeClr val="dk1"/>
              </a:buClr>
              <a:buSzPts val="4000"/>
            </a:pPr>
            <a:r>
              <a:rPr lang="en-US" sz="4800" dirty="0">
                <a:solidFill>
                  <a:schemeClr val="bg1"/>
                </a:solidFill>
                <a:latin typeface="Lato"/>
                <a:ea typeface="Lato"/>
                <a:cs typeface="Lato"/>
                <a:sym typeface="Lato"/>
                <a:extLst>
                  <a:ext uri="http://customooxmlschemas.google.com/">
                    <go:slidesCustomData xmlns:lc="http://schemas.openxmlformats.org/drawingml/2006/lockedCanva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0"/>
                  </a:ext>
                </a:extLst>
              </a:rPr>
              <a:t>Thank You!</a:t>
            </a:r>
            <a:endParaRPr lang="en-US" sz="4800" dirty="0">
              <a:solidFill>
                <a:schemeClr val="bg1"/>
              </a:solidFill>
              <a:latin typeface="Lato"/>
              <a:ea typeface="Lato"/>
              <a:cs typeface="Lato"/>
              <a:sym typeface="Lato"/>
            </a:endParaRPr>
          </a:p>
        </p:txBody>
      </p:sp>
      <p:sp>
        <p:nvSpPr>
          <p:cNvPr id="617" name="Google Shape;617;p34"/>
          <p:cNvSpPr txBox="1">
            <a:spLocks noGrp="1"/>
          </p:cNvSpPr>
          <p:nvPr>
            <p:ph type="sldNum" idx="4294967295"/>
          </p:nvPr>
        </p:nvSpPr>
        <p:spPr>
          <a:xfrm>
            <a:off x="8682567" y="6356351"/>
            <a:ext cx="2743200" cy="366000"/>
          </a:xfrm>
          <a:prstGeom prst="rect">
            <a:avLst/>
          </a:prstGeom>
          <a:noFill/>
          <a:ln>
            <a:noFill/>
          </a:ln>
        </p:spPr>
        <p:txBody>
          <a:bodyPr spcFirstLastPara="1" wrap="square" lIns="121900" tIns="60933" rIns="121900" bIns="60933" anchor="ctr" anchorCtr="0">
            <a:noAutofit/>
          </a:bodyPr>
          <a:lstStyle/>
          <a:p>
            <a:fld id="{00000000-1234-1234-1234-123412341234}" type="slidenum">
              <a:rPr lang="en-IN">
                <a:solidFill>
                  <a:srgbClr val="FF0000"/>
                </a:solidFill>
                <a:latin typeface="Proxima Nova"/>
                <a:ea typeface="Proxima Nova"/>
                <a:cs typeface="Proxima Nova"/>
                <a:sym typeface="Proxima Nova"/>
              </a:rPr>
              <a:pPr/>
              <a:t>24</a:t>
            </a:fld>
            <a:endParaRPr>
              <a:solidFill>
                <a:srgbClr val="FF0000"/>
              </a:solidFill>
              <a:latin typeface="Proxima Nova"/>
              <a:ea typeface="Proxima Nova"/>
              <a:cs typeface="Proxima Nova"/>
              <a:sym typeface="Proxima Nova"/>
            </a:endParaRPr>
          </a:p>
        </p:txBody>
      </p:sp>
      <p:pic>
        <p:nvPicPr>
          <p:cNvPr id="618" name="Google Shape;618;p34"/>
          <p:cNvPicPr preferRelativeResize="0"/>
          <p:nvPr/>
        </p:nvPicPr>
        <p:blipFill>
          <a:blip r:embed="rId3">
            <a:alphaModFix/>
          </a:blip>
          <a:stretch>
            <a:fillRect/>
          </a:stretch>
        </p:blipFill>
        <p:spPr>
          <a:xfrm>
            <a:off x="9446335" y="135650"/>
            <a:ext cx="2058733" cy="2058733"/>
          </a:xfrm>
          <a:prstGeom prst="rect">
            <a:avLst/>
          </a:prstGeom>
          <a:noFill/>
          <a:ln>
            <a:noFill/>
          </a:ln>
        </p:spPr>
      </p:pic>
      <p:pic>
        <p:nvPicPr>
          <p:cNvPr id="3" name="Picture 2">
            <a:extLst>
              <a:ext uri="{FF2B5EF4-FFF2-40B4-BE49-F238E27FC236}">
                <a16:creationId xmlns:a16="http://schemas.microsoft.com/office/drawing/2014/main" id="{ED6418B9-9024-36FD-FF4A-D689E721F145}"/>
              </a:ext>
            </a:extLst>
          </p:cNvPr>
          <p:cNvPicPr>
            <a:picLocks noChangeAspect="1"/>
          </p:cNvPicPr>
          <p:nvPr/>
        </p:nvPicPr>
        <p:blipFill rotWithShape="1">
          <a:blip r:embed="rId4"/>
          <a:srcRect l="25725" t="37867" r="34750" b="40666"/>
          <a:stretch/>
        </p:blipFill>
        <p:spPr>
          <a:xfrm>
            <a:off x="1042416" y="709650"/>
            <a:ext cx="3504687" cy="107069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5858</TotalTime>
  <Words>1184</Words>
  <Application>Microsoft Office PowerPoint</Application>
  <PresentationFormat>Widescreen</PresentationFormat>
  <Paragraphs>200</Paragraphs>
  <Slides>24</Slides>
  <Notes>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24</vt:i4>
      </vt:variant>
    </vt:vector>
  </HeadingPairs>
  <TitlesOfParts>
    <vt:vector size="34" baseType="lpstr">
      <vt:lpstr>-apple-system</vt:lpstr>
      <vt:lpstr>Arial</vt:lpstr>
      <vt:lpstr>Calibri</vt:lpstr>
      <vt:lpstr>Calibri Light</vt:lpstr>
      <vt:lpstr>Lato</vt:lpstr>
      <vt:lpstr>Proxima Nova</vt:lpstr>
      <vt:lpstr>Segoe UI</vt:lpstr>
      <vt:lpstr>Segoe UI Semibold</vt:lpstr>
      <vt:lpstr>Segoe UI Semilight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Janvi Jannet</dc:creator>
  <cp:lastModifiedBy>Nikunj Singhal</cp:lastModifiedBy>
  <cp:revision>11</cp:revision>
  <dcterms:created xsi:type="dcterms:W3CDTF">2024-07-23T11:56:01Z</dcterms:created>
  <dcterms:modified xsi:type="dcterms:W3CDTF">2024-11-14T10:19:51Z</dcterms:modified>
</cp:coreProperties>
</file>