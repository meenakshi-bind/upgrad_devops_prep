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903" r:id="rId3"/>
    <p:sldId id="902" r:id="rId4"/>
    <p:sldId id="901" r:id="rId5"/>
    <p:sldId id="904" r:id="rId6"/>
    <p:sldId id="905" r:id="rId7"/>
    <p:sldId id="906" r:id="rId8"/>
    <p:sldId id="907" r:id="rId9"/>
    <p:sldId id="908" r:id="rId10"/>
    <p:sldId id="909" r:id="rId11"/>
    <p:sldId id="910" r:id="rId12"/>
    <p:sldId id="911" r:id="rId13"/>
    <p:sldId id="912" r:id="rId14"/>
    <p:sldId id="913" r:id="rId15"/>
    <p:sldId id="914" r:id="rId16"/>
    <p:sldId id="915" r:id="rId17"/>
    <p:sldId id="916" r:id="rId18"/>
    <p:sldId id="917" r:id="rId19"/>
    <p:sldId id="918" r:id="rId20"/>
    <p:sldId id="919" r:id="rId21"/>
    <p:sldId id="920" r:id="rId22"/>
    <p:sldId id="921" r:id="rId23"/>
    <p:sldId id="922" r:id="rId24"/>
    <p:sldId id="924" r:id="rId25"/>
    <p:sldId id="925" r:id="rId26"/>
    <p:sldId id="926" r:id="rId27"/>
    <p:sldId id="927" r:id="rId28"/>
    <p:sldId id="928" r:id="rId29"/>
    <p:sldId id="50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525" autoAdjust="0"/>
  </p:normalViewPr>
  <p:slideViewPr>
    <p:cSldViewPr snapToGrid="0">
      <p:cViewPr varScale="1">
        <p:scale>
          <a:sx n="68" d="100"/>
          <a:sy n="68" d="100"/>
        </p:scale>
        <p:origin x="606"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13585-F2F7-4CAB-A4E4-1512BB9B545B}" type="datetimeFigureOut">
              <a:rPr lang="en-IN" smtClean="0"/>
              <a:t>22-10-2024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69316-F612-48C3-B1C7-701A2C12BC02}" type="slidenum">
              <a:rPr lang="en-IN" smtClean="0"/>
              <a:t>‹#›</a:t>
            </a:fld>
            <a:endParaRPr lang="en-IN"/>
          </a:p>
        </p:txBody>
      </p:sp>
    </p:spTree>
    <p:extLst>
      <p:ext uri="{BB962C8B-B14F-4D97-AF65-F5344CB8AC3E}">
        <p14:creationId xmlns:p14="http://schemas.microsoft.com/office/powerpoint/2010/main" val="83973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u="none" strike="noStrike" kern="1200" dirty="0">
                <a:solidFill>
                  <a:schemeClr val="tx1"/>
                </a:solidFill>
                <a:effectLst/>
                <a:ea typeface="+mn-ea"/>
                <a:cs typeface="+mn-cs"/>
              </a:rPr>
              <a:t>A list of regions and their locations is available at </a:t>
            </a:r>
            <a:r>
              <a:rPr lang="en-IE" sz="1200" u="sng" dirty="0"/>
              <a:t>https://azure.microsoft.com/global-infrastructure/locations/</a:t>
            </a:r>
          </a:p>
          <a:p>
            <a:endParaRPr lang="en-IE" sz="1200" u="sng" dirty="0"/>
          </a:p>
          <a:p>
            <a:r>
              <a:rPr lang="en-IE" sz="1200" u="none" dirty="0"/>
              <a:t>Here is a link to the list of regional pairs: https://learn.microsoft.com/azure/reliability/cross-region-replication-azure#azure-cross-region-replication-pairings-for-all-geographies</a:t>
            </a:r>
          </a:p>
          <a:p>
            <a:endParaRPr lang="en-IE" sz="1200" u="none" dirty="0"/>
          </a:p>
          <a:p>
            <a:r>
              <a:rPr lang="en-IE" sz="1200" u="none" dirty="0"/>
              <a:t>Microsoft </a:t>
            </a:r>
            <a:r>
              <a:rPr lang="en-IE" sz="1200" u="none" dirty="0" err="1"/>
              <a:t>datacenters</a:t>
            </a:r>
            <a:r>
              <a:rPr lang="en-IE" sz="1200" u="none" dirty="0"/>
              <a:t> animation - https://datacenters.microsoft.com/globe/explore</a:t>
            </a:r>
          </a:p>
          <a:p>
            <a:endParaRPr lang="en-IE" sz="1200" u="none" dirty="0"/>
          </a:p>
          <a:p>
            <a:r>
              <a:rPr lang="en-IE" sz="1200" u="none" dirty="0"/>
              <a:t>Virtual </a:t>
            </a:r>
            <a:r>
              <a:rPr lang="en-US" sz="1200" u="none" noProof="0" dirty="0"/>
              <a:t>datacenter</a:t>
            </a:r>
            <a:r>
              <a:rPr lang="en-IE" sz="1200" u="none" dirty="0"/>
              <a:t> tour - https://datacenters.microsoft.com/globe/explore/datacenter</a:t>
            </a:r>
            <a:endParaRPr lang="en-IE" sz="1200" u="sng"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3</a:t>
            </a:fld>
            <a:endParaRPr lang="en-IN"/>
          </a:p>
        </p:txBody>
      </p:sp>
    </p:spTree>
    <p:extLst>
      <p:ext uri="{BB962C8B-B14F-4D97-AF65-F5344CB8AC3E}">
        <p14:creationId xmlns:p14="http://schemas.microsoft.com/office/powerpoint/2010/main" val="2189042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100" kern="1200" dirty="0">
                <a:solidFill>
                  <a:schemeClr val="tx1"/>
                </a:solidFill>
                <a:effectLst/>
                <a:ea typeface="+mn-ea"/>
                <a:cs typeface="+mn-cs"/>
              </a:rPr>
              <a:t>*Clarification on the last bullet - </a:t>
            </a:r>
            <a:r>
              <a:rPr lang="en-US" sz="1200" b="0" i="0" dirty="0" err="1">
                <a:effectLst/>
                <a:latin typeface="Segoe UI VSS (Regular)"/>
              </a:rPr>
              <a:t>OnlyiIdentities</a:t>
            </a:r>
            <a:r>
              <a:rPr lang="en-US" sz="1200" b="0" i="0" dirty="0">
                <a:effectLst/>
                <a:latin typeface="Segoe UI VSS (Regular)"/>
              </a:rPr>
              <a:t> in Microsoft Entra ID or in a directory that is trusted by Entra ID (such as a work or school organization) can create a Subscription.  For example, Account Owner role can be used to create a Subscription in an Enterprise Agreement.</a:t>
            </a:r>
            <a:endParaRPr lang="en-US" sz="6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kern="1200" dirty="0">
                <a:solidFill>
                  <a:schemeClr val="tx1"/>
                </a:solidFill>
                <a:effectLst/>
                <a:ea typeface="+mn-ea"/>
                <a:cs typeface="+mn-cs"/>
              </a:rPr>
              <a:t>Create an additional Azure subscription - https://docs.microsoft.com/azure/cost-management-billing/manage/create-subscription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kern="1200" dirty="0">
                <a:solidFill>
                  <a:schemeClr val="tx1"/>
                </a:solidFill>
                <a:effectLst/>
                <a:ea typeface="+mn-ea"/>
                <a:cs typeface="+mn-cs"/>
              </a:rPr>
              <a:t>Change your Azure subscription to a different offer - https://docs.microsoft.com/azure/cost-management-billing/manage/switch-azure-offer</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3200" dirty="0">
                <a:effectLst/>
                <a:latin typeface="Segoe UI" panose="020B0502040204020203" pitchFamily="34" charset="0"/>
              </a:rPr>
              <a:t>Subscription considerations and recommendations - https://learn.microsoft.com/azure/cloud-adoption-framework/ready/landing-zone/design-area/resource-org-subscriptions</a:t>
            </a:r>
            <a:br>
              <a:rPr lang="en-US" sz="3200" dirty="0">
                <a:effectLst/>
                <a:latin typeface="Segoe UI" panose="020B0502040204020203" pitchFamily="34" charset="0"/>
              </a:rPr>
            </a:br>
            <a:br>
              <a:rPr lang="en-US" sz="3200" dirty="0">
                <a:effectLst/>
                <a:latin typeface="Segoe UI" panose="020B0502040204020203" pitchFamily="34" charset="0"/>
              </a:rPr>
            </a:br>
            <a:r>
              <a:rPr lang="en-US" sz="6600" b="0" i="0" dirty="0">
                <a:solidFill>
                  <a:srgbClr val="161616"/>
                </a:solidFill>
                <a:effectLst/>
                <a:latin typeface="Segoe UI" panose="020B0502040204020203" pitchFamily="34" charset="0"/>
              </a:rPr>
              <a:t>Organize and manage multiple Azure subscriptions </a:t>
            </a:r>
            <a:r>
              <a:rPr lang="en-US" sz="6600" b="1" i="0" dirty="0">
                <a:solidFill>
                  <a:srgbClr val="161616"/>
                </a:solidFill>
                <a:effectLst/>
                <a:latin typeface="Segoe UI" panose="020B0502040204020203" pitchFamily="34" charset="0"/>
              </a:rPr>
              <a:t>- </a:t>
            </a:r>
            <a:r>
              <a:rPr lang="en-US" sz="3200" dirty="0">
                <a:effectLst/>
                <a:latin typeface="Segoe UI" panose="020B0502040204020203" pitchFamily="34" charset="0"/>
              </a:rPr>
              <a:t>https://learn.microsoft.com/azure/cloud-adoption-framework/ready/azure-best-practices/organize-subscriptions</a:t>
            </a:r>
            <a:endParaRPr lang="en-US" sz="12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kern="1200" dirty="0">
                <a:solidFill>
                  <a:schemeClr val="tx1"/>
                </a:solidFill>
                <a:effectLst/>
                <a:ea typeface="+mn-ea"/>
                <a:cs typeface="+mn-cs"/>
              </a:rPr>
              <a:t>✔️ Do you know how many subscriptions your organization has?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kern="1200" dirty="0">
              <a:solidFill>
                <a:schemeClr val="tx1"/>
              </a:solidFill>
              <a:effectLs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4</a:t>
            </a:fld>
            <a:endParaRPr lang="en-IN"/>
          </a:p>
        </p:txBody>
      </p:sp>
    </p:spTree>
    <p:extLst>
      <p:ext uri="{BB962C8B-B14F-4D97-AF65-F5344CB8AC3E}">
        <p14:creationId xmlns:p14="http://schemas.microsoft.com/office/powerpoint/2010/main" val="3529072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Credit card information is used for identity verification only. You won’t be charged for any services until you upgrade.</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5</a:t>
            </a:fld>
            <a:endParaRPr lang="en-IN"/>
          </a:p>
        </p:txBody>
      </p:sp>
    </p:spTree>
    <p:extLst>
      <p:ext uri="{BB962C8B-B14F-4D97-AF65-F5344CB8AC3E}">
        <p14:creationId xmlns:p14="http://schemas.microsoft.com/office/powerpoint/2010/main" val="782247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Subscription decision guide - https://docs.microsoft.com/azure/cloud-adoption-framework/decision-guides/subscriptions/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sz="3200" dirty="0">
                <a:effectLst/>
                <a:latin typeface="Segoe UI" panose="020B0502040204020203" pitchFamily="34" charset="0"/>
              </a:rPr>
              <a:t>Explore flexible purchasing options for Azure - https://azure.microsoft.com/pricing/purchase-options/</a:t>
            </a:r>
            <a:endParaRPr lang="en-US" dirty="0"/>
          </a:p>
          <a:p>
            <a:endParaRPr lang="en-US" dirty="0"/>
          </a:p>
          <a:p>
            <a:r>
              <a:rPr lang="en-US" dirty="0"/>
              <a:t>✔️ Which subscription model are you most interested in?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6</a:t>
            </a:fld>
            <a:endParaRPr lang="en-IN"/>
          </a:p>
        </p:txBody>
      </p:sp>
    </p:spTree>
    <p:extLst>
      <p:ext uri="{BB962C8B-B14F-4D97-AF65-F5344CB8AC3E}">
        <p14:creationId xmlns:p14="http://schemas.microsoft.com/office/powerpoint/2010/main" val="2552522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Manage Azure Resource Manager resource groups by using the Azure portal - https://docs.microsoft.com/azure/azure-resource-manager/management/manage-resource-groups-portal</a:t>
            </a:r>
          </a:p>
          <a:p>
            <a:endParaRPr lang="en-US" dirty="0"/>
          </a:p>
          <a:p>
            <a:r>
              <a:rPr lang="en-US" dirty="0"/>
              <a:t>There is an excellent Learn module, Use Azure resources, </a:t>
            </a:r>
            <a:r>
              <a:rPr lang="en-US" sz="3200" dirty="0">
                <a:effectLst/>
                <a:latin typeface="Segoe UI" panose="020B0502040204020203" pitchFamily="34" charset="0"/>
              </a:rPr>
              <a:t>https://learn.microsoft.com/training/modules/use-azure-resource-manager/. This covers the Azure Resource Manager, resources, limits, locks, and groups. </a:t>
            </a:r>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7</a:t>
            </a:fld>
            <a:endParaRPr lang="en-IN"/>
          </a:p>
        </p:txBody>
      </p:sp>
    </p:spTree>
    <p:extLst>
      <p:ext uri="{BB962C8B-B14F-4D97-AF65-F5344CB8AC3E}">
        <p14:creationId xmlns:p14="http://schemas.microsoft.com/office/powerpoint/2010/main" val="3315570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1200" kern="1200" dirty="0">
                <a:solidFill>
                  <a:schemeClr val="tx1"/>
                </a:solidFill>
                <a:effectLst/>
                <a:latin typeface="Segoe UI Light" pitchFamily="34" charset="0"/>
                <a:ea typeface="+mn-ea"/>
                <a:cs typeface="+mn-cs"/>
              </a:rPr>
              <a:t>Azure subscription and service limits, quotas, and constraints - https://docs.microsoft.com/azure/azure-resource-manager/management/azure-subscription-service-limits</a:t>
            </a:r>
          </a:p>
          <a:p>
            <a:endParaRPr lang="en-US" sz="1200" kern="1200" dirty="0">
              <a:solidFill>
                <a:schemeClr val="tx1"/>
              </a:solidFill>
              <a:effectLst/>
              <a:latin typeface="Segoe UI Light"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8</a:t>
            </a:fld>
            <a:endParaRPr lang="en-IN"/>
          </a:p>
        </p:txBody>
      </p:sp>
    </p:spTree>
    <p:extLst>
      <p:ext uri="{BB962C8B-B14F-4D97-AF65-F5344CB8AC3E}">
        <p14:creationId xmlns:p14="http://schemas.microsoft.com/office/powerpoint/2010/main" val="1236108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ea typeface="+mn-ea"/>
                <a:cs typeface="+mn-cs"/>
              </a:rPr>
              <a:t>Create management groups for resource organization and management - https://docs.microsoft.com/azure/governance/management-groups/create</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Manage your resources with management groups - https://docs.microsoft.com/azure/governance/management-groups/manage</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9</a:t>
            </a:fld>
            <a:endParaRPr lang="en-IN"/>
          </a:p>
        </p:txBody>
      </p:sp>
    </p:spTree>
    <p:extLst>
      <p:ext uri="{BB962C8B-B14F-4D97-AF65-F5344CB8AC3E}">
        <p14:creationId xmlns:p14="http://schemas.microsoft.com/office/powerpoint/2010/main" val="715114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ea typeface="+mn-ea"/>
                <a:cs typeface="+mn-cs"/>
              </a:rPr>
              <a:t>Resource naming and tagging decision guide - https://docs.microsoft.com/azure/cloud-adoption-framework/decision-guides/resource-tagging	</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 If you need to create a lot of tags you will want to do that programmatically. You can use PowerShell or the CLI.</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10</a:t>
            </a:fld>
            <a:endParaRPr lang="en-IN"/>
          </a:p>
        </p:txBody>
      </p:sp>
    </p:spTree>
    <p:extLst>
      <p:ext uri="{BB962C8B-B14F-4D97-AF65-F5344CB8AC3E}">
        <p14:creationId xmlns:p14="http://schemas.microsoft.com/office/powerpoint/2010/main" val="460142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800" b="1" i="0" u="none" strike="noStrike" kern="1200" dirty="0">
                <a:solidFill>
                  <a:schemeClr val="tx1"/>
                </a:solidFill>
                <a:effectLst/>
                <a:latin typeface="Segoe UI Light" pitchFamily="34" charset="0"/>
                <a:ea typeface="+mn-ea"/>
                <a:cs typeface="+mn-cs"/>
              </a:rPr>
              <a:t>Azure usage charges </a:t>
            </a:r>
            <a:r>
              <a:rPr lang="en-IE" sz="800" b="0" i="0" u="none" strike="noStrike" kern="1200" dirty="0">
                <a:solidFill>
                  <a:schemeClr val="tx1"/>
                </a:solidFill>
                <a:effectLst/>
                <a:latin typeface="Segoe UI Light" pitchFamily="34" charset="0"/>
                <a:ea typeface="+mn-ea"/>
                <a:cs typeface="+mn-cs"/>
              </a:rPr>
              <a:t>- </a:t>
            </a:r>
            <a:r>
              <a:rPr lang="en-IE" u="sng" dirty="0"/>
              <a:t>https://docs.microsoft.com/azure/billing/billing-understand-your-invoice</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u="sng" kern="1200" dirty="0">
              <a:solidFill>
                <a:schemeClr val="tx1"/>
              </a:solidFill>
              <a:effectLst/>
              <a:latin typeface="Segoe UI Light" pitchFamily="34" charset="0"/>
              <a:ea typeface="+mn-ea"/>
              <a:cs typeface="+mn-cs"/>
            </a:endParaRPr>
          </a:p>
          <a:p>
            <a:pPr marL="0" indent="0">
              <a:buNone/>
            </a:pPr>
            <a:r>
              <a:rPr lang="en-IE" sz="1200" dirty="0"/>
              <a:t>There are </a:t>
            </a:r>
            <a:r>
              <a:rPr lang="en-IE" sz="1200" dirty="0">
                <a:solidFill>
                  <a:schemeClr val="accent4"/>
                </a:solidFill>
              </a:rPr>
              <a:t>six </a:t>
            </a:r>
            <a:r>
              <a:rPr lang="en-IE" sz="1200" dirty="0"/>
              <a:t>primary factors affecting costs:</a:t>
            </a:r>
          </a:p>
          <a:p>
            <a:r>
              <a:rPr lang="en-IE" sz="1200" b="1" dirty="0"/>
              <a:t>Resource Type</a:t>
            </a:r>
            <a:r>
              <a:rPr lang="en-IE" sz="1200" dirty="0"/>
              <a:t>: Costs are resource-specific, so the usage that a meter tracks and the number of meters associated with a resource depend on the resource type.</a:t>
            </a:r>
          </a:p>
          <a:p>
            <a:r>
              <a:rPr lang="en-IE" sz="1200" b="1" dirty="0"/>
              <a:t>Services</a:t>
            </a:r>
            <a:r>
              <a:rPr lang="en-IE" sz="1200" dirty="0"/>
              <a:t>: Azure usage rates and billing periods can differ between Enterprise, Web Direct, and CSP customers.</a:t>
            </a:r>
          </a:p>
          <a:p>
            <a:r>
              <a:rPr lang="en-IE" sz="1200" b="1" dirty="0"/>
              <a:t>Location</a:t>
            </a:r>
            <a:r>
              <a:rPr lang="en-IE" sz="1200" dirty="0"/>
              <a:t>: The Azure infrastructure is globally distributed, and usage costs might vary between locations that offer Azure products, services, and resources.</a:t>
            </a:r>
          </a:p>
          <a:p>
            <a:pPr>
              <a:lnSpc>
                <a:spcPct val="100000"/>
              </a:lnSpc>
              <a:spcAft>
                <a:spcPts val="0"/>
              </a:spcAft>
            </a:pPr>
            <a:r>
              <a:rPr lang="en-IE" sz="1200" b="1" dirty="0">
                <a:latin typeface="Segoe UI Light"/>
                <a:cs typeface="Segoe UI Light"/>
              </a:rPr>
              <a:t>Bandwidth: </a:t>
            </a:r>
            <a:r>
              <a:rPr lang="en-US" sz="1200" dirty="0">
                <a:latin typeface="Segoe UI Light"/>
                <a:cs typeface="Segoe UI Light"/>
              </a:rPr>
              <a:t>Some inbound data transfers are free, such as data going into Azure datacenters. For outbound data transfers, such as data going out of Azure datacenters, pricing is based on Zones. </a:t>
            </a:r>
            <a:endParaRPr lang="en-IE" sz="1200" dirty="0">
              <a:latin typeface="Segoe UI Light"/>
              <a:cs typeface="Segoe UI Light"/>
            </a:endParaRPr>
          </a:p>
          <a:p>
            <a:r>
              <a:rPr lang="en-IE" sz="1200" b="1" dirty="0">
                <a:latin typeface="Segoe UI Light"/>
                <a:cs typeface="Segoe UI Light"/>
              </a:rPr>
              <a:t>Azure Reservations:  </a:t>
            </a:r>
            <a:r>
              <a:rPr lang="en-IE" sz="1200" dirty="0">
                <a:latin typeface="Segoe UI Light"/>
                <a:cs typeface="Segoe UI Light"/>
              </a:rPr>
              <a:t>Azure Reservations allow you to prepay for one-year or three-years of virtual machine or SQL Database compute capacity. Pre-paying will allow you to get a discount on the resources you use. Azure reservations can significantly reduce your virtual machine or SQL database compute costs — up to 72 percent on pay-as-you-go prices with one-year or three-year upfront commitment. Reservations provide a billing discount and don't affect the runtime state of your virtual machines or SQL databases.</a:t>
            </a:r>
          </a:p>
          <a:p>
            <a:r>
              <a:rPr lang="en-IE" sz="1200" b="1" dirty="0">
                <a:latin typeface="Segoe UI Light"/>
                <a:cs typeface="Segoe UI Light"/>
              </a:rPr>
              <a:t>Azure Hybrid Benefit:  </a:t>
            </a:r>
            <a:r>
              <a:rPr lang="en-IE" sz="1200" dirty="0">
                <a:latin typeface="Segoe UI Light"/>
                <a:cs typeface="Segoe UI Light"/>
              </a:rPr>
              <a:t>If you already have Windows Server or SQL Server licenses in your on-premises deployments, you can use the Azure Hybrid Benefit program to save in Azure. With the Windows Server benefit, each license covers the cost of the OS (up to two virtual machines), and you only pay for base compute costs. You can use existing SQL Server licenses to save up to 55 percent on </a:t>
            </a:r>
            <a:r>
              <a:rPr lang="en-IE" sz="1200" dirty="0" err="1">
                <a:latin typeface="Segoe UI Light"/>
                <a:cs typeface="Segoe UI Light"/>
              </a:rPr>
              <a:t>vCore</a:t>
            </a:r>
            <a:r>
              <a:rPr lang="en-IE" sz="1200" dirty="0">
                <a:latin typeface="Segoe UI Light"/>
                <a:cs typeface="Segoe UI Light"/>
              </a:rPr>
              <a:t>-based SQL Database options. Options include SQL Server in Azure Virtual Machines and SQL Server Integration Services.</a:t>
            </a:r>
          </a:p>
          <a:p>
            <a:endParaRPr lang="en-IE" sz="12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kern="1200" dirty="0">
              <a:solidFill>
                <a:schemeClr val="tx1"/>
              </a:solidFill>
              <a:effectLst/>
              <a:latin typeface="Segoe UI Light"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11</a:t>
            </a:fld>
            <a:endParaRPr lang="en-IN"/>
          </a:p>
        </p:txBody>
      </p:sp>
    </p:spTree>
    <p:extLst>
      <p:ext uri="{BB962C8B-B14F-4D97-AF65-F5344CB8AC3E}">
        <p14:creationId xmlns:p14="http://schemas.microsoft.com/office/powerpoint/2010/main" val="2005489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ea typeface="+mn-ea"/>
                <a:cs typeface="+mn-cs"/>
              </a:rPr>
              <a:t>What is Azure Policy? - https://docs.microsoft.com/azure/governance/policy/overview</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1200" kern="1200" dirty="0">
              <a:solidFill>
                <a:schemeClr val="tx1"/>
              </a:solidFill>
              <a:effectLst/>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1200" kern="1200" dirty="0" err="1">
                <a:solidFill>
                  <a:schemeClr val="tx1"/>
                </a:solidFill>
                <a:effectLst/>
                <a:ea typeface="+mn-ea"/>
                <a:cs typeface="+mn-cs"/>
              </a:rPr>
              <a:t>Quickstart</a:t>
            </a:r>
            <a:r>
              <a:rPr lang="en-US" sz="1200" kern="1200" dirty="0">
                <a:solidFill>
                  <a:schemeClr val="tx1"/>
                </a:solidFill>
                <a:effectLst/>
                <a:ea typeface="+mn-ea"/>
                <a:cs typeface="+mn-cs"/>
              </a:rPr>
              <a:t>: Create a policy assignment to identify non-compliant resources - https://docs.microsoft.com/azure/governance/policy/assign-policy-portal</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13</a:t>
            </a:fld>
            <a:endParaRPr lang="en-IN"/>
          </a:p>
        </p:txBody>
      </p:sp>
    </p:spTree>
    <p:extLst>
      <p:ext uri="{BB962C8B-B14F-4D97-AF65-F5344CB8AC3E}">
        <p14:creationId xmlns:p14="http://schemas.microsoft.com/office/powerpoint/2010/main" val="745831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1200" kern="1200" dirty="0">
                <a:solidFill>
                  <a:schemeClr val="tx1"/>
                </a:solidFill>
                <a:effectLst/>
                <a:ea typeface="+mn-ea"/>
                <a:cs typeface="+mn-cs"/>
              </a:rPr>
              <a:t>Walk-through the Tutorial: Create and manage policies to enforce compliance - https://docs.microsoft.com/azure/governance/policy/tutorials/create-and-manage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1200" kern="1200" dirty="0">
              <a:solidFill>
                <a:schemeClr val="tx1"/>
              </a:solidFill>
              <a:effectLst/>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1200" kern="1200" dirty="0">
                <a:solidFill>
                  <a:schemeClr val="tx1"/>
                </a:solidFill>
                <a:effectLst/>
                <a:ea typeface="+mn-ea"/>
                <a:cs typeface="+mn-cs"/>
              </a:rPr>
              <a:t>Or do the Demonstration (in the MCT DLC).</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1200" kern="1200" dirty="0">
              <a:solidFill>
                <a:schemeClr val="tx1"/>
              </a:solidFill>
              <a:effectLst/>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1200" kern="1200" dirty="0">
                <a:solidFill>
                  <a:schemeClr val="tx1"/>
                </a:solidFill>
                <a:effectLst/>
                <a:ea typeface="+mn-ea"/>
                <a:cs typeface="+mn-cs"/>
              </a:rPr>
              <a:t>Or just walk through the slides.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1200" kern="1200" dirty="0">
              <a:solidFill>
                <a:schemeClr val="tx1"/>
              </a:solidFill>
              <a:effectLst/>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1200" kern="1200" dirty="0">
                <a:solidFill>
                  <a:schemeClr val="tx1"/>
                </a:solidFill>
                <a:effectLst/>
                <a:ea typeface="+mn-ea"/>
                <a:cs typeface="+mn-cs"/>
              </a:rPr>
              <a:t>Apply and monitor infrastructure standards with Azure Policy (Learn) - https://docs.microsoft.com/learn/modules/intro-to-governance/</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The next topics step you through creating an Azure policy. </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 Even if you have only a few Policy Definitions, we recommend creating an Initiative Definition.</a:t>
            </a:r>
          </a:p>
          <a:p>
            <a:r>
              <a:rPr lang="en-US" sz="1200" kern="1200" dirty="0">
                <a:solidFill>
                  <a:schemeClr val="tx1"/>
                </a:solidFill>
                <a:effectLst/>
                <a:ea typeface="+mn-ea"/>
                <a:cs typeface="+mn-cs"/>
              </a:rPr>
              <a:t> </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14</a:t>
            </a:fld>
            <a:endParaRPr lang="en-IN"/>
          </a:p>
        </p:txBody>
      </p:sp>
    </p:spTree>
    <p:extLst>
      <p:ext uri="{BB962C8B-B14F-4D97-AF65-F5344CB8AC3E}">
        <p14:creationId xmlns:p14="http://schemas.microsoft.com/office/powerpoint/2010/main" val="1165980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Tutorial: Build policies to enforce compliance - Azure Policy - https://docs.microsoft.com/azure/governance/policy/tutorials/create-and-manage</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15</a:t>
            </a:fld>
            <a:endParaRPr lang="en-IN"/>
          </a:p>
        </p:txBody>
      </p:sp>
    </p:spTree>
    <p:extLst>
      <p:ext uri="{BB962C8B-B14F-4D97-AF65-F5344CB8AC3E}">
        <p14:creationId xmlns:p14="http://schemas.microsoft.com/office/powerpoint/2010/main" val="278540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16</a:t>
            </a:fld>
            <a:endParaRPr lang="en-IN"/>
          </a:p>
        </p:txBody>
      </p:sp>
    </p:spTree>
    <p:extLst>
      <p:ext uri="{BB962C8B-B14F-4D97-AF65-F5344CB8AC3E}">
        <p14:creationId xmlns:p14="http://schemas.microsoft.com/office/powerpoint/2010/main" val="2699110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ea typeface="+mn-ea"/>
                <a:cs typeface="+mn-cs"/>
              </a:rPr>
              <a:t>You may want to cover this slide after discussing the next 3 slides which explain what RBAC is. </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17</a:t>
            </a:fld>
            <a:endParaRPr lang="en-IN"/>
          </a:p>
        </p:txBody>
      </p:sp>
    </p:spTree>
    <p:extLst>
      <p:ext uri="{BB962C8B-B14F-4D97-AF65-F5344CB8AC3E}">
        <p14:creationId xmlns:p14="http://schemas.microsoft.com/office/powerpoint/2010/main" val="3831724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role definitions in Azure RBAC - https://docs.microsoft.com/azure/role-based-access-control/role-definitions-list</a:t>
            </a:r>
          </a:p>
          <a:p>
            <a:endParaRPr lang="en-US" dirty="0"/>
          </a:p>
          <a:p>
            <a:r>
              <a:rPr lang="en-US" dirty="0"/>
              <a:t>Create custom roles for Azure resources with role-based access control - https://docs.microsoft.com/learn/modules/create-custom-azure-roles-with-rbac/</a:t>
            </a:r>
          </a:p>
          <a:p>
            <a:endParaRPr lang="en-US" dirty="0"/>
          </a:p>
          <a:p>
            <a:r>
              <a:rPr lang="en-US" dirty="0"/>
              <a:t>Extra slide at the end on built-in roles - Determine Azure RBAC Roles. </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18</a:t>
            </a:fld>
            <a:endParaRPr lang="en-IN"/>
          </a:p>
        </p:txBody>
      </p:sp>
    </p:spTree>
    <p:extLst>
      <p:ext uri="{BB962C8B-B14F-4D97-AF65-F5344CB8AC3E}">
        <p14:creationId xmlns:p14="http://schemas.microsoft.com/office/powerpoint/2010/main" val="4254426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or remove role assignments using Azure RBAC and the Azure portal - https://docs.microsoft.com/azure/role-based-access-control/role-assignments-portal</a:t>
            </a:r>
          </a:p>
          <a:p>
            <a:endParaRPr lang="en-US" dirty="0"/>
          </a:p>
          <a:p>
            <a:r>
              <a:rPr lang="en-US" dirty="0"/>
              <a:t>Explain that the role assignment completes the process of implementing</a:t>
            </a:r>
            <a:r>
              <a:rPr lang="en-US" baseline="0" dirty="0"/>
              <a:t> RBAC and combining service principals, a role definition, and a scope.</a:t>
            </a:r>
          </a:p>
          <a:p>
            <a:endParaRPr lang="en-US" baseline="0"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19</a:t>
            </a:fld>
            <a:endParaRPr lang="en-IN"/>
          </a:p>
        </p:txBody>
      </p:sp>
    </p:spTree>
    <p:extLst>
      <p:ext uri="{BB962C8B-B14F-4D97-AF65-F5344CB8AC3E}">
        <p14:creationId xmlns:p14="http://schemas.microsoft.com/office/powerpoint/2010/main" val="1999689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1200" b="0" i="0" kern="1200" dirty="0">
                <a:solidFill>
                  <a:schemeClr val="tx1"/>
                </a:solidFill>
                <a:effectLst/>
                <a:ea typeface="+mn-ea"/>
                <a:cs typeface="+mn-cs"/>
              </a:rPr>
              <a:t>Manage access to an Azure subscription by using Azure role-based access control - https://docs.microsoft.com/learn/modules/manage-subscription-access-azure-rbac/3-elevate-your-access-user-access-admin</a:t>
            </a:r>
          </a:p>
          <a:p>
            <a:endParaRPr lang="en-US" sz="1200" b="0" i="0" kern="1200" dirty="0">
              <a:solidFill>
                <a:schemeClr val="tx1"/>
              </a:solidFill>
              <a:effectLst/>
              <a:ea typeface="+mn-ea"/>
              <a:cs typeface="+mn-cs"/>
            </a:endParaRP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20</a:t>
            </a:fld>
            <a:endParaRPr lang="en-IN"/>
          </a:p>
        </p:txBody>
      </p:sp>
    </p:spTree>
    <p:extLst>
      <p:ext uri="{BB962C8B-B14F-4D97-AF65-F5344CB8AC3E}">
        <p14:creationId xmlns:p14="http://schemas.microsoft.com/office/powerpoint/2010/main" val="2027095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b="0" i="0" dirty="0">
                <a:solidFill>
                  <a:srgbClr val="171717"/>
                </a:solidFill>
                <a:effectLst/>
                <a:latin typeface="Segoe UI" panose="020B0502040204020203" pitchFamily="34" charset="0"/>
              </a:rPr>
              <a:t>Tutorial: Grant a user access to Azure resources using the Azure portal - https://docs.microsoft.com/azure/role-based-access-control/quickstart-assign-role-user-portal</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b="0" i="0" dirty="0">
              <a:solidFill>
                <a:srgbClr val="171717"/>
              </a:solidFill>
              <a:effectLst/>
              <a:latin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b="0" i="0" dirty="0" err="1">
                <a:solidFill>
                  <a:srgbClr val="171717"/>
                </a:solidFill>
                <a:effectLst/>
                <a:latin typeface="Segoe UI" panose="020B0502040204020203" pitchFamily="34" charset="0"/>
              </a:rPr>
              <a:t>Quickstart</a:t>
            </a:r>
            <a:r>
              <a:rPr lang="en-US" b="0" i="0" dirty="0">
                <a:solidFill>
                  <a:srgbClr val="171717"/>
                </a:solidFill>
                <a:effectLst/>
                <a:latin typeface="Segoe UI" panose="020B0502040204020203" pitchFamily="34" charset="0"/>
              </a:rPr>
              <a:t>: Check access for a user to Azure resources - https://docs.microsoft.com/azure/role-based-access-control/check-access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b="0" i="0" dirty="0">
              <a:solidFill>
                <a:srgbClr val="171717"/>
              </a:solidFill>
              <a:effectLst/>
              <a:latin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b="1" i="0" dirty="0">
              <a:solidFill>
                <a:srgbClr val="171717"/>
              </a:solidFill>
              <a:effectLst/>
              <a:latin typeface="Segoe UI" panose="020B0502040204020203" pitchFamily="34" charset="0"/>
            </a:endParaRP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21</a:t>
            </a:fld>
            <a:endParaRPr lang="en-IN"/>
          </a:p>
        </p:txBody>
      </p:sp>
    </p:spTree>
    <p:extLst>
      <p:ext uri="{BB962C8B-B14F-4D97-AF65-F5344CB8AC3E}">
        <p14:creationId xmlns:p14="http://schemas.microsoft.com/office/powerpoint/2010/main" val="1109731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Use this lab to introduce students to management groups and RBAC. There are two labs in this module, 2a and 2b.</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02a - https://microsoftlearning.github.io/AZ-104-MicrosoftAzureAdministrator/Instructions/Labs/LAB_02a_Manage_Subscriptions_and_RBAC_Entra.html</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23</a:t>
            </a:fld>
            <a:endParaRPr lang="en-IN"/>
          </a:p>
        </p:txBody>
      </p:sp>
    </p:spTree>
    <p:extLst>
      <p:ext uri="{BB962C8B-B14F-4D97-AF65-F5344CB8AC3E}">
        <p14:creationId xmlns:p14="http://schemas.microsoft.com/office/powerpoint/2010/main" val="2392415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architecture diagram for the interactive lab simulation, if you want to review that. </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25</a:t>
            </a:fld>
            <a:endParaRPr lang="en-IN"/>
          </a:p>
        </p:txBody>
      </p:sp>
    </p:spTree>
    <p:extLst>
      <p:ext uri="{BB962C8B-B14F-4D97-AF65-F5344CB8AC3E}">
        <p14:creationId xmlns:p14="http://schemas.microsoft.com/office/powerpoint/2010/main" val="5417770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Use this lab to introduce Azure policy, tagging, and resource locks.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02b - https://microsoftlearning.github.io/AZ-104-MicrosoftAzureAdministrator/Instructions/Labs/LAB_02b-Manage_Governance_via_Azure_Policy.html</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26</a:t>
            </a:fld>
            <a:endParaRPr lang="en-IN"/>
          </a:p>
        </p:txBody>
      </p:sp>
    </p:spTree>
    <p:extLst>
      <p:ext uri="{BB962C8B-B14F-4D97-AF65-F5344CB8AC3E}">
        <p14:creationId xmlns:p14="http://schemas.microsoft.com/office/powerpoint/2010/main" val="1642484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This is the architecture diagram for the interactive lab simulation, if you want to review that. </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28</a:t>
            </a:fld>
            <a:endParaRPr lang="en-IN"/>
          </a:p>
        </p:txBody>
      </p:sp>
    </p:spTree>
    <p:extLst>
      <p:ext uri="{BB962C8B-B14F-4D97-AF65-F5344CB8AC3E}">
        <p14:creationId xmlns:p14="http://schemas.microsoft.com/office/powerpoint/2010/main" val="3634370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AD30F-11CB-4A38-D5FC-43AB22400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3EC942-BB8A-34AC-C497-D4FD2BED0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C1584A-C19D-2D97-0AF6-751B4D270ED7}"/>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5" name="Footer Placeholder 4">
            <a:extLst>
              <a:ext uri="{FF2B5EF4-FFF2-40B4-BE49-F238E27FC236}">
                <a16:creationId xmlns:a16="http://schemas.microsoft.com/office/drawing/2014/main" id="{45337BBA-1403-8ADF-3C89-1C56F6A7F4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84B5EE-694E-0DD6-FBBC-DAEE073BFFF3}"/>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80336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A2D-7795-829E-0317-35A6629C77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39A543-0209-7742-9E7A-1C9448B445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487CC4-06DF-0598-CF9B-17940CC13B33}"/>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5" name="Footer Placeholder 4">
            <a:extLst>
              <a:ext uri="{FF2B5EF4-FFF2-40B4-BE49-F238E27FC236}">
                <a16:creationId xmlns:a16="http://schemas.microsoft.com/office/drawing/2014/main" id="{E2A7B6F1-E547-28F3-214B-E14FA297E3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2887C7-35CB-E756-85E9-6ED61FF74BC3}"/>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16568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13AF-764B-9BED-839B-1F2548D99E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5A1ABD-DC52-E5BB-2552-51A8C55B30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81113-125C-2AC5-EA8C-E51F723684D2}"/>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5" name="Footer Placeholder 4">
            <a:extLst>
              <a:ext uri="{FF2B5EF4-FFF2-40B4-BE49-F238E27FC236}">
                <a16:creationId xmlns:a16="http://schemas.microsoft.com/office/drawing/2014/main" id="{FF90F60A-D639-FC0E-6607-3F9FDD3D25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821C5-E274-8177-0A84-61FBD13E10E8}"/>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9094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8B2C-B56C-65F9-D55A-03C415602C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EEC924-40A7-CCC5-5467-954F49538F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846483-F4A5-9F85-2F36-57685DC1C6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E92291-7FB4-9BC0-C08C-602E7E48CF7A}"/>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6" name="Footer Placeholder 5">
            <a:extLst>
              <a:ext uri="{FF2B5EF4-FFF2-40B4-BE49-F238E27FC236}">
                <a16:creationId xmlns:a16="http://schemas.microsoft.com/office/drawing/2014/main" id="{4B0FF5A3-AFC2-83AF-3AC5-A2DFC37C7D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11BCC1-B192-509A-B182-FDA38BEC59F6}"/>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38060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9D4F-6499-4E62-6BC4-A864B371F3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05EE0A-2D64-6EA3-C393-6A793B336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6FDC3-5665-D55A-BF31-4799773D52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DD0E72C-7203-963D-54C2-7C5F8F9DDD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FB9FA4-2C32-85B9-E44F-E043C5711F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DA284C-82E5-0258-95ED-C939210BF6D6}"/>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8" name="Footer Placeholder 7">
            <a:extLst>
              <a:ext uri="{FF2B5EF4-FFF2-40B4-BE49-F238E27FC236}">
                <a16:creationId xmlns:a16="http://schemas.microsoft.com/office/drawing/2014/main" id="{5F287524-7C83-6978-13D2-682429417F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B0B3A0-9328-56ED-6165-5FE6725B0D94}"/>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62339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C313-A857-D2B6-4972-603A320971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EE6E7C-9E05-38A0-50E5-475C61D15BE9}"/>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4" name="Footer Placeholder 3">
            <a:extLst>
              <a:ext uri="{FF2B5EF4-FFF2-40B4-BE49-F238E27FC236}">
                <a16:creationId xmlns:a16="http://schemas.microsoft.com/office/drawing/2014/main" id="{BD55942B-9E3E-FE6B-DB1B-2B40E1C4EB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2D1D417-DE49-E1CE-4813-90A275904C7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69477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75A62D-5E35-4978-A21D-015D67A6AB3D}"/>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3" name="Footer Placeholder 2">
            <a:extLst>
              <a:ext uri="{FF2B5EF4-FFF2-40B4-BE49-F238E27FC236}">
                <a16:creationId xmlns:a16="http://schemas.microsoft.com/office/drawing/2014/main" id="{60BC7063-316D-7692-711E-1145293C60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A6D14C-0A1E-DA44-3394-36812D4E498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2428228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54731-C279-E9B4-1350-D01064C5EC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044481-22CF-C3C5-7B97-22D9E52FB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3C30EE-D49D-6439-35A7-D564C5416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17929C-043F-5FF4-6D6D-171B825F589D}"/>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6" name="Footer Placeholder 5">
            <a:extLst>
              <a:ext uri="{FF2B5EF4-FFF2-40B4-BE49-F238E27FC236}">
                <a16:creationId xmlns:a16="http://schemas.microsoft.com/office/drawing/2014/main" id="{3D3329F1-C192-1700-B843-D4B943C388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88F1DF-4A4F-C67D-BE2E-1FE4CA53EB14}"/>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1319379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C8093-BF6B-B264-E311-398794DE80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CAD7C6-1734-B469-30B7-4A42BB717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1E643E-D7E3-7AB3-F45D-CE539AA73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495D1-052E-D029-A14D-9768E55A447B}"/>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6" name="Footer Placeholder 5">
            <a:extLst>
              <a:ext uri="{FF2B5EF4-FFF2-40B4-BE49-F238E27FC236}">
                <a16:creationId xmlns:a16="http://schemas.microsoft.com/office/drawing/2014/main" id="{72B11458-BD09-D7A2-90F1-22EA0A4D46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FAD0DC-C873-E862-BD92-71ED2A4CA8B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2576875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3DAD-FBC8-F5A7-4DFF-0EB88A10A2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C3120F-9120-CC06-97E9-33733579E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63293-6891-933A-C374-086A5CDA0532}"/>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5" name="Footer Placeholder 4">
            <a:extLst>
              <a:ext uri="{FF2B5EF4-FFF2-40B4-BE49-F238E27FC236}">
                <a16:creationId xmlns:a16="http://schemas.microsoft.com/office/drawing/2014/main" id="{BE87EA86-1716-99FC-624F-7814224536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BAD29-F34E-E7C3-A14F-532F8C89643F}"/>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1337392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E1245-A4CF-CE70-BB65-F95B54A0BD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A2C1FE-EE55-4B51-5B5A-E44581E04A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3906AF-DE1E-E1BF-5B20-319686EA48CF}"/>
              </a:ext>
            </a:extLst>
          </p:cNvPr>
          <p:cNvSpPr>
            <a:spLocks noGrp="1"/>
          </p:cNvSpPr>
          <p:nvPr>
            <p:ph type="dt" sz="half" idx="10"/>
          </p:nvPr>
        </p:nvSpPr>
        <p:spPr/>
        <p:txBody>
          <a:bodyPr/>
          <a:lstStyle/>
          <a:p>
            <a:fld id="{0234CA72-CAC1-4B24-B91B-249F70378C1E}" type="datetimeFigureOut">
              <a:rPr lang="en-IN" smtClean="0"/>
              <a:t>22-10-2024</a:t>
            </a:fld>
            <a:endParaRPr lang="en-IN"/>
          </a:p>
        </p:txBody>
      </p:sp>
      <p:sp>
        <p:nvSpPr>
          <p:cNvPr id="5" name="Footer Placeholder 4">
            <a:extLst>
              <a:ext uri="{FF2B5EF4-FFF2-40B4-BE49-F238E27FC236}">
                <a16:creationId xmlns:a16="http://schemas.microsoft.com/office/drawing/2014/main" id="{671684D1-B61C-0604-F16A-3DAE3869A5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DF065-EA66-D400-5822-2008989BC685}"/>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35786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2B1CA2-ECC1-4762-AAEA-FADDBF94C1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8F6B0-B57E-519B-311D-89ED42890B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5897C-4441-701B-8C16-69E4C437F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34CA72-CAC1-4B24-B91B-249F70378C1E}" type="datetimeFigureOut">
              <a:rPr lang="en-IN" smtClean="0"/>
              <a:t>22-10-2024</a:t>
            </a:fld>
            <a:endParaRPr lang="en-IN"/>
          </a:p>
        </p:txBody>
      </p:sp>
      <p:sp>
        <p:nvSpPr>
          <p:cNvPr id="5" name="Footer Placeholder 4">
            <a:extLst>
              <a:ext uri="{FF2B5EF4-FFF2-40B4-BE49-F238E27FC236}">
                <a16:creationId xmlns:a16="http://schemas.microsoft.com/office/drawing/2014/main" id="{BA1E07FF-709C-AC63-F960-09B72AA04D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4918F4-90CC-DE76-BC3D-75D676446A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046CFF-0251-42EF-8D79-279D9C60CF15}" type="slidenum">
              <a:rPr lang="en-IN" smtClean="0"/>
              <a:t>‹#›</a:t>
            </a:fld>
            <a:endParaRPr lang="en-IN"/>
          </a:p>
        </p:txBody>
      </p:sp>
    </p:spTree>
    <p:extLst>
      <p:ext uri="{BB962C8B-B14F-4D97-AF65-F5344CB8AC3E}">
        <p14:creationId xmlns:p14="http://schemas.microsoft.com/office/powerpoint/2010/main" val="1922165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1.png"/><Relationship Id="rId7" Type="http://schemas.openxmlformats.org/officeDocument/2006/relationships/image" Target="../media/image9.wmf"/><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em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9.png"/><Relationship Id="rId5" Type="http://schemas.openxmlformats.org/officeDocument/2006/relationships/image" Target="../media/image4.emf"/><Relationship Id="rId10" Type="http://schemas.openxmlformats.org/officeDocument/2006/relationships/image" Target="../media/image18.svg"/><Relationship Id="rId4" Type="http://schemas.openxmlformats.org/officeDocument/2006/relationships/image" Target="../media/image3.emf"/><Relationship Id="rId9" Type="http://schemas.openxmlformats.org/officeDocument/2006/relationships/image" Target="../media/image17.png"/><Relationship Id="rId14" Type="http://schemas.openxmlformats.org/officeDocument/2006/relationships/image" Target="../media/image2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29.emf"/><Relationship Id="rId18" Type="http://schemas.openxmlformats.org/officeDocument/2006/relationships/image" Target="../media/image34.svg"/><Relationship Id="rId3" Type="http://schemas.openxmlformats.org/officeDocument/2006/relationships/image" Target="../media/image1.png"/><Relationship Id="rId7" Type="http://schemas.openxmlformats.org/officeDocument/2006/relationships/image" Target="../media/image23.wmf"/><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17.xml"/><Relationship Id="rId16" Type="http://schemas.openxmlformats.org/officeDocument/2006/relationships/image" Target="../media/image32.emf"/><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27.png"/><Relationship Id="rId5" Type="http://schemas.openxmlformats.org/officeDocument/2006/relationships/image" Target="../media/image4.emf"/><Relationship Id="rId15" Type="http://schemas.openxmlformats.org/officeDocument/2006/relationships/image" Target="../media/image31.svg"/><Relationship Id="rId10" Type="http://schemas.openxmlformats.org/officeDocument/2006/relationships/image" Target="../media/image26.svg"/><Relationship Id="rId4" Type="http://schemas.openxmlformats.org/officeDocument/2006/relationships/image" Target="../media/image3.emf"/><Relationship Id="rId9" Type="http://schemas.openxmlformats.org/officeDocument/2006/relationships/image" Target="../media/image25.png"/><Relationship Id="rId14" Type="http://schemas.openxmlformats.org/officeDocument/2006/relationships/image" Target="../media/image30.png"/></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38.png"/><Relationship Id="rId18" Type="http://schemas.openxmlformats.org/officeDocument/2006/relationships/image" Target="../media/image41.png"/><Relationship Id="rId3" Type="http://schemas.openxmlformats.org/officeDocument/2006/relationships/image" Target="../media/image1.png"/><Relationship Id="rId21" Type="http://schemas.openxmlformats.org/officeDocument/2006/relationships/image" Target="../media/image44.svg"/><Relationship Id="rId7" Type="http://schemas.openxmlformats.org/officeDocument/2006/relationships/image" Target="../media/image35.wmf"/><Relationship Id="rId12" Type="http://schemas.openxmlformats.org/officeDocument/2006/relationships/image" Target="../media/image29.emf"/><Relationship Id="rId17" Type="http://schemas.openxmlformats.org/officeDocument/2006/relationships/image" Target="../media/image40.svg"/><Relationship Id="rId2" Type="http://schemas.openxmlformats.org/officeDocument/2006/relationships/notesSlide" Target="../notesSlides/notesSlide18.xml"/><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28.svg"/><Relationship Id="rId5" Type="http://schemas.openxmlformats.org/officeDocument/2006/relationships/image" Target="../media/image4.emf"/><Relationship Id="rId15" Type="http://schemas.openxmlformats.org/officeDocument/2006/relationships/image" Target="../media/image26.svg"/><Relationship Id="rId10" Type="http://schemas.openxmlformats.org/officeDocument/2006/relationships/image" Target="../media/image27.png"/><Relationship Id="rId19" Type="http://schemas.openxmlformats.org/officeDocument/2006/relationships/image" Target="../media/image42.svg"/><Relationship Id="rId4" Type="http://schemas.openxmlformats.org/officeDocument/2006/relationships/image" Target="../media/image3.emf"/><Relationship Id="rId9" Type="http://schemas.openxmlformats.org/officeDocument/2006/relationships/image" Target="../media/image37.svg"/><Relationship Id="rId1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47.svg"/><Relationship Id="rId3" Type="http://schemas.openxmlformats.org/officeDocument/2006/relationships/image" Target="../media/image3.emf"/><Relationship Id="rId7" Type="http://schemas.openxmlformats.org/officeDocument/2006/relationships/hyperlink" Target="https://commons.wikimedia.org/wiki/File:User_icon_2.svg" TargetMode="External"/><Relationship Id="rId12"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18.svg"/><Relationship Id="rId5" Type="http://schemas.openxmlformats.org/officeDocument/2006/relationships/image" Target="../media/image5.emf"/><Relationship Id="rId10" Type="http://schemas.openxmlformats.org/officeDocument/2006/relationships/image" Target="../media/image17.png"/><Relationship Id="rId4" Type="http://schemas.openxmlformats.org/officeDocument/2006/relationships/image" Target="../media/image4.emf"/><Relationship Id="rId9" Type="http://schemas.openxmlformats.org/officeDocument/2006/relationships/image" Target="../media/image16.sv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54.svg"/><Relationship Id="rId3" Type="http://schemas.openxmlformats.org/officeDocument/2006/relationships/image" Target="../media/image3.emf"/><Relationship Id="rId7" Type="http://schemas.openxmlformats.org/officeDocument/2006/relationships/image" Target="../media/image50.svg"/><Relationship Id="rId12"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52.svg"/><Relationship Id="rId5" Type="http://schemas.openxmlformats.org/officeDocument/2006/relationships/image" Target="../media/image5.emf"/><Relationship Id="rId15" Type="http://schemas.openxmlformats.org/officeDocument/2006/relationships/image" Target="../media/image56.svg"/><Relationship Id="rId10" Type="http://schemas.openxmlformats.org/officeDocument/2006/relationships/image" Target="../media/image51.png"/><Relationship Id="rId4" Type="http://schemas.openxmlformats.org/officeDocument/2006/relationships/image" Target="../media/image4.emf"/><Relationship Id="rId9" Type="http://schemas.openxmlformats.org/officeDocument/2006/relationships/image" Target="../media/image20.svg"/><Relationship Id="rId14" Type="http://schemas.openxmlformats.org/officeDocument/2006/relationships/image" Target="../media/image55.png"/></Relationships>
</file>

<file path=ppt/slides/_rels/slide28.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53.png"/><Relationship Id="rId12" Type="http://schemas.openxmlformats.org/officeDocument/2006/relationships/image" Target="../media/image20.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9.png"/><Relationship Id="rId5" Type="http://schemas.openxmlformats.org/officeDocument/2006/relationships/image" Target="../media/image4.emf"/><Relationship Id="rId10" Type="http://schemas.openxmlformats.org/officeDocument/2006/relationships/image" Target="../media/image50.svg"/><Relationship Id="rId4" Type="http://schemas.openxmlformats.org/officeDocument/2006/relationships/image" Target="../media/image3.emf"/><Relationship Id="rId9" Type="http://schemas.openxmlformats.org/officeDocument/2006/relationships/image" Target="../media/image49.png"/><Relationship Id="rId14" Type="http://schemas.openxmlformats.org/officeDocument/2006/relationships/image" Target="../media/image52.sv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r>
              <a:rPr lang="en-US" sz="4800"/>
              <a:t>Configure Subscriptions and Configure Azure Resource Manager Resources</a:t>
            </a:r>
            <a:endParaRPr lang="en-US" sz="4800" dirty="0"/>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2FCDC968-B436-D6E3-1C57-CDA520EB20DC}"/>
              </a:ext>
            </a:extLst>
          </p:cNvPr>
          <p:cNvSpPr txBox="1">
            <a:spLocks/>
          </p:cNvSpPr>
          <p:nvPr/>
        </p:nvSpPr>
        <p:spPr>
          <a:xfrm>
            <a:off x="638310" y="1524569"/>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Learning Objectives – Subscriptions and Azure RM</a:t>
            </a:r>
            <a:endParaRPr lang="en-US" dirty="0"/>
          </a:p>
        </p:txBody>
      </p:sp>
      <p:sp>
        <p:nvSpPr>
          <p:cNvPr id="11" name="TextBox 10">
            <a:extLst>
              <a:ext uri="{FF2B5EF4-FFF2-40B4-BE49-F238E27FC236}">
                <a16:creationId xmlns:a16="http://schemas.microsoft.com/office/drawing/2014/main" id="{F89FDE70-84EB-7D91-B057-7FBCA87837B2}"/>
              </a:ext>
            </a:extLst>
          </p:cNvPr>
          <p:cNvSpPr txBox="1"/>
          <p:nvPr/>
        </p:nvSpPr>
        <p:spPr>
          <a:xfrm>
            <a:off x="731901" y="2478573"/>
            <a:ext cx="5489790" cy="4047262"/>
          </a:xfrm>
          <a:prstGeom prst="rect">
            <a:avLst/>
          </a:prstGeom>
          <a:noFill/>
        </p:spPr>
        <p:txBody>
          <a:bodyPr wrap="square" lIns="0" tIns="0" rIns="0" bIns="0" rtlCol="0">
            <a:spAutoFit/>
          </a:bodyPr>
          <a:lstStyle/>
          <a:p>
            <a:pPr marL="342900" indent="-342900" defTabSz="444500">
              <a:spcBef>
                <a:spcPct val="0"/>
              </a:spcBef>
              <a:spcAft>
                <a:spcPct val="35000"/>
              </a:spcAft>
              <a:buFont typeface="Arial" panose="020B0604020202020204" pitchFamily="34" charset="0"/>
              <a:buChar char="•"/>
            </a:pPr>
            <a:r>
              <a:rPr lang="en-US" sz="2000" dirty="0"/>
              <a:t>Identify Regions</a:t>
            </a:r>
          </a:p>
          <a:p>
            <a:pPr marL="342900" indent="-342900" defTabSz="444500">
              <a:spcBef>
                <a:spcPct val="0"/>
              </a:spcBef>
              <a:spcAft>
                <a:spcPct val="35000"/>
              </a:spcAft>
              <a:buFont typeface="Arial" panose="020B0604020202020204" pitchFamily="34" charset="0"/>
              <a:buChar char="•"/>
            </a:pPr>
            <a:r>
              <a:rPr lang="en-US" sz="2000" dirty="0"/>
              <a:t>Implement Azure Subscriptions</a:t>
            </a:r>
          </a:p>
          <a:p>
            <a:pPr marL="342900" indent="-342900" defTabSz="444500">
              <a:spcBef>
                <a:spcPct val="0"/>
              </a:spcBef>
              <a:spcAft>
                <a:spcPct val="35000"/>
              </a:spcAft>
              <a:buFont typeface="Arial" panose="020B0604020202020204" pitchFamily="34" charset="0"/>
              <a:buChar char="•"/>
            </a:pPr>
            <a:r>
              <a:rPr lang="en-US" sz="2000" dirty="0"/>
              <a:t>Identify Subscription Usage</a:t>
            </a:r>
          </a:p>
          <a:p>
            <a:pPr marL="342900" indent="-342900" defTabSz="444500">
              <a:spcBef>
                <a:spcPct val="0"/>
              </a:spcBef>
              <a:spcAft>
                <a:spcPct val="35000"/>
              </a:spcAft>
              <a:buFont typeface="Arial" panose="020B0604020202020204" pitchFamily="34" charset="0"/>
              <a:buChar char="•"/>
            </a:pPr>
            <a:r>
              <a:rPr lang="en-US" sz="2000" dirty="0"/>
              <a:t>Obtain a Subscription</a:t>
            </a:r>
          </a:p>
          <a:p>
            <a:pPr marL="342900" indent="-342900" defTabSz="444500">
              <a:spcBef>
                <a:spcPct val="0"/>
              </a:spcBef>
              <a:spcAft>
                <a:spcPct val="35000"/>
              </a:spcAft>
              <a:buFont typeface="Arial" panose="020B0604020202020204" pitchFamily="34" charset="0"/>
              <a:buChar char="•"/>
            </a:pPr>
            <a:r>
              <a:rPr lang="en-US" sz="2000" dirty="0"/>
              <a:t>Create Resource Groups</a:t>
            </a:r>
          </a:p>
          <a:p>
            <a:pPr marL="342900" indent="-342900" defTabSz="444500">
              <a:spcBef>
                <a:spcPct val="0"/>
              </a:spcBef>
              <a:spcAft>
                <a:spcPct val="35000"/>
              </a:spcAft>
              <a:buFont typeface="Arial" panose="020B0604020202020204" pitchFamily="34" charset="0"/>
              <a:buChar char="•"/>
            </a:pPr>
            <a:r>
              <a:rPr lang="en-US" sz="2000" dirty="0"/>
              <a:t>Determine Service Limits and Quotas</a:t>
            </a:r>
          </a:p>
          <a:p>
            <a:pPr marL="342900" indent="-342900" defTabSz="444500">
              <a:spcBef>
                <a:spcPct val="0"/>
              </a:spcBef>
              <a:spcAft>
                <a:spcPct val="35000"/>
              </a:spcAft>
              <a:buFont typeface="Arial" panose="020B0604020202020204" pitchFamily="34" charset="0"/>
              <a:buChar char="•"/>
            </a:pPr>
            <a:r>
              <a:rPr lang="en-US" sz="2000" dirty="0"/>
              <a:t>Create an Azure Resource Hierarchy</a:t>
            </a:r>
          </a:p>
          <a:p>
            <a:pPr marL="342900" indent="-342900" defTabSz="444500">
              <a:spcBef>
                <a:spcPct val="0"/>
              </a:spcBef>
              <a:spcAft>
                <a:spcPct val="35000"/>
              </a:spcAft>
              <a:buFont typeface="Arial" panose="020B0604020202020204" pitchFamily="34" charset="0"/>
              <a:buChar char="•"/>
            </a:pPr>
            <a:r>
              <a:rPr lang="en-US" sz="2000" dirty="0"/>
              <a:t>Apply Resource Tagging</a:t>
            </a:r>
          </a:p>
          <a:p>
            <a:pPr marL="342900" indent="-342900" defTabSz="444500">
              <a:spcBef>
                <a:spcPct val="0"/>
              </a:spcBef>
              <a:spcAft>
                <a:spcPct val="35000"/>
              </a:spcAft>
              <a:buFont typeface="Arial" panose="020B0604020202020204" pitchFamily="34" charset="0"/>
              <a:buChar char="•"/>
            </a:pPr>
            <a:r>
              <a:rPr lang="en-US" sz="2000" dirty="0"/>
              <a:t>Manage Costs</a:t>
            </a:r>
          </a:p>
          <a:p>
            <a:pPr marL="342900" indent="-342900" defTabSz="444500">
              <a:spcBef>
                <a:spcPct val="0"/>
              </a:spcBef>
              <a:spcAft>
                <a:spcPct val="35000"/>
              </a:spcAft>
              <a:buFont typeface="Arial" panose="020B0604020202020204" pitchFamily="34" charset="0"/>
              <a:buChar char="•"/>
            </a:pPr>
            <a:r>
              <a:rPr lang="en-US" sz="2000" dirty="0"/>
              <a:t>Learning Recap</a:t>
            </a:r>
          </a:p>
        </p:txBody>
      </p:sp>
      <p:sp>
        <p:nvSpPr>
          <p:cNvPr id="12" name="TextBox 11">
            <a:extLst>
              <a:ext uri="{FF2B5EF4-FFF2-40B4-BE49-F238E27FC236}">
                <a16:creationId xmlns:a16="http://schemas.microsoft.com/office/drawing/2014/main" id="{10601622-D59A-994E-48B9-E5BC3C626B22}"/>
              </a:ext>
            </a:extLst>
          </p:cNvPr>
          <p:cNvSpPr txBox="1"/>
          <p:nvPr/>
        </p:nvSpPr>
        <p:spPr>
          <a:xfrm>
            <a:off x="6637329" y="2910574"/>
            <a:ext cx="4694093" cy="3323987"/>
          </a:xfrm>
          <a:prstGeom prst="rect">
            <a:avLst/>
          </a:prstGeom>
          <a:noFill/>
        </p:spPr>
        <p:txBody>
          <a:bodyPr wrap="square">
            <a:spAutoFit/>
          </a:bodyPr>
          <a:lstStyle/>
          <a:p>
            <a:pPr>
              <a:spcAft>
                <a:spcPts val="600"/>
              </a:spcAft>
            </a:pPr>
            <a:r>
              <a:rPr lang="en-US" dirty="0">
                <a:solidFill>
                  <a:schemeClr val="accent1"/>
                </a:solidFill>
              </a:rPr>
              <a:t>Manage Azure identities and governance  (20–25%): </a:t>
            </a:r>
            <a:r>
              <a:rPr lang="en-US" i="0" dirty="0">
                <a:solidFill>
                  <a:schemeClr val="accent1"/>
                </a:solidFill>
                <a:effectLst/>
              </a:rPr>
              <a:t>Manage subscriptions and governance</a:t>
            </a:r>
          </a:p>
          <a:p>
            <a:pPr marL="171450" indent="-171450">
              <a:spcAft>
                <a:spcPts val="600"/>
              </a:spcAft>
              <a:buFont typeface="Arial" panose="020B0604020202020204" pitchFamily="34" charset="0"/>
              <a:buChar char="•"/>
            </a:pPr>
            <a:r>
              <a:rPr lang="en-US" dirty="0"/>
              <a:t>Configure resource locks</a:t>
            </a:r>
          </a:p>
          <a:p>
            <a:pPr marL="171450" indent="-171450">
              <a:spcAft>
                <a:spcPts val="600"/>
              </a:spcAft>
              <a:buFont typeface="Arial" panose="020B0604020202020204" pitchFamily="34" charset="0"/>
              <a:buChar char="•"/>
            </a:pPr>
            <a:r>
              <a:rPr lang="en-US" dirty="0"/>
              <a:t>Apply and manage tags on resources</a:t>
            </a:r>
          </a:p>
          <a:p>
            <a:pPr marL="171450" indent="-171450">
              <a:spcAft>
                <a:spcPts val="600"/>
              </a:spcAft>
              <a:buFont typeface="Arial" panose="020B0604020202020204" pitchFamily="34" charset="0"/>
              <a:buChar char="•"/>
            </a:pPr>
            <a:r>
              <a:rPr lang="en-US" dirty="0"/>
              <a:t>Manage resource groups</a:t>
            </a:r>
          </a:p>
          <a:p>
            <a:pPr marL="171450" indent="-171450">
              <a:spcAft>
                <a:spcPts val="600"/>
              </a:spcAft>
              <a:buFont typeface="Arial" panose="020B0604020202020204" pitchFamily="34" charset="0"/>
              <a:buChar char="•"/>
            </a:pPr>
            <a:r>
              <a:rPr lang="en-US" dirty="0"/>
              <a:t>Manage subscriptions</a:t>
            </a:r>
          </a:p>
          <a:p>
            <a:pPr marL="171450" indent="-171450">
              <a:spcAft>
                <a:spcPts val="600"/>
              </a:spcAft>
              <a:buFont typeface="Arial" panose="020B0604020202020204" pitchFamily="34" charset="0"/>
              <a:buChar char="•"/>
            </a:pPr>
            <a:r>
              <a:rPr lang="en-US" dirty="0"/>
              <a:t>Manage costs by using alerts, budgets, and Azure Advisor recommendations</a:t>
            </a:r>
          </a:p>
          <a:p>
            <a:pPr marL="171450" indent="-171450">
              <a:spcAft>
                <a:spcPts val="600"/>
              </a:spcAft>
              <a:buFont typeface="Arial" panose="020B0604020202020204" pitchFamily="34" charset="0"/>
              <a:buChar char="•"/>
            </a:pPr>
            <a:r>
              <a:rPr lang="en-US" dirty="0"/>
              <a:t>Configure management groups</a:t>
            </a:r>
          </a:p>
        </p:txBody>
      </p:sp>
    </p:spTree>
    <p:extLst>
      <p:ext uri="{BB962C8B-B14F-4D97-AF65-F5344CB8AC3E}">
        <p14:creationId xmlns:p14="http://schemas.microsoft.com/office/powerpoint/2010/main" val="1329765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8AD87766-EF79-F4A4-EA50-D34D889E3A6A}"/>
              </a:ext>
            </a:extLst>
          </p:cNvPr>
          <p:cNvSpPr txBox="1">
            <a:spLocks/>
          </p:cNvSpPr>
          <p:nvPr/>
        </p:nvSpPr>
        <p:spPr>
          <a:xfrm>
            <a:off x="256210" y="835799"/>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Identify Regions</a:t>
            </a:r>
            <a:endParaRPr lang="en-US" dirty="0"/>
          </a:p>
        </p:txBody>
      </p:sp>
      <p:sp>
        <p:nvSpPr>
          <p:cNvPr id="11" name="Rectangle 10">
            <a:extLst>
              <a:ext uri="{FF2B5EF4-FFF2-40B4-BE49-F238E27FC236}">
                <a16:creationId xmlns:a16="http://schemas.microsoft.com/office/drawing/2014/main" id="{18F2873D-1C73-C667-F074-9212010561F0}"/>
              </a:ext>
              <a:ext uri="{C183D7F6-B498-43B3-948B-1728B52AA6E4}">
                <adec:decorative xmlns:adec="http://schemas.microsoft.com/office/drawing/2017/decorative" val="0"/>
              </a:ext>
            </a:extLst>
          </p:cNvPr>
          <p:cNvSpPr/>
          <p:nvPr/>
        </p:nvSpPr>
        <p:spPr bwMode="auto">
          <a:xfrm>
            <a:off x="281610" y="1707015"/>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A region represents a collection of datacenters</a:t>
            </a:r>
          </a:p>
        </p:txBody>
      </p:sp>
      <p:sp>
        <p:nvSpPr>
          <p:cNvPr id="12" name="Rectangle 11">
            <a:extLst>
              <a:ext uri="{FF2B5EF4-FFF2-40B4-BE49-F238E27FC236}">
                <a16:creationId xmlns:a16="http://schemas.microsoft.com/office/drawing/2014/main" id="{C4855141-6667-BB1D-BD82-B331235460F7}"/>
              </a:ext>
              <a:ext uri="{C183D7F6-B498-43B3-948B-1728B52AA6E4}">
                <adec:decorative xmlns:adec="http://schemas.microsoft.com/office/drawing/2017/decorative" val="0"/>
              </a:ext>
            </a:extLst>
          </p:cNvPr>
          <p:cNvSpPr/>
          <p:nvPr/>
        </p:nvSpPr>
        <p:spPr bwMode="auto">
          <a:xfrm>
            <a:off x="281610" y="2350560"/>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Provides flexibility and scale</a:t>
            </a:r>
          </a:p>
        </p:txBody>
      </p:sp>
      <p:sp>
        <p:nvSpPr>
          <p:cNvPr id="13" name="Rectangle 12">
            <a:extLst>
              <a:ext uri="{FF2B5EF4-FFF2-40B4-BE49-F238E27FC236}">
                <a16:creationId xmlns:a16="http://schemas.microsoft.com/office/drawing/2014/main" id="{15BAD87B-1195-3D56-6209-534DBF9250C0}"/>
              </a:ext>
              <a:ext uri="{C183D7F6-B498-43B3-948B-1728B52AA6E4}">
                <adec:decorative xmlns:adec="http://schemas.microsoft.com/office/drawing/2017/decorative" val="0"/>
              </a:ext>
            </a:extLst>
          </p:cNvPr>
          <p:cNvSpPr/>
          <p:nvPr/>
        </p:nvSpPr>
        <p:spPr bwMode="auto">
          <a:xfrm>
            <a:off x="281610" y="2994105"/>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Preserves data residency</a:t>
            </a:r>
          </a:p>
        </p:txBody>
      </p:sp>
      <p:sp>
        <p:nvSpPr>
          <p:cNvPr id="14" name="Rectangle 13">
            <a:extLst>
              <a:ext uri="{FF2B5EF4-FFF2-40B4-BE49-F238E27FC236}">
                <a16:creationId xmlns:a16="http://schemas.microsoft.com/office/drawing/2014/main" id="{438E3208-C30A-46F2-D820-0685C16DC2CE}"/>
              </a:ext>
              <a:ext uri="{C183D7F6-B498-43B3-948B-1728B52AA6E4}">
                <adec:decorative xmlns:adec="http://schemas.microsoft.com/office/drawing/2017/decorative" val="0"/>
              </a:ext>
            </a:extLst>
          </p:cNvPr>
          <p:cNvSpPr/>
          <p:nvPr/>
        </p:nvSpPr>
        <p:spPr bwMode="auto">
          <a:xfrm>
            <a:off x="281610" y="3637650"/>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Select regions close to your users</a:t>
            </a:r>
          </a:p>
        </p:txBody>
      </p:sp>
      <p:sp>
        <p:nvSpPr>
          <p:cNvPr id="15" name="Rectangle 14">
            <a:extLst>
              <a:ext uri="{FF2B5EF4-FFF2-40B4-BE49-F238E27FC236}">
                <a16:creationId xmlns:a16="http://schemas.microsoft.com/office/drawing/2014/main" id="{99C7C458-1913-9627-5413-8BB1B1DFFC33}"/>
              </a:ext>
              <a:ext uri="{C183D7F6-B498-43B3-948B-1728B52AA6E4}">
                <adec:decorative xmlns:adec="http://schemas.microsoft.com/office/drawing/2017/decorative" val="0"/>
              </a:ext>
            </a:extLst>
          </p:cNvPr>
          <p:cNvSpPr/>
          <p:nvPr/>
        </p:nvSpPr>
        <p:spPr bwMode="auto">
          <a:xfrm>
            <a:off x="281610" y="4281195"/>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Be aware of region deployment availability</a:t>
            </a:r>
          </a:p>
        </p:txBody>
      </p:sp>
      <p:sp>
        <p:nvSpPr>
          <p:cNvPr id="16" name="Rectangle 15">
            <a:extLst>
              <a:ext uri="{FF2B5EF4-FFF2-40B4-BE49-F238E27FC236}">
                <a16:creationId xmlns:a16="http://schemas.microsoft.com/office/drawing/2014/main" id="{A516663A-0753-2D53-4F54-B91987F4C212}"/>
              </a:ext>
              <a:ext uri="{C183D7F6-B498-43B3-948B-1728B52AA6E4}">
                <adec:decorative xmlns:adec="http://schemas.microsoft.com/office/drawing/2017/decorative" val="0"/>
              </a:ext>
            </a:extLst>
          </p:cNvPr>
          <p:cNvSpPr/>
          <p:nvPr/>
        </p:nvSpPr>
        <p:spPr bwMode="auto">
          <a:xfrm>
            <a:off x="281610" y="4924740"/>
            <a:ext cx="5478462" cy="83805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There are global services that are region independent</a:t>
            </a:r>
          </a:p>
        </p:txBody>
      </p:sp>
      <p:sp>
        <p:nvSpPr>
          <p:cNvPr id="17" name="Rectangle 16">
            <a:extLst>
              <a:ext uri="{FF2B5EF4-FFF2-40B4-BE49-F238E27FC236}">
                <a16:creationId xmlns:a16="http://schemas.microsoft.com/office/drawing/2014/main" id="{CCD85729-523E-A74A-FD30-6E7E73882797}"/>
              </a:ext>
              <a:ext uri="{C183D7F6-B498-43B3-948B-1728B52AA6E4}">
                <adec:decorative xmlns:adec="http://schemas.microsoft.com/office/drawing/2017/decorative" val="0"/>
              </a:ext>
            </a:extLst>
          </p:cNvPr>
          <p:cNvSpPr/>
          <p:nvPr/>
        </p:nvSpPr>
        <p:spPr bwMode="auto">
          <a:xfrm>
            <a:off x="281610" y="5858201"/>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Most regions are paired for high availability</a:t>
            </a:r>
          </a:p>
        </p:txBody>
      </p:sp>
      <p:pic>
        <p:nvPicPr>
          <p:cNvPr id="18" name="Picture 17" descr="Azure regions map.">
            <a:extLst>
              <a:ext uri="{FF2B5EF4-FFF2-40B4-BE49-F238E27FC236}">
                <a16:creationId xmlns:a16="http://schemas.microsoft.com/office/drawing/2014/main" id="{26D82E17-CCCD-B3DD-FED2-94AE050E3E3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760072" y="1689716"/>
            <a:ext cx="6423125" cy="3705042"/>
          </a:xfrm>
          <a:prstGeom prst="rect">
            <a:avLst/>
          </a:prstGeom>
        </p:spPr>
      </p:pic>
      <p:sp>
        <p:nvSpPr>
          <p:cNvPr id="19" name="Rectangle 18">
            <a:extLst>
              <a:ext uri="{FF2B5EF4-FFF2-40B4-BE49-F238E27FC236}">
                <a16:creationId xmlns:a16="http://schemas.microsoft.com/office/drawing/2014/main" id="{BAF41E8B-DB12-D7C5-DDCB-99FD250D1804}"/>
              </a:ext>
            </a:extLst>
          </p:cNvPr>
          <p:cNvSpPr/>
          <p:nvPr/>
        </p:nvSpPr>
        <p:spPr>
          <a:xfrm>
            <a:off x="5890314" y="5440753"/>
            <a:ext cx="5775807" cy="917956"/>
          </a:xfrm>
          <a:prstGeom prst="rect">
            <a:avLst/>
          </a:prstGeom>
          <a:noFill/>
        </p:spPr>
        <p:txBody>
          <a:bodyPr wrap="square" lIns="91440" anchor="ctr">
            <a:noAutofit/>
          </a:bodyPr>
          <a:lstStyle/>
          <a:p>
            <a:pPr algn="ctr"/>
            <a:r>
              <a:rPr lang="en-IE" sz="2000" dirty="0">
                <a:latin typeface="+mj-lt"/>
                <a:cs typeface="Segoe UI Semilight"/>
              </a:rPr>
              <a:t>Worldwide there are 60+ regions</a:t>
            </a:r>
            <a:br>
              <a:rPr lang="en-IE" sz="2000" dirty="0">
                <a:latin typeface="+mj-lt"/>
                <a:cs typeface="Segoe UI Semilight"/>
              </a:rPr>
            </a:br>
            <a:r>
              <a:rPr lang="en-IE" sz="2000" dirty="0">
                <a:latin typeface="+mj-lt"/>
                <a:cs typeface="Segoe UI Semilight"/>
              </a:rPr>
              <a:t>representing 140 countries</a:t>
            </a:r>
            <a:endParaRPr lang="en-US" sz="2000" dirty="0">
              <a:latin typeface="+mj-lt"/>
              <a:cs typeface="Segoe UI Semilight"/>
            </a:endParaRPr>
          </a:p>
        </p:txBody>
      </p:sp>
    </p:spTree>
    <p:extLst>
      <p:ext uri="{BB962C8B-B14F-4D97-AF65-F5344CB8AC3E}">
        <p14:creationId xmlns:p14="http://schemas.microsoft.com/office/powerpoint/2010/main" val="1060775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748C62AA-64C4-C0E3-E96F-6D01FBCFD611}"/>
              </a:ext>
            </a:extLst>
          </p:cNvPr>
          <p:cNvSpPr txBox="1">
            <a:spLocks/>
          </p:cNvSpPr>
          <p:nvPr/>
        </p:nvSpPr>
        <p:spPr>
          <a:xfrm>
            <a:off x="570196" y="1435864"/>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Implement Azure Subscriptions</a:t>
            </a:r>
            <a:endParaRPr lang="en-US" dirty="0"/>
          </a:p>
        </p:txBody>
      </p:sp>
      <p:sp>
        <p:nvSpPr>
          <p:cNvPr id="11" name="Rectangle 10">
            <a:extLst>
              <a:ext uri="{FF2B5EF4-FFF2-40B4-BE49-F238E27FC236}">
                <a16:creationId xmlns:a16="http://schemas.microsoft.com/office/drawing/2014/main" id="{80AAAB67-CE4C-C140-3541-BD0CCB578AD8}"/>
              </a:ext>
              <a:ext uri="{C183D7F6-B498-43B3-948B-1728B52AA6E4}">
                <adec:decorative xmlns:adec="http://schemas.microsoft.com/office/drawing/2017/decorative" val="0"/>
              </a:ext>
            </a:extLst>
          </p:cNvPr>
          <p:cNvSpPr/>
          <p:nvPr/>
        </p:nvSpPr>
        <p:spPr bwMode="auto">
          <a:xfrm>
            <a:off x="570195" y="2549578"/>
            <a:ext cx="6011862" cy="119566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Only identities in Entra ID, or in a directory that is trusted by Entra ID, can create a subscription</a:t>
            </a:r>
          </a:p>
        </p:txBody>
      </p:sp>
      <p:sp>
        <p:nvSpPr>
          <p:cNvPr id="12" name="Rectangle 11">
            <a:extLst>
              <a:ext uri="{FF2B5EF4-FFF2-40B4-BE49-F238E27FC236}">
                <a16:creationId xmlns:a16="http://schemas.microsoft.com/office/drawing/2014/main" id="{7DDAC832-EEB6-8107-9F3E-53BFBC52D6EC}"/>
              </a:ext>
              <a:ext uri="{C183D7F6-B498-43B3-948B-1728B52AA6E4}">
                <adec:decorative xmlns:adec="http://schemas.microsoft.com/office/drawing/2017/decorative" val="0"/>
              </a:ext>
            </a:extLst>
          </p:cNvPr>
          <p:cNvSpPr/>
          <p:nvPr/>
        </p:nvSpPr>
        <p:spPr bwMode="auto">
          <a:xfrm>
            <a:off x="570195" y="3842517"/>
            <a:ext cx="6011862" cy="119566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Logical unit of Azure services that is linked to an Azure account</a:t>
            </a:r>
          </a:p>
        </p:txBody>
      </p:sp>
      <p:sp>
        <p:nvSpPr>
          <p:cNvPr id="13" name="Rectangle 12">
            <a:extLst>
              <a:ext uri="{FF2B5EF4-FFF2-40B4-BE49-F238E27FC236}">
                <a16:creationId xmlns:a16="http://schemas.microsoft.com/office/drawing/2014/main" id="{F0932873-81A0-BAD9-6FCF-36D3E1897691}"/>
              </a:ext>
              <a:ext uri="{C183D7F6-B498-43B3-948B-1728B52AA6E4}">
                <adec:decorative xmlns:adec="http://schemas.microsoft.com/office/drawing/2017/decorative" val="0"/>
              </a:ext>
            </a:extLst>
          </p:cNvPr>
          <p:cNvSpPr/>
          <p:nvPr/>
        </p:nvSpPr>
        <p:spPr bwMode="auto">
          <a:xfrm>
            <a:off x="570195" y="5146704"/>
            <a:ext cx="6011862" cy="119566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Security and billing boundary*</a:t>
            </a:r>
          </a:p>
        </p:txBody>
      </p:sp>
      <p:pic>
        <p:nvPicPr>
          <p:cNvPr id="14" name="Picture 2" descr="Flowchart. At the top is the Azure Account. Connected to the account is a Dev Subscription, Test Subscription, and Production Subscription. Each subscription uses different Azure resources">
            <a:extLst>
              <a:ext uri="{FF2B5EF4-FFF2-40B4-BE49-F238E27FC236}">
                <a16:creationId xmlns:a16="http://schemas.microsoft.com/office/drawing/2014/main" id="{88A2FA51-6DB4-5BD5-724F-5F4CB4CEA20E}"/>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t="-23238" b="-13863"/>
          <a:stretch/>
        </p:blipFill>
        <p:spPr>
          <a:xfrm>
            <a:off x="6827544" y="1912685"/>
            <a:ext cx="5405439" cy="4699318"/>
          </a:xfrm>
          <a:prstGeom prst="rect">
            <a:avLst/>
          </a:prstGeom>
          <a:solidFill>
            <a:schemeClr val="bg1"/>
          </a:solidFill>
          <a:ln w="19050">
            <a:noFill/>
            <a:headEnd type="none" w="med" len="med"/>
            <a:tailEnd type="none" w="med" len="med"/>
          </a:ln>
          <a:effectLst/>
        </p:spPr>
      </p:pic>
    </p:spTree>
    <p:extLst>
      <p:ext uri="{BB962C8B-B14F-4D97-AF65-F5344CB8AC3E}">
        <p14:creationId xmlns:p14="http://schemas.microsoft.com/office/powerpoint/2010/main" val="315390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2" name="Title 1">
            <a:extLst>
              <a:ext uri="{FF2B5EF4-FFF2-40B4-BE49-F238E27FC236}">
                <a16:creationId xmlns:a16="http://schemas.microsoft.com/office/drawing/2014/main" id="{6F9BFD2C-E669-2C84-F65A-2E59B55D3D84}"/>
              </a:ext>
            </a:extLst>
          </p:cNvPr>
          <p:cNvSpPr txBox="1">
            <a:spLocks/>
          </p:cNvSpPr>
          <p:nvPr/>
        </p:nvSpPr>
        <p:spPr>
          <a:xfrm>
            <a:off x="228436" y="977385"/>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Identify Subscription Usage</a:t>
            </a:r>
          </a:p>
        </p:txBody>
      </p:sp>
      <p:graphicFrame>
        <p:nvGraphicFramePr>
          <p:cNvPr id="13" name="Table 12">
            <a:extLst>
              <a:ext uri="{FF2B5EF4-FFF2-40B4-BE49-F238E27FC236}">
                <a16:creationId xmlns:a16="http://schemas.microsoft.com/office/drawing/2014/main" id="{16D9C9DC-2811-CE7C-FC1F-30D544BAB16D}"/>
              </a:ext>
            </a:extLst>
          </p:cNvPr>
          <p:cNvGraphicFramePr>
            <a:graphicFrameLocks noGrp="1"/>
          </p:cNvGraphicFramePr>
          <p:nvPr>
            <p:extLst>
              <p:ext uri="{D42A27DB-BD31-4B8C-83A1-F6EECF244321}">
                <p14:modId xmlns:p14="http://schemas.microsoft.com/office/powerpoint/2010/main" val="984113318"/>
              </p:ext>
            </p:extLst>
          </p:nvPr>
        </p:nvGraphicFramePr>
        <p:xfrm>
          <a:off x="527429" y="1826413"/>
          <a:ext cx="11582399" cy="4693920"/>
        </p:xfrm>
        <a:graphic>
          <a:graphicData uri="http://schemas.openxmlformats.org/drawingml/2006/table">
            <a:tbl>
              <a:tblPr firstRow="1" bandRow="1">
                <a:tableStyleId>{5C22544A-7EE6-4342-B048-85BDC9FD1C3A}</a:tableStyleId>
              </a:tblPr>
              <a:tblGrid>
                <a:gridCol w="2354262">
                  <a:extLst>
                    <a:ext uri="{9D8B030D-6E8A-4147-A177-3AD203B41FA5}">
                      <a16:colId xmlns:a16="http://schemas.microsoft.com/office/drawing/2014/main" val="1244596785"/>
                    </a:ext>
                  </a:extLst>
                </a:gridCol>
                <a:gridCol w="9228137">
                  <a:extLst>
                    <a:ext uri="{9D8B030D-6E8A-4147-A177-3AD203B41FA5}">
                      <a16:colId xmlns:a16="http://schemas.microsoft.com/office/drawing/2014/main" val="1144169494"/>
                    </a:ext>
                  </a:extLst>
                </a:gridCol>
              </a:tblGrid>
              <a:tr h="363959">
                <a:tc>
                  <a:txBody>
                    <a:bodyPr/>
                    <a:lstStyle/>
                    <a:p>
                      <a:pPr algn="l"/>
                      <a:r>
                        <a:rPr lang="en-US" sz="2400" b="0" dirty="0">
                          <a:solidFill>
                            <a:schemeClr val="tx1"/>
                          </a:solidFill>
                          <a:latin typeface="+mj-lt"/>
                        </a:rPr>
                        <a:t>Subscription</a:t>
                      </a:r>
                    </a:p>
                  </a:txBody>
                  <a:tcPr marL="137160" marR="137160" marT="91440" marB="91440">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algn="l"/>
                      <a:r>
                        <a:rPr lang="en-US" sz="2400" b="0" dirty="0">
                          <a:solidFill>
                            <a:schemeClr val="tx1"/>
                          </a:solidFill>
                          <a:latin typeface="+mj-lt"/>
                        </a:rPr>
                        <a:t>Usage</a:t>
                      </a:r>
                    </a:p>
                  </a:txBody>
                  <a:tcPr marL="137160" marR="137160" marT="91440" marB="91440">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extLst>
                  <a:ext uri="{0D108BD9-81ED-4DB2-BD59-A6C34878D82A}">
                    <a16:rowId xmlns:a16="http://schemas.microsoft.com/office/drawing/2014/main" val="3867422487"/>
                  </a:ext>
                </a:extLst>
              </a:tr>
              <a:tr h="1005840">
                <a:tc>
                  <a:txBody>
                    <a:bodyPr/>
                    <a:lstStyle/>
                    <a:p>
                      <a:pPr algn="l"/>
                      <a:r>
                        <a:rPr lang="en-US" sz="2200" dirty="0">
                          <a:latin typeface="+mj-lt"/>
                        </a:rPr>
                        <a:t>Free</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Includes a $200 credit for the first 30 days, free limited access for</a:t>
                      </a:r>
                      <a:br>
                        <a:rPr lang="en-US" sz="2200" dirty="0"/>
                      </a:br>
                      <a:r>
                        <a:rPr lang="en-US" sz="2200" dirty="0"/>
                        <a:t>12 months</a:t>
                      </a:r>
                    </a:p>
                  </a:txBody>
                  <a:tcPr marL="137160" marR="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37718024"/>
                  </a:ext>
                </a:extLst>
              </a:tr>
              <a:tr h="640080">
                <a:tc>
                  <a:txBody>
                    <a:bodyPr/>
                    <a:lstStyle/>
                    <a:p>
                      <a:pPr algn="l"/>
                      <a:r>
                        <a:rPr lang="en-US" sz="2200" dirty="0">
                          <a:latin typeface="+mj-lt"/>
                        </a:rPr>
                        <a:t>Pay-As-You-Go</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Charges you monthly</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15247879"/>
                  </a:ext>
                </a:extLst>
              </a:tr>
              <a:tr h="640080">
                <a:tc>
                  <a:txBody>
                    <a:bodyPr/>
                    <a:lstStyle/>
                    <a:p>
                      <a:pPr algn="l"/>
                      <a:r>
                        <a:rPr lang="en-US" sz="2200" dirty="0">
                          <a:latin typeface="+mj-lt"/>
                        </a:rPr>
                        <a:t>CSP</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Agreement with possible discounts through a Microsoft Cloud Solutions Provider Partner – typically for small to medium businesses</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68380257"/>
                  </a:ext>
                </a:extLst>
              </a:tr>
              <a:tr h="1005840">
                <a:tc>
                  <a:txBody>
                    <a:bodyPr/>
                    <a:lstStyle/>
                    <a:p>
                      <a:pPr algn="l"/>
                      <a:r>
                        <a:rPr lang="en-US" sz="2200" dirty="0">
                          <a:latin typeface="+mj-lt"/>
                        </a:rPr>
                        <a:t>Enterprise</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One agreement, with discounts for new licenses and Software</a:t>
                      </a:r>
                      <a:br>
                        <a:rPr lang="en-US" sz="2200" dirty="0"/>
                      </a:br>
                      <a:r>
                        <a:rPr lang="en-US" sz="2200" dirty="0"/>
                        <a:t>Assurance – targeted at enterprise-scale organizations</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6433382"/>
                  </a:ext>
                </a:extLst>
              </a:tr>
              <a:tr h="640080">
                <a:tc>
                  <a:txBody>
                    <a:bodyPr/>
                    <a:lstStyle/>
                    <a:p>
                      <a:pPr algn="l"/>
                      <a:r>
                        <a:rPr lang="en-US" sz="2200" dirty="0">
                          <a:latin typeface="+mj-lt"/>
                        </a:rPr>
                        <a:t>Student</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Includes $100 for 12 months – must verify student access</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421379"/>
                  </a:ext>
                </a:extLst>
              </a:tr>
            </a:tbl>
          </a:graphicData>
        </a:graphic>
      </p:graphicFrame>
    </p:spTree>
    <p:extLst>
      <p:ext uri="{BB962C8B-B14F-4D97-AF65-F5344CB8AC3E}">
        <p14:creationId xmlns:p14="http://schemas.microsoft.com/office/powerpoint/2010/main" val="2805544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8F4575B9-D6FF-9C7D-B287-D143AB65234E}"/>
              </a:ext>
            </a:extLst>
          </p:cNvPr>
          <p:cNvSpPr txBox="1">
            <a:spLocks/>
          </p:cNvSpPr>
          <p:nvPr/>
        </p:nvSpPr>
        <p:spPr>
          <a:xfrm>
            <a:off x="534794" y="977192"/>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Obtain a Subscription</a:t>
            </a:r>
            <a:endParaRPr lang="en-US" dirty="0"/>
          </a:p>
        </p:txBody>
      </p:sp>
      <p:sp>
        <p:nvSpPr>
          <p:cNvPr id="11" name="Rectangle 10">
            <a:extLst>
              <a:ext uri="{FF2B5EF4-FFF2-40B4-BE49-F238E27FC236}">
                <a16:creationId xmlns:a16="http://schemas.microsoft.com/office/drawing/2014/main" id="{9A3919C1-9E7F-FE67-71D2-D8CF64761119}"/>
              </a:ext>
              <a:ext uri="{C183D7F6-B498-43B3-948B-1728B52AA6E4}">
                <adec:decorative xmlns:adec="http://schemas.microsoft.com/office/drawing/2017/decorative" val="0"/>
              </a:ext>
            </a:extLst>
          </p:cNvPr>
          <p:cNvSpPr/>
          <p:nvPr/>
        </p:nvSpPr>
        <p:spPr bwMode="auto">
          <a:xfrm>
            <a:off x="546479" y="1865186"/>
            <a:ext cx="6016752" cy="1241801"/>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latin typeface="+mj-lt"/>
              </a:rPr>
              <a:t>Enterprise Agreement </a:t>
            </a:r>
            <a:r>
              <a:rPr lang="en-US" sz="2000" dirty="0">
                <a:solidFill>
                  <a:schemeClr val="tx1"/>
                </a:solidFill>
              </a:rPr>
              <a:t>customers make an upfront monetary commitment and consume services throughout the year</a:t>
            </a:r>
          </a:p>
        </p:txBody>
      </p:sp>
      <p:sp>
        <p:nvSpPr>
          <p:cNvPr id="12" name="Rectangle 11">
            <a:extLst>
              <a:ext uri="{FF2B5EF4-FFF2-40B4-BE49-F238E27FC236}">
                <a16:creationId xmlns:a16="http://schemas.microsoft.com/office/drawing/2014/main" id="{1FEB4ED7-C77D-9627-3C0A-FEF1E7E3519C}"/>
              </a:ext>
              <a:ext uri="{C183D7F6-B498-43B3-948B-1728B52AA6E4}">
                <adec:decorative xmlns:adec="http://schemas.microsoft.com/office/drawing/2017/decorative" val="0"/>
              </a:ext>
            </a:extLst>
          </p:cNvPr>
          <p:cNvSpPr/>
          <p:nvPr/>
        </p:nvSpPr>
        <p:spPr bwMode="auto">
          <a:xfrm>
            <a:off x="546479" y="3227539"/>
            <a:ext cx="6016752" cy="95948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latin typeface="+mj-lt"/>
              </a:rPr>
              <a:t>Resellers</a:t>
            </a:r>
            <a:r>
              <a:rPr lang="en-US" sz="2000" dirty="0">
                <a:solidFill>
                  <a:schemeClr val="tx1"/>
                </a:solidFill>
              </a:rPr>
              <a:t> provide a simple, flexible way to purchase cloud services</a:t>
            </a:r>
          </a:p>
        </p:txBody>
      </p:sp>
      <p:sp>
        <p:nvSpPr>
          <p:cNvPr id="13" name="Rectangle 12">
            <a:extLst>
              <a:ext uri="{FF2B5EF4-FFF2-40B4-BE49-F238E27FC236}">
                <a16:creationId xmlns:a16="http://schemas.microsoft.com/office/drawing/2014/main" id="{B53AB39C-48F7-E42D-AEB3-3D8AFB33DDF8}"/>
              </a:ext>
              <a:ext uri="{C183D7F6-B498-43B3-948B-1728B52AA6E4}">
                <adec:decorative xmlns:adec="http://schemas.microsoft.com/office/drawing/2017/decorative" val="0"/>
              </a:ext>
            </a:extLst>
          </p:cNvPr>
          <p:cNvSpPr/>
          <p:nvPr/>
        </p:nvSpPr>
        <p:spPr bwMode="auto">
          <a:xfrm>
            <a:off x="546479" y="4307571"/>
            <a:ext cx="6016752" cy="95948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latin typeface="+mj-lt"/>
              </a:rPr>
              <a:t>Partners</a:t>
            </a:r>
            <a:r>
              <a:rPr lang="en-US" sz="2000" dirty="0">
                <a:solidFill>
                  <a:schemeClr val="tx1"/>
                </a:solidFill>
              </a:rPr>
              <a:t> can design and implement your Azure cloud solution</a:t>
            </a:r>
          </a:p>
        </p:txBody>
      </p:sp>
      <p:sp>
        <p:nvSpPr>
          <p:cNvPr id="14" name="Rectangle 13">
            <a:extLst>
              <a:ext uri="{FF2B5EF4-FFF2-40B4-BE49-F238E27FC236}">
                <a16:creationId xmlns:a16="http://schemas.microsoft.com/office/drawing/2014/main" id="{FE9F71B1-9EF4-5EA9-AE2A-58252D39B6A9}"/>
              </a:ext>
              <a:ext uri="{C183D7F6-B498-43B3-948B-1728B52AA6E4}">
                <adec:decorative xmlns:adec="http://schemas.microsoft.com/office/drawing/2017/decorative" val="0"/>
              </a:ext>
            </a:extLst>
          </p:cNvPr>
          <p:cNvSpPr/>
          <p:nvPr/>
        </p:nvSpPr>
        <p:spPr bwMode="auto">
          <a:xfrm>
            <a:off x="546479" y="5387602"/>
            <a:ext cx="6016752" cy="786689"/>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1800" b="0" i="0" u="none" strike="noStrike" dirty="0">
                <a:solidFill>
                  <a:srgbClr val="000000"/>
                </a:solidFill>
                <a:effectLst/>
                <a:latin typeface="Calibri" panose="020F0502020204030204" pitchFamily="34" charset="0"/>
              </a:rPr>
              <a:t>Personal free account that you can start using immediately</a:t>
            </a:r>
            <a:endParaRPr lang="en-US" sz="2000" dirty="0">
              <a:solidFill>
                <a:schemeClr val="tx1"/>
              </a:solidFill>
            </a:endParaRPr>
          </a:p>
        </p:txBody>
      </p:sp>
      <p:pic>
        <p:nvPicPr>
          <p:cNvPr id="15" name="Picture 14" descr="Four images representing the four areas on the slide. Decorative">
            <a:extLst>
              <a:ext uri="{FF2B5EF4-FFF2-40B4-BE49-F238E27FC236}">
                <a16:creationId xmlns:a16="http://schemas.microsoft.com/office/drawing/2014/main" id="{BE26F5AE-E484-424B-58B4-EBA9F0FAD5C5}"/>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6640" t="-2379" r="-6186" b="-2379"/>
          <a:stretch/>
        </p:blipFill>
        <p:spPr>
          <a:xfrm>
            <a:off x="6698041" y="1865183"/>
            <a:ext cx="5405437" cy="4699318"/>
          </a:xfrm>
          <a:prstGeom prst="rect">
            <a:avLst/>
          </a:prstGeom>
          <a:solidFill>
            <a:schemeClr val="bg1"/>
          </a:solidFill>
          <a:ln w="19050">
            <a:noFill/>
            <a:headEnd type="none" w="med" len="med"/>
            <a:tailEnd type="none" w="med" len="med"/>
          </a:ln>
          <a:effectLst/>
        </p:spPr>
      </p:pic>
    </p:spTree>
    <p:extLst>
      <p:ext uri="{BB962C8B-B14F-4D97-AF65-F5344CB8AC3E}">
        <p14:creationId xmlns:p14="http://schemas.microsoft.com/office/powerpoint/2010/main" val="426025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5CEE20C6-2F4A-5D45-5267-3D603E0ED3D6}"/>
              </a:ext>
            </a:extLst>
          </p:cNvPr>
          <p:cNvSpPr txBox="1">
            <a:spLocks/>
          </p:cNvSpPr>
          <p:nvPr/>
        </p:nvSpPr>
        <p:spPr>
          <a:xfrm>
            <a:off x="544742" y="1154184"/>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Create Resource Groups</a:t>
            </a:r>
            <a:endParaRPr lang="en-US" dirty="0"/>
          </a:p>
        </p:txBody>
      </p:sp>
      <p:sp>
        <p:nvSpPr>
          <p:cNvPr id="11" name="TextBox 1">
            <a:extLst>
              <a:ext uri="{FF2B5EF4-FFF2-40B4-BE49-F238E27FC236}">
                <a16:creationId xmlns:a16="http://schemas.microsoft.com/office/drawing/2014/main" id="{89FA5C04-FFC8-4CC9-39F1-54279E0B94E3}"/>
              </a:ext>
            </a:extLst>
          </p:cNvPr>
          <p:cNvSpPr txBox="1"/>
          <p:nvPr/>
        </p:nvSpPr>
        <p:spPr>
          <a:xfrm>
            <a:off x="544742" y="2146046"/>
            <a:ext cx="5857030" cy="82884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Resources can only exist in one resource group </a:t>
            </a:r>
          </a:p>
        </p:txBody>
      </p:sp>
      <p:sp>
        <p:nvSpPr>
          <p:cNvPr id="12" name="TextBox 1">
            <a:extLst>
              <a:ext uri="{FF2B5EF4-FFF2-40B4-BE49-F238E27FC236}">
                <a16:creationId xmlns:a16="http://schemas.microsoft.com/office/drawing/2014/main" id="{D59C18AE-FB19-5EE0-15FC-07D7E05127F9}"/>
              </a:ext>
            </a:extLst>
          </p:cNvPr>
          <p:cNvSpPr txBox="1"/>
          <p:nvPr/>
        </p:nvSpPr>
        <p:spPr>
          <a:xfrm>
            <a:off x="527553" y="3233962"/>
            <a:ext cx="5857030" cy="83111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Groups can have resources of many different types (services) and from many different regions</a:t>
            </a:r>
          </a:p>
        </p:txBody>
      </p:sp>
      <p:sp>
        <p:nvSpPr>
          <p:cNvPr id="13" name="TextBox 1">
            <a:extLst>
              <a:ext uri="{FF2B5EF4-FFF2-40B4-BE49-F238E27FC236}">
                <a16:creationId xmlns:a16="http://schemas.microsoft.com/office/drawing/2014/main" id="{ECE48F34-93EE-A6E8-3F85-D44F1D8F8001}"/>
              </a:ext>
            </a:extLst>
          </p:cNvPr>
          <p:cNvSpPr txBox="1"/>
          <p:nvPr/>
        </p:nvSpPr>
        <p:spPr>
          <a:xfrm>
            <a:off x="553493" y="4324146"/>
            <a:ext cx="5857030" cy="82884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Groups cannot be renamed or nested</a:t>
            </a:r>
          </a:p>
        </p:txBody>
      </p:sp>
      <p:sp>
        <p:nvSpPr>
          <p:cNvPr id="14" name="TextBox 13">
            <a:extLst>
              <a:ext uri="{FF2B5EF4-FFF2-40B4-BE49-F238E27FC236}">
                <a16:creationId xmlns:a16="http://schemas.microsoft.com/office/drawing/2014/main" id="{79FA9F9B-A45D-6192-E0AB-724FA3A2CF6B}"/>
              </a:ext>
            </a:extLst>
          </p:cNvPr>
          <p:cNvSpPr txBox="1"/>
          <p:nvPr/>
        </p:nvSpPr>
        <p:spPr>
          <a:xfrm>
            <a:off x="566731" y="5412063"/>
            <a:ext cx="5857030" cy="82884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You can move resources between groups</a:t>
            </a:r>
          </a:p>
        </p:txBody>
      </p:sp>
      <p:grpSp>
        <p:nvGrpSpPr>
          <p:cNvPr id="15" name="Group 14">
            <a:extLst>
              <a:ext uri="{FF2B5EF4-FFF2-40B4-BE49-F238E27FC236}">
                <a16:creationId xmlns:a16="http://schemas.microsoft.com/office/drawing/2014/main" id="{7F3E32EB-C9E9-F734-4EA9-0BD425341270}"/>
              </a:ext>
              <a:ext uri="{C183D7F6-B498-43B3-948B-1728B52AA6E4}">
                <adec:decorative xmlns:adec="http://schemas.microsoft.com/office/drawing/2017/decorative" val="1"/>
              </a:ext>
            </a:extLst>
          </p:cNvPr>
          <p:cNvGrpSpPr/>
          <p:nvPr/>
        </p:nvGrpSpPr>
        <p:grpSpPr>
          <a:xfrm>
            <a:off x="6726559" y="2211424"/>
            <a:ext cx="5253691" cy="1680624"/>
            <a:chOff x="6402965" y="1622389"/>
            <a:chExt cx="5253691" cy="1680624"/>
          </a:xfrm>
        </p:grpSpPr>
        <p:sp>
          <p:nvSpPr>
            <p:cNvPr id="16" name="Rectangle 15">
              <a:extLst>
                <a:ext uri="{FF2B5EF4-FFF2-40B4-BE49-F238E27FC236}">
                  <a16:creationId xmlns:a16="http://schemas.microsoft.com/office/drawing/2014/main" id="{4E6E4E81-4255-31F0-0C46-3DAFDB4A8029}"/>
                </a:ext>
              </a:extLst>
            </p:cNvPr>
            <p:cNvSpPr>
              <a:spLocks/>
            </p:cNvSpPr>
            <p:nvPr/>
          </p:nvSpPr>
          <p:spPr bwMode="auto">
            <a:xfrm>
              <a:off x="6402965" y="1622389"/>
              <a:ext cx="5253691" cy="1680624"/>
            </a:xfrm>
            <a:prstGeom prst="rect">
              <a:avLst/>
            </a:prstGeom>
            <a:no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lvl="0" defTabSz="932597">
                <a:spcBef>
                  <a:spcPts val="600"/>
                </a:spcBef>
                <a:defRPr/>
              </a:pPr>
              <a:r>
                <a:rPr lang="en-US" sz="1400" dirty="0">
                  <a:solidFill>
                    <a:srgbClr val="000000"/>
                  </a:solidFill>
                </a:rPr>
                <a:t>Resources grouped </a:t>
              </a:r>
              <a:br>
                <a:rPr lang="en-US" sz="1400" dirty="0">
                  <a:solidFill>
                    <a:srgbClr val="000000"/>
                  </a:solidFill>
                </a:rPr>
              </a:br>
              <a:r>
                <a:rPr lang="en-US" sz="1400" dirty="0">
                  <a:solidFill>
                    <a:srgbClr val="000000"/>
                  </a:solidFill>
                </a:rPr>
                <a:t>(Web + DB, VM, Storage) in one group</a:t>
              </a:r>
            </a:p>
          </p:txBody>
        </p:sp>
        <p:pic>
          <p:nvPicPr>
            <p:cNvPr id="17" name="Picture 16">
              <a:extLst>
                <a:ext uri="{FF2B5EF4-FFF2-40B4-BE49-F238E27FC236}">
                  <a16:creationId xmlns:a16="http://schemas.microsoft.com/office/drawing/2014/main" id="{31453002-8788-6A26-79C8-F8687A4D4BE5}"/>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746808" y="2389287"/>
              <a:ext cx="4617720" cy="845820"/>
            </a:xfrm>
            <a:prstGeom prst="rect">
              <a:avLst/>
            </a:prstGeom>
          </p:spPr>
        </p:pic>
      </p:grpSp>
      <p:cxnSp>
        <p:nvCxnSpPr>
          <p:cNvPr id="18" name="Straight Connector 17">
            <a:extLst>
              <a:ext uri="{FF2B5EF4-FFF2-40B4-BE49-F238E27FC236}">
                <a16:creationId xmlns:a16="http://schemas.microsoft.com/office/drawing/2014/main" id="{3A008E13-CDAC-38C2-53BB-94776BDAEE69}"/>
              </a:ext>
              <a:ext uri="{C183D7F6-B498-43B3-948B-1728B52AA6E4}">
                <adec:decorative xmlns:adec="http://schemas.microsoft.com/office/drawing/2017/decorative" val="1"/>
              </a:ext>
            </a:extLst>
          </p:cNvPr>
          <p:cNvCxnSpPr>
            <a:cxnSpLocks/>
          </p:cNvCxnSpPr>
          <p:nvPr/>
        </p:nvCxnSpPr>
        <p:spPr>
          <a:xfrm flipV="1">
            <a:off x="6752485" y="4122919"/>
            <a:ext cx="5201838" cy="0"/>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Oval 307">
            <a:extLst>
              <a:ext uri="{FF2B5EF4-FFF2-40B4-BE49-F238E27FC236}">
                <a16:creationId xmlns:a16="http://schemas.microsoft.com/office/drawing/2014/main" id="{3DBD9DB0-030E-D2E2-BC7A-BE26932BAF1E}"/>
              </a:ext>
              <a:ext uri="{C183D7F6-B498-43B3-948B-1728B52AA6E4}">
                <adec:decorative xmlns:adec="http://schemas.microsoft.com/office/drawing/2017/decorative" val="1"/>
              </a:ext>
            </a:extLst>
          </p:cNvPr>
          <p:cNvSpPr>
            <a:spLocks noChangeArrowheads="1"/>
          </p:cNvSpPr>
          <p:nvPr/>
        </p:nvSpPr>
        <p:spPr bwMode="auto">
          <a:xfrm>
            <a:off x="9129368" y="3892659"/>
            <a:ext cx="448073" cy="460522"/>
          </a:xfrm>
          <a:prstGeom prst="ellipse">
            <a:avLst/>
          </a:prstGeom>
          <a:solidFill>
            <a:schemeClr val="tx2"/>
          </a:solidFill>
          <a:ln w="9525">
            <a:noFill/>
            <a:round/>
            <a:headEnd/>
            <a:tailEnd/>
          </a:ln>
        </p:spPr>
        <p:txBody>
          <a:bodyPr vert="horz" wrap="none" lIns="95117" tIns="47558" rIns="95117" bIns="47558" numCol="1" anchor="ctr" anchorCtr="0" compatLnSpc="1">
            <a:prstTxWarp prst="textNoShape">
              <a:avLst/>
            </a:prstTxWarp>
          </a:bodyPr>
          <a:lstStyle/>
          <a:p>
            <a:pPr algn="ctr" defTabSz="932597">
              <a:defRPr/>
            </a:pPr>
            <a:r>
              <a:rPr lang="en-US" sz="1428" kern="0" dirty="0">
                <a:solidFill>
                  <a:srgbClr val="FFFFFF"/>
                </a:solidFill>
              </a:rPr>
              <a:t>OR</a:t>
            </a:r>
          </a:p>
        </p:txBody>
      </p:sp>
      <p:grpSp>
        <p:nvGrpSpPr>
          <p:cNvPr id="20" name="Group 19">
            <a:extLst>
              <a:ext uri="{FF2B5EF4-FFF2-40B4-BE49-F238E27FC236}">
                <a16:creationId xmlns:a16="http://schemas.microsoft.com/office/drawing/2014/main" id="{192E68F1-9351-1FE9-B4D8-A7A69A0A34C9}"/>
              </a:ext>
              <a:ext uri="{C183D7F6-B498-43B3-948B-1728B52AA6E4}">
                <adec:decorative xmlns:adec="http://schemas.microsoft.com/office/drawing/2017/decorative" val="1"/>
              </a:ext>
            </a:extLst>
          </p:cNvPr>
          <p:cNvGrpSpPr/>
          <p:nvPr/>
        </p:nvGrpSpPr>
        <p:grpSpPr>
          <a:xfrm>
            <a:off x="6726559" y="4442402"/>
            <a:ext cx="5253691" cy="1734634"/>
            <a:chOff x="6402965" y="3853367"/>
            <a:chExt cx="5253691" cy="1734634"/>
          </a:xfrm>
        </p:grpSpPr>
        <p:sp>
          <p:nvSpPr>
            <p:cNvPr id="21" name="Rectangle 20">
              <a:extLst>
                <a:ext uri="{FF2B5EF4-FFF2-40B4-BE49-F238E27FC236}">
                  <a16:creationId xmlns:a16="http://schemas.microsoft.com/office/drawing/2014/main" id="{443437A9-32F4-E1AC-249F-371BD0BE1F22}"/>
                </a:ext>
              </a:extLst>
            </p:cNvPr>
            <p:cNvSpPr/>
            <p:nvPr/>
          </p:nvSpPr>
          <p:spPr bwMode="auto">
            <a:xfrm>
              <a:off x="6402965" y="3853367"/>
              <a:ext cx="1315355" cy="1734634"/>
            </a:xfrm>
            <a:prstGeom prst="rect">
              <a:avLst/>
            </a:prstGeom>
            <a:solidFill>
              <a:srgbClr val="FFFFFF"/>
            </a:solidFill>
            <a:ln w="19050" cap="flat" cmpd="sng" algn="ctr">
              <a:solidFill>
                <a:schemeClr val="bg1">
                  <a:lumMod val="50000"/>
                </a:schemeClr>
              </a:solid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defTabSz="951028" fontAlgn="base">
                <a:lnSpc>
                  <a:spcPct val="90000"/>
                </a:lnSpc>
                <a:spcBef>
                  <a:spcPct val="0"/>
                </a:spcBef>
                <a:spcAft>
                  <a:spcPct val="0"/>
                </a:spcAft>
                <a:defRPr/>
              </a:pPr>
              <a:r>
                <a:rPr lang="en-US" sz="1200" b="1" kern="0" dirty="0">
                  <a:solidFill>
                    <a:schemeClr val="tx2"/>
                  </a:solidFill>
                  <a:latin typeface="+mj-lt"/>
                  <a:ea typeface="Segoe UI" pitchFamily="34" charset="0"/>
                  <a:cs typeface="Segoe UI" pitchFamily="34" charset="0"/>
                </a:rPr>
                <a:t>Web and DB </a:t>
              </a:r>
              <a:r>
                <a:rPr lang="en-US" sz="1224" kern="0" dirty="0">
                  <a:ea typeface="Segoe UI" pitchFamily="34" charset="0"/>
                  <a:cs typeface="Segoe UI" pitchFamily="34" charset="0"/>
                </a:rPr>
                <a:t>resource group</a:t>
              </a:r>
            </a:p>
          </p:txBody>
        </p:sp>
        <p:sp>
          <p:nvSpPr>
            <p:cNvPr id="22" name="Rectangle 21">
              <a:extLst>
                <a:ext uri="{FF2B5EF4-FFF2-40B4-BE49-F238E27FC236}">
                  <a16:creationId xmlns:a16="http://schemas.microsoft.com/office/drawing/2014/main" id="{CB9DE6F7-ECE9-6093-35CE-5B819F56F959}"/>
                </a:ext>
              </a:extLst>
            </p:cNvPr>
            <p:cNvSpPr/>
            <p:nvPr/>
          </p:nvSpPr>
          <p:spPr bwMode="auto">
            <a:xfrm>
              <a:off x="8372133" y="3853367"/>
              <a:ext cx="1315355" cy="1734634"/>
            </a:xfrm>
            <a:prstGeom prst="rect">
              <a:avLst/>
            </a:prstGeom>
            <a:solidFill>
              <a:srgbClr val="FFFFFF"/>
            </a:solidFill>
            <a:ln w="19050" cap="flat" cmpd="sng" algn="ctr">
              <a:solidFill>
                <a:schemeClr val="bg1">
                  <a:lumMod val="50000"/>
                </a:schemeClr>
              </a:solid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defTabSz="951028" fontAlgn="base">
                <a:lnSpc>
                  <a:spcPct val="90000"/>
                </a:lnSpc>
                <a:spcBef>
                  <a:spcPct val="0"/>
                </a:spcBef>
                <a:spcAft>
                  <a:spcPct val="0"/>
                </a:spcAft>
                <a:defRPr/>
              </a:pPr>
              <a:r>
                <a:rPr lang="en-US" sz="1200" b="1" kern="0" dirty="0">
                  <a:solidFill>
                    <a:schemeClr val="tx2"/>
                  </a:solidFill>
                  <a:latin typeface="+mj-lt"/>
                  <a:ea typeface="Segoe UI" pitchFamily="34" charset="0"/>
                  <a:cs typeface="Segoe UI" pitchFamily="34" charset="0"/>
                </a:rPr>
                <a:t>Virtual machine </a:t>
              </a:r>
              <a:r>
                <a:rPr lang="en-US" sz="1224" kern="0" dirty="0">
                  <a:ea typeface="Segoe UI" pitchFamily="34" charset="0"/>
                  <a:cs typeface="Segoe UI" pitchFamily="34" charset="0"/>
                </a:rPr>
                <a:t>resource group</a:t>
              </a:r>
            </a:p>
          </p:txBody>
        </p:sp>
        <p:sp>
          <p:nvSpPr>
            <p:cNvPr id="23" name="Rectangle 22">
              <a:extLst>
                <a:ext uri="{FF2B5EF4-FFF2-40B4-BE49-F238E27FC236}">
                  <a16:creationId xmlns:a16="http://schemas.microsoft.com/office/drawing/2014/main" id="{C532E5D9-5555-151A-2247-C633BBC96CC5}"/>
                </a:ext>
              </a:extLst>
            </p:cNvPr>
            <p:cNvSpPr/>
            <p:nvPr/>
          </p:nvSpPr>
          <p:spPr bwMode="auto">
            <a:xfrm>
              <a:off x="10341301" y="3853367"/>
              <a:ext cx="1315355" cy="1734634"/>
            </a:xfrm>
            <a:prstGeom prst="rect">
              <a:avLst/>
            </a:prstGeom>
            <a:solidFill>
              <a:srgbClr val="FFFFFF"/>
            </a:solidFill>
            <a:ln w="19050" cap="flat" cmpd="sng" algn="ctr">
              <a:solidFill>
                <a:schemeClr val="bg1">
                  <a:lumMod val="50000"/>
                </a:schemeClr>
              </a:solid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defTabSz="951028" fontAlgn="base">
                <a:lnSpc>
                  <a:spcPct val="90000"/>
                </a:lnSpc>
                <a:spcBef>
                  <a:spcPct val="0"/>
                </a:spcBef>
                <a:spcAft>
                  <a:spcPct val="0"/>
                </a:spcAft>
                <a:defRPr/>
              </a:pPr>
              <a:r>
                <a:rPr lang="en-US" sz="1200" b="1" kern="0" dirty="0">
                  <a:solidFill>
                    <a:schemeClr val="tx2"/>
                  </a:solidFill>
                  <a:latin typeface="+mj-lt"/>
                  <a:ea typeface="Segoe UI" pitchFamily="34" charset="0"/>
                  <a:cs typeface="Segoe UI" pitchFamily="34" charset="0"/>
                </a:rPr>
                <a:t>Storage</a:t>
              </a:r>
              <a:r>
                <a:rPr lang="en-US" sz="1200" kern="0" dirty="0">
                  <a:solidFill>
                    <a:schemeClr val="tx2"/>
                  </a:solidFill>
                  <a:latin typeface="+mj-lt"/>
                  <a:ea typeface="Segoe UI" pitchFamily="34" charset="0"/>
                  <a:cs typeface="Segoe UI" pitchFamily="34" charset="0"/>
                </a:rPr>
                <a:t> </a:t>
              </a:r>
              <a:r>
                <a:rPr lang="en-US" sz="1224" kern="0" dirty="0">
                  <a:ea typeface="Segoe UI" pitchFamily="34" charset="0"/>
                  <a:cs typeface="Segoe UI" pitchFamily="34" charset="0"/>
                </a:rPr>
                <a:t>resource group</a:t>
              </a:r>
            </a:p>
          </p:txBody>
        </p:sp>
        <p:pic>
          <p:nvPicPr>
            <p:cNvPr id="24" name="Picture 23">
              <a:extLst>
                <a:ext uri="{FF2B5EF4-FFF2-40B4-BE49-F238E27FC236}">
                  <a16:creationId xmlns:a16="http://schemas.microsoft.com/office/drawing/2014/main" id="{637BF220-138E-231A-55DF-B1BD492F399C}"/>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714802" y="3900330"/>
              <a:ext cx="4639056" cy="1043940"/>
            </a:xfrm>
            <a:prstGeom prst="rect">
              <a:avLst/>
            </a:prstGeom>
          </p:spPr>
        </p:pic>
      </p:grpSp>
    </p:spTree>
    <p:extLst>
      <p:ext uri="{BB962C8B-B14F-4D97-AF65-F5344CB8AC3E}">
        <p14:creationId xmlns:p14="http://schemas.microsoft.com/office/powerpoint/2010/main" val="1474480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descr="Screenshot of the Subscription usage and quotas page. It shows quotas for Network Watchers, Public IP Addresses, Route Tables, and Virtual Networks by their location with the usage numbers by percent used and number of resources.">
            <a:extLst>
              <a:ext uri="{FF2B5EF4-FFF2-40B4-BE49-F238E27FC236}">
                <a16:creationId xmlns:a16="http://schemas.microsoft.com/office/drawing/2014/main" id="{4010D4B6-74B6-1802-F5D1-DD5E24F92FDF}"/>
              </a:ext>
            </a:extLst>
          </p:cNvPr>
          <p:cNvSpPr txBox="1">
            <a:spLocks/>
          </p:cNvSpPr>
          <p:nvPr/>
        </p:nvSpPr>
        <p:spPr>
          <a:xfrm>
            <a:off x="-455737" y="689515"/>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latin typeface="Segoe UI Semibold" panose="020B0702040204020203" pitchFamily="34" charset="0"/>
                <a:cs typeface="Segoe UI Semibold" panose="020B0702040204020203" pitchFamily="34" charset="0"/>
              </a:rPr>
              <a:t>Determine Service Limits and Quotas</a:t>
            </a:r>
          </a:p>
        </p:txBody>
      </p:sp>
      <p:sp>
        <p:nvSpPr>
          <p:cNvPr id="11" name="Rectangle 10">
            <a:extLst>
              <a:ext uri="{FF2B5EF4-FFF2-40B4-BE49-F238E27FC236}">
                <a16:creationId xmlns:a16="http://schemas.microsoft.com/office/drawing/2014/main" id="{AA97A402-650F-8156-29A3-38C32526B165}"/>
              </a:ext>
            </a:extLst>
          </p:cNvPr>
          <p:cNvSpPr/>
          <p:nvPr/>
        </p:nvSpPr>
        <p:spPr>
          <a:xfrm>
            <a:off x="427038" y="5251213"/>
            <a:ext cx="3758359" cy="11105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spcBef>
                <a:spcPts val="1200"/>
              </a:spcBef>
            </a:pPr>
            <a:r>
              <a:rPr lang="en-US" sz="2000" dirty="0">
                <a:solidFill>
                  <a:schemeClr val="tx1"/>
                </a:solidFill>
              </a:rPr>
              <a:t>Resources have a default limit - a subscription quota </a:t>
            </a:r>
          </a:p>
        </p:txBody>
      </p:sp>
      <p:sp>
        <p:nvSpPr>
          <p:cNvPr id="12" name="Rectangle 11">
            <a:extLst>
              <a:ext uri="{FF2B5EF4-FFF2-40B4-BE49-F238E27FC236}">
                <a16:creationId xmlns:a16="http://schemas.microsoft.com/office/drawing/2014/main" id="{9E5288A8-8F18-7AAF-D539-4280ECEF032B}"/>
              </a:ext>
            </a:extLst>
          </p:cNvPr>
          <p:cNvSpPr/>
          <p:nvPr/>
        </p:nvSpPr>
        <p:spPr>
          <a:xfrm>
            <a:off x="4339058" y="5251213"/>
            <a:ext cx="3758359" cy="11105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spcBef>
                <a:spcPts val="1200"/>
              </a:spcBef>
            </a:pPr>
            <a:r>
              <a:rPr lang="en-US" sz="2000" dirty="0">
                <a:solidFill>
                  <a:schemeClr val="tx1"/>
                </a:solidFill>
              </a:rPr>
              <a:t>Helpful to track current usage, and plan for future use</a:t>
            </a:r>
          </a:p>
        </p:txBody>
      </p:sp>
      <p:sp>
        <p:nvSpPr>
          <p:cNvPr id="13" name="Rectangle 12">
            <a:extLst>
              <a:ext uri="{FF2B5EF4-FFF2-40B4-BE49-F238E27FC236}">
                <a16:creationId xmlns:a16="http://schemas.microsoft.com/office/drawing/2014/main" id="{B61D304F-6A57-59BC-3E9D-81C2E666A1E6}"/>
              </a:ext>
            </a:extLst>
          </p:cNvPr>
          <p:cNvSpPr/>
          <p:nvPr/>
        </p:nvSpPr>
        <p:spPr>
          <a:xfrm>
            <a:off x="8251079" y="5251213"/>
            <a:ext cx="3758359" cy="11105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spcBef>
                <a:spcPts val="1200"/>
              </a:spcBef>
            </a:pPr>
            <a:r>
              <a:rPr lang="en-US" sz="2000" dirty="0">
                <a:solidFill>
                  <a:schemeClr val="tx1"/>
                </a:solidFill>
              </a:rPr>
              <a:t>You can open a free support case to increase limits to published maximums</a:t>
            </a:r>
          </a:p>
        </p:txBody>
      </p:sp>
      <p:pic>
        <p:nvPicPr>
          <p:cNvPr id="14" name="Picture 13" descr="Screenshot of the Subscription usage and quotas page. It shows quotas for Network Watchers, Public IP Addresses, Route Tables, and Virtual Networks by their location with the usage numbers by percent used and number of resources">
            <a:extLst>
              <a:ext uri="{FF2B5EF4-FFF2-40B4-BE49-F238E27FC236}">
                <a16:creationId xmlns:a16="http://schemas.microsoft.com/office/drawing/2014/main" id="{77EC0E7A-330B-471E-9F0D-318817236B06}"/>
              </a:ext>
            </a:extLst>
          </p:cNvPr>
          <p:cNvPicPr>
            <a:picLocks noChangeAspect="1"/>
          </p:cNvPicPr>
          <p:nvPr/>
        </p:nvPicPr>
        <p:blipFill>
          <a:blip r:embed="rId7"/>
          <a:stretch>
            <a:fillRect/>
          </a:stretch>
        </p:blipFill>
        <p:spPr>
          <a:xfrm>
            <a:off x="1307466" y="1276113"/>
            <a:ext cx="9807827" cy="3659075"/>
          </a:xfrm>
          <a:prstGeom prst="rect">
            <a:avLst/>
          </a:prstGeom>
          <a:ln>
            <a:solidFill>
              <a:schemeClr val="accent1"/>
            </a:solidFill>
          </a:ln>
        </p:spPr>
      </p:pic>
    </p:spTree>
    <p:extLst>
      <p:ext uri="{BB962C8B-B14F-4D97-AF65-F5344CB8AC3E}">
        <p14:creationId xmlns:p14="http://schemas.microsoft.com/office/powerpoint/2010/main" val="205887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A8A96B02-2216-785A-285D-399C96C0FE66}"/>
              </a:ext>
            </a:extLst>
          </p:cNvPr>
          <p:cNvSpPr txBox="1">
            <a:spLocks/>
          </p:cNvSpPr>
          <p:nvPr/>
        </p:nvSpPr>
        <p:spPr>
          <a:xfrm>
            <a:off x="159179" y="847529"/>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Create an Azure Resource Hierarchy</a:t>
            </a:r>
          </a:p>
        </p:txBody>
      </p:sp>
      <p:sp>
        <p:nvSpPr>
          <p:cNvPr id="11" name="Rectangle 10">
            <a:extLst>
              <a:ext uri="{FF2B5EF4-FFF2-40B4-BE49-F238E27FC236}">
                <a16:creationId xmlns:a16="http://schemas.microsoft.com/office/drawing/2014/main" id="{4E44D0E0-6CFA-0C43-1756-99136F3F7A18}"/>
              </a:ext>
              <a:ext uri="{C183D7F6-B498-43B3-948B-1728B52AA6E4}">
                <adec:decorative xmlns:adec="http://schemas.microsoft.com/office/drawing/2017/decorative" val="0"/>
              </a:ext>
            </a:extLst>
          </p:cNvPr>
          <p:cNvSpPr/>
          <p:nvPr/>
        </p:nvSpPr>
        <p:spPr bwMode="auto">
          <a:xfrm>
            <a:off x="452438" y="1542519"/>
            <a:ext cx="5458968" cy="11788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Management groups provides a level of scope above subscriptions</a:t>
            </a:r>
          </a:p>
        </p:txBody>
      </p:sp>
      <p:sp>
        <p:nvSpPr>
          <p:cNvPr id="12" name="Rectangle 11">
            <a:extLst>
              <a:ext uri="{FF2B5EF4-FFF2-40B4-BE49-F238E27FC236}">
                <a16:creationId xmlns:a16="http://schemas.microsoft.com/office/drawing/2014/main" id="{5CE12185-9C42-F1E2-A500-BA539DD35A23}"/>
              </a:ext>
              <a:ext uri="{C183D7F6-B498-43B3-948B-1728B52AA6E4}">
                <adec:decorative xmlns:adec="http://schemas.microsoft.com/office/drawing/2017/decorative" val="0"/>
              </a:ext>
            </a:extLst>
          </p:cNvPr>
          <p:cNvSpPr/>
          <p:nvPr/>
        </p:nvSpPr>
        <p:spPr bwMode="auto">
          <a:xfrm>
            <a:off x="452438" y="3054929"/>
            <a:ext cx="5458968" cy="11788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1800" b="0" i="0" u="none" strike="noStrike" dirty="0">
                <a:solidFill>
                  <a:srgbClr val="000000"/>
                </a:solidFill>
                <a:effectLst/>
                <a:latin typeface="Calibri" panose="020F0502020204030204" pitchFamily="34" charset="0"/>
              </a:rPr>
              <a:t>Target policies and spend budgets across subscriptions.  </a:t>
            </a:r>
            <a:endParaRPr lang="en-US" sz="2000" dirty="0">
              <a:solidFill>
                <a:schemeClr val="tx1"/>
              </a:solidFill>
            </a:endParaRPr>
          </a:p>
        </p:txBody>
      </p:sp>
      <p:sp>
        <p:nvSpPr>
          <p:cNvPr id="13" name="Rectangle 12">
            <a:extLst>
              <a:ext uri="{FF2B5EF4-FFF2-40B4-BE49-F238E27FC236}">
                <a16:creationId xmlns:a16="http://schemas.microsoft.com/office/drawing/2014/main" id="{0BFAFF6D-D29C-2AAF-BA40-B5767AD6CD83}"/>
              </a:ext>
              <a:ext uri="{C183D7F6-B498-43B3-948B-1728B52AA6E4}">
                <adec:decorative xmlns:adec="http://schemas.microsoft.com/office/drawing/2017/decorative" val="0"/>
              </a:ext>
            </a:extLst>
          </p:cNvPr>
          <p:cNvSpPr/>
          <p:nvPr/>
        </p:nvSpPr>
        <p:spPr bwMode="auto">
          <a:xfrm>
            <a:off x="427037" y="4432866"/>
            <a:ext cx="5458968" cy="11788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1800" b="0" i="0" u="none" strike="noStrike" dirty="0">
                <a:solidFill>
                  <a:srgbClr val="000000"/>
                </a:solidFill>
                <a:effectLst/>
                <a:latin typeface="Calibri" panose="020F0502020204030204" pitchFamily="34" charset="0"/>
              </a:rPr>
              <a:t>Implement Compliance and Cost Reporting for Different Teams</a:t>
            </a:r>
            <a:endParaRPr lang="en-US" sz="2000" dirty="0">
              <a:solidFill>
                <a:schemeClr val="tx1"/>
              </a:solidFill>
            </a:endParaRPr>
          </a:p>
        </p:txBody>
      </p:sp>
      <p:pic>
        <p:nvPicPr>
          <p:cNvPr id="14" name="Picture 2" descr="Diagram showing how Azure management groups are used to organize subscriptions in a hierarchy of unified policy and access management. A single top-level management, or root group (Contoso) and every directory below is folded into it">
            <a:extLst>
              <a:ext uri="{FF2B5EF4-FFF2-40B4-BE49-F238E27FC236}">
                <a16:creationId xmlns:a16="http://schemas.microsoft.com/office/drawing/2014/main" id="{D07C8E8A-F5FA-5BF1-9662-1EDCE551E70F}"/>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6188894" y="1711896"/>
            <a:ext cx="5846812" cy="3570732"/>
          </a:xfrm>
          <a:prstGeom prst="rect">
            <a:avLst/>
          </a:prstGeom>
        </p:spPr>
      </p:pic>
      <p:sp>
        <p:nvSpPr>
          <p:cNvPr id="15" name="TextBox 1">
            <a:extLst>
              <a:ext uri="{FF2B5EF4-FFF2-40B4-BE49-F238E27FC236}">
                <a16:creationId xmlns:a16="http://schemas.microsoft.com/office/drawing/2014/main" id="{01F21E85-6118-0C62-7BF2-1C54CB9D4E10}"/>
              </a:ext>
            </a:extLst>
          </p:cNvPr>
          <p:cNvSpPr txBox="1"/>
          <p:nvPr/>
        </p:nvSpPr>
        <p:spPr>
          <a:xfrm>
            <a:off x="339617" y="5817478"/>
            <a:ext cx="11396652" cy="585596"/>
          </a:xfrm>
          <a:prstGeom prst="rect">
            <a:avLst/>
          </a:prstGeom>
          <a:solidFill>
            <a:schemeClr val="bg2"/>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 To prevent changes, apply resource locks a</a:t>
            </a:r>
            <a:r>
              <a:rPr lang="en-US" sz="2000" b="0" i="0" dirty="0">
                <a:effectLst/>
                <a:latin typeface="Segoe UI VSS (Regular)"/>
              </a:rPr>
              <a:t>t the subscription, resource group, or resources level</a:t>
            </a:r>
            <a:endParaRPr lang="en-US" sz="2000" dirty="0"/>
          </a:p>
        </p:txBody>
      </p:sp>
    </p:spTree>
    <p:extLst>
      <p:ext uri="{BB962C8B-B14F-4D97-AF65-F5344CB8AC3E}">
        <p14:creationId xmlns:p14="http://schemas.microsoft.com/office/powerpoint/2010/main" val="2211557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5466922F-D6C0-056D-0038-363CE4A522BF}"/>
              </a:ext>
            </a:extLst>
          </p:cNvPr>
          <p:cNvSpPr txBox="1">
            <a:spLocks/>
          </p:cNvSpPr>
          <p:nvPr/>
        </p:nvSpPr>
        <p:spPr>
          <a:xfrm>
            <a:off x="159179" y="1075120"/>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Apply Resource Tagging</a:t>
            </a:r>
          </a:p>
        </p:txBody>
      </p:sp>
      <p:sp>
        <p:nvSpPr>
          <p:cNvPr id="11" name="Rectangle 10">
            <a:extLst>
              <a:ext uri="{FF2B5EF4-FFF2-40B4-BE49-F238E27FC236}">
                <a16:creationId xmlns:a16="http://schemas.microsoft.com/office/drawing/2014/main" id="{1D36C6B5-1357-92D1-B2CF-7E65E7FF702F}"/>
              </a:ext>
              <a:ext uri="{C183D7F6-B498-43B3-948B-1728B52AA6E4}">
                <adec:decorative xmlns:adec="http://schemas.microsoft.com/office/drawing/2017/decorative" val="0"/>
              </a:ext>
            </a:extLst>
          </p:cNvPr>
          <p:cNvSpPr/>
          <p:nvPr/>
        </p:nvSpPr>
        <p:spPr bwMode="auto">
          <a:xfrm>
            <a:off x="578737" y="2231902"/>
            <a:ext cx="5458968" cy="98274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Provides metadata for your Azure resources </a:t>
            </a:r>
          </a:p>
        </p:txBody>
      </p:sp>
      <p:sp>
        <p:nvSpPr>
          <p:cNvPr id="12" name="Rectangle 11">
            <a:extLst>
              <a:ext uri="{FF2B5EF4-FFF2-40B4-BE49-F238E27FC236}">
                <a16:creationId xmlns:a16="http://schemas.microsoft.com/office/drawing/2014/main" id="{E16598B8-E259-6757-66EB-867A3E37FD74}"/>
              </a:ext>
              <a:ext uri="{C183D7F6-B498-43B3-948B-1728B52AA6E4}">
                <adec:decorative xmlns:adec="http://schemas.microsoft.com/office/drawing/2017/decorative" val="0"/>
              </a:ext>
            </a:extLst>
          </p:cNvPr>
          <p:cNvSpPr/>
          <p:nvPr/>
        </p:nvSpPr>
        <p:spPr bwMode="auto">
          <a:xfrm>
            <a:off x="578737" y="3303844"/>
            <a:ext cx="5458968" cy="98274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Logically organizes resources</a:t>
            </a:r>
          </a:p>
        </p:txBody>
      </p:sp>
      <p:sp>
        <p:nvSpPr>
          <p:cNvPr id="13" name="Rectangle 12">
            <a:extLst>
              <a:ext uri="{FF2B5EF4-FFF2-40B4-BE49-F238E27FC236}">
                <a16:creationId xmlns:a16="http://schemas.microsoft.com/office/drawing/2014/main" id="{0627E6EC-C850-7F4B-E287-640C6BB61AFF}"/>
              </a:ext>
              <a:ext uri="{C183D7F6-B498-43B3-948B-1728B52AA6E4}">
                <adec:decorative xmlns:adec="http://schemas.microsoft.com/office/drawing/2017/decorative" val="0"/>
              </a:ext>
            </a:extLst>
          </p:cNvPr>
          <p:cNvSpPr/>
          <p:nvPr/>
        </p:nvSpPr>
        <p:spPr bwMode="auto">
          <a:xfrm>
            <a:off x="578737" y="4375786"/>
            <a:ext cx="5458968" cy="98274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Consists of a name-value pair</a:t>
            </a:r>
          </a:p>
        </p:txBody>
      </p:sp>
      <p:sp>
        <p:nvSpPr>
          <p:cNvPr id="14" name="Rectangle 13">
            <a:extLst>
              <a:ext uri="{FF2B5EF4-FFF2-40B4-BE49-F238E27FC236}">
                <a16:creationId xmlns:a16="http://schemas.microsoft.com/office/drawing/2014/main" id="{CEDCE155-D66D-9887-A3E5-1285EB2E69AA}"/>
              </a:ext>
              <a:ext uri="{C183D7F6-B498-43B3-948B-1728B52AA6E4}">
                <adec:decorative xmlns:adec="http://schemas.microsoft.com/office/drawing/2017/decorative" val="0"/>
              </a:ext>
            </a:extLst>
          </p:cNvPr>
          <p:cNvSpPr/>
          <p:nvPr/>
        </p:nvSpPr>
        <p:spPr bwMode="auto">
          <a:xfrm>
            <a:off x="578737" y="5447728"/>
            <a:ext cx="5458968" cy="98274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Very useful for rolling up billing information</a:t>
            </a:r>
          </a:p>
        </p:txBody>
      </p:sp>
      <p:pic>
        <p:nvPicPr>
          <p:cNvPr id="15" name="Picture 14" descr="A tag is associated with a resource or a resource group">
            <a:extLst>
              <a:ext uri="{FF2B5EF4-FFF2-40B4-BE49-F238E27FC236}">
                <a16:creationId xmlns:a16="http://schemas.microsoft.com/office/drawing/2014/main" id="{5300924E-D8D9-24DA-0969-F045A7AFF1C7}"/>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140727" y="1825819"/>
            <a:ext cx="5969609" cy="4700016"/>
          </a:xfrm>
          <a:prstGeom prst="rect">
            <a:avLst/>
          </a:prstGeom>
          <a:solidFill>
            <a:schemeClr val="bg1"/>
          </a:solidFill>
          <a:ln w="19050">
            <a:noFill/>
            <a:headEnd type="none" w="med" len="med"/>
            <a:tailEnd type="none" w="med" len="med"/>
          </a:ln>
          <a:effectLst/>
        </p:spPr>
      </p:pic>
    </p:spTree>
    <p:extLst>
      <p:ext uri="{BB962C8B-B14F-4D97-AF65-F5344CB8AC3E}">
        <p14:creationId xmlns:p14="http://schemas.microsoft.com/office/powerpoint/2010/main" val="3121288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50EE19E4-8BA2-578A-595F-D8126AD28960}"/>
              </a:ext>
            </a:extLst>
          </p:cNvPr>
          <p:cNvSpPr txBox="1">
            <a:spLocks/>
          </p:cNvSpPr>
          <p:nvPr/>
        </p:nvSpPr>
        <p:spPr>
          <a:xfrm>
            <a:off x="395096" y="352123"/>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Manage Costs</a:t>
            </a:r>
            <a:endParaRPr lang="en-US" dirty="0"/>
          </a:p>
        </p:txBody>
      </p:sp>
      <p:sp>
        <p:nvSpPr>
          <p:cNvPr id="11" name="TextBox 10">
            <a:extLst>
              <a:ext uri="{FF2B5EF4-FFF2-40B4-BE49-F238E27FC236}">
                <a16:creationId xmlns:a16="http://schemas.microsoft.com/office/drawing/2014/main" id="{2FAC2765-93A7-1F22-69CE-A33E844208C4}"/>
              </a:ext>
            </a:extLst>
          </p:cNvPr>
          <p:cNvSpPr txBox="1"/>
          <p:nvPr/>
        </p:nvSpPr>
        <p:spPr>
          <a:xfrm>
            <a:off x="553337" y="1596554"/>
            <a:ext cx="5626101" cy="4388894"/>
          </a:xfrm>
          <a:prstGeom prst="rect">
            <a:avLst/>
          </a:prstGeom>
          <a:noFill/>
        </p:spPr>
        <p:txBody>
          <a:bodyPr wrap="square" lIns="182880" tIns="146304" rIns="182880" bIns="146304" rtlCol="0">
            <a:spAutoFit/>
          </a:bodyPr>
          <a:lstStyle/>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Costs are resource-specific</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Usage costs may vary between locations</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Costs for inbound and outbound data transfers differ</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Pre-pay with Azure reserved instances </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Use your on-premises licenses with Azure Hybrid Benefit</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Optimize costs with alerts, budgets, and Azure Advisor recommendations</a:t>
            </a:r>
          </a:p>
        </p:txBody>
      </p:sp>
      <p:pic>
        <p:nvPicPr>
          <p:cNvPr id="12" name="Picture 11" descr="The Azure hierarchy with billing entities and resource entities.">
            <a:extLst>
              <a:ext uri="{FF2B5EF4-FFF2-40B4-BE49-F238E27FC236}">
                <a16:creationId xmlns:a16="http://schemas.microsoft.com/office/drawing/2014/main" id="{DA7993F4-F4F8-8F48-83F1-B749AD2973D6}"/>
              </a:ext>
            </a:extLst>
          </p:cNvPr>
          <p:cNvPicPr>
            <a:picLocks noChangeAspect="1"/>
          </p:cNvPicPr>
          <p:nvPr/>
        </p:nvPicPr>
        <p:blipFill>
          <a:blip r:embed="rId7"/>
          <a:stretch>
            <a:fillRect/>
          </a:stretch>
        </p:blipFill>
        <p:spPr>
          <a:xfrm>
            <a:off x="6322179" y="1195722"/>
            <a:ext cx="5626608" cy="5527548"/>
          </a:xfrm>
          <a:prstGeom prst="rect">
            <a:avLst/>
          </a:prstGeom>
        </p:spPr>
      </p:pic>
    </p:spTree>
    <p:extLst>
      <p:ext uri="{BB962C8B-B14F-4D97-AF65-F5344CB8AC3E}">
        <p14:creationId xmlns:p14="http://schemas.microsoft.com/office/powerpoint/2010/main" val="1302423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Configure Azure Policy</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874465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58A90D0-8A0A-95F8-F42E-6D99540AED23}"/>
              </a:ext>
            </a:extLst>
          </p:cNvPr>
          <p:cNvSpPr txBox="1">
            <a:spLocks/>
          </p:cNvSpPr>
          <p:nvPr/>
        </p:nvSpPr>
        <p:spPr>
          <a:xfrm>
            <a:off x="-108585" y="554800"/>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Implement Azure Policies</a:t>
            </a:r>
            <a:endParaRPr lang="en-US" dirty="0"/>
          </a:p>
        </p:txBody>
      </p:sp>
      <p:sp>
        <p:nvSpPr>
          <p:cNvPr id="11" name="Rectangle 10">
            <a:extLst>
              <a:ext uri="{FF2B5EF4-FFF2-40B4-BE49-F238E27FC236}">
                <a16:creationId xmlns:a16="http://schemas.microsoft.com/office/drawing/2014/main" id="{A476872F-3AD5-0340-6C72-83EFA3F2FC03}"/>
              </a:ext>
              <a:ext uri="{C183D7F6-B498-43B3-948B-1728B52AA6E4}">
                <adec:decorative xmlns:adec="http://schemas.microsoft.com/office/drawing/2017/decorative" val="0"/>
              </a:ext>
            </a:extLst>
          </p:cNvPr>
          <p:cNvSpPr/>
          <p:nvPr/>
        </p:nvSpPr>
        <p:spPr bwMode="auto">
          <a:xfrm>
            <a:off x="452438" y="1609090"/>
            <a:ext cx="5458968" cy="145219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A service to create, assign, and manage policies</a:t>
            </a:r>
          </a:p>
        </p:txBody>
      </p:sp>
      <p:sp>
        <p:nvSpPr>
          <p:cNvPr id="12" name="Rectangle 11">
            <a:extLst>
              <a:ext uri="{FF2B5EF4-FFF2-40B4-BE49-F238E27FC236}">
                <a16:creationId xmlns:a16="http://schemas.microsoft.com/office/drawing/2014/main" id="{9F86599C-CED5-6EB1-C5F5-5DD5F7436DF7}"/>
              </a:ext>
              <a:ext uri="{C183D7F6-B498-43B3-948B-1728B52AA6E4}">
                <adec:decorative xmlns:adec="http://schemas.microsoft.com/office/drawing/2017/decorative" val="0"/>
              </a:ext>
            </a:extLst>
          </p:cNvPr>
          <p:cNvSpPr/>
          <p:nvPr/>
        </p:nvSpPr>
        <p:spPr bwMode="auto">
          <a:xfrm>
            <a:off x="452438" y="3136899"/>
            <a:ext cx="5458968" cy="1095197"/>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Runs evaluations and scans for non-compliant resources</a:t>
            </a:r>
          </a:p>
        </p:txBody>
      </p:sp>
      <p:sp>
        <p:nvSpPr>
          <p:cNvPr id="13" name="Rectangle 12">
            <a:extLst>
              <a:ext uri="{FF2B5EF4-FFF2-40B4-BE49-F238E27FC236}">
                <a16:creationId xmlns:a16="http://schemas.microsoft.com/office/drawing/2014/main" id="{7D841C96-FCAA-7CD2-A497-77201675D01F}"/>
              </a:ext>
              <a:ext uri="{C183D7F6-B498-43B3-948B-1728B52AA6E4}">
                <adec:decorative xmlns:adec="http://schemas.microsoft.com/office/drawing/2017/decorative" val="0"/>
              </a:ext>
            </a:extLst>
          </p:cNvPr>
          <p:cNvSpPr/>
          <p:nvPr/>
        </p:nvSpPr>
        <p:spPr bwMode="auto">
          <a:xfrm>
            <a:off x="452438" y="4367719"/>
            <a:ext cx="5458968" cy="188068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latin typeface="+mj-lt"/>
              </a:rPr>
              <a:t>Advantages:</a:t>
            </a:r>
          </a:p>
          <a:p>
            <a:pPr marL="342900" indent="-342900">
              <a:spcBef>
                <a:spcPts val="600"/>
              </a:spcBef>
              <a:buFont typeface="Arial" panose="020B0604020202020204" pitchFamily="34" charset="0"/>
              <a:buChar char="•"/>
            </a:pPr>
            <a:r>
              <a:rPr lang="en-US" sz="2000" dirty="0">
                <a:solidFill>
                  <a:schemeClr val="tx1"/>
                </a:solidFill>
              </a:rPr>
              <a:t>Enforcement and compliance</a:t>
            </a:r>
          </a:p>
          <a:p>
            <a:pPr marL="342900" indent="-342900">
              <a:spcBef>
                <a:spcPts val="600"/>
              </a:spcBef>
              <a:buFont typeface="Arial" panose="020B0604020202020204" pitchFamily="34" charset="0"/>
              <a:buChar char="•"/>
            </a:pPr>
            <a:r>
              <a:rPr lang="en-US" sz="2000" dirty="0">
                <a:solidFill>
                  <a:schemeClr val="tx1"/>
                </a:solidFill>
              </a:rPr>
              <a:t>Apply policies at scale</a:t>
            </a:r>
          </a:p>
          <a:p>
            <a:pPr marL="342900" indent="-342900">
              <a:spcBef>
                <a:spcPts val="600"/>
              </a:spcBef>
              <a:buFont typeface="Arial" panose="020B0604020202020204" pitchFamily="34" charset="0"/>
              <a:buChar char="•"/>
            </a:pPr>
            <a:r>
              <a:rPr lang="en-US" sz="2000" dirty="0">
                <a:solidFill>
                  <a:schemeClr val="tx1"/>
                </a:solidFill>
              </a:rPr>
              <a:t>Remediation</a:t>
            </a:r>
          </a:p>
        </p:txBody>
      </p:sp>
      <p:graphicFrame>
        <p:nvGraphicFramePr>
          <p:cNvPr id="14" name="Table 5">
            <a:extLst>
              <a:ext uri="{FF2B5EF4-FFF2-40B4-BE49-F238E27FC236}">
                <a16:creationId xmlns:a16="http://schemas.microsoft.com/office/drawing/2014/main" id="{B180F7D2-5C5D-5E9F-2D98-E872A9F273FA}"/>
              </a:ext>
            </a:extLst>
          </p:cNvPr>
          <p:cNvGraphicFramePr>
            <a:graphicFrameLocks noGrp="1"/>
          </p:cNvGraphicFramePr>
          <p:nvPr>
            <p:extLst>
              <p:ext uri="{D42A27DB-BD31-4B8C-83A1-F6EECF244321}">
                <p14:modId xmlns:p14="http://schemas.microsoft.com/office/powerpoint/2010/main" val="2146581804"/>
              </p:ext>
            </p:extLst>
          </p:nvPr>
        </p:nvGraphicFramePr>
        <p:xfrm>
          <a:off x="6037943" y="1554480"/>
          <a:ext cx="5960382" cy="4693920"/>
        </p:xfrm>
        <a:graphic>
          <a:graphicData uri="http://schemas.openxmlformats.org/drawingml/2006/table">
            <a:tbl>
              <a:tblPr firstRow="1" bandRow="1">
                <a:tableStyleId>{5C22544A-7EE6-4342-B048-85BDC9FD1C3A}</a:tableStyleId>
              </a:tblPr>
              <a:tblGrid>
                <a:gridCol w="5960382">
                  <a:extLst>
                    <a:ext uri="{9D8B030D-6E8A-4147-A177-3AD203B41FA5}">
                      <a16:colId xmlns:a16="http://schemas.microsoft.com/office/drawing/2014/main" val="2502348108"/>
                    </a:ext>
                  </a:extLst>
                </a:gridCol>
              </a:tblGrid>
              <a:tr h="451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mj-lt"/>
                          <a:ea typeface="+mn-ea"/>
                          <a:cs typeface="+mn-cs"/>
                        </a:rPr>
                        <a:t>Usage Cases</a:t>
                      </a:r>
                      <a:endParaRPr kumimoji="0" lang="en-US" sz="1800" b="0" i="0" u="none" strike="noStrike" kern="1200" cap="none" spc="0" normalizeH="0" baseline="0" noProof="0" dirty="0">
                        <a:ln>
                          <a:noFill/>
                        </a:ln>
                        <a:solidFill>
                          <a:schemeClr val="bg1"/>
                        </a:solidFill>
                        <a:effectLst/>
                        <a:uLnTx/>
                        <a:uFillTx/>
                        <a:latin typeface="+mj-lt"/>
                        <a:ea typeface="+mn-ea"/>
                        <a:cs typeface="+mn-cs"/>
                      </a:endParaRPr>
                    </a:p>
                  </a:txBody>
                  <a:tcPr marL="93260" marR="93260" marT="46630" marB="46630">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950649416"/>
                  </a:ext>
                </a:extLst>
              </a:tr>
              <a:tr h="801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resource types</a:t>
                      </a:r>
                      <a:r>
                        <a:rPr kumimoji="0" lang="en-US" sz="1800" b="0" i="0" u="none" strike="noStrike" kern="1200" cap="none" spc="0" normalizeH="0" baseline="0" noProof="0" dirty="0">
                          <a:ln>
                            <a:noFill/>
                          </a:ln>
                          <a:solidFill>
                            <a:schemeClr val="tx2">
                              <a:lumMod val="50000"/>
                            </a:schemeClr>
                          </a:solidFill>
                          <a:effectLst/>
                          <a:uLnTx/>
                          <a:uFillTx/>
                          <a:latin typeface="+mn-lt"/>
                          <a:ea typeface="+mn-ea"/>
                          <a:cs typeface="Segoe UI" panose="020B0502040204020203" pitchFamily="34" charset="0"/>
                        </a:rPr>
                        <a:t>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Specify the resource types that your organization can deploy</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13561710"/>
                  </a:ext>
                </a:extLst>
              </a:tr>
              <a:tr h="801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virtual machine SKUs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Specify a set of virtual machine SKUs that your organization can deploy</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9131118"/>
                  </a:ext>
                </a:extLst>
              </a:tr>
              <a:tr h="801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locations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Restrict the locations your organization can specify when deploying resources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42671478"/>
                  </a:ext>
                </a:extLst>
              </a:tr>
              <a:tr h="801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Require tag and its value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Enforces a required tag and its value</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87691757"/>
                  </a:ext>
                </a:extLst>
              </a:tr>
              <a:tr h="10386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Azure Backup should be enabled for Virtual Machines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a:t>
                      </a:r>
                      <a:r>
                        <a:rPr kumimoji="0" lang="en-US" sz="1800" b="0" i="0" u="none" strike="noStrike" kern="1200" cap="none" spc="0" normalizeH="0" baseline="0" noProof="0" dirty="0">
                          <a:ln>
                            <a:noFill/>
                          </a:ln>
                          <a:solidFill>
                            <a:schemeClr val="tx1"/>
                          </a:solidFill>
                          <a:effectLst/>
                          <a:uLnTx/>
                          <a:uFillTx/>
                          <a:latin typeface="+mn-lt"/>
                          <a:ea typeface="+mn-ea"/>
                          <a:cs typeface="+mn-cs"/>
                        </a:rPr>
                        <a:t> Audit if Azure Backup service is enabled for all Virtual machines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7058963"/>
                  </a:ext>
                </a:extLst>
              </a:tr>
            </a:tbl>
          </a:graphicData>
        </a:graphic>
      </p:graphicFrame>
    </p:spTree>
    <p:extLst>
      <p:ext uri="{BB962C8B-B14F-4D97-AF65-F5344CB8AC3E}">
        <p14:creationId xmlns:p14="http://schemas.microsoft.com/office/powerpoint/2010/main" val="3918997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04FAE417-9420-ACCB-8CF3-A55E7B9D6A0C}"/>
              </a:ext>
            </a:extLst>
          </p:cNvPr>
          <p:cNvSpPr txBox="1">
            <a:spLocks/>
          </p:cNvSpPr>
          <p:nvPr/>
        </p:nvSpPr>
        <p:spPr>
          <a:xfrm>
            <a:off x="322985" y="1051634"/>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Create Azure Policies</a:t>
            </a:r>
          </a:p>
        </p:txBody>
      </p:sp>
      <p:sp>
        <p:nvSpPr>
          <p:cNvPr id="11" name="Rectangle: Rounded Corners 10">
            <a:extLst>
              <a:ext uri="{FF2B5EF4-FFF2-40B4-BE49-F238E27FC236}">
                <a16:creationId xmlns:a16="http://schemas.microsoft.com/office/drawing/2014/main" id="{17B9D3EC-F395-F92A-D242-D51C645C15FA}"/>
              </a:ext>
              <a:ext uri="{C183D7F6-B498-43B3-948B-1728B52AA6E4}">
                <adec:decorative xmlns:adec="http://schemas.microsoft.com/office/drawing/2017/decorative" val="1"/>
              </a:ext>
            </a:extLst>
          </p:cNvPr>
          <p:cNvSpPr/>
          <p:nvPr/>
        </p:nvSpPr>
        <p:spPr bwMode="auto">
          <a:xfrm>
            <a:off x="566572" y="3885613"/>
            <a:ext cx="3192145" cy="1663473"/>
          </a:xfrm>
          <a:prstGeom prst="roundRect">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000" dirty="0">
              <a:solidFill>
                <a:schemeClr val="tx1"/>
              </a:solidFill>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5403AD18-598B-18B2-5B4F-9DF9D28CAF54}"/>
              </a:ext>
              <a:ext uri="{C183D7F6-B498-43B3-948B-1728B52AA6E4}">
                <adec:decorative xmlns:adec="http://schemas.microsoft.com/office/drawing/2017/decorative" val="1"/>
              </a:ext>
            </a:extLst>
          </p:cNvPr>
          <p:cNvSpPr/>
          <p:nvPr/>
        </p:nvSpPr>
        <p:spPr bwMode="auto">
          <a:xfrm>
            <a:off x="675456" y="4127619"/>
            <a:ext cx="2517514" cy="628650"/>
          </a:xfrm>
          <a:prstGeom prst="roundRect">
            <a:avLst/>
          </a:prstGeom>
          <a:solidFill>
            <a:srgbClr val="E2F0D9"/>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000" dirty="0">
              <a:solidFill>
                <a:schemeClr val="tx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DA2A9DA0-47FB-7E07-5845-B17FE13A1153}"/>
              </a:ext>
              <a:ext uri="{C183D7F6-B498-43B3-948B-1728B52AA6E4}">
                <adec:decorative xmlns:adec="http://schemas.microsoft.com/office/drawing/2017/decorative" val="1"/>
              </a:ext>
            </a:extLst>
          </p:cNvPr>
          <p:cNvSpPr/>
          <p:nvPr/>
        </p:nvSpPr>
        <p:spPr bwMode="auto">
          <a:xfrm>
            <a:off x="881028" y="4441944"/>
            <a:ext cx="2517514" cy="628650"/>
          </a:xfrm>
          <a:prstGeom prst="roundRect">
            <a:avLst/>
          </a:prstGeom>
          <a:solidFill>
            <a:srgbClr val="E2F0D9"/>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000" dirty="0">
              <a:solidFill>
                <a:schemeClr val="tx1"/>
              </a:solidFill>
              <a:ea typeface="Segoe UI" pitchFamily="34" charset="0"/>
              <a:cs typeface="Segoe UI" pitchFamily="34" charset="0"/>
            </a:endParaRPr>
          </a:p>
        </p:txBody>
      </p:sp>
      <p:sp>
        <p:nvSpPr>
          <p:cNvPr id="14" name="Rectangle: Rounded Corners 13">
            <a:extLst>
              <a:ext uri="{FF2B5EF4-FFF2-40B4-BE49-F238E27FC236}">
                <a16:creationId xmlns:a16="http://schemas.microsoft.com/office/drawing/2014/main" id="{C6B52CB6-873A-E6D8-365A-63D1E60F3093}"/>
              </a:ext>
              <a:ext uri="{C183D7F6-B498-43B3-948B-1728B52AA6E4}">
                <adec:decorative xmlns:adec="http://schemas.microsoft.com/office/drawing/2017/decorative" val="1"/>
              </a:ext>
            </a:extLst>
          </p:cNvPr>
          <p:cNvSpPr/>
          <p:nvPr/>
        </p:nvSpPr>
        <p:spPr bwMode="auto">
          <a:xfrm>
            <a:off x="1137895" y="4656436"/>
            <a:ext cx="2517514" cy="628650"/>
          </a:xfrm>
          <a:prstGeom prst="roundRect">
            <a:avLst/>
          </a:prstGeom>
          <a:solidFill>
            <a:srgbClr val="E2F0D9"/>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solidFill>
                  <a:schemeClr val="tx1"/>
                </a:solidFill>
                <a:ea typeface="Segoe UI" pitchFamily="34" charset="0"/>
                <a:cs typeface="Segoe UI" pitchFamily="34" charset="0"/>
              </a:rPr>
              <a:t>Policy Definition(s)</a:t>
            </a:r>
          </a:p>
        </p:txBody>
      </p:sp>
      <p:sp>
        <p:nvSpPr>
          <p:cNvPr id="15" name="TextBox 14">
            <a:extLst>
              <a:ext uri="{FF2B5EF4-FFF2-40B4-BE49-F238E27FC236}">
                <a16:creationId xmlns:a16="http://schemas.microsoft.com/office/drawing/2014/main" id="{A2F01130-0BBC-FE08-400C-4A09180B4B28}"/>
              </a:ext>
              <a:ext uri="{C183D7F6-B498-43B3-948B-1728B52AA6E4}">
                <adec:decorative xmlns:adec="http://schemas.microsoft.com/office/drawing/2017/decorative" val="1"/>
              </a:ext>
            </a:extLst>
          </p:cNvPr>
          <p:cNvSpPr txBox="1"/>
          <p:nvPr/>
        </p:nvSpPr>
        <p:spPr>
          <a:xfrm>
            <a:off x="1162519" y="3670860"/>
            <a:ext cx="1869592" cy="400110"/>
          </a:xfrm>
          <a:prstGeom prst="rect">
            <a:avLst/>
          </a:prstGeom>
          <a:solidFill>
            <a:schemeClr val="bg1"/>
          </a:solidFill>
        </p:spPr>
        <p:txBody>
          <a:bodyPr wrap="square">
            <a:spAutoFit/>
          </a:bodyPr>
          <a:lstStyle/>
          <a:p>
            <a:r>
              <a:rPr lang="en-US" sz="2000" dirty="0">
                <a:solidFill>
                  <a:schemeClr val="tx1"/>
                </a:solidFill>
                <a:ea typeface="Segoe UI" pitchFamily="34" charset="0"/>
                <a:cs typeface="Segoe UI" pitchFamily="34" charset="0"/>
              </a:rPr>
              <a:t>Policy Initiative</a:t>
            </a:r>
            <a:endParaRPr lang="en-US" sz="2000" dirty="0"/>
          </a:p>
        </p:txBody>
      </p:sp>
      <p:pic>
        <p:nvPicPr>
          <p:cNvPr id="16" name="Graphic 15">
            <a:extLst>
              <a:ext uri="{FF2B5EF4-FFF2-40B4-BE49-F238E27FC236}">
                <a16:creationId xmlns:a16="http://schemas.microsoft.com/office/drawing/2014/main" id="{9C115FCF-49F9-B1FD-4ECB-CE4A49B5FFB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40117" y="3208445"/>
            <a:ext cx="748348" cy="748348"/>
          </a:xfrm>
          <a:prstGeom prst="rect">
            <a:avLst/>
          </a:prstGeom>
        </p:spPr>
      </p:pic>
      <p:pic>
        <p:nvPicPr>
          <p:cNvPr id="17" name="Graphic 16">
            <a:extLst>
              <a:ext uri="{FF2B5EF4-FFF2-40B4-BE49-F238E27FC236}">
                <a16:creationId xmlns:a16="http://schemas.microsoft.com/office/drawing/2014/main" id="{F9632C0A-9EED-E106-7263-22DD3FD5E623}"/>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40117" y="4357843"/>
            <a:ext cx="702628" cy="702628"/>
          </a:xfrm>
          <a:prstGeom prst="rect">
            <a:avLst/>
          </a:prstGeom>
        </p:spPr>
      </p:pic>
      <p:pic>
        <p:nvPicPr>
          <p:cNvPr id="18" name="Graphic 17">
            <a:extLst>
              <a:ext uri="{FF2B5EF4-FFF2-40B4-BE49-F238E27FC236}">
                <a16:creationId xmlns:a16="http://schemas.microsoft.com/office/drawing/2014/main" id="{8507D38A-76F2-40A8-957A-0A8F1DF9DEA3}"/>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40117" y="5599901"/>
            <a:ext cx="794068" cy="794068"/>
          </a:xfrm>
          <a:prstGeom prst="rect">
            <a:avLst/>
          </a:prstGeom>
        </p:spPr>
      </p:pic>
      <p:cxnSp>
        <p:nvCxnSpPr>
          <p:cNvPr id="19" name="Connector: Elbow 18">
            <a:extLst>
              <a:ext uri="{FF2B5EF4-FFF2-40B4-BE49-F238E27FC236}">
                <a16:creationId xmlns:a16="http://schemas.microsoft.com/office/drawing/2014/main" id="{06819009-5338-2CAE-5ECF-D0AFE8F8095C}"/>
              </a:ext>
              <a:ext uri="{C183D7F6-B498-43B3-948B-1728B52AA6E4}">
                <adec:decorative xmlns:adec="http://schemas.microsoft.com/office/drawing/2017/decorative" val="1"/>
              </a:ext>
            </a:extLst>
          </p:cNvPr>
          <p:cNvCxnSpPr>
            <a:stCxn id="11" idx="3"/>
            <a:endCxn id="16" idx="1"/>
          </p:cNvCxnSpPr>
          <p:nvPr/>
        </p:nvCxnSpPr>
        <p:spPr>
          <a:xfrm flipV="1">
            <a:off x="3758717" y="3582619"/>
            <a:ext cx="2081400" cy="1134731"/>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A0EE7C2-F0D1-7A85-0EB8-FE20DFEF67D4}"/>
              </a:ext>
              <a:ext uri="{C183D7F6-B498-43B3-948B-1728B52AA6E4}">
                <adec:decorative xmlns:adec="http://schemas.microsoft.com/office/drawing/2017/decorative" val="1"/>
              </a:ext>
            </a:extLst>
          </p:cNvPr>
          <p:cNvCxnSpPr>
            <a:cxnSpLocks/>
            <a:stCxn id="11" idx="3"/>
            <a:endCxn id="18" idx="1"/>
          </p:cNvCxnSpPr>
          <p:nvPr/>
        </p:nvCxnSpPr>
        <p:spPr>
          <a:xfrm>
            <a:off x="3758717" y="4717350"/>
            <a:ext cx="2081400" cy="1279585"/>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F3E062D-B792-613B-B387-2FE2D4F9BDB6}"/>
              </a:ext>
            </a:extLst>
          </p:cNvPr>
          <p:cNvSpPr/>
          <p:nvPr/>
        </p:nvSpPr>
        <p:spPr>
          <a:xfrm>
            <a:off x="882502" y="2220731"/>
            <a:ext cx="2576283" cy="461665"/>
          </a:xfrm>
          <a:prstGeom prst="rect">
            <a:avLst/>
          </a:prstGeom>
          <a:noFill/>
        </p:spPr>
        <p:txBody>
          <a:bodyPr wrap="none" lIns="91440" tIns="45720" rIns="91440" bIns="45720">
            <a:spAutoFit/>
          </a:bodyPr>
          <a:lstStyle/>
          <a:p>
            <a:pPr algn="ctr"/>
            <a:r>
              <a:rPr lang="en-US" sz="2400" b="0" u="sng" cap="none" spc="0" dirty="0">
                <a:ln w="0"/>
                <a:solidFill>
                  <a:schemeClr val="tx1"/>
                </a:solidFill>
                <a:effectLst>
                  <a:outerShdw blurRad="38100" dist="19050" dir="2700000" algn="tl" rotWithShape="0">
                    <a:schemeClr val="dk1">
                      <a:alpha val="40000"/>
                    </a:schemeClr>
                  </a:outerShdw>
                </a:effectLst>
              </a:rPr>
              <a:t>Define and create</a:t>
            </a:r>
          </a:p>
        </p:txBody>
      </p:sp>
      <p:sp>
        <p:nvSpPr>
          <p:cNvPr id="22" name="Rectangle 21">
            <a:extLst>
              <a:ext uri="{FF2B5EF4-FFF2-40B4-BE49-F238E27FC236}">
                <a16:creationId xmlns:a16="http://schemas.microsoft.com/office/drawing/2014/main" id="{F6CCF95F-A1DD-AE3E-C418-C2E98EC7A6AA}"/>
              </a:ext>
            </a:extLst>
          </p:cNvPr>
          <p:cNvSpPr/>
          <p:nvPr/>
        </p:nvSpPr>
        <p:spPr>
          <a:xfrm>
            <a:off x="4919289" y="2220731"/>
            <a:ext cx="2544286" cy="461665"/>
          </a:xfrm>
          <a:prstGeom prst="rect">
            <a:avLst/>
          </a:prstGeom>
          <a:noFill/>
        </p:spPr>
        <p:txBody>
          <a:bodyPr wrap="none" lIns="91440" tIns="45720" rIns="91440" bIns="45720">
            <a:spAutoFit/>
          </a:bodyPr>
          <a:lstStyle/>
          <a:p>
            <a:pPr algn="ctr"/>
            <a:r>
              <a:rPr lang="en-US" sz="2400" b="0" u="sng" cap="none" spc="0" dirty="0">
                <a:ln w="0"/>
                <a:solidFill>
                  <a:schemeClr val="tx1"/>
                </a:solidFill>
                <a:effectLst>
                  <a:outerShdw blurRad="38100" dist="19050" dir="2700000" algn="tl" rotWithShape="0">
                    <a:schemeClr val="dk1">
                      <a:alpha val="40000"/>
                    </a:schemeClr>
                  </a:outerShdw>
                </a:effectLst>
              </a:rPr>
              <a:t>Scope and assign</a:t>
            </a:r>
          </a:p>
        </p:txBody>
      </p:sp>
      <p:sp>
        <p:nvSpPr>
          <p:cNvPr id="23" name="Rectangle 22">
            <a:extLst>
              <a:ext uri="{FF2B5EF4-FFF2-40B4-BE49-F238E27FC236}">
                <a16:creationId xmlns:a16="http://schemas.microsoft.com/office/drawing/2014/main" id="{27AB7180-03DB-8EF0-3646-9FC7289853AC}"/>
              </a:ext>
            </a:extLst>
          </p:cNvPr>
          <p:cNvSpPr/>
          <p:nvPr/>
        </p:nvSpPr>
        <p:spPr>
          <a:xfrm>
            <a:off x="8275043" y="2220731"/>
            <a:ext cx="3908154" cy="461665"/>
          </a:xfrm>
          <a:prstGeom prst="rect">
            <a:avLst/>
          </a:prstGeom>
          <a:noFill/>
        </p:spPr>
        <p:txBody>
          <a:bodyPr wrap="square" lIns="91440" tIns="45720" rIns="91440" bIns="45720">
            <a:spAutoFit/>
          </a:bodyPr>
          <a:lstStyle/>
          <a:p>
            <a:pPr algn="ctr"/>
            <a:r>
              <a:rPr lang="en-US" sz="2400" b="0" u="sng" cap="none" spc="0" dirty="0">
                <a:ln w="0"/>
                <a:solidFill>
                  <a:schemeClr val="tx1"/>
                </a:solidFill>
                <a:effectLst>
                  <a:outerShdw blurRad="38100" dist="19050" dir="2700000" algn="tl" rotWithShape="0">
                    <a:schemeClr val="dk1">
                      <a:alpha val="40000"/>
                    </a:schemeClr>
                  </a:outerShdw>
                </a:effectLst>
              </a:rPr>
              <a:t>Assess compliance</a:t>
            </a:r>
          </a:p>
        </p:txBody>
      </p:sp>
      <p:cxnSp>
        <p:nvCxnSpPr>
          <p:cNvPr id="24" name="Straight Arrow Connector 23">
            <a:extLst>
              <a:ext uri="{FF2B5EF4-FFF2-40B4-BE49-F238E27FC236}">
                <a16:creationId xmlns:a16="http://schemas.microsoft.com/office/drawing/2014/main" id="{ECB807B0-8631-82C1-7C7A-3B1AE65CEBD7}"/>
              </a:ext>
              <a:ext uri="{C183D7F6-B498-43B3-948B-1728B52AA6E4}">
                <adec:decorative xmlns:adec="http://schemas.microsoft.com/office/drawing/2017/decorative" val="1"/>
              </a:ext>
            </a:extLst>
          </p:cNvPr>
          <p:cNvCxnSpPr>
            <a:endCxn id="17" idx="1"/>
          </p:cNvCxnSpPr>
          <p:nvPr/>
        </p:nvCxnSpPr>
        <p:spPr>
          <a:xfrm flipV="1">
            <a:off x="4799417" y="4709157"/>
            <a:ext cx="1040700" cy="8192"/>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C5D2F546-C57F-06A7-CBAC-FDBC35B2BBBE}"/>
              </a:ext>
              <a:ext uri="{C183D7F6-B498-43B3-948B-1728B52AA6E4}">
                <adec:decorative xmlns:adec="http://schemas.microsoft.com/office/drawing/2017/decorative" val="1"/>
              </a:ext>
            </a:extLst>
          </p:cNvPr>
          <p:cNvSpPr/>
          <p:nvPr/>
        </p:nvSpPr>
        <p:spPr bwMode="auto">
          <a:xfrm>
            <a:off x="7761497" y="4127619"/>
            <a:ext cx="612898" cy="1204585"/>
          </a:xfrm>
          <a:prstGeom prst="rightArrow">
            <a:avLst/>
          </a:prstGeom>
          <a:solidFill>
            <a:srgbClr val="E2F0D9"/>
          </a:solid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26" name="Graphic 25">
            <a:extLst>
              <a:ext uri="{FF2B5EF4-FFF2-40B4-BE49-F238E27FC236}">
                <a16:creationId xmlns:a16="http://schemas.microsoft.com/office/drawing/2014/main" id="{B32242EA-3FD4-D667-7734-3160477DED99}"/>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032262" y="3529309"/>
            <a:ext cx="2232154" cy="2070592"/>
          </a:xfrm>
          <a:prstGeom prst="rect">
            <a:avLst/>
          </a:prstGeom>
        </p:spPr>
      </p:pic>
    </p:spTree>
    <p:extLst>
      <p:ext uri="{BB962C8B-B14F-4D97-AF65-F5344CB8AC3E}">
        <p14:creationId xmlns:p14="http://schemas.microsoft.com/office/powerpoint/2010/main" val="1421263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EC1A7588-5E97-D2D1-9734-CC273FA1CD31}"/>
              </a:ext>
            </a:extLst>
          </p:cNvPr>
          <p:cNvSpPr txBox="1">
            <a:spLocks/>
          </p:cNvSpPr>
          <p:nvPr/>
        </p:nvSpPr>
        <p:spPr>
          <a:xfrm>
            <a:off x="780999" y="1686202"/>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Demonstration – Azure Policy</a:t>
            </a:r>
            <a:endParaRPr lang="en-US" dirty="0"/>
          </a:p>
        </p:txBody>
      </p:sp>
      <p:sp>
        <p:nvSpPr>
          <p:cNvPr id="11" name="TextBox 10">
            <a:extLst>
              <a:ext uri="{FF2B5EF4-FFF2-40B4-BE49-F238E27FC236}">
                <a16:creationId xmlns:a16="http://schemas.microsoft.com/office/drawing/2014/main" id="{798233AE-551F-CEA1-C28C-95ED82D3A649}"/>
              </a:ext>
            </a:extLst>
          </p:cNvPr>
          <p:cNvSpPr txBox="1"/>
          <p:nvPr/>
        </p:nvSpPr>
        <p:spPr>
          <a:xfrm>
            <a:off x="1323129" y="2936598"/>
            <a:ext cx="8704768" cy="2783839"/>
          </a:xfrm>
          <a:prstGeom prst="rect">
            <a:avLst/>
          </a:prstGeom>
          <a:noFill/>
        </p:spPr>
        <p:txBody>
          <a:bodyPr wrap="square" lIns="0" tIns="0" rIns="0" bIns="0" rtlCol="0">
            <a:spAutoFit/>
          </a:bodyPr>
          <a:lstStyle/>
          <a:p>
            <a:pPr marL="342900" indent="-342900">
              <a:lnSpc>
                <a:spcPct val="150000"/>
              </a:lnSpc>
              <a:spcBef>
                <a:spcPts val="600"/>
              </a:spcBef>
              <a:buFont typeface="Arial" panose="020B0604020202020204" pitchFamily="34" charset="0"/>
              <a:buChar char="•"/>
            </a:pPr>
            <a:r>
              <a:rPr lang="en-US" sz="2200" dirty="0"/>
              <a:t>Assign a policy</a:t>
            </a:r>
          </a:p>
          <a:p>
            <a:pPr marL="342900" indent="-342900">
              <a:lnSpc>
                <a:spcPct val="150000"/>
              </a:lnSpc>
              <a:spcBef>
                <a:spcPts val="600"/>
              </a:spcBef>
              <a:buFont typeface="Arial" panose="020B0604020202020204" pitchFamily="34" charset="0"/>
              <a:buChar char="•"/>
            </a:pPr>
            <a:r>
              <a:rPr lang="en-US" sz="2200" dirty="0"/>
              <a:t>Create and assign an initiative definition</a:t>
            </a:r>
          </a:p>
          <a:p>
            <a:pPr marL="342900" indent="-342900">
              <a:lnSpc>
                <a:spcPct val="150000"/>
              </a:lnSpc>
              <a:spcBef>
                <a:spcPts val="600"/>
              </a:spcBef>
              <a:buFont typeface="Arial" panose="020B0604020202020204" pitchFamily="34" charset="0"/>
              <a:buChar char="•"/>
            </a:pPr>
            <a:r>
              <a:rPr lang="en-US" sz="2200" dirty="0"/>
              <a:t>Check for compliance</a:t>
            </a:r>
          </a:p>
          <a:p>
            <a:pPr marL="342900" indent="-342900">
              <a:lnSpc>
                <a:spcPct val="150000"/>
              </a:lnSpc>
              <a:spcBef>
                <a:spcPts val="600"/>
              </a:spcBef>
              <a:buFont typeface="Arial" panose="020B0604020202020204" pitchFamily="34" charset="0"/>
              <a:buChar char="•"/>
            </a:pPr>
            <a:r>
              <a:rPr lang="en-US" sz="2200" dirty="0"/>
              <a:t>Check for remediation tasks</a:t>
            </a:r>
          </a:p>
          <a:p>
            <a:pPr marL="342900" indent="-342900">
              <a:lnSpc>
                <a:spcPct val="150000"/>
              </a:lnSpc>
              <a:spcBef>
                <a:spcPts val="600"/>
              </a:spcBef>
              <a:buFont typeface="Arial" panose="020B0604020202020204" pitchFamily="34" charset="0"/>
              <a:buChar char="•"/>
            </a:pPr>
            <a:r>
              <a:rPr lang="en-US" sz="2200" dirty="0"/>
              <a:t>Remove your policy and initiative</a:t>
            </a:r>
          </a:p>
        </p:txBody>
      </p:sp>
    </p:spTree>
    <p:extLst>
      <p:ext uri="{BB962C8B-B14F-4D97-AF65-F5344CB8AC3E}">
        <p14:creationId xmlns:p14="http://schemas.microsoft.com/office/powerpoint/2010/main" val="2851476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Configure Role Based Access Control </a:t>
            </a:r>
          </a:p>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(RBAC)</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232228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descr="Table listing Azure RBAC roles vs Azure AD administrator roles. ">
            <a:extLst>
              <a:ext uri="{FF2B5EF4-FFF2-40B4-BE49-F238E27FC236}">
                <a16:creationId xmlns:a16="http://schemas.microsoft.com/office/drawing/2014/main" id="{3E967BE3-53DA-0945-8254-C761FCC073B1}"/>
              </a:ext>
            </a:extLst>
          </p:cNvPr>
          <p:cNvSpPr txBox="1">
            <a:spLocks/>
          </p:cNvSpPr>
          <p:nvPr/>
        </p:nvSpPr>
        <p:spPr>
          <a:xfrm>
            <a:off x="379243" y="1643064"/>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Compare Azure RBAC Roles to Entra ID Roles</a:t>
            </a:r>
            <a:endParaRPr lang="en-US" dirty="0"/>
          </a:p>
        </p:txBody>
      </p:sp>
      <p:sp>
        <p:nvSpPr>
          <p:cNvPr id="11" name="Text Placeholder 2">
            <a:extLst>
              <a:ext uri="{FF2B5EF4-FFF2-40B4-BE49-F238E27FC236}">
                <a16:creationId xmlns:a16="http://schemas.microsoft.com/office/drawing/2014/main" id="{B85B8107-AE6E-B453-457B-4B274C0AD5EB}"/>
              </a:ext>
            </a:extLst>
          </p:cNvPr>
          <p:cNvSpPr txBox="1">
            <a:spLocks/>
          </p:cNvSpPr>
          <p:nvPr/>
        </p:nvSpPr>
        <p:spPr>
          <a:xfrm>
            <a:off x="392958" y="2191841"/>
            <a:ext cx="11568684" cy="43946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RBAC roles provide fine-grained access management</a:t>
            </a:r>
            <a:endParaRPr lang="en-US" dirty="0"/>
          </a:p>
        </p:txBody>
      </p:sp>
      <p:graphicFrame>
        <p:nvGraphicFramePr>
          <p:cNvPr id="12" name="Table 11">
            <a:extLst>
              <a:ext uri="{FF2B5EF4-FFF2-40B4-BE49-F238E27FC236}">
                <a16:creationId xmlns:a16="http://schemas.microsoft.com/office/drawing/2014/main" id="{84DB3E72-D703-58DB-B4BD-692FCD555783}"/>
              </a:ext>
            </a:extLst>
          </p:cNvPr>
          <p:cNvGraphicFramePr>
            <a:graphicFrameLocks noGrp="1"/>
          </p:cNvGraphicFramePr>
          <p:nvPr>
            <p:extLst>
              <p:ext uri="{D42A27DB-BD31-4B8C-83A1-F6EECF244321}">
                <p14:modId xmlns:p14="http://schemas.microsoft.com/office/powerpoint/2010/main" val="3001498953"/>
              </p:ext>
            </p:extLst>
          </p:nvPr>
        </p:nvGraphicFramePr>
        <p:xfrm>
          <a:off x="382290" y="2847478"/>
          <a:ext cx="11582400" cy="3304032"/>
        </p:xfrm>
        <a:graphic>
          <a:graphicData uri="http://schemas.openxmlformats.org/drawingml/2006/table">
            <a:tbl>
              <a:tblPr firstRow="1" firstCol="1" bandCol="1">
                <a:tableStyleId>{69012ECD-51FC-41F1-AA8D-1B2483CD663E}</a:tableStyleId>
              </a:tblPr>
              <a:tblGrid>
                <a:gridCol w="5551523">
                  <a:extLst>
                    <a:ext uri="{9D8B030D-6E8A-4147-A177-3AD203B41FA5}">
                      <a16:colId xmlns:a16="http://schemas.microsoft.com/office/drawing/2014/main" val="1173267169"/>
                    </a:ext>
                  </a:extLst>
                </a:gridCol>
                <a:gridCol w="6030877">
                  <a:extLst>
                    <a:ext uri="{9D8B030D-6E8A-4147-A177-3AD203B41FA5}">
                      <a16:colId xmlns:a16="http://schemas.microsoft.com/office/drawing/2014/main" val="1081038665"/>
                    </a:ext>
                  </a:extLst>
                </a:gridCol>
              </a:tblGrid>
              <a:tr h="484561">
                <a:tc>
                  <a:txBody>
                    <a:bodyPr/>
                    <a:lstStyle/>
                    <a:p>
                      <a:pPr marL="0" marR="0" algn="ctr" defTabSz="932742" rtl="0" eaLnBrk="1" latinLnBrk="0" hangingPunct="1">
                        <a:lnSpc>
                          <a:spcPct val="107000"/>
                        </a:lnSpc>
                        <a:spcBef>
                          <a:spcPts val="0"/>
                        </a:spcBef>
                        <a:spcAft>
                          <a:spcPts val="0"/>
                        </a:spcAft>
                      </a:pPr>
                      <a:r>
                        <a:rPr lang="en-US" sz="2000" b="0" kern="1200" dirty="0">
                          <a:solidFill>
                            <a:schemeClr val="tx1"/>
                          </a:solidFill>
                          <a:effectLst/>
                          <a:latin typeface="+mj-lt"/>
                          <a:ea typeface="+mn-ea"/>
                          <a:cs typeface="+mn-cs"/>
                        </a:rPr>
                        <a:t>Azure RBAC roles</a:t>
                      </a:r>
                    </a:p>
                  </a:txBody>
                  <a:tcPr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marL="0" marR="0" algn="ctr">
                        <a:lnSpc>
                          <a:spcPct val="107000"/>
                        </a:lnSpc>
                        <a:spcBef>
                          <a:spcPts val="0"/>
                        </a:spcBef>
                        <a:spcAft>
                          <a:spcPts val="0"/>
                        </a:spcAft>
                      </a:pPr>
                      <a:r>
                        <a:rPr lang="en-US" sz="2000" b="0" dirty="0">
                          <a:solidFill>
                            <a:schemeClr val="tx1"/>
                          </a:solidFill>
                          <a:effectLst/>
                          <a:latin typeface="+mj-lt"/>
                        </a:rPr>
                        <a:t>Entra ID roles</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extLst>
                  <a:ext uri="{0D108BD9-81ED-4DB2-BD59-A6C34878D82A}">
                    <a16:rowId xmlns:a16="http://schemas.microsoft.com/office/drawing/2014/main" val="177452225"/>
                  </a:ext>
                </a:extLst>
              </a:tr>
              <a:tr h="709632">
                <a:tc>
                  <a:txBody>
                    <a:bodyPr/>
                    <a:lstStyle/>
                    <a:p>
                      <a:pPr marL="0" marR="0">
                        <a:lnSpc>
                          <a:spcPct val="107000"/>
                        </a:lnSpc>
                        <a:spcBef>
                          <a:spcPts val="0"/>
                        </a:spcBef>
                        <a:spcAft>
                          <a:spcPts val="0"/>
                        </a:spcAft>
                      </a:pPr>
                      <a:r>
                        <a:rPr lang="en-US" sz="2000" b="0" dirty="0">
                          <a:solidFill>
                            <a:schemeClr val="tx1"/>
                          </a:solidFill>
                          <a:effectLst/>
                        </a:rPr>
                        <a:t>Manage access to Azure resources</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solidFill>
                            <a:schemeClr val="tx1"/>
                          </a:solidFill>
                          <a:effectLst/>
                        </a:rPr>
                        <a:t>Manage</a:t>
                      </a:r>
                      <a:r>
                        <a:rPr lang="en-US" sz="2000" baseline="0" dirty="0">
                          <a:solidFill>
                            <a:schemeClr val="tx1"/>
                          </a:solidFill>
                          <a:effectLst/>
                        </a:rPr>
                        <a:t> access to Entra ID objects</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70188329"/>
                  </a:ext>
                </a:extLst>
              </a:tr>
              <a:tr h="709632">
                <a:tc>
                  <a:txBody>
                    <a:bodyPr/>
                    <a:lstStyle/>
                    <a:p>
                      <a:pPr marL="0" marR="0">
                        <a:lnSpc>
                          <a:spcPct val="107000"/>
                        </a:lnSpc>
                        <a:spcBef>
                          <a:spcPts val="0"/>
                        </a:spcBef>
                        <a:spcAft>
                          <a:spcPts val="0"/>
                        </a:spcAft>
                      </a:pPr>
                      <a:r>
                        <a:rPr lang="en-US" sz="2000" b="0" dirty="0">
                          <a:solidFill>
                            <a:schemeClr val="tx1"/>
                          </a:solidFill>
                          <a:effectLst/>
                        </a:rPr>
                        <a:t>Scope can be specified at multiple levels</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solidFill>
                            <a:schemeClr val="tx1"/>
                          </a:solidFill>
                          <a:effectLst/>
                        </a:rPr>
                        <a:t>Scope is at </a:t>
                      </a:r>
                      <a:r>
                        <a:rPr lang="en-US" sz="2000">
                          <a:solidFill>
                            <a:schemeClr val="tx1"/>
                          </a:solidFill>
                          <a:effectLst/>
                        </a:rPr>
                        <a:t>the Tenant </a:t>
                      </a:r>
                      <a:r>
                        <a:rPr lang="en-US" sz="2000" dirty="0">
                          <a:solidFill>
                            <a:schemeClr val="tx1"/>
                          </a:solidFill>
                          <a:effectLst/>
                        </a:rPr>
                        <a:t>level</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78053974"/>
                  </a:ext>
                </a:extLst>
              </a:tr>
              <a:tr h="1400207">
                <a:tc>
                  <a:txBody>
                    <a:bodyPr/>
                    <a:lstStyle/>
                    <a:p>
                      <a:pPr marL="0" marR="0">
                        <a:lnSpc>
                          <a:spcPct val="107000"/>
                        </a:lnSpc>
                        <a:spcBef>
                          <a:spcPts val="0"/>
                        </a:spcBef>
                        <a:spcAft>
                          <a:spcPts val="0"/>
                        </a:spcAft>
                      </a:pPr>
                      <a:r>
                        <a:rPr lang="en-US" sz="2000" b="0" kern="1200" dirty="0">
                          <a:solidFill>
                            <a:schemeClr val="tx1"/>
                          </a:solidFill>
                          <a:effectLst/>
                        </a:rPr>
                        <a:t>Role information can be accessed in the Azure portal, Azure CLI, Azure PowerShell, Azure Resource Manager templates, REST API</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b="0" kern="1200" dirty="0">
                          <a:solidFill>
                            <a:schemeClr val="tx1"/>
                          </a:solidFill>
                          <a:effectLst/>
                        </a:rPr>
                        <a:t>Role information can be accessed in Azure portal, Microsoft 365 admin portal, Microsoft Graph, Azure Active Directory PowerShell for Graph</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72606257"/>
                  </a:ext>
                </a:extLst>
              </a:tr>
            </a:tbl>
          </a:graphicData>
        </a:graphic>
      </p:graphicFrame>
    </p:spTree>
    <p:extLst>
      <p:ext uri="{BB962C8B-B14F-4D97-AF65-F5344CB8AC3E}">
        <p14:creationId xmlns:p14="http://schemas.microsoft.com/office/powerpoint/2010/main" val="1767998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6B534A79-D148-3CD6-676F-68D719356B57}"/>
              </a:ext>
            </a:extLst>
          </p:cNvPr>
          <p:cNvSpPr txBox="1">
            <a:spLocks/>
          </p:cNvSpPr>
          <p:nvPr/>
        </p:nvSpPr>
        <p:spPr>
          <a:xfrm>
            <a:off x="449171" y="1008672"/>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Create a Role Definition</a:t>
            </a:r>
          </a:p>
        </p:txBody>
      </p:sp>
      <p:sp>
        <p:nvSpPr>
          <p:cNvPr id="11" name="Text Placeholder 3">
            <a:extLst>
              <a:ext uri="{FF2B5EF4-FFF2-40B4-BE49-F238E27FC236}">
                <a16:creationId xmlns:a16="http://schemas.microsoft.com/office/drawing/2014/main" id="{F98419BA-9B9C-BEDF-C7B4-11B8FD43DEA8}"/>
              </a:ext>
            </a:extLst>
          </p:cNvPr>
          <p:cNvSpPr txBox="1">
            <a:spLocks/>
          </p:cNvSpPr>
          <p:nvPr/>
        </p:nvSpPr>
        <p:spPr>
          <a:xfrm>
            <a:off x="311658" y="1758634"/>
            <a:ext cx="11568684" cy="43768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dirty="0"/>
              <a:t>Collection of permissions that lists the operations that can be performed</a:t>
            </a:r>
          </a:p>
        </p:txBody>
      </p:sp>
      <p:grpSp>
        <p:nvGrpSpPr>
          <p:cNvPr id="12" name="Group 11">
            <a:extLst>
              <a:ext uri="{FF2B5EF4-FFF2-40B4-BE49-F238E27FC236}">
                <a16:creationId xmlns:a16="http://schemas.microsoft.com/office/drawing/2014/main" id="{C030291F-2AF6-F35D-5553-79136F985B3B}"/>
              </a:ext>
              <a:ext uri="{C183D7F6-B498-43B3-948B-1728B52AA6E4}">
                <adec:decorative xmlns:adec="http://schemas.microsoft.com/office/drawing/2017/decorative" val="1"/>
              </a:ext>
            </a:extLst>
          </p:cNvPr>
          <p:cNvGrpSpPr/>
          <p:nvPr/>
        </p:nvGrpSpPr>
        <p:grpSpPr>
          <a:xfrm>
            <a:off x="1220812" y="2352971"/>
            <a:ext cx="9836378" cy="4070506"/>
            <a:chOff x="1150936" y="2361598"/>
            <a:chExt cx="9836378" cy="4070506"/>
          </a:xfrm>
        </p:grpSpPr>
        <p:sp>
          <p:nvSpPr>
            <p:cNvPr id="13" name="TextBox 12">
              <a:extLst>
                <a:ext uri="{FF2B5EF4-FFF2-40B4-BE49-F238E27FC236}">
                  <a16:creationId xmlns:a16="http://schemas.microsoft.com/office/drawing/2014/main" id="{D42033BE-DD40-BEA0-2E25-8CA6D523265B}"/>
                </a:ext>
                <a:ext uri="{C183D7F6-B498-43B3-948B-1728B52AA6E4}">
                  <adec:decorative xmlns:adec="http://schemas.microsoft.com/office/drawing/2017/decorative" val="0"/>
                </a:ext>
              </a:extLst>
            </p:cNvPr>
            <p:cNvSpPr txBox="1"/>
            <p:nvPr/>
          </p:nvSpPr>
          <p:spPr>
            <a:xfrm>
              <a:off x="1662455" y="4996140"/>
              <a:ext cx="3025363" cy="257331"/>
            </a:xfrm>
            <a:prstGeom prst="rect">
              <a:avLst/>
            </a:prstGeom>
            <a:noFill/>
          </p:spPr>
          <p:txBody>
            <a:bodyPr wrap="square" lIns="0" tIns="0" rIns="0" bIns="0" rtlCol="0">
              <a:spAutoFit/>
            </a:bodyPr>
            <a:lstStyle/>
            <a:p>
              <a:pPr algn="ctr"/>
              <a:r>
                <a:rPr lang="en-IN" dirty="0">
                  <a:latin typeface="+mj-lt"/>
                </a:rPr>
                <a:t>Built-in</a:t>
              </a:r>
              <a:endParaRPr lang="en-US" dirty="0">
                <a:latin typeface="+mj-lt"/>
              </a:endParaRPr>
            </a:p>
          </p:txBody>
        </p:sp>
        <p:sp>
          <p:nvSpPr>
            <p:cNvPr id="14" name="Rectangle: Rounded Corners 13">
              <a:extLst>
                <a:ext uri="{FF2B5EF4-FFF2-40B4-BE49-F238E27FC236}">
                  <a16:creationId xmlns:a16="http://schemas.microsoft.com/office/drawing/2014/main" id="{33E8C549-B8A7-6C9F-24EC-071E3699202C}"/>
                </a:ext>
              </a:extLst>
            </p:cNvPr>
            <p:cNvSpPr/>
            <p:nvPr/>
          </p:nvSpPr>
          <p:spPr bwMode="auto">
            <a:xfrm>
              <a:off x="1150936" y="2704853"/>
              <a:ext cx="4048401" cy="2285979"/>
            </a:xfrm>
            <a:prstGeom prst="roundRect">
              <a:avLst>
                <a:gd name="adj" fmla="val 10105"/>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spAutoFit/>
            </a:bodyPr>
            <a:lstStyle/>
            <a:p>
              <a:pPr defTabSz="951028" fontAlgn="base">
                <a:spcBef>
                  <a:spcPct val="0"/>
                </a:spcBef>
                <a:spcAft>
                  <a:spcPct val="0"/>
                </a:spcAft>
              </a:pPr>
              <a:r>
                <a:rPr lang="en-IN" sz="1600" dirty="0">
                  <a:solidFill>
                    <a:schemeClr val="tx1"/>
                  </a:solidFill>
                  <a:latin typeface="Consolas" panose="020B0609020204030204" pitchFamily="49" charset="0"/>
                </a:rPr>
                <a:t>Owner</a:t>
              </a:r>
            </a:p>
            <a:p>
              <a:pPr defTabSz="951028" fontAlgn="base">
                <a:spcBef>
                  <a:spcPct val="0"/>
                </a:spcBef>
                <a:spcAft>
                  <a:spcPct val="0"/>
                </a:spcAft>
              </a:pPr>
              <a:r>
                <a:rPr lang="en-IN" sz="1600" b="1" dirty="0">
                  <a:solidFill>
                    <a:schemeClr val="tx1"/>
                  </a:solidFill>
                  <a:latin typeface="Consolas" panose="020B0609020204030204" pitchFamily="49" charset="0"/>
                </a:rPr>
                <a:t>Contributor</a:t>
              </a:r>
            </a:p>
            <a:p>
              <a:pPr defTabSz="951028" fontAlgn="base">
                <a:spcBef>
                  <a:spcPct val="0"/>
                </a:spcBef>
                <a:spcAft>
                  <a:spcPct val="0"/>
                </a:spcAft>
              </a:pPr>
              <a:r>
                <a:rPr lang="en-IN" sz="1600" dirty="0">
                  <a:solidFill>
                    <a:schemeClr val="tx1"/>
                  </a:solidFill>
                  <a:latin typeface="Consolas" panose="020B0609020204030204" pitchFamily="49" charset="0"/>
                </a:rPr>
                <a:t>Reader</a:t>
              </a:r>
            </a:p>
            <a:p>
              <a:pPr defTabSz="951028" fontAlgn="base">
                <a:spcBef>
                  <a:spcPct val="0"/>
                </a:spcBef>
                <a:spcAft>
                  <a:spcPct val="0"/>
                </a:spcAft>
              </a:pPr>
              <a:r>
                <a:rPr lang="en-IN" sz="1600" dirty="0">
                  <a:solidFill>
                    <a:schemeClr val="tx1"/>
                  </a:solidFill>
                  <a:latin typeface="Consolas" panose="020B0609020204030204" pitchFamily="49" charset="0"/>
                </a:rPr>
                <a:t> …</a:t>
              </a:r>
            </a:p>
            <a:p>
              <a:pPr defTabSz="951028" fontAlgn="base">
                <a:spcBef>
                  <a:spcPct val="0"/>
                </a:spcBef>
                <a:spcAft>
                  <a:spcPct val="0"/>
                </a:spcAft>
              </a:pPr>
              <a:r>
                <a:rPr lang="en-IN" sz="1600" dirty="0">
                  <a:solidFill>
                    <a:schemeClr val="tx1"/>
                  </a:solidFill>
                  <a:latin typeface="Consolas" panose="020B0609020204030204" pitchFamily="49" charset="0"/>
                </a:rPr>
                <a:t>Backup Operator</a:t>
              </a:r>
            </a:p>
            <a:p>
              <a:pPr defTabSz="951028" fontAlgn="base">
                <a:spcBef>
                  <a:spcPct val="0"/>
                </a:spcBef>
                <a:spcAft>
                  <a:spcPct val="0"/>
                </a:spcAft>
              </a:pPr>
              <a:r>
                <a:rPr lang="en-IN" sz="1600" dirty="0">
                  <a:solidFill>
                    <a:schemeClr val="tx1"/>
                  </a:solidFill>
                  <a:latin typeface="Consolas" panose="020B0609020204030204" pitchFamily="49" charset="0"/>
                </a:rPr>
                <a:t>Security Reader</a:t>
              </a:r>
            </a:p>
            <a:p>
              <a:pPr defTabSz="951028" fontAlgn="base">
                <a:spcBef>
                  <a:spcPct val="0"/>
                </a:spcBef>
                <a:spcAft>
                  <a:spcPct val="0"/>
                </a:spcAft>
              </a:pPr>
              <a:r>
                <a:rPr lang="en-IN" sz="1600" dirty="0">
                  <a:solidFill>
                    <a:schemeClr val="tx1"/>
                  </a:solidFill>
                  <a:latin typeface="Consolas" panose="020B0609020204030204" pitchFamily="49" charset="0"/>
                </a:rPr>
                <a:t>User Access Administrator</a:t>
              </a:r>
            </a:p>
            <a:p>
              <a:pPr defTabSz="951028" fontAlgn="base">
                <a:spcBef>
                  <a:spcPct val="0"/>
                </a:spcBef>
                <a:spcAft>
                  <a:spcPct val="0"/>
                </a:spcAft>
              </a:pPr>
              <a:r>
                <a:rPr lang="en-IN" sz="1600" dirty="0">
                  <a:solidFill>
                    <a:schemeClr val="tx1"/>
                  </a:solidFill>
                  <a:latin typeface="Consolas" panose="020B0609020204030204" pitchFamily="49" charset="0"/>
                </a:rPr>
                <a:t>Virtual Machine Contributor</a:t>
              </a:r>
              <a:endParaRPr lang="en-US" sz="1600" dirty="0">
                <a:solidFill>
                  <a:schemeClr val="tx1"/>
                </a:solidFill>
                <a:latin typeface="Consolas" panose="020B0609020204030204" pitchFamily="49" charset="0"/>
              </a:endParaRPr>
            </a:p>
          </p:txBody>
        </p:sp>
        <p:sp>
          <p:nvSpPr>
            <p:cNvPr id="15" name="TextBox 14">
              <a:extLst>
                <a:ext uri="{FF2B5EF4-FFF2-40B4-BE49-F238E27FC236}">
                  <a16:creationId xmlns:a16="http://schemas.microsoft.com/office/drawing/2014/main" id="{629D4E30-2387-6DA5-6460-6ADD2D5DF649}"/>
                </a:ext>
                <a:ext uri="{C183D7F6-B498-43B3-948B-1728B52AA6E4}">
                  <adec:decorative xmlns:adec="http://schemas.microsoft.com/office/drawing/2017/decorative" val="0"/>
                </a:ext>
              </a:extLst>
            </p:cNvPr>
            <p:cNvSpPr txBox="1"/>
            <p:nvPr/>
          </p:nvSpPr>
          <p:spPr>
            <a:xfrm>
              <a:off x="1662455" y="6174773"/>
              <a:ext cx="3025363" cy="257331"/>
            </a:xfrm>
            <a:prstGeom prst="rect">
              <a:avLst/>
            </a:prstGeom>
            <a:noFill/>
          </p:spPr>
          <p:txBody>
            <a:bodyPr wrap="square" lIns="0" tIns="0" rIns="0" bIns="0" rtlCol="0">
              <a:spAutoFit/>
            </a:bodyPr>
            <a:lstStyle/>
            <a:p>
              <a:pPr algn="ctr"/>
              <a:r>
                <a:rPr lang="en-IN" dirty="0">
                  <a:latin typeface="+mj-lt"/>
                </a:rPr>
                <a:t>Custom</a:t>
              </a:r>
              <a:endParaRPr lang="en-US" dirty="0">
                <a:latin typeface="+mj-lt"/>
              </a:endParaRPr>
            </a:p>
          </p:txBody>
        </p:sp>
        <p:sp>
          <p:nvSpPr>
            <p:cNvPr id="16" name="Rectangle: Rounded Corners 15">
              <a:extLst>
                <a:ext uri="{FF2B5EF4-FFF2-40B4-BE49-F238E27FC236}">
                  <a16:creationId xmlns:a16="http://schemas.microsoft.com/office/drawing/2014/main" id="{7FA41017-483C-CB03-CD3E-2DEDF14647DA}"/>
                </a:ext>
                <a:ext uri="{C183D7F6-B498-43B3-948B-1728B52AA6E4}">
                  <adec:decorative xmlns:adec="http://schemas.microsoft.com/office/drawing/2017/decorative" val="1"/>
                </a:ext>
              </a:extLst>
            </p:cNvPr>
            <p:cNvSpPr/>
            <p:nvPr/>
          </p:nvSpPr>
          <p:spPr bwMode="auto">
            <a:xfrm>
              <a:off x="1150936" y="5453004"/>
              <a:ext cx="4048401" cy="711934"/>
            </a:xfrm>
            <a:prstGeom prst="roundRect">
              <a:avLst/>
            </a:prstGeom>
            <a:noFill/>
            <a:ln w="19050">
              <a:solidFill>
                <a:srgbClr val="107C0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spAutoFit/>
            </a:bodyPr>
            <a:lstStyle/>
            <a:p>
              <a:pPr defTabSz="951028" fontAlgn="base">
                <a:spcBef>
                  <a:spcPct val="0"/>
                </a:spcBef>
                <a:spcAft>
                  <a:spcPct val="0"/>
                </a:spcAft>
              </a:pPr>
              <a:r>
                <a:rPr lang="en-IN" sz="1600" dirty="0">
                  <a:solidFill>
                    <a:schemeClr val="tx1"/>
                  </a:solidFill>
                  <a:latin typeface="Consolas" panose="020B0609020204030204" pitchFamily="49" charset="0"/>
                </a:rPr>
                <a:t>Reader Support Tickets</a:t>
              </a:r>
            </a:p>
            <a:p>
              <a:pPr defTabSz="951028" fontAlgn="base">
                <a:spcBef>
                  <a:spcPct val="0"/>
                </a:spcBef>
                <a:spcAft>
                  <a:spcPct val="0"/>
                </a:spcAft>
              </a:pPr>
              <a:r>
                <a:rPr lang="en-IN" sz="1600" dirty="0">
                  <a:solidFill>
                    <a:schemeClr val="tx1"/>
                  </a:solidFill>
                  <a:latin typeface="Consolas" panose="020B0609020204030204" pitchFamily="49" charset="0"/>
                </a:rPr>
                <a:t>Virtual Machine Operator</a:t>
              </a:r>
              <a:endParaRPr lang="en-US" sz="1600" dirty="0">
                <a:solidFill>
                  <a:schemeClr val="tx1"/>
                </a:solidFill>
                <a:latin typeface="Consolas" panose="020B0609020204030204" pitchFamily="49" charset="0"/>
              </a:endParaRPr>
            </a:p>
          </p:txBody>
        </p:sp>
        <p:sp>
          <p:nvSpPr>
            <p:cNvPr id="17" name="Isosceles Triangle 16" descr="A zoom out shape showing more details about Contributor">
              <a:extLst>
                <a:ext uri="{FF2B5EF4-FFF2-40B4-BE49-F238E27FC236}">
                  <a16:creationId xmlns:a16="http://schemas.microsoft.com/office/drawing/2014/main" id="{E917488E-68E0-3A2B-0987-9FD1A3E872EB}"/>
                </a:ext>
                <a:ext uri="{C183D7F6-B498-43B3-948B-1728B52AA6E4}">
                  <adec:decorative xmlns:adec="http://schemas.microsoft.com/office/drawing/2017/decorative" val="0"/>
                </a:ext>
              </a:extLst>
            </p:cNvPr>
            <p:cNvSpPr/>
            <p:nvPr/>
          </p:nvSpPr>
          <p:spPr bwMode="auto">
            <a:xfrm rot="16200000">
              <a:off x="2885273" y="2415614"/>
              <a:ext cx="3469918" cy="4048399"/>
            </a:xfrm>
            <a:prstGeom prst="triangle">
              <a:avLst>
                <a:gd name="adj" fmla="val 85665"/>
              </a:avLst>
            </a:prstGeom>
            <a:solidFill>
              <a:schemeClr val="bg1">
                <a:lumMod val="95000"/>
                <a:alpha val="74902"/>
              </a:schemeClr>
            </a:solidFill>
            <a:ln w="19050">
              <a:solidFill>
                <a:schemeClr val="bg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1734" dirty="0">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34C1397D-4813-55CF-243E-1FDEA39B9062}"/>
                </a:ext>
                <a:ext uri="{C183D7F6-B498-43B3-948B-1728B52AA6E4}">
                  <adec:decorative xmlns:adec="http://schemas.microsoft.com/office/drawing/2017/decorative" val="0"/>
                </a:ext>
              </a:extLst>
            </p:cNvPr>
            <p:cNvSpPr/>
            <p:nvPr/>
          </p:nvSpPr>
          <p:spPr>
            <a:xfrm>
              <a:off x="7971017" y="2361598"/>
              <a:ext cx="1308038" cy="343107"/>
            </a:xfrm>
            <a:prstGeom prst="rect">
              <a:avLst/>
            </a:prstGeom>
          </p:spPr>
          <p:txBody>
            <a:bodyPr wrap="none">
              <a:spAutoFit/>
            </a:bodyPr>
            <a:lstStyle/>
            <a:p>
              <a:r>
                <a:rPr lang="en-IN" dirty="0">
                  <a:latin typeface="+mj-lt"/>
                  <a:ea typeface="Segoe UI" pitchFamily="34" charset="0"/>
                  <a:cs typeface="Segoe UI" pitchFamily="34" charset="0"/>
                </a:rPr>
                <a:t>Contributor</a:t>
              </a:r>
              <a:endParaRPr lang="en-US" dirty="0">
                <a:latin typeface="+mj-lt"/>
              </a:endParaRPr>
            </a:p>
          </p:txBody>
        </p:sp>
        <p:sp>
          <p:nvSpPr>
            <p:cNvPr id="19" name="Rectangle: Rounded Corners 18">
              <a:extLst>
                <a:ext uri="{FF2B5EF4-FFF2-40B4-BE49-F238E27FC236}">
                  <a16:creationId xmlns:a16="http://schemas.microsoft.com/office/drawing/2014/main" id="{966393EB-7E29-5CBC-3A0F-56F10804B149}"/>
                </a:ext>
                <a:ext uri="{C183D7F6-B498-43B3-948B-1728B52AA6E4}">
                  <adec:decorative xmlns:adec="http://schemas.microsoft.com/office/drawing/2017/decorative" val="0"/>
                </a:ext>
              </a:extLst>
            </p:cNvPr>
            <p:cNvSpPr/>
            <p:nvPr/>
          </p:nvSpPr>
          <p:spPr bwMode="auto">
            <a:xfrm>
              <a:off x="6262758" y="2704854"/>
              <a:ext cx="4724556" cy="3449061"/>
            </a:xfrm>
            <a:prstGeom prst="roundRect">
              <a:avLst>
                <a:gd name="adj" fmla="val 10370"/>
              </a:avLst>
            </a:prstGeom>
            <a:solidFill>
              <a:schemeClr val="bg1"/>
            </a:solid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0" rIns="0" bIns="0" numCol="1" spcCol="0" rtlCol="0" fromWordArt="0" anchor="t" anchorCtr="0" forceAA="0" compatLnSpc="1">
              <a:prstTxWarp prst="textNoShape">
                <a:avLst/>
              </a:prstTxWarp>
              <a:noAutofit/>
            </a:bodyPr>
            <a:lstStyle/>
            <a:p>
              <a:pPr defTabSz="951028" fontAlgn="base">
                <a:spcBef>
                  <a:spcPct val="0"/>
                </a:spcBef>
                <a:spcAft>
                  <a:spcPct val="0"/>
                </a:spcAft>
              </a:pPr>
              <a:r>
                <a:rPr lang="en-US" sz="1600" dirty="0">
                  <a:solidFill>
                    <a:schemeClr val="tx1"/>
                  </a:solidFill>
                  <a:latin typeface="Consolas" panose="020B0609020204030204" pitchFamily="49" charset="0"/>
                </a:rPr>
                <a:t>"Actions": [</a:t>
              </a:r>
            </a:p>
            <a:p>
              <a:pPr defTabSz="951028" fontAlgn="base">
                <a:spcBef>
                  <a:spcPct val="0"/>
                </a:spcBef>
                <a:spcAft>
                  <a:spcPct val="0"/>
                </a:spcAft>
              </a:pPr>
              <a:r>
                <a:rPr lang="en-US" sz="1600" dirty="0">
                  <a:solidFill>
                    <a:schemeClr val="tx1"/>
                  </a:solidFill>
                  <a:latin typeface="Consolas" panose="020B0609020204030204" pitchFamily="49" charset="0"/>
                </a:rPr>
                <a:t> "*"</a:t>
              </a:r>
            </a:p>
            <a:p>
              <a:pPr defTabSz="951028" fontAlgn="base">
                <a:spcBef>
                  <a:spcPct val="0"/>
                </a:spcBef>
                <a:spcAft>
                  <a:spcPct val="0"/>
                </a:spcAft>
              </a:pPr>
              <a:r>
                <a:rPr lang="en-US" sz="1600" dirty="0">
                  <a:solidFill>
                    <a:schemeClr val="tx1"/>
                  </a:solidFill>
                  <a:latin typeface="Consolas" panose="020B0609020204030204" pitchFamily="49" charset="0"/>
                </a:rPr>
                <a:t>],</a:t>
              </a:r>
            </a:p>
            <a:p>
              <a:pPr defTabSz="951028" fontAlgn="base">
                <a:spcBef>
                  <a:spcPct val="0"/>
                </a:spcBef>
                <a:spcAft>
                  <a:spcPct val="0"/>
                </a:spcAft>
              </a:pPr>
              <a:r>
                <a:rPr lang="en-US" sz="1600" dirty="0">
                  <a:solidFill>
                    <a:schemeClr val="tx1"/>
                  </a:solidFill>
                  <a:latin typeface="Consolas" panose="020B0609020204030204" pitchFamily="49" charset="0"/>
                </a:rPr>
                <a:t>"NotActions" : [</a:t>
              </a:r>
            </a:p>
            <a:p>
              <a:pPr defTabSz="951028" fontAlgn="base">
                <a:spcBef>
                  <a:spcPct val="0"/>
                </a:spcBef>
                <a:spcAft>
                  <a:spcPct val="0"/>
                </a:spcAft>
              </a:pPr>
              <a:r>
                <a:rPr lang="en-US" sz="1600" dirty="0">
                  <a:solidFill>
                    <a:schemeClr val="tx1"/>
                  </a:solidFill>
                  <a:latin typeface="Consolas" panose="020B0609020204030204" pitchFamily="49" charset="0"/>
                </a:rPr>
                <a:t> "Authorization/*/Delete",</a:t>
              </a:r>
            </a:p>
            <a:p>
              <a:pPr defTabSz="951028" fontAlgn="base">
                <a:spcBef>
                  <a:spcPct val="0"/>
                </a:spcBef>
                <a:spcAft>
                  <a:spcPct val="0"/>
                </a:spcAft>
              </a:pPr>
              <a:r>
                <a:rPr lang="en-US" sz="1600" dirty="0">
                  <a:solidFill>
                    <a:schemeClr val="tx1"/>
                  </a:solidFill>
                  <a:latin typeface="Consolas" panose="020B0609020204030204" pitchFamily="49" charset="0"/>
                </a:rPr>
                <a:t> "Authorization/*/Write",</a:t>
              </a:r>
            </a:p>
            <a:p>
              <a:pPr defTabSz="951028" fontAlgn="base">
                <a:spcBef>
                  <a:spcPct val="0"/>
                </a:spcBef>
                <a:spcAft>
                  <a:spcPct val="0"/>
                </a:spcAft>
              </a:pPr>
              <a:r>
                <a:rPr lang="en-US" sz="1600" dirty="0">
                  <a:solidFill>
                    <a:schemeClr val="tx1"/>
                  </a:solidFill>
                  <a:latin typeface="Consolas" panose="020B0609020204030204" pitchFamily="49" charset="0"/>
                </a:rPr>
                <a:t> "Authorization/elevateAccess/Action"</a:t>
              </a:r>
            </a:p>
            <a:p>
              <a:pPr defTabSz="951028" fontAlgn="base">
                <a:spcBef>
                  <a:spcPct val="0"/>
                </a:spcBef>
                <a:spcAft>
                  <a:spcPct val="0"/>
                </a:spcAft>
              </a:pPr>
              <a:r>
                <a:rPr lang="en-US" sz="1600" dirty="0">
                  <a:solidFill>
                    <a:schemeClr val="tx1"/>
                  </a:solidFill>
                  <a:latin typeface="Consolas" panose="020B0609020204030204" pitchFamily="49" charset="0"/>
                </a:rPr>
                <a:t>],</a:t>
              </a:r>
            </a:p>
            <a:p>
              <a:pPr defTabSz="951028" fontAlgn="base">
                <a:spcBef>
                  <a:spcPct val="0"/>
                </a:spcBef>
                <a:spcAft>
                  <a:spcPct val="0"/>
                </a:spcAft>
              </a:pPr>
              <a:r>
                <a:rPr lang="en-US" sz="1600" dirty="0">
                  <a:solidFill>
                    <a:schemeClr val="tx1"/>
                  </a:solidFill>
                  <a:latin typeface="Consolas" panose="020B0609020204030204" pitchFamily="49" charset="0"/>
                </a:rPr>
                <a:t>"DataActions" : [],</a:t>
              </a:r>
            </a:p>
            <a:p>
              <a:pPr defTabSz="951028" fontAlgn="base">
                <a:spcBef>
                  <a:spcPct val="0"/>
                </a:spcBef>
                <a:spcAft>
                  <a:spcPct val="0"/>
                </a:spcAft>
              </a:pPr>
              <a:r>
                <a:rPr lang="en-US" sz="1600" dirty="0">
                  <a:solidFill>
                    <a:schemeClr val="tx1"/>
                  </a:solidFill>
                  <a:latin typeface="Consolas" panose="020B0609020204030204" pitchFamily="49" charset="0"/>
                </a:rPr>
                <a:t> "NotDataActions": [],</a:t>
              </a:r>
            </a:p>
            <a:p>
              <a:pPr defTabSz="951028" fontAlgn="base">
                <a:spcBef>
                  <a:spcPct val="0"/>
                </a:spcBef>
                <a:spcAft>
                  <a:spcPct val="0"/>
                </a:spcAft>
              </a:pPr>
              <a:r>
                <a:rPr lang="en-US" sz="1600" dirty="0">
                  <a:solidFill>
                    <a:schemeClr val="tx1"/>
                  </a:solidFill>
                  <a:latin typeface="Consolas" panose="020B0609020204030204" pitchFamily="49" charset="0"/>
                </a:rPr>
                <a:t> "AssignableScopes" : [</a:t>
              </a:r>
            </a:p>
            <a:p>
              <a:pPr defTabSz="951028" fontAlgn="base">
                <a:spcBef>
                  <a:spcPct val="0"/>
                </a:spcBef>
                <a:spcAft>
                  <a:spcPct val="0"/>
                </a:spcAft>
              </a:pPr>
              <a:r>
                <a:rPr lang="en-US" sz="1600" dirty="0">
                  <a:solidFill>
                    <a:schemeClr val="tx1"/>
                  </a:solidFill>
                  <a:latin typeface="Consolas" panose="020B0609020204030204" pitchFamily="49" charset="0"/>
                </a:rPr>
                <a:t> "/"</a:t>
              </a:r>
            </a:p>
            <a:p>
              <a:pPr defTabSz="951028" fontAlgn="base">
                <a:spcBef>
                  <a:spcPct val="0"/>
                </a:spcBef>
                <a:spcAft>
                  <a:spcPct val="0"/>
                </a:spcAft>
              </a:pPr>
              <a:r>
                <a:rPr lang="en-US" sz="1600" dirty="0">
                  <a:solidFill>
                    <a:schemeClr val="tx1"/>
                  </a:solidFill>
                  <a:latin typeface="Consolas" panose="020B0609020204030204" pitchFamily="49" charset="0"/>
                </a:rPr>
                <a:t>]</a:t>
              </a:r>
            </a:p>
          </p:txBody>
        </p:sp>
      </p:grpSp>
    </p:spTree>
    <p:extLst>
      <p:ext uri="{BB962C8B-B14F-4D97-AF65-F5344CB8AC3E}">
        <p14:creationId xmlns:p14="http://schemas.microsoft.com/office/powerpoint/2010/main" val="1702838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82BA497A-07E6-AD38-EA7A-F20B6B408FDB}"/>
              </a:ext>
            </a:extLst>
          </p:cNvPr>
          <p:cNvSpPr txBox="1">
            <a:spLocks/>
          </p:cNvSpPr>
          <p:nvPr/>
        </p:nvSpPr>
        <p:spPr>
          <a:xfrm>
            <a:off x="8803" y="671344"/>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Create a Role Assignment</a:t>
            </a:r>
          </a:p>
        </p:txBody>
      </p:sp>
      <p:sp>
        <p:nvSpPr>
          <p:cNvPr id="11" name="Text Placeholder 2">
            <a:extLst>
              <a:ext uri="{FF2B5EF4-FFF2-40B4-BE49-F238E27FC236}">
                <a16:creationId xmlns:a16="http://schemas.microsoft.com/office/drawing/2014/main" id="{CBF7C559-A279-BA93-90D7-58A60ECAAFC0}"/>
              </a:ext>
            </a:extLst>
          </p:cNvPr>
          <p:cNvSpPr txBox="1">
            <a:spLocks/>
          </p:cNvSpPr>
          <p:nvPr/>
        </p:nvSpPr>
        <p:spPr>
          <a:xfrm>
            <a:off x="430221" y="1263071"/>
            <a:ext cx="11568684" cy="870133"/>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dirty="0"/>
              <a:t>Process of binding a role definition to a user, group, or service principal at a scope for the purpose of granting access</a:t>
            </a:r>
          </a:p>
          <a:p>
            <a:pPr algn="ctr"/>
            <a:endParaRPr lang="en-US" dirty="0"/>
          </a:p>
        </p:txBody>
      </p:sp>
      <p:grpSp>
        <p:nvGrpSpPr>
          <p:cNvPr id="12" name="Group 11">
            <a:extLst>
              <a:ext uri="{FF2B5EF4-FFF2-40B4-BE49-F238E27FC236}">
                <a16:creationId xmlns:a16="http://schemas.microsoft.com/office/drawing/2014/main" id="{AD1E1D4B-16B1-30D7-CD29-1EA3CB395CD8}"/>
              </a:ext>
              <a:ext uri="{C183D7F6-B498-43B3-948B-1728B52AA6E4}">
                <adec:decorative xmlns:adec="http://schemas.microsoft.com/office/drawing/2017/decorative" val="1"/>
              </a:ext>
            </a:extLst>
          </p:cNvPr>
          <p:cNvGrpSpPr/>
          <p:nvPr/>
        </p:nvGrpSpPr>
        <p:grpSpPr>
          <a:xfrm>
            <a:off x="440753" y="1985447"/>
            <a:ext cx="11279389" cy="4011038"/>
            <a:chOff x="541613" y="2281842"/>
            <a:chExt cx="11279389" cy="4011038"/>
          </a:xfrm>
        </p:grpSpPr>
        <p:sp>
          <p:nvSpPr>
            <p:cNvPr id="13" name="Oval 12">
              <a:extLst>
                <a:ext uri="{FF2B5EF4-FFF2-40B4-BE49-F238E27FC236}">
                  <a16:creationId xmlns:a16="http://schemas.microsoft.com/office/drawing/2014/main" id="{C9207BAB-6F30-5083-EF15-4B2235B23742}"/>
                </a:ext>
              </a:extLst>
            </p:cNvPr>
            <p:cNvSpPr/>
            <p:nvPr/>
          </p:nvSpPr>
          <p:spPr>
            <a:xfrm>
              <a:off x="4348266" y="2281842"/>
              <a:ext cx="365760" cy="3657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latin typeface="+mj-lt"/>
                </a:rPr>
                <a:t>1</a:t>
              </a:r>
            </a:p>
          </p:txBody>
        </p:sp>
        <p:sp>
          <p:nvSpPr>
            <p:cNvPr id="14" name="Rectangle 13">
              <a:extLst>
                <a:ext uri="{FF2B5EF4-FFF2-40B4-BE49-F238E27FC236}">
                  <a16:creationId xmlns:a16="http://schemas.microsoft.com/office/drawing/2014/main" id="{CA2C2E9C-0273-E72E-26E2-3683035D48DD}"/>
                </a:ext>
              </a:extLst>
            </p:cNvPr>
            <p:cNvSpPr/>
            <p:nvPr/>
          </p:nvSpPr>
          <p:spPr>
            <a:xfrm>
              <a:off x="4738434" y="2288160"/>
              <a:ext cx="3114441" cy="338554"/>
            </a:xfrm>
            <a:prstGeom prst="rect">
              <a:avLst/>
            </a:prstGeom>
            <a:solidFill>
              <a:schemeClr val="tx2">
                <a:lumMod val="5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solidFill>
                    <a:schemeClr val="bg1"/>
                  </a:solidFill>
                  <a:latin typeface="+mj-lt"/>
                </a:rPr>
                <a:t>Security principal</a:t>
              </a:r>
            </a:p>
          </p:txBody>
        </p:sp>
        <p:sp>
          <p:nvSpPr>
            <p:cNvPr id="15" name="Rectangle: Rounded Corners 11">
              <a:extLst>
                <a:ext uri="{FF2B5EF4-FFF2-40B4-BE49-F238E27FC236}">
                  <a16:creationId xmlns:a16="http://schemas.microsoft.com/office/drawing/2014/main" id="{9DA87368-9CE5-04B4-A705-6D26E6046E98}"/>
                </a:ext>
                <a:ext uri="{C183D7F6-B498-43B3-948B-1728B52AA6E4}">
                  <adec:decorative xmlns:adec="http://schemas.microsoft.com/office/drawing/2017/decorative" val="1"/>
                </a:ext>
              </a:extLst>
            </p:cNvPr>
            <p:cNvSpPr/>
            <p:nvPr/>
          </p:nvSpPr>
          <p:spPr>
            <a:xfrm>
              <a:off x="4739239" y="2626714"/>
              <a:ext cx="3102269" cy="794006"/>
            </a:xfrm>
            <a:prstGeom prst="roundRect">
              <a:avLst>
                <a:gd name="adj" fmla="val 0"/>
              </a:avLst>
            </a:prstGeom>
            <a:solidFill>
              <a:srgbClr val="E6E6E6"/>
            </a:solidFill>
            <a:ln w="19050">
              <a:solidFill>
                <a:schemeClr val="accent2">
                  <a:lumMod val="75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836" dirty="0"/>
            </a:p>
          </p:txBody>
        </p:sp>
        <p:sp>
          <p:nvSpPr>
            <p:cNvPr id="16" name="Freeform 30">
              <a:extLst>
                <a:ext uri="{FF2B5EF4-FFF2-40B4-BE49-F238E27FC236}">
                  <a16:creationId xmlns:a16="http://schemas.microsoft.com/office/drawing/2014/main" id="{CF107060-282C-33D7-916B-B68AC605FD18}"/>
                </a:ext>
                <a:ext uri="{C183D7F6-B498-43B3-948B-1728B52AA6E4}">
                  <adec:decorative xmlns:adec="http://schemas.microsoft.com/office/drawing/2017/decorative" val="1"/>
                </a:ext>
              </a:extLst>
            </p:cNvPr>
            <p:cNvSpPr>
              <a:spLocks/>
            </p:cNvSpPr>
            <p:nvPr/>
          </p:nvSpPr>
          <p:spPr bwMode="auto">
            <a:xfrm>
              <a:off x="5025787" y="2676632"/>
              <a:ext cx="362308" cy="376620"/>
            </a:xfrm>
            <a:custGeom>
              <a:avLst/>
              <a:gdLst>
                <a:gd name="connsiteX0" fmla="*/ 195412 w 714986"/>
                <a:gd name="connsiteY0" fmla="*/ 433884 h 743230"/>
                <a:gd name="connsiteX1" fmla="*/ 244700 w 714986"/>
                <a:gd name="connsiteY1" fmla="*/ 444841 h 743230"/>
                <a:gd name="connsiteX2" fmla="*/ 308613 w 714986"/>
                <a:gd name="connsiteY2" fmla="*/ 482444 h 743230"/>
                <a:gd name="connsiteX3" fmla="*/ 404211 w 714986"/>
                <a:gd name="connsiteY3" fmla="*/ 526269 h 743230"/>
                <a:gd name="connsiteX4" fmla="*/ 483560 w 714986"/>
                <a:gd name="connsiteY4" fmla="*/ 517612 h 743230"/>
                <a:gd name="connsiteX5" fmla="*/ 546389 w 714986"/>
                <a:gd name="connsiteY5" fmla="*/ 472434 h 743230"/>
                <a:gd name="connsiteX6" fmla="*/ 608677 w 714986"/>
                <a:gd name="connsiteY6" fmla="*/ 471893 h 743230"/>
                <a:gd name="connsiteX7" fmla="*/ 645779 w 714986"/>
                <a:gd name="connsiteY7" fmla="*/ 512742 h 743230"/>
                <a:gd name="connsiteX8" fmla="*/ 705900 w 714986"/>
                <a:gd name="connsiteY8" fmla="*/ 668836 h 743230"/>
                <a:gd name="connsiteX9" fmla="*/ 714837 w 714986"/>
                <a:gd name="connsiteY9" fmla="*/ 734303 h 743230"/>
                <a:gd name="connsiteX10" fmla="*/ 706171 w 714986"/>
                <a:gd name="connsiteY10" fmla="*/ 743230 h 743230"/>
                <a:gd name="connsiteX11" fmla="*/ 357360 w 714986"/>
                <a:gd name="connsiteY11" fmla="*/ 742960 h 743230"/>
                <a:gd name="connsiteX12" fmla="*/ 11799 w 714986"/>
                <a:gd name="connsiteY12" fmla="*/ 742960 h 743230"/>
                <a:gd name="connsiteX13" fmla="*/ 154 w 714986"/>
                <a:gd name="connsiteY13" fmla="*/ 731056 h 743230"/>
                <a:gd name="connsiteX14" fmla="*/ 75711 w 714986"/>
                <a:gd name="connsiteY14" fmla="*/ 508685 h 743230"/>
                <a:gd name="connsiteX15" fmla="*/ 146123 w 714986"/>
                <a:gd name="connsiteY15" fmla="*/ 445652 h 743230"/>
                <a:gd name="connsiteX16" fmla="*/ 195412 w 714986"/>
                <a:gd name="connsiteY16" fmla="*/ 433884 h 743230"/>
                <a:gd name="connsiteX17" fmla="*/ 377050 w 714986"/>
                <a:gd name="connsiteY17" fmla="*/ 469 h 743230"/>
                <a:gd name="connsiteX18" fmla="*/ 483059 w 714986"/>
                <a:gd name="connsiteY18" fmla="*/ 26164 h 743230"/>
                <a:gd name="connsiteX19" fmla="*/ 595466 w 714986"/>
                <a:gd name="connsiteY19" fmla="*/ 213607 h 743230"/>
                <a:gd name="connsiteX20" fmla="*/ 562963 w 714986"/>
                <a:gd name="connsiteY20" fmla="*/ 346412 h 743230"/>
                <a:gd name="connsiteX21" fmla="*/ 426719 w 714986"/>
                <a:gd name="connsiteY21" fmla="*/ 432965 h 743230"/>
                <a:gd name="connsiteX22" fmla="*/ 297518 w 714986"/>
                <a:gd name="connsiteY22" fmla="*/ 396451 h 743230"/>
                <a:gd name="connsiteX23" fmla="*/ 203800 w 714986"/>
                <a:gd name="connsiteY23" fmla="*/ 231729 h 743230"/>
                <a:gd name="connsiteX24" fmla="*/ 202175 w 714986"/>
                <a:gd name="connsiteY24" fmla="*/ 203328 h 743230"/>
                <a:gd name="connsiteX25" fmla="*/ 276120 w 714986"/>
                <a:gd name="connsiteY25" fmla="*/ 41311 h 743230"/>
                <a:gd name="connsiteX26" fmla="*/ 377050 w 714986"/>
                <a:gd name="connsiteY26" fmla="*/ 469 h 743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14986" h="743230">
                  <a:moveTo>
                    <a:pt x="195412" y="433884"/>
                  </a:moveTo>
                  <a:cubicBezTo>
                    <a:pt x="211864" y="434290"/>
                    <a:pt x="228316" y="438483"/>
                    <a:pt x="244700" y="444841"/>
                  </a:cubicBezTo>
                  <a:cubicBezTo>
                    <a:pt x="267991" y="454038"/>
                    <a:pt x="287489" y="469729"/>
                    <a:pt x="308613" y="482444"/>
                  </a:cubicBezTo>
                  <a:cubicBezTo>
                    <a:pt x="338944" y="500569"/>
                    <a:pt x="369547" y="517612"/>
                    <a:pt x="404211" y="526269"/>
                  </a:cubicBezTo>
                  <a:cubicBezTo>
                    <a:pt x="431834" y="533302"/>
                    <a:pt x="457832" y="529245"/>
                    <a:pt x="483560" y="517612"/>
                  </a:cubicBezTo>
                  <a:cubicBezTo>
                    <a:pt x="507933" y="506791"/>
                    <a:pt x="528245" y="490830"/>
                    <a:pt x="546389" y="472434"/>
                  </a:cubicBezTo>
                  <a:cubicBezTo>
                    <a:pt x="566971" y="451333"/>
                    <a:pt x="590532" y="458908"/>
                    <a:pt x="608677" y="471893"/>
                  </a:cubicBezTo>
                  <a:cubicBezTo>
                    <a:pt x="624113" y="482714"/>
                    <a:pt x="634675" y="497864"/>
                    <a:pt x="645779" y="512742"/>
                  </a:cubicBezTo>
                  <a:cubicBezTo>
                    <a:pt x="680172" y="559273"/>
                    <a:pt x="696421" y="612566"/>
                    <a:pt x="705900" y="668836"/>
                  </a:cubicBezTo>
                  <a:cubicBezTo>
                    <a:pt x="709691" y="690478"/>
                    <a:pt x="712399" y="712390"/>
                    <a:pt x="714837" y="734303"/>
                  </a:cubicBezTo>
                  <a:cubicBezTo>
                    <a:pt x="715649" y="741607"/>
                    <a:pt x="713212" y="743230"/>
                    <a:pt x="706171" y="743230"/>
                  </a:cubicBezTo>
                  <a:cubicBezTo>
                    <a:pt x="589991" y="742960"/>
                    <a:pt x="473540" y="742960"/>
                    <a:pt x="357360" y="742960"/>
                  </a:cubicBezTo>
                  <a:cubicBezTo>
                    <a:pt x="242263" y="742960"/>
                    <a:pt x="127166" y="742960"/>
                    <a:pt x="11799" y="742960"/>
                  </a:cubicBezTo>
                  <a:cubicBezTo>
                    <a:pt x="-117" y="742960"/>
                    <a:pt x="-388" y="742960"/>
                    <a:pt x="154" y="731056"/>
                  </a:cubicBezTo>
                  <a:cubicBezTo>
                    <a:pt x="3133" y="649628"/>
                    <a:pt x="26694" y="574693"/>
                    <a:pt x="75711" y="508685"/>
                  </a:cubicBezTo>
                  <a:cubicBezTo>
                    <a:pt x="94939" y="482985"/>
                    <a:pt x="117688" y="461072"/>
                    <a:pt x="146123" y="445652"/>
                  </a:cubicBezTo>
                  <a:cubicBezTo>
                    <a:pt x="162508" y="436860"/>
                    <a:pt x="178960" y="433479"/>
                    <a:pt x="195412" y="433884"/>
                  </a:cubicBezTo>
                  <a:close/>
                  <a:moveTo>
                    <a:pt x="377050" y="469"/>
                  </a:moveTo>
                  <a:cubicBezTo>
                    <a:pt x="413312" y="-2168"/>
                    <a:pt x="450420" y="6284"/>
                    <a:pt x="483059" y="26164"/>
                  </a:cubicBezTo>
                  <a:cubicBezTo>
                    <a:pt x="553212" y="68900"/>
                    <a:pt x="588965" y="132733"/>
                    <a:pt x="595466" y="213607"/>
                  </a:cubicBezTo>
                  <a:cubicBezTo>
                    <a:pt x="599258" y="261211"/>
                    <a:pt x="588695" y="305840"/>
                    <a:pt x="562963" y="346412"/>
                  </a:cubicBezTo>
                  <a:cubicBezTo>
                    <a:pt x="531543" y="396451"/>
                    <a:pt x="486309" y="426744"/>
                    <a:pt x="426719" y="432965"/>
                  </a:cubicBezTo>
                  <a:cubicBezTo>
                    <a:pt x="379048" y="437834"/>
                    <a:pt x="335710" y="424580"/>
                    <a:pt x="297518" y="396451"/>
                  </a:cubicBezTo>
                  <a:cubicBezTo>
                    <a:pt x="241992" y="355608"/>
                    <a:pt x="212197" y="299619"/>
                    <a:pt x="203800" y="231729"/>
                  </a:cubicBezTo>
                  <a:cubicBezTo>
                    <a:pt x="202717" y="222262"/>
                    <a:pt x="202717" y="213066"/>
                    <a:pt x="202175" y="203328"/>
                  </a:cubicBezTo>
                  <a:cubicBezTo>
                    <a:pt x="204071" y="139225"/>
                    <a:pt x="225740" y="83506"/>
                    <a:pt x="276120" y="41311"/>
                  </a:cubicBezTo>
                  <a:cubicBezTo>
                    <a:pt x="305373" y="16833"/>
                    <a:pt x="340789" y="3106"/>
                    <a:pt x="377050" y="469"/>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7" name="TextBox 16">
              <a:extLst>
                <a:ext uri="{FF2B5EF4-FFF2-40B4-BE49-F238E27FC236}">
                  <a16:creationId xmlns:a16="http://schemas.microsoft.com/office/drawing/2014/main" id="{59FEAD75-8FE0-361B-B649-519AA0CDB76A}"/>
                </a:ext>
              </a:extLst>
            </p:cNvPr>
            <p:cNvSpPr txBox="1"/>
            <p:nvPr/>
          </p:nvSpPr>
          <p:spPr>
            <a:xfrm>
              <a:off x="5029032" y="3141592"/>
              <a:ext cx="314189" cy="184666"/>
            </a:xfrm>
            <a:prstGeom prst="rect">
              <a:avLst/>
            </a:prstGeom>
            <a:noFill/>
          </p:spPr>
          <p:txBody>
            <a:bodyPr wrap="square" lIns="0" tIns="0" rIns="0" bIns="0" rtlCol="0" anchor="ctr">
              <a:spAutoFit/>
            </a:bodyPr>
            <a:lstStyle/>
            <a:p>
              <a:pPr algn="ctr"/>
              <a:r>
                <a:rPr lang="en-US" sz="1200" dirty="0">
                  <a:latin typeface="+mj-lt"/>
                </a:rPr>
                <a:t>User</a:t>
              </a:r>
            </a:p>
          </p:txBody>
        </p:sp>
        <p:pic>
          <p:nvPicPr>
            <p:cNvPr id="18" name="Picture 17">
              <a:extLst>
                <a:ext uri="{FF2B5EF4-FFF2-40B4-BE49-F238E27FC236}">
                  <a16:creationId xmlns:a16="http://schemas.microsoft.com/office/drawing/2014/main" id="{1DA9B82A-C3DC-3578-BD50-6F3509BA7F1A}"/>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757639" y="2673852"/>
              <a:ext cx="557784" cy="402336"/>
            </a:xfrm>
            <a:prstGeom prst="rect">
              <a:avLst/>
            </a:prstGeom>
          </p:spPr>
        </p:pic>
        <p:sp>
          <p:nvSpPr>
            <p:cNvPr id="19" name="TextBox 18">
              <a:extLst>
                <a:ext uri="{FF2B5EF4-FFF2-40B4-BE49-F238E27FC236}">
                  <a16:creationId xmlns:a16="http://schemas.microsoft.com/office/drawing/2014/main" id="{E487BCFE-6296-27F8-6A3C-A171E394B258}"/>
                </a:ext>
              </a:extLst>
            </p:cNvPr>
            <p:cNvSpPr txBox="1"/>
            <p:nvPr/>
          </p:nvSpPr>
          <p:spPr>
            <a:xfrm>
              <a:off x="5815362" y="3141592"/>
              <a:ext cx="437876" cy="184666"/>
            </a:xfrm>
            <a:prstGeom prst="rect">
              <a:avLst/>
            </a:prstGeom>
            <a:noFill/>
          </p:spPr>
          <p:txBody>
            <a:bodyPr wrap="square" lIns="0" tIns="0" rIns="0" bIns="0" rtlCol="0" anchor="ctr">
              <a:spAutoFit/>
            </a:bodyPr>
            <a:lstStyle/>
            <a:p>
              <a:pPr algn="ctr"/>
              <a:r>
                <a:rPr lang="en-US" sz="1200" dirty="0">
                  <a:latin typeface="+mj-lt"/>
                </a:rPr>
                <a:t>Group</a:t>
              </a:r>
            </a:p>
          </p:txBody>
        </p:sp>
        <p:pic>
          <p:nvPicPr>
            <p:cNvPr id="20" name="Picture 19">
              <a:extLst>
                <a:ext uri="{FF2B5EF4-FFF2-40B4-BE49-F238E27FC236}">
                  <a16:creationId xmlns:a16="http://schemas.microsoft.com/office/drawing/2014/main" id="{8D3491F7-893F-009E-8FA5-52FB520A6DFE}"/>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930946" y="2687739"/>
              <a:ext cx="560832" cy="376428"/>
            </a:xfrm>
            <a:prstGeom prst="rect">
              <a:avLst/>
            </a:prstGeom>
          </p:spPr>
        </p:pic>
        <p:sp>
          <p:nvSpPr>
            <p:cNvPr id="21" name="TextBox 20">
              <a:extLst>
                <a:ext uri="{FF2B5EF4-FFF2-40B4-BE49-F238E27FC236}">
                  <a16:creationId xmlns:a16="http://schemas.microsoft.com/office/drawing/2014/main" id="{2506C4F6-15E4-C7C1-027E-54F3775E8595}"/>
                </a:ext>
              </a:extLst>
            </p:cNvPr>
            <p:cNvSpPr txBox="1"/>
            <p:nvPr/>
          </p:nvSpPr>
          <p:spPr>
            <a:xfrm>
              <a:off x="6637382" y="3141592"/>
              <a:ext cx="1147302" cy="184666"/>
            </a:xfrm>
            <a:prstGeom prst="rect">
              <a:avLst/>
            </a:prstGeom>
            <a:noFill/>
          </p:spPr>
          <p:txBody>
            <a:bodyPr wrap="square" lIns="0" tIns="0" rIns="0" bIns="0" rtlCol="0" anchor="ctr">
              <a:spAutoFit/>
            </a:bodyPr>
            <a:lstStyle/>
            <a:p>
              <a:pPr algn="ctr"/>
              <a:r>
                <a:rPr lang="en-US" sz="1200" dirty="0">
                  <a:latin typeface="+mj-lt"/>
                </a:rPr>
                <a:t>Service principal</a:t>
              </a:r>
            </a:p>
          </p:txBody>
        </p:sp>
        <p:cxnSp>
          <p:nvCxnSpPr>
            <p:cNvPr id="22" name="Straight Arrow Connector 21" descr="Arrow pointing from Service principal to Role assignment">
              <a:extLst>
                <a:ext uri="{FF2B5EF4-FFF2-40B4-BE49-F238E27FC236}">
                  <a16:creationId xmlns:a16="http://schemas.microsoft.com/office/drawing/2014/main" id="{94248E4F-7EEB-C97E-E7B9-BFBB19CC6DBA}"/>
                </a:ext>
              </a:extLst>
            </p:cNvPr>
            <p:cNvCxnSpPr>
              <a:cxnSpLocks/>
            </p:cNvCxnSpPr>
            <p:nvPr/>
          </p:nvCxnSpPr>
          <p:spPr>
            <a:xfrm>
              <a:off x="6209454" y="3424238"/>
              <a:ext cx="0" cy="274451"/>
            </a:xfrm>
            <a:prstGeom prst="straightConnector1">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590F8C6-1B33-A733-A5A5-5092B47AE200}"/>
                </a:ext>
              </a:extLst>
            </p:cNvPr>
            <p:cNvSpPr/>
            <p:nvPr/>
          </p:nvSpPr>
          <p:spPr>
            <a:xfrm>
              <a:off x="4503613" y="3744409"/>
              <a:ext cx="3420446" cy="346172"/>
            </a:xfrm>
            <a:prstGeom prst="rect">
              <a:avLst/>
            </a:prstGeom>
            <a:solidFill>
              <a:srgbClr val="243A5E"/>
            </a:solidFill>
            <a:ln w="19050">
              <a:solidFill>
                <a:srgbClr val="243A5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bg1"/>
                  </a:solidFill>
                  <a:latin typeface="+mj-lt"/>
                </a:rPr>
                <a:t>Role assignment</a:t>
              </a:r>
            </a:p>
          </p:txBody>
        </p:sp>
        <p:sp>
          <p:nvSpPr>
            <p:cNvPr id="24" name="Rectangle 23">
              <a:extLst>
                <a:ext uri="{FF2B5EF4-FFF2-40B4-BE49-F238E27FC236}">
                  <a16:creationId xmlns:a16="http://schemas.microsoft.com/office/drawing/2014/main" id="{5025B113-69ED-5FB2-FB58-44DE3ECE8BFF}"/>
                </a:ext>
                <a:ext uri="{C183D7F6-B498-43B3-948B-1728B52AA6E4}">
                  <adec:decorative xmlns:adec="http://schemas.microsoft.com/office/drawing/2017/decorative" val="1"/>
                </a:ext>
              </a:extLst>
            </p:cNvPr>
            <p:cNvSpPr/>
            <p:nvPr/>
          </p:nvSpPr>
          <p:spPr>
            <a:xfrm>
              <a:off x="4508489" y="4076830"/>
              <a:ext cx="3410695" cy="2096125"/>
            </a:xfrm>
            <a:prstGeom prst="rect">
              <a:avLst/>
            </a:prstGeom>
            <a:noFill/>
            <a:ln w="19050">
              <a:solidFill>
                <a:srgbClr val="00188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IN" sz="1428" dirty="0"/>
            </a:p>
          </p:txBody>
        </p:sp>
        <p:sp>
          <p:nvSpPr>
            <p:cNvPr id="25" name="TextBox 24">
              <a:extLst>
                <a:ext uri="{FF2B5EF4-FFF2-40B4-BE49-F238E27FC236}">
                  <a16:creationId xmlns:a16="http://schemas.microsoft.com/office/drawing/2014/main" id="{F38EFC17-5A44-1828-F87D-FF85F2F21459}"/>
                </a:ext>
              </a:extLst>
            </p:cNvPr>
            <p:cNvSpPr txBox="1"/>
            <p:nvPr/>
          </p:nvSpPr>
          <p:spPr>
            <a:xfrm>
              <a:off x="4620152" y="5886016"/>
              <a:ext cx="1912669" cy="276999"/>
            </a:xfrm>
            <a:prstGeom prst="rect">
              <a:avLst/>
            </a:prstGeom>
            <a:noFill/>
          </p:spPr>
          <p:txBody>
            <a:bodyPr wrap="square" rtlCol="0" anchor="ctr">
              <a:noAutofit/>
            </a:bodyPr>
            <a:lstStyle/>
            <a:p>
              <a:pPr algn="ctr"/>
              <a:r>
                <a:rPr lang="en-US" sz="1200" dirty="0">
                  <a:latin typeface="+mj-lt"/>
                  <a:cs typeface="Segoe UI" panose="020B0502040204020203" pitchFamily="34" charset="0"/>
                </a:rPr>
                <a:t>Contributor</a:t>
              </a:r>
            </a:p>
          </p:txBody>
        </p:sp>
        <p:sp>
          <p:nvSpPr>
            <p:cNvPr id="26" name="Rectangle: Rounded Corners 40">
              <a:extLst>
                <a:ext uri="{FF2B5EF4-FFF2-40B4-BE49-F238E27FC236}">
                  <a16:creationId xmlns:a16="http://schemas.microsoft.com/office/drawing/2014/main" id="{164D91E9-E888-274E-D8DA-11D8B8F971DF}"/>
                </a:ext>
              </a:extLst>
            </p:cNvPr>
            <p:cNvSpPr/>
            <p:nvPr/>
          </p:nvSpPr>
          <p:spPr>
            <a:xfrm>
              <a:off x="4621952" y="4169480"/>
              <a:ext cx="1909069" cy="1733236"/>
            </a:xfrm>
            <a:prstGeom prst="roundRect">
              <a:avLst>
                <a:gd name="adj" fmla="val 0"/>
              </a:avLst>
            </a:prstGeom>
            <a:solidFill>
              <a:schemeClr val="bg1"/>
            </a:solidFill>
            <a:ln w="19050">
              <a:solidFill>
                <a:srgbClr val="00188E"/>
              </a:solidFill>
            </a:ln>
          </p:spPr>
          <p:style>
            <a:lnRef idx="2">
              <a:schemeClr val="dk1"/>
            </a:lnRef>
            <a:fillRef idx="1">
              <a:schemeClr val="lt1"/>
            </a:fillRef>
            <a:effectRef idx="0">
              <a:schemeClr val="dk1"/>
            </a:effectRef>
            <a:fontRef idx="minor">
              <a:schemeClr val="dk1"/>
            </a:fontRef>
          </p:style>
          <p:txBody>
            <a:bodyPr rIns="0" rtlCol="0" anchor="ctr">
              <a:noAutofit/>
            </a:bodyPr>
            <a:lstStyle/>
            <a:p>
              <a:r>
                <a:rPr lang="en-US" sz="1400" dirty="0">
                  <a:latin typeface="Consolas" panose="020B0609020204030204" pitchFamily="49" charset="0"/>
                </a:rPr>
                <a:t>"Actions": [</a:t>
              </a:r>
            </a:p>
            <a:p>
              <a:r>
                <a:rPr lang="en-US" sz="1400" dirty="0">
                  <a:latin typeface="Consolas" panose="020B0609020204030204" pitchFamily="49" charset="0"/>
                </a:rPr>
                <a:t> "*"</a:t>
              </a:r>
            </a:p>
            <a:p>
              <a:r>
                <a:rPr lang="en-US" sz="1400" dirty="0">
                  <a:latin typeface="Consolas" panose="020B0609020204030204" pitchFamily="49" charset="0"/>
                </a:rPr>
                <a:t>],</a:t>
              </a:r>
            </a:p>
            <a:p>
              <a:r>
                <a:rPr lang="en-US" sz="1400" dirty="0">
                  <a:latin typeface="Consolas" panose="020B0609020204030204" pitchFamily="49" charset="0"/>
                </a:rPr>
                <a:t>"NotActions": [</a:t>
              </a:r>
            </a:p>
            <a:p>
              <a:r>
                <a:rPr lang="en-US" sz="1400" dirty="0">
                  <a:latin typeface="Consolas" panose="020B0609020204030204" pitchFamily="49" charset="0"/>
                </a:rPr>
                <a:t> "Auth/*/Delete",</a:t>
              </a:r>
            </a:p>
            <a:p>
              <a:r>
                <a:rPr lang="en-US" sz="1400" dirty="0">
                  <a:latin typeface="Consolas" panose="020B0609020204030204" pitchFamily="49" charset="0"/>
                </a:rPr>
                <a:t> "Auth/*/Write",</a:t>
              </a:r>
            </a:p>
            <a:p>
              <a:r>
                <a:rPr lang="en-US" sz="1400" dirty="0">
                  <a:latin typeface="Consolas" panose="020B0609020204030204" pitchFamily="49" charset="0"/>
                </a:rPr>
                <a:t> "Auth/elevate"</a:t>
              </a:r>
            </a:p>
            <a:p>
              <a:r>
                <a:rPr lang="en-US" sz="1400" dirty="0">
                  <a:latin typeface="Consolas" panose="020B0609020204030204" pitchFamily="49" charset="0"/>
                </a:rPr>
                <a:t>]</a:t>
              </a:r>
            </a:p>
          </p:txBody>
        </p:sp>
        <p:pic>
          <p:nvPicPr>
            <p:cNvPr id="27" name="Picture 26">
              <a:extLst>
                <a:ext uri="{FF2B5EF4-FFF2-40B4-BE49-F238E27FC236}">
                  <a16:creationId xmlns:a16="http://schemas.microsoft.com/office/drawing/2014/main" id="{E7396D10-D6B2-6DB1-4128-E8A4283280DE}"/>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919579" y="4185004"/>
              <a:ext cx="557784" cy="402336"/>
            </a:xfrm>
            <a:prstGeom prst="rect">
              <a:avLst/>
            </a:prstGeom>
          </p:spPr>
        </p:pic>
        <p:sp>
          <p:nvSpPr>
            <p:cNvPr id="28" name="TextBox 27">
              <a:extLst>
                <a:ext uri="{FF2B5EF4-FFF2-40B4-BE49-F238E27FC236}">
                  <a16:creationId xmlns:a16="http://schemas.microsoft.com/office/drawing/2014/main" id="{CD27B7BB-0432-F6AC-9CCE-543E4B713F4E}"/>
                </a:ext>
              </a:extLst>
            </p:cNvPr>
            <p:cNvSpPr txBox="1"/>
            <p:nvPr/>
          </p:nvSpPr>
          <p:spPr>
            <a:xfrm>
              <a:off x="6512133" y="4598009"/>
              <a:ext cx="1460325" cy="276999"/>
            </a:xfrm>
            <a:prstGeom prst="rect">
              <a:avLst/>
            </a:prstGeom>
            <a:noFill/>
          </p:spPr>
          <p:txBody>
            <a:bodyPr wrap="square" rtlCol="0" anchor="ctr">
              <a:noAutofit/>
            </a:bodyPr>
            <a:lstStyle/>
            <a:p>
              <a:pPr algn="ctr"/>
              <a:r>
                <a:rPr lang="en-US" sz="1200" dirty="0">
                  <a:latin typeface="+mj-lt"/>
                  <a:cs typeface="Segoe UI" panose="020B0502040204020203" pitchFamily="34" charset="0"/>
                </a:rPr>
                <a:t>Marketing group</a:t>
              </a:r>
            </a:p>
          </p:txBody>
        </p:sp>
        <p:pic>
          <p:nvPicPr>
            <p:cNvPr id="29" name="Graphic 28">
              <a:extLst>
                <a:ext uri="{FF2B5EF4-FFF2-40B4-BE49-F238E27FC236}">
                  <a16:creationId xmlns:a16="http://schemas.microsoft.com/office/drawing/2014/main" id="{6419DAD5-E344-5414-EC9D-BA85A57247D7}"/>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49458" y="4954565"/>
              <a:ext cx="566295" cy="566295"/>
            </a:xfrm>
            <a:prstGeom prst="rect">
              <a:avLst/>
            </a:prstGeom>
          </p:spPr>
        </p:pic>
        <p:sp>
          <p:nvSpPr>
            <p:cNvPr id="30" name="TextBox 29">
              <a:extLst>
                <a:ext uri="{FF2B5EF4-FFF2-40B4-BE49-F238E27FC236}">
                  <a16:creationId xmlns:a16="http://schemas.microsoft.com/office/drawing/2014/main" id="{EBB76EDD-8AF4-9013-920B-23A0BD3D7BE1}"/>
                </a:ext>
              </a:extLst>
            </p:cNvPr>
            <p:cNvSpPr txBox="1"/>
            <p:nvPr/>
          </p:nvSpPr>
          <p:spPr>
            <a:xfrm>
              <a:off x="6440608" y="5520860"/>
              <a:ext cx="1575665" cy="461665"/>
            </a:xfrm>
            <a:prstGeom prst="rect">
              <a:avLst/>
            </a:prstGeom>
            <a:noFill/>
          </p:spPr>
          <p:txBody>
            <a:bodyPr wrap="square" rtlCol="0" anchor="ctr">
              <a:noAutofit/>
            </a:bodyPr>
            <a:lstStyle/>
            <a:p>
              <a:pPr algn="ctr"/>
              <a:r>
                <a:rPr lang="en-US" sz="1200" dirty="0">
                  <a:latin typeface="+mj-lt"/>
                  <a:cs typeface="Segoe UI" panose="020B0502040204020203" pitchFamily="34" charset="0"/>
                </a:rPr>
                <a:t>Pharma-sales</a:t>
              </a:r>
              <a:br>
                <a:rPr lang="en-US" sz="1200" dirty="0">
                  <a:latin typeface="Segoe UI" panose="020B0502040204020203" pitchFamily="34" charset="0"/>
                  <a:cs typeface="Segoe UI" panose="020B0502040204020203" pitchFamily="34" charset="0"/>
                </a:rPr>
              </a:br>
              <a:r>
                <a:rPr lang="en-US" sz="1200" dirty="0">
                  <a:cs typeface="Segoe UI" panose="020B0502040204020203" pitchFamily="34" charset="0"/>
                </a:rPr>
                <a:t>Resource group</a:t>
              </a:r>
            </a:p>
          </p:txBody>
        </p:sp>
        <p:sp>
          <p:nvSpPr>
            <p:cNvPr id="31" name="Oval 30">
              <a:extLst>
                <a:ext uri="{FF2B5EF4-FFF2-40B4-BE49-F238E27FC236}">
                  <a16:creationId xmlns:a16="http://schemas.microsoft.com/office/drawing/2014/main" id="{446B84E4-2A41-CEF1-2E47-B13438AB7156}"/>
                </a:ext>
              </a:extLst>
            </p:cNvPr>
            <p:cNvSpPr/>
            <p:nvPr/>
          </p:nvSpPr>
          <p:spPr>
            <a:xfrm>
              <a:off x="541613" y="3711071"/>
              <a:ext cx="365760" cy="3657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IN" sz="1600" dirty="0">
                  <a:solidFill>
                    <a:schemeClr val="bg1"/>
                  </a:solidFill>
                  <a:latin typeface="+mj-lt"/>
                </a:rPr>
                <a:t>2</a:t>
              </a:r>
            </a:p>
          </p:txBody>
        </p:sp>
        <p:sp>
          <p:nvSpPr>
            <p:cNvPr id="32" name="Rectangle 31">
              <a:extLst>
                <a:ext uri="{FF2B5EF4-FFF2-40B4-BE49-F238E27FC236}">
                  <a16:creationId xmlns:a16="http://schemas.microsoft.com/office/drawing/2014/main" id="{BC167E38-3DCB-3FAF-79A3-574437156A15}"/>
                </a:ext>
              </a:extLst>
            </p:cNvPr>
            <p:cNvSpPr/>
            <p:nvPr/>
          </p:nvSpPr>
          <p:spPr>
            <a:xfrm>
              <a:off x="936287" y="3764785"/>
              <a:ext cx="3013598" cy="323635"/>
            </a:xfrm>
            <a:prstGeom prst="rect">
              <a:avLst/>
            </a:prstGeom>
            <a:solidFill>
              <a:schemeClr val="tx2">
                <a:lumMod val="5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bg1"/>
                  </a:solidFill>
                  <a:latin typeface="+mj-lt"/>
                </a:rPr>
                <a:t>Role definition</a:t>
              </a:r>
            </a:p>
          </p:txBody>
        </p:sp>
        <p:sp>
          <p:nvSpPr>
            <p:cNvPr id="33" name="Rectangle: Rounded Corners 12">
              <a:extLst>
                <a:ext uri="{FF2B5EF4-FFF2-40B4-BE49-F238E27FC236}">
                  <a16:creationId xmlns:a16="http://schemas.microsoft.com/office/drawing/2014/main" id="{D0D6904A-E6E6-6CA0-09BD-8A552C714B62}"/>
                </a:ext>
                <a:ext uri="{C183D7F6-B498-43B3-948B-1728B52AA6E4}">
                  <adec:decorative xmlns:adec="http://schemas.microsoft.com/office/drawing/2017/decorative" val="1"/>
                </a:ext>
              </a:extLst>
            </p:cNvPr>
            <p:cNvSpPr/>
            <p:nvPr/>
          </p:nvSpPr>
          <p:spPr>
            <a:xfrm>
              <a:off x="929260" y="4088420"/>
              <a:ext cx="3020626" cy="2204460"/>
            </a:xfrm>
            <a:prstGeom prst="roundRect">
              <a:avLst>
                <a:gd name="adj" fmla="val 0"/>
              </a:avLst>
            </a:prstGeom>
            <a:solidFill>
              <a:srgbClr val="E6E6E6"/>
            </a:solidFill>
            <a:ln w="19050">
              <a:solidFill>
                <a:schemeClr val="accent2">
                  <a:lumMod val="75000"/>
                </a:schemeClr>
              </a:solidFill>
              <a:prstDash val="dash"/>
            </a:ln>
          </p:spPr>
          <p:style>
            <a:lnRef idx="2">
              <a:schemeClr val="dk1"/>
            </a:lnRef>
            <a:fillRef idx="1">
              <a:schemeClr val="lt1"/>
            </a:fillRef>
            <a:effectRef idx="0">
              <a:schemeClr val="dk1"/>
            </a:effectRef>
            <a:fontRef idx="minor">
              <a:schemeClr val="dk1"/>
            </a:fontRef>
          </p:style>
          <p:txBody>
            <a:bodyPr rtlCol="0" anchor="ctr">
              <a:noAutofit/>
            </a:bodyPr>
            <a:lstStyle/>
            <a:p>
              <a:pPr algn="ctr"/>
              <a:endParaRPr lang="en-US" sz="1530" dirty="0"/>
            </a:p>
          </p:txBody>
        </p:sp>
        <p:sp>
          <p:nvSpPr>
            <p:cNvPr id="34" name="Rectangle: Rounded Corners 37">
              <a:extLst>
                <a:ext uri="{FF2B5EF4-FFF2-40B4-BE49-F238E27FC236}">
                  <a16:creationId xmlns:a16="http://schemas.microsoft.com/office/drawing/2014/main" id="{358A4F04-E81B-48D7-9163-A8BF7835DF32}"/>
                </a:ext>
              </a:extLst>
            </p:cNvPr>
            <p:cNvSpPr/>
            <p:nvPr/>
          </p:nvSpPr>
          <p:spPr>
            <a:xfrm>
              <a:off x="1062470" y="4090008"/>
              <a:ext cx="2754205" cy="1678862"/>
            </a:xfrm>
            <a:prstGeom prst="roundRect">
              <a:avLst>
                <a:gd name="adj" fmla="val 0"/>
              </a:avLst>
            </a:prstGeom>
            <a:ln w="19050">
              <a:solidFill>
                <a:srgbClr val="00188F"/>
              </a:solidFill>
            </a:ln>
          </p:spPr>
          <p:style>
            <a:lnRef idx="2">
              <a:schemeClr val="dk1"/>
            </a:lnRef>
            <a:fillRef idx="1">
              <a:schemeClr val="lt1"/>
            </a:fillRef>
            <a:effectRef idx="0">
              <a:schemeClr val="dk1"/>
            </a:effectRef>
            <a:fontRef idx="minor">
              <a:schemeClr val="dk1"/>
            </a:fontRef>
          </p:style>
          <p:txBody>
            <a:bodyPr rtlCol="0" anchor="ctr">
              <a:noAutofit/>
            </a:bodyPr>
            <a:lstStyle/>
            <a:p>
              <a:r>
                <a:rPr lang="en-US" sz="1400" dirty="0">
                  <a:latin typeface="Consolas" panose="020B0609020204030204" pitchFamily="49" charset="0"/>
                </a:rPr>
                <a:t>Owner</a:t>
              </a:r>
            </a:p>
            <a:p>
              <a:r>
                <a:rPr lang="en-US" sz="1400" dirty="0">
                  <a:latin typeface="Consolas" panose="020B0609020204030204" pitchFamily="49" charset="0"/>
                </a:rPr>
                <a:t>Contributor</a:t>
              </a:r>
            </a:p>
            <a:p>
              <a:r>
                <a:rPr lang="en-US" sz="1400" dirty="0">
                  <a:latin typeface="Consolas" panose="020B0609020204030204" pitchFamily="49" charset="0"/>
                </a:rPr>
                <a:t>Reader</a:t>
              </a:r>
            </a:p>
            <a:p>
              <a:r>
                <a:rPr lang="en-US" sz="1400" dirty="0">
                  <a:latin typeface="Consolas" panose="020B0609020204030204" pitchFamily="49" charset="0"/>
                </a:rPr>
                <a:t>…</a:t>
              </a:r>
            </a:p>
            <a:p>
              <a:r>
                <a:rPr lang="en-US" sz="1400" dirty="0">
                  <a:latin typeface="Consolas" panose="020B0609020204030204" pitchFamily="49" charset="0"/>
                </a:rPr>
                <a:t>Backup Operator</a:t>
              </a:r>
            </a:p>
            <a:p>
              <a:r>
                <a:rPr lang="en-US" sz="1400" dirty="0">
                  <a:latin typeface="Consolas" panose="020B0609020204030204" pitchFamily="49" charset="0"/>
                </a:rPr>
                <a:t>Security Reader</a:t>
              </a:r>
            </a:p>
            <a:p>
              <a:r>
                <a:rPr lang="en-US" sz="1400" dirty="0">
                  <a:latin typeface="Consolas" panose="020B0609020204030204" pitchFamily="49" charset="0"/>
                </a:rPr>
                <a:t>Contributor</a:t>
              </a:r>
            </a:p>
          </p:txBody>
        </p:sp>
        <p:sp>
          <p:nvSpPr>
            <p:cNvPr id="35" name="Rectangle: Rounded Corners 38">
              <a:extLst>
                <a:ext uri="{FF2B5EF4-FFF2-40B4-BE49-F238E27FC236}">
                  <a16:creationId xmlns:a16="http://schemas.microsoft.com/office/drawing/2014/main" id="{63E72A8E-C7F0-14FC-C7F8-3E85ABBB40D6}"/>
                </a:ext>
              </a:extLst>
            </p:cNvPr>
            <p:cNvSpPr/>
            <p:nvPr/>
          </p:nvSpPr>
          <p:spPr>
            <a:xfrm>
              <a:off x="1062470" y="5704597"/>
              <a:ext cx="2754204" cy="543293"/>
            </a:xfrm>
            <a:prstGeom prst="roundRect">
              <a:avLst>
                <a:gd name="adj" fmla="val 0"/>
              </a:avLst>
            </a:prstGeom>
            <a:ln w="19050">
              <a:solidFill>
                <a:srgbClr val="00188F"/>
              </a:solidFill>
            </a:ln>
          </p:spPr>
          <p:style>
            <a:lnRef idx="2">
              <a:schemeClr val="dk1"/>
            </a:lnRef>
            <a:fillRef idx="1">
              <a:schemeClr val="lt1"/>
            </a:fillRef>
            <a:effectRef idx="0">
              <a:schemeClr val="dk1"/>
            </a:effectRef>
            <a:fontRef idx="minor">
              <a:schemeClr val="dk1"/>
            </a:fontRef>
          </p:style>
          <p:txBody>
            <a:bodyPr rtlCol="0" anchor="ctr">
              <a:noAutofit/>
            </a:bodyPr>
            <a:lstStyle/>
            <a:p>
              <a:r>
                <a:rPr lang="en-US" sz="1400" dirty="0">
                  <a:latin typeface="Consolas" panose="020B0609020204030204" pitchFamily="49" charset="0"/>
                </a:rPr>
                <a:t>Reader Support Tickets</a:t>
              </a:r>
            </a:p>
            <a:p>
              <a:r>
                <a:rPr lang="en-US" sz="1400" dirty="0">
                  <a:latin typeface="Consolas" panose="020B0609020204030204" pitchFamily="49" charset="0"/>
                </a:rPr>
                <a:t>Virtual Machine Operator</a:t>
              </a:r>
            </a:p>
          </p:txBody>
        </p:sp>
        <p:cxnSp>
          <p:nvCxnSpPr>
            <p:cNvPr id="36" name="Elbow Connector 35" descr="Arrow pointing from Role definition to Role assignment">
              <a:extLst>
                <a:ext uri="{FF2B5EF4-FFF2-40B4-BE49-F238E27FC236}">
                  <a16:creationId xmlns:a16="http://schemas.microsoft.com/office/drawing/2014/main" id="{972F65DB-0DB7-57AF-E36D-E269CF25FDFF}"/>
                </a:ext>
              </a:extLst>
            </p:cNvPr>
            <p:cNvCxnSpPr>
              <a:cxnSpLocks/>
            </p:cNvCxnSpPr>
            <p:nvPr/>
          </p:nvCxnSpPr>
          <p:spPr>
            <a:xfrm flipV="1">
              <a:off x="3949919" y="3917495"/>
              <a:ext cx="553694" cy="1181473"/>
            </a:xfrm>
            <a:prstGeom prst="bentConnector3">
              <a:avLst>
                <a:gd name="adj1" fmla="val 50000"/>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Elbow Connector 135" descr="Arrow pointing from Scope to Role assignment">
              <a:extLst>
                <a:ext uri="{FF2B5EF4-FFF2-40B4-BE49-F238E27FC236}">
                  <a16:creationId xmlns:a16="http://schemas.microsoft.com/office/drawing/2014/main" id="{432A7297-FCE7-EC59-768C-DC5731FB626A}"/>
                </a:ext>
              </a:extLst>
            </p:cNvPr>
            <p:cNvCxnSpPr>
              <a:cxnSpLocks/>
              <a:stCxn id="40" idx="1"/>
              <a:endCxn id="23" idx="3"/>
            </p:cNvCxnSpPr>
            <p:nvPr/>
          </p:nvCxnSpPr>
          <p:spPr>
            <a:xfrm rot="10800000">
              <a:off x="7924060" y="3917495"/>
              <a:ext cx="737341" cy="1214200"/>
            </a:xfrm>
            <a:prstGeom prst="bentConnector3">
              <a:avLst>
                <a:gd name="adj1" fmla="val 50000"/>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B00E3897-0C3A-43F0-BB21-AF66EF26CFCC}"/>
                </a:ext>
              </a:extLst>
            </p:cNvPr>
            <p:cNvSpPr/>
            <p:nvPr/>
          </p:nvSpPr>
          <p:spPr bwMode="auto">
            <a:xfrm>
              <a:off x="8250335" y="3734615"/>
              <a:ext cx="365760" cy="3657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bg1"/>
                  </a:solidFill>
                  <a:latin typeface="+mj-lt"/>
                  <a:ea typeface="Segoe UI" pitchFamily="34" charset="0"/>
                  <a:cs typeface="Segoe UI" pitchFamily="34" charset="0"/>
                </a:rPr>
                <a:t>3</a:t>
              </a:r>
              <a:endParaRPr lang="en-IN" sz="1600" dirty="0">
                <a:solidFill>
                  <a:schemeClr val="bg1"/>
                </a:solidFill>
                <a:latin typeface="+mj-lt"/>
                <a:ea typeface="Segoe UI" pitchFamily="34" charset="0"/>
                <a:cs typeface="Segoe UI" pitchFamily="34" charset="0"/>
              </a:endParaRPr>
            </a:p>
          </p:txBody>
        </p:sp>
        <p:sp>
          <p:nvSpPr>
            <p:cNvPr id="39" name="Rectangle 38">
              <a:extLst>
                <a:ext uri="{FF2B5EF4-FFF2-40B4-BE49-F238E27FC236}">
                  <a16:creationId xmlns:a16="http://schemas.microsoft.com/office/drawing/2014/main" id="{0BE2EF51-E860-0ED4-AD7B-6C4B375AE5B6}"/>
                </a:ext>
              </a:extLst>
            </p:cNvPr>
            <p:cNvSpPr/>
            <p:nvPr/>
          </p:nvSpPr>
          <p:spPr bwMode="auto">
            <a:xfrm>
              <a:off x="8661400" y="3764132"/>
              <a:ext cx="3159602" cy="338328"/>
            </a:xfrm>
            <a:prstGeom prst="rect">
              <a:avLst/>
            </a:prstGeom>
            <a:solidFill>
              <a:schemeClr val="tx2">
                <a:lumMod val="50000"/>
              </a:schemeClr>
            </a:solidFill>
            <a:ln w="190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fontAlgn="base">
                <a:spcBef>
                  <a:spcPct val="0"/>
                </a:spcBef>
                <a:spcAft>
                  <a:spcPct val="0"/>
                </a:spcAft>
              </a:pPr>
              <a:r>
                <a:rPr lang="en-US" sz="1400" dirty="0">
                  <a:solidFill>
                    <a:schemeClr val="bg1"/>
                  </a:solidFill>
                  <a:latin typeface="+mj-lt"/>
                </a:rPr>
                <a:t>Scope</a:t>
              </a:r>
              <a:endParaRPr lang="en-IN" sz="1400" dirty="0">
                <a:solidFill>
                  <a:schemeClr val="bg1"/>
                </a:solidFill>
                <a:latin typeface="+mj-lt"/>
              </a:endParaRPr>
            </a:p>
          </p:txBody>
        </p:sp>
        <p:sp>
          <p:nvSpPr>
            <p:cNvPr id="40" name="Rectangle 39">
              <a:extLst>
                <a:ext uri="{FF2B5EF4-FFF2-40B4-BE49-F238E27FC236}">
                  <a16:creationId xmlns:a16="http://schemas.microsoft.com/office/drawing/2014/main" id="{72B1060C-0C0C-3C03-0C5B-73D8C521ED51}"/>
                </a:ext>
                <a:ext uri="{C183D7F6-B498-43B3-948B-1728B52AA6E4}">
                  <adec:decorative xmlns:adec="http://schemas.microsoft.com/office/drawing/2017/decorative" val="1"/>
                </a:ext>
              </a:extLst>
            </p:cNvPr>
            <p:cNvSpPr/>
            <p:nvPr/>
          </p:nvSpPr>
          <p:spPr bwMode="auto">
            <a:xfrm>
              <a:off x="8661400" y="4100375"/>
              <a:ext cx="3159602" cy="2062640"/>
            </a:xfrm>
            <a:prstGeom prst="rect">
              <a:avLst/>
            </a:prstGeom>
            <a:noFill/>
            <a:ln w="19050">
              <a:solidFill>
                <a:schemeClr val="accent2">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1" name="Graphic 40">
              <a:extLst>
                <a:ext uri="{FF2B5EF4-FFF2-40B4-BE49-F238E27FC236}">
                  <a16:creationId xmlns:a16="http://schemas.microsoft.com/office/drawing/2014/main" id="{83E0CF34-52BB-CADF-8398-286CBE16473E}"/>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10894" y="4136498"/>
              <a:ext cx="431354" cy="431355"/>
            </a:xfrm>
            <a:prstGeom prst="rect">
              <a:avLst/>
            </a:prstGeom>
          </p:spPr>
        </p:pic>
        <p:sp>
          <p:nvSpPr>
            <p:cNvPr id="42" name="TextBox 41">
              <a:extLst>
                <a:ext uri="{FF2B5EF4-FFF2-40B4-BE49-F238E27FC236}">
                  <a16:creationId xmlns:a16="http://schemas.microsoft.com/office/drawing/2014/main" id="{9B92B6D0-93EB-7FDF-0CDD-52E06B01E3AA}"/>
                </a:ext>
              </a:extLst>
            </p:cNvPr>
            <p:cNvSpPr txBox="1"/>
            <p:nvPr/>
          </p:nvSpPr>
          <p:spPr>
            <a:xfrm>
              <a:off x="9365332" y="4237502"/>
              <a:ext cx="1460325" cy="184666"/>
            </a:xfrm>
            <a:prstGeom prst="rect">
              <a:avLst/>
            </a:prstGeom>
            <a:noFill/>
          </p:spPr>
          <p:txBody>
            <a:bodyPr wrap="square" lIns="0" tIns="0" rIns="0" bIns="0" rtlCol="0" anchor="ctr">
              <a:noAutofit/>
            </a:bodyPr>
            <a:lstStyle/>
            <a:p>
              <a:pPr algn="ctr"/>
              <a:r>
                <a:rPr lang="en-US" sz="1200" dirty="0">
                  <a:latin typeface="+mj-lt"/>
                  <a:cs typeface="Segoe UI" panose="020B0502040204020203" pitchFamily="34" charset="0"/>
                </a:rPr>
                <a:t>Management group</a:t>
              </a:r>
            </a:p>
          </p:txBody>
        </p:sp>
        <p:sp>
          <p:nvSpPr>
            <p:cNvPr id="43" name="Rectangle 12" descr="Arrow pointing down">
              <a:extLst>
                <a:ext uri="{FF2B5EF4-FFF2-40B4-BE49-F238E27FC236}">
                  <a16:creationId xmlns:a16="http://schemas.microsoft.com/office/drawing/2014/main" id="{F6225DCD-E5C6-D428-F8E9-1D5BA40EFFB4}"/>
                </a:ext>
              </a:extLst>
            </p:cNvPr>
            <p:cNvSpPr/>
            <p:nvPr/>
          </p:nvSpPr>
          <p:spPr bwMode="auto">
            <a:xfrm>
              <a:off x="9026572" y="4538179"/>
              <a:ext cx="362099" cy="203060"/>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4" name="Picture 43">
              <a:extLst>
                <a:ext uri="{FF2B5EF4-FFF2-40B4-BE49-F238E27FC236}">
                  <a16:creationId xmlns:a16="http://schemas.microsoft.com/office/drawing/2014/main" id="{5B7CA961-1202-2CD0-983F-53722B79C7C5}"/>
                </a:ext>
                <a:ext uri="{C183D7F6-B498-43B3-948B-1728B52AA6E4}">
                  <adec:decorative xmlns:adec="http://schemas.microsoft.com/office/drawing/2017/decorative" val="1"/>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431254" y="4668156"/>
              <a:ext cx="269974" cy="269974"/>
            </a:xfrm>
            <a:prstGeom prst="rect">
              <a:avLst/>
            </a:prstGeom>
          </p:spPr>
        </p:pic>
        <p:sp>
          <p:nvSpPr>
            <p:cNvPr id="45" name="TextBox 44">
              <a:extLst>
                <a:ext uri="{FF2B5EF4-FFF2-40B4-BE49-F238E27FC236}">
                  <a16:creationId xmlns:a16="http://schemas.microsoft.com/office/drawing/2014/main" id="{218ADBD6-E71E-878D-EB58-DAFF9FF4B58A}"/>
                </a:ext>
              </a:extLst>
            </p:cNvPr>
            <p:cNvSpPr txBox="1"/>
            <p:nvPr/>
          </p:nvSpPr>
          <p:spPr>
            <a:xfrm>
              <a:off x="9701228" y="4668156"/>
              <a:ext cx="962935" cy="184666"/>
            </a:xfrm>
            <a:prstGeom prst="rect">
              <a:avLst/>
            </a:prstGeom>
            <a:noFill/>
          </p:spPr>
          <p:txBody>
            <a:bodyPr wrap="square" lIns="0" tIns="0" rIns="0" bIns="0" rtlCol="0" anchor="ctr">
              <a:noAutofit/>
            </a:bodyPr>
            <a:lstStyle/>
            <a:p>
              <a:pPr algn="ctr"/>
              <a:r>
                <a:rPr lang="en-US" sz="1200" dirty="0">
                  <a:latin typeface="+mj-lt"/>
                  <a:cs typeface="Segoe UI" panose="020B0502040204020203" pitchFamily="34" charset="0"/>
                </a:rPr>
                <a:t>Subscription</a:t>
              </a:r>
            </a:p>
          </p:txBody>
        </p:sp>
        <p:sp>
          <p:nvSpPr>
            <p:cNvPr id="46" name="Rectangle 12" descr="Arrow pointing down">
              <a:extLst>
                <a:ext uri="{FF2B5EF4-FFF2-40B4-BE49-F238E27FC236}">
                  <a16:creationId xmlns:a16="http://schemas.microsoft.com/office/drawing/2014/main" id="{EA64AA83-9AA9-C75E-E466-6D11FDFE0973}"/>
                </a:ext>
              </a:extLst>
            </p:cNvPr>
            <p:cNvSpPr/>
            <p:nvPr/>
          </p:nvSpPr>
          <p:spPr bwMode="auto">
            <a:xfrm>
              <a:off x="9523703" y="5028793"/>
              <a:ext cx="200718" cy="232292"/>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7" name="Graphic 46">
              <a:extLst>
                <a:ext uri="{FF2B5EF4-FFF2-40B4-BE49-F238E27FC236}">
                  <a16:creationId xmlns:a16="http://schemas.microsoft.com/office/drawing/2014/main" id="{53276ECA-31F0-B89F-FC9E-A5F788BA1939}"/>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75071" y="5028793"/>
              <a:ext cx="362099" cy="362099"/>
            </a:xfrm>
            <a:prstGeom prst="rect">
              <a:avLst/>
            </a:prstGeom>
          </p:spPr>
        </p:pic>
        <p:sp>
          <p:nvSpPr>
            <p:cNvPr id="48" name="TextBox 47">
              <a:extLst>
                <a:ext uri="{FF2B5EF4-FFF2-40B4-BE49-F238E27FC236}">
                  <a16:creationId xmlns:a16="http://schemas.microsoft.com/office/drawing/2014/main" id="{02ACB99E-E7FB-4731-44B0-965AB75C1571}"/>
                </a:ext>
              </a:extLst>
            </p:cNvPr>
            <p:cNvSpPr txBox="1"/>
            <p:nvPr/>
          </p:nvSpPr>
          <p:spPr>
            <a:xfrm>
              <a:off x="10187820" y="5098810"/>
              <a:ext cx="1157063" cy="184666"/>
            </a:xfrm>
            <a:prstGeom prst="rect">
              <a:avLst/>
            </a:prstGeom>
            <a:noFill/>
          </p:spPr>
          <p:txBody>
            <a:bodyPr wrap="square" lIns="0" tIns="0" rIns="0" bIns="0" rtlCol="0" anchor="ctr">
              <a:noAutofit/>
            </a:bodyPr>
            <a:lstStyle/>
            <a:p>
              <a:pPr algn="ctr"/>
              <a:r>
                <a:rPr lang="en-US" sz="1200" dirty="0">
                  <a:latin typeface="+mj-lt"/>
                  <a:cs typeface="Segoe UI" panose="020B0502040204020203" pitchFamily="34" charset="0"/>
                </a:rPr>
                <a:t>Resource group</a:t>
              </a:r>
            </a:p>
          </p:txBody>
        </p:sp>
        <p:sp>
          <p:nvSpPr>
            <p:cNvPr id="49" name="Rectangle 12" descr="Arrow pointing down">
              <a:extLst>
                <a:ext uri="{FF2B5EF4-FFF2-40B4-BE49-F238E27FC236}">
                  <a16:creationId xmlns:a16="http://schemas.microsoft.com/office/drawing/2014/main" id="{0F06AB5E-3563-130F-624D-AEDDD7A5B545}"/>
                </a:ext>
              </a:extLst>
            </p:cNvPr>
            <p:cNvSpPr/>
            <p:nvPr/>
          </p:nvSpPr>
          <p:spPr bwMode="auto">
            <a:xfrm>
              <a:off x="9950423" y="5413997"/>
              <a:ext cx="261769" cy="309196"/>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0" name="Graphic 49">
              <a:extLst>
                <a:ext uri="{FF2B5EF4-FFF2-40B4-BE49-F238E27FC236}">
                  <a16:creationId xmlns:a16="http://schemas.microsoft.com/office/drawing/2014/main" id="{5880CD60-1EF9-DD87-5CA6-03103F61318B}"/>
                </a:ext>
                <a:ext uri="{C183D7F6-B498-43B3-948B-1728B52AA6E4}">
                  <adec:decorative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0219451" y="5517681"/>
              <a:ext cx="359072" cy="359072"/>
            </a:xfrm>
            <a:prstGeom prst="rect">
              <a:avLst/>
            </a:prstGeom>
          </p:spPr>
        </p:pic>
        <p:pic>
          <p:nvPicPr>
            <p:cNvPr id="51" name="Picture 50">
              <a:extLst>
                <a:ext uri="{FF2B5EF4-FFF2-40B4-BE49-F238E27FC236}">
                  <a16:creationId xmlns:a16="http://schemas.microsoft.com/office/drawing/2014/main" id="{C33A38C5-95CE-C921-0277-71BD4635C8A5}"/>
                </a:ext>
                <a:ext uri="{C183D7F6-B498-43B3-948B-1728B52AA6E4}">
                  <adec:decorative xmlns:adec="http://schemas.microsoft.com/office/drawing/2017/decorative" val="1"/>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0800640" y="5526942"/>
              <a:ext cx="264129" cy="340551"/>
            </a:xfrm>
            <a:prstGeom prst="rect">
              <a:avLst/>
            </a:prstGeom>
          </p:spPr>
        </p:pic>
        <p:pic>
          <p:nvPicPr>
            <p:cNvPr id="52" name="Graphic 51">
              <a:extLst>
                <a:ext uri="{FF2B5EF4-FFF2-40B4-BE49-F238E27FC236}">
                  <a16:creationId xmlns:a16="http://schemas.microsoft.com/office/drawing/2014/main" id="{319EB467-E2A2-293D-A2AC-5F4BA430C254}"/>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273159" y="5521884"/>
              <a:ext cx="350668" cy="350667"/>
            </a:xfrm>
            <a:prstGeom prst="rect">
              <a:avLst/>
            </a:prstGeom>
          </p:spPr>
        </p:pic>
        <p:sp>
          <p:nvSpPr>
            <p:cNvPr id="53" name="TextBox 52">
              <a:extLst>
                <a:ext uri="{FF2B5EF4-FFF2-40B4-BE49-F238E27FC236}">
                  <a16:creationId xmlns:a16="http://schemas.microsoft.com/office/drawing/2014/main" id="{4734531C-F899-EDB4-73E4-AE2D5198A426}"/>
                </a:ext>
              </a:extLst>
            </p:cNvPr>
            <p:cNvSpPr txBox="1"/>
            <p:nvPr/>
          </p:nvSpPr>
          <p:spPr>
            <a:xfrm>
              <a:off x="10610631" y="5918910"/>
              <a:ext cx="642812" cy="184666"/>
            </a:xfrm>
            <a:prstGeom prst="rect">
              <a:avLst/>
            </a:prstGeom>
            <a:noFill/>
          </p:spPr>
          <p:txBody>
            <a:bodyPr wrap="square" lIns="0" tIns="0" rIns="0" bIns="0" rtlCol="0" anchor="ctr">
              <a:noAutofit/>
            </a:bodyPr>
            <a:lstStyle/>
            <a:p>
              <a:pPr algn="ctr"/>
              <a:r>
                <a:rPr lang="en-US" sz="1200" dirty="0">
                  <a:latin typeface="+mj-lt"/>
                  <a:cs typeface="Segoe UI" panose="020B0502040204020203" pitchFamily="34" charset="0"/>
                </a:rPr>
                <a:t>Resource</a:t>
              </a:r>
            </a:p>
          </p:txBody>
        </p:sp>
      </p:grpSp>
    </p:spTree>
    <p:extLst>
      <p:ext uri="{BB962C8B-B14F-4D97-AF65-F5344CB8AC3E}">
        <p14:creationId xmlns:p14="http://schemas.microsoft.com/office/powerpoint/2010/main" val="2491253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9A84B64-C349-3DF2-4725-3BC7B2BD8D53}"/>
              </a:ext>
            </a:extLst>
          </p:cNvPr>
          <p:cNvSpPr txBox="1">
            <a:spLocks/>
          </p:cNvSpPr>
          <p:nvPr/>
        </p:nvSpPr>
        <p:spPr>
          <a:xfrm>
            <a:off x="0" y="551651"/>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Apply RBAC Authentication</a:t>
            </a:r>
            <a:endParaRPr lang="en-US" dirty="0"/>
          </a:p>
        </p:txBody>
      </p:sp>
      <p:grpSp>
        <p:nvGrpSpPr>
          <p:cNvPr id="11" name="Group 10">
            <a:extLst>
              <a:ext uri="{FF2B5EF4-FFF2-40B4-BE49-F238E27FC236}">
                <a16:creationId xmlns:a16="http://schemas.microsoft.com/office/drawing/2014/main" id="{FE9859AA-A434-11EC-F755-3F1B37D87489}"/>
              </a:ext>
              <a:ext uri="{C183D7F6-B498-43B3-948B-1728B52AA6E4}">
                <adec:decorative xmlns:adec="http://schemas.microsoft.com/office/drawing/2017/decorative" val="1"/>
              </a:ext>
            </a:extLst>
          </p:cNvPr>
          <p:cNvGrpSpPr/>
          <p:nvPr/>
        </p:nvGrpSpPr>
        <p:grpSpPr>
          <a:xfrm>
            <a:off x="894484" y="1567501"/>
            <a:ext cx="10625282" cy="4343211"/>
            <a:chOff x="908136" y="2020506"/>
            <a:chExt cx="10625282" cy="4343211"/>
          </a:xfrm>
        </p:grpSpPr>
        <p:sp>
          <p:nvSpPr>
            <p:cNvPr id="12" name="Rectangle: Rounded Corners 11">
              <a:extLst>
                <a:ext uri="{FF2B5EF4-FFF2-40B4-BE49-F238E27FC236}">
                  <a16:creationId xmlns:a16="http://schemas.microsoft.com/office/drawing/2014/main" id="{7DC5C64E-E449-4C1D-BD7F-1D57FCB5F511}"/>
                </a:ext>
                <a:ext uri="{C183D7F6-B498-43B3-948B-1728B52AA6E4}">
                  <adec:decorative xmlns:adec="http://schemas.microsoft.com/office/drawing/2017/decorative" val="1"/>
                </a:ext>
              </a:extLst>
            </p:cNvPr>
            <p:cNvSpPr/>
            <p:nvPr/>
          </p:nvSpPr>
          <p:spPr bwMode="auto">
            <a:xfrm>
              <a:off x="908136" y="2020506"/>
              <a:ext cx="3705065" cy="1456740"/>
            </a:xfrm>
            <a:prstGeom prst="roundRect">
              <a:avLst>
                <a:gd name="adj" fmla="val 5225"/>
              </a:avLst>
            </a:prstGeom>
            <a:solidFill>
              <a:schemeClr val="bg1">
                <a:lumMod val="95000"/>
              </a:schemeClr>
            </a:solidFill>
            <a:ln w="19050">
              <a:solidFill>
                <a:srgbClr val="107C0F"/>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noAutofit/>
            </a:bodyPr>
            <a:lstStyle/>
            <a:p>
              <a:pPr defTabSz="951028" fontAlgn="base">
                <a:spcBef>
                  <a:spcPct val="0"/>
                </a:spcBef>
                <a:spcAft>
                  <a:spcPct val="0"/>
                </a:spcAft>
              </a:pPr>
              <a:endParaRPr lang="en-US" sz="1836" dirty="0">
                <a:solidFill>
                  <a:schemeClr val="tx1"/>
                </a:solidFill>
                <a:latin typeface="Consolas" panose="020B0609020204030204" pitchFamily="49" charset="0"/>
              </a:endParaRPr>
            </a:p>
          </p:txBody>
        </p:sp>
        <p:pic>
          <p:nvPicPr>
            <p:cNvPr id="13" name="Picture 12">
              <a:extLst>
                <a:ext uri="{FF2B5EF4-FFF2-40B4-BE49-F238E27FC236}">
                  <a16:creationId xmlns:a16="http://schemas.microsoft.com/office/drawing/2014/main" id="{94E40C31-13CC-0F1B-CC0D-D6595E39A679}"/>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85101" y="2150460"/>
              <a:ext cx="298704" cy="373380"/>
            </a:xfrm>
            <a:prstGeom prst="rect">
              <a:avLst/>
            </a:prstGeom>
          </p:spPr>
        </p:pic>
        <p:sp>
          <p:nvSpPr>
            <p:cNvPr id="14" name="TextBox 13">
              <a:extLst>
                <a:ext uri="{FF2B5EF4-FFF2-40B4-BE49-F238E27FC236}">
                  <a16:creationId xmlns:a16="http://schemas.microsoft.com/office/drawing/2014/main" id="{F9270AB8-1675-FB9C-5C5F-A3CCCC2118A3}"/>
                </a:ext>
              </a:extLst>
            </p:cNvPr>
            <p:cNvSpPr txBox="1"/>
            <p:nvPr/>
          </p:nvSpPr>
          <p:spPr>
            <a:xfrm>
              <a:off x="1622010" y="2146529"/>
              <a:ext cx="977832" cy="430887"/>
            </a:xfrm>
            <a:prstGeom prst="rect">
              <a:avLst/>
            </a:prstGeom>
            <a:noFill/>
          </p:spPr>
          <p:txBody>
            <a:bodyPr wrap="square" lIns="0" tIns="0" rIns="0" bIns="0" rtlCol="0">
              <a:spAutoFit/>
            </a:bodyPr>
            <a:lstStyle/>
            <a:p>
              <a:pPr algn="l"/>
              <a:r>
                <a:rPr lang="en-IN" sz="1400" dirty="0">
                  <a:latin typeface="+mj-lt"/>
                </a:rPr>
                <a:t>Entra ID</a:t>
              </a:r>
            </a:p>
            <a:p>
              <a:pPr algn="l"/>
              <a:r>
                <a:rPr lang="en-IN" sz="1400" dirty="0">
                  <a:latin typeface="+mj-lt"/>
                </a:rPr>
                <a:t>Admin roles</a:t>
              </a:r>
              <a:endParaRPr lang="en-US" sz="1400" dirty="0">
                <a:latin typeface="+mj-lt"/>
              </a:endParaRPr>
            </a:p>
          </p:txBody>
        </p:sp>
        <p:sp>
          <p:nvSpPr>
            <p:cNvPr id="15" name="TextBox 14">
              <a:extLst>
                <a:ext uri="{FF2B5EF4-FFF2-40B4-BE49-F238E27FC236}">
                  <a16:creationId xmlns:a16="http://schemas.microsoft.com/office/drawing/2014/main" id="{57E5A08E-B672-3445-C18C-8735C821FC7C}"/>
                </a:ext>
              </a:extLst>
            </p:cNvPr>
            <p:cNvSpPr txBox="1"/>
            <p:nvPr/>
          </p:nvSpPr>
          <p:spPr>
            <a:xfrm>
              <a:off x="1055631" y="2610643"/>
              <a:ext cx="1787635" cy="846386"/>
            </a:xfrm>
            <a:prstGeom prst="rect">
              <a:avLst/>
            </a:prstGeom>
            <a:noFill/>
          </p:spPr>
          <p:txBody>
            <a:bodyPr wrap="square" lIns="0" tIns="0" rIns="0" bIns="0" rtlCol="0">
              <a:spAutoFit/>
            </a:bodyPr>
            <a:lstStyle/>
            <a:p>
              <a:r>
                <a:rPr lang="en-IN" sz="1100" dirty="0"/>
                <a:t>Global admin</a:t>
              </a:r>
            </a:p>
            <a:p>
              <a:r>
                <a:rPr lang="en-IN" sz="1100" dirty="0"/>
                <a:t>Application admin</a:t>
              </a:r>
            </a:p>
            <a:p>
              <a:r>
                <a:rPr lang="en-IN" sz="1100" dirty="0"/>
                <a:t>Application developer</a:t>
              </a:r>
            </a:p>
            <a:p>
              <a:r>
                <a:rPr lang="en-IN" sz="1100" dirty="0"/>
                <a:t>Billing admin</a:t>
              </a:r>
              <a:br>
                <a:rPr lang="en-IN" sz="1100" dirty="0"/>
              </a:br>
              <a:r>
                <a:rPr lang="en-IN" sz="1100" dirty="0"/>
                <a:t>…</a:t>
              </a:r>
              <a:endParaRPr lang="en-US" sz="1100" dirty="0"/>
            </a:p>
          </p:txBody>
        </p:sp>
        <p:pic>
          <p:nvPicPr>
            <p:cNvPr id="16" name="Graphic 15">
              <a:extLst>
                <a:ext uri="{FF2B5EF4-FFF2-40B4-BE49-F238E27FC236}">
                  <a16:creationId xmlns:a16="http://schemas.microsoft.com/office/drawing/2014/main" id="{945CC89F-B379-7D27-941F-9DF26CD0887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01372" y="2207565"/>
              <a:ext cx="462749" cy="462749"/>
            </a:xfrm>
            <a:prstGeom prst="rect">
              <a:avLst/>
            </a:prstGeom>
          </p:spPr>
        </p:pic>
        <p:sp>
          <p:nvSpPr>
            <p:cNvPr id="17" name="TextBox 16">
              <a:extLst>
                <a:ext uri="{FF2B5EF4-FFF2-40B4-BE49-F238E27FC236}">
                  <a16:creationId xmlns:a16="http://schemas.microsoft.com/office/drawing/2014/main" id="{C04F3C35-5D86-1E28-1853-ABA1438D9BD9}"/>
                </a:ext>
              </a:extLst>
            </p:cNvPr>
            <p:cNvSpPr txBox="1"/>
            <p:nvPr/>
          </p:nvSpPr>
          <p:spPr>
            <a:xfrm>
              <a:off x="3167751" y="2225209"/>
              <a:ext cx="1318601" cy="215444"/>
            </a:xfrm>
            <a:prstGeom prst="rect">
              <a:avLst/>
            </a:prstGeom>
            <a:noFill/>
          </p:spPr>
          <p:txBody>
            <a:bodyPr wrap="square" lIns="0" tIns="0" rIns="0" bIns="0" rtlCol="0">
              <a:spAutoFit/>
            </a:bodyPr>
            <a:lstStyle/>
            <a:p>
              <a:pPr algn="l"/>
              <a:r>
                <a:rPr lang="en-IN" sz="1400" dirty="0">
                  <a:latin typeface="+mj-lt"/>
                </a:rPr>
                <a:t>Tenant</a:t>
              </a:r>
              <a:endParaRPr lang="en-US" sz="1400" dirty="0">
                <a:latin typeface="+mj-lt"/>
              </a:endParaRPr>
            </a:p>
          </p:txBody>
        </p:sp>
        <p:cxnSp>
          <p:nvCxnSpPr>
            <p:cNvPr id="18" name="Connector: Elbow 17" descr="Line connector pointing down">
              <a:extLst>
                <a:ext uri="{FF2B5EF4-FFF2-40B4-BE49-F238E27FC236}">
                  <a16:creationId xmlns:a16="http://schemas.microsoft.com/office/drawing/2014/main" id="{955B1DB5-C178-8B58-C95A-1FF9C9BB8EEE}"/>
                </a:ext>
              </a:extLst>
            </p:cNvPr>
            <p:cNvCxnSpPr>
              <a:cxnSpLocks/>
              <a:stCxn id="16" idx="2"/>
              <a:endCxn id="19" idx="0"/>
            </p:cNvCxnSpPr>
            <p:nvPr/>
          </p:nvCxnSpPr>
          <p:spPr>
            <a:xfrm rot="16200000" flipH="1">
              <a:off x="2487261" y="3015799"/>
              <a:ext cx="995727" cy="304755"/>
            </a:xfrm>
            <a:prstGeom prst="bentConnector3">
              <a:avLst>
                <a:gd name="adj1" fmla="val 50000"/>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D49238E-1425-BDD1-F9CD-D9B4D6036E7F}"/>
                </a:ext>
              </a:extLst>
            </p:cNvPr>
            <p:cNvSpPr txBox="1"/>
            <p:nvPr/>
          </p:nvSpPr>
          <p:spPr>
            <a:xfrm>
              <a:off x="2880652" y="3666041"/>
              <a:ext cx="513700" cy="219740"/>
            </a:xfrm>
            <a:prstGeom prst="rect">
              <a:avLst/>
            </a:prstGeom>
            <a:noFill/>
          </p:spPr>
          <p:txBody>
            <a:bodyPr wrap="square" lIns="0" tIns="0" rIns="0" bIns="0" rtlCol="0">
              <a:spAutoFit/>
            </a:bodyPr>
            <a:lstStyle/>
            <a:p>
              <a:pPr algn="l"/>
              <a:r>
                <a:rPr lang="en-IN" sz="1428" dirty="0">
                  <a:latin typeface="+mj-lt"/>
                </a:rPr>
                <a:t>Root</a:t>
              </a:r>
              <a:endParaRPr lang="en-US" sz="1428" dirty="0">
                <a:latin typeface="+mj-lt"/>
              </a:endParaRPr>
            </a:p>
          </p:txBody>
        </p:sp>
        <p:cxnSp>
          <p:nvCxnSpPr>
            <p:cNvPr id="20" name="Straight Connector 19">
              <a:extLst>
                <a:ext uri="{FF2B5EF4-FFF2-40B4-BE49-F238E27FC236}">
                  <a16:creationId xmlns:a16="http://schemas.microsoft.com/office/drawing/2014/main" id="{52469107-9AFC-8887-4DB7-3AC36F5B4C5F}"/>
                </a:ext>
                <a:ext uri="{C183D7F6-B498-43B3-948B-1728B52AA6E4}">
                  <adec:decorative xmlns:adec="http://schemas.microsoft.com/office/drawing/2017/decorative" val="1"/>
                </a:ext>
              </a:extLst>
            </p:cNvPr>
            <p:cNvCxnSpPr>
              <a:cxnSpLocks/>
            </p:cNvCxnSpPr>
            <p:nvPr/>
          </p:nvCxnSpPr>
          <p:spPr>
            <a:xfrm flipH="1">
              <a:off x="2683154" y="3609637"/>
              <a:ext cx="153394" cy="271390"/>
            </a:xfrm>
            <a:prstGeom prst="line">
              <a:avLst/>
            </a:prstGeom>
            <a:ln w="571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descr="Line connector">
              <a:extLst>
                <a:ext uri="{FF2B5EF4-FFF2-40B4-BE49-F238E27FC236}">
                  <a16:creationId xmlns:a16="http://schemas.microsoft.com/office/drawing/2014/main" id="{547A4B90-6ACB-D86C-B2AA-6B69CD35698F}"/>
                </a:ext>
              </a:extLst>
            </p:cNvPr>
            <p:cNvCxnSpPr>
              <a:cxnSpLocks/>
            </p:cNvCxnSpPr>
            <p:nvPr/>
          </p:nvCxnSpPr>
          <p:spPr>
            <a:xfrm flipV="1">
              <a:off x="3394353" y="3725038"/>
              <a:ext cx="1537436" cy="0"/>
            </a:xfrm>
            <a:prstGeom prst="line">
              <a:avLst/>
            </a:prstGeom>
            <a:ln w="28575">
              <a:solidFill>
                <a:srgbClr val="243A5E"/>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C2D7AACF-E297-1FD5-209E-B2D672138644}"/>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014386" y="3367632"/>
              <a:ext cx="298704" cy="373380"/>
            </a:xfrm>
            <a:prstGeom prst="rect">
              <a:avLst/>
            </a:prstGeom>
          </p:spPr>
        </p:pic>
        <p:sp>
          <p:nvSpPr>
            <p:cNvPr id="23" name="TextBox 22">
              <a:extLst>
                <a:ext uri="{FF2B5EF4-FFF2-40B4-BE49-F238E27FC236}">
                  <a16:creationId xmlns:a16="http://schemas.microsoft.com/office/drawing/2014/main" id="{FB496190-F9A9-0639-B279-EE7D7D42D5CB}"/>
                </a:ext>
              </a:extLst>
            </p:cNvPr>
            <p:cNvSpPr txBox="1"/>
            <p:nvPr/>
          </p:nvSpPr>
          <p:spPr>
            <a:xfrm>
              <a:off x="5538652" y="3186041"/>
              <a:ext cx="1474947" cy="553998"/>
            </a:xfrm>
            <a:prstGeom prst="rect">
              <a:avLst/>
            </a:prstGeom>
            <a:noFill/>
          </p:spPr>
          <p:txBody>
            <a:bodyPr wrap="square" lIns="0" tIns="0" rIns="0" bIns="0" rtlCol="0">
              <a:spAutoFit/>
            </a:bodyPr>
            <a:lstStyle/>
            <a:p>
              <a:pPr algn="l"/>
              <a:r>
                <a:rPr lang="en-IN" sz="1200" dirty="0">
                  <a:latin typeface="+mj-lt"/>
                </a:rPr>
                <a:t>Global admin/User access admin (elevated access)</a:t>
              </a:r>
              <a:endParaRPr lang="en-US" sz="1200" dirty="0">
                <a:latin typeface="+mj-lt"/>
              </a:endParaRPr>
            </a:p>
          </p:txBody>
        </p:sp>
        <p:sp>
          <p:nvSpPr>
            <p:cNvPr id="24" name="Rectangle: Rounded Corners 23">
              <a:extLst>
                <a:ext uri="{FF2B5EF4-FFF2-40B4-BE49-F238E27FC236}">
                  <a16:creationId xmlns:a16="http://schemas.microsoft.com/office/drawing/2014/main" id="{E425A70E-430C-BBC2-8DD7-D27DB0A5314A}"/>
                </a:ext>
                <a:ext uri="{C183D7F6-B498-43B3-948B-1728B52AA6E4}">
                  <adec:decorative xmlns:adec="http://schemas.microsoft.com/office/drawing/2017/decorative" val="1"/>
                </a:ext>
              </a:extLst>
            </p:cNvPr>
            <p:cNvSpPr/>
            <p:nvPr/>
          </p:nvSpPr>
          <p:spPr bwMode="auto">
            <a:xfrm>
              <a:off x="908136" y="3989685"/>
              <a:ext cx="6430765" cy="1576085"/>
            </a:xfrm>
            <a:prstGeom prst="roundRect">
              <a:avLst>
                <a:gd name="adj" fmla="val 3976"/>
              </a:avLst>
            </a:prstGeom>
            <a:solidFill>
              <a:schemeClr val="bg1">
                <a:lumMod val="95000"/>
              </a:schemeClr>
            </a:solidFill>
            <a:ln w="19050">
              <a:solidFill>
                <a:srgbClr val="0178D4"/>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noAutofit/>
            </a:bodyPr>
            <a:lstStyle/>
            <a:p>
              <a:pPr defTabSz="951028" fontAlgn="base">
                <a:spcBef>
                  <a:spcPct val="0"/>
                </a:spcBef>
                <a:spcAft>
                  <a:spcPct val="0"/>
                </a:spcAft>
              </a:pPr>
              <a:endParaRPr lang="en-US" sz="1836" dirty="0">
                <a:solidFill>
                  <a:schemeClr val="tx1"/>
                </a:solidFill>
                <a:latin typeface="Consolas" panose="020B0609020204030204" pitchFamily="49" charset="0"/>
              </a:endParaRPr>
            </a:p>
          </p:txBody>
        </p:sp>
        <p:pic>
          <p:nvPicPr>
            <p:cNvPr id="25" name="Picture 24">
              <a:extLst>
                <a:ext uri="{FF2B5EF4-FFF2-40B4-BE49-F238E27FC236}">
                  <a16:creationId xmlns:a16="http://schemas.microsoft.com/office/drawing/2014/main" id="{78B341C6-AF00-BDEC-64DE-8F9AC77DD91A}"/>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137357" y="4131702"/>
              <a:ext cx="298704" cy="373380"/>
            </a:xfrm>
            <a:prstGeom prst="rect">
              <a:avLst/>
            </a:prstGeom>
          </p:spPr>
        </p:pic>
        <p:sp>
          <p:nvSpPr>
            <p:cNvPr id="26" name="TextBox 25">
              <a:extLst>
                <a:ext uri="{FF2B5EF4-FFF2-40B4-BE49-F238E27FC236}">
                  <a16:creationId xmlns:a16="http://schemas.microsoft.com/office/drawing/2014/main" id="{FFC79760-01FB-D3DB-B19B-DA2F0E3A4228}"/>
                </a:ext>
              </a:extLst>
            </p:cNvPr>
            <p:cNvSpPr txBox="1"/>
            <p:nvPr/>
          </p:nvSpPr>
          <p:spPr>
            <a:xfrm>
              <a:off x="1674267" y="4158251"/>
              <a:ext cx="968855" cy="430887"/>
            </a:xfrm>
            <a:prstGeom prst="rect">
              <a:avLst/>
            </a:prstGeom>
            <a:noFill/>
          </p:spPr>
          <p:txBody>
            <a:bodyPr wrap="square" lIns="0" tIns="0" rIns="0" bIns="0" rtlCol="0">
              <a:spAutoFit/>
            </a:bodyPr>
            <a:lstStyle/>
            <a:p>
              <a:pPr algn="l"/>
              <a:r>
                <a:rPr lang="en-IN" sz="1400" dirty="0">
                  <a:latin typeface="+mj-lt"/>
                </a:rPr>
                <a:t>Azure RBAC</a:t>
              </a:r>
            </a:p>
            <a:p>
              <a:pPr algn="l"/>
              <a:r>
                <a:rPr lang="en-IN" sz="1400" dirty="0">
                  <a:latin typeface="+mj-lt"/>
                </a:rPr>
                <a:t>roles</a:t>
              </a:r>
              <a:endParaRPr lang="en-US" sz="1400" dirty="0">
                <a:latin typeface="+mj-lt"/>
              </a:endParaRPr>
            </a:p>
          </p:txBody>
        </p:sp>
        <p:sp>
          <p:nvSpPr>
            <p:cNvPr id="27" name="TextBox 26">
              <a:extLst>
                <a:ext uri="{FF2B5EF4-FFF2-40B4-BE49-F238E27FC236}">
                  <a16:creationId xmlns:a16="http://schemas.microsoft.com/office/drawing/2014/main" id="{9E654AA8-8782-F0C6-2DF8-FD0BB524D10E}"/>
                </a:ext>
              </a:extLst>
            </p:cNvPr>
            <p:cNvSpPr txBox="1"/>
            <p:nvPr/>
          </p:nvSpPr>
          <p:spPr>
            <a:xfrm>
              <a:off x="1107887" y="4591885"/>
              <a:ext cx="1406678" cy="846386"/>
            </a:xfrm>
            <a:prstGeom prst="rect">
              <a:avLst/>
            </a:prstGeom>
            <a:noFill/>
          </p:spPr>
          <p:txBody>
            <a:bodyPr wrap="square" lIns="0" tIns="0" rIns="0" bIns="0" rtlCol="0">
              <a:spAutoFit/>
            </a:bodyPr>
            <a:lstStyle/>
            <a:p>
              <a:r>
                <a:rPr lang="en-IN" sz="1100" dirty="0"/>
                <a:t>Owner</a:t>
              </a:r>
            </a:p>
            <a:p>
              <a:r>
                <a:rPr lang="en-IN" sz="1100" dirty="0"/>
                <a:t>Contributor</a:t>
              </a:r>
            </a:p>
            <a:p>
              <a:r>
                <a:rPr lang="en-IN" sz="1100" dirty="0"/>
                <a:t>Reader</a:t>
              </a:r>
            </a:p>
            <a:p>
              <a:r>
                <a:rPr lang="en-IN" sz="1100" dirty="0"/>
                <a:t>User access admin</a:t>
              </a:r>
            </a:p>
            <a:p>
              <a:r>
                <a:rPr lang="en-IN" sz="1100" dirty="0"/>
                <a:t>…</a:t>
              </a:r>
              <a:endParaRPr lang="en-US" sz="1100" dirty="0"/>
            </a:p>
          </p:txBody>
        </p:sp>
        <p:cxnSp>
          <p:nvCxnSpPr>
            <p:cNvPr id="28" name="Connector: Elbow 27" descr="Line connector pointing down">
              <a:extLst>
                <a:ext uri="{FF2B5EF4-FFF2-40B4-BE49-F238E27FC236}">
                  <a16:creationId xmlns:a16="http://schemas.microsoft.com/office/drawing/2014/main" id="{F2F2B8E5-4BEA-49F8-D29C-EB34A333E856}"/>
                </a:ext>
              </a:extLst>
            </p:cNvPr>
            <p:cNvCxnSpPr>
              <a:cxnSpLocks/>
              <a:stCxn id="19" idx="2"/>
              <a:endCxn id="30" idx="1"/>
            </p:cNvCxnSpPr>
            <p:nvPr/>
          </p:nvCxnSpPr>
          <p:spPr>
            <a:xfrm rot="16200000" flipH="1">
              <a:off x="3036017" y="3987266"/>
              <a:ext cx="459821" cy="256850"/>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0166B97-D399-800F-C812-F9F30CE6447E}"/>
                </a:ext>
              </a:extLst>
            </p:cNvPr>
            <p:cNvSpPr txBox="1"/>
            <p:nvPr/>
          </p:nvSpPr>
          <p:spPr>
            <a:xfrm>
              <a:off x="3973496" y="4145432"/>
              <a:ext cx="2051844" cy="215444"/>
            </a:xfrm>
            <a:prstGeom prst="rect">
              <a:avLst/>
            </a:prstGeom>
            <a:noFill/>
          </p:spPr>
          <p:txBody>
            <a:bodyPr wrap="square" lIns="0" tIns="0" rIns="0" bIns="0" rtlCol="0">
              <a:spAutoFit/>
            </a:bodyPr>
            <a:lstStyle/>
            <a:p>
              <a:pPr algn="l"/>
              <a:r>
                <a:rPr lang="en-IN" sz="1400" dirty="0">
                  <a:latin typeface="+mj-lt"/>
                </a:rPr>
                <a:t>Root management group</a:t>
              </a:r>
              <a:endParaRPr lang="en-US" sz="1400" dirty="0">
                <a:latin typeface="+mj-lt"/>
              </a:endParaRPr>
            </a:p>
          </p:txBody>
        </p:sp>
        <p:pic>
          <p:nvPicPr>
            <p:cNvPr id="30" name="Graphic 29">
              <a:extLst>
                <a:ext uri="{FF2B5EF4-FFF2-40B4-BE49-F238E27FC236}">
                  <a16:creationId xmlns:a16="http://schemas.microsoft.com/office/drawing/2014/main" id="{57A341CD-01AE-3632-B406-B41139EA7B5C}"/>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94352" y="4097748"/>
              <a:ext cx="495705" cy="495707"/>
            </a:xfrm>
            <a:prstGeom prst="rect">
              <a:avLst/>
            </a:prstGeom>
          </p:spPr>
        </p:pic>
        <p:cxnSp>
          <p:nvCxnSpPr>
            <p:cNvPr id="31" name="Connector: Elbow 30" descr="Line connector pointing down">
              <a:extLst>
                <a:ext uri="{FF2B5EF4-FFF2-40B4-BE49-F238E27FC236}">
                  <a16:creationId xmlns:a16="http://schemas.microsoft.com/office/drawing/2014/main" id="{A857BEED-A1ED-9D12-E91B-103ECB6750A9}"/>
                </a:ext>
              </a:extLst>
            </p:cNvPr>
            <p:cNvCxnSpPr>
              <a:cxnSpLocks/>
              <a:stCxn id="30" idx="2"/>
              <a:endCxn id="33" idx="1"/>
            </p:cNvCxnSpPr>
            <p:nvPr/>
          </p:nvCxnSpPr>
          <p:spPr>
            <a:xfrm rot="16200000" flipH="1">
              <a:off x="3540265" y="4695384"/>
              <a:ext cx="369011" cy="165132"/>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088BBB8-95D3-71EC-39AC-57A7A4C4FE31}"/>
                </a:ext>
              </a:extLst>
            </p:cNvPr>
            <p:cNvSpPr txBox="1"/>
            <p:nvPr/>
          </p:nvSpPr>
          <p:spPr>
            <a:xfrm>
              <a:off x="4386481" y="4762287"/>
              <a:ext cx="1123213" cy="430887"/>
            </a:xfrm>
            <a:prstGeom prst="rect">
              <a:avLst/>
            </a:prstGeom>
            <a:noFill/>
          </p:spPr>
          <p:txBody>
            <a:bodyPr wrap="square" lIns="0" tIns="0" rIns="0" bIns="0" rtlCol="0">
              <a:spAutoFit/>
            </a:bodyPr>
            <a:lstStyle/>
            <a:p>
              <a:pPr algn="l"/>
              <a:r>
                <a:rPr lang="en-IN" sz="1400" dirty="0">
                  <a:latin typeface="+mj-lt"/>
                </a:rPr>
                <a:t>Management</a:t>
              </a:r>
              <a:br>
                <a:rPr lang="en-IN" sz="1400" dirty="0">
                  <a:latin typeface="+mj-lt"/>
                </a:rPr>
              </a:br>
              <a:r>
                <a:rPr lang="en-IN" sz="1400" dirty="0">
                  <a:latin typeface="+mj-lt"/>
                </a:rPr>
                <a:t>group</a:t>
              </a:r>
              <a:endParaRPr lang="en-US" sz="1400" dirty="0">
                <a:latin typeface="+mj-lt"/>
              </a:endParaRPr>
            </a:p>
          </p:txBody>
        </p:sp>
        <p:pic>
          <p:nvPicPr>
            <p:cNvPr id="33" name="Graphic 32">
              <a:extLst>
                <a:ext uri="{FF2B5EF4-FFF2-40B4-BE49-F238E27FC236}">
                  <a16:creationId xmlns:a16="http://schemas.microsoft.com/office/drawing/2014/main" id="{BD6FA2DA-447F-69C2-A20D-A0AEE7F368E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807337" y="4714603"/>
              <a:ext cx="495705" cy="495706"/>
            </a:xfrm>
            <a:prstGeom prst="rect">
              <a:avLst/>
            </a:prstGeom>
          </p:spPr>
        </p:pic>
        <p:sp>
          <p:nvSpPr>
            <p:cNvPr id="34" name="Rectangle: Rounded Corners 33">
              <a:extLst>
                <a:ext uri="{FF2B5EF4-FFF2-40B4-BE49-F238E27FC236}">
                  <a16:creationId xmlns:a16="http://schemas.microsoft.com/office/drawing/2014/main" id="{564C6F66-0547-C7F7-81AC-775DB88C3E24}"/>
                </a:ext>
                <a:ext uri="{C183D7F6-B498-43B3-948B-1728B52AA6E4}">
                  <adec:decorative xmlns:adec="http://schemas.microsoft.com/office/drawing/2017/decorative" val="1"/>
                </a:ext>
              </a:extLst>
            </p:cNvPr>
            <p:cNvSpPr/>
            <p:nvPr/>
          </p:nvSpPr>
          <p:spPr bwMode="auto">
            <a:xfrm>
              <a:off x="5675163" y="4551640"/>
              <a:ext cx="4566433" cy="1812077"/>
            </a:xfrm>
            <a:prstGeom prst="roundRect">
              <a:avLst>
                <a:gd name="adj" fmla="val 3631"/>
              </a:avLst>
            </a:prstGeom>
            <a:solidFill>
              <a:schemeClr val="bg1"/>
            </a:solidFill>
            <a:ln w="19050">
              <a:solidFill>
                <a:srgbClr val="B4009F"/>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noAutofit/>
            </a:bodyPr>
            <a:lstStyle/>
            <a:p>
              <a:pPr defTabSz="951028" fontAlgn="base">
                <a:spcBef>
                  <a:spcPct val="0"/>
                </a:spcBef>
                <a:spcAft>
                  <a:spcPct val="0"/>
                </a:spcAft>
              </a:pPr>
              <a:endParaRPr lang="en-US" sz="1836" dirty="0">
                <a:solidFill>
                  <a:schemeClr val="tx1"/>
                </a:solidFill>
                <a:latin typeface="Consolas" panose="020B0609020204030204" pitchFamily="49" charset="0"/>
              </a:endParaRPr>
            </a:p>
          </p:txBody>
        </p:sp>
        <p:cxnSp>
          <p:nvCxnSpPr>
            <p:cNvPr id="35" name="Straight Connector 34" descr="Line connector pointing left">
              <a:extLst>
                <a:ext uri="{FF2B5EF4-FFF2-40B4-BE49-F238E27FC236}">
                  <a16:creationId xmlns:a16="http://schemas.microsoft.com/office/drawing/2014/main" id="{B9CD87B7-85EA-5BF5-89A6-52F016691F65}"/>
                </a:ext>
              </a:extLst>
            </p:cNvPr>
            <p:cNvCxnSpPr>
              <a:cxnSpLocks/>
            </p:cNvCxnSpPr>
            <p:nvPr/>
          </p:nvCxnSpPr>
          <p:spPr>
            <a:xfrm flipV="1">
              <a:off x="5538652" y="4854427"/>
              <a:ext cx="1690682" cy="0"/>
            </a:xfrm>
            <a:prstGeom prst="line">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4AA8A25C-2AEB-5086-6A7E-C5EDA8F9065D}"/>
                </a:ext>
                <a:ext uri="{C183D7F6-B498-43B3-948B-1728B52AA6E4}">
                  <adec:decorative xmlns:adec="http://schemas.microsoft.com/office/drawing/2017/decorative" val="1"/>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7437330" y="4817674"/>
              <a:ext cx="269974" cy="269974"/>
            </a:xfrm>
            <a:prstGeom prst="rect">
              <a:avLst/>
            </a:prstGeom>
          </p:spPr>
        </p:pic>
        <p:sp>
          <p:nvSpPr>
            <p:cNvPr id="37" name="TextBox 36">
              <a:extLst>
                <a:ext uri="{FF2B5EF4-FFF2-40B4-BE49-F238E27FC236}">
                  <a16:creationId xmlns:a16="http://schemas.microsoft.com/office/drawing/2014/main" id="{289D4C55-E7A5-C8D2-4474-22CE34974B56}"/>
                </a:ext>
              </a:extLst>
            </p:cNvPr>
            <p:cNvSpPr txBox="1"/>
            <p:nvPr/>
          </p:nvSpPr>
          <p:spPr>
            <a:xfrm>
              <a:off x="7728920" y="4862370"/>
              <a:ext cx="1013098" cy="215444"/>
            </a:xfrm>
            <a:prstGeom prst="rect">
              <a:avLst/>
            </a:prstGeom>
            <a:noFill/>
          </p:spPr>
          <p:txBody>
            <a:bodyPr wrap="square" lIns="0" tIns="0" rIns="0" bIns="0" rtlCol="0">
              <a:spAutoFit/>
            </a:bodyPr>
            <a:lstStyle/>
            <a:p>
              <a:pPr algn="l"/>
              <a:r>
                <a:rPr lang="en-IN" sz="1400" dirty="0">
                  <a:latin typeface="+mj-lt"/>
                </a:rPr>
                <a:t>Subscription</a:t>
              </a:r>
              <a:endParaRPr lang="en-US" sz="1400" dirty="0">
                <a:latin typeface="+mj-lt"/>
              </a:endParaRPr>
            </a:p>
          </p:txBody>
        </p:sp>
        <p:cxnSp>
          <p:nvCxnSpPr>
            <p:cNvPr id="38" name="Straight Connector 37" descr="Line connector pointing left">
              <a:extLst>
                <a:ext uri="{FF2B5EF4-FFF2-40B4-BE49-F238E27FC236}">
                  <a16:creationId xmlns:a16="http://schemas.microsoft.com/office/drawing/2014/main" id="{A34F4A8F-409C-3714-4E46-CE8D59C12C1F}"/>
                </a:ext>
              </a:extLst>
            </p:cNvPr>
            <p:cNvCxnSpPr>
              <a:cxnSpLocks/>
              <a:stCxn id="37" idx="3"/>
            </p:cNvCxnSpPr>
            <p:nvPr/>
          </p:nvCxnSpPr>
          <p:spPr>
            <a:xfrm flipV="1">
              <a:off x="8742018" y="4962456"/>
              <a:ext cx="1683313" cy="0"/>
            </a:xfrm>
            <a:prstGeom prst="line">
              <a:avLst/>
            </a:prstGeom>
            <a:ln w="28575">
              <a:solidFill>
                <a:srgbClr val="243A5E"/>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9" name="Freeform 38">
              <a:extLst>
                <a:ext uri="{FF2B5EF4-FFF2-40B4-BE49-F238E27FC236}">
                  <a16:creationId xmlns:a16="http://schemas.microsoft.com/office/drawing/2014/main" id="{8150750E-6274-6975-236A-1AB1B9A48EA1}"/>
                </a:ext>
                <a:ext uri="{C183D7F6-B498-43B3-948B-1728B52AA6E4}">
                  <adec:decorative xmlns:adec="http://schemas.microsoft.com/office/drawing/2017/decorative" val="1"/>
                </a:ext>
              </a:extLst>
            </p:cNvPr>
            <p:cNvSpPr>
              <a:spLocks/>
            </p:cNvSpPr>
            <p:nvPr/>
          </p:nvSpPr>
          <p:spPr bwMode="auto">
            <a:xfrm>
              <a:off x="10407065" y="4474206"/>
              <a:ext cx="1033871" cy="679824"/>
            </a:xfrm>
            <a:custGeom>
              <a:avLst/>
              <a:gdLst>
                <a:gd name="T0" fmla="*/ 2242 w 2661"/>
                <a:gd name="T1" fmla="*/ 773 h 1749"/>
                <a:gd name="T2" fmla="*/ 2243 w 2661"/>
                <a:gd name="T3" fmla="*/ 738 h 1749"/>
                <a:gd name="T4" fmla="*/ 1505 w 2661"/>
                <a:gd name="T5" fmla="*/ 0 h 1749"/>
                <a:gd name="T6" fmla="*/ 890 w 2661"/>
                <a:gd name="T7" fmla="*/ 330 h 1749"/>
                <a:gd name="T8" fmla="*/ 677 w 2661"/>
                <a:gd name="T9" fmla="*/ 270 h 1749"/>
                <a:gd name="T10" fmla="*/ 266 w 2661"/>
                <a:gd name="T11" fmla="*/ 681 h 1749"/>
                <a:gd name="T12" fmla="*/ 266 w 2661"/>
                <a:gd name="T13" fmla="*/ 689 h 1749"/>
                <a:gd name="T14" fmla="*/ 0 w 2661"/>
                <a:gd name="T15" fmla="*/ 1174 h 1749"/>
                <a:gd name="T16" fmla="*/ 543 w 2661"/>
                <a:gd name="T17" fmla="*/ 1748 h 1749"/>
                <a:gd name="T18" fmla="*/ 543 w 2661"/>
                <a:gd name="T19" fmla="*/ 1748 h 1749"/>
                <a:gd name="T20" fmla="*/ 544 w 2661"/>
                <a:gd name="T21" fmla="*/ 1748 h 1749"/>
                <a:gd name="T22" fmla="*/ 575 w 2661"/>
                <a:gd name="T23" fmla="*/ 1749 h 1749"/>
                <a:gd name="T24" fmla="*/ 607 w 2661"/>
                <a:gd name="T25" fmla="*/ 1748 h 1749"/>
                <a:gd name="T26" fmla="*/ 2142 w 2661"/>
                <a:gd name="T27" fmla="*/ 1748 h 1749"/>
                <a:gd name="T28" fmla="*/ 2171 w 2661"/>
                <a:gd name="T29" fmla="*/ 1749 h 1749"/>
                <a:gd name="T30" fmla="*/ 2661 w 2661"/>
                <a:gd name="T31" fmla="*/ 1258 h 1749"/>
                <a:gd name="T32" fmla="*/ 2242 w 2661"/>
                <a:gd name="T33" fmla="*/ 773 h 1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61" h="1749">
                  <a:moveTo>
                    <a:pt x="2242" y="773"/>
                  </a:moveTo>
                  <a:cubicBezTo>
                    <a:pt x="2242" y="761"/>
                    <a:pt x="2243" y="749"/>
                    <a:pt x="2243" y="738"/>
                  </a:cubicBezTo>
                  <a:cubicBezTo>
                    <a:pt x="2243" y="330"/>
                    <a:pt x="1912" y="0"/>
                    <a:pt x="1505" y="0"/>
                  </a:cubicBezTo>
                  <a:cubicBezTo>
                    <a:pt x="1248" y="0"/>
                    <a:pt x="1022" y="131"/>
                    <a:pt x="890" y="330"/>
                  </a:cubicBezTo>
                  <a:cubicBezTo>
                    <a:pt x="828" y="292"/>
                    <a:pt x="755" y="270"/>
                    <a:pt x="677" y="270"/>
                  </a:cubicBezTo>
                  <a:cubicBezTo>
                    <a:pt x="450" y="270"/>
                    <a:pt x="266" y="454"/>
                    <a:pt x="266" y="681"/>
                  </a:cubicBezTo>
                  <a:cubicBezTo>
                    <a:pt x="266" y="684"/>
                    <a:pt x="266" y="686"/>
                    <a:pt x="266" y="689"/>
                  </a:cubicBezTo>
                  <a:cubicBezTo>
                    <a:pt x="106" y="791"/>
                    <a:pt x="0" y="970"/>
                    <a:pt x="0" y="1174"/>
                  </a:cubicBezTo>
                  <a:cubicBezTo>
                    <a:pt x="0" y="1481"/>
                    <a:pt x="240" y="1732"/>
                    <a:pt x="543" y="1748"/>
                  </a:cubicBezTo>
                  <a:cubicBezTo>
                    <a:pt x="543" y="1748"/>
                    <a:pt x="543" y="1748"/>
                    <a:pt x="543" y="1748"/>
                  </a:cubicBezTo>
                  <a:cubicBezTo>
                    <a:pt x="544" y="1748"/>
                    <a:pt x="544" y="1748"/>
                    <a:pt x="544" y="1748"/>
                  </a:cubicBezTo>
                  <a:cubicBezTo>
                    <a:pt x="554" y="1749"/>
                    <a:pt x="565" y="1749"/>
                    <a:pt x="575" y="1749"/>
                  </a:cubicBezTo>
                  <a:cubicBezTo>
                    <a:pt x="586" y="1749"/>
                    <a:pt x="596" y="1749"/>
                    <a:pt x="607" y="1748"/>
                  </a:cubicBezTo>
                  <a:cubicBezTo>
                    <a:pt x="2142" y="1748"/>
                    <a:pt x="2142" y="1748"/>
                    <a:pt x="2142" y="1748"/>
                  </a:cubicBezTo>
                  <a:cubicBezTo>
                    <a:pt x="2151" y="1749"/>
                    <a:pt x="2161" y="1749"/>
                    <a:pt x="2171" y="1749"/>
                  </a:cubicBezTo>
                  <a:cubicBezTo>
                    <a:pt x="2442" y="1749"/>
                    <a:pt x="2661" y="1530"/>
                    <a:pt x="2661" y="1258"/>
                  </a:cubicBezTo>
                  <a:cubicBezTo>
                    <a:pt x="2661" y="1011"/>
                    <a:pt x="2479" y="807"/>
                    <a:pt x="2242" y="773"/>
                  </a:cubicBezTo>
                  <a:close/>
                </a:path>
              </a:pathLst>
            </a:custGeom>
            <a:solidFill>
              <a:srgbClr val="FFFFFF"/>
            </a:solidFill>
            <a:ln w="19050">
              <a:solidFill>
                <a:schemeClr val="tx2"/>
              </a:solidFill>
            </a:ln>
          </p:spPr>
          <p:txBody>
            <a:bodyPr vert="horz" wrap="square" lIns="93247" tIns="46623" rIns="93247" bIns="46623" numCol="1" anchor="t" anchorCtr="0" compatLnSpc="1">
              <a:prstTxWarp prst="textNoShape">
                <a:avLst/>
              </a:prstTxWarp>
            </a:bodyPr>
            <a:lstStyle/>
            <a:p>
              <a:pPr defTabSz="932418">
                <a:defRPr/>
              </a:pPr>
              <a:endParaRPr lang="en-US" sz="1836" kern="0" dirty="0"/>
            </a:p>
          </p:txBody>
        </p:sp>
        <p:pic>
          <p:nvPicPr>
            <p:cNvPr id="40" name="Picture 2" descr="Microsoft Azure Icon">
              <a:extLst>
                <a:ext uri="{FF2B5EF4-FFF2-40B4-BE49-F238E27FC236}">
                  <a16:creationId xmlns:a16="http://schemas.microsoft.com/office/drawing/2014/main" id="{26CE5782-D68F-29D6-FBC7-2F12BA8A63B2}"/>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10710665" y="4687909"/>
              <a:ext cx="440972" cy="346898"/>
            </a:xfrm>
            <a:prstGeom prst="rect">
              <a:avLst/>
            </a:prstGeom>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BCB54E06-6496-40C1-4609-6FF821F0AE3F}"/>
                </a:ext>
              </a:extLst>
            </p:cNvPr>
            <p:cNvSpPr txBox="1"/>
            <p:nvPr/>
          </p:nvSpPr>
          <p:spPr>
            <a:xfrm>
              <a:off x="10372844" y="5165092"/>
              <a:ext cx="1160574" cy="215444"/>
            </a:xfrm>
            <a:prstGeom prst="rect">
              <a:avLst/>
            </a:prstGeom>
            <a:noFill/>
          </p:spPr>
          <p:txBody>
            <a:bodyPr wrap="square" lIns="0" tIns="0" rIns="0" bIns="0" rtlCol="0">
              <a:spAutoFit/>
            </a:bodyPr>
            <a:lstStyle/>
            <a:p>
              <a:pPr algn="l"/>
              <a:r>
                <a:rPr lang="en-IN" sz="1400" dirty="0">
                  <a:latin typeface="+mj-lt"/>
                </a:rPr>
                <a:t>Azure account</a:t>
              </a:r>
              <a:endParaRPr lang="en-US" sz="1400" dirty="0">
                <a:latin typeface="+mj-lt"/>
              </a:endParaRPr>
            </a:p>
          </p:txBody>
        </p:sp>
        <p:pic>
          <p:nvPicPr>
            <p:cNvPr id="42" name="Picture 41">
              <a:extLst>
                <a:ext uri="{FF2B5EF4-FFF2-40B4-BE49-F238E27FC236}">
                  <a16:creationId xmlns:a16="http://schemas.microsoft.com/office/drawing/2014/main" id="{4174C7BD-21F7-CDDE-8410-E1525ECA5F45}"/>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870879" y="4952661"/>
              <a:ext cx="298704" cy="373380"/>
            </a:xfrm>
            <a:prstGeom prst="rect">
              <a:avLst/>
            </a:prstGeom>
          </p:spPr>
        </p:pic>
        <p:sp>
          <p:nvSpPr>
            <p:cNvPr id="43" name="TextBox 42">
              <a:extLst>
                <a:ext uri="{FF2B5EF4-FFF2-40B4-BE49-F238E27FC236}">
                  <a16:creationId xmlns:a16="http://schemas.microsoft.com/office/drawing/2014/main" id="{01A63078-1638-59FF-EF3F-A99ABDD4DDC2}"/>
                </a:ext>
              </a:extLst>
            </p:cNvPr>
            <p:cNvSpPr txBox="1"/>
            <p:nvPr/>
          </p:nvSpPr>
          <p:spPr>
            <a:xfrm>
              <a:off x="6407788" y="4979210"/>
              <a:ext cx="968855" cy="430887"/>
            </a:xfrm>
            <a:prstGeom prst="rect">
              <a:avLst/>
            </a:prstGeom>
            <a:noFill/>
          </p:spPr>
          <p:txBody>
            <a:bodyPr wrap="square" lIns="0" tIns="0" rIns="0" bIns="0" rtlCol="0">
              <a:spAutoFit/>
            </a:bodyPr>
            <a:lstStyle/>
            <a:p>
              <a:pPr algn="l"/>
              <a:r>
                <a:rPr lang="en-IN" sz="1400" dirty="0">
                  <a:latin typeface="+mj-lt"/>
                </a:rPr>
                <a:t>Azure RBAC</a:t>
              </a:r>
            </a:p>
            <a:p>
              <a:pPr algn="l"/>
              <a:r>
                <a:rPr lang="en-IN" sz="1400" dirty="0">
                  <a:latin typeface="+mj-lt"/>
                </a:rPr>
                <a:t>roles</a:t>
              </a:r>
              <a:endParaRPr lang="en-US" sz="1400" dirty="0">
                <a:latin typeface="+mj-lt"/>
              </a:endParaRPr>
            </a:p>
          </p:txBody>
        </p:sp>
        <p:sp>
          <p:nvSpPr>
            <p:cNvPr id="44" name="TextBox 43">
              <a:extLst>
                <a:ext uri="{FF2B5EF4-FFF2-40B4-BE49-F238E27FC236}">
                  <a16:creationId xmlns:a16="http://schemas.microsoft.com/office/drawing/2014/main" id="{21395F11-A2BF-7F9B-3498-86E30CFA6697}"/>
                </a:ext>
              </a:extLst>
            </p:cNvPr>
            <p:cNvSpPr txBox="1"/>
            <p:nvPr/>
          </p:nvSpPr>
          <p:spPr>
            <a:xfrm>
              <a:off x="5841409" y="5412844"/>
              <a:ext cx="1406678" cy="846386"/>
            </a:xfrm>
            <a:prstGeom prst="rect">
              <a:avLst/>
            </a:prstGeom>
            <a:noFill/>
          </p:spPr>
          <p:txBody>
            <a:bodyPr wrap="square" lIns="0" tIns="0" rIns="0" bIns="0" rtlCol="0">
              <a:spAutoFit/>
            </a:bodyPr>
            <a:lstStyle/>
            <a:p>
              <a:r>
                <a:rPr lang="en-IN" sz="1100" dirty="0"/>
                <a:t>Owner</a:t>
              </a:r>
            </a:p>
            <a:p>
              <a:r>
                <a:rPr lang="en-IN" sz="1100" dirty="0"/>
                <a:t>Contributor</a:t>
              </a:r>
            </a:p>
            <a:p>
              <a:r>
                <a:rPr lang="en-IN" sz="1100" dirty="0"/>
                <a:t>Reader</a:t>
              </a:r>
            </a:p>
            <a:p>
              <a:r>
                <a:rPr lang="en-IN" sz="1100" dirty="0"/>
                <a:t>User access admin</a:t>
              </a:r>
            </a:p>
            <a:p>
              <a:r>
                <a:rPr lang="en-IN" sz="1100" dirty="0"/>
                <a:t>…</a:t>
              </a:r>
              <a:endParaRPr lang="en-US" sz="1100" dirty="0"/>
            </a:p>
          </p:txBody>
        </p:sp>
        <p:cxnSp>
          <p:nvCxnSpPr>
            <p:cNvPr id="45" name="Connector: Elbow 44" descr="Line connector pointing down">
              <a:extLst>
                <a:ext uri="{FF2B5EF4-FFF2-40B4-BE49-F238E27FC236}">
                  <a16:creationId xmlns:a16="http://schemas.microsoft.com/office/drawing/2014/main" id="{75DDB34A-B4B3-34E4-9497-9FC47EE5D6FA}"/>
                </a:ext>
              </a:extLst>
            </p:cNvPr>
            <p:cNvCxnSpPr>
              <a:cxnSpLocks/>
              <a:endCxn id="46" idx="1"/>
            </p:cNvCxnSpPr>
            <p:nvPr/>
          </p:nvCxnSpPr>
          <p:spPr>
            <a:xfrm rot="16200000" flipH="1">
              <a:off x="7508722" y="5173382"/>
              <a:ext cx="145076" cy="213737"/>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6" name="Graphic 45">
              <a:extLst>
                <a:ext uri="{FF2B5EF4-FFF2-40B4-BE49-F238E27FC236}">
                  <a16:creationId xmlns:a16="http://schemas.microsoft.com/office/drawing/2014/main" id="{618ABAF0-A5A5-ED9E-5E2C-96F97F348A00}"/>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688133" y="5165105"/>
              <a:ext cx="375394" cy="375395"/>
            </a:xfrm>
            <a:prstGeom prst="rect">
              <a:avLst/>
            </a:prstGeom>
          </p:spPr>
        </p:pic>
        <p:sp>
          <p:nvSpPr>
            <p:cNvPr id="47" name="TextBox 46">
              <a:extLst>
                <a:ext uri="{FF2B5EF4-FFF2-40B4-BE49-F238E27FC236}">
                  <a16:creationId xmlns:a16="http://schemas.microsoft.com/office/drawing/2014/main" id="{E186FAEA-B674-B7B0-E597-5B064C02E8B0}"/>
                </a:ext>
              </a:extLst>
            </p:cNvPr>
            <p:cNvSpPr txBox="1"/>
            <p:nvPr/>
          </p:nvSpPr>
          <p:spPr>
            <a:xfrm>
              <a:off x="8133481" y="5252718"/>
              <a:ext cx="1277658" cy="215444"/>
            </a:xfrm>
            <a:prstGeom prst="rect">
              <a:avLst/>
            </a:prstGeom>
            <a:noFill/>
          </p:spPr>
          <p:txBody>
            <a:bodyPr wrap="square" lIns="0" tIns="0" rIns="0" bIns="0" rtlCol="0">
              <a:spAutoFit/>
            </a:bodyPr>
            <a:lstStyle/>
            <a:p>
              <a:pPr algn="l"/>
              <a:r>
                <a:rPr lang="en-IN" sz="1400" dirty="0">
                  <a:latin typeface="+mj-lt"/>
                </a:rPr>
                <a:t>Resource group</a:t>
              </a:r>
              <a:endParaRPr lang="en-US" sz="1400" dirty="0">
                <a:latin typeface="+mj-lt"/>
              </a:endParaRPr>
            </a:p>
          </p:txBody>
        </p:sp>
        <p:cxnSp>
          <p:nvCxnSpPr>
            <p:cNvPr id="48" name="Connector: Elbow 47" descr="Line connector pointing down">
              <a:extLst>
                <a:ext uri="{FF2B5EF4-FFF2-40B4-BE49-F238E27FC236}">
                  <a16:creationId xmlns:a16="http://schemas.microsoft.com/office/drawing/2014/main" id="{388F3662-BE9F-C5DF-4A28-EB7CB522FBFA}"/>
                </a:ext>
              </a:extLst>
            </p:cNvPr>
            <p:cNvCxnSpPr>
              <a:cxnSpLocks/>
              <a:stCxn id="46" idx="2"/>
            </p:cNvCxnSpPr>
            <p:nvPr/>
          </p:nvCxnSpPr>
          <p:spPr>
            <a:xfrm rot="16200000" flipH="1">
              <a:off x="7814481" y="5601831"/>
              <a:ext cx="400148" cy="277457"/>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9" name="Graphic 48">
              <a:extLst>
                <a:ext uri="{FF2B5EF4-FFF2-40B4-BE49-F238E27FC236}">
                  <a16:creationId xmlns:a16="http://schemas.microsoft.com/office/drawing/2014/main" id="{889D996C-638F-3009-6007-4DA3BE31DC56}"/>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094285" y="5779629"/>
              <a:ext cx="322011" cy="322012"/>
            </a:xfrm>
            <a:prstGeom prst="rect">
              <a:avLst/>
            </a:prstGeom>
          </p:spPr>
        </p:pic>
        <p:pic>
          <p:nvPicPr>
            <p:cNvPr id="50" name="Graphic 49">
              <a:extLst>
                <a:ext uri="{FF2B5EF4-FFF2-40B4-BE49-F238E27FC236}">
                  <a16:creationId xmlns:a16="http://schemas.microsoft.com/office/drawing/2014/main" id="{B48A0049-2AC8-E027-93C6-6693A44D8173}"/>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549372" y="5770209"/>
              <a:ext cx="338234" cy="338235"/>
            </a:xfrm>
            <a:prstGeom prst="rect">
              <a:avLst/>
            </a:prstGeom>
          </p:spPr>
        </p:pic>
        <p:pic>
          <p:nvPicPr>
            <p:cNvPr id="51" name="Graphic 50">
              <a:extLst>
                <a:ext uri="{FF2B5EF4-FFF2-40B4-BE49-F238E27FC236}">
                  <a16:creationId xmlns:a16="http://schemas.microsoft.com/office/drawing/2014/main" id="{BF18B0BD-E460-1DB0-4125-903CF9E0C435}"/>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023297" y="5770059"/>
              <a:ext cx="338492" cy="338493"/>
            </a:xfrm>
            <a:prstGeom prst="rect">
              <a:avLst/>
            </a:prstGeom>
          </p:spPr>
        </p:pic>
        <p:sp>
          <p:nvSpPr>
            <p:cNvPr id="52" name="TextBox 51">
              <a:extLst>
                <a:ext uri="{FF2B5EF4-FFF2-40B4-BE49-F238E27FC236}">
                  <a16:creationId xmlns:a16="http://schemas.microsoft.com/office/drawing/2014/main" id="{AFFEA023-372F-397D-8047-6A289DAB5036}"/>
                </a:ext>
              </a:extLst>
            </p:cNvPr>
            <p:cNvSpPr txBox="1"/>
            <p:nvPr/>
          </p:nvSpPr>
          <p:spPr>
            <a:xfrm>
              <a:off x="9399823" y="5842683"/>
              <a:ext cx="737446" cy="215444"/>
            </a:xfrm>
            <a:prstGeom prst="rect">
              <a:avLst/>
            </a:prstGeom>
            <a:noFill/>
          </p:spPr>
          <p:txBody>
            <a:bodyPr wrap="square" lIns="0" tIns="0" rIns="0" bIns="0" rtlCol="0">
              <a:spAutoFit/>
            </a:bodyPr>
            <a:lstStyle/>
            <a:p>
              <a:pPr algn="l"/>
              <a:r>
                <a:rPr lang="en-IN" sz="1400" dirty="0">
                  <a:latin typeface="+mj-lt"/>
                </a:rPr>
                <a:t>Resource</a:t>
              </a:r>
              <a:endParaRPr lang="en-US" sz="1400" dirty="0">
                <a:latin typeface="+mj-lt"/>
              </a:endParaRPr>
            </a:p>
          </p:txBody>
        </p:sp>
      </p:grpSp>
    </p:spTree>
    <p:extLst>
      <p:ext uri="{BB962C8B-B14F-4D97-AF65-F5344CB8AC3E}">
        <p14:creationId xmlns:p14="http://schemas.microsoft.com/office/powerpoint/2010/main" val="1690780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50B39541-D99F-705E-3FFC-0377BA1A3302}"/>
              </a:ext>
            </a:extLst>
          </p:cNvPr>
          <p:cNvSpPr txBox="1">
            <a:spLocks/>
          </p:cNvSpPr>
          <p:nvPr/>
        </p:nvSpPr>
        <p:spPr>
          <a:xfrm>
            <a:off x="667524" y="2023413"/>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Demonstration – Azure RBAC</a:t>
            </a:r>
            <a:endParaRPr lang="en-US" dirty="0"/>
          </a:p>
        </p:txBody>
      </p:sp>
      <p:sp>
        <p:nvSpPr>
          <p:cNvPr id="11" name="Rectangle 10">
            <a:extLst>
              <a:ext uri="{FF2B5EF4-FFF2-40B4-BE49-F238E27FC236}">
                <a16:creationId xmlns:a16="http://schemas.microsoft.com/office/drawing/2014/main" id="{0AFFA703-FFDD-491D-5970-AEB9BDB1543E}"/>
              </a:ext>
            </a:extLst>
          </p:cNvPr>
          <p:cNvSpPr/>
          <p:nvPr/>
        </p:nvSpPr>
        <p:spPr bwMode="auto">
          <a:xfrm>
            <a:off x="1142451" y="3091858"/>
            <a:ext cx="7005518" cy="22798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457200" indent="-457200">
              <a:lnSpc>
                <a:spcPct val="150000"/>
              </a:lnSpc>
              <a:spcBef>
                <a:spcPts val="600"/>
              </a:spcBef>
              <a:buFont typeface="Arial" panose="020B0604020202020204" pitchFamily="34" charset="0"/>
              <a:buChar char="•"/>
            </a:pPr>
            <a:r>
              <a:rPr lang="en-US" sz="2800" dirty="0">
                <a:solidFill>
                  <a:schemeClr val="tx1"/>
                </a:solidFill>
              </a:rPr>
              <a:t>Locate the Access Control blade</a:t>
            </a:r>
          </a:p>
          <a:p>
            <a:pPr marL="457200" indent="-457200">
              <a:lnSpc>
                <a:spcPct val="150000"/>
              </a:lnSpc>
              <a:spcBef>
                <a:spcPts val="600"/>
              </a:spcBef>
              <a:buFont typeface="Arial" panose="020B0604020202020204" pitchFamily="34" charset="0"/>
              <a:buChar char="•"/>
            </a:pPr>
            <a:r>
              <a:rPr lang="en-US" sz="2800" dirty="0">
                <a:solidFill>
                  <a:schemeClr val="tx1"/>
                </a:solidFill>
              </a:rPr>
              <a:t>Review role permissions</a:t>
            </a:r>
          </a:p>
          <a:p>
            <a:pPr marL="457200" indent="-457200">
              <a:lnSpc>
                <a:spcPct val="150000"/>
              </a:lnSpc>
              <a:spcBef>
                <a:spcPts val="600"/>
              </a:spcBef>
              <a:buFont typeface="Arial" panose="020B0604020202020204" pitchFamily="34" charset="0"/>
              <a:buChar char="•"/>
            </a:pPr>
            <a:r>
              <a:rPr lang="en-US" sz="2800" dirty="0">
                <a:solidFill>
                  <a:schemeClr val="tx1"/>
                </a:solidFill>
              </a:rPr>
              <a:t>Add a role assignment</a:t>
            </a:r>
          </a:p>
        </p:txBody>
      </p:sp>
    </p:spTree>
    <p:extLst>
      <p:ext uri="{BB962C8B-B14F-4D97-AF65-F5344CB8AC3E}">
        <p14:creationId xmlns:p14="http://schemas.microsoft.com/office/powerpoint/2010/main" val="1341841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3">
            <a:extLst>
              <a:ext uri="{FF2B5EF4-FFF2-40B4-BE49-F238E27FC236}">
                <a16:creationId xmlns:a16="http://schemas.microsoft.com/office/drawing/2014/main" id="{2C6C40C0-C911-BF84-CFB8-023587DCD636}"/>
              </a:ext>
            </a:extLst>
          </p:cNvPr>
          <p:cNvSpPr txBox="1">
            <a:spLocks/>
          </p:cNvSpPr>
          <p:nvPr/>
        </p:nvSpPr>
        <p:spPr>
          <a:xfrm>
            <a:off x="1304011" y="3041201"/>
            <a:ext cx="8316854" cy="77559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44500">
              <a:spcAft>
                <a:spcPct val="35000"/>
              </a:spcAft>
            </a:pPr>
            <a:r>
              <a:rPr lang="en-US" sz="2800" dirty="0">
                <a:latin typeface="+mn-lt"/>
              </a:rPr>
              <a:t>Lab 02a - Manage Subscriptions and RBAC</a:t>
            </a:r>
            <a:br>
              <a:rPr lang="en-US" sz="2800" dirty="0">
                <a:latin typeface="+mn-lt"/>
              </a:rPr>
            </a:br>
            <a:r>
              <a:rPr lang="it-IT" sz="2800" dirty="0">
                <a:latin typeface="+mn-lt"/>
              </a:rPr>
              <a:t>Lab 02b - Manage Governance via Azure Policy</a:t>
            </a:r>
          </a:p>
        </p:txBody>
      </p:sp>
    </p:spTree>
    <p:extLst>
      <p:ext uri="{BB962C8B-B14F-4D97-AF65-F5344CB8AC3E}">
        <p14:creationId xmlns:p14="http://schemas.microsoft.com/office/powerpoint/2010/main" val="2706990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4" name="Title 1">
            <a:extLst>
              <a:ext uri="{FF2B5EF4-FFF2-40B4-BE49-F238E27FC236}">
                <a16:creationId xmlns:a16="http://schemas.microsoft.com/office/drawing/2014/main" id="{5E190DEB-05D5-BE7C-17C6-B6E710967E22}"/>
              </a:ext>
            </a:extLst>
          </p:cNvPr>
          <p:cNvSpPr txBox="1">
            <a:spLocks/>
          </p:cNvSpPr>
          <p:nvPr/>
        </p:nvSpPr>
        <p:spPr>
          <a:xfrm>
            <a:off x="627673" y="1544370"/>
            <a:ext cx="11701941" cy="5022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Lab 02a – Manage Subscriptions and Azure RBAC</a:t>
            </a:r>
            <a:endParaRPr lang="en-US" dirty="0"/>
          </a:p>
        </p:txBody>
      </p:sp>
      <p:sp>
        <p:nvSpPr>
          <p:cNvPr id="15" name="Text Placeholder 2">
            <a:extLst>
              <a:ext uri="{FF2B5EF4-FFF2-40B4-BE49-F238E27FC236}">
                <a16:creationId xmlns:a16="http://schemas.microsoft.com/office/drawing/2014/main" id="{58DEF220-4D83-D2C9-F0F1-1478B8405D46}"/>
              </a:ext>
            </a:extLst>
          </p:cNvPr>
          <p:cNvSpPr txBox="1">
            <a:spLocks/>
          </p:cNvSpPr>
          <p:nvPr/>
        </p:nvSpPr>
        <p:spPr>
          <a:xfrm>
            <a:off x="340770" y="3151152"/>
            <a:ext cx="3381586" cy="2699570"/>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buSzPct val="100000"/>
            </a:pPr>
            <a:r>
              <a:rPr lang="en-US" sz="1800" spc="0" dirty="0">
                <a:solidFill>
                  <a:schemeClr val="tx1"/>
                </a:solidFill>
                <a:latin typeface="+mn-lt"/>
                <a:cs typeface="Segoe UI Semilight"/>
              </a:rPr>
              <a:t>In this lab, you learn about role-based access control. </a:t>
            </a:r>
          </a:p>
          <a:p>
            <a:pPr>
              <a:spcAft>
                <a:spcPts val="612"/>
              </a:spcAft>
              <a:buSzPct val="100000"/>
            </a:pPr>
            <a:r>
              <a:rPr lang="en-US" sz="1800" spc="0" dirty="0">
                <a:solidFill>
                  <a:schemeClr val="tx1"/>
                </a:solidFill>
                <a:latin typeface="+mn-lt"/>
                <a:cs typeface="Segoe UI Semilight"/>
              </a:rPr>
              <a:t>You learn how to use permissions and scopes to control what actions identities can and cannot perform. </a:t>
            </a:r>
          </a:p>
          <a:p>
            <a:pPr>
              <a:spcAft>
                <a:spcPts val="612"/>
              </a:spcAft>
              <a:buSzPct val="100000"/>
            </a:pPr>
            <a:r>
              <a:rPr lang="en-US" sz="1800" spc="0" dirty="0">
                <a:solidFill>
                  <a:schemeClr val="tx1"/>
                </a:solidFill>
                <a:latin typeface="+mn-lt"/>
                <a:cs typeface="Segoe UI Semilight"/>
              </a:rPr>
              <a:t>You also learn how to make subscription management easier by using management groups. </a:t>
            </a:r>
          </a:p>
        </p:txBody>
      </p:sp>
      <p:sp>
        <p:nvSpPr>
          <p:cNvPr id="16" name="Rectangle 15">
            <a:extLst>
              <a:ext uri="{FF2B5EF4-FFF2-40B4-BE49-F238E27FC236}">
                <a16:creationId xmlns:a16="http://schemas.microsoft.com/office/drawing/2014/main" id="{84D2ABF3-81D2-AB7F-9347-4C3E9C2128D0}"/>
              </a:ext>
            </a:extLst>
          </p:cNvPr>
          <p:cNvSpPr/>
          <p:nvPr/>
        </p:nvSpPr>
        <p:spPr bwMode="auto">
          <a:xfrm>
            <a:off x="5062065" y="3063199"/>
            <a:ext cx="6812422" cy="2521035"/>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1</a:t>
            </a:r>
            <a:r>
              <a:rPr lang="en-US" sz="2040" dirty="0">
                <a:solidFill>
                  <a:schemeClr val="tx1"/>
                </a:solidFill>
                <a:latin typeface="Segoe UI" panose="020B0502040204020203" pitchFamily="34" charset="0"/>
                <a:cs typeface="Segoe UI" panose="020B0502040204020203" pitchFamily="34" charset="0"/>
              </a:rPr>
              <a:t>: Implement management groups.</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2</a:t>
            </a:r>
            <a:r>
              <a:rPr lang="en-US" sz="2040" dirty="0">
                <a:solidFill>
                  <a:schemeClr val="tx1"/>
                </a:solidFill>
                <a:latin typeface="Segoe UI" panose="020B0502040204020203" pitchFamily="34" charset="0"/>
                <a:cs typeface="Segoe UI" panose="020B0502040204020203" pitchFamily="34" charset="0"/>
              </a:rPr>
              <a:t>: Review and assign a built-in Azure role.</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3</a:t>
            </a:r>
            <a:r>
              <a:rPr lang="en-US" sz="2040" dirty="0">
                <a:solidFill>
                  <a:schemeClr val="tx1"/>
                </a:solidFill>
                <a:latin typeface="Segoe UI" panose="020B0502040204020203" pitchFamily="34" charset="0"/>
                <a:cs typeface="Segoe UI" panose="020B0502040204020203" pitchFamily="34" charset="0"/>
              </a:rPr>
              <a:t>: Create a custom RBAC role.</a:t>
            </a:r>
          </a:p>
          <a:p>
            <a:pPr marL="879167" indent="-879167">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4</a:t>
            </a:r>
            <a:r>
              <a:rPr lang="en-US" sz="2040" dirty="0">
                <a:solidFill>
                  <a:schemeClr val="tx1"/>
                </a:solidFill>
                <a:latin typeface="Segoe UI" panose="020B0502040204020203" pitchFamily="34" charset="0"/>
                <a:cs typeface="Segoe UI" panose="020B0502040204020203" pitchFamily="34" charset="0"/>
              </a:rPr>
              <a:t>: Monitor role assignments with the Activity Log.</a:t>
            </a:r>
          </a:p>
        </p:txBody>
      </p:sp>
      <p:sp>
        <p:nvSpPr>
          <p:cNvPr id="17" name="TextBox 16">
            <a:extLst>
              <a:ext uri="{FF2B5EF4-FFF2-40B4-BE49-F238E27FC236}">
                <a16:creationId xmlns:a16="http://schemas.microsoft.com/office/drawing/2014/main" id="{315E95A3-7191-D100-D5C3-63BBC14540B5}"/>
              </a:ext>
            </a:extLst>
          </p:cNvPr>
          <p:cNvSpPr txBox="1"/>
          <p:nvPr/>
        </p:nvSpPr>
        <p:spPr>
          <a:xfrm>
            <a:off x="5062064" y="2757828"/>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4013019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5C3BFE57-712C-621E-5E07-EA1B081FF719}"/>
              </a:ext>
            </a:extLst>
          </p:cNvPr>
          <p:cNvSpPr txBox="1">
            <a:spLocks/>
          </p:cNvSpPr>
          <p:nvPr/>
        </p:nvSpPr>
        <p:spPr>
          <a:xfrm>
            <a:off x="489318" y="1652776"/>
            <a:ext cx="11530584" cy="5371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Lab 02a – Architecture diagram</a:t>
            </a:r>
            <a:endParaRPr lang="en-US" dirty="0"/>
          </a:p>
        </p:txBody>
      </p:sp>
      <p:grpSp>
        <p:nvGrpSpPr>
          <p:cNvPr id="11" name="Group 10" descr="Architecture diagram for rbac tasks">
            <a:extLst>
              <a:ext uri="{FF2B5EF4-FFF2-40B4-BE49-F238E27FC236}">
                <a16:creationId xmlns:a16="http://schemas.microsoft.com/office/drawing/2014/main" id="{8468CAE3-C65A-6BA4-DCCF-D56A498E15BB}"/>
              </a:ext>
            </a:extLst>
          </p:cNvPr>
          <p:cNvGrpSpPr/>
          <p:nvPr/>
        </p:nvGrpSpPr>
        <p:grpSpPr>
          <a:xfrm>
            <a:off x="1108077" y="3144232"/>
            <a:ext cx="9975846" cy="2765210"/>
            <a:chOff x="1083897" y="2058914"/>
            <a:chExt cx="9975846" cy="2765210"/>
          </a:xfrm>
        </p:grpSpPr>
        <p:sp>
          <p:nvSpPr>
            <p:cNvPr id="12" name="Rectangle 11">
              <a:extLst>
                <a:ext uri="{FF2B5EF4-FFF2-40B4-BE49-F238E27FC236}">
                  <a16:creationId xmlns:a16="http://schemas.microsoft.com/office/drawing/2014/main" id="{155783FD-3349-93B7-9D28-97ACDB0A3BF0}"/>
                </a:ext>
              </a:extLst>
            </p:cNvPr>
            <p:cNvSpPr/>
            <p:nvPr/>
          </p:nvSpPr>
          <p:spPr>
            <a:xfrm>
              <a:off x="9482881" y="2561104"/>
              <a:ext cx="1494457" cy="140457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13" name="Rectangle 12">
              <a:extLst>
                <a:ext uri="{FF2B5EF4-FFF2-40B4-BE49-F238E27FC236}">
                  <a16:creationId xmlns:a16="http://schemas.microsoft.com/office/drawing/2014/main" id="{6C93FB31-465E-D948-FE4F-F993CC5700C1}"/>
                </a:ext>
              </a:extLst>
            </p:cNvPr>
            <p:cNvSpPr/>
            <p:nvPr/>
          </p:nvSpPr>
          <p:spPr>
            <a:xfrm>
              <a:off x="4198378" y="3677748"/>
              <a:ext cx="3126383" cy="95728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14" name="TextBox 13">
              <a:extLst>
                <a:ext uri="{FF2B5EF4-FFF2-40B4-BE49-F238E27FC236}">
                  <a16:creationId xmlns:a16="http://schemas.microsoft.com/office/drawing/2014/main" id="{CB11117F-A5A1-65AF-BAF1-FC95FF1117A4}"/>
                </a:ext>
              </a:extLst>
            </p:cNvPr>
            <p:cNvSpPr txBox="1"/>
            <p:nvPr/>
          </p:nvSpPr>
          <p:spPr>
            <a:xfrm>
              <a:off x="6582142" y="3704066"/>
              <a:ext cx="892655" cy="350330"/>
            </a:xfrm>
            <a:prstGeom prst="rect">
              <a:avLst/>
            </a:prstGeom>
            <a:noFill/>
          </p:spPr>
          <p:txBody>
            <a:bodyPr wrap="square">
              <a:spAutoFit/>
            </a:bodyPr>
            <a:lstStyle/>
            <a:p>
              <a:pPr defTabSz="914191"/>
              <a:r>
                <a:rPr lang="en-US" sz="1632" b="1" dirty="0">
                  <a:solidFill>
                    <a:schemeClr val="tx2">
                      <a:lumMod val="50000"/>
                    </a:schemeClr>
                  </a:solidFill>
                </a:rPr>
                <a:t>Task 3</a:t>
              </a:r>
            </a:p>
          </p:txBody>
        </p:sp>
        <p:sp>
          <p:nvSpPr>
            <p:cNvPr id="15" name="Rectangle 14">
              <a:extLst>
                <a:ext uri="{FF2B5EF4-FFF2-40B4-BE49-F238E27FC236}">
                  <a16:creationId xmlns:a16="http://schemas.microsoft.com/office/drawing/2014/main" id="{AAA84B03-A11F-99CA-3412-224E9B8CD8D4}"/>
                </a:ext>
              </a:extLst>
            </p:cNvPr>
            <p:cNvSpPr/>
            <p:nvPr/>
          </p:nvSpPr>
          <p:spPr>
            <a:xfrm>
              <a:off x="4198378" y="2083837"/>
              <a:ext cx="3126383" cy="95728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16" name="TextBox 15">
              <a:extLst>
                <a:ext uri="{FF2B5EF4-FFF2-40B4-BE49-F238E27FC236}">
                  <a16:creationId xmlns:a16="http://schemas.microsoft.com/office/drawing/2014/main" id="{53DE7751-09DF-1D95-4D31-D5D0B6CD19B7}"/>
                </a:ext>
              </a:extLst>
            </p:cNvPr>
            <p:cNvSpPr txBox="1"/>
            <p:nvPr/>
          </p:nvSpPr>
          <p:spPr>
            <a:xfrm>
              <a:off x="6582142" y="2058914"/>
              <a:ext cx="892655" cy="350330"/>
            </a:xfrm>
            <a:prstGeom prst="rect">
              <a:avLst/>
            </a:prstGeom>
            <a:noFill/>
          </p:spPr>
          <p:txBody>
            <a:bodyPr wrap="square">
              <a:spAutoFit/>
            </a:bodyPr>
            <a:lstStyle/>
            <a:p>
              <a:pPr defTabSz="914191"/>
              <a:r>
                <a:rPr lang="en-US" sz="1632" b="1" dirty="0">
                  <a:solidFill>
                    <a:schemeClr val="tx2">
                      <a:lumMod val="50000"/>
                    </a:schemeClr>
                  </a:solidFill>
                </a:rPr>
                <a:t>Task 2</a:t>
              </a:r>
            </a:p>
          </p:txBody>
        </p:sp>
        <p:sp>
          <p:nvSpPr>
            <p:cNvPr id="17" name="TextBox 16">
              <a:extLst>
                <a:ext uri="{FF2B5EF4-FFF2-40B4-BE49-F238E27FC236}">
                  <a16:creationId xmlns:a16="http://schemas.microsoft.com/office/drawing/2014/main" id="{C9D1D88E-84A9-19CE-C9D2-CF80A27C1C1D}"/>
                </a:ext>
              </a:extLst>
            </p:cNvPr>
            <p:cNvSpPr txBox="1"/>
            <p:nvPr/>
          </p:nvSpPr>
          <p:spPr>
            <a:xfrm>
              <a:off x="4267112" y="2235514"/>
              <a:ext cx="3126383" cy="670445"/>
            </a:xfrm>
            <a:prstGeom prst="rect">
              <a:avLst/>
            </a:prstGeom>
            <a:noFill/>
          </p:spPr>
          <p:txBody>
            <a:bodyPr wrap="square">
              <a:spAutoFit/>
            </a:bodyPr>
            <a:lstStyle/>
            <a:p>
              <a:pPr algn="ctr"/>
              <a:r>
                <a:rPr lang="en-US" sz="1836" dirty="0"/>
                <a:t>Built-in roles</a:t>
              </a:r>
            </a:p>
            <a:p>
              <a:r>
                <a:rPr lang="en-US" sz="1836" dirty="0"/>
                <a:t>Virtual Machine Contributor</a:t>
              </a:r>
            </a:p>
          </p:txBody>
        </p:sp>
        <p:sp>
          <p:nvSpPr>
            <p:cNvPr id="18" name="TextBox 17">
              <a:extLst>
                <a:ext uri="{FF2B5EF4-FFF2-40B4-BE49-F238E27FC236}">
                  <a16:creationId xmlns:a16="http://schemas.microsoft.com/office/drawing/2014/main" id="{8477854D-E61E-F6A7-A75E-06C019EBD135}"/>
                </a:ext>
              </a:extLst>
            </p:cNvPr>
            <p:cNvSpPr txBox="1"/>
            <p:nvPr/>
          </p:nvSpPr>
          <p:spPr>
            <a:xfrm>
              <a:off x="4283055" y="3844623"/>
              <a:ext cx="2962428" cy="670445"/>
            </a:xfrm>
            <a:prstGeom prst="rect">
              <a:avLst/>
            </a:prstGeom>
            <a:noFill/>
          </p:spPr>
          <p:txBody>
            <a:bodyPr wrap="square">
              <a:spAutoFit/>
            </a:bodyPr>
            <a:lstStyle/>
            <a:p>
              <a:pPr algn="ctr"/>
              <a:r>
                <a:rPr lang="en-US" sz="1836" dirty="0"/>
                <a:t>Custom roles</a:t>
              </a:r>
            </a:p>
            <a:p>
              <a:r>
                <a:rPr lang="en-US" sz="1836" dirty="0"/>
                <a:t>Custom Support Request</a:t>
              </a:r>
            </a:p>
          </p:txBody>
        </p:sp>
        <p:grpSp>
          <p:nvGrpSpPr>
            <p:cNvPr id="19" name="Group 18">
              <a:extLst>
                <a:ext uri="{FF2B5EF4-FFF2-40B4-BE49-F238E27FC236}">
                  <a16:creationId xmlns:a16="http://schemas.microsoft.com/office/drawing/2014/main" id="{6C913818-6A03-1ECF-7E33-4E64ADF17895}"/>
                </a:ext>
              </a:extLst>
            </p:cNvPr>
            <p:cNvGrpSpPr/>
            <p:nvPr/>
          </p:nvGrpSpPr>
          <p:grpSpPr>
            <a:xfrm>
              <a:off x="7748741" y="2909985"/>
              <a:ext cx="1614382" cy="1345092"/>
              <a:chOff x="6769198" y="2008666"/>
              <a:chExt cx="1582871" cy="1318837"/>
            </a:xfrm>
          </p:grpSpPr>
          <p:pic>
            <p:nvPicPr>
              <p:cNvPr id="43" name="Picture 42" descr="A person with a gold circle on their head&#10;&#10;Description automatically generated">
                <a:extLst>
                  <a:ext uri="{FF2B5EF4-FFF2-40B4-BE49-F238E27FC236}">
                    <a16:creationId xmlns:a16="http://schemas.microsoft.com/office/drawing/2014/main" id="{3811C2C5-368F-CCCE-2552-92D602A1B51B}"/>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7193217" y="2008666"/>
                <a:ext cx="717228" cy="717228"/>
              </a:xfrm>
              <a:prstGeom prst="rect">
                <a:avLst/>
              </a:prstGeom>
            </p:spPr>
          </p:pic>
          <p:sp>
            <p:nvSpPr>
              <p:cNvPr id="44" name="TextBox 43">
                <a:extLst>
                  <a:ext uri="{FF2B5EF4-FFF2-40B4-BE49-F238E27FC236}">
                    <a16:creationId xmlns:a16="http://schemas.microsoft.com/office/drawing/2014/main" id="{F4EDC4A1-CC87-AB28-510E-7C50F7AA2A8E}"/>
                  </a:ext>
                </a:extLst>
              </p:cNvPr>
              <p:cNvSpPr txBox="1"/>
              <p:nvPr/>
            </p:nvSpPr>
            <p:spPr>
              <a:xfrm>
                <a:off x="6769198" y="2670144"/>
                <a:ext cx="1582871" cy="657359"/>
              </a:xfrm>
              <a:prstGeom prst="rect">
                <a:avLst/>
              </a:prstGeom>
              <a:noFill/>
            </p:spPr>
            <p:txBody>
              <a:bodyPr wrap="square">
                <a:spAutoFit/>
              </a:bodyPr>
              <a:lstStyle/>
              <a:p>
                <a:pPr algn="ctr"/>
                <a:r>
                  <a:rPr lang="en-US" sz="1836" dirty="0"/>
                  <a:t>Help Desk Group</a:t>
                </a:r>
              </a:p>
            </p:txBody>
          </p:sp>
        </p:grpSp>
        <p:cxnSp>
          <p:nvCxnSpPr>
            <p:cNvPr id="20" name="Connector: Elbow 19">
              <a:extLst>
                <a:ext uri="{FF2B5EF4-FFF2-40B4-BE49-F238E27FC236}">
                  <a16:creationId xmlns:a16="http://schemas.microsoft.com/office/drawing/2014/main" id="{14FA4DB9-45D5-24C9-1702-0245E9B37A9A}"/>
                </a:ext>
              </a:extLst>
            </p:cNvPr>
            <p:cNvCxnSpPr>
              <a:cxnSpLocks/>
              <a:stCxn id="43" idx="1"/>
              <a:endCxn id="15" idx="3"/>
            </p:cNvCxnSpPr>
            <p:nvPr/>
          </p:nvCxnSpPr>
          <p:spPr>
            <a:xfrm rot="10800000">
              <a:off x="7324762" y="2562483"/>
              <a:ext cx="856440" cy="7132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or: Elbow 20">
              <a:extLst>
                <a:ext uri="{FF2B5EF4-FFF2-40B4-BE49-F238E27FC236}">
                  <a16:creationId xmlns:a16="http://schemas.microsoft.com/office/drawing/2014/main" id="{6FA2CBFC-73D4-D5E3-6001-1F66A156B860}"/>
                </a:ext>
              </a:extLst>
            </p:cNvPr>
            <p:cNvCxnSpPr>
              <a:cxnSpLocks/>
              <a:stCxn id="43" idx="1"/>
              <a:endCxn id="13" idx="3"/>
            </p:cNvCxnSpPr>
            <p:nvPr/>
          </p:nvCxnSpPr>
          <p:spPr>
            <a:xfrm rot="10800000" flipV="1">
              <a:off x="7324762" y="3275738"/>
              <a:ext cx="856440" cy="88065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EC861F76-80EF-2455-72A9-CC0EAB00B5AE}"/>
                </a:ext>
              </a:extLst>
            </p:cNvPr>
            <p:cNvGrpSpPr/>
            <p:nvPr/>
          </p:nvGrpSpPr>
          <p:grpSpPr>
            <a:xfrm>
              <a:off x="1083897" y="2822719"/>
              <a:ext cx="2525756" cy="2001405"/>
              <a:chOff x="700135" y="2470828"/>
              <a:chExt cx="2476456" cy="1962340"/>
            </a:xfrm>
          </p:grpSpPr>
          <p:sp>
            <p:nvSpPr>
              <p:cNvPr id="32" name="Rectangle 31">
                <a:extLst>
                  <a:ext uri="{FF2B5EF4-FFF2-40B4-BE49-F238E27FC236}">
                    <a16:creationId xmlns:a16="http://schemas.microsoft.com/office/drawing/2014/main" id="{7C9302F5-BA81-4231-7D5F-B425F89091F0}"/>
                  </a:ext>
                </a:extLst>
              </p:cNvPr>
              <p:cNvSpPr/>
              <p:nvPr/>
            </p:nvSpPr>
            <p:spPr>
              <a:xfrm>
                <a:off x="700135" y="2510860"/>
                <a:ext cx="2427750" cy="93860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33" name="TextBox 32">
                <a:extLst>
                  <a:ext uri="{FF2B5EF4-FFF2-40B4-BE49-F238E27FC236}">
                    <a16:creationId xmlns:a16="http://schemas.microsoft.com/office/drawing/2014/main" id="{8A4B6A03-582D-0671-1C72-B634A2D7256F}"/>
                  </a:ext>
                </a:extLst>
              </p:cNvPr>
              <p:cNvSpPr txBox="1"/>
              <p:nvPr/>
            </p:nvSpPr>
            <p:spPr>
              <a:xfrm>
                <a:off x="1534758" y="2800759"/>
                <a:ext cx="1520576" cy="533263"/>
              </a:xfrm>
              <a:prstGeom prst="rect">
                <a:avLst/>
              </a:prstGeom>
              <a:noFill/>
            </p:spPr>
            <p:txBody>
              <a:bodyPr wrap="square" lIns="179260" tIns="143408" rIns="179260" bIns="143408" rtlCol="0">
                <a:spAutoFit/>
              </a:bodyPr>
              <a:lstStyle/>
              <a:p>
                <a:pPr algn="ctr" defTabSz="914191">
                  <a:lnSpc>
                    <a:spcPct val="90000"/>
                  </a:lnSpc>
                  <a:spcAft>
                    <a:spcPts val="587"/>
                  </a:spcAft>
                </a:pPr>
                <a:r>
                  <a:rPr lang="en-US" sz="1836" dirty="0"/>
                  <a:t>az104-mg1</a:t>
                </a:r>
              </a:p>
            </p:txBody>
          </p:sp>
          <p:pic>
            <p:nvPicPr>
              <p:cNvPr id="34" name="Graphic 33">
                <a:extLst>
                  <a:ext uri="{FF2B5EF4-FFF2-40B4-BE49-F238E27FC236}">
                    <a16:creationId xmlns:a16="http://schemas.microsoft.com/office/drawing/2014/main" id="{569F9F1B-7809-268E-4001-5860E04478A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4343" y="2800759"/>
                <a:ext cx="477863" cy="477863"/>
              </a:xfrm>
              <a:prstGeom prst="rect">
                <a:avLst/>
              </a:prstGeom>
            </p:spPr>
          </p:pic>
          <p:sp>
            <p:nvSpPr>
              <p:cNvPr id="35" name="TextBox 34">
                <a:extLst>
                  <a:ext uri="{FF2B5EF4-FFF2-40B4-BE49-F238E27FC236}">
                    <a16:creationId xmlns:a16="http://schemas.microsoft.com/office/drawing/2014/main" id="{7A878B41-6411-3CA7-C4D0-E7A563EFFBA4}"/>
                  </a:ext>
                </a:extLst>
              </p:cNvPr>
              <p:cNvSpPr txBox="1"/>
              <p:nvPr/>
            </p:nvSpPr>
            <p:spPr>
              <a:xfrm>
                <a:off x="2272016" y="2470828"/>
                <a:ext cx="904575" cy="343492"/>
              </a:xfrm>
              <a:prstGeom prst="rect">
                <a:avLst/>
              </a:prstGeom>
              <a:noFill/>
            </p:spPr>
            <p:txBody>
              <a:bodyPr wrap="square">
                <a:spAutoFit/>
              </a:bodyPr>
              <a:lstStyle/>
              <a:p>
                <a:pPr defTabSz="914191"/>
                <a:r>
                  <a:rPr lang="en-US" sz="1632" b="1" dirty="0">
                    <a:solidFill>
                      <a:schemeClr val="tx2">
                        <a:lumMod val="50000"/>
                      </a:schemeClr>
                    </a:solidFill>
                  </a:rPr>
                  <a:t>Task 1</a:t>
                </a:r>
              </a:p>
            </p:txBody>
          </p:sp>
          <p:grpSp>
            <p:nvGrpSpPr>
              <p:cNvPr id="36" name="Group 35">
                <a:extLst>
                  <a:ext uri="{FF2B5EF4-FFF2-40B4-BE49-F238E27FC236}">
                    <a16:creationId xmlns:a16="http://schemas.microsoft.com/office/drawing/2014/main" id="{6BFC6AC0-969F-A7A9-89B5-B1637672755B}"/>
                  </a:ext>
                </a:extLst>
              </p:cNvPr>
              <p:cNvGrpSpPr/>
              <p:nvPr/>
            </p:nvGrpSpPr>
            <p:grpSpPr>
              <a:xfrm>
                <a:off x="888717" y="3684055"/>
                <a:ext cx="749113" cy="749113"/>
                <a:chOff x="712300" y="2313823"/>
                <a:chExt cx="749113" cy="749113"/>
              </a:xfrm>
            </p:grpSpPr>
            <p:pic>
              <p:nvPicPr>
                <p:cNvPr id="40" name="Graphic 39">
                  <a:extLst>
                    <a:ext uri="{FF2B5EF4-FFF2-40B4-BE49-F238E27FC236}">
                      <a16:creationId xmlns:a16="http://schemas.microsoft.com/office/drawing/2014/main" id="{2D8459EC-BA69-3533-7B84-9B70A592B89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12300" y="2313823"/>
                  <a:ext cx="444313" cy="444313"/>
                </a:xfrm>
                <a:prstGeom prst="rect">
                  <a:avLst/>
                </a:prstGeom>
              </p:spPr>
            </p:pic>
            <p:pic>
              <p:nvPicPr>
                <p:cNvPr id="41" name="Graphic 40">
                  <a:extLst>
                    <a:ext uri="{FF2B5EF4-FFF2-40B4-BE49-F238E27FC236}">
                      <a16:creationId xmlns:a16="http://schemas.microsoft.com/office/drawing/2014/main" id="{F6A0C0E4-7966-0FFD-9C7B-F3B9A7E339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4700" y="2466223"/>
                  <a:ext cx="444313" cy="444313"/>
                </a:xfrm>
                <a:prstGeom prst="rect">
                  <a:avLst/>
                </a:prstGeom>
              </p:spPr>
            </p:pic>
            <p:pic>
              <p:nvPicPr>
                <p:cNvPr id="42" name="Graphic 41">
                  <a:extLst>
                    <a:ext uri="{FF2B5EF4-FFF2-40B4-BE49-F238E27FC236}">
                      <a16:creationId xmlns:a16="http://schemas.microsoft.com/office/drawing/2014/main" id="{70D4C90A-463D-838D-7C5A-24E5C3C1DA9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7100" y="2618623"/>
                  <a:ext cx="444313" cy="444313"/>
                </a:xfrm>
                <a:prstGeom prst="rect">
                  <a:avLst/>
                </a:prstGeom>
              </p:spPr>
            </p:pic>
          </p:grpSp>
          <p:cxnSp>
            <p:nvCxnSpPr>
              <p:cNvPr id="37" name="Straight Arrow Connector 36">
                <a:extLst>
                  <a:ext uri="{FF2B5EF4-FFF2-40B4-BE49-F238E27FC236}">
                    <a16:creationId xmlns:a16="http://schemas.microsoft.com/office/drawing/2014/main" id="{391BA17E-C7FE-2F53-747E-2C916AB42AC4}"/>
                  </a:ext>
                </a:extLst>
              </p:cNvPr>
              <p:cNvCxnSpPr>
                <a:cxnSpLocks/>
                <a:stCxn id="41" idx="0"/>
              </p:cNvCxnSpPr>
              <p:nvPr/>
            </p:nvCxnSpPr>
            <p:spPr>
              <a:xfrm flipV="1">
                <a:off x="1263274" y="3162078"/>
                <a:ext cx="0" cy="6743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F07ECFB1-69E2-0D01-D31F-8D908C71D773}"/>
                  </a:ext>
                </a:extLst>
              </p:cNvPr>
              <p:cNvCxnSpPr>
                <a:cxnSpLocks/>
              </p:cNvCxnSpPr>
              <p:nvPr/>
            </p:nvCxnSpPr>
            <p:spPr>
              <a:xfrm flipV="1">
                <a:off x="1415674" y="3219719"/>
                <a:ext cx="0" cy="769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ADE98291-48F3-5DDF-0CFA-7CEA60826B59}"/>
                  </a:ext>
                </a:extLst>
              </p:cNvPr>
              <p:cNvCxnSpPr>
                <a:cxnSpLocks/>
                <a:stCxn id="40" idx="0"/>
              </p:cNvCxnSpPr>
              <p:nvPr/>
            </p:nvCxnSpPr>
            <p:spPr>
              <a:xfrm flipV="1">
                <a:off x="1110874" y="3162078"/>
                <a:ext cx="8965" cy="5219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3" name="TextBox 22">
              <a:extLst>
                <a:ext uri="{FF2B5EF4-FFF2-40B4-BE49-F238E27FC236}">
                  <a16:creationId xmlns:a16="http://schemas.microsoft.com/office/drawing/2014/main" id="{F892E231-1B51-C26E-2C94-3BB72AA78F0D}"/>
                </a:ext>
              </a:extLst>
            </p:cNvPr>
            <p:cNvSpPr txBox="1"/>
            <p:nvPr/>
          </p:nvSpPr>
          <p:spPr>
            <a:xfrm>
              <a:off x="9445361" y="3518393"/>
              <a:ext cx="1614382" cy="382308"/>
            </a:xfrm>
            <a:prstGeom prst="rect">
              <a:avLst/>
            </a:prstGeom>
            <a:noFill/>
          </p:spPr>
          <p:txBody>
            <a:bodyPr wrap="square">
              <a:spAutoFit/>
            </a:bodyPr>
            <a:lstStyle/>
            <a:p>
              <a:pPr algn="ctr"/>
              <a:r>
                <a:rPr lang="en-US" sz="1836" dirty="0"/>
                <a:t>Activity Log</a:t>
              </a:r>
            </a:p>
          </p:txBody>
        </p:sp>
        <p:sp>
          <p:nvSpPr>
            <p:cNvPr id="24" name="TextBox 23">
              <a:extLst>
                <a:ext uri="{FF2B5EF4-FFF2-40B4-BE49-F238E27FC236}">
                  <a16:creationId xmlns:a16="http://schemas.microsoft.com/office/drawing/2014/main" id="{830DA3DF-B02D-E5A4-533E-D89C78DB7F52}"/>
                </a:ext>
              </a:extLst>
            </p:cNvPr>
            <p:cNvSpPr txBox="1"/>
            <p:nvPr/>
          </p:nvSpPr>
          <p:spPr>
            <a:xfrm>
              <a:off x="7326873" y="2107317"/>
              <a:ext cx="453198" cy="542399"/>
            </a:xfrm>
            <a:prstGeom prst="rect">
              <a:avLst/>
            </a:prstGeom>
            <a:noFill/>
          </p:spPr>
          <p:txBody>
            <a:bodyPr wrap="none" rtlCol="0">
              <a:spAutoFit/>
            </a:bodyPr>
            <a:lstStyle/>
            <a:p>
              <a:r>
                <a:rPr lang="en-US" sz="2856" b="1" dirty="0"/>
                <a:t>+</a:t>
              </a:r>
            </a:p>
          </p:txBody>
        </p:sp>
        <p:sp>
          <p:nvSpPr>
            <p:cNvPr id="25" name="TextBox 24">
              <a:extLst>
                <a:ext uri="{FF2B5EF4-FFF2-40B4-BE49-F238E27FC236}">
                  <a16:creationId xmlns:a16="http://schemas.microsoft.com/office/drawing/2014/main" id="{4A3E229B-3722-0B24-FEBB-727F389D2BCE}"/>
                </a:ext>
              </a:extLst>
            </p:cNvPr>
            <p:cNvSpPr txBox="1"/>
            <p:nvPr/>
          </p:nvSpPr>
          <p:spPr>
            <a:xfrm>
              <a:off x="7333845" y="4011457"/>
              <a:ext cx="453198" cy="542399"/>
            </a:xfrm>
            <a:prstGeom prst="rect">
              <a:avLst/>
            </a:prstGeom>
            <a:noFill/>
          </p:spPr>
          <p:txBody>
            <a:bodyPr wrap="none" rtlCol="0">
              <a:spAutoFit/>
            </a:bodyPr>
            <a:lstStyle/>
            <a:p>
              <a:r>
                <a:rPr lang="en-US" sz="2856" b="1" dirty="0"/>
                <a:t>+</a:t>
              </a:r>
            </a:p>
          </p:txBody>
        </p:sp>
        <p:cxnSp>
          <p:nvCxnSpPr>
            <p:cNvPr id="26" name="Connector: Elbow 25">
              <a:extLst>
                <a:ext uri="{FF2B5EF4-FFF2-40B4-BE49-F238E27FC236}">
                  <a16:creationId xmlns:a16="http://schemas.microsoft.com/office/drawing/2014/main" id="{7973842B-F079-FE7D-3DFD-66C3849320EB}"/>
                </a:ext>
              </a:extLst>
            </p:cNvPr>
            <p:cNvCxnSpPr>
              <a:cxnSpLocks/>
              <a:stCxn id="15" idx="1"/>
              <a:endCxn id="32" idx="3"/>
            </p:cNvCxnSpPr>
            <p:nvPr/>
          </p:nvCxnSpPr>
          <p:spPr>
            <a:xfrm rot="10800000" flipV="1">
              <a:off x="3559977" y="2562481"/>
              <a:ext cx="638401" cy="77971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8C5CE915-45F4-CC06-9E41-04689614313F}"/>
                </a:ext>
              </a:extLst>
            </p:cNvPr>
            <p:cNvCxnSpPr>
              <a:cxnSpLocks/>
              <a:stCxn id="13" idx="1"/>
              <a:endCxn id="32" idx="3"/>
            </p:cNvCxnSpPr>
            <p:nvPr/>
          </p:nvCxnSpPr>
          <p:spPr>
            <a:xfrm rot="10800000">
              <a:off x="3559977" y="3342192"/>
              <a:ext cx="638401" cy="8142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8" name="Group 27">
              <a:extLst>
                <a:ext uri="{FF2B5EF4-FFF2-40B4-BE49-F238E27FC236}">
                  <a16:creationId xmlns:a16="http://schemas.microsoft.com/office/drawing/2014/main" id="{9AFCF077-DD19-8FDD-1325-CCFF0C628074}"/>
                </a:ext>
              </a:extLst>
            </p:cNvPr>
            <p:cNvGrpSpPr/>
            <p:nvPr/>
          </p:nvGrpSpPr>
          <p:grpSpPr>
            <a:xfrm>
              <a:off x="9806224" y="2601267"/>
              <a:ext cx="892655" cy="980906"/>
              <a:chOff x="9195851" y="1824295"/>
              <a:chExt cx="875231" cy="961760"/>
            </a:xfrm>
          </p:grpSpPr>
          <p:sp>
            <p:nvSpPr>
              <p:cNvPr id="30" name="TextBox 29">
                <a:extLst>
                  <a:ext uri="{FF2B5EF4-FFF2-40B4-BE49-F238E27FC236}">
                    <a16:creationId xmlns:a16="http://schemas.microsoft.com/office/drawing/2014/main" id="{10D75901-A583-DDE8-48E0-2015A10E6FFF}"/>
                  </a:ext>
                </a:extLst>
              </p:cNvPr>
              <p:cNvSpPr txBox="1"/>
              <p:nvPr/>
            </p:nvSpPr>
            <p:spPr>
              <a:xfrm>
                <a:off x="9195851" y="1824295"/>
                <a:ext cx="875231" cy="343492"/>
              </a:xfrm>
              <a:prstGeom prst="rect">
                <a:avLst/>
              </a:prstGeom>
              <a:noFill/>
            </p:spPr>
            <p:txBody>
              <a:bodyPr wrap="square">
                <a:spAutoFit/>
              </a:bodyPr>
              <a:lstStyle/>
              <a:p>
                <a:pPr defTabSz="914191"/>
                <a:r>
                  <a:rPr lang="en-US" sz="1632" b="1" dirty="0">
                    <a:solidFill>
                      <a:schemeClr val="tx2">
                        <a:lumMod val="50000"/>
                      </a:schemeClr>
                    </a:solidFill>
                  </a:rPr>
                  <a:t>Task 4</a:t>
                </a:r>
              </a:p>
            </p:txBody>
          </p:sp>
          <p:pic>
            <p:nvPicPr>
              <p:cNvPr id="31" name="Graphic 30">
                <a:extLst>
                  <a:ext uri="{FF2B5EF4-FFF2-40B4-BE49-F238E27FC236}">
                    <a16:creationId xmlns:a16="http://schemas.microsoft.com/office/drawing/2014/main" id="{7EA06B1E-B8B4-20A1-BB8E-891837CEF22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253786" y="2141827"/>
                <a:ext cx="644228" cy="644228"/>
              </a:xfrm>
              <a:prstGeom prst="rect">
                <a:avLst/>
              </a:prstGeom>
            </p:spPr>
          </p:pic>
        </p:grpSp>
        <p:cxnSp>
          <p:nvCxnSpPr>
            <p:cNvPr id="29" name="Straight Arrow Connector 28">
              <a:extLst>
                <a:ext uri="{FF2B5EF4-FFF2-40B4-BE49-F238E27FC236}">
                  <a16:creationId xmlns:a16="http://schemas.microsoft.com/office/drawing/2014/main" id="{3C24EF16-921C-6C92-508D-4B07BFD888A6}"/>
                </a:ext>
              </a:extLst>
            </p:cNvPr>
            <p:cNvCxnSpPr>
              <a:stCxn id="43" idx="3"/>
              <a:endCxn id="12" idx="1"/>
            </p:cNvCxnSpPr>
            <p:nvPr/>
          </p:nvCxnSpPr>
          <p:spPr>
            <a:xfrm flipV="1">
              <a:off x="8912707" y="3263393"/>
              <a:ext cx="570173" cy="12345"/>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06937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C96F1CC1-8521-3E95-CA1A-4605E4D46CC7}"/>
              </a:ext>
            </a:extLst>
          </p:cNvPr>
          <p:cNvSpPr txBox="1">
            <a:spLocks/>
          </p:cNvSpPr>
          <p:nvPr/>
        </p:nvSpPr>
        <p:spPr>
          <a:xfrm>
            <a:off x="440796" y="1242460"/>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t>Lab 02a – Architecture diagram (interactive lab simulation)</a:t>
            </a:r>
          </a:p>
        </p:txBody>
      </p:sp>
      <p:pic>
        <p:nvPicPr>
          <p:cNvPr id="11" name="Picture 10" descr="Architecture diagram as described in the lab. ">
            <a:extLst>
              <a:ext uri="{FF2B5EF4-FFF2-40B4-BE49-F238E27FC236}">
                <a16:creationId xmlns:a16="http://schemas.microsoft.com/office/drawing/2014/main" id="{73FF3BAF-B383-01D7-CF85-74A22AB126EC}"/>
              </a:ext>
            </a:extLst>
          </p:cNvPr>
          <p:cNvPicPr>
            <a:picLocks noChangeAspect="1"/>
          </p:cNvPicPr>
          <p:nvPr/>
        </p:nvPicPr>
        <p:blipFill>
          <a:blip r:embed="rId7"/>
          <a:stretch>
            <a:fillRect/>
          </a:stretch>
        </p:blipFill>
        <p:spPr>
          <a:xfrm>
            <a:off x="324571" y="1936197"/>
            <a:ext cx="11542857" cy="4971429"/>
          </a:xfrm>
          <a:prstGeom prst="rect">
            <a:avLst/>
          </a:prstGeom>
        </p:spPr>
      </p:pic>
    </p:spTree>
    <p:extLst>
      <p:ext uri="{BB962C8B-B14F-4D97-AF65-F5344CB8AC3E}">
        <p14:creationId xmlns:p14="http://schemas.microsoft.com/office/powerpoint/2010/main" val="159177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924819E7-8113-0217-F624-36B16E6703AC}"/>
              </a:ext>
            </a:extLst>
          </p:cNvPr>
          <p:cNvSpPr txBox="1">
            <a:spLocks/>
          </p:cNvSpPr>
          <p:nvPr/>
        </p:nvSpPr>
        <p:spPr>
          <a:xfrm>
            <a:off x="656341" y="1584285"/>
            <a:ext cx="11530584" cy="54623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Lab 02b – Manage Governance via Azure Policy</a:t>
            </a:r>
            <a:endParaRPr lang="en-US" dirty="0"/>
          </a:p>
        </p:txBody>
      </p:sp>
      <p:sp>
        <p:nvSpPr>
          <p:cNvPr id="11" name="Text Placeholder 2">
            <a:extLst>
              <a:ext uri="{FF2B5EF4-FFF2-40B4-BE49-F238E27FC236}">
                <a16:creationId xmlns:a16="http://schemas.microsoft.com/office/drawing/2014/main" id="{AC20DB82-D438-12F3-E7AE-0C7586713AEE}"/>
              </a:ext>
            </a:extLst>
          </p:cNvPr>
          <p:cNvSpPr txBox="1">
            <a:spLocks/>
          </p:cNvSpPr>
          <p:nvPr/>
        </p:nvSpPr>
        <p:spPr>
          <a:xfrm>
            <a:off x="457160" y="3131855"/>
            <a:ext cx="3666489" cy="241705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buSzPct val="100000"/>
            </a:pPr>
            <a:r>
              <a:rPr lang="en-US" sz="1800" spc="0" dirty="0">
                <a:solidFill>
                  <a:schemeClr val="tx1"/>
                </a:solidFill>
                <a:latin typeface="+mn-lt"/>
                <a:cs typeface="Segoe UI Semilight"/>
              </a:rPr>
              <a:t>In this lab, you learn how to implement your organization’s governance plans. </a:t>
            </a:r>
          </a:p>
          <a:p>
            <a:pPr>
              <a:spcAft>
                <a:spcPts val="612"/>
              </a:spcAft>
              <a:buSzPct val="100000"/>
            </a:pPr>
            <a:r>
              <a:rPr lang="en-US" sz="1800" spc="0" dirty="0">
                <a:solidFill>
                  <a:schemeClr val="tx1"/>
                </a:solidFill>
                <a:latin typeface="+mn-lt"/>
                <a:cs typeface="Segoe UI Semilight"/>
              </a:rPr>
              <a:t>You learn how Azure policies can ensure operational decisions are enforced across the organization.</a:t>
            </a:r>
          </a:p>
          <a:p>
            <a:pPr>
              <a:spcAft>
                <a:spcPts val="612"/>
              </a:spcAft>
              <a:buSzPct val="100000"/>
            </a:pPr>
            <a:r>
              <a:rPr lang="en-US" sz="1800" spc="0" dirty="0">
                <a:solidFill>
                  <a:schemeClr val="tx1"/>
                </a:solidFill>
                <a:latin typeface="+mn-lt"/>
                <a:cs typeface="Segoe UI Semilight"/>
              </a:rPr>
              <a:t>You learn how to use resource tagging to improve reporting. </a:t>
            </a:r>
            <a:endParaRPr lang="en-US" sz="1800" spc="0" dirty="0">
              <a:latin typeface="+mn-lt"/>
            </a:endParaRPr>
          </a:p>
        </p:txBody>
      </p:sp>
      <p:sp>
        <p:nvSpPr>
          <p:cNvPr id="12" name="TextBox 11">
            <a:extLst>
              <a:ext uri="{FF2B5EF4-FFF2-40B4-BE49-F238E27FC236}">
                <a16:creationId xmlns:a16="http://schemas.microsoft.com/office/drawing/2014/main" id="{30775D71-9711-AF64-3759-200A688B3372}"/>
              </a:ext>
            </a:extLst>
          </p:cNvPr>
          <p:cNvSpPr txBox="1"/>
          <p:nvPr/>
        </p:nvSpPr>
        <p:spPr>
          <a:xfrm>
            <a:off x="5226449" y="2755713"/>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
        <p:nvSpPr>
          <p:cNvPr id="13" name="Rectangle 12">
            <a:extLst>
              <a:ext uri="{FF2B5EF4-FFF2-40B4-BE49-F238E27FC236}">
                <a16:creationId xmlns:a16="http://schemas.microsoft.com/office/drawing/2014/main" id="{CF2B90C3-DC1F-A60E-34D2-C3AC8E61CF6E}"/>
              </a:ext>
            </a:extLst>
          </p:cNvPr>
          <p:cNvSpPr/>
          <p:nvPr/>
        </p:nvSpPr>
        <p:spPr bwMode="auto">
          <a:xfrm>
            <a:off x="5202972" y="3131856"/>
            <a:ext cx="6563381" cy="3234976"/>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1</a:t>
            </a:r>
            <a:r>
              <a:rPr lang="en-US" sz="2040" dirty="0">
                <a:solidFill>
                  <a:schemeClr val="tx1"/>
                </a:solidFill>
                <a:latin typeface="Segoe UI" panose="020B0502040204020203" pitchFamily="34" charset="0"/>
                <a:cs typeface="Segoe UI" panose="020B0502040204020203" pitchFamily="34" charset="0"/>
              </a:rPr>
              <a:t>: Create and assign tags via the Azure portal.</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2</a:t>
            </a:r>
            <a:r>
              <a:rPr lang="en-US" sz="2040" dirty="0">
                <a:solidFill>
                  <a:schemeClr val="tx1"/>
                </a:solidFill>
                <a:latin typeface="Segoe UI" panose="020B0502040204020203" pitchFamily="34" charset="0"/>
                <a:cs typeface="Segoe UI" panose="020B0502040204020203" pitchFamily="34" charset="0"/>
              </a:rPr>
              <a:t>: Enforce tagging via an Azure Policy.</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3</a:t>
            </a:r>
            <a:r>
              <a:rPr lang="en-US" sz="2040" dirty="0">
                <a:solidFill>
                  <a:schemeClr val="tx1"/>
                </a:solidFill>
                <a:latin typeface="Segoe UI" panose="020B0502040204020203" pitchFamily="34" charset="0"/>
                <a:cs typeface="Segoe UI" panose="020B0502040204020203" pitchFamily="34" charset="0"/>
              </a:rPr>
              <a:t>: Apply tagging via an Azure Policy.</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4: </a:t>
            </a:r>
            <a:r>
              <a:rPr lang="en-US" sz="2040" dirty="0">
                <a:solidFill>
                  <a:schemeClr val="tx1"/>
                </a:solidFill>
                <a:latin typeface="Segoe UI" panose="020B0502040204020203" pitchFamily="34" charset="0"/>
                <a:cs typeface="Segoe UI" panose="020B0502040204020203" pitchFamily="34" charset="0"/>
              </a:rPr>
              <a:t>Configure and test resource locks.</a:t>
            </a:r>
          </a:p>
          <a:p>
            <a:pPr>
              <a:spcAft>
                <a:spcPts val="612"/>
              </a:spcAft>
              <a:buSzPct val="90000"/>
            </a:pPr>
            <a:endParaRPr lang="en-US" sz="204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51768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13593A7F-3AF0-C4AF-41B0-14D0B9888930}"/>
              </a:ext>
            </a:extLst>
          </p:cNvPr>
          <p:cNvSpPr txBox="1">
            <a:spLocks/>
          </p:cNvSpPr>
          <p:nvPr/>
        </p:nvSpPr>
        <p:spPr>
          <a:xfrm>
            <a:off x="990394" y="1277628"/>
            <a:ext cx="11530584" cy="5371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Lab 02b – Architecture diagram</a:t>
            </a:r>
            <a:endParaRPr lang="en-US" b="1" dirty="0"/>
          </a:p>
        </p:txBody>
      </p:sp>
      <p:grpSp>
        <p:nvGrpSpPr>
          <p:cNvPr id="11" name="Group 10" descr="Architecture diagram for Azure policy. ">
            <a:extLst>
              <a:ext uri="{FF2B5EF4-FFF2-40B4-BE49-F238E27FC236}">
                <a16:creationId xmlns:a16="http://schemas.microsoft.com/office/drawing/2014/main" id="{C6DBA6F5-7E83-7BB1-0AA3-07814CD48F0F}"/>
              </a:ext>
            </a:extLst>
          </p:cNvPr>
          <p:cNvGrpSpPr/>
          <p:nvPr/>
        </p:nvGrpSpPr>
        <p:grpSpPr>
          <a:xfrm>
            <a:off x="1996607" y="2172637"/>
            <a:ext cx="8788168" cy="4480496"/>
            <a:chOff x="1441767" y="1433922"/>
            <a:chExt cx="8616633" cy="4393042"/>
          </a:xfrm>
        </p:grpSpPr>
        <p:sp>
          <p:nvSpPr>
            <p:cNvPr id="12" name="Rectangle 11">
              <a:extLst>
                <a:ext uri="{FF2B5EF4-FFF2-40B4-BE49-F238E27FC236}">
                  <a16:creationId xmlns:a16="http://schemas.microsoft.com/office/drawing/2014/main" id="{5A68578D-5E68-8DAA-482D-1480810A980B}"/>
                </a:ext>
              </a:extLst>
            </p:cNvPr>
            <p:cNvSpPr/>
            <p:nvPr/>
          </p:nvSpPr>
          <p:spPr bwMode="auto">
            <a:xfrm>
              <a:off x="1441767" y="1433922"/>
              <a:ext cx="2840052" cy="2050063"/>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pic>
          <p:nvPicPr>
            <p:cNvPr id="13" name="Graphic 12">
              <a:extLst>
                <a:ext uri="{FF2B5EF4-FFF2-40B4-BE49-F238E27FC236}">
                  <a16:creationId xmlns:a16="http://schemas.microsoft.com/office/drawing/2014/main" id="{A17C0964-A10F-D367-0D59-4D255F8835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58926" y="2783090"/>
              <a:ext cx="407640" cy="407640"/>
            </a:xfrm>
            <a:prstGeom prst="rect">
              <a:avLst/>
            </a:prstGeom>
          </p:spPr>
        </p:pic>
        <p:sp>
          <p:nvSpPr>
            <p:cNvPr id="14" name="TextBox 13">
              <a:extLst>
                <a:ext uri="{FF2B5EF4-FFF2-40B4-BE49-F238E27FC236}">
                  <a16:creationId xmlns:a16="http://schemas.microsoft.com/office/drawing/2014/main" id="{54A96750-B0CC-A2A0-FFAE-1797275B8648}"/>
                </a:ext>
              </a:extLst>
            </p:cNvPr>
            <p:cNvSpPr txBox="1"/>
            <p:nvPr/>
          </p:nvSpPr>
          <p:spPr>
            <a:xfrm>
              <a:off x="2160180" y="2705521"/>
              <a:ext cx="1968736" cy="594650"/>
            </a:xfrm>
            <a:prstGeom prst="rect">
              <a:avLst/>
            </a:prstGeom>
            <a:noFill/>
          </p:spPr>
          <p:txBody>
            <a:bodyPr wrap="square">
              <a:spAutoFit/>
            </a:bodyPr>
            <a:lstStyle/>
            <a:p>
              <a:pPr defTabSz="914191"/>
              <a:r>
                <a:rPr lang="en-US" sz="1632" b="1" dirty="0">
                  <a:solidFill>
                    <a:srgbClr val="000000"/>
                  </a:solidFill>
                </a:rPr>
                <a:t>Name: </a:t>
              </a:r>
              <a:r>
                <a:rPr lang="en-US" sz="1632" dirty="0">
                  <a:solidFill>
                    <a:srgbClr val="000000"/>
                  </a:solidFill>
                </a:rPr>
                <a:t>Cost Center</a:t>
              </a:r>
            </a:p>
            <a:p>
              <a:pPr defTabSz="914191"/>
              <a:r>
                <a:rPr lang="en-US" sz="1632" b="1" dirty="0">
                  <a:solidFill>
                    <a:srgbClr val="000000"/>
                  </a:solidFill>
                </a:rPr>
                <a:t>Value: </a:t>
              </a:r>
              <a:r>
                <a:rPr lang="en-US" sz="1632" dirty="0">
                  <a:solidFill>
                    <a:srgbClr val="000000"/>
                  </a:solidFill>
                </a:rPr>
                <a:t>000</a:t>
              </a:r>
            </a:p>
          </p:txBody>
        </p:sp>
        <p:pic>
          <p:nvPicPr>
            <p:cNvPr id="15" name="Graphic 14">
              <a:extLst>
                <a:ext uri="{FF2B5EF4-FFF2-40B4-BE49-F238E27FC236}">
                  <a16:creationId xmlns:a16="http://schemas.microsoft.com/office/drawing/2014/main" id="{740D1345-05D3-BFE3-6556-9712526E311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37379" y="1993314"/>
              <a:ext cx="407640" cy="407640"/>
            </a:xfrm>
            <a:prstGeom prst="rect">
              <a:avLst/>
            </a:prstGeom>
          </p:spPr>
        </p:pic>
        <p:sp>
          <p:nvSpPr>
            <p:cNvPr id="16" name="TextBox 15">
              <a:extLst>
                <a:ext uri="{FF2B5EF4-FFF2-40B4-BE49-F238E27FC236}">
                  <a16:creationId xmlns:a16="http://schemas.microsoft.com/office/drawing/2014/main" id="{576DBFB2-6D2A-6DEF-9F99-8CFC8824EBC3}"/>
                </a:ext>
              </a:extLst>
            </p:cNvPr>
            <p:cNvSpPr txBox="1"/>
            <p:nvPr/>
          </p:nvSpPr>
          <p:spPr>
            <a:xfrm>
              <a:off x="2145018" y="2028081"/>
              <a:ext cx="2031041" cy="343492"/>
            </a:xfrm>
            <a:prstGeom prst="rect">
              <a:avLst/>
            </a:prstGeom>
            <a:noFill/>
          </p:spPr>
          <p:txBody>
            <a:bodyPr wrap="square">
              <a:spAutoFit/>
            </a:bodyPr>
            <a:lstStyle/>
            <a:p>
              <a:pPr defTabSz="914191"/>
              <a:r>
                <a:rPr lang="en-US" sz="1632" b="1" dirty="0">
                  <a:solidFill>
                    <a:srgbClr val="000000"/>
                  </a:solidFill>
                </a:rPr>
                <a:t>Resource Group</a:t>
              </a:r>
            </a:p>
          </p:txBody>
        </p:sp>
        <p:cxnSp>
          <p:nvCxnSpPr>
            <p:cNvPr id="17" name="Straight Arrow Connector 16">
              <a:extLst>
                <a:ext uri="{FF2B5EF4-FFF2-40B4-BE49-F238E27FC236}">
                  <a16:creationId xmlns:a16="http://schemas.microsoft.com/office/drawing/2014/main" id="{8BA51447-012D-072E-F53F-3680D3EF068C}"/>
                </a:ext>
              </a:extLst>
            </p:cNvPr>
            <p:cNvCxnSpPr>
              <a:cxnSpLocks/>
            </p:cNvCxnSpPr>
            <p:nvPr/>
          </p:nvCxnSpPr>
          <p:spPr>
            <a:xfrm>
              <a:off x="1972438" y="2389807"/>
              <a:ext cx="0" cy="358964"/>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7D84F55-4CE7-686B-2D2F-0E5F7A982BAE}"/>
                </a:ext>
              </a:extLst>
            </p:cNvPr>
            <p:cNvSpPr txBox="1"/>
            <p:nvPr/>
          </p:nvSpPr>
          <p:spPr>
            <a:xfrm>
              <a:off x="1460843" y="1494666"/>
              <a:ext cx="2519722" cy="343492"/>
            </a:xfrm>
            <a:prstGeom prst="rect">
              <a:avLst/>
            </a:prstGeom>
            <a:noFill/>
          </p:spPr>
          <p:txBody>
            <a:bodyPr wrap="square">
              <a:spAutoFit/>
            </a:bodyPr>
            <a:lstStyle/>
            <a:p>
              <a:pPr defTabSz="914191"/>
              <a:r>
                <a:rPr lang="en-US" sz="1632" b="1" dirty="0">
                  <a:solidFill>
                    <a:schemeClr val="tx2">
                      <a:lumMod val="50000"/>
                    </a:schemeClr>
                  </a:solidFill>
                </a:rPr>
                <a:t>Task 1</a:t>
              </a:r>
            </a:p>
          </p:txBody>
        </p:sp>
        <p:cxnSp>
          <p:nvCxnSpPr>
            <p:cNvPr id="19" name="Connector: Elbow 18">
              <a:extLst>
                <a:ext uri="{FF2B5EF4-FFF2-40B4-BE49-F238E27FC236}">
                  <a16:creationId xmlns:a16="http://schemas.microsoft.com/office/drawing/2014/main" id="{56AFF7EC-8BBC-588F-E829-5C4AD02A63F3}"/>
                </a:ext>
              </a:extLst>
            </p:cNvPr>
            <p:cNvCxnSpPr>
              <a:cxnSpLocks/>
              <a:stCxn id="21" idx="1"/>
              <a:endCxn id="12" idx="3"/>
            </p:cNvCxnSpPr>
            <p:nvPr/>
          </p:nvCxnSpPr>
          <p:spPr>
            <a:xfrm rot="10800000">
              <a:off x="4281819" y="2458955"/>
              <a:ext cx="761346" cy="234451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BD6EAC33-7234-CC62-F516-98FE12E27BF8}"/>
                </a:ext>
              </a:extLst>
            </p:cNvPr>
            <p:cNvSpPr/>
            <p:nvPr/>
          </p:nvSpPr>
          <p:spPr bwMode="auto">
            <a:xfrm>
              <a:off x="5043165" y="1444313"/>
              <a:ext cx="5015235" cy="2050063"/>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E7780414-B4D1-1CD8-61C5-269956DE4C1D}"/>
                </a:ext>
              </a:extLst>
            </p:cNvPr>
            <p:cNvSpPr/>
            <p:nvPr/>
          </p:nvSpPr>
          <p:spPr bwMode="auto">
            <a:xfrm>
              <a:off x="5043165" y="3779977"/>
              <a:ext cx="5015235" cy="2046987"/>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cs typeface="Segoe UI" pitchFamily="34" charset="0"/>
              </a:endParaRPr>
            </a:p>
          </p:txBody>
        </p:sp>
        <p:pic>
          <p:nvPicPr>
            <p:cNvPr id="22" name="Graphic 21">
              <a:extLst>
                <a:ext uri="{FF2B5EF4-FFF2-40B4-BE49-F238E27FC236}">
                  <a16:creationId xmlns:a16="http://schemas.microsoft.com/office/drawing/2014/main" id="{88093CF6-527C-3026-C3AF-7D394B70DF2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317800" y="1769533"/>
              <a:ext cx="392396" cy="395154"/>
            </a:xfrm>
            <a:prstGeom prst="rect">
              <a:avLst/>
            </a:prstGeom>
          </p:spPr>
        </p:pic>
        <p:sp>
          <p:nvSpPr>
            <p:cNvPr id="23" name="TextBox 22">
              <a:extLst>
                <a:ext uri="{FF2B5EF4-FFF2-40B4-BE49-F238E27FC236}">
                  <a16:creationId xmlns:a16="http://schemas.microsoft.com/office/drawing/2014/main" id="{2E4BB6DC-6EF0-D86B-BC24-BEE5A4216EA9}"/>
                </a:ext>
              </a:extLst>
            </p:cNvPr>
            <p:cNvSpPr txBox="1"/>
            <p:nvPr/>
          </p:nvSpPr>
          <p:spPr>
            <a:xfrm>
              <a:off x="5800347" y="1745969"/>
              <a:ext cx="3869108" cy="594650"/>
            </a:xfrm>
            <a:prstGeom prst="rect">
              <a:avLst/>
            </a:prstGeom>
            <a:noFill/>
          </p:spPr>
          <p:txBody>
            <a:bodyPr wrap="square">
              <a:spAutoFit/>
            </a:bodyPr>
            <a:lstStyle/>
            <a:p>
              <a:pPr defTabSz="914191"/>
              <a:r>
                <a:rPr lang="en-US" sz="1632" b="1" dirty="0">
                  <a:solidFill>
                    <a:srgbClr val="000000"/>
                  </a:solidFill>
                </a:rPr>
                <a:t>Azure policy</a:t>
              </a:r>
            </a:p>
            <a:p>
              <a:pPr defTabSz="914191"/>
              <a:r>
                <a:rPr lang="en-US" sz="1632" dirty="0">
                  <a:solidFill>
                    <a:srgbClr val="000000"/>
                  </a:solidFill>
                </a:rPr>
                <a:t>Require a tag and its value on resources</a:t>
              </a:r>
            </a:p>
          </p:txBody>
        </p:sp>
        <p:sp>
          <p:nvSpPr>
            <p:cNvPr id="24" name="TextBox 23">
              <a:extLst>
                <a:ext uri="{FF2B5EF4-FFF2-40B4-BE49-F238E27FC236}">
                  <a16:creationId xmlns:a16="http://schemas.microsoft.com/office/drawing/2014/main" id="{F41E025E-C01E-6992-C532-C74C12DCA0DF}"/>
                </a:ext>
              </a:extLst>
            </p:cNvPr>
            <p:cNvSpPr txBox="1"/>
            <p:nvPr/>
          </p:nvSpPr>
          <p:spPr>
            <a:xfrm>
              <a:off x="5796187" y="4053214"/>
              <a:ext cx="3974474" cy="845809"/>
            </a:xfrm>
            <a:prstGeom prst="rect">
              <a:avLst/>
            </a:prstGeom>
            <a:noFill/>
          </p:spPr>
          <p:txBody>
            <a:bodyPr wrap="square">
              <a:spAutoFit/>
            </a:bodyPr>
            <a:lstStyle/>
            <a:p>
              <a:pPr defTabSz="914191"/>
              <a:r>
                <a:rPr lang="en-US" sz="1632" b="1" dirty="0">
                  <a:solidFill>
                    <a:srgbClr val="000000"/>
                  </a:solidFill>
                </a:rPr>
                <a:t>Azure policy</a:t>
              </a:r>
            </a:p>
            <a:p>
              <a:pPr defTabSz="914191"/>
              <a:r>
                <a:rPr lang="en-US" sz="1632" dirty="0">
                  <a:solidFill>
                    <a:srgbClr val="000000"/>
                  </a:solidFill>
                </a:rPr>
                <a:t>Inherit a tag from the resource group if missing – remediation</a:t>
              </a:r>
            </a:p>
          </p:txBody>
        </p:sp>
        <p:sp>
          <p:nvSpPr>
            <p:cNvPr id="25" name="TextBox 24">
              <a:extLst>
                <a:ext uri="{FF2B5EF4-FFF2-40B4-BE49-F238E27FC236}">
                  <a16:creationId xmlns:a16="http://schemas.microsoft.com/office/drawing/2014/main" id="{1C28E532-ACD3-5A34-DB2C-320DAEDA228E}"/>
                </a:ext>
              </a:extLst>
            </p:cNvPr>
            <p:cNvSpPr txBox="1"/>
            <p:nvPr/>
          </p:nvSpPr>
          <p:spPr>
            <a:xfrm>
              <a:off x="8797501" y="1461677"/>
              <a:ext cx="968205" cy="343492"/>
            </a:xfrm>
            <a:prstGeom prst="rect">
              <a:avLst/>
            </a:prstGeom>
            <a:noFill/>
          </p:spPr>
          <p:txBody>
            <a:bodyPr wrap="square">
              <a:spAutoFit/>
            </a:bodyPr>
            <a:lstStyle/>
            <a:p>
              <a:pPr defTabSz="914191"/>
              <a:r>
                <a:rPr lang="en-US" sz="1632" b="1" dirty="0">
                  <a:solidFill>
                    <a:schemeClr val="tx2">
                      <a:lumMod val="50000"/>
                    </a:schemeClr>
                  </a:solidFill>
                </a:rPr>
                <a:t>Task 2</a:t>
              </a:r>
            </a:p>
          </p:txBody>
        </p:sp>
        <p:sp>
          <p:nvSpPr>
            <p:cNvPr id="26" name="TextBox 25">
              <a:extLst>
                <a:ext uri="{FF2B5EF4-FFF2-40B4-BE49-F238E27FC236}">
                  <a16:creationId xmlns:a16="http://schemas.microsoft.com/office/drawing/2014/main" id="{CAF3CB64-1736-9D67-F435-5DD81B05E731}"/>
                </a:ext>
              </a:extLst>
            </p:cNvPr>
            <p:cNvSpPr txBox="1"/>
            <p:nvPr/>
          </p:nvSpPr>
          <p:spPr>
            <a:xfrm>
              <a:off x="8829669" y="3765977"/>
              <a:ext cx="1120914" cy="343492"/>
            </a:xfrm>
            <a:prstGeom prst="rect">
              <a:avLst/>
            </a:prstGeom>
            <a:noFill/>
          </p:spPr>
          <p:txBody>
            <a:bodyPr wrap="square">
              <a:spAutoFit/>
            </a:bodyPr>
            <a:lstStyle/>
            <a:p>
              <a:pPr defTabSz="914191"/>
              <a:r>
                <a:rPr lang="en-US" sz="1632" b="1" dirty="0">
                  <a:solidFill>
                    <a:schemeClr val="tx2">
                      <a:lumMod val="50000"/>
                    </a:schemeClr>
                  </a:solidFill>
                </a:rPr>
                <a:t>Task 3</a:t>
              </a:r>
            </a:p>
          </p:txBody>
        </p:sp>
        <p:pic>
          <p:nvPicPr>
            <p:cNvPr id="27" name="Graphic 26">
              <a:extLst>
                <a:ext uri="{FF2B5EF4-FFF2-40B4-BE49-F238E27FC236}">
                  <a16:creationId xmlns:a16="http://schemas.microsoft.com/office/drawing/2014/main" id="{34CBAFEB-8E02-9083-E661-B4C988CA4D6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01339" y="2822999"/>
              <a:ext cx="460812" cy="427932"/>
            </a:xfrm>
            <a:prstGeom prst="rect">
              <a:avLst/>
            </a:prstGeom>
          </p:spPr>
        </p:pic>
        <p:sp>
          <p:nvSpPr>
            <p:cNvPr id="28" name="TextBox 27">
              <a:extLst>
                <a:ext uri="{FF2B5EF4-FFF2-40B4-BE49-F238E27FC236}">
                  <a16:creationId xmlns:a16="http://schemas.microsoft.com/office/drawing/2014/main" id="{4B19FCA5-BE40-89A6-0F78-74429B5758B8}"/>
                </a:ext>
              </a:extLst>
            </p:cNvPr>
            <p:cNvSpPr txBox="1"/>
            <p:nvPr/>
          </p:nvSpPr>
          <p:spPr>
            <a:xfrm>
              <a:off x="5793090" y="2862567"/>
              <a:ext cx="3919762" cy="343492"/>
            </a:xfrm>
            <a:prstGeom prst="rect">
              <a:avLst/>
            </a:prstGeom>
            <a:noFill/>
          </p:spPr>
          <p:txBody>
            <a:bodyPr wrap="square">
              <a:spAutoFit/>
            </a:bodyPr>
            <a:lstStyle/>
            <a:p>
              <a:pPr defTabSz="914191"/>
              <a:r>
                <a:rPr lang="en-US" sz="1632" dirty="0">
                  <a:solidFill>
                    <a:srgbClr val="000000"/>
                  </a:solidFill>
                </a:rPr>
                <a:t>New Storage Account  without the tag</a:t>
              </a:r>
            </a:p>
          </p:txBody>
        </p:sp>
        <p:pic>
          <p:nvPicPr>
            <p:cNvPr id="29" name="Graphic 28">
              <a:extLst>
                <a:ext uri="{FF2B5EF4-FFF2-40B4-BE49-F238E27FC236}">
                  <a16:creationId xmlns:a16="http://schemas.microsoft.com/office/drawing/2014/main" id="{617A37AF-BDE9-FA98-C43D-E7A09B7AA26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21612" y="4654207"/>
              <a:ext cx="444094" cy="367152"/>
            </a:xfrm>
            <a:prstGeom prst="rect">
              <a:avLst/>
            </a:prstGeom>
          </p:spPr>
        </p:pic>
        <p:cxnSp>
          <p:nvCxnSpPr>
            <p:cNvPr id="30" name="Straight Arrow Connector 29">
              <a:extLst>
                <a:ext uri="{FF2B5EF4-FFF2-40B4-BE49-F238E27FC236}">
                  <a16:creationId xmlns:a16="http://schemas.microsoft.com/office/drawing/2014/main" id="{10F10865-31EE-2045-E7EE-CEFAACFB5A92}"/>
                </a:ext>
              </a:extLst>
            </p:cNvPr>
            <p:cNvCxnSpPr>
              <a:cxnSpLocks/>
              <a:endCxn id="27" idx="0"/>
            </p:cNvCxnSpPr>
            <p:nvPr/>
          </p:nvCxnSpPr>
          <p:spPr>
            <a:xfrm>
              <a:off x="5531745" y="2164687"/>
              <a:ext cx="0" cy="658312"/>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65CE7EE-3361-30CB-4621-EDC999B63129}"/>
                </a:ext>
              </a:extLst>
            </p:cNvPr>
            <p:cNvSpPr txBox="1"/>
            <p:nvPr/>
          </p:nvSpPr>
          <p:spPr>
            <a:xfrm>
              <a:off x="5378596" y="2264611"/>
              <a:ext cx="328936" cy="406265"/>
            </a:xfrm>
            <a:prstGeom prst="rect">
              <a:avLst/>
            </a:prstGeom>
            <a:noFill/>
          </p:spPr>
          <p:txBody>
            <a:bodyPr wrap="none" rtlCol="0">
              <a:spAutoFit/>
            </a:bodyPr>
            <a:lstStyle/>
            <a:p>
              <a:r>
                <a:rPr lang="en-US" sz="2040" b="1" dirty="0">
                  <a:solidFill>
                    <a:srgbClr val="C00000"/>
                  </a:solidFill>
                  <a:highlight>
                    <a:srgbClr val="FFFFFF"/>
                  </a:highlight>
                </a:rPr>
                <a:t>x</a:t>
              </a:r>
            </a:p>
          </p:txBody>
        </p:sp>
        <p:sp>
          <p:nvSpPr>
            <p:cNvPr id="32" name="TextBox 31">
              <a:extLst>
                <a:ext uri="{FF2B5EF4-FFF2-40B4-BE49-F238E27FC236}">
                  <a16:creationId xmlns:a16="http://schemas.microsoft.com/office/drawing/2014/main" id="{FE191993-2097-4530-71D9-F7C2FE8D7863}"/>
                </a:ext>
              </a:extLst>
            </p:cNvPr>
            <p:cNvSpPr txBox="1"/>
            <p:nvPr/>
          </p:nvSpPr>
          <p:spPr>
            <a:xfrm>
              <a:off x="5795764" y="5146372"/>
              <a:ext cx="4153238" cy="336787"/>
            </a:xfrm>
            <a:prstGeom prst="rect">
              <a:avLst/>
            </a:prstGeom>
            <a:noFill/>
          </p:spPr>
          <p:txBody>
            <a:bodyPr wrap="square">
              <a:spAutoFit/>
            </a:bodyPr>
            <a:lstStyle/>
            <a:p>
              <a:pPr defTabSz="914191"/>
              <a:r>
                <a:rPr lang="en-US" sz="1632" dirty="0">
                  <a:solidFill>
                    <a:srgbClr val="000000"/>
                  </a:solidFill>
                </a:rPr>
                <a:t>New Storage Account   - policy adds the tag</a:t>
              </a:r>
            </a:p>
          </p:txBody>
        </p:sp>
        <p:sp>
          <p:nvSpPr>
            <p:cNvPr id="33" name="TextBox 32">
              <a:extLst>
                <a:ext uri="{FF2B5EF4-FFF2-40B4-BE49-F238E27FC236}">
                  <a16:creationId xmlns:a16="http://schemas.microsoft.com/office/drawing/2014/main" id="{9188F685-1828-E86F-B082-D7F8993757E8}"/>
                </a:ext>
              </a:extLst>
            </p:cNvPr>
            <p:cNvSpPr txBox="1"/>
            <p:nvPr/>
          </p:nvSpPr>
          <p:spPr>
            <a:xfrm>
              <a:off x="5318975" y="4621994"/>
              <a:ext cx="385042" cy="406265"/>
            </a:xfrm>
            <a:prstGeom prst="rect">
              <a:avLst/>
            </a:prstGeom>
            <a:noFill/>
          </p:spPr>
          <p:txBody>
            <a:bodyPr wrap="none" rtlCol="0">
              <a:spAutoFit/>
            </a:bodyPr>
            <a:lstStyle/>
            <a:p>
              <a:r>
                <a:rPr lang="en-US" sz="2040" b="1" dirty="0">
                  <a:solidFill>
                    <a:schemeClr val="accent6">
                      <a:lumMod val="50000"/>
                    </a:schemeClr>
                  </a:solidFill>
                  <a:highlight>
                    <a:srgbClr val="FFFFFF"/>
                  </a:highlight>
                  <a:sym typeface="Wingdings 2" panose="05020102010507070707" pitchFamily="18" charset="2"/>
                </a:rPr>
                <a:t></a:t>
              </a:r>
              <a:endParaRPr lang="en-US" sz="2040" b="1" dirty="0">
                <a:solidFill>
                  <a:schemeClr val="accent6">
                    <a:lumMod val="50000"/>
                  </a:schemeClr>
                </a:solidFill>
                <a:highlight>
                  <a:srgbClr val="FFFFFF"/>
                </a:highlight>
              </a:endParaRPr>
            </a:p>
          </p:txBody>
        </p:sp>
        <p:cxnSp>
          <p:nvCxnSpPr>
            <p:cNvPr id="34" name="Straight Arrow Connector 33">
              <a:extLst>
                <a:ext uri="{FF2B5EF4-FFF2-40B4-BE49-F238E27FC236}">
                  <a16:creationId xmlns:a16="http://schemas.microsoft.com/office/drawing/2014/main" id="{DC2F64E0-5D12-9C41-6394-105C11408E05}"/>
                </a:ext>
              </a:extLst>
            </p:cNvPr>
            <p:cNvCxnSpPr>
              <a:cxnSpLocks/>
              <a:stCxn id="41" idx="0"/>
              <a:endCxn id="40" idx="2"/>
            </p:cNvCxnSpPr>
            <p:nvPr/>
          </p:nvCxnSpPr>
          <p:spPr>
            <a:xfrm flipV="1">
              <a:off x="5491066" y="4465181"/>
              <a:ext cx="1581" cy="64712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411FE6CC-A7B0-C795-ECC0-E06DB2C65760}"/>
                </a:ext>
              </a:extLst>
            </p:cNvPr>
            <p:cNvSpPr/>
            <p:nvPr/>
          </p:nvSpPr>
          <p:spPr bwMode="auto">
            <a:xfrm>
              <a:off x="1448504" y="3665725"/>
              <a:ext cx="2840052" cy="147699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pic>
          <p:nvPicPr>
            <p:cNvPr id="36" name="Graphic 35">
              <a:extLst>
                <a:ext uri="{FF2B5EF4-FFF2-40B4-BE49-F238E27FC236}">
                  <a16:creationId xmlns:a16="http://schemas.microsoft.com/office/drawing/2014/main" id="{E19CF368-69F0-D454-644B-566C62E27AD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54974" y="4246567"/>
              <a:ext cx="407640" cy="407640"/>
            </a:xfrm>
            <a:prstGeom prst="rect">
              <a:avLst/>
            </a:prstGeom>
          </p:spPr>
        </p:pic>
        <p:sp>
          <p:nvSpPr>
            <p:cNvPr id="37" name="TextBox 36">
              <a:extLst>
                <a:ext uri="{FF2B5EF4-FFF2-40B4-BE49-F238E27FC236}">
                  <a16:creationId xmlns:a16="http://schemas.microsoft.com/office/drawing/2014/main" id="{077AF692-C771-8FA6-74E9-558B41132034}"/>
                </a:ext>
              </a:extLst>
            </p:cNvPr>
            <p:cNvSpPr txBox="1"/>
            <p:nvPr/>
          </p:nvSpPr>
          <p:spPr>
            <a:xfrm>
              <a:off x="2062613" y="4281334"/>
              <a:ext cx="1717815" cy="336787"/>
            </a:xfrm>
            <a:prstGeom prst="rect">
              <a:avLst/>
            </a:prstGeom>
            <a:noFill/>
          </p:spPr>
          <p:txBody>
            <a:bodyPr wrap="square">
              <a:spAutoFit/>
            </a:bodyPr>
            <a:lstStyle/>
            <a:p>
              <a:pPr defTabSz="914191"/>
              <a:r>
                <a:rPr lang="en-US" sz="1632" b="1" dirty="0">
                  <a:solidFill>
                    <a:srgbClr val="000000"/>
                  </a:solidFill>
                </a:rPr>
                <a:t>Resource Group</a:t>
              </a:r>
            </a:p>
          </p:txBody>
        </p:sp>
        <p:sp>
          <p:nvSpPr>
            <p:cNvPr id="38" name="TextBox 37">
              <a:extLst>
                <a:ext uri="{FF2B5EF4-FFF2-40B4-BE49-F238E27FC236}">
                  <a16:creationId xmlns:a16="http://schemas.microsoft.com/office/drawing/2014/main" id="{99BBD5AD-9126-CAD0-2AA5-DA29FAB2E936}"/>
                </a:ext>
              </a:extLst>
            </p:cNvPr>
            <p:cNvSpPr txBox="1"/>
            <p:nvPr/>
          </p:nvSpPr>
          <p:spPr>
            <a:xfrm>
              <a:off x="1467580" y="3726468"/>
              <a:ext cx="2185514" cy="343492"/>
            </a:xfrm>
            <a:prstGeom prst="rect">
              <a:avLst/>
            </a:prstGeom>
            <a:noFill/>
          </p:spPr>
          <p:txBody>
            <a:bodyPr wrap="square">
              <a:spAutoFit/>
            </a:bodyPr>
            <a:lstStyle/>
            <a:p>
              <a:pPr defTabSz="914191"/>
              <a:r>
                <a:rPr lang="en-US" sz="1632" b="1" dirty="0">
                  <a:solidFill>
                    <a:schemeClr val="tx2">
                      <a:lumMod val="50000"/>
                    </a:schemeClr>
                  </a:solidFill>
                </a:rPr>
                <a:t>Task 4</a:t>
              </a:r>
            </a:p>
          </p:txBody>
        </p:sp>
        <p:pic>
          <p:nvPicPr>
            <p:cNvPr id="39" name="Graphic 38" descr="Lock with solid fill">
              <a:extLst>
                <a:ext uri="{FF2B5EF4-FFF2-40B4-BE49-F238E27FC236}">
                  <a16:creationId xmlns:a16="http://schemas.microsoft.com/office/drawing/2014/main" id="{51D24DE2-EFDA-E50B-5BD6-2D548AF3EA8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621504" y="4561292"/>
              <a:ext cx="416367" cy="416367"/>
            </a:xfrm>
            <a:prstGeom prst="rect">
              <a:avLst/>
            </a:prstGeom>
          </p:spPr>
        </p:pic>
        <p:pic>
          <p:nvPicPr>
            <p:cNvPr id="40" name="Graphic 39">
              <a:extLst>
                <a:ext uri="{FF2B5EF4-FFF2-40B4-BE49-F238E27FC236}">
                  <a16:creationId xmlns:a16="http://schemas.microsoft.com/office/drawing/2014/main" id="{3C725451-3E17-A71D-571D-77F7B20D343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95070" y="4070027"/>
              <a:ext cx="395154" cy="395154"/>
            </a:xfrm>
            <a:prstGeom prst="rect">
              <a:avLst/>
            </a:prstGeom>
          </p:spPr>
        </p:pic>
        <p:pic>
          <p:nvPicPr>
            <p:cNvPr id="41" name="Graphic 40">
              <a:extLst>
                <a:ext uri="{FF2B5EF4-FFF2-40B4-BE49-F238E27FC236}">
                  <a16:creationId xmlns:a16="http://schemas.microsoft.com/office/drawing/2014/main" id="{50D7B0BA-FC9B-98E6-02A3-8E563F3F8DC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247300" y="5112310"/>
              <a:ext cx="487532" cy="427932"/>
            </a:xfrm>
            <a:prstGeom prst="rect">
              <a:avLst/>
            </a:prstGeom>
          </p:spPr>
        </p:pic>
        <p:pic>
          <p:nvPicPr>
            <p:cNvPr id="42" name="Graphic 41">
              <a:extLst>
                <a:ext uri="{FF2B5EF4-FFF2-40B4-BE49-F238E27FC236}">
                  <a16:creationId xmlns:a16="http://schemas.microsoft.com/office/drawing/2014/main" id="{9B485621-67FC-8953-65A5-DCAA8165DE5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73487" y="2396722"/>
              <a:ext cx="444094" cy="367152"/>
            </a:xfrm>
            <a:prstGeom prst="rect">
              <a:avLst/>
            </a:prstGeom>
          </p:spPr>
        </p:pic>
        <p:cxnSp>
          <p:nvCxnSpPr>
            <p:cNvPr id="43" name="Straight Arrow Connector 42">
              <a:extLst>
                <a:ext uri="{FF2B5EF4-FFF2-40B4-BE49-F238E27FC236}">
                  <a16:creationId xmlns:a16="http://schemas.microsoft.com/office/drawing/2014/main" id="{F7681653-F92C-ACEA-B608-CFFBED836ECE}"/>
                </a:ext>
              </a:extLst>
            </p:cNvPr>
            <p:cNvCxnSpPr>
              <a:stCxn id="20" idx="1"/>
              <a:endCxn id="12" idx="3"/>
            </p:cNvCxnSpPr>
            <p:nvPr/>
          </p:nvCxnSpPr>
          <p:spPr>
            <a:xfrm flipH="1" flipV="1">
              <a:off x="4281819" y="2458954"/>
              <a:ext cx="761346" cy="1039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3896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8A686496-2235-58F8-972E-34605BD68F0D}"/>
              </a:ext>
            </a:extLst>
          </p:cNvPr>
          <p:cNvSpPr txBox="1">
            <a:spLocks/>
          </p:cNvSpPr>
          <p:nvPr/>
        </p:nvSpPr>
        <p:spPr>
          <a:xfrm>
            <a:off x="667524" y="1157462"/>
            <a:ext cx="11568684" cy="693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t>Lab 02b – Architecture diagram (interactive lab simulation)</a:t>
            </a:r>
            <a:endParaRPr lang="en-US" sz="3800" b="1" dirty="0"/>
          </a:p>
        </p:txBody>
      </p:sp>
      <p:grpSp>
        <p:nvGrpSpPr>
          <p:cNvPr id="11" name="Group 10" descr="Architecture diagram of the detailed lab steps. ">
            <a:extLst>
              <a:ext uri="{FF2B5EF4-FFF2-40B4-BE49-F238E27FC236}">
                <a16:creationId xmlns:a16="http://schemas.microsoft.com/office/drawing/2014/main" id="{A46CD925-C53F-FAD5-A97C-0F62B5FCF310}"/>
              </a:ext>
            </a:extLst>
          </p:cNvPr>
          <p:cNvGrpSpPr/>
          <p:nvPr/>
        </p:nvGrpSpPr>
        <p:grpSpPr>
          <a:xfrm>
            <a:off x="2472969" y="2136745"/>
            <a:ext cx="8383451" cy="4651636"/>
            <a:chOff x="418644" y="1224012"/>
            <a:chExt cx="8383451" cy="4651636"/>
          </a:xfrm>
        </p:grpSpPr>
        <p:sp>
          <p:nvSpPr>
            <p:cNvPr id="12" name="Rectangle 11">
              <a:extLst>
                <a:ext uri="{FF2B5EF4-FFF2-40B4-BE49-F238E27FC236}">
                  <a16:creationId xmlns:a16="http://schemas.microsoft.com/office/drawing/2014/main" id="{82976CFE-4E49-5E03-FD39-C15DF521CC4B}"/>
                </a:ext>
              </a:extLst>
            </p:cNvPr>
            <p:cNvSpPr/>
            <p:nvPr/>
          </p:nvSpPr>
          <p:spPr bwMode="auto">
            <a:xfrm>
              <a:off x="4728752" y="1775974"/>
              <a:ext cx="3984484" cy="111861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DB7AE868-7C96-6806-4677-D0525632B4D1}"/>
                </a:ext>
              </a:extLst>
            </p:cNvPr>
            <p:cNvSpPr/>
            <p:nvPr/>
          </p:nvSpPr>
          <p:spPr bwMode="auto">
            <a:xfrm>
              <a:off x="418645" y="4127320"/>
              <a:ext cx="8294592" cy="174832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sp>
          <p:nvSpPr>
            <p:cNvPr id="14" name="Rectangle 13">
              <a:extLst>
                <a:ext uri="{FF2B5EF4-FFF2-40B4-BE49-F238E27FC236}">
                  <a16:creationId xmlns:a16="http://schemas.microsoft.com/office/drawing/2014/main" id="{C64E38E3-6FFB-40B7-8A95-E4F28B70995E}"/>
                </a:ext>
              </a:extLst>
            </p:cNvPr>
            <p:cNvSpPr/>
            <p:nvPr/>
          </p:nvSpPr>
          <p:spPr bwMode="auto">
            <a:xfrm>
              <a:off x="418644" y="1224012"/>
              <a:ext cx="3060123" cy="2742533"/>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5" name="Graphic 14">
              <a:extLst>
                <a:ext uri="{FF2B5EF4-FFF2-40B4-BE49-F238E27FC236}">
                  <a16:creationId xmlns:a16="http://schemas.microsoft.com/office/drawing/2014/main" id="{B0EE27F7-9885-4373-0756-8BBB6B00A52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98623" y="3180346"/>
              <a:ext cx="497308" cy="497308"/>
            </a:xfrm>
            <a:prstGeom prst="rect">
              <a:avLst/>
            </a:prstGeom>
          </p:spPr>
        </p:pic>
        <p:pic>
          <p:nvPicPr>
            <p:cNvPr id="16" name="Graphic 15">
              <a:extLst>
                <a:ext uri="{FF2B5EF4-FFF2-40B4-BE49-F238E27FC236}">
                  <a16:creationId xmlns:a16="http://schemas.microsoft.com/office/drawing/2014/main" id="{0C6D1130-7779-C8C0-6E46-D2508DD61CC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6684" y="1658084"/>
              <a:ext cx="281974" cy="281974"/>
            </a:xfrm>
            <a:prstGeom prst="rect">
              <a:avLst/>
            </a:prstGeom>
          </p:spPr>
        </p:pic>
        <p:sp>
          <p:nvSpPr>
            <p:cNvPr id="17" name="TextBox 16">
              <a:extLst>
                <a:ext uri="{FF2B5EF4-FFF2-40B4-BE49-F238E27FC236}">
                  <a16:creationId xmlns:a16="http://schemas.microsoft.com/office/drawing/2014/main" id="{8F9A1ED8-570F-2E69-F68B-01AEC2B17135}"/>
                </a:ext>
              </a:extLst>
            </p:cNvPr>
            <p:cNvSpPr txBox="1"/>
            <p:nvPr/>
          </p:nvSpPr>
          <p:spPr>
            <a:xfrm>
              <a:off x="681841" y="3677654"/>
              <a:ext cx="2530871" cy="512935"/>
            </a:xfrm>
            <a:prstGeom prst="rect">
              <a:avLst/>
            </a:prstGeom>
            <a:noFill/>
          </p:spPr>
          <p:txBody>
            <a:bodyPr wrap="square">
              <a:spAutoFit/>
            </a:bodyPr>
            <a:lstStyle/>
            <a:p>
              <a:pPr defTabSz="914367"/>
              <a:r>
                <a:rPr lang="fr-FR" sz="1372" b="1" dirty="0">
                  <a:solidFill>
                    <a:srgbClr val="000000"/>
                  </a:solidFill>
                  <a:latin typeface="Segoe UI"/>
                </a:rPr>
                <a:t>Cloud Shell Storage Account</a:t>
              </a:r>
            </a:p>
            <a:p>
              <a:pPr defTabSz="914367"/>
              <a:endParaRPr lang="fr-FR" sz="1372" b="1" dirty="0">
                <a:solidFill>
                  <a:srgbClr val="000000"/>
                </a:solidFill>
                <a:latin typeface="Segoe UI"/>
              </a:endParaRPr>
            </a:p>
          </p:txBody>
        </p:sp>
        <p:sp>
          <p:nvSpPr>
            <p:cNvPr id="18" name="TextBox 17">
              <a:extLst>
                <a:ext uri="{FF2B5EF4-FFF2-40B4-BE49-F238E27FC236}">
                  <a16:creationId xmlns:a16="http://schemas.microsoft.com/office/drawing/2014/main" id="{88359AD0-BEAA-29BA-E30D-08AB6E82ACA0}"/>
                </a:ext>
              </a:extLst>
            </p:cNvPr>
            <p:cNvSpPr txBox="1"/>
            <p:nvPr/>
          </p:nvSpPr>
          <p:spPr>
            <a:xfrm>
              <a:off x="1124041" y="1510164"/>
              <a:ext cx="1417065" cy="512935"/>
            </a:xfrm>
            <a:prstGeom prst="rect">
              <a:avLst/>
            </a:prstGeom>
            <a:noFill/>
          </p:spPr>
          <p:txBody>
            <a:bodyPr wrap="square">
              <a:spAutoFit/>
            </a:bodyPr>
            <a:lstStyle/>
            <a:p>
              <a:pPr defTabSz="914367"/>
              <a:r>
                <a:rPr lang="fr-FR" sz="1372" b="1" dirty="0">
                  <a:solidFill>
                    <a:srgbClr val="000000"/>
                  </a:solidFill>
                  <a:latin typeface="Segoe UI"/>
                </a:rPr>
                <a:t>Name: </a:t>
              </a:r>
              <a:r>
                <a:rPr lang="fr-FR" sz="1372" dirty="0">
                  <a:solidFill>
                    <a:srgbClr val="000000"/>
                  </a:solidFill>
                  <a:latin typeface="Segoe UI"/>
                </a:rPr>
                <a:t>Role</a:t>
              </a:r>
            </a:p>
            <a:p>
              <a:pPr defTabSz="914367"/>
              <a:r>
                <a:rPr lang="fr-FR" sz="1372" b="1" dirty="0">
                  <a:solidFill>
                    <a:srgbClr val="000000"/>
                  </a:solidFill>
                  <a:latin typeface="Segoe UI"/>
                </a:rPr>
                <a:t>Value: </a:t>
              </a:r>
              <a:r>
                <a:rPr lang="fr-FR" sz="1372" dirty="0">
                  <a:solidFill>
                    <a:srgbClr val="000000"/>
                  </a:solidFill>
                  <a:latin typeface="Segoe UI"/>
                </a:rPr>
                <a:t>Infra</a:t>
              </a:r>
            </a:p>
          </p:txBody>
        </p:sp>
        <p:pic>
          <p:nvPicPr>
            <p:cNvPr id="19" name="Graphic 18">
              <a:extLst>
                <a:ext uri="{FF2B5EF4-FFF2-40B4-BE49-F238E27FC236}">
                  <a16:creationId xmlns:a16="http://schemas.microsoft.com/office/drawing/2014/main" id="{86F90B75-03FD-20C8-7532-AD77F2748E0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1894" y="2404024"/>
              <a:ext cx="415814" cy="415814"/>
            </a:xfrm>
            <a:prstGeom prst="rect">
              <a:avLst/>
            </a:prstGeom>
          </p:spPr>
        </p:pic>
        <p:sp>
          <p:nvSpPr>
            <p:cNvPr id="20" name="TextBox 19">
              <a:extLst>
                <a:ext uri="{FF2B5EF4-FFF2-40B4-BE49-F238E27FC236}">
                  <a16:creationId xmlns:a16="http://schemas.microsoft.com/office/drawing/2014/main" id="{61C4470B-7F72-6417-BD05-B3C2EE92670E}"/>
                </a:ext>
              </a:extLst>
            </p:cNvPr>
            <p:cNvSpPr txBox="1"/>
            <p:nvPr/>
          </p:nvSpPr>
          <p:spPr>
            <a:xfrm>
              <a:off x="1187709" y="2360071"/>
              <a:ext cx="3060123" cy="724143"/>
            </a:xfrm>
            <a:prstGeom prst="rect">
              <a:avLst/>
            </a:prstGeom>
            <a:noFill/>
          </p:spPr>
          <p:txBody>
            <a:bodyPr wrap="square">
              <a:spAutoFit/>
            </a:bodyPr>
            <a:lstStyle/>
            <a:p>
              <a:pPr defTabSz="914367"/>
              <a:r>
                <a:rPr lang="fr-FR" sz="1372" b="1" dirty="0">
                  <a:solidFill>
                    <a:srgbClr val="000000"/>
                  </a:solidFill>
                  <a:latin typeface="Segoe UI"/>
                </a:rPr>
                <a:t>Cloud Shell Storage </a:t>
              </a:r>
            </a:p>
            <a:p>
              <a:pPr defTabSz="914367"/>
              <a:r>
                <a:rPr lang="fr-FR" sz="1372" b="1" dirty="0">
                  <a:solidFill>
                    <a:srgbClr val="000000"/>
                  </a:solidFill>
                  <a:latin typeface="Segoe UI"/>
                </a:rPr>
                <a:t>Resource Group</a:t>
              </a:r>
            </a:p>
            <a:p>
              <a:pPr defTabSz="914367"/>
              <a:endParaRPr lang="fr-FR" sz="1372" b="1" dirty="0">
                <a:solidFill>
                  <a:srgbClr val="000000"/>
                </a:solidFill>
                <a:latin typeface="Segoe UI"/>
              </a:endParaRPr>
            </a:p>
          </p:txBody>
        </p:sp>
        <p:cxnSp>
          <p:nvCxnSpPr>
            <p:cNvPr id="21" name="Straight Arrow Connector 20">
              <a:extLst>
                <a:ext uri="{FF2B5EF4-FFF2-40B4-BE49-F238E27FC236}">
                  <a16:creationId xmlns:a16="http://schemas.microsoft.com/office/drawing/2014/main" id="{C77ECC38-EE79-81D7-81D2-12D3CF390676}"/>
                </a:ext>
              </a:extLst>
            </p:cNvPr>
            <p:cNvCxnSpPr>
              <a:cxnSpLocks/>
            </p:cNvCxnSpPr>
            <p:nvPr/>
          </p:nvCxnSpPr>
          <p:spPr>
            <a:xfrm flipH="1">
              <a:off x="989989" y="2001023"/>
              <a:ext cx="7682" cy="377532"/>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A84748FB-D691-5577-36A2-E0AEA834D88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89206" y="2261574"/>
              <a:ext cx="403078" cy="403078"/>
            </a:xfrm>
            <a:prstGeom prst="rect">
              <a:avLst/>
            </a:prstGeom>
          </p:spPr>
        </p:pic>
        <p:sp>
          <p:nvSpPr>
            <p:cNvPr id="23" name="TextBox 22">
              <a:extLst>
                <a:ext uri="{FF2B5EF4-FFF2-40B4-BE49-F238E27FC236}">
                  <a16:creationId xmlns:a16="http://schemas.microsoft.com/office/drawing/2014/main" id="{B5077804-F131-4AA9-ECCA-1D5CECA652F7}"/>
                </a:ext>
              </a:extLst>
            </p:cNvPr>
            <p:cNvSpPr txBox="1"/>
            <p:nvPr/>
          </p:nvSpPr>
          <p:spPr>
            <a:xfrm>
              <a:off x="5450335" y="2224633"/>
              <a:ext cx="3262902" cy="512935"/>
            </a:xfrm>
            <a:prstGeom prst="rect">
              <a:avLst/>
            </a:prstGeom>
            <a:noFill/>
          </p:spPr>
          <p:txBody>
            <a:bodyPr wrap="square">
              <a:spAutoFit/>
            </a:bodyPr>
            <a:lstStyle/>
            <a:p>
              <a:pPr defTabSz="914367"/>
              <a:r>
                <a:rPr lang="fr-FR" sz="1372" b="1" dirty="0">
                  <a:solidFill>
                    <a:srgbClr val="000000"/>
                  </a:solidFill>
                  <a:latin typeface="Segoe UI"/>
                </a:rPr>
                <a:t>Azure policy</a:t>
              </a:r>
            </a:p>
            <a:p>
              <a:pPr defTabSz="914367"/>
              <a:r>
                <a:rPr lang="en-US" sz="1372" dirty="0">
                  <a:solidFill>
                    <a:srgbClr val="000000"/>
                  </a:solidFill>
                  <a:latin typeface="Segoe UI"/>
                </a:rPr>
                <a:t>Require a tag and its value on resources</a:t>
              </a:r>
              <a:endParaRPr lang="fr-FR" sz="1372" dirty="0">
                <a:solidFill>
                  <a:srgbClr val="000000"/>
                </a:solidFill>
                <a:latin typeface="Segoe UI"/>
              </a:endParaRPr>
            </a:p>
          </p:txBody>
        </p:sp>
        <p:pic>
          <p:nvPicPr>
            <p:cNvPr id="24" name="Graphic 23">
              <a:extLst>
                <a:ext uri="{FF2B5EF4-FFF2-40B4-BE49-F238E27FC236}">
                  <a16:creationId xmlns:a16="http://schemas.microsoft.com/office/drawing/2014/main" id="{A2C3FC0D-5735-DCDF-C6EC-D327F835146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89206" y="4568891"/>
              <a:ext cx="403078" cy="403078"/>
            </a:xfrm>
            <a:prstGeom prst="rect">
              <a:avLst/>
            </a:prstGeom>
          </p:spPr>
        </p:pic>
        <p:sp>
          <p:nvSpPr>
            <p:cNvPr id="25" name="TextBox 24">
              <a:extLst>
                <a:ext uri="{FF2B5EF4-FFF2-40B4-BE49-F238E27FC236}">
                  <a16:creationId xmlns:a16="http://schemas.microsoft.com/office/drawing/2014/main" id="{02884D7F-698D-4868-A8B1-4DC3F501AC3E}"/>
                </a:ext>
              </a:extLst>
            </p:cNvPr>
            <p:cNvSpPr txBox="1"/>
            <p:nvPr/>
          </p:nvSpPr>
          <p:spPr>
            <a:xfrm>
              <a:off x="5450335" y="4491202"/>
              <a:ext cx="3351760" cy="725776"/>
            </a:xfrm>
            <a:prstGeom prst="rect">
              <a:avLst/>
            </a:prstGeom>
            <a:noFill/>
          </p:spPr>
          <p:txBody>
            <a:bodyPr wrap="square">
              <a:spAutoFit/>
            </a:bodyPr>
            <a:lstStyle/>
            <a:p>
              <a:pPr defTabSz="914367"/>
              <a:r>
                <a:rPr lang="fr-FR" sz="1372" b="1" dirty="0">
                  <a:solidFill>
                    <a:srgbClr val="000000"/>
                  </a:solidFill>
                  <a:latin typeface="Segoe UI"/>
                </a:rPr>
                <a:t>Azure policy</a:t>
              </a:r>
            </a:p>
            <a:p>
              <a:pPr defTabSz="914367"/>
              <a:r>
                <a:rPr lang="en-US" sz="1372" dirty="0">
                  <a:solidFill>
                    <a:srgbClr val="000000"/>
                  </a:solidFill>
                  <a:latin typeface="Segoe UI"/>
                </a:rPr>
                <a:t>Inherit a tag from the resource group if missing</a:t>
              </a:r>
              <a:endParaRPr lang="fr-FR" sz="1372" dirty="0">
                <a:solidFill>
                  <a:srgbClr val="000000"/>
                </a:solidFill>
                <a:latin typeface="Segoe UI"/>
              </a:endParaRPr>
            </a:p>
          </p:txBody>
        </p:sp>
        <p:cxnSp>
          <p:nvCxnSpPr>
            <p:cNvPr id="26" name="Straight Arrow Connector 25">
              <a:extLst>
                <a:ext uri="{FF2B5EF4-FFF2-40B4-BE49-F238E27FC236}">
                  <a16:creationId xmlns:a16="http://schemas.microsoft.com/office/drawing/2014/main" id="{DE4169EA-5924-BD81-3DDA-A14A11A81E1E}"/>
                </a:ext>
              </a:extLst>
            </p:cNvPr>
            <p:cNvCxnSpPr>
              <a:cxnSpLocks/>
              <a:stCxn id="24" idx="1"/>
            </p:cNvCxnSpPr>
            <p:nvPr/>
          </p:nvCxnSpPr>
          <p:spPr>
            <a:xfrm flipH="1" flipV="1">
              <a:off x="3199583" y="2692622"/>
              <a:ext cx="1789623" cy="2077808"/>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9641A8F-9BEC-ACDE-CA74-E8FD2BA590EF}"/>
                </a:ext>
              </a:extLst>
            </p:cNvPr>
            <p:cNvSpPr txBox="1"/>
            <p:nvPr/>
          </p:nvSpPr>
          <p:spPr>
            <a:xfrm>
              <a:off x="4762860" y="1799072"/>
              <a:ext cx="3599013" cy="301727"/>
            </a:xfrm>
            <a:prstGeom prst="rect">
              <a:avLst/>
            </a:prstGeom>
            <a:noFill/>
          </p:spPr>
          <p:txBody>
            <a:bodyPr wrap="square">
              <a:spAutoFit/>
            </a:bodyPr>
            <a:lstStyle/>
            <a:p>
              <a:pPr defTabSz="914367"/>
              <a:r>
                <a:rPr lang="en-US" sz="1372" b="1" dirty="0">
                  <a:solidFill>
                    <a:schemeClr val="tx2">
                      <a:lumMod val="50000"/>
                    </a:schemeClr>
                  </a:solidFill>
                  <a:latin typeface="Segoe UI"/>
                </a:rPr>
                <a:t>Task 2</a:t>
              </a:r>
              <a:endParaRPr lang="fr-FR" sz="1372" b="1" dirty="0">
                <a:solidFill>
                  <a:schemeClr val="tx2">
                    <a:lumMod val="50000"/>
                  </a:schemeClr>
                </a:solidFill>
                <a:latin typeface="Segoe UI"/>
              </a:endParaRPr>
            </a:p>
          </p:txBody>
        </p:sp>
        <p:sp>
          <p:nvSpPr>
            <p:cNvPr id="28" name="TextBox 27">
              <a:extLst>
                <a:ext uri="{FF2B5EF4-FFF2-40B4-BE49-F238E27FC236}">
                  <a16:creationId xmlns:a16="http://schemas.microsoft.com/office/drawing/2014/main" id="{7E2B8D97-2F94-FD00-7CED-D7B7C7AF2C4B}"/>
                </a:ext>
              </a:extLst>
            </p:cNvPr>
            <p:cNvSpPr txBox="1"/>
            <p:nvPr/>
          </p:nvSpPr>
          <p:spPr>
            <a:xfrm>
              <a:off x="623791" y="4181590"/>
              <a:ext cx="945290" cy="301727"/>
            </a:xfrm>
            <a:prstGeom prst="rect">
              <a:avLst/>
            </a:prstGeom>
            <a:noFill/>
          </p:spPr>
          <p:txBody>
            <a:bodyPr wrap="square">
              <a:spAutoFit/>
            </a:bodyPr>
            <a:lstStyle/>
            <a:p>
              <a:pPr defTabSz="914367"/>
              <a:r>
                <a:rPr lang="en-US" sz="1372" b="1" dirty="0">
                  <a:solidFill>
                    <a:schemeClr val="tx2">
                      <a:lumMod val="50000"/>
                    </a:schemeClr>
                  </a:solidFill>
                  <a:latin typeface="Segoe UI"/>
                </a:rPr>
                <a:t>Task 3</a:t>
              </a:r>
              <a:endParaRPr lang="en-US" sz="1372" dirty="0">
                <a:solidFill>
                  <a:schemeClr val="tx2">
                    <a:lumMod val="50000"/>
                  </a:schemeClr>
                </a:solidFill>
                <a:latin typeface="Segoe UI"/>
              </a:endParaRPr>
            </a:p>
          </p:txBody>
        </p:sp>
        <p:pic>
          <p:nvPicPr>
            <p:cNvPr id="29" name="Graphic 28">
              <a:extLst>
                <a:ext uri="{FF2B5EF4-FFF2-40B4-BE49-F238E27FC236}">
                  <a16:creationId xmlns:a16="http://schemas.microsoft.com/office/drawing/2014/main" id="{B1A24EF1-E682-D857-DA08-09EF35BDE10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98623" y="4452640"/>
              <a:ext cx="497308" cy="497308"/>
            </a:xfrm>
            <a:prstGeom prst="rect">
              <a:avLst/>
            </a:prstGeom>
          </p:spPr>
        </p:pic>
        <p:sp>
          <p:nvSpPr>
            <p:cNvPr id="30" name="TextBox 29">
              <a:extLst>
                <a:ext uri="{FF2B5EF4-FFF2-40B4-BE49-F238E27FC236}">
                  <a16:creationId xmlns:a16="http://schemas.microsoft.com/office/drawing/2014/main" id="{2BC4956D-93F0-ADE4-F2F7-D00F1A953086}"/>
                </a:ext>
              </a:extLst>
            </p:cNvPr>
            <p:cNvSpPr txBox="1"/>
            <p:nvPr/>
          </p:nvSpPr>
          <p:spPr>
            <a:xfrm>
              <a:off x="1003401" y="4975843"/>
              <a:ext cx="2530871" cy="512935"/>
            </a:xfrm>
            <a:prstGeom prst="rect">
              <a:avLst/>
            </a:prstGeom>
            <a:noFill/>
          </p:spPr>
          <p:txBody>
            <a:bodyPr wrap="square">
              <a:spAutoFit/>
            </a:bodyPr>
            <a:lstStyle/>
            <a:p>
              <a:pPr defTabSz="914367"/>
              <a:r>
                <a:rPr lang="fr-FR" sz="1372" b="1" dirty="0">
                  <a:solidFill>
                    <a:srgbClr val="000000"/>
                  </a:solidFill>
                  <a:latin typeface="Segoe UI"/>
                </a:rPr>
                <a:t>New Storage Account </a:t>
              </a:r>
            </a:p>
            <a:p>
              <a:pPr defTabSz="914367"/>
              <a:endParaRPr lang="fr-FR" sz="1372" b="1" dirty="0">
                <a:solidFill>
                  <a:srgbClr val="000000"/>
                </a:solidFill>
                <a:latin typeface="Segoe UI"/>
              </a:endParaRPr>
            </a:p>
          </p:txBody>
        </p:sp>
        <p:pic>
          <p:nvPicPr>
            <p:cNvPr id="31" name="Graphic 30">
              <a:extLst>
                <a:ext uri="{FF2B5EF4-FFF2-40B4-BE49-F238E27FC236}">
                  <a16:creationId xmlns:a16="http://schemas.microsoft.com/office/drawing/2014/main" id="{6B89C98E-BF86-9E7F-9CBD-F959785A1C5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72094" y="4566117"/>
              <a:ext cx="281974" cy="281974"/>
            </a:xfrm>
            <a:prstGeom prst="rect">
              <a:avLst/>
            </a:prstGeom>
          </p:spPr>
        </p:pic>
        <p:sp>
          <p:nvSpPr>
            <p:cNvPr id="32" name="Rectangle 31">
              <a:extLst>
                <a:ext uri="{FF2B5EF4-FFF2-40B4-BE49-F238E27FC236}">
                  <a16:creationId xmlns:a16="http://schemas.microsoft.com/office/drawing/2014/main" id="{4914596F-F4C6-285E-EF7D-048F775D6E1A}"/>
                </a:ext>
              </a:extLst>
            </p:cNvPr>
            <p:cNvSpPr/>
            <p:nvPr/>
          </p:nvSpPr>
          <p:spPr bwMode="auto">
            <a:xfrm>
              <a:off x="623791" y="2922880"/>
              <a:ext cx="2575792" cy="2722510"/>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sp>
          <p:nvSpPr>
            <p:cNvPr id="33" name="TextBox 32">
              <a:extLst>
                <a:ext uri="{FF2B5EF4-FFF2-40B4-BE49-F238E27FC236}">
                  <a16:creationId xmlns:a16="http://schemas.microsoft.com/office/drawing/2014/main" id="{A11860EC-9EFD-CF80-3C1F-DBB23E4D3F4A}"/>
                </a:ext>
              </a:extLst>
            </p:cNvPr>
            <p:cNvSpPr txBox="1"/>
            <p:nvPr/>
          </p:nvSpPr>
          <p:spPr>
            <a:xfrm>
              <a:off x="464740" y="1251714"/>
              <a:ext cx="2570248" cy="301727"/>
            </a:xfrm>
            <a:prstGeom prst="rect">
              <a:avLst/>
            </a:prstGeom>
            <a:noFill/>
          </p:spPr>
          <p:txBody>
            <a:bodyPr wrap="square">
              <a:spAutoFit/>
            </a:bodyPr>
            <a:lstStyle/>
            <a:p>
              <a:pPr defTabSz="914367"/>
              <a:r>
                <a:rPr lang="en-US" sz="1372" b="1" dirty="0">
                  <a:solidFill>
                    <a:schemeClr val="tx2">
                      <a:lumMod val="50000"/>
                    </a:schemeClr>
                  </a:solidFill>
                  <a:latin typeface="Segoe UI"/>
                </a:rPr>
                <a:t>Task 1</a:t>
              </a:r>
              <a:endParaRPr lang="fr-FR" sz="1372" dirty="0">
                <a:solidFill>
                  <a:schemeClr val="tx2">
                    <a:lumMod val="50000"/>
                  </a:schemeClr>
                </a:solidFill>
                <a:latin typeface="Segoe UI"/>
              </a:endParaRPr>
            </a:p>
          </p:txBody>
        </p:sp>
        <p:cxnSp>
          <p:nvCxnSpPr>
            <p:cNvPr id="34" name="Straight Arrow Connector 33">
              <a:extLst>
                <a:ext uri="{FF2B5EF4-FFF2-40B4-BE49-F238E27FC236}">
                  <a16:creationId xmlns:a16="http://schemas.microsoft.com/office/drawing/2014/main" id="{80CF50F7-34DF-A9CC-2DD7-FE0F617101EA}"/>
                </a:ext>
              </a:extLst>
            </p:cNvPr>
            <p:cNvCxnSpPr/>
            <p:nvPr/>
          </p:nvCxnSpPr>
          <p:spPr>
            <a:xfrm flipH="1">
              <a:off x="3199584" y="2481100"/>
              <a:ext cx="1670055"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6502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29</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502</TotalTime>
  <Words>2789</Words>
  <Application>Microsoft Office PowerPoint</Application>
  <PresentationFormat>Widescreen</PresentationFormat>
  <Paragraphs>420</Paragraphs>
  <Slides>29</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Arial</vt:lpstr>
      <vt:lpstr>Calibri</vt:lpstr>
      <vt:lpstr>Calibri Light</vt:lpstr>
      <vt:lpstr>Consolas</vt:lpstr>
      <vt:lpstr>Lato</vt:lpstr>
      <vt:lpstr>Proxima Nova</vt:lpstr>
      <vt:lpstr>Segoe UI</vt:lpstr>
      <vt:lpstr>Segoe UI Light</vt:lpstr>
      <vt:lpstr>Segoe UI Semibold</vt:lpstr>
      <vt:lpstr>Segoe UI VSS (Regular)</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Jannet</dc:creator>
  <cp:lastModifiedBy>Nikunj Singhal</cp:lastModifiedBy>
  <cp:revision>8</cp:revision>
  <dcterms:created xsi:type="dcterms:W3CDTF">2024-07-23T11:56:01Z</dcterms:created>
  <dcterms:modified xsi:type="dcterms:W3CDTF">2024-10-22T15:36:42Z</dcterms:modified>
</cp:coreProperties>
</file>