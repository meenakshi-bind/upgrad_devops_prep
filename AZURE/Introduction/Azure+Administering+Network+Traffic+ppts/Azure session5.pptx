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903" r:id="rId3"/>
    <p:sldId id="902" r:id="rId4"/>
    <p:sldId id="901" r:id="rId5"/>
    <p:sldId id="904" r:id="rId6"/>
    <p:sldId id="905" r:id="rId7"/>
    <p:sldId id="906" r:id="rId8"/>
    <p:sldId id="907" r:id="rId9"/>
    <p:sldId id="908" r:id="rId10"/>
    <p:sldId id="909" r:id="rId11"/>
    <p:sldId id="910" r:id="rId12"/>
    <p:sldId id="911" r:id="rId13"/>
    <p:sldId id="912" r:id="rId14"/>
    <p:sldId id="913" r:id="rId15"/>
    <p:sldId id="914" r:id="rId16"/>
    <p:sldId id="915" r:id="rId17"/>
    <p:sldId id="916" r:id="rId18"/>
    <p:sldId id="50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061" autoAdjust="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13585-F2F7-4CAB-A4E4-1512BB9B545B}" type="datetimeFigureOut">
              <a:rPr lang="en-IN" smtClean="0"/>
              <a:t>07-11-2024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69316-F612-48C3-B1C7-701A2C12BC02}" type="slidenum">
              <a:rPr lang="en-IN" smtClean="0"/>
              <a:t>‹#›</a:t>
            </a:fld>
            <a:endParaRPr lang="en-IN"/>
          </a:p>
        </p:txBody>
      </p:sp>
    </p:spTree>
    <p:extLst>
      <p:ext uri="{BB962C8B-B14F-4D97-AF65-F5344CB8AC3E}">
        <p14:creationId xmlns:p14="http://schemas.microsoft.com/office/powerpoint/2010/main" val="83973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Create, change, or delete a virtual network peering - https://docs.microsoft.com/azure/virtual-network/virtual-network-manage-peering#requirements-and-constraints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Tutorial: Connect virtual networks with virtual network peering using the Azure portal - https://docs.microsoft.com/azure/virtual-network/tutorial-connect-virtual-networks-portal</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 When you add a peering on one virtual network, the second virtual network configuration is automatically added.</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4</a:t>
            </a:fld>
            <a:endParaRPr lang="en-IN"/>
          </a:p>
        </p:txBody>
      </p:sp>
    </p:spTree>
    <p:extLst>
      <p:ext uri="{BB962C8B-B14F-4D97-AF65-F5344CB8AC3E}">
        <p14:creationId xmlns:p14="http://schemas.microsoft.com/office/powerpoint/2010/main" val="599438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Distribute your services across Azure virtual networks and integrate them by using virtual network peering - https://docs.microsoft.com/learn/modules/integrate-vnets-with-vnet-peering</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5</a:t>
            </a:fld>
            <a:endParaRPr lang="en-IN"/>
          </a:p>
        </p:txBody>
      </p:sp>
    </p:spTree>
    <p:extLst>
      <p:ext uri="{BB962C8B-B14F-4D97-AF65-F5344CB8AC3E}">
        <p14:creationId xmlns:p14="http://schemas.microsoft.com/office/powerpoint/2010/main" val="3669709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Virtual Network Peering- https://microsoftlearning.github.io/AZ-104-MicrosoftAzureAdministrator/Instructions/Demos/05%20-%20Administer%20Intersite%20Connectivity.html#configure-vnet-peering</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6</a:t>
            </a:fld>
            <a:endParaRPr lang="en-IN"/>
          </a:p>
        </p:txBody>
      </p:sp>
    </p:spTree>
    <p:extLst>
      <p:ext uri="{BB962C8B-B14F-4D97-AF65-F5344CB8AC3E}">
        <p14:creationId xmlns:p14="http://schemas.microsoft.com/office/powerpoint/2010/main" val="3421140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Virtual network traffic routing - https://docs.microsoft.com/azure/virtual-network/virtual-networks-udr-overview</a:t>
            </a:r>
          </a:p>
          <a:p>
            <a:endParaRPr lang="en-US" dirty="0"/>
          </a:p>
          <a:p>
            <a:r>
              <a:rPr lang="en-US" dirty="0"/>
              <a:t>✔ Each route table can be associated to multiple subnets, but a subnet can only be associated to a single route table. There are no additional charges for creating route tables in Microsoft Azure. Do you think you will need to create custom routes?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9</a:t>
            </a:fld>
            <a:endParaRPr lang="en-IN"/>
          </a:p>
        </p:txBody>
      </p:sp>
    </p:spTree>
    <p:extLst>
      <p:ext uri="{BB962C8B-B14F-4D97-AF65-F5344CB8AC3E}">
        <p14:creationId xmlns:p14="http://schemas.microsoft.com/office/powerpoint/2010/main" val="3160726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2 topics in the student content. </a:t>
            </a:r>
          </a:p>
          <a:p>
            <a:endParaRPr lang="en-US" dirty="0"/>
          </a:p>
          <a:p>
            <a:r>
              <a:rPr lang="en-US" dirty="0"/>
              <a:t>Virtual network service endpoints - https://docs.microsoft.com/azure/virtual-network/virtual-network-service-endpoints-overview</a:t>
            </a:r>
          </a:p>
          <a:p>
            <a:endParaRPr lang="en-US" dirty="0"/>
          </a:p>
          <a:p>
            <a:r>
              <a:rPr lang="en-US" dirty="0"/>
              <a:t>Tutorial: Restrict network access to PaaS resources with virtual network service endpoints using the Azure portal - https://docs.microsoft.com/azure/virtual-network/tutorial-restrict-network-access-to-resources</a:t>
            </a:r>
          </a:p>
          <a:p>
            <a:endParaRPr lang="en-US" dirty="0"/>
          </a:p>
          <a:p>
            <a:pPr marL="171450" indent="-171450">
              <a:buFont typeface="Arial" panose="020B0604020202020204" pitchFamily="34" charset="0"/>
              <a:buChar char="•"/>
            </a:pPr>
            <a:r>
              <a:rPr lang="en-US" dirty="0"/>
              <a:t>Improved security for your resources</a:t>
            </a:r>
          </a:p>
          <a:p>
            <a:pPr marL="171450" indent="-171450">
              <a:buFont typeface="Arial" panose="020B0604020202020204" pitchFamily="34" charset="0"/>
              <a:buChar char="•"/>
            </a:pPr>
            <a:r>
              <a:rPr lang="en-US" dirty="0"/>
              <a:t>Optimal routing for your services</a:t>
            </a:r>
          </a:p>
          <a:p>
            <a:pPr marL="171450" indent="-171450">
              <a:buFont typeface="Arial" panose="020B0604020202020204" pitchFamily="34" charset="0"/>
              <a:buChar char="•"/>
            </a:pPr>
            <a:r>
              <a:rPr lang="en-US" dirty="0"/>
              <a:t>Uses the Azure backbone and is simple to configure</a:t>
            </a:r>
          </a:p>
          <a:p>
            <a:endParaRPr lang="en-US" dirty="0"/>
          </a:p>
          <a:p>
            <a:r>
              <a:rPr lang="en-US" dirty="0"/>
              <a:t>✔️ Can you see a use for service endpoints in your organization?</a:t>
            </a:r>
          </a:p>
          <a:p>
            <a:endParaRPr lang="en-US" dirty="0">
              <a:cs typeface="Calibri"/>
            </a:endParaRP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11</a:t>
            </a:fld>
            <a:endParaRPr lang="en-IN"/>
          </a:p>
        </p:txBody>
      </p:sp>
    </p:spTree>
    <p:extLst>
      <p:ext uri="{BB962C8B-B14F-4D97-AF65-F5344CB8AC3E}">
        <p14:creationId xmlns:p14="http://schemas.microsoft.com/office/powerpoint/2010/main" val="3968761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engage students and reinforce topics that have just been covered. If you remove the green square (??) the product icon will show. Discuss the options with the students. </a:t>
            </a:r>
          </a:p>
          <a:p>
            <a:endParaRPr lang="en-US" dirty="0"/>
          </a:p>
          <a:p>
            <a:r>
              <a:rPr lang="en-US" dirty="0"/>
              <a:t>Site to site = On-premises networks to Azure virtual networks</a:t>
            </a:r>
            <a:endParaRPr lang="en-US" dirty="0">
              <a:cs typeface="Calibri"/>
            </a:endParaRPr>
          </a:p>
          <a:p>
            <a:r>
              <a:rPr lang="en-US" dirty="0"/>
              <a:t>Point to Site = On-premises machines to Azure virtual networks</a:t>
            </a:r>
            <a:endParaRPr lang="en-US" dirty="0">
              <a:cs typeface="Calibri"/>
            </a:endParaRPr>
          </a:p>
          <a:p>
            <a:r>
              <a:rPr lang="en-US" dirty="0"/>
              <a:t>Gateway subnet name = </a:t>
            </a:r>
            <a:r>
              <a:rPr lang="en-US" dirty="0" err="1"/>
              <a:t>GatewaySubnet</a:t>
            </a:r>
            <a:endParaRPr lang="en-US" dirty="0">
              <a:cs typeface="Calibri"/>
            </a:endParaRPr>
          </a:p>
          <a:p>
            <a:r>
              <a:rPr lang="en-US" dirty="0"/>
              <a:t>Azure firewall subnet name = </a:t>
            </a:r>
            <a:r>
              <a:rPr lang="en-US" dirty="0" err="1"/>
              <a:t>AzureFirewallSubnet</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59769316-F612-48C3-B1C7-701A2C12BC02}" type="slidenum">
              <a:rPr lang="en-IN" smtClean="0"/>
              <a:t>14</a:t>
            </a:fld>
            <a:endParaRPr lang="en-IN"/>
          </a:p>
        </p:txBody>
      </p:sp>
    </p:spTree>
    <p:extLst>
      <p:ext uri="{BB962C8B-B14F-4D97-AF65-F5344CB8AC3E}">
        <p14:creationId xmlns:p14="http://schemas.microsoft.com/office/powerpoint/2010/main" val="3611611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architecture diagram is for the interactive lab simulation, if you want to review that. </a:t>
            </a:r>
          </a:p>
          <a:p>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17</a:t>
            </a:fld>
            <a:endParaRPr lang="en-IN"/>
          </a:p>
        </p:txBody>
      </p:sp>
    </p:spTree>
    <p:extLst>
      <p:ext uri="{BB962C8B-B14F-4D97-AF65-F5344CB8AC3E}">
        <p14:creationId xmlns:p14="http://schemas.microsoft.com/office/powerpoint/2010/main" val="4014019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D30F-11CB-4A38-D5FC-43AB22400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3EC942-BB8A-34AC-C497-D4FD2BED0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C1584A-C19D-2D97-0AF6-751B4D270ED7}"/>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5" name="Footer Placeholder 4">
            <a:extLst>
              <a:ext uri="{FF2B5EF4-FFF2-40B4-BE49-F238E27FC236}">
                <a16:creationId xmlns:a16="http://schemas.microsoft.com/office/drawing/2014/main" id="{45337BBA-1403-8ADF-3C89-1C56F6A7F4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84B5EE-694E-0DD6-FBBC-DAEE073BFFF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80336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A2D-7795-829E-0317-35A6629C77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39A543-0209-7742-9E7A-1C9448B445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87CC4-06DF-0598-CF9B-17940CC13B33}"/>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5" name="Footer Placeholder 4">
            <a:extLst>
              <a:ext uri="{FF2B5EF4-FFF2-40B4-BE49-F238E27FC236}">
                <a16:creationId xmlns:a16="http://schemas.microsoft.com/office/drawing/2014/main" id="{E2A7B6F1-E547-28F3-214B-E14FA297E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2887C7-35CB-E756-85E9-6ED61FF74BC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16568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13AF-764B-9BED-839B-1F2548D99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5A1ABD-DC52-E5BB-2552-51A8C55B30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81113-125C-2AC5-EA8C-E51F723684D2}"/>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5" name="Footer Placeholder 4">
            <a:extLst>
              <a:ext uri="{FF2B5EF4-FFF2-40B4-BE49-F238E27FC236}">
                <a16:creationId xmlns:a16="http://schemas.microsoft.com/office/drawing/2014/main" id="{FF90F60A-D639-FC0E-6607-3F9FDD3D25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821C5-E274-8177-0A84-61FBD13E10E8}"/>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9094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8B2C-B56C-65F9-D55A-03C415602C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EEC924-40A7-CCC5-5467-954F49538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846483-F4A5-9F85-2F36-57685DC1C6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E92291-7FB4-9BC0-C08C-602E7E48CF7A}"/>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6" name="Footer Placeholder 5">
            <a:extLst>
              <a:ext uri="{FF2B5EF4-FFF2-40B4-BE49-F238E27FC236}">
                <a16:creationId xmlns:a16="http://schemas.microsoft.com/office/drawing/2014/main" id="{4B0FF5A3-AFC2-83AF-3AC5-A2DFC37C7D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11BCC1-B192-509A-B182-FDA38BEC59F6}"/>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8060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9D4F-6499-4E62-6BC4-A864B371F3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05EE0A-2D64-6EA3-C393-6A793B336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6FDC3-5665-D55A-BF31-4799773D5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D0E72C-7203-963D-54C2-7C5F8F9DDD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FB9FA4-2C32-85B9-E44F-E043C5711F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DA284C-82E5-0258-95ED-C939210BF6D6}"/>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8" name="Footer Placeholder 7">
            <a:extLst>
              <a:ext uri="{FF2B5EF4-FFF2-40B4-BE49-F238E27FC236}">
                <a16:creationId xmlns:a16="http://schemas.microsoft.com/office/drawing/2014/main" id="{5F287524-7C83-6978-13D2-682429417F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B0B3A0-9328-56ED-6165-5FE6725B0D9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62339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C313-A857-D2B6-4972-603A320971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EE6E7C-9E05-38A0-50E5-475C61D15BE9}"/>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4" name="Footer Placeholder 3">
            <a:extLst>
              <a:ext uri="{FF2B5EF4-FFF2-40B4-BE49-F238E27FC236}">
                <a16:creationId xmlns:a16="http://schemas.microsoft.com/office/drawing/2014/main" id="{BD55942B-9E3E-FE6B-DB1B-2B40E1C4EB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2D1D417-DE49-E1CE-4813-90A275904C7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6947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75A62D-5E35-4978-A21D-015D67A6AB3D}"/>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3" name="Footer Placeholder 2">
            <a:extLst>
              <a:ext uri="{FF2B5EF4-FFF2-40B4-BE49-F238E27FC236}">
                <a16:creationId xmlns:a16="http://schemas.microsoft.com/office/drawing/2014/main" id="{60BC7063-316D-7692-711E-1145293C60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A6D14C-0A1E-DA44-3394-36812D4E498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428228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54731-C279-E9B4-1350-D01064C5EC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044481-22CF-C3C5-7B97-22D9E52FB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3C30EE-D49D-6439-35A7-D564C5416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17929C-043F-5FF4-6D6D-171B825F589D}"/>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6" name="Footer Placeholder 5">
            <a:extLst>
              <a:ext uri="{FF2B5EF4-FFF2-40B4-BE49-F238E27FC236}">
                <a16:creationId xmlns:a16="http://schemas.microsoft.com/office/drawing/2014/main" id="{3D3329F1-C192-1700-B843-D4B943C388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88F1DF-4A4F-C67D-BE2E-1FE4CA53EB1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19379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8093-BF6B-B264-E311-398794DE8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CAD7C6-1734-B469-30B7-4A42BB71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1E643E-D7E3-7AB3-F45D-CE539AA73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495D1-052E-D029-A14D-9768E55A447B}"/>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6" name="Footer Placeholder 5">
            <a:extLst>
              <a:ext uri="{FF2B5EF4-FFF2-40B4-BE49-F238E27FC236}">
                <a16:creationId xmlns:a16="http://schemas.microsoft.com/office/drawing/2014/main" id="{72B11458-BD09-D7A2-90F1-22EA0A4D46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FAD0DC-C873-E862-BD92-71ED2A4CA8B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576875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3DAD-FBC8-F5A7-4DFF-0EB88A10A2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3120F-9120-CC06-97E9-33733579E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63293-6891-933A-C374-086A5CDA0532}"/>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5" name="Footer Placeholder 4">
            <a:extLst>
              <a:ext uri="{FF2B5EF4-FFF2-40B4-BE49-F238E27FC236}">
                <a16:creationId xmlns:a16="http://schemas.microsoft.com/office/drawing/2014/main" id="{BE87EA86-1716-99FC-624F-7814224536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BAD29-F34E-E7C3-A14F-532F8C89643F}"/>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3739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E1245-A4CF-CE70-BB65-F95B54A0BD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A2C1FE-EE55-4B51-5B5A-E44581E04A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3906AF-DE1E-E1BF-5B20-319686EA48CF}"/>
              </a:ext>
            </a:extLst>
          </p:cNvPr>
          <p:cNvSpPr>
            <a:spLocks noGrp="1"/>
          </p:cNvSpPr>
          <p:nvPr>
            <p:ph type="dt" sz="half" idx="10"/>
          </p:nvPr>
        </p:nvSpPr>
        <p:spPr/>
        <p:txBody>
          <a:bodyPr/>
          <a:lstStyle/>
          <a:p>
            <a:fld id="{0234CA72-CAC1-4B24-B91B-249F70378C1E}" type="datetimeFigureOut">
              <a:rPr lang="en-IN" smtClean="0"/>
              <a:t>07-11-2024</a:t>
            </a:fld>
            <a:endParaRPr lang="en-IN"/>
          </a:p>
        </p:txBody>
      </p:sp>
      <p:sp>
        <p:nvSpPr>
          <p:cNvPr id="5" name="Footer Placeholder 4">
            <a:extLst>
              <a:ext uri="{FF2B5EF4-FFF2-40B4-BE49-F238E27FC236}">
                <a16:creationId xmlns:a16="http://schemas.microsoft.com/office/drawing/2014/main" id="{671684D1-B61C-0604-F16A-3DAE3869A5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DF065-EA66-D400-5822-2008989BC685}"/>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5786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B1CA2-ECC1-4762-AAEA-FADDBF94C1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8F6B0-B57E-519B-311D-89ED42890B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5897C-4441-701B-8C16-69E4C437F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34CA72-CAC1-4B24-B91B-249F70378C1E}" type="datetimeFigureOut">
              <a:rPr lang="en-IN" smtClean="0"/>
              <a:t>07-11-2024</a:t>
            </a:fld>
            <a:endParaRPr lang="en-IN"/>
          </a:p>
        </p:txBody>
      </p:sp>
      <p:sp>
        <p:nvSpPr>
          <p:cNvPr id="5" name="Footer Placeholder 4">
            <a:extLst>
              <a:ext uri="{FF2B5EF4-FFF2-40B4-BE49-F238E27FC236}">
                <a16:creationId xmlns:a16="http://schemas.microsoft.com/office/drawing/2014/main" id="{BA1E07FF-709C-AC63-F960-09B72AA04D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4918F4-90CC-DE76-BC3D-75D676446A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046CFF-0251-42EF-8D79-279D9C60CF15}" type="slidenum">
              <a:rPr lang="en-IN" smtClean="0"/>
              <a:t>‹#›</a:t>
            </a:fld>
            <a:endParaRPr lang="en-IN"/>
          </a:p>
        </p:txBody>
      </p:sp>
    </p:spTree>
    <p:extLst>
      <p:ext uri="{BB962C8B-B14F-4D97-AF65-F5344CB8AC3E}">
        <p14:creationId xmlns:p14="http://schemas.microsoft.com/office/powerpoint/2010/main" val="1922165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image" Target="../media/image5.emf"/><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image" Target="../media/image24.svg"/><Relationship Id="rId26" Type="http://schemas.openxmlformats.org/officeDocument/2006/relationships/image" Target="../media/image32.png"/><Relationship Id="rId3" Type="http://schemas.openxmlformats.org/officeDocument/2006/relationships/image" Target="../media/image1.png"/><Relationship Id="rId21" Type="http://schemas.openxmlformats.org/officeDocument/2006/relationships/image" Target="../media/image27.png"/><Relationship Id="rId34" Type="http://schemas.openxmlformats.org/officeDocument/2006/relationships/image" Target="../media/image40.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23.png"/><Relationship Id="rId25" Type="http://schemas.openxmlformats.org/officeDocument/2006/relationships/image" Target="../media/image31.svg"/><Relationship Id="rId33" Type="http://schemas.openxmlformats.org/officeDocument/2006/relationships/image" Target="../media/image39.svg"/><Relationship Id="rId2" Type="http://schemas.openxmlformats.org/officeDocument/2006/relationships/notesSlide" Target="../notesSlides/notesSlide7.xml"/><Relationship Id="rId16" Type="http://schemas.openxmlformats.org/officeDocument/2006/relationships/image" Target="../media/image22.svg"/><Relationship Id="rId20" Type="http://schemas.openxmlformats.org/officeDocument/2006/relationships/image" Target="../media/image26.svg"/><Relationship Id="rId29" Type="http://schemas.openxmlformats.org/officeDocument/2006/relationships/image" Target="../media/image35.svg"/><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5" Type="http://schemas.openxmlformats.org/officeDocument/2006/relationships/image" Target="../media/image4.emf"/><Relationship Id="rId15" Type="http://schemas.openxmlformats.org/officeDocument/2006/relationships/image" Target="../media/image21.png"/><Relationship Id="rId23" Type="http://schemas.openxmlformats.org/officeDocument/2006/relationships/image" Target="../media/image29.emf"/><Relationship Id="rId28" Type="http://schemas.openxmlformats.org/officeDocument/2006/relationships/image" Target="../media/image34.png"/><Relationship Id="rId10" Type="http://schemas.openxmlformats.org/officeDocument/2006/relationships/image" Target="../media/image16.svg"/><Relationship Id="rId19" Type="http://schemas.openxmlformats.org/officeDocument/2006/relationships/image" Target="../media/image25.png"/><Relationship Id="rId31" Type="http://schemas.openxmlformats.org/officeDocument/2006/relationships/image" Target="../media/image37.svg"/><Relationship Id="rId4" Type="http://schemas.openxmlformats.org/officeDocument/2006/relationships/image" Target="../media/image3.emf"/><Relationship Id="rId9" Type="http://schemas.openxmlformats.org/officeDocument/2006/relationships/image" Target="../media/image15.png"/><Relationship Id="rId14" Type="http://schemas.openxmlformats.org/officeDocument/2006/relationships/image" Target="../media/image20.svg"/><Relationship Id="rId22" Type="http://schemas.openxmlformats.org/officeDocument/2006/relationships/image" Target="../media/image28.svg"/><Relationship Id="rId27" Type="http://schemas.openxmlformats.org/officeDocument/2006/relationships/image" Target="../media/image33.svg"/><Relationship Id="rId30" Type="http://schemas.openxmlformats.org/officeDocument/2006/relationships/image" Target="../media/image36.png"/><Relationship Id="rId35" Type="http://schemas.openxmlformats.org/officeDocument/2006/relationships/image" Target="../media/image41.svg"/><Relationship Id="rId8" Type="http://schemas.openxmlformats.org/officeDocument/2006/relationships/image" Target="../media/image14.svg"/></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14.svg"/><Relationship Id="rId18" Type="http://schemas.openxmlformats.org/officeDocument/2006/relationships/image" Target="../media/image49.png"/><Relationship Id="rId3" Type="http://schemas.openxmlformats.org/officeDocument/2006/relationships/image" Target="../media/image3.emf"/><Relationship Id="rId21" Type="http://schemas.openxmlformats.org/officeDocument/2006/relationships/image" Target="../media/image52.svg"/><Relationship Id="rId7" Type="http://schemas.openxmlformats.org/officeDocument/2006/relationships/image" Target="../media/image43.svg"/><Relationship Id="rId12" Type="http://schemas.openxmlformats.org/officeDocument/2006/relationships/image" Target="../media/image13.png"/><Relationship Id="rId17" Type="http://schemas.openxmlformats.org/officeDocument/2006/relationships/image" Target="../media/image48.svg"/><Relationship Id="rId2" Type="http://schemas.openxmlformats.org/officeDocument/2006/relationships/image" Target="../media/image1.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37.svg"/><Relationship Id="rId5" Type="http://schemas.openxmlformats.org/officeDocument/2006/relationships/image" Target="../media/image5.emf"/><Relationship Id="rId15" Type="http://schemas.openxmlformats.org/officeDocument/2006/relationships/image" Target="../media/image46.svg"/><Relationship Id="rId10" Type="http://schemas.openxmlformats.org/officeDocument/2006/relationships/image" Target="../media/image36.png"/><Relationship Id="rId19" Type="http://schemas.openxmlformats.org/officeDocument/2006/relationships/image" Target="../media/image50.svg"/><Relationship Id="rId4" Type="http://schemas.openxmlformats.org/officeDocument/2006/relationships/image" Target="../media/image4.emf"/><Relationship Id="rId9" Type="http://schemas.openxmlformats.org/officeDocument/2006/relationships/image" Target="../media/image44.svg"/><Relationship Id="rId14"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36.png"/><Relationship Id="rId12" Type="http://schemas.openxmlformats.org/officeDocument/2006/relationships/image" Target="../media/image43.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42.png"/><Relationship Id="rId5" Type="http://schemas.openxmlformats.org/officeDocument/2006/relationships/image" Target="../media/image4.emf"/><Relationship Id="rId10" Type="http://schemas.openxmlformats.org/officeDocument/2006/relationships/image" Target="../media/image35.svg"/><Relationship Id="rId4" Type="http://schemas.openxmlformats.org/officeDocument/2006/relationships/image" Target="../media/image3.emf"/><Relationship Id="rId9" Type="http://schemas.openxmlformats.org/officeDocument/2006/relationships/image" Target="../media/image34.png"/><Relationship Id="rId1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r>
              <a:rPr lang="en-US" sz="4800">
                <a:solidFill>
                  <a:sysClr val="windowText" lastClr="000000"/>
                </a:solidFill>
                <a:latin typeface="Proxima Nova"/>
                <a:ea typeface="Proxima Nova"/>
                <a:cs typeface="Proxima Nova"/>
                <a:sym typeface="Proxima Nova"/>
              </a:rPr>
              <a:t>Configure </a:t>
            </a:r>
            <a:r>
              <a:rPr lang="en-US" sz="4800" dirty="0" err="1">
                <a:solidFill>
                  <a:sysClr val="windowText" lastClr="000000"/>
                </a:solidFill>
                <a:latin typeface="Proxima Nova"/>
                <a:ea typeface="Proxima Nova"/>
                <a:cs typeface="Proxima Nova"/>
                <a:sym typeface="Proxima Nova"/>
              </a:rPr>
              <a:t>VNet</a:t>
            </a:r>
            <a:r>
              <a:rPr lang="en-US" sz="4800" dirty="0">
                <a:solidFill>
                  <a:sysClr val="windowText" lastClr="000000"/>
                </a:solidFill>
                <a:latin typeface="Proxima Nova"/>
                <a:ea typeface="Proxima Nova"/>
                <a:cs typeface="Proxima Nova"/>
                <a:sym typeface="Proxima Nova"/>
              </a:rPr>
              <a:t> Peering</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A6B531DA-CC09-FCF0-7A42-AA8B46AB48B1}"/>
              </a:ext>
            </a:extLst>
          </p:cNvPr>
          <p:cNvSpPr txBox="1">
            <a:spLocks/>
          </p:cNvSpPr>
          <p:nvPr/>
        </p:nvSpPr>
        <p:spPr>
          <a:xfrm>
            <a:off x="1002585" y="1250029"/>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Determine VNet Peering Uses</a:t>
            </a:r>
            <a:endParaRPr lang="en-US" dirty="0"/>
          </a:p>
        </p:txBody>
      </p:sp>
      <p:sp>
        <p:nvSpPr>
          <p:cNvPr id="11" name="Rectangle 10">
            <a:extLst>
              <a:ext uri="{FF2B5EF4-FFF2-40B4-BE49-F238E27FC236}">
                <a16:creationId xmlns:a16="http://schemas.microsoft.com/office/drawing/2014/main" id="{0D321D23-F908-667F-90C7-6901491C96E1}"/>
              </a:ext>
              <a:ext uri="{C183D7F6-B498-43B3-948B-1728B52AA6E4}">
                <adec:decorative xmlns:adec="http://schemas.microsoft.com/office/drawing/2017/decorative" val="0"/>
              </a:ext>
            </a:extLst>
          </p:cNvPr>
          <p:cNvSpPr/>
          <p:nvPr/>
        </p:nvSpPr>
        <p:spPr bwMode="auto">
          <a:xfrm>
            <a:off x="1002464" y="4530692"/>
            <a:ext cx="9271835" cy="183924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285750" indent="-285750">
              <a:spcBef>
                <a:spcPts val="1200"/>
              </a:spcBef>
              <a:buFont typeface="Arial" panose="020B0604020202020204" pitchFamily="34" charset="0"/>
              <a:buChar char="•"/>
            </a:pPr>
            <a:r>
              <a:rPr lang="en-US" dirty="0">
                <a:solidFill>
                  <a:schemeClr val="tx1"/>
                </a:solidFill>
              </a:rPr>
              <a:t>Two types of peering: Global and Regional</a:t>
            </a:r>
          </a:p>
          <a:p>
            <a:pPr marL="285750" indent="-285750">
              <a:spcBef>
                <a:spcPts val="1200"/>
              </a:spcBef>
              <a:buFont typeface="Arial" panose="020B0604020202020204" pitchFamily="34" charset="0"/>
              <a:buChar char="•"/>
            </a:pPr>
            <a:r>
              <a:rPr lang="en-US" dirty="0">
                <a:solidFill>
                  <a:schemeClr val="tx1"/>
                </a:solidFill>
              </a:rPr>
              <a:t>Connects two Azure virtual networks – you can peer across subscriptions and tenants</a:t>
            </a:r>
          </a:p>
          <a:p>
            <a:pPr marL="285750" indent="-285750">
              <a:spcBef>
                <a:spcPts val="1200"/>
              </a:spcBef>
              <a:buFont typeface="Arial" panose="020B0604020202020204" pitchFamily="34" charset="0"/>
              <a:buChar char="•"/>
            </a:pPr>
            <a:r>
              <a:rPr lang="en-US" dirty="0">
                <a:solidFill>
                  <a:schemeClr val="tx1"/>
                </a:solidFill>
              </a:rPr>
              <a:t>Peered networks use the Azure backbone for privacy and isolation</a:t>
            </a:r>
          </a:p>
          <a:p>
            <a:pPr marL="285750" indent="-285750">
              <a:spcBef>
                <a:spcPts val="1200"/>
              </a:spcBef>
              <a:buFont typeface="Arial" panose="020B0604020202020204" pitchFamily="34" charset="0"/>
              <a:buChar char="•"/>
            </a:pPr>
            <a:r>
              <a:rPr lang="en-US" dirty="0">
                <a:solidFill>
                  <a:schemeClr val="tx1"/>
                </a:solidFill>
              </a:rPr>
              <a:t>Easy to setup, seamless data transfer, and great performance</a:t>
            </a:r>
          </a:p>
        </p:txBody>
      </p:sp>
      <p:sp>
        <p:nvSpPr>
          <p:cNvPr id="12" name="Rectangle 11">
            <a:extLst>
              <a:ext uri="{FF2B5EF4-FFF2-40B4-BE49-F238E27FC236}">
                <a16:creationId xmlns:a16="http://schemas.microsoft.com/office/drawing/2014/main" id="{15A55E46-D611-1344-9965-BA5D58F9515D}"/>
              </a:ext>
              <a:ext uri="{C183D7F6-B498-43B3-948B-1728B52AA6E4}">
                <adec:decorative xmlns:adec="http://schemas.microsoft.com/office/drawing/2017/decorative" val="1"/>
              </a:ext>
            </a:extLst>
          </p:cNvPr>
          <p:cNvSpPr/>
          <p:nvPr/>
        </p:nvSpPr>
        <p:spPr bwMode="auto">
          <a:xfrm>
            <a:off x="964486" y="1874785"/>
            <a:ext cx="11582400" cy="223427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descr="Two re">
            <a:extLst>
              <a:ext uri="{FF2B5EF4-FFF2-40B4-BE49-F238E27FC236}">
                <a16:creationId xmlns:a16="http://schemas.microsoft.com/office/drawing/2014/main" id="{F9A2E1A9-7E49-0BF4-F061-D9E7E5D75C3B}"/>
              </a:ext>
            </a:extLst>
          </p:cNvPr>
          <p:cNvGrpSpPr/>
          <p:nvPr/>
        </p:nvGrpSpPr>
        <p:grpSpPr>
          <a:xfrm>
            <a:off x="2604932" y="2333148"/>
            <a:ext cx="7404989" cy="1438502"/>
            <a:chOff x="3965172" y="1620582"/>
            <a:chExt cx="7404989" cy="1438502"/>
          </a:xfrm>
        </p:grpSpPr>
        <p:sp>
          <p:nvSpPr>
            <p:cNvPr id="14" name="Rectangle 13">
              <a:extLst>
                <a:ext uri="{FF2B5EF4-FFF2-40B4-BE49-F238E27FC236}">
                  <a16:creationId xmlns:a16="http://schemas.microsoft.com/office/drawing/2014/main" id="{060626DE-BFB1-6069-4669-3DA8F5533418}"/>
                </a:ext>
              </a:extLst>
            </p:cNvPr>
            <p:cNvSpPr/>
            <p:nvPr/>
          </p:nvSpPr>
          <p:spPr>
            <a:xfrm>
              <a:off x="7209846" y="1802674"/>
              <a:ext cx="4160315" cy="1242555"/>
            </a:xfrm>
            <a:prstGeom prst="rect">
              <a:avLst/>
            </a:prstGeom>
            <a:noFill/>
            <a:ln w="12700" cap="flat" cmpd="sng" algn="ctr">
              <a:solidFill>
                <a:srgbClr val="A5A5A5">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990E441F-FDB0-BFCF-293F-014A8C1BD85C}"/>
                </a:ext>
              </a:extLst>
            </p:cNvPr>
            <p:cNvSpPr/>
            <p:nvPr/>
          </p:nvSpPr>
          <p:spPr>
            <a:xfrm>
              <a:off x="3965172" y="1816529"/>
              <a:ext cx="1762298" cy="1242555"/>
            </a:xfrm>
            <a:prstGeom prst="rect">
              <a:avLst/>
            </a:prstGeom>
            <a:noFill/>
            <a:ln w="12700" cap="flat" cmpd="sng" algn="ctr">
              <a:solidFill>
                <a:srgbClr val="A5A5A5">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BF9175A5-38F1-FFF8-9756-2DDA203CBE6D}"/>
                </a:ext>
              </a:extLst>
            </p:cNvPr>
            <p:cNvSpPr/>
            <p:nvPr/>
          </p:nvSpPr>
          <p:spPr>
            <a:xfrm>
              <a:off x="4258270" y="1620582"/>
              <a:ext cx="1107996" cy="369332"/>
            </a:xfrm>
            <a:prstGeom prst="rect">
              <a:avLst/>
            </a:prstGeom>
            <a:solidFill>
              <a:sysClr val="window" lastClr="FFFFFF"/>
            </a:solid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rPr>
                <a:t>Region 1</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7" name="Rectangle 16">
              <a:extLst>
                <a:ext uri="{FF2B5EF4-FFF2-40B4-BE49-F238E27FC236}">
                  <a16:creationId xmlns:a16="http://schemas.microsoft.com/office/drawing/2014/main" id="{2F2C20B1-A418-6A52-9ACF-A971F1CD3C66}"/>
                </a:ext>
              </a:extLst>
            </p:cNvPr>
            <p:cNvSpPr/>
            <p:nvPr/>
          </p:nvSpPr>
          <p:spPr>
            <a:xfrm>
              <a:off x="8599848" y="1620582"/>
              <a:ext cx="1107996" cy="369332"/>
            </a:xfrm>
            <a:prstGeom prst="rect">
              <a:avLst/>
            </a:prstGeom>
            <a:solidFill>
              <a:sysClr val="window" lastClr="FFFFFF"/>
            </a:solid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rPr>
                <a:t>Region 2</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8" name="Rectangle 17">
              <a:extLst>
                <a:ext uri="{FF2B5EF4-FFF2-40B4-BE49-F238E27FC236}">
                  <a16:creationId xmlns:a16="http://schemas.microsoft.com/office/drawing/2014/main" id="{1BC9BD31-FFC5-2EC7-5FFB-56D761B46497}"/>
                </a:ext>
              </a:extLst>
            </p:cNvPr>
            <p:cNvSpPr/>
            <p:nvPr/>
          </p:nvSpPr>
          <p:spPr>
            <a:xfrm>
              <a:off x="7425307" y="2230639"/>
              <a:ext cx="956125" cy="578634"/>
            </a:xfrm>
            <a:prstGeom prst="rect">
              <a:avLst/>
            </a:prstGeom>
            <a:solidFill>
              <a:srgbClr val="5AEA0A"/>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VNet2</a:t>
              </a:r>
            </a:p>
          </p:txBody>
        </p:sp>
        <p:sp>
          <p:nvSpPr>
            <p:cNvPr id="19" name="Rectangle 18">
              <a:extLst>
                <a:ext uri="{FF2B5EF4-FFF2-40B4-BE49-F238E27FC236}">
                  <a16:creationId xmlns:a16="http://schemas.microsoft.com/office/drawing/2014/main" id="{E57AC240-17F7-BD20-6534-1387637A9777}"/>
                </a:ext>
              </a:extLst>
            </p:cNvPr>
            <p:cNvSpPr/>
            <p:nvPr/>
          </p:nvSpPr>
          <p:spPr>
            <a:xfrm>
              <a:off x="10238008" y="2229395"/>
              <a:ext cx="956125" cy="578634"/>
            </a:xfrm>
            <a:prstGeom prst="rect">
              <a:avLst/>
            </a:prstGeom>
            <a:solidFill>
              <a:srgbClr val="5AEA0A"/>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VNet3</a:t>
              </a:r>
            </a:p>
          </p:txBody>
        </p:sp>
        <p:sp>
          <p:nvSpPr>
            <p:cNvPr id="20" name="Rectangle 19">
              <a:extLst>
                <a:ext uri="{FF2B5EF4-FFF2-40B4-BE49-F238E27FC236}">
                  <a16:creationId xmlns:a16="http://schemas.microsoft.com/office/drawing/2014/main" id="{9F884A49-5BAF-261F-F319-2790F361027C}"/>
                </a:ext>
              </a:extLst>
            </p:cNvPr>
            <p:cNvSpPr/>
            <p:nvPr/>
          </p:nvSpPr>
          <p:spPr>
            <a:xfrm>
              <a:off x="4328161" y="2229954"/>
              <a:ext cx="956125" cy="578634"/>
            </a:xfrm>
            <a:prstGeom prst="rect">
              <a:avLst/>
            </a:prstGeom>
            <a:solidFill>
              <a:schemeClr val="tx2">
                <a:lumMod val="20000"/>
                <a:lumOff val="80000"/>
              </a:scheme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VNet1</a:t>
              </a:r>
            </a:p>
          </p:txBody>
        </p:sp>
        <p:cxnSp>
          <p:nvCxnSpPr>
            <p:cNvPr id="21" name="Connector: Elbow 20">
              <a:extLst>
                <a:ext uri="{FF2B5EF4-FFF2-40B4-BE49-F238E27FC236}">
                  <a16:creationId xmlns:a16="http://schemas.microsoft.com/office/drawing/2014/main" id="{9DD2CC95-2213-D594-3607-FEEE7E717DBE}"/>
                </a:ext>
              </a:extLst>
            </p:cNvPr>
            <p:cNvCxnSpPr>
              <a:cxnSpLocks/>
            </p:cNvCxnSpPr>
            <p:nvPr/>
          </p:nvCxnSpPr>
          <p:spPr>
            <a:xfrm>
              <a:off x="5284286" y="2519271"/>
              <a:ext cx="2141021" cy="685"/>
            </a:xfrm>
            <a:prstGeom prst="bentConnector3">
              <a:avLst/>
            </a:prstGeom>
            <a:noFill/>
            <a:ln w="28575" cap="flat" cmpd="sng" algn="ctr">
              <a:solidFill>
                <a:sysClr val="windowText" lastClr="000000"/>
              </a:solidFill>
              <a:prstDash val="solid"/>
              <a:miter lim="800000"/>
              <a:headEnd type="triangle"/>
              <a:tailEnd type="triangle"/>
            </a:ln>
            <a:effectLst/>
          </p:spPr>
        </p:cxnSp>
        <p:cxnSp>
          <p:nvCxnSpPr>
            <p:cNvPr id="22" name="Connector: Elbow 21">
              <a:extLst>
                <a:ext uri="{FF2B5EF4-FFF2-40B4-BE49-F238E27FC236}">
                  <a16:creationId xmlns:a16="http://schemas.microsoft.com/office/drawing/2014/main" id="{4E04A457-0CBB-A017-081D-8851A75FAC53}"/>
                </a:ext>
              </a:extLst>
            </p:cNvPr>
            <p:cNvCxnSpPr>
              <a:cxnSpLocks/>
            </p:cNvCxnSpPr>
            <p:nvPr/>
          </p:nvCxnSpPr>
          <p:spPr>
            <a:xfrm flipV="1">
              <a:off x="8381432" y="2518712"/>
              <a:ext cx="1856576" cy="1244"/>
            </a:xfrm>
            <a:prstGeom prst="bentConnector3">
              <a:avLst/>
            </a:prstGeom>
            <a:noFill/>
            <a:ln w="28575" cap="flat" cmpd="sng" algn="ctr">
              <a:solidFill>
                <a:sysClr val="windowText" lastClr="000000"/>
              </a:solidFill>
              <a:prstDash val="solid"/>
              <a:miter lim="800000"/>
              <a:headEnd type="triangle"/>
              <a:tailEnd type="triangle"/>
            </a:ln>
            <a:effectLst/>
          </p:spPr>
        </p:cxnSp>
        <p:sp>
          <p:nvSpPr>
            <p:cNvPr id="23" name="Rectangle 22">
              <a:extLst>
                <a:ext uri="{FF2B5EF4-FFF2-40B4-BE49-F238E27FC236}">
                  <a16:creationId xmlns:a16="http://schemas.microsoft.com/office/drawing/2014/main" id="{48281077-05F8-900C-D021-F1A250631B99}"/>
                </a:ext>
              </a:extLst>
            </p:cNvPr>
            <p:cNvSpPr/>
            <p:nvPr/>
          </p:nvSpPr>
          <p:spPr>
            <a:xfrm>
              <a:off x="5768466" y="2170249"/>
              <a:ext cx="1460656" cy="661720"/>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Global</a:t>
              </a: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VNet Peering</a:t>
              </a:r>
              <a:endParaRPr kumimoji="0" lang="en-US" sz="1600" b="1" i="0" u="none" strike="noStrike" kern="0" cap="none" spc="0" normalizeH="0" baseline="0" noProof="0" dirty="0">
                <a:ln>
                  <a:noFill/>
                </a:ln>
                <a:solidFill>
                  <a:prstClr val="black"/>
                </a:solidFill>
                <a:effectLst/>
                <a:uLnTx/>
                <a:uFillTx/>
                <a:latin typeface="Calibri" panose="020F0502020204030204"/>
              </a:endParaRPr>
            </a:p>
          </p:txBody>
        </p:sp>
        <p:sp>
          <p:nvSpPr>
            <p:cNvPr id="24" name="Rectangle 23">
              <a:extLst>
                <a:ext uri="{FF2B5EF4-FFF2-40B4-BE49-F238E27FC236}">
                  <a16:creationId xmlns:a16="http://schemas.microsoft.com/office/drawing/2014/main" id="{C1ECEC91-3C65-6370-BA50-1FAF4D67D712}"/>
                </a:ext>
              </a:extLst>
            </p:cNvPr>
            <p:cNvSpPr/>
            <p:nvPr/>
          </p:nvSpPr>
          <p:spPr>
            <a:xfrm>
              <a:off x="8577617" y="2187852"/>
              <a:ext cx="1458289" cy="66172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Regional </a:t>
              </a: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pitchFamily="34" charset="0"/>
                </a:rPr>
                <a:t>VNet Peering</a:t>
              </a:r>
              <a:endParaRPr kumimoji="0" lang="en-US" sz="1600" b="1" i="0" u="none" strike="noStrike" kern="0" cap="none" spc="0" normalizeH="0" baseline="0" noProof="0" dirty="0">
                <a:ln>
                  <a:noFill/>
                </a:ln>
                <a:solidFill>
                  <a:prstClr val="black"/>
                </a:solidFill>
                <a:effectLst/>
                <a:uLnTx/>
                <a:uFillTx/>
                <a:latin typeface="Calibri" panose="020F0502020204030204"/>
              </a:endParaRPr>
            </a:p>
          </p:txBody>
        </p:sp>
      </p:grpSp>
    </p:spTree>
    <p:extLst>
      <p:ext uri="{BB962C8B-B14F-4D97-AF65-F5344CB8AC3E}">
        <p14:creationId xmlns:p14="http://schemas.microsoft.com/office/powerpoint/2010/main" val="1329765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81187A73-872E-515D-7635-13567B2DB2DC}"/>
              </a:ext>
            </a:extLst>
          </p:cNvPr>
          <p:cNvSpPr txBox="1">
            <a:spLocks/>
          </p:cNvSpPr>
          <p:nvPr/>
        </p:nvSpPr>
        <p:spPr>
          <a:xfrm>
            <a:off x="993171" y="1070249"/>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t>Determine Gateway Transit and Connectivity Needs</a:t>
            </a:r>
          </a:p>
        </p:txBody>
      </p:sp>
      <p:sp>
        <p:nvSpPr>
          <p:cNvPr id="11" name="Rectangle 10">
            <a:extLst>
              <a:ext uri="{FF2B5EF4-FFF2-40B4-BE49-F238E27FC236}">
                <a16:creationId xmlns:a16="http://schemas.microsoft.com/office/drawing/2014/main" id="{A5B437F7-DDEB-0F12-8526-30221F28DE2D}"/>
              </a:ext>
            </a:extLst>
          </p:cNvPr>
          <p:cNvSpPr/>
          <p:nvPr/>
        </p:nvSpPr>
        <p:spPr>
          <a:xfrm>
            <a:off x="435841" y="1723609"/>
            <a:ext cx="4376456" cy="114276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Gateway transit allows peered virtual networks to share the gateway and get access to resources</a:t>
            </a:r>
          </a:p>
        </p:txBody>
      </p:sp>
      <p:sp>
        <p:nvSpPr>
          <p:cNvPr id="12" name="Rectangle 11">
            <a:extLst>
              <a:ext uri="{FF2B5EF4-FFF2-40B4-BE49-F238E27FC236}">
                <a16:creationId xmlns:a16="http://schemas.microsoft.com/office/drawing/2014/main" id="{580A3A90-8737-9C91-BFFF-F107C71BD38E}"/>
              </a:ext>
            </a:extLst>
          </p:cNvPr>
          <p:cNvSpPr/>
          <p:nvPr/>
        </p:nvSpPr>
        <p:spPr>
          <a:xfrm>
            <a:off x="435841" y="3104724"/>
            <a:ext cx="4376456" cy="114276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No VPN gateway is required in</a:t>
            </a:r>
            <a:br>
              <a:rPr lang="en-US" sz="2000" dirty="0">
                <a:solidFill>
                  <a:schemeClr val="tx1"/>
                </a:solidFill>
                <a:cs typeface="Segoe UI Semilight"/>
              </a:rPr>
            </a:br>
            <a:r>
              <a:rPr lang="en-US" sz="2000" dirty="0">
                <a:solidFill>
                  <a:schemeClr val="tx1"/>
                </a:solidFill>
                <a:cs typeface="Segoe UI Semilight"/>
              </a:rPr>
              <a:t>the </a:t>
            </a:r>
            <a:r>
              <a:rPr lang="en-US" sz="2000">
                <a:solidFill>
                  <a:schemeClr val="tx1"/>
                </a:solidFill>
                <a:cs typeface="Segoe UI Semilight"/>
              </a:rPr>
              <a:t>peered spoke virtual </a:t>
            </a:r>
            <a:r>
              <a:rPr lang="en-US" sz="2000" dirty="0">
                <a:solidFill>
                  <a:schemeClr val="tx1"/>
                </a:solidFill>
                <a:cs typeface="Segoe UI Semilight"/>
              </a:rPr>
              <a:t>network</a:t>
            </a:r>
          </a:p>
        </p:txBody>
      </p:sp>
      <p:sp>
        <p:nvSpPr>
          <p:cNvPr id="13" name="Rectangle 12">
            <a:extLst>
              <a:ext uri="{FF2B5EF4-FFF2-40B4-BE49-F238E27FC236}">
                <a16:creationId xmlns:a16="http://schemas.microsoft.com/office/drawing/2014/main" id="{AABAECBE-EDA9-9FE5-5587-3B51D3A533B5}"/>
              </a:ext>
            </a:extLst>
          </p:cNvPr>
          <p:cNvSpPr/>
          <p:nvPr/>
        </p:nvSpPr>
        <p:spPr>
          <a:xfrm>
            <a:off x="435841" y="4485839"/>
            <a:ext cx="4376456" cy="114276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Default VNet peering provides</a:t>
            </a:r>
            <a:br>
              <a:rPr lang="en-US" sz="2000" dirty="0">
                <a:solidFill>
                  <a:schemeClr val="tx1"/>
                </a:solidFill>
                <a:cs typeface="Segoe UI Semilight"/>
              </a:rPr>
            </a:br>
            <a:r>
              <a:rPr lang="en-US" sz="2000" dirty="0">
                <a:solidFill>
                  <a:schemeClr val="tx1"/>
                </a:solidFill>
                <a:cs typeface="Segoe UI Semilight"/>
              </a:rPr>
              <a:t>full connectivity</a:t>
            </a:r>
          </a:p>
        </p:txBody>
      </p:sp>
      <p:pic>
        <p:nvPicPr>
          <p:cNvPr id="14" name="Picture 13" descr="Diagram showing three VNets (VNet A, VNet B, and a Hub VNet). VNet A and the Hub VNet are peered. VNet B and the Hub VNet are peered. The Hub VNet has a NVA for VNet A and a VPN Gateway for VNet B">
            <a:extLst>
              <a:ext uri="{FF2B5EF4-FFF2-40B4-BE49-F238E27FC236}">
                <a16:creationId xmlns:a16="http://schemas.microsoft.com/office/drawing/2014/main" id="{E40D7363-5D63-A593-AF3D-BCB99B84D0C4}"/>
              </a:ext>
            </a:extLst>
          </p:cNvPr>
          <p:cNvPicPr>
            <a:picLocks noChangeAspect="1"/>
          </p:cNvPicPr>
          <p:nvPr/>
        </p:nvPicPr>
        <p:blipFill>
          <a:blip r:embed="rId6"/>
          <a:stretch>
            <a:fillRect/>
          </a:stretch>
        </p:blipFill>
        <p:spPr>
          <a:xfrm>
            <a:off x="5081817" y="1808089"/>
            <a:ext cx="6822350" cy="3820515"/>
          </a:xfrm>
          <a:prstGeom prst="rect">
            <a:avLst/>
          </a:prstGeom>
        </p:spPr>
      </p:pic>
      <p:sp>
        <p:nvSpPr>
          <p:cNvPr id="15" name="Freeform: Shape 14">
            <a:extLst>
              <a:ext uri="{FF2B5EF4-FFF2-40B4-BE49-F238E27FC236}">
                <a16:creationId xmlns:a16="http://schemas.microsoft.com/office/drawing/2014/main" id="{B1C662F3-0F00-F69E-DFC2-AEB594DD7D72}"/>
              </a:ext>
            </a:extLst>
          </p:cNvPr>
          <p:cNvSpPr/>
          <p:nvPr/>
        </p:nvSpPr>
        <p:spPr bwMode="auto">
          <a:xfrm>
            <a:off x="8803" y="5866954"/>
            <a:ext cx="12436475" cy="782411"/>
          </a:xfrm>
          <a:custGeom>
            <a:avLst/>
            <a:gdLst>
              <a:gd name="connsiteX0" fmla="*/ 1213422 w 12436475"/>
              <a:gd name="connsiteY0" fmla="*/ 0 h 782411"/>
              <a:gd name="connsiteX1" fmla="*/ 12436475 w 12436475"/>
              <a:gd name="connsiteY1" fmla="*/ 0 h 782411"/>
              <a:gd name="connsiteX2" fmla="*/ 12436475 w 12436475"/>
              <a:gd name="connsiteY2" fmla="*/ 782411 h 782411"/>
              <a:gd name="connsiteX3" fmla="*/ 1213422 w 12436475"/>
              <a:gd name="connsiteY3" fmla="*/ 782411 h 782411"/>
              <a:gd name="connsiteX4" fmla="*/ 0 w 12436475"/>
              <a:gd name="connsiteY4" fmla="*/ 0 h 782411"/>
              <a:gd name="connsiteX5" fmla="*/ 427038 w 12436475"/>
              <a:gd name="connsiteY5" fmla="*/ 0 h 782411"/>
              <a:gd name="connsiteX6" fmla="*/ 427038 w 12436475"/>
              <a:gd name="connsiteY6" fmla="*/ 782411 h 782411"/>
              <a:gd name="connsiteX7" fmla="*/ 0 w 12436475"/>
              <a:gd name="connsiteY7" fmla="*/ 782411 h 7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36475" h="782411">
                <a:moveTo>
                  <a:pt x="1213422" y="0"/>
                </a:moveTo>
                <a:lnTo>
                  <a:pt x="12436475" y="0"/>
                </a:lnTo>
                <a:lnTo>
                  <a:pt x="12436475" y="782411"/>
                </a:lnTo>
                <a:lnTo>
                  <a:pt x="1213422" y="782411"/>
                </a:lnTo>
                <a:close/>
                <a:moveTo>
                  <a:pt x="0" y="0"/>
                </a:moveTo>
                <a:lnTo>
                  <a:pt x="427038" y="0"/>
                </a:lnTo>
                <a:lnTo>
                  <a:pt x="427038" y="782411"/>
                </a:lnTo>
                <a:lnTo>
                  <a:pt x="0" y="782411"/>
                </a:lnTo>
                <a:close/>
              </a:path>
            </a:pathLst>
          </a:custGeom>
          <a:solidFill>
            <a:schemeClr val="bg2">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dirty="0">
                <a:solidFill>
                  <a:schemeClr val="tx1"/>
                </a:solidFill>
                <a:latin typeface="+mj-lt"/>
                <a:cs typeface="Segoe UI Semibold" panose="020B0702040204020203" pitchFamily="34" charset="0"/>
              </a:rPr>
              <a:t>IP address spaces of connected networks can't overlap </a:t>
            </a:r>
          </a:p>
        </p:txBody>
      </p:sp>
    </p:spTree>
    <p:extLst>
      <p:ext uri="{BB962C8B-B14F-4D97-AF65-F5344CB8AC3E}">
        <p14:creationId xmlns:p14="http://schemas.microsoft.com/office/powerpoint/2010/main" val="106077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D10BE645-D1F1-59EF-0DC9-327DCA6811B6}"/>
              </a:ext>
            </a:extLst>
          </p:cNvPr>
          <p:cNvSpPr txBox="1">
            <a:spLocks/>
          </p:cNvSpPr>
          <p:nvPr/>
        </p:nvSpPr>
        <p:spPr>
          <a:xfrm>
            <a:off x="575671" y="1477912"/>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Create VNet Peering</a:t>
            </a:r>
            <a:endParaRPr lang="en-US" dirty="0"/>
          </a:p>
        </p:txBody>
      </p:sp>
      <p:sp>
        <p:nvSpPr>
          <p:cNvPr id="11" name="Rectangle 10">
            <a:extLst>
              <a:ext uri="{FF2B5EF4-FFF2-40B4-BE49-F238E27FC236}">
                <a16:creationId xmlns:a16="http://schemas.microsoft.com/office/drawing/2014/main" id="{0EF9EBE6-F47C-010E-A23F-A04F70808E0F}"/>
              </a:ext>
            </a:extLst>
          </p:cNvPr>
          <p:cNvSpPr/>
          <p:nvPr/>
        </p:nvSpPr>
        <p:spPr>
          <a:xfrm>
            <a:off x="569102" y="2707357"/>
            <a:ext cx="4914815" cy="10419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Allow virtual network access settings</a:t>
            </a:r>
          </a:p>
        </p:txBody>
      </p:sp>
      <p:sp>
        <p:nvSpPr>
          <p:cNvPr id="12" name="Rectangle 11">
            <a:extLst>
              <a:ext uri="{FF2B5EF4-FFF2-40B4-BE49-F238E27FC236}">
                <a16:creationId xmlns:a16="http://schemas.microsoft.com/office/drawing/2014/main" id="{CE08EB23-9F64-F50E-A3CC-A2B0AA3979A8}"/>
              </a:ext>
            </a:extLst>
          </p:cNvPr>
          <p:cNvSpPr/>
          <p:nvPr/>
        </p:nvSpPr>
        <p:spPr>
          <a:xfrm>
            <a:off x="569102" y="3886748"/>
            <a:ext cx="4914815" cy="10419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Configure forwarded traffic settings</a:t>
            </a:r>
          </a:p>
        </p:txBody>
      </p:sp>
      <p:sp>
        <p:nvSpPr>
          <p:cNvPr id="13" name="Rectangle 12">
            <a:extLst>
              <a:ext uri="{FF2B5EF4-FFF2-40B4-BE49-F238E27FC236}">
                <a16:creationId xmlns:a16="http://schemas.microsoft.com/office/drawing/2014/main" id="{7DA08772-2259-38CA-1FBA-EB957CA6B843}"/>
              </a:ext>
            </a:extLst>
          </p:cNvPr>
          <p:cNvSpPr/>
          <p:nvPr/>
        </p:nvSpPr>
        <p:spPr>
          <a:xfrm>
            <a:off x="569102" y="5066139"/>
            <a:ext cx="4914815" cy="10419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ea typeface="+mn-lt"/>
                <a:cs typeface="Segoe UI Semilight"/>
              </a:rPr>
              <a:t>Status should show “connected”</a:t>
            </a:r>
            <a:endParaRPr lang="en-US" sz="2000" dirty="0">
              <a:solidFill>
                <a:schemeClr val="tx1"/>
              </a:solidFill>
              <a:cs typeface="Segoe UI Semilight"/>
            </a:endParaRPr>
          </a:p>
        </p:txBody>
      </p:sp>
      <p:pic>
        <p:nvPicPr>
          <p:cNvPr id="14" name="Picture 13" descr="Screenshot of the peering configuration showing the allow forward traffic, allow gateway transit, and configure remote gateway settings">
            <a:extLst>
              <a:ext uri="{FF2B5EF4-FFF2-40B4-BE49-F238E27FC236}">
                <a16:creationId xmlns:a16="http://schemas.microsoft.com/office/drawing/2014/main" id="{57194E58-23B3-B031-1151-5BAB4CC631B5}"/>
              </a:ext>
            </a:extLst>
          </p:cNvPr>
          <p:cNvPicPr>
            <a:picLocks noChangeAspect="1"/>
          </p:cNvPicPr>
          <p:nvPr/>
        </p:nvPicPr>
        <p:blipFill>
          <a:blip r:embed="rId7"/>
          <a:stretch>
            <a:fillRect/>
          </a:stretch>
        </p:blipFill>
        <p:spPr>
          <a:xfrm>
            <a:off x="5867503" y="2307932"/>
            <a:ext cx="6049219" cy="4258269"/>
          </a:xfrm>
          <a:prstGeom prst="rect">
            <a:avLst/>
          </a:prstGeom>
          <a:ln>
            <a:solidFill>
              <a:schemeClr val="bg1">
                <a:lumMod val="50000"/>
              </a:schemeClr>
            </a:solidFill>
          </a:ln>
        </p:spPr>
      </p:pic>
    </p:spTree>
    <p:extLst>
      <p:ext uri="{BB962C8B-B14F-4D97-AF65-F5344CB8AC3E}">
        <p14:creationId xmlns:p14="http://schemas.microsoft.com/office/powerpoint/2010/main" val="315390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49028145-3078-2623-91D4-336C89D0D04B}"/>
              </a:ext>
            </a:extLst>
          </p:cNvPr>
          <p:cNvSpPr txBox="1">
            <a:spLocks/>
          </p:cNvSpPr>
          <p:nvPr/>
        </p:nvSpPr>
        <p:spPr>
          <a:xfrm>
            <a:off x="875430" y="111907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Determine Service Chaining Uses</a:t>
            </a:r>
            <a:endParaRPr lang="en-US" dirty="0"/>
          </a:p>
        </p:txBody>
      </p:sp>
      <p:sp>
        <p:nvSpPr>
          <p:cNvPr id="11" name="Rectangle 10">
            <a:extLst>
              <a:ext uri="{FF2B5EF4-FFF2-40B4-BE49-F238E27FC236}">
                <a16:creationId xmlns:a16="http://schemas.microsoft.com/office/drawing/2014/main" id="{699D2F63-BE8C-2350-AA81-E8D7CF929B14}"/>
              </a:ext>
              <a:ext uri="{C183D7F6-B498-43B3-948B-1728B52AA6E4}">
                <adec:decorative xmlns:adec="http://schemas.microsoft.com/office/drawing/2017/decorative" val="0"/>
              </a:ext>
            </a:extLst>
          </p:cNvPr>
          <p:cNvSpPr/>
          <p:nvPr/>
        </p:nvSpPr>
        <p:spPr bwMode="auto">
          <a:xfrm>
            <a:off x="837329" y="1743830"/>
            <a:ext cx="5455457" cy="121560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Leverage user-defined routes and service chaining to implement custom routing</a:t>
            </a:r>
          </a:p>
        </p:txBody>
      </p:sp>
      <p:sp>
        <p:nvSpPr>
          <p:cNvPr id="12" name="Rectangle 11">
            <a:extLst>
              <a:ext uri="{FF2B5EF4-FFF2-40B4-BE49-F238E27FC236}">
                <a16:creationId xmlns:a16="http://schemas.microsoft.com/office/drawing/2014/main" id="{29BA0322-3780-A417-C9B3-0E9EC1539EFD}"/>
              </a:ext>
              <a:ext uri="{C183D7F6-B498-43B3-948B-1728B52AA6E4}">
                <adec:decorative xmlns:adec="http://schemas.microsoft.com/office/drawing/2017/decorative" val="0"/>
              </a:ext>
            </a:extLst>
          </p:cNvPr>
          <p:cNvSpPr/>
          <p:nvPr/>
        </p:nvSpPr>
        <p:spPr bwMode="auto">
          <a:xfrm>
            <a:off x="837329" y="3111056"/>
            <a:ext cx="5455457" cy="121560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Implement a VNet hub with a network virtual appliance or a VPN gateway</a:t>
            </a:r>
          </a:p>
        </p:txBody>
      </p:sp>
      <p:sp>
        <p:nvSpPr>
          <p:cNvPr id="13" name="Rectangle 12">
            <a:extLst>
              <a:ext uri="{FF2B5EF4-FFF2-40B4-BE49-F238E27FC236}">
                <a16:creationId xmlns:a16="http://schemas.microsoft.com/office/drawing/2014/main" id="{52CAECAD-5F09-0C24-F49E-315EA0B833A1}"/>
              </a:ext>
              <a:ext uri="{C183D7F6-B498-43B3-948B-1728B52AA6E4}">
                <adec:decorative xmlns:adec="http://schemas.microsoft.com/office/drawing/2017/decorative" val="0"/>
              </a:ext>
            </a:extLst>
          </p:cNvPr>
          <p:cNvSpPr/>
          <p:nvPr/>
        </p:nvSpPr>
        <p:spPr bwMode="auto">
          <a:xfrm>
            <a:off x="837329" y="4478283"/>
            <a:ext cx="5455457" cy="196486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Service chaining enables you to direct traffic from one virtual network to a virtual appliance, or virtual network gateway,</a:t>
            </a:r>
            <a:br>
              <a:rPr lang="en-US" sz="2000" dirty="0">
                <a:solidFill>
                  <a:schemeClr val="tx1"/>
                </a:solidFill>
              </a:rPr>
            </a:br>
            <a:r>
              <a:rPr lang="en-US" sz="2000" dirty="0">
                <a:solidFill>
                  <a:schemeClr val="tx1"/>
                </a:solidFill>
              </a:rPr>
              <a:t>in a peered virtual network, through</a:t>
            </a:r>
            <a:br>
              <a:rPr lang="en-US" sz="2000" dirty="0">
                <a:solidFill>
                  <a:schemeClr val="tx1"/>
                </a:solidFill>
              </a:rPr>
            </a:br>
            <a:r>
              <a:rPr lang="en-US" sz="2000" dirty="0">
                <a:solidFill>
                  <a:schemeClr val="tx1"/>
                </a:solidFill>
              </a:rPr>
              <a:t>user-defined routes</a:t>
            </a:r>
          </a:p>
        </p:txBody>
      </p:sp>
      <p:grpSp>
        <p:nvGrpSpPr>
          <p:cNvPr id="14" name="Group 13" descr="A Hub VNet with NVA or VPN Gateway and two subnets. ">
            <a:extLst>
              <a:ext uri="{FF2B5EF4-FFF2-40B4-BE49-F238E27FC236}">
                <a16:creationId xmlns:a16="http://schemas.microsoft.com/office/drawing/2014/main" id="{AB5C0645-62D8-362B-FE0D-531D5D6589D6}"/>
              </a:ext>
            </a:extLst>
          </p:cNvPr>
          <p:cNvGrpSpPr/>
          <p:nvPr/>
        </p:nvGrpSpPr>
        <p:grpSpPr>
          <a:xfrm>
            <a:off x="6741701" y="3111056"/>
            <a:ext cx="5358096" cy="1999790"/>
            <a:chOff x="6331409" y="2559440"/>
            <a:chExt cx="5358096" cy="1999790"/>
          </a:xfrm>
        </p:grpSpPr>
        <p:sp>
          <p:nvSpPr>
            <p:cNvPr id="15" name="Rectangle 14">
              <a:extLst>
                <a:ext uri="{FF2B5EF4-FFF2-40B4-BE49-F238E27FC236}">
                  <a16:creationId xmlns:a16="http://schemas.microsoft.com/office/drawing/2014/main" id="{CB545F13-BC81-E570-DD8F-A2C7F740CD12}"/>
                </a:ext>
              </a:extLst>
            </p:cNvPr>
            <p:cNvSpPr/>
            <p:nvPr/>
          </p:nvSpPr>
          <p:spPr>
            <a:xfrm>
              <a:off x="6424811" y="2969419"/>
              <a:ext cx="3188112" cy="1242555"/>
            </a:xfrm>
            <a:prstGeom prst="rect">
              <a:avLst/>
            </a:prstGeom>
            <a:solidFill>
              <a:srgbClr val="F9FDD7"/>
            </a:solidFill>
            <a:ln w="12700" cap="flat" cmpd="sng" algn="ctr">
              <a:solidFill>
                <a:srgbClr val="A5A5A5">
                  <a:shade val="50000"/>
                </a:srgbClr>
              </a:solidFill>
              <a:prstDash val="sysDash"/>
              <a:miter lim="800000"/>
            </a:ln>
            <a:effectLst/>
          </p:spPr>
          <p:style>
            <a:lnRef idx="0">
              <a:scrgbClr r="0" g="0" b="0"/>
            </a:lnRef>
            <a:fillRef idx="0">
              <a:scrgbClr r="0" g="0" b="0"/>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921ED92-0BA7-9E94-4A90-63968C40149F}"/>
                </a:ext>
              </a:extLst>
            </p:cNvPr>
            <p:cNvSpPr/>
            <p:nvPr/>
          </p:nvSpPr>
          <p:spPr>
            <a:xfrm>
              <a:off x="7372664" y="2796050"/>
              <a:ext cx="1184940" cy="369332"/>
            </a:xfrm>
            <a:prstGeom prst="rect">
              <a:avLst/>
            </a:prstGeom>
            <a:solidFill>
              <a:sysClr val="window" lastClr="FFFFFF"/>
            </a:solidFill>
          </p:spPr>
          <p:style>
            <a:lnRef idx="0">
              <a:scrgbClr r="0" g="0" b="0"/>
            </a:lnRef>
            <a:fillRef idx="0">
              <a:scrgbClr r="0" g="0" b="0"/>
            </a:fillRef>
            <a:effectRef idx="0">
              <a:scrgbClr r="0" g="0" b="0"/>
            </a:effectRef>
            <a:fontRef idx="major"/>
          </p:style>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rPr>
                <a:t>Hub VNet</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7" name="Rectangle 16">
              <a:extLst>
                <a:ext uri="{FF2B5EF4-FFF2-40B4-BE49-F238E27FC236}">
                  <a16:creationId xmlns:a16="http://schemas.microsoft.com/office/drawing/2014/main" id="{9CD737F3-8179-8F9D-A255-2EDE4733747A}"/>
                </a:ext>
              </a:extLst>
            </p:cNvPr>
            <p:cNvSpPr/>
            <p:nvPr/>
          </p:nvSpPr>
          <p:spPr>
            <a:xfrm>
              <a:off x="10731612" y="2559440"/>
              <a:ext cx="956125" cy="578634"/>
            </a:xfrm>
            <a:prstGeom prst="rect">
              <a:avLst/>
            </a:prstGeom>
            <a:solidFill>
              <a:srgbClr val="5AEA0A"/>
            </a:solidFill>
            <a:ln w="12700" cap="flat" cmpd="sng" algn="ctr">
              <a:solidFill>
                <a:srgbClr val="70AD47">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VNet2</a:t>
              </a:r>
            </a:p>
          </p:txBody>
        </p:sp>
        <p:sp>
          <p:nvSpPr>
            <p:cNvPr id="18" name="Rectangle 17">
              <a:extLst>
                <a:ext uri="{FF2B5EF4-FFF2-40B4-BE49-F238E27FC236}">
                  <a16:creationId xmlns:a16="http://schemas.microsoft.com/office/drawing/2014/main" id="{CBA399CE-7B5C-99B2-BAA0-38B7778E1118}"/>
                </a:ext>
              </a:extLst>
            </p:cNvPr>
            <p:cNvSpPr/>
            <p:nvPr/>
          </p:nvSpPr>
          <p:spPr>
            <a:xfrm>
              <a:off x="10733380" y="3980596"/>
              <a:ext cx="956125" cy="578634"/>
            </a:xfrm>
            <a:prstGeom prst="rect">
              <a:avLst/>
            </a:prstGeom>
            <a:solidFill>
              <a:srgbClr val="5AEA0A"/>
            </a:solidFill>
            <a:ln w="12700" cap="flat" cmpd="sng" algn="ctr">
              <a:solidFill>
                <a:srgbClr val="70AD47">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panose="020F0502020204030204"/>
                  <a:ea typeface="+mn-ea"/>
                  <a:cs typeface="+mn-cs"/>
                </a:rPr>
                <a:t>VNet3</a:t>
              </a:r>
            </a:p>
          </p:txBody>
        </p:sp>
        <p:cxnSp>
          <p:nvCxnSpPr>
            <p:cNvPr id="19" name="Connector: Elbow 18">
              <a:extLst>
                <a:ext uri="{FF2B5EF4-FFF2-40B4-BE49-F238E27FC236}">
                  <a16:creationId xmlns:a16="http://schemas.microsoft.com/office/drawing/2014/main" id="{FC89251C-66C1-830C-9275-81F0565202D9}"/>
                </a:ext>
              </a:extLst>
            </p:cNvPr>
            <p:cNvCxnSpPr>
              <a:cxnSpLocks/>
              <a:stCxn id="15" idx="3"/>
            </p:cNvCxnSpPr>
            <p:nvPr/>
          </p:nvCxnSpPr>
          <p:spPr>
            <a:xfrm flipV="1">
              <a:off x="9612923" y="2848757"/>
              <a:ext cx="1118689" cy="741940"/>
            </a:xfrm>
            <a:prstGeom prst="bentConnector3">
              <a:avLst>
                <a:gd name="adj1" fmla="val 50000"/>
              </a:avLst>
            </a:prstGeom>
            <a:noFill/>
            <a:ln w="28575" cap="flat" cmpd="sng" algn="ctr">
              <a:solidFill>
                <a:sysClr val="windowText" lastClr="000000"/>
              </a:solidFill>
              <a:prstDash val="solid"/>
              <a:miter lim="800000"/>
              <a:headEnd type="triangle"/>
              <a:tailEnd type="triangle"/>
            </a:ln>
            <a:effectLst/>
          </p:spPr>
        </p:cxnSp>
        <p:cxnSp>
          <p:nvCxnSpPr>
            <p:cNvPr id="20" name="Connector: Elbow 19">
              <a:extLst>
                <a:ext uri="{FF2B5EF4-FFF2-40B4-BE49-F238E27FC236}">
                  <a16:creationId xmlns:a16="http://schemas.microsoft.com/office/drawing/2014/main" id="{78D24456-9427-E656-F572-48188E04C14B}"/>
                </a:ext>
              </a:extLst>
            </p:cNvPr>
            <p:cNvCxnSpPr>
              <a:cxnSpLocks/>
              <a:stCxn id="15" idx="3"/>
            </p:cNvCxnSpPr>
            <p:nvPr/>
          </p:nvCxnSpPr>
          <p:spPr>
            <a:xfrm>
              <a:off x="9612923" y="3590697"/>
              <a:ext cx="1120457" cy="679216"/>
            </a:xfrm>
            <a:prstGeom prst="bentConnector3">
              <a:avLst>
                <a:gd name="adj1" fmla="val 50000"/>
              </a:avLst>
            </a:prstGeom>
            <a:noFill/>
            <a:ln w="28575" cap="flat" cmpd="sng" algn="ctr">
              <a:solidFill>
                <a:sysClr val="windowText" lastClr="000000"/>
              </a:solidFill>
              <a:prstDash val="solid"/>
              <a:miter lim="800000"/>
              <a:headEnd type="triangle"/>
              <a:tailEnd type="triangle"/>
            </a:ln>
            <a:effectLst/>
          </p:spPr>
        </p:cxnSp>
        <p:sp>
          <p:nvSpPr>
            <p:cNvPr id="21" name="Rectangle 20">
              <a:extLst>
                <a:ext uri="{FF2B5EF4-FFF2-40B4-BE49-F238E27FC236}">
                  <a16:creationId xmlns:a16="http://schemas.microsoft.com/office/drawing/2014/main" id="{9CB6D658-0D29-40B2-D837-6929447D1937}"/>
                </a:ext>
              </a:extLst>
            </p:cNvPr>
            <p:cNvSpPr/>
            <p:nvPr/>
          </p:nvSpPr>
          <p:spPr>
            <a:xfrm>
              <a:off x="6331409" y="3271883"/>
              <a:ext cx="3279745" cy="1200329"/>
            </a:xfrm>
            <a:prstGeom prst="rect">
              <a:avLst/>
            </a:prstGeom>
          </p:spPr>
          <p:txBody>
            <a:bodyPr wrap="square">
              <a:spAutoFit/>
            </a:bodyPr>
            <a:lstStyle/>
            <a:p>
              <a:pPr algn="ctr" defTabSz="914400"/>
              <a:r>
                <a:rPr lang="en-US" b="1" dirty="0">
                  <a:solidFill>
                    <a:srgbClr val="000000"/>
                  </a:solidFill>
                  <a:latin typeface="Arial" panose="020B0604020202020204" pitchFamily="34" charset="0"/>
                </a:rPr>
                <a:t>Network Virtual Appliance or</a:t>
              </a:r>
            </a:p>
            <a:p>
              <a:pPr algn="ctr" defTabSz="914400"/>
              <a:r>
                <a:rPr lang="en-US" b="1" dirty="0">
                  <a:solidFill>
                    <a:srgbClr val="000000"/>
                  </a:solidFill>
                  <a:latin typeface="Arial" panose="020B0604020202020204" pitchFamily="34" charset="0"/>
                </a:rPr>
                <a:t>VPN Gateway</a:t>
              </a:r>
            </a:p>
            <a:p>
              <a:pPr algn="ctr" defTabSz="914400"/>
              <a:endParaRPr lang="en-US" dirty="0">
                <a:solidFill>
                  <a:prstClr val="black"/>
                </a:solidFill>
                <a:latin typeface="Calibri" panose="020F0502020204030204"/>
              </a:endParaRPr>
            </a:p>
          </p:txBody>
        </p:sp>
      </p:grpSp>
    </p:spTree>
    <p:extLst>
      <p:ext uri="{BB962C8B-B14F-4D97-AF65-F5344CB8AC3E}">
        <p14:creationId xmlns:p14="http://schemas.microsoft.com/office/powerpoint/2010/main" val="2805544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2">
            <a:extLst>
              <a:ext uri="{FF2B5EF4-FFF2-40B4-BE49-F238E27FC236}">
                <a16:creationId xmlns:a16="http://schemas.microsoft.com/office/drawing/2014/main" id="{13828906-C223-92BA-2FEA-2393AC849AA8}"/>
              </a:ext>
            </a:extLst>
          </p:cNvPr>
          <p:cNvSpPr txBox="1">
            <a:spLocks/>
          </p:cNvSpPr>
          <p:nvPr/>
        </p:nvSpPr>
        <p:spPr>
          <a:xfrm>
            <a:off x="479479" y="239998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Virtual Network Peering: Demonstration</a:t>
            </a:r>
          </a:p>
        </p:txBody>
      </p:sp>
      <p:sp>
        <p:nvSpPr>
          <p:cNvPr id="11" name="Rectangle 10">
            <a:extLst>
              <a:ext uri="{FF2B5EF4-FFF2-40B4-BE49-F238E27FC236}">
                <a16:creationId xmlns:a16="http://schemas.microsoft.com/office/drawing/2014/main" id="{A1CFAEEC-6B43-CE23-B469-2EDFE0CAC34A}"/>
              </a:ext>
            </a:extLst>
          </p:cNvPr>
          <p:cNvSpPr/>
          <p:nvPr/>
        </p:nvSpPr>
        <p:spPr bwMode="auto">
          <a:xfrm>
            <a:off x="996949" y="3544897"/>
            <a:ext cx="10198101" cy="126188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342900" indent="-342900">
              <a:spcBef>
                <a:spcPts val="600"/>
              </a:spcBef>
              <a:buFont typeface="Arial" panose="020B0604020202020204" pitchFamily="34" charset="0"/>
              <a:buChar char="•"/>
            </a:pPr>
            <a:r>
              <a:rPr lang="en-US" sz="2400" dirty="0">
                <a:solidFill>
                  <a:schemeClr val="tx1"/>
                </a:solidFill>
              </a:rPr>
              <a:t>Configure VNet peering on the first virtual network</a:t>
            </a:r>
          </a:p>
          <a:p>
            <a:pPr marL="342900" indent="-342900">
              <a:spcBef>
                <a:spcPts val="600"/>
              </a:spcBef>
              <a:buFont typeface="Arial" panose="020B0604020202020204" pitchFamily="34" charset="0"/>
              <a:buChar char="•"/>
            </a:pPr>
            <a:r>
              <a:rPr lang="en-US" sz="2400" dirty="0">
                <a:solidFill>
                  <a:schemeClr val="tx1"/>
                </a:solidFill>
              </a:rPr>
              <a:t>Confirm VNet peering on the second virtual network</a:t>
            </a:r>
          </a:p>
          <a:p>
            <a:pPr marL="342900" indent="-342900">
              <a:spcBef>
                <a:spcPts val="600"/>
              </a:spcBef>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426025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Configure Network Routing and Endpoints</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474480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65A5E6CC-4FCD-F9E8-8589-C670D6E85B28}"/>
              </a:ext>
            </a:extLst>
          </p:cNvPr>
          <p:cNvSpPr txBox="1">
            <a:spLocks/>
          </p:cNvSpPr>
          <p:nvPr/>
        </p:nvSpPr>
        <p:spPr>
          <a:xfrm>
            <a:off x="379243" y="1200425"/>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Review System Routes</a:t>
            </a:r>
          </a:p>
        </p:txBody>
      </p:sp>
      <p:sp>
        <p:nvSpPr>
          <p:cNvPr id="11" name="Text Placeholder 3">
            <a:extLst>
              <a:ext uri="{FF2B5EF4-FFF2-40B4-BE49-F238E27FC236}">
                <a16:creationId xmlns:a16="http://schemas.microsoft.com/office/drawing/2014/main" id="{4BEFA7AC-036A-F092-9EA7-81781E87EEB1}"/>
              </a:ext>
            </a:extLst>
          </p:cNvPr>
          <p:cNvSpPr txBox="1">
            <a:spLocks/>
          </p:cNvSpPr>
          <p:nvPr/>
        </p:nvSpPr>
        <p:spPr>
          <a:xfrm>
            <a:off x="392958" y="1749202"/>
            <a:ext cx="11568684" cy="78303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dirty="0"/>
              <a:t>Directs network traffic between virtual machines, on-premises networks, and the internet</a:t>
            </a:r>
          </a:p>
          <a:p>
            <a:pPr algn="ctr"/>
            <a:endParaRPr lang="en-US" dirty="0"/>
          </a:p>
        </p:txBody>
      </p:sp>
      <p:sp>
        <p:nvSpPr>
          <p:cNvPr id="12" name="Rectangle 11">
            <a:extLst>
              <a:ext uri="{FF2B5EF4-FFF2-40B4-BE49-F238E27FC236}">
                <a16:creationId xmlns:a16="http://schemas.microsoft.com/office/drawing/2014/main" id="{99B35307-8B47-7EF4-515E-C9B4F7A5F57E}"/>
              </a:ext>
            </a:extLst>
          </p:cNvPr>
          <p:cNvSpPr/>
          <p:nvPr/>
        </p:nvSpPr>
        <p:spPr>
          <a:xfrm>
            <a:off x="731901" y="2673814"/>
            <a:ext cx="4941649" cy="38838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marL="246063" indent="-187325">
              <a:spcBef>
                <a:spcPts val="300"/>
              </a:spcBef>
              <a:spcAft>
                <a:spcPts val="600"/>
              </a:spcAft>
              <a:buFont typeface="Arial" panose="020B0604020202020204" pitchFamily="34" charset="0"/>
              <a:buChar char="•"/>
            </a:pPr>
            <a:r>
              <a:rPr lang="en-US" sz="2000" dirty="0">
                <a:solidFill>
                  <a:schemeClr val="tx1"/>
                </a:solidFill>
              </a:rPr>
              <a:t>Traffic between VMs in the same subnet</a:t>
            </a:r>
          </a:p>
          <a:p>
            <a:pPr marL="246063" indent="-187325">
              <a:spcBef>
                <a:spcPts val="300"/>
              </a:spcBef>
              <a:spcAft>
                <a:spcPts val="600"/>
              </a:spcAft>
              <a:buFont typeface="Arial" panose="020B0604020202020204" pitchFamily="34" charset="0"/>
              <a:buChar char="•"/>
            </a:pPr>
            <a:r>
              <a:rPr lang="en-US" sz="2000" dirty="0">
                <a:solidFill>
                  <a:schemeClr val="tx1"/>
                </a:solidFill>
              </a:rPr>
              <a:t>Between VMs in different subnets in the same virtual network</a:t>
            </a:r>
          </a:p>
          <a:p>
            <a:pPr marL="246063" indent="-187325">
              <a:spcBef>
                <a:spcPts val="300"/>
              </a:spcBef>
              <a:spcAft>
                <a:spcPts val="600"/>
              </a:spcAft>
              <a:buFont typeface="Arial" panose="020B0604020202020204" pitchFamily="34" charset="0"/>
              <a:buChar char="•"/>
            </a:pPr>
            <a:r>
              <a:rPr lang="en-US" sz="2000" dirty="0">
                <a:solidFill>
                  <a:schemeClr val="tx1"/>
                </a:solidFill>
              </a:rPr>
              <a:t>Data flow from VMs to the internet</a:t>
            </a:r>
          </a:p>
          <a:p>
            <a:pPr marL="246063" indent="-187325">
              <a:spcBef>
                <a:spcPts val="300"/>
              </a:spcBef>
              <a:spcAft>
                <a:spcPts val="600"/>
              </a:spcAft>
              <a:buFont typeface="Arial" panose="020B0604020202020204" pitchFamily="34" charset="0"/>
              <a:buChar char="•"/>
            </a:pPr>
            <a:r>
              <a:rPr lang="en-US" sz="2000" dirty="0">
                <a:solidFill>
                  <a:schemeClr val="tx1"/>
                </a:solidFill>
              </a:rPr>
              <a:t>Communication between VMs using a VNet-to-VNet VPN</a:t>
            </a:r>
          </a:p>
          <a:p>
            <a:pPr marL="246063" indent="-187325">
              <a:spcBef>
                <a:spcPts val="300"/>
              </a:spcBef>
              <a:spcAft>
                <a:spcPts val="600"/>
              </a:spcAft>
              <a:buFont typeface="Arial" panose="020B0604020202020204" pitchFamily="34" charset="0"/>
              <a:buChar char="•"/>
            </a:pPr>
            <a:r>
              <a:rPr lang="en-US" sz="2000" dirty="0">
                <a:solidFill>
                  <a:schemeClr val="tx1"/>
                </a:solidFill>
              </a:rPr>
              <a:t>Site-to-Site and ExpressRoute communication through the</a:t>
            </a:r>
            <a:br>
              <a:rPr lang="en-US" sz="2000" dirty="0">
                <a:solidFill>
                  <a:schemeClr val="tx1"/>
                </a:solidFill>
              </a:rPr>
            </a:br>
            <a:r>
              <a:rPr lang="en-US" sz="2000" dirty="0">
                <a:solidFill>
                  <a:schemeClr val="tx1"/>
                </a:solidFill>
              </a:rPr>
              <a:t>VPN gateway</a:t>
            </a:r>
          </a:p>
        </p:txBody>
      </p:sp>
      <p:grpSp>
        <p:nvGrpSpPr>
          <p:cNvPr id="13" name="Group 12" descr="System routes connect the frontend subnet with the backend subnet and the internet. ">
            <a:extLst>
              <a:ext uri="{FF2B5EF4-FFF2-40B4-BE49-F238E27FC236}">
                <a16:creationId xmlns:a16="http://schemas.microsoft.com/office/drawing/2014/main" id="{635265A9-659B-EF02-ECDF-DAB41E26A58A}"/>
              </a:ext>
            </a:extLst>
          </p:cNvPr>
          <p:cNvGrpSpPr/>
          <p:nvPr/>
        </p:nvGrpSpPr>
        <p:grpSpPr>
          <a:xfrm>
            <a:off x="6467962" y="2475137"/>
            <a:ext cx="5381625" cy="3810414"/>
            <a:chOff x="6152515" y="1752748"/>
            <a:chExt cx="5381625" cy="3810414"/>
          </a:xfrm>
        </p:grpSpPr>
        <p:sp>
          <p:nvSpPr>
            <p:cNvPr id="14" name="Rectangle 13">
              <a:extLst>
                <a:ext uri="{FF2B5EF4-FFF2-40B4-BE49-F238E27FC236}">
                  <a16:creationId xmlns:a16="http://schemas.microsoft.com/office/drawing/2014/main" id="{E1A4B09C-C217-25C7-A3D2-A28C7C9B0EEE}"/>
                </a:ext>
              </a:extLst>
            </p:cNvPr>
            <p:cNvSpPr/>
            <p:nvPr/>
          </p:nvSpPr>
          <p:spPr>
            <a:xfrm>
              <a:off x="6255550" y="3136265"/>
              <a:ext cx="1662851" cy="1123949"/>
            </a:xfrm>
            <a:prstGeom prst="rect">
              <a:avLst/>
            </a:prstGeom>
            <a:solidFill>
              <a:srgbClr val="EBF1D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Connector: Elbow 14">
              <a:extLst>
                <a:ext uri="{FF2B5EF4-FFF2-40B4-BE49-F238E27FC236}">
                  <a16:creationId xmlns:a16="http://schemas.microsoft.com/office/drawing/2014/main" id="{3A6FFEED-4F40-E05D-11AA-E4608608472F}"/>
                </a:ext>
              </a:extLst>
            </p:cNvPr>
            <p:cNvCxnSpPr>
              <a:cxnSpLocks/>
              <a:stCxn id="14" idx="3"/>
              <a:endCxn id="20" idx="1"/>
            </p:cNvCxnSpPr>
            <p:nvPr/>
          </p:nvCxnSpPr>
          <p:spPr>
            <a:xfrm flipV="1">
              <a:off x="7918401" y="3685540"/>
              <a:ext cx="1701793" cy="12700"/>
            </a:xfrm>
            <a:prstGeom prst="bentConnector3">
              <a:avLst>
                <a:gd name="adj1" fmla="val 50000"/>
              </a:avLst>
            </a:prstGeom>
            <a:noFill/>
            <a:ln w="15875" cap="flat" cmpd="sng" algn="ctr">
              <a:solidFill>
                <a:sysClr val="windowText" lastClr="000000"/>
              </a:solidFill>
              <a:prstDash val="solid"/>
              <a:miter lim="800000"/>
              <a:tailEnd type="none"/>
            </a:ln>
            <a:effectLst/>
          </p:spPr>
        </p:cxnSp>
        <p:cxnSp>
          <p:nvCxnSpPr>
            <p:cNvPr id="16" name="Connector: Elbow 15">
              <a:extLst>
                <a:ext uri="{FF2B5EF4-FFF2-40B4-BE49-F238E27FC236}">
                  <a16:creationId xmlns:a16="http://schemas.microsoft.com/office/drawing/2014/main" id="{EA0EAC1E-FCC0-4CCE-827D-3D68F13C9186}"/>
                </a:ext>
              </a:extLst>
            </p:cNvPr>
            <p:cNvCxnSpPr>
              <a:cxnSpLocks/>
              <a:stCxn id="20" idx="2"/>
            </p:cNvCxnSpPr>
            <p:nvPr/>
          </p:nvCxnSpPr>
          <p:spPr>
            <a:xfrm rot="5400000">
              <a:off x="9414635" y="3694483"/>
              <a:ext cx="483955" cy="1590017"/>
            </a:xfrm>
            <a:prstGeom prst="bentConnector3">
              <a:avLst>
                <a:gd name="adj1" fmla="val 50000"/>
              </a:avLst>
            </a:prstGeom>
            <a:noFill/>
            <a:ln w="15875" cap="flat" cmpd="sng" algn="ctr">
              <a:solidFill>
                <a:srgbClr val="E7E6E6">
                  <a:lumMod val="50000"/>
                </a:srgbClr>
              </a:solidFill>
              <a:prstDash val="sysDash"/>
              <a:miter lim="800000"/>
              <a:tailEnd type="triangle"/>
            </a:ln>
            <a:effectLst/>
          </p:spPr>
        </p:cxnSp>
        <p:sp>
          <p:nvSpPr>
            <p:cNvPr id="17" name="TextBox 16">
              <a:extLst>
                <a:ext uri="{FF2B5EF4-FFF2-40B4-BE49-F238E27FC236}">
                  <a16:creationId xmlns:a16="http://schemas.microsoft.com/office/drawing/2014/main" id="{0D08BBD7-13C3-AF81-3EBB-536270D35836}"/>
                </a:ext>
              </a:extLst>
            </p:cNvPr>
            <p:cNvSpPr txBox="1"/>
            <p:nvPr/>
          </p:nvSpPr>
          <p:spPr>
            <a:xfrm>
              <a:off x="8156046" y="4853133"/>
              <a:ext cx="1358794" cy="338554"/>
            </a:xfrm>
            <a:prstGeom prst="rect">
              <a:avLst/>
            </a:prstGeom>
            <a:solidFill>
              <a:sysClr val="window" lastClr="FFFFFF"/>
            </a:solid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Routing Table</a:t>
              </a:r>
            </a:p>
          </p:txBody>
        </p:sp>
        <p:sp>
          <p:nvSpPr>
            <p:cNvPr id="18" name="Rectangle 17">
              <a:extLst>
                <a:ext uri="{FF2B5EF4-FFF2-40B4-BE49-F238E27FC236}">
                  <a16:creationId xmlns:a16="http://schemas.microsoft.com/office/drawing/2014/main" id="{D82D3BC3-B1F1-A400-3A7F-D8F1EE2A8726}"/>
                </a:ext>
              </a:extLst>
            </p:cNvPr>
            <p:cNvSpPr/>
            <p:nvPr/>
          </p:nvSpPr>
          <p:spPr>
            <a:xfrm>
              <a:off x="8258120" y="2589171"/>
              <a:ext cx="990269" cy="461176"/>
            </a:xfrm>
            <a:prstGeom prst="rect">
              <a:avLst/>
            </a:prstGeom>
            <a:solidFill>
              <a:srgbClr val="DDD6E5"/>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System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Route</a:t>
              </a:r>
            </a:p>
          </p:txBody>
        </p:sp>
        <p:sp>
          <p:nvSpPr>
            <p:cNvPr id="19" name="Rectangle 18">
              <a:extLst>
                <a:ext uri="{FF2B5EF4-FFF2-40B4-BE49-F238E27FC236}">
                  <a16:creationId xmlns:a16="http://schemas.microsoft.com/office/drawing/2014/main" id="{944B5C12-7E95-8E7F-3CDC-10A61013322F}"/>
                </a:ext>
              </a:extLst>
            </p:cNvPr>
            <p:cNvSpPr/>
            <p:nvPr/>
          </p:nvSpPr>
          <p:spPr>
            <a:xfrm>
              <a:off x="8267396" y="3402937"/>
              <a:ext cx="990269" cy="461176"/>
            </a:xfrm>
            <a:prstGeom prst="rect">
              <a:avLst/>
            </a:prstGeom>
            <a:solidFill>
              <a:srgbClr val="DDD6E5"/>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System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Route</a:t>
              </a:r>
            </a:p>
          </p:txBody>
        </p:sp>
        <p:sp>
          <p:nvSpPr>
            <p:cNvPr id="20" name="Rectangle 19">
              <a:extLst>
                <a:ext uri="{FF2B5EF4-FFF2-40B4-BE49-F238E27FC236}">
                  <a16:creationId xmlns:a16="http://schemas.microsoft.com/office/drawing/2014/main" id="{E5E46B84-FBDD-F894-D0A8-8086C989E34D}"/>
                </a:ext>
              </a:extLst>
            </p:cNvPr>
            <p:cNvSpPr/>
            <p:nvPr/>
          </p:nvSpPr>
          <p:spPr>
            <a:xfrm>
              <a:off x="9620194" y="3123565"/>
              <a:ext cx="1662851" cy="1123949"/>
            </a:xfrm>
            <a:prstGeom prst="rect">
              <a:avLst/>
            </a:prstGeom>
            <a:solidFill>
              <a:srgbClr val="EBF1D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Connector: Elbow 20">
              <a:extLst>
                <a:ext uri="{FF2B5EF4-FFF2-40B4-BE49-F238E27FC236}">
                  <a16:creationId xmlns:a16="http://schemas.microsoft.com/office/drawing/2014/main" id="{49B07E29-D2E8-B458-2F7D-624EFBC7ED05}"/>
                </a:ext>
              </a:extLst>
            </p:cNvPr>
            <p:cNvCxnSpPr>
              <a:cxnSpLocks/>
              <a:stCxn id="14" idx="2"/>
            </p:cNvCxnSpPr>
            <p:nvPr/>
          </p:nvCxnSpPr>
          <p:spPr>
            <a:xfrm rot="16200000" flipH="1">
              <a:off x="7738662" y="3608527"/>
              <a:ext cx="471255" cy="1774627"/>
            </a:xfrm>
            <a:prstGeom prst="bentConnector3">
              <a:avLst>
                <a:gd name="adj1" fmla="val 50000"/>
              </a:avLst>
            </a:prstGeom>
            <a:noFill/>
            <a:ln w="15875" cap="flat" cmpd="sng" algn="ctr">
              <a:solidFill>
                <a:srgbClr val="E7E6E6">
                  <a:lumMod val="50000"/>
                </a:srgbClr>
              </a:solidFill>
              <a:prstDash val="sysDash"/>
              <a:miter lim="800000"/>
              <a:tailEnd type="triangle"/>
            </a:ln>
            <a:effectLst/>
          </p:spPr>
        </p:cxnSp>
        <p:sp>
          <p:nvSpPr>
            <p:cNvPr id="22" name="Freeform 44">
              <a:extLst>
                <a:ext uri="{FF2B5EF4-FFF2-40B4-BE49-F238E27FC236}">
                  <a16:creationId xmlns:a16="http://schemas.microsoft.com/office/drawing/2014/main" id="{F98FA83F-7D46-1469-8F38-4686D9B4181A}"/>
                </a:ext>
              </a:extLst>
            </p:cNvPr>
            <p:cNvSpPr>
              <a:spLocks noChangeAspect="1" noEditPoints="1"/>
            </p:cNvSpPr>
            <p:nvPr/>
          </p:nvSpPr>
          <p:spPr bwMode="black">
            <a:xfrm>
              <a:off x="6602990" y="3277705"/>
              <a:ext cx="355794" cy="346066"/>
            </a:xfrm>
            <a:custGeom>
              <a:avLst/>
              <a:gdLst>
                <a:gd name="T0" fmla="*/ 120 w 155"/>
                <a:gd name="T1" fmla="*/ 50 h 150"/>
                <a:gd name="T2" fmla="*/ 120 w 155"/>
                <a:gd name="T3" fmla="*/ 54 h 150"/>
                <a:gd name="T4" fmla="*/ 117 w 155"/>
                <a:gd name="T5" fmla="*/ 54 h 150"/>
                <a:gd name="T6" fmla="*/ 117 w 155"/>
                <a:gd name="T7" fmla="*/ 54 h 150"/>
                <a:gd name="T8" fmla="*/ 108 w 155"/>
                <a:gd name="T9" fmla="*/ 54 h 150"/>
                <a:gd name="T10" fmla="*/ 101 w 155"/>
                <a:gd name="T11" fmla="*/ 86 h 150"/>
                <a:gd name="T12" fmla="*/ 99 w 155"/>
                <a:gd name="T13" fmla="*/ 96 h 150"/>
                <a:gd name="T14" fmla="*/ 98 w 155"/>
                <a:gd name="T15" fmla="*/ 97 h 150"/>
                <a:gd name="T16" fmla="*/ 100 w 155"/>
                <a:gd name="T17" fmla="*/ 101 h 150"/>
                <a:gd name="T18" fmla="*/ 94 w 155"/>
                <a:gd name="T19" fmla="*/ 107 h 150"/>
                <a:gd name="T20" fmla="*/ 89 w 155"/>
                <a:gd name="T21" fmla="*/ 101 h 150"/>
                <a:gd name="T22" fmla="*/ 90 w 155"/>
                <a:gd name="T23" fmla="*/ 98 h 150"/>
                <a:gd name="T24" fmla="*/ 67 w 155"/>
                <a:gd name="T25" fmla="*/ 98 h 150"/>
                <a:gd name="T26" fmla="*/ 68 w 155"/>
                <a:gd name="T27" fmla="*/ 101 h 150"/>
                <a:gd name="T28" fmla="*/ 63 w 155"/>
                <a:gd name="T29" fmla="*/ 107 h 150"/>
                <a:gd name="T30" fmla="*/ 58 w 155"/>
                <a:gd name="T31" fmla="*/ 101 h 150"/>
                <a:gd name="T32" fmla="*/ 59 w 155"/>
                <a:gd name="T33" fmla="*/ 98 h 150"/>
                <a:gd name="T34" fmla="*/ 55 w 155"/>
                <a:gd name="T35" fmla="*/ 98 h 150"/>
                <a:gd name="T36" fmla="*/ 54 w 155"/>
                <a:gd name="T37" fmla="*/ 98 h 150"/>
                <a:gd name="T38" fmla="*/ 52 w 155"/>
                <a:gd name="T39" fmla="*/ 98 h 150"/>
                <a:gd name="T40" fmla="*/ 52 w 155"/>
                <a:gd name="T41" fmla="*/ 93 h 150"/>
                <a:gd name="T42" fmla="*/ 55 w 155"/>
                <a:gd name="T43" fmla="*/ 93 h 150"/>
                <a:gd name="T44" fmla="*/ 56 w 155"/>
                <a:gd name="T45" fmla="*/ 93 h 150"/>
                <a:gd name="T46" fmla="*/ 94 w 155"/>
                <a:gd name="T47" fmla="*/ 93 h 150"/>
                <a:gd name="T48" fmla="*/ 95 w 155"/>
                <a:gd name="T49" fmla="*/ 88 h 150"/>
                <a:gd name="T50" fmla="*/ 58 w 155"/>
                <a:gd name="T51" fmla="*/ 88 h 150"/>
                <a:gd name="T52" fmla="*/ 58 w 155"/>
                <a:gd name="T53" fmla="*/ 88 h 150"/>
                <a:gd name="T54" fmla="*/ 56 w 155"/>
                <a:gd name="T55" fmla="*/ 88 h 150"/>
                <a:gd name="T56" fmla="*/ 56 w 155"/>
                <a:gd name="T57" fmla="*/ 87 h 150"/>
                <a:gd name="T58" fmla="*/ 56 w 155"/>
                <a:gd name="T59" fmla="*/ 86 h 150"/>
                <a:gd name="T60" fmla="*/ 50 w 155"/>
                <a:gd name="T61" fmla="*/ 61 h 150"/>
                <a:gd name="T62" fmla="*/ 50 w 155"/>
                <a:gd name="T63" fmla="*/ 61 h 150"/>
                <a:gd name="T64" fmla="*/ 50 w 155"/>
                <a:gd name="T65" fmla="*/ 58 h 150"/>
                <a:gd name="T66" fmla="*/ 53 w 155"/>
                <a:gd name="T67" fmla="*/ 58 h 150"/>
                <a:gd name="T68" fmla="*/ 55 w 155"/>
                <a:gd name="T69" fmla="*/ 58 h 150"/>
                <a:gd name="T70" fmla="*/ 103 w 155"/>
                <a:gd name="T71" fmla="*/ 58 h 150"/>
                <a:gd name="T72" fmla="*/ 104 w 155"/>
                <a:gd name="T73" fmla="*/ 50 h 150"/>
                <a:gd name="T74" fmla="*/ 106 w 155"/>
                <a:gd name="T75" fmla="*/ 50 h 150"/>
                <a:gd name="T76" fmla="*/ 107 w 155"/>
                <a:gd name="T77" fmla="*/ 50 h 150"/>
                <a:gd name="T78" fmla="*/ 117 w 155"/>
                <a:gd name="T79" fmla="*/ 50 h 150"/>
                <a:gd name="T80" fmla="*/ 117 w 155"/>
                <a:gd name="T81" fmla="*/ 50 h 150"/>
                <a:gd name="T82" fmla="*/ 120 w 155"/>
                <a:gd name="T83" fmla="*/ 50 h 150"/>
                <a:gd name="T84" fmla="*/ 43 w 155"/>
                <a:gd name="T85" fmla="*/ 6 h 150"/>
                <a:gd name="T86" fmla="*/ 21 w 155"/>
                <a:gd name="T87" fmla="*/ 39 h 150"/>
                <a:gd name="T88" fmla="*/ 7 w 155"/>
                <a:gd name="T89" fmla="*/ 27 h 150"/>
                <a:gd name="T90" fmla="*/ 0 w 155"/>
                <a:gd name="T91" fmla="*/ 35 h 150"/>
                <a:gd name="T92" fmla="*/ 22 w 155"/>
                <a:gd name="T93" fmla="*/ 54 h 150"/>
                <a:gd name="T94" fmla="*/ 52 w 155"/>
                <a:gd name="T95" fmla="*/ 12 h 150"/>
                <a:gd name="T96" fmla="*/ 43 w 155"/>
                <a:gd name="T97" fmla="*/ 6 h 150"/>
                <a:gd name="T98" fmla="*/ 80 w 155"/>
                <a:gd name="T99" fmla="*/ 0 h 150"/>
                <a:gd name="T100" fmla="*/ 74 w 155"/>
                <a:gd name="T101" fmla="*/ 0 h 150"/>
                <a:gd name="T102" fmla="*/ 74 w 155"/>
                <a:gd name="T103" fmla="*/ 10 h 150"/>
                <a:gd name="T104" fmla="*/ 80 w 155"/>
                <a:gd name="T105" fmla="*/ 9 h 150"/>
                <a:gd name="T106" fmla="*/ 145 w 155"/>
                <a:gd name="T107" fmla="*/ 75 h 150"/>
                <a:gd name="T108" fmla="*/ 80 w 155"/>
                <a:gd name="T109" fmla="*/ 140 h 150"/>
                <a:gd name="T110" fmla="*/ 14 w 155"/>
                <a:gd name="T111" fmla="*/ 75 h 150"/>
                <a:gd name="T112" fmla="*/ 14 w 155"/>
                <a:gd name="T113" fmla="*/ 74 h 150"/>
                <a:gd name="T114" fmla="*/ 5 w 155"/>
                <a:gd name="T115" fmla="*/ 74 h 150"/>
                <a:gd name="T116" fmla="*/ 5 w 155"/>
                <a:gd name="T117" fmla="*/ 75 h 150"/>
                <a:gd name="T118" fmla="*/ 80 w 155"/>
                <a:gd name="T119" fmla="*/ 150 h 150"/>
                <a:gd name="T120" fmla="*/ 155 w 155"/>
                <a:gd name="T121" fmla="*/ 75 h 150"/>
                <a:gd name="T122" fmla="*/ 80 w 155"/>
                <a:gd name="T12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 h="150">
                  <a:moveTo>
                    <a:pt x="120" y="50"/>
                  </a:moveTo>
                  <a:cubicBezTo>
                    <a:pt x="120" y="54"/>
                    <a:pt x="120" y="54"/>
                    <a:pt x="120" y="54"/>
                  </a:cubicBezTo>
                  <a:cubicBezTo>
                    <a:pt x="117" y="54"/>
                    <a:pt x="117" y="54"/>
                    <a:pt x="117" y="54"/>
                  </a:cubicBezTo>
                  <a:cubicBezTo>
                    <a:pt x="117" y="54"/>
                    <a:pt x="117" y="54"/>
                    <a:pt x="117" y="54"/>
                  </a:cubicBezTo>
                  <a:cubicBezTo>
                    <a:pt x="108" y="54"/>
                    <a:pt x="108" y="54"/>
                    <a:pt x="108" y="54"/>
                  </a:cubicBezTo>
                  <a:cubicBezTo>
                    <a:pt x="101" y="86"/>
                    <a:pt x="101" y="86"/>
                    <a:pt x="101" y="86"/>
                  </a:cubicBezTo>
                  <a:cubicBezTo>
                    <a:pt x="99" y="96"/>
                    <a:pt x="99" y="96"/>
                    <a:pt x="99" y="96"/>
                  </a:cubicBezTo>
                  <a:cubicBezTo>
                    <a:pt x="99" y="97"/>
                    <a:pt x="98" y="97"/>
                    <a:pt x="98" y="97"/>
                  </a:cubicBezTo>
                  <a:cubicBezTo>
                    <a:pt x="99" y="98"/>
                    <a:pt x="100" y="100"/>
                    <a:pt x="100" y="101"/>
                  </a:cubicBezTo>
                  <a:cubicBezTo>
                    <a:pt x="100" y="104"/>
                    <a:pt x="97" y="107"/>
                    <a:pt x="94" y="107"/>
                  </a:cubicBezTo>
                  <a:cubicBezTo>
                    <a:pt x="91" y="107"/>
                    <a:pt x="89" y="104"/>
                    <a:pt x="89" y="101"/>
                  </a:cubicBezTo>
                  <a:cubicBezTo>
                    <a:pt x="89" y="100"/>
                    <a:pt x="89" y="99"/>
                    <a:pt x="90" y="98"/>
                  </a:cubicBezTo>
                  <a:cubicBezTo>
                    <a:pt x="67" y="98"/>
                    <a:pt x="67" y="98"/>
                    <a:pt x="67" y="98"/>
                  </a:cubicBezTo>
                  <a:cubicBezTo>
                    <a:pt x="68" y="99"/>
                    <a:pt x="68" y="100"/>
                    <a:pt x="68" y="101"/>
                  </a:cubicBezTo>
                  <a:cubicBezTo>
                    <a:pt x="68" y="104"/>
                    <a:pt x="66" y="107"/>
                    <a:pt x="63" y="107"/>
                  </a:cubicBezTo>
                  <a:cubicBezTo>
                    <a:pt x="60" y="107"/>
                    <a:pt x="58" y="104"/>
                    <a:pt x="58" y="101"/>
                  </a:cubicBezTo>
                  <a:cubicBezTo>
                    <a:pt x="58" y="100"/>
                    <a:pt x="58" y="99"/>
                    <a:pt x="59" y="98"/>
                  </a:cubicBezTo>
                  <a:cubicBezTo>
                    <a:pt x="55" y="98"/>
                    <a:pt x="55" y="98"/>
                    <a:pt x="55" y="98"/>
                  </a:cubicBezTo>
                  <a:cubicBezTo>
                    <a:pt x="55" y="98"/>
                    <a:pt x="54" y="98"/>
                    <a:pt x="54" y="98"/>
                  </a:cubicBezTo>
                  <a:cubicBezTo>
                    <a:pt x="52" y="98"/>
                    <a:pt x="52" y="98"/>
                    <a:pt x="52" y="98"/>
                  </a:cubicBezTo>
                  <a:cubicBezTo>
                    <a:pt x="52" y="93"/>
                    <a:pt x="52" y="93"/>
                    <a:pt x="52" y="93"/>
                  </a:cubicBezTo>
                  <a:cubicBezTo>
                    <a:pt x="55" y="93"/>
                    <a:pt x="55" y="93"/>
                    <a:pt x="55" y="93"/>
                  </a:cubicBezTo>
                  <a:cubicBezTo>
                    <a:pt x="56" y="93"/>
                    <a:pt x="56" y="93"/>
                    <a:pt x="56" y="93"/>
                  </a:cubicBezTo>
                  <a:cubicBezTo>
                    <a:pt x="94" y="93"/>
                    <a:pt x="94" y="93"/>
                    <a:pt x="94" y="93"/>
                  </a:cubicBezTo>
                  <a:cubicBezTo>
                    <a:pt x="95" y="88"/>
                    <a:pt x="95" y="88"/>
                    <a:pt x="95" y="88"/>
                  </a:cubicBezTo>
                  <a:cubicBezTo>
                    <a:pt x="58" y="88"/>
                    <a:pt x="58" y="88"/>
                    <a:pt x="58" y="88"/>
                  </a:cubicBezTo>
                  <a:cubicBezTo>
                    <a:pt x="58" y="88"/>
                    <a:pt x="58" y="88"/>
                    <a:pt x="58" y="88"/>
                  </a:cubicBezTo>
                  <a:cubicBezTo>
                    <a:pt x="56" y="88"/>
                    <a:pt x="56" y="88"/>
                    <a:pt x="56" y="88"/>
                  </a:cubicBezTo>
                  <a:cubicBezTo>
                    <a:pt x="56" y="87"/>
                    <a:pt x="56" y="87"/>
                    <a:pt x="56" y="87"/>
                  </a:cubicBezTo>
                  <a:cubicBezTo>
                    <a:pt x="56" y="87"/>
                    <a:pt x="56" y="87"/>
                    <a:pt x="56" y="86"/>
                  </a:cubicBezTo>
                  <a:cubicBezTo>
                    <a:pt x="50" y="61"/>
                    <a:pt x="50" y="61"/>
                    <a:pt x="50" y="61"/>
                  </a:cubicBezTo>
                  <a:cubicBezTo>
                    <a:pt x="50" y="61"/>
                    <a:pt x="50" y="61"/>
                    <a:pt x="50" y="61"/>
                  </a:cubicBezTo>
                  <a:cubicBezTo>
                    <a:pt x="50" y="58"/>
                    <a:pt x="50" y="58"/>
                    <a:pt x="50" y="58"/>
                  </a:cubicBezTo>
                  <a:cubicBezTo>
                    <a:pt x="53" y="58"/>
                    <a:pt x="53" y="58"/>
                    <a:pt x="53" y="58"/>
                  </a:cubicBezTo>
                  <a:cubicBezTo>
                    <a:pt x="55" y="58"/>
                    <a:pt x="55" y="58"/>
                    <a:pt x="55" y="58"/>
                  </a:cubicBezTo>
                  <a:cubicBezTo>
                    <a:pt x="103" y="58"/>
                    <a:pt x="103" y="58"/>
                    <a:pt x="103" y="58"/>
                  </a:cubicBezTo>
                  <a:cubicBezTo>
                    <a:pt x="104" y="50"/>
                    <a:pt x="104" y="50"/>
                    <a:pt x="104" y="50"/>
                  </a:cubicBezTo>
                  <a:cubicBezTo>
                    <a:pt x="106" y="50"/>
                    <a:pt x="106" y="50"/>
                    <a:pt x="106" y="50"/>
                  </a:cubicBezTo>
                  <a:cubicBezTo>
                    <a:pt x="107" y="50"/>
                    <a:pt x="107" y="50"/>
                    <a:pt x="107" y="50"/>
                  </a:cubicBezTo>
                  <a:cubicBezTo>
                    <a:pt x="117" y="50"/>
                    <a:pt x="117" y="50"/>
                    <a:pt x="117" y="50"/>
                  </a:cubicBezTo>
                  <a:cubicBezTo>
                    <a:pt x="117" y="50"/>
                    <a:pt x="117" y="50"/>
                    <a:pt x="117" y="50"/>
                  </a:cubicBezTo>
                  <a:lnTo>
                    <a:pt x="120" y="50"/>
                  </a:lnTo>
                  <a:close/>
                  <a:moveTo>
                    <a:pt x="43" y="6"/>
                  </a:moveTo>
                  <a:cubicBezTo>
                    <a:pt x="21" y="39"/>
                    <a:pt x="21" y="39"/>
                    <a:pt x="21" y="39"/>
                  </a:cubicBezTo>
                  <a:cubicBezTo>
                    <a:pt x="7" y="27"/>
                    <a:pt x="7" y="27"/>
                    <a:pt x="7" y="27"/>
                  </a:cubicBezTo>
                  <a:cubicBezTo>
                    <a:pt x="0" y="35"/>
                    <a:pt x="0" y="35"/>
                    <a:pt x="0" y="35"/>
                  </a:cubicBezTo>
                  <a:cubicBezTo>
                    <a:pt x="22" y="54"/>
                    <a:pt x="22" y="54"/>
                    <a:pt x="22" y="54"/>
                  </a:cubicBezTo>
                  <a:cubicBezTo>
                    <a:pt x="52" y="12"/>
                    <a:pt x="52" y="12"/>
                    <a:pt x="52" y="12"/>
                  </a:cubicBezTo>
                  <a:lnTo>
                    <a:pt x="43" y="6"/>
                  </a:lnTo>
                  <a:close/>
                  <a:moveTo>
                    <a:pt x="80" y="0"/>
                  </a:moveTo>
                  <a:cubicBezTo>
                    <a:pt x="78" y="0"/>
                    <a:pt x="76" y="0"/>
                    <a:pt x="74" y="0"/>
                  </a:cubicBezTo>
                  <a:cubicBezTo>
                    <a:pt x="74" y="10"/>
                    <a:pt x="74" y="10"/>
                    <a:pt x="74" y="10"/>
                  </a:cubicBezTo>
                  <a:cubicBezTo>
                    <a:pt x="76" y="10"/>
                    <a:pt x="78" y="9"/>
                    <a:pt x="80" y="9"/>
                  </a:cubicBezTo>
                  <a:cubicBezTo>
                    <a:pt x="116" y="9"/>
                    <a:pt x="145" y="39"/>
                    <a:pt x="145" y="75"/>
                  </a:cubicBezTo>
                  <a:cubicBezTo>
                    <a:pt x="145" y="111"/>
                    <a:pt x="116" y="140"/>
                    <a:pt x="80" y="140"/>
                  </a:cubicBezTo>
                  <a:cubicBezTo>
                    <a:pt x="44" y="140"/>
                    <a:pt x="14" y="111"/>
                    <a:pt x="14" y="75"/>
                  </a:cubicBezTo>
                  <a:cubicBezTo>
                    <a:pt x="14" y="75"/>
                    <a:pt x="14" y="75"/>
                    <a:pt x="14" y="74"/>
                  </a:cubicBezTo>
                  <a:cubicBezTo>
                    <a:pt x="5" y="74"/>
                    <a:pt x="5" y="74"/>
                    <a:pt x="5" y="74"/>
                  </a:cubicBezTo>
                  <a:cubicBezTo>
                    <a:pt x="5" y="75"/>
                    <a:pt x="5" y="75"/>
                    <a:pt x="5" y="75"/>
                  </a:cubicBezTo>
                  <a:cubicBezTo>
                    <a:pt x="5" y="116"/>
                    <a:pt x="38" y="150"/>
                    <a:pt x="80" y="150"/>
                  </a:cubicBezTo>
                  <a:cubicBezTo>
                    <a:pt x="121" y="150"/>
                    <a:pt x="155" y="116"/>
                    <a:pt x="155" y="75"/>
                  </a:cubicBezTo>
                  <a:cubicBezTo>
                    <a:pt x="155" y="34"/>
                    <a:pt x="121" y="0"/>
                    <a:pt x="80" y="0"/>
                  </a:cubicBezTo>
                  <a:close/>
                </a:path>
              </a:pathLst>
            </a:custGeom>
            <a:solidFill>
              <a:srgbClr val="000000"/>
            </a:solidFill>
            <a:ln>
              <a:noFill/>
            </a:ln>
          </p:spPr>
          <p:txBody>
            <a:bodyPr vert="horz" wrap="square" lIns="93278" tIns="46639" rIns="93278" bIns="46639" numCol="1" anchor="t" anchorCtr="0" compatLnSpc="1">
              <a:prstTxWarp prst="textNoShape">
                <a:avLst/>
              </a:prstTxWarp>
            </a:bodyPr>
            <a:lstStyle/>
            <a:p>
              <a:pPr defTabSz="914400"/>
              <a:endParaRPr lang="en-US" sz="1600" dirty="0">
                <a:solidFill>
                  <a:srgbClr val="000000"/>
                </a:solidFill>
                <a:latin typeface="Calibri" panose="020F0502020204030204"/>
              </a:endParaRPr>
            </a:p>
          </p:txBody>
        </p:sp>
        <p:sp>
          <p:nvSpPr>
            <p:cNvPr id="23" name="Freeform 44">
              <a:extLst>
                <a:ext uri="{FF2B5EF4-FFF2-40B4-BE49-F238E27FC236}">
                  <a16:creationId xmlns:a16="http://schemas.microsoft.com/office/drawing/2014/main" id="{DA9A5F1D-DEDF-7812-1159-47DD7D444475}"/>
                </a:ext>
              </a:extLst>
            </p:cNvPr>
            <p:cNvSpPr>
              <a:spLocks noChangeAspect="1" noEditPoints="1"/>
            </p:cNvSpPr>
            <p:nvPr/>
          </p:nvSpPr>
          <p:spPr bwMode="black">
            <a:xfrm>
              <a:off x="7146412" y="3574720"/>
              <a:ext cx="355794" cy="346066"/>
            </a:xfrm>
            <a:custGeom>
              <a:avLst/>
              <a:gdLst>
                <a:gd name="T0" fmla="*/ 120 w 155"/>
                <a:gd name="T1" fmla="*/ 50 h 150"/>
                <a:gd name="T2" fmla="*/ 120 w 155"/>
                <a:gd name="T3" fmla="*/ 54 h 150"/>
                <a:gd name="T4" fmla="*/ 117 w 155"/>
                <a:gd name="T5" fmla="*/ 54 h 150"/>
                <a:gd name="T6" fmla="*/ 117 w 155"/>
                <a:gd name="T7" fmla="*/ 54 h 150"/>
                <a:gd name="T8" fmla="*/ 108 w 155"/>
                <a:gd name="T9" fmla="*/ 54 h 150"/>
                <a:gd name="T10" fmla="*/ 101 w 155"/>
                <a:gd name="T11" fmla="*/ 86 h 150"/>
                <a:gd name="T12" fmla="*/ 99 w 155"/>
                <a:gd name="T13" fmla="*/ 96 h 150"/>
                <a:gd name="T14" fmla="*/ 98 w 155"/>
                <a:gd name="T15" fmla="*/ 97 h 150"/>
                <a:gd name="T16" fmla="*/ 100 w 155"/>
                <a:gd name="T17" fmla="*/ 101 h 150"/>
                <a:gd name="T18" fmla="*/ 94 w 155"/>
                <a:gd name="T19" fmla="*/ 107 h 150"/>
                <a:gd name="T20" fmla="*/ 89 w 155"/>
                <a:gd name="T21" fmla="*/ 101 h 150"/>
                <a:gd name="T22" fmla="*/ 90 w 155"/>
                <a:gd name="T23" fmla="*/ 98 h 150"/>
                <a:gd name="T24" fmla="*/ 67 w 155"/>
                <a:gd name="T25" fmla="*/ 98 h 150"/>
                <a:gd name="T26" fmla="*/ 68 w 155"/>
                <a:gd name="T27" fmla="*/ 101 h 150"/>
                <a:gd name="T28" fmla="*/ 63 w 155"/>
                <a:gd name="T29" fmla="*/ 107 h 150"/>
                <a:gd name="T30" fmla="*/ 58 w 155"/>
                <a:gd name="T31" fmla="*/ 101 h 150"/>
                <a:gd name="T32" fmla="*/ 59 w 155"/>
                <a:gd name="T33" fmla="*/ 98 h 150"/>
                <a:gd name="T34" fmla="*/ 55 w 155"/>
                <a:gd name="T35" fmla="*/ 98 h 150"/>
                <a:gd name="T36" fmla="*/ 54 w 155"/>
                <a:gd name="T37" fmla="*/ 98 h 150"/>
                <a:gd name="T38" fmla="*/ 52 w 155"/>
                <a:gd name="T39" fmla="*/ 98 h 150"/>
                <a:gd name="T40" fmla="*/ 52 w 155"/>
                <a:gd name="T41" fmla="*/ 93 h 150"/>
                <a:gd name="T42" fmla="*/ 55 w 155"/>
                <a:gd name="T43" fmla="*/ 93 h 150"/>
                <a:gd name="T44" fmla="*/ 56 w 155"/>
                <a:gd name="T45" fmla="*/ 93 h 150"/>
                <a:gd name="T46" fmla="*/ 94 w 155"/>
                <a:gd name="T47" fmla="*/ 93 h 150"/>
                <a:gd name="T48" fmla="*/ 95 w 155"/>
                <a:gd name="T49" fmla="*/ 88 h 150"/>
                <a:gd name="T50" fmla="*/ 58 w 155"/>
                <a:gd name="T51" fmla="*/ 88 h 150"/>
                <a:gd name="T52" fmla="*/ 58 w 155"/>
                <a:gd name="T53" fmla="*/ 88 h 150"/>
                <a:gd name="T54" fmla="*/ 56 w 155"/>
                <a:gd name="T55" fmla="*/ 88 h 150"/>
                <a:gd name="T56" fmla="*/ 56 w 155"/>
                <a:gd name="T57" fmla="*/ 87 h 150"/>
                <a:gd name="T58" fmla="*/ 56 w 155"/>
                <a:gd name="T59" fmla="*/ 86 h 150"/>
                <a:gd name="T60" fmla="*/ 50 w 155"/>
                <a:gd name="T61" fmla="*/ 61 h 150"/>
                <a:gd name="T62" fmla="*/ 50 w 155"/>
                <a:gd name="T63" fmla="*/ 61 h 150"/>
                <a:gd name="T64" fmla="*/ 50 w 155"/>
                <a:gd name="T65" fmla="*/ 58 h 150"/>
                <a:gd name="T66" fmla="*/ 53 w 155"/>
                <a:gd name="T67" fmla="*/ 58 h 150"/>
                <a:gd name="T68" fmla="*/ 55 w 155"/>
                <a:gd name="T69" fmla="*/ 58 h 150"/>
                <a:gd name="T70" fmla="*/ 103 w 155"/>
                <a:gd name="T71" fmla="*/ 58 h 150"/>
                <a:gd name="T72" fmla="*/ 104 w 155"/>
                <a:gd name="T73" fmla="*/ 50 h 150"/>
                <a:gd name="T74" fmla="*/ 106 w 155"/>
                <a:gd name="T75" fmla="*/ 50 h 150"/>
                <a:gd name="T76" fmla="*/ 107 w 155"/>
                <a:gd name="T77" fmla="*/ 50 h 150"/>
                <a:gd name="T78" fmla="*/ 117 w 155"/>
                <a:gd name="T79" fmla="*/ 50 h 150"/>
                <a:gd name="T80" fmla="*/ 117 w 155"/>
                <a:gd name="T81" fmla="*/ 50 h 150"/>
                <a:gd name="T82" fmla="*/ 120 w 155"/>
                <a:gd name="T83" fmla="*/ 50 h 150"/>
                <a:gd name="T84" fmla="*/ 43 w 155"/>
                <a:gd name="T85" fmla="*/ 6 h 150"/>
                <a:gd name="T86" fmla="*/ 21 w 155"/>
                <a:gd name="T87" fmla="*/ 39 h 150"/>
                <a:gd name="T88" fmla="*/ 7 w 155"/>
                <a:gd name="T89" fmla="*/ 27 h 150"/>
                <a:gd name="T90" fmla="*/ 0 w 155"/>
                <a:gd name="T91" fmla="*/ 35 h 150"/>
                <a:gd name="T92" fmla="*/ 22 w 155"/>
                <a:gd name="T93" fmla="*/ 54 h 150"/>
                <a:gd name="T94" fmla="*/ 52 w 155"/>
                <a:gd name="T95" fmla="*/ 12 h 150"/>
                <a:gd name="T96" fmla="*/ 43 w 155"/>
                <a:gd name="T97" fmla="*/ 6 h 150"/>
                <a:gd name="T98" fmla="*/ 80 w 155"/>
                <a:gd name="T99" fmla="*/ 0 h 150"/>
                <a:gd name="T100" fmla="*/ 74 w 155"/>
                <a:gd name="T101" fmla="*/ 0 h 150"/>
                <a:gd name="T102" fmla="*/ 74 w 155"/>
                <a:gd name="T103" fmla="*/ 10 h 150"/>
                <a:gd name="T104" fmla="*/ 80 w 155"/>
                <a:gd name="T105" fmla="*/ 9 h 150"/>
                <a:gd name="T106" fmla="*/ 145 w 155"/>
                <a:gd name="T107" fmla="*/ 75 h 150"/>
                <a:gd name="T108" fmla="*/ 80 w 155"/>
                <a:gd name="T109" fmla="*/ 140 h 150"/>
                <a:gd name="T110" fmla="*/ 14 w 155"/>
                <a:gd name="T111" fmla="*/ 75 h 150"/>
                <a:gd name="T112" fmla="*/ 14 w 155"/>
                <a:gd name="T113" fmla="*/ 74 h 150"/>
                <a:gd name="T114" fmla="*/ 5 w 155"/>
                <a:gd name="T115" fmla="*/ 74 h 150"/>
                <a:gd name="T116" fmla="*/ 5 w 155"/>
                <a:gd name="T117" fmla="*/ 75 h 150"/>
                <a:gd name="T118" fmla="*/ 80 w 155"/>
                <a:gd name="T119" fmla="*/ 150 h 150"/>
                <a:gd name="T120" fmla="*/ 155 w 155"/>
                <a:gd name="T121" fmla="*/ 75 h 150"/>
                <a:gd name="T122" fmla="*/ 80 w 155"/>
                <a:gd name="T12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 h="150">
                  <a:moveTo>
                    <a:pt x="120" y="50"/>
                  </a:moveTo>
                  <a:cubicBezTo>
                    <a:pt x="120" y="54"/>
                    <a:pt x="120" y="54"/>
                    <a:pt x="120" y="54"/>
                  </a:cubicBezTo>
                  <a:cubicBezTo>
                    <a:pt x="117" y="54"/>
                    <a:pt x="117" y="54"/>
                    <a:pt x="117" y="54"/>
                  </a:cubicBezTo>
                  <a:cubicBezTo>
                    <a:pt x="117" y="54"/>
                    <a:pt x="117" y="54"/>
                    <a:pt x="117" y="54"/>
                  </a:cubicBezTo>
                  <a:cubicBezTo>
                    <a:pt x="108" y="54"/>
                    <a:pt x="108" y="54"/>
                    <a:pt x="108" y="54"/>
                  </a:cubicBezTo>
                  <a:cubicBezTo>
                    <a:pt x="101" y="86"/>
                    <a:pt x="101" y="86"/>
                    <a:pt x="101" y="86"/>
                  </a:cubicBezTo>
                  <a:cubicBezTo>
                    <a:pt x="99" y="96"/>
                    <a:pt x="99" y="96"/>
                    <a:pt x="99" y="96"/>
                  </a:cubicBezTo>
                  <a:cubicBezTo>
                    <a:pt x="99" y="97"/>
                    <a:pt x="98" y="97"/>
                    <a:pt x="98" y="97"/>
                  </a:cubicBezTo>
                  <a:cubicBezTo>
                    <a:pt x="99" y="98"/>
                    <a:pt x="100" y="100"/>
                    <a:pt x="100" y="101"/>
                  </a:cubicBezTo>
                  <a:cubicBezTo>
                    <a:pt x="100" y="104"/>
                    <a:pt x="97" y="107"/>
                    <a:pt x="94" y="107"/>
                  </a:cubicBezTo>
                  <a:cubicBezTo>
                    <a:pt x="91" y="107"/>
                    <a:pt x="89" y="104"/>
                    <a:pt x="89" y="101"/>
                  </a:cubicBezTo>
                  <a:cubicBezTo>
                    <a:pt x="89" y="100"/>
                    <a:pt x="89" y="99"/>
                    <a:pt x="90" y="98"/>
                  </a:cubicBezTo>
                  <a:cubicBezTo>
                    <a:pt x="67" y="98"/>
                    <a:pt x="67" y="98"/>
                    <a:pt x="67" y="98"/>
                  </a:cubicBezTo>
                  <a:cubicBezTo>
                    <a:pt x="68" y="99"/>
                    <a:pt x="68" y="100"/>
                    <a:pt x="68" y="101"/>
                  </a:cubicBezTo>
                  <a:cubicBezTo>
                    <a:pt x="68" y="104"/>
                    <a:pt x="66" y="107"/>
                    <a:pt x="63" y="107"/>
                  </a:cubicBezTo>
                  <a:cubicBezTo>
                    <a:pt x="60" y="107"/>
                    <a:pt x="58" y="104"/>
                    <a:pt x="58" y="101"/>
                  </a:cubicBezTo>
                  <a:cubicBezTo>
                    <a:pt x="58" y="100"/>
                    <a:pt x="58" y="99"/>
                    <a:pt x="59" y="98"/>
                  </a:cubicBezTo>
                  <a:cubicBezTo>
                    <a:pt x="55" y="98"/>
                    <a:pt x="55" y="98"/>
                    <a:pt x="55" y="98"/>
                  </a:cubicBezTo>
                  <a:cubicBezTo>
                    <a:pt x="55" y="98"/>
                    <a:pt x="54" y="98"/>
                    <a:pt x="54" y="98"/>
                  </a:cubicBezTo>
                  <a:cubicBezTo>
                    <a:pt x="52" y="98"/>
                    <a:pt x="52" y="98"/>
                    <a:pt x="52" y="98"/>
                  </a:cubicBezTo>
                  <a:cubicBezTo>
                    <a:pt x="52" y="93"/>
                    <a:pt x="52" y="93"/>
                    <a:pt x="52" y="93"/>
                  </a:cubicBezTo>
                  <a:cubicBezTo>
                    <a:pt x="55" y="93"/>
                    <a:pt x="55" y="93"/>
                    <a:pt x="55" y="93"/>
                  </a:cubicBezTo>
                  <a:cubicBezTo>
                    <a:pt x="56" y="93"/>
                    <a:pt x="56" y="93"/>
                    <a:pt x="56" y="93"/>
                  </a:cubicBezTo>
                  <a:cubicBezTo>
                    <a:pt x="94" y="93"/>
                    <a:pt x="94" y="93"/>
                    <a:pt x="94" y="93"/>
                  </a:cubicBezTo>
                  <a:cubicBezTo>
                    <a:pt x="95" y="88"/>
                    <a:pt x="95" y="88"/>
                    <a:pt x="95" y="88"/>
                  </a:cubicBezTo>
                  <a:cubicBezTo>
                    <a:pt x="58" y="88"/>
                    <a:pt x="58" y="88"/>
                    <a:pt x="58" y="88"/>
                  </a:cubicBezTo>
                  <a:cubicBezTo>
                    <a:pt x="58" y="88"/>
                    <a:pt x="58" y="88"/>
                    <a:pt x="58" y="88"/>
                  </a:cubicBezTo>
                  <a:cubicBezTo>
                    <a:pt x="56" y="88"/>
                    <a:pt x="56" y="88"/>
                    <a:pt x="56" y="88"/>
                  </a:cubicBezTo>
                  <a:cubicBezTo>
                    <a:pt x="56" y="87"/>
                    <a:pt x="56" y="87"/>
                    <a:pt x="56" y="87"/>
                  </a:cubicBezTo>
                  <a:cubicBezTo>
                    <a:pt x="56" y="87"/>
                    <a:pt x="56" y="87"/>
                    <a:pt x="56" y="86"/>
                  </a:cubicBezTo>
                  <a:cubicBezTo>
                    <a:pt x="50" y="61"/>
                    <a:pt x="50" y="61"/>
                    <a:pt x="50" y="61"/>
                  </a:cubicBezTo>
                  <a:cubicBezTo>
                    <a:pt x="50" y="61"/>
                    <a:pt x="50" y="61"/>
                    <a:pt x="50" y="61"/>
                  </a:cubicBezTo>
                  <a:cubicBezTo>
                    <a:pt x="50" y="58"/>
                    <a:pt x="50" y="58"/>
                    <a:pt x="50" y="58"/>
                  </a:cubicBezTo>
                  <a:cubicBezTo>
                    <a:pt x="53" y="58"/>
                    <a:pt x="53" y="58"/>
                    <a:pt x="53" y="58"/>
                  </a:cubicBezTo>
                  <a:cubicBezTo>
                    <a:pt x="55" y="58"/>
                    <a:pt x="55" y="58"/>
                    <a:pt x="55" y="58"/>
                  </a:cubicBezTo>
                  <a:cubicBezTo>
                    <a:pt x="103" y="58"/>
                    <a:pt x="103" y="58"/>
                    <a:pt x="103" y="58"/>
                  </a:cubicBezTo>
                  <a:cubicBezTo>
                    <a:pt x="104" y="50"/>
                    <a:pt x="104" y="50"/>
                    <a:pt x="104" y="50"/>
                  </a:cubicBezTo>
                  <a:cubicBezTo>
                    <a:pt x="106" y="50"/>
                    <a:pt x="106" y="50"/>
                    <a:pt x="106" y="50"/>
                  </a:cubicBezTo>
                  <a:cubicBezTo>
                    <a:pt x="107" y="50"/>
                    <a:pt x="107" y="50"/>
                    <a:pt x="107" y="50"/>
                  </a:cubicBezTo>
                  <a:cubicBezTo>
                    <a:pt x="117" y="50"/>
                    <a:pt x="117" y="50"/>
                    <a:pt x="117" y="50"/>
                  </a:cubicBezTo>
                  <a:cubicBezTo>
                    <a:pt x="117" y="50"/>
                    <a:pt x="117" y="50"/>
                    <a:pt x="117" y="50"/>
                  </a:cubicBezTo>
                  <a:lnTo>
                    <a:pt x="120" y="50"/>
                  </a:lnTo>
                  <a:close/>
                  <a:moveTo>
                    <a:pt x="43" y="6"/>
                  </a:moveTo>
                  <a:cubicBezTo>
                    <a:pt x="21" y="39"/>
                    <a:pt x="21" y="39"/>
                    <a:pt x="21" y="39"/>
                  </a:cubicBezTo>
                  <a:cubicBezTo>
                    <a:pt x="7" y="27"/>
                    <a:pt x="7" y="27"/>
                    <a:pt x="7" y="27"/>
                  </a:cubicBezTo>
                  <a:cubicBezTo>
                    <a:pt x="0" y="35"/>
                    <a:pt x="0" y="35"/>
                    <a:pt x="0" y="35"/>
                  </a:cubicBezTo>
                  <a:cubicBezTo>
                    <a:pt x="22" y="54"/>
                    <a:pt x="22" y="54"/>
                    <a:pt x="22" y="54"/>
                  </a:cubicBezTo>
                  <a:cubicBezTo>
                    <a:pt x="52" y="12"/>
                    <a:pt x="52" y="12"/>
                    <a:pt x="52" y="12"/>
                  </a:cubicBezTo>
                  <a:lnTo>
                    <a:pt x="43" y="6"/>
                  </a:lnTo>
                  <a:close/>
                  <a:moveTo>
                    <a:pt x="80" y="0"/>
                  </a:moveTo>
                  <a:cubicBezTo>
                    <a:pt x="78" y="0"/>
                    <a:pt x="76" y="0"/>
                    <a:pt x="74" y="0"/>
                  </a:cubicBezTo>
                  <a:cubicBezTo>
                    <a:pt x="74" y="10"/>
                    <a:pt x="74" y="10"/>
                    <a:pt x="74" y="10"/>
                  </a:cubicBezTo>
                  <a:cubicBezTo>
                    <a:pt x="76" y="10"/>
                    <a:pt x="78" y="9"/>
                    <a:pt x="80" y="9"/>
                  </a:cubicBezTo>
                  <a:cubicBezTo>
                    <a:pt x="116" y="9"/>
                    <a:pt x="145" y="39"/>
                    <a:pt x="145" y="75"/>
                  </a:cubicBezTo>
                  <a:cubicBezTo>
                    <a:pt x="145" y="111"/>
                    <a:pt x="116" y="140"/>
                    <a:pt x="80" y="140"/>
                  </a:cubicBezTo>
                  <a:cubicBezTo>
                    <a:pt x="44" y="140"/>
                    <a:pt x="14" y="111"/>
                    <a:pt x="14" y="75"/>
                  </a:cubicBezTo>
                  <a:cubicBezTo>
                    <a:pt x="14" y="75"/>
                    <a:pt x="14" y="75"/>
                    <a:pt x="14" y="74"/>
                  </a:cubicBezTo>
                  <a:cubicBezTo>
                    <a:pt x="5" y="74"/>
                    <a:pt x="5" y="74"/>
                    <a:pt x="5" y="74"/>
                  </a:cubicBezTo>
                  <a:cubicBezTo>
                    <a:pt x="5" y="75"/>
                    <a:pt x="5" y="75"/>
                    <a:pt x="5" y="75"/>
                  </a:cubicBezTo>
                  <a:cubicBezTo>
                    <a:pt x="5" y="116"/>
                    <a:pt x="38" y="150"/>
                    <a:pt x="80" y="150"/>
                  </a:cubicBezTo>
                  <a:cubicBezTo>
                    <a:pt x="121" y="150"/>
                    <a:pt x="155" y="116"/>
                    <a:pt x="155" y="75"/>
                  </a:cubicBezTo>
                  <a:cubicBezTo>
                    <a:pt x="155" y="34"/>
                    <a:pt x="121" y="0"/>
                    <a:pt x="80" y="0"/>
                  </a:cubicBezTo>
                  <a:close/>
                </a:path>
              </a:pathLst>
            </a:custGeom>
            <a:solidFill>
              <a:srgbClr val="000000"/>
            </a:solidFill>
            <a:ln>
              <a:noFill/>
            </a:ln>
          </p:spPr>
          <p:txBody>
            <a:bodyPr vert="horz" wrap="square" lIns="93278" tIns="46639" rIns="93278" bIns="46639" numCol="1" anchor="t" anchorCtr="0" compatLnSpc="1">
              <a:prstTxWarp prst="textNoShape">
                <a:avLst/>
              </a:prstTxWarp>
            </a:bodyPr>
            <a:lstStyle/>
            <a:p>
              <a:pPr defTabSz="914400"/>
              <a:endParaRPr lang="en-US" sz="1600" dirty="0">
                <a:solidFill>
                  <a:srgbClr val="000000"/>
                </a:solidFill>
                <a:latin typeface="Calibri" panose="020F0502020204030204"/>
              </a:endParaRPr>
            </a:p>
          </p:txBody>
        </p:sp>
        <p:cxnSp>
          <p:nvCxnSpPr>
            <p:cNvPr id="24" name="Connector: Elbow 23">
              <a:extLst>
                <a:ext uri="{FF2B5EF4-FFF2-40B4-BE49-F238E27FC236}">
                  <a16:creationId xmlns:a16="http://schemas.microsoft.com/office/drawing/2014/main" id="{0A4963EE-6AD9-3520-F0E8-5D1752037C6A}"/>
                </a:ext>
              </a:extLst>
            </p:cNvPr>
            <p:cNvCxnSpPr>
              <a:cxnSpLocks/>
              <a:stCxn id="14" idx="0"/>
              <a:endCxn id="18" idx="1"/>
            </p:cNvCxnSpPr>
            <p:nvPr/>
          </p:nvCxnSpPr>
          <p:spPr>
            <a:xfrm rot="5400000" flipH="1" flipV="1">
              <a:off x="7514295" y="2392440"/>
              <a:ext cx="316506" cy="1171144"/>
            </a:xfrm>
            <a:prstGeom prst="bentConnector2">
              <a:avLst/>
            </a:prstGeom>
            <a:noFill/>
            <a:ln w="15875" cap="flat" cmpd="sng" algn="ctr">
              <a:solidFill>
                <a:srgbClr val="E7E6E6">
                  <a:lumMod val="50000"/>
                </a:srgbClr>
              </a:solidFill>
              <a:prstDash val="solid"/>
              <a:miter lim="800000"/>
              <a:tailEnd type="none"/>
            </a:ln>
            <a:effectLst/>
          </p:spPr>
        </p:cxnSp>
        <p:sp>
          <p:nvSpPr>
            <p:cNvPr id="25" name="TextBox 24">
              <a:extLst>
                <a:ext uri="{FF2B5EF4-FFF2-40B4-BE49-F238E27FC236}">
                  <a16:creationId xmlns:a16="http://schemas.microsoft.com/office/drawing/2014/main" id="{1DD89B05-3E02-FA8D-59C0-E219CC157142}"/>
                </a:ext>
              </a:extLst>
            </p:cNvPr>
            <p:cNvSpPr txBox="1"/>
            <p:nvPr/>
          </p:nvSpPr>
          <p:spPr>
            <a:xfrm>
              <a:off x="6317720" y="3929208"/>
              <a:ext cx="1596919" cy="338554"/>
            </a:xfrm>
            <a:prstGeom prst="rect">
              <a:avLst/>
            </a:prstGeom>
            <a:noFill/>
          </p:spPr>
          <p:txBody>
            <a:bodyPr wrap="square" rtlCol="0">
              <a:spAutoFit/>
            </a:bodyPr>
            <a:lstStyle/>
            <a:p>
              <a:pPr defTabSz="914400"/>
              <a:r>
                <a:rPr lang="en-US" sz="1600" dirty="0">
                  <a:solidFill>
                    <a:prstClr val="black"/>
                  </a:solidFill>
                  <a:latin typeface="Calibri" panose="020F0502020204030204"/>
                </a:rPr>
                <a:t>Frontend Subnet</a:t>
              </a:r>
            </a:p>
          </p:txBody>
        </p:sp>
        <p:sp>
          <p:nvSpPr>
            <p:cNvPr id="26" name="TextBox 25">
              <a:extLst>
                <a:ext uri="{FF2B5EF4-FFF2-40B4-BE49-F238E27FC236}">
                  <a16:creationId xmlns:a16="http://schemas.microsoft.com/office/drawing/2014/main" id="{2307E066-4C57-DCB9-A9F6-C16E1391C3F0}"/>
                </a:ext>
              </a:extLst>
            </p:cNvPr>
            <p:cNvSpPr txBox="1"/>
            <p:nvPr/>
          </p:nvSpPr>
          <p:spPr>
            <a:xfrm>
              <a:off x="9746721" y="3910158"/>
              <a:ext cx="1520720" cy="338554"/>
            </a:xfrm>
            <a:prstGeom prst="rect">
              <a:avLst/>
            </a:prstGeom>
            <a:noFill/>
          </p:spPr>
          <p:txBody>
            <a:bodyPr wrap="square" rtlCol="0">
              <a:spAutoFit/>
            </a:bodyPr>
            <a:lstStyle/>
            <a:p>
              <a:pPr defTabSz="914400"/>
              <a:r>
                <a:rPr lang="en-US" sz="1600" dirty="0">
                  <a:solidFill>
                    <a:prstClr val="black"/>
                  </a:solidFill>
                  <a:latin typeface="Calibri" panose="020F0502020204030204"/>
                </a:rPr>
                <a:t>Backend Subnet</a:t>
              </a:r>
            </a:p>
          </p:txBody>
        </p:sp>
        <p:pic>
          <p:nvPicPr>
            <p:cNvPr id="27" name="Picture 26">
              <a:extLst>
                <a:ext uri="{FF2B5EF4-FFF2-40B4-BE49-F238E27FC236}">
                  <a16:creationId xmlns:a16="http://schemas.microsoft.com/office/drawing/2014/main" id="{0040D4BD-0E7A-8E79-E55F-BB3D21EC379D}"/>
                </a:ext>
              </a:extLst>
            </p:cNvPr>
            <p:cNvPicPr>
              <a:picLocks noChangeAspect="1"/>
            </p:cNvPicPr>
            <p:nvPr/>
          </p:nvPicPr>
          <p:blipFill>
            <a:blip r:embed="rId6">
              <a:biLevel thresh="75000"/>
            </a:blip>
            <a:stretch>
              <a:fillRect/>
            </a:stretch>
          </p:blipFill>
          <p:spPr>
            <a:xfrm>
              <a:off x="8236903" y="1752748"/>
              <a:ext cx="1039813" cy="607683"/>
            </a:xfrm>
            <a:prstGeom prst="rect">
              <a:avLst/>
            </a:prstGeom>
            <a:ln>
              <a:noFill/>
            </a:ln>
          </p:spPr>
        </p:pic>
        <p:sp>
          <p:nvSpPr>
            <p:cNvPr id="28" name="TextBox 27">
              <a:extLst>
                <a:ext uri="{FF2B5EF4-FFF2-40B4-BE49-F238E27FC236}">
                  <a16:creationId xmlns:a16="http://schemas.microsoft.com/office/drawing/2014/main" id="{F7FE7F68-28FB-09D7-65A2-514EDA46F121}"/>
                </a:ext>
              </a:extLst>
            </p:cNvPr>
            <p:cNvSpPr txBox="1"/>
            <p:nvPr/>
          </p:nvSpPr>
          <p:spPr>
            <a:xfrm>
              <a:off x="8308447" y="2024209"/>
              <a:ext cx="911118" cy="338554"/>
            </a:xfrm>
            <a:prstGeom prst="rect">
              <a:avLst/>
            </a:prstGeom>
            <a:noFill/>
          </p:spPr>
          <p:txBody>
            <a:bodyPr wrap="square" rtlCol="0">
              <a:spAutoFit/>
            </a:bodyPr>
            <a:lstStyle/>
            <a:p>
              <a:pPr defTabSz="914400"/>
              <a:r>
                <a:rPr lang="en-US" sz="1600" dirty="0">
                  <a:solidFill>
                    <a:prstClr val="black"/>
                  </a:solidFill>
                  <a:latin typeface="Calibri" panose="020F0502020204030204"/>
                </a:rPr>
                <a:t>Internet</a:t>
              </a:r>
            </a:p>
          </p:txBody>
        </p:sp>
        <p:cxnSp>
          <p:nvCxnSpPr>
            <p:cNvPr id="29" name="Connector: Elbow 28">
              <a:extLst>
                <a:ext uri="{FF2B5EF4-FFF2-40B4-BE49-F238E27FC236}">
                  <a16:creationId xmlns:a16="http://schemas.microsoft.com/office/drawing/2014/main" id="{CE091BF5-87CD-D701-96BE-8ABFC4E828F9}"/>
                </a:ext>
              </a:extLst>
            </p:cNvPr>
            <p:cNvCxnSpPr>
              <a:cxnSpLocks/>
              <a:stCxn id="18" idx="0"/>
              <a:endCxn id="27" idx="2"/>
            </p:cNvCxnSpPr>
            <p:nvPr/>
          </p:nvCxnSpPr>
          <p:spPr>
            <a:xfrm rot="5400000" flipH="1" flipV="1">
              <a:off x="8640662" y="2473024"/>
              <a:ext cx="228740" cy="3555"/>
            </a:xfrm>
            <a:prstGeom prst="bentConnector3">
              <a:avLst>
                <a:gd name="adj1" fmla="val 50000"/>
              </a:avLst>
            </a:prstGeom>
            <a:noFill/>
            <a:ln w="15875" cap="flat" cmpd="sng" algn="ctr">
              <a:solidFill>
                <a:srgbClr val="E7E6E6">
                  <a:lumMod val="50000"/>
                </a:srgbClr>
              </a:solidFill>
              <a:prstDash val="solid"/>
              <a:miter lim="800000"/>
              <a:tailEnd type="none"/>
            </a:ln>
            <a:effectLst/>
          </p:spPr>
        </p:cxnSp>
        <p:pic>
          <p:nvPicPr>
            <p:cNvPr id="30" name="Picture 29">
              <a:extLst>
                <a:ext uri="{FF2B5EF4-FFF2-40B4-BE49-F238E27FC236}">
                  <a16:creationId xmlns:a16="http://schemas.microsoft.com/office/drawing/2014/main" id="{8C322908-4FD8-A24F-2FCA-CA855E834A92}"/>
                </a:ext>
              </a:extLst>
            </p:cNvPr>
            <p:cNvPicPr>
              <a:picLocks noChangeAspect="1"/>
            </p:cNvPicPr>
            <p:nvPr/>
          </p:nvPicPr>
          <p:blipFill>
            <a:blip r:embed="rId7"/>
            <a:stretch>
              <a:fillRect/>
            </a:stretch>
          </p:blipFill>
          <p:spPr>
            <a:xfrm>
              <a:off x="9837447" y="3283559"/>
              <a:ext cx="496543" cy="371681"/>
            </a:xfrm>
            <a:prstGeom prst="rect">
              <a:avLst/>
            </a:prstGeom>
          </p:spPr>
        </p:pic>
        <p:pic>
          <p:nvPicPr>
            <p:cNvPr id="31" name="Picture 30">
              <a:extLst>
                <a:ext uri="{FF2B5EF4-FFF2-40B4-BE49-F238E27FC236}">
                  <a16:creationId xmlns:a16="http://schemas.microsoft.com/office/drawing/2014/main" id="{F0FF07F4-D02D-DF05-35B1-65A90865533A}"/>
                </a:ext>
              </a:extLst>
            </p:cNvPr>
            <p:cNvPicPr>
              <a:picLocks noChangeAspect="1"/>
            </p:cNvPicPr>
            <p:nvPr/>
          </p:nvPicPr>
          <p:blipFill>
            <a:blip r:embed="rId7"/>
            <a:stretch>
              <a:fillRect/>
            </a:stretch>
          </p:blipFill>
          <p:spPr>
            <a:xfrm>
              <a:off x="10437522" y="3521684"/>
              <a:ext cx="496543" cy="371681"/>
            </a:xfrm>
            <a:prstGeom prst="rect">
              <a:avLst/>
            </a:prstGeom>
          </p:spPr>
        </p:pic>
        <p:sp>
          <p:nvSpPr>
            <p:cNvPr id="32" name="Rectangle 31">
              <a:extLst>
                <a:ext uri="{FF2B5EF4-FFF2-40B4-BE49-F238E27FC236}">
                  <a16:creationId xmlns:a16="http://schemas.microsoft.com/office/drawing/2014/main" id="{E6BA0286-929B-EE75-FFF4-58B0A8A57EB8}"/>
                </a:ext>
              </a:extLst>
            </p:cNvPr>
            <p:cNvSpPr/>
            <p:nvPr/>
          </p:nvSpPr>
          <p:spPr>
            <a:xfrm>
              <a:off x="6152515" y="2447290"/>
              <a:ext cx="5381625" cy="2971800"/>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D352D62E-45B2-057E-D064-AC0992366B12}"/>
                </a:ext>
              </a:extLst>
            </p:cNvPr>
            <p:cNvSpPr txBox="1"/>
            <p:nvPr/>
          </p:nvSpPr>
          <p:spPr>
            <a:xfrm>
              <a:off x="9984845" y="5224608"/>
              <a:ext cx="1520719" cy="338554"/>
            </a:xfrm>
            <a:prstGeom prst="rect">
              <a:avLst/>
            </a:prstGeom>
            <a:solidFill>
              <a:sysClr val="window" lastClr="FFFFFF"/>
            </a:solid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Virtual Network</a:t>
              </a:r>
            </a:p>
          </p:txBody>
        </p:sp>
      </p:grpSp>
    </p:spTree>
    <p:extLst>
      <p:ext uri="{BB962C8B-B14F-4D97-AF65-F5344CB8AC3E}">
        <p14:creationId xmlns:p14="http://schemas.microsoft.com/office/powerpoint/2010/main" val="205887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0B1C73D1-0DB2-99FC-FB5C-0306D96EFC79}"/>
              </a:ext>
            </a:extLst>
          </p:cNvPr>
          <p:cNvSpPr txBox="1">
            <a:spLocks/>
          </p:cNvSpPr>
          <p:nvPr/>
        </p:nvSpPr>
        <p:spPr>
          <a:xfrm>
            <a:off x="572387" y="1138450"/>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Identify User-Defined Routes</a:t>
            </a:r>
            <a:endParaRPr lang="en-US" dirty="0"/>
          </a:p>
        </p:txBody>
      </p:sp>
      <p:sp>
        <p:nvSpPr>
          <p:cNvPr id="11" name="Rectangle 10">
            <a:extLst>
              <a:ext uri="{FF2B5EF4-FFF2-40B4-BE49-F238E27FC236}">
                <a16:creationId xmlns:a16="http://schemas.microsoft.com/office/drawing/2014/main" id="{BDEA054E-6F48-9604-62D7-5E80681E95B2}"/>
              </a:ext>
            </a:extLst>
          </p:cNvPr>
          <p:cNvSpPr/>
          <p:nvPr/>
        </p:nvSpPr>
        <p:spPr>
          <a:xfrm>
            <a:off x="677048" y="1906807"/>
            <a:ext cx="4608576" cy="14823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 route table contains a set of rules, called routes, that specifies how packets should be routed in a virtual network</a:t>
            </a:r>
          </a:p>
        </p:txBody>
      </p:sp>
      <p:sp>
        <p:nvSpPr>
          <p:cNvPr id="12" name="Rectangle 11">
            <a:extLst>
              <a:ext uri="{FF2B5EF4-FFF2-40B4-BE49-F238E27FC236}">
                <a16:creationId xmlns:a16="http://schemas.microsoft.com/office/drawing/2014/main" id="{F53BE859-7D78-641A-66E4-321AD38DE52A}"/>
              </a:ext>
            </a:extLst>
          </p:cNvPr>
          <p:cNvSpPr/>
          <p:nvPr/>
        </p:nvSpPr>
        <p:spPr>
          <a:xfrm>
            <a:off x="677048" y="3648786"/>
            <a:ext cx="4608576" cy="14823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User-defined routes are custom</a:t>
            </a:r>
            <a:br>
              <a:rPr lang="en-US" sz="2000" dirty="0">
                <a:solidFill>
                  <a:schemeClr val="tx1"/>
                </a:solidFill>
              </a:rPr>
            </a:br>
            <a:r>
              <a:rPr lang="en-US" sz="2000" dirty="0">
                <a:solidFill>
                  <a:schemeClr val="tx1"/>
                </a:solidFill>
              </a:rPr>
              <a:t>routes that control network traffic by defining routes that specify the next hop of the traffic flow </a:t>
            </a:r>
          </a:p>
        </p:txBody>
      </p:sp>
      <p:sp>
        <p:nvSpPr>
          <p:cNvPr id="13" name="Rectangle 12">
            <a:extLst>
              <a:ext uri="{FF2B5EF4-FFF2-40B4-BE49-F238E27FC236}">
                <a16:creationId xmlns:a16="http://schemas.microsoft.com/office/drawing/2014/main" id="{137B67F7-DA27-53D8-3AE2-1CD9A2B145C9}"/>
              </a:ext>
            </a:extLst>
          </p:cNvPr>
          <p:cNvSpPr/>
          <p:nvPr/>
        </p:nvSpPr>
        <p:spPr>
          <a:xfrm>
            <a:off x="677048" y="5390765"/>
            <a:ext cx="4608576" cy="14823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The next hop can be a virtual network gateway, virtual network, internet, or virtual appliance </a:t>
            </a:r>
          </a:p>
        </p:txBody>
      </p:sp>
      <p:grpSp>
        <p:nvGrpSpPr>
          <p:cNvPr id="14" name="Group 13" descr="A user defined route connects the frontend subnet with the backend subnet and the internet. ">
            <a:extLst>
              <a:ext uri="{FF2B5EF4-FFF2-40B4-BE49-F238E27FC236}">
                <a16:creationId xmlns:a16="http://schemas.microsoft.com/office/drawing/2014/main" id="{3D1B4F22-EAAB-B467-09B7-ACB0F1D92D19}"/>
              </a:ext>
            </a:extLst>
          </p:cNvPr>
          <p:cNvGrpSpPr/>
          <p:nvPr/>
        </p:nvGrpSpPr>
        <p:grpSpPr>
          <a:xfrm>
            <a:off x="5946356" y="2024738"/>
            <a:ext cx="5779295" cy="4390564"/>
            <a:chOff x="6348206" y="670929"/>
            <a:chExt cx="5381625" cy="4033051"/>
          </a:xfrm>
        </p:grpSpPr>
        <p:sp>
          <p:nvSpPr>
            <p:cNvPr id="15" name="Rectangle 14">
              <a:extLst>
                <a:ext uri="{FF2B5EF4-FFF2-40B4-BE49-F238E27FC236}">
                  <a16:creationId xmlns:a16="http://schemas.microsoft.com/office/drawing/2014/main" id="{18FF083B-4A88-6EA5-7840-4BA5A9984A95}"/>
                </a:ext>
              </a:extLst>
            </p:cNvPr>
            <p:cNvSpPr/>
            <p:nvPr/>
          </p:nvSpPr>
          <p:spPr>
            <a:xfrm>
              <a:off x="6451241" y="2467912"/>
              <a:ext cx="1662851" cy="1123949"/>
            </a:xfrm>
            <a:prstGeom prst="rect">
              <a:avLst/>
            </a:prstGeom>
            <a:solidFill>
              <a:srgbClr val="EBF1D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16" name="Connector: Elbow 15">
              <a:extLst>
                <a:ext uri="{FF2B5EF4-FFF2-40B4-BE49-F238E27FC236}">
                  <a16:creationId xmlns:a16="http://schemas.microsoft.com/office/drawing/2014/main" id="{40770B99-B05D-8610-681A-962889BD8C33}"/>
                </a:ext>
              </a:extLst>
            </p:cNvPr>
            <p:cNvCxnSpPr>
              <a:cxnSpLocks/>
              <a:stCxn id="15" idx="3"/>
              <a:endCxn id="20" idx="1"/>
            </p:cNvCxnSpPr>
            <p:nvPr/>
          </p:nvCxnSpPr>
          <p:spPr>
            <a:xfrm flipV="1">
              <a:off x="8114092" y="3017187"/>
              <a:ext cx="1701793" cy="12700"/>
            </a:xfrm>
            <a:prstGeom prst="bentConnector3">
              <a:avLst>
                <a:gd name="adj1" fmla="val 50000"/>
              </a:avLst>
            </a:prstGeom>
            <a:noFill/>
            <a:ln w="15875" cap="flat" cmpd="sng" algn="ctr">
              <a:solidFill>
                <a:sysClr val="windowText" lastClr="000000"/>
              </a:solidFill>
              <a:prstDash val="solid"/>
              <a:miter lim="800000"/>
              <a:tailEnd type="none"/>
            </a:ln>
            <a:effectLst/>
          </p:spPr>
        </p:cxnSp>
        <p:cxnSp>
          <p:nvCxnSpPr>
            <p:cNvPr id="17" name="Connector: Elbow 16">
              <a:extLst>
                <a:ext uri="{FF2B5EF4-FFF2-40B4-BE49-F238E27FC236}">
                  <a16:creationId xmlns:a16="http://schemas.microsoft.com/office/drawing/2014/main" id="{197158E5-D30E-AAFD-C48F-91C1C6C54BEC}"/>
                </a:ext>
              </a:extLst>
            </p:cNvPr>
            <p:cNvCxnSpPr>
              <a:cxnSpLocks/>
              <a:stCxn id="36" idx="3"/>
              <a:endCxn id="26" idx="2"/>
            </p:cNvCxnSpPr>
            <p:nvPr/>
          </p:nvCxnSpPr>
          <p:spPr>
            <a:xfrm flipV="1">
              <a:off x="8763662" y="3580359"/>
              <a:ext cx="1939110" cy="402876"/>
            </a:xfrm>
            <a:prstGeom prst="bentConnector2">
              <a:avLst/>
            </a:prstGeom>
            <a:noFill/>
            <a:ln w="15875" cap="flat" cmpd="sng" algn="ctr">
              <a:solidFill>
                <a:srgbClr val="E7E6E6">
                  <a:lumMod val="50000"/>
                </a:srgbClr>
              </a:solidFill>
              <a:prstDash val="sysDash"/>
              <a:miter lim="800000"/>
              <a:tailEnd type="triangle"/>
            </a:ln>
            <a:effectLst/>
          </p:spPr>
        </p:cxnSp>
        <p:sp>
          <p:nvSpPr>
            <p:cNvPr id="18" name="Rectangle 17">
              <a:extLst>
                <a:ext uri="{FF2B5EF4-FFF2-40B4-BE49-F238E27FC236}">
                  <a16:creationId xmlns:a16="http://schemas.microsoft.com/office/drawing/2014/main" id="{2F316A68-DCD6-D8C6-CE57-2760D881B37C}"/>
                </a:ext>
              </a:extLst>
            </p:cNvPr>
            <p:cNvSpPr/>
            <p:nvPr/>
          </p:nvSpPr>
          <p:spPr>
            <a:xfrm>
              <a:off x="7587119" y="1478949"/>
              <a:ext cx="1294488" cy="553196"/>
            </a:xfrm>
            <a:prstGeom prst="rect">
              <a:avLst/>
            </a:prstGeom>
            <a:solidFill>
              <a:srgbClr val="FEE599"/>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User defined route</a:t>
              </a:r>
            </a:p>
          </p:txBody>
        </p:sp>
        <p:sp>
          <p:nvSpPr>
            <p:cNvPr id="19" name="Rectangle 18">
              <a:extLst>
                <a:ext uri="{FF2B5EF4-FFF2-40B4-BE49-F238E27FC236}">
                  <a16:creationId xmlns:a16="http://schemas.microsoft.com/office/drawing/2014/main" id="{6C98A374-E2C9-3917-B6CF-00F50E82B233}"/>
                </a:ext>
              </a:extLst>
            </p:cNvPr>
            <p:cNvSpPr/>
            <p:nvPr/>
          </p:nvSpPr>
          <p:spPr>
            <a:xfrm>
              <a:off x="8463087" y="2734584"/>
              <a:ext cx="990269" cy="461176"/>
            </a:xfrm>
            <a:prstGeom prst="rect">
              <a:avLst/>
            </a:prstGeom>
            <a:solidFill>
              <a:srgbClr val="DDD6E5"/>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System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Route</a:t>
              </a:r>
            </a:p>
          </p:txBody>
        </p:sp>
        <p:sp>
          <p:nvSpPr>
            <p:cNvPr id="20" name="Rectangle 19">
              <a:extLst>
                <a:ext uri="{FF2B5EF4-FFF2-40B4-BE49-F238E27FC236}">
                  <a16:creationId xmlns:a16="http://schemas.microsoft.com/office/drawing/2014/main" id="{0E429CB8-1406-416A-238E-A6D40F2531D1}"/>
                </a:ext>
              </a:extLst>
            </p:cNvPr>
            <p:cNvSpPr/>
            <p:nvPr/>
          </p:nvSpPr>
          <p:spPr>
            <a:xfrm>
              <a:off x="9815885" y="2455212"/>
              <a:ext cx="1662851" cy="1123949"/>
            </a:xfrm>
            <a:prstGeom prst="rect">
              <a:avLst/>
            </a:prstGeom>
            <a:solidFill>
              <a:srgbClr val="EBF1D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Connector: Elbow 20">
              <a:extLst>
                <a:ext uri="{FF2B5EF4-FFF2-40B4-BE49-F238E27FC236}">
                  <a16:creationId xmlns:a16="http://schemas.microsoft.com/office/drawing/2014/main" id="{64BCE1E4-3628-B9DD-AE2E-81C4FB48796D}"/>
                </a:ext>
              </a:extLst>
            </p:cNvPr>
            <p:cNvCxnSpPr>
              <a:cxnSpLocks/>
              <a:stCxn id="15" idx="2"/>
              <a:endCxn id="36" idx="1"/>
            </p:cNvCxnSpPr>
            <p:nvPr/>
          </p:nvCxnSpPr>
          <p:spPr>
            <a:xfrm rot="16200000" flipH="1">
              <a:off x="7180233" y="3694294"/>
              <a:ext cx="391374" cy="186507"/>
            </a:xfrm>
            <a:prstGeom prst="bentConnector2">
              <a:avLst/>
            </a:prstGeom>
            <a:noFill/>
            <a:ln w="15875" cap="flat" cmpd="sng" algn="ctr">
              <a:solidFill>
                <a:srgbClr val="E7E6E6">
                  <a:lumMod val="50000"/>
                </a:srgbClr>
              </a:solidFill>
              <a:prstDash val="sysDash"/>
              <a:miter lim="800000"/>
              <a:tailEnd type="triangle"/>
            </a:ln>
            <a:effectLst/>
          </p:spPr>
        </p:cxnSp>
        <p:sp>
          <p:nvSpPr>
            <p:cNvPr id="22" name="Freeform 44">
              <a:extLst>
                <a:ext uri="{FF2B5EF4-FFF2-40B4-BE49-F238E27FC236}">
                  <a16:creationId xmlns:a16="http://schemas.microsoft.com/office/drawing/2014/main" id="{4A5A430A-EB39-9256-949B-9F18602B5FA6}"/>
                </a:ext>
              </a:extLst>
            </p:cNvPr>
            <p:cNvSpPr>
              <a:spLocks noChangeAspect="1" noEditPoints="1"/>
            </p:cNvSpPr>
            <p:nvPr/>
          </p:nvSpPr>
          <p:spPr bwMode="black">
            <a:xfrm>
              <a:off x="6798681" y="2609352"/>
              <a:ext cx="355794" cy="346066"/>
            </a:xfrm>
            <a:custGeom>
              <a:avLst/>
              <a:gdLst>
                <a:gd name="T0" fmla="*/ 120 w 155"/>
                <a:gd name="T1" fmla="*/ 50 h 150"/>
                <a:gd name="T2" fmla="*/ 120 w 155"/>
                <a:gd name="T3" fmla="*/ 54 h 150"/>
                <a:gd name="T4" fmla="*/ 117 w 155"/>
                <a:gd name="T5" fmla="*/ 54 h 150"/>
                <a:gd name="T6" fmla="*/ 117 w 155"/>
                <a:gd name="T7" fmla="*/ 54 h 150"/>
                <a:gd name="T8" fmla="*/ 108 w 155"/>
                <a:gd name="T9" fmla="*/ 54 h 150"/>
                <a:gd name="T10" fmla="*/ 101 w 155"/>
                <a:gd name="T11" fmla="*/ 86 h 150"/>
                <a:gd name="T12" fmla="*/ 99 w 155"/>
                <a:gd name="T13" fmla="*/ 96 h 150"/>
                <a:gd name="T14" fmla="*/ 98 w 155"/>
                <a:gd name="T15" fmla="*/ 97 h 150"/>
                <a:gd name="T16" fmla="*/ 100 w 155"/>
                <a:gd name="T17" fmla="*/ 101 h 150"/>
                <a:gd name="T18" fmla="*/ 94 w 155"/>
                <a:gd name="T19" fmla="*/ 107 h 150"/>
                <a:gd name="T20" fmla="*/ 89 w 155"/>
                <a:gd name="T21" fmla="*/ 101 h 150"/>
                <a:gd name="T22" fmla="*/ 90 w 155"/>
                <a:gd name="T23" fmla="*/ 98 h 150"/>
                <a:gd name="T24" fmla="*/ 67 w 155"/>
                <a:gd name="T25" fmla="*/ 98 h 150"/>
                <a:gd name="T26" fmla="*/ 68 w 155"/>
                <a:gd name="T27" fmla="*/ 101 h 150"/>
                <a:gd name="T28" fmla="*/ 63 w 155"/>
                <a:gd name="T29" fmla="*/ 107 h 150"/>
                <a:gd name="T30" fmla="*/ 58 w 155"/>
                <a:gd name="T31" fmla="*/ 101 h 150"/>
                <a:gd name="T32" fmla="*/ 59 w 155"/>
                <a:gd name="T33" fmla="*/ 98 h 150"/>
                <a:gd name="T34" fmla="*/ 55 w 155"/>
                <a:gd name="T35" fmla="*/ 98 h 150"/>
                <a:gd name="T36" fmla="*/ 54 w 155"/>
                <a:gd name="T37" fmla="*/ 98 h 150"/>
                <a:gd name="T38" fmla="*/ 52 w 155"/>
                <a:gd name="T39" fmla="*/ 98 h 150"/>
                <a:gd name="T40" fmla="*/ 52 w 155"/>
                <a:gd name="T41" fmla="*/ 93 h 150"/>
                <a:gd name="T42" fmla="*/ 55 w 155"/>
                <a:gd name="T43" fmla="*/ 93 h 150"/>
                <a:gd name="T44" fmla="*/ 56 w 155"/>
                <a:gd name="T45" fmla="*/ 93 h 150"/>
                <a:gd name="T46" fmla="*/ 94 w 155"/>
                <a:gd name="T47" fmla="*/ 93 h 150"/>
                <a:gd name="T48" fmla="*/ 95 w 155"/>
                <a:gd name="T49" fmla="*/ 88 h 150"/>
                <a:gd name="T50" fmla="*/ 58 w 155"/>
                <a:gd name="T51" fmla="*/ 88 h 150"/>
                <a:gd name="T52" fmla="*/ 58 w 155"/>
                <a:gd name="T53" fmla="*/ 88 h 150"/>
                <a:gd name="T54" fmla="*/ 56 w 155"/>
                <a:gd name="T55" fmla="*/ 88 h 150"/>
                <a:gd name="T56" fmla="*/ 56 w 155"/>
                <a:gd name="T57" fmla="*/ 87 h 150"/>
                <a:gd name="T58" fmla="*/ 56 w 155"/>
                <a:gd name="T59" fmla="*/ 86 h 150"/>
                <a:gd name="T60" fmla="*/ 50 w 155"/>
                <a:gd name="T61" fmla="*/ 61 h 150"/>
                <a:gd name="T62" fmla="*/ 50 w 155"/>
                <a:gd name="T63" fmla="*/ 61 h 150"/>
                <a:gd name="T64" fmla="*/ 50 w 155"/>
                <a:gd name="T65" fmla="*/ 58 h 150"/>
                <a:gd name="T66" fmla="*/ 53 w 155"/>
                <a:gd name="T67" fmla="*/ 58 h 150"/>
                <a:gd name="T68" fmla="*/ 55 w 155"/>
                <a:gd name="T69" fmla="*/ 58 h 150"/>
                <a:gd name="T70" fmla="*/ 103 w 155"/>
                <a:gd name="T71" fmla="*/ 58 h 150"/>
                <a:gd name="T72" fmla="*/ 104 w 155"/>
                <a:gd name="T73" fmla="*/ 50 h 150"/>
                <a:gd name="T74" fmla="*/ 106 w 155"/>
                <a:gd name="T75" fmla="*/ 50 h 150"/>
                <a:gd name="T76" fmla="*/ 107 w 155"/>
                <a:gd name="T77" fmla="*/ 50 h 150"/>
                <a:gd name="T78" fmla="*/ 117 w 155"/>
                <a:gd name="T79" fmla="*/ 50 h 150"/>
                <a:gd name="T80" fmla="*/ 117 w 155"/>
                <a:gd name="T81" fmla="*/ 50 h 150"/>
                <a:gd name="T82" fmla="*/ 120 w 155"/>
                <a:gd name="T83" fmla="*/ 50 h 150"/>
                <a:gd name="T84" fmla="*/ 43 w 155"/>
                <a:gd name="T85" fmla="*/ 6 h 150"/>
                <a:gd name="T86" fmla="*/ 21 w 155"/>
                <a:gd name="T87" fmla="*/ 39 h 150"/>
                <a:gd name="T88" fmla="*/ 7 w 155"/>
                <a:gd name="T89" fmla="*/ 27 h 150"/>
                <a:gd name="T90" fmla="*/ 0 w 155"/>
                <a:gd name="T91" fmla="*/ 35 h 150"/>
                <a:gd name="T92" fmla="*/ 22 w 155"/>
                <a:gd name="T93" fmla="*/ 54 h 150"/>
                <a:gd name="T94" fmla="*/ 52 w 155"/>
                <a:gd name="T95" fmla="*/ 12 h 150"/>
                <a:gd name="T96" fmla="*/ 43 w 155"/>
                <a:gd name="T97" fmla="*/ 6 h 150"/>
                <a:gd name="T98" fmla="*/ 80 w 155"/>
                <a:gd name="T99" fmla="*/ 0 h 150"/>
                <a:gd name="T100" fmla="*/ 74 w 155"/>
                <a:gd name="T101" fmla="*/ 0 h 150"/>
                <a:gd name="T102" fmla="*/ 74 w 155"/>
                <a:gd name="T103" fmla="*/ 10 h 150"/>
                <a:gd name="T104" fmla="*/ 80 w 155"/>
                <a:gd name="T105" fmla="*/ 9 h 150"/>
                <a:gd name="T106" fmla="*/ 145 w 155"/>
                <a:gd name="T107" fmla="*/ 75 h 150"/>
                <a:gd name="T108" fmla="*/ 80 w 155"/>
                <a:gd name="T109" fmla="*/ 140 h 150"/>
                <a:gd name="T110" fmla="*/ 14 w 155"/>
                <a:gd name="T111" fmla="*/ 75 h 150"/>
                <a:gd name="T112" fmla="*/ 14 w 155"/>
                <a:gd name="T113" fmla="*/ 74 h 150"/>
                <a:gd name="T114" fmla="*/ 5 w 155"/>
                <a:gd name="T115" fmla="*/ 74 h 150"/>
                <a:gd name="T116" fmla="*/ 5 w 155"/>
                <a:gd name="T117" fmla="*/ 75 h 150"/>
                <a:gd name="T118" fmla="*/ 80 w 155"/>
                <a:gd name="T119" fmla="*/ 150 h 150"/>
                <a:gd name="T120" fmla="*/ 155 w 155"/>
                <a:gd name="T121" fmla="*/ 75 h 150"/>
                <a:gd name="T122" fmla="*/ 80 w 155"/>
                <a:gd name="T12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 h="150">
                  <a:moveTo>
                    <a:pt x="120" y="50"/>
                  </a:moveTo>
                  <a:cubicBezTo>
                    <a:pt x="120" y="54"/>
                    <a:pt x="120" y="54"/>
                    <a:pt x="120" y="54"/>
                  </a:cubicBezTo>
                  <a:cubicBezTo>
                    <a:pt x="117" y="54"/>
                    <a:pt x="117" y="54"/>
                    <a:pt x="117" y="54"/>
                  </a:cubicBezTo>
                  <a:cubicBezTo>
                    <a:pt x="117" y="54"/>
                    <a:pt x="117" y="54"/>
                    <a:pt x="117" y="54"/>
                  </a:cubicBezTo>
                  <a:cubicBezTo>
                    <a:pt x="108" y="54"/>
                    <a:pt x="108" y="54"/>
                    <a:pt x="108" y="54"/>
                  </a:cubicBezTo>
                  <a:cubicBezTo>
                    <a:pt x="101" y="86"/>
                    <a:pt x="101" y="86"/>
                    <a:pt x="101" y="86"/>
                  </a:cubicBezTo>
                  <a:cubicBezTo>
                    <a:pt x="99" y="96"/>
                    <a:pt x="99" y="96"/>
                    <a:pt x="99" y="96"/>
                  </a:cubicBezTo>
                  <a:cubicBezTo>
                    <a:pt x="99" y="97"/>
                    <a:pt x="98" y="97"/>
                    <a:pt x="98" y="97"/>
                  </a:cubicBezTo>
                  <a:cubicBezTo>
                    <a:pt x="99" y="98"/>
                    <a:pt x="100" y="100"/>
                    <a:pt x="100" y="101"/>
                  </a:cubicBezTo>
                  <a:cubicBezTo>
                    <a:pt x="100" y="104"/>
                    <a:pt x="97" y="107"/>
                    <a:pt x="94" y="107"/>
                  </a:cubicBezTo>
                  <a:cubicBezTo>
                    <a:pt x="91" y="107"/>
                    <a:pt x="89" y="104"/>
                    <a:pt x="89" y="101"/>
                  </a:cubicBezTo>
                  <a:cubicBezTo>
                    <a:pt x="89" y="100"/>
                    <a:pt x="89" y="99"/>
                    <a:pt x="90" y="98"/>
                  </a:cubicBezTo>
                  <a:cubicBezTo>
                    <a:pt x="67" y="98"/>
                    <a:pt x="67" y="98"/>
                    <a:pt x="67" y="98"/>
                  </a:cubicBezTo>
                  <a:cubicBezTo>
                    <a:pt x="68" y="99"/>
                    <a:pt x="68" y="100"/>
                    <a:pt x="68" y="101"/>
                  </a:cubicBezTo>
                  <a:cubicBezTo>
                    <a:pt x="68" y="104"/>
                    <a:pt x="66" y="107"/>
                    <a:pt x="63" y="107"/>
                  </a:cubicBezTo>
                  <a:cubicBezTo>
                    <a:pt x="60" y="107"/>
                    <a:pt x="58" y="104"/>
                    <a:pt x="58" y="101"/>
                  </a:cubicBezTo>
                  <a:cubicBezTo>
                    <a:pt x="58" y="100"/>
                    <a:pt x="58" y="99"/>
                    <a:pt x="59" y="98"/>
                  </a:cubicBezTo>
                  <a:cubicBezTo>
                    <a:pt x="55" y="98"/>
                    <a:pt x="55" y="98"/>
                    <a:pt x="55" y="98"/>
                  </a:cubicBezTo>
                  <a:cubicBezTo>
                    <a:pt x="55" y="98"/>
                    <a:pt x="54" y="98"/>
                    <a:pt x="54" y="98"/>
                  </a:cubicBezTo>
                  <a:cubicBezTo>
                    <a:pt x="52" y="98"/>
                    <a:pt x="52" y="98"/>
                    <a:pt x="52" y="98"/>
                  </a:cubicBezTo>
                  <a:cubicBezTo>
                    <a:pt x="52" y="93"/>
                    <a:pt x="52" y="93"/>
                    <a:pt x="52" y="93"/>
                  </a:cubicBezTo>
                  <a:cubicBezTo>
                    <a:pt x="55" y="93"/>
                    <a:pt x="55" y="93"/>
                    <a:pt x="55" y="93"/>
                  </a:cubicBezTo>
                  <a:cubicBezTo>
                    <a:pt x="56" y="93"/>
                    <a:pt x="56" y="93"/>
                    <a:pt x="56" y="93"/>
                  </a:cubicBezTo>
                  <a:cubicBezTo>
                    <a:pt x="94" y="93"/>
                    <a:pt x="94" y="93"/>
                    <a:pt x="94" y="93"/>
                  </a:cubicBezTo>
                  <a:cubicBezTo>
                    <a:pt x="95" y="88"/>
                    <a:pt x="95" y="88"/>
                    <a:pt x="95" y="88"/>
                  </a:cubicBezTo>
                  <a:cubicBezTo>
                    <a:pt x="58" y="88"/>
                    <a:pt x="58" y="88"/>
                    <a:pt x="58" y="88"/>
                  </a:cubicBezTo>
                  <a:cubicBezTo>
                    <a:pt x="58" y="88"/>
                    <a:pt x="58" y="88"/>
                    <a:pt x="58" y="88"/>
                  </a:cubicBezTo>
                  <a:cubicBezTo>
                    <a:pt x="56" y="88"/>
                    <a:pt x="56" y="88"/>
                    <a:pt x="56" y="88"/>
                  </a:cubicBezTo>
                  <a:cubicBezTo>
                    <a:pt x="56" y="87"/>
                    <a:pt x="56" y="87"/>
                    <a:pt x="56" y="87"/>
                  </a:cubicBezTo>
                  <a:cubicBezTo>
                    <a:pt x="56" y="87"/>
                    <a:pt x="56" y="87"/>
                    <a:pt x="56" y="86"/>
                  </a:cubicBezTo>
                  <a:cubicBezTo>
                    <a:pt x="50" y="61"/>
                    <a:pt x="50" y="61"/>
                    <a:pt x="50" y="61"/>
                  </a:cubicBezTo>
                  <a:cubicBezTo>
                    <a:pt x="50" y="61"/>
                    <a:pt x="50" y="61"/>
                    <a:pt x="50" y="61"/>
                  </a:cubicBezTo>
                  <a:cubicBezTo>
                    <a:pt x="50" y="58"/>
                    <a:pt x="50" y="58"/>
                    <a:pt x="50" y="58"/>
                  </a:cubicBezTo>
                  <a:cubicBezTo>
                    <a:pt x="53" y="58"/>
                    <a:pt x="53" y="58"/>
                    <a:pt x="53" y="58"/>
                  </a:cubicBezTo>
                  <a:cubicBezTo>
                    <a:pt x="55" y="58"/>
                    <a:pt x="55" y="58"/>
                    <a:pt x="55" y="58"/>
                  </a:cubicBezTo>
                  <a:cubicBezTo>
                    <a:pt x="103" y="58"/>
                    <a:pt x="103" y="58"/>
                    <a:pt x="103" y="58"/>
                  </a:cubicBezTo>
                  <a:cubicBezTo>
                    <a:pt x="104" y="50"/>
                    <a:pt x="104" y="50"/>
                    <a:pt x="104" y="50"/>
                  </a:cubicBezTo>
                  <a:cubicBezTo>
                    <a:pt x="106" y="50"/>
                    <a:pt x="106" y="50"/>
                    <a:pt x="106" y="50"/>
                  </a:cubicBezTo>
                  <a:cubicBezTo>
                    <a:pt x="107" y="50"/>
                    <a:pt x="107" y="50"/>
                    <a:pt x="107" y="50"/>
                  </a:cubicBezTo>
                  <a:cubicBezTo>
                    <a:pt x="117" y="50"/>
                    <a:pt x="117" y="50"/>
                    <a:pt x="117" y="50"/>
                  </a:cubicBezTo>
                  <a:cubicBezTo>
                    <a:pt x="117" y="50"/>
                    <a:pt x="117" y="50"/>
                    <a:pt x="117" y="50"/>
                  </a:cubicBezTo>
                  <a:lnTo>
                    <a:pt x="120" y="50"/>
                  </a:lnTo>
                  <a:close/>
                  <a:moveTo>
                    <a:pt x="43" y="6"/>
                  </a:moveTo>
                  <a:cubicBezTo>
                    <a:pt x="21" y="39"/>
                    <a:pt x="21" y="39"/>
                    <a:pt x="21" y="39"/>
                  </a:cubicBezTo>
                  <a:cubicBezTo>
                    <a:pt x="7" y="27"/>
                    <a:pt x="7" y="27"/>
                    <a:pt x="7" y="27"/>
                  </a:cubicBezTo>
                  <a:cubicBezTo>
                    <a:pt x="0" y="35"/>
                    <a:pt x="0" y="35"/>
                    <a:pt x="0" y="35"/>
                  </a:cubicBezTo>
                  <a:cubicBezTo>
                    <a:pt x="22" y="54"/>
                    <a:pt x="22" y="54"/>
                    <a:pt x="22" y="54"/>
                  </a:cubicBezTo>
                  <a:cubicBezTo>
                    <a:pt x="52" y="12"/>
                    <a:pt x="52" y="12"/>
                    <a:pt x="52" y="12"/>
                  </a:cubicBezTo>
                  <a:lnTo>
                    <a:pt x="43" y="6"/>
                  </a:lnTo>
                  <a:close/>
                  <a:moveTo>
                    <a:pt x="80" y="0"/>
                  </a:moveTo>
                  <a:cubicBezTo>
                    <a:pt x="78" y="0"/>
                    <a:pt x="76" y="0"/>
                    <a:pt x="74" y="0"/>
                  </a:cubicBezTo>
                  <a:cubicBezTo>
                    <a:pt x="74" y="10"/>
                    <a:pt x="74" y="10"/>
                    <a:pt x="74" y="10"/>
                  </a:cubicBezTo>
                  <a:cubicBezTo>
                    <a:pt x="76" y="10"/>
                    <a:pt x="78" y="9"/>
                    <a:pt x="80" y="9"/>
                  </a:cubicBezTo>
                  <a:cubicBezTo>
                    <a:pt x="116" y="9"/>
                    <a:pt x="145" y="39"/>
                    <a:pt x="145" y="75"/>
                  </a:cubicBezTo>
                  <a:cubicBezTo>
                    <a:pt x="145" y="111"/>
                    <a:pt x="116" y="140"/>
                    <a:pt x="80" y="140"/>
                  </a:cubicBezTo>
                  <a:cubicBezTo>
                    <a:pt x="44" y="140"/>
                    <a:pt x="14" y="111"/>
                    <a:pt x="14" y="75"/>
                  </a:cubicBezTo>
                  <a:cubicBezTo>
                    <a:pt x="14" y="75"/>
                    <a:pt x="14" y="75"/>
                    <a:pt x="14" y="74"/>
                  </a:cubicBezTo>
                  <a:cubicBezTo>
                    <a:pt x="5" y="74"/>
                    <a:pt x="5" y="74"/>
                    <a:pt x="5" y="74"/>
                  </a:cubicBezTo>
                  <a:cubicBezTo>
                    <a:pt x="5" y="75"/>
                    <a:pt x="5" y="75"/>
                    <a:pt x="5" y="75"/>
                  </a:cubicBezTo>
                  <a:cubicBezTo>
                    <a:pt x="5" y="116"/>
                    <a:pt x="38" y="150"/>
                    <a:pt x="80" y="150"/>
                  </a:cubicBezTo>
                  <a:cubicBezTo>
                    <a:pt x="121" y="150"/>
                    <a:pt x="155" y="116"/>
                    <a:pt x="155" y="75"/>
                  </a:cubicBezTo>
                  <a:cubicBezTo>
                    <a:pt x="155" y="34"/>
                    <a:pt x="121" y="0"/>
                    <a:pt x="80" y="0"/>
                  </a:cubicBezTo>
                  <a:close/>
                </a:path>
              </a:pathLst>
            </a:custGeom>
            <a:solidFill>
              <a:srgbClr val="000000"/>
            </a:solidFill>
            <a:ln>
              <a:noFill/>
            </a:ln>
          </p:spPr>
          <p:txBody>
            <a:bodyPr vert="horz" wrap="square" lIns="93278" tIns="46639" rIns="93278" bIns="46639"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ndParaRPr>
            </a:p>
          </p:txBody>
        </p:sp>
        <p:sp>
          <p:nvSpPr>
            <p:cNvPr id="23" name="Freeform 44">
              <a:extLst>
                <a:ext uri="{FF2B5EF4-FFF2-40B4-BE49-F238E27FC236}">
                  <a16:creationId xmlns:a16="http://schemas.microsoft.com/office/drawing/2014/main" id="{0BE2AFC9-7DE4-02DA-AE95-3009031323C3}"/>
                </a:ext>
              </a:extLst>
            </p:cNvPr>
            <p:cNvSpPr>
              <a:spLocks noChangeAspect="1" noEditPoints="1"/>
            </p:cNvSpPr>
            <p:nvPr/>
          </p:nvSpPr>
          <p:spPr bwMode="black">
            <a:xfrm>
              <a:off x="7342103" y="2906367"/>
              <a:ext cx="355794" cy="346066"/>
            </a:xfrm>
            <a:custGeom>
              <a:avLst/>
              <a:gdLst>
                <a:gd name="T0" fmla="*/ 120 w 155"/>
                <a:gd name="T1" fmla="*/ 50 h 150"/>
                <a:gd name="T2" fmla="*/ 120 w 155"/>
                <a:gd name="T3" fmla="*/ 54 h 150"/>
                <a:gd name="T4" fmla="*/ 117 w 155"/>
                <a:gd name="T5" fmla="*/ 54 h 150"/>
                <a:gd name="T6" fmla="*/ 117 w 155"/>
                <a:gd name="T7" fmla="*/ 54 h 150"/>
                <a:gd name="T8" fmla="*/ 108 w 155"/>
                <a:gd name="T9" fmla="*/ 54 h 150"/>
                <a:gd name="T10" fmla="*/ 101 w 155"/>
                <a:gd name="T11" fmla="*/ 86 h 150"/>
                <a:gd name="T12" fmla="*/ 99 w 155"/>
                <a:gd name="T13" fmla="*/ 96 h 150"/>
                <a:gd name="T14" fmla="*/ 98 w 155"/>
                <a:gd name="T15" fmla="*/ 97 h 150"/>
                <a:gd name="T16" fmla="*/ 100 w 155"/>
                <a:gd name="T17" fmla="*/ 101 h 150"/>
                <a:gd name="T18" fmla="*/ 94 w 155"/>
                <a:gd name="T19" fmla="*/ 107 h 150"/>
                <a:gd name="T20" fmla="*/ 89 w 155"/>
                <a:gd name="T21" fmla="*/ 101 h 150"/>
                <a:gd name="T22" fmla="*/ 90 w 155"/>
                <a:gd name="T23" fmla="*/ 98 h 150"/>
                <a:gd name="T24" fmla="*/ 67 w 155"/>
                <a:gd name="T25" fmla="*/ 98 h 150"/>
                <a:gd name="T26" fmla="*/ 68 w 155"/>
                <a:gd name="T27" fmla="*/ 101 h 150"/>
                <a:gd name="T28" fmla="*/ 63 w 155"/>
                <a:gd name="T29" fmla="*/ 107 h 150"/>
                <a:gd name="T30" fmla="*/ 58 w 155"/>
                <a:gd name="T31" fmla="*/ 101 h 150"/>
                <a:gd name="T32" fmla="*/ 59 w 155"/>
                <a:gd name="T33" fmla="*/ 98 h 150"/>
                <a:gd name="T34" fmla="*/ 55 w 155"/>
                <a:gd name="T35" fmla="*/ 98 h 150"/>
                <a:gd name="T36" fmla="*/ 54 w 155"/>
                <a:gd name="T37" fmla="*/ 98 h 150"/>
                <a:gd name="T38" fmla="*/ 52 w 155"/>
                <a:gd name="T39" fmla="*/ 98 h 150"/>
                <a:gd name="T40" fmla="*/ 52 w 155"/>
                <a:gd name="T41" fmla="*/ 93 h 150"/>
                <a:gd name="T42" fmla="*/ 55 w 155"/>
                <a:gd name="T43" fmla="*/ 93 h 150"/>
                <a:gd name="T44" fmla="*/ 56 w 155"/>
                <a:gd name="T45" fmla="*/ 93 h 150"/>
                <a:gd name="T46" fmla="*/ 94 w 155"/>
                <a:gd name="T47" fmla="*/ 93 h 150"/>
                <a:gd name="T48" fmla="*/ 95 w 155"/>
                <a:gd name="T49" fmla="*/ 88 h 150"/>
                <a:gd name="T50" fmla="*/ 58 w 155"/>
                <a:gd name="T51" fmla="*/ 88 h 150"/>
                <a:gd name="T52" fmla="*/ 58 w 155"/>
                <a:gd name="T53" fmla="*/ 88 h 150"/>
                <a:gd name="T54" fmla="*/ 56 w 155"/>
                <a:gd name="T55" fmla="*/ 88 h 150"/>
                <a:gd name="T56" fmla="*/ 56 w 155"/>
                <a:gd name="T57" fmla="*/ 87 h 150"/>
                <a:gd name="T58" fmla="*/ 56 w 155"/>
                <a:gd name="T59" fmla="*/ 86 h 150"/>
                <a:gd name="T60" fmla="*/ 50 w 155"/>
                <a:gd name="T61" fmla="*/ 61 h 150"/>
                <a:gd name="T62" fmla="*/ 50 w 155"/>
                <a:gd name="T63" fmla="*/ 61 h 150"/>
                <a:gd name="T64" fmla="*/ 50 w 155"/>
                <a:gd name="T65" fmla="*/ 58 h 150"/>
                <a:gd name="T66" fmla="*/ 53 w 155"/>
                <a:gd name="T67" fmla="*/ 58 h 150"/>
                <a:gd name="T68" fmla="*/ 55 w 155"/>
                <a:gd name="T69" fmla="*/ 58 h 150"/>
                <a:gd name="T70" fmla="*/ 103 w 155"/>
                <a:gd name="T71" fmla="*/ 58 h 150"/>
                <a:gd name="T72" fmla="*/ 104 w 155"/>
                <a:gd name="T73" fmla="*/ 50 h 150"/>
                <a:gd name="T74" fmla="*/ 106 w 155"/>
                <a:gd name="T75" fmla="*/ 50 h 150"/>
                <a:gd name="T76" fmla="*/ 107 w 155"/>
                <a:gd name="T77" fmla="*/ 50 h 150"/>
                <a:gd name="T78" fmla="*/ 117 w 155"/>
                <a:gd name="T79" fmla="*/ 50 h 150"/>
                <a:gd name="T80" fmla="*/ 117 w 155"/>
                <a:gd name="T81" fmla="*/ 50 h 150"/>
                <a:gd name="T82" fmla="*/ 120 w 155"/>
                <a:gd name="T83" fmla="*/ 50 h 150"/>
                <a:gd name="T84" fmla="*/ 43 w 155"/>
                <a:gd name="T85" fmla="*/ 6 h 150"/>
                <a:gd name="T86" fmla="*/ 21 w 155"/>
                <a:gd name="T87" fmla="*/ 39 h 150"/>
                <a:gd name="T88" fmla="*/ 7 w 155"/>
                <a:gd name="T89" fmla="*/ 27 h 150"/>
                <a:gd name="T90" fmla="*/ 0 w 155"/>
                <a:gd name="T91" fmla="*/ 35 h 150"/>
                <a:gd name="T92" fmla="*/ 22 w 155"/>
                <a:gd name="T93" fmla="*/ 54 h 150"/>
                <a:gd name="T94" fmla="*/ 52 w 155"/>
                <a:gd name="T95" fmla="*/ 12 h 150"/>
                <a:gd name="T96" fmla="*/ 43 w 155"/>
                <a:gd name="T97" fmla="*/ 6 h 150"/>
                <a:gd name="T98" fmla="*/ 80 w 155"/>
                <a:gd name="T99" fmla="*/ 0 h 150"/>
                <a:gd name="T100" fmla="*/ 74 w 155"/>
                <a:gd name="T101" fmla="*/ 0 h 150"/>
                <a:gd name="T102" fmla="*/ 74 w 155"/>
                <a:gd name="T103" fmla="*/ 10 h 150"/>
                <a:gd name="T104" fmla="*/ 80 w 155"/>
                <a:gd name="T105" fmla="*/ 9 h 150"/>
                <a:gd name="T106" fmla="*/ 145 w 155"/>
                <a:gd name="T107" fmla="*/ 75 h 150"/>
                <a:gd name="T108" fmla="*/ 80 w 155"/>
                <a:gd name="T109" fmla="*/ 140 h 150"/>
                <a:gd name="T110" fmla="*/ 14 w 155"/>
                <a:gd name="T111" fmla="*/ 75 h 150"/>
                <a:gd name="T112" fmla="*/ 14 w 155"/>
                <a:gd name="T113" fmla="*/ 74 h 150"/>
                <a:gd name="T114" fmla="*/ 5 w 155"/>
                <a:gd name="T115" fmla="*/ 74 h 150"/>
                <a:gd name="T116" fmla="*/ 5 w 155"/>
                <a:gd name="T117" fmla="*/ 75 h 150"/>
                <a:gd name="T118" fmla="*/ 80 w 155"/>
                <a:gd name="T119" fmla="*/ 150 h 150"/>
                <a:gd name="T120" fmla="*/ 155 w 155"/>
                <a:gd name="T121" fmla="*/ 75 h 150"/>
                <a:gd name="T122" fmla="*/ 80 w 155"/>
                <a:gd name="T12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 h="150">
                  <a:moveTo>
                    <a:pt x="120" y="50"/>
                  </a:moveTo>
                  <a:cubicBezTo>
                    <a:pt x="120" y="54"/>
                    <a:pt x="120" y="54"/>
                    <a:pt x="120" y="54"/>
                  </a:cubicBezTo>
                  <a:cubicBezTo>
                    <a:pt x="117" y="54"/>
                    <a:pt x="117" y="54"/>
                    <a:pt x="117" y="54"/>
                  </a:cubicBezTo>
                  <a:cubicBezTo>
                    <a:pt x="117" y="54"/>
                    <a:pt x="117" y="54"/>
                    <a:pt x="117" y="54"/>
                  </a:cubicBezTo>
                  <a:cubicBezTo>
                    <a:pt x="108" y="54"/>
                    <a:pt x="108" y="54"/>
                    <a:pt x="108" y="54"/>
                  </a:cubicBezTo>
                  <a:cubicBezTo>
                    <a:pt x="101" y="86"/>
                    <a:pt x="101" y="86"/>
                    <a:pt x="101" y="86"/>
                  </a:cubicBezTo>
                  <a:cubicBezTo>
                    <a:pt x="99" y="96"/>
                    <a:pt x="99" y="96"/>
                    <a:pt x="99" y="96"/>
                  </a:cubicBezTo>
                  <a:cubicBezTo>
                    <a:pt x="99" y="97"/>
                    <a:pt x="98" y="97"/>
                    <a:pt x="98" y="97"/>
                  </a:cubicBezTo>
                  <a:cubicBezTo>
                    <a:pt x="99" y="98"/>
                    <a:pt x="100" y="100"/>
                    <a:pt x="100" y="101"/>
                  </a:cubicBezTo>
                  <a:cubicBezTo>
                    <a:pt x="100" y="104"/>
                    <a:pt x="97" y="107"/>
                    <a:pt x="94" y="107"/>
                  </a:cubicBezTo>
                  <a:cubicBezTo>
                    <a:pt x="91" y="107"/>
                    <a:pt x="89" y="104"/>
                    <a:pt x="89" y="101"/>
                  </a:cubicBezTo>
                  <a:cubicBezTo>
                    <a:pt x="89" y="100"/>
                    <a:pt x="89" y="99"/>
                    <a:pt x="90" y="98"/>
                  </a:cubicBezTo>
                  <a:cubicBezTo>
                    <a:pt x="67" y="98"/>
                    <a:pt x="67" y="98"/>
                    <a:pt x="67" y="98"/>
                  </a:cubicBezTo>
                  <a:cubicBezTo>
                    <a:pt x="68" y="99"/>
                    <a:pt x="68" y="100"/>
                    <a:pt x="68" y="101"/>
                  </a:cubicBezTo>
                  <a:cubicBezTo>
                    <a:pt x="68" y="104"/>
                    <a:pt x="66" y="107"/>
                    <a:pt x="63" y="107"/>
                  </a:cubicBezTo>
                  <a:cubicBezTo>
                    <a:pt x="60" y="107"/>
                    <a:pt x="58" y="104"/>
                    <a:pt x="58" y="101"/>
                  </a:cubicBezTo>
                  <a:cubicBezTo>
                    <a:pt x="58" y="100"/>
                    <a:pt x="58" y="99"/>
                    <a:pt x="59" y="98"/>
                  </a:cubicBezTo>
                  <a:cubicBezTo>
                    <a:pt x="55" y="98"/>
                    <a:pt x="55" y="98"/>
                    <a:pt x="55" y="98"/>
                  </a:cubicBezTo>
                  <a:cubicBezTo>
                    <a:pt x="55" y="98"/>
                    <a:pt x="54" y="98"/>
                    <a:pt x="54" y="98"/>
                  </a:cubicBezTo>
                  <a:cubicBezTo>
                    <a:pt x="52" y="98"/>
                    <a:pt x="52" y="98"/>
                    <a:pt x="52" y="98"/>
                  </a:cubicBezTo>
                  <a:cubicBezTo>
                    <a:pt x="52" y="93"/>
                    <a:pt x="52" y="93"/>
                    <a:pt x="52" y="93"/>
                  </a:cubicBezTo>
                  <a:cubicBezTo>
                    <a:pt x="55" y="93"/>
                    <a:pt x="55" y="93"/>
                    <a:pt x="55" y="93"/>
                  </a:cubicBezTo>
                  <a:cubicBezTo>
                    <a:pt x="56" y="93"/>
                    <a:pt x="56" y="93"/>
                    <a:pt x="56" y="93"/>
                  </a:cubicBezTo>
                  <a:cubicBezTo>
                    <a:pt x="94" y="93"/>
                    <a:pt x="94" y="93"/>
                    <a:pt x="94" y="93"/>
                  </a:cubicBezTo>
                  <a:cubicBezTo>
                    <a:pt x="95" y="88"/>
                    <a:pt x="95" y="88"/>
                    <a:pt x="95" y="88"/>
                  </a:cubicBezTo>
                  <a:cubicBezTo>
                    <a:pt x="58" y="88"/>
                    <a:pt x="58" y="88"/>
                    <a:pt x="58" y="88"/>
                  </a:cubicBezTo>
                  <a:cubicBezTo>
                    <a:pt x="58" y="88"/>
                    <a:pt x="58" y="88"/>
                    <a:pt x="58" y="88"/>
                  </a:cubicBezTo>
                  <a:cubicBezTo>
                    <a:pt x="56" y="88"/>
                    <a:pt x="56" y="88"/>
                    <a:pt x="56" y="88"/>
                  </a:cubicBezTo>
                  <a:cubicBezTo>
                    <a:pt x="56" y="87"/>
                    <a:pt x="56" y="87"/>
                    <a:pt x="56" y="87"/>
                  </a:cubicBezTo>
                  <a:cubicBezTo>
                    <a:pt x="56" y="87"/>
                    <a:pt x="56" y="87"/>
                    <a:pt x="56" y="86"/>
                  </a:cubicBezTo>
                  <a:cubicBezTo>
                    <a:pt x="50" y="61"/>
                    <a:pt x="50" y="61"/>
                    <a:pt x="50" y="61"/>
                  </a:cubicBezTo>
                  <a:cubicBezTo>
                    <a:pt x="50" y="61"/>
                    <a:pt x="50" y="61"/>
                    <a:pt x="50" y="61"/>
                  </a:cubicBezTo>
                  <a:cubicBezTo>
                    <a:pt x="50" y="58"/>
                    <a:pt x="50" y="58"/>
                    <a:pt x="50" y="58"/>
                  </a:cubicBezTo>
                  <a:cubicBezTo>
                    <a:pt x="53" y="58"/>
                    <a:pt x="53" y="58"/>
                    <a:pt x="53" y="58"/>
                  </a:cubicBezTo>
                  <a:cubicBezTo>
                    <a:pt x="55" y="58"/>
                    <a:pt x="55" y="58"/>
                    <a:pt x="55" y="58"/>
                  </a:cubicBezTo>
                  <a:cubicBezTo>
                    <a:pt x="103" y="58"/>
                    <a:pt x="103" y="58"/>
                    <a:pt x="103" y="58"/>
                  </a:cubicBezTo>
                  <a:cubicBezTo>
                    <a:pt x="104" y="50"/>
                    <a:pt x="104" y="50"/>
                    <a:pt x="104" y="50"/>
                  </a:cubicBezTo>
                  <a:cubicBezTo>
                    <a:pt x="106" y="50"/>
                    <a:pt x="106" y="50"/>
                    <a:pt x="106" y="50"/>
                  </a:cubicBezTo>
                  <a:cubicBezTo>
                    <a:pt x="107" y="50"/>
                    <a:pt x="107" y="50"/>
                    <a:pt x="107" y="50"/>
                  </a:cubicBezTo>
                  <a:cubicBezTo>
                    <a:pt x="117" y="50"/>
                    <a:pt x="117" y="50"/>
                    <a:pt x="117" y="50"/>
                  </a:cubicBezTo>
                  <a:cubicBezTo>
                    <a:pt x="117" y="50"/>
                    <a:pt x="117" y="50"/>
                    <a:pt x="117" y="50"/>
                  </a:cubicBezTo>
                  <a:lnTo>
                    <a:pt x="120" y="50"/>
                  </a:lnTo>
                  <a:close/>
                  <a:moveTo>
                    <a:pt x="43" y="6"/>
                  </a:moveTo>
                  <a:cubicBezTo>
                    <a:pt x="21" y="39"/>
                    <a:pt x="21" y="39"/>
                    <a:pt x="21" y="39"/>
                  </a:cubicBezTo>
                  <a:cubicBezTo>
                    <a:pt x="7" y="27"/>
                    <a:pt x="7" y="27"/>
                    <a:pt x="7" y="27"/>
                  </a:cubicBezTo>
                  <a:cubicBezTo>
                    <a:pt x="0" y="35"/>
                    <a:pt x="0" y="35"/>
                    <a:pt x="0" y="35"/>
                  </a:cubicBezTo>
                  <a:cubicBezTo>
                    <a:pt x="22" y="54"/>
                    <a:pt x="22" y="54"/>
                    <a:pt x="22" y="54"/>
                  </a:cubicBezTo>
                  <a:cubicBezTo>
                    <a:pt x="52" y="12"/>
                    <a:pt x="52" y="12"/>
                    <a:pt x="52" y="12"/>
                  </a:cubicBezTo>
                  <a:lnTo>
                    <a:pt x="43" y="6"/>
                  </a:lnTo>
                  <a:close/>
                  <a:moveTo>
                    <a:pt x="80" y="0"/>
                  </a:moveTo>
                  <a:cubicBezTo>
                    <a:pt x="78" y="0"/>
                    <a:pt x="76" y="0"/>
                    <a:pt x="74" y="0"/>
                  </a:cubicBezTo>
                  <a:cubicBezTo>
                    <a:pt x="74" y="10"/>
                    <a:pt x="74" y="10"/>
                    <a:pt x="74" y="10"/>
                  </a:cubicBezTo>
                  <a:cubicBezTo>
                    <a:pt x="76" y="10"/>
                    <a:pt x="78" y="9"/>
                    <a:pt x="80" y="9"/>
                  </a:cubicBezTo>
                  <a:cubicBezTo>
                    <a:pt x="116" y="9"/>
                    <a:pt x="145" y="39"/>
                    <a:pt x="145" y="75"/>
                  </a:cubicBezTo>
                  <a:cubicBezTo>
                    <a:pt x="145" y="111"/>
                    <a:pt x="116" y="140"/>
                    <a:pt x="80" y="140"/>
                  </a:cubicBezTo>
                  <a:cubicBezTo>
                    <a:pt x="44" y="140"/>
                    <a:pt x="14" y="111"/>
                    <a:pt x="14" y="75"/>
                  </a:cubicBezTo>
                  <a:cubicBezTo>
                    <a:pt x="14" y="75"/>
                    <a:pt x="14" y="75"/>
                    <a:pt x="14" y="74"/>
                  </a:cubicBezTo>
                  <a:cubicBezTo>
                    <a:pt x="5" y="74"/>
                    <a:pt x="5" y="74"/>
                    <a:pt x="5" y="74"/>
                  </a:cubicBezTo>
                  <a:cubicBezTo>
                    <a:pt x="5" y="75"/>
                    <a:pt x="5" y="75"/>
                    <a:pt x="5" y="75"/>
                  </a:cubicBezTo>
                  <a:cubicBezTo>
                    <a:pt x="5" y="116"/>
                    <a:pt x="38" y="150"/>
                    <a:pt x="80" y="150"/>
                  </a:cubicBezTo>
                  <a:cubicBezTo>
                    <a:pt x="121" y="150"/>
                    <a:pt x="155" y="116"/>
                    <a:pt x="155" y="75"/>
                  </a:cubicBezTo>
                  <a:cubicBezTo>
                    <a:pt x="155" y="34"/>
                    <a:pt x="121" y="0"/>
                    <a:pt x="80" y="0"/>
                  </a:cubicBezTo>
                  <a:close/>
                </a:path>
              </a:pathLst>
            </a:custGeom>
            <a:solidFill>
              <a:srgbClr val="000000"/>
            </a:solidFill>
            <a:ln>
              <a:noFill/>
            </a:ln>
          </p:spPr>
          <p:txBody>
            <a:bodyPr vert="horz" wrap="square" lIns="93278" tIns="46639" rIns="93278" bIns="46639"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ndParaRPr>
            </a:p>
          </p:txBody>
        </p:sp>
        <p:cxnSp>
          <p:nvCxnSpPr>
            <p:cNvPr id="24" name="Connector: Elbow 23">
              <a:extLst>
                <a:ext uri="{FF2B5EF4-FFF2-40B4-BE49-F238E27FC236}">
                  <a16:creationId xmlns:a16="http://schemas.microsoft.com/office/drawing/2014/main" id="{B4557827-A029-7916-FFFD-FB914D4C819D}"/>
                </a:ext>
              </a:extLst>
            </p:cNvPr>
            <p:cNvCxnSpPr>
              <a:cxnSpLocks/>
              <a:stCxn id="15" idx="0"/>
              <a:endCxn id="18" idx="1"/>
            </p:cNvCxnSpPr>
            <p:nvPr/>
          </p:nvCxnSpPr>
          <p:spPr>
            <a:xfrm rot="5400000" flipH="1" flipV="1">
              <a:off x="7078711" y="1959504"/>
              <a:ext cx="712365" cy="304452"/>
            </a:xfrm>
            <a:prstGeom prst="bentConnector2">
              <a:avLst/>
            </a:prstGeom>
            <a:noFill/>
            <a:ln w="15875" cap="flat" cmpd="sng" algn="ctr">
              <a:solidFill>
                <a:srgbClr val="E7E6E6">
                  <a:lumMod val="50000"/>
                </a:srgbClr>
              </a:solidFill>
              <a:prstDash val="solid"/>
              <a:miter lim="800000"/>
              <a:tailEnd type="none"/>
            </a:ln>
            <a:effectLst/>
          </p:spPr>
        </p:cxnSp>
        <p:sp>
          <p:nvSpPr>
            <p:cNvPr id="25" name="TextBox 24">
              <a:extLst>
                <a:ext uri="{FF2B5EF4-FFF2-40B4-BE49-F238E27FC236}">
                  <a16:creationId xmlns:a16="http://schemas.microsoft.com/office/drawing/2014/main" id="{01717618-12FA-A254-50D8-64DADF8C256D}"/>
                </a:ext>
              </a:extLst>
            </p:cNvPr>
            <p:cNvSpPr txBox="1"/>
            <p:nvPr/>
          </p:nvSpPr>
          <p:spPr>
            <a:xfrm>
              <a:off x="6513411" y="3260855"/>
              <a:ext cx="1596919"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Frontend Subnet</a:t>
              </a:r>
            </a:p>
          </p:txBody>
        </p:sp>
        <p:sp>
          <p:nvSpPr>
            <p:cNvPr id="26" name="TextBox 25">
              <a:extLst>
                <a:ext uri="{FF2B5EF4-FFF2-40B4-BE49-F238E27FC236}">
                  <a16:creationId xmlns:a16="http://schemas.microsoft.com/office/drawing/2014/main" id="{EC5AB63F-3D84-A419-6C6A-351470B428CD}"/>
                </a:ext>
              </a:extLst>
            </p:cNvPr>
            <p:cNvSpPr txBox="1"/>
            <p:nvPr/>
          </p:nvSpPr>
          <p:spPr>
            <a:xfrm>
              <a:off x="9942412" y="3241805"/>
              <a:ext cx="1520720"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Backend Subnet</a:t>
              </a:r>
            </a:p>
          </p:txBody>
        </p:sp>
        <p:pic>
          <p:nvPicPr>
            <p:cNvPr id="27" name="Picture 26">
              <a:extLst>
                <a:ext uri="{FF2B5EF4-FFF2-40B4-BE49-F238E27FC236}">
                  <a16:creationId xmlns:a16="http://schemas.microsoft.com/office/drawing/2014/main" id="{6AD7DF77-3A9F-F24E-00E4-151CC6081DA7}"/>
                </a:ext>
              </a:extLst>
            </p:cNvPr>
            <p:cNvPicPr>
              <a:picLocks noChangeAspect="1"/>
            </p:cNvPicPr>
            <p:nvPr/>
          </p:nvPicPr>
          <p:blipFill>
            <a:blip r:embed="rId7">
              <a:biLevel thresh="75000"/>
            </a:blip>
            <a:stretch>
              <a:fillRect/>
            </a:stretch>
          </p:blipFill>
          <p:spPr>
            <a:xfrm>
              <a:off x="9513971" y="670929"/>
              <a:ext cx="1039813" cy="607683"/>
            </a:xfrm>
            <a:prstGeom prst="rect">
              <a:avLst/>
            </a:prstGeom>
            <a:ln>
              <a:noFill/>
            </a:ln>
          </p:spPr>
        </p:pic>
        <p:sp>
          <p:nvSpPr>
            <p:cNvPr id="28" name="TextBox 27">
              <a:extLst>
                <a:ext uri="{FF2B5EF4-FFF2-40B4-BE49-F238E27FC236}">
                  <a16:creationId xmlns:a16="http://schemas.microsoft.com/office/drawing/2014/main" id="{83FDB4BF-620F-56D0-2F07-98567806053B}"/>
                </a:ext>
              </a:extLst>
            </p:cNvPr>
            <p:cNvSpPr txBox="1"/>
            <p:nvPr/>
          </p:nvSpPr>
          <p:spPr>
            <a:xfrm>
              <a:off x="9585515" y="942390"/>
              <a:ext cx="911118"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Internet</a:t>
              </a:r>
            </a:p>
          </p:txBody>
        </p:sp>
        <p:cxnSp>
          <p:nvCxnSpPr>
            <p:cNvPr id="29" name="Connector: Elbow 28">
              <a:extLst>
                <a:ext uri="{FF2B5EF4-FFF2-40B4-BE49-F238E27FC236}">
                  <a16:creationId xmlns:a16="http://schemas.microsoft.com/office/drawing/2014/main" id="{3CF891B5-8353-7359-A96A-015D19BA0B5A}"/>
                </a:ext>
              </a:extLst>
            </p:cNvPr>
            <p:cNvCxnSpPr>
              <a:cxnSpLocks/>
              <a:stCxn id="18" idx="3"/>
              <a:endCxn id="34" idx="1"/>
            </p:cNvCxnSpPr>
            <p:nvPr/>
          </p:nvCxnSpPr>
          <p:spPr>
            <a:xfrm flipV="1">
              <a:off x="8881607" y="1752807"/>
              <a:ext cx="476995" cy="2740"/>
            </a:xfrm>
            <a:prstGeom prst="bentConnector3">
              <a:avLst>
                <a:gd name="adj1" fmla="val 50000"/>
              </a:avLst>
            </a:prstGeom>
            <a:noFill/>
            <a:ln w="15875" cap="flat" cmpd="sng" algn="ctr">
              <a:solidFill>
                <a:srgbClr val="E7E6E6">
                  <a:lumMod val="50000"/>
                </a:srgbClr>
              </a:solidFill>
              <a:prstDash val="solid"/>
              <a:miter lim="800000"/>
              <a:tailEnd type="none"/>
            </a:ln>
            <a:effectLst/>
          </p:spPr>
        </p:cxnSp>
        <p:pic>
          <p:nvPicPr>
            <p:cNvPr id="30" name="Picture 29">
              <a:extLst>
                <a:ext uri="{FF2B5EF4-FFF2-40B4-BE49-F238E27FC236}">
                  <a16:creationId xmlns:a16="http://schemas.microsoft.com/office/drawing/2014/main" id="{0FD0AF0B-300F-5C3E-88FB-4E3D32936701}"/>
                </a:ext>
              </a:extLst>
            </p:cNvPr>
            <p:cNvPicPr>
              <a:picLocks noChangeAspect="1"/>
            </p:cNvPicPr>
            <p:nvPr/>
          </p:nvPicPr>
          <p:blipFill>
            <a:blip r:embed="rId8"/>
            <a:stretch>
              <a:fillRect/>
            </a:stretch>
          </p:blipFill>
          <p:spPr>
            <a:xfrm>
              <a:off x="10033138" y="2615206"/>
              <a:ext cx="496543" cy="371681"/>
            </a:xfrm>
            <a:prstGeom prst="rect">
              <a:avLst/>
            </a:prstGeom>
          </p:spPr>
        </p:pic>
        <p:pic>
          <p:nvPicPr>
            <p:cNvPr id="31" name="Picture 30">
              <a:extLst>
                <a:ext uri="{FF2B5EF4-FFF2-40B4-BE49-F238E27FC236}">
                  <a16:creationId xmlns:a16="http://schemas.microsoft.com/office/drawing/2014/main" id="{13ED4DE8-6A08-49EA-959D-7C67F72C1F69}"/>
                </a:ext>
              </a:extLst>
            </p:cNvPr>
            <p:cNvPicPr>
              <a:picLocks noChangeAspect="1"/>
            </p:cNvPicPr>
            <p:nvPr/>
          </p:nvPicPr>
          <p:blipFill>
            <a:blip r:embed="rId8"/>
            <a:stretch>
              <a:fillRect/>
            </a:stretch>
          </p:blipFill>
          <p:spPr>
            <a:xfrm>
              <a:off x="10633213" y="2853331"/>
              <a:ext cx="496543" cy="371681"/>
            </a:xfrm>
            <a:prstGeom prst="rect">
              <a:avLst/>
            </a:prstGeom>
          </p:spPr>
        </p:pic>
        <p:sp>
          <p:nvSpPr>
            <p:cNvPr id="32" name="Rectangle 31">
              <a:extLst>
                <a:ext uri="{FF2B5EF4-FFF2-40B4-BE49-F238E27FC236}">
                  <a16:creationId xmlns:a16="http://schemas.microsoft.com/office/drawing/2014/main" id="{107A511C-FAF8-B9BE-6F6A-0687427ACD7A}"/>
                </a:ext>
              </a:extLst>
            </p:cNvPr>
            <p:cNvSpPr/>
            <p:nvPr/>
          </p:nvSpPr>
          <p:spPr>
            <a:xfrm>
              <a:off x="6348206" y="1375576"/>
              <a:ext cx="5381625" cy="3184332"/>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FA066C69-2621-CC55-BECE-68F1B0D818CC}"/>
                </a:ext>
              </a:extLst>
            </p:cNvPr>
            <p:cNvSpPr txBox="1"/>
            <p:nvPr/>
          </p:nvSpPr>
          <p:spPr>
            <a:xfrm>
              <a:off x="10180536" y="4365426"/>
              <a:ext cx="1520719" cy="338554"/>
            </a:xfrm>
            <a:prstGeom prst="rect">
              <a:avLst/>
            </a:prstGeom>
            <a:solidFill>
              <a:sysClr val="window" lastClr="FFFFFF"/>
            </a:solid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Virtual Network</a:t>
              </a:r>
            </a:p>
          </p:txBody>
        </p:sp>
        <p:pic>
          <p:nvPicPr>
            <p:cNvPr id="34" name="Picture 33">
              <a:extLst>
                <a:ext uri="{FF2B5EF4-FFF2-40B4-BE49-F238E27FC236}">
                  <a16:creationId xmlns:a16="http://schemas.microsoft.com/office/drawing/2014/main" id="{59F842A9-0004-B2DD-A6AA-D2BD6680E807}"/>
                </a:ext>
              </a:extLst>
            </p:cNvPr>
            <p:cNvPicPr>
              <a:picLocks noChangeAspect="1"/>
            </p:cNvPicPr>
            <p:nvPr/>
          </p:nvPicPr>
          <p:blipFill>
            <a:blip r:embed="rId8"/>
            <a:stretch>
              <a:fillRect/>
            </a:stretch>
          </p:blipFill>
          <p:spPr>
            <a:xfrm>
              <a:off x="9358602" y="1566966"/>
              <a:ext cx="496543" cy="371681"/>
            </a:xfrm>
            <a:prstGeom prst="rect">
              <a:avLst/>
            </a:prstGeom>
          </p:spPr>
        </p:pic>
        <p:pic>
          <p:nvPicPr>
            <p:cNvPr id="35" name="Picture 34">
              <a:extLst>
                <a:ext uri="{FF2B5EF4-FFF2-40B4-BE49-F238E27FC236}">
                  <a16:creationId xmlns:a16="http://schemas.microsoft.com/office/drawing/2014/main" id="{49322606-7019-C0AD-0900-881E5E1FE2DD}"/>
                </a:ext>
              </a:extLst>
            </p:cNvPr>
            <p:cNvPicPr>
              <a:picLocks noChangeAspect="1"/>
            </p:cNvPicPr>
            <p:nvPr/>
          </p:nvPicPr>
          <p:blipFill>
            <a:blip r:embed="rId8"/>
            <a:stretch>
              <a:fillRect/>
            </a:stretch>
          </p:blipFill>
          <p:spPr>
            <a:xfrm>
              <a:off x="9073681" y="3792775"/>
              <a:ext cx="496543" cy="341756"/>
            </a:xfrm>
            <a:prstGeom prst="rect">
              <a:avLst/>
            </a:prstGeom>
          </p:spPr>
        </p:pic>
        <p:sp>
          <p:nvSpPr>
            <p:cNvPr id="36" name="Rectangle 35">
              <a:extLst>
                <a:ext uri="{FF2B5EF4-FFF2-40B4-BE49-F238E27FC236}">
                  <a16:creationId xmlns:a16="http://schemas.microsoft.com/office/drawing/2014/main" id="{03EB0F68-92C6-C651-2258-46D74D1DDA72}"/>
                </a:ext>
              </a:extLst>
            </p:cNvPr>
            <p:cNvSpPr/>
            <p:nvPr/>
          </p:nvSpPr>
          <p:spPr>
            <a:xfrm>
              <a:off x="7469174" y="3706637"/>
              <a:ext cx="1294488" cy="553196"/>
            </a:xfrm>
            <a:prstGeom prst="rect">
              <a:avLst/>
            </a:prstGeom>
            <a:solidFill>
              <a:srgbClr val="FEE599"/>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User defined route</a:t>
              </a:r>
            </a:p>
          </p:txBody>
        </p:sp>
        <p:sp>
          <p:nvSpPr>
            <p:cNvPr id="37" name="Rectangle 36">
              <a:extLst>
                <a:ext uri="{FF2B5EF4-FFF2-40B4-BE49-F238E27FC236}">
                  <a16:creationId xmlns:a16="http://schemas.microsoft.com/office/drawing/2014/main" id="{D9EF49FD-19B6-AD89-ED95-ED1537EB38C6}"/>
                </a:ext>
              </a:extLst>
            </p:cNvPr>
            <p:cNvSpPr/>
            <p:nvPr/>
          </p:nvSpPr>
          <p:spPr>
            <a:xfrm>
              <a:off x="9071830" y="1868763"/>
              <a:ext cx="1226811"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VM/Appliance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IP Forwarding</a:t>
              </a:r>
            </a:p>
          </p:txBody>
        </p:sp>
        <p:cxnSp>
          <p:nvCxnSpPr>
            <p:cNvPr id="38" name="Connector: Elbow 37">
              <a:extLst>
                <a:ext uri="{FF2B5EF4-FFF2-40B4-BE49-F238E27FC236}">
                  <a16:creationId xmlns:a16="http://schemas.microsoft.com/office/drawing/2014/main" id="{57DACE3F-2695-94B8-3D09-E6397F1BB827}"/>
                </a:ext>
              </a:extLst>
            </p:cNvPr>
            <p:cNvCxnSpPr>
              <a:cxnSpLocks/>
              <a:stCxn id="34" idx="3"/>
              <a:endCxn id="28" idx="2"/>
            </p:cNvCxnSpPr>
            <p:nvPr/>
          </p:nvCxnSpPr>
          <p:spPr>
            <a:xfrm flipV="1">
              <a:off x="9855145" y="1280944"/>
              <a:ext cx="185929" cy="471863"/>
            </a:xfrm>
            <a:prstGeom prst="bentConnector2">
              <a:avLst/>
            </a:prstGeom>
            <a:noFill/>
            <a:ln w="15875" cap="flat" cmpd="sng" algn="ctr">
              <a:solidFill>
                <a:srgbClr val="E7E6E6">
                  <a:lumMod val="50000"/>
                </a:srgbClr>
              </a:solidFill>
              <a:prstDash val="solid"/>
              <a:miter lim="800000"/>
              <a:tailEnd type="none"/>
            </a:ln>
            <a:effectLst/>
          </p:spPr>
        </p:cxnSp>
        <p:sp>
          <p:nvSpPr>
            <p:cNvPr id="39" name="Rectangle 38">
              <a:extLst>
                <a:ext uri="{FF2B5EF4-FFF2-40B4-BE49-F238E27FC236}">
                  <a16:creationId xmlns:a16="http://schemas.microsoft.com/office/drawing/2014/main" id="{92DDB1BE-B53B-4FB8-96A8-EBBDE1A0CBCE}"/>
                </a:ext>
              </a:extLst>
            </p:cNvPr>
            <p:cNvSpPr/>
            <p:nvPr/>
          </p:nvSpPr>
          <p:spPr>
            <a:xfrm>
              <a:off x="8778956" y="4072600"/>
              <a:ext cx="1226811"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VM/Appliance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IP Forwarding</a:t>
              </a:r>
            </a:p>
          </p:txBody>
        </p:sp>
      </p:grpSp>
    </p:spTree>
    <p:extLst>
      <p:ext uri="{BB962C8B-B14F-4D97-AF65-F5344CB8AC3E}">
        <p14:creationId xmlns:p14="http://schemas.microsoft.com/office/powerpoint/2010/main" val="221155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26ED51B7-03BF-22EE-E9B5-EAC5770B2343}"/>
              </a:ext>
            </a:extLst>
          </p:cNvPr>
          <p:cNvSpPr txBox="1">
            <a:spLocks/>
          </p:cNvSpPr>
          <p:nvPr/>
        </p:nvSpPr>
        <p:spPr>
          <a:xfrm>
            <a:off x="705624" y="2279701"/>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Custom Routing Tables: Demonstration</a:t>
            </a:r>
          </a:p>
        </p:txBody>
      </p:sp>
      <p:sp>
        <p:nvSpPr>
          <p:cNvPr id="11" name="Rectangle 10">
            <a:extLst>
              <a:ext uri="{FF2B5EF4-FFF2-40B4-BE49-F238E27FC236}">
                <a16:creationId xmlns:a16="http://schemas.microsoft.com/office/drawing/2014/main" id="{FFED70CB-4212-5C76-14ED-2E1CD5F3A917}"/>
              </a:ext>
            </a:extLst>
          </p:cNvPr>
          <p:cNvSpPr/>
          <p:nvPr/>
        </p:nvSpPr>
        <p:spPr bwMode="auto">
          <a:xfrm>
            <a:off x="1137424" y="3270588"/>
            <a:ext cx="7706150" cy="154722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a:lnSpc>
                <a:spcPct val="150000"/>
              </a:lnSpc>
              <a:buFont typeface="Arial" panose="020B0604020202020204" pitchFamily="34" charset="0"/>
              <a:buChar char="•"/>
            </a:pPr>
            <a:r>
              <a:rPr lang="en-US" sz="2400" dirty="0">
                <a:solidFill>
                  <a:schemeClr val="tx1"/>
                </a:solidFill>
              </a:rPr>
              <a:t>Create a route table</a:t>
            </a:r>
          </a:p>
          <a:p>
            <a:pPr marL="342900" indent="-342900">
              <a:lnSpc>
                <a:spcPct val="150000"/>
              </a:lnSpc>
              <a:buFont typeface="Arial" panose="020B0604020202020204" pitchFamily="34" charset="0"/>
              <a:buChar char="•"/>
            </a:pPr>
            <a:r>
              <a:rPr lang="en-US" sz="2400" dirty="0">
                <a:solidFill>
                  <a:schemeClr val="tx1"/>
                </a:solidFill>
              </a:rPr>
              <a:t>Add a route</a:t>
            </a:r>
          </a:p>
          <a:p>
            <a:pPr marL="342900" indent="-342900">
              <a:lnSpc>
                <a:spcPct val="150000"/>
              </a:lnSpc>
              <a:buFont typeface="Arial" panose="020B0604020202020204" pitchFamily="34" charset="0"/>
              <a:buChar char="•"/>
            </a:pPr>
            <a:r>
              <a:rPr lang="en-US" sz="2400" dirty="0">
                <a:solidFill>
                  <a:schemeClr val="tx1"/>
                </a:solidFill>
              </a:rPr>
              <a:t>Associate a route table to a subnet</a:t>
            </a:r>
          </a:p>
        </p:txBody>
      </p:sp>
    </p:spTree>
    <p:extLst>
      <p:ext uri="{BB962C8B-B14F-4D97-AF65-F5344CB8AC3E}">
        <p14:creationId xmlns:p14="http://schemas.microsoft.com/office/powerpoint/2010/main" val="3121288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A794E55-05D0-6CBE-12F1-619B54FA43A7}"/>
              </a:ext>
            </a:extLst>
          </p:cNvPr>
          <p:cNvSpPr txBox="1">
            <a:spLocks/>
          </p:cNvSpPr>
          <p:nvPr/>
        </p:nvSpPr>
        <p:spPr>
          <a:xfrm>
            <a:off x="277076" y="1203510"/>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Determine Service Endpoint Uses</a:t>
            </a:r>
          </a:p>
        </p:txBody>
      </p:sp>
      <p:sp>
        <p:nvSpPr>
          <p:cNvPr id="11" name="Text Placeholder 2">
            <a:extLst>
              <a:ext uri="{FF2B5EF4-FFF2-40B4-BE49-F238E27FC236}">
                <a16:creationId xmlns:a16="http://schemas.microsoft.com/office/drawing/2014/main" id="{52197244-15CE-D595-E417-3AC179BA2EED}"/>
              </a:ext>
            </a:extLst>
          </p:cNvPr>
          <p:cNvSpPr txBox="1">
            <a:spLocks/>
          </p:cNvSpPr>
          <p:nvPr/>
        </p:nvSpPr>
        <p:spPr>
          <a:xfrm>
            <a:off x="290791" y="1752287"/>
            <a:ext cx="11568684" cy="43946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dirty="0"/>
              <a:t>Endpoints limit network access to specific services </a:t>
            </a:r>
          </a:p>
        </p:txBody>
      </p:sp>
      <p:sp>
        <p:nvSpPr>
          <p:cNvPr id="12" name="TextBox 11">
            <a:extLst>
              <a:ext uri="{FF2B5EF4-FFF2-40B4-BE49-F238E27FC236}">
                <a16:creationId xmlns:a16="http://schemas.microsoft.com/office/drawing/2014/main" id="{493A5ECC-02BC-6C7D-D7DB-F711287F9E44}"/>
              </a:ext>
            </a:extLst>
          </p:cNvPr>
          <p:cNvSpPr txBox="1"/>
          <p:nvPr/>
        </p:nvSpPr>
        <p:spPr>
          <a:xfrm>
            <a:off x="1234848" y="2251505"/>
            <a:ext cx="3908656" cy="646331"/>
          </a:xfrm>
          <a:prstGeom prst="rect">
            <a:avLst/>
          </a:prstGeom>
          <a:noFill/>
        </p:spPr>
        <p:txBody>
          <a:bodyPr wrap="square">
            <a:spAutoFit/>
          </a:bodyPr>
          <a:lstStyle/>
          <a:p>
            <a:r>
              <a:rPr lang="en-US" dirty="0"/>
              <a:t>Adding service endpoints can take up to 15 minutes to complete</a:t>
            </a:r>
          </a:p>
        </p:txBody>
      </p:sp>
      <p:pic>
        <p:nvPicPr>
          <p:cNvPr id="13" name="Picture 12" descr="A virtual machine is using an endpoint to access a storage account">
            <a:extLst>
              <a:ext uri="{FF2B5EF4-FFF2-40B4-BE49-F238E27FC236}">
                <a16:creationId xmlns:a16="http://schemas.microsoft.com/office/drawing/2014/main" id="{3A33ADE6-7999-7C95-7523-0A64EFD700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1107" y="2191752"/>
            <a:ext cx="5570102" cy="4854096"/>
          </a:xfrm>
          <a:prstGeom prst="rect">
            <a:avLst/>
          </a:prstGeom>
        </p:spPr>
      </p:pic>
      <p:pic>
        <p:nvPicPr>
          <p:cNvPr id="14" name="Picture 13">
            <a:extLst>
              <a:ext uri="{FF2B5EF4-FFF2-40B4-BE49-F238E27FC236}">
                <a16:creationId xmlns:a16="http://schemas.microsoft.com/office/drawing/2014/main" id="{04EB13F9-88BB-0B61-AC86-1E4F493A75AD}"/>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364144" y="2995467"/>
            <a:ext cx="3278124" cy="3553968"/>
          </a:xfrm>
          <a:prstGeom prst="rect">
            <a:avLst/>
          </a:prstGeom>
        </p:spPr>
      </p:pic>
    </p:spTree>
    <p:extLst>
      <p:ext uri="{BB962C8B-B14F-4D97-AF65-F5344CB8AC3E}">
        <p14:creationId xmlns:p14="http://schemas.microsoft.com/office/powerpoint/2010/main" val="1302423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4243A5CC-2F93-AF25-7084-432FF122C4BA}"/>
              </a:ext>
            </a:extLst>
          </p:cNvPr>
          <p:cNvSpPr txBox="1">
            <a:spLocks/>
          </p:cNvSpPr>
          <p:nvPr/>
        </p:nvSpPr>
        <p:spPr>
          <a:xfrm>
            <a:off x="330708" y="675022"/>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dirty="0"/>
              <a:t>Identify Private Link Uses</a:t>
            </a:r>
          </a:p>
        </p:txBody>
      </p:sp>
      <p:pic>
        <p:nvPicPr>
          <p:cNvPr id="11" name="Picture 3" descr="An Azure Private Link connects a NSG Private endpoint with SQL database. A direct connection is cancel out ">
            <a:extLst>
              <a:ext uri="{FF2B5EF4-FFF2-40B4-BE49-F238E27FC236}">
                <a16:creationId xmlns:a16="http://schemas.microsoft.com/office/drawing/2014/main" id="{549F1010-2CE6-8B3A-324C-D0E152DFE1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4230" y="1310422"/>
            <a:ext cx="9748016" cy="3476742"/>
          </a:xfrm>
          <a:prstGeom prst="rect">
            <a:avLst/>
          </a:prstGeom>
        </p:spPr>
      </p:pic>
      <p:sp>
        <p:nvSpPr>
          <p:cNvPr id="12" name="Freeform: Shape 11">
            <a:extLst>
              <a:ext uri="{FF2B5EF4-FFF2-40B4-BE49-F238E27FC236}">
                <a16:creationId xmlns:a16="http://schemas.microsoft.com/office/drawing/2014/main" id="{3DC9EA47-8970-EB2B-5907-0454B8A86A1A}"/>
              </a:ext>
            </a:extLst>
          </p:cNvPr>
          <p:cNvSpPr/>
          <p:nvPr/>
        </p:nvSpPr>
        <p:spPr>
          <a:xfrm>
            <a:off x="427038" y="5043544"/>
            <a:ext cx="3749040" cy="131820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cs typeface="Segoe UI Semilight"/>
              </a:rPr>
              <a:t>Private connectivity to services on Azure. Traffic remains on the Microsoft network, with</a:t>
            </a:r>
            <a:br>
              <a:rPr lang="en-US" sz="2000" dirty="0">
                <a:solidFill>
                  <a:schemeClr val="tx1"/>
                </a:solidFill>
                <a:cs typeface="Segoe UI Semilight"/>
              </a:rPr>
            </a:br>
            <a:r>
              <a:rPr lang="en-US" sz="2000" dirty="0">
                <a:solidFill>
                  <a:schemeClr val="tx1"/>
                </a:solidFill>
                <a:cs typeface="Segoe UI Semilight"/>
              </a:rPr>
              <a:t>no public internet access</a:t>
            </a:r>
          </a:p>
        </p:txBody>
      </p:sp>
      <p:sp>
        <p:nvSpPr>
          <p:cNvPr id="13" name="Freeform: Shape 12">
            <a:extLst>
              <a:ext uri="{FF2B5EF4-FFF2-40B4-BE49-F238E27FC236}">
                <a16:creationId xmlns:a16="http://schemas.microsoft.com/office/drawing/2014/main" id="{008A4C0F-8F86-B1E3-C445-48C3F52BBBFB}"/>
              </a:ext>
            </a:extLst>
          </p:cNvPr>
          <p:cNvSpPr/>
          <p:nvPr/>
        </p:nvSpPr>
        <p:spPr>
          <a:xfrm>
            <a:off x="4344510" y="5043544"/>
            <a:ext cx="3749040" cy="131820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cs typeface="Segoe UI Semilight"/>
              </a:rPr>
              <a:t>Integration with on-premises and peered networks</a:t>
            </a:r>
          </a:p>
        </p:txBody>
      </p:sp>
      <p:sp>
        <p:nvSpPr>
          <p:cNvPr id="14" name="Freeform: Shape 13">
            <a:extLst>
              <a:ext uri="{FF2B5EF4-FFF2-40B4-BE49-F238E27FC236}">
                <a16:creationId xmlns:a16="http://schemas.microsoft.com/office/drawing/2014/main" id="{AFA5A5FD-CBF3-7374-32D0-8E19362D9226}"/>
              </a:ext>
            </a:extLst>
          </p:cNvPr>
          <p:cNvSpPr/>
          <p:nvPr/>
        </p:nvSpPr>
        <p:spPr>
          <a:xfrm>
            <a:off x="8261983" y="5043544"/>
            <a:ext cx="3749040" cy="131820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sz="2000" dirty="0">
                <a:solidFill>
                  <a:schemeClr val="tx1"/>
                </a:solidFill>
                <a:cs typeface="Segoe UI Semilight"/>
              </a:rPr>
              <a:t>In the event of a security incident within your network, only the mapped resource would be accessible</a:t>
            </a:r>
          </a:p>
        </p:txBody>
      </p:sp>
    </p:spTree>
    <p:extLst>
      <p:ext uri="{BB962C8B-B14F-4D97-AF65-F5344CB8AC3E}">
        <p14:creationId xmlns:p14="http://schemas.microsoft.com/office/powerpoint/2010/main" val="1874465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3">
            <a:extLst>
              <a:ext uri="{FF2B5EF4-FFF2-40B4-BE49-F238E27FC236}">
                <a16:creationId xmlns:a16="http://schemas.microsoft.com/office/drawing/2014/main" id="{78B3ACC7-BB09-F3F0-A115-7A5FFA445380}"/>
              </a:ext>
            </a:extLst>
          </p:cNvPr>
          <p:cNvSpPr txBox="1">
            <a:spLocks/>
          </p:cNvSpPr>
          <p:nvPr/>
        </p:nvSpPr>
        <p:spPr>
          <a:xfrm>
            <a:off x="3147560" y="2783914"/>
            <a:ext cx="6472474" cy="99719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44500">
              <a:spcAft>
                <a:spcPct val="35000"/>
              </a:spcAft>
            </a:pPr>
            <a:r>
              <a:rPr lang="en-US" sz="3600"/>
              <a:t>Lab - Implement Intersite Connectivity</a:t>
            </a:r>
            <a:endParaRPr lang="en-US" sz="3600" dirty="0"/>
          </a:p>
        </p:txBody>
      </p:sp>
    </p:spTree>
    <p:extLst>
      <p:ext uri="{BB962C8B-B14F-4D97-AF65-F5344CB8AC3E}">
        <p14:creationId xmlns:p14="http://schemas.microsoft.com/office/powerpoint/2010/main" val="391899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2">
            <a:extLst>
              <a:ext uri="{FF2B5EF4-FFF2-40B4-BE49-F238E27FC236}">
                <a16:creationId xmlns:a16="http://schemas.microsoft.com/office/drawing/2014/main" id="{DBACF05B-53B1-7F3A-DAC0-217DF25FBD6B}"/>
              </a:ext>
            </a:extLst>
          </p:cNvPr>
          <p:cNvSpPr txBox="1">
            <a:spLocks/>
          </p:cNvSpPr>
          <p:nvPr/>
        </p:nvSpPr>
        <p:spPr>
          <a:xfrm>
            <a:off x="465138" y="56745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754">
                <a:cs typeface="Segoe UI"/>
              </a:rPr>
              <a:t>Module Review Activity </a:t>
            </a:r>
            <a:endParaRPr lang="en-US" dirty="0"/>
          </a:p>
        </p:txBody>
      </p:sp>
      <p:grpSp>
        <p:nvGrpSpPr>
          <p:cNvPr id="11" name="Group 10">
            <a:extLst>
              <a:ext uri="{FF2B5EF4-FFF2-40B4-BE49-F238E27FC236}">
                <a16:creationId xmlns:a16="http://schemas.microsoft.com/office/drawing/2014/main" id="{B51AA7B0-086F-CA5E-5F29-A8302B058BCC}"/>
              </a:ext>
              <a:ext uri="{C183D7F6-B498-43B3-948B-1728B52AA6E4}">
                <adec:decorative xmlns:adec="http://schemas.microsoft.com/office/drawing/2017/decorative" val="1"/>
              </a:ext>
            </a:extLst>
          </p:cNvPr>
          <p:cNvGrpSpPr/>
          <p:nvPr/>
        </p:nvGrpSpPr>
        <p:grpSpPr>
          <a:xfrm>
            <a:off x="8658051" y="4889463"/>
            <a:ext cx="1360747" cy="1133847"/>
            <a:chOff x="8856122" y="4961614"/>
            <a:chExt cx="1334186" cy="1111715"/>
          </a:xfrm>
        </p:grpSpPr>
        <p:pic>
          <p:nvPicPr>
            <p:cNvPr id="12" name="Graphic 11">
              <a:extLst>
                <a:ext uri="{FF2B5EF4-FFF2-40B4-BE49-F238E27FC236}">
                  <a16:creationId xmlns:a16="http://schemas.microsoft.com/office/drawing/2014/main" id="{BD3FE073-BC4F-30E4-68E6-EDF3E1372B3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41806" y="4961614"/>
              <a:ext cx="533806" cy="534408"/>
            </a:xfrm>
            <a:prstGeom prst="rect">
              <a:avLst/>
            </a:prstGeom>
          </p:spPr>
        </p:pic>
        <p:sp>
          <p:nvSpPr>
            <p:cNvPr id="13" name="TextBox 12">
              <a:extLst>
                <a:ext uri="{FF2B5EF4-FFF2-40B4-BE49-F238E27FC236}">
                  <a16:creationId xmlns:a16="http://schemas.microsoft.com/office/drawing/2014/main" id="{38AC4108-500F-9E0C-055E-A18AC33F2358}"/>
                </a:ext>
              </a:extLst>
            </p:cNvPr>
            <p:cNvSpPr txBox="1"/>
            <p:nvPr/>
          </p:nvSpPr>
          <p:spPr>
            <a:xfrm>
              <a:off x="8856122" y="5528949"/>
              <a:ext cx="1334186"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VNet Peering</a:t>
              </a:r>
            </a:p>
          </p:txBody>
        </p:sp>
      </p:grpSp>
      <p:grpSp>
        <p:nvGrpSpPr>
          <p:cNvPr id="14" name="Group 13">
            <a:extLst>
              <a:ext uri="{FF2B5EF4-FFF2-40B4-BE49-F238E27FC236}">
                <a16:creationId xmlns:a16="http://schemas.microsoft.com/office/drawing/2014/main" id="{52703CEE-CB35-97A0-972E-34A52EB7C918}"/>
              </a:ext>
              <a:ext uri="{C183D7F6-B498-43B3-948B-1728B52AA6E4}">
                <adec:decorative xmlns:adec="http://schemas.microsoft.com/office/drawing/2017/decorative" val="1"/>
              </a:ext>
            </a:extLst>
          </p:cNvPr>
          <p:cNvGrpSpPr/>
          <p:nvPr/>
        </p:nvGrpSpPr>
        <p:grpSpPr>
          <a:xfrm>
            <a:off x="6392564" y="4915294"/>
            <a:ext cx="1084975" cy="1082174"/>
            <a:chOff x="4344112" y="4836929"/>
            <a:chExt cx="1063798" cy="1061051"/>
          </a:xfrm>
        </p:grpSpPr>
        <p:pic>
          <p:nvPicPr>
            <p:cNvPr id="15" name="Graphic 14">
              <a:extLst>
                <a:ext uri="{FF2B5EF4-FFF2-40B4-BE49-F238E27FC236}">
                  <a16:creationId xmlns:a16="http://schemas.microsoft.com/office/drawing/2014/main" id="{47FAD926-C245-48D0-EBA6-5E5618C2521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34722" y="4836929"/>
              <a:ext cx="423678" cy="424156"/>
            </a:xfrm>
            <a:prstGeom prst="rect">
              <a:avLst/>
            </a:prstGeom>
          </p:spPr>
        </p:pic>
        <p:sp>
          <p:nvSpPr>
            <p:cNvPr id="16" name="TextBox 15">
              <a:extLst>
                <a:ext uri="{FF2B5EF4-FFF2-40B4-BE49-F238E27FC236}">
                  <a16:creationId xmlns:a16="http://schemas.microsoft.com/office/drawing/2014/main" id="{0F0927C8-18CB-5F06-AB33-7299FB064242}"/>
                </a:ext>
              </a:extLst>
            </p:cNvPr>
            <p:cNvSpPr txBox="1"/>
            <p:nvPr/>
          </p:nvSpPr>
          <p:spPr>
            <a:xfrm>
              <a:off x="4344112" y="5353600"/>
              <a:ext cx="1063798"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Private</a:t>
              </a:r>
            </a:p>
            <a:p>
              <a:pPr algn="ctr" defTabSz="951028" fontAlgn="base">
                <a:lnSpc>
                  <a:spcPct val="90000"/>
                </a:lnSpc>
                <a:spcBef>
                  <a:spcPct val="0"/>
                </a:spcBef>
                <a:spcAft>
                  <a:spcPct val="0"/>
                </a:spcAft>
              </a:pPr>
              <a:r>
                <a:rPr lang="en-US" sz="1632" dirty="0">
                  <a:ea typeface="Segoe UI" pitchFamily="34" charset="0"/>
                  <a:cs typeface="Segoe UI" pitchFamily="34" charset="0"/>
                </a:rPr>
                <a:t>endpoint</a:t>
              </a:r>
            </a:p>
          </p:txBody>
        </p:sp>
      </p:grpSp>
      <p:grpSp>
        <p:nvGrpSpPr>
          <p:cNvPr id="17" name="Group 16">
            <a:extLst>
              <a:ext uri="{FF2B5EF4-FFF2-40B4-BE49-F238E27FC236}">
                <a16:creationId xmlns:a16="http://schemas.microsoft.com/office/drawing/2014/main" id="{60852EB5-8EB6-232C-5A5E-21E26884BB90}"/>
              </a:ext>
              <a:ext uri="{C183D7F6-B498-43B3-948B-1728B52AA6E4}">
                <adec:decorative xmlns:adec="http://schemas.microsoft.com/office/drawing/2017/decorative" val="1"/>
              </a:ext>
            </a:extLst>
          </p:cNvPr>
          <p:cNvGrpSpPr/>
          <p:nvPr/>
        </p:nvGrpSpPr>
        <p:grpSpPr>
          <a:xfrm>
            <a:off x="7525305" y="4923916"/>
            <a:ext cx="1084975" cy="1064940"/>
            <a:chOff x="3499574" y="6025494"/>
            <a:chExt cx="1063798" cy="1044153"/>
          </a:xfrm>
        </p:grpSpPr>
        <p:pic>
          <p:nvPicPr>
            <p:cNvPr id="18" name="Graphic 17">
              <a:extLst>
                <a:ext uri="{FF2B5EF4-FFF2-40B4-BE49-F238E27FC236}">
                  <a16:creationId xmlns:a16="http://schemas.microsoft.com/office/drawing/2014/main" id="{B521FC25-37A8-08AA-6ABC-853C6322660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872864" y="6025494"/>
              <a:ext cx="423678" cy="424156"/>
            </a:xfrm>
            <a:prstGeom prst="rect">
              <a:avLst/>
            </a:prstGeom>
          </p:spPr>
        </p:pic>
        <p:sp>
          <p:nvSpPr>
            <p:cNvPr id="19" name="TextBox 18">
              <a:extLst>
                <a:ext uri="{FF2B5EF4-FFF2-40B4-BE49-F238E27FC236}">
                  <a16:creationId xmlns:a16="http://schemas.microsoft.com/office/drawing/2014/main" id="{6E2C81F1-B0C3-C6B0-DBCD-B61A68EAFE57}"/>
                </a:ext>
              </a:extLst>
            </p:cNvPr>
            <p:cNvSpPr txBox="1"/>
            <p:nvPr/>
          </p:nvSpPr>
          <p:spPr>
            <a:xfrm>
              <a:off x="3499574" y="6525267"/>
              <a:ext cx="1063798"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Service</a:t>
              </a:r>
            </a:p>
            <a:p>
              <a:pPr algn="ctr" defTabSz="951028" fontAlgn="base">
                <a:lnSpc>
                  <a:spcPct val="90000"/>
                </a:lnSpc>
                <a:spcBef>
                  <a:spcPct val="0"/>
                </a:spcBef>
                <a:spcAft>
                  <a:spcPct val="0"/>
                </a:spcAft>
              </a:pPr>
              <a:r>
                <a:rPr lang="en-US" sz="1632" dirty="0">
                  <a:ea typeface="Segoe UI" pitchFamily="34" charset="0"/>
                  <a:cs typeface="Segoe UI" pitchFamily="34" charset="0"/>
                </a:rPr>
                <a:t>endpoint</a:t>
              </a:r>
            </a:p>
          </p:txBody>
        </p:sp>
      </p:grpSp>
      <p:grpSp>
        <p:nvGrpSpPr>
          <p:cNvPr id="20" name="Group 19">
            <a:extLst>
              <a:ext uri="{FF2B5EF4-FFF2-40B4-BE49-F238E27FC236}">
                <a16:creationId xmlns:a16="http://schemas.microsoft.com/office/drawing/2014/main" id="{CBC2586C-D990-E2A4-91D7-7E78DCBA62BC}"/>
              </a:ext>
              <a:ext uri="{C183D7F6-B498-43B3-948B-1728B52AA6E4}">
                <adec:decorative xmlns:adec="http://schemas.microsoft.com/office/drawing/2017/decorative" val="1"/>
              </a:ext>
            </a:extLst>
          </p:cNvPr>
          <p:cNvGrpSpPr/>
          <p:nvPr/>
        </p:nvGrpSpPr>
        <p:grpSpPr>
          <a:xfrm>
            <a:off x="4226324" y="4900665"/>
            <a:ext cx="1035359" cy="1111423"/>
            <a:chOff x="5922751" y="4899084"/>
            <a:chExt cx="1015149" cy="1089730"/>
          </a:xfrm>
        </p:grpSpPr>
        <p:pic>
          <p:nvPicPr>
            <p:cNvPr id="21" name="Graphic 20">
              <a:extLst>
                <a:ext uri="{FF2B5EF4-FFF2-40B4-BE49-F238E27FC236}">
                  <a16:creationId xmlns:a16="http://schemas.microsoft.com/office/drawing/2014/main" id="{0D5EC28F-0A60-6401-47D0-8FD7F472F6B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70608" y="4899084"/>
              <a:ext cx="519436" cy="520023"/>
            </a:xfrm>
            <a:prstGeom prst="rect">
              <a:avLst/>
            </a:prstGeom>
          </p:spPr>
        </p:pic>
        <p:sp>
          <p:nvSpPr>
            <p:cNvPr id="22" name="TextBox 21">
              <a:extLst>
                <a:ext uri="{FF2B5EF4-FFF2-40B4-BE49-F238E27FC236}">
                  <a16:creationId xmlns:a16="http://schemas.microsoft.com/office/drawing/2014/main" id="{3E396D21-00E9-AE6D-47EA-C889722D3B8A}"/>
                </a:ext>
              </a:extLst>
            </p:cNvPr>
            <p:cNvSpPr txBox="1"/>
            <p:nvPr/>
          </p:nvSpPr>
          <p:spPr>
            <a:xfrm>
              <a:off x="5922751" y="5444434"/>
              <a:ext cx="1015149"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Load</a:t>
              </a:r>
            </a:p>
            <a:p>
              <a:pPr algn="ctr" defTabSz="951028" fontAlgn="base">
                <a:lnSpc>
                  <a:spcPct val="90000"/>
                </a:lnSpc>
                <a:spcBef>
                  <a:spcPct val="0"/>
                </a:spcBef>
                <a:spcAft>
                  <a:spcPct val="0"/>
                </a:spcAft>
              </a:pPr>
              <a:r>
                <a:rPr lang="en-US" sz="1632" dirty="0">
                  <a:ea typeface="Segoe UI" pitchFamily="34" charset="0"/>
                  <a:cs typeface="Segoe UI" pitchFamily="34" charset="0"/>
                </a:rPr>
                <a:t>balancer</a:t>
              </a:r>
            </a:p>
          </p:txBody>
        </p:sp>
      </p:grpSp>
      <p:grpSp>
        <p:nvGrpSpPr>
          <p:cNvPr id="23" name="Group 22">
            <a:extLst>
              <a:ext uri="{FF2B5EF4-FFF2-40B4-BE49-F238E27FC236}">
                <a16:creationId xmlns:a16="http://schemas.microsoft.com/office/drawing/2014/main" id="{47C7F4AD-C1F4-7D91-D0AB-B48B3D144D55}"/>
              </a:ext>
              <a:ext uri="{C183D7F6-B498-43B3-948B-1728B52AA6E4}">
                <adec:decorative xmlns:adec="http://schemas.microsoft.com/office/drawing/2017/decorative" val="1"/>
              </a:ext>
            </a:extLst>
          </p:cNvPr>
          <p:cNvGrpSpPr/>
          <p:nvPr/>
        </p:nvGrpSpPr>
        <p:grpSpPr>
          <a:xfrm>
            <a:off x="5309434" y="5033431"/>
            <a:ext cx="1035357" cy="841388"/>
            <a:chOff x="7060011" y="4952619"/>
            <a:chExt cx="1015149" cy="824965"/>
          </a:xfrm>
        </p:grpSpPr>
        <p:pic>
          <p:nvPicPr>
            <p:cNvPr id="24" name="Graphic 23">
              <a:extLst>
                <a:ext uri="{FF2B5EF4-FFF2-40B4-BE49-F238E27FC236}">
                  <a16:creationId xmlns:a16="http://schemas.microsoft.com/office/drawing/2014/main" id="{6A6CF55A-E65B-08EE-607E-F9501F3A0E4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36410" y="4952619"/>
              <a:ext cx="462352" cy="462352"/>
            </a:xfrm>
            <a:prstGeom prst="rect">
              <a:avLst/>
            </a:prstGeom>
          </p:spPr>
        </p:pic>
        <p:sp>
          <p:nvSpPr>
            <p:cNvPr id="25" name="TextBox 24">
              <a:extLst>
                <a:ext uri="{FF2B5EF4-FFF2-40B4-BE49-F238E27FC236}">
                  <a16:creationId xmlns:a16="http://schemas.microsoft.com/office/drawing/2014/main" id="{0B320EA7-B7A2-E57D-B428-3FC0025C497C}"/>
                </a:ext>
              </a:extLst>
            </p:cNvPr>
            <p:cNvSpPr txBox="1"/>
            <p:nvPr/>
          </p:nvSpPr>
          <p:spPr>
            <a:xfrm>
              <a:off x="7060011" y="5459227"/>
              <a:ext cx="1015149" cy="318357"/>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NAT</a:t>
              </a:r>
            </a:p>
          </p:txBody>
        </p:sp>
      </p:grpSp>
      <p:grpSp>
        <p:nvGrpSpPr>
          <p:cNvPr id="26" name="Group 25">
            <a:extLst>
              <a:ext uri="{FF2B5EF4-FFF2-40B4-BE49-F238E27FC236}">
                <a16:creationId xmlns:a16="http://schemas.microsoft.com/office/drawing/2014/main" id="{A503F658-94B0-1DDD-BC06-D3C47FF04EF4}"/>
              </a:ext>
              <a:ext uri="{C183D7F6-B498-43B3-948B-1728B52AA6E4}">
                <adec:decorative xmlns:adec="http://schemas.microsoft.com/office/drawing/2017/decorative" val="1"/>
              </a:ext>
            </a:extLst>
          </p:cNvPr>
          <p:cNvGrpSpPr/>
          <p:nvPr/>
        </p:nvGrpSpPr>
        <p:grpSpPr>
          <a:xfrm>
            <a:off x="1533366" y="4890626"/>
            <a:ext cx="1298710" cy="1131510"/>
            <a:chOff x="1732673" y="4811880"/>
            <a:chExt cx="1273361" cy="1109424"/>
          </a:xfrm>
        </p:grpSpPr>
        <p:pic>
          <p:nvPicPr>
            <p:cNvPr id="27" name="Graphic 26">
              <a:extLst>
                <a:ext uri="{FF2B5EF4-FFF2-40B4-BE49-F238E27FC236}">
                  <a16:creationId xmlns:a16="http://schemas.microsoft.com/office/drawing/2014/main" id="{679004A2-47D4-0996-F2D7-9FAE674918E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101589" y="4811880"/>
              <a:ext cx="535531" cy="535531"/>
            </a:xfrm>
            <a:prstGeom prst="rect">
              <a:avLst/>
            </a:prstGeom>
          </p:spPr>
        </p:pic>
        <p:sp>
          <p:nvSpPr>
            <p:cNvPr id="28" name="TextBox 27">
              <a:extLst>
                <a:ext uri="{FF2B5EF4-FFF2-40B4-BE49-F238E27FC236}">
                  <a16:creationId xmlns:a16="http://schemas.microsoft.com/office/drawing/2014/main" id="{DC0FA0DC-102A-7AA8-667F-873ACF23A89D}"/>
                </a:ext>
              </a:extLst>
            </p:cNvPr>
            <p:cNvSpPr txBox="1"/>
            <p:nvPr/>
          </p:nvSpPr>
          <p:spPr>
            <a:xfrm>
              <a:off x="1732673" y="5376924"/>
              <a:ext cx="1273361"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Application</a:t>
              </a:r>
            </a:p>
            <a:p>
              <a:pPr algn="ctr" defTabSz="951028" fontAlgn="base">
                <a:lnSpc>
                  <a:spcPct val="90000"/>
                </a:lnSpc>
                <a:spcBef>
                  <a:spcPct val="0"/>
                </a:spcBef>
                <a:spcAft>
                  <a:spcPct val="0"/>
                </a:spcAft>
              </a:pPr>
              <a:r>
                <a:rPr lang="en-US" sz="1632" dirty="0">
                  <a:ea typeface="Segoe UI" pitchFamily="34" charset="0"/>
                  <a:cs typeface="Segoe UI" pitchFamily="34" charset="0"/>
                </a:rPr>
                <a:t>gateway</a:t>
              </a:r>
            </a:p>
          </p:txBody>
        </p:sp>
      </p:grpSp>
      <p:grpSp>
        <p:nvGrpSpPr>
          <p:cNvPr id="29" name="Group 28">
            <a:extLst>
              <a:ext uri="{FF2B5EF4-FFF2-40B4-BE49-F238E27FC236}">
                <a16:creationId xmlns:a16="http://schemas.microsoft.com/office/drawing/2014/main" id="{52878705-1440-823E-3F11-B4ADABD8E2B7}"/>
              </a:ext>
              <a:ext uri="{C183D7F6-B498-43B3-948B-1728B52AA6E4}">
                <adec:decorative xmlns:adec="http://schemas.microsoft.com/office/drawing/2017/decorative" val="1"/>
              </a:ext>
            </a:extLst>
          </p:cNvPr>
          <p:cNvGrpSpPr/>
          <p:nvPr/>
        </p:nvGrpSpPr>
        <p:grpSpPr>
          <a:xfrm>
            <a:off x="10066557" y="4917665"/>
            <a:ext cx="1084975" cy="1077443"/>
            <a:chOff x="9319081" y="4884115"/>
            <a:chExt cx="1063798" cy="1056412"/>
          </a:xfrm>
        </p:grpSpPr>
        <p:pic>
          <p:nvPicPr>
            <p:cNvPr id="30" name="Graphic 29">
              <a:extLst>
                <a:ext uri="{FF2B5EF4-FFF2-40B4-BE49-F238E27FC236}">
                  <a16:creationId xmlns:a16="http://schemas.microsoft.com/office/drawing/2014/main" id="{236A3813-55D3-55C9-3C13-93608AF4445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649590" y="4884115"/>
              <a:ext cx="435924" cy="436416"/>
            </a:xfrm>
            <a:prstGeom prst="rect">
              <a:avLst/>
            </a:prstGeom>
          </p:spPr>
        </p:pic>
        <p:sp>
          <p:nvSpPr>
            <p:cNvPr id="31" name="TextBox 30">
              <a:extLst>
                <a:ext uri="{FF2B5EF4-FFF2-40B4-BE49-F238E27FC236}">
                  <a16:creationId xmlns:a16="http://schemas.microsoft.com/office/drawing/2014/main" id="{2EC4801F-9FF7-49D0-8485-81EC10F32943}"/>
                </a:ext>
              </a:extLst>
            </p:cNvPr>
            <p:cNvSpPr txBox="1"/>
            <p:nvPr/>
          </p:nvSpPr>
          <p:spPr>
            <a:xfrm>
              <a:off x="9319081" y="5396147"/>
              <a:ext cx="1063798"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VPN</a:t>
              </a:r>
            </a:p>
            <a:p>
              <a:pPr algn="ctr" defTabSz="951028" fontAlgn="base">
                <a:lnSpc>
                  <a:spcPct val="90000"/>
                </a:lnSpc>
                <a:spcBef>
                  <a:spcPct val="0"/>
                </a:spcBef>
                <a:spcAft>
                  <a:spcPct val="0"/>
                </a:spcAft>
              </a:pPr>
              <a:r>
                <a:rPr lang="en-US" sz="1632" dirty="0">
                  <a:ea typeface="Segoe UI" pitchFamily="34" charset="0"/>
                  <a:cs typeface="Segoe UI" pitchFamily="34" charset="0"/>
                </a:rPr>
                <a:t>Gateway</a:t>
              </a:r>
            </a:p>
          </p:txBody>
        </p:sp>
      </p:grpSp>
      <p:grpSp>
        <p:nvGrpSpPr>
          <p:cNvPr id="32" name="Group 31">
            <a:extLst>
              <a:ext uri="{FF2B5EF4-FFF2-40B4-BE49-F238E27FC236}">
                <a16:creationId xmlns:a16="http://schemas.microsoft.com/office/drawing/2014/main" id="{3BB348F2-EB48-9AE9-8874-D06460E92313}"/>
              </a:ext>
              <a:ext uri="{C183D7F6-B498-43B3-948B-1728B52AA6E4}">
                <adec:decorative xmlns:adec="http://schemas.microsoft.com/office/drawing/2017/decorative" val="1"/>
              </a:ext>
            </a:extLst>
          </p:cNvPr>
          <p:cNvGrpSpPr/>
          <p:nvPr/>
        </p:nvGrpSpPr>
        <p:grpSpPr>
          <a:xfrm>
            <a:off x="2879842" y="4900444"/>
            <a:ext cx="1298710" cy="1111873"/>
            <a:chOff x="565346" y="4790233"/>
            <a:chExt cx="1273361" cy="1090171"/>
          </a:xfrm>
        </p:grpSpPr>
        <p:pic>
          <p:nvPicPr>
            <p:cNvPr id="33" name="Graphic 32">
              <a:extLst>
                <a:ext uri="{FF2B5EF4-FFF2-40B4-BE49-F238E27FC236}">
                  <a16:creationId xmlns:a16="http://schemas.microsoft.com/office/drawing/2014/main" id="{ACADB5DC-D031-4C3A-F1DC-1B815207394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78213" y="4790233"/>
              <a:ext cx="481694" cy="482238"/>
            </a:xfrm>
            <a:prstGeom prst="rect">
              <a:avLst/>
            </a:prstGeom>
          </p:spPr>
        </p:pic>
        <p:sp>
          <p:nvSpPr>
            <p:cNvPr id="34" name="TextBox 33">
              <a:extLst>
                <a:ext uri="{FF2B5EF4-FFF2-40B4-BE49-F238E27FC236}">
                  <a16:creationId xmlns:a16="http://schemas.microsoft.com/office/drawing/2014/main" id="{9C9AB15B-F09D-6D65-FB68-5EE5CAE3E5CD}"/>
                </a:ext>
              </a:extLst>
            </p:cNvPr>
            <p:cNvSpPr txBox="1"/>
            <p:nvPr/>
          </p:nvSpPr>
          <p:spPr>
            <a:xfrm>
              <a:off x="565346" y="5336024"/>
              <a:ext cx="1273361" cy="544380"/>
            </a:xfrm>
            <a:prstGeom prst="rect">
              <a:avLst/>
            </a:prstGeom>
            <a:noFill/>
          </p:spPr>
          <p:txBody>
            <a:bodyPr wrap="square">
              <a:spAutoFit/>
            </a:bodyPr>
            <a:lstStyle/>
            <a:p>
              <a:pPr algn="ctr" defTabSz="951028" fontAlgn="base">
                <a:lnSpc>
                  <a:spcPct val="90000"/>
                </a:lnSpc>
                <a:spcBef>
                  <a:spcPct val="0"/>
                </a:spcBef>
                <a:spcAft>
                  <a:spcPct val="0"/>
                </a:spcAft>
              </a:pPr>
              <a:r>
                <a:rPr lang="en-US" sz="1632" dirty="0">
                  <a:ea typeface="Segoe UI" pitchFamily="34" charset="0"/>
                  <a:cs typeface="Segoe UI" pitchFamily="34" charset="0"/>
                </a:rPr>
                <a:t>Azure</a:t>
              </a:r>
            </a:p>
            <a:p>
              <a:pPr algn="ctr" defTabSz="951028" fontAlgn="base">
                <a:lnSpc>
                  <a:spcPct val="90000"/>
                </a:lnSpc>
                <a:spcBef>
                  <a:spcPct val="0"/>
                </a:spcBef>
                <a:spcAft>
                  <a:spcPct val="0"/>
                </a:spcAft>
              </a:pPr>
              <a:r>
                <a:rPr lang="en-US" sz="1632" dirty="0">
                  <a:ea typeface="Segoe UI" pitchFamily="34" charset="0"/>
                  <a:cs typeface="Segoe UI" pitchFamily="34" charset="0"/>
                </a:rPr>
                <a:t>firewall</a:t>
              </a:r>
            </a:p>
          </p:txBody>
        </p:sp>
      </p:grpSp>
      <p:grpSp>
        <p:nvGrpSpPr>
          <p:cNvPr id="35" name="Group 34" descr="Network diagram for student activity">
            <a:extLst>
              <a:ext uri="{FF2B5EF4-FFF2-40B4-BE49-F238E27FC236}">
                <a16:creationId xmlns:a16="http://schemas.microsoft.com/office/drawing/2014/main" id="{7C19CFB6-D0FD-6095-F251-0D068149C06A}"/>
              </a:ext>
            </a:extLst>
          </p:cNvPr>
          <p:cNvGrpSpPr/>
          <p:nvPr/>
        </p:nvGrpSpPr>
        <p:grpSpPr>
          <a:xfrm>
            <a:off x="463282" y="1294385"/>
            <a:ext cx="11858564" cy="3142923"/>
            <a:chOff x="383901" y="1240999"/>
            <a:chExt cx="11858564" cy="3142923"/>
          </a:xfrm>
        </p:grpSpPr>
        <p:sp>
          <p:nvSpPr>
            <p:cNvPr id="36" name="Rectangle 35">
              <a:extLst>
                <a:ext uri="{FF2B5EF4-FFF2-40B4-BE49-F238E27FC236}">
                  <a16:creationId xmlns:a16="http://schemas.microsoft.com/office/drawing/2014/main" id="{929D0F92-C982-13A6-2C05-639933AAB09D}"/>
                </a:ext>
              </a:extLst>
            </p:cNvPr>
            <p:cNvSpPr/>
            <p:nvPr/>
          </p:nvSpPr>
          <p:spPr bwMode="auto">
            <a:xfrm>
              <a:off x="7931069" y="2017662"/>
              <a:ext cx="3158697" cy="1960259"/>
            </a:xfrm>
            <a:prstGeom prst="rect">
              <a:avLst/>
            </a:prstGeom>
            <a:solidFill>
              <a:schemeClr val="bg1"/>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7" name="Rectangle 36">
              <a:extLst>
                <a:ext uri="{FF2B5EF4-FFF2-40B4-BE49-F238E27FC236}">
                  <a16:creationId xmlns:a16="http://schemas.microsoft.com/office/drawing/2014/main" id="{75F7F24B-670E-AB8E-1A77-4E83247F2733}"/>
                </a:ext>
              </a:extLst>
            </p:cNvPr>
            <p:cNvSpPr/>
            <p:nvPr/>
          </p:nvSpPr>
          <p:spPr bwMode="auto">
            <a:xfrm>
              <a:off x="8109935" y="2205539"/>
              <a:ext cx="1034780" cy="73864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8" name="Rectangle 37">
              <a:extLst>
                <a:ext uri="{FF2B5EF4-FFF2-40B4-BE49-F238E27FC236}">
                  <a16:creationId xmlns:a16="http://schemas.microsoft.com/office/drawing/2014/main" id="{729A064F-606D-AE4B-C1DD-A0F0721D40EE}"/>
                </a:ext>
              </a:extLst>
            </p:cNvPr>
            <p:cNvSpPr/>
            <p:nvPr/>
          </p:nvSpPr>
          <p:spPr bwMode="auto">
            <a:xfrm>
              <a:off x="2951944" y="2042457"/>
              <a:ext cx="3158697" cy="1935464"/>
            </a:xfrm>
            <a:prstGeom prst="rect">
              <a:avLst/>
            </a:prstGeom>
            <a:solidFill>
              <a:schemeClr val="bg1"/>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9" name="Rectangle 38">
              <a:extLst>
                <a:ext uri="{FF2B5EF4-FFF2-40B4-BE49-F238E27FC236}">
                  <a16:creationId xmlns:a16="http://schemas.microsoft.com/office/drawing/2014/main" id="{1B94F514-8F93-3859-E5A8-7FEEAADA14BF}"/>
                </a:ext>
              </a:extLst>
            </p:cNvPr>
            <p:cNvSpPr/>
            <p:nvPr/>
          </p:nvSpPr>
          <p:spPr bwMode="auto">
            <a:xfrm>
              <a:off x="3144866" y="2260011"/>
              <a:ext cx="1399546" cy="71531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r" defTabSz="932293" fontAlgn="base">
                <a:lnSpc>
                  <a:spcPct val="90000"/>
                </a:lnSpc>
                <a:spcBef>
                  <a:spcPct val="0"/>
                </a:spcBef>
                <a:spcAft>
                  <a:spcPct val="0"/>
                </a:spcAft>
              </a:pPr>
              <a:r>
                <a:rPr lang="en-US" sz="1836" dirty="0">
                  <a:solidFill>
                    <a:schemeClr val="tx1"/>
                  </a:solidFill>
                  <a:highlight>
                    <a:srgbClr val="00FF00"/>
                  </a:highlight>
                  <a:latin typeface="Segoe UI"/>
                  <a:ea typeface="Segoe UI" pitchFamily="34" charset="0"/>
                  <a:cs typeface="Segoe UI" pitchFamily="34" charset="0"/>
                </a:rPr>
                <a:t>Name</a:t>
              </a:r>
              <a:r>
                <a:rPr lang="en-US" sz="1836" dirty="0">
                  <a:solidFill>
                    <a:schemeClr val="tx1"/>
                  </a:solidFill>
                  <a:latin typeface="Segoe UI"/>
                  <a:ea typeface="Segoe UI" pitchFamily="34" charset="0"/>
                  <a:cs typeface="Segoe UI" pitchFamily="34" charset="0"/>
                </a:rPr>
                <a:t>?</a:t>
              </a:r>
            </a:p>
          </p:txBody>
        </p:sp>
        <p:sp>
          <p:nvSpPr>
            <p:cNvPr id="40" name="Rectangle 39">
              <a:extLst>
                <a:ext uri="{FF2B5EF4-FFF2-40B4-BE49-F238E27FC236}">
                  <a16:creationId xmlns:a16="http://schemas.microsoft.com/office/drawing/2014/main" id="{47228C8C-33B1-1CB4-DFFB-6C59D6B73679}"/>
                </a:ext>
              </a:extLst>
            </p:cNvPr>
            <p:cNvSpPr/>
            <p:nvPr/>
          </p:nvSpPr>
          <p:spPr bwMode="auto">
            <a:xfrm>
              <a:off x="383901" y="3537409"/>
              <a:ext cx="1785274" cy="8465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r>
                <a:rPr lang="en-US" sz="1632" dirty="0">
                  <a:solidFill>
                    <a:srgbClr val="000000"/>
                  </a:solidFill>
                  <a:latin typeface="Segoe UI"/>
                  <a:ea typeface="Segoe UI" pitchFamily="34" charset="0"/>
                  <a:cs typeface="Segoe UI" pitchFamily="34" charset="0"/>
                </a:rPr>
                <a:t>On-premises network</a:t>
              </a:r>
            </a:p>
          </p:txBody>
        </p:sp>
        <p:pic>
          <p:nvPicPr>
            <p:cNvPr id="41" name="Picture 40">
              <a:extLst>
                <a:ext uri="{FF2B5EF4-FFF2-40B4-BE49-F238E27FC236}">
                  <a16:creationId xmlns:a16="http://schemas.microsoft.com/office/drawing/2014/main" id="{BF3067ED-8317-448B-52DA-8FD4E798BE9E}"/>
                </a:ext>
              </a:extLst>
            </p:cNvPr>
            <p:cNvPicPr>
              <a:picLocks noChangeAspect="1"/>
            </p:cNvPicPr>
            <p:nvPr/>
          </p:nvPicPr>
          <p:blipFill>
            <a:blip r:embed="rId23"/>
            <a:stretch>
              <a:fillRect/>
            </a:stretch>
          </p:blipFill>
          <p:spPr>
            <a:xfrm>
              <a:off x="864271" y="2300126"/>
              <a:ext cx="788964" cy="539102"/>
            </a:xfrm>
            <a:prstGeom prst="rect">
              <a:avLst/>
            </a:prstGeom>
          </p:spPr>
        </p:pic>
        <p:pic>
          <p:nvPicPr>
            <p:cNvPr id="42" name="Graphic 41" descr="City outline">
              <a:extLst>
                <a:ext uri="{FF2B5EF4-FFF2-40B4-BE49-F238E27FC236}">
                  <a16:creationId xmlns:a16="http://schemas.microsoft.com/office/drawing/2014/main" id="{03C8F8D4-3326-8457-B18C-CF4B4279C608}"/>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77604" y="2986235"/>
              <a:ext cx="875629" cy="875704"/>
            </a:xfrm>
            <a:prstGeom prst="rect">
              <a:avLst/>
            </a:prstGeom>
          </p:spPr>
        </p:pic>
        <p:sp>
          <p:nvSpPr>
            <p:cNvPr id="43" name="Rectangle 42">
              <a:extLst>
                <a:ext uri="{FF2B5EF4-FFF2-40B4-BE49-F238E27FC236}">
                  <a16:creationId xmlns:a16="http://schemas.microsoft.com/office/drawing/2014/main" id="{31776362-2296-7127-F904-7E1AEE9090D1}"/>
                </a:ext>
              </a:extLst>
            </p:cNvPr>
            <p:cNvSpPr/>
            <p:nvPr/>
          </p:nvSpPr>
          <p:spPr bwMode="auto">
            <a:xfrm>
              <a:off x="470114" y="1589017"/>
              <a:ext cx="1781062" cy="8465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r>
                <a:rPr lang="en-US" sz="1632" dirty="0">
                  <a:solidFill>
                    <a:srgbClr val="000000"/>
                  </a:solidFill>
                  <a:latin typeface="Segoe UI"/>
                  <a:ea typeface="Segoe UI" pitchFamily="34" charset="0"/>
                  <a:cs typeface="Segoe UI" pitchFamily="34" charset="0"/>
                </a:rPr>
                <a:t>On-premises machine</a:t>
              </a:r>
            </a:p>
          </p:txBody>
        </p:sp>
        <p:pic>
          <p:nvPicPr>
            <p:cNvPr id="44" name="Graphic 43">
              <a:extLst>
                <a:ext uri="{FF2B5EF4-FFF2-40B4-BE49-F238E27FC236}">
                  <a16:creationId xmlns:a16="http://schemas.microsoft.com/office/drawing/2014/main" id="{6798B699-850A-3D1D-1C83-17C0FEA41605}"/>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8294301" y="2367971"/>
              <a:ext cx="355129" cy="355670"/>
            </a:xfrm>
            <a:prstGeom prst="rect">
              <a:avLst/>
            </a:prstGeom>
          </p:spPr>
        </p:pic>
        <p:pic>
          <p:nvPicPr>
            <p:cNvPr id="45" name="Graphic 44">
              <a:extLst>
                <a:ext uri="{FF2B5EF4-FFF2-40B4-BE49-F238E27FC236}">
                  <a16:creationId xmlns:a16="http://schemas.microsoft.com/office/drawing/2014/main" id="{AF8BC4F5-752F-0CDC-C571-7E28F79E299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074725" y="2094743"/>
              <a:ext cx="432112" cy="432600"/>
            </a:xfrm>
            <a:prstGeom prst="rect">
              <a:avLst/>
            </a:prstGeom>
          </p:spPr>
        </p:pic>
        <p:pic>
          <p:nvPicPr>
            <p:cNvPr id="46" name="Graphic 45">
              <a:extLst>
                <a:ext uri="{FF2B5EF4-FFF2-40B4-BE49-F238E27FC236}">
                  <a16:creationId xmlns:a16="http://schemas.microsoft.com/office/drawing/2014/main" id="{B4EDF5A2-F5F8-09D9-E911-B5BA9B7BDA5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161545" y="2377224"/>
              <a:ext cx="444602" cy="445104"/>
            </a:xfrm>
            <a:prstGeom prst="rect">
              <a:avLst/>
            </a:prstGeom>
          </p:spPr>
        </p:pic>
        <p:pic>
          <p:nvPicPr>
            <p:cNvPr id="47" name="Graphic 46">
              <a:extLst>
                <a:ext uri="{FF2B5EF4-FFF2-40B4-BE49-F238E27FC236}">
                  <a16:creationId xmlns:a16="http://schemas.microsoft.com/office/drawing/2014/main" id="{D808A1ED-B5CA-A991-2BDE-F2DC71984E3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516449" y="1812743"/>
              <a:ext cx="409375" cy="409837"/>
            </a:xfrm>
            <a:prstGeom prst="rect">
              <a:avLst/>
            </a:prstGeom>
          </p:spPr>
        </p:pic>
        <p:pic>
          <p:nvPicPr>
            <p:cNvPr id="48" name="Graphic 47">
              <a:extLst>
                <a:ext uri="{FF2B5EF4-FFF2-40B4-BE49-F238E27FC236}">
                  <a16:creationId xmlns:a16="http://schemas.microsoft.com/office/drawing/2014/main" id="{B02BBA13-5525-1F57-1E9A-F7267C38FE6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67235" y="3390046"/>
              <a:ext cx="432112" cy="432600"/>
            </a:xfrm>
            <a:prstGeom prst="rect">
              <a:avLst/>
            </a:prstGeom>
          </p:spPr>
        </p:pic>
        <p:grpSp>
          <p:nvGrpSpPr>
            <p:cNvPr id="49" name="Group 48">
              <a:extLst>
                <a:ext uri="{FF2B5EF4-FFF2-40B4-BE49-F238E27FC236}">
                  <a16:creationId xmlns:a16="http://schemas.microsoft.com/office/drawing/2014/main" id="{CC67D449-2475-3405-72BB-66C300073B62}"/>
                </a:ext>
              </a:extLst>
            </p:cNvPr>
            <p:cNvGrpSpPr/>
            <p:nvPr/>
          </p:nvGrpSpPr>
          <p:grpSpPr>
            <a:xfrm>
              <a:off x="4704950" y="2225563"/>
              <a:ext cx="1220872" cy="1570567"/>
              <a:chOff x="4287843" y="2365805"/>
              <a:chExt cx="1251172" cy="1607729"/>
            </a:xfrm>
          </p:grpSpPr>
          <p:sp>
            <p:nvSpPr>
              <p:cNvPr id="77" name="Rectangle 76">
                <a:extLst>
                  <a:ext uri="{FF2B5EF4-FFF2-40B4-BE49-F238E27FC236}">
                    <a16:creationId xmlns:a16="http://schemas.microsoft.com/office/drawing/2014/main" id="{4663EBF6-DCD3-52E9-AC53-5F6D1F412E8C}"/>
                  </a:ext>
                </a:extLst>
              </p:cNvPr>
              <p:cNvSpPr/>
              <p:nvPr/>
            </p:nvSpPr>
            <p:spPr bwMode="auto">
              <a:xfrm>
                <a:off x="4287843" y="2365805"/>
                <a:ext cx="1251172" cy="16077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78" name="Graphic 77">
                <a:extLst>
                  <a:ext uri="{FF2B5EF4-FFF2-40B4-BE49-F238E27FC236}">
                    <a16:creationId xmlns:a16="http://schemas.microsoft.com/office/drawing/2014/main" id="{4BD86BFC-39E8-5E07-665A-DC8E4AE7705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594515" y="2536573"/>
                <a:ext cx="611202" cy="611202"/>
              </a:xfrm>
              <a:prstGeom prst="rect">
                <a:avLst/>
              </a:prstGeom>
            </p:spPr>
          </p:pic>
          <p:pic>
            <p:nvPicPr>
              <p:cNvPr id="79" name="Graphic 78">
                <a:extLst>
                  <a:ext uri="{FF2B5EF4-FFF2-40B4-BE49-F238E27FC236}">
                    <a16:creationId xmlns:a16="http://schemas.microsoft.com/office/drawing/2014/main" id="{72E73AB1-BD20-B5B4-811C-DC25F991C11A}"/>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598497" y="3258135"/>
                <a:ext cx="611202" cy="611202"/>
              </a:xfrm>
              <a:prstGeom prst="rect">
                <a:avLst/>
              </a:prstGeom>
            </p:spPr>
          </p:pic>
        </p:grpSp>
        <p:pic>
          <p:nvPicPr>
            <p:cNvPr id="50" name="Graphic 49">
              <a:extLst>
                <a:ext uri="{FF2B5EF4-FFF2-40B4-BE49-F238E27FC236}">
                  <a16:creationId xmlns:a16="http://schemas.microsoft.com/office/drawing/2014/main" id="{5DF44AF2-7C9A-9505-1A27-3249B35BD8C8}"/>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181593" y="1807356"/>
              <a:ext cx="409375" cy="409837"/>
            </a:xfrm>
            <a:prstGeom prst="rect">
              <a:avLst/>
            </a:prstGeom>
          </p:spPr>
        </p:pic>
        <p:pic>
          <p:nvPicPr>
            <p:cNvPr id="51" name="Graphic 50">
              <a:extLst>
                <a:ext uri="{FF2B5EF4-FFF2-40B4-BE49-F238E27FC236}">
                  <a16:creationId xmlns:a16="http://schemas.microsoft.com/office/drawing/2014/main" id="{83B92CC6-7ABA-4E8E-CE4C-F2851842CC4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46348" y="1256571"/>
              <a:ext cx="544433" cy="545047"/>
            </a:xfrm>
            <a:prstGeom prst="rect">
              <a:avLst/>
            </a:prstGeom>
          </p:spPr>
        </p:pic>
        <p:cxnSp>
          <p:nvCxnSpPr>
            <p:cNvPr id="52" name="Connector: Elbow 51">
              <a:extLst>
                <a:ext uri="{FF2B5EF4-FFF2-40B4-BE49-F238E27FC236}">
                  <a16:creationId xmlns:a16="http://schemas.microsoft.com/office/drawing/2014/main" id="{AAED1DDE-0A5C-BB87-EB1F-03500C09302A}"/>
                </a:ext>
              </a:extLst>
            </p:cNvPr>
            <p:cNvCxnSpPr>
              <a:cxnSpLocks/>
              <a:stCxn id="47" idx="0"/>
              <a:endCxn id="50" idx="0"/>
            </p:cNvCxnSpPr>
            <p:nvPr/>
          </p:nvCxnSpPr>
          <p:spPr>
            <a:xfrm rot="5400000" flipH="1" flipV="1">
              <a:off x="7051015" y="477478"/>
              <a:ext cx="5387" cy="2665146"/>
            </a:xfrm>
            <a:prstGeom prst="bentConnector3">
              <a:avLst>
                <a:gd name="adj1" fmla="val 4245059"/>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3" name="Rectangle 52">
              <a:extLst>
                <a:ext uri="{FF2B5EF4-FFF2-40B4-BE49-F238E27FC236}">
                  <a16:creationId xmlns:a16="http://schemas.microsoft.com/office/drawing/2014/main" id="{AB204C2A-307B-6DB8-2740-166D89781157}"/>
                </a:ext>
              </a:extLst>
            </p:cNvPr>
            <p:cNvSpPr/>
            <p:nvPr/>
          </p:nvSpPr>
          <p:spPr bwMode="auto">
            <a:xfrm>
              <a:off x="3144866" y="3080820"/>
              <a:ext cx="1399546" cy="71531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ctr" anchorCtr="0" forceAA="0" compatLnSpc="1">
              <a:prstTxWarp prst="textNoShape">
                <a:avLst/>
              </a:prstTxWarp>
              <a:noAutofit/>
            </a:bodyPr>
            <a:lstStyle/>
            <a:p>
              <a:pPr algn="r" defTabSz="932293" fontAlgn="base">
                <a:lnSpc>
                  <a:spcPct val="90000"/>
                </a:lnSpc>
                <a:spcBef>
                  <a:spcPct val="0"/>
                </a:spcBef>
                <a:spcAft>
                  <a:spcPct val="0"/>
                </a:spcAft>
              </a:pPr>
              <a:r>
                <a:rPr lang="en-US" sz="1836" dirty="0">
                  <a:solidFill>
                    <a:schemeClr val="tx1"/>
                  </a:solidFill>
                  <a:highlight>
                    <a:srgbClr val="00FF00"/>
                  </a:highlight>
                  <a:latin typeface="Segoe UI"/>
                  <a:ea typeface="Segoe UI" pitchFamily="34" charset="0"/>
                  <a:cs typeface="Segoe UI" pitchFamily="34" charset="0"/>
                </a:rPr>
                <a:t>Name</a:t>
              </a:r>
              <a:r>
                <a:rPr lang="en-US" sz="1836" dirty="0">
                  <a:solidFill>
                    <a:schemeClr val="tx1"/>
                  </a:solidFill>
                  <a:latin typeface="Segoe UI"/>
                  <a:ea typeface="Segoe UI" pitchFamily="34" charset="0"/>
                  <a:cs typeface="Segoe UI" pitchFamily="34" charset="0"/>
                </a:rPr>
                <a:t>?</a:t>
              </a:r>
            </a:p>
          </p:txBody>
        </p:sp>
        <p:pic>
          <p:nvPicPr>
            <p:cNvPr id="54" name="Graphic 53">
              <a:extLst>
                <a:ext uri="{FF2B5EF4-FFF2-40B4-BE49-F238E27FC236}">
                  <a16:creationId xmlns:a16="http://schemas.microsoft.com/office/drawing/2014/main" id="{859A67CE-B373-B7A6-5581-7312FBF0C2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211913" y="3222721"/>
              <a:ext cx="444602" cy="445104"/>
            </a:xfrm>
            <a:prstGeom prst="rect">
              <a:avLst/>
            </a:prstGeom>
          </p:spPr>
        </p:pic>
        <p:grpSp>
          <p:nvGrpSpPr>
            <p:cNvPr id="55" name="Group 54">
              <a:extLst>
                <a:ext uri="{FF2B5EF4-FFF2-40B4-BE49-F238E27FC236}">
                  <a16:creationId xmlns:a16="http://schemas.microsoft.com/office/drawing/2014/main" id="{A5958029-F3C9-7B84-6E35-12AFDF273BAE}"/>
                </a:ext>
              </a:extLst>
            </p:cNvPr>
            <p:cNvGrpSpPr/>
            <p:nvPr/>
          </p:nvGrpSpPr>
          <p:grpSpPr>
            <a:xfrm>
              <a:off x="9271428" y="2200125"/>
              <a:ext cx="1220872" cy="1570567"/>
              <a:chOff x="4287843" y="2365805"/>
              <a:chExt cx="1251172" cy="1607729"/>
            </a:xfrm>
          </p:grpSpPr>
          <p:sp>
            <p:nvSpPr>
              <p:cNvPr id="74" name="Rectangle 73">
                <a:extLst>
                  <a:ext uri="{FF2B5EF4-FFF2-40B4-BE49-F238E27FC236}">
                    <a16:creationId xmlns:a16="http://schemas.microsoft.com/office/drawing/2014/main" id="{577BB8E5-936E-DAA8-7782-213CAA5657C7}"/>
                  </a:ext>
                </a:extLst>
              </p:cNvPr>
              <p:cNvSpPr/>
              <p:nvPr/>
            </p:nvSpPr>
            <p:spPr bwMode="auto">
              <a:xfrm>
                <a:off x="4287843" y="2365805"/>
                <a:ext cx="1251172" cy="16077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75" name="Graphic 74">
                <a:extLst>
                  <a:ext uri="{FF2B5EF4-FFF2-40B4-BE49-F238E27FC236}">
                    <a16:creationId xmlns:a16="http://schemas.microsoft.com/office/drawing/2014/main" id="{9610C2D5-C501-47DB-27B2-7BCDA52C30FF}"/>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467419" y="2536573"/>
                <a:ext cx="588961" cy="588962"/>
              </a:xfrm>
              <a:prstGeom prst="rect">
                <a:avLst/>
              </a:prstGeom>
            </p:spPr>
          </p:pic>
          <p:pic>
            <p:nvPicPr>
              <p:cNvPr id="76" name="Graphic 75">
                <a:extLst>
                  <a:ext uri="{FF2B5EF4-FFF2-40B4-BE49-F238E27FC236}">
                    <a16:creationId xmlns:a16="http://schemas.microsoft.com/office/drawing/2014/main" id="{A25924A8-38C5-5F8E-A7BA-D32227ADB11A}"/>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479029" y="3258135"/>
                <a:ext cx="574726" cy="574726"/>
              </a:xfrm>
              <a:prstGeom prst="rect">
                <a:avLst/>
              </a:prstGeom>
            </p:spPr>
          </p:pic>
        </p:grpSp>
        <p:pic>
          <p:nvPicPr>
            <p:cNvPr id="56" name="Graphic 55">
              <a:extLst>
                <a:ext uri="{FF2B5EF4-FFF2-40B4-BE49-F238E27FC236}">
                  <a16:creationId xmlns:a16="http://schemas.microsoft.com/office/drawing/2014/main" id="{E5CB8CD6-D7B0-4C04-E468-8B817F9AA75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373129" y="2679909"/>
              <a:ext cx="529777" cy="530375"/>
            </a:xfrm>
            <a:prstGeom prst="rect">
              <a:avLst/>
            </a:prstGeom>
          </p:spPr>
        </p:pic>
        <p:cxnSp>
          <p:nvCxnSpPr>
            <p:cNvPr id="57" name="Connector: Elbow 56">
              <a:extLst>
                <a:ext uri="{FF2B5EF4-FFF2-40B4-BE49-F238E27FC236}">
                  <a16:creationId xmlns:a16="http://schemas.microsoft.com/office/drawing/2014/main" id="{88C2FAC9-28C7-41E5-BE57-EC06D66A0CBA}"/>
                </a:ext>
              </a:extLst>
            </p:cNvPr>
            <p:cNvCxnSpPr>
              <a:cxnSpLocks/>
              <a:stCxn id="41" idx="3"/>
              <a:endCxn id="38" idx="1"/>
            </p:cNvCxnSpPr>
            <p:nvPr/>
          </p:nvCxnSpPr>
          <p:spPr>
            <a:xfrm>
              <a:off x="1653235" y="2569677"/>
              <a:ext cx="1298709" cy="440512"/>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cxnSp>
          <p:nvCxnSpPr>
            <p:cNvPr id="58" name="Connector: Elbow 57">
              <a:extLst>
                <a:ext uri="{FF2B5EF4-FFF2-40B4-BE49-F238E27FC236}">
                  <a16:creationId xmlns:a16="http://schemas.microsoft.com/office/drawing/2014/main" id="{A5948090-4A1A-7DDB-4FE0-6E9DB14CA50A}"/>
                </a:ext>
              </a:extLst>
            </p:cNvPr>
            <p:cNvCxnSpPr>
              <a:cxnSpLocks/>
              <a:stCxn id="42" idx="3"/>
              <a:endCxn id="38" idx="1"/>
            </p:cNvCxnSpPr>
            <p:nvPr/>
          </p:nvCxnSpPr>
          <p:spPr>
            <a:xfrm flipV="1">
              <a:off x="1653234" y="3010189"/>
              <a:ext cx="1298710" cy="413898"/>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pic>
          <p:nvPicPr>
            <p:cNvPr id="59" name="Graphic 58" descr="User with solid fill">
              <a:extLst>
                <a:ext uri="{FF2B5EF4-FFF2-40B4-BE49-F238E27FC236}">
                  <a16:creationId xmlns:a16="http://schemas.microsoft.com/office/drawing/2014/main" id="{0F7B918F-70C7-3AA8-C134-5BF719F6AC57}"/>
                </a:ext>
              </a:extLst>
            </p:cNvPr>
            <p:cNvPicPr>
              <a:picLocks noChangeAspect="1"/>
            </p:cNvPicPr>
            <p:nvPr/>
          </p:nvPicPr>
          <p:blipFill>
            <a:blip r:embed="rId32">
              <a:duotone>
                <a:schemeClr val="accent4">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1473756" y="2571990"/>
              <a:ext cx="768709" cy="769577"/>
            </a:xfrm>
            <a:prstGeom prst="rect">
              <a:avLst/>
            </a:prstGeom>
          </p:spPr>
        </p:pic>
        <p:cxnSp>
          <p:nvCxnSpPr>
            <p:cNvPr id="60" name="Connector: Elbow 59">
              <a:extLst>
                <a:ext uri="{FF2B5EF4-FFF2-40B4-BE49-F238E27FC236}">
                  <a16:creationId xmlns:a16="http://schemas.microsoft.com/office/drawing/2014/main" id="{D40AB7A9-1473-28D7-3FA1-E355BC8234A7}"/>
                </a:ext>
              </a:extLst>
            </p:cNvPr>
            <p:cNvCxnSpPr>
              <a:cxnSpLocks/>
              <a:stCxn id="59" idx="1"/>
              <a:endCxn id="65" idx="3"/>
            </p:cNvCxnSpPr>
            <p:nvPr/>
          </p:nvCxnSpPr>
          <p:spPr>
            <a:xfrm rot="10800000">
              <a:off x="10945823" y="2952797"/>
              <a:ext cx="527934" cy="3983"/>
            </a:xfrm>
            <a:prstGeom prst="bentConnector3">
              <a:avLst>
                <a:gd name="adj1" fmla="val 50000"/>
              </a:avLst>
            </a:prstGeom>
            <a:ln w="9525">
              <a:headEnd type="none"/>
              <a:tailEnd type="triangle"/>
            </a:ln>
          </p:spPr>
          <p:style>
            <a:lnRef idx="1">
              <a:schemeClr val="dk1"/>
            </a:lnRef>
            <a:fillRef idx="0">
              <a:schemeClr val="dk1"/>
            </a:fillRef>
            <a:effectRef idx="0">
              <a:schemeClr val="dk1"/>
            </a:effectRef>
            <a:fontRef idx="minor">
              <a:schemeClr val="tx1"/>
            </a:fontRef>
          </p:style>
        </p:cxnSp>
        <p:cxnSp>
          <p:nvCxnSpPr>
            <p:cNvPr id="61" name="Connector: Elbow 60">
              <a:extLst>
                <a:ext uri="{FF2B5EF4-FFF2-40B4-BE49-F238E27FC236}">
                  <a16:creationId xmlns:a16="http://schemas.microsoft.com/office/drawing/2014/main" id="{B5CCA6E4-D1A2-32A8-6193-A62BB8C77352}"/>
                </a:ext>
              </a:extLst>
            </p:cNvPr>
            <p:cNvCxnSpPr>
              <a:cxnSpLocks/>
              <a:stCxn id="77" idx="3"/>
              <a:endCxn id="44" idx="3"/>
            </p:cNvCxnSpPr>
            <p:nvPr/>
          </p:nvCxnSpPr>
          <p:spPr>
            <a:xfrm flipV="1">
              <a:off x="5925822" y="2558141"/>
              <a:ext cx="2183438" cy="440370"/>
            </a:xfrm>
            <a:prstGeom prst="bentConnector3">
              <a:avLst>
                <a:gd name="adj1" fmla="val 50000"/>
              </a:avLst>
            </a:prstGeom>
            <a:ln w="9525">
              <a:headEnd type="none"/>
              <a:tailEnd type="triangle"/>
            </a:ln>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BBCA1D8A-D326-4C89-6BFC-62CC3397288D}"/>
                </a:ext>
              </a:extLst>
            </p:cNvPr>
            <p:cNvSpPr/>
            <p:nvPr/>
          </p:nvSpPr>
          <p:spPr bwMode="auto">
            <a:xfrm>
              <a:off x="6713950" y="1240999"/>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sp>
          <p:nvSpPr>
            <p:cNvPr id="63" name="Rectangle 62">
              <a:extLst>
                <a:ext uri="{FF2B5EF4-FFF2-40B4-BE49-F238E27FC236}">
                  <a16:creationId xmlns:a16="http://schemas.microsoft.com/office/drawing/2014/main" id="{65CD4AB6-7E42-6BD2-00EF-EFFB4868E9BC}"/>
                </a:ext>
              </a:extLst>
            </p:cNvPr>
            <p:cNvSpPr/>
            <p:nvPr/>
          </p:nvSpPr>
          <p:spPr bwMode="auto">
            <a:xfrm>
              <a:off x="7021019" y="1983094"/>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sp>
          <p:nvSpPr>
            <p:cNvPr id="64" name="Rectangle 63">
              <a:extLst>
                <a:ext uri="{FF2B5EF4-FFF2-40B4-BE49-F238E27FC236}">
                  <a16:creationId xmlns:a16="http://schemas.microsoft.com/office/drawing/2014/main" id="{40C4D220-35B3-7425-B012-7890AD29E077}"/>
                </a:ext>
              </a:extLst>
            </p:cNvPr>
            <p:cNvSpPr/>
            <p:nvPr/>
          </p:nvSpPr>
          <p:spPr bwMode="auto">
            <a:xfrm>
              <a:off x="6983327" y="3373582"/>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sp>
          <p:nvSpPr>
            <p:cNvPr id="65" name="Rectangle 64">
              <a:extLst>
                <a:ext uri="{FF2B5EF4-FFF2-40B4-BE49-F238E27FC236}">
                  <a16:creationId xmlns:a16="http://schemas.microsoft.com/office/drawing/2014/main" id="{69305874-3D7B-F384-5197-8B7CB2C5D80D}"/>
                </a:ext>
              </a:extLst>
            </p:cNvPr>
            <p:cNvSpPr/>
            <p:nvPr/>
          </p:nvSpPr>
          <p:spPr bwMode="auto">
            <a:xfrm>
              <a:off x="10336594" y="2675879"/>
              <a:ext cx="609228" cy="553834"/>
            </a:xfrm>
            <a:prstGeom prst="rect">
              <a:avLst/>
            </a:prstGeom>
            <a:solidFill>
              <a:srgbClr val="00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2040" dirty="0">
                  <a:solidFill>
                    <a:schemeClr val="tx1"/>
                  </a:solidFill>
                  <a:ea typeface="Segoe UI" pitchFamily="34" charset="0"/>
                  <a:cs typeface="Segoe UI" pitchFamily="34" charset="0"/>
                </a:rPr>
                <a:t>??</a:t>
              </a:r>
            </a:p>
          </p:txBody>
        </p:sp>
        <p:cxnSp>
          <p:nvCxnSpPr>
            <p:cNvPr id="66" name="Connector: Elbow 65">
              <a:extLst>
                <a:ext uri="{FF2B5EF4-FFF2-40B4-BE49-F238E27FC236}">
                  <a16:creationId xmlns:a16="http://schemas.microsoft.com/office/drawing/2014/main" id="{7FE25202-72FB-1EF3-E3BE-FFC7D249408C}"/>
                </a:ext>
              </a:extLst>
            </p:cNvPr>
            <p:cNvCxnSpPr>
              <a:cxnSpLocks/>
              <a:stCxn id="65" idx="1"/>
              <a:endCxn id="75" idx="3"/>
            </p:cNvCxnSpPr>
            <p:nvPr/>
          </p:nvCxnSpPr>
          <p:spPr>
            <a:xfrm rot="10800000">
              <a:off x="10021355" y="2654620"/>
              <a:ext cx="315240" cy="298176"/>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cxnSp>
          <p:nvCxnSpPr>
            <p:cNvPr id="67" name="Connector: Elbow 66">
              <a:extLst>
                <a:ext uri="{FF2B5EF4-FFF2-40B4-BE49-F238E27FC236}">
                  <a16:creationId xmlns:a16="http://schemas.microsoft.com/office/drawing/2014/main" id="{6075AC90-0A70-A263-328F-04A8ABCC26FF}"/>
                </a:ext>
              </a:extLst>
            </p:cNvPr>
            <p:cNvCxnSpPr>
              <a:cxnSpLocks/>
              <a:stCxn id="65" idx="1"/>
              <a:endCxn id="76" idx="3"/>
            </p:cNvCxnSpPr>
            <p:nvPr/>
          </p:nvCxnSpPr>
          <p:spPr>
            <a:xfrm rot="10800000" flipV="1">
              <a:off x="10018793" y="2952795"/>
              <a:ext cx="317802" cy="399754"/>
            </a:xfrm>
            <a:prstGeom prst="bentConnector3">
              <a:avLst/>
            </a:prstGeom>
            <a:ln w="9525">
              <a:headEnd type="none"/>
              <a:tailEnd type="triangle"/>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949E12EC-2092-75FE-C341-8F34A0F3D6AB}"/>
                </a:ext>
              </a:extLst>
            </p:cNvPr>
            <p:cNvSpPr txBox="1"/>
            <p:nvPr/>
          </p:nvSpPr>
          <p:spPr>
            <a:xfrm>
              <a:off x="1740335" y="2193202"/>
              <a:ext cx="969859" cy="353469"/>
            </a:xfrm>
            <a:prstGeom prst="rect">
              <a:avLst/>
            </a:prstGeom>
            <a:noFill/>
          </p:spPr>
          <p:txBody>
            <a:bodyPr wrap="square">
              <a:spAutoFit/>
            </a:bodyPr>
            <a:lstStyle/>
            <a:p>
              <a:pPr algn="r" defTabSz="932293" fontAlgn="base">
                <a:lnSpc>
                  <a:spcPct val="90000"/>
                </a:lnSpc>
                <a:spcBef>
                  <a:spcPct val="0"/>
                </a:spcBef>
                <a:spcAft>
                  <a:spcPct val="0"/>
                </a:spcAft>
              </a:pPr>
              <a:r>
                <a:rPr lang="en-US" sz="1836" dirty="0">
                  <a:highlight>
                    <a:srgbClr val="00FF00"/>
                  </a:highlight>
                  <a:latin typeface="Segoe UI"/>
                  <a:ea typeface="Segoe UI" pitchFamily="34" charset="0"/>
                  <a:cs typeface="Segoe UI" pitchFamily="34" charset="0"/>
                </a:rPr>
                <a:t>Name</a:t>
              </a:r>
              <a:r>
                <a:rPr lang="en-US" sz="1836" dirty="0">
                  <a:latin typeface="Segoe UI"/>
                  <a:ea typeface="Segoe UI" pitchFamily="34" charset="0"/>
                  <a:cs typeface="Segoe UI" pitchFamily="34" charset="0"/>
                </a:rPr>
                <a:t>?</a:t>
              </a:r>
            </a:p>
          </p:txBody>
        </p:sp>
        <p:sp>
          <p:nvSpPr>
            <p:cNvPr id="69" name="TextBox 68">
              <a:extLst>
                <a:ext uri="{FF2B5EF4-FFF2-40B4-BE49-F238E27FC236}">
                  <a16:creationId xmlns:a16="http://schemas.microsoft.com/office/drawing/2014/main" id="{79FC68AB-8923-990E-585F-623DD4CB6590}"/>
                </a:ext>
              </a:extLst>
            </p:cNvPr>
            <p:cNvSpPr txBox="1"/>
            <p:nvPr/>
          </p:nvSpPr>
          <p:spPr>
            <a:xfrm>
              <a:off x="1720379" y="3504834"/>
              <a:ext cx="969859" cy="353469"/>
            </a:xfrm>
            <a:prstGeom prst="rect">
              <a:avLst/>
            </a:prstGeom>
            <a:noFill/>
          </p:spPr>
          <p:txBody>
            <a:bodyPr wrap="square">
              <a:spAutoFit/>
            </a:bodyPr>
            <a:lstStyle/>
            <a:p>
              <a:pPr algn="r" defTabSz="932293" fontAlgn="base">
                <a:lnSpc>
                  <a:spcPct val="90000"/>
                </a:lnSpc>
                <a:spcBef>
                  <a:spcPct val="0"/>
                </a:spcBef>
                <a:spcAft>
                  <a:spcPct val="0"/>
                </a:spcAft>
              </a:pPr>
              <a:r>
                <a:rPr lang="en-US" sz="1836" dirty="0">
                  <a:highlight>
                    <a:srgbClr val="00FF00"/>
                  </a:highlight>
                  <a:latin typeface="Segoe UI"/>
                  <a:ea typeface="Segoe UI" pitchFamily="34" charset="0"/>
                  <a:cs typeface="Segoe UI" pitchFamily="34" charset="0"/>
                </a:rPr>
                <a:t>Name</a:t>
              </a:r>
              <a:r>
                <a:rPr lang="en-US" sz="1836" dirty="0">
                  <a:latin typeface="Segoe UI"/>
                  <a:ea typeface="Segoe UI" pitchFamily="34" charset="0"/>
                  <a:cs typeface="Segoe UI" pitchFamily="34" charset="0"/>
                </a:rPr>
                <a:t>?</a:t>
              </a:r>
            </a:p>
          </p:txBody>
        </p:sp>
        <p:sp>
          <p:nvSpPr>
            <p:cNvPr id="70" name="Rectangle 69">
              <a:extLst>
                <a:ext uri="{FF2B5EF4-FFF2-40B4-BE49-F238E27FC236}">
                  <a16:creationId xmlns:a16="http://schemas.microsoft.com/office/drawing/2014/main" id="{81E6CB99-108C-22D1-D5DD-4C468B20D377}"/>
                </a:ext>
              </a:extLst>
            </p:cNvPr>
            <p:cNvSpPr/>
            <p:nvPr/>
          </p:nvSpPr>
          <p:spPr bwMode="auto">
            <a:xfrm>
              <a:off x="8097597" y="3081394"/>
              <a:ext cx="1034780" cy="73864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71" name="Connector: Elbow 70">
              <a:extLst>
                <a:ext uri="{FF2B5EF4-FFF2-40B4-BE49-F238E27FC236}">
                  <a16:creationId xmlns:a16="http://schemas.microsoft.com/office/drawing/2014/main" id="{D86A2B82-B812-C750-2D52-B5FE9CA6AFBC}"/>
                </a:ext>
              </a:extLst>
            </p:cNvPr>
            <p:cNvCxnSpPr>
              <a:cxnSpLocks/>
              <a:stCxn id="77" idx="3"/>
            </p:cNvCxnSpPr>
            <p:nvPr/>
          </p:nvCxnSpPr>
          <p:spPr>
            <a:xfrm>
              <a:off x="5925823" y="3010847"/>
              <a:ext cx="2454829" cy="279607"/>
            </a:xfrm>
            <a:prstGeom prst="bentConnector3">
              <a:avLst>
                <a:gd name="adj1" fmla="val 25800"/>
              </a:avLst>
            </a:prstGeom>
            <a:ln w="9525">
              <a:headEnd type="none"/>
              <a:tailEnd type="triangle"/>
            </a:ln>
          </p:spPr>
          <p:style>
            <a:lnRef idx="1">
              <a:schemeClr val="dk1"/>
            </a:lnRef>
            <a:fillRef idx="0">
              <a:schemeClr val="dk1"/>
            </a:fillRef>
            <a:effectRef idx="0">
              <a:schemeClr val="dk1"/>
            </a:effectRef>
            <a:fontRef idx="minor">
              <a:schemeClr val="tx1"/>
            </a:fontRef>
          </p:style>
        </p:cxnSp>
        <p:pic>
          <p:nvPicPr>
            <p:cNvPr id="72" name="Graphic 1">
              <a:extLst>
                <a:ext uri="{FF2B5EF4-FFF2-40B4-BE49-F238E27FC236}">
                  <a16:creationId xmlns:a16="http://schemas.microsoft.com/office/drawing/2014/main" id="{D7403BD1-1D66-9C52-0714-579B1757AAB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380653" y="3079804"/>
              <a:ext cx="593334" cy="594004"/>
            </a:xfrm>
            <a:prstGeom prst="rect">
              <a:avLst/>
            </a:prstGeom>
          </p:spPr>
        </p:pic>
        <p:pic>
          <p:nvPicPr>
            <p:cNvPr id="73" name="Graphic 72">
              <a:extLst>
                <a:ext uri="{FF2B5EF4-FFF2-40B4-BE49-F238E27FC236}">
                  <a16:creationId xmlns:a16="http://schemas.microsoft.com/office/drawing/2014/main" id="{259D2546-B2DD-CD8D-F9E6-E9A9D67FA7B0}"/>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8713724" y="2380305"/>
              <a:ext cx="355129" cy="355670"/>
            </a:xfrm>
            <a:prstGeom prst="rect">
              <a:avLst/>
            </a:prstGeom>
          </p:spPr>
        </p:pic>
      </p:grpSp>
    </p:spTree>
    <p:extLst>
      <p:ext uri="{BB962C8B-B14F-4D97-AF65-F5344CB8AC3E}">
        <p14:creationId xmlns:p14="http://schemas.microsoft.com/office/powerpoint/2010/main" val="1421263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4" name="Title 1">
            <a:extLst>
              <a:ext uri="{FF2B5EF4-FFF2-40B4-BE49-F238E27FC236}">
                <a16:creationId xmlns:a16="http://schemas.microsoft.com/office/drawing/2014/main" id="{9B88FF90-982F-3CBB-6CC6-ED9E5492DF72}"/>
              </a:ext>
            </a:extLst>
          </p:cNvPr>
          <p:cNvSpPr txBox="1">
            <a:spLocks/>
          </p:cNvSpPr>
          <p:nvPr/>
        </p:nvSpPr>
        <p:spPr>
          <a:xfrm>
            <a:off x="695611" y="1435864"/>
            <a:ext cx="11703601" cy="5022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Lab 05 – Implement intersite connectivity</a:t>
            </a:r>
            <a:endParaRPr lang="en-US" dirty="0"/>
          </a:p>
        </p:txBody>
      </p:sp>
      <p:sp>
        <p:nvSpPr>
          <p:cNvPr id="15" name="Text Placeholder 2">
            <a:extLst>
              <a:ext uri="{FF2B5EF4-FFF2-40B4-BE49-F238E27FC236}">
                <a16:creationId xmlns:a16="http://schemas.microsoft.com/office/drawing/2014/main" id="{79F52E94-46CB-05EC-48A8-6CB15AE6C5E4}"/>
              </a:ext>
            </a:extLst>
          </p:cNvPr>
          <p:cNvSpPr txBox="1">
            <a:spLocks/>
          </p:cNvSpPr>
          <p:nvPr/>
        </p:nvSpPr>
        <p:spPr>
          <a:xfrm>
            <a:off x="511691" y="3263644"/>
            <a:ext cx="3464533" cy="241705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buSzPct val="100000"/>
            </a:pPr>
            <a:r>
              <a:rPr lang="en-US" sz="1800" spc="0" dirty="0">
                <a:solidFill>
                  <a:schemeClr val="tx1"/>
                </a:solidFill>
                <a:latin typeface="+mn-lt"/>
              </a:rPr>
              <a:t>In this lab, you will explore communication between virtual networks. </a:t>
            </a:r>
          </a:p>
          <a:p>
            <a:pPr>
              <a:spcAft>
                <a:spcPts val="612"/>
              </a:spcAft>
              <a:buSzPct val="100000"/>
            </a:pPr>
            <a:r>
              <a:rPr lang="en-US" sz="1800" spc="0" dirty="0">
                <a:solidFill>
                  <a:schemeClr val="tx1"/>
                </a:solidFill>
                <a:latin typeface="+mn-lt"/>
              </a:rPr>
              <a:t>You will implement virtual network peering and test connections.</a:t>
            </a:r>
          </a:p>
          <a:p>
            <a:pPr>
              <a:spcAft>
                <a:spcPts val="612"/>
              </a:spcAft>
              <a:buSzPct val="100000"/>
            </a:pPr>
            <a:r>
              <a:rPr lang="en-US" sz="1800" spc="0" dirty="0">
                <a:solidFill>
                  <a:schemeClr val="tx1"/>
                </a:solidFill>
                <a:latin typeface="+mn-lt"/>
              </a:rPr>
              <a:t>You will also learn about the Network Watcher tool. </a:t>
            </a:r>
          </a:p>
        </p:txBody>
      </p:sp>
      <p:sp>
        <p:nvSpPr>
          <p:cNvPr id="16" name="Rectangle 15">
            <a:extLst>
              <a:ext uri="{FF2B5EF4-FFF2-40B4-BE49-F238E27FC236}">
                <a16:creationId xmlns:a16="http://schemas.microsoft.com/office/drawing/2014/main" id="{57E40C10-D705-0FAE-A333-CE23BFFACB28}"/>
              </a:ext>
            </a:extLst>
          </p:cNvPr>
          <p:cNvSpPr/>
          <p:nvPr/>
        </p:nvSpPr>
        <p:spPr bwMode="auto">
          <a:xfrm>
            <a:off x="5184916" y="2984527"/>
            <a:ext cx="6930973" cy="3712289"/>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1:	</a:t>
            </a:r>
            <a:r>
              <a:rPr lang="en-US" sz="2040" dirty="0">
                <a:solidFill>
                  <a:srgbClr val="1F2328"/>
                </a:solidFill>
                <a:latin typeface="Segoe UI" panose="020B0502040204020203" pitchFamily="34" charset="0"/>
                <a:cs typeface="Segoe UI" panose="020B0502040204020203" pitchFamily="34" charset="0"/>
              </a:rPr>
              <a:t>Create a virtual machine and virtual network.</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2:	</a:t>
            </a:r>
            <a:r>
              <a:rPr lang="en-US" sz="2040" dirty="0">
                <a:solidFill>
                  <a:srgbClr val="1F2328"/>
                </a:solidFill>
                <a:latin typeface="Segoe UI" panose="020B0502040204020203" pitchFamily="34" charset="0"/>
                <a:cs typeface="Segoe UI" panose="020B0502040204020203" pitchFamily="34" charset="0"/>
              </a:rPr>
              <a:t>Create a virtual machine in a different virtual network.</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3</a:t>
            </a:r>
            <a:r>
              <a:rPr lang="en-US" sz="2040" dirty="0">
                <a:solidFill>
                  <a:srgbClr val="1F2328"/>
                </a:solidFill>
                <a:latin typeface="Segoe UI" panose="020B0502040204020203" pitchFamily="34" charset="0"/>
                <a:cs typeface="Segoe UI" panose="020B0502040204020203" pitchFamily="34" charset="0"/>
              </a:rPr>
              <a:t>:	Use Network Watcher to test the connection between virtual machines.</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4</a:t>
            </a:r>
            <a:r>
              <a:rPr lang="en-US" sz="2040" dirty="0">
                <a:solidFill>
                  <a:srgbClr val="1F2328"/>
                </a:solidFill>
                <a:latin typeface="Segoe UI" panose="020B0502040204020203" pitchFamily="34" charset="0"/>
                <a:cs typeface="Segoe UI" panose="020B0502040204020203" pitchFamily="34" charset="0"/>
              </a:rPr>
              <a:t>:	Configure virtual network peering between virtual networks.</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5</a:t>
            </a:r>
            <a:r>
              <a:rPr lang="en-US" sz="2040" dirty="0">
                <a:solidFill>
                  <a:srgbClr val="1F2328"/>
                </a:solidFill>
                <a:latin typeface="Segoe UI" panose="020B0502040204020203" pitchFamily="34" charset="0"/>
                <a:cs typeface="Segoe UI" panose="020B0502040204020203" pitchFamily="34" charset="0"/>
              </a:rPr>
              <a:t>:	Use Azure PowerShell to test the connection between virtual machines.  RDP optional. </a:t>
            </a:r>
          </a:p>
          <a:p>
            <a:pPr>
              <a:spcAft>
                <a:spcPts val="612"/>
              </a:spcAft>
            </a:pPr>
            <a:r>
              <a:rPr lang="en-US" sz="2040" b="1" dirty="0">
                <a:solidFill>
                  <a:srgbClr val="1F2328"/>
                </a:solidFill>
                <a:latin typeface="Segoe UI Semibold" panose="020B0702040204020203" pitchFamily="34" charset="0"/>
                <a:cs typeface="Segoe UI Semibold" panose="020B0702040204020203" pitchFamily="34" charset="0"/>
              </a:rPr>
              <a:t>Task 6:</a:t>
            </a:r>
            <a:r>
              <a:rPr lang="en-US" sz="2040" dirty="0">
                <a:solidFill>
                  <a:srgbClr val="1F2328"/>
                </a:solidFill>
                <a:latin typeface="Segoe UI" panose="020B0502040204020203" pitchFamily="34" charset="0"/>
                <a:cs typeface="Segoe UI" panose="020B0502040204020203" pitchFamily="34" charset="0"/>
              </a:rPr>
              <a:t> Create a custom route.</a:t>
            </a:r>
            <a:endParaRPr lang="en-US" sz="2000" dirty="0">
              <a:solidFill>
                <a:schemeClr val="tx1"/>
              </a:solidFill>
              <a:latin typeface="Segoe UI" panose="020B0502040204020203" pitchFamily="34" charset="0"/>
              <a:cs typeface="Segoe UI" panose="020B0502040204020203" pitchFamily="34" charset="0"/>
            </a:endParaRPr>
          </a:p>
        </p:txBody>
      </p:sp>
      <p:sp>
        <p:nvSpPr>
          <p:cNvPr id="17" name="TextBox 16">
            <a:extLst>
              <a:ext uri="{FF2B5EF4-FFF2-40B4-BE49-F238E27FC236}">
                <a16:creationId xmlns:a16="http://schemas.microsoft.com/office/drawing/2014/main" id="{A3939B3D-BEC6-40A4-73CC-8B711686AA74}"/>
              </a:ext>
            </a:extLst>
          </p:cNvPr>
          <p:cNvSpPr txBox="1"/>
          <p:nvPr/>
        </p:nvSpPr>
        <p:spPr>
          <a:xfrm>
            <a:off x="5130799" y="2649322"/>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2851476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21A56982-BCFE-548E-3C14-14072B002A93}"/>
              </a:ext>
            </a:extLst>
          </p:cNvPr>
          <p:cNvSpPr txBox="1">
            <a:spLocks/>
          </p:cNvSpPr>
          <p:nvPr/>
        </p:nvSpPr>
        <p:spPr>
          <a:xfrm>
            <a:off x="232707" y="787780"/>
            <a:ext cx="11530584" cy="8300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64" dirty="0"/>
              <a:t>Lab 05 – Architecture diagram</a:t>
            </a:r>
          </a:p>
        </p:txBody>
      </p:sp>
      <p:grpSp>
        <p:nvGrpSpPr>
          <p:cNvPr id="11" name="Group 10" descr="Architecture diagram for virtual network peering and routing. ">
            <a:extLst>
              <a:ext uri="{FF2B5EF4-FFF2-40B4-BE49-F238E27FC236}">
                <a16:creationId xmlns:a16="http://schemas.microsoft.com/office/drawing/2014/main" id="{B1B6E41E-64E7-8E34-1896-E1A82EDF896A}"/>
              </a:ext>
            </a:extLst>
          </p:cNvPr>
          <p:cNvGrpSpPr/>
          <p:nvPr/>
        </p:nvGrpSpPr>
        <p:grpSpPr>
          <a:xfrm>
            <a:off x="860894" y="1430834"/>
            <a:ext cx="10956495" cy="4493317"/>
            <a:chOff x="843226" y="1402906"/>
            <a:chExt cx="10742637" cy="4405613"/>
          </a:xfrm>
        </p:grpSpPr>
        <p:sp>
          <p:nvSpPr>
            <p:cNvPr id="12" name="矩形 9">
              <a:extLst>
                <a:ext uri="{FF2B5EF4-FFF2-40B4-BE49-F238E27FC236}">
                  <a16:creationId xmlns:a16="http://schemas.microsoft.com/office/drawing/2014/main" id="{DC295DEA-622C-CBED-F616-442A38D0E506}"/>
                </a:ext>
              </a:extLst>
            </p:cNvPr>
            <p:cNvSpPr/>
            <p:nvPr/>
          </p:nvSpPr>
          <p:spPr>
            <a:xfrm>
              <a:off x="955845" y="1939510"/>
              <a:ext cx="5356409" cy="366771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32" dirty="0">
                <a:solidFill>
                  <a:schemeClr val="tx1"/>
                </a:solidFill>
                <a:cs typeface="Segoe UI" panose="020B0502040204020203" pitchFamily="34" charset="0"/>
              </a:endParaRPr>
            </a:p>
          </p:txBody>
        </p:sp>
        <p:sp>
          <p:nvSpPr>
            <p:cNvPr id="13" name="矩形: 圆角 10">
              <a:extLst>
                <a:ext uri="{FF2B5EF4-FFF2-40B4-BE49-F238E27FC236}">
                  <a16:creationId xmlns:a16="http://schemas.microsoft.com/office/drawing/2014/main" id="{57D94A57-8B67-7293-8754-7D5BA78FBB0D}"/>
                </a:ext>
              </a:extLst>
            </p:cNvPr>
            <p:cNvSpPr/>
            <p:nvPr/>
          </p:nvSpPr>
          <p:spPr>
            <a:xfrm>
              <a:off x="1079076" y="2487020"/>
              <a:ext cx="4997327" cy="2818265"/>
            </a:xfrm>
            <a:prstGeom prst="roundRect">
              <a:avLst>
                <a:gd name="adj" fmla="val 3049"/>
              </a:avLst>
            </a:prstGeom>
            <a:solidFill>
              <a:schemeClr val="bg1"/>
            </a:solidFill>
            <a:ln w="158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bIns="73433" rtlCol="0" anchor="b" anchorCtr="0"/>
            <a:lstStyle/>
            <a:p>
              <a:pPr algn="ctr"/>
              <a:r>
                <a:rPr lang="en-US" sz="1632" dirty="0" err="1">
                  <a:solidFill>
                    <a:schemeClr val="tx1"/>
                  </a:solidFill>
                  <a:cs typeface="Segoe UI" panose="020B0502040204020203" pitchFamily="34" charset="0"/>
                </a:rPr>
                <a:t>CoreServicesVnet</a:t>
              </a:r>
              <a:endParaRPr lang="en-US" sz="1632" dirty="0">
                <a:solidFill>
                  <a:schemeClr val="tx1"/>
                </a:solidFill>
                <a:cs typeface="Segoe UI" panose="020B0502040204020203" pitchFamily="34" charset="0"/>
              </a:endParaRPr>
            </a:p>
            <a:p>
              <a:pPr algn="ctr"/>
              <a:r>
                <a:rPr lang="en-US" sz="1632" dirty="0">
                  <a:solidFill>
                    <a:schemeClr val="tx1"/>
                  </a:solidFill>
                  <a:cs typeface="Segoe UI" panose="020B0502040204020203" pitchFamily="34" charset="0"/>
                </a:rPr>
                <a:t>(10.0.0.0/16)</a:t>
              </a:r>
            </a:p>
          </p:txBody>
        </p:sp>
        <p:sp>
          <p:nvSpPr>
            <p:cNvPr id="14" name="矩形: 圆角 18">
              <a:extLst>
                <a:ext uri="{FF2B5EF4-FFF2-40B4-BE49-F238E27FC236}">
                  <a16:creationId xmlns:a16="http://schemas.microsoft.com/office/drawing/2014/main" id="{5CF05FB6-9CFC-CA17-E8B4-DCE9EAC08FD4}"/>
                </a:ext>
              </a:extLst>
            </p:cNvPr>
            <p:cNvSpPr/>
            <p:nvPr/>
          </p:nvSpPr>
          <p:spPr>
            <a:xfrm>
              <a:off x="1175608" y="3073246"/>
              <a:ext cx="1748514" cy="1064933"/>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b" anchorCtr="0"/>
            <a:lstStyle/>
            <a:p>
              <a:pPr algn="ctr"/>
              <a:r>
                <a:rPr lang="en-US" sz="1632" dirty="0">
                  <a:solidFill>
                    <a:schemeClr val="tx1"/>
                  </a:solidFill>
                  <a:cs typeface="Segoe UI" panose="020B0502040204020203" pitchFamily="34" charset="0"/>
                </a:rPr>
                <a:t>Perimeter </a:t>
              </a:r>
            </a:p>
            <a:p>
              <a:pPr algn="ctr"/>
              <a:r>
                <a:rPr lang="en-US" sz="1632" dirty="0">
                  <a:solidFill>
                    <a:schemeClr val="tx1"/>
                  </a:solidFill>
                  <a:cs typeface="Segoe UI" panose="020B0502040204020203" pitchFamily="34" charset="0"/>
                </a:rPr>
                <a:t>(10.0.1.0/24)</a:t>
              </a:r>
              <a:endParaRPr lang="en-US" sz="1632" dirty="0">
                <a:cs typeface="Segoe UI" panose="020B0502040204020203" pitchFamily="34" charset="0"/>
              </a:endParaRPr>
            </a:p>
          </p:txBody>
        </p:sp>
        <p:sp>
          <p:nvSpPr>
            <p:cNvPr id="15" name="Rectangle 14">
              <a:extLst>
                <a:ext uri="{FF2B5EF4-FFF2-40B4-BE49-F238E27FC236}">
                  <a16:creationId xmlns:a16="http://schemas.microsoft.com/office/drawing/2014/main" id="{C5C295AB-328F-2BE0-03E5-A8E7362FEBAB}"/>
                </a:ext>
              </a:extLst>
            </p:cNvPr>
            <p:cNvSpPr/>
            <p:nvPr/>
          </p:nvSpPr>
          <p:spPr>
            <a:xfrm>
              <a:off x="843226" y="1553535"/>
              <a:ext cx="10742637" cy="42549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32">
                <a:cs typeface="Segoe UI" panose="020B0502040204020203" pitchFamily="34" charset="0"/>
              </a:endParaRPr>
            </a:p>
          </p:txBody>
        </p:sp>
        <p:sp>
          <p:nvSpPr>
            <p:cNvPr id="16" name="文本框 11">
              <a:extLst>
                <a:ext uri="{FF2B5EF4-FFF2-40B4-BE49-F238E27FC236}">
                  <a16:creationId xmlns:a16="http://schemas.microsoft.com/office/drawing/2014/main" id="{1CFFF3BF-7ECA-68E9-91A1-A7C4EA796A8C}"/>
                </a:ext>
              </a:extLst>
            </p:cNvPr>
            <p:cNvSpPr txBox="1"/>
            <p:nvPr/>
          </p:nvSpPr>
          <p:spPr>
            <a:xfrm>
              <a:off x="2819752" y="1971180"/>
              <a:ext cx="867546" cy="343492"/>
            </a:xfrm>
            <a:prstGeom prst="rect">
              <a:avLst/>
            </a:prstGeom>
            <a:noFill/>
          </p:spPr>
          <p:txBody>
            <a:bodyPr wrap="none" rtlCol="0">
              <a:spAutoFit/>
            </a:bodyPr>
            <a:lstStyle/>
            <a:p>
              <a:pPr marL="0" lvl="1" algn="ctr"/>
              <a:r>
                <a:rPr lang="en-US" sz="1632" dirty="0">
                  <a:cs typeface="Segoe UI" panose="020B0502040204020203" pitchFamily="34" charset="0"/>
                </a:rPr>
                <a:t>E</a:t>
              </a:r>
              <a:r>
                <a:rPr lang="en-US" altLang="zh-CN" sz="1632" dirty="0">
                  <a:cs typeface="Segoe UI" panose="020B0502040204020203" pitchFamily="34" charset="0"/>
                </a:rPr>
                <a:t>ast US</a:t>
              </a:r>
              <a:endParaRPr lang="en-US" sz="1632" dirty="0">
                <a:cs typeface="Segoe UI" panose="020B0502040204020203" pitchFamily="34" charset="0"/>
              </a:endParaRPr>
            </a:p>
          </p:txBody>
        </p:sp>
        <p:sp>
          <p:nvSpPr>
            <p:cNvPr id="17" name="矩形 13">
              <a:extLst>
                <a:ext uri="{FF2B5EF4-FFF2-40B4-BE49-F238E27FC236}">
                  <a16:creationId xmlns:a16="http://schemas.microsoft.com/office/drawing/2014/main" id="{FAE8155C-6ABB-E39E-9630-992F93C516D7}"/>
                </a:ext>
              </a:extLst>
            </p:cNvPr>
            <p:cNvSpPr/>
            <p:nvPr/>
          </p:nvSpPr>
          <p:spPr>
            <a:xfrm>
              <a:off x="8046396" y="1963039"/>
              <a:ext cx="3302378" cy="366771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32" dirty="0">
                <a:solidFill>
                  <a:schemeClr val="tx1"/>
                </a:solidFill>
                <a:cs typeface="Segoe UI" panose="020B0502040204020203" pitchFamily="34" charset="0"/>
              </a:endParaRPr>
            </a:p>
          </p:txBody>
        </p:sp>
        <p:sp>
          <p:nvSpPr>
            <p:cNvPr id="18" name="矩形: 圆角 14">
              <a:extLst>
                <a:ext uri="{FF2B5EF4-FFF2-40B4-BE49-F238E27FC236}">
                  <a16:creationId xmlns:a16="http://schemas.microsoft.com/office/drawing/2014/main" id="{956DB876-83E5-3D36-B0CE-E936F2E966B6}"/>
                </a:ext>
              </a:extLst>
            </p:cNvPr>
            <p:cNvSpPr/>
            <p:nvPr/>
          </p:nvSpPr>
          <p:spPr>
            <a:xfrm>
              <a:off x="8282246" y="2510548"/>
              <a:ext cx="2830678" cy="2818265"/>
            </a:xfrm>
            <a:prstGeom prst="roundRect">
              <a:avLst>
                <a:gd name="adj" fmla="val 3049"/>
              </a:avLst>
            </a:prstGeom>
            <a:solidFill>
              <a:schemeClr val="bg1"/>
            </a:solidFill>
            <a:ln w="158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bIns="73433" rtlCol="0" anchor="b" anchorCtr="0"/>
            <a:lstStyle/>
            <a:p>
              <a:pPr algn="ctr"/>
              <a:r>
                <a:rPr lang="en-US" sz="1632" dirty="0">
                  <a:solidFill>
                    <a:schemeClr val="tx1"/>
                  </a:solidFill>
                  <a:cs typeface="Segoe UI" panose="020B0502040204020203" pitchFamily="34" charset="0"/>
                </a:rPr>
                <a:t>ManufacturingVnet</a:t>
              </a:r>
            </a:p>
            <a:p>
              <a:pPr algn="ctr"/>
              <a:r>
                <a:rPr lang="en-US" sz="1632" dirty="0">
                  <a:solidFill>
                    <a:schemeClr val="tx1"/>
                  </a:solidFill>
                  <a:cs typeface="Segoe UI" panose="020B0502040204020203" pitchFamily="34" charset="0"/>
                </a:rPr>
                <a:t>(172.16.0.0/16)</a:t>
              </a:r>
            </a:p>
          </p:txBody>
        </p:sp>
        <p:sp>
          <p:nvSpPr>
            <p:cNvPr id="19" name="文本框 15">
              <a:extLst>
                <a:ext uri="{FF2B5EF4-FFF2-40B4-BE49-F238E27FC236}">
                  <a16:creationId xmlns:a16="http://schemas.microsoft.com/office/drawing/2014/main" id="{8AA9085F-4583-B802-1BFF-1B4250F31D6C}"/>
                </a:ext>
              </a:extLst>
            </p:cNvPr>
            <p:cNvSpPr txBox="1"/>
            <p:nvPr/>
          </p:nvSpPr>
          <p:spPr>
            <a:xfrm>
              <a:off x="9263813" y="2001272"/>
              <a:ext cx="867546" cy="343492"/>
            </a:xfrm>
            <a:prstGeom prst="rect">
              <a:avLst/>
            </a:prstGeom>
            <a:noFill/>
          </p:spPr>
          <p:txBody>
            <a:bodyPr wrap="none" rtlCol="0">
              <a:spAutoFit/>
            </a:bodyPr>
            <a:lstStyle/>
            <a:p>
              <a:pPr marL="0" lvl="1" algn="ctr"/>
              <a:r>
                <a:rPr lang="en-US" sz="1632" dirty="0">
                  <a:cs typeface="Segoe UI" panose="020B0502040204020203" pitchFamily="34" charset="0"/>
                </a:rPr>
                <a:t>East US</a:t>
              </a:r>
            </a:p>
          </p:txBody>
        </p:sp>
        <p:sp>
          <p:nvSpPr>
            <p:cNvPr id="20" name="矩形: 圆角 20">
              <a:extLst>
                <a:ext uri="{FF2B5EF4-FFF2-40B4-BE49-F238E27FC236}">
                  <a16:creationId xmlns:a16="http://schemas.microsoft.com/office/drawing/2014/main" id="{0E3FBB7D-458F-DAB8-0937-CFEA234FF76E}"/>
                </a:ext>
              </a:extLst>
            </p:cNvPr>
            <p:cNvSpPr/>
            <p:nvPr/>
          </p:nvSpPr>
          <p:spPr>
            <a:xfrm>
              <a:off x="8528748" y="2793681"/>
              <a:ext cx="2378594" cy="1658102"/>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b" anchorCtr="0"/>
            <a:lstStyle/>
            <a:p>
              <a:pPr algn="ctr"/>
              <a:r>
                <a:rPr lang="en-US" sz="1632" dirty="0">
                  <a:solidFill>
                    <a:schemeClr val="tx1"/>
                  </a:solidFill>
                  <a:cs typeface="Segoe UI" panose="020B0502040204020203" pitchFamily="34" charset="0"/>
                </a:rPr>
                <a:t>Manufacturing</a:t>
              </a:r>
            </a:p>
            <a:p>
              <a:pPr algn="ctr"/>
              <a:r>
                <a:rPr lang="en-US" sz="1632" dirty="0">
                  <a:solidFill>
                    <a:schemeClr val="tx1"/>
                  </a:solidFill>
                  <a:cs typeface="Segoe UI" panose="020B0502040204020203" pitchFamily="34" charset="0"/>
                </a:rPr>
                <a:t>(172.16.0.0/24)</a:t>
              </a:r>
              <a:endParaRPr lang="en-US" sz="1632" dirty="0">
                <a:cs typeface="Segoe UI" panose="020B0502040204020203" pitchFamily="34" charset="0"/>
              </a:endParaRPr>
            </a:p>
          </p:txBody>
        </p:sp>
        <p:grpSp>
          <p:nvGrpSpPr>
            <p:cNvPr id="21" name="Group 20">
              <a:extLst>
                <a:ext uri="{FF2B5EF4-FFF2-40B4-BE49-F238E27FC236}">
                  <a16:creationId xmlns:a16="http://schemas.microsoft.com/office/drawing/2014/main" id="{6CB47004-1FCF-3245-B3E3-34C7CB7EB50A}"/>
                </a:ext>
              </a:extLst>
            </p:cNvPr>
            <p:cNvGrpSpPr/>
            <p:nvPr/>
          </p:nvGrpSpPr>
          <p:grpSpPr>
            <a:xfrm>
              <a:off x="1032167" y="1402906"/>
              <a:ext cx="1429301" cy="404173"/>
              <a:chOff x="4721801" y="1305438"/>
              <a:chExt cx="1177084" cy="288000"/>
            </a:xfrm>
          </p:grpSpPr>
          <p:sp>
            <p:nvSpPr>
              <p:cNvPr id="46" name="文本框 24">
                <a:extLst>
                  <a:ext uri="{FF2B5EF4-FFF2-40B4-BE49-F238E27FC236}">
                    <a16:creationId xmlns:a16="http://schemas.microsoft.com/office/drawing/2014/main" id="{0418F3A9-7D31-8A0C-C4EF-9C72B18A9A1B}"/>
                  </a:ext>
                </a:extLst>
              </p:cNvPr>
              <p:cNvSpPr txBox="1"/>
              <p:nvPr/>
            </p:nvSpPr>
            <p:spPr>
              <a:xfrm>
                <a:off x="4837520" y="1321729"/>
                <a:ext cx="1061365" cy="244761"/>
              </a:xfrm>
              <a:prstGeom prst="rect">
                <a:avLst/>
              </a:prstGeom>
              <a:solidFill>
                <a:schemeClr val="bg1"/>
              </a:solidFill>
            </p:spPr>
            <p:txBody>
              <a:bodyPr wrap="square" rtlCol="0">
                <a:spAutoFit/>
              </a:bodyPr>
              <a:lstStyle/>
              <a:p>
                <a:pPr algn="r"/>
                <a:r>
                  <a:rPr lang="en-US" sz="1632" dirty="0">
                    <a:cs typeface="Segoe UI" panose="020B0502040204020203" pitchFamily="34" charset="0"/>
                  </a:rPr>
                  <a:t>az104-rg5</a:t>
                </a:r>
              </a:p>
            </p:txBody>
          </p:sp>
          <p:pic>
            <p:nvPicPr>
              <p:cNvPr id="47" name="图形 25">
                <a:extLst>
                  <a:ext uri="{FF2B5EF4-FFF2-40B4-BE49-F238E27FC236}">
                    <a16:creationId xmlns:a16="http://schemas.microsoft.com/office/drawing/2014/main" id="{DC48EDBE-5704-2F07-F9D7-F3EADA6391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21801" y="1305438"/>
                <a:ext cx="288000" cy="288000"/>
              </a:xfrm>
              <a:prstGeom prst="rect">
                <a:avLst/>
              </a:prstGeom>
            </p:spPr>
          </p:pic>
        </p:grpSp>
        <p:pic>
          <p:nvPicPr>
            <p:cNvPr id="22" name="图形 75">
              <a:extLst>
                <a:ext uri="{FF2B5EF4-FFF2-40B4-BE49-F238E27FC236}">
                  <a16:creationId xmlns:a16="http://schemas.microsoft.com/office/drawing/2014/main" id="{F7B7ECB6-E9BC-F3A6-FBC9-E85E9733EC5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694713" y="5107274"/>
              <a:ext cx="349711" cy="404173"/>
            </a:xfrm>
            <a:prstGeom prst="rect">
              <a:avLst/>
            </a:prstGeom>
          </p:spPr>
        </p:pic>
        <p:sp>
          <p:nvSpPr>
            <p:cNvPr id="23" name="矩形: 圆角 18">
              <a:extLst>
                <a:ext uri="{FF2B5EF4-FFF2-40B4-BE49-F238E27FC236}">
                  <a16:creationId xmlns:a16="http://schemas.microsoft.com/office/drawing/2014/main" id="{6E18EED0-87B5-DCDB-FC27-B1C91E900BDD}"/>
                </a:ext>
              </a:extLst>
            </p:cNvPr>
            <p:cNvSpPr/>
            <p:nvPr/>
          </p:nvSpPr>
          <p:spPr>
            <a:xfrm>
              <a:off x="3439828" y="2721721"/>
              <a:ext cx="2378594" cy="1713169"/>
            </a:xfrm>
            <a:prstGeom prst="roundRect">
              <a:avLst>
                <a:gd name="adj" fmla="val 0"/>
              </a:avLst>
            </a:prstGeom>
            <a:solidFill>
              <a:schemeClr val="bg2"/>
            </a:solidFill>
            <a:ln w="12700">
              <a:solidFill>
                <a:schemeClr val="tx1">
                  <a:lumMod val="50000"/>
                  <a:lumOff val="50000"/>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73433" bIns="73433" rtlCol="0" anchor="b" anchorCtr="0"/>
            <a:lstStyle/>
            <a:p>
              <a:pPr algn="ctr"/>
              <a:r>
                <a:rPr lang="en-US" sz="1632" dirty="0">
                  <a:solidFill>
                    <a:schemeClr val="tx1"/>
                  </a:solidFill>
                  <a:cs typeface="Segoe UI" panose="020B0502040204020203" pitchFamily="34" charset="0"/>
                </a:rPr>
                <a:t>Core </a:t>
              </a:r>
            </a:p>
            <a:p>
              <a:pPr algn="ctr"/>
              <a:r>
                <a:rPr lang="en-US" sz="1632" dirty="0">
                  <a:solidFill>
                    <a:schemeClr val="tx1"/>
                  </a:solidFill>
                  <a:cs typeface="Segoe UI" panose="020B0502040204020203" pitchFamily="34" charset="0"/>
                </a:rPr>
                <a:t>(10.0.0.0/24)</a:t>
              </a:r>
              <a:endParaRPr lang="en-US" sz="1632" dirty="0">
                <a:cs typeface="Segoe UI" panose="020B0502040204020203" pitchFamily="34" charset="0"/>
              </a:endParaRPr>
            </a:p>
          </p:txBody>
        </p:sp>
        <p:pic>
          <p:nvPicPr>
            <p:cNvPr id="24" name="图形 50">
              <a:extLst>
                <a:ext uri="{FF2B5EF4-FFF2-40B4-BE49-F238E27FC236}">
                  <a16:creationId xmlns:a16="http://schemas.microsoft.com/office/drawing/2014/main" id="{57256C0A-DA8C-06A7-886A-256B0BB68B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0759" y="5070907"/>
              <a:ext cx="349711" cy="404173"/>
            </a:xfrm>
            <a:prstGeom prst="rect">
              <a:avLst/>
            </a:prstGeom>
          </p:spPr>
        </p:pic>
        <p:sp>
          <p:nvSpPr>
            <p:cNvPr id="25" name="TextBox 24">
              <a:extLst>
                <a:ext uri="{FF2B5EF4-FFF2-40B4-BE49-F238E27FC236}">
                  <a16:creationId xmlns:a16="http://schemas.microsoft.com/office/drawing/2014/main" id="{1DFA205D-AE2D-CEB7-3538-739A613A0299}"/>
                </a:ext>
              </a:extLst>
            </p:cNvPr>
            <p:cNvSpPr txBox="1"/>
            <p:nvPr/>
          </p:nvSpPr>
          <p:spPr>
            <a:xfrm>
              <a:off x="3419574" y="2701337"/>
              <a:ext cx="1160060" cy="343492"/>
            </a:xfrm>
            <a:prstGeom prst="rect">
              <a:avLst/>
            </a:prstGeom>
            <a:noFill/>
          </p:spPr>
          <p:txBody>
            <a:bodyPr wrap="square">
              <a:spAutoFit/>
            </a:bodyPr>
            <a:lstStyle/>
            <a:p>
              <a:pPr defTabSz="914191"/>
              <a:r>
                <a:rPr lang="en-US" sz="1632" b="1" dirty="0">
                  <a:solidFill>
                    <a:schemeClr val="tx2">
                      <a:lumMod val="50000"/>
                    </a:schemeClr>
                  </a:solidFill>
                </a:rPr>
                <a:t>Task 1</a:t>
              </a:r>
            </a:p>
          </p:txBody>
        </p:sp>
        <p:sp>
          <p:nvSpPr>
            <p:cNvPr id="26" name="TextBox 25">
              <a:extLst>
                <a:ext uri="{FF2B5EF4-FFF2-40B4-BE49-F238E27FC236}">
                  <a16:creationId xmlns:a16="http://schemas.microsoft.com/office/drawing/2014/main" id="{BE57666F-4C46-C959-3DF0-833CC0413608}"/>
                </a:ext>
              </a:extLst>
            </p:cNvPr>
            <p:cNvSpPr txBox="1"/>
            <p:nvPr/>
          </p:nvSpPr>
          <p:spPr>
            <a:xfrm>
              <a:off x="10150822" y="2764394"/>
              <a:ext cx="850846" cy="336787"/>
            </a:xfrm>
            <a:prstGeom prst="rect">
              <a:avLst/>
            </a:prstGeom>
            <a:noFill/>
          </p:spPr>
          <p:txBody>
            <a:bodyPr wrap="square">
              <a:spAutoFit/>
            </a:bodyPr>
            <a:lstStyle/>
            <a:p>
              <a:pPr defTabSz="914191"/>
              <a:r>
                <a:rPr lang="en-US" sz="1632" b="1" dirty="0">
                  <a:solidFill>
                    <a:schemeClr val="tx2">
                      <a:lumMod val="50000"/>
                    </a:schemeClr>
                  </a:solidFill>
                </a:rPr>
                <a:t>Task 2</a:t>
              </a:r>
            </a:p>
          </p:txBody>
        </p:sp>
        <p:pic>
          <p:nvPicPr>
            <p:cNvPr id="27" name="Graphic 26">
              <a:extLst>
                <a:ext uri="{FF2B5EF4-FFF2-40B4-BE49-F238E27FC236}">
                  <a16:creationId xmlns:a16="http://schemas.microsoft.com/office/drawing/2014/main" id="{1A2DAD2E-349F-56E0-565B-DAC1B6B0238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72698" y="3125774"/>
              <a:ext cx="476473" cy="605633"/>
            </a:xfrm>
            <a:prstGeom prst="rect">
              <a:avLst/>
            </a:prstGeom>
          </p:spPr>
        </p:pic>
        <p:sp>
          <p:nvSpPr>
            <p:cNvPr id="28" name="TextBox 27">
              <a:extLst>
                <a:ext uri="{FF2B5EF4-FFF2-40B4-BE49-F238E27FC236}">
                  <a16:creationId xmlns:a16="http://schemas.microsoft.com/office/drawing/2014/main" id="{91AB773C-4308-EC7C-D455-67181F611B08}"/>
                </a:ext>
              </a:extLst>
            </p:cNvPr>
            <p:cNvSpPr txBox="1"/>
            <p:nvPr/>
          </p:nvSpPr>
          <p:spPr>
            <a:xfrm>
              <a:off x="4176886" y="3191956"/>
              <a:ext cx="1703174" cy="343492"/>
            </a:xfrm>
            <a:prstGeom prst="rect">
              <a:avLst/>
            </a:prstGeom>
            <a:noFill/>
          </p:spPr>
          <p:txBody>
            <a:bodyPr wrap="square">
              <a:spAutoFit/>
            </a:bodyPr>
            <a:lstStyle/>
            <a:p>
              <a:r>
                <a:rPr lang="en-US" sz="1632" dirty="0" err="1">
                  <a:cs typeface="Segoe UI" panose="020B0502040204020203" pitchFamily="34" charset="0"/>
                </a:rPr>
                <a:t>CoreServicesVM</a:t>
              </a:r>
              <a:endParaRPr lang="en-US" sz="1632" dirty="0"/>
            </a:p>
          </p:txBody>
        </p:sp>
        <p:pic>
          <p:nvPicPr>
            <p:cNvPr id="29" name="Graphic 28">
              <a:extLst>
                <a:ext uri="{FF2B5EF4-FFF2-40B4-BE49-F238E27FC236}">
                  <a16:creationId xmlns:a16="http://schemas.microsoft.com/office/drawing/2014/main" id="{EF3E9117-2E09-5750-FF93-31B90FA6515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66815" y="3087819"/>
              <a:ext cx="476473" cy="605633"/>
            </a:xfrm>
            <a:prstGeom prst="rect">
              <a:avLst/>
            </a:prstGeom>
          </p:spPr>
        </p:pic>
        <p:sp>
          <p:nvSpPr>
            <p:cNvPr id="30" name="TextBox 29">
              <a:extLst>
                <a:ext uri="{FF2B5EF4-FFF2-40B4-BE49-F238E27FC236}">
                  <a16:creationId xmlns:a16="http://schemas.microsoft.com/office/drawing/2014/main" id="{8820A8EF-3E04-A70B-A2D2-2F6E6117D386}"/>
                </a:ext>
              </a:extLst>
            </p:cNvPr>
            <p:cNvSpPr txBox="1"/>
            <p:nvPr/>
          </p:nvSpPr>
          <p:spPr>
            <a:xfrm>
              <a:off x="9143796" y="3151863"/>
              <a:ext cx="1849012" cy="343492"/>
            </a:xfrm>
            <a:prstGeom prst="rect">
              <a:avLst/>
            </a:prstGeom>
            <a:noFill/>
          </p:spPr>
          <p:txBody>
            <a:bodyPr wrap="square">
              <a:spAutoFit/>
            </a:bodyPr>
            <a:lstStyle/>
            <a:p>
              <a:r>
                <a:rPr lang="en-US" sz="1632" dirty="0" err="1">
                  <a:cs typeface="Segoe UI" panose="020B0502040204020203" pitchFamily="34" charset="0"/>
                </a:rPr>
                <a:t>ManufacturingVM</a:t>
              </a:r>
              <a:endParaRPr lang="en-US" sz="1632" dirty="0"/>
            </a:p>
          </p:txBody>
        </p:sp>
        <p:cxnSp>
          <p:nvCxnSpPr>
            <p:cNvPr id="31" name="Straight Arrow Connector 30">
              <a:extLst>
                <a:ext uri="{FF2B5EF4-FFF2-40B4-BE49-F238E27FC236}">
                  <a16:creationId xmlns:a16="http://schemas.microsoft.com/office/drawing/2014/main" id="{BA8FE821-9AFE-E848-30B5-FD859D259C52}"/>
                </a:ext>
              </a:extLst>
            </p:cNvPr>
            <p:cNvCxnSpPr>
              <a:cxnSpLocks/>
            </p:cNvCxnSpPr>
            <p:nvPr/>
          </p:nvCxnSpPr>
          <p:spPr>
            <a:xfrm flipH="1">
              <a:off x="6298037" y="3550138"/>
              <a:ext cx="173414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05D01D52-0AA2-A7F5-7EB5-7F18FF8756C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043143" y="3312486"/>
              <a:ext cx="400139" cy="508607"/>
            </a:xfrm>
            <a:prstGeom prst="rect">
              <a:avLst/>
            </a:prstGeom>
          </p:spPr>
        </p:pic>
        <p:pic>
          <p:nvPicPr>
            <p:cNvPr id="33" name="Graphic 32">
              <a:extLst>
                <a:ext uri="{FF2B5EF4-FFF2-40B4-BE49-F238E27FC236}">
                  <a16:creationId xmlns:a16="http://schemas.microsoft.com/office/drawing/2014/main" id="{3D9E9740-1B2C-999D-5D0C-BD480034926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73303" y="3283448"/>
              <a:ext cx="400139" cy="508607"/>
            </a:xfrm>
            <a:prstGeom prst="rect">
              <a:avLst/>
            </a:prstGeom>
          </p:spPr>
        </p:pic>
        <p:sp>
          <p:nvSpPr>
            <p:cNvPr id="34" name="TextBox 33">
              <a:extLst>
                <a:ext uri="{FF2B5EF4-FFF2-40B4-BE49-F238E27FC236}">
                  <a16:creationId xmlns:a16="http://schemas.microsoft.com/office/drawing/2014/main" id="{A88F49B5-A4D0-D81C-F45C-1CEBB83CCB17}"/>
                </a:ext>
              </a:extLst>
            </p:cNvPr>
            <p:cNvSpPr txBox="1"/>
            <p:nvPr/>
          </p:nvSpPr>
          <p:spPr>
            <a:xfrm>
              <a:off x="6775572" y="3179570"/>
              <a:ext cx="797396" cy="343492"/>
            </a:xfrm>
            <a:prstGeom prst="rect">
              <a:avLst/>
            </a:prstGeom>
            <a:noFill/>
          </p:spPr>
          <p:txBody>
            <a:bodyPr wrap="square">
              <a:spAutoFit/>
            </a:bodyPr>
            <a:lstStyle/>
            <a:p>
              <a:pPr defTabSz="914191"/>
              <a:r>
                <a:rPr lang="en-US" sz="1632" b="1" dirty="0">
                  <a:solidFill>
                    <a:schemeClr val="tx2">
                      <a:lumMod val="50000"/>
                    </a:schemeClr>
                  </a:solidFill>
                </a:rPr>
                <a:t>Task 4</a:t>
              </a:r>
            </a:p>
          </p:txBody>
        </p:sp>
        <p:cxnSp>
          <p:nvCxnSpPr>
            <p:cNvPr id="35" name="Straight Arrow Connector 34">
              <a:extLst>
                <a:ext uri="{FF2B5EF4-FFF2-40B4-BE49-F238E27FC236}">
                  <a16:creationId xmlns:a16="http://schemas.microsoft.com/office/drawing/2014/main" id="{7180FBBD-7BE0-5081-E2E2-5DB1B68184EE}"/>
                </a:ext>
              </a:extLst>
            </p:cNvPr>
            <p:cNvCxnSpPr>
              <a:cxnSpLocks/>
            </p:cNvCxnSpPr>
            <p:nvPr/>
          </p:nvCxnSpPr>
          <p:spPr>
            <a:xfrm flipH="1">
              <a:off x="6168653" y="2604786"/>
              <a:ext cx="1988965"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CD396FF-0693-A806-BF2D-78A23A95C1FE}"/>
                </a:ext>
              </a:extLst>
            </p:cNvPr>
            <p:cNvCxnSpPr>
              <a:cxnSpLocks/>
            </p:cNvCxnSpPr>
            <p:nvPr/>
          </p:nvCxnSpPr>
          <p:spPr>
            <a:xfrm flipH="1">
              <a:off x="6165416" y="4411503"/>
              <a:ext cx="199220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8D9ACDF-2263-6660-54BE-0A267D39B484}"/>
                </a:ext>
              </a:extLst>
            </p:cNvPr>
            <p:cNvSpPr txBox="1"/>
            <p:nvPr/>
          </p:nvSpPr>
          <p:spPr>
            <a:xfrm>
              <a:off x="6774213" y="3967723"/>
              <a:ext cx="797395" cy="343492"/>
            </a:xfrm>
            <a:prstGeom prst="rect">
              <a:avLst/>
            </a:prstGeom>
            <a:noFill/>
          </p:spPr>
          <p:txBody>
            <a:bodyPr wrap="square">
              <a:spAutoFit/>
            </a:bodyPr>
            <a:lstStyle/>
            <a:p>
              <a:pPr defTabSz="914191"/>
              <a:r>
                <a:rPr lang="en-US" sz="1632" b="1" dirty="0">
                  <a:solidFill>
                    <a:schemeClr val="tx2">
                      <a:lumMod val="50000"/>
                    </a:schemeClr>
                  </a:solidFill>
                </a:rPr>
                <a:t>Task 5</a:t>
              </a:r>
            </a:p>
          </p:txBody>
        </p:sp>
        <p:sp>
          <p:nvSpPr>
            <p:cNvPr id="38" name="TextBox 37">
              <a:extLst>
                <a:ext uri="{FF2B5EF4-FFF2-40B4-BE49-F238E27FC236}">
                  <a16:creationId xmlns:a16="http://schemas.microsoft.com/office/drawing/2014/main" id="{21AC8A89-6494-B0CE-A8EF-B4010042C9D7}"/>
                </a:ext>
              </a:extLst>
            </p:cNvPr>
            <p:cNvSpPr txBox="1"/>
            <p:nvPr/>
          </p:nvSpPr>
          <p:spPr>
            <a:xfrm>
              <a:off x="6769519" y="2162776"/>
              <a:ext cx="797395" cy="343492"/>
            </a:xfrm>
            <a:prstGeom prst="rect">
              <a:avLst/>
            </a:prstGeom>
            <a:noFill/>
          </p:spPr>
          <p:txBody>
            <a:bodyPr wrap="square">
              <a:spAutoFit/>
            </a:bodyPr>
            <a:lstStyle/>
            <a:p>
              <a:pPr defTabSz="914191"/>
              <a:r>
                <a:rPr lang="en-US" sz="1632" b="1" dirty="0">
                  <a:solidFill>
                    <a:schemeClr val="tx2">
                      <a:lumMod val="50000"/>
                    </a:schemeClr>
                  </a:solidFill>
                </a:rPr>
                <a:t>Task 3</a:t>
              </a:r>
            </a:p>
          </p:txBody>
        </p:sp>
        <p:pic>
          <p:nvPicPr>
            <p:cNvPr id="39" name="Graphic 38">
              <a:extLst>
                <a:ext uri="{FF2B5EF4-FFF2-40B4-BE49-F238E27FC236}">
                  <a16:creationId xmlns:a16="http://schemas.microsoft.com/office/drawing/2014/main" id="{EBC749C6-61F2-2BA8-FDC9-8CEE23241E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751978" y="2464602"/>
              <a:ext cx="579087" cy="612861"/>
            </a:xfrm>
            <a:prstGeom prst="rect">
              <a:avLst/>
            </a:prstGeom>
          </p:spPr>
        </p:pic>
        <p:pic>
          <p:nvPicPr>
            <p:cNvPr id="40" name="Graphic 39">
              <a:extLst>
                <a:ext uri="{FF2B5EF4-FFF2-40B4-BE49-F238E27FC236}">
                  <a16:creationId xmlns:a16="http://schemas.microsoft.com/office/drawing/2014/main" id="{64CD3572-ED30-2799-00BE-CBBF0C2011D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863525" y="4253140"/>
              <a:ext cx="481842" cy="578186"/>
            </a:xfrm>
            <a:prstGeom prst="rect">
              <a:avLst/>
            </a:prstGeom>
          </p:spPr>
        </p:pic>
        <p:pic>
          <p:nvPicPr>
            <p:cNvPr id="41" name="Graphic 40">
              <a:extLst>
                <a:ext uri="{FF2B5EF4-FFF2-40B4-BE49-F238E27FC236}">
                  <a16:creationId xmlns:a16="http://schemas.microsoft.com/office/drawing/2014/main" id="{05A72DE9-658D-0961-A8E8-C1AEF46B0D0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58861" y="3097694"/>
              <a:ext cx="505501" cy="505501"/>
            </a:xfrm>
            <a:prstGeom prst="rect">
              <a:avLst/>
            </a:prstGeom>
          </p:spPr>
        </p:pic>
        <p:sp>
          <p:nvSpPr>
            <p:cNvPr id="42" name="TextBox 41">
              <a:extLst>
                <a:ext uri="{FF2B5EF4-FFF2-40B4-BE49-F238E27FC236}">
                  <a16:creationId xmlns:a16="http://schemas.microsoft.com/office/drawing/2014/main" id="{CF0172D9-8672-1E8E-E4DB-AF52D6A7645C}"/>
                </a:ext>
              </a:extLst>
            </p:cNvPr>
            <p:cNvSpPr txBox="1"/>
            <p:nvPr/>
          </p:nvSpPr>
          <p:spPr>
            <a:xfrm>
              <a:off x="1708647" y="2701337"/>
              <a:ext cx="796894" cy="343492"/>
            </a:xfrm>
            <a:prstGeom prst="rect">
              <a:avLst/>
            </a:prstGeom>
            <a:noFill/>
          </p:spPr>
          <p:txBody>
            <a:bodyPr wrap="square">
              <a:spAutoFit/>
            </a:bodyPr>
            <a:lstStyle/>
            <a:p>
              <a:pPr defTabSz="914191"/>
              <a:r>
                <a:rPr lang="en-US" sz="1632" b="1" dirty="0">
                  <a:solidFill>
                    <a:schemeClr val="tx2">
                      <a:lumMod val="50000"/>
                    </a:schemeClr>
                  </a:solidFill>
                </a:rPr>
                <a:t>Task 6</a:t>
              </a:r>
            </a:p>
          </p:txBody>
        </p:sp>
        <p:cxnSp>
          <p:nvCxnSpPr>
            <p:cNvPr id="43" name="Straight Arrow Connector 42">
              <a:extLst>
                <a:ext uri="{FF2B5EF4-FFF2-40B4-BE49-F238E27FC236}">
                  <a16:creationId xmlns:a16="http://schemas.microsoft.com/office/drawing/2014/main" id="{66616FF4-89A4-52D2-6EBE-B5621C4767C5}"/>
                </a:ext>
              </a:extLst>
            </p:cNvPr>
            <p:cNvCxnSpPr>
              <a:cxnSpLocks/>
            </p:cNvCxnSpPr>
            <p:nvPr/>
          </p:nvCxnSpPr>
          <p:spPr>
            <a:xfrm>
              <a:off x="2360483" y="3346867"/>
              <a:ext cx="1067813"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44" name="Graphic 43" descr="World with solid fill">
              <a:extLst>
                <a:ext uri="{FF2B5EF4-FFF2-40B4-BE49-F238E27FC236}">
                  <a16:creationId xmlns:a16="http://schemas.microsoft.com/office/drawing/2014/main" id="{C10502FB-806E-2026-84D6-C2697B7E95A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272263" y="1965905"/>
              <a:ext cx="456503" cy="456503"/>
            </a:xfrm>
            <a:prstGeom prst="rect">
              <a:avLst/>
            </a:prstGeom>
          </p:spPr>
        </p:pic>
        <p:cxnSp>
          <p:nvCxnSpPr>
            <p:cNvPr id="45" name="Straight Arrow Connector 44">
              <a:extLst>
                <a:ext uri="{FF2B5EF4-FFF2-40B4-BE49-F238E27FC236}">
                  <a16:creationId xmlns:a16="http://schemas.microsoft.com/office/drawing/2014/main" id="{1E787CA9-3CC6-62CD-13A0-BF59DA66B476}"/>
                </a:ext>
              </a:extLst>
            </p:cNvPr>
            <p:cNvCxnSpPr>
              <a:cxnSpLocks/>
              <a:stCxn id="44" idx="2"/>
            </p:cNvCxnSpPr>
            <p:nvPr/>
          </p:nvCxnSpPr>
          <p:spPr>
            <a:xfrm flipH="1">
              <a:off x="1500514" y="2422408"/>
              <a:ext cx="1" cy="1066985"/>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32228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6D97F656-E169-FE70-DFA3-EDF961023800}"/>
              </a:ext>
            </a:extLst>
          </p:cNvPr>
          <p:cNvSpPr txBox="1">
            <a:spLocks/>
          </p:cNvSpPr>
          <p:nvPr/>
        </p:nvSpPr>
        <p:spPr>
          <a:xfrm>
            <a:off x="837329" y="1097010"/>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dirty="0"/>
              <a:t>Lab 05 – Architecture diagram (interactive lab simulation)</a:t>
            </a:r>
          </a:p>
        </p:txBody>
      </p:sp>
      <p:grpSp>
        <p:nvGrpSpPr>
          <p:cNvPr id="11" name="Group 10" descr="Architecture diagram as detailed in the lab steps. ">
            <a:extLst>
              <a:ext uri="{FF2B5EF4-FFF2-40B4-BE49-F238E27FC236}">
                <a16:creationId xmlns:a16="http://schemas.microsoft.com/office/drawing/2014/main" id="{AB07B704-2413-6A7E-8714-8DB2B719C236}"/>
              </a:ext>
            </a:extLst>
          </p:cNvPr>
          <p:cNvGrpSpPr/>
          <p:nvPr/>
        </p:nvGrpSpPr>
        <p:grpSpPr>
          <a:xfrm>
            <a:off x="1259268" y="1810794"/>
            <a:ext cx="10381860" cy="5001099"/>
            <a:chOff x="397564" y="1117752"/>
            <a:chExt cx="10435755" cy="5489782"/>
          </a:xfrm>
        </p:grpSpPr>
        <p:sp>
          <p:nvSpPr>
            <p:cNvPr id="12" name="Rectangle 11">
              <a:extLst>
                <a:ext uri="{FF2B5EF4-FFF2-40B4-BE49-F238E27FC236}">
                  <a16:creationId xmlns:a16="http://schemas.microsoft.com/office/drawing/2014/main" id="{B2BB577D-CBBA-5598-1B2E-8F04288609F6}"/>
                </a:ext>
              </a:extLst>
            </p:cNvPr>
            <p:cNvSpPr/>
            <p:nvPr/>
          </p:nvSpPr>
          <p:spPr bwMode="auto">
            <a:xfrm>
              <a:off x="397564" y="1125445"/>
              <a:ext cx="10362399" cy="548208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AF25269F-4B99-BB5B-F2C0-53F792D5B54C}"/>
                </a:ext>
              </a:extLst>
            </p:cNvPr>
            <p:cNvSpPr/>
            <p:nvPr/>
          </p:nvSpPr>
          <p:spPr bwMode="auto">
            <a:xfrm>
              <a:off x="3237490" y="2544270"/>
              <a:ext cx="4467624" cy="2854498"/>
            </a:xfrm>
            <a:prstGeom prst="rect">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4" name="Graphic 10">
              <a:extLst>
                <a:ext uri="{FF2B5EF4-FFF2-40B4-BE49-F238E27FC236}">
                  <a16:creationId xmlns:a16="http://schemas.microsoft.com/office/drawing/2014/main" id="{25167FF3-5A63-970A-9881-1630D0C25DB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9109" y="2675848"/>
              <a:ext cx="403078" cy="403078"/>
            </a:xfrm>
            <a:prstGeom prst="rect">
              <a:avLst/>
            </a:prstGeom>
          </p:spPr>
        </p:pic>
        <p:sp>
          <p:nvSpPr>
            <p:cNvPr id="15" name="TextBox 11">
              <a:extLst>
                <a:ext uri="{FF2B5EF4-FFF2-40B4-BE49-F238E27FC236}">
                  <a16:creationId xmlns:a16="http://schemas.microsoft.com/office/drawing/2014/main" id="{2850B466-7352-53C0-AA6C-4E1D699EBDC5}"/>
                </a:ext>
              </a:extLst>
            </p:cNvPr>
            <p:cNvSpPr txBox="1"/>
            <p:nvPr/>
          </p:nvSpPr>
          <p:spPr>
            <a:xfrm>
              <a:off x="1559558" y="3096831"/>
              <a:ext cx="1322180" cy="68562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67"/>
              <a:r>
                <a:rPr lang="fr-FR" sz="1153" b="1" dirty="0">
                  <a:solidFill>
                    <a:srgbClr val="000000"/>
                  </a:solidFill>
                  <a:latin typeface="Segoe UI"/>
                </a:rPr>
                <a:t>az104-05-vm0</a:t>
              </a:r>
            </a:p>
            <a:p>
              <a:pPr algn="ctr" defTabSz="914367"/>
              <a:r>
                <a:rPr lang="fr-FR" sz="1153" dirty="0">
                  <a:solidFill>
                    <a:srgbClr val="000000"/>
                  </a:solidFill>
                  <a:latin typeface="Segoe UI"/>
                </a:rPr>
                <a:t>10.50.0.4</a:t>
              </a:r>
            </a:p>
            <a:p>
              <a:pPr algn="ctr" defTabSz="914367"/>
              <a:endParaRPr lang="fr-FR" sz="1153" b="1" dirty="0">
                <a:solidFill>
                  <a:srgbClr val="000000"/>
                </a:solidFill>
                <a:latin typeface="Segoe UI"/>
              </a:endParaRPr>
            </a:p>
          </p:txBody>
        </p:sp>
        <p:pic>
          <p:nvPicPr>
            <p:cNvPr id="16" name="Graphic 12">
              <a:extLst>
                <a:ext uri="{FF2B5EF4-FFF2-40B4-BE49-F238E27FC236}">
                  <a16:creationId xmlns:a16="http://schemas.microsoft.com/office/drawing/2014/main" id="{B1C485BC-78A7-C528-C901-9E50D91E8FF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0673" y="1875509"/>
              <a:ext cx="412418" cy="412418"/>
            </a:xfrm>
            <a:prstGeom prst="rect">
              <a:avLst/>
            </a:prstGeom>
          </p:spPr>
        </p:pic>
        <p:sp>
          <p:nvSpPr>
            <p:cNvPr id="17" name="Rectangle 16">
              <a:extLst>
                <a:ext uri="{FF2B5EF4-FFF2-40B4-BE49-F238E27FC236}">
                  <a16:creationId xmlns:a16="http://schemas.microsoft.com/office/drawing/2014/main" id="{636DCEC9-1D95-2C10-6CCE-A35CF7D1E9EE}"/>
                </a:ext>
              </a:extLst>
            </p:cNvPr>
            <p:cNvSpPr/>
            <p:nvPr/>
          </p:nvSpPr>
          <p:spPr bwMode="auto">
            <a:xfrm>
              <a:off x="1060672" y="2298346"/>
              <a:ext cx="2479331" cy="1360432"/>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sp>
          <p:nvSpPr>
            <p:cNvPr id="18" name="TextBox 14">
              <a:extLst>
                <a:ext uri="{FF2B5EF4-FFF2-40B4-BE49-F238E27FC236}">
                  <a16:creationId xmlns:a16="http://schemas.microsoft.com/office/drawing/2014/main" id="{83A494FD-25AB-902A-4F5E-57BF54E415E4}"/>
                </a:ext>
              </a:extLst>
            </p:cNvPr>
            <p:cNvSpPr txBox="1"/>
            <p:nvPr/>
          </p:nvSpPr>
          <p:spPr>
            <a:xfrm>
              <a:off x="1473091" y="1912132"/>
              <a:ext cx="2688259"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az104-05-vnet0 </a:t>
              </a:r>
              <a:r>
                <a:rPr lang="fr-FR" sz="1153" dirty="0">
                  <a:solidFill>
                    <a:srgbClr val="000000"/>
                  </a:solidFill>
                  <a:latin typeface="Segoe UI"/>
                </a:rPr>
                <a:t>10.50.0.0/22</a:t>
              </a:r>
            </a:p>
          </p:txBody>
        </p:sp>
        <p:sp>
          <p:nvSpPr>
            <p:cNvPr id="19" name="Rectangle 18">
              <a:extLst>
                <a:ext uri="{FF2B5EF4-FFF2-40B4-BE49-F238E27FC236}">
                  <a16:creationId xmlns:a16="http://schemas.microsoft.com/office/drawing/2014/main" id="{3679497B-D4A1-766C-D941-5A8BF6918FC8}"/>
                </a:ext>
              </a:extLst>
            </p:cNvPr>
            <p:cNvSpPr/>
            <p:nvPr/>
          </p:nvSpPr>
          <p:spPr bwMode="auto">
            <a:xfrm>
              <a:off x="1432037" y="2586931"/>
              <a:ext cx="1600692" cy="981237"/>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sp>
          <p:nvSpPr>
            <p:cNvPr id="20" name="TextBox 16">
              <a:extLst>
                <a:ext uri="{FF2B5EF4-FFF2-40B4-BE49-F238E27FC236}">
                  <a16:creationId xmlns:a16="http://schemas.microsoft.com/office/drawing/2014/main" id="{3099E733-CBEE-0E30-E092-3DF92C2C10E9}"/>
                </a:ext>
              </a:extLst>
            </p:cNvPr>
            <p:cNvSpPr txBox="1"/>
            <p:nvPr/>
          </p:nvSpPr>
          <p:spPr>
            <a:xfrm>
              <a:off x="1389348" y="2317676"/>
              <a:ext cx="1848143"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Subnet0 </a:t>
              </a:r>
              <a:r>
                <a:rPr lang="fr-FR" sz="1153" dirty="0">
                  <a:solidFill>
                    <a:srgbClr val="000000"/>
                  </a:solidFill>
                  <a:latin typeface="Segoe UI"/>
                </a:rPr>
                <a:t>10.50.0.0/24</a:t>
              </a:r>
            </a:p>
          </p:txBody>
        </p:sp>
        <p:sp>
          <p:nvSpPr>
            <p:cNvPr id="21" name="TextBox 17">
              <a:extLst>
                <a:ext uri="{FF2B5EF4-FFF2-40B4-BE49-F238E27FC236}">
                  <a16:creationId xmlns:a16="http://schemas.microsoft.com/office/drawing/2014/main" id="{3C526CB0-4DDF-0773-F754-2410BC243F38}"/>
                </a:ext>
              </a:extLst>
            </p:cNvPr>
            <p:cNvSpPr txBox="1"/>
            <p:nvPr/>
          </p:nvSpPr>
          <p:spPr>
            <a:xfrm>
              <a:off x="1848504" y="1524964"/>
              <a:ext cx="1297732"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az104-05-rg1</a:t>
              </a:r>
            </a:p>
          </p:txBody>
        </p:sp>
        <p:sp>
          <p:nvSpPr>
            <p:cNvPr id="22" name="Rectangle 21">
              <a:extLst>
                <a:ext uri="{FF2B5EF4-FFF2-40B4-BE49-F238E27FC236}">
                  <a16:creationId xmlns:a16="http://schemas.microsoft.com/office/drawing/2014/main" id="{0F454440-DAB7-3F01-41BD-9D5419307E9B}"/>
                </a:ext>
              </a:extLst>
            </p:cNvPr>
            <p:cNvSpPr/>
            <p:nvPr/>
          </p:nvSpPr>
          <p:spPr bwMode="auto">
            <a:xfrm>
              <a:off x="893959" y="1843182"/>
              <a:ext cx="2845251" cy="1954152"/>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pic>
          <p:nvPicPr>
            <p:cNvPr id="23" name="Graphic 19">
              <a:extLst>
                <a:ext uri="{FF2B5EF4-FFF2-40B4-BE49-F238E27FC236}">
                  <a16:creationId xmlns:a16="http://schemas.microsoft.com/office/drawing/2014/main" id="{2A0C80AA-2BC9-7CAE-EB08-AAABDD6554D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75580" y="1473577"/>
              <a:ext cx="376369" cy="376369"/>
            </a:xfrm>
            <a:prstGeom prst="rect">
              <a:avLst/>
            </a:prstGeom>
          </p:spPr>
        </p:pic>
        <p:pic>
          <p:nvPicPr>
            <p:cNvPr id="24" name="Graphic 20">
              <a:extLst>
                <a:ext uri="{FF2B5EF4-FFF2-40B4-BE49-F238E27FC236}">
                  <a16:creationId xmlns:a16="http://schemas.microsoft.com/office/drawing/2014/main" id="{9AAC1938-D947-ECF1-E870-EA8075A324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45297" y="4909043"/>
              <a:ext cx="403078" cy="403078"/>
            </a:xfrm>
            <a:prstGeom prst="rect">
              <a:avLst/>
            </a:prstGeom>
          </p:spPr>
        </p:pic>
        <p:sp>
          <p:nvSpPr>
            <p:cNvPr id="25" name="TextBox 21">
              <a:extLst>
                <a:ext uri="{FF2B5EF4-FFF2-40B4-BE49-F238E27FC236}">
                  <a16:creationId xmlns:a16="http://schemas.microsoft.com/office/drawing/2014/main" id="{CD3E1081-04C7-D7F3-D4D2-5D92CE2FF760}"/>
                </a:ext>
              </a:extLst>
            </p:cNvPr>
            <p:cNvSpPr txBox="1"/>
            <p:nvPr/>
          </p:nvSpPr>
          <p:spPr>
            <a:xfrm>
              <a:off x="1585746" y="5330026"/>
              <a:ext cx="1322180" cy="49087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67"/>
              <a:r>
                <a:rPr lang="fr-FR" sz="1153" b="1" dirty="0">
                  <a:solidFill>
                    <a:srgbClr val="000000"/>
                  </a:solidFill>
                  <a:latin typeface="Segoe UI"/>
                </a:rPr>
                <a:t>az104-05-vm1</a:t>
              </a:r>
            </a:p>
            <a:p>
              <a:pPr algn="ctr" defTabSz="914367"/>
              <a:r>
                <a:rPr lang="fr-FR" sz="1153" dirty="0">
                  <a:solidFill>
                    <a:srgbClr val="000000"/>
                  </a:solidFill>
                  <a:latin typeface="Segoe UI"/>
                </a:rPr>
                <a:t>10.51.0.4</a:t>
              </a:r>
              <a:endParaRPr lang="fr-FR" sz="1153" b="1" dirty="0">
                <a:solidFill>
                  <a:srgbClr val="000000"/>
                </a:solidFill>
                <a:latin typeface="Segoe UI"/>
              </a:endParaRPr>
            </a:p>
          </p:txBody>
        </p:sp>
        <p:pic>
          <p:nvPicPr>
            <p:cNvPr id="26" name="Graphic 22">
              <a:extLst>
                <a:ext uri="{FF2B5EF4-FFF2-40B4-BE49-F238E27FC236}">
                  <a16:creationId xmlns:a16="http://schemas.microsoft.com/office/drawing/2014/main" id="{3A9AE70B-1F41-315E-3F53-05DB88EFC88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03118" y="5919280"/>
              <a:ext cx="412418" cy="412418"/>
            </a:xfrm>
            <a:prstGeom prst="rect">
              <a:avLst/>
            </a:prstGeom>
          </p:spPr>
        </p:pic>
        <p:sp>
          <p:nvSpPr>
            <p:cNvPr id="27" name="Rectangle 26">
              <a:extLst>
                <a:ext uri="{FF2B5EF4-FFF2-40B4-BE49-F238E27FC236}">
                  <a16:creationId xmlns:a16="http://schemas.microsoft.com/office/drawing/2014/main" id="{64762962-1AA7-DD16-DAC0-C6B11A9650D9}"/>
                </a:ext>
              </a:extLst>
            </p:cNvPr>
            <p:cNvSpPr/>
            <p:nvPr/>
          </p:nvSpPr>
          <p:spPr bwMode="auto">
            <a:xfrm>
              <a:off x="1045806" y="4543667"/>
              <a:ext cx="2479331" cy="1362970"/>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sp>
          <p:nvSpPr>
            <p:cNvPr id="28" name="TextBox 24">
              <a:extLst>
                <a:ext uri="{FF2B5EF4-FFF2-40B4-BE49-F238E27FC236}">
                  <a16:creationId xmlns:a16="http://schemas.microsoft.com/office/drawing/2014/main" id="{BC71C6F8-E6EA-C533-6D84-B7859E290766}"/>
                </a:ext>
              </a:extLst>
            </p:cNvPr>
            <p:cNvSpPr txBox="1"/>
            <p:nvPr/>
          </p:nvSpPr>
          <p:spPr>
            <a:xfrm>
              <a:off x="1415536" y="5955903"/>
              <a:ext cx="2688259"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az104-05-vnet1 </a:t>
              </a:r>
              <a:r>
                <a:rPr lang="fr-FR" sz="1153" dirty="0">
                  <a:solidFill>
                    <a:srgbClr val="000000"/>
                  </a:solidFill>
                  <a:latin typeface="Segoe UI"/>
                </a:rPr>
                <a:t>10.51.0.0/22</a:t>
              </a:r>
            </a:p>
          </p:txBody>
        </p:sp>
        <p:sp>
          <p:nvSpPr>
            <p:cNvPr id="29" name="Rectangle 28">
              <a:extLst>
                <a:ext uri="{FF2B5EF4-FFF2-40B4-BE49-F238E27FC236}">
                  <a16:creationId xmlns:a16="http://schemas.microsoft.com/office/drawing/2014/main" id="{3E58D7AE-0553-C13D-6DEC-1D3444E07664}"/>
                </a:ext>
              </a:extLst>
            </p:cNvPr>
            <p:cNvSpPr/>
            <p:nvPr/>
          </p:nvSpPr>
          <p:spPr bwMode="auto">
            <a:xfrm>
              <a:off x="1458224" y="4845027"/>
              <a:ext cx="1600692" cy="937589"/>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sp>
          <p:nvSpPr>
            <p:cNvPr id="30" name="TextBox 26">
              <a:extLst>
                <a:ext uri="{FF2B5EF4-FFF2-40B4-BE49-F238E27FC236}">
                  <a16:creationId xmlns:a16="http://schemas.microsoft.com/office/drawing/2014/main" id="{6F7A541D-9166-D756-3E0F-A4EB73E08C0A}"/>
                </a:ext>
              </a:extLst>
            </p:cNvPr>
            <p:cNvSpPr txBox="1"/>
            <p:nvPr/>
          </p:nvSpPr>
          <p:spPr>
            <a:xfrm>
              <a:off x="1415536" y="4588224"/>
              <a:ext cx="1848143"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Subnet0 </a:t>
              </a:r>
              <a:r>
                <a:rPr lang="fr-FR" sz="1153" dirty="0">
                  <a:solidFill>
                    <a:srgbClr val="000000"/>
                  </a:solidFill>
                  <a:latin typeface="Segoe UI"/>
                </a:rPr>
                <a:t>10.51.0.0/24</a:t>
              </a:r>
            </a:p>
          </p:txBody>
        </p:sp>
        <p:sp>
          <p:nvSpPr>
            <p:cNvPr id="31" name="TextBox 27">
              <a:extLst>
                <a:ext uri="{FF2B5EF4-FFF2-40B4-BE49-F238E27FC236}">
                  <a16:creationId xmlns:a16="http://schemas.microsoft.com/office/drawing/2014/main" id="{0565D7F0-6771-A941-57A9-20287EE2AD8F}"/>
                </a:ext>
              </a:extLst>
            </p:cNvPr>
            <p:cNvSpPr txBox="1"/>
            <p:nvPr/>
          </p:nvSpPr>
          <p:spPr>
            <a:xfrm>
              <a:off x="1764554" y="4049519"/>
              <a:ext cx="1297732"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az104-05-rg1</a:t>
              </a:r>
            </a:p>
          </p:txBody>
        </p:sp>
        <p:sp>
          <p:nvSpPr>
            <p:cNvPr id="32" name="Rectangle 31">
              <a:extLst>
                <a:ext uri="{FF2B5EF4-FFF2-40B4-BE49-F238E27FC236}">
                  <a16:creationId xmlns:a16="http://schemas.microsoft.com/office/drawing/2014/main" id="{0AB16060-BC25-F7F2-C82D-A0581F66FDF1}"/>
                </a:ext>
              </a:extLst>
            </p:cNvPr>
            <p:cNvSpPr/>
            <p:nvPr/>
          </p:nvSpPr>
          <p:spPr bwMode="auto">
            <a:xfrm>
              <a:off x="879091" y="4414548"/>
              <a:ext cx="2845251" cy="1954152"/>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pic>
          <p:nvPicPr>
            <p:cNvPr id="33" name="Graphic 29">
              <a:extLst>
                <a:ext uri="{FF2B5EF4-FFF2-40B4-BE49-F238E27FC236}">
                  <a16:creationId xmlns:a16="http://schemas.microsoft.com/office/drawing/2014/main" id="{5304113A-0E05-2D13-2AA1-1715FCBCE53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391631" y="3998132"/>
              <a:ext cx="376369" cy="376369"/>
            </a:xfrm>
            <a:prstGeom prst="rect">
              <a:avLst/>
            </a:prstGeom>
          </p:spPr>
        </p:pic>
        <p:pic>
          <p:nvPicPr>
            <p:cNvPr id="34" name="Graphic 30">
              <a:extLst>
                <a:ext uri="{FF2B5EF4-FFF2-40B4-BE49-F238E27FC236}">
                  <a16:creationId xmlns:a16="http://schemas.microsoft.com/office/drawing/2014/main" id="{D491B355-DC99-D314-0AB2-0B51F1B87C7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7721" y="3882641"/>
              <a:ext cx="403078" cy="403078"/>
            </a:xfrm>
            <a:prstGeom prst="rect">
              <a:avLst/>
            </a:prstGeom>
          </p:spPr>
        </p:pic>
        <p:sp>
          <p:nvSpPr>
            <p:cNvPr id="35" name="TextBox 31">
              <a:extLst>
                <a:ext uri="{FF2B5EF4-FFF2-40B4-BE49-F238E27FC236}">
                  <a16:creationId xmlns:a16="http://schemas.microsoft.com/office/drawing/2014/main" id="{36FC034C-3378-D8C2-57D2-D7ADC23FCA35}"/>
                </a:ext>
              </a:extLst>
            </p:cNvPr>
            <p:cNvSpPr txBox="1"/>
            <p:nvPr/>
          </p:nvSpPr>
          <p:spPr>
            <a:xfrm>
              <a:off x="8248170" y="4303624"/>
              <a:ext cx="1322180" cy="49087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67"/>
              <a:r>
                <a:rPr lang="fr-FR" sz="1153" b="1" dirty="0">
                  <a:solidFill>
                    <a:srgbClr val="000000"/>
                  </a:solidFill>
                  <a:latin typeface="Segoe UI"/>
                </a:rPr>
                <a:t>az104-05-vm2</a:t>
              </a:r>
            </a:p>
            <a:p>
              <a:pPr algn="ctr" defTabSz="914367"/>
              <a:r>
                <a:rPr lang="fr-FR" sz="1153" dirty="0">
                  <a:solidFill>
                    <a:srgbClr val="000000"/>
                  </a:solidFill>
                  <a:latin typeface="Segoe UI"/>
                </a:rPr>
                <a:t>10.52.0.4</a:t>
              </a:r>
              <a:endParaRPr lang="fr-FR" sz="1153" b="1" dirty="0">
                <a:solidFill>
                  <a:srgbClr val="000000"/>
                </a:solidFill>
                <a:latin typeface="Segoe UI"/>
              </a:endParaRPr>
            </a:p>
          </p:txBody>
        </p:sp>
        <p:sp>
          <p:nvSpPr>
            <p:cNvPr id="36" name="Rectangle 35">
              <a:extLst>
                <a:ext uri="{FF2B5EF4-FFF2-40B4-BE49-F238E27FC236}">
                  <a16:creationId xmlns:a16="http://schemas.microsoft.com/office/drawing/2014/main" id="{733FCCC9-EC33-593D-675B-C1E4F7160B42}"/>
                </a:ext>
              </a:extLst>
            </p:cNvPr>
            <p:cNvSpPr/>
            <p:nvPr/>
          </p:nvSpPr>
          <p:spPr bwMode="auto">
            <a:xfrm>
              <a:off x="7657543" y="3332375"/>
              <a:ext cx="2479331" cy="1767087"/>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sp>
          <p:nvSpPr>
            <p:cNvPr id="37" name="TextBox 33">
              <a:extLst>
                <a:ext uri="{FF2B5EF4-FFF2-40B4-BE49-F238E27FC236}">
                  <a16:creationId xmlns:a16="http://schemas.microsoft.com/office/drawing/2014/main" id="{3E80A159-C2D4-2BE2-1534-AC96603B1E15}"/>
                </a:ext>
              </a:extLst>
            </p:cNvPr>
            <p:cNvSpPr txBox="1"/>
            <p:nvPr/>
          </p:nvSpPr>
          <p:spPr>
            <a:xfrm>
              <a:off x="8069962" y="3008413"/>
              <a:ext cx="2266119"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az104-05-vnet2 </a:t>
              </a:r>
              <a:r>
                <a:rPr lang="fr-FR" sz="1153" dirty="0">
                  <a:solidFill>
                    <a:srgbClr val="000000"/>
                  </a:solidFill>
                  <a:latin typeface="Segoe UI"/>
                </a:rPr>
                <a:t>10.52.0.0/22</a:t>
              </a:r>
            </a:p>
          </p:txBody>
        </p:sp>
        <p:sp>
          <p:nvSpPr>
            <p:cNvPr id="38" name="Rectangle 37">
              <a:extLst>
                <a:ext uri="{FF2B5EF4-FFF2-40B4-BE49-F238E27FC236}">
                  <a16:creationId xmlns:a16="http://schemas.microsoft.com/office/drawing/2014/main" id="{25347811-3630-2998-18FF-A8B0D70589D3}"/>
                </a:ext>
              </a:extLst>
            </p:cNvPr>
            <p:cNvSpPr/>
            <p:nvPr/>
          </p:nvSpPr>
          <p:spPr bwMode="auto">
            <a:xfrm>
              <a:off x="8120649" y="3818624"/>
              <a:ext cx="1600692" cy="937589"/>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sp>
          <p:nvSpPr>
            <p:cNvPr id="39" name="TextBox 35">
              <a:extLst>
                <a:ext uri="{FF2B5EF4-FFF2-40B4-BE49-F238E27FC236}">
                  <a16:creationId xmlns:a16="http://schemas.microsoft.com/office/drawing/2014/main" id="{E49DCA93-E041-2911-61D4-830109B397F5}"/>
                </a:ext>
              </a:extLst>
            </p:cNvPr>
            <p:cNvSpPr txBox="1"/>
            <p:nvPr/>
          </p:nvSpPr>
          <p:spPr>
            <a:xfrm>
              <a:off x="8056277" y="3485807"/>
              <a:ext cx="1848143"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Subnet0 </a:t>
              </a:r>
              <a:r>
                <a:rPr lang="fr-FR" sz="1153" dirty="0">
                  <a:solidFill>
                    <a:srgbClr val="000000"/>
                  </a:solidFill>
                  <a:latin typeface="Segoe UI"/>
                </a:rPr>
                <a:t>10.52.0.0/24</a:t>
              </a:r>
            </a:p>
          </p:txBody>
        </p:sp>
        <p:sp>
          <p:nvSpPr>
            <p:cNvPr id="40" name="TextBox 36">
              <a:extLst>
                <a:ext uri="{FF2B5EF4-FFF2-40B4-BE49-F238E27FC236}">
                  <a16:creationId xmlns:a16="http://schemas.microsoft.com/office/drawing/2014/main" id="{6892AA22-A128-2527-93D9-68385FB5BDDC}"/>
                </a:ext>
              </a:extLst>
            </p:cNvPr>
            <p:cNvSpPr txBox="1"/>
            <p:nvPr/>
          </p:nvSpPr>
          <p:spPr>
            <a:xfrm>
              <a:off x="8624537" y="2554360"/>
              <a:ext cx="1297732"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az104-05-rg1</a:t>
              </a:r>
            </a:p>
          </p:txBody>
        </p:sp>
        <p:sp>
          <p:nvSpPr>
            <p:cNvPr id="41" name="Rectangle 40">
              <a:extLst>
                <a:ext uri="{FF2B5EF4-FFF2-40B4-BE49-F238E27FC236}">
                  <a16:creationId xmlns:a16="http://schemas.microsoft.com/office/drawing/2014/main" id="{B9C03759-08D3-4C96-8BC5-2A15BF95062C}"/>
                </a:ext>
              </a:extLst>
            </p:cNvPr>
            <p:cNvSpPr/>
            <p:nvPr/>
          </p:nvSpPr>
          <p:spPr bwMode="auto">
            <a:xfrm>
              <a:off x="7490830" y="2877211"/>
              <a:ext cx="2845251" cy="2286267"/>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cs typeface="Segoe UI" pitchFamily="34" charset="0"/>
              </a:endParaRPr>
            </a:p>
          </p:txBody>
        </p:sp>
        <p:sp>
          <p:nvSpPr>
            <p:cNvPr id="42" name="Rectangle: Rounded Corners 41">
              <a:extLst>
                <a:ext uri="{FF2B5EF4-FFF2-40B4-BE49-F238E27FC236}">
                  <a16:creationId xmlns:a16="http://schemas.microsoft.com/office/drawing/2014/main" id="{96749177-BB44-FC41-7799-5F51F91F0C84}"/>
                </a:ext>
              </a:extLst>
            </p:cNvPr>
            <p:cNvSpPr/>
            <p:nvPr/>
          </p:nvSpPr>
          <p:spPr bwMode="auto">
            <a:xfrm>
              <a:off x="526823" y="1309285"/>
              <a:ext cx="3573193" cy="5226687"/>
            </a:xfrm>
            <a:prstGeom prst="roundRect">
              <a:avLst/>
            </a:prstGeom>
            <a:noFill/>
            <a:ln>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3" name="TextBox 39">
              <a:extLst>
                <a:ext uri="{FF2B5EF4-FFF2-40B4-BE49-F238E27FC236}">
                  <a16:creationId xmlns:a16="http://schemas.microsoft.com/office/drawing/2014/main" id="{E849F50E-6980-0271-9133-50AE1E48FC87}"/>
                </a:ext>
              </a:extLst>
            </p:cNvPr>
            <p:cNvSpPr txBox="1"/>
            <p:nvPr/>
          </p:nvSpPr>
          <p:spPr>
            <a:xfrm>
              <a:off x="709815" y="1117752"/>
              <a:ext cx="1297732" cy="361009"/>
            </a:xfrm>
            <a:prstGeom prst="rect">
              <a:avLst/>
            </a:prstGeom>
            <a:solidFill>
              <a:schemeClr val="bg1">
                <a:lumMod val="95000"/>
              </a:schemeClr>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537" b="1" dirty="0">
                  <a:solidFill>
                    <a:srgbClr val="000000"/>
                  </a:solidFill>
                  <a:latin typeface="Segoe UI"/>
                </a:rPr>
                <a:t>Region1</a:t>
              </a:r>
            </a:p>
          </p:txBody>
        </p:sp>
        <p:sp>
          <p:nvSpPr>
            <p:cNvPr id="44" name="Rectangle: Rounded Corners 43">
              <a:extLst>
                <a:ext uri="{FF2B5EF4-FFF2-40B4-BE49-F238E27FC236}">
                  <a16:creationId xmlns:a16="http://schemas.microsoft.com/office/drawing/2014/main" id="{6BBA43E5-1EDF-BCF4-43BF-CF5C3071757A}"/>
                </a:ext>
              </a:extLst>
            </p:cNvPr>
            <p:cNvSpPr/>
            <p:nvPr/>
          </p:nvSpPr>
          <p:spPr bwMode="auto">
            <a:xfrm>
              <a:off x="7072218" y="2377440"/>
              <a:ext cx="3573193" cy="2957802"/>
            </a:xfrm>
            <a:prstGeom prst="roundRect">
              <a:avLst/>
            </a:prstGeom>
            <a:noFill/>
            <a:ln>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5761" tIns="140609" rIns="175761" bIns="140609"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96094" fontAlgn="base">
                <a:lnSpc>
                  <a:spcPct val="90000"/>
                </a:lnSpc>
                <a:spcBef>
                  <a:spcPct val="0"/>
                </a:spcBef>
                <a:spcAft>
                  <a:spcPct val="0"/>
                </a:spcAft>
              </a:pPr>
              <a:endParaRPr lang="fr-FR" sz="2307"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5" name="TextBox 41">
              <a:extLst>
                <a:ext uri="{FF2B5EF4-FFF2-40B4-BE49-F238E27FC236}">
                  <a16:creationId xmlns:a16="http://schemas.microsoft.com/office/drawing/2014/main" id="{6577EEB4-E502-9318-85E2-119BA66D4425}"/>
                </a:ext>
              </a:extLst>
            </p:cNvPr>
            <p:cNvSpPr txBox="1"/>
            <p:nvPr/>
          </p:nvSpPr>
          <p:spPr>
            <a:xfrm>
              <a:off x="7318767" y="2152443"/>
              <a:ext cx="1297732" cy="361009"/>
            </a:xfrm>
            <a:prstGeom prst="rect">
              <a:avLst/>
            </a:prstGeom>
            <a:solidFill>
              <a:schemeClr val="bg1">
                <a:lumMod val="95000"/>
              </a:schemeClr>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537" b="1" dirty="0">
                  <a:solidFill>
                    <a:srgbClr val="000000"/>
                  </a:solidFill>
                  <a:latin typeface="Segoe UI"/>
                </a:rPr>
                <a:t>Region2</a:t>
              </a:r>
            </a:p>
          </p:txBody>
        </p:sp>
        <p:sp>
          <p:nvSpPr>
            <p:cNvPr id="46" name="TextBox 42">
              <a:extLst>
                <a:ext uri="{FF2B5EF4-FFF2-40B4-BE49-F238E27FC236}">
                  <a16:creationId xmlns:a16="http://schemas.microsoft.com/office/drawing/2014/main" id="{1EBA53E8-7863-6A9C-B4BD-FFED5D1EC669}"/>
                </a:ext>
              </a:extLst>
            </p:cNvPr>
            <p:cNvSpPr txBox="1"/>
            <p:nvPr/>
          </p:nvSpPr>
          <p:spPr>
            <a:xfrm>
              <a:off x="10025649" y="1202023"/>
              <a:ext cx="807670" cy="29408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err="1">
                  <a:solidFill>
                    <a:srgbClr val="0078D3">
                      <a:lumMod val="50000"/>
                    </a:srgbClr>
                  </a:solidFill>
                  <a:latin typeface="Segoe UI"/>
                </a:rPr>
                <a:t>Task</a:t>
              </a:r>
              <a:r>
                <a:rPr lang="fr-FR" sz="1153" b="1" dirty="0">
                  <a:solidFill>
                    <a:srgbClr val="0078D3">
                      <a:lumMod val="50000"/>
                    </a:srgbClr>
                  </a:solidFill>
                  <a:latin typeface="Segoe UI"/>
                </a:rPr>
                <a:t> 1</a:t>
              </a:r>
            </a:p>
          </p:txBody>
        </p:sp>
        <p:pic>
          <p:nvPicPr>
            <p:cNvPr id="47" name="Graphic 43">
              <a:extLst>
                <a:ext uri="{FF2B5EF4-FFF2-40B4-BE49-F238E27FC236}">
                  <a16:creationId xmlns:a16="http://schemas.microsoft.com/office/drawing/2014/main" id="{E4CCDB83-255B-A912-A2A3-1794366998F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57544" y="2971790"/>
              <a:ext cx="412418" cy="412418"/>
            </a:xfrm>
            <a:prstGeom prst="rect">
              <a:avLst/>
            </a:prstGeom>
          </p:spPr>
        </p:pic>
        <p:pic>
          <p:nvPicPr>
            <p:cNvPr id="48" name="Graphic 44">
              <a:extLst>
                <a:ext uri="{FF2B5EF4-FFF2-40B4-BE49-F238E27FC236}">
                  <a16:creationId xmlns:a16="http://schemas.microsoft.com/office/drawing/2014/main" id="{EDC85E91-F30C-8574-06A8-CB9F50FC519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62118" y="2502213"/>
              <a:ext cx="376369" cy="376369"/>
            </a:xfrm>
            <a:prstGeom prst="rect">
              <a:avLst/>
            </a:prstGeom>
          </p:spPr>
        </p:pic>
        <p:pic>
          <p:nvPicPr>
            <p:cNvPr id="49" name="Graphic 45">
              <a:extLst>
                <a:ext uri="{FF2B5EF4-FFF2-40B4-BE49-F238E27FC236}">
                  <a16:creationId xmlns:a16="http://schemas.microsoft.com/office/drawing/2014/main" id="{584D5EFA-04AA-4F93-708D-442E32B79AA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494306" y="3889357"/>
              <a:ext cx="318811" cy="318811"/>
            </a:xfrm>
            <a:prstGeom prst="rect">
              <a:avLst/>
            </a:prstGeom>
          </p:spPr>
        </p:pic>
        <p:cxnSp>
          <p:nvCxnSpPr>
            <p:cNvPr id="50" name="Straight Connector 49">
              <a:extLst>
                <a:ext uri="{FF2B5EF4-FFF2-40B4-BE49-F238E27FC236}">
                  <a16:creationId xmlns:a16="http://schemas.microsoft.com/office/drawing/2014/main" id="{BF94F304-F216-7132-2008-47A0F74F278C}"/>
                </a:ext>
              </a:extLst>
            </p:cNvPr>
            <p:cNvCxnSpPr>
              <a:cxnSpLocks/>
            </p:cNvCxnSpPr>
            <p:nvPr/>
          </p:nvCxnSpPr>
          <p:spPr>
            <a:xfrm flipH="1">
              <a:off x="3356730" y="3658779"/>
              <a:ext cx="4863" cy="884888"/>
            </a:xfrm>
            <a:prstGeom prst="line">
              <a:avLst/>
            </a:prstGeom>
            <a:ln w="57150">
              <a:solidFill>
                <a:schemeClr val="accent4">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1" name="TextBox 47">
              <a:extLst>
                <a:ext uri="{FF2B5EF4-FFF2-40B4-BE49-F238E27FC236}">
                  <a16:creationId xmlns:a16="http://schemas.microsoft.com/office/drawing/2014/main" id="{E21C52E7-2AE6-9142-80F6-47E3FFCF6DCC}"/>
                </a:ext>
              </a:extLst>
            </p:cNvPr>
            <p:cNvSpPr txBox="1"/>
            <p:nvPr/>
          </p:nvSpPr>
          <p:spPr>
            <a:xfrm>
              <a:off x="3801462" y="3909892"/>
              <a:ext cx="1127649" cy="294087"/>
            </a:xfrm>
            <a:prstGeom prst="rect">
              <a:avLst/>
            </a:prstGeom>
            <a:solidFill>
              <a:srgbClr val="D3D3D3"/>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67"/>
              <a:r>
                <a:rPr lang="fr-FR" sz="1153" b="1" dirty="0">
                  <a:solidFill>
                    <a:srgbClr val="000000"/>
                  </a:solidFill>
                  <a:latin typeface="Segoe UI"/>
                </a:rPr>
                <a:t>Local </a:t>
              </a:r>
              <a:r>
                <a:rPr lang="fr-FR" sz="1153" b="1" dirty="0" err="1">
                  <a:solidFill>
                    <a:srgbClr val="000000"/>
                  </a:solidFill>
                  <a:latin typeface="Segoe UI"/>
                </a:rPr>
                <a:t>Peering</a:t>
              </a:r>
              <a:endParaRPr lang="fr-FR" sz="1153" b="1" dirty="0">
                <a:solidFill>
                  <a:srgbClr val="000000"/>
                </a:solidFill>
                <a:latin typeface="Segoe UI"/>
              </a:endParaRPr>
            </a:p>
          </p:txBody>
        </p:sp>
        <p:cxnSp>
          <p:nvCxnSpPr>
            <p:cNvPr id="52" name="Straight Connector 51">
              <a:extLst>
                <a:ext uri="{FF2B5EF4-FFF2-40B4-BE49-F238E27FC236}">
                  <a16:creationId xmlns:a16="http://schemas.microsoft.com/office/drawing/2014/main" id="{607EA034-B105-1FB1-F61C-F71B7F5F2925}"/>
                </a:ext>
              </a:extLst>
            </p:cNvPr>
            <p:cNvCxnSpPr>
              <a:cxnSpLocks/>
            </p:cNvCxnSpPr>
            <p:nvPr/>
          </p:nvCxnSpPr>
          <p:spPr>
            <a:xfrm>
              <a:off x="3540003" y="3429000"/>
              <a:ext cx="4117539" cy="15522"/>
            </a:xfrm>
            <a:prstGeom prst="line">
              <a:avLst/>
            </a:prstGeom>
            <a:ln w="57150">
              <a:solidFill>
                <a:schemeClr val="accent4">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53" name="Graphic 49">
              <a:extLst>
                <a:ext uri="{FF2B5EF4-FFF2-40B4-BE49-F238E27FC236}">
                  <a16:creationId xmlns:a16="http://schemas.microsoft.com/office/drawing/2014/main" id="{CAE11C87-1D7C-6656-D243-CBBC833E92A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794561" y="3008018"/>
              <a:ext cx="318811" cy="318811"/>
            </a:xfrm>
            <a:prstGeom prst="rect">
              <a:avLst/>
            </a:prstGeom>
          </p:spPr>
        </p:pic>
        <p:sp>
          <p:nvSpPr>
            <p:cNvPr id="54" name="TextBox 50">
              <a:extLst>
                <a:ext uri="{FF2B5EF4-FFF2-40B4-BE49-F238E27FC236}">
                  <a16:creationId xmlns:a16="http://schemas.microsoft.com/office/drawing/2014/main" id="{71AC9D38-F9E8-3CDA-10B7-48D1F6C604A2}"/>
                </a:ext>
              </a:extLst>
            </p:cNvPr>
            <p:cNvSpPr txBox="1"/>
            <p:nvPr/>
          </p:nvSpPr>
          <p:spPr>
            <a:xfrm>
              <a:off x="5057285" y="3019784"/>
              <a:ext cx="1286752"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Global </a:t>
              </a:r>
              <a:r>
                <a:rPr lang="fr-FR" sz="1153" b="1" dirty="0" err="1">
                  <a:solidFill>
                    <a:srgbClr val="000000"/>
                  </a:solidFill>
                  <a:latin typeface="Segoe UI"/>
                </a:rPr>
                <a:t>Peering</a:t>
              </a:r>
              <a:endParaRPr lang="fr-FR" sz="1153" b="1" dirty="0">
                <a:solidFill>
                  <a:srgbClr val="000000"/>
                </a:solidFill>
                <a:latin typeface="Segoe UI"/>
              </a:endParaRPr>
            </a:p>
          </p:txBody>
        </p:sp>
        <p:cxnSp>
          <p:nvCxnSpPr>
            <p:cNvPr id="55" name="Straight Connector 54">
              <a:extLst>
                <a:ext uri="{FF2B5EF4-FFF2-40B4-BE49-F238E27FC236}">
                  <a16:creationId xmlns:a16="http://schemas.microsoft.com/office/drawing/2014/main" id="{BA34D3AE-BE21-856C-C5D4-4FA3E93BB88A}"/>
                </a:ext>
              </a:extLst>
            </p:cNvPr>
            <p:cNvCxnSpPr>
              <a:cxnSpLocks/>
            </p:cNvCxnSpPr>
            <p:nvPr/>
          </p:nvCxnSpPr>
          <p:spPr>
            <a:xfrm>
              <a:off x="3525137" y="4822430"/>
              <a:ext cx="4132406" cy="0"/>
            </a:xfrm>
            <a:prstGeom prst="line">
              <a:avLst/>
            </a:prstGeom>
            <a:ln w="57150">
              <a:solidFill>
                <a:schemeClr val="accent4">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56" name="Graphic 52">
              <a:extLst>
                <a:ext uri="{FF2B5EF4-FFF2-40B4-BE49-F238E27FC236}">
                  <a16:creationId xmlns:a16="http://schemas.microsoft.com/office/drawing/2014/main" id="{9BFBADD7-17F1-DCD2-E65A-F94DB3C5A5C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719946" y="4421812"/>
              <a:ext cx="318811" cy="318811"/>
            </a:xfrm>
            <a:prstGeom prst="rect">
              <a:avLst/>
            </a:prstGeom>
          </p:spPr>
        </p:pic>
        <p:sp>
          <p:nvSpPr>
            <p:cNvPr id="57" name="TextBox 53">
              <a:extLst>
                <a:ext uri="{FF2B5EF4-FFF2-40B4-BE49-F238E27FC236}">
                  <a16:creationId xmlns:a16="http://schemas.microsoft.com/office/drawing/2014/main" id="{E76B24AC-4F23-7195-9248-78DAD85CFE96}"/>
                </a:ext>
              </a:extLst>
            </p:cNvPr>
            <p:cNvSpPr txBox="1"/>
            <p:nvPr/>
          </p:nvSpPr>
          <p:spPr>
            <a:xfrm>
              <a:off x="4982669" y="4433578"/>
              <a:ext cx="1286752" cy="2961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a:solidFill>
                    <a:srgbClr val="000000"/>
                  </a:solidFill>
                  <a:latin typeface="Segoe UI"/>
                </a:rPr>
                <a:t>Global </a:t>
              </a:r>
              <a:r>
                <a:rPr lang="fr-FR" sz="1153" b="1" dirty="0" err="1">
                  <a:solidFill>
                    <a:srgbClr val="000000"/>
                  </a:solidFill>
                  <a:latin typeface="Segoe UI"/>
                </a:rPr>
                <a:t>Peering</a:t>
              </a:r>
              <a:endParaRPr lang="fr-FR" sz="1153" b="1" dirty="0">
                <a:solidFill>
                  <a:srgbClr val="000000"/>
                </a:solidFill>
                <a:latin typeface="Segoe UI"/>
              </a:endParaRPr>
            </a:p>
          </p:txBody>
        </p:sp>
        <p:sp>
          <p:nvSpPr>
            <p:cNvPr id="58" name="TextBox 54">
              <a:extLst>
                <a:ext uri="{FF2B5EF4-FFF2-40B4-BE49-F238E27FC236}">
                  <a16:creationId xmlns:a16="http://schemas.microsoft.com/office/drawing/2014/main" id="{ADD1119B-4474-ED05-B6D7-AC653233C63F}"/>
                </a:ext>
              </a:extLst>
            </p:cNvPr>
            <p:cNvSpPr txBox="1"/>
            <p:nvPr/>
          </p:nvSpPr>
          <p:spPr>
            <a:xfrm>
              <a:off x="4929110" y="2561288"/>
              <a:ext cx="1568286" cy="29408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r>
                <a:rPr lang="fr-FR" sz="1153" b="1" dirty="0" err="1">
                  <a:solidFill>
                    <a:srgbClr val="0078D3">
                      <a:lumMod val="50000"/>
                    </a:srgbClr>
                  </a:solidFill>
                  <a:latin typeface="Segoe UI"/>
                </a:rPr>
                <a:t>Task</a:t>
              </a:r>
              <a:r>
                <a:rPr lang="fr-FR" sz="1153" b="1" dirty="0">
                  <a:solidFill>
                    <a:srgbClr val="0078D3">
                      <a:lumMod val="50000"/>
                    </a:srgbClr>
                  </a:solidFill>
                  <a:latin typeface="Segoe UI"/>
                </a:rPr>
                <a:t> 2, </a:t>
              </a:r>
              <a:r>
                <a:rPr lang="fr-FR" sz="1153" b="1" dirty="0" err="1">
                  <a:solidFill>
                    <a:srgbClr val="0078D3">
                      <a:lumMod val="50000"/>
                    </a:srgbClr>
                  </a:solidFill>
                  <a:latin typeface="Segoe UI"/>
                </a:rPr>
                <a:t>Task</a:t>
              </a:r>
              <a:r>
                <a:rPr lang="fr-FR" sz="1153" b="1" dirty="0">
                  <a:solidFill>
                    <a:srgbClr val="0078D3">
                      <a:lumMod val="50000"/>
                    </a:srgbClr>
                  </a:solidFill>
                  <a:latin typeface="Segoe UI"/>
                </a:rPr>
                <a:t> 3</a:t>
              </a:r>
            </a:p>
          </p:txBody>
        </p:sp>
      </p:grpSp>
    </p:spTree>
    <p:extLst>
      <p:ext uri="{BB962C8B-B14F-4D97-AF65-F5344CB8AC3E}">
        <p14:creationId xmlns:p14="http://schemas.microsoft.com/office/powerpoint/2010/main" val="1767998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18</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1118</Words>
  <Application>Microsoft Office PowerPoint</Application>
  <PresentationFormat>Widescreen</PresentationFormat>
  <Paragraphs>218</Paragraphs>
  <Slides>18</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Lato</vt:lpstr>
      <vt:lpstr>Proxima Nova</vt:lpstr>
      <vt:lpstr>Segoe UI</vt:lpstr>
      <vt:lpstr>Segoe UI Semibold</vt:lpstr>
      <vt:lpstr>Segoe UI Semilight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Jannet</dc:creator>
  <cp:lastModifiedBy>Nikunj Singhal</cp:lastModifiedBy>
  <cp:revision>8</cp:revision>
  <dcterms:created xsi:type="dcterms:W3CDTF">2024-07-23T11:56:01Z</dcterms:created>
  <dcterms:modified xsi:type="dcterms:W3CDTF">2024-11-07T10:34:44Z</dcterms:modified>
</cp:coreProperties>
</file>