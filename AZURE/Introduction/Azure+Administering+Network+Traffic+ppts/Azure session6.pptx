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7" r:id="rId5"/>
    <p:sldId id="903" r:id="rId6"/>
    <p:sldId id="904" r:id="rId7"/>
    <p:sldId id="905" r:id="rId8"/>
    <p:sldId id="907" r:id="rId9"/>
    <p:sldId id="908" r:id="rId10"/>
    <p:sldId id="909" r:id="rId11"/>
    <p:sldId id="910" r:id="rId12"/>
    <p:sldId id="911" r:id="rId13"/>
    <p:sldId id="912" r:id="rId14"/>
    <p:sldId id="916" r:id="rId15"/>
    <p:sldId id="917" r:id="rId16"/>
    <p:sldId id="918" r:id="rId17"/>
    <p:sldId id="919" r:id="rId18"/>
    <p:sldId id="920" r:id="rId19"/>
    <p:sldId id="921" r:id="rId20"/>
    <p:sldId id="922" r:id="rId21"/>
    <p:sldId id="913" r:id="rId22"/>
    <p:sldId id="914" r:id="rId23"/>
    <p:sldId id="915" r:id="rId24"/>
    <p:sldId id="906" r:id="rId25"/>
    <p:sldId id="923" r:id="rId26"/>
    <p:sldId id="924" r:id="rId27"/>
    <p:sldId id="925" r:id="rId28"/>
    <p:sldId id="926" r:id="rId29"/>
    <p:sldId id="927" r:id="rId30"/>
    <p:sldId id="928" r:id="rId31"/>
    <p:sldId id="50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525" autoAdjust="0"/>
  </p:normalViewPr>
  <p:slideViewPr>
    <p:cSldViewPr snapToGrid="0">
      <p:cViewPr varScale="1">
        <p:scale>
          <a:sx n="58" d="100"/>
          <a:sy n="58" d="100"/>
        </p:scale>
        <p:origin x="12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3585-F2F7-4CAB-A4E4-1512BB9B545B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9316-F612-48C3-B1C7-701A2C12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30F-11CB-4A38-D5FC-43AB2240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C942-BB8A-34AC-C497-D4FD2BED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584A-C19D-2D97-0AF6-751B4D27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7BBA-1403-8ADF-3C89-1C56F6A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B5EE-694E-0DD6-FBBC-DAEE073B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5A2D-7795-829E-0317-35A6629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A543-0209-7742-9E7A-1C9448B4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7CC4-06DF-0598-CF9B-17940C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B6F1-E547-28F3-214B-E14FA297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87C7-35CB-E756-85E9-6ED61FF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AF-764B-9BED-839B-1F2548D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1ABD-DC52-E5BB-2552-51A8C55B3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1113-125C-2AC5-EA8C-E51F723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F60A-D639-FC0E-6607-3F9FDD3D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21C5-E274-8177-0A84-61FBD13E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8B2C-B56C-65F9-D55A-03C4156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C924-40A7-CCC5-5467-954F4953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6483-F4A5-9F85-2F36-57685DC1C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2291-7FB4-9BC0-C08C-602E7E4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F5A3-AFC2-83AF-3AC5-A2DFC37C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BCC1-B192-509A-B182-FDA38BEC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D4F-6499-4E62-6BC4-A864B37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EE0A-2D64-6EA3-C393-6A793B33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DC3-5665-D55A-BF31-4799773D5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0E72C-7203-963D-54C2-7C5F8F9D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B9FA4-2C32-85B9-E44F-E043C5711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A284C-82E5-0258-95ED-C939210B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87524-7C83-6978-13D2-68242941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0B3A0-9328-56ED-6165-5FE6725B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C313-A857-D2B6-4972-603A320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E6E7C-9E05-38A0-50E5-475C61D1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5942B-9E3E-FE6B-DB1B-2B40E1C4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D417-DE49-E1CE-4813-90A2759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7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5A62D-5E35-4978-A21D-015D67A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7063-316D-7692-711E-1145293C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D14C-0A1E-DA44-3394-36812D4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4731-C279-E9B4-1350-D01064C5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4481-22CF-C3C5-7B97-22D9E52F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30EE-D49D-6439-35A7-D564C541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7929C-043F-5FF4-6D6D-171B825F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29F1-C192-1700-B843-D4B943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F1DF-4A4F-C67D-BE2E-1FE4CA53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8093-BF6B-B264-E311-398794DE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AD7C6-1734-B469-30B7-4A42BB717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E643E-D7E3-7AB3-F45D-CE539AA7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95D1-052E-D029-A14D-9768E55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1458-BD09-D7A2-90F1-22EA0A4D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D0DC-C873-E862-BD92-71ED2A4C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7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3DAD-FBC8-F5A7-4DFF-0EB88A10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20F-9120-CC06-97E9-33733579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3293-6891-933A-C374-086A5CDA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86-1716-99FC-624F-78142245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AD29-F34E-E7C3-A14F-532F8C89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39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1245-A4CF-CE70-BB65-F95B54A0B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C1FE-EE55-4B51-5B5A-E44581E0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06AF-DE1E-E1BF-5B20-319686E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84D1-B61C-0604-F16A-3DAE386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F065-EA66-D400-5822-2008989B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B1CA2-ECC1-4762-AAEA-FADDBF9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8F6B0-B57E-519B-311D-89ED428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897C-4441-701B-8C16-69E4C437F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CA72-CAC1-4B24-B91B-249F70378C1E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07FF-709C-AC63-F960-09B72AA0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18F4-90CC-DE76-BC3D-75D67644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emf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3.emf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5.emf"/><Relationship Id="rId10" Type="http://schemas.openxmlformats.org/officeDocument/2006/relationships/image" Target="../media/image32.png"/><Relationship Id="rId4" Type="http://schemas.openxmlformats.org/officeDocument/2006/relationships/image" Target="../media/image4.emf"/><Relationship Id="rId9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n-US" sz="4800" dirty="0"/>
              <a:t>Administer Network Traffic</a:t>
            </a: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2D1610E-8D72-25D7-40B1-D9DC8AE87D0C}"/>
              </a:ext>
            </a:extLst>
          </p:cNvPr>
          <p:cNvSpPr txBox="1">
            <a:spLocks/>
          </p:cNvSpPr>
          <p:nvPr/>
        </p:nvSpPr>
        <p:spPr>
          <a:xfrm>
            <a:off x="2270370" y="3123506"/>
            <a:ext cx="8622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0" dirty="0"/>
              <a:t>Configure</a:t>
            </a:r>
            <a:r>
              <a:rPr lang="en-US" sz="3600" spc="-200" dirty="0"/>
              <a:t> </a:t>
            </a:r>
            <a:r>
              <a:rPr lang="en-US" sz="3600" spc="-50" dirty="0"/>
              <a:t>Network</a:t>
            </a:r>
            <a:r>
              <a:rPr lang="en-US" sz="3600" spc="-195" dirty="0"/>
              <a:t> </a:t>
            </a:r>
            <a:r>
              <a:rPr lang="en-US" sz="3600" spc="-50" dirty="0"/>
              <a:t>Routing</a:t>
            </a:r>
            <a:r>
              <a:rPr lang="en-US" sz="3600" spc="-180" dirty="0"/>
              <a:t> </a:t>
            </a:r>
            <a:r>
              <a:rPr lang="en-US" sz="3600" dirty="0"/>
              <a:t>and</a:t>
            </a:r>
            <a:r>
              <a:rPr lang="en-US" sz="3600" spc="-190" dirty="0"/>
              <a:t> </a:t>
            </a:r>
            <a:r>
              <a:rPr lang="en-US" sz="3600" spc="-10" dirty="0"/>
              <a:t>Endpoints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2976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06FE1-3B3B-A6E9-FDF4-2ABC4FA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FA8BACF-CBC5-FA2A-C198-3788BEFA47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ECE6D86-8943-16B1-6B05-4A34DD75EFC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02E6F1-86A9-932E-A6B8-AD5F413CA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E36C8C-1B67-AB0A-4991-68B4E39DA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F6442E-C908-E624-4D27-C61CCA5D2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02116-8CA4-41F6-D7A4-83BCC77C24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287E33-FA49-F996-605D-9ED59FCF3E0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5337076E-CB64-D8FB-C8B5-7342E2402517}"/>
              </a:ext>
            </a:extLst>
          </p:cNvPr>
          <p:cNvSpPr txBox="1">
            <a:spLocks/>
          </p:cNvSpPr>
          <p:nvPr/>
        </p:nvSpPr>
        <p:spPr>
          <a:xfrm>
            <a:off x="556021" y="900334"/>
            <a:ext cx="108223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-50" dirty="0"/>
              <a:t>Review</a:t>
            </a:r>
            <a:r>
              <a:rPr lang="en-IN" spc="-95" dirty="0"/>
              <a:t> </a:t>
            </a:r>
            <a:r>
              <a:rPr lang="en-IN" spc="-60" dirty="0"/>
              <a:t>System</a:t>
            </a:r>
            <a:r>
              <a:rPr lang="en-IN" spc="-100" dirty="0"/>
              <a:t> </a:t>
            </a:r>
            <a:r>
              <a:rPr lang="en-IN" spc="-30" dirty="0"/>
              <a:t>Routes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07B937F6-23B7-711E-A832-24E66B03CF47}"/>
              </a:ext>
            </a:extLst>
          </p:cNvPr>
          <p:cNvSpPr txBox="1"/>
          <p:nvPr/>
        </p:nvSpPr>
        <p:spPr>
          <a:xfrm>
            <a:off x="675067" y="1591943"/>
            <a:ext cx="4820920" cy="4683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Segoe UI"/>
                <a:cs typeface="Segoe UI"/>
              </a:rPr>
              <a:t>System</a:t>
            </a:r>
            <a:r>
              <a:rPr sz="2200" spc="-7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routes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direct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network</a:t>
            </a:r>
            <a:r>
              <a:rPr sz="2200" spc="-8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traffic </a:t>
            </a:r>
            <a:r>
              <a:rPr sz="2200" dirty="0">
                <a:latin typeface="Segoe UI"/>
                <a:cs typeface="Segoe UI"/>
              </a:rPr>
              <a:t>between</a:t>
            </a:r>
            <a:r>
              <a:rPr sz="2200" spc="-8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virtual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machines,</a:t>
            </a:r>
            <a:r>
              <a:rPr sz="2200" spc="-75" dirty="0">
                <a:latin typeface="Segoe UI"/>
                <a:cs typeface="Segoe UI"/>
              </a:rPr>
              <a:t> </a:t>
            </a:r>
            <a:r>
              <a:rPr sz="2200" spc="-20" dirty="0">
                <a:latin typeface="Segoe UI"/>
                <a:cs typeface="Segoe UI"/>
              </a:rPr>
              <a:t>on-</a:t>
            </a:r>
            <a:r>
              <a:rPr sz="2200" spc="-10" dirty="0">
                <a:latin typeface="Segoe UI"/>
                <a:cs typeface="Segoe UI"/>
              </a:rPr>
              <a:t>premises </a:t>
            </a:r>
            <a:r>
              <a:rPr sz="2200" dirty="0">
                <a:latin typeface="Segoe UI"/>
                <a:cs typeface="Segoe UI"/>
              </a:rPr>
              <a:t>networks,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and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the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internet:</a:t>
            </a:r>
            <a:endParaRPr sz="2200" dirty="0">
              <a:latin typeface="Segoe UI"/>
              <a:cs typeface="Segoe UI"/>
            </a:endParaRPr>
          </a:p>
          <a:p>
            <a:pPr marL="255904" marR="1561465" indent="-1854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57175" algn="l"/>
              </a:tabLst>
            </a:pPr>
            <a:r>
              <a:rPr sz="2000" dirty="0">
                <a:latin typeface="Segoe UI"/>
                <a:cs typeface="Segoe UI"/>
              </a:rPr>
              <a:t>Traffic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between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VMs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	</a:t>
            </a:r>
            <a:r>
              <a:rPr sz="2000" dirty="0">
                <a:latin typeface="Segoe UI"/>
                <a:cs typeface="Segoe UI"/>
              </a:rPr>
              <a:t>same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subnet</a:t>
            </a:r>
            <a:endParaRPr sz="2000" dirty="0">
              <a:latin typeface="Segoe UI"/>
              <a:cs typeface="Segoe UI"/>
            </a:endParaRPr>
          </a:p>
          <a:p>
            <a:pPr marL="255904" marR="78105" indent="-18542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257175" algn="l"/>
              </a:tabLst>
            </a:pPr>
            <a:r>
              <a:rPr lang="en-US" sz="2000" dirty="0">
                <a:latin typeface="Segoe UI"/>
                <a:cs typeface="Segoe UI"/>
              </a:rPr>
              <a:t>Traffic b</a:t>
            </a:r>
            <a:r>
              <a:rPr sz="2000" dirty="0">
                <a:latin typeface="Segoe UI"/>
                <a:cs typeface="Segoe UI"/>
              </a:rPr>
              <a:t>etween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VMs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different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subnets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</a:t>
            </a:r>
            <a:r>
              <a:rPr sz="2000" dirty="0">
                <a:latin typeface="Segoe UI"/>
                <a:cs typeface="Segoe UI"/>
              </a:rPr>
              <a:t>same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virtual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network</a:t>
            </a:r>
            <a:endParaRPr sz="2000" dirty="0">
              <a:latin typeface="Segoe UI"/>
              <a:cs typeface="Segoe UI"/>
            </a:endParaRPr>
          </a:p>
          <a:p>
            <a:pPr marL="255904" indent="-1854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55904" algn="l"/>
              </a:tabLst>
            </a:pPr>
            <a:r>
              <a:rPr sz="2000" dirty="0">
                <a:latin typeface="Segoe UI"/>
                <a:cs typeface="Segoe UI"/>
              </a:rPr>
              <a:t>Data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flow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from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VMs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internet</a:t>
            </a:r>
            <a:endParaRPr sz="2000" dirty="0">
              <a:latin typeface="Segoe UI"/>
              <a:cs typeface="Segoe UI"/>
            </a:endParaRPr>
          </a:p>
          <a:p>
            <a:pPr marL="255904" marR="297180" indent="-185420">
              <a:lnSpc>
                <a:spcPct val="100499"/>
              </a:lnSpc>
              <a:spcBef>
                <a:spcPts val="890"/>
              </a:spcBef>
              <a:buFont typeface="Arial MT"/>
              <a:buChar char="•"/>
              <a:tabLst>
                <a:tab pos="257175" algn="l"/>
              </a:tabLst>
            </a:pPr>
            <a:r>
              <a:rPr sz="2000" dirty="0">
                <a:latin typeface="Segoe UI"/>
                <a:cs typeface="Segoe UI"/>
              </a:rPr>
              <a:t>Communication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between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VMs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using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a 	</a:t>
            </a:r>
            <a:r>
              <a:rPr sz="2000" spc="-10" dirty="0">
                <a:latin typeface="Segoe UI"/>
                <a:cs typeface="Segoe UI"/>
              </a:rPr>
              <a:t>VNet-to-</a:t>
            </a:r>
            <a:r>
              <a:rPr sz="2000" dirty="0">
                <a:latin typeface="Segoe UI"/>
                <a:cs typeface="Segoe UI"/>
              </a:rPr>
              <a:t>VNet</a:t>
            </a:r>
            <a:r>
              <a:rPr sz="2000" spc="2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VPN</a:t>
            </a:r>
            <a:endParaRPr sz="2000" dirty="0">
              <a:latin typeface="Segoe UI"/>
              <a:cs typeface="Segoe UI"/>
            </a:endParaRPr>
          </a:p>
          <a:p>
            <a:pPr marL="255904" marR="1222375" indent="-1854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57175" algn="l"/>
              </a:tabLst>
            </a:pPr>
            <a:r>
              <a:rPr sz="2000" spc="-10" dirty="0">
                <a:latin typeface="Segoe UI"/>
                <a:cs typeface="Segoe UI"/>
              </a:rPr>
              <a:t>Site-to-</a:t>
            </a:r>
            <a:r>
              <a:rPr sz="2000" dirty="0">
                <a:latin typeface="Segoe UI"/>
                <a:cs typeface="Segoe UI"/>
              </a:rPr>
              <a:t>Site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ExpressRoute 	</a:t>
            </a:r>
            <a:r>
              <a:rPr sz="2000" dirty="0">
                <a:latin typeface="Segoe UI"/>
                <a:cs typeface="Segoe UI"/>
              </a:rPr>
              <a:t>communication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through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	</a:t>
            </a:r>
            <a:r>
              <a:rPr sz="2000" dirty="0">
                <a:latin typeface="Segoe UI"/>
                <a:cs typeface="Segoe UI"/>
              </a:rPr>
              <a:t>VPN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gateway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11" name="object 17">
            <a:extLst>
              <a:ext uri="{FF2B5EF4-FFF2-40B4-BE49-F238E27FC236}">
                <a16:creationId xmlns:a16="http://schemas.microsoft.com/office/drawing/2014/main" id="{0B58023B-ABE7-58D9-328C-467170D9139D}"/>
              </a:ext>
            </a:extLst>
          </p:cNvPr>
          <p:cNvSpPr txBox="1"/>
          <p:nvPr/>
        </p:nvSpPr>
        <p:spPr>
          <a:xfrm>
            <a:off x="8359723" y="5205271"/>
            <a:ext cx="1125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Routing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Table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8">
            <a:extLst>
              <a:ext uri="{FF2B5EF4-FFF2-40B4-BE49-F238E27FC236}">
                <a16:creationId xmlns:a16="http://schemas.microsoft.com/office/drawing/2014/main" id="{3A3EC045-F5D4-87B8-5C13-3D067C9962D7}"/>
              </a:ext>
            </a:extLst>
          </p:cNvPr>
          <p:cNvGrpSpPr/>
          <p:nvPr/>
        </p:nvGrpSpPr>
        <p:grpSpPr>
          <a:xfrm>
            <a:off x="8365247" y="2903295"/>
            <a:ext cx="1003300" cy="473709"/>
            <a:chOff x="8251685" y="2582777"/>
            <a:chExt cx="1003300" cy="473709"/>
          </a:xfrm>
        </p:grpSpPr>
        <p:sp>
          <p:nvSpPr>
            <p:cNvPr id="13" name="object 19">
              <a:extLst>
                <a:ext uri="{FF2B5EF4-FFF2-40B4-BE49-F238E27FC236}">
                  <a16:creationId xmlns:a16="http://schemas.microsoft.com/office/drawing/2014/main" id="{1EBBA1C5-D88C-5662-EE01-BAE5B41CCC65}"/>
                </a:ext>
              </a:extLst>
            </p:cNvPr>
            <p:cNvSpPr/>
            <p:nvPr/>
          </p:nvSpPr>
          <p:spPr>
            <a:xfrm>
              <a:off x="8258035" y="2589127"/>
              <a:ext cx="990600" cy="461009"/>
            </a:xfrm>
            <a:custGeom>
              <a:avLst/>
              <a:gdLst/>
              <a:ahLst/>
              <a:cxnLst/>
              <a:rect l="l" t="t" r="r" b="b"/>
              <a:pathLst>
                <a:path w="990600" h="461010">
                  <a:moveTo>
                    <a:pt x="990003" y="0"/>
                  </a:moveTo>
                  <a:lnTo>
                    <a:pt x="0" y="0"/>
                  </a:lnTo>
                  <a:lnTo>
                    <a:pt x="0" y="460794"/>
                  </a:lnTo>
                  <a:lnTo>
                    <a:pt x="495007" y="460794"/>
                  </a:lnTo>
                  <a:lnTo>
                    <a:pt x="990003" y="460794"/>
                  </a:lnTo>
                  <a:lnTo>
                    <a:pt x="990003" y="0"/>
                  </a:lnTo>
                  <a:close/>
                </a:path>
              </a:pathLst>
            </a:custGeom>
            <a:solidFill>
              <a:srgbClr val="DC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0">
              <a:extLst>
                <a:ext uri="{FF2B5EF4-FFF2-40B4-BE49-F238E27FC236}">
                  <a16:creationId xmlns:a16="http://schemas.microsoft.com/office/drawing/2014/main" id="{9AC6FD74-C8FC-9B21-7761-F7B13528732D}"/>
                </a:ext>
              </a:extLst>
            </p:cNvPr>
            <p:cNvSpPr/>
            <p:nvPr/>
          </p:nvSpPr>
          <p:spPr>
            <a:xfrm>
              <a:off x="8258035" y="2589127"/>
              <a:ext cx="990600" cy="461009"/>
            </a:xfrm>
            <a:custGeom>
              <a:avLst/>
              <a:gdLst/>
              <a:ahLst/>
              <a:cxnLst/>
              <a:rect l="l" t="t" r="r" b="b"/>
              <a:pathLst>
                <a:path w="990600" h="461010">
                  <a:moveTo>
                    <a:pt x="495007" y="460794"/>
                  </a:moveTo>
                  <a:lnTo>
                    <a:pt x="0" y="460794"/>
                  </a:lnTo>
                  <a:lnTo>
                    <a:pt x="0" y="0"/>
                  </a:lnTo>
                  <a:lnTo>
                    <a:pt x="990003" y="0"/>
                  </a:lnTo>
                  <a:lnTo>
                    <a:pt x="990003" y="460794"/>
                  </a:lnTo>
                  <a:lnTo>
                    <a:pt x="495007" y="46079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21">
            <a:extLst>
              <a:ext uri="{FF2B5EF4-FFF2-40B4-BE49-F238E27FC236}">
                <a16:creationId xmlns:a16="http://schemas.microsoft.com/office/drawing/2014/main" id="{E087A08A-3DFE-D295-9F22-4C15AE371D4E}"/>
              </a:ext>
            </a:extLst>
          </p:cNvPr>
          <p:cNvSpPr txBox="1"/>
          <p:nvPr/>
        </p:nvSpPr>
        <p:spPr>
          <a:xfrm>
            <a:off x="8574276" y="2884702"/>
            <a:ext cx="598805" cy="511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 marR="5080" indent="-508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libri"/>
                <a:cs typeface="Calibri"/>
              </a:rPr>
              <a:t>System </a:t>
            </a:r>
            <a:r>
              <a:rPr sz="1600" spc="-10" dirty="0">
                <a:latin typeface="Calibri"/>
                <a:cs typeface="Calibri"/>
              </a:rPr>
              <a:t>Route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22">
            <a:extLst>
              <a:ext uri="{FF2B5EF4-FFF2-40B4-BE49-F238E27FC236}">
                <a16:creationId xmlns:a16="http://schemas.microsoft.com/office/drawing/2014/main" id="{0BF80025-2817-8E91-637A-44F8B46669DA}"/>
              </a:ext>
            </a:extLst>
          </p:cNvPr>
          <p:cNvSpPr/>
          <p:nvPr/>
        </p:nvSpPr>
        <p:spPr>
          <a:xfrm>
            <a:off x="8380957" y="3723600"/>
            <a:ext cx="990600" cy="461009"/>
          </a:xfrm>
          <a:custGeom>
            <a:avLst/>
            <a:gdLst/>
            <a:ahLst/>
            <a:cxnLst/>
            <a:rect l="l" t="t" r="r" b="b"/>
            <a:pathLst>
              <a:path w="990600" h="461010">
                <a:moveTo>
                  <a:pt x="990003" y="0"/>
                </a:moveTo>
                <a:lnTo>
                  <a:pt x="0" y="0"/>
                </a:lnTo>
                <a:lnTo>
                  <a:pt x="0" y="460806"/>
                </a:lnTo>
                <a:lnTo>
                  <a:pt x="495007" y="460806"/>
                </a:lnTo>
                <a:lnTo>
                  <a:pt x="990003" y="460806"/>
                </a:lnTo>
                <a:lnTo>
                  <a:pt x="990003" y="0"/>
                </a:lnTo>
                <a:close/>
              </a:path>
            </a:pathLst>
          </a:custGeom>
          <a:solidFill>
            <a:srgbClr val="DCD5E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24">
            <a:extLst>
              <a:ext uri="{FF2B5EF4-FFF2-40B4-BE49-F238E27FC236}">
                <a16:creationId xmlns:a16="http://schemas.microsoft.com/office/drawing/2014/main" id="{ADCEC9CE-FE81-D653-426C-346DCE1B0D8C}"/>
              </a:ext>
            </a:extLst>
          </p:cNvPr>
          <p:cNvGrpSpPr/>
          <p:nvPr/>
        </p:nvGrpSpPr>
        <p:grpSpPr>
          <a:xfrm>
            <a:off x="6716317" y="3132098"/>
            <a:ext cx="4686935" cy="1920239"/>
            <a:chOff x="6602755" y="2811580"/>
            <a:chExt cx="4686935" cy="1920239"/>
          </a:xfrm>
        </p:grpSpPr>
        <p:sp>
          <p:nvSpPr>
            <p:cNvPr id="18" name="object 25">
              <a:extLst>
                <a:ext uri="{FF2B5EF4-FFF2-40B4-BE49-F238E27FC236}">
                  <a16:creationId xmlns:a16="http://schemas.microsoft.com/office/drawing/2014/main" id="{C8504F0A-BB13-6EF9-60E7-DA6DB2B48300}"/>
                </a:ext>
              </a:extLst>
            </p:cNvPr>
            <p:cNvSpPr/>
            <p:nvPr/>
          </p:nvSpPr>
          <p:spPr>
            <a:xfrm>
              <a:off x="9620275" y="3123365"/>
              <a:ext cx="1663064" cy="1123950"/>
            </a:xfrm>
            <a:custGeom>
              <a:avLst/>
              <a:gdLst/>
              <a:ahLst/>
              <a:cxnLst/>
              <a:rect l="l" t="t" r="r" b="b"/>
              <a:pathLst>
                <a:path w="1663065" h="1123950">
                  <a:moveTo>
                    <a:pt x="1662480" y="0"/>
                  </a:moveTo>
                  <a:lnTo>
                    <a:pt x="0" y="0"/>
                  </a:lnTo>
                  <a:lnTo>
                    <a:pt x="0" y="1123556"/>
                  </a:lnTo>
                  <a:lnTo>
                    <a:pt x="831240" y="1123556"/>
                  </a:lnTo>
                  <a:lnTo>
                    <a:pt x="1662480" y="1123556"/>
                  </a:lnTo>
                  <a:lnTo>
                    <a:pt x="1662480" y="0"/>
                  </a:lnTo>
                  <a:close/>
                </a:path>
              </a:pathLst>
            </a:custGeom>
            <a:solidFill>
              <a:srgbClr val="EA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6">
              <a:extLst>
                <a:ext uri="{FF2B5EF4-FFF2-40B4-BE49-F238E27FC236}">
                  <a16:creationId xmlns:a16="http://schemas.microsoft.com/office/drawing/2014/main" id="{7376EBB4-C9FA-0BEE-8154-6BE336125DCB}"/>
                </a:ext>
              </a:extLst>
            </p:cNvPr>
            <p:cNvSpPr/>
            <p:nvPr/>
          </p:nvSpPr>
          <p:spPr>
            <a:xfrm>
              <a:off x="9620275" y="3123365"/>
              <a:ext cx="1663064" cy="1123950"/>
            </a:xfrm>
            <a:custGeom>
              <a:avLst/>
              <a:gdLst/>
              <a:ahLst/>
              <a:cxnLst/>
              <a:rect l="l" t="t" r="r" b="b"/>
              <a:pathLst>
                <a:path w="1663065" h="1123950">
                  <a:moveTo>
                    <a:pt x="831240" y="1123556"/>
                  </a:moveTo>
                  <a:lnTo>
                    <a:pt x="0" y="1123556"/>
                  </a:lnTo>
                  <a:lnTo>
                    <a:pt x="0" y="0"/>
                  </a:lnTo>
                  <a:lnTo>
                    <a:pt x="1662480" y="0"/>
                  </a:lnTo>
                  <a:lnTo>
                    <a:pt x="1662480" y="1123556"/>
                  </a:lnTo>
                  <a:lnTo>
                    <a:pt x="831240" y="1123556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7">
              <a:extLst>
                <a:ext uri="{FF2B5EF4-FFF2-40B4-BE49-F238E27FC236}">
                  <a16:creationId xmlns:a16="http://schemas.microsoft.com/office/drawing/2014/main" id="{E595FBDE-6B09-089C-DF4C-DD04FD4FE95E}"/>
                </a:ext>
              </a:extLst>
            </p:cNvPr>
            <p:cNvSpPr/>
            <p:nvPr/>
          </p:nvSpPr>
          <p:spPr>
            <a:xfrm>
              <a:off x="7086599" y="4260244"/>
              <a:ext cx="1774825" cy="400685"/>
            </a:xfrm>
            <a:custGeom>
              <a:avLst/>
              <a:gdLst/>
              <a:ahLst/>
              <a:cxnLst/>
              <a:rect l="l" t="t" r="r" b="b"/>
              <a:pathLst>
                <a:path w="1774825" h="400685">
                  <a:moveTo>
                    <a:pt x="0" y="0"/>
                  </a:moveTo>
                  <a:lnTo>
                    <a:pt x="0" y="235445"/>
                  </a:lnTo>
                  <a:lnTo>
                    <a:pt x="1774799" y="235445"/>
                  </a:lnTo>
                  <a:lnTo>
                    <a:pt x="1774799" y="400684"/>
                  </a:lnTo>
                </a:path>
              </a:pathLst>
            </a:custGeom>
            <a:ln w="15839">
              <a:solidFill>
                <a:srgbClr val="75707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8">
              <a:extLst>
                <a:ext uri="{FF2B5EF4-FFF2-40B4-BE49-F238E27FC236}">
                  <a16:creationId xmlns:a16="http://schemas.microsoft.com/office/drawing/2014/main" id="{3F768292-F0F2-D828-DE4A-F65970C02CD1}"/>
                </a:ext>
              </a:extLst>
            </p:cNvPr>
            <p:cNvSpPr/>
            <p:nvPr/>
          </p:nvSpPr>
          <p:spPr>
            <a:xfrm>
              <a:off x="8823604" y="46558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7795" y="75590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9">
              <a:extLst>
                <a:ext uri="{FF2B5EF4-FFF2-40B4-BE49-F238E27FC236}">
                  <a16:creationId xmlns:a16="http://schemas.microsoft.com/office/drawing/2014/main" id="{1781A091-6415-9A0D-A159-9EE09EAEA14A}"/>
                </a:ext>
              </a:extLst>
            </p:cNvPr>
            <p:cNvSpPr/>
            <p:nvPr/>
          </p:nvSpPr>
          <p:spPr>
            <a:xfrm>
              <a:off x="6602755" y="3277797"/>
              <a:ext cx="899160" cy="643255"/>
            </a:xfrm>
            <a:custGeom>
              <a:avLst/>
              <a:gdLst/>
              <a:ahLst/>
              <a:cxnLst/>
              <a:rect l="l" t="t" r="r" b="b"/>
              <a:pathLst>
                <a:path w="899159" h="643254">
                  <a:moveTo>
                    <a:pt x="119164" y="27368"/>
                  </a:moveTo>
                  <a:lnTo>
                    <a:pt x="98640" y="13690"/>
                  </a:lnTo>
                  <a:lnTo>
                    <a:pt x="47879" y="89649"/>
                  </a:lnTo>
                  <a:lnTo>
                    <a:pt x="15849" y="61925"/>
                  </a:lnTo>
                  <a:lnTo>
                    <a:pt x="0" y="80645"/>
                  </a:lnTo>
                  <a:lnTo>
                    <a:pt x="50406" y="124206"/>
                  </a:lnTo>
                  <a:lnTo>
                    <a:pt x="74930" y="89649"/>
                  </a:lnTo>
                  <a:lnTo>
                    <a:pt x="119164" y="27368"/>
                  </a:lnTo>
                  <a:close/>
                </a:path>
                <a:path w="899159" h="643254">
                  <a:moveTo>
                    <a:pt x="275043" y="115201"/>
                  </a:moveTo>
                  <a:lnTo>
                    <a:pt x="238328" y="115201"/>
                  </a:lnTo>
                  <a:lnTo>
                    <a:pt x="236169" y="133565"/>
                  </a:lnTo>
                  <a:lnTo>
                    <a:pt x="114490" y="133565"/>
                  </a:lnTo>
                  <a:lnTo>
                    <a:pt x="114490" y="140411"/>
                  </a:lnTo>
                  <a:lnTo>
                    <a:pt x="128168" y="198005"/>
                  </a:lnTo>
                  <a:lnTo>
                    <a:pt x="128168" y="202692"/>
                  </a:lnTo>
                  <a:lnTo>
                    <a:pt x="217805" y="202692"/>
                  </a:lnTo>
                  <a:lnTo>
                    <a:pt x="215646" y="214210"/>
                  </a:lnTo>
                  <a:lnTo>
                    <a:pt x="119164" y="214210"/>
                  </a:lnTo>
                  <a:lnTo>
                    <a:pt x="119164" y="225729"/>
                  </a:lnTo>
                  <a:lnTo>
                    <a:pt x="135369" y="225729"/>
                  </a:lnTo>
                  <a:lnTo>
                    <a:pt x="132842" y="228244"/>
                  </a:lnTo>
                  <a:lnTo>
                    <a:pt x="132842" y="239763"/>
                  </a:lnTo>
                  <a:lnTo>
                    <a:pt x="137528" y="246608"/>
                  </a:lnTo>
                  <a:lnTo>
                    <a:pt x="151206" y="246608"/>
                  </a:lnTo>
                  <a:lnTo>
                    <a:pt x="155879" y="239763"/>
                  </a:lnTo>
                  <a:lnTo>
                    <a:pt x="155879" y="228244"/>
                  </a:lnTo>
                  <a:lnTo>
                    <a:pt x="153720" y="225729"/>
                  </a:lnTo>
                  <a:lnTo>
                    <a:pt x="206286" y="225729"/>
                  </a:lnTo>
                  <a:lnTo>
                    <a:pt x="204127" y="228244"/>
                  </a:lnTo>
                  <a:lnTo>
                    <a:pt x="204127" y="239763"/>
                  </a:lnTo>
                  <a:lnTo>
                    <a:pt x="208800" y="246608"/>
                  </a:lnTo>
                  <a:lnTo>
                    <a:pt x="222478" y="246608"/>
                  </a:lnTo>
                  <a:lnTo>
                    <a:pt x="229323" y="239763"/>
                  </a:lnTo>
                  <a:lnTo>
                    <a:pt x="229323" y="230403"/>
                  </a:lnTo>
                  <a:lnTo>
                    <a:pt x="227164" y="225729"/>
                  </a:lnTo>
                  <a:lnTo>
                    <a:pt x="224650" y="223570"/>
                  </a:lnTo>
                  <a:lnTo>
                    <a:pt x="227164" y="223570"/>
                  </a:lnTo>
                  <a:lnTo>
                    <a:pt x="227164" y="221411"/>
                  </a:lnTo>
                  <a:lnTo>
                    <a:pt x="231482" y="198005"/>
                  </a:lnTo>
                  <a:lnTo>
                    <a:pt x="247688" y="124206"/>
                  </a:lnTo>
                  <a:lnTo>
                    <a:pt x="275043" y="124206"/>
                  </a:lnTo>
                  <a:lnTo>
                    <a:pt x="275043" y="115201"/>
                  </a:lnTo>
                  <a:close/>
                </a:path>
                <a:path w="899159" h="643254">
                  <a:moveTo>
                    <a:pt x="355688" y="172808"/>
                  </a:moveTo>
                  <a:lnTo>
                    <a:pt x="349453" y="127139"/>
                  </a:lnTo>
                  <a:lnTo>
                    <a:pt x="331939" y="85928"/>
                  </a:lnTo>
                  <a:lnTo>
                    <a:pt x="304825" y="50901"/>
                  </a:lnTo>
                  <a:lnTo>
                    <a:pt x="269862" y="23774"/>
                  </a:lnTo>
                  <a:lnTo>
                    <a:pt x="228765" y="6235"/>
                  </a:lnTo>
                  <a:lnTo>
                    <a:pt x="183248" y="0"/>
                  </a:lnTo>
                  <a:lnTo>
                    <a:pt x="169570" y="0"/>
                  </a:lnTo>
                  <a:lnTo>
                    <a:pt x="169570" y="23050"/>
                  </a:lnTo>
                  <a:lnTo>
                    <a:pt x="174244" y="23050"/>
                  </a:lnTo>
                  <a:lnTo>
                    <a:pt x="178930" y="20523"/>
                  </a:lnTo>
                  <a:lnTo>
                    <a:pt x="183248" y="20523"/>
                  </a:lnTo>
                  <a:lnTo>
                    <a:pt x="230568" y="28384"/>
                  </a:lnTo>
                  <a:lnTo>
                    <a:pt x="271589" y="50190"/>
                  </a:lnTo>
                  <a:lnTo>
                    <a:pt x="303885" y="83286"/>
                  </a:lnTo>
                  <a:lnTo>
                    <a:pt x="325043" y="125044"/>
                  </a:lnTo>
                  <a:lnTo>
                    <a:pt x="332638" y="172808"/>
                  </a:lnTo>
                  <a:lnTo>
                    <a:pt x="325043" y="220319"/>
                  </a:lnTo>
                  <a:lnTo>
                    <a:pt x="303885" y="261454"/>
                  </a:lnTo>
                  <a:lnTo>
                    <a:pt x="271589" y="293814"/>
                  </a:lnTo>
                  <a:lnTo>
                    <a:pt x="230568" y="314985"/>
                  </a:lnTo>
                  <a:lnTo>
                    <a:pt x="183248" y="322567"/>
                  </a:lnTo>
                  <a:lnTo>
                    <a:pt x="135851" y="314985"/>
                  </a:lnTo>
                  <a:lnTo>
                    <a:pt x="94399" y="293814"/>
                  </a:lnTo>
                  <a:lnTo>
                    <a:pt x="61518" y="261454"/>
                  </a:lnTo>
                  <a:lnTo>
                    <a:pt x="39839" y="220319"/>
                  </a:lnTo>
                  <a:lnTo>
                    <a:pt x="32029" y="172808"/>
                  </a:lnTo>
                  <a:lnTo>
                    <a:pt x="32029" y="170649"/>
                  </a:lnTo>
                  <a:lnTo>
                    <a:pt x="11150" y="170649"/>
                  </a:lnTo>
                  <a:lnTo>
                    <a:pt x="11150" y="172808"/>
                  </a:lnTo>
                  <a:lnTo>
                    <a:pt x="17233" y="218516"/>
                  </a:lnTo>
                  <a:lnTo>
                    <a:pt x="34404" y="259791"/>
                  </a:lnTo>
                  <a:lnTo>
                    <a:pt x="61150" y="294894"/>
                  </a:lnTo>
                  <a:lnTo>
                    <a:pt x="95910" y="322110"/>
                  </a:lnTo>
                  <a:lnTo>
                    <a:pt x="137121" y="339712"/>
                  </a:lnTo>
                  <a:lnTo>
                    <a:pt x="183248" y="345960"/>
                  </a:lnTo>
                  <a:lnTo>
                    <a:pt x="228765" y="339712"/>
                  </a:lnTo>
                  <a:lnTo>
                    <a:pt x="268795" y="322567"/>
                  </a:lnTo>
                  <a:lnTo>
                    <a:pt x="304825" y="294894"/>
                  </a:lnTo>
                  <a:lnTo>
                    <a:pt x="331927" y="259791"/>
                  </a:lnTo>
                  <a:lnTo>
                    <a:pt x="349453" y="218516"/>
                  </a:lnTo>
                  <a:lnTo>
                    <a:pt x="355688" y="172808"/>
                  </a:lnTo>
                  <a:close/>
                </a:path>
                <a:path w="899159" h="643254">
                  <a:moveTo>
                    <a:pt x="662406" y="324370"/>
                  </a:moveTo>
                  <a:lnTo>
                    <a:pt x="641883" y="310680"/>
                  </a:lnTo>
                  <a:lnTo>
                    <a:pt x="591121" y="386651"/>
                  </a:lnTo>
                  <a:lnTo>
                    <a:pt x="559079" y="358927"/>
                  </a:lnTo>
                  <a:lnTo>
                    <a:pt x="543242" y="377647"/>
                  </a:lnTo>
                  <a:lnTo>
                    <a:pt x="593648" y="421208"/>
                  </a:lnTo>
                  <a:lnTo>
                    <a:pt x="618172" y="386651"/>
                  </a:lnTo>
                  <a:lnTo>
                    <a:pt x="662406" y="324370"/>
                  </a:lnTo>
                  <a:close/>
                </a:path>
                <a:path w="899159" h="643254">
                  <a:moveTo>
                    <a:pt x="818286" y="412203"/>
                  </a:moveTo>
                  <a:lnTo>
                    <a:pt x="781570" y="412203"/>
                  </a:lnTo>
                  <a:lnTo>
                    <a:pt x="779399" y="430580"/>
                  </a:lnTo>
                  <a:lnTo>
                    <a:pt x="657720" y="430580"/>
                  </a:lnTo>
                  <a:lnTo>
                    <a:pt x="657720" y="437400"/>
                  </a:lnTo>
                  <a:lnTo>
                    <a:pt x="671410" y="495007"/>
                  </a:lnTo>
                  <a:lnTo>
                    <a:pt x="671410" y="499681"/>
                  </a:lnTo>
                  <a:lnTo>
                    <a:pt x="761047" y="499681"/>
                  </a:lnTo>
                  <a:lnTo>
                    <a:pt x="758888" y="511200"/>
                  </a:lnTo>
                  <a:lnTo>
                    <a:pt x="662406" y="511200"/>
                  </a:lnTo>
                  <a:lnTo>
                    <a:pt x="662406" y="522732"/>
                  </a:lnTo>
                  <a:lnTo>
                    <a:pt x="678599" y="522732"/>
                  </a:lnTo>
                  <a:lnTo>
                    <a:pt x="676084" y="525246"/>
                  </a:lnTo>
                  <a:lnTo>
                    <a:pt x="676084" y="536765"/>
                  </a:lnTo>
                  <a:lnTo>
                    <a:pt x="680770" y="543610"/>
                  </a:lnTo>
                  <a:lnTo>
                    <a:pt x="694448" y="543610"/>
                  </a:lnTo>
                  <a:lnTo>
                    <a:pt x="699122" y="536765"/>
                  </a:lnTo>
                  <a:lnTo>
                    <a:pt x="699122" y="525246"/>
                  </a:lnTo>
                  <a:lnTo>
                    <a:pt x="696963" y="522732"/>
                  </a:lnTo>
                  <a:lnTo>
                    <a:pt x="749528" y="522732"/>
                  </a:lnTo>
                  <a:lnTo>
                    <a:pt x="747369" y="525246"/>
                  </a:lnTo>
                  <a:lnTo>
                    <a:pt x="747369" y="536765"/>
                  </a:lnTo>
                  <a:lnTo>
                    <a:pt x="752043" y="543610"/>
                  </a:lnTo>
                  <a:lnTo>
                    <a:pt x="765721" y="543610"/>
                  </a:lnTo>
                  <a:lnTo>
                    <a:pt x="772566" y="536765"/>
                  </a:lnTo>
                  <a:lnTo>
                    <a:pt x="772566" y="527405"/>
                  </a:lnTo>
                  <a:lnTo>
                    <a:pt x="770407" y="522732"/>
                  </a:lnTo>
                  <a:lnTo>
                    <a:pt x="767880" y="520560"/>
                  </a:lnTo>
                  <a:lnTo>
                    <a:pt x="770407" y="520560"/>
                  </a:lnTo>
                  <a:lnTo>
                    <a:pt x="770407" y="518401"/>
                  </a:lnTo>
                  <a:lnTo>
                    <a:pt x="774725" y="495007"/>
                  </a:lnTo>
                  <a:lnTo>
                    <a:pt x="790930" y="421208"/>
                  </a:lnTo>
                  <a:lnTo>
                    <a:pt x="818286" y="421208"/>
                  </a:lnTo>
                  <a:lnTo>
                    <a:pt x="818286" y="412203"/>
                  </a:lnTo>
                  <a:close/>
                </a:path>
                <a:path w="899159" h="643254">
                  <a:moveTo>
                    <a:pt x="898918" y="469811"/>
                  </a:moveTo>
                  <a:lnTo>
                    <a:pt x="892683" y="424141"/>
                  </a:lnTo>
                  <a:lnTo>
                    <a:pt x="875169" y="382930"/>
                  </a:lnTo>
                  <a:lnTo>
                    <a:pt x="848067" y="347903"/>
                  </a:lnTo>
                  <a:lnTo>
                    <a:pt x="813104" y="320763"/>
                  </a:lnTo>
                  <a:lnTo>
                    <a:pt x="772007" y="303237"/>
                  </a:lnTo>
                  <a:lnTo>
                    <a:pt x="726490" y="297002"/>
                  </a:lnTo>
                  <a:lnTo>
                    <a:pt x="712800" y="297002"/>
                  </a:lnTo>
                  <a:lnTo>
                    <a:pt x="712800" y="320040"/>
                  </a:lnTo>
                  <a:lnTo>
                    <a:pt x="717486" y="320040"/>
                  </a:lnTo>
                  <a:lnTo>
                    <a:pt x="722160" y="317525"/>
                  </a:lnTo>
                  <a:lnTo>
                    <a:pt x="726490" y="317525"/>
                  </a:lnTo>
                  <a:lnTo>
                    <a:pt x="773811" y="325386"/>
                  </a:lnTo>
                  <a:lnTo>
                    <a:pt x="814832" y="347192"/>
                  </a:lnTo>
                  <a:lnTo>
                    <a:pt x="847128" y="380288"/>
                  </a:lnTo>
                  <a:lnTo>
                    <a:pt x="868286" y="422046"/>
                  </a:lnTo>
                  <a:lnTo>
                    <a:pt x="875880" y="469811"/>
                  </a:lnTo>
                  <a:lnTo>
                    <a:pt x="868286" y="517321"/>
                  </a:lnTo>
                  <a:lnTo>
                    <a:pt x="847128" y="558457"/>
                  </a:lnTo>
                  <a:lnTo>
                    <a:pt x="814832" y="590816"/>
                  </a:lnTo>
                  <a:lnTo>
                    <a:pt x="773811" y="611987"/>
                  </a:lnTo>
                  <a:lnTo>
                    <a:pt x="726490" y="619569"/>
                  </a:lnTo>
                  <a:lnTo>
                    <a:pt x="679094" y="611987"/>
                  </a:lnTo>
                  <a:lnTo>
                    <a:pt x="637641" y="590816"/>
                  </a:lnTo>
                  <a:lnTo>
                    <a:pt x="604761" y="558457"/>
                  </a:lnTo>
                  <a:lnTo>
                    <a:pt x="583082" y="517321"/>
                  </a:lnTo>
                  <a:lnTo>
                    <a:pt x="575284" y="469811"/>
                  </a:lnTo>
                  <a:lnTo>
                    <a:pt x="575284" y="467652"/>
                  </a:lnTo>
                  <a:lnTo>
                    <a:pt x="554405" y="467652"/>
                  </a:lnTo>
                  <a:lnTo>
                    <a:pt x="554405" y="469811"/>
                  </a:lnTo>
                  <a:lnTo>
                    <a:pt x="560476" y="515518"/>
                  </a:lnTo>
                  <a:lnTo>
                    <a:pt x="577646" y="556793"/>
                  </a:lnTo>
                  <a:lnTo>
                    <a:pt x="604393" y="591896"/>
                  </a:lnTo>
                  <a:lnTo>
                    <a:pt x="639152" y="619112"/>
                  </a:lnTo>
                  <a:lnTo>
                    <a:pt x="680364" y="636714"/>
                  </a:lnTo>
                  <a:lnTo>
                    <a:pt x="726490" y="642962"/>
                  </a:lnTo>
                  <a:lnTo>
                    <a:pt x="772007" y="636714"/>
                  </a:lnTo>
                  <a:lnTo>
                    <a:pt x="812038" y="619569"/>
                  </a:lnTo>
                  <a:lnTo>
                    <a:pt x="848067" y="591896"/>
                  </a:lnTo>
                  <a:lnTo>
                    <a:pt x="875169" y="556793"/>
                  </a:lnTo>
                  <a:lnTo>
                    <a:pt x="892683" y="515518"/>
                  </a:lnTo>
                  <a:lnTo>
                    <a:pt x="898918" y="469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30">
              <a:extLst>
                <a:ext uri="{FF2B5EF4-FFF2-40B4-BE49-F238E27FC236}">
                  <a16:creationId xmlns:a16="http://schemas.microsoft.com/office/drawing/2014/main" id="{33D7C33F-3624-0637-D083-F136E46AC535}"/>
                </a:ext>
              </a:extLst>
            </p:cNvPr>
            <p:cNvSpPr/>
            <p:nvPr/>
          </p:nvSpPr>
          <p:spPr>
            <a:xfrm>
              <a:off x="7087323" y="2819518"/>
              <a:ext cx="1171575" cy="316865"/>
            </a:xfrm>
            <a:custGeom>
              <a:avLst/>
              <a:gdLst/>
              <a:ahLst/>
              <a:cxnLst/>
              <a:rect l="l" t="t" r="r" b="b"/>
              <a:pathLst>
                <a:path w="1171575" h="316864">
                  <a:moveTo>
                    <a:pt x="0" y="316445"/>
                  </a:moveTo>
                  <a:lnTo>
                    <a:pt x="0" y="0"/>
                  </a:lnTo>
                  <a:lnTo>
                    <a:pt x="1171079" y="0"/>
                  </a:lnTo>
                </a:path>
              </a:pathLst>
            </a:custGeom>
            <a:ln w="15839">
              <a:solidFill>
                <a:srgbClr val="75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31">
            <a:extLst>
              <a:ext uri="{FF2B5EF4-FFF2-40B4-BE49-F238E27FC236}">
                <a16:creationId xmlns:a16="http://schemas.microsoft.com/office/drawing/2014/main" id="{E57F3829-F67C-8655-4D6D-EC25695986F3}"/>
              </a:ext>
            </a:extLst>
          </p:cNvPr>
          <p:cNvSpPr txBox="1"/>
          <p:nvPr/>
        </p:nvSpPr>
        <p:spPr>
          <a:xfrm>
            <a:off x="6520839" y="4281867"/>
            <a:ext cx="138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Frontend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Subnet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32">
            <a:extLst>
              <a:ext uri="{FF2B5EF4-FFF2-40B4-BE49-F238E27FC236}">
                <a16:creationId xmlns:a16="http://schemas.microsoft.com/office/drawing/2014/main" id="{FDF679ED-A2AE-0173-7456-219A87B16B5C}"/>
              </a:ext>
            </a:extLst>
          </p:cNvPr>
          <p:cNvSpPr txBox="1"/>
          <p:nvPr/>
        </p:nvSpPr>
        <p:spPr>
          <a:xfrm>
            <a:off x="9949839" y="4262792"/>
            <a:ext cx="13290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Backend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Subnet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33">
            <a:extLst>
              <a:ext uri="{FF2B5EF4-FFF2-40B4-BE49-F238E27FC236}">
                <a16:creationId xmlns:a16="http://schemas.microsoft.com/office/drawing/2014/main" id="{DDD99714-6482-4C64-0C52-B2866198A923}"/>
              </a:ext>
            </a:extLst>
          </p:cNvPr>
          <p:cNvSpPr txBox="1"/>
          <p:nvPr/>
        </p:nvSpPr>
        <p:spPr>
          <a:xfrm>
            <a:off x="8511995" y="2376740"/>
            <a:ext cx="679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Internet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34">
            <a:extLst>
              <a:ext uri="{FF2B5EF4-FFF2-40B4-BE49-F238E27FC236}">
                <a16:creationId xmlns:a16="http://schemas.microsoft.com/office/drawing/2014/main" id="{CEA332B3-1827-0A81-7A03-A8E8B9F46C2B}"/>
              </a:ext>
            </a:extLst>
          </p:cNvPr>
          <p:cNvGrpSpPr/>
          <p:nvPr/>
        </p:nvGrpSpPr>
        <p:grpSpPr>
          <a:xfrm>
            <a:off x="6259662" y="2672757"/>
            <a:ext cx="5394325" cy="3206115"/>
            <a:chOff x="6146100" y="2352239"/>
            <a:chExt cx="5394325" cy="3206115"/>
          </a:xfrm>
        </p:grpSpPr>
        <p:sp>
          <p:nvSpPr>
            <p:cNvPr id="28" name="object 35">
              <a:extLst>
                <a:ext uri="{FF2B5EF4-FFF2-40B4-BE49-F238E27FC236}">
                  <a16:creationId xmlns:a16="http://schemas.microsoft.com/office/drawing/2014/main" id="{7EA84ACE-DCB4-5F26-BF8B-1A9986AEA9B1}"/>
                </a:ext>
              </a:extLst>
            </p:cNvPr>
            <p:cNvSpPr/>
            <p:nvPr/>
          </p:nvSpPr>
          <p:spPr>
            <a:xfrm>
              <a:off x="8752674" y="2360159"/>
              <a:ext cx="3810" cy="228600"/>
            </a:xfrm>
            <a:custGeom>
              <a:avLst/>
              <a:gdLst/>
              <a:ahLst/>
              <a:cxnLst/>
              <a:rect l="l" t="t" r="r" b="b"/>
              <a:pathLst>
                <a:path w="3809" h="228600">
                  <a:moveTo>
                    <a:pt x="0" y="228600"/>
                  </a:moveTo>
                  <a:lnTo>
                    <a:pt x="0" y="114490"/>
                  </a:lnTo>
                  <a:lnTo>
                    <a:pt x="3606" y="114490"/>
                  </a:lnTo>
                  <a:lnTo>
                    <a:pt x="3606" y="0"/>
                  </a:lnTo>
                </a:path>
              </a:pathLst>
            </a:custGeom>
            <a:ln w="15839">
              <a:solidFill>
                <a:srgbClr val="75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36">
              <a:extLst>
                <a:ext uri="{FF2B5EF4-FFF2-40B4-BE49-F238E27FC236}">
                  <a16:creationId xmlns:a16="http://schemas.microsoft.com/office/drawing/2014/main" id="{AD9D69C6-562C-34F9-6DE8-5E3376C4335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7356" y="3283207"/>
              <a:ext cx="496074" cy="371157"/>
            </a:xfrm>
            <a:prstGeom prst="rect">
              <a:avLst/>
            </a:prstGeom>
          </p:spPr>
        </p:pic>
        <p:pic>
          <p:nvPicPr>
            <p:cNvPr id="30" name="object 37">
              <a:extLst>
                <a:ext uri="{FF2B5EF4-FFF2-40B4-BE49-F238E27FC236}">
                  <a16:creationId xmlns:a16="http://schemas.microsoft.com/office/drawing/2014/main" id="{E8C92033-FB2D-22B5-CF3D-AD2F5AAE8A8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37482" y="3521167"/>
              <a:ext cx="496074" cy="371157"/>
            </a:xfrm>
            <a:prstGeom prst="rect">
              <a:avLst/>
            </a:prstGeom>
          </p:spPr>
        </p:pic>
        <p:sp>
          <p:nvSpPr>
            <p:cNvPr id="31" name="object 38">
              <a:extLst>
                <a:ext uri="{FF2B5EF4-FFF2-40B4-BE49-F238E27FC236}">
                  <a16:creationId xmlns:a16="http://schemas.microsoft.com/office/drawing/2014/main" id="{1F96A783-3DC8-2083-3F33-F00BB1924F8E}"/>
                </a:ext>
              </a:extLst>
            </p:cNvPr>
            <p:cNvSpPr/>
            <p:nvPr/>
          </p:nvSpPr>
          <p:spPr>
            <a:xfrm>
              <a:off x="6152400" y="2447281"/>
              <a:ext cx="5381625" cy="2971800"/>
            </a:xfrm>
            <a:custGeom>
              <a:avLst/>
              <a:gdLst/>
              <a:ahLst/>
              <a:cxnLst/>
              <a:rect l="l" t="t" r="r" b="b"/>
              <a:pathLst>
                <a:path w="5381625" h="2971800">
                  <a:moveTo>
                    <a:pt x="2690634" y="2971444"/>
                  </a:moveTo>
                  <a:lnTo>
                    <a:pt x="0" y="2971444"/>
                  </a:lnTo>
                  <a:lnTo>
                    <a:pt x="0" y="0"/>
                  </a:lnTo>
                  <a:lnTo>
                    <a:pt x="5381282" y="0"/>
                  </a:lnTo>
                  <a:lnTo>
                    <a:pt x="5381282" y="2971444"/>
                  </a:lnTo>
                  <a:lnTo>
                    <a:pt x="2690634" y="2971444"/>
                  </a:lnTo>
                  <a:close/>
                </a:path>
              </a:pathLst>
            </a:custGeom>
            <a:ln w="12599">
              <a:solidFill>
                <a:srgbClr val="31538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9">
              <a:extLst>
                <a:ext uri="{FF2B5EF4-FFF2-40B4-BE49-F238E27FC236}">
                  <a16:creationId xmlns:a16="http://schemas.microsoft.com/office/drawing/2014/main" id="{B738C7B0-E6DE-4B01-297A-365AD91D34AE}"/>
                </a:ext>
              </a:extLst>
            </p:cNvPr>
            <p:cNvSpPr/>
            <p:nvPr/>
          </p:nvSpPr>
          <p:spPr>
            <a:xfrm>
              <a:off x="9984600" y="5224326"/>
              <a:ext cx="1520825" cy="334010"/>
            </a:xfrm>
            <a:custGeom>
              <a:avLst/>
              <a:gdLst/>
              <a:ahLst/>
              <a:cxnLst/>
              <a:rect l="l" t="t" r="r" b="b"/>
              <a:pathLst>
                <a:path w="1520825" h="334010">
                  <a:moveTo>
                    <a:pt x="1520278" y="0"/>
                  </a:moveTo>
                  <a:lnTo>
                    <a:pt x="0" y="0"/>
                  </a:lnTo>
                  <a:lnTo>
                    <a:pt x="0" y="333717"/>
                  </a:lnTo>
                  <a:lnTo>
                    <a:pt x="760323" y="333717"/>
                  </a:lnTo>
                  <a:lnTo>
                    <a:pt x="1520278" y="333717"/>
                  </a:lnTo>
                  <a:lnTo>
                    <a:pt x="15202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40">
            <a:extLst>
              <a:ext uri="{FF2B5EF4-FFF2-40B4-BE49-F238E27FC236}">
                <a16:creationId xmlns:a16="http://schemas.microsoft.com/office/drawing/2014/main" id="{B494B065-E8E3-3674-EB38-BB38E6415FB8}"/>
              </a:ext>
            </a:extLst>
          </p:cNvPr>
          <p:cNvSpPr txBox="1"/>
          <p:nvPr/>
        </p:nvSpPr>
        <p:spPr>
          <a:xfrm>
            <a:off x="10188523" y="5577140"/>
            <a:ext cx="1318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Virtual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71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8009-9979-EBA4-BBEA-8546C376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C9BB1849-BB5C-CA9E-62D6-E0A50769FC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7D0EF1B-EF62-98D5-0E5A-77EF2AA49D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675E97-2C7E-80CE-E647-EB5290AB9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847555-BFCE-1826-6C14-C424F1346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777148-DD15-2493-68E7-742E1D273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2690E-C1F5-4004-E0A1-3B98B6E1E1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93F185-7E3B-6AC5-EDDB-1B21B22E298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EB0F32C7-8A69-74F4-133A-7E2103340046}"/>
              </a:ext>
            </a:extLst>
          </p:cNvPr>
          <p:cNvSpPr txBox="1">
            <a:spLocks/>
          </p:cNvSpPr>
          <p:nvPr/>
        </p:nvSpPr>
        <p:spPr>
          <a:xfrm>
            <a:off x="3553332" y="546910"/>
            <a:ext cx="452564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000" spc="-65" dirty="0"/>
              <a:t>Identify </a:t>
            </a:r>
            <a:r>
              <a:rPr lang="en-IN" sz="3000" spc="-70" dirty="0"/>
              <a:t>User-</a:t>
            </a:r>
            <a:r>
              <a:rPr lang="en-IN" sz="3000" spc="-60" dirty="0"/>
              <a:t>Defined </a:t>
            </a:r>
            <a:r>
              <a:rPr lang="en-IN" sz="3000" spc="-10" dirty="0"/>
              <a:t>Routes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4DD98E89-F3C7-B7CD-80FE-F97BF06B0092}"/>
              </a:ext>
            </a:extLst>
          </p:cNvPr>
          <p:cNvSpPr txBox="1"/>
          <p:nvPr/>
        </p:nvSpPr>
        <p:spPr>
          <a:xfrm>
            <a:off x="561505" y="1412180"/>
            <a:ext cx="41116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table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contains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set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rules, </a:t>
            </a:r>
            <a:r>
              <a:rPr sz="2000" dirty="0">
                <a:latin typeface="Segoe UI"/>
                <a:cs typeface="Segoe UI"/>
              </a:rPr>
              <a:t>called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routes,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specifies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how </a:t>
            </a:r>
            <a:r>
              <a:rPr sz="2000" dirty="0">
                <a:latin typeface="Segoe UI"/>
                <a:cs typeface="Segoe UI"/>
              </a:rPr>
              <a:t>packets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should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routed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virtual network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CE6D703-7A95-0B05-89A4-3C945999CA6D}"/>
              </a:ext>
            </a:extLst>
          </p:cNvPr>
          <p:cNvSpPr/>
          <p:nvPr/>
        </p:nvSpPr>
        <p:spPr>
          <a:xfrm>
            <a:off x="436321" y="3035519"/>
            <a:ext cx="4608830" cy="1482725"/>
          </a:xfrm>
          <a:custGeom>
            <a:avLst/>
            <a:gdLst/>
            <a:ahLst/>
            <a:cxnLst/>
            <a:rect l="l" t="t" r="r" b="b"/>
            <a:pathLst>
              <a:path w="4608830" h="1482725">
                <a:moveTo>
                  <a:pt x="4608360" y="0"/>
                </a:moveTo>
                <a:lnTo>
                  <a:pt x="0" y="0"/>
                </a:lnTo>
                <a:lnTo>
                  <a:pt x="0" y="1482128"/>
                </a:lnTo>
                <a:lnTo>
                  <a:pt x="2304364" y="1482128"/>
                </a:lnTo>
                <a:lnTo>
                  <a:pt x="4608360" y="1482128"/>
                </a:lnTo>
                <a:lnTo>
                  <a:pt x="460836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017A926-1F5D-944F-DCD1-352D48731CF4}"/>
              </a:ext>
            </a:extLst>
          </p:cNvPr>
          <p:cNvSpPr txBox="1"/>
          <p:nvPr/>
        </p:nvSpPr>
        <p:spPr>
          <a:xfrm>
            <a:off x="561505" y="5049256"/>
            <a:ext cx="42564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next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hop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can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virtual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network </a:t>
            </a:r>
            <a:r>
              <a:rPr sz="2000" dirty="0">
                <a:latin typeface="Segoe UI"/>
                <a:cs typeface="Segoe UI"/>
              </a:rPr>
              <a:t>gateway,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virtual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network,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internet,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or </a:t>
            </a:r>
            <a:r>
              <a:rPr sz="2000" dirty="0">
                <a:latin typeface="Segoe UI"/>
                <a:cs typeface="Segoe UI"/>
              </a:rPr>
              <a:t>virtual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appliance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3" name="object 9">
            <a:extLst>
              <a:ext uri="{FF2B5EF4-FFF2-40B4-BE49-F238E27FC236}">
                <a16:creationId xmlns:a16="http://schemas.microsoft.com/office/drawing/2014/main" id="{ADCEE168-8D92-3F1F-2850-80B62F4DD99C}"/>
              </a:ext>
            </a:extLst>
          </p:cNvPr>
          <p:cNvGrpSpPr/>
          <p:nvPr/>
        </p:nvGrpSpPr>
        <p:grpSpPr>
          <a:xfrm>
            <a:off x="5171275" y="1182119"/>
            <a:ext cx="6847205" cy="5189220"/>
            <a:chOff x="5171275" y="1182119"/>
            <a:chExt cx="6847205" cy="5189220"/>
          </a:xfrm>
        </p:grpSpPr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2DE22BA7-050B-374B-10B1-A2E4E52EA310}"/>
                </a:ext>
              </a:extLst>
            </p:cNvPr>
            <p:cNvSpPr/>
            <p:nvPr/>
          </p:nvSpPr>
          <p:spPr>
            <a:xfrm>
              <a:off x="5181117" y="1191962"/>
              <a:ext cx="6827520" cy="5169535"/>
            </a:xfrm>
            <a:custGeom>
              <a:avLst/>
              <a:gdLst/>
              <a:ahLst/>
              <a:cxnLst/>
              <a:rect l="l" t="t" r="r" b="b"/>
              <a:pathLst>
                <a:path w="6827520" h="5169535">
                  <a:moveTo>
                    <a:pt x="3413887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6827405" y="0"/>
                  </a:lnTo>
                  <a:lnTo>
                    <a:pt x="6827405" y="5169242"/>
                  </a:lnTo>
                  <a:lnTo>
                    <a:pt x="3413887" y="516924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C41A8A1F-7D30-2760-8322-CE50B5E3E89B}"/>
                </a:ext>
              </a:extLst>
            </p:cNvPr>
            <p:cNvSpPr/>
            <p:nvPr/>
          </p:nvSpPr>
          <p:spPr>
            <a:xfrm>
              <a:off x="5816155" y="3368157"/>
              <a:ext cx="1785620" cy="1223645"/>
            </a:xfrm>
            <a:custGeom>
              <a:avLst/>
              <a:gdLst/>
              <a:ahLst/>
              <a:cxnLst/>
              <a:rect l="l" t="t" r="r" b="b"/>
              <a:pathLst>
                <a:path w="1785620" h="1223645">
                  <a:moveTo>
                    <a:pt x="1785239" y="0"/>
                  </a:moveTo>
                  <a:lnTo>
                    <a:pt x="0" y="0"/>
                  </a:lnTo>
                  <a:lnTo>
                    <a:pt x="0" y="1223289"/>
                  </a:lnTo>
                  <a:lnTo>
                    <a:pt x="892810" y="1223289"/>
                  </a:lnTo>
                  <a:lnTo>
                    <a:pt x="1785239" y="1223289"/>
                  </a:lnTo>
                  <a:lnTo>
                    <a:pt x="1785239" y="0"/>
                  </a:lnTo>
                  <a:close/>
                </a:path>
              </a:pathLst>
            </a:custGeom>
            <a:solidFill>
              <a:srgbClr val="EA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A984BFF4-6DF5-FD6A-C5AF-4018CFD57AC1}"/>
                </a:ext>
              </a:extLst>
            </p:cNvPr>
            <p:cNvSpPr/>
            <p:nvPr/>
          </p:nvSpPr>
          <p:spPr>
            <a:xfrm>
              <a:off x="5816155" y="3368157"/>
              <a:ext cx="1785620" cy="1223645"/>
            </a:xfrm>
            <a:custGeom>
              <a:avLst/>
              <a:gdLst/>
              <a:ahLst/>
              <a:cxnLst/>
              <a:rect l="l" t="t" r="r" b="b"/>
              <a:pathLst>
                <a:path w="1785620" h="1223645">
                  <a:moveTo>
                    <a:pt x="892810" y="1223289"/>
                  </a:moveTo>
                  <a:lnTo>
                    <a:pt x="0" y="1223289"/>
                  </a:lnTo>
                  <a:lnTo>
                    <a:pt x="0" y="0"/>
                  </a:lnTo>
                  <a:lnTo>
                    <a:pt x="1785239" y="0"/>
                  </a:lnTo>
                  <a:lnTo>
                    <a:pt x="1785239" y="1223289"/>
                  </a:lnTo>
                  <a:lnTo>
                    <a:pt x="892810" y="122328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BE1AEFC4-529D-951D-1309-E91511BDB0D5}"/>
                </a:ext>
              </a:extLst>
            </p:cNvPr>
            <p:cNvSpPr/>
            <p:nvPr/>
          </p:nvSpPr>
          <p:spPr>
            <a:xfrm>
              <a:off x="7602118" y="3965400"/>
              <a:ext cx="1828164" cy="13970"/>
            </a:xfrm>
            <a:custGeom>
              <a:avLst/>
              <a:gdLst/>
              <a:ahLst/>
              <a:cxnLst/>
              <a:rect l="l" t="t" r="r" b="b"/>
              <a:pathLst>
                <a:path w="1828165" h="13970">
                  <a:moveTo>
                    <a:pt x="0" y="13677"/>
                  </a:moveTo>
                  <a:lnTo>
                    <a:pt x="913676" y="13677"/>
                  </a:lnTo>
                  <a:lnTo>
                    <a:pt x="913676" y="0"/>
                  </a:lnTo>
                  <a:lnTo>
                    <a:pt x="1827720" y="0"/>
                  </a:lnTo>
                </a:path>
              </a:pathLst>
            </a:custGeom>
            <a:ln w="158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B4BE9852-B2A6-28E9-7D0C-6B70B8BA72D9}"/>
                </a:ext>
              </a:extLst>
            </p:cNvPr>
            <p:cNvSpPr/>
            <p:nvPr/>
          </p:nvSpPr>
          <p:spPr>
            <a:xfrm>
              <a:off x="8299437" y="4649041"/>
              <a:ext cx="2082800" cy="368300"/>
            </a:xfrm>
            <a:custGeom>
              <a:avLst/>
              <a:gdLst/>
              <a:ahLst/>
              <a:cxnLst/>
              <a:rect l="l" t="t" r="r" b="b"/>
              <a:pathLst>
                <a:path w="2082800" h="368300">
                  <a:moveTo>
                    <a:pt x="0" y="367919"/>
                  </a:moveTo>
                  <a:lnTo>
                    <a:pt x="2082241" y="367919"/>
                  </a:lnTo>
                  <a:lnTo>
                    <a:pt x="2082241" y="0"/>
                  </a:lnTo>
                </a:path>
              </a:pathLst>
            </a:custGeom>
            <a:ln w="15839">
              <a:solidFill>
                <a:srgbClr val="75707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E6C8EA8A-8816-1ABC-1155-F3A744B4F164}"/>
                </a:ext>
              </a:extLst>
            </p:cNvPr>
            <p:cNvSpPr/>
            <p:nvPr/>
          </p:nvSpPr>
          <p:spPr>
            <a:xfrm>
              <a:off x="10343883" y="45784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0"/>
                  </a:moveTo>
                  <a:lnTo>
                    <a:pt x="0" y="75603"/>
                  </a:lnTo>
                  <a:lnTo>
                    <a:pt x="75590" y="75603"/>
                  </a:lnTo>
                  <a:lnTo>
                    <a:pt x="3779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7324A46E-23C9-11DC-A625-990E032BD415}"/>
                </a:ext>
              </a:extLst>
            </p:cNvPr>
            <p:cNvSpPr/>
            <p:nvPr/>
          </p:nvSpPr>
          <p:spPr>
            <a:xfrm>
              <a:off x="7035838" y="2291401"/>
              <a:ext cx="1390015" cy="601980"/>
            </a:xfrm>
            <a:custGeom>
              <a:avLst/>
              <a:gdLst/>
              <a:ahLst/>
              <a:cxnLst/>
              <a:rect l="l" t="t" r="r" b="b"/>
              <a:pathLst>
                <a:path w="1390015" h="601980">
                  <a:moveTo>
                    <a:pt x="1389964" y="0"/>
                  </a:moveTo>
                  <a:lnTo>
                    <a:pt x="0" y="0"/>
                  </a:lnTo>
                  <a:lnTo>
                    <a:pt x="0" y="601916"/>
                  </a:lnTo>
                  <a:lnTo>
                    <a:pt x="695159" y="601916"/>
                  </a:lnTo>
                  <a:lnTo>
                    <a:pt x="1389964" y="601916"/>
                  </a:lnTo>
                  <a:lnTo>
                    <a:pt x="1389964" y="0"/>
                  </a:lnTo>
                  <a:close/>
                </a:path>
              </a:pathLst>
            </a:custGeom>
            <a:solidFill>
              <a:srgbClr val="FD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2DE90BF6-9B8F-722E-DC9C-5A4941109979}"/>
                </a:ext>
              </a:extLst>
            </p:cNvPr>
            <p:cNvSpPr/>
            <p:nvPr/>
          </p:nvSpPr>
          <p:spPr>
            <a:xfrm>
              <a:off x="7035838" y="2291401"/>
              <a:ext cx="1390015" cy="601980"/>
            </a:xfrm>
            <a:custGeom>
              <a:avLst/>
              <a:gdLst/>
              <a:ahLst/>
              <a:cxnLst/>
              <a:rect l="l" t="t" r="r" b="b"/>
              <a:pathLst>
                <a:path w="1390015" h="601980">
                  <a:moveTo>
                    <a:pt x="695159" y="601916"/>
                  </a:moveTo>
                  <a:lnTo>
                    <a:pt x="0" y="601916"/>
                  </a:lnTo>
                  <a:lnTo>
                    <a:pt x="0" y="0"/>
                  </a:lnTo>
                  <a:lnTo>
                    <a:pt x="1389964" y="0"/>
                  </a:lnTo>
                  <a:lnTo>
                    <a:pt x="1389964" y="601916"/>
                  </a:lnTo>
                  <a:lnTo>
                    <a:pt x="695159" y="601916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8">
            <a:extLst>
              <a:ext uri="{FF2B5EF4-FFF2-40B4-BE49-F238E27FC236}">
                <a16:creationId xmlns:a16="http://schemas.microsoft.com/office/drawing/2014/main" id="{D5C94AE6-B2E3-6A6F-0280-3BC58E2AFFA1}"/>
              </a:ext>
            </a:extLst>
          </p:cNvPr>
          <p:cNvSpPr txBox="1"/>
          <p:nvPr/>
        </p:nvSpPr>
        <p:spPr>
          <a:xfrm>
            <a:off x="7206119" y="2337032"/>
            <a:ext cx="1063625" cy="511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625" marR="5080" indent="-30226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User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defined </a:t>
            </a:r>
            <a:r>
              <a:rPr lang="en-US" sz="1600" spc="-1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oute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CA5E3A6A-D903-28CA-F1DF-EEB6FC3EDF83}"/>
              </a:ext>
            </a:extLst>
          </p:cNvPr>
          <p:cNvSpPr/>
          <p:nvPr/>
        </p:nvSpPr>
        <p:spPr>
          <a:xfrm>
            <a:off x="7976514" y="3658327"/>
            <a:ext cx="1063625" cy="502284"/>
          </a:xfrm>
          <a:custGeom>
            <a:avLst/>
            <a:gdLst/>
            <a:ahLst/>
            <a:cxnLst/>
            <a:rect l="l" t="t" r="r" b="b"/>
            <a:pathLst>
              <a:path w="1063625" h="502285">
                <a:moveTo>
                  <a:pt x="1063091" y="0"/>
                </a:moveTo>
                <a:lnTo>
                  <a:pt x="0" y="0"/>
                </a:lnTo>
                <a:lnTo>
                  <a:pt x="0" y="501840"/>
                </a:lnTo>
                <a:lnTo>
                  <a:pt x="531723" y="501840"/>
                </a:lnTo>
                <a:lnTo>
                  <a:pt x="1063091" y="501840"/>
                </a:lnTo>
                <a:lnTo>
                  <a:pt x="1063091" y="0"/>
                </a:lnTo>
                <a:close/>
              </a:path>
            </a:pathLst>
          </a:custGeom>
          <a:solidFill>
            <a:srgbClr val="DCD5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5D1BB945-0E0C-9540-001A-100EC5F68C56}"/>
              </a:ext>
            </a:extLst>
          </p:cNvPr>
          <p:cNvSpPr txBox="1"/>
          <p:nvPr/>
        </p:nvSpPr>
        <p:spPr>
          <a:xfrm>
            <a:off x="7976514" y="3658327"/>
            <a:ext cx="1063625" cy="502284"/>
          </a:xfrm>
          <a:prstGeom prst="rect">
            <a:avLst/>
          </a:prstGeom>
          <a:ln w="12599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89560" marR="230504" indent="-50800">
              <a:lnSpc>
                <a:spcPct val="100000"/>
              </a:lnSpc>
              <a:spcBef>
                <a:spcPts val="60"/>
              </a:spcBef>
            </a:pPr>
            <a:r>
              <a:rPr sz="1600" spc="-20" dirty="0">
                <a:latin typeface="Calibri"/>
                <a:cs typeface="Calibri"/>
              </a:rPr>
              <a:t>System </a:t>
            </a:r>
            <a:r>
              <a:rPr sz="1600" spc="-10" dirty="0">
                <a:latin typeface="Calibri"/>
                <a:cs typeface="Calibri"/>
              </a:rPr>
              <a:t>Route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1">
            <a:extLst>
              <a:ext uri="{FF2B5EF4-FFF2-40B4-BE49-F238E27FC236}">
                <a16:creationId xmlns:a16="http://schemas.microsoft.com/office/drawing/2014/main" id="{8F609D33-9BA4-4AEF-3829-D9D207066A8A}"/>
              </a:ext>
            </a:extLst>
          </p:cNvPr>
          <p:cNvGrpSpPr/>
          <p:nvPr/>
        </p:nvGrpSpPr>
        <p:grpSpPr>
          <a:xfrm>
            <a:off x="6189484" y="2583704"/>
            <a:ext cx="5031740" cy="2471420"/>
            <a:chOff x="6189484" y="2583704"/>
            <a:chExt cx="5031740" cy="2471420"/>
          </a:xfrm>
        </p:grpSpPr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DD068562-F763-8ECF-109F-8DBC4EA1F48A}"/>
                </a:ext>
              </a:extLst>
            </p:cNvPr>
            <p:cNvSpPr/>
            <p:nvPr/>
          </p:nvSpPr>
          <p:spPr>
            <a:xfrm>
              <a:off x="9429483" y="3354124"/>
              <a:ext cx="1785620" cy="1223645"/>
            </a:xfrm>
            <a:custGeom>
              <a:avLst/>
              <a:gdLst/>
              <a:ahLst/>
              <a:cxnLst/>
              <a:rect l="l" t="t" r="r" b="b"/>
              <a:pathLst>
                <a:path w="1785620" h="1223645">
                  <a:moveTo>
                    <a:pt x="1785238" y="0"/>
                  </a:moveTo>
                  <a:lnTo>
                    <a:pt x="0" y="0"/>
                  </a:lnTo>
                  <a:lnTo>
                    <a:pt x="0" y="1223276"/>
                  </a:lnTo>
                  <a:lnTo>
                    <a:pt x="892797" y="1223276"/>
                  </a:lnTo>
                  <a:lnTo>
                    <a:pt x="1785238" y="1223276"/>
                  </a:lnTo>
                  <a:lnTo>
                    <a:pt x="1785238" y="0"/>
                  </a:lnTo>
                  <a:close/>
                </a:path>
              </a:pathLst>
            </a:custGeom>
            <a:solidFill>
              <a:srgbClr val="EAF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3FBB76B3-575C-B44E-320D-D5365570D95E}"/>
                </a:ext>
              </a:extLst>
            </p:cNvPr>
            <p:cNvSpPr/>
            <p:nvPr/>
          </p:nvSpPr>
          <p:spPr>
            <a:xfrm>
              <a:off x="9429483" y="3354124"/>
              <a:ext cx="1785620" cy="1223645"/>
            </a:xfrm>
            <a:custGeom>
              <a:avLst/>
              <a:gdLst/>
              <a:ahLst/>
              <a:cxnLst/>
              <a:rect l="l" t="t" r="r" b="b"/>
              <a:pathLst>
                <a:path w="1785620" h="1223645">
                  <a:moveTo>
                    <a:pt x="892797" y="1223276"/>
                  </a:moveTo>
                  <a:lnTo>
                    <a:pt x="0" y="1223276"/>
                  </a:lnTo>
                  <a:lnTo>
                    <a:pt x="0" y="0"/>
                  </a:lnTo>
                  <a:lnTo>
                    <a:pt x="1785238" y="0"/>
                  </a:lnTo>
                  <a:lnTo>
                    <a:pt x="1785238" y="1223276"/>
                  </a:lnTo>
                  <a:lnTo>
                    <a:pt x="892797" y="1223276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4">
              <a:extLst>
                <a:ext uri="{FF2B5EF4-FFF2-40B4-BE49-F238E27FC236}">
                  <a16:creationId xmlns:a16="http://schemas.microsoft.com/office/drawing/2014/main" id="{032681FB-F9C6-5354-ACF9-F98A98308356}"/>
                </a:ext>
              </a:extLst>
            </p:cNvPr>
            <p:cNvSpPr/>
            <p:nvPr/>
          </p:nvSpPr>
          <p:spPr>
            <a:xfrm>
              <a:off x="6709320" y="4591079"/>
              <a:ext cx="130175" cy="426720"/>
            </a:xfrm>
            <a:custGeom>
              <a:avLst/>
              <a:gdLst/>
              <a:ahLst/>
              <a:cxnLst/>
              <a:rect l="l" t="t" r="r" b="b"/>
              <a:pathLst>
                <a:path w="130175" h="426720">
                  <a:moveTo>
                    <a:pt x="0" y="0"/>
                  </a:moveTo>
                  <a:lnTo>
                    <a:pt x="0" y="426250"/>
                  </a:lnTo>
                  <a:lnTo>
                    <a:pt x="129603" y="426250"/>
                  </a:lnTo>
                </a:path>
              </a:pathLst>
            </a:custGeom>
            <a:ln w="15839">
              <a:solidFill>
                <a:srgbClr val="75707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5">
              <a:extLst>
                <a:ext uri="{FF2B5EF4-FFF2-40B4-BE49-F238E27FC236}">
                  <a16:creationId xmlns:a16="http://schemas.microsoft.com/office/drawing/2014/main" id="{C69CC74B-A471-0117-BFCF-6B77823BA344}"/>
                </a:ext>
              </a:extLst>
            </p:cNvPr>
            <p:cNvSpPr/>
            <p:nvPr/>
          </p:nvSpPr>
          <p:spPr>
            <a:xfrm>
              <a:off x="6833882" y="49795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28B66D64-DDBC-32A5-3C22-679F3D81527F}"/>
                </a:ext>
              </a:extLst>
            </p:cNvPr>
            <p:cNvSpPr/>
            <p:nvPr/>
          </p:nvSpPr>
          <p:spPr>
            <a:xfrm>
              <a:off x="6189484" y="3521878"/>
              <a:ext cx="965835" cy="701040"/>
            </a:xfrm>
            <a:custGeom>
              <a:avLst/>
              <a:gdLst/>
              <a:ahLst/>
              <a:cxnLst/>
              <a:rect l="l" t="t" r="r" b="b"/>
              <a:pathLst>
                <a:path w="965834" h="701039">
                  <a:moveTo>
                    <a:pt x="127800" y="29883"/>
                  </a:moveTo>
                  <a:lnTo>
                    <a:pt x="105829" y="14770"/>
                  </a:lnTo>
                  <a:lnTo>
                    <a:pt x="51473" y="97929"/>
                  </a:lnTo>
                  <a:lnTo>
                    <a:pt x="16916" y="67691"/>
                  </a:lnTo>
                  <a:lnTo>
                    <a:pt x="0" y="87845"/>
                  </a:lnTo>
                  <a:lnTo>
                    <a:pt x="54000" y="135369"/>
                  </a:lnTo>
                  <a:lnTo>
                    <a:pt x="80187" y="97929"/>
                  </a:lnTo>
                  <a:lnTo>
                    <a:pt x="127800" y="29883"/>
                  </a:lnTo>
                  <a:close/>
                </a:path>
                <a:path w="965834" h="701039">
                  <a:moveTo>
                    <a:pt x="295554" y="125641"/>
                  </a:moveTo>
                  <a:lnTo>
                    <a:pt x="255955" y="125641"/>
                  </a:lnTo>
                  <a:lnTo>
                    <a:pt x="253796" y="145440"/>
                  </a:lnTo>
                  <a:lnTo>
                    <a:pt x="123113" y="145440"/>
                  </a:lnTo>
                  <a:lnTo>
                    <a:pt x="123113" y="153009"/>
                  </a:lnTo>
                  <a:lnTo>
                    <a:pt x="137871" y="216001"/>
                  </a:lnTo>
                  <a:lnTo>
                    <a:pt x="137871" y="221056"/>
                  </a:lnTo>
                  <a:lnTo>
                    <a:pt x="233997" y="221056"/>
                  </a:lnTo>
                  <a:lnTo>
                    <a:pt x="231470" y="233641"/>
                  </a:lnTo>
                  <a:lnTo>
                    <a:pt x="127800" y="233641"/>
                  </a:lnTo>
                  <a:lnTo>
                    <a:pt x="127800" y="246240"/>
                  </a:lnTo>
                  <a:lnTo>
                    <a:pt x="145072" y="246240"/>
                  </a:lnTo>
                  <a:lnTo>
                    <a:pt x="142913" y="248767"/>
                  </a:lnTo>
                  <a:lnTo>
                    <a:pt x="142913" y="261010"/>
                  </a:lnTo>
                  <a:lnTo>
                    <a:pt x="147599" y="268566"/>
                  </a:lnTo>
                  <a:lnTo>
                    <a:pt x="162356" y="268566"/>
                  </a:lnTo>
                  <a:lnTo>
                    <a:pt x="167398" y="261010"/>
                  </a:lnTo>
                  <a:lnTo>
                    <a:pt x="167398" y="248767"/>
                  </a:lnTo>
                  <a:lnTo>
                    <a:pt x="164871" y="246240"/>
                  </a:lnTo>
                  <a:lnTo>
                    <a:pt x="221754" y="246240"/>
                  </a:lnTo>
                  <a:lnTo>
                    <a:pt x="219240" y="248767"/>
                  </a:lnTo>
                  <a:lnTo>
                    <a:pt x="219240" y="261010"/>
                  </a:lnTo>
                  <a:lnTo>
                    <a:pt x="223913" y="268566"/>
                  </a:lnTo>
                  <a:lnTo>
                    <a:pt x="238671" y="268566"/>
                  </a:lnTo>
                  <a:lnTo>
                    <a:pt x="246240" y="261010"/>
                  </a:lnTo>
                  <a:lnTo>
                    <a:pt x="246240" y="251282"/>
                  </a:lnTo>
                  <a:lnTo>
                    <a:pt x="243713" y="246240"/>
                  </a:lnTo>
                  <a:lnTo>
                    <a:pt x="241198" y="243725"/>
                  </a:lnTo>
                  <a:lnTo>
                    <a:pt x="243713" y="243725"/>
                  </a:lnTo>
                  <a:lnTo>
                    <a:pt x="243713" y="241211"/>
                  </a:lnTo>
                  <a:lnTo>
                    <a:pt x="248754" y="216001"/>
                  </a:lnTo>
                  <a:lnTo>
                    <a:pt x="266039" y="135369"/>
                  </a:lnTo>
                  <a:lnTo>
                    <a:pt x="295554" y="135369"/>
                  </a:lnTo>
                  <a:lnTo>
                    <a:pt x="295554" y="125641"/>
                  </a:lnTo>
                  <a:close/>
                </a:path>
                <a:path w="965834" h="701039">
                  <a:moveTo>
                    <a:pt x="381952" y="188302"/>
                  </a:moveTo>
                  <a:lnTo>
                    <a:pt x="375259" y="138595"/>
                  </a:lnTo>
                  <a:lnTo>
                    <a:pt x="356450" y="93713"/>
                  </a:lnTo>
                  <a:lnTo>
                    <a:pt x="327355" y="55537"/>
                  </a:lnTo>
                  <a:lnTo>
                    <a:pt x="289839" y="25933"/>
                  </a:lnTo>
                  <a:lnTo>
                    <a:pt x="281520" y="22326"/>
                  </a:lnTo>
                  <a:lnTo>
                    <a:pt x="245732" y="6807"/>
                  </a:lnTo>
                  <a:lnTo>
                    <a:pt x="196913" y="0"/>
                  </a:lnTo>
                  <a:lnTo>
                    <a:pt x="182156" y="0"/>
                  </a:lnTo>
                  <a:lnTo>
                    <a:pt x="182156" y="24841"/>
                  </a:lnTo>
                  <a:lnTo>
                    <a:pt x="187198" y="24841"/>
                  </a:lnTo>
                  <a:lnTo>
                    <a:pt x="191871" y="22326"/>
                  </a:lnTo>
                  <a:lnTo>
                    <a:pt x="196913" y="22326"/>
                  </a:lnTo>
                  <a:lnTo>
                    <a:pt x="239649" y="28346"/>
                  </a:lnTo>
                  <a:lnTo>
                    <a:pt x="277964" y="45275"/>
                  </a:lnTo>
                  <a:lnTo>
                    <a:pt x="310349" y="71424"/>
                  </a:lnTo>
                  <a:lnTo>
                    <a:pt x="335330" y="105105"/>
                  </a:lnTo>
                  <a:lnTo>
                    <a:pt x="351409" y="144627"/>
                  </a:lnTo>
                  <a:lnTo>
                    <a:pt x="357111" y="188302"/>
                  </a:lnTo>
                  <a:lnTo>
                    <a:pt x="351409" y="231775"/>
                  </a:lnTo>
                  <a:lnTo>
                    <a:pt x="335330" y="270827"/>
                  </a:lnTo>
                  <a:lnTo>
                    <a:pt x="310349" y="303898"/>
                  </a:lnTo>
                  <a:lnTo>
                    <a:pt x="277964" y="329438"/>
                  </a:lnTo>
                  <a:lnTo>
                    <a:pt x="239649" y="345897"/>
                  </a:lnTo>
                  <a:lnTo>
                    <a:pt x="196913" y="351726"/>
                  </a:lnTo>
                  <a:lnTo>
                    <a:pt x="154101" y="345897"/>
                  </a:lnTo>
                  <a:lnTo>
                    <a:pt x="115366" y="329438"/>
                  </a:lnTo>
                  <a:lnTo>
                    <a:pt x="82346" y="303898"/>
                  </a:lnTo>
                  <a:lnTo>
                    <a:pt x="56705" y="270827"/>
                  </a:lnTo>
                  <a:lnTo>
                    <a:pt x="40093" y="231775"/>
                  </a:lnTo>
                  <a:lnTo>
                    <a:pt x="34201" y="188302"/>
                  </a:lnTo>
                  <a:lnTo>
                    <a:pt x="34201" y="185762"/>
                  </a:lnTo>
                  <a:lnTo>
                    <a:pt x="12230" y="185762"/>
                  </a:lnTo>
                  <a:lnTo>
                    <a:pt x="12230" y="188302"/>
                  </a:lnTo>
                  <a:lnTo>
                    <a:pt x="18732" y="238023"/>
                  </a:lnTo>
                  <a:lnTo>
                    <a:pt x="37147" y="282956"/>
                  </a:lnTo>
                  <a:lnTo>
                    <a:pt x="65824" y="321221"/>
                  </a:lnTo>
                  <a:lnTo>
                    <a:pt x="103111" y="350901"/>
                  </a:lnTo>
                  <a:lnTo>
                    <a:pt x="147358" y="370103"/>
                  </a:lnTo>
                  <a:lnTo>
                    <a:pt x="196913" y="376923"/>
                  </a:lnTo>
                  <a:lnTo>
                    <a:pt x="245732" y="370103"/>
                  </a:lnTo>
                  <a:lnTo>
                    <a:pt x="287934" y="351726"/>
                  </a:lnTo>
                  <a:lnTo>
                    <a:pt x="289839" y="350901"/>
                  </a:lnTo>
                  <a:lnTo>
                    <a:pt x="327355" y="321221"/>
                  </a:lnTo>
                  <a:lnTo>
                    <a:pt x="356450" y="282956"/>
                  </a:lnTo>
                  <a:lnTo>
                    <a:pt x="375259" y="238023"/>
                  </a:lnTo>
                  <a:lnTo>
                    <a:pt x="381952" y="188302"/>
                  </a:lnTo>
                  <a:close/>
                </a:path>
                <a:path w="965834" h="701039">
                  <a:moveTo>
                    <a:pt x="711352" y="353529"/>
                  </a:moveTo>
                  <a:lnTo>
                    <a:pt x="689394" y="338404"/>
                  </a:lnTo>
                  <a:lnTo>
                    <a:pt x="635038" y="421563"/>
                  </a:lnTo>
                  <a:lnTo>
                    <a:pt x="600481" y="391325"/>
                  </a:lnTo>
                  <a:lnTo>
                    <a:pt x="583552" y="411480"/>
                  </a:lnTo>
                  <a:lnTo>
                    <a:pt x="637552" y="459003"/>
                  </a:lnTo>
                  <a:lnTo>
                    <a:pt x="663740" y="421563"/>
                  </a:lnTo>
                  <a:lnTo>
                    <a:pt x="711352" y="353529"/>
                  </a:lnTo>
                  <a:close/>
                </a:path>
                <a:path w="965834" h="701039">
                  <a:moveTo>
                    <a:pt x="879119" y="449287"/>
                  </a:moveTo>
                  <a:lnTo>
                    <a:pt x="839520" y="449287"/>
                  </a:lnTo>
                  <a:lnTo>
                    <a:pt x="837349" y="469087"/>
                  </a:lnTo>
                  <a:lnTo>
                    <a:pt x="706678" y="469087"/>
                  </a:lnTo>
                  <a:lnTo>
                    <a:pt x="706678" y="476643"/>
                  </a:lnTo>
                  <a:lnTo>
                    <a:pt x="721436" y="539648"/>
                  </a:lnTo>
                  <a:lnTo>
                    <a:pt x="721436" y="544690"/>
                  </a:lnTo>
                  <a:lnTo>
                    <a:pt x="817549" y="544690"/>
                  </a:lnTo>
                  <a:lnTo>
                    <a:pt x="815035" y="557288"/>
                  </a:lnTo>
                  <a:lnTo>
                    <a:pt x="711352" y="557288"/>
                  </a:lnTo>
                  <a:lnTo>
                    <a:pt x="711352" y="569887"/>
                  </a:lnTo>
                  <a:lnTo>
                    <a:pt x="728637" y="569887"/>
                  </a:lnTo>
                  <a:lnTo>
                    <a:pt x="726478" y="572401"/>
                  </a:lnTo>
                  <a:lnTo>
                    <a:pt x="726478" y="584644"/>
                  </a:lnTo>
                  <a:lnTo>
                    <a:pt x="731151" y="592201"/>
                  </a:lnTo>
                  <a:lnTo>
                    <a:pt x="745909" y="592201"/>
                  </a:lnTo>
                  <a:lnTo>
                    <a:pt x="750951" y="584644"/>
                  </a:lnTo>
                  <a:lnTo>
                    <a:pt x="750951" y="572401"/>
                  </a:lnTo>
                  <a:lnTo>
                    <a:pt x="748436" y="569887"/>
                  </a:lnTo>
                  <a:lnTo>
                    <a:pt x="805319" y="569887"/>
                  </a:lnTo>
                  <a:lnTo>
                    <a:pt x="802792" y="572401"/>
                  </a:lnTo>
                  <a:lnTo>
                    <a:pt x="802792" y="584644"/>
                  </a:lnTo>
                  <a:lnTo>
                    <a:pt x="807478" y="592201"/>
                  </a:lnTo>
                  <a:lnTo>
                    <a:pt x="822236" y="592201"/>
                  </a:lnTo>
                  <a:lnTo>
                    <a:pt x="829792" y="584644"/>
                  </a:lnTo>
                  <a:lnTo>
                    <a:pt x="829792" y="574929"/>
                  </a:lnTo>
                  <a:lnTo>
                    <a:pt x="827278" y="569887"/>
                  </a:lnTo>
                  <a:lnTo>
                    <a:pt x="824750" y="567359"/>
                  </a:lnTo>
                  <a:lnTo>
                    <a:pt x="827278" y="567359"/>
                  </a:lnTo>
                  <a:lnTo>
                    <a:pt x="827278" y="564845"/>
                  </a:lnTo>
                  <a:lnTo>
                    <a:pt x="832319" y="539648"/>
                  </a:lnTo>
                  <a:lnTo>
                    <a:pt x="849591" y="459003"/>
                  </a:lnTo>
                  <a:lnTo>
                    <a:pt x="879119" y="459003"/>
                  </a:lnTo>
                  <a:lnTo>
                    <a:pt x="879119" y="449287"/>
                  </a:lnTo>
                  <a:close/>
                </a:path>
                <a:path w="965834" h="701039">
                  <a:moveTo>
                    <a:pt x="965517" y="511924"/>
                  </a:moveTo>
                  <a:lnTo>
                    <a:pt x="958824" y="462229"/>
                  </a:lnTo>
                  <a:lnTo>
                    <a:pt x="940015" y="417360"/>
                  </a:lnTo>
                  <a:lnTo>
                    <a:pt x="910920" y="379183"/>
                  </a:lnTo>
                  <a:lnTo>
                    <a:pt x="873404" y="349580"/>
                  </a:lnTo>
                  <a:lnTo>
                    <a:pt x="829297" y="330454"/>
                  </a:lnTo>
                  <a:lnTo>
                    <a:pt x="780478" y="323646"/>
                  </a:lnTo>
                  <a:lnTo>
                    <a:pt x="765721" y="323646"/>
                  </a:lnTo>
                  <a:lnTo>
                    <a:pt x="765721" y="348488"/>
                  </a:lnTo>
                  <a:lnTo>
                    <a:pt x="770750" y="348488"/>
                  </a:lnTo>
                  <a:lnTo>
                    <a:pt x="775436" y="345960"/>
                  </a:lnTo>
                  <a:lnTo>
                    <a:pt x="780478" y="345960"/>
                  </a:lnTo>
                  <a:lnTo>
                    <a:pt x="823214" y="351980"/>
                  </a:lnTo>
                  <a:lnTo>
                    <a:pt x="861517" y="368909"/>
                  </a:lnTo>
                  <a:lnTo>
                    <a:pt x="893914" y="395058"/>
                  </a:lnTo>
                  <a:lnTo>
                    <a:pt x="918895" y="428739"/>
                  </a:lnTo>
                  <a:lnTo>
                    <a:pt x="934974" y="468261"/>
                  </a:lnTo>
                  <a:lnTo>
                    <a:pt x="940676" y="511924"/>
                  </a:lnTo>
                  <a:lnTo>
                    <a:pt x="934974" y="555409"/>
                  </a:lnTo>
                  <a:lnTo>
                    <a:pt x="918895" y="594461"/>
                  </a:lnTo>
                  <a:lnTo>
                    <a:pt x="893914" y="627532"/>
                  </a:lnTo>
                  <a:lnTo>
                    <a:pt x="861517" y="653072"/>
                  </a:lnTo>
                  <a:lnTo>
                    <a:pt x="823214" y="669531"/>
                  </a:lnTo>
                  <a:lnTo>
                    <a:pt x="780478" y="675360"/>
                  </a:lnTo>
                  <a:lnTo>
                    <a:pt x="737666" y="669531"/>
                  </a:lnTo>
                  <a:lnTo>
                    <a:pt x="698931" y="653072"/>
                  </a:lnTo>
                  <a:lnTo>
                    <a:pt x="665899" y="627532"/>
                  </a:lnTo>
                  <a:lnTo>
                    <a:pt x="640257" y="594461"/>
                  </a:lnTo>
                  <a:lnTo>
                    <a:pt x="623646" y="555409"/>
                  </a:lnTo>
                  <a:lnTo>
                    <a:pt x="617753" y="511924"/>
                  </a:lnTo>
                  <a:lnTo>
                    <a:pt x="617753" y="509409"/>
                  </a:lnTo>
                  <a:lnTo>
                    <a:pt x="595795" y="509409"/>
                  </a:lnTo>
                  <a:lnTo>
                    <a:pt x="595795" y="511924"/>
                  </a:lnTo>
                  <a:lnTo>
                    <a:pt x="602297" y="561657"/>
                  </a:lnTo>
                  <a:lnTo>
                    <a:pt x="620712" y="606602"/>
                  </a:lnTo>
                  <a:lnTo>
                    <a:pt x="649376" y="644867"/>
                  </a:lnTo>
                  <a:lnTo>
                    <a:pt x="686663" y="674547"/>
                  </a:lnTo>
                  <a:lnTo>
                    <a:pt x="730910" y="693750"/>
                  </a:lnTo>
                  <a:lnTo>
                    <a:pt x="780478" y="700570"/>
                  </a:lnTo>
                  <a:lnTo>
                    <a:pt x="829297" y="693750"/>
                  </a:lnTo>
                  <a:lnTo>
                    <a:pt x="871524" y="675360"/>
                  </a:lnTo>
                  <a:lnTo>
                    <a:pt x="873404" y="674547"/>
                  </a:lnTo>
                  <a:lnTo>
                    <a:pt x="910920" y="644867"/>
                  </a:lnTo>
                  <a:lnTo>
                    <a:pt x="940015" y="606602"/>
                  </a:lnTo>
                  <a:lnTo>
                    <a:pt x="958824" y="561657"/>
                  </a:lnTo>
                  <a:lnTo>
                    <a:pt x="965517" y="511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7">
              <a:extLst>
                <a:ext uri="{FF2B5EF4-FFF2-40B4-BE49-F238E27FC236}">
                  <a16:creationId xmlns:a16="http://schemas.microsoft.com/office/drawing/2014/main" id="{99B1841F-0496-B2D0-0EF8-5C8BBCDB8134}"/>
                </a:ext>
              </a:extLst>
            </p:cNvPr>
            <p:cNvSpPr/>
            <p:nvPr/>
          </p:nvSpPr>
          <p:spPr>
            <a:xfrm>
              <a:off x="6708965" y="2591641"/>
              <a:ext cx="327025" cy="775970"/>
            </a:xfrm>
            <a:custGeom>
              <a:avLst/>
              <a:gdLst/>
              <a:ahLst/>
              <a:cxnLst/>
              <a:rect l="l" t="t" r="r" b="b"/>
              <a:pathLst>
                <a:path w="327025" h="775970">
                  <a:moveTo>
                    <a:pt x="0" y="775436"/>
                  </a:moveTo>
                  <a:lnTo>
                    <a:pt x="0" y="0"/>
                  </a:lnTo>
                  <a:lnTo>
                    <a:pt x="326872" y="0"/>
                  </a:lnTo>
                </a:path>
              </a:pathLst>
            </a:custGeom>
            <a:ln w="15839">
              <a:solidFill>
                <a:srgbClr val="75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28">
            <a:extLst>
              <a:ext uri="{FF2B5EF4-FFF2-40B4-BE49-F238E27FC236}">
                <a16:creationId xmlns:a16="http://schemas.microsoft.com/office/drawing/2014/main" id="{65BD6E5C-DEDA-6FF7-4A14-DBDDEF26A341}"/>
              </a:ext>
            </a:extLst>
          </p:cNvPr>
          <p:cNvSpPr txBox="1"/>
          <p:nvPr/>
        </p:nvSpPr>
        <p:spPr>
          <a:xfrm>
            <a:off x="5972759" y="4263393"/>
            <a:ext cx="138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Frontend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Subnet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D802EF4A-D416-79F0-23A4-9CC838AD2E59}"/>
              </a:ext>
            </a:extLst>
          </p:cNvPr>
          <p:cNvSpPr txBox="1"/>
          <p:nvPr/>
        </p:nvSpPr>
        <p:spPr>
          <a:xfrm>
            <a:off x="9655924" y="4242146"/>
            <a:ext cx="13277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Backend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Subnet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A73D183B-777B-24F8-72F0-C7EFCEC5CF90}"/>
              </a:ext>
            </a:extLst>
          </p:cNvPr>
          <p:cNvSpPr txBox="1"/>
          <p:nvPr/>
        </p:nvSpPr>
        <p:spPr>
          <a:xfrm>
            <a:off x="9272155" y="1738709"/>
            <a:ext cx="679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Internet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1">
            <a:extLst>
              <a:ext uri="{FF2B5EF4-FFF2-40B4-BE49-F238E27FC236}">
                <a16:creationId xmlns:a16="http://schemas.microsoft.com/office/drawing/2014/main" id="{C47CB39D-8B10-C96B-F969-0C93B9A9437F}"/>
              </a:ext>
            </a:extLst>
          </p:cNvPr>
          <p:cNvGrpSpPr/>
          <p:nvPr/>
        </p:nvGrpSpPr>
        <p:grpSpPr>
          <a:xfrm>
            <a:off x="5699290" y="2172376"/>
            <a:ext cx="5791835" cy="3595370"/>
            <a:chOff x="5699290" y="2172376"/>
            <a:chExt cx="5791835" cy="3595370"/>
          </a:xfrm>
        </p:grpSpPr>
        <p:sp>
          <p:nvSpPr>
            <p:cNvPr id="36" name="object 32">
              <a:extLst>
                <a:ext uri="{FF2B5EF4-FFF2-40B4-BE49-F238E27FC236}">
                  <a16:creationId xmlns:a16="http://schemas.microsoft.com/office/drawing/2014/main" id="{1260EBC3-D15D-0C59-F090-1DCF01B6FD00}"/>
                </a:ext>
              </a:extLst>
            </p:cNvPr>
            <p:cNvSpPr/>
            <p:nvPr/>
          </p:nvSpPr>
          <p:spPr>
            <a:xfrm>
              <a:off x="8426526" y="2588758"/>
              <a:ext cx="512445" cy="3175"/>
            </a:xfrm>
            <a:custGeom>
              <a:avLst/>
              <a:gdLst/>
              <a:ahLst/>
              <a:cxnLst/>
              <a:rect l="l" t="t" r="r" b="b"/>
              <a:pathLst>
                <a:path w="512445" h="3175">
                  <a:moveTo>
                    <a:pt x="0" y="2882"/>
                  </a:moveTo>
                  <a:lnTo>
                    <a:pt x="255955" y="2882"/>
                  </a:lnTo>
                  <a:lnTo>
                    <a:pt x="255955" y="0"/>
                  </a:lnTo>
                  <a:lnTo>
                    <a:pt x="512279" y="0"/>
                  </a:lnTo>
                </a:path>
              </a:pathLst>
            </a:custGeom>
            <a:ln w="15839">
              <a:solidFill>
                <a:srgbClr val="75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3">
              <a:extLst>
                <a:ext uri="{FF2B5EF4-FFF2-40B4-BE49-F238E27FC236}">
                  <a16:creationId xmlns:a16="http://schemas.microsoft.com/office/drawing/2014/main" id="{4B995BF1-3ACD-A7D7-F0C8-3C7DE50559D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63125" y="3528000"/>
              <a:ext cx="532803" cy="404279"/>
            </a:xfrm>
            <a:prstGeom prst="rect">
              <a:avLst/>
            </a:prstGeom>
          </p:spPr>
        </p:pic>
        <p:pic>
          <p:nvPicPr>
            <p:cNvPr id="38" name="object 34">
              <a:extLst>
                <a:ext uri="{FF2B5EF4-FFF2-40B4-BE49-F238E27FC236}">
                  <a16:creationId xmlns:a16="http://schemas.microsoft.com/office/drawing/2014/main" id="{38C1BF7F-C8E8-D9A2-4587-87C4F0517AA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7523" y="3787207"/>
              <a:ext cx="532803" cy="404279"/>
            </a:xfrm>
            <a:prstGeom prst="rect">
              <a:avLst/>
            </a:prstGeom>
          </p:spPr>
        </p:pic>
        <p:sp>
          <p:nvSpPr>
            <p:cNvPr id="39" name="object 35">
              <a:extLst>
                <a:ext uri="{FF2B5EF4-FFF2-40B4-BE49-F238E27FC236}">
                  <a16:creationId xmlns:a16="http://schemas.microsoft.com/office/drawing/2014/main" id="{B165F9F8-A2BE-35EE-2706-728AADB6D4B8}"/>
                </a:ext>
              </a:extLst>
            </p:cNvPr>
            <p:cNvSpPr/>
            <p:nvPr/>
          </p:nvSpPr>
          <p:spPr>
            <a:xfrm>
              <a:off x="5705640" y="2178726"/>
              <a:ext cx="5779135" cy="3466465"/>
            </a:xfrm>
            <a:custGeom>
              <a:avLst/>
              <a:gdLst/>
              <a:ahLst/>
              <a:cxnLst/>
              <a:rect l="l" t="t" r="r" b="b"/>
              <a:pathLst>
                <a:path w="5779134" h="3466465">
                  <a:moveTo>
                    <a:pt x="2889719" y="3466071"/>
                  </a:moveTo>
                  <a:lnTo>
                    <a:pt x="0" y="3466071"/>
                  </a:lnTo>
                  <a:lnTo>
                    <a:pt x="0" y="0"/>
                  </a:lnTo>
                  <a:lnTo>
                    <a:pt x="5779084" y="0"/>
                  </a:lnTo>
                  <a:lnTo>
                    <a:pt x="5779084" y="3466071"/>
                  </a:lnTo>
                  <a:lnTo>
                    <a:pt x="2889719" y="3466071"/>
                  </a:lnTo>
                  <a:close/>
                </a:path>
              </a:pathLst>
            </a:custGeom>
            <a:ln w="12599">
              <a:solidFill>
                <a:srgbClr val="31538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6">
              <a:extLst>
                <a:ext uri="{FF2B5EF4-FFF2-40B4-BE49-F238E27FC236}">
                  <a16:creationId xmlns:a16="http://schemas.microsoft.com/office/drawing/2014/main" id="{E4E9DBE9-808A-73A8-BD96-438E27D00494}"/>
                </a:ext>
              </a:extLst>
            </p:cNvPr>
            <p:cNvSpPr/>
            <p:nvPr/>
          </p:nvSpPr>
          <p:spPr>
            <a:xfrm>
              <a:off x="9821164" y="5433482"/>
              <a:ext cx="1633220" cy="334010"/>
            </a:xfrm>
            <a:custGeom>
              <a:avLst/>
              <a:gdLst/>
              <a:ahLst/>
              <a:cxnLst/>
              <a:rect l="l" t="t" r="r" b="b"/>
              <a:pathLst>
                <a:path w="1633220" h="334010">
                  <a:moveTo>
                    <a:pt x="1632597" y="0"/>
                  </a:moveTo>
                  <a:lnTo>
                    <a:pt x="0" y="0"/>
                  </a:lnTo>
                  <a:lnTo>
                    <a:pt x="0" y="333717"/>
                  </a:lnTo>
                  <a:lnTo>
                    <a:pt x="816470" y="333717"/>
                  </a:lnTo>
                  <a:lnTo>
                    <a:pt x="1632597" y="333717"/>
                  </a:lnTo>
                  <a:lnTo>
                    <a:pt x="1632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37">
            <a:extLst>
              <a:ext uri="{FF2B5EF4-FFF2-40B4-BE49-F238E27FC236}">
                <a16:creationId xmlns:a16="http://schemas.microsoft.com/office/drawing/2014/main" id="{C3A510D6-EB84-2606-8A16-50F9F2AA948F}"/>
              </a:ext>
            </a:extLst>
          </p:cNvPr>
          <p:cNvSpPr txBox="1"/>
          <p:nvPr/>
        </p:nvSpPr>
        <p:spPr>
          <a:xfrm>
            <a:off x="9911156" y="5466146"/>
            <a:ext cx="1319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Virtual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2" name="object 38">
            <a:extLst>
              <a:ext uri="{FF2B5EF4-FFF2-40B4-BE49-F238E27FC236}">
                <a16:creationId xmlns:a16="http://schemas.microsoft.com/office/drawing/2014/main" id="{3F313A5D-9050-9200-20A3-CD21BD92EAD6}"/>
              </a:ext>
            </a:extLst>
          </p:cNvPr>
          <p:cNvGrpSpPr/>
          <p:nvPr/>
        </p:nvGrpSpPr>
        <p:grpSpPr>
          <a:xfrm>
            <a:off x="6903136" y="2386803"/>
            <a:ext cx="2568575" cy="2938780"/>
            <a:chOff x="6903136" y="2386803"/>
            <a:chExt cx="2568575" cy="2938780"/>
          </a:xfrm>
        </p:grpSpPr>
        <p:pic>
          <p:nvPicPr>
            <p:cNvPr id="43" name="object 39">
              <a:extLst>
                <a:ext uri="{FF2B5EF4-FFF2-40B4-BE49-F238E27FC236}">
                  <a16:creationId xmlns:a16="http://schemas.microsoft.com/office/drawing/2014/main" id="{4EF5D9F8-C90D-9E63-584C-11B38B6FDD6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8806" y="2386803"/>
              <a:ext cx="532803" cy="404279"/>
            </a:xfrm>
            <a:prstGeom prst="rect">
              <a:avLst/>
            </a:prstGeom>
          </p:spPr>
        </p:pic>
        <p:pic>
          <p:nvPicPr>
            <p:cNvPr id="44" name="object 40">
              <a:extLst>
                <a:ext uri="{FF2B5EF4-FFF2-40B4-BE49-F238E27FC236}">
                  <a16:creationId xmlns:a16="http://schemas.microsoft.com/office/drawing/2014/main" id="{9A61D9F5-3D1F-484B-8150-3862E3797D7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2799" y="4809963"/>
              <a:ext cx="532803" cy="371525"/>
            </a:xfrm>
            <a:prstGeom prst="rect">
              <a:avLst/>
            </a:prstGeom>
          </p:spPr>
        </p:pic>
        <p:sp>
          <p:nvSpPr>
            <p:cNvPr id="45" name="object 41">
              <a:extLst>
                <a:ext uri="{FF2B5EF4-FFF2-40B4-BE49-F238E27FC236}">
                  <a16:creationId xmlns:a16="http://schemas.microsoft.com/office/drawing/2014/main" id="{28EA3DE6-41DB-14AC-7F99-575F8437114A}"/>
                </a:ext>
              </a:extLst>
            </p:cNvPr>
            <p:cNvSpPr/>
            <p:nvPr/>
          </p:nvSpPr>
          <p:spPr>
            <a:xfrm>
              <a:off x="6909486" y="4716720"/>
              <a:ext cx="1390015" cy="601980"/>
            </a:xfrm>
            <a:custGeom>
              <a:avLst/>
              <a:gdLst/>
              <a:ahLst/>
              <a:cxnLst/>
              <a:rect l="l" t="t" r="r" b="b"/>
              <a:pathLst>
                <a:path w="1390015" h="601979">
                  <a:moveTo>
                    <a:pt x="1389951" y="0"/>
                  </a:moveTo>
                  <a:lnTo>
                    <a:pt x="0" y="0"/>
                  </a:lnTo>
                  <a:lnTo>
                    <a:pt x="0" y="601929"/>
                  </a:lnTo>
                  <a:lnTo>
                    <a:pt x="695159" y="601929"/>
                  </a:lnTo>
                  <a:lnTo>
                    <a:pt x="1389951" y="601929"/>
                  </a:lnTo>
                  <a:lnTo>
                    <a:pt x="1389951" y="0"/>
                  </a:lnTo>
                  <a:close/>
                </a:path>
              </a:pathLst>
            </a:custGeom>
            <a:solidFill>
              <a:srgbClr val="FD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2">
              <a:extLst>
                <a:ext uri="{FF2B5EF4-FFF2-40B4-BE49-F238E27FC236}">
                  <a16:creationId xmlns:a16="http://schemas.microsoft.com/office/drawing/2014/main" id="{28565E8C-B393-8C2C-A827-0C720CFD5936}"/>
                </a:ext>
              </a:extLst>
            </p:cNvPr>
            <p:cNvSpPr/>
            <p:nvPr/>
          </p:nvSpPr>
          <p:spPr>
            <a:xfrm>
              <a:off x="6909486" y="4716720"/>
              <a:ext cx="1390015" cy="601980"/>
            </a:xfrm>
            <a:custGeom>
              <a:avLst/>
              <a:gdLst/>
              <a:ahLst/>
              <a:cxnLst/>
              <a:rect l="l" t="t" r="r" b="b"/>
              <a:pathLst>
                <a:path w="1390015" h="601979">
                  <a:moveTo>
                    <a:pt x="695159" y="601929"/>
                  </a:moveTo>
                  <a:lnTo>
                    <a:pt x="0" y="601929"/>
                  </a:lnTo>
                  <a:lnTo>
                    <a:pt x="0" y="0"/>
                  </a:lnTo>
                  <a:lnTo>
                    <a:pt x="1389951" y="0"/>
                  </a:lnTo>
                  <a:lnTo>
                    <a:pt x="1389951" y="601929"/>
                  </a:lnTo>
                  <a:lnTo>
                    <a:pt x="695159" y="60192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3">
            <a:extLst>
              <a:ext uri="{FF2B5EF4-FFF2-40B4-BE49-F238E27FC236}">
                <a16:creationId xmlns:a16="http://schemas.microsoft.com/office/drawing/2014/main" id="{4CF3D8E8-4097-BBCE-4ED0-F403A0593306}"/>
              </a:ext>
            </a:extLst>
          </p:cNvPr>
          <p:cNvSpPr txBox="1"/>
          <p:nvPr/>
        </p:nvSpPr>
        <p:spPr>
          <a:xfrm>
            <a:off x="7079043" y="4761271"/>
            <a:ext cx="1063625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625" marR="5080" indent="-30226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User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defined </a:t>
            </a:r>
            <a:r>
              <a:rPr lang="en-US" sz="1600" spc="-1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oute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B764EEA4-5EAC-0058-EA25-99242EF97537}"/>
              </a:ext>
            </a:extLst>
          </p:cNvPr>
          <p:cNvSpPr txBox="1"/>
          <p:nvPr/>
        </p:nvSpPr>
        <p:spPr>
          <a:xfrm>
            <a:off x="8774277" y="2748143"/>
            <a:ext cx="1040765" cy="45085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R="5080">
              <a:lnSpc>
                <a:spcPts val="1670"/>
              </a:lnSpc>
              <a:spcBef>
                <a:spcPts val="165"/>
              </a:spcBef>
            </a:pPr>
            <a:r>
              <a:rPr sz="1400" spc="-20" dirty="0">
                <a:latin typeface="Calibri"/>
                <a:cs typeface="Calibri"/>
              </a:rPr>
              <a:t>VM/Appliance </a:t>
            </a:r>
            <a:r>
              <a:rPr sz="1400" dirty="0">
                <a:latin typeface="Calibri"/>
                <a:cs typeface="Calibri"/>
              </a:rPr>
              <a:t>IP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Forwarding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ADEA4C2C-812E-F7E1-9007-A6D2E3CD2DD7}"/>
              </a:ext>
            </a:extLst>
          </p:cNvPr>
          <p:cNvSpPr/>
          <p:nvPr/>
        </p:nvSpPr>
        <p:spPr>
          <a:xfrm>
            <a:off x="9471964" y="2075399"/>
            <a:ext cx="200025" cy="514350"/>
          </a:xfrm>
          <a:custGeom>
            <a:avLst/>
            <a:gdLst/>
            <a:ahLst/>
            <a:cxnLst/>
            <a:rect l="l" t="t" r="r" b="b"/>
            <a:pathLst>
              <a:path w="200025" h="514350">
                <a:moveTo>
                  <a:pt x="0" y="513727"/>
                </a:moveTo>
                <a:lnTo>
                  <a:pt x="199796" y="513727"/>
                </a:lnTo>
                <a:lnTo>
                  <a:pt x="199796" y="0"/>
                </a:lnTo>
              </a:path>
            </a:pathLst>
          </a:custGeom>
          <a:ln w="15839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6">
            <a:extLst>
              <a:ext uri="{FF2B5EF4-FFF2-40B4-BE49-F238E27FC236}">
                <a16:creationId xmlns:a16="http://schemas.microsoft.com/office/drawing/2014/main" id="{DF2CB066-01B3-31F8-5B56-8E1749288DC1}"/>
              </a:ext>
            </a:extLst>
          </p:cNvPr>
          <p:cNvSpPr txBox="1"/>
          <p:nvPr/>
        </p:nvSpPr>
        <p:spPr>
          <a:xfrm>
            <a:off x="8459634" y="5147186"/>
            <a:ext cx="1042035" cy="45085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R="5080">
              <a:lnSpc>
                <a:spcPts val="1670"/>
              </a:lnSpc>
              <a:spcBef>
                <a:spcPts val="165"/>
              </a:spcBef>
            </a:pPr>
            <a:r>
              <a:rPr sz="1400" spc="-10" dirty="0">
                <a:latin typeface="Calibri"/>
                <a:cs typeface="Calibri"/>
              </a:rPr>
              <a:t>VM/Appliance </a:t>
            </a:r>
            <a:r>
              <a:rPr sz="1400" dirty="0">
                <a:latin typeface="Calibri"/>
                <a:cs typeface="Calibri"/>
              </a:rPr>
              <a:t>IP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Forwarding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6">
            <a:extLst>
              <a:ext uri="{FF2B5EF4-FFF2-40B4-BE49-F238E27FC236}">
                <a16:creationId xmlns:a16="http://schemas.microsoft.com/office/drawing/2014/main" id="{E8B19265-4E8B-B8F1-DB38-3C62F7F4F80D}"/>
              </a:ext>
            </a:extLst>
          </p:cNvPr>
          <p:cNvSpPr txBox="1"/>
          <p:nvPr/>
        </p:nvSpPr>
        <p:spPr>
          <a:xfrm>
            <a:off x="561505" y="3154581"/>
            <a:ext cx="415353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"/>
                <a:cs typeface="Segoe UI"/>
              </a:rPr>
              <a:t>User-</a:t>
            </a:r>
            <a:r>
              <a:rPr sz="2000" dirty="0">
                <a:latin typeface="Segoe UI"/>
                <a:cs typeface="Segoe UI"/>
              </a:rPr>
              <a:t>defined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routes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are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custom </a:t>
            </a:r>
            <a:r>
              <a:rPr sz="2000" dirty="0">
                <a:latin typeface="Segoe UI"/>
                <a:cs typeface="Segoe UI"/>
              </a:rPr>
              <a:t>routes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control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network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traffic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by </a:t>
            </a:r>
            <a:r>
              <a:rPr sz="2000" dirty="0">
                <a:latin typeface="Segoe UI"/>
                <a:cs typeface="Segoe UI"/>
              </a:rPr>
              <a:t>defining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routes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that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specify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next </a:t>
            </a:r>
            <a:r>
              <a:rPr sz="2000" dirty="0">
                <a:latin typeface="Segoe UI"/>
                <a:cs typeface="Segoe UI"/>
              </a:rPr>
              <a:t>hop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traffic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flow</a:t>
            </a:r>
            <a:endParaRPr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7323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A9CD-4563-8FDB-C54B-48CEFBEA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DF04D780-F7E8-E8EF-576A-BD81304B85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9192683-AD66-336E-0BC5-D73F8CC01B3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B2E624-BBC2-1EBA-9ED7-3B11C07C8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AFB985-B67A-90C3-649E-EDA74E626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9CE8C5-CCE5-DCD0-D631-D0C3949F3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255BE7-150C-C51F-0761-466C0BA5EC1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174F63-5771-7A61-23F6-204E0F6DE68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64ECF058-58FF-8900-5AEC-992FB14CDA0F}"/>
              </a:ext>
            </a:extLst>
          </p:cNvPr>
          <p:cNvSpPr txBox="1">
            <a:spLocks/>
          </p:cNvSpPr>
          <p:nvPr/>
        </p:nvSpPr>
        <p:spPr>
          <a:xfrm>
            <a:off x="2007941" y="1010517"/>
            <a:ext cx="108223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800" spc="-65" dirty="0"/>
              <a:t>Demonstration</a:t>
            </a:r>
            <a:r>
              <a:rPr lang="en-IN" sz="3800" spc="-90" dirty="0"/>
              <a:t> </a:t>
            </a:r>
            <a:r>
              <a:rPr lang="en-IN" sz="3800" dirty="0"/>
              <a:t>–</a:t>
            </a:r>
            <a:r>
              <a:rPr lang="en-IN" sz="3800" spc="-90" dirty="0"/>
              <a:t> </a:t>
            </a:r>
            <a:r>
              <a:rPr lang="en-IN" sz="3800" spc="-60" dirty="0"/>
              <a:t>Custom</a:t>
            </a:r>
            <a:r>
              <a:rPr lang="en-IN" sz="3800" spc="-95" dirty="0"/>
              <a:t> </a:t>
            </a:r>
            <a:r>
              <a:rPr lang="en-IN" sz="3800" spc="-65" dirty="0"/>
              <a:t>Routing</a:t>
            </a:r>
            <a:r>
              <a:rPr lang="en-IN" sz="3800" spc="-95" dirty="0"/>
              <a:t> </a:t>
            </a:r>
            <a:r>
              <a:rPr lang="en-IN" sz="3800" spc="-10" dirty="0"/>
              <a:t>Tables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3E56DA83-DCCA-FA5D-A888-BBC5FBBD6F6C}"/>
              </a:ext>
            </a:extLst>
          </p:cNvPr>
          <p:cNvGrpSpPr/>
          <p:nvPr/>
        </p:nvGrpSpPr>
        <p:grpSpPr>
          <a:xfrm>
            <a:off x="731901" y="1702320"/>
            <a:ext cx="1036319" cy="1036319"/>
            <a:chOff x="428040" y="1523889"/>
            <a:chExt cx="1036319" cy="1036319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45FB3D98-327C-CBE4-675B-9B483DD49D28}"/>
                </a:ext>
              </a:extLst>
            </p:cNvPr>
            <p:cNvSpPr/>
            <p:nvPr/>
          </p:nvSpPr>
          <p:spPr>
            <a:xfrm>
              <a:off x="428040" y="1523889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19">
                  <a:moveTo>
                    <a:pt x="1035723" y="518033"/>
                  </a:moveTo>
                  <a:lnTo>
                    <a:pt x="1033602" y="470877"/>
                  </a:lnTo>
                  <a:lnTo>
                    <a:pt x="1027379" y="424903"/>
                  </a:lnTo>
                  <a:lnTo>
                    <a:pt x="1017219" y="380288"/>
                  </a:lnTo>
                  <a:lnTo>
                    <a:pt x="1003325" y="337248"/>
                  </a:lnTo>
                  <a:lnTo>
                    <a:pt x="985862" y="295935"/>
                  </a:lnTo>
                  <a:lnTo>
                    <a:pt x="965022" y="256540"/>
                  </a:lnTo>
                  <a:lnTo>
                    <a:pt x="940993" y="219240"/>
                  </a:lnTo>
                  <a:lnTo>
                    <a:pt x="913942" y="184238"/>
                  </a:lnTo>
                  <a:lnTo>
                    <a:pt x="884072" y="151701"/>
                  </a:lnTo>
                  <a:lnTo>
                    <a:pt x="851547" y="121805"/>
                  </a:lnTo>
                  <a:lnTo>
                    <a:pt x="816559" y="94754"/>
                  </a:lnTo>
                  <a:lnTo>
                    <a:pt x="779284" y="70713"/>
                  </a:lnTo>
                  <a:lnTo>
                    <a:pt x="739927" y="49872"/>
                  </a:lnTo>
                  <a:lnTo>
                    <a:pt x="698639" y="32410"/>
                  </a:lnTo>
                  <a:lnTo>
                    <a:pt x="655624" y="18503"/>
                  </a:lnTo>
                  <a:lnTo>
                    <a:pt x="611060" y="8343"/>
                  </a:lnTo>
                  <a:lnTo>
                    <a:pt x="565137" y="2120"/>
                  </a:lnTo>
                  <a:lnTo>
                    <a:pt x="518033" y="0"/>
                  </a:lnTo>
                  <a:lnTo>
                    <a:pt x="470865" y="2120"/>
                  </a:lnTo>
                  <a:lnTo>
                    <a:pt x="424891" y="8343"/>
                  </a:lnTo>
                  <a:lnTo>
                    <a:pt x="380276" y="18503"/>
                  </a:lnTo>
                  <a:lnTo>
                    <a:pt x="337235" y="32410"/>
                  </a:lnTo>
                  <a:lnTo>
                    <a:pt x="295922" y="49872"/>
                  </a:lnTo>
                  <a:lnTo>
                    <a:pt x="256527" y="70713"/>
                  </a:lnTo>
                  <a:lnTo>
                    <a:pt x="219227" y="94754"/>
                  </a:lnTo>
                  <a:lnTo>
                    <a:pt x="184226" y="121805"/>
                  </a:lnTo>
                  <a:lnTo>
                    <a:pt x="151688" y="151701"/>
                  </a:lnTo>
                  <a:lnTo>
                    <a:pt x="121793" y="184238"/>
                  </a:lnTo>
                  <a:lnTo>
                    <a:pt x="94742" y="219240"/>
                  </a:lnTo>
                  <a:lnTo>
                    <a:pt x="70700" y="256540"/>
                  </a:lnTo>
                  <a:lnTo>
                    <a:pt x="49860" y="295935"/>
                  </a:lnTo>
                  <a:lnTo>
                    <a:pt x="32397" y="337248"/>
                  </a:lnTo>
                  <a:lnTo>
                    <a:pt x="18491" y="380288"/>
                  </a:lnTo>
                  <a:lnTo>
                    <a:pt x="8331" y="424903"/>
                  </a:lnTo>
                  <a:lnTo>
                    <a:pt x="2108" y="470877"/>
                  </a:lnTo>
                  <a:lnTo>
                    <a:pt x="0" y="518033"/>
                  </a:lnTo>
                  <a:lnTo>
                    <a:pt x="2108" y="565150"/>
                  </a:lnTo>
                  <a:lnTo>
                    <a:pt x="8331" y="611073"/>
                  </a:lnTo>
                  <a:lnTo>
                    <a:pt x="18491" y="655637"/>
                  </a:lnTo>
                  <a:lnTo>
                    <a:pt x="32397" y="698652"/>
                  </a:lnTo>
                  <a:lnTo>
                    <a:pt x="49860" y="739927"/>
                  </a:lnTo>
                  <a:lnTo>
                    <a:pt x="70700" y="779297"/>
                  </a:lnTo>
                  <a:lnTo>
                    <a:pt x="94742" y="816559"/>
                  </a:lnTo>
                  <a:lnTo>
                    <a:pt x="121793" y="851547"/>
                  </a:lnTo>
                  <a:lnTo>
                    <a:pt x="151688" y="884072"/>
                  </a:lnTo>
                  <a:lnTo>
                    <a:pt x="184226" y="913942"/>
                  </a:lnTo>
                  <a:lnTo>
                    <a:pt x="219227" y="940993"/>
                  </a:lnTo>
                  <a:lnTo>
                    <a:pt x="256527" y="965022"/>
                  </a:lnTo>
                  <a:lnTo>
                    <a:pt x="295922" y="985862"/>
                  </a:lnTo>
                  <a:lnTo>
                    <a:pt x="337235" y="1003325"/>
                  </a:lnTo>
                  <a:lnTo>
                    <a:pt x="380276" y="1017219"/>
                  </a:lnTo>
                  <a:lnTo>
                    <a:pt x="424891" y="1027379"/>
                  </a:lnTo>
                  <a:lnTo>
                    <a:pt x="470865" y="1033602"/>
                  </a:lnTo>
                  <a:lnTo>
                    <a:pt x="518033" y="1035710"/>
                  </a:lnTo>
                  <a:lnTo>
                    <a:pt x="565137" y="1033602"/>
                  </a:lnTo>
                  <a:lnTo>
                    <a:pt x="611060" y="1027379"/>
                  </a:lnTo>
                  <a:lnTo>
                    <a:pt x="655624" y="1017219"/>
                  </a:lnTo>
                  <a:lnTo>
                    <a:pt x="698639" y="1003325"/>
                  </a:lnTo>
                  <a:lnTo>
                    <a:pt x="739927" y="985862"/>
                  </a:lnTo>
                  <a:lnTo>
                    <a:pt x="779284" y="965022"/>
                  </a:lnTo>
                  <a:lnTo>
                    <a:pt x="816559" y="940993"/>
                  </a:lnTo>
                  <a:lnTo>
                    <a:pt x="851547" y="913942"/>
                  </a:lnTo>
                  <a:lnTo>
                    <a:pt x="884072" y="884072"/>
                  </a:lnTo>
                  <a:lnTo>
                    <a:pt x="913942" y="851547"/>
                  </a:lnTo>
                  <a:lnTo>
                    <a:pt x="940993" y="816559"/>
                  </a:lnTo>
                  <a:lnTo>
                    <a:pt x="965022" y="779297"/>
                  </a:lnTo>
                  <a:lnTo>
                    <a:pt x="985862" y="739927"/>
                  </a:lnTo>
                  <a:lnTo>
                    <a:pt x="1003325" y="698652"/>
                  </a:lnTo>
                  <a:lnTo>
                    <a:pt x="1017219" y="655637"/>
                  </a:lnTo>
                  <a:lnTo>
                    <a:pt x="1027379" y="611073"/>
                  </a:lnTo>
                  <a:lnTo>
                    <a:pt x="1033602" y="565150"/>
                  </a:lnTo>
                  <a:lnTo>
                    <a:pt x="1035723" y="51803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AFCB303-6507-8434-9B4F-28DCA49D92B6}"/>
                </a:ext>
              </a:extLst>
            </p:cNvPr>
            <p:cNvSpPr/>
            <p:nvPr/>
          </p:nvSpPr>
          <p:spPr>
            <a:xfrm>
              <a:off x="506514" y="1602362"/>
              <a:ext cx="880744" cy="882015"/>
            </a:xfrm>
            <a:custGeom>
              <a:avLst/>
              <a:gdLst/>
              <a:ahLst/>
              <a:cxnLst/>
              <a:rect l="l" t="t" r="r" b="b"/>
              <a:pathLst>
                <a:path w="880744" h="882014">
                  <a:moveTo>
                    <a:pt x="0" y="440994"/>
                  </a:moveTo>
                  <a:lnTo>
                    <a:pt x="2585" y="392977"/>
                  </a:lnTo>
                  <a:lnTo>
                    <a:pt x="10162" y="346450"/>
                  </a:lnTo>
                  <a:lnTo>
                    <a:pt x="22461" y="301682"/>
                  </a:lnTo>
                  <a:lnTo>
                    <a:pt x="39212" y="258943"/>
                  </a:lnTo>
                  <a:lnTo>
                    <a:pt x="60147" y="218503"/>
                  </a:lnTo>
                  <a:lnTo>
                    <a:pt x="84995" y="180634"/>
                  </a:lnTo>
                  <a:lnTo>
                    <a:pt x="113487" y="145604"/>
                  </a:lnTo>
                  <a:lnTo>
                    <a:pt x="145354" y="113683"/>
                  </a:lnTo>
                  <a:lnTo>
                    <a:pt x="180326" y="85143"/>
                  </a:lnTo>
                  <a:lnTo>
                    <a:pt x="218135" y="60252"/>
                  </a:lnTo>
                  <a:lnTo>
                    <a:pt x="258509" y="39281"/>
                  </a:lnTo>
                  <a:lnTo>
                    <a:pt x="301181" y="22501"/>
                  </a:lnTo>
                  <a:lnTo>
                    <a:pt x="345880" y="10180"/>
                  </a:lnTo>
                  <a:lnTo>
                    <a:pt x="392337" y="2590"/>
                  </a:lnTo>
                  <a:lnTo>
                    <a:pt x="440283" y="0"/>
                  </a:lnTo>
                  <a:lnTo>
                    <a:pt x="488224" y="2590"/>
                  </a:lnTo>
                  <a:lnTo>
                    <a:pt x="534669" y="10180"/>
                  </a:lnTo>
                  <a:lnTo>
                    <a:pt x="579348" y="22501"/>
                  </a:lnTo>
                  <a:lnTo>
                    <a:pt x="621995" y="39281"/>
                  </a:lnTo>
                  <a:lnTo>
                    <a:pt x="662339" y="60252"/>
                  </a:lnTo>
                  <a:lnTo>
                    <a:pt x="700115" y="85143"/>
                  </a:lnTo>
                  <a:lnTo>
                    <a:pt x="735052" y="113683"/>
                  </a:lnTo>
                  <a:lnTo>
                    <a:pt x="766884" y="145604"/>
                  </a:lnTo>
                  <a:lnTo>
                    <a:pt x="795341" y="180634"/>
                  </a:lnTo>
                  <a:lnTo>
                    <a:pt x="820156" y="218503"/>
                  </a:lnTo>
                  <a:lnTo>
                    <a:pt x="841061" y="258943"/>
                  </a:lnTo>
                  <a:lnTo>
                    <a:pt x="857787" y="301682"/>
                  </a:lnTo>
                  <a:lnTo>
                    <a:pt x="870066" y="346450"/>
                  </a:lnTo>
                  <a:lnTo>
                    <a:pt x="877630" y="392977"/>
                  </a:lnTo>
                  <a:lnTo>
                    <a:pt x="880211" y="440994"/>
                  </a:lnTo>
                  <a:lnTo>
                    <a:pt x="877630" y="489014"/>
                  </a:lnTo>
                  <a:lnTo>
                    <a:pt x="870066" y="535543"/>
                  </a:lnTo>
                  <a:lnTo>
                    <a:pt x="857787" y="580313"/>
                  </a:lnTo>
                  <a:lnTo>
                    <a:pt x="841061" y="623054"/>
                  </a:lnTo>
                  <a:lnTo>
                    <a:pt x="820156" y="663494"/>
                  </a:lnTo>
                  <a:lnTo>
                    <a:pt x="795341" y="701365"/>
                  </a:lnTo>
                  <a:lnTo>
                    <a:pt x="766884" y="736396"/>
                  </a:lnTo>
                  <a:lnTo>
                    <a:pt x="735052" y="768317"/>
                  </a:lnTo>
                  <a:lnTo>
                    <a:pt x="700115" y="796858"/>
                  </a:lnTo>
                  <a:lnTo>
                    <a:pt x="662339" y="821749"/>
                  </a:lnTo>
                  <a:lnTo>
                    <a:pt x="621995" y="842720"/>
                  </a:lnTo>
                  <a:lnTo>
                    <a:pt x="579348" y="859501"/>
                  </a:lnTo>
                  <a:lnTo>
                    <a:pt x="534669" y="871821"/>
                  </a:lnTo>
                  <a:lnTo>
                    <a:pt x="488224" y="879412"/>
                  </a:lnTo>
                  <a:lnTo>
                    <a:pt x="440283" y="882002"/>
                  </a:lnTo>
                  <a:lnTo>
                    <a:pt x="392337" y="879412"/>
                  </a:lnTo>
                  <a:lnTo>
                    <a:pt x="345880" y="871821"/>
                  </a:lnTo>
                  <a:lnTo>
                    <a:pt x="301181" y="859501"/>
                  </a:lnTo>
                  <a:lnTo>
                    <a:pt x="258509" y="842720"/>
                  </a:lnTo>
                  <a:lnTo>
                    <a:pt x="218135" y="821749"/>
                  </a:lnTo>
                  <a:lnTo>
                    <a:pt x="180326" y="796858"/>
                  </a:lnTo>
                  <a:lnTo>
                    <a:pt x="145354" y="768317"/>
                  </a:lnTo>
                  <a:lnTo>
                    <a:pt x="113487" y="736396"/>
                  </a:lnTo>
                  <a:lnTo>
                    <a:pt x="84995" y="701365"/>
                  </a:lnTo>
                  <a:lnTo>
                    <a:pt x="60147" y="663494"/>
                  </a:lnTo>
                  <a:lnTo>
                    <a:pt x="39212" y="623054"/>
                  </a:lnTo>
                  <a:lnTo>
                    <a:pt x="22461" y="580313"/>
                  </a:lnTo>
                  <a:lnTo>
                    <a:pt x="10162" y="535543"/>
                  </a:lnTo>
                  <a:lnTo>
                    <a:pt x="2585" y="489014"/>
                  </a:lnTo>
                  <a:lnTo>
                    <a:pt x="0" y="440994"/>
                  </a:lnTo>
                  <a:close/>
                </a:path>
              </a:pathLst>
            </a:custGeom>
            <a:ln w="28439">
              <a:solidFill>
                <a:srgbClr val="0077D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5559E1EC-2093-CCF3-B271-70864567FD6E}"/>
                </a:ext>
              </a:extLst>
            </p:cNvPr>
            <p:cNvSpPr/>
            <p:nvPr/>
          </p:nvSpPr>
          <p:spPr>
            <a:xfrm>
              <a:off x="710285" y="1850406"/>
              <a:ext cx="471805" cy="427355"/>
            </a:xfrm>
            <a:custGeom>
              <a:avLst/>
              <a:gdLst/>
              <a:ahLst/>
              <a:cxnLst/>
              <a:rect l="l" t="t" r="r" b="b"/>
              <a:pathLst>
                <a:path w="471805" h="427355">
                  <a:moveTo>
                    <a:pt x="471233" y="0"/>
                  </a:moveTo>
                  <a:lnTo>
                    <a:pt x="0" y="0"/>
                  </a:lnTo>
                  <a:lnTo>
                    <a:pt x="0" y="426961"/>
                  </a:lnTo>
                  <a:lnTo>
                    <a:pt x="471233" y="426961"/>
                  </a:lnTo>
                  <a:lnTo>
                    <a:pt x="4712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B4566B2C-78A3-44DF-D1DF-E7EEC4648B18}"/>
                </a:ext>
              </a:extLst>
            </p:cNvPr>
            <p:cNvSpPr/>
            <p:nvPr/>
          </p:nvSpPr>
          <p:spPr>
            <a:xfrm>
              <a:off x="710285" y="1806121"/>
              <a:ext cx="471805" cy="44450"/>
            </a:xfrm>
            <a:custGeom>
              <a:avLst/>
              <a:gdLst/>
              <a:ahLst/>
              <a:cxnLst/>
              <a:rect l="l" t="t" r="r" b="b"/>
              <a:pathLst>
                <a:path w="471805" h="44450">
                  <a:moveTo>
                    <a:pt x="471233" y="0"/>
                  </a:moveTo>
                  <a:lnTo>
                    <a:pt x="0" y="0"/>
                  </a:lnTo>
                  <a:lnTo>
                    <a:pt x="0" y="44284"/>
                  </a:lnTo>
                  <a:lnTo>
                    <a:pt x="471233" y="44284"/>
                  </a:lnTo>
                  <a:lnTo>
                    <a:pt x="471233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B6944B7A-C980-0BBC-FFF3-9FEFC0C3089B}"/>
                </a:ext>
              </a:extLst>
            </p:cNvPr>
            <p:cNvSpPr/>
            <p:nvPr/>
          </p:nvSpPr>
          <p:spPr>
            <a:xfrm>
              <a:off x="776516" y="193103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44284" y="0"/>
                  </a:moveTo>
                  <a:lnTo>
                    <a:pt x="0" y="0"/>
                  </a:lnTo>
                  <a:lnTo>
                    <a:pt x="0" y="44284"/>
                  </a:lnTo>
                  <a:lnTo>
                    <a:pt x="44284" y="44284"/>
                  </a:lnTo>
                  <a:lnTo>
                    <a:pt x="44284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F3D68A60-2B4C-641C-B481-54240101A790}"/>
                </a:ext>
              </a:extLst>
            </p:cNvPr>
            <p:cNvSpPr/>
            <p:nvPr/>
          </p:nvSpPr>
          <p:spPr>
            <a:xfrm>
              <a:off x="776516" y="1931038"/>
              <a:ext cx="265430" cy="118110"/>
            </a:xfrm>
            <a:custGeom>
              <a:avLst/>
              <a:gdLst/>
              <a:ahLst/>
              <a:cxnLst/>
              <a:rect l="l" t="t" r="r" b="b"/>
              <a:pathLst>
                <a:path w="265430" h="118110">
                  <a:moveTo>
                    <a:pt x="44272" y="74168"/>
                  </a:moveTo>
                  <a:lnTo>
                    <a:pt x="0" y="74168"/>
                  </a:lnTo>
                  <a:lnTo>
                    <a:pt x="0" y="118084"/>
                  </a:lnTo>
                  <a:lnTo>
                    <a:pt x="44272" y="118084"/>
                  </a:lnTo>
                  <a:lnTo>
                    <a:pt x="44272" y="74168"/>
                  </a:lnTo>
                  <a:close/>
                </a:path>
                <a:path w="265430" h="118110">
                  <a:moveTo>
                    <a:pt x="118084" y="74168"/>
                  </a:moveTo>
                  <a:lnTo>
                    <a:pt x="73799" y="74168"/>
                  </a:lnTo>
                  <a:lnTo>
                    <a:pt x="73799" y="118084"/>
                  </a:lnTo>
                  <a:lnTo>
                    <a:pt x="118084" y="118084"/>
                  </a:lnTo>
                  <a:lnTo>
                    <a:pt x="118084" y="74168"/>
                  </a:lnTo>
                  <a:close/>
                </a:path>
                <a:path w="265430" h="118110">
                  <a:moveTo>
                    <a:pt x="118084" y="0"/>
                  </a:moveTo>
                  <a:lnTo>
                    <a:pt x="73799" y="0"/>
                  </a:lnTo>
                  <a:lnTo>
                    <a:pt x="73799" y="44284"/>
                  </a:lnTo>
                  <a:lnTo>
                    <a:pt x="118084" y="44284"/>
                  </a:lnTo>
                  <a:lnTo>
                    <a:pt x="118084" y="0"/>
                  </a:lnTo>
                  <a:close/>
                </a:path>
                <a:path w="265430" h="118110">
                  <a:moveTo>
                    <a:pt x="191528" y="0"/>
                  </a:moveTo>
                  <a:lnTo>
                    <a:pt x="147243" y="0"/>
                  </a:lnTo>
                  <a:lnTo>
                    <a:pt x="147243" y="44284"/>
                  </a:lnTo>
                  <a:lnTo>
                    <a:pt x="191528" y="44284"/>
                  </a:lnTo>
                  <a:lnTo>
                    <a:pt x="191528" y="0"/>
                  </a:lnTo>
                  <a:close/>
                </a:path>
                <a:path w="265430" h="118110">
                  <a:moveTo>
                    <a:pt x="264960" y="0"/>
                  </a:moveTo>
                  <a:lnTo>
                    <a:pt x="220687" y="0"/>
                  </a:lnTo>
                  <a:lnTo>
                    <a:pt x="220687" y="44284"/>
                  </a:lnTo>
                  <a:lnTo>
                    <a:pt x="264960" y="44284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33035B22-183A-A6FA-9760-F4170E6A0D6B}"/>
                </a:ext>
              </a:extLst>
            </p:cNvPr>
            <p:cNvSpPr/>
            <p:nvPr/>
          </p:nvSpPr>
          <p:spPr>
            <a:xfrm>
              <a:off x="923759" y="2005206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44284" y="0"/>
                  </a:moveTo>
                  <a:lnTo>
                    <a:pt x="0" y="0"/>
                  </a:lnTo>
                  <a:lnTo>
                    <a:pt x="0" y="43916"/>
                  </a:lnTo>
                  <a:lnTo>
                    <a:pt x="44284" y="43916"/>
                  </a:lnTo>
                  <a:lnTo>
                    <a:pt x="44284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9A4A38C0-1034-DB83-F46C-C339981C0D01}"/>
                </a:ext>
              </a:extLst>
            </p:cNvPr>
            <p:cNvSpPr/>
            <p:nvPr/>
          </p:nvSpPr>
          <p:spPr>
            <a:xfrm>
              <a:off x="776516" y="2005206"/>
              <a:ext cx="265430" cy="118110"/>
            </a:xfrm>
            <a:custGeom>
              <a:avLst/>
              <a:gdLst/>
              <a:ahLst/>
              <a:cxnLst/>
              <a:rect l="l" t="t" r="r" b="b"/>
              <a:pathLst>
                <a:path w="265430" h="118110">
                  <a:moveTo>
                    <a:pt x="44272" y="73431"/>
                  </a:moveTo>
                  <a:lnTo>
                    <a:pt x="0" y="73431"/>
                  </a:lnTo>
                  <a:lnTo>
                    <a:pt x="0" y="117716"/>
                  </a:lnTo>
                  <a:lnTo>
                    <a:pt x="44272" y="117716"/>
                  </a:lnTo>
                  <a:lnTo>
                    <a:pt x="44272" y="73431"/>
                  </a:lnTo>
                  <a:close/>
                </a:path>
                <a:path w="265430" h="118110">
                  <a:moveTo>
                    <a:pt x="264960" y="0"/>
                  </a:moveTo>
                  <a:lnTo>
                    <a:pt x="220687" y="0"/>
                  </a:lnTo>
                  <a:lnTo>
                    <a:pt x="220687" y="43916"/>
                  </a:lnTo>
                  <a:lnTo>
                    <a:pt x="264960" y="43916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717724AA-FF3B-6983-153C-E0B537F9D433}"/>
                </a:ext>
              </a:extLst>
            </p:cNvPr>
            <p:cNvSpPr/>
            <p:nvPr/>
          </p:nvSpPr>
          <p:spPr>
            <a:xfrm>
              <a:off x="850315" y="207863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44284" y="0"/>
                  </a:moveTo>
                  <a:lnTo>
                    <a:pt x="0" y="0"/>
                  </a:lnTo>
                  <a:lnTo>
                    <a:pt x="0" y="44284"/>
                  </a:lnTo>
                  <a:lnTo>
                    <a:pt x="44284" y="44284"/>
                  </a:lnTo>
                  <a:lnTo>
                    <a:pt x="44284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EA56AE04-C067-807B-DB9B-FD1C41E7BCE0}"/>
                </a:ext>
              </a:extLst>
            </p:cNvPr>
            <p:cNvSpPr/>
            <p:nvPr/>
          </p:nvSpPr>
          <p:spPr>
            <a:xfrm>
              <a:off x="776516" y="2078637"/>
              <a:ext cx="265430" cy="118110"/>
            </a:xfrm>
            <a:custGeom>
              <a:avLst/>
              <a:gdLst/>
              <a:ahLst/>
              <a:cxnLst/>
              <a:rect l="l" t="t" r="r" b="b"/>
              <a:pathLst>
                <a:path w="265430" h="118110">
                  <a:moveTo>
                    <a:pt x="44272" y="73444"/>
                  </a:moveTo>
                  <a:lnTo>
                    <a:pt x="0" y="73444"/>
                  </a:lnTo>
                  <a:lnTo>
                    <a:pt x="0" y="117729"/>
                  </a:lnTo>
                  <a:lnTo>
                    <a:pt x="44272" y="117729"/>
                  </a:lnTo>
                  <a:lnTo>
                    <a:pt x="44272" y="73444"/>
                  </a:lnTo>
                  <a:close/>
                </a:path>
                <a:path w="265430" h="118110">
                  <a:moveTo>
                    <a:pt x="118084" y="73444"/>
                  </a:moveTo>
                  <a:lnTo>
                    <a:pt x="73799" y="73444"/>
                  </a:lnTo>
                  <a:lnTo>
                    <a:pt x="73799" y="117729"/>
                  </a:lnTo>
                  <a:lnTo>
                    <a:pt x="118084" y="117729"/>
                  </a:lnTo>
                  <a:lnTo>
                    <a:pt x="118084" y="73444"/>
                  </a:lnTo>
                  <a:close/>
                </a:path>
                <a:path w="265430" h="118110">
                  <a:moveTo>
                    <a:pt x="191528" y="73444"/>
                  </a:moveTo>
                  <a:lnTo>
                    <a:pt x="147243" y="73444"/>
                  </a:lnTo>
                  <a:lnTo>
                    <a:pt x="147243" y="117729"/>
                  </a:lnTo>
                  <a:lnTo>
                    <a:pt x="191528" y="117729"/>
                  </a:lnTo>
                  <a:lnTo>
                    <a:pt x="191528" y="73444"/>
                  </a:lnTo>
                  <a:close/>
                </a:path>
                <a:path w="265430" h="118110">
                  <a:moveTo>
                    <a:pt x="191528" y="0"/>
                  </a:moveTo>
                  <a:lnTo>
                    <a:pt x="147243" y="0"/>
                  </a:lnTo>
                  <a:lnTo>
                    <a:pt x="147243" y="44284"/>
                  </a:lnTo>
                  <a:lnTo>
                    <a:pt x="191528" y="44284"/>
                  </a:lnTo>
                  <a:lnTo>
                    <a:pt x="191528" y="0"/>
                  </a:lnTo>
                  <a:close/>
                </a:path>
                <a:path w="265430" h="118110">
                  <a:moveTo>
                    <a:pt x="264960" y="0"/>
                  </a:moveTo>
                  <a:lnTo>
                    <a:pt x="220687" y="0"/>
                  </a:lnTo>
                  <a:lnTo>
                    <a:pt x="220687" y="44284"/>
                  </a:lnTo>
                  <a:lnTo>
                    <a:pt x="264960" y="44284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14833ED0-A830-6846-4213-C07BB7ED3A11}"/>
                </a:ext>
              </a:extLst>
            </p:cNvPr>
            <p:cNvSpPr/>
            <p:nvPr/>
          </p:nvSpPr>
          <p:spPr>
            <a:xfrm>
              <a:off x="997204" y="215208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44272" y="0"/>
                  </a:moveTo>
                  <a:lnTo>
                    <a:pt x="0" y="0"/>
                  </a:lnTo>
                  <a:lnTo>
                    <a:pt x="0" y="44284"/>
                  </a:lnTo>
                  <a:lnTo>
                    <a:pt x="44272" y="44284"/>
                  </a:lnTo>
                  <a:lnTo>
                    <a:pt x="44272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E8FCC27F-BEF1-79BB-8C0F-1FCC7BDA45C2}"/>
                </a:ext>
              </a:extLst>
            </p:cNvPr>
            <p:cNvSpPr/>
            <p:nvPr/>
          </p:nvSpPr>
          <p:spPr>
            <a:xfrm>
              <a:off x="1071359" y="1931038"/>
              <a:ext cx="44450" cy="265430"/>
            </a:xfrm>
            <a:custGeom>
              <a:avLst/>
              <a:gdLst/>
              <a:ahLst/>
              <a:cxnLst/>
              <a:rect l="l" t="t" r="r" b="b"/>
              <a:pathLst>
                <a:path w="44450" h="265430">
                  <a:moveTo>
                    <a:pt x="43916" y="221043"/>
                  </a:moveTo>
                  <a:lnTo>
                    <a:pt x="0" y="221043"/>
                  </a:lnTo>
                  <a:lnTo>
                    <a:pt x="0" y="265328"/>
                  </a:lnTo>
                  <a:lnTo>
                    <a:pt x="43916" y="265328"/>
                  </a:lnTo>
                  <a:lnTo>
                    <a:pt x="43916" y="221043"/>
                  </a:lnTo>
                  <a:close/>
                </a:path>
                <a:path w="44450" h="265430">
                  <a:moveTo>
                    <a:pt x="43916" y="147599"/>
                  </a:moveTo>
                  <a:lnTo>
                    <a:pt x="0" y="147599"/>
                  </a:lnTo>
                  <a:lnTo>
                    <a:pt x="0" y="191884"/>
                  </a:lnTo>
                  <a:lnTo>
                    <a:pt x="43916" y="191884"/>
                  </a:lnTo>
                  <a:lnTo>
                    <a:pt x="43916" y="147599"/>
                  </a:lnTo>
                  <a:close/>
                </a:path>
                <a:path w="44450" h="265430">
                  <a:moveTo>
                    <a:pt x="43916" y="74168"/>
                  </a:moveTo>
                  <a:lnTo>
                    <a:pt x="0" y="74168"/>
                  </a:lnTo>
                  <a:lnTo>
                    <a:pt x="0" y="118084"/>
                  </a:lnTo>
                  <a:lnTo>
                    <a:pt x="43916" y="118084"/>
                  </a:lnTo>
                  <a:lnTo>
                    <a:pt x="43916" y="74168"/>
                  </a:lnTo>
                  <a:close/>
                </a:path>
                <a:path w="44450" h="265430">
                  <a:moveTo>
                    <a:pt x="43916" y="0"/>
                  </a:moveTo>
                  <a:lnTo>
                    <a:pt x="0" y="0"/>
                  </a:lnTo>
                  <a:lnTo>
                    <a:pt x="0" y="44284"/>
                  </a:lnTo>
                  <a:lnTo>
                    <a:pt x="43916" y="44284"/>
                  </a:lnTo>
                  <a:lnTo>
                    <a:pt x="43916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533585B-C684-CA9C-F2A3-B54F4D0BDE2D}"/>
              </a:ext>
            </a:extLst>
          </p:cNvPr>
          <p:cNvGrpSpPr/>
          <p:nvPr/>
        </p:nvGrpSpPr>
        <p:grpSpPr>
          <a:xfrm>
            <a:off x="731901" y="2970237"/>
            <a:ext cx="1036319" cy="1036319"/>
            <a:chOff x="428040" y="2791806"/>
            <a:chExt cx="1036319" cy="1036319"/>
          </a:xfrm>
        </p:grpSpPr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B1E554B7-1706-A504-FE47-AE6C87FFBB69}"/>
                </a:ext>
              </a:extLst>
            </p:cNvPr>
            <p:cNvSpPr/>
            <p:nvPr/>
          </p:nvSpPr>
          <p:spPr>
            <a:xfrm>
              <a:off x="428040" y="2791806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1035723" y="518033"/>
                  </a:moveTo>
                  <a:lnTo>
                    <a:pt x="1033602" y="470877"/>
                  </a:lnTo>
                  <a:lnTo>
                    <a:pt x="1027379" y="424903"/>
                  </a:lnTo>
                  <a:lnTo>
                    <a:pt x="1017219" y="380288"/>
                  </a:lnTo>
                  <a:lnTo>
                    <a:pt x="1003325" y="337248"/>
                  </a:lnTo>
                  <a:lnTo>
                    <a:pt x="985862" y="295935"/>
                  </a:lnTo>
                  <a:lnTo>
                    <a:pt x="965022" y="256540"/>
                  </a:lnTo>
                  <a:lnTo>
                    <a:pt x="940993" y="219240"/>
                  </a:lnTo>
                  <a:lnTo>
                    <a:pt x="913942" y="184238"/>
                  </a:lnTo>
                  <a:lnTo>
                    <a:pt x="884072" y="151701"/>
                  </a:lnTo>
                  <a:lnTo>
                    <a:pt x="851547" y="121805"/>
                  </a:lnTo>
                  <a:lnTo>
                    <a:pt x="816559" y="94754"/>
                  </a:lnTo>
                  <a:lnTo>
                    <a:pt x="779284" y="70713"/>
                  </a:lnTo>
                  <a:lnTo>
                    <a:pt x="739927" y="49872"/>
                  </a:lnTo>
                  <a:lnTo>
                    <a:pt x="698639" y="32410"/>
                  </a:lnTo>
                  <a:lnTo>
                    <a:pt x="655624" y="18503"/>
                  </a:lnTo>
                  <a:lnTo>
                    <a:pt x="611060" y="8343"/>
                  </a:lnTo>
                  <a:lnTo>
                    <a:pt x="565137" y="2120"/>
                  </a:lnTo>
                  <a:lnTo>
                    <a:pt x="518033" y="0"/>
                  </a:lnTo>
                  <a:lnTo>
                    <a:pt x="470865" y="2120"/>
                  </a:lnTo>
                  <a:lnTo>
                    <a:pt x="424891" y="8343"/>
                  </a:lnTo>
                  <a:lnTo>
                    <a:pt x="380276" y="18503"/>
                  </a:lnTo>
                  <a:lnTo>
                    <a:pt x="337235" y="32410"/>
                  </a:lnTo>
                  <a:lnTo>
                    <a:pt x="295922" y="49872"/>
                  </a:lnTo>
                  <a:lnTo>
                    <a:pt x="256527" y="70713"/>
                  </a:lnTo>
                  <a:lnTo>
                    <a:pt x="219227" y="94754"/>
                  </a:lnTo>
                  <a:lnTo>
                    <a:pt x="184226" y="121805"/>
                  </a:lnTo>
                  <a:lnTo>
                    <a:pt x="151688" y="151701"/>
                  </a:lnTo>
                  <a:lnTo>
                    <a:pt x="121793" y="184238"/>
                  </a:lnTo>
                  <a:lnTo>
                    <a:pt x="94742" y="219240"/>
                  </a:lnTo>
                  <a:lnTo>
                    <a:pt x="70700" y="256540"/>
                  </a:lnTo>
                  <a:lnTo>
                    <a:pt x="49860" y="295935"/>
                  </a:lnTo>
                  <a:lnTo>
                    <a:pt x="32397" y="337248"/>
                  </a:lnTo>
                  <a:lnTo>
                    <a:pt x="18491" y="380288"/>
                  </a:lnTo>
                  <a:lnTo>
                    <a:pt x="8331" y="424903"/>
                  </a:lnTo>
                  <a:lnTo>
                    <a:pt x="2108" y="470877"/>
                  </a:lnTo>
                  <a:lnTo>
                    <a:pt x="0" y="518033"/>
                  </a:lnTo>
                  <a:lnTo>
                    <a:pt x="2108" y="565150"/>
                  </a:lnTo>
                  <a:lnTo>
                    <a:pt x="8331" y="611073"/>
                  </a:lnTo>
                  <a:lnTo>
                    <a:pt x="18491" y="655637"/>
                  </a:lnTo>
                  <a:lnTo>
                    <a:pt x="32397" y="698652"/>
                  </a:lnTo>
                  <a:lnTo>
                    <a:pt x="49860" y="739927"/>
                  </a:lnTo>
                  <a:lnTo>
                    <a:pt x="70700" y="779297"/>
                  </a:lnTo>
                  <a:lnTo>
                    <a:pt x="94742" y="816559"/>
                  </a:lnTo>
                  <a:lnTo>
                    <a:pt x="121793" y="851547"/>
                  </a:lnTo>
                  <a:lnTo>
                    <a:pt x="151688" y="884072"/>
                  </a:lnTo>
                  <a:lnTo>
                    <a:pt x="184226" y="913955"/>
                  </a:lnTo>
                  <a:lnTo>
                    <a:pt x="219227" y="940993"/>
                  </a:lnTo>
                  <a:lnTo>
                    <a:pt x="256527" y="965034"/>
                  </a:lnTo>
                  <a:lnTo>
                    <a:pt x="295922" y="985875"/>
                  </a:lnTo>
                  <a:lnTo>
                    <a:pt x="337235" y="1003338"/>
                  </a:lnTo>
                  <a:lnTo>
                    <a:pt x="380276" y="1017231"/>
                  </a:lnTo>
                  <a:lnTo>
                    <a:pt x="424891" y="1027391"/>
                  </a:lnTo>
                  <a:lnTo>
                    <a:pt x="470865" y="1033614"/>
                  </a:lnTo>
                  <a:lnTo>
                    <a:pt x="518033" y="1035723"/>
                  </a:lnTo>
                  <a:lnTo>
                    <a:pt x="565137" y="1033614"/>
                  </a:lnTo>
                  <a:lnTo>
                    <a:pt x="611060" y="1027391"/>
                  </a:lnTo>
                  <a:lnTo>
                    <a:pt x="655624" y="1017231"/>
                  </a:lnTo>
                  <a:lnTo>
                    <a:pt x="698639" y="1003338"/>
                  </a:lnTo>
                  <a:lnTo>
                    <a:pt x="739927" y="985875"/>
                  </a:lnTo>
                  <a:lnTo>
                    <a:pt x="779284" y="965034"/>
                  </a:lnTo>
                  <a:lnTo>
                    <a:pt x="816559" y="940993"/>
                  </a:lnTo>
                  <a:lnTo>
                    <a:pt x="851547" y="913955"/>
                  </a:lnTo>
                  <a:lnTo>
                    <a:pt x="884059" y="884072"/>
                  </a:lnTo>
                  <a:lnTo>
                    <a:pt x="913942" y="851547"/>
                  </a:lnTo>
                  <a:lnTo>
                    <a:pt x="940993" y="816559"/>
                  </a:lnTo>
                  <a:lnTo>
                    <a:pt x="965022" y="779297"/>
                  </a:lnTo>
                  <a:lnTo>
                    <a:pt x="985862" y="739927"/>
                  </a:lnTo>
                  <a:lnTo>
                    <a:pt x="1003325" y="698652"/>
                  </a:lnTo>
                  <a:lnTo>
                    <a:pt x="1017219" y="655637"/>
                  </a:lnTo>
                  <a:lnTo>
                    <a:pt x="1027379" y="611073"/>
                  </a:lnTo>
                  <a:lnTo>
                    <a:pt x="1033602" y="565150"/>
                  </a:lnTo>
                  <a:lnTo>
                    <a:pt x="1035723" y="51803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E85826F4-4D4B-74C8-3C6A-94A10D4CDEE6}"/>
                </a:ext>
              </a:extLst>
            </p:cNvPr>
            <p:cNvSpPr/>
            <p:nvPr/>
          </p:nvSpPr>
          <p:spPr>
            <a:xfrm>
              <a:off x="506514" y="2870279"/>
              <a:ext cx="880744" cy="880744"/>
            </a:xfrm>
            <a:custGeom>
              <a:avLst/>
              <a:gdLst/>
              <a:ahLst/>
              <a:cxnLst/>
              <a:rect l="l" t="t" r="r" b="b"/>
              <a:pathLst>
                <a:path w="880744" h="880745">
                  <a:moveTo>
                    <a:pt x="0" y="440283"/>
                  </a:moveTo>
                  <a:lnTo>
                    <a:pt x="2585" y="392337"/>
                  </a:lnTo>
                  <a:lnTo>
                    <a:pt x="10162" y="345880"/>
                  </a:lnTo>
                  <a:lnTo>
                    <a:pt x="22461" y="301181"/>
                  </a:lnTo>
                  <a:lnTo>
                    <a:pt x="39212" y="258509"/>
                  </a:lnTo>
                  <a:lnTo>
                    <a:pt x="60147" y="218135"/>
                  </a:lnTo>
                  <a:lnTo>
                    <a:pt x="84995" y="180326"/>
                  </a:lnTo>
                  <a:lnTo>
                    <a:pt x="113487" y="145354"/>
                  </a:lnTo>
                  <a:lnTo>
                    <a:pt x="145354" y="113487"/>
                  </a:lnTo>
                  <a:lnTo>
                    <a:pt x="180326" y="84995"/>
                  </a:lnTo>
                  <a:lnTo>
                    <a:pt x="218135" y="60147"/>
                  </a:lnTo>
                  <a:lnTo>
                    <a:pt x="258509" y="39212"/>
                  </a:lnTo>
                  <a:lnTo>
                    <a:pt x="301181" y="22461"/>
                  </a:lnTo>
                  <a:lnTo>
                    <a:pt x="345880" y="10162"/>
                  </a:lnTo>
                  <a:lnTo>
                    <a:pt x="392337" y="2585"/>
                  </a:lnTo>
                  <a:lnTo>
                    <a:pt x="440283" y="0"/>
                  </a:lnTo>
                  <a:lnTo>
                    <a:pt x="488224" y="2585"/>
                  </a:lnTo>
                  <a:lnTo>
                    <a:pt x="534669" y="10162"/>
                  </a:lnTo>
                  <a:lnTo>
                    <a:pt x="579348" y="22461"/>
                  </a:lnTo>
                  <a:lnTo>
                    <a:pt x="621995" y="39212"/>
                  </a:lnTo>
                  <a:lnTo>
                    <a:pt x="662339" y="60147"/>
                  </a:lnTo>
                  <a:lnTo>
                    <a:pt x="700115" y="84995"/>
                  </a:lnTo>
                  <a:lnTo>
                    <a:pt x="735052" y="113487"/>
                  </a:lnTo>
                  <a:lnTo>
                    <a:pt x="766884" y="145354"/>
                  </a:lnTo>
                  <a:lnTo>
                    <a:pt x="795341" y="180326"/>
                  </a:lnTo>
                  <a:lnTo>
                    <a:pt x="820156" y="218135"/>
                  </a:lnTo>
                  <a:lnTo>
                    <a:pt x="841061" y="258509"/>
                  </a:lnTo>
                  <a:lnTo>
                    <a:pt x="857787" y="301181"/>
                  </a:lnTo>
                  <a:lnTo>
                    <a:pt x="870066" y="345880"/>
                  </a:lnTo>
                  <a:lnTo>
                    <a:pt x="877630" y="392337"/>
                  </a:lnTo>
                  <a:lnTo>
                    <a:pt x="880211" y="440283"/>
                  </a:lnTo>
                  <a:lnTo>
                    <a:pt x="877630" y="488224"/>
                  </a:lnTo>
                  <a:lnTo>
                    <a:pt x="870066" y="534668"/>
                  </a:lnTo>
                  <a:lnTo>
                    <a:pt x="857787" y="579347"/>
                  </a:lnTo>
                  <a:lnTo>
                    <a:pt x="841061" y="621992"/>
                  </a:lnTo>
                  <a:lnTo>
                    <a:pt x="820156" y="662336"/>
                  </a:lnTo>
                  <a:lnTo>
                    <a:pt x="795341" y="700110"/>
                  </a:lnTo>
                  <a:lnTo>
                    <a:pt x="766884" y="735046"/>
                  </a:lnTo>
                  <a:lnTo>
                    <a:pt x="735052" y="766877"/>
                  </a:lnTo>
                  <a:lnTo>
                    <a:pt x="700115" y="795333"/>
                  </a:lnTo>
                  <a:lnTo>
                    <a:pt x="662339" y="820147"/>
                  </a:lnTo>
                  <a:lnTo>
                    <a:pt x="621995" y="841050"/>
                  </a:lnTo>
                  <a:lnTo>
                    <a:pt x="579348" y="857775"/>
                  </a:lnTo>
                  <a:lnTo>
                    <a:pt x="534669" y="870054"/>
                  </a:lnTo>
                  <a:lnTo>
                    <a:pt x="488224" y="877618"/>
                  </a:lnTo>
                  <a:lnTo>
                    <a:pt x="440283" y="880198"/>
                  </a:lnTo>
                  <a:lnTo>
                    <a:pt x="392337" y="877618"/>
                  </a:lnTo>
                  <a:lnTo>
                    <a:pt x="345880" y="870054"/>
                  </a:lnTo>
                  <a:lnTo>
                    <a:pt x="301181" y="857775"/>
                  </a:lnTo>
                  <a:lnTo>
                    <a:pt x="258509" y="841050"/>
                  </a:lnTo>
                  <a:lnTo>
                    <a:pt x="218135" y="820147"/>
                  </a:lnTo>
                  <a:lnTo>
                    <a:pt x="180326" y="795333"/>
                  </a:lnTo>
                  <a:lnTo>
                    <a:pt x="145354" y="766877"/>
                  </a:lnTo>
                  <a:lnTo>
                    <a:pt x="113487" y="735046"/>
                  </a:lnTo>
                  <a:lnTo>
                    <a:pt x="84995" y="700110"/>
                  </a:lnTo>
                  <a:lnTo>
                    <a:pt x="60147" y="662336"/>
                  </a:lnTo>
                  <a:lnTo>
                    <a:pt x="39212" y="621992"/>
                  </a:lnTo>
                  <a:lnTo>
                    <a:pt x="22461" y="579347"/>
                  </a:lnTo>
                  <a:lnTo>
                    <a:pt x="10162" y="534668"/>
                  </a:lnTo>
                  <a:lnTo>
                    <a:pt x="2585" y="488224"/>
                  </a:lnTo>
                  <a:lnTo>
                    <a:pt x="0" y="440283"/>
                  </a:lnTo>
                  <a:close/>
                </a:path>
              </a:pathLst>
            </a:custGeom>
            <a:ln w="28439">
              <a:solidFill>
                <a:srgbClr val="0077D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E7A29565-5D96-8142-2615-CDE110C4E20C}"/>
                </a:ext>
              </a:extLst>
            </p:cNvPr>
            <p:cNvSpPr/>
            <p:nvPr/>
          </p:nvSpPr>
          <p:spPr>
            <a:xfrm>
              <a:off x="710285" y="3069365"/>
              <a:ext cx="488315" cy="488315"/>
            </a:xfrm>
            <a:custGeom>
              <a:avLst/>
              <a:gdLst/>
              <a:ahLst/>
              <a:cxnLst/>
              <a:rect l="l" t="t" r="r" b="b"/>
              <a:pathLst>
                <a:path w="488315" h="488314">
                  <a:moveTo>
                    <a:pt x="243712" y="0"/>
                  </a:moveTo>
                  <a:lnTo>
                    <a:pt x="194688" y="4965"/>
                  </a:lnTo>
                  <a:lnTo>
                    <a:pt x="148984" y="19208"/>
                  </a:lnTo>
                  <a:lnTo>
                    <a:pt x="107592" y="41745"/>
                  </a:lnTo>
                  <a:lnTo>
                    <a:pt x="71502" y="71593"/>
                  </a:lnTo>
                  <a:lnTo>
                    <a:pt x="41707" y="107768"/>
                  </a:lnTo>
                  <a:lnTo>
                    <a:pt x="19197" y="149290"/>
                  </a:lnTo>
                  <a:lnTo>
                    <a:pt x="4964" y="195173"/>
                  </a:lnTo>
                  <a:lnTo>
                    <a:pt x="0" y="244436"/>
                  </a:lnTo>
                  <a:lnTo>
                    <a:pt x="4964" y="293461"/>
                  </a:lnTo>
                  <a:lnTo>
                    <a:pt x="19197" y="339167"/>
                  </a:lnTo>
                  <a:lnTo>
                    <a:pt x="41707" y="380561"/>
                  </a:lnTo>
                  <a:lnTo>
                    <a:pt x="71502" y="416653"/>
                  </a:lnTo>
                  <a:lnTo>
                    <a:pt x="107592" y="446451"/>
                  </a:lnTo>
                  <a:lnTo>
                    <a:pt x="148984" y="468963"/>
                  </a:lnTo>
                  <a:lnTo>
                    <a:pt x="194688" y="483197"/>
                  </a:lnTo>
                  <a:lnTo>
                    <a:pt x="243712" y="488162"/>
                  </a:lnTo>
                  <a:lnTo>
                    <a:pt x="292976" y="483197"/>
                  </a:lnTo>
                  <a:lnTo>
                    <a:pt x="338859" y="468963"/>
                  </a:lnTo>
                  <a:lnTo>
                    <a:pt x="380380" y="446451"/>
                  </a:lnTo>
                  <a:lnTo>
                    <a:pt x="385247" y="442442"/>
                  </a:lnTo>
                  <a:lnTo>
                    <a:pt x="243712" y="442442"/>
                  </a:lnTo>
                  <a:lnTo>
                    <a:pt x="198399" y="437198"/>
                  </a:lnTo>
                  <a:lnTo>
                    <a:pt x="156757" y="422268"/>
                  </a:lnTo>
                  <a:lnTo>
                    <a:pt x="119991" y="398856"/>
                  </a:lnTo>
                  <a:lnTo>
                    <a:pt x="89301" y="368163"/>
                  </a:lnTo>
                  <a:lnTo>
                    <a:pt x="65891" y="331394"/>
                  </a:lnTo>
                  <a:lnTo>
                    <a:pt x="50963" y="289751"/>
                  </a:lnTo>
                  <a:lnTo>
                    <a:pt x="45720" y="244436"/>
                  </a:lnTo>
                  <a:lnTo>
                    <a:pt x="50963" y="198971"/>
                  </a:lnTo>
                  <a:lnTo>
                    <a:pt x="65891" y="157182"/>
                  </a:lnTo>
                  <a:lnTo>
                    <a:pt x="89301" y="120280"/>
                  </a:lnTo>
                  <a:lnTo>
                    <a:pt x="119991" y="89474"/>
                  </a:lnTo>
                  <a:lnTo>
                    <a:pt x="156757" y="65972"/>
                  </a:lnTo>
                  <a:lnTo>
                    <a:pt x="198399" y="50984"/>
                  </a:lnTo>
                  <a:lnTo>
                    <a:pt x="243712" y="45719"/>
                  </a:lnTo>
                  <a:lnTo>
                    <a:pt x="243712" y="0"/>
                  </a:lnTo>
                  <a:close/>
                </a:path>
                <a:path w="488315" h="488314">
                  <a:moveTo>
                    <a:pt x="488149" y="244436"/>
                  </a:moveTo>
                  <a:lnTo>
                    <a:pt x="442429" y="244436"/>
                  </a:lnTo>
                  <a:lnTo>
                    <a:pt x="437165" y="289751"/>
                  </a:lnTo>
                  <a:lnTo>
                    <a:pt x="422177" y="331394"/>
                  </a:lnTo>
                  <a:lnTo>
                    <a:pt x="398675" y="368163"/>
                  </a:lnTo>
                  <a:lnTo>
                    <a:pt x="367869" y="398856"/>
                  </a:lnTo>
                  <a:lnTo>
                    <a:pt x="330967" y="422268"/>
                  </a:lnTo>
                  <a:lnTo>
                    <a:pt x="289178" y="437198"/>
                  </a:lnTo>
                  <a:lnTo>
                    <a:pt x="243712" y="442442"/>
                  </a:lnTo>
                  <a:lnTo>
                    <a:pt x="385247" y="442442"/>
                  </a:lnTo>
                  <a:lnTo>
                    <a:pt x="416556" y="416653"/>
                  </a:lnTo>
                  <a:lnTo>
                    <a:pt x="446404" y="380561"/>
                  </a:lnTo>
                  <a:lnTo>
                    <a:pt x="468941" y="339167"/>
                  </a:lnTo>
                  <a:lnTo>
                    <a:pt x="483183" y="293461"/>
                  </a:lnTo>
                  <a:lnTo>
                    <a:pt x="488149" y="244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1">
              <a:extLst>
                <a:ext uri="{FF2B5EF4-FFF2-40B4-BE49-F238E27FC236}">
                  <a16:creationId xmlns:a16="http://schemas.microsoft.com/office/drawing/2014/main" id="{47A643A7-0775-94A4-D361-5E3A8452A2B2}"/>
                </a:ext>
              </a:extLst>
            </p:cNvPr>
            <p:cNvSpPr/>
            <p:nvPr/>
          </p:nvSpPr>
          <p:spPr>
            <a:xfrm>
              <a:off x="835913" y="3145866"/>
              <a:ext cx="286385" cy="335915"/>
            </a:xfrm>
            <a:custGeom>
              <a:avLst/>
              <a:gdLst/>
              <a:ahLst/>
              <a:cxnLst/>
              <a:rect l="l" t="t" r="r" b="b"/>
              <a:pathLst>
                <a:path w="286384" h="335914">
                  <a:moveTo>
                    <a:pt x="32042" y="253977"/>
                  </a:moveTo>
                  <a:lnTo>
                    <a:pt x="0" y="286375"/>
                  </a:lnTo>
                  <a:lnTo>
                    <a:pt x="25390" y="307450"/>
                  </a:lnTo>
                  <a:lnTo>
                    <a:pt x="54051" y="322921"/>
                  </a:lnTo>
                  <a:lnTo>
                    <a:pt x="85207" y="332450"/>
                  </a:lnTo>
                  <a:lnTo>
                    <a:pt x="118084" y="335702"/>
                  </a:lnTo>
                  <a:lnTo>
                    <a:pt x="151380" y="332450"/>
                  </a:lnTo>
                  <a:lnTo>
                    <a:pt x="182749" y="322921"/>
                  </a:lnTo>
                  <a:lnTo>
                    <a:pt x="211485" y="307450"/>
                  </a:lnTo>
                  <a:lnTo>
                    <a:pt x="232978" y="289613"/>
                  </a:lnTo>
                  <a:lnTo>
                    <a:pt x="118084" y="289613"/>
                  </a:lnTo>
                  <a:lnTo>
                    <a:pt x="94264" y="287285"/>
                  </a:lnTo>
                  <a:lnTo>
                    <a:pt x="71691" y="280435"/>
                  </a:lnTo>
                  <a:lnTo>
                    <a:pt x="50804" y="269265"/>
                  </a:lnTo>
                  <a:lnTo>
                    <a:pt x="32042" y="253977"/>
                  </a:lnTo>
                  <a:close/>
                </a:path>
                <a:path w="286384" h="335914">
                  <a:moveTo>
                    <a:pt x="232337" y="45672"/>
                  </a:moveTo>
                  <a:lnTo>
                    <a:pt x="118446" y="45672"/>
                  </a:lnTo>
                  <a:lnTo>
                    <a:pt x="164483" y="54599"/>
                  </a:lnTo>
                  <a:lnTo>
                    <a:pt x="204851" y="81181"/>
                  </a:lnTo>
                  <a:lnTo>
                    <a:pt x="219982" y="99999"/>
                  </a:lnTo>
                  <a:lnTo>
                    <a:pt x="231170" y="121048"/>
                  </a:lnTo>
                  <a:lnTo>
                    <a:pt x="238106" y="143851"/>
                  </a:lnTo>
                  <a:lnTo>
                    <a:pt x="240487" y="167935"/>
                  </a:lnTo>
                  <a:lnTo>
                    <a:pt x="238106" y="191807"/>
                  </a:lnTo>
                  <a:lnTo>
                    <a:pt x="219982" y="235370"/>
                  </a:lnTo>
                  <a:lnTo>
                    <a:pt x="186077" y="269265"/>
                  </a:lnTo>
                  <a:lnTo>
                    <a:pt x="142323" y="287285"/>
                  </a:lnTo>
                  <a:lnTo>
                    <a:pt x="118084" y="289613"/>
                  </a:lnTo>
                  <a:lnTo>
                    <a:pt x="232978" y="289613"/>
                  </a:lnTo>
                  <a:lnTo>
                    <a:pt x="258105" y="260784"/>
                  </a:lnTo>
                  <a:lnTo>
                    <a:pt x="283005" y="200820"/>
                  </a:lnTo>
                  <a:lnTo>
                    <a:pt x="286207" y="167935"/>
                  </a:lnTo>
                  <a:lnTo>
                    <a:pt x="283005" y="134844"/>
                  </a:lnTo>
                  <a:lnTo>
                    <a:pt x="273559" y="103541"/>
                  </a:lnTo>
                  <a:lnTo>
                    <a:pt x="258105" y="74736"/>
                  </a:lnTo>
                  <a:lnTo>
                    <a:pt x="236880" y="49139"/>
                  </a:lnTo>
                  <a:lnTo>
                    <a:pt x="232337" y="45672"/>
                  </a:lnTo>
                  <a:close/>
                </a:path>
                <a:path w="286384" h="335914">
                  <a:moveTo>
                    <a:pt x="118306" y="0"/>
                  </a:moveTo>
                  <a:lnTo>
                    <a:pt x="75815" y="5459"/>
                  </a:lnTo>
                  <a:lnTo>
                    <a:pt x="35623" y="21839"/>
                  </a:lnTo>
                  <a:lnTo>
                    <a:pt x="0" y="49139"/>
                  </a:lnTo>
                  <a:lnTo>
                    <a:pt x="32042" y="81181"/>
                  </a:lnTo>
                  <a:lnTo>
                    <a:pt x="72409" y="54499"/>
                  </a:lnTo>
                  <a:lnTo>
                    <a:pt x="118446" y="45672"/>
                  </a:lnTo>
                  <a:lnTo>
                    <a:pt x="232337" y="45672"/>
                  </a:lnTo>
                  <a:lnTo>
                    <a:pt x="201109" y="21839"/>
                  </a:lnTo>
                  <a:lnTo>
                    <a:pt x="160828" y="5459"/>
                  </a:lnTo>
                  <a:lnTo>
                    <a:pt x="118306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2">
              <a:extLst>
                <a:ext uri="{FF2B5EF4-FFF2-40B4-BE49-F238E27FC236}">
                  <a16:creationId xmlns:a16="http://schemas.microsoft.com/office/drawing/2014/main" id="{1968897E-41E3-6B0B-DC20-D28864BBBF8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2558" y="3222006"/>
              <a:ext cx="183235" cy="183235"/>
            </a:xfrm>
            <a:prstGeom prst="rect">
              <a:avLst/>
            </a:prstGeom>
          </p:spPr>
        </p:pic>
      </p:grpSp>
      <p:grpSp>
        <p:nvGrpSpPr>
          <p:cNvPr id="29" name="object 24">
            <a:extLst>
              <a:ext uri="{FF2B5EF4-FFF2-40B4-BE49-F238E27FC236}">
                <a16:creationId xmlns:a16="http://schemas.microsoft.com/office/drawing/2014/main" id="{4BC07E12-DAC0-9FC4-00FB-AE826ECF104C}"/>
              </a:ext>
            </a:extLst>
          </p:cNvPr>
          <p:cNvGrpSpPr/>
          <p:nvPr/>
        </p:nvGrpSpPr>
        <p:grpSpPr>
          <a:xfrm>
            <a:off x="731901" y="4237799"/>
            <a:ext cx="1036319" cy="1036319"/>
            <a:chOff x="428040" y="4059368"/>
            <a:chExt cx="1036319" cy="1036319"/>
          </a:xfrm>
        </p:grpSpPr>
        <p:sp>
          <p:nvSpPr>
            <p:cNvPr id="30" name="object 25">
              <a:extLst>
                <a:ext uri="{FF2B5EF4-FFF2-40B4-BE49-F238E27FC236}">
                  <a16:creationId xmlns:a16="http://schemas.microsoft.com/office/drawing/2014/main" id="{B382082D-7405-E368-44E2-772AF107FD11}"/>
                </a:ext>
              </a:extLst>
            </p:cNvPr>
            <p:cNvSpPr/>
            <p:nvPr/>
          </p:nvSpPr>
          <p:spPr>
            <a:xfrm>
              <a:off x="428040" y="4059367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1035723" y="518033"/>
                  </a:moveTo>
                  <a:lnTo>
                    <a:pt x="1033602" y="470877"/>
                  </a:lnTo>
                  <a:lnTo>
                    <a:pt x="1027379" y="424903"/>
                  </a:lnTo>
                  <a:lnTo>
                    <a:pt x="1017219" y="380288"/>
                  </a:lnTo>
                  <a:lnTo>
                    <a:pt x="1003325" y="337248"/>
                  </a:lnTo>
                  <a:lnTo>
                    <a:pt x="985862" y="295935"/>
                  </a:lnTo>
                  <a:lnTo>
                    <a:pt x="965022" y="256540"/>
                  </a:lnTo>
                  <a:lnTo>
                    <a:pt x="940993" y="219240"/>
                  </a:lnTo>
                  <a:lnTo>
                    <a:pt x="913942" y="184238"/>
                  </a:lnTo>
                  <a:lnTo>
                    <a:pt x="884072" y="151701"/>
                  </a:lnTo>
                  <a:lnTo>
                    <a:pt x="851547" y="121805"/>
                  </a:lnTo>
                  <a:lnTo>
                    <a:pt x="816559" y="94754"/>
                  </a:lnTo>
                  <a:lnTo>
                    <a:pt x="779284" y="70713"/>
                  </a:lnTo>
                  <a:lnTo>
                    <a:pt x="739927" y="49872"/>
                  </a:lnTo>
                  <a:lnTo>
                    <a:pt x="698639" y="32410"/>
                  </a:lnTo>
                  <a:lnTo>
                    <a:pt x="655624" y="18503"/>
                  </a:lnTo>
                  <a:lnTo>
                    <a:pt x="611060" y="8343"/>
                  </a:lnTo>
                  <a:lnTo>
                    <a:pt x="565137" y="2120"/>
                  </a:lnTo>
                  <a:lnTo>
                    <a:pt x="518033" y="0"/>
                  </a:lnTo>
                  <a:lnTo>
                    <a:pt x="470865" y="2120"/>
                  </a:lnTo>
                  <a:lnTo>
                    <a:pt x="424891" y="8343"/>
                  </a:lnTo>
                  <a:lnTo>
                    <a:pt x="380276" y="18503"/>
                  </a:lnTo>
                  <a:lnTo>
                    <a:pt x="337235" y="32410"/>
                  </a:lnTo>
                  <a:lnTo>
                    <a:pt x="295922" y="49872"/>
                  </a:lnTo>
                  <a:lnTo>
                    <a:pt x="256527" y="70713"/>
                  </a:lnTo>
                  <a:lnTo>
                    <a:pt x="219227" y="94754"/>
                  </a:lnTo>
                  <a:lnTo>
                    <a:pt x="184226" y="121805"/>
                  </a:lnTo>
                  <a:lnTo>
                    <a:pt x="151688" y="151701"/>
                  </a:lnTo>
                  <a:lnTo>
                    <a:pt x="121793" y="184238"/>
                  </a:lnTo>
                  <a:lnTo>
                    <a:pt x="94742" y="219240"/>
                  </a:lnTo>
                  <a:lnTo>
                    <a:pt x="70700" y="256540"/>
                  </a:lnTo>
                  <a:lnTo>
                    <a:pt x="49860" y="295935"/>
                  </a:lnTo>
                  <a:lnTo>
                    <a:pt x="32397" y="337248"/>
                  </a:lnTo>
                  <a:lnTo>
                    <a:pt x="18491" y="380288"/>
                  </a:lnTo>
                  <a:lnTo>
                    <a:pt x="8331" y="424903"/>
                  </a:lnTo>
                  <a:lnTo>
                    <a:pt x="2108" y="470877"/>
                  </a:lnTo>
                  <a:lnTo>
                    <a:pt x="0" y="518033"/>
                  </a:lnTo>
                  <a:lnTo>
                    <a:pt x="2108" y="565150"/>
                  </a:lnTo>
                  <a:lnTo>
                    <a:pt x="8331" y="611073"/>
                  </a:lnTo>
                  <a:lnTo>
                    <a:pt x="18491" y="655637"/>
                  </a:lnTo>
                  <a:lnTo>
                    <a:pt x="32397" y="698652"/>
                  </a:lnTo>
                  <a:lnTo>
                    <a:pt x="49860" y="739927"/>
                  </a:lnTo>
                  <a:lnTo>
                    <a:pt x="70700" y="779297"/>
                  </a:lnTo>
                  <a:lnTo>
                    <a:pt x="94742" y="816559"/>
                  </a:lnTo>
                  <a:lnTo>
                    <a:pt x="121793" y="851547"/>
                  </a:lnTo>
                  <a:lnTo>
                    <a:pt x="151688" y="884072"/>
                  </a:lnTo>
                  <a:lnTo>
                    <a:pt x="184226" y="913942"/>
                  </a:lnTo>
                  <a:lnTo>
                    <a:pt x="219227" y="940993"/>
                  </a:lnTo>
                  <a:lnTo>
                    <a:pt x="256527" y="965022"/>
                  </a:lnTo>
                  <a:lnTo>
                    <a:pt x="295922" y="985862"/>
                  </a:lnTo>
                  <a:lnTo>
                    <a:pt x="337235" y="1003325"/>
                  </a:lnTo>
                  <a:lnTo>
                    <a:pt x="380276" y="1017219"/>
                  </a:lnTo>
                  <a:lnTo>
                    <a:pt x="424891" y="1027379"/>
                  </a:lnTo>
                  <a:lnTo>
                    <a:pt x="470865" y="1033602"/>
                  </a:lnTo>
                  <a:lnTo>
                    <a:pt x="518033" y="1035710"/>
                  </a:lnTo>
                  <a:lnTo>
                    <a:pt x="565137" y="1033602"/>
                  </a:lnTo>
                  <a:lnTo>
                    <a:pt x="611060" y="1027379"/>
                  </a:lnTo>
                  <a:lnTo>
                    <a:pt x="655624" y="1017219"/>
                  </a:lnTo>
                  <a:lnTo>
                    <a:pt x="698639" y="1003325"/>
                  </a:lnTo>
                  <a:lnTo>
                    <a:pt x="739927" y="985862"/>
                  </a:lnTo>
                  <a:lnTo>
                    <a:pt x="779284" y="965022"/>
                  </a:lnTo>
                  <a:lnTo>
                    <a:pt x="816559" y="940993"/>
                  </a:lnTo>
                  <a:lnTo>
                    <a:pt x="851547" y="913942"/>
                  </a:lnTo>
                  <a:lnTo>
                    <a:pt x="884072" y="884072"/>
                  </a:lnTo>
                  <a:lnTo>
                    <a:pt x="913942" y="851547"/>
                  </a:lnTo>
                  <a:lnTo>
                    <a:pt x="940993" y="816559"/>
                  </a:lnTo>
                  <a:lnTo>
                    <a:pt x="965022" y="779297"/>
                  </a:lnTo>
                  <a:lnTo>
                    <a:pt x="985862" y="739927"/>
                  </a:lnTo>
                  <a:lnTo>
                    <a:pt x="1003325" y="698652"/>
                  </a:lnTo>
                  <a:lnTo>
                    <a:pt x="1017219" y="655637"/>
                  </a:lnTo>
                  <a:lnTo>
                    <a:pt x="1027379" y="611073"/>
                  </a:lnTo>
                  <a:lnTo>
                    <a:pt x="1033602" y="565150"/>
                  </a:lnTo>
                  <a:lnTo>
                    <a:pt x="1035723" y="51803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6">
              <a:extLst>
                <a:ext uri="{FF2B5EF4-FFF2-40B4-BE49-F238E27FC236}">
                  <a16:creationId xmlns:a16="http://schemas.microsoft.com/office/drawing/2014/main" id="{6887AD04-7A96-67B8-1993-C0C23AFA7551}"/>
                </a:ext>
              </a:extLst>
            </p:cNvPr>
            <p:cNvSpPr/>
            <p:nvPr/>
          </p:nvSpPr>
          <p:spPr>
            <a:xfrm>
              <a:off x="506514" y="4137841"/>
              <a:ext cx="880744" cy="880744"/>
            </a:xfrm>
            <a:custGeom>
              <a:avLst/>
              <a:gdLst/>
              <a:ahLst/>
              <a:cxnLst/>
              <a:rect l="l" t="t" r="r" b="b"/>
              <a:pathLst>
                <a:path w="880744" h="880745">
                  <a:moveTo>
                    <a:pt x="0" y="440283"/>
                  </a:moveTo>
                  <a:lnTo>
                    <a:pt x="2585" y="392337"/>
                  </a:lnTo>
                  <a:lnTo>
                    <a:pt x="10162" y="345880"/>
                  </a:lnTo>
                  <a:lnTo>
                    <a:pt x="22461" y="301181"/>
                  </a:lnTo>
                  <a:lnTo>
                    <a:pt x="39212" y="258509"/>
                  </a:lnTo>
                  <a:lnTo>
                    <a:pt x="60147" y="218135"/>
                  </a:lnTo>
                  <a:lnTo>
                    <a:pt x="84995" y="180326"/>
                  </a:lnTo>
                  <a:lnTo>
                    <a:pt x="113487" y="145354"/>
                  </a:lnTo>
                  <a:lnTo>
                    <a:pt x="145354" y="113487"/>
                  </a:lnTo>
                  <a:lnTo>
                    <a:pt x="180326" y="84995"/>
                  </a:lnTo>
                  <a:lnTo>
                    <a:pt x="218135" y="60147"/>
                  </a:lnTo>
                  <a:lnTo>
                    <a:pt x="258509" y="39212"/>
                  </a:lnTo>
                  <a:lnTo>
                    <a:pt x="301181" y="22461"/>
                  </a:lnTo>
                  <a:lnTo>
                    <a:pt x="345880" y="10162"/>
                  </a:lnTo>
                  <a:lnTo>
                    <a:pt x="392337" y="2585"/>
                  </a:lnTo>
                  <a:lnTo>
                    <a:pt x="440283" y="0"/>
                  </a:lnTo>
                  <a:lnTo>
                    <a:pt x="488224" y="2585"/>
                  </a:lnTo>
                  <a:lnTo>
                    <a:pt x="534669" y="10162"/>
                  </a:lnTo>
                  <a:lnTo>
                    <a:pt x="579348" y="22461"/>
                  </a:lnTo>
                  <a:lnTo>
                    <a:pt x="621995" y="39212"/>
                  </a:lnTo>
                  <a:lnTo>
                    <a:pt x="662339" y="60147"/>
                  </a:lnTo>
                  <a:lnTo>
                    <a:pt x="700115" y="84995"/>
                  </a:lnTo>
                  <a:lnTo>
                    <a:pt x="735052" y="113487"/>
                  </a:lnTo>
                  <a:lnTo>
                    <a:pt x="766884" y="145354"/>
                  </a:lnTo>
                  <a:lnTo>
                    <a:pt x="795341" y="180326"/>
                  </a:lnTo>
                  <a:lnTo>
                    <a:pt x="820156" y="218135"/>
                  </a:lnTo>
                  <a:lnTo>
                    <a:pt x="841061" y="258509"/>
                  </a:lnTo>
                  <a:lnTo>
                    <a:pt x="857787" y="301181"/>
                  </a:lnTo>
                  <a:lnTo>
                    <a:pt x="870066" y="345880"/>
                  </a:lnTo>
                  <a:lnTo>
                    <a:pt x="877630" y="392337"/>
                  </a:lnTo>
                  <a:lnTo>
                    <a:pt x="880211" y="440283"/>
                  </a:lnTo>
                  <a:lnTo>
                    <a:pt x="877630" y="488224"/>
                  </a:lnTo>
                  <a:lnTo>
                    <a:pt x="870066" y="534668"/>
                  </a:lnTo>
                  <a:lnTo>
                    <a:pt x="857787" y="579347"/>
                  </a:lnTo>
                  <a:lnTo>
                    <a:pt x="841061" y="621992"/>
                  </a:lnTo>
                  <a:lnTo>
                    <a:pt x="820156" y="662336"/>
                  </a:lnTo>
                  <a:lnTo>
                    <a:pt x="795341" y="700110"/>
                  </a:lnTo>
                  <a:lnTo>
                    <a:pt x="766884" y="735046"/>
                  </a:lnTo>
                  <a:lnTo>
                    <a:pt x="735052" y="766877"/>
                  </a:lnTo>
                  <a:lnTo>
                    <a:pt x="700115" y="795333"/>
                  </a:lnTo>
                  <a:lnTo>
                    <a:pt x="662339" y="820147"/>
                  </a:lnTo>
                  <a:lnTo>
                    <a:pt x="621995" y="841050"/>
                  </a:lnTo>
                  <a:lnTo>
                    <a:pt x="579348" y="857775"/>
                  </a:lnTo>
                  <a:lnTo>
                    <a:pt x="534669" y="870054"/>
                  </a:lnTo>
                  <a:lnTo>
                    <a:pt x="488224" y="877618"/>
                  </a:lnTo>
                  <a:lnTo>
                    <a:pt x="440283" y="880198"/>
                  </a:lnTo>
                  <a:lnTo>
                    <a:pt x="392337" y="877618"/>
                  </a:lnTo>
                  <a:lnTo>
                    <a:pt x="345880" y="870054"/>
                  </a:lnTo>
                  <a:lnTo>
                    <a:pt x="301181" y="857775"/>
                  </a:lnTo>
                  <a:lnTo>
                    <a:pt x="258509" y="841050"/>
                  </a:lnTo>
                  <a:lnTo>
                    <a:pt x="218135" y="820147"/>
                  </a:lnTo>
                  <a:lnTo>
                    <a:pt x="180326" y="795333"/>
                  </a:lnTo>
                  <a:lnTo>
                    <a:pt x="145354" y="766877"/>
                  </a:lnTo>
                  <a:lnTo>
                    <a:pt x="113487" y="735046"/>
                  </a:lnTo>
                  <a:lnTo>
                    <a:pt x="84995" y="700110"/>
                  </a:lnTo>
                  <a:lnTo>
                    <a:pt x="60147" y="662336"/>
                  </a:lnTo>
                  <a:lnTo>
                    <a:pt x="39212" y="621992"/>
                  </a:lnTo>
                  <a:lnTo>
                    <a:pt x="22461" y="579347"/>
                  </a:lnTo>
                  <a:lnTo>
                    <a:pt x="10162" y="534668"/>
                  </a:lnTo>
                  <a:lnTo>
                    <a:pt x="2585" y="488224"/>
                  </a:lnTo>
                  <a:lnTo>
                    <a:pt x="0" y="440283"/>
                  </a:lnTo>
                  <a:close/>
                </a:path>
              </a:pathLst>
            </a:custGeom>
            <a:ln w="28439">
              <a:solidFill>
                <a:srgbClr val="0077D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7">
              <a:extLst>
                <a:ext uri="{FF2B5EF4-FFF2-40B4-BE49-F238E27FC236}">
                  <a16:creationId xmlns:a16="http://schemas.microsoft.com/office/drawing/2014/main" id="{7992E5A2-5087-7A5C-785C-EC5663C4E3B7}"/>
                </a:ext>
              </a:extLst>
            </p:cNvPr>
            <p:cNvSpPr/>
            <p:nvPr/>
          </p:nvSpPr>
          <p:spPr>
            <a:xfrm>
              <a:off x="719277" y="4350604"/>
              <a:ext cx="453390" cy="453390"/>
            </a:xfrm>
            <a:custGeom>
              <a:avLst/>
              <a:gdLst/>
              <a:ahLst/>
              <a:cxnLst/>
              <a:rect l="l" t="t" r="r" b="b"/>
              <a:pathLst>
                <a:path w="453390" h="453389">
                  <a:moveTo>
                    <a:pt x="453237" y="0"/>
                  </a:moveTo>
                  <a:lnTo>
                    <a:pt x="0" y="0"/>
                  </a:lnTo>
                  <a:lnTo>
                    <a:pt x="0" y="453237"/>
                  </a:lnTo>
                  <a:lnTo>
                    <a:pt x="453237" y="453237"/>
                  </a:lnTo>
                  <a:lnTo>
                    <a:pt x="453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F94ADF0A-EEFF-C270-9904-0C15C4988D07}"/>
                </a:ext>
              </a:extLst>
            </p:cNvPr>
            <p:cNvSpPr/>
            <p:nvPr/>
          </p:nvSpPr>
          <p:spPr>
            <a:xfrm>
              <a:off x="748080" y="4662008"/>
              <a:ext cx="170180" cy="42545"/>
            </a:xfrm>
            <a:custGeom>
              <a:avLst/>
              <a:gdLst/>
              <a:ahLst/>
              <a:cxnLst/>
              <a:rect l="l" t="t" r="r" b="b"/>
              <a:pathLst>
                <a:path w="170180" h="42545">
                  <a:moveTo>
                    <a:pt x="169557" y="0"/>
                  </a:moveTo>
                  <a:lnTo>
                    <a:pt x="0" y="0"/>
                  </a:lnTo>
                  <a:lnTo>
                    <a:pt x="0" y="42468"/>
                  </a:lnTo>
                  <a:lnTo>
                    <a:pt x="169557" y="42468"/>
                  </a:lnTo>
                  <a:lnTo>
                    <a:pt x="169557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3AB76ED1-F147-7E63-5A64-FC81450D3F5A}"/>
                </a:ext>
              </a:extLst>
            </p:cNvPr>
            <p:cNvSpPr/>
            <p:nvPr/>
          </p:nvSpPr>
          <p:spPr>
            <a:xfrm>
              <a:off x="748080" y="4733280"/>
              <a:ext cx="85090" cy="42545"/>
            </a:xfrm>
            <a:custGeom>
              <a:avLst/>
              <a:gdLst/>
              <a:ahLst/>
              <a:cxnLst/>
              <a:rect l="l" t="t" r="r" b="b"/>
              <a:pathLst>
                <a:path w="85090" h="42545">
                  <a:moveTo>
                    <a:pt x="84594" y="0"/>
                  </a:moveTo>
                  <a:lnTo>
                    <a:pt x="0" y="0"/>
                  </a:lnTo>
                  <a:lnTo>
                    <a:pt x="0" y="42481"/>
                  </a:lnTo>
                  <a:lnTo>
                    <a:pt x="84594" y="42481"/>
                  </a:lnTo>
                  <a:lnTo>
                    <a:pt x="84594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0">
              <a:extLst>
                <a:ext uri="{FF2B5EF4-FFF2-40B4-BE49-F238E27FC236}">
                  <a16:creationId xmlns:a16="http://schemas.microsoft.com/office/drawing/2014/main" id="{A7C77DC4-CD27-8CA3-4AFF-5981BE476F3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641" y="4393086"/>
              <a:ext cx="313194" cy="311391"/>
            </a:xfrm>
            <a:prstGeom prst="rect">
              <a:avLst/>
            </a:prstGeom>
          </p:spPr>
        </p:pic>
      </p:grpSp>
      <p:sp>
        <p:nvSpPr>
          <p:cNvPr id="36" name="object 32">
            <a:extLst>
              <a:ext uri="{FF2B5EF4-FFF2-40B4-BE49-F238E27FC236}">
                <a16:creationId xmlns:a16="http://schemas.microsoft.com/office/drawing/2014/main" id="{F69745B3-AD4F-3D36-8573-D21EB46EBAE4}"/>
              </a:ext>
            </a:extLst>
          </p:cNvPr>
          <p:cNvSpPr txBox="1"/>
          <p:nvPr/>
        </p:nvSpPr>
        <p:spPr>
          <a:xfrm>
            <a:off x="2102320" y="2026220"/>
            <a:ext cx="7922259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Create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route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table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Segoe UI"/>
                <a:cs typeface="Segoe UI"/>
              </a:rPr>
              <a:t>Add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route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Segoe UI"/>
                <a:cs typeface="Segoe UI"/>
              </a:rPr>
              <a:t>Associate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route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table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subnet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Segoe UI"/>
                <a:cs typeface="Segoe UI"/>
              </a:rPr>
              <a:t>Use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PowerShell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8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view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your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routing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information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(optional)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37" name="object 33">
            <a:extLst>
              <a:ext uri="{FF2B5EF4-FFF2-40B4-BE49-F238E27FC236}">
                <a16:creationId xmlns:a16="http://schemas.microsoft.com/office/drawing/2014/main" id="{B08913BA-9444-28A5-766A-B21385806B20}"/>
              </a:ext>
            </a:extLst>
          </p:cNvPr>
          <p:cNvGrpSpPr/>
          <p:nvPr/>
        </p:nvGrpSpPr>
        <p:grpSpPr>
          <a:xfrm>
            <a:off x="731901" y="5505716"/>
            <a:ext cx="1036319" cy="1036319"/>
            <a:chOff x="428040" y="5327285"/>
            <a:chExt cx="1036319" cy="1036319"/>
          </a:xfrm>
        </p:grpSpPr>
        <p:sp>
          <p:nvSpPr>
            <p:cNvPr id="38" name="object 34">
              <a:extLst>
                <a:ext uri="{FF2B5EF4-FFF2-40B4-BE49-F238E27FC236}">
                  <a16:creationId xmlns:a16="http://schemas.microsoft.com/office/drawing/2014/main" id="{880C51A8-64F0-A15F-295C-6D0F48E2F404}"/>
                </a:ext>
              </a:extLst>
            </p:cNvPr>
            <p:cNvSpPr/>
            <p:nvPr/>
          </p:nvSpPr>
          <p:spPr>
            <a:xfrm>
              <a:off x="428040" y="5327285"/>
              <a:ext cx="1036319" cy="1036319"/>
            </a:xfrm>
            <a:custGeom>
              <a:avLst/>
              <a:gdLst/>
              <a:ahLst/>
              <a:cxnLst/>
              <a:rect l="l" t="t" r="r" b="b"/>
              <a:pathLst>
                <a:path w="1036319" h="1036320">
                  <a:moveTo>
                    <a:pt x="1035723" y="518033"/>
                  </a:moveTo>
                  <a:lnTo>
                    <a:pt x="1033602" y="470877"/>
                  </a:lnTo>
                  <a:lnTo>
                    <a:pt x="1027379" y="424903"/>
                  </a:lnTo>
                  <a:lnTo>
                    <a:pt x="1017219" y="380288"/>
                  </a:lnTo>
                  <a:lnTo>
                    <a:pt x="1003325" y="337248"/>
                  </a:lnTo>
                  <a:lnTo>
                    <a:pt x="985862" y="295935"/>
                  </a:lnTo>
                  <a:lnTo>
                    <a:pt x="965022" y="256540"/>
                  </a:lnTo>
                  <a:lnTo>
                    <a:pt x="940993" y="219240"/>
                  </a:lnTo>
                  <a:lnTo>
                    <a:pt x="913942" y="184238"/>
                  </a:lnTo>
                  <a:lnTo>
                    <a:pt x="884072" y="151701"/>
                  </a:lnTo>
                  <a:lnTo>
                    <a:pt x="851547" y="121805"/>
                  </a:lnTo>
                  <a:lnTo>
                    <a:pt x="816559" y="94754"/>
                  </a:lnTo>
                  <a:lnTo>
                    <a:pt x="779284" y="70713"/>
                  </a:lnTo>
                  <a:lnTo>
                    <a:pt x="739927" y="49872"/>
                  </a:lnTo>
                  <a:lnTo>
                    <a:pt x="698639" y="32410"/>
                  </a:lnTo>
                  <a:lnTo>
                    <a:pt x="655624" y="18503"/>
                  </a:lnTo>
                  <a:lnTo>
                    <a:pt x="611060" y="8343"/>
                  </a:lnTo>
                  <a:lnTo>
                    <a:pt x="565137" y="2120"/>
                  </a:lnTo>
                  <a:lnTo>
                    <a:pt x="518033" y="0"/>
                  </a:lnTo>
                  <a:lnTo>
                    <a:pt x="470865" y="2120"/>
                  </a:lnTo>
                  <a:lnTo>
                    <a:pt x="424891" y="8343"/>
                  </a:lnTo>
                  <a:lnTo>
                    <a:pt x="380276" y="18503"/>
                  </a:lnTo>
                  <a:lnTo>
                    <a:pt x="337235" y="32410"/>
                  </a:lnTo>
                  <a:lnTo>
                    <a:pt x="295922" y="49872"/>
                  </a:lnTo>
                  <a:lnTo>
                    <a:pt x="256527" y="70713"/>
                  </a:lnTo>
                  <a:lnTo>
                    <a:pt x="219227" y="94754"/>
                  </a:lnTo>
                  <a:lnTo>
                    <a:pt x="184226" y="121805"/>
                  </a:lnTo>
                  <a:lnTo>
                    <a:pt x="151688" y="151701"/>
                  </a:lnTo>
                  <a:lnTo>
                    <a:pt x="121793" y="184238"/>
                  </a:lnTo>
                  <a:lnTo>
                    <a:pt x="94742" y="219240"/>
                  </a:lnTo>
                  <a:lnTo>
                    <a:pt x="70700" y="256540"/>
                  </a:lnTo>
                  <a:lnTo>
                    <a:pt x="49860" y="295935"/>
                  </a:lnTo>
                  <a:lnTo>
                    <a:pt x="32397" y="337248"/>
                  </a:lnTo>
                  <a:lnTo>
                    <a:pt x="18491" y="380288"/>
                  </a:lnTo>
                  <a:lnTo>
                    <a:pt x="8331" y="424903"/>
                  </a:lnTo>
                  <a:lnTo>
                    <a:pt x="2108" y="470877"/>
                  </a:lnTo>
                  <a:lnTo>
                    <a:pt x="0" y="518033"/>
                  </a:lnTo>
                  <a:lnTo>
                    <a:pt x="2108" y="565150"/>
                  </a:lnTo>
                  <a:lnTo>
                    <a:pt x="8331" y="611073"/>
                  </a:lnTo>
                  <a:lnTo>
                    <a:pt x="18491" y="655637"/>
                  </a:lnTo>
                  <a:lnTo>
                    <a:pt x="32397" y="698652"/>
                  </a:lnTo>
                  <a:lnTo>
                    <a:pt x="49860" y="739940"/>
                  </a:lnTo>
                  <a:lnTo>
                    <a:pt x="70700" y="779297"/>
                  </a:lnTo>
                  <a:lnTo>
                    <a:pt x="94742" y="816571"/>
                  </a:lnTo>
                  <a:lnTo>
                    <a:pt x="121793" y="851560"/>
                  </a:lnTo>
                  <a:lnTo>
                    <a:pt x="151688" y="884085"/>
                  </a:lnTo>
                  <a:lnTo>
                    <a:pt x="184226" y="913955"/>
                  </a:lnTo>
                  <a:lnTo>
                    <a:pt x="219227" y="941006"/>
                  </a:lnTo>
                  <a:lnTo>
                    <a:pt x="256527" y="965034"/>
                  </a:lnTo>
                  <a:lnTo>
                    <a:pt x="295922" y="985875"/>
                  </a:lnTo>
                  <a:lnTo>
                    <a:pt x="337235" y="1003338"/>
                  </a:lnTo>
                  <a:lnTo>
                    <a:pt x="380276" y="1017231"/>
                  </a:lnTo>
                  <a:lnTo>
                    <a:pt x="424891" y="1027391"/>
                  </a:lnTo>
                  <a:lnTo>
                    <a:pt x="470865" y="1033614"/>
                  </a:lnTo>
                  <a:lnTo>
                    <a:pt x="518033" y="1035723"/>
                  </a:lnTo>
                  <a:lnTo>
                    <a:pt x="565137" y="1033614"/>
                  </a:lnTo>
                  <a:lnTo>
                    <a:pt x="611060" y="1027391"/>
                  </a:lnTo>
                  <a:lnTo>
                    <a:pt x="655624" y="1017231"/>
                  </a:lnTo>
                  <a:lnTo>
                    <a:pt x="698639" y="1003338"/>
                  </a:lnTo>
                  <a:lnTo>
                    <a:pt x="739927" y="985875"/>
                  </a:lnTo>
                  <a:lnTo>
                    <a:pt x="779284" y="965034"/>
                  </a:lnTo>
                  <a:lnTo>
                    <a:pt x="816559" y="941006"/>
                  </a:lnTo>
                  <a:lnTo>
                    <a:pt x="851547" y="913955"/>
                  </a:lnTo>
                  <a:lnTo>
                    <a:pt x="884072" y="884085"/>
                  </a:lnTo>
                  <a:lnTo>
                    <a:pt x="913942" y="851560"/>
                  </a:lnTo>
                  <a:lnTo>
                    <a:pt x="940993" y="816571"/>
                  </a:lnTo>
                  <a:lnTo>
                    <a:pt x="965022" y="779297"/>
                  </a:lnTo>
                  <a:lnTo>
                    <a:pt x="985862" y="739940"/>
                  </a:lnTo>
                  <a:lnTo>
                    <a:pt x="1003325" y="698652"/>
                  </a:lnTo>
                  <a:lnTo>
                    <a:pt x="1017219" y="655637"/>
                  </a:lnTo>
                  <a:lnTo>
                    <a:pt x="1027379" y="611073"/>
                  </a:lnTo>
                  <a:lnTo>
                    <a:pt x="1033602" y="565150"/>
                  </a:lnTo>
                  <a:lnTo>
                    <a:pt x="1035723" y="51803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5">
              <a:extLst>
                <a:ext uri="{FF2B5EF4-FFF2-40B4-BE49-F238E27FC236}">
                  <a16:creationId xmlns:a16="http://schemas.microsoft.com/office/drawing/2014/main" id="{2224BD0B-C247-D150-A9DF-629F943958E7}"/>
                </a:ext>
              </a:extLst>
            </p:cNvPr>
            <p:cNvSpPr/>
            <p:nvPr/>
          </p:nvSpPr>
          <p:spPr>
            <a:xfrm>
              <a:off x="506514" y="5404323"/>
              <a:ext cx="880744" cy="882015"/>
            </a:xfrm>
            <a:custGeom>
              <a:avLst/>
              <a:gdLst/>
              <a:ahLst/>
              <a:cxnLst/>
              <a:rect l="l" t="t" r="r" b="b"/>
              <a:pathLst>
                <a:path w="880744" h="882014">
                  <a:moveTo>
                    <a:pt x="0" y="440994"/>
                  </a:moveTo>
                  <a:lnTo>
                    <a:pt x="2585" y="392915"/>
                  </a:lnTo>
                  <a:lnTo>
                    <a:pt x="10162" y="346343"/>
                  </a:lnTo>
                  <a:lnTo>
                    <a:pt x="22461" y="301545"/>
                  </a:lnTo>
                  <a:lnTo>
                    <a:pt x="39212" y="258790"/>
                  </a:lnTo>
                  <a:lnTo>
                    <a:pt x="60147" y="218345"/>
                  </a:lnTo>
                  <a:lnTo>
                    <a:pt x="84995" y="180480"/>
                  </a:lnTo>
                  <a:lnTo>
                    <a:pt x="113487" y="145462"/>
                  </a:lnTo>
                  <a:lnTo>
                    <a:pt x="145354" y="113559"/>
                  </a:lnTo>
                  <a:lnTo>
                    <a:pt x="180326" y="85040"/>
                  </a:lnTo>
                  <a:lnTo>
                    <a:pt x="218135" y="60173"/>
                  </a:lnTo>
                  <a:lnTo>
                    <a:pt x="258509" y="39226"/>
                  </a:lnTo>
                  <a:lnTo>
                    <a:pt x="301181" y="22467"/>
                  </a:lnTo>
                  <a:lnTo>
                    <a:pt x="345880" y="10164"/>
                  </a:lnTo>
                  <a:lnTo>
                    <a:pt x="392337" y="2585"/>
                  </a:lnTo>
                  <a:lnTo>
                    <a:pt x="440283" y="0"/>
                  </a:lnTo>
                  <a:lnTo>
                    <a:pt x="488224" y="2585"/>
                  </a:lnTo>
                  <a:lnTo>
                    <a:pt x="534669" y="10164"/>
                  </a:lnTo>
                  <a:lnTo>
                    <a:pt x="579348" y="22467"/>
                  </a:lnTo>
                  <a:lnTo>
                    <a:pt x="621995" y="39226"/>
                  </a:lnTo>
                  <a:lnTo>
                    <a:pt x="662339" y="60173"/>
                  </a:lnTo>
                  <a:lnTo>
                    <a:pt x="700115" y="85040"/>
                  </a:lnTo>
                  <a:lnTo>
                    <a:pt x="735052" y="113559"/>
                  </a:lnTo>
                  <a:lnTo>
                    <a:pt x="766884" y="145462"/>
                  </a:lnTo>
                  <a:lnTo>
                    <a:pt x="795341" y="180480"/>
                  </a:lnTo>
                  <a:lnTo>
                    <a:pt x="820156" y="218345"/>
                  </a:lnTo>
                  <a:lnTo>
                    <a:pt x="841061" y="258790"/>
                  </a:lnTo>
                  <a:lnTo>
                    <a:pt x="857787" y="301545"/>
                  </a:lnTo>
                  <a:lnTo>
                    <a:pt x="870066" y="346343"/>
                  </a:lnTo>
                  <a:lnTo>
                    <a:pt x="877630" y="392915"/>
                  </a:lnTo>
                  <a:lnTo>
                    <a:pt x="880211" y="440994"/>
                  </a:lnTo>
                  <a:lnTo>
                    <a:pt x="877630" y="489009"/>
                  </a:lnTo>
                  <a:lnTo>
                    <a:pt x="870066" y="535525"/>
                  </a:lnTo>
                  <a:lnTo>
                    <a:pt x="857787" y="580275"/>
                  </a:lnTo>
                  <a:lnTo>
                    <a:pt x="841061" y="622989"/>
                  </a:lnTo>
                  <a:lnTo>
                    <a:pt x="820156" y="663399"/>
                  </a:lnTo>
                  <a:lnTo>
                    <a:pt x="795341" y="701235"/>
                  </a:lnTo>
                  <a:lnTo>
                    <a:pt x="766884" y="736230"/>
                  </a:lnTo>
                  <a:lnTo>
                    <a:pt x="735052" y="768114"/>
                  </a:lnTo>
                  <a:lnTo>
                    <a:pt x="700115" y="796619"/>
                  </a:lnTo>
                  <a:lnTo>
                    <a:pt x="662339" y="821476"/>
                  </a:lnTo>
                  <a:lnTo>
                    <a:pt x="621995" y="842416"/>
                  </a:lnTo>
                  <a:lnTo>
                    <a:pt x="579348" y="859171"/>
                  </a:lnTo>
                  <a:lnTo>
                    <a:pt x="534669" y="871471"/>
                  </a:lnTo>
                  <a:lnTo>
                    <a:pt x="488224" y="879048"/>
                  </a:lnTo>
                  <a:lnTo>
                    <a:pt x="440283" y="881634"/>
                  </a:lnTo>
                  <a:lnTo>
                    <a:pt x="392337" y="879048"/>
                  </a:lnTo>
                  <a:lnTo>
                    <a:pt x="345880" y="871471"/>
                  </a:lnTo>
                  <a:lnTo>
                    <a:pt x="301181" y="859171"/>
                  </a:lnTo>
                  <a:lnTo>
                    <a:pt x="258509" y="842416"/>
                  </a:lnTo>
                  <a:lnTo>
                    <a:pt x="218135" y="821476"/>
                  </a:lnTo>
                  <a:lnTo>
                    <a:pt x="180326" y="796619"/>
                  </a:lnTo>
                  <a:lnTo>
                    <a:pt x="145354" y="768114"/>
                  </a:lnTo>
                  <a:lnTo>
                    <a:pt x="113487" y="736230"/>
                  </a:lnTo>
                  <a:lnTo>
                    <a:pt x="84995" y="701235"/>
                  </a:lnTo>
                  <a:lnTo>
                    <a:pt x="60147" y="663399"/>
                  </a:lnTo>
                  <a:lnTo>
                    <a:pt x="39212" y="622989"/>
                  </a:lnTo>
                  <a:lnTo>
                    <a:pt x="22461" y="580275"/>
                  </a:lnTo>
                  <a:lnTo>
                    <a:pt x="10162" y="535525"/>
                  </a:lnTo>
                  <a:lnTo>
                    <a:pt x="2585" y="489009"/>
                  </a:lnTo>
                  <a:lnTo>
                    <a:pt x="0" y="440994"/>
                  </a:lnTo>
                  <a:close/>
                </a:path>
              </a:pathLst>
            </a:custGeom>
            <a:ln w="28439">
              <a:solidFill>
                <a:srgbClr val="0077D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6">
              <a:extLst>
                <a:ext uri="{FF2B5EF4-FFF2-40B4-BE49-F238E27FC236}">
                  <a16:creationId xmlns:a16="http://schemas.microsoft.com/office/drawing/2014/main" id="{9BA49306-21ED-30CF-E7F1-37B5E3181EF4}"/>
                </a:ext>
              </a:extLst>
            </p:cNvPr>
            <p:cNvSpPr/>
            <p:nvPr/>
          </p:nvSpPr>
          <p:spPr>
            <a:xfrm>
              <a:off x="731519" y="5682605"/>
              <a:ext cx="444500" cy="41910"/>
            </a:xfrm>
            <a:custGeom>
              <a:avLst/>
              <a:gdLst/>
              <a:ahLst/>
              <a:cxnLst/>
              <a:rect l="l" t="t" r="r" b="b"/>
              <a:pathLst>
                <a:path w="444500" h="41910">
                  <a:moveTo>
                    <a:pt x="443877" y="0"/>
                  </a:moveTo>
                  <a:lnTo>
                    <a:pt x="0" y="0"/>
                  </a:lnTo>
                  <a:lnTo>
                    <a:pt x="0" y="41757"/>
                  </a:lnTo>
                  <a:lnTo>
                    <a:pt x="443877" y="41757"/>
                  </a:lnTo>
                  <a:lnTo>
                    <a:pt x="443877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7">
              <a:extLst>
                <a:ext uri="{FF2B5EF4-FFF2-40B4-BE49-F238E27FC236}">
                  <a16:creationId xmlns:a16="http://schemas.microsoft.com/office/drawing/2014/main" id="{EE425FFD-D59A-A0FF-CEE4-C0A5E41ABE90}"/>
                </a:ext>
              </a:extLst>
            </p:cNvPr>
            <p:cNvSpPr/>
            <p:nvPr/>
          </p:nvSpPr>
          <p:spPr>
            <a:xfrm>
              <a:off x="731519" y="5724363"/>
              <a:ext cx="444500" cy="292735"/>
            </a:xfrm>
            <a:custGeom>
              <a:avLst/>
              <a:gdLst/>
              <a:ahLst/>
              <a:cxnLst/>
              <a:rect l="l" t="t" r="r" b="b"/>
              <a:pathLst>
                <a:path w="444500" h="292735">
                  <a:moveTo>
                    <a:pt x="443877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443877" y="292315"/>
                  </a:lnTo>
                  <a:lnTo>
                    <a:pt x="4438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8">
              <a:extLst>
                <a:ext uri="{FF2B5EF4-FFF2-40B4-BE49-F238E27FC236}">
                  <a16:creationId xmlns:a16="http://schemas.microsoft.com/office/drawing/2014/main" id="{AA9B9AF3-2A3D-96C8-BE1C-ACF35AA591A0}"/>
                </a:ext>
              </a:extLst>
            </p:cNvPr>
            <p:cNvSpPr/>
            <p:nvPr/>
          </p:nvSpPr>
          <p:spPr>
            <a:xfrm>
              <a:off x="745566" y="5696639"/>
              <a:ext cx="55880" cy="14604"/>
            </a:xfrm>
            <a:custGeom>
              <a:avLst/>
              <a:gdLst/>
              <a:ahLst/>
              <a:cxnLst/>
              <a:rect l="l" t="t" r="r" b="b"/>
              <a:pathLst>
                <a:path w="55879" h="14604">
                  <a:moveTo>
                    <a:pt x="13677" y="3238"/>
                  </a:moveTo>
                  <a:lnTo>
                    <a:pt x="10795" y="0"/>
                  </a:lnTo>
                  <a:lnTo>
                    <a:pt x="2870" y="0"/>
                  </a:lnTo>
                  <a:lnTo>
                    <a:pt x="0" y="3238"/>
                  </a:lnTo>
                  <a:lnTo>
                    <a:pt x="0" y="10807"/>
                  </a:lnTo>
                  <a:lnTo>
                    <a:pt x="2870" y="14046"/>
                  </a:lnTo>
                  <a:lnTo>
                    <a:pt x="10795" y="14046"/>
                  </a:lnTo>
                  <a:lnTo>
                    <a:pt x="13677" y="10807"/>
                  </a:lnTo>
                  <a:lnTo>
                    <a:pt x="13677" y="6845"/>
                  </a:lnTo>
                  <a:lnTo>
                    <a:pt x="13677" y="3238"/>
                  </a:lnTo>
                  <a:close/>
                </a:path>
                <a:path w="55879" h="14604">
                  <a:moveTo>
                    <a:pt x="34556" y="3238"/>
                  </a:moveTo>
                  <a:lnTo>
                    <a:pt x="31673" y="0"/>
                  </a:lnTo>
                  <a:lnTo>
                    <a:pt x="23749" y="0"/>
                  </a:lnTo>
                  <a:lnTo>
                    <a:pt x="20878" y="3238"/>
                  </a:lnTo>
                  <a:lnTo>
                    <a:pt x="20878" y="10807"/>
                  </a:lnTo>
                  <a:lnTo>
                    <a:pt x="23749" y="14046"/>
                  </a:lnTo>
                  <a:lnTo>
                    <a:pt x="31673" y="14046"/>
                  </a:lnTo>
                  <a:lnTo>
                    <a:pt x="34556" y="10807"/>
                  </a:lnTo>
                  <a:lnTo>
                    <a:pt x="34556" y="6845"/>
                  </a:lnTo>
                  <a:lnTo>
                    <a:pt x="34556" y="3238"/>
                  </a:lnTo>
                  <a:close/>
                </a:path>
                <a:path w="55879" h="14604">
                  <a:moveTo>
                    <a:pt x="55435" y="3238"/>
                  </a:moveTo>
                  <a:lnTo>
                    <a:pt x="52552" y="0"/>
                  </a:lnTo>
                  <a:lnTo>
                    <a:pt x="44627" y="0"/>
                  </a:lnTo>
                  <a:lnTo>
                    <a:pt x="41757" y="3238"/>
                  </a:lnTo>
                  <a:lnTo>
                    <a:pt x="41757" y="10807"/>
                  </a:lnTo>
                  <a:lnTo>
                    <a:pt x="44627" y="14046"/>
                  </a:lnTo>
                  <a:lnTo>
                    <a:pt x="52552" y="14046"/>
                  </a:lnTo>
                  <a:lnTo>
                    <a:pt x="55435" y="10807"/>
                  </a:lnTo>
                  <a:lnTo>
                    <a:pt x="55435" y="6845"/>
                  </a:lnTo>
                  <a:lnTo>
                    <a:pt x="55435" y="3238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39">
              <a:extLst>
                <a:ext uri="{FF2B5EF4-FFF2-40B4-BE49-F238E27FC236}">
                  <a16:creationId xmlns:a16="http://schemas.microsoft.com/office/drawing/2014/main" id="{B1857AF8-6644-961E-8A0C-810A08E487A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8725" y="5821569"/>
              <a:ext cx="250913" cy="982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552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FC81-D62C-5156-AD9A-85165539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2C893722-F52B-7F73-770B-A116CF3EB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8A771607-2C3F-7676-A937-57F14EF1BF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C90453-74D9-0DE1-DF2D-745120047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8EF26-358F-6ABD-0FAE-3E59C3763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CE5AEE-545E-CBA8-B740-4F6408576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8AA87-EE55-E1A8-B88F-98EC4EBBB94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833BC-F00A-97C8-AE54-D6C0B27870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object 5">
            <a:extLst>
              <a:ext uri="{FF2B5EF4-FFF2-40B4-BE49-F238E27FC236}">
                <a16:creationId xmlns:a16="http://schemas.microsoft.com/office/drawing/2014/main" id="{BF617B4F-6530-A24B-A2B1-0B0BF9F8A66D}"/>
              </a:ext>
            </a:extLst>
          </p:cNvPr>
          <p:cNvGrpSpPr/>
          <p:nvPr/>
        </p:nvGrpSpPr>
        <p:grpSpPr>
          <a:xfrm>
            <a:off x="5992023" y="1289699"/>
            <a:ext cx="6337935" cy="5188585"/>
            <a:chOff x="5992023" y="1289699"/>
            <a:chExt cx="6337935" cy="5188585"/>
          </a:xfrm>
        </p:grpSpPr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9ADD6D2B-6661-DDB6-7AD8-EFB9B295C29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7564" y="1299251"/>
              <a:ext cx="5569915" cy="480649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A18EB53-34E1-EA00-1F25-F5E0032DC7C8}"/>
                </a:ext>
              </a:extLst>
            </p:cNvPr>
            <p:cNvSpPr/>
            <p:nvPr/>
          </p:nvSpPr>
          <p:spPr>
            <a:xfrm>
              <a:off x="6001562" y="1299239"/>
              <a:ext cx="6318885" cy="5169535"/>
            </a:xfrm>
            <a:custGeom>
              <a:avLst/>
              <a:gdLst/>
              <a:ahLst/>
              <a:cxnLst/>
              <a:rect l="l" t="t" r="r" b="b"/>
              <a:pathLst>
                <a:path w="6318884" h="5169535">
                  <a:moveTo>
                    <a:pt x="3159353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6318351" y="0"/>
                  </a:lnTo>
                  <a:lnTo>
                    <a:pt x="6318351" y="5169242"/>
                  </a:lnTo>
                  <a:lnTo>
                    <a:pt x="3159353" y="516924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18986167-7817-C4BA-4872-7FC4A8F38476}"/>
              </a:ext>
            </a:extLst>
          </p:cNvPr>
          <p:cNvSpPr txBox="1">
            <a:spLocks/>
          </p:cNvSpPr>
          <p:nvPr/>
        </p:nvSpPr>
        <p:spPr>
          <a:xfrm>
            <a:off x="2912731" y="558270"/>
            <a:ext cx="52133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55" dirty="0"/>
              <a:t>Determine</a:t>
            </a:r>
            <a:r>
              <a:rPr lang="en-IN" spc="-135" dirty="0"/>
              <a:t> </a:t>
            </a:r>
            <a:r>
              <a:rPr lang="en-IN" spc="-50" dirty="0"/>
              <a:t>Service</a:t>
            </a:r>
            <a:r>
              <a:rPr lang="en-IN" spc="-130" dirty="0"/>
              <a:t> </a:t>
            </a:r>
            <a:r>
              <a:rPr lang="en-IN" spc="-60" dirty="0"/>
              <a:t>Endpoint</a:t>
            </a:r>
            <a:r>
              <a:rPr lang="en-IN" spc="-130" dirty="0"/>
              <a:t> </a:t>
            </a:r>
            <a:r>
              <a:rPr lang="en-IN" spc="-20" dirty="0"/>
              <a:t>Uses</a:t>
            </a: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666AB0E7-DB5F-81C1-3BCD-E838F8CD966B}"/>
              </a:ext>
            </a:extLst>
          </p:cNvPr>
          <p:cNvSpPr txBox="1"/>
          <p:nvPr/>
        </p:nvSpPr>
        <p:spPr>
          <a:xfrm>
            <a:off x="576884" y="1473009"/>
            <a:ext cx="46716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Endpoints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limit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network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access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specific </a:t>
            </a:r>
            <a:r>
              <a:rPr sz="2000" dirty="0">
                <a:latin typeface="Segoe UI"/>
                <a:cs typeface="Segoe UI"/>
              </a:rPr>
              <a:t>services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-Adding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service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endpoints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can </a:t>
            </a:r>
            <a:r>
              <a:rPr sz="2000" dirty="0">
                <a:latin typeface="Segoe UI"/>
                <a:cs typeface="Segoe UI"/>
              </a:rPr>
              <a:t>take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up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15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minutes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10" dirty="0">
                <a:latin typeface="Segoe UI"/>
                <a:cs typeface="Segoe UI"/>
              </a:rPr>
              <a:t> complete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14" name="object 8">
            <a:extLst>
              <a:ext uri="{FF2B5EF4-FFF2-40B4-BE49-F238E27FC236}">
                <a16:creationId xmlns:a16="http://schemas.microsoft.com/office/drawing/2014/main" id="{AD8F6E56-B37D-5717-7449-9A8A7B69B48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3626" y="2584450"/>
            <a:ext cx="3276714" cy="355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05CF-47A8-A68B-3025-5B738E99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68A1873-33B8-1ECD-3B73-827193E5C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C6087AF9-BB83-4B7C-96DC-5F8188BE2A5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22E80D-3967-2093-52F9-FB24EF06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A74139-C429-78BA-4A14-A1E792B9E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5A47A8-DD51-C331-C4FA-D4C0EAA44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60B38-CF9C-5094-0849-2D8254E9E0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02758F-D992-6B68-38AC-1751039D243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7627D641-25EF-5E0B-A458-4198CC270EF7}"/>
              </a:ext>
            </a:extLst>
          </p:cNvPr>
          <p:cNvSpPr txBox="1"/>
          <p:nvPr/>
        </p:nvSpPr>
        <p:spPr>
          <a:xfrm>
            <a:off x="8261642" y="5043249"/>
            <a:ext cx="3749040" cy="131889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9530" rIns="0" bIns="0" rtlCol="0">
            <a:spAutoFit/>
          </a:bodyPr>
          <a:lstStyle/>
          <a:p>
            <a:pPr marL="241935" marR="236854" indent="-2540" algn="ctr">
              <a:lnSpc>
                <a:spcPct val="100000"/>
              </a:lnSpc>
              <a:spcBef>
                <a:spcPts val="390"/>
              </a:spcBef>
            </a:pPr>
            <a:r>
              <a:rPr sz="2000" dirty="0">
                <a:latin typeface="Segoe UI"/>
                <a:cs typeface="Segoe UI"/>
              </a:rPr>
              <a:t>In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event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security </a:t>
            </a:r>
            <a:r>
              <a:rPr sz="2000" dirty="0">
                <a:latin typeface="Segoe UI"/>
                <a:cs typeface="Segoe UI"/>
              </a:rPr>
              <a:t>incident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within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your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network, </a:t>
            </a:r>
            <a:r>
              <a:rPr sz="2000" dirty="0">
                <a:latin typeface="Segoe UI"/>
                <a:cs typeface="Segoe UI"/>
              </a:rPr>
              <a:t>only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mapped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resource </a:t>
            </a:r>
            <a:r>
              <a:rPr sz="2000" dirty="0">
                <a:latin typeface="Segoe UI"/>
                <a:cs typeface="Segoe UI"/>
              </a:rPr>
              <a:t>would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accessible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BCA9C9A3-330A-4384-74A0-4A5087EFD32A}"/>
              </a:ext>
            </a:extLst>
          </p:cNvPr>
          <p:cNvSpPr txBox="1">
            <a:spLocks/>
          </p:cNvSpPr>
          <p:nvPr/>
        </p:nvSpPr>
        <p:spPr>
          <a:xfrm>
            <a:off x="480341" y="600751"/>
            <a:ext cx="108223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spc="-65"/>
              <a:t>Identify</a:t>
            </a:r>
            <a:r>
              <a:rPr lang="en-IN" spc="-114"/>
              <a:t> </a:t>
            </a:r>
            <a:r>
              <a:rPr lang="en-IN" spc="-55"/>
              <a:t>Private</a:t>
            </a:r>
            <a:r>
              <a:rPr lang="en-IN" spc="-110"/>
              <a:t> </a:t>
            </a:r>
            <a:r>
              <a:rPr lang="en-IN" spc="-45"/>
              <a:t>Link</a:t>
            </a:r>
            <a:r>
              <a:rPr lang="en-IN" spc="-110"/>
              <a:t> </a:t>
            </a:r>
            <a:r>
              <a:rPr lang="en-IN" spc="-20"/>
              <a:t>Uses</a:t>
            </a:r>
            <a:endParaRPr lang="en-IN" spc="-20" dirty="0"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B4315510-4251-AA20-1B60-ADEEE4AA81E0}"/>
              </a:ext>
            </a:extLst>
          </p:cNvPr>
          <p:cNvGrpSpPr/>
          <p:nvPr/>
        </p:nvGrpSpPr>
        <p:grpSpPr>
          <a:xfrm>
            <a:off x="445706" y="1182777"/>
            <a:ext cx="11601450" cy="3694429"/>
            <a:chOff x="417421" y="1182777"/>
            <a:chExt cx="11601450" cy="3694429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D37E7F0C-F68F-ACB9-68FC-84F43FBB973C}"/>
                </a:ext>
              </a:extLst>
            </p:cNvPr>
            <p:cNvSpPr/>
            <p:nvPr/>
          </p:nvSpPr>
          <p:spPr>
            <a:xfrm>
              <a:off x="426961" y="1192317"/>
              <a:ext cx="11582400" cy="3675379"/>
            </a:xfrm>
            <a:custGeom>
              <a:avLst/>
              <a:gdLst/>
              <a:ahLst/>
              <a:cxnLst/>
              <a:rect l="l" t="t" r="r" b="b"/>
              <a:pathLst>
                <a:path w="11582400" h="3675379">
                  <a:moveTo>
                    <a:pt x="5790958" y="3674884"/>
                  </a:moveTo>
                  <a:lnTo>
                    <a:pt x="0" y="3674884"/>
                  </a:lnTo>
                  <a:lnTo>
                    <a:pt x="0" y="0"/>
                  </a:lnTo>
                  <a:lnTo>
                    <a:pt x="11581917" y="0"/>
                  </a:lnTo>
                  <a:lnTo>
                    <a:pt x="11581917" y="3674884"/>
                  </a:lnTo>
                  <a:lnTo>
                    <a:pt x="5790958" y="3674884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AD0DFB2A-BAC0-7892-ED99-F1BA316D679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4244" y="1310034"/>
              <a:ext cx="9747719" cy="3377194"/>
            </a:xfrm>
            <a:prstGeom prst="rect">
              <a:avLst/>
            </a:prstGeom>
          </p:spPr>
        </p:pic>
      </p:grpSp>
      <p:sp>
        <p:nvSpPr>
          <p:cNvPr id="14" name="object 6">
            <a:extLst>
              <a:ext uri="{FF2B5EF4-FFF2-40B4-BE49-F238E27FC236}">
                <a16:creationId xmlns:a16="http://schemas.microsoft.com/office/drawing/2014/main" id="{1E6E0E88-52DD-1A37-6FBC-45AC8671DB6B}"/>
              </a:ext>
            </a:extLst>
          </p:cNvPr>
          <p:cNvSpPr txBox="1"/>
          <p:nvPr/>
        </p:nvSpPr>
        <p:spPr>
          <a:xfrm>
            <a:off x="454890" y="5043249"/>
            <a:ext cx="3749040" cy="131889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9530" rIns="0" bIns="0" rtlCol="0">
            <a:spAutoFit/>
          </a:bodyPr>
          <a:lstStyle/>
          <a:p>
            <a:pPr marL="160655" marR="157480" algn="ctr">
              <a:lnSpc>
                <a:spcPct val="100000"/>
              </a:lnSpc>
              <a:spcBef>
                <a:spcPts val="390"/>
              </a:spcBef>
            </a:pPr>
            <a:r>
              <a:rPr sz="2000" dirty="0">
                <a:latin typeface="Segoe UI"/>
                <a:cs typeface="Segoe UI"/>
              </a:rPr>
              <a:t>Private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connectivity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services </a:t>
            </a:r>
            <a:r>
              <a:rPr sz="2000" dirty="0">
                <a:latin typeface="Segoe UI"/>
                <a:cs typeface="Segoe UI"/>
              </a:rPr>
              <a:t>on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Azure.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Traffic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remains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on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Microsoft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network,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with</a:t>
            </a:r>
            <a:r>
              <a:rPr sz="2000" spc="50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no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public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internet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access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B460CC33-1387-7628-7423-C8587AFB623D}"/>
              </a:ext>
            </a:extLst>
          </p:cNvPr>
          <p:cNvSpPr txBox="1"/>
          <p:nvPr/>
        </p:nvSpPr>
        <p:spPr>
          <a:xfrm>
            <a:off x="4372408" y="5043249"/>
            <a:ext cx="3749040" cy="131889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22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2000">
              <a:latin typeface="Times New Roman"/>
              <a:cs typeface="Times New Roman"/>
            </a:endParaRPr>
          </a:p>
          <a:p>
            <a:pPr marL="689610" marR="242570" indent="-442595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Integration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on-premises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peered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networks</a:t>
            </a:r>
            <a:endParaRPr sz="2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4122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73EC-42E8-81B3-24F6-E4794BD2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EC1085AB-15F3-C204-0A0D-CC6E21084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51BB6FD-ED9C-5282-414C-8EF51F571B9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3481E9-BC96-75B3-930C-94D9A303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6EDDE-7A62-6792-3656-049D85060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19E75-EE9D-A003-861F-A1BFCF915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7F481D-029A-5F4B-646F-49AC50872D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D87EDB-E2CD-DD10-749B-51604C5AC3D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42083BA6-3391-C47C-98F3-2C93AB0393D6}"/>
              </a:ext>
            </a:extLst>
          </p:cNvPr>
          <p:cNvSpPr txBox="1">
            <a:spLocks/>
          </p:cNvSpPr>
          <p:nvPr/>
        </p:nvSpPr>
        <p:spPr>
          <a:xfrm>
            <a:off x="3058631" y="2854960"/>
            <a:ext cx="6245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50" dirty="0"/>
              <a:t>Configure</a:t>
            </a:r>
            <a:r>
              <a:rPr lang="en-IN" sz="3600" spc="-204" dirty="0"/>
              <a:t> </a:t>
            </a:r>
            <a:r>
              <a:rPr lang="en-IN" sz="3600" spc="-40" dirty="0"/>
              <a:t>Azure</a:t>
            </a:r>
            <a:r>
              <a:rPr lang="en-IN" sz="3600" spc="-190" dirty="0"/>
              <a:t> </a:t>
            </a:r>
            <a:r>
              <a:rPr lang="en-IN" sz="3600" spc="-30" dirty="0"/>
              <a:t>Load</a:t>
            </a:r>
            <a:r>
              <a:rPr lang="en-IN" sz="3600" spc="-185" dirty="0"/>
              <a:t> </a:t>
            </a:r>
            <a:r>
              <a:rPr lang="en-IN" sz="3600" spc="-10" dirty="0"/>
              <a:t>Balancer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65866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082E-0A57-80BD-6BFC-ADC55186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C6C34E56-2163-DC7F-1AD7-F93575CE9F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657EFEBB-E3BA-72FB-73C7-502F765D96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971BB-9777-6C13-1980-C594E2F88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7F88FF-BFA0-7397-67CB-B7A7DBAF4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98CBBD-931E-A365-155F-B6358C4CF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C121D-711E-234E-DE43-77F470687B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5FDAAC-4979-2BA8-3462-FE7BB29B497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C174221-5B5E-AEF7-F5B7-B672E07F25A4}"/>
              </a:ext>
            </a:extLst>
          </p:cNvPr>
          <p:cNvSpPr txBox="1">
            <a:spLocks/>
          </p:cNvSpPr>
          <p:nvPr/>
        </p:nvSpPr>
        <p:spPr>
          <a:xfrm>
            <a:off x="160466" y="599669"/>
            <a:ext cx="108223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800" spc="-55" dirty="0"/>
              <a:t>Choose</a:t>
            </a:r>
            <a:r>
              <a:rPr lang="en-US" sz="3800" spc="-125" dirty="0"/>
              <a:t> </a:t>
            </a:r>
            <a:r>
              <a:rPr lang="en-US" sz="3800" dirty="0"/>
              <a:t>a</a:t>
            </a:r>
            <a:r>
              <a:rPr lang="en-US" sz="3800" spc="-114" dirty="0"/>
              <a:t> </a:t>
            </a:r>
            <a:r>
              <a:rPr lang="en-US" sz="3800" spc="-50" dirty="0"/>
              <a:t>Load</a:t>
            </a:r>
            <a:r>
              <a:rPr lang="en-US" sz="3800" spc="-130" dirty="0"/>
              <a:t> </a:t>
            </a:r>
            <a:r>
              <a:rPr lang="en-US" sz="3800" spc="-50" dirty="0"/>
              <a:t>Balancer</a:t>
            </a:r>
            <a:r>
              <a:rPr lang="en-US" sz="3800" spc="-120" dirty="0"/>
              <a:t> </a:t>
            </a:r>
            <a:r>
              <a:rPr lang="en-US" sz="3800" spc="-25" dirty="0"/>
              <a:t>Solution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29C4DCE3-D385-D9EF-9ED7-67702194FF1D}"/>
              </a:ext>
            </a:extLst>
          </p:cNvPr>
          <p:cNvGraphicFramePr>
            <a:graphicFrameLocks noGrp="1"/>
          </p:cNvGraphicFramePr>
          <p:nvPr/>
        </p:nvGraphicFramePr>
        <p:xfrm>
          <a:off x="574204" y="1347130"/>
          <a:ext cx="11205845" cy="490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Feature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Application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Gateway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Front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Door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Load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Balancer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Traffic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Manager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Usage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6680">
                        <a:lnSpc>
                          <a:spcPct val="1111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Optimize</a:t>
                      </a:r>
                      <a:r>
                        <a:rPr sz="1800" spc="-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delivery</a:t>
                      </a:r>
                      <a:r>
                        <a:rPr sz="1800" spc="-7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from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application</a:t>
                      </a:r>
                      <a:r>
                        <a:rPr sz="1800" spc="-114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server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farms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while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increasing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application</a:t>
                      </a:r>
                      <a:r>
                        <a:rPr sz="1800" spc="-114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security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with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web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application firewall.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7480">
                        <a:lnSpc>
                          <a:spcPct val="1111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Scalable,</a:t>
                      </a:r>
                      <a:r>
                        <a:rPr sz="1800" spc="-9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security-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enhanced</a:t>
                      </a:r>
                      <a:r>
                        <a:rPr sz="1800" spc="-7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delivery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point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global,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micro service-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based</a:t>
                      </a:r>
                      <a:r>
                        <a:rPr sz="1800" spc="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web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applications.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27000">
                        <a:lnSpc>
                          <a:spcPct val="1111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Balance</a:t>
                      </a:r>
                      <a:r>
                        <a:rPr sz="1800" spc="-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inbound</a:t>
                      </a:r>
                      <a:r>
                        <a:rPr sz="1800" spc="-5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and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outbound</a:t>
                      </a:r>
                      <a:r>
                        <a:rPr sz="18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connections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requests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your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applications</a:t>
                      </a:r>
                      <a:r>
                        <a:rPr sz="1800" spc="-6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800" spc="-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server endpoints.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56870">
                        <a:lnSpc>
                          <a:spcPct val="1111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Distribute</a:t>
                      </a:r>
                      <a:r>
                        <a:rPr sz="1800" spc="-10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traffic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optimally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services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across</a:t>
                      </a:r>
                      <a:r>
                        <a:rPr sz="18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global</a:t>
                      </a:r>
                      <a:r>
                        <a:rPr sz="1800" spc="-5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Azure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regions,</a:t>
                      </a:r>
                      <a:r>
                        <a:rPr sz="1800" spc="-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while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providing</a:t>
                      </a:r>
                      <a:r>
                        <a:rPr sz="1800" spc="-9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high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availability</a:t>
                      </a:r>
                      <a:r>
                        <a:rPr sz="1800" spc="-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and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responsiveness.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Protocols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HTTP,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HTTPS,</a:t>
                      </a:r>
                      <a:r>
                        <a:rPr sz="18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HTTP2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HTTP,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HTTPS,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HTTP2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TCP,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UDP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Any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Private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Yes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Yes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Global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Yes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Yes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Env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5435" marR="300990" indent="68580">
                        <a:lnSpc>
                          <a:spcPct val="1112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Azure,</a:t>
                      </a:r>
                      <a:r>
                        <a:rPr sz="18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non-Azure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cloud,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on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premises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4800" marR="299085" indent="69850">
                        <a:lnSpc>
                          <a:spcPct val="1112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Azure,</a:t>
                      </a:r>
                      <a:r>
                        <a:rPr sz="18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non-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Azure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cloud,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on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premises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Azure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06070" marR="299085" indent="69850">
                        <a:lnSpc>
                          <a:spcPct val="1112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Azure,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non-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Azure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cloud,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on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premises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Security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WAF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WAF,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NSG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NSG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89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025C-A411-33FF-91B3-AAF6EE69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359D887F-24E8-F152-457D-15F830DF37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1D271DCF-C783-DF9F-0910-1AC34883A05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870E97-0A6B-DF30-AF75-8CEE410E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939D59-72E8-890E-283B-498339E3D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E54E3-3B85-EF3B-B61B-FE464A548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DBCEB-5DE6-C8E2-8B20-9B43B51E9B9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A3AE31-6E99-1435-E0E2-57E4C348E1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B3479146-CAC4-5650-ADE9-A541ED833917}"/>
              </a:ext>
            </a:extLst>
          </p:cNvPr>
          <p:cNvSpPr txBox="1">
            <a:spLocks/>
          </p:cNvSpPr>
          <p:nvPr/>
        </p:nvSpPr>
        <p:spPr>
          <a:xfrm>
            <a:off x="160466" y="531973"/>
            <a:ext cx="108223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800" spc="-55" dirty="0"/>
              <a:t>Implement</a:t>
            </a:r>
            <a:r>
              <a:rPr lang="en-US" sz="3800" spc="-114" dirty="0"/>
              <a:t> </a:t>
            </a:r>
            <a:r>
              <a:rPr lang="en-US" sz="3800" dirty="0"/>
              <a:t>a</a:t>
            </a:r>
            <a:r>
              <a:rPr lang="en-US" sz="3800" spc="-114" dirty="0"/>
              <a:t> </a:t>
            </a:r>
            <a:r>
              <a:rPr lang="en-US" sz="3800" spc="-60" dirty="0"/>
              <a:t>Public</a:t>
            </a:r>
            <a:r>
              <a:rPr lang="en-US" sz="3800" spc="-114" dirty="0"/>
              <a:t> </a:t>
            </a:r>
            <a:r>
              <a:rPr lang="en-US" sz="3800" spc="-50" dirty="0"/>
              <a:t>Load</a:t>
            </a:r>
            <a:r>
              <a:rPr lang="en-US" sz="3800" spc="-120" dirty="0"/>
              <a:t> </a:t>
            </a:r>
            <a:r>
              <a:rPr lang="en-US" sz="3800" spc="-20" dirty="0"/>
              <a:t>Balancer</a:t>
            </a:r>
          </a:p>
        </p:txBody>
      </p:sp>
      <p:grpSp>
        <p:nvGrpSpPr>
          <p:cNvPr id="16" name="object 3">
            <a:extLst>
              <a:ext uri="{FF2B5EF4-FFF2-40B4-BE49-F238E27FC236}">
                <a16:creationId xmlns:a16="http://schemas.microsoft.com/office/drawing/2014/main" id="{39B248F8-BE8C-2132-0C2D-6D6303939064}"/>
              </a:ext>
            </a:extLst>
          </p:cNvPr>
          <p:cNvGrpSpPr/>
          <p:nvPr/>
        </p:nvGrpSpPr>
        <p:grpSpPr>
          <a:xfrm>
            <a:off x="417421" y="1182422"/>
            <a:ext cx="11601450" cy="4039235"/>
            <a:chOff x="417421" y="1182422"/>
            <a:chExt cx="11601450" cy="403923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63EEC62C-2FC1-56D2-AFF8-E930D051DC20}"/>
                </a:ext>
              </a:extLst>
            </p:cNvPr>
            <p:cNvSpPr/>
            <p:nvPr/>
          </p:nvSpPr>
          <p:spPr>
            <a:xfrm>
              <a:off x="426961" y="1191962"/>
              <a:ext cx="11582400" cy="4020185"/>
            </a:xfrm>
            <a:custGeom>
              <a:avLst/>
              <a:gdLst/>
              <a:ahLst/>
              <a:cxnLst/>
              <a:rect l="l" t="t" r="r" b="b"/>
              <a:pathLst>
                <a:path w="11582400" h="4020185">
                  <a:moveTo>
                    <a:pt x="5790958" y="4020121"/>
                  </a:moveTo>
                  <a:lnTo>
                    <a:pt x="0" y="4020121"/>
                  </a:lnTo>
                  <a:lnTo>
                    <a:pt x="0" y="0"/>
                  </a:lnTo>
                  <a:lnTo>
                    <a:pt x="11581917" y="0"/>
                  </a:lnTo>
                  <a:lnTo>
                    <a:pt x="11581917" y="4020121"/>
                  </a:lnTo>
                  <a:lnTo>
                    <a:pt x="5790958" y="4020121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5">
              <a:extLst>
                <a:ext uri="{FF2B5EF4-FFF2-40B4-BE49-F238E27FC236}">
                  <a16:creationId xmlns:a16="http://schemas.microsoft.com/office/drawing/2014/main" id="{FF9AB461-F804-CFD2-AC7E-56C6036F9C0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0572" y="1288443"/>
              <a:ext cx="5645865" cy="3812049"/>
            </a:xfrm>
            <a:prstGeom prst="rect">
              <a:avLst/>
            </a:prstGeom>
          </p:spPr>
        </p:pic>
      </p:grpSp>
      <p:sp>
        <p:nvSpPr>
          <p:cNvPr id="19" name="object 7">
            <a:extLst>
              <a:ext uri="{FF2B5EF4-FFF2-40B4-BE49-F238E27FC236}">
                <a16:creationId xmlns:a16="http://schemas.microsoft.com/office/drawing/2014/main" id="{3263187D-4418-1521-ADF6-AA4ABB768097}"/>
              </a:ext>
            </a:extLst>
          </p:cNvPr>
          <p:cNvSpPr txBox="1"/>
          <p:nvPr/>
        </p:nvSpPr>
        <p:spPr>
          <a:xfrm>
            <a:off x="673100" y="5400983"/>
            <a:ext cx="5199380" cy="94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200"/>
              </a:lnSpc>
              <a:spcBef>
                <a:spcPts val="95"/>
              </a:spcBef>
            </a:pPr>
            <a:r>
              <a:rPr sz="2000" dirty="0">
                <a:latin typeface="Segoe UI"/>
                <a:cs typeface="Segoe UI"/>
              </a:rPr>
              <a:t>Maps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public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IP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addresses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port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number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of </a:t>
            </a:r>
            <a:r>
              <a:rPr sz="2000" dirty="0">
                <a:latin typeface="Segoe UI"/>
                <a:cs typeface="Segoe UI"/>
              </a:rPr>
              <a:t>incoming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traffic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VM’s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private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IP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address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port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number,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vice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versa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665743E0-3634-827F-F285-2B64ED496799}"/>
              </a:ext>
            </a:extLst>
          </p:cNvPr>
          <p:cNvSpPr/>
          <p:nvPr/>
        </p:nvSpPr>
        <p:spPr>
          <a:xfrm>
            <a:off x="6290640" y="5381641"/>
            <a:ext cx="5718810" cy="980440"/>
          </a:xfrm>
          <a:custGeom>
            <a:avLst/>
            <a:gdLst/>
            <a:ahLst/>
            <a:cxnLst/>
            <a:rect l="l" t="t" r="r" b="b"/>
            <a:pathLst>
              <a:path w="5718809" h="980439">
                <a:moveTo>
                  <a:pt x="5718238" y="0"/>
                </a:moveTo>
                <a:lnTo>
                  <a:pt x="0" y="0"/>
                </a:lnTo>
                <a:lnTo>
                  <a:pt x="0" y="979919"/>
                </a:lnTo>
                <a:lnTo>
                  <a:pt x="2859125" y="979919"/>
                </a:lnTo>
                <a:lnTo>
                  <a:pt x="5718238" y="979919"/>
                </a:lnTo>
                <a:lnTo>
                  <a:pt x="571823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E78F7A17-2D02-3FF9-EE33-86CBCB70CDC5}"/>
              </a:ext>
            </a:extLst>
          </p:cNvPr>
          <p:cNvSpPr txBox="1"/>
          <p:nvPr/>
        </p:nvSpPr>
        <p:spPr>
          <a:xfrm>
            <a:off x="6574942" y="5554704"/>
            <a:ext cx="51460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7625" marR="5080" indent="-130556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Apply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load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balancing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rules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distribute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traffic </a:t>
            </a:r>
            <a:r>
              <a:rPr sz="2000" dirty="0">
                <a:latin typeface="Segoe UI"/>
                <a:cs typeface="Segoe UI"/>
              </a:rPr>
              <a:t>across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VMs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or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services</a:t>
            </a:r>
            <a:endParaRPr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98484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4C4E-5039-C088-052E-5C8AF4C3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DCE64357-A1BC-36DA-E137-45742B616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E131623-12EE-7619-3309-A88CD2666D3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5E2155-4069-75C8-EE7D-78FE2023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A3755D-13DA-623E-2CDB-A0333A987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033BEA-A5F8-4A1F-3004-EB2C322AC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39577-4E92-F3E9-A62A-8D9CC4635F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E10E5C-5762-6BB9-993E-34906BE6298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C27ED5C4-C7AA-8DA2-C1C5-83DB995E38D6}"/>
              </a:ext>
            </a:extLst>
          </p:cNvPr>
          <p:cNvSpPr txBox="1">
            <a:spLocks/>
          </p:cNvSpPr>
          <p:nvPr/>
        </p:nvSpPr>
        <p:spPr>
          <a:xfrm>
            <a:off x="3069113" y="410534"/>
            <a:ext cx="5744210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800" spc="-55" dirty="0"/>
              <a:t>Implement</a:t>
            </a:r>
            <a:r>
              <a:rPr lang="en-US" sz="3800" spc="-140" dirty="0"/>
              <a:t> </a:t>
            </a:r>
            <a:r>
              <a:rPr lang="en-US" sz="3800" dirty="0"/>
              <a:t>an</a:t>
            </a:r>
            <a:r>
              <a:rPr lang="en-US" sz="3800" spc="-165" dirty="0"/>
              <a:t> </a:t>
            </a:r>
            <a:r>
              <a:rPr lang="en-US" sz="3800" spc="-55" dirty="0"/>
              <a:t>Internal</a:t>
            </a:r>
            <a:r>
              <a:rPr lang="en-US" sz="3800" spc="-140" dirty="0"/>
              <a:t> </a:t>
            </a:r>
            <a:r>
              <a:rPr lang="en-US" sz="3800" spc="-50" dirty="0"/>
              <a:t>Load</a:t>
            </a:r>
            <a:r>
              <a:rPr lang="en-US" sz="3800" spc="-145" dirty="0"/>
              <a:t> </a:t>
            </a:r>
            <a:r>
              <a:rPr lang="en-US" sz="3800" spc="-10" dirty="0"/>
              <a:t>Balancer</a:t>
            </a: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F549F7CF-77C8-61E5-4D77-C161A1A8761B}"/>
              </a:ext>
            </a:extLst>
          </p:cNvPr>
          <p:cNvSpPr txBox="1"/>
          <p:nvPr/>
        </p:nvSpPr>
        <p:spPr>
          <a:xfrm>
            <a:off x="589641" y="1990790"/>
            <a:ext cx="4358005" cy="242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839" algn="just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Segoe UI"/>
                <a:cs typeface="Segoe UI"/>
              </a:rPr>
              <a:t>Directs traffic only to resources inside a virtual network or one that uses a VPN to access Azure infrastructure</a:t>
            </a:r>
          </a:p>
          <a:p>
            <a:pPr marL="12700" marR="116839" algn="just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latin typeface="Segoe UI"/>
              <a:cs typeface="Segoe UI"/>
            </a:endParaRPr>
          </a:p>
          <a:p>
            <a:pPr marL="12700" marR="116839" algn="just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Segoe UI"/>
              <a:cs typeface="Segoe UI"/>
            </a:endParaRPr>
          </a:p>
          <a:p>
            <a:pPr marL="12700" marR="5080">
              <a:lnSpc>
                <a:spcPts val="2160"/>
              </a:lnSpc>
              <a:spcBef>
                <a:spcPts val="5"/>
              </a:spcBef>
            </a:pPr>
            <a:r>
              <a:rPr sz="2000" dirty="0">
                <a:latin typeface="Segoe UI"/>
                <a:cs typeface="Segoe UI"/>
              </a:rPr>
              <a:t>Frontend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IP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addresses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virtual </a:t>
            </a:r>
            <a:r>
              <a:rPr sz="2000" dirty="0">
                <a:latin typeface="Segoe UI"/>
                <a:cs typeface="Segoe UI"/>
              </a:rPr>
              <a:t>networks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are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never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directly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exposed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to </a:t>
            </a:r>
            <a:r>
              <a:rPr sz="2000" dirty="0">
                <a:latin typeface="Segoe UI"/>
                <a:cs typeface="Segoe UI"/>
              </a:rPr>
              <a:t>an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internet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endpoint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88D5680-3C0A-756A-C668-7EFC5944BBEA}"/>
              </a:ext>
            </a:extLst>
          </p:cNvPr>
          <p:cNvSpPr/>
          <p:nvPr/>
        </p:nvSpPr>
        <p:spPr>
          <a:xfrm>
            <a:off x="464457" y="4872699"/>
            <a:ext cx="4678680" cy="1742439"/>
          </a:xfrm>
          <a:custGeom>
            <a:avLst/>
            <a:gdLst/>
            <a:ahLst/>
            <a:cxnLst/>
            <a:rect l="l" t="t" r="r" b="b"/>
            <a:pathLst>
              <a:path w="4678680" h="1742439">
                <a:moveTo>
                  <a:pt x="4678197" y="0"/>
                </a:moveTo>
                <a:lnTo>
                  <a:pt x="0" y="0"/>
                </a:lnTo>
                <a:lnTo>
                  <a:pt x="0" y="1742033"/>
                </a:lnTo>
                <a:lnTo>
                  <a:pt x="2339276" y="1742033"/>
                </a:lnTo>
                <a:lnTo>
                  <a:pt x="4678197" y="1742033"/>
                </a:lnTo>
                <a:lnTo>
                  <a:pt x="467819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B0581C21-BBFA-4B46-2E92-369E91B282DB}"/>
              </a:ext>
            </a:extLst>
          </p:cNvPr>
          <p:cNvSpPr txBox="1"/>
          <p:nvPr/>
        </p:nvSpPr>
        <p:spPr>
          <a:xfrm>
            <a:off x="589641" y="4969067"/>
            <a:ext cx="430720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Enables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load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balancing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within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virtual </a:t>
            </a:r>
            <a:r>
              <a:rPr sz="2000" dirty="0">
                <a:latin typeface="Segoe UI"/>
                <a:cs typeface="Segoe UI"/>
              </a:rPr>
              <a:t>network,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cross-</a:t>
            </a:r>
            <a:r>
              <a:rPr sz="2000" dirty="0">
                <a:latin typeface="Segoe UI"/>
                <a:cs typeface="Segoe UI"/>
              </a:rPr>
              <a:t>premises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virtual </a:t>
            </a:r>
            <a:r>
              <a:rPr sz="2000" dirty="0">
                <a:latin typeface="Segoe UI"/>
                <a:cs typeface="Segoe UI"/>
              </a:rPr>
              <a:t>networks,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multi-</a:t>
            </a:r>
            <a:r>
              <a:rPr sz="2000" dirty="0">
                <a:latin typeface="Segoe UI"/>
                <a:cs typeface="Segoe UI"/>
              </a:rPr>
              <a:t>tier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applications,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line-of-</a:t>
            </a:r>
            <a:r>
              <a:rPr sz="2000" dirty="0">
                <a:latin typeface="Segoe UI"/>
                <a:cs typeface="Segoe UI"/>
              </a:rPr>
              <a:t>business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applications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9" name="object 8">
            <a:extLst>
              <a:ext uri="{FF2B5EF4-FFF2-40B4-BE49-F238E27FC236}">
                <a16:creationId xmlns:a16="http://schemas.microsoft.com/office/drawing/2014/main" id="{DD404C48-3C93-9E4F-3653-24CCD72099FE}"/>
              </a:ext>
            </a:extLst>
          </p:cNvPr>
          <p:cNvGrpSpPr/>
          <p:nvPr/>
        </p:nvGrpSpPr>
        <p:grpSpPr>
          <a:xfrm>
            <a:off x="5288994" y="1548993"/>
            <a:ext cx="6757670" cy="5188585"/>
            <a:chOff x="5260858" y="1182422"/>
            <a:chExt cx="6757670" cy="5188585"/>
          </a:xfrm>
        </p:grpSpPr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3D44BA35-5490-6FFF-E0C3-9B961F25482D}"/>
                </a:ext>
              </a:extLst>
            </p:cNvPr>
            <p:cNvSpPr/>
            <p:nvPr/>
          </p:nvSpPr>
          <p:spPr>
            <a:xfrm>
              <a:off x="5270398" y="1191962"/>
              <a:ext cx="6738620" cy="5169535"/>
            </a:xfrm>
            <a:custGeom>
              <a:avLst/>
              <a:gdLst/>
              <a:ahLst/>
              <a:cxnLst/>
              <a:rect l="l" t="t" r="r" b="b"/>
              <a:pathLst>
                <a:path w="6738620" h="5169535">
                  <a:moveTo>
                    <a:pt x="3369246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6738480" y="0"/>
                  </a:lnTo>
                  <a:lnTo>
                    <a:pt x="6738480" y="5169242"/>
                  </a:lnTo>
                  <a:lnTo>
                    <a:pt x="3369246" y="516924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0">
              <a:extLst>
                <a:ext uri="{FF2B5EF4-FFF2-40B4-BE49-F238E27FC236}">
                  <a16:creationId xmlns:a16="http://schemas.microsoft.com/office/drawing/2014/main" id="{1859541D-0B19-B119-9D73-90085590B6C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7402" y="1438215"/>
              <a:ext cx="5847842" cy="4676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632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814D-5B85-4154-3D77-7EAFACCC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293FFC12-4E90-08EA-7AD0-86127CC3E5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E2156CC8-6B11-6F28-3517-967D6D06361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493935-0CDF-0460-22B7-2E4760A9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A6635-A7A1-CCDD-6F18-13FE91217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9207AB-3911-EFD6-434D-39B99C6F8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2B3120-A31F-393A-9133-789E3DDB961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0F9D5E-E76B-C361-5B15-1B208BCE74A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655E2790-F046-ACA4-60B0-7F7D571BBF20}"/>
              </a:ext>
            </a:extLst>
          </p:cNvPr>
          <p:cNvSpPr txBox="1">
            <a:spLocks/>
          </p:cNvSpPr>
          <p:nvPr/>
        </p:nvSpPr>
        <p:spPr>
          <a:xfrm>
            <a:off x="2491872" y="438785"/>
            <a:ext cx="108223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800" spc="-55" dirty="0"/>
              <a:t>Determine</a:t>
            </a:r>
            <a:r>
              <a:rPr lang="en-IN" sz="3800" spc="-110" dirty="0"/>
              <a:t> </a:t>
            </a:r>
            <a:r>
              <a:rPr lang="en-IN" sz="3800" spc="-50" dirty="0"/>
              <a:t>Load</a:t>
            </a:r>
            <a:r>
              <a:rPr lang="en-IN" sz="3800" spc="-105" dirty="0"/>
              <a:t> </a:t>
            </a:r>
            <a:r>
              <a:rPr lang="en-IN" sz="3800" spc="-60" dirty="0"/>
              <a:t>Balancer</a:t>
            </a:r>
            <a:r>
              <a:rPr lang="en-IN" sz="3800" spc="-105" dirty="0"/>
              <a:t> </a:t>
            </a:r>
            <a:r>
              <a:rPr lang="en-IN" sz="3800" spc="-20" dirty="0"/>
              <a:t>SKUs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78A7C3CD-0A76-70FF-E2B8-7CEED3CA573A}"/>
              </a:ext>
            </a:extLst>
          </p:cNvPr>
          <p:cNvGraphicFramePr>
            <a:graphicFrameLocks noGrp="1"/>
          </p:cNvGraphicFramePr>
          <p:nvPr/>
        </p:nvGraphicFramePr>
        <p:xfrm>
          <a:off x="550087" y="1316891"/>
          <a:ext cx="8064500" cy="5213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71945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Feature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tc>
                  <a:txBody>
                    <a:bodyPr/>
                    <a:lstStyle/>
                    <a:p>
                      <a:pPr marL="7308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Basic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SKU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tc>
                  <a:txBody>
                    <a:bodyPr/>
                    <a:lstStyle/>
                    <a:p>
                      <a:pPr marL="912494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Standard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SKU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003B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Backend</a:t>
                      </a:r>
                      <a:r>
                        <a:rPr sz="1800" spc="-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pool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Up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300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instances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Up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1000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instances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Health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probes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TCP,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 HTTP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TCP,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HTTP,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HTTPS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4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Availability</a:t>
                      </a:r>
                      <a:r>
                        <a:rPr sz="18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zones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Not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available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11809" algn="just">
                        <a:lnSpc>
                          <a:spcPct val="1111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Zone-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redundant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zonal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frontends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inbound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and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outbound</a:t>
                      </a:r>
                      <a:r>
                        <a:rPr sz="1800" spc="-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traffic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Multiple</a:t>
                      </a:r>
                      <a:r>
                        <a:rPr sz="1800" spc="-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frontends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Inbound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only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Inbound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outbound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60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Secure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by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default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25425">
                        <a:lnSpc>
                          <a:spcPct val="111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Open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by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default.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NSG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optional.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5420">
                        <a:lnSpc>
                          <a:spcPct val="1111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Closed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inbound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flows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unless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allowed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by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NSG.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Internal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traffic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from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virtual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network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8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8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internal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20" dirty="0">
                          <a:latin typeface="Segoe UI"/>
                          <a:cs typeface="Segoe UI"/>
                        </a:rPr>
                        <a:t>load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balancer</a:t>
                      </a:r>
                      <a:r>
                        <a:rPr sz="18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latin typeface="Segoe UI"/>
                          <a:cs typeface="Segoe UI"/>
                        </a:rPr>
                        <a:t>is</a:t>
                      </a:r>
                      <a:r>
                        <a:rPr sz="18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allowed.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SLA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dirty="0">
                          <a:latin typeface="Segoe UI"/>
                          <a:cs typeface="Segoe UI"/>
                        </a:rPr>
                        <a:t>Not</a:t>
                      </a:r>
                      <a:r>
                        <a:rPr sz="18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spc="-10" dirty="0">
                          <a:latin typeface="Segoe UI"/>
                          <a:cs typeface="Segoe UI"/>
                        </a:rPr>
                        <a:t>available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99.99%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D8D8D8"/>
                      </a:solidFill>
                      <a:prstDash val="solid"/>
                    </a:lnL>
                    <a:lnR w="12700">
                      <a:solidFill>
                        <a:srgbClr val="D8D8D8"/>
                      </a:solidFill>
                      <a:prstDash val="solid"/>
                    </a:lnR>
                    <a:lnT w="12700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D8D8D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" name="object 4">
            <a:extLst>
              <a:ext uri="{FF2B5EF4-FFF2-40B4-BE49-F238E27FC236}">
                <a16:creationId xmlns:a16="http://schemas.microsoft.com/office/drawing/2014/main" id="{83984CEC-7927-36BC-DFE6-1F4342D360F4}"/>
              </a:ext>
            </a:extLst>
          </p:cNvPr>
          <p:cNvGrpSpPr/>
          <p:nvPr/>
        </p:nvGrpSpPr>
        <p:grpSpPr>
          <a:xfrm>
            <a:off x="8865906" y="1034098"/>
            <a:ext cx="3141345" cy="5189855"/>
            <a:chOff x="8865906" y="1034098"/>
            <a:chExt cx="3141345" cy="5189855"/>
          </a:xfrm>
        </p:grpSpPr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3F6FF8AF-83D5-61F1-87DC-F776C5317F74}"/>
                </a:ext>
              </a:extLst>
            </p:cNvPr>
            <p:cNvSpPr/>
            <p:nvPr/>
          </p:nvSpPr>
          <p:spPr>
            <a:xfrm>
              <a:off x="8875445" y="1043638"/>
              <a:ext cx="3122295" cy="5170805"/>
            </a:xfrm>
            <a:custGeom>
              <a:avLst/>
              <a:gdLst/>
              <a:ahLst/>
              <a:cxnLst/>
              <a:rect l="l" t="t" r="r" b="b"/>
              <a:pathLst>
                <a:path w="3122295" h="5170805">
                  <a:moveTo>
                    <a:pt x="1561312" y="5170690"/>
                  </a:moveTo>
                  <a:lnTo>
                    <a:pt x="0" y="5170690"/>
                  </a:lnTo>
                  <a:lnTo>
                    <a:pt x="0" y="0"/>
                  </a:lnTo>
                  <a:lnTo>
                    <a:pt x="3122269" y="0"/>
                  </a:lnTo>
                  <a:lnTo>
                    <a:pt x="3122269" y="5170690"/>
                  </a:lnTo>
                  <a:lnTo>
                    <a:pt x="1561312" y="5170690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F95749CD-0AED-8BF9-E1DF-824FB00C1D8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5435" y="1269368"/>
              <a:ext cx="2390394" cy="48779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8090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57DB-9489-9073-0274-C4FFD73C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09D4DE8F-90AF-6EA6-5608-469BCDAADA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E251BC54-A4D7-9A54-A979-3332D7689F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C00B0A-9D86-4ABE-03C5-0F376797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01C349-C2D3-C78B-0E0E-640CAAB44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FD5C27-BB65-026F-2D67-BDF9DEB3D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6D1B4-CBF4-C745-D476-0F5432C606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F6DA6E-518D-3FBC-D57D-CC2EF6556A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A4CAD35B-ACA8-3807-EACA-6DFE6DED587D}"/>
              </a:ext>
            </a:extLst>
          </p:cNvPr>
          <p:cNvSpPr txBox="1">
            <a:spLocks/>
          </p:cNvSpPr>
          <p:nvPr/>
        </p:nvSpPr>
        <p:spPr>
          <a:xfrm>
            <a:off x="290642" y="379523"/>
            <a:ext cx="108223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-45" dirty="0"/>
              <a:t>Create</a:t>
            </a:r>
            <a:r>
              <a:rPr lang="en-IN" spc="-110" dirty="0"/>
              <a:t> </a:t>
            </a:r>
            <a:r>
              <a:rPr lang="en-IN" spc="-60" dirty="0"/>
              <a:t>Backend</a:t>
            </a:r>
            <a:r>
              <a:rPr lang="en-IN" spc="-114" dirty="0"/>
              <a:t> </a:t>
            </a:r>
            <a:r>
              <a:rPr lang="en-IN" spc="-20" dirty="0"/>
              <a:t>Pools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8E6EE175-03A8-EA6F-06BA-7100B24CE35C}"/>
              </a:ext>
            </a:extLst>
          </p:cNvPr>
          <p:cNvGrpSpPr/>
          <p:nvPr/>
        </p:nvGrpSpPr>
        <p:grpSpPr>
          <a:xfrm>
            <a:off x="417065" y="1182777"/>
            <a:ext cx="5613400" cy="4084320"/>
            <a:chOff x="417065" y="1182777"/>
            <a:chExt cx="5613400" cy="4084320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FF989DD1-CA04-11F0-C0D2-826A6BB019E8}"/>
                </a:ext>
              </a:extLst>
            </p:cNvPr>
            <p:cNvSpPr/>
            <p:nvPr/>
          </p:nvSpPr>
          <p:spPr>
            <a:xfrm>
              <a:off x="426605" y="1192317"/>
              <a:ext cx="5594350" cy="4065270"/>
            </a:xfrm>
            <a:custGeom>
              <a:avLst/>
              <a:gdLst/>
              <a:ahLst/>
              <a:cxnLst/>
              <a:rect l="l" t="t" r="r" b="b"/>
              <a:pathLst>
                <a:path w="5594350" h="4065270">
                  <a:moveTo>
                    <a:pt x="2797200" y="4065130"/>
                  </a:moveTo>
                  <a:lnTo>
                    <a:pt x="0" y="4065130"/>
                  </a:lnTo>
                  <a:lnTo>
                    <a:pt x="0" y="0"/>
                  </a:lnTo>
                  <a:lnTo>
                    <a:pt x="5594032" y="0"/>
                  </a:lnTo>
                  <a:lnTo>
                    <a:pt x="5594032" y="4065130"/>
                  </a:lnTo>
                  <a:lnTo>
                    <a:pt x="2797200" y="4065130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C7F99517-C12E-AF56-C97D-A9D79DBA992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284" y="1950726"/>
              <a:ext cx="5216793" cy="2520643"/>
            </a:xfrm>
            <a:prstGeom prst="rect">
              <a:avLst/>
            </a:prstGeom>
          </p:spPr>
        </p:pic>
      </p:grp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12DCE83B-3943-1417-910F-6A7CD008F0B3}"/>
              </a:ext>
            </a:extLst>
          </p:cNvPr>
          <p:cNvGraphicFramePr>
            <a:graphicFrameLocks noGrp="1"/>
          </p:cNvGraphicFramePr>
          <p:nvPr/>
        </p:nvGraphicFramePr>
        <p:xfrm>
          <a:off x="6193827" y="1186601"/>
          <a:ext cx="5820410" cy="40976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SKU</a:t>
                      </a:r>
                      <a:endParaRPr sz="2000">
                        <a:latin typeface="Segoe UI Semibold"/>
                        <a:cs typeface="Segoe UI Semibold"/>
                      </a:endParaRPr>
                    </a:p>
                  </a:txBody>
                  <a:tcPr marL="0" marR="0" marT="114935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23395D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Backend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pool</a:t>
                      </a:r>
                      <a:r>
                        <a:rPr sz="2000" spc="-3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endpoints</a:t>
                      </a:r>
                      <a:endParaRPr sz="2000">
                        <a:latin typeface="Segoe UI Semibold"/>
                        <a:cs typeface="Segoe UI Semibold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FFFFFF"/>
                      </a:solidFill>
                      <a:prstDash val="solid"/>
                    </a:lnL>
                    <a:solidFill>
                      <a:srgbClr val="233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6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Segoe UI Semibold"/>
                          <a:cs typeface="Segoe UI Semibold"/>
                        </a:rPr>
                        <a:t>Basic</a:t>
                      </a:r>
                      <a:r>
                        <a:rPr sz="2000" spc="-20" dirty="0"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000" spc="-25" dirty="0">
                          <a:latin typeface="Segoe UI Semibold"/>
                          <a:cs typeface="Segoe UI Semibold"/>
                        </a:rPr>
                        <a:t>SKU</a:t>
                      </a:r>
                      <a:endParaRPr sz="2000">
                        <a:latin typeface="Segoe UI Semibold"/>
                        <a:cs typeface="Segoe UI Semibold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6525" marR="544830">
                        <a:lnSpc>
                          <a:spcPct val="110900"/>
                        </a:lnSpc>
                      </a:pPr>
                      <a:r>
                        <a:rPr sz="2000" dirty="0">
                          <a:latin typeface="Segoe UI"/>
                          <a:cs typeface="Segoe UI"/>
                        </a:rPr>
                        <a:t>VMs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20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20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single</a:t>
                      </a:r>
                      <a:r>
                        <a:rPr sz="20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availability</a:t>
                      </a:r>
                      <a:r>
                        <a:rPr sz="20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set</a:t>
                      </a:r>
                      <a:r>
                        <a:rPr sz="20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spc="-25" dirty="0">
                          <a:latin typeface="Segoe UI"/>
                          <a:cs typeface="Segoe UI"/>
                        </a:rPr>
                        <a:t>or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VM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scale</a:t>
                      </a:r>
                      <a:r>
                        <a:rPr sz="20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spc="-25" dirty="0">
                          <a:latin typeface="Segoe UI"/>
                          <a:cs typeface="Segoe UI"/>
                        </a:rPr>
                        <a:t>set</a:t>
                      </a:r>
                      <a:endParaRPr sz="2000">
                        <a:latin typeface="Segoe UI"/>
                        <a:cs typeface="Segoe UI"/>
                      </a:endParaRPr>
                    </a:p>
                  </a:txBody>
                  <a:tcPr marL="0" marR="0" marT="250190" marB="0">
                    <a:lnR w="6350">
                      <a:solidFill>
                        <a:srgbClr val="BEBEBE"/>
                      </a:solidFill>
                      <a:prstDash val="solid"/>
                    </a:lnR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6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6525" marR="297815">
                        <a:lnSpc>
                          <a:spcPct val="111300"/>
                        </a:lnSpc>
                      </a:pPr>
                      <a:r>
                        <a:rPr sz="2000" spc="-10" dirty="0">
                          <a:latin typeface="Segoe UI Semibold"/>
                          <a:cs typeface="Segoe UI Semibold"/>
                        </a:rPr>
                        <a:t>Standard </a:t>
                      </a:r>
                      <a:r>
                        <a:rPr sz="2000" spc="-25" dirty="0">
                          <a:latin typeface="Segoe UI Semibold"/>
                          <a:cs typeface="Segoe UI Semibold"/>
                        </a:rPr>
                        <a:t>SKU</a:t>
                      </a:r>
                      <a:endParaRPr sz="2000">
                        <a:latin typeface="Segoe UI Semibold"/>
                        <a:cs typeface="Segoe UI Semibold"/>
                      </a:endParaRPr>
                    </a:p>
                  </a:txBody>
                  <a:tcPr marL="0" marR="0" marT="24892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6525" marR="298450">
                        <a:lnSpc>
                          <a:spcPct val="111000"/>
                        </a:lnSpc>
                      </a:pPr>
                      <a:r>
                        <a:rPr sz="2000" dirty="0">
                          <a:latin typeface="Segoe UI"/>
                          <a:cs typeface="Segoe UI"/>
                        </a:rPr>
                        <a:t>Any</a:t>
                      </a:r>
                      <a:r>
                        <a:rPr sz="20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VM</a:t>
                      </a:r>
                      <a:r>
                        <a:rPr sz="20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20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20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single</a:t>
                      </a:r>
                      <a:r>
                        <a:rPr sz="20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virtual</a:t>
                      </a:r>
                      <a:r>
                        <a:rPr sz="20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spc="-10" dirty="0">
                          <a:latin typeface="Segoe UI"/>
                          <a:cs typeface="Segoe UI"/>
                        </a:rPr>
                        <a:t>network,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including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20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blend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20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spc="-20" dirty="0">
                          <a:latin typeface="Segoe UI"/>
                          <a:cs typeface="Segoe UI"/>
                        </a:rPr>
                        <a:t>VMs,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availability</a:t>
                      </a:r>
                      <a:r>
                        <a:rPr sz="20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sets,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VM</a:t>
                      </a:r>
                      <a:r>
                        <a:rPr sz="20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dirty="0">
                          <a:latin typeface="Segoe UI"/>
                          <a:cs typeface="Segoe UI"/>
                        </a:rPr>
                        <a:t>scale</a:t>
                      </a:r>
                      <a:r>
                        <a:rPr sz="20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2000" spc="-20" dirty="0">
                          <a:latin typeface="Segoe UI"/>
                          <a:cs typeface="Segoe UI"/>
                        </a:rPr>
                        <a:t>sets</a:t>
                      </a:r>
                      <a:endParaRPr sz="20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7">
            <a:extLst>
              <a:ext uri="{FF2B5EF4-FFF2-40B4-BE49-F238E27FC236}">
                <a16:creationId xmlns:a16="http://schemas.microsoft.com/office/drawing/2014/main" id="{1EF2D89D-AEAA-A907-41B7-9A7D08932E30}"/>
              </a:ext>
            </a:extLst>
          </p:cNvPr>
          <p:cNvSpPr/>
          <p:nvPr/>
        </p:nvSpPr>
        <p:spPr>
          <a:xfrm>
            <a:off x="424433" y="5405758"/>
            <a:ext cx="11590655" cy="938530"/>
          </a:xfrm>
          <a:custGeom>
            <a:avLst/>
            <a:gdLst/>
            <a:ahLst/>
            <a:cxnLst/>
            <a:rect l="l" t="t" r="r" b="b"/>
            <a:pathLst>
              <a:path w="11590655" h="938529">
                <a:moveTo>
                  <a:pt x="11590566" y="0"/>
                </a:moveTo>
                <a:lnTo>
                  <a:pt x="0" y="0"/>
                </a:lnTo>
                <a:lnTo>
                  <a:pt x="0" y="938530"/>
                </a:lnTo>
                <a:lnTo>
                  <a:pt x="5795289" y="938530"/>
                </a:lnTo>
                <a:lnTo>
                  <a:pt x="11590566" y="938530"/>
                </a:lnTo>
                <a:lnTo>
                  <a:pt x="1159056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BE915AB1-3882-8A32-7B83-F1576F18A738}"/>
              </a:ext>
            </a:extLst>
          </p:cNvPr>
          <p:cNvSpPr txBox="1"/>
          <p:nvPr/>
        </p:nvSpPr>
        <p:spPr>
          <a:xfrm>
            <a:off x="1831225" y="5523386"/>
            <a:ext cx="8768080" cy="66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2505"/>
              </a:lnSpc>
              <a:spcBef>
                <a:spcPts val="100"/>
              </a:spcBef>
            </a:pPr>
            <a:r>
              <a:rPr sz="2200" dirty="0">
                <a:latin typeface="Segoe UI"/>
                <a:cs typeface="Segoe UI"/>
              </a:rPr>
              <a:t>To</a:t>
            </a:r>
            <a:r>
              <a:rPr sz="2200" spc="-6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distribute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traffic,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</a:t>
            </a:r>
            <a:r>
              <a:rPr sz="2200" spc="-6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back-</a:t>
            </a:r>
            <a:r>
              <a:rPr sz="2200" dirty="0">
                <a:latin typeface="Segoe UI"/>
                <a:cs typeface="Segoe UI"/>
              </a:rPr>
              <a:t>end</a:t>
            </a:r>
            <a:r>
              <a:rPr sz="2200" spc="-6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address</a:t>
            </a:r>
            <a:r>
              <a:rPr sz="2200" spc="-6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pool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contains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spc="-25" dirty="0">
                <a:latin typeface="Segoe UI"/>
                <a:cs typeface="Segoe UI"/>
              </a:rPr>
              <a:t>the</a:t>
            </a:r>
            <a:endParaRPr sz="2200">
              <a:latin typeface="Segoe UI"/>
              <a:cs typeface="Segoe UI"/>
            </a:endParaRPr>
          </a:p>
          <a:p>
            <a:pPr algn="ctr">
              <a:lnSpc>
                <a:spcPts val="2505"/>
              </a:lnSpc>
            </a:pPr>
            <a:r>
              <a:rPr sz="2200" dirty="0">
                <a:latin typeface="Segoe UI"/>
                <a:cs typeface="Segoe UI"/>
              </a:rPr>
              <a:t>IP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addresses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of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the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virtual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NICs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that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are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connected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to</a:t>
            </a:r>
            <a:r>
              <a:rPr sz="2200" spc="-6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the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load</a:t>
            </a:r>
            <a:r>
              <a:rPr sz="2200" spc="-6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balancer</a:t>
            </a:r>
            <a:endParaRPr sz="22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66695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C5D3-8DD0-C227-67DC-D6ED8B2A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561F6C3-E2E7-2C47-E622-70E5FE8679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5E2B340C-C5DB-368F-0186-997C23A2ED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0F1A0D-D439-CF30-4D69-02630BB22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316B77-A9C1-669F-159D-136B0D833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BC4FD-CC84-CA45-CC13-5F27B0DE6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9B7DDE-60A3-48D5-25C9-F6229BA425D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58A138-A210-E835-4405-4E8A382203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FC64C592-CF82-86DA-77D7-417F8969696B}"/>
              </a:ext>
            </a:extLst>
          </p:cNvPr>
          <p:cNvSpPr txBox="1">
            <a:spLocks/>
          </p:cNvSpPr>
          <p:nvPr/>
        </p:nvSpPr>
        <p:spPr>
          <a:xfrm>
            <a:off x="160466" y="521311"/>
            <a:ext cx="108223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800" spc="-45"/>
              <a:t>Create</a:t>
            </a:r>
            <a:r>
              <a:rPr lang="en-IN" sz="3800" spc="-114"/>
              <a:t> </a:t>
            </a:r>
            <a:r>
              <a:rPr lang="en-IN" sz="3800" spc="-50"/>
              <a:t>Load</a:t>
            </a:r>
            <a:r>
              <a:rPr lang="en-IN" sz="3800" spc="-110"/>
              <a:t> </a:t>
            </a:r>
            <a:r>
              <a:rPr lang="en-IN" sz="3800" spc="-60"/>
              <a:t>Balancer</a:t>
            </a:r>
            <a:r>
              <a:rPr lang="en-IN" sz="3800" spc="-110"/>
              <a:t> </a:t>
            </a:r>
            <a:r>
              <a:rPr lang="en-IN" sz="3800" spc="-10"/>
              <a:t>Rules</a:t>
            </a:r>
            <a:endParaRPr lang="en-IN" sz="3800" spc="-10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9F0EA4A-7CF7-71A3-FE59-0FD9FE98D50A}"/>
              </a:ext>
            </a:extLst>
          </p:cNvPr>
          <p:cNvSpPr txBox="1"/>
          <p:nvPr/>
        </p:nvSpPr>
        <p:spPr>
          <a:xfrm>
            <a:off x="607225" y="1474473"/>
            <a:ext cx="50666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Maps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frontend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IP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port </a:t>
            </a:r>
            <a:r>
              <a:rPr sz="2400" spc="-10" dirty="0">
                <a:latin typeface="Segoe UI"/>
                <a:cs typeface="Segoe UI"/>
              </a:rPr>
              <a:t>combination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set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of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backend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pool </a:t>
            </a:r>
            <a:r>
              <a:rPr sz="2400" dirty="0">
                <a:latin typeface="Segoe UI"/>
                <a:cs typeface="Segoe UI"/>
              </a:rPr>
              <a:t>and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port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combination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25FD8CFB-5875-F097-A017-1B3F2ADE919B}"/>
              </a:ext>
            </a:extLst>
          </p:cNvPr>
          <p:cNvSpPr txBox="1"/>
          <p:nvPr/>
        </p:nvSpPr>
        <p:spPr>
          <a:xfrm>
            <a:off x="607225" y="3581187"/>
            <a:ext cx="51898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Segoe UI"/>
                <a:cs typeface="Segoe UI"/>
              </a:rPr>
              <a:t>Load Balancer </a:t>
            </a:r>
            <a:r>
              <a:rPr sz="2400" dirty="0">
                <a:latin typeface="Segoe UI"/>
                <a:cs typeface="Segoe UI"/>
              </a:rPr>
              <a:t>Rules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can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be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combined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with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NAT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rules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EE5F08E5-FC92-01A5-FB08-480CE40A9B3E}"/>
              </a:ext>
            </a:extLst>
          </p:cNvPr>
          <p:cNvSpPr txBox="1"/>
          <p:nvPr/>
        </p:nvSpPr>
        <p:spPr>
          <a:xfrm>
            <a:off x="607225" y="4956750"/>
            <a:ext cx="51701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A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NAT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rule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is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explicitly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attached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50" dirty="0">
                <a:latin typeface="Segoe UI"/>
                <a:cs typeface="Segoe UI"/>
              </a:rPr>
              <a:t> a </a:t>
            </a:r>
            <a:r>
              <a:rPr sz="2400" dirty="0">
                <a:latin typeface="Segoe UI"/>
                <a:cs typeface="Segoe UI"/>
              </a:rPr>
              <a:t>VM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(or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network</a:t>
            </a:r>
            <a:r>
              <a:rPr sz="2400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interface)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complete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path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-10" dirty="0">
                <a:latin typeface="Segoe UI"/>
                <a:cs typeface="Segoe UI"/>
              </a:rPr>
              <a:t> target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13" name="object 9">
            <a:extLst>
              <a:ext uri="{FF2B5EF4-FFF2-40B4-BE49-F238E27FC236}">
                <a16:creationId xmlns:a16="http://schemas.microsoft.com/office/drawing/2014/main" id="{9A127132-5331-9616-902E-78FA9F810010}"/>
              </a:ext>
            </a:extLst>
          </p:cNvPr>
          <p:cNvGrpSpPr/>
          <p:nvPr/>
        </p:nvGrpSpPr>
        <p:grpSpPr>
          <a:xfrm>
            <a:off x="6208735" y="1182422"/>
            <a:ext cx="5810250" cy="5188585"/>
            <a:chOff x="6208735" y="1182422"/>
            <a:chExt cx="5810250" cy="5188585"/>
          </a:xfrm>
        </p:grpSpPr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C6542819-223E-DCE0-A7A6-A4440914D482}"/>
                </a:ext>
              </a:extLst>
            </p:cNvPr>
            <p:cNvSpPr/>
            <p:nvPr/>
          </p:nvSpPr>
          <p:spPr>
            <a:xfrm>
              <a:off x="6218275" y="1191962"/>
              <a:ext cx="5791200" cy="5169535"/>
            </a:xfrm>
            <a:custGeom>
              <a:avLst/>
              <a:gdLst/>
              <a:ahLst/>
              <a:cxnLst/>
              <a:rect l="l" t="t" r="r" b="b"/>
              <a:pathLst>
                <a:path w="5791200" h="5169535">
                  <a:moveTo>
                    <a:pt x="2895485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5790958" y="0"/>
                  </a:lnTo>
                  <a:lnTo>
                    <a:pt x="5790958" y="5169242"/>
                  </a:lnTo>
                  <a:lnTo>
                    <a:pt x="2895485" y="516924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769D5103-B237-D45B-EDCA-76B0B918041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3762" y="1354027"/>
              <a:ext cx="4139996" cy="4845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0641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B781-3518-68B2-CC88-DD541262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356C7E6E-B1DC-A652-CC22-B3C4DD14F7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5D02120-34CE-006C-AAEA-92CC49D77A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50188B-D5E7-56F6-A391-633B4CEE6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A52207-6053-A0B8-01BF-016B66174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BABAAD-1E8B-1CF3-E16F-9FBFDD6C4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DA603-910F-D301-3058-D3BA72BBA73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C3D03A-4075-7856-E6FA-FF70BC47482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EBF7FFCB-7CAC-864C-5084-690E1A4B742C}"/>
              </a:ext>
            </a:extLst>
          </p:cNvPr>
          <p:cNvSpPr txBox="1">
            <a:spLocks/>
          </p:cNvSpPr>
          <p:nvPr/>
        </p:nvSpPr>
        <p:spPr>
          <a:xfrm>
            <a:off x="2080643" y="205240"/>
            <a:ext cx="108223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800" spc="-60" dirty="0"/>
              <a:t>Configure</a:t>
            </a:r>
            <a:r>
              <a:rPr lang="en-IN" sz="3800" spc="-114" dirty="0"/>
              <a:t> </a:t>
            </a:r>
            <a:r>
              <a:rPr lang="en-IN" sz="3800" spc="-55" dirty="0"/>
              <a:t>Session</a:t>
            </a:r>
            <a:r>
              <a:rPr lang="en-IN" sz="3800" spc="-110" dirty="0"/>
              <a:t> </a:t>
            </a:r>
            <a:r>
              <a:rPr lang="en-IN" sz="3800" spc="-60" dirty="0"/>
              <a:t>Persistence</a:t>
            </a:r>
            <a:r>
              <a:rPr lang="en-IN" sz="3800" spc="-114" dirty="0"/>
              <a:t> </a:t>
            </a:r>
            <a:r>
              <a:rPr lang="en-IN" sz="3800" spc="-25" dirty="0"/>
              <a:t>(optional)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BEF87E0F-0D37-D56D-5EA9-FB7EBE6740E9}"/>
              </a:ext>
            </a:extLst>
          </p:cNvPr>
          <p:cNvGrpSpPr/>
          <p:nvPr/>
        </p:nvGrpSpPr>
        <p:grpSpPr>
          <a:xfrm>
            <a:off x="417421" y="1182777"/>
            <a:ext cx="11601450" cy="3385820"/>
            <a:chOff x="417421" y="1182777"/>
            <a:chExt cx="11601450" cy="3385820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67FD52B7-2E92-400F-832F-0B9CD7933043}"/>
                </a:ext>
              </a:extLst>
            </p:cNvPr>
            <p:cNvSpPr/>
            <p:nvPr/>
          </p:nvSpPr>
          <p:spPr>
            <a:xfrm>
              <a:off x="426961" y="1192317"/>
              <a:ext cx="11582400" cy="3366770"/>
            </a:xfrm>
            <a:custGeom>
              <a:avLst/>
              <a:gdLst/>
              <a:ahLst/>
              <a:cxnLst/>
              <a:rect l="l" t="t" r="r" b="b"/>
              <a:pathLst>
                <a:path w="11582400" h="3366770">
                  <a:moveTo>
                    <a:pt x="5790958" y="3366731"/>
                  </a:moveTo>
                  <a:lnTo>
                    <a:pt x="0" y="3366731"/>
                  </a:lnTo>
                  <a:lnTo>
                    <a:pt x="0" y="0"/>
                  </a:lnTo>
                  <a:lnTo>
                    <a:pt x="11581917" y="0"/>
                  </a:lnTo>
                  <a:lnTo>
                    <a:pt x="11581917" y="3366731"/>
                  </a:lnTo>
                  <a:lnTo>
                    <a:pt x="5790958" y="3366731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65FE8D6F-C7F8-12A2-E7B2-DAFC73FED80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3981" y="1691262"/>
              <a:ext cx="3544854" cy="2476106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9FE5826A-8F8D-FF3E-E3C1-DB8BCDE7CE7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5479" y="1396902"/>
              <a:ext cx="6537614" cy="2866790"/>
            </a:xfrm>
            <a:prstGeom prst="rect">
              <a:avLst/>
            </a:prstGeom>
          </p:spPr>
        </p:pic>
      </p:grpSp>
      <p:sp>
        <p:nvSpPr>
          <p:cNvPr id="14" name="object 7">
            <a:extLst>
              <a:ext uri="{FF2B5EF4-FFF2-40B4-BE49-F238E27FC236}">
                <a16:creationId xmlns:a16="http://schemas.microsoft.com/office/drawing/2014/main" id="{5348A947-8634-F7C5-9BFC-1C8DBF295A91}"/>
              </a:ext>
            </a:extLst>
          </p:cNvPr>
          <p:cNvSpPr txBox="1"/>
          <p:nvPr/>
        </p:nvSpPr>
        <p:spPr>
          <a:xfrm>
            <a:off x="426605" y="4707728"/>
            <a:ext cx="2336800" cy="165481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52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endParaRPr sz="1800">
              <a:latin typeface="Times New Roman"/>
              <a:cs typeface="Times New Roman"/>
            </a:endParaRPr>
          </a:p>
          <a:p>
            <a:pPr marL="194310" marR="186055" indent="-1270" algn="just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Session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persistence </a:t>
            </a:r>
            <a:r>
              <a:rPr sz="1800" dirty="0">
                <a:latin typeface="Segoe UI"/>
                <a:cs typeface="Segoe UI"/>
              </a:rPr>
              <a:t>specifies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how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client </a:t>
            </a:r>
            <a:r>
              <a:rPr sz="1800" dirty="0">
                <a:latin typeface="Segoe UI"/>
                <a:cs typeface="Segoe UI"/>
              </a:rPr>
              <a:t>traffic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handled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FE964235-624E-8B65-BF5D-6C00C9DD209D}"/>
              </a:ext>
            </a:extLst>
          </p:cNvPr>
          <p:cNvSpPr txBox="1"/>
          <p:nvPr/>
        </p:nvSpPr>
        <p:spPr>
          <a:xfrm>
            <a:off x="2912757" y="4707728"/>
            <a:ext cx="2336800" cy="165481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Times New Roman"/>
              <a:cs typeface="Times New Roman"/>
            </a:endParaRPr>
          </a:p>
          <a:p>
            <a:pPr marL="369570" marR="369570" indent="62230" algn="just">
              <a:lnSpc>
                <a:spcPct val="100000"/>
              </a:lnSpc>
            </a:pPr>
            <a:r>
              <a:rPr sz="1800" dirty="0">
                <a:latin typeface="Segoe UI Semibold"/>
                <a:cs typeface="Segoe UI Semibold"/>
              </a:rPr>
              <a:t>None</a:t>
            </a:r>
            <a:r>
              <a:rPr sz="1800" spc="-10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"/>
                <a:cs typeface="Segoe UI"/>
              </a:rPr>
              <a:t>(default) </a:t>
            </a:r>
            <a:r>
              <a:rPr sz="1800" dirty="0">
                <a:latin typeface="Segoe UI"/>
                <a:cs typeface="Segoe UI"/>
              </a:rPr>
              <a:t>requests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can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be </a:t>
            </a:r>
            <a:r>
              <a:rPr sz="1800" dirty="0">
                <a:latin typeface="Segoe UI"/>
                <a:cs typeface="Segoe UI"/>
              </a:rPr>
              <a:t>handled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any </a:t>
            </a:r>
            <a:r>
              <a:rPr sz="1800" dirty="0">
                <a:latin typeface="Segoe UI"/>
                <a:cs typeface="Segoe UI"/>
              </a:rPr>
              <a:t>virtual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machine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FB3ED35-B050-91B5-C8F9-828A19D79D34}"/>
              </a:ext>
            </a:extLst>
          </p:cNvPr>
          <p:cNvSpPr txBox="1"/>
          <p:nvPr/>
        </p:nvSpPr>
        <p:spPr>
          <a:xfrm>
            <a:off x="5398554" y="4707728"/>
            <a:ext cx="2336800" cy="165481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Times New Roman"/>
              <a:cs typeface="Times New Roman"/>
            </a:endParaRPr>
          </a:p>
          <a:p>
            <a:pPr marL="252729" marR="246379" indent="-635" algn="ctr">
              <a:lnSpc>
                <a:spcPct val="100000"/>
              </a:lnSpc>
            </a:pPr>
            <a:r>
              <a:rPr sz="1800" dirty="0">
                <a:latin typeface="Segoe UI Semibold"/>
                <a:cs typeface="Segoe UI Semibold"/>
              </a:rPr>
              <a:t>Client</a:t>
            </a:r>
            <a:r>
              <a:rPr sz="1800" spc="-4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IP</a:t>
            </a:r>
            <a:r>
              <a:rPr sz="1800" spc="-30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"/>
                <a:cs typeface="Segoe UI"/>
              </a:rPr>
              <a:t>requests </a:t>
            </a:r>
            <a:r>
              <a:rPr sz="1800" dirty="0">
                <a:latin typeface="Segoe UI"/>
                <a:cs typeface="Segoe UI"/>
              </a:rPr>
              <a:t>will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handled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by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same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virtual machine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B69A925-7B40-3004-B010-C032E808FBD1}"/>
              </a:ext>
            </a:extLst>
          </p:cNvPr>
          <p:cNvSpPr txBox="1"/>
          <p:nvPr/>
        </p:nvSpPr>
        <p:spPr>
          <a:xfrm>
            <a:off x="7884718" y="4707728"/>
            <a:ext cx="4124960" cy="165481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Times New Roman"/>
              <a:cs typeface="Times New Roman"/>
            </a:endParaRPr>
          </a:p>
          <a:p>
            <a:pPr marL="200660" marR="196215" indent="1270" algn="ctr">
              <a:lnSpc>
                <a:spcPct val="100000"/>
              </a:lnSpc>
            </a:pPr>
            <a:r>
              <a:rPr sz="1800" dirty="0">
                <a:latin typeface="Segoe UI Semibold"/>
                <a:cs typeface="Segoe UI Semibold"/>
              </a:rPr>
              <a:t>Client</a:t>
            </a:r>
            <a:r>
              <a:rPr sz="1800" spc="-5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IP</a:t>
            </a:r>
            <a:r>
              <a:rPr sz="1800" spc="-4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and</a:t>
            </a:r>
            <a:r>
              <a:rPr sz="1800" spc="-5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protocol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specifies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that </a:t>
            </a:r>
            <a:r>
              <a:rPr sz="1800" dirty="0">
                <a:latin typeface="Segoe UI"/>
                <a:cs typeface="Segoe UI"/>
              </a:rPr>
              <a:t>successive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requests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from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same </a:t>
            </a:r>
            <a:r>
              <a:rPr sz="1800" dirty="0">
                <a:latin typeface="Segoe UI"/>
                <a:cs typeface="Segoe UI"/>
              </a:rPr>
              <a:t>address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protocol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will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handled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same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virtual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machine</a:t>
            </a:r>
            <a:endParaRPr sz="1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48276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7FE5-54D3-0FD6-249F-8E4402FA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6E07B6E-49BC-B50C-DA5C-0F0144F406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66017F2E-0547-F9DC-857A-0B1BB1782B3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7B2FC3-80FA-5E62-C4E9-C321D5FE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46711-83D4-B8AD-BEF6-3970C55E6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94F99-0ED3-B7E6-6218-52613B3F6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7FF17-DC75-1F11-06E3-A971D24631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B7B936-6A19-9C56-F7AF-97400CBD2F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58D6A72D-9C44-3BEC-E120-BD5C0370DE52}"/>
              </a:ext>
            </a:extLst>
          </p:cNvPr>
          <p:cNvSpPr txBox="1">
            <a:spLocks/>
          </p:cNvSpPr>
          <p:nvPr/>
        </p:nvSpPr>
        <p:spPr>
          <a:xfrm>
            <a:off x="2699904" y="3141980"/>
            <a:ext cx="7583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50" dirty="0"/>
              <a:t>Configure</a:t>
            </a:r>
            <a:r>
              <a:rPr lang="en-IN" sz="3600" spc="-170" dirty="0"/>
              <a:t> </a:t>
            </a:r>
            <a:r>
              <a:rPr lang="en-IN" sz="3600" spc="-40" dirty="0"/>
              <a:t>Azure</a:t>
            </a:r>
            <a:r>
              <a:rPr lang="en-IN" sz="3600" spc="-165" dirty="0"/>
              <a:t> </a:t>
            </a:r>
            <a:r>
              <a:rPr lang="en-IN" sz="3600" spc="-55" dirty="0"/>
              <a:t>Application</a:t>
            </a:r>
            <a:r>
              <a:rPr lang="en-IN" sz="3600" spc="-165" dirty="0"/>
              <a:t> </a:t>
            </a:r>
            <a:r>
              <a:rPr lang="en-IN" sz="3600" spc="-10" dirty="0"/>
              <a:t>Gateway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28241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45EF8-D071-6936-BAE7-859F4002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61CF64CB-1301-FCD8-3339-A7580E74FD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8B143476-CDCF-DAC9-3EAF-4EB9C3985F3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270350-3E4A-D6CD-AF23-84954A174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22B812-52AE-62C8-06BB-EA868F922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D1EAC1-F542-5B0E-8841-A0A2DC524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5DCB25-BC2B-69C1-DCD0-FB2B50F25B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90A23A-30F7-391D-0255-EE83095F314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044771E6-F966-9BC4-24AB-6261496A987F}"/>
              </a:ext>
            </a:extLst>
          </p:cNvPr>
          <p:cNvSpPr txBox="1">
            <a:spLocks/>
          </p:cNvSpPr>
          <p:nvPr/>
        </p:nvSpPr>
        <p:spPr>
          <a:xfrm>
            <a:off x="2523846" y="485848"/>
            <a:ext cx="605539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800" spc="-55" dirty="0"/>
              <a:t>Implement</a:t>
            </a:r>
            <a:r>
              <a:rPr lang="en-IN" sz="3800" spc="-130" dirty="0"/>
              <a:t> </a:t>
            </a:r>
            <a:r>
              <a:rPr lang="en-IN" sz="3800" spc="-60" dirty="0"/>
              <a:t>Application</a:t>
            </a:r>
            <a:r>
              <a:rPr lang="en-IN" sz="3800" spc="-125" dirty="0"/>
              <a:t> </a:t>
            </a:r>
            <a:r>
              <a:rPr lang="en-IN" sz="3800" spc="-10" dirty="0"/>
              <a:t>Gateway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ABCC5DEF-346F-B5F2-7DB9-75F6ACE48062}"/>
              </a:ext>
            </a:extLst>
          </p:cNvPr>
          <p:cNvGrpSpPr/>
          <p:nvPr/>
        </p:nvGrpSpPr>
        <p:grpSpPr>
          <a:xfrm>
            <a:off x="421015" y="1182777"/>
            <a:ext cx="11601450" cy="3750310"/>
            <a:chOff x="421015" y="1182777"/>
            <a:chExt cx="11601450" cy="3750310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75E5C9-54D8-08B0-DC6C-8217A955849E}"/>
                </a:ext>
              </a:extLst>
            </p:cNvPr>
            <p:cNvSpPr/>
            <p:nvPr/>
          </p:nvSpPr>
          <p:spPr>
            <a:xfrm>
              <a:off x="430555" y="1192317"/>
              <a:ext cx="11582400" cy="3731260"/>
            </a:xfrm>
            <a:custGeom>
              <a:avLst/>
              <a:gdLst/>
              <a:ahLst/>
              <a:cxnLst/>
              <a:rect l="l" t="t" r="r" b="b"/>
              <a:pathLst>
                <a:path w="11582400" h="3731260">
                  <a:moveTo>
                    <a:pt x="5790958" y="3731044"/>
                  </a:moveTo>
                  <a:lnTo>
                    <a:pt x="0" y="3731044"/>
                  </a:lnTo>
                  <a:lnTo>
                    <a:pt x="0" y="0"/>
                  </a:lnTo>
                  <a:lnTo>
                    <a:pt x="11581930" y="0"/>
                  </a:lnTo>
                  <a:lnTo>
                    <a:pt x="11581930" y="3731044"/>
                  </a:lnTo>
                  <a:lnTo>
                    <a:pt x="5790958" y="3731044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EC3D072D-F2B1-A693-78DB-15DC7638601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4166" y="1380963"/>
              <a:ext cx="10143909" cy="3352317"/>
            </a:xfrm>
            <a:prstGeom prst="rect">
              <a:avLst/>
            </a:prstGeom>
          </p:spPr>
        </p:pic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4BE3FAA0-7323-EAA1-F29E-DFC9574179E5}"/>
              </a:ext>
            </a:extLst>
          </p:cNvPr>
          <p:cNvSpPr txBox="1"/>
          <p:nvPr/>
        </p:nvSpPr>
        <p:spPr>
          <a:xfrm>
            <a:off x="430555" y="5050806"/>
            <a:ext cx="2583180" cy="131127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174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25"/>
              </a:spcBef>
            </a:pPr>
            <a:endParaRPr sz="1800">
              <a:latin typeface="Times New Roman"/>
              <a:cs typeface="Times New Roman"/>
            </a:endParaRPr>
          </a:p>
          <a:p>
            <a:pPr marL="640715" marR="584835" indent="-4826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Segoe UI"/>
                <a:cs typeface="Segoe UI"/>
              </a:rPr>
              <a:t>Manages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web </a:t>
            </a:r>
            <a:r>
              <a:rPr sz="1800" dirty="0">
                <a:latin typeface="Segoe UI"/>
                <a:cs typeface="Segoe UI"/>
              </a:rPr>
              <a:t>app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requests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092D9A82-F0B6-17E0-2121-2E96C077EFB5}"/>
              </a:ext>
            </a:extLst>
          </p:cNvPr>
          <p:cNvSpPr txBox="1"/>
          <p:nvPr/>
        </p:nvSpPr>
        <p:spPr>
          <a:xfrm>
            <a:off x="3168002" y="5050806"/>
            <a:ext cx="4343400" cy="131127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174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25"/>
              </a:spcBef>
            </a:pPr>
            <a:endParaRPr sz="1800">
              <a:latin typeface="Times New Roman"/>
              <a:cs typeface="Times New Roman"/>
            </a:endParaRPr>
          </a:p>
          <a:p>
            <a:pPr marL="617220" marR="258445" indent="-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Segoe UI"/>
                <a:cs typeface="Segoe UI"/>
              </a:rPr>
              <a:t>Routes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traffic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pool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web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servers </a:t>
            </a:r>
            <a:r>
              <a:rPr sz="1800" dirty="0">
                <a:latin typeface="Segoe UI"/>
                <a:cs typeface="Segoe UI"/>
              </a:rPr>
              <a:t>based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on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URL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request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ABB27F83-F5DF-FB72-29D8-CEF7B93559DB}"/>
              </a:ext>
            </a:extLst>
          </p:cNvPr>
          <p:cNvSpPr txBox="1"/>
          <p:nvPr/>
        </p:nvSpPr>
        <p:spPr>
          <a:xfrm>
            <a:off x="7662595" y="5050806"/>
            <a:ext cx="4343400" cy="131127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06045" rIns="0" bIns="0" rtlCol="0">
            <a:spAutoFit/>
          </a:bodyPr>
          <a:lstStyle/>
          <a:p>
            <a:pPr marL="275590" marR="269875" indent="-635" algn="ctr">
              <a:lnSpc>
                <a:spcPct val="100000"/>
              </a:lnSpc>
              <a:spcBef>
                <a:spcPts val="835"/>
              </a:spcBef>
            </a:pPr>
            <a:r>
              <a:rPr sz="1800" dirty="0">
                <a:latin typeface="Segoe UI"/>
                <a:cs typeface="Segoe UI"/>
              </a:rPr>
              <a:t>The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web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servers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can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Azure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virtual </a:t>
            </a:r>
            <a:r>
              <a:rPr sz="1800" dirty="0">
                <a:latin typeface="Segoe UI"/>
                <a:cs typeface="Segoe UI"/>
              </a:rPr>
              <a:t>machines,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Azure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virtual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machine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scale </a:t>
            </a:r>
            <a:r>
              <a:rPr sz="1800" dirty="0">
                <a:latin typeface="Segoe UI"/>
                <a:cs typeface="Segoe UI"/>
              </a:rPr>
              <a:t>sets,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Azure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App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Service,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even</a:t>
            </a:r>
            <a:endParaRPr sz="18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Segoe UI"/>
                <a:cs typeface="Segoe UI"/>
              </a:rPr>
              <a:t>on-</a:t>
            </a:r>
            <a:r>
              <a:rPr sz="1800" dirty="0">
                <a:latin typeface="Segoe UI"/>
                <a:cs typeface="Segoe UI"/>
              </a:rPr>
              <a:t>premises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servers</a:t>
            </a:r>
            <a:endParaRPr sz="1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92343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B4B4-42D7-777A-F3B1-8D5A9B09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4ACE9A-7401-1505-F526-6F82771E9B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C7552ACC-B4D9-5866-6A94-F94FEADDCDA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76EF65-1AF2-299E-5922-06936B942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F9450D-FA32-DBD7-A661-398F0D445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0B0EFD-CF48-A4A2-1643-242586676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A69355-899B-8BB6-54BC-7D162D7248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8069A5-8A70-778D-6516-DEA16F0C096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8" name="object 2">
            <a:extLst>
              <a:ext uri="{FF2B5EF4-FFF2-40B4-BE49-F238E27FC236}">
                <a16:creationId xmlns:a16="http://schemas.microsoft.com/office/drawing/2014/main" id="{CD8B2F27-DBC6-B267-B7E6-DCD13D3EAEF1}"/>
              </a:ext>
            </a:extLst>
          </p:cNvPr>
          <p:cNvSpPr txBox="1">
            <a:spLocks/>
          </p:cNvSpPr>
          <p:nvPr/>
        </p:nvSpPr>
        <p:spPr>
          <a:xfrm>
            <a:off x="2243958" y="877728"/>
            <a:ext cx="108223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55" dirty="0"/>
              <a:t>Determine</a:t>
            </a:r>
            <a:r>
              <a:rPr lang="en-IN" sz="3600" spc="-125" dirty="0"/>
              <a:t> </a:t>
            </a:r>
            <a:r>
              <a:rPr lang="en-IN" sz="3600" spc="-60" dirty="0"/>
              <a:t>Application</a:t>
            </a:r>
            <a:r>
              <a:rPr lang="en-IN" sz="3600" spc="-120" dirty="0"/>
              <a:t> </a:t>
            </a:r>
            <a:r>
              <a:rPr lang="en-IN" sz="3600" spc="-55" dirty="0"/>
              <a:t>Gateway</a:t>
            </a:r>
            <a:r>
              <a:rPr lang="en-IN" sz="3600" spc="-130" dirty="0"/>
              <a:t> </a:t>
            </a:r>
            <a:r>
              <a:rPr lang="en-IN" sz="3600" spc="-10" dirty="0"/>
              <a:t>Routing</a:t>
            </a: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A4951B80-EB6F-65F6-5CC4-4FB4CF704B61}"/>
              </a:ext>
            </a:extLst>
          </p:cNvPr>
          <p:cNvSpPr/>
          <p:nvPr/>
        </p:nvSpPr>
        <p:spPr>
          <a:xfrm>
            <a:off x="507271" y="1570578"/>
            <a:ext cx="5715000" cy="523240"/>
          </a:xfrm>
          <a:custGeom>
            <a:avLst/>
            <a:gdLst/>
            <a:ahLst/>
            <a:cxnLst/>
            <a:rect l="l" t="t" r="r" b="b"/>
            <a:pathLst>
              <a:path w="5715000" h="523239">
                <a:moveTo>
                  <a:pt x="5714644" y="0"/>
                </a:moveTo>
                <a:lnTo>
                  <a:pt x="0" y="0"/>
                </a:lnTo>
                <a:lnTo>
                  <a:pt x="0" y="523087"/>
                </a:lnTo>
                <a:lnTo>
                  <a:pt x="2857322" y="523087"/>
                </a:lnTo>
                <a:lnTo>
                  <a:pt x="5714644" y="523087"/>
                </a:lnTo>
                <a:lnTo>
                  <a:pt x="5714644" y="0"/>
                </a:lnTo>
                <a:close/>
              </a:path>
            </a:pathLst>
          </a:custGeom>
          <a:solidFill>
            <a:srgbClr val="233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BDC75108-6EC6-FBAA-7F77-B63C51BE69CB}"/>
              </a:ext>
            </a:extLst>
          </p:cNvPr>
          <p:cNvSpPr txBox="1"/>
          <p:nvPr/>
        </p:nvSpPr>
        <p:spPr>
          <a:xfrm>
            <a:off x="507271" y="1570578"/>
            <a:ext cx="5715000" cy="523240"/>
          </a:xfrm>
          <a:prstGeom prst="rect">
            <a:avLst/>
          </a:prstGeom>
          <a:ln w="19079">
            <a:solidFill>
              <a:srgbClr val="23395D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20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Path-</a:t>
            </a:r>
            <a:r>
              <a:rPr sz="2000" dirty="0">
                <a:solidFill>
                  <a:srgbClr val="FFFFFF"/>
                </a:solidFill>
                <a:latin typeface="Segoe UI Semibold"/>
                <a:cs typeface="Segoe UI Semibold"/>
              </a:rPr>
              <a:t>based</a:t>
            </a:r>
            <a:r>
              <a:rPr sz="2000" spc="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routing</a:t>
            </a:r>
            <a:endParaRPr sz="2000" dirty="0">
              <a:latin typeface="Segoe UI Semibold"/>
              <a:cs typeface="Segoe UI Semibold"/>
            </a:endParaRPr>
          </a:p>
        </p:txBody>
      </p:sp>
      <p:grpSp>
        <p:nvGrpSpPr>
          <p:cNvPr id="21" name="object 5">
            <a:extLst>
              <a:ext uri="{FF2B5EF4-FFF2-40B4-BE49-F238E27FC236}">
                <a16:creationId xmlns:a16="http://schemas.microsoft.com/office/drawing/2014/main" id="{22ECA972-DBFD-F2D5-7EBA-65C720972312}"/>
              </a:ext>
            </a:extLst>
          </p:cNvPr>
          <p:cNvGrpSpPr/>
          <p:nvPr/>
        </p:nvGrpSpPr>
        <p:grpSpPr>
          <a:xfrm>
            <a:off x="497731" y="2225603"/>
            <a:ext cx="5734050" cy="4524375"/>
            <a:chOff x="417421" y="1846987"/>
            <a:chExt cx="5734050" cy="4524375"/>
          </a:xfrm>
        </p:grpSpPr>
        <p:sp>
          <p:nvSpPr>
            <p:cNvPr id="22" name="object 6">
              <a:extLst>
                <a:ext uri="{FF2B5EF4-FFF2-40B4-BE49-F238E27FC236}">
                  <a16:creationId xmlns:a16="http://schemas.microsoft.com/office/drawing/2014/main" id="{7F7F150E-7056-8838-9A95-3BF41DC31E5C}"/>
                </a:ext>
              </a:extLst>
            </p:cNvPr>
            <p:cNvSpPr/>
            <p:nvPr/>
          </p:nvSpPr>
          <p:spPr>
            <a:xfrm>
              <a:off x="426961" y="1856527"/>
              <a:ext cx="5715000" cy="4505325"/>
            </a:xfrm>
            <a:custGeom>
              <a:avLst/>
              <a:gdLst/>
              <a:ahLst/>
              <a:cxnLst/>
              <a:rect l="l" t="t" r="r" b="b"/>
              <a:pathLst>
                <a:path w="5715000" h="4505325">
                  <a:moveTo>
                    <a:pt x="2857322" y="4505032"/>
                  </a:moveTo>
                  <a:lnTo>
                    <a:pt x="0" y="4505032"/>
                  </a:lnTo>
                  <a:lnTo>
                    <a:pt x="0" y="0"/>
                  </a:lnTo>
                  <a:lnTo>
                    <a:pt x="5714644" y="0"/>
                  </a:lnTo>
                  <a:lnTo>
                    <a:pt x="5714644" y="4505032"/>
                  </a:lnTo>
                  <a:lnTo>
                    <a:pt x="2857322" y="450503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7">
              <a:extLst>
                <a:ext uri="{FF2B5EF4-FFF2-40B4-BE49-F238E27FC236}">
                  <a16:creationId xmlns:a16="http://schemas.microsoft.com/office/drawing/2014/main" id="{504D3248-FDA2-8E32-5DC1-457E39BA942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2473201"/>
              <a:ext cx="5190925" cy="3454196"/>
            </a:xfrm>
            <a:prstGeom prst="rect">
              <a:avLst/>
            </a:prstGeom>
          </p:spPr>
        </p:pic>
      </p:grpSp>
      <p:sp>
        <p:nvSpPr>
          <p:cNvPr id="24" name="object 8">
            <a:extLst>
              <a:ext uri="{FF2B5EF4-FFF2-40B4-BE49-F238E27FC236}">
                <a16:creationId xmlns:a16="http://schemas.microsoft.com/office/drawing/2014/main" id="{5CCED62F-17BC-FA2F-44F9-BCC546915868}"/>
              </a:ext>
            </a:extLst>
          </p:cNvPr>
          <p:cNvSpPr/>
          <p:nvPr/>
        </p:nvSpPr>
        <p:spPr>
          <a:xfrm>
            <a:off x="6374912" y="1570578"/>
            <a:ext cx="5715000" cy="523240"/>
          </a:xfrm>
          <a:custGeom>
            <a:avLst/>
            <a:gdLst/>
            <a:ahLst/>
            <a:cxnLst/>
            <a:rect l="l" t="t" r="r" b="b"/>
            <a:pathLst>
              <a:path w="5715000" h="523239">
                <a:moveTo>
                  <a:pt x="5714631" y="0"/>
                </a:moveTo>
                <a:lnTo>
                  <a:pt x="0" y="0"/>
                </a:lnTo>
                <a:lnTo>
                  <a:pt x="0" y="523087"/>
                </a:lnTo>
                <a:lnTo>
                  <a:pt x="2857322" y="523087"/>
                </a:lnTo>
                <a:lnTo>
                  <a:pt x="5714631" y="523087"/>
                </a:lnTo>
                <a:lnTo>
                  <a:pt x="5714631" y="0"/>
                </a:lnTo>
                <a:close/>
              </a:path>
            </a:pathLst>
          </a:custGeom>
          <a:solidFill>
            <a:srgbClr val="233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E2B22D8D-53C5-0A0F-9503-7E6287CA6FCC}"/>
              </a:ext>
            </a:extLst>
          </p:cNvPr>
          <p:cNvSpPr txBox="1"/>
          <p:nvPr/>
        </p:nvSpPr>
        <p:spPr>
          <a:xfrm>
            <a:off x="6374912" y="1570578"/>
            <a:ext cx="5715000" cy="523240"/>
          </a:xfrm>
          <a:prstGeom prst="rect">
            <a:avLst/>
          </a:prstGeom>
          <a:ln w="19079">
            <a:solidFill>
              <a:srgbClr val="23395D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20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Multiple-</a:t>
            </a:r>
            <a:r>
              <a:rPr sz="2000" dirty="0">
                <a:solidFill>
                  <a:srgbClr val="FFFFFF"/>
                </a:solidFill>
                <a:latin typeface="Segoe UI Semibold"/>
                <a:cs typeface="Segoe UI Semibold"/>
              </a:rPr>
              <a:t>site</a:t>
            </a:r>
            <a:r>
              <a:rPr sz="2000" spc="4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routing</a:t>
            </a:r>
            <a:endParaRPr sz="2000">
              <a:latin typeface="Segoe UI Semibold"/>
              <a:cs typeface="Segoe UI Semibold"/>
            </a:endParaRPr>
          </a:p>
        </p:txBody>
      </p:sp>
      <p:grpSp>
        <p:nvGrpSpPr>
          <p:cNvPr id="26" name="object 10">
            <a:extLst>
              <a:ext uri="{FF2B5EF4-FFF2-40B4-BE49-F238E27FC236}">
                <a16:creationId xmlns:a16="http://schemas.microsoft.com/office/drawing/2014/main" id="{345FA0E0-B178-C438-F498-05C2D218B7B9}"/>
              </a:ext>
            </a:extLst>
          </p:cNvPr>
          <p:cNvGrpSpPr/>
          <p:nvPr/>
        </p:nvGrpSpPr>
        <p:grpSpPr>
          <a:xfrm>
            <a:off x="6365372" y="2225603"/>
            <a:ext cx="5734050" cy="4524375"/>
            <a:chOff x="6285062" y="1846987"/>
            <a:chExt cx="5734050" cy="4524375"/>
          </a:xfrm>
        </p:grpSpPr>
        <p:sp>
          <p:nvSpPr>
            <p:cNvPr id="27" name="object 11">
              <a:extLst>
                <a:ext uri="{FF2B5EF4-FFF2-40B4-BE49-F238E27FC236}">
                  <a16:creationId xmlns:a16="http://schemas.microsoft.com/office/drawing/2014/main" id="{9B480E1E-6BD0-7E4B-2119-009763ACF764}"/>
                </a:ext>
              </a:extLst>
            </p:cNvPr>
            <p:cNvSpPr/>
            <p:nvPr/>
          </p:nvSpPr>
          <p:spPr>
            <a:xfrm>
              <a:off x="6294602" y="1856527"/>
              <a:ext cx="5715000" cy="4505325"/>
            </a:xfrm>
            <a:custGeom>
              <a:avLst/>
              <a:gdLst/>
              <a:ahLst/>
              <a:cxnLst/>
              <a:rect l="l" t="t" r="r" b="b"/>
              <a:pathLst>
                <a:path w="5715000" h="4505325">
                  <a:moveTo>
                    <a:pt x="2857322" y="4505032"/>
                  </a:moveTo>
                  <a:lnTo>
                    <a:pt x="0" y="4505032"/>
                  </a:lnTo>
                  <a:lnTo>
                    <a:pt x="0" y="0"/>
                  </a:lnTo>
                  <a:lnTo>
                    <a:pt x="5714631" y="0"/>
                  </a:lnTo>
                  <a:lnTo>
                    <a:pt x="5714631" y="4505032"/>
                  </a:lnTo>
                  <a:lnTo>
                    <a:pt x="2857322" y="450503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12">
              <a:extLst>
                <a:ext uri="{FF2B5EF4-FFF2-40B4-BE49-F238E27FC236}">
                  <a16:creationId xmlns:a16="http://schemas.microsoft.com/office/drawing/2014/main" id="{CAB50AE3-3690-FEFF-7327-FE1D29551F3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56756" y="2456996"/>
              <a:ext cx="5118124" cy="34869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8388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DE65-435A-D76F-A2CD-527373BE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47486C56-6F8B-2914-00CD-D81F9A00A8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A4C2DB5-B9FC-8B5F-9CFF-A17585AE3FC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C09508-189A-5464-132A-D11067E47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88362C-F7CC-CF2C-C349-22770A86E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235394-1731-5609-3BF2-E02C6674D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BE2CF-0FA7-B463-DD94-F573C3C4FC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A85E69-BE76-0CAB-0E5F-D0CC885B336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F6209BE5-F102-3DD7-A1F8-FC50F8E27F0B}"/>
              </a:ext>
            </a:extLst>
          </p:cNvPr>
          <p:cNvSpPr txBox="1">
            <a:spLocks/>
          </p:cNvSpPr>
          <p:nvPr/>
        </p:nvSpPr>
        <p:spPr>
          <a:xfrm>
            <a:off x="1847582" y="280937"/>
            <a:ext cx="791527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5" dirty="0"/>
              <a:t>Setup</a:t>
            </a:r>
            <a:r>
              <a:rPr lang="en-US" sz="3600" spc="-90" dirty="0"/>
              <a:t> </a:t>
            </a:r>
            <a:r>
              <a:rPr lang="en-US" sz="3600" spc="-60" dirty="0"/>
              <a:t>Application</a:t>
            </a:r>
            <a:r>
              <a:rPr lang="en-US" sz="3600" spc="-80" dirty="0"/>
              <a:t> </a:t>
            </a:r>
            <a:r>
              <a:rPr lang="en-US" sz="3600" spc="-60" dirty="0"/>
              <a:t>Gateway</a:t>
            </a:r>
            <a:r>
              <a:rPr lang="en-US" sz="3600" spc="-90" dirty="0"/>
              <a:t> </a:t>
            </a:r>
            <a:r>
              <a:rPr lang="en-US" sz="3600" spc="-70" dirty="0"/>
              <a:t>Components</a:t>
            </a:r>
            <a:r>
              <a:rPr lang="en-US" sz="3600" spc="-95" dirty="0"/>
              <a:t> </a:t>
            </a:r>
            <a:r>
              <a:rPr lang="en-US" sz="3600" spc="-10" dirty="0"/>
              <a:t>(optional)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29A8FF2-17B1-F749-6D22-056F205955E0}"/>
              </a:ext>
            </a:extLst>
          </p:cNvPr>
          <p:cNvSpPr txBox="1"/>
          <p:nvPr/>
        </p:nvSpPr>
        <p:spPr>
          <a:xfrm>
            <a:off x="692563" y="1671217"/>
            <a:ext cx="1975485" cy="480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Frontend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IP</a:t>
            </a:r>
            <a:endParaRPr sz="2000" dirty="0">
              <a:latin typeface="Segoe UI"/>
              <a:cs typeface="Segoe UI"/>
            </a:endParaRPr>
          </a:p>
          <a:p>
            <a:pPr marL="12700" marR="128270">
              <a:lnSpc>
                <a:spcPct val="275400"/>
              </a:lnSpc>
              <a:spcBef>
                <a:spcPts val="70"/>
              </a:spcBef>
            </a:pPr>
            <a:r>
              <a:rPr sz="2000" spc="-10" dirty="0">
                <a:latin typeface="Segoe UI"/>
                <a:cs typeface="Segoe UI"/>
              </a:rPr>
              <a:t>Listeners </a:t>
            </a:r>
            <a:r>
              <a:rPr sz="2000" dirty="0">
                <a:latin typeface="Segoe UI"/>
                <a:cs typeface="Segoe UI"/>
              </a:rPr>
              <a:t>Routing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rules </a:t>
            </a:r>
            <a:r>
              <a:rPr sz="2000" dirty="0">
                <a:latin typeface="Segoe UI"/>
                <a:cs typeface="Segoe UI"/>
              </a:rPr>
              <a:t>Backend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pools </a:t>
            </a:r>
            <a:r>
              <a:rPr sz="2000" dirty="0">
                <a:latin typeface="Segoe UI"/>
                <a:cs typeface="Segoe UI"/>
              </a:rPr>
              <a:t>Web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application</a:t>
            </a: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Segoe UI"/>
                <a:cs typeface="Segoe UI"/>
              </a:rPr>
              <a:t>firewall</a:t>
            </a:r>
            <a:r>
              <a:rPr sz="2000" spc="-8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(optional)</a:t>
            </a:r>
            <a:endParaRPr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Health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probes</a:t>
            </a:r>
            <a:endParaRPr sz="2000" dirty="0">
              <a:latin typeface="Segoe UI"/>
              <a:cs typeface="Segoe UI"/>
            </a:endParaRP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36CA8068-C4B3-9B76-178D-A2C1E2590F81}"/>
              </a:ext>
            </a:extLst>
          </p:cNvPr>
          <p:cNvGrpSpPr/>
          <p:nvPr/>
        </p:nvGrpSpPr>
        <p:grpSpPr>
          <a:xfrm>
            <a:off x="3082598" y="1478798"/>
            <a:ext cx="8778875" cy="5188585"/>
            <a:chOff x="3239818" y="1182422"/>
            <a:chExt cx="8778875" cy="5188585"/>
          </a:xfrm>
        </p:grpSpPr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4484B12-C359-09BE-81AA-32509A19059A}"/>
                </a:ext>
              </a:extLst>
            </p:cNvPr>
            <p:cNvSpPr/>
            <p:nvPr/>
          </p:nvSpPr>
          <p:spPr>
            <a:xfrm>
              <a:off x="3249358" y="1191962"/>
              <a:ext cx="8759825" cy="5169535"/>
            </a:xfrm>
            <a:custGeom>
              <a:avLst/>
              <a:gdLst/>
              <a:ahLst/>
              <a:cxnLst/>
              <a:rect l="l" t="t" r="r" b="b"/>
              <a:pathLst>
                <a:path w="8759825" h="5169535">
                  <a:moveTo>
                    <a:pt x="4379760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8759520" y="0"/>
                  </a:lnTo>
                  <a:lnTo>
                    <a:pt x="8759520" y="5169242"/>
                  </a:lnTo>
                  <a:lnTo>
                    <a:pt x="4379760" y="5169242"/>
                  </a:lnTo>
                  <a:close/>
                </a:path>
              </a:pathLst>
            </a:custGeom>
            <a:ln w="1907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F1A72B1B-810D-1AFA-5859-C2E902D58CB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2676" y="1568174"/>
              <a:ext cx="8038714" cy="46670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047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AD05-FC71-BBF3-1F33-AC3BDF78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21BFAD4E-806A-87BF-D102-413E8F79E0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FE6DF8F6-3014-CB7F-881C-E08D491C7F2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92ECF1-0BF9-1520-7FF5-BF5331A14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A02D45-ABFB-D8C6-40A5-167ACE46F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454A1-A6C3-4D43-03B2-DDA1B0F8D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A7CDFD-35A7-724A-C781-EE188AB23BB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74B89-180E-8FFF-000F-96750091253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D4F95957-08C9-F767-EB05-97F28F63E12D}"/>
              </a:ext>
            </a:extLst>
          </p:cNvPr>
          <p:cNvSpPr txBox="1">
            <a:spLocks/>
          </p:cNvSpPr>
          <p:nvPr/>
        </p:nvSpPr>
        <p:spPr>
          <a:xfrm>
            <a:off x="3325918" y="2935955"/>
            <a:ext cx="5696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50" dirty="0"/>
              <a:t>Configure</a:t>
            </a:r>
            <a:r>
              <a:rPr lang="en-IN" sz="3600" spc="-195" dirty="0"/>
              <a:t> </a:t>
            </a:r>
            <a:r>
              <a:rPr lang="en-IN" sz="3600" spc="-50" dirty="0"/>
              <a:t>Network</a:t>
            </a:r>
            <a:r>
              <a:rPr lang="en-IN" sz="3600" spc="-190" dirty="0"/>
              <a:t> </a:t>
            </a:r>
            <a:r>
              <a:rPr lang="en-IN" sz="3600" spc="-10" dirty="0"/>
              <a:t>Watcher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79725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9E4B8-C595-E7F1-5218-583C35BA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DAAA025-BEC4-B72C-FC57-94481FFE8C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1CE5CCA-41F0-337B-EC5C-02799AE277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5B92E5-8A6F-CA60-7ED8-C838A8B6E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30099B-6D51-F71F-05B6-0B158845F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BD10AE-3A54-267F-281A-911409C21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16266-BFA8-F084-2787-99485471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9B0075-8D9A-6D3B-33A0-30E2267574C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4" name="object 2">
            <a:extLst>
              <a:ext uri="{FF2B5EF4-FFF2-40B4-BE49-F238E27FC236}">
                <a16:creationId xmlns:a16="http://schemas.microsoft.com/office/drawing/2014/main" id="{42741610-7D42-C6AF-3DB2-B780A258D7A9}"/>
              </a:ext>
            </a:extLst>
          </p:cNvPr>
          <p:cNvSpPr txBox="1">
            <a:spLocks/>
          </p:cNvSpPr>
          <p:nvPr/>
        </p:nvSpPr>
        <p:spPr>
          <a:xfrm>
            <a:off x="390752" y="914862"/>
            <a:ext cx="108223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600" spc="-55" dirty="0"/>
              <a:t>Describe</a:t>
            </a:r>
            <a:r>
              <a:rPr lang="en-IN" sz="3600" spc="-85" dirty="0"/>
              <a:t> </a:t>
            </a:r>
            <a:r>
              <a:rPr lang="en-IN" sz="3600" spc="-65" dirty="0"/>
              <a:t>Network</a:t>
            </a:r>
            <a:r>
              <a:rPr lang="en-IN" sz="3600" spc="-105" dirty="0"/>
              <a:t> </a:t>
            </a:r>
            <a:r>
              <a:rPr lang="en-IN" sz="3600" spc="-55" dirty="0"/>
              <a:t>Watcher</a:t>
            </a:r>
            <a:r>
              <a:rPr lang="en-IN" sz="3600" spc="-95" dirty="0"/>
              <a:t> </a:t>
            </a:r>
            <a:r>
              <a:rPr lang="en-IN" sz="3600" spc="-20" dirty="0"/>
              <a:t>Features</a:t>
            </a: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41E9139-AA05-2C43-E8A0-AC30C232767A}"/>
              </a:ext>
            </a:extLst>
          </p:cNvPr>
          <p:cNvSpPr txBox="1"/>
          <p:nvPr/>
        </p:nvSpPr>
        <p:spPr>
          <a:xfrm>
            <a:off x="554557" y="1539817"/>
            <a:ext cx="4981575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A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regional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service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that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provides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various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network </a:t>
            </a:r>
            <a:r>
              <a:rPr sz="1800" dirty="0">
                <a:latin typeface="Segoe UI"/>
                <a:cs typeface="Segoe UI"/>
              </a:rPr>
              <a:t>diagnostic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monitoring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tools</a:t>
            </a:r>
            <a:endParaRPr sz="1800">
              <a:latin typeface="Segoe UI"/>
              <a:cs typeface="Segoe UI"/>
            </a:endParaRPr>
          </a:p>
          <a:p>
            <a:pPr marL="19050">
              <a:lnSpc>
                <a:spcPct val="100000"/>
              </a:lnSpc>
              <a:spcBef>
                <a:spcPts val="1545"/>
              </a:spcBef>
            </a:pPr>
            <a:r>
              <a:rPr sz="1800" dirty="0">
                <a:latin typeface="Segoe UI Semibold"/>
                <a:cs typeface="Segoe UI Semibold"/>
              </a:rPr>
              <a:t>IP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Flow</a:t>
            </a:r>
            <a:r>
              <a:rPr sz="1800" spc="-4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Verify</a:t>
            </a:r>
            <a:r>
              <a:rPr sz="1800" spc="-4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diagnoses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connectivity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issues</a:t>
            </a:r>
            <a:endParaRPr sz="1800">
              <a:latin typeface="Segoe UI"/>
              <a:cs typeface="Segoe UI"/>
            </a:endParaRPr>
          </a:p>
          <a:p>
            <a:pPr marL="12700" marR="1099185">
              <a:lnSpc>
                <a:spcPct val="100000"/>
              </a:lnSpc>
              <a:spcBef>
                <a:spcPts val="2360"/>
              </a:spcBef>
            </a:pPr>
            <a:r>
              <a:rPr sz="1800" dirty="0">
                <a:latin typeface="Segoe UI Semibold"/>
                <a:cs typeface="Segoe UI Semibold"/>
              </a:rPr>
              <a:t>Next</a:t>
            </a:r>
            <a:r>
              <a:rPr sz="1800" spc="-5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Hop</a:t>
            </a:r>
            <a:r>
              <a:rPr sz="1800" spc="-5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determines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if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traffic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being </a:t>
            </a:r>
            <a:r>
              <a:rPr sz="1800" dirty="0">
                <a:latin typeface="Segoe UI"/>
                <a:cs typeface="Segoe UI"/>
              </a:rPr>
              <a:t>correctly</a:t>
            </a:r>
            <a:r>
              <a:rPr sz="1800" spc="-11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routed</a:t>
            </a:r>
            <a:endParaRPr sz="1800">
              <a:latin typeface="Segoe UI"/>
              <a:cs typeface="Segoe UI"/>
            </a:endParaRPr>
          </a:p>
          <a:p>
            <a:pPr marL="12700" marR="342900">
              <a:lnSpc>
                <a:spcPct val="100000"/>
              </a:lnSpc>
              <a:spcBef>
                <a:spcPts val="2090"/>
              </a:spcBef>
            </a:pPr>
            <a:r>
              <a:rPr sz="1800" dirty="0">
                <a:latin typeface="Segoe UI Semibold"/>
                <a:cs typeface="Segoe UI Semibold"/>
              </a:rPr>
              <a:t>VPN</a:t>
            </a:r>
            <a:r>
              <a:rPr sz="1800" spc="-7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Diagnostics</a:t>
            </a:r>
            <a:r>
              <a:rPr sz="1800" spc="-4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troubleshoots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gateways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 </a:t>
            </a:r>
            <a:r>
              <a:rPr sz="1800" spc="-10" dirty="0">
                <a:latin typeface="Segoe UI"/>
                <a:cs typeface="Segoe UI"/>
              </a:rPr>
              <a:t>connections</a:t>
            </a:r>
            <a:endParaRPr sz="1800">
              <a:latin typeface="Segoe UI"/>
              <a:cs typeface="Segoe UI"/>
            </a:endParaRPr>
          </a:p>
          <a:p>
            <a:pPr marL="12700" marR="858519">
              <a:lnSpc>
                <a:spcPct val="100000"/>
              </a:lnSpc>
              <a:spcBef>
                <a:spcPts val="2095"/>
              </a:spcBef>
            </a:pPr>
            <a:r>
              <a:rPr sz="1800" dirty="0">
                <a:latin typeface="Segoe UI Semibold"/>
                <a:cs typeface="Segoe UI Semibold"/>
              </a:rPr>
              <a:t>NSG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Flow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Logs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maps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IP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traffic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through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50" dirty="0">
                <a:latin typeface="Segoe UI"/>
                <a:cs typeface="Segoe UI"/>
              </a:rPr>
              <a:t>a </a:t>
            </a:r>
            <a:r>
              <a:rPr sz="1800" dirty="0">
                <a:latin typeface="Segoe UI"/>
                <a:cs typeface="Segoe UI"/>
              </a:rPr>
              <a:t>network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security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group</a:t>
            </a:r>
            <a:endParaRPr sz="1800">
              <a:latin typeface="Segoe UI"/>
              <a:cs typeface="Segoe UI"/>
            </a:endParaRPr>
          </a:p>
          <a:p>
            <a:pPr marL="12700" marR="407670">
              <a:lnSpc>
                <a:spcPct val="100000"/>
              </a:lnSpc>
              <a:spcBef>
                <a:spcPts val="2075"/>
              </a:spcBef>
            </a:pPr>
            <a:r>
              <a:rPr sz="1800" dirty="0">
                <a:latin typeface="Segoe UI Semibold"/>
                <a:cs typeface="Segoe UI Semibold"/>
              </a:rPr>
              <a:t>Connection</a:t>
            </a:r>
            <a:r>
              <a:rPr sz="1800" spc="-6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troubleshoot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shows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connectivity </a:t>
            </a:r>
            <a:r>
              <a:rPr sz="1800" dirty="0">
                <a:latin typeface="Segoe UI"/>
                <a:cs typeface="Segoe UI"/>
              </a:rPr>
              <a:t>between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source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VM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destination</a:t>
            </a:r>
            <a:endParaRPr sz="1800">
              <a:latin typeface="Segoe UI"/>
              <a:cs typeface="Segoe UI"/>
            </a:endParaRPr>
          </a:p>
          <a:p>
            <a:pPr marL="12700" marR="957580">
              <a:lnSpc>
                <a:spcPct val="100000"/>
              </a:lnSpc>
              <a:spcBef>
                <a:spcPts val="2095"/>
              </a:spcBef>
            </a:pPr>
            <a:r>
              <a:rPr sz="1800" dirty="0">
                <a:latin typeface="Segoe UI Semibold"/>
                <a:cs typeface="Segoe UI Semibold"/>
              </a:rPr>
              <a:t>Topology</a:t>
            </a:r>
            <a:r>
              <a:rPr sz="1800" spc="-5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"/>
                <a:cs typeface="Segoe UI"/>
              </a:rPr>
              <a:t>generates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visual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diagram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of </a:t>
            </a:r>
            <a:r>
              <a:rPr sz="1800" spc="-10" dirty="0">
                <a:latin typeface="Segoe UI"/>
                <a:cs typeface="Segoe UI"/>
              </a:rPr>
              <a:t>resources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6" name="object 10">
            <a:extLst>
              <a:ext uri="{FF2B5EF4-FFF2-40B4-BE49-F238E27FC236}">
                <a16:creationId xmlns:a16="http://schemas.microsoft.com/office/drawing/2014/main" id="{B9A5E4E7-9554-1F4B-BE12-99716409019A}"/>
              </a:ext>
            </a:extLst>
          </p:cNvPr>
          <p:cNvGrpSpPr/>
          <p:nvPr/>
        </p:nvGrpSpPr>
        <p:grpSpPr>
          <a:xfrm>
            <a:off x="5719390" y="1552692"/>
            <a:ext cx="6237605" cy="5188585"/>
            <a:chOff x="5780694" y="1238581"/>
            <a:chExt cx="6237605" cy="5188585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C0C05E9D-84D9-32E3-BC54-0874F15D4512}"/>
                </a:ext>
              </a:extLst>
            </p:cNvPr>
            <p:cNvSpPr/>
            <p:nvPr/>
          </p:nvSpPr>
          <p:spPr>
            <a:xfrm>
              <a:off x="5790234" y="1248121"/>
              <a:ext cx="6218555" cy="5169535"/>
            </a:xfrm>
            <a:custGeom>
              <a:avLst/>
              <a:gdLst/>
              <a:ahLst/>
              <a:cxnLst/>
              <a:rect l="l" t="t" r="r" b="b"/>
              <a:pathLst>
                <a:path w="6218555" h="5169535">
                  <a:moveTo>
                    <a:pt x="3109328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6218288" y="0"/>
                  </a:lnTo>
                  <a:lnTo>
                    <a:pt x="6218288" y="5169242"/>
                  </a:lnTo>
                  <a:lnTo>
                    <a:pt x="3109328" y="5169242"/>
                  </a:lnTo>
                  <a:close/>
                </a:path>
              </a:pathLst>
            </a:custGeom>
            <a:ln w="19079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2">
              <a:extLst>
                <a:ext uri="{FF2B5EF4-FFF2-40B4-BE49-F238E27FC236}">
                  <a16:creationId xmlns:a16="http://schemas.microsoft.com/office/drawing/2014/main" id="{749DFBE9-0AC7-531F-404C-21FD853C198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1978" y="1996268"/>
              <a:ext cx="5875171" cy="3696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4671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DC01E-1667-3395-D32A-569E53F2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37F100F3-FB77-4744-1732-E1D000E412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14F39120-C413-A227-9953-9CFA7D84497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262E3B-466E-18D3-FAC6-070DE7EAF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4C1477-A935-D882-88D3-BB2405D39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8E5705-5041-C4C6-A8DA-E5ABD8637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F8B27-E4BE-18D3-EE8F-479F49930A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A9BABD-2145-3DEB-BB16-755C3DEE4C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E248B282-4EC0-7696-2CC5-A43DA2978818}"/>
              </a:ext>
            </a:extLst>
          </p:cNvPr>
          <p:cNvSpPr txBox="1">
            <a:spLocks/>
          </p:cNvSpPr>
          <p:nvPr/>
        </p:nvSpPr>
        <p:spPr>
          <a:xfrm>
            <a:off x="2839010" y="546778"/>
            <a:ext cx="651397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0" dirty="0"/>
              <a:t>Review</a:t>
            </a:r>
            <a:r>
              <a:rPr lang="en-US" sz="3600" spc="-125" dirty="0"/>
              <a:t> </a:t>
            </a:r>
            <a:r>
              <a:rPr lang="en-US" sz="3600" spc="-10" dirty="0"/>
              <a:t>IP</a:t>
            </a:r>
            <a:r>
              <a:rPr lang="en-US" sz="3600" spc="-120" dirty="0"/>
              <a:t> </a:t>
            </a:r>
            <a:r>
              <a:rPr lang="en-US" sz="3600" spc="-50" dirty="0"/>
              <a:t>Flow</a:t>
            </a:r>
            <a:r>
              <a:rPr lang="en-US" sz="3600" spc="-125" dirty="0"/>
              <a:t> </a:t>
            </a:r>
            <a:r>
              <a:rPr lang="en-US" sz="3600" spc="-60" dirty="0"/>
              <a:t>Verify</a:t>
            </a:r>
            <a:r>
              <a:rPr lang="en-US" sz="3600" spc="-114" dirty="0"/>
              <a:t> </a:t>
            </a:r>
            <a:r>
              <a:rPr lang="en-US" sz="3600" spc="-40" dirty="0"/>
              <a:t>Diagnostics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6FA659E4-37F3-BAF3-55F3-880ED626D08F}"/>
              </a:ext>
            </a:extLst>
          </p:cNvPr>
          <p:cNvSpPr txBox="1"/>
          <p:nvPr/>
        </p:nvSpPr>
        <p:spPr>
          <a:xfrm>
            <a:off x="537375" y="3273733"/>
            <a:ext cx="2653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Checks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if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packet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is </a:t>
            </a:r>
            <a:r>
              <a:rPr sz="2000" dirty="0">
                <a:latin typeface="Segoe UI"/>
                <a:cs typeface="Segoe UI"/>
              </a:rPr>
              <a:t>allowed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or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denied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25" dirty="0">
                <a:latin typeface="Segoe UI"/>
                <a:cs typeface="Segoe UI"/>
              </a:rPr>
              <a:t> or </a:t>
            </a:r>
            <a:r>
              <a:rPr sz="2000" dirty="0">
                <a:latin typeface="Segoe UI"/>
                <a:cs typeface="Segoe UI"/>
              </a:rPr>
              <a:t>from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virtual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machine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F7839850-0485-591E-F838-68F305926F3E}"/>
              </a:ext>
            </a:extLst>
          </p:cNvPr>
          <p:cNvGrpSpPr/>
          <p:nvPr/>
        </p:nvGrpSpPr>
        <p:grpSpPr>
          <a:xfrm>
            <a:off x="3546180" y="1182422"/>
            <a:ext cx="8472805" cy="5188585"/>
            <a:chOff x="3546180" y="1182422"/>
            <a:chExt cx="8472805" cy="518858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60D36BFD-68B3-D04A-2E93-C95ACF50656F}"/>
                </a:ext>
              </a:extLst>
            </p:cNvPr>
            <p:cNvSpPr/>
            <p:nvPr/>
          </p:nvSpPr>
          <p:spPr>
            <a:xfrm>
              <a:off x="3555720" y="1191962"/>
              <a:ext cx="8453755" cy="5169535"/>
            </a:xfrm>
            <a:custGeom>
              <a:avLst/>
              <a:gdLst/>
              <a:ahLst/>
              <a:cxnLst/>
              <a:rect l="l" t="t" r="r" b="b"/>
              <a:pathLst>
                <a:path w="8453755" h="5169535">
                  <a:moveTo>
                    <a:pt x="4226763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8453158" y="0"/>
                  </a:lnTo>
                  <a:lnTo>
                    <a:pt x="8453158" y="5169242"/>
                  </a:lnTo>
                  <a:lnTo>
                    <a:pt x="4226763" y="5169242"/>
                  </a:lnTo>
                  <a:close/>
                </a:path>
              </a:pathLst>
            </a:custGeom>
            <a:ln w="19079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E394C707-AB54-F3C5-FCDB-BABEE89BD86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3165" y="1713601"/>
              <a:ext cx="8200796" cy="42940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2315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1615-8E54-352B-4978-D56507EE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9E884B7-9B5C-BE16-B4FA-440171ABAE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F8962D67-C596-5B1B-6D14-5C9442C3ADF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6ED9AE-3C1C-8F2F-0D0C-5387E5E31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563126-7BFB-F6B2-1399-EE13A9261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EE7D32-C189-C1A0-A837-CD9CFBAD7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5E8A02-7603-78D9-BDD1-B90B047D844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85B524-CCA7-6D93-881D-14855D500DB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956E420-FD0E-4AE5-6F6B-553F2345D104}"/>
              </a:ext>
            </a:extLst>
          </p:cNvPr>
          <p:cNvSpPr txBox="1">
            <a:spLocks/>
          </p:cNvSpPr>
          <p:nvPr/>
        </p:nvSpPr>
        <p:spPr>
          <a:xfrm>
            <a:off x="2987870" y="508126"/>
            <a:ext cx="61245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50" dirty="0"/>
              <a:t>Review</a:t>
            </a:r>
            <a:r>
              <a:rPr lang="en-IN" sz="3600" spc="-120" dirty="0"/>
              <a:t> </a:t>
            </a:r>
            <a:r>
              <a:rPr lang="en-IN" sz="3600" spc="-45" dirty="0"/>
              <a:t>Next</a:t>
            </a:r>
            <a:r>
              <a:rPr lang="en-IN" sz="3600" spc="-114" dirty="0"/>
              <a:t> </a:t>
            </a:r>
            <a:r>
              <a:rPr lang="en-IN" sz="3600" spc="-50" dirty="0"/>
              <a:t>Hop</a:t>
            </a:r>
            <a:r>
              <a:rPr lang="en-IN" sz="3600" spc="-130" dirty="0"/>
              <a:t> </a:t>
            </a:r>
            <a:r>
              <a:rPr lang="en-IN" sz="3600" spc="-35" dirty="0"/>
              <a:t>Diagnostics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EFA8581D-843A-A3A3-FE9F-273CFF342FBA}"/>
              </a:ext>
            </a:extLst>
          </p:cNvPr>
          <p:cNvSpPr txBox="1"/>
          <p:nvPr/>
        </p:nvSpPr>
        <p:spPr>
          <a:xfrm>
            <a:off x="551065" y="2880262"/>
            <a:ext cx="370459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"/>
                <a:cs typeface="Segoe UI"/>
              </a:rPr>
              <a:t>Helps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with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determining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whether </a:t>
            </a:r>
            <a:r>
              <a:rPr sz="2000" dirty="0">
                <a:latin typeface="Segoe UI"/>
                <a:cs typeface="Segoe UI"/>
              </a:rPr>
              <a:t>traffic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being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directed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</a:t>
            </a:r>
            <a:r>
              <a:rPr sz="2000" dirty="0">
                <a:latin typeface="Segoe UI"/>
                <a:cs typeface="Segoe UI"/>
              </a:rPr>
              <a:t>intended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destination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by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showing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next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hop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F0F5DA6E-6ABA-B7B1-277D-085348F4E2EA}"/>
              </a:ext>
            </a:extLst>
          </p:cNvPr>
          <p:cNvGrpSpPr/>
          <p:nvPr/>
        </p:nvGrpSpPr>
        <p:grpSpPr>
          <a:xfrm>
            <a:off x="4755779" y="1182422"/>
            <a:ext cx="6969759" cy="5188585"/>
            <a:chOff x="4755779" y="1182422"/>
            <a:chExt cx="6969759" cy="518858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6E99BDC-67DF-D5A8-8BFD-9622B16E999A}"/>
                </a:ext>
              </a:extLst>
            </p:cNvPr>
            <p:cNvSpPr/>
            <p:nvPr/>
          </p:nvSpPr>
          <p:spPr>
            <a:xfrm>
              <a:off x="4765319" y="1191962"/>
              <a:ext cx="6950709" cy="5169535"/>
            </a:xfrm>
            <a:custGeom>
              <a:avLst/>
              <a:gdLst/>
              <a:ahLst/>
              <a:cxnLst/>
              <a:rect l="l" t="t" r="r" b="b"/>
              <a:pathLst>
                <a:path w="6950709" h="5169535">
                  <a:moveTo>
                    <a:pt x="3475075" y="5169242"/>
                  </a:moveTo>
                  <a:lnTo>
                    <a:pt x="0" y="5169242"/>
                  </a:lnTo>
                  <a:lnTo>
                    <a:pt x="0" y="0"/>
                  </a:lnTo>
                  <a:lnTo>
                    <a:pt x="6950163" y="0"/>
                  </a:lnTo>
                  <a:lnTo>
                    <a:pt x="6950163" y="5169242"/>
                  </a:lnTo>
                  <a:lnTo>
                    <a:pt x="3475075" y="5169242"/>
                  </a:lnTo>
                  <a:close/>
                </a:path>
              </a:pathLst>
            </a:custGeom>
            <a:ln w="19079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4DE166EA-153D-D3FF-92BA-30BB5EDB390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50165" y="1301042"/>
              <a:ext cx="4936281" cy="49434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9461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CD82-EFB0-BDEA-D70E-12E8EA17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E2B377FF-950F-43C8-8A16-8A3CC7486A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3C25DC6C-478A-98FF-AE6E-C75EDBC9DA3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B7BACA-68A3-90A4-4DFE-84778728D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79FA47-ACFE-4BED-31FC-69D210C2D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8E64D-C8E3-EEC5-7012-DA7388954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D2F313-F961-56F8-F127-9E717D1EF3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030DD-E890-9EB4-713B-D9688F3D61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F65A43B3-3228-5584-CB07-CECA951D3F5D}"/>
              </a:ext>
            </a:extLst>
          </p:cNvPr>
          <p:cNvSpPr txBox="1">
            <a:spLocks/>
          </p:cNvSpPr>
          <p:nvPr/>
        </p:nvSpPr>
        <p:spPr>
          <a:xfrm>
            <a:off x="290642" y="533859"/>
            <a:ext cx="108223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600" spc="-65" dirty="0"/>
              <a:t>Visualize</a:t>
            </a:r>
            <a:r>
              <a:rPr lang="en-IN" sz="3600" spc="-125" dirty="0"/>
              <a:t> </a:t>
            </a:r>
            <a:r>
              <a:rPr lang="en-IN" sz="3600" spc="-20" dirty="0"/>
              <a:t>the</a:t>
            </a:r>
            <a:r>
              <a:rPr lang="en-IN" sz="3600" spc="-110" dirty="0"/>
              <a:t> </a:t>
            </a:r>
            <a:r>
              <a:rPr lang="en-IN" sz="3600" spc="-55" dirty="0"/>
              <a:t>Network</a:t>
            </a:r>
            <a:r>
              <a:rPr lang="en-IN" sz="3600" spc="-120" dirty="0"/>
              <a:t> </a:t>
            </a:r>
            <a:r>
              <a:rPr lang="en-IN" sz="3600" spc="-30" dirty="0"/>
              <a:t>Topology</a:t>
            </a: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1199C8D5-433A-10F1-AAF0-35F3DE5D87B9}"/>
              </a:ext>
            </a:extLst>
          </p:cNvPr>
          <p:cNvGrpSpPr/>
          <p:nvPr/>
        </p:nvGrpSpPr>
        <p:grpSpPr>
          <a:xfrm>
            <a:off x="417421" y="1182422"/>
            <a:ext cx="11601450" cy="3653154"/>
            <a:chOff x="417421" y="1182422"/>
            <a:chExt cx="11601450" cy="3653154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8F0AFB85-E9C8-E3BC-8EAB-60B8C3D958C1}"/>
                </a:ext>
              </a:extLst>
            </p:cNvPr>
            <p:cNvSpPr/>
            <p:nvPr/>
          </p:nvSpPr>
          <p:spPr>
            <a:xfrm>
              <a:off x="426961" y="1191962"/>
              <a:ext cx="11582400" cy="3634104"/>
            </a:xfrm>
            <a:custGeom>
              <a:avLst/>
              <a:gdLst/>
              <a:ahLst/>
              <a:cxnLst/>
              <a:rect l="l" t="t" r="r" b="b"/>
              <a:pathLst>
                <a:path w="11582400" h="3634104">
                  <a:moveTo>
                    <a:pt x="5790958" y="3633482"/>
                  </a:moveTo>
                  <a:lnTo>
                    <a:pt x="0" y="3633482"/>
                  </a:lnTo>
                  <a:lnTo>
                    <a:pt x="0" y="0"/>
                  </a:lnTo>
                  <a:lnTo>
                    <a:pt x="11581917" y="0"/>
                  </a:lnTo>
                  <a:lnTo>
                    <a:pt x="11581917" y="3633482"/>
                  </a:lnTo>
                  <a:lnTo>
                    <a:pt x="5790958" y="3633482"/>
                  </a:lnTo>
                  <a:close/>
                </a:path>
              </a:pathLst>
            </a:custGeom>
            <a:ln w="19079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2CB73889-C4AA-680B-6CA8-5B3C8ED33AE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362" y="1752203"/>
              <a:ext cx="10340459" cy="2754376"/>
            </a:xfrm>
            <a:prstGeom prst="rect">
              <a:avLst/>
            </a:prstGeom>
          </p:spPr>
        </p:pic>
      </p:grpSp>
      <p:sp>
        <p:nvSpPr>
          <p:cNvPr id="13" name="object 6">
            <a:extLst>
              <a:ext uri="{FF2B5EF4-FFF2-40B4-BE49-F238E27FC236}">
                <a16:creationId xmlns:a16="http://schemas.microsoft.com/office/drawing/2014/main" id="{4B196F01-E8D6-8AC8-4C95-ED85F636F8C7}"/>
              </a:ext>
            </a:extLst>
          </p:cNvPr>
          <p:cNvSpPr txBox="1"/>
          <p:nvPr/>
        </p:nvSpPr>
        <p:spPr>
          <a:xfrm>
            <a:off x="440283" y="4978441"/>
            <a:ext cx="3474720" cy="138366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90805" rIns="0" bIns="0" rtlCol="0">
            <a:spAutoFit/>
          </a:bodyPr>
          <a:lstStyle/>
          <a:p>
            <a:pPr marL="137160" marR="821690">
              <a:lnSpc>
                <a:spcPct val="100000"/>
              </a:lnSpc>
              <a:spcBef>
                <a:spcPts val="715"/>
              </a:spcBef>
            </a:pPr>
            <a:r>
              <a:rPr sz="2000" dirty="0">
                <a:latin typeface="Segoe UI"/>
                <a:cs typeface="Segoe UI"/>
              </a:rPr>
              <a:t>Provides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visual </a:t>
            </a:r>
            <a:r>
              <a:rPr sz="2000" dirty="0">
                <a:latin typeface="Segoe UI"/>
                <a:cs typeface="Segoe UI"/>
              </a:rPr>
              <a:t>representation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your </a:t>
            </a:r>
            <a:r>
              <a:rPr sz="2000" dirty="0">
                <a:latin typeface="Segoe UI"/>
                <a:cs typeface="Segoe UI"/>
              </a:rPr>
              <a:t>networking</a:t>
            </a:r>
            <a:r>
              <a:rPr sz="2000" spc="-9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elements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4FCEFB6A-2EAF-AEBF-B44B-496D3DF1626A}"/>
              </a:ext>
            </a:extLst>
          </p:cNvPr>
          <p:cNvSpPr txBox="1"/>
          <p:nvPr/>
        </p:nvSpPr>
        <p:spPr>
          <a:xfrm>
            <a:off x="4052874" y="4978441"/>
            <a:ext cx="4041140" cy="138366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90805" rIns="0" bIns="0" rtlCol="0">
            <a:spAutoFit/>
          </a:bodyPr>
          <a:lstStyle/>
          <a:p>
            <a:pPr marL="136525" marR="227965">
              <a:lnSpc>
                <a:spcPct val="100000"/>
              </a:lnSpc>
              <a:spcBef>
                <a:spcPts val="715"/>
              </a:spcBef>
            </a:pPr>
            <a:r>
              <a:rPr sz="2000" dirty="0">
                <a:latin typeface="Segoe UI"/>
                <a:cs typeface="Segoe UI"/>
              </a:rPr>
              <a:t>View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all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resources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virtual </a:t>
            </a:r>
            <a:r>
              <a:rPr sz="2000" dirty="0">
                <a:latin typeface="Segoe UI"/>
                <a:cs typeface="Segoe UI"/>
              </a:rPr>
              <a:t>network,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resource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to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resource </a:t>
            </a:r>
            <a:r>
              <a:rPr sz="2000" dirty="0">
                <a:latin typeface="Segoe UI"/>
                <a:cs typeface="Segoe UI"/>
              </a:rPr>
              <a:t>associations,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relationships </a:t>
            </a:r>
            <a:r>
              <a:rPr sz="2000" dirty="0">
                <a:latin typeface="Segoe UI"/>
                <a:cs typeface="Segoe UI"/>
              </a:rPr>
              <a:t>between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resources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B9D6018A-A29B-368B-7A92-03CEC61803D2}"/>
              </a:ext>
            </a:extLst>
          </p:cNvPr>
          <p:cNvSpPr txBox="1"/>
          <p:nvPr/>
        </p:nvSpPr>
        <p:spPr>
          <a:xfrm>
            <a:off x="8231403" y="4978441"/>
            <a:ext cx="3778250" cy="138366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90805" rIns="0" bIns="0" rtlCol="0">
            <a:spAutoFit/>
          </a:bodyPr>
          <a:lstStyle/>
          <a:p>
            <a:pPr marL="90805" marR="283845">
              <a:lnSpc>
                <a:spcPct val="100000"/>
              </a:lnSpc>
              <a:spcBef>
                <a:spcPts val="715"/>
              </a:spcBef>
            </a:pP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Network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Watcher</a:t>
            </a:r>
            <a:r>
              <a:rPr sz="2000" spc="50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instance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same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region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as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virtual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network</a:t>
            </a:r>
            <a:endParaRPr sz="2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17228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1FDF0-4B1D-BFA7-7F9B-E18423F3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2FAE4A8-98C4-669D-F6DF-DAFB43F1FD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6DCDE161-296B-359F-1482-B43EF0FF59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366BDC-BA58-CB65-FBF7-10C53AB11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ECC151-0C02-3F1D-25CD-B1E1F936E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EB916-C024-936D-DB68-3CD9F02CF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5D7D5-C1D0-DF87-5B9D-12C2C56709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11D972-93C0-ACFF-B575-58DEE27A694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8B3DC700-3EB2-A2A8-7B34-70CE2DDE9D3C}"/>
              </a:ext>
            </a:extLst>
          </p:cNvPr>
          <p:cNvSpPr txBox="1">
            <a:spLocks/>
          </p:cNvSpPr>
          <p:nvPr/>
        </p:nvSpPr>
        <p:spPr>
          <a:xfrm>
            <a:off x="2504692" y="2971123"/>
            <a:ext cx="7606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/>
              <a:t>Lab</a:t>
            </a:r>
            <a:r>
              <a:rPr lang="en-IN" sz="3600" spc="-180"/>
              <a:t> </a:t>
            </a:r>
            <a:r>
              <a:rPr lang="en-IN" sz="3600"/>
              <a:t>–</a:t>
            </a:r>
            <a:r>
              <a:rPr lang="en-IN" sz="3600" spc="-180"/>
              <a:t> </a:t>
            </a:r>
            <a:r>
              <a:rPr lang="en-IN" sz="3600" spc="-45"/>
              <a:t>Implement</a:t>
            </a:r>
            <a:r>
              <a:rPr lang="en-IN" sz="3600" spc="-185"/>
              <a:t> </a:t>
            </a:r>
            <a:r>
              <a:rPr lang="en-IN" sz="3600" spc="-40"/>
              <a:t>Traffic</a:t>
            </a:r>
            <a:r>
              <a:rPr lang="en-IN" sz="3600" spc="-170"/>
              <a:t> </a:t>
            </a:r>
            <a:r>
              <a:rPr lang="en-IN" sz="3600" spc="-30"/>
              <a:t>Management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043600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035B-C749-262A-7BBF-848E7309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A0FFB2D3-28A4-226E-5FD5-DA76F68498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903F670-F5AB-0E98-2902-1E38D2E528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10DC23-15EE-2C51-A947-93062170B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F8691-388C-1F39-03A7-CB07E92A3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8380E-8235-7775-F728-35BD82F2D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FF20F-AFC9-6249-9AEB-B9205BAA74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D20777-DF2B-DA2D-B074-627C2736D69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E0453238-5CB2-423F-24E2-D976A30ABE7D}"/>
              </a:ext>
            </a:extLst>
          </p:cNvPr>
          <p:cNvSpPr txBox="1"/>
          <p:nvPr/>
        </p:nvSpPr>
        <p:spPr>
          <a:xfrm>
            <a:off x="8399780" y="3194180"/>
            <a:ext cx="277431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B68"/>
                </a:solidFill>
                <a:latin typeface="Segoe UI Semibold"/>
                <a:cs typeface="Segoe UI Semibold"/>
              </a:rPr>
              <a:t>Task</a:t>
            </a:r>
            <a:r>
              <a:rPr sz="2200" spc="-35" dirty="0">
                <a:solidFill>
                  <a:srgbClr val="003B68"/>
                </a:solidFill>
                <a:latin typeface="Segoe UI Semibold"/>
                <a:cs typeface="Segoe UI Semibold"/>
              </a:rPr>
              <a:t> </a:t>
            </a:r>
            <a:r>
              <a:rPr sz="2200" spc="-25" dirty="0">
                <a:solidFill>
                  <a:srgbClr val="003B68"/>
                </a:solidFill>
                <a:latin typeface="Segoe UI Semibold"/>
                <a:cs typeface="Segoe UI Semibold"/>
              </a:rPr>
              <a:t>3:</a:t>
            </a:r>
            <a:endParaRPr sz="22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Test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transitivity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of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virtual </a:t>
            </a:r>
            <a:r>
              <a:rPr sz="2000" dirty="0">
                <a:latin typeface="Segoe UI"/>
                <a:cs typeface="Segoe UI"/>
              </a:rPr>
              <a:t>network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peering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85B4281D-C72B-2954-2601-F13820C5DC20}"/>
              </a:ext>
            </a:extLst>
          </p:cNvPr>
          <p:cNvSpPr txBox="1"/>
          <p:nvPr/>
        </p:nvSpPr>
        <p:spPr>
          <a:xfrm>
            <a:off x="4488014" y="4560738"/>
            <a:ext cx="195326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B68"/>
                </a:solidFill>
                <a:latin typeface="Segoe UI Semibold"/>
                <a:cs typeface="Segoe UI Semibold"/>
              </a:rPr>
              <a:t>Task</a:t>
            </a:r>
            <a:r>
              <a:rPr sz="2200" spc="-35" dirty="0">
                <a:solidFill>
                  <a:srgbClr val="003B68"/>
                </a:solidFill>
                <a:latin typeface="Segoe UI Semibold"/>
                <a:cs typeface="Segoe UI Semibold"/>
              </a:rPr>
              <a:t> </a:t>
            </a:r>
            <a:r>
              <a:rPr sz="2200" spc="-25" dirty="0">
                <a:solidFill>
                  <a:srgbClr val="003B68"/>
                </a:solidFill>
                <a:latin typeface="Segoe UI Semibold"/>
                <a:cs typeface="Segoe UI Semibold"/>
              </a:rPr>
              <a:t>5: </a:t>
            </a:r>
            <a:r>
              <a:rPr sz="2000" dirty="0">
                <a:latin typeface="Segoe UI"/>
                <a:cs typeface="Segoe UI"/>
              </a:rPr>
              <a:t>Implement</a:t>
            </a:r>
            <a:r>
              <a:rPr sz="2000" spc="-9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Azure </a:t>
            </a:r>
            <a:r>
              <a:rPr sz="2000" dirty="0">
                <a:latin typeface="Segoe UI"/>
                <a:cs typeface="Segoe UI"/>
              </a:rPr>
              <a:t>Load </a:t>
            </a:r>
            <a:r>
              <a:rPr sz="2000" spc="-10" dirty="0">
                <a:latin typeface="Segoe UI"/>
                <a:cs typeface="Segoe UI"/>
              </a:rPr>
              <a:t>Balancer</a:t>
            </a:r>
            <a:endParaRPr sz="2000" dirty="0">
              <a:latin typeface="Segoe UI"/>
              <a:cs typeface="Segoe UI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886A6B5C-52F9-E33C-053E-27FB7A4FBDA9}"/>
              </a:ext>
            </a:extLst>
          </p:cNvPr>
          <p:cNvSpPr/>
          <p:nvPr/>
        </p:nvSpPr>
        <p:spPr>
          <a:xfrm>
            <a:off x="8218436" y="4435567"/>
            <a:ext cx="3779520" cy="1221740"/>
          </a:xfrm>
          <a:custGeom>
            <a:avLst/>
            <a:gdLst/>
            <a:ahLst/>
            <a:cxnLst/>
            <a:rect l="l" t="t" r="r" b="b"/>
            <a:pathLst>
              <a:path w="3779520" h="1221739">
                <a:moveTo>
                  <a:pt x="3778923" y="0"/>
                </a:moveTo>
                <a:lnTo>
                  <a:pt x="0" y="0"/>
                </a:lnTo>
                <a:lnTo>
                  <a:pt x="0" y="1221473"/>
                </a:lnTo>
                <a:lnTo>
                  <a:pt x="1889645" y="1221473"/>
                </a:lnTo>
                <a:lnTo>
                  <a:pt x="3778923" y="1221473"/>
                </a:lnTo>
                <a:lnTo>
                  <a:pt x="377892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0E87B73E-9C25-36D3-7EDF-30037ACBDA77}"/>
              </a:ext>
            </a:extLst>
          </p:cNvPr>
          <p:cNvSpPr txBox="1"/>
          <p:nvPr/>
        </p:nvSpPr>
        <p:spPr>
          <a:xfrm>
            <a:off x="8388260" y="4560738"/>
            <a:ext cx="233045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200" dirty="0">
                <a:solidFill>
                  <a:srgbClr val="003B68"/>
                </a:solidFill>
                <a:latin typeface="Segoe UI Semibold"/>
                <a:cs typeface="Segoe UI Semibold"/>
              </a:rPr>
              <a:t>Task</a:t>
            </a:r>
            <a:r>
              <a:rPr sz="2200" spc="-50" dirty="0">
                <a:solidFill>
                  <a:srgbClr val="003B68"/>
                </a:solidFill>
                <a:latin typeface="Segoe UI Semibold"/>
                <a:cs typeface="Segoe UI Semibold"/>
              </a:rPr>
              <a:t> </a:t>
            </a:r>
            <a:r>
              <a:rPr sz="2200" spc="-25" dirty="0">
                <a:solidFill>
                  <a:srgbClr val="003B68"/>
                </a:solidFill>
                <a:latin typeface="Segoe UI Semibold"/>
                <a:cs typeface="Segoe UI Semibold"/>
              </a:rPr>
              <a:t>6:</a:t>
            </a:r>
            <a:endParaRPr sz="2200">
              <a:latin typeface="Segoe UI Semibold"/>
              <a:cs typeface="Segoe UI Semibold"/>
            </a:endParaRPr>
          </a:p>
          <a:p>
            <a:pPr marL="12700" marR="5080">
              <a:lnSpc>
                <a:spcPts val="2400"/>
              </a:lnSpc>
              <a:spcBef>
                <a:spcPts val="75"/>
              </a:spcBef>
            </a:pPr>
            <a:r>
              <a:rPr sz="2000" dirty="0">
                <a:latin typeface="Segoe UI"/>
                <a:cs typeface="Segoe UI"/>
              </a:rPr>
              <a:t>Implement</a:t>
            </a:r>
            <a:r>
              <a:rPr sz="2000" spc="-9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Azure </a:t>
            </a:r>
            <a:r>
              <a:rPr sz="2000" dirty="0">
                <a:latin typeface="Segoe UI"/>
                <a:cs typeface="Segoe UI"/>
              </a:rPr>
              <a:t>Application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Gateway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6F6F82E-5864-F0AC-7D2D-349CC9AA00DF}"/>
              </a:ext>
            </a:extLst>
          </p:cNvPr>
          <p:cNvSpPr txBox="1">
            <a:spLocks/>
          </p:cNvSpPr>
          <p:nvPr/>
        </p:nvSpPr>
        <p:spPr>
          <a:xfrm>
            <a:off x="2243958" y="758901"/>
            <a:ext cx="108223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fr-FR" spc="-35"/>
              <a:t>Lab</a:t>
            </a:r>
            <a:r>
              <a:rPr lang="fr-FR" spc="-150"/>
              <a:t> </a:t>
            </a:r>
            <a:r>
              <a:rPr lang="fr-FR"/>
              <a:t>06</a:t>
            </a:r>
            <a:r>
              <a:rPr lang="fr-FR" spc="-145"/>
              <a:t> </a:t>
            </a:r>
            <a:r>
              <a:rPr lang="fr-FR"/>
              <a:t>–</a:t>
            </a:r>
            <a:r>
              <a:rPr lang="fr-FR" spc="-140"/>
              <a:t> </a:t>
            </a:r>
            <a:r>
              <a:rPr lang="fr-FR" spc="-55"/>
              <a:t>Implement</a:t>
            </a:r>
            <a:r>
              <a:rPr lang="fr-FR" spc="-140"/>
              <a:t> </a:t>
            </a:r>
            <a:r>
              <a:rPr lang="fr-FR" spc="-50"/>
              <a:t>traffic</a:t>
            </a:r>
            <a:r>
              <a:rPr lang="fr-FR" spc="-130"/>
              <a:t> </a:t>
            </a:r>
            <a:r>
              <a:rPr lang="fr-FR" spc="-30"/>
              <a:t>management</a:t>
            </a:r>
            <a:endParaRPr lang="fr-FR" spc="-30"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6821D5C9-4664-DBD4-CC5B-F2F74F0617BA}"/>
              </a:ext>
            </a:extLst>
          </p:cNvPr>
          <p:cNvSpPr txBox="1"/>
          <p:nvPr/>
        </p:nvSpPr>
        <p:spPr>
          <a:xfrm>
            <a:off x="912646" y="1447669"/>
            <a:ext cx="11057255" cy="162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sz="2400" spc="-10" dirty="0">
                <a:solidFill>
                  <a:srgbClr val="003B68"/>
                </a:solidFill>
                <a:latin typeface="Segoe UI Semibold"/>
                <a:cs typeface="Segoe UI Semibold"/>
              </a:rPr>
              <a:t>Scenario</a:t>
            </a:r>
            <a:endParaRPr sz="2400" dirty="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Segoe UI"/>
                <a:cs typeface="Segoe UI"/>
              </a:rPr>
              <a:t>You</a:t>
            </a:r>
            <a:r>
              <a:rPr sz="2200" spc="-5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are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tasked</a:t>
            </a:r>
            <a:r>
              <a:rPr sz="2200" spc="-3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with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implementing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hub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spoke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topology</a:t>
            </a:r>
            <a:r>
              <a:rPr sz="2200" spc="-4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for</a:t>
            </a:r>
            <a:r>
              <a:rPr sz="2200" spc="-3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network</a:t>
            </a:r>
            <a:r>
              <a:rPr sz="2200" spc="-5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traffic.</a:t>
            </a:r>
            <a:r>
              <a:rPr sz="2200" spc="-4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The</a:t>
            </a:r>
            <a:r>
              <a:rPr sz="2200" spc="-40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topology </a:t>
            </a:r>
            <a:r>
              <a:rPr sz="2200" dirty="0">
                <a:latin typeface="Segoe UI"/>
                <a:cs typeface="Segoe UI"/>
              </a:rPr>
              <a:t>should</a:t>
            </a:r>
            <a:r>
              <a:rPr sz="2200" spc="-7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include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an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Azure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Load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Balancer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and</a:t>
            </a:r>
            <a:r>
              <a:rPr sz="2200" spc="-75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Azure</a:t>
            </a:r>
            <a:r>
              <a:rPr sz="2200" spc="-70" dirty="0">
                <a:latin typeface="Segoe UI"/>
                <a:cs typeface="Segoe UI"/>
              </a:rPr>
              <a:t> </a:t>
            </a:r>
            <a:r>
              <a:rPr sz="2200" dirty="0">
                <a:latin typeface="Segoe UI"/>
                <a:cs typeface="Segoe UI"/>
              </a:rPr>
              <a:t>Application</a:t>
            </a:r>
            <a:r>
              <a:rPr sz="2200" spc="-65" dirty="0">
                <a:latin typeface="Segoe UI"/>
                <a:cs typeface="Segoe UI"/>
              </a:rPr>
              <a:t> </a:t>
            </a:r>
            <a:r>
              <a:rPr sz="2200" spc="-10" dirty="0">
                <a:latin typeface="Segoe UI"/>
                <a:cs typeface="Segoe UI"/>
              </a:rPr>
              <a:t>Gateway.</a:t>
            </a:r>
            <a:endParaRPr sz="22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400" spc="-10" dirty="0">
                <a:solidFill>
                  <a:srgbClr val="003B68"/>
                </a:solidFill>
                <a:latin typeface="Segoe UI Semibold"/>
                <a:cs typeface="Segoe UI Semibold"/>
              </a:rPr>
              <a:t>Objectives</a:t>
            </a:r>
            <a:endParaRPr sz="2400" dirty="0">
              <a:latin typeface="Segoe UI Semibold"/>
              <a:cs typeface="Segoe UI Semibold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75022049-F913-39A5-4153-8DD37DB63172}"/>
              </a:ext>
            </a:extLst>
          </p:cNvPr>
          <p:cNvSpPr txBox="1"/>
          <p:nvPr/>
        </p:nvSpPr>
        <p:spPr>
          <a:xfrm>
            <a:off x="586345" y="3188176"/>
            <a:ext cx="189547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B68"/>
                </a:solidFill>
                <a:latin typeface="Segoe UI Semibold"/>
                <a:cs typeface="Segoe UI Semibold"/>
              </a:rPr>
              <a:t>Task</a:t>
            </a:r>
            <a:r>
              <a:rPr sz="2200" spc="-50" dirty="0">
                <a:solidFill>
                  <a:srgbClr val="003B68"/>
                </a:solidFill>
                <a:latin typeface="Segoe UI Semibold"/>
                <a:cs typeface="Segoe UI Semibold"/>
              </a:rPr>
              <a:t> </a:t>
            </a:r>
            <a:r>
              <a:rPr sz="2200" spc="140" dirty="0">
                <a:solidFill>
                  <a:srgbClr val="003B68"/>
                </a:solidFill>
                <a:latin typeface="Segoe UI Semibold"/>
                <a:cs typeface="Segoe UI Semibold"/>
              </a:rPr>
              <a:t>1: </a:t>
            </a:r>
            <a:r>
              <a:rPr sz="2000" dirty="0">
                <a:latin typeface="Segoe UI"/>
                <a:cs typeface="Segoe UI"/>
              </a:rPr>
              <a:t>Provision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lab </a:t>
            </a:r>
            <a:r>
              <a:rPr sz="2000" spc="-10" dirty="0">
                <a:latin typeface="Segoe UI"/>
                <a:cs typeface="Segoe UI"/>
              </a:rPr>
              <a:t>environment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81475D53-3E8C-CDD6-09BC-0A5176D6F369}"/>
              </a:ext>
            </a:extLst>
          </p:cNvPr>
          <p:cNvSpPr txBox="1"/>
          <p:nvPr/>
        </p:nvSpPr>
        <p:spPr>
          <a:xfrm>
            <a:off x="4488014" y="3188176"/>
            <a:ext cx="276098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B68"/>
                </a:solidFill>
                <a:latin typeface="Segoe UI Semibold"/>
                <a:cs typeface="Segoe UI Semibold"/>
              </a:rPr>
              <a:t>Task</a:t>
            </a:r>
            <a:r>
              <a:rPr sz="2200" spc="-40" dirty="0">
                <a:solidFill>
                  <a:srgbClr val="003B68"/>
                </a:solidFill>
                <a:latin typeface="Segoe UI Semibold"/>
                <a:cs typeface="Segoe UI Semibold"/>
              </a:rPr>
              <a:t> </a:t>
            </a:r>
            <a:r>
              <a:rPr sz="2200" spc="-25" dirty="0">
                <a:solidFill>
                  <a:srgbClr val="003B68"/>
                </a:solidFill>
                <a:latin typeface="Segoe UI Semibold"/>
                <a:cs typeface="Segoe UI Semibold"/>
              </a:rPr>
              <a:t>2:</a:t>
            </a:r>
            <a:endParaRPr sz="22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Configure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the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hub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and </a:t>
            </a:r>
            <a:r>
              <a:rPr sz="2000" dirty="0">
                <a:latin typeface="Segoe UI"/>
                <a:cs typeface="Segoe UI"/>
              </a:rPr>
              <a:t>spoke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network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topology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5263023A-615D-00DB-043D-D142BEF4E2EA}"/>
              </a:ext>
            </a:extLst>
          </p:cNvPr>
          <p:cNvSpPr txBox="1"/>
          <p:nvPr/>
        </p:nvSpPr>
        <p:spPr>
          <a:xfrm>
            <a:off x="575182" y="4554734"/>
            <a:ext cx="278003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200" dirty="0">
                <a:solidFill>
                  <a:srgbClr val="003B68"/>
                </a:solidFill>
                <a:latin typeface="Segoe UI Semibold"/>
                <a:cs typeface="Segoe UI Semibold"/>
              </a:rPr>
              <a:t>Task</a:t>
            </a:r>
            <a:r>
              <a:rPr sz="2200" spc="-40" dirty="0">
                <a:solidFill>
                  <a:srgbClr val="003B68"/>
                </a:solidFill>
                <a:latin typeface="Segoe UI Semibold"/>
                <a:cs typeface="Segoe UI Semibold"/>
              </a:rPr>
              <a:t> </a:t>
            </a:r>
            <a:r>
              <a:rPr sz="2200" spc="-25" dirty="0">
                <a:solidFill>
                  <a:srgbClr val="003B68"/>
                </a:solidFill>
                <a:latin typeface="Segoe UI Semibold"/>
                <a:cs typeface="Segoe UI Semibold"/>
              </a:rPr>
              <a:t>4:</a:t>
            </a:r>
            <a:endParaRPr sz="2200">
              <a:latin typeface="Segoe UI Semibold"/>
              <a:cs typeface="Segoe UI Semibold"/>
            </a:endParaRPr>
          </a:p>
          <a:p>
            <a:pPr marL="12700" marR="5080">
              <a:lnSpc>
                <a:spcPts val="2400"/>
              </a:lnSpc>
              <a:spcBef>
                <a:spcPts val="75"/>
              </a:spcBef>
            </a:pPr>
            <a:r>
              <a:rPr sz="2000" dirty="0">
                <a:latin typeface="Segoe UI"/>
                <a:cs typeface="Segoe UI"/>
              </a:rPr>
              <a:t>Configure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routing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the </a:t>
            </a:r>
            <a:r>
              <a:rPr sz="2000" dirty="0">
                <a:latin typeface="Segoe UI"/>
                <a:cs typeface="Segoe UI"/>
              </a:rPr>
              <a:t>hub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and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spoke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topology</a:t>
            </a:r>
            <a:endParaRPr sz="2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54612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8920-4334-ADBF-3D14-EA86CFCD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F861C44C-ACB3-9824-4CB5-659050D922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CAC97A2C-279B-CE98-654B-4BF0CD08D5A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25172" y="13628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D20C7E-FC39-9DE5-9E9F-B434941D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596" y="293671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76D340-3545-78D8-5550-1669D32A3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13673F-1FF6-7E6A-C5DF-05E236ED3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60BA4-DC2B-6A6E-6062-17F73F1E47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0154B-6AFD-EFD6-0162-895DF93369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4" name="object 2">
            <a:extLst>
              <a:ext uri="{FF2B5EF4-FFF2-40B4-BE49-F238E27FC236}">
                <a16:creationId xmlns:a16="http://schemas.microsoft.com/office/drawing/2014/main" id="{2A511EE9-F4C6-AEEA-8A3A-44B0AB9730F0}"/>
              </a:ext>
            </a:extLst>
          </p:cNvPr>
          <p:cNvSpPr txBox="1">
            <a:spLocks/>
          </p:cNvSpPr>
          <p:nvPr/>
        </p:nvSpPr>
        <p:spPr>
          <a:xfrm>
            <a:off x="2553258" y="284261"/>
            <a:ext cx="56806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35" dirty="0"/>
              <a:t>Lab</a:t>
            </a:r>
            <a:r>
              <a:rPr lang="en-IN" sz="3600" spc="-145" dirty="0"/>
              <a:t> </a:t>
            </a:r>
            <a:r>
              <a:rPr lang="en-IN" sz="3600" dirty="0"/>
              <a:t>06</a:t>
            </a:r>
            <a:r>
              <a:rPr lang="en-IN" sz="3600" spc="-145" dirty="0"/>
              <a:t> </a:t>
            </a:r>
            <a:r>
              <a:rPr lang="en-IN" sz="3600" dirty="0"/>
              <a:t>–</a:t>
            </a:r>
            <a:r>
              <a:rPr lang="en-IN" sz="3600" spc="-135" dirty="0"/>
              <a:t> </a:t>
            </a:r>
            <a:r>
              <a:rPr lang="en-IN" sz="3600" spc="-55" dirty="0"/>
              <a:t>Architecture</a:t>
            </a:r>
            <a:r>
              <a:rPr lang="en-IN" sz="3600" spc="-130" dirty="0"/>
              <a:t> </a:t>
            </a:r>
            <a:r>
              <a:rPr lang="en-IN" sz="3600" spc="-25" dirty="0"/>
              <a:t>Diagram</a:t>
            </a:r>
          </a:p>
        </p:txBody>
      </p:sp>
      <p:grpSp>
        <p:nvGrpSpPr>
          <p:cNvPr id="15" name="object 3">
            <a:extLst>
              <a:ext uri="{FF2B5EF4-FFF2-40B4-BE49-F238E27FC236}">
                <a16:creationId xmlns:a16="http://schemas.microsoft.com/office/drawing/2014/main" id="{DF2E3185-3EA4-0316-5F0E-C1644798D41B}"/>
              </a:ext>
            </a:extLst>
          </p:cNvPr>
          <p:cNvGrpSpPr/>
          <p:nvPr/>
        </p:nvGrpSpPr>
        <p:grpSpPr>
          <a:xfrm>
            <a:off x="510120" y="1188723"/>
            <a:ext cx="11415395" cy="5325110"/>
            <a:chOff x="510120" y="1188723"/>
            <a:chExt cx="11415395" cy="5325110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0810E322-F0AE-68C0-C9B6-E9174F63FB63}"/>
                </a:ext>
              </a:extLst>
            </p:cNvPr>
            <p:cNvSpPr/>
            <p:nvPr/>
          </p:nvSpPr>
          <p:spPr>
            <a:xfrm>
              <a:off x="510120" y="1188723"/>
              <a:ext cx="11415395" cy="5325110"/>
            </a:xfrm>
            <a:custGeom>
              <a:avLst/>
              <a:gdLst/>
              <a:ahLst/>
              <a:cxnLst/>
              <a:rect l="l" t="t" r="r" b="b"/>
              <a:pathLst>
                <a:path w="11415395" h="5325109">
                  <a:moveTo>
                    <a:pt x="11415242" y="0"/>
                  </a:moveTo>
                  <a:lnTo>
                    <a:pt x="0" y="0"/>
                  </a:lnTo>
                  <a:lnTo>
                    <a:pt x="0" y="5324754"/>
                  </a:lnTo>
                  <a:lnTo>
                    <a:pt x="5707799" y="5324754"/>
                  </a:lnTo>
                  <a:lnTo>
                    <a:pt x="11415242" y="5324754"/>
                  </a:lnTo>
                  <a:lnTo>
                    <a:pt x="1141524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96A773E7-C611-4DA1-483E-0B7F0AD5C958}"/>
                </a:ext>
              </a:extLst>
            </p:cNvPr>
            <p:cNvSpPr/>
            <p:nvPr/>
          </p:nvSpPr>
          <p:spPr>
            <a:xfrm>
              <a:off x="825842" y="3024000"/>
              <a:ext cx="9135110" cy="2504440"/>
            </a:xfrm>
            <a:custGeom>
              <a:avLst/>
              <a:gdLst/>
              <a:ahLst/>
              <a:cxnLst/>
              <a:rect l="l" t="t" r="r" b="b"/>
              <a:pathLst>
                <a:path w="9135110" h="2504440">
                  <a:moveTo>
                    <a:pt x="951839" y="1453680"/>
                  </a:moveTo>
                  <a:lnTo>
                    <a:pt x="0" y="1453680"/>
                  </a:lnTo>
                  <a:lnTo>
                    <a:pt x="0" y="2424239"/>
                  </a:lnTo>
                  <a:lnTo>
                    <a:pt x="475919" y="2424239"/>
                  </a:lnTo>
                  <a:lnTo>
                    <a:pt x="951839" y="2424239"/>
                  </a:lnTo>
                  <a:lnTo>
                    <a:pt x="951839" y="1453680"/>
                  </a:lnTo>
                  <a:close/>
                </a:path>
                <a:path w="9135110" h="2504440">
                  <a:moveTo>
                    <a:pt x="7062483" y="0"/>
                  </a:moveTo>
                  <a:lnTo>
                    <a:pt x="1412278" y="0"/>
                  </a:lnTo>
                  <a:lnTo>
                    <a:pt x="1412278" y="1305001"/>
                  </a:lnTo>
                  <a:lnTo>
                    <a:pt x="4237558" y="1305001"/>
                  </a:lnTo>
                  <a:lnTo>
                    <a:pt x="7062483" y="1305001"/>
                  </a:lnTo>
                  <a:lnTo>
                    <a:pt x="7062483" y="0"/>
                  </a:lnTo>
                  <a:close/>
                </a:path>
                <a:path w="9135110" h="2504440">
                  <a:moveTo>
                    <a:pt x="9134640" y="1488236"/>
                  </a:moveTo>
                  <a:lnTo>
                    <a:pt x="8215198" y="1488236"/>
                  </a:lnTo>
                  <a:lnTo>
                    <a:pt x="8215198" y="2504160"/>
                  </a:lnTo>
                  <a:lnTo>
                    <a:pt x="8674913" y="2504160"/>
                  </a:lnTo>
                  <a:lnTo>
                    <a:pt x="9134640" y="2504160"/>
                  </a:lnTo>
                  <a:lnTo>
                    <a:pt x="9134640" y="1488236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6">
              <a:extLst>
                <a:ext uri="{FF2B5EF4-FFF2-40B4-BE49-F238E27FC236}">
                  <a16:creationId xmlns:a16="http://schemas.microsoft.com/office/drawing/2014/main" id="{2A4DDC35-2761-5DAC-D77A-B47F3F550F8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2043" y="2229120"/>
              <a:ext cx="318960" cy="301320"/>
            </a:xfrm>
            <a:prstGeom prst="rect">
              <a:avLst/>
            </a:prstGeom>
          </p:spPr>
        </p:pic>
      </p:grpSp>
      <p:sp>
        <p:nvSpPr>
          <p:cNvPr id="19" name="object 7">
            <a:extLst>
              <a:ext uri="{FF2B5EF4-FFF2-40B4-BE49-F238E27FC236}">
                <a16:creationId xmlns:a16="http://schemas.microsoft.com/office/drawing/2014/main" id="{C5B32E4D-BDF9-7392-371E-220F8D2A8270}"/>
              </a:ext>
            </a:extLst>
          </p:cNvPr>
          <p:cNvSpPr txBox="1"/>
          <p:nvPr/>
        </p:nvSpPr>
        <p:spPr>
          <a:xfrm>
            <a:off x="4018216" y="2547623"/>
            <a:ext cx="862965" cy="323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vm0</a:t>
            </a:r>
            <a:endParaRPr sz="950">
              <a:latin typeface="Segoe UI"/>
              <a:cs typeface="Segoe UI"/>
            </a:endParaRPr>
          </a:p>
          <a:p>
            <a:pPr marL="635" algn="ctr">
              <a:lnSpc>
                <a:spcPct val="100000"/>
              </a:lnSpc>
              <a:spcBef>
                <a:spcPts val="25"/>
              </a:spcBef>
            </a:pPr>
            <a:r>
              <a:rPr sz="950" spc="-10" dirty="0">
                <a:latin typeface="Segoe UI"/>
                <a:cs typeface="Segoe UI"/>
              </a:rPr>
              <a:t>10.60.0.4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20" name="object 8">
            <a:extLst>
              <a:ext uri="{FF2B5EF4-FFF2-40B4-BE49-F238E27FC236}">
                <a16:creationId xmlns:a16="http://schemas.microsoft.com/office/drawing/2014/main" id="{B875FF08-F720-199C-0209-5108FB4620C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56279" y="1632233"/>
            <a:ext cx="328320" cy="310324"/>
          </a:xfrm>
          <a:prstGeom prst="rect">
            <a:avLst/>
          </a:prstGeom>
        </p:spPr>
      </p:pic>
      <p:sp>
        <p:nvSpPr>
          <p:cNvPr id="21" name="object 9">
            <a:extLst>
              <a:ext uri="{FF2B5EF4-FFF2-40B4-BE49-F238E27FC236}">
                <a16:creationId xmlns:a16="http://schemas.microsoft.com/office/drawing/2014/main" id="{860D5B04-94F3-4EF0-E0AD-F473BD2D3583}"/>
              </a:ext>
            </a:extLst>
          </p:cNvPr>
          <p:cNvSpPr txBox="1"/>
          <p:nvPr/>
        </p:nvSpPr>
        <p:spPr>
          <a:xfrm>
            <a:off x="3845420" y="1699098"/>
            <a:ext cx="17157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az104-06-vnet01</a:t>
            </a:r>
            <a:r>
              <a:rPr sz="950" b="1" spc="150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10.60.0.0/22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7C6FBD35-BADF-033C-B854-B3BA0F0525DD}"/>
              </a:ext>
            </a:extLst>
          </p:cNvPr>
          <p:cNvSpPr/>
          <p:nvPr/>
        </p:nvSpPr>
        <p:spPr>
          <a:xfrm>
            <a:off x="3869994" y="2181241"/>
            <a:ext cx="1212850" cy="708660"/>
          </a:xfrm>
          <a:custGeom>
            <a:avLst/>
            <a:gdLst/>
            <a:ahLst/>
            <a:cxnLst/>
            <a:rect l="l" t="t" r="r" b="b"/>
            <a:pathLst>
              <a:path w="1212850" h="708660">
                <a:moveTo>
                  <a:pt x="606247" y="708482"/>
                </a:moveTo>
                <a:lnTo>
                  <a:pt x="0" y="708482"/>
                </a:lnTo>
                <a:lnTo>
                  <a:pt x="0" y="0"/>
                </a:lnTo>
                <a:lnTo>
                  <a:pt x="1212481" y="0"/>
                </a:lnTo>
                <a:lnTo>
                  <a:pt x="1212481" y="708482"/>
                </a:lnTo>
                <a:lnTo>
                  <a:pt x="606247" y="708482"/>
                </a:lnTo>
                <a:close/>
              </a:path>
            </a:pathLst>
          </a:custGeom>
          <a:ln w="935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B5EF23F2-DACB-4306-0D63-1545ACF661EB}"/>
              </a:ext>
            </a:extLst>
          </p:cNvPr>
          <p:cNvSpPr txBox="1"/>
          <p:nvPr/>
        </p:nvSpPr>
        <p:spPr>
          <a:xfrm>
            <a:off x="3872064" y="1998983"/>
            <a:ext cx="121666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Subnet0</a:t>
            </a:r>
            <a:r>
              <a:rPr sz="950" b="1" spc="110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10.60.0.0/24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B5E80AF5-32D5-6F1E-D70E-59F08A871685}"/>
              </a:ext>
            </a:extLst>
          </p:cNvPr>
          <p:cNvSpPr txBox="1"/>
          <p:nvPr/>
        </p:nvSpPr>
        <p:spPr>
          <a:xfrm>
            <a:off x="3700703" y="1372937"/>
            <a:ext cx="8096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rg1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25" name="object 13">
            <a:extLst>
              <a:ext uri="{FF2B5EF4-FFF2-40B4-BE49-F238E27FC236}">
                <a16:creationId xmlns:a16="http://schemas.microsoft.com/office/drawing/2014/main" id="{43981A36-BECB-AD83-FCE3-627F180DC46B}"/>
              </a:ext>
            </a:extLst>
          </p:cNvPr>
          <p:cNvGrpSpPr/>
          <p:nvPr/>
        </p:nvGrpSpPr>
        <p:grpSpPr>
          <a:xfrm>
            <a:off x="3141357" y="1290958"/>
            <a:ext cx="4234180" cy="3065145"/>
            <a:chOff x="3141357" y="1290958"/>
            <a:chExt cx="4234180" cy="3065145"/>
          </a:xfrm>
        </p:grpSpPr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F45F6B7F-3777-8C9A-4D4E-A517F1F1F3B8}"/>
                </a:ext>
              </a:extLst>
            </p:cNvPr>
            <p:cNvSpPr/>
            <p:nvPr/>
          </p:nvSpPr>
          <p:spPr>
            <a:xfrm>
              <a:off x="3237839" y="1608484"/>
              <a:ext cx="4133215" cy="1566545"/>
            </a:xfrm>
            <a:custGeom>
              <a:avLst/>
              <a:gdLst/>
              <a:ahLst/>
              <a:cxnLst/>
              <a:rect l="l" t="t" r="r" b="b"/>
              <a:pathLst>
                <a:path w="4133215" h="1566545">
                  <a:moveTo>
                    <a:pt x="2066404" y="1565998"/>
                  </a:moveTo>
                  <a:lnTo>
                    <a:pt x="0" y="1565998"/>
                  </a:lnTo>
                  <a:lnTo>
                    <a:pt x="0" y="0"/>
                  </a:lnTo>
                  <a:lnTo>
                    <a:pt x="4132795" y="0"/>
                  </a:lnTo>
                  <a:lnTo>
                    <a:pt x="4132795" y="1565998"/>
                  </a:lnTo>
                  <a:lnTo>
                    <a:pt x="2066404" y="156599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15">
              <a:extLst>
                <a:ext uri="{FF2B5EF4-FFF2-40B4-BE49-F238E27FC236}">
                  <a16:creationId xmlns:a16="http://schemas.microsoft.com/office/drawing/2014/main" id="{B2B2E3A0-416E-E166-C98D-0E0256F0738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0082" y="1290958"/>
              <a:ext cx="307797" cy="290880"/>
            </a:xfrm>
            <a:prstGeom prst="rect">
              <a:avLst/>
            </a:prstGeom>
          </p:spPr>
        </p:pic>
        <p:sp>
          <p:nvSpPr>
            <p:cNvPr id="28" name="object 16">
              <a:extLst>
                <a:ext uri="{FF2B5EF4-FFF2-40B4-BE49-F238E27FC236}">
                  <a16:creationId xmlns:a16="http://schemas.microsoft.com/office/drawing/2014/main" id="{25212DF6-1140-7ABE-55EA-15599CDD1B7B}"/>
                </a:ext>
              </a:extLst>
            </p:cNvPr>
            <p:cNvSpPr/>
            <p:nvPr/>
          </p:nvSpPr>
          <p:spPr>
            <a:xfrm>
              <a:off x="3458514" y="3024000"/>
              <a:ext cx="635" cy="1303020"/>
            </a:xfrm>
            <a:custGeom>
              <a:avLst/>
              <a:gdLst/>
              <a:ahLst/>
              <a:cxnLst/>
              <a:rect l="l" t="t" r="r" b="b"/>
              <a:pathLst>
                <a:path w="635" h="1303020">
                  <a:moveTo>
                    <a:pt x="0" y="0"/>
                  </a:moveTo>
                  <a:lnTo>
                    <a:pt x="368" y="1302842"/>
                  </a:lnTo>
                </a:path>
              </a:pathLst>
            </a:custGeom>
            <a:ln w="57239">
              <a:solidFill>
                <a:srgbClr val="0059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17">
              <a:extLst>
                <a:ext uri="{FF2B5EF4-FFF2-40B4-BE49-F238E27FC236}">
                  <a16:creationId xmlns:a16="http://schemas.microsoft.com/office/drawing/2014/main" id="{2CA60241-6D7C-9E05-C7A5-523BC52F76E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1357" y="3564360"/>
              <a:ext cx="246240" cy="232562"/>
            </a:xfrm>
            <a:prstGeom prst="rect">
              <a:avLst/>
            </a:prstGeom>
          </p:spPr>
        </p:pic>
      </p:grpSp>
      <p:sp>
        <p:nvSpPr>
          <p:cNvPr id="30" name="object 18">
            <a:extLst>
              <a:ext uri="{FF2B5EF4-FFF2-40B4-BE49-F238E27FC236}">
                <a16:creationId xmlns:a16="http://schemas.microsoft.com/office/drawing/2014/main" id="{E57C07F3-DB7A-22D0-EC5C-6C1A7089320B}"/>
              </a:ext>
            </a:extLst>
          </p:cNvPr>
          <p:cNvSpPr txBox="1"/>
          <p:nvPr/>
        </p:nvSpPr>
        <p:spPr>
          <a:xfrm>
            <a:off x="588137" y="1248375"/>
            <a:ext cx="41973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03B68"/>
                </a:solidFill>
                <a:latin typeface="Segoe UI"/>
                <a:cs typeface="Segoe UI"/>
              </a:rPr>
              <a:t>Task1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31" name="object 19">
            <a:extLst>
              <a:ext uri="{FF2B5EF4-FFF2-40B4-BE49-F238E27FC236}">
                <a16:creationId xmlns:a16="http://schemas.microsoft.com/office/drawing/2014/main" id="{CE25AA96-0C87-B60A-01A6-124FE4A27DF7}"/>
              </a:ext>
            </a:extLst>
          </p:cNvPr>
          <p:cNvSpPr txBox="1"/>
          <p:nvPr/>
        </p:nvSpPr>
        <p:spPr>
          <a:xfrm>
            <a:off x="2614942" y="3521776"/>
            <a:ext cx="47498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10" dirty="0">
                <a:latin typeface="Segoe UI"/>
                <a:cs typeface="Segoe UI"/>
              </a:rPr>
              <a:t>Peering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EBED539B-0D0A-DD4F-BE12-001D03660D8E}"/>
              </a:ext>
            </a:extLst>
          </p:cNvPr>
          <p:cNvSpPr txBox="1"/>
          <p:nvPr/>
        </p:nvSpPr>
        <p:spPr>
          <a:xfrm>
            <a:off x="5742978" y="2558787"/>
            <a:ext cx="864235" cy="325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vm1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950" spc="-10" dirty="0">
                <a:latin typeface="Segoe UI"/>
                <a:cs typeface="Segoe UI"/>
              </a:rPr>
              <a:t>10.60.1.4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3" name="object 21">
            <a:extLst>
              <a:ext uri="{FF2B5EF4-FFF2-40B4-BE49-F238E27FC236}">
                <a16:creationId xmlns:a16="http://schemas.microsoft.com/office/drawing/2014/main" id="{1CC6027C-4729-242F-7CDF-810AA4E2742D}"/>
              </a:ext>
            </a:extLst>
          </p:cNvPr>
          <p:cNvSpPr/>
          <p:nvPr/>
        </p:nvSpPr>
        <p:spPr>
          <a:xfrm>
            <a:off x="5565597" y="2199961"/>
            <a:ext cx="1212850" cy="702945"/>
          </a:xfrm>
          <a:custGeom>
            <a:avLst/>
            <a:gdLst/>
            <a:ahLst/>
            <a:cxnLst/>
            <a:rect l="l" t="t" r="r" b="b"/>
            <a:pathLst>
              <a:path w="1212850" h="702944">
                <a:moveTo>
                  <a:pt x="606247" y="702360"/>
                </a:moveTo>
                <a:lnTo>
                  <a:pt x="0" y="702360"/>
                </a:lnTo>
                <a:lnTo>
                  <a:pt x="0" y="0"/>
                </a:lnTo>
                <a:lnTo>
                  <a:pt x="1212481" y="0"/>
                </a:lnTo>
                <a:lnTo>
                  <a:pt x="1212481" y="702360"/>
                </a:lnTo>
                <a:lnTo>
                  <a:pt x="606247" y="702360"/>
                </a:lnTo>
                <a:close/>
              </a:path>
            </a:pathLst>
          </a:custGeom>
          <a:ln w="935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7416F9CB-47F6-8917-E6A7-2A0E4EAF98F8}"/>
              </a:ext>
            </a:extLst>
          </p:cNvPr>
          <p:cNvSpPr txBox="1"/>
          <p:nvPr/>
        </p:nvSpPr>
        <p:spPr>
          <a:xfrm>
            <a:off x="5571616" y="2026707"/>
            <a:ext cx="12160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Subnet1</a:t>
            </a:r>
            <a:r>
              <a:rPr sz="950" b="1" spc="105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10.60.1.0/24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B4381815-5553-B21F-8969-940D4957C37F}"/>
              </a:ext>
            </a:extLst>
          </p:cNvPr>
          <p:cNvSpPr txBox="1"/>
          <p:nvPr/>
        </p:nvSpPr>
        <p:spPr>
          <a:xfrm>
            <a:off x="2153881" y="4768561"/>
            <a:ext cx="1189355" cy="709930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50">
              <a:latin typeface="Times New Roman"/>
              <a:cs typeface="Times New Roman"/>
            </a:endParaRPr>
          </a:p>
          <a:p>
            <a:pPr marL="13970" algn="ctr">
              <a:lnSpc>
                <a:spcPct val="100000"/>
              </a:lnSpc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vm2</a:t>
            </a:r>
            <a:endParaRPr sz="950">
              <a:latin typeface="Segoe UI"/>
              <a:cs typeface="Segoe UI"/>
            </a:endParaRPr>
          </a:p>
          <a:p>
            <a:pPr marL="13970" algn="ctr">
              <a:lnSpc>
                <a:spcPct val="100000"/>
              </a:lnSpc>
              <a:spcBef>
                <a:spcPts val="40"/>
              </a:spcBef>
            </a:pPr>
            <a:r>
              <a:rPr sz="950" spc="-10" dirty="0">
                <a:latin typeface="Segoe UI"/>
                <a:cs typeface="Segoe UI"/>
              </a:rPr>
              <a:t>10.62.0.4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6" name="object 24">
            <a:extLst>
              <a:ext uri="{FF2B5EF4-FFF2-40B4-BE49-F238E27FC236}">
                <a16:creationId xmlns:a16="http://schemas.microsoft.com/office/drawing/2014/main" id="{4F7DDAE9-FB74-B148-669E-9366DD6863C5}"/>
              </a:ext>
            </a:extLst>
          </p:cNvPr>
          <p:cNvSpPr/>
          <p:nvPr/>
        </p:nvSpPr>
        <p:spPr>
          <a:xfrm>
            <a:off x="1831682" y="4323960"/>
            <a:ext cx="1908175" cy="1365250"/>
          </a:xfrm>
          <a:custGeom>
            <a:avLst/>
            <a:gdLst/>
            <a:ahLst/>
            <a:cxnLst/>
            <a:rect l="l" t="t" r="r" b="b"/>
            <a:pathLst>
              <a:path w="1908175" h="1365250">
                <a:moveTo>
                  <a:pt x="953998" y="1364767"/>
                </a:moveTo>
                <a:lnTo>
                  <a:pt x="0" y="1364767"/>
                </a:lnTo>
                <a:lnTo>
                  <a:pt x="0" y="0"/>
                </a:lnTo>
                <a:lnTo>
                  <a:pt x="1907641" y="0"/>
                </a:lnTo>
                <a:lnTo>
                  <a:pt x="1907641" y="1364767"/>
                </a:lnTo>
                <a:lnTo>
                  <a:pt x="953998" y="1364767"/>
                </a:lnTo>
                <a:close/>
              </a:path>
            </a:pathLst>
          </a:custGeom>
          <a:ln w="935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5">
            <a:extLst>
              <a:ext uri="{FF2B5EF4-FFF2-40B4-BE49-F238E27FC236}">
                <a16:creationId xmlns:a16="http://schemas.microsoft.com/office/drawing/2014/main" id="{ADBA5CBE-FEB2-15FC-2231-A481EAEA1602}"/>
              </a:ext>
            </a:extLst>
          </p:cNvPr>
          <p:cNvSpPr txBox="1"/>
          <p:nvPr/>
        </p:nvSpPr>
        <p:spPr>
          <a:xfrm>
            <a:off x="2180424" y="4597467"/>
            <a:ext cx="121539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Subnet0</a:t>
            </a:r>
            <a:r>
              <a:rPr sz="950" b="1" spc="95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10.62.0.0/24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8" name="object 26">
            <a:extLst>
              <a:ext uri="{FF2B5EF4-FFF2-40B4-BE49-F238E27FC236}">
                <a16:creationId xmlns:a16="http://schemas.microsoft.com/office/drawing/2014/main" id="{E02ADA92-C53F-7506-14B1-9334A05D2C47}"/>
              </a:ext>
            </a:extLst>
          </p:cNvPr>
          <p:cNvSpPr txBox="1"/>
          <p:nvPr/>
        </p:nvSpPr>
        <p:spPr>
          <a:xfrm>
            <a:off x="1140383" y="6181106"/>
            <a:ext cx="81026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rg1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9" name="object 27">
            <a:extLst>
              <a:ext uri="{FF2B5EF4-FFF2-40B4-BE49-F238E27FC236}">
                <a16:creationId xmlns:a16="http://schemas.microsoft.com/office/drawing/2014/main" id="{B1D7E4D9-7C7A-27CA-C8BD-5699FF29E139}"/>
              </a:ext>
            </a:extLst>
          </p:cNvPr>
          <p:cNvSpPr/>
          <p:nvPr/>
        </p:nvSpPr>
        <p:spPr>
          <a:xfrm>
            <a:off x="787323" y="4200477"/>
            <a:ext cx="3107690" cy="1904364"/>
          </a:xfrm>
          <a:custGeom>
            <a:avLst/>
            <a:gdLst/>
            <a:ahLst/>
            <a:cxnLst/>
            <a:rect l="l" t="t" r="r" b="b"/>
            <a:pathLst>
              <a:path w="3107690" h="1904364">
                <a:moveTo>
                  <a:pt x="1553756" y="1904047"/>
                </a:moveTo>
                <a:lnTo>
                  <a:pt x="0" y="1904047"/>
                </a:lnTo>
                <a:lnTo>
                  <a:pt x="0" y="0"/>
                </a:lnTo>
                <a:lnTo>
                  <a:pt x="3107156" y="0"/>
                </a:lnTo>
                <a:lnTo>
                  <a:pt x="3107156" y="1904047"/>
                </a:lnTo>
                <a:lnTo>
                  <a:pt x="1553756" y="1904047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8">
            <a:extLst>
              <a:ext uri="{FF2B5EF4-FFF2-40B4-BE49-F238E27FC236}">
                <a16:creationId xmlns:a16="http://schemas.microsoft.com/office/drawing/2014/main" id="{F0412267-7EF2-B0DF-2887-663148F3C387}"/>
              </a:ext>
            </a:extLst>
          </p:cNvPr>
          <p:cNvSpPr txBox="1"/>
          <p:nvPr/>
        </p:nvSpPr>
        <p:spPr>
          <a:xfrm>
            <a:off x="2134704" y="5792295"/>
            <a:ext cx="16446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az104-06-vnet2</a:t>
            </a:r>
            <a:r>
              <a:rPr sz="950" b="1" spc="145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10.62.0.0/22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1" name="object 29">
            <a:extLst>
              <a:ext uri="{FF2B5EF4-FFF2-40B4-BE49-F238E27FC236}">
                <a16:creationId xmlns:a16="http://schemas.microsoft.com/office/drawing/2014/main" id="{51CDC087-D71B-BE2D-2460-7994F8FFC334}"/>
              </a:ext>
            </a:extLst>
          </p:cNvPr>
          <p:cNvSpPr txBox="1"/>
          <p:nvPr/>
        </p:nvSpPr>
        <p:spPr>
          <a:xfrm>
            <a:off x="7496898" y="5146107"/>
            <a:ext cx="862965" cy="323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vm3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950" spc="-10" dirty="0">
                <a:latin typeface="Segoe UI"/>
                <a:cs typeface="Segoe UI"/>
              </a:rPr>
              <a:t>10.63.0.4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42" name="object 30">
            <a:extLst>
              <a:ext uri="{FF2B5EF4-FFF2-40B4-BE49-F238E27FC236}">
                <a16:creationId xmlns:a16="http://schemas.microsoft.com/office/drawing/2014/main" id="{1A7C4698-3176-D4E5-35D6-F88286701C6E}"/>
              </a:ext>
            </a:extLst>
          </p:cNvPr>
          <p:cNvGrpSpPr/>
          <p:nvPr/>
        </p:nvGrpSpPr>
        <p:grpSpPr>
          <a:xfrm>
            <a:off x="6763601" y="4195715"/>
            <a:ext cx="3408679" cy="1913889"/>
            <a:chOff x="6763601" y="4195715"/>
            <a:chExt cx="3408679" cy="1913889"/>
          </a:xfrm>
        </p:grpSpPr>
        <p:sp>
          <p:nvSpPr>
            <p:cNvPr id="43" name="object 31">
              <a:extLst>
                <a:ext uri="{FF2B5EF4-FFF2-40B4-BE49-F238E27FC236}">
                  <a16:creationId xmlns:a16="http://schemas.microsoft.com/office/drawing/2014/main" id="{A38B3CAD-ADA8-A19D-B4F5-2B2030761CD6}"/>
                </a:ext>
              </a:extLst>
            </p:cNvPr>
            <p:cNvSpPr/>
            <p:nvPr/>
          </p:nvSpPr>
          <p:spPr>
            <a:xfrm>
              <a:off x="6897598" y="4326842"/>
              <a:ext cx="2049145" cy="1426210"/>
            </a:xfrm>
            <a:custGeom>
              <a:avLst/>
              <a:gdLst/>
              <a:ahLst/>
              <a:cxnLst/>
              <a:rect l="l" t="t" r="r" b="b"/>
              <a:pathLst>
                <a:path w="2049145" h="1426210">
                  <a:moveTo>
                    <a:pt x="1024559" y="1425600"/>
                  </a:moveTo>
                  <a:lnTo>
                    <a:pt x="0" y="1425600"/>
                  </a:lnTo>
                  <a:lnTo>
                    <a:pt x="0" y="0"/>
                  </a:lnTo>
                  <a:lnTo>
                    <a:pt x="2049119" y="0"/>
                  </a:lnTo>
                  <a:lnTo>
                    <a:pt x="2049119" y="1425600"/>
                  </a:lnTo>
                  <a:lnTo>
                    <a:pt x="1024559" y="142560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2">
              <a:extLst>
                <a:ext uri="{FF2B5EF4-FFF2-40B4-BE49-F238E27FC236}">
                  <a16:creationId xmlns:a16="http://schemas.microsoft.com/office/drawing/2014/main" id="{FF8ADDA4-2A63-C51F-2D07-B8508DF831AB}"/>
                </a:ext>
              </a:extLst>
            </p:cNvPr>
            <p:cNvSpPr/>
            <p:nvPr/>
          </p:nvSpPr>
          <p:spPr>
            <a:xfrm>
              <a:off x="6768363" y="4200477"/>
              <a:ext cx="3399154" cy="1904364"/>
            </a:xfrm>
            <a:custGeom>
              <a:avLst/>
              <a:gdLst/>
              <a:ahLst/>
              <a:cxnLst/>
              <a:rect l="l" t="t" r="r" b="b"/>
              <a:pathLst>
                <a:path w="3399154" h="1904364">
                  <a:moveTo>
                    <a:pt x="1699552" y="1904047"/>
                  </a:moveTo>
                  <a:lnTo>
                    <a:pt x="0" y="1904047"/>
                  </a:lnTo>
                  <a:lnTo>
                    <a:pt x="0" y="0"/>
                  </a:lnTo>
                  <a:lnTo>
                    <a:pt x="3398761" y="0"/>
                  </a:lnTo>
                  <a:lnTo>
                    <a:pt x="3398761" y="1904047"/>
                  </a:lnTo>
                  <a:lnTo>
                    <a:pt x="1699552" y="190404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33">
            <a:extLst>
              <a:ext uri="{FF2B5EF4-FFF2-40B4-BE49-F238E27FC236}">
                <a16:creationId xmlns:a16="http://schemas.microsoft.com/office/drawing/2014/main" id="{1417AF78-E9E2-5558-32A5-81A5D9A5A34D}"/>
              </a:ext>
            </a:extLst>
          </p:cNvPr>
          <p:cNvSpPr txBox="1"/>
          <p:nvPr/>
        </p:nvSpPr>
        <p:spPr>
          <a:xfrm>
            <a:off x="7143737" y="6172101"/>
            <a:ext cx="81089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rg1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6" name="object 34">
            <a:extLst>
              <a:ext uri="{FF2B5EF4-FFF2-40B4-BE49-F238E27FC236}">
                <a16:creationId xmlns:a16="http://schemas.microsoft.com/office/drawing/2014/main" id="{71B7E7C3-8F8E-37CF-740D-A87F81D32FCF}"/>
              </a:ext>
            </a:extLst>
          </p:cNvPr>
          <p:cNvSpPr txBox="1"/>
          <p:nvPr/>
        </p:nvSpPr>
        <p:spPr>
          <a:xfrm>
            <a:off x="7288453" y="5784739"/>
            <a:ext cx="164338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az104-06-vnet3</a:t>
            </a:r>
            <a:r>
              <a:rPr sz="950" b="1" spc="145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10.63.0.0/22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7" name="object 35">
            <a:extLst>
              <a:ext uri="{FF2B5EF4-FFF2-40B4-BE49-F238E27FC236}">
                <a16:creationId xmlns:a16="http://schemas.microsoft.com/office/drawing/2014/main" id="{BD80FC9B-D5D8-8711-4361-E0096CDEEABB}"/>
              </a:ext>
            </a:extLst>
          </p:cNvPr>
          <p:cNvSpPr/>
          <p:nvPr/>
        </p:nvSpPr>
        <p:spPr>
          <a:xfrm>
            <a:off x="6988314" y="3016088"/>
            <a:ext cx="635" cy="1304925"/>
          </a:xfrm>
          <a:custGeom>
            <a:avLst/>
            <a:gdLst/>
            <a:ahLst/>
            <a:cxnLst/>
            <a:rect l="l" t="t" r="r" b="b"/>
            <a:pathLst>
              <a:path w="634" h="1304925">
                <a:moveTo>
                  <a:pt x="0" y="0"/>
                </a:moveTo>
                <a:lnTo>
                  <a:pt x="368" y="1304632"/>
                </a:lnTo>
              </a:path>
            </a:pathLst>
          </a:custGeom>
          <a:ln w="57239">
            <a:solidFill>
              <a:srgbClr val="0059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6">
            <a:extLst>
              <a:ext uri="{FF2B5EF4-FFF2-40B4-BE49-F238E27FC236}">
                <a16:creationId xmlns:a16="http://schemas.microsoft.com/office/drawing/2014/main" id="{C25A24D6-A7CF-4A20-C38D-20A8475B597B}"/>
              </a:ext>
            </a:extLst>
          </p:cNvPr>
          <p:cNvSpPr txBox="1"/>
          <p:nvPr/>
        </p:nvSpPr>
        <p:spPr>
          <a:xfrm>
            <a:off x="7349655" y="3580108"/>
            <a:ext cx="47498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10" dirty="0">
                <a:latin typeface="Segoe UI"/>
                <a:cs typeface="Segoe UI"/>
              </a:rPr>
              <a:t>Peering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49" name="object 37">
            <a:extLst>
              <a:ext uri="{FF2B5EF4-FFF2-40B4-BE49-F238E27FC236}">
                <a16:creationId xmlns:a16="http://schemas.microsoft.com/office/drawing/2014/main" id="{E69C24D2-49F8-9E0C-0F56-B30448EA7676}"/>
              </a:ext>
            </a:extLst>
          </p:cNvPr>
          <p:cNvGrpSpPr/>
          <p:nvPr/>
        </p:nvGrpSpPr>
        <p:grpSpPr>
          <a:xfrm>
            <a:off x="1123556" y="4841281"/>
            <a:ext cx="1031240" cy="330835"/>
            <a:chOff x="1123556" y="4841281"/>
            <a:chExt cx="1031240" cy="330835"/>
          </a:xfrm>
        </p:grpSpPr>
        <p:pic>
          <p:nvPicPr>
            <p:cNvPr id="50" name="object 38">
              <a:extLst>
                <a:ext uri="{FF2B5EF4-FFF2-40B4-BE49-F238E27FC236}">
                  <a16:creationId xmlns:a16="http://schemas.microsoft.com/office/drawing/2014/main" id="{87347DA0-48F3-BAFF-A7B3-9800B507D55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3556" y="4841281"/>
              <a:ext cx="349554" cy="330479"/>
            </a:xfrm>
            <a:prstGeom prst="rect">
              <a:avLst/>
            </a:prstGeom>
          </p:spPr>
        </p:pic>
        <p:sp>
          <p:nvSpPr>
            <p:cNvPr id="51" name="object 39">
              <a:extLst>
                <a:ext uri="{FF2B5EF4-FFF2-40B4-BE49-F238E27FC236}">
                  <a16:creationId xmlns:a16="http://schemas.microsoft.com/office/drawing/2014/main" id="{8AC136AD-A242-2980-3C51-D7FD1176E23D}"/>
                </a:ext>
              </a:extLst>
            </p:cNvPr>
            <p:cNvSpPr/>
            <p:nvPr/>
          </p:nvSpPr>
          <p:spPr>
            <a:xfrm>
              <a:off x="1608836" y="5091128"/>
              <a:ext cx="474980" cy="1270"/>
            </a:xfrm>
            <a:custGeom>
              <a:avLst/>
              <a:gdLst/>
              <a:ahLst/>
              <a:cxnLst/>
              <a:rect l="l" t="t" r="r" b="b"/>
              <a:pathLst>
                <a:path w="474980" h="1270">
                  <a:moveTo>
                    <a:pt x="0" y="0"/>
                  </a:moveTo>
                  <a:lnTo>
                    <a:pt x="474840" y="7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0">
              <a:extLst>
                <a:ext uri="{FF2B5EF4-FFF2-40B4-BE49-F238E27FC236}">
                  <a16:creationId xmlns:a16="http://schemas.microsoft.com/office/drawing/2014/main" id="{36A440F2-3EAE-5401-5845-E4BB7850F1F5}"/>
                </a:ext>
              </a:extLst>
            </p:cNvPr>
            <p:cNvSpPr/>
            <p:nvPr/>
          </p:nvSpPr>
          <p:spPr>
            <a:xfrm>
              <a:off x="2078634" y="505404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41">
            <a:extLst>
              <a:ext uri="{FF2B5EF4-FFF2-40B4-BE49-F238E27FC236}">
                <a16:creationId xmlns:a16="http://schemas.microsoft.com/office/drawing/2014/main" id="{FC645BB1-F885-1F2B-F6DC-D42AA6860B8E}"/>
              </a:ext>
            </a:extLst>
          </p:cNvPr>
          <p:cNvSpPr txBox="1"/>
          <p:nvPr/>
        </p:nvSpPr>
        <p:spPr>
          <a:xfrm>
            <a:off x="859942" y="5220986"/>
            <a:ext cx="85280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0" dirty="0">
                <a:latin typeface="Segoe UI"/>
                <a:cs typeface="Segoe UI"/>
              </a:rPr>
              <a:t>rt23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4" name="object 42">
            <a:extLst>
              <a:ext uri="{FF2B5EF4-FFF2-40B4-BE49-F238E27FC236}">
                <a16:creationId xmlns:a16="http://schemas.microsoft.com/office/drawing/2014/main" id="{6E6FEC16-B97F-1967-CAE6-49A0063F36E9}"/>
              </a:ext>
            </a:extLst>
          </p:cNvPr>
          <p:cNvSpPr txBox="1"/>
          <p:nvPr/>
        </p:nvSpPr>
        <p:spPr>
          <a:xfrm>
            <a:off x="9076575" y="5186416"/>
            <a:ext cx="85280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0" dirty="0">
                <a:latin typeface="Segoe UI"/>
                <a:cs typeface="Segoe UI"/>
              </a:rPr>
              <a:t>rt32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55" name="object 43">
            <a:extLst>
              <a:ext uri="{FF2B5EF4-FFF2-40B4-BE49-F238E27FC236}">
                <a16:creationId xmlns:a16="http://schemas.microsoft.com/office/drawing/2014/main" id="{78942275-96B2-46CB-AF30-74FC215D218A}"/>
              </a:ext>
            </a:extLst>
          </p:cNvPr>
          <p:cNvGrpSpPr/>
          <p:nvPr/>
        </p:nvGrpSpPr>
        <p:grpSpPr>
          <a:xfrm>
            <a:off x="8588882" y="4948203"/>
            <a:ext cx="857250" cy="76200"/>
            <a:chOff x="8588882" y="4948203"/>
            <a:chExt cx="857250" cy="76200"/>
          </a:xfrm>
        </p:grpSpPr>
        <p:sp>
          <p:nvSpPr>
            <p:cNvPr id="56" name="object 44">
              <a:extLst>
                <a:ext uri="{FF2B5EF4-FFF2-40B4-BE49-F238E27FC236}">
                  <a16:creationId xmlns:a16="http://schemas.microsoft.com/office/drawing/2014/main" id="{9D668B79-1C43-DAAE-DF63-C8EEDCE342B6}"/>
                </a:ext>
              </a:extLst>
            </p:cNvPr>
            <p:cNvSpPr/>
            <p:nvPr/>
          </p:nvSpPr>
          <p:spPr>
            <a:xfrm>
              <a:off x="8659443" y="4985287"/>
              <a:ext cx="781685" cy="1270"/>
            </a:xfrm>
            <a:custGeom>
              <a:avLst/>
              <a:gdLst/>
              <a:ahLst/>
              <a:cxnLst/>
              <a:rect l="l" t="t" r="r" b="b"/>
              <a:pathLst>
                <a:path w="781684" h="1270">
                  <a:moveTo>
                    <a:pt x="781557" y="0"/>
                  </a:moveTo>
                  <a:lnTo>
                    <a:pt x="0" y="7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5">
              <a:extLst>
                <a:ext uri="{FF2B5EF4-FFF2-40B4-BE49-F238E27FC236}">
                  <a16:creationId xmlns:a16="http://schemas.microsoft.com/office/drawing/2014/main" id="{5BEE8D8D-A752-BDE9-8416-D55E13F85A70}"/>
                </a:ext>
              </a:extLst>
            </p:cNvPr>
            <p:cNvSpPr/>
            <p:nvPr/>
          </p:nvSpPr>
          <p:spPr>
            <a:xfrm>
              <a:off x="8588882" y="49482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46">
            <a:extLst>
              <a:ext uri="{FF2B5EF4-FFF2-40B4-BE49-F238E27FC236}">
                <a16:creationId xmlns:a16="http://schemas.microsoft.com/office/drawing/2014/main" id="{BC9E29B9-3F3D-52FB-48BB-9A39CB797C02}"/>
              </a:ext>
            </a:extLst>
          </p:cNvPr>
          <p:cNvSpPr txBox="1"/>
          <p:nvPr/>
        </p:nvSpPr>
        <p:spPr>
          <a:xfrm>
            <a:off x="2282304" y="3080782"/>
            <a:ext cx="89408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03B68"/>
                </a:solidFill>
                <a:latin typeface="Segoe UI"/>
                <a:cs typeface="Segoe UI"/>
              </a:rPr>
              <a:t>Task2,</a:t>
            </a:r>
            <a:r>
              <a:rPr sz="1150" b="1" spc="-45" dirty="0">
                <a:solidFill>
                  <a:srgbClr val="003B68"/>
                </a:solidFill>
                <a:latin typeface="Segoe UI"/>
                <a:cs typeface="Segoe UI"/>
              </a:rPr>
              <a:t> </a:t>
            </a:r>
            <a:r>
              <a:rPr sz="1150" b="1" spc="-10" dirty="0">
                <a:solidFill>
                  <a:srgbClr val="003B68"/>
                </a:solidFill>
                <a:latin typeface="Segoe UI"/>
                <a:cs typeface="Segoe UI"/>
              </a:rPr>
              <a:t>Task3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59" name="object 47">
            <a:extLst>
              <a:ext uri="{FF2B5EF4-FFF2-40B4-BE49-F238E27FC236}">
                <a16:creationId xmlns:a16="http://schemas.microsoft.com/office/drawing/2014/main" id="{92446A46-4075-301F-7AB9-C2C4E9FC3B6B}"/>
              </a:ext>
            </a:extLst>
          </p:cNvPr>
          <p:cNvSpPr txBox="1"/>
          <p:nvPr/>
        </p:nvSpPr>
        <p:spPr>
          <a:xfrm>
            <a:off x="841933" y="4471457"/>
            <a:ext cx="4210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03B68"/>
                </a:solidFill>
                <a:latin typeface="Segoe UI"/>
                <a:cs typeface="Segoe UI"/>
              </a:rPr>
              <a:t>Task4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0" name="object 48">
            <a:extLst>
              <a:ext uri="{FF2B5EF4-FFF2-40B4-BE49-F238E27FC236}">
                <a16:creationId xmlns:a16="http://schemas.microsoft.com/office/drawing/2014/main" id="{8AEFC884-AD62-6820-0D8F-E5103626E72C}"/>
              </a:ext>
            </a:extLst>
          </p:cNvPr>
          <p:cNvSpPr txBox="1"/>
          <p:nvPr/>
        </p:nvSpPr>
        <p:spPr>
          <a:xfrm>
            <a:off x="9109697" y="4552813"/>
            <a:ext cx="4203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03B68"/>
                </a:solidFill>
                <a:latin typeface="Segoe UI"/>
                <a:cs typeface="Segoe UI"/>
              </a:rPr>
              <a:t>Task4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1" name="object 49">
            <a:extLst>
              <a:ext uri="{FF2B5EF4-FFF2-40B4-BE49-F238E27FC236}">
                <a16:creationId xmlns:a16="http://schemas.microsoft.com/office/drawing/2014/main" id="{740BB988-8B02-295A-928F-BCE0A9ACD925}"/>
              </a:ext>
            </a:extLst>
          </p:cNvPr>
          <p:cNvSpPr/>
          <p:nvPr/>
        </p:nvSpPr>
        <p:spPr>
          <a:xfrm>
            <a:off x="4077360" y="4437726"/>
            <a:ext cx="2522855" cy="1878964"/>
          </a:xfrm>
          <a:custGeom>
            <a:avLst/>
            <a:gdLst/>
            <a:ahLst/>
            <a:cxnLst/>
            <a:rect l="l" t="t" r="r" b="b"/>
            <a:pathLst>
              <a:path w="2522854" h="1878964">
                <a:moveTo>
                  <a:pt x="2522524" y="0"/>
                </a:moveTo>
                <a:lnTo>
                  <a:pt x="0" y="0"/>
                </a:lnTo>
                <a:lnTo>
                  <a:pt x="0" y="1878838"/>
                </a:lnTo>
                <a:lnTo>
                  <a:pt x="1261440" y="1878838"/>
                </a:lnTo>
                <a:lnTo>
                  <a:pt x="2522524" y="1878838"/>
                </a:lnTo>
                <a:lnTo>
                  <a:pt x="2522524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0">
            <a:extLst>
              <a:ext uri="{FF2B5EF4-FFF2-40B4-BE49-F238E27FC236}">
                <a16:creationId xmlns:a16="http://schemas.microsoft.com/office/drawing/2014/main" id="{0C12D59C-34C5-77F9-1979-229B38DE152C}"/>
              </a:ext>
            </a:extLst>
          </p:cNvPr>
          <p:cNvSpPr txBox="1"/>
          <p:nvPr/>
        </p:nvSpPr>
        <p:spPr>
          <a:xfrm>
            <a:off x="4146384" y="4424658"/>
            <a:ext cx="41973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03B68"/>
                </a:solidFill>
                <a:latin typeface="Segoe UI"/>
                <a:cs typeface="Segoe UI"/>
              </a:rPr>
              <a:t>Task5</a:t>
            </a:r>
            <a:endParaRPr sz="1150">
              <a:latin typeface="Segoe UI"/>
              <a:cs typeface="Segoe UI"/>
            </a:endParaRPr>
          </a:p>
        </p:txBody>
      </p:sp>
      <p:pic>
        <p:nvPicPr>
          <p:cNvPr id="63" name="object 51">
            <a:extLst>
              <a:ext uri="{FF2B5EF4-FFF2-40B4-BE49-F238E27FC236}">
                <a16:creationId xmlns:a16="http://schemas.microsoft.com/office/drawing/2014/main" id="{75B4BCA3-F26F-866F-10D7-AA3D9FC7023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04079" y="4741561"/>
            <a:ext cx="394195" cy="372605"/>
          </a:xfrm>
          <a:prstGeom prst="rect">
            <a:avLst/>
          </a:prstGeom>
        </p:spPr>
      </p:pic>
      <p:sp>
        <p:nvSpPr>
          <p:cNvPr id="64" name="object 52">
            <a:extLst>
              <a:ext uri="{FF2B5EF4-FFF2-40B4-BE49-F238E27FC236}">
                <a16:creationId xmlns:a16="http://schemas.microsoft.com/office/drawing/2014/main" id="{940574D3-FB7E-2662-7A90-C5360A69E857}"/>
              </a:ext>
            </a:extLst>
          </p:cNvPr>
          <p:cNvSpPr txBox="1"/>
          <p:nvPr/>
        </p:nvSpPr>
        <p:spPr>
          <a:xfrm>
            <a:off x="4870335" y="5098939"/>
            <a:ext cx="79438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lb4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65" name="object 53">
            <a:extLst>
              <a:ext uri="{FF2B5EF4-FFF2-40B4-BE49-F238E27FC236}">
                <a16:creationId xmlns:a16="http://schemas.microsoft.com/office/drawing/2014/main" id="{BF0BE2C5-810B-EB3E-A449-57A8AD8A06EA}"/>
              </a:ext>
            </a:extLst>
          </p:cNvPr>
          <p:cNvGrpSpPr/>
          <p:nvPr/>
        </p:nvGrpSpPr>
        <p:grpSpPr>
          <a:xfrm>
            <a:off x="4395152" y="4643199"/>
            <a:ext cx="1883410" cy="1296035"/>
            <a:chOff x="4395152" y="4643199"/>
            <a:chExt cx="1883410" cy="1296035"/>
          </a:xfrm>
        </p:grpSpPr>
        <p:sp>
          <p:nvSpPr>
            <p:cNvPr id="66" name="object 54">
              <a:extLst>
                <a:ext uri="{FF2B5EF4-FFF2-40B4-BE49-F238E27FC236}">
                  <a16:creationId xmlns:a16="http://schemas.microsoft.com/office/drawing/2014/main" id="{D696ADE2-1CCF-01BE-C6FD-D4E36382DB9C}"/>
                </a:ext>
              </a:extLst>
            </p:cNvPr>
            <p:cNvSpPr/>
            <p:nvPr/>
          </p:nvSpPr>
          <p:spPr>
            <a:xfrm>
              <a:off x="4399915" y="4647962"/>
              <a:ext cx="1873885" cy="1286510"/>
            </a:xfrm>
            <a:custGeom>
              <a:avLst/>
              <a:gdLst/>
              <a:ahLst/>
              <a:cxnLst/>
              <a:rect l="l" t="t" r="r" b="b"/>
              <a:pathLst>
                <a:path w="1873885" h="1286510">
                  <a:moveTo>
                    <a:pt x="936726" y="1286281"/>
                  </a:moveTo>
                  <a:lnTo>
                    <a:pt x="0" y="1286281"/>
                  </a:lnTo>
                  <a:lnTo>
                    <a:pt x="0" y="0"/>
                  </a:lnTo>
                  <a:lnTo>
                    <a:pt x="1873440" y="0"/>
                  </a:lnTo>
                  <a:lnTo>
                    <a:pt x="1873440" y="1286281"/>
                  </a:lnTo>
                  <a:lnTo>
                    <a:pt x="936726" y="128628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55">
              <a:extLst>
                <a:ext uri="{FF2B5EF4-FFF2-40B4-BE49-F238E27FC236}">
                  <a16:creationId xmlns:a16="http://schemas.microsoft.com/office/drawing/2014/main" id="{E578D762-655C-6180-8F14-576FA329F98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55565" y="5407930"/>
              <a:ext cx="264960" cy="250558"/>
            </a:xfrm>
            <a:prstGeom prst="rect">
              <a:avLst/>
            </a:prstGeom>
          </p:spPr>
        </p:pic>
      </p:grpSp>
      <p:sp>
        <p:nvSpPr>
          <p:cNvPr id="68" name="object 56">
            <a:extLst>
              <a:ext uri="{FF2B5EF4-FFF2-40B4-BE49-F238E27FC236}">
                <a16:creationId xmlns:a16="http://schemas.microsoft.com/office/drawing/2014/main" id="{E306B13B-A3AA-B084-902E-AA9D4AECF616}"/>
              </a:ext>
            </a:extLst>
          </p:cNvPr>
          <p:cNvSpPr txBox="1"/>
          <p:nvPr/>
        </p:nvSpPr>
        <p:spPr>
          <a:xfrm>
            <a:off x="4824615" y="5654056"/>
            <a:ext cx="87249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0" dirty="0">
                <a:latin typeface="Segoe UI"/>
                <a:cs typeface="Segoe UI"/>
              </a:rPr>
              <a:t>pip4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69" name="object 57">
            <a:extLst>
              <a:ext uri="{FF2B5EF4-FFF2-40B4-BE49-F238E27FC236}">
                <a16:creationId xmlns:a16="http://schemas.microsoft.com/office/drawing/2014/main" id="{6BDA0491-5578-6A4E-4FEC-A474D8551AC4}"/>
              </a:ext>
            </a:extLst>
          </p:cNvPr>
          <p:cNvGrpSpPr/>
          <p:nvPr/>
        </p:nvGrpSpPr>
        <p:grpSpPr>
          <a:xfrm>
            <a:off x="4475162" y="811444"/>
            <a:ext cx="7047865" cy="3940175"/>
            <a:chOff x="4475162" y="811444"/>
            <a:chExt cx="7047865" cy="3940175"/>
          </a:xfrm>
        </p:grpSpPr>
        <p:sp>
          <p:nvSpPr>
            <p:cNvPr id="70" name="object 58">
              <a:extLst>
                <a:ext uri="{FF2B5EF4-FFF2-40B4-BE49-F238E27FC236}">
                  <a16:creationId xmlns:a16="http://schemas.microsoft.com/office/drawing/2014/main" id="{C823A261-5032-E354-B92C-D7F2C0AED7A9}"/>
                </a:ext>
              </a:extLst>
            </p:cNvPr>
            <p:cNvSpPr/>
            <p:nvPr/>
          </p:nvSpPr>
          <p:spPr>
            <a:xfrm>
              <a:off x="4507915" y="2906639"/>
              <a:ext cx="793115" cy="1835150"/>
            </a:xfrm>
            <a:custGeom>
              <a:avLst/>
              <a:gdLst/>
              <a:ahLst/>
              <a:cxnLst/>
              <a:rect l="l" t="t" r="r" b="b"/>
              <a:pathLst>
                <a:path w="793114" h="1835150">
                  <a:moveTo>
                    <a:pt x="792721" y="1834921"/>
                  </a:moveTo>
                  <a:lnTo>
                    <a:pt x="0" y="0"/>
                  </a:lnTo>
                </a:path>
              </a:pathLst>
            </a:custGeom>
            <a:ln w="19079">
              <a:solidFill>
                <a:srgbClr val="00599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59">
              <a:extLst>
                <a:ext uri="{FF2B5EF4-FFF2-40B4-BE49-F238E27FC236}">
                  <a16:creationId xmlns:a16="http://schemas.microsoft.com/office/drawing/2014/main" id="{56B7DBD0-FA2B-A50C-830F-EC48CE951462}"/>
                </a:ext>
              </a:extLst>
            </p:cNvPr>
            <p:cNvSpPr/>
            <p:nvPr/>
          </p:nvSpPr>
          <p:spPr>
            <a:xfrm>
              <a:off x="4475162" y="2841844"/>
              <a:ext cx="69850" cy="84455"/>
            </a:xfrm>
            <a:custGeom>
              <a:avLst/>
              <a:gdLst/>
              <a:ahLst/>
              <a:cxnLst/>
              <a:rect l="l" t="t" r="r" b="b"/>
              <a:pathLst>
                <a:path w="69850" h="84455">
                  <a:moveTo>
                    <a:pt x="4673" y="0"/>
                  </a:moveTo>
                  <a:lnTo>
                    <a:pt x="0" y="84239"/>
                  </a:lnTo>
                  <a:lnTo>
                    <a:pt x="69481" y="54355"/>
                  </a:lnTo>
                  <a:lnTo>
                    <a:pt x="4673" y="0"/>
                  </a:lnTo>
                  <a:close/>
                </a:path>
              </a:pathLst>
            </a:custGeom>
            <a:solidFill>
              <a:srgbClr val="0059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60">
              <a:extLst>
                <a:ext uri="{FF2B5EF4-FFF2-40B4-BE49-F238E27FC236}">
                  <a16:creationId xmlns:a16="http://schemas.microsoft.com/office/drawing/2014/main" id="{8ABC4B2D-7C17-70C7-0EB5-0E5DC61D856D}"/>
                </a:ext>
              </a:extLst>
            </p:cNvPr>
            <p:cNvSpPr/>
            <p:nvPr/>
          </p:nvSpPr>
          <p:spPr>
            <a:xfrm>
              <a:off x="5301361" y="2859129"/>
              <a:ext cx="760730" cy="1882139"/>
            </a:xfrm>
            <a:custGeom>
              <a:avLst/>
              <a:gdLst/>
              <a:ahLst/>
              <a:cxnLst/>
              <a:rect l="l" t="t" r="r" b="b"/>
              <a:pathLst>
                <a:path w="760729" h="1882139">
                  <a:moveTo>
                    <a:pt x="0" y="1882076"/>
                  </a:moveTo>
                  <a:lnTo>
                    <a:pt x="760323" y="0"/>
                  </a:lnTo>
                </a:path>
              </a:pathLst>
            </a:custGeom>
            <a:ln w="19079">
              <a:solidFill>
                <a:srgbClr val="00599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61">
              <a:extLst>
                <a:ext uri="{FF2B5EF4-FFF2-40B4-BE49-F238E27FC236}">
                  <a16:creationId xmlns:a16="http://schemas.microsoft.com/office/drawing/2014/main" id="{D861AFFB-1971-B4AA-E415-E6139E9F4521}"/>
                </a:ext>
              </a:extLst>
            </p:cNvPr>
            <p:cNvSpPr/>
            <p:nvPr/>
          </p:nvSpPr>
          <p:spPr>
            <a:xfrm>
              <a:off x="6024600" y="2793610"/>
              <a:ext cx="70485" cy="84455"/>
            </a:xfrm>
            <a:custGeom>
              <a:avLst/>
              <a:gdLst/>
              <a:ahLst/>
              <a:cxnLst/>
              <a:rect l="l" t="t" r="r" b="b"/>
              <a:pathLst>
                <a:path w="70485" h="84455">
                  <a:moveTo>
                    <a:pt x="63360" y="0"/>
                  </a:moveTo>
                  <a:lnTo>
                    <a:pt x="0" y="55791"/>
                  </a:lnTo>
                  <a:lnTo>
                    <a:pt x="70205" y="84239"/>
                  </a:lnTo>
                  <a:lnTo>
                    <a:pt x="63360" y="0"/>
                  </a:lnTo>
                  <a:close/>
                </a:path>
              </a:pathLst>
            </a:custGeom>
            <a:solidFill>
              <a:srgbClr val="0059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2">
              <a:extLst>
                <a:ext uri="{FF2B5EF4-FFF2-40B4-BE49-F238E27FC236}">
                  <a16:creationId xmlns:a16="http://schemas.microsoft.com/office/drawing/2014/main" id="{297973E8-061D-FA95-587F-08C560BE7082}"/>
                </a:ext>
              </a:extLst>
            </p:cNvPr>
            <p:cNvSpPr/>
            <p:nvPr/>
          </p:nvSpPr>
          <p:spPr>
            <a:xfrm>
              <a:off x="8124113" y="811444"/>
              <a:ext cx="3399154" cy="2397760"/>
            </a:xfrm>
            <a:custGeom>
              <a:avLst/>
              <a:gdLst/>
              <a:ahLst/>
              <a:cxnLst/>
              <a:rect l="l" t="t" r="r" b="b"/>
              <a:pathLst>
                <a:path w="3399154" h="2397760">
                  <a:moveTo>
                    <a:pt x="3398761" y="0"/>
                  </a:moveTo>
                  <a:lnTo>
                    <a:pt x="0" y="0"/>
                  </a:lnTo>
                  <a:lnTo>
                    <a:pt x="0" y="2397239"/>
                  </a:lnTo>
                  <a:lnTo>
                    <a:pt x="1699564" y="2397239"/>
                  </a:lnTo>
                  <a:lnTo>
                    <a:pt x="3398761" y="2397239"/>
                  </a:lnTo>
                  <a:lnTo>
                    <a:pt x="3398761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63">
              <a:extLst>
                <a:ext uri="{FF2B5EF4-FFF2-40B4-BE49-F238E27FC236}">
                  <a16:creationId xmlns:a16="http://schemas.microsoft.com/office/drawing/2014/main" id="{7D63ABC3-A981-7F91-222A-BFC3DCEBAF54}"/>
                </a:ext>
              </a:extLst>
            </p:cNvPr>
            <p:cNvSpPr/>
            <p:nvPr/>
          </p:nvSpPr>
          <p:spPr>
            <a:xfrm>
              <a:off x="8306282" y="2200685"/>
              <a:ext cx="1732914" cy="737870"/>
            </a:xfrm>
            <a:custGeom>
              <a:avLst/>
              <a:gdLst/>
              <a:ahLst/>
              <a:cxnLst/>
              <a:rect l="l" t="t" r="r" b="b"/>
              <a:pathLst>
                <a:path w="1732915" h="737869">
                  <a:moveTo>
                    <a:pt x="866521" y="737641"/>
                  </a:moveTo>
                  <a:lnTo>
                    <a:pt x="0" y="737641"/>
                  </a:lnTo>
                  <a:lnTo>
                    <a:pt x="0" y="0"/>
                  </a:lnTo>
                  <a:lnTo>
                    <a:pt x="1732673" y="0"/>
                  </a:lnTo>
                  <a:lnTo>
                    <a:pt x="1732673" y="737641"/>
                  </a:lnTo>
                  <a:lnTo>
                    <a:pt x="866521" y="73764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64">
            <a:extLst>
              <a:ext uri="{FF2B5EF4-FFF2-40B4-BE49-F238E27FC236}">
                <a16:creationId xmlns:a16="http://schemas.microsoft.com/office/drawing/2014/main" id="{13151B86-28EC-0797-CFD0-9B51188122D8}"/>
              </a:ext>
            </a:extLst>
          </p:cNvPr>
          <p:cNvSpPr txBox="1"/>
          <p:nvPr/>
        </p:nvSpPr>
        <p:spPr>
          <a:xfrm>
            <a:off x="4759820" y="6022343"/>
            <a:ext cx="8096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rg4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7" name="object 65">
            <a:extLst>
              <a:ext uri="{FF2B5EF4-FFF2-40B4-BE49-F238E27FC236}">
                <a16:creationId xmlns:a16="http://schemas.microsoft.com/office/drawing/2014/main" id="{479168C1-ADE7-26D0-04B2-8AB940F20FFB}"/>
              </a:ext>
            </a:extLst>
          </p:cNvPr>
          <p:cNvSpPr txBox="1"/>
          <p:nvPr/>
        </p:nvSpPr>
        <p:spPr>
          <a:xfrm>
            <a:off x="8318424" y="1978460"/>
            <a:ext cx="1726564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Subnet-appgw</a:t>
            </a:r>
            <a:r>
              <a:rPr sz="950" b="1" spc="175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10.60.3.224/27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78" name="object 66">
            <a:extLst>
              <a:ext uri="{FF2B5EF4-FFF2-40B4-BE49-F238E27FC236}">
                <a16:creationId xmlns:a16="http://schemas.microsoft.com/office/drawing/2014/main" id="{A26E474B-1698-2182-A3EE-158CDB4EF1ED}"/>
              </a:ext>
            </a:extLst>
          </p:cNvPr>
          <p:cNvGrpSpPr/>
          <p:nvPr/>
        </p:nvGrpSpPr>
        <p:grpSpPr>
          <a:xfrm>
            <a:off x="8175155" y="1492482"/>
            <a:ext cx="3057525" cy="1584325"/>
            <a:chOff x="8175155" y="1492482"/>
            <a:chExt cx="3057525" cy="1584325"/>
          </a:xfrm>
        </p:grpSpPr>
        <p:pic>
          <p:nvPicPr>
            <p:cNvPr id="79" name="object 67">
              <a:extLst>
                <a:ext uri="{FF2B5EF4-FFF2-40B4-BE49-F238E27FC236}">
                  <a16:creationId xmlns:a16="http://schemas.microsoft.com/office/drawing/2014/main" id="{F71E6C2D-14CC-5F57-D5F1-252CC6A308E0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59596" y="2447280"/>
              <a:ext cx="417245" cy="394563"/>
            </a:xfrm>
            <a:prstGeom prst="rect">
              <a:avLst/>
            </a:prstGeom>
          </p:spPr>
        </p:pic>
        <p:sp>
          <p:nvSpPr>
            <p:cNvPr id="80" name="object 68">
              <a:extLst>
                <a:ext uri="{FF2B5EF4-FFF2-40B4-BE49-F238E27FC236}">
                  <a16:creationId xmlns:a16="http://schemas.microsoft.com/office/drawing/2014/main" id="{C7ADA4F0-FB86-376E-EED9-B0EC4C9F1E1C}"/>
                </a:ext>
              </a:extLst>
            </p:cNvPr>
            <p:cNvSpPr/>
            <p:nvPr/>
          </p:nvSpPr>
          <p:spPr>
            <a:xfrm>
              <a:off x="8179917" y="1497244"/>
              <a:ext cx="3048000" cy="1574800"/>
            </a:xfrm>
            <a:custGeom>
              <a:avLst/>
              <a:gdLst/>
              <a:ahLst/>
              <a:cxnLst/>
              <a:rect l="l" t="t" r="r" b="b"/>
              <a:pathLst>
                <a:path w="3048000" h="1574800">
                  <a:moveTo>
                    <a:pt x="1523885" y="1574634"/>
                  </a:moveTo>
                  <a:lnTo>
                    <a:pt x="0" y="1574634"/>
                  </a:lnTo>
                  <a:lnTo>
                    <a:pt x="0" y="0"/>
                  </a:lnTo>
                  <a:lnTo>
                    <a:pt x="3047403" y="0"/>
                  </a:lnTo>
                  <a:lnTo>
                    <a:pt x="3047403" y="1574634"/>
                  </a:lnTo>
                  <a:lnTo>
                    <a:pt x="1523885" y="157463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69">
            <a:extLst>
              <a:ext uri="{FF2B5EF4-FFF2-40B4-BE49-F238E27FC236}">
                <a16:creationId xmlns:a16="http://schemas.microsoft.com/office/drawing/2014/main" id="{7DB9962D-0A6A-B4A1-7B83-8F50076C62E6}"/>
              </a:ext>
            </a:extLst>
          </p:cNvPr>
          <p:cNvSpPr txBox="1"/>
          <p:nvPr/>
        </p:nvSpPr>
        <p:spPr>
          <a:xfrm>
            <a:off x="8218334" y="867134"/>
            <a:ext cx="1174115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03B68"/>
                </a:solidFill>
                <a:latin typeface="Segoe UI"/>
                <a:cs typeface="Segoe UI"/>
              </a:rPr>
              <a:t>Task6</a:t>
            </a:r>
            <a:endParaRPr sz="1150">
              <a:latin typeface="Segoe UI"/>
              <a:cs typeface="Segoe UI"/>
            </a:endParaRPr>
          </a:p>
          <a:p>
            <a:pPr marL="376555">
              <a:lnSpc>
                <a:spcPct val="100000"/>
              </a:lnSpc>
              <a:spcBef>
                <a:spcPts val="142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5" dirty="0">
                <a:latin typeface="Segoe UI"/>
                <a:cs typeface="Segoe UI"/>
              </a:rPr>
              <a:t>rg5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2" name="object 70">
            <a:extLst>
              <a:ext uri="{FF2B5EF4-FFF2-40B4-BE49-F238E27FC236}">
                <a16:creationId xmlns:a16="http://schemas.microsoft.com/office/drawing/2014/main" id="{E7151D93-17CD-56CC-E72A-B8A9C4B48022}"/>
              </a:ext>
            </a:extLst>
          </p:cNvPr>
          <p:cNvSpPr txBox="1"/>
          <p:nvPr/>
        </p:nvSpPr>
        <p:spPr>
          <a:xfrm>
            <a:off x="8503818" y="2276897"/>
            <a:ext cx="10826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10" dirty="0">
                <a:latin typeface="Segoe UI"/>
                <a:cs typeface="Segoe UI"/>
              </a:rPr>
              <a:t>appgw5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3" name="object 71">
            <a:extLst>
              <a:ext uri="{FF2B5EF4-FFF2-40B4-BE49-F238E27FC236}">
                <a16:creationId xmlns:a16="http://schemas.microsoft.com/office/drawing/2014/main" id="{7A25C324-01A3-AC7A-E0AF-4D1DD113C60E}"/>
              </a:ext>
            </a:extLst>
          </p:cNvPr>
          <p:cNvSpPr txBox="1"/>
          <p:nvPr/>
        </p:nvSpPr>
        <p:spPr>
          <a:xfrm>
            <a:off x="10284383" y="2488937"/>
            <a:ext cx="8731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az104-06-</a:t>
            </a:r>
            <a:r>
              <a:rPr sz="950" b="1" spc="-20" dirty="0">
                <a:latin typeface="Segoe UI"/>
                <a:cs typeface="Segoe UI"/>
              </a:rPr>
              <a:t>pip5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84" name="object 72">
            <a:extLst>
              <a:ext uri="{FF2B5EF4-FFF2-40B4-BE49-F238E27FC236}">
                <a16:creationId xmlns:a16="http://schemas.microsoft.com/office/drawing/2014/main" id="{CE8B675D-6D24-C922-CD14-6D150E5473C4}"/>
              </a:ext>
            </a:extLst>
          </p:cNvPr>
          <p:cNvGrpSpPr/>
          <p:nvPr/>
        </p:nvGrpSpPr>
        <p:grpSpPr>
          <a:xfrm>
            <a:off x="3242881" y="2832001"/>
            <a:ext cx="5835015" cy="1725930"/>
            <a:chOff x="3242881" y="2832001"/>
            <a:chExt cx="5835015" cy="1725930"/>
          </a:xfrm>
        </p:grpSpPr>
        <p:sp>
          <p:nvSpPr>
            <p:cNvPr id="85" name="object 73">
              <a:extLst>
                <a:ext uri="{FF2B5EF4-FFF2-40B4-BE49-F238E27FC236}">
                  <a16:creationId xmlns:a16="http://schemas.microsoft.com/office/drawing/2014/main" id="{3E4C22EA-67EB-B9BA-5096-C943F90427C6}"/>
                </a:ext>
              </a:extLst>
            </p:cNvPr>
            <p:cNvSpPr/>
            <p:nvPr/>
          </p:nvSpPr>
          <p:spPr>
            <a:xfrm>
              <a:off x="3310559" y="2841844"/>
              <a:ext cx="5757545" cy="1680845"/>
            </a:xfrm>
            <a:custGeom>
              <a:avLst/>
              <a:gdLst/>
              <a:ahLst/>
              <a:cxnLst/>
              <a:rect l="l" t="t" r="r" b="b"/>
              <a:pathLst>
                <a:path w="5757545" h="1680845">
                  <a:moveTo>
                    <a:pt x="5757125" y="0"/>
                  </a:moveTo>
                  <a:lnTo>
                    <a:pt x="0" y="1680845"/>
                  </a:lnTo>
                </a:path>
              </a:pathLst>
            </a:custGeom>
            <a:ln w="19079">
              <a:solidFill>
                <a:srgbClr val="00817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74">
              <a:extLst>
                <a:ext uri="{FF2B5EF4-FFF2-40B4-BE49-F238E27FC236}">
                  <a16:creationId xmlns:a16="http://schemas.microsoft.com/office/drawing/2014/main" id="{DC27D8A5-BAC4-F474-FA2A-410F2DBE3574}"/>
                </a:ext>
              </a:extLst>
            </p:cNvPr>
            <p:cNvSpPr/>
            <p:nvPr/>
          </p:nvSpPr>
          <p:spPr>
            <a:xfrm>
              <a:off x="3242881" y="4484881"/>
              <a:ext cx="83185" cy="73025"/>
            </a:xfrm>
            <a:custGeom>
              <a:avLst/>
              <a:gdLst/>
              <a:ahLst/>
              <a:cxnLst/>
              <a:rect l="l" t="t" r="r" b="b"/>
              <a:pathLst>
                <a:path w="83185" h="73025">
                  <a:moveTo>
                    <a:pt x="61912" y="0"/>
                  </a:moveTo>
                  <a:lnTo>
                    <a:pt x="0" y="57607"/>
                  </a:lnTo>
                  <a:lnTo>
                    <a:pt x="83159" y="7272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0081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75">
              <a:extLst>
                <a:ext uri="{FF2B5EF4-FFF2-40B4-BE49-F238E27FC236}">
                  <a16:creationId xmlns:a16="http://schemas.microsoft.com/office/drawing/2014/main" id="{CAC9386B-7DE6-E3C0-5D5E-070678348A3B}"/>
                </a:ext>
              </a:extLst>
            </p:cNvPr>
            <p:cNvSpPr/>
            <p:nvPr/>
          </p:nvSpPr>
          <p:spPr>
            <a:xfrm>
              <a:off x="8004962" y="2841844"/>
              <a:ext cx="1063625" cy="1641475"/>
            </a:xfrm>
            <a:custGeom>
              <a:avLst/>
              <a:gdLst/>
              <a:ahLst/>
              <a:cxnLst/>
              <a:rect l="l" t="t" r="r" b="b"/>
              <a:pathLst>
                <a:path w="1063625" h="1641475">
                  <a:moveTo>
                    <a:pt x="1063078" y="0"/>
                  </a:moveTo>
                  <a:lnTo>
                    <a:pt x="0" y="1641233"/>
                  </a:lnTo>
                </a:path>
              </a:pathLst>
            </a:custGeom>
            <a:ln w="19079">
              <a:solidFill>
                <a:srgbClr val="00817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76">
              <a:extLst>
                <a:ext uri="{FF2B5EF4-FFF2-40B4-BE49-F238E27FC236}">
                  <a16:creationId xmlns:a16="http://schemas.microsoft.com/office/drawing/2014/main" id="{BE60397D-F362-06A4-0ACD-A2C7BD5BC919}"/>
                </a:ext>
              </a:extLst>
            </p:cNvPr>
            <p:cNvSpPr/>
            <p:nvPr/>
          </p:nvSpPr>
          <p:spPr>
            <a:xfrm>
              <a:off x="7966443" y="445860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9359" y="0"/>
                  </a:moveTo>
                  <a:lnTo>
                    <a:pt x="0" y="83883"/>
                  </a:lnTo>
                  <a:lnTo>
                    <a:pt x="72720" y="41033"/>
                  </a:lnTo>
                  <a:lnTo>
                    <a:pt x="9359" y="0"/>
                  </a:lnTo>
                  <a:close/>
                </a:path>
              </a:pathLst>
            </a:custGeom>
            <a:solidFill>
              <a:srgbClr val="0081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77">
            <a:extLst>
              <a:ext uri="{FF2B5EF4-FFF2-40B4-BE49-F238E27FC236}">
                <a16:creationId xmlns:a16="http://schemas.microsoft.com/office/drawing/2014/main" id="{BB591411-21EA-5E1B-2103-05924C723CB5}"/>
              </a:ext>
            </a:extLst>
          </p:cNvPr>
          <p:cNvSpPr txBox="1"/>
          <p:nvPr/>
        </p:nvSpPr>
        <p:spPr>
          <a:xfrm>
            <a:off x="7386383" y="4555341"/>
            <a:ext cx="121602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Segoe UI"/>
                <a:cs typeface="Segoe UI"/>
              </a:rPr>
              <a:t>Subnet0</a:t>
            </a:r>
            <a:r>
              <a:rPr sz="950" b="1" spc="110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10.63.0.0/24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90" name="object 78">
            <a:extLst>
              <a:ext uri="{FF2B5EF4-FFF2-40B4-BE49-F238E27FC236}">
                <a16:creationId xmlns:a16="http://schemas.microsoft.com/office/drawing/2014/main" id="{ED2E1D17-EC4D-71A9-3C1F-621E1268305C}"/>
              </a:ext>
            </a:extLst>
          </p:cNvPr>
          <p:cNvGrpSpPr/>
          <p:nvPr/>
        </p:nvGrpSpPr>
        <p:grpSpPr>
          <a:xfrm>
            <a:off x="748804" y="1179363"/>
            <a:ext cx="10090785" cy="5260340"/>
            <a:chOff x="748804" y="1179363"/>
            <a:chExt cx="10090785" cy="5260340"/>
          </a:xfrm>
        </p:grpSpPr>
        <p:sp>
          <p:nvSpPr>
            <p:cNvPr id="91" name="object 79">
              <a:extLst>
                <a:ext uri="{FF2B5EF4-FFF2-40B4-BE49-F238E27FC236}">
                  <a16:creationId xmlns:a16="http://schemas.microsoft.com/office/drawing/2014/main" id="{62D98678-3BCA-BAA2-28EC-26E09406A4BE}"/>
                </a:ext>
              </a:extLst>
            </p:cNvPr>
            <p:cNvSpPr/>
            <p:nvPr/>
          </p:nvSpPr>
          <p:spPr>
            <a:xfrm>
              <a:off x="3321354" y="1927444"/>
              <a:ext cx="6862445" cy="1089025"/>
            </a:xfrm>
            <a:custGeom>
              <a:avLst/>
              <a:gdLst/>
              <a:ahLst/>
              <a:cxnLst/>
              <a:rect l="l" t="t" r="r" b="b"/>
              <a:pathLst>
                <a:path w="6862445" h="1089025">
                  <a:moveTo>
                    <a:pt x="3431158" y="1088644"/>
                  </a:moveTo>
                  <a:lnTo>
                    <a:pt x="0" y="1088644"/>
                  </a:lnTo>
                  <a:lnTo>
                    <a:pt x="0" y="0"/>
                  </a:lnTo>
                  <a:lnTo>
                    <a:pt x="6862330" y="0"/>
                  </a:lnTo>
                  <a:lnTo>
                    <a:pt x="6862330" y="1088644"/>
                  </a:lnTo>
                  <a:lnTo>
                    <a:pt x="3431158" y="108864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80">
              <a:extLst>
                <a:ext uri="{FF2B5EF4-FFF2-40B4-BE49-F238E27FC236}">
                  <a16:creationId xmlns:a16="http://schemas.microsoft.com/office/drawing/2014/main" id="{E6B26058-8600-CBD1-9D3F-CCEFE1CE373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4194" y="2264400"/>
              <a:ext cx="318960" cy="301320"/>
            </a:xfrm>
            <a:prstGeom prst="rect">
              <a:avLst/>
            </a:prstGeom>
          </p:spPr>
        </p:pic>
        <p:pic>
          <p:nvPicPr>
            <p:cNvPr id="93" name="object 81">
              <a:extLst>
                <a:ext uri="{FF2B5EF4-FFF2-40B4-BE49-F238E27FC236}">
                  <a16:creationId xmlns:a16="http://schemas.microsoft.com/office/drawing/2014/main" id="{29FA7ED9-3F53-69E2-AB4D-B48528A26E0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9194" y="4837319"/>
              <a:ext cx="318960" cy="301320"/>
            </a:xfrm>
            <a:prstGeom prst="rect">
              <a:avLst/>
            </a:prstGeom>
          </p:spPr>
        </p:pic>
        <p:pic>
          <p:nvPicPr>
            <p:cNvPr id="94" name="object 82">
              <a:extLst>
                <a:ext uri="{FF2B5EF4-FFF2-40B4-BE49-F238E27FC236}">
                  <a16:creationId xmlns:a16="http://schemas.microsoft.com/office/drawing/2014/main" id="{8ADE4C41-990F-D249-A74D-655608C2FCF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8804" y="6130801"/>
              <a:ext cx="307797" cy="290880"/>
            </a:xfrm>
            <a:prstGeom prst="rect">
              <a:avLst/>
            </a:prstGeom>
          </p:spPr>
        </p:pic>
        <p:pic>
          <p:nvPicPr>
            <p:cNvPr id="95" name="object 83">
              <a:extLst>
                <a:ext uri="{FF2B5EF4-FFF2-40B4-BE49-F238E27FC236}">
                  <a16:creationId xmlns:a16="http://schemas.microsoft.com/office/drawing/2014/main" id="{E8909826-4CFA-3B6F-A1A2-5A523CFCEA7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25444" y="4850286"/>
              <a:ext cx="349554" cy="330479"/>
            </a:xfrm>
            <a:prstGeom prst="rect">
              <a:avLst/>
            </a:prstGeom>
          </p:spPr>
        </p:pic>
        <p:pic>
          <p:nvPicPr>
            <p:cNvPr id="96" name="object 84">
              <a:extLst>
                <a:ext uri="{FF2B5EF4-FFF2-40B4-BE49-F238E27FC236}">
                  <a16:creationId xmlns:a16="http://schemas.microsoft.com/office/drawing/2014/main" id="{C9BABDD9-E419-B5C7-0042-014CC80D7CF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4004" y="5715359"/>
              <a:ext cx="328320" cy="310324"/>
            </a:xfrm>
            <a:prstGeom prst="rect">
              <a:avLst/>
            </a:prstGeom>
          </p:spPr>
        </p:pic>
        <p:pic>
          <p:nvPicPr>
            <p:cNvPr id="97" name="object 85">
              <a:extLst>
                <a:ext uri="{FF2B5EF4-FFF2-40B4-BE49-F238E27FC236}">
                  <a16:creationId xmlns:a16="http://schemas.microsoft.com/office/drawing/2014/main" id="{97B4DD56-CF03-A0CF-57AA-1ADACEED222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9643" y="5951884"/>
              <a:ext cx="307797" cy="290880"/>
            </a:xfrm>
            <a:prstGeom prst="rect">
              <a:avLst/>
            </a:prstGeom>
          </p:spPr>
        </p:pic>
        <p:pic>
          <p:nvPicPr>
            <p:cNvPr id="98" name="object 86">
              <a:extLst>
                <a:ext uri="{FF2B5EF4-FFF2-40B4-BE49-F238E27FC236}">
                  <a16:creationId xmlns:a16="http://schemas.microsoft.com/office/drawing/2014/main" id="{647571CE-203B-37BC-7B5F-E2A1D1FD665A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74273" y="2211480"/>
              <a:ext cx="264960" cy="250558"/>
            </a:xfrm>
            <a:prstGeom prst="rect">
              <a:avLst/>
            </a:prstGeom>
          </p:spPr>
        </p:pic>
        <p:pic>
          <p:nvPicPr>
            <p:cNvPr id="99" name="object 87">
              <a:extLst>
                <a:ext uri="{FF2B5EF4-FFF2-40B4-BE49-F238E27FC236}">
                  <a16:creationId xmlns:a16="http://schemas.microsoft.com/office/drawing/2014/main" id="{7A923B9E-EA1B-3E26-A607-A43C147486E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33918" y="1179363"/>
              <a:ext cx="307797" cy="290880"/>
            </a:xfrm>
            <a:prstGeom prst="rect">
              <a:avLst/>
            </a:prstGeom>
          </p:spPr>
        </p:pic>
        <p:pic>
          <p:nvPicPr>
            <p:cNvPr id="100" name="object 88">
              <a:extLst>
                <a:ext uri="{FF2B5EF4-FFF2-40B4-BE49-F238E27FC236}">
                  <a16:creationId xmlns:a16="http://schemas.microsoft.com/office/drawing/2014/main" id="{50589F5E-4817-6F3B-7CAE-1B8C29EBC5F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44473" y="3616925"/>
              <a:ext cx="246240" cy="232562"/>
            </a:xfrm>
            <a:prstGeom prst="rect">
              <a:avLst/>
            </a:prstGeom>
          </p:spPr>
        </p:pic>
        <p:pic>
          <p:nvPicPr>
            <p:cNvPr id="101" name="object 89">
              <a:extLst>
                <a:ext uri="{FF2B5EF4-FFF2-40B4-BE49-F238E27FC236}">
                  <a16:creationId xmlns:a16="http://schemas.microsoft.com/office/drawing/2014/main" id="{315E9C67-E66B-D3DC-905A-C2E418CD2AE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3764" y="4832645"/>
              <a:ext cx="318960" cy="301320"/>
            </a:xfrm>
            <a:prstGeom prst="rect">
              <a:avLst/>
            </a:prstGeom>
          </p:spPr>
        </p:pic>
        <p:pic>
          <p:nvPicPr>
            <p:cNvPr id="102" name="object 90">
              <a:extLst>
                <a:ext uri="{FF2B5EF4-FFF2-40B4-BE49-F238E27FC236}">
                  <a16:creationId xmlns:a16="http://schemas.microsoft.com/office/drawing/2014/main" id="{9497D55C-5A0A-31C7-9CF0-9F115FA89E1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5523" y="5729761"/>
              <a:ext cx="328320" cy="310324"/>
            </a:xfrm>
            <a:prstGeom prst="rect">
              <a:avLst/>
            </a:prstGeom>
          </p:spPr>
        </p:pic>
        <p:sp>
          <p:nvSpPr>
            <p:cNvPr id="103" name="object 91">
              <a:extLst>
                <a:ext uri="{FF2B5EF4-FFF2-40B4-BE49-F238E27FC236}">
                  <a16:creationId xmlns:a16="http://schemas.microsoft.com/office/drawing/2014/main" id="{3552EF0F-0ECC-7E64-F3B6-C2279B5051DB}"/>
                </a:ext>
              </a:extLst>
            </p:cNvPr>
            <p:cNvSpPr/>
            <p:nvPr/>
          </p:nvSpPr>
          <p:spPr>
            <a:xfrm>
              <a:off x="7367041" y="4741561"/>
              <a:ext cx="1189355" cy="709930"/>
            </a:xfrm>
            <a:custGeom>
              <a:avLst/>
              <a:gdLst/>
              <a:ahLst/>
              <a:cxnLst/>
              <a:rect l="l" t="t" r="r" b="b"/>
              <a:pathLst>
                <a:path w="1189354" h="709929">
                  <a:moveTo>
                    <a:pt x="594715" y="709561"/>
                  </a:moveTo>
                  <a:lnTo>
                    <a:pt x="0" y="709561"/>
                  </a:lnTo>
                  <a:lnTo>
                    <a:pt x="0" y="0"/>
                  </a:lnTo>
                  <a:lnTo>
                    <a:pt x="1189075" y="0"/>
                  </a:lnTo>
                  <a:lnTo>
                    <a:pt x="1189075" y="709561"/>
                  </a:lnTo>
                  <a:lnTo>
                    <a:pt x="594715" y="70956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92">
              <a:extLst>
                <a:ext uri="{FF2B5EF4-FFF2-40B4-BE49-F238E27FC236}">
                  <a16:creationId xmlns:a16="http://schemas.microsoft.com/office/drawing/2014/main" id="{4E4B694A-10E6-FDF3-5090-F7C55224648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4924" y="6148441"/>
              <a:ext cx="307797" cy="290880"/>
            </a:xfrm>
            <a:prstGeom prst="rect">
              <a:avLst/>
            </a:prstGeom>
          </p:spPr>
        </p:pic>
      </p:grpSp>
      <p:sp>
        <p:nvSpPr>
          <p:cNvPr id="105" name="object 93">
            <a:extLst>
              <a:ext uri="{FF2B5EF4-FFF2-40B4-BE49-F238E27FC236}">
                <a16:creationId xmlns:a16="http://schemas.microsoft.com/office/drawing/2014/main" id="{00FAE5BB-069E-7F51-7AEF-688C1DA95554}"/>
              </a:ext>
            </a:extLst>
          </p:cNvPr>
          <p:cNvSpPr txBox="1">
            <a:spLocks/>
          </p:cNvSpPr>
          <p:nvPr/>
        </p:nvSpPr>
        <p:spPr>
          <a:xfrm>
            <a:off x="9387979" y="6561928"/>
            <a:ext cx="2789554" cy="177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70"/>
              </a:spcBef>
            </a:pPr>
            <a:r>
              <a:rPr lang="en-US"/>
              <a:t>©</a:t>
            </a:r>
            <a:r>
              <a:rPr lang="en-US" spc="-30"/>
              <a:t> </a:t>
            </a:r>
            <a:r>
              <a:rPr lang="en-US"/>
              <a:t>Copyright</a:t>
            </a:r>
            <a:r>
              <a:rPr lang="en-US" spc="-35"/>
              <a:t> </a:t>
            </a:r>
            <a:r>
              <a:rPr lang="en-US"/>
              <a:t>Microsoft</a:t>
            </a:r>
            <a:r>
              <a:rPr lang="en-US" spc="-30"/>
              <a:t> </a:t>
            </a:r>
            <a:r>
              <a:rPr lang="en-US"/>
              <a:t>Corporation.</a:t>
            </a:r>
            <a:r>
              <a:rPr lang="en-US" spc="-35"/>
              <a:t> </a:t>
            </a:r>
            <a:r>
              <a:rPr lang="en-US"/>
              <a:t>All</a:t>
            </a:r>
            <a:r>
              <a:rPr lang="en-US" spc="-25"/>
              <a:t> </a:t>
            </a:r>
            <a:r>
              <a:rPr lang="en-US"/>
              <a:t>rights</a:t>
            </a:r>
            <a:r>
              <a:rPr lang="en-US" spc="-20"/>
              <a:t> </a:t>
            </a:r>
            <a:r>
              <a:rPr lang="en-US" spc="-10"/>
              <a:t>reserved.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029816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28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18da4c-8642-4680-9c2c-33eac315f7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303C1C7C00F045B33B06D7CDCE8711" ma:contentTypeVersion="6" ma:contentTypeDescription="Create a new document." ma:contentTypeScope="" ma:versionID="d2955efeaedeea000cf8c17f03f58435">
  <xsd:schema xmlns:xsd="http://www.w3.org/2001/XMLSchema" xmlns:xs="http://www.w3.org/2001/XMLSchema" xmlns:p="http://schemas.microsoft.com/office/2006/metadata/properties" xmlns:ns3="9b18da4c-8642-4680-9c2c-33eac315f718" targetNamespace="http://schemas.microsoft.com/office/2006/metadata/properties" ma:root="true" ma:fieldsID="5414c9e87e62002766041a340a06b184" ns3:_="">
    <xsd:import namespace="9b18da4c-8642-4680-9c2c-33eac315f71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18da4c-8642-4680-9c2c-33eac315f71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56F328-B082-4BC1-9FB2-6182893B4E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2CF0A8-C658-430C-A009-72670DB2E058}">
  <ds:schemaRefs>
    <ds:schemaRef ds:uri="http://www.w3.org/XML/1998/namespace"/>
    <ds:schemaRef ds:uri="9b18da4c-8642-4680-9c2c-33eac315f718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FA1CE60-8A5A-4648-A1AE-35F3AED963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18da4c-8642-4680-9c2c-33eac315f7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1171</Words>
  <Application>Microsoft Office PowerPoint</Application>
  <PresentationFormat>Widescreen</PresentationFormat>
  <Paragraphs>253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Arial MT</vt:lpstr>
      <vt:lpstr>Calibri</vt:lpstr>
      <vt:lpstr>Calibri Light</vt:lpstr>
      <vt:lpstr>Lato</vt:lpstr>
      <vt:lpstr>Proxima Nova</vt:lpstr>
      <vt:lpstr>Segoe UI</vt:lpstr>
      <vt:lpstr>Segoe UI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Nikunj Singhal</cp:lastModifiedBy>
  <cp:revision>12</cp:revision>
  <dcterms:created xsi:type="dcterms:W3CDTF">2024-07-23T11:56:01Z</dcterms:created>
  <dcterms:modified xsi:type="dcterms:W3CDTF">2024-11-07T11:26:39Z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0x01010096303C1C7C00F045B33B06D7CDCE8711</vt:lpwstr>
  </property>
</Properties>
</file>