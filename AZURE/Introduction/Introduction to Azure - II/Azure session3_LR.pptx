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900" r:id="rId3"/>
    <p:sldId id="903" r:id="rId4"/>
    <p:sldId id="902" r:id="rId5"/>
    <p:sldId id="901" r:id="rId6"/>
    <p:sldId id="904" r:id="rId7"/>
    <p:sldId id="905" r:id="rId8"/>
    <p:sldId id="906" r:id="rId9"/>
    <p:sldId id="907" r:id="rId10"/>
    <p:sldId id="908" r:id="rId11"/>
    <p:sldId id="909" r:id="rId12"/>
    <p:sldId id="910" r:id="rId13"/>
    <p:sldId id="911" r:id="rId14"/>
    <p:sldId id="912" r:id="rId15"/>
    <p:sldId id="913" r:id="rId16"/>
    <p:sldId id="5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992" autoAdjust="0"/>
  </p:normalViewPr>
  <p:slideViewPr>
    <p:cSldViewPr snapToGrid="0">
      <p:cViewPr varScale="1">
        <p:scale>
          <a:sx n="57" d="100"/>
          <a:sy n="57" d="100"/>
        </p:scale>
        <p:origin x="10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13585-F2F7-4CAB-A4E4-1512BB9B545B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69316-F612-48C3-B1C7-701A2C12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3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551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lab introduces the student to resource manager templates, Cloud Shell, Azure PowerShell, Bash (CLI), and Bicep. As of the 23 Feb 2024 course update there is only one lab. 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Lab 03b - https://microsoftlearning.github.io/AZ-104-MicrosoftAzureAdministrator/Instructions/Labs/LAB_03b-Manage_Azure_Resources_by_Using_ARM_Templates.html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69316-F612-48C3-B1C7-701A2C12BC0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571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D30F-11CB-4A38-D5FC-43AB22400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EC942-BB8A-34AC-C497-D4FD2BED0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1584A-C19D-2D97-0AF6-751B4D27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7BBA-1403-8ADF-3C89-1C56F6A7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4B5EE-694E-0DD6-FBBC-DAEE073B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3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5A2D-7795-829E-0317-35A6629C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A543-0209-7742-9E7A-1C9448B44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7CC4-06DF-0598-CF9B-17940CC1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7B6F1-E547-28F3-214B-E14FA297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87C7-35CB-E756-85E9-6ED61FF7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6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13AF-764B-9BED-839B-1F2548D9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1ABD-DC52-E5BB-2552-51A8C55B3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81113-125C-2AC5-EA8C-E51F7236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0F60A-D639-FC0E-6607-3F9FDD3D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21C5-E274-8177-0A84-61FBD13E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4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8B2C-B56C-65F9-D55A-03C41560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C924-40A7-CCC5-5467-954F49538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46483-F4A5-9F85-2F36-57685DC1C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92291-7FB4-9BC0-C08C-602E7E48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FF5A3-AFC2-83AF-3AC5-A2DFC37C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1BCC1-B192-509A-B182-FDA38BEC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6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9D4F-6499-4E62-6BC4-A864B371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5EE0A-2D64-6EA3-C393-6A793B336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6FDC3-5665-D55A-BF31-4799773D5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0E72C-7203-963D-54C2-7C5F8F9DD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B9FA4-2C32-85B9-E44F-E043C5711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A284C-82E5-0258-95ED-C939210B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87524-7C83-6978-13D2-68242941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B0B3A0-9328-56ED-6165-5FE6725B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9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C313-A857-D2B6-4972-603A3209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E6E7C-9E05-38A0-50E5-475C61D1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5942B-9E3E-FE6B-DB1B-2B40E1C4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D417-DE49-E1CE-4813-90A27590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7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5A62D-5E35-4978-A21D-015D67A6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C7063-316D-7692-711E-1145293C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6D14C-0A1E-DA44-3394-36812D4E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22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4731-C279-E9B4-1350-D01064C5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44481-22CF-C3C5-7B97-22D9E52FB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C30EE-D49D-6439-35A7-D564C5416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7929C-043F-5FF4-6D6D-171B825F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329F1-C192-1700-B843-D4B943C3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8F1DF-4A4F-C67D-BE2E-1FE4CA53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37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8093-BF6B-B264-E311-398794DE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AD7C6-1734-B469-30B7-4A42BB717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E643E-D7E3-7AB3-F45D-CE539AA73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495D1-052E-D029-A14D-9768E55A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11458-BD09-D7A2-90F1-22EA0A4D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AD0DC-C873-E862-BD92-71ED2A4C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7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3DAD-FBC8-F5A7-4DFF-0EB88A10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120F-9120-CC06-97E9-33733579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3293-6891-933A-C374-086A5CDA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EA86-1716-99FC-624F-78142245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BAD29-F34E-E7C3-A14F-532F8C89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39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E1245-A4CF-CE70-BB65-F95B54A0B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C1FE-EE55-4B51-5B5A-E44581E04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06AF-DE1E-E1BF-5B20-319686EA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684D1-B61C-0604-F16A-3DAE3869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DF065-EA66-D400-5822-2008989B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78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B1CA2-ECC1-4762-AAEA-FADDBF94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8F6B0-B57E-519B-311D-89ED4289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5897C-4441-701B-8C16-69E4C437F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4CA72-CAC1-4B24-B91B-249F70378C1E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07FF-709C-AC63-F960-09B72AA04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18F4-90CC-DE76-BC3D-75D676446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6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microsoft.com/azure/azure-resource-manager/templates/template-syntax" TargetMode="Externa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3" Type="http://schemas.openxmlformats.org/officeDocument/2006/relationships/image" Target="../media/image3.emf"/><Relationship Id="rId21" Type="http://schemas.openxmlformats.org/officeDocument/2006/relationships/image" Target="../media/image24.svg"/><Relationship Id="rId7" Type="http://schemas.openxmlformats.org/officeDocument/2006/relationships/image" Target="../media/image12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svg"/><Relationship Id="rId5" Type="http://schemas.openxmlformats.org/officeDocument/2006/relationships/image" Target="../media/image5.emf"/><Relationship Id="rId15" Type="http://schemas.openxmlformats.org/officeDocument/2006/relationships/image" Target="../media/image18.svg"/><Relationship Id="rId10" Type="http://schemas.openxmlformats.org/officeDocument/2006/relationships/image" Target="../media/image8.png"/><Relationship Id="rId19" Type="http://schemas.openxmlformats.org/officeDocument/2006/relationships/image" Target="../media/image22.svg"/><Relationship Id="rId4" Type="http://schemas.openxmlformats.org/officeDocument/2006/relationships/image" Target="../media/image4.emf"/><Relationship Id="rId9" Type="http://schemas.openxmlformats.org/officeDocument/2006/relationships/image" Target="../media/image14.svg"/><Relationship Id="rId1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Azure Resources</a:t>
            </a: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D726F68E-6946-2F7A-8335-E40846936C4F}"/>
              </a:ext>
            </a:extLst>
          </p:cNvPr>
          <p:cNvSpPr txBox="1">
            <a:spLocks/>
          </p:cNvSpPr>
          <p:nvPr/>
        </p:nvSpPr>
        <p:spPr>
          <a:xfrm>
            <a:off x="2243958" y="2694240"/>
            <a:ext cx="6472474" cy="1695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Configure Azure Resources with the Azure Portal, PowerShell, and the CLI</a:t>
            </a:r>
          </a:p>
        </p:txBody>
      </p:sp>
    </p:spTree>
    <p:extLst>
      <p:ext uri="{BB962C8B-B14F-4D97-AF65-F5344CB8AC3E}">
        <p14:creationId xmlns:p14="http://schemas.microsoft.com/office/powerpoint/2010/main" val="374819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DDA833D-9766-5430-C52C-2FB057EFFC32}"/>
              </a:ext>
            </a:extLst>
          </p:cNvPr>
          <p:cNvSpPr txBox="1">
            <a:spLocks/>
          </p:cNvSpPr>
          <p:nvPr/>
        </p:nvSpPr>
        <p:spPr>
          <a:xfrm>
            <a:off x="-295716" y="551048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Compare Administrator tools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CE6A8B58-9021-4F79-91F6-87625F150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79913"/>
              </p:ext>
            </p:extLst>
          </p:nvPr>
        </p:nvGraphicFramePr>
        <p:xfrm>
          <a:off x="639799" y="1345882"/>
          <a:ext cx="3305478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478">
                  <a:extLst>
                    <a:ext uri="{9D8B030D-6E8A-4147-A177-3AD203B41FA5}">
                      <a16:colId xmlns:a16="http://schemas.microsoft.com/office/drawing/2014/main" val="3478736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Azure Portal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B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306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4625" marR="0" lvl="0" indent="-174625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174625" marR="0" lvl="0" indent="-174625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174625" marR="0" lvl="0" indent="-174625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174625" marR="0" lvl="0" indent="-174625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174625" marR="0" lvl="0" indent="-174625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174625" marR="0" lvl="0" indent="-174625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dirty="0"/>
                    </a:p>
                    <a:p>
                      <a:pPr marL="174625" marR="0" lvl="0" indent="-174625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View and manage resources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Visual interface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Unified hub – training and documentation 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Personalize your experience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Mobile app</a:t>
                      </a:r>
                    </a:p>
                    <a:p>
                      <a:pPr marL="174625" marR="0" lvl="0" indent="-174625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Access the Cloud Shell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One-off creation scenarios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884476"/>
                  </a:ext>
                </a:extLst>
              </a:tr>
            </a:tbl>
          </a:graphicData>
        </a:graphic>
      </p:graphicFrame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8C7831F-C5DA-D938-870E-C3097A024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942803"/>
              </p:ext>
            </p:extLst>
          </p:nvPr>
        </p:nvGraphicFramePr>
        <p:xfrm>
          <a:off x="4480622" y="1345882"/>
          <a:ext cx="3305478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478">
                  <a:extLst>
                    <a:ext uri="{9D8B030D-6E8A-4147-A177-3AD203B41FA5}">
                      <a16:colId xmlns:a16="http://schemas.microsoft.com/office/drawing/2014/main" val="3478736876"/>
                    </a:ext>
                  </a:extLst>
                </a:gridCol>
              </a:tblGrid>
              <a:tr h="38310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Azure Cloud Shell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B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306647"/>
                  </a:ext>
                </a:extLst>
              </a:tr>
              <a:tr h="4376854">
                <a:tc>
                  <a:txBody>
                    <a:bodyPr/>
                    <a:lstStyle/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Interactive and browser-accessible with file storage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Offers Bash or PowerShell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Authenticates automatically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Provided on a per-session and per-user basis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Temporary - times out after 20 minutes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884476"/>
                  </a:ext>
                </a:extLst>
              </a:tr>
            </a:tbl>
          </a:graphicData>
        </a:graphic>
      </p:graphicFrame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5CDC8A72-E853-5EA0-7040-B3E710EB1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837520"/>
              </p:ext>
            </p:extLst>
          </p:nvPr>
        </p:nvGraphicFramePr>
        <p:xfrm>
          <a:off x="8187881" y="1345882"/>
          <a:ext cx="3305478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478">
                  <a:extLst>
                    <a:ext uri="{9D8B030D-6E8A-4147-A177-3AD203B41FA5}">
                      <a16:colId xmlns:a16="http://schemas.microsoft.com/office/drawing/2014/main" val="3478736876"/>
                    </a:ext>
                  </a:extLst>
                </a:gridCol>
              </a:tblGrid>
              <a:tr h="38310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Azure PowerShell and CLI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B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306647"/>
                  </a:ext>
                </a:extLst>
              </a:tr>
              <a:tr h="4376854">
                <a:tc>
                  <a:txBody>
                    <a:bodyPr/>
                    <a:lstStyle/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Command line programs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Interactive and scripting modes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Cross-platform compatibility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Good for repeatable deployments</a:t>
                      </a:r>
                    </a:p>
                    <a:p>
                      <a:pPr marL="174625" indent="-174625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Familiar coding experience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88447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796CBC00-5FA3-FC52-3DE2-67398335C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5049" y="1949590"/>
            <a:ext cx="1813314" cy="1263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8348A8-ACA1-49BC-4F93-4014ACE66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667" y="1874412"/>
            <a:ext cx="2605446" cy="1413360"/>
          </a:xfrm>
          <a:prstGeom prst="rect">
            <a:avLst/>
          </a:prstGeom>
          <a:ln>
            <a:noFill/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6E4C4A3-3FBC-5F4D-E4B4-881C450B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90527" y="2159170"/>
            <a:ext cx="2751037" cy="843843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lIns="182880" tIns="137160" rIns="182880" bIns="137160" anchor="ctr">
            <a:noAutofit/>
          </a:bodyPr>
          <a:lstStyle/>
          <a:p>
            <a:pPr algn="ctr">
              <a:tabLst>
                <a:tab pos="288198" algn="l"/>
              </a:tabLst>
            </a:pPr>
            <a:r>
              <a:rPr lang="en-US" sz="1400" dirty="0">
                <a:latin typeface="Consolas" panose="020B0609020204030204" pitchFamily="49" charset="0"/>
              </a:rPr>
              <a:t> az vm restart -g MyResourceGroup -n MyVm</a:t>
            </a:r>
          </a:p>
        </p:txBody>
      </p:sp>
    </p:spTree>
    <p:extLst>
      <p:ext uri="{BB962C8B-B14F-4D97-AF65-F5344CB8AC3E}">
        <p14:creationId xmlns:p14="http://schemas.microsoft.com/office/powerpoint/2010/main" val="132976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8509311-2F35-D012-9FA9-4F31D2A141A0}"/>
              </a:ext>
            </a:extLst>
          </p:cNvPr>
          <p:cNvSpPr txBox="1">
            <a:spLocks/>
          </p:cNvSpPr>
          <p:nvPr/>
        </p:nvSpPr>
        <p:spPr>
          <a:xfrm>
            <a:off x="667524" y="2022840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Demonstration – Azure Portal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EE9FA7-24B6-D805-9777-0A872DD6D6D8}"/>
              </a:ext>
            </a:extLst>
          </p:cNvPr>
          <p:cNvSpPr/>
          <p:nvPr/>
        </p:nvSpPr>
        <p:spPr bwMode="auto">
          <a:xfrm>
            <a:off x="1190586" y="3274764"/>
            <a:ext cx="9044504" cy="1561204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10223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Customize your dashboard</a:t>
            </a:r>
          </a:p>
          <a:p>
            <a:pPr marL="342900" indent="-342900" defTabSz="10223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Search for and locate resources</a:t>
            </a:r>
          </a:p>
          <a:p>
            <a:pPr marL="342900" indent="-342900" defTabSz="10223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Support and help tickets</a:t>
            </a:r>
          </a:p>
        </p:txBody>
      </p:sp>
    </p:spTree>
    <p:extLst>
      <p:ext uri="{BB962C8B-B14F-4D97-AF65-F5344CB8AC3E}">
        <p14:creationId xmlns:p14="http://schemas.microsoft.com/office/powerpoint/2010/main" val="106077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7058677-0A42-AE0F-964F-2E72AA6D0292}"/>
              </a:ext>
            </a:extLst>
          </p:cNvPr>
          <p:cNvSpPr txBox="1">
            <a:spLocks/>
          </p:cNvSpPr>
          <p:nvPr/>
        </p:nvSpPr>
        <p:spPr>
          <a:xfrm>
            <a:off x="667524" y="1597467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Demonstration – Cloud Shell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6C41C6-570D-FBB5-7427-4E8431A19157}"/>
              </a:ext>
            </a:extLst>
          </p:cNvPr>
          <p:cNvSpPr/>
          <p:nvPr/>
        </p:nvSpPr>
        <p:spPr bwMode="auto">
          <a:xfrm>
            <a:off x="1150798" y="2885569"/>
            <a:ext cx="8829112" cy="3079183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10223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Access the Cloud Shell</a:t>
            </a:r>
          </a:p>
          <a:p>
            <a:pPr marL="342900" indent="-342900" defTabSz="10223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Configure storage for the Cloud Shell </a:t>
            </a:r>
          </a:p>
          <a:p>
            <a:pPr marL="342900" indent="-342900" defTabSz="10223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Explore PowerShell or Bash</a:t>
            </a:r>
          </a:p>
          <a:p>
            <a:pPr marL="342900" indent="-342900" defTabSz="10223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Upload or download files to the storage</a:t>
            </a:r>
          </a:p>
          <a:p>
            <a:pPr marL="342900" indent="-342900" defTabSz="10223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Use the Cloud Editor (optional)</a:t>
            </a:r>
          </a:p>
          <a:p>
            <a:pPr marL="342900" indent="-342900" defTabSz="10223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9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D587BE7A-3585-CA90-2627-6CBD603B08A7}"/>
              </a:ext>
            </a:extLst>
          </p:cNvPr>
          <p:cNvSpPr txBox="1">
            <a:spLocks/>
          </p:cNvSpPr>
          <p:nvPr/>
        </p:nvSpPr>
        <p:spPr>
          <a:xfrm>
            <a:off x="2859763" y="2703544"/>
            <a:ext cx="6472474" cy="56509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Configure Resources with ARM Templates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4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726C5C5-9DAD-8198-3D2A-4D809F87B02F}"/>
              </a:ext>
            </a:extLst>
          </p:cNvPr>
          <p:cNvSpPr txBox="1">
            <a:spLocks/>
          </p:cNvSpPr>
          <p:nvPr/>
        </p:nvSpPr>
        <p:spPr>
          <a:xfrm>
            <a:off x="618241" y="1584285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Learning Objectives – Azure RM Templates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F0657-E411-B1CE-50F4-389A0C37286F}"/>
              </a:ext>
            </a:extLst>
          </p:cNvPr>
          <p:cNvSpPr txBox="1"/>
          <p:nvPr/>
        </p:nvSpPr>
        <p:spPr>
          <a:xfrm>
            <a:off x="707833" y="2554773"/>
            <a:ext cx="5937332" cy="3526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Explore the JSON Template Schema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Explore the JSON Template Parameters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Consider Azure Bicep Files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Demonstration – QuickStart Templates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Learning Recap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F41A0E-B202-C2E2-CBD0-C95920130810}"/>
              </a:ext>
            </a:extLst>
          </p:cNvPr>
          <p:cNvSpPr txBox="1"/>
          <p:nvPr/>
        </p:nvSpPr>
        <p:spPr>
          <a:xfrm>
            <a:off x="6645165" y="2949714"/>
            <a:ext cx="4572001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1"/>
                </a:solidFill>
              </a:rPr>
              <a:t>Manage Azure identities and governance  (20–25%): </a:t>
            </a:r>
            <a:r>
              <a:rPr lang="en-US" i="0" dirty="0">
                <a:solidFill>
                  <a:schemeClr val="accent1"/>
                </a:solidFill>
                <a:effectLst/>
              </a:rPr>
              <a:t>Automate deployment of resources by using templates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Modify an ARM template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Deploy a template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Save a deployment as an ARM template</a:t>
            </a:r>
          </a:p>
        </p:txBody>
      </p:sp>
    </p:spTree>
    <p:extLst>
      <p:ext uri="{BB962C8B-B14F-4D97-AF65-F5344CB8AC3E}">
        <p14:creationId xmlns:p14="http://schemas.microsoft.com/office/powerpoint/2010/main" val="42602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14112407-E2EA-C895-A0F2-ECA5219B6D36}"/>
              </a:ext>
            </a:extLst>
          </p:cNvPr>
          <p:cNvSpPr txBox="1">
            <a:spLocks/>
          </p:cNvSpPr>
          <p:nvPr/>
        </p:nvSpPr>
        <p:spPr>
          <a:xfrm>
            <a:off x="8803" y="1106431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Review ARM Template Advantages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4294195E-F950-1129-4E3B-C06E9B547B46}"/>
              </a:ext>
            </a:extLst>
          </p:cNvPr>
          <p:cNvSpPr txBox="1"/>
          <p:nvPr/>
        </p:nvSpPr>
        <p:spPr>
          <a:xfrm>
            <a:off x="553338" y="1986651"/>
            <a:ext cx="6335270" cy="400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Ensures consistent deployments and supports reuse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8BAAED1D-9187-E552-8A83-66C847DBAF47}"/>
              </a:ext>
            </a:extLst>
          </p:cNvPr>
          <p:cNvSpPr txBox="1"/>
          <p:nvPr/>
        </p:nvSpPr>
        <p:spPr>
          <a:xfrm>
            <a:off x="553338" y="2679237"/>
            <a:ext cx="6335270" cy="400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Reduce manual, error prone, and repetitive tasks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B43648D1-AAB3-B2F8-EAF3-51F30859959D}"/>
              </a:ext>
            </a:extLst>
          </p:cNvPr>
          <p:cNvSpPr txBox="1"/>
          <p:nvPr/>
        </p:nvSpPr>
        <p:spPr>
          <a:xfrm>
            <a:off x="553336" y="3371823"/>
            <a:ext cx="6335270" cy="400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Express complex deployments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6997A4C0-CE70-54D8-4D3A-20DCCE3D0320}"/>
              </a:ext>
            </a:extLst>
          </p:cNvPr>
          <p:cNvSpPr txBox="1"/>
          <p:nvPr/>
        </p:nvSpPr>
        <p:spPr>
          <a:xfrm>
            <a:off x="553337" y="4064409"/>
            <a:ext cx="6335270" cy="400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Express requirements through code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85C325E-86A9-EB81-E5F5-634C1CE73137}"/>
              </a:ext>
            </a:extLst>
          </p:cNvPr>
          <p:cNvSpPr txBox="1"/>
          <p:nvPr/>
        </p:nvSpPr>
        <p:spPr>
          <a:xfrm>
            <a:off x="553338" y="4756995"/>
            <a:ext cx="6335270" cy="400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Provides validation tasks</a:t>
            </a: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D043D04D-3F01-D994-FFD4-9562742A7F3A}"/>
              </a:ext>
            </a:extLst>
          </p:cNvPr>
          <p:cNvSpPr txBox="1"/>
          <p:nvPr/>
        </p:nvSpPr>
        <p:spPr>
          <a:xfrm>
            <a:off x="553338" y="5449581"/>
            <a:ext cx="6335270" cy="400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Modular designs with the ability to link templates.</a:t>
            </a: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77D32E9F-6B5D-6BEA-D6FA-00A31619D5EB}"/>
              </a:ext>
            </a:extLst>
          </p:cNvPr>
          <p:cNvSpPr txBox="1"/>
          <p:nvPr/>
        </p:nvSpPr>
        <p:spPr>
          <a:xfrm>
            <a:off x="553336" y="6142166"/>
            <a:ext cx="6335270" cy="400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Simplifies orchestration</a:t>
            </a:r>
          </a:p>
        </p:txBody>
      </p:sp>
      <p:grpSp>
        <p:nvGrpSpPr>
          <p:cNvPr id="18" name="Group 17" descr="An ARM template is shown being deployed in Development, Production, and Quality Assurance">
            <a:extLst>
              <a:ext uri="{FF2B5EF4-FFF2-40B4-BE49-F238E27FC236}">
                <a16:creationId xmlns:a16="http://schemas.microsoft.com/office/drawing/2014/main" id="{7B285BC6-5792-6D2C-8651-E346BED79391}"/>
              </a:ext>
            </a:extLst>
          </p:cNvPr>
          <p:cNvGrpSpPr/>
          <p:nvPr/>
        </p:nvGrpSpPr>
        <p:grpSpPr>
          <a:xfrm>
            <a:off x="7765017" y="2170949"/>
            <a:ext cx="3743438" cy="4193282"/>
            <a:chOff x="409260" y="1193514"/>
            <a:chExt cx="2908098" cy="377293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E7A9C64-328E-8FFE-2AB4-0096E439518A}"/>
                </a:ext>
              </a:extLst>
            </p:cNvPr>
            <p:cNvSpPr/>
            <p:nvPr/>
          </p:nvSpPr>
          <p:spPr bwMode="auto">
            <a:xfrm>
              <a:off x="409260" y="1193514"/>
              <a:ext cx="1790301" cy="7398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2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latin typeface="+mj-lt"/>
                  <a:ea typeface="Verdana" panose="020B0604030504040204" pitchFamily="34" charset="0"/>
                  <a:cs typeface="Segoe UI" pitchFamily="34" charset="0"/>
                </a:rPr>
                <a:t>ARM</a:t>
              </a:r>
            </a:p>
            <a:p>
              <a:pPr algn="ctr" defTabSz="95102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tx1"/>
                  </a:solidFill>
                  <a:latin typeface="+mj-lt"/>
                  <a:ea typeface="Verdana" panose="020B0604030504040204" pitchFamily="34" charset="0"/>
                  <a:cs typeface="Segoe UI" pitchFamily="34" charset="0"/>
                </a:rPr>
                <a:t>Template</a:t>
              </a:r>
            </a:p>
          </p:txBody>
        </p:sp>
        <p:cxnSp>
          <p:nvCxnSpPr>
            <p:cNvPr id="20" name="Connector: Elbow 19" descr="Arrow pointing right">
              <a:extLst>
                <a:ext uri="{FF2B5EF4-FFF2-40B4-BE49-F238E27FC236}">
                  <a16:creationId xmlns:a16="http://schemas.microsoft.com/office/drawing/2014/main" id="{8422ED8C-4839-E593-911C-82E0C9E8A30F}"/>
                </a:ext>
              </a:extLst>
            </p:cNvPr>
            <p:cNvCxnSpPr>
              <a:cxnSpLocks/>
              <a:stCxn id="19" idx="2"/>
              <a:endCxn id="21" idx="1"/>
            </p:cNvCxnSpPr>
            <p:nvPr/>
          </p:nvCxnSpPr>
          <p:spPr>
            <a:xfrm rot="16200000" flipH="1">
              <a:off x="1083495" y="2154326"/>
              <a:ext cx="664476" cy="222647"/>
            </a:xfrm>
            <a:prstGeom prst="bentConnector2">
              <a:avLst/>
            </a:prstGeom>
            <a:ln w="19050">
              <a:prstDash val="sysDash"/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5940E5-5110-762B-DCE8-1ABDD2CBE486}"/>
                </a:ext>
              </a:extLst>
            </p:cNvPr>
            <p:cNvSpPr/>
            <p:nvPr/>
          </p:nvSpPr>
          <p:spPr bwMode="auto">
            <a:xfrm>
              <a:off x="1527057" y="2276626"/>
              <a:ext cx="1790301" cy="6425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Segoe UI" pitchFamily="34" charset="0"/>
                </a:rPr>
                <a:t>Development</a:t>
              </a:r>
            </a:p>
          </p:txBody>
        </p:sp>
        <p:cxnSp>
          <p:nvCxnSpPr>
            <p:cNvPr id="22" name="Connector: Elbow 21" descr="Arrow pointing right">
              <a:extLst>
                <a:ext uri="{FF2B5EF4-FFF2-40B4-BE49-F238E27FC236}">
                  <a16:creationId xmlns:a16="http://schemas.microsoft.com/office/drawing/2014/main" id="{9F5DBE29-FC3C-316E-CC7C-89C0FDD9912D}"/>
                </a:ext>
              </a:extLst>
            </p:cNvPr>
            <p:cNvCxnSpPr>
              <a:cxnSpLocks/>
              <a:stCxn id="19" idx="2"/>
              <a:endCxn id="23" idx="1"/>
            </p:cNvCxnSpPr>
            <p:nvPr/>
          </p:nvCxnSpPr>
          <p:spPr>
            <a:xfrm rot="16200000" flipH="1">
              <a:off x="571670" y="2666151"/>
              <a:ext cx="1688126" cy="222647"/>
            </a:xfrm>
            <a:prstGeom prst="bentConnector2">
              <a:avLst/>
            </a:prstGeom>
            <a:ln w="19050">
              <a:prstDash val="sysDash"/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50A8301-D3D9-AA5C-0332-1003C46F4970}"/>
                </a:ext>
              </a:extLst>
            </p:cNvPr>
            <p:cNvSpPr/>
            <p:nvPr/>
          </p:nvSpPr>
          <p:spPr bwMode="auto">
            <a:xfrm>
              <a:off x="1527057" y="3300276"/>
              <a:ext cx="1790301" cy="6425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Segoe UI" pitchFamily="34" charset="0"/>
                </a:rPr>
                <a:t>Production</a:t>
              </a:r>
            </a:p>
          </p:txBody>
        </p:sp>
        <p:cxnSp>
          <p:nvCxnSpPr>
            <p:cNvPr id="24" name="Connector: Elbow 23" descr="Arrow pointing right">
              <a:extLst>
                <a:ext uri="{FF2B5EF4-FFF2-40B4-BE49-F238E27FC236}">
                  <a16:creationId xmlns:a16="http://schemas.microsoft.com/office/drawing/2014/main" id="{BEA58B10-38EC-99FD-D74F-FE20C974CDF2}"/>
                </a:ext>
              </a:extLst>
            </p:cNvPr>
            <p:cNvCxnSpPr>
              <a:cxnSpLocks/>
              <a:stCxn id="19" idx="2"/>
              <a:endCxn id="25" idx="1"/>
            </p:cNvCxnSpPr>
            <p:nvPr/>
          </p:nvCxnSpPr>
          <p:spPr>
            <a:xfrm rot="16200000" flipH="1">
              <a:off x="59845" y="3177976"/>
              <a:ext cx="2711776" cy="222647"/>
            </a:xfrm>
            <a:prstGeom prst="bentConnector2">
              <a:avLst/>
            </a:prstGeom>
            <a:ln w="19050">
              <a:prstDash val="sysDash"/>
              <a:tailEnd type="triangle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2056BA-BF3D-2D4C-2E0B-A5D063DCBC5A}"/>
                </a:ext>
              </a:extLst>
            </p:cNvPr>
            <p:cNvSpPr/>
            <p:nvPr/>
          </p:nvSpPr>
          <p:spPr bwMode="auto">
            <a:xfrm>
              <a:off x="1527057" y="4323926"/>
              <a:ext cx="1790301" cy="6425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6521" tIns="149217" rIns="186521" bIns="14921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5102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Segoe UI" pitchFamily="34" charset="0"/>
                </a:rPr>
                <a:t>Quality</a:t>
              </a:r>
            </a:p>
            <a:p>
              <a:pPr algn="ctr" defTabSz="95102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ea typeface="Verdana" panose="020B0604030504040204" pitchFamily="34" charset="0"/>
                  <a:cs typeface="Segoe UI" pitchFamily="34" charset="0"/>
                </a:rPr>
                <a:t>Assurance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4480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E2035DF-AC61-D9F8-AD44-7E70C77BAA3A}"/>
              </a:ext>
            </a:extLst>
          </p:cNvPr>
          <p:cNvSpPr txBox="1">
            <a:spLocks/>
          </p:cNvSpPr>
          <p:nvPr/>
        </p:nvSpPr>
        <p:spPr>
          <a:xfrm>
            <a:off x="159179" y="1163202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hlinkClick r:id="rId6"/>
              </a:rPr>
              <a:t>Explore the JSON Template Schema</a:t>
            </a:r>
            <a:endParaRPr lang="en-US" dirty="0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0E20C503-0F1F-A6FD-5D5E-A6582B477BE1}"/>
              </a:ext>
            </a:extLst>
          </p:cNvPr>
          <p:cNvSpPr txBox="1"/>
          <p:nvPr/>
        </p:nvSpPr>
        <p:spPr>
          <a:xfrm>
            <a:off x="466412" y="2101210"/>
            <a:ext cx="5629588" cy="7155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Defines all the Resource manager resources in a deployment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50FD40FB-D27E-A0EE-5965-5BAD1DC30A05}"/>
              </a:ext>
            </a:extLst>
          </p:cNvPr>
          <p:cNvSpPr txBox="1"/>
          <p:nvPr/>
        </p:nvSpPr>
        <p:spPr>
          <a:xfrm>
            <a:off x="466412" y="3168223"/>
            <a:ext cx="5629588" cy="4973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Written in JSON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C368AFE0-F185-4828-D0D9-A1F0F4054ABC}"/>
              </a:ext>
            </a:extLst>
          </p:cNvPr>
          <p:cNvSpPr txBox="1"/>
          <p:nvPr/>
        </p:nvSpPr>
        <p:spPr>
          <a:xfrm>
            <a:off x="466412" y="4016996"/>
            <a:ext cx="5629588" cy="4973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A collection of key-value pairs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A6EED992-FE6B-6517-CB99-39882B3E3015}"/>
              </a:ext>
            </a:extLst>
          </p:cNvPr>
          <p:cNvSpPr txBox="1"/>
          <p:nvPr/>
        </p:nvSpPr>
        <p:spPr>
          <a:xfrm>
            <a:off x="466412" y="4865769"/>
            <a:ext cx="5629588" cy="4973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Each key is a string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74839A69-B5D0-5CD0-04C5-CBE763DB68DF}"/>
              </a:ext>
            </a:extLst>
          </p:cNvPr>
          <p:cNvSpPr txBox="1"/>
          <p:nvPr/>
        </p:nvSpPr>
        <p:spPr>
          <a:xfrm>
            <a:off x="466411" y="5714541"/>
            <a:ext cx="5629588" cy="6937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Each value can be a string, number, Boolean expression, list of values, object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F31CA1-64AC-F7A3-42CA-18ECB8672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6257611" y="1816630"/>
            <a:ext cx="5791201" cy="4898077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274320" tIns="274320" rIns="182880" bIns="149217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    "$schema": 	"http://schema.management.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azure.com/schemas/2019-04-	01/deploymentTemplate.json#",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    "contentVersion": "",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    "parameters": {},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    "variables": {},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    "functions": [],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    "resources": [],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    "outputs": {}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887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EACEAB5-BC0D-A029-9802-437F0F4279F5}"/>
              </a:ext>
            </a:extLst>
          </p:cNvPr>
          <p:cNvSpPr txBox="1">
            <a:spLocks/>
          </p:cNvSpPr>
          <p:nvPr/>
        </p:nvSpPr>
        <p:spPr>
          <a:xfrm>
            <a:off x="464305" y="1302263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Explore the JSON Template Parameters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3814F55B-8B97-D8FC-0B42-164BA1A89672}"/>
              </a:ext>
            </a:extLst>
          </p:cNvPr>
          <p:cNvSpPr txBox="1"/>
          <p:nvPr/>
        </p:nvSpPr>
        <p:spPr>
          <a:xfrm>
            <a:off x="379243" y="2564842"/>
            <a:ext cx="3877471" cy="4116944"/>
          </a:xfrm>
          <a:prstGeom prst="rect">
            <a:avLst/>
          </a:prstGeom>
          <a:noFill/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Specifies which values are configurable when the template runs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This example has two parameters: one for a VM’s username (</a:t>
            </a:r>
            <a:r>
              <a:rPr lang="en-US" sz="2000" dirty="0" err="1"/>
              <a:t>adminUsername</a:t>
            </a:r>
            <a:r>
              <a:rPr lang="en-US" sz="2000" dirty="0"/>
              <a:t>), and one for its password (</a:t>
            </a:r>
            <a:r>
              <a:rPr lang="en-US" sz="2000" dirty="0" err="1"/>
              <a:t>adminPassword</a:t>
            </a:r>
            <a:r>
              <a:rPr lang="en-US" sz="2000" dirty="0"/>
              <a:t>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8C2C7-09A0-E4F8-8AE5-07B6FBBF37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242999" y="1908375"/>
            <a:ext cx="7789990" cy="4930168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457200" tIns="320040" rIns="365760" bIns="149217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"parameters":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"adminUsername":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"type": "string",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"metadata":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/>
              </a:rPr>
              <a:t>      "description": "Username for the VM."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},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"adminPassword":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"type": "securestring",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"metadata":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/>
              </a:rPr>
              <a:t>      "description": "Password for the VM."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155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495F940-5868-E436-DA51-FC7354E69A7C}"/>
              </a:ext>
            </a:extLst>
          </p:cNvPr>
          <p:cNvSpPr txBox="1">
            <a:spLocks/>
          </p:cNvSpPr>
          <p:nvPr/>
        </p:nvSpPr>
        <p:spPr>
          <a:xfrm>
            <a:off x="379243" y="1051671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Consider Azure Bicep Files</a:t>
            </a:r>
            <a:endParaRPr lang="en-US" dirty="0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7E055D75-B9CA-232B-15BF-68F1294743AE}"/>
              </a:ext>
            </a:extLst>
          </p:cNvPr>
          <p:cNvSpPr txBox="1"/>
          <p:nvPr/>
        </p:nvSpPr>
        <p:spPr>
          <a:xfrm>
            <a:off x="823273" y="1958326"/>
            <a:ext cx="4408394" cy="1031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Simpler syntax for writing templates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6B3640F8-9DC1-72AA-6A8C-1FDE708054A4}"/>
              </a:ext>
            </a:extLst>
          </p:cNvPr>
          <p:cNvSpPr txBox="1"/>
          <p:nvPr/>
        </p:nvSpPr>
        <p:spPr>
          <a:xfrm>
            <a:off x="830301" y="3108631"/>
            <a:ext cx="4408394" cy="10314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Smaller module files you can reference from a main template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B3692362-235B-5920-96D8-322760AB5CE2}"/>
              </a:ext>
            </a:extLst>
          </p:cNvPr>
          <p:cNvSpPr txBox="1"/>
          <p:nvPr/>
        </p:nvSpPr>
        <p:spPr>
          <a:xfrm>
            <a:off x="830301" y="4381315"/>
            <a:ext cx="4408394" cy="1031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171717"/>
                </a:solidFill>
                <a:effectLst/>
                <a:ea typeface="Times New Roman" panose="02020603050405020304" pitchFamily="18" charset="0"/>
              </a:rPr>
              <a:t>Automatically detect dependencies between your resources</a:t>
            </a:r>
            <a:endParaRPr lang="en-US" sz="2000" dirty="0"/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B99759C8-DDF3-75AB-3C7E-4E9F5B146F8E}"/>
              </a:ext>
            </a:extLst>
          </p:cNvPr>
          <p:cNvSpPr txBox="1"/>
          <p:nvPr/>
        </p:nvSpPr>
        <p:spPr>
          <a:xfrm>
            <a:off x="837329" y="5531620"/>
            <a:ext cx="4408394" cy="10314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37160" tIns="91440" rIns="137160" bIns="91440" rtlCol="0" anchor="ctr">
            <a:noAutofit/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000" dirty="0"/>
              <a:t>Visual Studio Code extension with validation and IntelliSense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36F39-6F71-E067-27BA-90286D08AE1D}"/>
              </a:ext>
            </a:extLst>
          </p:cNvPr>
          <p:cNvSpPr txBox="1"/>
          <p:nvPr/>
        </p:nvSpPr>
        <p:spPr>
          <a:xfrm>
            <a:off x="5516897" y="2083182"/>
            <a:ext cx="1597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Bicep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F76AE9-20A4-887C-8168-4F4CC63BDFD4}"/>
              </a:ext>
            </a:extLst>
          </p:cNvPr>
          <p:cNvSpPr txBox="1"/>
          <p:nvPr/>
        </p:nvSpPr>
        <p:spPr>
          <a:xfrm>
            <a:off x="5685290" y="2611600"/>
            <a:ext cx="3652067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resource </a:t>
            </a:r>
            <a:r>
              <a:rPr lang="en-US" sz="1600" dirty="0" err="1"/>
              <a:t>storageAccount</a:t>
            </a:r>
            <a:r>
              <a:rPr lang="en-US" sz="1600" dirty="0"/>
              <a:t> '</a:t>
            </a:r>
            <a:r>
              <a:rPr lang="en-US" sz="1600" dirty="0" err="1"/>
              <a:t>Microsoft.Storage</a:t>
            </a:r>
            <a:r>
              <a:rPr lang="en-US" sz="1600" dirty="0"/>
              <a:t>/storageAccounts@2021-01-01' = {</a:t>
            </a:r>
          </a:p>
          <a:p>
            <a:r>
              <a:rPr lang="en-US" sz="1600" dirty="0"/>
              <a:t>  </a:t>
            </a:r>
            <a:r>
              <a:rPr lang="en-US" sz="1600" b="1" dirty="0"/>
              <a:t>name</a:t>
            </a:r>
            <a:r>
              <a:rPr lang="en-US" sz="1600" dirty="0"/>
              <a:t>: </a:t>
            </a:r>
            <a:r>
              <a:rPr lang="en-US" sz="1600" dirty="0" err="1"/>
              <a:t>storageAccountName</a:t>
            </a:r>
            <a:endParaRPr lang="en-US" sz="1600" dirty="0"/>
          </a:p>
          <a:p>
            <a:r>
              <a:rPr lang="en-US" sz="1600" dirty="0"/>
              <a:t>  </a:t>
            </a:r>
            <a:r>
              <a:rPr lang="en-US" sz="1600" b="1" dirty="0"/>
              <a:t>location</a:t>
            </a:r>
            <a:r>
              <a:rPr lang="en-US" sz="1600" dirty="0"/>
              <a:t>: location</a:t>
            </a:r>
          </a:p>
          <a:p>
            <a:r>
              <a:rPr lang="en-US" sz="1600" dirty="0"/>
              <a:t>  </a:t>
            </a:r>
            <a:r>
              <a:rPr lang="en-US" sz="1600" b="1" dirty="0"/>
              <a:t>tags</a:t>
            </a:r>
            <a:r>
              <a:rPr lang="en-US" sz="1600" dirty="0"/>
              <a:t>: {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displayName</a:t>
            </a:r>
            <a:r>
              <a:rPr lang="en-US" sz="1600" dirty="0"/>
              <a:t>: </a:t>
            </a:r>
            <a:r>
              <a:rPr lang="en-US" sz="1600" dirty="0" err="1"/>
              <a:t>storageAccountName</a:t>
            </a:r>
            <a:endParaRPr lang="en-US" sz="1600" dirty="0"/>
          </a:p>
          <a:p>
            <a:r>
              <a:rPr lang="en-US" sz="1600" dirty="0"/>
              <a:t>  }</a:t>
            </a:r>
          </a:p>
          <a:p>
            <a:r>
              <a:rPr lang="en-US" sz="1600" dirty="0"/>
              <a:t>  </a:t>
            </a:r>
            <a:r>
              <a:rPr lang="en-US" sz="1600" b="1" dirty="0"/>
              <a:t>kind</a:t>
            </a:r>
            <a:r>
              <a:rPr lang="en-US" sz="1600" dirty="0"/>
              <a:t>: 'StorageV2'</a:t>
            </a:r>
          </a:p>
          <a:p>
            <a:r>
              <a:rPr lang="en-US" sz="1600" dirty="0"/>
              <a:t>  </a:t>
            </a:r>
            <a:r>
              <a:rPr lang="en-US" sz="1600" b="1" dirty="0" err="1"/>
              <a:t>sku</a:t>
            </a:r>
            <a:r>
              <a:rPr lang="en-US" sz="1600" dirty="0"/>
              <a:t>: {</a:t>
            </a:r>
          </a:p>
          <a:p>
            <a:r>
              <a:rPr lang="en-US" sz="1600" dirty="0"/>
              <a:t>    name: '</a:t>
            </a:r>
            <a:r>
              <a:rPr lang="en-US" sz="1600" dirty="0" err="1"/>
              <a:t>Standard_LRS</a:t>
            </a:r>
            <a:r>
              <a:rPr lang="en-US" sz="1600" dirty="0"/>
              <a:t>'</a:t>
            </a:r>
          </a:p>
          <a:p>
            <a:r>
              <a:rPr lang="en-US" sz="1600" dirty="0"/>
              <a:t>  } }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0EC605A-CC3A-A9AB-5240-736B9C791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48361" y="3516205"/>
            <a:ext cx="1197829" cy="119782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289BE2-1501-AF6A-23EB-80FF59A4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6" idx="3"/>
          </p:cNvCxnSpPr>
          <p:nvPr/>
        </p:nvCxnSpPr>
        <p:spPr>
          <a:xfrm>
            <a:off x="9337357" y="4135094"/>
            <a:ext cx="720763" cy="500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288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BCA87C0-50D0-2571-BAF6-558423649CEF}"/>
              </a:ext>
            </a:extLst>
          </p:cNvPr>
          <p:cNvSpPr txBox="1">
            <a:spLocks/>
          </p:cNvSpPr>
          <p:nvPr/>
        </p:nvSpPr>
        <p:spPr>
          <a:xfrm>
            <a:off x="1134961" y="1350475"/>
            <a:ext cx="11568684" cy="6937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Demonstration -  Quickstart templates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E674F-A48C-54BC-7F8E-6E932E78C6EA}"/>
              </a:ext>
            </a:extLst>
          </p:cNvPr>
          <p:cNvSpPr txBox="1"/>
          <p:nvPr/>
        </p:nvSpPr>
        <p:spPr>
          <a:xfrm>
            <a:off x="1134961" y="3224386"/>
            <a:ext cx="4400989" cy="17789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Locate the Azure Quickstart template gallery</a:t>
            </a: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Deploy a JSON or Bicep template</a:t>
            </a:r>
          </a:p>
        </p:txBody>
      </p:sp>
      <p:pic>
        <p:nvPicPr>
          <p:cNvPr id="12" name="Picture 11" descr="Screenshot of the QuickStart Gallery. ">
            <a:extLst>
              <a:ext uri="{FF2B5EF4-FFF2-40B4-BE49-F238E27FC236}">
                <a16:creationId xmlns:a16="http://schemas.microsoft.com/office/drawing/2014/main" id="{5431A2C0-B23A-ABB1-3DFB-7B2FB88EB1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1136" y="2667182"/>
            <a:ext cx="5083787" cy="385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2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7A8CF648-A66A-3412-B643-EA4908A799CE}"/>
              </a:ext>
            </a:extLst>
          </p:cNvPr>
          <p:cNvSpPr txBox="1">
            <a:spLocks/>
          </p:cNvSpPr>
          <p:nvPr/>
        </p:nvSpPr>
        <p:spPr>
          <a:xfrm>
            <a:off x="2788250" y="2631954"/>
            <a:ext cx="6967776" cy="213118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Lab - Manage Azure resources by Using ARM Templates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74465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02E335-6F9D-1824-F4F9-C30A31FE38D8}"/>
              </a:ext>
            </a:extLst>
          </p:cNvPr>
          <p:cNvSpPr txBox="1">
            <a:spLocks/>
          </p:cNvSpPr>
          <p:nvPr/>
        </p:nvSpPr>
        <p:spPr>
          <a:xfrm>
            <a:off x="1588997" y="1509625"/>
            <a:ext cx="11701941" cy="159487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199"/>
              </a:lnSpc>
            </a:pPr>
            <a:r>
              <a:rPr lang="en-US" sz="4000" spc="-51" dirty="0">
                <a:latin typeface="Segoe UI Semibold" panose="020B0702040204020203" pitchFamily="34" charset="0"/>
                <a:ea typeface="+mj-lt"/>
                <a:cs typeface="Segoe UI Semibold" panose="020B0702040204020203" pitchFamily="34" charset="0"/>
              </a:rPr>
              <a:t>Lab 03 – Manage Azure resources</a:t>
            </a:r>
          </a:p>
          <a:p>
            <a:pPr>
              <a:lnSpc>
                <a:spcPts val="3199"/>
              </a:lnSpc>
            </a:pPr>
            <a:endParaRPr lang="en-US" sz="4000" spc="-51" dirty="0">
              <a:latin typeface="Segoe UI Semibold" panose="020B0702040204020203" pitchFamily="34" charset="0"/>
              <a:ea typeface="+mj-lt"/>
              <a:cs typeface="Segoe UI Semibold" panose="020B0702040204020203" pitchFamily="34" charset="0"/>
            </a:endParaRPr>
          </a:p>
          <a:p>
            <a:pPr>
              <a:lnSpc>
                <a:spcPts val="3199"/>
              </a:lnSpc>
            </a:pPr>
            <a:r>
              <a:rPr lang="en-US" sz="4000" spc="-51" dirty="0">
                <a:latin typeface="Segoe UI Semibold" panose="020B0702040204020203" pitchFamily="34" charset="0"/>
                <a:ea typeface="+mj-lt"/>
                <a:cs typeface="Segoe UI Semibold" panose="020B0702040204020203" pitchFamily="34" charset="0"/>
              </a:rPr>
              <a:t>With templates</a:t>
            </a:r>
          </a:p>
          <a:p>
            <a:pPr>
              <a:lnSpc>
                <a:spcPts val="3199"/>
              </a:lnSpc>
            </a:pPr>
            <a:endParaRPr lang="en-US" spc="-51" dirty="0">
              <a:latin typeface="Segoe UI Semibold" panose="020B0702040204020203" pitchFamily="34" charset="0"/>
              <a:ea typeface="+mj-lt"/>
              <a:cs typeface="Segoe UI Semibold" panose="020B0702040204020203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D341F8C-765A-1759-DA10-7D5A368C73FB}"/>
              </a:ext>
            </a:extLst>
          </p:cNvPr>
          <p:cNvSpPr txBox="1">
            <a:spLocks/>
          </p:cNvSpPr>
          <p:nvPr/>
        </p:nvSpPr>
        <p:spPr>
          <a:xfrm>
            <a:off x="563485" y="3493072"/>
            <a:ext cx="3641429" cy="264687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-5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000" b="1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331854" indent="0" algn="l" defTabSz="9327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12"/>
              </a:spcAft>
            </a:pPr>
            <a:r>
              <a:rPr lang="en-US" sz="1800" spc="0" dirty="0">
                <a:solidFill>
                  <a:schemeClr val="tx1"/>
                </a:solidFill>
                <a:latin typeface="+mn-lt"/>
                <a:cs typeface="Segoe UI Semilight"/>
              </a:rPr>
              <a:t>In this lab, you learn how to define your resource infrastructure using Azure Resource Manager templates.</a:t>
            </a:r>
          </a:p>
          <a:p>
            <a:pPr>
              <a:spcAft>
                <a:spcPts val="612"/>
              </a:spcAft>
            </a:pPr>
            <a:r>
              <a:rPr lang="en-US" sz="1800" spc="0" dirty="0">
                <a:solidFill>
                  <a:schemeClr val="tx1"/>
                </a:solidFill>
                <a:latin typeface="+mn-lt"/>
                <a:cs typeface="Segoe UI Semilight"/>
              </a:rPr>
              <a:t>Templates ensure consistency and let you create multiple resources at one time. </a:t>
            </a:r>
          </a:p>
          <a:p>
            <a:pPr>
              <a:spcAft>
                <a:spcPts val="612"/>
              </a:spcAft>
            </a:pPr>
            <a:r>
              <a:rPr lang="en-US" sz="1800" spc="0" dirty="0">
                <a:solidFill>
                  <a:schemeClr val="tx1"/>
                </a:solidFill>
                <a:latin typeface="+mn-lt"/>
                <a:cs typeface="Segoe UI Semilight"/>
              </a:rPr>
              <a:t>You learn to deploy templates with the Azure portal, Azure PowerShell, or the CLI.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D79C6E-69E0-125A-E0DC-D23EF471B966}"/>
              </a:ext>
            </a:extLst>
          </p:cNvPr>
          <p:cNvSpPr/>
          <p:nvPr/>
        </p:nvSpPr>
        <p:spPr bwMode="auto">
          <a:xfrm>
            <a:off x="5284659" y="3271629"/>
            <a:ext cx="6569040" cy="3875492"/>
          </a:xfrm>
          <a:prstGeom prst="rect">
            <a:avLst/>
          </a:prstGeom>
          <a:noFill/>
          <a:ln w="63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54" tIns="137141" rIns="182854" bIns="137141" numCol="1" spcCol="1270" anchor="t" anchorCtr="0">
            <a:noAutofit/>
          </a:bodyPr>
          <a:lstStyle/>
          <a:p>
            <a:pPr>
              <a:spcAft>
                <a:spcPts val="600"/>
              </a:spcAft>
              <a:buSzPct val="90000"/>
            </a:pPr>
            <a:r>
              <a:rPr lang="en-US" sz="204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Task 1</a:t>
            </a:r>
            <a:r>
              <a:rPr lang="en-US" sz="204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Create an Azure Resource Manager template.</a:t>
            </a:r>
          </a:p>
          <a:p>
            <a:pPr>
              <a:spcAft>
                <a:spcPts val="600"/>
              </a:spcAft>
              <a:buSzPct val="90000"/>
            </a:pPr>
            <a:r>
              <a:rPr lang="en-US" sz="204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Task 2</a:t>
            </a:r>
            <a:r>
              <a:rPr lang="en-US" sz="204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Edit an Azure Resource Manager template and redeploy the template.</a:t>
            </a:r>
          </a:p>
          <a:p>
            <a:pPr>
              <a:spcAft>
                <a:spcPts val="600"/>
              </a:spcAft>
              <a:buSzPct val="90000"/>
            </a:pPr>
            <a:r>
              <a:rPr lang="en-US" sz="204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Task 3</a:t>
            </a:r>
            <a:r>
              <a:rPr lang="en-US" sz="204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Configure the Cloud Shell and deploy a template with Azure PowerShell.</a:t>
            </a:r>
          </a:p>
          <a:p>
            <a:pPr>
              <a:spcAft>
                <a:spcPts val="600"/>
              </a:spcAft>
              <a:buSzPct val="90000"/>
            </a:pPr>
            <a:r>
              <a:rPr lang="en-US" sz="204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Task 4</a:t>
            </a:r>
            <a:r>
              <a:rPr lang="en-US" sz="204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Deploy a template with the CLI.</a:t>
            </a:r>
          </a:p>
          <a:p>
            <a:pPr>
              <a:spcAft>
                <a:spcPts val="600"/>
              </a:spcAft>
              <a:buSzPct val="90000"/>
            </a:pPr>
            <a:r>
              <a:rPr lang="en-US" sz="204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Task 5</a:t>
            </a:r>
            <a:r>
              <a:rPr lang="en-US" sz="204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040" dirty="0">
                <a:solidFill>
                  <a:srgbClr val="000000"/>
                </a:solidFill>
                <a:latin typeface="Segoe UI"/>
              </a:rPr>
              <a:t>Deploy a managed disk using Azure Bicep.</a:t>
            </a:r>
            <a:r>
              <a:rPr lang="en-US" sz="2040" dirty="0">
                <a:latin typeface="Segoe UI"/>
              </a:rPr>
              <a:t> the CLI </a:t>
            </a:r>
          </a:p>
          <a:p>
            <a:pPr>
              <a:spcAft>
                <a:spcPts val="600"/>
              </a:spcAft>
              <a:buSzPct val="90000"/>
            </a:pPr>
            <a:r>
              <a:rPr lang="en-US" sz="2040" dirty="0">
                <a:latin typeface="Segoe UI"/>
              </a:rPr>
              <a:t>the CLI </a:t>
            </a:r>
          </a:p>
          <a:p>
            <a:pPr>
              <a:spcAft>
                <a:spcPts val="600"/>
              </a:spcAft>
              <a:buSzPct val="90000"/>
            </a:pPr>
            <a:endParaRPr lang="en-US" sz="2040" dirty="0">
              <a:solidFill>
                <a:schemeClr val="tx1"/>
              </a:solidFill>
              <a:cs typeface="Segoe UI Semilight"/>
            </a:endParaRPr>
          </a:p>
          <a:p>
            <a:pPr>
              <a:spcAft>
                <a:spcPts val="600"/>
              </a:spcAft>
              <a:buSzPct val="90000"/>
            </a:pPr>
            <a:endParaRPr lang="en-US" sz="2000" dirty="0">
              <a:solidFill>
                <a:schemeClr val="tx1"/>
              </a:solidFill>
              <a:cs typeface="Segoe UI Semi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C9D58E-DA50-1C48-4F95-C76AF7454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300717" y="2972387"/>
            <a:ext cx="6215646" cy="4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4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Job Skills</a:t>
            </a:r>
            <a:endParaRPr lang="en-US" sz="2040" dirty="0"/>
          </a:p>
        </p:txBody>
      </p:sp>
    </p:spTree>
    <p:extLst>
      <p:ext uri="{BB962C8B-B14F-4D97-AF65-F5344CB8AC3E}">
        <p14:creationId xmlns:p14="http://schemas.microsoft.com/office/powerpoint/2010/main" val="3918997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F694374-F452-1277-861C-E9E41956EE39}"/>
              </a:ext>
            </a:extLst>
          </p:cNvPr>
          <p:cNvSpPr txBox="1">
            <a:spLocks/>
          </p:cNvSpPr>
          <p:nvPr/>
        </p:nvSpPr>
        <p:spPr>
          <a:xfrm>
            <a:off x="731901" y="1315695"/>
            <a:ext cx="11530584" cy="5371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29" spc="-51">
                <a:latin typeface="Segoe UI Semibold" panose="020B0702040204020203" pitchFamily="34" charset="0"/>
                <a:ea typeface="+mj-lt"/>
                <a:cs typeface="Segoe UI Semibold" panose="020B0702040204020203" pitchFamily="34" charset="0"/>
              </a:rPr>
              <a:t>Lab 03 – Architecture diagram</a:t>
            </a:r>
            <a:endParaRPr lang="en-US" sz="3329" spc="-51" dirty="0">
              <a:latin typeface="Segoe UI Semibold" panose="020B0702040204020203" pitchFamily="34" charset="0"/>
              <a:ea typeface="+mj-lt"/>
              <a:cs typeface="Segoe UI Semibold" panose="020B0702040204020203" pitchFamily="34" charset="0"/>
            </a:endParaRPr>
          </a:p>
        </p:txBody>
      </p:sp>
      <p:grpSp>
        <p:nvGrpSpPr>
          <p:cNvPr id="11" name="Group 10" descr="Architecture diagram for templates and tooling. ">
            <a:extLst>
              <a:ext uri="{FF2B5EF4-FFF2-40B4-BE49-F238E27FC236}">
                <a16:creationId xmlns:a16="http://schemas.microsoft.com/office/drawing/2014/main" id="{EA1459E7-F31F-CF92-588C-F82B5CA76814}"/>
              </a:ext>
            </a:extLst>
          </p:cNvPr>
          <p:cNvGrpSpPr/>
          <p:nvPr/>
        </p:nvGrpSpPr>
        <p:grpSpPr>
          <a:xfrm>
            <a:off x="1445683" y="2062825"/>
            <a:ext cx="9756451" cy="4573361"/>
            <a:chOff x="1155045" y="1288929"/>
            <a:chExt cx="9566016" cy="448409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5145DB4-71F3-FFDB-621B-459FFF41A925}"/>
                </a:ext>
              </a:extLst>
            </p:cNvPr>
            <p:cNvSpPr/>
            <p:nvPr/>
          </p:nvSpPr>
          <p:spPr>
            <a:xfrm>
              <a:off x="1155045" y="1465441"/>
              <a:ext cx="9566016" cy="43075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32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8024A3-A9EA-E8ED-285B-F0D9D8D7EE7E}"/>
                </a:ext>
              </a:extLst>
            </p:cNvPr>
            <p:cNvSpPr txBox="1"/>
            <p:nvPr/>
          </p:nvSpPr>
          <p:spPr>
            <a:xfrm>
              <a:off x="5370069" y="1915768"/>
              <a:ext cx="698599" cy="505576"/>
            </a:xfrm>
            <a:prstGeom prst="rect">
              <a:avLst/>
            </a:prstGeom>
            <a:noFill/>
          </p:spPr>
          <p:txBody>
            <a:bodyPr wrap="square" lIns="179260" tIns="143408" rIns="179260" bIns="143408" rtlCol="0">
              <a:spAutoFit/>
            </a:bodyPr>
            <a:lstStyle/>
            <a:p>
              <a:pPr defTabSz="914191">
                <a:lnSpc>
                  <a:spcPct val="90000"/>
                </a:lnSpc>
                <a:spcAft>
                  <a:spcPts val="587"/>
                </a:spcAft>
              </a:pPr>
              <a:r>
                <a:rPr lang="en-US" sz="1632" dirty="0">
                  <a:latin typeface="Segoe UI"/>
                </a:rPr>
                <a:t>Edit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9D5843-891E-EC0A-26DD-F37610D3596E}"/>
                </a:ext>
              </a:extLst>
            </p:cNvPr>
            <p:cNvSpPr txBox="1"/>
            <p:nvPr/>
          </p:nvSpPr>
          <p:spPr>
            <a:xfrm>
              <a:off x="6465964" y="2019094"/>
              <a:ext cx="1272221" cy="845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191"/>
              <a:r>
                <a:rPr lang="en-US" sz="1632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2</a:t>
              </a:r>
            </a:p>
            <a:p>
              <a:pPr algn="ctr" defTabSz="914191"/>
              <a:r>
                <a:rPr lang="en-US" sz="1632" dirty="0">
                  <a:solidFill>
                    <a:srgbClr val="000000"/>
                  </a:solidFill>
                  <a:latin typeface="Segoe UI"/>
                </a:rPr>
                <a:t> (Portal)</a:t>
              </a:r>
            </a:p>
            <a:p>
              <a:pPr algn="ctr" defTabSz="914191"/>
              <a:endParaRPr lang="en-US" sz="1632" b="1" dirty="0">
                <a:solidFill>
                  <a:schemeClr val="tx2">
                    <a:lumMod val="50000"/>
                  </a:schemeClr>
                </a:solidFill>
                <a:latin typeface="Segoe UI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FF9524D-4ECD-F6FF-8DE8-D0C9AA262B00}"/>
                </a:ext>
              </a:extLst>
            </p:cNvPr>
            <p:cNvSpPr/>
            <p:nvPr/>
          </p:nvSpPr>
          <p:spPr bwMode="auto">
            <a:xfrm>
              <a:off x="8099941" y="1940484"/>
              <a:ext cx="1940996" cy="7441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60" tIns="143408" rIns="179260" bIns="1434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926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32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F16F0ED-28B5-CD48-DF40-EDB211F6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82939" y="2015621"/>
              <a:ext cx="368971" cy="36897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49E933-3AD5-8619-5B0B-633FD7865529}"/>
                </a:ext>
              </a:extLst>
            </p:cNvPr>
            <p:cNvSpPr txBox="1"/>
            <p:nvPr/>
          </p:nvSpPr>
          <p:spPr>
            <a:xfrm>
              <a:off x="8734628" y="2363810"/>
              <a:ext cx="1050035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191"/>
              <a:r>
                <a:rPr lang="en-US" sz="1632" dirty="0">
                  <a:solidFill>
                    <a:srgbClr val="000000"/>
                  </a:solidFill>
                  <a:latin typeface="Segoe UI"/>
                </a:rPr>
                <a:t>Disk 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4424B24-6A35-684F-3F2C-71F6BD740EDA}"/>
                </a:ext>
              </a:extLst>
            </p:cNvPr>
            <p:cNvSpPr/>
            <p:nvPr/>
          </p:nvSpPr>
          <p:spPr bwMode="auto">
            <a:xfrm>
              <a:off x="8105423" y="2892192"/>
              <a:ext cx="1924001" cy="7441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60" tIns="143408" rIns="179260" bIns="1434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926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32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E0EAC744-1793-14A0-F606-0ADC18A5E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82939" y="2998711"/>
              <a:ext cx="368971" cy="368971"/>
            </a:xfrm>
            <a:prstGeom prst="rect">
              <a:avLst/>
            </a:prstGeom>
          </p:spPr>
        </p:pic>
        <p:sp>
          <p:nvSpPr>
            <p:cNvPr id="20" name="文本框 24">
              <a:extLst>
                <a:ext uri="{FF2B5EF4-FFF2-40B4-BE49-F238E27FC236}">
                  <a16:creationId xmlns:a16="http://schemas.microsoft.com/office/drawing/2014/main" id="{57214A2A-2370-AF12-6011-1B72CE843392}"/>
                </a:ext>
              </a:extLst>
            </p:cNvPr>
            <p:cNvSpPr txBox="1"/>
            <p:nvPr/>
          </p:nvSpPr>
          <p:spPr>
            <a:xfrm>
              <a:off x="1606772" y="1329782"/>
              <a:ext cx="1421222" cy="3434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32" dirty="0">
                  <a:latin typeface="Segoe UI" panose="020B0502040204020203" pitchFamily="34" charset="0"/>
                  <a:cs typeface="Segoe UI" panose="020B0502040204020203" pitchFamily="34" charset="0"/>
                </a:rPr>
                <a:t>az104-rg3</a:t>
              </a:r>
            </a:p>
          </p:txBody>
        </p:sp>
        <p:pic>
          <p:nvPicPr>
            <p:cNvPr id="21" name="图形 25">
              <a:extLst>
                <a:ext uri="{FF2B5EF4-FFF2-40B4-BE49-F238E27FC236}">
                  <a16:creationId xmlns:a16="http://schemas.microsoft.com/office/drawing/2014/main" id="{59F84E35-1093-EF6E-7099-B5D7A1020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70939" y="1288929"/>
              <a:ext cx="417123" cy="37927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2A71EA-2DC1-B5CF-6945-6476F9BC00BB}"/>
                </a:ext>
              </a:extLst>
            </p:cNvPr>
            <p:cNvSpPr txBox="1"/>
            <p:nvPr/>
          </p:nvSpPr>
          <p:spPr>
            <a:xfrm>
              <a:off x="6455557" y="2993035"/>
              <a:ext cx="1379279" cy="594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191"/>
              <a:r>
                <a:rPr lang="en-US" sz="1632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3</a:t>
              </a:r>
            </a:p>
            <a:p>
              <a:pPr algn="ctr" defTabSz="914191"/>
              <a:r>
                <a:rPr lang="en-US" sz="1632" dirty="0">
                  <a:solidFill>
                    <a:srgbClr val="000000"/>
                  </a:solidFill>
                  <a:latin typeface="Segoe UI"/>
                </a:rPr>
                <a:t> (PowerShell)</a:t>
              </a:r>
              <a:endParaRPr lang="en-US" sz="1632" b="1" dirty="0">
                <a:solidFill>
                  <a:schemeClr val="tx2">
                    <a:lumMod val="50000"/>
                  </a:schemeClr>
                </a:solidFill>
                <a:latin typeface="Segoe UI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0C3246-6A11-3C44-729B-E711E06653BC}"/>
                </a:ext>
              </a:extLst>
            </p:cNvPr>
            <p:cNvSpPr txBox="1"/>
            <p:nvPr/>
          </p:nvSpPr>
          <p:spPr>
            <a:xfrm>
              <a:off x="8697556" y="3298633"/>
              <a:ext cx="1050035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191"/>
              <a:r>
                <a:rPr lang="en-US" sz="1632" dirty="0">
                  <a:solidFill>
                    <a:srgbClr val="000000"/>
                  </a:solidFill>
                  <a:latin typeface="Segoe UI"/>
                </a:rPr>
                <a:t>Disk 3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888CE0-6BA2-CD38-8E05-E248E0748AE2}"/>
                </a:ext>
              </a:extLst>
            </p:cNvPr>
            <p:cNvSpPr/>
            <p:nvPr/>
          </p:nvSpPr>
          <p:spPr bwMode="auto">
            <a:xfrm>
              <a:off x="8096788" y="3853981"/>
              <a:ext cx="1924001" cy="7441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60" tIns="143408" rIns="179260" bIns="1434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926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32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4C269D3-97C1-025D-7DFB-AB295F342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74304" y="3960500"/>
              <a:ext cx="368971" cy="36897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E9EB95-0E1E-53E7-8DBE-63737F19471C}"/>
                </a:ext>
              </a:extLst>
            </p:cNvPr>
            <p:cNvSpPr txBox="1"/>
            <p:nvPr/>
          </p:nvSpPr>
          <p:spPr>
            <a:xfrm>
              <a:off x="6446922" y="3954824"/>
              <a:ext cx="1379279" cy="594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191"/>
              <a:r>
                <a:rPr lang="en-US" sz="1632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4</a:t>
              </a:r>
            </a:p>
            <a:p>
              <a:pPr algn="ctr" defTabSz="914191"/>
              <a:r>
                <a:rPr lang="en-US" sz="1632" dirty="0">
                  <a:solidFill>
                    <a:srgbClr val="000000"/>
                  </a:solidFill>
                  <a:latin typeface="Segoe UI"/>
                </a:rPr>
                <a:t> (CLI)</a:t>
              </a:r>
              <a:endParaRPr lang="en-US" sz="1632" b="1" dirty="0">
                <a:solidFill>
                  <a:schemeClr val="tx2">
                    <a:lumMod val="50000"/>
                  </a:schemeClr>
                </a:solidFill>
                <a:latin typeface="Segoe UI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AA45D29-4C58-B11D-2FC2-6FC7F787BA22}"/>
                </a:ext>
              </a:extLst>
            </p:cNvPr>
            <p:cNvSpPr txBox="1"/>
            <p:nvPr/>
          </p:nvSpPr>
          <p:spPr>
            <a:xfrm>
              <a:off x="8688921" y="4260422"/>
              <a:ext cx="1050035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191"/>
              <a:r>
                <a:rPr lang="en-US" sz="1632" dirty="0">
                  <a:solidFill>
                    <a:srgbClr val="000000"/>
                  </a:solidFill>
                  <a:latin typeface="Segoe UI"/>
                </a:rPr>
                <a:t>Disk 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29D2DA-BBCB-1B86-2856-2D132E2FCF1D}"/>
                </a:ext>
              </a:extLst>
            </p:cNvPr>
            <p:cNvSpPr/>
            <p:nvPr/>
          </p:nvSpPr>
          <p:spPr bwMode="auto">
            <a:xfrm>
              <a:off x="8099875" y="4816519"/>
              <a:ext cx="1924001" cy="7441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60" tIns="143408" rIns="179260" bIns="1434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926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32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  <a:cs typeface="Segoe UI" pitchFamily="34" charset="0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43026887-5C1D-829A-0FA5-84BEC7195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77391" y="4923038"/>
              <a:ext cx="368971" cy="36897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9F1297-4B44-0E65-C0A3-40C1B1E86C0A}"/>
                </a:ext>
              </a:extLst>
            </p:cNvPr>
            <p:cNvSpPr txBox="1"/>
            <p:nvPr/>
          </p:nvSpPr>
          <p:spPr>
            <a:xfrm>
              <a:off x="6450009" y="4917362"/>
              <a:ext cx="1379279" cy="594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191"/>
              <a:r>
                <a:rPr lang="en-US" sz="1632" b="1" dirty="0">
                  <a:solidFill>
                    <a:schemeClr val="tx2">
                      <a:lumMod val="50000"/>
                    </a:schemeClr>
                  </a:solidFill>
                  <a:latin typeface="Segoe UI"/>
                </a:rPr>
                <a:t>Task 5</a:t>
              </a:r>
            </a:p>
            <a:p>
              <a:pPr algn="ctr" defTabSz="914191"/>
              <a:r>
                <a:rPr lang="en-US" sz="1632" dirty="0">
                  <a:solidFill>
                    <a:srgbClr val="000000"/>
                  </a:solidFill>
                  <a:latin typeface="Segoe UI"/>
                </a:rPr>
                <a:t> (Bicep)</a:t>
              </a:r>
              <a:endParaRPr lang="en-US" sz="1632" b="1" dirty="0">
                <a:solidFill>
                  <a:schemeClr val="tx2">
                    <a:lumMod val="50000"/>
                  </a:schemeClr>
                </a:solidFill>
                <a:latin typeface="Segoe UI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4D2F241-5918-E400-6EC4-35E285D2D20D}"/>
                </a:ext>
              </a:extLst>
            </p:cNvPr>
            <p:cNvSpPr txBox="1"/>
            <p:nvPr/>
          </p:nvSpPr>
          <p:spPr>
            <a:xfrm>
              <a:off x="8692008" y="5222960"/>
              <a:ext cx="1050035" cy="3434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191"/>
              <a:r>
                <a:rPr lang="en-US" sz="1632" dirty="0">
                  <a:solidFill>
                    <a:srgbClr val="000000"/>
                  </a:solidFill>
                  <a:latin typeface="Segoe UI"/>
                </a:rPr>
                <a:t>Disk 5</a:t>
              </a: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F2CD9558-5C49-C2B2-6ABF-71AE8206C4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rot="16200000" flipH="1">
              <a:off x="5665587" y="2754304"/>
              <a:ext cx="2824781" cy="2043796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5DDDCAA-64E8-7761-B4A2-CBE3BF4AA3D8}"/>
                </a:ext>
              </a:extLst>
            </p:cNvPr>
            <p:cNvCxnSpPr>
              <a:endCxn id="18" idx="1"/>
            </p:cNvCxnSpPr>
            <p:nvPr/>
          </p:nvCxnSpPr>
          <p:spPr>
            <a:xfrm flipV="1">
              <a:off x="6053404" y="3264266"/>
              <a:ext cx="2052019" cy="3436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6ECFFC5-0B3F-6271-5301-6DF14978BFC0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6047856" y="4226055"/>
              <a:ext cx="2048932" cy="60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5439013-6B75-C161-5C1C-FA92E7B58B9E}"/>
                </a:ext>
              </a:extLst>
            </p:cNvPr>
            <p:cNvGrpSpPr/>
            <p:nvPr/>
          </p:nvGrpSpPr>
          <p:grpSpPr>
            <a:xfrm>
              <a:off x="1697987" y="3013715"/>
              <a:ext cx="3387961" cy="1615036"/>
              <a:chOff x="1803312" y="1853713"/>
              <a:chExt cx="3387961" cy="1615036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85E38C-7C54-2229-E7D8-18CE285F2BAE}"/>
                  </a:ext>
                </a:extLst>
              </p:cNvPr>
              <p:cNvSpPr/>
              <p:nvPr/>
            </p:nvSpPr>
            <p:spPr bwMode="auto">
              <a:xfrm>
                <a:off x="1803312" y="1853713"/>
                <a:ext cx="3387961" cy="1615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79260" tIns="143408" rIns="179260" bIns="14340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3926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632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D24287-1469-2D77-B6CC-67774DDD7324}"/>
                  </a:ext>
                </a:extLst>
              </p:cNvPr>
              <p:cNvSpPr txBox="1"/>
              <p:nvPr/>
            </p:nvSpPr>
            <p:spPr>
              <a:xfrm>
                <a:off x="1901278" y="1865626"/>
                <a:ext cx="1272221" cy="343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191"/>
                <a:r>
                  <a:rPr lang="en-US" sz="1632" b="1" dirty="0">
                    <a:solidFill>
                      <a:schemeClr val="tx2">
                        <a:lumMod val="50000"/>
                      </a:schemeClr>
                    </a:solidFill>
                    <a:latin typeface="Segoe UI"/>
                  </a:rPr>
                  <a:t>Task 1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37A0B895-E27B-F750-99EF-CAB7EF4DD8DC}"/>
                  </a:ext>
                </a:extLst>
              </p:cNvPr>
              <p:cNvCxnSpPr>
                <a:cxnSpLocks/>
                <a:endCxn id="47" idx="1"/>
              </p:cNvCxnSpPr>
              <p:nvPr/>
            </p:nvCxnSpPr>
            <p:spPr>
              <a:xfrm flipV="1">
                <a:off x="3072436" y="2598543"/>
                <a:ext cx="1114250" cy="1123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58F67A3-E47E-4496-1166-BCF417E16ACB}"/>
                  </a:ext>
                </a:extLst>
              </p:cNvPr>
              <p:cNvSpPr txBox="1"/>
              <p:nvPr/>
            </p:nvSpPr>
            <p:spPr>
              <a:xfrm>
                <a:off x="4137013" y="3040715"/>
                <a:ext cx="1033478" cy="343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191"/>
                <a:r>
                  <a:rPr lang="en-US" sz="1632" dirty="0">
                    <a:solidFill>
                      <a:srgbClr val="000000"/>
                    </a:solidFill>
                    <a:latin typeface="Segoe UI"/>
                  </a:rPr>
                  <a:t>Template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079DA3D1-3534-9172-8417-2F2CEE105E1E}"/>
                  </a:ext>
                </a:extLst>
              </p:cNvPr>
              <p:cNvGrpSpPr/>
              <p:nvPr/>
            </p:nvGrpSpPr>
            <p:grpSpPr>
              <a:xfrm>
                <a:off x="1980644" y="2227961"/>
                <a:ext cx="1468788" cy="757333"/>
                <a:chOff x="2224340" y="2330196"/>
                <a:chExt cx="1468788" cy="757333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C9878D98-5618-EBF4-633B-365FC4DFECF4}"/>
                    </a:ext>
                  </a:extLst>
                </p:cNvPr>
                <p:cNvSpPr/>
                <p:nvPr/>
              </p:nvSpPr>
              <p:spPr bwMode="auto">
                <a:xfrm>
                  <a:off x="2224340" y="2330196"/>
                  <a:ext cx="1468788" cy="74414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79260" tIns="143408" rIns="179260" bIns="14340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13926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632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  <a:cs typeface="Segoe UI" pitchFamily="34" charset="0"/>
                  </a:endParaRPr>
                </a:p>
              </p:txBody>
            </p:sp>
            <p:pic>
              <p:nvPicPr>
                <p:cNvPr id="50" name="Graphic 49">
                  <a:extLst>
                    <a:ext uri="{FF2B5EF4-FFF2-40B4-BE49-F238E27FC236}">
                      <a16:creationId xmlns:a16="http://schemas.microsoft.com/office/drawing/2014/main" id="{F85497A8-339D-27AA-53AC-B86514A9E5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42948" y="2374796"/>
                  <a:ext cx="368971" cy="368971"/>
                </a:xfrm>
                <a:prstGeom prst="rect">
                  <a:avLst/>
                </a:prstGeom>
              </p:spPr>
            </p:pic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CEBF913-1E1D-C76F-9CE0-65F20BD386FE}"/>
                    </a:ext>
                  </a:extLst>
                </p:cNvPr>
                <p:cNvSpPr txBox="1"/>
                <p:nvPr/>
              </p:nvSpPr>
              <p:spPr>
                <a:xfrm>
                  <a:off x="2493275" y="2744037"/>
                  <a:ext cx="885174" cy="3434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914191"/>
                  <a:r>
                    <a:rPr lang="en-US" sz="1632" dirty="0">
                      <a:solidFill>
                        <a:srgbClr val="000000"/>
                      </a:solidFill>
                      <a:latin typeface="Segoe UI"/>
                    </a:rPr>
                    <a:t>Disk 1</a:t>
                  </a:r>
                </a:p>
              </p:txBody>
            </p:sp>
          </p:grpSp>
          <p:pic>
            <p:nvPicPr>
              <p:cNvPr id="47" name="Graphic 46">
                <a:extLst>
                  <a:ext uri="{FF2B5EF4-FFF2-40B4-BE49-F238E27FC236}">
                    <a16:creationId xmlns:a16="http://schemas.microsoft.com/office/drawing/2014/main" id="{227B629E-6EBE-16A1-D7AE-12C33D2E32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186686" y="2155956"/>
                <a:ext cx="885174" cy="885174"/>
              </a:xfrm>
              <a:prstGeom prst="rect">
                <a:avLst/>
              </a:prstGeom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DFAE86F-1077-1FBA-D5A2-B9D3A713B8D6}"/>
                  </a:ext>
                </a:extLst>
              </p:cNvPr>
              <p:cNvSpPr txBox="1"/>
              <p:nvPr/>
            </p:nvSpPr>
            <p:spPr>
              <a:xfrm>
                <a:off x="3332685" y="2194305"/>
                <a:ext cx="1080221" cy="505563"/>
              </a:xfrm>
              <a:prstGeom prst="rect">
                <a:avLst/>
              </a:prstGeom>
              <a:noFill/>
            </p:spPr>
            <p:txBody>
              <a:bodyPr wrap="square" lIns="179260" tIns="143408" rIns="179260" bIns="143408" rtlCol="0">
                <a:spAutoFit/>
              </a:bodyPr>
              <a:lstStyle/>
              <a:p>
                <a:pPr defTabSz="914191">
                  <a:lnSpc>
                    <a:spcPct val="90000"/>
                  </a:lnSpc>
                  <a:spcAft>
                    <a:spcPts val="587"/>
                  </a:spcAft>
                </a:pPr>
                <a:r>
                  <a:rPr lang="en-US" sz="1632" dirty="0">
                    <a:latin typeface="Segoe UI"/>
                  </a:rPr>
                  <a:t>Export</a:t>
                </a:r>
              </a:p>
            </p:txBody>
          </p:sp>
        </p:grp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F7A76481-96E5-E93B-6E64-20E6D45B5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84663" y="1716308"/>
              <a:ext cx="574642" cy="525073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35E7B29D-A1B5-8CC3-72CC-B577AC1F3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702577" y="3426615"/>
              <a:ext cx="731533" cy="668431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132C2FA4-5F5F-396B-BC3B-A15C06A9C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738956" y="2745982"/>
              <a:ext cx="586017" cy="535467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3BB8452D-18E6-26FF-18CE-E4E4D2D56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717568" y="3730507"/>
              <a:ext cx="586017" cy="438510"/>
            </a:xfrm>
            <a:prstGeom prst="rect">
              <a:avLst/>
            </a:prstGeom>
          </p:spPr>
        </p:pic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BB3F54C3-43AC-0582-611A-942122AD2D0B}"/>
                </a:ext>
              </a:extLst>
            </p:cNvPr>
            <p:cNvCxnSpPr>
              <a:stCxn id="42" idx="3"/>
              <a:endCxn id="15" idx="1"/>
            </p:cNvCxnSpPr>
            <p:nvPr/>
          </p:nvCxnSpPr>
          <p:spPr>
            <a:xfrm flipV="1">
              <a:off x="5085948" y="2312558"/>
              <a:ext cx="3013993" cy="1508675"/>
            </a:xfrm>
            <a:prstGeom prst="bentConnector3">
              <a:avLst>
                <a:gd name="adj1" fmla="val 9664"/>
              </a:avLst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FFA90BE9-357B-31AA-6081-F1F66D958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701341" y="4689534"/>
              <a:ext cx="586017" cy="4990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1263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16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831</Words>
  <Application>Microsoft Office PowerPoint</Application>
  <PresentationFormat>Widescreen</PresentationFormat>
  <Paragraphs>184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Lato</vt:lpstr>
      <vt:lpstr>Proxima Nova</vt:lpstr>
      <vt:lpstr>Segoe UI</vt:lpstr>
      <vt:lpstr>Segoe UI Semibold</vt:lpstr>
      <vt:lpstr>Segoe UI Semilight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Syed Rumaan Pasha</cp:lastModifiedBy>
  <cp:revision>10</cp:revision>
  <dcterms:created xsi:type="dcterms:W3CDTF">2024-07-23T11:56:01Z</dcterms:created>
  <dcterms:modified xsi:type="dcterms:W3CDTF">2024-11-04T11:15:41Z</dcterms:modified>
</cp:coreProperties>
</file>