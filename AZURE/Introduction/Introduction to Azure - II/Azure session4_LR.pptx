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7" r:id="rId2"/>
    <p:sldId id="900" r:id="rId3"/>
    <p:sldId id="903" r:id="rId4"/>
    <p:sldId id="902" r:id="rId5"/>
    <p:sldId id="901" r:id="rId6"/>
    <p:sldId id="904" r:id="rId7"/>
    <p:sldId id="905" r:id="rId8"/>
    <p:sldId id="906" r:id="rId9"/>
    <p:sldId id="907" r:id="rId10"/>
    <p:sldId id="908" r:id="rId11"/>
    <p:sldId id="909" r:id="rId12"/>
    <p:sldId id="910" r:id="rId13"/>
    <p:sldId id="911" r:id="rId14"/>
    <p:sldId id="912" r:id="rId15"/>
    <p:sldId id="913" r:id="rId16"/>
    <p:sldId id="914" r:id="rId17"/>
    <p:sldId id="915" r:id="rId18"/>
    <p:sldId id="916" r:id="rId19"/>
    <p:sldId id="917" r:id="rId20"/>
    <p:sldId id="918" r:id="rId21"/>
    <p:sldId id="919" r:id="rId22"/>
    <p:sldId id="920" r:id="rId23"/>
    <p:sldId id="921" r:id="rId24"/>
    <p:sldId id="922" r:id="rId25"/>
    <p:sldId id="924" r:id="rId26"/>
    <p:sldId id="925" r:id="rId27"/>
    <p:sldId id="926" r:id="rId28"/>
    <p:sldId id="927" r:id="rId29"/>
    <p:sldId id="50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828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13585-F2F7-4CAB-A4E4-1512BB9B545B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69316-F612-48C3-B1C7-701A2C12B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73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QuickStart: Create a virtual network using the Azure portal - https://docs.microsoft.com/azure/virtual-network/quick-create-portal</a:t>
            </a:r>
          </a:p>
          <a:p>
            <a:endParaRPr lang="en-US" dirty="0"/>
          </a:p>
          <a:p>
            <a:r>
              <a:rPr lang="en-US" dirty="0"/>
              <a:t>✔️ Always plan to use an address space that is not already in use in your organization, either on-premises or in other </a:t>
            </a:r>
            <a:r>
              <a:rPr lang="en-US" dirty="0" err="1"/>
              <a:t>VNets</a:t>
            </a:r>
            <a:r>
              <a:rPr lang="en-US" dirty="0"/>
              <a:t>. Even if you plan for a </a:t>
            </a:r>
            <a:r>
              <a:rPr lang="en-US" dirty="0" err="1"/>
              <a:t>VNet</a:t>
            </a:r>
            <a:r>
              <a:rPr lang="en-US" dirty="0"/>
              <a:t> to be cloud-only, you may want to make a VPN connection to it later. If there is any overlap in address spaces at that point, you will have to reconfigure or recreate the </a:t>
            </a:r>
            <a:r>
              <a:rPr lang="en-US" dirty="0" err="1"/>
              <a:t>VNet</a:t>
            </a:r>
            <a:r>
              <a:rPr lang="en-US" dirty="0"/>
              <a:t>. The next lesson will focus on IP addressing.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69316-F612-48C3-B1C7-701A2C12BC0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262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/>
              <a:t>✔️ </a:t>
            </a:r>
            <a:r>
              <a:rPr lang="en-US" b="1" i="0" dirty="0">
                <a:solidFill>
                  <a:srgbClr val="000000"/>
                </a:solidFill>
                <a:effectLst/>
                <a:latin typeface="Segoe UI VSS (Regular)"/>
              </a:rPr>
              <a:t> 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 VSS (Regular)"/>
              </a:rPr>
              <a:t>Azure reserves 5 IP addresses within each subnet.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Segoe UI VSS (Regular)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 VSS (Regular)"/>
              </a:rPr>
              <a:t> x.x.x.0: Network address</a:t>
            </a:r>
          </a:p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0" dirty="0">
                <a:solidFill>
                  <a:srgbClr val="000000"/>
                </a:solidFill>
                <a:effectLst/>
                <a:latin typeface="Segoe UI VSS (Regular)"/>
              </a:rPr>
              <a:t> x.x.x.1: Reserved by Azure for the default gateway</a:t>
            </a:r>
          </a:p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0" dirty="0">
                <a:solidFill>
                  <a:srgbClr val="000000"/>
                </a:solidFill>
                <a:effectLst/>
                <a:latin typeface="Segoe UI VSS (Regular)"/>
              </a:rPr>
              <a:t> x.x.x.2, x.x.x.3: Reserved by Azure to map the Azure DNS IPs to 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 VSS (Regular)"/>
              </a:rPr>
              <a:t>VNet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 VSS (Regular)"/>
              </a:rPr>
              <a:t> space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 VSS (Regular)"/>
              </a:rPr>
              <a:t> x.x.x.255: Network broadcast address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69316-F612-48C3-B1C7-701A2C12BC0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549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Design an IP addressing schema for your Azure deployment – https://docs.microsoft.com/learn/modules/design-ip-addressing-for-azure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✔️ As a best practice you may decide to separate dynamically and statically assigned IP resources into different subnets. And, IP Addresses are never managed from within a virtual machine.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69316-F612-48C3-B1C7-701A2C12BC0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689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dirty="0">
                <a:cs typeface="Calibri"/>
              </a:rPr>
              <a:t>Create, change, or delete IP addresses - </a:t>
            </a:r>
            <a:r>
              <a:rPr lang="en-US" dirty="0"/>
              <a:t>https://docs.microsoft.com/azure/virtual-network/virtual-network-public-ip-address</a:t>
            </a:r>
            <a:endParaRPr lang="en-US" dirty="0">
              <a:cs typeface="Calibri" panose="020F0502020204030204"/>
            </a:endParaRPr>
          </a:p>
          <a:p>
            <a:pPr marL="228600" lvl="1">
              <a:spcBef>
                <a:spcPct val="20000"/>
              </a:spcBef>
            </a:pPr>
            <a:endParaRPr lang="en-US" dirty="0"/>
          </a:p>
          <a:p>
            <a:endParaRPr lang="en-US" dirty="0">
              <a:cs typeface="Calibri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69316-F612-48C3-B1C7-701A2C12BC0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273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cs typeface="Calibri" panose="020F0502020204030204"/>
              </a:rPr>
              <a:t>Public IP addresses - https://docs.microsoft.com/azure/virtual-network/public-ip-addresses</a:t>
            </a:r>
          </a:p>
          <a:p>
            <a:endParaRPr lang="en-US" dirty="0">
              <a:cs typeface="Calibri" panose="020F0502020204030204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69316-F612-48C3-B1C7-701A2C12BC0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014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Private IP addresses - https://docs.microsoft.com/azure/virtual-network/private-ip-addresses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69316-F612-48C3-B1C7-701A2C12BC0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566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Network Security Groups - https://docs.microsoft.com/azure/virtual-network/security-overview#network-security-groups </a:t>
            </a:r>
          </a:p>
          <a:p>
            <a:endParaRPr lang="en-US" dirty="0"/>
          </a:p>
          <a:p>
            <a:r>
              <a:rPr lang="en-US" dirty="0"/>
              <a:t>✔️ To simplify management of security rules, it's recommended that you associate a network security group to individual subnets, rather than individual network interfaces within the subnet.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69316-F612-48C3-B1C7-701A2C12BC0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1298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Create, change, or delete a network security group -https://docs.microsoft.com/azure/virtual-network/manage-network-security-group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69316-F612-48C3-B1C7-701A2C12BC0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710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Tutorial: Filter network traffic with a network security group using the Azure portal - https://docs.microsoft.com/azure/virtual-network/tutorial-filter-network-traffic</a:t>
            </a:r>
          </a:p>
          <a:p>
            <a:endParaRPr lang="en-US" dirty="0"/>
          </a:p>
          <a:p>
            <a:r>
              <a:rPr lang="en-US" dirty="0"/>
              <a:t>Secure and isolate access to Azure resources by using network security groups and service endpoints - https://docs.microsoft.com/learn/modules/secure-and-isolate-with-nsg-and-service-endpoints/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69316-F612-48C3-B1C7-701A2C12BC02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2761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associated student material. </a:t>
            </a:r>
          </a:p>
          <a:p>
            <a:endParaRPr lang="en-US" dirty="0"/>
          </a:p>
          <a:p>
            <a:r>
              <a:rPr lang="en-US" dirty="0"/>
              <a:t>Application Security Groups - https://docs.microsoft.com/azure/virtual-network/application-security-groups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69316-F612-48C3-B1C7-701A2C12BC0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9907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DNS Zones - https://docs.microsoft.com/azure/dns/dns-zones-records#dns-zones </a:t>
            </a:r>
          </a:p>
          <a:p>
            <a:endParaRPr lang="en-US" dirty="0"/>
          </a:p>
          <a:p>
            <a:r>
              <a:rPr lang="en-US" dirty="0"/>
              <a:t>✔️ You do not have to own a domain name to create a DNS zone with that domain name in Azure DNS. However, you do need to own the domain to configure the domain.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69316-F612-48C3-B1C7-701A2C12BC02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23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QuickStart: Create an Azure private DNS zone using the Azure portal - https://docs.microsoft.com/azure/dns/private-dns-getstarted-portal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69316-F612-48C3-B1C7-701A2C12BC02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6100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the first of three networking labs. In this lab you are covering basic network infrastructure.  </a:t>
            </a:r>
          </a:p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Lab 04 - https://microsoftlearning.github.io/AZ-104-MicrosoftAzureAdministrator/Instructions/Labs/LAB_04-Implement_Virtual_Networking.html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69316-F612-48C3-B1C7-701A2C12BC02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8153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the architecture diagram for the interactive simulation (previous lab), if you want to review that.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69316-F612-48C3-B1C7-701A2C12BC02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9383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AD30F-11CB-4A38-D5FC-43AB22400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EC942-BB8A-34AC-C497-D4FD2BED0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1584A-C19D-2D97-0AF6-751B4D270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37BBA-1403-8ADF-3C89-1C56F6A7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4B5EE-694E-0DD6-FBBC-DAEE073BF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336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55A2D-7795-829E-0317-35A6629C7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9A543-0209-7742-9E7A-1C9448B44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87CC4-06DF-0598-CF9B-17940CC13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7B6F1-E547-28F3-214B-E14FA297E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887C7-35CB-E756-85E9-6ED61FF74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68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913AF-764B-9BED-839B-1F2548D99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A1ABD-DC52-E5BB-2552-51A8C55B3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81113-125C-2AC5-EA8C-E51F7236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0F60A-D639-FC0E-6607-3F9FDD3D2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821C5-E274-8177-0A84-61FBD13E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946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C8B2C-B56C-65F9-D55A-03C415602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EC924-40A7-CCC5-5467-954F49538F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46483-F4A5-9F85-2F36-57685DC1C6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92291-7FB4-9BC0-C08C-602E7E48C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FF5A3-AFC2-83AF-3AC5-A2DFC37C7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1BCC1-B192-509A-B182-FDA38BEC5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06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9D4F-6499-4E62-6BC4-A864B371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5EE0A-2D64-6EA3-C393-6A793B336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6FDC3-5665-D55A-BF31-4799773D5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0E72C-7203-963D-54C2-7C5F8F9DD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FB9FA4-2C32-85B9-E44F-E043C5711F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DA284C-82E5-0258-95ED-C939210BF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287524-7C83-6978-13D2-682429417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B0B3A0-9328-56ED-6165-5FE6725B0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398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2C313-A857-D2B6-4972-603A32097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EE6E7C-9E05-38A0-50E5-475C61D1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55942B-9E3E-FE6B-DB1B-2B40E1C4E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D1D417-DE49-E1CE-4813-90A275904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477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75A62D-5E35-4978-A21D-015D67A6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BC7063-316D-7692-711E-1145293C6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6D14C-0A1E-DA44-3394-36812D4E4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228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54731-C279-E9B4-1350-D01064C5E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44481-22CF-C3C5-7B97-22D9E52FB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C30EE-D49D-6439-35A7-D564C5416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7929C-043F-5FF4-6D6D-171B825F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329F1-C192-1700-B843-D4B943C3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8F1DF-4A4F-C67D-BE2E-1FE4CA53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379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C8093-BF6B-B264-E311-398794DE8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CAD7C6-1734-B469-30B7-4A42BB717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E643E-D7E3-7AB3-F45D-CE539AA73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495D1-052E-D029-A14D-9768E55A4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11458-BD09-D7A2-90F1-22EA0A4D4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AD0DC-C873-E862-BD92-71ED2A4CA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875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3DAD-FBC8-F5A7-4DFF-0EB88A10A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C3120F-9120-CC06-97E9-33733579E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63293-6891-933A-C374-086A5CDA0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7EA86-1716-99FC-624F-781422453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BAD29-F34E-E7C3-A14F-532F8C89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39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BE1245-A4CF-CE70-BB65-F95B54A0BD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2C1FE-EE55-4B51-5B5A-E44581E04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906AF-DE1E-E1BF-5B20-319686EA4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684D1-B61C-0604-F16A-3DAE3869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DF065-EA66-D400-5822-2008989BC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786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2B1CA2-ECC1-4762-AAEA-FADDBF94C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8F6B0-B57E-519B-311D-89ED42890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5897C-4441-701B-8C16-69E4C437F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E07FF-709C-AC63-F960-09B72AA04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918F4-90CC-DE76-BC3D-75D676446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165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11" Type="http://schemas.openxmlformats.org/officeDocument/2006/relationships/image" Target="../media/image19.png"/><Relationship Id="rId5" Type="http://schemas.openxmlformats.org/officeDocument/2006/relationships/image" Target="../media/image4.emf"/><Relationship Id="rId15" Type="http://schemas.openxmlformats.org/officeDocument/2006/relationships/image" Target="../media/image23.svg"/><Relationship Id="rId10" Type="http://schemas.openxmlformats.org/officeDocument/2006/relationships/image" Target="../media/image18.svg"/><Relationship Id="rId4" Type="http://schemas.openxmlformats.org/officeDocument/2006/relationships/image" Target="../media/image3.emf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20.svg"/><Relationship Id="rId3" Type="http://schemas.openxmlformats.org/officeDocument/2006/relationships/image" Target="../media/image3.emf"/><Relationship Id="rId7" Type="http://schemas.openxmlformats.org/officeDocument/2006/relationships/image" Target="../media/image31.svg"/><Relationship Id="rId12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svg"/><Relationship Id="rId5" Type="http://schemas.openxmlformats.org/officeDocument/2006/relationships/image" Target="../media/image5.emf"/><Relationship Id="rId10" Type="http://schemas.openxmlformats.org/officeDocument/2006/relationships/image" Target="../media/image34.png"/><Relationship Id="rId4" Type="http://schemas.openxmlformats.org/officeDocument/2006/relationships/image" Target="../media/image4.emf"/><Relationship Id="rId9" Type="http://schemas.openxmlformats.org/officeDocument/2006/relationships/image" Target="../media/image33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13" Type="http://schemas.openxmlformats.org/officeDocument/2006/relationships/image" Target="../media/image17.pn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12" Type="http://schemas.openxmlformats.org/officeDocument/2006/relationships/image" Target="../media/image38.sv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40.svg"/><Relationship Id="rId20" Type="http://schemas.openxmlformats.org/officeDocument/2006/relationships/image" Target="../media/image4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11" Type="http://schemas.openxmlformats.org/officeDocument/2006/relationships/image" Target="../media/image37.png"/><Relationship Id="rId5" Type="http://schemas.openxmlformats.org/officeDocument/2006/relationships/image" Target="../media/image4.emf"/><Relationship Id="rId15" Type="http://schemas.openxmlformats.org/officeDocument/2006/relationships/image" Target="../media/image39.png"/><Relationship Id="rId10" Type="http://schemas.openxmlformats.org/officeDocument/2006/relationships/image" Target="../media/image36.svg"/><Relationship Id="rId19" Type="http://schemas.openxmlformats.org/officeDocument/2006/relationships/image" Target="../media/image43.png"/><Relationship Id="rId4" Type="http://schemas.openxmlformats.org/officeDocument/2006/relationships/image" Target="../media/image3.emf"/><Relationship Id="rId9" Type="http://schemas.openxmlformats.org/officeDocument/2006/relationships/image" Target="../media/image32.png"/><Relationship Id="rId14" Type="http://schemas.openxmlformats.org/officeDocument/2006/relationships/image" Target="../media/image18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Virtual Networks</a:t>
            </a: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43D47F-0850-4C54-ECA1-347E586871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C2548839-3939-0CEE-BB80-F07D21DCA629}"/>
              </a:ext>
            </a:extLst>
          </p:cNvPr>
          <p:cNvSpPr txBox="1"/>
          <p:nvPr/>
        </p:nvSpPr>
        <p:spPr>
          <a:xfrm>
            <a:off x="2460426" y="2877900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Configure Virtual Networks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748195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3">
            <a:extLst>
              <a:ext uri="{FF2B5EF4-FFF2-40B4-BE49-F238E27FC236}">
                <a16:creationId xmlns:a16="http://schemas.microsoft.com/office/drawing/2014/main" id="{062C963A-F494-333D-2E95-DDEDBCEA92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24299" y="887371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Plan Virtual Networks</a:t>
            </a:r>
          </a:p>
        </p:txBody>
      </p:sp>
      <p:grpSp>
        <p:nvGrpSpPr>
          <p:cNvPr id="11" name="Group 10" descr="A virtual network has subnets and connects to on-premises and virtual networks. ">
            <a:extLst>
              <a:ext uri="{FF2B5EF4-FFF2-40B4-BE49-F238E27FC236}">
                <a16:creationId xmlns:a16="http://schemas.microsoft.com/office/drawing/2014/main" id="{9EB7B1E2-C5BF-790E-F237-148C6451C6C5}"/>
              </a:ext>
            </a:extLst>
          </p:cNvPr>
          <p:cNvGrpSpPr/>
          <p:nvPr/>
        </p:nvGrpSpPr>
        <p:grpSpPr>
          <a:xfrm>
            <a:off x="1514200" y="1791862"/>
            <a:ext cx="8104459" cy="3103150"/>
            <a:chOff x="1438934" y="3914453"/>
            <a:chExt cx="5979008" cy="237333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634FC0E-16B9-4325-7667-2FBF133BE46F}"/>
                </a:ext>
              </a:extLst>
            </p:cNvPr>
            <p:cNvSpPr/>
            <p:nvPr/>
          </p:nvSpPr>
          <p:spPr>
            <a:xfrm>
              <a:off x="1489566" y="3963863"/>
              <a:ext cx="3785063" cy="2323921"/>
            </a:xfrm>
            <a:prstGeom prst="rect">
              <a:avLst/>
            </a:prstGeom>
            <a:solidFill>
              <a:srgbClr val="44546A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B067A9-62B8-1DEF-8749-B6368F942629}"/>
                </a:ext>
              </a:extLst>
            </p:cNvPr>
            <p:cNvSpPr/>
            <p:nvPr/>
          </p:nvSpPr>
          <p:spPr>
            <a:xfrm>
              <a:off x="1984222" y="4470849"/>
              <a:ext cx="2892829" cy="1662545"/>
            </a:xfrm>
            <a:prstGeom prst="rect">
              <a:avLst/>
            </a:prstGeom>
            <a:solidFill>
              <a:srgbClr val="E7E6E6"/>
            </a:solidFill>
            <a:ln w="12700" cap="flat" cmpd="sng" algn="ctr">
              <a:solidFill>
                <a:sysClr val="windowText" lastClr="00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DBF29C-5E35-ACA3-6B1B-197D8A7A2DE6}"/>
                </a:ext>
              </a:extLst>
            </p:cNvPr>
            <p:cNvSpPr txBox="1"/>
            <p:nvPr/>
          </p:nvSpPr>
          <p:spPr>
            <a:xfrm>
              <a:off x="2484536" y="5711032"/>
              <a:ext cx="17716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/>
              <a:r>
                <a:rPr lang="en-US" dirty="0">
                  <a:solidFill>
                    <a:prstClr val="black"/>
                  </a:solidFill>
                  <a:latin typeface="Calibri" panose="020F0502020204030204"/>
                </a:rPr>
                <a:t>Virtual Machines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1B6C7B8-016A-159D-9D70-8BF051FBDE98}"/>
                </a:ext>
              </a:extLst>
            </p:cNvPr>
            <p:cNvGrpSpPr/>
            <p:nvPr/>
          </p:nvGrpSpPr>
          <p:grpSpPr>
            <a:xfrm>
              <a:off x="3556116" y="4833183"/>
              <a:ext cx="1002118" cy="798085"/>
              <a:chOff x="7563034" y="1853676"/>
              <a:chExt cx="1002118" cy="798085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055D41BE-7001-79F5-D32E-5EF9CB31712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563034" y="1853676"/>
                <a:ext cx="416425" cy="798085"/>
                <a:chOff x="9191145" y="3741535"/>
                <a:chExt cx="774393" cy="2092980"/>
              </a:xfrm>
            </p:grpSpPr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8CC00112-A1BE-613C-0690-981266DE927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9191145" y="3741535"/>
                  <a:ext cx="774393" cy="2092980"/>
                  <a:chOff x="6576174" y="3760259"/>
                  <a:chExt cx="1081539" cy="2764684"/>
                </a:xfrm>
              </p:grpSpPr>
              <p:grpSp>
                <p:nvGrpSpPr>
                  <p:cNvPr id="113" name="Group 112">
                    <a:extLst>
                      <a:ext uri="{FF2B5EF4-FFF2-40B4-BE49-F238E27FC236}">
                        <a16:creationId xmlns:a16="http://schemas.microsoft.com/office/drawing/2014/main" id="{1CD55461-1BD8-0E77-3D1A-4D98B0456596}"/>
                      </a:ext>
                    </a:extLst>
                  </p:cNvPr>
                  <p:cNvGrpSpPr/>
                  <p:nvPr/>
                </p:nvGrpSpPr>
                <p:grpSpPr>
                  <a:xfrm>
                    <a:off x="6576174" y="3760259"/>
                    <a:ext cx="1081539" cy="2764684"/>
                    <a:chOff x="6576174" y="3760259"/>
                    <a:chExt cx="1081539" cy="2764684"/>
                  </a:xfrm>
                </p:grpSpPr>
                <p:grpSp>
                  <p:nvGrpSpPr>
                    <p:cNvPr id="115" name="Group 114">
                      <a:extLst>
                        <a:ext uri="{FF2B5EF4-FFF2-40B4-BE49-F238E27FC236}">
                          <a16:creationId xmlns:a16="http://schemas.microsoft.com/office/drawing/2014/main" id="{861E1BE0-BD8E-B704-1400-E9C4400790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576174" y="3760259"/>
                      <a:ext cx="1081539" cy="2764684"/>
                      <a:chOff x="5365826" y="3709999"/>
                      <a:chExt cx="1074023" cy="2853208"/>
                    </a:xfrm>
                  </p:grpSpPr>
                  <p:sp>
                    <p:nvSpPr>
                      <p:cNvPr id="125" name="Rectangle 124">
                        <a:extLst>
                          <a:ext uri="{FF2B5EF4-FFF2-40B4-BE49-F238E27FC236}">
                            <a16:creationId xmlns:a16="http://schemas.microsoft.com/office/drawing/2014/main" id="{96CAD8DF-0569-A452-5072-CA4605A3246B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365826" y="3709999"/>
                        <a:ext cx="1074023" cy="2853208"/>
                      </a:xfrm>
                      <a:prstGeom prst="rect">
                        <a:avLst/>
                      </a:prstGeom>
                      <a:solidFill>
                        <a:srgbClr val="FFFFFF">
                          <a:alpha val="69804"/>
                        </a:srgbClr>
                      </a:solidFill>
                      <a:ln w="12700" cap="flat" cmpd="sng" algn="ctr">
                        <a:solidFill>
                          <a:sysClr val="windowText" lastClr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lvl="0" indent="0" algn="ctr" defTabSz="932472" eaLnBrk="1" fontAlgn="base" latinLnBrk="0" hangingPunct="1">
                          <a:lnSpc>
                            <a:spcPct val="9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4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rgbClr val="FFFFFF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Calibri" panose="020F0502020204030204"/>
                          <a:ea typeface="Segoe UI" pitchFamily="34" charset="0"/>
                          <a:cs typeface="Segoe UI" pitchFamily="34" charset="0"/>
                        </a:endParaRPr>
                      </a:p>
                    </p:txBody>
                  </p:sp>
                  <p:sp>
                    <p:nvSpPr>
                      <p:cNvPr id="126" name="Rectangle 125">
                        <a:extLst>
                          <a:ext uri="{FF2B5EF4-FFF2-40B4-BE49-F238E27FC236}">
                            <a16:creationId xmlns:a16="http://schemas.microsoft.com/office/drawing/2014/main" id="{234DFDF0-3A26-0646-4497-53268064E7E2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478169" y="4034937"/>
                        <a:ext cx="849330" cy="182880"/>
                      </a:xfrm>
                      <a:prstGeom prst="rect">
                        <a:avLst/>
                      </a:prstGeom>
                      <a:noFill/>
                      <a:ln w="9525" cap="flat" cmpd="sng" algn="ctr">
                        <a:solidFill>
                          <a:sysClr val="windowText" lastClr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lvl="0" indent="0" algn="ctr" defTabSz="932472" eaLnBrk="1" fontAlgn="base" latinLnBrk="0" hangingPunct="1">
                          <a:lnSpc>
                            <a:spcPct val="9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4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rgbClr val="FFFFFF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Calibri" panose="020F0502020204030204"/>
                          <a:ea typeface="Segoe UI" pitchFamily="34" charset="0"/>
                          <a:cs typeface="Segoe UI" pitchFamily="34" charset="0"/>
                        </a:endParaRPr>
                      </a:p>
                    </p:txBody>
                  </p:sp>
                  <p:sp>
                    <p:nvSpPr>
                      <p:cNvPr id="127" name="Rectangle 126">
                        <a:extLst>
                          <a:ext uri="{FF2B5EF4-FFF2-40B4-BE49-F238E27FC236}">
                            <a16:creationId xmlns:a16="http://schemas.microsoft.com/office/drawing/2014/main" id="{C16EFEA3-70CB-F194-86C3-3CC6CDE6E18E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478170" y="4215859"/>
                        <a:ext cx="849331" cy="182880"/>
                      </a:xfrm>
                      <a:prstGeom prst="rect">
                        <a:avLst/>
                      </a:prstGeom>
                      <a:noFill/>
                      <a:ln w="9525" cap="flat" cmpd="sng" algn="ctr">
                        <a:solidFill>
                          <a:sysClr val="windowText" lastClr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lvl="0" indent="0" algn="ctr" defTabSz="932472" eaLnBrk="1" fontAlgn="base" latinLnBrk="0" hangingPunct="1">
                          <a:lnSpc>
                            <a:spcPct val="9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2400" b="0" i="0" u="none" strike="noStrike" kern="0" cap="none" spc="0" normalizeH="0" baseline="0" noProof="0" dirty="0">
                            <a:ln>
                              <a:noFill/>
                            </a:ln>
                            <a:gradFill>
                              <a:gsLst>
                                <a:gs pos="0">
                                  <a:srgbClr val="FFFFFF"/>
                                </a:gs>
                                <a:gs pos="100000">
                                  <a:srgbClr val="FFFFFF"/>
                                </a:gs>
                              </a:gsLst>
                              <a:lin ang="5400000" scaled="0"/>
                            </a:gradFill>
                            <a:effectLst/>
                            <a:uLnTx/>
                            <a:uFillTx/>
                            <a:latin typeface="Calibri" panose="020F0502020204030204"/>
                            <a:ea typeface="Segoe UI" pitchFamily="34" charset="0"/>
                            <a:cs typeface="Segoe UI" pitchFamily="34" charset="0"/>
                          </a:rPr>
                          <a:t> </a:t>
                        </a:r>
                      </a:p>
                    </p:txBody>
                  </p:sp>
                  <p:sp>
                    <p:nvSpPr>
                      <p:cNvPr id="128" name="Rectangle 127">
                        <a:extLst>
                          <a:ext uri="{FF2B5EF4-FFF2-40B4-BE49-F238E27FC236}">
                            <a16:creationId xmlns:a16="http://schemas.microsoft.com/office/drawing/2014/main" id="{A72B5A80-DA42-384B-B59B-DDAC8BB53C50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478170" y="4398739"/>
                        <a:ext cx="849331" cy="182880"/>
                      </a:xfrm>
                      <a:prstGeom prst="rect">
                        <a:avLst/>
                      </a:prstGeom>
                      <a:noFill/>
                      <a:ln w="9525" cap="flat" cmpd="sng" algn="ctr">
                        <a:solidFill>
                          <a:sysClr val="windowText" lastClr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lvl="0" indent="0" algn="ctr" defTabSz="932472" eaLnBrk="1" fontAlgn="base" latinLnBrk="0" hangingPunct="1">
                          <a:lnSpc>
                            <a:spcPct val="9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4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rgbClr val="FFFFFF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Calibri" panose="020F0502020204030204"/>
                          <a:ea typeface="Segoe UI" pitchFamily="34" charset="0"/>
                          <a:cs typeface="Segoe UI" pitchFamily="34" charset="0"/>
                        </a:endParaRPr>
                      </a:p>
                    </p:txBody>
                  </p:sp>
                  <p:sp>
                    <p:nvSpPr>
                      <p:cNvPr id="129" name="Rectangle 128">
                        <a:extLst>
                          <a:ext uri="{FF2B5EF4-FFF2-40B4-BE49-F238E27FC236}">
                            <a16:creationId xmlns:a16="http://schemas.microsoft.com/office/drawing/2014/main" id="{57BF8945-E739-1AA1-7C25-682DB52D7F17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478170" y="4764122"/>
                        <a:ext cx="849331" cy="182880"/>
                      </a:xfrm>
                      <a:prstGeom prst="rect">
                        <a:avLst/>
                      </a:prstGeom>
                      <a:noFill/>
                      <a:ln w="9525" cap="flat" cmpd="sng" algn="ctr">
                        <a:solidFill>
                          <a:sysClr val="windowText" lastClr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lvl="0" indent="0" algn="ctr" defTabSz="932472" eaLnBrk="1" fontAlgn="base" latinLnBrk="0" hangingPunct="1">
                          <a:lnSpc>
                            <a:spcPct val="9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4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rgbClr val="FFFFFF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Calibri" panose="020F0502020204030204"/>
                          <a:ea typeface="Segoe UI" pitchFamily="34" charset="0"/>
                          <a:cs typeface="Segoe UI" pitchFamily="34" charset="0"/>
                        </a:endParaRPr>
                      </a:p>
                    </p:txBody>
                  </p:sp>
                  <p:sp>
                    <p:nvSpPr>
                      <p:cNvPr id="130" name="Rectangle 129">
                        <a:extLst>
                          <a:ext uri="{FF2B5EF4-FFF2-40B4-BE49-F238E27FC236}">
                            <a16:creationId xmlns:a16="http://schemas.microsoft.com/office/drawing/2014/main" id="{88914F2E-44C3-9086-DA63-84744D837DE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478171" y="4947002"/>
                        <a:ext cx="849330" cy="182880"/>
                      </a:xfrm>
                      <a:prstGeom prst="rect">
                        <a:avLst/>
                      </a:prstGeom>
                      <a:noFill/>
                      <a:ln w="9525" cap="flat" cmpd="sng" algn="ctr">
                        <a:solidFill>
                          <a:sysClr val="windowText" lastClr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lvl="0" indent="0" algn="ctr" defTabSz="932472" eaLnBrk="1" fontAlgn="base" latinLnBrk="0" hangingPunct="1">
                          <a:lnSpc>
                            <a:spcPct val="9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4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rgbClr val="FFFFFF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Calibri" panose="020F0502020204030204"/>
                          <a:ea typeface="Segoe UI" pitchFamily="34" charset="0"/>
                          <a:cs typeface="Segoe UI" pitchFamily="34" charset="0"/>
                        </a:endParaRPr>
                      </a:p>
                    </p:txBody>
                  </p:sp>
                  <p:sp>
                    <p:nvSpPr>
                      <p:cNvPr id="131" name="Rectangle 130">
                        <a:extLst>
                          <a:ext uri="{FF2B5EF4-FFF2-40B4-BE49-F238E27FC236}">
                            <a16:creationId xmlns:a16="http://schemas.microsoft.com/office/drawing/2014/main" id="{4DCB575F-37EF-8809-5861-7A6CB62C7316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478171" y="5131673"/>
                        <a:ext cx="849331" cy="182880"/>
                      </a:xfrm>
                      <a:prstGeom prst="rect">
                        <a:avLst/>
                      </a:prstGeom>
                      <a:noFill/>
                      <a:ln w="9525" cap="flat" cmpd="sng" algn="ctr">
                        <a:solidFill>
                          <a:sysClr val="windowText" lastClr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lvl="0" indent="0" algn="ctr" defTabSz="932472" eaLnBrk="1" fontAlgn="base" latinLnBrk="0" hangingPunct="1">
                          <a:lnSpc>
                            <a:spcPct val="9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2400" b="0" i="0" u="none" strike="noStrike" kern="0" cap="none" spc="0" normalizeH="0" baseline="0" noProof="0" dirty="0">
                            <a:ln>
                              <a:noFill/>
                            </a:ln>
                            <a:gradFill>
                              <a:gsLst>
                                <a:gs pos="0">
                                  <a:srgbClr val="FFFFFF"/>
                                </a:gs>
                                <a:gs pos="100000">
                                  <a:srgbClr val="FFFFFF"/>
                                </a:gs>
                              </a:gsLst>
                              <a:lin ang="5400000" scaled="0"/>
                            </a:gradFill>
                            <a:effectLst/>
                            <a:uLnTx/>
                            <a:uFillTx/>
                            <a:latin typeface="Calibri" panose="020F0502020204030204"/>
                            <a:ea typeface="Segoe UI" pitchFamily="34" charset="0"/>
                            <a:cs typeface="Segoe UI" pitchFamily="34" charset="0"/>
                          </a:rPr>
                          <a:t> </a:t>
                        </a:r>
                      </a:p>
                    </p:txBody>
                  </p:sp>
                  <p:sp>
                    <p:nvSpPr>
                      <p:cNvPr id="132" name="Rectangle 131">
                        <a:extLst>
                          <a:ext uri="{FF2B5EF4-FFF2-40B4-BE49-F238E27FC236}">
                            <a16:creationId xmlns:a16="http://schemas.microsoft.com/office/drawing/2014/main" id="{4A79D9D4-C08E-1F9B-E39B-AD9AD14101A7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478171" y="5313426"/>
                        <a:ext cx="849331" cy="182880"/>
                      </a:xfrm>
                      <a:prstGeom prst="rect">
                        <a:avLst/>
                      </a:prstGeom>
                      <a:noFill/>
                      <a:ln w="9525" cap="flat" cmpd="sng" algn="ctr">
                        <a:solidFill>
                          <a:sysClr val="windowText" lastClr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lvl="0" indent="0" algn="ctr" defTabSz="932472" eaLnBrk="1" fontAlgn="base" latinLnBrk="0" hangingPunct="1">
                          <a:lnSpc>
                            <a:spcPct val="9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4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rgbClr val="FFFFFF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Calibri" panose="020F0502020204030204"/>
                          <a:ea typeface="Segoe UI" pitchFamily="34" charset="0"/>
                          <a:cs typeface="Segoe UI" pitchFamily="34" charset="0"/>
                        </a:endParaRPr>
                      </a:p>
                    </p:txBody>
                  </p:sp>
                  <p:sp>
                    <p:nvSpPr>
                      <p:cNvPr id="133" name="Rectangle 132">
                        <a:extLst>
                          <a:ext uri="{FF2B5EF4-FFF2-40B4-BE49-F238E27FC236}">
                            <a16:creationId xmlns:a16="http://schemas.microsoft.com/office/drawing/2014/main" id="{A30D73D2-ECF5-FBCE-EBD8-5DFB5C44BCC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478170" y="5496306"/>
                        <a:ext cx="849331" cy="182880"/>
                      </a:xfrm>
                      <a:prstGeom prst="rect">
                        <a:avLst/>
                      </a:prstGeom>
                      <a:noFill/>
                      <a:ln w="9525" cap="flat" cmpd="sng" algn="ctr">
                        <a:solidFill>
                          <a:sysClr val="windowText" lastClr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lvl="0" indent="0" algn="ctr" defTabSz="932472" eaLnBrk="1" fontAlgn="base" latinLnBrk="0" hangingPunct="1">
                          <a:lnSpc>
                            <a:spcPct val="9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4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rgbClr val="FFFFFF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Calibri" panose="020F0502020204030204"/>
                          <a:ea typeface="Segoe UI" pitchFamily="34" charset="0"/>
                          <a:cs typeface="Segoe UI" pitchFamily="34" charset="0"/>
                        </a:endParaRPr>
                      </a:p>
                    </p:txBody>
                  </p:sp>
                  <p:sp>
                    <p:nvSpPr>
                      <p:cNvPr id="134" name="Freeform 34">
                        <a:extLst>
                          <a:ext uri="{FF2B5EF4-FFF2-40B4-BE49-F238E27FC236}">
                            <a16:creationId xmlns:a16="http://schemas.microsoft.com/office/drawing/2014/main" id="{CE1C4D09-9853-9F5C-1045-5AB3BFDC338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5478170" y="3943870"/>
                        <a:ext cx="299923" cy="14043"/>
                      </a:xfrm>
                      <a:custGeom>
                        <a:avLst/>
                        <a:gdLst>
                          <a:gd name="T0" fmla="*/ 64 w 65"/>
                          <a:gd name="T1" fmla="*/ 3 h 3"/>
                          <a:gd name="T2" fmla="*/ 2 w 65"/>
                          <a:gd name="T3" fmla="*/ 3 h 3"/>
                          <a:gd name="T4" fmla="*/ 0 w 65"/>
                          <a:gd name="T5" fmla="*/ 2 h 3"/>
                          <a:gd name="T6" fmla="*/ 2 w 65"/>
                          <a:gd name="T7" fmla="*/ 0 h 3"/>
                          <a:gd name="T8" fmla="*/ 64 w 65"/>
                          <a:gd name="T9" fmla="*/ 0 h 3"/>
                          <a:gd name="T10" fmla="*/ 65 w 65"/>
                          <a:gd name="T11" fmla="*/ 2 h 3"/>
                          <a:gd name="T12" fmla="*/ 64 w 65"/>
                          <a:gd name="T13" fmla="*/ 3 h 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65" h="3">
                            <a:moveTo>
                              <a:pt x="64" y="3"/>
                            </a:moveTo>
                            <a:cubicBezTo>
                              <a:pt x="2" y="3"/>
                              <a:pt x="2" y="3"/>
                              <a:pt x="2" y="3"/>
                            </a:cubicBezTo>
                            <a:cubicBezTo>
                              <a:pt x="1" y="3"/>
                              <a:pt x="0" y="2"/>
                              <a:pt x="0" y="2"/>
                            </a:cubicBezTo>
                            <a:cubicBezTo>
                              <a:pt x="0" y="1"/>
                              <a:pt x="1" y="0"/>
                              <a:pt x="2" y="0"/>
                            </a:cubicBezTo>
                            <a:cubicBezTo>
                              <a:pt x="64" y="0"/>
                              <a:pt x="64" y="0"/>
                              <a:pt x="64" y="0"/>
                            </a:cubicBezTo>
                            <a:cubicBezTo>
                              <a:pt x="65" y="0"/>
                              <a:pt x="65" y="1"/>
                              <a:pt x="65" y="2"/>
                            </a:cubicBezTo>
                            <a:cubicBezTo>
                              <a:pt x="65" y="2"/>
                              <a:pt x="65" y="3"/>
                              <a:pt x="64" y="3"/>
                            </a:cubicBezTo>
                            <a:close/>
                          </a:path>
                        </a:pathLst>
                      </a:custGeom>
                      <a:solidFill>
                        <a:sysClr val="window" lastClr="FFFFFF">
                          <a:lumMod val="75000"/>
                        </a:sysClr>
                      </a:solidFill>
                      <a:ln w="6350">
                        <a:noFill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135" name="Freeform 35">
                        <a:extLst>
                          <a:ext uri="{FF2B5EF4-FFF2-40B4-BE49-F238E27FC236}">
                            <a16:creationId xmlns:a16="http://schemas.microsoft.com/office/drawing/2014/main" id="{48AC2C5C-42C9-61F7-AE67-9AF25284474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5478170" y="3906755"/>
                        <a:ext cx="299923" cy="14043"/>
                      </a:xfrm>
                      <a:custGeom>
                        <a:avLst/>
                        <a:gdLst>
                          <a:gd name="T0" fmla="*/ 64 w 65"/>
                          <a:gd name="T1" fmla="*/ 3 h 3"/>
                          <a:gd name="T2" fmla="*/ 2 w 65"/>
                          <a:gd name="T3" fmla="*/ 3 h 3"/>
                          <a:gd name="T4" fmla="*/ 0 w 65"/>
                          <a:gd name="T5" fmla="*/ 2 h 3"/>
                          <a:gd name="T6" fmla="*/ 2 w 65"/>
                          <a:gd name="T7" fmla="*/ 0 h 3"/>
                          <a:gd name="T8" fmla="*/ 64 w 65"/>
                          <a:gd name="T9" fmla="*/ 0 h 3"/>
                          <a:gd name="T10" fmla="*/ 65 w 65"/>
                          <a:gd name="T11" fmla="*/ 2 h 3"/>
                          <a:gd name="T12" fmla="*/ 64 w 65"/>
                          <a:gd name="T13" fmla="*/ 3 h 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65" h="3">
                            <a:moveTo>
                              <a:pt x="64" y="3"/>
                            </a:moveTo>
                            <a:cubicBezTo>
                              <a:pt x="2" y="3"/>
                              <a:pt x="2" y="3"/>
                              <a:pt x="2" y="3"/>
                            </a:cubicBezTo>
                            <a:cubicBezTo>
                              <a:pt x="1" y="3"/>
                              <a:pt x="0" y="2"/>
                              <a:pt x="0" y="2"/>
                            </a:cubicBezTo>
                            <a:cubicBezTo>
                              <a:pt x="0" y="1"/>
                              <a:pt x="1" y="0"/>
                              <a:pt x="2" y="0"/>
                            </a:cubicBezTo>
                            <a:cubicBezTo>
                              <a:pt x="64" y="0"/>
                              <a:pt x="64" y="0"/>
                              <a:pt x="64" y="0"/>
                            </a:cubicBezTo>
                            <a:cubicBezTo>
                              <a:pt x="65" y="0"/>
                              <a:pt x="65" y="1"/>
                              <a:pt x="65" y="2"/>
                            </a:cubicBezTo>
                            <a:cubicBezTo>
                              <a:pt x="65" y="2"/>
                              <a:pt x="65" y="3"/>
                              <a:pt x="64" y="3"/>
                            </a:cubicBezTo>
                            <a:close/>
                          </a:path>
                        </a:pathLst>
                      </a:custGeom>
                      <a:solidFill>
                        <a:sysClr val="window" lastClr="FFFFFF">
                          <a:lumMod val="75000"/>
                        </a:sysClr>
                      </a:solidFill>
                      <a:ln w="6350">
                        <a:noFill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136" name="Freeform 36">
                        <a:extLst>
                          <a:ext uri="{FF2B5EF4-FFF2-40B4-BE49-F238E27FC236}">
                            <a16:creationId xmlns:a16="http://schemas.microsoft.com/office/drawing/2014/main" id="{E8505AA3-31EE-DA10-3969-0631E2EFE39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5478170" y="3870644"/>
                        <a:ext cx="299923" cy="14043"/>
                      </a:xfrm>
                      <a:custGeom>
                        <a:avLst/>
                        <a:gdLst>
                          <a:gd name="T0" fmla="*/ 64 w 65"/>
                          <a:gd name="T1" fmla="*/ 3 h 3"/>
                          <a:gd name="T2" fmla="*/ 2 w 65"/>
                          <a:gd name="T3" fmla="*/ 3 h 3"/>
                          <a:gd name="T4" fmla="*/ 0 w 65"/>
                          <a:gd name="T5" fmla="*/ 2 h 3"/>
                          <a:gd name="T6" fmla="*/ 2 w 65"/>
                          <a:gd name="T7" fmla="*/ 0 h 3"/>
                          <a:gd name="T8" fmla="*/ 64 w 65"/>
                          <a:gd name="T9" fmla="*/ 0 h 3"/>
                          <a:gd name="T10" fmla="*/ 65 w 65"/>
                          <a:gd name="T11" fmla="*/ 2 h 3"/>
                          <a:gd name="T12" fmla="*/ 64 w 65"/>
                          <a:gd name="T13" fmla="*/ 3 h 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65" h="3">
                            <a:moveTo>
                              <a:pt x="64" y="3"/>
                            </a:moveTo>
                            <a:cubicBezTo>
                              <a:pt x="2" y="3"/>
                              <a:pt x="2" y="3"/>
                              <a:pt x="2" y="3"/>
                            </a:cubicBezTo>
                            <a:cubicBezTo>
                              <a:pt x="1" y="3"/>
                              <a:pt x="0" y="2"/>
                              <a:pt x="0" y="2"/>
                            </a:cubicBezTo>
                            <a:cubicBezTo>
                              <a:pt x="0" y="1"/>
                              <a:pt x="1" y="0"/>
                              <a:pt x="2" y="0"/>
                            </a:cubicBezTo>
                            <a:cubicBezTo>
                              <a:pt x="64" y="0"/>
                              <a:pt x="64" y="0"/>
                              <a:pt x="64" y="0"/>
                            </a:cubicBezTo>
                            <a:cubicBezTo>
                              <a:pt x="65" y="0"/>
                              <a:pt x="65" y="1"/>
                              <a:pt x="65" y="2"/>
                            </a:cubicBezTo>
                            <a:cubicBezTo>
                              <a:pt x="65" y="2"/>
                              <a:pt x="65" y="3"/>
                              <a:pt x="64" y="3"/>
                            </a:cubicBezTo>
                            <a:close/>
                          </a:path>
                        </a:pathLst>
                      </a:custGeom>
                      <a:solidFill>
                        <a:sysClr val="window" lastClr="FFFFFF">
                          <a:lumMod val="75000"/>
                        </a:sysClr>
                      </a:solidFill>
                      <a:ln w="6350">
                        <a:noFill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137" name="Freeform 37">
                        <a:extLst>
                          <a:ext uri="{FF2B5EF4-FFF2-40B4-BE49-F238E27FC236}">
                            <a16:creationId xmlns:a16="http://schemas.microsoft.com/office/drawing/2014/main" id="{1BD5246F-4169-4DB3-7C87-1E0853E75F8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5478170" y="3834533"/>
                        <a:ext cx="299923" cy="13040"/>
                      </a:xfrm>
                      <a:custGeom>
                        <a:avLst/>
                        <a:gdLst>
                          <a:gd name="T0" fmla="*/ 64 w 65"/>
                          <a:gd name="T1" fmla="*/ 3 h 3"/>
                          <a:gd name="T2" fmla="*/ 2 w 65"/>
                          <a:gd name="T3" fmla="*/ 3 h 3"/>
                          <a:gd name="T4" fmla="*/ 0 w 65"/>
                          <a:gd name="T5" fmla="*/ 2 h 3"/>
                          <a:gd name="T6" fmla="*/ 2 w 65"/>
                          <a:gd name="T7" fmla="*/ 0 h 3"/>
                          <a:gd name="T8" fmla="*/ 64 w 65"/>
                          <a:gd name="T9" fmla="*/ 0 h 3"/>
                          <a:gd name="T10" fmla="*/ 65 w 65"/>
                          <a:gd name="T11" fmla="*/ 2 h 3"/>
                          <a:gd name="T12" fmla="*/ 64 w 65"/>
                          <a:gd name="T13" fmla="*/ 3 h 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65" h="3">
                            <a:moveTo>
                              <a:pt x="64" y="3"/>
                            </a:moveTo>
                            <a:cubicBezTo>
                              <a:pt x="2" y="3"/>
                              <a:pt x="2" y="3"/>
                              <a:pt x="2" y="3"/>
                            </a:cubicBezTo>
                            <a:cubicBezTo>
                              <a:pt x="1" y="3"/>
                              <a:pt x="0" y="2"/>
                              <a:pt x="0" y="2"/>
                            </a:cubicBezTo>
                            <a:cubicBezTo>
                              <a:pt x="0" y="1"/>
                              <a:pt x="1" y="0"/>
                              <a:pt x="2" y="0"/>
                            </a:cubicBezTo>
                            <a:cubicBezTo>
                              <a:pt x="64" y="0"/>
                              <a:pt x="64" y="0"/>
                              <a:pt x="64" y="0"/>
                            </a:cubicBezTo>
                            <a:cubicBezTo>
                              <a:pt x="65" y="0"/>
                              <a:pt x="65" y="1"/>
                              <a:pt x="65" y="2"/>
                            </a:cubicBezTo>
                            <a:cubicBezTo>
                              <a:pt x="65" y="2"/>
                              <a:pt x="65" y="3"/>
                              <a:pt x="64" y="3"/>
                            </a:cubicBezTo>
                            <a:close/>
                          </a:path>
                        </a:pathLst>
                      </a:custGeom>
                      <a:solidFill>
                        <a:sysClr val="window" lastClr="FFFFFF">
                          <a:lumMod val="75000"/>
                        </a:sysClr>
                      </a:solidFill>
                      <a:ln w="6350">
                        <a:noFill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138" name="Freeform 34">
                        <a:extLst>
                          <a:ext uri="{FF2B5EF4-FFF2-40B4-BE49-F238E27FC236}">
                            <a16:creationId xmlns:a16="http://schemas.microsoft.com/office/drawing/2014/main" id="{09478198-A1C9-353C-0E39-5936559DDFC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6027579" y="3943869"/>
                        <a:ext cx="299923" cy="14043"/>
                      </a:xfrm>
                      <a:custGeom>
                        <a:avLst/>
                        <a:gdLst>
                          <a:gd name="T0" fmla="*/ 64 w 65"/>
                          <a:gd name="T1" fmla="*/ 3 h 3"/>
                          <a:gd name="T2" fmla="*/ 2 w 65"/>
                          <a:gd name="T3" fmla="*/ 3 h 3"/>
                          <a:gd name="T4" fmla="*/ 0 w 65"/>
                          <a:gd name="T5" fmla="*/ 2 h 3"/>
                          <a:gd name="T6" fmla="*/ 2 w 65"/>
                          <a:gd name="T7" fmla="*/ 0 h 3"/>
                          <a:gd name="T8" fmla="*/ 64 w 65"/>
                          <a:gd name="T9" fmla="*/ 0 h 3"/>
                          <a:gd name="T10" fmla="*/ 65 w 65"/>
                          <a:gd name="T11" fmla="*/ 2 h 3"/>
                          <a:gd name="T12" fmla="*/ 64 w 65"/>
                          <a:gd name="T13" fmla="*/ 3 h 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65" h="3">
                            <a:moveTo>
                              <a:pt x="64" y="3"/>
                            </a:moveTo>
                            <a:cubicBezTo>
                              <a:pt x="2" y="3"/>
                              <a:pt x="2" y="3"/>
                              <a:pt x="2" y="3"/>
                            </a:cubicBezTo>
                            <a:cubicBezTo>
                              <a:pt x="1" y="3"/>
                              <a:pt x="0" y="2"/>
                              <a:pt x="0" y="2"/>
                            </a:cubicBezTo>
                            <a:cubicBezTo>
                              <a:pt x="0" y="1"/>
                              <a:pt x="1" y="0"/>
                              <a:pt x="2" y="0"/>
                            </a:cubicBezTo>
                            <a:cubicBezTo>
                              <a:pt x="64" y="0"/>
                              <a:pt x="64" y="0"/>
                              <a:pt x="64" y="0"/>
                            </a:cubicBezTo>
                            <a:cubicBezTo>
                              <a:pt x="65" y="0"/>
                              <a:pt x="65" y="1"/>
                              <a:pt x="65" y="2"/>
                            </a:cubicBezTo>
                            <a:cubicBezTo>
                              <a:pt x="65" y="2"/>
                              <a:pt x="65" y="3"/>
                              <a:pt x="64" y="3"/>
                            </a:cubicBezTo>
                            <a:close/>
                          </a:path>
                        </a:pathLst>
                      </a:custGeom>
                      <a:solidFill>
                        <a:sysClr val="window" lastClr="FFFFFF">
                          <a:lumMod val="75000"/>
                        </a:sysClr>
                      </a:solidFill>
                      <a:ln w="6350">
                        <a:noFill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139" name="Freeform 35">
                        <a:extLst>
                          <a:ext uri="{FF2B5EF4-FFF2-40B4-BE49-F238E27FC236}">
                            <a16:creationId xmlns:a16="http://schemas.microsoft.com/office/drawing/2014/main" id="{792049AB-9E1A-2C68-196A-9EFA33D7925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6027579" y="3906753"/>
                        <a:ext cx="299923" cy="14043"/>
                      </a:xfrm>
                      <a:custGeom>
                        <a:avLst/>
                        <a:gdLst>
                          <a:gd name="T0" fmla="*/ 64 w 65"/>
                          <a:gd name="T1" fmla="*/ 3 h 3"/>
                          <a:gd name="T2" fmla="*/ 2 w 65"/>
                          <a:gd name="T3" fmla="*/ 3 h 3"/>
                          <a:gd name="T4" fmla="*/ 0 w 65"/>
                          <a:gd name="T5" fmla="*/ 2 h 3"/>
                          <a:gd name="T6" fmla="*/ 2 w 65"/>
                          <a:gd name="T7" fmla="*/ 0 h 3"/>
                          <a:gd name="T8" fmla="*/ 64 w 65"/>
                          <a:gd name="T9" fmla="*/ 0 h 3"/>
                          <a:gd name="T10" fmla="*/ 65 w 65"/>
                          <a:gd name="T11" fmla="*/ 2 h 3"/>
                          <a:gd name="T12" fmla="*/ 64 w 65"/>
                          <a:gd name="T13" fmla="*/ 3 h 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65" h="3">
                            <a:moveTo>
                              <a:pt x="64" y="3"/>
                            </a:moveTo>
                            <a:cubicBezTo>
                              <a:pt x="2" y="3"/>
                              <a:pt x="2" y="3"/>
                              <a:pt x="2" y="3"/>
                            </a:cubicBezTo>
                            <a:cubicBezTo>
                              <a:pt x="1" y="3"/>
                              <a:pt x="0" y="2"/>
                              <a:pt x="0" y="2"/>
                            </a:cubicBezTo>
                            <a:cubicBezTo>
                              <a:pt x="0" y="1"/>
                              <a:pt x="1" y="0"/>
                              <a:pt x="2" y="0"/>
                            </a:cubicBezTo>
                            <a:cubicBezTo>
                              <a:pt x="64" y="0"/>
                              <a:pt x="64" y="0"/>
                              <a:pt x="64" y="0"/>
                            </a:cubicBezTo>
                            <a:cubicBezTo>
                              <a:pt x="65" y="0"/>
                              <a:pt x="65" y="1"/>
                              <a:pt x="65" y="2"/>
                            </a:cubicBezTo>
                            <a:cubicBezTo>
                              <a:pt x="65" y="2"/>
                              <a:pt x="65" y="3"/>
                              <a:pt x="64" y="3"/>
                            </a:cubicBezTo>
                            <a:close/>
                          </a:path>
                        </a:pathLst>
                      </a:custGeom>
                      <a:solidFill>
                        <a:sysClr val="window" lastClr="FFFFFF">
                          <a:lumMod val="75000"/>
                        </a:sysClr>
                      </a:solidFill>
                      <a:ln w="6350">
                        <a:noFill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140" name="Freeform 36">
                        <a:extLst>
                          <a:ext uri="{FF2B5EF4-FFF2-40B4-BE49-F238E27FC236}">
                            <a16:creationId xmlns:a16="http://schemas.microsoft.com/office/drawing/2014/main" id="{8F31C1B8-6A93-D035-D1D8-A932220BB41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6027579" y="3870643"/>
                        <a:ext cx="299923" cy="14043"/>
                      </a:xfrm>
                      <a:custGeom>
                        <a:avLst/>
                        <a:gdLst>
                          <a:gd name="T0" fmla="*/ 64 w 65"/>
                          <a:gd name="T1" fmla="*/ 3 h 3"/>
                          <a:gd name="T2" fmla="*/ 2 w 65"/>
                          <a:gd name="T3" fmla="*/ 3 h 3"/>
                          <a:gd name="T4" fmla="*/ 0 w 65"/>
                          <a:gd name="T5" fmla="*/ 2 h 3"/>
                          <a:gd name="T6" fmla="*/ 2 w 65"/>
                          <a:gd name="T7" fmla="*/ 0 h 3"/>
                          <a:gd name="T8" fmla="*/ 64 w 65"/>
                          <a:gd name="T9" fmla="*/ 0 h 3"/>
                          <a:gd name="T10" fmla="*/ 65 w 65"/>
                          <a:gd name="T11" fmla="*/ 2 h 3"/>
                          <a:gd name="T12" fmla="*/ 64 w 65"/>
                          <a:gd name="T13" fmla="*/ 3 h 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65" h="3">
                            <a:moveTo>
                              <a:pt x="64" y="3"/>
                            </a:moveTo>
                            <a:cubicBezTo>
                              <a:pt x="2" y="3"/>
                              <a:pt x="2" y="3"/>
                              <a:pt x="2" y="3"/>
                            </a:cubicBezTo>
                            <a:cubicBezTo>
                              <a:pt x="1" y="3"/>
                              <a:pt x="0" y="2"/>
                              <a:pt x="0" y="2"/>
                            </a:cubicBezTo>
                            <a:cubicBezTo>
                              <a:pt x="0" y="1"/>
                              <a:pt x="1" y="0"/>
                              <a:pt x="2" y="0"/>
                            </a:cubicBezTo>
                            <a:cubicBezTo>
                              <a:pt x="64" y="0"/>
                              <a:pt x="64" y="0"/>
                              <a:pt x="64" y="0"/>
                            </a:cubicBezTo>
                            <a:cubicBezTo>
                              <a:pt x="65" y="0"/>
                              <a:pt x="65" y="1"/>
                              <a:pt x="65" y="2"/>
                            </a:cubicBezTo>
                            <a:cubicBezTo>
                              <a:pt x="65" y="2"/>
                              <a:pt x="65" y="3"/>
                              <a:pt x="64" y="3"/>
                            </a:cubicBezTo>
                            <a:close/>
                          </a:path>
                        </a:pathLst>
                      </a:custGeom>
                      <a:solidFill>
                        <a:sysClr val="window" lastClr="FFFFFF">
                          <a:lumMod val="75000"/>
                        </a:sysClr>
                      </a:solidFill>
                      <a:ln w="6350">
                        <a:noFill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141" name="Freeform 37">
                        <a:extLst>
                          <a:ext uri="{FF2B5EF4-FFF2-40B4-BE49-F238E27FC236}">
                            <a16:creationId xmlns:a16="http://schemas.microsoft.com/office/drawing/2014/main" id="{C49035C6-6CBC-1144-B29E-4A92E12CC27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6027579" y="3834532"/>
                        <a:ext cx="299923" cy="13040"/>
                      </a:xfrm>
                      <a:custGeom>
                        <a:avLst/>
                        <a:gdLst>
                          <a:gd name="T0" fmla="*/ 64 w 65"/>
                          <a:gd name="T1" fmla="*/ 3 h 3"/>
                          <a:gd name="T2" fmla="*/ 2 w 65"/>
                          <a:gd name="T3" fmla="*/ 3 h 3"/>
                          <a:gd name="T4" fmla="*/ 0 w 65"/>
                          <a:gd name="T5" fmla="*/ 2 h 3"/>
                          <a:gd name="T6" fmla="*/ 2 w 65"/>
                          <a:gd name="T7" fmla="*/ 0 h 3"/>
                          <a:gd name="T8" fmla="*/ 64 w 65"/>
                          <a:gd name="T9" fmla="*/ 0 h 3"/>
                          <a:gd name="T10" fmla="*/ 65 w 65"/>
                          <a:gd name="T11" fmla="*/ 2 h 3"/>
                          <a:gd name="T12" fmla="*/ 64 w 65"/>
                          <a:gd name="T13" fmla="*/ 3 h 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65" h="3">
                            <a:moveTo>
                              <a:pt x="64" y="3"/>
                            </a:moveTo>
                            <a:cubicBezTo>
                              <a:pt x="2" y="3"/>
                              <a:pt x="2" y="3"/>
                              <a:pt x="2" y="3"/>
                            </a:cubicBezTo>
                            <a:cubicBezTo>
                              <a:pt x="1" y="3"/>
                              <a:pt x="0" y="2"/>
                              <a:pt x="0" y="2"/>
                            </a:cubicBezTo>
                            <a:cubicBezTo>
                              <a:pt x="0" y="1"/>
                              <a:pt x="1" y="0"/>
                              <a:pt x="2" y="0"/>
                            </a:cubicBezTo>
                            <a:cubicBezTo>
                              <a:pt x="64" y="0"/>
                              <a:pt x="64" y="0"/>
                              <a:pt x="64" y="0"/>
                            </a:cubicBezTo>
                            <a:cubicBezTo>
                              <a:pt x="65" y="0"/>
                              <a:pt x="65" y="1"/>
                              <a:pt x="65" y="2"/>
                            </a:cubicBezTo>
                            <a:cubicBezTo>
                              <a:pt x="65" y="2"/>
                              <a:pt x="65" y="3"/>
                              <a:pt x="64" y="3"/>
                            </a:cubicBezTo>
                            <a:close/>
                          </a:path>
                        </a:pathLst>
                      </a:custGeom>
                      <a:solidFill>
                        <a:sysClr val="window" lastClr="FFFFFF">
                          <a:lumMod val="75000"/>
                        </a:sysClr>
                      </a:solidFill>
                      <a:ln w="6350">
                        <a:noFill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142" name="Rectangle 42">
                        <a:extLst>
                          <a:ext uri="{FF2B5EF4-FFF2-40B4-BE49-F238E27FC236}">
                            <a16:creationId xmlns:a16="http://schemas.microsoft.com/office/drawing/2014/main" id="{077C114D-18C3-F32B-0B6C-5021644D7DB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480021" y="5797778"/>
                        <a:ext cx="868674" cy="13040"/>
                      </a:xfrm>
                      <a:prstGeom prst="rect">
                        <a:avLst/>
                      </a:prstGeom>
                      <a:solidFill>
                        <a:sysClr val="windowText" lastClr="000000"/>
                      </a:solidFill>
                      <a:ln w="6350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</a:endParaRPr>
                      </a:p>
                    </p:txBody>
                  </p:sp>
                </p:grpSp>
                <p:sp>
                  <p:nvSpPr>
                    <p:cNvPr id="116" name="Freeform 8">
                      <a:extLst>
                        <a:ext uri="{FF2B5EF4-FFF2-40B4-BE49-F238E27FC236}">
                          <a16:creationId xmlns:a16="http://schemas.microsoft.com/office/drawing/2014/main" id="{26CB4497-AF5D-4EAE-93D2-CB1DCB615CB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317062" y="4126258"/>
                      <a:ext cx="188580" cy="64198"/>
                    </a:xfrm>
                    <a:custGeom>
                      <a:avLst/>
                      <a:gdLst>
                        <a:gd name="T0" fmla="*/ 41 w 41"/>
                        <a:gd name="T1" fmla="*/ 0 h 14"/>
                        <a:gd name="T2" fmla="*/ 6 w 41"/>
                        <a:gd name="T3" fmla="*/ 0 h 14"/>
                        <a:gd name="T4" fmla="*/ 0 w 41"/>
                        <a:gd name="T5" fmla="*/ 7 h 14"/>
                        <a:gd name="T6" fmla="*/ 6 w 41"/>
                        <a:gd name="T7" fmla="*/ 14 h 14"/>
                        <a:gd name="T8" fmla="*/ 41 w 41"/>
                        <a:gd name="T9" fmla="*/ 14 h 14"/>
                        <a:gd name="T10" fmla="*/ 41 w 41"/>
                        <a:gd name="T11" fmla="*/ 0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1" h="14">
                          <a:moveTo>
                            <a:pt x="41" y="0"/>
                          </a:move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3" y="0"/>
                            <a:pt x="0" y="3"/>
                            <a:pt x="0" y="7"/>
                          </a:cubicBezTo>
                          <a:cubicBezTo>
                            <a:pt x="0" y="11"/>
                            <a:pt x="3" y="14"/>
                            <a:pt x="6" y="14"/>
                          </a:cubicBezTo>
                          <a:cubicBezTo>
                            <a:pt x="41" y="14"/>
                            <a:pt x="41" y="14"/>
                            <a:pt x="41" y="14"/>
                          </a:cubicBezTo>
                          <a:lnTo>
                            <a:pt x="41" y="0"/>
                          </a:lnTo>
                          <a:close/>
                        </a:path>
                      </a:pathLst>
                    </a:custGeom>
                    <a:solidFill>
                      <a:srgbClr val="0072C6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117" name="Freeform 8">
                      <a:extLst>
                        <a:ext uri="{FF2B5EF4-FFF2-40B4-BE49-F238E27FC236}">
                          <a16:creationId xmlns:a16="http://schemas.microsoft.com/office/drawing/2014/main" id="{9D3BEDEF-893D-34BE-DCAA-6CDB22A8702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317062" y="4304332"/>
                      <a:ext cx="188580" cy="64198"/>
                    </a:xfrm>
                    <a:custGeom>
                      <a:avLst/>
                      <a:gdLst>
                        <a:gd name="T0" fmla="*/ 41 w 41"/>
                        <a:gd name="T1" fmla="*/ 0 h 14"/>
                        <a:gd name="T2" fmla="*/ 6 w 41"/>
                        <a:gd name="T3" fmla="*/ 0 h 14"/>
                        <a:gd name="T4" fmla="*/ 0 w 41"/>
                        <a:gd name="T5" fmla="*/ 7 h 14"/>
                        <a:gd name="T6" fmla="*/ 6 w 41"/>
                        <a:gd name="T7" fmla="*/ 14 h 14"/>
                        <a:gd name="T8" fmla="*/ 41 w 41"/>
                        <a:gd name="T9" fmla="*/ 14 h 14"/>
                        <a:gd name="T10" fmla="*/ 41 w 41"/>
                        <a:gd name="T11" fmla="*/ 0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1" h="14">
                          <a:moveTo>
                            <a:pt x="41" y="0"/>
                          </a:move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3" y="0"/>
                            <a:pt x="0" y="3"/>
                            <a:pt x="0" y="7"/>
                          </a:cubicBezTo>
                          <a:cubicBezTo>
                            <a:pt x="0" y="11"/>
                            <a:pt x="3" y="14"/>
                            <a:pt x="6" y="14"/>
                          </a:cubicBezTo>
                          <a:cubicBezTo>
                            <a:pt x="41" y="14"/>
                            <a:pt x="41" y="14"/>
                            <a:pt x="41" y="14"/>
                          </a:cubicBezTo>
                          <a:lnTo>
                            <a:pt x="41" y="0"/>
                          </a:lnTo>
                          <a:close/>
                        </a:path>
                      </a:pathLst>
                    </a:custGeom>
                    <a:solidFill>
                      <a:srgbClr val="0072C6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118" name="Freeform 8">
                      <a:extLst>
                        <a:ext uri="{FF2B5EF4-FFF2-40B4-BE49-F238E27FC236}">
                          <a16:creationId xmlns:a16="http://schemas.microsoft.com/office/drawing/2014/main" id="{6BDEC279-3C6B-C506-F5EE-F40A41EF5AA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317062" y="4490080"/>
                      <a:ext cx="188580" cy="64198"/>
                    </a:xfrm>
                    <a:custGeom>
                      <a:avLst/>
                      <a:gdLst>
                        <a:gd name="T0" fmla="*/ 41 w 41"/>
                        <a:gd name="T1" fmla="*/ 0 h 14"/>
                        <a:gd name="T2" fmla="*/ 6 w 41"/>
                        <a:gd name="T3" fmla="*/ 0 h 14"/>
                        <a:gd name="T4" fmla="*/ 0 w 41"/>
                        <a:gd name="T5" fmla="*/ 7 h 14"/>
                        <a:gd name="T6" fmla="*/ 6 w 41"/>
                        <a:gd name="T7" fmla="*/ 14 h 14"/>
                        <a:gd name="T8" fmla="*/ 41 w 41"/>
                        <a:gd name="T9" fmla="*/ 14 h 14"/>
                        <a:gd name="T10" fmla="*/ 41 w 41"/>
                        <a:gd name="T11" fmla="*/ 0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1" h="14">
                          <a:moveTo>
                            <a:pt x="41" y="0"/>
                          </a:move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3" y="0"/>
                            <a:pt x="0" y="3"/>
                            <a:pt x="0" y="7"/>
                          </a:cubicBezTo>
                          <a:cubicBezTo>
                            <a:pt x="0" y="11"/>
                            <a:pt x="3" y="14"/>
                            <a:pt x="6" y="14"/>
                          </a:cubicBezTo>
                          <a:cubicBezTo>
                            <a:pt x="41" y="14"/>
                            <a:pt x="41" y="14"/>
                            <a:pt x="41" y="14"/>
                          </a:cubicBezTo>
                          <a:lnTo>
                            <a:pt x="41" y="0"/>
                          </a:lnTo>
                          <a:close/>
                        </a:path>
                      </a:pathLst>
                    </a:custGeom>
                    <a:solidFill>
                      <a:srgbClr val="0072C6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119" name="Freeform 8">
                      <a:extLst>
                        <a:ext uri="{FF2B5EF4-FFF2-40B4-BE49-F238E27FC236}">
                          <a16:creationId xmlns:a16="http://schemas.microsoft.com/office/drawing/2014/main" id="{BBEF47B0-AE4B-46DA-8FB1-D6EA4D2270D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320696" y="4666368"/>
                      <a:ext cx="188580" cy="64198"/>
                    </a:xfrm>
                    <a:custGeom>
                      <a:avLst/>
                      <a:gdLst>
                        <a:gd name="T0" fmla="*/ 41 w 41"/>
                        <a:gd name="T1" fmla="*/ 0 h 14"/>
                        <a:gd name="T2" fmla="*/ 6 w 41"/>
                        <a:gd name="T3" fmla="*/ 0 h 14"/>
                        <a:gd name="T4" fmla="*/ 0 w 41"/>
                        <a:gd name="T5" fmla="*/ 7 h 14"/>
                        <a:gd name="T6" fmla="*/ 6 w 41"/>
                        <a:gd name="T7" fmla="*/ 14 h 14"/>
                        <a:gd name="T8" fmla="*/ 41 w 41"/>
                        <a:gd name="T9" fmla="*/ 14 h 14"/>
                        <a:gd name="T10" fmla="*/ 41 w 41"/>
                        <a:gd name="T11" fmla="*/ 0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1" h="14">
                          <a:moveTo>
                            <a:pt x="41" y="0"/>
                          </a:move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3" y="0"/>
                            <a:pt x="0" y="3"/>
                            <a:pt x="0" y="7"/>
                          </a:cubicBezTo>
                          <a:cubicBezTo>
                            <a:pt x="0" y="11"/>
                            <a:pt x="3" y="14"/>
                            <a:pt x="6" y="14"/>
                          </a:cubicBezTo>
                          <a:cubicBezTo>
                            <a:pt x="41" y="14"/>
                            <a:pt x="41" y="14"/>
                            <a:pt x="41" y="14"/>
                          </a:cubicBezTo>
                          <a:lnTo>
                            <a:pt x="41" y="0"/>
                          </a:lnTo>
                          <a:close/>
                        </a:path>
                      </a:pathLst>
                    </a:custGeom>
                    <a:solidFill>
                      <a:srgbClr val="0072C6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120" name="Freeform 8">
                      <a:extLst>
                        <a:ext uri="{FF2B5EF4-FFF2-40B4-BE49-F238E27FC236}">
                          <a16:creationId xmlns:a16="http://schemas.microsoft.com/office/drawing/2014/main" id="{98802EB3-7567-056A-D4BF-1240F7704FF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320696" y="4846841"/>
                      <a:ext cx="188580" cy="64198"/>
                    </a:xfrm>
                    <a:custGeom>
                      <a:avLst/>
                      <a:gdLst>
                        <a:gd name="T0" fmla="*/ 41 w 41"/>
                        <a:gd name="T1" fmla="*/ 0 h 14"/>
                        <a:gd name="T2" fmla="*/ 6 w 41"/>
                        <a:gd name="T3" fmla="*/ 0 h 14"/>
                        <a:gd name="T4" fmla="*/ 0 w 41"/>
                        <a:gd name="T5" fmla="*/ 7 h 14"/>
                        <a:gd name="T6" fmla="*/ 6 w 41"/>
                        <a:gd name="T7" fmla="*/ 14 h 14"/>
                        <a:gd name="T8" fmla="*/ 41 w 41"/>
                        <a:gd name="T9" fmla="*/ 14 h 14"/>
                        <a:gd name="T10" fmla="*/ 41 w 41"/>
                        <a:gd name="T11" fmla="*/ 0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1" h="14">
                          <a:moveTo>
                            <a:pt x="41" y="0"/>
                          </a:move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3" y="0"/>
                            <a:pt x="0" y="3"/>
                            <a:pt x="0" y="7"/>
                          </a:cubicBezTo>
                          <a:cubicBezTo>
                            <a:pt x="0" y="11"/>
                            <a:pt x="3" y="14"/>
                            <a:pt x="6" y="14"/>
                          </a:cubicBezTo>
                          <a:cubicBezTo>
                            <a:pt x="41" y="14"/>
                            <a:pt x="41" y="14"/>
                            <a:pt x="41" y="14"/>
                          </a:cubicBezTo>
                          <a:lnTo>
                            <a:pt x="41" y="0"/>
                          </a:lnTo>
                          <a:close/>
                        </a:path>
                      </a:pathLst>
                    </a:custGeom>
                    <a:solidFill>
                      <a:srgbClr val="0072C6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121" name="Freeform 8">
                      <a:extLst>
                        <a:ext uri="{FF2B5EF4-FFF2-40B4-BE49-F238E27FC236}">
                          <a16:creationId xmlns:a16="http://schemas.microsoft.com/office/drawing/2014/main" id="{B832D4D2-945F-6AA4-5568-0C09AEFC784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320696" y="5017519"/>
                      <a:ext cx="188580" cy="64198"/>
                    </a:xfrm>
                    <a:custGeom>
                      <a:avLst/>
                      <a:gdLst>
                        <a:gd name="T0" fmla="*/ 41 w 41"/>
                        <a:gd name="T1" fmla="*/ 0 h 14"/>
                        <a:gd name="T2" fmla="*/ 6 w 41"/>
                        <a:gd name="T3" fmla="*/ 0 h 14"/>
                        <a:gd name="T4" fmla="*/ 0 w 41"/>
                        <a:gd name="T5" fmla="*/ 7 h 14"/>
                        <a:gd name="T6" fmla="*/ 6 w 41"/>
                        <a:gd name="T7" fmla="*/ 14 h 14"/>
                        <a:gd name="T8" fmla="*/ 41 w 41"/>
                        <a:gd name="T9" fmla="*/ 14 h 14"/>
                        <a:gd name="T10" fmla="*/ 41 w 41"/>
                        <a:gd name="T11" fmla="*/ 0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1" h="14">
                          <a:moveTo>
                            <a:pt x="41" y="0"/>
                          </a:move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3" y="0"/>
                            <a:pt x="0" y="3"/>
                            <a:pt x="0" y="7"/>
                          </a:cubicBezTo>
                          <a:cubicBezTo>
                            <a:pt x="0" y="11"/>
                            <a:pt x="3" y="14"/>
                            <a:pt x="6" y="14"/>
                          </a:cubicBezTo>
                          <a:cubicBezTo>
                            <a:pt x="41" y="14"/>
                            <a:pt x="41" y="14"/>
                            <a:pt x="41" y="14"/>
                          </a:cubicBezTo>
                          <a:lnTo>
                            <a:pt x="41" y="0"/>
                          </a:lnTo>
                          <a:close/>
                        </a:path>
                      </a:pathLst>
                    </a:custGeom>
                    <a:solidFill>
                      <a:srgbClr val="0072C6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122" name="Freeform 8">
                      <a:extLst>
                        <a:ext uri="{FF2B5EF4-FFF2-40B4-BE49-F238E27FC236}">
                          <a16:creationId xmlns:a16="http://schemas.microsoft.com/office/drawing/2014/main" id="{26C69FAE-85A9-5656-0723-D8405D0DF44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320696" y="5207178"/>
                      <a:ext cx="188580" cy="64198"/>
                    </a:xfrm>
                    <a:custGeom>
                      <a:avLst/>
                      <a:gdLst>
                        <a:gd name="T0" fmla="*/ 41 w 41"/>
                        <a:gd name="T1" fmla="*/ 0 h 14"/>
                        <a:gd name="T2" fmla="*/ 6 w 41"/>
                        <a:gd name="T3" fmla="*/ 0 h 14"/>
                        <a:gd name="T4" fmla="*/ 0 w 41"/>
                        <a:gd name="T5" fmla="*/ 7 h 14"/>
                        <a:gd name="T6" fmla="*/ 6 w 41"/>
                        <a:gd name="T7" fmla="*/ 14 h 14"/>
                        <a:gd name="T8" fmla="*/ 41 w 41"/>
                        <a:gd name="T9" fmla="*/ 14 h 14"/>
                        <a:gd name="T10" fmla="*/ 41 w 41"/>
                        <a:gd name="T11" fmla="*/ 0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1" h="14">
                          <a:moveTo>
                            <a:pt x="41" y="0"/>
                          </a:move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3" y="0"/>
                            <a:pt x="0" y="3"/>
                            <a:pt x="0" y="7"/>
                          </a:cubicBezTo>
                          <a:cubicBezTo>
                            <a:pt x="0" y="11"/>
                            <a:pt x="3" y="14"/>
                            <a:pt x="6" y="14"/>
                          </a:cubicBezTo>
                          <a:cubicBezTo>
                            <a:pt x="41" y="14"/>
                            <a:pt x="41" y="14"/>
                            <a:pt x="41" y="14"/>
                          </a:cubicBezTo>
                          <a:lnTo>
                            <a:pt x="41" y="0"/>
                          </a:lnTo>
                          <a:close/>
                        </a:path>
                      </a:pathLst>
                    </a:custGeom>
                    <a:solidFill>
                      <a:srgbClr val="0072C6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123" name="Freeform 8">
                      <a:extLst>
                        <a:ext uri="{FF2B5EF4-FFF2-40B4-BE49-F238E27FC236}">
                          <a16:creationId xmlns:a16="http://schemas.microsoft.com/office/drawing/2014/main" id="{7A0D8C5F-D6D1-1EE7-8F6E-260EA1B6073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317062" y="5384981"/>
                      <a:ext cx="188580" cy="64198"/>
                    </a:xfrm>
                    <a:custGeom>
                      <a:avLst/>
                      <a:gdLst>
                        <a:gd name="T0" fmla="*/ 41 w 41"/>
                        <a:gd name="T1" fmla="*/ 0 h 14"/>
                        <a:gd name="T2" fmla="*/ 6 w 41"/>
                        <a:gd name="T3" fmla="*/ 0 h 14"/>
                        <a:gd name="T4" fmla="*/ 0 w 41"/>
                        <a:gd name="T5" fmla="*/ 7 h 14"/>
                        <a:gd name="T6" fmla="*/ 6 w 41"/>
                        <a:gd name="T7" fmla="*/ 14 h 14"/>
                        <a:gd name="T8" fmla="*/ 41 w 41"/>
                        <a:gd name="T9" fmla="*/ 14 h 14"/>
                        <a:gd name="T10" fmla="*/ 41 w 41"/>
                        <a:gd name="T11" fmla="*/ 0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1" h="14">
                          <a:moveTo>
                            <a:pt x="41" y="0"/>
                          </a:move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3" y="0"/>
                            <a:pt x="0" y="3"/>
                            <a:pt x="0" y="7"/>
                          </a:cubicBezTo>
                          <a:cubicBezTo>
                            <a:pt x="0" y="11"/>
                            <a:pt x="3" y="14"/>
                            <a:pt x="6" y="14"/>
                          </a:cubicBezTo>
                          <a:cubicBezTo>
                            <a:pt x="41" y="14"/>
                            <a:pt x="41" y="14"/>
                            <a:pt x="41" y="14"/>
                          </a:cubicBezTo>
                          <a:lnTo>
                            <a:pt x="41" y="0"/>
                          </a:lnTo>
                          <a:close/>
                        </a:path>
                      </a:pathLst>
                    </a:custGeom>
                    <a:solidFill>
                      <a:srgbClr val="0072C6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124" name="Freeform 8">
                      <a:extLst>
                        <a:ext uri="{FF2B5EF4-FFF2-40B4-BE49-F238E27FC236}">
                          <a16:creationId xmlns:a16="http://schemas.microsoft.com/office/drawing/2014/main" id="{A40280FC-1D42-9EB7-EB86-C16E17DFB0C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320696" y="5553271"/>
                      <a:ext cx="188580" cy="64198"/>
                    </a:xfrm>
                    <a:custGeom>
                      <a:avLst/>
                      <a:gdLst>
                        <a:gd name="T0" fmla="*/ 41 w 41"/>
                        <a:gd name="T1" fmla="*/ 0 h 14"/>
                        <a:gd name="T2" fmla="*/ 6 w 41"/>
                        <a:gd name="T3" fmla="*/ 0 h 14"/>
                        <a:gd name="T4" fmla="*/ 0 w 41"/>
                        <a:gd name="T5" fmla="*/ 7 h 14"/>
                        <a:gd name="T6" fmla="*/ 6 w 41"/>
                        <a:gd name="T7" fmla="*/ 14 h 14"/>
                        <a:gd name="T8" fmla="*/ 41 w 41"/>
                        <a:gd name="T9" fmla="*/ 14 h 14"/>
                        <a:gd name="T10" fmla="*/ 41 w 41"/>
                        <a:gd name="T11" fmla="*/ 0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1" h="14">
                          <a:moveTo>
                            <a:pt x="41" y="0"/>
                          </a:move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3" y="0"/>
                            <a:pt x="0" y="3"/>
                            <a:pt x="0" y="7"/>
                          </a:cubicBezTo>
                          <a:cubicBezTo>
                            <a:pt x="0" y="11"/>
                            <a:pt x="3" y="14"/>
                            <a:pt x="6" y="14"/>
                          </a:cubicBezTo>
                          <a:cubicBezTo>
                            <a:pt x="41" y="14"/>
                            <a:pt x="41" y="14"/>
                            <a:pt x="41" y="14"/>
                          </a:cubicBezTo>
                          <a:lnTo>
                            <a:pt x="41" y="0"/>
                          </a:lnTo>
                          <a:close/>
                        </a:path>
                      </a:pathLst>
                    </a:custGeom>
                    <a:solidFill>
                      <a:srgbClr val="0072C6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</a:endParaRPr>
                    </a:p>
                  </p:txBody>
                </p:sp>
              </p:grpSp>
              <p:sp>
                <p:nvSpPr>
                  <p:cNvPr id="114" name="Rectangle 113">
                    <a:extLst>
                      <a:ext uri="{FF2B5EF4-FFF2-40B4-BE49-F238E27FC236}">
                        <a16:creationId xmlns:a16="http://schemas.microsoft.com/office/drawing/2014/main" id="{DD131BB4-9646-D0CB-8E5B-2F901308D5E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689300" y="4605702"/>
                    <a:ext cx="855274" cy="177206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932472" eaLnBrk="1" fontAlgn="base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ffectLst/>
                      <a:uLnTx/>
                      <a:uFillTx/>
                      <a:latin typeface="Calibri" panose="020F0502020204030204"/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</p:grpSp>
            <p:sp>
              <p:nvSpPr>
                <p:cNvPr id="110" name="Rectangle 42">
                  <a:extLst>
                    <a:ext uri="{FF2B5EF4-FFF2-40B4-BE49-F238E27FC236}">
                      <a16:creationId xmlns:a16="http://schemas.microsoft.com/office/drawing/2014/main" id="{110DB50D-CDE6-BD61-1E69-D9DBFE85EF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73483" y="5413375"/>
                  <a:ext cx="626332" cy="9566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6350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111" name="Rectangle 42">
                  <a:extLst>
                    <a:ext uri="{FF2B5EF4-FFF2-40B4-BE49-F238E27FC236}">
                      <a16:creationId xmlns:a16="http://schemas.microsoft.com/office/drawing/2014/main" id="{F799C150-2076-6D6E-E083-21CC117024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73483" y="5549431"/>
                  <a:ext cx="626332" cy="9566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6350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112" name="Rectangle 42">
                  <a:extLst>
                    <a:ext uri="{FF2B5EF4-FFF2-40B4-BE49-F238E27FC236}">
                      <a16:creationId xmlns:a16="http://schemas.microsoft.com/office/drawing/2014/main" id="{8B959836-152A-3FAE-2ED6-F4BCAD17D9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81420" y="5683350"/>
                  <a:ext cx="626332" cy="9566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6350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7170E215-E237-56AE-04BC-0BC25134BB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67172" y="2098177"/>
                <a:ext cx="354359" cy="228857"/>
              </a:xfrm>
              <a:prstGeom prst="rect">
                <a:avLst/>
              </a:prstGeom>
            </p:spPr>
          </p:pic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428136FD-7B50-0810-7A54-D8F6B33399F4}"/>
                  </a:ext>
                </a:extLst>
              </p:cNvPr>
              <p:cNvSpPr/>
              <p:nvPr/>
            </p:nvSpPr>
            <p:spPr>
              <a:xfrm>
                <a:off x="8050267" y="2022363"/>
                <a:ext cx="5148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NIC</a:t>
                </a:r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9B62F3-C467-8DE8-80DA-C9180BCF736A}"/>
                </a:ext>
              </a:extLst>
            </p:cNvPr>
            <p:cNvSpPr/>
            <p:nvPr/>
          </p:nvSpPr>
          <p:spPr>
            <a:xfrm>
              <a:off x="1922507" y="4431655"/>
              <a:ext cx="84709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/>
              <a:r>
                <a:rPr lang="en-US" dirty="0">
                  <a:solidFill>
                    <a:prstClr val="black"/>
                  </a:solidFill>
                  <a:latin typeface="Calibri" panose="020F0502020204030204"/>
                </a:rPr>
                <a:t>Subnet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B879920-1897-A977-DDB6-FCF75ADEE976}"/>
                </a:ext>
              </a:extLst>
            </p:cNvPr>
            <p:cNvSpPr/>
            <p:nvPr/>
          </p:nvSpPr>
          <p:spPr>
            <a:xfrm>
              <a:off x="1438934" y="3944066"/>
              <a:ext cx="16737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/>
              <a:r>
                <a:rPr lang="en-US" dirty="0">
                  <a:solidFill>
                    <a:prstClr val="black"/>
                  </a:solidFill>
                  <a:latin typeface="Calibri" panose="020F0502020204030204"/>
                </a:rPr>
                <a:t>Virtual Network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712866D-7DBD-7548-85EE-3214CC1B7727}"/>
                </a:ext>
              </a:extLst>
            </p:cNvPr>
            <p:cNvGrpSpPr/>
            <p:nvPr/>
          </p:nvGrpSpPr>
          <p:grpSpPr>
            <a:xfrm>
              <a:off x="2434521" y="4841746"/>
              <a:ext cx="1002118" cy="798085"/>
              <a:chOff x="7563034" y="1853676"/>
              <a:chExt cx="1002118" cy="798085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9B65C44-D7F2-4EE7-B0AC-2ED2C8E5486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563034" y="1853676"/>
                <a:ext cx="416425" cy="798085"/>
                <a:chOff x="9191145" y="3741535"/>
                <a:chExt cx="774393" cy="2092980"/>
              </a:xfrm>
            </p:grpSpPr>
            <p:grpSp>
              <p:nvGrpSpPr>
                <p:cNvPr id="72" name="Group 71">
                  <a:extLst>
                    <a:ext uri="{FF2B5EF4-FFF2-40B4-BE49-F238E27FC236}">
                      <a16:creationId xmlns:a16="http://schemas.microsoft.com/office/drawing/2014/main" id="{88B3074A-A21C-5D98-5DDE-FA5A740320B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9191145" y="3741535"/>
                  <a:ext cx="774393" cy="2092980"/>
                  <a:chOff x="6576174" y="3760259"/>
                  <a:chExt cx="1081539" cy="2764684"/>
                </a:xfrm>
              </p:grpSpPr>
              <p:grpSp>
                <p:nvGrpSpPr>
                  <p:cNvPr id="76" name="Group 75">
                    <a:extLst>
                      <a:ext uri="{FF2B5EF4-FFF2-40B4-BE49-F238E27FC236}">
                        <a16:creationId xmlns:a16="http://schemas.microsoft.com/office/drawing/2014/main" id="{F3F0D8C5-7659-05DF-BFB3-AE0ACC89797B}"/>
                      </a:ext>
                    </a:extLst>
                  </p:cNvPr>
                  <p:cNvGrpSpPr/>
                  <p:nvPr/>
                </p:nvGrpSpPr>
                <p:grpSpPr>
                  <a:xfrm>
                    <a:off x="6576174" y="3760259"/>
                    <a:ext cx="1081539" cy="2764684"/>
                    <a:chOff x="6576174" y="3760259"/>
                    <a:chExt cx="1081539" cy="2764684"/>
                  </a:xfrm>
                </p:grpSpPr>
                <p:grpSp>
                  <p:nvGrpSpPr>
                    <p:cNvPr id="78" name="Group 77">
                      <a:extLst>
                        <a:ext uri="{FF2B5EF4-FFF2-40B4-BE49-F238E27FC236}">
                          <a16:creationId xmlns:a16="http://schemas.microsoft.com/office/drawing/2014/main" id="{D04D362C-3094-48E7-8E92-DC96DEC9EC1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576174" y="3760259"/>
                      <a:ext cx="1081539" cy="2764684"/>
                      <a:chOff x="5365826" y="3709999"/>
                      <a:chExt cx="1074023" cy="2853208"/>
                    </a:xfrm>
                  </p:grpSpPr>
                  <p:sp>
                    <p:nvSpPr>
                      <p:cNvPr id="88" name="Rectangle 87">
                        <a:extLst>
                          <a:ext uri="{FF2B5EF4-FFF2-40B4-BE49-F238E27FC236}">
                            <a16:creationId xmlns:a16="http://schemas.microsoft.com/office/drawing/2014/main" id="{16054793-BCED-91AD-3C92-93407AE6CF37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365826" y="3709999"/>
                        <a:ext cx="1074023" cy="2853208"/>
                      </a:xfrm>
                      <a:prstGeom prst="rect">
                        <a:avLst/>
                      </a:prstGeom>
                      <a:solidFill>
                        <a:srgbClr val="FFFFFF">
                          <a:alpha val="69804"/>
                        </a:srgbClr>
                      </a:solidFill>
                      <a:ln w="12700" cap="flat" cmpd="sng" algn="ctr">
                        <a:solidFill>
                          <a:sysClr val="windowText" lastClr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lvl="0" indent="0" algn="ctr" defTabSz="932472" eaLnBrk="1" fontAlgn="base" latinLnBrk="0" hangingPunct="1">
                          <a:lnSpc>
                            <a:spcPct val="9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4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rgbClr val="FFFFFF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Calibri" panose="020F0502020204030204"/>
                          <a:ea typeface="Segoe UI" pitchFamily="34" charset="0"/>
                          <a:cs typeface="Segoe UI" pitchFamily="34" charset="0"/>
                        </a:endParaRPr>
                      </a:p>
                    </p:txBody>
                  </p:sp>
                  <p:sp>
                    <p:nvSpPr>
                      <p:cNvPr id="89" name="Rectangle 88">
                        <a:extLst>
                          <a:ext uri="{FF2B5EF4-FFF2-40B4-BE49-F238E27FC236}">
                            <a16:creationId xmlns:a16="http://schemas.microsoft.com/office/drawing/2014/main" id="{6E13DE3B-D274-1CBE-858E-FCB5BDC261E1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478169" y="4034937"/>
                        <a:ext cx="849330" cy="182880"/>
                      </a:xfrm>
                      <a:prstGeom prst="rect">
                        <a:avLst/>
                      </a:prstGeom>
                      <a:noFill/>
                      <a:ln w="9525" cap="flat" cmpd="sng" algn="ctr">
                        <a:solidFill>
                          <a:sysClr val="windowText" lastClr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lvl="0" indent="0" algn="ctr" defTabSz="932472" eaLnBrk="1" fontAlgn="base" latinLnBrk="0" hangingPunct="1">
                          <a:lnSpc>
                            <a:spcPct val="9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4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rgbClr val="FFFFFF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Calibri" panose="020F0502020204030204"/>
                          <a:ea typeface="Segoe UI" pitchFamily="34" charset="0"/>
                          <a:cs typeface="Segoe UI" pitchFamily="34" charset="0"/>
                        </a:endParaRPr>
                      </a:p>
                    </p:txBody>
                  </p:sp>
                  <p:sp>
                    <p:nvSpPr>
                      <p:cNvPr id="90" name="Rectangle 89">
                        <a:extLst>
                          <a:ext uri="{FF2B5EF4-FFF2-40B4-BE49-F238E27FC236}">
                            <a16:creationId xmlns:a16="http://schemas.microsoft.com/office/drawing/2014/main" id="{0C035A0E-F31A-C012-F868-612DF73F74E2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478170" y="4215859"/>
                        <a:ext cx="849331" cy="182880"/>
                      </a:xfrm>
                      <a:prstGeom prst="rect">
                        <a:avLst/>
                      </a:prstGeom>
                      <a:noFill/>
                      <a:ln w="9525" cap="flat" cmpd="sng" algn="ctr">
                        <a:solidFill>
                          <a:sysClr val="windowText" lastClr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lvl="0" indent="0" algn="ctr" defTabSz="932472" eaLnBrk="1" fontAlgn="base" latinLnBrk="0" hangingPunct="1">
                          <a:lnSpc>
                            <a:spcPct val="9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2400" b="0" i="0" u="none" strike="noStrike" kern="0" cap="none" spc="0" normalizeH="0" baseline="0" noProof="0" dirty="0">
                            <a:ln>
                              <a:noFill/>
                            </a:ln>
                            <a:gradFill>
                              <a:gsLst>
                                <a:gs pos="0">
                                  <a:srgbClr val="FFFFFF"/>
                                </a:gs>
                                <a:gs pos="100000">
                                  <a:srgbClr val="FFFFFF"/>
                                </a:gs>
                              </a:gsLst>
                              <a:lin ang="5400000" scaled="0"/>
                            </a:gradFill>
                            <a:effectLst/>
                            <a:uLnTx/>
                            <a:uFillTx/>
                            <a:latin typeface="Calibri" panose="020F0502020204030204"/>
                            <a:ea typeface="Segoe UI" pitchFamily="34" charset="0"/>
                            <a:cs typeface="Segoe UI" pitchFamily="34" charset="0"/>
                          </a:rPr>
                          <a:t> </a:t>
                        </a:r>
                      </a:p>
                    </p:txBody>
                  </p:sp>
                  <p:sp>
                    <p:nvSpPr>
                      <p:cNvPr id="91" name="Rectangle 90">
                        <a:extLst>
                          <a:ext uri="{FF2B5EF4-FFF2-40B4-BE49-F238E27FC236}">
                            <a16:creationId xmlns:a16="http://schemas.microsoft.com/office/drawing/2014/main" id="{D190A3DA-210C-4B00-911F-9C934A564F2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478170" y="4398739"/>
                        <a:ext cx="849331" cy="182880"/>
                      </a:xfrm>
                      <a:prstGeom prst="rect">
                        <a:avLst/>
                      </a:prstGeom>
                      <a:noFill/>
                      <a:ln w="9525" cap="flat" cmpd="sng" algn="ctr">
                        <a:solidFill>
                          <a:sysClr val="windowText" lastClr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lvl="0" indent="0" algn="ctr" defTabSz="932472" eaLnBrk="1" fontAlgn="base" latinLnBrk="0" hangingPunct="1">
                          <a:lnSpc>
                            <a:spcPct val="9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4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rgbClr val="FFFFFF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Calibri" panose="020F0502020204030204"/>
                          <a:ea typeface="Segoe UI" pitchFamily="34" charset="0"/>
                          <a:cs typeface="Segoe UI" pitchFamily="34" charset="0"/>
                        </a:endParaRPr>
                      </a:p>
                    </p:txBody>
                  </p:sp>
                  <p:sp>
                    <p:nvSpPr>
                      <p:cNvPr id="92" name="Rectangle 91">
                        <a:extLst>
                          <a:ext uri="{FF2B5EF4-FFF2-40B4-BE49-F238E27FC236}">
                            <a16:creationId xmlns:a16="http://schemas.microsoft.com/office/drawing/2014/main" id="{2252399F-3C04-534F-4919-96211B794378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478170" y="4764122"/>
                        <a:ext cx="849331" cy="182880"/>
                      </a:xfrm>
                      <a:prstGeom prst="rect">
                        <a:avLst/>
                      </a:prstGeom>
                      <a:noFill/>
                      <a:ln w="9525" cap="flat" cmpd="sng" algn="ctr">
                        <a:solidFill>
                          <a:sysClr val="windowText" lastClr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lvl="0" indent="0" algn="ctr" defTabSz="932472" eaLnBrk="1" fontAlgn="base" latinLnBrk="0" hangingPunct="1">
                          <a:lnSpc>
                            <a:spcPct val="9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4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rgbClr val="FFFFFF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Calibri" panose="020F0502020204030204"/>
                          <a:ea typeface="Segoe UI" pitchFamily="34" charset="0"/>
                          <a:cs typeface="Segoe UI" pitchFamily="34" charset="0"/>
                        </a:endParaRPr>
                      </a:p>
                    </p:txBody>
                  </p:sp>
                  <p:sp>
                    <p:nvSpPr>
                      <p:cNvPr id="93" name="Rectangle 92">
                        <a:extLst>
                          <a:ext uri="{FF2B5EF4-FFF2-40B4-BE49-F238E27FC236}">
                            <a16:creationId xmlns:a16="http://schemas.microsoft.com/office/drawing/2014/main" id="{3F059D26-6ED6-F23F-DAEE-15F177386AC9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478171" y="4947002"/>
                        <a:ext cx="849330" cy="182880"/>
                      </a:xfrm>
                      <a:prstGeom prst="rect">
                        <a:avLst/>
                      </a:prstGeom>
                      <a:noFill/>
                      <a:ln w="9525" cap="flat" cmpd="sng" algn="ctr">
                        <a:solidFill>
                          <a:sysClr val="windowText" lastClr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lvl="0" indent="0" algn="ctr" defTabSz="932472" eaLnBrk="1" fontAlgn="base" latinLnBrk="0" hangingPunct="1">
                          <a:lnSpc>
                            <a:spcPct val="9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4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rgbClr val="FFFFFF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Calibri" panose="020F0502020204030204"/>
                          <a:ea typeface="Segoe UI" pitchFamily="34" charset="0"/>
                          <a:cs typeface="Segoe UI" pitchFamily="34" charset="0"/>
                        </a:endParaRPr>
                      </a:p>
                    </p:txBody>
                  </p:sp>
                  <p:sp>
                    <p:nvSpPr>
                      <p:cNvPr id="94" name="Rectangle 93">
                        <a:extLst>
                          <a:ext uri="{FF2B5EF4-FFF2-40B4-BE49-F238E27FC236}">
                            <a16:creationId xmlns:a16="http://schemas.microsoft.com/office/drawing/2014/main" id="{39F85CC1-CA3E-4261-560C-C66AB7B3AA72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478171" y="5131673"/>
                        <a:ext cx="849331" cy="182880"/>
                      </a:xfrm>
                      <a:prstGeom prst="rect">
                        <a:avLst/>
                      </a:prstGeom>
                      <a:noFill/>
                      <a:ln w="9525" cap="flat" cmpd="sng" algn="ctr">
                        <a:solidFill>
                          <a:sysClr val="windowText" lastClr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lvl="0" indent="0" algn="ctr" defTabSz="932472" eaLnBrk="1" fontAlgn="base" latinLnBrk="0" hangingPunct="1">
                          <a:lnSpc>
                            <a:spcPct val="9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2400" b="0" i="0" u="none" strike="noStrike" kern="0" cap="none" spc="0" normalizeH="0" baseline="0" noProof="0" dirty="0">
                            <a:ln>
                              <a:noFill/>
                            </a:ln>
                            <a:gradFill>
                              <a:gsLst>
                                <a:gs pos="0">
                                  <a:srgbClr val="FFFFFF"/>
                                </a:gs>
                                <a:gs pos="100000">
                                  <a:srgbClr val="FFFFFF"/>
                                </a:gs>
                              </a:gsLst>
                              <a:lin ang="5400000" scaled="0"/>
                            </a:gradFill>
                            <a:effectLst/>
                            <a:uLnTx/>
                            <a:uFillTx/>
                            <a:latin typeface="Calibri" panose="020F0502020204030204"/>
                            <a:ea typeface="Segoe UI" pitchFamily="34" charset="0"/>
                            <a:cs typeface="Segoe UI" pitchFamily="34" charset="0"/>
                          </a:rPr>
                          <a:t> </a:t>
                        </a:r>
                      </a:p>
                    </p:txBody>
                  </p:sp>
                  <p:sp>
                    <p:nvSpPr>
                      <p:cNvPr id="95" name="Rectangle 94">
                        <a:extLst>
                          <a:ext uri="{FF2B5EF4-FFF2-40B4-BE49-F238E27FC236}">
                            <a16:creationId xmlns:a16="http://schemas.microsoft.com/office/drawing/2014/main" id="{A2E4DADE-1478-CCAA-03CF-B4B6368E9F8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478171" y="5313426"/>
                        <a:ext cx="849331" cy="182880"/>
                      </a:xfrm>
                      <a:prstGeom prst="rect">
                        <a:avLst/>
                      </a:prstGeom>
                      <a:noFill/>
                      <a:ln w="9525" cap="flat" cmpd="sng" algn="ctr">
                        <a:solidFill>
                          <a:sysClr val="windowText" lastClr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lvl="0" indent="0" algn="ctr" defTabSz="932472" eaLnBrk="1" fontAlgn="base" latinLnBrk="0" hangingPunct="1">
                          <a:lnSpc>
                            <a:spcPct val="9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4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rgbClr val="FFFFFF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Calibri" panose="020F0502020204030204"/>
                          <a:ea typeface="Segoe UI" pitchFamily="34" charset="0"/>
                          <a:cs typeface="Segoe UI" pitchFamily="34" charset="0"/>
                        </a:endParaRPr>
                      </a:p>
                    </p:txBody>
                  </p:sp>
                  <p:sp>
                    <p:nvSpPr>
                      <p:cNvPr id="96" name="Rectangle 95">
                        <a:extLst>
                          <a:ext uri="{FF2B5EF4-FFF2-40B4-BE49-F238E27FC236}">
                            <a16:creationId xmlns:a16="http://schemas.microsoft.com/office/drawing/2014/main" id="{FB0F6B8C-0E08-6E1E-CD97-4ECDDAE1F3A9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478170" y="5496306"/>
                        <a:ext cx="849331" cy="182880"/>
                      </a:xfrm>
                      <a:prstGeom prst="rect">
                        <a:avLst/>
                      </a:prstGeom>
                      <a:noFill/>
                      <a:ln w="9525" cap="flat" cmpd="sng" algn="ctr">
                        <a:solidFill>
                          <a:sysClr val="windowText" lastClr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lvl="0" indent="0" algn="ctr" defTabSz="932472" eaLnBrk="1" fontAlgn="base" latinLnBrk="0" hangingPunct="1">
                          <a:lnSpc>
                            <a:spcPct val="9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4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rgbClr val="FFFFFF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Calibri" panose="020F0502020204030204"/>
                          <a:ea typeface="Segoe UI" pitchFamily="34" charset="0"/>
                          <a:cs typeface="Segoe UI" pitchFamily="34" charset="0"/>
                        </a:endParaRPr>
                      </a:p>
                    </p:txBody>
                  </p:sp>
                  <p:sp>
                    <p:nvSpPr>
                      <p:cNvPr id="97" name="Freeform 34">
                        <a:extLst>
                          <a:ext uri="{FF2B5EF4-FFF2-40B4-BE49-F238E27FC236}">
                            <a16:creationId xmlns:a16="http://schemas.microsoft.com/office/drawing/2014/main" id="{D33DD3A5-FE51-CF82-31BD-93A6D583C85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5478170" y="3943870"/>
                        <a:ext cx="299923" cy="14043"/>
                      </a:xfrm>
                      <a:custGeom>
                        <a:avLst/>
                        <a:gdLst>
                          <a:gd name="T0" fmla="*/ 64 w 65"/>
                          <a:gd name="T1" fmla="*/ 3 h 3"/>
                          <a:gd name="T2" fmla="*/ 2 w 65"/>
                          <a:gd name="T3" fmla="*/ 3 h 3"/>
                          <a:gd name="T4" fmla="*/ 0 w 65"/>
                          <a:gd name="T5" fmla="*/ 2 h 3"/>
                          <a:gd name="T6" fmla="*/ 2 w 65"/>
                          <a:gd name="T7" fmla="*/ 0 h 3"/>
                          <a:gd name="T8" fmla="*/ 64 w 65"/>
                          <a:gd name="T9" fmla="*/ 0 h 3"/>
                          <a:gd name="T10" fmla="*/ 65 w 65"/>
                          <a:gd name="T11" fmla="*/ 2 h 3"/>
                          <a:gd name="T12" fmla="*/ 64 w 65"/>
                          <a:gd name="T13" fmla="*/ 3 h 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65" h="3">
                            <a:moveTo>
                              <a:pt x="64" y="3"/>
                            </a:moveTo>
                            <a:cubicBezTo>
                              <a:pt x="2" y="3"/>
                              <a:pt x="2" y="3"/>
                              <a:pt x="2" y="3"/>
                            </a:cubicBezTo>
                            <a:cubicBezTo>
                              <a:pt x="1" y="3"/>
                              <a:pt x="0" y="2"/>
                              <a:pt x="0" y="2"/>
                            </a:cubicBezTo>
                            <a:cubicBezTo>
                              <a:pt x="0" y="1"/>
                              <a:pt x="1" y="0"/>
                              <a:pt x="2" y="0"/>
                            </a:cubicBezTo>
                            <a:cubicBezTo>
                              <a:pt x="64" y="0"/>
                              <a:pt x="64" y="0"/>
                              <a:pt x="64" y="0"/>
                            </a:cubicBezTo>
                            <a:cubicBezTo>
                              <a:pt x="65" y="0"/>
                              <a:pt x="65" y="1"/>
                              <a:pt x="65" y="2"/>
                            </a:cubicBezTo>
                            <a:cubicBezTo>
                              <a:pt x="65" y="2"/>
                              <a:pt x="65" y="3"/>
                              <a:pt x="64" y="3"/>
                            </a:cubicBezTo>
                            <a:close/>
                          </a:path>
                        </a:pathLst>
                      </a:custGeom>
                      <a:solidFill>
                        <a:sysClr val="window" lastClr="FFFFFF">
                          <a:lumMod val="75000"/>
                        </a:sysClr>
                      </a:solidFill>
                      <a:ln w="6350">
                        <a:noFill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98" name="Freeform 35">
                        <a:extLst>
                          <a:ext uri="{FF2B5EF4-FFF2-40B4-BE49-F238E27FC236}">
                            <a16:creationId xmlns:a16="http://schemas.microsoft.com/office/drawing/2014/main" id="{6AF36EBE-1819-E6BA-C7D7-5F17FC6B982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5478170" y="3906755"/>
                        <a:ext cx="299923" cy="14043"/>
                      </a:xfrm>
                      <a:custGeom>
                        <a:avLst/>
                        <a:gdLst>
                          <a:gd name="T0" fmla="*/ 64 w 65"/>
                          <a:gd name="T1" fmla="*/ 3 h 3"/>
                          <a:gd name="T2" fmla="*/ 2 w 65"/>
                          <a:gd name="T3" fmla="*/ 3 h 3"/>
                          <a:gd name="T4" fmla="*/ 0 w 65"/>
                          <a:gd name="T5" fmla="*/ 2 h 3"/>
                          <a:gd name="T6" fmla="*/ 2 w 65"/>
                          <a:gd name="T7" fmla="*/ 0 h 3"/>
                          <a:gd name="T8" fmla="*/ 64 w 65"/>
                          <a:gd name="T9" fmla="*/ 0 h 3"/>
                          <a:gd name="T10" fmla="*/ 65 w 65"/>
                          <a:gd name="T11" fmla="*/ 2 h 3"/>
                          <a:gd name="T12" fmla="*/ 64 w 65"/>
                          <a:gd name="T13" fmla="*/ 3 h 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65" h="3">
                            <a:moveTo>
                              <a:pt x="64" y="3"/>
                            </a:moveTo>
                            <a:cubicBezTo>
                              <a:pt x="2" y="3"/>
                              <a:pt x="2" y="3"/>
                              <a:pt x="2" y="3"/>
                            </a:cubicBezTo>
                            <a:cubicBezTo>
                              <a:pt x="1" y="3"/>
                              <a:pt x="0" y="2"/>
                              <a:pt x="0" y="2"/>
                            </a:cubicBezTo>
                            <a:cubicBezTo>
                              <a:pt x="0" y="1"/>
                              <a:pt x="1" y="0"/>
                              <a:pt x="2" y="0"/>
                            </a:cubicBezTo>
                            <a:cubicBezTo>
                              <a:pt x="64" y="0"/>
                              <a:pt x="64" y="0"/>
                              <a:pt x="64" y="0"/>
                            </a:cubicBezTo>
                            <a:cubicBezTo>
                              <a:pt x="65" y="0"/>
                              <a:pt x="65" y="1"/>
                              <a:pt x="65" y="2"/>
                            </a:cubicBezTo>
                            <a:cubicBezTo>
                              <a:pt x="65" y="2"/>
                              <a:pt x="65" y="3"/>
                              <a:pt x="64" y="3"/>
                            </a:cubicBezTo>
                            <a:close/>
                          </a:path>
                        </a:pathLst>
                      </a:custGeom>
                      <a:solidFill>
                        <a:sysClr val="window" lastClr="FFFFFF">
                          <a:lumMod val="75000"/>
                        </a:sysClr>
                      </a:solidFill>
                      <a:ln w="6350">
                        <a:noFill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99" name="Freeform 36">
                        <a:extLst>
                          <a:ext uri="{FF2B5EF4-FFF2-40B4-BE49-F238E27FC236}">
                            <a16:creationId xmlns:a16="http://schemas.microsoft.com/office/drawing/2014/main" id="{E02A06A4-F2C2-1281-E716-BA905A0C694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5478170" y="3870644"/>
                        <a:ext cx="299923" cy="14043"/>
                      </a:xfrm>
                      <a:custGeom>
                        <a:avLst/>
                        <a:gdLst>
                          <a:gd name="T0" fmla="*/ 64 w 65"/>
                          <a:gd name="T1" fmla="*/ 3 h 3"/>
                          <a:gd name="T2" fmla="*/ 2 w 65"/>
                          <a:gd name="T3" fmla="*/ 3 h 3"/>
                          <a:gd name="T4" fmla="*/ 0 w 65"/>
                          <a:gd name="T5" fmla="*/ 2 h 3"/>
                          <a:gd name="T6" fmla="*/ 2 w 65"/>
                          <a:gd name="T7" fmla="*/ 0 h 3"/>
                          <a:gd name="T8" fmla="*/ 64 w 65"/>
                          <a:gd name="T9" fmla="*/ 0 h 3"/>
                          <a:gd name="T10" fmla="*/ 65 w 65"/>
                          <a:gd name="T11" fmla="*/ 2 h 3"/>
                          <a:gd name="T12" fmla="*/ 64 w 65"/>
                          <a:gd name="T13" fmla="*/ 3 h 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65" h="3">
                            <a:moveTo>
                              <a:pt x="64" y="3"/>
                            </a:moveTo>
                            <a:cubicBezTo>
                              <a:pt x="2" y="3"/>
                              <a:pt x="2" y="3"/>
                              <a:pt x="2" y="3"/>
                            </a:cubicBezTo>
                            <a:cubicBezTo>
                              <a:pt x="1" y="3"/>
                              <a:pt x="0" y="2"/>
                              <a:pt x="0" y="2"/>
                            </a:cubicBezTo>
                            <a:cubicBezTo>
                              <a:pt x="0" y="1"/>
                              <a:pt x="1" y="0"/>
                              <a:pt x="2" y="0"/>
                            </a:cubicBezTo>
                            <a:cubicBezTo>
                              <a:pt x="64" y="0"/>
                              <a:pt x="64" y="0"/>
                              <a:pt x="64" y="0"/>
                            </a:cubicBezTo>
                            <a:cubicBezTo>
                              <a:pt x="65" y="0"/>
                              <a:pt x="65" y="1"/>
                              <a:pt x="65" y="2"/>
                            </a:cubicBezTo>
                            <a:cubicBezTo>
                              <a:pt x="65" y="2"/>
                              <a:pt x="65" y="3"/>
                              <a:pt x="64" y="3"/>
                            </a:cubicBezTo>
                            <a:close/>
                          </a:path>
                        </a:pathLst>
                      </a:custGeom>
                      <a:solidFill>
                        <a:sysClr val="window" lastClr="FFFFFF">
                          <a:lumMod val="75000"/>
                        </a:sysClr>
                      </a:solidFill>
                      <a:ln w="6350">
                        <a:noFill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100" name="Freeform 37">
                        <a:extLst>
                          <a:ext uri="{FF2B5EF4-FFF2-40B4-BE49-F238E27FC236}">
                            <a16:creationId xmlns:a16="http://schemas.microsoft.com/office/drawing/2014/main" id="{CFEC46C7-ACC3-917B-EE57-F7975E78D28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5478170" y="3834533"/>
                        <a:ext cx="299923" cy="13040"/>
                      </a:xfrm>
                      <a:custGeom>
                        <a:avLst/>
                        <a:gdLst>
                          <a:gd name="T0" fmla="*/ 64 w 65"/>
                          <a:gd name="T1" fmla="*/ 3 h 3"/>
                          <a:gd name="T2" fmla="*/ 2 w 65"/>
                          <a:gd name="T3" fmla="*/ 3 h 3"/>
                          <a:gd name="T4" fmla="*/ 0 w 65"/>
                          <a:gd name="T5" fmla="*/ 2 h 3"/>
                          <a:gd name="T6" fmla="*/ 2 w 65"/>
                          <a:gd name="T7" fmla="*/ 0 h 3"/>
                          <a:gd name="T8" fmla="*/ 64 w 65"/>
                          <a:gd name="T9" fmla="*/ 0 h 3"/>
                          <a:gd name="T10" fmla="*/ 65 w 65"/>
                          <a:gd name="T11" fmla="*/ 2 h 3"/>
                          <a:gd name="T12" fmla="*/ 64 w 65"/>
                          <a:gd name="T13" fmla="*/ 3 h 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65" h="3">
                            <a:moveTo>
                              <a:pt x="64" y="3"/>
                            </a:moveTo>
                            <a:cubicBezTo>
                              <a:pt x="2" y="3"/>
                              <a:pt x="2" y="3"/>
                              <a:pt x="2" y="3"/>
                            </a:cubicBezTo>
                            <a:cubicBezTo>
                              <a:pt x="1" y="3"/>
                              <a:pt x="0" y="2"/>
                              <a:pt x="0" y="2"/>
                            </a:cubicBezTo>
                            <a:cubicBezTo>
                              <a:pt x="0" y="1"/>
                              <a:pt x="1" y="0"/>
                              <a:pt x="2" y="0"/>
                            </a:cubicBezTo>
                            <a:cubicBezTo>
                              <a:pt x="64" y="0"/>
                              <a:pt x="64" y="0"/>
                              <a:pt x="64" y="0"/>
                            </a:cubicBezTo>
                            <a:cubicBezTo>
                              <a:pt x="65" y="0"/>
                              <a:pt x="65" y="1"/>
                              <a:pt x="65" y="2"/>
                            </a:cubicBezTo>
                            <a:cubicBezTo>
                              <a:pt x="65" y="2"/>
                              <a:pt x="65" y="3"/>
                              <a:pt x="64" y="3"/>
                            </a:cubicBezTo>
                            <a:close/>
                          </a:path>
                        </a:pathLst>
                      </a:custGeom>
                      <a:solidFill>
                        <a:sysClr val="window" lastClr="FFFFFF">
                          <a:lumMod val="75000"/>
                        </a:sysClr>
                      </a:solidFill>
                      <a:ln w="6350">
                        <a:noFill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101" name="Freeform 34">
                        <a:extLst>
                          <a:ext uri="{FF2B5EF4-FFF2-40B4-BE49-F238E27FC236}">
                            <a16:creationId xmlns:a16="http://schemas.microsoft.com/office/drawing/2014/main" id="{096356C6-37F3-DD2A-26E4-7CFB9CCD8FB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6027579" y="3943869"/>
                        <a:ext cx="299923" cy="14043"/>
                      </a:xfrm>
                      <a:custGeom>
                        <a:avLst/>
                        <a:gdLst>
                          <a:gd name="T0" fmla="*/ 64 w 65"/>
                          <a:gd name="T1" fmla="*/ 3 h 3"/>
                          <a:gd name="T2" fmla="*/ 2 w 65"/>
                          <a:gd name="T3" fmla="*/ 3 h 3"/>
                          <a:gd name="T4" fmla="*/ 0 w 65"/>
                          <a:gd name="T5" fmla="*/ 2 h 3"/>
                          <a:gd name="T6" fmla="*/ 2 w 65"/>
                          <a:gd name="T7" fmla="*/ 0 h 3"/>
                          <a:gd name="T8" fmla="*/ 64 w 65"/>
                          <a:gd name="T9" fmla="*/ 0 h 3"/>
                          <a:gd name="T10" fmla="*/ 65 w 65"/>
                          <a:gd name="T11" fmla="*/ 2 h 3"/>
                          <a:gd name="T12" fmla="*/ 64 w 65"/>
                          <a:gd name="T13" fmla="*/ 3 h 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65" h="3">
                            <a:moveTo>
                              <a:pt x="64" y="3"/>
                            </a:moveTo>
                            <a:cubicBezTo>
                              <a:pt x="2" y="3"/>
                              <a:pt x="2" y="3"/>
                              <a:pt x="2" y="3"/>
                            </a:cubicBezTo>
                            <a:cubicBezTo>
                              <a:pt x="1" y="3"/>
                              <a:pt x="0" y="2"/>
                              <a:pt x="0" y="2"/>
                            </a:cubicBezTo>
                            <a:cubicBezTo>
                              <a:pt x="0" y="1"/>
                              <a:pt x="1" y="0"/>
                              <a:pt x="2" y="0"/>
                            </a:cubicBezTo>
                            <a:cubicBezTo>
                              <a:pt x="64" y="0"/>
                              <a:pt x="64" y="0"/>
                              <a:pt x="64" y="0"/>
                            </a:cubicBezTo>
                            <a:cubicBezTo>
                              <a:pt x="65" y="0"/>
                              <a:pt x="65" y="1"/>
                              <a:pt x="65" y="2"/>
                            </a:cubicBezTo>
                            <a:cubicBezTo>
                              <a:pt x="65" y="2"/>
                              <a:pt x="65" y="3"/>
                              <a:pt x="64" y="3"/>
                            </a:cubicBezTo>
                            <a:close/>
                          </a:path>
                        </a:pathLst>
                      </a:custGeom>
                      <a:solidFill>
                        <a:sysClr val="window" lastClr="FFFFFF">
                          <a:lumMod val="75000"/>
                        </a:sysClr>
                      </a:solidFill>
                      <a:ln w="6350">
                        <a:noFill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102" name="Freeform 35">
                        <a:extLst>
                          <a:ext uri="{FF2B5EF4-FFF2-40B4-BE49-F238E27FC236}">
                            <a16:creationId xmlns:a16="http://schemas.microsoft.com/office/drawing/2014/main" id="{837AEE4C-E7C5-54DD-7A0A-F0DCB83ACD9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6027579" y="3906753"/>
                        <a:ext cx="299923" cy="14043"/>
                      </a:xfrm>
                      <a:custGeom>
                        <a:avLst/>
                        <a:gdLst>
                          <a:gd name="T0" fmla="*/ 64 w 65"/>
                          <a:gd name="T1" fmla="*/ 3 h 3"/>
                          <a:gd name="T2" fmla="*/ 2 w 65"/>
                          <a:gd name="T3" fmla="*/ 3 h 3"/>
                          <a:gd name="T4" fmla="*/ 0 w 65"/>
                          <a:gd name="T5" fmla="*/ 2 h 3"/>
                          <a:gd name="T6" fmla="*/ 2 w 65"/>
                          <a:gd name="T7" fmla="*/ 0 h 3"/>
                          <a:gd name="T8" fmla="*/ 64 w 65"/>
                          <a:gd name="T9" fmla="*/ 0 h 3"/>
                          <a:gd name="T10" fmla="*/ 65 w 65"/>
                          <a:gd name="T11" fmla="*/ 2 h 3"/>
                          <a:gd name="T12" fmla="*/ 64 w 65"/>
                          <a:gd name="T13" fmla="*/ 3 h 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65" h="3">
                            <a:moveTo>
                              <a:pt x="64" y="3"/>
                            </a:moveTo>
                            <a:cubicBezTo>
                              <a:pt x="2" y="3"/>
                              <a:pt x="2" y="3"/>
                              <a:pt x="2" y="3"/>
                            </a:cubicBezTo>
                            <a:cubicBezTo>
                              <a:pt x="1" y="3"/>
                              <a:pt x="0" y="2"/>
                              <a:pt x="0" y="2"/>
                            </a:cubicBezTo>
                            <a:cubicBezTo>
                              <a:pt x="0" y="1"/>
                              <a:pt x="1" y="0"/>
                              <a:pt x="2" y="0"/>
                            </a:cubicBezTo>
                            <a:cubicBezTo>
                              <a:pt x="64" y="0"/>
                              <a:pt x="64" y="0"/>
                              <a:pt x="64" y="0"/>
                            </a:cubicBezTo>
                            <a:cubicBezTo>
                              <a:pt x="65" y="0"/>
                              <a:pt x="65" y="1"/>
                              <a:pt x="65" y="2"/>
                            </a:cubicBezTo>
                            <a:cubicBezTo>
                              <a:pt x="65" y="2"/>
                              <a:pt x="65" y="3"/>
                              <a:pt x="64" y="3"/>
                            </a:cubicBezTo>
                            <a:close/>
                          </a:path>
                        </a:pathLst>
                      </a:custGeom>
                      <a:solidFill>
                        <a:sysClr val="window" lastClr="FFFFFF">
                          <a:lumMod val="75000"/>
                        </a:sysClr>
                      </a:solidFill>
                      <a:ln w="6350">
                        <a:noFill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103" name="Freeform 36">
                        <a:extLst>
                          <a:ext uri="{FF2B5EF4-FFF2-40B4-BE49-F238E27FC236}">
                            <a16:creationId xmlns:a16="http://schemas.microsoft.com/office/drawing/2014/main" id="{0A3875A4-4BF4-F037-EEDE-6FA522194DD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6027579" y="3870643"/>
                        <a:ext cx="299923" cy="14043"/>
                      </a:xfrm>
                      <a:custGeom>
                        <a:avLst/>
                        <a:gdLst>
                          <a:gd name="T0" fmla="*/ 64 w 65"/>
                          <a:gd name="T1" fmla="*/ 3 h 3"/>
                          <a:gd name="T2" fmla="*/ 2 w 65"/>
                          <a:gd name="T3" fmla="*/ 3 h 3"/>
                          <a:gd name="T4" fmla="*/ 0 w 65"/>
                          <a:gd name="T5" fmla="*/ 2 h 3"/>
                          <a:gd name="T6" fmla="*/ 2 w 65"/>
                          <a:gd name="T7" fmla="*/ 0 h 3"/>
                          <a:gd name="T8" fmla="*/ 64 w 65"/>
                          <a:gd name="T9" fmla="*/ 0 h 3"/>
                          <a:gd name="T10" fmla="*/ 65 w 65"/>
                          <a:gd name="T11" fmla="*/ 2 h 3"/>
                          <a:gd name="T12" fmla="*/ 64 w 65"/>
                          <a:gd name="T13" fmla="*/ 3 h 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65" h="3">
                            <a:moveTo>
                              <a:pt x="64" y="3"/>
                            </a:moveTo>
                            <a:cubicBezTo>
                              <a:pt x="2" y="3"/>
                              <a:pt x="2" y="3"/>
                              <a:pt x="2" y="3"/>
                            </a:cubicBezTo>
                            <a:cubicBezTo>
                              <a:pt x="1" y="3"/>
                              <a:pt x="0" y="2"/>
                              <a:pt x="0" y="2"/>
                            </a:cubicBezTo>
                            <a:cubicBezTo>
                              <a:pt x="0" y="1"/>
                              <a:pt x="1" y="0"/>
                              <a:pt x="2" y="0"/>
                            </a:cubicBezTo>
                            <a:cubicBezTo>
                              <a:pt x="64" y="0"/>
                              <a:pt x="64" y="0"/>
                              <a:pt x="64" y="0"/>
                            </a:cubicBezTo>
                            <a:cubicBezTo>
                              <a:pt x="65" y="0"/>
                              <a:pt x="65" y="1"/>
                              <a:pt x="65" y="2"/>
                            </a:cubicBezTo>
                            <a:cubicBezTo>
                              <a:pt x="65" y="2"/>
                              <a:pt x="65" y="3"/>
                              <a:pt x="64" y="3"/>
                            </a:cubicBezTo>
                            <a:close/>
                          </a:path>
                        </a:pathLst>
                      </a:custGeom>
                      <a:solidFill>
                        <a:sysClr val="window" lastClr="FFFFFF">
                          <a:lumMod val="75000"/>
                        </a:sysClr>
                      </a:solidFill>
                      <a:ln w="6350">
                        <a:noFill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104" name="Freeform 37">
                        <a:extLst>
                          <a:ext uri="{FF2B5EF4-FFF2-40B4-BE49-F238E27FC236}">
                            <a16:creationId xmlns:a16="http://schemas.microsoft.com/office/drawing/2014/main" id="{7F3E7C65-120E-AD4D-72E5-F71F05AD8AB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6027579" y="3834532"/>
                        <a:ext cx="299923" cy="13040"/>
                      </a:xfrm>
                      <a:custGeom>
                        <a:avLst/>
                        <a:gdLst>
                          <a:gd name="T0" fmla="*/ 64 w 65"/>
                          <a:gd name="T1" fmla="*/ 3 h 3"/>
                          <a:gd name="T2" fmla="*/ 2 w 65"/>
                          <a:gd name="T3" fmla="*/ 3 h 3"/>
                          <a:gd name="T4" fmla="*/ 0 w 65"/>
                          <a:gd name="T5" fmla="*/ 2 h 3"/>
                          <a:gd name="T6" fmla="*/ 2 w 65"/>
                          <a:gd name="T7" fmla="*/ 0 h 3"/>
                          <a:gd name="T8" fmla="*/ 64 w 65"/>
                          <a:gd name="T9" fmla="*/ 0 h 3"/>
                          <a:gd name="T10" fmla="*/ 65 w 65"/>
                          <a:gd name="T11" fmla="*/ 2 h 3"/>
                          <a:gd name="T12" fmla="*/ 64 w 65"/>
                          <a:gd name="T13" fmla="*/ 3 h 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65" h="3">
                            <a:moveTo>
                              <a:pt x="64" y="3"/>
                            </a:moveTo>
                            <a:cubicBezTo>
                              <a:pt x="2" y="3"/>
                              <a:pt x="2" y="3"/>
                              <a:pt x="2" y="3"/>
                            </a:cubicBezTo>
                            <a:cubicBezTo>
                              <a:pt x="1" y="3"/>
                              <a:pt x="0" y="2"/>
                              <a:pt x="0" y="2"/>
                            </a:cubicBezTo>
                            <a:cubicBezTo>
                              <a:pt x="0" y="1"/>
                              <a:pt x="1" y="0"/>
                              <a:pt x="2" y="0"/>
                            </a:cubicBezTo>
                            <a:cubicBezTo>
                              <a:pt x="64" y="0"/>
                              <a:pt x="64" y="0"/>
                              <a:pt x="64" y="0"/>
                            </a:cubicBezTo>
                            <a:cubicBezTo>
                              <a:pt x="65" y="0"/>
                              <a:pt x="65" y="1"/>
                              <a:pt x="65" y="2"/>
                            </a:cubicBezTo>
                            <a:cubicBezTo>
                              <a:pt x="65" y="2"/>
                              <a:pt x="65" y="3"/>
                              <a:pt x="64" y="3"/>
                            </a:cubicBezTo>
                            <a:close/>
                          </a:path>
                        </a:pathLst>
                      </a:custGeom>
                      <a:solidFill>
                        <a:sysClr val="window" lastClr="FFFFFF">
                          <a:lumMod val="75000"/>
                        </a:sysClr>
                      </a:solidFill>
                      <a:ln w="6350">
                        <a:noFill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105" name="Rectangle 42">
                        <a:extLst>
                          <a:ext uri="{FF2B5EF4-FFF2-40B4-BE49-F238E27FC236}">
                            <a16:creationId xmlns:a16="http://schemas.microsoft.com/office/drawing/2014/main" id="{C3C94057-DC20-A518-3A88-5621AD81ED5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480021" y="5797778"/>
                        <a:ext cx="868674" cy="13040"/>
                      </a:xfrm>
                      <a:prstGeom prst="rect">
                        <a:avLst/>
                      </a:prstGeom>
                      <a:solidFill>
                        <a:sysClr val="windowText" lastClr="000000"/>
                      </a:solidFill>
                      <a:ln w="6350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</a:endParaRPr>
                      </a:p>
                    </p:txBody>
                  </p:sp>
                </p:grpSp>
                <p:sp>
                  <p:nvSpPr>
                    <p:cNvPr id="79" name="Freeform 8">
                      <a:extLst>
                        <a:ext uri="{FF2B5EF4-FFF2-40B4-BE49-F238E27FC236}">
                          <a16:creationId xmlns:a16="http://schemas.microsoft.com/office/drawing/2014/main" id="{AA88FD39-69F7-1FA4-FF17-4635B053287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317062" y="4126258"/>
                      <a:ext cx="188580" cy="64198"/>
                    </a:xfrm>
                    <a:custGeom>
                      <a:avLst/>
                      <a:gdLst>
                        <a:gd name="T0" fmla="*/ 41 w 41"/>
                        <a:gd name="T1" fmla="*/ 0 h 14"/>
                        <a:gd name="T2" fmla="*/ 6 w 41"/>
                        <a:gd name="T3" fmla="*/ 0 h 14"/>
                        <a:gd name="T4" fmla="*/ 0 w 41"/>
                        <a:gd name="T5" fmla="*/ 7 h 14"/>
                        <a:gd name="T6" fmla="*/ 6 w 41"/>
                        <a:gd name="T7" fmla="*/ 14 h 14"/>
                        <a:gd name="T8" fmla="*/ 41 w 41"/>
                        <a:gd name="T9" fmla="*/ 14 h 14"/>
                        <a:gd name="T10" fmla="*/ 41 w 41"/>
                        <a:gd name="T11" fmla="*/ 0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1" h="14">
                          <a:moveTo>
                            <a:pt x="41" y="0"/>
                          </a:move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3" y="0"/>
                            <a:pt x="0" y="3"/>
                            <a:pt x="0" y="7"/>
                          </a:cubicBezTo>
                          <a:cubicBezTo>
                            <a:pt x="0" y="11"/>
                            <a:pt x="3" y="14"/>
                            <a:pt x="6" y="14"/>
                          </a:cubicBezTo>
                          <a:cubicBezTo>
                            <a:pt x="41" y="14"/>
                            <a:pt x="41" y="14"/>
                            <a:pt x="41" y="14"/>
                          </a:cubicBezTo>
                          <a:lnTo>
                            <a:pt x="41" y="0"/>
                          </a:lnTo>
                          <a:close/>
                        </a:path>
                      </a:pathLst>
                    </a:custGeom>
                    <a:solidFill>
                      <a:srgbClr val="0072C6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80" name="Freeform 8">
                      <a:extLst>
                        <a:ext uri="{FF2B5EF4-FFF2-40B4-BE49-F238E27FC236}">
                          <a16:creationId xmlns:a16="http://schemas.microsoft.com/office/drawing/2014/main" id="{1294DEF0-8261-ACF2-193B-FCEB4930617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317062" y="4304332"/>
                      <a:ext cx="188580" cy="64198"/>
                    </a:xfrm>
                    <a:custGeom>
                      <a:avLst/>
                      <a:gdLst>
                        <a:gd name="T0" fmla="*/ 41 w 41"/>
                        <a:gd name="T1" fmla="*/ 0 h 14"/>
                        <a:gd name="T2" fmla="*/ 6 w 41"/>
                        <a:gd name="T3" fmla="*/ 0 h 14"/>
                        <a:gd name="T4" fmla="*/ 0 w 41"/>
                        <a:gd name="T5" fmla="*/ 7 h 14"/>
                        <a:gd name="T6" fmla="*/ 6 w 41"/>
                        <a:gd name="T7" fmla="*/ 14 h 14"/>
                        <a:gd name="T8" fmla="*/ 41 w 41"/>
                        <a:gd name="T9" fmla="*/ 14 h 14"/>
                        <a:gd name="T10" fmla="*/ 41 w 41"/>
                        <a:gd name="T11" fmla="*/ 0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1" h="14">
                          <a:moveTo>
                            <a:pt x="41" y="0"/>
                          </a:move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3" y="0"/>
                            <a:pt x="0" y="3"/>
                            <a:pt x="0" y="7"/>
                          </a:cubicBezTo>
                          <a:cubicBezTo>
                            <a:pt x="0" y="11"/>
                            <a:pt x="3" y="14"/>
                            <a:pt x="6" y="14"/>
                          </a:cubicBezTo>
                          <a:cubicBezTo>
                            <a:pt x="41" y="14"/>
                            <a:pt x="41" y="14"/>
                            <a:pt x="41" y="14"/>
                          </a:cubicBezTo>
                          <a:lnTo>
                            <a:pt x="41" y="0"/>
                          </a:lnTo>
                          <a:close/>
                        </a:path>
                      </a:pathLst>
                    </a:custGeom>
                    <a:solidFill>
                      <a:srgbClr val="0072C6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81" name="Freeform 8">
                      <a:extLst>
                        <a:ext uri="{FF2B5EF4-FFF2-40B4-BE49-F238E27FC236}">
                          <a16:creationId xmlns:a16="http://schemas.microsoft.com/office/drawing/2014/main" id="{9B5F8141-3200-6DCC-5D43-F686448F778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317062" y="4490080"/>
                      <a:ext cx="188580" cy="64198"/>
                    </a:xfrm>
                    <a:custGeom>
                      <a:avLst/>
                      <a:gdLst>
                        <a:gd name="T0" fmla="*/ 41 w 41"/>
                        <a:gd name="T1" fmla="*/ 0 h 14"/>
                        <a:gd name="T2" fmla="*/ 6 w 41"/>
                        <a:gd name="T3" fmla="*/ 0 h 14"/>
                        <a:gd name="T4" fmla="*/ 0 w 41"/>
                        <a:gd name="T5" fmla="*/ 7 h 14"/>
                        <a:gd name="T6" fmla="*/ 6 w 41"/>
                        <a:gd name="T7" fmla="*/ 14 h 14"/>
                        <a:gd name="T8" fmla="*/ 41 w 41"/>
                        <a:gd name="T9" fmla="*/ 14 h 14"/>
                        <a:gd name="T10" fmla="*/ 41 w 41"/>
                        <a:gd name="T11" fmla="*/ 0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1" h="14">
                          <a:moveTo>
                            <a:pt x="41" y="0"/>
                          </a:move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3" y="0"/>
                            <a:pt x="0" y="3"/>
                            <a:pt x="0" y="7"/>
                          </a:cubicBezTo>
                          <a:cubicBezTo>
                            <a:pt x="0" y="11"/>
                            <a:pt x="3" y="14"/>
                            <a:pt x="6" y="14"/>
                          </a:cubicBezTo>
                          <a:cubicBezTo>
                            <a:pt x="41" y="14"/>
                            <a:pt x="41" y="14"/>
                            <a:pt x="41" y="14"/>
                          </a:cubicBezTo>
                          <a:lnTo>
                            <a:pt x="41" y="0"/>
                          </a:lnTo>
                          <a:close/>
                        </a:path>
                      </a:pathLst>
                    </a:custGeom>
                    <a:solidFill>
                      <a:srgbClr val="0072C6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82" name="Freeform 8">
                      <a:extLst>
                        <a:ext uri="{FF2B5EF4-FFF2-40B4-BE49-F238E27FC236}">
                          <a16:creationId xmlns:a16="http://schemas.microsoft.com/office/drawing/2014/main" id="{A0E3080B-96E6-C60B-3E43-94B8742167C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320696" y="4666368"/>
                      <a:ext cx="188580" cy="64198"/>
                    </a:xfrm>
                    <a:custGeom>
                      <a:avLst/>
                      <a:gdLst>
                        <a:gd name="T0" fmla="*/ 41 w 41"/>
                        <a:gd name="T1" fmla="*/ 0 h 14"/>
                        <a:gd name="T2" fmla="*/ 6 w 41"/>
                        <a:gd name="T3" fmla="*/ 0 h 14"/>
                        <a:gd name="T4" fmla="*/ 0 w 41"/>
                        <a:gd name="T5" fmla="*/ 7 h 14"/>
                        <a:gd name="T6" fmla="*/ 6 w 41"/>
                        <a:gd name="T7" fmla="*/ 14 h 14"/>
                        <a:gd name="T8" fmla="*/ 41 w 41"/>
                        <a:gd name="T9" fmla="*/ 14 h 14"/>
                        <a:gd name="T10" fmla="*/ 41 w 41"/>
                        <a:gd name="T11" fmla="*/ 0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1" h="14">
                          <a:moveTo>
                            <a:pt x="41" y="0"/>
                          </a:move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3" y="0"/>
                            <a:pt x="0" y="3"/>
                            <a:pt x="0" y="7"/>
                          </a:cubicBezTo>
                          <a:cubicBezTo>
                            <a:pt x="0" y="11"/>
                            <a:pt x="3" y="14"/>
                            <a:pt x="6" y="14"/>
                          </a:cubicBezTo>
                          <a:cubicBezTo>
                            <a:pt x="41" y="14"/>
                            <a:pt x="41" y="14"/>
                            <a:pt x="41" y="14"/>
                          </a:cubicBezTo>
                          <a:lnTo>
                            <a:pt x="41" y="0"/>
                          </a:lnTo>
                          <a:close/>
                        </a:path>
                      </a:pathLst>
                    </a:custGeom>
                    <a:solidFill>
                      <a:srgbClr val="0072C6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83" name="Freeform 8">
                      <a:extLst>
                        <a:ext uri="{FF2B5EF4-FFF2-40B4-BE49-F238E27FC236}">
                          <a16:creationId xmlns:a16="http://schemas.microsoft.com/office/drawing/2014/main" id="{CBDB8C38-FB9D-0E8C-2D04-32CC86536E1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320696" y="4846841"/>
                      <a:ext cx="188580" cy="64198"/>
                    </a:xfrm>
                    <a:custGeom>
                      <a:avLst/>
                      <a:gdLst>
                        <a:gd name="T0" fmla="*/ 41 w 41"/>
                        <a:gd name="T1" fmla="*/ 0 h 14"/>
                        <a:gd name="T2" fmla="*/ 6 w 41"/>
                        <a:gd name="T3" fmla="*/ 0 h 14"/>
                        <a:gd name="T4" fmla="*/ 0 w 41"/>
                        <a:gd name="T5" fmla="*/ 7 h 14"/>
                        <a:gd name="T6" fmla="*/ 6 w 41"/>
                        <a:gd name="T7" fmla="*/ 14 h 14"/>
                        <a:gd name="T8" fmla="*/ 41 w 41"/>
                        <a:gd name="T9" fmla="*/ 14 h 14"/>
                        <a:gd name="T10" fmla="*/ 41 w 41"/>
                        <a:gd name="T11" fmla="*/ 0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1" h="14">
                          <a:moveTo>
                            <a:pt x="41" y="0"/>
                          </a:move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3" y="0"/>
                            <a:pt x="0" y="3"/>
                            <a:pt x="0" y="7"/>
                          </a:cubicBezTo>
                          <a:cubicBezTo>
                            <a:pt x="0" y="11"/>
                            <a:pt x="3" y="14"/>
                            <a:pt x="6" y="14"/>
                          </a:cubicBezTo>
                          <a:cubicBezTo>
                            <a:pt x="41" y="14"/>
                            <a:pt x="41" y="14"/>
                            <a:pt x="41" y="14"/>
                          </a:cubicBezTo>
                          <a:lnTo>
                            <a:pt x="41" y="0"/>
                          </a:lnTo>
                          <a:close/>
                        </a:path>
                      </a:pathLst>
                    </a:custGeom>
                    <a:solidFill>
                      <a:srgbClr val="0072C6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84" name="Freeform 8">
                      <a:extLst>
                        <a:ext uri="{FF2B5EF4-FFF2-40B4-BE49-F238E27FC236}">
                          <a16:creationId xmlns:a16="http://schemas.microsoft.com/office/drawing/2014/main" id="{E1DFA4F4-BD2E-4C60-8D1B-4376A634531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320696" y="5017519"/>
                      <a:ext cx="188580" cy="64198"/>
                    </a:xfrm>
                    <a:custGeom>
                      <a:avLst/>
                      <a:gdLst>
                        <a:gd name="T0" fmla="*/ 41 w 41"/>
                        <a:gd name="T1" fmla="*/ 0 h 14"/>
                        <a:gd name="T2" fmla="*/ 6 w 41"/>
                        <a:gd name="T3" fmla="*/ 0 h 14"/>
                        <a:gd name="T4" fmla="*/ 0 w 41"/>
                        <a:gd name="T5" fmla="*/ 7 h 14"/>
                        <a:gd name="T6" fmla="*/ 6 w 41"/>
                        <a:gd name="T7" fmla="*/ 14 h 14"/>
                        <a:gd name="T8" fmla="*/ 41 w 41"/>
                        <a:gd name="T9" fmla="*/ 14 h 14"/>
                        <a:gd name="T10" fmla="*/ 41 w 41"/>
                        <a:gd name="T11" fmla="*/ 0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1" h="14">
                          <a:moveTo>
                            <a:pt x="41" y="0"/>
                          </a:move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3" y="0"/>
                            <a:pt x="0" y="3"/>
                            <a:pt x="0" y="7"/>
                          </a:cubicBezTo>
                          <a:cubicBezTo>
                            <a:pt x="0" y="11"/>
                            <a:pt x="3" y="14"/>
                            <a:pt x="6" y="14"/>
                          </a:cubicBezTo>
                          <a:cubicBezTo>
                            <a:pt x="41" y="14"/>
                            <a:pt x="41" y="14"/>
                            <a:pt x="41" y="14"/>
                          </a:cubicBezTo>
                          <a:lnTo>
                            <a:pt x="41" y="0"/>
                          </a:lnTo>
                          <a:close/>
                        </a:path>
                      </a:pathLst>
                    </a:custGeom>
                    <a:solidFill>
                      <a:srgbClr val="0072C6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85" name="Freeform 8">
                      <a:extLst>
                        <a:ext uri="{FF2B5EF4-FFF2-40B4-BE49-F238E27FC236}">
                          <a16:creationId xmlns:a16="http://schemas.microsoft.com/office/drawing/2014/main" id="{5A46C50C-31A9-3A84-87EF-EDAC1070FDE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320696" y="5207178"/>
                      <a:ext cx="188580" cy="64198"/>
                    </a:xfrm>
                    <a:custGeom>
                      <a:avLst/>
                      <a:gdLst>
                        <a:gd name="T0" fmla="*/ 41 w 41"/>
                        <a:gd name="T1" fmla="*/ 0 h 14"/>
                        <a:gd name="T2" fmla="*/ 6 w 41"/>
                        <a:gd name="T3" fmla="*/ 0 h 14"/>
                        <a:gd name="T4" fmla="*/ 0 w 41"/>
                        <a:gd name="T5" fmla="*/ 7 h 14"/>
                        <a:gd name="T6" fmla="*/ 6 w 41"/>
                        <a:gd name="T7" fmla="*/ 14 h 14"/>
                        <a:gd name="T8" fmla="*/ 41 w 41"/>
                        <a:gd name="T9" fmla="*/ 14 h 14"/>
                        <a:gd name="T10" fmla="*/ 41 w 41"/>
                        <a:gd name="T11" fmla="*/ 0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1" h="14">
                          <a:moveTo>
                            <a:pt x="41" y="0"/>
                          </a:move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3" y="0"/>
                            <a:pt x="0" y="3"/>
                            <a:pt x="0" y="7"/>
                          </a:cubicBezTo>
                          <a:cubicBezTo>
                            <a:pt x="0" y="11"/>
                            <a:pt x="3" y="14"/>
                            <a:pt x="6" y="14"/>
                          </a:cubicBezTo>
                          <a:cubicBezTo>
                            <a:pt x="41" y="14"/>
                            <a:pt x="41" y="14"/>
                            <a:pt x="41" y="14"/>
                          </a:cubicBezTo>
                          <a:lnTo>
                            <a:pt x="41" y="0"/>
                          </a:lnTo>
                          <a:close/>
                        </a:path>
                      </a:pathLst>
                    </a:custGeom>
                    <a:solidFill>
                      <a:srgbClr val="0072C6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86" name="Freeform 8">
                      <a:extLst>
                        <a:ext uri="{FF2B5EF4-FFF2-40B4-BE49-F238E27FC236}">
                          <a16:creationId xmlns:a16="http://schemas.microsoft.com/office/drawing/2014/main" id="{AB1514B7-CEA0-43B5-5B25-5AD4F855579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317062" y="5384981"/>
                      <a:ext cx="188580" cy="64198"/>
                    </a:xfrm>
                    <a:custGeom>
                      <a:avLst/>
                      <a:gdLst>
                        <a:gd name="T0" fmla="*/ 41 w 41"/>
                        <a:gd name="T1" fmla="*/ 0 h 14"/>
                        <a:gd name="T2" fmla="*/ 6 w 41"/>
                        <a:gd name="T3" fmla="*/ 0 h 14"/>
                        <a:gd name="T4" fmla="*/ 0 w 41"/>
                        <a:gd name="T5" fmla="*/ 7 h 14"/>
                        <a:gd name="T6" fmla="*/ 6 w 41"/>
                        <a:gd name="T7" fmla="*/ 14 h 14"/>
                        <a:gd name="T8" fmla="*/ 41 w 41"/>
                        <a:gd name="T9" fmla="*/ 14 h 14"/>
                        <a:gd name="T10" fmla="*/ 41 w 41"/>
                        <a:gd name="T11" fmla="*/ 0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1" h="14">
                          <a:moveTo>
                            <a:pt x="41" y="0"/>
                          </a:move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3" y="0"/>
                            <a:pt x="0" y="3"/>
                            <a:pt x="0" y="7"/>
                          </a:cubicBezTo>
                          <a:cubicBezTo>
                            <a:pt x="0" y="11"/>
                            <a:pt x="3" y="14"/>
                            <a:pt x="6" y="14"/>
                          </a:cubicBezTo>
                          <a:cubicBezTo>
                            <a:pt x="41" y="14"/>
                            <a:pt x="41" y="14"/>
                            <a:pt x="41" y="14"/>
                          </a:cubicBezTo>
                          <a:lnTo>
                            <a:pt x="41" y="0"/>
                          </a:lnTo>
                          <a:close/>
                        </a:path>
                      </a:pathLst>
                    </a:custGeom>
                    <a:solidFill>
                      <a:srgbClr val="0072C6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87" name="Freeform 8">
                      <a:extLst>
                        <a:ext uri="{FF2B5EF4-FFF2-40B4-BE49-F238E27FC236}">
                          <a16:creationId xmlns:a16="http://schemas.microsoft.com/office/drawing/2014/main" id="{420581EC-1B24-D1D6-9E47-C8D37E00516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320696" y="5553271"/>
                      <a:ext cx="188580" cy="64198"/>
                    </a:xfrm>
                    <a:custGeom>
                      <a:avLst/>
                      <a:gdLst>
                        <a:gd name="T0" fmla="*/ 41 w 41"/>
                        <a:gd name="T1" fmla="*/ 0 h 14"/>
                        <a:gd name="T2" fmla="*/ 6 w 41"/>
                        <a:gd name="T3" fmla="*/ 0 h 14"/>
                        <a:gd name="T4" fmla="*/ 0 w 41"/>
                        <a:gd name="T5" fmla="*/ 7 h 14"/>
                        <a:gd name="T6" fmla="*/ 6 w 41"/>
                        <a:gd name="T7" fmla="*/ 14 h 14"/>
                        <a:gd name="T8" fmla="*/ 41 w 41"/>
                        <a:gd name="T9" fmla="*/ 14 h 14"/>
                        <a:gd name="T10" fmla="*/ 41 w 41"/>
                        <a:gd name="T11" fmla="*/ 0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1" h="14">
                          <a:moveTo>
                            <a:pt x="41" y="0"/>
                          </a:move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3" y="0"/>
                            <a:pt x="0" y="3"/>
                            <a:pt x="0" y="7"/>
                          </a:cubicBezTo>
                          <a:cubicBezTo>
                            <a:pt x="0" y="11"/>
                            <a:pt x="3" y="14"/>
                            <a:pt x="6" y="14"/>
                          </a:cubicBezTo>
                          <a:cubicBezTo>
                            <a:pt x="41" y="14"/>
                            <a:pt x="41" y="14"/>
                            <a:pt x="41" y="14"/>
                          </a:cubicBezTo>
                          <a:lnTo>
                            <a:pt x="41" y="0"/>
                          </a:lnTo>
                          <a:close/>
                        </a:path>
                      </a:pathLst>
                    </a:custGeom>
                    <a:solidFill>
                      <a:srgbClr val="0072C6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</a:endParaRPr>
                    </a:p>
                  </p:txBody>
                </p:sp>
              </p:grp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A9E79F03-94DA-40B0-D95B-AF7B45C2366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689300" y="4605702"/>
                    <a:ext cx="855274" cy="177206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932472" eaLnBrk="1" fontAlgn="base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ffectLst/>
                      <a:uLnTx/>
                      <a:uFillTx/>
                      <a:latin typeface="Calibri" panose="020F0502020204030204"/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</p:grpSp>
            <p:sp>
              <p:nvSpPr>
                <p:cNvPr id="73" name="Rectangle 42">
                  <a:extLst>
                    <a:ext uri="{FF2B5EF4-FFF2-40B4-BE49-F238E27FC236}">
                      <a16:creationId xmlns:a16="http://schemas.microsoft.com/office/drawing/2014/main" id="{6EA7E158-0033-D47E-930F-88F6924AC4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73483" y="5413375"/>
                  <a:ext cx="626332" cy="9566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6350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74" name="Rectangle 42">
                  <a:extLst>
                    <a:ext uri="{FF2B5EF4-FFF2-40B4-BE49-F238E27FC236}">
                      <a16:creationId xmlns:a16="http://schemas.microsoft.com/office/drawing/2014/main" id="{02C5CD4D-CDF0-D027-3097-C0C1AF2819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73483" y="5549431"/>
                  <a:ext cx="626332" cy="9566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6350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75" name="Rectangle 42">
                  <a:extLst>
                    <a:ext uri="{FF2B5EF4-FFF2-40B4-BE49-F238E27FC236}">
                      <a16:creationId xmlns:a16="http://schemas.microsoft.com/office/drawing/2014/main" id="{F4B3AD8E-4690-83B0-FE88-3EE21A912F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81420" y="5683350"/>
                  <a:ext cx="626332" cy="9566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6350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FB710A4F-0CF2-77A3-9DBB-D38EB6B31B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67172" y="2098177"/>
                <a:ext cx="354359" cy="228857"/>
              </a:xfrm>
              <a:prstGeom prst="rect">
                <a:avLst/>
              </a:prstGeom>
            </p:spPr>
          </p:pic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1C495108-E123-C25E-F8FB-74174DFBBB02}"/>
                  </a:ext>
                </a:extLst>
              </p:cNvPr>
              <p:cNvSpPr/>
              <p:nvPr/>
            </p:nvSpPr>
            <p:spPr>
              <a:xfrm>
                <a:off x="8050267" y="2022363"/>
                <a:ext cx="5148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NIC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A98DF9F-D5CF-7D0E-D9A3-D6D005F8B4C8}"/>
                </a:ext>
              </a:extLst>
            </p:cNvPr>
            <p:cNvGrpSpPr/>
            <p:nvPr/>
          </p:nvGrpSpPr>
          <p:grpSpPr>
            <a:xfrm>
              <a:off x="5872894" y="3914453"/>
              <a:ext cx="1375889" cy="1204379"/>
              <a:chOff x="6674278" y="4377743"/>
              <a:chExt cx="1375889" cy="1532200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25A499C-717C-50F7-EE12-F462F27D1295}"/>
                  </a:ext>
                </a:extLst>
              </p:cNvPr>
              <p:cNvSpPr/>
              <p:nvPr/>
            </p:nvSpPr>
            <p:spPr>
              <a:xfrm>
                <a:off x="6674278" y="5540611"/>
                <a:ext cx="13758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On-premises</a:t>
                </a: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6D6D4760-08E4-7253-B069-DDEB1BEFD76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6969122" y="4377743"/>
                <a:ext cx="700277" cy="1231867"/>
                <a:chOff x="3600" y="469"/>
                <a:chExt cx="768" cy="1351"/>
              </a:xfrm>
            </p:grpSpPr>
            <p:sp>
              <p:nvSpPr>
                <p:cNvPr id="25" name="AutoShape 7">
                  <a:extLst>
                    <a:ext uri="{FF2B5EF4-FFF2-40B4-BE49-F238E27FC236}">
                      <a16:creationId xmlns:a16="http://schemas.microsoft.com/office/drawing/2014/main" id="{F946E455-10EF-BA88-7DF7-6C56639F80D3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3600" y="469"/>
                  <a:ext cx="768" cy="13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4FD99B05-C8D9-A973-D578-65F58ED9FF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97" y="1386"/>
                  <a:ext cx="541" cy="431"/>
                </a:xfrm>
                <a:prstGeom prst="rect">
                  <a:avLst/>
                </a:prstGeom>
                <a:solidFill>
                  <a:sysClr val="window" lastClr="FFFFFF">
                    <a:lumMod val="75000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27" name="Freeform 135">
                  <a:extLst>
                    <a:ext uri="{FF2B5EF4-FFF2-40B4-BE49-F238E27FC236}">
                      <a16:creationId xmlns:a16="http://schemas.microsoft.com/office/drawing/2014/main" id="{0B9C8A8F-A935-8F5D-2E97-5944DA9FA6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08" y="606"/>
                  <a:ext cx="460" cy="1211"/>
                </a:xfrm>
                <a:custGeom>
                  <a:avLst/>
                  <a:gdLst>
                    <a:gd name="T0" fmla="*/ 0 w 460"/>
                    <a:gd name="T1" fmla="*/ 0 h 1211"/>
                    <a:gd name="T2" fmla="*/ 460 w 460"/>
                    <a:gd name="T3" fmla="*/ 0 h 1211"/>
                    <a:gd name="T4" fmla="*/ 460 w 460"/>
                    <a:gd name="T5" fmla="*/ 1211 h 1211"/>
                    <a:gd name="T6" fmla="*/ 0 w 460"/>
                    <a:gd name="T7" fmla="*/ 1211 h 1211"/>
                    <a:gd name="T8" fmla="*/ 0 w 460"/>
                    <a:gd name="T9" fmla="*/ 790 h 1211"/>
                    <a:gd name="T10" fmla="*/ 0 w 460"/>
                    <a:gd name="T11" fmla="*/ 0 h 12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60" h="1211">
                      <a:moveTo>
                        <a:pt x="0" y="0"/>
                      </a:moveTo>
                      <a:lnTo>
                        <a:pt x="460" y="0"/>
                      </a:lnTo>
                      <a:lnTo>
                        <a:pt x="460" y="1211"/>
                      </a:lnTo>
                      <a:lnTo>
                        <a:pt x="0" y="1211"/>
                      </a:lnTo>
                      <a:lnTo>
                        <a:pt x="0" y="7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75000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28" name="Freeform 136">
                  <a:extLst>
                    <a:ext uri="{FF2B5EF4-FFF2-40B4-BE49-F238E27FC236}">
                      <a16:creationId xmlns:a16="http://schemas.microsoft.com/office/drawing/2014/main" id="{F548875E-C66C-5DAE-F08D-7776C72646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7" y="1396"/>
                  <a:ext cx="311" cy="421"/>
                </a:xfrm>
                <a:custGeom>
                  <a:avLst/>
                  <a:gdLst>
                    <a:gd name="T0" fmla="*/ 0 w 311"/>
                    <a:gd name="T1" fmla="*/ 421 h 421"/>
                    <a:gd name="T2" fmla="*/ 311 w 311"/>
                    <a:gd name="T3" fmla="*/ 421 h 421"/>
                    <a:gd name="T4" fmla="*/ 311 w 311"/>
                    <a:gd name="T5" fmla="*/ 0 h 421"/>
                    <a:gd name="T6" fmla="*/ 0 w 311"/>
                    <a:gd name="T7" fmla="*/ 421 h 4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1" h="421">
                      <a:moveTo>
                        <a:pt x="0" y="421"/>
                      </a:moveTo>
                      <a:lnTo>
                        <a:pt x="311" y="421"/>
                      </a:lnTo>
                      <a:lnTo>
                        <a:pt x="311" y="0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rgbClr val="64646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E12823E0-9ED9-7799-F69B-24B125E177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7" y="694"/>
                  <a:ext cx="46" cy="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AE17CDD9-4100-79A5-7FA2-0660423781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66" y="694"/>
                  <a:ext cx="46" cy="85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FAA479ED-6737-1473-690A-F98BA1E6FB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64" y="694"/>
                  <a:ext cx="46" cy="85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858C349A-0D8A-687D-974B-0123D513D4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63" y="694"/>
                  <a:ext cx="46" cy="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0D083065-653A-E70F-4E17-84EFF446DD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7" y="821"/>
                  <a:ext cx="46" cy="8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E424CC48-03E9-3F30-321B-B741545F12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66" y="821"/>
                  <a:ext cx="46" cy="8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290FDCAC-9F93-41C6-2F78-985C972C4B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64" y="821"/>
                  <a:ext cx="46" cy="88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AE8006FF-3168-3EDB-E241-A1443423BD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63" y="821"/>
                  <a:ext cx="46" cy="8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C2BEFB00-DD7F-A61B-D95D-6349E43E97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7" y="952"/>
                  <a:ext cx="46" cy="85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5CF66B08-785E-84EC-3F44-1887C1905B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66" y="952"/>
                  <a:ext cx="46" cy="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7C8C103B-E407-78AC-172E-C87701E5A7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64" y="952"/>
                  <a:ext cx="46" cy="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D58628F1-8B72-B44D-047B-CBE3AF87C1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63" y="952"/>
                  <a:ext cx="46" cy="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3B3430F7-F779-1A4B-05C1-0190555198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7" y="1079"/>
                  <a:ext cx="46" cy="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AD03BC2D-A521-E00D-D3EC-0C76859532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66" y="1079"/>
                  <a:ext cx="46" cy="85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A9211C19-5252-EDC5-A662-62A93B03EA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64" y="1079"/>
                  <a:ext cx="46" cy="85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06D6E8DB-5A65-235B-1410-CEDAFF884B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63" y="1079"/>
                  <a:ext cx="46" cy="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51FCAD9B-8751-0956-42AC-7A61734B19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7" y="1210"/>
                  <a:ext cx="46" cy="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10394CC8-294D-38CE-4D1B-EC59D2137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66" y="1210"/>
                  <a:ext cx="46" cy="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3034656-89E6-D577-E970-6F0AFDA043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64" y="1210"/>
                  <a:ext cx="46" cy="85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48" name="Rectangle 31">
                  <a:extLst>
                    <a:ext uri="{FF2B5EF4-FFF2-40B4-BE49-F238E27FC236}">
                      <a16:creationId xmlns:a16="http://schemas.microsoft.com/office/drawing/2014/main" id="{83C1E16B-8140-E615-4AC7-D75CB6BAB9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63" y="1210"/>
                  <a:ext cx="46" cy="85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49" name="Rectangle 32">
                  <a:extLst>
                    <a:ext uri="{FF2B5EF4-FFF2-40B4-BE49-F238E27FC236}">
                      <a16:creationId xmlns:a16="http://schemas.microsoft.com/office/drawing/2014/main" id="{B40B25CB-BD9E-484F-5121-D7D23B1F10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7" y="1337"/>
                  <a:ext cx="46" cy="85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50" name="Rectangle 33">
                  <a:extLst>
                    <a:ext uri="{FF2B5EF4-FFF2-40B4-BE49-F238E27FC236}">
                      <a16:creationId xmlns:a16="http://schemas.microsoft.com/office/drawing/2014/main" id="{1ECA9CD2-5A0D-3D40-8489-061230F9DF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66" y="1337"/>
                  <a:ext cx="46" cy="85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51" name="Rectangle 34">
                  <a:extLst>
                    <a:ext uri="{FF2B5EF4-FFF2-40B4-BE49-F238E27FC236}">
                      <a16:creationId xmlns:a16="http://schemas.microsoft.com/office/drawing/2014/main" id="{C8391347-D2BD-CE23-2D06-C72372142F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64" y="1337"/>
                  <a:ext cx="46" cy="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52" name="Rectangle 35">
                  <a:extLst>
                    <a:ext uri="{FF2B5EF4-FFF2-40B4-BE49-F238E27FC236}">
                      <a16:creationId xmlns:a16="http://schemas.microsoft.com/office/drawing/2014/main" id="{95FC1D5D-4FCC-56F4-B1C1-D14E81581A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63" y="1337"/>
                  <a:ext cx="46" cy="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53" name="Rectangle 36">
                  <a:extLst>
                    <a:ext uri="{FF2B5EF4-FFF2-40B4-BE49-F238E27FC236}">
                      <a16:creationId xmlns:a16="http://schemas.microsoft.com/office/drawing/2014/main" id="{9913EAAA-44ED-BE0C-CC95-D144FB1F3B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7" y="1468"/>
                  <a:ext cx="46" cy="84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54" name="Rectangle 37">
                  <a:extLst>
                    <a:ext uri="{FF2B5EF4-FFF2-40B4-BE49-F238E27FC236}">
                      <a16:creationId xmlns:a16="http://schemas.microsoft.com/office/drawing/2014/main" id="{571CEA5F-2A6F-F740-63C7-FB556F20B9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66" y="1468"/>
                  <a:ext cx="46" cy="8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55" name="Rectangle 38">
                  <a:extLst>
                    <a:ext uri="{FF2B5EF4-FFF2-40B4-BE49-F238E27FC236}">
                      <a16:creationId xmlns:a16="http://schemas.microsoft.com/office/drawing/2014/main" id="{CF988CA2-74BA-C23B-456D-8D801B3D9B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64" y="1468"/>
                  <a:ext cx="46" cy="84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56" name="Rectangle 39">
                  <a:extLst>
                    <a:ext uri="{FF2B5EF4-FFF2-40B4-BE49-F238E27FC236}">
                      <a16:creationId xmlns:a16="http://schemas.microsoft.com/office/drawing/2014/main" id="{DCA5139D-DBC6-F642-9BB8-38C90A1EFA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63" y="1468"/>
                  <a:ext cx="46" cy="8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57" name="Rectangle 40">
                  <a:extLst>
                    <a:ext uri="{FF2B5EF4-FFF2-40B4-BE49-F238E27FC236}">
                      <a16:creationId xmlns:a16="http://schemas.microsoft.com/office/drawing/2014/main" id="{B4579A29-63E9-34FC-0F1F-7FB15A2F11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30" y="1468"/>
                  <a:ext cx="45" cy="84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58" name="Rectangle 41">
                  <a:extLst>
                    <a:ext uri="{FF2B5EF4-FFF2-40B4-BE49-F238E27FC236}">
                      <a16:creationId xmlns:a16="http://schemas.microsoft.com/office/drawing/2014/main" id="{3495C16D-1F2A-4A86-7613-AEB83B9DE1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28" y="1468"/>
                  <a:ext cx="46" cy="8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59" name="Rectangle 42">
                  <a:extLst>
                    <a:ext uri="{FF2B5EF4-FFF2-40B4-BE49-F238E27FC236}">
                      <a16:creationId xmlns:a16="http://schemas.microsoft.com/office/drawing/2014/main" id="{53D0676B-43E6-F247-A488-E01C1C012F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0" y="1468"/>
                  <a:ext cx="46" cy="8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60" name="Rectangle 43">
                  <a:extLst>
                    <a:ext uri="{FF2B5EF4-FFF2-40B4-BE49-F238E27FC236}">
                      <a16:creationId xmlns:a16="http://schemas.microsoft.com/office/drawing/2014/main" id="{897952BF-1997-9535-84F8-82FE401CE7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30" y="1595"/>
                  <a:ext cx="45" cy="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61" name="Rectangle 44">
                  <a:extLst>
                    <a:ext uri="{FF2B5EF4-FFF2-40B4-BE49-F238E27FC236}">
                      <a16:creationId xmlns:a16="http://schemas.microsoft.com/office/drawing/2014/main" id="{E829DE03-A60C-22D5-C84F-42E567C6CD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28" y="1595"/>
                  <a:ext cx="46" cy="85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62" name="Rectangle 45">
                  <a:extLst>
                    <a:ext uri="{FF2B5EF4-FFF2-40B4-BE49-F238E27FC236}">
                      <a16:creationId xmlns:a16="http://schemas.microsoft.com/office/drawing/2014/main" id="{9007FD3F-35C9-D88B-0635-3534E52D53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0" y="1595"/>
                  <a:ext cx="46" cy="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63" name="Rectangle 46">
                  <a:extLst>
                    <a:ext uri="{FF2B5EF4-FFF2-40B4-BE49-F238E27FC236}">
                      <a16:creationId xmlns:a16="http://schemas.microsoft.com/office/drawing/2014/main" id="{E907E8FD-CEAD-C3BC-3710-A29848D8DC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7" y="1595"/>
                  <a:ext cx="46" cy="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64" name="Rectangle 47">
                  <a:extLst>
                    <a:ext uri="{FF2B5EF4-FFF2-40B4-BE49-F238E27FC236}">
                      <a16:creationId xmlns:a16="http://schemas.microsoft.com/office/drawing/2014/main" id="{4DE82FE4-75C6-5D16-8C42-0B6193FEDF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66" y="1595"/>
                  <a:ext cx="46" cy="85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65" name="Rectangle 48">
                  <a:extLst>
                    <a:ext uri="{FF2B5EF4-FFF2-40B4-BE49-F238E27FC236}">
                      <a16:creationId xmlns:a16="http://schemas.microsoft.com/office/drawing/2014/main" id="{A12D8020-630C-FA4B-C566-0A26939BB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64" y="1595"/>
                  <a:ext cx="46" cy="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66" name="Rectangle 49">
                  <a:extLst>
                    <a:ext uri="{FF2B5EF4-FFF2-40B4-BE49-F238E27FC236}">
                      <a16:creationId xmlns:a16="http://schemas.microsoft.com/office/drawing/2014/main" id="{6B42F29F-0D37-00DB-23F2-F755956F11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63" y="1595"/>
                  <a:ext cx="46" cy="85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67" name="Rectangle 50">
                  <a:extLst>
                    <a:ext uri="{FF2B5EF4-FFF2-40B4-BE49-F238E27FC236}">
                      <a16:creationId xmlns:a16="http://schemas.microsoft.com/office/drawing/2014/main" id="{3638387A-A5EF-56B4-DCFE-41DEEC1140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64" y="521"/>
                  <a:ext cx="145" cy="85"/>
                </a:xfrm>
                <a:prstGeom prst="rect">
                  <a:avLst/>
                </a:prstGeom>
                <a:solidFill>
                  <a:srgbClr val="64646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68" name="Rectangle 51">
                  <a:extLst>
                    <a:ext uri="{FF2B5EF4-FFF2-40B4-BE49-F238E27FC236}">
                      <a16:creationId xmlns:a16="http://schemas.microsoft.com/office/drawing/2014/main" id="{47A7C1C1-3E9B-42F1-43F8-AC36FA1786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13" y="466"/>
                  <a:ext cx="27" cy="14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1AEFFD4-3A23-CDDB-E859-64A483577428}"/>
                </a:ext>
              </a:extLst>
            </p:cNvPr>
            <p:cNvSpPr/>
            <p:nvPr/>
          </p:nvSpPr>
          <p:spPr>
            <a:xfrm>
              <a:off x="6164494" y="5410807"/>
              <a:ext cx="1253448" cy="846155"/>
            </a:xfrm>
            <a:prstGeom prst="rect">
              <a:avLst/>
            </a:prstGeom>
            <a:solidFill>
              <a:srgbClr val="44546A">
                <a:lumMod val="20000"/>
                <a:lumOff val="80000"/>
              </a:srgbClr>
            </a:solidFill>
            <a:ln w="6350" cap="flat" cmpd="sng" algn="ctr">
              <a:solidFill>
                <a:sysClr val="windowText" lastClr="00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Virtual Network(s)</a:t>
              </a:r>
            </a:p>
          </p:txBody>
        </p:sp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7B8BB357-A08B-ABCF-E2CF-46E94139A615}"/>
                </a:ext>
              </a:extLst>
            </p:cNvPr>
            <p:cNvCxnSpPr>
              <a:stCxn id="12" idx="3"/>
              <a:endCxn id="25" idx="1"/>
            </p:cNvCxnSpPr>
            <p:nvPr/>
          </p:nvCxnSpPr>
          <p:spPr>
            <a:xfrm flipV="1">
              <a:off x="5274629" y="4398605"/>
              <a:ext cx="893109" cy="727219"/>
            </a:xfrm>
            <a:prstGeom prst="bentConnector3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ysDash"/>
              <a:miter lim="800000"/>
              <a:tailEnd type="triangle"/>
            </a:ln>
            <a:effectLst/>
          </p:spPr>
        </p:cxn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B6455BA9-F02C-B3A8-7CCA-BDBCBF612CF6}"/>
                </a:ext>
              </a:extLst>
            </p:cNvPr>
            <p:cNvCxnSpPr>
              <a:cxnSpLocks/>
              <a:stCxn id="12" idx="3"/>
              <a:endCxn id="20" idx="1"/>
            </p:cNvCxnSpPr>
            <p:nvPr/>
          </p:nvCxnSpPr>
          <p:spPr>
            <a:xfrm>
              <a:off x="5274629" y="5125824"/>
              <a:ext cx="889865" cy="708061"/>
            </a:xfrm>
            <a:prstGeom prst="bentConnector3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ysDash"/>
              <a:miter lim="800000"/>
              <a:tailEnd type="triangle"/>
            </a:ln>
            <a:effectLst/>
          </p:spPr>
        </p:cxnSp>
      </p:grpSp>
      <p:sp>
        <p:nvSpPr>
          <p:cNvPr id="143" name="Rectangle 142">
            <a:extLst>
              <a:ext uri="{FF2B5EF4-FFF2-40B4-BE49-F238E27FC236}">
                <a16:creationId xmlns:a16="http://schemas.microsoft.com/office/drawing/2014/main" id="{54CF0FF7-7B91-95B7-C787-4BC59C47C6B2}"/>
              </a:ext>
            </a:extLst>
          </p:cNvPr>
          <p:cNvSpPr/>
          <p:nvPr/>
        </p:nvSpPr>
        <p:spPr>
          <a:xfrm>
            <a:off x="250057" y="5121329"/>
            <a:ext cx="2829469" cy="119529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Logical representation of your own network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1092484-1644-437F-3CE7-C05BB1B97AB2}"/>
              </a:ext>
            </a:extLst>
          </p:cNvPr>
          <p:cNvSpPr/>
          <p:nvPr/>
        </p:nvSpPr>
        <p:spPr>
          <a:xfrm>
            <a:off x="3180400" y="5121329"/>
            <a:ext cx="2829469" cy="119529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Create a dedicated private cloud-only virtual network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72A15BC-255E-A800-BC03-83CA2A0D384D}"/>
              </a:ext>
            </a:extLst>
          </p:cNvPr>
          <p:cNvSpPr/>
          <p:nvPr/>
        </p:nvSpPr>
        <p:spPr>
          <a:xfrm>
            <a:off x="6072645" y="5121329"/>
            <a:ext cx="2829469" cy="119529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Securely extend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your datacenter with virtual networks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CC00D05-ECC3-9C29-6902-5C5CC29A3395}"/>
              </a:ext>
            </a:extLst>
          </p:cNvPr>
          <p:cNvSpPr/>
          <p:nvPr/>
        </p:nvSpPr>
        <p:spPr>
          <a:xfrm>
            <a:off x="9002988" y="5121329"/>
            <a:ext cx="2829469" cy="119529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Enable hybrid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cloud scenarios</a:t>
            </a:r>
          </a:p>
        </p:txBody>
      </p:sp>
    </p:spTree>
    <p:extLst>
      <p:ext uri="{BB962C8B-B14F-4D97-AF65-F5344CB8AC3E}">
        <p14:creationId xmlns:p14="http://schemas.microsoft.com/office/powerpoint/2010/main" val="1329765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6">
            <a:extLst>
              <a:ext uri="{FF2B5EF4-FFF2-40B4-BE49-F238E27FC236}">
                <a16:creationId xmlns:a16="http://schemas.microsoft.com/office/drawing/2014/main" id="{390AEADD-84E5-FCD9-F85B-285A1D08A3E6}"/>
              </a:ext>
            </a:extLst>
          </p:cNvPr>
          <p:cNvSpPr txBox="1">
            <a:spLocks/>
          </p:cNvSpPr>
          <p:nvPr/>
        </p:nvSpPr>
        <p:spPr>
          <a:xfrm>
            <a:off x="159179" y="1034843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Create Virtual Networks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FA056B-302C-D6A1-6514-50E2E3EB68BC}"/>
              </a:ext>
            </a:extLst>
          </p:cNvPr>
          <p:cNvSpPr/>
          <p:nvPr/>
        </p:nvSpPr>
        <p:spPr>
          <a:xfrm>
            <a:off x="379243" y="2321544"/>
            <a:ext cx="4348163" cy="4057332"/>
          </a:xfrm>
          <a:prstGeom prst="rect">
            <a:avLst/>
          </a:prstGeom>
          <a:noFill/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Create new virtual networks</a:t>
            </a:r>
            <a:br>
              <a:rPr lang="en-US" sz="2200" dirty="0">
                <a:solidFill>
                  <a:schemeClr val="tx1"/>
                </a:solidFill>
              </a:rPr>
            </a:br>
            <a:r>
              <a:rPr lang="en-US" sz="2200" dirty="0">
                <a:solidFill>
                  <a:schemeClr val="tx1"/>
                </a:solidFill>
              </a:rPr>
              <a:t>at any time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Add virtual networks when you create a virtual machine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Define the address space, and at least one subnet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Check for overlapping address spaces</a:t>
            </a:r>
          </a:p>
        </p:txBody>
      </p:sp>
      <p:pic>
        <p:nvPicPr>
          <p:cNvPr id="12" name="Picture 4" descr="Screenshot of a webpage on creating a virtual network">
            <a:extLst>
              <a:ext uri="{FF2B5EF4-FFF2-40B4-BE49-F238E27FC236}">
                <a16:creationId xmlns:a16="http://schemas.microsoft.com/office/drawing/2014/main" id="{E900CA81-D4D6-070D-4AD5-2B9106C9931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06" t="506" r="506" b="506"/>
          <a:stretch/>
        </p:blipFill>
        <p:spPr>
          <a:xfrm>
            <a:off x="5236675" y="1977150"/>
            <a:ext cx="6561136" cy="47461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0775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6">
            <a:extLst>
              <a:ext uri="{FF2B5EF4-FFF2-40B4-BE49-F238E27FC236}">
                <a16:creationId xmlns:a16="http://schemas.microsoft.com/office/drawing/2014/main" id="{3ECCDB1E-1E31-DC13-146B-6E9705A1A47B}"/>
              </a:ext>
            </a:extLst>
          </p:cNvPr>
          <p:cNvSpPr txBox="1">
            <a:spLocks/>
          </p:cNvSpPr>
          <p:nvPr/>
        </p:nvSpPr>
        <p:spPr>
          <a:xfrm>
            <a:off x="392958" y="715834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Create Subnets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EEA7EA-23E0-49B9-AADE-6594AB3BE160}"/>
              </a:ext>
            </a:extLst>
          </p:cNvPr>
          <p:cNvSpPr/>
          <p:nvPr/>
        </p:nvSpPr>
        <p:spPr>
          <a:xfrm>
            <a:off x="379243" y="4536151"/>
            <a:ext cx="2791368" cy="171354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virtual network can be segmented into one or more subnets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ED604E-74FA-268D-BD3B-2F388E70664D}"/>
              </a:ext>
            </a:extLst>
          </p:cNvPr>
          <p:cNvSpPr/>
          <p:nvPr/>
        </p:nvSpPr>
        <p:spPr>
          <a:xfrm>
            <a:off x="3309587" y="4536151"/>
            <a:ext cx="2791368" cy="171354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Subnets provide logical divisions within your network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BAA70F-2787-BDC5-261D-9EB39428E4E8}"/>
              </a:ext>
            </a:extLst>
          </p:cNvPr>
          <p:cNvSpPr/>
          <p:nvPr/>
        </p:nvSpPr>
        <p:spPr>
          <a:xfrm>
            <a:off x="6239931" y="4536151"/>
            <a:ext cx="2791368" cy="171354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Subnets can help improve security, increase performance, and make it easier to manage the network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11A50-AAF2-6C18-17F8-74970CA3AED5}"/>
              </a:ext>
            </a:extLst>
          </p:cNvPr>
          <p:cNvSpPr/>
          <p:nvPr/>
        </p:nvSpPr>
        <p:spPr>
          <a:xfrm>
            <a:off x="9170274" y="4536151"/>
            <a:ext cx="2791368" cy="171354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Each subnet must have a unique address range – cannot overlap with other subnets in the vnet in the subscription </a:t>
            </a:r>
          </a:p>
        </p:txBody>
      </p:sp>
      <p:pic>
        <p:nvPicPr>
          <p:cNvPr id="15" name="Picture 14" descr="Screenshot of adding a subnet page. Several subnets are listed including the AzureBastionSubnet and GatewaySubne">
            <a:extLst>
              <a:ext uri="{FF2B5EF4-FFF2-40B4-BE49-F238E27FC236}">
                <a16:creationId xmlns:a16="http://schemas.microsoft.com/office/drawing/2014/main" id="{E7ADFB78-48B4-DF1F-42B7-0B3FEDFB2A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9782" y="1582211"/>
            <a:ext cx="904875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90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6">
            <a:extLst>
              <a:ext uri="{FF2B5EF4-FFF2-40B4-BE49-F238E27FC236}">
                <a16:creationId xmlns:a16="http://schemas.microsoft.com/office/drawing/2014/main" id="{7221BC2D-4146-2907-6B68-8C79F0D9E291}"/>
              </a:ext>
            </a:extLst>
          </p:cNvPr>
          <p:cNvSpPr txBox="1">
            <a:spLocks/>
          </p:cNvSpPr>
          <p:nvPr/>
        </p:nvSpPr>
        <p:spPr>
          <a:xfrm>
            <a:off x="434733" y="987758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Plan IP Addressing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30734F-7499-51C0-D0CD-3AAC6F984B47}"/>
              </a:ext>
            </a:extLst>
          </p:cNvPr>
          <p:cNvSpPr/>
          <p:nvPr/>
        </p:nvSpPr>
        <p:spPr>
          <a:xfrm>
            <a:off x="435732" y="4441131"/>
            <a:ext cx="5713981" cy="1900976"/>
          </a:xfrm>
          <a:prstGeom prst="rect">
            <a:avLst/>
          </a:prstGeom>
          <a:noFill/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t" anchorCtr="0">
            <a:noAutofit/>
          </a:bodyPr>
          <a:lstStyle/>
          <a:p>
            <a:r>
              <a:rPr lang="en-US" sz="2000" b="1" dirty="0">
                <a:solidFill>
                  <a:schemeClr val="tx2">
                    <a:lumMod val="50000"/>
                  </a:schemeClr>
                </a:solidFill>
              </a:rPr>
              <a:t>Private IP addresses </a:t>
            </a:r>
            <a:r>
              <a:rPr lang="en-US" sz="2000" dirty="0">
                <a:solidFill>
                  <a:schemeClr val="tx1"/>
                </a:solidFill>
              </a:rPr>
              <a:t>- used within an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Azure virtual network (VNet), and your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on-premises network, when you use a VPN gateway or ExpressRoute circuit to extend your network to Azure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02EAE5-F242-9AB3-B42A-F0B4F82A1E3F}"/>
              </a:ext>
            </a:extLst>
          </p:cNvPr>
          <p:cNvSpPr/>
          <p:nvPr/>
        </p:nvSpPr>
        <p:spPr>
          <a:xfrm>
            <a:off x="6409495" y="4441131"/>
            <a:ext cx="5608637" cy="1900976"/>
          </a:xfrm>
          <a:prstGeom prst="rect">
            <a:avLst/>
          </a:prstGeom>
          <a:noFill/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t" anchorCtr="0">
            <a:noAutofit/>
          </a:bodyPr>
          <a:lstStyle/>
          <a:p>
            <a:r>
              <a:rPr lang="en-US" sz="2000" b="1" dirty="0">
                <a:solidFill>
                  <a:schemeClr val="tx2">
                    <a:lumMod val="50000"/>
                  </a:schemeClr>
                </a:solidFill>
              </a:rPr>
              <a:t>Public IP addresses </a:t>
            </a:r>
            <a:r>
              <a:rPr lang="en-US" sz="2000" dirty="0">
                <a:solidFill>
                  <a:schemeClr val="tx1"/>
                </a:solidFill>
              </a:rPr>
              <a:t>- used for communication with the Internet, including Azure public-facing services</a:t>
            </a:r>
          </a:p>
        </p:txBody>
      </p:sp>
      <p:grpSp>
        <p:nvGrpSpPr>
          <p:cNvPr id="13" name="Group 12" descr="Private IP addresses and public IP addresses. ">
            <a:extLst>
              <a:ext uri="{FF2B5EF4-FFF2-40B4-BE49-F238E27FC236}">
                <a16:creationId xmlns:a16="http://schemas.microsoft.com/office/drawing/2014/main" id="{802D8695-EBC4-CF65-1A54-5CC1707E7B57}"/>
              </a:ext>
            </a:extLst>
          </p:cNvPr>
          <p:cNvGrpSpPr/>
          <p:nvPr/>
        </p:nvGrpSpPr>
        <p:grpSpPr>
          <a:xfrm>
            <a:off x="434733" y="2075494"/>
            <a:ext cx="10464173" cy="1971638"/>
            <a:chOff x="1191799" y="4011435"/>
            <a:chExt cx="8662157" cy="117209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FD1EB9-26CF-F018-F288-ED2D9461B1C3}"/>
                </a:ext>
              </a:extLst>
            </p:cNvPr>
            <p:cNvSpPr/>
            <p:nvPr/>
          </p:nvSpPr>
          <p:spPr>
            <a:xfrm>
              <a:off x="5513522" y="4011435"/>
              <a:ext cx="990789" cy="117209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Segoe UI" panose="020B0502040204020203" pitchFamily="34" charset="0"/>
                </a:rPr>
                <a:t>Azure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Segoe UI" panose="020B0502040204020203" pitchFamily="34" charset="0"/>
                </a:rPr>
                <a:t>Resource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489965F-3A68-04B5-85F9-E50CBB5DCEB4}"/>
                </a:ext>
              </a:extLst>
            </p:cNvPr>
            <p:cNvSpPr/>
            <p:nvPr/>
          </p:nvSpPr>
          <p:spPr>
            <a:xfrm>
              <a:off x="6438537" y="4391302"/>
              <a:ext cx="1472333" cy="4208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Times New Roman" panose="02020603050405020304" pitchFamily="18" charset="0"/>
                  <a:cs typeface="Segoe UI" panose="020B0502040204020203" pitchFamily="34" charset="0"/>
                </a:rPr>
                <a:t>Public IP address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Segoe UI" panose="020B050204020402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575F7F8-B492-EF21-A7C4-46D60EB54E27}"/>
                </a:ext>
              </a:extLst>
            </p:cNvPr>
            <p:cNvSpPr/>
            <p:nvPr/>
          </p:nvSpPr>
          <p:spPr>
            <a:xfrm>
              <a:off x="3958122" y="4385054"/>
              <a:ext cx="1555399" cy="4208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Times New Roman" panose="02020603050405020304" pitchFamily="18" charset="0"/>
                  <a:cs typeface="Segoe UI" panose="020B0502040204020203" pitchFamily="34" charset="0"/>
                </a:rPr>
                <a:t>Private IP address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Segoe UI" panose="020B0502040204020203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A9326D5-E79C-2301-0021-A8BB0B074B95}"/>
                </a:ext>
              </a:extLst>
            </p:cNvPr>
            <p:cNvSpPr/>
            <p:nvPr/>
          </p:nvSpPr>
          <p:spPr>
            <a:xfrm>
              <a:off x="1191799" y="4111998"/>
              <a:ext cx="2815120" cy="965771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Segoe UI" panose="020B0502040204020203" pitchFamily="34" charset="0"/>
                </a:rPr>
                <a:t>VNets, on-premises networks, VPN gateways, ExpressRoute</a:t>
              </a:r>
            </a:p>
          </p:txBody>
        </p:sp>
        <p:cxnSp>
          <p:nvCxnSpPr>
            <p:cNvPr id="18" name="Connector: Elbow 17">
              <a:extLst>
                <a:ext uri="{FF2B5EF4-FFF2-40B4-BE49-F238E27FC236}">
                  <a16:creationId xmlns:a16="http://schemas.microsoft.com/office/drawing/2014/main" id="{1D641274-BE3A-46B9-F05E-11E2F3409A88}"/>
                </a:ext>
              </a:extLst>
            </p:cNvPr>
            <p:cNvCxnSpPr>
              <a:cxnSpLocks/>
              <a:stCxn id="14" idx="1"/>
              <a:endCxn id="17" idx="3"/>
            </p:cNvCxnSpPr>
            <p:nvPr/>
          </p:nvCxnSpPr>
          <p:spPr>
            <a:xfrm rot="10800000">
              <a:off x="4006920" y="4594883"/>
              <a:ext cx="1506603" cy="2599"/>
            </a:xfrm>
            <a:prstGeom prst="bentConnector3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dash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id="{8B793B6E-DEA8-97A2-6461-7BBB0CB55FF2}"/>
                </a:ext>
              </a:extLst>
            </p:cNvPr>
            <p:cNvCxnSpPr>
              <a:cxnSpLocks/>
              <a:stCxn id="14" idx="3"/>
              <a:endCxn id="20" idx="1"/>
            </p:cNvCxnSpPr>
            <p:nvPr/>
          </p:nvCxnSpPr>
          <p:spPr>
            <a:xfrm>
              <a:off x="6504311" y="4597483"/>
              <a:ext cx="1340787" cy="1525"/>
            </a:xfrm>
            <a:prstGeom prst="bentConnector3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dash"/>
              <a:miter lim="800000"/>
              <a:headEnd type="triangle"/>
              <a:tailEnd type="triangle"/>
            </a:ln>
            <a:effectLst/>
          </p:spPr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4E6C08-79E0-3967-232C-96B7F4CD2DA4}"/>
                </a:ext>
              </a:extLst>
            </p:cNvPr>
            <p:cNvSpPr/>
            <p:nvPr/>
          </p:nvSpPr>
          <p:spPr>
            <a:xfrm>
              <a:off x="7845098" y="4081336"/>
              <a:ext cx="2008858" cy="1035343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</p:spPr>
          <p:txBody>
            <a:bodyPr wrap="square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Segoe UI" panose="020B0502040204020203" pitchFamily="34" charset="0"/>
                </a:rPr>
                <a:t>Internet, public-facing services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5544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821B7AE-80E9-8113-E324-E65DDD946749}"/>
              </a:ext>
            </a:extLst>
          </p:cNvPr>
          <p:cNvSpPr txBox="1">
            <a:spLocks/>
          </p:cNvSpPr>
          <p:nvPr/>
        </p:nvSpPr>
        <p:spPr>
          <a:xfrm>
            <a:off x="-78023" y="753357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cs typeface="Segoe UI"/>
              </a:rPr>
              <a:t>Create Public IP Addresses</a:t>
            </a:r>
            <a:endParaRPr lang="en-US" dirty="0">
              <a:cs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2859BE-EC54-0F94-3910-6B9C93A8CC30}"/>
              </a:ext>
            </a:extLst>
          </p:cNvPr>
          <p:cNvSpPr/>
          <p:nvPr/>
        </p:nvSpPr>
        <p:spPr>
          <a:xfrm>
            <a:off x="379243" y="2064317"/>
            <a:ext cx="5181284" cy="7647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0" bIns="91440" numCol="1" spcCol="1270" anchor="ctr" anchorCtr="0"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Available in IPv4 or IPv6 or both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83F6-5C3F-81B0-A747-32F24DDD7F4F}"/>
              </a:ext>
            </a:extLst>
          </p:cNvPr>
          <p:cNvSpPr/>
          <p:nvPr/>
        </p:nvSpPr>
        <p:spPr>
          <a:xfrm>
            <a:off x="379243" y="3171812"/>
            <a:ext cx="5181284" cy="7647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0" bIns="91440" numCol="1" spcCol="1270" anchor="ctr" anchorCtr="0"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  <a:cs typeface="Segoe UI Semilight"/>
              </a:rPr>
              <a:t>Basic vs Standard SKU  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E0F50B-C298-163B-8E10-0799BF3874F5}"/>
              </a:ext>
            </a:extLst>
          </p:cNvPr>
          <p:cNvSpPr/>
          <p:nvPr/>
        </p:nvSpPr>
        <p:spPr>
          <a:xfrm>
            <a:off x="379243" y="4279307"/>
            <a:ext cx="5181284" cy="7647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0" bIns="91440" numCol="1" spcCol="1270" anchor="ctr" anchorCtr="0"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Dynamic vs Static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105D81-FF82-CC7C-F588-02F1D00574B6}"/>
              </a:ext>
            </a:extLst>
          </p:cNvPr>
          <p:cNvSpPr/>
          <p:nvPr/>
        </p:nvSpPr>
        <p:spPr>
          <a:xfrm>
            <a:off x="379243" y="5361648"/>
            <a:ext cx="5181284" cy="7647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0" bIns="91440" numCol="1" spcCol="1270" anchor="ctr" anchorCtr="0"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Microsoft vs. internet routing</a:t>
            </a:r>
          </a:p>
        </p:txBody>
      </p:sp>
      <p:pic>
        <p:nvPicPr>
          <p:cNvPr id="15" name="Picture 14" descr="Screenshot of the create public IP address. ">
            <a:extLst>
              <a:ext uri="{FF2B5EF4-FFF2-40B4-BE49-F238E27FC236}">
                <a16:creationId xmlns:a16="http://schemas.microsoft.com/office/drawing/2014/main" id="{1885CAA3-2901-E816-12C7-0870BF6FD0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7103" y="1451513"/>
            <a:ext cx="5562600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25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6">
            <a:extLst>
              <a:ext uri="{FF2B5EF4-FFF2-40B4-BE49-F238E27FC236}">
                <a16:creationId xmlns:a16="http://schemas.microsoft.com/office/drawing/2014/main" id="{04542864-C409-1D42-2D6B-E2B431562ACA}"/>
              </a:ext>
            </a:extLst>
          </p:cNvPr>
          <p:cNvSpPr txBox="1">
            <a:spLocks/>
          </p:cNvSpPr>
          <p:nvPr/>
        </p:nvSpPr>
        <p:spPr>
          <a:xfrm>
            <a:off x="0" y="901669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Associate Public IP Addresses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47F4BE8-8277-1242-953E-D43078CA8D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174817"/>
              </p:ext>
            </p:extLst>
          </p:nvPr>
        </p:nvGraphicFramePr>
        <p:xfrm>
          <a:off x="379243" y="1699851"/>
          <a:ext cx="11582399" cy="328242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3561433">
                  <a:extLst>
                    <a:ext uri="{9D8B030D-6E8A-4147-A177-3AD203B41FA5}">
                      <a16:colId xmlns:a16="http://schemas.microsoft.com/office/drawing/2014/main" val="3174192451"/>
                    </a:ext>
                  </a:extLst>
                </a:gridCol>
                <a:gridCol w="4236555">
                  <a:extLst>
                    <a:ext uri="{9D8B030D-6E8A-4147-A177-3AD203B41FA5}">
                      <a16:colId xmlns:a16="http://schemas.microsoft.com/office/drawing/2014/main" val="2284610204"/>
                    </a:ext>
                  </a:extLst>
                </a:gridCol>
                <a:gridCol w="2006792">
                  <a:extLst>
                    <a:ext uri="{9D8B030D-6E8A-4147-A177-3AD203B41FA5}">
                      <a16:colId xmlns:a16="http://schemas.microsoft.com/office/drawing/2014/main" val="1182798680"/>
                    </a:ext>
                  </a:extLst>
                </a:gridCol>
                <a:gridCol w="1777619">
                  <a:extLst>
                    <a:ext uri="{9D8B030D-6E8A-4147-A177-3AD203B41FA5}">
                      <a16:colId xmlns:a16="http://schemas.microsoft.com/office/drawing/2014/main" val="3457186022"/>
                    </a:ext>
                  </a:extLst>
                </a:gridCol>
              </a:tblGrid>
              <a:tr h="603244">
                <a:tc>
                  <a:txBody>
                    <a:bodyPr/>
                    <a:lstStyle/>
                    <a:p>
                      <a:pPr marL="0" marR="156845">
                        <a:lnSpc>
                          <a:spcPct val="115000"/>
                        </a:lnSpc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Public IP addresses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BB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6845">
                        <a:lnSpc>
                          <a:spcPct val="115000"/>
                        </a:lnSpc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IP address association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BB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6845">
                        <a:lnSpc>
                          <a:spcPct val="115000"/>
                        </a:lnSpc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Dynamic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BB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6845">
                        <a:lnSpc>
                          <a:spcPct val="115000"/>
                        </a:lnSpc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Static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B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654805"/>
                  </a:ext>
                </a:extLst>
              </a:tr>
              <a:tr h="669794">
                <a:tc>
                  <a:txBody>
                    <a:bodyPr/>
                    <a:lstStyle/>
                    <a:p>
                      <a:pPr marL="0" marR="156845">
                        <a:lnSpc>
                          <a:spcPct val="115000"/>
                        </a:lnSpc>
                      </a:pPr>
                      <a:r>
                        <a:rPr lang="en-US" sz="2200" dirty="0">
                          <a:effectLst/>
                          <a:latin typeface="+mj-lt"/>
                        </a:rPr>
                        <a:t>Virtual Machine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6845">
                        <a:lnSpc>
                          <a:spcPct val="115000"/>
                        </a:lnSpc>
                      </a:pPr>
                      <a:r>
                        <a:rPr lang="en-US" sz="2200" dirty="0">
                          <a:effectLst/>
                        </a:rPr>
                        <a:t>NIC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56845">
                        <a:lnSpc>
                          <a:spcPct val="115000"/>
                        </a:lnSpc>
                      </a:pPr>
                      <a:r>
                        <a:rPr lang="en-US" sz="2200" dirty="0">
                          <a:effectLst/>
                        </a:rPr>
                        <a:t>Yes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56845">
                        <a:lnSpc>
                          <a:spcPct val="115000"/>
                        </a:lnSpc>
                      </a:pPr>
                      <a:r>
                        <a:rPr lang="en-US" sz="2200" dirty="0">
                          <a:effectLst/>
                        </a:rPr>
                        <a:t>Yes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1043496"/>
                  </a:ext>
                </a:extLst>
              </a:tr>
              <a:tr h="669794">
                <a:tc>
                  <a:txBody>
                    <a:bodyPr/>
                    <a:lstStyle/>
                    <a:p>
                      <a:pPr marL="0" marR="156845">
                        <a:lnSpc>
                          <a:spcPct val="115000"/>
                        </a:lnSpc>
                      </a:pPr>
                      <a:r>
                        <a:rPr lang="en-US" sz="2200" dirty="0">
                          <a:effectLst/>
                          <a:latin typeface="+mj-lt"/>
                        </a:rPr>
                        <a:t>Load Balancer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6845">
                        <a:lnSpc>
                          <a:spcPct val="115000"/>
                        </a:lnSpc>
                      </a:pPr>
                      <a:r>
                        <a:rPr lang="en-US" sz="2200" dirty="0">
                          <a:effectLst/>
                        </a:rPr>
                        <a:t>Front-end configuration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56845">
                        <a:lnSpc>
                          <a:spcPct val="115000"/>
                        </a:lnSpc>
                      </a:pPr>
                      <a:r>
                        <a:rPr lang="en-US" sz="2200" dirty="0">
                          <a:effectLst/>
                        </a:rPr>
                        <a:t>Yes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56845">
                        <a:lnSpc>
                          <a:spcPct val="115000"/>
                        </a:lnSpc>
                      </a:pPr>
                      <a:r>
                        <a:rPr lang="en-US" sz="2200" dirty="0">
                          <a:effectLst/>
                        </a:rPr>
                        <a:t>Yes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9406885"/>
                  </a:ext>
                </a:extLst>
              </a:tr>
              <a:tr h="669794">
                <a:tc>
                  <a:txBody>
                    <a:bodyPr/>
                    <a:lstStyle/>
                    <a:p>
                      <a:pPr marL="0" marR="156845">
                        <a:lnSpc>
                          <a:spcPct val="115000"/>
                        </a:lnSpc>
                      </a:pPr>
                      <a:r>
                        <a:rPr lang="en-US" sz="2200" dirty="0">
                          <a:effectLst/>
                          <a:latin typeface="+mj-lt"/>
                        </a:rPr>
                        <a:t>VPN Gateway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6845">
                        <a:lnSpc>
                          <a:spcPct val="115000"/>
                        </a:lnSpc>
                      </a:pPr>
                      <a:r>
                        <a:rPr lang="en-US" sz="2200" dirty="0">
                          <a:effectLst/>
                        </a:rPr>
                        <a:t>Gateway IP configuration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56845">
                        <a:lnSpc>
                          <a:spcPct val="115000"/>
                        </a:lnSpc>
                      </a:pPr>
                      <a:r>
                        <a:rPr lang="en-US" sz="2200" dirty="0">
                          <a:effectLst/>
                        </a:rPr>
                        <a:t>Yes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56845">
                        <a:lnSpc>
                          <a:spcPct val="115000"/>
                        </a:lnSpc>
                      </a:pPr>
                      <a:r>
                        <a:rPr lang="en-US" sz="2200" dirty="0">
                          <a:effectLst/>
                        </a:rPr>
                        <a:t>Yes*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5675026"/>
                  </a:ext>
                </a:extLst>
              </a:tr>
              <a:tr h="669794">
                <a:tc>
                  <a:txBody>
                    <a:bodyPr/>
                    <a:lstStyle/>
                    <a:p>
                      <a:pPr marL="0" marR="156845">
                        <a:lnSpc>
                          <a:spcPct val="115000"/>
                        </a:lnSpc>
                      </a:pPr>
                      <a:r>
                        <a:rPr lang="en-US" sz="2200" dirty="0">
                          <a:effectLst/>
                          <a:latin typeface="+mj-lt"/>
                        </a:rPr>
                        <a:t>Application Gateway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6845">
                        <a:lnSpc>
                          <a:spcPct val="115000"/>
                        </a:lnSpc>
                      </a:pPr>
                      <a:r>
                        <a:rPr lang="en-US" sz="2200" dirty="0">
                          <a:effectLst/>
                        </a:rPr>
                        <a:t>Front-end configuration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56845">
                        <a:lnSpc>
                          <a:spcPct val="115000"/>
                        </a:lnSpc>
                      </a:pPr>
                      <a:r>
                        <a:rPr lang="en-US" sz="2200" dirty="0">
                          <a:effectLst/>
                        </a:rPr>
                        <a:t>Yes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56845">
                        <a:lnSpc>
                          <a:spcPct val="115000"/>
                        </a:lnSpc>
                      </a:pPr>
                      <a:r>
                        <a:rPr lang="en-US" sz="2200" dirty="0">
                          <a:effectLst/>
                        </a:rPr>
                        <a:t>Yes*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467203"/>
                  </a:ext>
                </a:extLst>
              </a:tr>
            </a:tbl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9DB81AD-A5BD-9DB8-F7F4-CC5B3602FD34}"/>
              </a:ext>
            </a:extLst>
          </p:cNvPr>
          <p:cNvSpPr txBox="1">
            <a:spLocks/>
          </p:cNvSpPr>
          <p:nvPr/>
        </p:nvSpPr>
        <p:spPr>
          <a:xfrm>
            <a:off x="379243" y="5208992"/>
            <a:ext cx="11571288" cy="10972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txBody>
          <a:bodyPr vert="horz" wrap="square" lIns="137160" tIns="91440" rIns="137160" bIns="91440" rtlCol="0" anchor="ctr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-50" baseline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000" b="1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331854" indent="0" algn="l" defTabSz="93274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3274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spc="0" dirty="0">
                <a:latin typeface="+mn-lt"/>
                <a:cs typeface="Segoe UI Semilight"/>
              </a:rPr>
              <a:t>A public IP address resource can be associated with virtual machine network interfaces, internet-facing load balancers, VPN gateways, and application gateways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8BC8703-FFD6-1C30-4ADD-696527371C06}"/>
              </a:ext>
            </a:extLst>
          </p:cNvPr>
          <p:cNvSpPr txBox="1">
            <a:spLocks/>
          </p:cNvSpPr>
          <p:nvPr/>
        </p:nvSpPr>
        <p:spPr>
          <a:xfrm>
            <a:off x="390354" y="6306272"/>
            <a:ext cx="4547014" cy="24622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-50" baseline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000" b="1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331854" indent="0" algn="l" defTabSz="93274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3274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spc="0" dirty="0">
                <a:latin typeface="+mn-lt"/>
                <a:cs typeface="Segoe UI Semilight"/>
              </a:rPr>
              <a:t>*Static IP addresses only available on certain SKUs.</a:t>
            </a:r>
            <a:endParaRPr lang="en-US" sz="1600" spc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4480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6">
            <a:extLst>
              <a:ext uri="{FF2B5EF4-FFF2-40B4-BE49-F238E27FC236}">
                <a16:creationId xmlns:a16="http://schemas.microsoft.com/office/drawing/2014/main" id="{5DB38695-F615-7C23-EDB4-123F8107E525}"/>
              </a:ext>
            </a:extLst>
          </p:cNvPr>
          <p:cNvSpPr txBox="1">
            <a:spLocks/>
          </p:cNvSpPr>
          <p:nvPr/>
        </p:nvSpPr>
        <p:spPr>
          <a:xfrm>
            <a:off x="1318458" y="869272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Allocate or Assign Private IP Addresses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F671D4C-E173-D0B3-BBF1-25AD481E19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288633"/>
              </p:ext>
            </p:extLst>
          </p:nvPr>
        </p:nvGraphicFramePr>
        <p:xfrm>
          <a:off x="379243" y="1590213"/>
          <a:ext cx="11582399" cy="270338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3561433">
                  <a:extLst>
                    <a:ext uri="{9D8B030D-6E8A-4147-A177-3AD203B41FA5}">
                      <a16:colId xmlns:a16="http://schemas.microsoft.com/office/drawing/2014/main" val="3174192451"/>
                    </a:ext>
                  </a:extLst>
                </a:gridCol>
                <a:gridCol w="4236555">
                  <a:extLst>
                    <a:ext uri="{9D8B030D-6E8A-4147-A177-3AD203B41FA5}">
                      <a16:colId xmlns:a16="http://schemas.microsoft.com/office/drawing/2014/main" val="2284610204"/>
                    </a:ext>
                  </a:extLst>
                </a:gridCol>
                <a:gridCol w="2006792">
                  <a:extLst>
                    <a:ext uri="{9D8B030D-6E8A-4147-A177-3AD203B41FA5}">
                      <a16:colId xmlns:a16="http://schemas.microsoft.com/office/drawing/2014/main" val="1182798680"/>
                    </a:ext>
                  </a:extLst>
                </a:gridCol>
                <a:gridCol w="1777619">
                  <a:extLst>
                    <a:ext uri="{9D8B030D-6E8A-4147-A177-3AD203B41FA5}">
                      <a16:colId xmlns:a16="http://schemas.microsoft.com/office/drawing/2014/main" val="3457186022"/>
                    </a:ext>
                  </a:extLst>
                </a:gridCol>
              </a:tblGrid>
              <a:tr h="624199">
                <a:tc>
                  <a:txBody>
                    <a:bodyPr/>
                    <a:lstStyle/>
                    <a:p>
                      <a:pPr marL="0" marR="156845" algn="l" defTabSz="932742" rtl="0" eaLnBrk="1" latinLnBrk="0" hangingPunct="1">
                        <a:lnSpc>
                          <a:spcPct val="115000"/>
                        </a:lnSpc>
                      </a:pP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Private IP Addresses</a:t>
                      </a:r>
                      <a:endParaRPr lang="en-US" sz="2200" b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6845" algn="l" defTabSz="932742" rtl="0" eaLnBrk="1" latinLnBrk="0" hangingPunct="1">
                        <a:lnSpc>
                          <a:spcPct val="115000"/>
                        </a:lnSpc>
                      </a:pP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IP address association</a:t>
                      </a:r>
                      <a:endParaRPr lang="en-US" sz="2200" b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6845" algn="l" defTabSz="932742" rtl="0" eaLnBrk="1" latinLnBrk="0" hangingPunct="1">
                        <a:lnSpc>
                          <a:spcPct val="115000"/>
                        </a:lnSpc>
                      </a:pP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Dynamic</a:t>
                      </a:r>
                      <a:endParaRPr lang="en-US" sz="2200" b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6845" algn="l" defTabSz="932742" rtl="0" eaLnBrk="1" latinLnBrk="0" hangingPunct="1">
                        <a:lnSpc>
                          <a:spcPct val="115000"/>
                        </a:lnSpc>
                      </a:pP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Static</a:t>
                      </a:r>
                      <a:endParaRPr lang="en-US" sz="2200" b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654805"/>
                  </a:ext>
                </a:extLst>
              </a:tr>
              <a:tr h="693061">
                <a:tc>
                  <a:txBody>
                    <a:bodyPr/>
                    <a:lstStyle/>
                    <a:p>
                      <a:pPr marL="0" marR="156845" algn="l" defTabSz="932742" rtl="0" eaLnBrk="1" latinLnBrk="0" hangingPunct="1">
                        <a:lnSpc>
                          <a:spcPct val="115000"/>
                        </a:lnSpc>
                      </a:pPr>
                      <a:r>
                        <a:rPr lang="en-US" sz="2200" kern="1200" dirty="0">
                          <a:effectLst/>
                          <a:latin typeface="+mj-lt"/>
                        </a:rPr>
                        <a:t>Virtual Machine</a:t>
                      </a:r>
                      <a:endParaRPr lang="en-US" sz="2200" b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6845" algn="l" defTabSz="932742" rtl="0" eaLnBrk="1" latinLnBrk="0" hangingPunct="1">
                        <a:lnSpc>
                          <a:spcPct val="115000"/>
                        </a:lnSpc>
                      </a:pPr>
                      <a:r>
                        <a:rPr lang="en-US" sz="2200" kern="1200" dirty="0">
                          <a:effectLst/>
                        </a:rPr>
                        <a:t>NIC</a:t>
                      </a:r>
                      <a:endParaRPr lang="en-US" sz="2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56845" algn="l" defTabSz="932742" rtl="0" eaLnBrk="1" latinLnBrk="0" hangingPunct="1">
                        <a:lnSpc>
                          <a:spcPct val="115000"/>
                        </a:lnSpc>
                      </a:pPr>
                      <a:r>
                        <a:rPr lang="en-US" sz="2200" kern="1200" dirty="0">
                          <a:effectLst/>
                        </a:rPr>
                        <a:t>Yes</a:t>
                      </a:r>
                      <a:endParaRPr lang="en-US" sz="2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56845" algn="l" defTabSz="932742" rtl="0" eaLnBrk="1" latinLnBrk="0" hangingPunct="1">
                        <a:lnSpc>
                          <a:spcPct val="115000"/>
                        </a:lnSpc>
                      </a:pPr>
                      <a:r>
                        <a:rPr lang="en-US" sz="2200" kern="1200" dirty="0">
                          <a:effectLst/>
                        </a:rPr>
                        <a:t>Yes</a:t>
                      </a:r>
                      <a:endParaRPr lang="en-US" sz="2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1043496"/>
                  </a:ext>
                </a:extLst>
              </a:tr>
              <a:tr h="693061">
                <a:tc>
                  <a:txBody>
                    <a:bodyPr/>
                    <a:lstStyle/>
                    <a:p>
                      <a:pPr marL="0" marR="156845" algn="l" defTabSz="932742" rtl="0" eaLnBrk="1" latinLnBrk="0" hangingPunct="1">
                        <a:lnSpc>
                          <a:spcPct val="115000"/>
                        </a:lnSpc>
                      </a:pPr>
                      <a:r>
                        <a:rPr lang="en-US" sz="2200" kern="1200" dirty="0">
                          <a:effectLst/>
                          <a:latin typeface="+mj-lt"/>
                        </a:rPr>
                        <a:t>Internal Load Balancer</a:t>
                      </a:r>
                      <a:endParaRPr lang="en-US" sz="2200" b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6845" algn="l" defTabSz="932742" rtl="0" eaLnBrk="1" latinLnBrk="0" hangingPunct="1">
                        <a:lnSpc>
                          <a:spcPct val="115000"/>
                        </a:lnSpc>
                      </a:pPr>
                      <a:r>
                        <a:rPr lang="en-US" sz="2200" kern="1200" dirty="0">
                          <a:effectLst/>
                        </a:rPr>
                        <a:t>Front-end configuration</a:t>
                      </a:r>
                      <a:endParaRPr lang="en-US" sz="2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56845" algn="l" defTabSz="932742" rtl="0" eaLnBrk="1" latinLnBrk="0" hangingPunct="1">
                        <a:lnSpc>
                          <a:spcPct val="115000"/>
                        </a:lnSpc>
                      </a:pPr>
                      <a:r>
                        <a:rPr lang="en-US" sz="2200" kern="1200" dirty="0">
                          <a:effectLst/>
                        </a:rPr>
                        <a:t>Yes</a:t>
                      </a:r>
                      <a:endParaRPr lang="en-US" sz="2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56845" algn="l" defTabSz="932742" rtl="0" eaLnBrk="1" latinLnBrk="0" hangingPunct="1">
                        <a:lnSpc>
                          <a:spcPct val="115000"/>
                        </a:lnSpc>
                      </a:pPr>
                      <a:r>
                        <a:rPr lang="en-US" sz="2200" kern="1200" dirty="0">
                          <a:effectLst/>
                        </a:rPr>
                        <a:t>Yes</a:t>
                      </a:r>
                      <a:endParaRPr lang="en-US" sz="2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9406885"/>
                  </a:ext>
                </a:extLst>
              </a:tr>
              <a:tr h="693061">
                <a:tc>
                  <a:txBody>
                    <a:bodyPr/>
                    <a:lstStyle/>
                    <a:p>
                      <a:pPr marL="0" marR="156845" algn="l" defTabSz="932742" rtl="0" eaLnBrk="1" latinLnBrk="0" hangingPunct="1">
                        <a:lnSpc>
                          <a:spcPct val="115000"/>
                        </a:lnSpc>
                      </a:pPr>
                      <a:r>
                        <a:rPr lang="en-US" sz="2200" kern="1200" dirty="0">
                          <a:effectLst/>
                          <a:latin typeface="+mj-lt"/>
                        </a:rPr>
                        <a:t>Application Gateway</a:t>
                      </a:r>
                      <a:endParaRPr lang="en-US" sz="2200" b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6845" algn="l" defTabSz="932742" rtl="0" eaLnBrk="1" latinLnBrk="0" hangingPunct="1">
                        <a:lnSpc>
                          <a:spcPct val="115000"/>
                        </a:lnSpc>
                      </a:pPr>
                      <a:r>
                        <a:rPr lang="en-US" sz="2200" kern="1200" dirty="0">
                          <a:effectLst/>
                        </a:rPr>
                        <a:t>Front-end configuration</a:t>
                      </a:r>
                      <a:endParaRPr lang="en-US" sz="2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56845" algn="l" defTabSz="932742" rtl="0" eaLnBrk="1" latinLnBrk="0" hangingPunct="1">
                        <a:lnSpc>
                          <a:spcPct val="115000"/>
                        </a:lnSpc>
                      </a:pPr>
                      <a:r>
                        <a:rPr lang="en-US" sz="2200" kern="1200" dirty="0">
                          <a:effectLst/>
                        </a:rPr>
                        <a:t>Yes</a:t>
                      </a:r>
                      <a:endParaRPr lang="en-US" sz="2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56845" algn="l" defTabSz="932742" rtl="0" eaLnBrk="1" latinLnBrk="0" hangingPunct="1">
                        <a:lnSpc>
                          <a:spcPct val="115000"/>
                        </a:lnSpc>
                      </a:pPr>
                      <a:r>
                        <a:rPr lang="en-US" sz="2200" kern="1200" dirty="0">
                          <a:effectLst/>
                        </a:rPr>
                        <a:t>Yes</a:t>
                      </a:r>
                      <a:endParaRPr lang="en-US" sz="2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Segoe UI Semilight"/>
                      </a:endParaRPr>
                    </a:p>
                  </a:txBody>
                  <a:tcPr marL="137160" marR="137160" marT="91440" marB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5675026"/>
                  </a:ext>
                </a:extLst>
              </a:tr>
            </a:tbl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8CD0839-7868-5852-E6D8-9E03C246A8DA}"/>
              </a:ext>
            </a:extLst>
          </p:cNvPr>
          <p:cNvSpPr txBox="1">
            <a:spLocks/>
          </p:cNvSpPr>
          <p:nvPr/>
        </p:nvSpPr>
        <p:spPr>
          <a:xfrm>
            <a:off x="379243" y="4432046"/>
            <a:ext cx="11582400" cy="97766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txBody>
          <a:bodyPr vert="horz" wrap="square" lIns="137160" tIns="91440" rIns="137160" bIns="91440" rtlCol="0" anchor="ctr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-50" baseline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000" b="1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331854" indent="0" algn="l" defTabSz="93274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3274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200" spc="0" dirty="0">
                <a:solidFill>
                  <a:schemeClr val="tx2">
                    <a:lumMod val="50000"/>
                  </a:schemeClr>
                </a:solidFill>
                <a:cs typeface="Segoe UI Semilight"/>
              </a:rPr>
              <a:t>Dynamic (default).</a:t>
            </a:r>
            <a:r>
              <a:rPr lang="en-US" sz="2200" spc="0" dirty="0">
                <a:solidFill>
                  <a:schemeClr val="tx2">
                    <a:lumMod val="50000"/>
                  </a:schemeClr>
                </a:solidFill>
                <a:latin typeface="+mn-lt"/>
                <a:cs typeface="Segoe UI Semilight"/>
              </a:rPr>
              <a:t> </a:t>
            </a:r>
            <a:r>
              <a:rPr lang="en-US" sz="2200" spc="0" dirty="0">
                <a:latin typeface="+mn-lt"/>
                <a:cs typeface="Segoe UI Semilight"/>
              </a:rPr>
              <a:t>Azure assigns the next available unassigned or unreserved IP address in the subnet’s address range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D98A2EC-351A-68DB-28EE-875E1034C385}"/>
              </a:ext>
            </a:extLst>
          </p:cNvPr>
          <p:cNvSpPr txBox="1">
            <a:spLocks/>
          </p:cNvSpPr>
          <p:nvPr/>
        </p:nvSpPr>
        <p:spPr>
          <a:xfrm>
            <a:off x="379243" y="5548166"/>
            <a:ext cx="11582400" cy="97766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txBody>
          <a:bodyPr vert="horz" wrap="square" lIns="137160" tIns="91440" rIns="137160" bIns="91440" rtlCol="0" anchor="ctr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-50" baseline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000" b="1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331854" indent="0" algn="l" defTabSz="93274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3274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200" spc="0" dirty="0">
                <a:solidFill>
                  <a:schemeClr val="tx2">
                    <a:lumMod val="50000"/>
                  </a:schemeClr>
                </a:solidFill>
                <a:cs typeface="Segoe UI Semilight"/>
              </a:rPr>
              <a:t>Static</a:t>
            </a:r>
            <a:r>
              <a:rPr lang="en-US" sz="2200" spc="0" dirty="0">
                <a:solidFill>
                  <a:schemeClr val="tx2"/>
                </a:solidFill>
                <a:cs typeface="Segoe UI Semilight"/>
              </a:rPr>
              <a:t>. </a:t>
            </a:r>
            <a:r>
              <a:rPr lang="en-US" sz="2200" spc="0" dirty="0">
                <a:latin typeface="+mn-lt"/>
                <a:cs typeface="Segoe UI Semilight"/>
              </a:rPr>
              <a:t>You select and assign any unassigned or unreserved IP address in the subnet's address range </a:t>
            </a:r>
          </a:p>
        </p:txBody>
      </p:sp>
    </p:spTree>
    <p:extLst>
      <p:ext uri="{BB962C8B-B14F-4D97-AF65-F5344CB8AC3E}">
        <p14:creationId xmlns:p14="http://schemas.microsoft.com/office/powerpoint/2010/main" val="2058876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164ABA0-93E8-4025-C94F-125A56887DC8}"/>
              </a:ext>
            </a:extLst>
          </p:cNvPr>
          <p:cNvSpPr txBox="1">
            <a:spLocks/>
          </p:cNvSpPr>
          <p:nvPr/>
        </p:nvSpPr>
        <p:spPr>
          <a:xfrm>
            <a:off x="1533167" y="2345463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Demonstration – Virtual Networks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7A8AEB-FFE3-703F-60FE-BAC1C006CAA7}"/>
              </a:ext>
            </a:extLst>
          </p:cNvPr>
          <p:cNvSpPr txBox="1"/>
          <p:nvPr/>
        </p:nvSpPr>
        <p:spPr>
          <a:xfrm>
            <a:off x="1807169" y="3603080"/>
            <a:ext cx="6574428" cy="1446550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Create a virtual network in the Azure portal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Configure subnets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Create a public IP address</a:t>
            </a:r>
          </a:p>
        </p:txBody>
      </p:sp>
    </p:spTree>
    <p:extLst>
      <p:ext uri="{BB962C8B-B14F-4D97-AF65-F5344CB8AC3E}">
        <p14:creationId xmlns:p14="http://schemas.microsoft.com/office/powerpoint/2010/main" val="2211557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C2548839-3939-0CEE-BB80-F07D21DCA629}"/>
              </a:ext>
            </a:extLst>
          </p:cNvPr>
          <p:cNvSpPr txBox="1"/>
          <p:nvPr/>
        </p:nvSpPr>
        <p:spPr>
          <a:xfrm>
            <a:off x="2460426" y="2877900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Configure Network Security Groups (NSGs)</a:t>
            </a:r>
          </a:p>
        </p:txBody>
      </p:sp>
    </p:spTree>
    <p:extLst>
      <p:ext uri="{BB962C8B-B14F-4D97-AF65-F5344CB8AC3E}">
        <p14:creationId xmlns:p14="http://schemas.microsoft.com/office/powerpoint/2010/main" val="3121288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6">
            <a:extLst>
              <a:ext uri="{FF2B5EF4-FFF2-40B4-BE49-F238E27FC236}">
                <a16:creationId xmlns:a16="http://schemas.microsoft.com/office/drawing/2014/main" id="{C9ADD63A-C708-8511-C0DA-78601A2DE6D8}"/>
              </a:ext>
            </a:extLst>
          </p:cNvPr>
          <p:cNvSpPr txBox="1">
            <a:spLocks/>
          </p:cNvSpPr>
          <p:nvPr/>
        </p:nvSpPr>
        <p:spPr>
          <a:xfrm>
            <a:off x="185904" y="1337158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Implement Network Security Groups </a:t>
            </a:r>
          </a:p>
        </p:txBody>
      </p:sp>
      <p:pic>
        <p:nvPicPr>
          <p:cNvPr id="11" name="Picture 3" descr="Screenshot of the network security group overview blade. One subnet and one custom security rule are shown.">
            <a:extLst>
              <a:ext uri="{FF2B5EF4-FFF2-40B4-BE49-F238E27FC236}">
                <a16:creationId xmlns:a16="http://schemas.microsoft.com/office/drawing/2014/main" id="{C0BA8D9B-5C7E-F7C7-FB54-F76F1CB7C9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511" y="2180757"/>
            <a:ext cx="11185861" cy="2485198"/>
          </a:xfrm>
          <a:prstGeom prst="rect">
            <a:avLst/>
          </a:prstGeom>
          <a:ln>
            <a:noFill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1CF552C-1706-9793-0A0C-BC0A07461C50}"/>
              </a:ext>
            </a:extLst>
          </p:cNvPr>
          <p:cNvSpPr/>
          <p:nvPr/>
        </p:nvSpPr>
        <p:spPr>
          <a:xfrm>
            <a:off x="417341" y="5109797"/>
            <a:ext cx="2830816" cy="129312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Limits network traffic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to resources in a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virtual network</a:t>
            </a:r>
            <a:endParaRPr lang="bs-Latn-BA" sz="20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B6F16B-AA2B-A215-8B0F-AB3B3E61077B}"/>
              </a:ext>
            </a:extLst>
          </p:cNvPr>
          <p:cNvSpPr/>
          <p:nvPr/>
        </p:nvSpPr>
        <p:spPr>
          <a:xfrm>
            <a:off x="3363540" y="5101534"/>
            <a:ext cx="2830816" cy="129312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Lists the security rules that allow or deny inbound or outbound network traffic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3EA952-3FAB-7033-C344-9DDE7E148F95}"/>
              </a:ext>
            </a:extLst>
          </p:cNvPr>
          <p:cNvSpPr/>
          <p:nvPr/>
        </p:nvSpPr>
        <p:spPr>
          <a:xfrm>
            <a:off x="6309739" y="5109797"/>
            <a:ext cx="2830816" cy="129312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Associated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to a subnet or a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network interface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BE8742-FC0D-AEDC-5D30-1E6BD24F2896}"/>
              </a:ext>
            </a:extLst>
          </p:cNvPr>
          <p:cNvSpPr/>
          <p:nvPr/>
        </p:nvSpPr>
        <p:spPr>
          <a:xfrm>
            <a:off x="9255938" y="5080042"/>
            <a:ext cx="2830816" cy="129312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pPr algn="ctr"/>
            <a:r>
              <a:rPr lang="en-US" sz="2000" b="0" i="0" dirty="0">
                <a:solidFill>
                  <a:schemeClr val="tx1"/>
                </a:solidFill>
                <a:effectLst/>
                <a:latin typeface="Segoe UI VSS (Regular)"/>
              </a:rPr>
              <a:t>Can be associated multiple times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423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6">
            <a:extLst>
              <a:ext uri="{FF2B5EF4-FFF2-40B4-BE49-F238E27FC236}">
                <a16:creationId xmlns:a16="http://schemas.microsoft.com/office/drawing/2014/main" id="{5052C2C3-F40A-93D1-EF25-E4EB8912F945}"/>
              </a:ext>
            </a:extLst>
          </p:cNvPr>
          <p:cNvSpPr txBox="1">
            <a:spLocks/>
          </p:cNvSpPr>
          <p:nvPr/>
        </p:nvSpPr>
        <p:spPr>
          <a:xfrm>
            <a:off x="381002" y="1096889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Determine NSG Rules</a:t>
            </a:r>
            <a:endParaRPr lang="en-US" dirty="0"/>
          </a:p>
        </p:txBody>
      </p:sp>
      <p:pic>
        <p:nvPicPr>
          <p:cNvPr id="11" name="Picture 3" descr="Screenshot of the inbound and outbound NSG rules page">
            <a:extLst>
              <a:ext uri="{FF2B5EF4-FFF2-40B4-BE49-F238E27FC236}">
                <a16:creationId xmlns:a16="http://schemas.microsoft.com/office/drawing/2014/main" id="{CC8BD263-B652-B6C6-2B27-C9A0C91704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8475" y="1946829"/>
            <a:ext cx="9187454" cy="3110872"/>
          </a:xfrm>
          <a:prstGeom prst="rect">
            <a:avLst/>
          </a:prstGeom>
          <a:ln>
            <a:noFill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93C2609-45D2-8269-894A-C8B0CAA26A64}"/>
              </a:ext>
            </a:extLst>
          </p:cNvPr>
          <p:cNvSpPr/>
          <p:nvPr/>
        </p:nvSpPr>
        <p:spPr>
          <a:xfrm>
            <a:off x="381000" y="5213905"/>
            <a:ext cx="5715000" cy="125142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Security rules in NSGs enable you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to filter network traffic that can flow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in and out of virtual network subnets and network interfaces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434A8F-3E13-E54A-6D58-ED3B787BD459}"/>
              </a:ext>
            </a:extLst>
          </p:cNvPr>
          <p:cNvSpPr/>
          <p:nvPr/>
        </p:nvSpPr>
        <p:spPr>
          <a:xfrm>
            <a:off x="6248401" y="5213905"/>
            <a:ext cx="5715000" cy="125142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There are default security rules.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You cannot delete the default rules,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but you can add other rules with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a higher priority</a:t>
            </a:r>
          </a:p>
        </p:txBody>
      </p:sp>
    </p:spTree>
    <p:extLst>
      <p:ext uri="{BB962C8B-B14F-4D97-AF65-F5344CB8AC3E}">
        <p14:creationId xmlns:p14="http://schemas.microsoft.com/office/powerpoint/2010/main" val="1874465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6">
            <a:extLst>
              <a:ext uri="{FF2B5EF4-FFF2-40B4-BE49-F238E27FC236}">
                <a16:creationId xmlns:a16="http://schemas.microsoft.com/office/drawing/2014/main" id="{772FF727-3D1C-902C-0F25-28DA99D022A1}"/>
              </a:ext>
            </a:extLst>
          </p:cNvPr>
          <p:cNvSpPr txBox="1">
            <a:spLocks/>
          </p:cNvSpPr>
          <p:nvPr/>
        </p:nvSpPr>
        <p:spPr>
          <a:xfrm>
            <a:off x="288009" y="1022870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Determine NSG Effective Rules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93F599-3241-D75E-91D4-835F6AF41448}"/>
              </a:ext>
            </a:extLst>
          </p:cNvPr>
          <p:cNvSpPr/>
          <p:nvPr/>
        </p:nvSpPr>
        <p:spPr>
          <a:xfrm>
            <a:off x="592680" y="1966825"/>
            <a:ext cx="4475163" cy="12089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  <a:cs typeface="Segoe UI Semilight"/>
              </a:rPr>
              <a:t>NSGs are evaluated independently for the</a:t>
            </a:r>
            <a:br>
              <a:rPr lang="en-US" sz="2400" dirty="0">
                <a:solidFill>
                  <a:schemeClr val="tx1"/>
                </a:solidFill>
                <a:cs typeface="Segoe UI Semilight"/>
              </a:rPr>
            </a:br>
            <a:r>
              <a:rPr lang="en-US" sz="2400" dirty="0">
                <a:solidFill>
                  <a:schemeClr val="tx1"/>
                </a:solidFill>
                <a:cs typeface="Segoe UI Semilight"/>
              </a:rPr>
              <a:t>subnet and NIC 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C97B82-17AF-E6A3-EE8B-75BA437062F5}"/>
              </a:ext>
            </a:extLst>
          </p:cNvPr>
          <p:cNvSpPr/>
          <p:nvPr/>
        </p:nvSpPr>
        <p:spPr>
          <a:xfrm>
            <a:off x="592679" y="3446198"/>
            <a:ext cx="4475163" cy="12089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  <a:cs typeface="Segoe UI Semilight"/>
              </a:rPr>
              <a:t>An “allow” rule must exist</a:t>
            </a:r>
            <a:br>
              <a:rPr lang="en-US" sz="2400" dirty="0">
                <a:solidFill>
                  <a:schemeClr val="tx1"/>
                </a:solidFill>
                <a:cs typeface="Segoe UI Semilight"/>
              </a:rPr>
            </a:br>
            <a:r>
              <a:rPr lang="en-US" sz="2400" dirty="0">
                <a:solidFill>
                  <a:schemeClr val="tx1"/>
                </a:solidFill>
                <a:cs typeface="Segoe UI Semilight"/>
              </a:rPr>
              <a:t>at both levels for traffic to</a:t>
            </a:r>
            <a:br>
              <a:rPr lang="en-US" sz="2400" dirty="0">
                <a:solidFill>
                  <a:schemeClr val="tx1"/>
                </a:solidFill>
                <a:cs typeface="Segoe UI Semilight"/>
              </a:rPr>
            </a:br>
            <a:r>
              <a:rPr lang="en-US" sz="2400" dirty="0">
                <a:solidFill>
                  <a:schemeClr val="tx1"/>
                </a:solidFill>
                <a:cs typeface="Segoe UI Semilight"/>
              </a:rPr>
              <a:t>be admitted 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4EAEEB-AFC0-0CDB-CA19-B2F38F3918D6}"/>
              </a:ext>
            </a:extLst>
          </p:cNvPr>
          <p:cNvSpPr/>
          <p:nvPr/>
        </p:nvSpPr>
        <p:spPr>
          <a:xfrm>
            <a:off x="592679" y="4925571"/>
            <a:ext cx="4475163" cy="12089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  <a:cs typeface="Segoe UI Semilight"/>
              </a:rPr>
              <a:t>Use the Effective Rules link if you are not sure which security rules are being applied</a:t>
            </a:r>
          </a:p>
        </p:txBody>
      </p:sp>
      <p:pic>
        <p:nvPicPr>
          <p:cNvPr id="14" name="Picture 13" descr="A NSG is shown controlling traffic to a subnet. Inside the subnet another NSG is shown controlling traffic to a virtual machine NIC">
            <a:extLst>
              <a:ext uri="{FF2B5EF4-FFF2-40B4-BE49-F238E27FC236}">
                <a16:creationId xmlns:a16="http://schemas.microsoft.com/office/drawing/2014/main" id="{492DD4F2-0474-DC9E-C38E-02522785BDA1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830" y="1966825"/>
            <a:ext cx="6441130" cy="4070484"/>
          </a:xfrm>
          <a:prstGeom prst="rect">
            <a:avLst/>
          </a:prstGeom>
          <a:noFill/>
        </p:spPr>
      </p:pic>
      <p:pic>
        <p:nvPicPr>
          <p:cNvPr id="15" name="Picture 2" descr="Screenshot showing the status of a network interface">
            <a:extLst>
              <a:ext uri="{FF2B5EF4-FFF2-40B4-BE49-F238E27FC236}">
                <a16:creationId xmlns:a16="http://schemas.microsoft.com/office/drawing/2014/main" id="{C71DA0AA-4CC7-0A2B-8151-E5674CC629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2096" y="6235911"/>
            <a:ext cx="6464597" cy="487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997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6">
            <a:extLst>
              <a:ext uri="{FF2B5EF4-FFF2-40B4-BE49-F238E27FC236}">
                <a16:creationId xmlns:a16="http://schemas.microsoft.com/office/drawing/2014/main" id="{4A36D128-410B-BC9D-52FC-D8E4088158A9}"/>
              </a:ext>
            </a:extLst>
          </p:cNvPr>
          <p:cNvSpPr txBox="1">
            <a:spLocks/>
          </p:cNvSpPr>
          <p:nvPr/>
        </p:nvSpPr>
        <p:spPr>
          <a:xfrm>
            <a:off x="561497" y="1062516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Create NSG rules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50BE-691A-DF9E-E175-B0BA8CC7E3C6}"/>
              </a:ext>
            </a:extLst>
          </p:cNvPr>
          <p:cNvSpPr/>
          <p:nvPr/>
        </p:nvSpPr>
        <p:spPr>
          <a:xfrm>
            <a:off x="561497" y="2190758"/>
            <a:ext cx="7358357" cy="79692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Source</a:t>
            </a:r>
            <a:r>
              <a:rPr lang="en-US" sz="2400" dirty="0">
                <a:solidFill>
                  <a:schemeClr val="tx1"/>
                </a:solidFill>
              </a:rPr>
              <a:t> (Any, IP addresses, My IP address, service tags, and application security group)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5F3F6A-8D2F-0ADF-F69A-F3396121DCA5}"/>
              </a:ext>
            </a:extLst>
          </p:cNvPr>
          <p:cNvSpPr/>
          <p:nvPr/>
        </p:nvSpPr>
        <p:spPr>
          <a:xfrm>
            <a:off x="561497" y="3298890"/>
            <a:ext cx="7358357" cy="79692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Destination</a:t>
            </a:r>
            <a:r>
              <a:rPr lang="en-US" sz="24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(Any, IP addresses, service tag, and application security group)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3CF942-D730-A2AD-2DE2-4D4F9D2019FB}"/>
              </a:ext>
            </a:extLst>
          </p:cNvPr>
          <p:cNvSpPr/>
          <p:nvPr/>
        </p:nvSpPr>
        <p:spPr>
          <a:xfrm>
            <a:off x="545178" y="4415450"/>
            <a:ext cx="7358357" cy="79692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Service</a:t>
            </a:r>
            <a:r>
              <a:rPr lang="en-US" sz="24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(HTTPS, SSH, RDP, DNS, POP3, custom, …)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601D44-A519-0768-F82C-56E36A663CEB}"/>
              </a:ext>
            </a:extLst>
          </p:cNvPr>
          <p:cNvSpPr/>
          <p:nvPr/>
        </p:nvSpPr>
        <p:spPr>
          <a:xfrm>
            <a:off x="545177" y="5523582"/>
            <a:ext cx="7358357" cy="79692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Priority 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– </a:t>
            </a:r>
            <a:r>
              <a:rPr lang="en-US" sz="2400" dirty="0">
                <a:solidFill>
                  <a:schemeClr val="tx1"/>
                </a:solidFill>
              </a:rPr>
              <a:t>The lower the number, the higher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the priority</a:t>
            </a:r>
          </a:p>
        </p:txBody>
      </p:sp>
      <p:pic>
        <p:nvPicPr>
          <p:cNvPr id="15" name="Picture 14" descr="Screenshot of the add inbound security rule. ">
            <a:extLst>
              <a:ext uri="{FF2B5EF4-FFF2-40B4-BE49-F238E27FC236}">
                <a16:creationId xmlns:a16="http://schemas.microsoft.com/office/drawing/2014/main" id="{8BA8E91A-5A51-71D4-E854-B2EB2393DE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8025" y="1756253"/>
            <a:ext cx="3257550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263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75F1579-1B3B-6A84-A97F-C87EECFD5925}"/>
              </a:ext>
            </a:extLst>
          </p:cNvPr>
          <p:cNvSpPr txBox="1">
            <a:spLocks/>
          </p:cNvSpPr>
          <p:nvPr/>
        </p:nvSpPr>
        <p:spPr>
          <a:xfrm>
            <a:off x="974121" y="653356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/>
              <a:t>Implement Application Security Groups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50813C-0299-4902-FEE3-97988853AF86}"/>
              </a:ext>
            </a:extLst>
          </p:cNvPr>
          <p:cNvSpPr/>
          <p:nvPr/>
        </p:nvSpPr>
        <p:spPr>
          <a:xfrm>
            <a:off x="629421" y="1474084"/>
            <a:ext cx="5012152" cy="97395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95000"/>
              </a:schemeClr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186521" tIns="139891" rIns="186521" bIns="139891" numCol="1" spcCol="1270" anchor="ctr" anchorCtr="0">
            <a:noAutofit/>
          </a:bodyPr>
          <a:lstStyle/>
          <a:p>
            <a:pPr defTabSz="1088029">
              <a:spcBef>
                <a:spcPct val="0"/>
              </a:spcBef>
              <a:spcAft>
                <a:spcPct val="35000"/>
              </a:spcAft>
              <a:defRPr/>
            </a:pPr>
            <a:r>
              <a:rPr lang="en-US" sz="2000" kern="0" dirty="0">
                <a:latin typeface="Segoe UI"/>
                <a:ea typeface="+mn-ea"/>
                <a:cs typeface="+mn-cs"/>
              </a:rPr>
              <a:t>Extends your application's structure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82D36E-4232-71CB-D966-AEB9B0559CF7}"/>
              </a:ext>
            </a:extLst>
          </p:cNvPr>
          <p:cNvSpPr/>
          <p:nvPr/>
        </p:nvSpPr>
        <p:spPr>
          <a:xfrm>
            <a:off x="629421" y="2686350"/>
            <a:ext cx="5012152" cy="97395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95000"/>
              </a:schemeClr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186521" tIns="139891" rIns="186521" bIns="139891" numCol="1" spcCol="1270" anchor="ctr" anchorCtr="0">
            <a:noAutofit/>
          </a:bodyPr>
          <a:lstStyle/>
          <a:p>
            <a:pPr defTabSz="1088029">
              <a:spcBef>
                <a:spcPct val="0"/>
              </a:spcBef>
              <a:spcAft>
                <a:spcPct val="35000"/>
              </a:spcAft>
              <a:defRPr/>
            </a:pPr>
            <a:r>
              <a:rPr lang="en-US" sz="2000" kern="0" dirty="0">
                <a:latin typeface="Segoe UI"/>
                <a:ea typeface="+mn-ea"/>
                <a:cs typeface="+mn-cs"/>
              </a:rPr>
              <a:t>ASGs logically group virtual machines – web servers, application servers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028DE8-E4E5-A313-1C6E-36F8CF28503E}"/>
              </a:ext>
            </a:extLst>
          </p:cNvPr>
          <p:cNvSpPr/>
          <p:nvPr/>
        </p:nvSpPr>
        <p:spPr>
          <a:xfrm>
            <a:off x="629421" y="3918011"/>
            <a:ext cx="5012152" cy="97395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95000"/>
              </a:schemeClr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186521" tIns="139891" rIns="186521" bIns="139891" numCol="1" spcCol="1270" anchor="ctr" anchorCtr="0">
            <a:noAutofit/>
          </a:bodyPr>
          <a:lstStyle/>
          <a:p>
            <a:pPr defTabSz="1088029">
              <a:spcBef>
                <a:spcPct val="0"/>
              </a:spcBef>
              <a:spcAft>
                <a:spcPct val="35000"/>
              </a:spcAft>
              <a:defRPr/>
            </a:pPr>
            <a:r>
              <a:rPr lang="en-US" sz="2000" kern="0" dirty="0">
                <a:latin typeface="Segoe UI"/>
                <a:ea typeface="+mn-ea"/>
                <a:cs typeface="+mn-cs"/>
              </a:rPr>
              <a:t>Define rules to control the traffic flow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09CF9C-B895-91BB-6DE6-79375CAC53CE}"/>
              </a:ext>
            </a:extLst>
          </p:cNvPr>
          <p:cNvSpPr/>
          <p:nvPr/>
        </p:nvSpPr>
        <p:spPr>
          <a:xfrm>
            <a:off x="629421" y="5215332"/>
            <a:ext cx="5012152" cy="97395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95000"/>
              </a:schemeClr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186521" tIns="139891" rIns="186521" bIns="139891" numCol="1" spcCol="1270" anchor="ctr" anchorCtr="0">
            <a:noAutofit/>
          </a:bodyPr>
          <a:lstStyle/>
          <a:p>
            <a:pPr defTabSz="1088029">
              <a:spcBef>
                <a:spcPct val="0"/>
              </a:spcBef>
              <a:spcAft>
                <a:spcPct val="35000"/>
              </a:spcAft>
              <a:defRPr/>
            </a:pPr>
            <a:r>
              <a:rPr lang="en-US" sz="2000" kern="0" dirty="0">
                <a:latin typeface="Segoe UI"/>
                <a:ea typeface="+mn-ea"/>
                <a:cs typeface="+mn-cs"/>
              </a:rPr>
              <a:t>Wrap the ASG with an NSG for added security</a:t>
            </a:r>
          </a:p>
        </p:txBody>
      </p:sp>
      <p:grpSp>
        <p:nvGrpSpPr>
          <p:cNvPr id="15" name="Group 14" descr="An ASG is applied to two subnets. An NSG includes both ASGs.">
            <a:extLst>
              <a:ext uri="{FF2B5EF4-FFF2-40B4-BE49-F238E27FC236}">
                <a16:creationId xmlns:a16="http://schemas.microsoft.com/office/drawing/2014/main" id="{27EABEF8-EDE6-8E65-BF19-3A675C321720}"/>
              </a:ext>
            </a:extLst>
          </p:cNvPr>
          <p:cNvGrpSpPr/>
          <p:nvPr/>
        </p:nvGrpSpPr>
        <p:grpSpPr>
          <a:xfrm>
            <a:off x="6097578" y="1382183"/>
            <a:ext cx="5169509" cy="3552380"/>
            <a:chOff x="6097578" y="1382183"/>
            <a:chExt cx="5169509" cy="355238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0537B99B-29E3-A9A1-292F-C49222ACF5E9}"/>
                </a:ext>
              </a:extLst>
            </p:cNvPr>
            <p:cNvSpPr/>
            <p:nvPr/>
          </p:nvSpPr>
          <p:spPr bwMode="auto">
            <a:xfrm>
              <a:off x="7507520" y="1814289"/>
              <a:ext cx="1523041" cy="231753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C4D6111-64A4-9B47-80D6-F18C23A022A1}"/>
                </a:ext>
              </a:extLst>
            </p:cNvPr>
            <p:cNvSpPr/>
            <p:nvPr/>
          </p:nvSpPr>
          <p:spPr bwMode="auto">
            <a:xfrm>
              <a:off x="9520993" y="1814288"/>
              <a:ext cx="1596976" cy="231753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44F5FB4-FB91-F43F-0E73-FB265839528B}"/>
                </a:ext>
              </a:extLst>
            </p:cNvPr>
            <p:cNvSpPr/>
            <p:nvPr/>
          </p:nvSpPr>
          <p:spPr bwMode="auto">
            <a:xfrm>
              <a:off x="7294177" y="1594809"/>
              <a:ext cx="3972910" cy="2953407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F3AAD38C-2ED4-85D8-CC4B-D2BB96B88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016487" y="2197506"/>
              <a:ext cx="625675" cy="437279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6A87A6AE-E324-51F9-B993-AAA66614C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980444" y="4391128"/>
              <a:ext cx="634040" cy="543435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E79CB0C2-83FE-42FD-D424-B1B6CC490C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145402" y="3849273"/>
              <a:ext cx="485054" cy="458517"/>
            </a:xfrm>
            <a:prstGeom prst="rect">
              <a:avLst/>
            </a:prstGeom>
          </p:spPr>
        </p:pic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2CD0A19A-9CC6-B9B3-FDD6-E192DAA39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005963" y="3228551"/>
              <a:ext cx="625675" cy="437279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5C70CE49-BF62-2F96-604B-A03BBE8FC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001862" y="2197506"/>
              <a:ext cx="625675" cy="437279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C00E6542-615F-44A0-CB37-A330F26B2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991338" y="3249748"/>
              <a:ext cx="625675" cy="437279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5F4BFAC3-9A6B-D7AB-26EA-F8C215B92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114547" y="3892781"/>
              <a:ext cx="485054" cy="458517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F1DEBDF-3D8F-7AE6-6EE6-022A0ABF7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980444" y="1382183"/>
              <a:ext cx="634039" cy="445047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60C5319-391E-A6C5-750F-2FE6468190A2}"/>
                </a:ext>
              </a:extLst>
            </p:cNvPr>
            <p:cNvSpPr txBox="1"/>
            <p:nvPr/>
          </p:nvSpPr>
          <p:spPr>
            <a:xfrm>
              <a:off x="7651900" y="2762009"/>
              <a:ext cx="14743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WebServers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10F78C5-AD16-7BC9-9474-8612ECC75779}"/>
                </a:ext>
              </a:extLst>
            </p:cNvPr>
            <p:cNvSpPr txBox="1"/>
            <p:nvPr/>
          </p:nvSpPr>
          <p:spPr>
            <a:xfrm>
              <a:off x="9649324" y="2750302"/>
              <a:ext cx="14743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AppLServers</a:t>
              </a:r>
            </a:p>
          </p:txBody>
        </p:sp>
        <p:pic>
          <p:nvPicPr>
            <p:cNvPr id="29" name="Graphic 28" descr="World outline">
              <a:extLst>
                <a:ext uri="{FF2B5EF4-FFF2-40B4-BE49-F238E27FC236}">
                  <a16:creationId xmlns:a16="http://schemas.microsoft.com/office/drawing/2014/main" id="{CA66CBE5-D90E-4748-C14F-CE37B8BD6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097578" y="2597851"/>
              <a:ext cx="770306" cy="770306"/>
            </a:xfrm>
            <a:prstGeom prst="rect">
              <a:avLst/>
            </a:prstGeom>
          </p:spPr>
        </p:pic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08C19C6E-4476-F673-353F-E76CF03C7A36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 flipV="1">
              <a:off x="6899413" y="2973055"/>
              <a:ext cx="608107" cy="994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6F3D604-1E11-9B5A-4CDF-4A9F05D58C21}"/>
                </a:ext>
              </a:extLst>
            </p:cNvPr>
            <p:cNvCxnSpPr>
              <a:cxnSpLocks/>
              <a:stCxn id="16" idx="3"/>
              <a:endCxn id="17" idx="1"/>
            </p:cNvCxnSpPr>
            <p:nvPr/>
          </p:nvCxnSpPr>
          <p:spPr>
            <a:xfrm flipV="1">
              <a:off x="9030561" y="2973054"/>
              <a:ext cx="490432" cy="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2" name="Table 28">
            <a:extLst>
              <a:ext uri="{FF2B5EF4-FFF2-40B4-BE49-F238E27FC236}">
                <a16:creationId xmlns:a16="http://schemas.microsoft.com/office/drawing/2014/main" id="{61ED53A6-0F33-908B-1C79-73A47BC85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996018"/>
              </p:ext>
            </p:extLst>
          </p:nvPr>
        </p:nvGraphicFramePr>
        <p:xfrm>
          <a:off x="6779820" y="5079682"/>
          <a:ext cx="4991913" cy="10972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63971">
                  <a:extLst>
                    <a:ext uri="{9D8B030D-6E8A-4147-A177-3AD203B41FA5}">
                      <a16:colId xmlns:a16="http://schemas.microsoft.com/office/drawing/2014/main" val="406953343"/>
                    </a:ext>
                  </a:extLst>
                </a:gridCol>
                <a:gridCol w="1663971">
                  <a:extLst>
                    <a:ext uri="{9D8B030D-6E8A-4147-A177-3AD203B41FA5}">
                      <a16:colId xmlns:a16="http://schemas.microsoft.com/office/drawing/2014/main" val="3820428953"/>
                    </a:ext>
                  </a:extLst>
                </a:gridCol>
                <a:gridCol w="1663971">
                  <a:extLst>
                    <a:ext uri="{9D8B030D-6E8A-4147-A177-3AD203B41FA5}">
                      <a16:colId xmlns:a16="http://schemas.microsoft.com/office/drawing/2014/main" val="1650983920"/>
                    </a:ext>
                  </a:extLst>
                </a:gridCol>
              </a:tblGrid>
              <a:tr h="241812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127248"/>
                  </a:ext>
                </a:extLst>
              </a:tr>
              <a:tr h="2549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WebServers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80, 443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507533"/>
                  </a:ext>
                </a:extLst>
              </a:tr>
              <a:tr h="2549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WebServers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SQLServers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936244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DBF7AA9E-DED9-1A81-E3EB-9A5AE40B3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990295" y="1311040"/>
            <a:ext cx="6008030" cy="4994870"/>
          </a:xfrm>
          <a:prstGeom prst="rect">
            <a:avLst/>
          </a:prstGeom>
          <a:noFill/>
          <a:ln w="1905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IN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476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681DA51-448A-E4DB-9026-65A28A299EBD}"/>
              </a:ext>
            </a:extLst>
          </p:cNvPr>
          <p:cNvSpPr txBox="1">
            <a:spLocks/>
          </p:cNvSpPr>
          <p:nvPr/>
        </p:nvSpPr>
        <p:spPr>
          <a:xfrm>
            <a:off x="667524" y="2270501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Demonstration – Network Security Groups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1A3FE6-BB77-6D69-00B2-5254D428C7F5}"/>
              </a:ext>
            </a:extLst>
          </p:cNvPr>
          <p:cNvSpPr/>
          <p:nvPr/>
        </p:nvSpPr>
        <p:spPr>
          <a:xfrm>
            <a:off x="1144533" y="3516885"/>
            <a:ext cx="8504998" cy="1143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Create a network security group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Explore inbound and outbound rules</a:t>
            </a:r>
          </a:p>
        </p:txBody>
      </p:sp>
    </p:spTree>
    <p:extLst>
      <p:ext uri="{BB962C8B-B14F-4D97-AF65-F5344CB8AC3E}">
        <p14:creationId xmlns:p14="http://schemas.microsoft.com/office/powerpoint/2010/main" val="2232228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C2548839-3939-0CEE-BB80-F07D21DCA629}"/>
              </a:ext>
            </a:extLst>
          </p:cNvPr>
          <p:cNvSpPr txBox="1"/>
          <p:nvPr/>
        </p:nvSpPr>
        <p:spPr>
          <a:xfrm>
            <a:off x="2460426" y="2877900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Host your Domain on Azure DNS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767998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D5FA4B9-96E4-0D0D-2248-9BE29A94E21A}"/>
              </a:ext>
            </a:extLst>
          </p:cNvPr>
          <p:cNvSpPr txBox="1">
            <a:spLocks/>
          </p:cNvSpPr>
          <p:nvPr/>
        </p:nvSpPr>
        <p:spPr>
          <a:xfrm>
            <a:off x="311658" y="1003276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What is Azure DNS?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4A7552-E6DD-821C-2856-1833933B5636}"/>
              </a:ext>
            </a:extLst>
          </p:cNvPr>
          <p:cNvSpPr/>
          <p:nvPr/>
        </p:nvSpPr>
        <p:spPr>
          <a:xfrm>
            <a:off x="379244" y="1858463"/>
            <a:ext cx="6060849" cy="98749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When you create a </a:t>
            </a:r>
            <a:r>
              <a:rPr lang="en-US" sz="2200">
                <a:solidFill>
                  <a:schemeClr val="tx1"/>
                </a:solidFill>
              </a:rPr>
              <a:t>new tenant</a:t>
            </a:r>
            <a:r>
              <a:rPr lang="en-US" sz="2200" dirty="0">
                <a:solidFill>
                  <a:schemeClr val="tx1"/>
                </a:solidFill>
              </a:rPr>
              <a:t>, a new default domain is created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68B91C-BCB0-6D8A-4D1A-A0D48C7CAB29}"/>
              </a:ext>
            </a:extLst>
          </p:cNvPr>
          <p:cNvSpPr/>
          <p:nvPr/>
        </p:nvSpPr>
        <p:spPr>
          <a:xfrm>
            <a:off x="379244" y="3111943"/>
            <a:ext cx="6060849" cy="98749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The domain has initial domain name in the form </a:t>
            </a:r>
            <a:r>
              <a:rPr lang="en-US" sz="2200" i="1" dirty="0">
                <a:solidFill>
                  <a:schemeClr val="tx1"/>
                </a:solidFill>
              </a:rPr>
              <a:t>domainname.onmicrosoft.com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513757-4121-AAFA-16D5-A380374199D0}"/>
              </a:ext>
            </a:extLst>
          </p:cNvPr>
          <p:cNvSpPr/>
          <p:nvPr/>
        </p:nvSpPr>
        <p:spPr>
          <a:xfrm>
            <a:off x="379243" y="4365423"/>
            <a:ext cx="6060849" cy="83944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You can add a custom domain name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81529F-E5D8-8F9A-3A68-1893398938ED}"/>
              </a:ext>
            </a:extLst>
          </p:cNvPr>
          <p:cNvSpPr/>
          <p:nvPr/>
        </p:nvSpPr>
        <p:spPr>
          <a:xfrm>
            <a:off x="379244" y="5470857"/>
            <a:ext cx="6060849" cy="83944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After the custom name is added it must be verified – this demonstrates ownership of the domain</a:t>
            </a:r>
          </a:p>
        </p:txBody>
      </p:sp>
      <p:pic>
        <p:nvPicPr>
          <p:cNvPr id="15" name="Picture 4" descr="Screenshot of the create a directory configuration tab.">
            <a:extLst>
              <a:ext uri="{FF2B5EF4-FFF2-40B4-BE49-F238E27FC236}">
                <a16:creationId xmlns:a16="http://schemas.microsoft.com/office/drawing/2014/main" id="{353E8BD6-D164-4AFE-A913-7D5F20E549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2643" y="1800875"/>
            <a:ext cx="3107516" cy="25372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 descr="Screenshot of adding a custom domain name.">
            <a:extLst>
              <a:ext uri="{FF2B5EF4-FFF2-40B4-BE49-F238E27FC236}">
                <a16:creationId xmlns:a16="http://schemas.microsoft.com/office/drawing/2014/main" id="{40B7ACC7-D6B0-E1CF-FC7F-1F9A507484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3039" y="4577975"/>
            <a:ext cx="3266722" cy="213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838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6">
            <a:extLst>
              <a:ext uri="{FF2B5EF4-FFF2-40B4-BE49-F238E27FC236}">
                <a16:creationId xmlns:a16="http://schemas.microsoft.com/office/drawing/2014/main" id="{EBACC563-95DC-CF25-8EA5-2F3EC94D1F0C}"/>
              </a:ext>
            </a:extLst>
          </p:cNvPr>
          <p:cNvSpPr txBox="1">
            <a:spLocks/>
          </p:cNvSpPr>
          <p:nvPr/>
        </p:nvSpPr>
        <p:spPr>
          <a:xfrm>
            <a:off x="974121" y="1125474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Configure Azure DNS to host your domain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170B2A-6F84-2896-C512-D0E5B2A82A3B}"/>
              </a:ext>
            </a:extLst>
          </p:cNvPr>
          <p:cNvSpPr/>
          <p:nvPr/>
        </p:nvSpPr>
        <p:spPr>
          <a:xfrm>
            <a:off x="384350" y="1982426"/>
            <a:ext cx="6060849" cy="111544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A DNS zone hosts the DNS records for a domain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579B6C-3078-12C2-6BCD-FE8DBEA23DC3}"/>
              </a:ext>
            </a:extLst>
          </p:cNvPr>
          <p:cNvSpPr/>
          <p:nvPr/>
        </p:nvSpPr>
        <p:spPr>
          <a:xfrm>
            <a:off x="379243" y="3354754"/>
            <a:ext cx="6060849" cy="122407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pPr lvl="0"/>
            <a:r>
              <a:rPr lang="en-US" sz="2000" dirty="0">
                <a:solidFill>
                  <a:schemeClr val="tx1"/>
                </a:solidFill>
              </a:rPr>
              <a:t>Where multiple zones share the same name,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each instance is assigned different name server addresses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737BE7-046C-CC6A-5E1E-CD3682759095}"/>
              </a:ext>
            </a:extLst>
          </p:cNvPr>
          <p:cNvSpPr/>
          <p:nvPr/>
        </p:nvSpPr>
        <p:spPr>
          <a:xfrm>
            <a:off x="379243" y="4785396"/>
            <a:ext cx="6060849" cy="104056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pPr lvl="0"/>
            <a:r>
              <a:rPr lang="en-US" sz="2000" dirty="0">
                <a:solidFill>
                  <a:schemeClr val="tx1"/>
                </a:solidFill>
              </a:rPr>
              <a:t>Root/Parent domain is registered at the registrar and pointed to Azure NS</a:t>
            </a:r>
          </a:p>
        </p:txBody>
      </p:sp>
      <p:pic>
        <p:nvPicPr>
          <p:cNvPr id="14" name="Picture 2" descr="Screenshot of the create a DNS zone page.">
            <a:extLst>
              <a:ext uri="{FF2B5EF4-FFF2-40B4-BE49-F238E27FC236}">
                <a16:creationId xmlns:a16="http://schemas.microsoft.com/office/drawing/2014/main" id="{0A2CCEC7-7667-9F8F-92AD-17C5F66A79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4798" y="2200237"/>
            <a:ext cx="5054600" cy="427606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1253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6">
            <a:extLst>
              <a:ext uri="{FF2B5EF4-FFF2-40B4-BE49-F238E27FC236}">
                <a16:creationId xmlns:a16="http://schemas.microsoft.com/office/drawing/2014/main" id="{F2543D57-5514-690B-F648-A6E6F0286E11}"/>
              </a:ext>
            </a:extLst>
          </p:cNvPr>
          <p:cNvSpPr txBox="1">
            <a:spLocks/>
          </p:cNvSpPr>
          <p:nvPr/>
        </p:nvSpPr>
        <p:spPr>
          <a:xfrm>
            <a:off x="212259" y="1457921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Verify delegation of domain name services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DBD2FF-A779-A760-7513-D0E61BA7BD5D}"/>
              </a:ext>
            </a:extLst>
          </p:cNvPr>
          <p:cNvSpPr/>
          <p:nvPr/>
        </p:nvSpPr>
        <p:spPr>
          <a:xfrm>
            <a:off x="379243" y="2939236"/>
            <a:ext cx="4475163" cy="321185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When delegating a domain to Azure DNS, you must use all four name server names provided by Azure DNS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Once the DNS zone is created, update the parent registrar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For child zones, register the NS records in the parent domain</a:t>
            </a:r>
          </a:p>
        </p:txBody>
      </p:sp>
      <p:pic>
        <p:nvPicPr>
          <p:cNvPr id="12" name="Picture 4" descr="Screenshot of the DNS delegation page ">
            <a:extLst>
              <a:ext uri="{FF2B5EF4-FFF2-40B4-BE49-F238E27FC236}">
                <a16:creationId xmlns:a16="http://schemas.microsoft.com/office/drawing/2014/main" id="{E9F07474-ECAB-ECED-42B4-5352E8C5BA5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89"/>
          <a:stretch/>
        </p:blipFill>
        <p:spPr>
          <a:xfrm>
            <a:off x="5121971" y="2596377"/>
            <a:ext cx="6658972" cy="346261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0780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3514629-AD2E-755B-2138-3664BFDA8E97}"/>
              </a:ext>
            </a:extLst>
          </p:cNvPr>
          <p:cNvSpPr txBox="1">
            <a:spLocks/>
          </p:cNvSpPr>
          <p:nvPr/>
        </p:nvSpPr>
        <p:spPr>
          <a:xfrm>
            <a:off x="1267696" y="1109363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Dynamically resolve resource name by using alias record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322555-BCAE-B202-7F66-D23739351276}"/>
              </a:ext>
            </a:extLst>
          </p:cNvPr>
          <p:cNvSpPr/>
          <p:nvPr/>
        </p:nvSpPr>
        <p:spPr>
          <a:xfrm>
            <a:off x="318030" y="1834656"/>
            <a:ext cx="6060849" cy="122407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A record set is a collection of records in a zone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that have the same name and are the same type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0FC3B7-DA29-57FB-081C-743758167613}"/>
              </a:ext>
            </a:extLst>
          </p:cNvPr>
          <p:cNvSpPr/>
          <p:nvPr/>
        </p:nvSpPr>
        <p:spPr>
          <a:xfrm>
            <a:off x="318030" y="3311456"/>
            <a:ext cx="6060849" cy="122407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You can add up to 20 records to any record set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DDBA42-43E4-0440-79CF-7424F755C866}"/>
              </a:ext>
            </a:extLst>
          </p:cNvPr>
          <p:cNvSpPr/>
          <p:nvPr/>
        </p:nvSpPr>
        <p:spPr>
          <a:xfrm>
            <a:off x="318031" y="4624125"/>
            <a:ext cx="6060849" cy="104056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A record set cannot contain two identical records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019784-D91C-A13C-3D22-0940B624213D}"/>
              </a:ext>
            </a:extLst>
          </p:cNvPr>
          <p:cNvSpPr/>
          <p:nvPr/>
        </p:nvSpPr>
        <p:spPr>
          <a:xfrm>
            <a:off x="318030" y="5832569"/>
            <a:ext cx="6060849" cy="104056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Changing the drop-down Type, changes the information required</a:t>
            </a:r>
          </a:p>
        </p:txBody>
      </p:sp>
      <p:pic>
        <p:nvPicPr>
          <p:cNvPr id="15" name="Picture 5" descr="Screenshot of the DNS add record set page">
            <a:extLst>
              <a:ext uri="{FF2B5EF4-FFF2-40B4-BE49-F238E27FC236}">
                <a16:creationId xmlns:a16="http://schemas.microsoft.com/office/drawing/2014/main" id="{3781DAAE-75E9-47E7-8EB3-B8FA930F98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9847" y="1983324"/>
            <a:ext cx="5081220" cy="473994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418419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FA71EE8-44A8-7333-1FC6-D8AD9592F1A9}"/>
              </a:ext>
            </a:extLst>
          </p:cNvPr>
          <p:cNvSpPr txBox="1">
            <a:spLocks/>
          </p:cNvSpPr>
          <p:nvPr/>
        </p:nvSpPr>
        <p:spPr>
          <a:xfrm>
            <a:off x="311658" y="972101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Configure a private DNS zone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A66F88-F3D1-11ED-C9F5-B8C7FA1BC520}"/>
              </a:ext>
            </a:extLst>
          </p:cNvPr>
          <p:cNvSpPr/>
          <p:nvPr/>
        </p:nvSpPr>
        <p:spPr>
          <a:xfrm>
            <a:off x="379247" y="1796785"/>
            <a:ext cx="4779963" cy="57590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Use your own custom domain names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5F531-5538-104E-63BA-A354C5169BBF}"/>
              </a:ext>
            </a:extLst>
          </p:cNvPr>
          <p:cNvSpPr/>
          <p:nvPr/>
        </p:nvSpPr>
        <p:spPr>
          <a:xfrm>
            <a:off x="379247" y="2642703"/>
            <a:ext cx="4779963" cy="57590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Provides name resolution for VMs within a VNet and between VNets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EA2BCF-05AB-24AD-AB0E-340DCDC62BE4}"/>
              </a:ext>
            </a:extLst>
          </p:cNvPr>
          <p:cNvSpPr/>
          <p:nvPr/>
        </p:nvSpPr>
        <p:spPr>
          <a:xfrm>
            <a:off x="379246" y="3488621"/>
            <a:ext cx="4779963" cy="57590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Automatic hostname record management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2C77D4-5789-76A4-BC2F-043C7ADC78F2}"/>
              </a:ext>
            </a:extLst>
          </p:cNvPr>
          <p:cNvSpPr/>
          <p:nvPr/>
        </p:nvSpPr>
        <p:spPr>
          <a:xfrm>
            <a:off x="379245" y="4334539"/>
            <a:ext cx="4779963" cy="57590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Removes the need for custom DNS solutions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50DCB2-1E84-EF00-4B19-79EF7D3BC666}"/>
              </a:ext>
            </a:extLst>
          </p:cNvPr>
          <p:cNvSpPr/>
          <p:nvPr/>
        </p:nvSpPr>
        <p:spPr>
          <a:xfrm>
            <a:off x="379244" y="5180457"/>
            <a:ext cx="4779963" cy="57590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Use all common DNS records types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95B673-04D4-4955-9B6E-2BDFF67AFC9D}"/>
              </a:ext>
            </a:extLst>
          </p:cNvPr>
          <p:cNvSpPr/>
          <p:nvPr/>
        </p:nvSpPr>
        <p:spPr>
          <a:xfrm>
            <a:off x="379243" y="6026374"/>
            <a:ext cx="4779963" cy="57590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Available in all Azure regions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02753F-3155-3BD4-0793-49C72EB2AC9C}"/>
              </a:ext>
            </a:extLst>
          </p:cNvPr>
          <p:cNvSpPr txBox="1"/>
          <p:nvPr/>
        </p:nvSpPr>
        <p:spPr>
          <a:xfrm>
            <a:off x="8126725" y="3021074"/>
            <a:ext cx="1872867" cy="397032"/>
          </a:xfrm>
          <a:prstGeom prst="rect">
            <a:avLst/>
          </a:prstGeom>
          <a:solidFill>
            <a:schemeClr val="bg1"/>
          </a:solidFill>
        </p:spPr>
        <p:txBody>
          <a:bodyPr wrap="square" lIns="182880" tIns="146304" rIns="182880" bIns="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db.contoso.lab</a:t>
            </a:r>
          </a:p>
        </p:txBody>
      </p:sp>
      <p:pic>
        <p:nvPicPr>
          <p:cNvPr id="18" name="Picture 17" descr="Diagram of a VM requesting and receiving a local IP address from Azure DNS. The IP address is used to communicate with another VM in the same virtual network.">
            <a:extLst>
              <a:ext uri="{FF2B5EF4-FFF2-40B4-BE49-F238E27FC236}">
                <a16:creationId xmlns:a16="http://schemas.microsoft.com/office/drawing/2014/main" id="{84E45D75-9871-BF1E-DAA1-0FD989021A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8065" y="2155297"/>
            <a:ext cx="6459867" cy="458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9902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B0710A5-920C-AA82-F583-4B6CD9517C1D}"/>
              </a:ext>
            </a:extLst>
          </p:cNvPr>
          <p:cNvSpPr txBox="1">
            <a:spLocks/>
          </p:cNvSpPr>
          <p:nvPr/>
        </p:nvSpPr>
        <p:spPr>
          <a:xfrm>
            <a:off x="1120212" y="2172637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Demonstration - DNS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3145B7-36A4-F339-C6C0-864933866CF1}"/>
              </a:ext>
            </a:extLst>
          </p:cNvPr>
          <p:cNvSpPr/>
          <p:nvPr/>
        </p:nvSpPr>
        <p:spPr>
          <a:xfrm>
            <a:off x="1615511" y="3237435"/>
            <a:ext cx="7492793" cy="1631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342900" indent="-342900" defTabSz="10223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</a:rPr>
              <a:t>Create a DNS zone</a:t>
            </a:r>
          </a:p>
          <a:p>
            <a:pPr marL="342900" indent="-342900" defTabSz="10223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</a:rPr>
              <a:t>Add a DNS record set</a:t>
            </a:r>
          </a:p>
          <a:p>
            <a:pPr marL="342900" indent="-342900" defTabSz="10223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</a:rPr>
              <a:t>View the name servers</a:t>
            </a:r>
          </a:p>
        </p:txBody>
      </p:sp>
    </p:spTree>
    <p:extLst>
      <p:ext uri="{BB962C8B-B14F-4D97-AF65-F5344CB8AC3E}">
        <p14:creationId xmlns:p14="http://schemas.microsoft.com/office/powerpoint/2010/main" val="4013019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C2548839-3939-0CEE-BB80-F07D21DCA629}"/>
              </a:ext>
            </a:extLst>
          </p:cNvPr>
          <p:cNvSpPr txBox="1"/>
          <p:nvPr/>
        </p:nvSpPr>
        <p:spPr>
          <a:xfrm>
            <a:off x="2460426" y="2877900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Lab – Implement Virtual Networks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306937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7E9FAC3-D90C-CD2D-6EAF-2A56DB12401A}"/>
              </a:ext>
            </a:extLst>
          </p:cNvPr>
          <p:cNvSpPr txBox="1">
            <a:spLocks/>
          </p:cNvSpPr>
          <p:nvPr/>
        </p:nvSpPr>
        <p:spPr>
          <a:xfrm>
            <a:off x="601305" y="1472618"/>
            <a:ext cx="11530584" cy="54623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29" spc="-51">
                <a:latin typeface="Segoe UI Semibold" panose="020B0702040204020203" pitchFamily="34" charset="0"/>
                <a:ea typeface="+mj-lt"/>
                <a:cs typeface="Segoe UI Semibold" panose="020B0702040204020203" pitchFamily="34" charset="0"/>
              </a:rPr>
              <a:t>Lab 04 – Implement Virtual Networking</a:t>
            </a:r>
            <a:endParaRPr lang="en-US" sz="3329" spc="-51" dirty="0">
              <a:latin typeface="Segoe UI Semibold" panose="020B0702040204020203" pitchFamily="34" charset="0"/>
              <a:ea typeface="+mj-lt"/>
              <a:cs typeface="Segoe UI Semibold" panose="020B0702040204020203" pitchFamily="34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4E4CD5F-E8FB-FB6D-08A2-4725FF8EBCE1}"/>
              </a:ext>
            </a:extLst>
          </p:cNvPr>
          <p:cNvSpPr txBox="1">
            <a:spLocks/>
          </p:cNvSpPr>
          <p:nvPr/>
        </p:nvSpPr>
        <p:spPr>
          <a:xfrm>
            <a:off x="472600" y="3135618"/>
            <a:ext cx="3558037" cy="30559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-50" baseline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000" b="1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331854" indent="0" algn="l" defTabSz="93274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3274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12"/>
              </a:spcAft>
            </a:pPr>
            <a:r>
              <a:rPr lang="en-US" sz="1836" spc="0" dirty="0">
                <a:solidFill>
                  <a:schemeClr val="tx1"/>
                </a:solidFill>
                <a:latin typeface="+mn-lt"/>
                <a:cs typeface="Segoe UI Semilight"/>
              </a:rPr>
              <a:t>This lab is the first of three labs that focus on virtual networking.</a:t>
            </a:r>
          </a:p>
          <a:p>
            <a:pPr>
              <a:spcAft>
                <a:spcPts val="612"/>
              </a:spcAft>
            </a:pPr>
            <a:r>
              <a:rPr lang="en-US" sz="1836" spc="0" dirty="0">
                <a:solidFill>
                  <a:schemeClr val="tx1"/>
                </a:solidFill>
                <a:latin typeface="+mn-lt"/>
                <a:cs typeface="Segoe UI Semilight"/>
              </a:rPr>
              <a:t>In this lab, you learn the basics of virtual networking and subnetting.</a:t>
            </a:r>
          </a:p>
          <a:p>
            <a:pPr>
              <a:spcAft>
                <a:spcPts val="612"/>
              </a:spcAft>
            </a:pPr>
            <a:r>
              <a:rPr lang="en-US" sz="1836" spc="0" dirty="0">
                <a:solidFill>
                  <a:schemeClr val="tx1"/>
                </a:solidFill>
                <a:latin typeface="+mn-lt"/>
                <a:cs typeface="Segoe UI Semilight"/>
              </a:rPr>
              <a:t>You learn how to protect your network with Network Security Groups and Application Security Groups. </a:t>
            </a:r>
          </a:p>
          <a:p>
            <a:pPr>
              <a:spcAft>
                <a:spcPts val="612"/>
              </a:spcAft>
            </a:pPr>
            <a:r>
              <a:rPr lang="en-US" sz="1836" spc="0" dirty="0">
                <a:solidFill>
                  <a:schemeClr val="tx1"/>
                </a:solidFill>
                <a:latin typeface="+mn-lt"/>
                <a:cs typeface="Segoe UI Semilight"/>
              </a:rPr>
              <a:t>You learn how to configure Azure DNS.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1ECE5-DD89-4408-1208-D50E91F8D9E9}"/>
              </a:ext>
            </a:extLst>
          </p:cNvPr>
          <p:cNvSpPr/>
          <p:nvPr/>
        </p:nvSpPr>
        <p:spPr bwMode="auto">
          <a:xfrm>
            <a:off x="5188230" y="3008194"/>
            <a:ext cx="7047978" cy="315858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82854" tIns="137141" rIns="182854" bIns="137141" numCol="1" spcCol="1270" anchor="t" anchorCtr="0">
            <a:noAutofit/>
          </a:bodyPr>
          <a:lstStyle/>
          <a:p>
            <a:pPr>
              <a:spcAft>
                <a:spcPts val="612"/>
              </a:spcAft>
            </a:pPr>
            <a:r>
              <a:rPr lang="en-US" sz="204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Task 1</a:t>
            </a:r>
            <a:r>
              <a:rPr lang="en-US" sz="2040" dirty="0">
                <a:solidFill>
                  <a:srgbClr val="1F2328"/>
                </a:solidFill>
                <a:latin typeface="-apple-system"/>
              </a:rPr>
              <a:t>: </a:t>
            </a:r>
            <a:r>
              <a:rPr lang="en-US" sz="204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Create a virtual network with subnets using the portal.</a:t>
            </a:r>
          </a:p>
          <a:p>
            <a:pPr>
              <a:spcAft>
                <a:spcPts val="612"/>
              </a:spcAft>
            </a:pPr>
            <a:r>
              <a:rPr lang="en-US" sz="204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Task 2</a:t>
            </a:r>
            <a:r>
              <a:rPr lang="en-US" sz="2040" dirty="0">
                <a:solidFill>
                  <a:srgbClr val="1F2328"/>
                </a:solidFill>
                <a:latin typeface="-apple-system"/>
              </a:rPr>
              <a:t>: </a:t>
            </a:r>
            <a:r>
              <a:rPr lang="en-US" sz="204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Create a virtual network and subnets using a template. </a:t>
            </a:r>
          </a:p>
          <a:p>
            <a:pPr>
              <a:spcAft>
                <a:spcPts val="612"/>
              </a:spcAft>
            </a:pPr>
            <a:r>
              <a:rPr lang="en-US" sz="204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Task 3</a:t>
            </a:r>
            <a:r>
              <a:rPr lang="en-US" sz="2040" dirty="0">
                <a:solidFill>
                  <a:srgbClr val="1F2328"/>
                </a:solidFill>
                <a:latin typeface="-apple-system"/>
              </a:rPr>
              <a:t>: </a:t>
            </a:r>
            <a:r>
              <a:rPr lang="en-US" sz="204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Create and configure communication between an Application Security Group and a Network Security Group.</a:t>
            </a:r>
          </a:p>
          <a:p>
            <a:pPr>
              <a:spcAft>
                <a:spcPts val="612"/>
              </a:spcAft>
            </a:pPr>
            <a:r>
              <a:rPr lang="en-US" sz="204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Task 4</a:t>
            </a:r>
            <a:r>
              <a:rPr lang="en-US" sz="204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Configure public and private Azure DNS zones.</a:t>
            </a:r>
            <a:endParaRPr lang="en-US" sz="2000" dirty="0">
              <a:solidFill>
                <a:schemeClr val="tx1"/>
              </a:solidFill>
            </a:endParaRPr>
          </a:p>
          <a:p>
            <a:pPr>
              <a:spcAft>
                <a:spcPts val="612"/>
              </a:spcAft>
            </a:pPr>
            <a:endParaRPr lang="en-US" sz="2000" dirty="0">
              <a:solidFill>
                <a:schemeClr val="tx1"/>
              </a:solidFill>
            </a:endParaRPr>
          </a:p>
          <a:p>
            <a:pPr>
              <a:spcAft>
                <a:spcPts val="612"/>
              </a:spcAft>
            </a:pPr>
            <a:endParaRPr lang="en-US" sz="2000" dirty="0">
              <a:solidFill>
                <a:schemeClr val="tx1"/>
              </a:solidFill>
            </a:endParaRPr>
          </a:p>
          <a:p>
            <a:pPr>
              <a:spcAft>
                <a:spcPts val="612"/>
              </a:spcAft>
            </a:pPr>
            <a:endParaRPr lang="en-US" sz="2000" dirty="0">
              <a:solidFill>
                <a:schemeClr val="tx1"/>
              </a:solidFill>
            </a:endParaRPr>
          </a:p>
          <a:p>
            <a:pPr>
              <a:spcAft>
                <a:spcPts val="612"/>
              </a:spcAft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45EA9D-DB0D-AE19-72D9-DBAAC06AA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171413" y="2644046"/>
            <a:ext cx="6215646" cy="414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4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Job Skills</a:t>
            </a:r>
            <a:endParaRPr lang="en-US" sz="2040" dirty="0"/>
          </a:p>
        </p:txBody>
      </p:sp>
    </p:spTree>
    <p:extLst>
      <p:ext uri="{BB962C8B-B14F-4D97-AF65-F5344CB8AC3E}">
        <p14:creationId xmlns:p14="http://schemas.microsoft.com/office/powerpoint/2010/main" val="1591778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95809AA-B59A-1EB7-3762-DEA76949A440}"/>
              </a:ext>
            </a:extLst>
          </p:cNvPr>
          <p:cNvSpPr txBox="1">
            <a:spLocks/>
          </p:cNvSpPr>
          <p:nvPr/>
        </p:nvSpPr>
        <p:spPr>
          <a:xfrm>
            <a:off x="566117" y="1189215"/>
            <a:ext cx="11530584" cy="5371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cs typeface="Segoe UI"/>
              </a:rPr>
              <a:t>Lab 04 – Architecture diagram</a:t>
            </a:r>
            <a:endParaRPr lang="en-US" dirty="0"/>
          </a:p>
        </p:txBody>
      </p:sp>
      <p:grpSp>
        <p:nvGrpSpPr>
          <p:cNvPr id="11" name="Group 10" descr="Architecture diagram for virtual networks. ">
            <a:extLst>
              <a:ext uri="{FF2B5EF4-FFF2-40B4-BE49-F238E27FC236}">
                <a16:creationId xmlns:a16="http://schemas.microsoft.com/office/drawing/2014/main" id="{A00D3D5E-DBA9-F6B5-B5C8-67DDAB845897}"/>
              </a:ext>
            </a:extLst>
          </p:cNvPr>
          <p:cNvGrpSpPr/>
          <p:nvPr/>
        </p:nvGrpSpPr>
        <p:grpSpPr>
          <a:xfrm>
            <a:off x="1832278" y="1996886"/>
            <a:ext cx="9252890" cy="4717821"/>
            <a:chOff x="1559858" y="1349037"/>
            <a:chExt cx="9072284" cy="462573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D990814-216C-5C16-FDBF-80735DB0574E}"/>
                </a:ext>
              </a:extLst>
            </p:cNvPr>
            <p:cNvSpPr/>
            <p:nvPr/>
          </p:nvSpPr>
          <p:spPr>
            <a:xfrm>
              <a:off x="1559858" y="1546331"/>
              <a:ext cx="9072284" cy="442844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36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矩形 9">
              <a:extLst>
                <a:ext uri="{FF2B5EF4-FFF2-40B4-BE49-F238E27FC236}">
                  <a16:creationId xmlns:a16="http://schemas.microsoft.com/office/drawing/2014/main" id="{EB64F5F3-C16F-ED92-2D3E-F674050E64C1}"/>
                </a:ext>
              </a:extLst>
            </p:cNvPr>
            <p:cNvSpPr/>
            <p:nvPr/>
          </p:nvSpPr>
          <p:spPr>
            <a:xfrm>
              <a:off x="2032203" y="1897661"/>
              <a:ext cx="3938968" cy="34417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36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" name="矩形: 圆角 10">
              <a:extLst>
                <a:ext uri="{FF2B5EF4-FFF2-40B4-BE49-F238E27FC236}">
                  <a16:creationId xmlns:a16="http://schemas.microsoft.com/office/drawing/2014/main" id="{C404DFA8-6FDD-E178-6285-7045E08878EE}"/>
                </a:ext>
              </a:extLst>
            </p:cNvPr>
            <p:cNvSpPr/>
            <p:nvPr/>
          </p:nvSpPr>
          <p:spPr>
            <a:xfrm>
              <a:off x="2313516" y="2183191"/>
              <a:ext cx="3376340" cy="2872885"/>
            </a:xfrm>
            <a:prstGeom prst="roundRect">
              <a:avLst>
                <a:gd name="adj" fmla="val 3049"/>
              </a:avLst>
            </a:prstGeom>
            <a:solidFill>
              <a:schemeClr val="bg1"/>
            </a:solidFill>
            <a:ln w="158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73433" rtlCol="0" anchor="b" anchorCtr="0"/>
            <a:lstStyle/>
            <a:p>
              <a:pPr algn="ctr"/>
              <a:r>
                <a:rPr lang="en-US" sz="1836" dirty="0" err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CoreServicesVnet</a:t>
              </a:r>
              <a:endParaRPr lang="en-US" sz="1836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/>
              <a:r>
                <a:rPr lang="en-US" sz="1836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(10.20.0.0/16)</a:t>
              </a:r>
            </a:p>
          </p:txBody>
        </p:sp>
        <p:sp>
          <p:nvSpPr>
            <p:cNvPr id="15" name="矩形 13">
              <a:extLst>
                <a:ext uri="{FF2B5EF4-FFF2-40B4-BE49-F238E27FC236}">
                  <a16:creationId xmlns:a16="http://schemas.microsoft.com/office/drawing/2014/main" id="{E4ABFC38-D005-4FE2-3ADF-97F83CA6B878}"/>
                </a:ext>
              </a:extLst>
            </p:cNvPr>
            <p:cNvSpPr/>
            <p:nvPr/>
          </p:nvSpPr>
          <p:spPr>
            <a:xfrm>
              <a:off x="6570919" y="1897661"/>
              <a:ext cx="3938968" cy="34417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36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矩形: 圆角 14">
              <a:extLst>
                <a:ext uri="{FF2B5EF4-FFF2-40B4-BE49-F238E27FC236}">
                  <a16:creationId xmlns:a16="http://schemas.microsoft.com/office/drawing/2014/main" id="{DA728C92-C8E9-DC08-CA3B-E14850A86E65}"/>
                </a:ext>
              </a:extLst>
            </p:cNvPr>
            <p:cNvSpPr/>
            <p:nvPr/>
          </p:nvSpPr>
          <p:spPr>
            <a:xfrm>
              <a:off x="6852233" y="2183191"/>
              <a:ext cx="3376340" cy="2872885"/>
            </a:xfrm>
            <a:prstGeom prst="roundRect">
              <a:avLst>
                <a:gd name="adj" fmla="val 3049"/>
              </a:avLst>
            </a:prstGeom>
            <a:solidFill>
              <a:schemeClr val="bg1"/>
            </a:solidFill>
            <a:ln w="158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73433" rtlCol="0" anchor="b" anchorCtr="0"/>
            <a:lstStyle/>
            <a:p>
              <a:pPr algn="ctr"/>
              <a:r>
                <a:rPr lang="en-US" sz="1836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ManufacturingVnet</a:t>
              </a:r>
            </a:p>
            <a:p>
              <a:pPr algn="ctr"/>
              <a:r>
                <a:rPr lang="en-US" sz="1836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(10.30.0.0/16)</a:t>
              </a:r>
            </a:p>
          </p:txBody>
        </p:sp>
        <p:sp>
          <p:nvSpPr>
            <p:cNvPr id="17" name="矩形: 圆角 20">
              <a:extLst>
                <a:ext uri="{FF2B5EF4-FFF2-40B4-BE49-F238E27FC236}">
                  <a16:creationId xmlns:a16="http://schemas.microsoft.com/office/drawing/2014/main" id="{B4B7C7C4-4CE8-E7E5-80FD-C61D57358DD0}"/>
                </a:ext>
              </a:extLst>
            </p:cNvPr>
            <p:cNvSpPr/>
            <p:nvPr/>
          </p:nvSpPr>
          <p:spPr>
            <a:xfrm>
              <a:off x="7139216" y="2488160"/>
              <a:ext cx="2837109" cy="774645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2700">
              <a:solidFill>
                <a:schemeClr val="tx1">
                  <a:lumMod val="50000"/>
                  <a:lumOff val="50000"/>
                  <a:alpha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3433" bIns="73433" rtlCol="0" anchor="ctr" anchorCtr="0"/>
            <a:lstStyle/>
            <a:p>
              <a:pPr algn="ctr"/>
              <a:r>
                <a:rPr lang="en-US" sz="1836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SensorSubnet1</a:t>
              </a:r>
            </a:p>
            <a:p>
              <a:pPr algn="ctr"/>
              <a:r>
                <a:rPr lang="en-US" sz="1836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(10.30.20.0/24)</a:t>
              </a:r>
              <a:endParaRPr lang="en-US" sz="1836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" name="矩形: 圆角 21">
              <a:extLst>
                <a:ext uri="{FF2B5EF4-FFF2-40B4-BE49-F238E27FC236}">
                  <a16:creationId xmlns:a16="http://schemas.microsoft.com/office/drawing/2014/main" id="{AB57FBA3-6202-323B-64FD-70B2B0934B39}"/>
                </a:ext>
              </a:extLst>
            </p:cNvPr>
            <p:cNvSpPr/>
            <p:nvPr/>
          </p:nvSpPr>
          <p:spPr>
            <a:xfrm>
              <a:off x="7139216" y="3404955"/>
              <a:ext cx="2837109" cy="759626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2700">
              <a:solidFill>
                <a:schemeClr val="tx1">
                  <a:lumMod val="50000"/>
                  <a:lumOff val="50000"/>
                  <a:alpha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3433" bIns="73433" rtlCol="0" anchor="ctr" anchorCtr="0"/>
            <a:lstStyle/>
            <a:p>
              <a:pPr algn="ctr"/>
              <a:r>
                <a:rPr lang="en-US" sz="1836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SensorSubnet2</a:t>
              </a:r>
            </a:p>
            <a:p>
              <a:pPr algn="ctr"/>
              <a:r>
                <a:rPr lang="en-US" sz="1836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(10.30.21.0/24)</a:t>
              </a:r>
              <a:endParaRPr lang="en-US" sz="1836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8489389-9A5C-831A-28DD-2DFFE748B21F}"/>
                </a:ext>
              </a:extLst>
            </p:cNvPr>
            <p:cNvGrpSpPr/>
            <p:nvPr/>
          </p:nvGrpSpPr>
          <p:grpSpPr>
            <a:xfrm>
              <a:off x="1663455" y="1349037"/>
              <a:ext cx="1702039" cy="386066"/>
              <a:chOff x="4721801" y="1150135"/>
              <a:chExt cx="1175161" cy="293159"/>
            </a:xfrm>
          </p:grpSpPr>
          <p:sp>
            <p:nvSpPr>
              <p:cNvPr id="35" name="文本框 24">
                <a:extLst>
                  <a:ext uri="{FF2B5EF4-FFF2-40B4-BE49-F238E27FC236}">
                    <a16:creationId xmlns:a16="http://schemas.microsoft.com/office/drawing/2014/main" id="{5A5760B6-E0E7-17CA-C1F8-B8A12F039F9A}"/>
                  </a:ext>
                </a:extLst>
              </p:cNvPr>
              <p:cNvSpPr txBox="1"/>
              <p:nvPr/>
            </p:nvSpPr>
            <p:spPr>
              <a:xfrm>
                <a:off x="4721801" y="1158655"/>
                <a:ext cx="1175161" cy="28463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836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az104-rg4</a:t>
                </a:r>
              </a:p>
            </p:txBody>
          </p:sp>
          <p:pic>
            <p:nvPicPr>
              <p:cNvPr id="36" name="图形 25">
                <a:extLst>
                  <a:ext uri="{FF2B5EF4-FFF2-40B4-BE49-F238E27FC236}">
                    <a16:creationId xmlns:a16="http://schemas.microsoft.com/office/drawing/2014/main" id="{375051F4-AEFB-AE44-B0F2-0F97AAC90C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829545" y="1150135"/>
                <a:ext cx="288000" cy="288000"/>
              </a:xfrm>
              <a:prstGeom prst="rect">
                <a:avLst/>
              </a:prstGeom>
            </p:spPr>
          </p:pic>
        </p:grpSp>
        <p:pic>
          <p:nvPicPr>
            <p:cNvPr id="20" name="图形 75">
              <a:extLst>
                <a:ext uri="{FF2B5EF4-FFF2-40B4-BE49-F238E27FC236}">
                  <a16:creationId xmlns:a16="http://schemas.microsoft.com/office/drawing/2014/main" id="{B195B1AE-AE5B-E200-66F0-94C3AEEFA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729745" y="4848183"/>
              <a:ext cx="417123" cy="379272"/>
            </a:xfrm>
            <a:prstGeom prst="rect">
              <a:avLst/>
            </a:prstGeom>
          </p:spPr>
        </p:pic>
        <p:sp>
          <p:nvSpPr>
            <p:cNvPr id="21" name="矩形: 圆角 17">
              <a:extLst>
                <a:ext uri="{FF2B5EF4-FFF2-40B4-BE49-F238E27FC236}">
                  <a16:creationId xmlns:a16="http://schemas.microsoft.com/office/drawing/2014/main" id="{89353628-113D-1999-137D-B89F04F4D4AD}"/>
                </a:ext>
              </a:extLst>
            </p:cNvPr>
            <p:cNvSpPr/>
            <p:nvPr/>
          </p:nvSpPr>
          <p:spPr>
            <a:xfrm>
              <a:off x="2556641" y="3406037"/>
              <a:ext cx="2837109" cy="758544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2700">
              <a:solidFill>
                <a:schemeClr val="tx1">
                  <a:lumMod val="50000"/>
                  <a:lumOff val="50000"/>
                  <a:alpha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3433" bIns="73433" rtlCol="0" anchor="ctr" anchorCtr="0"/>
            <a:lstStyle/>
            <a:p>
              <a:pPr algn="ctr"/>
              <a:r>
                <a:rPr lang="en-US" sz="1836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DatabaseSubnet</a:t>
              </a:r>
            </a:p>
            <a:p>
              <a:pPr algn="ctr"/>
              <a:r>
                <a:rPr lang="en-US" sz="1836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(10.20.20.0/24)</a:t>
              </a:r>
              <a:endParaRPr lang="en-US" sz="1836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" name="矩形: 圆角 18">
              <a:extLst>
                <a:ext uri="{FF2B5EF4-FFF2-40B4-BE49-F238E27FC236}">
                  <a16:creationId xmlns:a16="http://schemas.microsoft.com/office/drawing/2014/main" id="{A99FC986-8286-D140-6A36-D62711BE6DAD}"/>
                </a:ext>
              </a:extLst>
            </p:cNvPr>
            <p:cNvSpPr/>
            <p:nvPr/>
          </p:nvSpPr>
          <p:spPr>
            <a:xfrm>
              <a:off x="2550441" y="2488160"/>
              <a:ext cx="2837109" cy="758544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12700">
              <a:solidFill>
                <a:schemeClr val="tx1">
                  <a:lumMod val="50000"/>
                  <a:lumOff val="50000"/>
                  <a:alpha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3433" bIns="73433" rtlCol="0" anchor="ctr" anchorCtr="0"/>
            <a:lstStyle/>
            <a:p>
              <a:pPr algn="ctr"/>
              <a:r>
                <a:rPr lang="en-US" sz="1836" dirty="0" err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SharedServicesSubnet</a:t>
              </a:r>
              <a:endParaRPr lang="en-US" sz="1836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/>
              <a:r>
                <a:rPr lang="en-US" sz="1836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(10.20.10.0/24)</a:t>
              </a:r>
              <a:endParaRPr lang="en-US" sz="1836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23" name="图形 50">
              <a:extLst>
                <a:ext uri="{FF2B5EF4-FFF2-40B4-BE49-F238E27FC236}">
                  <a16:creationId xmlns:a16="http://schemas.microsoft.com/office/drawing/2014/main" id="{F1BE2F07-91DB-A0AE-02E2-AFC232FF4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158307" y="4836136"/>
              <a:ext cx="417123" cy="379272"/>
            </a:xfrm>
            <a:prstGeom prst="rect">
              <a:avLst/>
            </a:prstGeom>
          </p:spPr>
        </p:pic>
        <p:pic>
          <p:nvPicPr>
            <p:cNvPr id="24" name="图形 22">
              <a:extLst>
                <a:ext uri="{FF2B5EF4-FFF2-40B4-BE49-F238E27FC236}">
                  <a16:creationId xmlns:a16="http://schemas.microsoft.com/office/drawing/2014/main" id="{B3EBA4CD-3D2B-6B85-28AD-10EE79A99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096550" y="2316780"/>
              <a:ext cx="417123" cy="379272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AE96CDDD-441B-3F99-A818-9557110C8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987824" y="2280922"/>
              <a:ext cx="469313" cy="426726"/>
            </a:xfrm>
            <a:prstGeom prst="rect">
              <a:avLst/>
            </a:prstGeom>
          </p:spPr>
        </p:pic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FC890B6-17D7-AB98-A401-5199E1272ABD}"/>
                </a:ext>
              </a:extLst>
            </p:cNvPr>
            <p:cNvCxnSpPr>
              <a:cxnSpLocks/>
              <a:stCxn id="25" idx="1"/>
            </p:cNvCxnSpPr>
            <p:nvPr/>
          </p:nvCxnSpPr>
          <p:spPr>
            <a:xfrm flipH="1" flipV="1">
              <a:off x="5512541" y="2479194"/>
              <a:ext cx="1475285" cy="1509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A4C71EA-E87F-BFD8-9F1F-2198FB334215}"/>
                </a:ext>
              </a:extLst>
            </p:cNvPr>
            <p:cNvSpPr txBox="1"/>
            <p:nvPr/>
          </p:nvSpPr>
          <p:spPr>
            <a:xfrm>
              <a:off x="2028068" y="1854581"/>
              <a:ext cx="1272221" cy="3748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191"/>
              <a:r>
                <a:rPr lang="en-US" sz="1836" b="1" dirty="0">
                  <a:solidFill>
                    <a:schemeClr val="tx2">
                      <a:lumMod val="50000"/>
                    </a:schemeClr>
                  </a:solidFill>
                  <a:latin typeface="Segoe UI"/>
                </a:rPr>
                <a:t>Task 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329836A-4131-8457-42FC-11B862A57853}"/>
                </a:ext>
              </a:extLst>
            </p:cNvPr>
            <p:cNvSpPr txBox="1"/>
            <p:nvPr/>
          </p:nvSpPr>
          <p:spPr>
            <a:xfrm>
              <a:off x="9592462" y="1866265"/>
              <a:ext cx="917425" cy="3748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191"/>
              <a:r>
                <a:rPr lang="en-US" sz="1836" b="1" dirty="0">
                  <a:solidFill>
                    <a:schemeClr val="tx2">
                      <a:lumMod val="50000"/>
                    </a:schemeClr>
                  </a:solidFill>
                  <a:latin typeface="Segoe UI"/>
                </a:rPr>
                <a:t>Task 2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B963221-80B2-840E-5D25-50BC9A0B11C8}"/>
                </a:ext>
              </a:extLst>
            </p:cNvPr>
            <p:cNvSpPr txBox="1"/>
            <p:nvPr/>
          </p:nvSpPr>
          <p:spPr>
            <a:xfrm>
              <a:off x="5840596" y="2147862"/>
              <a:ext cx="860247" cy="3748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191"/>
              <a:r>
                <a:rPr lang="en-US" sz="1836" b="1" dirty="0">
                  <a:solidFill>
                    <a:schemeClr val="tx2">
                      <a:lumMod val="50000"/>
                    </a:schemeClr>
                  </a:solidFill>
                  <a:latin typeface="Segoe UI"/>
                </a:rPr>
                <a:t>Task 3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8F08A6E-14C9-4DCB-D6BF-CDF2BD6FD418}"/>
                </a:ext>
              </a:extLst>
            </p:cNvPr>
            <p:cNvSpPr txBox="1"/>
            <p:nvPr/>
          </p:nvSpPr>
          <p:spPr>
            <a:xfrm>
              <a:off x="5840595" y="5431218"/>
              <a:ext cx="902697" cy="3748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191"/>
              <a:r>
                <a:rPr lang="en-US" sz="1836" b="1" dirty="0">
                  <a:solidFill>
                    <a:schemeClr val="tx2">
                      <a:lumMod val="50000"/>
                    </a:schemeClr>
                  </a:solidFill>
                  <a:latin typeface="Segoe UI"/>
                </a:rPr>
                <a:t>Task 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A8DF8EB-CC62-3D9C-B04F-033BEEE8406D}"/>
                </a:ext>
              </a:extLst>
            </p:cNvPr>
            <p:cNvSpPr txBox="1"/>
            <p:nvPr/>
          </p:nvSpPr>
          <p:spPr>
            <a:xfrm>
              <a:off x="3227652" y="5415829"/>
              <a:ext cx="2221057" cy="4062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40" dirty="0">
                  <a:latin typeface="Segoe UI" panose="020B0502040204020203" pitchFamily="34" charset="0"/>
                  <a:cs typeface="Segoe UI" panose="020B0502040204020203" pitchFamily="34" charset="0"/>
                </a:rPr>
                <a:t>contoso.com</a:t>
              </a:r>
              <a:endParaRPr lang="en-US" sz="204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B1D5233-424F-D7AF-BCA2-7E633B936F78}"/>
                </a:ext>
              </a:extLst>
            </p:cNvPr>
            <p:cNvSpPr txBox="1"/>
            <p:nvPr/>
          </p:nvSpPr>
          <p:spPr>
            <a:xfrm>
              <a:off x="7538160" y="5415829"/>
              <a:ext cx="2608708" cy="4062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40" dirty="0">
                  <a:latin typeface="Segoe UI" panose="020B0502040204020203" pitchFamily="34" charset="0"/>
                  <a:cs typeface="Segoe UI" panose="020B0502040204020203" pitchFamily="34" charset="0"/>
                </a:rPr>
                <a:t>private.contoso.com</a:t>
              </a:r>
              <a:endParaRPr lang="en-US" sz="2040" dirty="0"/>
            </a:p>
          </p:txBody>
        </p:sp>
        <p:sp>
          <p:nvSpPr>
            <p:cNvPr id="33" name="Arrow: Up 32">
              <a:extLst>
                <a:ext uri="{FF2B5EF4-FFF2-40B4-BE49-F238E27FC236}">
                  <a16:creationId xmlns:a16="http://schemas.microsoft.com/office/drawing/2014/main" id="{CA5CB81F-DEA9-FECB-100D-7FB6A6FC5D27}"/>
                </a:ext>
              </a:extLst>
            </p:cNvPr>
            <p:cNvSpPr/>
            <p:nvPr/>
          </p:nvSpPr>
          <p:spPr bwMode="auto">
            <a:xfrm>
              <a:off x="3782291" y="5227455"/>
              <a:ext cx="332509" cy="291876"/>
            </a:xfrm>
            <a:prstGeom prst="upArrow">
              <a:avLst/>
            </a:prstGeom>
            <a:solidFill>
              <a:srgbClr val="559CEC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6521" tIns="149217" rIns="186521" bIns="149217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102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856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4" name="Arrow: Up 33">
              <a:extLst>
                <a:ext uri="{FF2B5EF4-FFF2-40B4-BE49-F238E27FC236}">
                  <a16:creationId xmlns:a16="http://schemas.microsoft.com/office/drawing/2014/main" id="{8CB7CCED-B5AD-06C0-8197-DD64193C6868}"/>
                </a:ext>
              </a:extLst>
            </p:cNvPr>
            <p:cNvSpPr/>
            <p:nvPr/>
          </p:nvSpPr>
          <p:spPr bwMode="auto">
            <a:xfrm>
              <a:off x="8516174" y="5194395"/>
              <a:ext cx="332509" cy="291876"/>
            </a:xfrm>
            <a:prstGeom prst="upArrow">
              <a:avLst/>
            </a:prstGeom>
            <a:solidFill>
              <a:srgbClr val="559CEC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6521" tIns="149217" rIns="186521" bIns="149217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102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856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1768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CDF16C1-867A-25B0-3EA4-00955FBA834B}"/>
              </a:ext>
            </a:extLst>
          </p:cNvPr>
          <p:cNvSpPr txBox="1">
            <a:spLocks/>
          </p:cNvSpPr>
          <p:nvPr/>
        </p:nvSpPr>
        <p:spPr>
          <a:xfrm>
            <a:off x="553337" y="1052417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cs typeface="Segoe UI"/>
              </a:rPr>
              <a:t>Lab 04 – Architecture diagram (interactive lab simulation)</a:t>
            </a:r>
            <a:endParaRPr lang="en-US" sz="3800" dirty="0"/>
          </a:p>
        </p:txBody>
      </p:sp>
      <p:grpSp>
        <p:nvGrpSpPr>
          <p:cNvPr id="11" name="Group 10" descr="Architecture diagram of the detailed lab steps. ">
            <a:extLst>
              <a:ext uri="{FF2B5EF4-FFF2-40B4-BE49-F238E27FC236}">
                <a16:creationId xmlns:a16="http://schemas.microsoft.com/office/drawing/2014/main" id="{C966DD28-20F5-6D8B-1B28-D6934CD04A15}"/>
              </a:ext>
            </a:extLst>
          </p:cNvPr>
          <p:cNvGrpSpPr/>
          <p:nvPr/>
        </p:nvGrpSpPr>
        <p:grpSpPr>
          <a:xfrm>
            <a:off x="2523159" y="1885268"/>
            <a:ext cx="7389269" cy="4913906"/>
            <a:chOff x="2446494" y="1542553"/>
            <a:chExt cx="7389269" cy="491390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217803-7791-A869-9A17-AAB93BB1B619}"/>
                </a:ext>
              </a:extLst>
            </p:cNvPr>
            <p:cNvSpPr/>
            <p:nvPr/>
          </p:nvSpPr>
          <p:spPr bwMode="auto">
            <a:xfrm>
              <a:off x="7950861" y="4768750"/>
              <a:ext cx="1661096" cy="12544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0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fr-FR" sz="2353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EA6C5CC-17CB-6220-061E-EDD9BD75D146}"/>
                </a:ext>
              </a:extLst>
            </p:cNvPr>
            <p:cNvSpPr/>
            <p:nvPr/>
          </p:nvSpPr>
          <p:spPr bwMode="auto">
            <a:xfrm>
              <a:off x="7891433" y="2753114"/>
              <a:ext cx="1661096" cy="12544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0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fr-FR" sz="2353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DB29B0D-90B2-86D7-E4FD-04EA972C1ABF}"/>
                </a:ext>
              </a:extLst>
            </p:cNvPr>
            <p:cNvSpPr/>
            <p:nvPr/>
          </p:nvSpPr>
          <p:spPr bwMode="auto">
            <a:xfrm>
              <a:off x="2595126" y="5669870"/>
              <a:ext cx="5038048" cy="7196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0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fr-FR" sz="2353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A81884C-A824-7357-D72B-45666864BA87}"/>
                </a:ext>
              </a:extLst>
            </p:cNvPr>
            <p:cNvSpPr/>
            <p:nvPr/>
          </p:nvSpPr>
          <p:spPr bwMode="auto">
            <a:xfrm>
              <a:off x="2619847" y="4795482"/>
              <a:ext cx="5038048" cy="7196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0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fr-FR" sz="2353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5D98CFA-64E7-2F31-0FD3-F3C2EE69A52F}"/>
                </a:ext>
              </a:extLst>
            </p:cNvPr>
            <p:cNvSpPr/>
            <p:nvPr/>
          </p:nvSpPr>
          <p:spPr bwMode="auto">
            <a:xfrm>
              <a:off x="2598173" y="1542553"/>
              <a:ext cx="5038049" cy="31372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0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fr-FR" sz="2353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E2C54A0-9BB8-7A3B-A6F5-10079AD33A1A}"/>
                </a:ext>
              </a:extLst>
            </p:cNvPr>
            <p:cNvSpPr txBox="1"/>
            <p:nvPr/>
          </p:nvSpPr>
          <p:spPr>
            <a:xfrm>
              <a:off x="2624427" y="1674810"/>
              <a:ext cx="1568286" cy="271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367"/>
              <a:r>
                <a:rPr lang="fr-FR" sz="1176" b="1" dirty="0">
                  <a:solidFill>
                    <a:schemeClr val="tx2">
                      <a:lumMod val="50000"/>
                    </a:schemeClr>
                  </a:solidFill>
                  <a:latin typeface="Segoe UI"/>
                </a:rPr>
                <a:t>Task 1, Task 2</a:t>
              </a:r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3EB3EF13-0321-C327-F6AD-E944095BE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343861" y="1619020"/>
              <a:ext cx="376369" cy="376369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7394142-7A71-07B3-F6BC-2C76CA7477FA}"/>
                </a:ext>
              </a:extLst>
            </p:cNvPr>
            <p:cNvSpPr txBox="1"/>
            <p:nvPr/>
          </p:nvSpPr>
          <p:spPr>
            <a:xfrm>
              <a:off x="4720230" y="1671427"/>
              <a:ext cx="1297732" cy="271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367"/>
              <a:r>
                <a:rPr lang="fr-FR" sz="1176" b="1" dirty="0">
                  <a:solidFill>
                    <a:srgbClr val="000000"/>
                  </a:solidFill>
                  <a:latin typeface="Segoe UI"/>
                </a:rPr>
                <a:t>az104-04-rg1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03E407D-57D1-D3B0-3D27-DE04D295706C}"/>
                </a:ext>
              </a:extLst>
            </p:cNvPr>
            <p:cNvSpPr/>
            <p:nvPr/>
          </p:nvSpPr>
          <p:spPr bwMode="auto">
            <a:xfrm>
              <a:off x="2446494" y="2046758"/>
              <a:ext cx="7389269" cy="4409701"/>
            </a:xfrm>
            <a:prstGeom prst="rect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0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fr-FR" sz="2353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cs typeface="Segoe UI" pitchFamily="34" charset="0"/>
              </a:endParaRP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FFE31412-650E-898B-6F51-DC346A195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806123" y="2160449"/>
              <a:ext cx="412418" cy="412418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CD9C10-653D-F555-3F0C-36432A60C3E0}"/>
                </a:ext>
              </a:extLst>
            </p:cNvPr>
            <p:cNvSpPr/>
            <p:nvPr/>
          </p:nvSpPr>
          <p:spPr bwMode="auto">
            <a:xfrm>
              <a:off x="2806123" y="2601956"/>
              <a:ext cx="4616061" cy="2035569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0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fr-FR" sz="2353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cs typeface="Segoe UI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41BF26F-5C6C-B2AF-322B-AC677D28B0C7}"/>
                </a:ext>
              </a:extLst>
            </p:cNvPr>
            <p:cNvSpPr txBox="1"/>
            <p:nvPr/>
          </p:nvSpPr>
          <p:spPr>
            <a:xfrm>
              <a:off x="3218541" y="2197071"/>
              <a:ext cx="2688259" cy="271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367"/>
              <a:r>
                <a:rPr lang="fr-FR" sz="1176" b="1" dirty="0">
                  <a:solidFill>
                    <a:srgbClr val="000000"/>
                  </a:solidFill>
                  <a:latin typeface="Segoe UI"/>
                </a:rPr>
                <a:t>az104-04-vnet1 </a:t>
              </a:r>
              <a:r>
                <a:rPr lang="fr-FR" sz="1176" dirty="0">
                  <a:solidFill>
                    <a:srgbClr val="000000"/>
                  </a:solidFill>
                  <a:latin typeface="Segoe UI"/>
                </a:rPr>
                <a:t>10.40.0.0/20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5F7C696-3718-35D6-7616-AB96A3AE6C31}"/>
                </a:ext>
              </a:extLst>
            </p:cNvPr>
            <p:cNvSpPr/>
            <p:nvPr/>
          </p:nvSpPr>
          <p:spPr bwMode="auto">
            <a:xfrm>
              <a:off x="2912840" y="2974337"/>
              <a:ext cx="2140222" cy="1569713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0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fr-FR" sz="2353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cs typeface="Segoe UI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DE97B30-F455-0ECD-1F24-D5899EE68FF8}"/>
                </a:ext>
              </a:extLst>
            </p:cNvPr>
            <p:cNvSpPr txBox="1"/>
            <p:nvPr/>
          </p:nvSpPr>
          <p:spPr>
            <a:xfrm>
              <a:off x="2870152" y="2624161"/>
              <a:ext cx="2688259" cy="271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367"/>
              <a:r>
                <a:rPr lang="fr-FR" sz="1176" b="1" dirty="0">
                  <a:solidFill>
                    <a:srgbClr val="000000"/>
                  </a:solidFill>
                  <a:latin typeface="Segoe UI"/>
                </a:rPr>
                <a:t>Subnet0 </a:t>
              </a:r>
              <a:r>
                <a:rPr lang="fr-FR" sz="1176" dirty="0">
                  <a:solidFill>
                    <a:srgbClr val="000000"/>
                  </a:solidFill>
                  <a:latin typeface="Segoe UI"/>
                </a:rPr>
                <a:t>10.40.0.0/24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7D3572D-564C-ADD3-084F-6588908D0C6B}"/>
                </a:ext>
              </a:extLst>
            </p:cNvPr>
            <p:cNvSpPr/>
            <p:nvPr/>
          </p:nvSpPr>
          <p:spPr bwMode="auto">
            <a:xfrm>
              <a:off x="5182646" y="2977368"/>
              <a:ext cx="2140222" cy="1566682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0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fr-FR" sz="2353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cs typeface="Segoe UI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74A30AE-4D07-A999-BF38-E18FD80FD0EB}"/>
                </a:ext>
              </a:extLst>
            </p:cNvPr>
            <p:cNvSpPr txBox="1"/>
            <p:nvPr/>
          </p:nvSpPr>
          <p:spPr>
            <a:xfrm>
              <a:off x="5139958" y="2708115"/>
              <a:ext cx="2688259" cy="271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367"/>
              <a:r>
                <a:rPr lang="fr-FR" sz="1176" b="1" dirty="0">
                  <a:solidFill>
                    <a:srgbClr val="000000"/>
                  </a:solidFill>
                  <a:latin typeface="Segoe UI"/>
                </a:rPr>
                <a:t>Subnet1 </a:t>
              </a:r>
              <a:r>
                <a:rPr lang="fr-FR" sz="1176" dirty="0">
                  <a:solidFill>
                    <a:srgbClr val="000000"/>
                  </a:solidFill>
                  <a:latin typeface="Segoe UI"/>
                </a:rPr>
                <a:t>10.40.1.0/24</a:t>
              </a:r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EF4685BB-4E46-76BF-888B-0C3DFF910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776839" y="3084790"/>
              <a:ext cx="403078" cy="403078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72CD9F6-A5AE-A24E-07FC-7DBF78AE4C12}"/>
                </a:ext>
              </a:extLst>
            </p:cNvPr>
            <p:cNvSpPr txBox="1"/>
            <p:nvPr/>
          </p:nvSpPr>
          <p:spPr>
            <a:xfrm>
              <a:off x="3317288" y="3505773"/>
              <a:ext cx="1322180" cy="271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914367"/>
              <a:r>
                <a:rPr lang="fr-FR" sz="1176" b="1" dirty="0">
                  <a:solidFill>
                    <a:srgbClr val="000000"/>
                  </a:solidFill>
                  <a:latin typeface="Segoe UI"/>
                </a:rPr>
                <a:t>az104-04-vm0</a:t>
              </a:r>
            </a:p>
          </p:txBody>
        </p:sp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AE1C7877-FA44-361B-41D9-D12422D476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017962" y="3079768"/>
              <a:ext cx="403078" cy="403078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E4EA5D7-42F0-DAD4-7DF6-294E8A47690E}"/>
                </a:ext>
              </a:extLst>
            </p:cNvPr>
            <p:cNvSpPr txBox="1"/>
            <p:nvPr/>
          </p:nvSpPr>
          <p:spPr>
            <a:xfrm>
              <a:off x="5558411" y="3500751"/>
              <a:ext cx="1322180" cy="271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914367"/>
              <a:r>
                <a:rPr lang="fr-FR" sz="1176" b="1" dirty="0">
                  <a:solidFill>
                    <a:srgbClr val="000000"/>
                  </a:solidFill>
                  <a:latin typeface="Segoe UI"/>
                </a:rPr>
                <a:t>az104-04-vm1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4A0EEDBF-B3C2-A8C9-8E91-78D414D8D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907082" y="5784466"/>
              <a:ext cx="361430" cy="361430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882D61C5-17C6-8312-D9C3-D495A67AB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776838" y="4828886"/>
              <a:ext cx="361430" cy="36143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3954955-341A-1E75-67DD-43F8C032472B}"/>
                </a:ext>
              </a:extLst>
            </p:cNvPr>
            <p:cNvSpPr txBox="1"/>
            <p:nvPr/>
          </p:nvSpPr>
          <p:spPr>
            <a:xfrm>
              <a:off x="3258435" y="5149686"/>
              <a:ext cx="1264958" cy="271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367"/>
              <a:r>
                <a:rPr lang="fr-FR" sz="1176" b="1" dirty="0">
                  <a:solidFill>
                    <a:srgbClr val="000000"/>
                  </a:solidFill>
                  <a:latin typeface="Segoe UI"/>
                </a:rPr>
                <a:t>az104-04-pip0</a:t>
              </a:r>
            </a:p>
          </p:txBody>
        </p: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ADAF4F6-B6C9-50EF-57AE-6A79D8874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059823" y="4838546"/>
              <a:ext cx="361430" cy="36143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B7E393E-B884-4F07-9F40-016C7B92594F}"/>
                </a:ext>
              </a:extLst>
            </p:cNvPr>
            <p:cNvSpPr txBox="1"/>
            <p:nvPr/>
          </p:nvSpPr>
          <p:spPr>
            <a:xfrm>
              <a:off x="5607399" y="5116774"/>
              <a:ext cx="1264958" cy="271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367"/>
              <a:r>
                <a:rPr lang="fr-FR" sz="1176" b="1" dirty="0">
                  <a:solidFill>
                    <a:srgbClr val="000000"/>
                  </a:solidFill>
                  <a:latin typeface="Segoe UI"/>
                </a:rPr>
                <a:t>az104-04-pip1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6B61245-95C1-7C54-38A4-634716707CED}"/>
                </a:ext>
              </a:extLst>
            </p:cNvPr>
            <p:cNvSpPr txBox="1"/>
            <p:nvPr/>
          </p:nvSpPr>
          <p:spPr>
            <a:xfrm>
              <a:off x="4424114" y="6120143"/>
              <a:ext cx="1429516" cy="271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367"/>
              <a:r>
                <a:rPr lang="fr-FR" sz="1176" b="1" dirty="0">
                  <a:solidFill>
                    <a:srgbClr val="000000"/>
                  </a:solidFill>
                  <a:latin typeface="Segoe UI"/>
                </a:rPr>
                <a:t>az104-04-nsg01</a:t>
              </a: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84FBBC-9386-2195-1AE2-6362ED5C6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791995" y="3777326"/>
              <a:ext cx="357982" cy="357982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5DFCE82-93D7-FBEF-134C-E5FF1830AD8F}"/>
                </a:ext>
              </a:extLst>
            </p:cNvPr>
            <p:cNvSpPr txBox="1"/>
            <p:nvPr/>
          </p:nvSpPr>
          <p:spPr>
            <a:xfrm>
              <a:off x="3328997" y="4069268"/>
              <a:ext cx="1322180" cy="4525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914367"/>
              <a:r>
                <a:rPr lang="fr-FR" sz="1176" b="1" dirty="0">
                  <a:solidFill>
                    <a:srgbClr val="000000"/>
                  </a:solidFill>
                  <a:latin typeface="Segoe UI"/>
                </a:rPr>
                <a:t>az104-04-nic0</a:t>
              </a:r>
            </a:p>
            <a:p>
              <a:pPr algn="ctr" defTabSz="914367"/>
              <a:r>
                <a:rPr lang="fr-FR" sz="1176" dirty="0">
                  <a:solidFill>
                    <a:srgbClr val="000000"/>
                  </a:solidFill>
                  <a:latin typeface="Segoe UI"/>
                </a:rPr>
                <a:t>10.40.0.4</a:t>
              </a:r>
            </a:p>
          </p:txBody>
        </p:sp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67CD55C7-D11C-16AD-09C6-4B0D7EE39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039530" y="3768122"/>
              <a:ext cx="357982" cy="357982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7B61260-3B37-D4E1-0F1F-7400B8D099D3}"/>
                </a:ext>
              </a:extLst>
            </p:cNvPr>
            <p:cNvSpPr txBox="1"/>
            <p:nvPr/>
          </p:nvSpPr>
          <p:spPr>
            <a:xfrm>
              <a:off x="5576532" y="4060063"/>
              <a:ext cx="1322180" cy="4525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914367"/>
              <a:r>
                <a:rPr lang="fr-FR" sz="1176" b="1" dirty="0">
                  <a:solidFill>
                    <a:srgbClr val="000000"/>
                  </a:solidFill>
                  <a:latin typeface="Segoe UI"/>
                </a:rPr>
                <a:t>az104-04-nic1</a:t>
              </a:r>
            </a:p>
            <a:p>
              <a:pPr algn="ctr" defTabSz="914367"/>
              <a:r>
                <a:rPr lang="fr-FR" sz="1176" dirty="0">
                  <a:solidFill>
                    <a:srgbClr val="000000"/>
                  </a:solidFill>
                  <a:latin typeface="Segoe UI"/>
                </a:rPr>
                <a:t>10.40.1.4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5074029-71E2-3087-C9D6-9C8084CB2CF0}"/>
                </a:ext>
              </a:extLst>
            </p:cNvPr>
            <p:cNvCxnSpPr>
              <a:cxnSpLocks/>
              <a:endCxn id="33" idx="0"/>
            </p:cNvCxnSpPr>
            <p:nvPr/>
          </p:nvCxnSpPr>
          <p:spPr>
            <a:xfrm>
              <a:off x="3957553" y="4528179"/>
              <a:ext cx="1" cy="30070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FC9E950F-E005-2DC6-8C93-42CA418CC09D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 flipH="1">
              <a:off x="5087797" y="4512653"/>
              <a:ext cx="984893" cy="127181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2DE293D-1F4C-C8B7-BE15-4C18378A7805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4159600" y="4453477"/>
              <a:ext cx="928197" cy="133098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60874AB4-8C6F-F134-FD07-114D7DCEB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436599" y="3285203"/>
              <a:ext cx="431094" cy="431094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FEA9747-9789-DB78-E309-CF6D6B50BD32}"/>
                </a:ext>
              </a:extLst>
            </p:cNvPr>
            <p:cNvSpPr txBox="1"/>
            <p:nvPr/>
          </p:nvSpPr>
          <p:spPr>
            <a:xfrm>
              <a:off x="8146753" y="3656287"/>
              <a:ext cx="1214096" cy="271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367"/>
              <a:r>
                <a:rPr lang="fr-FR" sz="1176" b="1" dirty="0">
                  <a:solidFill>
                    <a:srgbClr val="000000"/>
                  </a:solidFill>
                  <a:latin typeface="Segoe UI"/>
                </a:rPr>
                <a:t>contoso.org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BD2B3B3C-97D0-BDCD-6895-244D2B1EBA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2183" y="3500750"/>
              <a:ext cx="9151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33389FD-667E-810E-3621-FCCDB7C1FD0E}"/>
                </a:ext>
              </a:extLst>
            </p:cNvPr>
            <p:cNvSpPr txBox="1"/>
            <p:nvPr/>
          </p:nvSpPr>
          <p:spPr>
            <a:xfrm>
              <a:off x="8041574" y="3017654"/>
              <a:ext cx="1424452" cy="271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367"/>
              <a:r>
                <a:rPr lang="fr-FR" sz="1176" b="1" dirty="0">
                  <a:solidFill>
                    <a:srgbClr val="000000"/>
                  </a:solidFill>
                  <a:latin typeface="Segoe UI"/>
                </a:rPr>
                <a:t>Private DNS zone </a:t>
              </a:r>
            </a:p>
          </p:txBody>
        </p:sp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1AFDA584-AC52-B780-D719-96C35AEC2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496027" y="5384872"/>
              <a:ext cx="431094" cy="431094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7F8BD65-960F-11AA-1A59-BBBD0BD3F03D}"/>
                </a:ext>
              </a:extLst>
            </p:cNvPr>
            <p:cNvSpPr txBox="1"/>
            <p:nvPr/>
          </p:nvSpPr>
          <p:spPr>
            <a:xfrm>
              <a:off x="8293981" y="5134704"/>
              <a:ext cx="1424452" cy="271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367"/>
              <a:r>
                <a:rPr lang="fr-FR" sz="1176" b="1" dirty="0">
                  <a:solidFill>
                    <a:srgbClr val="000000"/>
                  </a:solidFill>
                  <a:latin typeface="Segoe UI"/>
                </a:rPr>
                <a:t>DNS zone 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218F1561-B903-FFDF-3E7C-2C2F924EF0AD}"/>
                </a:ext>
              </a:extLst>
            </p:cNvPr>
            <p:cNvCxnSpPr>
              <a:cxnSpLocks/>
            </p:cNvCxnSpPr>
            <p:nvPr/>
          </p:nvCxnSpPr>
          <p:spPr>
            <a:xfrm>
              <a:off x="6237622" y="4468043"/>
              <a:ext cx="1" cy="30070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3481D3A-1E6F-D89D-4D8B-C1EA2672757F}"/>
                </a:ext>
              </a:extLst>
            </p:cNvPr>
            <p:cNvSpPr txBox="1"/>
            <p:nvPr/>
          </p:nvSpPr>
          <p:spPr>
            <a:xfrm>
              <a:off x="2596753" y="4800504"/>
              <a:ext cx="1568286" cy="271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367"/>
              <a:r>
                <a:rPr lang="fr-FR" sz="1176" b="1" dirty="0">
                  <a:solidFill>
                    <a:schemeClr val="tx2">
                      <a:lumMod val="50000"/>
                    </a:schemeClr>
                  </a:solidFill>
                  <a:latin typeface="Segoe UI"/>
                </a:rPr>
                <a:t>Task 3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17F41CB-F77F-2D58-FBA5-4B08CF1C6554}"/>
                </a:ext>
              </a:extLst>
            </p:cNvPr>
            <p:cNvSpPr txBox="1"/>
            <p:nvPr/>
          </p:nvSpPr>
          <p:spPr>
            <a:xfrm>
              <a:off x="2591315" y="5687504"/>
              <a:ext cx="1568286" cy="271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367"/>
              <a:r>
                <a:rPr lang="fr-FR" sz="1176" b="1" dirty="0">
                  <a:solidFill>
                    <a:schemeClr val="tx2">
                      <a:lumMod val="50000"/>
                    </a:schemeClr>
                  </a:solidFill>
                  <a:latin typeface="Segoe UI"/>
                </a:rPr>
                <a:t>Task 4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997D258-BE10-7DD7-1406-9EF63BFCAAF7}"/>
                </a:ext>
              </a:extLst>
            </p:cNvPr>
            <p:cNvSpPr txBox="1"/>
            <p:nvPr/>
          </p:nvSpPr>
          <p:spPr>
            <a:xfrm>
              <a:off x="7864369" y="2744412"/>
              <a:ext cx="1568286" cy="271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367"/>
              <a:r>
                <a:rPr lang="fr-FR" sz="1176" b="1" dirty="0">
                  <a:solidFill>
                    <a:schemeClr val="tx2">
                      <a:lumMod val="50000"/>
                    </a:schemeClr>
                  </a:solidFill>
                  <a:latin typeface="Segoe UI"/>
                </a:rPr>
                <a:t>Task 5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D9EBFE5-62EB-AE23-F2AA-24D25F0F20CD}"/>
                </a:ext>
              </a:extLst>
            </p:cNvPr>
            <p:cNvSpPr txBox="1"/>
            <p:nvPr/>
          </p:nvSpPr>
          <p:spPr>
            <a:xfrm>
              <a:off x="7940996" y="4768750"/>
              <a:ext cx="1568286" cy="271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367"/>
              <a:r>
                <a:rPr lang="fr-FR" sz="1176" b="1" dirty="0">
                  <a:solidFill>
                    <a:schemeClr val="tx2">
                      <a:lumMod val="50000"/>
                    </a:schemeClr>
                  </a:solidFill>
                  <a:latin typeface="Segoe UI"/>
                </a:rPr>
                <a:t>Task 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38960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Thank You!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29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6418B9-9024-36FD-FF4A-D689E721F1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1813</Words>
  <Application>Microsoft Office PowerPoint</Application>
  <PresentationFormat>Widescreen</PresentationFormat>
  <Paragraphs>292</Paragraphs>
  <Slides>29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-apple-system</vt:lpstr>
      <vt:lpstr>Arial</vt:lpstr>
      <vt:lpstr>Calibri</vt:lpstr>
      <vt:lpstr>Calibri Light</vt:lpstr>
      <vt:lpstr>Lato</vt:lpstr>
      <vt:lpstr>Proxima Nova</vt:lpstr>
      <vt:lpstr>Segoe UI</vt:lpstr>
      <vt:lpstr>Segoe UI Semibold</vt:lpstr>
      <vt:lpstr>Segoe UI Semilight</vt:lpstr>
      <vt:lpstr>Segoe UI VSS (Regular)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Janvi Jannet</dc:creator>
  <cp:lastModifiedBy>Syed Rumaan Pasha</cp:lastModifiedBy>
  <cp:revision>9</cp:revision>
  <dcterms:created xsi:type="dcterms:W3CDTF">2024-07-23T11:56:01Z</dcterms:created>
  <dcterms:modified xsi:type="dcterms:W3CDTF">2024-11-04T08:53:29Z</dcterms:modified>
</cp:coreProperties>
</file>