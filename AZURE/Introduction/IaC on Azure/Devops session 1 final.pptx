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900" r:id="rId3"/>
    <p:sldId id="901" r:id="rId4"/>
    <p:sldId id="902" r:id="rId5"/>
    <p:sldId id="903" r:id="rId6"/>
    <p:sldId id="910" r:id="rId7"/>
    <p:sldId id="904" r:id="rId8"/>
    <p:sldId id="905" r:id="rId9"/>
    <p:sldId id="906" r:id="rId10"/>
    <p:sldId id="908" r:id="rId11"/>
    <p:sldId id="909" r:id="rId12"/>
    <p:sldId id="911" r:id="rId13"/>
    <p:sldId id="920" r:id="rId14"/>
    <p:sldId id="921" r:id="rId15"/>
    <p:sldId id="922" r:id="rId16"/>
    <p:sldId id="924" r:id="rId17"/>
    <p:sldId id="937" r:id="rId18"/>
    <p:sldId id="923" r:id="rId19"/>
    <p:sldId id="930" r:id="rId20"/>
    <p:sldId id="931" r:id="rId21"/>
    <p:sldId id="932" r:id="rId22"/>
    <p:sldId id="933" r:id="rId23"/>
    <p:sldId id="925" r:id="rId24"/>
    <p:sldId id="926" r:id="rId25"/>
    <p:sldId id="934" r:id="rId26"/>
    <p:sldId id="935" r:id="rId27"/>
    <p:sldId id="927" r:id="rId28"/>
    <p:sldId id="928" r:id="rId29"/>
    <p:sldId id="929" r:id="rId30"/>
    <p:sldId id="936" r:id="rId31"/>
    <p:sldId id="918" r:id="rId32"/>
    <p:sldId id="938" r:id="rId33"/>
    <p:sldId id="50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5AF74-91AC-4F55-A191-D43536C32E06}" type="datetimeFigureOut">
              <a:rPr lang="en-US" smtClean="0"/>
              <a:t>11/18/2024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AC9CB-4C47-4782-AA14-455CA1E626BB}" type="slidenum">
              <a:rPr lang="en-US" smtClean="0"/>
              <a:t>‹#›</a:t>
            </a:fld>
            <a:endParaRPr lang="en-US"/>
          </a:p>
        </p:txBody>
      </p:sp>
    </p:spTree>
    <p:extLst>
      <p:ext uri="{BB962C8B-B14F-4D97-AF65-F5344CB8AC3E}">
        <p14:creationId xmlns:p14="http://schemas.microsoft.com/office/powerpoint/2010/main" val="3389861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200" b="0" i="0" dirty="0">
                <a:solidFill>
                  <a:srgbClr val="161616"/>
                </a:solidFill>
                <a:effectLst/>
                <a:latin typeface="Segoe UI" panose="020B0502040204020203" pitchFamily="34" charset="0"/>
              </a:rPr>
              <a:t>DevOps combines </a:t>
            </a:r>
            <a:r>
              <a:rPr lang="en-US" sz="1200" b="1" i="0" dirty="0">
                <a:solidFill>
                  <a:srgbClr val="161616"/>
                </a:solidFill>
                <a:effectLst/>
                <a:latin typeface="Segoe UI" panose="020B0502040204020203" pitchFamily="34" charset="0"/>
              </a:rPr>
              <a:t>development</a:t>
            </a:r>
            <a:r>
              <a:rPr lang="en-US" sz="1200" b="0" i="0" dirty="0">
                <a:solidFill>
                  <a:srgbClr val="161616"/>
                </a:solidFill>
                <a:effectLst/>
                <a:latin typeface="Segoe UI" panose="020B0502040204020203" pitchFamily="34" charset="0"/>
              </a:rPr>
              <a:t> (Dev) and </a:t>
            </a:r>
            <a:r>
              <a:rPr lang="en-US" sz="1200" b="1" i="0" dirty="0">
                <a:solidFill>
                  <a:srgbClr val="161616"/>
                </a:solidFill>
                <a:effectLst/>
                <a:latin typeface="Segoe UI" panose="020B0502040204020203" pitchFamily="34" charset="0"/>
              </a:rPr>
              <a:t>operations</a:t>
            </a:r>
            <a:r>
              <a:rPr lang="en-US" sz="1200" b="0" i="0" dirty="0">
                <a:solidFill>
                  <a:srgbClr val="161616"/>
                </a:solidFill>
                <a:effectLst/>
                <a:latin typeface="Segoe UI" panose="020B0502040204020203" pitchFamily="34" charset="0"/>
              </a:rPr>
              <a:t> (Ops) to unite people, process, and technology in application planning, development, delivery, and operations.</a:t>
            </a:r>
          </a:p>
          <a:p>
            <a:pPr marL="285750" indent="-285750" algn="l">
              <a:buFont typeface="Arial" panose="020B0604020202020204" pitchFamily="34" charset="0"/>
              <a:buChar char="•"/>
            </a:pPr>
            <a:endParaRPr lang="en-US" sz="12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1200" b="0" i="0" dirty="0">
                <a:solidFill>
                  <a:srgbClr val="161616"/>
                </a:solidFill>
                <a:effectLst/>
                <a:latin typeface="Segoe UI" panose="020B0502040204020203" pitchFamily="34" charset="0"/>
              </a:rPr>
              <a:t>DevOps enables coordination and collaboration between formerly siloed roles like development, IT operations, quality engineering, and security.</a:t>
            </a:r>
          </a:p>
          <a:p>
            <a:pPr marL="285750" indent="-285750" algn="l">
              <a:buFont typeface="Arial" panose="020B0604020202020204" pitchFamily="34" charset="0"/>
              <a:buChar char="•"/>
            </a:pPr>
            <a:endParaRPr lang="en-US" sz="12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1200" b="0" i="0" dirty="0">
                <a:solidFill>
                  <a:srgbClr val="161616"/>
                </a:solidFill>
                <a:effectLst/>
                <a:latin typeface="Segoe UI" panose="020B0502040204020203" pitchFamily="34" charset="0"/>
              </a:rPr>
              <a:t>Teams adopt DevOps culture, practices, and tools to increase confidence in the applications they build, respond better to customer needs, and achieve business goals faster</a:t>
            </a:r>
            <a:br>
              <a:rPr lang="en-US" sz="1200" b="0" i="0" dirty="0">
                <a:solidFill>
                  <a:srgbClr val="161616"/>
                </a:solidFill>
                <a:effectLst/>
                <a:latin typeface="Segoe UI" panose="020B0502040204020203" pitchFamily="34" charset="0"/>
              </a:rPr>
            </a:br>
            <a:endParaRPr lang="en-US" sz="1200" b="0" i="0" dirty="0">
              <a:solidFill>
                <a:srgbClr val="161616"/>
              </a:solidFill>
              <a:effectLst/>
              <a:latin typeface="Segoe UI" panose="020B0502040204020203" pitchFamily="34" charset="0"/>
            </a:endParaRPr>
          </a:p>
          <a:p>
            <a:br>
              <a:rPr lang="en-US" sz="1200" dirty="0"/>
            </a:br>
            <a:endParaRPr lang="en-US" sz="1200" b="0" i="0" dirty="0">
              <a:solidFill>
                <a:srgbClr val="161616"/>
              </a:solidFill>
              <a:effectLst/>
              <a:latin typeface="Segoe UI"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289AC9CB-4C47-4782-AA14-455CA1E626BB}" type="slidenum">
              <a:rPr lang="en-US" smtClean="0"/>
              <a:t>2</a:t>
            </a:fld>
            <a:endParaRPr lang="en-US"/>
          </a:p>
        </p:txBody>
      </p:sp>
    </p:spTree>
    <p:extLst>
      <p:ext uri="{BB962C8B-B14F-4D97-AF65-F5344CB8AC3E}">
        <p14:creationId xmlns:p14="http://schemas.microsoft.com/office/powerpoint/2010/main" val="501295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Wingdings" panose="05000000000000000000" pitchFamily="2" charset="2"/>
              <a:buChar char="q"/>
            </a:pPr>
            <a:r>
              <a:rPr lang="en-US" sz="2000" b="0" i="0" dirty="0">
                <a:solidFill>
                  <a:srgbClr val="161616"/>
                </a:solidFill>
                <a:effectLst/>
                <a:latin typeface="Segoe UI" panose="020B0502040204020203" pitchFamily="34" charset="0"/>
              </a:rPr>
              <a:t>Agile methods, which are often called frameworks, are comprehensive approaches to phases of the DevOps lifecycle: planning, development, delivery, and operations. </a:t>
            </a:r>
          </a:p>
          <a:p>
            <a:pPr marL="285750" indent="-285750">
              <a:buFont typeface="Wingdings" panose="05000000000000000000" pitchFamily="2" charset="2"/>
              <a:buChar char="q"/>
            </a:pPr>
            <a:endParaRPr lang="en-US" sz="2000" dirty="0">
              <a:solidFill>
                <a:srgbClr val="161616"/>
              </a:solidFill>
              <a:latin typeface="Segoe UI" panose="020B0502040204020203" pitchFamily="34" charset="0"/>
            </a:endParaRPr>
          </a:p>
          <a:p>
            <a:pPr marL="285750" indent="-285750">
              <a:buFont typeface="Wingdings" panose="05000000000000000000" pitchFamily="2" charset="2"/>
              <a:buChar char="q"/>
            </a:pPr>
            <a:r>
              <a:rPr lang="en-US" sz="2000" dirty="0"/>
              <a:t>Scrum is the most common Agile framework, and the one that most people start with. Agile practices, on the other hand, are techniques that are applied during phases of the software development lifecycle.</a:t>
            </a:r>
          </a:p>
          <a:p>
            <a:pPr marL="285750" indent="-285750">
              <a:buFont typeface="Wingdings" panose="05000000000000000000" pitchFamily="2" charset="2"/>
              <a:buChar char="q"/>
            </a:pPr>
            <a:endParaRPr lang="en-US" sz="2000" dirty="0"/>
          </a:p>
          <a:p>
            <a:pPr marL="742950" lvl="1" indent="-285750">
              <a:buFont typeface="Wingdings" panose="05000000000000000000" pitchFamily="2" charset="2"/>
              <a:buChar char="q"/>
            </a:pPr>
            <a:r>
              <a:rPr lang="en-US" sz="2000" dirty="0"/>
              <a:t>Planning Poker is a collaborative estimation practice that's designed to encourage team members to share their understanding of what done means. Many people find the process fun, and it has proven to help foster teamwork and better estimates.</a:t>
            </a:r>
          </a:p>
          <a:p>
            <a:pPr marL="742950" lvl="1" indent="-285750">
              <a:buFont typeface="Wingdings" panose="05000000000000000000" pitchFamily="2" charset="2"/>
              <a:buChar char="q"/>
            </a:pPr>
            <a:r>
              <a:rPr lang="en-US" sz="2000" dirty="0"/>
              <a:t>Continuous integration (CI) is a common Agile engineering practice that involves integrating code changes into the main branch frequently. An automated build verifies changes. As a result, there's a reduction in integration debt and a continually shippable main branch.</a:t>
            </a:r>
          </a:p>
          <a:p>
            <a:endParaRPr lang="en-US" dirty="0"/>
          </a:p>
        </p:txBody>
      </p:sp>
      <p:sp>
        <p:nvSpPr>
          <p:cNvPr id="4" name="Slide Number Placeholder 3"/>
          <p:cNvSpPr>
            <a:spLocks noGrp="1"/>
          </p:cNvSpPr>
          <p:nvPr>
            <p:ph type="sldNum" sz="quarter" idx="5"/>
          </p:nvPr>
        </p:nvSpPr>
        <p:spPr/>
        <p:txBody>
          <a:bodyPr/>
          <a:lstStyle/>
          <a:p>
            <a:fld id="{289AC9CB-4C47-4782-AA14-455CA1E626BB}" type="slidenum">
              <a:rPr lang="en-US" smtClean="0"/>
              <a:t>8</a:t>
            </a:fld>
            <a:endParaRPr lang="en-US"/>
          </a:p>
        </p:txBody>
      </p:sp>
    </p:spTree>
    <p:extLst>
      <p:ext uri="{BB962C8B-B14F-4D97-AF65-F5344CB8AC3E}">
        <p14:creationId xmlns:p14="http://schemas.microsoft.com/office/powerpoint/2010/main" val="2367650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https://learn.microsoft.com/en-us/azure/devops/organizations/accounts/create-organization?view=azure-devops</a:t>
            </a:r>
          </a:p>
        </p:txBody>
      </p:sp>
      <p:sp>
        <p:nvSpPr>
          <p:cNvPr id="4" name="Slide Number Placeholder 3"/>
          <p:cNvSpPr>
            <a:spLocks noGrp="1"/>
          </p:cNvSpPr>
          <p:nvPr>
            <p:ph type="sldNum" sz="quarter" idx="5"/>
          </p:nvPr>
        </p:nvSpPr>
        <p:spPr/>
        <p:txBody>
          <a:bodyPr/>
          <a:lstStyle/>
          <a:p>
            <a:fld id="{289AC9CB-4C47-4782-AA14-455CA1E626BB}" type="slidenum">
              <a:rPr lang="en-US" smtClean="0"/>
              <a:t>32</a:t>
            </a:fld>
            <a:endParaRPr lang="en-US"/>
          </a:p>
        </p:txBody>
      </p:sp>
    </p:spTree>
    <p:extLst>
      <p:ext uri="{BB962C8B-B14F-4D97-AF65-F5344CB8AC3E}">
        <p14:creationId xmlns:p14="http://schemas.microsoft.com/office/powerpoint/2010/main" val="117504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A00DF-1644-8EDB-672A-6F54DBA4E0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22CAB7-BD22-C2D3-8D3F-CFEDF76E5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789C9B-01BF-8454-355C-E8E68CAECA3B}"/>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5" name="Footer Placeholder 4">
            <a:extLst>
              <a:ext uri="{FF2B5EF4-FFF2-40B4-BE49-F238E27FC236}">
                <a16:creationId xmlns:a16="http://schemas.microsoft.com/office/drawing/2014/main" id="{ED86F9FC-2669-5AC9-825D-9F71E2321C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0E5153-E1BD-EABE-1D80-4E8F20735E74}"/>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791597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9C4B-5962-4126-F171-63C5CE7330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28D1B4-5D3B-BE51-780B-657AA6B500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C16AD5-AD8B-D2E8-A3B0-F7EB0CAA34AD}"/>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5" name="Footer Placeholder 4">
            <a:extLst>
              <a:ext uri="{FF2B5EF4-FFF2-40B4-BE49-F238E27FC236}">
                <a16:creationId xmlns:a16="http://schemas.microsoft.com/office/drawing/2014/main" id="{6372F0A1-6664-AECA-E419-4ADB609AF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5E95A-7CF5-E4BA-2473-CE1B4F29FAE0}"/>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55181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45D6-4FF5-E389-B9F7-57042D9385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2194EE-DBB8-18DC-0A1D-3516845B4C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0269E7-B6DB-8BF7-7872-F6CF9FD349B9}"/>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5" name="Footer Placeholder 4">
            <a:extLst>
              <a:ext uri="{FF2B5EF4-FFF2-40B4-BE49-F238E27FC236}">
                <a16:creationId xmlns:a16="http://schemas.microsoft.com/office/drawing/2014/main" id="{961C6519-8558-5016-E162-29AC07535D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9C4E1-C0FD-24D2-9876-0E1E34DFC601}"/>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23017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C6C01-C5D1-F372-F288-E7A1B1C35C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BDE85-0EF6-3D0B-F627-7BF6B75F97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308FE4-AD83-E13B-9087-5B5BC14401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20E4A-BC9D-7FBB-81B0-B61B8CCF589A}"/>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6" name="Footer Placeholder 5">
            <a:extLst>
              <a:ext uri="{FF2B5EF4-FFF2-40B4-BE49-F238E27FC236}">
                <a16:creationId xmlns:a16="http://schemas.microsoft.com/office/drawing/2014/main" id="{AD937BA6-8752-B265-F48A-9BED6BEB70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5494ED-7C20-DB30-899A-56D8DCA56C42}"/>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333982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CEFB-D82A-F073-3836-30314AA5DE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E4C625-12B5-64F9-EA8D-F33AA76C9D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F5709D-C3A8-E6AF-CF11-670C29543C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DCD946-614F-E1D2-23D1-847BB0095A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DCA4E-467A-4F76-5DFC-2A2762943C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A991A0-B3D8-201A-BE5D-023D3E0B6E84}"/>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8" name="Footer Placeholder 7">
            <a:extLst>
              <a:ext uri="{FF2B5EF4-FFF2-40B4-BE49-F238E27FC236}">
                <a16:creationId xmlns:a16="http://schemas.microsoft.com/office/drawing/2014/main" id="{3AAEB582-26AB-4F9A-BCD3-0451FD2150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482B23-A427-EF69-666D-F54E414E09F9}"/>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391002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A805-452D-930B-6593-50ECABA24D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F81EAF-92B9-860A-E384-7C100563CEF2}"/>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4" name="Footer Placeholder 3">
            <a:extLst>
              <a:ext uri="{FF2B5EF4-FFF2-40B4-BE49-F238E27FC236}">
                <a16:creationId xmlns:a16="http://schemas.microsoft.com/office/drawing/2014/main" id="{CA53F8FB-F5D3-2094-1575-E6887A7014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1F7F29-4250-00FE-43C8-9BA2C4773593}"/>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860056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A18186-6AA2-0E68-AB12-0E408E26B906}"/>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3" name="Footer Placeholder 2">
            <a:extLst>
              <a:ext uri="{FF2B5EF4-FFF2-40B4-BE49-F238E27FC236}">
                <a16:creationId xmlns:a16="http://schemas.microsoft.com/office/drawing/2014/main" id="{D1CABB67-E2CA-365D-9CC6-5D39D92FF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80351A-AC56-06EA-3F5D-439A39846D09}"/>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642445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F36D-A577-CAEA-E738-631C309B2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A2656B-25D1-0CD9-C050-7E91A8235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636D29-CE53-7091-155D-EE1E4ED80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89E43-7721-94F9-AEB9-83F4428F88FC}"/>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6" name="Footer Placeholder 5">
            <a:extLst>
              <a:ext uri="{FF2B5EF4-FFF2-40B4-BE49-F238E27FC236}">
                <a16:creationId xmlns:a16="http://schemas.microsoft.com/office/drawing/2014/main" id="{5CC98168-7937-50B8-ACC6-1BD0C0E58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EC495-60F0-69EF-1184-A22FB03167F2}"/>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644355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CF954-00C2-123F-0CA9-038624270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50D2B1-F11B-50BB-787E-B69FD7C4AE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85088-C2C6-8F3F-74EE-B1CABE734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79B41-DE1F-C35F-01D4-57EEFD290629}"/>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6" name="Footer Placeholder 5">
            <a:extLst>
              <a:ext uri="{FF2B5EF4-FFF2-40B4-BE49-F238E27FC236}">
                <a16:creationId xmlns:a16="http://schemas.microsoft.com/office/drawing/2014/main" id="{EA37BE2B-6450-07C8-E5C6-D6F3BE11D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262869-DA06-8D10-BB03-0674E97B3ABC}"/>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26271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0D9C-2C67-AFB4-3ABC-43437592B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3A979B-02B2-AE5A-0E3A-24CD22D717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61C6B-CF86-0D90-4B8B-7E718EB603C9}"/>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5" name="Footer Placeholder 4">
            <a:extLst>
              <a:ext uri="{FF2B5EF4-FFF2-40B4-BE49-F238E27FC236}">
                <a16:creationId xmlns:a16="http://schemas.microsoft.com/office/drawing/2014/main" id="{8A06622E-1332-2F5C-F340-C69265FC7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7AEE4-1525-A6FA-0B09-0B99197B9684}"/>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257803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3E475-4046-D87F-B196-011FBB9EDF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5F9624-1DE3-F39D-6E11-822CDD9B77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7ECB4-0D80-E99E-FC8C-AE1BA360A8AE}"/>
              </a:ext>
            </a:extLst>
          </p:cNvPr>
          <p:cNvSpPr>
            <a:spLocks noGrp="1"/>
          </p:cNvSpPr>
          <p:nvPr>
            <p:ph type="dt" sz="half" idx="10"/>
          </p:nvPr>
        </p:nvSpPr>
        <p:spPr/>
        <p:txBody>
          <a:bodyPr/>
          <a:lstStyle/>
          <a:p>
            <a:fld id="{2DB2C922-B111-4F91-9212-34FA33851810}" type="datetimeFigureOut">
              <a:rPr lang="en-US" smtClean="0"/>
              <a:t>11/18/2024</a:t>
            </a:fld>
            <a:endParaRPr lang="en-US"/>
          </a:p>
        </p:txBody>
      </p:sp>
      <p:sp>
        <p:nvSpPr>
          <p:cNvPr id="5" name="Footer Placeholder 4">
            <a:extLst>
              <a:ext uri="{FF2B5EF4-FFF2-40B4-BE49-F238E27FC236}">
                <a16:creationId xmlns:a16="http://schemas.microsoft.com/office/drawing/2014/main" id="{AADB6344-2192-22C5-D81E-FB0FE42E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30812-8B44-C5A5-DDBF-21E445F3E76F}"/>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384648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2F60D-0D89-6A84-BED9-D1F3B0364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66A908-CFA8-4938-BC76-ADB6E48CA9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E637D9-078D-BC22-F698-7CA8EA71F4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B2C922-B111-4F91-9212-34FA33851810}" type="datetimeFigureOut">
              <a:rPr lang="en-US" smtClean="0"/>
              <a:t>11/18/2024</a:t>
            </a:fld>
            <a:endParaRPr lang="en-US"/>
          </a:p>
        </p:txBody>
      </p:sp>
      <p:sp>
        <p:nvSpPr>
          <p:cNvPr id="5" name="Footer Placeholder 4">
            <a:extLst>
              <a:ext uri="{FF2B5EF4-FFF2-40B4-BE49-F238E27FC236}">
                <a16:creationId xmlns:a16="http://schemas.microsoft.com/office/drawing/2014/main" id="{6DDDA5AF-517F-A4AD-982A-FC908D021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354252-A288-AC90-9D9E-7AEDC20C3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759F95-D966-42C9-BF45-E0322056EB07}" type="slidenum">
              <a:rPr lang="en-US" smtClean="0"/>
              <a:t>‹#›</a:t>
            </a:fld>
            <a:endParaRPr lang="en-US"/>
          </a:p>
        </p:txBody>
      </p:sp>
    </p:spTree>
    <p:extLst>
      <p:ext uri="{BB962C8B-B14F-4D97-AF65-F5344CB8AC3E}">
        <p14:creationId xmlns:p14="http://schemas.microsoft.com/office/powerpoint/2010/main" val="3733751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emf"/><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emf"/><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5.emf"/><Relationship Id="rId10" Type="http://schemas.openxmlformats.org/officeDocument/2006/relationships/image" Target="../media/image14.png"/><Relationship Id="rId4" Type="http://schemas.openxmlformats.org/officeDocument/2006/relationships/image" Target="../media/image4.emf"/><Relationship Id="rId9"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5.emf"/><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5.emf"/><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rPr>
              <a:t>DevOps On Azure</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131551" y="1036384"/>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What is DevOps</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7A78BE63-86C5-7425-9485-65CD748D3F56}"/>
              </a:ext>
            </a:extLst>
          </p:cNvPr>
          <p:cNvSpPr txBox="1"/>
          <p:nvPr/>
        </p:nvSpPr>
        <p:spPr>
          <a:xfrm>
            <a:off x="731901" y="2061292"/>
            <a:ext cx="10312304" cy="5262979"/>
          </a:xfrm>
          <a:prstGeom prst="rect">
            <a:avLst/>
          </a:prstGeom>
          <a:noFill/>
        </p:spPr>
        <p:txBody>
          <a:bodyPr wrap="square">
            <a:spAutoFit/>
          </a:bodyPr>
          <a:lstStyle/>
          <a:p>
            <a:pPr marL="285750" indent="-285750" algn="l">
              <a:buFont typeface="Arial" panose="020B0604020202020204" pitchFamily="34" charset="0"/>
              <a:buChar char="•"/>
            </a:pPr>
            <a:r>
              <a:rPr lang="en-US" sz="2400" b="0" i="0" dirty="0">
                <a:solidFill>
                  <a:srgbClr val="161616"/>
                </a:solidFill>
                <a:effectLst/>
                <a:latin typeface="Segoe UI" panose="020B0502040204020203" pitchFamily="34" charset="0"/>
              </a:rPr>
              <a:t>DevOps combines </a:t>
            </a:r>
            <a:r>
              <a:rPr lang="en-US" sz="2400" b="1" i="0" dirty="0">
                <a:solidFill>
                  <a:srgbClr val="161616"/>
                </a:solidFill>
                <a:effectLst/>
                <a:latin typeface="Segoe UI" panose="020B0502040204020203" pitchFamily="34" charset="0"/>
              </a:rPr>
              <a:t>development</a:t>
            </a:r>
            <a:r>
              <a:rPr lang="en-US" sz="2400" b="0" i="0" dirty="0">
                <a:solidFill>
                  <a:srgbClr val="161616"/>
                </a:solidFill>
                <a:effectLst/>
                <a:latin typeface="Segoe UI" panose="020B0502040204020203" pitchFamily="34" charset="0"/>
              </a:rPr>
              <a:t> (Dev) and </a:t>
            </a:r>
            <a:r>
              <a:rPr lang="en-US" sz="2400" b="1" i="0" dirty="0">
                <a:solidFill>
                  <a:srgbClr val="161616"/>
                </a:solidFill>
                <a:effectLst/>
                <a:latin typeface="Segoe UI" panose="020B0502040204020203" pitchFamily="34" charset="0"/>
              </a:rPr>
              <a:t>operations</a:t>
            </a:r>
            <a:r>
              <a:rPr lang="en-US" sz="2400" b="0" i="0" dirty="0">
                <a:solidFill>
                  <a:srgbClr val="161616"/>
                </a:solidFill>
                <a:effectLst/>
                <a:latin typeface="Segoe UI" panose="020B0502040204020203" pitchFamily="34" charset="0"/>
              </a:rPr>
              <a:t> (Ops) to unite people, process, and technology in application planning, development, delivery, and operations.</a:t>
            </a:r>
          </a:p>
          <a:p>
            <a:pPr marL="285750" indent="-285750" algn="l">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2400" b="0" i="0" dirty="0">
                <a:solidFill>
                  <a:srgbClr val="161616"/>
                </a:solidFill>
                <a:effectLst/>
                <a:latin typeface="Segoe UI" panose="020B0502040204020203" pitchFamily="34" charset="0"/>
              </a:rPr>
              <a:t>DevOps enables coordination and collaboration between formerly siloed roles like development, IT operations, quality engineering, and security.</a:t>
            </a:r>
          </a:p>
          <a:p>
            <a:pPr marL="285750" indent="-285750" algn="l">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2400" b="0" i="0" dirty="0">
                <a:solidFill>
                  <a:srgbClr val="161616"/>
                </a:solidFill>
                <a:effectLst/>
                <a:latin typeface="Segoe UI" panose="020B0502040204020203" pitchFamily="34" charset="0"/>
              </a:rPr>
              <a:t>Teams adopt DevOps culture, practices, and tools to increase confidence in the applications they build, respond better to customer needs, and achieve business goals faster</a:t>
            </a:r>
            <a:br>
              <a:rPr lang="en-US" sz="2400" b="0" i="0" dirty="0">
                <a:solidFill>
                  <a:srgbClr val="161616"/>
                </a:solidFill>
                <a:effectLst/>
                <a:latin typeface="Segoe UI" panose="020B0502040204020203" pitchFamily="34" charset="0"/>
              </a:rPr>
            </a:br>
            <a:endParaRPr lang="en-US" sz="2400" b="0" i="0" dirty="0">
              <a:solidFill>
                <a:srgbClr val="161616"/>
              </a:solidFill>
              <a:effectLst/>
              <a:latin typeface="Segoe UI" panose="020B0502040204020203" pitchFamily="34" charset="0"/>
            </a:endParaRPr>
          </a:p>
          <a:p>
            <a:br>
              <a:rPr lang="en-US" sz="2400" dirty="0"/>
            </a:br>
            <a:endParaRPr lang="en-US" sz="2400" b="0" i="0" dirty="0">
              <a:solidFill>
                <a:srgbClr val="161616"/>
              </a:solidFill>
              <a:effectLst/>
              <a:latin typeface="Segoe UI" panose="020B0502040204020203" pitchFamily="34" charset="0"/>
            </a:endParaRPr>
          </a:p>
          <a:p>
            <a:endParaRPr lang="en-US" sz="2400" dirty="0"/>
          </a:p>
        </p:txBody>
      </p:sp>
    </p:spTree>
    <p:extLst>
      <p:ext uri="{BB962C8B-B14F-4D97-AF65-F5344CB8AC3E}">
        <p14:creationId xmlns:p14="http://schemas.microsoft.com/office/powerpoint/2010/main" val="3748195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317700" y="715834"/>
            <a:ext cx="7271148" cy="1102200"/>
          </a:xfrm>
          <a:prstGeom prst="rect">
            <a:avLst/>
          </a:prstGeom>
          <a:noFill/>
          <a:ln>
            <a:noFill/>
          </a:ln>
        </p:spPr>
        <p:txBody>
          <a:bodyPr spcFirstLastPara="1" wrap="square" lIns="91425" tIns="45700" rIns="91425" bIns="45700" anchor="t" anchorCtr="0">
            <a:noAutofit/>
          </a:bodyPr>
          <a:lstStyle/>
          <a:p>
            <a:pPr algn="l">
              <a:spcBef>
                <a:spcPts val="2400"/>
              </a:spcBef>
              <a:spcAft>
                <a:spcPts val="900"/>
              </a:spcAft>
            </a:pPr>
            <a:r>
              <a:rPr lang="en-US" sz="3200" i="0" dirty="0">
                <a:solidFill>
                  <a:srgbClr val="161616"/>
                </a:solidFill>
                <a:effectLst/>
                <a:latin typeface="Segoe UI" panose="020B0502040204020203" pitchFamily="34" charset="0"/>
              </a:rPr>
              <a:t>DevOps and the application lifecycle</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0" name="TextBox 9">
            <a:extLst>
              <a:ext uri="{FF2B5EF4-FFF2-40B4-BE49-F238E27FC236}">
                <a16:creationId xmlns:a16="http://schemas.microsoft.com/office/drawing/2014/main" id="{86CBF17F-6C21-53CC-90BE-328FBB9548E1}"/>
              </a:ext>
            </a:extLst>
          </p:cNvPr>
          <p:cNvSpPr txBox="1"/>
          <p:nvPr/>
        </p:nvSpPr>
        <p:spPr>
          <a:xfrm>
            <a:off x="663678" y="3250257"/>
            <a:ext cx="5324167" cy="1815882"/>
          </a:xfrm>
          <a:prstGeom prst="rect">
            <a:avLst/>
          </a:prstGeom>
          <a:noFill/>
        </p:spPr>
        <p:txBody>
          <a:bodyPr wrap="square" rtlCol="0">
            <a:spAutoFit/>
          </a:bodyPr>
          <a:lstStyle/>
          <a:p>
            <a:r>
              <a:rPr lang="en-US" sz="2800" dirty="0"/>
              <a:t>DevOps influences the application lifecycle throughout its planning, development, delivery, and operations phases</a:t>
            </a:r>
          </a:p>
        </p:txBody>
      </p:sp>
      <p:pic>
        <p:nvPicPr>
          <p:cNvPr id="11" name="Picture 2" descr="Conceptual diagram that illustrates the DevOps application lifecycle.">
            <a:extLst>
              <a:ext uri="{FF2B5EF4-FFF2-40B4-BE49-F238E27FC236}">
                <a16:creationId xmlns:a16="http://schemas.microsoft.com/office/drawing/2014/main" id="{B856CED6-0265-EDCC-9B7E-3F541437A6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78" y="2278556"/>
            <a:ext cx="6324522" cy="3619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59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43161"/>
            <a:ext cx="7271148" cy="1102200"/>
          </a:xfrm>
          <a:prstGeom prst="rect">
            <a:avLst/>
          </a:prstGeom>
          <a:noFill/>
          <a:ln>
            <a:noFill/>
          </a:ln>
        </p:spPr>
        <p:txBody>
          <a:bodyPr spcFirstLastPara="1" wrap="square" lIns="91425" tIns="45700" rIns="91425" bIns="45700" anchor="t" anchorCtr="0">
            <a:noAutofit/>
          </a:bodyPr>
          <a:lstStyle/>
          <a:p>
            <a:pPr algn="ctr">
              <a:spcBef>
                <a:spcPts val="2400"/>
              </a:spcBef>
              <a:spcAft>
                <a:spcPts val="900"/>
              </a:spcAft>
            </a:pPr>
            <a:r>
              <a:rPr lang="en-US" sz="3600" i="0" u="sng" dirty="0">
                <a:solidFill>
                  <a:srgbClr val="161616"/>
                </a:solidFill>
                <a:effectLst/>
                <a:latin typeface="Segoe UI" panose="020B0502040204020203" pitchFamily="34" charset="0"/>
              </a:rPr>
              <a:t>DevOps goals and benefits</a:t>
            </a:r>
          </a:p>
          <a:p>
            <a:pPr algn="ctr"/>
            <a:br>
              <a:rPr lang="en-US" sz="3200" dirty="0"/>
            </a:b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8" name="TextBox 17">
            <a:extLst>
              <a:ext uri="{FF2B5EF4-FFF2-40B4-BE49-F238E27FC236}">
                <a16:creationId xmlns:a16="http://schemas.microsoft.com/office/drawing/2014/main" id="{A5173E8C-A2E6-A848-DE3F-D89416E91BA3}"/>
              </a:ext>
            </a:extLst>
          </p:cNvPr>
          <p:cNvSpPr txBox="1"/>
          <p:nvPr/>
        </p:nvSpPr>
        <p:spPr>
          <a:xfrm>
            <a:off x="2489005" y="1407260"/>
            <a:ext cx="5932324" cy="1287532"/>
          </a:xfrm>
          <a:prstGeom prst="rect">
            <a:avLst/>
          </a:prstGeom>
          <a:noFill/>
        </p:spPr>
        <p:txBody>
          <a:bodyPr wrap="square" rtlCol="0">
            <a:spAutoFit/>
          </a:bodyPr>
          <a:lstStyle/>
          <a:p>
            <a:pPr algn="ctr">
              <a:spcBef>
                <a:spcPts val="2250"/>
              </a:spcBef>
              <a:spcAft>
                <a:spcPts val="1350"/>
              </a:spcAft>
            </a:pPr>
            <a:r>
              <a:rPr lang="en-US" sz="3000" i="0" dirty="0">
                <a:solidFill>
                  <a:srgbClr val="161616"/>
                </a:solidFill>
                <a:effectLst/>
                <a:latin typeface="Segoe UI" panose="020B0502040204020203" pitchFamily="34" charset="0"/>
              </a:rPr>
              <a:t>1. Accelerate time to market</a:t>
            </a:r>
          </a:p>
          <a:p>
            <a:br>
              <a:rPr lang="en-US" dirty="0"/>
            </a:br>
            <a:endParaRPr lang="en-US" dirty="0"/>
          </a:p>
        </p:txBody>
      </p:sp>
      <p:sp>
        <p:nvSpPr>
          <p:cNvPr id="19" name="TextBox 18">
            <a:extLst>
              <a:ext uri="{FF2B5EF4-FFF2-40B4-BE49-F238E27FC236}">
                <a16:creationId xmlns:a16="http://schemas.microsoft.com/office/drawing/2014/main" id="{DC21997D-5C1B-912F-0360-175CDA1D2B31}"/>
              </a:ext>
            </a:extLst>
          </p:cNvPr>
          <p:cNvSpPr txBox="1"/>
          <p:nvPr/>
        </p:nvSpPr>
        <p:spPr>
          <a:xfrm>
            <a:off x="2926528" y="2865497"/>
            <a:ext cx="6961024" cy="1656864"/>
          </a:xfrm>
          <a:prstGeom prst="rect">
            <a:avLst/>
          </a:prstGeom>
          <a:noFill/>
        </p:spPr>
        <p:txBody>
          <a:bodyPr wrap="square" rtlCol="0">
            <a:spAutoFit/>
          </a:bodyPr>
          <a:lstStyle/>
          <a:p>
            <a:pPr algn="ctr">
              <a:spcBef>
                <a:spcPts val="2250"/>
              </a:spcBef>
              <a:spcAft>
                <a:spcPts val="1350"/>
              </a:spcAft>
            </a:pPr>
            <a:r>
              <a:rPr lang="en-US" sz="3000" i="0" dirty="0">
                <a:solidFill>
                  <a:srgbClr val="161616"/>
                </a:solidFill>
                <a:effectLst/>
                <a:latin typeface="Segoe UI" panose="020B0502040204020203" pitchFamily="34" charset="0"/>
              </a:rPr>
              <a:t>2. Adapt to the market and competition</a:t>
            </a:r>
          </a:p>
          <a:p>
            <a:pPr algn="ctr"/>
            <a:br>
              <a:rPr lang="en-US" sz="3000" dirty="0"/>
            </a:br>
            <a:endParaRPr lang="en-US" sz="3000" dirty="0"/>
          </a:p>
        </p:txBody>
      </p:sp>
      <p:sp>
        <p:nvSpPr>
          <p:cNvPr id="20" name="TextBox 19">
            <a:extLst>
              <a:ext uri="{FF2B5EF4-FFF2-40B4-BE49-F238E27FC236}">
                <a16:creationId xmlns:a16="http://schemas.microsoft.com/office/drawing/2014/main" id="{7DA2A40F-6030-7854-48E7-A1F78A58D029}"/>
              </a:ext>
            </a:extLst>
          </p:cNvPr>
          <p:cNvSpPr txBox="1"/>
          <p:nvPr/>
        </p:nvSpPr>
        <p:spPr>
          <a:xfrm>
            <a:off x="2962025" y="4326195"/>
            <a:ext cx="8597262" cy="1533753"/>
          </a:xfrm>
          <a:prstGeom prst="rect">
            <a:avLst/>
          </a:prstGeom>
          <a:noFill/>
        </p:spPr>
        <p:txBody>
          <a:bodyPr wrap="square" rtlCol="0">
            <a:spAutoFit/>
          </a:bodyPr>
          <a:lstStyle/>
          <a:p>
            <a:pPr algn="l">
              <a:spcBef>
                <a:spcPts val="2250"/>
              </a:spcBef>
              <a:spcAft>
                <a:spcPts val="1350"/>
              </a:spcAft>
            </a:pPr>
            <a:r>
              <a:rPr lang="en-US" sz="3200" i="0" dirty="0">
                <a:solidFill>
                  <a:srgbClr val="161616"/>
                </a:solidFill>
                <a:effectLst/>
                <a:latin typeface="Segoe UI" panose="020B0502040204020203" pitchFamily="34" charset="0"/>
              </a:rPr>
              <a:t>3. Maintain system stability and reliability</a:t>
            </a:r>
          </a:p>
          <a:p>
            <a:pPr algn="ctr"/>
            <a:br>
              <a:rPr lang="en-US" sz="3200" dirty="0"/>
            </a:br>
            <a:endParaRPr lang="en-US" dirty="0"/>
          </a:p>
        </p:txBody>
      </p:sp>
      <p:sp>
        <p:nvSpPr>
          <p:cNvPr id="21" name="TextBox 20">
            <a:extLst>
              <a:ext uri="{FF2B5EF4-FFF2-40B4-BE49-F238E27FC236}">
                <a16:creationId xmlns:a16="http://schemas.microsoft.com/office/drawing/2014/main" id="{0EA4CE59-CCE0-7706-C108-31FF9F30852A}"/>
              </a:ext>
            </a:extLst>
          </p:cNvPr>
          <p:cNvSpPr txBox="1"/>
          <p:nvPr/>
        </p:nvSpPr>
        <p:spPr>
          <a:xfrm>
            <a:off x="2003212" y="5671311"/>
            <a:ext cx="8428187" cy="1656864"/>
          </a:xfrm>
          <a:prstGeom prst="rect">
            <a:avLst/>
          </a:prstGeom>
          <a:noFill/>
        </p:spPr>
        <p:txBody>
          <a:bodyPr wrap="square" rtlCol="0">
            <a:spAutoFit/>
          </a:bodyPr>
          <a:lstStyle/>
          <a:p>
            <a:pPr algn="ctr">
              <a:spcBef>
                <a:spcPts val="2250"/>
              </a:spcBef>
              <a:spcAft>
                <a:spcPts val="1350"/>
              </a:spcAft>
            </a:pPr>
            <a:r>
              <a:rPr lang="en-US" sz="3000" i="0" dirty="0">
                <a:solidFill>
                  <a:srgbClr val="161616"/>
                </a:solidFill>
                <a:effectLst/>
                <a:latin typeface="Segoe UI" panose="020B0502040204020203" pitchFamily="34" charset="0"/>
              </a:rPr>
              <a:t>4. Improve the mean time to recovery</a:t>
            </a:r>
          </a:p>
          <a:p>
            <a:pPr algn="ctr"/>
            <a:br>
              <a:rPr lang="en-US" sz="3000" dirty="0"/>
            </a:br>
            <a:endParaRPr lang="en-US" sz="3000" dirty="0"/>
          </a:p>
        </p:txBody>
      </p:sp>
    </p:spTree>
    <p:extLst>
      <p:ext uri="{BB962C8B-B14F-4D97-AF65-F5344CB8AC3E}">
        <p14:creationId xmlns:p14="http://schemas.microsoft.com/office/powerpoint/2010/main" val="1614165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1936044" y="784648"/>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DevOps Practices</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0" name="TextBox 9">
            <a:extLst>
              <a:ext uri="{FF2B5EF4-FFF2-40B4-BE49-F238E27FC236}">
                <a16:creationId xmlns:a16="http://schemas.microsoft.com/office/drawing/2014/main" id="{DD237FD2-2932-1321-BEE3-42ADADAA6E3E}"/>
              </a:ext>
            </a:extLst>
          </p:cNvPr>
          <p:cNvSpPr txBox="1"/>
          <p:nvPr/>
        </p:nvSpPr>
        <p:spPr>
          <a:xfrm>
            <a:off x="933682" y="1387300"/>
            <a:ext cx="10324636" cy="8899872"/>
          </a:xfrm>
          <a:prstGeom prst="rect">
            <a:avLst/>
          </a:prstGeom>
          <a:noFill/>
        </p:spPr>
        <p:txBody>
          <a:bodyPr wrap="square" rtlCol="0">
            <a:normAutofit/>
          </a:bodyPr>
          <a:lstStyle/>
          <a:p>
            <a:pPr marL="457200" indent="-457200" algn="l">
              <a:spcAft>
                <a:spcPts val="1350"/>
              </a:spcAft>
              <a:buFont typeface="+mj-lt"/>
              <a:buAutoNum type="arabicPeriod"/>
            </a:pPr>
            <a:r>
              <a:rPr lang="en-US" sz="2400" i="0" dirty="0">
                <a:solidFill>
                  <a:srgbClr val="161616"/>
                </a:solidFill>
                <a:effectLst/>
                <a:latin typeface="Segoe UI" panose="020B0502040204020203" pitchFamily="34" charset="0"/>
              </a:rPr>
              <a:t>Continuous integration and continuous delivery (CI/CD)	</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Version Control</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Agile Software Development</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Infrastructure as Code</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Configuration Management</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Continuous Monitoring</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Planning</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Development</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Deliver</a:t>
            </a:r>
          </a:p>
          <a:p>
            <a:pPr marL="457200" indent="-457200" algn="l">
              <a:spcAft>
                <a:spcPts val="1350"/>
              </a:spcAft>
              <a:buFont typeface="+mj-lt"/>
              <a:buAutoNum type="arabicPeriod"/>
            </a:pPr>
            <a:r>
              <a:rPr lang="en-US" sz="2400" dirty="0">
                <a:solidFill>
                  <a:srgbClr val="161616"/>
                </a:solidFill>
                <a:latin typeface="Segoe UI" panose="020B0502040204020203" pitchFamily="34" charset="0"/>
              </a:rPr>
              <a:t>Operations</a:t>
            </a:r>
          </a:p>
          <a:p>
            <a:pPr marL="457200" indent="-457200" algn="l">
              <a:spcAft>
                <a:spcPts val="1350"/>
              </a:spcAft>
              <a:buFont typeface="+mj-lt"/>
              <a:buAutoNum type="arabicPeriod"/>
            </a:pPr>
            <a:endParaRPr lang="en-US" sz="2400" i="0" dirty="0">
              <a:solidFill>
                <a:srgbClr val="161616"/>
              </a:solidFill>
              <a:effectLst/>
              <a:latin typeface="Segoe UI" panose="020B0502040204020203" pitchFamily="34" charset="0"/>
            </a:endParaRPr>
          </a:p>
        </p:txBody>
      </p:sp>
    </p:spTree>
    <p:extLst>
      <p:ext uri="{BB962C8B-B14F-4D97-AF65-F5344CB8AC3E}">
        <p14:creationId xmlns:p14="http://schemas.microsoft.com/office/powerpoint/2010/main" val="214600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5C508-CD94-057C-6B2F-B2165C4BEFC6}"/>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AE145BFE-8D30-0311-7D52-153D85A3CEA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38A75FF3-96BA-728C-FC9E-068291F45AB5}"/>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080436A8-D5B6-46D2-2FF6-779ACF6E6331}"/>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7781115F-68BD-1485-40E8-C612E503156A}"/>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7A8E4EDB-B57A-840B-BB9D-A85F379043FD}"/>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80C4F616-6FCF-8912-033B-9D17C678853D}"/>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2E2DAAB1-35A7-FCBD-2BA3-60CA55897C24}"/>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pic>
        <p:nvPicPr>
          <p:cNvPr id="9" name="object 2">
            <a:extLst>
              <a:ext uri="{FF2B5EF4-FFF2-40B4-BE49-F238E27FC236}">
                <a16:creationId xmlns:a16="http://schemas.microsoft.com/office/drawing/2014/main" id="{059185C5-8867-645B-2196-40707C2A02CD}"/>
              </a:ext>
            </a:extLst>
          </p:cNvPr>
          <p:cNvPicPr/>
          <p:nvPr/>
        </p:nvPicPr>
        <p:blipFill>
          <a:blip r:embed="rId6" cstate="print"/>
          <a:stretch>
            <a:fillRect/>
          </a:stretch>
        </p:blipFill>
        <p:spPr>
          <a:xfrm>
            <a:off x="2243958" y="1203510"/>
            <a:ext cx="7664540" cy="5339733"/>
          </a:xfrm>
          <a:prstGeom prst="rect">
            <a:avLst/>
          </a:prstGeom>
        </p:spPr>
      </p:pic>
    </p:spTree>
    <p:extLst>
      <p:ext uri="{BB962C8B-B14F-4D97-AF65-F5344CB8AC3E}">
        <p14:creationId xmlns:p14="http://schemas.microsoft.com/office/powerpoint/2010/main" val="3611677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278714" y="784648"/>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What is Agile?</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0" name="TextBox 9">
            <a:extLst>
              <a:ext uri="{FF2B5EF4-FFF2-40B4-BE49-F238E27FC236}">
                <a16:creationId xmlns:a16="http://schemas.microsoft.com/office/drawing/2014/main" id="{5BE4B763-8B4E-FA18-9412-20B04475FFD3}"/>
              </a:ext>
            </a:extLst>
          </p:cNvPr>
          <p:cNvSpPr txBox="1"/>
          <p:nvPr/>
        </p:nvSpPr>
        <p:spPr>
          <a:xfrm>
            <a:off x="1342202" y="1496458"/>
            <a:ext cx="9916116" cy="5570756"/>
          </a:xfrm>
          <a:prstGeom prst="rect">
            <a:avLst/>
          </a:prstGeom>
          <a:noFill/>
        </p:spPr>
        <p:txBody>
          <a:bodyPr wrap="square" rtlCol="0">
            <a:spAutoFit/>
          </a:bodyPr>
          <a:lstStyle/>
          <a:p>
            <a:r>
              <a:rPr lang="en-US" sz="2400" b="0" i="0" dirty="0">
                <a:solidFill>
                  <a:srgbClr val="161616"/>
                </a:solidFill>
                <a:effectLst/>
                <a:latin typeface="Segoe UI" panose="020B0502040204020203" pitchFamily="34" charset="0"/>
              </a:rPr>
              <a:t>Agile is a term that describes approaches to software development that emphasize incremental delivery, team collaboration, continual planning, and continual learning.</a:t>
            </a:r>
          </a:p>
          <a:p>
            <a:endParaRPr lang="en-US" sz="2400" dirty="0">
              <a:solidFill>
                <a:srgbClr val="161616"/>
              </a:solidFill>
              <a:latin typeface="Segoe UI" panose="020B0502040204020203" pitchFamily="34" charset="0"/>
            </a:endParaRPr>
          </a:p>
          <a:p>
            <a:endParaRPr lang="en-US" sz="2400" dirty="0">
              <a:solidFill>
                <a:srgbClr val="161616"/>
              </a:solidFill>
              <a:latin typeface="Segoe UI" panose="020B0502040204020203" pitchFamily="34" charset="0"/>
            </a:endParaRPr>
          </a:p>
          <a:p>
            <a:r>
              <a:rPr lang="en-US" sz="2400" dirty="0">
                <a:solidFill>
                  <a:srgbClr val="161616"/>
                </a:solidFill>
                <a:latin typeface="Segoe UI" panose="020B0502040204020203" pitchFamily="34" charset="0"/>
              </a:rPr>
              <a:t>Agile Manifesto:-</a:t>
            </a:r>
          </a:p>
          <a:p>
            <a:pPr algn="l">
              <a:spcBef>
                <a:spcPts val="1200"/>
              </a:spcBef>
              <a:spcAft>
                <a:spcPts val="1200"/>
              </a:spcAft>
              <a:buFont typeface="Arial" panose="020B0604020202020204" pitchFamily="34" charset="0"/>
              <a:buChar char="•"/>
            </a:pPr>
            <a:r>
              <a:rPr lang="en-US" sz="2400" b="0" i="0" dirty="0">
                <a:solidFill>
                  <a:srgbClr val="161616"/>
                </a:solidFill>
                <a:effectLst/>
                <a:latin typeface="Segoe UI" panose="020B0502040204020203" pitchFamily="34" charset="0"/>
              </a:rPr>
              <a:t>Individuals and interactions over processes and tools.</a:t>
            </a:r>
          </a:p>
          <a:p>
            <a:pPr algn="l">
              <a:spcBef>
                <a:spcPts val="1200"/>
              </a:spcBef>
              <a:spcAft>
                <a:spcPts val="1200"/>
              </a:spcAft>
              <a:buFont typeface="Arial" panose="020B0604020202020204" pitchFamily="34" charset="0"/>
              <a:buChar char="•"/>
            </a:pPr>
            <a:r>
              <a:rPr lang="en-US" sz="2400" b="0" i="0" dirty="0">
                <a:solidFill>
                  <a:srgbClr val="161616"/>
                </a:solidFill>
                <a:effectLst/>
                <a:latin typeface="Segoe UI" panose="020B0502040204020203" pitchFamily="34" charset="0"/>
              </a:rPr>
              <a:t>Working software over comprehensive documentation.</a:t>
            </a:r>
          </a:p>
          <a:p>
            <a:pPr algn="l">
              <a:spcBef>
                <a:spcPts val="1200"/>
              </a:spcBef>
              <a:spcAft>
                <a:spcPts val="1200"/>
              </a:spcAft>
              <a:buFont typeface="Arial" panose="020B0604020202020204" pitchFamily="34" charset="0"/>
              <a:buChar char="•"/>
            </a:pPr>
            <a:r>
              <a:rPr lang="en-US" sz="2400" b="0" i="0" dirty="0">
                <a:solidFill>
                  <a:srgbClr val="161616"/>
                </a:solidFill>
                <a:effectLst/>
                <a:latin typeface="Segoe UI" panose="020B0502040204020203" pitchFamily="34" charset="0"/>
              </a:rPr>
              <a:t>Customer collaboration over contract negotiation.</a:t>
            </a:r>
          </a:p>
          <a:p>
            <a:pPr algn="l">
              <a:spcBef>
                <a:spcPts val="1200"/>
              </a:spcBef>
              <a:spcAft>
                <a:spcPts val="1200"/>
              </a:spcAft>
              <a:buFont typeface="Arial" panose="020B0604020202020204" pitchFamily="34" charset="0"/>
              <a:buChar char="•"/>
            </a:pPr>
            <a:r>
              <a:rPr lang="en-US" sz="2400" b="0" i="0" dirty="0">
                <a:solidFill>
                  <a:srgbClr val="161616"/>
                </a:solidFill>
                <a:effectLst/>
                <a:latin typeface="Segoe UI" panose="020B0502040204020203" pitchFamily="34" charset="0"/>
              </a:rPr>
              <a:t>Responding to change over following a plan.</a:t>
            </a:r>
          </a:p>
          <a:p>
            <a:br>
              <a:rPr lang="en-US" dirty="0"/>
            </a:br>
            <a:endParaRPr lang="en-US" dirty="0"/>
          </a:p>
        </p:txBody>
      </p:sp>
    </p:spTree>
    <p:extLst>
      <p:ext uri="{BB962C8B-B14F-4D97-AF65-F5344CB8AC3E}">
        <p14:creationId xmlns:p14="http://schemas.microsoft.com/office/powerpoint/2010/main" val="1239587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131551" y="1036384"/>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Agile methods and practices</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pic>
        <p:nvPicPr>
          <p:cNvPr id="2050" name="Picture 2">
            <a:extLst>
              <a:ext uri="{FF2B5EF4-FFF2-40B4-BE49-F238E27FC236}">
                <a16:creationId xmlns:a16="http://schemas.microsoft.com/office/drawing/2014/main" id="{7EC73778-206F-4E8B-94EB-C0838134D0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8142" y="1979067"/>
            <a:ext cx="10351957" cy="4390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64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234169" y="1036384"/>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What is Git</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1" name="TextBox 10">
            <a:extLst>
              <a:ext uri="{FF2B5EF4-FFF2-40B4-BE49-F238E27FC236}">
                <a16:creationId xmlns:a16="http://schemas.microsoft.com/office/drawing/2014/main" id="{61C08E93-FE33-E0EE-EC83-04A4CD8623D2}"/>
              </a:ext>
            </a:extLst>
          </p:cNvPr>
          <p:cNvSpPr txBox="1"/>
          <p:nvPr/>
        </p:nvSpPr>
        <p:spPr>
          <a:xfrm>
            <a:off x="919032" y="2465342"/>
            <a:ext cx="10284826" cy="3046988"/>
          </a:xfrm>
          <a:prstGeom prst="rect">
            <a:avLst/>
          </a:prstGeom>
          <a:noFill/>
        </p:spPr>
        <p:txBody>
          <a:bodyPr wrap="square" rtlCol="0">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Git is a distributed version control system, which means that a local clone of the project is a complete version control repository. </a:t>
            </a:r>
          </a:p>
          <a:p>
            <a:pPr marL="342900" indent="-342900">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These fully functional local repositories make it easy to work offline or remotely.</a:t>
            </a:r>
          </a:p>
          <a:p>
            <a:pPr marL="342900"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Developers commit their work locally, and then sync their copy of the repository with the copy on the server</a:t>
            </a:r>
            <a:endParaRPr lang="en-US" sz="2400" dirty="0"/>
          </a:p>
        </p:txBody>
      </p:sp>
    </p:spTree>
    <p:extLst>
      <p:ext uri="{BB962C8B-B14F-4D97-AF65-F5344CB8AC3E}">
        <p14:creationId xmlns:p14="http://schemas.microsoft.com/office/powerpoint/2010/main" val="221747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281320" y="1036384"/>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Git Basics</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0" name="TextBox 9">
            <a:extLst>
              <a:ext uri="{FF2B5EF4-FFF2-40B4-BE49-F238E27FC236}">
                <a16:creationId xmlns:a16="http://schemas.microsoft.com/office/drawing/2014/main" id="{6448BFE6-B0D3-6D5A-0EC4-01F5B328F2B1}"/>
              </a:ext>
            </a:extLst>
          </p:cNvPr>
          <p:cNvSpPr txBox="1"/>
          <p:nvPr/>
        </p:nvSpPr>
        <p:spPr>
          <a:xfrm>
            <a:off x="914400" y="1791862"/>
            <a:ext cx="10358568" cy="4708981"/>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1. Commits: Saving Changes</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Each saved change creates a commit, capturing a “snapshot” of all files.</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Commits link to form a history, making it easy to view, revert, or inspect past changes.</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Each commit has a unique ID to track changes securely.</a:t>
            </a:r>
          </a:p>
          <a:p>
            <a:pPr>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r>
              <a:rPr lang="en-US" sz="2000" dirty="0">
                <a:latin typeface="Segoe UI" panose="020B0502040204020203" pitchFamily="34" charset="0"/>
                <a:cs typeface="Segoe UI" panose="020B0502040204020203" pitchFamily="34" charset="0"/>
              </a:rPr>
              <a:t>2. Branches: Parallel Development</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Branches are separate lines of development, allowing multiple people to work without interference.</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When work is done, branches are merged into the main branch.</a:t>
            </a:r>
          </a:p>
          <a:p>
            <a:endParaRPr lang="en-US" sz="2000" dirty="0">
              <a:latin typeface="Segoe UI" panose="020B0502040204020203" pitchFamily="34" charset="0"/>
              <a:cs typeface="Segoe UI" panose="020B0502040204020203" pitchFamily="34" charset="0"/>
            </a:endParaRPr>
          </a:p>
          <a:p>
            <a:r>
              <a:rPr lang="en-US" sz="2000" dirty="0">
                <a:latin typeface="Segoe UI" panose="020B0502040204020203" pitchFamily="34" charset="0"/>
                <a:cs typeface="Segoe UI" panose="020B0502040204020203" pitchFamily="34" charset="0"/>
              </a:rPr>
              <a:t>3. Staging &amp; Committing: The Workflow</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Changes are first modified in the working directory.</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Staged changes are selected for the next commit.</a:t>
            </a:r>
          </a:p>
          <a:p>
            <a:pPr lvl="1">
              <a:buFont typeface="Arial" panose="020B0604020202020204" pitchFamily="34" charset="0"/>
              <a:buChar char="•"/>
            </a:pPr>
            <a:r>
              <a:rPr lang="en-US" sz="2000" dirty="0">
                <a:latin typeface="Segoe UI" panose="020B0502040204020203" pitchFamily="34" charset="0"/>
                <a:cs typeface="Segoe UI" panose="020B0502040204020203" pitchFamily="34" charset="0"/>
              </a:rPr>
              <a:t>Once ready, staged changes are committed and added to project history.</a:t>
            </a:r>
          </a:p>
          <a:p>
            <a:endParaRPr lang="en-US"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57964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727423"/>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Benefits of Git</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
        <p:nvSpPr>
          <p:cNvPr id="10" name="TextBox 9">
            <a:extLst>
              <a:ext uri="{FF2B5EF4-FFF2-40B4-BE49-F238E27FC236}">
                <a16:creationId xmlns:a16="http://schemas.microsoft.com/office/drawing/2014/main" id="{E7EEA8DB-B468-B252-8F12-8088D0A7DBD7}"/>
              </a:ext>
            </a:extLst>
          </p:cNvPr>
          <p:cNvSpPr txBox="1"/>
          <p:nvPr/>
        </p:nvSpPr>
        <p:spPr>
          <a:xfrm>
            <a:off x="1017639" y="1584285"/>
            <a:ext cx="10442460" cy="4893647"/>
          </a:xfrm>
          <a:prstGeom prst="rect">
            <a:avLst/>
          </a:prstGeom>
          <a:noFill/>
        </p:spPr>
        <p:txBody>
          <a:bodyPr wrap="square" rtlCol="0">
            <a:spAutoFit/>
          </a:bodyPr>
          <a:lstStyle/>
          <a:p>
            <a:pPr marL="342900" indent="-342900">
              <a:buAutoNum type="arabicPeriod"/>
            </a:pPr>
            <a:r>
              <a:rPr lang="en-US" sz="2400" dirty="0">
                <a:latin typeface="Segoe UI" panose="020B0502040204020203" pitchFamily="34" charset="0"/>
                <a:cs typeface="Segoe UI" panose="020B0502040204020203" pitchFamily="34" charset="0"/>
              </a:rPr>
              <a:t>Simultaneous Development</a:t>
            </a:r>
          </a:p>
          <a:p>
            <a:pPr marL="342900" indent="-342900">
              <a:buAutoNum type="arabicPeriod"/>
            </a:pPr>
            <a:endParaRPr lang="en-US" sz="2400" dirty="0">
              <a:latin typeface="Segoe UI" panose="020B0502040204020203" pitchFamily="34" charset="0"/>
              <a:cs typeface="Segoe UI" panose="020B0502040204020203" pitchFamily="34" charset="0"/>
            </a:endParaRPr>
          </a:p>
          <a:p>
            <a:pPr marL="342900" indent="-342900">
              <a:buAutoNum type="arabicPeriod"/>
            </a:pPr>
            <a:r>
              <a:rPr lang="en-US" sz="2400" dirty="0">
                <a:latin typeface="Segoe UI" panose="020B0502040204020203" pitchFamily="34" charset="0"/>
                <a:cs typeface="Segoe UI" panose="020B0502040204020203" pitchFamily="34" charset="0"/>
              </a:rPr>
              <a:t>Faster Releases</a:t>
            </a:r>
          </a:p>
          <a:p>
            <a:pPr marL="342900" indent="-342900">
              <a:buAutoNum type="arabicPeriod"/>
            </a:pPr>
            <a:endParaRPr lang="en-US" sz="2400" dirty="0">
              <a:latin typeface="Segoe UI" panose="020B0502040204020203" pitchFamily="34" charset="0"/>
              <a:cs typeface="Segoe UI" panose="020B0502040204020203" pitchFamily="34" charset="0"/>
            </a:endParaRPr>
          </a:p>
          <a:p>
            <a:pPr marL="342900" indent="-342900">
              <a:buAutoNum type="arabicPeriod"/>
            </a:pPr>
            <a:r>
              <a:rPr lang="en-US" sz="2400" dirty="0">
                <a:latin typeface="Segoe UI" panose="020B0502040204020203" pitchFamily="34" charset="0"/>
                <a:cs typeface="Segoe UI" panose="020B0502040204020203" pitchFamily="34" charset="0"/>
              </a:rPr>
              <a:t>Built-in Integration</a:t>
            </a:r>
          </a:p>
          <a:p>
            <a:pPr marL="342900" indent="-342900">
              <a:buAutoNum type="arabicPeriod"/>
            </a:pPr>
            <a:endParaRPr lang="en-US" sz="2400" dirty="0">
              <a:latin typeface="Segoe UI" panose="020B0502040204020203" pitchFamily="34" charset="0"/>
              <a:cs typeface="Segoe UI" panose="020B0502040204020203" pitchFamily="34" charset="0"/>
            </a:endParaRPr>
          </a:p>
          <a:p>
            <a:pPr marL="342900" indent="-342900">
              <a:buAutoNum type="arabicPeriod"/>
            </a:pPr>
            <a:r>
              <a:rPr lang="en-US" sz="2400" dirty="0">
                <a:latin typeface="Segoe UI" panose="020B0502040204020203" pitchFamily="34" charset="0"/>
                <a:cs typeface="Segoe UI" panose="020B0502040204020203" pitchFamily="34" charset="0"/>
              </a:rPr>
              <a:t>Strong Community Support</a:t>
            </a:r>
          </a:p>
          <a:p>
            <a:pPr marL="342900" indent="-342900">
              <a:buAutoNum type="arabicPeriod"/>
            </a:pPr>
            <a:endParaRPr lang="en-US" sz="2400" dirty="0">
              <a:latin typeface="Segoe UI" panose="020B0502040204020203" pitchFamily="34" charset="0"/>
              <a:cs typeface="Segoe UI" panose="020B0502040204020203" pitchFamily="34" charset="0"/>
            </a:endParaRPr>
          </a:p>
          <a:p>
            <a:pPr marL="342900" indent="-342900">
              <a:buAutoNum type="arabicPeriod"/>
            </a:pPr>
            <a:r>
              <a:rPr lang="en-US" sz="2400" dirty="0">
                <a:latin typeface="Segoe UI" panose="020B0502040204020203" pitchFamily="34" charset="0"/>
                <a:cs typeface="Segoe UI" panose="020B0502040204020203" pitchFamily="34" charset="0"/>
              </a:rPr>
              <a:t>Works with any team</a:t>
            </a:r>
          </a:p>
          <a:p>
            <a:pPr marL="342900" indent="-342900">
              <a:buAutoNum type="arabicPeriod"/>
            </a:pPr>
            <a:endParaRPr lang="en-US" sz="2400" dirty="0">
              <a:latin typeface="Segoe UI" panose="020B0502040204020203" pitchFamily="34" charset="0"/>
              <a:cs typeface="Segoe UI" panose="020B0502040204020203" pitchFamily="34" charset="0"/>
            </a:endParaRPr>
          </a:p>
          <a:p>
            <a:pPr marL="342900" indent="-342900">
              <a:buAutoNum type="arabicPeriod"/>
            </a:pPr>
            <a:r>
              <a:rPr lang="en-US" sz="2400" dirty="0">
                <a:latin typeface="Segoe UI" panose="020B0502040204020203" pitchFamily="34" charset="0"/>
                <a:cs typeface="Segoe UI" panose="020B0502040204020203" pitchFamily="34" charset="0"/>
              </a:rPr>
              <a:t>Pull Requests</a:t>
            </a:r>
          </a:p>
          <a:p>
            <a:pPr marL="342900" indent="-342900">
              <a:buAutoNum type="arabicPeriod"/>
            </a:pPr>
            <a:endParaRPr lang="en-US" sz="2400" dirty="0">
              <a:latin typeface="Segoe UI" panose="020B0502040204020203" pitchFamily="34" charset="0"/>
              <a:cs typeface="Segoe UI" panose="020B0502040204020203" pitchFamily="34" charset="0"/>
            </a:endParaRPr>
          </a:p>
          <a:p>
            <a:pPr marL="342900" indent="-342900">
              <a:buAutoNum type="arabicPeriod"/>
            </a:pPr>
            <a:r>
              <a:rPr lang="en-US" sz="2400" dirty="0">
                <a:latin typeface="Segoe UI" panose="020B0502040204020203" pitchFamily="34" charset="0"/>
                <a:cs typeface="Segoe UI" panose="020B0502040204020203" pitchFamily="34" charset="0"/>
              </a:rPr>
              <a:t>Branch Policies</a:t>
            </a:r>
          </a:p>
        </p:txBody>
      </p:sp>
    </p:spTree>
    <p:extLst>
      <p:ext uri="{BB962C8B-B14F-4D97-AF65-F5344CB8AC3E}">
        <p14:creationId xmlns:p14="http://schemas.microsoft.com/office/powerpoint/2010/main" val="2764183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object 2">
            <a:extLst>
              <a:ext uri="{FF2B5EF4-FFF2-40B4-BE49-F238E27FC236}">
                <a16:creationId xmlns:a16="http://schemas.microsoft.com/office/drawing/2014/main" id="{6CB52484-249C-4FA2-B98E-0DEFBE165B82}"/>
              </a:ext>
            </a:extLst>
          </p:cNvPr>
          <p:cNvSpPr txBox="1"/>
          <p:nvPr/>
        </p:nvSpPr>
        <p:spPr>
          <a:xfrm>
            <a:off x="1253551" y="2736626"/>
            <a:ext cx="9566910" cy="1748556"/>
          </a:xfrm>
          <a:prstGeom prst="rect">
            <a:avLst/>
          </a:prstGeom>
        </p:spPr>
        <p:txBody>
          <a:bodyPr vert="horz" wrap="square" lIns="0" tIns="12065" rIns="0" bIns="0" rtlCol="0">
            <a:spAutoFit/>
          </a:bodyPr>
          <a:lstStyle>
            <a:defPPr>
              <a:defRPr kern="0"/>
            </a:defPPr>
          </a:lstStyle>
          <a:p>
            <a:pPr marL="12700" marR="5080" algn="just">
              <a:lnSpc>
                <a:spcPct val="100000"/>
              </a:lnSpc>
              <a:spcBef>
                <a:spcPts val="95"/>
              </a:spcBef>
            </a:pPr>
            <a:endParaRPr lang="en-US" sz="2800" dirty="0">
              <a:solidFill>
                <a:srgbClr val="404040"/>
              </a:solidFill>
              <a:latin typeface="Verdana"/>
              <a:cs typeface="Verdana"/>
            </a:endParaRPr>
          </a:p>
          <a:p>
            <a:pPr marL="12700" marR="5080" algn="just">
              <a:lnSpc>
                <a:spcPct val="100000"/>
              </a:lnSpc>
              <a:spcBef>
                <a:spcPts val="95"/>
              </a:spcBef>
            </a:pPr>
            <a:r>
              <a:rPr lang="en-US" sz="2800" dirty="0">
                <a:solidFill>
                  <a:srgbClr val="404040"/>
                </a:solidFill>
                <a:latin typeface="Verdana"/>
                <a:cs typeface="Verdana"/>
              </a:rPr>
              <a:t>Continuous</a:t>
            </a:r>
            <a:r>
              <a:rPr lang="en-US" sz="2800" spc="-40" dirty="0">
                <a:solidFill>
                  <a:srgbClr val="404040"/>
                </a:solidFill>
                <a:latin typeface="Verdana"/>
                <a:cs typeface="Verdana"/>
              </a:rPr>
              <a:t> </a:t>
            </a:r>
            <a:r>
              <a:rPr lang="en-US" sz="2800" spc="-10" dirty="0">
                <a:solidFill>
                  <a:srgbClr val="404040"/>
                </a:solidFill>
                <a:latin typeface="Verdana"/>
                <a:cs typeface="Verdana"/>
              </a:rPr>
              <a:t>delivery</a:t>
            </a:r>
            <a:r>
              <a:rPr lang="en-US" sz="2800" spc="-100" dirty="0">
                <a:solidFill>
                  <a:srgbClr val="404040"/>
                </a:solidFill>
                <a:latin typeface="Verdana"/>
                <a:cs typeface="Verdana"/>
              </a:rPr>
              <a:t> </a:t>
            </a:r>
            <a:r>
              <a:rPr lang="en-US" sz="2800" dirty="0">
                <a:solidFill>
                  <a:srgbClr val="404040"/>
                </a:solidFill>
                <a:latin typeface="Verdana"/>
                <a:cs typeface="Verdana"/>
              </a:rPr>
              <a:t>is</a:t>
            </a:r>
            <a:r>
              <a:rPr lang="en-US" sz="2800" spc="-195" dirty="0">
                <a:solidFill>
                  <a:srgbClr val="404040"/>
                </a:solidFill>
                <a:latin typeface="Verdana"/>
                <a:cs typeface="Verdana"/>
              </a:rPr>
              <a:t> </a:t>
            </a:r>
            <a:r>
              <a:rPr lang="en-US" sz="2800" dirty="0">
                <a:solidFill>
                  <a:srgbClr val="404040"/>
                </a:solidFill>
                <a:latin typeface="Verdana"/>
                <a:cs typeface="Verdana"/>
              </a:rPr>
              <a:t>all</a:t>
            </a:r>
            <a:r>
              <a:rPr lang="en-US" sz="2800" spc="-170" dirty="0">
                <a:solidFill>
                  <a:srgbClr val="404040"/>
                </a:solidFill>
                <a:latin typeface="Verdana"/>
                <a:cs typeface="Verdana"/>
              </a:rPr>
              <a:t> </a:t>
            </a:r>
            <a:r>
              <a:rPr lang="en-US" sz="2800" dirty="0">
                <a:solidFill>
                  <a:srgbClr val="404040"/>
                </a:solidFill>
                <a:latin typeface="Verdana"/>
                <a:cs typeface="Verdana"/>
              </a:rPr>
              <a:t>about</a:t>
            </a:r>
            <a:r>
              <a:rPr lang="en-US" sz="2800" spc="-10" dirty="0">
                <a:solidFill>
                  <a:srgbClr val="404040"/>
                </a:solidFill>
                <a:latin typeface="Verdana"/>
                <a:cs typeface="Verdana"/>
              </a:rPr>
              <a:t> </a:t>
            </a:r>
            <a:r>
              <a:rPr lang="en-US" sz="2800" dirty="0">
                <a:solidFill>
                  <a:srgbClr val="404040"/>
                </a:solidFill>
                <a:latin typeface="Verdana"/>
                <a:cs typeface="Verdana"/>
              </a:rPr>
              <a:t>creating</a:t>
            </a:r>
            <a:r>
              <a:rPr lang="en-US" sz="2800" spc="-125" dirty="0">
                <a:solidFill>
                  <a:srgbClr val="404040"/>
                </a:solidFill>
                <a:latin typeface="Verdana"/>
                <a:cs typeface="Verdana"/>
              </a:rPr>
              <a:t> </a:t>
            </a:r>
            <a:r>
              <a:rPr lang="en-US" sz="2800" dirty="0">
                <a:solidFill>
                  <a:srgbClr val="404040"/>
                </a:solidFill>
                <a:latin typeface="Verdana"/>
                <a:cs typeface="Verdana"/>
              </a:rPr>
              <a:t>a</a:t>
            </a:r>
            <a:r>
              <a:rPr lang="en-US" sz="2800" spc="-204" dirty="0">
                <a:solidFill>
                  <a:srgbClr val="404040"/>
                </a:solidFill>
                <a:latin typeface="Verdana"/>
                <a:cs typeface="Verdana"/>
              </a:rPr>
              <a:t> </a:t>
            </a:r>
            <a:r>
              <a:rPr lang="en-US" sz="2800" spc="-10" dirty="0">
                <a:solidFill>
                  <a:srgbClr val="404040"/>
                </a:solidFill>
                <a:latin typeface="Verdana"/>
                <a:cs typeface="Verdana"/>
              </a:rPr>
              <a:t>repeatable </a:t>
            </a:r>
            <a:r>
              <a:rPr lang="en-US" sz="2800" dirty="0">
                <a:solidFill>
                  <a:srgbClr val="404040"/>
                </a:solidFill>
                <a:latin typeface="Verdana"/>
                <a:cs typeface="Verdana"/>
              </a:rPr>
              <a:t>and</a:t>
            </a:r>
            <a:r>
              <a:rPr lang="en-US" sz="2800" spc="-190" dirty="0">
                <a:solidFill>
                  <a:srgbClr val="404040"/>
                </a:solidFill>
                <a:latin typeface="Verdana"/>
                <a:cs typeface="Verdana"/>
              </a:rPr>
              <a:t> </a:t>
            </a:r>
            <a:r>
              <a:rPr lang="en-US" sz="2800" spc="-25" dirty="0">
                <a:solidFill>
                  <a:srgbClr val="404040"/>
                </a:solidFill>
                <a:latin typeface="Verdana"/>
                <a:cs typeface="Verdana"/>
              </a:rPr>
              <a:t>reliable</a:t>
            </a:r>
            <a:r>
              <a:rPr lang="en-US" sz="2800" spc="-190" dirty="0">
                <a:solidFill>
                  <a:srgbClr val="404040"/>
                </a:solidFill>
                <a:latin typeface="Verdana"/>
                <a:cs typeface="Verdana"/>
              </a:rPr>
              <a:t> </a:t>
            </a:r>
            <a:r>
              <a:rPr lang="en-US" sz="2800" dirty="0">
                <a:solidFill>
                  <a:srgbClr val="404040"/>
                </a:solidFill>
                <a:latin typeface="Verdana"/>
                <a:cs typeface="Verdana"/>
              </a:rPr>
              <a:t>process</a:t>
            </a:r>
            <a:r>
              <a:rPr lang="en-US" sz="2800" spc="-150" dirty="0">
                <a:solidFill>
                  <a:srgbClr val="404040"/>
                </a:solidFill>
                <a:latin typeface="Verdana"/>
                <a:cs typeface="Verdana"/>
              </a:rPr>
              <a:t> </a:t>
            </a:r>
            <a:r>
              <a:rPr lang="en-US" sz="2800" dirty="0">
                <a:solidFill>
                  <a:srgbClr val="404040"/>
                </a:solidFill>
                <a:latin typeface="Verdana"/>
                <a:cs typeface="Verdana"/>
              </a:rPr>
              <a:t>for</a:t>
            </a:r>
            <a:r>
              <a:rPr lang="en-US" sz="2800" spc="-180" dirty="0">
                <a:solidFill>
                  <a:srgbClr val="404040"/>
                </a:solidFill>
                <a:latin typeface="Verdana"/>
                <a:cs typeface="Verdana"/>
              </a:rPr>
              <a:t> </a:t>
            </a:r>
            <a:r>
              <a:rPr lang="en-US" sz="2800" spc="-25" dirty="0">
                <a:solidFill>
                  <a:srgbClr val="404040"/>
                </a:solidFill>
                <a:latin typeface="Verdana"/>
                <a:cs typeface="Verdana"/>
              </a:rPr>
              <a:t>delivering</a:t>
            </a:r>
            <a:r>
              <a:rPr lang="en-US" sz="2800" spc="-185" dirty="0">
                <a:solidFill>
                  <a:srgbClr val="404040"/>
                </a:solidFill>
                <a:latin typeface="Verdana"/>
                <a:cs typeface="Verdana"/>
              </a:rPr>
              <a:t> </a:t>
            </a:r>
            <a:r>
              <a:rPr lang="en-US" sz="2800" spc="-10" dirty="0">
                <a:solidFill>
                  <a:srgbClr val="404040"/>
                </a:solidFill>
                <a:latin typeface="Verdana"/>
                <a:cs typeface="Verdana"/>
              </a:rPr>
              <a:t>software</a:t>
            </a:r>
            <a:r>
              <a:rPr lang="en-US" sz="2800" spc="-204" dirty="0">
                <a:solidFill>
                  <a:srgbClr val="404040"/>
                </a:solidFill>
                <a:latin typeface="Verdana"/>
                <a:cs typeface="Verdana"/>
              </a:rPr>
              <a:t> </a:t>
            </a:r>
            <a:r>
              <a:rPr lang="en-US" sz="2800" spc="-10" dirty="0">
                <a:solidFill>
                  <a:srgbClr val="404040"/>
                </a:solidFill>
                <a:latin typeface="Verdana"/>
                <a:cs typeface="Verdana"/>
              </a:rPr>
              <a:t>in</a:t>
            </a:r>
            <a:r>
              <a:rPr lang="en-US" sz="2800" spc="-240" dirty="0">
                <a:solidFill>
                  <a:srgbClr val="404040"/>
                </a:solidFill>
                <a:latin typeface="Verdana"/>
                <a:cs typeface="Verdana"/>
              </a:rPr>
              <a:t> </a:t>
            </a:r>
            <a:r>
              <a:rPr lang="en-US" sz="2800" dirty="0">
                <a:solidFill>
                  <a:srgbClr val="404040"/>
                </a:solidFill>
                <a:latin typeface="Verdana"/>
                <a:cs typeface="Verdana"/>
              </a:rPr>
              <a:t>order</a:t>
            </a:r>
            <a:r>
              <a:rPr lang="en-US" sz="2800" spc="-145" dirty="0">
                <a:solidFill>
                  <a:srgbClr val="404040"/>
                </a:solidFill>
                <a:latin typeface="Verdana"/>
                <a:cs typeface="Verdana"/>
              </a:rPr>
              <a:t> </a:t>
            </a:r>
            <a:r>
              <a:rPr lang="en-US" sz="2800" spc="-25" dirty="0">
                <a:solidFill>
                  <a:srgbClr val="404040"/>
                </a:solidFill>
                <a:latin typeface="Verdana"/>
                <a:cs typeface="Verdana"/>
              </a:rPr>
              <a:t>to </a:t>
            </a:r>
            <a:r>
              <a:rPr lang="en-US" sz="4125" baseline="1010" dirty="0">
                <a:solidFill>
                  <a:srgbClr val="404040"/>
                </a:solidFill>
                <a:latin typeface="Verdana"/>
                <a:cs typeface="Verdana"/>
              </a:rPr>
              <a:t>deliver</a:t>
            </a:r>
            <a:r>
              <a:rPr lang="en-US" sz="4125" spc="209" baseline="1010" dirty="0">
                <a:solidFill>
                  <a:srgbClr val="404040"/>
                </a:solidFill>
                <a:latin typeface="Verdana"/>
                <a:cs typeface="Verdana"/>
              </a:rPr>
              <a:t> </a:t>
            </a:r>
            <a:r>
              <a:rPr lang="en-US" sz="4125" baseline="1010" dirty="0">
                <a:solidFill>
                  <a:srgbClr val="404040"/>
                </a:solidFill>
                <a:latin typeface="Verdana"/>
                <a:cs typeface="Verdana"/>
              </a:rPr>
              <a:t>high</a:t>
            </a:r>
            <a:r>
              <a:rPr lang="en-US" sz="4125" spc="225" baseline="1010" dirty="0">
                <a:solidFill>
                  <a:srgbClr val="404040"/>
                </a:solidFill>
                <a:latin typeface="Verdana"/>
                <a:cs typeface="Verdana"/>
              </a:rPr>
              <a:t> </a:t>
            </a:r>
            <a:r>
              <a:rPr lang="en-US" sz="4125" baseline="1010" dirty="0">
                <a:solidFill>
                  <a:srgbClr val="404040"/>
                </a:solidFill>
                <a:latin typeface="Verdana"/>
                <a:cs typeface="Verdana"/>
              </a:rPr>
              <a:t>value</a:t>
            </a:r>
            <a:r>
              <a:rPr lang="en-US" sz="4125" spc="52" baseline="1010" dirty="0">
                <a:solidFill>
                  <a:srgbClr val="404040"/>
                </a:solidFill>
                <a:latin typeface="Verdana"/>
                <a:cs typeface="Verdana"/>
              </a:rPr>
              <a:t> </a:t>
            </a:r>
            <a:r>
              <a:rPr lang="en-US" sz="4125" spc="67" baseline="1010" dirty="0">
                <a:solidFill>
                  <a:srgbClr val="404040"/>
                </a:solidFill>
                <a:latin typeface="Verdana"/>
                <a:cs typeface="Verdana"/>
              </a:rPr>
              <a:t>software</a:t>
            </a:r>
            <a:r>
              <a:rPr lang="en-US" sz="4125" spc="270" baseline="1010" dirty="0">
                <a:solidFill>
                  <a:srgbClr val="404040"/>
                </a:solidFill>
                <a:latin typeface="Verdana"/>
                <a:cs typeface="Verdana"/>
              </a:rPr>
              <a:t> </a:t>
            </a:r>
            <a:r>
              <a:rPr lang="en-US" sz="2800" dirty="0">
                <a:solidFill>
                  <a:srgbClr val="404040"/>
                </a:solidFill>
                <a:latin typeface="Verdana"/>
                <a:cs typeface="Verdana"/>
              </a:rPr>
              <a:t>to</a:t>
            </a:r>
            <a:r>
              <a:rPr lang="en-US" sz="2800" spc="125" dirty="0">
                <a:solidFill>
                  <a:srgbClr val="404040"/>
                </a:solidFill>
                <a:latin typeface="Verdana"/>
                <a:cs typeface="Verdana"/>
              </a:rPr>
              <a:t> </a:t>
            </a:r>
            <a:r>
              <a:rPr lang="en-US" sz="2800" spc="-25" dirty="0">
                <a:solidFill>
                  <a:srgbClr val="404040"/>
                </a:solidFill>
                <a:latin typeface="Verdana"/>
                <a:cs typeface="Verdana"/>
              </a:rPr>
              <a:t>our</a:t>
            </a:r>
            <a:r>
              <a:rPr lang="en-US" sz="2800" spc="-695" dirty="0">
                <a:solidFill>
                  <a:srgbClr val="404040"/>
                </a:solidFill>
                <a:latin typeface="Verdana"/>
                <a:cs typeface="Verdana"/>
              </a:rPr>
              <a:t> </a:t>
            </a:r>
            <a:r>
              <a:rPr lang="en-US" sz="2800" spc="-10" dirty="0">
                <a:solidFill>
                  <a:srgbClr val="404040"/>
                </a:solidFill>
                <a:latin typeface="Verdana"/>
                <a:cs typeface="Verdana"/>
              </a:rPr>
              <a:t>customers</a:t>
            </a:r>
            <a:r>
              <a:rPr lang="en-US" sz="2800" spc="25" dirty="0">
                <a:solidFill>
                  <a:srgbClr val="404040"/>
                </a:solidFill>
                <a:latin typeface="Verdana"/>
                <a:cs typeface="Verdana"/>
              </a:rPr>
              <a:t> </a:t>
            </a:r>
            <a:r>
              <a:rPr lang="en-US" sz="4125" spc="-15" baseline="1010" dirty="0">
                <a:solidFill>
                  <a:srgbClr val="404040"/>
                </a:solidFill>
                <a:latin typeface="Verdana"/>
                <a:cs typeface="Verdana"/>
              </a:rPr>
              <a:t>fast</a:t>
            </a:r>
            <a:r>
              <a:rPr lang="en-US" sz="2800" spc="-10" dirty="0">
                <a:solidFill>
                  <a:srgbClr val="404040"/>
                </a:solidFill>
                <a:latin typeface="Verdana"/>
                <a:cs typeface="Verdana"/>
              </a:rPr>
              <a:t>!</a:t>
            </a:r>
            <a:endParaRPr lang="en-US" sz="2800" dirty="0">
              <a:latin typeface="Verdana"/>
              <a:cs typeface="Verdana"/>
            </a:endParaRPr>
          </a:p>
        </p:txBody>
      </p:sp>
      <p:sp>
        <p:nvSpPr>
          <p:cNvPr id="11" name="object 3">
            <a:extLst>
              <a:ext uri="{FF2B5EF4-FFF2-40B4-BE49-F238E27FC236}">
                <a16:creationId xmlns:a16="http://schemas.microsoft.com/office/drawing/2014/main" id="{395F0552-9904-71FC-E5A7-8A296BEBFB9E}"/>
              </a:ext>
            </a:extLst>
          </p:cNvPr>
          <p:cNvSpPr txBox="1"/>
          <p:nvPr/>
        </p:nvSpPr>
        <p:spPr>
          <a:xfrm>
            <a:off x="1253551" y="1837796"/>
            <a:ext cx="5800090" cy="7575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4800" spc="-120" dirty="0">
                <a:solidFill>
                  <a:srgbClr val="FF0000"/>
                </a:solidFill>
                <a:latin typeface="Verdana"/>
                <a:cs typeface="Verdana"/>
              </a:rPr>
              <a:t>Continuous</a:t>
            </a:r>
            <a:r>
              <a:rPr sz="4800" spc="-565" dirty="0">
                <a:solidFill>
                  <a:srgbClr val="FF0000"/>
                </a:solidFill>
                <a:latin typeface="Verdana"/>
                <a:cs typeface="Verdana"/>
              </a:rPr>
              <a:t> </a:t>
            </a:r>
            <a:r>
              <a:rPr sz="4800" spc="-160" dirty="0">
                <a:solidFill>
                  <a:srgbClr val="FF0000"/>
                </a:solidFill>
                <a:latin typeface="Verdana"/>
                <a:cs typeface="Verdana"/>
              </a:rPr>
              <a:t>Delivery</a:t>
            </a:r>
            <a:endParaRPr sz="4800" dirty="0">
              <a:solidFill>
                <a:srgbClr val="FF0000"/>
              </a:solidFill>
              <a:latin typeface="Verdana"/>
              <a:cs typeface="Verdana"/>
            </a:endParaRPr>
          </a:p>
        </p:txBody>
      </p:sp>
    </p:spTree>
    <p:extLst>
      <p:ext uri="{BB962C8B-B14F-4D97-AF65-F5344CB8AC3E}">
        <p14:creationId xmlns:p14="http://schemas.microsoft.com/office/powerpoint/2010/main" val="125305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E63C-994F-93B4-33E1-735FFF194870}"/>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C0D3F2B-14F1-359A-074D-B10447469DBA}"/>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0E850C9C-08BF-97EA-C0D1-46D8EC27D10D}"/>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3A02C9AE-5275-B787-9BF8-37CF0F7F1194}"/>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ECF534B-D16E-F0F6-B48B-596B0F93F6B4}"/>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A372F9C3-3676-DDFB-BC08-29572409BAB2}"/>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3F1C84B-5CB8-D195-A5F4-39C0731DC07E}"/>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DCE51A23-47E9-6AB4-780C-A4A28268DC6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E045691A-D5D1-24FE-13C5-5A8F755DA2B5}"/>
              </a:ext>
            </a:extLst>
          </p:cNvPr>
          <p:cNvSpPr txBox="1"/>
          <p:nvPr/>
        </p:nvSpPr>
        <p:spPr>
          <a:xfrm>
            <a:off x="1253551" y="988344"/>
            <a:ext cx="8903171" cy="646331"/>
          </a:xfrm>
          <a:prstGeom prst="rect">
            <a:avLst/>
          </a:prstGeom>
          <a:noFill/>
        </p:spPr>
        <p:txBody>
          <a:bodyPr wrap="square" rtlCol="0">
            <a:spAutoFit/>
          </a:bodyPr>
          <a:lstStyle/>
          <a:p>
            <a:pPr algn="ctr"/>
            <a:r>
              <a:rPr lang="en-US" sz="3600" dirty="0"/>
              <a:t>What is Azure DevOps</a:t>
            </a:r>
          </a:p>
        </p:txBody>
      </p:sp>
      <p:sp>
        <p:nvSpPr>
          <p:cNvPr id="15" name="TextBox 14">
            <a:extLst>
              <a:ext uri="{FF2B5EF4-FFF2-40B4-BE49-F238E27FC236}">
                <a16:creationId xmlns:a16="http://schemas.microsoft.com/office/drawing/2014/main" id="{A01A8D52-D79F-4C64-ED51-3CA12309EC65}"/>
              </a:ext>
            </a:extLst>
          </p:cNvPr>
          <p:cNvSpPr txBox="1"/>
          <p:nvPr/>
        </p:nvSpPr>
        <p:spPr>
          <a:xfrm>
            <a:off x="1253551" y="2630385"/>
            <a:ext cx="9409471" cy="3046988"/>
          </a:xfrm>
          <a:prstGeom prst="rect">
            <a:avLst/>
          </a:prstGeom>
          <a:noFill/>
        </p:spPr>
        <p:txBody>
          <a:bodyPr wrap="square">
            <a:spAutoFit/>
          </a:bodyPr>
          <a:lstStyle/>
          <a:p>
            <a:pPr marL="342900" indent="-342900">
              <a:buFont typeface="Arial" panose="020B0604020202020204" pitchFamily="34" charset="0"/>
              <a:buChar char="•"/>
            </a:pPr>
            <a:r>
              <a:rPr lang="en-US" sz="2400" dirty="0"/>
              <a:t>Azure DevOps is a set of tools and processes that supports a collaborative culture, bringing together developers, project managers, and contributors to develop software.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 enables organizations to build and improve products at a faster pace than traditional development approaches, offering both cloud-based (Azure DevOps Services) and on-premises (Azure DevOps Server) solutions.</a:t>
            </a:r>
          </a:p>
        </p:txBody>
      </p:sp>
    </p:spTree>
    <p:extLst>
      <p:ext uri="{BB962C8B-B14F-4D97-AF65-F5344CB8AC3E}">
        <p14:creationId xmlns:p14="http://schemas.microsoft.com/office/powerpoint/2010/main" val="2133836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A095-6894-3443-F4C1-57AFBA6082F5}"/>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ED214400-B318-CAB5-B05A-7124B8F9E80E}"/>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65CC2FA-E3DB-EEEA-C709-A03444E8F279}"/>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3975046-4A78-980D-5C25-3124A4C00913}"/>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D1BC014-72BF-F610-299F-5FBEB11E13DB}"/>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CD40F99A-A879-2665-9900-B65DE09A7EA0}"/>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A9DFD69D-FFDD-4D04-823F-B12A1CA1E556}"/>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B3FBA63-E58F-0F09-67C2-54965A4AEEDF}"/>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AA42AB47-1118-6F4D-B4B6-662CEECD6148}"/>
              </a:ext>
            </a:extLst>
          </p:cNvPr>
          <p:cNvSpPr txBox="1"/>
          <p:nvPr/>
        </p:nvSpPr>
        <p:spPr>
          <a:xfrm>
            <a:off x="1253551" y="988344"/>
            <a:ext cx="8903171" cy="646331"/>
          </a:xfrm>
          <a:prstGeom prst="rect">
            <a:avLst/>
          </a:prstGeom>
          <a:noFill/>
        </p:spPr>
        <p:txBody>
          <a:bodyPr wrap="square" rtlCol="0">
            <a:spAutoFit/>
          </a:bodyPr>
          <a:lstStyle/>
          <a:p>
            <a:pPr algn="ctr"/>
            <a:r>
              <a:rPr lang="en-US" sz="3600" dirty="0"/>
              <a:t>Azure DevOps Services</a:t>
            </a:r>
          </a:p>
        </p:txBody>
      </p:sp>
      <p:sp>
        <p:nvSpPr>
          <p:cNvPr id="15" name="TextBox 14">
            <a:extLst>
              <a:ext uri="{FF2B5EF4-FFF2-40B4-BE49-F238E27FC236}">
                <a16:creationId xmlns:a16="http://schemas.microsoft.com/office/drawing/2014/main" id="{E4F01CF6-B4CE-63A3-759B-B68F4F4527EA}"/>
              </a:ext>
            </a:extLst>
          </p:cNvPr>
          <p:cNvSpPr txBox="1"/>
          <p:nvPr/>
        </p:nvSpPr>
        <p:spPr>
          <a:xfrm>
            <a:off x="1253551" y="2630385"/>
            <a:ext cx="9409471" cy="3046988"/>
          </a:xfrm>
          <a:prstGeom prst="rect">
            <a:avLst/>
          </a:prstGeom>
          <a:noFill/>
        </p:spPr>
        <p:txBody>
          <a:bodyPr wrap="square">
            <a:spAutoFit/>
          </a:bodyPr>
          <a:lstStyle/>
          <a:p>
            <a:pPr marL="342900" indent="-342900">
              <a:buFont typeface="Arial" panose="020B0604020202020204" pitchFamily="34" charset="0"/>
              <a:buChar char="•"/>
            </a:pPr>
            <a:r>
              <a:rPr lang="en-US" sz="2400" dirty="0"/>
              <a:t>Azure DevOps services gives you access to cloud build and deployment servers, and application insights.</a:t>
            </a:r>
          </a:p>
          <a:p>
            <a:pPr marL="342900" indent="-342900">
              <a:buFont typeface="Arial" panose="020B0604020202020204" pitchFamily="34" charset="0"/>
              <a:buChar char="•"/>
            </a:pPr>
            <a:r>
              <a:rPr lang="en-US" sz="2400" dirty="0"/>
              <a:t>Choose Azure DevOps services if you want the following outcomes:</a:t>
            </a:r>
          </a:p>
          <a:p>
            <a:pPr marL="800100" lvl="1" indent="-342900">
              <a:buFont typeface="Arial" panose="020B0604020202020204" pitchFamily="34" charset="0"/>
              <a:buChar char="•"/>
            </a:pPr>
            <a:r>
              <a:rPr lang="en-US" sz="2400" dirty="0"/>
              <a:t>Quick set-up</a:t>
            </a:r>
          </a:p>
          <a:p>
            <a:pPr marL="800100" lvl="1" indent="-342900">
              <a:buFont typeface="Arial" panose="020B0604020202020204" pitchFamily="34" charset="0"/>
              <a:buChar char="•"/>
            </a:pPr>
            <a:r>
              <a:rPr lang="en-US" sz="2400" dirty="0"/>
              <a:t>Maintenance free operations</a:t>
            </a:r>
          </a:p>
          <a:p>
            <a:pPr marL="800100" lvl="1" indent="-342900">
              <a:buFont typeface="Arial" panose="020B0604020202020204" pitchFamily="34" charset="0"/>
              <a:buChar char="•"/>
            </a:pPr>
            <a:r>
              <a:rPr lang="en-US" sz="2400" dirty="0"/>
              <a:t>Easy collaborations across domains</a:t>
            </a:r>
          </a:p>
          <a:p>
            <a:pPr marL="800100" lvl="1" indent="-342900">
              <a:buFont typeface="Arial" panose="020B0604020202020204" pitchFamily="34" charset="0"/>
              <a:buChar char="•"/>
            </a:pPr>
            <a:r>
              <a:rPr lang="en-US" sz="2400" dirty="0"/>
              <a:t>Elastic scale</a:t>
            </a:r>
          </a:p>
          <a:p>
            <a:pPr marL="800100" lvl="1" indent="-342900">
              <a:buFont typeface="Arial" panose="020B0604020202020204" pitchFamily="34" charset="0"/>
              <a:buChar char="•"/>
            </a:pPr>
            <a:r>
              <a:rPr lang="en-US" sz="2400" dirty="0"/>
              <a:t>Rock-solid Security</a:t>
            </a:r>
          </a:p>
        </p:txBody>
      </p:sp>
    </p:spTree>
    <p:extLst>
      <p:ext uri="{BB962C8B-B14F-4D97-AF65-F5344CB8AC3E}">
        <p14:creationId xmlns:p14="http://schemas.microsoft.com/office/powerpoint/2010/main" val="736341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791A-49BF-75EE-5CE2-D266B2926CC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7CF06DD8-FB7E-053D-17BC-4925C824A636}"/>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84D8ED0-4B4C-FAA4-2654-B44843C34BE6}"/>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707EE4BB-4F78-2315-B72A-F9F0476E7515}"/>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39F23206-A4FB-DB93-87D7-0E509015BBA5}"/>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767C09B7-9EA9-4604-ACF2-6AD5F32089A1}"/>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40215220-16D8-6BC5-3411-D3FC275CABD4}"/>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D31BAF7C-3FA4-E632-714D-C8931334389A}"/>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F845AB82-5EAE-2825-1FB4-0655DD89A178}"/>
              </a:ext>
            </a:extLst>
          </p:cNvPr>
          <p:cNvSpPr txBox="1"/>
          <p:nvPr/>
        </p:nvSpPr>
        <p:spPr>
          <a:xfrm>
            <a:off x="1253551" y="988344"/>
            <a:ext cx="8903171" cy="646331"/>
          </a:xfrm>
          <a:prstGeom prst="rect">
            <a:avLst/>
          </a:prstGeom>
          <a:noFill/>
        </p:spPr>
        <p:txBody>
          <a:bodyPr wrap="square" rtlCol="0">
            <a:spAutoFit/>
          </a:bodyPr>
          <a:lstStyle/>
          <a:p>
            <a:pPr algn="ctr"/>
            <a:r>
              <a:rPr lang="en-US" sz="3600" dirty="0"/>
              <a:t>Azure DevOps Server</a:t>
            </a:r>
          </a:p>
        </p:txBody>
      </p:sp>
      <p:sp>
        <p:nvSpPr>
          <p:cNvPr id="15" name="TextBox 14">
            <a:extLst>
              <a:ext uri="{FF2B5EF4-FFF2-40B4-BE49-F238E27FC236}">
                <a16:creationId xmlns:a16="http://schemas.microsoft.com/office/drawing/2014/main" id="{D0A88D6B-DD4D-AE59-A129-A07976BF2E13}"/>
              </a:ext>
            </a:extLst>
          </p:cNvPr>
          <p:cNvSpPr txBox="1"/>
          <p:nvPr/>
        </p:nvSpPr>
        <p:spPr>
          <a:xfrm>
            <a:off x="1253551" y="2114691"/>
            <a:ext cx="9409471" cy="4401205"/>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Azure DevOps </a:t>
            </a:r>
            <a:r>
              <a:rPr lang="en-US" sz="2400" b="0" i="1" dirty="0">
                <a:solidFill>
                  <a:srgbClr val="161616"/>
                </a:solidFill>
                <a:effectLst/>
                <a:latin typeface="Segoe UI" panose="020B0502040204020203" pitchFamily="34" charset="0"/>
              </a:rPr>
              <a:t>Server</a:t>
            </a:r>
            <a:r>
              <a:rPr lang="en-US" sz="2400" b="0" i="0" dirty="0">
                <a:solidFill>
                  <a:srgbClr val="161616"/>
                </a:solidFill>
                <a:effectLst/>
                <a:latin typeface="Segoe UI" panose="020B0502040204020203" pitchFamily="34" charset="0"/>
              </a:rPr>
              <a:t> supports integration with GitHub Enterprise Server repositories.</a:t>
            </a:r>
          </a:p>
          <a:p>
            <a:endParaRPr lang="en-US" sz="2400" b="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b="0" i="0" dirty="0">
                <a:solidFill>
                  <a:srgbClr val="161616"/>
                </a:solidFill>
                <a:effectLst/>
                <a:latin typeface="Segoe UI" panose="020B0502040204020203" pitchFamily="34" charset="0"/>
              </a:rPr>
              <a:t>When you deploy Azure DevOps Server, you can also configure the following servers or integration points:</a:t>
            </a:r>
          </a:p>
          <a:p>
            <a:pPr lvl="1">
              <a:spcBef>
                <a:spcPts val="1200"/>
              </a:spcBef>
              <a:spcAft>
                <a:spcPts val="1200"/>
              </a:spcAft>
              <a:buFont typeface="Arial" panose="020B0604020202020204" pitchFamily="34" charset="0"/>
              <a:buChar char="•"/>
            </a:pPr>
            <a:r>
              <a:rPr lang="en-US" sz="2400" i="0" dirty="0">
                <a:solidFill>
                  <a:srgbClr val="161616"/>
                </a:solidFill>
                <a:effectLst/>
                <a:latin typeface="Segoe UI" panose="020B0502040204020203" pitchFamily="34" charset="0"/>
              </a:rPr>
              <a:t>Build server </a:t>
            </a:r>
            <a:r>
              <a:rPr lang="en-US" sz="2400" b="0" i="0" dirty="0">
                <a:solidFill>
                  <a:srgbClr val="161616"/>
                </a:solidFill>
                <a:effectLst/>
                <a:latin typeface="Segoe UI" panose="020B0502040204020203" pitchFamily="34" charset="0"/>
              </a:rPr>
              <a:t>supports on-premises and cloud-hosted builds.</a:t>
            </a:r>
          </a:p>
          <a:p>
            <a:pPr lvl="1">
              <a:spcBef>
                <a:spcPts val="1200"/>
              </a:spcBef>
              <a:spcAft>
                <a:spcPts val="1200"/>
              </a:spcAft>
              <a:buFont typeface="Arial" panose="020B0604020202020204" pitchFamily="34" charset="0"/>
              <a:buChar char="•"/>
            </a:pPr>
            <a:r>
              <a:rPr lang="en-US" sz="2400" i="0" dirty="0">
                <a:solidFill>
                  <a:srgbClr val="161616"/>
                </a:solidFill>
                <a:effectLst/>
                <a:latin typeface="Segoe UI" panose="020B0502040204020203" pitchFamily="34" charset="0"/>
              </a:rPr>
              <a:t>SQL Server and SQL Analysis Server </a:t>
            </a:r>
            <a:r>
              <a:rPr lang="en-US" sz="2400" b="0" i="0" dirty="0">
                <a:solidFill>
                  <a:srgbClr val="161616"/>
                </a:solidFill>
                <a:effectLst/>
                <a:latin typeface="Segoe UI" panose="020B0502040204020203" pitchFamily="34" charset="0"/>
              </a:rPr>
              <a:t>support SQL Server Reports and the ability to create Excel pivot charts based on the cube.</a:t>
            </a:r>
          </a:p>
          <a:p>
            <a:br>
              <a:rPr lang="en-US" sz="2400" dirty="0"/>
            </a:br>
            <a:endParaRPr lang="en-US" sz="2400" dirty="0"/>
          </a:p>
        </p:txBody>
      </p:sp>
    </p:spTree>
    <p:extLst>
      <p:ext uri="{BB962C8B-B14F-4D97-AF65-F5344CB8AC3E}">
        <p14:creationId xmlns:p14="http://schemas.microsoft.com/office/powerpoint/2010/main" val="541876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BC6AA-3A67-1863-CA52-E2604D246487}"/>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AB25CEF9-E602-697B-4CCF-ABADED151B5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7FCAB282-ADFE-2114-2E8D-D6A007E67C90}"/>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FD57766-FE40-26EC-59AE-045B43A4F50F}"/>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AFA38F54-2389-3C83-BD37-A183DF7FBD01}"/>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8EA5A4E-CBA1-D21D-046A-3D0B596253D9}"/>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A998297-BF5F-5138-B0BE-399729F38CDF}"/>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4746720B-12B5-456F-C8C7-3ABDCD1E6239}"/>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52177AED-4F53-07CC-C2BC-99940828CAE0}"/>
              </a:ext>
            </a:extLst>
          </p:cNvPr>
          <p:cNvSpPr txBox="1"/>
          <p:nvPr/>
        </p:nvSpPr>
        <p:spPr>
          <a:xfrm>
            <a:off x="1644414" y="2728050"/>
            <a:ext cx="8903171" cy="646331"/>
          </a:xfrm>
          <a:prstGeom prst="rect">
            <a:avLst/>
          </a:prstGeom>
          <a:noFill/>
        </p:spPr>
        <p:txBody>
          <a:bodyPr wrap="square" rtlCol="0">
            <a:spAutoFit/>
          </a:bodyPr>
          <a:lstStyle/>
          <a:p>
            <a:pPr algn="ctr"/>
            <a:r>
              <a:rPr lang="en-US" sz="3600" dirty="0"/>
              <a:t>Overview of Azure DevOps Services</a:t>
            </a:r>
          </a:p>
        </p:txBody>
      </p:sp>
    </p:spTree>
    <p:extLst>
      <p:ext uri="{BB962C8B-B14F-4D97-AF65-F5344CB8AC3E}">
        <p14:creationId xmlns:p14="http://schemas.microsoft.com/office/powerpoint/2010/main" val="3860907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E249-0863-7CA5-A73C-7C7EE72110B8}"/>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5B24140C-9B17-21CC-CE11-E44FF0BED4E9}"/>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4FA25B6-95B4-6BF4-1F53-86838A4FD1BB}"/>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43DEB4F1-D422-FC74-06B1-BEBC30B55C27}"/>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1CB347D6-21B9-3834-9403-F9B19BDF913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81CA6665-1D8E-8BA9-F7FB-E49B9122A762}"/>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0315E28-6ED6-728B-4E27-64861C136DC9}"/>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BFEA55F0-1D98-D7AE-9A42-11430467730F}"/>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pic>
        <p:nvPicPr>
          <p:cNvPr id="1026" name="Picture 2">
            <a:extLst>
              <a:ext uri="{FF2B5EF4-FFF2-40B4-BE49-F238E27FC236}">
                <a16:creationId xmlns:a16="http://schemas.microsoft.com/office/drawing/2014/main" id="{545F64CD-C987-F6F4-DC7D-F15278B866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6541" y="1488119"/>
            <a:ext cx="10061777" cy="4585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402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6A8C-BB0C-EECF-F19F-E5E7C3C8FA25}"/>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39A46A2C-3101-998F-571D-2225BF76C562}"/>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A704897-A3FD-E5FF-5F2E-B1DA5FB3CEF0}"/>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2951A35D-C1E6-DA59-C82D-A3CD3BFEC8FA}"/>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74B943B3-F68F-6E05-17C1-29F82CEA2931}"/>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3DA70CF-2985-245B-6FAD-B598248EAAAB}"/>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1A8ACEA-30BA-7228-A1CB-7D30F6A6F04A}"/>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F89F4258-F73D-D495-FF66-F9691188326D}"/>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BA468864-E6FF-5A46-0B4E-101824D36A68}"/>
              </a:ext>
            </a:extLst>
          </p:cNvPr>
          <p:cNvSpPr txBox="1"/>
          <p:nvPr/>
        </p:nvSpPr>
        <p:spPr>
          <a:xfrm>
            <a:off x="1253551" y="988344"/>
            <a:ext cx="8903171" cy="646331"/>
          </a:xfrm>
          <a:prstGeom prst="rect">
            <a:avLst/>
          </a:prstGeom>
          <a:noFill/>
        </p:spPr>
        <p:txBody>
          <a:bodyPr wrap="square" rtlCol="0">
            <a:spAutoFit/>
          </a:bodyPr>
          <a:lstStyle/>
          <a:p>
            <a:pPr algn="ctr"/>
            <a:r>
              <a:rPr lang="en-US" sz="3600" dirty="0"/>
              <a:t>Dashboards</a:t>
            </a:r>
          </a:p>
        </p:txBody>
      </p:sp>
      <p:sp>
        <p:nvSpPr>
          <p:cNvPr id="15" name="TextBox 14">
            <a:extLst>
              <a:ext uri="{FF2B5EF4-FFF2-40B4-BE49-F238E27FC236}">
                <a16:creationId xmlns:a16="http://schemas.microsoft.com/office/drawing/2014/main" id="{7C699691-56F7-50E1-A497-D852C9800DC7}"/>
              </a:ext>
            </a:extLst>
          </p:cNvPr>
          <p:cNvSpPr txBox="1"/>
          <p:nvPr/>
        </p:nvSpPr>
        <p:spPr>
          <a:xfrm>
            <a:off x="1253551" y="1907185"/>
            <a:ext cx="9409471" cy="4862870"/>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Azure DevOps provides a powerful dashboard interface that allows you to create a personalized view of your project’s data and workflows</a:t>
            </a:r>
          </a:p>
          <a:p>
            <a:pPr marL="342900" indent="-342900">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algn="l"/>
            <a:r>
              <a:rPr lang="en-US" sz="2400" b="0" i="0" dirty="0">
                <a:solidFill>
                  <a:srgbClr val="161616"/>
                </a:solidFill>
                <a:effectLst/>
                <a:latin typeface="Segoe UI" panose="020B0502040204020203" pitchFamily="34" charset="0"/>
              </a:rPr>
              <a:t>Here’s how you can make the most of the Dashboards feature:</a:t>
            </a:r>
          </a:p>
          <a:p>
            <a:pPr lvl="1">
              <a:spcBef>
                <a:spcPts val="1200"/>
              </a:spcBef>
              <a:spcAft>
                <a:spcPts val="1200"/>
              </a:spcAft>
              <a:buFont typeface="Arial" panose="020B0604020202020204" pitchFamily="34" charset="0"/>
              <a:buChar char="•"/>
            </a:pPr>
            <a:r>
              <a:rPr lang="en-US" sz="2400" i="0" dirty="0">
                <a:solidFill>
                  <a:srgbClr val="161616"/>
                </a:solidFill>
                <a:effectLst/>
                <a:latin typeface="Segoe UI" panose="020B0502040204020203" pitchFamily="34" charset="0"/>
              </a:rPr>
              <a:t>Add, configure, and manage dashboards</a:t>
            </a:r>
          </a:p>
          <a:p>
            <a:pPr lvl="1">
              <a:spcBef>
                <a:spcPts val="1200"/>
              </a:spcBef>
              <a:spcAft>
                <a:spcPts val="1200"/>
              </a:spcAft>
              <a:buFont typeface="Arial" panose="020B0604020202020204" pitchFamily="34" charset="0"/>
              <a:buChar char="•"/>
            </a:pPr>
            <a:r>
              <a:rPr lang="en-US" sz="2400" i="0" dirty="0">
                <a:solidFill>
                  <a:srgbClr val="161616"/>
                </a:solidFill>
                <a:effectLst/>
                <a:latin typeface="Segoe UI" panose="020B0502040204020203" pitchFamily="34" charset="0"/>
              </a:rPr>
              <a:t>Configure widgets</a:t>
            </a:r>
          </a:p>
          <a:p>
            <a:pPr lvl="1">
              <a:spcBef>
                <a:spcPts val="1200"/>
              </a:spcBef>
              <a:spcAft>
                <a:spcPts val="1200"/>
              </a:spcAft>
              <a:buFont typeface="Arial" panose="020B0604020202020204" pitchFamily="34" charset="0"/>
              <a:buChar char="•"/>
            </a:pPr>
            <a:r>
              <a:rPr lang="en-US" sz="2400" i="0" dirty="0">
                <a:solidFill>
                  <a:srgbClr val="161616"/>
                </a:solidFill>
                <a:effectLst/>
                <a:latin typeface="Segoe UI" panose="020B0502040204020203" pitchFamily="34" charset="0"/>
              </a:rPr>
              <a:t>Navigate quickly</a:t>
            </a:r>
          </a:p>
          <a:p>
            <a:pPr lvl="1">
              <a:spcBef>
                <a:spcPts val="1200"/>
              </a:spcBef>
              <a:spcAft>
                <a:spcPts val="1200"/>
              </a:spcAft>
              <a:buFont typeface="Arial" panose="020B0604020202020204" pitchFamily="34" charset="0"/>
              <a:buChar char="•"/>
            </a:pPr>
            <a:r>
              <a:rPr lang="en-US" sz="2400" i="0" dirty="0">
                <a:solidFill>
                  <a:srgbClr val="161616"/>
                </a:solidFill>
                <a:effectLst/>
                <a:latin typeface="Segoe UI" panose="020B0502040204020203" pitchFamily="34" charset="0"/>
              </a:rPr>
              <a:t>Use extensibility points</a:t>
            </a:r>
            <a:br>
              <a:rPr lang="en-US" sz="2400" dirty="0"/>
            </a:br>
            <a:endParaRPr lang="en-US" sz="2400" dirty="0"/>
          </a:p>
        </p:txBody>
      </p:sp>
    </p:spTree>
    <p:extLst>
      <p:ext uri="{BB962C8B-B14F-4D97-AF65-F5344CB8AC3E}">
        <p14:creationId xmlns:p14="http://schemas.microsoft.com/office/powerpoint/2010/main" val="3961472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111A-5002-4E7D-9D9A-30F19B209A0C}"/>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81A62FA6-4D0D-DB4F-FBC6-9B685D51281A}"/>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63165C07-A8F3-D22A-5E78-BFFCE27B01A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B5D1528E-18BA-9FCD-5CD4-494850007C84}"/>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395552B0-B3A9-4517-E1EA-05092FC203B3}"/>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43BE1F6-2E4C-E334-7A71-B0F671EA6891}"/>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40C6F00C-F793-DC12-FDE7-7D3D2B2C57E4}"/>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1D3CAD61-2538-8884-6E49-90BA524575E9}"/>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AE596CAB-9DFC-8FF7-0F87-188414B2CA94}"/>
              </a:ext>
            </a:extLst>
          </p:cNvPr>
          <p:cNvSpPr txBox="1"/>
          <p:nvPr/>
        </p:nvSpPr>
        <p:spPr>
          <a:xfrm>
            <a:off x="1120033" y="390053"/>
            <a:ext cx="8903171" cy="646331"/>
          </a:xfrm>
          <a:prstGeom prst="rect">
            <a:avLst/>
          </a:prstGeom>
          <a:noFill/>
        </p:spPr>
        <p:txBody>
          <a:bodyPr wrap="square" rtlCol="0">
            <a:spAutoFit/>
          </a:bodyPr>
          <a:lstStyle/>
          <a:p>
            <a:pPr algn="ctr"/>
            <a:r>
              <a:rPr lang="en-US" sz="3600" dirty="0"/>
              <a:t>Azure Boards</a:t>
            </a:r>
          </a:p>
        </p:txBody>
      </p:sp>
      <p:sp>
        <p:nvSpPr>
          <p:cNvPr id="15" name="TextBox 14">
            <a:extLst>
              <a:ext uri="{FF2B5EF4-FFF2-40B4-BE49-F238E27FC236}">
                <a16:creationId xmlns:a16="http://schemas.microsoft.com/office/drawing/2014/main" id="{302CE6BA-AB00-D3E5-EA23-DE502C81A279}"/>
              </a:ext>
            </a:extLst>
          </p:cNvPr>
          <p:cNvSpPr txBox="1"/>
          <p:nvPr/>
        </p:nvSpPr>
        <p:spPr>
          <a:xfrm>
            <a:off x="1111538" y="1539859"/>
            <a:ext cx="9409471" cy="6001643"/>
          </a:xfrm>
          <a:prstGeom prst="rect">
            <a:avLst/>
          </a:prstGeom>
          <a:noFill/>
        </p:spPr>
        <p:txBody>
          <a:bodyPr wrap="square">
            <a:spAutoFit/>
          </a:bodyPr>
          <a:lstStyle/>
          <a:p>
            <a:pPr marL="342900" indent="-342900" algn="l">
              <a:buFont typeface="Arial" panose="020B0604020202020204" pitchFamily="34" charset="0"/>
              <a:buChar char="•"/>
            </a:pPr>
            <a:r>
              <a:rPr lang="en-US" sz="2400" dirty="0"/>
              <a:t>Azure Boards is a tool within Azure DevOps that helps teams plan, track, and discuss work across the development process. </a:t>
            </a:r>
          </a:p>
          <a:p>
            <a:pPr marL="342900" indent="-342900" algn="l">
              <a:buFont typeface="Arial" panose="020B0604020202020204" pitchFamily="34" charset="0"/>
              <a:buChar char="•"/>
            </a:pPr>
            <a:endParaRPr lang="en-US" sz="240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i="0" dirty="0">
                <a:solidFill>
                  <a:srgbClr val="161616"/>
                </a:solidFill>
                <a:effectLst/>
                <a:latin typeface="Segoe UI" panose="020B0502040204020203" pitchFamily="34" charset="0"/>
              </a:rPr>
              <a:t>Azure Boards provides the following Agile tools designed to streamline planning and tracking across your projects:</a:t>
            </a:r>
          </a:p>
          <a:p>
            <a:pPr marL="342900" indent="-342900" algn="l">
              <a:buFont typeface="Arial" panose="020B0604020202020204" pitchFamily="34" charset="0"/>
              <a:buChar char="•"/>
            </a:pPr>
            <a:endParaRPr lang="en-US" sz="2400" i="0" dirty="0">
              <a:solidFill>
                <a:srgbClr val="161616"/>
              </a:solidFill>
              <a:effectLst/>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Work item management</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Queries and charts</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Backlog Handling</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Sprin</a:t>
            </a:r>
            <a:r>
              <a:rPr lang="en-US" sz="2400" dirty="0">
                <a:solidFill>
                  <a:srgbClr val="161616"/>
                </a:solidFill>
                <a:latin typeface="Segoe UI" panose="020B0502040204020203" pitchFamily="34" charset="0"/>
              </a:rPr>
              <a:t>t Planning</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Task board utilization</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Workflow visualization</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Portfolio management</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Scrum meetings</a:t>
            </a:r>
            <a:endParaRPr lang="en-US" sz="2400" i="0" dirty="0">
              <a:solidFill>
                <a:srgbClr val="161616"/>
              </a:solidFill>
              <a:effectLst/>
              <a:latin typeface="Segoe UI" panose="020B0502040204020203" pitchFamily="34" charset="0"/>
            </a:endParaRPr>
          </a:p>
          <a:p>
            <a:br>
              <a:rPr lang="en-US" sz="2400" b="0" i="0" dirty="0">
                <a:solidFill>
                  <a:srgbClr val="161616"/>
                </a:solidFill>
                <a:effectLst/>
                <a:latin typeface="Segoe UI" panose="020B0502040204020203" pitchFamily="34" charset="0"/>
              </a:rPr>
            </a:br>
            <a:endParaRPr lang="en-US" sz="2400" dirty="0"/>
          </a:p>
        </p:txBody>
      </p:sp>
    </p:spTree>
    <p:extLst>
      <p:ext uri="{BB962C8B-B14F-4D97-AF65-F5344CB8AC3E}">
        <p14:creationId xmlns:p14="http://schemas.microsoft.com/office/powerpoint/2010/main" val="119460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object 3">
            <a:extLst>
              <a:ext uri="{FF2B5EF4-FFF2-40B4-BE49-F238E27FC236}">
                <a16:creationId xmlns:a16="http://schemas.microsoft.com/office/drawing/2014/main" id="{F787A20A-39EE-54FB-B2A2-F1058DC0965C}"/>
              </a:ext>
            </a:extLst>
          </p:cNvPr>
          <p:cNvSpPr/>
          <p:nvPr/>
        </p:nvSpPr>
        <p:spPr>
          <a:xfrm>
            <a:off x="3687065" y="1708779"/>
            <a:ext cx="0" cy="4172585"/>
          </a:xfrm>
          <a:custGeom>
            <a:avLst/>
            <a:gdLst/>
            <a:ahLst/>
            <a:cxnLst/>
            <a:rect l="l" t="t" r="r" b="b"/>
            <a:pathLst>
              <a:path h="4172585">
                <a:moveTo>
                  <a:pt x="0" y="0"/>
                </a:moveTo>
                <a:lnTo>
                  <a:pt x="0" y="4172356"/>
                </a:lnTo>
              </a:path>
            </a:pathLst>
          </a:custGeom>
          <a:ln w="25908">
            <a:solidFill>
              <a:srgbClr val="EF5A28"/>
            </a:solidFill>
          </a:ln>
        </p:spPr>
        <p:txBody>
          <a:bodyPr wrap="square" lIns="0" tIns="0" rIns="0" bIns="0" rtlCol="0"/>
          <a:lstStyle>
            <a:defPPr>
              <a:defRPr kern="0"/>
            </a:defPPr>
          </a:lstStyle>
          <a:p>
            <a:endParaRPr/>
          </a:p>
        </p:txBody>
      </p:sp>
      <p:pic>
        <p:nvPicPr>
          <p:cNvPr id="11" name="object 4">
            <a:extLst>
              <a:ext uri="{FF2B5EF4-FFF2-40B4-BE49-F238E27FC236}">
                <a16:creationId xmlns:a16="http://schemas.microsoft.com/office/drawing/2014/main" id="{3771D94F-EB92-1114-3385-D3AC17AE67BE}"/>
              </a:ext>
            </a:extLst>
          </p:cNvPr>
          <p:cNvPicPr/>
          <p:nvPr/>
        </p:nvPicPr>
        <p:blipFill>
          <a:blip r:embed="rId6" cstate="print"/>
          <a:stretch>
            <a:fillRect/>
          </a:stretch>
        </p:blipFill>
        <p:spPr>
          <a:xfrm>
            <a:off x="379243" y="2962330"/>
            <a:ext cx="2945848" cy="1749414"/>
          </a:xfrm>
          <a:prstGeom prst="rect">
            <a:avLst/>
          </a:prstGeom>
        </p:spPr>
      </p:pic>
      <p:pic>
        <p:nvPicPr>
          <p:cNvPr id="12" name="object 6">
            <a:extLst>
              <a:ext uri="{FF2B5EF4-FFF2-40B4-BE49-F238E27FC236}">
                <a16:creationId xmlns:a16="http://schemas.microsoft.com/office/drawing/2014/main" id="{7FA46973-728A-1570-F2AD-86CE898548FA}"/>
              </a:ext>
            </a:extLst>
          </p:cNvPr>
          <p:cNvPicPr/>
          <p:nvPr/>
        </p:nvPicPr>
        <p:blipFill>
          <a:blip r:embed="rId7" cstate="print"/>
          <a:stretch>
            <a:fillRect/>
          </a:stretch>
        </p:blipFill>
        <p:spPr>
          <a:xfrm>
            <a:off x="4108478" y="1578554"/>
            <a:ext cx="2470346" cy="1735675"/>
          </a:xfrm>
          <a:prstGeom prst="rect">
            <a:avLst/>
          </a:prstGeom>
        </p:spPr>
      </p:pic>
      <p:pic>
        <p:nvPicPr>
          <p:cNvPr id="13" name="object 7">
            <a:extLst>
              <a:ext uri="{FF2B5EF4-FFF2-40B4-BE49-F238E27FC236}">
                <a16:creationId xmlns:a16="http://schemas.microsoft.com/office/drawing/2014/main" id="{E6AAAD0D-99CC-30E6-A8D1-5A21960EC156}"/>
              </a:ext>
            </a:extLst>
          </p:cNvPr>
          <p:cNvPicPr/>
          <p:nvPr/>
        </p:nvPicPr>
        <p:blipFill>
          <a:blip r:embed="rId8" cstate="print"/>
          <a:stretch>
            <a:fillRect/>
          </a:stretch>
        </p:blipFill>
        <p:spPr>
          <a:xfrm>
            <a:off x="7635015" y="4126651"/>
            <a:ext cx="1400493" cy="1772312"/>
          </a:xfrm>
          <a:prstGeom prst="rect">
            <a:avLst/>
          </a:prstGeom>
        </p:spPr>
      </p:pic>
      <p:pic>
        <p:nvPicPr>
          <p:cNvPr id="14" name="object 8">
            <a:extLst>
              <a:ext uri="{FF2B5EF4-FFF2-40B4-BE49-F238E27FC236}">
                <a16:creationId xmlns:a16="http://schemas.microsoft.com/office/drawing/2014/main" id="{4D03647C-2F63-EBE7-93C3-6421CD32E1BE}"/>
              </a:ext>
            </a:extLst>
          </p:cNvPr>
          <p:cNvPicPr/>
          <p:nvPr/>
        </p:nvPicPr>
        <p:blipFill>
          <a:blip r:embed="rId9" cstate="print"/>
          <a:stretch>
            <a:fillRect/>
          </a:stretch>
        </p:blipFill>
        <p:spPr>
          <a:xfrm>
            <a:off x="9567447" y="4144939"/>
            <a:ext cx="1400493" cy="1772312"/>
          </a:xfrm>
          <a:prstGeom prst="rect">
            <a:avLst/>
          </a:prstGeom>
        </p:spPr>
      </p:pic>
      <p:pic>
        <p:nvPicPr>
          <p:cNvPr id="15" name="object 9">
            <a:extLst>
              <a:ext uri="{FF2B5EF4-FFF2-40B4-BE49-F238E27FC236}">
                <a16:creationId xmlns:a16="http://schemas.microsoft.com/office/drawing/2014/main" id="{7BB2AEA7-03D0-F59F-18F7-8444E080C6F1}"/>
              </a:ext>
            </a:extLst>
          </p:cNvPr>
          <p:cNvPicPr/>
          <p:nvPr/>
        </p:nvPicPr>
        <p:blipFill>
          <a:blip r:embed="rId10" cstate="print"/>
          <a:stretch>
            <a:fillRect/>
          </a:stretch>
        </p:blipFill>
        <p:spPr>
          <a:xfrm>
            <a:off x="9325127" y="1662351"/>
            <a:ext cx="1949144" cy="1763153"/>
          </a:xfrm>
          <a:prstGeom prst="rect">
            <a:avLst/>
          </a:prstGeom>
        </p:spPr>
      </p:pic>
      <p:sp>
        <p:nvSpPr>
          <p:cNvPr id="16" name="object 10">
            <a:extLst>
              <a:ext uri="{FF2B5EF4-FFF2-40B4-BE49-F238E27FC236}">
                <a16:creationId xmlns:a16="http://schemas.microsoft.com/office/drawing/2014/main" id="{CDC0B90E-082E-64F5-41E7-FE19E73923FC}"/>
              </a:ext>
            </a:extLst>
          </p:cNvPr>
          <p:cNvSpPr txBox="1"/>
          <p:nvPr/>
        </p:nvSpPr>
        <p:spPr>
          <a:xfrm>
            <a:off x="4665980" y="3561583"/>
            <a:ext cx="1323340"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dirty="0">
                <a:solidFill>
                  <a:srgbClr val="404040"/>
                </a:solidFill>
                <a:latin typeface="Verdana"/>
                <a:cs typeface="Verdana"/>
              </a:rPr>
              <a:t>Work</a:t>
            </a:r>
            <a:r>
              <a:rPr sz="1800" spc="-120" dirty="0">
                <a:solidFill>
                  <a:srgbClr val="404040"/>
                </a:solidFill>
                <a:latin typeface="Verdana"/>
                <a:cs typeface="Verdana"/>
              </a:rPr>
              <a:t> </a:t>
            </a:r>
            <a:r>
              <a:rPr sz="1800" spc="-40" dirty="0">
                <a:solidFill>
                  <a:srgbClr val="404040"/>
                </a:solidFill>
                <a:latin typeface="Verdana"/>
                <a:cs typeface="Verdana"/>
              </a:rPr>
              <a:t>Items</a:t>
            </a:r>
            <a:endParaRPr sz="1800">
              <a:latin typeface="Verdana"/>
              <a:cs typeface="Verdana"/>
            </a:endParaRPr>
          </a:p>
        </p:txBody>
      </p:sp>
      <p:sp>
        <p:nvSpPr>
          <p:cNvPr id="17" name="object 11">
            <a:extLst>
              <a:ext uri="{FF2B5EF4-FFF2-40B4-BE49-F238E27FC236}">
                <a16:creationId xmlns:a16="http://schemas.microsoft.com/office/drawing/2014/main" id="{E77307DC-49D3-382B-97B5-EE5E1D79EE8A}"/>
              </a:ext>
            </a:extLst>
          </p:cNvPr>
          <p:cNvSpPr txBox="1"/>
          <p:nvPr/>
        </p:nvSpPr>
        <p:spPr>
          <a:xfrm>
            <a:off x="7867397" y="5982329"/>
            <a:ext cx="94551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solidFill>
                  <a:srgbClr val="404040"/>
                </a:solidFill>
                <a:latin typeface="Verdana"/>
                <a:cs typeface="Verdana"/>
              </a:rPr>
              <a:t>Backlog</a:t>
            </a:r>
            <a:endParaRPr sz="1800">
              <a:latin typeface="Verdana"/>
              <a:cs typeface="Verdana"/>
            </a:endParaRPr>
          </a:p>
        </p:txBody>
      </p:sp>
      <p:sp>
        <p:nvSpPr>
          <p:cNvPr id="18" name="object 12">
            <a:extLst>
              <a:ext uri="{FF2B5EF4-FFF2-40B4-BE49-F238E27FC236}">
                <a16:creationId xmlns:a16="http://schemas.microsoft.com/office/drawing/2014/main" id="{67627E74-E42B-D843-26ED-F907DFD339C3}"/>
              </a:ext>
            </a:extLst>
          </p:cNvPr>
          <p:cNvSpPr txBox="1"/>
          <p:nvPr/>
        </p:nvSpPr>
        <p:spPr>
          <a:xfrm>
            <a:off x="9939655" y="6000617"/>
            <a:ext cx="71183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solidFill>
                  <a:srgbClr val="404040"/>
                </a:solidFill>
                <a:latin typeface="Verdana"/>
                <a:cs typeface="Verdana"/>
              </a:rPr>
              <a:t>Sprint</a:t>
            </a:r>
            <a:endParaRPr sz="1800">
              <a:latin typeface="Verdana"/>
              <a:cs typeface="Verdana"/>
            </a:endParaRPr>
          </a:p>
        </p:txBody>
      </p:sp>
      <p:sp>
        <p:nvSpPr>
          <p:cNvPr id="19" name="object 13">
            <a:extLst>
              <a:ext uri="{FF2B5EF4-FFF2-40B4-BE49-F238E27FC236}">
                <a16:creationId xmlns:a16="http://schemas.microsoft.com/office/drawing/2014/main" id="{EC61321B-A98E-4CC5-0181-AC4990838190}"/>
              </a:ext>
            </a:extLst>
          </p:cNvPr>
          <p:cNvSpPr txBox="1"/>
          <p:nvPr/>
        </p:nvSpPr>
        <p:spPr>
          <a:xfrm>
            <a:off x="9743440" y="3454902"/>
            <a:ext cx="1004569"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solidFill>
                  <a:srgbClr val="404040"/>
                </a:solidFill>
                <a:latin typeface="Verdana"/>
                <a:cs typeface="Verdana"/>
              </a:rPr>
              <a:t>Planning</a:t>
            </a:r>
            <a:endParaRPr sz="1800">
              <a:latin typeface="Verdana"/>
              <a:cs typeface="Verdana"/>
            </a:endParaRPr>
          </a:p>
        </p:txBody>
      </p:sp>
      <p:pic>
        <p:nvPicPr>
          <p:cNvPr id="20" name="object 14">
            <a:extLst>
              <a:ext uri="{FF2B5EF4-FFF2-40B4-BE49-F238E27FC236}">
                <a16:creationId xmlns:a16="http://schemas.microsoft.com/office/drawing/2014/main" id="{D33568D0-3FDD-B4E1-750B-7DE90B99CD5E}"/>
              </a:ext>
            </a:extLst>
          </p:cNvPr>
          <p:cNvPicPr/>
          <p:nvPr/>
        </p:nvPicPr>
        <p:blipFill>
          <a:blip r:embed="rId11" cstate="print"/>
          <a:stretch>
            <a:fillRect/>
          </a:stretch>
        </p:blipFill>
        <p:spPr>
          <a:xfrm>
            <a:off x="7115356" y="1662351"/>
            <a:ext cx="1763153" cy="1763153"/>
          </a:xfrm>
          <a:prstGeom prst="rect">
            <a:avLst/>
          </a:prstGeom>
        </p:spPr>
      </p:pic>
      <p:sp>
        <p:nvSpPr>
          <p:cNvPr id="21" name="object 15">
            <a:extLst>
              <a:ext uri="{FF2B5EF4-FFF2-40B4-BE49-F238E27FC236}">
                <a16:creationId xmlns:a16="http://schemas.microsoft.com/office/drawing/2014/main" id="{3A451EEF-87D9-681D-BB73-FF15B76FC95C}"/>
              </a:ext>
            </a:extLst>
          </p:cNvPr>
          <p:cNvSpPr txBox="1"/>
          <p:nvPr/>
        </p:nvSpPr>
        <p:spPr>
          <a:xfrm>
            <a:off x="7012940" y="3491478"/>
            <a:ext cx="132143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25" dirty="0">
                <a:solidFill>
                  <a:srgbClr val="404040"/>
                </a:solidFill>
                <a:latin typeface="Verdana"/>
                <a:cs typeface="Verdana"/>
              </a:rPr>
              <a:t>Traceability</a:t>
            </a:r>
            <a:endParaRPr sz="1800">
              <a:latin typeface="Verdana"/>
              <a:cs typeface="Verdana"/>
            </a:endParaRPr>
          </a:p>
        </p:txBody>
      </p:sp>
      <p:pic>
        <p:nvPicPr>
          <p:cNvPr id="22" name="object 16">
            <a:extLst>
              <a:ext uri="{FF2B5EF4-FFF2-40B4-BE49-F238E27FC236}">
                <a16:creationId xmlns:a16="http://schemas.microsoft.com/office/drawing/2014/main" id="{45BB078F-32C7-6CDD-E27E-7E6201D25554}"/>
              </a:ext>
            </a:extLst>
          </p:cNvPr>
          <p:cNvPicPr/>
          <p:nvPr/>
        </p:nvPicPr>
        <p:blipFill>
          <a:blip r:embed="rId12" cstate="print"/>
          <a:stretch>
            <a:fillRect/>
          </a:stretch>
        </p:blipFill>
        <p:spPr>
          <a:xfrm>
            <a:off x="4518458" y="4204383"/>
            <a:ext cx="1818021" cy="1763153"/>
          </a:xfrm>
          <a:prstGeom prst="rect">
            <a:avLst/>
          </a:prstGeom>
        </p:spPr>
      </p:pic>
      <p:sp>
        <p:nvSpPr>
          <p:cNvPr id="23" name="object 17">
            <a:extLst>
              <a:ext uri="{FF2B5EF4-FFF2-40B4-BE49-F238E27FC236}">
                <a16:creationId xmlns:a16="http://schemas.microsoft.com/office/drawing/2014/main" id="{760F34A6-A441-F1D1-6EEA-C781326A7084}"/>
              </a:ext>
            </a:extLst>
          </p:cNvPr>
          <p:cNvSpPr txBox="1"/>
          <p:nvPr/>
        </p:nvSpPr>
        <p:spPr>
          <a:xfrm>
            <a:off x="5032122" y="6000617"/>
            <a:ext cx="887094"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10" dirty="0">
                <a:solidFill>
                  <a:srgbClr val="404040"/>
                </a:solidFill>
                <a:latin typeface="Verdana"/>
                <a:cs typeface="Verdana"/>
              </a:rPr>
              <a:t>Kanban</a:t>
            </a:r>
            <a:endParaRPr sz="1800">
              <a:latin typeface="Verdana"/>
              <a:cs typeface="Verdana"/>
            </a:endParaRPr>
          </a:p>
        </p:txBody>
      </p:sp>
      <p:sp>
        <p:nvSpPr>
          <p:cNvPr id="39" name="object 5">
            <a:extLst>
              <a:ext uri="{FF2B5EF4-FFF2-40B4-BE49-F238E27FC236}">
                <a16:creationId xmlns:a16="http://schemas.microsoft.com/office/drawing/2014/main" id="{6868FB0F-7F2E-0A72-132F-9D4FBA7FA5E4}"/>
              </a:ext>
            </a:extLst>
          </p:cNvPr>
          <p:cNvSpPr txBox="1">
            <a:spLocks noGrp="1"/>
          </p:cNvSpPr>
          <p:nvPr/>
        </p:nvSpPr>
        <p:spPr>
          <a:xfrm>
            <a:off x="1739269" y="118009"/>
            <a:ext cx="9055735" cy="1080007"/>
          </a:xfrm>
          <a:prstGeom prst="rect">
            <a:avLst/>
          </a:prstGeom>
        </p:spPr>
        <p:txBody>
          <a:bodyPr vert="horz" wrap="square" lIns="0" tIns="518667" rIns="0" bIns="0" rtlCol="0">
            <a:spAutoFit/>
          </a:bodyPr>
          <a:lstStyle>
            <a:lvl1pPr>
              <a:defRPr sz="3600" b="0" i="0">
                <a:solidFill>
                  <a:srgbClr val="404040"/>
                </a:solidFill>
                <a:latin typeface="Verdana"/>
                <a:ea typeface="+mj-ea"/>
                <a:cs typeface="Verdana"/>
              </a:defRPr>
            </a:lvl1pPr>
          </a:lstStyle>
          <a:p>
            <a:pPr marL="3746500">
              <a:lnSpc>
                <a:spcPct val="100000"/>
              </a:lnSpc>
              <a:spcBef>
                <a:spcPts val="100"/>
              </a:spcBef>
            </a:pPr>
            <a:r>
              <a:rPr spc="-10" dirty="0"/>
              <a:t>Boards</a:t>
            </a:r>
          </a:p>
        </p:txBody>
      </p:sp>
    </p:spTree>
    <p:extLst>
      <p:ext uri="{BB962C8B-B14F-4D97-AF65-F5344CB8AC3E}">
        <p14:creationId xmlns:p14="http://schemas.microsoft.com/office/powerpoint/2010/main" val="2014730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6F89-86F2-BE59-101D-E5B6E7E62F0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12F2CC2C-A6E8-CD1D-2031-0107E5D3C90A}"/>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7F0C3E98-8989-A76A-D8E3-8AF9FDEDF83C}"/>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83559958-05BA-A6E7-E19F-BDB4C030CFD3}"/>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C409067-FB4C-7A6A-BE46-D90A87DD264A}"/>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8F62A2D0-5557-0E95-33A5-070EBC691989}"/>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C32C06E8-8140-8030-AF85-9BC2B58C81F0}"/>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19C61659-DB19-8117-BA28-22A1FB89C908}"/>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D5EDA5B5-CC7C-7CC3-3B86-FD8E38852249}"/>
              </a:ext>
            </a:extLst>
          </p:cNvPr>
          <p:cNvSpPr txBox="1"/>
          <p:nvPr/>
        </p:nvSpPr>
        <p:spPr>
          <a:xfrm>
            <a:off x="1120033" y="390053"/>
            <a:ext cx="8903171" cy="646331"/>
          </a:xfrm>
          <a:prstGeom prst="rect">
            <a:avLst/>
          </a:prstGeom>
          <a:noFill/>
        </p:spPr>
        <p:txBody>
          <a:bodyPr wrap="square" rtlCol="0">
            <a:spAutoFit/>
          </a:bodyPr>
          <a:lstStyle/>
          <a:p>
            <a:pPr algn="ctr"/>
            <a:r>
              <a:rPr lang="en-US" sz="3600" dirty="0"/>
              <a:t>Azure Repos</a:t>
            </a:r>
          </a:p>
        </p:txBody>
      </p:sp>
      <p:sp>
        <p:nvSpPr>
          <p:cNvPr id="15" name="TextBox 14">
            <a:extLst>
              <a:ext uri="{FF2B5EF4-FFF2-40B4-BE49-F238E27FC236}">
                <a16:creationId xmlns:a16="http://schemas.microsoft.com/office/drawing/2014/main" id="{88E1D39D-0290-96EB-CB10-1454F9922FA6}"/>
              </a:ext>
            </a:extLst>
          </p:cNvPr>
          <p:cNvSpPr txBox="1"/>
          <p:nvPr/>
        </p:nvSpPr>
        <p:spPr>
          <a:xfrm>
            <a:off x="1021928" y="2198827"/>
            <a:ext cx="9409471" cy="3416320"/>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rgbClr val="161616"/>
                </a:solidFill>
                <a:effectLst/>
                <a:latin typeface="Segoe UI" panose="020B0502040204020203" pitchFamily="34" charset="0"/>
              </a:rPr>
              <a:t>Source or version control systems are pivotal in enabling developers to collaborate seamlessly on codebases and maintain a comprehensive history of changes.</a:t>
            </a:r>
          </a:p>
          <a:p>
            <a:pPr marL="342900" indent="-342900" algn="l">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b="0" i="0" dirty="0">
                <a:solidFill>
                  <a:srgbClr val="161616"/>
                </a:solidFill>
                <a:effectLst/>
                <a:latin typeface="Segoe UI" panose="020B0502040204020203" pitchFamily="34" charset="0"/>
              </a:rPr>
              <a:t> These systems are indispensable for projects involving multiple developers, ensuring consistency and coordination throughout the development process.</a:t>
            </a:r>
          </a:p>
          <a:p>
            <a:br>
              <a:rPr lang="en-US" sz="2400" b="0" i="0" dirty="0">
                <a:solidFill>
                  <a:srgbClr val="161616"/>
                </a:solidFill>
                <a:effectLst/>
                <a:latin typeface="Segoe UI" panose="020B0502040204020203" pitchFamily="34" charset="0"/>
              </a:rPr>
            </a:br>
            <a:endParaRPr lang="en-US" sz="2400" dirty="0"/>
          </a:p>
        </p:txBody>
      </p:sp>
    </p:spTree>
    <p:extLst>
      <p:ext uri="{BB962C8B-B14F-4D97-AF65-F5344CB8AC3E}">
        <p14:creationId xmlns:p14="http://schemas.microsoft.com/office/powerpoint/2010/main" val="1403851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object 2">
            <a:extLst>
              <a:ext uri="{FF2B5EF4-FFF2-40B4-BE49-F238E27FC236}">
                <a16:creationId xmlns:a16="http://schemas.microsoft.com/office/drawing/2014/main" id="{54B00C5D-0A3A-B1F7-D3FD-776DF1C39171}"/>
              </a:ext>
            </a:extLst>
          </p:cNvPr>
          <p:cNvSpPr/>
          <p:nvPr/>
        </p:nvSpPr>
        <p:spPr>
          <a:xfrm>
            <a:off x="4244795" y="2213791"/>
            <a:ext cx="0" cy="4172585"/>
          </a:xfrm>
          <a:custGeom>
            <a:avLst/>
            <a:gdLst/>
            <a:ahLst/>
            <a:cxnLst/>
            <a:rect l="l" t="t" r="r" b="b"/>
            <a:pathLst>
              <a:path h="4172585">
                <a:moveTo>
                  <a:pt x="0" y="0"/>
                </a:moveTo>
                <a:lnTo>
                  <a:pt x="0" y="4172356"/>
                </a:lnTo>
              </a:path>
            </a:pathLst>
          </a:custGeom>
          <a:ln w="25908">
            <a:solidFill>
              <a:srgbClr val="EF5A28"/>
            </a:solidFill>
          </a:ln>
        </p:spPr>
        <p:txBody>
          <a:bodyPr wrap="square" lIns="0" tIns="0" rIns="0" bIns="0" rtlCol="0"/>
          <a:lstStyle>
            <a:defPPr>
              <a:defRPr kern="0"/>
            </a:defPPr>
          </a:lstStyle>
          <a:p>
            <a:endParaRPr/>
          </a:p>
        </p:txBody>
      </p:sp>
      <p:sp>
        <p:nvSpPr>
          <p:cNvPr id="11" name="object 3">
            <a:extLst>
              <a:ext uri="{FF2B5EF4-FFF2-40B4-BE49-F238E27FC236}">
                <a16:creationId xmlns:a16="http://schemas.microsoft.com/office/drawing/2014/main" id="{5C795407-78B4-6E92-5938-BD6D8041CE4B}"/>
              </a:ext>
            </a:extLst>
          </p:cNvPr>
          <p:cNvSpPr txBox="1"/>
          <p:nvPr/>
        </p:nvSpPr>
        <p:spPr>
          <a:xfrm>
            <a:off x="4645860" y="2439851"/>
            <a:ext cx="2539365" cy="2798445"/>
          </a:xfrm>
          <a:prstGeom prst="rect">
            <a:avLst/>
          </a:prstGeom>
        </p:spPr>
        <p:txBody>
          <a:bodyPr vert="horz" wrap="square" lIns="0" tIns="215265" rIns="0" bIns="0" rtlCol="0">
            <a:spAutoFit/>
          </a:bodyPr>
          <a:lstStyle>
            <a:defPPr>
              <a:defRPr kern="0"/>
            </a:defPPr>
          </a:lstStyle>
          <a:p>
            <a:pPr marL="12700">
              <a:lnSpc>
                <a:spcPct val="100000"/>
              </a:lnSpc>
              <a:spcBef>
                <a:spcPts val="1695"/>
              </a:spcBef>
            </a:pPr>
            <a:r>
              <a:rPr sz="2400" spc="45" dirty="0">
                <a:solidFill>
                  <a:srgbClr val="404040"/>
                </a:solidFill>
                <a:latin typeface="Verdana"/>
                <a:cs typeface="Verdana"/>
              </a:rPr>
              <a:t>TFVC</a:t>
            </a:r>
            <a:endParaRPr sz="2400">
              <a:latin typeface="Verdana"/>
              <a:cs typeface="Verdana"/>
            </a:endParaRPr>
          </a:p>
          <a:p>
            <a:pPr marL="12700">
              <a:lnSpc>
                <a:spcPct val="100000"/>
              </a:lnSpc>
              <a:spcBef>
                <a:spcPts val="1595"/>
              </a:spcBef>
            </a:pPr>
            <a:r>
              <a:rPr sz="2400" spc="-25" dirty="0">
                <a:solidFill>
                  <a:srgbClr val="404040"/>
                </a:solidFill>
                <a:latin typeface="Verdana"/>
                <a:cs typeface="Verdana"/>
              </a:rPr>
              <a:t>Git</a:t>
            </a:r>
            <a:endParaRPr sz="2400">
              <a:latin typeface="Verdana"/>
              <a:cs typeface="Verdana"/>
            </a:endParaRPr>
          </a:p>
          <a:p>
            <a:pPr marL="12700">
              <a:lnSpc>
                <a:spcPct val="100000"/>
              </a:lnSpc>
              <a:spcBef>
                <a:spcPts val="1070"/>
              </a:spcBef>
            </a:pPr>
            <a:r>
              <a:rPr sz="2400" dirty="0">
                <a:solidFill>
                  <a:srgbClr val="404040"/>
                </a:solidFill>
                <a:latin typeface="Verdana"/>
                <a:cs typeface="Verdana"/>
              </a:rPr>
              <a:t>Pull</a:t>
            </a:r>
            <a:r>
              <a:rPr sz="2400" spc="200" dirty="0">
                <a:solidFill>
                  <a:srgbClr val="404040"/>
                </a:solidFill>
                <a:latin typeface="Verdana"/>
                <a:cs typeface="Verdana"/>
              </a:rPr>
              <a:t> </a:t>
            </a:r>
            <a:r>
              <a:rPr sz="2400" spc="-10" dirty="0">
                <a:solidFill>
                  <a:srgbClr val="404040"/>
                </a:solidFill>
                <a:latin typeface="Verdana"/>
                <a:cs typeface="Verdana"/>
              </a:rPr>
              <a:t>requests</a:t>
            </a:r>
            <a:endParaRPr sz="2400">
              <a:latin typeface="Verdana"/>
              <a:cs typeface="Verdana"/>
            </a:endParaRPr>
          </a:p>
          <a:p>
            <a:pPr marL="12700" marR="5080">
              <a:lnSpc>
                <a:spcPts val="4470"/>
              </a:lnSpc>
              <a:spcBef>
                <a:spcPts val="210"/>
              </a:spcBef>
            </a:pPr>
            <a:r>
              <a:rPr sz="2400" dirty="0">
                <a:solidFill>
                  <a:srgbClr val="404040"/>
                </a:solidFill>
                <a:latin typeface="Verdana"/>
                <a:cs typeface="Verdana"/>
              </a:rPr>
              <a:t>Branch</a:t>
            </a:r>
            <a:r>
              <a:rPr sz="2400" spc="-120" dirty="0">
                <a:solidFill>
                  <a:srgbClr val="404040"/>
                </a:solidFill>
                <a:latin typeface="Verdana"/>
                <a:cs typeface="Verdana"/>
              </a:rPr>
              <a:t> </a:t>
            </a:r>
            <a:r>
              <a:rPr sz="2400" spc="-10" dirty="0">
                <a:solidFill>
                  <a:srgbClr val="404040"/>
                </a:solidFill>
                <a:latin typeface="Verdana"/>
                <a:cs typeface="Verdana"/>
              </a:rPr>
              <a:t>policies </a:t>
            </a:r>
            <a:r>
              <a:rPr sz="2400" dirty="0">
                <a:solidFill>
                  <a:srgbClr val="404040"/>
                </a:solidFill>
                <a:latin typeface="Verdana"/>
                <a:cs typeface="Verdana"/>
              </a:rPr>
              <a:t>Hooks</a:t>
            </a:r>
            <a:r>
              <a:rPr sz="2400" spc="140" dirty="0">
                <a:solidFill>
                  <a:srgbClr val="404040"/>
                </a:solidFill>
                <a:latin typeface="Verdana"/>
                <a:cs typeface="Verdana"/>
              </a:rPr>
              <a:t> </a:t>
            </a:r>
            <a:r>
              <a:rPr sz="2400" dirty="0">
                <a:solidFill>
                  <a:srgbClr val="404040"/>
                </a:solidFill>
                <a:latin typeface="Verdana"/>
                <a:cs typeface="Verdana"/>
              </a:rPr>
              <a:t>for</a:t>
            </a:r>
            <a:r>
              <a:rPr sz="2400" spc="-235" dirty="0">
                <a:solidFill>
                  <a:srgbClr val="404040"/>
                </a:solidFill>
                <a:latin typeface="Verdana"/>
                <a:cs typeface="Verdana"/>
              </a:rPr>
              <a:t> </a:t>
            </a:r>
            <a:r>
              <a:rPr sz="2400" spc="-10" dirty="0">
                <a:solidFill>
                  <a:srgbClr val="404040"/>
                </a:solidFill>
                <a:latin typeface="Verdana"/>
                <a:cs typeface="Verdana"/>
              </a:rPr>
              <a:t>CI/CD</a:t>
            </a:r>
            <a:endParaRPr sz="2400">
              <a:latin typeface="Verdana"/>
              <a:cs typeface="Verdana"/>
            </a:endParaRPr>
          </a:p>
        </p:txBody>
      </p:sp>
      <p:sp>
        <p:nvSpPr>
          <p:cNvPr id="12" name="object 4">
            <a:extLst>
              <a:ext uri="{FF2B5EF4-FFF2-40B4-BE49-F238E27FC236}">
                <a16:creationId xmlns:a16="http://schemas.microsoft.com/office/drawing/2014/main" id="{C64125EE-6778-2286-0FB7-EE4A790CEB6F}"/>
              </a:ext>
            </a:extLst>
          </p:cNvPr>
          <p:cNvSpPr txBox="1">
            <a:spLocks noGrp="1"/>
          </p:cNvSpPr>
          <p:nvPr/>
        </p:nvSpPr>
        <p:spPr>
          <a:xfrm>
            <a:off x="1697555" y="574476"/>
            <a:ext cx="9055735" cy="1080007"/>
          </a:xfrm>
          <a:prstGeom prst="rect">
            <a:avLst/>
          </a:prstGeom>
        </p:spPr>
        <p:txBody>
          <a:bodyPr vert="horz" wrap="square" lIns="0" tIns="518667" rIns="0" bIns="0" rtlCol="0">
            <a:spAutoFit/>
          </a:bodyPr>
          <a:lstStyle>
            <a:lvl1pPr>
              <a:defRPr sz="3600" b="0" i="0">
                <a:solidFill>
                  <a:srgbClr val="404040"/>
                </a:solidFill>
                <a:latin typeface="Verdana"/>
                <a:ea typeface="+mj-ea"/>
                <a:cs typeface="Verdana"/>
              </a:defRPr>
            </a:lvl1pPr>
          </a:lstStyle>
          <a:p>
            <a:pPr marL="3832225">
              <a:lnSpc>
                <a:spcPct val="100000"/>
              </a:lnSpc>
              <a:spcBef>
                <a:spcPts val="100"/>
              </a:spcBef>
            </a:pPr>
            <a:r>
              <a:rPr spc="-10" dirty="0"/>
              <a:t>Repos</a:t>
            </a:r>
          </a:p>
        </p:txBody>
      </p:sp>
      <p:pic>
        <p:nvPicPr>
          <p:cNvPr id="13" name="object 5">
            <a:extLst>
              <a:ext uri="{FF2B5EF4-FFF2-40B4-BE49-F238E27FC236}">
                <a16:creationId xmlns:a16="http://schemas.microsoft.com/office/drawing/2014/main" id="{0D355AE0-510E-522E-F575-6263484CE224}"/>
              </a:ext>
            </a:extLst>
          </p:cNvPr>
          <p:cNvPicPr/>
          <p:nvPr/>
        </p:nvPicPr>
        <p:blipFill>
          <a:blip r:embed="rId6" cstate="print"/>
          <a:stretch>
            <a:fillRect/>
          </a:stretch>
        </p:blipFill>
        <p:spPr>
          <a:xfrm>
            <a:off x="1532860" y="3281379"/>
            <a:ext cx="2246322" cy="2100014"/>
          </a:xfrm>
          <a:prstGeom prst="rect">
            <a:avLst/>
          </a:prstGeom>
        </p:spPr>
      </p:pic>
    </p:spTree>
    <p:extLst>
      <p:ext uri="{BB962C8B-B14F-4D97-AF65-F5344CB8AC3E}">
        <p14:creationId xmlns:p14="http://schemas.microsoft.com/office/powerpoint/2010/main" val="1014372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22E1E-48B9-AEA5-2DD6-1BAF7240B25D}"/>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41C1D97-16FC-4C98-909F-E4552FA9D2B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7B12236-2335-7DCA-96A8-4DDCFFBC7920}"/>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DA317FCD-DBED-29D6-029B-FA97AA9C46B4}"/>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5872E58-85EF-A90E-316C-9EF50D4C5E25}"/>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73D68543-0765-92D6-FB9D-0D504534D5F7}"/>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531AA937-9575-40F4-C7B4-1C492E49606B}"/>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2B946EF4-985B-5203-0437-8C1C23ED4E3E}"/>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31E059E0-854E-094D-6A61-A44EB1A27A01}"/>
              </a:ext>
            </a:extLst>
          </p:cNvPr>
          <p:cNvSpPr txBox="1"/>
          <p:nvPr/>
        </p:nvSpPr>
        <p:spPr>
          <a:xfrm>
            <a:off x="1253551" y="988344"/>
            <a:ext cx="8903171" cy="646331"/>
          </a:xfrm>
          <a:prstGeom prst="rect">
            <a:avLst/>
          </a:prstGeom>
          <a:noFill/>
        </p:spPr>
        <p:txBody>
          <a:bodyPr wrap="square" rtlCol="0">
            <a:spAutoFit/>
          </a:bodyPr>
          <a:lstStyle/>
          <a:p>
            <a:pPr algn="ctr"/>
            <a:r>
              <a:rPr lang="en-US" sz="3600" dirty="0"/>
              <a:t>Git</a:t>
            </a:r>
          </a:p>
        </p:txBody>
      </p:sp>
      <p:sp>
        <p:nvSpPr>
          <p:cNvPr id="15" name="TextBox 14">
            <a:extLst>
              <a:ext uri="{FF2B5EF4-FFF2-40B4-BE49-F238E27FC236}">
                <a16:creationId xmlns:a16="http://schemas.microsoft.com/office/drawing/2014/main" id="{9DFE4E57-666B-7BBA-E506-3EEAD0729D69}"/>
              </a:ext>
            </a:extLst>
          </p:cNvPr>
          <p:cNvSpPr txBox="1"/>
          <p:nvPr/>
        </p:nvSpPr>
        <p:spPr>
          <a:xfrm>
            <a:off x="1253551" y="1907185"/>
            <a:ext cx="9409471" cy="4893647"/>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Git is a version control system where each developer has a local copy of the entire repository, which allows for offline work and easy branching and merging.</a:t>
            </a:r>
          </a:p>
          <a:p>
            <a:endParaRPr lang="en-US" sz="2400" b="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i="0" dirty="0">
                <a:solidFill>
                  <a:srgbClr val="161616"/>
                </a:solidFill>
                <a:effectLst/>
                <a:latin typeface="Segoe UI" panose="020B0502040204020203" pitchFamily="34" charset="0"/>
              </a:rPr>
              <a:t>You can do the following tasks with Azure Repos for Git:</a:t>
            </a:r>
          </a:p>
          <a:p>
            <a:pPr marL="342900" indent="-342900" algn="l">
              <a:buFont typeface="Arial" panose="020B0604020202020204" pitchFamily="34" charset="0"/>
              <a:buChar char="•"/>
            </a:pPr>
            <a:endParaRPr lang="en-US" sz="2400" dirty="0">
              <a:solidFill>
                <a:srgbClr val="161616"/>
              </a:solidFill>
              <a:latin typeface="Segoe UI" panose="020B0502040204020203" pitchFamily="34" charset="0"/>
            </a:endParaRP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Review Files</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Download and edit files</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Manage commits</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Use pull requests</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Use Git tags</a:t>
            </a:r>
            <a:endParaRPr lang="en-US" sz="2400" i="0" dirty="0">
              <a:solidFill>
                <a:srgbClr val="161616"/>
              </a:solidFill>
              <a:effectLst/>
              <a:latin typeface="Segoe UI" panose="020B0502040204020203" pitchFamily="34" charset="0"/>
            </a:endParaRPr>
          </a:p>
          <a:p>
            <a:br>
              <a:rPr lang="en-US" sz="2400" b="0" i="0" dirty="0">
                <a:solidFill>
                  <a:srgbClr val="161616"/>
                </a:solidFill>
                <a:effectLst/>
                <a:latin typeface="Segoe UI" panose="020B0502040204020203" pitchFamily="34" charset="0"/>
              </a:rPr>
            </a:br>
            <a:endParaRPr lang="en-US" sz="2400" dirty="0"/>
          </a:p>
        </p:txBody>
      </p:sp>
    </p:spTree>
    <p:extLst>
      <p:ext uri="{BB962C8B-B14F-4D97-AF65-F5344CB8AC3E}">
        <p14:creationId xmlns:p14="http://schemas.microsoft.com/office/powerpoint/2010/main" val="718944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DCC5D-8237-B18B-C97A-BAE1DF63FAE3}"/>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0237B79-FAA2-11C6-0707-7F886BCDE970}"/>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8E63D3A-E5AD-EB6E-3C27-0306CC2309A3}"/>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A3A81942-D49D-79DA-4D8B-DE53FD5496D3}"/>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8E1E296C-732B-FFE2-F0D0-D08DC7F6D7AB}"/>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39D56540-AC66-1B2C-8350-DCC4B4CE3E6C}"/>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9326040-5B83-1BB8-4036-294E6F345D04}"/>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D380888E-ECA2-431D-8590-85821FA8D99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29F82116-45B5-4E91-0747-4044AF03A0EA}"/>
              </a:ext>
            </a:extLst>
          </p:cNvPr>
          <p:cNvSpPr txBox="1"/>
          <p:nvPr/>
        </p:nvSpPr>
        <p:spPr>
          <a:xfrm>
            <a:off x="1253551" y="988344"/>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Team Foundation Version Control(</a:t>
            </a:r>
            <a:r>
              <a:rPr lang="en-US" sz="3600" dirty="0"/>
              <a:t>TFVC)</a:t>
            </a:r>
          </a:p>
        </p:txBody>
      </p:sp>
      <p:sp>
        <p:nvSpPr>
          <p:cNvPr id="15" name="TextBox 14">
            <a:extLst>
              <a:ext uri="{FF2B5EF4-FFF2-40B4-BE49-F238E27FC236}">
                <a16:creationId xmlns:a16="http://schemas.microsoft.com/office/drawing/2014/main" id="{432C22BE-7ED9-C64B-027B-7244CC4DB779}"/>
              </a:ext>
            </a:extLst>
          </p:cNvPr>
          <p:cNvSpPr txBox="1"/>
          <p:nvPr/>
        </p:nvSpPr>
        <p:spPr>
          <a:xfrm>
            <a:off x="1253551" y="2261053"/>
            <a:ext cx="9409471" cy="3785652"/>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It is a centralized version control system that simplifies code management.</a:t>
            </a:r>
          </a:p>
          <a:p>
            <a:pPr marL="342900" indent="-342900">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dirty="0">
                <a:solidFill>
                  <a:srgbClr val="161616"/>
                </a:solidFill>
                <a:effectLst/>
                <a:latin typeface="Segoe UI" panose="020B0502040204020203" pitchFamily="34" charset="0"/>
              </a:rPr>
              <a:t>TFVC includes the following key features:</a:t>
            </a:r>
          </a:p>
          <a:p>
            <a:pPr marL="342900" indent="-342900" algn="l">
              <a:buFont typeface="Arial" panose="020B0604020202020204" pitchFamily="34" charset="0"/>
              <a:buChar char="•"/>
            </a:pPr>
            <a:endParaRPr lang="en-US" sz="2400" dirty="0">
              <a:solidFill>
                <a:srgbClr val="161616"/>
              </a:solidFill>
              <a:effectLst/>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Single version workflow</a:t>
            </a:r>
          </a:p>
          <a:p>
            <a:pPr marL="800100" lvl="1" indent="-342900">
              <a:buFont typeface="Arial" panose="020B0604020202020204" pitchFamily="34" charset="0"/>
              <a:buChar char="•"/>
            </a:pPr>
            <a:r>
              <a:rPr lang="en-US" sz="2400" dirty="0">
                <a:solidFill>
                  <a:srgbClr val="161616"/>
                </a:solidFill>
                <a:effectLst/>
                <a:latin typeface="Segoe UI" panose="020B0502040204020203" pitchFamily="34" charset="0"/>
              </a:rPr>
              <a:t>Server-side History</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Path based branching</a:t>
            </a:r>
            <a:endParaRPr lang="en-US" sz="2400" dirty="0">
              <a:solidFill>
                <a:srgbClr val="161616"/>
              </a:solidFill>
              <a:effectLst/>
              <a:latin typeface="Segoe UI" panose="020B0502040204020203" pitchFamily="34" charset="0"/>
            </a:endParaRPr>
          </a:p>
          <a:p>
            <a:r>
              <a:rPr lang="en-US" sz="2400" b="0" i="0" dirty="0">
                <a:solidFill>
                  <a:srgbClr val="161616"/>
                </a:solidFill>
                <a:effectLst/>
                <a:latin typeface="Segoe UI" panose="020B0502040204020203" pitchFamily="34" charset="0"/>
              </a:rPr>
              <a:t>	</a:t>
            </a:r>
            <a:br>
              <a:rPr lang="en-US" sz="2400" b="0" i="0" dirty="0">
                <a:solidFill>
                  <a:srgbClr val="161616"/>
                </a:solidFill>
                <a:effectLst/>
                <a:latin typeface="Segoe UI" panose="020B0502040204020203" pitchFamily="34" charset="0"/>
              </a:rPr>
            </a:br>
            <a:endParaRPr lang="en-US" sz="2400" dirty="0"/>
          </a:p>
        </p:txBody>
      </p:sp>
    </p:spTree>
    <p:extLst>
      <p:ext uri="{BB962C8B-B14F-4D97-AF65-F5344CB8AC3E}">
        <p14:creationId xmlns:p14="http://schemas.microsoft.com/office/powerpoint/2010/main" val="334699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BAB1B-4CD3-B03E-3ECF-60F55F23EA79}"/>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DB727DF1-B843-7132-BB4A-8B16F88C3FDB}"/>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3F6F09A2-F86F-9317-1A39-0B438D127786}"/>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79B610C9-DA9A-A5FC-BCF3-B13D0C8439B6}"/>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B477E63A-BF16-8002-E895-152F89D3955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DEB90579-3BBD-05C3-615C-BE9242FB320B}"/>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9A7CBCCF-1BC3-F778-AB75-D82405ED0DEB}"/>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6BCB9364-9504-B069-953B-92010CA61F1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4EC59E9C-3A97-9CB7-BADF-475FC8811FFD}"/>
              </a:ext>
            </a:extLst>
          </p:cNvPr>
          <p:cNvSpPr txBox="1"/>
          <p:nvPr/>
        </p:nvSpPr>
        <p:spPr>
          <a:xfrm>
            <a:off x="1253551" y="988344"/>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Azure Pipelines</a:t>
            </a:r>
            <a:endParaRPr lang="en-US" sz="3600" dirty="0"/>
          </a:p>
        </p:txBody>
      </p:sp>
      <p:sp>
        <p:nvSpPr>
          <p:cNvPr id="15" name="TextBox 14">
            <a:extLst>
              <a:ext uri="{FF2B5EF4-FFF2-40B4-BE49-F238E27FC236}">
                <a16:creationId xmlns:a16="http://schemas.microsoft.com/office/drawing/2014/main" id="{349CA685-A098-2106-6BD5-BF2A00BBFC73}"/>
              </a:ext>
            </a:extLst>
          </p:cNvPr>
          <p:cNvSpPr txBox="1"/>
          <p:nvPr/>
        </p:nvSpPr>
        <p:spPr>
          <a:xfrm>
            <a:off x="1253551" y="2013252"/>
            <a:ext cx="9409471" cy="5632311"/>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rgbClr val="161616"/>
                </a:solidFill>
                <a:effectLst/>
                <a:latin typeface="Segoe UI" panose="020B0502040204020203" pitchFamily="34" charset="0"/>
              </a:rPr>
              <a:t>Azure Pipelines stands at the forefront of this endeavor by automating the build, test, and release processes.</a:t>
            </a:r>
          </a:p>
          <a:p>
            <a:pPr marL="342900" indent="-342900" algn="l">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i="0" dirty="0">
                <a:solidFill>
                  <a:srgbClr val="161616"/>
                </a:solidFill>
                <a:effectLst/>
                <a:latin typeface="Segoe UI" panose="020B0502040204020203" pitchFamily="34" charset="0"/>
              </a:rPr>
              <a:t>Azure Pipelines includes the following features:</a:t>
            </a:r>
          </a:p>
          <a:p>
            <a:pPr marL="800100" lvl="1" indent="-342900">
              <a:buFont typeface="Arial" panose="020B0604020202020204" pitchFamily="34" charset="0"/>
              <a:buChar char="•"/>
            </a:pPr>
            <a:endParaRPr lang="en-US" sz="2400" i="0" dirty="0">
              <a:solidFill>
                <a:srgbClr val="161616"/>
              </a:solidFill>
              <a:effectLst/>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Continuous Integration</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Continuous Delivery</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Build automation</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Release management</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Approval Workflows</a:t>
            </a:r>
          </a:p>
          <a:p>
            <a:pPr marL="800100" lvl="1" indent="-342900">
              <a:buFont typeface="Arial" panose="020B0604020202020204" pitchFamily="34" charset="0"/>
              <a:buChar char="•"/>
            </a:pPr>
            <a:r>
              <a:rPr lang="en-US" sz="2400" i="0" dirty="0">
                <a:solidFill>
                  <a:srgbClr val="161616"/>
                </a:solidFill>
                <a:effectLst/>
                <a:latin typeface="Segoe UI" panose="020B0502040204020203" pitchFamily="34" charset="0"/>
              </a:rPr>
              <a:t>Release Tracking</a:t>
            </a:r>
          </a:p>
          <a:p>
            <a:br>
              <a:rPr lang="en-US" sz="2400" b="0" i="0" dirty="0">
                <a:solidFill>
                  <a:srgbClr val="161616"/>
                </a:solidFill>
                <a:effectLst/>
                <a:latin typeface="Segoe UI" panose="020B0502040204020203" pitchFamily="34" charset="0"/>
              </a:rPr>
            </a:br>
            <a:endParaRPr lang="en-US" sz="2400" b="0" i="0" dirty="0">
              <a:solidFill>
                <a:srgbClr val="161616"/>
              </a:solidFill>
              <a:effectLst/>
              <a:latin typeface="Segoe UI" panose="020B0502040204020203" pitchFamily="34" charset="0"/>
            </a:endParaRPr>
          </a:p>
          <a:p>
            <a:br>
              <a:rPr lang="en-US" sz="2400" b="0" i="0" dirty="0">
                <a:solidFill>
                  <a:srgbClr val="161616"/>
                </a:solidFill>
                <a:effectLst/>
                <a:latin typeface="Segoe UI" panose="020B0502040204020203" pitchFamily="34" charset="0"/>
              </a:rPr>
            </a:br>
            <a:endParaRPr lang="en-US" sz="2400" dirty="0"/>
          </a:p>
        </p:txBody>
      </p:sp>
    </p:spTree>
    <p:extLst>
      <p:ext uri="{BB962C8B-B14F-4D97-AF65-F5344CB8AC3E}">
        <p14:creationId xmlns:p14="http://schemas.microsoft.com/office/powerpoint/2010/main" val="1267740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77A84-D7C9-CD66-307A-C4EA0C0052BD}"/>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15A65B84-42CD-81CE-3D8C-CEBD786956EE}"/>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B56FC83E-8CE5-E89E-6277-5FF165F916E2}"/>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4721F85C-C7D9-47DD-26A7-1B1F73A75ED5}"/>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691AED04-B1E9-7CFB-AB4E-A9C27580E502}"/>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9CD52768-7747-C48F-612B-4771F42B4A44}"/>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B619715C-FBDB-7EF5-88B3-9CFE5805F918}"/>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D0025D77-59AC-7F0B-E7FD-1C7326DC5662}"/>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F4C9B885-A4C9-5121-1B74-26F34E680B69}"/>
              </a:ext>
            </a:extLst>
          </p:cNvPr>
          <p:cNvSpPr txBox="1"/>
          <p:nvPr/>
        </p:nvSpPr>
        <p:spPr>
          <a:xfrm>
            <a:off x="1368207" y="461482"/>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Azure Test Plans</a:t>
            </a:r>
            <a:endParaRPr lang="en-US" sz="3600" dirty="0"/>
          </a:p>
        </p:txBody>
      </p:sp>
      <p:sp>
        <p:nvSpPr>
          <p:cNvPr id="15" name="TextBox 14">
            <a:extLst>
              <a:ext uri="{FF2B5EF4-FFF2-40B4-BE49-F238E27FC236}">
                <a16:creationId xmlns:a16="http://schemas.microsoft.com/office/drawing/2014/main" id="{566E164D-E858-09DD-8D39-733175177BF4}"/>
              </a:ext>
            </a:extLst>
          </p:cNvPr>
          <p:cNvSpPr txBox="1"/>
          <p:nvPr/>
        </p:nvSpPr>
        <p:spPr>
          <a:xfrm>
            <a:off x="1214936" y="1142623"/>
            <a:ext cx="9409471" cy="6370975"/>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rgbClr val="161616"/>
                </a:solidFill>
                <a:effectLst/>
                <a:latin typeface="Segoe UI" panose="020B0502040204020203" pitchFamily="34" charset="0"/>
              </a:rPr>
              <a:t>Azure Test Plans is a comprehensive service designed to facilitate the creation, management, and execution of various testing methodologies, including manual, exploratory, and automated tests.</a:t>
            </a:r>
          </a:p>
          <a:p>
            <a:pPr marL="342900" indent="-342900" algn="l">
              <a:buFont typeface="Arial" panose="020B0604020202020204" pitchFamily="34" charset="0"/>
              <a:buChar char="•"/>
            </a:pPr>
            <a:endParaRPr lang="en-US" sz="2400" b="0" i="0" dirty="0">
              <a:solidFill>
                <a:srgbClr val="161616"/>
              </a:solidFill>
              <a:effectLst/>
              <a:latin typeface="Segoe UI" panose="020B0502040204020203" pitchFamily="34" charset="0"/>
            </a:endParaRPr>
          </a:p>
          <a:p>
            <a:pPr marL="342900" indent="-342900" algn="l">
              <a:buFont typeface="Arial" panose="020B0604020202020204" pitchFamily="34" charset="0"/>
              <a:buChar char="•"/>
            </a:pPr>
            <a:r>
              <a:rPr lang="en-US" sz="2400" i="0" dirty="0">
                <a:solidFill>
                  <a:srgbClr val="161616"/>
                </a:solidFill>
                <a:effectLst/>
                <a:latin typeface="Segoe UI" panose="020B0502040204020203" pitchFamily="34" charset="0"/>
              </a:rPr>
              <a:t>Azure Test Plans includes the following key features:</a:t>
            </a:r>
          </a:p>
          <a:p>
            <a:pPr marL="800100" lvl="1"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Workflow customization</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Traceability</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Test selection</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User-friendly interface</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Reuseable elements</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Collaboration</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Cross-platform execution</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Activity monitoring</a:t>
            </a:r>
            <a:br>
              <a:rPr lang="en-US" sz="2400" dirty="0"/>
            </a:br>
            <a:br>
              <a:rPr lang="en-US" sz="2400" b="0" i="0" dirty="0">
                <a:solidFill>
                  <a:srgbClr val="161616"/>
                </a:solidFill>
                <a:effectLst/>
                <a:latin typeface="Segoe UI" panose="020B0502040204020203" pitchFamily="34" charset="0"/>
              </a:rPr>
            </a:br>
            <a:endParaRPr lang="en-US" sz="2400" dirty="0"/>
          </a:p>
        </p:txBody>
      </p:sp>
    </p:spTree>
    <p:extLst>
      <p:ext uri="{BB962C8B-B14F-4D97-AF65-F5344CB8AC3E}">
        <p14:creationId xmlns:p14="http://schemas.microsoft.com/office/powerpoint/2010/main" val="346181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8F07-FC57-3071-E162-17339BC7FDCD}"/>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EF86EF5-9857-30A8-C289-6B55B8AC865B}"/>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944A2AB-1C86-5879-9184-C7C4C42251EC}"/>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46BF7990-09CF-5A67-44B8-77223E65DEB8}"/>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A0F2B514-5B61-4DEA-0D49-E2B5C545039A}"/>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6BB1ED69-18A1-DBCA-2856-D33EBA7E771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0EAB62D3-D6F8-E241-7871-5282A7B00C36}"/>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7982598-397D-A32B-7585-AF6357891ADF}"/>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8ECAF5AC-281E-D014-4D08-6A6D9F1CCEC7}"/>
              </a:ext>
            </a:extLst>
          </p:cNvPr>
          <p:cNvSpPr txBox="1"/>
          <p:nvPr/>
        </p:nvSpPr>
        <p:spPr>
          <a:xfrm>
            <a:off x="1253551" y="988344"/>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Service Hooks</a:t>
            </a:r>
            <a:endParaRPr lang="en-US" sz="3600" dirty="0"/>
          </a:p>
        </p:txBody>
      </p:sp>
      <p:sp>
        <p:nvSpPr>
          <p:cNvPr id="15" name="TextBox 14">
            <a:extLst>
              <a:ext uri="{FF2B5EF4-FFF2-40B4-BE49-F238E27FC236}">
                <a16:creationId xmlns:a16="http://schemas.microsoft.com/office/drawing/2014/main" id="{FDEEEF22-503F-85B8-9905-FD6412EDD794}"/>
              </a:ext>
            </a:extLst>
          </p:cNvPr>
          <p:cNvSpPr txBox="1"/>
          <p:nvPr/>
        </p:nvSpPr>
        <p:spPr>
          <a:xfrm>
            <a:off x="1124516" y="2364291"/>
            <a:ext cx="9409471" cy="3046988"/>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Service hooks in Azure DevOps empower you to automate and streamline interactions with other services, responding swiftly to events within your projects.</a:t>
            </a:r>
          </a:p>
          <a:p>
            <a:pPr marL="342900"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342900" indent="-342900">
              <a:buFont typeface="Arial" panose="020B0604020202020204" pitchFamily="34" charset="0"/>
              <a:buChar char="•"/>
            </a:pPr>
            <a:r>
              <a:rPr lang="en-US" sz="2400" dirty="0">
                <a:solidFill>
                  <a:srgbClr val="161616"/>
                </a:solidFill>
                <a:latin typeface="Segoe UI" panose="020B0502040204020203" pitchFamily="34" charset="0"/>
              </a:rPr>
              <a:t>Utilize Service hooks in the following ways:</a:t>
            </a:r>
          </a:p>
          <a:p>
            <a:pPr marL="342900"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Custom app integration</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Service targets</a:t>
            </a:r>
          </a:p>
        </p:txBody>
      </p:sp>
    </p:spTree>
    <p:extLst>
      <p:ext uri="{BB962C8B-B14F-4D97-AF65-F5344CB8AC3E}">
        <p14:creationId xmlns:p14="http://schemas.microsoft.com/office/powerpoint/2010/main" val="2910620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DEEF9-421E-0A53-6F36-D54E8ADF84E6}"/>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A446950D-3849-7AD8-0C86-59C5FBBAEAD3}"/>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B6B913A9-8685-9392-DF46-F29D3E54D9F6}"/>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DDAC16AA-44AF-DF10-5FD1-2584EE729678}"/>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9DF98D3D-4A5A-4510-2A02-568EFC418032}"/>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41CDEBF2-C758-F2FD-3DAA-8AE840604F2D}"/>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BACE90B-58B2-C602-7728-D515340733A4}"/>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ED5AE50B-C9B2-6984-0AF1-9BA5F9BBF9F6}"/>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394BCAF4-3AF9-63B9-9D87-AD8B54F4273F}"/>
              </a:ext>
            </a:extLst>
          </p:cNvPr>
          <p:cNvSpPr txBox="1"/>
          <p:nvPr/>
        </p:nvSpPr>
        <p:spPr>
          <a:xfrm>
            <a:off x="1253551" y="988344"/>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Azure cloud-hosted services</a:t>
            </a:r>
            <a:endParaRPr lang="en-US" sz="3600" dirty="0"/>
          </a:p>
        </p:txBody>
      </p:sp>
      <p:sp>
        <p:nvSpPr>
          <p:cNvPr id="15" name="TextBox 14">
            <a:extLst>
              <a:ext uri="{FF2B5EF4-FFF2-40B4-BE49-F238E27FC236}">
                <a16:creationId xmlns:a16="http://schemas.microsoft.com/office/drawing/2014/main" id="{E7A11B1A-56A9-E4D0-3871-8F15BF3D4256}"/>
              </a:ext>
            </a:extLst>
          </p:cNvPr>
          <p:cNvSpPr txBox="1"/>
          <p:nvPr/>
        </p:nvSpPr>
        <p:spPr>
          <a:xfrm>
            <a:off x="1124516" y="2442281"/>
            <a:ext cx="9409471" cy="2677656"/>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Azure offers a robust array of cloud-hosted services that are essential for the development and deployment of applications.</a:t>
            </a:r>
          </a:p>
          <a:p>
            <a:pPr marL="342900"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342900" indent="-342900">
              <a:buFont typeface="Arial" panose="020B0604020202020204" pitchFamily="34" charset="0"/>
              <a:buChar char="•"/>
            </a:pPr>
            <a:r>
              <a:rPr lang="en-US" sz="2400" dirty="0">
                <a:solidFill>
                  <a:srgbClr val="161616"/>
                </a:solidFill>
                <a:latin typeface="Segoe UI" panose="020B0502040204020203" pitchFamily="34" charset="0"/>
              </a:rPr>
              <a:t>Key Benefits:</a:t>
            </a:r>
          </a:p>
          <a:p>
            <a:pPr marL="800100" lvl="1"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Comprehensive support</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Integration with Azure DevOps</a:t>
            </a:r>
          </a:p>
        </p:txBody>
      </p:sp>
    </p:spTree>
    <p:extLst>
      <p:ext uri="{BB962C8B-B14F-4D97-AF65-F5344CB8AC3E}">
        <p14:creationId xmlns:p14="http://schemas.microsoft.com/office/powerpoint/2010/main" val="439496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89FB-8A25-13A1-4428-725CE0793750}"/>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66323A7-1E98-3E6A-CBE5-A35389102262}"/>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E023DB1-1800-0FE2-0969-D88C6049EC61}"/>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ED56C9B5-A53B-B537-6FDE-819ED9B6C47C}"/>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A9CE05D-317F-6107-6518-6E77EEB20E64}"/>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E3FBBBF8-38CB-DAAE-F1C1-89DDAAAC8AAC}"/>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30C9AFEA-A792-0D3A-129F-8903CB8233EE}"/>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DE72997-F162-85D7-C704-E2509F73560A}"/>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10318EA5-641A-8739-6EF9-6E207D4DC2EC}"/>
              </a:ext>
            </a:extLst>
          </p:cNvPr>
          <p:cNvSpPr txBox="1"/>
          <p:nvPr/>
        </p:nvSpPr>
        <p:spPr>
          <a:xfrm>
            <a:off x="1253551" y="988344"/>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Administrative Services</a:t>
            </a:r>
          </a:p>
        </p:txBody>
      </p:sp>
      <p:sp>
        <p:nvSpPr>
          <p:cNvPr id="15" name="TextBox 14">
            <a:extLst>
              <a:ext uri="{FF2B5EF4-FFF2-40B4-BE49-F238E27FC236}">
                <a16:creationId xmlns:a16="http://schemas.microsoft.com/office/drawing/2014/main" id="{8178FDBE-36DE-8F53-0DFD-289D7A604A04}"/>
              </a:ext>
            </a:extLst>
          </p:cNvPr>
          <p:cNvSpPr txBox="1"/>
          <p:nvPr/>
        </p:nvSpPr>
        <p:spPr>
          <a:xfrm>
            <a:off x="1124516" y="2442281"/>
            <a:ext cx="9409471" cy="3046988"/>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Managing a collaborative software development environment is streamlined with Azure DevOps, which offers various features and tasks tailored for administration.</a:t>
            </a:r>
          </a:p>
          <a:p>
            <a:pPr marL="342900"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342900" indent="-342900">
              <a:buFont typeface="Arial" panose="020B0604020202020204" pitchFamily="34" charset="0"/>
              <a:buChar char="•"/>
            </a:pPr>
            <a:r>
              <a:rPr lang="en-US" sz="2400" dirty="0">
                <a:solidFill>
                  <a:srgbClr val="161616"/>
                </a:solidFill>
                <a:latin typeface="Segoe UI" panose="020B0502040204020203" pitchFamily="34" charset="0"/>
              </a:rPr>
              <a:t>Accessible administration:</a:t>
            </a:r>
          </a:p>
          <a:p>
            <a:pPr marL="800100" lvl="1" indent="-342900">
              <a:buFont typeface="Arial" panose="020B0604020202020204" pitchFamily="34" charset="0"/>
              <a:buChar char="•"/>
            </a:pPr>
            <a:endParaRPr lang="en-US" sz="2400" dirty="0">
              <a:solidFill>
                <a:srgbClr val="161616"/>
              </a:solidFill>
              <a:latin typeface="Segoe UI" panose="020B0502040204020203" pitchFamily="34" charset="0"/>
            </a:endParaRP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Web-Portal management</a:t>
            </a:r>
          </a:p>
          <a:p>
            <a:pPr marL="800100" lvl="1" indent="-342900">
              <a:buFont typeface="Arial" panose="020B0604020202020204" pitchFamily="34" charset="0"/>
              <a:buChar char="•"/>
            </a:pPr>
            <a:r>
              <a:rPr lang="en-US" sz="2400" dirty="0">
                <a:solidFill>
                  <a:srgbClr val="161616"/>
                </a:solidFill>
                <a:latin typeface="Segoe UI" panose="020B0502040204020203" pitchFamily="34" charset="0"/>
              </a:rPr>
              <a:t>Comprehensive settings</a:t>
            </a:r>
          </a:p>
        </p:txBody>
      </p:sp>
    </p:spTree>
    <p:extLst>
      <p:ext uri="{BB962C8B-B14F-4D97-AF65-F5344CB8AC3E}">
        <p14:creationId xmlns:p14="http://schemas.microsoft.com/office/powerpoint/2010/main" val="830324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8D8DF-50D1-2B53-D683-E136B227534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68FBA8B-90E6-7969-1D07-D60A3C7D99FE}"/>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622CA397-3CE2-354A-E68B-819BCBD07EFD}"/>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A7B9753C-AAF5-0766-45FA-5F95D042F6F1}"/>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25E90A25-1976-FD87-265D-CAED2F8A1F9B}"/>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EAB6206C-8E49-6B49-3887-710670BDB010}"/>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8FE93D0B-E2A1-AC2C-8089-3BC9D4C887B6}"/>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33A3EFD-3062-3506-78D2-20B9A3FE0440}"/>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CD09AA44-5071-5B71-80EC-770AD63BCA6A}"/>
              </a:ext>
            </a:extLst>
          </p:cNvPr>
          <p:cNvSpPr txBox="1"/>
          <p:nvPr/>
        </p:nvSpPr>
        <p:spPr>
          <a:xfrm>
            <a:off x="1253551" y="988344"/>
            <a:ext cx="8903171" cy="646331"/>
          </a:xfrm>
          <a:prstGeom prst="rect">
            <a:avLst/>
          </a:prstGeom>
          <a:noFill/>
        </p:spPr>
        <p:txBody>
          <a:bodyPr wrap="square" rtlCol="0">
            <a:spAutoFit/>
          </a:bodyPr>
          <a:lstStyle/>
          <a:p>
            <a:pPr algn="ctr"/>
            <a:r>
              <a:rPr lang="en-US" sz="3600" b="0" i="0" dirty="0">
                <a:solidFill>
                  <a:srgbClr val="161616"/>
                </a:solidFill>
                <a:effectLst/>
                <a:latin typeface="Segoe UI" panose="020B0502040204020203" pitchFamily="34" charset="0"/>
              </a:rPr>
              <a:t>Azure Artifacts</a:t>
            </a:r>
          </a:p>
        </p:txBody>
      </p:sp>
      <p:sp>
        <p:nvSpPr>
          <p:cNvPr id="15" name="TextBox 14">
            <a:extLst>
              <a:ext uri="{FF2B5EF4-FFF2-40B4-BE49-F238E27FC236}">
                <a16:creationId xmlns:a16="http://schemas.microsoft.com/office/drawing/2014/main" id="{4CAF4372-C7B3-33A7-63D7-711A6F481655}"/>
              </a:ext>
            </a:extLst>
          </p:cNvPr>
          <p:cNvSpPr txBox="1"/>
          <p:nvPr/>
        </p:nvSpPr>
        <p:spPr>
          <a:xfrm>
            <a:off x="1124516" y="3169132"/>
            <a:ext cx="9409471" cy="1200329"/>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61616"/>
                </a:solidFill>
                <a:effectLst/>
                <a:latin typeface="Segoe UI" panose="020B0502040204020203" pitchFamily="34" charset="0"/>
              </a:rPr>
              <a:t>Allows teams to share packages such as Maven, </a:t>
            </a:r>
            <a:r>
              <a:rPr lang="en-US" sz="2400" b="0" i="0" dirty="0" err="1">
                <a:solidFill>
                  <a:srgbClr val="161616"/>
                </a:solidFill>
                <a:effectLst/>
                <a:latin typeface="Segoe UI" panose="020B0502040204020203" pitchFamily="34" charset="0"/>
              </a:rPr>
              <a:t>npm</a:t>
            </a:r>
            <a:r>
              <a:rPr lang="en-US" sz="2400" b="0" i="0" dirty="0">
                <a:solidFill>
                  <a:srgbClr val="161616"/>
                </a:solidFill>
                <a:effectLst/>
                <a:latin typeface="Segoe UI" panose="020B0502040204020203" pitchFamily="34" charset="0"/>
              </a:rPr>
              <a:t>, NuGet, and more from public and private sources and integrate package sharing into your pipelines.</a:t>
            </a:r>
            <a:endParaRPr lang="en-US" sz="2400" dirty="0">
              <a:solidFill>
                <a:srgbClr val="161616"/>
              </a:solidFill>
              <a:latin typeface="Segoe UI" panose="020B0502040204020203" pitchFamily="34" charset="0"/>
            </a:endParaRPr>
          </a:p>
        </p:txBody>
      </p:sp>
    </p:spTree>
    <p:extLst>
      <p:ext uri="{BB962C8B-B14F-4D97-AF65-F5344CB8AC3E}">
        <p14:creationId xmlns:p14="http://schemas.microsoft.com/office/powerpoint/2010/main" val="3579060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object 2">
            <a:extLst>
              <a:ext uri="{FF2B5EF4-FFF2-40B4-BE49-F238E27FC236}">
                <a16:creationId xmlns:a16="http://schemas.microsoft.com/office/drawing/2014/main" id="{C997960D-9305-F275-6220-721770B8BAAF}"/>
              </a:ext>
            </a:extLst>
          </p:cNvPr>
          <p:cNvSpPr/>
          <p:nvPr/>
        </p:nvSpPr>
        <p:spPr>
          <a:xfrm>
            <a:off x="4193145" y="2429001"/>
            <a:ext cx="0" cy="4172585"/>
          </a:xfrm>
          <a:custGeom>
            <a:avLst/>
            <a:gdLst/>
            <a:ahLst/>
            <a:cxnLst/>
            <a:rect l="l" t="t" r="r" b="b"/>
            <a:pathLst>
              <a:path h="4172585">
                <a:moveTo>
                  <a:pt x="0" y="0"/>
                </a:moveTo>
                <a:lnTo>
                  <a:pt x="0" y="4172356"/>
                </a:lnTo>
              </a:path>
            </a:pathLst>
          </a:custGeom>
          <a:ln w="25908">
            <a:solidFill>
              <a:srgbClr val="EF5A28"/>
            </a:solidFill>
          </a:ln>
        </p:spPr>
        <p:txBody>
          <a:bodyPr wrap="square" lIns="0" tIns="0" rIns="0" bIns="0" rtlCol="0"/>
          <a:lstStyle>
            <a:defPPr>
              <a:defRPr kern="0"/>
            </a:defPPr>
          </a:lstStyle>
          <a:p>
            <a:endParaRPr/>
          </a:p>
        </p:txBody>
      </p:sp>
      <p:sp>
        <p:nvSpPr>
          <p:cNvPr id="11" name="object 3">
            <a:extLst>
              <a:ext uri="{FF2B5EF4-FFF2-40B4-BE49-F238E27FC236}">
                <a16:creationId xmlns:a16="http://schemas.microsoft.com/office/drawing/2014/main" id="{C87C8831-31D6-BF7B-3D69-E1C269B654A5}"/>
              </a:ext>
            </a:extLst>
          </p:cNvPr>
          <p:cNvSpPr txBox="1">
            <a:spLocks noGrp="1"/>
          </p:cNvSpPr>
          <p:nvPr/>
        </p:nvSpPr>
        <p:spPr>
          <a:xfrm>
            <a:off x="4594210" y="2636139"/>
            <a:ext cx="5109845" cy="3432175"/>
          </a:xfrm>
          <a:prstGeom prst="rect">
            <a:avLst/>
          </a:prstGeom>
        </p:spPr>
        <p:txBody>
          <a:bodyPr vert="horz" wrap="square" lIns="0" tIns="12065" rIns="0" bIns="0" rtlCol="0">
            <a:spAutoFit/>
          </a:bodyPr>
          <a:lstStyle>
            <a:lvl1pPr marL="0">
              <a:defRPr sz="2400" b="0" i="0">
                <a:solidFill>
                  <a:srgbClr val="404040"/>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98805" marR="1704339" indent="-586740">
              <a:lnSpc>
                <a:spcPct val="155800"/>
              </a:lnSpc>
              <a:spcBef>
                <a:spcPts val="95"/>
              </a:spcBef>
            </a:pPr>
            <a:r>
              <a:rPr dirty="0"/>
              <a:t>Package</a:t>
            </a:r>
            <a:r>
              <a:rPr spc="15" dirty="0"/>
              <a:t> </a:t>
            </a:r>
            <a:r>
              <a:rPr spc="-10" dirty="0"/>
              <a:t>management </a:t>
            </a:r>
            <a:r>
              <a:rPr spc="-20" dirty="0"/>
              <a:t>NuGet</a:t>
            </a:r>
          </a:p>
          <a:p>
            <a:pPr marL="598805">
              <a:lnSpc>
                <a:spcPct val="100000"/>
              </a:lnSpc>
              <a:spcBef>
                <a:spcPts val="2235"/>
              </a:spcBef>
            </a:pPr>
            <a:r>
              <a:rPr spc="55" dirty="0"/>
              <a:t>NPM</a:t>
            </a:r>
          </a:p>
          <a:p>
            <a:pPr marL="12700">
              <a:lnSpc>
                <a:spcPct val="100000"/>
              </a:lnSpc>
              <a:spcBef>
                <a:spcPts val="1500"/>
              </a:spcBef>
            </a:pPr>
            <a:r>
              <a:rPr dirty="0"/>
              <a:t>Artifact</a:t>
            </a:r>
            <a:r>
              <a:rPr spc="240" dirty="0"/>
              <a:t> </a:t>
            </a:r>
            <a:r>
              <a:rPr spc="-20" dirty="0"/>
              <a:t>repo</a:t>
            </a:r>
          </a:p>
          <a:p>
            <a:pPr marL="12700">
              <a:lnSpc>
                <a:spcPct val="100000"/>
              </a:lnSpc>
              <a:spcBef>
                <a:spcPts val="985"/>
              </a:spcBef>
            </a:pPr>
            <a:r>
              <a:rPr dirty="0"/>
              <a:t>Track</a:t>
            </a:r>
            <a:r>
              <a:rPr spc="-85" dirty="0"/>
              <a:t> </a:t>
            </a:r>
            <a:r>
              <a:rPr dirty="0"/>
              <a:t>usage</a:t>
            </a:r>
            <a:r>
              <a:rPr spc="-60" dirty="0"/>
              <a:t> </a:t>
            </a:r>
            <a:r>
              <a:rPr dirty="0"/>
              <a:t>of</a:t>
            </a:r>
            <a:r>
              <a:rPr spc="105" dirty="0"/>
              <a:t> </a:t>
            </a:r>
            <a:r>
              <a:rPr spc="-10" dirty="0"/>
              <a:t>externalpackages</a:t>
            </a:r>
          </a:p>
          <a:p>
            <a:pPr marL="12700">
              <a:lnSpc>
                <a:spcPct val="100000"/>
              </a:lnSpc>
              <a:spcBef>
                <a:spcPts val="1610"/>
              </a:spcBef>
            </a:pPr>
            <a:r>
              <a:rPr spc="-10" dirty="0"/>
              <a:t>Traceability</a:t>
            </a:r>
          </a:p>
        </p:txBody>
      </p:sp>
      <p:sp>
        <p:nvSpPr>
          <p:cNvPr id="12" name="object 4">
            <a:extLst>
              <a:ext uri="{FF2B5EF4-FFF2-40B4-BE49-F238E27FC236}">
                <a16:creationId xmlns:a16="http://schemas.microsoft.com/office/drawing/2014/main" id="{9C7C77F7-07FC-677C-C4BC-D4E065C057BA}"/>
              </a:ext>
            </a:extLst>
          </p:cNvPr>
          <p:cNvSpPr txBox="1">
            <a:spLocks noGrp="1"/>
          </p:cNvSpPr>
          <p:nvPr/>
        </p:nvSpPr>
        <p:spPr>
          <a:xfrm>
            <a:off x="1645905" y="789686"/>
            <a:ext cx="9055735" cy="1080007"/>
          </a:xfrm>
          <a:prstGeom prst="rect">
            <a:avLst/>
          </a:prstGeom>
        </p:spPr>
        <p:txBody>
          <a:bodyPr vert="horz" wrap="square" lIns="0" tIns="518667" rIns="0" bIns="0" rtlCol="0">
            <a:spAutoFit/>
          </a:bodyPr>
          <a:lstStyle>
            <a:lvl1pPr>
              <a:defRPr sz="3600" b="0" i="0">
                <a:solidFill>
                  <a:srgbClr val="404040"/>
                </a:solidFill>
                <a:latin typeface="Verdana"/>
                <a:ea typeface="+mj-ea"/>
                <a:cs typeface="Verdana"/>
              </a:defRPr>
            </a:lvl1pPr>
          </a:lstStyle>
          <a:p>
            <a:pPr marL="3573145">
              <a:lnSpc>
                <a:spcPct val="100000"/>
              </a:lnSpc>
              <a:spcBef>
                <a:spcPts val="100"/>
              </a:spcBef>
            </a:pPr>
            <a:r>
              <a:rPr spc="-10" dirty="0"/>
              <a:t>Artifacts</a:t>
            </a:r>
          </a:p>
        </p:txBody>
      </p:sp>
      <p:pic>
        <p:nvPicPr>
          <p:cNvPr id="13" name="object 5">
            <a:extLst>
              <a:ext uri="{FF2B5EF4-FFF2-40B4-BE49-F238E27FC236}">
                <a16:creationId xmlns:a16="http://schemas.microsoft.com/office/drawing/2014/main" id="{E1579F0D-8EA2-9501-A64B-A335F6685161}"/>
              </a:ext>
            </a:extLst>
          </p:cNvPr>
          <p:cNvPicPr/>
          <p:nvPr/>
        </p:nvPicPr>
        <p:blipFill>
          <a:blip r:embed="rId6" cstate="print"/>
          <a:stretch>
            <a:fillRect/>
          </a:stretch>
        </p:blipFill>
        <p:spPr>
          <a:xfrm>
            <a:off x="1490360" y="3505772"/>
            <a:ext cx="2232597" cy="2083173"/>
          </a:xfrm>
          <a:prstGeom prst="rect">
            <a:avLst/>
          </a:prstGeom>
        </p:spPr>
      </p:pic>
    </p:spTree>
    <p:extLst>
      <p:ext uri="{BB962C8B-B14F-4D97-AF65-F5344CB8AC3E}">
        <p14:creationId xmlns:p14="http://schemas.microsoft.com/office/powerpoint/2010/main" val="8945456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5291-CC6E-F408-BB4E-3270C352E1A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302AE61A-168F-6A8E-4816-AA59F82268F6}"/>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4AB19571-4BC7-310D-1A80-622291430841}"/>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984D593-56F1-DFAE-6CC3-F7821B2B13F2}"/>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654BC16-5B14-B7FC-31DF-0A9EE1424E9C}"/>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EC1E35E8-B684-0E7D-5666-6F3CB66B1FFA}"/>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812CFFB4-CE2B-168A-9027-ABB046FA3C64}"/>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097B7F3E-24A5-BCEF-AF7F-D58DD12F1B36}"/>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extBox 8">
            <a:extLst>
              <a:ext uri="{FF2B5EF4-FFF2-40B4-BE49-F238E27FC236}">
                <a16:creationId xmlns:a16="http://schemas.microsoft.com/office/drawing/2014/main" id="{E3DF6143-2372-FD4E-7B03-03D5E171BAEC}"/>
              </a:ext>
            </a:extLst>
          </p:cNvPr>
          <p:cNvSpPr txBox="1"/>
          <p:nvPr/>
        </p:nvSpPr>
        <p:spPr>
          <a:xfrm>
            <a:off x="1253551" y="988344"/>
            <a:ext cx="8903171" cy="646331"/>
          </a:xfrm>
          <a:prstGeom prst="rect">
            <a:avLst/>
          </a:prstGeom>
          <a:noFill/>
        </p:spPr>
        <p:txBody>
          <a:bodyPr wrap="square" rtlCol="0">
            <a:spAutoFit/>
          </a:bodyPr>
          <a:lstStyle/>
          <a:p>
            <a:pPr algn="ctr"/>
            <a:r>
              <a:rPr lang="en-US" sz="3600" dirty="0">
                <a:solidFill>
                  <a:srgbClr val="161616"/>
                </a:solidFill>
                <a:latin typeface="Segoe UI" panose="020B0502040204020203" pitchFamily="34" charset="0"/>
              </a:rPr>
              <a:t>Hands-on: Create an Organization</a:t>
            </a:r>
            <a:endParaRPr lang="en-US" sz="3600" b="0" i="0" dirty="0">
              <a:solidFill>
                <a:srgbClr val="161616"/>
              </a:solidFill>
              <a:effectLst/>
              <a:latin typeface="Segoe UI" panose="020B0502040204020203" pitchFamily="34" charset="0"/>
            </a:endParaRPr>
          </a:p>
        </p:txBody>
      </p:sp>
      <p:sp>
        <p:nvSpPr>
          <p:cNvPr id="15" name="TextBox 14">
            <a:extLst>
              <a:ext uri="{FF2B5EF4-FFF2-40B4-BE49-F238E27FC236}">
                <a16:creationId xmlns:a16="http://schemas.microsoft.com/office/drawing/2014/main" id="{75434D40-FE96-049F-E51C-8E3E3C81FE56}"/>
              </a:ext>
            </a:extLst>
          </p:cNvPr>
          <p:cNvSpPr txBox="1"/>
          <p:nvPr/>
        </p:nvSpPr>
        <p:spPr>
          <a:xfrm>
            <a:off x="1021928" y="2418437"/>
            <a:ext cx="9409471" cy="4524315"/>
          </a:xfrm>
          <a:prstGeom prst="rect">
            <a:avLst/>
          </a:prstGeom>
          <a:noFill/>
        </p:spPr>
        <p:txBody>
          <a:bodyPr wrap="square">
            <a:spAutoFit/>
          </a:bodyPr>
          <a:lstStyle/>
          <a:p>
            <a:r>
              <a:rPr lang="en-US" sz="2400" b="0" i="0" dirty="0">
                <a:solidFill>
                  <a:srgbClr val="161616"/>
                </a:solidFill>
                <a:effectLst/>
                <a:latin typeface="Segoe UI" panose="020B0502040204020203" pitchFamily="34" charset="0"/>
              </a:rPr>
              <a:t>Steps:-</a:t>
            </a:r>
          </a:p>
          <a:p>
            <a:endParaRPr lang="en-US" sz="2400" b="0" i="0" dirty="0">
              <a:solidFill>
                <a:srgbClr val="161616"/>
              </a:solidFill>
              <a:effectLst/>
              <a:latin typeface="Segoe UI" panose="020B0502040204020203" pitchFamily="34" charset="0"/>
            </a:endParaRPr>
          </a:p>
          <a:p>
            <a:pPr marL="457200" indent="-457200">
              <a:buFont typeface="+mj-lt"/>
              <a:buAutoNum type="arabicPeriod"/>
            </a:pPr>
            <a:r>
              <a:rPr lang="en-US" sz="2400" dirty="0"/>
              <a:t>Create an organization or project collection</a:t>
            </a:r>
          </a:p>
          <a:p>
            <a:pPr marL="457200" indent="-457200">
              <a:buFont typeface="+mj-lt"/>
              <a:buAutoNum type="arabicPeriod"/>
            </a:pPr>
            <a:r>
              <a:rPr lang="en-US" sz="2400" dirty="0"/>
              <a:t>Manage your project</a:t>
            </a:r>
          </a:p>
          <a:p>
            <a:pPr marL="457200" indent="-457200">
              <a:buFont typeface="+mj-lt"/>
              <a:buAutoNum type="arabicPeriod"/>
            </a:pPr>
            <a:r>
              <a:rPr lang="en-US" sz="2400" dirty="0"/>
              <a:t>Manage your organization or collection</a:t>
            </a:r>
          </a:p>
          <a:p>
            <a:pPr marL="457200" indent="-457200">
              <a:buFont typeface="+mj-lt"/>
              <a:buAutoNum type="arabicPeriod"/>
            </a:pPr>
            <a:r>
              <a:rPr lang="en-US" sz="2400" dirty="0"/>
              <a:t>Add users to a project or team</a:t>
            </a:r>
          </a:p>
          <a:p>
            <a:pPr marL="457200" indent="-457200">
              <a:buFont typeface="+mj-lt"/>
              <a:buAutoNum type="arabicPeriod"/>
            </a:pPr>
            <a:r>
              <a:rPr lang="en-US" sz="2400" dirty="0"/>
              <a:t>Manage teams and configure team tools</a:t>
            </a:r>
          </a:p>
          <a:p>
            <a:pPr marL="457200" indent="-457200">
              <a:buFont typeface="+mj-lt"/>
              <a:buAutoNum type="arabicPeriod"/>
            </a:pPr>
            <a:r>
              <a:rPr lang="en-US" sz="2400" dirty="0"/>
              <a:t>Change individual permissions</a:t>
            </a:r>
          </a:p>
          <a:p>
            <a:pPr marL="457200" indent="-457200">
              <a:buFont typeface="+mj-lt"/>
              <a:buAutoNum type="arabicPeriod"/>
            </a:pPr>
            <a:r>
              <a:rPr lang="en-US" sz="2400" dirty="0"/>
              <a:t>Grant or restrict permissions to select tasks</a:t>
            </a:r>
            <a:br>
              <a:rPr lang="en-US" sz="2400" dirty="0"/>
            </a:br>
            <a:endParaRPr lang="en-US" sz="2400" dirty="0"/>
          </a:p>
          <a:p>
            <a:br>
              <a:rPr lang="en-US" sz="2400" dirty="0"/>
            </a:br>
            <a:endParaRPr lang="en-US" sz="2400" dirty="0">
              <a:solidFill>
                <a:srgbClr val="161616"/>
              </a:solidFill>
              <a:latin typeface="Segoe UI" panose="020B0502040204020203" pitchFamily="34" charset="0"/>
            </a:endParaRPr>
          </a:p>
        </p:txBody>
      </p:sp>
    </p:spTree>
    <p:extLst>
      <p:ext uri="{BB962C8B-B14F-4D97-AF65-F5344CB8AC3E}">
        <p14:creationId xmlns:p14="http://schemas.microsoft.com/office/powerpoint/2010/main" val="2969348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33</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3026</TotalTime>
  <Words>1514</Words>
  <Application>Microsoft Office PowerPoint</Application>
  <PresentationFormat>Widescreen</PresentationFormat>
  <Paragraphs>274</Paragraphs>
  <Slides>33</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Aptos</vt:lpstr>
      <vt:lpstr>Aptos Display</vt:lpstr>
      <vt:lpstr>Arial</vt:lpstr>
      <vt:lpstr>Lato</vt:lpstr>
      <vt:lpstr>Proxima Nova</vt:lpstr>
      <vt:lpstr>Segoe UI</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Nikunj Singhal</dc:creator>
  <cp:lastModifiedBy>Nikunj Singhal</cp:lastModifiedBy>
  <cp:revision>1</cp:revision>
  <dcterms:created xsi:type="dcterms:W3CDTF">2024-11-18T06:43:32Z</dcterms:created>
  <dcterms:modified xsi:type="dcterms:W3CDTF">2024-11-20T09:09:50Z</dcterms:modified>
</cp:coreProperties>
</file>