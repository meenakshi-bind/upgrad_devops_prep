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900" r:id="rId3"/>
    <p:sldId id="901" r:id="rId4"/>
    <p:sldId id="902" r:id="rId5"/>
    <p:sldId id="903" r:id="rId6"/>
    <p:sldId id="904" r:id="rId7"/>
    <p:sldId id="905" r:id="rId8"/>
    <p:sldId id="906" r:id="rId9"/>
    <p:sldId id="907" r:id="rId10"/>
    <p:sldId id="50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53466D-889C-4630-8870-9D2225C7A557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D7CED4-A85B-413C-8D2D-0DDD65B526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470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EDD07-920F-AB90-27C6-276DB610ED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C16D29-8E03-5D37-5D28-15BF534381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083A4-5E51-80E1-4B6B-697A3BF71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2E192-122C-499D-81E8-08DBDCE2109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57D61-D726-DD80-A939-FCBCC2711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D7DD5-A820-5380-0EB0-2975AA1E4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C03DC-24DF-41F2-B782-596ABD35A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930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2A4AE-5E80-EAE4-ADB9-5FED247F2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A87BD-4B64-1DB9-0BA8-8A54759F3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A12FE-A2B3-1A6A-3559-45866782F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2E192-122C-499D-81E8-08DBDCE2109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9E175-1824-7FB4-C88B-3B252B6B5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8ABF0A-55BA-01A4-E892-3E72EC807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C03DC-24DF-41F2-B782-596ABD35A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946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28045-B8DE-5941-AEA1-483CA0A08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CF57A2-B4F9-1C00-B7E8-BE21AEB3E5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687A5-516F-3EB5-1EA5-EC887C0FA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2E192-122C-499D-81E8-08DBDCE2109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6E254-83E4-B62E-ACDC-DD136839E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FF927-DF8D-04A3-24E3-A23E76187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C03DC-24DF-41F2-B782-596ABD35A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573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41FA2-DAA4-3B58-4832-08F14CFDE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B4333-2D15-38FC-2E50-E9162FA75B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17A84D-19C1-DB6D-E4DF-972477974A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6D9263-6A37-D38D-EA4D-808C1430A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2E192-122C-499D-81E8-08DBDCE2109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64FA72-6BE1-C551-9854-BC84A9757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128E92-DE88-6552-B023-4CEFD5DC7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C03DC-24DF-41F2-B782-596ABD35A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048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636CB-B1DA-4464-4E6D-938F3938D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AC313F-3414-CE11-BD93-B5F5740989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B27F35-E2FE-265C-2302-FF167CBC9D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BA13E6-4DE6-9248-FA4B-9102AEF53D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EAA2AF-C03A-69F2-2CDC-BFF322394A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F35DE3-1ED3-C6D0-D193-CC5D07CD5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2E192-122C-499D-81E8-08DBDCE2109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7FD02A-4A9E-2DB6-05B9-AE41087FA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362253-A397-9B8D-985F-D3E2FBDCA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C03DC-24DF-41F2-B782-596ABD35A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74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92C73-619E-1A9A-9FC3-D36F5B298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8C1229-4DCC-2241-B000-6958316C7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2E192-122C-499D-81E8-08DBDCE2109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3CC019-0B2B-D035-8E57-E278772A4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F016C-C382-7503-AF33-21615E1D8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C03DC-24DF-41F2-B782-596ABD35A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097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D175FF-911C-57A4-21F0-B09C6F2CF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2E192-122C-499D-81E8-08DBDCE2109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22C55E-7EF5-83C4-C0C2-F6B01695B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D89E6B-7672-42E5-91AA-36BB52908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C03DC-24DF-41F2-B782-596ABD35A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201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C56A2-98BF-FDA7-6A43-6745E9321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55776-C274-4F6A-F714-1159A6A8F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C3E9E2-A28A-7964-5DB5-9993427245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B430B2-DD75-44BB-B18F-3873AF6BB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2E192-122C-499D-81E8-08DBDCE2109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88B86F-5CAC-6A96-1E0D-5AD3E04DC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93F6B-4C6E-5C19-EE94-F535A8CBC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C03DC-24DF-41F2-B782-596ABD35A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019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69545-4CE7-141F-DCCB-3EF696969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37CEF8-6F41-74E8-A638-A38DF1FB05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10A610-1121-4EA0-8559-7FE250C631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177EFC-B0C6-9603-849E-665FE0796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2E192-122C-499D-81E8-08DBDCE2109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48F208-7007-016B-48CF-CD08D106E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12B7CC-D719-7CB2-0EC0-A4769701A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C03DC-24DF-41F2-B782-596ABD35A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545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84022-8BD7-0302-8067-BAFE97EAA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9CA54E-FE31-9A2C-3ABC-00B988918B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EC84A5-E55A-EB79-9FFA-CFB83C007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2E192-122C-499D-81E8-08DBDCE2109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BDCA4-4A1B-8C00-2561-2CB9CB9FC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ED680-2A22-AADF-DAD0-B166CE1D7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C03DC-24DF-41F2-B782-596ABD35A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524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3BA935-BCA9-8727-ED71-2C704BC2E9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377129-0F62-E0FD-0E01-3B3FC6F858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67658-1088-0509-74BA-A8CC969A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2E192-122C-499D-81E8-08DBDCE2109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C81C8-112E-A70B-0497-DFD28E69B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464C0-137B-A7EF-D66F-33827322D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C03DC-24DF-41F2-B782-596ABD35A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503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6DBC36-42F3-C994-905E-F2C2893B9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708B9B-772C-48F9-735E-0D4627241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2D416-5700-FC71-E774-4CFA89F24B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12E192-122C-499D-81E8-08DBDCE2109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3D0AC-A9B2-DA55-41F7-170E68D648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534D9C-7B11-62D1-AEB7-A2DBB0ABD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C03DC-24DF-41F2-B782-596ABD35A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286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6814A4-BFD7-7A21-DFB9-863B5D439FE5}"/>
              </a:ext>
            </a:extLst>
          </p:cNvPr>
          <p:cNvSpPr/>
          <p:nvPr/>
        </p:nvSpPr>
        <p:spPr>
          <a:xfrm>
            <a:off x="0" y="2692672"/>
            <a:ext cx="12192000" cy="2751349"/>
          </a:xfrm>
          <a:prstGeom prst="rect">
            <a:avLst/>
          </a:prstGeom>
          <a:solidFill>
            <a:srgbClr val="004F9B"/>
          </a:solidFill>
          <a:ln>
            <a:noFill/>
          </a:ln>
          <a:effectLst>
            <a:outerShdw blurRad="508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15" name="Google Shape;615;p34"/>
          <p:cNvSpPr txBox="1"/>
          <p:nvPr/>
        </p:nvSpPr>
        <p:spPr>
          <a:xfrm>
            <a:off x="1162171" y="3429000"/>
            <a:ext cx="9867659" cy="129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4000"/>
            </a:pPr>
            <a:r>
              <a:rPr lang="en-US" sz="48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DevOps On Azure</a:t>
            </a:r>
          </a:p>
        </p:txBody>
      </p:sp>
      <p:sp>
        <p:nvSpPr>
          <p:cNvPr id="617" name="Google Shape;617;p34"/>
          <p:cNvSpPr txBox="1">
            <a:spLocks noGrp="1"/>
          </p:cNvSpPr>
          <p:nvPr>
            <p:ph type="sldNum" idx="4294967295"/>
          </p:nvPr>
        </p:nvSpPr>
        <p:spPr>
          <a:xfrm>
            <a:off x="8682567" y="6356351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Autofit/>
          </a:bodyPr>
          <a:lstStyle/>
          <a:p>
            <a:fld id="{00000000-1234-1234-1234-123412341234}" type="slidenum">
              <a:rPr lang="en-IN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pPr/>
              <a:t>1</a:t>
            </a:fld>
            <a:endParaRPr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18" name="Google Shape;61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6335" y="135650"/>
            <a:ext cx="2058733" cy="2058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43D47F-0850-4C54-ECA1-347E5868710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725" t="37867" r="34750" b="40666"/>
          <a:stretch/>
        </p:blipFill>
        <p:spPr>
          <a:xfrm>
            <a:off x="1042416" y="709650"/>
            <a:ext cx="3504687" cy="10706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17;p53">
            <a:extLst>
              <a:ext uri="{FF2B5EF4-FFF2-40B4-BE49-F238E27FC236}">
                <a16:creationId xmlns:a16="http://schemas.microsoft.com/office/drawing/2014/main" id="{C2548839-3939-0CEE-BB80-F07D21DCA629}"/>
              </a:ext>
            </a:extLst>
          </p:cNvPr>
          <p:cNvSpPr txBox="1"/>
          <p:nvPr/>
        </p:nvSpPr>
        <p:spPr>
          <a:xfrm>
            <a:off x="2159301" y="350569"/>
            <a:ext cx="7271148" cy="11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ysClr val="windowText" lastClr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Hands On: Azure Boards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3AC5F1-D2D0-3683-8871-D5161A849FDF}"/>
              </a:ext>
            </a:extLst>
          </p:cNvPr>
          <p:cNvSpPr txBox="1"/>
          <p:nvPr/>
        </p:nvSpPr>
        <p:spPr>
          <a:xfrm>
            <a:off x="965530" y="1074771"/>
            <a:ext cx="10936417" cy="692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1. Cr</a:t>
            </a:r>
            <a:r>
              <a:rPr lang="en-US" sz="2400" dirty="0">
                <a:solidFill>
                  <a:srgbClr val="161616"/>
                </a:solidFill>
                <a:latin typeface="Segoe UI" panose="020B0502040204020203" pitchFamily="34" charset="0"/>
              </a:rPr>
              <a:t>eate the Project </a:t>
            </a:r>
          </a:p>
          <a:p>
            <a:pPr marL="457200" indent="-457200" algn="l">
              <a:buAutoNum type="alphaLcParenR"/>
            </a:pPr>
            <a:endParaRPr lang="en-US" sz="1600" b="0" i="0" dirty="0">
              <a:solidFill>
                <a:srgbClr val="161616"/>
              </a:solidFill>
              <a:effectLst/>
              <a:latin typeface="Segoe UI" panose="020B0502040204020203" pitchFamily="34" charset="0"/>
            </a:endParaRPr>
          </a:p>
          <a:p>
            <a:pPr marL="457200" indent="-457200" algn="l">
              <a:spcAft>
                <a:spcPts val="1200"/>
              </a:spcAft>
              <a:buFont typeface="+mj-lt"/>
              <a:buAutoNum type="alphaLcParenR"/>
            </a:pPr>
            <a:r>
              <a:rPr lang="en-US" sz="200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Select your organization.</a:t>
            </a:r>
          </a:p>
          <a:p>
            <a:pPr marL="457200" indent="-457200" algn="l">
              <a:spcAft>
                <a:spcPts val="1200"/>
              </a:spcAft>
              <a:buFont typeface="+mj-lt"/>
              <a:buAutoNum type="alphaLcParenR"/>
            </a:pPr>
            <a:r>
              <a:rPr lang="en-US" sz="200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Select + New project. If you don't already have existing projects in your organization, there won't be a + New project button, and you can proceed to step c.</a:t>
            </a:r>
          </a:p>
          <a:p>
            <a:pPr marL="457200" indent="-457200" algn="l">
              <a:spcAft>
                <a:spcPts val="1200"/>
              </a:spcAft>
              <a:buFont typeface="+mj-lt"/>
              <a:buAutoNum type="alphaLcParenR"/>
            </a:pPr>
            <a:r>
              <a:rPr lang="en-US" sz="200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The Create a project dialog box opens.</a:t>
            </a:r>
          </a:p>
          <a:p>
            <a:pPr marL="457200" indent="-457200" algn="l">
              <a:buFont typeface="+mj-lt"/>
              <a:buAutoNum type="alphaLcParenR"/>
            </a:pPr>
            <a:r>
              <a:rPr lang="en-US" sz="200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In the Project name field, enter Space Game - web.</a:t>
            </a:r>
          </a:p>
          <a:p>
            <a:pPr marL="457200" indent="-457200" algn="l">
              <a:buFont typeface="+mj-lt"/>
              <a:buAutoNum type="alphaLcParenR"/>
            </a:pPr>
            <a:endParaRPr lang="en-US" sz="2000" i="0" dirty="0">
              <a:solidFill>
                <a:srgbClr val="161616"/>
              </a:solidFill>
              <a:effectLst/>
              <a:latin typeface="Segoe UI" panose="020B0502040204020203" pitchFamily="34" charset="0"/>
            </a:endParaRPr>
          </a:p>
          <a:p>
            <a:pPr marL="457200" indent="-457200" algn="l">
              <a:spcAft>
                <a:spcPts val="1200"/>
              </a:spcAft>
              <a:buFont typeface="+mj-lt"/>
              <a:buAutoNum type="alphaLcParenR"/>
            </a:pPr>
            <a:r>
              <a:rPr lang="en-US" sz="200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In the Description field, enter The Space Game website.</a:t>
            </a:r>
          </a:p>
          <a:p>
            <a:pPr marL="457200" indent="-457200" algn="l">
              <a:spcAft>
                <a:spcPts val="1200"/>
              </a:spcAft>
              <a:buFont typeface="+mj-lt"/>
              <a:buAutoNum type="alphaLcParenR"/>
            </a:pPr>
            <a:r>
              <a:rPr lang="en-US" sz="200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Under Visibility, choose whether to make your project public or private. For now, you can select private.</a:t>
            </a:r>
          </a:p>
          <a:p>
            <a:pPr marL="457200" indent="-457200" algn="l">
              <a:spcAft>
                <a:spcPts val="1200"/>
              </a:spcAft>
              <a:buFont typeface="+mj-lt"/>
              <a:buAutoNum type="alphaLcParenR"/>
            </a:pPr>
            <a:r>
              <a:rPr lang="en-US" sz="200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Select Advanced.</a:t>
            </a:r>
          </a:p>
          <a:p>
            <a:pPr marL="457200" indent="-457200" algn="l">
              <a:spcAft>
                <a:spcPts val="1200"/>
              </a:spcAft>
              <a:buFont typeface="+mj-lt"/>
              <a:buAutoNum type="alphaLcParenR"/>
            </a:pPr>
            <a:r>
              <a:rPr lang="en-US" sz="200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Under Version control, ensure that Git is selected. Under Work item process, ensure that Basic is selected.</a:t>
            </a:r>
          </a:p>
          <a:p>
            <a:pPr marL="457200" indent="-457200" algn="l">
              <a:spcAft>
                <a:spcPts val="1200"/>
              </a:spcAft>
              <a:buFont typeface="+mj-lt"/>
              <a:buAutoNum type="alphaLcParenR"/>
            </a:pPr>
            <a:r>
              <a:rPr lang="en-US" sz="200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Select Create Project.</a:t>
            </a:r>
          </a:p>
          <a:p>
            <a:br>
              <a:rPr lang="en-US" sz="1600" dirty="0"/>
            </a:br>
            <a:endParaRPr lang="en-US" sz="1600" b="0" i="0" dirty="0">
              <a:solidFill>
                <a:srgbClr val="161616"/>
              </a:solidFill>
              <a:effectLst/>
              <a:latin typeface="Segoe UI" panose="020B0502040204020203" pitchFamily="34" charset="0"/>
            </a:endParaRPr>
          </a:p>
          <a:p>
            <a:br>
              <a:rPr lang="en-US" sz="1600" dirty="0"/>
            </a:br>
            <a:endParaRPr lang="en-US" sz="1600" b="0" i="0" dirty="0">
              <a:solidFill>
                <a:srgbClr val="161616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195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48E52-7515-A080-D5CE-BDA9651AF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1013835C-1369-4D9D-B56A-7263B2154A5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5871BE0F-CA47-5BAF-8266-C7ADC0B7980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D855873-47AB-BD58-A257-AF0C622A6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19C397-7FE0-0B09-3C08-3B624EF2FC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73CF02D-017E-37C8-B6A8-CC7CE9AEA1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762DBF-7A74-F376-D5C4-046728C2660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63208F-3A48-F729-08CA-2C6511BB2BF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17;p53">
            <a:extLst>
              <a:ext uri="{FF2B5EF4-FFF2-40B4-BE49-F238E27FC236}">
                <a16:creationId xmlns:a16="http://schemas.microsoft.com/office/drawing/2014/main" id="{A2B64130-8430-9DD8-B1CF-52A5054D36B7}"/>
              </a:ext>
            </a:extLst>
          </p:cNvPr>
          <p:cNvSpPr txBox="1"/>
          <p:nvPr/>
        </p:nvSpPr>
        <p:spPr>
          <a:xfrm>
            <a:off x="2131551" y="1036384"/>
            <a:ext cx="7271148" cy="11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ysClr val="windowText" lastClr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Hands On: Azure Boards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867515-76F1-8E15-FFEF-20C681F06608}"/>
              </a:ext>
            </a:extLst>
          </p:cNvPr>
          <p:cNvSpPr txBox="1"/>
          <p:nvPr/>
        </p:nvSpPr>
        <p:spPr>
          <a:xfrm>
            <a:off x="921285" y="1791862"/>
            <a:ext cx="10936417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2. Cr</a:t>
            </a:r>
            <a:r>
              <a:rPr lang="en-US" sz="2400" dirty="0">
                <a:solidFill>
                  <a:srgbClr val="161616"/>
                </a:solidFill>
                <a:latin typeface="Segoe UI" panose="020B0502040204020203" pitchFamily="34" charset="0"/>
              </a:rPr>
              <a:t>eate a team</a:t>
            </a:r>
          </a:p>
          <a:p>
            <a:pPr marL="457200" indent="-457200" algn="l">
              <a:buAutoNum type="arabicPeriod"/>
            </a:pPr>
            <a:endParaRPr lang="en-US" sz="2000" b="0" i="0" dirty="0">
              <a:solidFill>
                <a:srgbClr val="161616"/>
              </a:solidFill>
              <a:effectLst/>
              <a:latin typeface="Segoe UI" panose="020B0502040204020203" pitchFamily="34" charset="0"/>
            </a:endParaRPr>
          </a:p>
          <a:p>
            <a:pPr marL="457200" indent="-457200" algn="l">
              <a:spcBef>
                <a:spcPts val="1200"/>
              </a:spcBef>
              <a:spcAft>
                <a:spcPts val="1200"/>
              </a:spcAft>
              <a:buFont typeface="+mj-lt"/>
              <a:buAutoNum type="alphaLcParenR"/>
            </a:pPr>
            <a:r>
              <a:rPr lang="en-US" sz="200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Select Project settings in the lower corner.</a:t>
            </a:r>
          </a:p>
          <a:p>
            <a:pPr marL="457200" indent="-457200" algn="l">
              <a:spcBef>
                <a:spcPts val="1200"/>
              </a:spcBef>
              <a:spcAft>
                <a:spcPts val="1200"/>
              </a:spcAft>
              <a:buFont typeface="+mj-lt"/>
              <a:buAutoNum type="alphaLcParenR"/>
            </a:pPr>
            <a:r>
              <a:rPr lang="en-US" sz="200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On the Project details page, under General, select Teams.</a:t>
            </a:r>
          </a:p>
          <a:p>
            <a:pPr marL="457200" indent="-457200" algn="l">
              <a:spcBef>
                <a:spcPts val="1200"/>
              </a:spcBef>
              <a:spcAft>
                <a:spcPts val="1200"/>
              </a:spcAft>
              <a:buFont typeface="+mj-lt"/>
              <a:buAutoNum type="alphaLcParenR"/>
            </a:pPr>
            <a:r>
              <a:rPr lang="en-US" sz="200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Select Space Game - web Team.</a:t>
            </a:r>
          </a:p>
          <a:p>
            <a:pPr marL="457200" indent="-457200" algn="l">
              <a:spcBef>
                <a:spcPts val="1200"/>
              </a:spcBef>
              <a:spcAft>
                <a:spcPts val="1200"/>
              </a:spcAft>
              <a:buFont typeface="+mj-lt"/>
              <a:buAutoNum type="alphaLcParenR"/>
            </a:pPr>
            <a:r>
              <a:rPr lang="en-US" sz="200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You'll see that you're already a member of this team. Let's add more members.</a:t>
            </a:r>
            <a:br>
              <a:rPr lang="en-US" sz="2000" dirty="0"/>
            </a:br>
            <a:br>
              <a:rPr lang="en-US" sz="2000" dirty="0"/>
            </a:br>
            <a:endParaRPr lang="en-US" sz="2000" b="0" i="0" dirty="0">
              <a:solidFill>
                <a:srgbClr val="161616"/>
              </a:solidFill>
              <a:effectLst/>
              <a:latin typeface="Segoe UI" panose="020B0502040204020203" pitchFamily="34" charset="0"/>
            </a:endParaRPr>
          </a:p>
          <a:p>
            <a:br>
              <a:rPr lang="en-US" sz="2000" dirty="0"/>
            </a:br>
            <a:endParaRPr lang="en-US" sz="2000" b="0" i="0" dirty="0">
              <a:solidFill>
                <a:srgbClr val="161616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4760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10F0F-5560-CA74-CBFB-0A8F95E1F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2FDE7E8D-5C61-5F6B-4E85-D2D39956DD3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AA678681-3C2E-4609-1124-B0D8C7A7885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A2EAF54-B912-A3B5-2F2A-2272D5D69F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1C4DEE-E258-C0FF-E959-A2253EE249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78F3BA1-29E0-7726-F5BD-BBB9047DF3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CF1B0D-710A-2D9C-FF63-63B79B83E2D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D1D109-03DA-62C3-4AE7-3C4C17D45208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17;p53">
            <a:extLst>
              <a:ext uri="{FF2B5EF4-FFF2-40B4-BE49-F238E27FC236}">
                <a16:creationId xmlns:a16="http://schemas.microsoft.com/office/drawing/2014/main" id="{DC157479-01BE-55AF-EFDF-049D9FC95D76}"/>
              </a:ext>
            </a:extLst>
          </p:cNvPr>
          <p:cNvSpPr txBox="1"/>
          <p:nvPr/>
        </p:nvSpPr>
        <p:spPr>
          <a:xfrm>
            <a:off x="2131551" y="1036384"/>
            <a:ext cx="7271148" cy="11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ysClr val="windowText" lastClr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Hands On: Azure Boards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A604B4-8596-59AA-2FDC-9C1CDBD6A47A}"/>
              </a:ext>
            </a:extLst>
          </p:cNvPr>
          <p:cNvSpPr txBox="1"/>
          <p:nvPr/>
        </p:nvSpPr>
        <p:spPr>
          <a:xfrm>
            <a:off x="818171" y="2383090"/>
            <a:ext cx="10936417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>
                <a:solidFill>
                  <a:srgbClr val="161616"/>
                </a:solidFill>
                <a:latin typeface="Segoe UI" panose="020B0502040204020203" pitchFamily="34" charset="0"/>
              </a:rPr>
              <a:t>3</a:t>
            </a:r>
            <a:r>
              <a:rPr lang="en-US" sz="240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. Add team members</a:t>
            </a:r>
            <a:endParaRPr lang="en-US" sz="2400" dirty="0">
              <a:solidFill>
                <a:srgbClr val="161616"/>
              </a:solidFill>
              <a:latin typeface="Segoe UI" panose="020B0502040204020203" pitchFamily="34" charset="0"/>
            </a:endParaRPr>
          </a:p>
          <a:p>
            <a:pPr marL="457200" indent="-457200" algn="l">
              <a:buAutoNum type="arabicPeriod"/>
            </a:pPr>
            <a:endParaRPr lang="en-US" sz="2000" i="0" dirty="0">
              <a:solidFill>
                <a:srgbClr val="161616"/>
              </a:solidFill>
              <a:effectLst/>
              <a:latin typeface="Segoe UI" panose="020B0502040204020203" pitchFamily="34" charset="0"/>
            </a:endParaRPr>
          </a:p>
          <a:p>
            <a:pPr marL="457200" indent="-457200" algn="l">
              <a:spcBef>
                <a:spcPts val="1200"/>
              </a:spcBef>
              <a:spcAft>
                <a:spcPts val="1200"/>
              </a:spcAft>
              <a:buFont typeface="+mj-lt"/>
              <a:buAutoNum type="alphaLcParenR"/>
            </a:pPr>
            <a:r>
              <a:rPr lang="en-US" sz="200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Under Members, select Add.</a:t>
            </a:r>
          </a:p>
          <a:p>
            <a:pPr marL="457200" indent="-457200" algn="l">
              <a:spcBef>
                <a:spcPts val="1200"/>
              </a:spcBef>
              <a:spcAft>
                <a:spcPts val="1200"/>
              </a:spcAft>
              <a:buFont typeface="+mj-lt"/>
              <a:buAutoNum type="alphaLcParenR"/>
            </a:pPr>
            <a:r>
              <a:rPr lang="en-US" sz="200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Enter the email address of the user you'd like to add, and then select Save.</a:t>
            </a:r>
          </a:p>
          <a:p>
            <a:pPr marL="457200" indent="-457200" algn="l">
              <a:spcBef>
                <a:spcPts val="1200"/>
              </a:spcBef>
              <a:spcAft>
                <a:spcPts val="1200"/>
              </a:spcAft>
              <a:buFont typeface="+mj-lt"/>
              <a:buAutoNum type="alphaLcParenR"/>
            </a:pPr>
            <a:r>
              <a:rPr lang="en-US" sz="200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Repeat the process for any other members you'd like to add.</a:t>
            </a:r>
          </a:p>
          <a:p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endParaRPr lang="en-US" sz="2000" i="0" dirty="0">
              <a:solidFill>
                <a:srgbClr val="161616"/>
              </a:solidFill>
              <a:effectLst/>
              <a:latin typeface="Segoe UI" panose="020B0502040204020203" pitchFamily="34" charset="0"/>
            </a:endParaRPr>
          </a:p>
          <a:p>
            <a:br>
              <a:rPr lang="en-US" sz="2000" dirty="0"/>
            </a:br>
            <a:endParaRPr lang="en-US" sz="2000" i="0" dirty="0">
              <a:solidFill>
                <a:srgbClr val="161616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7014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6DD61-20BD-0A0C-6247-D0A8FC87C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4C1423E0-E30E-4FA8-E96D-EDE88B2A648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1170A81C-CC61-0BDD-1371-52B8FABD39B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A201C3-0009-9A71-5404-74E1B963E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39BA7C9-2BC8-AE76-C1E3-2F85142CE2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6" y="11476"/>
            <a:ext cx="1806433" cy="14364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927830E-B873-E95B-31DD-DC91389B51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6FFD88-70F9-8313-AB1C-CDF7AADF5A1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5754B75-5B60-7F76-560C-A1C1C65A881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17;p53">
            <a:extLst>
              <a:ext uri="{FF2B5EF4-FFF2-40B4-BE49-F238E27FC236}">
                <a16:creationId xmlns:a16="http://schemas.microsoft.com/office/drawing/2014/main" id="{5C1986F2-BA4B-9061-EF94-40E1DBAEA0B3}"/>
              </a:ext>
            </a:extLst>
          </p:cNvPr>
          <p:cNvSpPr txBox="1"/>
          <p:nvPr/>
        </p:nvSpPr>
        <p:spPr>
          <a:xfrm>
            <a:off x="2131551" y="414029"/>
            <a:ext cx="7271148" cy="11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ysClr val="windowText" lastClr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Hands On: Azure Boards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B43297-5214-5E5C-B857-9449685E5D3E}"/>
              </a:ext>
            </a:extLst>
          </p:cNvPr>
          <p:cNvSpPr txBox="1"/>
          <p:nvPr/>
        </p:nvSpPr>
        <p:spPr>
          <a:xfrm>
            <a:off x="837329" y="965129"/>
            <a:ext cx="10936417" cy="7940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4. Create the board</a:t>
            </a:r>
            <a:endParaRPr lang="en-US" sz="2000" i="0" dirty="0">
              <a:solidFill>
                <a:srgbClr val="161616"/>
              </a:solidFill>
              <a:effectLst/>
              <a:latin typeface="Segoe UI" panose="020B0502040204020203" pitchFamily="34" charset="0"/>
            </a:endParaRPr>
          </a:p>
          <a:p>
            <a:pPr marL="342900" indent="-342900" algn="l">
              <a:spcBef>
                <a:spcPts val="1200"/>
              </a:spcBef>
              <a:spcAft>
                <a:spcPts val="1200"/>
              </a:spcAft>
              <a:buFont typeface="+mj-lt"/>
              <a:buAutoNum type="alphaLcParenR"/>
            </a:pPr>
            <a:r>
              <a:rPr lang="en-US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In the column on the left, hover over Boards and select Boards from the menu that appears.</a:t>
            </a:r>
          </a:p>
          <a:p>
            <a:pPr marL="342900" indent="-342900" algn="l">
              <a:spcBef>
                <a:spcPts val="1200"/>
              </a:spcBef>
              <a:spcAft>
                <a:spcPts val="1200"/>
              </a:spcAft>
              <a:buFont typeface="+mj-lt"/>
              <a:buAutoNum type="alphaLcParenR"/>
            </a:pPr>
            <a:r>
              <a:rPr lang="en-US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Select Space Game - web Team. A blank board appears.</a:t>
            </a:r>
          </a:p>
          <a:p>
            <a:pPr marL="342900" indent="-342900">
              <a:buFont typeface="+mj-lt"/>
              <a:buAutoNum type="alphaLcParenR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In the To Do column, select the + New item button.</a:t>
            </a:r>
          </a:p>
          <a:p>
            <a:pPr marL="342900" indent="-342900">
              <a:buFont typeface="+mj-lt"/>
              <a:buAutoNum type="alphaLcParenR"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+mj-lt"/>
              <a:buAutoNum type="alphaLcParenR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Enter Stabilize the build server, and then press Enter.</a:t>
            </a:r>
          </a:p>
          <a:p>
            <a:pPr marL="342900" indent="-342900">
              <a:buFont typeface="+mj-lt"/>
              <a:buAutoNum type="alphaLcParenR"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+mj-lt"/>
              <a:buAutoNum type="alphaLcParenR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Select the ellipsis (...) on the item you just created, then select Open.</a:t>
            </a:r>
          </a:p>
          <a:p>
            <a:pPr marL="342900" indent="-342900">
              <a:buFont typeface="+mj-lt"/>
              <a:buAutoNum type="alphaLcParenR"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+mj-lt"/>
              <a:buAutoNum type="alphaLcParenR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In the Description field, enter this text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(The build server keeps falling over. The OS requires security patches and updates. It's also a challenge to keep build tools and other software up to date.)</a:t>
            </a:r>
          </a:p>
          <a:p>
            <a:pPr marL="342900" indent="-342900">
              <a:buFont typeface="+mj-lt"/>
              <a:buAutoNum type="alphaLcParenR"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+mj-lt"/>
              <a:buAutoNum type="alphaLcParenR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Select Save &amp; Close.</a:t>
            </a:r>
          </a:p>
          <a:p>
            <a:pPr marL="342900" indent="-342900">
              <a:buFont typeface="+mj-lt"/>
              <a:buAutoNum type="alphaLcParenR"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+mj-lt"/>
              <a:buAutoNum type="alphaLcParenR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Follow the same steps for the next two items.</a:t>
            </a:r>
          </a:p>
          <a:p>
            <a:pPr marL="342900" indent="-342900">
              <a:buFont typeface="+mj-lt"/>
              <a:buAutoNum type="alphaLcParenR"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+mj-lt"/>
              <a:buAutoNum type="alphaLcParenR"/>
            </a:pPr>
            <a:r>
              <a:rPr lang="en-US" i="0" dirty="0">
                <a:solidFill>
                  <a:srgbClr val="161616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Drag Stabilize the build server to the top of the stack, then drag Create a Git-based workflow to the second item position.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endParaRPr lang="en-US" sz="2000" i="0" dirty="0">
              <a:solidFill>
                <a:srgbClr val="161616"/>
              </a:solidFill>
              <a:effectLst/>
              <a:latin typeface="Segoe UI" panose="020B0502040204020203" pitchFamily="34" charset="0"/>
            </a:endParaRPr>
          </a:p>
          <a:p>
            <a:br>
              <a:rPr lang="en-US" sz="2000" dirty="0"/>
            </a:br>
            <a:endParaRPr lang="en-US" sz="2000" i="0" dirty="0">
              <a:solidFill>
                <a:srgbClr val="161616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0314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76764-FFC7-B398-1B32-2AAE74B26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11F50170-8074-0D69-B551-3C831BF82BC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495C3FEC-E25A-BAA6-83F7-7D97365011B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9F698BD-A6E0-898E-6AB3-0BA1D76D1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EF03D02-E019-F7A8-1850-371860D803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6" y="11476"/>
            <a:ext cx="1806433" cy="14364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C9491C-EDF0-5DD0-0EA8-1CA97EA8C2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0065BB-3084-E5C0-8235-415760D5C0E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199ABE4-B901-A0A4-9168-2CA24E85696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17;p53">
            <a:extLst>
              <a:ext uri="{FF2B5EF4-FFF2-40B4-BE49-F238E27FC236}">
                <a16:creationId xmlns:a16="http://schemas.microsoft.com/office/drawing/2014/main" id="{5C531841-F206-066F-BAFC-556204512198}"/>
              </a:ext>
            </a:extLst>
          </p:cNvPr>
          <p:cNvSpPr txBox="1"/>
          <p:nvPr/>
        </p:nvSpPr>
        <p:spPr>
          <a:xfrm>
            <a:off x="2065096" y="876109"/>
            <a:ext cx="7271148" cy="11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ysClr val="windowText" lastClr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Hands On: Azure Boards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380126-79CA-56A3-2924-E8C855D3D1F4}"/>
              </a:ext>
            </a:extLst>
          </p:cNvPr>
          <p:cNvSpPr txBox="1"/>
          <p:nvPr/>
        </p:nvSpPr>
        <p:spPr>
          <a:xfrm>
            <a:off x="818171" y="1818034"/>
            <a:ext cx="10936417" cy="6617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>
                <a:solidFill>
                  <a:srgbClr val="161616"/>
                </a:solidFill>
                <a:latin typeface="Segoe UI" panose="020B0502040204020203" pitchFamily="34" charset="0"/>
              </a:rPr>
              <a:t>5</a:t>
            </a:r>
            <a:r>
              <a:rPr lang="en-US" sz="240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. Define a sprint</a:t>
            </a:r>
            <a:endParaRPr lang="en-US" sz="2000" i="0" dirty="0">
              <a:solidFill>
                <a:srgbClr val="161616"/>
              </a:solidFill>
              <a:effectLst/>
              <a:latin typeface="Segoe UI" panose="020B0502040204020203" pitchFamily="34" charset="0"/>
            </a:endParaRPr>
          </a:p>
          <a:p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indent="-457200" algn="l">
              <a:buFont typeface="+mj-lt"/>
              <a:buAutoNum type="alphaLcParenR"/>
            </a:pPr>
            <a:r>
              <a:rPr lang="en-US" sz="200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In the left-side column, select Sprints.</a:t>
            </a:r>
          </a:p>
          <a:p>
            <a:pPr marL="457200" indent="-457200" algn="l">
              <a:spcBef>
                <a:spcPts val="1200"/>
              </a:spcBef>
              <a:spcAft>
                <a:spcPts val="1200"/>
              </a:spcAft>
              <a:buFont typeface="+mj-lt"/>
              <a:buAutoNum type="alphaLcParenR"/>
            </a:pPr>
            <a:r>
              <a:rPr lang="en-US" sz="200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Select the Set dates link in the upper-right corner.</a:t>
            </a:r>
          </a:p>
          <a:p>
            <a:pPr marL="457200" indent="-457200" algn="l">
              <a:spcBef>
                <a:spcPts val="1200"/>
              </a:spcBef>
              <a:spcAft>
                <a:spcPts val="1200"/>
              </a:spcAft>
              <a:buFont typeface="+mj-lt"/>
              <a:buAutoNum type="alphaLcParenR"/>
            </a:pPr>
            <a:r>
              <a:rPr lang="en-US" sz="200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Leave the name as Sprint 1.</a:t>
            </a:r>
          </a:p>
          <a:p>
            <a:pPr marL="457200" indent="-457200" algn="l">
              <a:spcBef>
                <a:spcPts val="1200"/>
              </a:spcBef>
              <a:spcAft>
                <a:spcPts val="1200"/>
              </a:spcAft>
              <a:buFont typeface="+mj-lt"/>
              <a:buAutoNum type="alphaLcParenR"/>
            </a:pPr>
            <a:r>
              <a:rPr lang="en-US" sz="200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In the Start date field, select the calendar and pick today's date.</a:t>
            </a:r>
          </a:p>
          <a:p>
            <a:pPr marL="457200" indent="-457200" algn="l">
              <a:spcBef>
                <a:spcPts val="1200"/>
              </a:spcBef>
              <a:spcAft>
                <a:spcPts val="1200"/>
              </a:spcAft>
              <a:buFont typeface="+mj-lt"/>
              <a:buAutoNum type="alphaLcParenR"/>
            </a:pPr>
            <a:r>
              <a:rPr lang="en-US" sz="200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In the End date field, select the calendar and pick the date two weeks from today.</a:t>
            </a:r>
          </a:p>
          <a:p>
            <a:pPr marL="457200" indent="-457200" algn="l">
              <a:spcBef>
                <a:spcPts val="1200"/>
              </a:spcBef>
              <a:spcAft>
                <a:spcPts val="1200"/>
              </a:spcAft>
              <a:buFont typeface="+mj-lt"/>
              <a:buAutoNum type="alphaLcParenR"/>
            </a:pPr>
            <a:r>
              <a:rPr lang="en-US" sz="200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Select Save and close.</a:t>
            </a:r>
          </a:p>
          <a:p>
            <a:br>
              <a:rPr lang="en-US" sz="2000" dirty="0"/>
            </a:b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endParaRPr lang="en-US" sz="2000" i="0" dirty="0">
              <a:solidFill>
                <a:srgbClr val="161616"/>
              </a:solidFill>
              <a:effectLst/>
              <a:latin typeface="Segoe UI" panose="020B0502040204020203" pitchFamily="34" charset="0"/>
            </a:endParaRPr>
          </a:p>
          <a:p>
            <a:br>
              <a:rPr lang="en-US" sz="2000" dirty="0"/>
            </a:br>
            <a:endParaRPr lang="en-US" sz="2000" i="0" dirty="0">
              <a:solidFill>
                <a:srgbClr val="161616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9586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4361C-685A-FE66-8581-4A7D908FA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E44C4B32-00F5-06FC-5C13-0365FE1A406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424962E0-6163-734E-392A-FE87B60CDD8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1CDC13C-8958-809F-F75D-42517BC28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546977-C86A-9617-E393-B8A8384CF9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6" y="11476"/>
            <a:ext cx="1806433" cy="14364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83BA749-053B-2B0F-BE28-6B68C441E9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597A16-58FB-7C79-5C8B-841C168C56E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B60CB6D-2FA5-0AA2-15AE-18CC0734C95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17;p53">
            <a:extLst>
              <a:ext uri="{FF2B5EF4-FFF2-40B4-BE49-F238E27FC236}">
                <a16:creationId xmlns:a16="http://schemas.microsoft.com/office/drawing/2014/main" id="{8F4D3F78-1A14-6F7B-219A-5A72C08701E2}"/>
              </a:ext>
            </a:extLst>
          </p:cNvPr>
          <p:cNvSpPr txBox="1"/>
          <p:nvPr/>
        </p:nvSpPr>
        <p:spPr>
          <a:xfrm>
            <a:off x="2065096" y="876109"/>
            <a:ext cx="7271148" cy="11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ysClr val="windowText" lastClr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Hands On: Azure Boards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2A1A95-6ACD-135F-F8FF-F55E37F0141B}"/>
              </a:ext>
            </a:extLst>
          </p:cNvPr>
          <p:cNvSpPr txBox="1"/>
          <p:nvPr/>
        </p:nvSpPr>
        <p:spPr>
          <a:xfrm>
            <a:off x="818171" y="1818034"/>
            <a:ext cx="10936417" cy="8002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>
                <a:solidFill>
                  <a:srgbClr val="161616"/>
                </a:solidFill>
                <a:latin typeface="Segoe UI" panose="020B0502040204020203" pitchFamily="34" charset="0"/>
              </a:rPr>
              <a:t>5</a:t>
            </a:r>
            <a:r>
              <a:rPr lang="en-US" sz="240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. Assign tasks and set the iteration</a:t>
            </a:r>
            <a:endParaRPr lang="en-US" sz="2000" i="0" dirty="0">
              <a:solidFill>
                <a:srgbClr val="161616"/>
              </a:solidFill>
              <a:effectLst/>
              <a:latin typeface="Segoe UI" panose="020B0502040204020203" pitchFamily="34" charset="0"/>
            </a:endParaRPr>
          </a:p>
          <a:p>
            <a:pPr marL="457200" indent="-457200" algn="l">
              <a:spcBef>
                <a:spcPts val="1200"/>
              </a:spcBef>
              <a:spcAft>
                <a:spcPts val="1200"/>
              </a:spcAft>
              <a:buFont typeface="+mj-lt"/>
              <a:buAutoNum type="alphaLcParenR"/>
            </a:pPr>
            <a:r>
              <a:rPr lang="en-US" sz="200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Under Boards, select Work items.</a:t>
            </a:r>
          </a:p>
          <a:p>
            <a:pPr marL="457200" indent="-457200" algn="l">
              <a:spcBef>
                <a:spcPts val="1200"/>
              </a:spcBef>
              <a:spcAft>
                <a:spcPts val="1200"/>
              </a:spcAft>
              <a:buFont typeface="+mj-lt"/>
              <a:buAutoNum type="alphaLcParenR"/>
            </a:pPr>
            <a:r>
              <a:rPr lang="en-US" sz="200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Select Stabilize the build server.</a:t>
            </a:r>
          </a:p>
          <a:p>
            <a:pPr marL="457200" indent="-457200" algn="l">
              <a:spcBef>
                <a:spcPts val="1200"/>
              </a:spcBef>
              <a:spcAft>
                <a:spcPts val="1200"/>
              </a:spcAft>
              <a:buFont typeface="+mj-lt"/>
              <a:buAutoNum type="alphaLcParenR"/>
            </a:pPr>
            <a:r>
              <a:rPr lang="en-US" sz="200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In the Iteration dropdown, select Sprint 1.</a:t>
            </a:r>
          </a:p>
          <a:p>
            <a:pPr marL="457200" indent="-457200" algn="l">
              <a:spcBef>
                <a:spcPts val="1200"/>
              </a:spcBef>
              <a:spcAft>
                <a:spcPts val="1200"/>
              </a:spcAft>
              <a:buFont typeface="+mj-lt"/>
              <a:buAutoNum type="alphaLcParenR"/>
            </a:pPr>
            <a:r>
              <a:rPr lang="en-US" sz="200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From the same window, select No one selected, and set yourself as the task owner.</a:t>
            </a:r>
          </a:p>
          <a:p>
            <a:pPr marL="342900" indent="-342900" algn="l">
              <a:spcBef>
                <a:spcPts val="1200"/>
              </a:spcBef>
              <a:spcAft>
                <a:spcPts val="1200"/>
              </a:spcAft>
              <a:buFont typeface="+mj-lt"/>
              <a:buAutoNum type="alphaLcParenR"/>
            </a:pPr>
            <a:r>
              <a:rPr lang="en-US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Select Save.</a:t>
            </a:r>
          </a:p>
          <a:p>
            <a:pPr marL="342900" indent="-342900" algn="l">
              <a:spcBef>
                <a:spcPts val="1200"/>
              </a:spcBef>
              <a:spcAft>
                <a:spcPts val="1200"/>
              </a:spcAft>
              <a:buFont typeface="+mj-lt"/>
              <a:buAutoNum type="alphaLcParenR"/>
            </a:pPr>
            <a:r>
              <a:rPr lang="en-US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Repeat the process for the other two work items.</a:t>
            </a:r>
          </a:p>
          <a:p>
            <a:pPr marL="800100" lvl="1" indent="-342900" algn="l">
              <a:spcBef>
                <a:spcPts val="1200"/>
              </a:spcBef>
              <a:spcAft>
                <a:spcPts val="1200"/>
              </a:spcAft>
              <a:buFont typeface="+mj-lt"/>
              <a:buAutoNum type="alphaLcParenR"/>
            </a:pPr>
            <a:r>
              <a:rPr lang="en-US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Create a Git-based workflow</a:t>
            </a:r>
          </a:p>
          <a:p>
            <a:pPr marL="800100" lvl="1" indent="-342900" algn="l">
              <a:spcBef>
                <a:spcPts val="1200"/>
              </a:spcBef>
              <a:spcAft>
                <a:spcPts val="1200"/>
              </a:spcAft>
              <a:buFont typeface="+mj-lt"/>
              <a:buAutoNum type="alphaLcParenR"/>
            </a:pPr>
            <a:r>
              <a:rPr lang="en-US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Create unit tests</a:t>
            </a:r>
          </a:p>
          <a:p>
            <a:br>
              <a:rPr lang="en-US" dirty="0"/>
            </a:br>
            <a:br>
              <a:rPr lang="en-US" sz="2000" dirty="0"/>
            </a:b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endParaRPr lang="en-US" sz="2000" i="0" dirty="0">
              <a:solidFill>
                <a:srgbClr val="161616"/>
              </a:solidFill>
              <a:effectLst/>
              <a:latin typeface="Segoe UI" panose="020B0502040204020203" pitchFamily="34" charset="0"/>
            </a:endParaRPr>
          </a:p>
          <a:p>
            <a:br>
              <a:rPr lang="en-US" sz="2000" dirty="0"/>
            </a:br>
            <a:endParaRPr lang="en-US" sz="2000" i="0" dirty="0">
              <a:solidFill>
                <a:srgbClr val="161616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2521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47A29-BCF8-DB40-ED09-E2FFFA7F1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DEC6DC5F-51CB-4023-E9F0-CFCBB0039C7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CB0D28B3-7F5B-0D08-AC53-A8F45220206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37270B3-7133-26D9-A7FD-173D77650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28FBFB-3CAE-AD56-71F2-4097797033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6" y="11476"/>
            <a:ext cx="1806433" cy="14364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FACBBAB-A3AA-3DE7-3420-414876075C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8C1BAC-B762-18E9-E09F-4D8FB1CB689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C5665B-062D-4C49-B456-1F3E7EDACD80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17;p53">
            <a:extLst>
              <a:ext uri="{FF2B5EF4-FFF2-40B4-BE49-F238E27FC236}">
                <a16:creationId xmlns:a16="http://schemas.microsoft.com/office/drawing/2014/main" id="{8EA22094-AC5E-64C5-437A-82F61FF93538}"/>
              </a:ext>
            </a:extLst>
          </p:cNvPr>
          <p:cNvSpPr txBox="1"/>
          <p:nvPr/>
        </p:nvSpPr>
        <p:spPr>
          <a:xfrm>
            <a:off x="2065096" y="876109"/>
            <a:ext cx="7271148" cy="11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ysClr val="windowText" lastClr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Delivery Plans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C3D815-EE2E-FB36-104C-730674B2A181}"/>
              </a:ext>
            </a:extLst>
          </p:cNvPr>
          <p:cNvSpPr txBox="1"/>
          <p:nvPr/>
        </p:nvSpPr>
        <p:spPr>
          <a:xfrm>
            <a:off x="818171" y="1818034"/>
            <a:ext cx="10936417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Delivery plans provide a visualization of one or more work schedules, offering teams and management a clear view of what each team plans to deliver and when, enabling optimized decision-making for organizational investments.</a:t>
            </a:r>
          </a:p>
          <a:p>
            <a:pPr algn="l"/>
            <a:endParaRPr lang="en-US" sz="2400" b="0" i="0" dirty="0">
              <a:solidFill>
                <a:srgbClr val="161616"/>
              </a:solidFill>
              <a:effectLst/>
              <a:latin typeface="Segoe UI" panose="020B0502040204020203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/>
              <a:t>Regular reviews of delivery plans are crucial to ensure alignment across teams, assess dependencies, and address potential issues such as schedule conflicts, delivery confidence, or lulls in the work schedule.</a:t>
            </a:r>
          </a:p>
          <a:p>
            <a:pPr algn="l"/>
            <a:endParaRPr lang="en-US" sz="24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/>
              <a:t>Delivery plans are dynamically generated based on team backlogs, ensuring they remain up-to-date and provide the latest insights throughout a project's lifecycle.</a:t>
            </a: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endParaRPr lang="en-US" sz="2400" i="0" dirty="0">
              <a:solidFill>
                <a:srgbClr val="161616"/>
              </a:solidFill>
              <a:effectLst/>
              <a:latin typeface="Segoe UI" panose="020B0502040204020203" pitchFamily="34" charset="0"/>
            </a:endParaRPr>
          </a:p>
          <a:p>
            <a:br>
              <a:rPr lang="en-US" sz="2400" dirty="0"/>
            </a:br>
            <a:endParaRPr lang="en-US" sz="2400" i="0" dirty="0">
              <a:solidFill>
                <a:srgbClr val="161616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8847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0C84F-5093-1EF2-A034-325BB39D5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0CAA88C1-2FC7-C0A0-EBD1-BAAEA419B43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E668285D-C33C-C8C9-A277-056E9AA7CE2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BB376C6-8F98-5B15-592D-BD79FB7D28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6995" y="1337988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6A5581-044A-D69C-7136-3BB99F2253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6" y="11476"/>
            <a:ext cx="1806433" cy="14364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B2ED76-FBC1-0B61-67A9-A52184608F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310B18-9D91-51DB-608F-E8534DC32AB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540698-2E8C-9D8D-F92A-2CF18577FC9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17;p53">
            <a:extLst>
              <a:ext uri="{FF2B5EF4-FFF2-40B4-BE49-F238E27FC236}">
                <a16:creationId xmlns:a16="http://schemas.microsoft.com/office/drawing/2014/main" id="{4D262B5F-6CBE-6E05-F37D-12E073588EB4}"/>
              </a:ext>
            </a:extLst>
          </p:cNvPr>
          <p:cNvSpPr txBox="1"/>
          <p:nvPr/>
        </p:nvSpPr>
        <p:spPr>
          <a:xfrm>
            <a:off x="2131551" y="556338"/>
            <a:ext cx="7271148" cy="11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ysClr val="windowText" lastClr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Hands on: Create a build pipeline with Azure pipeline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28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2BF312-F894-805F-E1C9-F88A75A4EEE7}"/>
              </a:ext>
            </a:extLst>
          </p:cNvPr>
          <p:cNvSpPr txBox="1"/>
          <p:nvPr/>
        </p:nvSpPr>
        <p:spPr>
          <a:xfrm>
            <a:off x="818171" y="1584285"/>
            <a:ext cx="1093641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000" i="0" dirty="0">
                <a:effectLst/>
                <a:latin typeface="Arial" panose="020B0604020202020204" pitchFamily="34" charset="0"/>
              </a:rPr>
              <a:t>Lab steps:</a:t>
            </a:r>
          </a:p>
          <a:p>
            <a:pPr algn="l"/>
            <a:endParaRPr lang="en-US" sz="2400" dirty="0">
              <a:latin typeface="Arial" panose="020B0604020202020204" pitchFamily="34" charset="0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sz="2400" i="0" dirty="0">
                <a:effectLst/>
                <a:latin typeface="Arial" panose="020B0604020202020204" pitchFamily="34" charset="0"/>
              </a:rPr>
              <a:t>Get the sample application</a:t>
            </a:r>
          </a:p>
          <a:p>
            <a:pPr marL="457200" indent="-457200" algn="l">
              <a:buFont typeface="+mj-lt"/>
              <a:buAutoNum type="arabicPeriod"/>
            </a:pPr>
            <a:endParaRPr lang="en-US" sz="2400" i="0" dirty="0">
              <a:effectLst/>
              <a:latin typeface="Arial" panose="020B0604020202020204" pitchFamily="34" charset="0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sz="2400" i="0" dirty="0">
                <a:effectLst/>
                <a:latin typeface="Arial" panose="020B0604020202020204" pitchFamily="34" charset="0"/>
              </a:rPr>
              <a:t>Plan your build tasks</a:t>
            </a:r>
          </a:p>
          <a:p>
            <a:pPr marL="457200" indent="-457200" algn="l">
              <a:buFont typeface="+mj-lt"/>
              <a:buAutoNum type="arabicPeriod"/>
            </a:pPr>
            <a:endParaRPr lang="en-US" sz="2400" i="0" dirty="0">
              <a:effectLst/>
              <a:latin typeface="Arial" panose="020B0604020202020204" pitchFamily="34" charset="0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sz="2400" i="0" dirty="0">
                <a:effectLst/>
                <a:latin typeface="Arial" panose="020B0604020202020204" pitchFamily="34" charset="0"/>
              </a:rPr>
              <a:t>Set up your Azure DevOps environment</a:t>
            </a:r>
          </a:p>
          <a:p>
            <a:pPr marL="457200" indent="-457200" algn="l">
              <a:buFont typeface="+mj-lt"/>
              <a:buAutoNum type="arabicPeriod"/>
            </a:pPr>
            <a:endParaRPr lang="en-US" sz="2400" i="0" dirty="0">
              <a:effectLst/>
              <a:latin typeface="Arial" panose="020B0604020202020204" pitchFamily="34" charset="0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sz="2400" i="0" dirty="0">
                <a:effectLst/>
                <a:latin typeface="Arial" panose="020B0604020202020204" pitchFamily="34" charset="0"/>
              </a:rPr>
              <a:t>Create the pipeline</a:t>
            </a:r>
          </a:p>
          <a:p>
            <a:pPr marL="457200" indent="-457200" algn="l">
              <a:buFont typeface="+mj-lt"/>
              <a:buAutoNum type="arabicPeriod"/>
            </a:pPr>
            <a:endParaRPr lang="en-US" sz="2400" i="0" dirty="0">
              <a:effectLst/>
              <a:latin typeface="Arial" panose="020B0604020202020204" pitchFamily="34" charset="0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sz="2400" i="0" dirty="0">
                <a:effectLst/>
                <a:latin typeface="Arial" panose="020B0604020202020204" pitchFamily="34" charset="0"/>
              </a:rPr>
              <a:t>Publish the result to the pipeline</a:t>
            </a:r>
            <a:endParaRPr lang="en-US" sz="2400" i="0" dirty="0">
              <a:solidFill>
                <a:srgbClr val="161616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681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6814A4-BFD7-7A21-DFB9-863B5D439FE5}"/>
              </a:ext>
            </a:extLst>
          </p:cNvPr>
          <p:cNvSpPr/>
          <p:nvPr/>
        </p:nvSpPr>
        <p:spPr>
          <a:xfrm>
            <a:off x="0" y="2692672"/>
            <a:ext cx="12192000" cy="2751349"/>
          </a:xfrm>
          <a:prstGeom prst="rect">
            <a:avLst/>
          </a:prstGeom>
          <a:solidFill>
            <a:srgbClr val="004F9B"/>
          </a:solidFill>
          <a:ln>
            <a:noFill/>
          </a:ln>
          <a:effectLst>
            <a:outerShdw blurRad="508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/>
          </a:p>
        </p:txBody>
      </p:sp>
      <p:sp>
        <p:nvSpPr>
          <p:cNvPr id="615" name="Google Shape;615;p34"/>
          <p:cNvSpPr txBox="1"/>
          <p:nvPr/>
        </p:nvSpPr>
        <p:spPr>
          <a:xfrm>
            <a:off x="1162171" y="3429000"/>
            <a:ext cx="9867659" cy="129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4000"/>
            </a:pPr>
            <a:r>
              <a:rPr lang="en-US" sz="48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Thank You!</a:t>
            </a:r>
            <a:endParaRPr lang="en-US" sz="4800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7" name="Google Shape;617;p34"/>
          <p:cNvSpPr txBox="1">
            <a:spLocks noGrp="1"/>
          </p:cNvSpPr>
          <p:nvPr>
            <p:ph type="sldNum" idx="4294967295"/>
          </p:nvPr>
        </p:nvSpPr>
        <p:spPr>
          <a:xfrm>
            <a:off x="8682567" y="6356351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fld id="{00000000-1234-1234-1234-123412341234}" type="slidenum">
              <a:rPr lang="en-IN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pPr/>
              <a:t>10</a:t>
            </a:fld>
            <a:endParaRPr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18" name="Google Shape;61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6335" y="135650"/>
            <a:ext cx="2058733" cy="2058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D6418B9-9024-36FD-FF4A-D689E721F14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725" t="37867" r="34750" b="40666"/>
          <a:stretch/>
        </p:blipFill>
        <p:spPr>
          <a:xfrm>
            <a:off x="1042416" y="709650"/>
            <a:ext cx="3504687" cy="10706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1486</TotalTime>
  <Words>708</Words>
  <Application>Microsoft Office PowerPoint</Application>
  <PresentationFormat>Widescreen</PresentationFormat>
  <Paragraphs>108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Lato</vt:lpstr>
      <vt:lpstr>Proxima Nova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Nikunj Singhal</dc:creator>
  <cp:lastModifiedBy>Nikunj Singhal</cp:lastModifiedBy>
  <cp:revision>1</cp:revision>
  <dcterms:created xsi:type="dcterms:W3CDTF">2024-11-20T10:15:47Z</dcterms:created>
  <dcterms:modified xsi:type="dcterms:W3CDTF">2024-11-21T11:02:14Z</dcterms:modified>
</cp:coreProperties>
</file>