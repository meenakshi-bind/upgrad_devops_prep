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7" r:id="rId2"/>
    <p:sldId id="901" r:id="rId3"/>
    <p:sldId id="931" r:id="rId4"/>
    <p:sldId id="946" r:id="rId5"/>
    <p:sldId id="932" r:id="rId6"/>
    <p:sldId id="952" r:id="rId7"/>
    <p:sldId id="920" r:id="rId8"/>
    <p:sldId id="935" r:id="rId9"/>
    <p:sldId id="953" r:id="rId10"/>
    <p:sldId id="947" r:id="rId11"/>
    <p:sldId id="948" r:id="rId12"/>
    <p:sldId id="954" r:id="rId13"/>
    <p:sldId id="949" r:id="rId14"/>
    <p:sldId id="950" r:id="rId15"/>
    <p:sldId id="951" r:id="rId16"/>
    <p:sldId id="955" r:id="rId17"/>
    <p:sldId id="50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1020" autoAdjust="0"/>
  </p:normalViewPr>
  <p:slideViewPr>
    <p:cSldViewPr snapToGrid="0">
      <p:cViewPr varScale="1">
        <p:scale>
          <a:sx n="81" d="100"/>
          <a:sy n="81" d="100"/>
        </p:scale>
        <p:origin x="120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5AF74-91AC-4F55-A191-D43536C32E06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9AC9CB-4C47-4782-AA14-455CA1E626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861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13" name="Google Shape;61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84476-58C4-D251-A6D5-0BD69C9EA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7502CB-2EDA-1798-BC90-F467C62645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8F07F5-511F-2B37-B666-D8925490A4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FD9CD8-C809-A641-507B-46DAD93DF3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9AC9CB-4C47-4782-AA14-455CA1E626B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9187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0C792-B442-B2E1-81F4-EA61CA815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EC9FD0-4D86-50B4-E202-B22A04F598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ED799F-5282-55FB-5CA0-228442C1D0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20E8BA-FEFD-65D7-370D-BB8EE5E778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9AC9CB-4C47-4782-AA14-455CA1E626B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5838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1D9C5-2897-0249-1FD8-7FC0A90FE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58E95A-A6C2-75B4-F3D5-10BE6EEC46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84AB91-3309-D965-7CF0-B804174C57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F5D7D0-6CC3-EFF4-CF5D-21DC1E899C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9AC9CB-4C47-4782-AA14-455CA1E626B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7024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E21F7-3ED9-8C1A-E92D-28BBE7497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2D973D-EDBD-82DC-FFAD-DB275E0FD8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A4BC5B-43A6-5153-D3B2-7583EFC6FC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75277A-A880-7D47-2F6A-EA0D7B71E8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9AC9CB-4C47-4782-AA14-455CA1E626B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3484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255CF-AC39-B0A2-6DCD-F09653D2A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090ADE-3F4E-A19A-A2BC-D6B7F40093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D91FB0-491F-08DF-549B-92AAC30ED4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8C0FD8-A31C-277C-525B-CBC5DAC91B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9AC9CB-4C47-4782-AA14-455CA1E626B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507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C84D8-0137-6637-A828-820DE3125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B80CE9-EBC6-729F-856A-0116825E1B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56AA7B-CFFA-19EB-38D1-AF657A0CCB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58A167-0F99-D2D3-C226-32A04A518E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9AC9CB-4C47-4782-AA14-455CA1E626B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738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A5DA6-78C5-19D2-A149-E076EA311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EB251B-18DF-9393-14F3-9886AD922F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463569-2843-076E-0190-3D412C617B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CAA3ED-830D-A113-820C-6FC6A32652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9AC9CB-4C47-4782-AA14-455CA1E626B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3583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EDDAA-0476-E2CD-78EF-6B1DE53D2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628829-B748-B79F-21A7-C7C87C039F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1180FB-E3D5-DAF7-DD69-D01348632B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B6DE13-8E02-C7B9-4BA0-E26677BDF2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9AC9CB-4C47-4782-AA14-455CA1E626B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9986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843A0-9E49-E7BF-4D41-20F799C59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02AFA7-D9A1-2ED7-5406-82D2E94C21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FF3A95-66C3-E168-B4CC-145F2066A9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1D963A-F36F-EF7E-0952-1FA56BFF02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9AC9CB-4C47-4782-AA14-455CA1E626B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5847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8484E-E1C9-B192-8591-DAD9AFEF9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04E327-ECA5-9496-3F5C-B5459B7985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F0EC7F-9F2B-CC32-926D-A714FF42E4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E8C95F-2872-E028-836A-FDEE2810B8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9AC9CB-4C47-4782-AA14-455CA1E626B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627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D296C-B11A-64DE-FF85-163203968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BCFE6C-AF5E-6BDD-F217-0EF257396F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EDFDFB-B050-4C8F-5884-509FF7D669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77ACF8-A690-8DBE-C75A-3D3F59B8ED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9AC9CB-4C47-4782-AA14-455CA1E626B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61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EF9C9-A85F-79D9-5A61-BC10BC0E2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E9BD2B-AEB4-0ECA-4E73-192A5D4E44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0E5644-FF8C-CF98-F0E5-5C3C7E286B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0D9452-D1D9-904B-67D5-E767A093E3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9AC9CB-4C47-4782-AA14-455CA1E626B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9390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E705E-F641-E14F-E90B-60EEEF705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FD252E-E5B6-8079-EFE1-07B60BB336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698299-3A05-6D5E-AD9A-B878DE6414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7580CD-7E4D-55A0-5B59-438D7C48C2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9AC9CB-4C47-4782-AA14-455CA1E626B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0282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6E2B8-B671-8090-BAB6-7F39035EB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9D2D8B-DBCB-4A9C-361B-ADFCC4846F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199CF6-8A0B-CE46-C3A2-64D856EC23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AE1113-8381-DD2B-CE24-34E81E1183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9AC9CB-4C47-4782-AA14-455CA1E626B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6929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038B6-71C9-C8B0-D429-F8677981F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A23DE0-5A5B-926A-99F7-D340BE04C9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757E18-2D8D-E2B6-0B03-D388920CCB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26C91A-0B2E-9C8A-F200-E9CBAB1D29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9AC9CB-4C47-4782-AA14-455CA1E626B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138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A00DF-1644-8EDB-672A-6F54DBA4E0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22CAB7-BD22-C2D3-8D3F-CFEDF76E59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789C9B-01BF-8454-355C-E8E68CAEC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2C922-B111-4F91-9212-34FA33851810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6F9FC-2669-5AC9-825D-9F71E2321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0E5153-E1BD-EABE-1D80-4E8F20735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59F95-D966-42C9-BF45-E0322056EB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597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9C4B-5962-4126-F171-63C5CE733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8D1B4-5D3B-BE51-780B-657AA6B50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C16AD5-AD8B-D2E8-A3B0-F7EB0CAA3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2C922-B111-4F91-9212-34FA33851810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2F0A1-6664-AECA-E419-4ADB609AF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D5E95A-7CF5-E4BA-2473-CE1B4F29F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59F95-D966-42C9-BF45-E0322056EB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81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D45D6-4FF5-E389-B9F7-57042D938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2194EE-DBB8-18DC-0A1D-3516845B4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0269E7-B6DB-8BF7-7872-F6CF9FD34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2C922-B111-4F91-9212-34FA33851810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1C6519-8558-5016-E162-29AC07535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F9C4E1-C0FD-24D2-9876-0E1E34DFC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59F95-D966-42C9-BF45-E0322056EB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17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C6C01-C5D1-F372-F288-E7A1B1C35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BDE85-0EF6-3D0B-F627-7BF6B75F97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308FE4-AD83-E13B-9087-5B5BC14401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20E4A-BC9D-7FBB-81B0-B61B8CCF5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2C922-B111-4F91-9212-34FA33851810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937BA6-8752-B265-F48A-9BED6BEB7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5494ED-7C20-DB30-899A-56D8DCA56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59F95-D966-42C9-BF45-E0322056EB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982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BCEFB-D82A-F073-3836-30314AA5D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E4C625-12B5-64F9-EA8D-F33AA76C9D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F5709D-C3A8-E6AF-CF11-670C29543C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DCD946-614F-E1D2-23D1-847BB0095A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4DCA4E-467A-4F76-5DFC-2A2762943C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A991A0-B3D8-201A-BE5D-023D3E0B6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2C922-B111-4F91-9212-34FA33851810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AEB582-26AB-4F9A-BCD3-0451FD215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482B23-A427-EF69-666D-F54E414E0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59F95-D966-42C9-BF45-E0322056EB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028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4A805-452D-930B-6593-50ECABA24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F81EAF-92B9-860A-E384-7C100563C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2C922-B111-4F91-9212-34FA33851810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53F8FB-F5D3-2094-1575-E6887A701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1F7F29-4250-00FE-43C8-9BA2C4773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59F95-D966-42C9-BF45-E0322056EB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056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A18186-6AA2-0E68-AB12-0E408E26B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2C922-B111-4F91-9212-34FA33851810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CABB67-E2CA-365D-9CC6-5D39D92FF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80351A-AC56-06EA-3F5D-439A39846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59F95-D966-42C9-BF45-E0322056EB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445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8F36D-A577-CAEA-E738-631C309B2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2656B-25D1-0CD9-C050-7E91A82350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636D29-CE53-7091-155D-EE1E4ED807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989E43-7721-94F9-AEB9-83F4428F8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2C922-B111-4F91-9212-34FA33851810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C98168-7937-50B8-ACC6-1BD0C0E58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FEC495-60F0-69EF-1184-A22FB0316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59F95-D966-42C9-BF45-E0322056EB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355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CF954-00C2-123F-0CA9-038624270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50D2B1-F11B-50BB-787E-B69FD7C4AE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85088-C2C6-8F3F-74EE-B1CABE7341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F79B41-DE1F-C35F-01D4-57EEFD290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2C922-B111-4F91-9212-34FA33851810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37BE2B-6450-07C8-E5C6-D6F3BE11D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262869-DA06-8D10-BB03-0674E97B3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59F95-D966-42C9-BF45-E0322056EB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715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D0D9C-2C67-AFB4-3ABC-43437592B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3A979B-02B2-AE5A-0E3A-24CD22D717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061C6B-CF86-0D90-4B8B-7E718EB60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2C922-B111-4F91-9212-34FA33851810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06622E-1332-2F5C-F340-C69265FC7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47AEE4-1525-A6FA-0B09-0B99197B9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59F95-D966-42C9-BF45-E0322056EB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803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23E475-4046-D87F-B196-011FBB9EDF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5F9624-1DE3-F39D-6E11-822CDD9B77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37ECB4-0D80-E99E-FC8C-AE1BA360A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2C922-B111-4F91-9212-34FA33851810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DB6344-2192-22C5-D81E-FB0FE42E2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C30812-8B44-C5A5-DDBF-21E445F3E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59F95-D966-42C9-BF45-E0322056EB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648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72F60D-0D89-6A84-BED9-D1F3B0364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66A908-CFA8-4938-BC76-ADB6E48CA9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E637D9-078D-BC22-F698-7CA8EA71F4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B2C922-B111-4F91-9212-34FA33851810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DA5AF-517F-A4AD-982A-FC908D0212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354252-A288-AC90-9D9E-7AEDC20C34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759F95-D966-42C9-BF45-E0322056EB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751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6814A4-BFD7-7A21-DFB9-863B5D439FE5}"/>
              </a:ext>
            </a:extLst>
          </p:cNvPr>
          <p:cNvSpPr/>
          <p:nvPr/>
        </p:nvSpPr>
        <p:spPr>
          <a:xfrm>
            <a:off x="0" y="2692672"/>
            <a:ext cx="12192000" cy="2751349"/>
          </a:xfrm>
          <a:prstGeom prst="rect">
            <a:avLst/>
          </a:prstGeom>
          <a:solidFill>
            <a:srgbClr val="004F9B"/>
          </a:solidFill>
          <a:ln>
            <a:noFill/>
          </a:ln>
          <a:effectLst>
            <a:outerShdw blurRad="50800" dist="381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15" name="Google Shape;615;p34"/>
          <p:cNvSpPr txBox="1"/>
          <p:nvPr/>
        </p:nvSpPr>
        <p:spPr>
          <a:xfrm>
            <a:off x="1162171" y="3429000"/>
            <a:ext cx="9867659" cy="1298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chemeClr val="dk1"/>
              </a:buClr>
              <a:buSzPts val="4000"/>
            </a:pPr>
            <a:r>
              <a:rPr lang="en-US" sz="480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Resource Management in GCP</a:t>
            </a:r>
          </a:p>
        </p:txBody>
      </p:sp>
      <p:sp>
        <p:nvSpPr>
          <p:cNvPr id="617" name="Google Shape;617;p34"/>
          <p:cNvSpPr txBox="1">
            <a:spLocks noGrp="1"/>
          </p:cNvSpPr>
          <p:nvPr>
            <p:ph type="sldNum" idx="4294967295"/>
          </p:nvPr>
        </p:nvSpPr>
        <p:spPr>
          <a:xfrm>
            <a:off x="8682567" y="6356351"/>
            <a:ext cx="2743200" cy="366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Autofit/>
          </a:bodyPr>
          <a:lstStyle/>
          <a:p>
            <a:fld id="{00000000-1234-1234-1234-123412341234}" type="slidenum">
              <a:rPr lang="en-IN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pPr/>
              <a:t>1</a:t>
            </a:fld>
            <a:endParaRPr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618" name="Google Shape;61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46335" y="135650"/>
            <a:ext cx="2058733" cy="2058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43D47F-0850-4C54-ECA1-347E5868710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5725" t="37867" r="34750" b="40666"/>
          <a:stretch/>
        </p:blipFill>
        <p:spPr>
          <a:xfrm>
            <a:off x="1042416" y="709650"/>
            <a:ext cx="3504687" cy="10706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F6433-5B0E-B912-65ED-22BBF478B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B7B78F49-8D45-345A-2A30-AB4EA76D235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A0143B2E-AAB3-B4B3-094C-C40DDD5EA24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70FAD89-2994-5670-AE50-ECD2D5F960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575E830-8E86-7FA4-F824-E6CDED302D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3DE16DB-E087-CF68-1877-895B5F2CED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20720B-57C7-555C-115F-DFF6C83E16FE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95BD605-57DE-B018-B546-1BCDE81F60DF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717;p53">
            <a:extLst>
              <a:ext uri="{FF2B5EF4-FFF2-40B4-BE49-F238E27FC236}">
                <a16:creationId xmlns:a16="http://schemas.microsoft.com/office/drawing/2014/main" id="{9ECD54A0-20D1-3893-3738-A0057E304792}"/>
              </a:ext>
            </a:extLst>
          </p:cNvPr>
          <p:cNvSpPr txBox="1"/>
          <p:nvPr/>
        </p:nvSpPr>
        <p:spPr>
          <a:xfrm>
            <a:off x="1753590" y="1081301"/>
            <a:ext cx="8517788" cy="537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ysClr val="windowText" lastClr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What is Resource Management?</a:t>
            </a:r>
            <a:endParaRPr sz="3200" dirty="0">
              <a:solidFill>
                <a:sysClr val="windowText" lastClr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E3507C-0FCC-80CA-BA0C-2932F431D250}"/>
              </a:ext>
            </a:extLst>
          </p:cNvPr>
          <p:cNvSpPr txBox="1"/>
          <p:nvPr/>
        </p:nvSpPr>
        <p:spPr>
          <a:xfrm>
            <a:off x="856332" y="1991047"/>
            <a:ext cx="10312304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dirty="0"/>
              <a:t>Importance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Systematic approach to </a:t>
            </a:r>
            <a:r>
              <a:rPr lang="en-US" sz="2000" dirty="0" err="1"/>
              <a:t>organising</a:t>
            </a:r>
            <a:r>
              <a:rPr lang="en-US" sz="2000" dirty="0"/>
              <a:t> and </a:t>
            </a:r>
            <a:r>
              <a:rPr lang="en-US" sz="2000" dirty="0" err="1"/>
              <a:t>optimising</a:t>
            </a:r>
            <a:r>
              <a:rPr lang="en-US" sz="2000" dirty="0"/>
              <a:t> cloud resources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Process of allocating, monitoring, and controlling cloud assets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Framework for maintaining efficiency and cost-effectiveness</a:t>
            </a:r>
          </a:p>
          <a:p>
            <a:pPr algn="l"/>
            <a:endParaRPr lang="en-US" sz="2000" b="1" dirty="0"/>
          </a:p>
          <a:p>
            <a:pPr algn="l"/>
            <a:r>
              <a:rPr lang="en-US" sz="2000" b="1" dirty="0"/>
              <a:t>Why Resource Management Matters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Resources in Google Cloud are billable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Control costs through effective management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Establish controlled access to resources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Maintain </a:t>
            </a:r>
            <a:r>
              <a:rPr lang="en-US" sz="2000" dirty="0" err="1"/>
              <a:t>organisational</a:t>
            </a:r>
            <a:r>
              <a:rPr lang="en-US" sz="2000" dirty="0"/>
              <a:t> structure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000" dirty="0"/>
          </a:p>
          <a:p>
            <a:r>
              <a:rPr lang="en-US" sz="2000" b="1" dirty="0"/>
              <a:t>Key Components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Resource hierarchy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Access control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Quota management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Cost tracking and billing</a:t>
            </a:r>
          </a:p>
        </p:txBody>
      </p:sp>
    </p:spTree>
    <p:extLst>
      <p:ext uri="{BB962C8B-B14F-4D97-AF65-F5344CB8AC3E}">
        <p14:creationId xmlns:p14="http://schemas.microsoft.com/office/powerpoint/2010/main" val="4076445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5CEAD-F008-0960-991E-190BFB01F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B1FBB3C7-2FBB-EB0D-15E2-2995BA03BA8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3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2E56C280-4DB0-CE7A-BC24-F3AAD01D3BC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D6461CA-B5DC-8C7A-687C-9B443AAACF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35AA89A-8EDC-FA72-0045-23622588F8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107F3BB-F949-E58B-3B11-BC51CFB425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D94CEDD-F715-75D4-D564-532DB4EDD189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6F6A4AD-2917-86DB-0F64-D3C835D92F7C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717;p53">
            <a:extLst>
              <a:ext uri="{FF2B5EF4-FFF2-40B4-BE49-F238E27FC236}">
                <a16:creationId xmlns:a16="http://schemas.microsoft.com/office/drawing/2014/main" id="{AE45CCC8-4DFD-6D6E-E986-4B371EE75D3B}"/>
              </a:ext>
            </a:extLst>
          </p:cNvPr>
          <p:cNvSpPr txBox="1"/>
          <p:nvPr/>
        </p:nvSpPr>
        <p:spPr>
          <a:xfrm>
            <a:off x="1753590" y="1081301"/>
            <a:ext cx="8517788" cy="537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ysClr val="windowText" lastClr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GCP Resource Hierarchy</a:t>
            </a:r>
            <a:endParaRPr sz="3200" dirty="0">
              <a:solidFill>
                <a:sysClr val="windowText" lastClr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4C1B31-42CF-0CFA-2948-DE10C775FB7B}"/>
              </a:ext>
            </a:extLst>
          </p:cNvPr>
          <p:cNvSpPr txBox="1"/>
          <p:nvPr/>
        </p:nvSpPr>
        <p:spPr>
          <a:xfrm>
            <a:off x="728180" y="1618394"/>
            <a:ext cx="1031230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dirty="0"/>
              <a:t>Organisational Structure</a:t>
            </a:r>
          </a:p>
          <a:p>
            <a:pPr algn="l"/>
            <a:endParaRPr lang="en-US" sz="2000" dirty="0"/>
          </a:p>
          <a:p>
            <a:pPr algn="l"/>
            <a:r>
              <a:rPr lang="en-US" sz="2000" dirty="0" err="1"/>
              <a:t>Organisation</a:t>
            </a:r>
            <a:endParaRPr lang="en-US" sz="2000" dirty="0"/>
          </a:p>
          <a:p>
            <a:pPr algn="l"/>
            <a:r>
              <a:rPr lang="en-US" sz="2000" dirty="0"/>
              <a:t>    └── Folders</a:t>
            </a:r>
          </a:p>
          <a:p>
            <a:pPr algn="l"/>
            <a:r>
              <a:rPr lang="en-US" sz="2000" dirty="0"/>
              <a:t>        └── Projects</a:t>
            </a:r>
          </a:p>
          <a:p>
            <a:pPr algn="l"/>
            <a:r>
              <a:rPr lang="en-US" sz="2000" dirty="0"/>
              <a:t>            └── Resources</a:t>
            </a:r>
          </a:p>
          <a:p>
            <a:pPr algn="l"/>
            <a:endParaRPr lang="en-US" sz="2000" dirty="0"/>
          </a:p>
          <a:p>
            <a:r>
              <a:rPr lang="en-US" sz="2000" b="1" dirty="0"/>
              <a:t>Key Points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Organisation</a:t>
            </a:r>
            <a:r>
              <a:rPr lang="en-US" sz="2000" dirty="0"/>
              <a:t> node is the root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Resources inherit policies from parents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Billing accumulates bottom-up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Each resource belongs to exactly one project</a:t>
            </a:r>
          </a:p>
        </p:txBody>
      </p:sp>
    </p:spTree>
    <p:extLst>
      <p:ext uri="{BB962C8B-B14F-4D97-AF65-F5344CB8AC3E}">
        <p14:creationId xmlns:p14="http://schemas.microsoft.com/office/powerpoint/2010/main" val="2745773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78454-E25B-9EA7-508A-243C8B23A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C2C419C2-E461-D356-AC7E-2BF068B07AB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4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A7139A2F-6D87-BB63-FC21-3C64C087D7D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47DB0B6-56FE-0212-6051-B1D2E8B178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1F461BA-6880-3ADD-0F5E-30904F7972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CC68707-4001-F85E-DB2B-99FC8E013A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8C7F32-8934-5337-1011-555BB9FDD156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D162F71-0FE0-3C02-E333-5592C341F4F9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717;p53">
            <a:extLst>
              <a:ext uri="{FF2B5EF4-FFF2-40B4-BE49-F238E27FC236}">
                <a16:creationId xmlns:a16="http://schemas.microsoft.com/office/drawing/2014/main" id="{4A79508F-FD73-D8FC-EE1E-C6E6816B60F9}"/>
              </a:ext>
            </a:extLst>
          </p:cNvPr>
          <p:cNvSpPr txBox="1"/>
          <p:nvPr/>
        </p:nvSpPr>
        <p:spPr>
          <a:xfrm>
            <a:off x="1753590" y="1081301"/>
            <a:ext cx="8517788" cy="537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ysClr val="windowText" lastClr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Understanding the Resource Manager</a:t>
            </a:r>
            <a:endParaRPr lang="en-US" sz="3200" dirty="0">
              <a:solidFill>
                <a:sysClr val="windowText" lastClr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E1748B-A5C8-5CB8-63AE-45D96889C27E}"/>
              </a:ext>
            </a:extLst>
          </p:cNvPr>
          <p:cNvSpPr txBox="1"/>
          <p:nvPr/>
        </p:nvSpPr>
        <p:spPr>
          <a:xfrm>
            <a:off x="728180" y="1618394"/>
            <a:ext cx="10312304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dirty="0"/>
              <a:t>Resource Management Features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Hierarchical resource organization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IAM policy inheritance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Unified billing management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Resource tracking and monitoring</a:t>
            </a:r>
          </a:p>
          <a:p>
            <a:endParaRPr lang="en-US" sz="2000" b="1" dirty="0"/>
          </a:p>
          <a:p>
            <a:r>
              <a:rPr lang="en-US" sz="2000" b="1" dirty="0"/>
              <a:t>Project Identifiers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Project Name (human-readable)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Project Number (auto-generated)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Project ID (unique identifier)</a:t>
            </a:r>
          </a:p>
        </p:txBody>
      </p:sp>
    </p:spTree>
    <p:extLst>
      <p:ext uri="{BB962C8B-B14F-4D97-AF65-F5344CB8AC3E}">
        <p14:creationId xmlns:p14="http://schemas.microsoft.com/office/powerpoint/2010/main" val="2917276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76BD7-69D6-F267-6EEE-C839719E6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D6B91CB6-6771-503F-0A5F-80D120B3C7D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5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4F55F493-5C58-77DE-FB79-EF347F12CAB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72F4694-7330-806E-82E3-335EA173BB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EFAE9EE-21C8-2A0E-CE5D-55820F6C45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3F71222-ACB7-CACB-73C1-F0E625A6F0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0CC611-C0E1-6566-7566-6093D4298007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873DB72-8435-18E4-A719-B3336862C665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717;p53">
            <a:extLst>
              <a:ext uri="{FF2B5EF4-FFF2-40B4-BE49-F238E27FC236}">
                <a16:creationId xmlns:a16="http://schemas.microsoft.com/office/drawing/2014/main" id="{DBC56AA6-268E-1E16-FABF-08A9344D5F32}"/>
              </a:ext>
            </a:extLst>
          </p:cNvPr>
          <p:cNvSpPr txBox="1"/>
          <p:nvPr/>
        </p:nvSpPr>
        <p:spPr>
          <a:xfrm>
            <a:off x="1753590" y="1081301"/>
            <a:ext cx="8517788" cy="537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ysClr val="windowText" lastClr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Resource Categories</a:t>
            </a:r>
            <a:endParaRPr sz="3200" dirty="0">
              <a:solidFill>
                <a:sysClr val="windowText" lastClr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156EAA-6F9A-4BC4-E91C-57B04987596B}"/>
              </a:ext>
            </a:extLst>
          </p:cNvPr>
          <p:cNvSpPr txBox="1"/>
          <p:nvPr/>
        </p:nvSpPr>
        <p:spPr>
          <a:xfrm>
            <a:off x="728180" y="1618394"/>
            <a:ext cx="1031230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Resource Types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Global Resources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Images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Snapshots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Networks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Regional Resources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External IP addresses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Zonal Resources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Instances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Disks</a:t>
            </a:r>
          </a:p>
        </p:txBody>
      </p:sp>
    </p:spTree>
    <p:extLst>
      <p:ext uri="{BB962C8B-B14F-4D97-AF65-F5344CB8AC3E}">
        <p14:creationId xmlns:p14="http://schemas.microsoft.com/office/powerpoint/2010/main" val="1992000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34A90-2E35-74C2-448C-ACCE5CB62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CDC0ED30-94AA-E080-B4EF-9EBF580C61E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6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E43D62FB-F244-AC14-F58C-E89664BE179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02ACB6E-2811-76B1-BA7F-3C4172BB9D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F124886-A3CE-E3A8-AF50-D78DE3FEBE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2E4D01F-1A00-889F-BEBA-95E529FDDF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E52796C-7592-5094-6992-71F9511CAD48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E09E852-21CE-DABC-4CF6-56051D69E655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717;p53">
            <a:extLst>
              <a:ext uri="{FF2B5EF4-FFF2-40B4-BE49-F238E27FC236}">
                <a16:creationId xmlns:a16="http://schemas.microsoft.com/office/drawing/2014/main" id="{242C7490-D35D-8AA2-888F-A6F06AAE94B3}"/>
              </a:ext>
            </a:extLst>
          </p:cNvPr>
          <p:cNvSpPr txBox="1"/>
          <p:nvPr/>
        </p:nvSpPr>
        <p:spPr>
          <a:xfrm>
            <a:off x="1837106" y="2975470"/>
            <a:ext cx="8517788" cy="537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ysClr val="windowText" lastClr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Hands-On: Exploring the GCP console to view and manage resource hierarchies</a:t>
            </a:r>
            <a:endParaRPr lang="en-US" sz="3200" dirty="0">
              <a:solidFill>
                <a:sysClr val="windowText" lastClr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13587748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DAA01-AB73-CF8F-545F-8B7068CDE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A9B0E5AD-E4B0-6AD0-C61A-20754D67864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7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DB993405-F153-4183-BD39-139261987AC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57DB8EE-032C-B113-4C6E-ED8A225D37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4AF621F-59F1-9805-C704-FB6D9E92D5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1A945F8-6D45-3570-E42D-D7476CB24E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4825E45-DD3C-221E-EB3E-FE462E44D25E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79598E3-EC87-751D-A021-9085D2F6918F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717;p53">
            <a:extLst>
              <a:ext uri="{FF2B5EF4-FFF2-40B4-BE49-F238E27FC236}">
                <a16:creationId xmlns:a16="http://schemas.microsoft.com/office/drawing/2014/main" id="{162C1D25-208C-F64E-8BBC-FEFF1D8686DB}"/>
              </a:ext>
            </a:extLst>
          </p:cNvPr>
          <p:cNvSpPr txBox="1"/>
          <p:nvPr/>
        </p:nvSpPr>
        <p:spPr>
          <a:xfrm>
            <a:off x="1753590" y="1081301"/>
            <a:ext cx="8517788" cy="537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ysClr val="windowText" lastClr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Quotas and Resource Usage</a:t>
            </a:r>
            <a:endParaRPr sz="3200" dirty="0">
              <a:solidFill>
                <a:sysClr val="windowText" lastClr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0E46A3-714E-7F24-945D-D86CCB992901}"/>
              </a:ext>
            </a:extLst>
          </p:cNvPr>
          <p:cNvSpPr txBox="1"/>
          <p:nvPr/>
        </p:nvSpPr>
        <p:spPr>
          <a:xfrm>
            <a:off x="728180" y="1618394"/>
            <a:ext cx="1031230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Types of Quotas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Project Quotas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Example: 15 VPC networks/project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Rate Limits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Example: 5 admin actions/second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Regional Quotas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Example: 24 CPUs per region/project</a:t>
            </a:r>
          </a:p>
          <a:p>
            <a:r>
              <a:rPr lang="en-US" b="1" dirty="0"/>
              <a:t>Benefits of Quotas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Prevents runaway consumption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Controls billing spikes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Forces periodic review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Encourages proper sizing</a:t>
            </a:r>
          </a:p>
        </p:txBody>
      </p:sp>
    </p:spTree>
    <p:extLst>
      <p:ext uri="{BB962C8B-B14F-4D97-AF65-F5344CB8AC3E}">
        <p14:creationId xmlns:p14="http://schemas.microsoft.com/office/powerpoint/2010/main" val="9384192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02BB5-4F2E-6407-C816-981EFDED7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022B3B88-2693-A01A-887A-EE54C439B62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8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7A5A95D9-39D9-4ACE-9F5C-EA7122D02CB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E1D78D9-2333-0393-0BE1-CFB30278CC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29F1245-6050-5F72-5A73-8DC5AE8AEA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3056716-C648-51CA-2737-B6E8CD1D21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22DC010-8EFA-A115-C9CC-7D06FD2C612A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714D747-81B7-3385-01B8-00AA1250113C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717;p53">
            <a:extLst>
              <a:ext uri="{FF2B5EF4-FFF2-40B4-BE49-F238E27FC236}">
                <a16:creationId xmlns:a16="http://schemas.microsoft.com/office/drawing/2014/main" id="{C9B42985-8B1C-505F-A4B8-7E1CAA9EE862}"/>
              </a:ext>
            </a:extLst>
          </p:cNvPr>
          <p:cNvSpPr txBox="1"/>
          <p:nvPr/>
        </p:nvSpPr>
        <p:spPr>
          <a:xfrm>
            <a:off x="1753590" y="1081301"/>
            <a:ext cx="8517788" cy="537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ysClr val="windowText" lastClr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Managing Quotas</a:t>
            </a:r>
            <a:endParaRPr sz="3200" dirty="0">
              <a:solidFill>
                <a:sysClr val="windowText" lastClr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6FBBD4-E38F-84B7-48C9-994D07C2664D}"/>
              </a:ext>
            </a:extLst>
          </p:cNvPr>
          <p:cNvSpPr txBox="1"/>
          <p:nvPr/>
        </p:nvSpPr>
        <p:spPr>
          <a:xfrm>
            <a:off x="728180" y="1618394"/>
            <a:ext cx="1031230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Key Features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Default quotas can be adjusted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Request increases via Console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Serves as safety checkpoint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Doesn't guarantee resource availability</a:t>
            </a:r>
          </a:p>
        </p:txBody>
      </p:sp>
    </p:spTree>
    <p:extLst>
      <p:ext uri="{BB962C8B-B14F-4D97-AF65-F5344CB8AC3E}">
        <p14:creationId xmlns:p14="http://schemas.microsoft.com/office/powerpoint/2010/main" val="4065639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6713F-0197-C2A8-B396-0F789F4D1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45F2A7F5-5211-60F0-F0A2-3D062178D96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9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DC9BF0B-014E-E498-1521-3499F0D1410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6ECE627-C466-76E3-0F19-03EFA6AC3A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7B1B9FD-FFA1-D1CC-E6AB-CBDB8AE9B8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CF18A58-2BDF-330F-339E-E5674231F2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E8BB1D-DD0A-DE62-DB70-2D578D698B4D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E66CD8-1A73-041A-2F72-289DD4982C69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717;p53">
            <a:extLst>
              <a:ext uri="{FF2B5EF4-FFF2-40B4-BE49-F238E27FC236}">
                <a16:creationId xmlns:a16="http://schemas.microsoft.com/office/drawing/2014/main" id="{914C0452-A409-CE67-409C-F515572B5D89}"/>
              </a:ext>
            </a:extLst>
          </p:cNvPr>
          <p:cNvSpPr txBox="1"/>
          <p:nvPr/>
        </p:nvSpPr>
        <p:spPr>
          <a:xfrm>
            <a:off x="1457755" y="2975470"/>
            <a:ext cx="8517788" cy="537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ysClr val="windowText" lastClr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Hands-On: Viewing and managing quotas in the GCP console</a:t>
            </a:r>
            <a:endParaRPr sz="3200" dirty="0">
              <a:solidFill>
                <a:sysClr val="windowText" lastClr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35854348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7B463-9DA1-0049-AC9B-243390CFA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BE5DE220-95BF-E747-630E-3116B3BD04F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10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76E5B4AF-B66E-D8BD-DE96-C17838944B1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2C90779-A969-FDFD-2574-15482B74FA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3CBD742-EEBB-F09F-D897-B3693D5B3C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2AE191A-CE1E-7073-5559-50BB4C4479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70510F9-65A5-1277-9427-D8FF85267AE4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283E9F6-39BD-06AF-6025-74484BF4F937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717;p53">
            <a:extLst>
              <a:ext uri="{FF2B5EF4-FFF2-40B4-BE49-F238E27FC236}">
                <a16:creationId xmlns:a16="http://schemas.microsoft.com/office/drawing/2014/main" id="{62EDD62C-9944-4215-88BC-94E56B5FD632}"/>
              </a:ext>
            </a:extLst>
          </p:cNvPr>
          <p:cNvSpPr txBox="1"/>
          <p:nvPr/>
        </p:nvSpPr>
        <p:spPr>
          <a:xfrm>
            <a:off x="1753590" y="1081301"/>
            <a:ext cx="8517788" cy="537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ysClr val="windowText" lastClr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Labels for Resource </a:t>
            </a:r>
            <a:r>
              <a:rPr lang="en-US" sz="2800" dirty="0" err="1">
                <a:solidFill>
                  <a:sysClr val="windowText" lastClr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Organisation</a:t>
            </a:r>
            <a:endParaRPr sz="3200" dirty="0">
              <a:solidFill>
                <a:sysClr val="windowText" lastClr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06318C-D6CE-639B-AFF3-F1300AFA3E84}"/>
              </a:ext>
            </a:extLst>
          </p:cNvPr>
          <p:cNvSpPr txBox="1"/>
          <p:nvPr/>
        </p:nvSpPr>
        <p:spPr>
          <a:xfrm>
            <a:off x="728180" y="1618394"/>
            <a:ext cx="10312304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Label Basics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Key-value pairs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Attach to resources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Up to 64 labels per resource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Manageable via Console/</a:t>
            </a:r>
            <a:r>
              <a:rPr lang="en-US" sz="2000" dirty="0" err="1"/>
              <a:t>gcloud</a:t>
            </a:r>
            <a:r>
              <a:rPr lang="en-US" sz="2000" dirty="0"/>
              <a:t>/API</a:t>
            </a:r>
          </a:p>
          <a:p>
            <a:r>
              <a:rPr lang="en-US" sz="2000" b="1" dirty="0"/>
              <a:t>Common Label Uses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Team/Cost Center tracking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Component identification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Environment designation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Owner/Contact information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State management</a:t>
            </a:r>
          </a:p>
        </p:txBody>
      </p:sp>
    </p:spTree>
    <p:extLst>
      <p:ext uri="{BB962C8B-B14F-4D97-AF65-F5344CB8AC3E}">
        <p14:creationId xmlns:p14="http://schemas.microsoft.com/office/powerpoint/2010/main" val="41396712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CDD63-5729-8F6F-0A9C-C107F4942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677B4EA7-BF36-0824-C6C6-2184AD97158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11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29808189-CE75-CC01-D45F-684C0A252E5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0FBA5A8-B846-F296-E29A-609DDACF49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7D740ED-017E-191C-DE8A-CD1461DA0A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8C430E9-2E95-DC27-A6BC-944B3CE990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FBCC9FD-8337-D7A7-388D-7135BCCCD3FE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BE55961-E1B7-ED21-EA25-4BEC5886C3CC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717;p53">
            <a:extLst>
              <a:ext uri="{FF2B5EF4-FFF2-40B4-BE49-F238E27FC236}">
                <a16:creationId xmlns:a16="http://schemas.microsoft.com/office/drawing/2014/main" id="{909EC8D4-6DE9-87AC-C578-994C3FA55832}"/>
              </a:ext>
            </a:extLst>
          </p:cNvPr>
          <p:cNvSpPr txBox="1"/>
          <p:nvPr/>
        </p:nvSpPr>
        <p:spPr>
          <a:xfrm>
            <a:off x="1753590" y="1081301"/>
            <a:ext cx="8517788" cy="537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ysClr val="windowText" lastClr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Labels vs Network Tags</a:t>
            </a:r>
            <a:endParaRPr sz="3200" dirty="0">
              <a:solidFill>
                <a:sysClr val="windowText" lastClr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02B721-B4C7-622B-D40F-E1E46B22A6F1}"/>
              </a:ext>
            </a:extLst>
          </p:cNvPr>
          <p:cNvSpPr txBox="1"/>
          <p:nvPr/>
        </p:nvSpPr>
        <p:spPr>
          <a:xfrm>
            <a:off x="728180" y="1618394"/>
            <a:ext cx="10312304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Labels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Apply to various resources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Key-value format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Used for organization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Propagate through billing</a:t>
            </a:r>
          </a:p>
          <a:p>
            <a:r>
              <a:rPr lang="en-US" sz="2000" b="1" dirty="0"/>
              <a:t>Network Tags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Instance-specific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Simple strings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Used for networking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Apply firewall rules</a:t>
            </a:r>
          </a:p>
        </p:txBody>
      </p:sp>
    </p:spTree>
    <p:extLst>
      <p:ext uri="{BB962C8B-B14F-4D97-AF65-F5344CB8AC3E}">
        <p14:creationId xmlns:p14="http://schemas.microsoft.com/office/powerpoint/2010/main" val="23104262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C942E-E043-8F98-ED88-AFE1F4ABC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1762E7AF-E7D3-3AF9-7269-03145D9552E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12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C64F468-34DD-1090-4D78-670F9618CF6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EFF4F49-7B0D-E4CE-33ED-96AFC46DB9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F6D7BFC-91EB-FE94-E633-EC370A8223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B5CD97B-7A76-9C9D-4561-F22C5113C4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90C472-ED9A-3C78-E1A5-033BE71F6F8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2E36375-B39F-12FD-07EB-18DB92080EB6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717;p53">
            <a:extLst>
              <a:ext uri="{FF2B5EF4-FFF2-40B4-BE49-F238E27FC236}">
                <a16:creationId xmlns:a16="http://schemas.microsoft.com/office/drawing/2014/main" id="{236318B8-FAA5-3586-169B-2D3FC97450E9}"/>
              </a:ext>
            </a:extLst>
          </p:cNvPr>
          <p:cNvSpPr txBox="1"/>
          <p:nvPr/>
        </p:nvSpPr>
        <p:spPr>
          <a:xfrm>
            <a:off x="1593569" y="2674778"/>
            <a:ext cx="8517788" cy="537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ysClr val="windowText" lastClr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Hands-On: Creating and applying labels to resources</a:t>
            </a:r>
            <a:endParaRPr lang="en-US" sz="3200" dirty="0">
              <a:solidFill>
                <a:sysClr val="windowText" lastClr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27832428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F09EF-F508-A349-8FC4-56A55E241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B32A78C1-14D9-F1D2-5538-D2252DEB4AF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13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0439F21A-0428-330F-2432-AE46A4B684D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4BF171D-1DDA-070D-79DD-FA2EC74E94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B8C1D8E-0C4B-CA7C-818C-E77E7AA383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CD66E3A-848C-C3EB-2692-7BBEFDCCEB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C751E8-A7BE-1480-5FAA-82C936500B96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E1E8F63-64C9-647A-BCF6-0776CF7237EE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717;p53">
            <a:extLst>
              <a:ext uri="{FF2B5EF4-FFF2-40B4-BE49-F238E27FC236}">
                <a16:creationId xmlns:a16="http://schemas.microsoft.com/office/drawing/2014/main" id="{30F54D45-F85E-0948-5589-30FC1C473039}"/>
              </a:ext>
            </a:extLst>
          </p:cNvPr>
          <p:cNvSpPr txBox="1"/>
          <p:nvPr/>
        </p:nvSpPr>
        <p:spPr>
          <a:xfrm>
            <a:off x="1753590" y="1081301"/>
            <a:ext cx="8517788" cy="537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ysClr val="windowText" lastClr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Billing and Cost Management</a:t>
            </a:r>
            <a:endParaRPr sz="3200" dirty="0">
              <a:solidFill>
                <a:sysClr val="windowText" lastClr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DA0DA6-279B-2E89-B771-E44D49E2C4FC}"/>
              </a:ext>
            </a:extLst>
          </p:cNvPr>
          <p:cNvSpPr txBox="1"/>
          <p:nvPr/>
        </p:nvSpPr>
        <p:spPr>
          <a:xfrm>
            <a:off x="728180" y="1618394"/>
            <a:ext cx="10312304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Budget Setup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Set specific amounts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Match previous month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Create alert thresholds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Email notifications</a:t>
            </a:r>
          </a:p>
          <a:p>
            <a:r>
              <a:rPr lang="en-US" sz="2000" b="1" dirty="0"/>
              <a:t>Alert Features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Percentage-based triggers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Amount-based triggers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Forecast-based alerts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Pub/Sub integration</a:t>
            </a:r>
          </a:p>
        </p:txBody>
      </p:sp>
    </p:spTree>
    <p:extLst>
      <p:ext uri="{BB962C8B-B14F-4D97-AF65-F5344CB8AC3E}">
        <p14:creationId xmlns:p14="http://schemas.microsoft.com/office/powerpoint/2010/main" val="13191747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0CD5E-CFA5-E5A5-9B49-9BB81DFD3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92934B33-08D6-379A-9991-B459356AA83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14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F18310F-5373-3A1A-EC75-16D3BEB1E6B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6B217E7-969F-5BD3-7349-894929D9FF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C4E3F8-E707-7033-7FDF-8911A866B0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6E194EA-EBC1-E375-F09C-3D047B89EA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786CA0A-B6B5-DCD8-AF64-CA56AC382F46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E3A61E1-FC3E-49B8-9704-DDB8AEE22E3B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717;p53">
            <a:extLst>
              <a:ext uri="{FF2B5EF4-FFF2-40B4-BE49-F238E27FC236}">
                <a16:creationId xmlns:a16="http://schemas.microsoft.com/office/drawing/2014/main" id="{05804DE0-169A-42FC-7F72-1E3A064E7187}"/>
              </a:ext>
            </a:extLst>
          </p:cNvPr>
          <p:cNvSpPr txBox="1"/>
          <p:nvPr/>
        </p:nvSpPr>
        <p:spPr>
          <a:xfrm>
            <a:off x="1753590" y="1081301"/>
            <a:ext cx="8517788" cy="537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ysClr val="windowText" lastClr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Advanced Billing Features</a:t>
            </a:r>
            <a:endParaRPr sz="3200" dirty="0">
              <a:solidFill>
                <a:sysClr val="windowText" lastClr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1164EA-B3BD-3F62-F23D-AEC13FD5ECC5}"/>
              </a:ext>
            </a:extLst>
          </p:cNvPr>
          <p:cNvSpPr txBox="1"/>
          <p:nvPr/>
        </p:nvSpPr>
        <p:spPr>
          <a:xfrm>
            <a:off x="728180" y="1618394"/>
            <a:ext cx="10312304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 err="1"/>
              <a:t>BigQuery</a:t>
            </a:r>
            <a:r>
              <a:rPr lang="en-US" sz="2000" b="1" dirty="0"/>
              <a:t> Integration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Export billing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Run complex queries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Analyze spending patterns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Track resource usage</a:t>
            </a:r>
          </a:p>
          <a:p>
            <a:r>
              <a:rPr lang="en-US" sz="2000" b="1" dirty="0"/>
              <a:t>Looker Studio Visualization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Custom dashboards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Spending trends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Service-wise breakdown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Project-wise analysis</a:t>
            </a:r>
          </a:p>
        </p:txBody>
      </p:sp>
    </p:spTree>
    <p:extLst>
      <p:ext uri="{BB962C8B-B14F-4D97-AF65-F5344CB8AC3E}">
        <p14:creationId xmlns:p14="http://schemas.microsoft.com/office/powerpoint/2010/main" val="39047075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D0E48-0F23-4D14-20C1-A76F25828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A775DD23-897E-F124-1545-FC04E8658F4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15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51A462AD-6626-27B0-E2D8-21A91479355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51A4D80-F219-7181-0533-37D45AB8C8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6629228-2947-31E2-48B8-416B52B401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3AB4D16-438F-F0A0-1EF7-3DDCC75583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07ED28-6610-DC34-7042-6D111A4CB541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73F0DBB-C0BE-9158-CDE1-583359D72FE8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717;p53">
            <a:extLst>
              <a:ext uri="{FF2B5EF4-FFF2-40B4-BE49-F238E27FC236}">
                <a16:creationId xmlns:a16="http://schemas.microsoft.com/office/drawing/2014/main" id="{CE1F0697-032F-E5EA-53D0-D29EC876ACC0}"/>
              </a:ext>
            </a:extLst>
          </p:cNvPr>
          <p:cNvSpPr txBox="1"/>
          <p:nvPr/>
        </p:nvSpPr>
        <p:spPr>
          <a:xfrm>
            <a:off x="1753590" y="1081301"/>
            <a:ext cx="8517788" cy="537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ysClr val="windowText" lastClr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Best Practices</a:t>
            </a:r>
            <a:endParaRPr sz="3200" dirty="0">
              <a:solidFill>
                <a:sysClr val="windowText" lastClr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2935A0-86F9-6138-905F-E6B18E127F11}"/>
              </a:ext>
            </a:extLst>
          </p:cNvPr>
          <p:cNvSpPr txBox="1"/>
          <p:nvPr/>
        </p:nvSpPr>
        <p:spPr>
          <a:xfrm>
            <a:off x="728180" y="1618394"/>
            <a:ext cx="10312304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Resource Management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Use clear naming conventions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Implement consistent labeling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Regular quota reviews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Monitor billing actively</a:t>
            </a:r>
          </a:p>
          <a:p>
            <a:r>
              <a:rPr lang="en-US" sz="2000" b="1" dirty="0"/>
              <a:t>Cost </a:t>
            </a:r>
            <a:r>
              <a:rPr lang="en-US" sz="2000" b="1" dirty="0" err="1"/>
              <a:t>Optimisation</a:t>
            </a:r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Set appropriate budgets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Configure meaningful alerts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Use labels for cost tracking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Regular spending analysis</a:t>
            </a:r>
          </a:p>
        </p:txBody>
      </p:sp>
    </p:spTree>
    <p:extLst>
      <p:ext uri="{BB962C8B-B14F-4D97-AF65-F5344CB8AC3E}">
        <p14:creationId xmlns:p14="http://schemas.microsoft.com/office/powerpoint/2010/main" val="16123663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4646A-CD46-D519-8054-8DBE2E16C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98E3306A-C0A1-05F4-3ADB-8A97684FC5E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16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57919C58-A49F-BC84-0CB3-694C5F79EC5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820C62E-5210-6EC4-31E1-EC42086348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363C783-EE78-6247-6E13-678F8F6C32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1C4B10C-1813-B3E8-FE83-8800B2BB07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4839C53-003D-E135-A431-91CBBB6C799A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60CBC4D-B42A-B5D8-26D5-34CC5B7C04C1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717;p53">
            <a:extLst>
              <a:ext uri="{FF2B5EF4-FFF2-40B4-BE49-F238E27FC236}">
                <a16:creationId xmlns:a16="http://schemas.microsoft.com/office/drawing/2014/main" id="{B21D8B9F-EEF5-CA04-62E6-F73234B4B941}"/>
              </a:ext>
            </a:extLst>
          </p:cNvPr>
          <p:cNvSpPr txBox="1"/>
          <p:nvPr/>
        </p:nvSpPr>
        <p:spPr>
          <a:xfrm>
            <a:off x="1837106" y="2681501"/>
            <a:ext cx="8517788" cy="537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ysClr val="windowText" lastClr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Hands-On: Create a budget, set alerts, and query billing data</a:t>
            </a:r>
            <a:endParaRPr sz="3200" dirty="0">
              <a:solidFill>
                <a:sysClr val="windowText" lastClr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30307910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6814A4-BFD7-7A21-DFB9-863B5D439FE5}"/>
              </a:ext>
            </a:extLst>
          </p:cNvPr>
          <p:cNvSpPr/>
          <p:nvPr/>
        </p:nvSpPr>
        <p:spPr>
          <a:xfrm>
            <a:off x="0" y="2692672"/>
            <a:ext cx="12192000" cy="2751349"/>
          </a:xfrm>
          <a:prstGeom prst="rect">
            <a:avLst/>
          </a:prstGeom>
          <a:solidFill>
            <a:srgbClr val="004F9B"/>
          </a:solidFill>
          <a:ln>
            <a:noFill/>
          </a:ln>
          <a:effectLst>
            <a:outerShdw blurRad="50800" dist="381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67"/>
          </a:p>
        </p:txBody>
      </p:sp>
      <p:sp>
        <p:nvSpPr>
          <p:cNvPr id="615" name="Google Shape;615;p34"/>
          <p:cNvSpPr txBox="1"/>
          <p:nvPr/>
        </p:nvSpPr>
        <p:spPr>
          <a:xfrm>
            <a:off x="1162171" y="3429000"/>
            <a:ext cx="9867659" cy="1298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chemeClr val="dk1"/>
              </a:buClr>
              <a:buSzPts val="4000"/>
            </a:pPr>
            <a:r>
              <a:rPr lang="en-US" sz="480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:lc="http://schemas.openxmlformats.org/drawingml/2006/lockedCanvas" textRoundtripDataId="0"/>
                  </a:ext>
                </a:extLst>
              </a:rPr>
              <a:t>Thank You!</a:t>
            </a:r>
            <a:endParaRPr lang="en-US" sz="4800" dirty="0">
              <a:solidFill>
                <a:schemeClr val="bg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7" name="Google Shape;617;p34"/>
          <p:cNvSpPr txBox="1">
            <a:spLocks noGrp="1"/>
          </p:cNvSpPr>
          <p:nvPr>
            <p:ph type="sldNum" idx="4294967295"/>
          </p:nvPr>
        </p:nvSpPr>
        <p:spPr>
          <a:xfrm>
            <a:off x="8682567" y="6356351"/>
            <a:ext cx="27432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fld id="{00000000-1234-1234-1234-123412341234}" type="slidenum">
              <a:rPr lang="en-IN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pPr/>
              <a:t>17</a:t>
            </a:fld>
            <a:endParaRPr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618" name="Google Shape;61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46335" y="135650"/>
            <a:ext cx="2058733" cy="2058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D6418B9-9024-36FD-FF4A-D689E721F14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5725" t="37867" r="34750" b="40666"/>
          <a:stretch/>
        </p:blipFill>
        <p:spPr>
          <a:xfrm>
            <a:off x="1042416" y="709650"/>
            <a:ext cx="3504687" cy="10706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3591</TotalTime>
  <Words>471</Words>
  <Application>Microsoft Office PowerPoint</Application>
  <PresentationFormat>Widescreen</PresentationFormat>
  <Paragraphs>165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Lato</vt:lpstr>
      <vt:lpstr>Proxima Nova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Nikunj Singhal</dc:creator>
  <cp:lastModifiedBy>Syed Rumaan Pasha</cp:lastModifiedBy>
  <cp:revision>15</cp:revision>
  <dcterms:created xsi:type="dcterms:W3CDTF">2024-11-18T06:43:32Z</dcterms:created>
  <dcterms:modified xsi:type="dcterms:W3CDTF">2024-12-26T19:06:15Z</dcterms:modified>
</cp:coreProperties>
</file>