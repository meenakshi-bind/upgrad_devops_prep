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669" r:id="rId3"/>
    <p:sldId id="675" r:id="rId4"/>
    <p:sldId id="670" r:id="rId5"/>
    <p:sldId id="676" r:id="rId6"/>
    <p:sldId id="671" r:id="rId7"/>
    <p:sldId id="677" r:id="rId8"/>
    <p:sldId id="672" r:id="rId9"/>
    <p:sldId id="673" r:id="rId10"/>
    <p:sldId id="5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-64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95176-1B7E-4134-A4A4-FA8B8BAB8258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4666B-1871-4BE8-8B07-FC107D30F7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32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"Cloud Deploy is Google’s solution for managing continuous delivery workflows."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"It simplifies the deployment process across environments like staging and production, ensuring consistency and reliability."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"Its integration with other GCP services makes it a valuable addition to your CI/CD toolkit."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908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27923-ED22-F107-249C-F243F045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30A8F-FB01-71D9-996B-732B7E841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9ED43-E7D4-86CC-CC99-0243FF1A2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 to Set Up a Pipeline: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Define the Application: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a containerized application stored in Artifact Registry.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Create a Deployment Pipeline: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Specify stages (e.g., dev, staging, production) and transitions.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Trigger Deployments: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GCP Console, CLI, or APIs to start deployments.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2444-B0CC-42FF-CF64-9AA58F631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91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06D0-7C85-4761-8A87-193FB96A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D267F-078A-0C9E-B58D-3935EF046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BB647-6E40-3B1B-5725-32383BB06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"Automated testing is a critical component of any CI/CD pipeline."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"It minimizes risks by catching issues early and provides developers with quick feedback."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"By integrating different types of tests, you can ensure comprehensive quality checks."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CF30-DDD9-28AC-EDC7-1A73CBB03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38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942C-1403-3ED3-A7ED-8058402D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0DECC-B662-7914-F645-9EF57F1CC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747C9-8046-5C5B-6A4F-F39D4CBE0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Update Build Configuration File: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Add testing steps to the YAML file.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Run Unit Tests: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testing frameworks like JUnit or </a:t>
            </a:r>
            <a:r>
              <a:rPr lang="en-US" dirty="0" err="1"/>
              <a:t>pytest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Review Results: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Monitor logs and test reports for failures.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AC482-0333-3A49-A2AF-D6D7D3D01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390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DAE15-7432-122F-08C3-27A5D4A6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D4492-4654-0882-AF81-078EA7659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32090-49DF-171C-4610-876ABC64C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"Monitoring and logging are essential for maintaining reliable CI/CD workflows."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"These tools give you real-time visibility into pipeline operations and help address issues proactively."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"We’ll set up alerts and review logs in the hands-on activity."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616C2-1105-D87C-6572-88D008271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87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A8468-4E46-705B-F3A4-A479A373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F6322-A474-F3C2-88A5-4C65F13E7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BDB1A-3E39-D9BD-8250-315C0C119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Enable Cloud Monitoring and Logging: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Activate services in the GCP Console.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Create Alert Policies: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Set thresholds for build failures or deployment delays.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Test Alerts: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Simulate issues to ensure alerts trigger correctly.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0987E-BEC8-2CA6-D20E-9F33C7FA0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123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8A67-9064-04E2-F373-4DBBAFE7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B7C1-12E6-15AD-9F75-5F9793562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DEE5F-6D6D-F075-8EEF-EDE72F8CB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"Approvals and rollbacks add safeguards to deployment pipelines."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"Manual approvals ensure only verified changes reach production, while automated rollbacks handle failures with minimal impact."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"We’ll configure both in the hands-on session."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CCAE1-99BE-DB0B-DA82-B8F6173C5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053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D943E-45CA-3FA4-3387-01518490D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D972E-376B-D69A-F9B7-887EFACBA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5153A-51F6-5266-081A-EF13156D8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Simulate a Deployment Failure: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Deploy a container with an intentional bug.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Trigger Rollback: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Monitor Cloud Deploy and confirm rollback execution.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Verify Rollback: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Ensure the previous version is restored and functioning.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CDAE5-301A-DD1B-C6DC-5F4F54F8C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4666B-1871-4BE8-8B07-FC107D30F73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540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5DF3-9927-799C-335A-CA1C5D0A2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FFC85-5503-E419-5D73-0C91170CE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C6D0E-E212-FBB5-14D7-439396D6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DEAE5-EF7E-798B-0DA3-3EDBEA83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70B01-85FE-54E2-8DE2-ED9A1224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83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9854E-E4CF-FD2D-BEDF-9722CBD9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C33E-E6BA-CA05-372E-93C871D09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35E01-03EC-0286-C4CE-F9D25354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45B37-1528-FC9F-95A4-B86896E4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EB15-CDC6-1DDF-ACE1-6021FFE3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08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3E60-3EED-C2D8-2713-5A5939D81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A3F87-DA1D-8176-8041-121B57267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DA8B3-71E3-81BC-2347-1D37369C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50139-8340-03A8-35A5-77B02EC5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8756E-7A36-2660-49A5-59637EB4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93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BC34-A30D-1FE3-592A-5C67D4CA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EB8F-CFF4-9437-3127-23D4D6888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2C7A2-78D4-5DE4-D6B8-6E1E1F7BF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F95EC-AB0E-DC5B-882D-A2DA65C0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E0005-D026-5525-676D-B2EFB787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252D5-7BC8-EB03-7D82-F0C6A945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38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6DF6-741A-D9D6-2B65-554494D28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0A9C9-818B-4864-6533-F7C00D8E0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39128-F199-F6F1-8403-A0BDDA965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80A08-7125-0DFE-E916-4B33AE102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2A229-F555-C247-F61E-021B9BC9E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B3873-110E-0074-9C38-0F766DD6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918D55-CF6C-1D9F-0644-BA286158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5CE60-BA3B-8A50-3C5E-6D6287B9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87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3379-282D-2A29-E011-80005F59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F226D-A58E-C8C8-AFDF-E0D5EDC8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3CA83-03F5-E2E8-4F39-A326A6DA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A7DD5-A02C-4662-6F94-74C3007D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348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4FC4D-127F-E7A8-0050-815B1DDA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007CF-42CA-2734-EF40-6ACA48A3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55224-833E-C849-97DB-4FB5C2CB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54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2C63-4090-68A0-875B-68EFF3A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AB8F1-0911-F801-E607-47B7CD1B6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002F8-C451-7830-2141-7FBBC0A62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AB293-FC3E-F81E-B570-4EB53E4B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440F-008C-3FE9-9131-4C14DE63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35026-AD80-CC20-8622-685E5C5B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904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DB59-1DBB-C282-E845-763AB5ED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19B9A-52EB-1AEC-F578-EC8C20C57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590C9-28C1-2404-03F3-3F758082E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5F3E2-7F0A-AC2C-B734-BBBBEAA9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E9C61-32C7-CF1B-53DC-EEB581C4D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6250B-FC77-4B99-7B83-A0F53FC5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97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426E-F58E-86A6-D69B-B6B7CC7AD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9B52D-DA00-FF49-447B-FD03E9139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D40A8-8443-52BE-8366-B4F55925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179DB-B653-6D4E-A433-8793C774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02BE9-4ABE-67E9-85CB-9D5B1FF0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74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7C9EA-001D-E2D7-9633-ADFBE60CB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72E64-0E46-1C28-C934-5A0CB3B8C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1C91-AC32-0D7F-5DFD-71DFBCB9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F1607-3C6C-EED3-B259-776A2AA9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C20C3-08D5-0B5E-C93F-396C3AAD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6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A46D8-81BA-E357-A9B9-26062FF8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B3C1B-644C-BF14-9501-2AE7E46E9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0DE9E-CF1D-F112-CFD7-2F2B95001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276C4-743D-4ABD-8CED-366984E16E9D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8BB27-3A78-B41A-7CCE-3D6C8573F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F9156-6F91-D63E-CA7B-9A8AD485F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6ACC-6C02-4444-B52B-8DF957F88A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20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Continuous Integration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8EDB-D787-9530-CA0D-A7416C7F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0462506D-F0FA-94C4-3545-6602205394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5ACE7D5D-B2E4-2565-831A-1E9C2CDF3D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3A8B88-F1AE-9A66-1DEE-40AA653DE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8EEA5-F7F1-31EB-089C-661C05204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5A03A3-D5B7-9AF3-E520-141E893EF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A6464-2E4F-8233-EAF5-B6F6A88A992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46F154-B26A-1391-0CF6-231F36FE1AF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DFD95B4F-11CA-15FF-D1FA-ACC08F10E745}"/>
              </a:ext>
            </a:extLst>
          </p:cNvPr>
          <p:cNvSpPr/>
          <p:nvPr/>
        </p:nvSpPr>
        <p:spPr>
          <a:xfrm>
            <a:off x="2243958" y="1370730"/>
            <a:ext cx="5522040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Cloud Deploy</a:t>
            </a:r>
          </a:p>
        </p:txBody>
      </p:sp>
      <p:sp>
        <p:nvSpPr>
          <p:cNvPr id="11" name="Google Shape;1142;p26">
            <a:extLst>
              <a:ext uri="{FF2B5EF4-FFF2-40B4-BE49-F238E27FC236}">
                <a16:creationId xmlns:a16="http://schemas.microsoft.com/office/drawing/2014/main" id="{FC0A744A-4DDC-3CA3-AE82-F0175012ACC4}"/>
              </a:ext>
            </a:extLst>
          </p:cNvPr>
          <p:cNvSpPr/>
          <p:nvPr/>
        </p:nvSpPr>
        <p:spPr>
          <a:xfrm>
            <a:off x="603720" y="2464848"/>
            <a:ext cx="10654598" cy="304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r>
              <a:rPr lang="en-US" sz="1600" b="1" dirty="0"/>
              <a:t>What is Cloud Deploy?</a:t>
            </a:r>
          </a:p>
          <a:p>
            <a:r>
              <a:rPr lang="en-US" sz="1600" dirty="0"/>
              <a:t>A fully managed service for automating application deployments.</a:t>
            </a:r>
          </a:p>
          <a:p>
            <a:endParaRPr lang="en-US" sz="1600" b="1" dirty="0"/>
          </a:p>
          <a:p>
            <a:r>
              <a:rPr lang="en-US" sz="1600" b="1" dirty="0"/>
              <a:t>Key Features: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Pipeline Automation:</a:t>
            </a:r>
            <a:r>
              <a:rPr lang="en-US" sz="1600" dirty="0"/>
              <a:t> Define and manage deployment pipelines.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Version Tracking:</a:t>
            </a:r>
            <a:r>
              <a:rPr lang="en-US" sz="1600" dirty="0"/>
              <a:t> Track releases and deployment history.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Approvals and Rollbacks:</a:t>
            </a:r>
            <a:r>
              <a:rPr lang="en-US" sz="1600" dirty="0"/>
              <a:t> Built-in support for manual approvals and automated rollbacks.</a:t>
            </a:r>
          </a:p>
          <a:p>
            <a:endParaRPr lang="en-US" sz="1600" b="1" dirty="0"/>
          </a:p>
          <a:p>
            <a:r>
              <a:rPr lang="en-US" sz="1600" b="1" dirty="0"/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Simplifies multi-environment deployments.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Reduces deployment errors with automated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Enhances visibility into deployment progress.</a:t>
            </a:r>
          </a:p>
        </p:txBody>
      </p:sp>
    </p:spTree>
    <p:extLst>
      <p:ext uri="{BB962C8B-B14F-4D97-AF65-F5344CB8AC3E}">
        <p14:creationId xmlns:p14="http://schemas.microsoft.com/office/powerpoint/2010/main" val="330173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E3613-3DC8-0B9C-66DD-1F8CA2659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39F51BA3-4C7F-E47D-FEA0-7205F6D361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D2B62936-A8F4-89FB-BF49-C0BECC8505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9D9FB9-ACA6-EAC1-0033-8EB7ABF21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458980-5926-4A91-2915-7A039741A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C7EEB-8E5E-F098-A6A5-E3EA1EA97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4CA8E3-292F-6FC1-D918-218FE6469E8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A6C60A-62A2-DB55-64F7-454210B82AF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177A7DD3-97E1-4F5A-5A14-86DF4B5EDB01}"/>
              </a:ext>
            </a:extLst>
          </p:cNvPr>
          <p:cNvSpPr/>
          <p:nvPr/>
        </p:nvSpPr>
        <p:spPr>
          <a:xfrm>
            <a:off x="3334980" y="3227760"/>
            <a:ext cx="5522040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US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Hands-On: Configuring a Deployment Pipeline</a:t>
            </a:r>
            <a:endParaRPr lang="en-GB"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51183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0A52-7A05-03BA-0680-96F8C4CEE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04537D6-427D-813F-6686-B96321A49C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EA72ABC4-8682-1314-CE71-3B0BC86318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80BAFF-7BE5-385C-C3FF-08BD515FA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6F3F0E-F4BF-01D4-41FF-E9DF34B70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F70F8D-35D0-8631-77DA-D1EF8BDE5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F111C0-B920-A366-19FB-C3996E160DA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D1313-65A4-9AA1-7A52-058E3F9502B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3DB331BB-AC0E-06A9-3B7A-A9D234D945E7}"/>
              </a:ext>
            </a:extLst>
          </p:cNvPr>
          <p:cNvSpPr/>
          <p:nvPr/>
        </p:nvSpPr>
        <p:spPr>
          <a:xfrm>
            <a:off x="2243958" y="1370730"/>
            <a:ext cx="5522040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US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Integrating Testing into CI/CD Pipelines</a:t>
            </a:r>
            <a:endParaRPr lang="en-GB"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1142;p26">
            <a:extLst>
              <a:ext uri="{FF2B5EF4-FFF2-40B4-BE49-F238E27FC236}">
                <a16:creationId xmlns:a16="http://schemas.microsoft.com/office/drawing/2014/main" id="{76173493-0069-7552-C13A-CF0C00BC9011}"/>
              </a:ext>
            </a:extLst>
          </p:cNvPr>
          <p:cNvSpPr/>
          <p:nvPr/>
        </p:nvSpPr>
        <p:spPr>
          <a:xfrm>
            <a:off x="603720" y="2464848"/>
            <a:ext cx="10654598" cy="255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r>
              <a:rPr lang="en-US" sz="1600" b="1" dirty="0"/>
              <a:t>Importance of Automated Testing: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Early Bug Detection:</a:t>
            </a:r>
            <a:r>
              <a:rPr lang="en-US" sz="1600" dirty="0"/>
              <a:t> Identifies issues before they reach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Improved Reliability:</a:t>
            </a:r>
            <a:r>
              <a:rPr lang="en-US" sz="1600" dirty="0"/>
              <a:t> Ensures code changes meet quality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Continuous Feedback:</a:t>
            </a:r>
            <a:r>
              <a:rPr lang="en-US" sz="1600" dirty="0"/>
              <a:t> Provides immediate results for developers.</a:t>
            </a:r>
          </a:p>
          <a:p>
            <a:endParaRPr lang="en-US" sz="1600" b="1" dirty="0"/>
          </a:p>
          <a:p>
            <a:r>
              <a:rPr lang="en-US" sz="1600" b="1" dirty="0"/>
              <a:t>Types of Tests: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Unit Tests:</a:t>
            </a:r>
            <a:r>
              <a:rPr lang="en-US" sz="1600" dirty="0"/>
              <a:t> Verify individual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Integration Tests:</a:t>
            </a:r>
            <a:r>
              <a:rPr lang="en-US" sz="1600" dirty="0"/>
              <a:t> Ensure components work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End-to-End Tests:</a:t>
            </a:r>
            <a:r>
              <a:rPr lang="en-US" sz="1600" dirty="0"/>
              <a:t> Validate the entire application flow.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0545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0C92-B1B7-ACF9-784A-6ED1D76C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DD5C523D-6990-5F16-1022-3706007A63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00399518-E22C-495A-EA80-D6D78A0EC0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505EF2-DC54-9AA4-356A-6F0F249EC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DA5AC8-7E40-D573-BFEF-EDE9582EB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6B0384-8989-5765-D30D-D0431A5D8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6EDBC2-A7D7-A75A-25D7-CC1E5629B57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8A741D-7DA3-B4E2-57F3-D979EFDC094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72805FCE-B06A-65F1-5D6B-EB8588D1C246}"/>
              </a:ext>
            </a:extLst>
          </p:cNvPr>
          <p:cNvSpPr/>
          <p:nvPr/>
        </p:nvSpPr>
        <p:spPr>
          <a:xfrm>
            <a:off x="3334980" y="3227760"/>
            <a:ext cx="5522040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US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Hands-On: Adding Unit Tests to Cloud Build Pipeline</a:t>
            </a:r>
            <a:endParaRPr lang="en-GB"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02636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4F50-74B0-A42D-DD96-18D4C74D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1F2727A-3544-8D58-2CB9-0F4E156438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AFABC747-8813-473A-0540-187CDAD25E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207A31-9FB8-671C-0F2D-96C26FFDD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3C0586-F65B-ACF6-F48A-44EBC3A8B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319284-DB9F-8A02-823F-A22D2059A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FD205-B2F1-16FE-F732-151D861224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3E7B42-13E9-75DF-7FDC-5322EAE4436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AB443A04-7EC3-14C4-87D4-FD320DB9C28A}"/>
              </a:ext>
            </a:extLst>
          </p:cNvPr>
          <p:cNvSpPr/>
          <p:nvPr/>
        </p:nvSpPr>
        <p:spPr>
          <a:xfrm>
            <a:off x="2243958" y="1370730"/>
            <a:ext cx="6437926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US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Monitoring and Logging in CI/CD Workflows</a:t>
            </a:r>
            <a:endParaRPr lang="en-GB"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1142;p26">
            <a:extLst>
              <a:ext uri="{FF2B5EF4-FFF2-40B4-BE49-F238E27FC236}">
                <a16:creationId xmlns:a16="http://schemas.microsoft.com/office/drawing/2014/main" id="{1267C8FB-6462-3AF8-1310-8C5C940C6DC3}"/>
              </a:ext>
            </a:extLst>
          </p:cNvPr>
          <p:cNvSpPr/>
          <p:nvPr/>
        </p:nvSpPr>
        <p:spPr>
          <a:xfrm>
            <a:off x="603720" y="2464848"/>
            <a:ext cx="10654598" cy="230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r>
              <a:rPr lang="en-IN" sz="1600" b="1" dirty="0"/>
              <a:t>Key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Cloud Monitoring:</a:t>
            </a:r>
            <a:r>
              <a:rPr lang="en-IN" sz="1600" dirty="0"/>
              <a:t> Tracks pipeline performance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Cloud Logging:</a:t>
            </a:r>
            <a:r>
              <a:rPr lang="en-IN" sz="1600" dirty="0"/>
              <a:t> Captures logs for debugging and analysis.</a:t>
            </a:r>
          </a:p>
          <a:p>
            <a:endParaRPr lang="en-IN" sz="1600" b="1" dirty="0"/>
          </a:p>
          <a:p>
            <a:r>
              <a:rPr lang="en-IN" sz="1600" b="1" dirty="0"/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Provides visibility into pipeline stages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Helps quickly identify and resolve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Enables proactive incident management with alerts.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958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2E195-4256-AA18-CBFB-0ACCB1E9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52CFDA80-88E2-913B-E427-CCC0F62486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DB58379-FC32-5E80-3C28-A94CFE90FB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E90043-87D2-F5F6-FC81-9D2410A7B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7CBF02-88B1-F8FE-E657-5DA6B35D0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D9BC64-4718-97DA-049C-03F7E78BD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A34D4-558E-0072-DDAC-6A0B23A8D98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D58DDB-600E-57F1-7E8E-C746BB99C08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0D106C47-917D-5CEA-17EB-071C32B040C8}"/>
              </a:ext>
            </a:extLst>
          </p:cNvPr>
          <p:cNvSpPr/>
          <p:nvPr/>
        </p:nvSpPr>
        <p:spPr>
          <a:xfrm>
            <a:off x="3334980" y="3227760"/>
            <a:ext cx="5522040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US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Hands-On: Setting Up Alerts for Build and Deployment Issues</a:t>
            </a:r>
            <a:endParaRPr lang="en-GB"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731015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A940-F53A-3354-029D-8FBDFC817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05417340-968C-FB83-11A9-9E96CC5A9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6AB81B56-2141-18C8-0EF2-CFA7C55E12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BC7547-54E7-0356-9C6E-0DFCA2D0B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B50BE-981E-3DEB-8C6A-9ED5EC990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1577BC-D014-A3C1-0DE0-E86B11E32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3DA53-8FD2-A1B6-D32F-5325DEA629F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75E696-9C60-26E0-025A-8AFFEFCD003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3A6DE957-9DE9-A75A-DF74-C8A0FEF9DCAE}"/>
              </a:ext>
            </a:extLst>
          </p:cNvPr>
          <p:cNvSpPr/>
          <p:nvPr/>
        </p:nvSpPr>
        <p:spPr>
          <a:xfrm>
            <a:off x="2243958" y="1370730"/>
            <a:ext cx="5522040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GB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Automating Rollbacks and Approvals</a:t>
            </a:r>
          </a:p>
        </p:txBody>
      </p:sp>
      <p:sp>
        <p:nvSpPr>
          <p:cNvPr id="11" name="Google Shape;1142;p26">
            <a:extLst>
              <a:ext uri="{FF2B5EF4-FFF2-40B4-BE49-F238E27FC236}">
                <a16:creationId xmlns:a16="http://schemas.microsoft.com/office/drawing/2014/main" id="{B77954A8-9C0D-2118-8E6F-9BFE16879CCF}"/>
              </a:ext>
            </a:extLst>
          </p:cNvPr>
          <p:cNvSpPr/>
          <p:nvPr/>
        </p:nvSpPr>
        <p:spPr>
          <a:xfrm>
            <a:off x="603720" y="2464848"/>
            <a:ext cx="10654598" cy="181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r>
              <a:rPr lang="en-US" sz="1600" b="1" dirty="0"/>
              <a:t>Key Concepts: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Approval Workflows:</a:t>
            </a:r>
            <a:r>
              <a:rPr lang="en-US" sz="1600" dirty="0"/>
              <a:t> Require manual review before progressing to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Automated Rollbacks:</a:t>
            </a:r>
            <a:r>
              <a:rPr lang="en-US" sz="1600" dirty="0"/>
              <a:t> Revert to a previous version if deployment fails.</a:t>
            </a:r>
          </a:p>
          <a:p>
            <a:endParaRPr lang="en-US" sz="1600" b="1" dirty="0"/>
          </a:p>
          <a:p>
            <a:r>
              <a:rPr lang="en-US" sz="1600" b="1" dirty="0"/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Ensures quality and compliance for critical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Reduces recovery time during failures.</a:t>
            </a:r>
          </a:p>
        </p:txBody>
      </p:sp>
    </p:spTree>
    <p:extLst>
      <p:ext uri="{BB962C8B-B14F-4D97-AF65-F5344CB8AC3E}">
        <p14:creationId xmlns:p14="http://schemas.microsoft.com/office/powerpoint/2010/main" val="12921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9E026-FC1B-9F8F-96D4-EB62B03C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2B526AA7-77BA-D3C5-6A6A-CF1428351C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20F05F98-2558-DD5F-19A8-173FC4684E6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684A52-DF12-FC35-5B8F-BF752F1CE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F4FB9D-FA9C-E1CE-0B2C-A0CEF116F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5D26FF-D60C-920A-A691-C940E79417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2C37D3-4DFC-01B2-98A1-527479A4123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EF5133-08DA-8D8C-CC39-B91CF933A9C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1140;p26">
            <a:extLst>
              <a:ext uri="{FF2B5EF4-FFF2-40B4-BE49-F238E27FC236}">
                <a16:creationId xmlns:a16="http://schemas.microsoft.com/office/drawing/2014/main" id="{D1B34B25-95CB-9564-87EA-6B411AF9A9DB}"/>
              </a:ext>
            </a:extLst>
          </p:cNvPr>
          <p:cNvSpPr/>
          <p:nvPr/>
        </p:nvSpPr>
        <p:spPr>
          <a:xfrm>
            <a:off x="3334980" y="3227760"/>
            <a:ext cx="5522040" cy="40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0"/>
              <a:buFont typeface="Arial"/>
              <a:buNone/>
            </a:pPr>
            <a:r>
              <a:rPr lang="en-US" sz="2540" b="0" i="0" u="none" strike="noStrike" cap="none" dirty="0">
                <a:latin typeface="Proxima Nova"/>
                <a:ea typeface="Proxima Nova"/>
                <a:cs typeface="Proxima Nova"/>
                <a:sym typeface="Proxima Nova"/>
              </a:rPr>
              <a:t>Hands-On: Testing Rollback Scenarios</a:t>
            </a:r>
            <a:endParaRPr lang="en-GB" sz="2540" b="0" i="0" u="none" strike="noStrike" cap="none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964617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10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636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Lato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Syed Rumaan Pasha</cp:lastModifiedBy>
  <cp:revision>5</cp:revision>
  <dcterms:created xsi:type="dcterms:W3CDTF">2024-07-22T11:53:29Z</dcterms:created>
  <dcterms:modified xsi:type="dcterms:W3CDTF">2025-01-02T16:57:43Z</dcterms:modified>
</cp:coreProperties>
</file>