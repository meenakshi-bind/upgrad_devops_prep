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7" r:id="rId2"/>
    <p:sldId id="258" r:id="rId3"/>
    <p:sldId id="647" r:id="rId4"/>
    <p:sldId id="648" r:id="rId5"/>
    <p:sldId id="649" r:id="rId6"/>
    <p:sldId id="650" r:id="rId7"/>
    <p:sldId id="651" r:id="rId8"/>
    <p:sldId id="652" r:id="rId9"/>
    <p:sldId id="653" r:id="rId10"/>
    <p:sldId id="654" r:id="rId11"/>
    <p:sldId id="267" r:id="rId12"/>
    <p:sldId id="655" r:id="rId13"/>
    <p:sldId id="656" r:id="rId14"/>
    <p:sldId id="657" r:id="rId15"/>
    <p:sldId id="658" r:id="rId16"/>
    <p:sldId id="659" r:id="rId17"/>
    <p:sldId id="660" r:id="rId18"/>
    <p:sldId id="661" r:id="rId19"/>
    <p:sldId id="662" r:id="rId20"/>
    <p:sldId id="663" r:id="rId21"/>
    <p:sldId id="665" r:id="rId22"/>
    <p:sldId id="668" r:id="rId23"/>
    <p:sldId id="669" r:id="rId24"/>
    <p:sldId id="670" r:id="rId25"/>
    <p:sldId id="671" r:id="rId26"/>
    <p:sldId id="672" r:id="rId27"/>
    <p:sldId id="673" r:id="rId28"/>
    <p:sldId id="666" r:id="rId29"/>
    <p:sldId id="667" r:id="rId30"/>
    <p:sldId id="674" r:id="rId31"/>
    <p:sldId id="50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95176-1B7E-4134-A4A4-FA8B8BAB8258}" type="datetimeFigureOut">
              <a:rPr lang="en-IN" smtClean="0"/>
              <a:t>02-01-2025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64666B-1871-4BE8-8B07-FC107D30F733}" type="slidenum">
              <a:rPr lang="en-IN" smtClean="0"/>
              <a:t>‹#›</a:t>
            </a:fld>
            <a:endParaRPr lang="en-IN"/>
          </a:p>
        </p:txBody>
      </p:sp>
    </p:spTree>
    <p:extLst>
      <p:ext uri="{BB962C8B-B14F-4D97-AF65-F5344CB8AC3E}">
        <p14:creationId xmlns:p14="http://schemas.microsoft.com/office/powerpoint/2010/main" val="1279329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p9: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924" name="Google Shape;924;p9: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p13: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p13: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a:extLst>
            <a:ext uri="{FF2B5EF4-FFF2-40B4-BE49-F238E27FC236}">
              <a16:creationId xmlns:a16="http://schemas.microsoft.com/office/drawing/2014/main" id="{0706CB3F-426E-4C34-7642-BAA6FC07B301}"/>
            </a:ext>
          </a:extLst>
        </p:cNvPr>
        <p:cNvGrpSpPr/>
        <p:nvPr/>
      </p:nvGrpSpPr>
      <p:grpSpPr>
        <a:xfrm>
          <a:off x="0" y="0"/>
          <a:ext cx="0" cy="0"/>
          <a:chOff x="0" y="0"/>
          <a:chExt cx="0" cy="0"/>
        </a:xfrm>
      </p:grpSpPr>
      <p:sp>
        <p:nvSpPr>
          <p:cNvPr id="612" name="Google Shape;612;p1:notes">
            <a:extLst>
              <a:ext uri="{FF2B5EF4-FFF2-40B4-BE49-F238E27FC236}">
                <a16:creationId xmlns:a16="http://schemas.microsoft.com/office/drawing/2014/main" id="{C23EABDB-A875-62EE-16FD-EC5F58D3212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a:extLst>
              <a:ext uri="{FF2B5EF4-FFF2-40B4-BE49-F238E27FC236}">
                <a16:creationId xmlns:a16="http://schemas.microsoft.com/office/drawing/2014/main" id="{C427067D-504B-6AC5-076A-B7A3FDB685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3037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Tools:</a:t>
            </a:r>
            <a:endParaRPr lang="en-US" dirty="0"/>
          </a:p>
          <a:p>
            <a:pPr>
              <a:buFont typeface="Arial" panose="020B0604020202020204" pitchFamily="34" charset="0"/>
              <a:buChar char="•"/>
            </a:pPr>
            <a:r>
              <a:rPr lang="en-US" b="1" dirty="0"/>
              <a:t>Cloud Build:</a:t>
            </a:r>
            <a:r>
              <a:rPr lang="en-US" dirty="0"/>
              <a:t> Functions as your CI/CD automation platform, handling everything from building and testing code to deploying your applications. It integrates seamlessly with other Google Cloud services and can automate complex workflows.</a:t>
            </a:r>
          </a:p>
          <a:p>
            <a:pPr>
              <a:buFont typeface="Arial" panose="020B0604020202020204" pitchFamily="34" charset="0"/>
              <a:buChar char="•"/>
            </a:pPr>
            <a:r>
              <a:rPr lang="en-US" b="1" dirty="0"/>
              <a:t>Cloud Source Repositories:</a:t>
            </a:r>
            <a:r>
              <a:rPr lang="en-US" dirty="0"/>
              <a:t> Provides fully managed Git repositories that are hosted on Google Cloud. It offers secure and private source code management with deep integration into the Google Cloud ecosystem.</a:t>
            </a:r>
          </a:p>
          <a:p>
            <a:pPr>
              <a:buFont typeface="Arial" panose="020B0604020202020204" pitchFamily="34" charset="0"/>
              <a:buChar char="•"/>
            </a:pPr>
            <a:r>
              <a:rPr lang="en-US" b="1" dirty="0"/>
              <a:t>Artifact Registry:</a:t>
            </a:r>
            <a:r>
              <a:rPr lang="en-US" dirty="0"/>
              <a:t> Serves as your central hub for storing and managing build artifacts. It can handle various types of packages including container images, Maven/Gradle dependencies, </a:t>
            </a:r>
            <a:r>
              <a:rPr lang="en-US" dirty="0" err="1"/>
              <a:t>npm</a:t>
            </a:r>
            <a:r>
              <a:rPr lang="en-US" dirty="0"/>
              <a:t> packages, and other build outputs.</a:t>
            </a:r>
          </a:p>
          <a:p>
            <a:r>
              <a:rPr lang="en-US" b="1" dirty="0"/>
              <a:t>How They Work Together:</a:t>
            </a:r>
            <a:endParaRPr lang="en-US" dirty="0"/>
          </a:p>
          <a:p>
            <a:pPr>
              <a:buFont typeface="Arial" panose="020B0604020202020204" pitchFamily="34" charset="0"/>
              <a:buChar char="•"/>
            </a:pPr>
            <a:r>
              <a:rPr lang="en-US" dirty="0"/>
              <a:t>Cloud Source Repositories acts as the foundation by hosting your source code in secure Git repositories. Teams can collaborate, manage versions, and trigger automated processes from here.</a:t>
            </a:r>
          </a:p>
          <a:p>
            <a:pPr>
              <a:buFont typeface="Arial" panose="020B0604020202020204" pitchFamily="34" charset="0"/>
              <a:buChar char="•"/>
            </a:pPr>
            <a:r>
              <a:rPr lang="en-US" dirty="0"/>
              <a:t>Cloud Build picks up changes from Cloud Source Repositories and executes your defined CI/CD pipelines. It can automatically build, test, and prepare your applications for deployment based on your specifications.</a:t>
            </a:r>
          </a:p>
          <a:p>
            <a:pPr>
              <a:buFont typeface="Arial" panose="020B0604020202020204" pitchFamily="34" charset="0"/>
              <a:buChar char="•"/>
            </a:pPr>
            <a:r>
              <a:rPr lang="en-US" dirty="0"/>
              <a:t>Artifact Registry stores the outputs from Cloud Build processes, making them available for deployment or further use. These artifacts are version-controlled and easily accessible for your deployment needs.</a:t>
            </a:r>
          </a:p>
        </p:txBody>
      </p:sp>
      <p:sp>
        <p:nvSpPr>
          <p:cNvPr id="4" name="Slide Number Placeholder 3"/>
          <p:cNvSpPr>
            <a:spLocks noGrp="1"/>
          </p:cNvSpPr>
          <p:nvPr>
            <p:ph type="sldNum" sz="quarter" idx="5"/>
          </p:nvPr>
        </p:nvSpPr>
        <p:spPr/>
        <p:txBody>
          <a:bodyPr/>
          <a:lstStyle/>
          <a:p>
            <a:fld id="{9364666B-1871-4BE8-8B07-FC107D30F733}" type="slidenum">
              <a:rPr lang="en-IN" smtClean="0"/>
              <a:t>23</a:t>
            </a:fld>
            <a:endParaRPr lang="en-IN"/>
          </a:p>
        </p:txBody>
      </p:sp>
    </p:spTree>
    <p:extLst>
      <p:ext uri="{BB962C8B-B14F-4D97-AF65-F5344CB8AC3E}">
        <p14:creationId xmlns:p14="http://schemas.microsoft.com/office/powerpoint/2010/main" val="1014908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F06D0-7C85-4761-8A87-193FB96A0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D267F-078A-0C9E-B58D-3935EF0468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8BB647-6E40-3B1B-5725-32383BB06089}"/>
              </a:ext>
            </a:extLst>
          </p:cNvPr>
          <p:cNvSpPr>
            <a:spLocks noGrp="1"/>
          </p:cNvSpPr>
          <p:nvPr>
            <p:ph type="body" idx="1"/>
          </p:nvPr>
        </p:nvSpPr>
        <p:spPr/>
        <p:txBody>
          <a:bodyPr/>
          <a:lstStyle/>
          <a:p>
            <a:pPr>
              <a:buFont typeface="Arial" panose="020B0604020202020204" pitchFamily="34" charset="0"/>
              <a:buChar char="•"/>
            </a:pPr>
            <a:r>
              <a:rPr lang="en-US" dirty="0"/>
              <a:t>"Cloud Build is a fully managed, serverless CI/CD service that eliminates the need for maintaining build servers."</a:t>
            </a:r>
          </a:p>
          <a:p>
            <a:pPr>
              <a:buFont typeface="Arial" panose="020B0604020202020204" pitchFamily="34" charset="0"/>
              <a:buChar char="•"/>
            </a:pPr>
            <a:r>
              <a:rPr lang="en-US" dirty="0"/>
              <a:t>"It supports a wide range of environments, making it versatile for different programming languages and frameworks."</a:t>
            </a:r>
          </a:p>
          <a:p>
            <a:pPr>
              <a:buFont typeface="Arial" panose="020B0604020202020204" pitchFamily="34" charset="0"/>
              <a:buChar char="•"/>
            </a:pPr>
            <a:r>
              <a:rPr lang="en-US" dirty="0"/>
              <a:t>"One of its strengths is the ability to define custom build workflows using simple YAML files, which we’ll explore in the hands-on session."</a:t>
            </a:r>
          </a:p>
          <a:p>
            <a:pPr>
              <a:buFont typeface="Arial" panose="020B0604020202020204" pitchFamily="34" charset="0"/>
              <a:buChar char="•"/>
            </a:pPr>
            <a:r>
              <a:rPr lang="en-US" dirty="0"/>
              <a:t>"It also integrates seamlessly with GCP services like Cloud Run, App Engine, and Kubernetes Engine, enabling end-to-end automation."</a:t>
            </a:r>
          </a:p>
        </p:txBody>
      </p:sp>
      <p:sp>
        <p:nvSpPr>
          <p:cNvPr id="4" name="Slide Number Placeholder 3">
            <a:extLst>
              <a:ext uri="{FF2B5EF4-FFF2-40B4-BE49-F238E27FC236}">
                <a16:creationId xmlns:a16="http://schemas.microsoft.com/office/drawing/2014/main" id="{1C7BCF30-DDD9-28AC-EDC7-1A73CBB03C2D}"/>
              </a:ext>
            </a:extLst>
          </p:cNvPr>
          <p:cNvSpPr>
            <a:spLocks noGrp="1"/>
          </p:cNvSpPr>
          <p:nvPr>
            <p:ph type="sldNum" sz="quarter" idx="5"/>
          </p:nvPr>
        </p:nvSpPr>
        <p:spPr/>
        <p:txBody>
          <a:bodyPr/>
          <a:lstStyle/>
          <a:p>
            <a:fld id="{9364666B-1871-4BE8-8B07-FC107D30F733}" type="slidenum">
              <a:rPr lang="en-IN" smtClean="0"/>
              <a:t>24</a:t>
            </a:fld>
            <a:endParaRPr lang="en-IN"/>
          </a:p>
        </p:txBody>
      </p:sp>
    </p:spTree>
    <p:extLst>
      <p:ext uri="{BB962C8B-B14F-4D97-AF65-F5344CB8AC3E}">
        <p14:creationId xmlns:p14="http://schemas.microsoft.com/office/powerpoint/2010/main" val="185238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DAE15-7432-122F-08C3-27A5D4A6AB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6D4492-4654-0882-AF81-078EA7659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32090-49DF-171C-4610-876ABC64C87B}"/>
              </a:ext>
            </a:extLst>
          </p:cNvPr>
          <p:cNvSpPr>
            <a:spLocks noGrp="1"/>
          </p:cNvSpPr>
          <p:nvPr>
            <p:ph type="body" idx="1"/>
          </p:nvPr>
        </p:nvSpPr>
        <p:spPr/>
        <p:txBody>
          <a:bodyPr/>
          <a:lstStyle/>
          <a:p>
            <a:pPr>
              <a:buFont typeface="Arial" panose="020B0604020202020204" pitchFamily="34" charset="0"/>
              <a:buChar char="•"/>
            </a:pPr>
            <a:r>
              <a:rPr lang="en-US" dirty="0"/>
              <a:t>"Cloud Build is a fully managed, serverless CI/CD service that eliminates the need for maintaining build servers."</a:t>
            </a:r>
          </a:p>
          <a:p>
            <a:pPr>
              <a:buFont typeface="Arial" panose="020B0604020202020204" pitchFamily="34" charset="0"/>
              <a:buChar char="•"/>
            </a:pPr>
            <a:r>
              <a:rPr lang="en-US" dirty="0"/>
              <a:t>"It supports a wide range of environments, making it versatile for different programming languages and frameworks."</a:t>
            </a:r>
          </a:p>
          <a:p>
            <a:pPr>
              <a:buFont typeface="Arial" panose="020B0604020202020204" pitchFamily="34" charset="0"/>
              <a:buChar char="•"/>
            </a:pPr>
            <a:r>
              <a:rPr lang="en-US" dirty="0"/>
              <a:t>"One of its strengths is the ability to define custom build workflows using simple YAML files, which we’ll explore in the hands-on session."</a:t>
            </a:r>
          </a:p>
          <a:p>
            <a:pPr>
              <a:buFont typeface="Arial" panose="020B0604020202020204" pitchFamily="34" charset="0"/>
              <a:buChar char="•"/>
            </a:pPr>
            <a:r>
              <a:rPr lang="en-US" dirty="0"/>
              <a:t>"It also integrates seamlessly with GCP services like Cloud Run, App Engine, and Kubernetes Engine, enabling end-to-end automation."</a:t>
            </a:r>
          </a:p>
        </p:txBody>
      </p:sp>
      <p:sp>
        <p:nvSpPr>
          <p:cNvPr id="4" name="Slide Number Placeholder 3">
            <a:extLst>
              <a:ext uri="{FF2B5EF4-FFF2-40B4-BE49-F238E27FC236}">
                <a16:creationId xmlns:a16="http://schemas.microsoft.com/office/drawing/2014/main" id="{955616C2-1105-D87C-6572-88D008271789}"/>
              </a:ext>
            </a:extLst>
          </p:cNvPr>
          <p:cNvSpPr>
            <a:spLocks noGrp="1"/>
          </p:cNvSpPr>
          <p:nvPr>
            <p:ph type="sldNum" sz="quarter" idx="5"/>
          </p:nvPr>
        </p:nvSpPr>
        <p:spPr/>
        <p:txBody>
          <a:bodyPr/>
          <a:lstStyle/>
          <a:p>
            <a:fld id="{9364666B-1871-4BE8-8B07-FC107D30F733}" type="slidenum">
              <a:rPr lang="en-IN" smtClean="0"/>
              <a:t>25</a:t>
            </a:fld>
            <a:endParaRPr lang="en-IN"/>
          </a:p>
        </p:txBody>
      </p:sp>
    </p:spTree>
    <p:extLst>
      <p:ext uri="{BB962C8B-B14F-4D97-AF65-F5344CB8AC3E}">
        <p14:creationId xmlns:p14="http://schemas.microsoft.com/office/powerpoint/2010/main" val="1362287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C8A67-9064-04E2-F373-4DBBAFE75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6B7C1-12E6-15AD-9F75-5F9793562E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9DEE5F-6D6D-F075-8EEF-EDE72F8CB17D}"/>
              </a:ext>
            </a:extLst>
          </p:cNvPr>
          <p:cNvSpPr>
            <a:spLocks noGrp="1"/>
          </p:cNvSpPr>
          <p:nvPr>
            <p:ph type="body" idx="1"/>
          </p:nvPr>
        </p:nvSpPr>
        <p:spPr/>
        <p:txBody>
          <a:bodyPr/>
          <a:lstStyle/>
          <a:p>
            <a:pPr>
              <a:buFont typeface="Arial" panose="020B0604020202020204" pitchFamily="34" charset="0"/>
              <a:buChar char="•"/>
            </a:pPr>
            <a:r>
              <a:rPr lang="en-US" dirty="0"/>
              <a:t>"Cloud Build accelerates development by automating repetitive tasks like building and testing code."</a:t>
            </a:r>
          </a:p>
          <a:p>
            <a:pPr>
              <a:buFont typeface="Arial" panose="020B0604020202020204" pitchFamily="34" charset="0"/>
              <a:buChar char="•"/>
            </a:pPr>
            <a:r>
              <a:rPr lang="en-US" dirty="0"/>
              <a:t>"Imagine committing your code to a repository, and within minutes, it’s tested and deployed to your production environment—that’s the power of Cloud Build."</a:t>
            </a:r>
          </a:p>
          <a:p>
            <a:pPr>
              <a:buFont typeface="Arial" panose="020B0604020202020204" pitchFamily="34" charset="0"/>
              <a:buChar char="•"/>
            </a:pPr>
            <a:r>
              <a:rPr lang="en-US" dirty="0"/>
              <a:t>"This level of automation reduces errors, improves consistency, and speeds up delivery cycles."</a:t>
            </a:r>
          </a:p>
        </p:txBody>
      </p:sp>
      <p:sp>
        <p:nvSpPr>
          <p:cNvPr id="4" name="Slide Number Placeholder 3">
            <a:extLst>
              <a:ext uri="{FF2B5EF4-FFF2-40B4-BE49-F238E27FC236}">
                <a16:creationId xmlns:a16="http://schemas.microsoft.com/office/drawing/2014/main" id="{55ECCAE1-99BE-DB0B-DA82-B8F6173C5D69}"/>
              </a:ext>
            </a:extLst>
          </p:cNvPr>
          <p:cNvSpPr>
            <a:spLocks noGrp="1"/>
          </p:cNvSpPr>
          <p:nvPr>
            <p:ph type="sldNum" sz="quarter" idx="5"/>
          </p:nvPr>
        </p:nvSpPr>
        <p:spPr/>
        <p:txBody>
          <a:bodyPr/>
          <a:lstStyle/>
          <a:p>
            <a:fld id="{9364666B-1871-4BE8-8B07-FC107D30F733}" type="slidenum">
              <a:rPr lang="en-IN" smtClean="0"/>
              <a:t>26</a:t>
            </a:fld>
            <a:endParaRPr lang="en-IN"/>
          </a:p>
        </p:txBody>
      </p:sp>
    </p:spTree>
    <p:extLst>
      <p:ext uri="{BB962C8B-B14F-4D97-AF65-F5344CB8AC3E}">
        <p14:creationId xmlns:p14="http://schemas.microsoft.com/office/powerpoint/2010/main" val="3404053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D943E-45CA-3FA4-3387-01518490D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D972E-376B-D69A-F9B7-887EFACBA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85153A-51F6-5266-081A-EF13156D8801}"/>
              </a:ext>
            </a:extLst>
          </p:cNvPr>
          <p:cNvSpPr>
            <a:spLocks noGrp="1"/>
          </p:cNvSpPr>
          <p:nvPr>
            <p:ph type="body" idx="1"/>
          </p:nvPr>
        </p:nvSpPr>
        <p:spPr/>
        <p:txBody>
          <a:bodyPr/>
          <a:lstStyle/>
          <a:p>
            <a:r>
              <a:rPr lang="en-US" b="1" dirty="0"/>
              <a:t>Steps to Set Up a Pipeline:</a:t>
            </a:r>
          </a:p>
          <a:p>
            <a:pPr>
              <a:buFont typeface="+mj-lt"/>
              <a:buAutoNum type="arabicPeriod"/>
            </a:pPr>
            <a:r>
              <a:rPr lang="en-US" b="1" dirty="0"/>
              <a:t>Prepare Source Code:</a:t>
            </a:r>
            <a:endParaRPr lang="en-US" dirty="0"/>
          </a:p>
          <a:p>
            <a:pPr marL="742950" lvl="1" indent="-285750">
              <a:buFont typeface="+mj-lt"/>
              <a:buAutoNum type="arabicPeriod"/>
            </a:pPr>
            <a:r>
              <a:rPr lang="en-US" dirty="0"/>
              <a:t>Store code in Cloud Source Repositories or another Git provider.</a:t>
            </a:r>
          </a:p>
          <a:p>
            <a:pPr>
              <a:buFont typeface="+mj-lt"/>
              <a:buAutoNum type="arabicPeriod"/>
            </a:pPr>
            <a:r>
              <a:rPr lang="en-US" b="1" dirty="0"/>
              <a:t>Create a Build Configuration File:</a:t>
            </a:r>
            <a:endParaRPr lang="en-US" dirty="0"/>
          </a:p>
          <a:p>
            <a:pPr marL="742950" lvl="1" indent="-285750">
              <a:buFont typeface="+mj-lt"/>
              <a:buAutoNum type="arabicPeriod"/>
            </a:pPr>
            <a:r>
              <a:rPr lang="en-US" dirty="0"/>
              <a:t>Use YAML to define build steps and environments.</a:t>
            </a:r>
          </a:p>
          <a:p>
            <a:pPr>
              <a:buFont typeface="+mj-lt"/>
              <a:buAutoNum type="arabicPeriod"/>
            </a:pPr>
            <a:r>
              <a:rPr lang="en-US" b="1" dirty="0"/>
              <a:t>Trigger Cloud Build:</a:t>
            </a:r>
            <a:endParaRPr lang="en-US" dirty="0"/>
          </a:p>
          <a:p>
            <a:pPr marL="742950" lvl="1" indent="-285750">
              <a:buFont typeface="+mj-lt"/>
              <a:buAutoNum type="arabicPeriod"/>
            </a:pPr>
            <a:r>
              <a:rPr lang="en-US" dirty="0"/>
              <a:t>Use the GCP Console or CLI to start the pipeline.</a:t>
            </a:r>
          </a:p>
          <a:p>
            <a:pPr>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21BCDAE5-301A-DD1B-C6DC-5F4F54F8C0DF}"/>
              </a:ext>
            </a:extLst>
          </p:cNvPr>
          <p:cNvSpPr>
            <a:spLocks noGrp="1"/>
          </p:cNvSpPr>
          <p:nvPr>
            <p:ph type="sldNum" sz="quarter" idx="5"/>
          </p:nvPr>
        </p:nvSpPr>
        <p:spPr/>
        <p:txBody>
          <a:bodyPr/>
          <a:lstStyle/>
          <a:p>
            <a:fld id="{9364666B-1871-4BE8-8B07-FC107D30F733}" type="slidenum">
              <a:rPr lang="en-IN" smtClean="0"/>
              <a:t>27</a:t>
            </a:fld>
            <a:endParaRPr lang="en-IN"/>
          </a:p>
        </p:txBody>
      </p:sp>
    </p:spTree>
    <p:extLst>
      <p:ext uri="{BB962C8B-B14F-4D97-AF65-F5344CB8AC3E}">
        <p14:creationId xmlns:p14="http://schemas.microsoft.com/office/powerpoint/2010/main" val="657540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9DED9-5CCE-D8B2-2394-1EF6042A5E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6DA52-0694-0A67-62DF-52520976F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AA7DB-D61B-C52A-0BC3-1B16F3D14765}"/>
              </a:ext>
            </a:extLst>
          </p:cNvPr>
          <p:cNvSpPr>
            <a:spLocks noGrp="1"/>
          </p:cNvSpPr>
          <p:nvPr>
            <p:ph type="body" idx="1"/>
          </p:nvPr>
        </p:nvSpPr>
        <p:spPr/>
        <p:txBody>
          <a:bodyPr/>
          <a:lstStyle/>
          <a:p>
            <a:r>
              <a:rPr lang="en-US" b="1" dirty="0"/>
              <a:t>Steps:</a:t>
            </a:r>
          </a:p>
          <a:p>
            <a:pPr>
              <a:buFont typeface="+mj-lt"/>
              <a:buAutoNum type="arabicPeriod"/>
            </a:pPr>
            <a:r>
              <a:rPr lang="en-US" b="1" dirty="0"/>
              <a:t>Enable Artifact Registry API:</a:t>
            </a:r>
            <a:endParaRPr lang="en-US" dirty="0"/>
          </a:p>
          <a:p>
            <a:pPr marL="742950" lvl="1" indent="-285750">
              <a:buFont typeface="+mj-lt"/>
              <a:buAutoNum type="arabicPeriod"/>
            </a:pPr>
            <a:r>
              <a:rPr lang="en-US" dirty="0"/>
              <a:t>Use GCP Console or CLI to activate the service.</a:t>
            </a:r>
          </a:p>
          <a:p>
            <a:pPr>
              <a:buFont typeface="+mj-lt"/>
              <a:buAutoNum type="arabicPeriod"/>
            </a:pPr>
            <a:r>
              <a:rPr lang="en-US" b="1" dirty="0"/>
              <a:t>Create a Repository:</a:t>
            </a:r>
            <a:endParaRPr lang="en-US" dirty="0"/>
          </a:p>
          <a:p>
            <a:pPr marL="742950" lvl="1" indent="-285750">
              <a:buFont typeface="+mj-lt"/>
              <a:buAutoNum type="arabicPeriod"/>
            </a:pPr>
            <a:r>
              <a:rPr lang="en-US" dirty="0"/>
              <a:t>Define repository type (e.g., Docker) and location.</a:t>
            </a:r>
          </a:p>
          <a:p>
            <a:pPr>
              <a:buFont typeface="+mj-lt"/>
              <a:buAutoNum type="arabicPeriod"/>
            </a:pPr>
            <a:r>
              <a:rPr lang="en-US" b="1" dirty="0"/>
              <a:t>Push Container Images:</a:t>
            </a:r>
            <a:endParaRPr lang="en-US" dirty="0"/>
          </a:p>
          <a:p>
            <a:pPr marL="742950" lvl="1" indent="-285750">
              <a:buFont typeface="+mj-lt"/>
              <a:buAutoNum type="arabicPeriod"/>
            </a:pPr>
            <a:r>
              <a:rPr lang="en-US"/>
              <a:t>Authenticate and use docker push to upload images.</a:t>
            </a:r>
          </a:p>
        </p:txBody>
      </p:sp>
      <p:sp>
        <p:nvSpPr>
          <p:cNvPr id="4" name="Slide Number Placeholder 3">
            <a:extLst>
              <a:ext uri="{FF2B5EF4-FFF2-40B4-BE49-F238E27FC236}">
                <a16:creationId xmlns:a16="http://schemas.microsoft.com/office/drawing/2014/main" id="{4C273174-B60E-AA28-90B7-B16ECA759DF3}"/>
              </a:ext>
            </a:extLst>
          </p:cNvPr>
          <p:cNvSpPr>
            <a:spLocks noGrp="1"/>
          </p:cNvSpPr>
          <p:nvPr>
            <p:ph type="sldNum" sz="quarter" idx="5"/>
          </p:nvPr>
        </p:nvSpPr>
        <p:spPr/>
        <p:txBody>
          <a:bodyPr/>
          <a:lstStyle/>
          <a:p>
            <a:fld id="{9364666B-1871-4BE8-8B07-FC107D30F733}" type="slidenum">
              <a:rPr lang="en-IN" smtClean="0"/>
              <a:t>30</a:t>
            </a:fld>
            <a:endParaRPr lang="en-IN"/>
          </a:p>
        </p:txBody>
      </p:sp>
    </p:spTree>
    <p:extLst>
      <p:ext uri="{BB962C8B-B14F-4D97-AF65-F5344CB8AC3E}">
        <p14:creationId xmlns:p14="http://schemas.microsoft.com/office/powerpoint/2010/main" val="3779302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5DF3-9927-799C-335A-CA1C5D0A23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7FFFC85-5503-E419-5D73-0C91170CE6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95C6D0E-E212-FBB5-14D7-439396D6F7D5}"/>
              </a:ext>
            </a:extLst>
          </p:cNvPr>
          <p:cNvSpPr>
            <a:spLocks noGrp="1"/>
          </p:cNvSpPr>
          <p:nvPr>
            <p:ph type="dt" sz="half" idx="10"/>
          </p:nvPr>
        </p:nvSpPr>
        <p:spPr/>
        <p:txBody>
          <a:bodyPr/>
          <a:lstStyle/>
          <a:p>
            <a:fld id="{484276C4-743D-4ABD-8CED-366984E16E9D}" type="datetimeFigureOut">
              <a:rPr lang="en-IN" smtClean="0"/>
              <a:t>02-01-2025</a:t>
            </a:fld>
            <a:endParaRPr lang="en-IN"/>
          </a:p>
        </p:txBody>
      </p:sp>
      <p:sp>
        <p:nvSpPr>
          <p:cNvPr id="5" name="Footer Placeholder 4">
            <a:extLst>
              <a:ext uri="{FF2B5EF4-FFF2-40B4-BE49-F238E27FC236}">
                <a16:creationId xmlns:a16="http://schemas.microsoft.com/office/drawing/2014/main" id="{1CEDEAE5-EF7E-798B-0DA3-3EDBEA83CE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770B01-85FE-54E2-8DE2-ED9A12247F74}"/>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3786833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9854E-E4CF-FD2D-BEDF-9722CBD9D6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07C33E-E6BA-CA05-372E-93C871D093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235E01-03EC-0286-C4CE-F9D253544197}"/>
              </a:ext>
            </a:extLst>
          </p:cNvPr>
          <p:cNvSpPr>
            <a:spLocks noGrp="1"/>
          </p:cNvSpPr>
          <p:nvPr>
            <p:ph type="dt" sz="half" idx="10"/>
          </p:nvPr>
        </p:nvSpPr>
        <p:spPr/>
        <p:txBody>
          <a:bodyPr/>
          <a:lstStyle/>
          <a:p>
            <a:fld id="{484276C4-743D-4ABD-8CED-366984E16E9D}" type="datetimeFigureOut">
              <a:rPr lang="en-IN" smtClean="0"/>
              <a:t>02-01-2025</a:t>
            </a:fld>
            <a:endParaRPr lang="en-IN"/>
          </a:p>
        </p:txBody>
      </p:sp>
      <p:sp>
        <p:nvSpPr>
          <p:cNvPr id="5" name="Footer Placeholder 4">
            <a:extLst>
              <a:ext uri="{FF2B5EF4-FFF2-40B4-BE49-F238E27FC236}">
                <a16:creationId xmlns:a16="http://schemas.microsoft.com/office/drawing/2014/main" id="{AB045B37-1528-FC9F-95A4-B86896E4FF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44EB15-CDC6-1DDF-ACE1-6021FFE37DE9}"/>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2568084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C3E60-3EED-C2D8-2713-5A5939D81E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9A3F87-DA1D-8176-8041-121B572679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DDA8B3-71E3-81BC-2347-1D37369C5298}"/>
              </a:ext>
            </a:extLst>
          </p:cNvPr>
          <p:cNvSpPr>
            <a:spLocks noGrp="1"/>
          </p:cNvSpPr>
          <p:nvPr>
            <p:ph type="dt" sz="half" idx="10"/>
          </p:nvPr>
        </p:nvSpPr>
        <p:spPr/>
        <p:txBody>
          <a:bodyPr/>
          <a:lstStyle/>
          <a:p>
            <a:fld id="{484276C4-743D-4ABD-8CED-366984E16E9D}" type="datetimeFigureOut">
              <a:rPr lang="en-IN" smtClean="0"/>
              <a:t>02-01-2025</a:t>
            </a:fld>
            <a:endParaRPr lang="en-IN"/>
          </a:p>
        </p:txBody>
      </p:sp>
      <p:sp>
        <p:nvSpPr>
          <p:cNvPr id="5" name="Footer Placeholder 4">
            <a:extLst>
              <a:ext uri="{FF2B5EF4-FFF2-40B4-BE49-F238E27FC236}">
                <a16:creationId xmlns:a16="http://schemas.microsoft.com/office/drawing/2014/main" id="{E7450139-8340-03A8-35A5-77B02EC596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78756E-7A36-2660-49A5-59637EB47569}"/>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1916937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ABC34-A30D-1FE3-592A-5C67D4CA4E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82EB8F-CFF4-9437-3127-23D4D6888C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02C7A2-78D4-5DE4-D6B8-6E1E1F7BFD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EF95EC-AB0E-DC5B-882D-A2DA65C01C40}"/>
              </a:ext>
            </a:extLst>
          </p:cNvPr>
          <p:cNvSpPr>
            <a:spLocks noGrp="1"/>
          </p:cNvSpPr>
          <p:nvPr>
            <p:ph type="dt" sz="half" idx="10"/>
          </p:nvPr>
        </p:nvSpPr>
        <p:spPr/>
        <p:txBody>
          <a:bodyPr/>
          <a:lstStyle/>
          <a:p>
            <a:fld id="{484276C4-743D-4ABD-8CED-366984E16E9D}" type="datetimeFigureOut">
              <a:rPr lang="en-IN" smtClean="0"/>
              <a:t>02-01-2025</a:t>
            </a:fld>
            <a:endParaRPr lang="en-IN"/>
          </a:p>
        </p:txBody>
      </p:sp>
      <p:sp>
        <p:nvSpPr>
          <p:cNvPr id="6" name="Footer Placeholder 5">
            <a:extLst>
              <a:ext uri="{FF2B5EF4-FFF2-40B4-BE49-F238E27FC236}">
                <a16:creationId xmlns:a16="http://schemas.microsoft.com/office/drawing/2014/main" id="{9D8E0005-D026-5525-676D-B2EFB787EA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E252D5-7BC8-EB03-7D82-F0C6A9454E28}"/>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2867386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26DF6-741A-D9D6-2B65-554494D283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70A9C9-818B-4864-6533-F7C00D8E0E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139128-F199-F6F1-8403-A0BDDA965D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7680A08-7125-0DFE-E916-4B33AE102D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62A229-F555-C247-F61E-021B9BC9E6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8DB3873-110E-0074-9C38-0F766DD6B531}"/>
              </a:ext>
            </a:extLst>
          </p:cNvPr>
          <p:cNvSpPr>
            <a:spLocks noGrp="1"/>
          </p:cNvSpPr>
          <p:nvPr>
            <p:ph type="dt" sz="half" idx="10"/>
          </p:nvPr>
        </p:nvSpPr>
        <p:spPr/>
        <p:txBody>
          <a:bodyPr/>
          <a:lstStyle/>
          <a:p>
            <a:fld id="{484276C4-743D-4ABD-8CED-366984E16E9D}" type="datetimeFigureOut">
              <a:rPr lang="en-IN" smtClean="0"/>
              <a:t>02-01-2025</a:t>
            </a:fld>
            <a:endParaRPr lang="en-IN"/>
          </a:p>
        </p:txBody>
      </p:sp>
      <p:sp>
        <p:nvSpPr>
          <p:cNvPr id="8" name="Footer Placeholder 7">
            <a:extLst>
              <a:ext uri="{FF2B5EF4-FFF2-40B4-BE49-F238E27FC236}">
                <a16:creationId xmlns:a16="http://schemas.microsoft.com/office/drawing/2014/main" id="{5B918D55-CF6C-1D9F-0644-BA2861580B7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F25CE60-BA3B-8A50-3C5E-6D6287B97E17}"/>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4271871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B3379-282D-2A29-E011-80005F59E29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93F226D-A58E-C8C8-AFDF-E0D5EDC8A87D}"/>
              </a:ext>
            </a:extLst>
          </p:cNvPr>
          <p:cNvSpPr>
            <a:spLocks noGrp="1"/>
          </p:cNvSpPr>
          <p:nvPr>
            <p:ph type="dt" sz="half" idx="10"/>
          </p:nvPr>
        </p:nvSpPr>
        <p:spPr/>
        <p:txBody>
          <a:bodyPr/>
          <a:lstStyle/>
          <a:p>
            <a:fld id="{484276C4-743D-4ABD-8CED-366984E16E9D}" type="datetimeFigureOut">
              <a:rPr lang="en-IN" smtClean="0"/>
              <a:t>02-01-2025</a:t>
            </a:fld>
            <a:endParaRPr lang="en-IN"/>
          </a:p>
        </p:txBody>
      </p:sp>
      <p:sp>
        <p:nvSpPr>
          <p:cNvPr id="4" name="Footer Placeholder 3">
            <a:extLst>
              <a:ext uri="{FF2B5EF4-FFF2-40B4-BE49-F238E27FC236}">
                <a16:creationId xmlns:a16="http://schemas.microsoft.com/office/drawing/2014/main" id="{0123CA83-03F5-E2E8-4F39-A326A6DA55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A9A7DD5-A02C-4662-6F94-74C3007D2A70}"/>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499348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F4FC4D-127F-E7A8-0050-815B1DDAE5FF}"/>
              </a:ext>
            </a:extLst>
          </p:cNvPr>
          <p:cNvSpPr>
            <a:spLocks noGrp="1"/>
          </p:cNvSpPr>
          <p:nvPr>
            <p:ph type="dt" sz="half" idx="10"/>
          </p:nvPr>
        </p:nvSpPr>
        <p:spPr/>
        <p:txBody>
          <a:bodyPr/>
          <a:lstStyle/>
          <a:p>
            <a:fld id="{484276C4-743D-4ABD-8CED-366984E16E9D}" type="datetimeFigureOut">
              <a:rPr lang="en-IN" smtClean="0"/>
              <a:t>02-01-2025</a:t>
            </a:fld>
            <a:endParaRPr lang="en-IN"/>
          </a:p>
        </p:txBody>
      </p:sp>
      <p:sp>
        <p:nvSpPr>
          <p:cNvPr id="3" name="Footer Placeholder 2">
            <a:extLst>
              <a:ext uri="{FF2B5EF4-FFF2-40B4-BE49-F238E27FC236}">
                <a16:creationId xmlns:a16="http://schemas.microsoft.com/office/drawing/2014/main" id="{61D007CF-42CA-2734-EF40-6ACA48A34C9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055224-833E-C849-97DB-4FB5C2CBEB71}"/>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1217544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82C63-4090-68A0-875B-68EFF3AD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9FAB8F1-0911-F801-E607-47B7CD1B66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9D002F8-C451-7830-2141-7FBBC0A624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5AB293-FC3E-F81E-B570-4EB53E4BE084}"/>
              </a:ext>
            </a:extLst>
          </p:cNvPr>
          <p:cNvSpPr>
            <a:spLocks noGrp="1"/>
          </p:cNvSpPr>
          <p:nvPr>
            <p:ph type="dt" sz="half" idx="10"/>
          </p:nvPr>
        </p:nvSpPr>
        <p:spPr/>
        <p:txBody>
          <a:bodyPr/>
          <a:lstStyle/>
          <a:p>
            <a:fld id="{484276C4-743D-4ABD-8CED-366984E16E9D}" type="datetimeFigureOut">
              <a:rPr lang="en-IN" smtClean="0"/>
              <a:t>02-01-2025</a:t>
            </a:fld>
            <a:endParaRPr lang="en-IN"/>
          </a:p>
        </p:txBody>
      </p:sp>
      <p:sp>
        <p:nvSpPr>
          <p:cNvPr id="6" name="Footer Placeholder 5">
            <a:extLst>
              <a:ext uri="{FF2B5EF4-FFF2-40B4-BE49-F238E27FC236}">
                <a16:creationId xmlns:a16="http://schemas.microsoft.com/office/drawing/2014/main" id="{30D0440F-008C-3FE9-9131-4C14DE6393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735026-AD80-CC20-8622-685E5C5BA878}"/>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1586904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7DB59-1DBB-C282-E845-763AB5EDE5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519B9A-52EB-1AEC-F578-EC8C20C575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DB590C9-28C1-2404-03F3-3F758082E0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A5F3E2-7F0A-AC2C-B734-BBBBEAA953EC}"/>
              </a:ext>
            </a:extLst>
          </p:cNvPr>
          <p:cNvSpPr>
            <a:spLocks noGrp="1"/>
          </p:cNvSpPr>
          <p:nvPr>
            <p:ph type="dt" sz="half" idx="10"/>
          </p:nvPr>
        </p:nvSpPr>
        <p:spPr/>
        <p:txBody>
          <a:bodyPr/>
          <a:lstStyle/>
          <a:p>
            <a:fld id="{484276C4-743D-4ABD-8CED-366984E16E9D}" type="datetimeFigureOut">
              <a:rPr lang="en-IN" smtClean="0"/>
              <a:t>02-01-2025</a:t>
            </a:fld>
            <a:endParaRPr lang="en-IN"/>
          </a:p>
        </p:txBody>
      </p:sp>
      <p:sp>
        <p:nvSpPr>
          <p:cNvPr id="6" name="Footer Placeholder 5">
            <a:extLst>
              <a:ext uri="{FF2B5EF4-FFF2-40B4-BE49-F238E27FC236}">
                <a16:creationId xmlns:a16="http://schemas.microsoft.com/office/drawing/2014/main" id="{323E9C61-32C7-CF1B-53DC-EEB581C4D9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66250B-FC77-4B99-7B83-A0F53FC5D73E}"/>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2364973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4426E-F58E-86A6-D69B-B6B7CC7AD90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09B52D-DA00-FF49-447B-FD03E9139C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3D40A8-8443-52BE-8366-B4F559251E15}"/>
              </a:ext>
            </a:extLst>
          </p:cNvPr>
          <p:cNvSpPr>
            <a:spLocks noGrp="1"/>
          </p:cNvSpPr>
          <p:nvPr>
            <p:ph type="dt" sz="half" idx="10"/>
          </p:nvPr>
        </p:nvSpPr>
        <p:spPr/>
        <p:txBody>
          <a:bodyPr/>
          <a:lstStyle/>
          <a:p>
            <a:fld id="{484276C4-743D-4ABD-8CED-366984E16E9D}" type="datetimeFigureOut">
              <a:rPr lang="en-IN" smtClean="0"/>
              <a:t>02-01-2025</a:t>
            </a:fld>
            <a:endParaRPr lang="en-IN"/>
          </a:p>
        </p:txBody>
      </p:sp>
      <p:sp>
        <p:nvSpPr>
          <p:cNvPr id="5" name="Footer Placeholder 4">
            <a:extLst>
              <a:ext uri="{FF2B5EF4-FFF2-40B4-BE49-F238E27FC236}">
                <a16:creationId xmlns:a16="http://schemas.microsoft.com/office/drawing/2014/main" id="{48B179DB-B653-6D4E-A433-8793C7748F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A02BE9-4ABE-67E9-85CB-9D5B1FF02747}"/>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1105745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47C9EA-001D-E2D7-9633-ADFBE60CBF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572E64-0E46-1C28-C934-5A0CB3B8C2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941C91-AC32-0D7F-5DFD-71DFBCB9BC79}"/>
              </a:ext>
            </a:extLst>
          </p:cNvPr>
          <p:cNvSpPr>
            <a:spLocks noGrp="1"/>
          </p:cNvSpPr>
          <p:nvPr>
            <p:ph type="dt" sz="half" idx="10"/>
          </p:nvPr>
        </p:nvSpPr>
        <p:spPr/>
        <p:txBody>
          <a:bodyPr/>
          <a:lstStyle/>
          <a:p>
            <a:fld id="{484276C4-743D-4ABD-8CED-366984E16E9D}" type="datetimeFigureOut">
              <a:rPr lang="en-IN" smtClean="0"/>
              <a:t>02-01-2025</a:t>
            </a:fld>
            <a:endParaRPr lang="en-IN"/>
          </a:p>
        </p:txBody>
      </p:sp>
      <p:sp>
        <p:nvSpPr>
          <p:cNvPr id="5" name="Footer Placeholder 4">
            <a:extLst>
              <a:ext uri="{FF2B5EF4-FFF2-40B4-BE49-F238E27FC236}">
                <a16:creationId xmlns:a16="http://schemas.microsoft.com/office/drawing/2014/main" id="{0BEF1607-3C6C-EED3-B259-776A2AA91F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5C20C3-08D5-0B5E-C93F-396C3AAD6B24}"/>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651660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2A46D8-81BA-E357-A9B9-26062FF817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7B3C1B-644C-BF14-9501-2AE7E46E9C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00DE9E-CF1D-F112-CFD7-2F2B950013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276C4-743D-4ABD-8CED-366984E16E9D}" type="datetimeFigureOut">
              <a:rPr lang="en-IN" smtClean="0"/>
              <a:t>02-01-2025</a:t>
            </a:fld>
            <a:endParaRPr lang="en-IN"/>
          </a:p>
        </p:txBody>
      </p:sp>
      <p:sp>
        <p:nvSpPr>
          <p:cNvPr id="5" name="Footer Placeholder 4">
            <a:extLst>
              <a:ext uri="{FF2B5EF4-FFF2-40B4-BE49-F238E27FC236}">
                <a16:creationId xmlns:a16="http://schemas.microsoft.com/office/drawing/2014/main" id="{7F68BB27-3A78-B41A-7CCE-3D6C8573F2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5F9156-6F91-D63E-CA7B-9A8AD485F3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326ACC-6C02-4444-B52B-8DF957F88ADE}" type="slidenum">
              <a:rPr lang="en-IN" smtClean="0"/>
              <a:t>‹#›</a:t>
            </a:fld>
            <a:endParaRPr lang="en-IN"/>
          </a:p>
        </p:txBody>
      </p:sp>
    </p:spTree>
    <p:extLst>
      <p:ext uri="{BB962C8B-B14F-4D97-AF65-F5344CB8AC3E}">
        <p14:creationId xmlns:p14="http://schemas.microsoft.com/office/powerpoint/2010/main" val="1421200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3.emf"/><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png"/><Relationship Id="rId16"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5.emf"/><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4.emf"/><Relationship Id="rId9" Type="http://schemas.openxmlformats.org/officeDocument/2006/relationships/image" Target="../media/image10.png"/><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6.png"/><Relationship Id="rId3" Type="http://schemas.openxmlformats.org/officeDocument/2006/relationships/image" Target="../media/image3.emf"/><Relationship Id="rId7" Type="http://schemas.openxmlformats.org/officeDocument/2006/relationships/image" Target="../media/image8.png"/><Relationship Id="rId12"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3.png"/><Relationship Id="rId5" Type="http://schemas.openxmlformats.org/officeDocument/2006/relationships/image" Target="../media/image5.emf"/><Relationship Id="rId15" Type="http://schemas.openxmlformats.org/officeDocument/2006/relationships/image" Target="../media/image19.png"/><Relationship Id="rId10" Type="http://schemas.openxmlformats.org/officeDocument/2006/relationships/image" Target="../media/image11.png"/><Relationship Id="rId4" Type="http://schemas.openxmlformats.org/officeDocument/2006/relationships/image" Target="../media/image4.emf"/><Relationship Id="rId9" Type="http://schemas.openxmlformats.org/officeDocument/2006/relationships/image" Target="../media/image10.png"/><Relationship Id="rId1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5.emf"/><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5.emf"/><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3.emf"/><Relationship Id="rId7"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5.emf"/><Relationship Id="rId10" Type="http://schemas.openxmlformats.org/officeDocument/2006/relationships/image" Target="../media/image27.png"/><Relationship Id="rId4" Type="http://schemas.openxmlformats.org/officeDocument/2006/relationships/image" Target="../media/image4.emf"/><Relationship Id="rId9"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emf"/><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5.emf"/><Relationship Id="rId4" Type="http://schemas.openxmlformats.org/officeDocument/2006/relationships/image" Target="../media/image4.emf"/></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5.emf"/><Relationship Id="rId4" Type="http://schemas.openxmlformats.org/officeDocument/2006/relationships/image" Target="../media/image4.emf"/></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5.emf"/><Relationship Id="rId4" Type="http://schemas.openxmlformats.org/officeDocument/2006/relationships/image" Target="../media/image4.emf"/></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5.emf"/><Relationship Id="rId4" Type="http://schemas.openxmlformats.org/officeDocument/2006/relationships/image" Target="../media/image4.emf"/></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Continuous Integration</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p9"/>
          <p:cNvSpPr txBox="1"/>
          <p:nvPr/>
        </p:nvSpPr>
        <p:spPr>
          <a:xfrm>
            <a:off x="8623200" y="6356160"/>
            <a:ext cx="2742720" cy="364800"/>
          </a:xfrm>
          <a:prstGeom prst="rect">
            <a:avLst/>
          </a:prstGeom>
          <a:noFill/>
          <a:ln>
            <a:noFill/>
          </a:ln>
        </p:spPr>
        <p:txBody>
          <a:bodyPr spcFirstLastPara="1" wrap="square" lIns="121900" tIns="60933" rIns="121900" bIns="60933" anchor="ctr" anchorCtr="0">
            <a:noAutofit/>
          </a:bodyPr>
          <a:lstStyle/>
          <a:p>
            <a:pPr algn="r">
              <a:buClr>
                <a:srgbClr val="000000"/>
              </a:buClr>
              <a:buSzPts val="900"/>
            </a:pPr>
            <a:fld id="{00000000-1234-1234-1234-123412341234}" type="slidenum">
              <a:rPr lang="en-GB" sz="1200">
                <a:solidFill>
                  <a:srgbClr val="FFFFFF"/>
                </a:solidFill>
                <a:latin typeface="Proxima Nova"/>
                <a:ea typeface="Proxima Nova"/>
                <a:cs typeface="Proxima Nova"/>
                <a:sym typeface="Proxima Nova"/>
              </a:rPr>
              <a:pPr algn="r">
                <a:buClr>
                  <a:srgbClr val="000000"/>
                </a:buClr>
                <a:buSzPts val="900"/>
              </a:pPr>
              <a:t>2</a:t>
            </a:fld>
            <a:endParaRPr sz="1200">
              <a:solidFill>
                <a:srgbClr val="000000"/>
              </a:solidFill>
              <a:latin typeface="Times New Roman"/>
              <a:ea typeface="Times New Roman"/>
              <a:cs typeface="Times New Roman"/>
              <a:sym typeface="Times New Roman"/>
            </a:endParaRPr>
          </a:p>
        </p:txBody>
      </p:sp>
      <p:sp>
        <p:nvSpPr>
          <p:cNvPr id="927" name="Google Shape;927;p9"/>
          <p:cNvSpPr/>
          <p:nvPr/>
        </p:nvSpPr>
        <p:spPr>
          <a:xfrm>
            <a:off x="1534080" y="2915040"/>
            <a:ext cx="9122880" cy="1027200"/>
          </a:xfrm>
          <a:prstGeom prst="rect">
            <a:avLst/>
          </a:prstGeom>
          <a:noFill/>
          <a:ln>
            <a:noFill/>
          </a:ln>
        </p:spPr>
        <p:txBody>
          <a:bodyPr spcFirstLastPara="1" wrap="square" lIns="121900" tIns="60933" rIns="121900" bIns="60933" anchor="t" anchorCtr="0">
            <a:noAutofit/>
          </a:bodyPr>
          <a:lstStyle/>
          <a:p>
            <a:pPr algn="ctr">
              <a:buClr>
                <a:srgbClr val="000000"/>
              </a:buClr>
              <a:buSzPts val="3200"/>
            </a:pPr>
            <a:r>
              <a:rPr lang="en-GB" sz="4267">
                <a:solidFill>
                  <a:srgbClr val="FFFFFF"/>
                </a:solidFill>
                <a:latin typeface="Proxima Nova"/>
                <a:ea typeface="Proxima Nova"/>
                <a:cs typeface="Proxima Nova"/>
                <a:sym typeface="Proxima Nova"/>
              </a:rPr>
              <a:t>Continuous Integration</a:t>
            </a:r>
            <a:endParaRPr sz="4267">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932;p11">
            <a:extLst>
              <a:ext uri="{FF2B5EF4-FFF2-40B4-BE49-F238E27FC236}">
                <a16:creationId xmlns:a16="http://schemas.microsoft.com/office/drawing/2014/main" id="{DCD1DDF9-C3F4-CF35-7D14-5DC437D22189}"/>
              </a:ext>
            </a:extLst>
          </p:cNvPr>
          <p:cNvSpPr/>
          <p:nvPr/>
        </p:nvSpPr>
        <p:spPr>
          <a:xfrm>
            <a:off x="2243958" y="1389382"/>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Continuous Integration: A Recap</a:t>
            </a:r>
            <a:endParaRPr sz="2540" b="0" i="0" u="none" strike="noStrike" cap="none" dirty="0">
              <a:latin typeface="Arial"/>
              <a:ea typeface="Arial"/>
              <a:cs typeface="Arial"/>
              <a:sym typeface="Arial"/>
            </a:endParaRPr>
          </a:p>
        </p:txBody>
      </p:sp>
      <p:sp>
        <p:nvSpPr>
          <p:cNvPr id="11" name="Google Shape;934;p11">
            <a:extLst>
              <a:ext uri="{FF2B5EF4-FFF2-40B4-BE49-F238E27FC236}">
                <a16:creationId xmlns:a16="http://schemas.microsoft.com/office/drawing/2014/main" id="{5C16E276-7512-6159-FF09-4FB3150CA3D8}"/>
              </a:ext>
            </a:extLst>
          </p:cNvPr>
          <p:cNvSpPr/>
          <p:nvPr/>
        </p:nvSpPr>
        <p:spPr>
          <a:xfrm>
            <a:off x="1633464" y="2488248"/>
            <a:ext cx="8136720" cy="1703160"/>
          </a:xfrm>
          <a:prstGeom prst="rect">
            <a:avLst/>
          </a:prstGeom>
          <a:noFill/>
          <a:ln>
            <a:noFill/>
          </a:ln>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Continuous Integration (CI) is a development practice that requires developers to </a:t>
            </a:r>
            <a:r>
              <a:rPr lang="en-GB" sz="1600" b="1" i="0" u="none" strike="noStrike" cap="none">
                <a:solidFill>
                  <a:srgbClr val="000000"/>
                </a:solidFill>
                <a:latin typeface="Arial"/>
                <a:ea typeface="Arial"/>
                <a:cs typeface="Arial"/>
                <a:sym typeface="Arial"/>
              </a:rPr>
              <a:t>integrate code</a:t>
            </a:r>
            <a:r>
              <a:rPr lang="en-GB" sz="1400" b="0" i="0" u="none" strike="noStrike" cap="none">
                <a:solidFill>
                  <a:srgbClr val="000000"/>
                </a:solidFill>
                <a:latin typeface="Arial"/>
                <a:ea typeface="Arial"/>
                <a:cs typeface="Arial"/>
                <a:sym typeface="Arial"/>
              </a:rPr>
              <a:t> into a shared repository </a:t>
            </a:r>
            <a:r>
              <a:rPr lang="en-GB" sz="1600" b="1" i="0" u="none" strike="noStrike" cap="none">
                <a:solidFill>
                  <a:srgbClr val="000000"/>
                </a:solidFill>
                <a:latin typeface="Arial"/>
                <a:ea typeface="Arial"/>
                <a:cs typeface="Arial"/>
                <a:sym typeface="Arial"/>
              </a:rPr>
              <a:t>several times a day</a:t>
            </a:r>
            <a:r>
              <a:rPr lang="en-GB" sz="1400" b="0" i="0" u="none" strike="noStrike" cap="none">
                <a:solidFill>
                  <a:srgbClr val="000000"/>
                </a:solidFill>
                <a:latin typeface="Arial"/>
                <a:ea typeface="Arial"/>
                <a:cs typeface="Arial"/>
                <a:sym typeface="Arial"/>
              </a:rPr>
              <a:t>. Each check-in is then verified by an </a:t>
            </a:r>
            <a:r>
              <a:rPr lang="en-GB" sz="1600" b="1" i="0" u="none" strike="noStrike" cap="none">
                <a:solidFill>
                  <a:srgbClr val="000000"/>
                </a:solidFill>
                <a:latin typeface="Arial"/>
                <a:ea typeface="Arial"/>
                <a:cs typeface="Arial"/>
                <a:sym typeface="Arial"/>
              </a:rPr>
              <a:t>automated build</a:t>
            </a:r>
            <a:r>
              <a:rPr lang="en-GB" sz="1400" b="0" i="0" u="none" strike="noStrike" cap="none">
                <a:solidFill>
                  <a:srgbClr val="000000"/>
                </a:solidFill>
                <a:latin typeface="Arial"/>
                <a:ea typeface="Arial"/>
                <a:cs typeface="Arial"/>
                <a:sym typeface="Arial"/>
              </a:rPr>
              <a:t>, thereby allowing teams to detect problems early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br>
              <a:rPr lang="en-GB" sz="1800" b="0" i="0" u="none" strike="noStrike" cap="none">
                <a:solidFill>
                  <a:srgbClr val="000000"/>
                </a:solidFill>
                <a:latin typeface="Arial"/>
                <a:ea typeface="Arial"/>
                <a:cs typeface="Arial"/>
                <a:sym typeface="Arial"/>
              </a:rPr>
            </a:br>
            <a:r>
              <a:rPr lang="en-GB" sz="1400" b="0" i="0" u="none" strike="noStrike" cap="none">
                <a:solidFill>
                  <a:srgbClr val="000000"/>
                </a:solidFill>
                <a:latin typeface="Arial"/>
                <a:ea typeface="Arial"/>
                <a:cs typeface="Arial"/>
                <a:sym typeface="Arial"/>
              </a:rPr>
              <a:t>By </a:t>
            </a:r>
            <a:r>
              <a:rPr lang="en-GB" sz="1600" b="1" i="0" u="none" strike="noStrike" cap="none">
                <a:solidFill>
                  <a:srgbClr val="000000"/>
                </a:solidFill>
                <a:latin typeface="Arial"/>
                <a:ea typeface="Arial"/>
                <a:cs typeface="Arial"/>
                <a:sym typeface="Arial"/>
              </a:rPr>
              <a:t>integrating code regularly</a:t>
            </a:r>
            <a:r>
              <a:rPr lang="en-GB" sz="1400" b="0" i="0" u="none" strike="noStrike" cap="none">
                <a:solidFill>
                  <a:srgbClr val="000000"/>
                </a:solidFill>
                <a:latin typeface="Arial"/>
                <a:ea typeface="Arial"/>
                <a:cs typeface="Arial"/>
                <a:sym typeface="Arial"/>
              </a:rPr>
              <a:t>, you can detect errors quickly, and locate them more easily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400"/>
              <a:buFont typeface="Arial"/>
              <a:buNone/>
            </a:pPr>
            <a:r>
              <a:rPr lang="en-GB" sz="1400" b="0" i="1" u="none" strike="noStrike" cap="none">
                <a:solidFill>
                  <a:srgbClr val="203864"/>
                </a:solidFill>
                <a:latin typeface="Arial"/>
                <a:ea typeface="Arial"/>
                <a:cs typeface="Arial"/>
                <a:sym typeface="Arial"/>
              </a:rPr>
              <a:t>thoughtworks.com</a:t>
            </a:r>
            <a:endParaRPr sz="1400" b="0" i="0" u="none" strike="noStrike" cap="none">
              <a:solidFill>
                <a:srgbClr val="000000"/>
              </a:solidFill>
              <a:latin typeface="Arial"/>
              <a:ea typeface="Arial"/>
              <a:cs typeface="Arial"/>
              <a:sym typeface="Arial"/>
            </a:endParaRPr>
          </a:p>
        </p:txBody>
      </p:sp>
      <p:sp>
        <p:nvSpPr>
          <p:cNvPr id="12" name="Google Shape;935;p11">
            <a:extLst>
              <a:ext uri="{FF2B5EF4-FFF2-40B4-BE49-F238E27FC236}">
                <a16:creationId xmlns:a16="http://schemas.microsoft.com/office/drawing/2014/main" id="{4614371B-7742-1D19-44D8-7D5D93E9992B}"/>
              </a:ext>
            </a:extLst>
          </p:cNvPr>
          <p:cNvSpPr/>
          <p:nvPr/>
        </p:nvSpPr>
        <p:spPr>
          <a:xfrm>
            <a:off x="1659024" y="2133648"/>
            <a:ext cx="1368360" cy="3034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500" b="0" i="0" u="none" strike="noStrike" cap="none">
              <a:solidFill>
                <a:srgbClr val="000000"/>
              </a:solidFill>
              <a:latin typeface="Arial"/>
              <a:ea typeface="Arial"/>
              <a:cs typeface="Arial"/>
              <a:sym typeface="Arial"/>
            </a:endParaRPr>
          </a:p>
        </p:txBody>
      </p:sp>
      <p:sp>
        <p:nvSpPr>
          <p:cNvPr id="13" name="Google Shape;936;p11">
            <a:extLst>
              <a:ext uri="{FF2B5EF4-FFF2-40B4-BE49-F238E27FC236}">
                <a16:creationId xmlns:a16="http://schemas.microsoft.com/office/drawing/2014/main" id="{5506A108-B9BF-0D89-F79D-377AC002663B}"/>
              </a:ext>
            </a:extLst>
          </p:cNvPr>
          <p:cNvSpPr/>
          <p:nvPr/>
        </p:nvSpPr>
        <p:spPr>
          <a:xfrm>
            <a:off x="1655784" y="4460328"/>
            <a:ext cx="8136720" cy="11253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1" u="none" strike="noStrike" cap="none" dirty="0">
                <a:solidFill>
                  <a:srgbClr val="0D0D0D"/>
                </a:solidFill>
                <a:latin typeface="Arial"/>
                <a:ea typeface="Arial"/>
                <a:cs typeface="Arial"/>
                <a:sym typeface="Arial"/>
              </a:rPr>
              <a:t>“Continuous Integration doesn’t get rid of bugs, but it does make them dramatically easier to find and remove”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400"/>
              <a:buFont typeface="Arial"/>
              <a:buNone/>
            </a:pPr>
            <a:r>
              <a:rPr lang="en-GB" sz="1400" b="1" i="0" u="none" strike="noStrike" cap="none" dirty="0">
                <a:solidFill>
                  <a:srgbClr val="203864"/>
                </a:solidFill>
                <a:latin typeface="Arial"/>
                <a:ea typeface="Arial"/>
                <a:cs typeface="Arial"/>
                <a:sym typeface="Arial"/>
              </a:rPr>
              <a:t>Martin Fowler</a:t>
            </a:r>
            <a:endParaRPr sz="1400" b="0" i="0" u="none" strike="noStrike" cap="none" dirty="0">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200"/>
              <a:buFont typeface="Arial"/>
              <a:buNone/>
            </a:pPr>
            <a:r>
              <a:rPr lang="en-GB" sz="1200" b="0" i="0" u="none" strike="noStrike" cap="none" dirty="0">
                <a:solidFill>
                  <a:srgbClr val="203864"/>
                </a:solidFill>
                <a:latin typeface="Arial"/>
                <a:ea typeface="Arial"/>
                <a:cs typeface="Arial"/>
                <a:sym typeface="Arial"/>
              </a:rPr>
              <a:t>Chief Scientist, </a:t>
            </a:r>
            <a:r>
              <a:rPr lang="en-GB" sz="1200" b="0" i="0" u="none" strike="noStrike" cap="none" dirty="0" err="1">
                <a:solidFill>
                  <a:srgbClr val="203864"/>
                </a:solidFill>
                <a:latin typeface="Arial"/>
                <a:ea typeface="Arial"/>
                <a:cs typeface="Arial"/>
                <a:sym typeface="Arial"/>
              </a:rPr>
              <a:t>ThoughtWorks</a:t>
            </a:r>
            <a:endParaRPr sz="12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623370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5" name="Google Shape;942;gd834dbe927_0_599">
            <a:extLst>
              <a:ext uri="{FF2B5EF4-FFF2-40B4-BE49-F238E27FC236}">
                <a16:creationId xmlns:a16="http://schemas.microsoft.com/office/drawing/2014/main" id="{23768F7B-4427-8F04-D0B6-441779B68725}"/>
              </a:ext>
            </a:extLst>
          </p:cNvPr>
          <p:cNvSpPr txBox="1"/>
          <p:nvPr/>
        </p:nvSpPr>
        <p:spPr>
          <a:xfrm>
            <a:off x="1455850" y="1948929"/>
            <a:ext cx="65079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dk1"/>
              </a:buClr>
              <a:buSzPts val="1100"/>
              <a:buFont typeface="Arial"/>
              <a:buNone/>
            </a:pPr>
            <a:r>
              <a:rPr lang="en-GB" sz="2540" b="0" i="0" u="none" strike="noStrike" cap="none" dirty="0">
                <a:latin typeface="Proxima Nova"/>
                <a:ea typeface="Proxima Nova"/>
                <a:cs typeface="Proxima Nova"/>
                <a:sym typeface="Proxima Nova"/>
              </a:rPr>
              <a:t>Drawbacks of Traditional SDLC</a:t>
            </a:r>
            <a:endParaRPr sz="2540" b="0" i="0" u="none" strike="noStrike" cap="none" dirty="0">
              <a:latin typeface="Proxima Nova"/>
              <a:ea typeface="Proxima Nova"/>
              <a:cs typeface="Proxima Nova"/>
              <a:sym typeface="Proxima Nova"/>
            </a:endParaRPr>
          </a:p>
        </p:txBody>
      </p:sp>
      <p:sp>
        <p:nvSpPr>
          <p:cNvPr id="17" name="Google Shape;944;gd834dbe927_0_599">
            <a:extLst>
              <a:ext uri="{FF2B5EF4-FFF2-40B4-BE49-F238E27FC236}">
                <a16:creationId xmlns:a16="http://schemas.microsoft.com/office/drawing/2014/main" id="{39A608FD-6178-2879-2B09-DB22F04373D6}"/>
              </a:ext>
            </a:extLst>
          </p:cNvPr>
          <p:cNvSpPr txBox="1"/>
          <p:nvPr/>
        </p:nvSpPr>
        <p:spPr>
          <a:xfrm>
            <a:off x="1167124" y="5571556"/>
            <a:ext cx="9046800" cy="803400"/>
          </a:xfrm>
          <a:prstGeom prst="rect">
            <a:avLst/>
          </a:prstGeom>
          <a:solidFill>
            <a:schemeClr val="lt1"/>
          </a:solidFill>
          <a:ln>
            <a:noFill/>
          </a:ln>
        </p:spPr>
        <p:txBody>
          <a:bodyPr spcFirstLastPara="1" wrap="square" lIns="91425" tIns="45700" rIns="91425" bIns="45700" anchor="t" anchorCtr="0">
            <a:spAutoFit/>
          </a:bodyPr>
          <a:lstStyle/>
          <a:p>
            <a:pPr marL="457200" marR="0" lvl="0" indent="-444500" algn="l" rtl="0">
              <a:lnSpc>
                <a:spcPct val="115000"/>
              </a:lnSpc>
              <a:spcBef>
                <a:spcPts val="0"/>
              </a:spcBef>
              <a:spcAft>
                <a:spcPts val="0"/>
              </a:spcAft>
              <a:buClr>
                <a:srgbClr val="000000"/>
              </a:buClr>
              <a:buSzPts val="1400"/>
              <a:buFont typeface="Noto Sans Symbols"/>
              <a:buChar char="●"/>
            </a:pPr>
            <a:r>
              <a:rPr lang="en-GB" sz="1400" b="0" i="0" u="none" strike="noStrike" cap="none">
                <a:solidFill>
                  <a:srgbClr val="000000"/>
                </a:solidFill>
                <a:latin typeface="Arial"/>
                <a:ea typeface="Arial"/>
                <a:cs typeface="Arial"/>
                <a:sym typeface="Arial"/>
              </a:rPr>
              <a:t>Agile breaks down the wall between the </a:t>
            </a: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Business</a:t>
            </a:r>
            <a:r>
              <a:rPr lang="en-GB" sz="1400" b="0" i="0" u="none" strike="noStrike" cap="none">
                <a:solidFill>
                  <a:srgbClr val="000000"/>
                </a:solidFill>
                <a:latin typeface="Arial"/>
                <a:ea typeface="Arial"/>
                <a:cs typeface="Arial"/>
                <a:sym typeface="Arial"/>
              </a:rPr>
              <a:t> and Development teams</a:t>
            </a:r>
            <a:endParaRPr sz="1400" b="0" i="0" u="none" strike="noStrike" cap="none">
              <a:solidFill>
                <a:srgbClr val="000000"/>
              </a:solidFill>
              <a:latin typeface="Arial"/>
              <a:ea typeface="Arial"/>
              <a:cs typeface="Arial"/>
              <a:sym typeface="Arial"/>
            </a:endParaRPr>
          </a:p>
          <a:p>
            <a:pPr marL="457200" marR="0" lvl="0" indent="-444500" algn="l" rtl="0">
              <a:lnSpc>
                <a:spcPct val="115000"/>
              </a:lnSpc>
              <a:spcBef>
                <a:spcPts val="0"/>
              </a:spcBef>
              <a:spcAft>
                <a:spcPts val="0"/>
              </a:spcAft>
              <a:buClr>
                <a:srgbClr val="000000"/>
              </a:buClr>
              <a:buSzPts val="1400"/>
              <a:buFont typeface="Noto Sans Symbols"/>
              <a:buChar char="●"/>
            </a:pPr>
            <a:r>
              <a:rPr lang="en-GB" sz="1400" b="0" i="0" u="none" strike="noStrike" cap="none">
                <a:solidFill>
                  <a:srgbClr val="000000"/>
                </a:solidFill>
                <a:latin typeface="Arial"/>
                <a:ea typeface="Arial"/>
                <a:cs typeface="Arial"/>
                <a:sym typeface="Arial"/>
              </a:rPr>
              <a:t>DevOps breaks down the wall between the Development and Operations </a:t>
            </a:r>
            <a:r>
              <a:rPr lang="en-GB" sz="1400" b="0" i="0" u="none" strike="noStrike" cap="none">
                <a:solidFill>
                  <a:schemeClr val="dk1"/>
                </a:solidFill>
                <a:latin typeface="Arial"/>
                <a:ea typeface="Arial"/>
                <a:cs typeface="Arial"/>
                <a:sym typeface="Arial"/>
              </a:rPr>
              <a:t>teams</a:t>
            </a:r>
            <a:endParaRPr sz="1400" b="0" i="0" u="none" strike="noStrike" cap="none">
              <a:solidFill>
                <a:srgbClr val="000000"/>
              </a:solidFill>
              <a:latin typeface="Arial"/>
              <a:ea typeface="Arial"/>
              <a:cs typeface="Arial"/>
              <a:sym typeface="Arial"/>
            </a:endParaRPr>
          </a:p>
          <a:p>
            <a:pPr marL="457200" marR="0" lvl="0" indent="-444500" algn="l" rtl="0">
              <a:lnSpc>
                <a:spcPct val="115000"/>
              </a:lnSpc>
              <a:spcBef>
                <a:spcPts val="0"/>
              </a:spcBef>
              <a:spcAft>
                <a:spcPts val="0"/>
              </a:spcAft>
              <a:buClr>
                <a:srgbClr val="000000"/>
              </a:buClr>
              <a:buSzPts val="1400"/>
              <a:buFont typeface="Noto Sans Symbols"/>
              <a:buChar char="●"/>
            </a:pPr>
            <a:r>
              <a:rPr lang="en-GB" sz="1400" b="0" i="0" u="none" strike="noStrike" cap="none">
                <a:solidFill>
                  <a:srgbClr val="000000"/>
                </a:solidFill>
                <a:latin typeface="Arial"/>
                <a:ea typeface="Arial"/>
                <a:cs typeface="Arial"/>
                <a:sym typeface="Arial"/>
              </a:rPr>
              <a:t>DevOps centres on the concept of sharing (ideas, issues, processes, tools and goals)</a:t>
            </a:r>
            <a:endParaRPr sz="1400" b="0" i="0" u="none" strike="noStrike" cap="none">
              <a:solidFill>
                <a:srgbClr val="000000"/>
              </a:solidFill>
              <a:latin typeface="Arial"/>
              <a:ea typeface="Arial"/>
              <a:cs typeface="Arial"/>
              <a:sym typeface="Arial"/>
            </a:endParaRPr>
          </a:p>
        </p:txBody>
      </p:sp>
      <p:pic>
        <p:nvPicPr>
          <p:cNvPr id="18" name="Google Shape;945;gd834dbe927_0_599">
            <a:extLst>
              <a:ext uri="{FF2B5EF4-FFF2-40B4-BE49-F238E27FC236}">
                <a16:creationId xmlns:a16="http://schemas.microsoft.com/office/drawing/2014/main" id="{30EE4AFD-1A86-A83B-9C9D-E749D127E502}"/>
              </a:ext>
            </a:extLst>
          </p:cNvPr>
          <p:cNvPicPr preferRelativeResize="0"/>
          <p:nvPr/>
        </p:nvPicPr>
        <p:blipFill rotWithShape="1">
          <a:blip r:embed="rId6">
            <a:alphaModFix/>
          </a:blip>
          <a:srcRect/>
          <a:stretch/>
        </p:blipFill>
        <p:spPr>
          <a:xfrm>
            <a:off x="1332273" y="2804204"/>
            <a:ext cx="8568124" cy="2614950"/>
          </a:xfrm>
          <a:prstGeom prst="rect">
            <a:avLst/>
          </a:prstGeom>
          <a:noFill/>
          <a:ln>
            <a:noFill/>
          </a:ln>
        </p:spPr>
      </p:pic>
    </p:spTree>
    <p:extLst>
      <p:ext uri="{BB962C8B-B14F-4D97-AF65-F5344CB8AC3E}">
        <p14:creationId xmlns:p14="http://schemas.microsoft.com/office/powerpoint/2010/main" val="262786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951;gd99b63929a_0_638">
            <a:extLst>
              <a:ext uri="{FF2B5EF4-FFF2-40B4-BE49-F238E27FC236}">
                <a16:creationId xmlns:a16="http://schemas.microsoft.com/office/drawing/2014/main" id="{DDB9F89A-D766-191E-F5CD-81F0F1F345B9}"/>
              </a:ext>
            </a:extLst>
          </p:cNvPr>
          <p:cNvSpPr txBox="1"/>
          <p:nvPr/>
        </p:nvSpPr>
        <p:spPr>
          <a:xfrm>
            <a:off x="2172988" y="1314840"/>
            <a:ext cx="7700700" cy="785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GB" sz="2500" b="0" i="0" u="none" strike="noStrike" cap="none" dirty="0">
                <a:latin typeface="Proxima Nova"/>
                <a:ea typeface="Proxima Nova"/>
                <a:cs typeface="Proxima Nova"/>
                <a:sym typeface="Proxima Nova"/>
              </a:rPr>
              <a:t>Old School Integration: Before CI was Introduced</a:t>
            </a:r>
            <a:endParaRPr sz="2500" b="0" i="0" u="none" strike="noStrike" cap="none" dirty="0">
              <a:latin typeface="Proxima Nova"/>
              <a:ea typeface="Proxima Nova"/>
              <a:cs typeface="Proxima Nova"/>
              <a:sym typeface="Proxima Nova"/>
            </a:endParaRPr>
          </a:p>
          <a:p>
            <a:pPr marL="0" marR="0" lvl="0" indent="0" algn="l" rtl="0">
              <a:lnSpc>
                <a:spcPct val="100000"/>
              </a:lnSpc>
              <a:spcBef>
                <a:spcPts val="0"/>
              </a:spcBef>
              <a:spcAft>
                <a:spcPts val="0"/>
              </a:spcAft>
              <a:buClr>
                <a:schemeClr val="dk1"/>
              </a:buClr>
              <a:buSzPts val="1400"/>
              <a:buFont typeface="Arial"/>
              <a:buNone/>
            </a:pPr>
            <a:endParaRPr sz="1400" b="0" i="0" u="none" strike="noStrike" cap="none" dirty="0">
              <a:latin typeface="Arial"/>
              <a:ea typeface="Arial"/>
              <a:cs typeface="Arial"/>
              <a:sym typeface="Arial"/>
            </a:endParaRPr>
          </a:p>
        </p:txBody>
      </p:sp>
      <p:grpSp>
        <p:nvGrpSpPr>
          <p:cNvPr id="10" name="Google Shape;952;gd99b63929a_0_638">
            <a:extLst>
              <a:ext uri="{FF2B5EF4-FFF2-40B4-BE49-F238E27FC236}">
                <a16:creationId xmlns:a16="http://schemas.microsoft.com/office/drawing/2014/main" id="{511C65E5-9858-C223-D99A-1189D6D6CB43}"/>
              </a:ext>
            </a:extLst>
          </p:cNvPr>
          <p:cNvGrpSpPr/>
          <p:nvPr/>
        </p:nvGrpSpPr>
        <p:grpSpPr>
          <a:xfrm>
            <a:off x="2243958" y="2573370"/>
            <a:ext cx="7706379" cy="3926373"/>
            <a:chOff x="488356" y="943058"/>
            <a:chExt cx="7706379" cy="3926373"/>
          </a:xfrm>
        </p:grpSpPr>
        <p:pic>
          <p:nvPicPr>
            <p:cNvPr id="11" name="Google Shape;953;gd99b63929a_0_638">
              <a:extLst>
                <a:ext uri="{FF2B5EF4-FFF2-40B4-BE49-F238E27FC236}">
                  <a16:creationId xmlns:a16="http://schemas.microsoft.com/office/drawing/2014/main" id="{AC28B363-48E1-C5AE-95DD-A7672BEDB54E}"/>
                </a:ext>
              </a:extLst>
            </p:cNvPr>
            <p:cNvPicPr preferRelativeResize="0"/>
            <p:nvPr/>
          </p:nvPicPr>
          <p:blipFill rotWithShape="1">
            <a:blip r:embed="rId6">
              <a:alphaModFix/>
            </a:blip>
            <a:srcRect/>
            <a:stretch/>
          </p:blipFill>
          <p:spPr>
            <a:xfrm>
              <a:off x="488356" y="1026495"/>
              <a:ext cx="674570" cy="741195"/>
            </a:xfrm>
            <a:prstGeom prst="rect">
              <a:avLst/>
            </a:prstGeom>
            <a:noFill/>
            <a:ln>
              <a:noFill/>
            </a:ln>
          </p:spPr>
        </p:pic>
        <p:pic>
          <p:nvPicPr>
            <p:cNvPr id="12" name="Google Shape;954;gd99b63929a_0_638">
              <a:extLst>
                <a:ext uri="{FF2B5EF4-FFF2-40B4-BE49-F238E27FC236}">
                  <a16:creationId xmlns:a16="http://schemas.microsoft.com/office/drawing/2014/main" id="{9F3E8841-501A-83F9-03C4-275BB6ABA42E}"/>
                </a:ext>
              </a:extLst>
            </p:cNvPr>
            <p:cNvPicPr preferRelativeResize="0"/>
            <p:nvPr/>
          </p:nvPicPr>
          <p:blipFill rotWithShape="1">
            <a:blip r:embed="rId7">
              <a:alphaModFix/>
            </a:blip>
            <a:srcRect/>
            <a:stretch/>
          </p:blipFill>
          <p:spPr>
            <a:xfrm>
              <a:off x="619906" y="2309147"/>
              <a:ext cx="490818" cy="741600"/>
            </a:xfrm>
            <a:prstGeom prst="rect">
              <a:avLst/>
            </a:prstGeom>
            <a:noFill/>
            <a:ln>
              <a:noFill/>
            </a:ln>
          </p:spPr>
        </p:pic>
        <p:sp>
          <p:nvSpPr>
            <p:cNvPr id="13" name="Google Shape;955;gd99b63929a_0_638">
              <a:extLst>
                <a:ext uri="{FF2B5EF4-FFF2-40B4-BE49-F238E27FC236}">
                  <a16:creationId xmlns:a16="http://schemas.microsoft.com/office/drawing/2014/main" id="{A09D098F-B95A-D653-8783-9E0071A5008B}"/>
                </a:ext>
              </a:extLst>
            </p:cNvPr>
            <p:cNvSpPr txBox="1"/>
            <p:nvPr/>
          </p:nvSpPr>
          <p:spPr>
            <a:xfrm>
              <a:off x="494632" y="1810732"/>
              <a:ext cx="7188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Customer</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Profile</a:t>
              </a:r>
              <a:endParaRPr sz="1400" b="0" i="0" u="none" strike="noStrike" cap="none">
                <a:solidFill>
                  <a:srgbClr val="000000"/>
                </a:solidFill>
                <a:latin typeface="Arial"/>
                <a:ea typeface="Arial"/>
                <a:cs typeface="Arial"/>
                <a:sym typeface="Arial"/>
              </a:endParaRPr>
            </a:p>
          </p:txBody>
        </p:sp>
        <p:sp>
          <p:nvSpPr>
            <p:cNvPr id="14" name="Google Shape;956;gd99b63929a_0_638">
              <a:extLst>
                <a:ext uri="{FF2B5EF4-FFF2-40B4-BE49-F238E27FC236}">
                  <a16:creationId xmlns:a16="http://schemas.microsoft.com/office/drawing/2014/main" id="{0D034D28-641C-E695-67DD-8050621CAED4}"/>
                </a:ext>
              </a:extLst>
            </p:cNvPr>
            <p:cNvSpPr txBox="1"/>
            <p:nvPr/>
          </p:nvSpPr>
          <p:spPr>
            <a:xfrm>
              <a:off x="557130" y="3133907"/>
              <a:ext cx="6156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Product</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Catalog</a:t>
              </a:r>
              <a:endParaRPr sz="1200" b="0" i="0" u="none" strike="noStrike" cap="none">
                <a:solidFill>
                  <a:srgbClr val="000000"/>
                </a:solidFill>
                <a:latin typeface="Lato"/>
                <a:ea typeface="Lato"/>
                <a:cs typeface="Lato"/>
                <a:sym typeface="Lato"/>
              </a:endParaRPr>
            </a:p>
          </p:txBody>
        </p:sp>
        <p:pic>
          <p:nvPicPr>
            <p:cNvPr id="15" name="Google Shape;957;gd99b63929a_0_638">
              <a:extLst>
                <a:ext uri="{FF2B5EF4-FFF2-40B4-BE49-F238E27FC236}">
                  <a16:creationId xmlns:a16="http://schemas.microsoft.com/office/drawing/2014/main" id="{58D575A1-6E3F-68AF-1E0C-B53341492D4B}"/>
                </a:ext>
              </a:extLst>
            </p:cNvPr>
            <p:cNvPicPr preferRelativeResize="0"/>
            <p:nvPr/>
          </p:nvPicPr>
          <p:blipFill rotWithShape="1">
            <a:blip r:embed="rId6">
              <a:alphaModFix/>
            </a:blip>
            <a:srcRect/>
            <a:stretch/>
          </p:blipFill>
          <p:spPr>
            <a:xfrm>
              <a:off x="488356" y="3715906"/>
              <a:ext cx="674570" cy="741195"/>
            </a:xfrm>
            <a:prstGeom prst="rect">
              <a:avLst/>
            </a:prstGeom>
            <a:noFill/>
            <a:ln>
              <a:noFill/>
            </a:ln>
          </p:spPr>
        </p:pic>
        <p:sp>
          <p:nvSpPr>
            <p:cNvPr id="16" name="Google Shape;958;gd99b63929a_0_638">
              <a:extLst>
                <a:ext uri="{FF2B5EF4-FFF2-40B4-BE49-F238E27FC236}">
                  <a16:creationId xmlns:a16="http://schemas.microsoft.com/office/drawing/2014/main" id="{1E1D7671-A2FE-59E6-D88B-46E3E693EA54}"/>
                </a:ext>
              </a:extLst>
            </p:cNvPr>
            <p:cNvSpPr txBox="1"/>
            <p:nvPr/>
          </p:nvSpPr>
          <p:spPr>
            <a:xfrm>
              <a:off x="535499" y="4500131"/>
              <a:ext cx="5802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dirty="0">
                  <a:solidFill>
                    <a:srgbClr val="000000"/>
                  </a:solidFill>
                  <a:latin typeface="Lato"/>
                  <a:ea typeface="Lato"/>
                  <a:cs typeface="Lato"/>
                  <a:sym typeface="Lato"/>
                </a:rPr>
                <a:t>Order</a:t>
              </a:r>
              <a:br>
                <a:rPr lang="en-GB" sz="1200" b="0" i="0" u="none" strike="noStrike" cap="none" dirty="0">
                  <a:solidFill>
                    <a:srgbClr val="000000"/>
                  </a:solidFill>
                  <a:latin typeface="Lato"/>
                  <a:ea typeface="Lato"/>
                  <a:cs typeface="Lato"/>
                  <a:sym typeface="Lato"/>
                </a:rPr>
              </a:br>
              <a:r>
                <a:rPr lang="en-GB" sz="1200" b="0" i="0" u="none" strike="noStrike" cap="none" dirty="0">
                  <a:solidFill>
                    <a:srgbClr val="000000"/>
                  </a:solidFill>
                  <a:latin typeface="Lato"/>
                  <a:ea typeface="Lato"/>
                  <a:cs typeface="Lato"/>
                  <a:sym typeface="Lato"/>
                </a:rPr>
                <a:t>Tracking</a:t>
              </a:r>
              <a:endParaRPr sz="1400" b="0" i="0" u="none" strike="noStrike" cap="none" dirty="0">
                <a:solidFill>
                  <a:srgbClr val="000000"/>
                </a:solidFill>
                <a:latin typeface="Arial"/>
                <a:ea typeface="Arial"/>
                <a:cs typeface="Arial"/>
                <a:sym typeface="Arial"/>
              </a:endParaRPr>
            </a:p>
          </p:txBody>
        </p:sp>
        <p:pic>
          <p:nvPicPr>
            <p:cNvPr id="17" name="Google Shape;959;gd99b63929a_0_638">
              <a:extLst>
                <a:ext uri="{FF2B5EF4-FFF2-40B4-BE49-F238E27FC236}">
                  <a16:creationId xmlns:a16="http://schemas.microsoft.com/office/drawing/2014/main" id="{0378CB71-15FC-3B15-31FB-F9AF69476533}"/>
                </a:ext>
              </a:extLst>
            </p:cNvPr>
            <p:cNvPicPr preferRelativeResize="0"/>
            <p:nvPr/>
          </p:nvPicPr>
          <p:blipFill rotWithShape="1">
            <a:blip r:embed="rId8">
              <a:alphaModFix/>
            </a:blip>
            <a:srcRect/>
            <a:stretch/>
          </p:blipFill>
          <p:spPr>
            <a:xfrm>
              <a:off x="1336992" y="1218985"/>
              <a:ext cx="437004" cy="356214"/>
            </a:xfrm>
            <a:prstGeom prst="rect">
              <a:avLst/>
            </a:prstGeom>
            <a:noFill/>
            <a:ln>
              <a:noFill/>
            </a:ln>
          </p:spPr>
        </p:pic>
        <p:pic>
          <p:nvPicPr>
            <p:cNvPr id="18" name="Google Shape;960;gd99b63929a_0_638">
              <a:extLst>
                <a:ext uri="{FF2B5EF4-FFF2-40B4-BE49-F238E27FC236}">
                  <a16:creationId xmlns:a16="http://schemas.microsoft.com/office/drawing/2014/main" id="{A1AF2841-DC4B-812A-EDAF-EDA47584BB2D}"/>
                </a:ext>
              </a:extLst>
            </p:cNvPr>
            <p:cNvPicPr preferRelativeResize="0"/>
            <p:nvPr/>
          </p:nvPicPr>
          <p:blipFill rotWithShape="1">
            <a:blip r:embed="rId9">
              <a:alphaModFix/>
            </a:blip>
            <a:srcRect/>
            <a:stretch/>
          </p:blipFill>
          <p:spPr>
            <a:xfrm>
              <a:off x="1336992" y="2501840"/>
              <a:ext cx="437004" cy="356214"/>
            </a:xfrm>
            <a:prstGeom prst="rect">
              <a:avLst/>
            </a:prstGeom>
            <a:noFill/>
            <a:ln>
              <a:noFill/>
            </a:ln>
          </p:spPr>
        </p:pic>
        <p:pic>
          <p:nvPicPr>
            <p:cNvPr id="19" name="Google Shape;961;gd99b63929a_0_638">
              <a:extLst>
                <a:ext uri="{FF2B5EF4-FFF2-40B4-BE49-F238E27FC236}">
                  <a16:creationId xmlns:a16="http://schemas.microsoft.com/office/drawing/2014/main" id="{A3CF2712-A6DC-13B4-BD31-A2ADCFD201EF}"/>
                </a:ext>
              </a:extLst>
            </p:cNvPr>
            <p:cNvPicPr preferRelativeResize="0"/>
            <p:nvPr/>
          </p:nvPicPr>
          <p:blipFill rotWithShape="1">
            <a:blip r:embed="rId10">
              <a:alphaModFix/>
            </a:blip>
            <a:srcRect/>
            <a:stretch/>
          </p:blipFill>
          <p:spPr>
            <a:xfrm>
              <a:off x="1336992" y="3908396"/>
              <a:ext cx="437004" cy="356214"/>
            </a:xfrm>
            <a:prstGeom prst="rect">
              <a:avLst/>
            </a:prstGeom>
            <a:noFill/>
            <a:ln>
              <a:noFill/>
            </a:ln>
          </p:spPr>
        </p:pic>
        <p:pic>
          <p:nvPicPr>
            <p:cNvPr id="20" name="Google Shape;962;gd99b63929a_0_638">
              <a:extLst>
                <a:ext uri="{FF2B5EF4-FFF2-40B4-BE49-F238E27FC236}">
                  <a16:creationId xmlns:a16="http://schemas.microsoft.com/office/drawing/2014/main" id="{2E2AE32E-5D89-58AF-E422-186C4F78431C}"/>
                </a:ext>
              </a:extLst>
            </p:cNvPr>
            <p:cNvPicPr preferRelativeResize="0"/>
            <p:nvPr/>
          </p:nvPicPr>
          <p:blipFill rotWithShape="1">
            <a:blip r:embed="rId11">
              <a:alphaModFix/>
            </a:blip>
            <a:srcRect/>
            <a:stretch/>
          </p:blipFill>
          <p:spPr>
            <a:xfrm>
              <a:off x="2212798" y="1218985"/>
              <a:ext cx="317466" cy="356400"/>
            </a:xfrm>
            <a:prstGeom prst="rect">
              <a:avLst/>
            </a:prstGeom>
            <a:noFill/>
            <a:ln>
              <a:noFill/>
            </a:ln>
          </p:spPr>
        </p:pic>
        <p:pic>
          <p:nvPicPr>
            <p:cNvPr id="21" name="Google Shape;963;gd99b63929a_0_638">
              <a:extLst>
                <a:ext uri="{FF2B5EF4-FFF2-40B4-BE49-F238E27FC236}">
                  <a16:creationId xmlns:a16="http://schemas.microsoft.com/office/drawing/2014/main" id="{9E2B4B24-47CE-2B9E-3A0E-425D29E24F43}"/>
                </a:ext>
              </a:extLst>
            </p:cNvPr>
            <p:cNvPicPr preferRelativeResize="0"/>
            <p:nvPr/>
          </p:nvPicPr>
          <p:blipFill rotWithShape="1">
            <a:blip r:embed="rId12">
              <a:alphaModFix/>
            </a:blip>
            <a:srcRect/>
            <a:stretch/>
          </p:blipFill>
          <p:spPr>
            <a:xfrm>
              <a:off x="2212798" y="2501654"/>
              <a:ext cx="317466" cy="356400"/>
            </a:xfrm>
            <a:prstGeom prst="rect">
              <a:avLst/>
            </a:prstGeom>
            <a:noFill/>
            <a:ln>
              <a:noFill/>
            </a:ln>
          </p:spPr>
        </p:pic>
        <p:pic>
          <p:nvPicPr>
            <p:cNvPr id="22" name="Google Shape;964;gd99b63929a_0_638">
              <a:extLst>
                <a:ext uri="{FF2B5EF4-FFF2-40B4-BE49-F238E27FC236}">
                  <a16:creationId xmlns:a16="http://schemas.microsoft.com/office/drawing/2014/main" id="{22F9D2AE-1E43-4E00-6465-8209F539619D}"/>
                </a:ext>
              </a:extLst>
            </p:cNvPr>
            <p:cNvPicPr preferRelativeResize="0"/>
            <p:nvPr/>
          </p:nvPicPr>
          <p:blipFill rotWithShape="1">
            <a:blip r:embed="rId13">
              <a:alphaModFix/>
            </a:blip>
            <a:srcRect/>
            <a:stretch/>
          </p:blipFill>
          <p:spPr>
            <a:xfrm>
              <a:off x="2212798" y="3908210"/>
              <a:ext cx="317466" cy="356400"/>
            </a:xfrm>
            <a:prstGeom prst="rect">
              <a:avLst/>
            </a:prstGeom>
            <a:noFill/>
            <a:ln>
              <a:noFill/>
            </a:ln>
          </p:spPr>
        </p:pic>
        <p:cxnSp>
          <p:nvCxnSpPr>
            <p:cNvPr id="23" name="Google Shape;965;gd99b63929a_0_638">
              <a:extLst>
                <a:ext uri="{FF2B5EF4-FFF2-40B4-BE49-F238E27FC236}">
                  <a16:creationId xmlns:a16="http://schemas.microsoft.com/office/drawing/2014/main" id="{6DA41A53-1349-C26D-5815-8B25A9956F7A}"/>
                </a:ext>
              </a:extLst>
            </p:cNvPr>
            <p:cNvCxnSpPr>
              <a:stCxn id="17" idx="3"/>
              <a:endCxn id="20" idx="1"/>
            </p:cNvCxnSpPr>
            <p:nvPr/>
          </p:nvCxnSpPr>
          <p:spPr>
            <a:xfrm>
              <a:off x="1773996" y="1397092"/>
              <a:ext cx="438900" cy="0"/>
            </a:xfrm>
            <a:prstGeom prst="straightConnector1">
              <a:avLst/>
            </a:prstGeom>
            <a:noFill/>
            <a:ln w="9525" cap="flat" cmpd="sng">
              <a:solidFill>
                <a:srgbClr val="757070"/>
              </a:solidFill>
              <a:prstDash val="solid"/>
              <a:round/>
              <a:headEnd type="none" w="sm" len="sm"/>
              <a:tailEnd type="triangle" w="med" len="med"/>
            </a:ln>
          </p:spPr>
        </p:cxnSp>
        <p:cxnSp>
          <p:nvCxnSpPr>
            <p:cNvPr id="24" name="Google Shape;966;gd99b63929a_0_638">
              <a:extLst>
                <a:ext uri="{FF2B5EF4-FFF2-40B4-BE49-F238E27FC236}">
                  <a16:creationId xmlns:a16="http://schemas.microsoft.com/office/drawing/2014/main" id="{26D40491-0F4F-CD81-07B3-6BFBA68452A0}"/>
                </a:ext>
              </a:extLst>
            </p:cNvPr>
            <p:cNvCxnSpPr>
              <a:stCxn id="18" idx="3"/>
              <a:endCxn id="21" idx="1"/>
            </p:cNvCxnSpPr>
            <p:nvPr/>
          </p:nvCxnSpPr>
          <p:spPr>
            <a:xfrm>
              <a:off x="1773996" y="2679947"/>
              <a:ext cx="438900" cy="0"/>
            </a:xfrm>
            <a:prstGeom prst="straightConnector1">
              <a:avLst/>
            </a:prstGeom>
            <a:noFill/>
            <a:ln w="9525" cap="flat" cmpd="sng">
              <a:solidFill>
                <a:srgbClr val="757070"/>
              </a:solidFill>
              <a:prstDash val="solid"/>
              <a:round/>
              <a:headEnd type="none" w="sm" len="sm"/>
              <a:tailEnd type="triangle" w="med" len="med"/>
            </a:ln>
          </p:spPr>
        </p:cxnSp>
        <p:cxnSp>
          <p:nvCxnSpPr>
            <p:cNvPr id="25" name="Google Shape;967;gd99b63929a_0_638">
              <a:extLst>
                <a:ext uri="{FF2B5EF4-FFF2-40B4-BE49-F238E27FC236}">
                  <a16:creationId xmlns:a16="http://schemas.microsoft.com/office/drawing/2014/main" id="{F46399B9-7AA4-6A39-0AC6-AE015504837A}"/>
                </a:ext>
              </a:extLst>
            </p:cNvPr>
            <p:cNvCxnSpPr>
              <a:stCxn id="19" idx="3"/>
              <a:endCxn id="22" idx="1"/>
            </p:cNvCxnSpPr>
            <p:nvPr/>
          </p:nvCxnSpPr>
          <p:spPr>
            <a:xfrm>
              <a:off x="1773996" y="4086503"/>
              <a:ext cx="438900" cy="0"/>
            </a:xfrm>
            <a:prstGeom prst="straightConnector1">
              <a:avLst/>
            </a:prstGeom>
            <a:noFill/>
            <a:ln w="9525" cap="flat" cmpd="sng">
              <a:solidFill>
                <a:srgbClr val="757070"/>
              </a:solidFill>
              <a:prstDash val="solid"/>
              <a:round/>
              <a:headEnd type="none" w="sm" len="sm"/>
              <a:tailEnd type="triangle" w="med" len="med"/>
            </a:ln>
          </p:spPr>
        </p:cxnSp>
        <p:pic>
          <p:nvPicPr>
            <p:cNvPr id="26" name="Google Shape;968;gd99b63929a_0_638">
              <a:extLst>
                <a:ext uri="{FF2B5EF4-FFF2-40B4-BE49-F238E27FC236}">
                  <a16:creationId xmlns:a16="http://schemas.microsoft.com/office/drawing/2014/main" id="{AD7EF1D9-14FC-5B49-D299-48DA2EDC66B6}"/>
                </a:ext>
              </a:extLst>
            </p:cNvPr>
            <p:cNvPicPr preferRelativeResize="0"/>
            <p:nvPr/>
          </p:nvPicPr>
          <p:blipFill rotWithShape="1">
            <a:blip r:embed="rId12">
              <a:alphaModFix/>
            </a:blip>
            <a:srcRect/>
            <a:stretch/>
          </p:blipFill>
          <p:spPr>
            <a:xfrm>
              <a:off x="3460685" y="2501654"/>
              <a:ext cx="317466" cy="356400"/>
            </a:xfrm>
            <a:prstGeom prst="rect">
              <a:avLst/>
            </a:prstGeom>
            <a:noFill/>
            <a:ln>
              <a:noFill/>
            </a:ln>
          </p:spPr>
        </p:pic>
        <p:cxnSp>
          <p:nvCxnSpPr>
            <p:cNvPr id="27" name="Google Shape;969;gd99b63929a_0_638">
              <a:extLst>
                <a:ext uri="{FF2B5EF4-FFF2-40B4-BE49-F238E27FC236}">
                  <a16:creationId xmlns:a16="http://schemas.microsoft.com/office/drawing/2014/main" id="{7B069874-4A03-C84D-8850-5B78210D3FC7}"/>
                </a:ext>
              </a:extLst>
            </p:cNvPr>
            <p:cNvCxnSpPr>
              <a:stCxn id="21" idx="3"/>
              <a:endCxn id="26" idx="1"/>
            </p:cNvCxnSpPr>
            <p:nvPr/>
          </p:nvCxnSpPr>
          <p:spPr>
            <a:xfrm>
              <a:off x="2530264" y="2679854"/>
              <a:ext cx="930300" cy="0"/>
            </a:xfrm>
            <a:prstGeom prst="straightConnector1">
              <a:avLst/>
            </a:prstGeom>
            <a:noFill/>
            <a:ln w="9525" cap="flat" cmpd="sng">
              <a:solidFill>
                <a:srgbClr val="757070"/>
              </a:solidFill>
              <a:prstDash val="solid"/>
              <a:round/>
              <a:headEnd type="none" w="sm" len="sm"/>
              <a:tailEnd type="triangle" w="med" len="med"/>
            </a:ln>
          </p:spPr>
        </p:cxnSp>
        <p:cxnSp>
          <p:nvCxnSpPr>
            <p:cNvPr id="28" name="Google Shape;970;gd99b63929a_0_638">
              <a:extLst>
                <a:ext uri="{FF2B5EF4-FFF2-40B4-BE49-F238E27FC236}">
                  <a16:creationId xmlns:a16="http://schemas.microsoft.com/office/drawing/2014/main" id="{C5033A79-8695-EAA3-8256-F6E028CFAF81}"/>
                </a:ext>
              </a:extLst>
            </p:cNvPr>
            <p:cNvCxnSpPr>
              <a:stCxn id="20" idx="3"/>
              <a:endCxn id="26" idx="1"/>
            </p:cNvCxnSpPr>
            <p:nvPr/>
          </p:nvCxnSpPr>
          <p:spPr>
            <a:xfrm>
              <a:off x="2530264" y="1397185"/>
              <a:ext cx="930300" cy="1282800"/>
            </a:xfrm>
            <a:prstGeom prst="straightConnector1">
              <a:avLst/>
            </a:prstGeom>
            <a:noFill/>
            <a:ln w="9525" cap="flat" cmpd="sng">
              <a:solidFill>
                <a:srgbClr val="757070"/>
              </a:solidFill>
              <a:prstDash val="solid"/>
              <a:round/>
              <a:headEnd type="none" w="sm" len="sm"/>
              <a:tailEnd type="triangle" w="med" len="med"/>
            </a:ln>
          </p:spPr>
        </p:cxnSp>
        <p:cxnSp>
          <p:nvCxnSpPr>
            <p:cNvPr id="29" name="Google Shape;971;gd99b63929a_0_638">
              <a:extLst>
                <a:ext uri="{FF2B5EF4-FFF2-40B4-BE49-F238E27FC236}">
                  <a16:creationId xmlns:a16="http://schemas.microsoft.com/office/drawing/2014/main" id="{D58F9FA0-A5C2-0363-FEBB-AEFB3B68BA9F}"/>
                </a:ext>
              </a:extLst>
            </p:cNvPr>
            <p:cNvCxnSpPr>
              <a:stCxn id="22" idx="3"/>
              <a:endCxn id="26" idx="1"/>
            </p:cNvCxnSpPr>
            <p:nvPr/>
          </p:nvCxnSpPr>
          <p:spPr>
            <a:xfrm rot="10800000" flipH="1">
              <a:off x="2530264" y="2679710"/>
              <a:ext cx="930300" cy="1406700"/>
            </a:xfrm>
            <a:prstGeom prst="straightConnector1">
              <a:avLst/>
            </a:prstGeom>
            <a:noFill/>
            <a:ln w="9525" cap="flat" cmpd="sng">
              <a:solidFill>
                <a:srgbClr val="757070"/>
              </a:solidFill>
              <a:prstDash val="solid"/>
              <a:round/>
              <a:headEnd type="none" w="sm" len="sm"/>
              <a:tailEnd type="triangle" w="med" len="med"/>
            </a:ln>
          </p:spPr>
        </p:cxnSp>
        <p:cxnSp>
          <p:nvCxnSpPr>
            <p:cNvPr id="30" name="Google Shape;972;gd99b63929a_0_638">
              <a:extLst>
                <a:ext uri="{FF2B5EF4-FFF2-40B4-BE49-F238E27FC236}">
                  <a16:creationId xmlns:a16="http://schemas.microsoft.com/office/drawing/2014/main" id="{8F1B195B-E20A-F788-32AE-A3E3B87236E1}"/>
                </a:ext>
              </a:extLst>
            </p:cNvPr>
            <p:cNvCxnSpPr/>
            <p:nvPr/>
          </p:nvCxnSpPr>
          <p:spPr>
            <a:xfrm>
              <a:off x="3912970" y="2679947"/>
              <a:ext cx="438900" cy="0"/>
            </a:xfrm>
            <a:prstGeom prst="straightConnector1">
              <a:avLst/>
            </a:prstGeom>
            <a:noFill/>
            <a:ln w="9525" cap="flat" cmpd="sng">
              <a:solidFill>
                <a:srgbClr val="757070"/>
              </a:solidFill>
              <a:prstDash val="solid"/>
              <a:round/>
              <a:headEnd type="none" w="sm" len="sm"/>
              <a:tailEnd type="triangle" w="med" len="med"/>
            </a:ln>
          </p:spPr>
        </p:cxnSp>
        <p:pic>
          <p:nvPicPr>
            <p:cNvPr id="31" name="Google Shape;973;gd99b63929a_0_638">
              <a:extLst>
                <a:ext uri="{FF2B5EF4-FFF2-40B4-BE49-F238E27FC236}">
                  <a16:creationId xmlns:a16="http://schemas.microsoft.com/office/drawing/2014/main" id="{DDB29D5A-D69D-9CEE-7312-12EDC8EFC8D1}"/>
                </a:ext>
              </a:extLst>
            </p:cNvPr>
            <p:cNvPicPr preferRelativeResize="0"/>
            <p:nvPr/>
          </p:nvPicPr>
          <p:blipFill rotWithShape="1">
            <a:blip r:embed="rId14">
              <a:alphaModFix/>
            </a:blip>
            <a:srcRect/>
            <a:stretch/>
          </p:blipFill>
          <p:spPr>
            <a:xfrm>
              <a:off x="4486592" y="2501840"/>
              <a:ext cx="437004" cy="356214"/>
            </a:xfrm>
            <a:prstGeom prst="rect">
              <a:avLst/>
            </a:prstGeom>
            <a:noFill/>
            <a:ln>
              <a:noFill/>
            </a:ln>
          </p:spPr>
        </p:pic>
        <p:sp>
          <p:nvSpPr>
            <p:cNvPr id="32" name="Google Shape;974;gd99b63929a_0_638">
              <a:extLst>
                <a:ext uri="{FF2B5EF4-FFF2-40B4-BE49-F238E27FC236}">
                  <a16:creationId xmlns:a16="http://schemas.microsoft.com/office/drawing/2014/main" id="{AED39900-B179-571F-DED5-8CEDAF99F295}"/>
                </a:ext>
              </a:extLst>
            </p:cNvPr>
            <p:cNvSpPr txBox="1"/>
            <p:nvPr/>
          </p:nvSpPr>
          <p:spPr>
            <a:xfrm>
              <a:off x="3306020" y="3003335"/>
              <a:ext cx="6156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Integrate</a:t>
              </a:r>
              <a:endParaRPr sz="1400" b="0" i="0" u="none" strike="noStrike" cap="none">
                <a:solidFill>
                  <a:srgbClr val="000000"/>
                </a:solidFill>
                <a:latin typeface="Arial"/>
                <a:ea typeface="Arial"/>
                <a:cs typeface="Arial"/>
                <a:sym typeface="Arial"/>
              </a:endParaRPr>
            </a:p>
          </p:txBody>
        </p:sp>
        <p:sp>
          <p:nvSpPr>
            <p:cNvPr id="33" name="Google Shape;975;gd99b63929a_0_638">
              <a:extLst>
                <a:ext uri="{FF2B5EF4-FFF2-40B4-BE49-F238E27FC236}">
                  <a16:creationId xmlns:a16="http://schemas.microsoft.com/office/drawing/2014/main" id="{846F8230-966F-5763-9C89-95811AC15269}"/>
                </a:ext>
              </a:extLst>
            </p:cNvPr>
            <p:cNvSpPr txBox="1"/>
            <p:nvPr/>
          </p:nvSpPr>
          <p:spPr>
            <a:xfrm>
              <a:off x="4426174" y="3003335"/>
              <a:ext cx="5577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Compile</a:t>
              </a:r>
              <a:endParaRPr sz="1400" b="0" i="0" u="none" strike="noStrike" cap="none">
                <a:solidFill>
                  <a:srgbClr val="000000"/>
                </a:solidFill>
                <a:latin typeface="Arial"/>
                <a:ea typeface="Arial"/>
                <a:cs typeface="Arial"/>
                <a:sym typeface="Arial"/>
              </a:endParaRPr>
            </a:p>
          </p:txBody>
        </p:sp>
        <p:cxnSp>
          <p:nvCxnSpPr>
            <p:cNvPr id="34" name="Google Shape;976;gd99b63929a_0_638">
              <a:extLst>
                <a:ext uri="{FF2B5EF4-FFF2-40B4-BE49-F238E27FC236}">
                  <a16:creationId xmlns:a16="http://schemas.microsoft.com/office/drawing/2014/main" id="{D1A0FF7D-7C19-B80E-F2E8-DEA07A6EF3E2}"/>
                </a:ext>
              </a:extLst>
            </p:cNvPr>
            <p:cNvCxnSpPr/>
            <p:nvPr/>
          </p:nvCxnSpPr>
          <p:spPr>
            <a:xfrm>
              <a:off x="5077871" y="2679947"/>
              <a:ext cx="438900" cy="0"/>
            </a:xfrm>
            <a:prstGeom prst="straightConnector1">
              <a:avLst/>
            </a:prstGeom>
            <a:noFill/>
            <a:ln w="9525" cap="flat" cmpd="sng">
              <a:solidFill>
                <a:srgbClr val="757070"/>
              </a:solidFill>
              <a:prstDash val="solid"/>
              <a:round/>
              <a:headEnd type="none" w="sm" len="sm"/>
              <a:tailEnd type="triangle" w="med" len="med"/>
            </a:ln>
          </p:spPr>
        </p:cxnSp>
        <p:pic>
          <p:nvPicPr>
            <p:cNvPr id="35" name="Google Shape;977;gd99b63929a_0_638">
              <a:extLst>
                <a:ext uri="{FF2B5EF4-FFF2-40B4-BE49-F238E27FC236}">
                  <a16:creationId xmlns:a16="http://schemas.microsoft.com/office/drawing/2014/main" id="{C0F36A1A-4F4B-7266-F68E-008B96249039}"/>
                </a:ext>
              </a:extLst>
            </p:cNvPr>
            <p:cNvPicPr preferRelativeResize="0"/>
            <p:nvPr/>
          </p:nvPicPr>
          <p:blipFill rotWithShape="1">
            <a:blip r:embed="rId15">
              <a:alphaModFix/>
            </a:blip>
            <a:srcRect/>
            <a:stretch/>
          </p:blipFill>
          <p:spPr>
            <a:xfrm>
              <a:off x="5736218" y="2501630"/>
              <a:ext cx="437233" cy="356400"/>
            </a:xfrm>
            <a:prstGeom prst="rect">
              <a:avLst/>
            </a:prstGeom>
            <a:noFill/>
            <a:ln>
              <a:noFill/>
            </a:ln>
          </p:spPr>
        </p:pic>
        <p:sp>
          <p:nvSpPr>
            <p:cNvPr id="36" name="Google Shape;978;gd99b63929a_0_638">
              <a:extLst>
                <a:ext uri="{FF2B5EF4-FFF2-40B4-BE49-F238E27FC236}">
                  <a16:creationId xmlns:a16="http://schemas.microsoft.com/office/drawing/2014/main" id="{2633D204-F976-66C4-9827-EABD285C9472}"/>
                </a:ext>
              </a:extLst>
            </p:cNvPr>
            <p:cNvSpPr txBox="1"/>
            <p:nvPr/>
          </p:nvSpPr>
          <p:spPr>
            <a:xfrm>
              <a:off x="5674309" y="3003335"/>
              <a:ext cx="5610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Package</a:t>
              </a:r>
              <a:endParaRPr sz="1400" b="0" i="0" u="none" strike="noStrike" cap="none">
                <a:solidFill>
                  <a:srgbClr val="000000"/>
                </a:solidFill>
                <a:latin typeface="Arial"/>
                <a:ea typeface="Arial"/>
                <a:cs typeface="Arial"/>
                <a:sym typeface="Arial"/>
              </a:endParaRPr>
            </a:p>
          </p:txBody>
        </p:sp>
        <p:cxnSp>
          <p:nvCxnSpPr>
            <p:cNvPr id="37" name="Google Shape;979;gd99b63929a_0_638">
              <a:extLst>
                <a:ext uri="{FF2B5EF4-FFF2-40B4-BE49-F238E27FC236}">
                  <a16:creationId xmlns:a16="http://schemas.microsoft.com/office/drawing/2014/main" id="{53549E70-D87E-0D1A-5B31-2E4F075B1438}"/>
                </a:ext>
              </a:extLst>
            </p:cNvPr>
            <p:cNvCxnSpPr/>
            <p:nvPr/>
          </p:nvCxnSpPr>
          <p:spPr>
            <a:xfrm>
              <a:off x="6369642" y="2679947"/>
              <a:ext cx="438900" cy="0"/>
            </a:xfrm>
            <a:prstGeom prst="straightConnector1">
              <a:avLst/>
            </a:prstGeom>
            <a:noFill/>
            <a:ln w="9525" cap="flat" cmpd="sng">
              <a:solidFill>
                <a:srgbClr val="757070"/>
              </a:solidFill>
              <a:prstDash val="solid"/>
              <a:round/>
              <a:headEnd type="none" w="sm" len="sm"/>
              <a:tailEnd type="triangle" w="med" len="med"/>
            </a:ln>
          </p:spPr>
        </p:cxnSp>
        <p:sp>
          <p:nvSpPr>
            <p:cNvPr id="38" name="Google Shape;980;gd99b63929a_0_638">
              <a:extLst>
                <a:ext uri="{FF2B5EF4-FFF2-40B4-BE49-F238E27FC236}">
                  <a16:creationId xmlns:a16="http://schemas.microsoft.com/office/drawing/2014/main" id="{7FBD3DCD-200A-B78E-5A7E-2410122C4233}"/>
                </a:ext>
              </a:extLst>
            </p:cNvPr>
            <p:cNvSpPr/>
            <p:nvPr/>
          </p:nvSpPr>
          <p:spPr>
            <a:xfrm>
              <a:off x="7004635" y="2508234"/>
              <a:ext cx="1190100" cy="343200"/>
            </a:xfrm>
            <a:prstGeom prst="roundRect">
              <a:avLst>
                <a:gd name="adj" fmla="val 50000"/>
              </a:avLst>
            </a:prstGeom>
            <a:solidFill>
              <a:srgbClr val="F7CAA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39" name="Google Shape;981;gd99b63929a_0_638">
              <a:extLst>
                <a:ext uri="{FF2B5EF4-FFF2-40B4-BE49-F238E27FC236}">
                  <a16:creationId xmlns:a16="http://schemas.microsoft.com/office/drawing/2014/main" id="{66DDAFEE-32FE-8F6D-F837-C97B65C4DACE}"/>
                </a:ext>
              </a:extLst>
            </p:cNvPr>
            <p:cNvPicPr preferRelativeResize="0"/>
            <p:nvPr/>
          </p:nvPicPr>
          <p:blipFill rotWithShape="1">
            <a:blip r:embed="rId16">
              <a:alphaModFix/>
            </a:blip>
            <a:srcRect/>
            <a:stretch/>
          </p:blipFill>
          <p:spPr>
            <a:xfrm>
              <a:off x="4168425" y="943058"/>
              <a:ext cx="1359199" cy="664195"/>
            </a:xfrm>
            <a:prstGeom prst="rect">
              <a:avLst/>
            </a:prstGeom>
            <a:noFill/>
            <a:ln>
              <a:noFill/>
            </a:ln>
          </p:spPr>
        </p:pic>
        <p:sp>
          <p:nvSpPr>
            <p:cNvPr id="40" name="Google Shape;982;gd99b63929a_0_638">
              <a:extLst>
                <a:ext uri="{FF2B5EF4-FFF2-40B4-BE49-F238E27FC236}">
                  <a16:creationId xmlns:a16="http://schemas.microsoft.com/office/drawing/2014/main" id="{B6B40965-46DD-85C9-E430-4CE030E7D441}"/>
                </a:ext>
              </a:extLst>
            </p:cNvPr>
            <p:cNvSpPr txBox="1"/>
            <p:nvPr/>
          </p:nvSpPr>
          <p:spPr>
            <a:xfrm>
              <a:off x="4267736" y="1663802"/>
              <a:ext cx="11607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Build &amp;</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Integration Team</a:t>
              </a:r>
              <a:endParaRPr sz="1400" b="0" i="0" u="none" strike="noStrike" cap="none">
                <a:solidFill>
                  <a:srgbClr val="000000"/>
                </a:solidFill>
                <a:latin typeface="Arial"/>
                <a:ea typeface="Arial"/>
                <a:cs typeface="Arial"/>
                <a:sym typeface="Arial"/>
              </a:endParaRPr>
            </a:p>
          </p:txBody>
        </p:sp>
        <p:sp>
          <p:nvSpPr>
            <p:cNvPr id="41" name="Google Shape;983;gd99b63929a_0_638">
              <a:extLst>
                <a:ext uri="{FF2B5EF4-FFF2-40B4-BE49-F238E27FC236}">
                  <a16:creationId xmlns:a16="http://schemas.microsoft.com/office/drawing/2014/main" id="{BF52DC54-5322-8EA1-575A-E8351D65BB14}"/>
                </a:ext>
              </a:extLst>
            </p:cNvPr>
            <p:cNvSpPr/>
            <p:nvPr/>
          </p:nvSpPr>
          <p:spPr>
            <a:xfrm rot="-5400000">
              <a:off x="4720087" y="836012"/>
              <a:ext cx="255900" cy="2774700"/>
            </a:xfrm>
            <a:prstGeom prst="rightBrace">
              <a:avLst>
                <a:gd name="adj1" fmla="val 24000"/>
                <a:gd name="adj2" fmla="val 50000"/>
              </a:avLst>
            </a:prstGeom>
            <a:noFill/>
            <a:ln w="9525" cap="flat" cmpd="sng">
              <a:solidFill>
                <a:srgbClr val="75707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cxnSp>
          <p:nvCxnSpPr>
            <p:cNvPr id="42" name="Google Shape;984;gd99b63929a_0_638">
              <a:extLst>
                <a:ext uri="{FF2B5EF4-FFF2-40B4-BE49-F238E27FC236}">
                  <a16:creationId xmlns:a16="http://schemas.microsoft.com/office/drawing/2014/main" id="{5EBD881D-B4A0-26F8-7797-277A904D9FE9}"/>
                </a:ext>
              </a:extLst>
            </p:cNvPr>
            <p:cNvCxnSpPr/>
            <p:nvPr/>
          </p:nvCxnSpPr>
          <p:spPr>
            <a:xfrm>
              <a:off x="2933700" y="1397092"/>
              <a:ext cx="0" cy="2689200"/>
            </a:xfrm>
            <a:prstGeom prst="straightConnector1">
              <a:avLst/>
            </a:prstGeom>
            <a:noFill/>
            <a:ln w="9525" cap="flat" cmpd="sng">
              <a:solidFill>
                <a:schemeClr val="dk1"/>
              </a:solidFill>
              <a:prstDash val="dash"/>
              <a:round/>
              <a:headEnd type="none" w="sm" len="sm"/>
              <a:tailEnd type="none" w="sm" len="sm"/>
            </a:ln>
          </p:spPr>
        </p:cxnSp>
        <p:cxnSp>
          <p:nvCxnSpPr>
            <p:cNvPr id="43" name="Google Shape;985;gd99b63929a_0_638">
              <a:extLst>
                <a:ext uri="{FF2B5EF4-FFF2-40B4-BE49-F238E27FC236}">
                  <a16:creationId xmlns:a16="http://schemas.microsoft.com/office/drawing/2014/main" id="{144846C3-935F-2F46-7389-2EC6D1E2BCC7}"/>
                </a:ext>
              </a:extLst>
            </p:cNvPr>
            <p:cNvCxnSpPr/>
            <p:nvPr/>
          </p:nvCxnSpPr>
          <p:spPr>
            <a:xfrm>
              <a:off x="6324600" y="1397092"/>
              <a:ext cx="0" cy="2689200"/>
            </a:xfrm>
            <a:prstGeom prst="straightConnector1">
              <a:avLst/>
            </a:prstGeom>
            <a:noFill/>
            <a:ln w="9525" cap="flat" cmpd="sng">
              <a:solidFill>
                <a:schemeClr val="dk1"/>
              </a:solidFill>
              <a:prstDash val="dash"/>
              <a:round/>
              <a:headEnd type="none" w="sm" len="sm"/>
              <a:tailEnd type="none" w="sm" len="sm"/>
            </a:ln>
          </p:spPr>
        </p:cxnSp>
      </p:grpSp>
    </p:spTree>
    <p:extLst>
      <p:ext uri="{BB962C8B-B14F-4D97-AF65-F5344CB8AC3E}">
        <p14:creationId xmlns:p14="http://schemas.microsoft.com/office/powerpoint/2010/main" val="864460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991;gd287c8a928_0_10">
            <a:extLst>
              <a:ext uri="{FF2B5EF4-FFF2-40B4-BE49-F238E27FC236}">
                <a16:creationId xmlns:a16="http://schemas.microsoft.com/office/drawing/2014/main" id="{C9A89ABB-88FB-D7D5-D872-B0BE08FEE4B4}"/>
              </a:ext>
            </a:extLst>
          </p:cNvPr>
          <p:cNvSpPr txBox="1"/>
          <p:nvPr/>
        </p:nvSpPr>
        <p:spPr>
          <a:xfrm>
            <a:off x="2278716" y="2027561"/>
            <a:ext cx="8496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Issues with software roll-out when Continuous Integration is not </a:t>
            </a: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used</a:t>
            </a:r>
            <a:r>
              <a:rPr lang="en-GB"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0" name="Google Shape;992;gd287c8a928_0_10">
            <a:extLst>
              <a:ext uri="{FF2B5EF4-FFF2-40B4-BE49-F238E27FC236}">
                <a16:creationId xmlns:a16="http://schemas.microsoft.com/office/drawing/2014/main" id="{8F6618E6-F81A-CAB0-8438-8E4036EB5C88}"/>
              </a:ext>
            </a:extLst>
          </p:cNvPr>
          <p:cNvSpPr txBox="1"/>
          <p:nvPr/>
        </p:nvSpPr>
        <p:spPr>
          <a:xfrm>
            <a:off x="2376691" y="2747436"/>
            <a:ext cx="8257500" cy="21240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2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(Code) Integration is painful and </a:t>
            </a: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
                  </a:ext>
                </a:extLst>
              </a:rPr>
              <a:t>requires effort</a:t>
            </a:r>
            <a:endParaRPr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endParaRPr>
          </a:p>
          <a:p>
            <a:pPr marL="457200" marR="0" lvl="0" indent="-317500" algn="l" rtl="0">
              <a:lnSpc>
                <a:spcPct val="2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Fixing issues at the end of iterations</a:t>
            </a:r>
            <a:endParaRPr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endParaRPr>
          </a:p>
          <a:p>
            <a:pPr marL="457200" marR="0" lvl="0" indent="-317500" algn="l" rtl="0">
              <a:lnSpc>
                <a:spcPct val="2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7"/>
                  </a:ext>
                </a:extLst>
              </a:rPr>
              <a:t>Intermediate merge issues can hold up teams</a:t>
            </a:r>
            <a:endParaRPr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8"/>
                </a:ext>
              </a:extLst>
            </a:endParaRPr>
          </a:p>
          <a:p>
            <a:pPr marL="457200" marR="0" lvl="0" indent="-317500" algn="l" rtl="0">
              <a:lnSpc>
                <a:spcPct val="2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rPr>
              <a:t>Long feedback cycle for functional defects</a:t>
            </a:r>
            <a:endParaRPr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0"/>
                </a:ext>
              </a:extLst>
            </a:endParaRPr>
          </a:p>
          <a:p>
            <a:pPr marL="457200" marR="0" lvl="0" indent="-317500" algn="l" rtl="0">
              <a:lnSpc>
                <a:spcPct val="2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1"/>
                  </a:ext>
                </a:extLst>
              </a:rPr>
              <a:t>Long iterations</a:t>
            </a:r>
            <a:endParaRPr sz="1400" b="0" i="0" u="none" strike="noStrike" cap="none">
              <a:solidFill>
                <a:srgbClr val="000000"/>
              </a:solidFill>
              <a:latin typeface="Arial"/>
              <a:ea typeface="Arial"/>
              <a:cs typeface="Arial"/>
              <a:sym typeface="Arial"/>
            </a:endParaRPr>
          </a:p>
        </p:txBody>
      </p:sp>
      <p:sp>
        <p:nvSpPr>
          <p:cNvPr id="11" name="Google Shape;993;gd287c8a928_0_10">
            <a:extLst>
              <a:ext uri="{FF2B5EF4-FFF2-40B4-BE49-F238E27FC236}">
                <a16:creationId xmlns:a16="http://schemas.microsoft.com/office/drawing/2014/main" id="{9E486354-64F0-E43A-41AF-F9F92D7C5230}"/>
              </a:ext>
            </a:extLst>
          </p:cNvPr>
          <p:cNvSpPr txBox="1"/>
          <p:nvPr/>
        </p:nvSpPr>
        <p:spPr>
          <a:xfrm>
            <a:off x="2322266" y="1394486"/>
            <a:ext cx="55827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GB" sz="2500" b="0" i="0" u="none" strike="noStrike" cap="none" dirty="0">
                <a:latin typeface="Proxima Nova"/>
                <a:ea typeface="Proxima Nova"/>
                <a:cs typeface="Proxima Nova"/>
                <a:sym typeface="Proxima Nova"/>
              </a:rPr>
              <a:t>Old School Integration: Pain Points </a:t>
            </a:r>
            <a:endParaRPr sz="2500" b="0" i="0" u="none" strike="noStrike" cap="none" dirty="0">
              <a:latin typeface="Proxima Nova"/>
              <a:ea typeface="Proxima Nova"/>
              <a:cs typeface="Proxima Nova"/>
              <a:sym typeface="Proxima Nova"/>
            </a:endParaRPr>
          </a:p>
        </p:txBody>
      </p:sp>
    </p:spTree>
    <p:extLst>
      <p:ext uri="{BB962C8B-B14F-4D97-AF65-F5344CB8AC3E}">
        <p14:creationId xmlns:p14="http://schemas.microsoft.com/office/powerpoint/2010/main" val="941340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999;gd99b63929a_0_535">
            <a:extLst>
              <a:ext uri="{FF2B5EF4-FFF2-40B4-BE49-F238E27FC236}">
                <a16:creationId xmlns:a16="http://schemas.microsoft.com/office/drawing/2014/main" id="{CCB8C38B-06F3-C613-D951-FBD290423730}"/>
              </a:ext>
            </a:extLst>
          </p:cNvPr>
          <p:cNvSpPr txBox="1"/>
          <p:nvPr/>
        </p:nvSpPr>
        <p:spPr>
          <a:xfrm>
            <a:off x="1981811" y="2059274"/>
            <a:ext cx="8201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How does Continuous Integration help in fixing the pain points?</a:t>
            </a:r>
            <a:endParaRPr sz="1400" b="0" i="0" u="none" strike="noStrike" cap="none">
              <a:solidFill>
                <a:srgbClr val="000000"/>
              </a:solidFill>
              <a:latin typeface="Arial"/>
              <a:ea typeface="Arial"/>
              <a:cs typeface="Arial"/>
              <a:sym typeface="Arial"/>
            </a:endParaRPr>
          </a:p>
        </p:txBody>
      </p:sp>
      <p:sp>
        <p:nvSpPr>
          <p:cNvPr id="10" name="Google Shape;1000;gd99b63929a_0_535">
            <a:extLst>
              <a:ext uri="{FF2B5EF4-FFF2-40B4-BE49-F238E27FC236}">
                <a16:creationId xmlns:a16="http://schemas.microsoft.com/office/drawing/2014/main" id="{BB78D029-4303-AFE4-4057-DDBC94035386}"/>
              </a:ext>
            </a:extLst>
          </p:cNvPr>
          <p:cNvSpPr txBox="1"/>
          <p:nvPr/>
        </p:nvSpPr>
        <p:spPr>
          <a:xfrm>
            <a:off x="1926336" y="1381674"/>
            <a:ext cx="60603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GB" sz="2500" b="0" i="0" u="none" strike="noStrike" cap="none" dirty="0">
                <a:latin typeface="Proxima Nova"/>
                <a:ea typeface="Proxima Nova"/>
                <a:cs typeface="Proxima Nova"/>
                <a:sym typeface="Proxima Nova"/>
              </a:rPr>
              <a:t>Implementing</a:t>
            </a:r>
            <a:r>
              <a:rPr lang="en-GB" sz="2500" b="0" i="0" u="none" strike="noStrike" cap="none" dirty="0">
                <a:latin typeface="Proxima Nova"/>
                <a:ea typeface="Proxima Nova"/>
                <a:cs typeface="Proxima Nova"/>
                <a:sym typeface="Proxima Nova"/>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2"/>
                  </a:ext>
                </a:extLst>
              </a:rPr>
              <a:t> </a:t>
            </a:r>
            <a:r>
              <a:rPr lang="en-GB" sz="2500" b="0" i="0" u="none" strike="noStrike" cap="none" dirty="0">
                <a:latin typeface="Proxima Nova"/>
                <a:ea typeface="Proxima Nova"/>
                <a:cs typeface="Proxima Nova"/>
                <a:sym typeface="Proxima Nova"/>
              </a:rPr>
              <a:t>Continuous Integration</a:t>
            </a:r>
            <a:endParaRPr sz="2500" b="0" i="0" u="none" strike="noStrike" cap="none" dirty="0">
              <a:latin typeface="Proxima Nova"/>
              <a:ea typeface="Proxima Nova"/>
              <a:cs typeface="Proxima Nova"/>
              <a:sym typeface="Proxima Nova"/>
            </a:endParaRPr>
          </a:p>
        </p:txBody>
      </p:sp>
      <p:grpSp>
        <p:nvGrpSpPr>
          <p:cNvPr id="11" name="Google Shape;1001;gd99b63929a_0_535">
            <a:extLst>
              <a:ext uri="{FF2B5EF4-FFF2-40B4-BE49-F238E27FC236}">
                <a16:creationId xmlns:a16="http://schemas.microsoft.com/office/drawing/2014/main" id="{1B93F24C-E993-C1F6-EDE7-C0542BDC855B}"/>
              </a:ext>
            </a:extLst>
          </p:cNvPr>
          <p:cNvGrpSpPr/>
          <p:nvPr/>
        </p:nvGrpSpPr>
        <p:grpSpPr>
          <a:xfrm>
            <a:off x="1506346" y="2567674"/>
            <a:ext cx="9014663" cy="4112001"/>
            <a:chOff x="718775" y="1200663"/>
            <a:chExt cx="8263638" cy="3842936"/>
          </a:xfrm>
        </p:grpSpPr>
        <p:pic>
          <p:nvPicPr>
            <p:cNvPr id="12" name="Google Shape;1002;gd99b63929a_0_535">
              <a:extLst>
                <a:ext uri="{FF2B5EF4-FFF2-40B4-BE49-F238E27FC236}">
                  <a16:creationId xmlns:a16="http://schemas.microsoft.com/office/drawing/2014/main" id="{7062D6E7-954A-D437-1A14-F5C79AB0CFEB}"/>
                </a:ext>
              </a:extLst>
            </p:cNvPr>
            <p:cNvPicPr preferRelativeResize="0"/>
            <p:nvPr/>
          </p:nvPicPr>
          <p:blipFill rotWithShape="1">
            <a:blip r:embed="rId6">
              <a:alphaModFix/>
            </a:blip>
            <a:srcRect/>
            <a:stretch/>
          </p:blipFill>
          <p:spPr>
            <a:xfrm>
              <a:off x="718775" y="1200663"/>
              <a:ext cx="674570" cy="741195"/>
            </a:xfrm>
            <a:prstGeom prst="rect">
              <a:avLst/>
            </a:prstGeom>
            <a:noFill/>
            <a:ln>
              <a:noFill/>
            </a:ln>
          </p:spPr>
        </p:pic>
        <p:pic>
          <p:nvPicPr>
            <p:cNvPr id="13" name="Google Shape;1003;gd99b63929a_0_535">
              <a:extLst>
                <a:ext uri="{FF2B5EF4-FFF2-40B4-BE49-F238E27FC236}">
                  <a16:creationId xmlns:a16="http://schemas.microsoft.com/office/drawing/2014/main" id="{E916BE68-E33C-E1FC-2D2F-B1AA6AD8344F}"/>
                </a:ext>
              </a:extLst>
            </p:cNvPr>
            <p:cNvPicPr preferRelativeResize="0"/>
            <p:nvPr/>
          </p:nvPicPr>
          <p:blipFill rotWithShape="1">
            <a:blip r:embed="rId7">
              <a:alphaModFix/>
            </a:blip>
            <a:srcRect/>
            <a:stretch/>
          </p:blipFill>
          <p:spPr>
            <a:xfrm>
              <a:off x="850325" y="2483315"/>
              <a:ext cx="490818" cy="741600"/>
            </a:xfrm>
            <a:prstGeom prst="rect">
              <a:avLst/>
            </a:prstGeom>
            <a:noFill/>
            <a:ln>
              <a:noFill/>
            </a:ln>
          </p:spPr>
        </p:pic>
        <p:sp>
          <p:nvSpPr>
            <p:cNvPr id="14" name="Google Shape;1004;gd99b63929a_0_535">
              <a:extLst>
                <a:ext uri="{FF2B5EF4-FFF2-40B4-BE49-F238E27FC236}">
                  <a16:creationId xmlns:a16="http://schemas.microsoft.com/office/drawing/2014/main" id="{E7A3EE48-BAE6-231E-301D-3E9EF6462127}"/>
                </a:ext>
              </a:extLst>
            </p:cNvPr>
            <p:cNvSpPr txBox="1"/>
            <p:nvPr/>
          </p:nvSpPr>
          <p:spPr>
            <a:xfrm>
              <a:off x="725047" y="1984900"/>
              <a:ext cx="7389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Customer</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Profile</a:t>
              </a:r>
              <a:endParaRPr sz="1400" b="0" i="0" u="none" strike="noStrike" cap="none">
                <a:solidFill>
                  <a:srgbClr val="000000"/>
                </a:solidFill>
                <a:latin typeface="Arial"/>
                <a:ea typeface="Arial"/>
                <a:cs typeface="Arial"/>
                <a:sym typeface="Arial"/>
              </a:endParaRPr>
            </a:p>
          </p:txBody>
        </p:sp>
        <p:sp>
          <p:nvSpPr>
            <p:cNvPr id="15" name="Google Shape;1005;gd99b63929a_0_535">
              <a:extLst>
                <a:ext uri="{FF2B5EF4-FFF2-40B4-BE49-F238E27FC236}">
                  <a16:creationId xmlns:a16="http://schemas.microsoft.com/office/drawing/2014/main" id="{66984279-1DFE-2334-BFB9-B17963E07973}"/>
                </a:ext>
              </a:extLst>
            </p:cNvPr>
            <p:cNvSpPr txBox="1"/>
            <p:nvPr/>
          </p:nvSpPr>
          <p:spPr>
            <a:xfrm>
              <a:off x="787545" y="3308075"/>
              <a:ext cx="5802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Product</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Catalog</a:t>
              </a:r>
              <a:endParaRPr sz="1200" b="0" i="0" u="none" strike="noStrike" cap="none">
                <a:solidFill>
                  <a:srgbClr val="000000"/>
                </a:solidFill>
                <a:latin typeface="Lato"/>
                <a:ea typeface="Lato"/>
                <a:cs typeface="Lato"/>
                <a:sym typeface="Lato"/>
              </a:endParaRPr>
            </a:p>
          </p:txBody>
        </p:sp>
        <p:pic>
          <p:nvPicPr>
            <p:cNvPr id="16" name="Google Shape;1006;gd99b63929a_0_535">
              <a:extLst>
                <a:ext uri="{FF2B5EF4-FFF2-40B4-BE49-F238E27FC236}">
                  <a16:creationId xmlns:a16="http://schemas.microsoft.com/office/drawing/2014/main" id="{9160A069-B745-B1C5-2819-3EE114C75D4C}"/>
                </a:ext>
              </a:extLst>
            </p:cNvPr>
            <p:cNvPicPr preferRelativeResize="0"/>
            <p:nvPr/>
          </p:nvPicPr>
          <p:blipFill rotWithShape="1">
            <a:blip r:embed="rId6">
              <a:alphaModFix/>
            </a:blip>
            <a:srcRect/>
            <a:stretch/>
          </p:blipFill>
          <p:spPr>
            <a:xfrm>
              <a:off x="718775" y="3890074"/>
              <a:ext cx="674570" cy="741195"/>
            </a:xfrm>
            <a:prstGeom prst="rect">
              <a:avLst/>
            </a:prstGeom>
            <a:noFill/>
            <a:ln>
              <a:noFill/>
            </a:ln>
          </p:spPr>
        </p:pic>
        <p:sp>
          <p:nvSpPr>
            <p:cNvPr id="17" name="Google Shape;1007;gd99b63929a_0_535">
              <a:extLst>
                <a:ext uri="{FF2B5EF4-FFF2-40B4-BE49-F238E27FC236}">
                  <a16:creationId xmlns:a16="http://schemas.microsoft.com/office/drawing/2014/main" id="{96E06E6C-2F75-7550-D9BE-D5385C213FEF}"/>
                </a:ext>
              </a:extLst>
            </p:cNvPr>
            <p:cNvSpPr txBox="1"/>
            <p:nvPr/>
          </p:nvSpPr>
          <p:spPr>
            <a:xfrm>
              <a:off x="765918" y="4674299"/>
              <a:ext cx="5802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Order</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Tracking</a:t>
              </a:r>
              <a:endParaRPr sz="1400" b="0" i="0" u="none" strike="noStrike" cap="none">
                <a:solidFill>
                  <a:srgbClr val="000000"/>
                </a:solidFill>
                <a:latin typeface="Arial"/>
                <a:ea typeface="Arial"/>
                <a:cs typeface="Arial"/>
                <a:sym typeface="Arial"/>
              </a:endParaRPr>
            </a:p>
          </p:txBody>
        </p:sp>
        <p:pic>
          <p:nvPicPr>
            <p:cNvPr id="18" name="Google Shape;1008;gd99b63929a_0_535">
              <a:extLst>
                <a:ext uri="{FF2B5EF4-FFF2-40B4-BE49-F238E27FC236}">
                  <a16:creationId xmlns:a16="http://schemas.microsoft.com/office/drawing/2014/main" id="{519243AC-9801-4A1C-5A14-CCCF72902F75}"/>
                </a:ext>
              </a:extLst>
            </p:cNvPr>
            <p:cNvPicPr preferRelativeResize="0"/>
            <p:nvPr/>
          </p:nvPicPr>
          <p:blipFill rotWithShape="1">
            <a:blip r:embed="rId8">
              <a:alphaModFix/>
            </a:blip>
            <a:srcRect/>
            <a:stretch/>
          </p:blipFill>
          <p:spPr>
            <a:xfrm>
              <a:off x="1567411" y="1393153"/>
              <a:ext cx="437004" cy="356214"/>
            </a:xfrm>
            <a:prstGeom prst="rect">
              <a:avLst/>
            </a:prstGeom>
            <a:noFill/>
            <a:ln>
              <a:noFill/>
            </a:ln>
          </p:spPr>
        </p:pic>
        <p:pic>
          <p:nvPicPr>
            <p:cNvPr id="19" name="Google Shape;1009;gd99b63929a_0_535">
              <a:extLst>
                <a:ext uri="{FF2B5EF4-FFF2-40B4-BE49-F238E27FC236}">
                  <a16:creationId xmlns:a16="http://schemas.microsoft.com/office/drawing/2014/main" id="{CE5FC6EE-3553-56EB-38D0-AF3164FC1F86}"/>
                </a:ext>
              </a:extLst>
            </p:cNvPr>
            <p:cNvPicPr preferRelativeResize="0"/>
            <p:nvPr/>
          </p:nvPicPr>
          <p:blipFill rotWithShape="1">
            <a:blip r:embed="rId9">
              <a:alphaModFix/>
            </a:blip>
            <a:srcRect/>
            <a:stretch/>
          </p:blipFill>
          <p:spPr>
            <a:xfrm>
              <a:off x="1567411" y="2676008"/>
              <a:ext cx="437004" cy="356214"/>
            </a:xfrm>
            <a:prstGeom prst="rect">
              <a:avLst/>
            </a:prstGeom>
            <a:noFill/>
            <a:ln>
              <a:noFill/>
            </a:ln>
          </p:spPr>
        </p:pic>
        <p:pic>
          <p:nvPicPr>
            <p:cNvPr id="20" name="Google Shape;1010;gd99b63929a_0_535">
              <a:extLst>
                <a:ext uri="{FF2B5EF4-FFF2-40B4-BE49-F238E27FC236}">
                  <a16:creationId xmlns:a16="http://schemas.microsoft.com/office/drawing/2014/main" id="{CA72072D-3829-767A-2231-4EFF29B3328F}"/>
                </a:ext>
              </a:extLst>
            </p:cNvPr>
            <p:cNvPicPr preferRelativeResize="0"/>
            <p:nvPr/>
          </p:nvPicPr>
          <p:blipFill rotWithShape="1">
            <a:blip r:embed="rId10">
              <a:alphaModFix/>
            </a:blip>
            <a:srcRect/>
            <a:stretch/>
          </p:blipFill>
          <p:spPr>
            <a:xfrm>
              <a:off x="1567411" y="4082564"/>
              <a:ext cx="437004" cy="356214"/>
            </a:xfrm>
            <a:prstGeom prst="rect">
              <a:avLst/>
            </a:prstGeom>
            <a:noFill/>
            <a:ln>
              <a:noFill/>
            </a:ln>
          </p:spPr>
        </p:pic>
        <p:pic>
          <p:nvPicPr>
            <p:cNvPr id="21" name="Google Shape;1011;gd99b63929a_0_535">
              <a:extLst>
                <a:ext uri="{FF2B5EF4-FFF2-40B4-BE49-F238E27FC236}">
                  <a16:creationId xmlns:a16="http://schemas.microsoft.com/office/drawing/2014/main" id="{203CC1B7-A970-BDA5-16E1-16E2A7D67112}"/>
                </a:ext>
              </a:extLst>
            </p:cNvPr>
            <p:cNvPicPr preferRelativeResize="0"/>
            <p:nvPr/>
          </p:nvPicPr>
          <p:blipFill rotWithShape="1">
            <a:blip r:embed="rId11">
              <a:alphaModFix/>
            </a:blip>
            <a:srcRect/>
            <a:stretch/>
          </p:blipFill>
          <p:spPr>
            <a:xfrm>
              <a:off x="2965741" y="2675822"/>
              <a:ext cx="317466" cy="356400"/>
            </a:xfrm>
            <a:prstGeom prst="rect">
              <a:avLst/>
            </a:prstGeom>
            <a:noFill/>
            <a:ln>
              <a:noFill/>
            </a:ln>
          </p:spPr>
        </p:pic>
        <p:cxnSp>
          <p:nvCxnSpPr>
            <p:cNvPr id="22" name="Google Shape;1012;gd99b63929a_0_535">
              <a:extLst>
                <a:ext uri="{FF2B5EF4-FFF2-40B4-BE49-F238E27FC236}">
                  <a16:creationId xmlns:a16="http://schemas.microsoft.com/office/drawing/2014/main" id="{219D1CD1-5E79-BDC2-16B3-8B80EBB1D8C4}"/>
                </a:ext>
              </a:extLst>
            </p:cNvPr>
            <p:cNvCxnSpPr>
              <a:stCxn id="19" idx="3"/>
              <a:endCxn id="21" idx="1"/>
            </p:cNvCxnSpPr>
            <p:nvPr/>
          </p:nvCxnSpPr>
          <p:spPr>
            <a:xfrm>
              <a:off x="2004415" y="2854115"/>
              <a:ext cx="961200" cy="0"/>
            </a:xfrm>
            <a:prstGeom prst="straightConnector1">
              <a:avLst/>
            </a:prstGeom>
            <a:noFill/>
            <a:ln w="9525" cap="flat" cmpd="sng">
              <a:solidFill>
                <a:srgbClr val="757070"/>
              </a:solidFill>
              <a:prstDash val="solid"/>
              <a:round/>
              <a:headEnd type="none" w="sm" len="sm"/>
              <a:tailEnd type="triangle" w="med" len="med"/>
            </a:ln>
          </p:spPr>
        </p:cxnSp>
        <p:cxnSp>
          <p:nvCxnSpPr>
            <p:cNvPr id="23" name="Google Shape;1013;gd99b63929a_0_535">
              <a:extLst>
                <a:ext uri="{FF2B5EF4-FFF2-40B4-BE49-F238E27FC236}">
                  <a16:creationId xmlns:a16="http://schemas.microsoft.com/office/drawing/2014/main" id="{D01F5734-2DA5-3C21-D931-B521D39DBA54}"/>
                </a:ext>
              </a:extLst>
            </p:cNvPr>
            <p:cNvCxnSpPr>
              <a:stCxn id="18" idx="3"/>
              <a:endCxn id="21" idx="1"/>
            </p:cNvCxnSpPr>
            <p:nvPr/>
          </p:nvCxnSpPr>
          <p:spPr>
            <a:xfrm>
              <a:off x="2004415" y="1571260"/>
              <a:ext cx="961200" cy="1282800"/>
            </a:xfrm>
            <a:prstGeom prst="straightConnector1">
              <a:avLst/>
            </a:prstGeom>
            <a:noFill/>
            <a:ln w="9525" cap="flat" cmpd="sng">
              <a:solidFill>
                <a:srgbClr val="757070"/>
              </a:solidFill>
              <a:prstDash val="solid"/>
              <a:round/>
              <a:headEnd type="none" w="sm" len="sm"/>
              <a:tailEnd type="triangle" w="med" len="med"/>
            </a:ln>
          </p:spPr>
        </p:cxnSp>
        <p:cxnSp>
          <p:nvCxnSpPr>
            <p:cNvPr id="24" name="Google Shape;1014;gd99b63929a_0_535">
              <a:extLst>
                <a:ext uri="{FF2B5EF4-FFF2-40B4-BE49-F238E27FC236}">
                  <a16:creationId xmlns:a16="http://schemas.microsoft.com/office/drawing/2014/main" id="{51DEB3B9-DF09-93CC-C9F5-FD3E4FA73652}"/>
                </a:ext>
              </a:extLst>
            </p:cNvPr>
            <p:cNvCxnSpPr>
              <a:stCxn id="20" idx="3"/>
              <a:endCxn id="21" idx="1"/>
            </p:cNvCxnSpPr>
            <p:nvPr/>
          </p:nvCxnSpPr>
          <p:spPr>
            <a:xfrm rot="10800000" flipH="1">
              <a:off x="2004415" y="2853971"/>
              <a:ext cx="961200" cy="1406700"/>
            </a:xfrm>
            <a:prstGeom prst="straightConnector1">
              <a:avLst/>
            </a:prstGeom>
            <a:noFill/>
            <a:ln w="9525" cap="flat" cmpd="sng">
              <a:solidFill>
                <a:srgbClr val="757070"/>
              </a:solidFill>
              <a:prstDash val="solid"/>
              <a:round/>
              <a:headEnd type="none" w="sm" len="sm"/>
              <a:tailEnd type="triangle" w="med" len="med"/>
            </a:ln>
          </p:spPr>
        </p:cxnSp>
        <p:cxnSp>
          <p:nvCxnSpPr>
            <p:cNvPr id="25" name="Google Shape;1015;gd99b63929a_0_535">
              <a:extLst>
                <a:ext uri="{FF2B5EF4-FFF2-40B4-BE49-F238E27FC236}">
                  <a16:creationId xmlns:a16="http://schemas.microsoft.com/office/drawing/2014/main" id="{2CDBCD24-D624-9219-EB25-9C8E78E881F4}"/>
                </a:ext>
              </a:extLst>
            </p:cNvPr>
            <p:cNvCxnSpPr/>
            <p:nvPr/>
          </p:nvCxnSpPr>
          <p:spPr>
            <a:xfrm>
              <a:off x="3406636" y="2854115"/>
              <a:ext cx="438900" cy="0"/>
            </a:xfrm>
            <a:prstGeom prst="straightConnector1">
              <a:avLst/>
            </a:prstGeom>
            <a:noFill/>
            <a:ln w="9525" cap="flat" cmpd="sng">
              <a:solidFill>
                <a:srgbClr val="757070"/>
              </a:solidFill>
              <a:prstDash val="solid"/>
              <a:round/>
              <a:headEnd type="none" w="sm" len="sm"/>
              <a:tailEnd type="triangle" w="med" len="med"/>
            </a:ln>
          </p:spPr>
        </p:cxnSp>
        <p:pic>
          <p:nvPicPr>
            <p:cNvPr id="26" name="Google Shape;1016;gd99b63929a_0_535">
              <a:extLst>
                <a:ext uri="{FF2B5EF4-FFF2-40B4-BE49-F238E27FC236}">
                  <a16:creationId xmlns:a16="http://schemas.microsoft.com/office/drawing/2014/main" id="{90D3D448-4BD9-5F67-2988-04BFABCC9C83}"/>
                </a:ext>
              </a:extLst>
            </p:cNvPr>
            <p:cNvPicPr preferRelativeResize="0"/>
            <p:nvPr/>
          </p:nvPicPr>
          <p:blipFill rotWithShape="1">
            <a:blip r:embed="rId12">
              <a:alphaModFix/>
            </a:blip>
            <a:srcRect/>
            <a:stretch/>
          </p:blipFill>
          <p:spPr>
            <a:xfrm>
              <a:off x="3968867" y="2676008"/>
              <a:ext cx="437004" cy="356214"/>
            </a:xfrm>
            <a:prstGeom prst="rect">
              <a:avLst/>
            </a:prstGeom>
            <a:noFill/>
            <a:ln>
              <a:noFill/>
            </a:ln>
          </p:spPr>
        </p:pic>
        <p:sp>
          <p:nvSpPr>
            <p:cNvPr id="27" name="Google Shape;1017;gd99b63929a_0_535">
              <a:extLst>
                <a:ext uri="{FF2B5EF4-FFF2-40B4-BE49-F238E27FC236}">
                  <a16:creationId xmlns:a16="http://schemas.microsoft.com/office/drawing/2014/main" id="{0D3EECF4-7FD9-2885-3A19-EC0ADB381ED1}"/>
                </a:ext>
              </a:extLst>
            </p:cNvPr>
            <p:cNvSpPr txBox="1"/>
            <p:nvPr/>
          </p:nvSpPr>
          <p:spPr>
            <a:xfrm>
              <a:off x="2887221" y="3177500"/>
              <a:ext cx="5370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Master</a:t>
              </a:r>
              <a:endParaRPr sz="1400" b="0" i="0" u="none" strike="noStrike" cap="none">
                <a:solidFill>
                  <a:srgbClr val="000000"/>
                </a:solidFill>
                <a:latin typeface="Arial"/>
                <a:ea typeface="Arial"/>
                <a:cs typeface="Arial"/>
                <a:sym typeface="Arial"/>
              </a:endParaRPr>
            </a:p>
          </p:txBody>
        </p:sp>
        <p:sp>
          <p:nvSpPr>
            <p:cNvPr id="28" name="Google Shape;1018;gd99b63929a_0_535">
              <a:extLst>
                <a:ext uri="{FF2B5EF4-FFF2-40B4-BE49-F238E27FC236}">
                  <a16:creationId xmlns:a16="http://schemas.microsoft.com/office/drawing/2014/main" id="{1FAD3176-838E-2A98-1DDC-DC7DF367F968}"/>
                </a:ext>
              </a:extLst>
            </p:cNvPr>
            <p:cNvSpPr txBox="1"/>
            <p:nvPr/>
          </p:nvSpPr>
          <p:spPr>
            <a:xfrm>
              <a:off x="3905315" y="3177503"/>
              <a:ext cx="5577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Compile</a:t>
              </a:r>
              <a:endParaRPr sz="1400" b="0" i="0" u="none" strike="noStrike" cap="none">
                <a:solidFill>
                  <a:srgbClr val="000000"/>
                </a:solidFill>
                <a:latin typeface="Arial"/>
                <a:ea typeface="Arial"/>
                <a:cs typeface="Arial"/>
                <a:sym typeface="Arial"/>
              </a:endParaRPr>
            </a:p>
          </p:txBody>
        </p:sp>
        <p:cxnSp>
          <p:nvCxnSpPr>
            <p:cNvPr id="29" name="Google Shape;1019;gd99b63929a_0_535">
              <a:extLst>
                <a:ext uri="{FF2B5EF4-FFF2-40B4-BE49-F238E27FC236}">
                  <a16:creationId xmlns:a16="http://schemas.microsoft.com/office/drawing/2014/main" id="{F0DAC942-6813-8FB6-AE2A-C81EB1E022BD}"/>
                </a:ext>
              </a:extLst>
            </p:cNvPr>
            <p:cNvCxnSpPr/>
            <p:nvPr/>
          </p:nvCxnSpPr>
          <p:spPr>
            <a:xfrm>
              <a:off x="4529300" y="2854115"/>
              <a:ext cx="438900" cy="0"/>
            </a:xfrm>
            <a:prstGeom prst="straightConnector1">
              <a:avLst/>
            </a:prstGeom>
            <a:noFill/>
            <a:ln w="9525" cap="flat" cmpd="sng">
              <a:solidFill>
                <a:srgbClr val="757070"/>
              </a:solidFill>
              <a:prstDash val="solid"/>
              <a:round/>
              <a:headEnd type="none" w="sm" len="sm"/>
              <a:tailEnd type="triangle" w="med" len="med"/>
            </a:ln>
          </p:spPr>
        </p:cxnSp>
        <p:pic>
          <p:nvPicPr>
            <p:cNvPr id="30" name="Google Shape;1020;gd99b63929a_0_535">
              <a:extLst>
                <a:ext uri="{FF2B5EF4-FFF2-40B4-BE49-F238E27FC236}">
                  <a16:creationId xmlns:a16="http://schemas.microsoft.com/office/drawing/2014/main" id="{97CF1692-2F20-59AD-7123-6A2CB3AF8A46}"/>
                </a:ext>
              </a:extLst>
            </p:cNvPr>
            <p:cNvPicPr preferRelativeResize="0"/>
            <p:nvPr/>
          </p:nvPicPr>
          <p:blipFill rotWithShape="1">
            <a:blip r:embed="rId13">
              <a:alphaModFix/>
            </a:blip>
            <a:srcRect/>
            <a:stretch/>
          </p:blipFill>
          <p:spPr>
            <a:xfrm>
              <a:off x="5091531" y="2675798"/>
              <a:ext cx="437233" cy="356400"/>
            </a:xfrm>
            <a:prstGeom prst="rect">
              <a:avLst/>
            </a:prstGeom>
            <a:noFill/>
            <a:ln>
              <a:noFill/>
            </a:ln>
          </p:spPr>
        </p:pic>
        <p:sp>
          <p:nvSpPr>
            <p:cNvPr id="31" name="Google Shape;1021;gd99b63929a_0_535">
              <a:extLst>
                <a:ext uri="{FF2B5EF4-FFF2-40B4-BE49-F238E27FC236}">
                  <a16:creationId xmlns:a16="http://schemas.microsoft.com/office/drawing/2014/main" id="{4782B350-715D-BD5A-2AC4-580BDC52336B}"/>
                </a:ext>
              </a:extLst>
            </p:cNvPr>
            <p:cNvSpPr txBox="1"/>
            <p:nvPr/>
          </p:nvSpPr>
          <p:spPr>
            <a:xfrm>
              <a:off x="5029621" y="3177503"/>
              <a:ext cx="5610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Package</a:t>
              </a:r>
              <a:endParaRPr sz="1400" b="0" i="0" u="none" strike="noStrike" cap="none">
                <a:solidFill>
                  <a:srgbClr val="000000"/>
                </a:solidFill>
                <a:latin typeface="Arial"/>
                <a:ea typeface="Arial"/>
                <a:cs typeface="Arial"/>
                <a:sym typeface="Arial"/>
              </a:endParaRPr>
            </a:p>
          </p:txBody>
        </p:sp>
        <p:cxnSp>
          <p:nvCxnSpPr>
            <p:cNvPr id="32" name="Google Shape;1022;gd99b63929a_0_535">
              <a:extLst>
                <a:ext uri="{FF2B5EF4-FFF2-40B4-BE49-F238E27FC236}">
                  <a16:creationId xmlns:a16="http://schemas.microsoft.com/office/drawing/2014/main" id="{46FB9079-0B70-E2E7-F6F8-4F7B63E0CAC7}"/>
                </a:ext>
              </a:extLst>
            </p:cNvPr>
            <p:cNvCxnSpPr/>
            <p:nvPr/>
          </p:nvCxnSpPr>
          <p:spPr>
            <a:xfrm>
              <a:off x="5652193" y="2854115"/>
              <a:ext cx="438900" cy="0"/>
            </a:xfrm>
            <a:prstGeom prst="straightConnector1">
              <a:avLst/>
            </a:prstGeom>
            <a:noFill/>
            <a:ln w="9525" cap="flat" cmpd="sng">
              <a:solidFill>
                <a:srgbClr val="757070"/>
              </a:solidFill>
              <a:prstDash val="solid"/>
              <a:round/>
              <a:headEnd type="none" w="sm" len="sm"/>
              <a:tailEnd type="triangle" w="med" len="med"/>
            </a:ln>
          </p:spPr>
        </p:cxnSp>
        <p:sp>
          <p:nvSpPr>
            <p:cNvPr id="33" name="Google Shape;1023;gd99b63929a_0_535">
              <a:extLst>
                <a:ext uri="{FF2B5EF4-FFF2-40B4-BE49-F238E27FC236}">
                  <a16:creationId xmlns:a16="http://schemas.microsoft.com/office/drawing/2014/main" id="{2765604E-DEE8-6E2B-810D-F1255542FF50}"/>
                </a:ext>
              </a:extLst>
            </p:cNvPr>
            <p:cNvSpPr/>
            <p:nvPr/>
          </p:nvSpPr>
          <p:spPr>
            <a:xfrm>
              <a:off x="8243513" y="2682402"/>
              <a:ext cx="738900" cy="343200"/>
            </a:xfrm>
            <a:prstGeom prst="roundRect">
              <a:avLst>
                <a:gd name="adj" fmla="val 50000"/>
              </a:avLst>
            </a:prstGeom>
            <a:solidFill>
              <a:srgbClr val="F7CAA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 name="Google Shape;1024;gd99b63929a_0_535">
              <a:extLst>
                <a:ext uri="{FF2B5EF4-FFF2-40B4-BE49-F238E27FC236}">
                  <a16:creationId xmlns:a16="http://schemas.microsoft.com/office/drawing/2014/main" id="{641A3289-2210-2DE8-1381-6399CE168623}"/>
                </a:ext>
              </a:extLst>
            </p:cNvPr>
            <p:cNvSpPr txBox="1"/>
            <p:nvPr/>
          </p:nvSpPr>
          <p:spPr>
            <a:xfrm>
              <a:off x="4703960" y="1837970"/>
              <a:ext cx="11607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Build &amp;</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Integration Team</a:t>
              </a:r>
              <a:endParaRPr sz="1400" b="0" i="0" u="none" strike="noStrike" cap="none">
                <a:solidFill>
                  <a:srgbClr val="000000"/>
                </a:solidFill>
                <a:latin typeface="Arial"/>
                <a:ea typeface="Arial"/>
                <a:cs typeface="Arial"/>
                <a:sym typeface="Arial"/>
              </a:endParaRPr>
            </a:p>
          </p:txBody>
        </p:sp>
        <p:sp>
          <p:nvSpPr>
            <p:cNvPr id="35" name="Google Shape;1025;gd99b63929a_0_535">
              <a:extLst>
                <a:ext uri="{FF2B5EF4-FFF2-40B4-BE49-F238E27FC236}">
                  <a16:creationId xmlns:a16="http://schemas.microsoft.com/office/drawing/2014/main" id="{89643DF7-6F79-20A1-5835-B69EFC0CA07A}"/>
                </a:ext>
              </a:extLst>
            </p:cNvPr>
            <p:cNvSpPr/>
            <p:nvPr/>
          </p:nvSpPr>
          <p:spPr>
            <a:xfrm rot="-5400000">
              <a:off x="5156268" y="529"/>
              <a:ext cx="255900" cy="4794000"/>
            </a:xfrm>
            <a:prstGeom prst="rightBrace">
              <a:avLst>
                <a:gd name="adj1" fmla="val 24000"/>
                <a:gd name="adj2" fmla="val 50000"/>
              </a:avLst>
            </a:prstGeom>
            <a:noFill/>
            <a:ln w="9525" cap="flat" cmpd="sng">
              <a:solidFill>
                <a:srgbClr val="75707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cxnSp>
          <p:nvCxnSpPr>
            <p:cNvPr id="36" name="Google Shape;1026;gd99b63929a_0_535">
              <a:extLst>
                <a:ext uri="{FF2B5EF4-FFF2-40B4-BE49-F238E27FC236}">
                  <a16:creationId xmlns:a16="http://schemas.microsoft.com/office/drawing/2014/main" id="{F41D961A-B0EA-052D-5884-12AC35A1DC1E}"/>
                </a:ext>
              </a:extLst>
            </p:cNvPr>
            <p:cNvCxnSpPr/>
            <p:nvPr/>
          </p:nvCxnSpPr>
          <p:spPr>
            <a:xfrm>
              <a:off x="2583548" y="1571260"/>
              <a:ext cx="0" cy="2689200"/>
            </a:xfrm>
            <a:prstGeom prst="straightConnector1">
              <a:avLst/>
            </a:prstGeom>
            <a:noFill/>
            <a:ln w="9525" cap="flat" cmpd="sng">
              <a:solidFill>
                <a:schemeClr val="dk1"/>
              </a:solidFill>
              <a:prstDash val="dash"/>
              <a:round/>
              <a:headEnd type="none" w="sm" len="sm"/>
              <a:tailEnd type="none" w="sm" len="sm"/>
            </a:ln>
          </p:spPr>
        </p:cxnSp>
        <p:cxnSp>
          <p:nvCxnSpPr>
            <p:cNvPr id="37" name="Google Shape;1027;gd99b63929a_0_535">
              <a:extLst>
                <a:ext uri="{FF2B5EF4-FFF2-40B4-BE49-F238E27FC236}">
                  <a16:creationId xmlns:a16="http://schemas.microsoft.com/office/drawing/2014/main" id="{D290E6E2-F370-0B10-1CD4-B9914EB73D59}"/>
                </a:ext>
              </a:extLst>
            </p:cNvPr>
            <p:cNvCxnSpPr/>
            <p:nvPr/>
          </p:nvCxnSpPr>
          <p:spPr>
            <a:xfrm>
              <a:off x="7851700" y="1571260"/>
              <a:ext cx="0" cy="2689200"/>
            </a:xfrm>
            <a:prstGeom prst="straightConnector1">
              <a:avLst/>
            </a:prstGeom>
            <a:noFill/>
            <a:ln w="9525" cap="flat" cmpd="sng">
              <a:solidFill>
                <a:schemeClr val="dk1"/>
              </a:solidFill>
              <a:prstDash val="dash"/>
              <a:round/>
              <a:headEnd type="none" w="sm" len="sm"/>
              <a:tailEnd type="none" w="sm" len="sm"/>
            </a:ln>
          </p:spPr>
        </p:cxnSp>
        <p:pic>
          <p:nvPicPr>
            <p:cNvPr id="38" name="Google Shape;1028;gd99b63929a_0_535">
              <a:extLst>
                <a:ext uri="{FF2B5EF4-FFF2-40B4-BE49-F238E27FC236}">
                  <a16:creationId xmlns:a16="http://schemas.microsoft.com/office/drawing/2014/main" id="{94CE7C8C-305C-A32A-E0EF-5AF905911174}"/>
                </a:ext>
              </a:extLst>
            </p:cNvPr>
            <p:cNvPicPr preferRelativeResize="0"/>
            <p:nvPr/>
          </p:nvPicPr>
          <p:blipFill rotWithShape="1">
            <a:blip r:embed="rId14">
              <a:alphaModFix/>
            </a:blip>
            <a:srcRect/>
            <a:stretch/>
          </p:blipFill>
          <p:spPr>
            <a:xfrm>
              <a:off x="6214424" y="2675798"/>
              <a:ext cx="312581" cy="356400"/>
            </a:xfrm>
            <a:prstGeom prst="rect">
              <a:avLst/>
            </a:prstGeom>
            <a:noFill/>
            <a:ln>
              <a:noFill/>
            </a:ln>
          </p:spPr>
        </p:pic>
        <p:sp>
          <p:nvSpPr>
            <p:cNvPr id="39" name="Google Shape;1029;gd99b63929a_0_535">
              <a:extLst>
                <a:ext uri="{FF2B5EF4-FFF2-40B4-BE49-F238E27FC236}">
                  <a16:creationId xmlns:a16="http://schemas.microsoft.com/office/drawing/2014/main" id="{5E565A0C-137E-AB2A-AC9C-AC253E387D74}"/>
                </a:ext>
              </a:extLst>
            </p:cNvPr>
            <p:cNvSpPr txBox="1"/>
            <p:nvPr/>
          </p:nvSpPr>
          <p:spPr>
            <a:xfrm>
              <a:off x="5991603" y="3085170"/>
              <a:ext cx="7581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Automated</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unit tests</a:t>
              </a:r>
              <a:endParaRPr sz="1400" b="0" i="0" u="none" strike="noStrike" cap="none">
                <a:solidFill>
                  <a:srgbClr val="000000"/>
                </a:solidFill>
                <a:latin typeface="Arial"/>
                <a:ea typeface="Arial"/>
                <a:cs typeface="Arial"/>
                <a:sym typeface="Arial"/>
              </a:endParaRPr>
            </a:p>
          </p:txBody>
        </p:sp>
        <p:pic>
          <p:nvPicPr>
            <p:cNvPr id="40" name="Google Shape;1030;gd99b63929a_0_535" descr="Logo&#10;&#10;Description automatically generated">
              <a:extLst>
                <a:ext uri="{FF2B5EF4-FFF2-40B4-BE49-F238E27FC236}">
                  <a16:creationId xmlns:a16="http://schemas.microsoft.com/office/drawing/2014/main" id="{601A05D3-F094-AD75-3AEB-EA5C28074E1B}"/>
                </a:ext>
              </a:extLst>
            </p:cNvPr>
            <p:cNvPicPr preferRelativeResize="0"/>
            <p:nvPr/>
          </p:nvPicPr>
          <p:blipFill rotWithShape="1">
            <a:blip r:embed="rId15">
              <a:alphaModFix/>
            </a:blip>
            <a:srcRect/>
            <a:stretch/>
          </p:blipFill>
          <p:spPr>
            <a:xfrm>
              <a:off x="7212665" y="2667118"/>
              <a:ext cx="345188" cy="356400"/>
            </a:xfrm>
            <a:prstGeom prst="rect">
              <a:avLst/>
            </a:prstGeom>
            <a:noFill/>
            <a:ln>
              <a:noFill/>
            </a:ln>
          </p:spPr>
        </p:pic>
        <p:sp>
          <p:nvSpPr>
            <p:cNvPr id="41" name="Google Shape;1031;gd99b63929a_0_535">
              <a:extLst>
                <a:ext uri="{FF2B5EF4-FFF2-40B4-BE49-F238E27FC236}">
                  <a16:creationId xmlns:a16="http://schemas.microsoft.com/office/drawing/2014/main" id="{9EC1D993-A0CF-D06E-3F7F-98577328C347}"/>
                </a:ext>
              </a:extLst>
            </p:cNvPr>
            <p:cNvSpPr txBox="1"/>
            <p:nvPr/>
          </p:nvSpPr>
          <p:spPr>
            <a:xfrm>
              <a:off x="7006147" y="3085170"/>
              <a:ext cx="7581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Automated</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UI tests</a:t>
              </a:r>
              <a:endParaRPr sz="1400" b="0" i="0" u="none" strike="noStrike" cap="none">
                <a:solidFill>
                  <a:srgbClr val="000000"/>
                </a:solidFill>
                <a:latin typeface="Arial"/>
                <a:ea typeface="Arial"/>
                <a:cs typeface="Arial"/>
                <a:sym typeface="Arial"/>
              </a:endParaRPr>
            </a:p>
          </p:txBody>
        </p:sp>
        <p:cxnSp>
          <p:nvCxnSpPr>
            <p:cNvPr id="42" name="Google Shape;1032;gd99b63929a_0_535">
              <a:extLst>
                <a:ext uri="{FF2B5EF4-FFF2-40B4-BE49-F238E27FC236}">
                  <a16:creationId xmlns:a16="http://schemas.microsoft.com/office/drawing/2014/main" id="{A104FE78-10CB-4B37-9F75-B118A48471F5}"/>
                </a:ext>
              </a:extLst>
            </p:cNvPr>
            <p:cNvCxnSpPr/>
            <p:nvPr/>
          </p:nvCxnSpPr>
          <p:spPr>
            <a:xfrm>
              <a:off x="6650434" y="2854115"/>
              <a:ext cx="438900" cy="0"/>
            </a:xfrm>
            <a:prstGeom prst="straightConnector1">
              <a:avLst/>
            </a:prstGeom>
            <a:noFill/>
            <a:ln w="9525" cap="flat" cmpd="sng">
              <a:solidFill>
                <a:srgbClr val="757070"/>
              </a:solidFill>
              <a:prstDash val="solid"/>
              <a:round/>
              <a:headEnd type="none" w="sm" len="sm"/>
              <a:tailEnd type="triangle" w="med" len="med"/>
            </a:ln>
          </p:spPr>
        </p:cxnSp>
        <p:cxnSp>
          <p:nvCxnSpPr>
            <p:cNvPr id="43" name="Google Shape;1033;gd99b63929a_0_535">
              <a:extLst>
                <a:ext uri="{FF2B5EF4-FFF2-40B4-BE49-F238E27FC236}">
                  <a16:creationId xmlns:a16="http://schemas.microsoft.com/office/drawing/2014/main" id="{89D81DEF-03D6-CED1-70FA-37FB2F9F5C37}"/>
                </a:ext>
              </a:extLst>
            </p:cNvPr>
            <p:cNvCxnSpPr/>
            <p:nvPr/>
          </p:nvCxnSpPr>
          <p:spPr>
            <a:xfrm>
              <a:off x="7681280" y="2854115"/>
              <a:ext cx="438900" cy="0"/>
            </a:xfrm>
            <a:prstGeom prst="straightConnector1">
              <a:avLst/>
            </a:prstGeom>
            <a:noFill/>
            <a:ln w="9525" cap="flat" cmpd="sng">
              <a:solidFill>
                <a:srgbClr val="757070"/>
              </a:solidFill>
              <a:prstDash val="solid"/>
              <a:round/>
              <a:headEnd type="none" w="sm" len="sm"/>
              <a:tailEnd type="triangle" w="med" len="med"/>
            </a:ln>
          </p:spPr>
        </p:cxnSp>
        <p:pic>
          <p:nvPicPr>
            <p:cNvPr id="44" name="Google Shape;1034;gd99b63929a_0_535">
              <a:extLst>
                <a:ext uri="{FF2B5EF4-FFF2-40B4-BE49-F238E27FC236}">
                  <a16:creationId xmlns:a16="http://schemas.microsoft.com/office/drawing/2014/main" id="{6AF340E0-2F30-01EC-F277-12CBA3384355}"/>
                </a:ext>
              </a:extLst>
            </p:cNvPr>
            <p:cNvPicPr preferRelativeResize="0"/>
            <p:nvPr/>
          </p:nvPicPr>
          <p:blipFill rotWithShape="1">
            <a:blip r:embed="rId16">
              <a:alphaModFix/>
            </a:blip>
            <a:srcRect/>
            <a:stretch/>
          </p:blipFill>
          <p:spPr>
            <a:xfrm>
              <a:off x="5088330" y="1236859"/>
              <a:ext cx="391835" cy="492823"/>
            </a:xfrm>
            <a:prstGeom prst="rect">
              <a:avLst/>
            </a:prstGeom>
            <a:noFill/>
            <a:ln>
              <a:noFill/>
            </a:ln>
          </p:spPr>
        </p:pic>
      </p:grpSp>
    </p:spTree>
    <p:extLst>
      <p:ext uri="{BB962C8B-B14F-4D97-AF65-F5344CB8AC3E}">
        <p14:creationId xmlns:p14="http://schemas.microsoft.com/office/powerpoint/2010/main" val="1496156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40;gd287c8a928_1_5">
            <a:extLst>
              <a:ext uri="{FF2B5EF4-FFF2-40B4-BE49-F238E27FC236}">
                <a16:creationId xmlns:a16="http://schemas.microsoft.com/office/drawing/2014/main" id="{C99C5F67-6ED9-DCD6-C41D-C80E830EDFFB}"/>
              </a:ext>
            </a:extLst>
          </p:cNvPr>
          <p:cNvSpPr txBox="1"/>
          <p:nvPr/>
        </p:nvSpPr>
        <p:spPr>
          <a:xfrm>
            <a:off x="305074" y="1848103"/>
            <a:ext cx="7781400" cy="76941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GB" sz="2400" b="0" i="0" u="none" strike="noStrike" cap="none" dirty="0">
                <a:latin typeface="Proxima Nova"/>
                <a:ea typeface="Proxima Nova"/>
                <a:cs typeface="Proxima Nova"/>
                <a:sym typeface="Proxima Nova"/>
              </a:rPr>
              <a:t>Benefits of Introducing Continuous Integration</a:t>
            </a:r>
            <a:endParaRPr sz="2400" b="0" i="0" u="none" strike="noStrike" cap="none" dirty="0">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latin typeface="Arial"/>
              <a:ea typeface="Arial"/>
              <a:cs typeface="Arial"/>
              <a:sym typeface="Arial"/>
            </a:endParaRPr>
          </a:p>
        </p:txBody>
      </p:sp>
      <p:sp>
        <p:nvSpPr>
          <p:cNvPr id="10" name="Google Shape;1041;gd287c8a928_1_5">
            <a:extLst>
              <a:ext uri="{FF2B5EF4-FFF2-40B4-BE49-F238E27FC236}">
                <a16:creationId xmlns:a16="http://schemas.microsoft.com/office/drawing/2014/main" id="{BA0E7C28-40FC-2B44-D4FD-386368E0EEE9}"/>
              </a:ext>
            </a:extLst>
          </p:cNvPr>
          <p:cNvSpPr txBox="1"/>
          <p:nvPr/>
        </p:nvSpPr>
        <p:spPr>
          <a:xfrm>
            <a:off x="430674" y="2590828"/>
            <a:ext cx="5777700" cy="3139291"/>
          </a:xfrm>
          <a:prstGeom prst="rect">
            <a:avLst/>
          </a:prstGeom>
          <a:noFill/>
          <a:ln>
            <a:noFill/>
          </a:ln>
        </p:spPr>
        <p:txBody>
          <a:bodyPr spcFirstLastPara="1" wrap="square" lIns="91425" tIns="91425" rIns="91425" bIns="91425" anchor="t" anchorCtr="0">
            <a:spAutoFit/>
          </a:bodyPr>
          <a:lstStyle/>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Reduced risk</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Increased confidence</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Better quality code</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Ready-to-ship code</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Systematic versioning</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Code quality trend analysis </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3"/>
                  </a:ext>
                </a:extLst>
              </a:rPr>
              <a:t>Time taken for market</a:t>
            </a:r>
            <a:r>
              <a:rPr lang="en-GB" sz="1600" b="0" i="0" u="none" strike="noStrike" cap="none">
                <a:solidFill>
                  <a:srgbClr val="000000"/>
                </a:solidFill>
                <a:latin typeface="Arial"/>
                <a:ea typeface="Arial"/>
                <a:cs typeface="Arial"/>
                <a:sym typeface="Arial"/>
              </a:rPr>
              <a:t>ing</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Reduced cost</a:t>
            </a:r>
            <a:endParaRPr sz="16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214364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46;p12">
            <a:extLst>
              <a:ext uri="{FF2B5EF4-FFF2-40B4-BE49-F238E27FC236}">
                <a16:creationId xmlns:a16="http://schemas.microsoft.com/office/drawing/2014/main" id="{D9C9DA95-E745-5CED-7753-B51508036A1E}"/>
              </a:ext>
            </a:extLst>
          </p:cNvPr>
          <p:cNvSpPr/>
          <p:nvPr/>
        </p:nvSpPr>
        <p:spPr>
          <a:xfrm>
            <a:off x="2243958" y="1396189"/>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Continuous Integration: Summary</a:t>
            </a:r>
            <a:endParaRPr sz="2540" b="0" i="0" u="none" strike="noStrike" cap="none" dirty="0">
              <a:latin typeface="Arial"/>
              <a:ea typeface="Arial"/>
              <a:cs typeface="Arial"/>
              <a:sym typeface="Arial"/>
            </a:endParaRPr>
          </a:p>
        </p:txBody>
      </p:sp>
      <p:pic>
        <p:nvPicPr>
          <p:cNvPr id="11" name="Google Shape;1048;p12">
            <a:extLst>
              <a:ext uri="{FF2B5EF4-FFF2-40B4-BE49-F238E27FC236}">
                <a16:creationId xmlns:a16="http://schemas.microsoft.com/office/drawing/2014/main" id="{9ED2E4F8-A063-55B6-D891-3A61B4BBA27B}"/>
              </a:ext>
            </a:extLst>
          </p:cNvPr>
          <p:cNvPicPr preferRelativeResize="0"/>
          <p:nvPr/>
        </p:nvPicPr>
        <p:blipFill rotWithShape="1">
          <a:blip r:embed="rId6">
            <a:alphaModFix/>
          </a:blip>
          <a:srcRect/>
          <a:stretch/>
        </p:blipFill>
        <p:spPr>
          <a:xfrm>
            <a:off x="2488437" y="2158474"/>
            <a:ext cx="7019694" cy="3993581"/>
          </a:xfrm>
          <a:prstGeom prst="rect">
            <a:avLst/>
          </a:prstGeom>
          <a:noFill/>
          <a:ln>
            <a:noFill/>
          </a:ln>
        </p:spPr>
      </p:pic>
    </p:spTree>
    <p:extLst>
      <p:ext uri="{BB962C8B-B14F-4D97-AF65-F5344CB8AC3E}">
        <p14:creationId xmlns:p14="http://schemas.microsoft.com/office/powerpoint/2010/main" val="259772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54;gd287c8a928_0_18">
            <a:extLst>
              <a:ext uri="{FF2B5EF4-FFF2-40B4-BE49-F238E27FC236}">
                <a16:creationId xmlns:a16="http://schemas.microsoft.com/office/drawing/2014/main" id="{DBD7F968-675F-EDFF-9FDE-08C4F4E19BEA}"/>
              </a:ext>
            </a:extLst>
          </p:cNvPr>
          <p:cNvSpPr txBox="1"/>
          <p:nvPr/>
        </p:nvSpPr>
        <p:spPr>
          <a:xfrm>
            <a:off x="1909417" y="1828361"/>
            <a:ext cx="81435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2500" b="0" i="0" u="none" strike="noStrike" cap="none" dirty="0">
                <a:latin typeface="Proxima Nova"/>
                <a:ea typeface="Proxima Nova"/>
                <a:cs typeface="Proxima Nova"/>
                <a:sym typeface="Proxima Nova"/>
              </a:rPr>
              <a:t>Principles of Continuous Integration   </a:t>
            </a:r>
            <a:endParaRPr sz="2500" b="0" i="0" u="none" strike="noStrike" cap="none" dirty="0">
              <a:latin typeface="Proxima Nova"/>
              <a:ea typeface="Proxima Nova"/>
              <a:cs typeface="Proxima Nova"/>
              <a:sym typeface="Proxima Nova"/>
            </a:endParaRPr>
          </a:p>
        </p:txBody>
      </p:sp>
      <p:sp>
        <p:nvSpPr>
          <p:cNvPr id="10" name="Google Shape;1055;gd287c8a928_0_18">
            <a:extLst>
              <a:ext uri="{FF2B5EF4-FFF2-40B4-BE49-F238E27FC236}">
                <a16:creationId xmlns:a16="http://schemas.microsoft.com/office/drawing/2014/main" id="{BF54D418-31E1-370F-F715-2ADCA5A45F1D}"/>
              </a:ext>
            </a:extLst>
          </p:cNvPr>
          <p:cNvSpPr txBox="1"/>
          <p:nvPr/>
        </p:nvSpPr>
        <p:spPr>
          <a:xfrm>
            <a:off x="2033817" y="2613686"/>
            <a:ext cx="8086500" cy="2769959"/>
          </a:xfrm>
          <a:prstGeom prst="rect">
            <a:avLst/>
          </a:prstGeom>
          <a:noFill/>
          <a:ln>
            <a:noFill/>
          </a:ln>
        </p:spPr>
        <p:txBody>
          <a:bodyPr spcFirstLastPara="1" wrap="square" lIns="91425" tIns="91425" rIns="91425" bIns="91425" anchor="t" anchorCtr="0">
            <a:spAutoFit/>
          </a:bodyPr>
          <a:lstStyle/>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4"/>
                  </a:ext>
                </a:extLst>
              </a:rPr>
              <a:t>A single central repository where </a:t>
            </a: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5"/>
                  </a:ext>
                </a:extLst>
              </a:rPr>
              <a:t>the code </a:t>
            </a:r>
            <a:r>
              <a:rPr lang="en-GB" sz="1600" b="0" i="0" u="none" strike="noStrike" cap="none" dirty="0">
                <a:solidFill>
                  <a:srgbClr val="000000"/>
                </a:solidFill>
                <a:latin typeface="Arial"/>
                <a:ea typeface="Arial"/>
                <a:cs typeface="Arial"/>
                <a:sym typeface="Arial"/>
              </a:rPr>
              <a:t>is stored.</a:t>
            </a:r>
            <a:endParaRPr sz="1600" b="0" i="0" u="none" strike="noStrike" cap="none" dirty="0">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Developers check in or commit their code frequently</a:t>
            </a:r>
            <a:endParaRPr sz="1600" b="0" i="0" u="none" strike="noStrike" cap="none" dirty="0">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Build should be triggered every time a developer checks in code</a:t>
            </a:r>
            <a:endParaRPr sz="1600" b="0" i="0" u="none" strike="noStrike" cap="none" dirty="0">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Build should be automated and fast </a:t>
            </a:r>
            <a:endParaRPr sz="1600" b="0" i="0" u="none" strike="noStrike" cap="none" dirty="0">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Build should compile the code as well as run automated test suites</a:t>
            </a:r>
            <a:endParaRPr sz="1600" b="0" i="0" u="none" strike="noStrike" cap="none" dirty="0">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Fixing a failed build should be the top priority for developers</a:t>
            </a:r>
            <a:endParaRPr sz="1600" b="0" i="0" u="none" strike="noStrike" cap="none" dirty="0">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Build results should always be communicated to all developers</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49802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13"/>
          <p:cNvSpPr txBox="1"/>
          <p:nvPr/>
        </p:nvSpPr>
        <p:spPr>
          <a:xfrm>
            <a:off x="8623200" y="6356160"/>
            <a:ext cx="2742720" cy="364800"/>
          </a:xfrm>
          <a:prstGeom prst="rect">
            <a:avLst/>
          </a:prstGeom>
          <a:noFill/>
          <a:ln>
            <a:noFill/>
          </a:ln>
        </p:spPr>
        <p:txBody>
          <a:bodyPr spcFirstLastPara="1" wrap="square" lIns="121900" tIns="60933" rIns="121900" bIns="60933" anchor="ctr" anchorCtr="0">
            <a:noAutofit/>
          </a:bodyPr>
          <a:lstStyle/>
          <a:p>
            <a:pPr algn="r">
              <a:buClr>
                <a:srgbClr val="000000"/>
              </a:buClr>
              <a:buSzPts val="900"/>
            </a:pPr>
            <a:fld id="{00000000-1234-1234-1234-123412341234}" type="slidenum">
              <a:rPr lang="en-GB" sz="1200">
                <a:solidFill>
                  <a:srgbClr val="FFFFFF"/>
                </a:solidFill>
                <a:latin typeface="Proxima Nova"/>
                <a:ea typeface="Proxima Nova"/>
                <a:cs typeface="Proxima Nova"/>
                <a:sym typeface="Proxima Nova"/>
              </a:rPr>
              <a:pPr algn="r">
                <a:buClr>
                  <a:srgbClr val="000000"/>
                </a:buClr>
                <a:buSzPts val="900"/>
              </a:pPr>
              <a:t>11</a:t>
            </a:fld>
            <a:endParaRPr sz="1200">
              <a:solidFill>
                <a:srgbClr val="000000"/>
              </a:solidFill>
              <a:latin typeface="Times New Roman"/>
              <a:ea typeface="Times New Roman"/>
              <a:cs typeface="Times New Roman"/>
              <a:sym typeface="Times New Roman"/>
            </a:endParaRPr>
          </a:p>
        </p:txBody>
      </p:sp>
      <p:sp>
        <p:nvSpPr>
          <p:cNvPr id="1061" name="Google Shape;1061;p13"/>
          <p:cNvSpPr/>
          <p:nvPr/>
        </p:nvSpPr>
        <p:spPr>
          <a:xfrm>
            <a:off x="2087040" y="2915040"/>
            <a:ext cx="8017440" cy="1027200"/>
          </a:xfrm>
          <a:prstGeom prst="rect">
            <a:avLst/>
          </a:prstGeom>
          <a:noFill/>
          <a:ln>
            <a:noFill/>
          </a:ln>
        </p:spPr>
        <p:txBody>
          <a:bodyPr spcFirstLastPara="1" wrap="square" lIns="121900" tIns="60933" rIns="121900" bIns="60933" anchor="t" anchorCtr="0">
            <a:noAutofit/>
          </a:bodyPr>
          <a:lstStyle/>
          <a:p>
            <a:pPr algn="ctr">
              <a:buClr>
                <a:srgbClr val="000000"/>
              </a:buClr>
              <a:buSzPts val="3200"/>
            </a:pPr>
            <a:r>
              <a:rPr lang="en-GB" sz="4267">
                <a:solidFill>
                  <a:srgbClr val="FFFFFF"/>
                </a:solidFill>
                <a:latin typeface="Proxima Nova"/>
                <a:ea typeface="Proxima Nova"/>
                <a:cs typeface="Proxima Nova"/>
                <a:sym typeface="Proxima Nova"/>
              </a:rPr>
              <a:t>Continuous Integration Phases</a:t>
            </a:r>
            <a:endParaRPr sz="4267">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66;p14">
            <a:extLst>
              <a:ext uri="{FF2B5EF4-FFF2-40B4-BE49-F238E27FC236}">
                <a16:creationId xmlns:a16="http://schemas.microsoft.com/office/drawing/2014/main" id="{BAC572C3-3298-4D63-1EBF-FCF78E0C8DD5}"/>
              </a:ext>
            </a:extLst>
          </p:cNvPr>
          <p:cNvSpPr/>
          <p:nvPr/>
        </p:nvSpPr>
        <p:spPr>
          <a:xfrm>
            <a:off x="2243958" y="1473336"/>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Continuous Integration Phases</a:t>
            </a:r>
            <a:endParaRPr sz="2540" b="0" i="0" u="none" strike="noStrike" cap="none" dirty="0">
              <a:latin typeface="Arial"/>
              <a:ea typeface="Arial"/>
              <a:cs typeface="Arial"/>
              <a:sym typeface="Arial"/>
            </a:endParaRPr>
          </a:p>
        </p:txBody>
      </p:sp>
      <p:sp>
        <p:nvSpPr>
          <p:cNvPr id="11" name="Google Shape;1068;p14">
            <a:extLst>
              <a:ext uri="{FF2B5EF4-FFF2-40B4-BE49-F238E27FC236}">
                <a16:creationId xmlns:a16="http://schemas.microsoft.com/office/drawing/2014/main" id="{FAE21B92-9699-55E3-48D2-C6A897F2F41E}"/>
              </a:ext>
            </a:extLst>
          </p:cNvPr>
          <p:cNvSpPr/>
          <p:nvPr/>
        </p:nvSpPr>
        <p:spPr>
          <a:xfrm>
            <a:off x="2581632" y="2126636"/>
            <a:ext cx="4542480" cy="2422080"/>
          </a:xfrm>
          <a:prstGeom prst="rect">
            <a:avLst/>
          </a:prstGeom>
          <a:noFill/>
          <a:ln>
            <a:noFill/>
          </a:ln>
        </p:spPr>
        <p:txBody>
          <a:bodyPr spcFirstLastPara="1" wrap="square" lIns="90000" tIns="45000" rIns="90000" bIns="45000" anchor="t" anchorCtr="0">
            <a:spAutoFit/>
          </a:bodyPr>
          <a:lstStyle/>
          <a:p>
            <a:pPr marL="285840" marR="0" lvl="0" indent="-285480" algn="l" rtl="0">
              <a:lnSpc>
                <a:spcPct val="150000"/>
              </a:lnSpc>
              <a:spcBef>
                <a:spcPts val="0"/>
              </a:spcBef>
              <a:spcAft>
                <a:spcPts val="0"/>
              </a:spcAft>
              <a:buClr>
                <a:srgbClr val="000000"/>
              </a:buClr>
              <a:buSzPts val="1800"/>
              <a:buFont typeface="Arial"/>
              <a:buChar char="▪"/>
            </a:pPr>
            <a:r>
              <a:rPr lang="en-GB" sz="1800" b="1" i="0" u="none" strike="noStrike" cap="none" dirty="0">
                <a:solidFill>
                  <a:srgbClr val="000000"/>
                </a:solidFill>
                <a:latin typeface="Arial"/>
                <a:ea typeface="Arial"/>
                <a:cs typeface="Arial"/>
                <a:sym typeface="Arial"/>
              </a:rPr>
              <a:t>Unit Testing</a:t>
            </a:r>
            <a:endParaRPr sz="1800" b="0" i="0" u="none" strike="noStrike" cap="none" dirty="0">
              <a:solidFill>
                <a:srgbClr val="000000"/>
              </a:solidFill>
              <a:latin typeface="Arial"/>
              <a:ea typeface="Arial"/>
              <a:cs typeface="Arial"/>
              <a:sym typeface="Arial"/>
            </a:endParaRPr>
          </a:p>
          <a:p>
            <a:pPr marL="285840" marR="0" lvl="0" indent="-285480" algn="l" rtl="0">
              <a:lnSpc>
                <a:spcPct val="150000"/>
              </a:lnSpc>
              <a:spcBef>
                <a:spcPts val="0"/>
              </a:spcBef>
              <a:spcAft>
                <a:spcPts val="0"/>
              </a:spcAft>
              <a:buClr>
                <a:srgbClr val="000000"/>
              </a:buClr>
              <a:buSzPts val="1800"/>
              <a:buFont typeface="Arial"/>
              <a:buChar char="▪"/>
            </a:pPr>
            <a:r>
              <a:rPr lang="en-GB" sz="1800" b="1" i="0" u="none" strike="noStrike" cap="none" dirty="0">
                <a:solidFill>
                  <a:srgbClr val="000000"/>
                </a:solidFill>
                <a:latin typeface="Arial"/>
                <a:ea typeface="Arial"/>
                <a:cs typeface="Arial"/>
                <a:sym typeface="Arial"/>
              </a:rPr>
              <a:t>Compilation and Packaging</a:t>
            </a:r>
            <a:endParaRPr sz="1800" b="0" i="0" u="none" strike="noStrike" cap="none" dirty="0">
              <a:solidFill>
                <a:srgbClr val="000000"/>
              </a:solidFill>
              <a:latin typeface="Arial"/>
              <a:ea typeface="Arial"/>
              <a:cs typeface="Arial"/>
              <a:sym typeface="Arial"/>
            </a:endParaRPr>
          </a:p>
          <a:p>
            <a:pPr marL="285840" marR="0" lvl="0" indent="-285480" algn="l" rtl="0">
              <a:lnSpc>
                <a:spcPct val="150000"/>
              </a:lnSpc>
              <a:spcBef>
                <a:spcPts val="0"/>
              </a:spcBef>
              <a:spcAft>
                <a:spcPts val="0"/>
              </a:spcAft>
              <a:buClr>
                <a:srgbClr val="000000"/>
              </a:buClr>
              <a:buSzPts val="1800"/>
              <a:buFont typeface="Arial"/>
              <a:buChar char="▪"/>
            </a:pPr>
            <a:r>
              <a:rPr lang="en-GB" sz="1800" b="1" i="0" u="none" strike="noStrike" cap="none" dirty="0">
                <a:solidFill>
                  <a:srgbClr val="000000"/>
                </a:solidFill>
                <a:latin typeface="Arial"/>
                <a:ea typeface="Arial"/>
                <a:cs typeface="Arial"/>
                <a:sym typeface="Arial"/>
              </a:rPr>
              <a:t>Continuous Testing</a:t>
            </a:r>
            <a:endParaRPr sz="1800" b="0" i="0" u="none" strike="noStrike" cap="none" dirty="0">
              <a:solidFill>
                <a:srgbClr val="000000"/>
              </a:solidFill>
              <a:latin typeface="Arial"/>
              <a:ea typeface="Arial"/>
              <a:cs typeface="Arial"/>
              <a:sym typeface="Arial"/>
            </a:endParaRPr>
          </a:p>
          <a:p>
            <a:pPr marL="285840" marR="0" lvl="0" indent="-285480" algn="l" rtl="0">
              <a:lnSpc>
                <a:spcPct val="150000"/>
              </a:lnSpc>
              <a:spcBef>
                <a:spcPts val="0"/>
              </a:spcBef>
              <a:spcAft>
                <a:spcPts val="0"/>
              </a:spcAft>
              <a:buClr>
                <a:srgbClr val="000000"/>
              </a:buClr>
              <a:buSzPts val="1800"/>
              <a:buFont typeface="Arial"/>
              <a:buChar char="▪"/>
            </a:pPr>
            <a:r>
              <a:rPr lang="en-GB" sz="1800" b="1" i="0" u="none" strike="noStrike" cap="none" dirty="0">
                <a:solidFill>
                  <a:srgbClr val="000000"/>
                </a:solidFill>
                <a:latin typeface="Arial"/>
                <a:ea typeface="Arial"/>
                <a:cs typeface="Arial"/>
                <a:sym typeface="Arial"/>
              </a:rPr>
              <a:t>Code Review (Static Code Analysis)</a:t>
            </a:r>
            <a:endParaRPr sz="1800" b="0" i="0" u="none" strike="noStrike" cap="none" dirty="0">
              <a:solidFill>
                <a:srgbClr val="000000"/>
              </a:solidFill>
              <a:latin typeface="Arial"/>
              <a:ea typeface="Arial"/>
              <a:cs typeface="Arial"/>
              <a:sym typeface="Arial"/>
            </a:endParaRPr>
          </a:p>
          <a:p>
            <a:pPr marL="285840" marR="0" lvl="0" indent="-285480" algn="l" rtl="0">
              <a:lnSpc>
                <a:spcPct val="150000"/>
              </a:lnSpc>
              <a:spcBef>
                <a:spcPts val="0"/>
              </a:spcBef>
              <a:spcAft>
                <a:spcPts val="0"/>
              </a:spcAft>
              <a:buClr>
                <a:srgbClr val="000000"/>
              </a:buClr>
              <a:buSzPts val="1800"/>
              <a:buFont typeface="Arial"/>
              <a:buChar char="▪"/>
            </a:pPr>
            <a:r>
              <a:rPr lang="en-GB" sz="1800" b="1" i="0" u="none" strike="noStrike" cap="none" dirty="0">
                <a:solidFill>
                  <a:srgbClr val="000000"/>
                </a:solidFill>
                <a:latin typeface="Arial"/>
                <a:ea typeface="Arial"/>
                <a:cs typeface="Arial"/>
                <a:sym typeface="Arial"/>
              </a:rPr>
              <a:t>Artifact Repository</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53090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73;p15">
            <a:extLst>
              <a:ext uri="{FF2B5EF4-FFF2-40B4-BE49-F238E27FC236}">
                <a16:creationId xmlns:a16="http://schemas.microsoft.com/office/drawing/2014/main" id="{6C5D8D4F-6C0E-551D-0299-68DEF5C94B4D}"/>
              </a:ext>
            </a:extLst>
          </p:cNvPr>
          <p:cNvSpPr/>
          <p:nvPr/>
        </p:nvSpPr>
        <p:spPr>
          <a:xfrm>
            <a:off x="2243958" y="1389382"/>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a:latin typeface="Proxima Nova"/>
                <a:ea typeface="Proxima Nova"/>
                <a:cs typeface="Proxima Nova"/>
                <a:sym typeface="Proxima Nova"/>
              </a:rPr>
              <a:t>Unit Testing </a:t>
            </a:r>
            <a:endParaRPr sz="2540" b="0" i="0" u="none" strike="noStrike" cap="none">
              <a:latin typeface="Arial"/>
              <a:ea typeface="Arial"/>
              <a:cs typeface="Arial"/>
              <a:sym typeface="Arial"/>
            </a:endParaRPr>
          </a:p>
        </p:txBody>
      </p:sp>
      <p:sp>
        <p:nvSpPr>
          <p:cNvPr id="11" name="Google Shape;1075;p15">
            <a:extLst>
              <a:ext uri="{FF2B5EF4-FFF2-40B4-BE49-F238E27FC236}">
                <a16:creationId xmlns:a16="http://schemas.microsoft.com/office/drawing/2014/main" id="{9BC763EC-8C04-D3B0-4E34-B6B8D5BA20BB}"/>
              </a:ext>
            </a:extLst>
          </p:cNvPr>
          <p:cNvSpPr/>
          <p:nvPr/>
        </p:nvSpPr>
        <p:spPr>
          <a:xfrm>
            <a:off x="1654868" y="2151714"/>
            <a:ext cx="4571640" cy="1568206"/>
          </a:xfrm>
          <a:prstGeom prst="rect">
            <a:avLst/>
          </a:prstGeom>
          <a:noFill/>
          <a:ln>
            <a:noFill/>
          </a:ln>
        </p:spPr>
        <p:txBody>
          <a:bodyPr spcFirstLastPara="1" wrap="square" lIns="90000" tIns="45000" rIns="90000" bIns="45000" anchor="t" anchorCtr="0">
            <a:spAutoFit/>
          </a:bodyPr>
          <a:lstStyle/>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What is Unit Testing?</a:t>
            </a:r>
            <a:endParaRPr sz="1600" b="0" i="0" u="none" strike="noStrike" cap="none">
              <a:solidFill>
                <a:srgbClr val="000000"/>
              </a:solidFill>
              <a:latin typeface="Arial"/>
              <a:ea typeface="Arial"/>
              <a:cs typeface="Arial"/>
              <a:sym typeface="Arial"/>
            </a:endParaRPr>
          </a:p>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Why do we need to perform unit testing?</a:t>
            </a:r>
            <a:endParaRPr sz="1600" b="0" i="0" u="none" strike="noStrike" cap="none">
              <a:solidFill>
                <a:srgbClr val="000000"/>
              </a:solidFill>
              <a:latin typeface="Arial"/>
              <a:ea typeface="Arial"/>
              <a:cs typeface="Arial"/>
              <a:sym typeface="Arial"/>
            </a:endParaRPr>
          </a:p>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Some popular testing tools</a:t>
            </a:r>
            <a:endParaRPr sz="16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97006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80;p16">
            <a:extLst>
              <a:ext uri="{FF2B5EF4-FFF2-40B4-BE49-F238E27FC236}">
                <a16:creationId xmlns:a16="http://schemas.microsoft.com/office/drawing/2014/main" id="{EFFFC91F-0697-06E6-2455-71C9B4EB292D}"/>
              </a:ext>
            </a:extLst>
          </p:cNvPr>
          <p:cNvSpPr/>
          <p:nvPr/>
        </p:nvSpPr>
        <p:spPr>
          <a:xfrm>
            <a:off x="2470752" y="1482480"/>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a:latin typeface="Proxima Nova"/>
                <a:ea typeface="Proxima Nova"/>
                <a:cs typeface="Proxima Nova"/>
                <a:sym typeface="Proxima Nova"/>
              </a:rPr>
              <a:t>What Is Unit Testing? </a:t>
            </a:r>
            <a:endParaRPr sz="2540" b="0" i="0" u="none" strike="noStrike" cap="none">
              <a:latin typeface="Arial"/>
              <a:ea typeface="Arial"/>
              <a:cs typeface="Arial"/>
              <a:sym typeface="Arial"/>
            </a:endParaRPr>
          </a:p>
        </p:txBody>
      </p:sp>
      <p:sp>
        <p:nvSpPr>
          <p:cNvPr id="11" name="Google Shape;1082;p16">
            <a:extLst>
              <a:ext uri="{FF2B5EF4-FFF2-40B4-BE49-F238E27FC236}">
                <a16:creationId xmlns:a16="http://schemas.microsoft.com/office/drawing/2014/main" id="{5C4C4040-43BE-4333-6E8C-CD043681C175}"/>
              </a:ext>
            </a:extLst>
          </p:cNvPr>
          <p:cNvSpPr/>
          <p:nvPr/>
        </p:nvSpPr>
        <p:spPr>
          <a:xfrm>
            <a:off x="6037272" y="2780640"/>
            <a:ext cx="4505400" cy="1568206"/>
          </a:xfrm>
          <a:prstGeom prst="rect">
            <a:avLst/>
          </a:prstGeom>
          <a:noFill/>
          <a:ln>
            <a:noFill/>
          </a:ln>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dirty="0">
                <a:solidFill>
                  <a:srgbClr val="203864"/>
                </a:solidFill>
                <a:latin typeface="Arial"/>
                <a:ea typeface="Arial"/>
                <a:cs typeface="Arial"/>
                <a:sym typeface="Arial"/>
              </a:rPr>
              <a:t>Unit Testing is a software testing method by which individual units of source code</a:t>
            </a:r>
            <a:r>
              <a:rPr lang="en-GB" sz="1600" b="0" i="0" u="none" strike="noStrike" cap="none" dirty="0">
                <a:solidFill>
                  <a:srgbClr val="202124"/>
                </a:solidFill>
                <a:highlight>
                  <a:srgbClr val="FFFFFF"/>
                </a:highlight>
                <a:latin typeface="Arial"/>
                <a:ea typeface="Arial"/>
                <a:cs typeface="Arial"/>
                <a:sym typeface="Arial"/>
              </a:rPr>
              <a:t>—</a:t>
            </a:r>
            <a:r>
              <a:rPr lang="en-GB" sz="1600" b="0" i="0" u="none" strike="noStrike" cap="none" dirty="0">
                <a:solidFill>
                  <a:srgbClr val="203864"/>
                </a:solidFill>
                <a:latin typeface="Arial"/>
                <a:ea typeface="Arial"/>
                <a:cs typeface="Arial"/>
                <a:sym typeface="Arial"/>
              </a:rPr>
              <a:t>sets of one or more computer program modules together with associated control data, usage procedures, and operating procedures</a:t>
            </a:r>
            <a:r>
              <a:rPr lang="en-GB" sz="1600" b="0" i="0" u="none" strike="noStrike" cap="none" dirty="0">
                <a:solidFill>
                  <a:srgbClr val="202124"/>
                </a:solidFill>
                <a:highlight>
                  <a:srgbClr val="FFFFFF"/>
                </a:highlight>
                <a:latin typeface="Arial"/>
                <a:ea typeface="Arial"/>
                <a:cs typeface="Arial"/>
                <a:sym typeface="Arial"/>
              </a:rPr>
              <a:t>—</a:t>
            </a:r>
            <a:r>
              <a:rPr lang="en-GB" sz="1600" b="0" i="0" u="none" strike="noStrike" cap="none" dirty="0">
                <a:solidFill>
                  <a:srgbClr val="203864"/>
                </a:solidFill>
                <a:latin typeface="Arial"/>
                <a:ea typeface="Arial"/>
                <a:cs typeface="Arial"/>
                <a:sym typeface="Arial"/>
              </a:rPr>
              <a:t>are tested to determine whether they are fit for use</a:t>
            </a:r>
            <a:endParaRPr sz="1600" b="0" i="0" u="none" strike="noStrike" cap="none" dirty="0">
              <a:solidFill>
                <a:srgbClr val="000000"/>
              </a:solidFill>
              <a:latin typeface="Arial"/>
              <a:ea typeface="Arial"/>
              <a:cs typeface="Arial"/>
              <a:sym typeface="Arial"/>
            </a:endParaRPr>
          </a:p>
        </p:txBody>
      </p:sp>
      <p:sp>
        <p:nvSpPr>
          <p:cNvPr id="12" name="Google Shape;1083;p16">
            <a:extLst>
              <a:ext uri="{FF2B5EF4-FFF2-40B4-BE49-F238E27FC236}">
                <a16:creationId xmlns:a16="http://schemas.microsoft.com/office/drawing/2014/main" id="{F21B651F-B961-5052-8035-C36031D95573}"/>
              </a:ext>
            </a:extLst>
          </p:cNvPr>
          <p:cNvSpPr/>
          <p:nvPr/>
        </p:nvSpPr>
        <p:spPr>
          <a:xfrm>
            <a:off x="9585432" y="4760640"/>
            <a:ext cx="1103904" cy="3371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600" b="0" i="1" u="none" strike="noStrike" cap="none">
                <a:solidFill>
                  <a:srgbClr val="203864"/>
                </a:solidFill>
                <a:latin typeface="Arial"/>
                <a:ea typeface="Arial"/>
                <a:cs typeface="Arial"/>
                <a:sym typeface="Arial"/>
              </a:rPr>
              <a:t>Wikipedia</a:t>
            </a:r>
            <a:endParaRPr sz="1600" b="0" i="0" u="none" strike="noStrike" cap="none">
              <a:solidFill>
                <a:srgbClr val="000000"/>
              </a:solidFill>
              <a:latin typeface="Arial"/>
              <a:ea typeface="Arial"/>
              <a:cs typeface="Arial"/>
              <a:sym typeface="Arial"/>
            </a:endParaRPr>
          </a:p>
        </p:txBody>
      </p:sp>
      <p:pic>
        <p:nvPicPr>
          <p:cNvPr id="13" name="Google Shape;1084;p16" descr="SOFTWARE TESTING COMPANY IN CHENNAI-Ecphasis infotech">
            <a:extLst>
              <a:ext uri="{FF2B5EF4-FFF2-40B4-BE49-F238E27FC236}">
                <a16:creationId xmlns:a16="http://schemas.microsoft.com/office/drawing/2014/main" id="{C4E49AEC-E075-8399-B27A-402BBCA209BD}"/>
              </a:ext>
            </a:extLst>
          </p:cNvPr>
          <p:cNvPicPr preferRelativeResize="0"/>
          <p:nvPr/>
        </p:nvPicPr>
        <p:blipFill rotWithShape="1">
          <a:blip r:embed="rId6">
            <a:alphaModFix/>
          </a:blip>
          <a:srcRect/>
          <a:stretch/>
        </p:blipFill>
        <p:spPr>
          <a:xfrm>
            <a:off x="1912032" y="2688840"/>
            <a:ext cx="4535640" cy="2578320"/>
          </a:xfrm>
          <a:prstGeom prst="rect">
            <a:avLst/>
          </a:prstGeom>
          <a:noFill/>
          <a:ln>
            <a:noFill/>
          </a:ln>
        </p:spPr>
      </p:pic>
    </p:spTree>
    <p:extLst>
      <p:ext uri="{BB962C8B-B14F-4D97-AF65-F5344CB8AC3E}">
        <p14:creationId xmlns:p14="http://schemas.microsoft.com/office/powerpoint/2010/main" val="291760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89;p17">
            <a:extLst>
              <a:ext uri="{FF2B5EF4-FFF2-40B4-BE49-F238E27FC236}">
                <a16:creationId xmlns:a16="http://schemas.microsoft.com/office/drawing/2014/main" id="{88DA5243-BC8B-436A-8184-02D26EBFFBA2}"/>
              </a:ext>
            </a:extLst>
          </p:cNvPr>
          <p:cNvSpPr/>
          <p:nvPr/>
        </p:nvSpPr>
        <p:spPr>
          <a:xfrm>
            <a:off x="2104920" y="1454829"/>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Unit </a:t>
            </a:r>
            <a:r>
              <a:rPr lang="en-GB" sz="2540" b="0" i="0" u="none" strike="noStrike" cap="none" dirty="0">
                <a:latin typeface="Proxima Nova"/>
                <a:ea typeface="Proxima Nova"/>
                <a:cs typeface="Proxima Nova"/>
                <a:sym typeface="Proxima Nova"/>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6"/>
                  </a:ext>
                </a:extLst>
              </a:rPr>
              <a:t>Test</a:t>
            </a:r>
            <a:r>
              <a:rPr lang="en-GB" sz="2540" b="0" i="0" u="none" strike="noStrike" cap="none" dirty="0">
                <a:latin typeface="Proxima Nova"/>
                <a:ea typeface="Proxima Nova"/>
                <a:cs typeface="Proxima Nova"/>
                <a:sym typeface="Proxima Nova"/>
              </a:rPr>
              <a:t>ing: Why Do It?</a:t>
            </a:r>
            <a:endParaRPr sz="2540" b="0" i="0" u="none" strike="noStrike" cap="none" dirty="0">
              <a:latin typeface="Arial"/>
              <a:ea typeface="Arial"/>
              <a:cs typeface="Arial"/>
              <a:sym typeface="Arial"/>
            </a:endParaRPr>
          </a:p>
        </p:txBody>
      </p:sp>
      <p:sp>
        <p:nvSpPr>
          <p:cNvPr id="11" name="Google Shape;1091;p17">
            <a:extLst>
              <a:ext uri="{FF2B5EF4-FFF2-40B4-BE49-F238E27FC236}">
                <a16:creationId xmlns:a16="http://schemas.microsoft.com/office/drawing/2014/main" id="{116F241F-281F-B7BE-53F8-F87E0BB65B7F}"/>
              </a:ext>
            </a:extLst>
          </p:cNvPr>
          <p:cNvSpPr/>
          <p:nvPr/>
        </p:nvSpPr>
        <p:spPr>
          <a:xfrm>
            <a:off x="8785811" y="5957805"/>
            <a:ext cx="2107224" cy="3371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600" b="0" i="1" u="none" strike="noStrike" cap="none" dirty="0" err="1">
                <a:solidFill>
                  <a:srgbClr val="203864"/>
                </a:solidFill>
                <a:latin typeface="Arial"/>
                <a:ea typeface="Arial"/>
                <a:cs typeface="Arial"/>
                <a:sym typeface="Arial"/>
              </a:rPr>
              <a:t>Dzone</a:t>
            </a:r>
            <a:r>
              <a:rPr lang="en-GB" sz="1600" b="0" i="1" u="none" strike="noStrike" cap="none" dirty="0">
                <a:solidFill>
                  <a:srgbClr val="203864"/>
                </a:solidFill>
                <a:latin typeface="Arial"/>
                <a:ea typeface="Arial"/>
                <a:cs typeface="Arial"/>
                <a:sym typeface="Arial"/>
              </a:rPr>
              <a:t> DevOps Zone</a:t>
            </a:r>
            <a:endParaRPr sz="1600" b="0" i="0" u="none" strike="noStrike" cap="none" dirty="0">
              <a:solidFill>
                <a:srgbClr val="000000"/>
              </a:solidFill>
              <a:latin typeface="Arial"/>
              <a:ea typeface="Arial"/>
              <a:cs typeface="Arial"/>
              <a:sym typeface="Arial"/>
            </a:endParaRPr>
          </a:p>
        </p:txBody>
      </p:sp>
      <p:sp>
        <p:nvSpPr>
          <p:cNvPr id="12" name="Google Shape;1092;p17">
            <a:extLst>
              <a:ext uri="{FF2B5EF4-FFF2-40B4-BE49-F238E27FC236}">
                <a16:creationId xmlns:a16="http://schemas.microsoft.com/office/drawing/2014/main" id="{9009F77B-F5CB-C4B3-AB8B-0C0C171C2CD8}"/>
              </a:ext>
            </a:extLst>
          </p:cNvPr>
          <p:cNvSpPr/>
          <p:nvPr/>
        </p:nvSpPr>
        <p:spPr>
          <a:xfrm>
            <a:off x="2104920" y="2152454"/>
            <a:ext cx="6357600" cy="2553091"/>
          </a:xfrm>
          <a:prstGeom prst="rect">
            <a:avLst/>
          </a:prstGeom>
          <a:noFill/>
          <a:ln>
            <a:noFill/>
          </a:ln>
        </p:spPr>
        <p:txBody>
          <a:bodyPr spcFirstLastPara="1" wrap="square" lIns="90000" tIns="45000" rIns="90000" bIns="45000" anchor="t" anchorCtr="0">
            <a:spAutoFit/>
          </a:bodyPr>
          <a:lstStyle/>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Improves the quality of code</a:t>
            </a:r>
            <a:endParaRPr sz="1600" b="0" i="0" u="none" strike="noStrike" cap="none" dirty="0">
              <a:solidFill>
                <a:srgbClr val="000000"/>
              </a:solidFill>
              <a:latin typeface="Arial"/>
              <a:ea typeface="Arial"/>
              <a:cs typeface="Arial"/>
              <a:sym typeface="Arial"/>
            </a:endParaRPr>
          </a:p>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Goes hand in hand with Agile processes</a:t>
            </a:r>
            <a:endParaRPr sz="1600" b="0" i="0" u="none" strike="noStrike" cap="none" dirty="0">
              <a:solidFill>
                <a:srgbClr val="000000"/>
              </a:solidFill>
              <a:latin typeface="Arial"/>
              <a:ea typeface="Arial"/>
              <a:cs typeface="Arial"/>
              <a:sym typeface="Arial"/>
            </a:endParaRPr>
          </a:p>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Helps to find software bugs early</a:t>
            </a:r>
            <a:endParaRPr sz="1600" b="0" i="0" u="none" strike="noStrike" cap="none" dirty="0">
              <a:solidFill>
                <a:srgbClr val="000000"/>
              </a:solidFill>
              <a:latin typeface="Arial"/>
              <a:ea typeface="Arial"/>
              <a:cs typeface="Arial"/>
              <a:sym typeface="Arial"/>
            </a:endParaRPr>
          </a:p>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Helps to understand the design in a better manner</a:t>
            </a:r>
            <a:endParaRPr sz="1600" b="0" i="0" u="none" strike="noStrike" cap="none" dirty="0">
              <a:solidFill>
                <a:srgbClr val="000000"/>
              </a:solidFill>
              <a:latin typeface="Arial"/>
              <a:ea typeface="Arial"/>
              <a:cs typeface="Arial"/>
              <a:sym typeface="Arial"/>
            </a:endParaRPr>
          </a:p>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Reduces </a:t>
            </a:r>
            <a:r>
              <a:rPr lang="en-GB" sz="1600" b="0" i="1" u="none" strike="noStrike" cap="none" dirty="0">
                <a:solidFill>
                  <a:srgbClr val="000000"/>
                </a:solidFill>
                <a:latin typeface="Arial"/>
                <a:ea typeface="Arial"/>
                <a:cs typeface="Arial"/>
                <a:sym typeface="Arial"/>
              </a:rPr>
              <a:t>‘Technical Debt’</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443854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97;gd829989b68_0_4">
            <a:extLst>
              <a:ext uri="{FF2B5EF4-FFF2-40B4-BE49-F238E27FC236}">
                <a16:creationId xmlns:a16="http://schemas.microsoft.com/office/drawing/2014/main" id="{6DF02FAB-4AC8-F416-4D97-CD9CD0C046EE}"/>
              </a:ext>
            </a:extLst>
          </p:cNvPr>
          <p:cNvSpPr txBox="1"/>
          <p:nvPr/>
        </p:nvSpPr>
        <p:spPr>
          <a:xfrm>
            <a:off x="1940952" y="1339532"/>
            <a:ext cx="6682104" cy="487509"/>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dk1"/>
              </a:buClr>
              <a:buSzPts val="1100"/>
              <a:buFont typeface="Arial"/>
              <a:buNone/>
            </a:pPr>
            <a:r>
              <a:rPr lang="en-GB" sz="2800" b="0" i="0" u="none" strike="noStrike" cap="none" dirty="0">
                <a:latin typeface="Proxima Nova"/>
                <a:ea typeface="Proxima Nova"/>
                <a:cs typeface="Proxima Nova"/>
                <a:sym typeface="Proxima Nova"/>
              </a:rPr>
              <a:t>Some Popular Unit Testing Tools</a:t>
            </a:r>
            <a:endParaRPr sz="2800" b="0" i="0" u="none" strike="noStrike" cap="none" dirty="0">
              <a:latin typeface="Proxima Nova"/>
              <a:ea typeface="Proxima Nova"/>
              <a:cs typeface="Proxima Nova"/>
              <a:sym typeface="Proxima Nova"/>
            </a:endParaRPr>
          </a:p>
        </p:txBody>
      </p:sp>
      <p:pic>
        <p:nvPicPr>
          <p:cNvPr id="11" name="Google Shape;1099;gd829989b68_0_4" descr="Test Dependency in TestNG - Knoldus Blogs">
            <a:extLst>
              <a:ext uri="{FF2B5EF4-FFF2-40B4-BE49-F238E27FC236}">
                <a16:creationId xmlns:a16="http://schemas.microsoft.com/office/drawing/2014/main" id="{C79B061B-163D-947C-F43D-F9BB0545591F}"/>
              </a:ext>
            </a:extLst>
          </p:cNvPr>
          <p:cNvPicPr preferRelativeResize="0"/>
          <p:nvPr/>
        </p:nvPicPr>
        <p:blipFill rotWithShape="1">
          <a:blip r:embed="rId6">
            <a:alphaModFix/>
          </a:blip>
          <a:srcRect/>
          <a:stretch/>
        </p:blipFill>
        <p:spPr>
          <a:xfrm>
            <a:off x="4879805" y="2316648"/>
            <a:ext cx="2432390" cy="1368220"/>
          </a:xfrm>
          <a:prstGeom prst="rect">
            <a:avLst/>
          </a:prstGeom>
          <a:noFill/>
          <a:ln>
            <a:noFill/>
          </a:ln>
        </p:spPr>
      </p:pic>
      <p:pic>
        <p:nvPicPr>
          <p:cNvPr id="12" name="Google Shape;1100;gd829989b68_0_4" descr="Overriding Dependency Injection with HK2 in Jersey Tests | by m4nu56 |  Medium">
            <a:extLst>
              <a:ext uri="{FF2B5EF4-FFF2-40B4-BE49-F238E27FC236}">
                <a16:creationId xmlns:a16="http://schemas.microsoft.com/office/drawing/2014/main" id="{0C81DBDD-5CEA-80A5-B67D-F34A4E32FFA3}"/>
              </a:ext>
            </a:extLst>
          </p:cNvPr>
          <p:cNvPicPr preferRelativeResize="0"/>
          <p:nvPr/>
        </p:nvPicPr>
        <p:blipFill rotWithShape="1">
          <a:blip r:embed="rId7">
            <a:alphaModFix/>
          </a:blip>
          <a:srcRect/>
          <a:stretch/>
        </p:blipFill>
        <p:spPr>
          <a:xfrm>
            <a:off x="8623056" y="2000237"/>
            <a:ext cx="3329390" cy="1664695"/>
          </a:xfrm>
          <a:prstGeom prst="rect">
            <a:avLst/>
          </a:prstGeom>
          <a:noFill/>
          <a:ln>
            <a:noFill/>
          </a:ln>
        </p:spPr>
      </p:pic>
      <p:pic>
        <p:nvPicPr>
          <p:cNvPr id="13" name="Google Shape;1101;gd829989b68_0_4" descr="Why you should migrate to Junit 5 | by RIAG Digital | RIAG Digital Techblog  | Medium">
            <a:extLst>
              <a:ext uri="{FF2B5EF4-FFF2-40B4-BE49-F238E27FC236}">
                <a16:creationId xmlns:a16="http://schemas.microsoft.com/office/drawing/2014/main" id="{7CE20563-B6E3-51E3-BE8B-09B5325460CE}"/>
              </a:ext>
            </a:extLst>
          </p:cNvPr>
          <p:cNvPicPr preferRelativeResize="0"/>
          <p:nvPr/>
        </p:nvPicPr>
        <p:blipFill rotWithShape="1">
          <a:blip r:embed="rId8">
            <a:alphaModFix/>
          </a:blip>
          <a:srcRect/>
          <a:stretch/>
        </p:blipFill>
        <p:spPr>
          <a:xfrm>
            <a:off x="461038" y="2250212"/>
            <a:ext cx="2587995" cy="1501093"/>
          </a:xfrm>
          <a:prstGeom prst="rect">
            <a:avLst/>
          </a:prstGeom>
          <a:noFill/>
          <a:ln>
            <a:noFill/>
          </a:ln>
        </p:spPr>
      </p:pic>
      <p:pic>
        <p:nvPicPr>
          <p:cNvPr id="14" name="Google Shape;1102;gd829989b68_0_4" descr="Introduction to UnitTesting with Jasmine. (Part I) | by Mocktar Issa |  Noteworthy - The Journal Blog">
            <a:extLst>
              <a:ext uri="{FF2B5EF4-FFF2-40B4-BE49-F238E27FC236}">
                <a16:creationId xmlns:a16="http://schemas.microsoft.com/office/drawing/2014/main" id="{E94FCE4A-936B-425E-7A00-48399D2291A6}"/>
              </a:ext>
            </a:extLst>
          </p:cNvPr>
          <p:cNvPicPr preferRelativeResize="0"/>
          <p:nvPr/>
        </p:nvPicPr>
        <p:blipFill rotWithShape="1">
          <a:blip r:embed="rId9">
            <a:alphaModFix/>
          </a:blip>
          <a:srcRect/>
          <a:stretch/>
        </p:blipFill>
        <p:spPr>
          <a:xfrm>
            <a:off x="403011" y="4174476"/>
            <a:ext cx="3660157" cy="1991191"/>
          </a:xfrm>
          <a:prstGeom prst="rect">
            <a:avLst/>
          </a:prstGeom>
          <a:noFill/>
          <a:ln>
            <a:noFill/>
          </a:ln>
        </p:spPr>
      </p:pic>
      <p:pic>
        <p:nvPicPr>
          <p:cNvPr id="15" name="Google Shape;1103;gd829989b68_0_4" descr="Mocking Inputs in Angular Unit Tests | John D Potts">
            <a:extLst>
              <a:ext uri="{FF2B5EF4-FFF2-40B4-BE49-F238E27FC236}">
                <a16:creationId xmlns:a16="http://schemas.microsoft.com/office/drawing/2014/main" id="{8C33BBE7-FB96-8E0E-3FA1-AB852ABB12F3}"/>
              </a:ext>
            </a:extLst>
          </p:cNvPr>
          <p:cNvPicPr preferRelativeResize="0"/>
          <p:nvPr/>
        </p:nvPicPr>
        <p:blipFill rotWithShape="1">
          <a:blip r:embed="rId10">
            <a:alphaModFix/>
          </a:blip>
          <a:srcRect/>
          <a:stretch/>
        </p:blipFill>
        <p:spPr>
          <a:xfrm>
            <a:off x="5622614" y="4174475"/>
            <a:ext cx="1659636" cy="1790256"/>
          </a:xfrm>
          <a:prstGeom prst="rect">
            <a:avLst/>
          </a:prstGeom>
          <a:noFill/>
          <a:ln>
            <a:noFill/>
          </a:ln>
        </p:spPr>
      </p:pic>
      <p:pic>
        <p:nvPicPr>
          <p:cNvPr id="16" name="Google Shape;1104;gd829989b68_0_4" descr="Lesson 2 - Introduction to unit tests in PHP and PHPUnit installation">
            <a:extLst>
              <a:ext uri="{FF2B5EF4-FFF2-40B4-BE49-F238E27FC236}">
                <a16:creationId xmlns:a16="http://schemas.microsoft.com/office/drawing/2014/main" id="{9D3BE2A5-2B94-ACB6-BC00-FC82B181DF05}"/>
              </a:ext>
            </a:extLst>
          </p:cNvPr>
          <p:cNvPicPr preferRelativeResize="0"/>
          <p:nvPr/>
        </p:nvPicPr>
        <p:blipFill rotWithShape="1">
          <a:blip r:embed="rId11">
            <a:alphaModFix/>
          </a:blip>
          <a:srcRect/>
          <a:stretch/>
        </p:blipFill>
        <p:spPr>
          <a:xfrm>
            <a:off x="9214458" y="4135162"/>
            <a:ext cx="2232102" cy="1991193"/>
          </a:xfrm>
          <a:prstGeom prst="rect">
            <a:avLst/>
          </a:prstGeom>
          <a:noFill/>
          <a:ln>
            <a:noFill/>
          </a:ln>
        </p:spPr>
      </p:pic>
    </p:spTree>
    <p:extLst>
      <p:ext uri="{BB962C8B-B14F-4D97-AF65-F5344CB8AC3E}">
        <p14:creationId xmlns:p14="http://schemas.microsoft.com/office/powerpoint/2010/main" val="1137722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09;p21">
            <a:extLst>
              <a:ext uri="{FF2B5EF4-FFF2-40B4-BE49-F238E27FC236}">
                <a16:creationId xmlns:a16="http://schemas.microsoft.com/office/drawing/2014/main" id="{4BF19C0A-0038-073D-7FF6-213D888A11A7}"/>
              </a:ext>
            </a:extLst>
          </p:cNvPr>
          <p:cNvSpPr/>
          <p:nvPr/>
        </p:nvSpPr>
        <p:spPr>
          <a:xfrm>
            <a:off x="2243958" y="1390678"/>
            <a:ext cx="5522100" cy="4026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Compilation and Packaging</a:t>
            </a:r>
            <a:endParaRPr sz="2540" b="0" i="0" u="none" strike="noStrike" cap="none" dirty="0">
              <a:latin typeface="Arial"/>
              <a:ea typeface="Arial"/>
              <a:cs typeface="Arial"/>
              <a:sym typeface="Arial"/>
            </a:endParaRPr>
          </a:p>
        </p:txBody>
      </p:sp>
      <p:sp>
        <p:nvSpPr>
          <p:cNvPr id="11" name="Google Shape;1111;p21">
            <a:extLst>
              <a:ext uri="{FF2B5EF4-FFF2-40B4-BE49-F238E27FC236}">
                <a16:creationId xmlns:a16="http://schemas.microsoft.com/office/drawing/2014/main" id="{4D23B7B6-A775-26D7-09C8-C7B3E8DDAC82}"/>
              </a:ext>
            </a:extLst>
          </p:cNvPr>
          <p:cNvSpPr/>
          <p:nvPr/>
        </p:nvSpPr>
        <p:spPr>
          <a:xfrm>
            <a:off x="806544" y="2218795"/>
            <a:ext cx="9937656" cy="3291755"/>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Automated software builds that can be triggered from the command line are an essential and integral part of any CI pipeline</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A modern full-fledged automated build tool sh</a:t>
            </a: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7"/>
                  </a:ext>
                </a:extLst>
              </a:rPr>
              <a:t>ould have </a:t>
            </a:r>
            <a:r>
              <a:rPr lang="en-GB" sz="1600" b="0" i="0" u="none" strike="noStrike" cap="none" dirty="0">
                <a:solidFill>
                  <a:srgbClr val="000000"/>
                </a:solidFill>
                <a:latin typeface="Arial"/>
                <a:ea typeface="Arial"/>
                <a:cs typeface="Arial"/>
                <a:sym typeface="Arial"/>
              </a:rPr>
              <a:t>the following capabilities among others:</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285840" marR="0" lvl="0" indent="-285479" algn="l" rtl="0">
              <a:lnSpc>
                <a:spcPct val="10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rPr>
              <a:t>Initialising the environment</a:t>
            </a:r>
            <a:endParaRPr sz="1600" b="0" i="0" u="none" strike="noStrike" cap="none" dirty="0">
              <a:solidFill>
                <a:srgbClr val="000000"/>
              </a:solidFill>
              <a:latin typeface="Arial"/>
              <a:ea typeface="Arial"/>
              <a:cs typeface="Arial"/>
              <a:sym typeface="Arial"/>
            </a:endParaRPr>
          </a:p>
          <a:p>
            <a:pPr marL="285840" marR="0" lvl="0" indent="-285479" algn="l" rtl="0">
              <a:lnSpc>
                <a:spcPct val="10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rPr>
              <a:t>Compiling source code</a:t>
            </a:r>
            <a:endParaRPr sz="1600" b="0" i="0" u="none" strike="noStrike" cap="none" dirty="0">
              <a:solidFill>
                <a:srgbClr val="000000"/>
              </a:solidFill>
              <a:latin typeface="Arial"/>
              <a:ea typeface="Arial"/>
              <a:cs typeface="Arial"/>
              <a:sym typeface="Arial"/>
            </a:endParaRPr>
          </a:p>
          <a:p>
            <a:pPr marL="285840" marR="0" lvl="0" indent="-285479" algn="l" rtl="0">
              <a:lnSpc>
                <a:spcPct val="10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rPr>
              <a:t>Setting up test data</a:t>
            </a:r>
            <a:endParaRPr sz="1600" b="0" i="0" u="none" strike="noStrike" cap="none" dirty="0">
              <a:solidFill>
                <a:srgbClr val="000000"/>
              </a:solidFill>
              <a:latin typeface="Arial"/>
              <a:ea typeface="Arial"/>
              <a:cs typeface="Arial"/>
              <a:sym typeface="Arial"/>
            </a:endParaRPr>
          </a:p>
          <a:p>
            <a:pPr marL="285840" marR="0" lvl="0" indent="-285479" algn="l" rtl="0">
              <a:lnSpc>
                <a:spcPct val="10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rPr>
              <a:t>Compiling and running tests</a:t>
            </a:r>
            <a:endParaRPr sz="1600" b="0" i="0" u="none" strike="noStrike" cap="none" dirty="0">
              <a:solidFill>
                <a:srgbClr val="000000"/>
              </a:solidFill>
              <a:latin typeface="Arial"/>
              <a:ea typeface="Arial"/>
              <a:cs typeface="Arial"/>
              <a:sym typeface="Arial"/>
            </a:endParaRPr>
          </a:p>
          <a:p>
            <a:pPr marL="285840" marR="0" lvl="0" indent="-285479" algn="l" rtl="0">
              <a:lnSpc>
                <a:spcPct val="10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rPr>
              <a:t>Building Artifact for delivery/deployment</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Examples of build tools: Make (C/C++), Rake (Rails), </a:t>
            </a:r>
            <a:r>
              <a:rPr lang="en-GB" sz="1600" b="0" i="0" u="none" strike="noStrike" cap="none" dirty="0" err="1">
                <a:solidFill>
                  <a:srgbClr val="000000"/>
                </a:solidFill>
                <a:latin typeface="Arial"/>
                <a:ea typeface="Arial"/>
                <a:cs typeface="Arial"/>
                <a:sym typeface="Arial"/>
              </a:rPr>
              <a:t>MSBuild</a:t>
            </a:r>
            <a:r>
              <a:rPr lang="en-GB" sz="1600" b="0" i="0" u="none" strike="noStrike" cap="none" dirty="0">
                <a:solidFill>
                  <a:srgbClr val="000000"/>
                </a:solidFill>
                <a:latin typeface="Arial"/>
                <a:ea typeface="Arial"/>
                <a:cs typeface="Arial"/>
                <a:sym typeface="Arial"/>
              </a:rPr>
              <a:t> and </a:t>
            </a:r>
            <a:r>
              <a:rPr lang="en-GB" sz="1600" b="0" i="0" u="none" strike="noStrike" cap="none" dirty="0" err="1">
                <a:solidFill>
                  <a:srgbClr val="000000"/>
                </a:solidFill>
                <a:latin typeface="Arial"/>
                <a:ea typeface="Arial"/>
                <a:cs typeface="Arial"/>
                <a:sym typeface="Arial"/>
              </a:rPr>
              <a:t>NAnt</a:t>
            </a:r>
            <a:r>
              <a:rPr lang="en-GB" sz="1600" b="0" i="0" u="none" strike="noStrike" cap="none" dirty="0">
                <a:solidFill>
                  <a:srgbClr val="000000"/>
                </a:solidFill>
                <a:latin typeface="Arial"/>
                <a:ea typeface="Arial"/>
                <a:cs typeface="Arial"/>
                <a:sym typeface="Arial"/>
              </a:rPr>
              <a:t> (</a:t>
            </a:r>
            <a:r>
              <a:rPr lang="en-GB" sz="1600" b="0" i="0" u="none" strike="noStrike" cap="none" dirty="0" err="1">
                <a:solidFill>
                  <a:srgbClr val="000000"/>
                </a:solidFill>
                <a:latin typeface="Arial"/>
                <a:ea typeface="Arial"/>
                <a:cs typeface="Arial"/>
                <a:sym typeface="Arial"/>
              </a:rPr>
              <a:t>.Net</a:t>
            </a:r>
            <a:r>
              <a:rPr lang="en-GB" sz="1600" b="0" i="0" u="none" strike="noStrike" cap="none" dirty="0">
                <a:solidFill>
                  <a:srgbClr val="000000"/>
                </a:solidFill>
                <a:latin typeface="Arial"/>
                <a:ea typeface="Arial"/>
                <a:cs typeface="Arial"/>
                <a:sym typeface="Arial"/>
              </a:rPr>
              <a:t>) and Ant, Maven, Gradle (Java), etc.</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266232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17;gd99b63929a_0_450">
            <a:extLst>
              <a:ext uri="{FF2B5EF4-FFF2-40B4-BE49-F238E27FC236}">
                <a16:creationId xmlns:a16="http://schemas.microsoft.com/office/drawing/2014/main" id="{D38A8038-6D1C-1F8F-DB1A-BB5D8D44E0CA}"/>
              </a:ext>
            </a:extLst>
          </p:cNvPr>
          <p:cNvSpPr txBox="1"/>
          <p:nvPr/>
        </p:nvSpPr>
        <p:spPr>
          <a:xfrm>
            <a:off x="379243" y="2161674"/>
            <a:ext cx="8128200"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6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8"/>
                  </a:ext>
                </a:extLst>
              </a:rPr>
              <a:t>Flow diagram explaining how compilation and packaging is being run by CI server</a:t>
            </a:r>
            <a:endParaRPr sz="1600" b="0" i="0" u="none" strike="noStrike" cap="none">
              <a:solidFill>
                <a:srgbClr val="000000"/>
              </a:solidFill>
              <a:latin typeface="Arial"/>
              <a:ea typeface="Arial"/>
              <a:cs typeface="Arial"/>
              <a:sym typeface="Arial"/>
            </a:endParaRPr>
          </a:p>
        </p:txBody>
      </p:sp>
      <p:grpSp>
        <p:nvGrpSpPr>
          <p:cNvPr id="10" name="Google Shape;1118;gd99b63929a_0_450">
            <a:extLst>
              <a:ext uri="{FF2B5EF4-FFF2-40B4-BE49-F238E27FC236}">
                <a16:creationId xmlns:a16="http://schemas.microsoft.com/office/drawing/2014/main" id="{F55F5960-2202-E816-B367-9E5731F988F1}"/>
              </a:ext>
            </a:extLst>
          </p:cNvPr>
          <p:cNvGrpSpPr/>
          <p:nvPr/>
        </p:nvGrpSpPr>
        <p:grpSpPr>
          <a:xfrm>
            <a:off x="2337827" y="2938001"/>
            <a:ext cx="4651227" cy="2721700"/>
            <a:chOff x="1124516" y="2305813"/>
            <a:chExt cx="4651227" cy="2721700"/>
          </a:xfrm>
        </p:grpSpPr>
        <p:pic>
          <p:nvPicPr>
            <p:cNvPr id="11" name="Google Shape;1119;gd99b63929a_0_450">
              <a:extLst>
                <a:ext uri="{FF2B5EF4-FFF2-40B4-BE49-F238E27FC236}">
                  <a16:creationId xmlns:a16="http://schemas.microsoft.com/office/drawing/2014/main" id="{47E479D6-F003-297D-D8EF-9D44DAEAB68F}"/>
                </a:ext>
              </a:extLst>
            </p:cNvPr>
            <p:cNvPicPr preferRelativeResize="0"/>
            <p:nvPr/>
          </p:nvPicPr>
          <p:blipFill rotWithShape="1">
            <a:blip r:embed="rId6">
              <a:alphaModFix/>
            </a:blip>
            <a:srcRect/>
            <a:stretch/>
          </p:blipFill>
          <p:spPr>
            <a:xfrm>
              <a:off x="1124516" y="3550487"/>
              <a:ext cx="560860" cy="657677"/>
            </a:xfrm>
            <a:prstGeom prst="rect">
              <a:avLst/>
            </a:prstGeom>
            <a:noFill/>
            <a:ln>
              <a:noFill/>
            </a:ln>
          </p:spPr>
        </p:pic>
        <p:pic>
          <p:nvPicPr>
            <p:cNvPr id="12" name="Google Shape;1120;gd99b63929a_0_450">
              <a:extLst>
                <a:ext uri="{FF2B5EF4-FFF2-40B4-BE49-F238E27FC236}">
                  <a16:creationId xmlns:a16="http://schemas.microsoft.com/office/drawing/2014/main" id="{4FFA81DE-26B4-23A6-F4DB-3958BF79566F}"/>
                </a:ext>
              </a:extLst>
            </p:cNvPr>
            <p:cNvPicPr preferRelativeResize="0"/>
            <p:nvPr/>
          </p:nvPicPr>
          <p:blipFill rotWithShape="1">
            <a:blip r:embed="rId6">
              <a:alphaModFix/>
            </a:blip>
            <a:srcRect/>
            <a:stretch/>
          </p:blipFill>
          <p:spPr>
            <a:xfrm>
              <a:off x="2559616" y="3550487"/>
              <a:ext cx="560860" cy="657677"/>
            </a:xfrm>
            <a:prstGeom prst="rect">
              <a:avLst/>
            </a:prstGeom>
            <a:noFill/>
            <a:ln>
              <a:noFill/>
            </a:ln>
          </p:spPr>
        </p:pic>
        <p:pic>
          <p:nvPicPr>
            <p:cNvPr id="13" name="Google Shape;1121;gd99b63929a_0_450">
              <a:extLst>
                <a:ext uri="{FF2B5EF4-FFF2-40B4-BE49-F238E27FC236}">
                  <a16:creationId xmlns:a16="http://schemas.microsoft.com/office/drawing/2014/main" id="{66ED7A13-1B31-53E9-856A-8A5515A49D0F}"/>
                </a:ext>
              </a:extLst>
            </p:cNvPr>
            <p:cNvPicPr preferRelativeResize="0"/>
            <p:nvPr/>
          </p:nvPicPr>
          <p:blipFill rotWithShape="1">
            <a:blip r:embed="rId7">
              <a:alphaModFix/>
            </a:blip>
            <a:srcRect/>
            <a:stretch/>
          </p:blipFill>
          <p:spPr>
            <a:xfrm>
              <a:off x="1898658" y="2424739"/>
              <a:ext cx="447675" cy="561975"/>
            </a:xfrm>
            <a:prstGeom prst="rect">
              <a:avLst/>
            </a:prstGeom>
            <a:noFill/>
            <a:ln>
              <a:noFill/>
            </a:ln>
          </p:spPr>
        </p:pic>
        <p:cxnSp>
          <p:nvCxnSpPr>
            <p:cNvPr id="14" name="Google Shape;1122;gd99b63929a_0_450">
              <a:extLst>
                <a:ext uri="{FF2B5EF4-FFF2-40B4-BE49-F238E27FC236}">
                  <a16:creationId xmlns:a16="http://schemas.microsoft.com/office/drawing/2014/main" id="{197B5B4A-2D08-5192-594B-E5719793A200}"/>
                </a:ext>
              </a:extLst>
            </p:cNvPr>
            <p:cNvCxnSpPr>
              <a:stCxn id="11" idx="0"/>
              <a:endCxn id="16" idx="2"/>
            </p:cNvCxnSpPr>
            <p:nvPr/>
          </p:nvCxnSpPr>
          <p:spPr>
            <a:xfrm rot="-5400000">
              <a:off x="1444996" y="2966237"/>
              <a:ext cx="544200" cy="624300"/>
            </a:xfrm>
            <a:prstGeom prst="bentConnector3">
              <a:avLst>
                <a:gd name="adj1" fmla="val -198197"/>
              </a:avLst>
            </a:prstGeom>
            <a:noFill/>
            <a:ln w="9525" cap="flat" cmpd="sng">
              <a:solidFill>
                <a:srgbClr val="5A5A5A"/>
              </a:solidFill>
              <a:prstDash val="solid"/>
              <a:round/>
              <a:headEnd type="none" w="sm" len="sm"/>
              <a:tailEnd type="triangle" w="med" len="med"/>
            </a:ln>
          </p:spPr>
        </p:cxnSp>
        <p:cxnSp>
          <p:nvCxnSpPr>
            <p:cNvPr id="15" name="Google Shape;1124;gd99b63929a_0_450">
              <a:extLst>
                <a:ext uri="{FF2B5EF4-FFF2-40B4-BE49-F238E27FC236}">
                  <a16:creationId xmlns:a16="http://schemas.microsoft.com/office/drawing/2014/main" id="{18C6464A-3B69-34A3-53F7-D613E4114037}"/>
                </a:ext>
              </a:extLst>
            </p:cNvPr>
            <p:cNvCxnSpPr>
              <a:stCxn id="12" idx="0"/>
              <a:endCxn id="17" idx="2"/>
            </p:cNvCxnSpPr>
            <p:nvPr/>
          </p:nvCxnSpPr>
          <p:spPr>
            <a:xfrm rot="5400000" flipH="1">
              <a:off x="2255796" y="2966237"/>
              <a:ext cx="544200" cy="624300"/>
            </a:xfrm>
            <a:prstGeom prst="bentConnector3">
              <a:avLst>
                <a:gd name="adj1" fmla="val -198197"/>
              </a:avLst>
            </a:prstGeom>
            <a:noFill/>
            <a:ln w="9525" cap="flat" cmpd="sng">
              <a:solidFill>
                <a:srgbClr val="5A5A5A"/>
              </a:solidFill>
              <a:prstDash val="solid"/>
              <a:round/>
              <a:headEnd type="none" w="sm" len="sm"/>
              <a:tailEnd type="triangle" w="med" len="med"/>
            </a:ln>
          </p:spPr>
        </p:cxnSp>
        <p:sp>
          <p:nvSpPr>
            <p:cNvPr id="16" name="Google Shape;1123;gd99b63929a_0_450">
              <a:extLst>
                <a:ext uri="{FF2B5EF4-FFF2-40B4-BE49-F238E27FC236}">
                  <a16:creationId xmlns:a16="http://schemas.microsoft.com/office/drawing/2014/main" id="{BB17E215-4651-8413-0632-D66B5AA29D6E}"/>
                </a:ext>
              </a:extLst>
            </p:cNvPr>
            <p:cNvSpPr/>
            <p:nvPr/>
          </p:nvSpPr>
          <p:spPr>
            <a:xfrm>
              <a:off x="1972157" y="2899507"/>
              <a:ext cx="114300" cy="106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 name="Google Shape;1125;gd99b63929a_0_450">
              <a:extLst>
                <a:ext uri="{FF2B5EF4-FFF2-40B4-BE49-F238E27FC236}">
                  <a16:creationId xmlns:a16="http://schemas.microsoft.com/office/drawing/2014/main" id="{6105B590-ADF7-775B-9E22-F301499534E2}"/>
                </a:ext>
              </a:extLst>
            </p:cNvPr>
            <p:cNvSpPr/>
            <p:nvPr/>
          </p:nvSpPr>
          <p:spPr>
            <a:xfrm>
              <a:off x="2158534" y="2899507"/>
              <a:ext cx="114300" cy="106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8" name="Google Shape;1126;gd99b63929a_0_450">
              <a:extLst>
                <a:ext uri="{FF2B5EF4-FFF2-40B4-BE49-F238E27FC236}">
                  <a16:creationId xmlns:a16="http://schemas.microsoft.com/office/drawing/2014/main" id="{BD121569-8E06-24EA-0AED-CD911E452966}"/>
                </a:ext>
              </a:extLst>
            </p:cNvPr>
            <p:cNvCxnSpPr/>
            <p:nvPr/>
          </p:nvCxnSpPr>
          <p:spPr>
            <a:xfrm>
              <a:off x="2346333" y="2725200"/>
              <a:ext cx="1641600" cy="0"/>
            </a:xfrm>
            <a:prstGeom prst="straightConnector1">
              <a:avLst/>
            </a:prstGeom>
            <a:noFill/>
            <a:ln w="9525" cap="flat" cmpd="sng">
              <a:solidFill>
                <a:srgbClr val="757070"/>
              </a:solidFill>
              <a:prstDash val="solid"/>
              <a:round/>
              <a:headEnd type="none" w="sm" len="sm"/>
              <a:tailEnd type="triangle" w="med" len="med"/>
            </a:ln>
          </p:spPr>
        </p:cxnSp>
        <p:sp>
          <p:nvSpPr>
            <p:cNvPr id="19" name="Google Shape;1127;gd99b63929a_0_450">
              <a:extLst>
                <a:ext uri="{FF2B5EF4-FFF2-40B4-BE49-F238E27FC236}">
                  <a16:creationId xmlns:a16="http://schemas.microsoft.com/office/drawing/2014/main" id="{118B25D2-09E4-6629-EDDF-1392B13A9D26}"/>
                </a:ext>
              </a:extLst>
            </p:cNvPr>
            <p:cNvSpPr txBox="1"/>
            <p:nvPr/>
          </p:nvSpPr>
          <p:spPr>
            <a:xfrm>
              <a:off x="1815522" y="3442021"/>
              <a:ext cx="6141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highlight>
                    <a:schemeClr val="lt1"/>
                  </a:highlight>
                  <a:latin typeface="Lato"/>
                  <a:ea typeface="Lato"/>
                  <a:cs typeface="Lato"/>
                  <a:sym typeface="Lato"/>
                </a:rPr>
                <a:t>Code</a:t>
              </a:r>
              <a:br>
                <a:rPr lang="en-GB" sz="1200" b="0" i="0" u="none" strike="noStrike" cap="none">
                  <a:solidFill>
                    <a:srgbClr val="000000"/>
                  </a:solidFill>
                  <a:highlight>
                    <a:schemeClr val="lt1"/>
                  </a:highlight>
                  <a:latin typeface="Lato"/>
                  <a:ea typeface="Lato"/>
                  <a:cs typeface="Lato"/>
                  <a:sym typeface="Lato"/>
                </a:rPr>
              </a:br>
              <a:r>
                <a:rPr lang="en-GB" sz="1200" b="0" i="0" u="none" strike="noStrike" cap="none">
                  <a:solidFill>
                    <a:srgbClr val="000000"/>
                  </a:solidFill>
                  <a:highlight>
                    <a:schemeClr val="lt1"/>
                  </a:highlight>
                  <a:latin typeface="Lato"/>
                  <a:ea typeface="Lato"/>
                  <a:cs typeface="Lato"/>
                  <a:sym typeface="Lato"/>
                </a:rPr>
                <a:t>Checkins</a:t>
              </a:r>
              <a:endParaRPr sz="1200" b="0" i="0" u="none" strike="noStrike" cap="none">
                <a:solidFill>
                  <a:srgbClr val="000000"/>
                </a:solidFill>
                <a:highlight>
                  <a:schemeClr val="lt1"/>
                </a:highlight>
                <a:latin typeface="Lato"/>
                <a:ea typeface="Lato"/>
                <a:cs typeface="Lato"/>
                <a:sym typeface="Lato"/>
              </a:endParaRPr>
            </a:p>
          </p:txBody>
        </p:sp>
        <p:sp>
          <p:nvSpPr>
            <p:cNvPr id="20" name="Google Shape;1128;gd99b63929a_0_450">
              <a:extLst>
                <a:ext uri="{FF2B5EF4-FFF2-40B4-BE49-F238E27FC236}">
                  <a16:creationId xmlns:a16="http://schemas.microsoft.com/office/drawing/2014/main" id="{6B6FDDCF-35EE-8C1E-21D0-738109911AD6}"/>
                </a:ext>
              </a:extLst>
            </p:cNvPr>
            <p:cNvSpPr txBox="1"/>
            <p:nvPr/>
          </p:nvSpPr>
          <p:spPr>
            <a:xfrm>
              <a:off x="2664526" y="2826304"/>
              <a:ext cx="10050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dirty="0">
                  <a:solidFill>
                    <a:srgbClr val="000000"/>
                  </a:solidFill>
                  <a:latin typeface="Lato"/>
                  <a:ea typeface="Lato"/>
                  <a:cs typeface="Lato"/>
                  <a:sym typeface="Lato"/>
                </a:rPr>
                <a:t>Fetch Changes</a:t>
              </a:r>
              <a:endParaRPr sz="1400" b="0" i="0" u="none" strike="noStrike" cap="none" dirty="0">
                <a:solidFill>
                  <a:srgbClr val="000000"/>
                </a:solidFill>
                <a:latin typeface="Arial"/>
                <a:ea typeface="Arial"/>
                <a:cs typeface="Arial"/>
                <a:sym typeface="Arial"/>
              </a:endParaRPr>
            </a:p>
          </p:txBody>
        </p:sp>
        <p:pic>
          <p:nvPicPr>
            <p:cNvPr id="21" name="Google Shape;1129;gd99b63929a_0_450">
              <a:extLst>
                <a:ext uri="{FF2B5EF4-FFF2-40B4-BE49-F238E27FC236}">
                  <a16:creationId xmlns:a16="http://schemas.microsoft.com/office/drawing/2014/main" id="{5155C839-90CB-864C-6764-781B7952123E}"/>
                </a:ext>
              </a:extLst>
            </p:cNvPr>
            <p:cNvPicPr preferRelativeResize="0"/>
            <p:nvPr/>
          </p:nvPicPr>
          <p:blipFill rotWithShape="1">
            <a:blip r:embed="rId7">
              <a:alphaModFix/>
            </a:blip>
            <a:srcRect/>
            <a:stretch/>
          </p:blipFill>
          <p:spPr>
            <a:xfrm>
              <a:off x="3981458" y="2424739"/>
              <a:ext cx="447675" cy="561975"/>
            </a:xfrm>
            <a:prstGeom prst="rect">
              <a:avLst/>
            </a:prstGeom>
            <a:noFill/>
            <a:ln>
              <a:noFill/>
            </a:ln>
          </p:spPr>
        </p:pic>
        <p:pic>
          <p:nvPicPr>
            <p:cNvPr id="22" name="Google Shape;1130;gd99b63929a_0_450">
              <a:extLst>
                <a:ext uri="{FF2B5EF4-FFF2-40B4-BE49-F238E27FC236}">
                  <a16:creationId xmlns:a16="http://schemas.microsoft.com/office/drawing/2014/main" id="{40E820F6-4C8C-544A-07B5-F6EFEC01F5BF}"/>
                </a:ext>
              </a:extLst>
            </p:cNvPr>
            <p:cNvPicPr preferRelativeResize="0"/>
            <p:nvPr/>
          </p:nvPicPr>
          <p:blipFill rotWithShape="1">
            <a:blip r:embed="rId8">
              <a:alphaModFix/>
            </a:blip>
            <a:srcRect/>
            <a:stretch/>
          </p:blipFill>
          <p:spPr>
            <a:xfrm>
              <a:off x="4833725" y="2305813"/>
              <a:ext cx="942018" cy="799826"/>
            </a:xfrm>
            <a:prstGeom prst="rect">
              <a:avLst/>
            </a:prstGeom>
            <a:noFill/>
            <a:ln>
              <a:noFill/>
            </a:ln>
          </p:spPr>
        </p:pic>
        <p:sp>
          <p:nvSpPr>
            <p:cNvPr id="23" name="Google Shape;1131;gd99b63929a_0_450">
              <a:extLst>
                <a:ext uri="{FF2B5EF4-FFF2-40B4-BE49-F238E27FC236}">
                  <a16:creationId xmlns:a16="http://schemas.microsoft.com/office/drawing/2014/main" id="{AF78363C-C25F-9BE7-9946-B21A3205D7DD}"/>
                </a:ext>
              </a:extLst>
            </p:cNvPr>
            <p:cNvSpPr/>
            <p:nvPr/>
          </p:nvSpPr>
          <p:spPr>
            <a:xfrm>
              <a:off x="4992914" y="3149600"/>
              <a:ext cx="319315" cy="1582057"/>
            </a:xfrm>
            <a:custGeom>
              <a:avLst/>
              <a:gdLst/>
              <a:ahLst/>
              <a:cxnLst/>
              <a:rect l="l" t="t" r="r" b="b"/>
              <a:pathLst>
                <a:path w="319315" h="1582057" extrusionOk="0">
                  <a:moveTo>
                    <a:pt x="319315" y="0"/>
                  </a:moveTo>
                  <a:lnTo>
                    <a:pt x="319315" y="1582057"/>
                  </a:lnTo>
                  <a:lnTo>
                    <a:pt x="0" y="1582057"/>
                  </a:lnTo>
                </a:path>
              </a:pathLst>
            </a:custGeom>
            <a:noFill/>
            <a:ln w="9525" cap="flat" cmpd="sng">
              <a:solidFill>
                <a:srgbClr val="757070"/>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 name="Google Shape;1132;gd99b63929a_0_450">
              <a:extLst>
                <a:ext uri="{FF2B5EF4-FFF2-40B4-BE49-F238E27FC236}">
                  <a16:creationId xmlns:a16="http://schemas.microsoft.com/office/drawing/2014/main" id="{F4C87243-071F-3B21-0CC8-B083ABEF440A}"/>
                </a:ext>
              </a:extLst>
            </p:cNvPr>
            <p:cNvSpPr/>
            <p:nvPr/>
          </p:nvSpPr>
          <p:spPr>
            <a:xfrm>
              <a:off x="2902857" y="4441371"/>
              <a:ext cx="2017486" cy="290286"/>
            </a:xfrm>
            <a:custGeom>
              <a:avLst/>
              <a:gdLst/>
              <a:ahLst/>
              <a:cxnLst/>
              <a:rect l="l" t="t" r="r" b="b"/>
              <a:pathLst>
                <a:path w="2017486" h="290286" extrusionOk="0">
                  <a:moveTo>
                    <a:pt x="2017486" y="290286"/>
                  </a:moveTo>
                  <a:lnTo>
                    <a:pt x="0" y="290286"/>
                  </a:lnTo>
                  <a:lnTo>
                    <a:pt x="0" y="0"/>
                  </a:lnTo>
                </a:path>
              </a:pathLst>
            </a:custGeom>
            <a:noFill/>
            <a:ln w="9525" cap="flat" cmpd="sng">
              <a:solidFill>
                <a:srgbClr val="757070"/>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 name="Google Shape;1133;gd99b63929a_0_450">
              <a:extLst>
                <a:ext uri="{FF2B5EF4-FFF2-40B4-BE49-F238E27FC236}">
                  <a16:creationId xmlns:a16="http://schemas.microsoft.com/office/drawing/2014/main" id="{A4133D92-8396-CFED-13B5-EE7CF146ECAC}"/>
                </a:ext>
              </a:extLst>
            </p:cNvPr>
            <p:cNvSpPr/>
            <p:nvPr/>
          </p:nvSpPr>
          <p:spPr>
            <a:xfrm>
              <a:off x="1404945" y="4441371"/>
              <a:ext cx="1699732" cy="290286"/>
            </a:xfrm>
            <a:custGeom>
              <a:avLst/>
              <a:gdLst/>
              <a:ahLst/>
              <a:cxnLst/>
              <a:rect l="l" t="t" r="r" b="b"/>
              <a:pathLst>
                <a:path w="2017486" h="290286" extrusionOk="0">
                  <a:moveTo>
                    <a:pt x="2017486" y="290286"/>
                  </a:moveTo>
                  <a:lnTo>
                    <a:pt x="0" y="290286"/>
                  </a:lnTo>
                  <a:lnTo>
                    <a:pt x="0" y="0"/>
                  </a:lnTo>
                </a:path>
              </a:pathLst>
            </a:custGeom>
            <a:noFill/>
            <a:ln w="9525" cap="flat" cmpd="sng">
              <a:solidFill>
                <a:srgbClr val="757070"/>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 name="Google Shape;1134;gd99b63929a_0_450">
              <a:extLst>
                <a:ext uri="{FF2B5EF4-FFF2-40B4-BE49-F238E27FC236}">
                  <a16:creationId xmlns:a16="http://schemas.microsoft.com/office/drawing/2014/main" id="{6AF42EF3-7581-99F7-8890-D186A049B92B}"/>
                </a:ext>
              </a:extLst>
            </p:cNvPr>
            <p:cNvSpPr txBox="1"/>
            <p:nvPr/>
          </p:nvSpPr>
          <p:spPr>
            <a:xfrm>
              <a:off x="2840045" y="4842713"/>
              <a:ext cx="12552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Build Notifications</a:t>
              </a:r>
              <a:endParaRPr sz="1400" b="0" i="0" u="none" strike="noStrike" cap="none">
                <a:solidFill>
                  <a:srgbClr val="000000"/>
                </a:solidFill>
                <a:latin typeface="Arial"/>
                <a:ea typeface="Arial"/>
                <a:cs typeface="Arial"/>
                <a:sym typeface="Arial"/>
              </a:endParaRPr>
            </a:p>
          </p:txBody>
        </p:sp>
      </p:grpSp>
      <p:sp>
        <p:nvSpPr>
          <p:cNvPr id="27" name="Google Shape;1135;gd99b63929a_0_450">
            <a:extLst>
              <a:ext uri="{FF2B5EF4-FFF2-40B4-BE49-F238E27FC236}">
                <a16:creationId xmlns:a16="http://schemas.microsoft.com/office/drawing/2014/main" id="{EE8C78BF-B460-8A0B-06E6-0FA56C9ACC05}"/>
              </a:ext>
            </a:extLst>
          </p:cNvPr>
          <p:cNvSpPr/>
          <p:nvPr/>
        </p:nvSpPr>
        <p:spPr>
          <a:xfrm>
            <a:off x="2165952" y="1389262"/>
            <a:ext cx="5522100" cy="4026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Compilation and Packaging</a:t>
            </a:r>
            <a:endParaRPr sz="2540" b="0" i="0" u="none" strike="noStrike" cap="none" dirty="0">
              <a:latin typeface="Arial"/>
              <a:ea typeface="Arial"/>
              <a:cs typeface="Arial"/>
              <a:sym typeface="Arial"/>
            </a:endParaRPr>
          </a:p>
        </p:txBody>
      </p:sp>
    </p:spTree>
    <p:extLst>
      <p:ext uri="{BB962C8B-B14F-4D97-AF65-F5344CB8AC3E}">
        <p14:creationId xmlns:p14="http://schemas.microsoft.com/office/powerpoint/2010/main" val="4292207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40;p26">
            <a:extLst>
              <a:ext uri="{FF2B5EF4-FFF2-40B4-BE49-F238E27FC236}">
                <a16:creationId xmlns:a16="http://schemas.microsoft.com/office/drawing/2014/main" id="{65D4494E-6C89-EE8F-CB72-C157ADEE7584}"/>
              </a:ext>
            </a:extLst>
          </p:cNvPr>
          <p:cNvSpPr/>
          <p:nvPr/>
        </p:nvSpPr>
        <p:spPr>
          <a:xfrm>
            <a:off x="2243958" y="1370730"/>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Static Code Analysis</a:t>
            </a:r>
            <a:endParaRPr sz="2540" b="0" i="0" u="none" strike="noStrike" cap="none" dirty="0">
              <a:latin typeface="Arial"/>
              <a:ea typeface="Arial"/>
              <a:cs typeface="Arial"/>
              <a:sym typeface="Arial"/>
            </a:endParaRPr>
          </a:p>
        </p:txBody>
      </p:sp>
      <p:sp>
        <p:nvSpPr>
          <p:cNvPr id="11" name="Google Shape;1142;p26">
            <a:extLst>
              <a:ext uri="{FF2B5EF4-FFF2-40B4-BE49-F238E27FC236}">
                <a16:creationId xmlns:a16="http://schemas.microsoft.com/office/drawing/2014/main" id="{74FDDC85-C363-9ADB-68D9-8935AD701F09}"/>
              </a:ext>
            </a:extLst>
          </p:cNvPr>
          <p:cNvSpPr/>
          <p:nvPr/>
        </p:nvSpPr>
        <p:spPr>
          <a:xfrm>
            <a:off x="603720" y="2464848"/>
            <a:ext cx="10654598" cy="3784198"/>
          </a:xfrm>
          <a:prstGeom prst="rect">
            <a:avLst/>
          </a:prstGeom>
          <a:noFill/>
          <a:ln>
            <a:noFill/>
          </a:ln>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Static code analysis (also known as Source Code Analysis) is a method of debugging by examining source code before a program is run. This is done by analysing a set of code against a set (or multiple sets) of coding rules</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Some of the common techniques are </a:t>
            </a:r>
            <a:r>
              <a:rPr lang="en-GB" sz="1600" b="0" i="1" u="none" strike="noStrike" cap="none" dirty="0">
                <a:solidFill>
                  <a:srgbClr val="000000"/>
                </a:solidFill>
                <a:latin typeface="Arial"/>
                <a:ea typeface="Arial"/>
                <a:cs typeface="Arial"/>
                <a:sym typeface="Arial"/>
              </a:rPr>
              <a:t>Taint Analysis</a:t>
            </a:r>
            <a:r>
              <a:rPr lang="en-GB" sz="1600" b="0" i="0" u="none" strike="noStrike" cap="none" dirty="0">
                <a:solidFill>
                  <a:srgbClr val="000000"/>
                </a:solidFill>
                <a:latin typeface="Arial"/>
                <a:ea typeface="Arial"/>
                <a:cs typeface="Arial"/>
                <a:sym typeface="Arial"/>
              </a:rPr>
              <a:t> and </a:t>
            </a:r>
            <a:r>
              <a:rPr lang="en-GB" sz="1600" b="0" i="1" u="none" strike="noStrike" cap="none" dirty="0">
                <a:solidFill>
                  <a:srgbClr val="000000"/>
                </a:solidFill>
                <a:latin typeface="Arial"/>
                <a:ea typeface="Arial"/>
                <a:cs typeface="Arial"/>
                <a:sym typeface="Arial"/>
              </a:rPr>
              <a:t>Data flow Analysis</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GB" sz="1600" b="1" i="0" u="none" strike="noStrike" cap="none" dirty="0">
                <a:solidFill>
                  <a:srgbClr val="203864"/>
                </a:solidFill>
                <a:latin typeface="Arial"/>
                <a:ea typeface="Arial"/>
                <a:cs typeface="Arial"/>
                <a:sym typeface="Arial"/>
              </a:rPr>
              <a:t>Taint Analysis</a:t>
            </a:r>
            <a:endParaRPr sz="1600" b="1"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Taint analysis is an analysis that detects any injection vulnerability pattern in source code. The analysis identifies the information flow of untrustworthy input that affects the sensitive sink or part of the system</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GB" sz="1600" b="1" i="0" u="none" strike="noStrike" cap="none" dirty="0">
                <a:solidFill>
                  <a:srgbClr val="203864"/>
                </a:solidFill>
                <a:latin typeface="Arial"/>
                <a:ea typeface="Arial"/>
                <a:cs typeface="Arial"/>
                <a:sym typeface="Arial"/>
              </a:rPr>
            </a:br>
            <a:r>
              <a:rPr lang="en-GB" sz="1600" b="1" i="0" u="none" strike="noStrike" cap="none" dirty="0">
                <a:solidFill>
                  <a:srgbClr val="203864"/>
                </a:solidFill>
                <a:latin typeface="Arial"/>
                <a:ea typeface="Arial"/>
                <a:cs typeface="Arial"/>
                <a:sym typeface="Arial"/>
              </a:rPr>
              <a:t>Data Flow Analysis: </a:t>
            </a:r>
            <a:endParaRPr sz="1600" b="1" i="0" u="none" strike="noStrike" cap="none" dirty="0">
              <a:solidFill>
                <a:srgbClr val="20386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GB" sz="1600" b="0" i="0" u="none" strike="noStrike" cap="none" dirty="0">
                <a:solidFill>
                  <a:schemeClr val="dk1"/>
                </a:solidFill>
                <a:latin typeface="Arial"/>
                <a:ea typeface="Arial"/>
                <a:cs typeface="Arial"/>
                <a:sym typeface="Arial"/>
              </a:rPr>
              <a:t>Data flow testing is a testing strategy that focuses on the data variables and their values, used in the programming logic of the software product, by making use of the control flow graph. Data flow testing is a form of white box testing and structural type testing that generally keeps check at the points where the data values are being received by the variables and at the points </a:t>
            </a:r>
            <a:r>
              <a:rPr lang="en-GB" sz="1600" b="0" i="0" u="none" strike="noStrike" cap="none" dirty="0">
                <a:solidFill>
                  <a:schemeClr val="dk1"/>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9"/>
                  </a:ext>
                </a:extLst>
              </a:rPr>
              <a:t>when </a:t>
            </a:r>
            <a:r>
              <a:rPr lang="en-GB" sz="1600" b="0" i="0" u="none" strike="noStrike" cap="none" dirty="0">
                <a:solidFill>
                  <a:schemeClr val="dk1"/>
                </a:solidFill>
                <a:latin typeface="Arial"/>
                <a:ea typeface="Arial"/>
                <a:cs typeface="Arial"/>
                <a:sym typeface="Arial"/>
              </a:rPr>
              <a:t>it is called for use. </a:t>
            </a:r>
            <a:endParaRPr sz="1600" b="1" i="0" u="sng" strike="noStrike" cap="none" dirty="0">
              <a:solidFill>
                <a:srgbClr val="203864"/>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p:txBody>
      </p:sp>
      <p:sp>
        <p:nvSpPr>
          <p:cNvPr id="12" name="Google Shape;1143;p26">
            <a:extLst>
              <a:ext uri="{FF2B5EF4-FFF2-40B4-BE49-F238E27FC236}">
                <a16:creationId xmlns:a16="http://schemas.microsoft.com/office/drawing/2014/main" id="{A92B8A3E-0EFC-0938-AD37-12464D40DE7E}"/>
              </a:ext>
            </a:extLst>
          </p:cNvPr>
          <p:cNvSpPr/>
          <p:nvPr/>
        </p:nvSpPr>
        <p:spPr>
          <a:xfrm>
            <a:off x="606600" y="2157038"/>
            <a:ext cx="1492626" cy="3371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dirty="0">
                <a:solidFill>
                  <a:srgbClr val="203864"/>
                </a:solidFill>
                <a:latin typeface="Arial"/>
                <a:ea typeface="Arial"/>
                <a:cs typeface="Arial"/>
                <a:sym typeface="Arial"/>
              </a:rPr>
              <a:t>Definition</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739339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pic>
        <p:nvPicPr>
          <p:cNvPr id="9" name="Google Shape;1149;gd2941260b3_0_10">
            <a:extLst>
              <a:ext uri="{FF2B5EF4-FFF2-40B4-BE49-F238E27FC236}">
                <a16:creationId xmlns:a16="http://schemas.microsoft.com/office/drawing/2014/main" id="{3E1EA9F6-B7AC-A174-FA3A-827F8B7B7CA1}"/>
              </a:ext>
            </a:extLst>
          </p:cNvPr>
          <p:cNvPicPr preferRelativeResize="0"/>
          <p:nvPr/>
        </p:nvPicPr>
        <p:blipFill rotWithShape="1">
          <a:blip r:embed="rId6">
            <a:alphaModFix/>
          </a:blip>
          <a:srcRect/>
          <a:stretch/>
        </p:blipFill>
        <p:spPr>
          <a:xfrm>
            <a:off x="1253580" y="4268800"/>
            <a:ext cx="4412051" cy="2589200"/>
          </a:xfrm>
          <a:prstGeom prst="rect">
            <a:avLst/>
          </a:prstGeom>
          <a:noFill/>
          <a:ln>
            <a:noFill/>
          </a:ln>
        </p:spPr>
      </p:pic>
      <p:pic>
        <p:nvPicPr>
          <p:cNvPr id="10" name="Google Shape;1150;gd2941260b3_0_10">
            <a:extLst>
              <a:ext uri="{FF2B5EF4-FFF2-40B4-BE49-F238E27FC236}">
                <a16:creationId xmlns:a16="http://schemas.microsoft.com/office/drawing/2014/main" id="{719AA38B-C730-7E59-6CAF-82C8AD5F5EB9}"/>
              </a:ext>
            </a:extLst>
          </p:cNvPr>
          <p:cNvPicPr preferRelativeResize="0"/>
          <p:nvPr/>
        </p:nvPicPr>
        <p:blipFill rotWithShape="1">
          <a:blip r:embed="rId7">
            <a:alphaModFix/>
          </a:blip>
          <a:srcRect/>
          <a:stretch/>
        </p:blipFill>
        <p:spPr>
          <a:xfrm>
            <a:off x="6096000" y="4249343"/>
            <a:ext cx="4731949" cy="2589200"/>
          </a:xfrm>
          <a:prstGeom prst="rect">
            <a:avLst/>
          </a:prstGeom>
          <a:noFill/>
          <a:ln>
            <a:noFill/>
          </a:ln>
        </p:spPr>
      </p:pic>
      <p:sp>
        <p:nvSpPr>
          <p:cNvPr id="11" name="Google Shape;1151;gd2941260b3_0_10">
            <a:extLst>
              <a:ext uri="{FF2B5EF4-FFF2-40B4-BE49-F238E27FC236}">
                <a16:creationId xmlns:a16="http://schemas.microsoft.com/office/drawing/2014/main" id="{893F9AC7-E789-BF28-C4BE-7C725ADAA931}"/>
              </a:ext>
            </a:extLst>
          </p:cNvPr>
          <p:cNvSpPr/>
          <p:nvPr/>
        </p:nvSpPr>
        <p:spPr>
          <a:xfrm>
            <a:off x="1466499" y="1892062"/>
            <a:ext cx="7936200" cy="1538700"/>
          </a:xfrm>
          <a:prstGeom prst="rect">
            <a:avLst/>
          </a:prstGeom>
          <a:noFill/>
          <a:ln>
            <a:noFill/>
          </a:ln>
        </p:spPr>
        <p:txBody>
          <a:bodyPr spcFirstLastPara="1" wrap="square" lIns="90000" tIns="45000" rIns="90000" bIns="45000" anchor="t" anchorCtr="0">
            <a:noAutofit/>
          </a:bodyPr>
          <a:lstStyle/>
          <a:p>
            <a:pPr marL="285840" marR="0" lvl="0"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rPr>
              <a:t>Evaluation of full source code, which increases the code quality</a:t>
            </a:r>
            <a:endParaRPr sz="1600" b="0" i="0" u="none" strike="noStrike" cap="none" dirty="0">
              <a:solidFill>
                <a:srgbClr val="000000"/>
              </a:solidFill>
              <a:latin typeface="Arial"/>
              <a:ea typeface="Arial"/>
              <a:cs typeface="Arial"/>
              <a:sym typeface="Arial"/>
            </a:endParaRPr>
          </a:p>
          <a:p>
            <a:pPr marL="285840" marR="0" lvl="0"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chemeClr val="dk1"/>
                </a:solidFill>
                <a:latin typeface="Arial"/>
                <a:ea typeface="Arial"/>
                <a:cs typeface="Arial"/>
                <a:sym typeface="Arial"/>
              </a:rPr>
              <a:t>Typically done using automated tools, making it less prone to human error</a:t>
            </a:r>
            <a:endParaRPr sz="1600" b="0" i="0" u="none" strike="noStrike" cap="none" dirty="0">
              <a:solidFill>
                <a:schemeClr val="dk1"/>
              </a:solidFill>
              <a:latin typeface="Arial"/>
              <a:ea typeface="Arial"/>
              <a:cs typeface="Arial"/>
              <a:sym typeface="Arial"/>
            </a:endParaRPr>
          </a:p>
          <a:p>
            <a:pPr marL="285840" marR="0" lvl="0"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chemeClr val="dk1"/>
                </a:solidFill>
                <a:latin typeface="Arial"/>
                <a:ea typeface="Arial"/>
                <a:cs typeface="Arial"/>
                <a:sym typeface="Arial"/>
              </a:rPr>
              <a:t>Much faster than other methods of code review mechanisms</a:t>
            </a:r>
            <a:endParaRPr sz="1600" b="0" i="0" u="none" strike="noStrike" cap="none" dirty="0">
              <a:solidFill>
                <a:schemeClr val="dk1"/>
              </a:solidFill>
              <a:latin typeface="Arial"/>
              <a:ea typeface="Arial"/>
              <a:cs typeface="Arial"/>
              <a:sym typeface="Arial"/>
            </a:endParaRPr>
          </a:p>
          <a:p>
            <a:pPr marL="285840" marR="0" lvl="0"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chemeClr val="dk1"/>
                </a:solidFill>
                <a:latin typeface="Arial"/>
                <a:ea typeface="Arial"/>
                <a:cs typeface="Arial"/>
                <a:sym typeface="Arial"/>
              </a:rPr>
              <a:t>More cost-effective than pair programming</a:t>
            </a:r>
            <a:endParaRPr sz="1600" b="0" i="0" u="none" strike="noStrike" cap="none" dirty="0">
              <a:solidFill>
                <a:srgbClr val="000000"/>
              </a:solidFill>
              <a:latin typeface="Arial"/>
              <a:ea typeface="Arial"/>
              <a:cs typeface="Arial"/>
              <a:sym typeface="Arial"/>
            </a:endParaRPr>
          </a:p>
          <a:p>
            <a:pPr marL="285840" marR="0" lvl="0"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chemeClr val="dk1"/>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0"/>
                  </a:ext>
                </a:extLst>
              </a:rPr>
              <a:t>Incremental scan capability only analyses new or modified code</a:t>
            </a:r>
            <a:endParaRPr sz="1600" b="0" i="0" u="none" strike="noStrike" cap="none" dirty="0">
              <a:solidFill>
                <a:schemeClr val="dk1"/>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1"/>
                </a:ext>
              </a:extLst>
            </a:endParaRPr>
          </a:p>
          <a:p>
            <a:pPr marL="285840" marR="0" lvl="0"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chemeClr val="dk1"/>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2"/>
                  </a:ext>
                </a:extLst>
              </a:rPr>
              <a:t>No dependencies need to be configured. You just throw at it!</a:t>
            </a:r>
            <a:endParaRPr sz="1600" b="0" i="0" u="none" strike="noStrike" cap="none" dirty="0">
              <a:solidFill>
                <a:srgbClr val="000000"/>
              </a:solidFill>
              <a:latin typeface="Arial"/>
              <a:ea typeface="Arial"/>
              <a:cs typeface="Arial"/>
              <a:sym typeface="Arial"/>
            </a:endParaRPr>
          </a:p>
        </p:txBody>
      </p:sp>
      <p:sp>
        <p:nvSpPr>
          <p:cNvPr id="12" name="Google Shape;1152;gd2941260b3_0_10">
            <a:extLst>
              <a:ext uri="{FF2B5EF4-FFF2-40B4-BE49-F238E27FC236}">
                <a16:creationId xmlns:a16="http://schemas.microsoft.com/office/drawing/2014/main" id="{594B27DC-3F6B-1F06-759F-500956815093}"/>
              </a:ext>
            </a:extLst>
          </p:cNvPr>
          <p:cNvSpPr/>
          <p:nvPr/>
        </p:nvSpPr>
        <p:spPr>
          <a:xfrm>
            <a:off x="2115117" y="1404573"/>
            <a:ext cx="7390200" cy="3078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2500" b="0" i="0" u="none" strike="noStrike" cap="none" dirty="0">
                <a:latin typeface="Proxima Nova"/>
                <a:ea typeface="Proxima Nova"/>
                <a:cs typeface="Proxima Nova"/>
                <a:sym typeface="Proxima Nova"/>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3"/>
                  </a:ext>
                </a:extLst>
              </a:rPr>
              <a:t>Benefits</a:t>
            </a:r>
            <a:r>
              <a:rPr lang="en-GB" sz="2500" b="0" i="0" u="none" strike="noStrike" cap="none" dirty="0">
                <a:latin typeface="Proxima Nova"/>
                <a:ea typeface="Proxima Nova"/>
                <a:cs typeface="Proxima Nova"/>
                <a:sym typeface="Proxima Nova"/>
              </a:rPr>
              <a:t> of Static Code Analysis</a:t>
            </a:r>
            <a:endParaRPr sz="2500" b="0" i="0" u="none" strike="noStrike" cap="none" dirty="0">
              <a:latin typeface="Proxima Nova"/>
              <a:ea typeface="Proxima Nova"/>
              <a:cs typeface="Proxima Nova"/>
              <a:sym typeface="Proxima Nova"/>
            </a:endParaRPr>
          </a:p>
        </p:txBody>
      </p:sp>
    </p:spTree>
    <p:extLst>
      <p:ext uri="{BB962C8B-B14F-4D97-AF65-F5344CB8AC3E}">
        <p14:creationId xmlns:p14="http://schemas.microsoft.com/office/powerpoint/2010/main" val="214347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57;p27">
            <a:extLst>
              <a:ext uri="{FF2B5EF4-FFF2-40B4-BE49-F238E27FC236}">
                <a16:creationId xmlns:a16="http://schemas.microsoft.com/office/drawing/2014/main" id="{AD43B76F-7940-7867-9FFD-E103ED50AB98}"/>
              </a:ext>
            </a:extLst>
          </p:cNvPr>
          <p:cNvSpPr/>
          <p:nvPr/>
        </p:nvSpPr>
        <p:spPr>
          <a:xfrm>
            <a:off x="2243958" y="1417448"/>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Static Code Analysis: Popular Tools</a:t>
            </a:r>
            <a:endParaRPr sz="2540" b="0" i="0" u="none" strike="noStrike" cap="none" dirty="0">
              <a:latin typeface="Arial"/>
              <a:ea typeface="Arial"/>
              <a:cs typeface="Arial"/>
              <a:sym typeface="Arial"/>
            </a:endParaRPr>
          </a:p>
        </p:txBody>
      </p:sp>
      <p:pic>
        <p:nvPicPr>
          <p:cNvPr id="11" name="Google Shape;1159;p27">
            <a:extLst>
              <a:ext uri="{FF2B5EF4-FFF2-40B4-BE49-F238E27FC236}">
                <a16:creationId xmlns:a16="http://schemas.microsoft.com/office/drawing/2014/main" id="{D5EE1419-8917-C293-50EA-109C9C88C542}"/>
              </a:ext>
            </a:extLst>
          </p:cNvPr>
          <p:cNvPicPr preferRelativeResize="0"/>
          <p:nvPr/>
        </p:nvPicPr>
        <p:blipFill rotWithShape="1">
          <a:blip r:embed="rId6">
            <a:alphaModFix/>
          </a:blip>
          <a:srcRect/>
          <a:stretch/>
        </p:blipFill>
        <p:spPr>
          <a:xfrm>
            <a:off x="731901" y="1909251"/>
            <a:ext cx="10288449" cy="4708023"/>
          </a:xfrm>
          <a:prstGeom prst="rect">
            <a:avLst/>
          </a:prstGeom>
          <a:noFill/>
          <a:ln>
            <a:noFill/>
          </a:ln>
        </p:spPr>
      </p:pic>
    </p:spTree>
    <p:extLst>
      <p:ext uri="{BB962C8B-B14F-4D97-AF65-F5344CB8AC3E}">
        <p14:creationId xmlns:p14="http://schemas.microsoft.com/office/powerpoint/2010/main" val="756572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4">
          <a:extLst>
            <a:ext uri="{FF2B5EF4-FFF2-40B4-BE49-F238E27FC236}">
              <a16:creationId xmlns:a16="http://schemas.microsoft.com/office/drawing/2014/main" id="{BD82D246-760F-9EEF-22F4-9B518C83F38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47BE9AC-54F2-5E4D-F440-3F5F36D4EDFA}"/>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a:extLst>
              <a:ext uri="{FF2B5EF4-FFF2-40B4-BE49-F238E27FC236}">
                <a16:creationId xmlns:a16="http://schemas.microsoft.com/office/drawing/2014/main" id="{2107260D-8690-0C39-8E70-CF9BCD41ADEC}"/>
              </a:ext>
            </a:extLst>
          </p:cNvPr>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CI/CD Tools in GCP</a:t>
            </a:r>
            <a:endParaRPr lang="en-US" sz="4800" dirty="0">
              <a:solidFill>
                <a:schemeClr val="bg1"/>
              </a:solidFill>
              <a:latin typeface="Lato"/>
              <a:ea typeface="Lato"/>
              <a:cs typeface="Lato"/>
              <a:sym typeface="Lato"/>
            </a:endParaRPr>
          </a:p>
        </p:txBody>
      </p:sp>
      <p:sp>
        <p:nvSpPr>
          <p:cNvPr id="617" name="Google Shape;617;p34">
            <a:extLst>
              <a:ext uri="{FF2B5EF4-FFF2-40B4-BE49-F238E27FC236}">
                <a16:creationId xmlns:a16="http://schemas.microsoft.com/office/drawing/2014/main" id="{CB0C86A2-A0DA-26F5-E9D2-509D5C787526}"/>
              </a:ext>
            </a:extLst>
          </p:cNvPr>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22</a:t>
            </a:fld>
            <a:endParaRPr>
              <a:solidFill>
                <a:srgbClr val="FF0000"/>
              </a:solidFill>
              <a:latin typeface="Proxima Nova"/>
              <a:ea typeface="Proxima Nova"/>
              <a:cs typeface="Proxima Nova"/>
              <a:sym typeface="Proxima Nova"/>
            </a:endParaRPr>
          </a:p>
        </p:txBody>
      </p:sp>
      <p:pic>
        <p:nvPicPr>
          <p:cNvPr id="618" name="Google Shape;618;p34">
            <a:extLst>
              <a:ext uri="{FF2B5EF4-FFF2-40B4-BE49-F238E27FC236}">
                <a16:creationId xmlns:a16="http://schemas.microsoft.com/office/drawing/2014/main" id="{171BCB00-4F75-6CD6-C247-418E887B883E}"/>
              </a:ext>
            </a:extLst>
          </p:cNvPr>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ABF983F2-0160-4CBE-86AA-8E22220367E7}"/>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extLst>
      <p:ext uri="{BB962C8B-B14F-4D97-AF65-F5344CB8AC3E}">
        <p14:creationId xmlns:p14="http://schemas.microsoft.com/office/powerpoint/2010/main" val="2460561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D8EDB-D787-9530-CA0D-A7416C7F5306}"/>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0462506D-F0FA-94C4-3545-660220539418}"/>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5ACE7D5D-B2E4-2565-831A-1E9C2CDF3DF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E83A8B88-F1AE-9A66-1DEE-40AA653DECDD}"/>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4B8EEA5-F7F1-31EB-089C-661C05204E69}"/>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F5A03A3-D5B7-9AF3-E520-141E893EFF2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DF3A6464-2E4F-8233-EAF5-B6F6A88A992C}"/>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3046F154-B26A-1391-0CF6-231F36FE1AF0}"/>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1140;p26">
            <a:extLst>
              <a:ext uri="{FF2B5EF4-FFF2-40B4-BE49-F238E27FC236}">
                <a16:creationId xmlns:a16="http://schemas.microsoft.com/office/drawing/2014/main" id="{DFD95B4F-11CA-15FF-D1FA-ACC08F10E745}"/>
              </a:ext>
            </a:extLst>
          </p:cNvPr>
          <p:cNvSpPr/>
          <p:nvPr/>
        </p:nvSpPr>
        <p:spPr>
          <a:xfrm>
            <a:off x="2243958" y="1370730"/>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CI/CD Tools in GCP</a:t>
            </a:r>
          </a:p>
        </p:txBody>
      </p:sp>
      <p:sp>
        <p:nvSpPr>
          <p:cNvPr id="11" name="Google Shape;1142;p26">
            <a:extLst>
              <a:ext uri="{FF2B5EF4-FFF2-40B4-BE49-F238E27FC236}">
                <a16:creationId xmlns:a16="http://schemas.microsoft.com/office/drawing/2014/main" id="{FC0A744A-4DDC-3CA3-AE82-F0175012ACC4}"/>
              </a:ext>
            </a:extLst>
          </p:cNvPr>
          <p:cNvSpPr/>
          <p:nvPr/>
        </p:nvSpPr>
        <p:spPr>
          <a:xfrm>
            <a:off x="603720" y="2464848"/>
            <a:ext cx="10654598" cy="2306870"/>
          </a:xfrm>
          <a:prstGeom prst="rect">
            <a:avLst/>
          </a:prstGeom>
          <a:noFill/>
          <a:ln>
            <a:noFill/>
          </a:ln>
        </p:spPr>
        <p:txBody>
          <a:bodyPr spcFirstLastPara="1" wrap="square" lIns="90000" tIns="45000" rIns="90000" bIns="45000" anchor="t" anchorCtr="0">
            <a:spAutoFit/>
          </a:bodyPr>
          <a:lstStyle/>
          <a:p>
            <a:r>
              <a:rPr lang="en-IN" sz="1600" b="1" dirty="0"/>
              <a:t>Key Tools:</a:t>
            </a:r>
            <a:endParaRPr lang="en-IN" sz="1600" dirty="0"/>
          </a:p>
          <a:p>
            <a:pPr marL="285750" indent="-285750">
              <a:buFont typeface="Arial" panose="020B0604020202020204" pitchFamily="34" charset="0"/>
              <a:buChar char="•"/>
            </a:pPr>
            <a:r>
              <a:rPr lang="en-IN" sz="1600" b="1" dirty="0"/>
              <a:t>Cloud Build:</a:t>
            </a:r>
            <a:r>
              <a:rPr lang="en-IN" sz="1600" dirty="0"/>
              <a:t> Automates build, test, and deployment workflows.</a:t>
            </a:r>
          </a:p>
          <a:p>
            <a:pPr marL="285750" indent="-285750">
              <a:buFont typeface="Arial" panose="020B0604020202020204" pitchFamily="34" charset="0"/>
              <a:buChar char="•"/>
            </a:pPr>
            <a:r>
              <a:rPr lang="en-IN" sz="1600" b="1" dirty="0"/>
              <a:t>Cloud Source Repositories:</a:t>
            </a:r>
            <a:r>
              <a:rPr lang="en-IN" sz="1600" dirty="0"/>
              <a:t> Managed Git repositories for seamless source code management.</a:t>
            </a:r>
          </a:p>
          <a:p>
            <a:pPr marL="285750" indent="-285750">
              <a:buFont typeface="Arial" panose="020B0604020202020204" pitchFamily="34" charset="0"/>
              <a:buChar char="•"/>
            </a:pPr>
            <a:r>
              <a:rPr lang="en-IN" sz="1600" b="1" dirty="0"/>
              <a:t>Artifact Registry:</a:t>
            </a:r>
            <a:r>
              <a:rPr lang="en-IN" sz="1600" dirty="0"/>
              <a:t> Centralized storage for build artifacts like container images, Maven packages, etc. </a:t>
            </a:r>
          </a:p>
          <a:p>
            <a:endParaRPr lang="en-IN" sz="1600" b="1" dirty="0"/>
          </a:p>
          <a:p>
            <a:r>
              <a:rPr lang="en-IN" sz="1600" b="1" dirty="0"/>
              <a:t>How They Work Together:</a:t>
            </a:r>
            <a:endParaRPr lang="en-IN" sz="1600" dirty="0"/>
          </a:p>
          <a:p>
            <a:pPr marL="285750" indent="-285750">
              <a:buFont typeface="Arial" panose="020B0604020202020204" pitchFamily="34" charset="0"/>
              <a:buChar char="•"/>
            </a:pPr>
            <a:r>
              <a:rPr lang="en-IN" sz="1600" dirty="0"/>
              <a:t>Cloud Source Repositories stores code.</a:t>
            </a:r>
          </a:p>
          <a:p>
            <a:pPr marL="285750" indent="-285750">
              <a:buFont typeface="Arial" panose="020B0604020202020204" pitchFamily="34" charset="0"/>
              <a:buChar char="•"/>
            </a:pPr>
            <a:r>
              <a:rPr lang="en-IN" sz="1600" dirty="0"/>
              <a:t>Cloud Build automates CI/CD pipelines.</a:t>
            </a:r>
          </a:p>
          <a:p>
            <a:pPr marL="285750" indent="-285750">
              <a:buFont typeface="Arial" panose="020B0604020202020204" pitchFamily="34" charset="0"/>
              <a:buChar char="•"/>
            </a:pPr>
            <a:r>
              <a:rPr lang="en-IN" sz="1600" dirty="0"/>
              <a:t>Artifact Registry stores and manages build outputs.</a:t>
            </a:r>
          </a:p>
        </p:txBody>
      </p:sp>
    </p:spTree>
    <p:extLst>
      <p:ext uri="{BB962C8B-B14F-4D97-AF65-F5344CB8AC3E}">
        <p14:creationId xmlns:p14="http://schemas.microsoft.com/office/powerpoint/2010/main" val="3301735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30A52-7A05-03BA-0680-96F8C4CEE66C}"/>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B04537D6-427D-813F-6686-B96321A49CD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EA72ABC4-8682-1314-CE71-3B0BC863187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8880BAFF-7BE5-385C-C3FF-08BD515FA69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276F3F0E-F4BF-01D4-41FF-E9DF34B70CA7}"/>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BCF70F8D-35D0-8631-77DA-D1EF8BDE53EB}"/>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7F111C0-B920-A366-19FB-C3996E160DA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C1D1313-65A4-9AA1-7A52-058E3F9502B7}"/>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1140;p26">
            <a:extLst>
              <a:ext uri="{FF2B5EF4-FFF2-40B4-BE49-F238E27FC236}">
                <a16:creationId xmlns:a16="http://schemas.microsoft.com/office/drawing/2014/main" id="{3DB331BB-AC0E-06A9-3B7A-A9D234D945E7}"/>
              </a:ext>
            </a:extLst>
          </p:cNvPr>
          <p:cNvSpPr/>
          <p:nvPr/>
        </p:nvSpPr>
        <p:spPr>
          <a:xfrm>
            <a:off x="2243958" y="1370730"/>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Introduction to Cloud Build</a:t>
            </a:r>
          </a:p>
        </p:txBody>
      </p:sp>
      <p:sp>
        <p:nvSpPr>
          <p:cNvPr id="11" name="Google Shape;1142;p26">
            <a:extLst>
              <a:ext uri="{FF2B5EF4-FFF2-40B4-BE49-F238E27FC236}">
                <a16:creationId xmlns:a16="http://schemas.microsoft.com/office/drawing/2014/main" id="{76173493-0069-7552-C13A-CF0C00BC9011}"/>
              </a:ext>
            </a:extLst>
          </p:cNvPr>
          <p:cNvSpPr/>
          <p:nvPr/>
        </p:nvSpPr>
        <p:spPr>
          <a:xfrm>
            <a:off x="603720" y="2464848"/>
            <a:ext cx="10654598" cy="1814428"/>
          </a:xfrm>
          <a:prstGeom prst="rect">
            <a:avLst/>
          </a:prstGeom>
          <a:noFill/>
          <a:ln>
            <a:noFill/>
          </a:ln>
        </p:spPr>
        <p:txBody>
          <a:bodyPr spcFirstLastPara="1" wrap="square" lIns="90000" tIns="45000" rIns="90000" bIns="45000" anchor="t" anchorCtr="0">
            <a:spAutoFit/>
          </a:bodyPr>
          <a:lstStyle/>
          <a:p>
            <a:r>
              <a:rPr lang="en-US" sz="1600" b="1" dirty="0"/>
              <a:t>What is Cloud Build?</a:t>
            </a:r>
          </a:p>
          <a:p>
            <a:r>
              <a:rPr lang="en-US" sz="1600" dirty="0"/>
              <a:t>Serverless CI/CD platform for automating builds and deployments.</a:t>
            </a:r>
          </a:p>
          <a:p>
            <a:endParaRPr lang="en-US" sz="1600" dirty="0"/>
          </a:p>
          <a:p>
            <a:r>
              <a:rPr lang="en-US" sz="1600" b="1" dirty="0"/>
              <a:t>Key Features:</a:t>
            </a:r>
          </a:p>
          <a:p>
            <a:pPr marL="285750" indent="-285750">
              <a:buFont typeface="Arial" panose="020B0604020202020204" pitchFamily="34" charset="0"/>
              <a:buChar char="•"/>
            </a:pPr>
            <a:r>
              <a:rPr lang="en-US" sz="1600" b="1" dirty="0"/>
              <a:t>Multi-Environment Support:</a:t>
            </a:r>
            <a:r>
              <a:rPr lang="en-US" sz="1600" dirty="0"/>
              <a:t> Works with Docker, Maven, Gradle, and more.</a:t>
            </a:r>
          </a:p>
          <a:p>
            <a:pPr marL="285750" indent="-285750">
              <a:buFont typeface="Arial" panose="020B0604020202020204" pitchFamily="34" charset="0"/>
              <a:buChar char="•"/>
            </a:pPr>
            <a:r>
              <a:rPr lang="en-US" sz="1600" b="1" dirty="0"/>
              <a:t>Custom Build Steps:</a:t>
            </a:r>
            <a:r>
              <a:rPr lang="en-US" sz="1600" dirty="0"/>
              <a:t> Define workflows using YAML configuration files.</a:t>
            </a:r>
          </a:p>
          <a:p>
            <a:pPr marL="285750" indent="-285750">
              <a:buFont typeface="Arial" panose="020B0604020202020204" pitchFamily="34" charset="0"/>
              <a:buChar char="•"/>
            </a:pPr>
            <a:r>
              <a:rPr lang="en-US" sz="1600" b="1" dirty="0"/>
              <a:t>Integration:</a:t>
            </a:r>
            <a:r>
              <a:rPr lang="en-US" sz="1600" dirty="0"/>
              <a:t> Compatible with GCP services and third-party tools.</a:t>
            </a:r>
          </a:p>
        </p:txBody>
      </p:sp>
    </p:spTree>
    <p:extLst>
      <p:ext uri="{BB962C8B-B14F-4D97-AF65-F5344CB8AC3E}">
        <p14:creationId xmlns:p14="http://schemas.microsoft.com/office/powerpoint/2010/main" val="3505451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44F50-74B0-A42D-DD96-18D4C74DF380}"/>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B1F2727A-3544-8D58-2CB9-0F4E156438A7}"/>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AFABC747-8813-473A-0540-187CDAD25EA5}"/>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41207A31-9FB8-671C-0F2D-96C26FFDD7F2}"/>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A3C0586-F65B-ACF6-F48A-44EBC3A8B65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51319284-DB9F-8A02-823F-A22D2059A30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492FD205-B2F1-16FE-F732-151D86122446}"/>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53E7B42-13E9-75DF-7FDC-5322EAE4436F}"/>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1140;p26">
            <a:extLst>
              <a:ext uri="{FF2B5EF4-FFF2-40B4-BE49-F238E27FC236}">
                <a16:creationId xmlns:a16="http://schemas.microsoft.com/office/drawing/2014/main" id="{AB443A04-7EC3-14C4-87D4-FD320DB9C28A}"/>
              </a:ext>
            </a:extLst>
          </p:cNvPr>
          <p:cNvSpPr/>
          <p:nvPr/>
        </p:nvSpPr>
        <p:spPr>
          <a:xfrm>
            <a:off x="2243958" y="1370730"/>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Introduction to Cloud Build</a:t>
            </a:r>
          </a:p>
        </p:txBody>
      </p:sp>
      <p:sp>
        <p:nvSpPr>
          <p:cNvPr id="11" name="Google Shape;1142;p26">
            <a:extLst>
              <a:ext uri="{FF2B5EF4-FFF2-40B4-BE49-F238E27FC236}">
                <a16:creationId xmlns:a16="http://schemas.microsoft.com/office/drawing/2014/main" id="{1267C8FB-6462-3AF8-1310-8C5C940C6DC3}"/>
              </a:ext>
            </a:extLst>
          </p:cNvPr>
          <p:cNvSpPr/>
          <p:nvPr/>
        </p:nvSpPr>
        <p:spPr>
          <a:xfrm>
            <a:off x="603720" y="2464848"/>
            <a:ext cx="10654598" cy="1814428"/>
          </a:xfrm>
          <a:prstGeom prst="rect">
            <a:avLst/>
          </a:prstGeom>
          <a:noFill/>
          <a:ln>
            <a:noFill/>
          </a:ln>
        </p:spPr>
        <p:txBody>
          <a:bodyPr spcFirstLastPara="1" wrap="square" lIns="90000" tIns="45000" rIns="90000" bIns="45000" anchor="t" anchorCtr="0">
            <a:spAutoFit/>
          </a:bodyPr>
          <a:lstStyle/>
          <a:p>
            <a:r>
              <a:rPr lang="en-US" sz="1600" b="1" dirty="0"/>
              <a:t>What is Cloud Build?</a:t>
            </a:r>
          </a:p>
          <a:p>
            <a:r>
              <a:rPr lang="en-US" sz="1600" dirty="0"/>
              <a:t>Serverless CI/CD platform for automating builds and deployments.</a:t>
            </a:r>
          </a:p>
          <a:p>
            <a:endParaRPr lang="en-US" sz="1600" dirty="0"/>
          </a:p>
          <a:p>
            <a:r>
              <a:rPr lang="en-US" sz="1600" b="1" dirty="0"/>
              <a:t>Key Features:</a:t>
            </a:r>
          </a:p>
          <a:p>
            <a:pPr marL="285750" indent="-285750">
              <a:buFont typeface="Arial" panose="020B0604020202020204" pitchFamily="34" charset="0"/>
              <a:buChar char="•"/>
            </a:pPr>
            <a:r>
              <a:rPr lang="en-US" sz="1600" b="1" dirty="0"/>
              <a:t>Multi-Environment Support:</a:t>
            </a:r>
            <a:r>
              <a:rPr lang="en-US" sz="1600" dirty="0"/>
              <a:t> Works with Docker, Maven, Gradle, and more.</a:t>
            </a:r>
          </a:p>
          <a:p>
            <a:pPr marL="285750" indent="-285750">
              <a:buFont typeface="Arial" panose="020B0604020202020204" pitchFamily="34" charset="0"/>
              <a:buChar char="•"/>
            </a:pPr>
            <a:r>
              <a:rPr lang="en-US" sz="1600" b="1" dirty="0"/>
              <a:t>Custom Build Steps:</a:t>
            </a:r>
            <a:r>
              <a:rPr lang="en-US" sz="1600" dirty="0"/>
              <a:t> Define workflows using YAML configuration files.</a:t>
            </a:r>
          </a:p>
          <a:p>
            <a:pPr marL="285750" indent="-285750">
              <a:buFont typeface="Arial" panose="020B0604020202020204" pitchFamily="34" charset="0"/>
              <a:buChar char="•"/>
            </a:pPr>
            <a:r>
              <a:rPr lang="en-US" sz="1600" b="1" dirty="0"/>
              <a:t>Integration:</a:t>
            </a:r>
            <a:r>
              <a:rPr lang="en-US" sz="1600" dirty="0"/>
              <a:t> Compatible with GCP services and third-party tools.</a:t>
            </a:r>
          </a:p>
        </p:txBody>
      </p:sp>
    </p:spTree>
    <p:extLst>
      <p:ext uri="{BB962C8B-B14F-4D97-AF65-F5344CB8AC3E}">
        <p14:creationId xmlns:p14="http://schemas.microsoft.com/office/powerpoint/2010/main" val="879589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8A940-F53A-3354-029D-8FBDFC817A14}"/>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05417340-968C-FB83-11A9-9E96CC5A9353}"/>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6AB81B56-2141-18C8-0EF2-CFA7C55E1213}"/>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FCBC7547-54E7-0356-9C6E-0DFCA2D0B10D}"/>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B8B50BE-981E-3DEB-8C6A-9ED5EC9908D3}"/>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8F1577BC-D014-A3C1-0DE0-E86B11E32DB5}"/>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C793DA53-8FD2-A1B6-D32F-5325DEA629FA}"/>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E975E696-9C60-26E0-025A-8AFFEFCD003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1140;p26">
            <a:extLst>
              <a:ext uri="{FF2B5EF4-FFF2-40B4-BE49-F238E27FC236}">
                <a16:creationId xmlns:a16="http://schemas.microsoft.com/office/drawing/2014/main" id="{3A6DE957-9DE9-A75A-DF74-C8A0FEF9DCAE}"/>
              </a:ext>
            </a:extLst>
          </p:cNvPr>
          <p:cNvSpPr/>
          <p:nvPr/>
        </p:nvSpPr>
        <p:spPr>
          <a:xfrm>
            <a:off x="2243958" y="1370730"/>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Features of Cloud Build</a:t>
            </a:r>
          </a:p>
        </p:txBody>
      </p:sp>
      <p:sp>
        <p:nvSpPr>
          <p:cNvPr id="11" name="Google Shape;1142;p26">
            <a:extLst>
              <a:ext uri="{FF2B5EF4-FFF2-40B4-BE49-F238E27FC236}">
                <a16:creationId xmlns:a16="http://schemas.microsoft.com/office/drawing/2014/main" id="{B77954A8-9C0D-2118-8E6F-9BFE16879CCF}"/>
              </a:ext>
            </a:extLst>
          </p:cNvPr>
          <p:cNvSpPr/>
          <p:nvPr/>
        </p:nvSpPr>
        <p:spPr>
          <a:xfrm>
            <a:off x="603720" y="2464848"/>
            <a:ext cx="10654598" cy="2553091"/>
          </a:xfrm>
          <a:prstGeom prst="rect">
            <a:avLst/>
          </a:prstGeom>
          <a:noFill/>
          <a:ln>
            <a:noFill/>
          </a:ln>
        </p:spPr>
        <p:txBody>
          <a:bodyPr spcFirstLastPara="1" wrap="square" lIns="90000" tIns="45000" rIns="90000" bIns="45000" anchor="t" anchorCtr="0">
            <a:spAutoFit/>
          </a:bodyPr>
          <a:lstStyle/>
          <a:p>
            <a:r>
              <a:rPr lang="en-US" sz="1600" b="1" dirty="0"/>
              <a:t>Core Capabilities:</a:t>
            </a:r>
          </a:p>
          <a:p>
            <a:pPr marL="342900" indent="-342900">
              <a:buFont typeface="+mj-lt"/>
              <a:buAutoNum type="arabicPeriod"/>
            </a:pPr>
            <a:r>
              <a:rPr lang="en-US" sz="1600" b="1" dirty="0"/>
              <a:t>Automated Builds:</a:t>
            </a:r>
            <a:r>
              <a:rPr lang="en-US" sz="1600" dirty="0"/>
              <a:t> Reproducible builds directly from source code.</a:t>
            </a:r>
          </a:p>
          <a:p>
            <a:pPr marL="342900" indent="-342900">
              <a:buFont typeface="+mj-lt"/>
              <a:buAutoNum type="arabicPeriod"/>
            </a:pPr>
            <a:r>
              <a:rPr lang="en-US" sz="1600" b="1" dirty="0"/>
              <a:t>Testing Code:</a:t>
            </a:r>
            <a:r>
              <a:rPr lang="en-US" sz="1600" dirty="0"/>
              <a:t> Run unit tests and integration tests as part of the build process.</a:t>
            </a:r>
          </a:p>
          <a:p>
            <a:pPr marL="342900" indent="-342900">
              <a:buFont typeface="+mj-lt"/>
              <a:buAutoNum type="arabicPeriod"/>
            </a:pPr>
            <a:r>
              <a:rPr lang="en-US" sz="1600" b="1" dirty="0"/>
              <a:t>Deployment:</a:t>
            </a:r>
            <a:r>
              <a:rPr lang="en-US" sz="1600" dirty="0"/>
              <a:t> Automates deployment to App Engine, Kubernetes, and other GCP services.</a:t>
            </a:r>
          </a:p>
          <a:p>
            <a:endParaRPr lang="en-US" sz="1600" b="1" dirty="0"/>
          </a:p>
          <a:p>
            <a:r>
              <a:rPr lang="en-US" sz="1600" b="1" dirty="0"/>
              <a:t>Benefits:</a:t>
            </a:r>
          </a:p>
          <a:p>
            <a:pPr marL="285750" indent="-285750">
              <a:buFont typeface="Arial" panose="020B0604020202020204" pitchFamily="34" charset="0"/>
              <a:buChar char="•"/>
            </a:pPr>
            <a:r>
              <a:rPr lang="en-US" sz="1600" dirty="0"/>
              <a:t>Increases speed and reliability of development workflows.</a:t>
            </a:r>
          </a:p>
          <a:p>
            <a:pPr marL="285750" indent="-285750">
              <a:buFont typeface="Arial" panose="020B0604020202020204" pitchFamily="34" charset="0"/>
              <a:buChar char="•"/>
            </a:pPr>
            <a:r>
              <a:rPr lang="en-US" sz="1600" dirty="0"/>
              <a:t>Scales to handle large projects with minimal configuration.</a:t>
            </a:r>
          </a:p>
          <a:p>
            <a:pPr marL="285750" indent="-285750">
              <a:buFont typeface="Arial" panose="020B0604020202020204" pitchFamily="34" charset="0"/>
              <a:buChar char="•"/>
            </a:pPr>
            <a:r>
              <a:rPr lang="en-US" sz="1600" dirty="0"/>
              <a:t>Reduces manual effort through automation.</a:t>
            </a:r>
          </a:p>
          <a:p>
            <a:endParaRPr lang="en-US" sz="1600" dirty="0"/>
          </a:p>
        </p:txBody>
      </p:sp>
    </p:spTree>
    <p:extLst>
      <p:ext uri="{BB962C8B-B14F-4D97-AF65-F5344CB8AC3E}">
        <p14:creationId xmlns:p14="http://schemas.microsoft.com/office/powerpoint/2010/main" val="129214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9E026-FC1B-9F8F-96D4-EB62B03C04BF}"/>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2B526AA7-77BA-D3C5-6A6A-CF1428351CD3}"/>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20F05F98-2558-DD5F-19A8-173FC4684E66}"/>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D9684A52-DF12-FC35-5B8F-BF752F1CE157}"/>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8F4FB9D-FA9C-E1CE-0B2C-A0CEF116FEC1}"/>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B15D26FF-D60C-920A-A691-C940E794173C}"/>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C2C37D3-4DFC-01B2-98A1-527479A4123D}"/>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34EF5133-08DA-8D8C-CC39-B91CF933A9C9}"/>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1140;p26">
            <a:extLst>
              <a:ext uri="{FF2B5EF4-FFF2-40B4-BE49-F238E27FC236}">
                <a16:creationId xmlns:a16="http://schemas.microsoft.com/office/drawing/2014/main" id="{D1B34B25-95CB-9564-87EA-6B411AF9A9DB}"/>
              </a:ext>
            </a:extLst>
          </p:cNvPr>
          <p:cNvSpPr/>
          <p:nvPr/>
        </p:nvSpPr>
        <p:spPr>
          <a:xfrm>
            <a:off x="3334980" y="3227760"/>
            <a:ext cx="5522040" cy="402480"/>
          </a:xfrm>
          <a:prstGeom prst="rect">
            <a:avLst/>
          </a:prstGeom>
          <a:no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Clr>
                <a:srgbClr val="000000"/>
              </a:buClr>
              <a:buSzPts val="2540"/>
              <a:buFont typeface="Arial"/>
              <a:buNone/>
            </a:pPr>
            <a:r>
              <a:rPr lang="en-US" sz="2540" b="0" i="0" u="none" strike="noStrike" cap="none" dirty="0">
                <a:latin typeface="Proxima Nova"/>
                <a:ea typeface="Proxima Nova"/>
                <a:cs typeface="Proxima Nova"/>
                <a:sym typeface="Proxima Nova"/>
              </a:rPr>
              <a:t>Hands-On: Configuring Cloud Build Pipeline</a:t>
            </a:r>
            <a:endParaRPr lang="en-GB" sz="2540" b="0" i="0" u="none" strike="noStrike" cap="none" dirty="0">
              <a:latin typeface="Proxima Nova"/>
              <a:ea typeface="Proxima Nova"/>
              <a:cs typeface="Proxima Nova"/>
              <a:sym typeface="Proxima Nova"/>
            </a:endParaRPr>
          </a:p>
        </p:txBody>
      </p:sp>
    </p:spTree>
    <p:extLst>
      <p:ext uri="{BB962C8B-B14F-4D97-AF65-F5344CB8AC3E}">
        <p14:creationId xmlns:p14="http://schemas.microsoft.com/office/powerpoint/2010/main" val="39646174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64;p28">
            <a:extLst>
              <a:ext uri="{FF2B5EF4-FFF2-40B4-BE49-F238E27FC236}">
                <a16:creationId xmlns:a16="http://schemas.microsoft.com/office/drawing/2014/main" id="{2B4C2F2F-27F8-77D4-92C7-A9D469795096}"/>
              </a:ext>
            </a:extLst>
          </p:cNvPr>
          <p:cNvSpPr/>
          <p:nvPr/>
        </p:nvSpPr>
        <p:spPr>
          <a:xfrm>
            <a:off x="2243958" y="1313424"/>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Artifact Repository</a:t>
            </a:r>
            <a:endParaRPr sz="2540" b="0" i="0" u="none" strike="noStrike" cap="none" dirty="0">
              <a:latin typeface="Arial"/>
              <a:ea typeface="Arial"/>
              <a:cs typeface="Arial"/>
              <a:sym typeface="Arial"/>
            </a:endParaRPr>
          </a:p>
        </p:txBody>
      </p:sp>
      <p:sp>
        <p:nvSpPr>
          <p:cNvPr id="11" name="Google Shape;1166;p28">
            <a:extLst>
              <a:ext uri="{FF2B5EF4-FFF2-40B4-BE49-F238E27FC236}">
                <a16:creationId xmlns:a16="http://schemas.microsoft.com/office/drawing/2014/main" id="{E19F44D9-8566-DDF9-B7DE-0F9338B77CBB}"/>
              </a:ext>
            </a:extLst>
          </p:cNvPr>
          <p:cNvSpPr/>
          <p:nvPr/>
        </p:nvSpPr>
        <p:spPr>
          <a:xfrm>
            <a:off x="1785467" y="2188801"/>
            <a:ext cx="9107568" cy="3784198"/>
          </a:xfrm>
          <a:prstGeom prst="rect">
            <a:avLst/>
          </a:prstGeom>
          <a:noFill/>
          <a:ln>
            <a:noFill/>
          </a:ln>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One of the main objective of a fully integrated CI system is to generate the bundled software artifacts with the latest code changes and make it available for Continuous Delivery or Continuous Deployment pipelines</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For this purpose, we generally need an </a:t>
            </a:r>
            <a:r>
              <a:rPr lang="en-GB" sz="1600" b="1" i="1" u="none" strike="noStrike" cap="none" dirty="0">
                <a:solidFill>
                  <a:srgbClr val="000000"/>
                </a:solidFill>
                <a:latin typeface="Arial"/>
                <a:ea typeface="Arial"/>
                <a:cs typeface="Arial"/>
                <a:sym typeface="Arial"/>
              </a:rPr>
              <a:t>Artifact Repository</a:t>
            </a:r>
            <a:r>
              <a:rPr lang="en-GB" sz="1600" b="0" i="0" u="none" strike="noStrike" cap="none" dirty="0">
                <a:solidFill>
                  <a:srgbClr val="000000"/>
                </a:solidFill>
                <a:latin typeface="Arial"/>
                <a:ea typeface="Arial"/>
                <a:cs typeface="Arial"/>
                <a:sym typeface="Arial"/>
              </a:rPr>
              <a:t> software, which typically acts as an output location for a CI workflow and an input location for a CD workflow</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An Artifact Repository is sometimes also referred to as </a:t>
            </a:r>
            <a:r>
              <a:rPr lang="en-GB" sz="1600" b="1" i="1" u="none" strike="noStrike" cap="none" dirty="0">
                <a:solidFill>
                  <a:srgbClr val="000000"/>
                </a:solidFill>
                <a:latin typeface="Arial"/>
                <a:ea typeface="Arial"/>
                <a:cs typeface="Arial"/>
                <a:sym typeface="Arial"/>
              </a:rPr>
              <a:t>Artifact Management </a:t>
            </a:r>
            <a:r>
              <a:rPr lang="en-GB" sz="1600" b="1" i="1"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4"/>
                  </a:ext>
                </a:extLst>
              </a:rPr>
              <a:t>Tools</a:t>
            </a:r>
            <a:r>
              <a:rPr lang="en-GB" sz="1600" b="1" i="1" u="none" strike="noStrike" cap="none" dirty="0">
                <a:solidFill>
                  <a:srgbClr val="000000"/>
                </a:solidFill>
                <a:latin typeface="Arial"/>
                <a:ea typeface="Arial"/>
                <a:cs typeface="Arial"/>
                <a:sym typeface="Arial"/>
              </a:rPr>
              <a:t>.</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5"/>
                </a:ext>
              </a:extLst>
            </a:endParaRPr>
          </a:p>
          <a:p>
            <a:pPr marL="0" marR="0" lvl="0" indent="0" algn="just" rtl="0">
              <a:lnSpc>
                <a:spcPct val="15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6"/>
                  </a:ext>
                </a:extLst>
              </a:rPr>
              <a:t>Artifact repositories make:</a:t>
            </a:r>
            <a:endParaRPr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7"/>
                </a:ext>
              </a:extLst>
            </a:endParaRPr>
          </a:p>
          <a:p>
            <a:pPr marL="285840" marR="0" lvl="2"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8"/>
                  </a:ext>
                </a:extLst>
              </a:rPr>
              <a:t>Dependency management easier</a:t>
            </a:r>
            <a:endParaRPr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9"/>
                </a:ext>
              </a:extLst>
            </a:endParaRPr>
          </a:p>
          <a:p>
            <a:pPr marL="285840" marR="0" lvl="2"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0"/>
                  </a:ext>
                </a:extLst>
              </a:rPr>
              <a:t>Releases more stable</a:t>
            </a:r>
            <a:endParaRPr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1"/>
                </a:ext>
              </a:extLst>
            </a:endParaRPr>
          </a:p>
          <a:p>
            <a:pPr marL="285840" marR="0" lvl="2"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2"/>
                  </a:ext>
                </a:extLst>
              </a:rPr>
              <a:t>Audit easier and more feasible</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85849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71;p29">
            <a:extLst>
              <a:ext uri="{FF2B5EF4-FFF2-40B4-BE49-F238E27FC236}">
                <a16:creationId xmlns:a16="http://schemas.microsoft.com/office/drawing/2014/main" id="{08003C69-026E-7887-E467-20BF372E3E19}"/>
              </a:ext>
            </a:extLst>
          </p:cNvPr>
          <p:cNvSpPr/>
          <p:nvPr/>
        </p:nvSpPr>
        <p:spPr>
          <a:xfrm>
            <a:off x="1611216" y="1299334"/>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Popular Artifact Repositories</a:t>
            </a:r>
            <a:endParaRPr sz="2540" b="0" i="0" u="none" strike="noStrike" cap="none" dirty="0">
              <a:latin typeface="Arial"/>
              <a:ea typeface="Arial"/>
              <a:cs typeface="Arial"/>
              <a:sym typeface="Arial"/>
            </a:endParaRPr>
          </a:p>
        </p:txBody>
      </p:sp>
      <p:sp>
        <p:nvSpPr>
          <p:cNvPr id="11" name="Google Shape;1173;p29">
            <a:extLst>
              <a:ext uri="{FF2B5EF4-FFF2-40B4-BE49-F238E27FC236}">
                <a16:creationId xmlns:a16="http://schemas.microsoft.com/office/drawing/2014/main" id="{6CFE0028-99B2-0BD4-D4CB-3762F3DBD915}"/>
              </a:ext>
            </a:extLst>
          </p:cNvPr>
          <p:cNvSpPr/>
          <p:nvPr/>
        </p:nvSpPr>
        <p:spPr>
          <a:xfrm>
            <a:off x="1064186" y="2325739"/>
            <a:ext cx="3388200" cy="2060649"/>
          </a:xfrm>
          <a:prstGeom prst="rect">
            <a:avLst/>
          </a:prstGeom>
          <a:noFill/>
          <a:ln>
            <a:noFill/>
          </a:ln>
        </p:spPr>
        <p:txBody>
          <a:bodyPr spcFirstLastPara="1" wrap="square" lIns="90000" tIns="45000" rIns="90000" bIns="45000" anchor="t" anchorCtr="0">
            <a:spAutoFit/>
          </a:bodyPr>
          <a:lstStyle/>
          <a:p>
            <a:pPr marL="457200" marR="0" lvl="0" indent="-317500" algn="just" rtl="0">
              <a:lnSpc>
                <a:spcPct val="200000"/>
              </a:lnSpc>
              <a:spcBef>
                <a:spcPts val="0"/>
              </a:spcBef>
              <a:spcAft>
                <a:spcPts val="0"/>
              </a:spcAft>
              <a:buClr>
                <a:srgbClr val="000000"/>
              </a:buClr>
              <a:buSzPts val="1400"/>
              <a:buFont typeface="Noto Sans Symbols"/>
              <a:buChar char="▪"/>
            </a:pPr>
            <a:r>
              <a:rPr lang="en-GB" sz="1600" b="1" i="0" u="none" strike="noStrike" cap="none" dirty="0" err="1">
                <a:solidFill>
                  <a:srgbClr val="203864"/>
                </a:solidFill>
                <a:latin typeface="Arial"/>
                <a:ea typeface="Arial"/>
                <a:cs typeface="Arial"/>
                <a:sym typeface="Arial"/>
              </a:rPr>
              <a:t>Sonatype</a:t>
            </a:r>
            <a:r>
              <a:rPr lang="en-GB" sz="1600" b="1" i="0" u="none" strike="noStrike" cap="none" dirty="0">
                <a:solidFill>
                  <a:srgbClr val="203864"/>
                </a:solidFill>
                <a:latin typeface="Arial"/>
                <a:ea typeface="Arial"/>
                <a:cs typeface="Arial"/>
                <a:sym typeface="Arial"/>
              </a:rPr>
              <a:t> Nexus</a:t>
            </a:r>
            <a:endParaRPr sz="1600" b="1" i="0" u="none" strike="noStrike" cap="none" dirty="0">
              <a:solidFill>
                <a:srgbClr val="203864"/>
              </a:solidFill>
              <a:latin typeface="Arial"/>
              <a:ea typeface="Arial"/>
              <a:cs typeface="Arial"/>
              <a:sym typeface="Arial"/>
            </a:endParaRPr>
          </a:p>
          <a:p>
            <a:pPr marL="457200" marR="0" lvl="0" indent="-317500" algn="just" rtl="0">
              <a:lnSpc>
                <a:spcPct val="200000"/>
              </a:lnSpc>
              <a:spcBef>
                <a:spcPts val="0"/>
              </a:spcBef>
              <a:spcAft>
                <a:spcPts val="0"/>
              </a:spcAft>
              <a:buClr>
                <a:srgbClr val="000000"/>
              </a:buClr>
              <a:buSzPts val="1400"/>
              <a:buFont typeface="Noto Sans Symbols"/>
              <a:buChar char="▪"/>
            </a:pPr>
            <a:r>
              <a:rPr lang="en-GB" sz="1600" b="1" i="0" u="none" strike="noStrike" cap="none" dirty="0" err="1">
                <a:solidFill>
                  <a:srgbClr val="203864"/>
                </a:solidFill>
                <a:latin typeface="Arial"/>
                <a:ea typeface="Arial"/>
                <a:cs typeface="Arial"/>
                <a:sym typeface="Arial"/>
              </a:rPr>
              <a:t>Jfrog</a:t>
            </a:r>
            <a:r>
              <a:rPr lang="en-GB" sz="1600" b="1" i="0" u="none" strike="noStrike" cap="none" dirty="0">
                <a:solidFill>
                  <a:srgbClr val="203864"/>
                </a:solidFill>
                <a:latin typeface="Arial"/>
                <a:ea typeface="Arial"/>
                <a:cs typeface="Arial"/>
                <a:sym typeface="Arial"/>
              </a:rPr>
              <a:t> Artifactory</a:t>
            </a:r>
            <a:endParaRPr sz="1600" b="0" i="0" u="none" strike="noStrike" cap="none" dirty="0">
              <a:solidFill>
                <a:srgbClr val="000000"/>
              </a:solidFill>
              <a:latin typeface="Arial"/>
              <a:ea typeface="Arial"/>
              <a:cs typeface="Arial"/>
              <a:sym typeface="Arial"/>
            </a:endParaRPr>
          </a:p>
          <a:p>
            <a:pPr marL="457200" marR="0" lvl="0" indent="-317500" algn="just" rtl="0">
              <a:lnSpc>
                <a:spcPct val="200000"/>
              </a:lnSpc>
              <a:spcBef>
                <a:spcPts val="0"/>
              </a:spcBef>
              <a:spcAft>
                <a:spcPts val="0"/>
              </a:spcAft>
              <a:buClr>
                <a:srgbClr val="000000"/>
              </a:buClr>
              <a:buSzPts val="1400"/>
              <a:buFont typeface="Noto Sans Symbols"/>
              <a:buChar char="▪"/>
            </a:pPr>
            <a:r>
              <a:rPr lang="en-GB" sz="1600" b="1" i="0" u="none" strike="noStrike" cap="none" dirty="0">
                <a:solidFill>
                  <a:srgbClr val="203864"/>
                </a:solidFill>
                <a:latin typeface="Arial"/>
                <a:ea typeface="Arial"/>
                <a:cs typeface="Arial"/>
                <a:sym typeface="Arial"/>
              </a:rPr>
              <a:t>Maven Artifact Repository</a:t>
            </a:r>
            <a:endParaRPr sz="1600" b="0" i="0" u="none" strike="noStrike" cap="none" dirty="0">
              <a:solidFill>
                <a:srgbClr val="000000"/>
              </a:solidFill>
              <a:latin typeface="Arial"/>
              <a:ea typeface="Arial"/>
              <a:cs typeface="Arial"/>
              <a:sym typeface="Arial"/>
            </a:endParaRPr>
          </a:p>
          <a:p>
            <a:pPr marL="457200" marR="0" lvl="0" indent="-317500" algn="just" rtl="0">
              <a:lnSpc>
                <a:spcPct val="200000"/>
              </a:lnSpc>
              <a:spcBef>
                <a:spcPts val="0"/>
              </a:spcBef>
              <a:spcAft>
                <a:spcPts val="0"/>
              </a:spcAft>
              <a:buClr>
                <a:srgbClr val="000000"/>
              </a:buClr>
              <a:buSzPts val="1400"/>
              <a:buFont typeface="Noto Sans Symbols"/>
              <a:buChar char="▪"/>
            </a:pPr>
            <a:r>
              <a:rPr lang="en-GB" sz="1600" b="1" i="0" u="none" strike="noStrike" cap="none" dirty="0">
                <a:solidFill>
                  <a:srgbClr val="203864"/>
                </a:solidFill>
                <a:latin typeface="Arial"/>
                <a:ea typeface="Arial"/>
                <a:cs typeface="Arial"/>
                <a:sym typeface="Arial"/>
              </a:rPr>
              <a:t>Apache </a:t>
            </a:r>
            <a:r>
              <a:rPr lang="en-GB" sz="1600" b="1" i="0" u="none" strike="noStrike" cap="none" dirty="0" err="1">
                <a:solidFill>
                  <a:srgbClr val="203864"/>
                </a:solidFill>
                <a:latin typeface="Arial"/>
                <a:ea typeface="Arial"/>
                <a:cs typeface="Arial"/>
                <a:sym typeface="Arial"/>
              </a:rPr>
              <a:t>Archiva</a:t>
            </a:r>
            <a:endParaRPr sz="1600" b="0" i="0" u="none" strike="noStrike" cap="none" dirty="0">
              <a:solidFill>
                <a:srgbClr val="000000"/>
              </a:solidFill>
              <a:latin typeface="Arial"/>
              <a:ea typeface="Arial"/>
              <a:cs typeface="Arial"/>
              <a:sym typeface="Arial"/>
            </a:endParaRPr>
          </a:p>
        </p:txBody>
      </p:sp>
      <p:pic>
        <p:nvPicPr>
          <p:cNvPr id="12" name="Google Shape;1174;p29">
            <a:extLst>
              <a:ext uri="{FF2B5EF4-FFF2-40B4-BE49-F238E27FC236}">
                <a16:creationId xmlns:a16="http://schemas.microsoft.com/office/drawing/2014/main" id="{FD919E5D-D609-A81D-9EE2-58FFEB3505B6}"/>
              </a:ext>
            </a:extLst>
          </p:cNvPr>
          <p:cNvPicPr preferRelativeResize="0"/>
          <p:nvPr/>
        </p:nvPicPr>
        <p:blipFill rotWithShape="1">
          <a:blip r:embed="rId6">
            <a:alphaModFix/>
          </a:blip>
          <a:srcRect/>
          <a:stretch/>
        </p:blipFill>
        <p:spPr>
          <a:xfrm>
            <a:off x="5548701" y="2041904"/>
            <a:ext cx="5911398" cy="3781299"/>
          </a:xfrm>
          <a:prstGeom prst="rect">
            <a:avLst/>
          </a:prstGeom>
          <a:noFill/>
          <a:ln>
            <a:noFill/>
          </a:ln>
        </p:spPr>
      </p:pic>
    </p:spTree>
    <p:extLst>
      <p:ext uri="{BB962C8B-B14F-4D97-AF65-F5344CB8AC3E}">
        <p14:creationId xmlns:p14="http://schemas.microsoft.com/office/powerpoint/2010/main" val="2845644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8F676-843B-5E7E-C684-1B0AC0BF4665}"/>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0CAD0E82-0ADB-A2AA-B62D-E5F16F00F03C}"/>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53B27DA5-C6E4-6372-9C83-8E7BBF428590}"/>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AE178128-EEAC-0A1D-A6C4-7BBE5E0CF3E3}"/>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86D5EDE9-31A9-1429-EAD2-61E9B86C08A0}"/>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657C53EE-05F2-4466-0946-8DCA6DC7FAFF}"/>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10C0487B-44EF-7C94-4F62-1BF905A53C6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8E0755DD-C8F9-16E7-4A31-2C337B71388E}"/>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1140;p26">
            <a:extLst>
              <a:ext uri="{FF2B5EF4-FFF2-40B4-BE49-F238E27FC236}">
                <a16:creationId xmlns:a16="http://schemas.microsoft.com/office/drawing/2014/main" id="{BD0038F0-2E08-89D8-720E-DB59D48ACA95}"/>
              </a:ext>
            </a:extLst>
          </p:cNvPr>
          <p:cNvSpPr/>
          <p:nvPr/>
        </p:nvSpPr>
        <p:spPr>
          <a:xfrm>
            <a:off x="3334980" y="3227760"/>
            <a:ext cx="5522040" cy="402480"/>
          </a:xfrm>
          <a:prstGeom prst="rect">
            <a:avLst/>
          </a:prstGeom>
          <a:no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Clr>
                <a:srgbClr val="000000"/>
              </a:buClr>
              <a:buSzPts val="2540"/>
              <a:buFont typeface="Arial"/>
              <a:buNone/>
            </a:pPr>
            <a:r>
              <a:rPr lang="en-US" sz="2540" b="0" i="0" u="none" strike="noStrike" cap="none" dirty="0">
                <a:latin typeface="Proxima Nova"/>
                <a:ea typeface="Proxima Nova"/>
                <a:cs typeface="Proxima Nova"/>
                <a:sym typeface="Proxima Nova"/>
              </a:rPr>
              <a:t>Hands-On: Setting Up Artifact Registry</a:t>
            </a:r>
            <a:endParaRPr lang="en-GB" sz="2540" b="0" i="0" u="none" strike="noStrike" cap="none" dirty="0">
              <a:latin typeface="Proxima Nova"/>
              <a:ea typeface="Proxima Nova"/>
              <a:cs typeface="Proxima Nova"/>
              <a:sym typeface="Proxima Nova"/>
            </a:endParaRPr>
          </a:p>
        </p:txBody>
      </p:sp>
    </p:spTree>
    <p:extLst>
      <p:ext uri="{BB962C8B-B14F-4D97-AF65-F5344CB8AC3E}">
        <p14:creationId xmlns:p14="http://schemas.microsoft.com/office/powerpoint/2010/main" val="3870286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Thank You!</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31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1848</Words>
  <Application>Microsoft Office PowerPoint</Application>
  <PresentationFormat>Widescreen</PresentationFormat>
  <Paragraphs>242</Paragraphs>
  <Slides>31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Calibri Light</vt:lpstr>
      <vt:lpstr>Lato</vt:lpstr>
      <vt:lpstr>Noto Sans Symbols</vt:lpstr>
      <vt:lpstr>Proxima Nova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Janvi Jannet</dc:creator>
  <cp:lastModifiedBy>Syed Rumaan Pasha</cp:lastModifiedBy>
  <cp:revision>4</cp:revision>
  <dcterms:created xsi:type="dcterms:W3CDTF">2024-07-22T11:53:29Z</dcterms:created>
  <dcterms:modified xsi:type="dcterms:W3CDTF">2025-01-02T16:48:28Z</dcterms:modified>
</cp:coreProperties>
</file>