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901" r:id="rId3"/>
    <p:sldId id="931" r:id="rId4"/>
    <p:sldId id="932" r:id="rId5"/>
    <p:sldId id="933" r:id="rId6"/>
    <p:sldId id="934" r:id="rId7"/>
    <p:sldId id="920" r:id="rId8"/>
    <p:sldId id="935" r:id="rId9"/>
    <p:sldId id="936" r:id="rId10"/>
    <p:sldId id="937" r:id="rId11"/>
    <p:sldId id="938" r:id="rId12"/>
    <p:sldId id="939" r:id="rId13"/>
    <p:sldId id="940" r:id="rId14"/>
    <p:sldId id="941" r:id="rId15"/>
    <p:sldId id="942" r:id="rId16"/>
    <p:sldId id="943" r:id="rId17"/>
    <p:sldId id="5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020" autoAdjust="0"/>
  </p:normalViewPr>
  <p:slideViewPr>
    <p:cSldViewPr snapToGrid="0">
      <p:cViewPr varScale="1">
        <p:scale>
          <a:sx n="81" d="100"/>
          <a:sy n="81" d="100"/>
        </p:scale>
        <p:origin x="120"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5AF74-91AC-4F55-A191-D43536C32E06}" type="datetimeFigureOut">
              <a:rPr lang="en-US" smtClean="0"/>
              <a:t>12/20/2024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AC9CB-4C47-4782-AA14-455CA1E626BB}" type="slidenum">
              <a:rPr lang="en-US" smtClean="0"/>
              <a:t>‹#›</a:t>
            </a:fld>
            <a:endParaRPr lang="en-US"/>
          </a:p>
        </p:txBody>
      </p:sp>
    </p:spTree>
    <p:extLst>
      <p:ext uri="{BB962C8B-B14F-4D97-AF65-F5344CB8AC3E}">
        <p14:creationId xmlns:p14="http://schemas.microsoft.com/office/powerpoint/2010/main" val="3389861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84476-58C4-D251-A6D5-0BD69C9EA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502CB-2EDA-1798-BC90-F467C6264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F07F5-511F-2B37-B666-D8925490A474}"/>
              </a:ext>
            </a:extLst>
          </p:cNvPr>
          <p:cNvSpPr>
            <a:spLocks noGrp="1"/>
          </p:cNvSpPr>
          <p:nvPr>
            <p:ph type="body" idx="1"/>
          </p:nvPr>
        </p:nvSpPr>
        <p:spPr/>
        <p:txBody>
          <a:bodyPr/>
          <a:lstStyle/>
          <a:p>
            <a:r>
              <a:rPr lang="en-US" dirty="0"/>
              <a:t>Let’s start by understanding what Cloud Functions are. These are lightweight, single-purpose pieces of code that respond to specific triggers or events, such as an HTTP request or a database update. They run in a fully managed environment, so you don’t have to worry about maintaining servers.</a:t>
            </a:r>
            <a:br>
              <a:rPr lang="en-US" dirty="0"/>
            </a:br>
            <a:r>
              <a:rPr lang="en-US" dirty="0"/>
              <a:t>They’re incredibly helpful for reducing infrastructure costs, improving scalability, and simplifying development workflows, allowing developers to focus on writing code rather than managing resources.</a:t>
            </a:r>
          </a:p>
        </p:txBody>
      </p:sp>
      <p:sp>
        <p:nvSpPr>
          <p:cNvPr id="4" name="Slide Number Placeholder 3">
            <a:extLst>
              <a:ext uri="{FF2B5EF4-FFF2-40B4-BE49-F238E27FC236}">
                <a16:creationId xmlns:a16="http://schemas.microsoft.com/office/drawing/2014/main" id="{0BFD9CD8-C809-A641-507B-46DAD93DF3AD}"/>
              </a:ext>
            </a:extLst>
          </p:cNvPr>
          <p:cNvSpPr>
            <a:spLocks noGrp="1"/>
          </p:cNvSpPr>
          <p:nvPr>
            <p:ph type="sldNum" sz="quarter" idx="5"/>
          </p:nvPr>
        </p:nvSpPr>
        <p:spPr/>
        <p:txBody>
          <a:bodyPr/>
          <a:lstStyle/>
          <a:p>
            <a:fld id="{289AC9CB-4C47-4782-AA14-455CA1E626BB}" type="slidenum">
              <a:rPr lang="en-US" smtClean="0"/>
              <a:t>2</a:t>
            </a:fld>
            <a:endParaRPr lang="en-US"/>
          </a:p>
        </p:txBody>
      </p:sp>
    </p:spTree>
    <p:extLst>
      <p:ext uri="{BB962C8B-B14F-4D97-AF65-F5344CB8AC3E}">
        <p14:creationId xmlns:p14="http://schemas.microsoft.com/office/powerpoint/2010/main" val="2027918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0C792-B442-B2E1-81F4-EA61CA815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EC9FD0-4D86-50B4-E202-B22A04F598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D799F-5282-55FB-5CA0-228442C1D0A1}"/>
              </a:ext>
            </a:extLst>
          </p:cNvPr>
          <p:cNvSpPr>
            <a:spLocks noGrp="1"/>
          </p:cNvSpPr>
          <p:nvPr>
            <p:ph type="body" idx="1"/>
          </p:nvPr>
        </p:nvSpPr>
        <p:spPr/>
        <p:txBody>
          <a:bodyPr/>
          <a:lstStyle/>
          <a:p>
            <a:r>
              <a:rPr lang="en-US" dirty="0"/>
              <a:t>Next, let’s discuss event-driven and serverless computing.</a:t>
            </a:r>
            <a:br>
              <a:rPr lang="en-US" dirty="0"/>
            </a:br>
            <a:r>
              <a:rPr lang="en-US" dirty="0"/>
              <a:t>Event-driven computing revolves around actions triggered by specific events, like a user uploading a file or an API call.</a:t>
            </a:r>
            <a:br>
              <a:rPr lang="en-US" dirty="0"/>
            </a:br>
            <a:r>
              <a:rPr lang="en-US" dirty="0"/>
              <a:t>Serverless computing, on the other hand, abstracts away server management. You only deploy your code, and the cloud provider takes care of everything else.</a:t>
            </a:r>
            <a:br>
              <a:rPr lang="en-US" dirty="0"/>
            </a:br>
            <a:r>
              <a:rPr lang="en-US" dirty="0"/>
              <a:t>Together, these approaches bring benefits like cost-efficiency, automatic scaling based on demand, and simplified operations. This is where Cloud Functions truly shine!</a:t>
            </a:r>
          </a:p>
        </p:txBody>
      </p:sp>
      <p:sp>
        <p:nvSpPr>
          <p:cNvPr id="4" name="Slide Number Placeholder 3">
            <a:extLst>
              <a:ext uri="{FF2B5EF4-FFF2-40B4-BE49-F238E27FC236}">
                <a16:creationId xmlns:a16="http://schemas.microsoft.com/office/drawing/2014/main" id="{A620E8BA-FEFD-65D7-370D-BB8EE5E778A6}"/>
              </a:ext>
            </a:extLst>
          </p:cNvPr>
          <p:cNvSpPr>
            <a:spLocks noGrp="1"/>
          </p:cNvSpPr>
          <p:nvPr>
            <p:ph type="sldNum" sz="quarter" idx="5"/>
          </p:nvPr>
        </p:nvSpPr>
        <p:spPr/>
        <p:txBody>
          <a:bodyPr/>
          <a:lstStyle/>
          <a:p>
            <a:fld id="{289AC9CB-4C47-4782-AA14-455CA1E626BB}" type="slidenum">
              <a:rPr lang="en-US" smtClean="0"/>
              <a:t>3</a:t>
            </a:fld>
            <a:endParaRPr lang="en-US"/>
          </a:p>
        </p:txBody>
      </p:sp>
    </p:spTree>
    <p:extLst>
      <p:ext uri="{BB962C8B-B14F-4D97-AF65-F5344CB8AC3E}">
        <p14:creationId xmlns:p14="http://schemas.microsoft.com/office/powerpoint/2010/main" val="2745583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21F7-3ED9-8C1A-E92D-28BBE7497D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D973D-EDBD-82DC-FFAD-DB275E0FD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4BC5B-43A6-5153-D3B2-7583EFC6FCDB}"/>
              </a:ext>
            </a:extLst>
          </p:cNvPr>
          <p:cNvSpPr>
            <a:spLocks noGrp="1"/>
          </p:cNvSpPr>
          <p:nvPr>
            <p:ph type="body" idx="1"/>
          </p:nvPr>
        </p:nvSpPr>
        <p:spPr/>
        <p:txBody>
          <a:bodyPr/>
          <a:lstStyle/>
          <a:p>
            <a:r>
              <a:rPr lang="en-US" dirty="0"/>
              <a:t>Cloud Functions can be used in many scenarios.</a:t>
            </a:r>
            <a:br>
              <a:rPr lang="en-US" dirty="0"/>
            </a:br>
            <a:r>
              <a:rPr lang="en-US" dirty="0"/>
              <a:t>For example, they’re great for </a:t>
            </a:r>
            <a:r>
              <a:rPr lang="en-US" b="1" dirty="0"/>
              <a:t>real-time data processing</a:t>
            </a:r>
            <a:r>
              <a:rPr lang="en-US" dirty="0"/>
              <a:t>, such as analyzing IoT sensor data.</a:t>
            </a:r>
            <a:br>
              <a:rPr lang="en-US" dirty="0"/>
            </a:br>
            <a:r>
              <a:rPr lang="en-US" dirty="0"/>
              <a:t>You can use them to implement </a:t>
            </a:r>
            <a:r>
              <a:rPr lang="en-US" b="1" dirty="0"/>
              <a:t>webhooks</a:t>
            </a:r>
            <a:r>
              <a:rPr lang="en-US" dirty="0"/>
              <a:t>, where your system reacts to third-party service events.</a:t>
            </a:r>
            <a:br>
              <a:rPr lang="en-US" dirty="0"/>
            </a:br>
            <a:r>
              <a:rPr lang="en-US" dirty="0"/>
              <a:t>They also serve as a lightweight </a:t>
            </a:r>
            <a:r>
              <a:rPr lang="en-US" b="1" dirty="0"/>
              <a:t>backend for mobile or web apps</a:t>
            </a:r>
            <a:r>
              <a:rPr lang="en-US" dirty="0"/>
              <a:t>, handling tasks like CRUD operations.</a:t>
            </a:r>
            <a:br>
              <a:rPr lang="en-US" dirty="0"/>
            </a:br>
            <a:r>
              <a:rPr lang="en-US" dirty="0"/>
              <a:t>Other use cases include </a:t>
            </a:r>
            <a:r>
              <a:rPr lang="en-US" b="1" dirty="0"/>
              <a:t>file processing</a:t>
            </a:r>
            <a:r>
              <a:rPr lang="en-US" dirty="0"/>
              <a:t>, like resizing images or generating PDFs, and extending functionalities of APIs.</a:t>
            </a:r>
            <a:br>
              <a:rPr lang="en-US" dirty="0"/>
            </a:br>
            <a:r>
              <a:rPr lang="en-US" dirty="0"/>
              <a:t>These versatile use cases make Cloud Functions a powerful tool for developers.</a:t>
            </a:r>
          </a:p>
        </p:txBody>
      </p:sp>
      <p:sp>
        <p:nvSpPr>
          <p:cNvPr id="4" name="Slide Number Placeholder 3">
            <a:extLst>
              <a:ext uri="{FF2B5EF4-FFF2-40B4-BE49-F238E27FC236}">
                <a16:creationId xmlns:a16="http://schemas.microsoft.com/office/drawing/2014/main" id="{7375277A-A880-7D47-2F6A-EA0D7B71E822}"/>
              </a:ext>
            </a:extLst>
          </p:cNvPr>
          <p:cNvSpPr>
            <a:spLocks noGrp="1"/>
          </p:cNvSpPr>
          <p:nvPr>
            <p:ph type="sldNum" sz="quarter" idx="5"/>
          </p:nvPr>
        </p:nvSpPr>
        <p:spPr/>
        <p:txBody>
          <a:bodyPr/>
          <a:lstStyle/>
          <a:p>
            <a:fld id="{289AC9CB-4C47-4782-AA14-455CA1E626BB}" type="slidenum">
              <a:rPr lang="en-US" smtClean="0"/>
              <a:t>4</a:t>
            </a:fld>
            <a:endParaRPr lang="en-US"/>
          </a:p>
        </p:txBody>
      </p:sp>
    </p:spTree>
    <p:extLst>
      <p:ext uri="{BB962C8B-B14F-4D97-AF65-F5344CB8AC3E}">
        <p14:creationId xmlns:p14="http://schemas.microsoft.com/office/powerpoint/2010/main" val="1433348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8110E-3A73-8255-5695-3BC477185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65D9A-8504-6CB0-F9EB-9D47E70E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81D2D-55CC-82D9-9821-4B4DEE5D58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03BEF1-A8B3-B92C-C7EA-8C1D7E597D4D}"/>
              </a:ext>
            </a:extLst>
          </p:cNvPr>
          <p:cNvSpPr>
            <a:spLocks noGrp="1"/>
          </p:cNvSpPr>
          <p:nvPr>
            <p:ph type="sldNum" sz="quarter" idx="5"/>
          </p:nvPr>
        </p:nvSpPr>
        <p:spPr/>
        <p:txBody>
          <a:bodyPr/>
          <a:lstStyle/>
          <a:p>
            <a:fld id="{289AC9CB-4C47-4782-AA14-455CA1E626BB}" type="slidenum">
              <a:rPr lang="en-US" smtClean="0"/>
              <a:t>5</a:t>
            </a:fld>
            <a:endParaRPr lang="en-US"/>
          </a:p>
        </p:txBody>
      </p:sp>
    </p:spTree>
    <p:extLst>
      <p:ext uri="{BB962C8B-B14F-4D97-AF65-F5344CB8AC3E}">
        <p14:creationId xmlns:p14="http://schemas.microsoft.com/office/powerpoint/2010/main" val="1279535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2D72-3972-8AC2-F0D8-8CF3E67B1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3D9C9-BF75-4A35-96D7-714D7E67F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BFD45-1FA3-1BFC-EC18-CC294A12DD12}"/>
              </a:ext>
            </a:extLst>
          </p:cNvPr>
          <p:cNvSpPr>
            <a:spLocks noGrp="1"/>
          </p:cNvSpPr>
          <p:nvPr>
            <p:ph type="body" idx="1"/>
          </p:nvPr>
        </p:nvSpPr>
        <p:spPr/>
        <p:txBody>
          <a:bodyPr/>
          <a:lstStyle/>
          <a:p>
            <a:r>
              <a:rPr lang="en-US" dirty="0"/>
              <a:t>Objective: Create a simple Cloud Function triggered by an HTTP request.</a:t>
            </a:r>
          </a:p>
        </p:txBody>
      </p:sp>
      <p:sp>
        <p:nvSpPr>
          <p:cNvPr id="4" name="Slide Number Placeholder 3">
            <a:extLst>
              <a:ext uri="{FF2B5EF4-FFF2-40B4-BE49-F238E27FC236}">
                <a16:creationId xmlns:a16="http://schemas.microsoft.com/office/drawing/2014/main" id="{6D636EAD-BDE7-ADFB-E48C-FA1DD144D4A9}"/>
              </a:ext>
            </a:extLst>
          </p:cNvPr>
          <p:cNvSpPr>
            <a:spLocks noGrp="1"/>
          </p:cNvSpPr>
          <p:nvPr>
            <p:ph type="sldNum" sz="quarter" idx="5"/>
          </p:nvPr>
        </p:nvSpPr>
        <p:spPr/>
        <p:txBody>
          <a:bodyPr/>
          <a:lstStyle/>
          <a:p>
            <a:fld id="{289AC9CB-4C47-4782-AA14-455CA1E626BB}" type="slidenum">
              <a:rPr lang="en-US" smtClean="0"/>
              <a:t>6</a:t>
            </a:fld>
            <a:endParaRPr lang="en-US"/>
          </a:p>
        </p:txBody>
      </p:sp>
    </p:spTree>
    <p:extLst>
      <p:ext uri="{BB962C8B-B14F-4D97-AF65-F5344CB8AC3E}">
        <p14:creationId xmlns:p14="http://schemas.microsoft.com/office/powerpoint/2010/main" val="3445796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84D8-0137-6637-A828-820DE3125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80CE9-EBC6-729F-856A-0116825E1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6AA7B-CFFA-19EB-38D1-AF657A0CCB6F}"/>
              </a:ext>
            </a:extLst>
          </p:cNvPr>
          <p:cNvSpPr>
            <a:spLocks noGrp="1"/>
          </p:cNvSpPr>
          <p:nvPr>
            <p:ph type="body" idx="1"/>
          </p:nvPr>
        </p:nvSpPr>
        <p:spPr/>
        <p:txBody>
          <a:bodyPr/>
          <a:lstStyle/>
          <a:p>
            <a:r>
              <a:rPr lang="en-US" dirty="0"/>
              <a:t>A VPC in Google Cloud is a foundational networking service enabling seamless resource connectivity and isolation. It provides a global, private networking framework that simplifies infrastructure setup while offering powerful controls.</a:t>
            </a:r>
          </a:p>
        </p:txBody>
      </p:sp>
      <p:sp>
        <p:nvSpPr>
          <p:cNvPr id="4" name="Slide Number Placeholder 3">
            <a:extLst>
              <a:ext uri="{FF2B5EF4-FFF2-40B4-BE49-F238E27FC236}">
                <a16:creationId xmlns:a16="http://schemas.microsoft.com/office/drawing/2014/main" id="{DA58A167-0F99-D2D3-C226-32A04A518E51}"/>
              </a:ext>
            </a:extLst>
          </p:cNvPr>
          <p:cNvSpPr>
            <a:spLocks noGrp="1"/>
          </p:cNvSpPr>
          <p:nvPr>
            <p:ph type="sldNum" sz="quarter" idx="5"/>
          </p:nvPr>
        </p:nvSpPr>
        <p:spPr/>
        <p:txBody>
          <a:bodyPr/>
          <a:lstStyle/>
          <a:p>
            <a:fld id="{289AC9CB-4C47-4782-AA14-455CA1E626BB}" type="slidenum">
              <a:rPr lang="en-US" smtClean="0"/>
              <a:t>7</a:t>
            </a:fld>
            <a:endParaRPr lang="en-US"/>
          </a:p>
        </p:txBody>
      </p:sp>
    </p:spTree>
    <p:extLst>
      <p:ext uri="{BB962C8B-B14F-4D97-AF65-F5344CB8AC3E}">
        <p14:creationId xmlns:p14="http://schemas.microsoft.com/office/powerpoint/2010/main" val="44673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A5DA6-78C5-19D2-A149-E076EA311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B251B-18DF-9393-14F3-9886AD92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63569-2843-076E-0190-3D412C617B76}"/>
              </a:ext>
            </a:extLst>
          </p:cNvPr>
          <p:cNvSpPr>
            <a:spLocks noGrp="1"/>
          </p:cNvSpPr>
          <p:nvPr>
            <p:ph type="body" idx="1"/>
          </p:nvPr>
        </p:nvSpPr>
        <p:spPr/>
        <p:txBody>
          <a:bodyPr/>
          <a:lstStyle/>
          <a:p>
            <a:r>
              <a:rPr lang="en-US" dirty="0"/>
              <a:t>Google Cloud VPCs are global, but subnetworks operate on a regional scale, enabling efficient resource segregation. You can choose from Default, Auto Mode, or Custom Mode networks to suit your architectural needs.</a:t>
            </a:r>
          </a:p>
        </p:txBody>
      </p:sp>
      <p:sp>
        <p:nvSpPr>
          <p:cNvPr id="4" name="Slide Number Placeholder 3">
            <a:extLst>
              <a:ext uri="{FF2B5EF4-FFF2-40B4-BE49-F238E27FC236}">
                <a16:creationId xmlns:a16="http://schemas.microsoft.com/office/drawing/2014/main" id="{1BCAA3ED-830D-A113-820C-6FC6A32652F4}"/>
              </a:ext>
            </a:extLst>
          </p:cNvPr>
          <p:cNvSpPr>
            <a:spLocks noGrp="1"/>
          </p:cNvSpPr>
          <p:nvPr>
            <p:ph type="sldNum" sz="quarter" idx="5"/>
          </p:nvPr>
        </p:nvSpPr>
        <p:spPr/>
        <p:txBody>
          <a:bodyPr/>
          <a:lstStyle/>
          <a:p>
            <a:fld id="{289AC9CB-4C47-4782-AA14-455CA1E626BB}" type="slidenum">
              <a:rPr lang="en-US" smtClean="0"/>
              <a:t>8</a:t>
            </a:fld>
            <a:endParaRPr lang="en-US"/>
          </a:p>
        </p:txBody>
      </p:sp>
    </p:spTree>
    <p:extLst>
      <p:ext uri="{BB962C8B-B14F-4D97-AF65-F5344CB8AC3E}">
        <p14:creationId xmlns:p14="http://schemas.microsoft.com/office/powerpoint/2010/main" val="2021358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F8B35-D072-D7CA-5C53-BE94A49F2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42B0-0375-A0E1-777F-90F5D5EAB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F4BE4-92FA-022B-8B8E-B5AD6F8031F4}"/>
              </a:ext>
            </a:extLst>
          </p:cNvPr>
          <p:cNvSpPr>
            <a:spLocks noGrp="1"/>
          </p:cNvSpPr>
          <p:nvPr>
            <p:ph type="body" idx="1"/>
          </p:nvPr>
        </p:nvSpPr>
        <p:spPr/>
        <p:txBody>
          <a:bodyPr/>
          <a:lstStyle/>
          <a:p>
            <a:r>
              <a:rPr lang="en-US" dirty="0"/>
              <a:t>Firewall rules and routes are crucial for controlling traffic in and out of your VPC. They ensure secure communication between resources and manage how data flows through the network.</a:t>
            </a:r>
          </a:p>
        </p:txBody>
      </p:sp>
      <p:sp>
        <p:nvSpPr>
          <p:cNvPr id="4" name="Slide Number Placeholder 3">
            <a:extLst>
              <a:ext uri="{FF2B5EF4-FFF2-40B4-BE49-F238E27FC236}">
                <a16:creationId xmlns:a16="http://schemas.microsoft.com/office/drawing/2014/main" id="{7377C3F2-654A-E9C0-6B3C-511B806CABB8}"/>
              </a:ext>
            </a:extLst>
          </p:cNvPr>
          <p:cNvSpPr>
            <a:spLocks noGrp="1"/>
          </p:cNvSpPr>
          <p:nvPr>
            <p:ph type="sldNum" sz="quarter" idx="5"/>
          </p:nvPr>
        </p:nvSpPr>
        <p:spPr/>
        <p:txBody>
          <a:bodyPr/>
          <a:lstStyle/>
          <a:p>
            <a:fld id="{289AC9CB-4C47-4782-AA14-455CA1E626BB}" type="slidenum">
              <a:rPr lang="en-US" smtClean="0"/>
              <a:t>9</a:t>
            </a:fld>
            <a:endParaRPr lang="en-US"/>
          </a:p>
        </p:txBody>
      </p:sp>
    </p:spTree>
    <p:extLst>
      <p:ext uri="{BB962C8B-B14F-4D97-AF65-F5344CB8AC3E}">
        <p14:creationId xmlns:p14="http://schemas.microsoft.com/office/powerpoint/2010/main" val="975562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9040-F1CA-560F-ABBE-E8F4B4B71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44631-FCA0-DE07-B3C2-E865867D5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5C4F5-FE6E-D79F-5F25-7F5F31569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226BE-5CFA-3635-DBD1-BBF9FA0761F8}"/>
              </a:ext>
            </a:extLst>
          </p:cNvPr>
          <p:cNvSpPr>
            <a:spLocks noGrp="1"/>
          </p:cNvSpPr>
          <p:nvPr>
            <p:ph type="sldNum" sz="quarter" idx="5"/>
          </p:nvPr>
        </p:nvSpPr>
        <p:spPr/>
        <p:txBody>
          <a:bodyPr/>
          <a:lstStyle/>
          <a:p>
            <a:fld id="{289AC9CB-4C47-4782-AA14-455CA1E626BB}" type="slidenum">
              <a:rPr lang="en-US" smtClean="0"/>
              <a:t>10</a:t>
            </a:fld>
            <a:endParaRPr lang="en-US"/>
          </a:p>
        </p:txBody>
      </p:sp>
    </p:spTree>
    <p:extLst>
      <p:ext uri="{BB962C8B-B14F-4D97-AF65-F5344CB8AC3E}">
        <p14:creationId xmlns:p14="http://schemas.microsoft.com/office/powerpoint/2010/main" val="2559592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02E7D-EAC4-B337-048D-192624C022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4D560-6C53-E152-6F29-AE604D064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3DC55-9652-8611-FFCA-FE33B005E10F}"/>
              </a:ext>
            </a:extLst>
          </p:cNvPr>
          <p:cNvSpPr>
            <a:spLocks noGrp="1"/>
          </p:cNvSpPr>
          <p:nvPr>
            <p:ph type="body" idx="1"/>
          </p:nvPr>
        </p:nvSpPr>
        <p:spPr/>
        <p:txBody>
          <a:bodyPr/>
          <a:lstStyle/>
          <a:p>
            <a:r>
              <a:rPr lang="en-US" dirty="0"/>
              <a:t>Objective: Create a custom VPC with regional subnets and configure basic networking components.</a:t>
            </a:r>
          </a:p>
        </p:txBody>
      </p:sp>
      <p:sp>
        <p:nvSpPr>
          <p:cNvPr id="4" name="Slide Number Placeholder 3">
            <a:extLst>
              <a:ext uri="{FF2B5EF4-FFF2-40B4-BE49-F238E27FC236}">
                <a16:creationId xmlns:a16="http://schemas.microsoft.com/office/drawing/2014/main" id="{CDB7A70C-7A4D-FB32-535A-90357318ABCA}"/>
              </a:ext>
            </a:extLst>
          </p:cNvPr>
          <p:cNvSpPr>
            <a:spLocks noGrp="1"/>
          </p:cNvSpPr>
          <p:nvPr>
            <p:ph type="sldNum" sz="quarter" idx="5"/>
          </p:nvPr>
        </p:nvSpPr>
        <p:spPr/>
        <p:txBody>
          <a:bodyPr/>
          <a:lstStyle/>
          <a:p>
            <a:fld id="{289AC9CB-4C47-4782-AA14-455CA1E626BB}" type="slidenum">
              <a:rPr lang="en-US" smtClean="0"/>
              <a:t>11</a:t>
            </a:fld>
            <a:endParaRPr lang="en-US"/>
          </a:p>
        </p:txBody>
      </p:sp>
    </p:spTree>
    <p:extLst>
      <p:ext uri="{BB962C8B-B14F-4D97-AF65-F5344CB8AC3E}">
        <p14:creationId xmlns:p14="http://schemas.microsoft.com/office/powerpoint/2010/main" val="624843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18FAE-143E-0405-1EBB-B80F7D91B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AF9CD-53F5-2019-F0EF-B2D62748F7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B2347-8518-FCA6-A9EF-243582A21627}"/>
              </a:ext>
            </a:extLst>
          </p:cNvPr>
          <p:cNvSpPr>
            <a:spLocks noGrp="1"/>
          </p:cNvSpPr>
          <p:nvPr>
            <p:ph type="body" idx="1"/>
          </p:nvPr>
        </p:nvSpPr>
        <p:spPr/>
        <p:txBody>
          <a:bodyPr/>
          <a:lstStyle/>
          <a:p>
            <a:r>
              <a:rPr lang="en-US" dirty="0"/>
              <a:t>IAM forms the backbone of security in GCP, providing a clear framework for managing access. It helps answer three key questions: who is accessing resources, what actions are they allowed to take, and which resources are being accessed. Throughout this session, keep these components in mind as we discuss IAM in more detail</a:t>
            </a:r>
          </a:p>
        </p:txBody>
      </p:sp>
      <p:sp>
        <p:nvSpPr>
          <p:cNvPr id="4" name="Slide Number Placeholder 3">
            <a:extLst>
              <a:ext uri="{FF2B5EF4-FFF2-40B4-BE49-F238E27FC236}">
                <a16:creationId xmlns:a16="http://schemas.microsoft.com/office/drawing/2014/main" id="{0EA29B04-B415-6058-03DF-357189D46BAB}"/>
              </a:ext>
            </a:extLst>
          </p:cNvPr>
          <p:cNvSpPr>
            <a:spLocks noGrp="1"/>
          </p:cNvSpPr>
          <p:nvPr>
            <p:ph type="sldNum" sz="quarter" idx="5"/>
          </p:nvPr>
        </p:nvSpPr>
        <p:spPr/>
        <p:txBody>
          <a:bodyPr/>
          <a:lstStyle/>
          <a:p>
            <a:fld id="{289AC9CB-4C47-4782-AA14-455CA1E626BB}" type="slidenum">
              <a:rPr lang="en-US" smtClean="0"/>
              <a:t>12</a:t>
            </a:fld>
            <a:endParaRPr lang="en-US"/>
          </a:p>
        </p:txBody>
      </p:sp>
    </p:spTree>
    <p:extLst>
      <p:ext uri="{BB962C8B-B14F-4D97-AF65-F5344CB8AC3E}">
        <p14:creationId xmlns:p14="http://schemas.microsoft.com/office/powerpoint/2010/main" val="3840956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1B798-BEFC-ADD2-6F7B-A76EB0C56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BA292-7C19-AA7D-564E-4A082C6259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48C4-99AB-B348-B526-9C91A4657320}"/>
              </a:ext>
            </a:extLst>
          </p:cNvPr>
          <p:cNvSpPr>
            <a:spLocks noGrp="1"/>
          </p:cNvSpPr>
          <p:nvPr>
            <p:ph type="body" idx="1"/>
          </p:nvPr>
        </p:nvSpPr>
        <p:spPr/>
        <p:txBody>
          <a:bodyPr/>
          <a:lstStyle/>
          <a:p>
            <a:r>
              <a:rPr lang="en-US" dirty="0"/>
              <a:t>IAM roles are central to managing permissions in GCP. Basic roles cover broad permissions, predefined roles are service-specific, and custom roles provide flexibility for unique needs. Assigning roles involves identifying the resource, selecting the right role, and validating the access granted. Tools like the Cloud Console and </a:t>
            </a:r>
            <a:r>
              <a:rPr lang="en-US" dirty="0" err="1"/>
              <a:t>gcloud</a:t>
            </a:r>
            <a:r>
              <a:rPr lang="en-US" dirty="0"/>
              <a:t> CLI make managing roles straightforward.</a:t>
            </a:r>
          </a:p>
        </p:txBody>
      </p:sp>
      <p:sp>
        <p:nvSpPr>
          <p:cNvPr id="4" name="Slide Number Placeholder 3">
            <a:extLst>
              <a:ext uri="{FF2B5EF4-FFF2-40B4-BE49-F238E27FC236}">
                <a16:creationId xmlns:a16="http://schemas.microsoft.com/office/drawing/2014/main" id="{C77284E4-7381-A689-5084-09520A494ADF}"/>
              </a:ext>
            </a:extLst>
          </p:cNvPr>
          <p:cNvSpPr>
            <a:spLocks noGrp="1"/>
          </p:cNvSpPr>
          <p:nvPr>
            <p:ph type="sldNum" sz="quarter" idx="5"/>
          </p:nvPr>
        </p:nvSpPr>
        <p:spPr/>
        <p:txBody>
          <a:bodyPr/>
          <a:lstStyle/>
          <a:p>
            <a:fld id="{289AC9CB-4C47-4782-AA14-455CA1E626BB}" type="slidenum">
              <a:rPr lang="en-US" smtClean="0"/>
              <a:t>13</a:t>
            </a:fld>
            <a:endParaRPr lang="en-US"/>
          </a:p>
        </p:txBody>
      </p:sp>
    </p:spTree>
    <p:extLst>
      <p:ext uri="{BB962C8B-B14F-4D97-AF65-F5344CB8AC3E}">
        <p14:creationId xmlns:p14="http://schemas.microsoft.com/office/powerpoint/2010/main" val="338582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C040-086D-BBBC-4EB6-3A1BB7A049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79559-C21D-736B-DE19-6C42BAACD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3D985-553C-7AB0-B629-28F3924ED6D0}"/>
              </a:ext>
            </a:extLst>
          </p:cNvPr>
          <p:cNvSpPr>
            <a:spLocks noGrp="1"/>
          </p:cNvSpPr>
          <p:nvPr>
            <p:ph type="body" idx="1"/>
          </p:nvPr>
        </p:nvSpPr>
        <p:spPr/>
        <p:txBody>
          <a:bodyPr/>
          <a:lstStyle/>
          <a:p>
            <a:r>
              <a:rPr lang="en-US" dirty="0"/>
              <a:t>Firewall rules and routes are crucial for controlling traffic in and out of your VPC. They ensure secure communication between resources and manage how data flows through the network.</a:t>
            </a:r>
          </a:p>
        </p:txBody>
      </p:sp>
      <p:sp>
        <p:nvSpPr>
          <p:cNvPr id="4" name="Slide Number Placeholder 3">
            <a:extLst>
              <a:ext uri="{FF2B5EF4-FFF2-40B4-BE49-F238E27FC236}">
                <a16:creationId xmlns:a16="http://schemas.microsoft.com/office/drawing/2014/main" id="{A5F27006-E598-385B-2CF3-7A73236879EA}"/>
              </a:ext>
            </a:extLst>
          </p:cNvPr>
          <p:cNvSpPr>
            <a:spLocks noGrp="1"/>
          </p:cNvSpPr>
          <p:nvPr>
            <p:ph type="sldNum" sz="quarter" idx="5"/>
          </p:nvPr>
        </p:nvSpPr>
        <p:spPr/>
        <p:txBody>
          <a:bodyPr/>
          <a:lstStyle/>
          <a:p>
            <a:fld id="{289AC9CB-4C47-4782-AA14-455CA1E626BB}" type="slidenum">
              <a:rPr lang="en-US" smtClean="0"/>
              <a:t>14</a:t>
            </a:fld>
            <a:endParaRPr lang="en-US"/>
          </a:p>
        </p:txBody>
      </p:sp>
    </p:spTree>
    <p:extLst>
      <p:ext uri="{BB962C8B-B14F-4D97-AF65-F5344CB8AC3E}">
        <p14:creationId xmlns:p14="http://schemas.microsoft.com/office/powerpoint/2010/main" val="3718134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D017-D4C6-597F-ED6C-347EF7259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F1669-9E28-5CDD-0A1F-D61A2F4EB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9E9AD3-F204-788D-0F37-499EA6C42B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33BBFC-6E5E-2A9D-236A-C959B9F5E75A}"/>
              </a:ext>
            </a:extLst>
          </p:cNvPr>
          <p:cNvSpPr>
            <a:spLocks noGrp="1"/>
          </p:cNvSpPr>
          <p:nvPr>
            <p:ph type="sldNum" sz="quarter" idx="5"/>
          </p:nvPr>
        </p:nvSpPr>
        <p:spPr/>
        <p:txBody>
          <a:bodyPr/>
          <a:lstStyle/>
          <a:p>
            <a:fld id="{289AC9CB-4C47-4782-AA14-455CA1E626BB}" type="slidenum">
              <a:rPr lang="en-US" smtClean="0"/>
              <a:t>15</a:t>
            </a:fld>
            <a:endParaRPr lang="en-US"/>
          </a:p>
        </p:txBody>
      </p:sp>
    </p:spTree>
    <p:extLst>
      <p:ext uri="{BB962C8B-B14F-4D97-AF65-F5344CB8AC3E}">
        <p14:creationId xmlns:p14="http://schemas.microsoft.com/office/powerpoint/2010/main" val="888923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519DB-3A19-C566-4413-F4192F0DD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63B6C-817A-FC48-307F-37B81A324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1C536-E812-34FE-3977-593E1273A66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Objective: Configure IAM roles for specific users and services in a GCP project.</a:t>
            </a:r>
          </a:p>
        </p:txBody>
      </p:sp>
      <p:sp>
        <p:nvSpPr>
          <p:cNvPr id="4" name="Slide Number Placeholder 3">
            <a:extLst>
              <a:ext uri="{FF2B5EF4-FFF2-40B4-BE49-F238E27FC236}">
                <a16:creationId xmlns:a16="http://schemas.microsoft.com/office/drawing/2014/main" id="{294C4885-4E81-85B6-B925-E8C22E810B8A}"/>
              </a:ext>
            </a:extLst>
          </p:cNvPr>
          <p:cNvSpPr>
            <a:spLocks noGrp="1"/>
          </p:cNvSpPr>
          <p:nvPr>
            <p:ph type="sldNum" sz="quarter" idx="5"/>
          </p:nvPr>
        </p:nvSpPr>
        <p:spPr/>
        <p:txBody>
          <a:bodyPr/>
          <a:lstStyle/>
          <a:p>
            <a:fld id="{289AC9CB-4C47-4782-AA14-455CA1E626BB}" type="slidenum">
              <a:rPr lang="en-US" smtClean="0"/>
              <a:t>16</a:t>
            </a:fld>
            <a:endParaRPr lang="en-US"/>
          </a:p>
        </p:txBody>
      </p:sp>
    </p:spTree>
    <p:extLst>
      <p:ext uri="{BB962C8B-B14F-4D97-AF65-F5344CB8AC3E}">
        <p14:creationId xmlns:p14="http://schemas.microsoft.com/office/powerpoint/2010/main" val="651961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00DF-1644-8EDB-672A-6F54DBA4E0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2CAB7-BD22-C2D3-8D3F-CFEDF76E5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89C9B-01BF-8454-355C-E8E68CAECA3B}"/>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ED86F9FC-2669-5AC9-825D-9F71E2321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0E5153-E1BD-EABE-1D80-4E8F20735E7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791597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9C4B-5962-4126-F171-63C5CE7330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28D1B4-5D3B-BE51-780B-657AA6B500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16AD5-AD8B-D2E8-A3B0-F7EB0CAA34AD}"/>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6372F0A1-6664-AECA-E419-4ADB609AF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5E95A-7CF5-E4BA-2473-CE1B4F29FAE0}"/>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55181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45D6-4FF5-E389-B9F7-57042D9385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2194EE-DBB8-18DC-0A1D-3516845B4C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0269E7-B6DB-8BF7-7872-F6CF9FD349B9}"/>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961C6519-8558-5016-E162-29AC07535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9C4E1-C0FD-24D2-9876-0E1E34DFC601}"/>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3017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6C01-C5D1-F372-F288-E7A1B1C35C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BDE85-0EF6-3D0B-F627-7BF6B75F9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308FE4-AD83-E13B-9087-5B5BC1440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20E4A-BC9D-7FBB-81B0-B61B8CCF589A}"/>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6" name="Footer Placeholder 5">
            <a:extLst>
              <a:ext uri="{FF2B5EF4-FFF2-40B4-BE49-F238E27FC236}">
                <a16:creationId xmlns:a16="http://schemas.microsoft.com/office/drawing/2014/main" id="{AD937BA6-8752-B265-F48A-9BED6BEB70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5494ED-7C20-DB30-899A-56D8DCA56C4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333982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CEFB-D82A-F073-3836-30314AA5D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E4C625-12B5-64F9-EA8D-F33AA76C9D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5709D-C3A8-E6AF-CF11-670C29543C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DCD946-614F-E1D2-23D1-847BB0095A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DCA4E-467A-4F76-5DFC-2A2762943C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991A0-B3D8-201A-BE5D-023D3E0B6E84}"/>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8" name="Footer Placeholder 7">
            <a:extLst>
              <a:ext uri="{FF2B5EF4-FFF2-40B4-BE49-F238E27FC236}">
                <a16:creationId xmlns:a16="http://schemas.microsoft.com/office/drawing/2014/main" id="{3AAEB582-26AB-4F9A-BCD3-0451FD2150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482B23-A427-EF69-666D-F54E414E09F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391002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A805-452D-930B-6593-50ECABA24D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F81EAF-92B9-860A-E384-7C100563CEF2}"/>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4" name="Footer Placeholder 3">
            <a:extLst>
              <a:ext uri="{FF2B5EF4-FFF2-40B4-BE49-F238E27FC236}">
                <a16:creationId xmlns:a16="http://schemas.microsoft.com/office/drawing/2014/main" id="{CA53F8FB-F5D3-2094-1575-E6887A7014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1F7F29-4250-00FE-43C8-9BA2C4773593}"/>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860056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A18186-6AA2-0E68-AB12-0E408E26B906}"/>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3" name="Footer Placeholder 2">
            <a:extLst>
              <a:ext uri="{FF2B5EF4-FFF2-40B4-BE49-F238E27FC236}">
                <a16:creationId xmlns:a16="http://schemas.microsoft.com/office/drawing/2014/main" id="{D1CABB67-E2CA-365D-9CC6-5D39D92FF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80351A-AC56-06EA-3F5D-439A39846D0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642445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F36D-A577-CAEA-E738-631C309B2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A2656B-25D1-0CD9-C050-7E91A8235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636D29-CE53-7091-155D-EE1E4ED80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89E43-7721-94F9-AEB9-83F4428F88FC}"/>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6" name="Footer Placeholder 5">
            <a:extLst>
              <a:ext uri="{FF2B5EF4-FFF2-40B4-BE49-F238E27FC236}">
                <a16:creationId xmlns:a16="http://schemas.microsoft.com/office/drawing/2014/main" id="{5CC98168-7937-50B8-ACC6-1BD0C0E58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EC495-60F0-69EF-1184-A22FB03167F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644355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CF954-00C2-123F-0CA9-03862427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50D2B1-F11B-50BB-787E-B69FD7C4A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85088-C2C6-8F3F-74EE-B1CABE734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79B41-DE1F-C35F-01D4-57EEFD290629}"/>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6" name="Footer Placeholder 5">
            <a:extLst>
              <a:ext uri="{FF2B5EF4-FFF2-40B4-BE49-F238E27FC236}">
                <a16:creationId xmlns:a16="http://schemas.microsoft.com/office/drawing/2014/main" id="{EA37BE2B-6450-07C8-E5C6-D6F3BE11D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62869-DA06-8D10-BB03-0674E97B3ABC}"/>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26271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0D9C-2C67-AFB4-3ABC-43437592B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3A979B-02B2-AE5A-0E3A-24CD22D717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61C6B-CF86-0D90-4B8B-7E718EB603C9}"/>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8A06622E-1332-2F5C-F340-C69265FC7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7AEE4-1525-A6FA-0B09-0B99197B968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5780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3E475-4046-D87F-B196-011FBB9EDF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5F9624-1DE3-F39D-6E11-822CDD9B77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7ECB4-0D80-E99E-FC8C-AE1BA360A8AE}"/>
              </a:ext>
            </a:extLst>
          </p:cNvPr>
          <p:cNvSpPr>
            <a:spLocks noGrp="1"/>
          </p:cNvSpPr>
          <p:nvPr>
            <p:ph type="dt" sz="half" idx="10"/>
          </p:nvPr>
        </p:nvSpPr>
        <p:spPr/>
        <p:txBody>
          <a:body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AADB6344-2192-22C5-D81E-FB0FE42E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30812-8B44-C5A5-DDBF-21E445F3E76F}"/>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384648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2F60D-0D89-6A84-BED9-D1F3B0364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66A908-CFA8-4938-BC76-ADB6E48CA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637D9-078D-BC22-F698-7CA8EA71F4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B2C922-B111-4F91-9212-34FA33851810}" type="datetimeFigureOut">
              <a:rPr lang="en-US" smtClean="0"/>
              <a:t>12/20/2024</a:t>
            </a:fld>
            <a:endParaRPr lang="en-US"/>
          </a:p>
        </p:txBody>
      </p:sp>
      <p:sp>
        <p:nvSpPr>
          <p:cNvPr id="5" name="Footer Placeholder 4">
            <a:extLst>
              <a:ext uri="{FF2B5EF4-FFF2-40B4-BE49-F238E27FC236}">
                <a16:creationId xmlns:a16="http://schemas.microsoft.com/office/drawing/2014/main" id="{6DDDA5AF-517F-A4AD-982A-FC908D021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354252-A288-AC90-9D9E-7AEDC20C3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59F95-D966-42C9-BF45-E0322056EB07}" type="slidenum">
              <a:rPr lang="en-US" smtClean="0"/>
              <a:t>‹#›</a:t>
            </a:fld>
            <a:endParaRPr lang="en-US"/>
          </a:p>
        </p:txBody>
      </p:sp>
    </p:spTree>
    <p:extLst>
      <p:ext uri="{BB962C8B-B14F-4D97-AF65-F5344CB8AC3E}">
        <p14:creationId xmlns:p14="http://schemas.microsoft.com/office/powerpoint/2010/main" val="3733751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rPr>
              <a:t>Cloud Functions, VPC, Security, and IAM</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6433-5B0E-B912-65ED-22BBF478BE9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7B78F49-8D45-345A-2A30-AB4EA76D2355}"/>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0143B2E-AAB3-B4B3-094C-C40DDD5EA249}"/>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C70FAD89-2994-5670-AE50-ECD2D5F9603D}"/>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5575E830-8E86-7FA4-F824-E6CDED302DE3}"/>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33DE16DB-E087-CF68-1877-895B5F2CED64}"/>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920720B-57C7-555C-115F-DFF6C83E16FE}"/>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95BD605-57DE-B018-B546-1BCDE81F60D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ECD54A0-20D1-3893-3738-A0057E304792}"/>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Introduction to Cloud Functions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5DE3507C-0FCC-80CA-BA0C-2932F431D250}"/>
              </a:ext>
            </a:extLst>
          </p:cNvPr>
          <p:cNvSpPr txBox="1"/>
          <p:nvPr/>
        </p:nvSpPr>
        <p:spPr>
          <a:xfrm>
            <a:off x="728180" y="1618394"/>
            <a:ext cx="10312304" cy="3785652"/>
          </a:xfrm>
          <a:prstGeom prst="rect">
            <a:avLst/>
          </a:prstGeom>
          <a:noFill/>
        </p:spPr>
        <p:txBody>
          <a:bodyPr wrap="square">
            <a:spAutoFit/>
          </a:bodyPr>
          <a:lstStyle/>
          <a:p>
            <a:pPr algn="l"/>
            <a:r>
              <a:rPr lang="en-US" sz="2000" b="1" dirty="0"/>
              <a:t>What are Cloud Functions?</a:t>
            </a:r>
          </a:p>
          <a:p>
            <a:pPr marL="342900" indent="-342900" algn="l">
              <a:buFont typeface="Arial" panose="020B0604020202020204" pitchFamily="34" charset="0"/>
              <a:buChar char="•"/>
            </a:pPr>
            <a:r>
              <a:rPr lang="en-US" sz="2000" dirty="0"/>
              <a:t>Lightweight, single-purpose, and event-driven functions.</a:t>
            </a:r>
          </a:p>
          <a:p>
            <a:pPr marL="342900" indent="-342900" algn="l">
              <a:buFont typeface="Arial" panose="020B0604020202020204" pitchFamily="34" charset="0"/>
              <a:buChar char="•"/>
            </a:pPr>
            <a:r>
              <a:rPr lang="en-US" sz="2000" dirty="0"/>
              <a:t>Run in response to specific triggers.</a:t>
            </a:r>
          </a:p>
          <a:p>
            <a:pPr algn="l"/>
            <a:endParaRPr lang="en-US" sz="2000" dirty="0"/>
          </a:p>
          <a:p>
            <a:pPr algn="l"/>
            <a:r>
              <a:rPr lang="en-US" sz="2000" b="1" dirty="0"/>
              <a:t>What do they do?</a:t>
            </a:r>
          </a:p>
          <a:p>
            <a:pPr marL="342900" indent="-342900" algn="l">
              <a:buFont typeface="Arial" panose="020B0604020202020204" pitchFamily="34" charset="0"/>
              <a:buChar char="•"/>
            </a:pPr>
            <a:r>
              <a:rPr lang="en-US" sz="2000" dirty="0"/>
              <a:t>Execute code without managing servers.</a:t>
            </a:r>
          </a:p>
          <a:p>
            <a:pPr marL="342900" indent="-342900" algn="l">
              <a:buFont typeface="Arial" panose="020B0604020202020204" pitchFamily="34" charset="0"/>
              <a:buChar char="•"/>
            </a:pPr>
            <a:r>
              <a:rPr lang="en-US" sz="2000" dirty="0"/>
              <a:t>Integrate seamlessly with other cloud services.</a:t>
            </a:r>
          </a:p>
          <a:p>
            <a:pPr algn="l"/>
            <a:endParaRPr lang="en-US" sz="2000" dirty="0"/>
          </a:p>
          <a:p>
            <a:pPr algn="l"/>
            <a:r>
              <a:rPr lang="en-US" sz="2000" b="1" dirty="0"/>
              <a:t>How are they helpful?</a:t>
            </a:r>
          </a:p>
          <a:p>
            <a:pPr marL="342900" indent="-342900" algn="l">
              <a:buFont typeface="Arial" panose="020B0604020202020204" pitchFamily="34" charset="0"/>
              <a:buChar char="•"/>
            </a:pPr>
            <a:r>
              <a:rPr lang="en-US" sz="2000" dirty="0"/>
              <a:t>Reduce infrastructure costs.</a:t>
            </a:r>
          </a:p>
          <a:p>
            <a:pPr marL="342900" indent="-342900" algn="l">
              <a:buFont typeface="Arial" panose="020B0604020202020204" pitchFamily="34" charset="0"/>
              <a:buChar char="•"/>
            </a:pPr>
            <a:r>
              <a:rPr lang="en-US" sz="2000" dirty="0"/>
              <a:t>Enhance scalability and agility.</a:t>
            </a:r>
          </a:p>
          <a:p>
            <a:pPr marL="342900" indent="-342900" algn="l">
              <a:buFont typeface="Arial" panose="020B0604020202020204" pitchFamily="34" charset="0"/>
              <a:buChar char="•"/>
            </a:pPr>
            <a:r>
              <a:rPr lang="en-US" sz="2000" dirty="0"/>
              <a:t>Simplify development workflows.</a:t>
            </a:r>
          </a:p>
        </p:txBody>
      </p:sp>
    </p:spTree>
    <p:extLst>
      <p:ext uri="{BB962C8B-B14F-4D97-AF65-F5344CB8AC3E}">
        <p14:creationId xmlns:p14="http://schemas.microsoft.com/office/powerpoint/2010/main" val="4076445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5CEAD-F008-0960-991E-190BFB01F0E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1FBB3C7-2FBB-EB0D-15E2-2995BA03BA8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2E56C280-4DB0-CE7A-BC24-F3AAD01D3BCC}"/>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BD6461CA-B5DC-8C7A-687C-9B443AAACF64}"/>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135AA89A-8EDC-FA72-0045-23622588F838}"/>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1107F3BB-F949-E58B-3B11-BC51CFB425B2}"/>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D94CEDD-F715-75D4-D564-532DB4EDD189}"/>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B6F6A4AD-2917-86DB-0F64-D3C835D92F7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AE45CCC8-4DFD-6D6E-E986-4B371EE75D3B}"/>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Overview of Event-Driven Serverless Computing</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6A4C1B31-42CF-0CFA-2948-DE10C775FB7B}"/>
              </a:ext>
            </a:extLst>
          </p:cNvPr>
          <p:cNvSpPr txBox="1"/>
          <p:nvPr/>
        </p:nvSpPr>
        <p:spPr>
          <a:xfrm>
            <a:off x="728180" y="1618394"/>
            <a:ext cx="10312304" cy="3477875"/>
          </a:xfrm>
          <a:prstGeom prst="rect">
            <a:avLst/>
          </a:prstGeom>
          <a:noFill/>
        </p:spPr>
        <p:txBody>
          <a:bodyPr wrap="square">
            <a:spAutoFit/>
          </a:bodyPr>
          <a:lstStyle/>
          <a:p>
            <a:pPr algn="l"/>
            <a:r>
              <a:rPr lang="en-US" sz="2000" b="1" dirty="0"/>
              <a:t>What is Event-Driven Computing?</a:t>
            </a:r>
          </a:p>
          <a:p>
            <a:pPr algn="l"/>
            <a:r>
              <a:rPr lang="en-US" sz="2000" dirty="0"/>
              <a:t>Actions triggered by specific events like HTTP requests, database changes, or file uploads.</a:t>
            </a:r>
          </a:p>
          <a:p>
            <a:pPr algn="l"/>
            <a:endParaRPr lang="en-US" sz="2000" dirty="0"/>
          </a:p>
          <a:p>
            <a:pPr algn="l"/>
            <a:r>
              <a:rPr lang="en-US" sz="2000" b="1" dirty="0"/>
              <a:t>What is Serverless Computing?</a:t>
            </a:r>
          </a:p>
          <a:p>
            <a:pPr marL="342900" indent="-342900" algn="l">
              <a:buFont typeface="Arial" panose="020B0604020202020204" pitchFamily="34" charset="0"/>
              <a:buChar char="•"/>
            </a:pPr>
            <a:r>
              <a:rPr lang="en-US" sz="2000" dirty="0"/>
              <a:t>Abstracts server management.</a:t>
            </a:r>
          </a:p>
          <a:p>
            <a:pPr marL="342900" indent="-342900" algn="l">
              <a:buFont typeface="Arial" panose="020B0604020202020204" pitchFamily="34" charset="0"/>
              <a:buChar char="•"/>
            </a:pPr>
            <a:r>
              <a:rPr lang="en-US" sz="2000" dirty="0"/>
              <a:t>Focuses solely on code deployment and execution.</a:t>
            </a:r>
          </a:p>
          <a:p>
            <a:pPr algn="l"/>
            <a:endParaRPr lang="en-US" sz="2000" b="1" dirty="0"/>
          </a:p>
          <a:p>
            <a:pPr algn="l"/>
            <a:r>
              <a:rPr lang="en-US" sz="2000" b="1" dirty="0"/>
              <a:t>Benefits of Event-Driven Serverless Computing:</a:t>
            </a:r>
          </a:p>
          <a:p>
            <a:pPr marL="342900" indent="-342900" algn="l">
              <a:buFont typeface="Arial" panose="020B0604020202020204" pitchFamily="34" charset="0"/>
              <a:buChar char="•"/>
            </a:pPr>
            <a:r>
              <a:rPr lang="en-US" sz="2000" b="1" dirty="0"/>
              <a:t>Cost-efficiency:</a:t>
            </a:r>
            <a:r>
              <a:rPr lang="en-US" sz="2000" dirty="0"/>
              <a:t> Pay only for usage.</a:t>
            </a:r>
          </a:p>
          <a:p>
            <a:pPr marL="342900" indent="-342900" algn="l">
              <a:buFont typeface="Arial" panose="020B0604020202020204" pitchFamily="34" charset="0"/>
              <a:buChar char="•"/>
            </a:pPr>
            <a:r>
              <a:rPr lang="en-US" sz="2000" b="1" dirty="0"/>
              <a:t>Auto-scaling:</a:t>
            </a:r>
            <a:r>
              <a:rPr lang="en-US" sz="2000" dirty="0"/>
              <a:t> Adapts to demand automatically.</a:t>
            </a:r>
          </a:p>
          <a:p>
            <a:pPr marL="342900" indent="-342900" algn="l">
              <a:buFont typeface="Arial" panose="020B0604020202020204" pitchFamily="34" charset="0"/>
              <a:buChar char="•"/>
            </a:pPr>
            <a:r>
              <a:rPr lang="en-US" sz="2000" dirty="0"/>
              <a:t>Simplified development and maintenance.</a:t>
            </a:r>
          </a:p>
        </p:txBody>
      </p:sp>
    </p:spTree>
    <p:extLst>
      <p:ext uri="{BB962C8B-B14F-4D97-AF65-F5344CB8AC3E}">
        <p14:creationId xmlns:p14="http://schemas.microsoft.com/office/powerpoint/2010/main" val="2745773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76BD7-69D6-F267-6EEE-C839719E6CF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D6B91CB6-6771-503F-0A5F-80D120B3C7D0}"/>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4F55F493-5C58-77DE-FB79-EF347F12CABE}"/>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272F4694-7330-806E-82E3-335EA173BB9C}"/>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EFAE9EE-21C8-2A0E-CE5D-55820F6C4546}"/>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3F71222-ACB7-CACB-73C1-F0E625A6F097}"/>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B0CC611-C0E1-6566-7566-6093D4298007}"/>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873DB72-8435-18E4-A719-B3336862C665}"/>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DBC56AA6-268E-1E16-FABF-08A9344D5F32}"/>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Use Cases for Cloud Functions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60156EAA-6F9A-4BC4-E91C-57B04987596B}"/>
              </a:ext>
            </a:extLst>
          </p:cNvPr>
          <p:cNvSpPr txBox="1"/>
          <p:nvPr/>
        </p:nvSpPr>
        <p:spPr>
          <a:xfrm>
            <a:off x="728180" y="1618394"/>
            <a:ext cx="10312304" cy="1938992"/>
          </a:xfrm>
          <a:prstGeom prst="rect">
            <a:avLst/>
          </a:prstGeom>
          <a:noFill/>
        </p:spPr>
        <p:txBody>
          <a:bodyPr wrap="square">
            <a:spAutoFit/>
          </a:bodyPr>
          <a:lstStyle/>
          <a:p>
            <a:pPr algn="l"/>
            <a:r>
              <a:rPr lang="en-US" sz="2000" dirty="0"/>
              <a:t>Real-World Applications:</a:t>
            </a:r>
          </a:p>
          <a:p>
            <a:pPr marL="457200" indent="-457200" algn="l">
              <a:buFont typeface="+mj-lt"/>
              <a:buAutoNum type="arabicPeriod"/>
            </a:pPr>
            <a:r>
              <a:rPr lang="en-US" sz="2000" dirty="0"/>
              <a:t>Real-time Data Processing: </a:t>
            </a:r>
            <a:r>
              <a:rPr lang="en-US" sz="2000" dirty="0" err="1"/>
              <a:t>Analyse</a:t>
            </a:r>
            <a:r>
              <a:rPr lang="en-US" sz="2000" dirty="0"/>
              <a:t> streaming data from IoT devices or logs.</a:t>
            </a:r>
          </a:p>
          <a:p>
            <a:pPr marL="457200" indent="-457200" algn="l">
              <a:buFont typeface="+mj-lt"/>
              <a:buAutoNum type="arabicPeriod"/>
            </a:pPr>
            <a:r>
              <a:rPr lang="en-US" sz="2000" dirty="0"/>
              <a:t>Webhooks: Automate responses to third-party service events.</a:t>
            </a:r>
          </a:p>
          <a:p>
            <a:pPr marL="457200" indent="-457200" algn="l">
              <a:buFont typeface="+mj-lt"/>
              <a:buAutoNum type="arabicPeriod"/>
            </a:pPr>
            <a:r>
              <a:rPr lang="en-US" sz="2000" dirty="0"/>
              <a:t>Backend for Mobile and Web Applications: Perform CRUD operations.</a:t>
            </a:r>
          </a:p>
          <a:p>
            <a:pPr marL="457200" indent="-457200" algn="l">
              <a:buFont typeface="+mj-lt"/>
              <a:buAutoNum type="arabicPeriod"/>
            </a:pPr>
            <a:r>
              <a:rPr lang="en-US" sz="2000" dirty="0"/>
              <a:t>File Processing: Resize images, convert file formats, or generate PDFs.</a:t>
            </a:r>
          </a:p>
          <a:p>
            <a:pPr marL="457200" indent="-457200" algn="l">
              <a:buFont typeface="+mj-lt"/>
              <a:buAutoNum type="arabicPeriod"/>
            </a:pPr>
            <a:r>
              <a:rPr lang="en-US" sz="2000" dirty="0"/>
              <a:t>Integration with APIs: Extend functionalities of existing systems.</a:t>
            </a:r>
          </a:p>
        </p:txBody>
      </p:sp>
    </p:spTree>
    <p:extLst>
      <p:ext uri="{BB962C8B-B14F-4D97-AF65-F5344CB8AC3E}">
        <p14:creationId xmlns:p14="http://schemas.microsoft.com/office/powerpoint/2010/main" val="199200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CEDB9-E742-759C-1FDD-04FFFAEFC499}"/>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8A34634-411D-5C28-3887-C917B854437A}"/>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E9420F01-FDFB-5E79-656D-71194BDB7F62}"/>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16A12063-CABD-1A65-ED17-92C2E031CB92}"/>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83969565-28EA-F665-F2B9-A51CA72ACAF8}"/>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BDA00C4-5D2A-45B9-7A85-0185019CA8CB}"/>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CE539198-740F-72C9-2004-026A616A1C35}"/>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9C98159-2CF3-8B64-F20C-7016395874AA}"/>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DD88C862-045B-7EB3-CF86-CEC8C592EBC5}"/>
              </a:ext>
            </a:extLst>
          </p:cNvPr>
          <p:cNvSpPr txBox="1"/>
          <p:nvPr/>
        </p:nvSpPr>
        <p:spPr>
          <a:xfrm>
            <a:off x="1837106" y="2891907"/>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Walkthrough of </a:t>
            </a:r>
            <a:r>
              <a:rPr lang="en-US" sz="2800" dirty="0" err="1">
                <a:solidFill>
                  <a:sysClr val="windowText" lastClr="000000"/>
                </a:solidFill>
                <a:latin typeface="Proxima Nova"/>
                <a:ea typeface="Proxima Nova"/>
                <a:cs typeface="Proxima Nova"/>
                <a:sym typeface="Proxima Nova"/>
              </a:rPr>
              <a:t>CloudFunctions</a:t>
            </a:r>
            <a:r>
              <a:rPr lang="en-US" sz="2800" dirty="0">
                <a:solidFill>
                  <a:sysClr val="windowText" lastClr="000000"/>
                </a:solidFill>
                <a:latin typeface="Proxima Nova"/>
                <a:ea typeface="Proxima Nova"/>
                <a:cs typeface="Proxima Nova"/>
                <a:sym typeface="Proxima Nova"/>
              </a:rPr>
              <a:t> on GCP</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13591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4E04-CFC6-D8C0-A20B-3D9054AFA0C7}"/>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7FF449E6-291D-98F0-9409-6C693B25F6B5}"/>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536938A-ACF5-345B-0F2E-127344882B69}"/>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7C6F31F-B045-446A-BFC4-414730DFC189}"/>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9FAF3F38-A101-11F5-9C46-57068A76D782}"/>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8278A5E-E424-7549-D934-854AE0BA4E6B}"/>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5EF5342-CBB8-A457-D2FF-413095C908F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661022D1-0A8D-60AE-C865-4F348EDB3E6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AD9A6B31-BD24-C7DF-10E2-1FAD043A5D53}"/>
              </a:ext>
            </a:extLst>
          </p:cNvPr>
          <p:cNvSpPr txBox="1"/>
          <p:nvPr/>
        </p:nvSpPr>
        <p:spPr>
          <a:xfrm>
            <a:off x="1837106" y="2710484"/>
            <a:ext cx="8517788" cy="91361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Hands-on Activity: Create and Deploy a Cloud Function</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243214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AA01-AB73-CF8F-545F-8B7068CDE4A9}"/>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9B0E5AD-E4B0-6AD0-C61A-20754D678641}"/>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B993405-F153-4183-BD39-139261987AC6}"/>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157DB8EE-032C-B113-4C6E-ED8A225D377C}"/>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4AF621F-59F1-9805-C704-FB6D9E92D5F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C1A945F8-6D45-3570-E42D-D7476CB24E7F}"/>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A4825E45-DD3C-221E-EB3E-FE462E44D25E}"/>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B79598E3-EC87-751D-A021-9085D2F6918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162C1D25-208C-F64E-8BBC-FEFF1D8686DB}"/>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Introduction to Virtual Private Cloud (VPC)</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120E46A3-714E-7F24-945D-D86CCB992901}"/>
              </a:ext>
            </a:extLst>
          </p:cNvPr>
          <p:cNvSpPr txBox="1"/>
          <p:nvPr/>
        </p:nvSpPr>
        <p:spPr>
          <a:xfrm>
            <a:off x="728180" y="1618394"/>
            <a:ext cx="10312304" cy="3170099"/>
          </a:xfrm>
          <a:prstGeom prst="rect">
            <a:avLst/>
          </a:prstGeom>
          <a:noFill/>
        </p:spPr>
        <p:txBody>
          <a:bodyPr wrap="square">
            <a:spAutoFit/>
          </a:bodyPr>
          <a:lstStyle/>
          <a:p>
            <a:pPr algn="l"/>
            <a:r>
              <a:rPr lang="en-US" sz="2000" b="1" dirty="0"/>
              <a:t>What is a VPC?</a:t>
            </a:r>
          </a:p>
          <a:p>
            <a:pPr algn="l"/>
            <a:r>
              <a:rPr lang="en-US" sz="2000" dirty="0"/>
              <a:t>A managed networking service that allows provisioning, connecting, and isolating resources in Google Cloud.</a:t>
            </a:r>
          </a:p>
          <a:p>
            <a:pPr algn="l"/>
            <a:endParaRPr lang="en-US" sz="2000" dirty="0"/>
          </a:p>
          <a:p>
            <a:pPr algn="l"/>
            <a:r>
              <a:rPr lang="en-US" sz="2000" b="1" dirty="0"/>
              <a:t>What does it do?</a:t>
            </a:r>
          </a:p>
          <a:p>
            <a:pPr marL="342900" indent="-342900" algn="l">
              <a:buFont typeface="Arial" panose="020B0604020202020204" pitchFamily="34" charset="0"/>
              <a:buChar char="•"/>
            </a:pPr>
            <a:r>
              <a:rPr lang="en-US" sz="2000" dirty="0"/>
              <a:t>Enables fine-grained networking policies.</a:t>
            </a:r>
          </a:p>
          <a:p>
            <a:pPr marL="342900" indent="-342900" algn="l">
              <a:buFont typeface="Arial" panose="020B0604020202020204" pitchFamily="34" charset="0"/>
              <a:buChar char="•"/>
            </a:pPr>
            <a:r>
              <a:rPr lang="en-US" sz="2000" dirty="0"/>
              <a:t>Connects resources globally over Google’s private fiber network.</a:t>
            </a:r>
          </a:p>
          <a:p>
            <a:pPr algn="l"/>
            <a:endParaRPr lang="en-US" sz="2000" dirty="0"/>
          </a:p>
          <a:p>
            <a:pPr algn="l"/>
            <a:r>
              <a:rPr lang="en-US" sz="2000" b="1" dirty="0"/>
              <a:t>How is it used?</a:t>
            </a:r>
          </a:p>
          <a:p>
            <a:pPr algn="l"/>
            <a:r>
              <a:rPr lang="en-US" sz="2000" dirty="0"/>
              <a:t>Define IP ranges, set up networks, and configure routes/firewalls.</a:t>
            </a:r>
          </a:p>
        </p:txBody>
      </p:sp>
    </p:spTree>
    <p:extLst>
      <p:ext uri="{BB962C8B-B14F-4D97-AF65-F5344CB8AC3E}">
        <p14:creationId xmlns:p14="http://schemas.microsoft.com/office/powerpoint/2010/main" val="938419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02BB5-4F2E-6407-C816-981EFDED775C}"/>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022B3B88-2693-A01A-887A-EE54C439B621}"/>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7A5A95D9-39D9-4ACE-9F5C-EA7122D02CB2}"/>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E1D78D9-2333-0393-0BE1-CFB30278CC1A}"/>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329F1245-6050-5F72-5A73-8DC5AE8AEA0D}"/>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33056716-C648-51CA-2737-B6E8CD1D2134}"/>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22DC010-8EFA-A115-C9CC-7D06FD2C612A}"/>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714D747-81B7-3385-01B8-00AA1250113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9B42985-8B1C-505F-A4B8-7E1CAA9EE862}"/>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Understanding VPC Networks and Subnets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7D6FBBD4-E38F-84B7-48C9-994D07C2664D}"/>
              </a:ext>
            </a:extLst>
          </p:cNvPr>
          <p:cNvSpPr txBox="1"/>
          <p:nvPr/>
        </p:nvSpPr>
        <p:spPr>
          <a:xfrm>
            <a:off x="728180" y="1618394"/>
            <a:ext cx="10312304" cy="3477875"/>
          </a:xfrm>
          <a:prstGeom prst="rect">
            <a:avLst/>
          </a:prstGeom>
          <a:noFill/>
        </p:spPr>
        <p:txBody>
          <a:bodyPr wrap="square">
            <a:spAutoFit/>
          </a:bodyPr>
          <a:lstStyle/>
          <a:p>
            <a:pPr algn="l"/>
            <a:r>
              <a:rPr lang="en-US" sz="2000" b="1" dirty="0"/>
              <a:t>VPC Networks:</a:t>
            </a:r>
          </a:p>
          <a:p>
            <a:pPr marL="342900" indent="-342900" algn="l">
              <a:buFont typeface="Arial" panose="020B0604020202020204" pitchFamily="34" charset="0"/>
              <a:buChar char="•"/>
            </a:pPr>
            <a:r>
              <a:rPr lang="en-US" sz="2000" dirty="0"/>
              <a:t>Default, Auto Mode, Custom Mode networks.</a:t>
            </a:r>
          </a:p>
          <a:p>
            <a:pPr marL="342900" indent="-342900" algn="l">
              <a:buFont typeface="Arial" panose="020B0604020202020204" pitchFamily="34" charset="0"/>
              <a:buChar char="•"/>
            </a:pPr>
            <a:r>
              <a:rPr lang="en-US" sz="2000" dirty="0"/>
              <a:t>Global span but segregate into subnetworks.</a:t>
            </a:r>
          </a:p>
          <a:p>
            <a:pPr algn="l"/>
            <a:endParaRPr lang="en-US" sz="2000" dirty="0"/>
          </a:p>
          <a:p>
            <a:pPr algn="l"/>
            <a:r>
              <a:rPr lang="en-US" sz="2000" b="1" dirty="0"/>
              <a:t>Subnets:</a:t>
            </a:r>
          </a:p>
          <a:p>
            <a:pPr marL="342900" indent="-342900" algn="l">
              <a:buFont typeface="Arial" panose="020B0604020202020204" pitchFamily="34" charset="0"/>
              <a:buChar char="•"/>
            </a:pPr>
            <a:r>
              <a:rPr lang="en-US" sz="2000" dirty="0"/>
              <a:t>Regional IP allocations.</a:t>
            </a:r>
          </a:p>
          <a:p>
            <a:pPr marL="342900" indent="-342900" algn="l">
              <a:buFont typeface="Arial" panose="020B0604020202020204" pitchFamily="34" charset="0"/>
              <a:buChar char="•"/>
            </a:pPr>
            <a:r>
              <a:rPr lang="en-US" sz="2000" dirty="0"/>
              <a:t>Enable division within networks to </a:t>
            </a:r>
            <a:r>
              <a:rPr lang="en-US" sz="2000" dirty="0" err="1"/>
              <a:t>organise</a:t>
            </a:r>
            <a:r>
              <a:rPr lang="en-US" sz="2000" dirty="0"/>
              <a:t> resources.</a:t>
            </a:r>
          </a:p>
          <a:p>
            <a:pPr marL="342900" indent="-342900" algn="l">
              <a:buFont typeface="Arial" panose="020B0604020202020204" pitchFamily="34" charset="0"/>
              <a:buChar char="•"/>
            </a:pPr>
            <a:endParaRPr lang="en-US" sz="2000" dirty="0"/>
          </a:p>
          <a:p>
            <a:pPr algn="l"/>
            <a:r>
              <a:rPr lang="en-US" sz="2000" b="1" dirty="0"/>
              <a:t>Key Points:</a:t>
            </a:r>
          </a:p>
          <a:p>
            <a:pPr marL="342900" indent="-342900" algn="l">
              <a:buFont typeface="Arial" panose="020B0604020202020204" pitchFamily="34" charset="0"/>
              <a:buChar char="•"/>
            </a:pPr>
            <a:r>
              <a:rPr lang="en-US" sz="2000" dirty="0"/>
              <a:t>Networks are isolated but can share resources through peering.</a:t>
            </a:r>
          </a:p>
          <a:p>
            <a:pPr marL="342900" indent="-342900" algn="l">
              <a:buFont typeface="Arial" panose="020B0604020202020204" pitchFamily="34" charset="0"/>
              <a:buChar char="•"/>
            </a:pPr>
            <a:r>
              <a:rPr lang="en-US" sz="2000" dirty="0"/>
              <a:t>Subnets support scalable designs with flexible IP allocations.</a:t>
            </a:r>
          </a:p>
        </p:txBody>
      </p:sp>
    </p:spTree>
    <p:extLst>
      <p:ext uri="{BB962C8B-B14F-4D97-AF65-F5344CB8AC3E}">
        <p14:creationId xmlns:p14="http://schemas.microsoft.com/office/powerpoint/2010/main" val="406563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DBC38-FD03-1F83-F357-F70FE11F6FEA}"/>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59F2780-DAE5-E883-5767-2AD1D7F46C0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B5539278-11AD-3C3B-DD8C-C1E68A4B3D30}"/>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B2B3373E-A836-12D8-00AE-D7280A6E36D6}"/>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E68CE70E-85B3-6041-54D5-78DF5804085A}"/>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470B907C-3A57-4264-59D7-A8203177BABC}"/>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7F3A748-162B-22EC-09A8-7D8C76FE198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F06DC7F5-8F74-6797-7F2F-EB64DAC1526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FA95012-97C8-04FC-20A1-C2DF1C9EFDDC}"/>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Configuring Firewalls and Routes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0D265225-E07A-400C-AB13-D56639E5FED6}"/>
              </a:ext>
            </a:extLst>
          </p:cNvPr>
          <p:cNvSpPr txBox="1"/>
          <p:nvPr/>
        </p:nvSpPr>
        <p:spPr>
          <a:xfrm>
            <a:off x="728180" y="1618394"/>
            <a:ext cx="10312304" cy="3477875"/>
          </a:xfrm>
          <a:prstGeom prst="rect">
            <a:avLst/>
          </a:prstGeom>
          <a:noFill/>
        </p:spPr>
        <p:txBody>
          <a:bodyPr wrap="square">
            <a:spAutoFit/>
          </a:bodyPr>
          <a:lstStyle/>
          <a:p>
            <a:pPr algn="l"/>
            <a:r>
              <a:rPr lang="en-US" sz="2000" b="1" dirty="0"/>
              <a:t>Firewall Rules:</a:t>
            </a:r>
          </a:p>
          <a:p>
            <a:pPr marL="342900" indent="-342900" algn="l">
              <a:buFont typeface="Arial" panose="020B0604020202020204" pitchFamily="34" charset="0"/>
              <a:buChar char="•"/>
            </a:pPr>
            <a:r>
              <a:rPr lang="en-US" sz="2000" dirty="0"/>
              <a:t>Control traffic ingress and egress.</a:t>
            </a:r>
          </a:p>
          <a:p>
            <a:pPr marL="342900" indent="-342900" algn="l">
              <a:buFont typeface="Arial" panose="020B0604020202020204" pitchFamily="34" charset="0"/>
              <a:buChar char="•"/>
            </a:pPr>
            <a:r>
              <a:rPr lang="en-US" sz="2000" dirty="0"/>
              <a:t>Stateful rules applied at the instance level.</a:t>
            </a:r>
          </a:p>
          <a:p>
            <a:pPr algn="l"/>
            <a:endParaRPr lang="en-US" sz="2000" b="1" dirty="0"/>
          </a:p>
          <a:p>
            <a:pPr algn="l"/>
            <a:r>
              <a:rPr lang="en-US" sz="2000" b="1" dirty="0"/>
              <a:t>Routes:</a:t>
            </a:r>
          </a:p>
          <a:p>
            <a:pPr marL="342900" indent="-342900" algn="l">
              <a:buFont typeface="Arial" panose="020B0604020202020204" pitchFamily="34" charset="0"/>
              <a:buChar char="•"/>
            </a:pPr>
            <a:r>
              <a:rPr lang="en-US" sz="2000" dirty="0"/>
              <a:t>Map IP ranges to destinations.</a:t>
            </a:r>
          </a:p>
          <a:p>
            <a:pPr marL="342900" indent="-342900" algn="l">
              <a:buFont typeface="Arial" panose="020B0604020202020204" pitchFamily="34" charset="0"/>
              <a:buChar char="•"/>
            </a:pPr>
            <a:r>
              <a:rPr lang="en-US" sz="2000" dirty="0"/>
              <a:t>Allow internal and external communication based on firewall rules.</a:t>
            </a:r>
          </a:p>
          <a:p>
            <a:pPr marL="342900" indent="-342900" algn="l">
              <a:buFont typeface="Arial" panose="020B0604020202020204" pitchFamily="34" charset="0"/>
              <a:buChar char="•"/>
            </a:pPr>
            <a:endParaRPr lang="en-US" sz="2000" dirty="0"/>
          </a:p>
          <a:p>
            <a:pPr algn="l"/>
            <a:r>
              <a:rPr lang="en-US" sz="2000" b="1" dirty="0"/>
              <a:t>Key Concepts:</a:t>
            </a:r>
          </a:p>
          <a:p>
            <a:pPr marL="342900" indent="-342900" algn="l">
              <a:buFont typeface="Arial" panose="020B0604020202020204" pitchFamily="34" charset="0"/>
              <a:buChar char="•"/>
            </a:pPr>
            <a:r>
              <a:rPr lang="en-US" sz="2000" dirty="0"/>
              <a:t>Default routes for external communication.</a:t>
            </a:r>
          </a:p>
          <a:p>
            <a:pPr marL="342900" indent="-342900" algn="l">
              <a:buFont typeface="Arial" panose="020B0604020202020204" pitchFamily="34" charset="0"/>
              <a:buChar char="•"/>
            </a:pPr>
            <a:r>
              <a:rPr lang="en-US" sz="2000" dirty="0"/>
              <a:t>Custom routes for specific traffic paths.</a:t>
            </a:r>
          </a:p>
        </p:txBody>
      </p:sp>
    </p:spTree>
    <p:extLst>
      <p:ext uri="{BB962C8B-B14F-4D97-AF65-F5344CB8AC3E}">
        <p14:creationId xmlns:p14="http://schemas.microsoft.com/office/powerpoint/2010/main" val="1012942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A7C5-07B9-5172-5A0F-91B60FCDA34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39FA1D25-0C95-BB84-E8DB-CF0E494AD89C}"/>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8B022F5C-DD4F-FF54-6836-1DF20638BB1A}"/>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F908593-C068-E3B9-F06C-49FFEAC16331}"/>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3B2B9CDE-FD69-0919-4F46-1F645FFD02C9}"/>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03F4310-CDB1-9989-F454-C70D0DDDED8C}"/>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F30C2BB0-50EB-1CFA-70B8-52953A20EA0B}"/>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E2AE6CDF-1372-A1E4-9977-1DDCC47E2DEA}"/>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A5DC24A3-DAA9-9F2F-0E7E-5C6AA6C09D8F}"/>
              </a:ext>
            </a:extLst>
          </p:cNvPr>
          <p:cNvSpPr txBox="1"/>
          <p:nvPr/>
        </p:nvSpPr>
        <p:spPr>
          <a:xfrm>
            <a:off x="1837106" y="2891907"/>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Walkthrough of VPC on GCP</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840741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9DA39-14AF-B264-7D8E-2893D764633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9B5AC63-62E2-E485-B024-3A868F01369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6230957A-2FC3-09DA-6895-A5A2D3930AFA}"/>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F5FC28BA-85F5-3EF6-ED31-A61A6C257877}"/>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F756A98-79B6-1544-F924-7912ADA1D3F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1CDD18F7-67DC-2C68-7086-3A77EF1AB0D6}"/>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D13ED6A7-CE8F-EB59-BDFE-D602843AD95B}"/>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8E1022C6-7C7F-E05C-3168-9026E87BFC1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3629CCA5-EF85-E3DA-96C5-3073DF1CAC65}"/>
              </a:ext>
            </a:extLst>
          </p:cNvPr>
          <p:cNvSpPr txBox="1"/>
          <p:nvPr/>
        </p:nvSpPr>
        <p:spPr>
          <a:xfrm>
            <a:off x="1837106" y="2710484"/>
            <a:ext cx="8517788" cy="91361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Hands-on Activity: Set Up a Custom VPC with Subnets</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3955441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64724-B98D-AC98-3B28-E01CF2BE7EAF}"/>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61BA673D-5EDD-A93E-D073-3FB0B7F8A289}"/>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E610D97-6CFB-A088-C76B-072BE8042D41}"/>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5067570-6ABB-77B3-AB18-5CB755C1CA86}"/>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E62F134-2067-1A93-00E3-F2BD674E15E3}"/>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968C1029-E91E-A348-8BB5-782A34DD5C0A}"/>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C304AF26-21FF-C925-84B3-F911639CA445}"/>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68DFE2E-CE1D-9EFB-F20C-0D5936573BE3}"/>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D74EA4C2-1518-A97F-F00F-A9AFA546EA7E}"/>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Security and IAM Overview</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1D6A03F2-F14B-EA15-AD8C-D4A0C4B4E92B}"/>
              </a:ext>
            </a:extLst>
          </p:cNvPr>
          <p:cNvSpPr txBox="1"/>
          <p:nvPr/>
        </p:nvSpPr>
        <p:spPr>
          <a:xfrm>
            <a:off x="728180" y="1618394"/>
            <a:ext cx="10312304" cy="2554545"/>
          </a:xfrm>
          <a:prstGeom prst="rect">
            <a:avLst/>
          </a:prstGeom>
          <a:noFill/>
        </p:spPr>
        <p:txBody>
          <a:bodyPr wrap="square">
            <a:spAutoFit/>
          </a:bodyPr>
          <a:lstStyle/>
          <a:p>
            <a:pPr algn="l"/>
            <a:r>
              <a:rPr lang="en-US" sz="2000" b="1" dirty="0"/>
              <a:t>Definition:</a:t>
            </a:r>
          </a:p>
          <a:p>
            <a:pPr algn="l"/>
            <a:r>
              <a:rPr lang="en-US" sz="2000" dirty="0"/>
              <a:t>IAM is a system to define "Who can do what on which resource" in Google </a:t>
            </a:r>
            <a:r>
              <a:rPr lang="en-US" sz="2000" dirty="0" err="1"/>
              <a:t>Cloud.It</a:t>
            </a:r>
            <a:r>
              <a:rPr lang="en-US" sz="2000" dirty="0"/>
              <a:t> identifies users, their actions, and the resources affected.</a:t>
            </a:r>
          </a:p>
          <a:p>
            <a:pPr algn="l"/>
            <a:endParaRPr lang="en-US" sz="2000" dirty="0"/>
          </a:p>
          <a:p>
            <a:pPr algn="l"/>
            <a:r>
              <a:rPr lang="en-US" sz="2000" b="1" dirty="0"/>
              <a:t>Components of IAM:</a:t>
            </a:r>
          </a:p>
          <a:p>
            <a:pPr marL="342900" indent="-342900" algn="l">
              <a:buFont typeface="Arial" panose="020B0604020202020204" pitchFamily="34" charset="0"/>
              <a:buChar char="•"/>
            </a:pPr>
            <a:r>
              <a:rPr lang="en-US" sz="2000" b="1" dirty="0"/>
              <a:t>Identity:</a:t>
            </a:r>
            <a:r>
              <a:rPr lang="en-US" sz="2000" dirty="0"/>
              <a:t> Users, groups, or applications (who)</a:t>
            </a:r>
          </a:p>
          <a:p>
            <a:pPr marL="342900" indent="-342900" algn="l">
              <a:buFont typeface="Arial" panose="020B0604020202020204" pitchFamily="34" charset="0"/>
              <a:buChar char="•"/>
            </a:pPr>
            <a:r>
              <a:rPr lang="en-US" sz="2000" b="1" dirty="0"/>
              <a:t>Roles:</a:t>
            </a:r>
            <a:r>
              <a:rPr lang="en-US" sz="2000" dirty="0"/>
              <a:t> Specific permissions (what)</a:t>
            </a:r>
          </a:p>
          <a:p>
            <a:pPr marL="342900" indent="-342900" algn="l">
              <a:buFont typeface="Arial" panose="020B0604020202020204" pitchFamily="34" charset="0"/>
              <a:buChar char="•"/>
            </a:pPr>
            <a:r>
              <a:rPr lang="en-US" sz="2000" b="1" dirty="0"/>
              <a:t>Resources:</a:t>
            </a:r>
            <a:r>
              <a:rPr lang="en-US" sz="2000" dirty="0"/>
              <a:t> Cloud services or assets (where)</a:t>
            </a:r>
          </a:p>
        </p:txBody>
      </p:sp>
    </p:spTree>
    <p:extLst>
      <p:ext uri="{BB962C8B-B14F-4D97-AF65-F5344CB8AC3E}">
        <p14:creationId xmlns:p14="http://schemas.microsoft.com/office/powerpoint/2010/main" val="183733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C3533-F964-78A7-BBBB-9BBAFA2FB55E}"/>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5E2726D-93AF-652A-FE53-14791B209DB8}"/>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8BC07AE-8D9D-9E7E-C5A2-8E45FD8E6175}"/>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26EA97A0-E000-4911-E721-BFA812CDA46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C8FB55A-C3C0-1E84-9CA0-8C69FDD2AB3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7C281FF5-B5B4-7DD9-45E3-F59E1E9004BB}"/>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65F1FA55-91FF-0AE8-28D0-F4F3946DFC25}"/>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DDFEDF08-D332-4CAA-AD31-71AF66F41BD7}"/>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FFE3F259-149F-E7F3-2B89-7EDAEB08C738}"/>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Principles of GCP Security</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AA9B7D37-94F0-00EF-EC13-549ABD49916E}"/>
              </a:ext>
            </a:extLst>
          </p:cNvPr>
          <p:cNvSpPr txBox="1"/>
          <p:nvPr/>
        </p:nvSpPr>
        <p:spPr>
          <a:xfrm>
            <a:off x="728180" y="1618394"/>
            <a:ext cx="10312304" cy="4401205"/>
          </a:xfrm>
          <a:prstGeom prst="rect">
            <a:avLst/>
          </a:prstGeom>
          <a:noFill/>
        </p:spPr>
        <p:txBody>
          <a:bodyPr wrap="square">
            <a:spAutoFit/>
          </a:bodyPr>
          <a:lstStyle/>
          <a:p>
            <a:pPr algn="l"/>
            <a:r>
              <a:rPr lang="en-US" sz="2000" b="1" dirty="0"/>
              <a:t>Resource Hierarchy:</a:t>
            </a:r>
          </a:p>
          <a:p>
            <a:pPr marL="342900" indent="-342900" algn="l">
              <a:buFont typeface="Arial" panose="020B0604020202020204" pitchFamily="34" charset="0"/>
              <a:buChar char="•"/>
            </a:pPr>
            <a:r>
              <a:rPr lang="en-US" sz="2000" dirty="0"/>
              <a:t>Organization → Folders → Projects → Resources</a:t>
            </a:r>
          </a:p>
          <a:p>
            <a:pPr marL="342900" indent="-342900" algn="l">
              <a:buFont typeface="Arial" panose="020B0604020202020204" pitchFamily="34" charset="0"/>
              <a:buChar char="•"/>
            </a:pPr>
            <a:r>
              <a:rPr lang="en-US" sz="2000" dirty="0"/>
              <a:t>Roles and permissions cascade from top-level nodes.</a:t>
            </a:r>
          </a:p>
          <a:p>
            <a:pPr algn="l"/>
            <a:endParaRPr lang="en-US" sz="2000" dirty="0"/>
          </a:p>
          <a:p>
            <a:pPr algn="l"/>
            <a:r>
              <a:rPr lang="en-US" sz="2000" b="1" dirty="0"/>
              <a:t>Principle of Least Privilege:</a:t>
            </a:r>
          </a:p>
          <a:p>
            <a:pPr marL="342900" indent="-342900" algn="l">
              <a:buFont typeface="Arial" panose="020B0604020202020204" pitchFamily="34" charset="0"/>
              <a:buChar char="•"/>
            </a:pPr>
            <a:r>
              <a:rPr lang="en-US" sz="2000" dirty="0"/>
              <a:t>Assign only the permissions required for specific tasks.</a:t>
            </a:r>
          </a:p>
          <a:p>
            <a:pPr algn="l"/>
            <a:endParaRPr lang="en-US" sz="2000" dirty="0"/>
          </a:p>
          <a:p>
            <a:pPr algn="l"/>
            <a:r>
              <a:rPr lang="en-US" sz="2000" b="1" dirty="0"/>
              <a:t>Role-Based Access Control (RBAC):</a:t>
            </a:r>
          </a:p>
          <a:p>
            <a:pPr marL="342900" indent="-342900" algn="l">
              <a:buFont typeface="Arial" panose="020B0604020202020204" pitchFamily="34" charset="0"/>
              <a:buChar char="•"/>
            </a:pPr>
            <a:r>
              <a:rPr lang="en-US" sz="2000" dirty="0"/>
              <a:t>Use predefined roles for specific services.</a:t>
            </a:r>
          </a:p>
          <a:p>
            <a:pPr marL="342900" indent="-342900" algn="l">
              <a:buFont typeface="Arial" panose="020B0604020202020204" pitchFamily="34" charset="0"/>
              <a:buChar char="•"/>
            </a:pPr>
            <a:r>
              <a:rPr lang="en-US" sz="2000" dirty="0"/>
              <a:t>Create custom roles for granular permissions.</a:t>
            </a:r>
          </a:p>
          <a:p>
            <a:pPr algn="l"/>
            <a:endParaRPr lang="en-US" sz="2000" dirty="0"/>
          </a:p>
          <a:p>
            <a:pPr algn="l"/>
            <a:r>
              <a:rPr lang="en-US" sz="2000" b="1" dirty="0"/>
              <a:t>IAM Best Practices:</a:t>
            </a:r>
          </a:p>
          <a:p>
            <a:pPr marL="342900" indent="-342900" algn="l">
              <a:buFont typeface="Arial" panose="020B0604020202020204" pitchFamily="34" charset="0"/>
              <a:buChar char="•"/>
            </a:pPr>
            <a:r>
              <a:rPr lang="en-US" sz="2000" dirty="0"/>
              <a:t>Use groups instead of individuals for role assignment.</a:t>
            </a:r>
          </a:p>
          <a:p>
            <a:pPr marL="342900" indent="-342900" algn="l">
              <a:buFont typeface="Arial" panose="020B0604020202020204" pitchFamily="34" charset="0"/>
              <a:buChar char="•"/>
            </a:pPr>
            <a:r>
              <a:rPr lang="en-US" sz="2000" dirty="0"/>
              <a:t>Audit permissions regularly.</a:t>
            </a:r>
          </a:p>
        </p:txBody>
      </p:sp>
    </p:spTree>
    <p:extLst>
      <p:ext uri="{BB962C8B-B14F-4D97-AF65-F5344CB8AC3E}">
        <p14:creationId xmlns:p14="http://schemas.microsoft.com/office/powerpoint/2010/main" val="2524596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83F37-2B1B-F839-3519-89F4DA4609E8}"/>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541D91BC-6A05-C893-0C3E-C6811D9F36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80099352-5D7D-E37D-CA2A-9B17CD9244C0}"/>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2F06285D-EA39-B11B-1A4C-75266C7D126D}"/>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5EB46BE9-67E8-F862-79CF-111419052D8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F379695-80D9-4BED-6AB7-18F76A19A1BD}"/>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5F79A590-B6C7-93A5-C1B3-426605C5AF3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02513AF4-1E44-7EE9-8581-114682234A4E}"/>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D4D85B6-1A2C-52FC-9415-B631EBE22215}"/>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Creating and Managing Roles and Permissions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9A06FDD8-B7F3-A59A-5D40-D1B8770B5A18}"/>
              </a:ext>
            </a:extLst>
          </p:cNvPr>
          <p:cNvSpPr txBox="1"/>
          <p:nvPr/>
        </p:nvSpPr>
        <p:spPr>
          <a:xfrm>
            <a:off x="728180" y="1618394"/>
            <a:ext cx="10312304" cy="4401205"/>
          </a:xfrm>
          <a:prstGeom prst="rect">
            <a:avLst/>
          </a:prstGeom>
          <a:noFill/>
        </p:spPr>
        <p:txBody>
          <a:bodyPr wrap="square">
            <a:spAutoFit/>
          </a:bodyPr>
          <a:lstStyle/>
          <a:p>
            <a:pPr algn="l"/>
            <a:r>
              <a:rPr lang="en-US" sz="2000" b="1" dirty="0"/>
              <a:t>Types of IAM Roles:</a:t>
            </a:r>
          </a:p>
          <a:p>
            <a:pPr marL="342900" indent="-342900" algn="l">
              <a:buFont typeface="Arial" panose="020B0604020202020204" pitchFamily="34" charset="0"/>
              <a:buChar char="•"/>
            </a:pPr>
            <a:r>
              <a:rPr lang="en-US" sz="2000" dirty="0"/>
              <a:t>Basic Roles: Owner, Editor, Viewer.</a:t>
            </a:r>
          </a:p>
          <a:p>
            <a:pPr marL="342900" indent="-342900" algn="l">
              <a:buFont typeface="Arial" panose="020B0604020202020204" pitchFamily="34" charset="0"/>
              <a:buChar char="•"/>
            </a:pPr>
            <a:r>
              <a:rPr lang="en-US" sz="2000" dirty="0"/>
              <a:t>Predefined Roles: Service-specific roles (e.g., Storage Admin, Compute Viewer).</a:t>
            </a:r>
          </a:p>
          <a:p>
            <a:pPr marL="342900" indent="-342900" algn="l">
              <a:buFont typeface="Arial" panose="020B0604020202020204" pitchFamily="34" charset="0"/>
              <a:buChar char="•"/>
            </a:pPr>
            <a:r>
              <a:rPr lang="en-US" sz="2000" dirty="0"/>
              <a:t>Custom Roles: Tailored roles with specific permissions.</a:t>
            </a:r>
            <a:endParaRPr lang="en-US" sz="2000" b="1" dirty="0"/>
          </a:p>
          <a:p>
            <a:pPr algn="l"/>
            <a:endParaRPr lang="en-US" sz="2000" b="1" dirty="0"/>
          </a:p>
          <a:p>
            <a:pPr algn="l"/>
            <a:r>
              <a:rPr lang="en-US" sz="2000" b="1" dirty="0"/>
              <a:t>Steps to Assign Roles:</a:t>
            </a:r>
          </a:p>
          <a:p>
            <a:pPr marL="342900" indent="-342900" algn="l">
              <a:buFont typeface="Arial" panose="020B0604020202020204" pitchFamily="34" charset="0"/>
              <a:buChar char="•"/>
            </a:pPr>
            <a:r>
              <a:rPr lang="en-US" sz="2000" dirty="0"/>
              <a:t>Identify the resource (e.g., project, folder).</a:t>
            </a:r>
          </a:p>
          <a:p>
            <a:pPr marL="342900" indent="-342900" algn="l">
              <a:buFont typeface="Arial" panose="020B0604020202020204" pitchFamily="34" charset="0"/>
              <a:buChar char="•"/>
            </a:pPr>
            <a:r>
              <a:rPr lang="en-US" sz="2000" dirty="0"/>
              <a:t>Assign a role to a user or group.</a:t>
            </a:r>
          </a:p>
          <a:p>
            <a:pPr marL="342900" indent="-342900" algn="l">
              <a:buFont typeface="Arial" panose="020B0604020202020204" pitchFamily="34" charset="0"/>
              <a:buChar char="•"/>
            </a:pPr>
            <a:r>
              <a:rPr lang="en-US" sz="2000" dirty="0"/>
              <a:t>Verify access via audit logs or policy checkers.</a:t>
            </a:r>
          </a:p>
          <a:p>
            <a:pPr algn="l"/>
            <a:endParaRPr lang="en-US" sz="2000" b="1" dirty="0"/>
          </a:p>
          <a:p>
            <a:pPr algn="l"/>
            <a:r>
              <a:rPr lang="en-US" sz="2000" b="1" dirty="0"/>
              <a:t>Tools for Management:</a:t>
            </a:r>
          </a:p>
          <a:p>
            <a:pPr marL="342900" indent="-342900" algn="l">
              <a:buFont typeface="Arial" panose="020B0604020202020204" pitchFamily="34" charset="0"/>
              <a:buChar char="•"/>
            </a:pPr>
            <a:r>
              <a:rPr lang="en-US" sz="2000" dirty="0"/>
              <a:t>Google Cloud Console</a:t>
            </a:r>
          </a:p>
          <a:p>
            <a:pPr marL="342900" indent="-342900" algn="l">
              <a:buFont typeface="Arial" panose="020B0604020202020204" pitchFamily="34" charset="0"/>
              <a:buChar char="•"/>
            </a:pPr>
            <a:r>
              <a:rPr lang="en-US" sz="2000" dirty="0" err="1"/>
              <a:t>gcloud</a:t>
            </a:r>
            <a:r>
              <a:rPr lang="en-US" sz="2000" dirty="0"/>
              <a:t> command-line tool</a:t>
            </a:r>
          </a:p>
          <a:p>
            <a:pPr marL="342900" indent="-342900" algn="l">
              <a:buFont typeface="Arial" panose="020B0604020202020204" pitchFamily="34" charset="0"/>
              <a:buChar char="•"/>
            </a:pPr>
            <a:r>
              <a:rPr lang="en-US" sz="2000" dirty="0"/>
              <a:t>API Access</a:t>
            </a:r>
          </a:p>
        </p:txBody>
      </p:sp>
    </p:spTree>
    <p:extLst>
      <p:ext uri="{BB962C8B-B14F-4D97-AF65-F5344CB8AC3E}">
        <p14:creationId xmlns:p14="http://schemas.microsoft.com/office/powerpoint/2010/main" val="3112877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0E17A-FA9B-2065-2065-CD6CA4DB280B}"/>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BF2B023-F76E-E210-1A73-1DCBE6FE40A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02524A0A-86A2-91D1-3DAE-F5E60FD51E2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DF3615D-24CE-94C2-952E-36B00563EAB2}"/>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05815F2C-1E3E-6912-5C14-EC381CE3B057}"/>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926BB820-5195-45EB-4916-85339684A86A}"/>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04A93E0E-5B89-0E33-9868-BB6F33066ACC}"/>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44A57001-536A-9F64-24AC-15050524B5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E8FE32F-4F6A-8756-F5CB-EAC881DB685B}"/>
              </a:ext>
            </a:extLst>
          </p:cNvPr>
          <p:cNvSpPr txBox="1"/>
          <p:nvPr/>
        </p:nvSpPr>
        <p:spPr>
          <a:xfrm>
            <a:off x="1837106" y="2891907"/>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Walkthrough of IAM and Security on GCP</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741090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3CCE3-1688-DDFE-D2BC-7D55C43D9A0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D8D01F36-E15B-2899-F6B1-FB88E6EC055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C37FBA3-D953-844F-78B7-FDD0A39F6030}"/>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576429A8-B180-CEB4-0B61-DB8260B1A9AF}"/>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9F6CF10E-DE53-1790-FEFA-87AE69E139D4}"/>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F22DD60-4179-C2A4-7C53-5704C4110E2F}"/>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DFFAFC60-582F-3348-B708-3914E7A8ADB9}"/>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60C21554-4441-27F8-9E01-971EA87C5B68}"/>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584C06FE-9E75-1A56-E26C-DB032CCC6528}"/>
              </a:ext>
            </a:extLst>
          </p:cNvPr>
          <p:cNvSpPr txBox="1"/>
          <p:nvPr/>
        </p:nvSpPr>
        <p:spPr>
          <a:xfrm>
            <a:off x="1837106" y="2710484"/>
            <a:ext cx="8517788" cy="91361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Hands-on Activity: Configure IAM Roles</a:t>
            </a: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8767802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17</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3536</TotalTime>
  <Words>1264</Words>
  <Application>Microsoft Office PowerPoint</Application>
  <PresentationFormat>Widescreen</PresentationFormat>
  <Paragraphs>156</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Lato</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Nikunj Singhal</dc:creator>
  <cp:lastModifiedBy>Syed Rumaan Pasha</cp:lastModifiedBy>
  <cp:revision>10</cp:revision>
  <dcterms:created xsi:type="dcterms:W3CDTF">2024-11-18T06:43:32Z</dcterms:created>
  <dcterms:modified xsi:type="dcterms:W3CDTF">2024-12-20T06:02:49Z</dcterms:modified>
</cp:coreProperties>
</file>