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7" r:id="rId2"/>
    <p:sldId id="901" r:id="rId3"/>
    <p:sldId id="920" r:id="rId4"/>
    <p:sldId id="921" r:id="rId5"/>
    <p:sldId id="922" r:id="rId6"/>
    <p:sldId id="923" r:id="rId7"/>
    <p:sldId id="919" r:id="rId8"/>
    <p:sldId id="911" r:id="rId9"/>
    <p:sldId id="914" r:id="rId10"/>
    <p:sldId id="912" r:id="rId11"/>
    <p:sldId id="913" r:id="rId12"/>
    <p:sldId id="915" r:id="rId13"/>
    <p:sldId id="918" r:id="rId14"/>
    <p:sldId id="916" r:id="rId15"/>
    <p:sldId id="917" r:id="rId16"/>
    <p:sldId id="900" r:id="rId17"/>
    <p:sldId id="925" r:id="rId18"/>
    <p:sldId id="926" r:id="rId19"/>
    <p:sldId id="927" r:id="rId20"/>
    <p:sldId id="928" r:id="rId21"/>
    <p:sldId id="929" r:id="rId22"/>
    <p:sldId id="930" r:id="rId23"/>
    <p:sldId id="50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0947" autoAdjust="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45AF74-91AC-4F55-A191-D43536C32E06}" type="datetimeFigureOut">
              <a:rPr lang="en-US" smtClean="0"/>
              <a:t>12/19/2024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9AC9CB-4C47-4782-AA14-455CA1E626BB}" type="slidenum">
              <a:rPr lang="en-US" smtClean="0"/>
              <a:t>‹#›</a:t>
            </a:fld>
            <a:endParaRPr lang="en-US"/>
          </a:p>
        </p:txBody>
      </p:sp>
    </p:spTree>
    <p:extLst>
      <p:ext uri="{BB962C8B-B14F-4D97-AF65-F5344CB8AC3E}">
        <p14:creationId xmlns:p14="http://schemas.microsoft.com/office/powerpoint/2010/main" val="33898618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A84476-58C4-D251-A6D5-0BD69C9EAE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7502CB-2EDA-1798-BC90-F467C62645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8F07F5-511F-2B37-B666-D8925490A4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BFD9CD8-C809-A641-507B-46DAD93DF3AD}"/>
              </a:ext>
            </a:extLst>
          </p:cNvPr>
          <p:cNvSpPr>
            <a:spLocks noGrp="1"/>
          </p:cNvSpPr>
          <p:nvPr>
            <p:ph type="sldNum" sz="quarter" idx="5"/>
          </p:nvPr>
        </p:nvSpPr>
        <p:spPr/>
        <p:txBody>
          <a:bodyPr/>
          <a:lstStyle/>
          <a:p>
            <a:fld id="{289AC9CB-4C47-4782-AA14-455CA1E626BB}" type="slidenum">
              <a:rPr lang="en-US" smtClean="0"/>
              <a:t>2</a:t>
            </a:fld>
            <a:endParaRPr lang="en-US"/>
          </a:p>
        </p:txBody>
      </p:sp>
    </p:spTree>
    <p:extLst>
      <p:ext uri="{BB962C8B-B14F-4D97-AF65-F5344CB8AC3E}">
        <p14:creationId xmlns:p14="http://schemas.microsoft.com/office/powerpoint/2010/main" val="20279187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C84D8-0137-6637-A828-820DE3125A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B80CE9-EBC6-729F-856A-0116825E1B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56AA7B-CFFA-19EB-38D1-AF657A0CCB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A58A167-0F99-D2D3-C226-32A04A518E51}"/>
              </a:ext>
            </a:extLst>
          </p:cNvPr>
          <p:cNvSpPr>
            <a:spLocks noGrp="1"/>
          </p:cNvSpPr>
          <p:nvPr>
            <p:ph type="sldNum" sz="quarter" idx="5"/>
          </p:nvPr>
        </p:nvSpPr>
        <p:spPr/>
        <p:txBody>
          <a:bodyPr/>
          <a:lstStyle/>
          <a:p>
            <a:fld id="{289AC9CB-4C47-4782-AA14-455CA1E626BB}" type="slidenum">
              <a:rPr lang="en-US" smtClean="0"/>
              <a:t>3</a:t>
            </a:fld>
            <a:endParaRPr lang="en-US"/>
          </a:p>
        </p:txBody>
      </p:sp>
    </p:spTree>
    <p:extLst>
      <p:ext uri="{BB962C8B-B14F-4D97-AF65-F5344CB8AC3E}">
        <p14:creationId xmlns:p14="http://schemas.microsoft.com/office/powerpoint/2010/main" val="446738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16753-CE97-2C2F-6590-587C012726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983CB1-C4F5-3D34-34A1-F44BCD7705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062B3D-EC44-FF80-0898-C05365FA828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A307B8-4F02-56E2-A19A-954637225BCD}"/>
              </a:ext>
            </a:extLst>
          </p:cNvPr>
          <p:cNvSpPr>
            <a:spLocks noGrp="1"/>
          </p:cNvSpPr>
          <p:nvPr>
            <p:ph type="sldNum" sz="quarter" idx="5"/>
          </p:nvPr>
        </p:nvSpPr>
        <p:spPr/>
        <p:txBody>
          <a:bodyPr/>
          <a:lstStyle/>
          <a:p>
            <a:fld id="{289AC9CB-4C47-4782-AA14-455CA1E626BB}" type="slidenum">
              <a:rPr lang="en-US" smtClean="0"/>
              <a:t>4</a:t>
            </a:fld>
            <a:endParaRPr lang="en-US"/>
          </a:p>
        </p:txBody>
      </p:sp>
    </p:spTree>
    <p:extLst>
      <p:ext uri="{BB962C8B-B14F-4D97-AF65-F5344CB8AC3E}">
        <p14:creationId xmlns:p14="http://schemas.microsoft.com/office/powerpoint/2010/main" val="486337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CBF6C-7941-E6EC-1BB7-2CF39A71D9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967928-FE98-0E61-16B9-48061C7723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14EE4D-5A79-DD06-EBAC-070A4486CDA8}"/>
              </a:ext>
            </a:extLst>
          </p:cNvPr>
          <p:cNvSpPr>
            <a:spLocks noGrp="1"/>
          </p:cNvSpPr>
          <p:nvPr>
            <p:ph type="body" idx="1"/>
          </p:nvPr>
        </p:nvSpPr>
        <p:spPr/>
        <p:txBody>
          <a:bodyPr/>
          <a:lstStyle/>
          <a:p>
            <a:pPr marL="381000" lvl="0" indent="0" algn="l" rtl="0">
              <a:lnSpc>
                <a:spcPct val="100000"/>
              </a:lnSpc>
              <a:spcBef>
                <a:spcPts val="0"/>
              </a:spcBef>
              <a:spcAft>
                <a:spcPts val="0"/>
              </a:spcAft>
              <a:buNone/>
            </a:pPr>
            <a:r>
              <a:rPr lang="en-US" sz="1400" dirty="0">
                <a:latin typeface="Calibri"/>
                <a:ea typeface="Calibri"/>
                <a:cs typeface="Calibri"/>
                <a:sym typeface="Calibri"/>
              </a:rPr>
              <a:t>A Project in Google Cloud is a logical grouping of resources.</a:t>
            </a:r>
          </a:p>
          <a:p>
            <a:pPr marL="381000" lvl="0" indent="0" algn="l" rtl="0">
              <a:lnSpc>
                <a:spcPct val="100000"/>
              </a:lnSpc>
              <a:spcBef>
                <a:spcPts val="0"/>
              </a:spcBef>
              <a:spcAft>
                <a:spcPts val="0"/>
              </a:spcAft>
              <a:buNone/>
            </a:pPr>
            <a:r>
              <a:rPr lang="en-US" sz="1400" dirty="0">
                <a:latin typeface="Calibri"/>
                <a:ea typeface="Calibri"/>
                <a:cs typeface="Calibri"/>
                <a:sym typeface="Calibri"/>
              </a:rPr>
              <a:t>A cloud resource </a:t>
            </a:r>
            <a:r>
              <a:rPr lang="en-US" sz="1400" b="1" dirty="0">
                <a:solidFill>
                  <a:srgbClr val="FF0000"/>
                </a:solidFill>
                <a:latin typeface="Calibri"/>
                <a:ea typeface="Calibri"/>
                <a:cs typeface="Calibri"/>
                <a:sym typeface="Calibri"/>
              </a:rPr>
              <a:t>must belong to a project</a:t>
            </a:r>
            <a:endParaRPr lang="en-US" sz="1400" dirty="0">
              <a:latin typeface="Calibri"/>
              <a:ea typeface="Calibri"/>
              <a:cs typeface="Calibri"/>
              <a:sym typeface="Calibri"/>
            </a:endParaRPr>
          </a:p>
          <a:p>
            <a:pPr marL="0" lvl="0" indent="0" algn="l" rtl="0">
              <a:lnSpc>
                <a:spcPct val="100000"/>
              </a:lnSpc>
              <a:spcBef>
                <a:spcPts val="0"/>
              </a:spcBef>
              <a:spcAft>
                <a:spcPts val="0"/>
              </a:spcAft>
              <a:buNone/>
            </a:pPr>
            <a:endParaRPr lang="en-US" sz="1400" dirty="0">
              <a:latin typeface="Calibri"/>
              <a:ea typeface="Calibri"/>
              <a:cs typeface="Calibri"/>
              <a:sym typeface="Calibri"/>
            </a:endParaRPr>
          </a:p>
          <a:p>
            <a:pPr marL="12700" lvl="0" indent="0" algn="l" rtl="0">
              <a:lnSpc>
                <a:spcPct val="100000"/>
              </a:lnSpc>
              <a:spcBef>
                <a:spcPts val="0"/>
              </a:spcBef>
              <a:spcAft>
                <a:spcPts val="0"/>
              </a:spcAft>
              <a:buNone/>
            </a:pPr>
            <a:r>
              <a:rPr lang="en-US" sz="1400" dirty="0">
                <a:latin typeface="Calibri"/>
                <a:ea typeface="Calibri"/>
                <a:cs typeface="Calibri"/>
                <a:sym typeface="Calibri"/>
              </a:rPr>
              <a:t>A project is made up of the:</a:t>
            </a:r>
          </a:p>
          <a:p>
            <a:pPr marL="266700" lvl="0" indent="-254000" algn="l" rtl="0">
              <a:lnSpc>
                <a:spcPct val="100000"/>
              </a:lnSpc>
              <a:spcBef>
                <a:spcPts val="0"/>
              </a:spcBef>
              <a:spcAft>
                <a:spcPts val="0"/>
              </a:spcAft>
              <a:buSzPts val="1400"/>
              <a:buFont typeface="Arial"/>
              <a:buChar char="•"/>
            </a:pPr>
            <a:r>
              <a:rPr lang="en-US" sz="1400" dirty="0">
                <a:latin typeface="Calibri"/>
                <a:ea typeface="Calibri"/>
                <a:cs typeface="Calibri"/>
                <a:sym typeface="Calibri"/>
              </a:rPr>
              <a:t>settings</a:t>
            </a:r>
          </a:p>
          <a:p>
            <a:pPr marL="228600" lvl="0" indent="-215900" algn="l" rtl="0">
              <a:lnSpc>
                <a:spcPct val="100000"/>
              </a:lnSpc>
              <a:spcBef>
                <a:spcPts val="0"/>
              </a:spcBef>
              <a:spcAft>
                <a:spcPts val="0"/>
              </a:spcAft>
              <a:buSzPts val="1400"/>
              <a:buFont typeface="Arial"/>
              <a:buChar char="•"/>
            </a:pPr>
            <a:r>
              <a:rPr lang="en-US" sz="1400" dirty="0">
                <a:latin typeface="Calibri"/>
                <a:ea typeface="Calibri"/>
                <a:cs typeface="Calibri"/>
                <a:sym typeface="Calibri"/>
              </a:rPr>
              <a:t>permissions</a:t>
            </a:r>
          </a:p>
          <a:p>
            <a:pPr marL="228600" lvl="0" indent="-215900" algn="l" rtl="0">
              <a:lnSpc>
                <a:spcPct val="100000"/>
              </a:lnSpc>
              <a:spcBef>
                <a:spcPts val="0"/>
              </a:spcBef>
              <a:spcAft>
                <a:spcPts val="0"/>
              </a:spcAft>
              <a:buSzPts val="1400"/>
              <a:buFont typeface="Arial"/>
              <a:buChar char="•"/>
            </a:pPr>
            <a:r>
              <a:rPr lang="en-US" sz="1400" dirty="0">
                <a:latin typeface="Calibri"/>
                <a:ea typeface="Calibri"/>
                <a:cs typeface="Calibri"/>
                <a:sym typeface="Calibri"/>
              </a:rPr>
              <a:t>other metadata</a:t>
            </a:r>
          </a:p>
          <a:p>
            <a:pPr marL="2717800" marR="685800" lvl="0" indent="0" algn="l" rtl="0">
              <a:lnSpc>
                <a:spcPct val="100000"/>
              </a:lnSpc>
              <a:spcBef>
                <a:spcPts val="0"/>
              </a:spcBef>
              <a:spcAft>
                <a:spcPts val="0"/>
              </a:spcAft>
              <a:buNone/>
            </a:pPr>
            <a:r>
              <a:rPr lang="en-US" sz="1200" dirty="0">
                <a:latin typeface="Calibri"/>
                <a:ea typeface="Calibri"/>
                <a:cs typeface="Calibri"/>
                <a:sym typeface="Calibri"/>
              </a:rPr>
              <a:t>A project can't access another project's resources unless you use Shared VPC or VPC Network Peering.</a:t>
            </a:r>
          </a:p>
          <a:p>
            <a:pPr marL="2692400" marR="330200" lvl="0" indent="0" algn="just" rtl="0">
              <a:lnSpc>
                <a:spcPct val="100000"/>
              </a:lnSpc>
              <a:spcBef>
                <a:spcPts val="1300"/>
              </a:spcBef>
              <a:spcAft>
                <a:spcPts val="0"/>
              </a:spcAft>
              <a:buNone/>
            </a:pPr>
            <a:r>
              <a:rPr lang="en-US" sz="1200" dirty="0">
                <a:latin typeface="Calibri"/>
                <a:ea typeface="Calibri"/>
                <a:cs typeface="Calibri"/>
                <a:sym typeface="Calibri"/>
              </a:rPr>
              <a:t>Resources within a single project can work together easily, for example by communicating through an internal network, subject to the regions- and-zones rules.</a:t>
            </a:r>
          </a:p>
          <a:p>
            <a:pPr marL="2692400" lvl="0" indent="0" algn="l" rtl="0">
              <a:lnSpc>
                <a:spcPct val="100000"/>
              </a:lnSpc>
              <a:spcBef>
                <a:spcPts val="900"/>
              </a:spcBef>
              <a:spcAft>
                <a:spcPts val="0"/>
              </a:spcAft>
              <a:buNone/>
            </a:pPr>
            <a:r>
              <a:rPr lang="en-US" sz="1200" dirty="0">
                <a:latin typeface="Calibri"/>
                <a:ea typeface="Calibri"/>
                <a:cs typeface="Calibri"/>
                <a:sym typeface="Calibri"/>
              </a:rPr>
              <a:t>Each Google Cloud project has the following:</a:t>
            </a:r>
          </a:p>
          <a:p>
            <a:pPr marL="2908300" lvl="1" indent="-215900" algn="l" rtl="0">
              <a:lnSpc>
                <a:spcPct val="100000"/>
              </a:lnSpc>
              <a:spcBef>
                <a:spcPts val="0"/>
              </a:spcBef>
              <a:spcAft>
                <a:spcPts val="0"/>
              </a:spcAft>
              <a:buSzPts val="1200"/>
              <a:buFont typeface="Arial"/>
              <a:buChar char="•"/>
            </a:pPr>
            <a:r>
              <a:rPr lang="en-US" sz="1200" dirty="0">
                <a:latin typeface="Calibri"/>
                <a:ea typeface="Calibri"/>
                <a:cs typeface="Calibri"/>
                <a:sym typeface="Calibri"/>
              </a:rPr>
              <a:t>A project name, which you provide.</a:t>
            </a:r>
          </a:p>
          <a:p>
            <a:pPr marL="2908300" lvl="1" indent="-215900" algn="l" rtl="0">
              <a:lnSpc>
                <a:spcPct val="100000"/>
              </a:lnSpc>
              <a:spcBef>
                <a:spcPts val="0"/>
              </a:spcBef>
              <a:spcAft>
                <a:spcPts val="0"/>
              </a:spcAft>
              <a:buSzPts val="1200"/>
              <a:buFont typeface="Arial"/>
              <a:buChar char="•"/>
            </a:pPr>
            <a:r>
              <a:rPr lang="en-US" sz="1200" dirty="0">
                <a:latin typeface="Calibri"/>
                <a:ea typeface="Calibri"/>
                <a:cs typeface="Calibri"/>
                <a:sym typeface="Calibri"/>
              </a:rPr>
              <a:t>A project ID, which you can provide or Google Cloud can provide for you.</a:t>
            </a:r>
          </a:p>
          <a:p>
            <a:pPr marL="2908300" lvl="1" indent="-215900" algn="l" rtl="0">
              <a:lnSpc>
                <a:spcPct val="100000"/>
              </a:lnSpc>
              <a:spcBef>
                <a:spcPts val="0"/>
              </a:spcBef>
              <a:spcAft>
                <a:spcPts val="0"/>
              </a:spcAft>
              <a:buSzPts val="1200"/>
              <a:buFont typeface="Arial"/>
              <a:buChar char="•"/>
            </a:pPr>
            <a:r>
              <a:rPr lang="en-US" sz="1200" dirty="0">
                <a:latin typeface="Calibri"/>
                <a:ea typeface="Calibri"/>
                <a:cs typeface="Calibri"/>
                <a:sym typeface="Calibri"/>
              </a:rPr>
              <a:t>A project number, which Google Cloud provides</a:t>
            </a:r>
          </a:p>
          <a:p>
            <a:pPr marL="2692400" marR="1270000" lvl="0" indent="0" algn="l" rtl="0">
              <a:lnSpc>
                <a:spcPct val="100000"/>
              </a:lnSpc>
              <a:spcBef>
                <a:spcPts val="1500"/>
              </a:spcBef>
              <a:spcAft>
                <a:spcPts val="0"/>
              </a:spcAft>
              <a:buNone/>
            </a:pPr>
            <a:r>
              <a:rPr lang="en-US" sz="1400" dirty="0">
                <a:latin typeface="Calibri"/>
                <a:ea typeface="Calibri"/>
                <a:cs typeface="Calibri"/>
                <a:sym typeface="Calibri"/>
              </a:rPr>
              <a:t>As you work with Google Cloud, you'll use these identifiers in certain command lines and API calls.</a:t>
            </a:r>
          </a:p>
        </p:txBody>
      </p:sp>
      <p:sp>
        <p:nvSpPr>
          <p:cNvPr id="4" name="Slide Number Placeholder 3">
            <a:extLst>
              <a:ext uri="{FF2B5EF4-FFF2-40B4-BE49-F238E27FC236}">
                <a16:creationId xmlns:a16="http://schemas.microsoft.com/office/drawing/2014/main" id="{409CAD6F-A770-69C6-7B18-6EFB0546F9A3}"/>
              </a:ext>
            </a:extLst>
          </p:cNvPr>
          <p:cNvSpPr>
            <a:spLocks noGrp="1"/>
          </p:cNvSpPr>
          <p:nvPr>
            <p:ph type="sldNum" sz="quarter" idx="5"/>
          </p:nvPr>
        </p:nvSpPr>
        <p:spPr/>
        <p:txBody>
          <a:bodyPr/>
          <a:lstStyle/>
          <a:p>
            <a:fld id="{289AC9CB-4C47-4782-AA14-455CA1E626BB}" type="slidenum">
              <a:rPr lang="en-US" smtClean="0"/>
              <a:t>5</a:t>
            </a:fld>
            <a:endParaRPr lang="en-US"/>
          </a:p>
        </p:txBody>
      </p:sp>
    </p:spTree>
    <p:extLst>
      <p:ext uri="{BB962C8B-B14F-4D97-AF65-F5344CB8AC3E}">
        <p14:creationId xmlns:p14="http://schemas.microsoft.com/office/powerpoint/2010/main" val="2757899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6B4F3-4EC9-1A24-4D5E-13A35FCC4F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19DBC0-2873-4EEA-3A9F-7F4BCF992F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7CE569-888C-8602-0CD8-5A63520EA5DF}"/>
              </a:ext>
            </a:extLst>
          </p:cNvPr>
          <p:cNvSpPr>
            <a:spLocks noGrp="1"/>
          </p:cNvSpPr>
          <p:nvPr>
            <p:ph type="body" idx="1"/>
          </p:nvPr>
        </p:nvSpPr>
        <p:spPr/>
        <p:txBody>
          <a:bodyPr/>
          <a:lstStyle/>
          <a:p>
            <a:pPr marL="381000" lvl="0" indent="0" algn="l" rtl="0">
              <a:lnSpc>
                <a:spcPct val="100000"/>
              </a:lnSpc>
              <a:spcBef>
                <a:spcPts val="0"/>
              </a:spcBef>
              <a:spcAft>
                <a:spcPts val="0"/>
              </a:spcAft>
              <a:buNone/>
            </a:pPr>
            <a:r>
              <a:rPr lang="en-US" sz="1400" dirty="0">
                <a:latin typeface="Calibri"/>
                <a:ea typeface="Calibri"/>
                <a:cs typeface="Calibri"/>
                <a:sym typeface="Calibri"/>
              </a:rPr>
              <a:t>A Project in Google Cloud is a logical grouping of resources.</a:t>
            </a:r>
          </a:p>
          <a:p>
            <a:pPr marL="381000" lvl="0" indent="0" algn="l" rtl="0">
              <a:lnSpc>
                <a:spcPct val="100000"/>
              </a:lnSpc>
              <a:spcBef>
                <a:spcPts val="0"/>
              </a:spcBef>
              <a:spcAft>
                <a:spcPts val="0"/>
              </a:spcAft>
              <a:buNone/>
            </a:pPr>
            <a:r>
              <a:rPr lang="en-US" sz="1400" dirty="0">
                <a:latin typeface="Calibri"/>
                <a:ea typeface="Calibri"/>
                <a:cs typeface="Calibri"/>
                <a:sym typeface="Calibri"/>
              </a:rPr>
              <a:t>A cloud resource </a:t>
            </a:r>
            <a:r>
              <a:rPr lang="en-US" sz="1400" b="1" dirty="0">
                <a:solidFill>
                  <a:srgbClr val="FF0000"/>
                </a:solidFill>
                <a:latin typeface="Calibri"/>
                <a:ea typeface="Calibri"/>
                <a:cs typeface="Calibri"/>
                <a:sym typeface="Calibri"/>
              </a:rPr>
              <a:t>must belong to a project</a:t>
            </a:r>
            <a:endParaRPr lang="en-US" sz="1400" dirty="0">
              <a:latin typeface="Calibri"/>
              <a:ea typeface="Calibri"/>
              <a:cs typeface="Calibri"/>
              <a:sym typeface="Calibri"/>
            </a:endParaRPr>
          </a:p>
          <a:p>
            <a:pPr marL="0" lvl="0" indent="0" algn="l" rtl="0">
              <a:lnSpc>
                <a:spcPct val="100000"/>
              </a:lnSpc>
              <a:spcBef>
                <a:spcPts val="0"/>
              </a:spcBef>
              <a:spcAft>
                <a:spcPts val="0"/>
              </a:spcAft>
              <a:buNone/>
            </a:pPr>
            <a:endParaRPr lang="en-US" sz="1400" dirty="0">
              <a:latin typeface="Calibri"/>
              <a:ea typeface="Calibri"/>
              <a:cs typeface="Calibri"/>
              <a:sym typeface="Calibri"/>
            </a:endParaRPr>
          </a:p>
          <a:p>
            <a:pPr marL="12700" lvl="0" indent="0" algn="l" rtl="0">
              <a:lnSpc>
                <a:spcPct val="100000"/>
              </a:lnSpc>
              <a:spcBef>
                <a:spcPts val="0"/>
              </a:spcBef>
              <a:spcAft>
                <a:spcPts val="0"/>
              </a:spcAft>
              <a:buNone/>
            </a:pPr>
            <a:r>
              <a:rPr lang="en-US" sz="1400" dirty="0">
                <a:latin typeface="Calibri"/>
                <a:ea typeface="Calibri"/>
                <a:cs typeface="Calibri"/>
                <a:sym typeface="Calibri"/>
              </a:rPr>
              <a:t>A project is made up of the:</a:t>
            </a:r>
          </a:p>
          <a:p>
            <a:pPr marL="266700" lvl="0" indent="-254000" algn="l" rtl="0">
              <a:lnSpc>
                <a:spcPct val="100000"/>
              </a:lnSpc>
              <a:spcBef>
                <a:spcPts val="0"/>
              </a:spcBef>
              <a:spcAft>
                <a:spcPts val="0"/>
              </a:spcAft>
              <a:buSzPts val="1400"/>
              <a:buFont typeface="Arial"/>
              <a:buChar char="•"/>
            </a:pPr>
            <a:r>
              <a:rPr lang="en-US" sz="1400" dirty="0">
                <a:latin typeface="Calibri"/>
                <a:ea typeface="Calibri"/>
                <a:cs typeface="Calibri"/>
                <a:sym typeface="Calibri"/>
              </a:rPr>
              <a:t>settings</a:t>
            </a:r>
          </a:p>
          <a:p>
            <a:pPr marL="228600" lvl="0" indent="-215900" algn="l" rtl="0">
              <a:lnSpc>
                <a:spcPct val="100000"/>
              </a:lnSpc>
              <a:spcBef>
                <a:spcPts val="0"/>
              </a:spcBef>
              <a:spcAft>
                <a:spcPts val="0"/>
              </a:spcAft>
              <a:buSzPts val="1400"/>
              <a:buFont typeface="Arial"/>
              <a:buChar char="•"/>
            </a:pPr>
            <a:r>
              <a:rPr lang="en-US" sz="1400" dirty="0">
                <a:latin typeface="Calibri"/>
                <a:ea typeface="Calibri"/>
                <a:cs typeface="Calibri"/>
                <a:sym typeface="Calibri"/>
              </a:rPr>
              <a:t>permissions</a:t>
            </a:r>
          </a:p>
          <a:p>
            <a:pPr marL="228600" lvl="0" indent="-215900" algn="l" rtl="0">
              <a:lnSpc>
                <a:spcPct val="100000"/>
              </a:lnSpc>
              <a:spcBef>
                <a:spcPts val="0"/>
              </a:spcBef>
              <a:spcAft>
                <a:spcPts val="0"/>
              </a:spcAft>
              <a:buSzPts val="1400"/>
              <a:buFont typeface="Arial"/>
              <a:buChar char="•"/>
            </a:pPr>
            <a:r>
              <a:rPr lang="en-US" sz="1400" dirty="0">
                <a:latin typeface="Calibri"/>
                <a:ea typeface="Calibri"/>
                <a:cs typeface="Calibri"/>
                <a:sym typeface="Calibri"/>
              </a:rPr>
              <a:t>other metadata</a:t>
            </a:r>
          </a:p>
          <a:p>
            <a:pPr marL="2717800" marR="685800" lvl="0" indent="0" algn="l" rtl="0">
              <a:lnSpc>
                <a:spcPct val="100000"/>
              </a:lnSpc>
              <a:spcBef>
                <a:spcPts val="0"/>
              </a:spcBef>
              <a:spcAft>
                <a:spcPts val="0"/>
              </a:spcAft>
              <a:buNone/>
            </a:pPr>
            <a:r>
              <a:rPr lang="en-US" sz="1200" dirty="0">
                <a:latin typeface="Calibri"/>
                <a:ea typeface="Calibri"/>
                <a:cs typeface="Calibri"/>
                <a:sym typeface="Calibri"/>
              </a:rPr>
              <a:t>A project can't access another project's resources unless you use Shared VPC or VPC Network Peering.</a:t>
            </a:r>
          </a:p>
          <a:p>
            <a:pPr marL="2692400" marR="330200" lvl="0" indent="0" algn="just" rtl="0">
              <a:lnSpc>
                <a:spcPct val="100000"/>
              </a:lnSpc>
              <a:spcBef>
                <a:spcPts val="1300"/>
              </a:spcBef>
              <a:spcAft>
                <a:spcPts val="0"/>
              </a:spcAft>
              <a:buNone/>
            </a:pPr>
            <a:r>
              <a:rPr lang="en-US" sz="1200" dirty="0">
                <a:latin typeface="Calibri"/>
                <a:ea typeface="Calibri"/>
                <a:cs typeface="Calibri"/>
                <a:sym typeface="Calibri"/>
              </a:rPr>
              <a:t>Resources within a single project can work together easily, for example by communicating through an internal network, subject to the regions- and-zones rules.</a:t>
            </a:r>
          </a:p>
          <a:p>
            <a:pPr marL="2692400" lvl="0" indent="0" algn="l" rtl="0">
              <a:lnSpc>
                <a:spcPct val="100000"/>
              </a:lnSpc>
              <a:spcBef>
                <a:spcPts val="900"/>
              </a:spcBef>
              <a:spcAft>
                <a:spcPts val="0"/>
              </a:spcAft>
              <a:buNone/>
            </a:pPr>
            <a:r>
              <a:rPr lang="en-US" sz="1200" dirty="0">
                <a:latin typeface="Calibri"/>
                <a:ea typeface="Calibri"/>
                <a:cs typeface="Calibri"/>
                <a:sym typeface="Calibri"/>
              </a:rPr>
              <a:t>Each Google Cloud project has the following:</a:t>
            </a:r>
          </a:p>
          <a:p>
            <a:pPr marL="2908300" lvl="1" indent="-215900" algn="l" rtl="0">
              <a:lnSpc>
                <a:spcPct val="100000"/>
              </a:lnSpc>
              <a:spcBef>
                <a:spcPts val="0"/>
              </a:spcBef>
              <a:spcAft>
                <a:spcPts val="0"/>
              </a:spcAft>
              <a:buSzPts val="1200"/>
              <a:buFont typeface="Arial"/>
              <a:buChar char="•"/>
            </a:pPr>
            <a:r>
              <a:rPr lang="en-US" sz="1200" dirty="0">
                <a:latin typeface="Calibri"/>
                <a:ea typeface="Calibri"/>
                <a:cs typeface="Calibri"/>
                <a:sym typeface="Calibri"/>
              </a:rPr>
              <a:t>A project name, which you provide.</a:t>
            </a:r>
          </a:p>
          <a:p>
            <a:pPr marL="2908300" lvl="1" indent="-215900" algn="l" rtl="0">
              <a:lnSpc>
                <a:spcPct val="100000"/>
              </a:lnSpc>
              <a:spcBef>
                <a:spcPts val="0"/>
              </a:spcBef>
              <a:spcAft>
                <a:spcPts val="0"/>
              </a:spcAft>
              <a:buSzPts val="1200"/>
              <a:buFont typeface="Arial"/>
              <a:buChar char="•"/>
            </a:pPr>
            <a:r>
              <a:rPr lang="en-US" sz="1200" dirty="0">
                <a:latin typeface="Calibri"/>
                <a:ea typeface="Calibri"/>
                <a:cs typeface="Calibri"/>
                <a:sym typeface="Calibri"/>
              </a:rPr>
              <a:t>A project ID, which you can provide or Google Cloud can provide for you.</a:t>
            </a:r>
          </a:p>
          <a:p>
            <a:pPr marL="2908300" lvl="1" indent="-215900" algn="l" rtl="0">
              <a:lnSpc>
                <a:spcPct val="100000"/>
              </a:lnSpc>
              <a:spcBef>
                <a:spcPts val="0"/>
              </a:spcBef>
              <a:spcAft>
                <a:spcPts val="0"/>
              </a:spcAft>
              <a:buSzPts val="1200"/>
              <a:buFont typeface="Arial"/>
              <a:buChar char="•"/>
            </a:pPr>
            <a:r>
              <a:rPr lang="en-US" sz="1200" dirty="0">
                <a:latin typeface="Calibri"/>
                <a:ea typeface="Calibri"/>
                <a:cs typeface="Calibri"/>
                <a:sym typeface="Calibri"/>
              </a:rPr>
              <a:t>A project number, which Google Cloud provides</a:t>
            </a:r>
          </a:p>
          <a:p>
            <a:pPr marL="2692400" marR="1270000" lvl="0" indent="0" algn="l" rtl="0">
              <a:lnSpc>
                <a:spcPct val="100000"/>
              </a:lnSpc>
              <a:spcBef>
                <a:spcPts val="1500"/>
              </a:spcBef>
              <a:spcAft>
                <a:spcPts val="0"/>
              </a:spcAft>
              <a:buNone/>
            </a:pPr>
            <a:r>
              <a:rPr lang="en-US" sz="1400" dirty="0">
                <a:latin typeface="Calibri"/>
                <a:ea typeface="Calibri"/>
                <a:cs typeface="Calibri"/>
                <a:sym typeface="Calibri"/>
              </a:rPr>
              <a:t>As you work with Google Cloud, you'll use these identifiers in certain command lines and API calls.</a:t>
            </a:r>
          </a:p>
        </p:txBody>
      </p:sp>
      <p:sp>
        <p:nvSpPr>
          <p:cNvPr id="4" name="Slide Number Placeholder 3">
            <a:extLst>
              <a:ext uri="{FF2B5EF4-FFF2-40B4-BE49-F238E27FC236}">
                <a16:creationId xmlns:a16="http://schemas.microsoft.com/office/drawing/2014/main" id="{09576373-2BDC-FADC-A47D-2161CBFA1A10}"/>
              </a:ext>
            </a:extLst>
          </p:cNvPr>
          <p:cNvSpPr>
            <a:spLocks noGrp="1"/>
          </p:cNvSpPr>
          <p:nvPr>
            <p:ph type="sldNum" sz="quarter" idx="5"/>
          </p:nvPr>
        </p:nvSpPr>
        <p:spPr/>
        <p:txBody>
          <a:bodyPr/>
          <a:lstStyle/>
          <a:p>
            <a:fld id="{289AC9CB-4C47-4782-AA14-455CA1E626BB}" type="slidenum">
              <a:rPr lang="en-US" smtClean="0"/>
              <a:t>6</a:t>
            </a:fld>
            <a:endParaRPr lang="en-US"/>
          </a:p>
        </p:txBody>
      </p:sp>
    </p:spTree>
    <p:extLst>
      <p:ext uri="{BB962C8B-B14F-4D97-AF65-F5344CB8AC3E}">
        <p14:creationId xmlns:p14="http://schemas.microsoft.com/office/powerpoint/2010/main" val="8335678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E5C03-11C8-7B79-C4A1-D67ED020D4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819DFB-88C8-8A21-6808-CBE671315E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EC2E3C-5D0B-1BEA-3C77-53ECD149EA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4738D73-8A5D-9100-59DC-A8AB22EA0C32}"/>
              </a:ext>
            </a:extLst>
          </p:cNvPr>
          <p:cNvSpPr>
            <a:spLocks noGrp="1"/>
          </p:cNvSpPr>
          <p:nvPr>
            <p:ph type="sldNum" sz="quarter" idx="5"/>
          </p:nvPr>
        </p:nvSpPr>
        <p:spPr/>
        <p:txBody>
          <a:bodyPr/>
          <a:lstStyle/>
          <a:p>
            <a:fld id="{289AC9CB-4C47-4782-AA14-455CA1E626BB}" type="slidenum">
              <a:rPr lang="en-US" smtClean="0"/>
              <a:t>7</a:t>
            </a:fld>
            <a:endParaRPr lang="en-US"/>
          </a:p>
        </p:txBody>
      </p:sp>
    </p:spTree>
    <p:extLst>
      <p:ext uri="{BB962C8B-B14F-4D97-AF65-F5344CB8AC3E}">
        <p14:creationId xmlns:p14="http://schemas.microsoft.com/office/powerpoint/2010/main" val="9889717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69C4C-2EE0-A17A-43BC-D0EC7A7358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C90410-EF2E-0D24-3AFB-A1A9BB5BED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50A536-ABBE-4C0F-A046-EE8974B68A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223B5A-27F5-2959-5918-0140811B4021}"/>
              </a:ext>
            </a:extLst>
          </p:cNvPr>
          <p:cNvSpPr>
            <a:spLocks noGrp="1"/>
          </p:cNvSpPr>
          <p:nvPr>
            <p:ph type="sldNum" sz="quarter" idx="5"/>
          </p:nvPr>
        </p:nvSpPr>
        <p:spPr/>
        <p:txBody>
          <a:bodyPr/>
          <a:lstStyle/>
          <a:p>
            <a:fld id="{289AC9CB-4C47-4782-AA14-455CA1E626BB}" type="slidenum">
              <a:rPr lang="en-US" smtClean="0"/>
              <a:t>8</a:t>
            </a:fld>
            <a:endParaRPr lang="en-US"/>
          </a:p>
        </p:txBody>
      </p:sp>
    </p:spTree>
    <p:extLst>
      <p:ext uri="{BB962C8B-B14F-4D97-AF65-F5344CB8AC3E}">
        <p14:creationId xmlns:p14="http://schemas.microsoft.com/office/powerpoint/2010/main" val="2030292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4BDEB-95C6-940D-4E6F-703190487A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320BC5-1B32-02D5-296E-1BDC33D94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6CE22C-3500-80A2-2A43-CE2C1C133C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4ADEBB-1C58-BCAD-4225-AAE554F3B121}"/>
              </a:ext>
            </a:extLst>
          </p:cNvPr>
          <p:cNvSpPr>
            <a:spLocks noGrp="1"/>
          </p:cNvSpPr>
          <p:nvPr>
            <p:ph type="sldNum" sz="quarter" idx="5"/>
          </p:nvPr>
        </p:nvSpPr>
        <p:spPr/>
        <p:txBody>
          <a:bodyPr/>
          <a:lstStyle/>
          <a:p>
            <a:fld id="{289AC9CB-4C47-4782-AA14-455CA1E626BB}" type="slidenum">
              <a:rPr lang="en-US" smtClean="0"/>
              <a:t>9</a:t>
            </a:fld>
            <a:endParaRPr lang="en-US"/>
          </a:p>
        </p:txBody>
      </p:sp>
    </p:spTree>
    <p:extLst>
      <p:ext uri="{BB962C8B-B14F-4D97-AF65-F5344CB8AC3E}">
        <p14:creationId xmlns:p14="http://schemas.microsoft.com/office/powerpoint/2010/main" val="28122259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7FF36-108D-3BF0-113A-80C95B084C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92F0B9-62EA-30EE-DB14-514FA4AA9DC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A40FEE-CF10-A67A-ACCF-0CACF22D077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1D92FE-F19E-6D96-3150-622D2487E36C}"/>
              </a:ext>
            </a:extLst>
          </p:cNvPr>
          <p:cNvSpPr>
            <a:spLocks noGrp="1"/>
          </p:cNvSpPr>
          <p:nvPr>
            <p:ph type="sldNum" sz="quarter" idx="5"/>
          </p:nvPr>
        </p:nvSpPr>
        <p:spPr/>
        <p:txBody>
          <a:bodyPr/>
          <a:lstStyle/>
          <a:p>
            <a:fld id="{289AC9CB-4C47-4782-AA14-455CA1E626BB}" type="slidenum">
              <a:rPr lang="en-US" smtClean="0"/>
              <a:t>10</a:t>
            </a:fld>
            <a:endParaRPr lang="en-US"/>
          </a:p>
        </p:txBody>
      </p:sp>
    </p:spTree>
    <p:extLst>
      <p:ext uri="{BB962C8B-B14F-4D97-AF65-F5344CB8AC3E}">
        <p14:creationId xmlns:p14="http://schemas.microsoft.com/office/powerpoint/2010/main" val="4999130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BA30C-596C-2E0A-6FFE-261C30B46A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05987B-78A6-0E7A-9593-C5E0896E7A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70D0E9-C437-4E66-C98C-59528CCA318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2101AC-824D-1770-07C8-9918BFB573A5}"/>
              </a:ext>
            </a:extLst>
          </p:cNvPr>
          <p:cNvSpPr>
            <a:spLocks noGrp="1"/>
          </p:cNvSpPr>
          <p:nvPr>
            <p:ph type="sldNum" sz="quarter" idx="5"/>
          </p:nvPr>
        </p:nvSpPr>
        <p:spPr/>
        <p:txBody>
          <a:bodyPr/>
          <a:lstStyle/>
          <a:p>
            <a:fld id="{289AC9CB-4C47-4782-AA14-455CA1E626BB}" type="slidenum">
              <a:rPr lang="en-US" smtClean="0"/>
              <a:t>11</a:t>
            </a:fld>
            <a:endParaRPr lang="en-US"/>
          </a:p>
        </p:txBody>
      </p:sp>
    </p:spTree>
    <p:extLst>
      <p:ext uri="{BB962C8B-B14F-4D97-AF65-F5344CB8AC3E}">
        <p14:creationId xmlns:p14="http://schemas.microsoft.com/office/powerpoint/2010/main" val="403211820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B7EB3-2FAC-FBA6-D540-44E4E917FA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491A68-A1AD-9392-9D2C-555242EF98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AF0334-FFB9-E407-DB42-5AD252110F7E}"/>
              </a:ext>
            </a:extLst>
          </p:cNvPr>
          <p:cNvSpPr>
            <a:spLocks noGrp="1"/>
          </p:cNvSpPr>
          <p:nvPr>
            <p:ph type="body" idx="1"/>
          </p:nvPr>
        </p:nvSpPr>
        <p:spPr/>
        <p:txBody>
          <a:bodyPr/>
          <a:lstStyle/>
          <a:p>
            <a:r>
              <a:rPr lang="en-US" dirty="0"/>
              <a:t>The lifecycle of a VM is represented by different statuses. We will cover this lifecycle on a high level, but we recommend returning to this diagram as a reference.</a:t>
            </a:r>
          </a:p>
        </p:txBody>
      </p:sp>
      <p:sp>
        <p:nvSpPr>
          <p:cNvPr id="4" name="Slide Number Placeholder 3">
            <a:extLst>
              <a:ext uri="{FF2B5EF4-FFF2-40B4-BE49-F238E27FC236}">
                <a16:creationId xmlns:a16="http://schemas.microsoft.com/office/drawing/2014/main" id="{333B08A6-4234-4992-D62D-FB8C112D0489}"/>
              </a:ext>
            </a:extLst>
          </p:cNvPr>
          <p:cNvSpPr>
            <a:spLocks noGrp="1"/>
          </p:cNvSpPr>
          <p:nvPr>
            <p:ph type="sldNum" sz="quarter" idx="5"/>
          </p:nvPr>
        </p:nvSpPr>
        <p:spPr/>
        <p:txBody>
          <a:bodyPr/>
          <a:lstStyle/>
          <a:p>
            <a:fld id="{289AC9CB-4C47-4782-AA14-455CA1E626BB}" type="slidenum">
              <a:rPr lang="en-US" smtClean="0"/>
              <a:t>12</a:t>
            </a:fld>
            <a:endParaRPr lang="en-US"/>
          </a:p>
        </p:txBody>
      </p:sp>
    </p:spTree>
    <p:extLst>
      <p:ext uri="{BB962C8B-B14F-4D97-AF65-F5344CB8AC3E}">
        <p14:creationId xmlns:p14="http://schemas.microsoft.com/office/powerpoint/2010/main" val="33078988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67AB4-F893-F183-6DDB-3E666209C3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002588-8511-209F-8307-FBE850B825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8179AC-B62E-59CF-B318-5E05B238D9AE}"/>
              </a:ext>
            </a:extLst>
          </p:cNvPr>
          <p:cNvSpPr>
            <a:spLocks noGrp="1"/>
          </p:cNvSpPr>
          <p:nvPr>
            <p:ph type="body" idx="1"/>
          </p:nvPr>
        </p:nvSpPr>
        <p:spPr/>
        <p:txBody>
          <a:bodyPr/>
          <a:lstStyle/>
          <a:p>
            <a:r>
              <a:rPr lang="en-US" dirty="0"/>
              <a:t>When you define all the properties of an instance and click Create, the instance enters the provisioning state. Here the resources such as CPU, memory, and disks are being reserved for the instance, but the instance itself isn’t running yet. Next, the instance moves to the staging state where resources have been acquired and the instance is prepared for launch. Specifically, in this state, Compute Engine is adding IP addresses, booting up the system image, and booting up the system. After the instance starts running, it will go through pre-configured startup scripts and enable SSH or RDP access.</a:t>
            </a:r>
          </a:p>
        </p:txBody>
      </p:sp>
      <p:sp>
        <p:nvSpPr>
          <p:cNvPr id="4" name="Slide Number Placeholder 3">
            <a:extLst>
              <a:ext uri="{FF2B5EF4-FFF2-40B4-BE49-F238E27FC236}">
                <a16:creationId xmlns:a16="http://schemas.microsoft.com/office/drawing/2014/main" id="{42AD1232-385F-6D39-C6AD-6893368E5894}"/>
              </a:ext>
            </a:extLst>
          </p:cNvPr>
          <p:cNvSpPr>
            <a:spLocks noGrp="1"/>
          </p:cNvSpPr>
          <p:nvPr>
            <p:ph type="sldNum" sz="quarter" idx="5"/>
          </p:nvPr>
        </p:nvSpPr>
        <p:spPr/>
        <p:txBody>
          <a:bodyPr/>
          <a:lstStyle/>
          <a:p>
            <a:fld id="{289AC9CB-4C47-4782-AA14-455CA1E626BB}" type="slidenum">
              <a:rPr lang="en-US" smtClean="0"/>
              <a:t>13</a:t>
            </a:fld>
            <a:endParaRPr lang="en-US"/>
          </a:p>
        </p:txBody>
      </p:sp>
    </p:spTree>
    <p:extLst>
      <p:ext uri="{BB962C8B-B14F-4D97-AF65-F5344CB8AC3E}">
        <p14:creationId xmlns:p14="http://schemas.microsoft.com/office/powerpoint/2010/main" val="23358041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D7DA6-2FEC-6ADD-0456-13F475CB4E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DDEF38-0325-5E7B-FC86-675BE82685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48E88A-F1A8-3B36-C855-0C5B2085C47D}"/>
              </a:ext>
            </a:extLst>
          </p:cNvPr>
          <p:cNvSpPr>
            <a:spLocks noGrp="1"/>
          </p:cNvSpPr>
          <p:nvPr>
            <p:ph type="body" idx="1"/>
          </p:nvPr>
        </p:nvSpPr>
        <p:spPr/>
        <p:txBody>
          <a:bodyPr/>
          <a:lstStyle/>
          <a:p>
            <a:r>
              <a:rPr lang="en-US" dirty="0"/>
              <a:t>Now, you can do several things while your instance is running. For example, you can live migrate your virtual machine to another host in the same zone instead of requiring your instance to be rebooted. This allows Google Cloud to perform maintenance that is integral to keeping the infrastructure protected and reliable, without interrupting any of your VMs. While your instance is running, you can also move your VM to a different zone, take a snapshot of the VM’s persistent disk, export the system image, or reconfigure metadata. We will explore some of these tasks in later labs. Some actions require you to stop your virtual machine; for example, if you want to upgrade your machine by adding more CPU. When the instance enters this state, it will go through pre-configured shutdown scripts and end in the terminated state. From this state, you can choose to either restart the instance, which would bring it back to its provisioning state, or delete it</a:t>
            </a:r>
          </a:p>
        </p:txBody>
      </p:sp>
      <p:sp>
        <p:nvSpPr>
          <p:cNvPr id="4" name="Slide Number Placeholder 3">
            <a:extLst>
              <a:ext uri="{FF2B5EF4-FFF2-40B4-BE49-F238E27FC236}">
                <a16:creationId xmlns:a16="http://schemas.microsoft.com/office/drawing/2014/main" id="{1F5BBBAF-9812-AF2C-478E-37B2D03C6912}"/>
              </a:ext>
            </a:extLst>
          </p:cNvPr>
          <p:cNvSpPr>
            <a:spLocks noGrp="1"/>
          </p:cNvSpPr>
          <p:nvPr>
            <p:ph type="sldNum" sz="quarter" idx="5"/>
          </p:nvPr>
        </p:nvSpPr>
        <p:spPr/>
        <p:txBody>
          <a:bodyPr/>
          <a:lstStyle/>
          <a:p>
            <a:fld id="{289AC9CB-4C47-4782-AA14-455CA1E626BB}" type="slidenum">
              <a:rPr lang="en-US" smtClean="0"/>
              <a:t>14</a:t>
            </a:fld>
            <a:endParaRPr lang="en-US"/>
          </a:p>
        </p:txBody>
      </p:sp>
    </p:spTree>
    <p:extLst>
      <p:ext uri="{BB962C8B-B14F-4D97-AF65-F5344CB8AC3E}">
        <p14:creationId xmlns:p14="http://schemas.microsoft.com/office/powerpoint/2010/main" val="345859016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29417-9847-30CB-B7D0-B495BCEA59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78A90C-6C4A-AD7B-7422-7B7E57D2FD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78A9E4-33B4-8495-4474-8BE9ADB614AC}"/>
              </a:ext>
            </a:extLst>
          </p:cNvPr>
          <p:cNvSpPr>
            <a:spLocks noGrp="1"/>
          </p:cNvSpPr>
          <p:nvPr>
            <p:ph type="body" idx="1"/>
          </p:nvPr>
        </p:nvSpPr>
        <p:spPr/>
        <p:txBody>
          <a:bodyPr/>
          <a:lstStyle/>
          <a:p>
            <a:r>
              <a:rPr lang="en-US" dirty="0"/>
              <a:t>You also have the option to reset a VM, which is similar to pressing the reset button on your computer. This actions wipes the memory contents of the machine and resets the virtual machine to its initial state. The instance remains in the running state through the reset. The VM may also enter a repairing state. Repairing occurs when the VM encounters an internal error or the underlying machine is unavailable due to maintenance. During this time, the VM is unusable. You are not billed when a VM is in repair. VMs are not covered by the Service level agreement (SLA) while they are in repair. If repair succeeds, the VM returns to one of the above states. Finally, when you suspend the VM, it enters in the suspending state, before being suspended. You can then resume the VM or delete it. </a:t>
            </a:r>
          </a:p>
        </p:txBody>
      </p:sp>
      <p:sp>
        <p:nvSpPr>
          <p:cNvPr id="4" name="Slide Number Placeholder 3">
            <a:extLst>
              <a:ext uri="{FF2B5EF4-FFF2-40B4-BE49-F238E27FC236}">
                <a16:creationId xmlns:a16="http://schemas.microsoft.com/office/drawing/2014/main" id="{36DFCFB2-4701-EBDB-7E02-59B7C3DCA00C}"/>
              </a:ext>
            </a:extLst>
          </p:cNvPr>
          <p:cNvSpPr>
            <a:spLocks noGrp="1"/>
          </p:cNvSpPr>
          <p:nvPr>
            <p:ph type="sldNum" sz="quarter" idx="5"/>
          </p:nvPr>
        </p:nvSpPr>
        <p:spPr/>
        <p:txBody>
          <a:bodyPr/>
          <a:lstStyle/>
          <a:p>
            <a:fld id="{289AC9CB-4C47-4782-AA14-455CA1E626BB}" type="slidenum">
              <a:rPr lang="en-US" smtClean="0"/>
              <a:t>15</a:t>
            </a:fld>
            <a:endParaRPr lang="en-US"/>
          </a:p>
        </p:txBody>
      </p:sp>
    </p:spTree>
    <p:extLst>
      <p:ext uri="{BB962C8B-B14F-4D97-AF65-F5344CB8AC3E}">
        <p14:creationId xmlns:p14="http://schemas.microsoft.com/office/powerpoint/2010/main" val="26696014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b="1" dirty="0"/>
              <a:t>Steps</a:t>
            </a:r>
            <a:r>
              <a:rPr lang="en-US" dirty="0"/>
              <a:t>:</a:t>
            </a:r>
          </a:p>
          <a:p>
            <a:pPr marL="742950" lvl="1" indent="-285750">
              <a:buFont typeface="Arial" panose="020B0604020202020204" pitchFamily="34" charset="0"/>
              <a:buChar char="•"/>
            </a:pPr>
            <a:r>
              <a:rPr lang="en-US" dirty="0"/>
              <a:t>Create a VM using Google Cloud Console.</a:t>
            </a:r>
          </a:p>
          <a:p>
            <a:pPr marL="742950" lvl="1" indent="-285750">
              <a:buFont typeface="Arial" panose="020B0604020202020204" pitchFamily="34" charset="0"/>
              <a:buChar char="•"/>
            </a:pPr>
            <a:r>
              <a:rPr lang="en-US" dirty="0"/>
              <a:t>Choose an OS image and disk configuration.</a:t>
            </a:r>
          </a:p>
          <a:p>
            <a:pPr marL="742950" lvl="1" indent="-285750">
              <a:buFont typeface="Arial" panose="020B0604020202020204" pitchFamily="34" charset="0"/>
              <a:buChar char="•"/>
            </a:pPr>
            <a:r>
              <a:rPr lang="en-US" dirty="0"/>
              <a:t>Set up SSH or RDP access:</a:t>
            </a:r>
          </a:p>
          <a:p>
            <a:pPr marL="1143000" lvl="2" indent="-228600">
              <a:buFont typeface="Arial" panose="020B0604020202020204" pitchFamily="34" charset="0"/>
              <a:buChar char="•"/>
            </a:pPr>
            <a:r>
              <a:rPr lang="en-US" b="1" dirty="0"/>
              <a:t>Linux</a:t>
            </a:r>
            <a:r>
              <a:rPr lang="en-US" dirty="0"/>
              <a:t>: Use SSH keys via the Cloud Console.</a:t>
            </a:r>
          </a:p>
          <a:p>
            <a:pPr marL="1143000" lvl="2" indent="-228600">
              <a:buFont typeface="Arial" panose="020B0604020202020204" pitchFamily="34" charset="0"/>
              <a:buChar char="•"/>
            </a:pPr>
            <a:r>
              <a:rPr lang="en-US" b="1" dirty="0"/>
              <a:t>Windows</a:t>
            </a:r>
            <a:r>
              <a:rPr lang="en-US" dirty="0"/>
              <a:t>: Configure RDP access with credentials.</a:t>
            </a:r>
          </a:p>
          <a:p>
            <a:pPr marL="742950" lvl="1" indent="-285750">
              <a:buFont typeface="Arial" panose="020B0604020202020204" pitchFamily="34" charset="0"/>
              <a:buChar char="•"/>
            </a:pPr>
            <a:r>
              <a:rPr lang="en-US" dirty="0"/>
              <a:t>Validate connection by accessing the VM.</a:t>
            </a:r>
          </a:p>
        </p:txBody>
      </p:sp>
      <p:sp>
        <p:nvSpPr>
          <p:cNvPr id="4" name="Slide Number Placeholder 3"/>
          <p:cNvSpPr>
            <a:spLocks noGrp="1"/>
          </p:cNvSpPr>
          <p:nvPr>
            <p:ph type="sldNum" sz="quarter" idx="5"/>
          </p:nvPr>
        </p:nvSpPr>
        <p:spPr/>
        <p:txBody>
          <a:bodyPr/>
          <a:lstStyle/>
          <a:p>
            <a:fld id="{289AC9CB-4C47-4782-AA14-455CA1E626BB}" type="slidenum">
              <a:rPr lang="en-US" smtClean="0"/>
              <a:t>16</a:t>
            </a:fld>
            <a:endParaRPr lang="en-US"/>
          </a:p>
        </p:txBody>
      </p:sp>
    </p:spTree>
    <p:extLst>
      <p:ext uri="{BB962C8B-B14F-4D97-AF65-F5344CB8AC3E}">
        <p14:creationId xmlns:p14="http://schemas.microsoft.com/office/powerpoint/2010/main" val="5012955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1B85E-5D50-D1CB-57E4-28E582253C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45382D-8197-30C0-772B-34C1EA3FF9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E0FE4F-E1D9-3A91-2900-EAB0ED8F9F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D1F37DA-E760-D944-FD46-A91AF2344E30}"/>
              </a:ext>
            </a:extLst>
          </p:cNvPr>
          <p:cNvSpPr>
            <a:spLocks noGrp="1"/>
          </p:cNvSpPr>
          <p:nvPr>
            <p:ph type="sldNum" sz="quarter" idx="5"/>
          </p:nvPr>
        </p:nvSpPr>
        <p:spPr/>
        <p:txBody>
          <a:bodyPr/>
          <a:lstStyle/>
          <a:p>
            <a:fld id="{289AC9CB-4C47-4782-AA14-455CA1E626BB}" type="slidenum">
              <a:rPr lang="en-US" smtClean="0"/>
              <a:t>17</a:t>
            </a:fld>
            <a:endParaRPr lang="en-US"/>
          </a:p>
        </p:txBody>
      </p:sp>
    </p:spTree>
    <p:extLst>
      <p:ext uri="{BB962C8B-B14F-4D97-AF65-F5344CB8AC3E}">
        <p14:creationId xmlns:p14="http://schemas.microsoft.com/office/powerpoint/2010/main" val="421938109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630E22-CCE5-442C-3BE1-B2A7C2FCCF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080F4A-143E-43DC-2089-28244E96CC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69243E-0C3D-C2E9-6D52-82A60DBDD5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E3F487-B59A-7B5A-E508-F3CCA8966160}"/>
              </a:ext>
            </a:extLst>
          </p:cNvPr>
          <p:cNvSpPr>
            <a:spLocks noGrp="1"/>
          </p:cNvSpPr>
          <p:nvPr>
            <p:ph type="sldNum" sz="quarter" idx="5"/>
          </p:nvPr>
        </p:nvSpPr>
        <p:spPr/>
        <p:txBody>
          <a:bodyPr/>
          <a:lstStyle/>
          <a:p>
            <a:fld id="{289AC9CB-4C47-4782-AA14-455CA1E626BB}" type="slidenum">
              <a:rPr lang="en-US" smtClean="0"/>
              <a:t>18</a:t>
            </a:fld>
            <a:endParaRPr lang="en-US"/>
          </a:p>
        </p:txBody>
      </p:sp>
    </p:spTree>
    <p:extLst>
      <p:ext uri="{BB962C8B-B14F-4D97-AF65-F5344CB8AC3E}">
        <p14:creationId xmlns:p14="http://schemas.microsoft.com/office/powerpoint/2010/main" val="11673088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7DF88C-08FD-A58E-ECFB-EBFB1C8F85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A1F4D6-7FAC-C4E4-0737-C5F7A0A609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62338D-B9F6-FC19-FF65-56ABDC9501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86239B2-5FC3-AC19-2176-EEB8EC16DCCE}"/>
              </a:ext>
            </a:extLst>
          </p:cNvPr>
          <p:cNvSpPr>
            <a:spLocks noGrp="1"/>
          </p:cNvSpPr>
          <p:nvPr>
            <p:ph type="sldNum" sz="quarter" idx="5"/>
          </p:nvPr>
        </p:nvSpPr>
        <p:spPr/>
        <p:txBody>
          <a:bodyPr/>
          <a:lstStyle/>
          <a:p>
            <a:fld id="{289AC9CB-4C47-4782-AA14-455CA1E626BB}" type="slidenum">
              <a:rPr lang="en-US" smtClean="0"/>
              <a:t>19</a:t>
            </a:fld>
            <a:endParaRPr lang="en-US"/>
          </a:p>
        </p:txBody>
      </p:sp>
    </p:spTree>
    <p:extLst>
      <p:ext uri="{BB962C8B-B14F-4D97-AF65-F5344CB8AC3E}">
        <p14:creationId xmlns:p14="http://schemas.microsoft.com/office/powerpoint/2010/main" val="37993397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03148-867A-6E75-5545-F736A3D894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594D25-C122-3E5E-F656-A51F26EC07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0B31BF-6C44-C041-7CC7-5846C7FEB4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337EEC8-9353-A8C6-7A3D-8D532B061A1E}"/>
              </a:ext>
            </a:extLst>
          </p:cNvPr>
          <p:cNvSpPr>
            <a:spLocks noGrp="1"/>
          </p:cNvSpPr>
          <p:nvPr>
            <p:ph type="sldNum" sz="quarter" idx="5"/>
          </p:nvPr>
        </p:nvSpPr>
        <p:spPr/>
        <p:txBody>
          <a:bodyPr/>
          <a:lstStyle/>
          <a:p>
            <a:fld id="{289AC9CB-4C47-4782-AA14-455CA1E626BB}" type="slidenum">
              <a:rPr lang="en-US" smtClean="0"/>
              <a:t>20</a:t>
            </a:fld>
            <a:endParaRPr lang="en-US"/>
          </a:p>
        </p:txBody>
      </p:sp>
    </p:spTree>
    <p:extLst>
      <p:ext uri="{BB962C8B-B14F-4D97-AF65-F5344CB8AC3E}">
        <p14:creationId xmlns:p14="http://schemas.microsoft.com/office/powerpoint/2010/main" val="7445250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3F4F5F-CEAC-ACF8-FA67-696047F679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5514D7-1CDD-38A0-98A6-6ED82D327E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7DBA63-97FC-AE6F-D7E8-AFC073696E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DA1638-F02A-D56E-8848-848696423F94}"/>
              </a:ext>
            </a:extLst>
          </p:cNvPr>
          <p:cNvSpPr>
            <a:spLocks noGrp="1"/>
          </p:cNvSpPr>
          <p:nvPr>
            <p:ph type="sldNum" sz="quarter" idx="5"/>
          </p:nvPr>
        </p:nvSpPr>
        <p:spPr/>
        <p:txBody>
          <a:bodyPr/>
          <a:lstStyle/>
          <a:p>
            <a:fld id="{289AC9CB-4C47-4782-AA14-455CA1E626BB}" type="slidenum">
              <a:rPr lang="en-US" smtClean="0"/>
              <a:t>21</a:t>
            </a:fld>
            <a:endParaRPr lang="en-US"/>
          </a:p>
        </p:txBody>
      </p:sp>
    </p:spTree>
    <p:extLst>
      <p:ext uri="{BB962C8B-B14F-4D97-AF65-F5344CB8AC3E}">
        <p14:creationId xmlns:p14="http://schemas.microsoft.com/office/powerpoint/2010/main" val="308175803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6A7CA9-DEDF-5AAE-3E7F-9D0EB525AE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134957-F765-BDF7-1AC8-F42B81C845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04845B-4CCF-2E36-A7C5-E779FB10E48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AC306D4-38ED-3445-CD56-C8340E489CA4}"/>
              </a:ext>
            </a:extLst>
          </p:cNvPr>
          <p:cNvSpPr>
            <a:spLocks noGrp="1"/>
          </p:cNvSpPr>
          <p:nvPr>
            <p:ph type="sldNum" sz="quarter" idx="5"/>
          </p:nvPr>
        </p:nvSpPr>
        <p:spPr/>
        <p:txBody>
          <a:bodyPr/>
          <a:lstStyle/>
          <a:p>
            <a:fld id="{289AC9CB-4C47-4782-AA14-455CA1E626BB}" type="slidenum">
              <a:rPr lang="en-US" smtClean="0"/>
              <a:t>22</a:t>
            </a:fld>
            <a:endParaRPr lang="en-US"/>
          </a:p>
        </p:txBody>
      </p:sp>
    </p:spTree>
    <p:extLst>
      <p:ext uri="{BB962C8B-B14F-4D97-AF65-F5344CB8AC3E}">
        <p14:creationId xmlns:p14="http://schemas.microsoft.com/office/powerpoint/2010/main" val="85929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13" name="Google Shape;61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A00DF-1644-8EDB-672A-6F54DBA4E0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22CAB7-BD22-C2D3-8D3F-CFEDF76E593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789C9B-01BF-8454-355C-E8E68CAECA3B}"/>
              </a:ext>
            </a:extLst>
          </p:cNvPr>
          <p:cNvSpPr>
            <a:spLocks noGrp="1"/>
          </p:cNvSpPr>
          <p:nvPr>
            <p:ph type="dt" sz="half" idx="10"/>
          </p:nvPr>
        </p:nvSpPr>
        <p:spPr/>
        <p:txBody>
          <a:bodyPr/>
          <a:lstStyle/>
          <a:p>
            <a:fld id="{2DB2C922-B111-4F91-9212-34FA33851810}" type="datetimeFigureOut">
              <a:rPr lang="en-US" smtClean="0"/>
              <a:t>12/19/2024</a:t>
            </a:fld>
            <a:endParaRPr lang="en-US"/>
          </a:p>
        </p:txBody>
      </p:sp>
      <p:sp>
        <p:nvSpPr>
          <p:cNvPr id="5" name="Footer Placeholder 4">
            <a:extLst>
              <a:ext uri="{FF2B5EF4-FFF2-40B4-BE49-F238E27FC236}">
                <a16:creationId xmlns:a16="http://schemas.microsoft.com/office/drawing/2014/main" id="{ED86F9FC-2669-5AC9-825D-9F71E2321C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0E5153-E1BD-EABE-1D80-4E8F20735E74}"/>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7915977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CB9C4B-5962-4126-F171-63C5CE7330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28D1B4-5D3B-BE51-780B-657AA6B500F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C16AD5-AD8B-D2E8-A3B0-F7EB0CAA34AD}"/>
              </a:ext>
            </a:extLst>
          </p:cNvPr>
          <p:cNvSpPr>
            <a:spLocks noGrp="1"/>
          </p:cNvSpPr>
          <p:nvPr>
            <p:ph type="dt" sz="half" idx="10"/>
          </p:nvPr>
        </p:nvSpPr>
        <p:spPr/>
        <p:txBody>
          <a:bodyPr/>
          <a:lstStyle/>
          <a:p>
            <a:fld id="{2DB2C922-B111-4F91-9212-34FA33851810}" type="datetimeFigureOut">
              <a:rPr lang="en-US" smtClean="0"/>
              <a:t>12/19/2024</a:t>
            </a:fld>
            <a:endParaRPr lang="en-US"/>
          </a:p>
        </p:txBody>
      </p:sp>
      <p:sp>
        <p:nvSpPr>
          <p:cNvPr id="5" name="Footer Placeholder 4">
            <a:extLst>
              <a:ext uri="{FF2B5EF4-FFF2-40B4-BE49-F238E27FC236}">
                <a16:creationId xmlns:a16="http://schemas.microsoft.com/office/drawing/2014/main" id="{6372F0A1-6664-AECA-E419-4ADB609AFF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9D5E95A-7CF5-E4BA-2473-CE1B4F29FAE0}"/>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2551816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9D45D6-4FF5-E389-B9F7-57042D93850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A2194EE-DBB8-18DC-0A1D-3516845B4C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B0269E7-B6DB-8BF7-7872-F6CF9FD349B9}"/>
              </a:ext>
            </a:extLst>
          </p:cNvPr>
          <p:cNvSpPr>
            <a:spLocks noGrp="1"/>
          </p:cNvSpPr>
          <p:nvPr>
            <p:ph type="dt" sz="half" idx="10"/>
          </p:nvPr>
        </p:nvSpPr>
        <p:spPr/>
        <p:txBody>
          <a:bodyPr/>
          <a:lstStyle/>
          <a:p>
            <a:fld id="{2DB2C922-B111-4F91-9212-34FA33851810}" type="datetimeFigureOut">
              <a:rPr lang="en-US" smtClean="0"/>
              <a:t>12/19/2024</a:t>
            </a:fld>
            <a:endParaRPr lang="en-US"/>
          </a:p>
        </p:txBody>
      </p:sp>
      <p:sp>
        <p:nvSpPr>
          <p:cNvPr id="5" name="Footer Placeholder 4">
            <a:extLst>
              <a:ext uri="{FF2B5EF4-FFF2-40B4-BE49-F238E27FC236}">
                <a16:creationId xmlns:a16="http://schemas.microsoft.com/office/drawing/2014/main" id="{961C6519-8558-5016-E162-29AC07535D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3F9C4E1-C0FD-24D2-9876-0E1E34DFC601}"/>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2230179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C6C01-C5D1-F372-F288-E7A1B1C35C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70BDE85-0EF6-3D0B-F627-7BF6B75F97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308FE4-AD83-E13B-9087-5B5BC144011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9B20E4A-BC9D-7FBB-81B0-B61B8CCF589A}"/>
              </a:ext>
            </a:extLst>
          </p:cNvPr>
          <p:cNvSpPr>
            <a:spLocks noGrp="1"/>
          </p:cNvSpPr>
          <p:nvPr>
            <p:ph type="dt" sz="half" idx="10"/>
          </p:nvPr>
        </p:nvSpPr>
        <p:spPr/>
        <p:txBody>
          <a:bodyPr/>
          <a:lstStyle/>
          <a:p>
            <a:fld id="{2DB2C922-B111-4F91-9212-34FA33851810}" type="datetimeFigureOut">
              <a:rPr lang="en-US" smtClean="0"/>
              <a:t>12/19/2024</a:t>
            </a:fld>
            <a:endParaRPr lang="en-US"/>
          </a:p>
        </p:txBody>
      </p:sp>
      <p:sp>
        <p:nvSpPr>
          <p:cNvPr id="6" name="Footer Placeholder 5">
            <a:extLst>
              <a:ext uri="{FF2B5EF4-FFF2-40B4-BE49-F238E27FC236}">
                <a16:creationId xmlns:a16="http://schemas.microsoft.com/office/drawing/2014/main" id="{AD937BA6-8752-B265-F48A-9BED6BEB70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B5494ED-7C20-DB30-899A-56D8DCA56C42}"/>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2333982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BCEFB-D82A-F073-3836-30314AA5DEB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E4C625-12B5-64F9-EA8D-F33AA76C9DC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AF5709D-C3A8-E6AF-CF11-670C29543C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DCD946-614F-E1D2-23D1-847BB0095A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4DCA4E-467A-4F76-5DFC-2A2762943CD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FA991A0-B3D8-201A-BE5D-023D3E0B6E84}"/>
              </a:ext>
            </a:extLst>
          </p:cNvPr>
          <p:cNvSpPr>
            <a:spLocks noGrp="1"/>
          </p:cNvSpPr>
          <p:nvPr>
            <p:ph type="dt" sz="half" idx="10"/>
          </p:nvPr>
        </p:nvSpPr>
        <p:spPr/>
        <p:txBody>
          <a:bodyPr/>
          <a:lstStyle/>
          <a:p>
            <a:fld id="{2DB2C922-B111-4F91-9212-34FA33851810}" type="datetimeFigureOut">
              <a:rPr lang="en-US" smtClean="0"/>
              <a:t>12/19/2024</a:t>
            </a:fld>
            <a:endParaRPr lang="en-US"/>
          </a:p>
        </p:txBody>
      </p:sp>
      <p:sp>
        <p:nvSpPr>
          <p:cNvPr id="8" name="Footer Placeholder 7">
            <a:extLst>
              <a:ext uri="{FF2B5EF4-FFF2-40B4-BE49-F238E27FC236}">
                <a16:creationId xmlns:a16="http://schemas.microsoft.com/office/drawing/2014/main" id="{3AAEB582-26AB-4F9A-BCD3-0451FD2150D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2482B23-A427-EF69-666D-F54E414E09F9}"/>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3910028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4A805-452D-930B-6593-50ECABA24DE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0F81EAF-92B9-860A-E384-7C100563CEF2}"/>
              </a:ext>
            </a:extLst>
          </p:cNvPr>
          <p:cNvSpPr>
            <a:spLocks noGrp="1"/>
          </p:cNvSpPr>
          <p:nvPr>
            <p:ph type="dt" sz="half" idx="10"/>
          </p:nvPr>
        </p:nvSpPr>
        <p:spPr/>
        <p:txBody>
          <a:bodyPr/>
          <a:lstStyle/>
          <a:p>
            <a:fld id="{2DB2C922-B111-4F91-9212-34FA33851810}" type="datetimeFigureOut">
              <a:rPr lang="en-US" smtClean="0"/>
              <a:t>12/19/2024</a:t>
            </a:fld>
            <a:endParaRPr lang="en-US"/>
          </a:p>
        </p:txBody>
      </p:sp>
      <p:sp>
        <p:nvSpPr>
          <p:cNvPr id="4" name="Footer Placeholder 3">
            <a:extLst>
              <a:ext uri="{FF2B5EF4-FFF2-40B4-BE49-F238E27FC236}">
                <a16:creationId xmlns:a16="http://schemas.microsoft.com/office/drawing/2014/main" id="{CA53F8FB-F5D3-2094-1575-E6887A70144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1F7F29-4250-00FE-43C8-9BA2C4773593}"/>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28600560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4A18186-6AA2-0E68-AB12-0E408E26B906}"/>
              </a:ext>
            </a:extLst>
          </p:cNvPr>
          <p:cNvSpPr>
            <a:spLocks noGrp="1"/>
          </p:cNvSpPr>
          <p:nvPr>
            <p:ph type="dt" sz="half" idx="10"/>
          </p:nvPr>
        </p:nvSpPr>
        <p:spPr/>
        <p:txBody>
          <a:bodyPr/>
          <a:lstStyle/>
          <a:p>
            <a:fld id="{2DB2C922-B111-4F91-9212-34FA33851810}" type="datetimeFigureOut">
              <a:rPr lang="en-US" smtClean="0"/>
              <a:t>12/19/2024</a:t>
            </a:fld>
            <a:endParaRPr lang="en-US"/>
          </a:p>
        </p:txBody>
      </p:sp>
      <p:sp>
        <p:nvSpPr>
          <p:cNvPr id="3" name="Footer Placeholder 2">
            <a:extLst>
              <a:ext uri="{FF2B5EF4-FFF2-40B4-BE49-F238E27FC236}">
                <a16:creationId xmlns:a16="http://schemas.microsoft.com/office/drawing/2014/main" id="{D1CABB67-E2CA-365D-9CC6-5D39D92FF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F80351A-AC56-06EA-3F5D-439A39846D09}"/>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16424453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8F36D-A577-CAEA-E738-631C309B2E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DA2656B-25D1-0CD9-C050-7E91A82350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D636D29-CE53-7091-155D-EE1E4ED807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3989E43-7721-94F9-AEB9-83F4428F88FC}"/>
              </a:ext>
            </a:extLst>
          </p:cNvPr>
          <p:cNvSpPr>
            <a:spLocks noGrp="1"/>
          </p:cNvSpPr>
          <p:nvPr>
            <p:ph type="dt" sz="half" idx="10"/>
          </p:nvPr>
        </p:nvSpPr>
        <p:spPr/>
        <p:txBody>
          <a:bodyPr/>
          <a:lstStyle/>
          <a:p>
            <a:fld id="{2DB2C922-B111-4F91-9212-34FA33851810}" type="datetimeFigureOut">
              <a:rPr lang="en-US" smtClean="0"/>
              <a:t>12/19/2024</a:t>
            </a:fld>
            <a:endParaRPr lang="en-US"/>
          </a:p>
        </p:txBody>
      </p:sp>
      <p:sp>
        <p:nvSpPr>
          <p:cNvPr id="6" name="Footer Placeholder 5">
            <a:extLst>
              <a:ext uri="{FF2B5EF4-FFF2-40B4-BE49-F238E27FC236}">
                <a16:creationId xmlns:a16="http://schemas.microsoft.com/office/drawing/2014/main" id="{5CC98168-7937-50B8-ACC6-1BD0C0E58D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FEC495-60F0-69EF-1184-A22FB03167F2}"/>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6443555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0CF954-00C2-123F-0CA9-0386242704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E50D2B1-F11B-50BB-787E-B69FD7C4AE3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C85088-C2C6-8F3F-74EE-B1CABE7341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F79B41-DE1F-C35F-01D4-57EEFD290629}"/>
              </a:ext>
            </a:extLst>
          </p:cNvPr>
          <p:cNvSpPr>
            <a:spLocks noGrp="1"/>
          </p:cNvSpPr>
          <p:nvPr>
            <p:ph type="dt" sz="half" idx="10"/>
          </p:nvPr>
        </p:nvSpPr>
        <p:spPr/>
        <p:txBody>
          <a:bodyPr/>
          <a:lstStyle/>
          <a:p>
            <a:fld id="{2DB2C922-B111-4F91-9212-34FA33851810}" type="datetimeFigureOut">
              <a:rPr lang="en-US" smtClean="0"/>
              <a:t>12/19/2024</a:t>
            </a:fld>
            <a:endParaRPr lang="en-US"/>
          </a:p>
        </p:txBody>
      </p:sp>
      <p:sp>
        <p:nvSpPr>
          <p:cNvPr id="6" name="Footer Placeholder 5">
            <a:extLst>
              <a:ext uri="{FF2B5EF4-FFF2-40B4-BE49-F238E27FC236}">
                <a16:creationId xmlns:a16="http://schemas.microsoft.com/office/drawing/2014/main" id="{EA37BE2B-6450-07C8-E5C6-D6F3BE11DA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262869-DA06-8D10-BB03-0674E97B3ABC}"/>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12627154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D0D9C-2C67-AFB4-3ABC-43437592B35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3A979B-02B2-AE5A-0E3A-24CD22D717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061C6B-CF86-0D90-4B8B-7E718EB603C9}"/>
              </a:ext>
            </a:extLst>
          </p:cNvPr>
          <p:cNvSpPr>
            <a:spLocks noGrp="1"/>
          </p:cNvSpPr>
          <p:nvPr>
            <p:ph type="dt" sz="half" idx="10"/>
          </p:nvPr>
        </p:nvSpPr>
        <p:spPr/>
        <p:txBody>
          <a:bodyPr/>
          <a:lstStyle/>
          <a:p>
            <a:fld id="{2DB2C922-B111-4F91-9212-34FA33851810}" type="datetimeFigureOut">
              <a:rPr lang="en-US" smtClean="0"/>
              <a:t>12/19/2024</a:t>
            </a:fld>
            <a:endParaRPr lang="en-US"/>
          </a:p>
        </p:txBody>
      </p:sp>
      <p:sp>
        <p:nvSpPr>
          <p:cNvPr id="5" name="Footer Placeholder 4">
            <a:extLst>
              <a:ext uri="{FF2B5EF4-FFF2-40B4-BE49-F238E27FC236}">
                <a16:creationId xmlns:a16="http://schemas.microsoft.com/office/drawing/2014/main" id="{8A06622E-1332-2F5C-F340-C69265FC7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47AEE4-1525-A6FA-0B09-0B99197B9684}"/>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22578039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323E475-4046-D87F-B196-011FBB9EDF4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05F9624-1DE3-F39D-6E11-822CDD9B77D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337ECB4-0D80-E99E-FC8C-AE1BA360A8AE}"/>
              </a:ext>
            </a:extLst>
          </p:cNvPr>
          <p:cNvSpPr>
            <a:spLocks noGrp="1"/>
          </p:cNvSpPr>
          <p:nvPr>
            <p:ph type="dt" sz="half" idx="10"/>
          </p:nvPr>
        </p:nvSpPr>
        <p:spPr/>
        <p:txBody>
          <a:bodyPr/>
          <a:lstStyle/>
          <a:p>
            <a:fld id="{2DB2C922-B111-4F91-9212-34FA33851810}" type="datetimeFigureOut">
              <a:rPr lang="en-US" smtClean="0"/>
              <a:t>12/19/2024</a:t>
            </a:fld>
            <a:endParaRPr lang="en-US"/>
          </a:p>
        </p:txBody>
      </p:sp>
      <p:sp>
        <p:nvSpPr>
          <p:cNvPr id="5" name="Footer Placeholder 4">
            <a:extLst>
              <a:ext uri="{FF2B5EF4-FFF2-40B4-BE49-F238E27FC236}">
                <a16:creationId xmlns:a16="http://schemas.microsoft.com/office/drawing/2014/main" id="{AADB6344-2192-22C5-D81E-FB0FE42E2F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C30812-8B44-C5A5-DDBF-21E445F3E76F}"/>
              </a:ext>
            </a:extLst>
          </p:cNvPr>
          <p:cNvSpPr>
            <a:spLocks noGrp="1"/>
          </p:cNvSpPr>
          <p:nvPr>
            <p:ph type="sldNum" sz="quarter" idx="12"/>
          </p:nvPr>
        </p:nvSpPr>
        <p:spPr/>
        <p:txBody>
          <a:bodyPr/>
          <a:lstStyle/>
          <a:p>
            <a:fld id="{A8759F95-D966-42C9-BF45-E0322056EB07}" type="slidenum">
              <a:rPr lang="en-US" smtClean="0"/>
              <a:t>‹#›</a:t>
            </a:fld>
            <a:endParaRPr lang="en-US"/>
          </a:p>
        </p:txBody>
      </p:sp>
    </p:spTree>
    <p:extLst>
      <p:ext uri="{BB962C8B-B14F-4D97-AF65-F5344CB8AC3E}">
        <p14:creationId xmlns:p14="http://schemas.microsoft.com/office/powerpoint/2010/main" val="13846487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72F60D-0D89-6A84-BED9-D1F3B03649D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266A908-CFA8-4938-BC76-ADB6E48CA93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E637D9-078D-BC22-F698-7CA8EA71F46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B2C922-B111-4F91-9212-34FA33851810}" type="datetimeFigureOut">
              <a:rPr lang="en-US" smtClean="0"/>
              <a:t>12/19/2024</a:t>
            </a:fld>
            <a:endParaRPr lang="en-US"/>
          </a:p>
        </p:txBody>
      </p:sp>
      <p:sp>
        <p:nvSpPr>
          <p:cNvPr id="5" name="Footer Placeholder 4">
            <a:extLst>
              <a:ext uri="{FF2B5EF4-FFF2-40B4-BE49-F238E27FC236}">
                <a16:creationId xmlns:a16="http://schemas.microsoft.com/office/drawing/2014/main" id="{6DDDA5AF-517F-A4AD-982A-FC908D0212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8354252-A288-AC90-9D9E-7AEDC20C346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8759F95-D966-42C9-BF45-E0322056EB07}" type="slidenum">
              <a:rPr lang="en-US" smtClean="0"/>
              <a:t>‹#›</a:t>
            </a:fld>
            <a:endParaRPr lang="en-US"/>
          </a:p>
        </p:txBody>
      </p:sp>
    </p:spTree>
    <p:extLst>
      <p:ext uri="{BB962C8B-B14F-4D97-AF65-F5344CB8AC3E}">
        <p14:creationId xmlns:p14="http://schemas.microsoft.com/office/powerpoint/2010/main" val="373375181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4.xml.rels><?xml version="1.0" encoding="UTF-8" standalone="yes"?>
<Relationships xmlns="http://schemas.openxmlformats.org/package/2006/relationships"><Relationship Id="rId8" Type="http://schemas.openxmlformats.org/officeDocument/2006/relationships/image" Target="../media/image9.jpg"/><Relationship Id="rId3" Type="http://schemas.openxmlformats.org/officeDocument/2006/relationships/image" Target="../media/image1.png"/><Relationship Id="rId7" Type="http://schemas.openxmlformats.org/officeDocument/2006/relationships/image" Target="../media/image8.jp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5.emf"/><Relationship Id="rId5" Type="http://schemas.openxmlformats.org/officeDocument/2006/relationships/image" Target="../media/image4.emf"/><Relationship Id="rId4" Type="http://schemas.openxmlformats.org/officeDocument/2006/relationships/image" Target="../media/image3.emf"/></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400"/>
          </a:p>
        </p:txBody>
      </p:sp>
      <p:sp>
        <p:nvSpPr>
          <p:cNvPr id="615" name="Google Shape;615;p34"/>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algn="ctr">
              <a:lnSpc>
                <a:spcPct val="90000"/>
              </a:lnSpc>
              <a:buClr>
                <a:schemeClr val="dk1"/>
              </a:buClr>
              <a:buSzPts val="4000"/>
            </a:pPr>
            <a:r>
              <a:rPr lang="en-US" sz="4800" dirty="0">
                <a:solidFill>
                  <a:schemeClr val="bg1"/>
                </a:solidFill>
                <a:latin typeface="Lato"/>
                <a:ea typeface="Lato"/>
                <a:cs typeface="Lato"/>
                <a:sym typeface="Lato"/>
              </a:rPr>
              <a:t>Compute Engine and App Engine</a:t>
            </a:r>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vert="horz" wrap="square" lIns="121900" tIns="60933" rIns="121900" bIns="60933" rtlCol="0" anchor="ctr" anchorCtr="0">
            <a:noAutofit/>
          </a:bodyPr>
          <a:lstStyle/>
          <a:p>
            <a:fld id="{00000000-1234-1234-1234-123412341234}" type="slidenum">
              <a:rPr lang="en-IN">
                <a:solidFill>
                  <a:srgbClr val="FF0000"/>
                </a:solidFill>
                <a:latin typeface="Proxima Nova"/>
                <a:ea typeface="Proxima Nova"/>
                <a:cs typeface="Proxima Nova"/>
                <a:sym typeface="Proxima Nova"/>
              </a:rPr>
              <a:pPr/>
              <a:t>1</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7" name="Picture 6">
            <a:extLst>
              <a:ext uri="{FF2B5EF4-FFF2-40B4-BE49-F238E27FC236}">
                <a16:creationId xmlns:a16="http://schemas.microsoft.com/office/drawing/2014/main" id="{8343D47F-0850-4C54-ECA1-347E58687108}"/>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F6433-5B0E-B912-65ED-22BBF478BE9D}"/>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B7B78F49-8D45-345A-2A30-AB4EA76D2355}"/>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A0143B2E-AAB3-B4B3-094C-C40DDD5EA249}"/>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C70FAD89-2994-5670-AE50-ECD2D5F9603D}"/>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5575E830-8E86-7FA4-F824-E6CDED302DE3}"/>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33DE16DB-E087-CF68-1877-895B5F2CED64}"/>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2920720B-57C7-555C-115F-DFF6C83E16FE}"/>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95BD605-57DE-B018-B546-1BCDE81F60DF}"/>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9ECD54A0-20D1-3893-3738-A0057E304792}"/>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ysClr val="windowText" lastClr="000000"/>
                </a:solidFill>
                <a:latin typeface="Proxima Nova"/>
                <a:ea typeface="Proxima Nova"/>
                <a:cs typeface="Proxima Nova"/>
                <a:sym typeface="Proxima Nova"/>
              </a:rPr>
              <a:t>Google Cloud Console - Overview</a:t>
            </a:r>
            <a:endParaRPr sz="3200" dirty="0">
              <a:solidFill>
                <a:sysClr val="windowText" lastClr="000000"/>
              </a:solidFill>
              <a:latin typeface="Proxima Nova"/>
              <a:ea typeface="Proxima Nova"/>
              <a:cs typeface="Proxima Nova"/>
              <a:sym typeface="Proxima Nova"/>
            </a:endParaRPr>
          </a:p>
        </p:txBody>
      </p:sp>
      <p:sp>
        <p:nvSpPr>
          <p:cNvPr id="12" name="TextBox 11">
            <a:extLst>
              <a:ext uri="{FF2B5EF4-FFF2-40B4-BE49-F238E27FC236}">
                <a16:creationId xmlns:a16="http://schemas.microsoft.com/office/drawing/2014/main" id="{5DE3507C-0FCC-80CA-BA0C-2932F431D250}"/>
              </a:ext>
            </a:extLst>
          </p:cNvPr>
          <p:cNvSpPr txBox="1"/>
          <p:nvPr/>
        </p:nvSpPr>
        <p:spPr>
          <a:xfrm>
            <a:off x="728180" y="1618394"/>
            <a:ext cx="10312304" cy="1015663"/>
          </a:xfrm>
          <a:prstGeom prst="rect">
            <a:avLst/>
          </a:prstGeom>
          <a:noFill/>
        </p:spPr>
        <p:txBody>
          <a:bodyPr wrap="square">
            <a:spAutoFit/>
          </a:bodyPr>
          <a:lstStyle/>
          <a:p>
            <a:pPr algn="l"/>
            <a:r>
              <a:rPr lang="en-US" sz="2000" dirty="0"/>
              <a:t>The Google Cloud Console is a web-based, unified console that provides an alternative to command-line tools. It allows you to build, manage, and monitor everything from simple apps to complex cloud deployments.</a:t>
            </a:r>
          </a:p>
        </p:txBody>
      </p:sp>
      <p:pic>
        <p:nvPicPr>
          <p:cNvPr id="10" name="Google Shape;97;p20">
            <a:extLst>
              <a:ext uri="{FF2B5EF4-FFF2-40B4-BE49-F238E27FC236}">
                <a16:creationId xmlns:a16="http://schemas.microsoft.com/office/drawing/2014/main" id="{1912722C-A7A5-4C4E-1326-CC5228CA2A7B}"/>
              </a:ext>
            </a:extLst>
          </p:cNvPr>
          <p:cNvPicPr preferRelativeResize="0"/>
          <p:nvPr/>
        </p:nvPicPr>
        <p:blipFill rotWithShape="1">
          <a:blip r:embed="rId7">
            <a:alphaModFix/>
          </a:blip>
          <a:srcRect/>
          <a:stretch/>
        </p:blipFill>
        <p:spPr>
          <a:xfrm>
            <a:off x="1971040" y="2634058"/>
            <a:ext cx="7792719" cy="3898822"/>
          </a:xfrm>
          <a:prstGeom prst="rect">
            <a:avLst/>
          </a:prstGeom>
          <a:noFill/>
          <a:ln>
            <a:noFill/>
          </a:ln>
        </p:spPr>
      </p:pic>
    </p:spTree>
    <p:extLst>
      <p:ext uri="{BB962C8B-B14F-4D97-AF65-F5344CB8AC3E}">
        <p14:creationId xmlns:p14="http://schemas.microsoft.com/office/powerpoint/2010/main" val="4076445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DAA01-AB73-CF8F-545F-8B7068CDE4A9}"/>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A9B0E5AD-E4B0-6AD0-C61A-20754D678641}"/>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DB993405-F153-4183-BD39-139261987AC6}"/>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157DB8EE-032C-B113-4C6E-ED8A225D377C}"/>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D4AF621F-59F1-9805-C704-FB6D9E92D5FB}"/>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C1A945F8-6D45-3570-E42D-D7476CB24E7F}"/>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A4825E45-DD3C-221E-EB3E-FE462E44D25E}"/>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B79598E3-EC87-751D-A021-9085D2F6918F}"/>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162C1D25-208C-F64E-8BBC-FEFF1D8686DB}"/>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ysClr val="windowText" lastClr="000000"/>
                </a:solidFill>
                <a:latin typeface="Proxima Nova"/>
                <a:ea typeface="Proxima Nova"/>
                <a:cs typeface="Proxima Nova"/>
                <a:sym typeface="Proxima Nova"/>
              </a:rPr>
              <a:t>Cloud SDK</a:t>
            </a:r>
            <a:endParaRPr sz="3200" dirty="0">
              <a:solidFill>
                <a:sysClr val="windowText" lastClr="000000"/>
              </a:solidFill>
              <a:latin typeface="Proxima Nova"/>
              <a:ea typeface="Proxima Nova"/>
              <a:cs typeface="Proxima Nova"/>
              <a:sym typeface="Proxima Nova"/>
            </a:endParaRPr>
          </a:p>
        </p:txBody>
      </p:sp>
      <p:sp>
        <p:nvSpPr>
          <p:cNvPr id="12" name="TextBox 11">
            <a:extLst>
              <a:ext uri="{FF2B5EF4-FFF2-40B4-BE49-F238E27FC236}">
                <a16:creationId xmlns:a16="http://schemas.microsoft.com/office/drawing/2014/main" id="{120E46A3-714E-7F24-945D-D86CCB992901}"/>
              </a:ext>
            </a:extLst>
          </p:cNvPr>
          <p:cNvSpPr txBox="1"/>
          <p:nvPr/>
        </p:nvSpPr>
        <p:spPr>
          <a:xfrm>
            <a:off x="728180" y="1618394"/>
            <a:ext cx="10312304" cy="3785652"/>
          </a:xfrm>
          <a:prstGeom prst="rect">
            <a:avLst/>
          </a:prstGeom>
          <a:noFill/>
        </p:spPr>
        <p:txBody>
          <a:bodyPr wrap="square">
            <a:spAutoFit/>
          </a:bodyPr>
          <a:lstStyle/>
          <a:p>
            <a:pPr algn="l"/>
            <a:r>
              <a:rPr lang="en-US" sz="2000" dirty="0"/>
              <a:t>A Software Development Kit (SDK) is a collection of development tools bundled together in a single installable package. You can use the Cloud SDK to programmatically create, modify, delete, or interact with Google Cloud resources.</a:t>
            </a:r>
          </a:p>
          <a:p>
            <a:pPr algn="l"/>
            <a:endParaRPr lang="en-US" sz="2000" dirty="0"/>
          </a:p>
          <a:p>
            <a:pPr algn="l"/>
            <a:r>
              <a:rPr lang="en-US" sz="2000" dirty="0"/>
              <a:t>Google Cloud SDK is offered in the following programing languages:</a:t>
            </a:r>
          </a:p>
          <a:p>
            <a:pPr marL="342900" indent="-342900" algn="l">
              <a:buFont typeface="Arial" panose="020B0604020202020204" pitchFamily="34" charset="0"/>
              <a:buChar char="•"/>
            </a:pPr>
            <a:r>
              <a:rPr lang="en-US" sz="2000" dirty="0"/>
              <a:t>Java</a:t>
            </a:r>
          </a:p>
          <a:p>
            <a:pPr marL="342900" indent="-342900" algn="l">
              <a:buFont typeface="Arial" panose="020B0604020202020204" pitchFamily="34" charset="0"/>
              <a:buChar char="•"/>
            </a:pPr>
            <a:r>
              <a:rPr lang="en-US" sz="2000" dirty="0"/>
              <a:t>Python</a:t>
            </a:r>
          </a:p>
          <a:p>
            <a:pPr marL="342900" indent="-342900" algn="l">
              <a:buFont typeface="Arial" panose="020B0604020202020204" pitchFamily="34" charset="0"/>
              <a:buChar char="•"/>
            </a:pPr>
            <a:r>
              <a:rPr lang="en-US" sz="2000" dirty="0"/>
              <a:t>Node.js</a:t>
            </a:r>
          </a:p>
          <a:p>
            <a:pPr marL="342900" indent="-342900" algn="l">
              <a:buFont typeface="Arial" panose="020B0604020202020204" pitchFamily="34" charset="0"/>
              <a:buChar char="•"/>
            </a:pPr>
            <a:r>
              <a:rPr lang="en-US" sz="2000" dirty="0"/>
              <a:t>Ruby</a:t>
            </a:r>
          </a:p>
          <a:p>
            <a:pPr marL="342900" indent="-342900" algn="l">
              <a:buFont typeface="Arial" panose="020B0604020202020204" pitchFamily="34" charset="0"/>
              <a:buChar char="•"/>
            </a:pPr>
            <a:r>
              <a:rPr lang="en-US" sz="2000" dirty="0"/>
              <a:t>Go</a:t>
            </a:r>
          </a:p>
          <a:p>
            <a:pPr marL="342900" indent="-342900" algn="l">
              <a:buFont typeface="Arial" panose="020B0604020202020204" pitchFamily="34" charset="0"/>
              <a:buChar char="•"/>
            </a:pPr>
            <a:r>
              <a:rPr lang="en-US" sz="2000" dirty="0"/>
              <a:t>.NET</a:t>
            </a:r>
          </a:p>
          <a:p>
            <a:pPr marL="342900" indent="-342900" algn="l">
              <a:buFont typeface="Arial" panose="020B0604020202020204" pitchFamily="34" charset="0"/>
              <a:buChar char="•"/>
            </a:pPr>
            <a:r>
              <a:rPr lang="en-US" sz="2000" dirty="0"/>
              <a:t>PHP</a:t>
            </a:r>
          </a:p>
        </p:txBody>
      </p:sp>
      <p:pic>
        <p:nvPicPr>
          <p:cNvPr id="11" name="Google Shape;109;p21">
            <a:extLst>
              <a:ext uri="{FF2B5EF4-FFF2-40B4-BE49-F238E27FC236}">
                <a16:creationId xmlns:a16="http://schemas.microsoft.com/office/drawing/2014/main" id="{64471989-76FE-35C4-9CBE-1EBC46321903}"/>
              </a:ext>
            </a:extLst>
          </p:cNvPr>
          <p:cNvPicPr preferRelativeResize="0"/>
          <p:nvPr/>
        </p:nvPicPr>
        <p:blipFill rotWithShape="1">
          <a:blip r:embed="rId7">
            <a:alphaModFix/>
          </a:blip>
          <a:srcRect/>
          <a:stretch/>
        </p:blipFill>
        <p:spPr>
          <a:xfrm>
            <a:off x="5532499" y="3284923"/>
            <a:ext cx="4578857" cy="2841431"/>
          </a:xfrm>
          <a:prstGeom prst="rect">
            <a:avLst/>
          </a:prstGeom>
          <a:noFill/>
          <a:ln>
            <a:noFill/>
          </a:ln>
        </p:spPr>
      </p:pic>
    </p:spTree>
    <p:extLst>
      <p:ext uri="{BB962C8B-B14F-4D97-AF65-F5344CB8AC3E}">
        <p14:creationId xmlns:p14="http://schemas.microsoft.com/office/powerpoint/2010/main" val="938419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101ADA-69EA-6CB0-32A1-3DAB2C2364AE}"/>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5B0B504B-C477-AD44-FF0D-1445143D3696}"/>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133C6C4-2F07-70D3-EC4A-08947B8CA898}"/>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5E103DA8-07B4-4AE4-6CAB-A3C13ABBC876}"/>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E2F1AAC2-ACEC-912F-0EDA-EBAB4BCDE7F9}"/>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B42F5F9B-E2E9-57DC-099F-4E58D1ED0730}"/>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8F29E23E-767A-06F5-5605-BCD1B18158AA}"/>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B33AF253-75FD-40F7-8AD4-2F20D096C418}"/>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633EE74F-5458-FDA7-B430-D22E94A9A5E8}"/>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ysClr val="windowText" lastClr="000000"/>
                </a:solidFill>
                <a:latin typeface="Proxima Nova"/>
                <a:ea typeface="Proxima Nova"/>
                <a:cs typeface="Proxima Nova"/>
                <a:sym typeface="Proxima Nova"/>
              </a:rPr>
              <a:t>Cloud Shell</a:t>
            </a:r>
            <a:endParaRPr sz="3200" dirty="0">
              <a:solidFill>
                <a:sysClr val="windowText" lastClr="000000"/>
              </a:solidFill>
              <a:latin typeface="Proxima Nova"/>
              <a:ea typeface="Proxima Nova"/>
              <a:cs typeface="Proxima Nova"/>
              <a:sym typeface="Proxima Nova"/>
            </a:endParaRPr>
          </a:p>
        </p:txBody>
      </p:sp>
      <p:sp>
        <p:nvSpPr>
          <p:cNvPr id="12" name="TextBox 11">
            <a:extLst>
              <a:ext uri="{FF2B5EF4-FFF2-40B4-BE49-F238E27FC236}">
                <a16:creationId xmlns:a16="http://schemas.microsoft.com/office/drawing/2014/main" id="{526A7EE7-F50C-7750-5D10-BE04CE205FFE}"/>
              </a:ext>
            </a:extLst>
          </p:cNvPr>
          <p:cNvSpPr txBox="1"/>
          <p:nvPr/>
        </p:nvSpPr>
        <p:spPr>
          <a:xfrm>
            <a:off x="728180" y="1618394"/>
            <a:ext cx="10312304" cy="707886"/>
          </a:xfrm>
          <a:prstGeom prst="rect">
            <a:avLst/>
          </a:prstGeom>
          <a:noFill/>
        </p:spPr>
        <p:txBody>
          <a:bodyPr wrap="square">
            <a:spAutoFit/>
          </a:bodyPr>
          <a:lstStyle/>
          <a:p>
            <a:pPr algn="l"/>
            <a:r>
              <a:rPr lang="en-US" sz="2000" dirty="0"/>
              <a:t>Cloud Shell is a free online environment that provides a command-line interface and online code editor for managing your infrastructure and cloud development.</a:t>
            </a:r>
          </a:p>
        </p:txBody>
      </p:sp>
      <p:pic>
        <p:nvPicPr>
          <p:cNvPr id="13" name="Google Shape;133;p23">
            <a:extLst>
              <a:ext uri="{FF2B5EF4-FFF2-40B4-BE49-F238E27FC236}">
                <a16:creationId xmlns:a16="http://schemas.microsoft.com/office/drawing/2014/main" id="{4FD946A0-052E-6417-2C60-0F54F68617BA}"/>
              </a:ext>
            </a:extLst>
          </p:cNvPr>
          <p:cNvPicPr preferRelativeResize="0"/>
          <p:nvPr/>
        </p:nvPicPr>
        <p:blipFill rotWithShape="1">
          <a:blip r:embed="rId7">
            <a:alphaModFix/>
          </a:blip>
          <a:srcRect/>
          <a:stretch/>
        </p:blipFill>
        <p:spPr>
          <a:xfrm>
            <a:off x="808014" y="2399590"/>
            <a:ext cx="5296044" cy="4090461"/>
          </a:xfrm>
          <a:prstGeom prst="rect">
            <a:avLst/>
          </a:prstGeom>
          <a:noFill/>
          <a:ln>
            <a:noFill/>
          </a:ln>
        </p:spPr>
      </p:pic>
      <p:pic>
        <p:nvPicPr>
          <p:cNvPr id="14" name="Google Shape;134;p23">
            <a:extLst>
              <a:ext uri="{FF2B5EF4-FFF2-40B4-BE49-F238E27FC236}">
                <a16:creationId xmlns:a16="http://schemas.microsoft.com/office/drawing/2014/main" id="{071BEBF6-727E-E13A-27B2-9678A4CA26DA}"/>
              </a:ext>
            </a:extLst>
          </p:cNvPr>
          <p:cNvPicPr preferRelativeResize="0"/>
          <p:nvPr/>
        </p:nvPicPr>
        <p:blipFill rotWithShape="1">
          <a:blip r:embed="rId8">
            <a:alphaModFix/>
          </a:blip>
          <a:srcRect/>
          <a:stretch/>
        </p:blipFill>
        <p:spPr>
          <a:xfrm>
            <a:off x="6176124" y="2399590"/>
            <a:ext cx="4784525" cy="4100153"/>
          </a:xfrm>
          <a:prstGeom prst="rect">
            <a:avLst/>
          </a:prstGeom>
          <a:noFill/>
          <a:ln>
            <a:noFill/>
          </a:ln>
        </p:spPr>
      </p:pic>
    </p:spTree>
    <p:extLst>
      <p:ext uri="{BB962C8B-B14F-4D97-AF65-F5344CB8AC3E}">
        <p14:creationId xmlns:p14="http://schemas.microsoft.com/office/powerpoint/2010/main" val="5283114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C888D3-B1E9-1FEC-EF03-20391A5F2884}"/>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4CEF5EED-71E0-BE44-33CF-02B58EA74FF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C347A1F1-25A6-FDBC-EBE9-943515F3267C}"/>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DA7552B0-4C13-E3C6-406D-33D20088E60B}"/>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A8D068F4-B43B-4EC5-F910-F8ACCF191AEB}"/>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75146EDF-AD81-F1BE-4B36-10D398D1A918}"/>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664272E5-8A31-F6D3-ED17-C725D20EA7FB}"/>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EE7F3CDC-69CB-7B42-F1F4-E250B4EF62F6}"/>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4921B7F3-1E3A-1879-375B-63ABEEFFFFC9}"/>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ysClr val="windowText" lastClr="000000"/>
                </a:solidFill>
                <a:latin typeface="Proxima Nova"/>
                <a:ea typeface="Proxima Nova"/>
                <a:cs typeface="Proxima Nova"/>
                <a:sym typeface="Proxima Nova"/>
              </a:rPr>
              <a:t>Google Cloud Projects</a:t>
            </a:r>
            <a:endParaRPr sz="3200" dirty="0">
              <a:solidFill>
                <a:sysClr val="windowText" lastClr="000000"/>
              </a:solidFill>
              <a:latin typeface="Proxima Nova"/>
              <a:ea typeface="Proxima Nova"/>
              <a:cs typeface="Proxima Nova"/>
              <a:sym typeface="Proxima Nova"/>
            </a:endParaRPr>
          </a:p>
        </p:txBody>
      </p:sp>
      <p:sp>
        <p:nvSpPr>
          <p:cNvPr id="12" name="TextBox 11">
            <a:extLst>
              <a:ext uri="{FF2B5EF4-FFF2-40B4-BE49-F238E27FC236}">
                <a16:creationId xmlns:a16="http://schemas.microsoft.com/office/drawing/2014/main" id="{1C008C82-8B91-7C73-199A-4868D71A5808}"/>
              </a:ext>
            </a:extLst>
          </p:cNvPr>
          <p:cNvSpPr txBox="1"/>
          <p:nvPr/>
        </p:nvSpPr>
        <p:spPr>
          <a:xfrm>
            <a:off x="728180" y="1618394"/>
            <a:ext cx="10312304" cy="4401205"/>
          </a:xfrm>
          <a:prstGeom prst="rect">
            <a:avLst/>
          </a:prstGeom>
          <a:noFill/>
        </p:spPr>
        <p:txBody>
          <a:bodyPr wrap="square">
            <a:spAutoFit/>
          </a:bodyPr>
          <a:lstStyle/>
          <a:p>
            <a:pPr algn="l"/>
            <a:r>
              <a:rPr lang="en-US" sz="2000" b="1" dirty="0"/>
              <a:t>What is a Project?</a:t>
            </a:r>
          </a:p>
          <a:p>
            <a:pPr marL="342900" indent="-342900" algn="l">
              <a:buFont typeface="Arial" panose="020B0604020202020204" pitchFamily="34" charset="0"/>
              <a:buChar char="•"/>
            </a:pPr>
            <a:r>
              <a:rPr lang="en-US" sz="2000" dirty="0"/>
              <a:t>A logical container for your cloud resources.</a:t>
            </a:r>
          </a:p>
          <a:p>
            <a:pPr marL="342900" indent="-342900" algn="l">
              <a:buFont typeface="Arial" panose="020B0604020202020204" pitchFamily="34" charset="0"/>
              <a:buChar char="•"/>
            </a:pPr>
            <a:r>
              <a:rPr lang="en-US" sz="2000" dirty="0"/>
              <a:t>Each resource must belong to a project.</a:t>
            </a:r>
          </a:p>
          <a:p>
            <a:pPr algn="l"/>
            <a:r>
              <a:rPr lang="en-US" sz="2000" b="1" dirty="0"/>
              <a:t>Project Components</a:t>
            </a:r>
          </a:p>
          <a:p>
            <a:pPr marL="342900" indent="-342900" algn="l">
              <a:buFont typeface="Arial" panose="020B0604020202020204" pitchFamily="34" charset="0"/>
              <a:buChar char="•"/>
            </a:pPr>
            <a:r>
              <a:rPr lang="en-US" sz="2000" dirty="0"/>
              <a:t>Settings</a:t>
            </a:r>
          </a:p>
          <a:p>
            <a:pPr marL="342900" indent="-342900" algn="l">
              <a:buFont typeface="Arial" panose="020B0604020202020204" pitchFamily="34" charset="0"/>
              <a:buChar char="•"/>
            </a:pPr>
            <a:r>
              <a:rPr lang="en-US" sz="2000" dirty="0"/>
              <a:t>Permissions</a:t>
            </a:r>
          </a:p>
          <a:p>
            <a:pPr marL="342900" indent="-342900" algn="l">
              <a:buFont typeface="Arial" panose="020B0604020202020204" pitchFamily="34" charset="0"/>
              <a:buChar char="•"/>
            </a:pPr>
            <a:r>
              <a:rPr lang="en-US" sz="2000" dirty="0"/>
              <a:t>Metadata</a:t>
            </a:r>
          </a:p>
          <a:p>
            <a:pPr algn="l"/>
            <a:r>
              <a:rPr lang="en-US" sz="2000" b="1" dirty="0"/>
              <a:t>Project Isolation</a:t>
            </a:r>
          </a:p>
          <a:p>
            <a:pPr marL="342900" indent="-342900" algn="l">
              <a:buFont typeface="Arial" panose="020B0604020202020204" pitchFamily="34" charset="0"/>
              <a:buChar char="•"/>
            </a:pPr>
            <a:r>
              <a:rPr lang="en-US" sz="2000" dirty="0"/>
              <a:t>Resources within a project are isolated by default.</a:t>
            </a:r>
          </a:p>
          <a:p>
            <a:pPr marL="342900" indent="-342900" algn="l">
              <a:buFont typeface="Arial" panose="020B0604020202020204" pitchFamily="34" charset="0"/>
              <a:buChar char="•"/>
            </a:pPr>
            <a:r>
              <a:rPr lang="en-US" sz="2000" dirty="0"/>
              <a:t>Use Shared VPC or VPC Network Peering to share resources between projects.</a:t>
            </a:r>
          </a:p>
          <a:p>
            <a:pPr algn="l"/>
            <a:r>
              <a:rPr lang="en-US" sz="2000" b="1" dirty="0"/>
              <a:t>Project Identifiers</a:t>
            </a:r>
          </a:p>
          <a:p>
            <a:pPr marL="457200" indent="-457200" algn="l">
              <a:buFont typeface="+mj-lt"/>
              <a:buAutoNum type="arabicPeriod"/>
            </a:pPr>
            <a:r>
              <a:rPr lang="en-US" sz="2000" dirty="0"/>
              <a:t>Project Name</a:t>
            </a:r>
          </a:p>
          <a:p>
            <a:pPr marL="457200" indent="-457200" algn="l">
              <a:buFont typeface="+mj-lt"/>
              <a:buAutoNum type="arabicPeriod"/>
            </a:pPr>
            <a:r>
              <a:rPr lang="en-US" sz="2000" dirty="0"/>
              <a:t>Project ID</a:t>
            </a:r>
          </a:p>
          <a:p>
            <a:pPr marL="457200" indent="-457200" algn="l">
              <a:buFont typeface="+mj-lt"/>
              <a:buAutoNum type="arabicPeriod"/>
            </a:pPr>
            <a:r>
              <a:rPr lang="en-US" sz="2000" dirty="0"/>
              <a:t>Project Number</a:t>
            </a:r>
          </a:p>
        </p:txBody>
      </p:sp>
    </p:spTree>
    <p:extLst>
      <p:ext uri="{BB962C8B-B14F-4D97-AF65-F5344CB8AC3E}">
        <p14:creationId xmlns:p14="http://schemas.microsoft.com/office/powerpoint/2010/main" val="239004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6A12A-E269-8355-C872-A50DA8FF5D52}"/>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CE70160C-12B5-E88D-8D70-F82EC58456F0}"/>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35991BD0-BF99-F998-515C-4B7DDFA2C17F}"/>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A9FCF4CC-A7E6-3DCA-3250-B579A9E50F8C}"/>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C1A425E-229E-D530-0B02-2CC3E66C50A9}"/>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80EA319F-C3C9-D3D6-CC42-8B354B0BBC02}"/>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29E2537F-AFBC-D90C-1706-ADA7A703F86A}"/>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0453D29-0454-C900-1248-3C38406E6837}"/>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973DD9F4-B7D2-F046-B146-9036E75DFFE4}"/>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ysClr val="windowText" lastClr="000000"/>
                </a:solidFill>
                <a:latin typeface="Proxima Nova"/>
                <a:ea typeface="Proxima Nova"/>
                <a:cs typeface="Proxima Nova"/>
                <a:sym typeface="Proxima Nova"/>
              </a:rPr>
              <a:t>Google Cloud Projects</a:t>
            </a:r>
            <a:endParaRPr sz="3200" dirty="0">
              <a:solidFill>
                <a:sysClr val="windowText" lastClr="000000"/>
              </a:solidFill>
              <a:latin typeface="Proxima Nova"/>
              <a:ea typeface="Proxima Nova"/>
              <a:cs typeface="Proxima Nova"/>
              <a:sym typeface="Proxima Nova"/>
            </a:endParaRPr>
          </a:p>
        </p:txBody>
      </p:sp>
      <p:sp>
        <p:nvSpPr>
          <p:cNvPr id="12" name="TextBox 11">
            <a:extLst>
              <a:ext uri="{FF2B5EF4-FFF2-40B4-BE49-F238E27FC236}">
                <a16:creationId xmlns:a16="http://schemas.microsoft.com/office/drawing/2014/main" id="{451670CC-80ED-7F59-D7FC-4F9423E6EF37}"/>
              </a:ext>
            </a:extLst>
          </p:cNvPr>
          <p:cNvSpPr txBox="1"/>
          <p:nvPr/>
        </p:nvSpPr>
        <p:spPr>
          <a:xfrm>
            <a:off x="728180" y="1618394"/>
            <a:ext cx="10312304" cy="3477875"/>
          </a:xfrm>
          <a:prstGeom prst="rect">
            <a:avLst/>
          </a:prstGeom>
          <a:noFill/>
        </p:spPr>
        <p:txBody>
          <a:bodyPr wrap="square">
            <a:spAutoFit/>
          </a:bodyPr>
          <a:lstStyle/>
          <a:p>
            <a:pPr algn="l"/>
            <a:r>
              <a:rPr lang="en-US" sz="2000" b="1" dirty="0"/>
              <a:t>Using Project Identifiers</a:t>
            </a:r>
          </a:p>
          <a:p>
            <a:pPr marL="342900" indent="-342900" algn="l">
              <a:buFont typeface="Arial" panose="020B0604020202020204" pitchFamily="34" charset="0"/>
              <a:buChar char="•"/>
            </a:pPr>
            <a:r>
              <a:rPr lang="en-US" sz="2000" dirty="0"/>
              <a:t>Use them in command-line tools and API calls.</a:t>
            </a:r>
          </a:p>
          <a:p>
            <a:pPr marL="342900" indent="-342900" algn="l">
              <a:buFont typeface="Arial" panose="020B0604020202020204" pitchFamily="34" charset="0"/>
              <a:buChar char="•"/>
            </a:pPr>
            <a:endParaRPr lang="en-US" sz="2000" dirty="0"/>
          </a:p>
          <a:p>
            <a:pPr algn="l"/>
            <a:r>
              <a:rPr lang="en-US" sz="2000" b="1" dirty="0"/>
              <a:t>Key Points:</a:t>
            </a:r>
          </a:p>
          <a:p>
            <a:pPr marL="342900" indent="-342900" algn="l">
              <a:buFont typeface="Arial" panose="020B0604020202020204" pitchFamily="34" charset="0"/>
              <a:buChar char="•"/>
            </a:pPr>
            <a:r>
              <a:rPr lang="en-US" sz="2000" b="1" dirty="0"/>
              <a:t>Unique Project IDs: </a:t>
            </a:r>
            <a:r>
              <a:rPr lang="en-US" sz="2000" dirty="0"/>
              <a:t>Each project has a unique ID that cannot be reused, even if the project is deleted.</a:t>
            </a:r>
          </a:p>
          <a:p>
            <a:pPr marL="342900" indent="-342900" algn="l">
              <a:buFont typeface="Arial" panose="020B0604020202020204" pitchFamily="34" charset="0"/>
              <a:buChar char="•"/>
            </a:pPr>
            <a:r>
              <a:rPr lang="en-US" sz="2000" b="1" dirty="0"/>
              <a:t>Billing Association: </a:t>
            </a:r>
            <a:r>
              <a:rPr lang="en-US" sz="2000" dirty="0"/>
              <a:t>When billing is enabled, a project is linked to a single billing account. Multiple projects can share the same billing account.</a:t>
            </a:r>
          </a:p>
          <a:p>
            <a:pPr marL="342900" indent="-342900" algn="l">
              <a:buFont typeface="Arial" panose="020B0604020202020204" pitchFamily="34" charset="0"/>
              <a:buChar char="•"/>
            </a:pPr>
            <a:r>
              <a:rPr lang="en-US" sz="2000" b="1" dirty="0"/>
              <a:t>Resource </a:t>
            </a:r>
            <a:r>
              <a:rPr lang="en-US" sz="2000" b="1" dirty="0" err="1"/>
              <a:t>Namespacing</a:t>
            </a:r>
            <a:r>
              <a:rPr lang="en-US" sz="2000" b="1" dirty="0"/>
              <a:t>: </a:t>
            </a:r>
            <a:r>
              <a:rPr lang="en-US" sz="2000" dirty="0"/>
              <a:t>Each project acts as a namespace, meaning that resources within a project must have unique names. However, you can reuse resource names across different projects.</a:t>
            </a:r>
          </a:p>
        </p:txBody>
      </p:sp>
    </p:spTree>
    <p:extLst>
      <p:ext uri="{BB962C8B-B14F-4D97-AF65-F5344CB8AC3E}">
        <p14:creationId xmlns:p14="http://schemas.microsoft.com/office/powerpoint/2010/main" val="3834114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B47BD8-9D70-AD2E-9ABF-796FD9788735}"/>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2372EA19-6777-22E1-714F-9C4384AA1D81}"/>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86E23C8D-B002-38CC-A83C-688C373E7081}"/>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39931BC1-467E-799A-F1E3-9B5BEC31DEEF}"/>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CD8C3F01-F203-627C-DAC7-292EE620692B}"/>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BF7E7BF2-136B-75AA-88DB-36E0DDB048E4}"/>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571476EF-C360-428C-015A-F7BCF3273046}"/>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56D38C07-8C31-7DA0-1198-023C978D827F}"/>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554CDFFA-6D4B-FDC6-63A6-48F0049E1DCF}"/>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ysClr val="windowText" lastClr="000000"/>
                </a:solidFill>
                <a:latin typeface="Proxima Nova"/>
                <a:ea typeface="Proxima Nova"/>
                <a:cs typeface="Proxima Nova"/>
                <a:sym typeface="Proxima Nova"/>
              </a:rPr>
              <a:t>Introduction to Compute Engine</a:t>
            </a:r>
            <a:endParaRPr sz="3200" dirty="0">
              <a:solidFill>
                <a:sysClr val="windowText" lastClr="000000"/>
              </a:solidFill>
              <a:latin typeface="Proxima Nova"/>
              <a:ea typeface="Proxima Nova"/>
              <a:cs typeface="Proxima Nova"/>
              <a:sym typeface="Proxima Nova"/>
            </a:endParaRPr>
          </a:p>
        </p:txBody>
      </p:sp>
      <p:sp>
        <p:nvSpPr>
          <p:cNvPr id="12" name="TextBox 11">
            <a:extLst>
              <a:ext uri="{FF2B5EF4-FFF2-40B4-BE49-F238E27FC236}">
                <a16:creationId xmlns:a16="http://schemas.microsoft.com/office/drawing/2014/main" id="{BA058256-BA32-57AA-24F9-93EA7CC2DB2B}"/>
              </a:ext>
            </a:extLst>
          </p:cNvPr>
          <p:cNvSpPr txBox="1"/>
          <p:nvPr/>
        </p:nvSpPr>
        <p:spPr>
          <a:xfrm>
            <a:off x="728180" y="1618394"/>
            <a:ext cx="10312304" cy="3785652"/>
          </a:xfrm>
          <a:prstGeom prst="rect">
            <a:avLst/>
          </a:prstGeom>
          <a:noFill/>
        </p:spPr>
        <p:txBody>
          <a:bodyPr wrap="square">
            <a:spAutoFit/>
          </a:bodyPr>
          <a:lstStyle/>
          <a:p>
            <a:pPr algn="l"/>
            <a:r>
              <a:rPr lang="en-US" sz="2400" dirty="0"/>
              <a:t>Definition: Compute Engine provides virtual machines (VMs) as the backbone of cloud infrastructure.</a:t>
            </a:r>
          </a:p>
          <a:p>
            <a:pPr algn="l"/>
            <a:endParaRPr lang="en-US" sz="2400" dirty="0"/>
          </a:p>
          <a:p>
            <a:pPr algn="l"/>
            <a:r>
              <a:rPr lang="en-US" sz="2400" dirty="0"/>
              <a:t>Features:</a:t>
            </a:r>
          </a:p>
          <a:p>
            <a:pPr marL="342900" indent="-342900" algn="l">
              <a:buFont typeface="Arial" panose="020B0604020202020204" pitchFamily="34" charset="0"/>
              <a:buChar char="•"/>
            </a:pPr>
            <a:r>
              <a:rPr lang="en-US" sz="2400" dirty="0"/>
              <a:t>Infrastructure as a Service (IaaS).</a:t>
            </a:r>
          </a:p>
          <a:p>
            <a:pPr marL="342900" indent="-342900" algn="l">
              <a:buFont typeface="Arial" panose="020B0604020202020204" pitchFamily="34" charset="0"/>
              <a:buChar char="•"/>
            </a:pPr>
            <a:r>
              <a:rPr lang="en-US" sz="2400" dirty="0"/>
              <a:t>Flexible configurations for vCPU, memory, storage, and networking.</a:t>
            </a:r>
          </a:p>
          <a:p>
            <a:pPr marL="342900" indent="-342900" algn="l">
              <a:buFont typeface="Arial" panose="020B0604020202020204" pitchFamily="34" charset="0"/>
              <a:buChar char="•"/>
            </a:pPr>
            <a:r>
              <a:rPr lang="en-US" sz="2400" dirty="0"/>
              <a:t>Supports both Linux and Windows operating systems.</a:t>
            </a:r>
          </a:p>
          <a:p>
            <a:pPr marL="342900" indent="-342900" algn="l">
              <a:buFont typeface="Arial" panose="020B0604020202020204" pitchFamily="34" charset="0"/>
              <a:buChar char="•"/>
            </a:pPr>
            <a:r>
              <a:rPr lang="en-US" sz="2400" dirty="0" err="1"/>
              <a:t>Specialised</a:t>
            </a:r>
            <a:r>
              <a:rPr lang="en-US" sz="2400" dirty="0"/>
              <a:t> VMs such as preemptible, spot, and confidential VMs.</a:t>
            </a:r>
          </a:p>
          <a:p>
            <a:pPr algn="l"/>
            <a:endParaRPr lang="en-US" sz="2400" dirty="0"/>
          </a:p>
          <a:p>
            <a:pPr algn="l"/>
            <a:r>
              <a:rPr lang="en-US" sz="2400" dirty="0"/>
              <a:t>Examples: General workloads, web applications, and enterprise systems.</a:t>
            </a:r>
          </a:p>
        </p:txBody>
      </p:sp>
    </p:spTree>
    <p:extLst>
      <p:ext uri="{BB962C8B-B14F-4D97-AF65-F5344CB8AC3E}">
        <p14:creationId xmlns:p14="http://schemas.microsoft.com/office/powerpoint/2010/main" val="3337047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65021-52B8-BA4E-ABF6-1A7D7C66229F}"/>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F7E30A2E-A4D1-3B2C-B34A-0CA0F03C7950}"/>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55BCD00E-FDE7-7A0A-9477-F92934C4B579}"/>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C090424D-EF5B-EAFF-9BB0-EB0D74F06763}"/>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54C0DC53-1AE4-A3BB-3D09-6E00D57219B6}"/>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C434E61B-E0C2-3DA3-F3D2-C96A70644798}"/>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F0A03E0E-A5CF-9A0E-BCBC-D0994B60D036}"/>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86C52EE6-F6B1-E8FA-BD34-6584029BCF57}"/>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2CA2DC00-2BD8-9D45-87EC-838AC9E107DF}"/>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t>Setting Up a Virtual Machine Instance</a:t>
            </a:r>
            <a:endParaRPr sz="3200" dirty="0">
              <a:solidFill>
                <a:sysClr val="windowText" lastClr="000000"/>
              </a:solidFill>
              <a:latin typeface="Proxima Nova"/>
              <a:ea typeface="Proxima Nova"/>
              <a:cs typeface="Proxima Nova"/>
              <a:sym typeface="Proxima Nova"/>
            </a:endParaRPr>
          </a:p>
        </p:txBody>
      </p:sp>
      <p:sp>
        <p:nvSpPr>
          <p:cNvPr id="10" name="TextBox 9">
            <a:extLst>
              <a:ext uri="{FF2B5EF4-FFF2-40B4-BE49-F238E27FC236}">
                <a16:creationId xmlns:a16="http://schemas.microsoft.com/office/drawing/2014/main" id="{8FD4CD16-0FD7-6AFB-5DB6-F5364510447E}"/>
              </a:ext>
            </a:extLst>
          </p:cNvPr>
          <p:cNvSpPr txBox="1"/>
          <p:nvPr/>
        </p:nvSpPr>
        <p:spPr>
          <a:xfrm>
            <a:off x="728180" y="1618394"/>
            <a:ext cx="10312304" cy="3785652"/>
          </a:xfrm>
          <a:prstGeom prst="rect">
            <a:avLst/>
          </a:prstGeom>
          <a:noFill/>
        </p:spPr>
        <p:txBody>
          <a:bodyPr wrap="square">
            <a:spAutoFit/>
          </a:bodyPr>
          <a:lstStyle/>
          <a:p>
            <a:pPr algn="l"/>
            <a:r>
              <a:rPr lang="en-US" sz="2400" dirty="0"/>
              <a:t>Definition: Compute Engine provides virtual machines (VMs) as the backbone of cloud infrastructure.</a:t>
            </a:r>
          </a:p>
          <a:p>
            <a:pPr algn="l"/>
            <a:endParaRPr lang="en-US" sz="2400" dirty="0"/>
          </a:p>
          <a:p>
            <a:pPr algn="l"/>
            <a:r>
              <a:rPr lang="en-US" sz="2400" dirty="0"/>
              <a:t>Features:</a:t>
            </a:r>
          </a:p>
          <a:p>
            <a:pPr marL="342900" indent="-342900" algn="l">
              <a:buFont typeface="Arial" panose="020B0604020202020204" pitchFamily="34" charset="0"/>
              <a:buChar char="•"/>
            </a:pPr>
            <a:r>
              <a:rPr lang="en-US" sz="2400" dirty="0"/>
              <a:t>Infrastructure as a Service (IaaS).</a:t>
            </a:r>
          </a:p>
          <a:p>
            <a:pPr marL="342900" indent="-342900" algn="l">
              <a:buFont typeface="Arial" panose="020B0604020202020204" pitchFamily="34" charset="0"/>
              <a:buChar char="•"/>
            </a:pPr>
            <a:r>
              <a:rPr lang="en-US" sz="2400" dirty="0"/>
              <a:t>Flexible configurations for vCPU, memory, storage, and networking.</a:t>
            </a:r>
          </a:p>
          <a:p>
            <a:pPr marL="342900" indent="-342900" algn="l">
              <a:buFont typeface="Arial" panose="020B0604020202020204" pitchFamily="34" charset="0"/>
              <a:buChar char="•"/>
            </a:pPr>
            <a:r>
              <a:rPr lang="en-US" sz="2400" dirty="0"/>
              <a:t>Supports both Linux and Windows operating systems.</a:t>
            </a:r>
          </a:p>
          <a:p>
            <a:pPr marL="342900" indent="-342900" algn="l">
              <a:buFont typeface="Arial" panose="020B0604020202020204" pitchFamily="34" charset="0"/>
              <a:buChar char="•"/>
            </a:pPr>
            <a:r>
              <a:rPr lang="en-US" sz="2400" dirty="0" err="1"/>
              <a:t>Specialised</a:t>
            </a:r>
            <a:r>
              <a:rPr lang="en-US" sz="2400" dirty="0"/>
              <a:t> VMs such as preemptible, spot, and confidential VMs.</a:t>
            </a:r>
          </a:p>
          <a:p>
            <a:pPr algn="l"/>
            <a:endParaRPr lang="en-US" sz="2400" dirty="0"/>
          </a:p>
          <a:p>
            <a:pPr algn="l"/>
            <a:r>
              <a:rPr lang="en-US" sz="2400" dirty="0"/>
              <a:t>Examples: General workloads, web applications, and enterprise systems.</a:t>
            </a:r>
          </a:p>
        </p:txBody>
      </p:sp>
    </p:spTree>
    <p:extLst>
      <p:ext uri="{BB962C8B-B14F-4D97-AF65-F5344CB8AC3E}">
        <p14:creationId xmlns:p14="http://schemas.microsoft.com/office/powerpoint/2010/main" val="4035482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83931-5DAA-D9C5-928F-7565056412DA}"/>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1B9557EC-CD1B-FFEC-26CC-6D8188127190}"/>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75289D6A-C7BE-2585-379A-B6B154325C0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4348C9EE-0B39-E4ED-4F07-122FAF966E31}"/>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F0384E73-9AD1-FC10-A974-3C26413A8574}"/>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BE76EB37-1806-BFE3-5143-4520A6DF252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7E088006-3406-6B72-7EFF-326DF0C3C776}"/>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FE4CF8C-BD07-F89F-7122-F78F1EEC9F94}"/>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15821445-642D-DB51-1262-42EA40ADB82B}"/>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t>Setting Up a Virtual Machine Instance</a:t>
            </a:r>
            <a:endParaRPr sz="3200" dirty="0">
              <a:solidFill>
                <a:sysClr val="windowText" lastClr="000000"/>
              </a:solidFill>
              <a:latin typeface="Proxima Nova"/>
              <a:ea typeface="Proxima Nova"/>
              <a:cs typeface="Proxima Nova"/>
              <a:sym typeface="Proxima Nova"/>
            </a:endParaRPr>
          </a:p>
        </p:txBody>
      </p:sp>
      <p:sp>
        <p:nvSpPr>
          <p:cNvPr id="13" name="TextBox 12">
            <a:extLst>
              <a:ext uri="{FF2B5EF4-FFF2-40B4-BE49-F238E27FC236}">
                <a16:creationId xmlns:a16="http://schemas.microsoft.com/office/drawing/2014/main" id="{8D7477C0-1AA5-A919-8851-A038F1C2C15B}"/>
              </a:ext>
            </a:extLst>
          </p:cNvPr>
          <p:cNvSpPr txBox="1"/>
          <p:nvPr/>
        </p:nvSpPr>
        <p:spPr>
          <a:xfrm>
            <a:off x="728180" y="1618394"/>
            <a:ext cx="10312304" cy="3416320"/>
          </a:xfrm>
          <a:prstGeom prst="rect">
            <a:avLst/>
          </a:prstGeom>
          <a:noFill/>
        </p:spPr>
        <p:txBody>
          <a:bodyPr wrap="square">
            <a:spAutoFit/>
          </a:bodyPr>
          <a:lstStyle/>
          <a:p>
            <a:pPr algn="l"/>
            <a:r>
              <a:rPr lang="en-US" sz="2400" dirty="0"/>
              <a:t>Key Steps:</a:t>
            </a:r>
          </a:p>
          <a:p>
            <a:pPr marL="457200" indent="-457200" algn="l">
              <a:buFont typeface="+mj-lt"/>
              <a:buAutoNum type="arabicPeriod"/>
            </a:pPr>
            <a:r>
              <a:rPr lang="en-US" sz="2400" dirty="0"/>
              <a:t>Access: Use the Google Cloud Console, Cloud Shell, or REST API.</a:t>
            </a:r>
          </a:p>
          <a:p>
            <a:pPr marL="457200" indent="-457200" algn="l">
              <a:buFont typeface="+mj-lt"/>
              <a:buAutoNum type="arabicPeriod"/>
            </a:pPr>
            <a:r>
              <a:rPr lang="en-US" sz="2400" dirty="0"/>
              <a:t>Configuration:</a:t>
            </a:r>
          </a:p>
          <a:p>
            <a:pPr marL="914400" lvl="1" indent="-457200">
              <a:buFont typeface="+mj-lt"/>
              <a:buAutoNum type="arabicPeriod"/>
            </a:pPr>
            <a:r>
              <a:rPr lang="en-US" sz="2400" dirty="0"/>
              <a:t>Project, Region, and Zone: </a:t>
            </a:r>
          </a:p>
          <a:p>
            <a:pPr marL="914400" lvl="1" indent="-457200">
              <a:buFont typeface="+mj-lt"/>
              <a:buAutoNum type="arabicPeriod"/>
            </a:pPr>
            <a:r>
              <a:rPr lang="en-US" sz="2400" dirty="0"/>
              <a:t>Select based on workload and latency requirements.</a:t>
            </a:r>
          </a:p>
          <a:p>
            <a:pPr marL="914400" lvl="1" indent="-457200">
              <a:buFont typeface="+mj-lt"/>
              <a:buAutoNum type="arabicPeriod"/>
            </a:pPr>
            <a:r>
              <a:rPr lang="en-US" sz="2400" dirty="0"/>
              <a:t>Machine Type: Choose from predefined or custom types.</a:t>
            </a:r>
          </a:p>
          <a:p>
            <a:pPr marL="914400" lvl="1" indent="-457200">
              <a:buFont typeface="+mj-lt"/>
              <a:buAutoNum type="arabicPeriod"/>
            </a:pPr>
            <a:r>
              <a:rPr lang="en-US" sz="2400" dirty="0"/>
              <a:t>Disks: Persistent (HDD or SSD) or Local SSD for high performance.</a:t>
            </a:r>
          </a:p>
          <a:p>
            <a:pPr marL="914400" lvl="1" indent="-457200">
              <a:buFont typeface="+mj-lt"/>
              <a:buAutoNum type="arabicPeriod"/>
            </a:pPr>
            <a:r>
              <a:rPr lang="en-US" sz="2400" dirty="0"/>
              <a:t>Images: Select public (Linux/Windows) or custom boot disk images.</a:t>
            </a:r>
          </a:p>
          <a:p>
            <a:pPr marL="457200" indent="-457200" algn="l">
              <a:buFont typeface="+mj-lt"/>
              <a:buAutoNum type="arabicPeriod"/>
            </a:pPr>
            <a:r>
              <a:rPr lang="en-US" sz="2400" dirty="0"/>
              <a:t>Networking: Configure subnets, IP allocation, and firewalls.</a:t>
            </a:r>
          </a:p>
        </p:txBody>
      </p:sp>
    </p:spTree>
    <p:extLst>
      <p:ext uri="{BB962C8B-B14F-4D97-AF65-F5344CB8AC3E}">
        <p14:creationId xmlns:p14="http://schemas.microsoft.com/office/powerpoint/2010/main" val="13126385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15C7C-D1BD-4E3B-5B6E-D51F75902C41}"/>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56CF9CE9-F969-CCB2-3F1F-4CA22304C164}"/>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7F645C4-A933-07D5-73A6-7B57311D4317}"/>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1A90FAEE-D198-568F-1351-C3B93230D4D4}"/>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1030398-A80D-B396-BE59-0316F55306B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02E84D8-7475-7BD8-AD6D-F50B70E3E565}"/>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145F30E8-DAA9-E12B-E153-19A78CAF6038}"/>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2FC05687-076F-3D11-8C36-D0C695A6A78B}"/>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FA3B447F-429D-9C3C-ED33-9B3D5ACE3CD6}"/>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t>Customising Machine Types and Disk Options</a:t>
            </a:r>
            <a:endParaRPr lang="en-US" sz="3200" dirty="0">
              <a:solidFill>
                <a:sysClr val="windowText" lastClr="000000"/>
              </a:solidFill>
              <a:latin typeface="Proxima Nova"/>
              <a:ea typeface="Proxima Nova"/>
              <a:cs typeface="Proxima Nova"/>
              <a:sym typeface="Proxima Nova"/>
            </a:endParaRPr>
          </a:p>
        </p:txBody>
      </p:sp>
      <p:sp>
        <p:nvSpPr>
          <p:cNvPr id="14" name="TextBox 13">
            <a:extLst>
              <a:ext uri="{FF2B5EF4-FFF2-40B4-BE49-F238E27FC236}">
                <a16:creationId xmlns:a16="http://schemas.microsoft.com/office/drawing/2014/main" id="{94A28B3C-1039-7172-0445-0CE81CB99B2B}"/>
              </a:ext>
            </a:extLst>
          </p:cNvPr>
          <p:cNvSpPr txBox="1"/>
          <p:nvPr/>
        </p:nvSpPr>
        <p:spPr>
          <a:xfrm>
            <a:off x="728180" y="1618394"/>
            <a:ext cx="10312304" cy="3416320"/>
          </a:xfrm>
          <a:prstGeom prst="rect">
            <a:avLst/>
          </a:prstGeom>
          <a:noFill/>
        </p:spPr>
        <p:txBody>
          <a:bodyPr wrap="square">
            <a:spAutoFit/>
          </a:bodyPr>
          <a:lstStyle/>
          <a:p>
            <a:pPr algn="l"/>
            <a:r>
              <a:rPr lang="en-US" sz="2400" dirty="0"/>
              <a:t>Machine Families:</a:t>
            </a:r>
          </a:p>
          <a:p>
            <a:pPr marL="342900" indent="-342900" algn="l">
              <a:buFont typeface="Arial" panose="020B0604020202020204" pitchFamily="34" charset="0"/>
              <a:buChar char="•"/>
            </a:pPr>
            <a:r>
              <a:rPr lang="en-US" sz="2400" dirty="0"/>
              <a:t>General-purpose: Balanced price and performance for most workloads.</a:t>
            </a:r>
          </a:p>
          <a:p>
            <a:pPr marL="342900" indent="-342900" algn="l">
              <a:buFont typeface="Arial" panose="020B0604020202020204" pitchFamily="34" charset="0"/>
              <a:buChar char="•"/>
            </a:pPr>
            <a:r>
              <a:rPr lang="en-US" sz="2400" dirty="0"/>
              <a:t>Compute-optimized: High performance for compute-intensive tasks.</a:t>
            </a:r>
          </a:p>
          <a:p>
            <a:pPr marL="342900" indent="-342900" algn="l">
              <a:buFont typeface="Arial" panose="020B0604020202020204" pitchFamily="34" charset="0"/>
              <a:buChar char="•"/>
            </a:pPr>
            <a:r>
              <a:rPr lang="en-US" sz="2400" dirty="0"/>
              <a:t>Memory-</a:t>
            </a:r>
            <a:r>
              <a:rPr lang="en-US" sz="2400" dirty="0" err="1"/>
              <a:t>optimised</a:t>
            </a:r>
            <a:r>
              <a:rPr lang="en-US" sz="2400" dirty="0"/>
              <a:t>: Ideal for in-memory databases like SAP HANA.</a:t>
            </a:r>
          </a:p>
          <a:p>
            <a:pPr algn="l"/>
            <a:r>
              <a:rPr lang="en-US" sz="2400" dirty="0"/>
              <a:t>Accelerator-</a:t>
            </a:r>
            <a:r>
              <a:rPr lang="en-US" sz="2400" dirty="0" err="1"/>
              <a:t>optimised</a:t>
            </a:r>
            <a:r>
              <a:rPr lang="en-US" sz="2400" dirty="0"/>
              <a:t>: GPU-based tasks like ML training.</a:t>
            </a:r>
          </a:p>
          <a:p>
            <a:pPr algn="l"/>
            <a:r>
              <a:rPr lang="en-US" sz="2400" dirty="0"/>
              <a:t>Disks:</a:t>
            </a:r>
          </a:p>
          <a:p>
            <a:pPr marL="342900" indent="-342900" algn="l">
              <a:buFont typeface="Arial" panose="020B0604020202020204" pitchFamily="34" charset="0"/>
              <a:buChar char="•"/>
            </a:pPr>
            <a:r>
              <a:rPr lang="en-US" sz="2400" dirty="0"/>
              <a:t>Persistent Disks: Durable, scalable, and bootable.</a:t>
            </a:r>
          </a:p>
          <a:p>
            <a:pPr marL="342900" indent="-342900" algn="l">
              <a:buFont typeface="Arial" panose="020B0604020202020204" pitchFamily="34" charset="0"/>
              <a:buChar char="•"/>
            </a:pPr>
            <a:r>
              <a:rPr lang="en-US" sz="2400" dirty="0"/>
              <a:t>Local SSDs: High throughput but ephemeral.</a:t>
            </a:r>
          </a:p>
          <a:p>
            <a:pPr marL="342900" indent="-342900" algn="l">
              <a:buFont typeface="Arial" panose="020B0604020202020204" pitchFamily="34" charset="0"/>
              <a:buChar char="•"/>
            </a:pPr>
            <a:r>
              <a:rPr lang="en-US" sz="2400" dirty="0"/>
              <a:t>RAM Disks: Temporary but extremely fast storage.</a:t>
            </a:r>
          </a:p>
        </p:txBody>
      </p:sp>
    </p:spTree>
    <p:extLst>
      <p:ext uri="{BB962C8B-B14F-4D97-AF65-F5344CB8AC3E}">
        <p14:creationId xmlns:p14="http://schemas.microsoft.com/office/powerpoint/2010/main" val="22316541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73082-C514-B7C4-B553-40A89BC60D21}"/>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E6A9DEAA-C0B0-7DEA-4B6E-AA74CB9125E3}"/>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D247F40E-72FF-D51F-D600-011E9704B5DA}"/>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2C10C402-3E9E-6807-A1AA-49BE85C2B9E5}"/>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D8A0A10E-C3F6-E65A-D1C1-733EE50771F7}"/>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6CD5A11F-0C80-11A0-F668-F80649E94A85}"/>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18384113-4000-8345-236A-DE339A57AF3C}"/>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3ECB4A47-07E1-BD90-8070-45AB48C5E482}"/>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3D145D5F-D209-3727-07AF-C973AB73059A}"/>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t>Networking and Firewall Rules Configuration</a:t>
            </a:r>
            <a:endParaRPr lang="en-US" sz="3200" dirty="0">
              <a:solidFill>
                <a:sysClr val="windowText" lastClr="000000"/>
              </a:solidFill>
              <a:latin typeface="Proxima Nova"/>
              <a:ea typeface="Proxima Nova"/>
              <a:cs typeface="Proxima Nova"/>
              <a:sym typeface="Proxima Nova"/>
            </a:endParaRPr>
          </a:p>
        </p:txBody>
      </p:sp>
      <p:sp>
        <p:nvSpPr>
          <p:cNvPr id="14" name="TextBox 13">
            <a:extLst>
              <a:ext uri="{FF2B5EF4-FFF2-40B4-BE49-F238E27FC236}">
                <a16:creationId xmlns:a16="http://schemas.microsoft.com/office/drawing/2014/main" id="{0129C197-423C-4E49-4F2A-9B199B6FF994}"/>
              </a:ext>
            </a:extLst>
          </p:cNvPr>
          <p:cNvSpPr txBox="1"/>
          <p:nvPr/>
        </p:nvSpPr>
        <p:spPr>
          <a:xfrm>
            <a:off x="728180" y="1618394"/>
            <a:ext cx="10312304" cy="3416320"/>
          </a:xfrm>
          <a:prstGeom prst="rect">
            <a:avLst/>
          </a:prstGeom>
          <a:noFill/>
        </p:spPr>
        <p:txBody>
          <a:bodyPr wrap="square">
            <a:spAutoFit/>
          </a:bodyPr>
          <a:lstStyle/>
          <a:p>
            <a:pPr algn="l"/>
            <a:r>
              <a:rPr lang="en-US" sz="2400" dirty="0"/>
              <a:t>Networking:</a:t>
            </a:r>
          </a:p>
          <a:p>
            <a:pPr marL="342900" indent="-342900" algn="l">
              <a:buFont typeface="Arial" panose="020B0604020202020204" pitchFamily="34" charset="0"/>
              <a:buChar char="•"/>
            </a:pPr>
            <a:r>
              <a:rPr lang="en-US" sz="2400" dirty="0"/>
              <a:t>VPC Options: Auto or custom mode.</a:t>
            </a:r>
          </a:p>
          <a:p>
            <a:pPr marL="342900" indent="-342900" algn="l">
              <a:buFont typeface="Arial" panose="020B0604020202020204" pitchFamily="34" charset="0"/>
              <a:buChar char="•"/>
            </a:pPr>
            <a:r>
              <a:rPr lang="en-US" sz="2400" dirty="0"/>
              <a:t>IP Addresses: Static or ephemeral.</a:t>
            </a:r>
          </a:p>
          <a:p>
            <a:pPr marL="342900" indent="-342900" algn="l">
              <a:buFont typeface="Arial" panose="020B0604020202020204" pitchFamily="34" charset="0"/>
              <a:buChar char="•"/>
            </a:pPr>
            <a:r>
              <a:rPr lang="en-US" sz="2400" dirty="0"/>
              <a:t>Load Balancing: HTTPS and Network Load Balancers.</a:t>
            </a:r>
          </a:p>
          <a:p>
            <a:pPr algn="l"/>
            <a:r>
              <a:rPr lang="en-US" sz="2400" dirty="0"/>
              <a:t>Firewall Rules:</a:t>
            </a:r>
          </a:p>
          <a:p>
            <a:pPr marL="342900" indent="-342900" algn="l">
              <a:buFont typeface="Arial" panose="020B0604020202020204" pitchFamily="34" charset="0"/>
              <a:buChar char="•"/>
            </a:pPr>
            <a:r>
              <a:rPr lang="en-US" sz="2400" dirty="0"/>
              <a:t>Configured by IP address or instance/group tags.</a:t>
            </a:r>
          </a:p>
          <a:p>
            <a:pPr marL="342900" indent="-342900" algn="l">
              <a:buFont typeface="Arial" panose="020B0604020202020204" pitchFamily="34" charset="0"/>
              <a:buChar char="•"/>
            </a:pPr>
            <a:r>
              <a:rPr lang="en-US" sz="2400" dirty="0"/>
              <a:t>Typical ports:</a:t>
            </a:r>
          </a:p>
          <a:p>
            <a:pPr marL="800100" lvl="1" indent="-342900">
              <a:buFont typeface="Arial" panose="020B0604020202020204" pitchFamily="34" charset="0"/>
              <a:buChar char="•"/>
            </a:pPr>
            <a:r>
              <a:rPr lang="en-US" sz="2400" dirty="0"/>
              <a:t>SSH (Linux): TCP 22.</a:t>
            </a:r>
          </a:p>
          <a:p>
            <a:pPr marL="800100" lvl="1" indent="-342900">
              <a:buFont typeface="Arial" panose="020B0604020202020204" pitchFamily="34" charset="0"/>
              <a:buChar char="•"/>
            </a:pPr>
            <a:r>
              <a:rPr lang="en-US" sz="2400" dirty="0"/>
              <a:t>RDP (Windows): TCP 3389.</a:t>
            </a:r>
          </a:p>
        </p:txBody>
      </p:sp>
    </p:spTree>
    <p:extLst>
      <p:ext uri="{BB962C8B-B14F-4D97-AF65-F5344CB8AC3E}">
        <p14:creationId xmlns:p14="http://schemas.microsoft.com/office/powerpoint/2010/main" val="38131002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7FAA7C-E9F8-5534-568B-48D3C2F0CFFB}"/>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1EF59649-4680-513F-622F-13662E7431B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C662F047-D1D9-E3F8-B1CD-BF6BA955A872}"/>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E68F050C-4A8F-B0CE-CB2B-96F36EF9B1C3}"/>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B6B3A282-EEBF-2A47-5CE5-A8553185C7B1}"/>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23CD53DB-43D3-5ED2-7312-DCBA389682C4}"/>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3F04ADFC-7606-465A-1B20-B113F6445962}"/>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FEA8F41E-E861-5995-5397-756B70C7AEBD}"/>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92CFD9B7-21F4-C3D2-9E6F-DCDF74EE715E}"/>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t>VM Lifecycle in Compute Engine</a:t>
            </a:r>
            <a:endParaRPr lang="en-US" sz="3200" dirty="0">
              <a:solidFill>
                <a:sysClr val="windowText" lastClr="000000"/>
              </a:solidFill>
              <a:latin typeface="Proxima Nova"/>
              <a:ea typeface="Proxima Nova"/>
              <a:cs typeface="Proxima Nova"/>
              <a:sym typeface="Proxima Nova"/>
            </a:endParaRPr>
          </a:p>
        </p:txBody>
      </p:sp>
      <p:pic>
        <p:nvPicPr>
          <p:cNvPr id="11" name="Picture 10">
            <a:extLst>
              <a:ext uri="{FF2B5EF4-FFF2-40B4-BE49-F238E27FC236}">
                <a16:creationId xmlns:a16="http://schemas.microsoft.com/office/drawing/2014/main" id="{67E8FEAF-E96D-5149-D690-FFCCCA6EB09F}"/>
              </a:ext>
            </a:extLst>
          </p:cNvPr>
          <p:cNvPicPr>
            <a:picLocks noChangeAspect="1"/>
          </p:cNvPicPr>
          <p:nvPr/>
        </p:nvPicPr>
        <p:blipFill>
          <a:blip r:embed="rId7"/>
          <a:srcRect l="2388"/>
          <a:stretch/>
        </p:blipFill>
        <p:spPr>
          <a:xfrm>
            <a:off x="2631440" y="1791862"/>
            <a:ext cx="7091680" cy="4566847"/>
          </a:xfrm>
          <a:prstGeom prst="rect">
            <a:avLst/>
          </a:prstGeom>
        </p:spPr>
      </p:pic>
    </p:spTree>
    <p:extLst>
      <p:ext uri="{BB962C8B-B14F-4D97-AF65-F5344CB8AC3E}">
        <p14:creationId xmlns:p14="http://schemas.microsoft.com/office/powerpoint/2010/main" val="30252395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211ED-B8FB-A44B-499C-BFD6EF08E551}"/>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D6C7AFCF-6656-4346-6B06-E71E44A38E35}"/>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13</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A51C97E1-5A26-A9FD-1199-A2F90A3EC0E6}"/>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F46D4F38-70E2-038B-046C-EBBA1FE4F98A}"/>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D205A1CF-5387-E65A-0A06-00D7BFBEB630}"/>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D41AA526-BE19-4D7F-534D-311B87632215}"/>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29B4C5C0-98EC-2692-6022-5F840E347B20}"/>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E3E95F50-F738-9929-4192-061E7308239F}"/>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D7DD95F3-194E-CCEB-548D-3EDA48D811A5}"/>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t>VM Lifecycle in Compute Engine</a:t>
            </a:r>
            <a:endParaRPr lang="en-US" sz="3200" dirty="0">
              <a:solidFill>
                <a:sysClr val="windowText" lastClr="000000"/>
              </a:solidFill>
              <a:latin typeface="Proxima Nova"/>
              <a:ea typeface="Proxima Nova"/>
              <a:cs typeface="Proxima Nova"/>
              <a:sym typeface="Proxima Nova"/>
            </a:endParaRPr>
          </a:p>
        </p:txBody>
      </p:sp>
      <p:sp>
        <p:nvSpPr>
          <p:cNvPr id="14" name="TextBox 13">
            <a:extLst>
              <a:ext uri="{FF2B5EF4-FFF2-40B4-BE49-F238E27FC236}">
                <a16:creationId xmlns:a16="http://schemas.microsoft.com/office/drawing/2014/main" id="{A3A6E307-1270-F536-052C-F1F5A7A90C1C}"/>
              </a:ext>
            </a:extLst>
          </p:cNvPr>
          <p:cNvSpPr txBox="1"/>
          <p:nvPr/>
        </p:nvSpPr>
        <p:spPr>
          <a:xfrm>
            <a:off x="728180" y="1618394"/>
            <a:ext cx="10312304" cy="3046988"/>
          </a:xfrm>
          <a:prstGeom prst="rect">
            <a:avLst/>
          </a:prstGeom>
          <a:noFill/>
        </p:spPr>
        <p:txBody>
          <a:bodyPr wrap="square">
            <a:spAutoFit/>
          </a:bodyPr>
          <a:lstStyle/>
          <a:p>
            <a:pPr algn="l"/>
            <a:r>
              <a:rPr lang="en-US" sz="2400" b="1" dirty="0"/>
              <a:t>Instance Creation and States</a:t>
            </a:r>
          </a:p>
          <a:p>
            <a:pPr algn="l"/>
            <a:r>
              <a:rPr lang="en-US" sz="2400" dirty="0"/>
              <a:t>Provisioning: Resources (CPU, memory, disks) reserved but VM not running.</a:t>
            </a:r>
          </a:p>
          <a:p>
            <a:pPr algn="l"/>
            <a:r>
              <a:rPr lang="en-US" sz="2400" dirty="0"/>
              <a:t>Staging:</a:t>
            </a:r>
          </a:p>
          <a:p>
            <a:pPr marL="342900" indent="-342900" algn="l">
              <a:buFont typeface="Arial" panose="020B0604020202020204" pitchFamily="34" charset="0"/>
              <a:buChar char="•"/>
            </a:pPr>
            <a:r>
              <a:rPr lang="en-US" sz="2400" dirty="0"/>
              <a:t>Resources acquired, system image booted, IP address assigned.</a:t>
            </a:r>
          </a:p>
          <a:p>
            <a:pPr marL="342900" indent="-342900" algn="l">
              <a:buFont typeface="Arial" panose="020B0604020202020204" pitchFamily="34" charset="0"/>
              <a:buChar char="•"/>
            </a:pPr>
            <a:r>
              <a:rPr lang="en-US" sz="2400" dirty="0"/>
              <a:t>Pre-launch configuration in progress.</a:t>
            </a:r>
          </a:p>
          <a:p>
            <a:pPr algn="l"/>
            <a:r>
              <a:rPr lang="en-US" sz="2400" dirty="0"/>
              <a:t>Running:</a:t>
            </a:r>
          </a:p>
          <a:p>
            <a:pPr marL="342900" indent="-342900" algn="l">
              <a:buFont typeface="Arial" panose="020B0604020202020204" pitchFamily="34" charset="0"/>
              <a:buChar char="•"/>
            </a:pPr>
            <a:r>
              <a:rPr lang="en-US" sz="2400" dirty="0"/>
              <a:t>VM active and operational.</a:t>
            </a:r>
          </a:p>
          <a:p>
            <a:pPr marL="342900" indent="-342900" algn="l">
              <a:buFont typeface="Arial" panose="020B0604020202020204" pitchFamily="34" charset="0"/>
              <a:buChar char="•"/>
            </a:pPr>
            <a:r>
              <a:rPr lang="en-US" sz="2400" dirty="0"/>
              <a:t>Executes startup scripts and enables SSH/RDP access.</a:t>
            </a:r>
          </a:p>
        </p:txBody>
      </p:sp>
    </p:spTree>
    <p:extLst>
      <p:ext uri="{BB962C8B-B14F-4D97-AF65-F5344CB8AC3E}">
        <p14:creationId xmlns:p14="http://schemas.microsoft.com/office/powerpoint/2010/main" val="1362222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C70C8-CB41-689E-5CA6-AF214BE5B1B1}"/>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E06E5EE0-A7A0-C3AA-2142-E8EA79A79EF6}"/>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14</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C56E5F36-7C61-AB80-8011-7FC422190162}"/>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E261A7D2-9831-8902-C9E3-CC911A5051EC}"/>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D35A16A2-73EC-61B3-FFC4-0F15F474EEC2}"/>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FC2E8619-DE97-FE40-14D2-7C9CF1E7853D}"/>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ABDDE6D6-775D-1A16-B8EC-901447D8DED2}"/>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6500D262-BE72-996C-AD65-3AEEE0BC9865}"/>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3163B22-83EB-B76B-38EC-D92775CCABA5}"/>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t>VM Lifecycle in Compute Engine</a:t>
            </a:r>
            <a:endParaRPr lang="en-US" sz="3200" dirty="0">
              <a:solidFill>
                <a:sysClr val="windowText" lastClr="000000"/>
              </a:solidFill>
              <a:latin typeface="Proxima Nova"/>
              <a:ea typeface="Proxima Nova"/>
              <a:cs typeface="Proxima Nova"/>
              <a:sym typeface="Proxima Nova"/>
            </a:endParaRPr>
          </a:p>
        </p:txBody>
      </p:sp>
      <p:sp>
        <p:nvSpPr>
          <p:cNvPr id="14" name="TextBox 13">
            <a:extLst>
              <a:ext uri="{FF2B5EF4-FFF2-40B4-BE49-F238E27FC236}">
                <a16:creationId xmlns:a16="http://schemas.microsoft.com/office/drawing/2014/main" id="{120E2B5D-19D6-DD45-31F2-2EA358C31375}"/>
              </a:ext>
            </a:extLst>
          </p:cNvPr>
          <p:cNvSpPr txBox="1"/>
          <p:nvPr/>
        </p:nvSpPr>
        <p:spPr>
          <a:xfrm>
            <a:off x="728180" y="1618394"/>
            <a:ext cx="10312304" cy="3416320"/>
          </a:xfrm>
          <a:prstGeom prst="rect">
            <a:avLst/>
          </a:prstGeom>
          <a:noFill/>
        </p:spPr>
        <p:txBody>
          <a:bodyPr wrap="square">
            <a:spAutoFit/>
          </a:bodyPr>
          <a:lstStyle/>
          <a:p>
            <a:pPr algn="l"/>
            <a:r>
              <a:rPr lang="en-US" sz="2400" b="1" dirty="0"/>
              <a:t>Common Actions During Running State</a:t>
            </a:r>
          </a:p>
          <a:p>
            <a:pPr marL="342900" indent="-342900" algn="l">
              <a:buFont typeface="Arial" panose="020B0604020202020204" pitchFamily="34" charset="0"/>
              <a:buChar char="•"/>
            </a:pPr>
            <a:r>
              <a:rPr lang="en-US" sz="2400" dirty="0"/>
              <a:t>Live migrate VM to another host for maintenance without rebooting.</a:t>
            </a:r>
          </a:p>
          <a:p>
            <a:pPr marL="342900" indent="-342900" algn="l">
              <a:buFont typeface="Arial" panose="020B0604020202020204" pitchFamily="34" charset="0"/>
              <a:buChar char="•"/>
            </a:pPr>
            <a:r>
              <a:rPr lang="en-US" sz="2400" dirty="0"/>
              <a:t>Take snapshots of persistent disks.</a:t>
            </a:r>
          </a:p>
          <a:p>
            <a:pPr marL="342900" indent="-342900" algn="l">
              <a:buFont typeface="Arial" panose="020B0604020202020204" pitchFamily="34" charset="0"/>
              <a:buChar char="•"/>
            </a:pPr>
            <a:r>
              <a:rPr lang="en-US" sz="2400" dirty="0"/>
              <a:t>Export system image or update metadata.</a:t>
            </a:r>
          </a:p>
          <a:p>
            <a:pPr marL="342900" indent="-342900" algn="l">
              <a:buFont typeface="Arial" panose="020B0604020202020204" pitchFamily="34" charset="0"/>
              <a:buChar char="•"/>
            </a:pPr>
            <a:r>
              <a:rPr lang="en-US" sz="2400" dirty="0"/>
              <a:t>Move VM to a different zone.</a:t>
            </a:r>
          </a:p>
          <a:p>
            <a:pPr marL="342900" indent="-342900" algn="l">
              <a:buFont typeface="Arial" panose="020B0604020202020204" pitchFamily="34" charset="0"/>
              <a:buChar char="•"/>
            </a:pPr>
            <a:endParaRPr lang="en-US" sz="2400" dirty="0"/>
          </a:p>
          <a:p>
            <a:pPr algn="l"/>
            <a:r>
              <a:rPr lang="en-US" sz="2400" b="1" dirty="0"/>
              <a:t>Actions Requiring VM Shutdown</a:t>
            </a:r>
          </a:p>
          <a:p>
            <a:pPr marL="342900" indent="-342900" algn="l">
              <a:buFont typeface="Arial" panose="020B0604020202020204" pitchFamily="34" charset="0"/>
              <a:buChar char="•"/>
            </a:pPr>
            <a:r>
              <a:rPr lang="en-US" sz="2400" dirty="0"/>
              <a:t>Adding more CPU or upgrading machine type.</a:t>
            </a:r>
          </a:p>
          <a:p>
            <a:pPr marL="342900" indent="-342900" algn="l">
              <a:buFont typeface="Arial" panose="020B0604020202020204" pitchFamily="34" charset="0"/>
              <a:buChar char="•"/>
            </a:pPr>
            <a:r>
              <a:rPr lang="en-US" sz="2400" dirty="0"/>
              <a:t>VM enters a terminated state after shutdown scripts are executed.</a:t>
            </a:r>
          </a:p>
        </p:txBody>
      </p:sp>
    </p:spTree>
    <p:extLst>
      <p:ext uri="{BB962C8B-B14F-4D97-AF65-F5344CB8AC3E}">
        <p14:creationId xmlns:p14="http://schemas.microsoft.com/office/powerpoint/2010/main" val="22374516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D0DF41-73DA-DF25-7BBA-EDA70191B3AE}"/>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FD340739-C304-6195-7DFB-D79025A13E3B}"/>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15</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38899103-C749-F9AC-C461-1A377AB953FD}"/>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8E395757-C839-142D-F4E7-3BA6A39FAEA3}"/>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1B0C7102-2390-DE00-41FE-063D71DBF108}"/>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E922113C-7AA7-E949-B14E-AEC000BAD0C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09971C-2C96-CB81-FA98-4FAC36EE77D2}"/>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F14723B6-C63A-F716-FFD1-3C9BBF9DDED2}"/>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FEB3E94F-5E57-EF6F-8CB0-3B03EF8D336D}"/>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t>VM Lifecycle in Compute Engine</a:t>
            </a:r>
            <a:endParaRPr lang="en-US" sz="3200" dirty="0">
              <a:solidFill>
                <a:sysClr val="windowText" lastClr="000000"/>
              </a:solidFill>
              <a:latin typeface="Proxima Nova"/>
              <a:ea typeface="Proxima Nova"/>
              <a:cs typeface="Proxima Nova"/>
              <a:sym typeface="Proxima Nova"/>
            </a:endParaRPr>
          </a:p>
        </p:txBody>
      </p:sp>
      <p:sp>
        <p:nvSpPr>
          <p:cNvPr id="14" name="TextBox 13">
            <a:extLst>
              <a:ext uri="{FF2B5EF4-FFF2-40B4-BE49-F238E27FC236}">
                <a16:creationId xmlns:a16="http://schemas.microsoft.com/office/drawing/2014/main" id="{11E5B55D-EED5-4DE8-41F0-AF77A38004CA}"/>
              </a:ext>
            </a:extLst>
          </p:cNvPr>
          <p:cNvSpPr txBox="1"/>
          <p:nvPr/>
        </p:nvSpPr>
        <p:spPr>
          <a:xfrm>
            <a:off x="728180" y="1618394"/>
            <a:ext cx="10312304" cy="3785652"/>
          </a:xfrm>
          <a:prstGeom prst="rect">
            <a:avLst/>
          </a:prstGeom>
          <a:noFill/>
        </p:spPr>
        <p:txBody>
          <a:bodyPr wrap="square">
            <a:spAutoFit/>
          </a:bodyPr>
          <a:lstStyle/>
          <a:p>
            <a:pPr algn="l"/>
            <a:r>
              <a:rPr lang="en-US" sz="2400" dirty="0"/>
              <a:t>Other VM States</a:t>
            </a:r>
          </a:p>
          <a:p>
            <a:pPr marL="342900" indent="-342900" algn="l">
              <a:buFont typeface="Arial" panose="020B0604020202020204" pitchFamily="34" charset="0"/>
              <a:buChar char="•"/>
            </a:pPr>
            <a:r>
              <a:rPr lang="en-US" sz="2400" dirty="0"/>
              <a:t>Reset: Clears memory and resets VM to its initial state while remaining active.</a:t>
            </a:r>
          </a:p>
          <a:p>
            <a:pPr marL="342900" indent="-342900" algn="l">
              <a:buFont typeface="Arial" panose="020B0604020202020204" pitchFamily="34" charset="0"/>
              <a:buChar char="•"/>
            </a:pPr>
            <a:r>
              <a:rPr lang="en-US" sz="2400" dirty="0"/>
              <a:t>Repairing:</a:t>
            </a:r>
          </a:p>
          <a:p>
            <a:pPr marL="800100" lvl="1" indent="-342900">
              <a:buFont typeface="Arial" panose="020B0604020202020204" pitchFamily="34" charset="0"/>
              <a:buChar char="•"/>
            </a:pPr>
            <a:r>
              <a:rPr lang="en-US" sz="2400" dirty="0"/>
              <a:t>Triggered by internal errors or unavailable underlying hardware.</a:t>
            </a:r>
          </a:p>
          <a:p>
            <a:pPr marL="800100" lvl="1" indent="-342900">
              <a:buFont typeface="Arial" panose="020B0604020202020204" pitchFamily="34" charset="0"/>
              <a:buChar char="•"/>
            </a:pPr>
            <a:r>
              <a:rPr lang="en-US" sz="2400" dirty="0"/>
              <a:t>VM is unusable and not billed during repairs.</a:t>
            </a:r>
          </a:p>
          <a:p>
            <a:pPr marL="800100" lvl="1" indent="-342900">
              <a:buFont typeface="Arial" panose="020B0604020202020204" pitchFamily="34" charset="0"/>
              <a:buChar char="•"/>
            </a:pPr>
            <a:r>
              <a:rPr lang="en-US" sz="2400" dirty="0"/>
              <a:t>Not covered by SLA.</a:t>
            </a:r>
          </a:p>
          <a:p>
            <a:pPr marL="342900" indent="-342900" algn="l">
              <a:buFont typeface="Arial" panose="020B0604020202020204" pitchFamily="34" charset="0"/>
              <a:buChar char="•"/>
            </a:pPr>
            <a:r>
              <a:rPr lang="en-US" sz="2400" dirty="0"/>
              <a:t>Suspending:</a:t>
            </a:r>
          </a:p>
          <a:p>
            <a:pPr marL="800100" lvl="1" indent="-342900">
              <a:buFont typeface="Arial" panose="020B0604020202020204" pitchFamily="34" charset="0"/>
              <a:buChar char="•"/>
            </a:pPr>
            <a:r>
              <a:rPr lang="en-US" sz="2400" dirty="0"/>
              <a:t>Enters a suspending state before being fully suspended.</a:t>
            </a:r>
          </a:p>
          <a:p>
            <a:pPr marL="800100" lvl="1" indent="-342900">
              <a:buFont typeface="Arial" panose="020B0604020202020204" pitchFamily="34" charset="0"/>
              <a:buChar char="•"/>
            </a:pPr>
            <a:r>
              <a:rPr lang="en-US" sz="2400" dirty="0"/>
              <a:t>Can resume or delete later.</a:t>
            </a:r>
          </a:p>
        </p:txBody>
      </p:sp>
    </p:spTree>
    <p:extLst>
      <p:ext uri="{BB962C8B-B14F-4D97-AF65-F5344CB8AC3E}">
        <p14:creationId xmlns:p14="http://schemas.microsoft.com/office/powerpoint/2010/main" val="24435176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864;p59">
            <a:extLst>
              <a:ext uri="{FF2B5EF4-FFF2-40B4-BE49-F238E27FC236}">
                <a16:creationId xmlns:a16="http://schemas.microsoft.com/office/drawing/2014/main" id="{8FFFB5BE-ACD9-E391-2781-C36CC668590D}"/>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16</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9B616FF7-A385-2128-8D4D-03772A173C84}"/>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6D076DDA-62ED-7ABB-03AA-C85798A131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47BD4099-CCB4-2627-F867-29EE7942A7C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9E8D97E-AD43-90EE-52BC-BA8717F9E363}"/>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E1349FEF-B157-5ABA-A413-7960B2AD6691}"/>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7B8430D-4F35-7805-4D2E-4D10555D871C}"/>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2548839-3939-0CEE-BB80-F07D21DCA629}"/>
              </a:ext>
            </a:extLst>
          </p:cNvPr>
          <p:cNvSpPr txBox="1"/>
          <p:nvPr/>
        </p:nvSpPr>
        <p:spPr>
          <a:xfrm>
            <a:off x="1913611" y="2978700"/>
            <a:ext cx="8517788" cy="450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ysClr val="windowText" lastClr="000000"/>
                </a:solidFill>
                <a:latin typeface="Proxima Nova"/>
                <a:ea typeface="Proxima Nova"/>
                <a:cs typeface="Proxima Nova"/>
                <a:sym typeface="Proxima Nova"/>
              </a:rPr>
              <a:t>Hands on 1 – Launch and Connect to a VM Instance.</a:t>
            </a:r>
          </a:p>
        </p:txBody>
      </p:sp>
    </p:spTree>
    <p:extLst>
      <p:ext uri="{BB962C8B-B14F-4D97-AF65-F5344CB8AC3E}">
        <p14:creationId xmlns:p14="http://schemas.microsoft.com/office/powerpoint/2010/main" val="37481958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3E1409-B8D1-5846-A09A-207082B9A91E}"/>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12F3D163-1DB8-418E-78E8-7C363ABD08DF}"/>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17</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D4A9CF30-C33A-5D28-A2FC-398FCECC46FE}"/>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131630D7-C71C-1009-E9EF-E5475AAB9936}"/>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EABA8CF9-D7C8-012B-B24B-EE91A95AF36F}"/>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8ACE009D-0068-B80A-D947-0315CF87E9FF}"/>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13FA8517-29CA-F6D2-018A-EEA73DAB74B5}"/>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0EF18276-D3A5-5DD4-5E34-CB59488BFFA6}"/>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97C90989-0F57-400C-07A6-57EA7F6FCBDE}"/>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t>App Engine</a:t>
            </a:r>
            <a:endParaRPr lang="en-US" sz="3200" dirty="0">
              <a:solidFill>
                <a:sysClr val="windowText" lastClr="000000"/>
              </a:solidFill>
              <a:latin typeface="Proxima Nova"/>
              <a:ea typeface="Proxima Nova"/>
              <a:cs typeface="Proxima Nova"/>
              <a:sym typeface="Proxima Nova"/>
            </a:endParaRPr>
          </a:p>
        </p:txBody>
      </p:sp>
      <p:sp>
        <p:nvSpPr>
          <p:cNvPr id="14" name="TextBox 13">
            <a:extLst>
              <a:ext uri="{FF2B5EF4-FFF2-40B4-BE49-F238E27FC236}">
                <a16:creationId xmlns:a16="http://schemas.microsoft.com/office/drawing/2014/main" id="{BAED7F0A-D2A2-EF8C-ECCA-EC7ED86A254A}"/>
              </a:ext>
            </a:extLst>
          </p:cNvPr>
          <p:cNvSpPr txBox="1"/>
          <p:nvPr/>
        </p:nvSpPr>
        <p:spPr>
          <a:xfrm>
            <a:off x="728180" y="1618394"/>
            <a:ext cx="10312304" cy="4154984"/>
          </a:xfrm>
          <a:prstGeom prst="rect">
            <a:avLst/>
          </a:prstGeom>
          <a:noFill/>
        </p:spPr>
        <p:txBody>
          <a:bodyPr wrap="square">
            <a:spAutoFit/>
          </a:bodyPr>
          <a:lstStyle/>
          <a:p>
            <a:pPr algn="l"/>
            <a:r>
              <a:rPr lang="en-US" sz="2400" dirty="0"/>
              <a:t>Definition: A serverless application platform for building, deploying, and scaling apps effortlessly.</a:t>
            </a:r>
          </a:p>
          <a:p>
            <a:pPr algn="l"/>
            <a:r>
              <a:rPr lang="en-US" sz="2400" b="1" dirty="0"/>
              <a:t>Why Use App Engine?</a:t>
            </a:r>
          </a:p>
          <a:p>
            <a:pPr marL="342900" indent="-342900" algn="l">
              <a:buFont typeface="Arial" panose="020B0604020202020204" pitchFamily="34" charset="0"/>
              <a:buChar char="•"/>
            </a:pPr>
            <a:r>
              <a:rPr lang="en-US" sz="2400" dirty="0"/>
              <a:t>Eliminates the need for server management.</a:t>
            </a:r>
          </a:p>
          <a:p>
            <a:pPr marL="342900" indent="-342900" algn="l">
              <a:buFont typeface="Arial" panose="020B0604020202020204" pitchFamily="34" charset="0"/>
              <a:buChar char="•"/>
            </a:pPr>
            <a:r>
              <a:rPr lang="en-US" sz="2400" dirty="0"/>
              <a:t>Focus on code development.</a:t>
            </a:r>
          </a:p>
          <a:p>
            <a:pPr marL="342900" indent="-342900" algn="l">
              <a:buFont typeface="Arial" panose="020B0604020202020204" pitchFamily="34" charset="0"/>
              <a:buChar char="•"/>
            </a:pPr>
            <a:r>
              <a:rPr lang="en-US" sz="2400" dirty="0"/>
              <a:t>Supports multiple programming languages (Python, Java, Node.js, Ruby, PHP, Go, etc.).</a:t>
            </a:r>
          </a:p>
          <a:p>
            <a:pPr algn="l"/>
            <a:r>
              <a:rPr lang="en-US" sz="2400" b="1" dirty="0"/>
              <a:t>Common Use Cases:</a:t>
            </a:r>
          </a:p>
          <a:p>
            <a:pPr marL="342900" indent="-342900" algn="l">
              <a:buFont typeface="Arial" panose="020B0604020202020204" pitchFamily="34" charset="0"/>
              <a:buChar char="•"/>
            </a:pPr>
            <a:r>
              <a:rPr lang="en-US" sz="2400" dirty="0"/>
              <a:t>Rapid prototyping and development</a:t>
            </a:r>
          </a:p>
          <a:p>
            <a:pPr marL="342900" indent="-342900" algn="l">
              <a:buFont typeface="Arial" panose="020B0604020202020204" pitchFamily="34" charset="0"/>
              <a:buChar char="•"/>
            </a:pPr>
            <a:r>
              <a:rPr lang="en-US" sz="2400" dirty="0"/>
              <a:t>Scalable web applications</a:t>
            </a:r>
          </a:p>
          <a:p>
            <a:pPr marL="342900" indent="-342900" algn="l">
              <a:buFont typeface="Arial" panose="020B0604020202020204" pitchFamily="34" charset="0"/>
              <a:buChar char="•"/>
            </a:pPr>
            <a:r>
              <a:rPr lang="en-US" sz="2400" dirty="0"/>
              <a:t>APIs for mobile and web</a:t>
            </a:r>
          </a:p>
        </p:txBody>
      </p:sp>
    </p:spTree>
    <p:extLst>
      <p:ext uri="{BB962C8B-B14F-4D97-AF65-F5344CB8AC3E}">
        <p14:creationId xmlns:p14="http://schemas.microsoft.com/office/powerpoint/2010/main" val="25324707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3C7EE-1D47-B46F-0C94-AF8CB51C4B9D}"/>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FC3898B9-927C-0623-C77D-9666F6D77E4B}"/>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18</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A536A542-A080-1ADE-5362-7E8E71C16053}"/>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8570FF58-1FCE-B6D8-C7B8-3AB4285FBCF5}"/>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9D21D961-F737-0EBD-C799-1508C817D5D3}"/>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E358DD33-529C-7046-5982-17CAA46EC7C1}"/>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580AF586-4706-7F48-6A7D-920BD5BAFA18}"/>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0AD15F51-134D-D6E8-B05A-8E648C509172}"/>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5834F91C-E748-161E-6520-C5119635F3BE}"/>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t>App Engine Architecture</a:t>
            </a:r>
            <a:endParaRPr lang="en-US" sz="3200" dirty="0">
              <a:solidFill>
                <a:sysClr val="windowText" lastClr="000000"/>
              </a:solidFill>
              <a:latin typeface="Proxima Nova"/>
              <a:ea typeface="Proxima Nova"/>
              <a:cs typeface="Proxima Nova"/>
              <a:sym typeface="Proxima Nova"/>
            </a:endParaRPr>
          </a:p>
        </p:txBody>
      </p:sp>
      <p:sp>
        <p:nvSpPr>
          <p:cNvPr id="14" name="TextBox 13">
            <a:extLst>
              <a:ext uri="{FF2B5EF4-FFF2-40B4-BE49-F238E27FC236}">
                <a16:creationId xmlns:a16="http://schemas.microsoft.com/office/drawing/2014/main" id="{31189204-FDF6-8998-89E3-2E46885CB79B}"/>
              </a:ext>
            </a:extLst>
          </p:cNvPr>
          <p:cNvSpPr txBox="1"/>
          <p:nvPr/>
        </p:nvSpPr>
        <p:spPr>
          <a:xfrm>
            <a:off x="728180" y="1618394"/>
            <a:ext cx="10312304" cy="4524315"/>
          </a:xfrm>
          <a:prstGeom prst="rect">
            <a:avLst/>
          </a:prstGeom>
          <a:noFill/>
        </p:spPr>
        <p:txBody>
          <a:bodyPr wrap="square">
            <a:spAutoFit/>
          </a:bodyPr>
          <a:lstStyle/>
          <a:p>
            <a:pPr algn="l"/>
            <a:r>
              <a:rPr lang="en-US" sz="2400" dirty="0"/>
              <a:t>How It Works:</a:t>
            </a:r>
          </a:p>
          <a:p>
            <a:pPr marL="342900" indent="-342900" algn="l">
              <a:buFont typeface="Arial" panose="020B0604020202020204" pitchFamily="34" charset="0"/>
              <a:buChar char="•"/>
            </a:pPr>
            <a:r>
              <a:rPr lang="en-US" sz="2400" dirty="0"/>
              <a:t>Receives user requests through HTTPS.</a:t>
            </a:r>
          </a:p>
          <a:p>
            <a:pPr marL="342900" indent="-342900" algn="l">
              <a:buFont typeface="Arial" panose="020B0604020202020204" pitchFamily="34" charset="0"/>
              <a:buChar char="•"/>
            </a:pPr>
            <a:r>
              <a:rPr lang="en-US" sz="2400" dirty="0"/>
              <a:t>Routes requests to the appropriate app version or instance.</a:t>
            </a:r>
          </a:p>
          <a:p>
            <a:pPr marL="342900" indent="-342900" algn="l">
              <a:buFont typeface="Arial" panose="020B0604020202020204" pitchFamily="34" charset="0"/>
              <a:buChar char="•"/>
            </a:pPr>
            <a:r>
              <a:rPr lang="en-US" sz="2400" dirty="0"/>
              <a:t>Scales automatically based on demand.</a:t>
            </a:r>
          </a:p>
          <a:p>
            <a:pPr algn="l"/>
            <a:r>
              <a:rPr lang="en-US" sz="2400" b="1" dirty="0"/>
              <a:t>Core Features:</a:t>
            </a:r>
          </a:p>
          <a:p>
            <a:pPr marL="342900" indent="-342900" algn="l">
              <a:buFont typeface="Arial" panose="020B0604020202020204" pitchFamily="34" charset="0"/>
              <a:buChar char="•"/>
            </a:pPr>
            <a:r>
              <a:rPr lang="en-US" sz="2400" b="1" dirty="0"/>
              <a:t>Autoscaling: </a:t>
            </a:r>
            <a:r>
              <a:rPr lang="en-US" sz="2400" dirty="0"/>
              <a:t>Adjusts the number of instances dynamically.</a:t>
            </a:r>
          </a:p>
          <a:p>
            <a:pPr marL="342900" indent="-342900" algn="l">
              <a:buFont typeface="Arial" panose="020B0604020202020204" pitchFamily="34" charset="0"/>
              <a:buChar char="•"/>
            </a:pPr>
            <a:r>
              <a:rPr lang="en-US" sz="2400" b="1" dirty="0"/>
              <a:t>Integrated developer tools: </a:t>
            </a:r>
            <a:r>
              <a:rPr lang="en-US" sz="2400" dirty="0"/>
              <a:t>Debugging, monitoring, and CI/CD pipelines.</a:t>
            </a:r>
          </a:p>
          <a:p>
            <a:pPr marL="342900" indent="-342900" algn="l">
              <a:buFont typeface="Arial" panose="020B0604020202020204" pitchFamily="34" charset="0"/>
              <a:buChar char="•"/>
            </a:pPr>
            <a:r>
              <a:rPr lang="en-US" sz="2400" b="1" dirty="0"/>
              <a:t>Built-in security: </a:t>
            </a:r>
            <a:r>
              <a:rPr lang="en-US" sz="2400" dirty="0"/>
              <a:t>TLS, Identity-Aware Proxy, and more.</a:t>
            </a:r>
          </a:p>
          <a:p>
            <a:pPr algn="l"/>
            <a:r>
              <a:rPr lang="en-US" sz="2400" b="1" dirty="0"/>
              <a:t>Environment Components:</a:t>
            </a:r>
          </a:p>
          <a:p>
            <a:pPr marL="342900" indent="-342900" algn="l">
              <a:buFont typeface="Arial" panose="020B0604020202020204" pitchFamily="34" charset="0"/>
              <a:buChar char="•"/>
            </a:pPr>
            <a:r>
              <a:rPr lang="en-US" sz="2400" dirty="0"/>
              <a:t>Application instances</a:t>
            </a:r>
          </a:p>
          <a:p>
            <a:pPr marL="342900" indent="-342900" algn="l">
              <a:buFont typeface="Arial" panose="020B0604020202020204" pitchFamily="34" charset="0"/>
              <a:buChar char="•"/>
            </a:pPr>
            <a:r>
              <a:rPr lang="en-US" sz="2400" dirty="0"/>
              <a:t>Datastore integration</a:t>
            </a:r>
          </a:p>
          <a:p>
            <a:pPr marL="342900" indent="-342900" algn="l">
              <a:buFont typeface="Arial" panose="020B0604020202020204" pitchFamily="34" charset="0"/>
              <a:buChar char="•"/>
            </a:pPr>
            <a:r>
              <a:rPr lang="en-US" sz="2400" dirty="0"/>
              <a:t>Load balancing and scaling</a:t>
            </a:r>
          </a:p>
        </p:txBody>
      </p:sp>
    </p:spTree>
    <p:extLst>
      <p:ext uri="{BB962C8B-B14F-4D97-AF65-F5344CB8AC3E}">
        <p14:creationId xmlns:p14="http://schemas.microsoft.com/office/powerpoint/2010/main" val="27395786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28C53-80B2-6142-91C0-B9AC03CF8148}"/>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49F54091-8D92-5581-B375-568C163D0D86}"/>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19</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5376CA69-FBE7-0B7D-1242-28BCC3435F2A}"/>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EB6B6BA4-6668-8671-8DA7-05F6FEED0A4A}"/>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AE14D150-89E3-611A-C902-DE2C3B186230}"/>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64EF2F9-BB00-3D1F-D690-A5C5B188AB5E}"/>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DE9380A2-3F12-8FAF-BAE6-BCDD4269B728}"/>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C37E9F42-5EE5-7047-6734-C9D4982DC639}"/>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55E4EAA2-8C78-954F-6812-C0875DDC1510}"/>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t>Standard vs. Flexible Environments</a:t>
            </a:r>
            <a:endParaRPr lang="en-US" sz="3200" dirty="0">
              <a:solidFill>
                <a:sysClr val="windowText" lastClr="000000"/>
              </a:solidFill>
              <a:latin typeface="Proxima Nova"/>
              <a:ea typeface="Proxima Nova"/>
              <a:cs typeface="Proxima Nova"/>
              <a:sym typeface="Proxima Nova"/>
            </a:endParaRPr>
          </a:p>
        </p:txBody>
      </p:sp>
      <p:graphicFrame>
        <p:nvGraphicFramePr>
          <p:cNvPr id="11" name="Table 10">
            <a:extLst>
              <a:ext uri="{FF2B5EF4-FFF2-40B4-BE49-F238E27FC236}">
                <a16:creationId xmlns:a16="http://schemas.microsoft.com/office/drawing/2014/main" id="{DA80DB84-24D2-0C73-2C95-466BC028A180}"/>
              </a:ext>
            </a:extLst>
          </p:cNvPr>
          <p:cNvGraphicFramePr>
            <a:graphicFrameLocks noGrp="1"/>
          </p:cNvGraphicFramePr>
          <p:nvPr>
            <p:extLst>
              <p:ext uri="{D42A27DB-BD31-4B8C-83A1-F6EECF244321}">
                <p14:modId xmlns:p14="http://schemas.microsoft.com/office/powerpoint/2010/main" val="3111203894"/>
              </p:ext>
            </p:extLst>
          </p:nvPr>
        </p:nvGraphicFramePr>
        <p:xfrm>
          <a:off x="1676400" y="1850748"/>
          <a:ext cx="8754999" cy="3566160"/>
        </p:xfrm>
        <a:graphic>
          <a:graphicData uri="http://schemas.openxmlformats.org/drawingml/2006/table">
            <a:tbl>
              <a:tblPr firstRow="1" bandRow="1">
                <a:tableStyleId>{5C22544A-7EE6-4342-B048-85BDC9FD1C3A}</a:tableStyleId>
              </a:tblPr>
              <a:tblGrid>
                <a:gridCol w="2918333">
                  <a:extLst>
                    <a:ext uri="{9D8B030D-6E8A-4147-A177-3AD203B41FA5}">
                      <a16:colId xmlns:a16="http://schemas.microsoft.com/office/drawing/2014/main" val="56641483"/>
                    </a:ext>
                  </a:extLst>
                </a:gridCol>
                <a:gridCol w="2918333">
                  <a:extLst>
                    <a:ext uri="{9D8B030D-6E8A-4147-A177-3AD203B41FA5}">
                      <a16:colId xmlns:a16="http://schemas.microsoft.com/office/drawing/2014/main" val="505224167"/>
                    </a:ext>
                  </a:extLst>
                </a:gridCol>
                <a:gridCol w="2918333">
                  <a:extLst>
                    <a:ext uri="{9D8B030D-6E8A-4147-A177-3AD203B41FA5}">
                      <a16:colId xmlns:a16="http://schemas.microsoft.com/office/drawing/2014/main" val="154601971"/>
                    </a:ext>
                  </a:extLst>
                </a:gridCol>
              </a:tblGrid>
              <a:tr h="313332">
                <a:tc>
                  <a:txBody>
                    <a:bodyPr/>
                    <a:lstStyle/>
                    <a:p>
                      <a:endParaRPr lang="en-IN" dirty="0"/>
                    </a:p>
                  </a:txBody>
                  <a:tcPr/>
                </a:tc>
                <a:tc>
                  <a:txBody>
                    <a:bodyPr/>
                    <a:lstStyle/>
                    <a:p>
                      <a:pPr algn="ctr"/>
                      <a:r>
                        <a:rPr lang="en-IN" b="1" dirty="0"/>
                        <a:t>Standard Environment</a:t>
                      </a:r>
                    </a:p>
                  </a:txBody>
                  <a:tcPr/>
                </a:tc>
                <a:tc>
                  <a:txBody>
                    <a:bodyPr/>
                    <a:lstStyle/>
                    <a:p>
                      <a:pPr algn="ctr"/>
                      <a:r>
                        <a:rPr lang="en-IN" b="1" dirty="0"/>
                        <a:t>Flexible Environment</a:t>
                      </a:r>
                    </a:p>
                  </a:txBody>
                  <a:tcPr/>
                </a:tc>
                <a:extLst>
                  <a:ext uri="{0D108BD9-81ED-4DB2-BD59-A6C34878D82A}">
                    <a16:rowId xmlns:a16="http://schemas.microsoft.com/office/drawing/2014/main" val="3627310695"/>
                  </a:ext>
                </a:extLst>
              </a:tr>
              <a:tr h="551484">
                <a:tc>
                  <a:txBody>
                    <a:bodyPr/>
                    <a:lstStyle/>
                    <a:p>
                      <a:pPr algn="ctr"/>
                      <a:r>
                        <a:rPr lang="en-IN" b="1" dirty="0"/>
                        <a:t>Key Characteristics</a:t>
                      </a:r>
                    </a:p>
                  </a:txBody>
                  <a:tcPr/>
                </a:tc>
                <a:tc>
                  <a:txBody>
                    <a:bodyPr/>
                    <a:lstStyle/>
                    <a:p>
                      <a:pPr marL="285750" indent="-285750">
                        <a:buFont typeface="Arial" panose="020B0604020202020204" pitchFamily="34" charset="0"/>
                        <a:buChar char="•"/>
                      </a:pPr>
                      <a:r>
                        <a:rPr lang="en-US" dirty="0"/>
                        <a:t>Supports limited languages and runtimes.</a:t>
                      </a:r>
                    </a:p>
                    <a:p>
                      <a:pPr marL="285750" indent="-285750">
                        <a:buFont typeface="Arial" panose="020B0604020202020204" pitchFamily="34" charset="0"/>
                        <a:buChar char="•"/>
                      </a:pPr>
                      <a:r>
                        <a:rPr lang="en-US" dirty="0"/>
                        <a:t>Sandboxed environment for security.</a:t>
                      </a:r>
                    </a:p>
                    <a:p>
                      <a:pPr marL="285750" indent="-285750">
                        <a:buFont typeface="Arial" panose="020B0604020202020204" pitchFamily="34" charset="0"/>
                        <a:buChar char="•"/>
                      </a:pPr>
                      <a:r>
                        <a:rPr lang="en-US" dirty="0"/>
                        <a:t>Automatic scaling with quick startup times.</a:t>
                      </a:r>
                      <a:endParaRPr lang="en-IN" dirty="0"/>
                    </a:p>
                  </a:txBody>
                  <a:tcPr/>
                </a:tc>
                <a:tc>
                  <a:txBody>
                    <a:bodyPr/>
                    <a:lstStyle/>
                    <a:p>
                      <a:pPr marL="285750" indent="-285750">
                        <a:buFont typeface="Arial" panose="020B0604020202020204" pitchFamily="34" charset="0"/>
                        <a:buChar char="•"/>
                      </a:pPr>
                      <a:r>
                        <a:rPr lang="en-US" dirty="0"/>
                        <a:t>Allows custom Docker containers.</a:t>
                      </a:r>
                    </a:p>
                    <a:p>
                      <a:pPr marL="285750" indent="-285750">
                        <a:buFont typeface="Arial" panose="020B0604020202020204" pitchFamily="34" charset="0"/>
                        <a:buChar char="•"/>
                      </a:pPr>
                      <a:r>
                        <a:rPr lang="en-US" dirty="0"/>
                        <a:t>Runs on Compute Engine VMs.</a:t>
                      </a:r>
                    </a:p>
                    <a:p>
                      <a:pPr marL="285750" indent="-285750">
                        <a:buFont typeface="Arial" panose="020B0604020202020204" pitchFamily="34" charset="0"/>
                        <a:buChar char="•"/>
                      </a:pPr>
                      <a:r>
                        <a:rPr lang="en-US" dirty="0"/>
                        <a:t>Access to more system resources.</a:t>
                      </a:r>
                      <a:endParaRPr lang="en-IN" dirty="0"/>
                    </a:p>
                  </a:txBody>
                  <a:tcPr/>
                </a:tc>
                <a:extLst>
                  <a:ext uri="{0D108BD9-81ED-4DB2-BD59-A6C34878D82A}">
                    <a16:rowId xmlns:a16="http://schemas.microsoft.com/office/drawing/2014/main" val="3964513264"/>
                  </a:ext>
                </a:extLst>
              </a:tr>
              <a:tr h="551484">
                <a:tc>
                  <a:txBody>
                    <a:bodyPr/>
                    <a:lstStyle/>
                    <a:p>
                      <a:pPr algn="ctr"/>
                      <a:r>
                        <a:rPr lang="en-IN" b="1" dirty="0"/>
                        <a:t>Ideal For</a:t>
                      </a:r>
                    </a:p>
                  </a:txBody>
                  <a:tcPr/>
                </a:tc>
                <a:tc>
                  <a:txBody>
                    <a:bodyPr/>
                    <a:lstStyle/>
                    <a:p>
                      <a:pPr marL="285750" indent="-285750">
                        <a:buFont typeface="Arial" panose="020B0604020202020204" pitchFamily="34" charset="0"/>
                        <a:buChar char="•"/>
                      </a:pPr>
                      <a:r>
                        <a:rPr lang="en-US" dirty="0"/>
                        <a:t>Low-latency applications.</a:t>
                      </a:r>
                    </a:p>
                    <a:p>
                      <a:pPr marL="285750" indent="-285750">
                        <a:buFont typeface="Arial" panose="020B0604020202020204" pitchFamily="34" charset="0"/>
                        <a:buChar char="•"/>
                      </a:pPr>
                      <a:r>
                        <a:rPr lang="en-US" dirty="0"/>
                        <a:t>Apps requiring fast response times.</a:t>
                      </a:r>
                      <a:endParaRPr lang="en-IN" dirty="0"/>
                    </a:p>
                  </a:txBody>
                  <a:tcPr/>
                </a:tc>
                <a:tc>
                  <a:txBody>
                    <a:bodyPr/>
                    <a:lstStyle/>
                    <a:p>
                      <a:pPr marL="285750" indent="-285750">
                        <a:buFont typeface="Arial" panose="020B0604020202020204" pitchFamily="34" charset="0"/>
                        <a:buChar char="•"/>
                      </a:pPr>
                      <a:r>
                        <a:rPr lang="en-US" dirty="0"/>
                        <a:t>Applications needing specific runtime configurations.</a:t>
                      </a:r>
                    </a:p>
                    <a:p>
                      <a:pPr marL="285750" indent="-285750">
                        <a:buFont typeface="Arial" panose="020B0604020202020204" pitchFamily="34" charset="0"/>
                        <a:buChar char="•"/>
                      </a:pPr>
                      <a:r>
                        <a:rPr lang="en-US" dirty="0"/>
                        <a:t>Long-running applications.</a:t>
                      </a:r>
                      <a:endParaRPr lang="en-IN" dirty="0"/>
                    </a:p>
                  </a:txBody>
                  <a:tcPr/>
                </a:tc>
                <a:extLst>
                  <a:ext uri="{0D108BD9-81ED-4DB2-BD59-A6C34878D82A}">
                    <a16:rowId xmlns:a16="http://schemas.microsoft.com/office/drawing/2014/main" val="3598850734"/>
                  </a:ext>
                </a:extLst>
              </a:tr>
            </a:tbl>
          </a:graphicData>
        </a:graphic>
      </p:graphicFrame>
    </p:spTree>
    <p:extLst>
      <p:ext uri="{BB962C8B-B14F-4D97-AF65-F5344CB8AC3E}">
        <p14:creationId xmlns:p14="http://schemas.microsoft.com/office/powerpoint/2010/main" val="27894584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572F4-C5CF-8933-21A8-10F1C7F22E3A}"/>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FBE041E4-AFC2-2D6E-1C20-8F9FE265D0A2}"/>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20</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F361CC2F-4539-74EF-1031-894BD0B2438D}"/>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B704F1FF-0B53-7F1E-1A55-1E3C0A3E6EBE}"/>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BA2CF5D2-3980-E507-E0C9-9DA0E47F9629}"/>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16DDE05A-B575-FD44-51CD-AF4E0ED25346}"/>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C9D47FFC-DAD2-1298-C3E3-166E47F5CFFD}"/>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9C29CD72-4917-9216-F066-50A573BBB079}"/>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2D235EC2-23BC-F93C-15FF-A7B40B1A57A7}"/>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t>Standard vs. Flexible Environments</a:t>
            </a:r>
            <a:endParaRPr lang="en-US" sz="3200" dirty="0">
              <a:solidFill>
                <a:sysClr val="windowText" lastClr="000000"/>
              </a:solidFill>
              <a:latin typeface="Proxima Nova"/>
              <a:ea typeface="Proxima Nova"/>
              <a:cs typeface="Proxima Nova"/>
              <a:sym typeface="Proxima Nova"/>
            </a:endParaRPr>
          </a:p>
        </p:txBody>
      </p:sp>
      <p:graphicFrame>
        <p:nvGraphicFramePr>
          <p:cNvPr id="11" name="Table 10">
            <a:extLst>
              <a:ext uri="{FF2B5EF4-FFF2-40B4-BE49-F238E27FC236}">
                <a16:creationId xmlns:a16="http://schemas.microsoft.com/office/drawing/2014/main" id="{A2201014-46AA-1BF2-9C37-48AACA959D1B}"/>
              </a:ext>
            </a:extLst>
          </p:cNvPr>
          <p:cNvGraphicFramePr>
            <a:graphicFrameLocks noGrp="1"/>
          </p:cNvGraphicFramePr>
          <p:nvPr>
            <p:extLst>
              <p:ext uri="{D42A27DB-BD31-4B8C-83A1-F6EECF244321}">
                <p14:modId xmlns:p14="http://schemas.microsoft.com/office/powerpoint/2010/main" val="2009837940"/>
              </p:ext>
            </p:extLst>
          </p:nvPr>
        </p:nvGraphicFramePr>
        <p:xfrm>
          <a:off x="1676400" y="1850748"/>
          <a:ext cx="8754999" cy="2020212"/>
        </p:xfrm>
        <a:graphic>
          <a:graphicData uri="http://schemas.openxmlformats.org/drawingml/2006/table">
            <a:tbl>
              <a:tblPr firstRow="1" bandRow="1">
                <a:tableStyleId>{5C22544A-7EE6-4342-B048-85BDC9FD1C3A}</a:tableStyleId>
              </a:tblPr>
              <a:tblGrid>
                <a:gridCol w="2918333">
                  <a:extLst>
                    <a:ext uri="{9D8B030D-6E8A-4147-A177-3AD203B41FA5}">
                      <a16:colId xmlns:a16="http://schemas.microsoft.com/office/drawing/2014/main" val="56641483"/>
                    </a:ext>
                  </a:extLst>
                </a:gridCol>
                <a:gridCol w="2918333">
                  <a:extLst>
                    <a:ext uri="{9D8B030D-6E8A-4147-A177-3AD203B41FA5}">
                      <a16:colId xmlns:a16="http://schemas.microsoft.com/office/drawing/2014/main" val="505224167"/>
                    </a:ext>
                  </a:extLst>
                </a:gridCol>
                <a:gridCol w="2918333">
                  <a:extLst>
                    <a:ext uri="{9D8B030D-6E8A-4147-A177-3AD203B41FA5}">
                      <a16:colId xmlns:a16="http://schemas.microsoft.com/office/drawing/2014/main" val="154601971"/>
                    </a:ext>
                  </a:extLst>
                </a:gridCol>
              </a:tblGrid>
              <a:tr h="313332">
                <a:tc>
                  <a:txBody>
                    <a:bodyPr/>
                    <a:lstStyle/>
                    <a:p>
                      <a:pPr algn="ctr"/>
                      <a:r>
                        <a:rPr lang="en-IN" b="1" dirty="0"/>
                        <a:t>Feature</a:t>
                      </a:r>
                    </a:p>
                  </a:txBody>
                  <a:tcPr/>
                </a:tc>
                <a:tc>
                  <a:txBody>
                    <a:bodyPr/>
                    <a:lstStyle/>
                    <a:p>
                      <a:pPr algn="ctr"/>
                      <a:r>
                        <a:rPr lang="en-IN" b="1" dirty="0"/>
                        <a:t>Standard Environment</a:t>
                      </a:r>
                    </a:p>
                  </a:txBody>
                  <a:tcPr/>
                </a:tc>
                <a:tc>
                  <a:txBody>
                    <a:bodyPr/>
                    <a:lstStyle/>
                    <a:p>
                      <a:pPr algn="ctr"/>
                      <a:r>
                        <a:rPr lang="en-IN" b="1" dirty="0"/>
                        <a:t>Flexible Environment</a:t>
                      </a:r>
                    </a:p>
                  </a:txBody>
                  <a:tcPr/>
                </a:tc>
                <a:extLst>
                  <a:ext uri="{0D108BD9-81ED-4DB2-BD59-A6C34878D82A}">
                    <a16:rowId xmlns:a16="http://schemas.microsoft.com/office/drawing/2014/main" val="3627310695"/>
                  </a:ext>
                </a:extLst>
              </a:tr>
              <a:tr h="551484">
                <a:tc>
                  <a:txBody>
                    <a:bodyPr/>
                    <a:lstStyle/>
                    <a:p>
                      <a:pPr algn="ctr"/>
                      <a:r>
                        <a:rPr lang="en-IN" b="1" dirty="0"/>
                        <a:t>Scalability</a:t>
                      </a:r>
                    </a:p>
                  </a:txBody>
                  <a:tcPr/>
                </a:tc>
                <a:tc>
                  <a:txBody>
                    <a:bodyPr/>
                    <a:lstStyle/>
                    <a:p>
                      <a:pPr marL="0" indent="0">
                        <a:buFont typeface="Arial" panose="020B0604020202020204" pitchFamily="34" charset="0"/>
                        <a:buNone/>
                      </a:pPr>
                      <a:r>
                        <a:rPr lang="en-US" dirty="0"/>
                        <a:t>High</a:t>
                      </a:r>
                      <a:endParaRPr lang="en-IN" dirty="0"/>
                    </a:p>
                  </a:txBody>
                  <a:tcPr/>
                </a:tc>
                <a:tc>
                  <a:txBody>
                    <a:bodyPr/>
                    <a:lstStyle/>
                    <a:p>
                      <a:pPr marL="0" indent="0">
                        <a:buFont typeface="Arial" panose="020B0604020202020204" pitchFamily="34" charset="0"/>
                        <a:buNone/>
                      </a:pPr>
                      <a:r>
                        <a:rPr lang="en-US" dirty="0"/>
                        <a:t>Moderate</a:t>
                      </a:r>
                      <a:endParaRPr lang="en-IN" dirty="0"/>
                    </a:p>
                  </a:txBody>
                  <a:tcPr/>
                </a:tc>
                <a:extLst>
                  <a:ext uri="{0D108BD9-81ED-4DB2-BD59-A6C34878D82A}">
                    <a16:rowId xmlns:a16="http://schemas.microsoft.com/office/drawing/2014/main" val="3964513264"/>
                  </a:ext>
                </a:extLst>
              </a:tr>
              <a:tr h="551484">
                <a:tc>
                  <a:txBody>
                    <a:bodyPr/>
                    <a:lstStyle/>
                    <a:p>
                      <a:pPr algn="ctr"/>
                      <a:r>
                        <a:rPr lang="en-IN" b="1" dirty="0"/>
                        <a:t>Runtime Options</a:t>
                      </a:r>
                    </a:p>
                  </a:txBody>
                  <a:tcPr/>
                </a:tc>
                <a:tc>
                  <a:txBody>
                    <a:bodyPr/>
                    <a:lstStyle/>
                    <a:p>
                      <a:pPr marL="0" indent="0">
                        <a:buFont typeface="Arial" panose="020B0604020202020204" pitchFamily="34" charset="0"/>
                        <a:buNone/>
                      </a:pPr>
                      <a:r>
                        <a:rPr lang="en-US" dirty="0"/>
                        <a:t>Fixed</a:t>
                      </a:r>
                      <a:endParaRPr lang="en-IN" dirty="0"/>
                    </a:p>
                  </a:txBody>
                  <a:tcPr/>
                </a:tc>
                <a:tc>
                  <a:txBody>
                    <a:bodyPr/>
                    <a:lstStyle/>
                    <a:p>
                      <a:pPr marL="0" indent="0">
                        <a:buFont typeface="Arial" panose="020B0604020202020204" pitchFamily="34" charset="0"/>
                        <a:buNone/>
                      </a:pPr>
                      <a:r>
                        <a:rPr lang="en-US" dirty="0" err="1"/>
                        <a:t>Customisable</a:t>
                      </a:r>
                      <a:endParaRPr lang="en-IN" dirty="0"/>
                    </a:p>
                  </a:txBody>
                  <a:tcPr/>
                </a:tc>
                <a:extLst>
                  <a:ext uri="{0D108BD9-81ED-4DB2-BD59-A6C34878D82A}">
                    <a16:rowId xmlns:a16="http://schemas.microsoft.com/office/drawing/2014/main" val="3598850734"/>
                  </a:ext>
                </a:extLst>
              </a:tr>
              <a:tr h="551484">
                <a:tc>
                  <a:txBody>
                    <a:bodyPr/>
                    <a:lstStyle/>
                    <a:p>
                      <a:pPr algn="ctr"/>
                      <a:r>
                        <a:rPr lang="en-IN" b="1" dirty="0"/>
                        <a:t>Startup Time</a:t>
                      </a:r>
                    </a:p>
                  </a:txBody>
                  <a:tcPr/>
                </a:tc>
                <a:tc>
                  <a:txBody>
                    <a:bodyPr/>
                    <a:lstStyle/>
                    <a:p>
                      <a:pPr marL="0" indent="0">
                        <a:buFont typeface="Arial" panose="020B0604020202020204" pitchFamily="34" charset="0"/>
                        <a:buNone/>
                      </a:pPr>
                      <a:r>
                        <a:rPr lang="en-IN" dirty="0"/>
                        <a:t>Fast</a:t>
                      </a:r>
                    </a:p>
                  </a:txBody>
                  <a:tcPr/>
                </a:tc>
                <a:tc>
                  <a:txBody>
                    <a:bodyPr/>
                    <a:lstStyle/>
                    <a:p>
                      <a:pPr marL="0" indent="0">
                        <a:buFont typeface="Arial" panose="020B0604020202020204" pitchFamily="34" charset="0"/>
                        <a:buNone/>
                      </a:pPr>
                      <a:r>
                        <a:rPr lang="en-IN" dirty="0"/>
                        <a:t>Slower</a:t>
                      </a:r>
                    </a:p>
                  </a:txBody>
                  <a:tcPr/>
                </a:tc>
                <a:extLst>
                  <a:ext uri="{0D108BD9-81ED-4DB2-BD59-A6C34878D82A}">
                    <a16:rowId xmlns:a16="http://schemas.microsoft.com/office/drawing/2014/main" val="3377718935"/>
                  </a:ext>
                </a:extLst>
              </a:tr>
            </a:tbl>
          </a:graphicData>
        </a:graphic>
      </p:graphicFrame>
    </p:spTree>
    <p:extLst>
      <p:ext uri="{BB962C8B-B14F-4D97-AF65-F5344CB8AC3E}">
        <p14:creationId xmlns:p14="http://schemas.microsoft.com/office/powerpoint/2010/main" val="42655102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8143BF-C738-29AF-EA23-5C0F375C131B}"/>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94D354B0-9584-161D-2142-D54BE90605CE}"/>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21</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A3F83DEB-00C7-B48F-5724-1CA067FA450A}"/>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BCA1000A-52D2-CC06-0A44-693589D4ADE2}"/>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55A1A9EE-F83F-2987-D794-2063613AFE2E}"/>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26E7131F-753E-F14C-C83E-CF1AD59FD87A}"/>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49435E68-0C9E-7DE8-B117-077A1C7CF97F}"/>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2A17E0C6-28BE-5499-4389-6754AB4ACD0F}"/>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C1D3412D-E74C-2800-09EE-559C76323A44}"/>
              </a:ext>
            </a:extLst>
          </p:cNvPr>
          <p:cNvSpPr txBox="1"/>
          <p:nvPr/>
        </p:nvSpPr>
        <p:spPr>
          <a:xfrm>
            <a:off x="1753590" y="1081301"/>
            <a:ext cx="8517788" cy="537093"/>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t>Deploying an Application on App Engine</a:t>
            </a:r>
            <a:endParaRPr lang="en-US" sz="3200" dirty="0">
              <a:solidFill>
                <a:sysClr val="windowText" lastClr="000000"/>
              </a:solidFill>
              <a:latin typeface="Proxima Nova"/>
              <a:ea typeface="Proxima Nova"/>
              <a:cs typeface="Proxima Nova"/>
              <a:sym typeface="Proxima Nova"/>
            </a:endParaRPr>
          </a:p>
        </p:txBody>
      </p:sp>
      <p:sp>
        <p:nvSpPr>
          <p:cNvPr id="14" name="TextBox 13">
            <a:extLst>
              <a:ext uri="{FF2B5EF4-FFF2-40B4-BE49-F238E27FC236}">
                <a16:creationId xmlns:a16="http://schemas.microsoft.com/office/drawing/2014/main" id="{6422CD3C-4083-FA3E-3016-77769BAF7C24}"/>
              </a:ext>
            </a:extLst>
          </p:cNvPr>
          <p:cNvSpPr txBox="1"/>
          <p:nvPr/>
        </p:nvSpPr>
        <p:spPr>
          <a:xfrm>
            <a:off x="728180" y="1618394"/>
            <a:ext cx="10312304" cy="4401205"/>
          </a:xfrm>
          <a:prstGeom prst="rect">
            <a:avLst/>
          </a:prstGeom>
          <a:noFill/>
        </p:spPr>
        <p:txBody>
          <a:bodyPr wrap="square">
            <a:spAutoFit/>
          </a:bodyPr>
          <a:lstStyle/>
          <a:p>
            <a:pPr algn="l"/>
            <a:r>
              <a:rPr lang="en-US" sz="2000" dirty="0"/>
              <a:t>Pre-Requisites:</a:t>
            </a:r>
          </a:p>
          <a:p>
            <a:pPr marL="342900" indent="-342900" algn="l">
              <a:buFont typeface="Arial" panose="020B0604020202020204" pitchFamily="34" charset="0"/>
              <a:buChar char="•"/>
            </a:pPr>
            <a:r>
              <a:rPr lang="en-US" sz="2000" dirty="0"/>
              <a:t>Google Cloud Platform account</a:t>
            </a:r>
          </a:p>
          <a:p>
            <a:pPr marL="342900" indent="-342900" algn="l">
              <a:buFont typeface="Arial" panose="020B0604020202020204" pitchFamily="34" charset="0"/>
              <a:buChar char="•"/>
            </a:pPr>
            <a:r>
              <a:rPr lang="en-US" sz="2000" dirty="0"/>
              <a:t>Installed Google Cloud SDK</a:t>
            </a:r>
          </a:p>
          <a:p>
            <a:pPr marL="342900" indent="-342900" algn="l">
              <a:buFont typeface="Arial" panose="020B0604020202020204" pitchFamily="34" charset="0"/>
              <a:buChar char="•"/>
            </a:pPr>
            <a:r>
              <a:rPr lang="en-US" sz="2000" dirty="0"/>
              <a:t>Basic app (e.g., Flask, Express)</a:t>
            </a:r>
          </a:p>
          <a:p>
            <a:pPr algn="l"/>
            <a:r>
              <a:rPr lang="en-US" sz="2000" dirty="0"/>
              <a:t>Steps to Deploy:</a:t>
            </a:r>
          </a:p>
          <a:p>
            <a:pPr marL="457200" indent="-457200" algn="l">
              <a:buFont typeface="+mj-lt"/>
              <a:buAutoNum type="arabicPeriod"/>
            </a:pPr>
            <a:r>
              <a:rPr lang="en-US" sz="2000" dirty="0"/>
              <a:t>Setup the Environment:</a:t>
            </a:r>
          </a:p>
          <a:p>
            <a:pPr marL="914400" lvl="1" indent="-457200">
              <a:buFont typeface="+mj-lt"/>
              <a:buAutoNum type="arabicPeriod"/>
            </a:pPr>
            <a:r>
              <a:rPr lang="en-US" sz="2000" dirty="0"/>
              <a:t>Create a GCP project.</a:t>
            </a:r>
          </a:p>
          <a:p>
            <a:pPr marL="914400" lvl="1" indent="-457200">
              <a:buFont typeface="+mj-lt"/>
              <a:buAutoNum type="arabicPeriod"/>
            </a:pPr>
            <a:r>
              <a:rPr lang="en-US" sz="2000" dirty="0"/>
              <a:t>Enable the App Engine API.</a:t>
            </a:r>
          </a:p>
          <a:p>
            <a:pPr marL="457200" indent="-457200" algn="l">
              <a:buFont typeface="+mj-lt"/>
              <a:buAutoNum type="arabicPeriod"/>
            </a:pPr>
            <a:r>
              <a:rPr lang="en-US" sz="2000" dirty="0"/>
              <a:t>Prepare the Code:</a:t>
            </a:r>
          </a:p>
          <a:p>
            <a:pPr marL="914400" lvl="1" indent="-457200">
              <a:buFont typeface="+mj-lt"/>
              <a:buAutoNum type="arabicPeriod"/>
            </a:pPr>
            <a:r>
              <a:rPr lang="en-US" sz="2000" dirty="0"/>
              <a:t>Write or use a simple app (e.g., Flask in Python).</a:t>
            </a:r>
          </a:p>
          <a:p>
            <a:pPr marL="914400" lvl="1" indent="-457200">
              <a:buFont typeface="+mj-lt"/>
              <a:buAutoNum type="arabicPeriod"/>
            </a:pPr>
            <a:r>
              <a:rPr lang="en-US" sz="2000" dirty="0"/>
              <a:t>Add an ‘</a:t>
            </a:r>
            <a:r>
              <a:rPr lang="en-US" sz="2000" dirty="0" err="1"/>
              <a:t>app.yaml</a:t>
            </a:r>
            <a:r>
              <a:rPr lang="en-US" sz="2000" dirty="0"/>
              <a:t>’ configuration file.</a:t>
            </a:r>
          </a:p>
          <a:p>
            <a:pPr marL="457200" indent="-457200" algn="l">
              <a:buFont typeface="+mj-lt"/>
              <a:buAutoNum type="arabicPeriod"/>
            </a:pPr>
            <a:r>
              <a:rPr lang="en-US" sz="2000" dirty="0"/>
              <a:t>Deploy:</a:t>
            </a:r>
          </a:p>
          <a:p>
            <a:pPr marL="914400" lvl="1" indent="-457200">
              <a:buFont typeface="+mj-lt"/>
              <a:buAutoNum type="arabicPeriod"/>
            </a:pPr>
            <a:r>
              <a:rPr lang="en-US" sz="2000" dirty="0"/>
              <a:t>Run ‘</a:t>
            </a:r>
            <a:r>
              <a:rPr lang="en-US" sz="2000" dirty="0" err="1"/>
              <a:t>gcloud</a:t>
            </a:r>
            <a:r>
              <a:rPr lang="en-US" sz="2000" dirty="0"/>
              <a:t> app deploy’.</a:t>
            </a:r>
          </a:p>
          <a:p>
            <a:pPr marL="914400" lvl="1" indent="-457200">
              <a:buFont typeface="+mj-lt"/>
              <a:buAutoNum type="arabicPeriod"/>
            </a:pPr>
            <a:r>
              <a:rPr lang="en-US" sz="2000" dirty="0"/>
              <a:t>Verify the deployment URL in the GCP console.</a:t>
            </a:r>
          </a:p>
        </p:txBody>
      </p:sp>
    </p:spTree>
    <p:extLst>
      <p:ext uri="{BB962C8B-B14F-4D97-AF65-F5344CB8AC3E}">
        <p14:creationId xmlns:p14="http://schemas.microsoft.com/office/powerpoint/2010/main" val="28371933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F4F4E-D801-DC07-07F7-545D30F61B88}"/>
            </a:ext>
          </a:extLst>
        </p:cNvPr>
        <p:cNvGrpSpPr/>
        <p:nvPr/>
      </p:nvGrpSpPr>
      <p:grpSpPr>
        <a:xfrm>
          <a:off x="0" y="0"/>
          <a:ext cx="0" cy="0"/>
          <a:chOff x="0" y="0"/>
          <a:chExt cx="0" cy="0"/>
        </a:xfrm>
      </p:grpSpPr>
      <p:sp>
        <p:nvSpPr>
          <p:cNvPr id="2" name="Google Shape;864;p59">
            <a:extLst>
              <a:ext uri="{FF2B5EF4-FFF2-40B4-BE49-F238E27FC236}">
                <a16:creationId xmlns:a16="http://schemas.microsoft.com/office/drawing/2014/main" id="{61CCB643-D917-0963-98C8-826CAEFB0596}"/>
              </a:ext>
            </a:extLst>
          </p:cNvPr>
          <p:cNvSpPr txBox="1">
            <a:spLocks noGrp="1"/>
          </p:cNvSpPr>
          <p:nvPr>
            <p:ph type="sldNum" idx="12"/>
          </p:nvPr>
        </p:nvSpPr>
        <p:spPr>
          <a:xfrm>
            <a:off x="9402699" y="6358709"/>
            <a:ext cx="2057400" cy="364561"/>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IN" sz="900">
                <a:latin typeface="Proxima Nova"/>
                <a:ea typeface="Proxima Nova"/>
                <a:cs typeface="Proxima Nova"/>
                <a:sym typeface="Proxima Nova"/>
              </a:rPr>
              <a:t>22</a:t>
            </a:fld>
            <a:endParaRPr sz="900">
              <a:latin typeface="Proxima Nova"/>
              <a:ea typeface="Proxima Nova"/>
              <a:cs typeface="Proxima Nova"/>
              <a:sym typeface="Proxima Nova"/>
            </a:endParaRPr>
          </a:p>
        </p:txBody>
      </p:sp>
      <p:pic>
        <p:nvPicPr>
          <p:cNvPr id="3" name="Google Shape;618;p34">
            <a:extLst>
              <a:ext uri="{FF2B5EF4-FFF2-40B4-BE49-F238E27FC236}">
                <a16:creationId xmlns:a16="http://schemas.microsoft.com/office/drawing/2014/main" id="{5E421BF1-8668-3383-08BE-7BF0AEB0E57D}"/>
              </a:ext>
            </a:extLst>
          </p:cNvPr>
          <p:cNvPicPr preferRelativeResize="0"/>
          <p:nvPr/>
        </p:nvPicPr>
        <p:blipFill>
          <a:blip r:embed="rId3">
            <a:alphaModFix/>
          </a:blip>
          <a:stretch>
            <a:fillRect/>
          </a:stretch>
        </p:blipFill>
        <p:spPr>
          <a:xfrm>
            <a:off x="10431399" y="365787"/>
            <a:ext cx="923272" cy="837723"/>
          </a:xfrm>
          <a:prstGeom prst="rect">
            <a:avLst/>
          </a:prstGeom>
          <a:noFill/>
          <a:ln>
            <a:noFill/>
          </a:ln>
        </p:spPr>
      </p:pic>
      <p:pic>
        <p:nvPicPr>
          <p:cNvPr id="4" name="Picture 3">
            <a:extLst>
              <a:ext uri="{FF2B5EF4-FFF2-40B4-BE49-F238E27FC236}">
                <a16:creationId xmlns:a16="http://schemas.microsoft.com/office/drawing/2014/main" id="{734FF660-4C95-AC9B-2488-631FD9D9EFB3}"/>
              </a:ext>
            </a:extLst>
          </p:cNvPr>
          <p:cNvPicPr>
            <a:picLocks noChangeAspect="1"/>
          </p:cNvPicPr>
          <p:nvPr/>
        </p:nvPicPr>
        <p:blipFill>
          <a:blip r:embed="rId4"/>
          <a:stretch>
            <a:fillRect/>
          </a:stretch>
        </p:blipFill>
        <p:spPr>
          <a:xfrm>
            <a:off x="8899278" y="715834"/>
            <a:ext cx="1212079" cy="320550"/>
          </a:xfrm>
          <a:prstGeom prst="rect">
            <a:avLst/>
          </a:prstGeom>
        </p:spPr>
      </p:pic>
      <p:pic>
        <p:nvPicPr>
          <p:cNvPr id="5" name="Picture 4">
            <a:extLst>
              <a:ext uri="{FF2B5EF4-FFF2-40B4-BE49-F238E27FC236}">
                <a16:creationId xmlns:a16="http://schemas.microsoft.com/office/drawing/2014/main" id="{F60728AA-6BD6-362C-3D07-3080F75B41EA}"/>
              </a:ext>
            </a:extLst>
          </p:cNvPr>
          <p:cNvPicPr>
            <a:picLocks noChangeAspect="1"/>
          </p:cNvPicPr>
          <p:nvPr/>
        </p:nvPicPr>
        <p:blipFill>
          <a:blip r:embed="rId5"/>
          <a:stretch>
            <a:fillRect/>
          </a:stretch>
        </p:blipFill>
        <p:spPr>
          <a:xfrm>
            <a:off x="5075" y="11476"/>
            <a:ext cx="2238883" cy="1780386"/>
          </a:xfrm>
          <a:prstGeom prst="rect">
            <a:avLst/>
          </a:prstGeom>
        </p:spPr>
      </p:pic>
      <p:pic>
        <p:nvPicPr>
          <p:cNvPr id="6" name="Picture 5">
            <a:extLst>
              <a:ext uri="{FF2B5EF4-FFF2-40B4-BE49-F238E27FC236}">
                <a16:creationId xmlns:a16="http://schemas.microsoft.com/office/drawing/2014/main" id="{0D57B148-BF8F-75AE-103A-FCFA82F03A0A}"/>
              </a:ext>
            </a:extLst>
          </p:cNvPr>
          <p:cNvPicPr>
            <a:picLocks noChangeAspect="1"/>
          </p:cNvPicPr>
          <p:nvPr/>
        </p:nvPicPr>
        <p:blipFill>
          <a:blip r:embed="rId6"/>
          <a:stretch>
            <a:fillRect/>
          </a:stretch>
        </p:blipFill>
        <p:spPr>
          <a:xfrm>
            <a:off x="11272968" y="-14988"/>
            <a:ext cx="963240" cy="1218498"/>
          </a:xfrm>
          <a:prstGeom prst="rect">
            <a:avLst/>
          </a:prstGeom>
        </p:spPr>
      </p:pic>
      <p:pic>
        <p:nvPicPr>
          <p:cNvPr id="7" name="Picture 6">
            <a:extLst>
              <a:ext uri="{FF2B5EF4-FFF2-40B4-BE49-F238E27FC236}">
                <a16:creationId xmlns:a16="http://schemas.microsoft.com/office/drawing/2014/main" id="{8EF45DBD-7C5E-18C3-1387-8C363232A8E2}"/>
              </a:ext>
            </a:extLst>
          </p:cNvPr>
          <p:cNvPicPr>
            <a:picLocks noChangeAspect="1"/>
          </p:cNvPicPr>
          <p:nvPr/>
        </p:nvPicPr>
        <p:blipFill>
          <a:blip r:embed="rId5">
            <a:alphaModFix amt="11000"/>
          </a:blip>
          <a:stretch>
            <a:fillRect/>
          </a:stretch>
        </p:blipFill>
        <p:spPr>
          <a:xfrm rot="10800000">
            <a:off x="11258318" y="6126356"/>
            <a:ext cx="939090" cy="746776"/>
          </a:xfrm>
          <a:prstGeom prst="rect">
            <a:avLst/>
          </a:prstGeom>
        </p:spPr>
      </p:pic>
      <p:pic>
        <p:nvPicPr>
          <p:cNvPr id="8" name="Picture 7">
            <a:extLst>
              <a:ext uri="{FF2B5EF4-FFF2-40B4-BE49-F238E27FC236}">
                <a16:creationId xmlns:a16="http://schemas.microsoft.com/office/drawing/2014/main" id="{871295E9-5294-1C66-AFCD-5A54383A3608}"/>
              </a:ext>
            </a:extLst>
          </p:cNvPr>
          <p:cNvPicPr>
            <a:picLocks noChangeAspect="1"/>
          </p:cNvPicPr>
          <p:nvPr/>
        </p:nvPicPr>
        <p:blipFill>
          <a:blip r:embed="rId6">
            <a:alphaModFix amt="27000"/>
          </a:blip>
          <a:stretch>
            <a:fillRect/>
          </a:stretch>
        </p:blipFill>
        <p:spPr>
          <a:xfrm rot="10800000">
            <a:off x="8803" y="6369939"/>
            <a:ext cx="370439" cy="468604"/>
          </a:xfrm>
          <a:prstGeom prst="rect">
            <a:avLst/>
          </a:prstGeom>
        </p:spPr>
      </p:pic>
      <p:sp>
        <p:nvSpPr>
          <p:cNvPr id="9" name="Google Shape;717;p53">
            <a:extLst>
              <a:ext uri="{FF2B5EF4-FFF2-40B4-BE49-F238E27FC236}">
                <a16:creationId xmlns:a16="http://schemas.microsoft.com/office/drawing/2014/main" id="{15A0BEE3-18A5-2852-F1BC-0DD7E9CF8F88}"/>
              </a:ext>
            </a:extLst>
          </p:cNvPr>
          <p:cNvSpPr txBox="1"/>
          <p:nvPr/>
        </p:nvSpPr>
        <p:spPr>
          <a:xfrm>
            <a:off x="1913611" y="2978700"/>
            <a:ext cx="8517788" cy="4503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800" dirty="0">
                <a:solidFill>
                  <a:sysClr val="windowText" lastClr="000000"/>
                </a:solidFill>
                <a:latin typeface="Proxima Nova"/>
                <a:ea typeface="Proxima Nova"/>
                <a:cs typeface="Proxima Nova"/>
                <a:sym typeface="Proxima Nova"/>
              </a:rPr>
              <a:t>Hands on 1 – Deploy a Simple Web App</a:t>
            </a:r>
          </a:p>
        </p:txBody>
      </p:sp>
    </p:spTree>
    <p:extLst>
      <p:ext uri="{BB962C8B-B14F-4D97-AF65-F5344CB8AC3E}">
        <p14:creationId xmlns:p14="http://schemas.microsoft.com/office/powerpoint/2010/main" val="10687175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2" name="Rectangle 1">
            <a:extLst>
              <a:ext uri="{FF2B5EF4-FFF2-40B4-BE49-F238E27FC236}">
                <a16:creationId xmlns:a16="http://schemas.microsoft.com/office/drawing/2014/main" id="{766814A4-BFD7-7A21-DFB9-863B5D439FE5}"/>
              </a:ext>
            </a:extLst>
          </p:cNvPr>
          <p:cNvSpPr/>
          <p:nvPr/>
        </p:nvSpPr>
        <p:spPr>
          <a:xfrm>
            <a:off x="0" y="2692672"/>
            <a:ext cx="12192000" cy="2751349"/>
          </a:xfrm>
          <a:prstGeom prst="rect">
            <a:avLst/>
          </a:prstGeom>
          <a:solidFill>
            <a:srgbClr val="004F9B"/>
          </a:solidFill>
          <a:ln>
            <a:noFill/>
          </a:ln>
          <a:effectLst>
            <a:outerShdw blurRad="50800" dist="38100" dir="5400000" algn="t" rotWithShape="0">
              <a:prstClr val="black">
                <a:alpha val="1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67"/>
          </a:p>
        </p:txBody>
      </p:sp>
      <p:sp>
        <p:nvSpPr>
          <p:cNvPr id="615" name="Google Shape;615;p34"/>
          <p:cNvSpPr txBox="1"/>
          <p:nvPr/>
        </p:nvSpPr>
        <p:spPr>
          <a:xfrm>
            <a:off x="1162171" y="3429000"/>
            <a:ext cx="9867659" cy="1298677"/>
          </a:xfrm>
          <a:prstGeom prst="rect">
            <a:avLst/>
          </a:prstGeom>
          <a:noFill/>
          <a:ln>
            <a:noFill/>
          </a:ln>
        </p:spPr>
        <p:txBody>
          <a:bodyPr spcFirstLastPara="1" wrap="square" lIns="121900" tIns="60933" rIns="121900" bIns="60933" anchor="ctr" anchorCtr="0">
            <a:noAutofit/>
          </a:bodyPr>
          <a:lstStyle/>
          <a:p>
            <a:pPr algn="ctr">
              <a:lnSpc>
                <a:spcPct val="90000"/>
              </a:lnSpc>
              <a:buClr>
                <a:schemeClr val="dk1"/>
              </a:buClr>
              <a:buSzPts val="4000"/>
            </a:pPr>
            <a:r>
              <a:rPr lang="en-US" sz="4800" dirty="0">
                <a:solidFill>
                  <a:schemeClr val="bg1"/>
                </a:solidFill>
                <a:latin typeface="Lato"/>
                <a:ea typeface="Lato"/>
                <a:cs typeface="Lato"/>
                <a:sym typeface="Lato"/>
                <a:extLst>
                  <a:ext uri="http://customooxmlschemas.google.com/">
                    <go:slidesCustomData xmlns:lc="http://schemas.openxmlformats.org/drawingml/2006/lockedCanva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0"/>
                  </a:ext>
                </a:extLst>
              </a:rPr>
              <a:t>Thank You!</a:t>
            </a:r>
            <a:endParaRPr lang="en-US" sz="4800" dirty="0">
              <a:solidFill>
                <a:schemeClr val="bg1"/>
              </a:solidFill>
              <a:latin typeface="Lato"/>
              <a:ea typeface="Lato"/>
              <a:cs typeface="Lato"/>
              <a:sym typeface="Lato"/>
            </a:endParaRPr>
          </a:p>
        </p:txBody>
      </p:sp>
      <p:sp>
        <p:nvSpPr>
          <p:cNvPr id="617" name="Google Shape;617;p34"/>
          <p:cNvSpPr txBox="1">
            <a:spLocks noGrp="1"/>
          </p:cNvSpPr>
          <p:nvPr>
            <p:ph type="sldNum" idx="4294967295"/>
          </p:nvPr>
        </p:nvSpPr>
        <p:spPr>
          <a:xfrm>
            <a:off x="8682567" y="6356351"/>
            <a:ext cx="2743200" cy="366000"/>
          </a:xfrm>
          <a:prstGeom prst="rect">
            <a:avLst/>
          </a:prstGeom>
          <a:noFill/>
          <a:ln>
            <a:noFill/>
          </a:ln>
        </p:spPr>
        <p:txBody>
          <a:bodyPr spcFirstLastPara="1" wrap="square" lIns="121900" tIns="60933" rIns="121900" bIns="60933" anchor="ctr" anchorCtr="0">
            <a:noAutofit/>
          </a:bodyPr>
          <a:lstStyle/>
          <a:p>
            <a:fld id="{00000000-1234-1234-1234-123412341234}" type="slidenum">
              <a:rPr lang="en-IN">
                <a:solidFill>
                  <a:srgbClr val="FF0000"/>
                </a:solidFill>
                <a:latin typeface="Proxima Nova"/>
                <a:ea typeface="Proxima Nova"/>
                <a:cs typeface="Proxima Nova"/>
                <a:sym typeface="Proxima Nova"/>
              </a:rPr>
              <a:pPr/>
              <a:t>23</a:t>
            </a:fld>
            <a:endParaRPr>
              <a:solidFill>
                <a:srgbClr val="FF0000"/>
              </a:solidFill>
              <a:latin typeface="Proxima Nova"/>
              <a:ea typeface="Proxima Nova"/>
              <a:cs typeface="Proxima Nova"/>
              <a:sym typeface="Proxima Nova"/>
            </a:endParaRPr>
          </a:p>
        </p:txBody>
      </p:sp>
      <p:pic>
        <p:nvPicPr>
          <p:cNvPr id="618" name="Google Shape;618;p34"/>
          <p:cNvPicPr preferRelativeResize="0"/>
          <p:nvPr/>
        </p:nvPicPr>
        <p:blipFill>
          <a:blip r:embed="rId3">
            <a:alphaModFix/>
          </a:blip>
          <a:stretch>
            <a:fillRect/>
          </a:stretch>
        </p:blipFill>
        <p:spPr>
          <a:xfrm>
            <a:off x="9446335" y="135650"/>
            <a:ext cx="2058733" cy="2058733"/>
          </a:xfrm>
          <a:prstGeom prst="rect">
            <a:avLst/>
          </a:prstGeom>
          <a:noFill/>
          <a:ln>
            <a:noFill/>
          </a:ln>
        </p:spPr>
      </p:pic>
      <p:pic>
        <p:nvPicPr>
          <p:cNvPr id="3" name="Picture 2">
            <a:extLst>
              <a:ext uri="{FF2B5EF4-FFF2-40B4-BE49-F238E27FC236}">
                <a16:creationId xmlns:a16="http://schemas.microsoft.com/office/drawing/2014/main" id="{ED6418B9-9024-36FD-FF4A-D689E721F145}"/>
              </a:ext>
            </a:extLst>
          </p:cNvPr>
          <p:cNvPicPr>
            <a:picLocks noChangeAspect="1"/>
          </p:cNvPicPr>
          <p:nvPr/>
        </p:nvPicPr>
        <p:blipFill rotWithShape="1">
          <a:blip r:embed="rId4"/>
          <a:srcRect l="25725" t="37867" r="34750" b="40666"/>
          <a:stretch/>
        </p:blipFill>
        <p:spPr>
          <a:xfrm>
            <a:off x="1042416" y="709650"/>
            <a:ext cx="3504687" cy="107069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3426</TotalTime>
  <Words>2071</Words>
  <Application>Microsoft Office PowerPoint</Application>
  <PresentationFormat>Widescreen</PresentationFormat>
  <Paragraphs>271</Paragraphs>
  <Slides>23</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Aptos Display</vt:lpstr>
      <vt:lpstr>Arial</vt:lpstr>
      <vt:lpstr>Calibri</vt:lpstr>
      <vt:lpstr>Lato</vt:lpstr>
      <vt:lpstr>Proxima Nova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Nikunj Singhal</dc:creator>
  <cp:lastModifiedBy>Syed Rumaan Pasha</cp:lastModifiedBy>
  <cp:revision>5</cp:revision>
  <dcterms:created xsi:type="dcterms:W3CDTF">2024-11-18T06:43:32Z</dcterms:created>
  <dcterms:modified xsi:type="dcterms:W3CDTF">2024-12-19T17:49:55Z</dcterms:modified>
</cp:coreProperties>
</file>