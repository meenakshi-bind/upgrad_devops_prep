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901" r:id="rId3"/>
    <p:sldId id="931" r:id="rId4"/>
    <p:sldId id="934" r:id="rId5"/>
    <p:sldId id="932" r:id="rId6"/>
    <p:sldId id="944" r:id="rId7"/>
    <p:sldId id="920" r:id="rId8"/>
    <p:sldId id="945" r:id="rId9"/>
    <p:sldId id="935" r:id="rId10"/>
    <p:sldId id="938" r:id="rId11"/>
    <p:sldId id="50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1020" autoAdjust="0"/>
  </p:normalViewPr>
  <p:slideViewPr>
    <p:cSldViewPr snapToGrid="0">
      <p:cViewPr varScale="1">
        <p:scale>
          <a:sx n="81" d="100"/>
          <a:sy n="81" d="100"/>
        </p:scale>
        <p:origin x="120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5AF74-91AC-4F55-A191-D43536C32E06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9AC9CB-4C47-4782-AA14-455CA1E62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861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84476-58C4-D251-A6D5-0BD69C9EA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7502CB-2EDA-1798-BC90-F467C6264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8F07F5-511F-2B37-B666-D8925490A4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D9CD8-C809-A641-507B-46DAD93DF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AC9CB-4C47-4782-AA14-455CA1E626B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9187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0C792-B442-B2E1-81F4-EA61CA815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EC9FD0-4D86-50B4-E202-B22A04F598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ED799F-5282-55FB-5CA0-228442C1D0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0E8BA-FEFD-65D7-370D-BB8EE5E778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AC9CB-4C47-4782-AA14-455CA1E626B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5838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42D72-3972-8AC2-F0D8-8CF3E67B1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A3D9C9-BF75-4A35-96D7-714D7E67FF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DBFD45-1FA3-1BFC-EC18-CC294A12D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Steps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Create a Bucket: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Open GCP Console, select “Storage,” and click “Create Bucket.”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Choose location type: Region, Dual-Region, or Multi-Region.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Set storage class based on your use case.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Upload Data: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 drag-and-drop in Console or the </a:t>
            </a:r>
            <a:r>
              <a:rPr lang="en-US" dirty="0" err="1"/>
              <a:t>gcloud</a:t>
            </a:r>
            <a:r>
              <a:rPr lang="en-US" dirty="0"/>
              <a:t> storage cp command.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Integrate APIs for programmatic uploads.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Configure Access Controls: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Assign IAM roles (Owner, Editor, Viewer) at bucket or object level.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 ACLs for granular permissions.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36EAD-BDE7-ADFB-E48C-FA1DD144D4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AC9CB-4C47-4782-AA14-455CA1E626B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7968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E21F7-3ED9-8C1A-E92D-28BBE7497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2D973D-EDBD-82DC-FFAD-DB275E0FD8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A4BC5B-43A6-5153-D3B2-7583EFC6FC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75277A-A880-7D47-2F6A-EA0D7B71E8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AC9CB-4C47-4782-AA14-455CA1E626B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3484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DCA3D-3879-A423-C06D-6293C5BE2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DC0B26-E1B4-1D67-98F4-C303C7FFC6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C0B36B-897A-DBF7-3F78-1B6B429227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Steps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Create a Persistent Disk: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Navigate to the Compute Engine section in the Console.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Specify disk type, size, and location.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Attach to a VM Instance: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In the VM settings, add the persistent disk as a secondary disk.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Mount and format the disk inside the VM.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Set Access Permissions: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 IAM roles to define access for users and services.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C5661-8EA4-06F4-3A19-E04C4E3E74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AC9CB-4C47-4782-AA14-455CA1E626B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6395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C84D8-0137-6637-A828-820DE3125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B80CE9-EBC6-729F-856A-0116825E1B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56AA7B-CFFA-19EB-38D1-AF657A0CCB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8A167-0F99-D2D3-C226-32A04A518E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AC9CB-4C47-4782-AA14-455CA1E626B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738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1265D-B215-C31D-A41C-5A94A45CA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E1C02B-FC64-9E55-C29E-75C4D4837B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E1BF0A-65FC-A60D-12D7-AF4FB9FDC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Steps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Create an Instance: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Select database engine (e.g., MySQL) and configure instance specs.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Enable high availability for critical workloads.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Connect Applications: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 Cloud SQL Auth Proxy for secure connections.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Leverage private IPs for enhanced performance.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Run Queries: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Access the database using tools like SQL Workbench or </a:t>
            </a:r>
            <a:r>
              <a:rPr lang="en-US" dirty="0" err="1"/>
              <a:t>gcloud</a:t>
            </a:r>
            <a:r>
              <a:rPr lang="en-US" dirty="0"/>
              <a:t> </a:t>
            </a:r>
            <a:r>
              <a:rPr lang="en-US" dirty="0" err="1"/>
              <a:t>sql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DA44F-A376-58F9-E97E-2998084A28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AC9CB-4C47-4782-AA14-455CA1E626B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7358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A5DA6-78C5-19D2-A149-E076EA311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EB251B-18DF-9393-14F3-9886AD922F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463569-2843-076E-0190-3D412C617B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AA3ED-830D-A113-820C-6FC6A32652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AC9CB-4C47-4782-AA14-455CA1E626B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3583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02E7D-EAC4-B337-048D-192624C02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E4D560-6C53-E152-6F29-AE604D064D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33DC55-9652-8611-FFCA-FE33B005E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Steps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Create a </a:t>
            </a:r>
            <a:r>
              <a:rPr lang="en-US" b="1" dirty="0" err="1"/>
              <a:t>Firestore</a:t>
            </a:r>
            <a:r>
              <a:rPr lang="en-US" b="1" dirty="0"/>
              <a:t> Database: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Choose Native mode for new apps or Datastore mode for compatibility.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Add Collections and Documents: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Define collections and add JSON-like documents via Console or APIs.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Run Queries: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 structured queries for filtering and sorting data.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Test queries using Firebase SDKs or GCP Console.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B7A70C-7A4D-FB32-535A-90357318AB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AC9CB-4C47-4782-AA14-455CA1E626B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8434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A00DF-1644-8EDB-672A-6F54DBA4E0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22CAB7-BD22-C2D3-8D3F-CFEDF76E5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89C9B-01BF-8454-355C-E8E68CAEC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C922-B111-4F91-9212-34FA33851810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6F9FC-2669-5AC9-825D-9F71E2321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E5153-E1BD-EABE-1D80-4E8F20735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59F95-D966-42C9-BF45-E0322056E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597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9C4B-5962-4126-F171-63C5CE733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8D1B4-5D3B-BE51-780B-657AA6B50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16AD5-AD8B-D2E8-A3B0-F7EB0CAA3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C922-B111-4F91-9212-34FA33851810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2F0A1-6664-AECA-E419-4ADB609AF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5E95A-7CF5-E4BA-2473-CE1B4F29F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59F95-D966-42C9-BF45-E0322056E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81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D45D6-4FF5-E389-B9F7-57042D938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2194EE-DBB8-18DC-0A1D-3516845B4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269E7-B6DB-8BF7-7872-F6CF9FD34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C922-B111-4F91-9212-34FA33851810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C6519-8558-5016-E162-29AC07535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9C4E1-C0FD-24D2-9876-0E1E34DFC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59F95-D966-42C9-BF45-E0322056E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17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C6C01-C5D1-F372-F288-E7A1B1C35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BDE85-0EF6-3D0B-F627-7BF6B75F97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308FE4-AD83-E13B-9087-5B5BC1440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20E4A-BC9D-7FBB-81B0-B61B8CCF5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C922-B111-4F91-9212-34FA33851810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937BA6-8752-B265-F48A-9BED6BEB7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494ED-7C20-DB30-899A-56D8DCA56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59F95-D966-42C9-BF45-E0322056E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82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BCEFB-D82A-F073-3836-30314AA5D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E4C625-12B5-64F9-EA8D-F33AA76C9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F5709D-C3A8-E6AF-CF11-670C29543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DCD946-614F-E1D2-23D1-847BB0095A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4DCA4E-467A-4F76-5DFC-2A2762943C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A991A0-B3D8-201A-BE5D-023D3E0B6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C922-B111-4F91-9212-34FA33851810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AEB582-26AB-4F9A-BCD3-0451FD215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482B23-A427-EF69-666D-F54E414E0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59F95-D966-42C9-BF45-E0322056E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028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4A805-452D-930B-6593-50ECABA24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F81EAF-92B9-860A-E384-7C100563C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C922-B111-4F91-9212-34FA33851810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53F8FB-F5D3-2094-1575-E6887A701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1F7F29-4250-00FE-43C8-9BA2C4773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59F95-D966-42C9-BF45-E0322056E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56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A18186-6AA2-0E68-AB12-0E408E26B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C922-B111-4F91-9212-34FA33851810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ABB67-E2CA-365D-9CC6-5D39D92FF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0351A-AC56-06EA-3F5D-439A39846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59F95-D966-42C9-BF45-E0322056E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445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8F36D-A577-CAEA-E738-631C309B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2656B-25D1-0CD9-C050-7E91A8235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636D29-CE53-7091-155D-EE1E4ED807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989E43-7721-94F9-AEB9-83F4428F8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C922-B111-4F91-9212-34FA33851810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98168-7937-50B8-ACC6-1BD0C0E58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FEC495-60F0-69EF-1184-A22FB0316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59F95-D966-42C9-BF45-E0322056E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355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CF954-00C2-123F-0CA9-038624270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50D2B1-F11B-50BB-787E-B69FD7C4AE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85088-C2C6-8F3F-74EE-B1CABE7341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79B41-DE1F-C35F-01D4-57EEFD290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C922-B111-4F91-9212-34FA33851810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37BE2B-6450-07C8-E5C6-D6F3BE11D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262869-DA06-8D10-BB03-0674E97B3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59F95-D966-42C9-BF45-E0322056E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715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D0D9C-2C67-AFB4-3ABC-43437592B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3A979B-02B2-AE5A-0E3A-24CD22D717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61C6B-CF86-0D90-4B8B-7E718EB60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C922-B111-4F91-9212-34FA33851810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6622E-1332-2F5C-F340-C69265FC7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7AEE4-1525-A6FA-0B09-0B99197B9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59F95-D966-42C9-BF45-E0322056E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803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23E475-4046-D87F-B196-011FBB9EDF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F9624-1DE3-F39D-6E11-822CDD9B77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7ECB4-0D80-E99E-FC8C-AE1BA360A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2C922-B111-4F91-9212-34FA33851810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B6344-2192-22C5-D81E-FB0FE42E2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30812-8B44-C5A5-DDBF-21E445F3E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59F95-D966-42C9-BF45-E0322056E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648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72F60D-0D89-6A84-BED9-D1F3B0364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66A908-CFA8-4938-BC76-ADB6E48CA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637D9-078D-BC22-F698-7CA8EA71F4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B2C922-B111-4F91-9212-34FA33851810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DA5AF-517F-A4AD-982A-FC908D0212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54252-A288-AC90-9D9E-7AEDC20C34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759F95-D966-42C9-BF45-E0322056E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751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6814A4-BFD7-7A21-DFB9-863B5D439FE5}"/>
              </a:ext>
            </a:extLst>
          </p:cNvPr>
          <p:cNvSpPr/>
          <p:nvPr/>
        </p:nvSpPr>
        <p:spPr>
          <a:xfrm>
            <a:off x="0" y="2692672"/>
            <a:ext cx="12192000" cy="2751349"/>
          </a:xfrm>
          <a:prstGeom prst="rect">
            <a:avLst/>
          </a:prstGeom>
          <a:solidFill>
            <a:srgbClr val="004F9B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15" name="Google Shape;615;p34"/>
          <p:cNvSpPr txBox="1"/>
          <p:nvPr/>
        </p:nvSpPr>
        <p:spPr>
          <a:xfrm>
            <a:off x="1162171" y="3429000"/>
            <a:ext cx="9867659" cy="129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8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Storage and Database Services in GCP</a:t>
            </a:r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1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6335" y="135650"/>
            <a:ext cx="2058733" cy="205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43D47F-0850-4C54-ECA1-347E5868710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725" t="37867" r="34750" b="40666"/>
          <a:stretch/>
        </p:blipFill>
        <p:spPr>
          <a:xfrm>
            <a:off x="1042416" y="709650"/>
            <a:ext cx="3504687" cy="10706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F6433-5B0E-B912-65ED-22BBF478B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B7B78F49-8D45-345A-2A30-AB4EA76D23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A0143B2E-AAB3-B4B3-094C-C40DDD5EA24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0FAD89-2994-5670-AE50-ECD2D5F96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75E830-8E86-7FA4-F824-E6CDED302D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DE16DB-E087-CF68-1877-895B5F2CED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20720B-57C7-555C-115F-DFF6C83E16F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5BD605-57DE-B018-B546-1BCDE81F60D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9ECD54A0-20D1-3893-3738-A0057E304792}"/>
              </a:ext>
            </a:extLst>
          </p:cNvPr>
          <p:cNvSpPr txBox="1"/>
          <p:nvPr/>
        </p:nvSpPr>
        <p:spPr>
          <a:xfrm>
            <a:off x="1753590" y="1081301"/>
            <a:ext cx="8517788" cy="537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Why Storage and Databases Matter in Cloud Computing</a:t>
            </a: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E3507C-0FCC-80CA-BA0C-2932F431D250}"/>
              </a:ext>
            </a:extLst>
          </p:cNvPr>
          <p:cNvSpPr txBox="1"/>
          <p:nvPr/>
        </p:nvSpPr>
        <p:spPr>
          <a:xfrm>
            <a:off x="856332" y="1991047"/>
            <a:ext cx="1031230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dirty="0"/>
              <a:t>Importance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Data is the backbone of modern applications, enabling storage, retrieval, and analysis.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Essential for use cases like: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Business data storage (e.g., CRM, ERP systems).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Media streaming (e.g., video platforms).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IoT sensor data collection and real-time analysis.</a:t>
            </a:r>
          </a:p>
          <a:p>
            <a:pPr algn="l"/>
            <a:endParaRPr lang="en-US" sz="2000" dirty="0"/>
          </a:p>
          <a:p>
            <a:pPr algn="l"/>
            <a:r>
              <a:rPr lang="en-US" sz="2000" b="1" dirty="0"/>
              <a:t>Use Cases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/>
              <a:t>Data Backups and Disaster Recovery: </a:t>
            </a:r>
            <a:r>
              <a:rPr lang="en-US" sz="2000" dirty="0"/>
              <a:t>Secure storage with high durability and quick recovery.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/>
              <a:t>Media Distribution and Streaming: </a:t>
            </a:r>
            <a:r>
              <a:rPr lang="en-US" sz="2000" dirty="0"/>
              <a:t>Efficiently serve content to users worldwide.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/>
              <a:t>Real-Time Analytics and IoT: </a:t>
            </a:r>
            <a:r>
              <a:rPr lang="en-US" sz="2000" dirty="0"/>
              <a:t>Handle high-velocity data from devices and sensors.</a:t>
            </a:r>
          </a:p>
        </p:txBody>
      </p:sp>
    </p:spTree>
    <p:extLst>
      <p:ext uri="{BB962C8B-B14F-4D97-AF65-F5344CB8AC3E}">
        <p14:creationId xmlns:p14="http://schemas.microsoft.com/office/powerpoint/2010/main" val="4076445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5CEAD-F008-0960-991E-190BFB01F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B1FBB3C7-2FBB-EB0D-15E2-2995BA03BA8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2E56C280-4DB0-CE7A-BC24-F3AAD01D3BC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6461CA-B5DC-8C7A-687C-9B443AAAC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5AA89A-8EDC-FA72-0045-23622588F8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07F3BB-F949-E58B-3B11-BC51CFB425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94CEDD-F715-75D4-D564-532DB4EDD18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F6A4AD-2917-86DB-0F64-D3C835D92F7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AE45CCC8-4DFD-6D6E-E986-4B371EE75D3B}"/>
              </a:ext>
            </a:extLst>
          </p:cNvPr>
          <p:cNvSpPr txBox="1"/>
          <p:nvPr/>
        </p:nvSpPr>
        <p:spPr>
          <a:xfrm>
            <a:off x="1753590" y="1081301"/>
            <a:ext cx="8517788" cy="537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Cloud Storage</a:t>
            </a: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4C1B31-42CF-0CFA-2948-DE10C775FB7B}"/>
              </a:ext>
            </a:extLst>
          </p:cNvPr>
          <p:cNvSpPr txBox="1"/>
          <p:nvPr/>
        </p:nvSpPr>
        <p:spPr>
          <a:xfrm>
            <a:off x="728180" y="1618394"/>
            <a:ext cx="1031230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dirty="0"/>
              <a:t>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Scalability:</a:t>
            </a:r>
            <a:r>
              <a:rPr lang="en-US" sz="2000" dirty="0"/>
              <a:t> Handle data from gigabytes to exabytes.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Fast Access:</a:t>
            </a:r>
            <a:r>
              <a:rPr lang="en-US" sz="2000" dirty="0"/>
              <a:t> Millisecond latency for time-to-first-byte.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API Integration:</a:t>
            </a:r>
            <a:r>
              <a:rPr lang="en-US" sz="2000" dirty="0"/>
              <a:t> Unified API for all storage classes.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Availability:</a:t>
            </a:r>
            <a:r>
              <a:rPr lang="en-US" sz="2000" dirty="0"/>
              <a:t> High SLA (99.9% or higher) across storage classes.</a:t>
            </a:r>
          </a:p>
          <a:p>
            <a:pPr algn="l"/>
            <a:endParaRPr lang="en-US" sz="2000" dirty="0"/>
          </a:p>
          <a:p>
            <a:pPr algn="l"/>
            <a:r>
              <a:rPr lang="en-US" sz="2000" b="1" dirty="0"/>
              <a:t>Storage Classes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/>
              <a:t>Standard:</a:t>
            </a:r>
            <a:r>
              <a:rPr lang="en-US" sz="2000" dirty="0"/>
              <a:t> For frequently accessed data (“hot” data).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Nearline:</a:t>
            </a:r>
            <a:r>
              <a:rPr lang="en-US" sz="2000" dirty="0"/>
              <a:t> For infrequent access; backup and archival.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Coldline</a:t>
            </a:r>
            <a:r>
              <a:rPr lang="en-US" sz="2000" b="1" dirty="0"/>
              <a:t>:</a:t>
            </a:r>
            <a:r>
              <a:rPr lang="en-US" sz="2000" dirty="0"/>
              <a:t> For rare access, long-term data storage.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Archive:</a:t>
            </a:r>
            <a:r>
              <a:rPr lang="en-US" sz="2000" dirty="0"/>
              <a:t> Lowest cost for data accessed less than once a year.</a:t>
            </a:r>
          </a:p>
          <a:p>
            <a:pPr algn="l"/>
            <a:endParaRPr lang="en-US" sz="2000" b="1" dirty="0"/>
          </a:p>
          <a:p>
            <a:pPr algn="l"/>
            <a:r>
              <a:rPr lang="en-US" sz="2000" b="1" dirty="0"/>
              <a:t>Use Cases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Hosting website content.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Storing long-term backups.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Serving multimedia files globally.</a:t>
            </a:r>
          </a:p>
        </p:txBody>
      </p:sp>
    </p:spTree>
    <p:extLst>
      <p:ext uri="{BB962C8B-B14F-4D97-AF65-F5344CB8AC3E}">
        <p14:creationId xmlns:p14="http://schemas.microsoft.com/office/powerpoint/2010/main" val="2745773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74E04-CFC6-D8C0-A20B-3D9054AFA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FF449E6-291D-98F0-9409-6C693B25F6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6536938A-ACF5-345B-0F2E-127344882B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C6F31F-B045-446A-BFC4-414730DFC1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AF3F38-A101-11F5-9C46-57068A76D7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278A5E-E424-7549-D934-854AE0BA4E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EF5342-CBB8-A457-D2FF-413095C908F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1022D1-0A8D-60AE-C865-4F348EDB3E6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AD9A6B31-BD24-C7DF-10E2-1FAD043A5D53}"/>
              </a:ext>
            </a:extLst>
          </p:cNvPr>
          <p:cNvSpPr txBox="1"/>
          <p:nvPr/>
        </p:nvSpPr>
        <p:spPr>
          <a:xfrm>
            <a:off x="1837106" y="2710484"/>
            <a:ext cx="8517788" cy="913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Hands-On: Setting Up Cloud Storage</a:t>
            </a: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2243214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76BD7-69D6-F267-6EEE-C839719E6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D6B91CB6-6771-503F-0A5F-80D120B3C7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4F55F493-5C58-77DE-FB79-EF347F12CAB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2F4694-7330-806E-82E3-335EA173BB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FAE9EE-21C8-2A0E-CE5D-55820F6C45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F71222-ACB7-CACB-73C1-F0E625A6F0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0CC611-C0E1-6566-7566-6093D429800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73DB72-8435-18E4-A719-B3336862C665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DBC56AA6-268E-1E16-FABF-08A9344D5F32}"/>
              </a:ext>
            </a:extLst>
          </p:cNvPr>
          <p:cNvSpPr txBox="1"/>
          <p:nvPr/>
        </p:nvSpPr>
        <p:spPr>
          <a:xfrm>
            <a:off x="1753590" y="1081301"/>
            <a:ext cx="8517788" cy="537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Persistent Disks</a:t>
            </a: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156EAA-6F9A-4BC4-E91C-57B04987596B}"/>
              </a:ext>
            </a:extLst>
          </p:cNvPr>
          <p:cNvSpPr txBox="1"/>
          <p:nvPr/>
        </p:nvSpPr>
        <p:spPr>
          <a:xfrm>
            <a:off x="728180" y="1618394"/>
            <a:ext cx="1031230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Types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Standard Persistent Disk:</a:t>
            </a:r>
            <a:r>
              <a:rPr lang="en-US" sz="2000" dirty="0"/>
              <a:t> Cost-effective, good for sequential workloads.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SSD Persistent Disk:</a:t>
            </a:r>
            <a:r>
              <a:rPr lang="en-US" sz="2000" dirty="0"/>
              <a:t> High IOPS for latency-sensitive applications.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Balanced Persistent Disk:</a:t>
            </a:r>
            <a:r>
              <a:rPr lang="en-US" sz="2000" dirty="0"/>
              <a:t> Optimized for price-performance balance.</a:t>
            </a:r>
          </a:p>
          <a:p>
            <a:endParaRPr lang="en-US" sz="2000" b="1" dirty="0"/>
          </a:p>
          <a:p>
            <a:r>
              <a:rPr lang="en-US" sz="2000" b="1" dirty="0"/>
              <a:t>Key Benefits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Persistent and durable storage with automatic redundancy.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Fully integrated with Compute Engine for ease of use.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Scalable up to multi-terabyte sizes.</a:t>
            </a:r>
          </a:p>
          <a:p>
            <a:endParaRPr lang="en-US" sz="2000" b="1" dirty="0"/>
          </a:p>
          <a:p>
            <a:r>
              <a:rPr lang="en-US" sz="2000" b="1" dirty="0"/>
              <a:t>Use Cases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Hosting databases for transactional applications.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Storing logs for analytics pipelines.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Providing boot disks for VMs.</a:t>
            </a:r>
          </a:p>
        </p:txBody>
      </p:sp>
    </p:spTree>
    <p:extLst>
      <p:ext uri="{BB962C8B-B14F-4D97-AF65-F5344CB8AC3E}">
        <p14:creationId xmlns:p14="http://schemas.microsoft.com/office/powerpoint/2010/main" val="1992000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ED5FE-F8FB-DDF7-C597-5F361CFB8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36F1EDE5-9449-2148-DC94-CB1769F1F41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171AFBB1-C202-D1BD-934E-2988C02BEAA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0700CBA-9207-CD21-0E70-AFE4F72388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4CE35C-D97F-FB21-66E2-921A932F9D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C84466-3EE7-174E-6AEC-F3D56867F1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5E4DBA-CCAD-0D09-A428-C0D2605E063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65EE7D-E743-AF37-D690-2EE6FBE0F1E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23C5F1EE-C998-A5C2-BE4F-BC3692D54057}"/>
              </a:ext>
            </a:extLst>
          </p:cNvPr>
          <p:cNvSpPr txBox="1"/>
          <p:nvPr/>
        </p:nvSpPr>
        <p:spPr>
          <a:xfrm>
            <a:off x="1837106" y="2710484"/>
            <a:ext cx="8517788" cy="913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Hands-On: Configuring Persistent Disks</a:t>
            </a:r>
            <a:endParaRPr lang="en-US"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508815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DAA01-AB73-CF8F-545F-8B7068CDE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A9B0E5AD-E4B0-6AD0-C61A-20754D6786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DB993405-F153-4183-BD39-139261987AC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57DB8EE-032C-B113-4C6E-ED8A225D37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AF621F-59F1-9805-C704-FB6D9E92D5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A945F8-6D45-3570-E42D-D7476CB24E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825E45-DD3C-221E-EB3E-FE462E44D25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9598E3-EC87-751D-A021-9085D2F6918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162C1D25-208C-F64E-8BBC-FEFF1D8686DB}"/>
              </a:ext>
            </a:extLst>
          </p:cNvPr>
          <p:cNvSpPr txBox="1"/>
          <p:nvPr/>
        </p:nvSpPr>
        <p:spPr>
          <a:xfrm>
            <a:off x="1753590" y="1081301"/>
            <a:ext cx="8517788" cy="537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Cloud SQL</a:t>
            </a: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0E46A3-714E-7F24-945D-D86CCB992901}"/>
              </a:ext>
            </a:extLst>
          </p:cNvPr>
          <p:cNvSpPr txBox="1"/>
          <p:nvPr/>
        </p:nvSpPr>
        <p:spPr>
          <a:xfrm>
            <a:off x="728180" y="1618394"/>
            <a:ext cx="1031230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Managed support for MySQL, PostgreSQL, and SQL Server.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Automatic scaling, backups, and patch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High-performance configurations with up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64 TB storage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60,000 IOPS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624 GB RAM</a:t>
            </a:r>
            <a:endParaRPr lang="en-US" dirty="0"/>
          </a:p>
          <a:p>
            <a:endParaRPr lang="en-US" b="1" dirty="0"/>
          </a:p>
          <a:p>
            <a:r>
              <a:rPr lang="en-US" b="1" dirty="0"/>
              <a:t>Use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Powering backend systems for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Supporting eCommerce and financial platforms.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Enabling data integration for BI and analytics tools.</a:t>
            </a:r>
          </a:p>
        </p:txBody>
      </p:sp>
    </p:spTree>
    <p:extLst>
      <p:ext uri="{BB962C8B-B14F-4D97-AF65-F5344CB8AC3E}">
        <p14:creationId xmlns:p14="http://schemas.microsoft.com/office/powerpoint/2010/main" val="938419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2BF08-A7E2-0F7D-3EEE-BE02231FB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4FE40761-3993-5869-3DE0-DBFB3831715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2B8014E5-66D0-3AA7-D713-1D869757CD2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C3E14CA-E75E-52B2-37AF-52C15A0F31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9DD6E5-4EE2-1B8B-8EE6-DCDB394F54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0E7367-CFFE-EB05-7820-7984678B9E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327540-1997-9149-38AF-CA8FCC7605F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00DFBC-A947-48A8-7DC1-0255C7309EE2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ACEFD6A7-0631-EA00-1A70-97B66FA17E7E}"/>
              </a:ext>
            </a:extLst>
          </p:cNvPr>
          <p:cNvSpPr txBox="1"/>
          <p:nvPr/>
        </p:nvSpPr>
        <p:spPr>
          <a:xfrm>
            <a:off x="1837106" y="2683590"/>
            <a:ext cx="8517788" cy="913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Hands-On: Creating a Cloud SQL Instance</a:t>
            </a:r>
            <a:endParaRPr lang="en-US"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786259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02BB5-4F2E-6407-C816-981EFDED7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022B3B88-2693-A01A-887A-EE54C439B62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7A5A95D9-39D9-4ACE-9F5C-EA7122D02CB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E1D78D9-2333-0393-0BE1-CFB30278CC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9F1245-6050-5F72-5A73-8DC5AE8AEA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056716-C648-51CA-2737-B6E8CD1D21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2DC010-8EFA-A115-C9CC-7D06FD2C612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14D747-81B7-3385-01B8-00AA1250113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C9B42985-8B1C-505F-A4B8-7E1CAA9EE862}"/>
              </a:ext>
            </a:extLst>
          </p:cNvPr>
          <p:cNvSpPr txBox="1"/>
          <p:nvPr/>
        </p:nvSpPr>
        <p:spPr>
          <a:xfrm>
            <a:off x="1753590" y="1081301"/>
            <a:ext cx="8517788" cy="537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Firestore</a:t>
            </a: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6FBBD4-E38F-84B7-48C9-994D07C2664D}"/>
              </a:ext>
            </a:extLst>
          </p:cNvPr>
          <p:cNvSpPr txBox="1"/>
          <p:nvPr/>
        </p:nvSpPr>
        <p:spPr>
          <a:xfrm>
            <a:off x="728180" y="1618394"/>
            <a:ext cx="1031230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Fully managed NoSQL document database.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Real-time synchronization for live data updates.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Offline support for mobile and web applications.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Strong consistency with multi-region replication.</a:t>
            </a:r>
          </a:p>
          <a:p>
            <a:endParaRPr lang="en-US" sz="2000" b="1" dirty="0"/>
          </a:p>
          <a:p>
            <a:r>
              <a:rPr lang="en-US" sz="2000" b="1" dirty="0"/>
              <a:t>Key Advantages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Flexible schema design for evolving application needs.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Integration with Firebase for advanced app features.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ACID transactions for reliable data operations.</a:t>
            </a:r>
          </a:p>
          <a:p>
            <a:endParaRPr lang="en-US" sz="2000" b="1" dirty="0"/>
          </a:p>
          <a:p>
            <a:r>
              <a:rPr lang="en-US" sz="2000" b="1" dirty="0"/>
              <a:t>Use Cases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Building collaborative tools (e.g., shared document editing).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Real-time chat applications.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IoT applications requiring live updates.</a:t>
            </a:r>
          </a:p>
        </p:txBody>
      </p:sp>
    </p:spTree>
    <p:extLst>
      <p:ext uri="{BB962C8B-B14F-4D97-AF65-F5344CB8AC3E}">
        <p14:creationId xmlns:p14="http://schemas.microsoft.com/office/powerpoint/2010/main" val="406563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9DA39-14AF-B264-7D8E-2893D7646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B9B5AC63-62E2-E485-B024-3A868F0136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6230957A-2FC3-09DA-6895-A5A2D3930AF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5FC28BA-85F5-3EF6-ED31-A61A6C2578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756A98-79B6-1544-F924-7912ADA1D3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DD18F7-67DC-2C68-7086-3A77EF1AB0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3ED6A7-CE8F-EB59-BDFE-D602843AD95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1022C6-7C7F-E05C-3168-9026E87BFC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3629CCA5-EF85-E3DA-96C5-3073DF1CAC65}"/>
              </a:ext>
            </a:extLst>
          </p:cNvPr>
          <p:cNvSpPr txBox="1"/>
          <p:nvPr/>
        </p:nvSpPr>
        <p:spPr>
          <a:xfrm>
            <a:off x="1837106" y="2710484"/>
            <a:ext cx="8517788" cy="913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Hands-On: Setting Up </a:t>
            </a:r>
            <a:r>
              <a:rPr lang="en-US" sz="2800" dirty="0" err="1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Firestore</a:t>
            </a: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3955441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6814A4-BFD7-7A21-DFB9-863B5D439FE5}"/>
              </a:ext>
            </a:extLst>
          </p:cNvPr>
          <p:cNvSpPr/>
          <p:nvPr/>
        </p:nvSpPr>
        <p:spPr>
          <a:xfrm>
            <a:off x="0" y="2692672"/>
            <a:ext cx="12192000" cy="2751349"/>
          </a:xfrm>
          <a:prstGeom prst="rect">
            <a:avLst/>
          </a:prstGeom>
          <a:solidFill>
            <a:srgbClr val="004F9B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/>
          </a:p>
        </p:txBody>
      </p:sp>
      <p:sp>
        <p:nvSpPr>
          <p:cNvPr id="615" name="Google Shape;615;p34"/>
          <p:cNvSpPr txBox="1"/>
          <p:nvPr/>
        </p:nvSpPr>
        <p:spPr>
          <a:xfrm>
            <a:off x="1162171" y="3429000"/>
            <a:ext cx="9867659" cy="129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8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Thank You!</a:t>
            </a:r>
            <a:endParaRPr lang="en-US" sz="4800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11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6335" y="135650"/>
            <a:ext cx="2058733" cy="205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6418B9-9024-36FD-FF4A-D689E721F14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725" t="37867" r="34750" b="40666"/>
          <a:stretch/>
        </p:blipFill>
        <p:spPr>
          <a:xfrm>
            <a:off x="1042416" y="709650"/>
            <a:ext cx="3504687" cy="10706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3570</TotalTime>
  <Words>749</Words>
  <Application>Microsoft Office PowerPoint</Application>
  <PresentationFormat>Widescreen</PresentationFormat>
  <Paragraphs>136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Lato</vt:lpstr>
      <vt:lpstr>Proxima Nova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Nikunj Singhal</dc:creator>
  <cp:lastModifiedBy>Syed Rumaan Pasha</cp:lastModifiedBy>
  <cp:revision>13</cp:revision>
  <dcterms:created xsi:type="dcterms:W3CDTF">2024-11-18T06:43:32Z</dcterms:created>
  <dcterms:modified xsi:type="dcterms:W3CDTF">2024-12-26T18:41:38Z</dcterms:modified>
</cp:coreProperties>
</file>