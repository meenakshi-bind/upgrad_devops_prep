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7" r:id="rId2"/>
    <p:sldId id="291" r:id="rId3"/>
    <p:sldId id="776" r:id="rId4"/>
    <p:sldId id="842" r:id="rId5"/>
    <p:sldId id="843" r:id="rId6"/>
    <p:sldId id="844" r:id="rId7"/>
    <p:sldId id="845" r:id="rId8"/>
    <p:sldId id="846" r:id="rId9"/>
    <p:sldId id="847" r:id="rId10"/>
    <p:sldId id="848" r:id="rId11"/>
    <p:sldId id="893" r:id="rId12"/>
    <p:sldId id="849" r:id="rId13"/>
    <p:sldId id="850" r:id="rId14"/>
    <p:sldId id="851" r:id="rId15"/>
    <p:sldId id="852" r:id="rId16"/>
    <p:sldId id="853" r:id="rId17"/>
    <p:sldId id="792" r:id="rId18"/>
    <p:sldId id="854" r:id="rId19"/>
    <p:sldId id="855" r:id="rId20"/>
    <p:sldId id="809" r:id="rId21"/>
    <p:sldId id="856" r:id="rId22"/>
    <p:sldId id="857" r:id="rId23"/>
    <p:sldId id="858" r:id="rId24"/>
    <p:sldId id="859" r:id="rId25"/>
    <p:sldId id="860" r:id="rId26"/>
    <p:sldId id="894" r:id="rId27"/>
    <p:sldId id="861" r:id="rId28"/>
    <p:sldId id="862" r:id="rId29"/>
    <p:sldId id="863" r:id="rId30"/>
    <p:sldId id="864" r:id="rId31"/>
    <p:sldId id="895" r:id="rId32"/>
    <p:sldId id="865" r:id="rId33"/>
    <p:sldId id="866" r:id="rId34"/>
    <p:sldId id="867" r:id="rId35"/>
    <p:sldId id="868" r:id="rId36"/>
    <p:sldId id="869" r:id="rId37"/>
    <p:sldId id="870" r:id="rId38"/>
    <p:sldId id="896" r:id="rId39"/>
    <p:sldId id="871" r:id="rId40"/>
    <p:sldId id="897" r:id="rId41"/>
    <p:sldId id="872" r:id="rId42"/>
    <p:sldId id="873" r:id="rId43"/>
    <p:sldId id="874" r:id="rId44"/>
    <p:sldId id="898" r:id="rId45"/>
    <p:sldId id="875" r:id="rId46"/>
    <p:sldId id="876" r:id="rId47"/>
    <p:sldId id="877" r:id="rId48"/>
    <p:sldId id="878" r:id="rId49"/>
    <p:sldId id="899" r:id="rId50"/>
    <p:sldId id="900" r:id="rId51"/>
    <p:sldId id="879" r:id="rId52"/>
    <p:sldId id="784" r:id="rId53"/>
    <p:sldId id="785" r:id="rId54"/>
    <p:sldId id="50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13585-F2F7-4CAB-A4E4-1512BB9B545B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69316-F612-48C3-B1C7-701A2C12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3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30F-11CB-4A38-D5FC-43AB22400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C942-BB8A-34AC-C497-D4FD2BED0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584A-C19D-2D97-0AF6-751B4D27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7BBA-1403-8ADF-3C89-1C56F6A7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B5EE-694E-0DD6-FBBC-DAEE073B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3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5A2D-7795-829E-0317-35A6629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A543-0209-7742-9E7A-1C9448B44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7CC4-06DF-0598-CF9B-17940CC1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B6F1-E547-28F3-214B-E14FA297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87C7-35CB-E756-85E9-6ED61FF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13AF-764B-9BED-839B-1F2548D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1ABD-DC52-E5BB-2552-51A8C55B3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1113-125C-2AC5-EA8C-E51F7236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0F60A-D639-FC0E-6607-3F9FDD3D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21C5-E274-8177-0A84-61FBD13E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4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8B2C-B56C-65F9-D55A-03C41560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C924-40A7-CCC5-5467-954F49538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6483-F4A5-9F85-2F36-57685DC1C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92291-7FB4-9BC0-C08C-602E7E48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FF5A3-AFC2-83AF-3AC5-A2DFC37C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BCC1-B192-509A-B182-FDA38BEC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6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9D4F-6499-4E62-6BC4-A864B371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5EE0A-2D64-6EA3-C393-6A793B33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FDC3-5665-D55A-BF31-4799773D5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0E72C-7203-963D-54C2-7C5F8F9DD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B9FA4-2C32-85B9-E44F-E043C5711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A284C-82E5-0258-95ED-C939210B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87524-7C83-6978-13D2-68242941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0B3A0-9328-56ED-6165-5FE6725B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C313-A857-D2B6-4972-603A3209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E6E7C-9E05-38A0-50E5-475C61D1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5942B-9E3E-FE6B-DB1B-2B40E1C4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D417-DE49-E1CE-4813-90A27590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7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5A62D-5E35-4978-A21D-015D67A6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7063-316D-7692-711E-1145293C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D14C-0A1E-DA44-3394-36812D4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22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4731-C279-E9B4-1350-D01064C5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4481-22CF-C3C5-7B97-22D9E52F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30EE-D49D-6439-35A7-D564C5416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7929C-043F-5FF4-6D6D-171B825F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29F1-C192-1700-B843-D4B943C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8F1DF-4A4F-C67D-BE2E-1FE4CA53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37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8093-BF6B-B264-E311-398794DE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AD7C6-1734-B469-30B7-4A42BB717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E643E-D7E3-7AB3-F45D-CE539AA7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95D1-052E-D029-A14D-9768E55A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1458-BD09-D7A2-90F1-22EA0A4D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D0DC-C873-E862-BD92-71ED2A4C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7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3DAD-FBC8-F5A7-4DFF-0EB88A10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120F-9120-CC06-97E9-33733579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3293-6891-933A-C374-086A5CDA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86-1716-99FC-624F-78142245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BAD29-F34E-E7C3-A14F-532F8C89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39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E1245-A4CF-CE70-BB65-F95B54A0B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C1FE-EE55-4B51-5B5A-E44581E0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06AF-DE1E-E1BF-5B20-319686EA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84D1-B61C-0604-F16A-3DAE3869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F065-EA66-D400-5822-2008989B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7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B1CA2-ECC1-4762-AAEA-FADDBF94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8F6B0-B57E-519B-311D-89ED4289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5897C-4441-701B-8C16-69E4C437F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4CA72-CAC1-4B24-B91B-249F70378C1E}" type="datetimeFigureOut">
              <a:rPr lang="en-IN" smtClean="0"/>
              <a:t>28-08-2024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07FF-709C-AC63-F960-09B72AA0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18F4-90CC-DE76-BC3D-75D67644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hyperlink" Target="https://docs.ansible.com/ansible/latest/collections/amazon/aws/aws_ec2_inventory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ws.amazon.com/blogs/apn/getting-started-with-ansible-and-dynamic-amazon-ec2-inventory-management/" TargetMode="Externa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uxtechi.com/configure-use-ansible-jinja2-templates/" TargetMode="Externa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Configuration Management</a:t>
            </a:r>
          </a:p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</a:t>
            </a: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nd</a:t>
            </a: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Ansible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320172"/>
            <a:ext cx="10320821" cy="1045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Mastering DevOps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 :</a:t>
            </a:r>
            <a:r>
              <a:rPr lang="en-US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Configuration Management and Ansible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Configuration Management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ysClr val="windowText" lastClr="000000"/>
                </a:solidFill>
              </a:rPr>
              <a:t>Ansible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31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35;p4">
            <a:extLst>
              <a:ext uri="{FF2B5EF4-FFF2-40B4-BE49-F238E27FC236}">
                <a16:creationId xmlns:a16="http://schemas.microsoft.com/office/drawing/2014/main" id="{3840C064-BD05-8183-C867-8544CB22E969}"/>
              </a:ext>
            </a:extLst>
          </p:cNvPr>
          <p:cNvSpPr txBox="1"/>
          <p:nvPr/>
        </p:nvSpPr>
        <p:spPr>
          <a:xfrm>
            <a:off x="1599995" y="3114211"/>
            <a:ext cx="8992009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 is the practice of tracking operational items and their attributes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Configuration management is a process </a:t>
            </a: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for</a:t>
            </a: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maintaining computer systems, servers, and software in a desired, consistent state 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</a:t>
            </a:r>
            <a:r>
              <a:rPr lang="en" sz="1800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i</a:t>
            </a: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 a way to ensure that a system performs as expected as changes are made over time 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Example: An airline tracks the components and parts in its aircraft for safety and maintenance purposes. If a particular component is recalled for safety reasons, the airline can immediately determine where the component </a:t>
            </a:r>
            <a:r>
              <a:rPr lang="en" sz="1800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has been</a:t>
            </a: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installed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36;p4">
            <a:extLst>
              <a:ext uri="{FF2B5EF4-FFF2-40B4-BE49-F238E27FC236}">
                <a16:creationId xmlns:a16="http://schemas.microsoft.com/office/drawing/2014/main" id="{C544030A-4086-8358-656A-9124F8E3653B}"/>
              </a:ext>
            </a:extLst>
          </p:cNvPr>
          <p:cNvSpPr txBox="1"/>
          <p:nvPr/>
        </p:nvSpPr>
        <p:spPr>
          <a:xfrm>
            <a:off x="3334800" y="138896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"/>
                  </a:ext>
                </a:extLst>
              </a:rPr>
              <a:t>Configuration </a:t>
            </a:r>
            <a:r>
              <a:rPr lang="en" sz="254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"/>
                  </a:ext>
                </a:extLst>
              </a:rPr>
              <a:t>M</a:t>
            </a: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3"/>
                  </a:ext>
                </a:extLst>
              </a:rPr>
              <a:t>anagement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638;p4">
            <a:extLst>
              <a:ext uri="{FF2B5EF4-FFF2-40B4-BE49-F238E27FC236}">
                <a16:creationId xmlns:a16="http://schemas.microsoft.com/office/drawing/2014/main" id="{4A3EE1C3-D7FB-F9C0-415D-68D4A20D0741}"/>
              </a:ext>
            </a:extLst>
          </p:cNvPr>
          <p:cNvSpPr txBox="1"/>
          <p:nvPr/>
        </p:nvSpPr>
        <p:spPr>
          <a:xfrm>
            <a:off x="493368" y="2095297"/>
            <a:ext cx="5682863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configuration management?</a:t>
            </a:r>
            <a:endParaRPr sz="2300" b="1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36852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43;p5">
            <a:extLst>
              <a:ext uri="{FF2B5EF4-FFF2-40B4-BE49-F238E27FC236}">
                <a16:creationId xmlns:a16="http://schemas.microsoft.com/office/drawing/2014/main" id="{F14822AD-ABD3-BC2B-7194-B2EDDBF89C0D}"/>
              </a:ext>
            </a:extLst>
          </p:cNvPr>
          <p:cNvSpPr txBox="1"/>
          <p:nvPr/>
        </p:nvSpPr>
        <p:spPr>
          <a:xfrm>
            <a:off x="1883967" y="2551869"/>
            <a:ext cx="8424066" cy="337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 enables the ability to scale infrastructure and software systems without having to correspondingly scale administrative staff to manage those systems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4"/>
                  </a:ext>
                </a:extLst>
              </a:rPr>
              <a:t>M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5"/>
                  </a:ext>
                </a:extLst>
              </a:rPr>
              <a:t>anual effort is to determine which system components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should change when requirements change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6"/>
                  </a:ext>
                </a:extLst>
              </a:rPr>
              <a:t>Lost p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7"/>
                  </a:ext>
                </a:extLst>
              </a:rPr>
              <a:t>roductivity by replacing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system components with flawed new versions, without the ability to quickly revert to a working state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8"/>
                  </a:ext>
                </a:extLst>
              </a:rPr>
              <a:t>Unexpected outages from incorrectly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modifying system components because you could n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 accurately determine which components were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affected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by a change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44;p5">
            <a:extLst>
              <a:ext uri="{FF2B5EF4-FFF2-40B4-BE49-F238E27FC236}">
                <a16:creationId xmlns:a16="http://schemas.microsoft.com/office/drawing/2014/main" id="{73775528-6BA3-4AB7-536B-8F6FDD490AEC}"/>
              </a:ext>
            </a:extLst>
          </p:cNvPr>
          <p:cNvSpPr txBox="1"/>
          <p:nvPr/>
        </p:nvSpPr>
        <p:spPr>
          <a:xfrm>
            <a:off x="3334800" y="1587431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Need </a:t>
            </a:r>
            <a:r>
              <a:rPr lang="en" sz="254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for C</a:t>
            </a: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onfiguration </a:t>
            </a:r>
            <a:r>
              <a:rPr lang="en" sz="254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anagement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313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50;p6">
            <a:extLst>
              <a:ext uri="{FF2B5EF4-FFF2-40B4-BE49-F238E27FC236}">
                <a16:creationId xmlns:a16="http://schemas.microsoft.com/office/drawing/2014/main" id="{34244255-2F4E-2B4D-F704-14626318EAC3}"/>
              </a:ext>
            </a:extLst>
          </p:cNvPr>
          <p:cNvSpPr txBox="1"/>
          <p:nvPr/>
        </p:nvSpPr>
        <p:spPr>
          <a:xfrm>
            <a:off x="1292744" y="2228600"/>
            <a:ext cx="9542667" cy="3597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Easier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caling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Act of adding more resources (usually servers) to our running application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Uptime and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ite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eliability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With our configuration managed properly, test environments can mimic production and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9"/>
                  </a:ext>
                </a:extLst>
              </a:rPr>
              <a:t>c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quickly revert to a working state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Disaster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ecovery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If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0"/>
                  </a:ext>
                </a:extLst>
              </a:rPr>
              <a:t>the worst does happen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, it ensures that our assets are easily recoverable 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Cost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eduction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Cost reduction is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possible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by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gaining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detailed knowledge of all the elements of your configuration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Auditing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1"/>
                  </a:ext>
                </a:extLst>
              </a:rPr>
              <a:t>S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2"/>
                  </a:ext>
                </a:extLst>
              </a:rPr>
              <a:t>trict control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3"/>
                  </a:ext>
                </a:extLst>
              </a:rPr>
              <a:t>of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your processes by defining and enforcing formal policies and procedures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51;p6">
            <a:extLst>
              <a:ext uri="{FF2B5EF4-FFF2-40B4-BE49-F238E27FC236}">
                <a16:creationId xmlns:a16="http://schemas.microsoft.com/office/drawing/2014/main" id="{58E9DD28-42A5-117B-23BB-E69298942F3B}"/>
              </a:ext>
            </a:extLst>
          </p:cNvPr>
          <p:cNvSpPr txBox="1"/>
          <p:nvPr/>
        </p:nvSpPr>
        <p:spPr>
          <a:xfrm>
            <a:off x="3334800" y="1561952"/>
            <a:ext cx="5522400" cy="459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CM: Advantages</a:t>
            </a:r>
            <a:endParaRPr sz="254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4112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58;p7">
            <a:extLst>
              <a:ext uri="{FF2B5EF4-FFF2-40B4-BE49-F238E27FC236}">
                <a16:creationId xmlns:a16="http://schemas.microsoft.com/office/drawing/2014/main" id="{398034B9-8566-0920-A42E-CB1290CE70BF}"/>
              </a:ext>
            </a:extLst>
          </p:cNvPr>
          <p:cNvSpPr txBox="1"/>
          <p:nvPr/>
        </p:nvSpPr>
        <p:spPr>
          <a:xfrm>
            <a:off x="3334800" y="179186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CM: Best Practices</a:t>
            </a:r>
            <a:endParaRPr sz="254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61;p7">
            <a:extLst>
              <a:ext uri="{FF2B5EF4-FFF2-40B4-BE49-F238E27FC236}">
                <a16:creationId xmlns:a16="http://schemas.microsoft.com/office/drawing/2014/main" id="{D30DDBD3-D7E7-B8F7-1CEF-50756286FA96}"/>
              </a:ext>
            </a:extLst>
          </p:cNvPr>
          <p:cNvSpPr txBox="1"/>
          <p:nvPr/>
        </p:nvSpPr>
        <p:spPr>
          <a:xfrm>
            <a:off x="2004300" y="2787146"/>
            <a:ext cx="8183400" cy="196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Early testing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Performance testing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Integrate early and often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Track changes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20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Configuration control</a:t>
            </a: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40766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66;p8">
            <a:extLst>
              <a:ext uri="{FF2B5EF4-FFF2-40B4-BE49-F238E27FC236}">
                <a16:creationId xmlns:a16="http://schemas.microsoft.com/office/drawing/2014/main" id="{8A0ED048-A8C5-5B96-E20A-1DFBCBDB260F}"/>
              </a:ext>
            </a:extLst>
          </p:cNvPr>
          <p:cNvSpPr txBox="1"/>
          <p:nvPr/>
        </p:nvSpPr>
        <p:spPr>
          <a:xfrm>
            <a:off x="3334800" y="162337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CM: Types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67;p8">
            <a:extLst>
              <a:ext uri="{FF2B5EF4-FFF2-40B4-BE49-F238E27FC236}">
                <a16:creationId xmlns:a16="http://schemas.microsoft.com/office/drawing/2014/main" id="{74ED6435-2F5F-3A55-1D09-1AF85F641418}"/>
              </a:ext>
            </a:extLst>
          </p:cNvPr>
          <p:cNvSpPr txBox="1"/>
          <p:nvPr/>
        </p:nvSpPr>
        <p:spPr>
          <a:xfrm>
            <a:off x="2004300" y="2024216"/>
            <a:ext cx="8183400" cy="441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Pull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based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nodes pull the configuration information from the server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 nodes are dynamically updated with the configurations that are present in the server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Examples: Chef and Puppet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Push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based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 c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entralized server pushes the configurations on the nodes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he main server initiates communication, not the nodes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Examples: Ansible and SaltStack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634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74;p9">
            <a:extLst>
              <a:ext uri="{FF2B5EF4-FFF2-40B4-BE49-F238E27FC236}">
                <a16:creationId xmlns:a16="http://schemas.microsoft.com/office/drawing/2014/main" id="{96BAA924-234B-7508-846E-4CB4F82E7261}"/>
              </a:ext>
            </a:extLst>
          </p:cNvPr>
          <p:cNvSpPr txBox="1"/>
          <p:nvPr/>
        </p:nvSpPr>
        <p:spPr>
          <a:xfrm>
            <a:off x="3334800" y="1568144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CM: Types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678;p9">
            <a:extLst>
              <a:ext uri="{FF2B5EF4-FFF2-40B4-BE49-F238E27FC236}">
                <a16:creationId xmlns:a16="http://schemas.microsoft.com/office/drawing/2014/main" id="{813364F1-D96D-EB96-BE0B-18508022EA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75462" y="2344738"/>
            <a:ext cx="8241075" cy="3508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962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83;p10">
            <a:extLst>
              <a:ext uri="{FF2B5EF4-FFF2-40B4-BE49-F238E27FC236}">
                <a16:creationId xmlns:a16="http://schemas.microsoft.com/office/drawing/2014/main" id="{EBB69E6A-8062-238E-A067-F0D3F71E6A89}"/>
              </a:ext>
            </a:extLst>
          </p:cNvPr>
          <p:cNvSpPr txBox="1"/>
          <p:nvPr/>
        </p:nvSpPr>
        <p:spPr>
          <a:xfrm>
            <a:off x="1694046" y="2225666"/>
            <a:ext cx="8803908" cy="405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Infrastructure as Code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entails defining environments, including networks, servers, and other compute resources, as a text file (script or definition) that is checked into version control and used as the base source for creating or updating those environments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Configuration as Code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his approach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involves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defin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ing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the configuration of your servers, code, and other resources as a text file (script or definition) that is checked into version control and used as the base source for creating or updating those configurations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684;p10">
            <a:extLst>
              <a:ext uri="{FF2B5EF4-FFF2-40B4-BE49-F238E27FC236}">
                <a16:creationId xmlns:a16="http://schemas.microsoft.com/office/drawing/2014/main" id="{04D6D461-D8A3-B5A6-D405-62387E728E0B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IaC vs CaC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58469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Ansible: Introduction 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ysClr val="windowText" lastClr="000000"/>
                </a:solidFill>
              </a:rPr>
              <a:t>Ansible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  <p:pic>
        <p:nvPicPr>
          <p:cNvPr id="11" name="Google Shape;694;p11">
            <a:extLst>
              <a:ext uri="{FF2B5EF4-FFF2-40B4-BE49-F238E27FC236}">
                <a16:creationId xmlns:a16="http://schemas.microsoft.com/office/drawing/2014/main" id="{4FDB6E92-E2A6-6259-4021-AB88BCBDDFE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43675" y="3566086"/>
            <a:ext cx="4304650" cy="2792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9474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699;p12">
            <a:extLst>
              <a:ext uri="{FF2B5EF4-FFF2-40B4-BE49-F238E27FC236}">
                <a16:creationId xmlns:a16="http://schemas.microsoft.com/office/drawing/2014/main" id="{471ECA48-2CC4-90B9-43C9-1028A032D313}"/>
              </a:ext>
            </a:extLst>
          </p:cNvPr>
          <p:cNvSpPr txBox="1"/>
          <p:nvPr/>
        </p:nvSpPr>
        <p:spPr>
          <a:xfrm>
            <a:off x="1694046" y="2299697"/>
            <a:ext cx="8803908" cy="394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Ansible is an open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source, radically simple IT automation system. It handles configuration management, application deployment, and ad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hoc task execution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It is popular for its simplicity of installation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It functions by connecting via SSH to clients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Ansible uses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4"/>
                  </a:ext>
                </a:extLst>
              </a:rPr>
              <a:t>playbook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to describe automation jobs, and playbook uses a very simple language, i.e., YAML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01;p12">
            <a:extLst>
              <a:ext uri="{FF2B5EF4-FFF2-40B4-BE49-F238E27FC236}">
                <a16:creationId xmlns:a16="http://schemas.microsoft.com/office/drawing/2014/main" id="{04024638-7323-7F7C-160B-EB6C98A9A160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Ansible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969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08;p13">
            <a:extLst>
              <a:ext uri="{FF2B5EF4-FFF2-40B4-BE49-F238E27FC236}">
                <a16:creationId xmlns:a16="http://schemas.microsoft.com/office/drawing/2014/main" id="{8C5757B6-88C1-82F8-243C-049CE5FB4155}"/>
              </a:ext>
            </a:extLst>
          </p:cNvPr>
          <p:cNvSpPr txBox="1"/>
          <p:nvPr/>
        </p:nvSpPr>
        <p:spPr>
          <a:xfrm>
            <a:off x="2004300" y="2506486"/>
            <a:ext cx="8183400" cy="265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Low learning curve, an easy descriptive language based on YAML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More readable syntax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Uses SSH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and is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inimal in nature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Setup is e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asy 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Architecture includes only clients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09;p13">
            <a:extLst>
              <a:ext uri="{FF2B5EF4-FFF2-40B4-BE49-F238E27FC236}">
                <a16:creationId xmlns:a16="http://schemas.microsoft.com/office/drawing/2014/main" id="{04B6674E-A230-D026-57DA-5BDD82DAA933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Why </a:t>
            </a:r>
            <a:r>
              <a:rPr lang="en" sz="254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nsible?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3803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6;p14">
            <a:extLst>
              <a:ext uri="{FF2B5EF4-FFF2-40B4-BE49-F238E27FC236}">
                <a16:creationId xmlns:a16="http://schemas.microsoft.com/office/drawing/2014/main" id="{2053C38C-91EF-EC37-4B7D-566F9CBC400E}"/>
              </a:ext>
            </a:extLst>
          </p:cNvPr>
          <p:cNvSpPr txBox="1"/>
          <p:nvPr/>
        </p:nvSpPr>
        <p:spPr>
          <a:xfrm>
            <a:off x="3334800" y="1111711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Ansible: </a:t>
            </a:r>
            <a:r>
              <a:rPr lang="en" sz="254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W</a:t>
            </a: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orking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20;p14">
            <a:extLst>
              <a:ext uri="{FF2B5EF4-FFF2-40B4-BE49-F238E27FC236}">
                <a16:creationId xmlns:a16="http://schemas.microsoft.com/office/drawing/2014/main" id="{9C3D4A71-28F6-8ABB-D0ED-0EAA343183B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4291" y="1791862"/>
            <a:ext cx="6503418" cy="4509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7973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25;p15">
            <a:extLst>
              <a:ext uri="{FF2B5EF4-FFF2-40B4-BE49-F238E27FC236}">
                <a16:creationId xmlns:a16="http://schemas.microsoft.com/office/drawing/2014/main" id="{FBCC52A8-C3F5-5573-E7AC-089C388A43DC}"/>
              </a:ext>
            </a:extLst>
          </p:cNvPr>
          <p:cNvSpPr txBox="1"/>
          <p:nvPr/>
        </p:nvSpPr>
        <p:spPr>
          <a:xfrm>
            <a:off x="2004300" y="2148099"/>
            <a:ext cx="8183400" cy="3153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Client details,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such as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hostnames or IP addresses and SSH ports, are stored in files called inventory files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Default inventory file: /etc/ansible/hosts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5"/>
                  </a:ext>
                </a:extLst>
              </a:rPr>
              <a:t>.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You can specify a different inventory file at the command line using the -i &lt;path&gt; option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You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can also place different servers in a group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26;p15">
            <a:extLst>
              <a:ext uri="{FF2B5EF4-FFF2-40B4-BE49-F238E27FC236}">
                <a16:creationId xmlns:a16="http://schemas.microsoft.com/office/drawing/2014/main" id="{4A094E17-6B1F-3DB9-36C5-C8C7590556AA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Inventory</a:t>
            </a:r>
            <a:endParaRPr sz="254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27477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33;p16">
            <a:extLst>
              <a:ext uri="{FF2B5EF4-FFF2-40B4-BE49-F238E27FC236}">
                <a16:creationId xmlns:a16="http://schemas.microsoft.com/office/drawing/2014/main" id="{5443E4AB-EC89-7F17-56CC-6069C6F38967}"/>
              </a:ext>
            </a:extLst>
          </p:cNvPr>
          <p:cNvSpPr txBox="1"/>
          <p:nvPr/>
        </p:nvSpPr>
        <p:spPr>
          <a:xfrm>
            <a:off x="3307720" y="1555637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Inventory</a:t>
            </a:r>
            <a:endParaRPr sz="254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37;p16">
            <a:extLst>
              <a:ext uri="{FF2B5EF4-FFF2-40B4-BE49-F238E27FC236}">
                <a16:creationId xmlns:a16="http://schemas.microsoft.com/office/drawing/2014/main" id="{BC0AC248-A769-77A8-C103-88C1C154DE7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0583" y="2159113"/>
            <a:ext cx="4402217" cy="384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38;p16">
            <a:extLst>
              <a:ext uri="{FF2B5EF4-FFF2-40B4-BE49-F238E27FC236}">
                <a16:creationId xmlns:a16="http://schemas.microsoft.com/office/drawing/2014/main" id="{EE695AA6-8C23-7461-A0B3-4724B7BB18A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02363" y="2159114"/>
            <a:ext cx="4069641" cy="3843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7500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43;p17">
            <a:extLst>
              <a:ext uri="{FF2B5EF4-FFF2-40B4-BE49-F238E27FC236}">
                <a16:creationId xmlns:a16="http://schemas.microsoft.com/office/drawing/2014/main" id="{92297D4A-A78A-3C4C-E76C-F8549E6C42CE}"/>
              </a:ext>
            </a:extLst>
          </p:cNvPr>
          <p:cNvSpPr txBox="1"/>
          <p:nvPr/>
        </p:nvSpPr>
        <p:spPr>
          <a:xfrm>
            <a:off x="3334799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Inventory </a:t>
            </a:r>
            <a:r>
              <a:rPr lang="en" sz="254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P</a:t>
            </a:r>
            <a:r>
              <a:rPr lang="en" sz="254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arameters</a:t>
            </a:r>
            <a:endParaRPr sz="254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46;p17">
            <a:extLst>
              <a:ext uri="{FF2B5EF4-FFF2-40B4-BE49-F238E27FC236}">
                <a16:creationId xmlns:a16="http://schemas.microsoft.com/office/drawing/2014/main" id="{224B4FE2-7E54-9DD4-9A83-827F51C8CE58}"/>
              </a:ext>
            </a:extLst>
          </p:cNvPr>
          <p:cNvSpPr txBox="1"/>
          <p:nvPr/>
        </p:nvSpPr>
        <p:spPr>
          <a:xfrm>
            <a:off x="2004299" y="2122988"/>
            <a:ext cx="8183400" cy="22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ansible_connection - ssh/winrm/localhost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ansible_port - 22/5986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ansible_user - ubuntu/administrator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ansible_password - Password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747;p17">
            <a:extLst>
              <a:ext uri="{FF2B5EF4-FFF2-40B4-BE49-F238E27FC236}">
                <a16:creationId xmlns:a16="http://schemas.microsoft.com/office/drawing/2014/main" id="{555DB838-2713-2125-4ED4-7D6BA22A2E5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04400" y="4357912"/>
            <a:ext cx="8526999" cy="1743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4997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52;p18">
            <a:extLst>
              <a:ext uri="{FF2B5EF4-FFF2-40B4-BE49-F238E27FC236}">
                <a16:creationId xmlns:a16="http://schemas.microsoft.com/office/drawing/2014/main" id="{EB511A43-35B8-6EC8-127D-6976E77BACCD}"/>
              </a:ext>
            </a:extLst>
          </p:cNvPr>
          <p:cNvSpPr txBox="1"/>
          <p:nvPr/>
        </p:nvSpPr>
        <p:spPr>
          <a:xfrm>
            <a:off x="1520280" y="2383170"/>
            <a:ext cx="9151440" cy="35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Ad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hoc commands are commands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that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can be run individually to perform quick functions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Format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&lt;nodegroup&gt; -m &lt;modulename&gt; -a &lt;arguments&gt;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6"/>
                  </a:ext>
                </a:extLst>
              </a:rPr>
              <a:t>ansible all -m ping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7"/>
                </a:ext>
              </a:extLst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8"/>
                  </a:ext>
                </a:extLst>
              </a:rPr>
              <a:t>ansible webserver -m ping -i custom-inventory-file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53;p18">
            <a:extLst>
              <a:ext uri="{FF2B5EF4-FFF2-40B4-BE49-F238E27FC236}">
                <a16:creationId xmlns:a16="http://schemas.microsoft.com/office/drawing/2014/main" id="{299723FB-2947-64DC-967E-84CADEC1B171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Ad hoc Commands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172333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61;p19">
            <a:extLst>
              <a:ext uri="{FF2B5EF4-FFF2-40B4-BE49-F238E27FC236}">
                <a16:creationId xmlns:a16="http://schemas.microsoft.com/office/drawing/2014/main" id="{543DFD06-C855-888C-7DCB-9D9126F53679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Ad</a:t>
            </a:r>
            <a:r>
              <a:rPr lang="en" sz="254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H</a:t>
            </a: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oc Commands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62;p19">
            <a:extLst>
              <a:ext uri="{FF2B5EF4-FFF2-40B4-BE49-F238E27FC236}">
                <a16:creationId xmlns:a16="http://schemas.microsoft.com/office/drawing/2014/main" id="{6C15ED6B-968C-E650-AD42-E212DEB06419}"/>
              </a:ext>
            </a:extLst>
          </p:cNvPr>
          <p:cNvSpPr txBox="1"/>
          <p:nvPr/>
        </p:nvSpPr>
        <p:spPr>
          <a:xfrm>
            <a:off x="2509500" y="2225666"/>
            <a:ext cx="7173000" cy="417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all -m copy -a "src=/etc/hosts dest=/tmp/hosts"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Copy file from the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nsible server to nodes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webservers -m file -a "dest=/srv/foo/a.txt mode=600"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Changing the permission of a file on all nodes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webservers -m service -a "name=httpd state=started"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Ensure a service is started on all web servers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all -m setup 										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To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view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all the facts about a system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627177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4;p24">
            <a:extLst>
              <a:ext uri="{FF2B5EF4-FFF2-40B4-BE49-F238E27FC236}">
                <a16:creationId xmlns:a16="http://schemas.microsoft.com/office/drawing/2014/main" id="{6451FFC7-3475-BAFD-33EE-05CDE53F916B}"/>
              </a:ext>
            </a:extLst>
          </p:cNvPr>
          <p:cNvSpPr txBox="1"/>
          <p:nvPr/>
        </p:nvSpPr>
        <p:spPr>
          <a:xfrm>
            <a:off x="2365974" y="2904751"/>
            <a:ext cx="7460049" cy="18466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Installing Ansible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Default inventory file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Custom inventory file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Running ad hoc commands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06;p24">
            <a:extLst>
              <a:ext uri="{FF2B5EF4-FFF2-40B4-BE49-F238E27FC236}">
                <a16:creationId xmlns:a16="http://schemas.microsoft.com/office/drawing/2014/main" id="{D6A07EEE-D998-4075-06C9-1D2C19522853}"/>
              </a:ext>
            </a:extLst>
          </p:cNvPr>
          <p:cNvSpPr txBox="1"/>
          <p:nvPr/>
        </p:nvSpPr>
        <p:spPr>
          <a:xfrm>
            <a:off x="3796649" y="2149197"/>
            <a:ext cx="459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emo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1: </a:t>
            </a:r>
            <a:r>
              <a:rPr lang="en-I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Getting Started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929449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77;p21">
            <a:extLst>
              <a:ext uri="{FF2B5EF4-FFF2-40B4-BE49-F238E27FC236}">
                <a16:creationId xmlns:a16="http://schemas.microsoft.com/office/drawing/2014/main" id="{C2DF7D4A-FA8D-0C4C-5417-5E9ABC1CB18B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Playbooks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80;p21">
            <a:extLst>
              <a:ext uri="{FF2B5EF4-FFF2-40B4-BE49-F238E27FC236}">
                <a16:creationId xmlns:a16="http://schemas.microsoft.com/office/drawing/2014/main" id="{90162229-7762-20FA-0927-C32052C7C4B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94117" y="3518705"/>
            <a:ext cx="2615619" cy="2852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81;p21">
            <a:extLst>
              <a:ext uri="{FF2B5EF4-FFF2-40B4-BE49-F238E27FC236}">
                <a16:creationId xmlns:a16="http://schemas.microsoft.com/office/drawing/2014/main" id="{A934CF56-E0A3-3E01-6A92-457FF7147B50}"/>
              </a:ext>
            </a:extLst>
          </p:cNvPr>
          <p:cNvSpPr txBox="1"/>
          <p:nvPr/>
        </p:nvSpPr>
        <p:spPr>
          <a:xfrm>
            <a:off x="2004300" y="1756950"/>
            <a:ext cx="8183400" cy="1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Playbooks are files 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 which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Ansible code is written. Playbooks are written in the YAML format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n playbooks, we define what we want </a:t>
            </a: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nsible to do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" name="Google Shape;782;p21">
            <a:extLst>
              <a:ext uri="{FF2B5EF4-FFF2-40B4-BE49-F238E27FC236}">
                <a16:creationId xmlns:a16="http://schemas.microsoft.com/office/drawing/2014/main" id="{CB0A5337-6152-8B7C-1263-43A82C2F5AC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35210" y="3517171"/>
            <a:ext cx="3485972" cy="28527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9087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87;p22">
            <a:extLst>
              <a:ext uri="{FF2B5EF4-FFF2-40B4-BE49-F238E27FC236}">
                <a16:creationId xmlns:a16="http://schemas.microsoft.com/office/drawing/2014/main" id="{A298B153-A616-6928-12F8-E9B42655B74A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Playbooks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88;p22">
            <a:extLst>
              <a:ext uri="{FF2B5EF4-FFF2-40B4-BE49-F238E27FC236}">
                <a16:creationId xmlns:a16="http://schemas.microsoft.com/office/drawing/2014/main" id="{E0FECEFC-126E-40A4-0B1E-1949B1042B18}"/>
              </a:ext>
            </a:extLst>
          </p:cNvPr>
          <p:cNvSpPr txBox="1"/>
          <p:nvPr/>
        </p:nvSpPr>
        <p:spPr>
          <a:xfrm>
            <a:off x="2439437" y="2225666"/>
            <a:ext cx="7313126" cy="347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Play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Defines a set of activities (tasks) to be run on hosts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Task: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n action to be performed on the host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19"/>
                  </a:ext>
                </a:extLst>
              </a:rPr>
              <a:t>Execute a command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0"/>
                </a:ext>
              </a:extLst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1"/>
                  </a:ext>
                </a:extLst>
              </a:rPr>
              <a:t>Run a script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2"/>
                </a:ext>
              </a:extLst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3"/>
                  </a:ext>
                </a:extLst>
              </a:rPr>
              <a:t>Install a package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4"/>
                </a:ext>
              </a:extLst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5"/>
                  </a:ext>
                </a:extLst>
              </a:rPr>
              <a:t>Shut down/Restart 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Run: ansible-playbook &lt;playbook file name&gt;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030757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95;p23">
            <a:extLst>
              <a:ext uri="{FF2B5EF4-FFF2-40B4-BE49-F238E27FC236}">
                <a16:creationId xmlns:a16="http://schemas.microsoft.com/office/drawing/2014/main" id="{6CE09063-122D-C42E-126C-F90587D7398A}"/>
              </a:ext>
            </a:extLst>
          </p:cNvPr>
          <p:cNvSpPr txBox="1"/>
          <p:nvPr/>
        </p:nvSpPr>
        <p:spPr>
          <a:xfrm>
            <a:off x="3334800" y="1480684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Playbook: Example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799;p23">
            <a:extLst>
              <a:ext uri="{FF2B5EF4-FFF2-40B4-BE49-F238E27FC236}">
                <a16:creationId xmlns:a16="http://schemas.microsoft.com/office/drawing/2014/main" id="{2793442A-D85E-5296-B08B-941D6CABE9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2333" y="2061250"/>
            <a:ext cx="4567334" cy="466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6289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4;p24">
            <a:extLst>
              <a:ext uri="{FF2B5EF4-FFF2-40B4-BE49-F238E27FC236}">
                <a16:creationId xmlns:a16="http://schemas.microsoft.com/office/drawing/2014/main" id="{A2EF1BDE-296C-DD41-C64F-861C42BCAA0F}"/>
              </a:ext>
            </a:extLst>
          </p:cNvPr>
          <p:cNvSpPr txBox="1"/>
          <p:nvPr/>
        </p:nvSpPr>
        <p:spPr>
          <a:xfrm>
            <a:off x="2004300" y="2424081"/>
            <a:ext cx="8183400" cy="346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modules are discrete units of code </a:t>
            </a: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that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can be used from the command line or in a playbook task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They are a</a:t>
            </a: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lso referred to as “task plugins” or “library plugins”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You can execute modules from the command line: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webservers -m service -a "name=httpd state=started"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webservers -m ping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webservers -m command -a "/sbin/reboot -t now"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05;p24">
            <a:extLst>
              <a:ext uri="{FF2B5EF4-FFF2-40B4-BE49-F238E27FC236}">
                <a16:creationId xmlns:a16="http://schemas.microsoft.com/office/drawing/2014/main" id="{2964B1E1-EEA0-7A4A-A120-8E5E01756ED5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Modules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397018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12;p25">
            <a:extLst>
              <a:ext uri="{FF2B5EF4-FFF2-40B4-BE49-F238E27FC236}">
                <a16:creationId xmlns:a16="http://schemas.microsoft.com/office/drawing/2014/main" id="{5F684F41-D50E-CEA8-8D2D-2DC480DDDE20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Modules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15;p25">
            <a:extLst>
              <a:ext uri="{FF2B5EF4-FFF2-40B4-BE49-F238E27FC236}">
                <a16:creationId xmlns:a16="http://schemas.microsoft.com/office/drawing/2014/main" id="{526831ED-C17D-5B12-B055-64D43DEAFA7E}"/>
              </a:ext>
            </a:extLst>
          </p:cNvPr>
          <p:cNvSpPr txBox="1"/>
          <p:nvPr/>
        </p:nvSpPr>
        <p:spPr>
          <a:xfrm>
            <a:off x="3733158" y="2286921"/>
            <a:ext cx="4725684" cy="347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system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commands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files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database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cloud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windows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more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070949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4;p24">
            <a:extLst>
              <a:ext uri="{FF2B5EF4-FFF2-40B4-BE49-F238E27FC236}">
                <a16:creationId xmlns:a16="http://schemas.microsoft.com/office/drawing/2014/main" id="{6451FFC7-3475-BAFD-33EE-05CDE53F916B}"/>
              </a:ext>
            </a:extLst>
          </p:cNvPr>
          <p:cNvSpPr txBox="1"/>
          <p:nvPr/>
        </p:nvSpPr>
        <p:spPr>
          <a:xfrm>
            <a:off x="2365975" y="2895607"/>
            <a:ext cx="7460049" cy="18466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Writing the first playbook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Defining tasks: Install and reload nginx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Executing playbooks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Define script, command, copy module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06;p24">
            <a:extLst>
              <a:ext uri="{FF2B5EF4-FFF2-40B4-BE49-F238E27FC236}">
                <a16:creationId xmlns:a16="http://schemas.microsoft.com/office/drawing/2014/main" id="{D6A07EEE-D998-4075-06C9-1D2C19522853}"/>
              </a:ext>
            </a:extLst>
          </p:cNvPr>
          <p:cNvSpPr txBox="1"/>
          <p:nvPr/>
        </p:nvSpPr>
        <p:spPr>
          <a:xfrm>
            <a:off x="3796649" y="2149197"/>
            <a:ext cx="459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emo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2: </a:t>
            </a:r>
            <a:r>
              <a:rPr lang="en-I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Playbooks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632975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27;p27">
            <a:extLst>
              <a:ext uri="{FF2B5EF4-FFF2-40B4-BE49-F238E27FC236}">
                <a16:creationId xmlns:a16="http://schemas.microsoft.com/office/drawing/2014/main" id="{CB796D4D-E47D-BF5A-8861-C1B8E03F34F8}"/>
              </a:ext>
            </a:extLst>
          </p:cNvPr>
          <p:cNvSpPr txBox="1"/>
          <p:nvPr/>
        </p:nvSpPr>
        <p:spPr>
          <a:xfrm>
            <a:off x="2004300" y="2221110"/>
            <a:ext cx="8183400" cy="1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H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elp you use and assign a value to a variable and use that anywhere in the playbook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Store information that varies with each host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28;p27">
            <a:extLst>
              <a:ext uri="{FF2B5EF4-FFF2-40B4-BE49-F238E27FC236}">
                <a16:creationId xmlns:a16="http://schemas.microsoft.com/office/drawing/2014/main" id="{3947434B-B181-3697-274C-126D144900E2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Variables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832;p27">
            <a:extLst>
              <a:ext uri="{FF2B5EF4-FFF2-40B4-BE49-F238E27FC236}">
                <a16:creationId xmlns:a16="http://schemas.microsoft.com/office/drawing/2014/main" id="{8A116E7F-791B-170C-39AC-7FFC0BEF358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64112" y="3763964"/>
            <a:ext cx="5263775" cy="2777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2043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37;p28">
            <a:extLst>
              <a:ext uri="{FF2B5EF4-FFF2-40B4-BE49-F238E27FC236}">
                <a16:creationId xmlns:a16="http://schemas.microsoft.com/office/drawing/2014/main" id="{EB21BCAB-4D1C-158D-AA9E-F77D7A7BB4E1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Variables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841;p28">
            <a:extLst>
              <a:ext uri="{FF2B5EF4-FFF2-40B4-BE49-F238E27FC236}">
                <a16:creationId xmlns:a16="http://schemas.microsoft.com/office/drawing/2014/main" id="{65D03ADD-EE71-7F61-8394-75BE7281DB5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2057683"/>
            <a:ext cx="10058400" cy="46235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476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46;p29">
            <a:extLst>
              <a:ext uri="{FF2B5EF4-FFF2-40B4-BE49-F238E27FC236}">
                <a16:creationId xmlns:a16="http://schemas.microsoft.com/office/drawing/2014/main" id="{B9F6CBD9-7577-6C0C-EE62-0B82F2C1F519}"/>
              </a:ext>
            </a:extLst>
          </p:cNvPr>
          <p:cNvSpPr txBox="1"/>
          <p:nvPr/>
        </p:nvSpPr>
        <p:spPr>
          <a:xfrm>
            <a:off x="3334799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Condition</a:t>
            </a:r>
            <a:endParaRPr sz="2540" b="0" i="0" u="none" strike="noStrike" cap="none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49;p29">
            <a:extLst>
              <a:ext uri="{FF2B5EF4-FFF2-40B4-BE49-F238E27FC236}">
                <a16:creationId xmlns:a16="http://schemas.microsoft.com/office/drawing/2014/main" id="{9604DB84-DFD3-6944-0305-CAEEC03BF905}"/>
              </a:ext>
            </a:extLst>
          </p:cNvPr>
          <p:cNvSpPr txBox="1"/>
          <p:nvPr/>
        </p:nvSpPr>
        <p:spPr>
          <a:xfrm>
            <a:off x="2004299" y="2093737"/>
            <a:ext cx="8183400" cy="1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To execute different tasks, or have different goals, depending on the value of a fact (data about the remote system), a variable, or the result of a previous 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27"/>
                  </a:ext>
                </a:extLst>
              </a:rPr>
              <a:t>tas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Ansible uses Jinja2 tests and filters in conditionals 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851;p29">
            <a:extLst>
              <a:ext uri="{FF2B5EF4-FFF2-40B4-BE49-F238E27FC236}">
                <a16:creationId xmlns:a16="http://schemas.microsoft.com/office/drawing/2014/main" id="{898F78DF-24FF-38CF-3242-8709B19861D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15854" y="3714194"/>
            <a:ext cx="5160291" cy="3106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01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56;p30">
            <a:extLst>
              <a:ext uri="{FF2B5EF4-FFF2-40B4-BE49-F238E27FC236}">
                <a16:creationId xmlns:a16="http://schemas.microsoft.com/office/drawing/2014/main" id="{64CFC430-D6DD-9E38-78F2-DE8F9147E188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Condition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861;p30">
            <a:extLst>
              <a:ext uri="{FF2B5EF4-FFF2-40B4-BE49-F238E27FC236}">
                <a16:creationId xmlns:a16="http://schemas.microsoft.com/office/drawing/2014/main" id="{18FCCA86-7BC8-14EE-B3C9-1894035C5F5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6304" y="2233523"/>
            <a:ext cx="9019391" cy="4271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2576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4;p24">
            <a:extLst>
              <a:ext uri="{FF2B5EF4-FFF2-40B4-BE49-F238E27FC236}">
                <a16:creationId xmlns:a16="http://schemas.microsoft.com/office/drawing/2014/main" id="{6451FFC7-3475-BAFD-33EE-05CDE53F916B}"/>
              </a:ext>
            </a:extLst>
          </p:cNvPr>
          <p:cNvSpPr txBox="1"/>
          <p:nvPr/>
        </p:nvSpPr>
        <p:spPr>
          <a:xfrm>
            <a:off x="2365975" y="2895607"/>
            <a:ext cx="7460049" cy="1431131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Use of variables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Condition use to install nginx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Loo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ps usage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06;p24">
            <a:extLst>
              <a:ext uri="{FF2B5EF4-FFF2-40B4-BE49-F238E27FC236}">
                <a16:creationId xmlns:a16="http://schemas.microsoft.com/office/drawing/2014/main" id="{D6A07EEE-D998-4075-06C9-1D2C19522853}"/>
              </a:ext>
            </a:extLst>
          </p:cNvPr>
          <p:cNvSpPr txBox="1"/>
          <p:nvPr/>
        </p:nvSpPr>
        <p:spPr>
          <a:xfrm>
            <a:off x="2494207" y="1704395"/>
            <a:ext cx="7203583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emo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3: </a:t>
            </a:r>
            <a:r>
              <a:rPr lang="en-I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Variables, Condition, and Loops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260069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73;p32">
            <a:extLst>
              <a:ext uri="{FF2B5EF4-FFF2-40B4-BE49-F238E27FC236}">
                <a16:creationId xmlns:a16="http://schemas.microsoft.com/office/drawing/2014/main" id="{058D53D6-63FA-635E-539C-44C9C9917C06}"/>
              </a:ext>
            </a:extLst>
          </p:cNvPr>
          <p:cNvSpPr txBox="1"/>
          <p:nvPr/>
        </p:nvSpPr>
        <p:spPr>
          <a:xfrm>
            <a:off x="1218558" y="2329948"/>
            <a:ext cx="9754884" cy="322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Roles provide a framework for fully independent or interdependent collections of variables, tasks, files, templates, and modules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The 	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role is an independent component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that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allows the reuse of common configuration steps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Roles let you automatically load related vars_files, tasks, handlers, and other Ansible artifacts based on a known file structure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Roles are defined using YAML files with a predefined directory structure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75;p32">
            <a:extLst>
              <a:ext uri="{FF2B5EF4-FFF2-40B4-BE49-F238E27FC236}">
                <a16:creationId xmlns:a16="http://schemas.microsoft.com/office/drawing/2014/main" id="{065E9526-FD2A-3A0A-0802-A4BC94BD6982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Roles</a:t>
            </a:r>
            <a:endParaRPr sz="2540" b="0" i="0" u="none" strike="noStrike" cap="none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699654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83;p33">
            <a:extLst>
              <a:ext uri="{FF2B5EF4-FFF2-40B4-BE49-F238E27FC236}">
                <a16:creationId xmlns:a16="http://schemas.microsoft.com/office/drawing/2014/main" id="{F8C0B9F5-20F4-536D-3471-1AD41DBFCBE1}"/>
              </a:ext>
            </a:extLst>
          </p:cNvPr>
          <p:cNvSpPr txBox="1"/>
          <p:nvPr/>
        </p:nvSpPr>
        <p:spPr>
          <a:xfrm>
            <a:off x="3266174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 </a:t>
            </a: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540" b="0" i="0" u="none" strike="noStrike" cap="none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irectory </a:t>
            </a: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" sz="2540" b="0" i="0" u="none" strike="noStrike" cap="none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tructure</a:t>
            </a:r>
            <a:endParaRPr sz="2540" b="0" i="0" u="none" strike="noStrike" cap="none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887;p33">
            <a:extLst>
              <a:ext uri="{FF2B5EF4-FFF2-40B4-BE49-F238E27FC236}">
                <a16:creationId xmlns:a16="http://schemas.microsoft.com/office/drawing/2014/main" id="{5DF77607-A45D-0A30-8706-1FC65CAF67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64136" y="2164281"/>
            <a:ext cx="5463728" cy="43767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3225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93;p34">
            <a:extLst>
              <a:ext uri="{FF2B5EF4-FFF2-40B4-BE49-F238E27FC236}">
                <a16:creationId xmlns:a16="http://schemas.microsoft.com/office/drawing/2014/main" id="{3890240B-2EB7-4EED-47AA-289B7F19E068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 </a:t>
            </a: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irectory </a:t>
            </a: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tructure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96;p34">
            <a:extLst>
              <a:ext uri="{FF2B5EF4-FFF2-40B4-BE49-F238E27FC236}">
                <a16:creationId xmlns:a16="http://schemas.microsoft.com/office/drawing/2014/main" id="{5611F7AC-200C-496E-D4DD-27FC7C20D6BB}"/>
              </a:ext>
            </a:extLst>
          </p:cNvPr>
          <p:cNvSpPr txBox="1"/>
          <p:nvPr/>
        </p:nvSpPr>
        <p:spPr>
          <a:xfrm>
            <a:off x="2004300" y="2362200"/>
            <a:ext cx="8183400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 role directory structure contains the 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9"/>
                  </a:ext>
                </a:extLst>
              </a:rPr>
              <a:t>directories defaults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, vars, tasks, files, templates, meta, and handlers. Each directory must contain a main.yml file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AutoNum type="arabicPeriod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defaults: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ontains default variables for the role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;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ariables in default have the lowest priority.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o, they are easy to override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AutoNum type="arabicPeriod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vars: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ontains variables for the role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;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ariables in vars have higher priority than variables in the defaults directory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AutoNum type="arabicPeriod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tasks: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ontains the main list of the steps to be executed by the role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AutoNum type="arabicPeriod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files: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ontains files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that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we want to be copied to the remote host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;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w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e do n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o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 need to specify a path of resources stored in this directory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7984179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2" name="Google Shape;901;p35">
            <a:extLst>
              <a:ext uri="{FF2B5EF4-FFF2-40B4-BE49-F238E27FC236}">
                <a16:creationId xmlns:a16="http://schemas.microsoft.com/office/drawing/2014/main" id="{95C691F4-7D2A-D897-46FC-CF503EB52005}"/>
              </a:ext>
            </a:extLst>
          </p:cNvPr>
          <p:cNvSpPr txBox="1"/>
          <p:nvPr/>
        </p:nvSpPr>
        <p:spPr>
          <a:xfrm>
            <a:off x="2004300" y="2628394"/>
            <a:ext cx="8183400" cy="2327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rabicPeriod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templates: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ontains a file template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that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supports modifications from the role. We use the Jinja2 templating language for creating templates</a:t>
            </a: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rabicPeriod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meta: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ontains the metadata of 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0"/>
                  </a:ext>
                </a:extLst>
              </a:rPr>
              <a:t>role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such as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an author, support platforms, and dependencies</a:t>
            </a:r>
            <a:endParaRPr sz="1800" b="0" i="0" u="none" strike="noStrike" cap="none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AutoNum type="arabicPeriod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handlers: </a:t>
            </a:r>
            <a:r>
              <a:rPr lang="en" sz="1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ontains handlers that can be invoked by “notify” directives and are associated with 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1"/>
                  </a:ext>
                </a:extLst>
              </a:rPr>
              <a:t>service</a:t>
            </a: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Google Shape;903;p35">
            <a:extLst>
              <a:ext uri="{FF2B5EF4-FFF2-40B4-BE49-F238E27FC236}">
                <a16:creationId xmlns:a16="http://schemas.microsoft.com/office/drawing/2014/main" id="{09136F15-844D-0499-EC54-E1EA973C73B1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 </a:t>
            </a: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irectory </a:t>
            </a: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tructure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345305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10;p36">
            <a:extLst>
              <a:ext uri="{FF2B5EF4-FFF2-40B4-BE49-F238E27FC236}">
                <a16:creationId xmlns:a16="http://schemas.microsoft.com/office/drawing/2014/main" id="{462439C8-00C7-D03D-98C2-410E44DC6B93}"/>
              </a:ext>
            </a:extLst>
          </p:cNvPr>
          <p:cNvSpPr txBox="1"/>
          <p:nvPr/>
        </p:nvSpPr>
        <p:spPr>
          <a:xfrm>
            <a:off x="2004300" y="2348910"/>
            <a:ext cx="8183400" cy="28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By default, Ansible looks for roles in two locations: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in a directory called roles/ relative to the playbook file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in /etc/ansible/roles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Alternatively, you can call a role with a fully qualified path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912;p36">
            <a:extLst>
              <a:ext uri="{FF2B5EF4-FFF2-40B4-BE49-F238E27FC236}">
                <a16:creationId xmlns:a16="http://schemas.microsoft.com/office/drawing/2014/main" id="{836CA090-A222-91BD-1890-C9E73F44AB53}"/>
              </a:ext>
            </a:extLst>
          </p:cNvPr>
          <p:cNvSpPr txBox="1"/>
          <p:nvPr/>
        </p:nvSpPr>
        <p:spPr>
          <a:xfrm>
            <a:off x="3334800" y="1667150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Role </a:t>
            </a:r>
            <a:r>
              <a:rPr lang="en" sz="254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en" sz="2540" b="0" i="0" u="none" strike="noStrike" cap="none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sage</a:t>
            </a:r>
            <a:endParaRPr sz="2540" b="0" i="0" u="none" strike="noStrike" cap="none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915;p36">
            <a:extLst>
              <a:ext uri="{FF2B5EF4-FFF2-40B4-BE49-F238E27FC236}">
                <a16:creationId xmlns:a16="http://schemas.microsoft.com/office/drawing/2014/main" id="{E08D6E4F-7BD6-DE3F-9A55-B54044747A0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50436" y="3781110"/>
            <a:ext cx="6226413" cy="1173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3881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20;p37">
            <a:extLst>
              <a:ext uri="{FF2B5EF4-FFF2-40B4-BE49-F238E27FC236}">
                <a16:creationId xmlns:a16="http://schemas.microsoft.com/office/drawing/2014/main" id="{FCBD568F-43C1-51AB-9FF6-088D5A8DA07A}"/>
              </a:ext>
            </a:extLst>
          </p:cNvPr>
          <p:cNvSpPr txBox="1"/>
          <p:nvPr/>
        </p:nvSpPr>
        <p:spPr>
          <a:xfrm>
            <a:off x="2004300" y="2348236"/>
            <a:ext cx="8183400" cy="3037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It is a free site for finding, downloading, rating, and reviewing all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types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of community-developed Ansible roles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The client </a:t>
            </a:r>
            <a:r>
              <a:rPr lang="en" sz="1800" b="1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ansible-galaxy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is included in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nsible 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It provides an excellent default framework for creating your own roles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Usage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ansible-galaxy [delete|import|info|init|install|list|login|remove|search|setup] [--help] [options] ... 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922;p37">
            <a:extLst>
              <a:ext uri="{FF2B5EF4-FFF2-40B4-BE49-F238E27FC236}">
                <a16:creationId xmlns:a16="http://schemas.microsoft.com/office/drawing/2014/main" id="{F1764480-1939-E3A9-ADA4-314603C3F8B8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Galaxy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499845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4;p24">
            <a:extLst>
              <a:ext uri="{FF2B5EF4-FFF2-40B4-BE49-F238E27FC236}">
                <a16:creationId xmlns:a16="http://schemas.microsoft.com/office/drawing/2014/main" id="{6451FFC7-3475-BAFD-33EE-05CDE53F916B}"/>
              </a:ext>
            </a:extLst>
          </p:cNvPr>
          <p:cNvSpPr txBox="1"/>
          <p:nvPr/>
        </p:nvSpPr>
        <p:spPr>
          <a:xfrm>
            <a:off x="2365975" y="2895607"/>
            <a:ext cx="7460049" cy="1431131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Role folder structure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Ansible galaxy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Creating and using roles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06;p24">
            <a:extLst>
              <a:ext uri="{FF2B5EF4-FFF2-40B4-BE49-F238E27FC236}">
                <a16:creationId xmlns:a16="http://schemas.microsoft.com/office/drawing/2014/main" id="{D6A07EEE-D998-4075-06C9-1D2C19522853}"/>
              </a:ext>
            </a:extLst>
          </p:cNvPr>
          <p:cNvSpPr txBox="1"/>
          <p:nvPr/>
        </p:nvSpPr>
        <p:spPr>
          <a:xfrm>
            <a:off x="2494207" y="1704395"/>
            <a:ext cx="7203583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emo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en-I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Ansible Roles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236582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3" name="Google Shape;936;p39">
            <a:extLst>
              <a:ext uri="{FF2B5EF4-FFF2-40B4-BE49-F238E27FC236}">
                <a16:creationId xmlns:a16="http://schemas.microsoft.com/office/drawing/2014/main" id="{DEA7DC5F-085E-EF7E-20C1-9BBB8A3FBF3C}"/>
              </a:ext>
            </a:extLst>
          </p:cNvPr>
          <p:cNvSpPr txBox="1"/>
          <p:nvPr/>
        </p:nvSpPr>
        <p:spPr>
          <a:xfrm>
            <a:off x="1620894" y="2172637"/>
            <a:ext cx="8950212" cy="341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Keeping tabs on the hosts defined in the inventory file becomes challeng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ing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in cloud environments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 dynamic inventory is a script written in Python, PHP, or any other programming language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Advantages of a dynamic inventory over a static inventory: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Dynamic inventories do a perfect job of reducing human error, as information is gathered using scripts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Minimal effort is required in managing inventories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" name="Google Shape;938;p39">
            <a:extLst>
              <a:ext uri="{FF2B5EF4-FFF2-40B4-BE49-F238E27FC236}">
                <a16:creationId xmlns:a16="http://schemas.microsoft.com/office/drawing/2014/main" id="{9BFEEEFB-C669-99BB-2619-C97E02CC0AAB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Dynamic Inventory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618652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46;p40">
            <a:extLst>
              <a:ext uri="{FF2B5EF4-FFF2-40B4-BE49-F238E27FC236}">
                <a16:creationId xmlns:a16="http://schemas.microsoft.com/office/drawing/2014/main" id="{99646DD5-67DE-31BF-7D16-A8D9079ED7AC}"/>
              </a:ext>
            </a:extLst>
          </p:cNvPr>
          <p:cNvSpPr txBox="1"/>
          <p:nvPr/>
        </p:nvSpPr>
        <p:spPr>
          <a:xfrm>
            <a:off x="3334799" y="138896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Dynamic Inventory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950;p40">
            <a:extLst>
              <a:ext uri="{FF2B5EF4-FFF2-40B4-BE49-F238E27FC236}">
                <a16:creationId xmlns:a16="http://schemas.microsoft.com/office/drawing/2014/main" id="{546EA1E9-B188-1F82-9589-C56E308F868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2012523"/>
            <a:ext cx="10058399" cy="466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8598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55;p41">
            <a:extLst>
              <a:ext uri="{FF2B5EF4-FFF2-40B4-BE49-F238E27FC236}">
                <a16:creationId xmlns:a16="http://schemas.microsoft.com/office/drawing/2014/main" id="{C2FEFD3E-8FCF-EEED-B72C-13C8669F89B7}"/>
              </a:ext>
            </a:extLst>
          </p:cNvPr>
          <p:cNvSpPr txBox="1"/>
          <p:nvPr/>
        </p:nvSpPr>
        <p:spPr>
          <a:xfrm>
            <a:off x="1420814" y="2396158"/>
            <a:ext cx="9350371" cy="3351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Pre-requisites: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Boto must be installed on the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nsible server to make AWS API Calls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marR="0" lvl="2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■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sudo yum install python-pip python-wheel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marR="0" lvl="2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■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pip install boto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servers should be able to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carry out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SSH on nodes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3716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sng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Setting up EC2 External Inventory Script With Ansible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sng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https://docs.ansible.com/ansible/latest/collections/amazon/aws/aws_ec2_inventory.html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957;p41">
            <a:extLst>
              <a:ext uri="{FF2B5EF4-FFF2-40B4-BE49-F238E27FC236}">
                <a16:creationId xmlns:a16="http://schemas.microsoft.com/office/drawing/2014/main" id="{E5C9B426-76F5-FCD0-3AB2-4F0A2433B2AC}"/>
              </a:ext>
            </a:extLst>
          </p:cNvPr>
          <p:cNvSpPr txBox="1"/>
          <p:nvPr/>
        </p:nvSpPr>
        <p:spPr>
          <a:xfrm>
            <a:off x="3334800" y="138896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Dynamic Inventory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086292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64;p42">
            <a:extLst>
              <a:ext uri="{FF2B5EF4-FFF2-40B4-BE49-F238E27FC236}">
                <a16:creationId xmlns:a16="http://schemas.microsoft.com/office/drawing/2014/main" id="{335DDEF1-9B56-09CD-8FE2-F84EB229F75B}"/>
              </a:ext>
            </a:extLst>
          </p:cNvPr>
          <p:cNvSpPr txBox="1"/>
          <p:nvPr/>
        </p:nvSpPr>
        <p:spPr>
          <a:xfrm>
            <a:off x="2004300" y="2306095"/>
            <a:ext cx="8183400" cy="405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2"/>
                  </a:ext>
                </a:extLst>
              </a:rPr>
              <a:t>It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3"/>
                  </a:ext>
                </a:extLst>
              </a:rPr>
              <a:t> is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4"/>
                  </a:ext>
                </a:extLst>
              </a:rPr>
              <a:t> for optimizing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5"/>
                  </a:ext>
                </a:extLst>
              </a:rPr>
              <a:t>getting some more speed out of the setup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Disable fact gathering in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nsible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gather_facts: no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Limit execution by hosts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Limit execution by tasks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failed_when and changed_when Statements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966;p42">
            <a:extLst>
              <a:ext uri="{FF2B5EF4-FFF2-40B4-BE49-F238E27FC236}">
                <a16:creationId xmlns:a16="http://schemas.microsoft.com/office/drawing/2014/main" id="{F9C8D6A9-5667-3B23-15FC-5ED82FB083EC}"/>
              </a:ext>
            </a:extLst>
          </p:cNvPr>
          <p:cNvSpPr txBox="1"/>
          <p:nvPr/>
        </p:nvSpPr>
        <p:spPr>
          <a:xfrm>
            <a:off x="3334800" y="1490861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Advanced </a:t>
            </a: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E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xecution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969;p42">
            <a:extLst>
              <a:ext uri="{FF2B5EF4-FFF2-40B4-BE49-F238E27FC236}">
                <a16:creationId xmlns:a16="http://schemas.microsoft.com/office/drawing/2014/main" id="{E6CC804D-F510-A784-F4AF-7F689CAED1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42300" y="3575304"/>
            <a:ext cx="3625215" cy="1173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5682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974;p43">
            <a:extLst>
              <a:ext uri="{FF2B5EF4-FFF2-40B4-BE49-F238E27FC236}">
                <a16:creationId xmlns:a16="http://schemas.microsoft.com/office/drawing/2014/main" id="{CFC50F56-7B7C-5164-26C1-D8946097B63D}"/>
              </a:ext>
            </a:extLst>
          </p:cNvPr>
          <p:cNvSpPr txBox="1"/>
          <p:nvPr/>
        </p:nvSpPr>
        <p:spPr>
          <a:xfrm>
            <a:off x="1543170" y="2320804"/>
            <a:ext cx="9105660" cy="3705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uses 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6"/>
                  </a:ext>
                </a:extLst>
              </a:rPr>
              <a:t>forks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to execute tasks in parallel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Each fork 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can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run a task against a target host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By default, Ansible runs the same task in 5 hosts in parallel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This configuration can be changed: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Using the “forks” parameter definition in the ansible.cfg file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76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By informing it in the command line (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e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.g., ansible-playbook myplaybook.yml --forks=10)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977;p43">
            <a:extLst>
              <a:ext uri="{FF2B5EF4-FFF2-40B4-BE49-F238E27FC236}">
                <a16:creationId xmlns:a16="http://schemas.microsoft.com/office/drawing/2014/main" id="{02679EAF-4360-E05C-6CE1-D6102BBD98A2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unning </a:t>
            </a: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asks in </a:t>
            </a:r>
            <a:r>
              <a:rPr lang="en" sz="254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P</a:t>
            </a: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arallel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43646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4;p24">
            <a:extLst>
              <a:ext uri="{FF2B5EF4-FFF2-40B4-BE49-F238E27FC236}">
                <a16:creationId xmlns:a16="http://schemas.microsoft.com/office/drawing/2014/main" id="{6451FFC7-3475-BAFD-33EE-05CDE53F916B}"/>
              </a:ext>
            </a:extLst>
          </p:cNvPr>
          <p:cNvSpPr txBox="1"/>
          <p:nvPr/>
        </p:nvSpPr>
        <p:spPr>
          <a:xfrm>
            <a:off x="2365975" y="2895607"/>
            <a:ext cx="7460049" cy="226212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Dynamic inventory implication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Advanced execution</a:t>
            </a:r>
          </a:p>
          <a:p>
            <a:pPr marL="857250" lvl="1" indent="-285750">
              <a:lnSpc>
                <a:spcPct val="150000"/>
              </a:lnSpc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Turning off gatherin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g facts</a:t>
            </a:r>
          </a:p>
          <a:p>
            <a:pPr marL="857250" lvl="1" indent="-285750">
              <a:lnSpc>
                <a:spcPct val="150000"/>
              </a:lnSpc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failed_when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-IN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changed_when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Statements</a:t>
            </a:r>
          </a:p>
          <a:p>
            <a:pPr marL="857250" lvl="1" indent="-285750">
              <a:lnSpc>
                <a:spcPct val="150000"/>
              </a:lnSpc>
              <a:buClrTx/>
              <a:buSzPts val="1800"/>
              <a:buFont typeface="Arial" panose="020B0604020202020204" pitchFamily="34" charset="0"/>
              <a:buChar char="•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Forking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06;p24">
            <a:extLst>
              <a:ext uri="{FF2B5EF4-FFF2-40B4-BE49-F238E27FC236}">
                <a16:creationId xmlns:a16="http://schemas.microsoft.com/office/drawing/2014/main" id="{D6A07EEE-D998-4075-06C9-1D2C19522853}"/>
              </a:ext>
            </a:extLst>
          </p:cNvPr>
          <p:cNvSpPr txBox="1"/>
          <p:nvPr/>
        </p:nvSpPr>
        <p:spPr>
          <a:xfrm>
            <a:off x="2494207" y="1358947"/>
            <a:ext cx="7203583" cy="10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emo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lang="en-I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Dynamic Inventory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and Advanced Execution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266448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1" name="Google Shape;990;p45">
            <a:extLst>
              <a:ext uri="{FF2B5EF4-FFF2-40B4-BE49-F238E27FC236}">
                <a16:creationId xmlns:a16="http://schemas.microsoft.com/office/drawing/2014/main" id="{68385FF7-2B2D-AC71-DB32-37821C7CA4E8}"/>
              </a:ext>
            </a:extLst>
          </p:cNvPr>
          <p:cNvSpPr txBox="1"/>
          <p:nvPr/>
        </p:nvSpPr>
        <p:spPr>
          <a:xfrm>
            <a:off x="1611750" y="2117180"/>
            <a:ext cx="8968500" cy="437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uses Jinja2 templating to enable dynamic expressions and access to variables. The template module is extremely useful for </a:t>
            </a: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carrying out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machine-specific configuration based on </a:t>
            </a: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nsible variables </a:t>
            </a: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The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template module transfers templated files to remote hosts. </a:t>
            </a:r>
            <a:r>
              <a:rPr lang="en" sz="18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Proxima Nova"/>
                <a:ea typeface="Proxima Nova"/>
                <a:cs typeface="Proxima Nova"/>
                <a:sym typeface="Proxima Nova"/>
              </a:rPr>
              <a:t>Its work</a:t>
            </a:r>
            <a:r>
              <a:rPr lang="en" sz="1800" dirty="0">
                <a:highlight>
                  <a:srgbClr val="00FF00"/>
                </a:highlight>
                <a:latin typeface="Proxima Nova"/>
                <a:ea typeface="Proxima Nova"/>
                <a:cs typeface="Proxima Nova"/>
                <a:sym typeface="Proxima Nova"/>
              </a:rPr>
              <a:t>ing is</a:t>
            </a:r>
            <a:r>
              <a:rPr lang="en" sz="1800" b="0" i="0" u="none" strike="noStrike" cap="none" dirty="0">
                <a:solidFill>
                  <a:srgbClr val="000000"/>
                </a:solidFill>
                <a:highlight>
                  <a:srgbClr val="00FF00"/>
                </a:highlight>
                <a:latin typeface="Proxima Nova"/>
                <a:ea typeface="Proxima Nova"/>
                <a:cs typeface="Proxima Nova"/>
                <a:sym typeface="Proxima Nova"/>
              </a:rPr>
              <a:t> similar to that of the copy module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but with </a:t>
            </a: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two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major differences:</a:t>
            </a: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dirty="0">
                <a:latin typeface="Proxima Nova"/>
                <a:ea typeface="Proxima Nova"/>
                <a:cs typeface="Proxima Nova"/>
                <a:sym typeface="Proxima Nova"/>
              </a:rPr>
              <a:t>The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7"/>
                  </a:ext>
                </a:extLst>
              </a:rPr>
              <a:t>T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8"/>
                  </a:ext>
                </a:extLst>
              </a:rPr>
              <a:t>emplate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looks for templates in ./templates/ when you supply a relative path for src (instead of ./files/ for copy)</a:t>
            </a: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You can use the 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9"/>
                  </a:ext>
                </a:extLst>
              </a:rPr>
              <a:t>jinja2</a:t>
            </a:r>
            <a:r>
              <a:rPr lang="en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templating language in your files, which will be templated out separately for each remote host</a:t>
            </a: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992;p45">
            <a:extLst>
              <a:ext uri="{FF2B5EF4-FFF2-40B4-BE49-F238E27FC236}">
                <a16:creationId xmlns:a16="http://schemas.microsoft.com/office/drawing/2014/main" id="{9A851CAB-AD39-AC09-5169-38B1F6CF2B79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Jinja2 Templating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8537588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00;p46">
            <a:extLst>
              <a:ext uri="{FF2B5EF4-FFF2-40B4-BE49-F238E27FC236}">
                <a16:creationId xmlns:a16="http://schemas.microsoft.com/office/drawing/2014/main" id="{AAA128F6-67DC-AA2D-BC71-F3D3C5EB94E4}"/>
              </a:ext>
            </a:extLst>
          </p:cNvPr>
          <p:cNvSpPr txBox="1"/>
          <p:nvPr/>
        </p:nvSpPr>
        <p:spPr>
          <a:xfrm>
            <a:off x="4491435" y="1590412"/>
            <a:ext cx="320913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Templating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01;p46">
            <a:extLst>
              <a:ext uri="{FF2B5EF4-FFF2-40B4-BE49-F238E27FC236}">
                <a16:creationId xmlns:a16="http://schemas.microsoft.com/office/drawing/2014/main" id="{7DA61DF5-1DAB-4818-51D0-748ACC737B4E}"/>
              </a:ext>
            </a:extLst>
          </p:cNvPr>
          <p:cNvSpPr txBox="1"/>
          <p:nvPr/>
        </p:nvSpPr>
        <p:spPr>
          <a:xfrm>
            <a:off x="1744338" y="2225666"/>
            <a:ext cx="8703324" cy="35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The Jinja variables and expressions are indicated using the default delimiters as follows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{% … %} for control statements (conditions)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{{ … }} for expressions (variables)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{# … #} for comments (describe the task)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sng" strike="noStrike" cap="non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https://www.linuxtechi.com/configure-use-ansible-jinja2-templates/</a:t>
            </a: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288026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1" name="Google Shape;1008;p47">
            <a:extLst>
              <a:ext uri="{FF2B5EF4-FFF2-40B4-BE49-F238E27FC236}">
                <a16:creationId xmlns:a16="http://schemas.microsoft.com/office/drawing/2014/main" id="{696A9698-B145-9908-51E7-DA38E2609FF4}"/>
              </a:ext>
            </a:extLst>
          </p:cNvPr>
          <p:cNvSpPr txBox="1"/>
          <p:nvPr/>
        </p:nvSpPr>
        <p:spPr>
          <a:xfrm>
            <a:off x="1569078" y="2198234"/>
            <a:ext cx="9053844" cy="4307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The 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Vault encrypts variables and files so that you can protect sensitive content such as passwords or keys rather than leaving it visible as 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0"/>
                  </a:ext>
                </a:extLst>
              </a:rPr>
              <a:t>plaintext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in playbooks or roles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To use the Ansible Vault, you need one or more passwords to encrypt and decrypt content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If you store your vault passwords in a third-party tool such as a secret manager, you need a script to access them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1"/>
                  </a:ext>
                </a:extLst>
              </a:rPr>
              <a:t>se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the passwords with the ansible-vault command-line tool to create and view encrypted variables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;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create encrypted files</a:t>
            </a:r>
            <a:r>
              <a:rPr lang="en" sz="18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;</a:t>
            </a:r>
            <a:r>
              <a:rPr lang="en" sz="18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 encrypt existing files, or edit, re-key, or decrypt files</a:t>
            </a: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1010;p47">
            <a:extLst>
              <a:ext uri="{FF2B5EF4-FFF2-40B4-BE49-F238E27FC236}">
                <a16:creationId xmlns:a16="http://schemas.microsoft.com/office/drawing/2014/main" id="{840D9993-AAA1-A75A-3543-41B609D10C0D}"/>
              </a:ext>
            </a:extLst>
          </p:cNvPr>
          <p:cNvSpPr txBox="1"/>
          <p:nvPr/>
        </p:nvSpPr>
        <p:spPr>
          <a:xfrm>
            <a:off x="3334800" y="1562980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Vault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6050931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17;p48">
            <a:extLst>
              <a:ext uri="{FF2B5EF4-FFF2-40B4-BE49-F238E27FC236}">
                <a16:creationId xmlns:a16="http://schemas.microsoft.com/office/drawing/2014/main" id="{76875947-1623-ABCE-13C0-C41F6EEA7A1C}"/>
              </a:ext>
            </a:extLst>
          </p:cNvPr>
          <p:cNvSpPr txBox="1"/>
          <p:nvPr/>
        </p:nvSpPr>
        <p:spPr>
          <a:xfrm>
            <a:off x="2004300" y="2348237"/>
            <a:ext cx="8183400" cy="28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It uses the AES256 algorithm to provide symmetric </a:t>
            </a: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2"/>
                  </a:ext>
                </a:extLst>
              </a:rPr>
              <a:t>encryption keyed</a:t>
            </a: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to a user-supplied password </a:t>
            </a: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This means the same password is used to encrypt and decrypt content</a:t>
            </a: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 encrypt a file:	ansible-vault encrypt nginx.yaml </a:t>
            </a: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3"/>
                  </a:ext>
                </a:extLst>
              </a:rPr>
              <a:t>cat nginx.yaml	?</a:t>
            </a: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 decrypt a file:	ansible-vault view nginx.yml</a:t>
            </a: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marR="0" lvl="1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 edit a file:	ansible-vault edit nginx.yaml </a:t>
            </a: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19;p48">
            <a:extLst>
              <a:ext uri="{FF2B5EF4-FFF2-40B4-BE49-F238E27FC236}">
                <a16:creationId xmlns:a16="http://schemas.microsoft.com/office/drawing/2014/main" id="{7DDB8C00-7D69-492C-6107-DCC996721CCB}"/>
              </a:ext>
            </a:extLst>
          </p:cNvPr>
          <p:cNvSpPr txBox="1"/>
          <p:nvPr/>
        </p:nvSpPr>
        <p:spPr>
          <a:xfrm>
            <a:off x="3334800" y="1590412"/>
            <a:ext cx="5522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Ansible Vault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014633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804;p24">
            <a:extLst>
              <a:ext uri="{FF2B5EF4-FFF2-40B4-BE49-F238E27FC236}">
                <a16:creationId xmlns:a16="http://schemas.microsoft.com/office/drawing/2014/main" id="{6451FFC7-3475-BAFD-33EE-05CDE53F916B}"/>
              </a:ext>
            </a:extLst>
          </p:cNvPr>
          <p:cNvSpPr txBox="1"/>
          <p:nvPr/>
        </p:nvSpPr>
        <p:spPr>
          <a:xfrm>
            <a:off x="2365975" y="2895607"/>
            <a:ext cx="7460049" cy="184662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Courier New" panose="02070309020205020404" pitchFamily="49" charset="0"/>
              <a:buChar char="o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Jinja2: Basic execution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Jinja2: Conditional execution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Courier New" panose="02070309020205020404" pitchFamily="49" charset="0"/>
              <a:buChar char="o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sing Ansible Vault</a:t>
            </a:r>
          </a:p>
          <a:p>
            <a:pPr marL="4000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Courier New" panose="02070309020205020404" pitchFamily="49" charset="0"/>
              <a:buChar char="o"/>
            </a:pPr>
            <a:r>
              <a:rPr lang="en-IN" sz="1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Integrating Terraform with Ansible</a:t>
            </a:r>
            <a:endParaRPr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06;p24">
            <a:extLst>
              <a:ext uri="{FF2B5EF4-FFF2-40B4-BE49-F238E27FC236}">
                <a16:creationId xmlns:a16="http://schemas.microsoft.com/office/drawing/2014/main" id="{D6A07EEE-D998-4075-06C9-1D2C19522853}"/>
              </a:ext>
            </a:extLst>
          </p:cNvPr>
          <p:cNvSpPr txBox="1"/>
          <p:nvPr/>
        </p:nvSpPr>
        <p:spPr>
          <a:xfrm>
            <a:off x="2494207" y="1511215"/>
            <a:ext cx="7203583" cy="561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emo</a:t>
            </a: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6: </a:t>
            </a:r>
            <a:r>
              <a:rPr lang="en-I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Jinja2 and Vault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1804430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Important Concepts and Questions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718;p53">
            <a:extLst>
              <a:ext uri="{FF2B5EF4-FFF2-40B4-BE49-F238E27FC236}">
                <a16:creationId xmlns:a16="http://schemas.microsoft.com/office/drawing/2014/main" id="{E46F9D3F-2B0B-F84B-1239-1E6E39C76A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732600" y="6467291"/>
            <a:ext cx="4726800" cy="27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 dirty="0">
                <a:solidFill>
                  <a:sysClr val="windowText" lastClr="000000"/>
                </a:solidFill>
              </a:rPr>
              <a:t>Ansible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dirty="0">
              <a:solidFill>
                <a:sysClr val="windowText" lastClr="0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1958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039;p51">
            <a:extLst>
              <a:ext uri="{FF2B5EF4-FFF2-40B4-BE49-F238E27FC236}">
                <a16:creationId xmlns:a16="http://schemas.microsoft.com/office/drawing/2014/main" id="{68204332-529B-0A41-1D4A-EFCCD067C507}"/>
              </a:ext>
            </a:extLst>
          </p:cNvPr>
          <p:cNvSpPr txBox="1"/>
          <p:nvPr/>
        </p:nvSpPr>
        <p:spPr>
          <a:xfrm>
            <a:off x="1877400" y="2407800"/>
            <a:ext cx="8437200" cy="3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23C"/>
              </a:buClr>
              <a:buSzPts val="1700"/>
              <a:buFont typeface="Proxima Nova"/>
              <a:buAutoNum type="arabicPeriod"/>
            </a:pP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configuration management? List some of its advantages</a:t>
            </a: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</a:pP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Differentiate between push- and pull</a:t>
            </a:r>
            <a:r>
              <a:rPr lang="en" sz="17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based tools</a:t>
            </a: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</a:pP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</a:t>
            </a:r>
            <a:r>
              <a:rPr lang="en" sz="17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nsible? How does it work?</a:t>
            </a: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</a:pP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the purpose of th</a:t>
            </a:r>
            <a:r>
              <a:rPr lang="en" sz="17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e </a:t>
            </a: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ad hoc command? Is it necessary to run it each time?</a:t>
            </a: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</a:pP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4"/>
                  </a:ext>
                </a:extLst>
              </a:rPr>
              <a:t>Explain the usage of the inventory file</a:t>
            </a: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</a:pP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an </a:t>
            </a: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5"/>
                  </a:ext>
                </a:extLst>
              </a:rPr>
              <a:t>ansible playbook</a:t>
            </a: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</a:pP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the use of variables and conditional loops in </a:t>
            </a:r>
            <a:r>
              <a:rPr lang="en" sz="1700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170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nsible?</a:t>
            </a: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1041;p51">
            <a:extLst>
              <a:ext uri="{FF2B5EF4-FFF2-40B4-BE49-F238E27FC236}">
                <a16:creationId xmlns:a16="http://schemas.microsoft.com/office/drawing/2014/main" id="{C96E42DE-913D-E7FE-9E92-514A1C1E6F3B}"/>
              </a:ext>
            </a:extLst>
          </p:cNvPr>
          <p:cNvSpPr txBox="1"/>
          <p:nvPr/>
        </p:nvSpPr>
        <p:spPr>
          <a:xfrm>
            <a:off x="3556500" y="1590412"/>
            <a:ext cx="50790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40"/>
              <a:buFont typeface="Proxima Nova"/>
              <a:buNone/>
            </a:pPr>
            <a:r>
              <a:rPr lang="en" sz="2540" b="0" i="0" u="none" strike="noStrike" cap="none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Important Questions </a:t>
            </a:r>
            <a:endParaRPr sz="2540" b="0" i="0" u="none" strike="noStrike" cap="none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956206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57A105-7C89-2D6B-BA9F-2556F54D63D2}"/>
              </a:ext>
            </a:extLst>
          </p:cNvPr>
          <p:cNvSpPr txBox="1"/>
          <p:nvPr/>
        </p:nvSpPr>
        <p:spPr>
          <a:xfrm>
            <a:off x="3037332" y="2828835"/>
            <a:ext cx="611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SzPts val="3200"/>
            </a:pPr>
            <a:r>
              <a:rPr lang="en-US" sz="3600" b="1" dirty="0">
                <a:latin typeface="Proxima Nova"/>
                <a:ea typeface="Proxima Nova"/>
                <a:cs typeface="Proxima Nova"/>
                <a:sym typeface="Proxima Nova"/>
              </a:rPr>
              <a:t>Doubt Clearance Window</a:t>
            </a:r>
          </a:p>
        </p:txBody>
      </p:sp>
    </p:spTree>
    <p:extLst>
      <p:ext uri="{BB962C8B-B14F-4D97-AF65-F5344CB8AC3E}">
        <p14:creationId xmlns:p14="http://schemas.microsoft.com/office/powerpoint/2010/main" val="21798616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584;g25c0f4a8d55_0_2493">
            <a:extLst>
              <a:ext uri="{FF2B5EF4-FFF2-40B4-BE49-F238E27FC236}">
                <a16:creationId xmlns:a16="http://schemas.microsoft.com/office/drawing/2014/main" id="{A1B8F4A8-AC23-DA69-EF6C-FA28DF1EB300}"/>
              </a:ext>
            </a:extLst>
          </p:cNvPr>
          <p:cNvSpPr txBox="1"/>
          <p:nvPr/>
        </p:nvSpPr>
        <p:spPr>
          <a:xfrm>
            <a:off x="839071" y="1823837"/>
            <a:ext cx="10515600" cy="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GB" sz="3867" dirty="0">
                <a:latin typeface="Proxima Nova"/>
                <a:ea typeface="Proxima Nova"/>
                <a:cs typeface="Proxima Nova"/>
                <a:sym typeface="Proxima Nova"/>
              </a:rPr>
              <a:t>Tasks to Complete After Today’s Session</a:t>
            </a:r>
            <a:endParaRPr sz="3867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527AAC3-38DD-E57C-7C36-3C33ECB7E16F}"/>
              </a:ext>
            </a:extLst>
          </p:cNvPr>
          <p:cNvGraphicFramePr>
            <a:graphicFrameLocks noGrp="1"/>
          </p:cNvGraphicFramePr>
          <p:nvPr/>
        </p:nvGraphicFramePr>
        <p:xfrm>
          <a:off x="4039678" y="2840364"/>
          <a:ext cx="4112643" cy="2426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2643">
                  <a:extLst>
                    <a:ext uri="{9D8B030D-6E8A-4147-A177-3AD203B41FA5}">
                      <a16:colId xmlns:a16="http://schemas.microsoft.com/office/drawing/2014/main" val="3414352935"/>
                    </a:ext>
                  </a:extLst>
                </a:gridCol>
              </a:tblGrid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MCQs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120814"/>
                  </a:ext>
                </a:extLst>
              </a:tr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Conceptual Questions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501447"/>
                  </a:ext>
                </a:extLst>
              </a:tr>
              <a:tr h="8088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Project Checkpoint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57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4212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54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2261</Words>
  <Application>Microsoft Office PowerPoint</Application>
  <PresentationFormat>Widescreen</PresentationFormat>
  <Paragraphs>371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Calibri Light</vt:lpstr>
      <vt:lpstr>Courier New</vt:lpstr>
      <vt:lpstr>Lato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Syed Rumaan Pasha</cp:lastModifiedBy>
  <cp:revision>4</cp:revision>
  <dcterms:created xsi:type="dcterms:W3CDTF">2024-07-23T11:56:01Z</dcterms:created>
  <dcterms:modified xsi:type="dcterms:W3CDTF">2024-08-28T06:55:00Z</dcterms:modified>
</cp:coreProperties>
</file>