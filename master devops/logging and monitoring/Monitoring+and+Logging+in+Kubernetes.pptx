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7" r:id="rId2"/>
    <p:sldId id="291" r:id="rId3"/>
    <p:sldId id="776" r:id="rId4"/>
    <p:sldId id="880" r:id="rId5"/>
    <p:sldId id="881" r:id="rId6"/>
    <p:sldId id="882" r:id="rId7"/>
    <p:sldId id="897" r:id="rId8"/>
    <p:sldId id="898" r:id="rId9"/>
    <p:sldId id="899" r:id="rId10"/>
    <p:sldId id="900" r:id="rId11"/>
    <p:sldId id="901" r:id="rId12"/>
    <p:sldId id="902" r:id="rId13"/>
    <p:sldId id="903" r:id="rId14"/>
    <p:sldId id="904" r:id="rId15"/>
    <p:sldId id="905" r:id="rId16"/>
    <p:sldId id="906" r:id="rId17"/>
    <p:sldId id="907" r:id="rId18"/>
    <p:sldId id="908" r:id="rId19"/>
    <p:sldId id="909" r:id="rId20"/>
    <p:sldId id="910" r:id="rId21"/>
    <p:sldId id="911" r:id="rId22"/>
    <p:sldId id="912" r:id="rId23"/>
    <p:sldId id="913" r:id="rId24"/>
    <p:sldId id="914" r:id="rId25"/>
    <p:sldId id="915" r:id="rId26"/>
    <p:sldId id="916" r:id="rId27"/>
    <p:sldId id="917" r:id="rId28"/>
    <p:sldId id="918" r:id="rId29"/>
    <p:sldId id="919" r:id="rId30"/>
    <p:sldId id="920" r:id="rId31"/>
    <p:sldId id="921" r:id="rId32"/>
    <p:sldId id="922" r:id="rId33"/>
    <p:sldId id="923" r:id="rId34"/>
    <p:sldId id="924" r:id="rId35"/>
    <p:sldId id="925" r:id="rId36"/>
    <p:sldId id="926" r:id="rId37"/>
    <p:sldId id="927" r:id="rId38"/>
    <p:sldId id="928" r:id="rId39"/>
    <p:sldId id="929" r:id="rId40"/>
    <p:sldId id="930" r:id="rId41"/>
    <p:sldId id="931" r:id="rId42"/>
    <p:sldId id="932" r:id="rId43"/>
    <p:sldId id="933" r:id="rId44"/>
    <p:sldId id="934" r:id="rId45"/>
    <p:sldId id="935" r:id="rId46"/>
    <p:sldId id="953" r:id="rId47"/>
    <p:sldId id="936" r:id="rId48"/>
    <p:sldId id="938" r:id="rId49"/>
    <p:sldId id="939" r:id="rId50"/>
    <p:sldId id="940" r:id="rId51"/>
    <p:sldId id="941" r:id="rId52"/>
    <p:sldId id="942" r:id="rId53"/>
    <p:sldId id="943" r:id="rId54"/>
    <p:sldId id="944" r:id="rId55"/>
    <p:sldId id="946" r:id="rId56"/>
    <p:sldId id="947" r:id="rId57"/>
    <p:sldId id="948" r:id="rId58"/>
    <p:sldId id="949" r:id="rId59"/>
    <p:sldId id="950" r:id="rId60"/>
    <p:sldId id="951" r:id="rId61"/>
    <p:sldId id="952" r:id="rId62"/>
    <p:sldId id="784" r:id="rId63"/>
    <p:sldId id="785" r:id="rId64"/>
    <p:sldId id="50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AE73"/>
    <a:srgbClr val="009900"/>
    <a:srgbClr val="0EC1C1"/>
    <a:srgbClr val="CE6E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7" d="100"/>
          <a:sy n="67" d="100"/>
        </p:scale>
        <p:origin x="644"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4AD704-B57C-4720-828B-0CCD213F0986}" type="datetimeFigureOut">
              <a:rPr lang="en-IN" smtClean="0"/>
              <a:t>08-08-2024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C4F1D1-1EA8-4656-8FF8-C6913E6EE23A}" type="slidenum">
              <a:rPr lang="en-IN" smtClean="0"/>
              <a:t>‹#›</a:t>
            </a:fld>
            <a:endParaRPr lang="en-IN"/>
          </a:p>
        </p:txBody>
      </p:sp>
    </p:spTree>
    <p:extLst>
      <p:ext uri="{BB962C8B-B14F-4D97-AF65-F5344CB8AC3E}">
        <p14:creationId xmlns:p14="http://schemas.microsoft.com/office/powerpoint/2010/main" val="1974549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6742B-C1C4-AA69-80B0-7A288B1BC6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1333F6-3B01-617A-8E5A-F14EEC5A82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CAA0D5-8FA6-F7DC-16B6-47E474013E4F}"/>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5" name="Footer Placeholder 4">
            <a:extLst>
              <a:ext uri="{FF2B5EF4-FFF2-40B4-BE49-F238E27FC236}">
                <a16:creationId xmlns:a16="http://schemas.microsoft.com/office/drawing/2014/main" id="{5E2F6D7F-C592-FF5D-7666-3BEB7BC517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5301D7-8708-CA54-943E-E882FE33EA67}"/>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2755054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9AB66-3398-6C28-E529-E87C42C962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FFEAFE-8C4F-51D4-C45A-AB4A5CB417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A1236C-6B9C-C4F7-9F51-A033AB53459F}"/>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5" name="Footer Placeholder 4">
            <a:extLst>
              <a:ext uri="{FF2B5EF4-FFF2-40B4-BE49-F238E27FC236}">
                <a16:creationId xmlns:a16="http://schemas.microsoft.com/office/drawing/2014/main" id="{84C1B6EC-048C-87DE-5FBD-9019D1F6EC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A6FAE3-D388-AD32-F495-ACBBF1531890}"/>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4278074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EE95-D0EA-DE22-186E-6E8B49A06F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3D58B7-2D83-F121-7AEE-26EB5958F6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83BC5D-87BB-CE1F-B48D-F05C86ED9BFA}"/>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5" name="Footer Placeholder 4">
            <a:extLst>
              <a:ext uri="{FF2B5EF4-FFF2-40B4-BE49-F238E27FC236}">
                <a16:creationId xmlns:a16="http://schemas.microsoft.com/office/drawing/2014/main" id="{DC2B15DB-BB4A-EC24-E224-F836C88326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E61EF0-263B-E8DD-F598-96D036B6ED06}"/>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1247105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A8319-8362-5D89-D83F-028FA15528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F5A68D-ECA7-D5CF-471E-4DBBA95099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FE93829-3178-C31E-53F3-A9D296DF89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244F2D7-D309-F2EE-670C-15AA4A8F4F3D}"/>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6" name="Footer Placeholder 5">
            <a:extLst>
              <a:ext uri="{FF2B5EF4-FFF2-40B4-BE49-F238E27FC236}">
                <a16:creationId xmlns:a16="http://schemas.microsoft.com/office/drawing/2014/main" id="{B886EE23-3691-7903-BCFD-9691C599F0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E59C72-8F75-5A60-8760-B8427D209B25}"/>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140055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93E9-E078-7790-904E-78BDF0C12C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F32586-DD1B-EAF2-F1A7-1A9F762BB2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41E090-FA74-9651-F0CB-CDB0992AC3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9EFF8F-9336-EC9B-D272-4E30F2A16F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5C3D56-E43F-48C6-3BD3-D599753777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6176D83-0E41-72FD-C689-236A08741553}"/>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8" name="Footer Placeholder 7">
            <a:extLst>
              <a:ext uri="{FF2B5EF4-FFF2-40B4-BE49-F238E27FC236}">
                <a16:creationId xmlns:a16="http://schemas.microsoft.com/office/drawing/2014/main" id="{07D054D4-DE3D-EC7A-D5AC-B2196F724F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1A9075-2940-27B2-E336-4D936C07D137}"/>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2032777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72249-C5E6-2A0B-CA36-4144DA5849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95C727-3332-65F7-6D11-694B8DA1FEF9}"/>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4" name="Footer Placeholder 3">
            <a:extLst>
              <a:ext uri="{FF2B5EF4-FFF2-40B4-BE49-F238E27FC236}">
                <a16:creationId xmlns:a16="http://schemas.microsoft.com/office/drawing/2014/main" id="{DF2807D5-A734-6492-E8EA-1568EB6D263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64CAFB8-384F-000B-B4AD-299830659D31}"/>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1840230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6F74C8-AAFC-5C9D-20B8-A2FA8BF6CD83}"/>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3" name="Footer Placeholder 2">
            <a:extLst>
              <a:ext uri="{FF2B5EF4-FFF2-40B4-BE49-F238E27FC236}">
                <a16:creationId xmlns:a16="http://schemas.microsoft.com/office/drawing/2014/main" id="{360DF69C-67DF-432E-4F17-40A374E09C7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44E230-7646-C0C3-172F-975ADF36B85B}"/>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2447990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492F6-1FBB-E3EF-8E4E-24483F8F55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BAC164C-3747-8FC6-A830-6A4972B436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E43A600-5510-2712-BB3F-1012AAD56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9AF16B-E2D1-D5B4-BC22-C290BAB37513}"/>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6" name="Footer Placeholder 5">
            <a:extLst>
              <a:ext uri="{FF2B5EF4-FFF2-40B4-BE49-F238E27FC236}">
                <a16:creationId xmlns:a16="http://schemas.microsoft.com/office/drawing/2014/main" id="{076F42F0-9D52-B3A9-971A-009CD85347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8CCAF7-9892-86A5-F081-C4450C26BAD2}"/>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1308341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F466C-E5E4-AAD3-1FCF-F6E8760367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A27987B-DB52-9321-D0AF-1E20F03791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70208F3-C46F-1A4B-298A-1DFA377A38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96C24F-CD2E-FCC5-2043-F967E8333C66}"/>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6" name="Footer Placeholder 5">
            <a:extLst>
              <a:ext uri="{FF2B5EF4-FFF2-40B4-BE49-F238E27FC236}">
                <a16:creationId xmlns:a16="http://schemas.microsoft.com/office/drawing/2014/main" id="{8796D9D0-29EA-9644-4B1E-8225987CB0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311910-6D3C-189D-3472-A582A348BE0F}"/>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2510629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CF518-0F4D-E250-6745-76B7A76AE6F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D69AF1-A89A-46DE-0D87-7B1A63BA19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31C7D4-E0F0-B034-9FDE-DBE45468D412}"/>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5" name="Footer Placeholder 4">
            <a:extLst>
              <a:ext uri="{FF2B5EF4-FFF2-40B4-BE49-F238E27FC236}">
                <a16:creationId xmlns:a16="http://schemas.microsoft.com/office/drawing/2014/main" id="{D3AE5E43-2239-4EE2-FBE2-417435AC01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515A6E-5CE5-17CB-7194-D5A096ADA9E5}"/>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750096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1CFBAA-CA9A-BCEE-4939-0F181D5CF0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528F5E-0C3A-F399-7527-F2B3957802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8716FC-6E6C-2BC0-F02F-EE415D589750}"/>
              </a:ext>
            </a:extLst>
          </p:cNvPr>
          <p:cNvSpPr>
            <a:spLocks noGrp="1"/>
          </p:cNvSpPr>
          <p:nvPr>
            <p:ph type="dt" sz="half" idx="10"/>
          </p:nvPr>
        </p:nvSpPr>
        <p:spPr/>
        <p:txBody>
          <a:bodyPr/>
          <a:lstStyle/>
          <a:p>
            <a:fld id="{A53E7F42-0B70-4719-8EA7-D488CFBCF2EE}" type="datetimeFigureOut">
              <a:rPr lang="en-IN" smtClean="0"/>
              <a:t>08-08-2024</a:t>
            </a:fld>
            <a:endParaRPr lang="en-IN"/>
          </a:p>
        </p:txBody>
      </p:sp>
      <p:sp>
        <p:nvSpPr>
          <p:cNvPr id="5" name="Footer Placeholder 4">
            <a:extLst>
              <a:ext uri="{FF2B5EF4-FFF2-40B4-BE49-F238E27FC236}">
                <a16:creationId xmlns:a16="http://schemas.microsoft.com/office/drawing/2014/main" id="{5EBB5837-1972-3E82-4249-373B95C16E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3463BD-0AD2-2D3F-F2FF-D4BF09D43AFE}"/>
              </a:ext>
            </a:extLst>
          </p:cNvPr>
          <p:cNvSpPr>
            <a:spLocks noGrp="1"/>
          </p:cNvSpPr>
          <p:nvPr>
            <p:ph type="sldNum" sz="quarter" idx="12"/>
          </p:nvPr>
        </p:nvSpPr>
        <p:spPr/>
        <p:txBody>
          <a:bodyPr/>
          <a:lstStyle/>
          <a:p>
            <a:fld id="{54C1A064-B0E0-49BD-9F89-B4C4AC99A74D}" type="slidenum">
              <a:rPr lang="en-IN" smtClean="0"/>
              <a:t>‹#›</a:t>
            </a:fld>
            <a:endParaRPr lang="en-IN"/>
          </a:p>
        </p:txBody>
      </p:sp>
    </p:spTree>
    <p:extLst>
      <p:ext uri="{BB962C8B-B14F-4D97-AF65-F5344CB8AC3E}">
        <p14:creationId xmlns:p14="http://schemas.microsoft.com/office/powerpoint/2010/main" val="582771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C15D47-569A-B68C-7C6E-C085F0E046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48C56F-9F2F-97BD-7381-3C7C55876F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DEBAD3-8F5A-B4B2-DBAA-189DF700E2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3E7F42-0B70-4719-8EA7-D488CFBCF2EE}" type="datetimeFigureOut">
              <a:rPr lang="en-IN" smtClean="0"/>
              <a:t>08-08-2024</a:t>
            </a:fld>
            <a:endParaRPr lang="en-IN"/>
          </a:p>
        </p:txBody>
      </p:sp>
      <p:sp>
        <p:nvSpPr>
          <p:cNvPr id="5" name="Footer Placeholder 4">
            <a:extLst>
              <a:ext uri="{FF2B5EF4-FFF2-40B4-BE49-F238E27FC236}">
                <a16:creationId xmlns:a16="http://schemas.microsoft.com/office/drawing/2014/main" id="{A70CF115-056A-C13B-72A4-C45B85E21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9FA95D3-F0D0-AE51-2633-2EBE9CB9DD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C1A064-B0E0-49BD-9F89-B4C4AC99A74D}" type="slidenum">
              <a:rPr lang="en-IN" smtClean="0"/>
              <a:t>‹#›</a:t>
            </a:fld>
            <a:endParaRPr lang="en-IN"/>
          </a:p>
        </p:txBody>
      </p:sp>
    </p:spTree>
    <p:extLst>
      <p:ext uri="{BB962C8B-B14F-4D97-AF65-F5344CB8AC3E}">
        <p14:creationId xmlns:p14="http://schemas.microsoft.com/office/powerpoint/2010/main" val="1724087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emf"/><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emf"/><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5.emf"/><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5.emf"/><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5.emf"/><Relationship Id="rId4" Type="http://schemas.openxmlformats.org/officeDocument/2006/relationships/image" Target="../media/image4.emf"/></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5.emf"/><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5.emf"/><Relationship Id="rId4" Type="http://schemas.openxmlformats.org/officeDocument/2006/relationships/image" Target="../media/image4.emf"/></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5.emf"/><Relationship Id="rId4" Type="http://schemas.openxmlformats.org/officeDocument/2006/relationships/image" Target="../media/image4.emf"/></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5.emf"/><Relationship Id="rId4" Type="http://schemas.openxmlformats.org/officeDocument/2006/relationships/image" Target="../media/image4.emf"/></Relationships>
</file>

<file path=ppt/slides/_rels/slide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5.emf"/><Relationship Id="rId4" Type="http://schemas.openxmlformats.org/officeDocument/2006/relationships/image" Target="../media/image4.emf"/></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5.emf"/><Relationship Id="rId4" Type="http://schemas.openxmlformats.org/officeDocument/2006/relationships/image" Target="../media/image4.emf"/></Relationships>
</file>

<file path=ppt/slides/_rels/slide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5.emf"/><Relationship Id="rId4" Type="http://schemas.openxmlformats.org/officeDocument/2006/relationships/image" Target="../media/image4.emf"/></Relationships>
</file>

<file path=ppt/slides/_rels/slide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5.emf"/><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emf"/><Relationship Id="rId4" Type="http://schemas.openxmlformats.org/officeDocument/2006/relationships/image" Target="../media/image4.emf"/></Relationships>
</file>

<file path=ppt/slides/_rels/slide29.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5.emf"/><Relationship Id="rId4" Type="http://schemas.openxmlformats.org/officeDocument/2006/relationships/image" Target="../media/image4.emf"/></Relationships>
</file>

<file path=ppt/slides/_rels/slide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5.emf"/><Relationship Id="rId4" Type="http://schemas.openxmlformats.org/officeDocument/2006/relationships/image" Target="../media/image4.emf"/></Relationships>
</file>

<file path=ppt/slides/_rels/slide3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3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3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5.emf"/><Relationship Id="rId4" Type="http://schemas.openxmlformats.org/officeDocument/2006/relationships/image" Target="../media/image4.emf"/></Relationships>
</file>

<file path=ppt/slides/_rels/slide34.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5.emf"/><Relationship Id="rId4" Type="http://schemas.openxmlformats.org/officeDocument/2006/relationships/image" Target="../media/image4.emf"/></Relationships>
</file>

<file path=ppt/slides/_rels/slide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5.emf"/><Relationship Id="rId4" Type="http://schemas.openxmlformats.org/officeDocument/2006/relationships/image" Target="../media/image4.emf"/></Relationships>
</file>

<file path=ppt/slides/_rels/slide3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37.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5.emf"/><Relationship Id="rId4" Type="http://schemas.openxmlformats.org/officeDocument/2006/relationships/image" Target="../media/image4.emf"/></Relationships>
</file>

<file path=ppt/slides/_rels/slide3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5.emf"/><Relationship Id="rId4" Type="http://schemas.openxmlformats.org/officeDocument/2006/relationships/image" Target="../media/image4.emf"/></Relationships>
</file>

<file path=ppt/slides/_rels/slide3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5.emf"/><Relationship Id="rId4" Type="http://schemas.openxmlformats.org/officeDocument/2006/relationships/image" Target="../media/image4.emf"/></Relationships>
</file>

<file path=ppt/slides/_rels/slide4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5.emf"/><Relationship Id="rId4" Type="http://schemas.openxmlformats.org/officeDocument/2006/relationships/image" Target="../media/image4.emf"/></Relationships>
</file>

<file path=ppt/slides/_rels/slide4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4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4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eksctl.io/" TargetMode="External"/><Relationship Id="rId5" Type="http://schemas.openxmlformats.org/officeDocument/2006/relationships/image" Target="../media/image5.emf"/><Relationship Id="rId4" Type="http://schemas.openxmlformats.org/officeDocument/2006/relationships/image" Target="../media/image4.emf"/></Relationships>
</file>

<file path=ppt/slides/_rels/slide4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5.emf"/><Relationship Id="rId4" Type="http://schemas.openxmlformats.org/officeDocument/2006/relationships/image" Target="../media/image4.emf"/></Relationships>
</file>

<file path=ppt/slides/_rels/slide4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4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4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5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5.emf"/><Relationship Id="rId4" Type="http://schemas.openxmlformats.org/officeDocument/2006/relationships/image" Target="../media/image4.emf"/></Relationships>
</file>

<file path=ppt/slides/_rels/slide5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5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5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aws.amazon.com/blogs/containers/amazon-eks-now-supports-provisioning-and-managing-ec2-spot-instances-in-managed-node-groups/" TargetMode="External"/><Relationship Id="rId5" Type="http://schemas.openxmlformats.org/officeDocument/2006/relationships/image" Target="../media/image5.emf"/><Relationship Id="rId4" Type="http://schemas.openxmlformats.org/officeDocument/2006/relationships/image" Target="../media/image4.emf"/></Relationships>
</file>

<file path=ppt/slides/_rels/slide5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5.emf"/><Relationship Id="rId4" Type="http://schemas.openxmlformats.org/officeDocument/2006/relationships/image" Target="../media/image4.emf"/></Relationships>
</file>

<file path=ppt/slides/_rels/slide5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5.emf"/><Relationship Id="rId4" Type="http://schemas.openxmlformats.org/officeDocument/2006/relationships/image" Target="../media/image4.emf"/></Relationships>
</file>

<file path=ppt/slides/_rels/slide5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raw.githubusercontent.com/kubernetes/autoscaler/master/cluster-autoscaler/cloudprovider/aws/examples/cluster-autoscaler-autodiscover.yaml" TargetMode="External"/><Relationship Id="rId5" Type="http://schemas.openxmlformats.org/officeDocument/2006/relationships/image" Target="../media/image5.emf"/><Relationship Id="rId4" Type="http://schemas.openxmlformats.org/officeDocument/2006/relationships/image" Target="../media/image4.emf"/></Relationships>
</file>

<file path=ppt/slides/_rels/slide5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5.emf"/><Relationship Id="rId4" Type="http://schemas.openxmlformats.org/officeDocument/2006/relationships/image" Target="../media/image4.emf"/></Relationships>
</file>

<file path=ppt/slides/_rels/slide5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docs.aws.amazon.com/eks/latest/userguide/vertical-pod-autoscaler.html" TargetMode="External"/><Relationship Id="rId5" Type="http://schemas.openxmlformats.org/officeDocument/2006/relationships/image" Target="../media/image5.emf"/><Relationship Id="rId4" Type="http://schemas.openxmlformats.org/officeDocument/2006/relationships/image" Target="../media/image4.emf"/></Relationships>
</file>

<file path=ppt/slides/_rels/slide5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6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github.com/kubernetes-sigs/metrics-server/releases/download/v0.3.6/components.yaml" TargetMode="External"/><Relationship Id="rId5" Type="http://schemas.openxmlformats.org/officeDocument/2006/relationships/image" Target="../media/image5.emf"/><Relationship Id="rId4" Type="http://schemas.openxmlformats.org/officeDocument/2006/relationships/image" Target="../media/image4.emf"/></Relationships>
</file>

<file path=ppt/slides/_rels/slide6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6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6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Monitoring and Logging in Kubernetes</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8" name="Rectangle 7">
            <a:extLst>
              <a:ext uri="{FF2B5EF4-FFF2-40B4-BE49-F238E27FC236}">
                <a16:creationId xmlns:a16="http://schemas.microsoft.com/office/drawing/2014/main" id="{9B9679C1-BC8C-6DA1-DAAC-A17D4D80D152}"/>
              </a:ext>
            </a:extLst>
          </p:cNvPr>
          <p:cNvSpPr/>
          <p:nvPr/>
        </p:nvSpPr>
        <p:spPr>
          <a:xfrm>
            <a:off x="974708" y="2835973"/>
            <a:ext cx="10242584" cy="1891999"/>
          </a:xfrm>
          <a:prstGeom prst="rect">
            <a:avLst/>
          </a:prstGeom>
          <a:solidFill>
            <a:srgbClr val="F9F9F9"/>
          </a:solidFill>
          <a:ln>
            <a:noFill/>
          </a:ln>
          <a:effectLst>
            <a:outerShdw blurRad="50800" dist="38100" dir="5400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2</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10586575" y="339777"/>
            <a:ext cx="839192" cy="839192"/>
          </a:xfrm>
          <a:prstGeom prst="rect">
            <a:avLst/>
          </a:prstGeom>
          <a:noFill/>
          <a:ln>
            <a:noFill/>
          </a:ln>
        </p:spPr>
      </p:pic>
      <p:sp>
        <p:nvSpPr>
          <p:cNvPr id="2" name="Google Shape;625;p35">
            <a:extLst>
              <a:ext uri="{FF2B5EF4-FFF2-40B4-BE49-F238E27FC236}">
                <a16:creationId xmlns:a16="http://schemas.microsoft.com/office/drawing/2014/main" id="{291948C9-9A2C-87BE-CE08-117DF3B40FEB}"/>
              </a:ext>
            </a:extLst>
          </p:cNvPr>
          <p:cNvSpPr txBox="1"/>
          <p:nvPr/>
        </p:nvSpPr>
        <p:spPr>
          <a:xfrm>
            <a:off x="1238600" y="3025047"/>
            <a:ext cx="10320821" cy="1410192"/>
          </a:xfrm>
          <a:prstGeom prst="rect">
            <a:avLst/>
          </a:prstGeom>
          <a:noFill/>
          <a:ln>
            <a:noFill/>
          </a:ln>
        </p:spPr>
        <p:txBody>
          <a:bodyPr spcFirstLastPara="1" wrap="square" lIns="121900" tIns="60933" rIns="121900" bIns="60933" anchor="t" anchorCtr="0">
            <a:noAutofit/>
          </a:bodyPr>
          <a:lstStyle/>
          <a:p>
            <a:pPr>
              <a:lnSpc>
                <a:spcPct val="90000"/>
              </a:lnSpc>
              <a:buClr>
                <a:srgbClr val="000000"/>
              </a:buClr>
              <a:buSzPts val="1800"/>
            </a:pPr>
            <a:r>
              <a:rPr lang="en-IN" sz="2400" b="1" dirty="0">
                <a:solidFill>
                  <a:srgbClr val="004F9B"/>
                </a:solidFill>
                <a:latin typeface="Proxima Nova"/>
                <a:ea typeface="Proxima Nova"/>
                <a:cs typeface="Proxima Nova"/>
                <a:sym typeface="Proxima Nova"/>
              </a:rPr>
              <a:t>Course : </a:t>
            </a:r>
            <a:r>
              <a:rPr lang="en-US" sz="2400" dirty="0">
                <a:latin typeface="Proxima Nova"/>
                <a:ea typeface="Proxima Nova"/>
                <a:cs typeface="Proxima Nova"/>
                <a:sym typeface="Proxima Nova"/>
              </a:rPr>
              <a:t>Mastering DevOps</a:t>
            </a:r>
          </a:p>
          <a:p>
            <a:pPr>
              <a:lnSpc>
                <a:spcPct val="90000"/>
              </a:lnSpc>
              <a:spcBef>
                <a:spcPts val="1333"/>
              </a:spcBef>
              <a:buClr>
                <a:srgbClr val="000000"/>
              </a:buClr>
              <a:buSzPts val="1800"/>
            </a:pPr>
            <a:r>
              <a:rPr lang="en-US" sz="2400" b="1" dirty="0">
                <a:solidFill>
                  <a:srgbClr val="004F9B"/>
                </a:solidFill>
                <a:latin typeface="Proxima Nova"/>
                <a:ea typeface="Proxima Nova"/>
                <a:cs typeface="Proxima Nova"/>
                <a:sym typeface="Proxima Nova"/>
              </a:rPr>
              <a:t>Lecture On :</a:t>
            </a:r>
            <a:r>
              <a:rPr lang="en-US" sz="2400" dirty="0">
                <a:solidFill>
                  <a:srgbClr val="004F9B"/>
                </a:solidFill>
                <a:latin typeface="Proxima Nova"/>
                <a:ea typeface="Proxima Nova"/>
                <a:cs typeface="Proxima Nova"/>
                <a:sym typeface="Proxima Nova"/>
              </a:rPr>
              <a:t> </a:t>
            </a:r>
            <a:r>
              <a:rPr lang="en-US" sz="2400" dirty="0">
                <a:latin typeface="Proxima Nova"/>
                <a:ea typeface="Proxima Nova"/>
                <a:cs typeface="Proxima Nova"/>
                <a:sym typeface="Proxima Nova"/>
              </a:rPr>
              <a:t>Monitoring and Logging in Kubernetes</a:t>
            </a:r>
          </a:p>
          <a:p>
            <a:pPr>
              <a:lnSpc>
                <a:spcPct val="90000"/>
              </a:lnSpc>
              <a:spcBef>
                <a:spcPts val="1333"/>
              </a:spcBef>
              <a:buClr>
                <a:srgbClr val="000000"/>
              </a:buClr>
              <a:buSzPts val="1800"/>
            </a:pPr>
            <a:r>
              <a:rPr lang="en-IN" sz="2400" b="1" dirty="0">
                <a:solidFill>
                  <a:srgbClr val="004F9B"/>
                </a:solidFill>
                <a:latin typeface="Proxima Nova"/>
                <a:ea typeface="Proxima Nova"/>
                <a:cs typeface="Proxima Nova"/>
                <a:sym typeface="Proxima Nova"/>
              </a:rPr>
              <a:t>Instructor:</a:t>
            </a:r>
            <a:r>
              <a:rPr lang="en-IN" sz="2400" dirty="0">
                <a:solidFill>
                  <a:srgbClr val="004F9B"/>
                </a:solidFill>
                <a:latin typeface="Proxima Nova"/>
                <a:ea typeface="Proxima Nova"/>
                <a:cs typeface="Proxima Nova"/>
                <a:sym typeface="Proxima Nova"/>
              </a:rPr>
              <a:t> </a:t>
            </a:r>
            <a:r>
              <a:rPr lang="en-IN" sz="2400" dirty="0">
                <a:latin typeface="Proxima Nova"/>
                <a:ea typeface="Proxima Nova"/>
                <a:cs typeface="Proxima Nova"/>
                <a:sym typeface="Proxima Nova"/>
              </a:rPr>
              <a:t>Dipesh Garg</a:t>
            </a:r>
            <a:endParaRPr sz="2400" dirty="0">
              <a:latin typeface="Proxima Nova"/>
              <a:ea typeface="Proxima Nova"/>
              <a:cs typeface="Proxima Nova"/>
              <a:sym typeface="Proxima Nova"/>
            </a:endParaRPr>
          </a:p>
        </p:txBody>
      </p:sp>
      <p:sp>
        <p:nvSpPr>
          <p:cNvPr id="10" name="Rectangle 9">
            <a:extLst>
              <a:ext uri="{FF2B5EF4-FFF2-40B4-BE49-F238E27FC236}">
                <a16:creationId xmlns:a16="http://schemas.microsoft.com/office/drawing/2014/main" id="{3A08B53D-9306-9D48-39AC-6DE1ADEA2CB3}"/>
              </a:ext>
            </a:extLst>
          </p:cNvPr>
          <p:cNvSpPr/>
          <p:nvPr/>
        </p:nvSpPr>
        <p:spPr>
          <a:xfrm>
            <a:off x="502022" y="554705"/>
            <a:ext cx="4035748" cy="10538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1" name="Picture 10">
            <a:extLst>
              <a:ext uri="{FF2B5EF4-FFF2-40B4-BE49-F238E27FC236}">
                <a16:creationId xmlns:a16="http://schemas.microsoft.com/office/drawing/2014/main" id="{A9F23375-B8AB-D09C-AE78-7CB2ACA91BA0}"/>
              </a:ext>
            </a:extLst>
          </p:cNvPr>
          <p:cNvPicPr>
            <a:picLocks noChangeAspect="1"/>
          </p:cNvPicPr>
          <p:nvPr/>
        </p:nvPicPr>
        <p:blipFill>
          <a:blip r:embed="rId4"/>
          <a:stretch>
            <a:fillRect/>
          </a:stretch>
        </p:blipFill>
        <p:spPr>
          <a:xfrm>
            <a:off x="9262181" y="674400"/>
            <a:ext cx="1214204" cy="321112"/>
          </a:xfrm>
          <a:prstGeom prst="rect">
            <a:avLst/>
          </a:prstGeom>
        </p:spPr>
      </p:pic>
      <p:pic>
        <p:nvPicPr>
          <p:cNvPr id="3" name="Picture 2">
            <a:extLst>
              <a:ext uri="{FF2B5EF4-FFF2-40B4-BE49-F238E27FC236}">
                <a16:creationId xmlns:a16="http://schemas.microsoft.com/office/drawing/2014/main" id="{C5638F4F-FD5E-21E6-1E9F-FDC54ACC902B}"/>
              </a:ext>
            </a:extLst>
          </p:cNvPr>
          <p:cNvPicPr>
            <a:picLocks noChangeAspect="1"/>
          </p:cNvPicPr>
          <p:nvPr/>
        </p:nvPicPr>
        <p:blipFill>
          <a:blip r:embed="rId5"/>
          <a:stretch>
            <a:fillRect/>
          </a:stretch>
        </p:blipFill>
        <p:spPr>
          <a:xfrm>
            <a:off x="1" y="-6519"/>
            <a:ext cx="2242807" cy="1783508"/>
          </a:xfrm>
          <a:prstGeom prst="rect">
            <a:avLst/>
          </a:prstGeom>
        </p:spPr>
      </p:pic>
      <p:pic>
        <p:nvPicPr>
          <p:cNvPr id="5" name="Picture 4">
            <a:extLst>
              <a:ext uri="{FF2B5EF4-FFF2-40B4-BE49-F238E27FC236}">
                <a16:creationId xmlns:a16="http://schemas.microsoft.com/office/drawing/2014/main" id="{0862FBDC-6DA2-B87B-EE85-C2E7BA6FF1E4}"/>
              </a:ext>
            </a:extLst>
          </p:cNvPr>
          <p:cNvPicPr>
            <a:picLocks noChangeAspect="1"/>
          </p:cNvPicPr>
          <p:nvPr/>
        </p:nvPicPr>
        <p:blipFill>
          <a:blip r:embed="rId6"/>
          <a:stretch>
            <a:fillRect/>
          </a:stretch>
        </p:blipFill>
        <p:spPr>
          <a:xfrm>
            <a:off x="11240112" y="-13039"/>
            <a:ext cx="964928" cy="1220633"/>
          </a:xfrm>
          <a:prstGeom prst="rect">
            <a:avLst/>
          </a:prstGeom>
        </p:spPr>
      </p:pic>
      <p:pic>
        <p:nvPicPr>
          <p:cNvPr id="9" name="Picture 8">
            <a:extLst>
              <a:ext uri="{FF2B5EF4-FFF2-40B4-BE49-F238E27FC236}">
                <a16:creationId xmlns:a16="http://schemas.microsoft.com/office/drawing/2014/main" id="{6FACF819-EB7A-C5FA-9359-22256A6A507F}"/>
              </a:ext>
            </a:extLst>
          </p:cNvPr>
          <p:cNvPicPr>
            <a:picLocks noChangeAspect="1"/>
          </p:cNvPicPr>
          <p:nvPr/>
        </p:nvPicPr>
        <p:blipFill>
          <a:blip r:embed="rId5">
            <a:alphaModFix amt="11000"/>
          </a:blip>
          <a:stretch>
            <a:fillRect/>
          </a:stretch>
        </p:blipFill>
        <p:spPr>
          <a:xfrm rot="10800000">
            <a:off x="11253151" y="6109915"/>
            <a:ext cx="940736" cy="748085"/>
          </a:xfrm>
          <a:prstGeom prst="rect">
            <a:avLst/>
          </a:prstGeom>
        </p:spPr>
      </p:pic>
      <p:pic>
        <p:nvPicPr>
          <p:cNvPr id="12" name="Picture 11">
            <a:extLst>
              <a:ext uri="{FF2B5EF4-FFF2-40B4-BE49-F238E27FC236}">
                <a16:creationId xmlns:a16="http://schemas.microsoft.com/office/drawing/2014/main" id="{98EE7E7C-67F5-30B2-6350-6BDF088EE9E8}"/>
              </a:ext>
            </a:extLst>
          </p:cNvPr>
          <p:cNvPicPr>
            <a:picLocks noChangeAspect="1"/>
          </p:cNvPicPr>
          <p:nvPr/>
        </p:nvPicPr>
        <p:blipFill>
          <a:blip r:embed="rId6">
            <a:alphaModFix amt="27000"/>
          </a:blip>
          <a:stretch>
            <a:fillRect/>
          </a:stretch>
        </p:blipFill>
        <p:spPr>
          <a:xfrm rot="10800000">
            <a:off x="0" y="6388576"/>
            <a:ext cx="371088" cy="469425"/>
          </a:xfrm>
          <a:prstGeom prst="rect">
            <a:avLst/>
          </a:prstGeom>
        </p:spPr>
      </p:pic>
    </p:spTree>
    <p:extLst>
      <p:ext uri="{BB962C8B-B14F-4D97-AF65-F5344CB8AC3E}">
        <p14:creationId xmlns:p14="http://schemas.microsoft.com/office/powerpoint/2010/main" val="2235927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5" y="1497614"/>
            <a:ext cx="7271148" cy="61704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 Kubernetes Objects</a:t>
            </a:r>
          </a:p>
        </p:txBody>
      </p:sp>
      <p:pic>
        <p:nvPicPr>
          <p:cNvPr id="14" name="Google Shape;1114;p23">
            <a:extLst>
              <a:ext uri="{FF2B5EF4-FFF2-40B4-BE49-F238E27FC236}">
                <a16:creationId xmlns:a16="http://schemas.microsoft.com/office/drawing/2014/main" id="{4D0AB243-A370-8809-3CA1-F4AD64D25C1E}"/>
              </a:ext>
            </a:extLst>
          </p:cNvPr>
          <p:cNvPicPr preferRelativeResize="0"/>
          <p:nvPr/>
        </p:nvPicPr>
        <p:blipFill rotWithShape="1">
          <a:blip r:embed="rId6">
            <a:alphaModFix/>
          </a:blip>
          <a:srcRect/>
          <a:stretch/>
        </p:blipFill>
        <p:spPr>
          <a:xfrm>
            <a:off x="3226129" y="2114655"/>
            <a:ext cx="5739741" cy="3730890"/>
          </a:xfrm>
          <a:prstGeom prst="rect">
            <a:avLst/>
          </a:prstGeom>
          <a:noFill/>
          <a:ln>
            <a:noFill/>
          </a:ln>
        </p:spPr>
      </p:pic>
      <p:sp>
        <p:nvSpPr>
          <p:cNvPr id="15" name="Google Shape;717;p53">
            <a:extLst>
              <a:ext uri="{FF2B5EF4-FFF2-40B4-BE49-F238E27FC236}">
                <a16:creationId xmlns:a16="http://schemas.microsoft.com/office/drawing/2014/main" id="{BF301862-1002-58E8-3C7B-DB4B7816FD87}"/>
              </a:ext>
            </a:extLst>
          </p:cNvPr>
          <p:cNvSpPr txBox="1"/>
          <p:nvPr/>
        </p:nvSpPr>
        <p:spPr>
          <a:xfrm>
            <a:off x="2460425" y="5509315"/>
            <a:ext cx="7271148" cy="43920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dirty="0">
                <a:solidFill>
                  <a:sysClr val="windowText" lastClr="000000"/>
                </a:solidFill>
                <a:latin typeface="Proxima Nova"/>
                <a:ea typeface="Proxima Nova"/>
                <a:cs typeface="Proxima Nova"/>
                <a:sym typeface="Proxima Nova"/>
              </a:rPr>
              <a:t>Orchestration Using Kubernetes</a:t>
            </a:r>
          </a:p>
        </p:txBody>
      </p:sp>
    </p:spTree>
    <p:extLst>
      <p:ext uri="{BB962C8B-B14F-4D97-AF65-F5344CB8AC3E}">
        <p14:creationId xmlns:p14="http://schemas.microsoft.com/office/powerpoint/2010/main" val="959319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3" name="Google Shape;936;p4">
            <a:extLst>
              <a:ext uri="{FF2B5EF4-FFF2-40B4-BE49-F238E27FC236}">
                <a16:creationId xmlns:a16="http://schemas.microsoft.com/office/drawing/2014/main" id="{6AD549F0-4FF3-6941-6BD5-1F1F480ECBC0}"/>
              </a:ext>
            </a:extLst>
          </p:cNvPr>
          <p:cNvSpPr txBox="1"/>
          <p:nvPr/>
        </p:nvSpPr>
        <p:spPr>
          <a:xfrm>
            <a:off x="3009900" y="1587000"/>
            <a:ext cx="61722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IN" sz="2540" b="0" i="0" u="none" strike="noStrike" cap="none" dirty="0">
                <a:solidFill>
                  <a:schemeClr val="tx1"/>
                </a:solidFill>
                <a:latin typeface="Proxima Nova"/>
                <a:ea typeface="Proxima Nova"/>
                <a:cs typeface="Proxima Nova"/>
                <a:sym typeface="Proxima Nova"/>
              </a:rPr>
              <a:t>KUBERNETES OBJECTS</a:t>
            </a:r>
          </a:p>
        </p:txBody>
      </p:sp>
      <p:pic>
        <p:nvPicPr>
          <p:cNvPr id="9" name="Google Shape;1124;p24">
            <a:extLst>
              <a:ext uri="{FF2B5EF4-FFF2-40B4-BE49-F238E27FC236}">
                <a16:creationId xmlns:a16="http://schemas.microsoft.com/office/drawing/2014/main" id="{B0AAB616-2D1F-79AE-2B96-99348566984C}"/>
              </a:ext>
            </a:extLst>
          </p:cNvPr>
          <p:cNvPicPr preferRelativeResize="0"/>
          <p:nvPr/>
        </p:nvPicPr>
        <p:blipFill rotWithShape="1">
          <a:blip r:embed="rId6">
            <a:alphaModFix/>
          </a:blip>
          <a:srcRect/>
          <a:stretch/>
        </p:blipFill>
        <p:spPr>
          <a:xfrm>
            <a:off x="2702560" y="1989899"/>
            <a:ext cx="7245482" cy="4380039"/>
          </a:xfrm>
          <a:prstGeom prst="rect">
            <a:avLst/>
          </a:prstGeom>
          <a:noFill/>
          <a:ln>
            <a:noFill/>
          </a:ln>
        </p:spPr>
      </p:pic>
    </p:spTree>
    <p:extLst>
      <p:ext uri="{BB962C8B-B14F-4D97-AF65-F5344CB8AC3E}">
        <p14:creationId xmlns:p14="http://schemas.microsoft.com/office/powerpoint/2010/main" val="2204431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944;p5">
            <a:extLst>
              <a:ext uri="{FF2B5EF4-FFF2-40B4-BE49-F238E27FC236}">
                <a16:creationId xmlns:a16="http://schemas.microsoft.com/office/drawing/2014/main" id="{4DCC1443-35BA-6AB1-3082-704136CD9729}"/>
              </a:ext>
            </a:extLst>
          </p:cNvPr>
          <p:cNvSpPr txBox="1"/>
          <p:nvPr/>
        </p:nvSpPr>
        <p:spPr>
          <a:xfrm>
            <a:off x="3334800" y="1581540"/>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KUBERNETES OBJECTS</a:t>
            </a:r>
          </a:p>
        </p:txBody>
      </p:sp>
      <p:sp>
        <p:nvSpPr>
          <p:cNvPr id="12" name="Google Shape;1131;p25">
            <a:extLst>
              <a:ext uri="{FF2B5EF4-FFF2-40B4-BE49-F238E27FC236}">
                <a16:creationId xmlns:a16="http://schemas.microsoft.com/office/drawing/2014/main" id="{F05BE9CF-08D9-D4BF-C044-9E172B31A2A8}"/>
              </a:ext>
            </a:extLst>
          </p:cNvPr>
          <p:cNvSpPr txBox="1"/>
          <p:nvPr/>
        </p:nvSpPr>
        <p:spPr>
          <a:xfrm>
            <a:off x="2067150" y="2044170"/>
            <a:ext cx="8057700" cy="4325769"/>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Kubernetes objects are persistent entities in the cluster. These objects are used to represent the state of the cluster.</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To work with Kubernetes objects – to create, modify, or delete them – you will need to use the Kubernetes API.</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Some of the important Kubernetes objects are:</a:t>
            </a:r>
            <a:endParaRPr lang="en-IN"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IN" sz="1800" b="0" i="0" u="none" strike="noStrike" cap="none" dirty="0">
                <a:solidFill>
                  <a:srgbClr val="0E101A"/>
                </a:solidFill>
                <a:latin typeface="Proxima Nova"/>
                <a:ea typeface="Proxima Nova"/>
                <a:cs typeface="Proxima Nova"/>
                <a:sym typeface="Proxima Nova"/>
              </a:rPr>
              <a:t>Pods</a:t>
            </a: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err="1">
                <a:solidFill>
                  <a:srgbClr val="0E101A"/>
                </a:solidFill>
                <a:latin typeface="Proxima Nova"/>
                <a:ea typeface="Proxima Nova"/>
                <a:cs typeface="Proxima Nova"/>
                <a:sym typeface="Proxima Nova"/>
              </a:rPr>
              <a:t>ReplicaSets</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Deployment</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Namespaces</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Services</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err="1">
                <a:solidFill>
                  <a:srgbClr val="0E101A"/>
                </a:solidFill>
                <a:latin typeface="Proxima Nova"/>
                <a:ea typeface="Proxima Nova"/>
                <a:cs typeface="Proxima Nova"/>
                <a:sym typeface="Proxima Nova"/>
              </a:rPr>
              <a:t>ConfigMaps</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err="1">
                <a:solidFill>
                  <a:srgbClr val="0E101A"/>
                </a:solidFill>
                <a:latin typeface="Proxima Nova"/>
                <a:ea typeface="Proxima Nova"/>
                <a:cs typeface="Proxima Nova"/>
                <a:sym typeface="Proxima Nova"/>
              </a:rPr>
              <a:t>StatefulSets</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err="1">
                <a:solidFill>
                  <a:srgbClr val="0E101A"/>
                </a:solidFill>
                <a:latin typeface="Proxima Nova"/>
                <a:ea typeface="Proxima Nova"/>
                <a:cs typeface="Proxima Nova"/>
                <a:sym typeface="Proxima Nova"/>
              </a:rPr>
              <a:t>DaemonSets</a:t>
            </a:r>
            <a:endParaRPr sz="1800" b="0" i="0" u="none" strike="noStrike" cap="none" dirty="0">
              <a:solidFill>
                <a:srgbClr val="0E101A"/>
              </a:solidFill>
              <a:latin typeface="Proxima Nova"/>
              <a:ea typeface="Proxima Nova"/>
              <a:cs typeface="Proxima Nova"/>
              <a:sym typeface="Proxima Nova"/>
            </a:endParaRPr>
          </a:p>
        </p:txBody>
      </p:sp>
    </p:spTree>
    <p:extLst>
      <p:ext uri="{BB962C8B-B14F-4D97-AF65-F5344CB8AC3E}">
        <p14:creationId xmlns:p14="http://schemas.microsoft.com/office/powerpoint/2010/main" val="2002672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PODS</a:t>
            </a:r>
          </a:p>
        </p:txBody>
      </p:sp>
      <p:pic>
        <p:nvPicPr>
          <p:cNvPr id="11" name="Google Shape;1139;p26">
            <a:extLst>
              <a:ext uri="{FF2B5EF4-FFF2-40B4-BE49-F238E27FC236}">
                <a16:creationId xmlns:a16="http://schemas.microsoft.com/office/drawing/2014/main" id="{6FE43145-2A17-82D3-797F-71DC2081B48E}"/>
              </a:ext>
            </a:extLst>
          </p:cNvPr>
          <p:cNvPicPr preferRelativeResize="0"/>
          <p:nvPr/>
        </p:nvPicPr>
        <p:blipFill rotWithShape="1">
          <a:blip r:embed="rId6">
            <a:alphaModFix/>
          </a:blip>
          <a:srcRect/>
          <a:stretch/>
        </p:blipFill>
        <p:spPr>
          <a:xfrm>
            <a:off x="1685924" y="2638289"/>
            <a:ext cx="8691089" cy="2285641"/>
          </a:xfrm>
          <a:prstGeom prst="rect">
            <a:avLst/>
          </a:prstGeom>
          <a:noFill/>
          <a:ln>
            <a:noFill/>
          </a:ln>
        </p:spPr>
      </p:pic>
    </p:spTree>
    <p:extLst>
      <p:ext uri="{BB962C8B-B14F-4D97-AF65-F5344CB8AC3E}">
        <p14:creationId xmlns:p14="http://schemas.microsoft.com/office/powerpoint/2010/main" val="2491298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PODS</a:t>
            </a:r>
          </a:p>
        </p:txBody>
      </p:sp>
      <p:pic>
        <p:nvPicPr>
          <p:cNvPr id="9" name="Google Shape;1147;p27">
            <a:extLst>
              <a:ext uri="{FF2B5EF4-FFF2-40B4-BE49-F238E27FC236}">
                <a16:creationId xmlns:a16="http://schemas.microsoft.com/office/drawing/2014/main" id="{CFE1641E-37CB-66FC-DEAA-D48DBEFF7F5E}"/>
              </a:ext>
            </a:extLst>
          </p:cNvPr>
          <p:cNvPicPr preferRelativeResize="0"/>
          <p:nvPr/>
        </p:nvPicPr>
        <p:blipFill rotWithShape="1">
          <a:blip r:embed="rId6">
            <a:alphaModFix/>
          </a:blip>
          <a:srcRect/>
          <a:stretch/>
        </p:blipFill>
        <p:spPr>
          <a:xfrm>
            <a:off x="1578077" y="2359425"/>
            <a:ext cx="9035845" cy="2908178"/>
          </a:xfrm>
          <a:prstGeom prst="rect">
            <a:avLst/>
          </a:prstGeom>
          <a:noFill/>
          <a:ln>
            <a:noFill/>
          </a:ln>
        </p:spPr>
      </p:pic>
    </p:spTree>
    <p:extLst>
      <p:ext uri="{BB962C8B-B14F-4D97-AF65-F5344CB8AC3E}">
        <p14:creationId xmlns:p14="http://schemas.microsoft.com/office/powerpoint/2010/main" val="2045468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PODS</a:t>
            </a:r>
          </a:p>
        </p:txBody>
      </p:sp>
      <p:sp>
        <p:nvSpPr>
          <p:cNvPr id="11" name="Google Shape;1154;p29">
            <a:extLst>
              <a:ext uri="{FF2B5EF4-FFF2-40B4-BE49-F238E27FC236}">
                <a16:creationId xmlns:a16="http://schemas.microsoft.com/office/drawing/2014/main" id="{9FFB633B-BBC5-64B9-EC40-25E28C61EC1B}"/>
              </a:ext>
            </a:extLst>
          </p:cNvPr>
          <p:cNvSpPr txBox="1"/>
          <p:nvPr/>
        </p:nvSpPr>
        <p:spPr>
          <a:xfrm>
            <a:off x="1913499" y="2012485"/>
            <a:ext cx="8517900" cy="33701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The smallest and standardised deployable units of computing that can be created and managed in Kubernetes.</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Represents a single instance of a process running in your cluster.</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Pods contain one or more containers, such as Docker containers. When a pod runs multiple containers, the containers are managed as a single entity and share the pod's resources.</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Pods also contain shared networking and storage resources for their containers:</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Network</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Storage</a:t>
            </a:r>
            <a:endParaRPr sz="1800" b="0" i="0" u="none" strike="noStrike" cap="none" dirty="0">
              <a:solidFill>
                <a:srgbClr val="0E101A"/>
              </a:solidFill>
              <a:latin typeface="Proxima Nova"/>
              <a:ea typeface="Proxima Nova"/>
              <a:cs typeface="Proxima Nova"/>
              <a:sym typeface="Proxima Nova"/>
            </a:endParaRPr>
          </a:p>
        </p:txBody>
      </p:sp>
    </p:spTree>
    <p:extLst>
      <p:ext uri="{BB962C8B-B14F-4D97-AF65-F5344CB8AC3E}">
        <p14:creationId xmlns:p14="http://schemas.microsoft.com/office/powerpoint/2010/main" val="2348149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YAML FILE IN KUBERNETES</a:t>
            </a:r>
          </a:p>
        </p:txBody>
      </p:sp>
      <p:sp>
        <p:nvSpPr>
          <p:cNvPr id="9" name="Google Shape;1162;p30">
            <a:extLst>
              <a:ext uri="{FF2B5EF4-FFF2-40B4-BE49-F238E27FC236}">
                <a16:creationId xmlns:a16="http://schemas.microsoft.com/office/drawing/2014/main" id="{2860F266-1651-FBC4-55C8-4A3D3D88D999}"/>
              </a:ext>
            </a:extLst>
          </p:cNvPr>
          <p:cNvSpPr txBox="1"/>
          <p:nvPr/>
        </p:nvSpPr>
        <p:spPr>
          <a:xfrm>
            <a:off x="1717619" y="1993297"/>
            <a:ext cx="8627700" cy="3370123"/>
          </a:xfrm>
          <a:prstGeom prst="rect">
            <a:avLst/>
          </a:prstGeom>
          <a:noFill/>
          <a:ln>
            <a:noFill/>
          </a:ln>
        </p:spPr>
        <p:txBody>
          <a:bodyPr spcFirstLastPara="1" wrap="square" lIns="91425" tIns="91425" rIns="91425" bIns="91425" anchor="t" anchorCtr="0">
            <a:spAutoFit/>
          </a:bodyPr>
          <a:lstStyle/>
          <a:p>
            <a:pPr marL="9144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Kubernetes uses YAML files as inputs to create objects such as pods, replica sets deployments and services. All of these follow a similar structure.</a:t>
            </a:r>
            <a:endParaRPr sz="1800" b="0" i="0" u="none" strike="noStrike" cap="none" dirty="0">
              <a:solidFill>
                <a:srgbClr val="0E101A"/>
              </a:solidFill>
              <a:latin typeface="Proxima Nova"/>
              <a:ea typeface="Proxima Nova"/>
              <a:cs typeface="Proxima Nova"/>
              <a:sym typeface="Proxima Nova"/>
            </a:endParaRPr>
          </a:p>
          <a:p>
            <a:pPr marL="9144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Kubernetes’ definition file always contains four top-level fields.</a:t>
            </a:r>
            <a:endParaRPr sz="1800" b="0" i="0" u="none" strike="noStrike" cap="none" dirty="0">
              <a:solidFill>
                <a:srgbClr val="0E101A"/>
              </a:solidFill>
              <a:latin typeface="Proxima Nova"/>
              <a:ea typeface="Proxima Nova"/>
              <a:cs typeface="Proxima Nova"/>
              <a:sym typeface="Proxima Nova"/>
            </a:endParaRPr>
          </a:p>
          <a:p>
            <a:pPr marL="1371600" marR="0" lvl="1" indent="-342900" algn="l" rtl="0">
              <a:lnSpc>
                <a:spcPct val="115000"/>
              </a:lnSpc>
              <a:spcBef>
                <a:spcPts val="0"/>
              </a:spcBef>
              <a:spcAft>
                <a:spcPts val="0"/>
              </a:spcAft>
              <a:buClr>
                <a:srgbClr val="0E101A"/>
              </a:buClr>
              <a:buSzPts val="1800"/>
              <a:buFont typeface="Arial"/>
              <a:buChar char="○"/>
            </a:pPr>
            <a:r>
              <a:rPr lang="en-GB" sz="1800" b="0" i="0" u="none" strike="noStrike" cap="none" dirty="0">
                <a:solidFill>
                  <a:srgbClr val="0E101A"/>
                </a:solidFill>
                <a:latin typeface="Proxima Nova"/>
                <a:ea typeface="Proxima Nova"/>
                <a:cs typeface="Proxima Nova"/>
                <a:sym typeface="Proxima Nova"/>
              </a:rPr>
              <a:t>The </a:t>
            </a:r>
            <a:r>
              <a:rPr lang="en-GB" sz="1800" b="1" i="0" u="none" strike="noStrike" cap="none" dirty="0">
                <a:solidFill>
                  <a:srgbClr val="0E101A"/>
                </a:solidFill>
                <a:latin typeface="Proxima Nova"/>
                <a:ea typeface="Proxima Nova"/>
                <a:cs typeface="Proxima Nova"/>
                <a:sym typeface="Proxima Nova"/>
              </a:rPr>
              <a:t>API version, kind, metadata and spec</a:t>
            </a:r>
            <a:r>
              <a:rPr lang="en-GB" sz="1800" b="0" i="0" u="none" strike="noStrike" cap="none" dirty="0">
                <a:solidFill>
                  <a:srgbClr val="0E101A"/>
                </a:solidFill>
                <a:latin typeface="Proxima Nova"/>
                <a:ea typeface="Proxima Nova"/>
                <a:cs typeface="Proxima Nova"/>
                <a:sym typeface="Proxima Nova"/>
              </a:rPr>
              <a:t>.</a:t>
            </a:r>
            <a:endParaRPr sz="1800" b="0" i="0" u="none" strike="noStrike" cap="none" dirty="0">
              <a:solidFill>
                <a:srgbClr val="0E101A"/>
              </a:solidFill>
              <a:latin typeface="Proxima Nova"/>
              <a:ea typeface="Proxima Nova"/>
              <a:cs typeface="Proxima Nova"/>
              <a:sym typeface="Proxima Nova"/>
            </a:endParaRPr>
          </a:p>
          <a:p>
            <a:pPr marL="13716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These are the root level or top-level properties.</a:t>
            </a:r>
            <a:endParaRPr sz="1800" b="0" i="0" u="none" strike="noStrike" cap="none" dirty="0">
              <a:solidFill>
                <a:srgbClr val="0E101A"/>
              </a:solidFill>
              <a:latin typeface="Proxima Nova"/>
              <a:ea typeface="Proxima Nova"/>
              <a:cs typeface="Proxima Nova"/>
              <a:sym typeface="Proxima Nova"/>
            </a:endParaRPr>
          </a:p>
          <a:p>
            <a:pPr marL="13716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These are also required fields, so you must have them in your configuration file.</a:t>
            </a:r>
            <a:endParaRPr sz="1800" b="0" i="0" u="none" strike="noStrike" cap="none" dirty="0">
              <a:solidFill>
                <a:srgbClr val="0E101A"/>
              </a:solidFill>
              <a:latin typeface="Proxima Nova"/>
              <a:ea typeface="Proxima Nova"/>
              <a:cs typeface="Proxima Nova"/>
              <a:sym typeface="Proxima Nova"/>
            </a:endParaRPr>
          </a:p>
          <a:p>
            <a:pPr marL="9144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err="1">
                <a:solidFill>
                  <a:srgbClr val="0E101A"/>
                </a:solidFill>
                <a:latin typeface="Proxima Nova"/>
                <a:ea typeface="Proxima Nova"/>
                <a:cs typeface="Proxima Nova"/>
                <a:sym typeface="Proxima Nova"/>
              </a:rPr>
              <a:t>kubectl</a:t>
            </a:r>
            <a:r>
              <a:rPr lang="en-GB" sz="1800" b="0" i="0" u="none" strike="noStrike" cap="none" dirty="0">
                <a:solidFill>
                  <a:srgbClr val="0E101A"/>
                </a:solidFill>
                <a:latin typeface="Proxima Nova"/>
                <a:ea typeface="Proxima Nova"/>
                <a:cs typeface="Proxima Nova"/>
                <a:sym typeface="Proxima Nova"/>
              </a:rPr>
              <a:t> create -f &lt;file-name&gt;.</a:t>
            </a:r>
            <a:r>
              <a:rPr lang="en-GB" sz="1800" b="0" i="0" u="none" strike="noStrike" cap="none" dirty="0" err="1">
                <a:solidFill>
                  <a:srgbClr val="0E101A"/>
                </a:solidFill>
                <a:latin typeface="Proxima Nova"/>
                <a:ea typeface="Proxima Nova"/>
                <a:cs typeface="Proxima Nova"/>
                <a:sym typeface="Proxima Nova"/>
              </a:rPr>
              <a:t>yaml</a:t>
            </a:r>
            <a:endParaRPr sz="1800" b="0" i="0" u="none" strike="noStrike" cap="none" dirty="0">
              <a:solidFill>
                <a:srgbClr val="0E101A"/>
              </a:solidFill>
              <a:latin typeface="Proxima Nova"/>
              <a:ea typeface="Proxima Nova"/>
              <a:cs typeface="Proxima Nova"/>
              <a:sym typeface="Proxima Nova"/>
            </a:endParaRPr>
          </a:p>
          <a:p>
            <a:pPr marL="9144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err="1">
                <a:solidFill>
                  <a:srgbClr val="0E101A"/>
                </a:solidFill>
                <a:latin typeface="Proxima Nova"/>
                <a:ea typeface="Proxima Nova"/>
                <a:cs typeface="Proxima Nova"/>
                <a:sym typeface="Proxima Nova"/>
              </a:rPr>
              <a:t>kubectl</a:t>
            </a:r>
            <a:r>
              <a:rPr lang="en-GB" sz="1800" b="0" i="0" u="none" strike="noStrike" cap="none" dirty="0">
                <a:solidFill>
                  <a:srgbClr val="0E101A"/>
                </a:solidFill>
                <a:latin typeface="Proxima Nova"/>
                <a:ea typeface="Proxima Nova"/>
                <a:cs typeface="Proxima Nova"/>
                <a:sym typeface="Proxima Nova"/>
              </a:rPr>
              <a:t> apply -f &lt;file-name&gt;.</a:t>
            </a:r>
            <a:r>
              <a:rPr lang="en-GB" sz="1800" b="0" i="0" u="none" strike="noStrike" cap="none" dirty="0" err="1">
                <a:solidFill>
                  <a:srgbClr val="0E101A"/>
                </a:solidFill>
                <a:latin typeface="Proxima Nova"/>
                <a:ea typeface="Proxima Nova"/>
                <a:cs typeface="Proxima Nova"/>
                <a:sym typeface="Proxima Nova"/>
              </a:rPr>
              <a:t>yaml</a:t>
            </a:r>
            <a:endParaRPr sz="1800" b="0" i="0" u="none" strike="noStrike" cap="none" dirty="0">
              <a:solidFill>
                <a:srgbClr val="0E101A"/>
              </a:solidFill>
              <a:latin typeface="Proxima Nova"/>
              <a:ea typeface="Proxima Nova"/>
              <a:cs typeface="Proxima Nova"/>
              <a:sym typeface="Proxima Nova"/>
            </a:endParaRPr>
          </a:p>
        </p:txBody>
      </p:sp>
    </p:spTree>
    <p:extLst>
      <p:ext uri="{BB962C8B-B14F-4D97-AF65-F5344CB8AC3E}">
        <p14:creationId xmlns:p14="http://schemas.microsoft.com/office/powerpoint/2010/main" val="3073877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STRUCTURE OF A YAML FILE</a:t>
            </a:r>
          </a:p>
        </p:txBody>
      </p:sp>
      <p:sp>
        <p:nvSpPr>
          <p:cNvPr id="11" name="Google Shape;1170;p31">
            <a:extLst>
              <a:ext uri="{FF2B5EF4-FFF2-40B4-BE49-F238E27FC236}">
                <a16:creationId xmlns:a16="http://schemas.microsoft.com/office/drawing/2014/main" id="{E3F4A6D3-5BB6-74B4-2BEF-949FFEC5EEF6}"/>
              </a:ext>
            </a:extLst>
          </p:cNvPr>
          <p:cNvSpPr/>
          <p:nvPr/>
        </p:nvSpPr>
        <p:spPr>
          <a:xfrm>
            <a:off x="3213479" y="2630903"/>
            <a:ext cx="2492700" cy="2636700"/>
          </a:xfrm>
          <a:prstGeom prst="roundRect">
            <a:avLst>
              <a:gd name="adj" fmla="val 7647"/>
            </a:avLst>
          </a:prstGeom>
          <a:solidFill>
            <a:srgbClr val="2C2C2C"/>
          </a:solidFill>
          <a:ln>
            <a:noFill/>
          </a:ln>
        </p:spPr>
        <p:txBody>
          <a:bodyPr spcFirstLastPara="1" wrap="square" lIns="68575" tIns="68575" rIns="68575" bIns="68575" anchor="ctr" anchorCtr="0">
            <a:noAutofit/>
          </a:bodyPr>
          <a:lstStyle/>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apiVersion</a:t>
            </a:r>
            <a:r>
              <a:rPr lang="en-GB" sz="1700" b="0" i="0" u="none" strike="noStrike" cap="none">
                <a:solidFill>
                  <a:srgbClr val="A9B7C6"/>
                </a:solidFill>
                <a:latin typeface="JetBrains Mono"/>
                <a:ea typeface="JetBrains Mono"/>
                <a:cs typeface="JetBrains Mono"/>
                <a:sym typeface="JetBrains Mono"/>
              </a:rPr>
              <a:t>:</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kind</a:t>
            </a:r>
            <a:r>
              <a:rPr lang="en-GB" sz="1700" b="0" i="0" u="none" strike="noStrike" cap="none">
                <a:solidFill>
                  <a:srgbClr val="A9B7C6"/>
                </a:solidFill>
                <a:latin typeface="JetBrains Mono"/>
                <a:ea typeface="JetBrains Mono"/>
                <a:cs typeface="JetBrains Mono"/>
                <a:sym typeface="JetBrains Mono"/>
              </a:rPr>
              <a:t>:</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metadata</a:t>
            </a:r>
            <a:r>
              <a:rPr lang="en-GB" sz="1700" b="0" i="0" u="none" strike="noStrike" cap="none">
                <a:solidFill>
                  <a:srgbClr val="A9B7C6"/>
                </a:solidFill>
                <a:latin typeface="JetBrains Mono"/>
                <a:ea typeface="JetBrains Mono"/>
                <a:cs typeface="JetBrains Mono"/>
                <a:sym typeface="JetBrains Mono"/>
              </a:rPr>
              <a:t>:</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A9B7C6"/>
                </a:solidFill>
                <a:latin typeface="JetBrains Mono"/>
                <a:ea typeface="JetBrains Mono"/>
                <a:cs typeface="JetBrains Mono"/>
                <a:sym typeface="JetBrains Mono"/>
              </a:rPr>
              <a:t> </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spec</a:t>
            </a:r>
            <a:r>
              <a:rPr lang="en-GB" sz="1700" b="0" i="0" u="none" strike="noStrike" cap="none">
                <a:solidFill>
                  <a:srgbClr val="A9B7C6"/>
                </a:solidFill>
                <a:latin typeface="JetBrains Mono"/>
                <a:ea typeface="JetBrains Mono"/>
                <a:cs typeface="JetBrains Mono"/>
                <a:sym typeface="JetBrains Mono"/>
              </a:rPr>
              <a:t>:</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endParaRPr sz="1700" b="0" i="0" u="none" strike="noStrike" cap="none">
              <a:solidFill>
                <a:srgbClr val="A9B7C6"/>
              </a:solidFill>
              <a:latin typeface="JetBrains Mono"/>
              <a:ea typeface="JetBrains Mono"/>
              <a:cs typeface="JetBrains Mono"/>
              <a:sym typeface="JetBrains Mono"/>
            </a:endParaRPr>
          </a:p>
        </p:txBody>
      </p:sp>
    </p:spTree>
    <p:extLst>
      <p:ext uri="{BB962C8B-B14F-4D97-AF65-F5344CB8AC3E}">
        <p14:creationId xmlns:p14="http://schemas.microsoft.com/office/powerpoint/2010/main" val="2537250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YAML IN KUBERNETES</a:t>
            </a:r>
          </a:p>
        </p:txBody>
      </p:sp>
      <p:sp>
        <p:nvSpPr>
          <p:cNvPr id="9" name="Google Shape;1181;p32">
            <a:extLst>
              <a:ext uri="{FF2B5EF4-FFF2-40B4-BE49-F238E27FC236}">
                <a16:creationId xmlns:a16="http://schemas.microsoft.com/office/drawing/2014/main" id="{1CF5874C-F6E8-DB67-A679-B63CB6DC68B6}"/>
              </a:ext>
            </a:extLst>
          </p:cNvPr>
          <p:cNvSpPr/>
          <p:nvPr/>
        </p:nvSpPr>
        <p:spPr>
          <a:xfrm>
            <a:off x="2962200" y="2207607"/>
            <a:ext cx="3133800" cy="3411600"/>
          </a:xfrm>
          <a:prstGeom prst="roundRect">
            <a:avLst>
              <a:gd name="adj" fmla="val 7647"/>
            </a:avLst>
          </a:prstGeom>
          <a:solidFill>
            <a:srgbClr val="2C2C2C"/>
          </a:solidFill>
          <a:ln>
            <a:noFill/>
          </a:ln>
        </p:spPr>
        <p:txBody>
          <a:bodyPr spcFirstLastPara="1" wrap="square" lIns="68575" tIns="68575" rIns="68575" bIns="68575" anchor="ctr" anchorCtr="0">
            <a:noAutofit/>
          </a:bodyPr>
          <a:lstStyle/>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apiVersion</a:t>
            </a:r>
            <a:r>
              <a:rPr lang="en-GB" sz="1700" b="0" i="0" u="none" strike="noStrike" cap="none">
                <a:solidFill>
                  <a:srgbClr val="A9B7C6"/>
                </a:solidFill>
                <a:latin typeface="JetBrains Mono"/>
                <a:ea typeface="JetBrains Mono"/>
                <a:cs typeface="JetBrains Mono"/>
                <a:sym typeface="JetBrains Mono"/>
              </a:rPr>
              <a:t>: v1</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kind</a:t>
            </a:r>
            <a:r>
              <a:rPr lang="en-GB" sz="1700" b="0" i="0" u="none" strike="noStrike" cap="none">
                <a:solidFill>
                  <a:srgbClr val="A9B7C6"/>
                </a:solidFill>
                <a:latin typeface="JetBrains Mono"/>
                <a:ea typeface="JetBrains Mono"/>
                <a:cs typeface="JetBrains Mono"/>
                <a:sym typeface="JetBrains Mono"/>
              </a:rPr>
              <a:t>: Pod</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metadata</a:t>
            </a:r>
            <a:r>
              <a:rPr lang="en-GB" sz="1700" b="0" i="0" u="none" strike="noStrike" cap="none">
                <a:solidFill>
                  <a:srgbClr val="A9B7C6"/>
                </a:solidFill>
                <a:latin typeface="JetBrains Mono"/>
                <a:ea typeface="JetBrains Mono"/>
                <a:cs typeface="JetBrains Mono"/>
                <a:sym typeface="JetBrains Mono"/>
              </a:rPr>
              <a:t>: </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A9B7C6"/>
                </a:solidFill>
                <a:latin typeface="JetBrains Mono"/>
                <a:ea typeface="JetBrains Mono"/>
                <a:cs typeface="JetBrains Mono"/>
                <a:sym typeface="JetBrains Mono"/>
              </a:rPr>
              <a:t>  </a:t>
            </a:r>
            <a:r>
              <a:rPr lang="en-GB" sz="1700" b="0" i="0" u="none" strike="noStrike" cap="none">
                <a:solidFill>
                  <a:srgbClr val="E69138"/>
                </a:solidFill>
                <a:latin typeface="JetBrains Mono"/>
                <a:ea typeface="JetBrains Mono"/>
                <a:cs typeface="JetBrains Mono"/>
                <a:sym typeface="JetBrains Mono"/>
              </a:rPr>
              <a:t>name</a:t>
            </a:r>
            <a:r>
              <a:rPr lang="en-GB" sz="1700" b="0" i="0" u="none" strike="noStrike" cap="none">
                <a:solidFill>
                  <a:srgbClr val="A9B7C6"/>
                </a:solidFill>
                <a:latin typeface="JetBrains Mono"/>
                <a:ea typeface="JetBrains Mono"/>
                <a:cs typeface="JetBrains Mono"/>
                <a:sym typeface="JetBrains Mono"/>
              </a:rPr>
              <a:t>: my-nginx</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A9B7C6"/>
                </a:solidFill>
                <a:latin typeface="JetBrains Mono"/>
                <a:ea typeface="JetBrains Mono"/>
                <a:cs typeface="JetBrains Mono"/>
                <a:sym typeface="JetBrains Mono"/>
              </a:rPr>
              <a:t>  </a:t>
            </a:r>
            <a:r>
              <a:rPr lang="en-GB" sz="1700" b="0" i="0" u="none" strike="noStrike" cap="none">
                <a:solidFill>
                  <a:srgbClr val="E69138"/>
                </a:solidFill>
                <a:latin typeface="JetBrains Mono"/>
                <a:ea typeface="JetBrains Mono"/>
                <a:cs typeface="JetBrains Mono"/>
                <a:sym typeface="JetBrains Mono"/>
              </a:rPr>
              <a:t>labels:</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A9B7C6"/>
                </a:solidFill>
                <a:latin typeface="JetBrains Mono"/>
                <a:ea typeface="JetBrains Mono"/>
                <a:cs typeface="JetBrains Mono"/>
                <a:sym typeface="JetBrains Mono"/>
              </a:rPr>
              <a:t>    </a:t>
            </a:r>
            <a:r>
              <a:rPr lang="en-GB" sz="1700" b="0" i="0" u="none" strike="noStrike" cap="none">
                <a:solidFill>
                  <a:srgbClr val="E69138"/>
                </a:solidFill>
                <a:latin typeface="JetBrains Mono"/>
                <a:ea typeface="JetBrains Mono"/>
                <a:cs typeface="JetBrains Mono"/>
                <a:sym typeface="JetBrains Mono"/>
              </a:rPr>
              <a:t>tier</a:t>
            </a:r>
            <a:r>
              <a:rPr lang="en-GB" sz="1700" b="0" i="0" u="none" strike="noStrike" cap="none">
                <a:solidFill>
                  <a:srgbClr val="A9B7C6"/>
                </a:solidFill>
                <a:latin typeface="JetBrains Mono"/>
                <a:ea typeface="JetBrains Mono"/>
                <a:cs typeface="JetBrains Mono"/>
                <a:sym typeface="JetBrains Mono"/>
              </a:rPr>
              <a:t>: frontend</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spec</a:t>
            </a:r>
            <a:r>
              <a:rPr lang="en-GB" sz="1700" b="0" i="0" u="none" strike="noStrike" cap="none">
                <a:solidFill>
                  <a:srgbClr val="A9B7C6"/>
                </a:solidFill>
                <a:latin typeface="JetBrains Mono"/>
                <a:ea typeface="JetBrains Mono"/>
                <a:cs typeface="JetBrains Mono"/>
                <a:sym typeface="JetBrains Mono"/>
              </a:rPr>
              <a:t>:</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endParaRPr sz="1700" b="0" i="0" u="none" strike="noStrike" cap="none">
              <a:solidFill>
                <a:srgbClr val="A9B7C6"/>
              </a:solidFill>
              <a:latin typeface="JetBrains Mono"/>
              <a:ea typeface="JetBrains Mono"/>
              <a:cs typeface="JetBrains Mono"/>
              <a:sym typeface="JetBrains Mono"/>
            </a:endParaRPr>
          </a:p>
        </p:txBody>
      </p:sp>
    </p:spTree>
    <p:extLst>
      <p:ext uri="{BB962C8B-B14F-4D97-AF65-F5344CB8AC3E}">
        <p14:creationId xmlns:p14="http://schemas.microsoft.com/office/powerpoint/2010/main" val="13994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YAML IN KUBERNETES</a:t>
            </a:r>
          </a:p>
        </p:txBody>
      </p:sp>
      <p:sp>
        <p:nvSpPr>
          <p:cNvPr id="11" name="Google Shape;1189;p33">
            <a:extLst>
              <a:ext uri="{FF2B5EF4-FFF2-40B4-BE49-F238E27FC236}">
                <a16:creationId xmlns:a16="http://schemas.microsoft.com/office/drawing/2014/main" id="{625B5471-0960-C96D-2302-E87058638A99}"/>
              </a:ext>
            </a:extLst>
          </p:cNvPr>
          <p:cNvSpPr/>
          <p:nvPr/>
        </p:nvSpPr>
        <p:spPr>
          <a:xfrm>
            <a:off x="3088500" y="2222052"/>
            <a:ext cx="3007500" cy="3780900"/>
          </a:xfrm>
          <a:prstGeom prst="roundRect">
            <a:avLst>
              <a:gd name="adj" fmla="val 7647"/>
            </a:avLst>
          </a:prstGeom>
          <a:solidFill>
            <a:srgbClr val="2C2C2C"/>
          </a:solidFill>
          <a:ln>
            <a:noFill/>
          </a:ln>
        </p:spPr>
        <p:txBody>
          <a:bodyPr spcFirstLastPara="1" wrap="square" lIns="68575" tIns="68575" rIns="68575" bIns="68575" anchor="ctr" anchorCtr="0">
            <a:noAutofit/>
          </a:bodyPr>
          <a:lstStyle/>
          <a:p>
            <a:pPr marL="0" marR="0" lvl="0" indent="0" algn="l" rtl="0">
              <a:lnSpc>
                <a:spcPct val="135714"/>
              </a:lnSpc>
              <a:spcBef>
                <a:spcPts val="0"/>
              </a:spcBef>
              <a:spcAft>
                <a:spcPts val="0"/>
              </a:spcAft>
              <a:buClr>
                <a:srgbClr val="000000"/>
              </a:buClr>
              <a:buSzPts val="1700"/>
              <a:buFont typeface="Arial"/>
              <a:buNone/>
            </a:pPr>
            <a:endParaRPr sz="1700" b="0" i="0" u="none" strike="noStrike" cap="none" dirty="0">
              <a:solidFill>
                <a:srgbClr val="E69138"/>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err="1">
                <a:solidFill>
                  <a:srgbClr val="E69138"/>
                </a:solidFill>
                <a:latin typeface="JetBrains Mono"/>
                <a:ea typeface="JetBrains Mono"/>
                <a:cs typeface="JetBrains Mono"/>
                <a:sym typeface="JetBrains Mono"/>
              </a:rPr>
              <a:t>apiVersion</a:t>
            </a:r>
            <a:r>
              <a:rPr lang="en-GB" sz="1700" b="0" i="0" u="none" strike="noStrike" cap="none" dirty="0">
                <a:solidFill>
                  <a:srgbClr val="A9B7C6"/>
                </a:solidFill>
                <a:latin typeface="JetBrains Mono"/>
                <a:ea typeface="JetBrains Mono"/>
                <a:cs typeface="JetBrains Mono"/>
                <a:sym typeface="JetBrains Mono"/>
              </a:rPr>
              <a:t>: v1</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a:solidFill>
                  <a:srgbClr val="E69138"/>
                </a:solidFill>
                <a:latin typeface="JetBrains Mono"/>
                <a:ea typeface="JetBrains Mono"/>
                <a:cs typeface="JetBrains Mono"/>
                <a:sym typeface="JetBrains Mono"/>
              </a:rPr>
              <a:t>kind</a:t>
            </a:r>
            <a:r>
              <a:rPr lang="en-GB" sz="1700" b="0" i="0" u="none" strike="noStrike" cap="none" dirty="0">
                <a:solidFill>
                  <a:srgbClr val="A9B7C6"/>
                </a:solidFill>
                <a:latin typeface="JetBrains Mono"/>
                <a:ea typeface="JetBrains Mono"/>
                <a:cs typeface="JetBrains Mono"/>
                <a:sym typeface="JetBrains Mono"/>
              </a:rPr>
              <a:t>: Pod</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a:solidFill>
                  <a:srgbClr val="E69138"/>
                </a:solidFill>
                <a:latin typeface="JetBrains Mono"/>
                <a:ea typeface="JetBrains Mono"/>
                <a:cs typeface="JetBrains Mono"/>
                <a:sym typeface="JetBrains Mono"/>
              </a:rPr>
              <a:t>metadata</a:t>
            </a:r>
            <a:r>
              <a:rPr lang="en-GB" sz="1700" b="0" i="0" u="none" strike="noStrike" cap="none" dirty="0">
                <a:solidFill>
                  <a:srgbClr val="A9B7C6"/>
                </a:solidFill>
                <a:latin typeface="JetBrains Mono"/>
                <a:ea typeface="JetBrains Mono"/>
                <a:cs typeface="JetBrains Mono"/>
                <a:sym typeface="JetBrains Mono"/>
              </a:rPr>
              <a:t>: </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a:solidFill>
                  <a:srgbClr val="A9B7C6"/>
                </a:solidFill>
                <a:latin typeface="JetBrains Mono"/>
                <a:ea typeface="JetBrains Mono"/>
                <a:cs typeface="JetBrains Mono"/>
                <a:sym typeface="JetBrains Mono"/>
              </a:rPr>
              <a:t>  </a:t>
            </a:r>
            <a:r>
              <a:rPr lang="en-GB" sz="1700" b="0" i="0" u="none" strike="noStrike" cap="none" dirty="0">
                <a:solidFill>
                  <a:srgbClr val="E69138"/>
                </a:solidFill>
                <a:latin typeface="JetBrains Mono"/>
                <a:ea typeface="JetBrains Mono"/>
                <a:cs typeface="JetBrains Mono"/>
                <a:sym typeface="JetBrains Mono"/>
              </a:rPr>
              <a:t>name</a:t>
            </a:r>
            <a:r>
              <a:rPr lang="en-GB" sz="1700" b="0" i="0" u="none" strike="noStrike" cap="none" dirty="0">
                <a:solidFill>
                  <a:srgbClr val="A9B7C6"/>
                </a:solidFill>
                <a:latin typeface="JetBrains Mono"/>
                <a:ea typeface="JetBrains Mono"/>
                <a:cs typeface="JetBrains Mono"/>
                <a:sym typeface="JetBrains Mono"/>
              </a:rPr>
              <a:t>: my-nginx</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a:solidFill>
                  <a:srgbClr val="A9B7C6"/>
                </a:solidFill>
                <a:latin typeface="JetBrains Mono"/>
                <a:ea typeface="JetBrains Mono"/>
                <a:cs typeface="JetBrains Mono"/>
                <a:sym typeface="JetBrains Mono"/>
              </a:rPr>
              <a:t>  </a:t>
            </a:r>
            <a:r>
              <a:rPr lang="en-GB" sz="1700" b="0" i="0" u="none" strike="noStrike" cap="none" dirty="0">
                <a:solidFill>
                  <a:srgbClr val="E69138"/>
                </a:solidFill>
                <a:latin typeface="JetBrains Mono"/>
                <a:ea typeface="JetBrains Mono"/>
                <a:cs typeface="JetBrains Mono"/>
                <a:sym typeface="JetBrains Mono"/>
              </a:rPr>
              <a:t>labels</a:t>
            </a:r>
            <a:r>
              <a:rPr lang="en-GB" sz="1700" b="0" i="0" u="none" strike="noStrike" cap="none" dirty="0">
                <a:solidFill>
                  <a:srgbClr val="A9B7C6"/>
                </a:solidFill>
                <a:latin typeface="JetBrains Mono"/>
                <a:ea typeface="JetBrains Mono"/>
                <a:cs typeface="JetBrains Mono"/>
                <a:sym typeface="JetBrains Mono"/>
              </a:rPr>
              <a:t>:</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a:solidFill>
                  <a:srgbClr val="A9B7C6"/>
                </a:solidFill>
                <a:latin typeface="JetBrains Mono"/>
                <a:ea typeface="JetBrains Mono"/>
                <a:cs typeface="JetBrains Mono"/>
                <a:sym typeface="JetBrains Mono"/>
              </a:rPr>
              <a:t>    </a:t>
            </a:r>
            <a:r>
              <a:rPr lang="en-GB" sz="1700" b="0" i="0" u="none" strike="noStrike" cap="none" dirty="0">
                <a:solidFill>
                  <a:srgbClr val="E69138"/>
                </a:solidFill>
                <a:latin typeface="JetBrains Mono"/>
                <a:ea typeface="JetBrains Mono"/>
                <a:cs typeface="JetBrains Mono"/>
                <a:sym typeface="JetBrains Mono"/>
              </a:rPr>
              <a:t>tier</a:t>
            </a:r>
            <a:r>
              <a:rPr lang="en-GB" sz="1700" b="0" i="0" u="none" strike="noStrike" cap="none" dirty="0">
                <a:solidFill>
                  <a:srgbClr val="A9B7C6"/>
                </a:solidFill>
                <a:latin typeface="JetBrains Mono"/>
                <a:ea typeface="JetBrains Mono"/>
                <a:cs typeface="JetBrains Mono"/>
                <a:sym typeface="JetBrains Mono"/>
              </a:rPr>
              <a:t>: frontend</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a:solidFill>
                  <a:srgbClr val="E69138"/>
                </a:solidFill>
                <a:latin typeface="JetBrains Mono"/>
                <a:ea typeface="JetBrains Mono"/>
                <a:cs typeface="JetBrains Mono"/>
                <a:sym typeface="JetBrains Mono"/>
              </a:rPr>
              <a:t>spec</a:t>
            </a:r>
            <a:r>
              <a:rPr lang="en-GB" sz="1700" b="0" i="0" u="none" strike="noStrike" cap="none" dirty="0">
                <a:solidFill>
                  <a:srgbClr val="A9B7C6"/>
                </a:solidFill>
                <a:latin typeface="JetBrains Mono"/>
                <a:ea typeface="JetBrains Mono"/>
                <a:cs typeface="JetBrains Mono"/>
                <a:sym typeface="JetBrains Mono"/>
              </a:rPr>
              <a:t>:</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a:solidFill>
                  <a:srgbClr val="A9B7C6"/>
                </a:solidFill>
                <a:latin typeface="JetBrains Mono"/>
                <a:ea typeface="JetBrains Mono"/>
                <a:cs typeface="JetBrains Mono"/>
                <a:sym typeface="JetBrains Mono"/>
              </a:rPr>
              <a:t>  </a:t>
            </a:r>
            <a:r>
              <a:rPr lang="en-GB" sz="1700" b="0" i="0" u="none" strike="noStrike" cap="none" dirty="0">
                <a:solidFill>
                  <a:srgbClr val="E69138"/>
                </a:solidFill>
                <a:latin typeface="JetBrains Mono"/>
                <a:ea typeface="JetBrains Mono"/>
                <a:cs typeface="JetBrains Mono"/>
                <a:sym typeface="JetBrains Mono"/>
              </a:rPr>
              <a:t>containers</a:t>
            </a:r>
            <a:r>
              <a:rPr lang="en-GB" sz="1700" b="0" i="0" u="none" strike="noStrike" cap="none" dirty="0">
                <a:solidFill>
                  <a:srgbClr val="A9B7C6"/>
                </a:solidFill>
                <a:latin typeface="JetBrains Mono"/>
                <a:ea typeface="JetBrains Mono"/>
                <a:cs typeface="JetBrains Mono"/>
                <a:sym typeface="JetBrains Mono"/>
              </a:rPr>
              <a:t>: </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a:solidFill>
                  <a:srgbClr val="A9B7C6"/>
                </a:solidFill>
                <a:latin typeface="JetBrains Mono"/>
                <a:ea typeface="JetBrains Mono"/>
                <a:cs typeface="JetBrains Mono"/>
                <a:sym typeface="JetBrains Mono"/>
              </a:rPr>
              <a:t>  - </a:t>
            </a:r>
            <a:r>
              <a:rPr lang="en-GB" sz="1700" b="0" i="0" u="none" strike="noStrike" cap="none" dirty="0">
                <a:solidFill>
                  <a:srgbClr val="E69138"/>
                </a:solidFill>
                <a:latin typeface="JetBrains Mono"/>
                <a:ea typeface="JetBrains Mono"/>
                <a:cs typeface="JetBrains Mono"/>
                <a:sym typeface="JetBrains Mono"/>
              </a:rPr>
              <a:t>name</a:t>
            </a:r>
            <a:r>
              <a:rPr lang="en-GB" sz="1700" b="0" i="0" u="none" strike="noStrike" cap="none" dirty="0">
                <a:solidFill>
                  <a:srgbClr val="A9B7C6"/>
                </a:solidFill>
                <a:latin typeface="JetBrains Mono"/>
                <a:ea typeface="JetBrains Mono"/>
                <a:cs typeface="JetBrains Mono"/>
                <a:sym typeface="JetBrains Mono"/>
              </a:rPr>
              <a:t>: web-app</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dirty="0">
                <a:solidFill>
                  <a:srgbClr val="A9B7C6"/>
                </a:solidFill>
                <a:latin typeface="JetBrains Mono"/>
                <a:ea typeface="JetBrains Mono"/>
                <a:cs typeface="JetBrains Mono"/>
                <a:sym typeface="JetBrains Mono"/>
              </a:rPr>
              <a:t>    </a:t>
            </a:r>
            <a:r>
              <a:rPr lang="en-GB" sz="1700" b="0" i="0" u="none" strike="noStrike" cap="none" dirty="0">
                <a:solidFill>
                  <a:srgbClr val="E69138"/>
                </a:solidFill>
                <a:latin typeface="JetBrains Mono"/>
                <a:ea typeface="JetBrains Mono"/>
                <a:cs typeface="JetBrains Mono"/>
                <a:sym typeface="JetBrains Mono"/>
              </a:rPr>
              <a:t>image</a:t>
            </a:r>
            <a:r>
              <a:rPr lang="en-GB" sz="1700" b="0" i="0" u="none" strike="noStrike" cap="none" dirty="0">
                <a:solidFill>
                  <a:srgbClr val="A9B7C6"/>
                </a:solidFill>
                <a:latin typeface="JetBrains Mono"/>
                <a:ea typeface="JetBrains Mono"/>
                <a:cs typeface="JetBrains Mono"/>
                <a:sym typeface="JetBrains Mono"/>
              </a:rPr>
              <a:t>: nginx</a:t>
            </a:r>
            <a:endParaRPr sz="17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endParaRPr sz="1700" b="0" i="0" u="none" strike="noStrike" cap="none" dirty="0">
              <a:solidFill>
                <a:srgbClr val="A9B7C6"/>
              </a:solidFill>
              <a:latin typeface="JetBrains Mono"/>
              <a:ea typeface="JetBrains Mono"/>
              <a:cs typeface="JetBrains Mono"/>
              <a:sym typeface="JetBrains Mono"/>
            </a:endParaRPr>
          </a:p>
        </p:txBody>
      </p:sp>
    </p:spTree>
    <p:extLst>
      <p:ext uri="{BB962C8B-B14F-4D97-AF65-F5344CB8AC3E}">
        <p14:creationId xmlns:p14="http://schemas.microsoft.com/office/powerpoint/2010/main" val="3632629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REPLICASETS</a:t>
            </a:r>
          </a:p>
        </p:txBody>
      </p:sp>
      <p:pic>
        <p:nvPicPr>
          <p:cNvPr id="11" name="Google Shape;1198;p34">
            <a:extLst>
              <a:ext uri="{FF2B5EF4-FFF2-40B4-BE49-F238E27FC236}">
                <a16:creationId xmlns:a16="http://schemas.microsoft.com/office/drawing/2014/main" id="{A0CDB463-D050-467C-29E1-9B91DE3832DB}"/>
              </a:ext>
            </a:extLst>
          </p:cNvPr>
          <p:cNvPicPr preferRelativeResize="0"/>
          <p:nvPr/>
        </p:nvPicPr>
        <p:blipFill rotWithShape="1">
          <a:blip r:embed="rId6">
            <a:alphaModFix/>
          </a:blip>
          <a:srcRect/>
          <a:stretch/>
        </p:blipFill>
        <p:spPr>
          <a:xfrm>
            <a:off x="2802674" y="1993297"/>
            <a:ext cx="6457590" cy="3274306"/>
          </a:xfrm>
          <a:prstGeom prst="rect">
            <a:avLst/>
          </a:prstGeom>
          <a:noFill/>
          <a:ln>
            <a:noFill/>
          </a:ln>
        </p:spPr>
      </p:pic>
    </p:spTree>
    <p:extLst>
      <p:ext uri="{BB962C8B-B14F-4D97-AF65-F5344CB8AC3E}">
        <p14:creationId xmlns:p14="http://schemas.microsoft.com/office/powerpoint/2010/main" val="3421176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REPLICASETS</a:t>
            </a:r>
          </a:p>
        </p:txBody>
      </p:sp>
      <p:pic>
        <p:nvPicPr>
          <p:cNvPr id="9" name="Google Shape;1207;p35">
            <a:extLst>
              <a:ext uri="{FF2B5EF4-FFF2-40B4-BE49-F238E27FC236}">
                <a16:creationId xmlns:a16="http://schemas.microsoft.com/office/drawing/2014/main" id="{B12EDCFA-EE00-08F3-74C1-494DCCA355A3}"/>
              </a:ext>
            </a:extLst>
          </p:cNvPr>
          <p:cNvPicPr preferRelativeResize="0"/>
          <p:nvPr/>
        </p:nvPicPr>
        <p:blipFill rotWithShape="1">
          <a:blip r:embed="rId6">
            <a:alphaModFix/>
          </a:blip>
          <a:srcRect/>
          <a:stretch/>
        </p:blipFill>
        <p:spPr>
          <a:xfrm>
            <a:off x="1898240" y="2108843"/>
            <a:ext cx="8395519" cy="3410652"/>
          </a:xfrm>
          <a:prstGeom prst="rect">
            <a:avLst/>
          </a:prstGeom>
          <a:noFill/>
          <a:ln>
            <a:noFill/>
          </a:ln>
        </p:spPr>
      </p:pic>
    </p:spTree>
    <p:extLst>
      <p:ext uri="{BB962C8B-B14F-4D97-AF65-F5344CB8AC3E}">
        <p14:creationId xmlns:p14="http://schemas.microsoft.com/office/powerpoint/2010/main" val="3339058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REPLICASETS</a:t>
            </a:r>
          </a:p>
        </p:txBody>
      </p:sp>
      <p:sp>
        <p:nvSpPr>
          <p:cNvPr id="11" name="Google Shape;1215;p36">
            <a:extLst>
              <a:ext uri="{FF2B5EF4-FFF2-40B4-BE49-F238E27FC236}">
                <a16:creationId xmlns:a16="http://schemas.microsoft.com/office/drawing/2014/main" id="{34CDEECA-DDD1-2D80-74CE-41F70D94CA27}"/>
              </a:ext>
            </a:extLst>
          </p:cNvPr>
          <p:cNvSpPr txBox="1"/>
          <p:nvPr/>
        </p:nvSpPr>
        <p:spPr>
          <a:xfrm>
            <a:off x="1927957" y="1993297"/>
            <a:ext cx="8183400" cy="3719577"/>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endParaRPr sz="1800" b="0" i="0" u="none" strike="noStrike" cap="none" dirty="0">
              <a:solidFill>
                <a:srgbClr val="0A0A0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The purpose of a </a:t>
            </a:r>
            <a:r>
              <a:rPr lang="en-GB" sz="1800" b="0" i="0" u="none" strike="noStrike" cap="none" dirty="0" err="1">
                <a:solidFill>
                  <a:srgbClr val="0E101A"/>
                </a:solidFill>
                <a:latin typeface="Proxima Nova"/>
                <a:ea typeface="Proxima Nova"/>
                <a:cs typeface="Proxima Nova"/>
                <a:sym typeface="Proxima Nova"/>
              </a:rPr>
              <a:t>ReplicaSet</a:t>
            </a:r>
            <a:r>
              <a:rPr lang="en-GB" sz="1800" b="0" i="0" u="none" strike="noStrike" cap="none" dirty="0">
                <a:solidFill>
                  <a:srgbClr val="0E101A"/>
                </a:solidFill>
                <a:latin typeface="Proxima Nova"/>
                <a:ea typeface="Proxima Nova"/>
                <a:cs typeface="Proxima Nova"/>
                <a:sym typeface="Proxima Nova"/>
              </a:rPr>
              <a:t> is to maintain a stable set of replica pods running at any given time.</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They are often used to guarantee the availability of a specific number of identical pods.</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A </a:t>
            </a:r>
            <a:r>
              <a:rPr lang="en-GB" sz="1800" b="0" i="0" u="none" strike="noStrike" cap="none" dirty="0" err="1">
                <a:solidFill>
                  <a:srgbClr val="0E101A"/>
                </a:solidFill>
                <a:latin typeface="Proxima Nova"/>
                <a:ea typeface="Proxima Nova"/>
                <a:cs typeface="Proxima Nova"/>
                <a:sym typeface="Proxima Nova"/>
              </a:rPr>
              <a:t>ReplicaSet</a:t>
            </a:r>
            <a:r>
              <a:rPr lang="en-GB" sz="1800" b="0" i="0" u="none" strike="noStrike" cap="none" dirty="0">
                <a:solidFill>
                  <a:srgbClr val="0E101A"/>
                </a:solidFill>
                <a:latin typeface="Proxima Nova"/>
                <a:ea typeface="Proxima Nova"/>
                <a:cs typeface="Proxima Nova"/>
                <a:sym typeface="Proxima Nova"/>
              </a:rPr>
              <a:t> is defined with fields, including the following:</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A selector that specifies how to identify pods it can acquire</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A number of replicas indicating how many pods it should be maintaining</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A pod template specifying the data of new pods should create to meet the number of replicas criteria</a:t>
            </a:r>
            <a:endParaRPr sz="1800" b="0" i="0" u="none" strike="noStrike" cap="none" dirty="0">
              <a:solidFill>
                <a:srgbClr val="0E101A"/>
              </a:solidFill>
              <a:latin typeface="Proxima Nova"/>
              <a:ea typeface="Proxima Nova"/>
              <a:cs typeface="Proxima Nova"/>
              <a:sym typeface="Proxima Nova"/>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dirty="0">
              <a:solidFill>
                <a:srgbClr val="0E101A"/>
              </a:solidFill>
              <a:latin typeface="Proxima Nova"/>
              <a:ea typeface="Proxima Nova"/>
              <a:cs typeface="Proxima Nova"/>
              <a:sym typeface="Proxima Nova"/>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dirty="0">
              <a:solidFill>
                <a:srgbClr val="0E101A"/>
              </a:solidFill>
              <a:latin typeface="Proxima Nova"/>
              <a:ea typeface="Proxima Nova"/>
              <a:cs typeface="Proxima Nova"/>
              <a:sym typeface="Proxima Nova"/>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dirty="0">
              <a:solidFill>
                <a:srgbClr val="0E101A"/>
              </a:solidFill>
              <a:latin typeface="Proxima Nova"/>
              <a:ea typeface="Proxima Nova"/>
              <a:cs typeface="Proxima Nova"/>
              <a:sym typeface="Proxima Nova"/>
            </a:endParaRPr>
          </a:p>
          <a:p>
            <a:pPr marL="457200" marR="0" lvl="0" indent="0" algn="just" rtl="0">
              <a:lnSpc>
                <a:spcPct val="115000"/>
              </a:lnSpc>
              <a:spcBef>
                <a:spcPts val="0"/>
              </a:spcBef>
              <a:spcAft>
                <a:spcPts val="0"/>
              </a:spcAft>
              <a:buClr>
                <a:srgbClr val="000000"/>
              </a:buClr>
              <a:buSzPts val="1800"/>
              <a:buFont typeface="Arial"/>
              <a:buNone/>
            </a:pP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1095391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REPLICASETS</a:t>
            </a:r>
          </a:p>
        </p:txBody>
      </p:sp>
      <p:pic>
        <p:nvPicPr>
          <p:cNvPr id="9" name="Google Shape;1224;p37">
            <a:extLst>
              <a:ext uri="{FF2B5EF4-FFF2-40B4-BE49-F238E27FC236}">
                <a16:creationId xmlns:a16="http://schemas.microsoft.com/office/drawing/2014/main" id="{4B9199F1-B7F7-BA27-B506-0DFCB6FDE33D}"/>
              </a:ext>
            </a:extLst>
          </p:cNvPr>
          <p:cNvPicPr preferRelativeResize="0"/>
          <p:nvPr/>
        </p:nvPicPr>
        <p:blipFill rotWithShape="1">
          <a:blip r:embed="rId6">
            <a:alphaModFix/>
          </a:blip>
          <a:srcRect/>
          <a:stretch/>
        </p:blipFill>
        <p:spPr>
          <a:xfrm>
            <a:off x="3270269" y="2132286"/>
            <a:ext cx="3415666" cy="3422939"/>
          </a:xfrm>
          <a:prstGeom prst="rect">
            <a:avLst/>
          </a:prstGeom>
          <a:noFill/>
          <a:ln>
            <a:noFill/>
          </a:ln>
        </p:spPr>
      </p:pic>
    </p:spTree>
    <p:extLst>
      <p:ext uri="{BB962C8B-B14F-4D97-AF65-F5344CB8AC3E}">
        <p14:creationId xmlns:p14="http://schemas.microsoft.com/office/powerpoint/2010/main" val="1522142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REPLICASETS</a:t>
            </a:r>
          </a:p>
        </p:txBody>
      </p:sp>
      <p:pic>
        <p:nvPicPr>
          <p:cNvPr id="11" name="Google Shape;1233;p38">
            <a:extLst>
              <a:ext uri="{FF2B5EF4-FFF2-40B4-BE49-F238E27FC236}">
                <a16:creationId xmlns:a16="http://schemas.microsoft.com/office/drawing/2014/main" id="{2A9A5277-D4A7-043B-14E1-24E85F0331F6}"/>
              </a:ext>
            </a:extLst>
          </p:cNvPr>
          <p:cNvPicPr preferRelativeResize="0"/>
          <p:nvPr/>
        </p:nvPicPr>
        <p:blipFill rotWithShape="1">
          <a:blip r:embed="rId6">
            <a:alphaModFix/>
          </a:blip>
          <a:srcRect/>
          <a:stretch/>
        </p:blipFill>
        <p:spPr>
          <a:xfrm>
            <a:off x="1801846" y="2081103"/>
            <a:ext cx="3673210" cy="3719932"/>
          </a:xfrm>
          <a:prstGeom prst="rect">
            <a:avLst/>
          </a:prstGeom>
          <a:noFill/>
          <a:ln>
            <a:noFill/>
          </a:ln>
        </p:spPr>
      </p:pic>
      <p:pic>
        <p:nvPicPr>
          <p:cNvPr id="12" name="Google Shape;1234;p38">
            <a:extLst>
              <a:ext uri="{FF2B5EF4-FFF2-40B4-BE49-F238E27FC236}">
                <a16:creationId xmlns:a16="http://schemas.microsoft.com/office/drawing/2014/main" id="{78E78717-0CB3-90FF-D0F2-C912684C9BF4}"/>
              </a:ext>
            </a:extLst>
          </p:cNvPr>
          <p:cNvPicPr preferRelativeResize="0"/>
          <p:nvPr/>
        </p:nvPicPr>
        <p:blipFill rotWithShape="1">
          <a:blip r:embed="rId7">
            <a:alphaModFix/>
          </a:blip>
          <a:srcRect/>
          <a:stretch/>
        </p:blipFill>
        <p:spPr>
          <a:xfrm>
            <a:off x="6333746" y="2081103"/>
            <a:ext cx="3777612" cy="3719929"/>
          </a:xfrm>
          <a:prstGeom prst="rect">
            <a:avLst/>
          </a:prstGeom>
          <a:noFill/>
          <a:ln>
            <a:noFill/>
          </a:ln>
        </p:spPr>
      </p:pic>
    </p:spTree>
    <p:extLst>
      <p:ext uri="{BB962C8B-B14F-4D97-AF65-F5344CB8AC3E}">
        <p14:creationId xmlns:p14="http://schemas.microsoft.com/office/powerpoint/2010/main" val="2744478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REPLICASETS</a:t>
            </a:r>
          </a:p>
        </p:txBody>
      </p:sp>
      <p:pic>
        <p:nvPicPr>
          <p:cNvPr id="9" name="Google Shape;1243;p39">
            <a:extLst>
              <a:ext uri="{FF2B5EF4-FFF2-40B4-BE49-F238E27FC236}">
                <a16:creationId xmlns:a16="http://schemas.microsoft.com/office/drawing/2014/main" id="{4462B5EF-1177-2BAF-5C99-E8699ABD51CA}"/>
              </a:ext>
            </a:extLst>
          </p:cNvPr>
          <p:cNvPicPr preferRelativeResize="0"/>
          <p:nvPr/>
        </p:nvPicPr>
        <p:blipFill rotWithShape="1">
          <a:blip r:embed="rId6">
            <a:alphaModFix/>
          </a:blip>
          <a:srcRect/>
          <a:stretch/>
        </p:blipFill>
        <p:spPr>
          <a:xfrm>
            <a:off x="6675711" y="1993297"/>
            <a:ext cx="3276378" cy="2250750"/>
          </a:xfrm>
          <a:prstGeom prst="rect">
            <a:avLst/>
          </a:prstGeom>
          <a:noFill/>
          <a:ln>
            <a:noFill/>
          </a:ln>
        </p:spPr>
      </p:pic>
      <p:pic>
        <p:nvPicPr>
          <p:cNvPr id="13" name="Google Shape;1244;p39">
            <a:extLst>
              <a:ext uri="{FF2B5EF4-FFF2-40B4-BE49-F238E27FC236}">
                <a16:creationId xmlns:a16="http://schemas.microsoft.com/office/drawing/2014/main" id="{45BD0C4E-B141-557E-B0C5-A20DDD172DB0}"/>
              </a:ext>
            </a:extLst>
          </p:cNvPr>
          <p:cNvPicPr preferRelativeResize="0"/>
          <p:nvPr/>
        </p:nvPicPr>
        <p:blipFill rotWithShape="1">
          <a:blip r:embed="rId7">
            <a:alphaModFix/>
          </a:blip>
          <a:srcRect/>
          <a:stretch/>
        </p:blipFill>
        <p:spPr>
          <a:xfrm>
            <a:off x="2307469" y="1993297"/>
            <a:ext cx="3208822" cy="4700801"/>
          </a:xfrm>
          <a:prstGeom prst="rect">
            <a:avLst/>
          </a:prstGeom>
          <a:noFill/>
          <a:ln>
            <a:noFill/>
          </a:ln>
        </p:spPr>
      </p:pic>
    </p:spTree>
    <p:extLst>
      <p:ext uri="{BB962C8B-B14F-4D97-AF65-F5344CB8AC3E}">
        <p14:creationId xmlns:p14="http://schemas.microsoft.com/office/powerpoint/2010/main" val="65291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REPLICASETS</a:t>
            </a:r>
          </a:p>
        </p:txBody>
      </p:sp>
      <p:pic>
        <p:nvPicPr>
          <p:cNvPr id="9" name="Google Shape;1243;p39">
            <a:extLst>
              <a:ext uri="{FF2B5EF4-FFF2-40B4-BE49-F238E27FC236}">
                <a16:creationId xmlns:a16="http://schemas.microsoft.com/office/drawing/2014/main" id="{4462B5EF-1177-2BAF-5C99-E8699ABD51CA}"/>
              </a:ext>
            </a:extLst>
          </p:cNvPr>
          <p:cNvPicPr preferRelativeResize="0"/>
          <p:nvPr/>
        </p:nvPicPr>
        <p:blipFill rotWithShape="1">
          <a:blip r:embed="rId6">
            <a:alphaModFix/>
          </a:blip>
          <a:srcRect/>
          <a:stretch/>
        </p:blipFill>
        <p:spPr>
          <a:xfrm>
            <a:off x="6675711" y="1993297"/>
            <a:ext cx="3276378" cy="2250750"/>
          </a:xfrm>
          <a:prstGeom prst="rect">
            <a:avLst/>
          </a:prstGeom>
          <a:noFill/>
          <a:ln>
            <a:noFill/>
          </a:ln>
        </p:spPr>
      </p:pic>
      <p:pic>
        <p:nvPicPr>
          <p:cNvPr id="11" name="Google Shape;1254;p40">
            <a:extLst>
              <a:ext uri="{FF2B5EF4-FFF2-40B4-BE49-F238E27FC236}">
                <a16:creationId xmlns:a16="http://schemas.microsoft.com/office/drawing/2014/main" id="{FC7C7B9D-9E39-675C-CFE2-700F0BDEB293}"/>
              </a:ext>
            </a:extLst>
          </p:cNvPr>
          <p:cNvPicPr preferRelativeResize="0"/>
          <p:nvPr/>
        </p:nvPicPr>
        <p:blipFill rotWithShape="1">
          <a:blip r:embed="rId7">
            <a:alphaModFix/>
          </a:blip>
          <a:srcRect/>
          <a:stretch/>
        </p:blipFill>
        <p:spPr>
          <a:xfrm>
            <a:off x="2234862" y="1975631"/>
            <a:ext cx="3276378" cy="4737807"/>
          </a:xfrm>
          <a:prstGeom prst="rect">
            <a:avLst/>
          </a:prstGeom>
          <a:noFill/>
          <a:ln>
            <a:noFill/>
          </a:ln>
        </p:spPr>
      </p:pic>
    </p:spTree>
    <p:extLst>
      <p:ext uri="{BB962C8B-B14F-4D97-AF65-F5344CB8AC3E}">
        <p14:creationId xmlns:p14="http://schemas.microsoft.com/office/powerpoint/2010/main" val="1933213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DEPLOYMENTS</a:t>
            </a:r>
          </a:p>
        </p:txBody>
      </p:sp>
      <p:pic>
        <p:nvPicPr>
          <p:cNvPr id="11" name="Google Shape;1263;p41">
            <a:extLst>
              <a:ext uri="{FF2B5EF4-FFF2-40B4-BE49-F238E27FC236}">
                <a16:creationId xmlns:a16="http://schemas.microsoft.com/office/drawing/2014/main" id="{B47644CC-5151-B5B8-A123-8F6246B82257}"/>
              </a:ext>
            </a:extLst>
          </p:cNvPr>
          <p:cNvPicPr preferRelativeResize="0"/>
          <p:nvPr/>
        </p:nvPicPr>
        <p:blipFill rotWithShape="1">
          <a:blip r:embed="rId6">
            <a:alphaModFix/>
          </a:blip>
          <a:srcRect/>
          <a:stretch/>
        </p:blipFill>
        <p:spPr>
          <a:xfrm>
            <a:off x="1519190" y="2056147"/>
            <a:ext cx="9024557" cy="3617051"/>
          </a:xfrm>
          <a:prstGeom prst="rect">
            <a:avLst/>
          </a:prstGeom>
          <a:noFill/>
          <a:ln>
            <a:noFill/>
          </a:ln>
        </p:spPr>
      </p:pic>
    </p:spTree>
    <p:extLst>
      <p:ext uri="{BB962C8B-B14F-4D97-AF65-F5344CB8AC3E}">
        <p14:creationId xmlns:p14="http://schemas.microsoft.com/office/powerpoint/2010/main" val="1312858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DEPLOYMENTS</a:t>
            </a:r>
          </a:p>
        </p:txBody>
      </p:sp>
      <p:pic>
        <p:nvPicPr>
          <p:cNvPr id="9" name="Google Shape;1272;p42">
            <a:extLst>
              <a:ext uri="{FF2B5EF4-FFF2-40B4-BE49-F238E27FC236}">
                <a16:creationId xmlns:a16="http://schemas.microsoft.com/office/drawing/2014/main" id="{5EA5D3D3-0742-994A-A54F-452CDFD66ACD}"/>
              </a:ext>
            </a:extLst>
          </p:cNvPr>
          <p:cNvPicPr preferRelativeResize="0"/>
          <p:nvPr/>
        </p:nvPicPr>
        <p:blipFill rotWithShape="1">
          <a:blip r:embed="rId6">
            <a:alphaModFix/>
          </a:blip>
          <a:srcRect/>
          <a:stretch/>
        </p:blipFill>
        <p:spPr>
          <a:xfrm>
            <a:off x="1470850" y="2067058"/>
            <a:ext cx="9250299" cy="3527497"/>
          </a:xfrm>
          <a:prstGeom prst="rect">
            <a:avLst/>
          </a:prstGeom>
          <a:noFill/>
          <a:ln>
            <a:noFill/>
          </a:ln>
        </p:spPr>
      </p:pic>
    </p:spTree>
    <p:extLst>
      <p:ext uri="{BB962C8B-B14F-4D97-AF65-F5344CB8AC3E}">
        <p14:creationId xmlns:p14="http://schemas.microsoft.com/office/powerpoint/2010/main" val="1966445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DEPLOYMENTS</a:t>
            </a:r>
          </a:p>
        </p:txBody>
      </p:sp>
      <p:sp>
        <p:nvSpPr>
          <p:cNvPr id="11" name="Google Shape;1280;p43">
            <a:extLst>
              <a:ext uri="{FF2B5EF4-FFF2-40B4-BE49-F238E27FC236}">
                <a16:creationId xmlns:a16="http://schemas.microsoft.com/office/drawing/2014/main" id="{AE455ACF-9D73-C93C-5E31-45E9F9A075AF}"/>
              </a:ext>
            </a:extLst>
          </p:cNvPr>
          <p:cNvSpPr txBox="1"/>
          <p:nvPr/>
        </p:nvSpPr>
        <p:spPr>
          <a:xfrm>
            <a:off x="2004300" y="1931149"/>
            <a:ext cx="8183400" cy="1444471"/>
          </a:xfrm>
          <a:prstGeom prst="rect">
            <a:avLst/>
          </a:prstGeom>
          <a:noFill/>
          <a:ln>
            <a:noFill/>
          </a:ln>
        </p:spPr>
        <p:txBody>
          <a:bodyPr spcFirstLastPara="1" wrap="square" lIns="91425" tIns="91425" rIns="91425" bIns="91425" anchor="t" anchorCtr="0">
            <a:noAutofit/>
          </a:bodyPr>
          <a:lstStyle/>
          <a:p>
            <a:pPr marL="457200" indent="-342900">
              <a:lnSpc>
                <a:spcPct val="115000"/>
              </a:lnSpc>
              <a:buClr>
                <a:srgbClr val="0E101A"/>
              </a:buClr>
              <a:buSzPts val="1800"/>
              <a:buFont typeface="Proxima Nova"/>
              <a:buChar char="●"/>
            </a:pPr>
            <a:r>
              <a:rPr lang="en-US" sz="1800" b="0" i="0" u="none" strike="noStrike" cap="none" dirty="0">
                <a:solidFill>
                  <a:srgbClr val="0E101A"/>
                </a:solidFill>
                <a:latin typeface="Proxima Nova"/>
                <a:ea typeface="Proxima Nova"/>
                <a:cs typeface="Proxima Nova"/>
                <a:sym typeface="Proxima Nova"/>
              </a:rPr>
              <a:t>The deployment provides declarative updates for pods and </a:t>
            </a:r>
            <a:r>
              <a:rPr lang="en-US" sz="1800" b="0" i="0" u="none" strike="noStrike" cap="none" dirty="0" err="1">
                <a:solidFill>
                  <a:srgbClr val="0E101A"/>
                </a:solidFill>
                <a:latin typeface="Proxima Nova"/>
                <a:ea typeface="Proxima Nova"/>
                <a:cs typeface="Proxima Nova"/>
                <a:sym typeface="Proxima Nova"/>
              </a:rPr>
              <a:t>replicasets</a:t>
            </a:r>
            <a:r>
              <a:rPr lang="en-US" sz="1800" b="0" i="0" u="none" strike="noStrike" cap="none" dirty="0">
                <a:solidFill>
                  <a:srgbClr val="0E101A"/>
                </a:solidFill>
                <a:latin typeface="Proxima Nova"/>
                <a:ea typeface="Proxima Nova"/>
                <a:cs typeface="Proxima Nova"/>
                <a:sym typeface="Proxima Nova"/>
              </a:rPr>
              <a:t>.</a:t>
            </a:r>
          </a:p>
          <a:p>
            <a:pPr marL="457200" indent="-342900">
              <a:lnSpc>
                <a:spcPct val="115000"/>
              </a:lnSpc>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We describe a desirable state in the deployment, and the deployment controller changes to the desired state from the actual state at a controlled rate.</a:t>
            </a:r>
          </a:p>
        </p:txBody>
      </p:sp>
      <p:pic>
        <p:nvPicPr>
          <p:cNvPr id="12" name="Google Shape;1281;p43">
            <a:extLst>
              <a:ext uri="{FF2B5EF4-FFF2-40B4-BE49-F238E27FC236}">
                <a16:creationId xmlns:a16="http://schemas.microsoft.com/office/drawing/2014/main" id="{1105F580-526F-5EB5-D77F-DE68ABB8275B}"/>
              </a:ext>
            </a:extLst>
          </p:cNvPr>
          <p:cNvPicPr preferRelativeResize="0"/>
          <p:nvPr/>
        </p:nvPicPr>
        <p:blipFill rotWithShape="1">
          <a:blip r:embed="rId6">
            <a:alphaModFix/>
          </a:blip>
          <a:srcRect b="10240"/>
          <a:stretch/>
        </p:blipFill>
        <p:spPr>
          <a:xfrm>
            <a:off x="1497548" y="3375620"/>
            <a:ext cx="9857123" cy="2979330"/>
          </a:xfrm>
          <a:prstGeom prst="rect">
            <a:avLst/>
          </a:prstGeom>
          <a:noFill/>
          <a:ln>
            <a:noFill/>
          </a:ln>
        </p:spPr>
      </p:pic>
    </p:spTree>
    <p:extLst>
      <p:ext uri="{BB962C8B-B14F-4D97-AF65-F5344CB8AC3E}">
        <p14:creationId xmlns:p14="http://schemas.microsoft.com/office/powerpoint/2010/main" val="2557714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YAML FILE FOR DEPLOYMENTS</a:t>
            </a:r>
          </a:p>
        </p:txBody>
      </p:sp>
      <p:sp>
        <p:nvSpPr>
          <p:cNvPr id="14" name="Google Shape;1291;p44">
            <a:extLst>
              <a:ext uri="{FF2B5EF4-FFF2-40B4-BE49-F238E27FC236}">
                <a16:creationId xmlns:a16="http://schemas.microsoft.com/office/drawing/2014/main" id="{18A77039-1E33-10AE-EBEF-7803B702BAF3}"/>
              </a:ext>
            </a:extLst>
          </p:cNvPr>
          <p:cNvSpPr/>
          <p:nvPr/>
        </p:nvSpPr>
        <p:spPr>
          <a:xfrm>
            <a:off x="1841175" y="1993297"/>
            <a:ext cx="3743548" cy="4376642"/>
          </a:xfrm>
          <a:prstGeom prst="roundRect">
            <a:avLst>
              <a:gd name="adj" fmla="val 7647"/>
            </a:avLst>
          </a:prstGeom>
          <a:solidFill>
            <a:srgbClr val="2C2C2C"/>
          </a:solidFill>
          <a:ln>
            <a:noFill/>
          </a:ln>
        </p:spPr>
        <p:txBody>
          <a:bodyPr spcFirstLastPara="1" wrap="square" lIns="68575" tIns="68575" rIns="68575" bIns="68575" anchor="ctr" anchorCtr="0">
            <a:noAutofit/>
          </a:bodyPr>
          <a:lstStyle/>
          <a:p>
            <a:pPr marL="0" marR="0" lvl="0" indent="0" algn="l" rtl="0">
              <a:lnSpc>
                <a:spcPct val="135714"/>
              </a:lnSpc>
              <a:spcBef>
                <a:spcPts val="0"/>
              </a:spcBef>
              <a:spcAft>
                <a:spcPts val="0"/>
              </a:spcAft>
              <a:buClr>
                <a:srgbClr val="000000"/>
              </a:buClr>
              <a:buSzPts val="1700"/>
              <a:buFont typeface="Arial"/>
              <a:buNone/>
            </a:pPr>
            <a:endParaRPr sz="1700" b="0" i="0" u="none" strike="noStrike" cap="none" dirty="0">
              <a:solidFill>
                <a:srgbClr val="E69138"/>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err="1">
                <a:solidFill>
                  <a:srgbClr val="F48736"/>
                </a:solidFill>
                <a:latin typeface="JetBrains Mono"/>
                <a:ea typeface="JetBrains Mono"/>
                <a:cs typeface="JetBrains Mono"/>
                <a:sym typeface="JetBrains Mono"/>
              </a:rPr>
              <a:t>apiVersion</a:t>
            </a:r>
            <a:r>
              <a:rPr lang="en-GB" sz="1200" b="0" i="0" u="none" strike="noStrike" cap="none" dirty="0">
                <a:solidFill>
                  <a:srgbClr val="A9B7C6"/>
                </a:solidFill>
                <a:latin typeface="JetBrains Mono"/>
                <a:ea typeface="JetBrains Mono"/>
                <a:cs typeface="JetBrains Mono"/>
                <a:sym typeface="JetBrains Mono"/>
              </a:rPr>
              <a:t>: apps/v1</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F48736"/>
                </a:solidFill>
                <a:latin typeface="JetBrains Mono"/>
                <a:ea typeface="JetBrains Mono"/>
                <a:cs typeface="JetBrains Mono"/>
                <a:sym typeface="JetBrains Mono"/>
              </a:rPr>
              <a:t>kind</a:t>
            </a:r>
            <a:r>
              <a:rPr lang="en-GB" sz="1200" b="0" i="0" u="none" strike="noStrike" cap="none" dirty="0">
                <a:solidFill>
                  <a:srgbClr val="A9B7C6"/>
                </a:solidFill>
                <a:latin typeface="JetBrains Mono"/>
                <a:ea typeface="JetBrains Mono"/>
                <a:cs typeface="JetBrains Mono"/>
                <a:sym typeface="JetBrains Mono"/>
              </a:rPr>
              <a:t>: Deployment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F48736"/>
                </a:solidFill>
                <a:latin typeface="JetBrains Mono"/>
                <a:ea typeface="JetBrains Mono"/>
                <a:cs typeface="JetBrains Mono"/>
                <a:sym typeface="JetBrains Mono"/>
              </a:rPr>
              <a:t>metadata</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name</a:t>
            </a:r>
            <a:r>
              <a:rPr lang="en-GB" sz="1200" b="0" i="0" u="none" strike="noStrike" cap="none" dirty="0">
                <a:solidFill>
                  <a:srgbClr val="A9B7C6"/>
                </a:solidFill>
                <a:latin typeface="JetBrains Mono"/>
                <a:ea typeface="JetBrains Mono"/>
                <a:cs typeface="JetBrains Mono"/>
                <a:sym typeface="JetBrains Mono"/>
              </a:rPr>
              <a:t>: nginx-deployment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labels</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app</a:t>
            </a:r>
            <a:r>
              <a:rPr lang="en-GB" sz="1200" b="0" i="0" u="none" strike="noStrike" cap="none" dirty="0">
                <a:solidFill>
                  <a:srgbClr val="A9B7C6"/>
                </a:solidFill>
                <a:latin typeface="JetBrains Mono"/>
                <a:ea typeface="JetBrains Mono"/>
                <a:cs typeface="JetBrains Mono"/>
                <a:sym typeface="JetBrains Mono"/>
              </a:rPr>
              <a:t>: nginx</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tier</a:t>
            </a:r>
            <a:r>
              <a:rPr lang="en-GB" sz="1200" b="0" i="0" u="none" strike="noStrike" cap="none" dirty="0">
                <a:solidFill>
                  <a:srgbClr val="A9B7C6"/>
                </a:solidFill>
                <a:latin typeface="JetBrains Mono"/>
                <a:ea typeface="JetBrains Mono"/>
                <a:cs typeface="JetBrains Mono"/>
                <a:sym typeface="JetBrains Mono"/>
              </a:rPr>
              <a:t>: front-end</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F48736"/>
                </a:solidFill>
                <a:latin typeface="JetBrains Mono"/>
                <a:ea typeface="JetBrains Mono"/>
                <a:cs typeface="JetBrains Mono"/>
                <a:sym typeface="JetBrains Mono"/>
              </a:rPr>
              <a:t>spec</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template</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metadata</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name</a:t>
            </a:r>
            <a:r>
              <a:rPr lang="en-GB" sz="1200" b="0" i="0" u="none" strike="noStrike" cap="none" dirty="0">
                <a:solidFill>
                  <a:srgbClr val="A9B7C6"/>
                </a:solidFill>
                <a:latin typeface="JetBrains Mono"/>
                <a:ea typeface="JetBrains Mono"/>
                <a:cs typeface="JetBrains Mono"/>
                <a:sym typeface="JetBrains Mono"/>
              </a:rPr>
              <a:t>: nginx-pod</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labels</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app</a:t>
            </a:r>
            <a:r>
              <a:rPr lang="en-GB" sz="1200" b="0" i="0" u="none" strike="noStrike" cap="none" dirty="0">
                <a:solidFill>
                  <a:srgbClr val="A9B7C6"/>
                </a:solidFill>
                <a:latin typeface="JetBrains Mono"/>
                <a:ea typeface="JetBrains Mono"/>
                <a:cs typeface="JetBrains Mono"/>
                <a:sym typeface="JetBrains Mono"/>
              </a:rPr>
              <a:t>: nginx</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spec</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containers</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name</a:t>
            </a:r>
            <a:r>
              <a:rPr lang="en-GB" sz="1200" b="0" i="0" u="none" strike="noStrike" cap="none" dirty="0">
                <a:solidFill>
                  <a:srgbClr val="A9B7C6"/>
                </a:solidFill>
                <a:latin typeface="JetBrains Mono"/>
                <a:ea typeface="JetBrains Mono"/>
                <a:cs typeface="JetBrains Mono"/>
                <a:sym typeface="JetBrains Mono"/>
              </a:rPr>
              <a:t>: nginx</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image</a:t>
            </a:r>
            <a:r>
              <a:rPr lang="en-GB" sz="1200" b="0" i="0" u="none" strike="noStrike" cap="none" dirty="0">
                <a:solidFill>
                  <a:srgbClr val="A9B7C6"/>
                </a:solidFill>
                <a:latin typeface="JetBrains Mono"/>
                <a:ea typeface="JetBrains Mono"/>
                <a:cs typeface="JetBrains Mono"/>
                <a:sym typeface="JetBrains Mono"/>
              </a:rPr>
              <a:t>: nginx</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selector</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err="1">
                <a:solidFill>
                  <a:srgbClr val="F48736"/>
                </a:solidFill>
                <a:latin typeface="JetBrains Mono"/>
                <a:ea typeface="JetBrains Mono"/>
                <a:cs typeface="JetBrains Mono"/>
                <a:sym typeface="JetBrains Mono"/>
              </a:rPr>
              <a:t>matchLabels</a:t>
            </a:r>
            <a:r>
              <a:rPr lang="en-GB" sz="1200" b="0" i="0" u="none" strike="noStrike" cap="none" dirty="0">
                <a:solidFill>
                  <a:srgbClr val="A9B7C6"/>
                </a:solidFill>
                <a:latin typeface="JetBrains Mono"/>
                <a:ea typeface="JetBrains Mono"/>
                <a:cs typeface="JetBrains Mono"/>
                <a:sym typeface="JetBrains Mono"/>
              </a:rPr>
              <a:t>:</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app</a:t>
            </a:r>
            <a:r>
              <a:rPr lang="en-GB" sz="1200" b="0" i="0" u="none" strike="noStrike" cap="none" dirty="0">
                <a:solidFill>
                  <a:srgbClr val="A9B7C6"/>
                </a:solidFill>
                <a:latin typeface="JetBrains Mono"/>
                <a:ea typeface="JetBrains Mono"/>
                <a:cs typeface="JetBrains Mono"/>
                <a:sym typeface="JetBrains Mono"/>
              </a:rPr>
              <a:t>: nginx</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chemeClr val="dk1"/>
              </a:buClr>
              <a:buSzPts val="1100"/>
              <a:buFont typeface="Arial"/>
              <a:buNone/>
            </a:pPr>
            <a:r>
              <a:rPr lang="en-GB" sz="1200" b="0" i="0" u="none" strike="noStrike" cap="none" dirty="0">
                <a:solidFill>
                  <a:srgbClr val="A9B7C6"/>
                </a:solidFill>
                <a:latin typeface="JetBrains Mono"/>
                <a:ea typeface="JetBrains Mono"/>
                <a:cs typeface="JetBrains Mono"/>
                <a:sym typeface="JetBrains Mono"/>
              </a:rPr>
              <a:t>  </a:t>
            </a:r>
            <a:r>
              <a:rPr lang="en-GB" sz="1200" b="0" i="0" u="none" strike="noStrike" cap="none" dirty="0">
                <a:solidFill>
                  <a:srgbClr val="F48736"/>
                </a:solidFill>
                <a:latin typeface="JetBrains Mono"/>
                <a:ea typeface="JetBrains Mono"/>
                <a:cs typeface="JetBrains Mono"/>
                <a:sym typeface="JetBrains Mono"/>
              </a:rPr>
              <a:t>replicas</a:t>
            </a:r>
            <a:r>
              <a:rPr lang="en-GB" sz="1200" b="0" i="0" u="none" strike="noStrike" cap="none" dirty="0">
                <a:solidFill>
                  <a:srgbClr val="A9B7C6"/>
                </a:solidFill>
                <a:latin typeface="JetBrains Mono"/>
                <a:ea typeface="JetBrains Mono"/>
                <a:cs typeface="JetBrains Mono"/>
                <a:sym typeface="JetBrains Mono"/>
              </a:rPr>
              <a:t>: 3</a:t>
            </a:r>
            <a:endParaRPr sz="1200" b="0" i="0" u="none" strike="noStrike" cap="none" dirty="0">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endParaRPr sz="1700" b="0" i="0" u="none" strike="noStrike" cap="none" dirty="0">
              <a:solidFill>
                <a:srgbClr val="A9B7C6"/>
              </a:solidFill>
              <a:latin typeface="JetBrains Mono"/>
              <a:ea typeface="JetBrains Mono"/>
              <a:cs typeface="JetBrains Mono"/>
              <a:sym typeface="JetBrains Mono"/>
            </a:endParaRPr>
          </a:p>
        </p:txBody>
      </p:sp>
      <p:pic>
        <p:nvPicPr>
          <p:cNvPr id="15" name="Google Shape;1290;p44">
            <a:extLst>
              <a:ext uri="{FF2B5EF4-FFF2-40B4-BE49-F238E27FC236}">
                <a16:creationId xmlns:a16="http://schemas.microsoft.com/office/drawing/2014/main" id="{6D9259C3-7872-E7A7-D1CD-CFCA04D5988E}"/>
              </a:ext>
            </a:extLst>
          </p:cNvPr>
          <p:cNvPicPr preferRelativeResize="0"/>
          <p:nvPr/>
        </p:nvPicPr>
        <p:blipFill rotWithShape="1">
          <a:blip r:embed="rId6">
            <a:alphaModFix/>
          </a:blip>
          <a:srcRect/>
          <a:stretch/>
        </p:blipFill>
        <p:spPr>
          <a:xfrm>
            <a:off x="5937699" y="1993297"/>
            <a:ext cx="5522400" cy="3834378"/>
          </a:xfrm>
          <a:prstGeom prst="rect">
            <a:avLst/>
          </a:prstGeom>
          <a:noFill/>
          <a:ln>
            <a:noFill/>
          </a:ln>
        </p:spPr>
      </p:pic>
    </p:spTree>
    <p:extLst>
      <p:ext uri="{BB962C8B-B14F-4D97-AF65-F5344CB8AC3E}">
        <p14:creationId xmlns:p14="http://schemas.microsoft.com/office/powerpoint/2010/main" val="1828458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YAML FILE FOR DEPLOYMENTS</a:t>
            </a:r>
          </a:p>
        </p:txBody>
      </p:sp>
      <p:pic>
        <p:nvPicPr>
          <p:cNvPr id="9" name="Google Shape;1300;p45">
            <a:extLst>
              <a:ext uri="{FF2B5EF4-FFF2-40B4-BE49-F238E27FC236}">
                <a16:creationId xmlns:a16="http://schemas.microsoft.com/office/drawing/2014/main" id="{DEEC64C4-5108-9944-7931-3D823451FAAE}"/>
              </a:ext>
            </a:extLst>
          </p:cNvPr>
          <p:cNvPicPr preferRelativeResize="0"/>
          <p:nvPr/>
        </p:nvPicPr>
        <p:blipFill rotWithShape="1">
          <a:blip r:embed="rId6">
            <a:alphaModFix/>
          </a:blip>
          <a:srcRect/>
          <a:stretch/>
        </p:blipFill>
        <p:spPr>
          <a:xfrm>
            <a:off x="6755733" y="2122453"/>
            <a:ext cx="4704366" cy="3216461"/>
          </a:xfrm>
          <a:prstGeom prst="rect">
            <a:avLst/>
          </a:prstGeom>
          <a:noFill/>
          <a:ln>
            <a:noFill/>
          </a:ln>
        </p:spPr>
      </p:pic>
    </p:spTree>
    <p:extLst>
      <p:ext uri="{BB962C8B-B14F-4D97-AF65-F5344CB8AC3E}">
        <p14:creationId xmlns:p14="http://schemas.microsoft.com/office/powerpoint/2010/main" val="1859839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YAML FILE FOR DEPLOYMENTS</a:t>
            </a:r>
          </a:p>
        </p:txBody>
      </p:sp>
      <p:pic>
        <p:nvPicPr>
          <p:cNvPr id="9" name="Google Shape;1300;p45">
            <a:extLst>
              <a:ext uri="{FF2B5EF4-FFF2-40B4-BE49-F238E27FC236}">
                <a16:creationId xmlns:a16="http://schemas.microsoft.com/office/drawing/2014/main" id="{DEEC64C4-5108-9944-7931-3D823451FAAE}"/>
              </a:ext>
            </a:extLst>
          </p:cNvPr>
          <p:cNvPicPr preferRelativeResize="0"/>
          <p:nvPr/>
        </p:nvPicPr>
        <p:blipFill rotWithShape="1">
          <a:blip r:embed="rId6">
            <a:alphaModFix/>
          </a:blip>
          <a:srcRect/>
          <a:stretch/>
        </p:blipFill>
        <p:spPr>
          <a:xfrm>
            <a:off x="6755733" y="2122453"/>
            <a:ext cx="4704366" cy="3216461"/>
          </a:xfrm>
          <a:prstGeom prst="rect">
            <a:avLst/>
          </a:prstGeom>
          <a:noFill/>
          <a:ln>
            <a:noFill/>
          </a:ln>
        </p:spPr>
      </p:pic>
      <p:sp>
        <p:nvSpPr>
          <p:cNvPr id="11" name="Google Shape;1308;p46">
            <a:extLst>
              <a:ext uri="{FF2B5EF4-FFF2-40B4-BE49-F238E27FC236}">
                <a16:creationId xmlns:a16="http://schemas.microsoft.com/office/drawing/2014/main" id="{961F2441-1DCC-82FE-F59F-66B62A7E7ED2}"/>
              </a:ext>
            </a:extLst>
          </p:cNvPr>
          <p:cNvSpPr txBox="1"/>
          <p:nvPr/>
        </p:nvSpPr>
        <p:spPr>
          <a:xfrm>
            <a:off x="1517969" y="1993297"/>
            <a:ext cx="4513500" cy="3899724"/>
          </a:xfrm>
          <a:prstGeom prst="rect">
            <a:avLst/>
          </a:prstGeom>
          <a:noFill/>
          <a:ln>
            <a:noFill/>
          </a:ln>
        </p:spPr>
        <p:txBody>
          <a:bodyPr spcFirstLastPara="1" wrap="square" lIns="91425" tIns="91425" rIns="91425" bIns="91425" anchor="t" anchorCtr="0">
            <a:noAutofit/>
          </a:bodyPr>
          <a:lstStyle/>
          <a:p>
            <a:pPr marL="457200" indent="-342900">
              <a:lnSpc>
                <a:spcPct val="115000"/>
              </a:lnSpc>
              <a:buClr>
                <a:srgbClr val="0E101A"/>
              </a:buClr>
              <a:buSzPts val="1800"/>
              <a:buFont typeface="Proxima Nova"/>
              <a:buChar char="●"/>
            </a:pPr>
            <a:r>
              <a:rPr lang="en-US" sz="1800" b="0" i="0" u="none" strike="noStrike" cap="none" dirty="0">
                <a:solidFill>
                  <a:srgbClr val="0E101A"/>
                </a:solidFill>
                <a:latin typeface="Proxima Nova"/>
                <a:ea typeface="Proxima Nova"/>
                <a:cs typeface="Proxima Nova"/>
                <a:sym typeface="Proxima Nova"/>
              </a:rPr>
              <a:t>Pods are non-permanent resources. If you use a deployment to run your app, it can create and destroy pods dynamically.</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It defines:</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Logical set of pods</a:t>
            </a:r>
            <a:endParaRPr sz="1800" b="0" i="0" u="none" strike="noStrike" cap="none" dirty="0">
              <a:solidFill>
                <a:srgbClr val="0E101A"/>
              </a:solidFill>
              <a:latin typeface="Proxima Nova"/>
              <a:ea typeface="Proxima Nova"/>
              <a:cs typeface="Proxima Nova"/>
              <a:sym typeface="Proxima Nova"/>
            </a:endParaRPr>
          </a:p>
          <a:p>
            <a:pPr marL="914400" marR="0" lvl="1"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Policy to access them</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A selector usually determines the set of Pods targeted by a service.</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Kubernetes service types allow you to specify what kind of service you want. The default is </a:t>
            </a:r>
            <a:r>
              <a:rPr lang="en-GB" sz="1800" b="0" i="0" u="none" strike="noStrike" cap="none" dirty="0" err="1">
                <a:solidFill>
                  <a:srgbClr val="0E101A"/>
                </a:solidFill>
                <a:latin typeface="Proxima Nova"/>
                <a:ea typeface="Proxima Nova"/>
                <a:cs typeface="Proxima Nova"/>
                <a:sym typeface="Proxima Nova"/>
              </a:rPr>
              <a:t>ClusterIP</a:t>
            </a:r>
            <a:r>
              <a:rPr lang="en-GB" sz="1800" b="0" i="0" u="none" strike="noStrike" cap="none" dirty="0">
                <a:solidFill>
                  <a:srgbClr val="0E101A"/>
                </a:solidFill>
                <a:latin typeface="Proxima Nova"/>
                <a:ea typeface="Proxima Nova"/>
                <a:cs typeface="Proxima Nova"/>
                <a:sym typeface="Proxima Nova"/>
              </a:rPr>
              <a:t>.</a:t>
            </a:r>
            <a:endParaRPr sz="1800" b="0" i="0" u="none" strike="noStrike" cap="none" dirty="0">
              <a:solidFill>
                <a:srgbClr val="0E101A"/>
              </a:solidFill>
              <a:latin typeface="Proxima Nova"/>
              <a:ea typeface="Proxima Nova"/>
              <a:cs typeface="Proxima Nova"/>
              <a:sym typeface="Proxima Nova"/>
            </a:endParaRPr>
          </a:p>
        </p:txBody>
      </p:sp>
    </p:spTree>
    <p:extLst>
      <p:ext uri="{BB962C8B-B14F-4D97-AF65-F5344CB8AC3E}">
        <p14:creationId xmlns:p14="http://schemas.microsoft.com/office/powerpoint/2010/main" val="558017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SERVICE TYPES</a:t>
            </a:r>
          </a:p>
        </p:txBody>
      </p:sp>
      <p:sp>
        <p:nvSpPr>
          <p:cNvPr id="12" name="Google Shape;1317;p47">
            <a:extLst>
              <a:ext uri="{FF2B5EF4-FFF2-40B4-BE49-F238E27FC236}">
                <a16:creationId xmlns:a16="http://schemas.microsoft.com/office/drawing/2014/main" id="{122AE4C8-3857-0E26-AE29-DD72AEC170EF}"/>
              </a:ext>
            </a:extLst>
          </p:cNvPr>
          <p:cNvSpPr txBox="1"/>
          <p:nvPr/>
        </p:nvSpPr>
        <p:spPr>
          <a:xfrm>
            <a:off x="1927957" y="1951981"/>
            <a:ext cx="8183400" cy="3315622"/>
          </a:xfrm>
          <a:prstGeom prst="rect">
            <a:avLst/>
          </a:prstGeom>
          <a:noFill/>
          <a:ln>
            <a:noFill/>
          </a:ln>
        </p:spPr>
        <p:txBody>
          <a:bodyPr spcFirstLastPara="1" wrap="square" lIns="91425" tIns="91425" rIns="91425" bIns="91425" anchor="t" anchorCtr="0">
            <a:noAutofit/>
          </a:bodyPr>
          <a:lstStyle/>
          <a:p>
            <a:pPr marL="457200" indent="-342900">
              <a:lnSpc>
                <a:spcPct val="115000"/>
              </a:lnSpc>
              <a:buClr>
                <a:srgbClr val="0E101A"/>
              </a:buClr>
              <a:buSzPts val="1800"/>
              <a:buFont typeface="Arial"/>
              <a:buChar char="●"/>
            </a:pPr>
            <a:r>
              <a:rPr lang="en-US" sz="1800" b="1" i="0" u="none" strike="noStrike" cap="none" dirty="0" err="1">
                <a:solidFill>
                  <a:srgbClr val="0E101A"/>
                </a:solidFill>
                <a:latin typeface="Proxima Nova"/>
                <a:ea typeface="Proxima Nova"/>
                <a:cs typeface="Proxima Nova"/>
                <a:sym typeface="Proxima Nova"/>
              </a:rPr>
              <a:t>ClusterIP</a:t>
            </a:r>
            <a:r>
              <a:rPr lang="en-US" sz="1800" b="1" i="0" u="none" strike="noStrike" cap="none" dirty="0">
                <a:solidFill>
                  <a:srgbClr val="0E101A"/>
                </a:solidFill>
                <a:latin typeface="Proxima Nova"/>
                <a:ea typeface="Proxima Nova"/>
                <a:cs typeface="Proxima Nova"/>
                <a:sym typeface="Proxima Nova"/>
              </a:rPr>
              <a:t>:</a:t>
            </a:r>
            <a:r>
              <a:rPr lang="en-US" sz="1800" b="0" i="0" u="none" strike="noStrike" cap="none" dirty="0">
                <a:solidFill>
                  <a:srgbClr val="0E101A"/>
                </a:solidFill>
                <a:latin typeface="Proxima Nova"/>
                <a:ea typeface="Proxima Nova"/>
                <a:cs typeface="Proxima Nova"/>
                <a:sym typeface="Proxima Nova"/>
              </a:rPr>
              <a:t> It exposes the service on a cluster-internal IP. Choosing this value makes the service reachable only from within the cluster. This is the default </a:t>
            </a:r>
            <a:r>
              <a:rPr lang="en-US" sz="1800" b="0" i="0" u="none" strike="noStrike" cap="none" dirty="0" err="1">
                <a:solidFill>
                  <a:srgbClr val="0E101A"/>
                </a:solidFill>
                <a:latin typeface="Proxima Nova"/>
                <a:ea typeface="Proxima Nova"/>
                <a:cs typeface="Proxima Nova"/>
                <a:sym typeface="Proxima Nova"/>
              </a:rPr>
              <a:t>ServiceType</a:t>
            </a:r>
            <a:r>
              <a:rPr lang="en-US" sz="1800" b="0" i="0" u="none" strike="noStrike" cap="none" dirty="0">
                <a:solidFill>
                  <a:srgbClr val="0E101A"/>
                </a:solidFill>
                <a:latin typeface="Proxima Nova"/>
                <a:ea typeface="Proxima Nova"/>
                <a:cs typeface="Proxima Nova"/>
                <a:sym typeface="Proxima Nova"/>
              </a:rPr>
              <a:t>.</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Arial"/>
              <a:buChar char="●"/>
            </a:pPr>
            <a:r>
              <a:rPr lang="en-GB" sz="1800" b="1" i="0" u="none" strike="noStrike" cap="none" dirty="0" err="1">
                <a:solidFill>
                  <a:srgbClr val="0E101A"/>
                </a:solidFill>
                <a:latin typeface="Proxima Nova"/>
                <a:ea typeface="Proxima Nova"/>
                <a:cs typeface="Proxima Nova"/>
                <a:sym typeface="Proxima Nova"/>
              </a:rPr>
              <a:t>NodePort</a:t>
            </a:r>
            <a:r>
              <a:rPr lang="en-GB" sz="1800" b="1" i="0" u="none" strike="noStrike" cap="none" dirty="0">
                <a:solidFill>
                  <a:srgbClr val="0E101A"/>
                </a:solidFill>
                <a:latin typeface="Proxima Nova"/>
                <a:ea typeface="Proxima Nova"/>
                <a:cs typeface="Proxima Nova"/>
                <a:sym typeface="Proxima Nova"/>
              </a:rPr>
              <a:t>:</a:t>
            </a:r>
            <a:r>
              <a:rPr lang="en-GB" sz="1800" b="0" i="0" u="none" strike="noStrike" cap="none" dirty="0">
                <a:solidFill>
                  <a:srgbClr val="0E101A"/>
                </a:solidFill>
                <a:latin typeface="Proxima Nova"/>
                <a:ea typeface="Proxima Nova"/>
                <a:cs typeface="Proxima Nova"/>
                <a:sym typeface="Proxima Nova"/>
              </a:rPr>
              <a:t> It exposes the service on each node's IP at a static port. </a:t>
            </a:r>
            <a:r>
              <a:rPr lang="en-GB" sz="1800" b="0" i="0" u="none" strike="noStrike" cap="none" dirty="0" err="1">
                <a:solidFill>
                  <a:srgbClr val="0E101A"/>
                </a:solidFill>
                <a:latin typeface="Proxima Nova"/>
                <a:ea typeface="Proxima Nova"/>
                <a:cs typeface="Proxima Nova"/>
                <a:sym typeface="Proxima Nova"/>
              </a:rPr>
              <a:t>NodePort</a:t>
            </a:r>
            <a:r>
              <a:rPr lang="en-GB" sz="1800" b="0" i="0" u="none" strike="noStrike" cap="none" dirty="0">
                <a:solidFill>
                  <a:srgbClr val="0E101A"/>
                </a:solidFill>
                <a:latin typeface="Proxima Nova"/>
                <a:ea typeface="Proxima Nova"/>
                <a:cs typeface="Proxima Nova"/>
                <a:sym typeface="Proxima Nova"/>
              </a:rPr>
              <a:t> service can be contacted from outside the cluster by requesting &lt;</a:t>
            </a:r>
            <a:r>
              <a:rPr lang="en-GB" sz="1800" b="0" i="0" u="none" strike="noStrike" cap="none" dirty="0" err="1">
                <a:solidFill>
                  <a:srgbClr val="0E101A"/>
                </a:solidFill>
                <a:latin typeface="Proxima Nova"/>
                <a:ea typeface="Proxima Nova"/>
                <a:cs typeface="Proxima Nova"/>
                <a:sym typeface="Proxima Nova"/>
              </a:rPr>
              <a:t>NodeIP</a:t>
            </a:r>
            <a:r>
              <a:rPr lang="en-GB" sz="1800" b="0" i="0" u="none" strike="noStrike" cap="none" dirty="0">
                <a:solidFill>
                  <a:srgbClr val="0E101A"/>
                </a:solidFill>
                <a:latin typeface="Proxima Nova"/>
                <a:ea typeface="Proxima Nova"/>
                <a:cs typeface="Proxima Nova"/>
                <a:sym typeface="Proxima Nova"/>
              </a:rPr>
              <a:t>&gt;:&lt;</a:t>
            </a:r>
            <a:r>
              <a:rPr lang="en-GB" sz="1800" b="0" i="0" u="none" strike="noStrike" cap="none" dirty="0" err="1">
                <a:solidFill>
                  <a:srgbClr val="0E101A"/>
                </a:solidFill>
                <a:latin typeface="Proxima Nova"/>
                <a:ea typeface="Proxima Nova"/>
                <a:cs typeface="Proxima Nova"/>
                <a:sym typeface="Proxima Nova"/>
              </a:rPr>
              <a:t>NodePort</a:t>
            </a:r>
            <a:r>
              <a:rPr lang="en-GB" sz="1800" b="0" i="0" u="none" strike="noStrike" cap="none" dirty="0">
                <a:solidFill>
                  <a:srgbClr val="0E101A"/>
                </a:solidFill>
                <a:latin typeface="Proxima Nova"/>
                <a:ea typeface="Proxima Nova"/>
                <a:cs typeface="Proxima Nova"/>
                <a:sym typeface="Proxima Nova"/>
              </a:rPr>
              <a:t>&gt;.</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Arial"/>
              <a:buChar char="●"/>
            </a:pPr>
            <a:r>
              <a:rPr lang="en-GB" sz="1800" b="1" i="0" u="none" strike="noStrike" cap="none" dirty="0" err="1">
                <a:solidFill>
                  <a:srgbClr val="0E101A"/>
                </a:solidFill>
                <a:latin typeface="Proxima Nova"/>
                <a:ea typeface="Proxima Nova"/>
                <a:cs typeface="Proxima Nova"/>
                <a:sym typeface="Proxima Nova"/>
              </a:rPr>
              <a:t>LoadBalancer</a:t>
            </a:r>
            <a:r>
              <a:rPr lang="en-GB" sz="1800" b="1" i="0" u="none" strike="noStrike" cap="none" dirty="0">
                <a:solidFill>
                  <a:srgbClr val="0E101A"/>
                </a:solidFill>
                <a:latin typeface="Proxima Nova"/>
                <a:ea typeface="Proxima Nova"/>
                <a:cs typeface="Proxima Nova"/>
                <a:sym typeface="Proxima Nova"/>
              </a:rPr>
              <a:t>:</a:t>
            </a:r>
            <a:r>
              <a:rPr lang="en-GB" sz="1800" b="0" i="0" u="none" strike="noStrike" cap="none" dirty="0">
                <a:solidFill>
                  <a:srgbClr val="0E101A"/>
                </a:solidFill>
                <a:latin typeface="Proxima Nova"/>
                <a:ea typeface="Proxima Nova"/>
                <a:cs typeface="Proxima Nova"/>
                <a:sym typeface="Proxima Nova"/>
              </a:rPr>
              <a:t> It exposes the service externally using a cloud provider's load balancer.</a:t>
            </a:r>
            <a:endParaRPr sz="1800" b="0" i="0" u="none" strike="noStrike" cap="none" dirty="0">
              <a:solidFill>
                <a:srgbClr val="0E101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E101A"/>
              </a:buClr>
              <a:buSzPts val="1800"/>
              <a:buFont typeface="Arial"/>
              <a:buChar char="●"/>
            </a:pPr>
            <a:r>
              <a:rPr lang="en-GB" sz="1800" b="1" i="0" u="none" strike="noStrike" cap="none" dirty="0" err="1">
                <a:solidFill>
                  <a:srgbClr val="0E101A"/>
                </a:solidFill>
                <a:latin typeface="Proxima Nova"/>
                <a:ea typeface="Proxima Nova"/>
                <a:cs typeface="Proxima Nova"/>
                <a:sym typeface="Proxima Nova"/>
              </a:rPr>
              <a:t>ExternalName</a:t>
            </a:r>
            <a:r>
              <a:rPr lang="en-GB" sz="1800" b="1" i="0" u="none" strike="noStrike" cap="none" dirty="0">
                <a:solidFill>
                  <a:srgbClr val="0E101A"/>
                </a:solidFill>
                <a:latin typeface="Proxima Nova"/>
                <a:ea typeface="Proxima Nova"/>
                <a:cs typeface="Proxima Nova"/>
                <a:sym typeface="Proxima Nova"/>
              </a:rPr>
              <a:t>:</a:t>
            </a:r>
            <a:r>
              <a:rPr lang="en-GB" sz="1800" b="0" i="0" u="none" strike="noStrike" cap="none" dirty="0">
                <a:solidFill>
                  <a:srgbClr val="0E101A"/>
                </a:solidFill>
                <a:latin typeface="Proxima Nova"/>
                <a:ea typeface="Proxima Nova"/>
                <a:cs typeface="Proxima Nova"/>
                <a:sym typeface="Proxima Nova"/>
              </a:rPr>
              <a:t> It maps the service to the contents of the </a:t>
            </a:r>
            <a:r>
              <a:rPr lang="en-GB" sz="1800" b="0" i="0" u="none" strike="noStrike" cap="none" dirty="0" err="1">
                <a:solidFill>
                  <a:srgbClr val="0E101A"/>
                </a:solidFill>
                <a:latin typeface="Proxima Nova"/>
                <a:ea typeface="Proxima Nova"/>
                <a:cs typeface="Proxima Nova"/>
                <a:sym typeface="Proxima Nova"/>
              </a:rPr>
              <a:t>externalName</a:t>
            </a:r>
            <a:r>
              <a:rPr lang="en-GB" sz="1800" b="0" i="0" u="none" strike="noStrike" cap="none" dirty="0">
                <a:solidFill>
                  <a:srgbClr val="0E101A"/>
                </a:solidFill>
                <a:latin typeface="Proxima Nova"/>
                <a:ea typeface="Proxima Nova"/>
                <a:cs typeface="Proxima Nova"/>
                <a:sym typeface="Proxima Nova"/>
              </a:rPr>
              <a:t> field by returning a CNAME record with its value.</a:t>
            </a:r>
            <a:endParaRPr sz="1800" b="0" i="0" u="none" strike="noStrike" cap="none" dirty="0">
              <a:solidFill>
                <a:srgbClr val="0E101A"/>
              </a:solidFill>
              <a:latin typeface="Proxima Nova"/>
              <a:ea typeface="Proxima Nova"/>
              <a:cs typeface="Proxima Nova"/>
              <a:sym typeface="Proxima Nova"/>
            </a:endParaRPr>
          </a:p>
        </p:txBody>
      </p:sp>
    </p:spTree>
    <p:extLst>
      <p:ext uri="{BB962C8B-B14F-4D97-AF65-F5344CB8AC3E}">
        <p14:creationId xmlns:p14="http://schemas.microsoft.com/office/powerpoint/2010/main" val="1579015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SERVICE</a:t>
            </a:r>
          </a:p>
        </p:txBody>
      </p:sp>
      <p:pic>
        <p:nvPicPr>
          <p:cNvPr id="9" name="Google Shape;1326;p48">
            <a:extLst>
              <a:ext uri="{FF2B5EF4-FFF2-40B4-BE49-F238E27FC236}">
                <a16:creationId xmlns:a16="http://schemas.microsoft.com/office/drawing/2014/main" id="{DAD474B5-D2A2-A2EA-3E29-3D3E6BE6143D}"/>
              </a:ext>
            </a:extLst>
          </p:cNvPr>
          <p:cNvPicPr preferRelativeResize="0"/>
          <p:nvPr/>
        </p:nvPicPr>
        <p:blipFill rotWithShape="1">
          <a:blip r:embed="rId6">
            <a:alphaModFix/>
          </a:blip>
          <a:srcRect/>
          <a:stretch/>
        </p:blipFill>
        <p:spPr>
          <a:xfrm>
            <a:off x="1890337" y="1993297"/>
            <a:ext cx="3773045" cy="4250187"/>
          </a:xfrm>
          <a:prstGeom prst="rect">
            <a:avLst/>
          </a:prstGeom>
          <a:noFill/>
          <a:ln>
            <a:noFill/>
          </a:ln>
        </p:spPr>
      </p:pic>
    </p:spTree>
    <p:extLst>
      <p:ext uri="{BB962C8B-B14F-4D97-AF65-F5344CB8AC3E}">
        <p14:creationId xmlns:p14="http://schemas.microsoft.com/office/powerpoint/2010/main" val="2533813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SERVICE</a:t>
            </a:r>
          </a:p>
        </p:txBody>
      </p:sp>
      <p:pic>
        <p:nvPicPr>
          <p:cNvPr id="11" name="Google Shape;1335;p49">
            <a:extLst>
              <a:ext uri="{FF2B5EF4-FFF2-40B4-BE49-F238E27FC236}">
                <a16:creationId xmlns:a16="http://schemas.microsoft.com/office/drawing/2014/main" id="{E979BC99-9998-7E7B-3CE0-FD7094786F25}"/>
              </a:ext>
            </a:extLst>
          </p:cNvPr>
          <p:cNvPicPr preferRelativeResize="0"/>
          <p:nvPr/>
        </p:nvPicPr>
        <p:blipFill rotWithShape="1">
          <a:blip r:embed="rId6">
            <a:alphaModFix/>
          </a:blip>
          <a:srcRect/>
          <a:stretch/>
        </p:blipFill>
        <p:spPr>
          <a:xfrm>
            <a:off x="2827322" y="1993297"/>
            <a:ext cx="6537355" cy="4366028"/>
          </a:xfrm>
          <a:prstGeom prst="rect">
            <a:avLst/>
          </a:prstGeom>
          <a:noFill/>
          <a:ln>
            <a:noFill/>
          </a:ln>
        </p:spPr>
      </p:pic>
    </p:spTree>
    <p:extLst>
      <p:ext uri="{BB962C8B-B14F-4D97-AF65-F5344CB8AC3E}">
        <p14:creationId xmlns:p14="http://schemas.microsoft.com/office/powerpoint/2010/main" val="2293558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SERVICE </a:t>
            </a:r>
            <a:r>
              <a:rPr lang="en-GB" sz="2540" b="0" i="0" u="none" strike="noStrike" cap="none" dirty="0" err="1">
                <a:solidFill>
                  <a:schemeClr val="tx1"/>
                </a:solidFill>
                <a:latin typeface="Proxima Nova"/>
                <a:ea typeface="Proxima Nova"/>
                <a:cs typeface="Proxima Nova"/>
                <a:sym typeface="Proxima Nova"/>
              </a:rPr>
              <a:t>NodePort</a:t>
            </a:r>
            <a:endParaRPr lang="en-GB" sz="2540" b="0" i="0" u="none" strike="noStrike" cap="none" dirty="0">
              <a:solidFill>
                <a:schemeClr val="tx1"/>
              </a:solidFill>
              <a:latin typeface="Proxima Nova"/>
              <a:ea typeface="Proxima Nova"/>
              <a:cs typeface="Proxima Nova"/>
              <a:sym typeface="Proxima Nova"/>
            </a:endParaRPr>
          </a:p>
        </p:txBody>
      </p:sp>
      <p:pic>
        <p:nvPicPr>
          <p:cNvPr id="9" name="Google Shape;1344;p50">
            <a:extLst>
              <a:ext uri="{FF2B5EF4-FFF2-40B4-BE49-F238E27FC236}">
                <a16:creationId xmlns:a16="http://schemas.microsoft.com/office/drawing/2014/main" id="{778A6E28-8217-9F88-BDCC-82E1BC8800D8}"/>
              </a:ext>
            </a:extLst>
          </p:cNvPr>
          <p:cNvPicPr preferRelativeResize="0"/>
          <p:nvPr/>
        </p:nvPicPr>
        <p:blipFill rotWithShape="1">
          <a:blip r:embed="rId6">
            <a:alphaModFix/>
          </a:blip>
          <a:srcRect r="38901"/>
          <a:stretch/>
        </p:blipFill>
        <p:spPr>
          <a:xfrm>
            <a:off x="576180" y="2072807"/>
            <a:ext cx="5519819" cy="3924869"/>
          </a:xfrm>
          <a:prstGeom prst="rect">
            <a:avLst/>
          </a:prstGeom>
          <a:noFill/>
          <a:ln>
            <a:noFill/>
          </a:ln>
        </p:spPr>
      </p:pic>
      <p:pic>
        <p:nvPicPr>
          <p:cNvPr id="12" name="Google Shape;1345;p50">
            <a:extLst>
              <a:ext uri="{FF2B5EF4-FFF2-40B4-BE49-F238E27FC236}">
                <a16:creationId xmlns:a16="http://schemas.microsoft.com/office/drawing/2014/main" id="{C7C14010-F31F-2FCA-FE02-352D366D6D80}"/>
              </a:ext>
            </a:extLst>
          </p:cNvPr>
          <p:cNvPicPr preferRelativeResize="0"/>
          <p:nvPr/>
        </p:nvPicPr>
        <p:blipFill rotWithShape="1">
          <a:blip r:embed="rId7">
            <a:alphaModFix/>
          </a:blip>
          <a:srcRect/>
          <a:stretch/>
        </p:blipFill>
        <p:spPr>
          <a:xfrm>
            <a:off x="7062662" y="2072807"/>
            <a:ext cx="3460013" cy="3924868"/>
          </a:xfrm>
          <a:prstGeom prst="rect">
            <a:avLst/>
          </a:prstGeom>
          <a:noFill/>
          <a:ln>
            <a:noFill/>
          </a:ln>
        </p:spPr>
      </p:pic>
    </p:spTree>
    <p:extLst>
      <p:ext uri="{BB962C8B-B14F-4D97-AF65-F5344CB8AC3E}">
        <p14:creationId xmlns:p14="http://schemas.microsoft.com/office/powerpoint/2010/main" val="241488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NAMESPACE</a:t>
            </a:r>
          </a:p>
        </p:txBody>
      </p:sp>
      <p:pic>
        <p:nvPicPr>
          <p:cNvPr id="11" name="Google Shape;1354;p51">
            <a:extLst>
              <a:ext uri="{FF2B5EF4-FFF2-40B4-BE49-F238E27FC236}">
                <a16:creationId xmlns:a16="http://schemas.microsoft.com/office/drawing/2014/main" id="{58974DD4-D8DD-A264-D879-1D78F5411273}"/>
              </a:ext>
            </a:extLst>
          </p:cNvPr>
          <p:cNvPicPr preferRelativeResize="0"/>
          <p:nvPr/>
        </p:nvPicPr>
        <p:blipFill rotWithShape="1">
          <a:blip r:embed="rId6">
            <a:alphaModFix/>
          </a:blip>
          <a:srcRect/>
          <a:stretch/>
        </p:blipFill>
        <p:spPr>
          <a:xfrm>
            <a:off x="3290763" y="1993297"/>
            <a:ext cx="5608515" cy="4447911"/>
          </a:xfrm>
          <a:prstGeom prst="rect">
            <a:avLst/>
          </a:prstGeom>
          <a:noFill/>
          <a:ln>
            <a:noFill/>
          </a:ln>
        </p:spPr>
      </p:pic>
    </p:spTree>
    <p:extLst>
      <p:ext uri="{BB962C8B-B14F-4D97-AF65-F5344CB8AC3E}">
        <p14:creationId xmlns:p14="http://schemas.microsoft.com/office/powerpoint/2010/main" val="4290775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NAMESPACE</a:t>
            </a:r>
          </a:p>
        </p:txBody>
      </p:sp>
      <p:sp>
        <p:nvSpPr>
          <p:cNvPr id="9" name="Google Shape;1362;p52">
            <a:extLst>
              <a:ext uri="{FF2B5EF4-FFF2-40B4-BE49-F238E27FC236}">
                <a16:creationId xmlns:a16="http://schemas.microsoft.com/office/drawing/2014/main" id="{B9A2961B-4BB5-6EB8-1852-4B8D277E889F}"/>
              </a:ext>
            </a:extLst>
          </p:cNvPr>
          <p:cNvSpPr txBox="1"/>
          <p:nvPr/>
        </p:nvSpPr>
        <p:spPr>
          <a:xfrm>
            <a:off x="1927957" y="1993297"/>
            <a:ext cx="8183400" cy="2943369"/>
          </a:xfrm>
          <a:prstGeom prst="rect">
            <a:avLst/>
          </a:prstGeom>
          <a:noFill/>
          <a:ln>
            <a:noFill/>
          </a:ln>
        </p:spPr>
        <p:txBody>
          <a:bodyPr spcFirstLastPara="1" wrap="square" lIns="91425" tIns="91425" rIns="91425" bIns="91425" anchor="t" anchorCtr="0">
            <a:noAutofit/>
          </a:bodyPr>
          <a:lstStyle/>
          <a:p>
            <a:pPr marL="9144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Kubernetes supports multiple virtual clusters in the same physical cluster.</a:t>
            </a:r>
            <a:endParaRPr sz="1800" b="0" i="0" u="none" strike="noStrike" cap="none" dirty="0">
              <a:solidFill>
                <a:srgbClr val="0E101A"/>
              </a:solidFill>
              <a:latin typeface="Proxima Nova"/>
              <a:ea typeface="Proxima Nova"/>
              <a:cs typeface="Proxima Nova"/>
              <a:sym typeface="Proxima Nova"/>
            </a:endParaRPr>
          </a:p>
          <a:p>
            <a:pPr marL="9144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These virtual clusters are called namespaces.</a:t>
            </a:r>
            <a:endParaRPr sz="1800" b="0" i="0" u="none" strike="noStrike" cap="none" dirty="0">
              <a:solidFill>
                <a:srgbClr val="0E101A"/>
              </a:solidFill>
              <a:latin typeface="Proxima Nova"/>
              <a:ea typeface="Proxima Nova"/>
              <a:cs typeface="Proxima Nova"/>
              <a:sym typeface="Proxima Nova"/>
            </a:endParaRPr>
          </a:p>
          <a:p>
            <a:pPr marL="9144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Names of the resources need to be unique within a namespace but not across the namespaces.</a:t>
            </a:r>
            <a:endParaRPr sz="1800" b="0" i="0" u="none" strike="noStrike" cap="none" dirty="0">
              <a:solidFill>
                <a:srgbClr val="0E101A"/>
              </a:solidFill>
              <a:latin typeface="Proxima Nova"/>
              <a:ea typeface="Proxima Nova"/>
              <a:cs typeface="Proxima Nova"/>
              <a:sym typeface="Proxima Nova"/>
            </a:endParaRPr>
          </a:p>
          <a:p>
            <a:pPr marL="9144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The namespaces cannot be nested inside one another, and each namespace can have only one Kubernetes resource.</a:t>
            </a:r>
            <a:endParaRPr sz="1800" b="0" i="0" u="none" strike="noStrike" cap="none" dirty="0">
              <a:solidFill>
                <a:srgbClr val="0E101A"/>
              </a:solidFill>
              <a:latin typeface="Proxima Nova"/>
              <a:ea typeface="Proxima Nova"/>
              <a:cs typeface="Proxima Nova"/>
              <a:sym typeface="Proxima Nova"/>
            </a:endParaRPr>
          </a:p>
          <a:p>
            <a:pPr marL="914400" marR="0" lvl="0" indent="-342900" algn="l" rtl="0">
              <a:lnSpc>
                <a:spcPct val="115000"/>
              </a:lnSpc>
              <a:spcBef>
                <a:spcPts val="0"/>
              </a:spcBef>
              <a:spcAft>
                <a:spcPts val="0"/>
              </a:spcAft>
              <a:buClr>
                <a:srgbClr val="0E101A"/>
              </a:buClr>
              <a:buSzPts val="1800"/>
              <a:buFont typeface="Proxima Nova"/>
              <a:buChar char="●"/>
            </a:pPr>
            <a:r>
              <a:rPr lang="en-GB" sz="1800" b="0" i="0" u="none" strike="noStrike" cap="none" dirty="0">
                <a:solidFill>
                  <a:srgbClr val="0E101A"/>
                </a:solidFill>
                <a:latin typeface="Proxima Nova"/>
                <a:ea typeface="Proxima Nova"/>
                <a:cs typeface="Proxima Nova"/>
                <a:sym typeface="Proxima Nova"/>
              </a:rPr>
              <a:t>Namespaces are a method to divide the cluster resources between multiple users.</a:t>
            </a:r>
            <a:endParaRPr sz="1800" b="0" i="0" u="none" strike="noStrike" cap="none" dirty="0">
              <a:solidFill>
                <a:srgbClr val="0E101A"/>
              </a:solidFill>
              <a:latin typeface="Proxima Nova"/>
              <a:ea typeface="Proxima Nova"/>
              <a:cs typeface="Proxima Nova"/>
              <a:sym typeface="Proxima Nova"/>
            </a:endParaRPr>
          </a:p>
          <a:p>
            <a:pPr marL="914400" marR="0" lvl="0" indent="0" algn="just" rtl="0">
              <a:lnSpc>
                <a:spcPct val="115000"/>
              </a:lnSpc>
              <a:spcBef>
                <a:spcPts val="0"/>
              </a:spcBef>
              <a:spcAft>
                <a:spcPts val="0"/>
              </a:spcAft>
              <a:buClr>
                <a:srgbClr val="000000"/>
              </a:buClr>
              <a:buSzPts val="1800"/>
              <a:buFont typeface="Arial"/>
              <a:buNone/>
            </a:pP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241085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3270269" y="1590397"/>
            <a:ext cx="5522400" cy="402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GB" sz="2540" b="0" i="0" u="none" strike="noStrike" cap="none" dirty="0">
                <a:solidFill>
                  <a:schemeClr val="tx1"/>
                </a:solidFill>
                <a:latin typeface="Proxima Nova"/>
                <a:ea typeface="Proxima Nova"/>
                <a:cs typeface="Proxima Nova"/>
                <a:sym typeface="Proxima Nova"/>
              </a:rPr>
              <a:t>YAML FILE FOR NAMESPACE</a:t>
            </a:r>
          </a:p>
        </p:txBody>
      </p:sp>
      <p:sp>
        <p:nvSpPr>
          <p:cNvPr id="11" name="Google Shape;1371;p53">
            <a:extLst>
              <a:ext uri="{FF2B5EF4-FFF2-40B4-BE49-F238E27FC236}">
                <a16:creationId xmlns:a16="http://schemas.microsoft.com/office/drawing/2014/main" id="{A00625A8-E989-5B7D-1226-61B1A36D0435}"/>
              </a:ext>
            </a:extLst>
          </p:cNvPr>
          <p:cNvSpPr/>
          <p:nvPr/>
        </p:nvSpPr>
        <p:spPr>
          <a:xfrm>
            <a:off x="4034550" y="2033862"/>
            <a:ext cx="4122900" cy="2861700"/>
          </a:xfrm>
          <a:prstGeom prst="roundRect">
            <a:avLst>
              <a:gd name="adj" fmla="val 7647"/>
            </a:avLst>
          </a:prstGeom>
          <a:solidFill>
            <a:srgbClr val="2C2C2C"/>
          </a:solidFill>
          <a:ln>
            <a:noFill/>
          </a:ln>
        </p:spPr>
        <p:txBody>
          <a:bodyPr spcFirstLastPara="1" wrap="square" lIns="68575" tIns="68575" rIns="68575" bIns="68575" anchor="ctr" anchorCtr="0">
            <a:noAutofit/>
          </a:bodyPr>
          <a:lstStyle/>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apiVersion</a:t>
            </a:r>
            <a:r>
              <a:rPr lang="en-GB" sz="1700" b="0" i="0" u="none" strike="noStrike" cap="none">
                <a:solidFill>
                  <a:srgbClr val="A9B7C6"/>
                </a:solidFill>
                <a:latin typeface="JetBrains Mono"/>
                <a:ea typeface="JetBrains Mono"/>
                <a:cs typeface="JetBrains Mono"/>
                <a:sym typeface="JetBrains Mono"/>
              </a:rPr>
              <a:t>: v1</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kind</a:t>
            </a:r>
            <a:r>
              <a:rPr lang="en-GB" sz="1700" b="0" i="0" u="none" strike="noStrike" cap="none">
                <a:solidFill>
                  <a:srgbClr val="A9B7C6"/>
                </a:solidFill>
                <a:latin typeface="JetBrains Mono"/>
                <a:ea typeface="JetBrains Mono"/>
                <a:cs typeface="JetBrains Mono"/>
                <a:sym typeface="JetBrains Mono"/>
              </a:rPr>
              <a:t>: Namespace</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E69138"/>
                </a:solidFill>
                <a:latin typeface="JetBrains Mono"/>
                <a:ea typeface="JetBrains Mono"/>
                <a:cs typeface="JetBrains Mono"/>
                <a:sym typeface="JetBrains Mono"/>
              </a:rPr>
              <a:t>metadata</a:t>
            </a:r>
            <a:r>
              <a:rPr lang="en-GB" sz="1700" b="0" i="0" u="none" strike="noStrike" cap="none">
                <a:solidFill>
                  <a:srgbClr val="A9B7C6"/>
                </a:solidFill>
                <a:latin typeface="JetBrains Mono"/>
                <a:ea typeface="JetBrains Mono"/>
                <a:cs typeface="JetBrains Mono"/>
                <a:sym typeface="JetBrains Mono"/>
              </a:rPr>
              <a:t>: </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r>
              <a:rPr lang="en-GB" sz="1700" b="0" i="0" u="none" strike="noStrike" cap="none">
                <a:solidFill>
                  <a:srgbClr val="A9B7C6"/>
                </a:solidFill>
                <a:latin typeface="JetBrains Mono"/>
                <a:ea typeface="JetBrains Mono"/>
                <a:cs typeface="JetBrains Mono"/>
                <a:sym typeface="JetBrains Mono"/>
              </a:rPr>
              <a:t>  </a:t>
            </a:r>
            <a:r>
              <a:rPr lang="en-GB" sz="1700" b="0" i="0" u="none" strike="noStrike" cap="none">
                <a:solidFill>
                  <a:srgbClr val="E69138"/>
                </a:solidFill>
                <a:latin typeface="JetBrains Mono"/>
                <a:ea typeface="JetBrains Mono"/>
                <a:cs typeface="JetBrains Mono"/>
                <a:sym typeface="JetBrains Mono"/>
              </a:rPr>
              <a:t>name</a:t>
            </a:r>
            <a:r>
              <a:rPr lang="en-GB" sz="1700" b="0" i="0" u="none" strike="noStrike" cap="none">
                <a:solidFill>
                  <a:srgbClr val="A9B7C6"/>
                </a:solidFill>
                <a:latin typeface="JetBrains Mono"/>
                <a:ea typeface="JetBrains Mono"/>
                <a:cs typeface="JetBrains Mono"/>
                <a:sym typeface="JetBrains Mono"/>
              </a:rPr>
              <a:t>: dev-ns</a:t>
            </a:r>
            <a:endParaRPr sz="1700" b="0" i="0" u="none" strike="noStrike" cap="none">
              <a:solidFill>
                <a:srgbClr val="A9B7C6"/>
              </a:solidFill>
              <a:latin typeface="JetBrains Mono"/>
              <a:ea typeface="JetBrains Mono"/>
              <a:cs typeface="JetBrains Mono"/>
              <a:sym typeface="JetBrains Mono"/>
            </a:endParaRPr>
          </a:p>
          <a:p>
            <a:pPr marL="0" marR="0" lvl="0" indent="0" algn="l" rtl="0">
              <a:lnSpc>
                <a:spcPct val="135714"/>
              </a:lnSpc>
              <a:spcBef>
                <a:spcPts val="0"/>
              </a:spcBef>
              <a:spcAft>
                <a:spcPts val="0"/>
              </a:spcAft>
              <a:buClr>
                <a:srgbClr val="000000"/>
              </a:buClr>
              <a:buSzPts val="1700"/>
              <a:buFont typeface="Arial"/>
              <a:buNone/>
            </a:pPr>
            <a:endParaRPr sz="1700" b="0" i="0" u="none" strike="noStrike" cap="none">
              <a:solidFill>
                <a:srgbClr val="A9B7C6"/>
              </a:solidFill>
              <a:latin typeface="JetBrains Mono"/>
              <a:ea typeface="JetBrains Mono"/>
              <a:cs typeface="JetBrains Mono"/>
              <a:sym typeface="JetBrains Mono"/>
            </a:endParaRPr>
          </a:p>
        </p:txBody>
      </p:sp>
    </p:spTree>
    <p:extLst>
      <p:ext uri="{BB962C8B-B14F-4D97-AF65-F5344CB8AC3E}">
        <p14:creationId xmlns:p14="http://schemas.microsoft.com/office/powerpoint/2010/main" val="1791826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5" y="1497614"/>
            <a:ext cx="7271148" cy="61704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Amazon Elastic Kubernetes Service</a:t>
            </a:r>
          </a:p>
        </p:txBody>
      </p:sp>
      <p:sp>
        <p:nvSpPr>
          <p:cNvPr id="15" name="Google Shape;717;p53">
            <a:extLst>
              <a:ext uri="{FF2B5EF4-FFF2-40B4-BE49-F238E27FC236}">
                <a16:creationId xmlns:a16="http://schemas.microsoft.com/office/drawing/2014/main" id="{BF301862-1002-58E8-3C7B-DB4B7816FD87}"/>
              </a:ext>
            </a:extLst>
          </p:cNvPr>
          <p:cNvSpPr txBox="1"/>
          <p:nvPr/>
        </p:nvSpPr>
        <p:spPr>
          <a:xfrm>
            <a:off x="2460425" y="5509315"/>
            <a:ext cx="7271148" cy="43920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dirty="0">
                <a:solidFill>
                  <a:sysClr val="windowText" lastClr="000000"/>
                </a:solidFill>
                <a:latin typeface="Proxima Nova"/>
                <a:ea typeface="Proxima Nova"/>
                <a:cs typeface="Proxima Nova"/>
                <a:sym typeface="Proxima Nova"/>
              </a:rPr>
              <a:t>Orchestration Using Kubernetes</a:t>
            </a:r>
          </a:p>
        </p:txBody>
      </p:sp>
      <p:pic>
        <p:nvPicPr>
          <p:cNvPr id="10" name="Google Shape;1379;p54">
            <a:extLst>
              <a:ext uri="{FF2B5EF4-FFF2-40B4-BE49-F238E27FC236}">
                <a16:creationId xmlns:a16="http://schemas.microsoft.com/office/drawing/2014/main" id="{C8757B02-71B7-7BCA-A1C9-7CB81CCBB1D3}"/>
              </a:ext>
            </a:extLst>
          </p:cNvPr>
          <p:cNvPicPr preferRelativeResize="0"/>
          <p:nvPr/>
        </p:nvPicPr>
        <p:blipFill rotWithShape="1">
          <a:blip r:embed="rId6">
            <a:alphaModFix/>
          </a:blip>
          <a:srcRect/>
          <a:stretch/>
        </p:blipFill>
        <p:spPr>
          <a:xfrm>
            <a:off x="4046666" y="2575885"/>
            <a:ext cx="4098668" cy="2201039"/>
          </a:xfrm>
          <a:prstGeom prst="rect">
            <a:avLst/>
          </a:prstGeom>
          <a:noFill/>
          <a:ln>
            <a:noFill/>
          </a:ln>
        </p:spPr>
      </p:pic>
    </p:spTree>
    <p:extLst>
      <p:ext uri="{BB962C8B-B14F-4D97-AF65-F5344CB8AC3E}">
        <p14:creationId xmlns:p14="http://schemas.microsoft.com/office/powerpoint/2010/main" val="1655080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How to call services from one namespace to service present in another namespace?</a:t>
            </a:r>
          </a:p>
        </p:txBody>
      </p:sp>
      <p:pic>
        <p:nvPicPr>
          <p:cNvPr id="9" name="Google Shape;1387;p55">
            <a:extLst>
              <a:ext uri="{FF2B5EF4-FFF2-40B4-BE49-F238E27FC236}">
                <a16:creationId xmlns:a16="http://schemas.microsoft.com/office/drawing/2014/main" id="{152D105E-F8DD-0574-A53B-FEB6DE966771}"/>
              </a:ext>
            </a:extLst>
          </p:cNvPr>
          <p:cNvPicPr preferRelativeResize="0"/>
          <p:nvPr/>
        </p:nvPicPr>
        <p:blipFill rotWithShape="1">
          <a:blip r:embed="rId6">
            <a:alphaModFix/>
          </a:blip>
          <a:srcRect/>
          <a:stretch/>
        </p:blipFill>
        <p:spPr>
          <a:xfrm>
            <a:off x="2154248" y="4948037"/>
            <a:ext cx="6940401" cy="1178318"/>
          </a:xfrm>
          <a:prstGeom prst="rect">
            <a:avLst/>
          </a:prstGeom>
          <a:noFill/>
          <a:ln>
            <a:noFill/>
          </a:ln>
        </p:spPr>
      </p:pic>
      <p:pic>
        <p:nvPicPr>
          <p:cNvPr id="12" name="Google Shape;1388;p55">
            <a:extLst>
              <a:ext uri="{FF2B5EF4-FFF2-40B4-BE49-F238E27FC236}">
                <a16:creationId xmlns:a16="http://schemas.microsoft.com/office/drawing/2014/main" id="{C348B47A-4208-EB0E-7940-16241F079EC7}"/>
              </a:ext>
            </a:extLst>
          </p:cNvPr>
          <p:cNvPicPr preferRelativeResize="0"/>
          <p:nvPr/>
        </p:nvPicPr>
        <p:blipFill rotWithShape="1">
          <a:blip r:embed="rId7">
            <a:alphaModFix/>
          </a:blip>
          <a:srcRect/>
          <a:stretch/>
        </p:blipFill>
        <p:spPr>
          <a:xfrm>
            <a:off x="1523998" y="1791861"/>
            <a:ext cx="9144003" cy="3323301"/>
          </a:xfrm>
          <a:prstGeom prst="rect">
            <a:avLst/>
          </a:prstGeom>
          <a:noFill/>
          <a:ln>
            <a:noFill/>
          </a:ln>
        </p:spPr>
      </p:pic>
    </p:spTree>
    <p:extLst>
      <p:ext uri="{BB962C8B-B14F-4D97-AF65-F5344CB8AC3E}">
        <p14:creationId xmlns:p14="http://schemas.microsoft.com/office/powerpoint/2010/main" val="2879632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Why Managed Service?</a:t>
            </a:r>
          </a:p>
        </p:txBody>
      </p:sp>
      <p:pic>
        <p:nvPicPr>
          <p:cNvPr id="11" name="Google Shape;1399;p56">
            <a:extLst>
              <a:ext uri="{FF2B5EF4-FFF2-40B4-BE49-F238E27FC236}">
                <a16:creationId xmlns:a16="http://schemas.microsoft.com/office/drawing/2014/main" id="{15095B99-CFBA-578F-CA6D-E2ABDC41FACD}"/>
              </a:ext>
            </a:extLst>
          </p:cNvPr>
          <p:cNvPicPr preferRelativeResize="0"/>
          <p:nvPr/>
        </p:nvPicPr>
        <p:blipFill rotWithShape="1">
          <a:blip r:embed="rId6">
            <a:alphaModFix/>
          </a:blip>
          <a:srcRect/>
          <a:stretch/>
        </p:blipFill>
        <p:spPr>
          <a:xfrm>
            <a:off x="1543664" y="1630952"/>
            <a:ext cx="8263563" cy="4150416"/>
          </a:xfrm>
          <a:prstGeom prst="rect">
            <a:avLst/>
          </a:prstGeom>
          <a:noFill/>
          <a:ln>
            <a:noFill/>
          </a:ln>
        </p:spPr>
      </p:pic>
    </p:spTree>
    <p:extLst>
      <p:ext uri="{BB962C8B-B14F-4D97-AF65-F5344CB8AC3E}">
        <p14:creationId xmlns:p14="http://schemas.microsoft.com/office/powerpoint/2010/main" val="10252344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Managed Kubernetes Service</a:t>
            </a:r>
          </a:p>
        </p:txBody>
      </p:sp>
      <p:sp>
        <p:nvSpPr>
          <p:cNvPr id="9" name="Google Shape;1407;p57">
            <a:extLst>
              <a:ext uri="{FF2B5EF4-FFF2-40B4-BE49-F238E27FC236}">
                <a16:creationId xmlns:a16="http://schemas.microsoft.com/office/drawing/2014/main" id="{8FD9B99B-BE57-9D96-C6C7-DC396610411D}"/>
              </a:ext>
            </a:extLst>
          </p:cNvPr>
          <p:cNvSpPr txBox="1"/>
          <p:nvPr/>
        </p:nvSpPr>
        <p:spPr>
          <a:xfrm>
            <a:off x="1586634" y="1582391"/>
            <a:ext cx="8183400" cy="3870197"/>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Managed Kubernetes is when third-party providers take over responsibility for some or all of the work necessary for the successful setup and operation of Kubernetes.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Manages all of the maintenance and configuration needed for your infrastructure</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Has built-in authentication and access controls for centralised management</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Also takes care of the monitoring and logging of the cluster</a:t>
            </a:r>
            <a:endParaRPr sz="1800" b="0" i="0" u="none" strike="noStrike" cap="none" dirty="0">
              <a:solidFill>
                <a:srgbClr val="0A0A0A"/>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dirty="0">
              <a:solidFill>
                <a:srgbClr val="0A0A0A"/>
              </a:solidFill>
              <a:latin typeface="Proxima Nova"/>
              <a:ea typeface="Proxima Nova"/>
              <a:cs typeface="Proxima Nova"/>
              <a:sym typeface="Proxima Nova"/>
            </a:endParaRPr>
          </a:p>
          <a:p>
            <a:pPr marL="457200" marR="0" lvl="0" indent="0" algn="just" rtl="0">
              <a:lnSpc>
                <a:spcPct val="115000"/>
              </a:lnSpc>
              <a:spcBef>
                <a:spcPts val="0"/>
              </a:spcBef>
              <a:spcAft>
                <a:spcPts val="0"/>
              </a:spcAft>
              <a:buClr>
                <a:srgbClr val="000000"/>
              </a:buClr>
              <a:buSzPts val="1800"/>
              <a:buFont typeface="Arial"/>
              <a:buNone/>
            </a:pPr>
            <a:r>
              <a:rPr lang="en-GB" sz="1800" b="0" i="0" u="none" strike="noStrike" cap="none" dirty="0">
                <a:solidFill>
                  <a:srgbClr val="0A0A0A"/>
                </a:solidFill>
                <a:latin typeface="Proxima Nova"/>
                <a:ea typeface="Proxima Nova"/>
                <a:cs typeface="Proxima Nova"/>
                <a:sym typeface="Proxima Nova"/>
              </a:rPr>
              <a:t>Examples: Amazon Elastic Kubernetes Service (EKS), Google Kubernetes Engine or Azure Kubernetes Service</a:t>
            </a: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2367939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EKS Introduction</a:t>
            </a:r>
          </a:p>
        </p:txBody>
      </p:sp>
      <p:pic>
        <p:nvPicPr>
          <p:cNvPr id="11" name="Google Shape;1415;p58">
            <a:extLst>
              <a:ext uri="{FF2B5EF4-FFF2-40B4-BE49-F238E27FC236}">
                <a16:creationId xmlns:a16="http://schemas.microsoft.com/office/drawing/2014/main" id="{B62ACE6D-DBBC-7FB8-3528-C4A66882B587}"/>
              </a:ext>
            </a:extLst>
          </p:cNvPr>
          <p:cNvPicPr preferRelativeResize="0"/>
          <p:nvPr/>
        </p:nvPicPr>
        <p:blipFill rotWithShape="1">
          <a:blip r:embed="rId6">
            <a:alphaModFix/>
          </a:blip>
          <a:srcRect/>
          <a:stretch/>
        </p:blipFill>
        <p:spPr>
          <a:xfrm>
            <a:off x="2984157" y="1987996"/>
            <a:ext cx="6228669" cy="3056498"/>
          </a:xfrm>
          <a:prstGeom prst="rect">
            <a:avLst/>
          </a:prstGeom>
          <a:noFill/>
          <a:ln>
            <a:noFill/>
          </a:ln>
        </p:spPr>
      </p:pic>
      <p:pic>
        <p:nvPicPr>
          <p:cNvPr id="12" name="Google Shape;1416;p58">
            <a:extLst>
              <a:ext uri="{FF2B5EF4-FFF2-40B4-BE49-F238E27FC236}">
                <a16:creationId xmlns:a16="http://schemas.microsoft.com/office/drawing/2014/main" id="{3B0B06AD-6AD7-72DB-6FB6-C25F3E8978E9}"/>
              </a:ext>
            </a:extLst>
          </p:cNvPr>
          <p:cNvPicPr preferRelativeResize="0"/>
          <p:nvPr/>
        </p:nvPicPr>
        <p:blipFill rotWithShape="1">
          <a:blip r:embed="rId7">
            <a:alphaModFix/>
          </a:blip>
          <a:srcRect/>
          <a:stretch/>
        </p:blipFill>
        <p:spPr>
          <a:xfrm>
            <a:off x="963561" y="3665344"/>
            <a:ext cx="2015613" cy="2055743"/>
          </a:xfrm>
          <a:prstGeom prst="rect">
            <a:avLst/>
          </a:prstGeom>
          <a:noFill/>
          <a:ln>
            <a:noFill/>
          </a:ln>
        </p:spPr>
      </p:pic>
    </p:spTree>
    <p:extLst>
      <p:ext uri="{BB962C8B-B14F-4D97-AF65-F5344CB8AC3E}">
        <p14:creationId xmlns:p14="http://schemas.microsoft.com/office/powerpoint/2010/main" val="14329849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EKS Introduction</a:t>
            </a:r>
          </a:p>
        </p:txBody>
      </p:sp>
      <p:pic>
        <p:nvPicPr>
          <p:cNvPr id="9" name="Google Shape;1424;p59">
            <a:extLst>
              <a:ext uri="{FF2B5EF4-FFF2-40B4-BE49-F238E27FC236}">
                <a16:creationId xmlns:a16="http://schemas.microsoft.com/office/drawing/2014/main" id="{5E913ACB-B01B-000E-2B9B-EEAB270E8742}"/>
              </a:ext>
            </a:extLst>
          </p:cNvPr>
          <p:cNvPicPr preferRelativeResize="0"/>
          <p:nvPr/>
        </p:nvPicPr>
        <p:blipFill rotWithShape="1">
          <a:blip r:embed="rId6">
            <a:alphaModFix/>
          </a:blip>
          <a:srcRect/>
          <a:stretch/>
        </p:blipFill>
        <p:spPr>
          <a:xfrm>
            <a:off x="1534495" y="1755047"/>
            <a:ext cx="8576862" cy="4387119"/>
          </a:xfrm>
          <a:prstGeom prst="rect">
            <a:avLst/>
          </a:prstGeom>
          <a:noFill/>
          <a:ln>
            <a:noFill/>
          </a:ln>
        </p:spPr>
      </p:pic>
    </p:spTree>
    <p:extLst>
      <p:ext uri="{BB962C8B-B14F-4D97-AF65-F5344CB8AC3E}">
        <p14:creationId xmlns:p14="http://schemas.microsoft.com/office/powerpoint/2010/main" val="18820457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EKS Introduction</a:t>
            </a:r>
          </a:p>
        </p:txBody>
      </p:sp>
      <p:sp>
        <p:nvSpPr>
          <p:cNvPr id="11" name="Google Shape;1431;p61">
            <a:extLst>
              <a:ext uri="{FF2B5EF4-FFF2-40B4-BE49-F238E27FC236}">
                <a16:creationId xmlns:a16="http://schemas.microsoft.com/office/drawing/2014/main" id="{C89FFA78-8D08-5A08-8935-6CAAD1B918DE}"/>
              </a:ext>
            </a:extLst>
          </p:cNvPr>
          <p:cNvSpPr txBox="1"/>
          <p:nvPr/>
        </p:nvSpPr>
        <p:spPr>
          <a:xfrm>
            <a:off x="1586634" y="1719784"/>
            <a:ext cx="8183400" cy="1977762"/>
          </a:xfrm>
          <a:prstGeom prst="rect">
            <a:avLst/>
          </a:prstGeom>
          <a:noFill/>
          <a:ln>
            <a:noFill/>
          </a:ln>
        </p:spPr>
        <p:txBody>
          <a:bodyPr spcFirstLastPara="1" wrap="square" lIns="91425" tIns="91425" rIns="91425" bIns="91425" anchor="t" anchorCtr="0">
            <a:noAutofit/>
          </a:bodyPr>
          <a:lstStyle/>
          <a:p>
            <a:pPr marL="457200" indent="-342900" algn="just">
              <a:lnSpc>
                <a:spcPct val="115000"/>
              </a:lnSpc>
              <a:buClr>
                <a:srgbClr val="0A0A0A"/>
              </a:buClr>
              <a:buSzPts val="1800"/>
              <a:buFont typeface="Proxima Nova"/>
              <a:buChar char="●"/>
            </a:pPr>
            <a:r>
              <a:rPr lang="en-US" sz="1800" b="0" i="0" u="none" strike="noStrike" cap="none" dirty="0">
                <a:solidFill>
                  <a:srgbClr val="0A0A0A"/>
                </a:solidFill>
                <a:latin typeface="Proxima Nova"/>
                <a:ea typeface="Proxima Nova"/>
                <a:cs typeface="Proxima Nova"/>
                <a:sym typeface="Proxima Nova"/>
              </a:rPr>
              <a:t>With AWS EKS, the Kubernetes control plane components provides a high availability and eliminates a single point of failure by provisioning and scaling the components across various AWS availability zones.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It is well integrated with various other AWS services like EC2 auto scaling, IAM, Load Balancers, making it easy for organisations to scale and secure applications seamlessly.</a:t>
            </a: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19283436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Benefits of Using AWS EKS</a:t>
            </a:r>
          </a:p>
        </p:txBody>
      </p:sp>
      <p:sp>
        <p:nvSpPr>
          <p:cNvPr id="9" name="Google Shape;1439;p62">
            <a:extLst>
              <a:ext uri="{FF2B5EF4-FFF2-40B4-BE49-F238E27FC236}">
                <a16:creationId xmlns:a16="http://schemas.microsoft.com/office/drawing/2014/main" id="{F9355358-85A3-6556-5A8D-3D6ACC940587}"/>
              </a:ext>
            </a:extLst>
          </p:cNvPr>
          <p:cNvSpPr txBox="1"/>
          <p:nvPr/>
        </p:nvSpPr>
        <p:spPr>
          <a:xfrm>
            <a:off x="1586634" y="1528190"/>
            <a:ext cx="8183400" cy="3679699"/>
          </a:xfrm>
          <a:prstGeom prst="rect">
            <a:avLst/>
          </a:prstGeom>
          <a:noFill/>
          <a:ln>
            <a:noFill/>
          </a:ln>
        </p:spPr>
        <p:txBody>
          <a:bodyPr spcFirstLastPara="1" wrap="square" lIns="91425" tIns="91425" rIns="91425" bIns="91425" anchor="t" anchorCtr="0">
            <a:noAutofit/>
          </a:bodyPr>
          <a:lstStyle/>
          <a:p>
            <a:pPr marL="457200" marR="0" lvl="0"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Improves availability and observability</a:t>
            </a:r>
            <a:endParaRPr sz="1700" b="0" i="0" u="none" strike="noStrike" cap="none" dirty="0">
              <a:solidFill>
                <a:srgbClr val="0A0A0A"/>
              </a:solidFill>
              <a:latin typeface="Proxima Nova"/>
              <a:ea typeface="Proxima Nova"/>
              <a:cs typeface="Proxima Nova"/>
              <a:sym typeface="Proxima Nova"/>
            </a:endParaRPr>
          </a:p>
          <a:p>
            <a:pPr marL="1371600" marR="0" lvl="1"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EKS offers a 99.95% uptime SLA</a:t>
            </a:r>
            <a:endParaRPr sz="1700" b="0" i="0" u="none" strike="noStrike" cap="none" dirty="0">
              <a:solidFill>
                <a:srgbClr val="0A0A0A"/>
              </a:solidFill>
              <a:latin typeface="Proxima Nova"/>
              <a:ea typeface="Proxima Nova"/>
              <a:cs typeface="Proxima Nova"/>
              <a:sym typeface="Proxima Nova"/>
            </a:endParaRPr>
          </a:p>
          <a:p>
            <a:pPr marL="1371600" marR="0" lvl="0" indent="0" algn="just" rtl="0">
              <a:lnSpc>
                <a:spcPct val="115000"/>
              </a:lnSpc>
              <a:spcBef>
                <a:spcPts val="0"/>
              </a:spcBef>
              <a:spcAft>
                <a:spcPts val="0"/>
              </a:spcAft>
              <a:buClr>
                <a:srgbClr val="000000"/>
              </a:buClr>
              <a:buSzPts val="1700"/>
              <a:buFont typeface="Arial"/>
              <a:buNone/>
            </a:pPr>
            <a:endParaRPr sz="1700" b="0" i="0" u="none" strike="noStrike" cap="none" dirty="0">
              <a:solidFill>
                <a:srgbClr val="0A0A0A"/>
              </a:solidFill>
              <a:latin typeface="Proxima Nova"/>
              <a:ea typeface="Proxima Nova"/>
              <a:cs typeface="Proxima Nova"/>
              <a:sym typeface="Proxima Nova"/>
            </a:endParaRPr>
          </a:p>
          <a:p>
            <a:pPr marL="457200" marR="0" lvl="0"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Provisions and scales your resources efficiently</a:t>
            </a:r>
            <a:endParaRPr sz="1700" b="0" i="0" u="none" strike="noStrike" cap="none" dirty="0">
              <a:solidFill>
                <a:srgbClr val="0A0A0A"/>
              </a:solidFill>
              <a:latin typeface="Proxima Nova"/>
              <a:ea typeface="Proxima Nova"/>
              <a:cs typeface="Proxima Nova"/>
              <a:sym typeface="Proxima Nova"/>
            </a:endParaRPr>
          </a:p>
          <a:p>
            <a:pPr marL="1371600" marR="0" lvl="1"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With EKS-managed node groups, you need not provision compute capacity separately to scale your Kubernetes applications</a:t>
            </a:r>
            <a:endParaRPr sz="1700" b="0" i="0" u="none" strike="noStrike" cap="none" dirty="0">
              <a:solidFill>
                <a:srgbClr val="0A0A0A"/>
              </a:solidFill>
              <a:latin typeface="Proxima Nova"/>
              <a:ea typeface="Proxima Nova"/>
              <a:cs typeface="Proxima Nova"/>
              <a:sym typeface="Proxima Nova"/>
            </a:endParaRPr>
          </a:p>
          <a:p>
            <a:pPr marL="1371600" marR="0" lvl="1"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You can also choose AWS </a:t>
            </a:r>
            <a:r>
              <a:rPr lang="en-GB" sz="1700" b="0" i="0" u="none" strike="noStrike" cap="none" dirty="0" err="1">
                <a:solidFill>
                  <a:srgbClr val="0A0A0A"/>
                </a:solidFill>
                <a:latin typeface="Proxima Nova"/>
                <a:ea typeface="Proxima Nova"/>
                <a:cs typeface="Proxima Nova"/>
                <a:sym typeface="Proxima Nova"/>
              </a:rPr>
              <a:t>Fargate</a:t>
            </a:r>
            <a:r>
              <a:rPr lang="en-GB" sz="1700" b="0" i="0" u="none" strike="noStrike" cap="none" dirty="0">
                <a:solidFill>
                  <a:srgbClr val="0A0A0A"/>
                </a:solidFill>
                <a:latin typeface="Proxima Nova"/>
                <a:ea typeface="Proxima Nova"/>
                <a:cs typeface="Proxima Nova"/>
                <a:sym typeface="Proxima Nova"/>
              </a:rPr>
              <a:t> to automatically provision on-demand serverless compute for your applications</a:t>
            </a:r>
            <a:endParaRPr sz="1700" b="0" i="0" u="none" strike="noStrike" cap="none" dirty="0">
              <a:solidFill>
                <a:srgbClr val="0A0A0A"/>
              </a:solidFill>
              <a:latin typeface="Proxima Nova"/>
              <a:ea typeface="Proxima Nova"/>
              <a:cs typeface="Proxima Nova"/>
              <a:sym typeface="Proxima Nova"/>
            </a:endParaRPr>
          </a:p>
          <a:p>
            <a:pPr marL="1371600" marR="0" lvl="0" indent="0" algn="just" rtl="0">
              <a:lnSpc>
                <a:spcPct val="115000"/>
              </a:lnSpc>
              <a:spcBef>
                <a:spcPts val="0"/>
              </a:spcBef>
              <a:spcAft>
                <a:spcPts val="0"/>
              </a:spcAft>
              <a:buClr>
                <a:srgbClr val="000000"/>
              </a:buClr>
              <a:buSzPts val="1700"/>
              <a:buFont typeface="Arial"/>
              <a:buNone/>
            </a:pPr>
            <a:endParaRPr sz="1700" b="0" i="0" u="none" strike="noStrike" cap="none" dirty="0">
              <a:solidFill>
                <a:srgbClr val="0A0A0A"/>
              </a:solidFill>
              <a:latin typeface="Proxima Nova"/>
              <a:ea typeface="Proxima Nova"/>
              <a:cs typeface="Proxima Nova"/>
              <a:sym typeface="Proxima Nova"/>
            </a:endParaRPr>
          </a:p>
          <a:p>
            <a:pPr marL="457200" marR="0" lvl="0"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Gets a more secure Kubernetes environment</a:t>
            </a:r>
            <a:endParaRPr sz="1700" b="0" i="0" u="none" strike="noStrike" cap="none" dirty="0">
              <a:solidFill>
                <a:srgbClr val="0A0A0A"/>
              </a:solidFill>
              <a:latin typeface="Proxima Nova"/>
              <a:ea typeface="Proxima Nova"/>
              <a:cs typeface="Proxima Nova"/>
              <a:sym typeface="Proxima Nova"/>
            </a:endParaRPr>
          </a:p>
          <a:p>
            <a:pPr marL="1371600" marR="0" lvl="1"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EKS automatically applies the latest security patches to your cluster’s control plane</a:t>
            </a:r>
            <a:endParaRPr sz="17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2915149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ECS vs EKS</a:t>
            </a:r>
          </a:p>
        </p:txBody>
      </p:sp>
      <p:pic>
        <p:nvPicPr>
          <p:cNvPr id="11" name="Google Shape;1448;p63">
            <a:extLst>
              <a:ext uri="{FF2B5EF4-FFF2-40B4-BE49-F238E27FC236}">
                <a16:creationId xmlns:a16="http://schemas.microsoft.com/office/drawing/2014/main" id="{0C9CF0A9-BDB7-FD38-8B5B-EE79C8DABE6C}"/>
              </a:ext>
            </a:extLst>
          </p:cNvPr>
          <p:cNvPicPr preferRelativeResize="0"/>
          <p:nvPr/>
        </p:nvPicPr>
        <p:blipFill rotWithShape="1">
          <a:blip r:embed="rId6">
            <a:alphaModFix/>
          </a:blip>
          <a:srcRect/>
          <a:stretch/>
        </p:blipFill>
        <p:spPr>
          <a:xfrm>
            <a:off x="2875056" y="1668911"/>
            <a:ext cx="6441887" cy="4473255"/>
          </a:xfrm>
          <a:prstGeom prst="rect">
            <a:avLst/>
          </a:prstGeom>
          <a:noFill/>
          <a:ln>
            <a:noFill/>
          </a:ln>
        </p:spPr>
      </p:pic>
    </p:spTree>
    <p:extLst>
      <p:ext uri="{BB962C8B-B14F-4D97-AF65-F5344CB8AC3E}">
        <p14:creationId xmlns:p14="http://schemas.microsoft.com/office/powerpoint/2010/main" val="24144859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How does Amazon EKS work?</a:t>
            </a:r>
          </a:p>
        </p:txBody>
      </p:sp>
      <p:pic>
        <p:nvPicPr>
          <p:cNvPr id="9" name="Google Shape;1457;p64">
            <a:extLst>
              <a:ext uri="{FF2B5EF4-FFF2-40B4-BE49-F238E27FC236}">
                <a16:creationId xmlns:a16="http://schemas.microsoft.com/office/drawing/2014/main" id="{693E7177-85EE-E26A-4331-8417BBAFEFD3}"/>
              </a:ext>
            </a:extLst>
          </p:cNvPr>
          <p:cNvPicPr preferRelativeResize="0"/>
          <p:nvPr/>
        </p:nvPicPr>
        <p:blipFill rotWithShape="1">
          <a:blip r:embed="rId6">
            <a:alphaModFix/>
          </a:blip>
          <a:srcRect/>
          <a:stretch/>
        </p:blipFill>
        <p:spPr>
          <a:xfrm>
            <a:off x="1106334" y="1813507"/>
            <a:ext cx="9143999" cy="3428275"/>
          </a:xfrm>
          <a:prstGeom prst="rect">
            <a:avLst/>
          </a:prstGeom>
          <a:noFill/>
          <a:ln>
            <a:noFill/>
          </a:ln>
        </p:spPr>
      </p:pic>
    </p:spTree>
    <p:extLst>
      <p:ext uri="{BB962C8B-B14F-4D97-AF65-F5344CB8AC3E}">
        <p14:creationId xmlns:p14="http://schemas.microsoft.com/office/powerpoint/2010/main" val="3210034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Pricing</a:t>
            </a:r>
          </a:p>
        </p:txBody>
      </p:sp>
      <p:sp>
        <p:nvSpPr>
          <p:cNvPr id="11" name="Google Shape;1465;p65">
            <a:extLst>
              <a:ext uri="{FF2B5EF4-FFF2-40B4-BE49-F238E27FC236}">
                <a16:creationId xmlns:a16="http://schemas.microsoft.com/office/drawing/2014/main" id="{D9766D8D-B0F4-029F-7D28-BA24BE21EF1F}"/>
              </a:ext>
            </a:extLst>
          </p:cNvPr>
          <p:cNvSpPr txBox="1"/>
          <p:nvPr/>
        </p:nvSpPr>
        <p:spPr>
          <a:xfrm>
            <a:off x="1586634" y="1788998"/>
            <a:ext cx="8183400" cy="2969023"/>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800"/>
              <a:buFont typeface="Arial"/>
              <a:buNone/>
            </a:pPr>
            <a:r>
              <a:rPr lang="en-GB" sz="1800" b="0" i="0" u="none" strike="noStrike" cap="none" dirty="0">
                <a:solidFill>
                  <a:srgbClr val="0A0A0A"/>
                </a:solidFill>
                <a:latin typeface="Proxima Nova"/>
                <a:ea typeface="Proxima Nova"/>
                <a:cs typeface="Proxima Nova"/>
                <a:sym typeface="Proxima Nova"/>
              </a:rPr>
              <a:t>An Amazon EKS cluster consists of a control plane and the Amazon EC2 or AWS </a:t>
            </a:r>
            <a:r>
              <a:rPr lang="en-GB" sz="1800" b="0" i="0" u="none" strike="noStrike" cap="none" dirty="0" err="1">
                <a:solidFill>
                  <a:srgbClr val="0A0A0A"/>
                </a:solidFill>
                <a:latin typeface="Proxima Nova"/>
                <a:ea typeface="Proxima Nova"/>
                <a:cs typeface="Proxima Nova"/>
                <a:sym typeface="Proxima Nova"/>
              </a:rPr>
              <a:t>Fargate</a:t>
            </a:r>
            <a:r>
              <a:rPr lang="en-GB" sz="1800" b="0" i="0" u="none" strike="noStrike" cap="none" dirty="0">
                <a:solidFill>
                  <a:srgbClr val="0A0A0A"/>
                </a:solidFill>
                <a:latin typeface="Proxima Nova"/>
                <a:ea typeface="Proxima Nova"/>
                <a:cs typeface="Proxima Nova"/>
                <a:sym typeface="Proxima Nova"/>
              </a:rPr>
              <a:t> compute that you run pods on</a:t>
            </a:r>
            <a:endParaRPr sz="1800" b="0" i="0" u="none" strike="noStrike" cap="none" dirty="0">
              <a:solidFill>
                <a:srgbClr val="0A0A0A"/>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It costs $0.10 per hour for each Amazon EKS cluster created</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If EC2 instances (including EKS-managed node groups) are being used, the usage of the AWS resources (for example, EC2 instances or EBS volumes) created to run the Kubernetes worker nodes will also be billed.</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If AWS </a:t>
            </a:r>
            <a:r>
              <a:rPr lang="en-GB" sz="1800" b="0" i="0" u="none" strike="noStrike" cap="none" dirty="0" err="1">
                <a:solidFill>
                  <a:srgbClr val="0A0A0A"/>
                </a:solidFill>
                <a:latin typeface="Proxima Nova"/>
                <a:ea typeface="Proxima Nova"/>
                <a:cs typeface="Proxima Nova"/>
                <a:sym typeface="Proxima Nova"/>
              </a:rPr>
              <a:t>Fargate</a:t>
            </a:r>
            <a:r>
              <a:rPr lang="en-GB" sz="1800" b="0" i="0" u="none" strike="noStrike" cap="none" dirty="0">
                <a:solidFill>
                  <a:srgbClr val="0A0A0A"/>
                </a:solidFill>
                <a:latin typeface="Proxima Nova"/>
                <a:ea typeface="Proxima Nova"/>
                <a:cs typeface="Proxima Nova"/>
                <a:sym typeface="Proxima Nova"/>
              </a:rPr>
              <a:t> is being used, pricing is calculated based on the vCPU and memory resources used</a:t>
            </a: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32287652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Cluster setup</a:t>
            </a:r>
          </a:p>
        </p:txBody>
      </p:sp>
      <p:sp>
        <p:nvSpPr>
          <p:cNvPr id="9" name="Google Shape;1473;p66">
            <a:extLst>
              <a:ext uri="{FF2B5EF4-FFF2-40B4-BE49-F238E27FC236}">
                <a16:creationId xmlns:a16="http://schemas.microsoft.com/office/drawing/2014/main" id="{5206E9EB-E1BC-EC6F-1919-D16B873881B2}"/>
              </a:ext>
            </a:extLst>
          </p:cNvPr>
          <p:cNvSpPr txBox="1"/>
          <p:nvPr/>
        </p:nvSpPr>
        <p:spPr>
          <a:xfrm>
            <a:off x="1586634" y="1808733"/>
            <a:ext cx="8183400" cy="3326312"/>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800"/>
              <a:buFont typeface="Arial"/>
              <a:buNone/>
            </a:pPr>
            <a:r>
              <a:rPr lang="en-GB" sz="1800" b="0" i="0" u="none" strike="noStrike" cap="none">
                <a:solidFill>
                  <a:srgbClr val="0A0A0A"/>
                </a:solidFill>
                <a:latin typeface="Proxima Nova"/>
                <a:ea typeface="Proxima Nova"/>
                <a:cs typeface="Proxima Nova"/>
                <a:sym typeface="Proxima Nova"/>
              </a:rPr>
              <a:t>To create a new Kubernetes cluster with nodes in Amazon EKS, use the following:</a:t>
            </a:r>
            <a:endParaRPr sz="1800" b="0" i="0" u="none" strike="noStrike" cap="none">
              <a:solidFill>
                <a:srgbClr val="0A0A0A"/>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1" i="0" u="none" strike="noStrike" cap="none">
                <a:solidFill>
                  <a:srgbClr val="0A0A0A"/>
                </a:solidFill>
                <a:latin typeface="Proxima Nova"/>
                <a:ea typeface="Proxima Nova"/>
                <a:cs typeface="Proxima Nova"/>
                <a:sym typeface="Proxima Nova"/>
              </a:rPr>
              <a:t>eksctl</a:t>
            </a:r>
            <a:r>
              <a:rPr lang="en-GB" sz="1800" b="0" i="0" u="none" strike="noStrike" cap="none">
                <a:solidFill>
                  <a:srgbClr val="0A0A0A"/>
                </a:solidFill>
                <a:latin typeface="Proxima Nova"/>
                <a:ea typeface="Proxima Nova"/>
                <a:cs typeface="Proxima Nova"/>
                <a:sym typeface="Proxima Nova"/>
              </a:rPr>
              <a:t> - A simple command line utility for creating and managing Kubernetes clusters on Amazon EKS</a:t>
            </a:r>
            <a:endParaRPr sz="1800" b="0" i="0" u="none" strike="noStrike" cap="none">
              <a:solidFill>
                <a:srgbClr val="0A0A0A"/>
              </a:solidFill>
              <a:latin typeface="Proxima Nova"/>
              <a:ea typeface="Proxima Nova"/>
              <a:cs typeface="Proxima Nova"/>
              <a:sym typeface="Proxima Nova"/>
            </a:endParaRPr>
          </a:p>
          <a:p>
            <a:pPr marL="45720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1" i="0" u="none" strike="noStrike" cap="none">
                <a:solidFill>
                  <a:srgbClr val="0A0A0A"/>
                </a:solidFill>
                <a:latin typeface="Proxima Nova"/>
                <a:ea typeface="Proxima Nova"/>
                <a:cs typeface="Proxima Nova"/>
                <a:sym typeface="Proxima Nova"/>
              </a:rPr>
              <a:t>AWS management console and AWS CLI</a:t>
            </a:r>
            <a:r>
              <a:rPr lang="en-GB" sz="1800" b="0" i="0" u="none" strike="noStrike" cap="none">
                <a:solidFill>
                  <a:srgbClr val="0A0A0A"/>
                </a:solidFill>
                <a:latin typeface="Proxima Nova"/>
                <a:ea typeface="Proxima Nova"/>
                <a:cs typeface="Proxima Nova"/>
                <a:sym typeface="Proxima Nova"/>
              </a:rPr>
              <a:t> - To launch Amazon EKS using the AWS management console and AWS CLI. The procedures give you visibility into how each resource is created and how these resources interact with each other</a:t>
            </a:r>
            <a:endParaRPr sz="1800" b="0" i="0" u="none" strike="noStrike" cap="none">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8216982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eksctl</a:t>
            </a:r>
          </a:p>
        </p:txBody>
      </p:sp>
      <p:sp>
        <p:nvSpPr>
          <p:cNvPr id="11" name="Google Shape;1481;p67">
            <a:extLst>
              <a:ext uri="{FF2B5EF4-FFF2-40B4-BE49-F238E27FC236}">
                <a16:creationId xmlns:a16="http://schemas.microsoft.com/office/drawing/2014/main" id="{B9809531-8F59-539C-208D-A8DD58DA52F8}"/>
              </a:ext>
            </a:extLst>
          </p:cNvPr>
          <p:cNvSpPr txBox="1"/>
          <p:nvPr/>
        </p:nvSpPr>
        <p:spPr>
          <a:xfrm>
            <a:off x="2396783" y="1791862"/>
            <a:ext cx="7005915" cy="3475463"/>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err="1">
                <a:solidFill>
                  <a:srgbClr val="0A0A0A"/>
                </a:solidFill>
                <a:latin typeface="Proxima Nova"/>
                <a:ea typeface="Proxima Nova"/>
                <a:cs typeface="Proxima Nova"/>
                <a:sym typeface="Proxima Nova"/>
              </a:rPr>
              <a:t>eksctl</a:t>
            </a:r>
            <a:r>
              <a:rPr lang="en-GB" sz="1800" b="0" i="0" u="none" strike="noStrike" cap="none" dirty="0">
                <a:solidFill>
                  <a:srgbClr val="0A0A0A"/>
                </a:solidFill>
                <a:latin typeface="Proxima Nova"/>
                <a:ea typeface="Proxima Nova"/>
                <a:cs typeface="Proxima Nova"/>
                <a:sym typeface="Proxima Nova"/>
              </a:rPr>
              <a:t> is a simple CLI tool for creating and managing clusters on EKS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It is written in Go, uses CloudFormation and was created by </a:t>
            </a:r>
            <a:r>
              <a:rPr lang="en-GB" sz="1800" b="0" i="0" u="none" strike="noStrike" cap="none" dirty="0" err="1">
                <a:solidFill>
                  <a:srgbClr val="0A0A0A"/>
                </a:solidFill>
                <a:latin typeface="Proxima Nova"/>
                <a:ea typeface="Proxima Nova"/>
                <a:cs typeface="Proxima Nova"/>
                <a:sym typeface="Proxima Nova"/>
              </a:rPr>
              <a:t>Weaveworks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Create a basic cluster in minutes with just one command:</a:t>
            </a:r>
            <a:endParaRPr sz="1800" b="0" i="0" u="none" strike="noStrike" cap="none" dirty="0">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err="1">
                <a:solidFill>
                  <a:srgbClr val="0A0A0A"/>
                </a:solidFill>
                <a:latin typeface="Proxima Nova"/>
                <a:ea typeface="Proxima Nova"/>
                <a:cs typeface="Proxima Nova"/>
                <a:sym typeface="Proxima Nova"/>
              </a:rPr>
              <a:t>eksctl</a:t>
            </a:r>
            <a:r>
              <a:rPr lang="en-GB" sz="1800" b="0" i="0" u="none" strike="noStrike" cap="none" dirty="0">
                <a:solidFill>
                  <a:srgbClr val="0A0A0A"/>
                </a:solidFill>
                <a:latin typeface="Proxima Nova"/>
                <a:ea typeface="Proxima Nova"/>
                <a:cs typeface="Proxima Nova"/>
                <a:sym typeface="Proxima Nova"/>
              </a:rPr>
              <a:t> create cluster</a:t>
            </a:r>
            <a:endParaRPr sz="1800" b="0" i="0" u="none" strike="noStrike" cap="none" dirty="0">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Note that a cluster will be created with default parameters</a:t>
            </a:r>
            <a:endParaRPr sz="1800" b="0" i="0" u="none" strike="noStrike" cap="none" dirty="0">
              <a:solidFill>
                <a:srgbClr val="0A0A0A"/>
              </a:solidFill>
              <a:latin typeface="Proxima Nova"/>
              <a:ea typeface="Proxima Nova"/>
              <a:cs typeface="Proxima Nova"/>
              <a:sym typeface="Proxima Nova"/>
            </a:endParaRPr>
          </a:p>
          <a:p>
            <a:pPr marL="914400" marR="0" lvl="0" indent="0" algn="just" rtl="0">
              <a:lnSpc>
                <a:spcPct val="115000"/>
              </a:lnSpc>
              <a:spcBef>
                <a:spcPts val="0"/>
              </a:spcBef>
              <a:spcAft>
                <a:spcPts val="0"/>
              </a:spcAft>
              <a:buClr>
                <a:srgbClr val="000000"/>
              </a:buClr>
              <a:buSzPts val="1800"/>
              <a:buFont typeface="Arial"/>
              <a:buNone/>
            </a:pPr>
            <a:endParaRPr sz="1800" b="0" i="0" u="none" strike="noStrike" cap="none" dirty="0">
              <a:solidFill>
                <a:srgbClr val="0A0A0A"/>
              </a:solidFill>
              <a:latin typeface="Proxima Nova"/>
              <a:ea typeface="Proxima Nova"/>
              <a:cs typeface="Proxima Nova"/>
              <a:sym typeface="Proxima Nova"/>
            </a:endParaRPr>
          </a:p>
          <a:p>
            <a:pPr marL="914400" marR="0" lvl="0" indent="0" algn="just" rtl="0">
              <a:lnSpc>
                <a:spcPct val="115000"/>
              </a:lnSpc>
              <a:spcBef>
                <a:spcPts val="0"/>
              </a:spcBef>
              <a:spcAft>
                <a:spcPts val="0"/>
              </a:spcAft>
              <a:buClr>
                <a:srgbClr val="000000"/>
              </a:buClr>
              <a:buSzPts val="1800"/>
              <a:buFont typeface="Arial"/>
              <a:buNone/>
            </a:pP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Reference: </a:t>
            </a:r>
            <a:r>
              <a:rPr lang="en-GB" sz="1800" b="0" i="0" u="sng" strike="noStrike" cap="none" dirty="0">
                <a:solidFill>
                  <a:schemeClr val="hlink"/>
                </a:solidFill>
                <a:latin typeface="Proxima Nova"/>
                <a:ea typeface="Proxima Nova"/>
                <a:cs typeface="Proxima Nova"/>
                <a:sym typeface="Proxima Nova"/>
                <a:hlinkClick r:id="rId6"/>
              </a:rPr>
              <a:t>https://eksctl.io/</a:t>
            </a: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19112264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Node Groups</a:t>
            </a:r>
          </a:p>
        </p:txBody>
      </p:sp>
      <p:pic>
        <p:nvPicPr>
          <p:cNvPr id="9" name="Google Shape;1490;p68">
            <a:extLst>
              <a:ext uri="{FF2B5EF4-FFF2-40B4-BE49-F238E27FC236}">
                <a16:creationId xmlns:a16="http://schemas.microsoft.com/office/drawing/2014/main" id="{3FEA44DE-E6CD-2DA2-9222-C085E4753941}"/>
              </a:ext>
            </a:extLst>
          </p:cNvPr>
          <p:cNvPicPr preferRelativeResize="0"/>
          <p:nvPr/>
        </p:nvPicPr>
        <p:blipFill rotWithShape="1">
          <a:blip r:embed="rId6">
            <a:alphaModFix/>
          </a:blip>
          <a:srcRect/>
          <a:stretch/>
        </p:blipFill>
        <p:spPr>
          <a:xfrm>
            <a:off x="1978500" y="1813507"/>
            <a:ext cx="8234999" cy="3688444"/>
          </a:xfrm>
          <a:prstGeom prst="rect">
            <a:avLst/>
          </a:prstGeom>
          <a:noFill/>
          <a:ln>
            <a:noFill/>
          </a:ln>
        </p:spPr>
      </p:pic>
    </p:spTree>
    <p:extLst>
      <p:ext uri="{BB962C8B-B14F-4D97-AF65-F5344CB8AC3E}">
        <p14:creationId xmlns:p14="http://schemas.microsoft.com/office/powerpoint/2010/main" val="3457735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Self-managed nodes</a:t>
            </a:r>
          </a:p>
        </p:txBody>
      </p:sp>
      <p:sp>
        <p:nvSpPr>
          <p:cNvPr id="12" name="Google Shape;1498;p69">
            <a:extLst>
              <a:ext uri="{FF2B5EF4-FFF2-40B4-BE49-F238E27FC236}">
                <a16:creationId xmlns:a16="http://schemas.microsoft.com/office/drawing/2014/main" id="{CFBBC34F-36ED-B11F-20CD-71C6B206701E}"/>
              </a:ext>
            </a:extLst>
          </p:cNvPr>
          <p:cNvSpPr txBox="1"/>
          <p:nvPr/>
        </p:nvSpPr>
        <p:spPr>
          <a:xfrm>
            <a:off x="1321916" y="1791862"/>
            <a:ext cx="8888883" cy="3239685"/>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EKS clusters have two infrastructure components, no matter what option you pick (even serverless): </a:t>
            </a:r>
            <a:endParaRPr sz="1800" b="0" i="0" u="none" strike="noStrike" cap="none" dirty="0">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EKS Control Plane (also known as the ‘EKS Cluster’ in the AWS Console)</a:t>
            </a:r>
            <a:endParaRPr sz="1800" b="0" i="0" u="none" strike="noStrike" cap="none" dirty="0">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Worker nodes</a:t>
            </a:r>
            <a:endParaRPr sz="1800" b="0" i="0" u="none" strike="noStrike" cap="none" dirty="0">
              <a:solidFill>
                <a:srgbClr val="0A0A0A"/>
              </a:solidFill>
              <a:latin typeface="Proxima Nova"/>
              <a:ea typeface="Proxima Nova"/>
              <a:cs typeface="Proxima Nova"/>
              <a:sym typeface="Proxima Nova"/>
            </a:endParaRPr>
          </a:p>
          <a:p>
            <a:pPr marL="914400" marR="0" lvl="0" indent="0" algn="just" rtl="0">
              <a:lnSpc>
                <a:spcPct val="115000"/>
              </a:lnSpc>
              <a:spcBef>
                <a:spcPts val="0"/>
              </a:spcBef>
              <a:spcAft>
                <a:spcPts val="0"/>
              </a:spcAft>
              <a:buClr>
                <a:srgbClr val="000000"/>
              </a:buClr>
              <a:buSzPts val="1800"/>
              <a:buFont typeface="Arial"/>
              <a:buNone/>
            </a:pP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Self-managed nodes - Manually provision EC2 instances or autoscaling groups and register them as worker nodes to EKS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Self-managed nodes gives you full access to configure the workers to meet almost any infrastructure need</a:t>
            </a: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41039127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Managed node groups</a:t>
            </a:r>
          </a:p>
        </p:txBody>
      </p:sp>
      <p:sp>
        <p:nvSpPr>
          <p:cNvPr id="9" name="Google Shape;1506;p70">
            <a:extLst>
              <a:ext uri="{FF2B5EF4-FFF2-40B4-BE49-F238E27FC236}">
                <a16:creationId xmlns:a16="http://schemas.microsoft.com/office/drawing/2014/main" id="{72521B93-0304-D5F6-7406-7225BFC3B0DE}"/>
              </a:ext>
            </a:extLst>
          </p:cNvPr>
          <p:cNvSpPr txBox="1"/>
          <p:nvPr/>
        </p:nvSpPr>
        <p:spPr>
          <a:xfrm>
            <a:off x="1479917" y="1791862"/>
            <a:ext cx="8797557" cy="1610800"/>
          </a:xfrm>
          <a:prstGeom prst="rect">
            <a:avLst/>
          </a:prstGeom>
          <a:noFill/>
          <a:ln>
            <a:noFill/>
          </a:ln>
        </p:spPr>
        <p:txBody>
          <a:bodyPr spcFirstLastPara="1" wrap="square" lIns="91425" tIns="91425" rIns="91425" bIns="91425" anchor="t" anchorCtr="0">
            <a:noAutofit/>
          </a:bodyPr>
          <a:lstStyle/>
          <a:p>
            <a:pPr marL="457200" marR="0" lvl="0" indent="-336550" algn="just" rtl="0">
              <a:lnSpc>
                <a:spcPct val="150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Amazon EKS-managed node groups create and manage Amazon EC2 instances on your behalf.</a:t>
            </a:r>
            <a:endParaRPr sz="1700" b="0" i="0" u="none" strike="noStrike" cap="none" dirty="0">
              <a:solidFill>
                <a:srgbClr val="0A0A0A"/>
              </a:solidFill>
              <a:latin typeface="Proxima Nova"/>
              <a:ea typeface="Proxima Nova"/>
              <a:cs typeface="Proxima Nova"/>
              <a:sym typeface="Proxima Nova"/>
            </a:endParaRPr>
          </a:p>
          <a:p>
            <a:pPr marL="457200" marR="0" lvl="0" indent="-336550" algn="just" rtl="0">
              <a:lnSpc>
                <a:spcPct val="150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All managed nodes are provisioned as a part of an Amazon EC2 autoscaling group that is managed for you by Amazon EKS</a:t>
            </a:r>
            <a:endParaRPr sz="1700" b="0" i="0" u="none" strike="noStrike" cap="none" dirty="0">
              <a:solidFill>
                <a:srgbClr val="0A0A0A"/>
              </a:solidFill>
              <a:latin typeface="Proxima Nova"/>
              <a:ea typeface="Proxima Nova"/>
              <a:cs typeface="Proxima Nova"/>
              <a:sym typeface="Proxima Nova"/>
            </a:endParaRPr>
          </a:p>
          <a:p>
            <a:pPr marL="914400" marR="0" lvl="0" indent="0" algn="just" rtl="0">
              <a:lnSpc>
                <a:spcPct val="150000"/>
              </a:lnSpc>
              <a:spcBef>
                <a:spcPts val="0"/>
              </a:spcBef>
              <a:spcAft>
                <a:spcPts val="0"/>
              </a:spcAft>
              <a:buClr>
                <a:srgbClr val="000000"/>
              </a:buClr>
              <a:buSzPts val="1700"/>
              <a:buFont typeface="Arial"/>
              <a:buNone/>
            </a:pPr>
            <a:endParaRPr sz="17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9972722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Managed node groups</a:t>
            </a:r>
          </a:p>
        </p:txBody>
      </p:sp>
      <p:sp>
        <p:nvSpPr>
          <p:cNvPr id="11" name="Google Shape;1514;p71">
            <a:extLst>
              <a:ext uri="{FF2B5EF4-FFF2-40B4-BE49-F238E27FC236}">
                <a16:creationId xmlns:a16="http://schemas.microsoft.com/office/drawing/2014/main" id="{CF14C6DC-C0EE-68F0-3D78-BB5FF4D462D4}"/>
              </a:ext>
            </a:extLst>
          </p:cNvPr>
          <p:cNvSpPr txBox="1"/>
          <p:nvPr/>
        </p:nvSpPr>
        <p:spPr>
          <a:xfrm>
            <a:off x="1057334" y="1791862"/>
            <a:ext cx="9242000" cy="3728093"/>
          </a:xfrm>
          <a:prstGeom prst="rect">
            <a:avLst/>
          </a:prstGeom>
          <a:noFill/>
          <a:ln>
            <a:noFill/>
          </a:ln>
        </p:spPr>
        <p:txBody>
          <a:bodyPr spcFirstLastPara="1" wrap="square" lIns="91425" tIns="91425" rIns="91425" bIns="91425" anchor="t" anchorCtr="0">
            <a:noAutofit/>
          </a:bodyPr>
          <a:lstStyle/>
          <a:p>
            <a:pPr marL="457200" indent="-336550" algn="just">
              <a:lnSpc>
                <a:spcPct val="115000"/>
              </a:lnSpc>
              <a:buClr>
                <a:srgbClr val="0A0A0A"/>
              </a:buClr>
              <a:buSzPts val="1700"/>
              <a:buFont typeface="Proxima Nova"/>
              <a:buChar char="●"/>
            </a:pPr>
            <a:r>
              <a:rPr lang="en-US" sz="1700" b="0" i="0" u="none" strike="noStrike" cap="none" dirty="0">
                <a:solidFill>
                  <a:srgbClr val="0A0A0A"/>
                </a:solidFill>
                <a:latin typeface="Proxima Nova"/>
                <a:ea typeface="Proxima Nova"/>
                <a:cs typeface="Proxima Nova"/>
                <a:sym typeface="Proxima Nova"/>
              </a:rPr>
              <a:t>A managed node group's autoscaling group spans all of the subnets that you specify when you create the group</a:t>
            </a:r>
            <a:endParaRPr sz="1700" b="0" i="0" u="none" strike="noStrike" cap="none" dirty="0">
              <a:solidFill>
                <a:srgbClr val="0A0A0A"/>
              </a:solidFill>
              <a:latin typeface="Proxima Nova"/>
              <a:ea typeface="Proxima Nova"/>
              <a:cs typeface="Proxima Nova"/>
              <a:sym typeface="Proxima Nova"/>
            </a:endParaRPr>
          </a:p>
          <a:p>
            <a:pPr marL="457200" marR="0" lvl="0"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A managed node group gracefully drains nodes before termination during a scale down event</a:t>
            </a:r>
            <a:endParaRPr sz="1700" b="0" i="0" u="none" strike="noStrike" cap="none" dirty="0">
              <a:solidFill>
                <a:srgbClr val="0A0A0A"/>
              </a:solidFill>
              <a:latin typeface="Proxima Nova"/>
              <a:ea typeface="Proxima Nova"/>
              <a:cs typeface="Proxima Nova"/>
              <a:sym typeface="Proxima Nova"/>
            </a:endParaRPr>
          </a:p>
          <a:p>
            <a:pPr marL="457200" marR="0" lvl="0"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By default, instances in a managed node group use the latest version of the </a:t>
            </a:r>
            <a:r>
              <a:rPr lang="en-GB" sz="1700" b="1" i="0" u="none" strike="noStrike" cap="none" dirty="0">
                <a:solidFill>
                  <a:srgbClr val="0A0A0A"/>
                </a:solidFill>
                <a:latin typeface="Proxima Nova"/>
                <a:ea typeface="Proxima Nova"/>
                <a:cs typeface="Proxima Nova"/>
                <a:sym typeface="Proxima Nova"/>
              </a:rPr>
              <a:t>Amazon EKS-optimised Amazon Linux 2 AMI</a:t>
            </a:r>
            <a:r>
              <a:rPr lang="en-GB" sz="1700" b="0" i="0" u="none" strike="noStrike" cap="none" dirty="0">
                <a:solidFill>
                  <a:srgbClr val="0A0A0A"/>
                </a:solidFill>
                <a:latin typeface="Proxima Nova"/>
                <a:ea typeface="Proxima Nova"/>
                <a:cs typeface="Proxima Nova"/>
                <a:sym typeface="Proxima Nova"/>
              </a:rPr>
              <a:t> for their cluster's Kubernetes version </a:t>
            </a:r>
            <a:endParaRPr sz="1700" b="0" i="0" u="none" strike="noStrike" cap="none" dirty="0">
              <a:solidFill>
                <a:srgbClr val="0A0A0A"/>
              </a:solidFill>
              <a:latin typeface="Proxima Nova"/>
              <a:ea typeface="Proxima Nova"/>
              <a:cs typeface="Proxima Nova"/>
              <a:sym typeface="Proxima Nova"/>
            </a:endParaRPr>
          </a:p>
          <a:p>
            <a:pPr marL="457200" marR="0" lvl="0" indent="0" algn="just" rtl="0">
              <a:lnSpc>
                <a:spcPct val="115000"/>
              </a:lnSpc>
              <a:spcBef>
                <a:spcPts val="0"/>
              </a:spcBef>
              <a:spcAft>
                <a:spcPts val="0"/>
              </a:spcAft>
              <a:buClr>
                <a:srgbClr val="000000"/>
              </a:buClr>
              <a:buSzPts val="1700"/>
              <a:buFont typeface="Arial"/>
              <a:buNone/>
            </a:pPr>
            <a:endParaRPr sz="1700" b="0" i="0" u="none" strike="noStrike" cap="none" dirty="0">
              <a:solidFill>
                <a:srgbClr val="0A0A0A"/>
              </a:solidFill>
              <a:latin typeface="Proxima Nova"/>
              <a:ea typeface="Proxima Nova"/>
              <a:cs typeface="Proxima Nova"/>
              <a:sym typeface="Proxima Nova"/>
            </a:endParaRPr>
          </a:p>
          <a:p>
            <a:pPr marL="457200" marR="0" lvl="0"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Managed node group capacity types are as follows:</a:t>
            </a:r>
            <a:endParaRPr sz="1700" b="0" i="0" u="none" strike="noStrike" cap="none" dirty="0">
              <a:solidFill>
                <a:srgbClr val="0A0A0A"/>
              </a:solidFill>
              <a:latin typeface="Proxima Nova"/>
              <a:ea typeface="Proxima Nova"/>
              <a:cs typeface="Proxima Nova"/>
              <a:sym typeface="Proxima Nova"/>
            </a:endParaRPr>
          </a:p>
          <a:p>
            <a:pPr marL="914400" marR="0" lvl="1"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On-demand</a:t>
            </a:r>
            <a:endParaRPr sz="1700" b="0" i="0" u="none" strike="noStrike" cap="none" dirty="0">
              <a:solidFill>
                <a:srgbClr val="0A0A0A"/>
              </a:solidFill>
              <a:latin typeface="Proxima Nova"/>
              <a:ea typeface="Proxima Nova"/>
              <a:cs typeface="Proxima Nova"/>
              <a:sym typeface="Proxima Nova"/>
            </a:endParaRPr>
          </a:p>
          <a:p>
            <a:pPr marL="914400" marR="0" lvl="1"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Spot</a:t>
            </a:r>
            <a:endParaRPr sz="17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39480647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Fargate</a:t>
            </a:r>
          </a:p>
        </p:txBody>
      </p:sp>
      <p:pic>
        <p:nvPicPr>
          <p:cNvPr id="9" name="Google Shape;1523;p72">
            <a:extLst>
              <a:ext uri="{FF2B5EF4-FFF2-40B4-BE49-F238E27FC236}">
                <a16:creationId xmlns:a16="http://schemas.microsoft.com/office/drawing/2014/main" id="{6DC66E6C-0AE2-8DEE-7245-882E1F8AEBBF}"/>
              </a:ext>
            </a:extLst>
          </p:cNvPr>
          <p:cNvPicPr preferRelativeResize="0"/>
          <p:nvPr/>
        </p:nvPicPr>
        <p:blipFill rotWithShape="1">
          <a:blip r:embed="rId6">
            <a:alphaModFix/>
          </a:blip>
          <a:srcRect/>
          <a:stretch/>
        </p:blipFill>
        <p:spPr>
          <a:xfrm>
            <a:off x="2197082" y="1813507"/>
            <a:ext cx="6962503" cy="3581825"/>
          </a:xfrm>
          <a:prstGeom prst="rect">
            <a:avLst/>
          </a:prstGeom>
          <a:noFill/>
          <a:ln>
            <a:noFill/>
          </a:ln>
        </p:spPr>
      </p:pic>
    </p:spTree>
    <p:extLst>
      <p:ext uri="{BB962C8B-B14F-4D97-AF65-F5344CB8AC3E}">
        <p14:creationId xmlns:p14="http://schemas.microsoft.com/office/powerpoint/2010/main" val="28642609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Fargate</a:t>
            </a:r>
          </a:p>
        </p:txBody>
      </p:sp>
      <p:sp>
        <p:nvSpPr>
          <p:cNvPr id="11" name="Google Shape;1531;p73">
            <a:extLst>
              <a:ext uri="{FF2B5EF4-FFF2-40B4-BE49-F238E27FC236}">
                <a16:creationId xmlns:a16="http://schemas.microsoft.com/office/drawing/2014/main" id="{3C800001-DB52-78AE-5BAE-C57A09008B68}"/>
              </a:ext>
            </a:extLst>
          </p:cNvPr>
          <p:cNvSpPr txBox="1"/>
          <p:nvPr/>
        </p:nvSpPr>
        <p:spPr>
          <a:xfrm>
            <a:off x="1144993" y="1791862"/>
            <a:ext cx="8853250" cy="2806378"/>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AWS </a:t>
            </a:r>
            <a:r>
              <a:rPr lang="en-GB" sz="1800" b="0" i="0" u="none" strike="noStrike" cap="none" dirty="0" err="1">
                <a:solidFill>
                  <a:srgbClr val="0A0A0A"/>
                </a:solidFill>
                <a:latin typeface="Proxima Nova"/>
                <a:ea typeface="Proxima Nova"/>
                <a:cs typeface="Proxima Nova"/>
                <a:sym typeface="Proxima Nova"/>
              </a:rPr>
              <a:t>Fargate</a:t>
            </a:r>
            <a:r>
              <a:rPr lang="en-GB" sz="1800" b="0" i="0" u="none" strike="noStrike" cap="none" dirty="0">
                <a:solidFill>
                  <a:srgbClr val="0A0A0A"/>
                </a:solidFill>
                <a:latin typeface="Proxima Nova"/>
                <a:ea typeface="Proxima Nova"/>
                <a:cs typeface="Proxima Nova"/>
                <a:sym typeface="Proxima Nova"/>
              </a:rPr>
              <a:t> provides on-demand, right-sized compute capacity for containers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There is no need to provision, configure or scale groups of virtual machines to run containers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err="1">
                <a:solidFill>
                  <a:srgbClr val="0A0A0A"/>
                </a:solidFill>
                <a:latin typeface="Proxima Nova"/>
                <a:ea typeface="Proxima Nova"/>
                <a:cs typeface="Proxima Nova"/>
                <a:sym typeface="Proxima Nova"/>
              </a:rPr>
              <a:t>Daemonsets</a:t>
            </a:r>
            <a:r>
              <a:rPr lang="en-GB" sz="1800" b="0" i="0" u="none" strike="noStrike" cap="none" dirty="0">
                <a:solidFill>
                  <a:srgbClr val="0A0A0A"/>
                </a:solidFill>
                <a:latin typeface="Proxima Nova"/>
                <a:ea typeface="Proxima Nova"/>
                <a:cs typeface="Proxima Nova"/>
                <a:sym typeface="Proxima Nova"/>
              </a:rPr>
              <a:t> are not supported on </a:t>
            </a:r>
            <a:r>
              <a:rPr lang="en-GB" sz="1800" b="0" i="0" u="none" strike="noStrike" cap="none" dirty="0" err="1">
                <a:solidFill>
                  <a:srgbClr val="0A0A0A"/>
                </a:solidFill>
                <a:latin typeface="Proxima Nova"/>
                <a:ea typeface="Proxima Nova"/>
                <a:cs typeface="Proxima Nova"/>
                <a:sym typeface="Proxima Nova"/>
              </a:rPr>
              <a:t>Fargate</a:t>
            </a:r>
            <a:r>
              <a:rPr lang="en-GB" sz="1800" b="0" i="0" u="none" strike="noStrike" cap="none" dirty="0">
                <a:solidFill>
                  <a:srgbClr val="0A0A0A"/>
                </a:solidFill>
                <a:latin typeface="Proxima Nova"/>
                <a:ea typeface="Proxima Nova"/>
                <a:cs typeface="Proxima Nova"/>
                <a:sym typeface="Proxima Nova"/>
              </a:rPr>
              <a:t> </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At least one </a:t>
            </a:r>
            <a:r>
              <a:rPr lang="en-GB" sz="1800" b="0" i="0" u="none" strike="noStrike" cap="none" dirty="0" err="1">
                <a:solidFill>
                  <a:srgbClr val="0A0A0A"/>
                </a:solidFill>
                <a:latin typeface="Proxima Nova"/>
                <a:ea typeface="Proxima Nova"/>
                <a:cs typeface="Proxima Nova"/>
                <a:sym typeface="Proxima Nova"/>
              </a:rPr>
              <a:t>Fargate</a:t>
            </a:r>
            <a:r>
              <a:rPr lang="en-GB" sz="1800" b="0" i="0" u="none" strike="noStrike" cap="none" dirty="0">
                <a:solidFill>
                  <a:srgbClr val="0A0A0A"/>
                </a:solidFill>
                <a:latin typeface="Proxima Nova"/>
                <a:ea typeface="Proxima Nova"/>
                <a:cs typeface="Proxima Nova"/>
                <a:sym typeface="Proxima Nova"/>
              </a:rPr>
              <a:t> profile specifying which pods should use </a:t>
            </a:r>
            <a:r>
              <a:rPr lang="en-GB" sz="1800" b="0" i="0" u="none" strike="noStrike" cap="none" dirty="0" err="1">
                <a:solidFill>
                  <a:srgbClr val="0A0A0A"/>
                </a:solidFill>
                <a:latin typeface="Proxima Nova"/>
                <a:ea typeface="Proxima Nova"/>
                <a:cs typeface="Proxima Nova"/>
                <a:sym typeface="Proxima Nova"/>
              </a:rPr>
              <a:t>Fargate</a:t>
            </a:r>
            <a:r>
              <a:rPr lang="en-GB" sz="1800" b="0" i="0" u="none" strike="noStrike" cap="none" dirty="0">
                <a:solidFill>
                  <a:srgbClr val="0A0A0A"/>
                </a:solidFill>
                <a:latin typeface="Proxima Nova"/>
                <a:ea typeface="Proxima Nova"/>
                <a:cs typeface="Proxima Nova"/>
                <a:sym typeface="Proxima Nova"/>
              </a:rPr>
              <a:t> must be defined when they are launched</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Pods that do not match a </a:t>
            </a:r>
            <a:r>
              <a:rPr lang="en-GB" sz="1800" b="0" i="0" u="none" strike="noStrike" cap="none" dirty="0" err="1">
                <a:solidFill>
                  <a:srgbClr val="0A0A0A"/>
                </a:solidFill>
                <a:latin typeface="Proxima Nova"/>
                <a:ea typeface="Proxima Nova"/>
                <a:cs typeface="Proxima Nova"/>
                <a:sym typeface="Proxima Nova"/>
              </a:rPr>
              <a:t>Fargate</a:t>
            </a:r>
            <a:r>
              <a:rPr lang="en-GB" sz="1800" b="0" i="0" u="none" strike="noStrike" cap="none" dirty="0">
                <a:solidFill>
                  <a:srgbClr val="0A0A0A"/>
                </a:solidFill>
                <a:latin typeface="Proxima Nova"/>
                <a:ea typeface="Proxima Nova"/>
                <a:cs typeface="Proxima Nova"/>
                <a:sym typeface="Proxima Nova"/>
              </a:rPr>
              <a:t> profile may be stuck as ‘Pending’ </a:t>
            </a: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10937358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Cluster authentication</a:t>
            </a:r>
          </a:p>
        </p:txBody>
      </p:sp>
      <p:sp>
        <p:nvSpPr>
          <p:cNvPr id="9" name="Google Shape;1539;p74">
            <a:extLst>
              <a:ext uri="{FF2B5EF4-FFF2-40B4-BE49-F238E27FC236}">
                <a16:creationId xmlns:a16="http://schemas.microsoft.com/office/drawing/2014/main" id="{A462837E-FA86-5C2F-3446-043D7445134D}"/>
              </a:ext>
            </a:extLst>
          </p:cNvPr>
          <p:cNvSpPr txBox="1"/>
          <p:nvPr/>
        </p:nvSpPr>
        <p:spPr>
          <a:xfrm>
            <a:off x="1374100" y="1813507"/>
            <a:ext cx="9443800" cy="378250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The IAM entity user or role, that creates the cluster, is automatically granted </a:t>
            </a:r>
            <a:r>
              <a:rPr lang="en-GB" sz="1800" b="1" i="0" u="none" strike="noStrike" cap="none" dirty="0" err="1">
                <a:solidFill>
                  <a:srgbClr val="0A0A0A"/>
                </a:solidFill>
                <a:latin typeface="Proxima Nova"/>
                <a:ea typeface="Proxima Nova"/>
                <a:cs typeface="Proxima Nova"/>
                <a:sym typeface="Proxima Nova"/>
              </a:rPr>
              <a:t>system:masters</a:t>
            </a:r>
            <a:r>
              <a:rPr lang="en-GB" sz="1800" b="0" i="0" u="none" strike="noStrike" cap="none" dirty="0">
                <a:solidFill>
                  <a:srgbClr val="0A0A0A"/>
                </a:solidFill>
                <a:latin typeface="Proxima Nova"/>
                <a:ea typeface="Proxima Nova"/>
                <a:cs typeface="Proxima Nova"/>
                <a:sym typeface="Proxima Nova"/>
              </a:rPr>
              <a:t> permissions in the cluster's RBAC configuration in the control plane</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To grant additional AWS users or roles the ability to interact with the cluster, the </a:t>
            </a:r>
            <a:r>
              <a:rPr lang="en-GB" sz="1800" b="1" i="0" u="none" strike="noStrike" cap="none" dirty="0" err="1">
                <a:solidFill>
                  <a:srgbClr val="0A0A0A"/>
                </a:solidFill>
                <a:latin typeface="Proxima Nova"/>
                <a:ea typeface="Proxima Nova"/>
                <a:cs typeface="Proxima Nova"/>
                <a:sym typeface="Proxima Nova"/>
              </a:rPr>
              <a:t>aws</a:t>
            </a:r>
            <a:r>
              <a:rPr lang="en-GB" sz="1800" b="1" i="0" u="none" strike="noStrike" cap="none" dirty="0">
                <a:solidFill>
                  <a:srgbClr val="0A0A0A"/>
                </a:solidFill>
                <a:latin typeface="Proxima Nova"/>
                <a:ea typeface="Proxima Nova"/>
                <a:cs typeface="Proxima Nova"/>
                <a:sym typeface="Proxima Nova"/>
              </a:rPr>
              <a:t>-auth </a:t>
            </a:r>
            <a:r>
              <a:rPr lang="en-GB" sz="1800" b="1" i="0" u="none" strike="noStrike" cap="none" dirty="0" err="1">
                <a:solidFill>
                  <a:srgbClr val="0A0A0A"/>
                </a:solidFill>
                <a:latin typeface="Proxima Nova"/>
                <a:ea typeface="Proxima Nova"/>
                <a:cs typeface="Proxima Nova"/>
                <a:sym typeface="Proxima Nova"/>
              </a:rPr>
              <a:t>ConfigMap</a:t>
            </a:r>
            <a:r>
              <a:rPr lang="en-GB" sz="1800" b="0" i="0" u="none" strike="noStrike" cap="none" dirty="0">
                <a:solidFill>
                  <a:srgbClr val="0A0A0A"/>
                </a:solidFill>
                <a:latin typeface="Proxima Nova"/>
                <a:ea typeface="Proxima Nova"/>
                <a:cs typeface="Proxima Nova"/>
                <a:sym typeface="Proxima Nova"/>
              </a:rPr>
              <a:t> should be edited within Kubernetes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We can add IAM users, roles or AWS accounts to </a:t>
            </a:r>
            <a:r>
              <a:rPr lang="en-GB" sz="1800" b="0" i="0" u="none" strike="noStrike" cap="none" dirty="0" err="1">
                <a:solidFill>
                  <a:srgbClr val="0A0A0A"/>
                </a:solidFill>
                <a:latin typeface="Proxima Nova"/>
                <a:ea typeface="Proxima Nova"/>
                <a:cs typeface="Proxima Nova"/>
                <a:sym typeface="Proxima Nova"/>
              </a:rPr>
              <a:t>configMap</a:t>
            </a:r>
            <a:r>
              <a:rPr lang="en-GB" sz="1800" b="0" i="0" u="none" strike="noStrike" cap="none" dirty="0">
                <a:solidFill>
                  <a:srgbClr val="0A0A0A"/>
                </a:solidFill>
                <a:latin typeface="Proxima Nova"/>
                <a:ea typeface="Proxima Nova"/>
                <a:cs typeface="Proxima Nova"/>
                <a:sym typeface="Proxima Nova"/>
              </a:rPr>
              <a:t>. But, we cannot add IAM groups to </a:t>
            </a:r>
            <a:r>
              <a:rPr lang="en-GB" sz="1800" b="0" i="0" u="none" strike="noStrike" cap="none" dirty="0" err="1">
                <a:solidFill>
                  <a:srgbClr val="0A0A0A"/>
                </a:solidFill>
                <a:latin typeface="Proxima Nova"/>
                <a:ea typeface="Proxima Nova"/>
                <a:cs typeface="Proxima Nova"/>
                <a:sym typeface="Proxima Nova"/>
              </a:rPr>
              <a:t>configMap</a:t>
            </a:r>
            <a:endParaRPr sz="1800" b="0" i="0" u="none" strike="noStrike" cap="none" dirty="0">
              <a:solidFill>
                <a:srgbClr val="0A0A0A"/>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dirty="0">
              <a:solidFill>
                <a:srgbClr val="0A0A0A"/>
              </a:solidFill>
              <a:latin typeface="Proxima Nova"/>
              <a:ea typeface="Proxima Nova"/>
              <a:cs typeface="Proxima Nova"/>
              <a:sym typeface="Proxima Nova"/>
            </a:endParaRPr>
          </a:p>
          <a:p>
            <a:pPr marL="1371600" marR="0" lvl="2" indent="-342900" algn="just" rtl="0">
              <a:lnSpc>
                <a:spcPct val="115000"/>
              </a:lnSpc>
              <a:spcBef>
                <a:spcPts val="0"/>
              </a:spcBef>
              <a:spcAft>
                <a:spcPts val="0"/>
              </a:spcAft>
              <a:buClr>
                <a:srgbClr val="0A0A0A"/>
              </a:buClr>
              <a:buSzPts val="1800"/>
              <a:buFont typeface="Proxima Nova"/>
              <a:buChar char="■"/>
            </a:pPr>
            <a:r>
              <a:rPr lang="en-GB" sz="1800" b="1" i="0" u="none" strike="noStrike" cap="none" dirty="0" err="1">
                <a:solidFill>
                  <a:srgbClr val="0A0A0A"/>
                </a:solidFill>
                <a:latin typeface="Proxima Nova"/>
                <a:ea typeface="Proxima Nova"/>
                <a:cs typeface="Proxima Nova"/>
                <a:sym typeface="Proxima Nova"/>
              </a:rPr>
              <a:t>aws</a:t>
            </a:r>
            <a:r>
              <a:rPr lang="en-GB" sz="1800" b="1" i="0" u="none" strike="noStrike" cap="none" dirty="0">
                <a:solidFill>
                  <a:srgbClr val="0A0A0A"/>
                </a:solidFill>
                <a:latin typeface="Proxima Nova"/>
                <a:ea typeface="Proxima Nova"/>
                <a:cs typeface="Proxima Nova"/>
                <a:sym typeface="Proxima Nova"/>
              </a:rPr>
              <a:t> </a:t>
            </a:r>
            <a:r>
              <a:rPr lang="en-GB" sz="1800" b="1" i="0" u="none" strike="noStrike" cap="none" dirty="0" err="1">
                <a:solidFill>
                  <a:srgbClr val="0A0A0A"/>
                </a:solidFill>
                <a:latin typeface="Proxima Nova"/>
                <a:ea typeface="Proxima Nova"/>
                <a:cs typeface="Proxima Nova"/>
                <a:sym typeface="Proxima Nova"/>
              </a:rPr>
              <a:t>sts</a:t>
            </a:r>
            <a:r>
              <a:rPr lang="en-GB" sz="1800" b="1" i="0" u="none" strike="noStrike" cap="none" dirty="0">
                <a:solidFill>
                  <a:srgbClr val="0A0A0A"/>
                </a:solidFill>
                <a:latin typeface="Proxima Nova"/>
                <a:ea typeface="Proxima Nova"/>
                <a:cs typeface="Proxima Nova"/>
                <a:sym typeface="Proxima Nova"/>
              </a:rPr>
              <a:t> get-caller-identity</a:t>
            </a:r>
            <a:endParaRPr sz="1800" b="1" i="0" u="none" strike="noStrike" cap="none" dirty="0">
              <a:solidFill>
                <a:srgbClr val="0A0A0A"/>
              </a:solidFill>
              <a:latin typeface="Proxima Nova"/>
              <a:ea typeface="Proxima Nova"/>
              <a:cs typeface="Proxima Nova"/>
              <a:sym typeface="Proxima Nova"/>
            </a:endParaRPr>
          </a:p>
          <a:p>
            <a:pPr marL="1371600" marR="0" lvl="2" indent="-342900" algn="just" rtl="0">
              <a:lnSpc>
                <a:spcPct val="115000"/>
              </a:lnSpc>
              <a:spcBef>
                <a:spcPts val="0"/>
              </a:spcBef>
              <a:spcAft>
                <a:spcPts val="0"/>
              </a:spcAft>
              <a:buClr>
                <a:srgbClr val="0A0A0A"/>
              </a:buClr>
              <a:buSzPts val="1800"/>
              <a:buFont typeface="Proxima Nova"/>
              <a:buChar char="■"/>
            </a:pPr>
            <a:r>
              <a:rPr lang="en-GB" sz="1800" b="1" i="0" u="none" strike="noStrike" cap="none" dirty="0" err="1">
                <a:solidFill>
                  <a:srgbClr val="0A0A0A"/>
                </a:solidFill>
                <a:latin typeface="Proxima Nova"/>
                <a:ea typeface="Proxima Nova"/>
                <a:cs typeface="Proxima Nova"/>
                <a:sym typeface="Proxima Nova"/>
              </a:rPr>
              <a:t>kubectl</a:t>
            </a:r>
            <a:r>
              <a:rPr lang="en-GB" sz="1800" b="1" i="0" u="none" strike="noStrike" cap="none" dirty="0">
                <a:solidFill>
                  <a:srgbClr val="0A0A0A"/>
                </a:solidFill>
                <a:latin typeface="Proxima Nova"/>
                <a:ea typeface="Proxima Nova"/>
                <a:cs typeface="Proxima Nova"/>
                <a:sym typeface="Proxima Nova"/>
              </a:rPr>
              <a:t> describe </a:t>
            </a:r>
            <a:r>
              <a:rPr lang="en-GB" sz="1800" b="1" i="0" u="none" strike="noStrike" cap="none" dirty="0" err="1">
                <a:solidFill>
                  <a:srgbClr val="0A0A0A"/>
                </a:solidFill>
                <a:latin typeface="Proxima Nova"/>
                <a:ea typeface="Proxima Nova"/>
                <a:cs typeface="Proxima Nova"/>
                <a:sym typeface="Proxima Nova"/>
              </a:rPr>
              <a:t>configmap</a:t>
            </a:r>
            <a:r>
              <a:rPr lang="en-GB" sz="1800" b="1" i="0" u="none" strike="noStrike" cap="none" dirty="0">
                <a:solidFill>
                  <a:srgbClr val="0A0A0A"/>
                </a:solidFill>
                <a:latin typeface="Proxima Nova"/>
                <a:ea typeface="Proxima Nova"/>
                <a:cs typeface="Proxima Nova"/>
                <a:sym typeface="Proxima Nova"/>
              </a:rPr>
              <a:t> -n </a:t>
            </a:r>
            <a:r>
              <a:rPr lang="en-GB" sz="1800" b="1" i="0" u="none" strike="noStrike" cap="none" dirty="0" err="1">
                <a:solidFill>
                  <a:srgbClr val="0A0A0A"/>
                </a:solidFill>
                <a:latin typeface="Proxima Nova"/>
                <a:ea typeface="Proxima Nova"/>
                <a:cs typeface="Proxima Nova"/>
                <a:sym typeface="Proxima Nova"/>
              </a:rPr>
              <a:t>kube</a:t>
            </a:r>
            <a:r>
              <a:rPr lang="en-GB" sz="1800" b="1" i="0" u="none" strike="noStrike" cap="none" dirty="0">
                <a:solidFill>
                  <a:srgbClr val="0A0A0A"/>
                </a:solidFill>
                <a:latin typeface="Proxima Nova"/>
                <a:ea typeface="Proxima Nova"/>
                <a:cs typeface="Proxima Nova"/>
                <a:sym typeface="Proxima Nova"/>
              </a:rPr>
              <a:t>-system </a:t>
            </a:r>
            <a:r>
              <a:rPr lang="en-GB" sz="1800" b="1" i="0" u="none" strike="noStrike" cap="none" dirty="0" err="1">
                <a:solidFill>
                  <a:srgbClr val="0A0A0A"/>
                </a:solidFill>
                <a:latin typeface="Proxima Nova"/>
                <a:ea typeface="Proxima Nova"/>
                <a:cs typeface="Proxima Nova"/>
                <a:sym typeface="Proxima Nova"/>
              </a:rPr>
              <a:t>aws</a:t>
            </a:r>
            <a:r>
              <a:rPr lang="en-GB" sz="1800" b="1" i="0" u="none" strike="noStrike" cap="none" dirty="0">
                <a:solidFill>
                  <a:srgbClr val="0A0A0A"/>
                </a:solidFill>
                <a:latin typeface="Proxima Nova"/>
                <a:ea typeface="Proxima Nova"/>
                <a:cs typeface="Proxima Nova"/>
                <a:sym typeface="Proxima Nova"/>
              </a:rPr>
              <a:t>-auth</a:t>
            </a:r>
            <a:endParaRPr sz="1800" b="1" i="0" u="none" strike="noStrike" cap="none" dirty="0">
              <a:solidFill>
                <a:srgbClr val="0A0A0A"/>
              </a:solidFill>
              <a:latin typeface="Proxima Nova"/>
              <a:ea typeface="Proxima Nova"/>
              <a:cs typeface="Proxima Nova"/>
              <a:sym typeface="Proxima Nova"/>
            </a:endParaRPr>
          </a:p>
          <a:p>
            <a:pPr marL="1371600" marR="0" lvl="2" indent="-342900" algn="just" rtl="0">
              <a:lnSpc>
                <a:spcPct val="115000"/>
              </a:lnSpc>
              <a:spcBef>
                <a:spcPts val="0"/>
              </a:spcBef>
              <a:spcAft>
                <a:spcPts val="0"/>
              </a:spcAft>
              <a:buClr>
                <a:srgbClr val="0A0A0A"/>
              </a:buClr>
              <a:buSzPts val="1800"/>
              <a:buFont typeface="Proxima Nova"/>
              <a:buChar char="■"/>
            </a:pPr>
            <a:r>
              <a:rPr lang="en-GB" sz="1800" b="1" i="0" u="none" strike="noStrike" cap="none" dirty="0" err="1">
                <a:solidFill>
                  <a:srgbClr val="0A0A0A"/>
                </a:solidFill>
                <a:latin typeface="Proxima Nova"/>
                <a:ea typeface="Proxima Nova"/>
                <a:cs typeface="Proxima Nova"/>
                <a:sym typeface="Proxima Nova"/>
              </a:rPr>
              <a:t>kubectl</a:t>
            </a:r>
            <a:r>
              <a:rPr lang="en-GB" sz="1800" b="1" i="0" u="none" strike="noStrike" cap="none" dirty="0">
                <a:solidFill>
                  <a:srgbClr val="0A0A0A"/>
                </a:solidFill>
                <a:latin typeface="Proxima Nova"/>
                <a:ea typeface="Proxima Nova"/>
                <a:cs typeface="Proxima Nova"/>
                <a:sym typeface="Proxima Nova"/>
              </a:rPr>
              <a:t> edit -n </a:t>
            </a:r>
            <a:r>
              <a:rPr lang="en-GB" sz="1800" b="1" i="0" u="none" strike="noStrike" cap="none" dirty="0" err="1">
                <a:solidFill>
                  <a:srgbClr val="0A0A0A"/>
                </a:solidFill>
                <a:latin typeface="Proxima Nova"/>
                <a:ea typeface="Proxima Nova"/>
                <a:cs typeface="Proxima Nova"/>
                <a:sym typeface="Proxima Nova"/>
              </a:rPr>
              <a:t>kube</a:t>
            </a:r>
            <a:r>
              <a:rPr lang="en-GB" sz="1800" b="1" i="0" u="none" strike="noStrike" cap="none" dirty="0">
                <a:solidFill>
                  <a:srgbClr val="0A0A0A"/>
                </a:solidFill>
                <a:latin typeface="Proxima Nova"/>
                <a:ea typeface="Proxima Nova"/>
                <a:cs typeface="Proxima Nova"/>
                <a:sym typeface="Proxima Nova"/>
              </a:rPr>
              <a:t>-system </a:t>
            </a:r>
            <a:r>
              <a:rPr lang="en-GB" sz="1800" b="1" i="0" u="none" strike="noStrike" cap="none" dirty="0" err="1">
                <a:solidFill>
                  <a:srgbClr val="0A0A0A"/>
                </a:solidFill>
                <a:latin typeface="Proxima Nova"/>
                <a:ea typeface="Proxima Nova"/>
                <a:cs typeface="Proxima Nova"/>
                <a:sym typeface="Proxima Nova"/>
              </a:rPr>
              <a:t>configmap</a:t>
            </a:r>
            <a:r>
              <a:rPr lang="en-GB" sz="1800" b="1" i="0" u="none" strike="noStrike" cap="none" dirty="0">
                <a:solidFill>
                  <a:srgbClr val="0A0A0A"/>
                </a:solidFill>
                <a:latin typeface="Proxima Nova"/>
                <a:ea typeface="Proxima Nova"/>
                <a:cs typeface="Proxima Nova"/>
                <a:sym typeface="Proxima Nova"/>
              </a:rPr>
              <a:t>/</a:t>
            </a:r>
            <a:r>
              <a:rPr lang="en-GB" sz="1800" b="1" i="0" u="none" strike="noStrike" cap="none" dirty="0" err="1">
                <a:solidFill>
                  <a:srgbClr val="0A0A0A"/>
                </a:solidFill>
                <a:latin typeface="Proxima Nova"/>
                <a:ea typeface="Proxima Nova"/>
                <a:cs typeface="Proxima Nova"/>
                <a:sym typeface="Proxima Nova"/>
              </a:rPr>
              <a:t>aws</a:t>
            </a:r>
            <a:r>
              <a:rPr lang="en-GB" sz="1800" b="1" i="0" u="none" strike="noStrike" cap="none" dirty="0">
                <a:solidFill>
                  <a:srgbClr val="0A0A0A"/>
                </a:solidFill>
                <a:latin typeface="Proxima Nova"/>
                <a:ea typeface="Proxima Nova"/>
                <a:cs typeface="Proxima Nova"/>
                <a:sym typeface="Proxima Nova"/>
              </a:rPr>
              <a:t>-auth</a:t>
            </a:r>
            <a:endParaRPr sz="1800" b="1"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15281791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Using spot and on-demand nodes</a:t>
            </a:r>
          </a:p>
        </p:txBody>
      </p:sp>
      <p:sp>
        <p:nvSpPr>
          <p:cNvPr id="11" name="Google Shape;1547;p75">
            <a:extLst>
              <a:ext uri="{FF2B5EF4-FFF2-40B4-BE49-F238E27FC236}">
                <a16:creationId xmlns:a16="http://schemas.microsoft.com/office/drawing/2014/main" id="{9DCD6F32-1F05-26E7-FC59-F0D3F803BF80}"/>
              </a:ext>
            </a:extLst>
          </p:cNvPr>
          <p:cNvSpPr txBox="1"/>
          <p:nvPr/>
        </p:nvSpPr>
        <p:spPr>
          <a:xfrm>
            <a:off x="880234" y="1791862"/>
            <a:ext cx="9596200" cy="331785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Running your Kubernetes and containerised workloads on Amazon EC2 Spot Instances is an excellent way to save costs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You can run your EKS nodes </a:t>
            </a:r>
            <a:r>
              <a:rPr lang="en-GB" sz="1800" b="1" i="0" u="none" strike="noStrike" cap="none" dirty="0">
                <a:solidFill>
                  <a:srgbClr val="0A0A0A"/>
                </a:solidFill>
                <a:latin typeface="Proxima Nova"/>
                <a:ea typeface="Proxima Nova"/>
                <a:cs typeface="Proxima Nova"/>
                <a:sym typeface="Proxima Nova"/>
              </a:rPr>
              <a:t>on either fully on-demand servers or spot servers or a combination of both </a:t>
            </a:r>
            <a:r>
              <a:rPr lang="en-GB" sz="1800" b="0" i="0" u="none" strike="noStrike" cap="none" dirty="0">
                <a:solidFill>
                  <a:srgbClr val="0A0A0A"/>
                </a:solidFill>
                <a:latin typeface="Proxima Nova"/>
                <a:ea typeface="Proxima Nova"/>
                <a:cs typeface="Proxima Nova"/>
                <a:sym typeface="Proxima Nova"/>
              </a:rPr>
              <a:t>after specifying the percentage of both the server types</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It is recommended to specify multiple server types in case you are using spot instance EKS nodes as specified in the diagram in the last slide</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We can do this by opening the purchase options and instance types options in the autoscaling group of our EKS nodes, and there, we can select the server types or category</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sng" strike="noStrike" cap="none" dirty="0">
                <a:solidFill>
                  <a:schemeClr val="hlink"/>
                </a:solidFill>
                <a:latin typeface="Proxima Nova"/>
                <a:ea typeface="Proxima Nova"/>
                <a:cs typeface="Proxima Nova"/>
                <a:sym typeface="Proxima Nova"/>
                <a:hlinkClick r:id="rId6"/>
              </a:rPr>
              <a:t>Explore more</a:t>
            </a: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40501910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Using spot and on-demand nodes</a:t>
            </a:r>
          </a:p>
        </p:txBody>
      </p:sp>
      <p:pic>
        <p:nvPicPr>
          <p:cNvPr id="9" name="Google Shape;1556;p76">
            <a:extLst>
              <a:ext uri="{FF2B5EF4-FFF2-40B4-BE49-F238E27FC236}">
                <a16:creationId xmlns:a16="http://schemas.microsoft.com/office/drawing/2014/main" id="{90F22462-0CE2-4846-212E-77E5A7F9C7CB}"/>
              </a:ext>
            </a:extLst>
          </p:cNvPr>
          <p:cNvPicPr preferRelativeResize="0"/>
          <p:nvPr/>
        </p:nvPicPr>
        <p:blipFill rotWithShape="1">
          <a:blip r:embed="rId6">
            <a:alphaModFix/>
          </a:blip>
          <a:srcRect l="1992" t="4384" r="4416" b="3694"/>
          <a:stretch/>
        </p:blipFill>
        <p:spPr>
          <a:xfrm>
            <a:off x="824165" y="1813507"/>
            <a:ext cx="9708337" cy="4298925"/>
          </a:xfrm>
          <a:prstGeom prst="rect">
            <a:avLst/>
          </a:prstGeom>
          <a:noFill/>
          <a:ln w="9525" cap="flat" cmpd="sng">
            <a:solidFill>
              <a:schemeClr val="lt1"/>
            </a:solidFill>
            <a:prstDash val="solid"/>
            <a:round/>
            <a:headEnd type="none" w="sm" len="sm"/>
            <a:tailEnd type="none" w="sm" len="sm"/>
          </a:ln>
        </p:spPr>
      </p:pic>
    </p:spTree>
    <p:extLst>
      <p:ext uri="{BB962C8B-B14F-4D97-AF65-F5344CB8AC3E}">
        <p14:creationId xmlns:p14="http://schemas.microsoft.com/office/powerpoint/2010/main" val="26775131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Autoscaling of nodes</a:t>
            </a:r>
          </a:p>
        </p:txBody>
      </p:sp>
      <p:sp>
        <p:nvSpPr>
          <p:cNvPr id="11" name="Google Shape;1564;p77">
            <a:extLst>
              <a:ext uri="{FF2B5EF4-FFF2-40B4-BE49-F238E27FC236}">
                <a16:creationId xmlns:a16="http://schemas.microsoft.com/office/drawing/2014/main" id="{E8CAD3CB-B685-5E94-92EE-8B1B14928680}"/>
              </a:ext>
            </a:extLst>
          </p:cNvPr>
          <p:cNvSpPr txBox="1"/>
          <p:nvPr/>
        </p:nvSpPr>
        <p:spPr>
          <a:xfrm>
            <a:off x="980246" y="1791862"/>
            <a:ext cx="9396175" cy="1560000"/>
          </a:xfrm>
          <a:prstGeom prst="rect">
            <a:avLst/>
          </a:prstGeom>
          <a:noFill/>
          <a:ln>
            <a:noFill/>
          </a:ln>
        </p:spPr>
        <p:txBody>
          <a:bodyPr spcFirstLastPara="1" wrap="square" lIns="91425" tIns="91425" rIns="91425" bIns="91425" anchor="t" anchorCtr="0">
            <a:noAutofit/>
          </a:bodyPr>
          <a:lstStyle/>
          <a:p>
            <a:pPr marL="457200" marR="0" lvl="0"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When you create an EKS cluster and deploy a node group by console, it will create an autoscaling group by default with a default EKS launch template</a:t>
            </a:r>
            <a:endParaRPr sz="1700" b="0" i="0" u="none" strike="noStrike" cap="none" dirty="0">
              <a:solidFill>
                <a:srgbClr val="0A0A0A"/>
              </a:solidFill>
              <a:latin typeface="Proxima Nova"/>
              <a:ea typeface="Proxima Nova"/>
              <a:cs typeface="Proxima Nova"/>
              <a:sym typeface="Proxima Nova"/>
            </a:endParaRPr>
          </a:p>
          <a:p>
            <a:pPr marL="457200" marR="0" lvl="0"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You can manage nodes of an EKS cluster by Cluster </a:t>
            </a:r>
            <a:r>
              <a:rPr lang="en-GB" sz="1700" b="0" i="0" u="none" strike="noStrike" cap="none" dirty="0" err="1">
                <a:solidFill>
                  <a:srgbClr val="0A0A0A"/>
                </a:solidFill>
                <a:latin typeface="Proxima Nova"/>
                <a:ea typeface="Proxima Nova"/>
                <a:cs typeface="Proxima Nova"/>
                <a:sym typeface="Proxima Nova"/>
              </a:rPr>
              <a:t>Autoscaler</a:t>
            </a:r>
            <a:endParaRPr sz="1700" b="0" i="0" u="none" strike="noStrike" cap="none" dirty="0">
              <a:solidFill>
                <a:srgbClr val="0A0A0A"/>
              </a:solidFill>
              <a:latin typeface="Proxima Nova"/>
              <a:ea typeface="Proxima Nova"/>
              <a:cs typeface="Proxima Nova"/>
              <a:sym typeface="Proxima Nova"/>
            </a:endParaRPr>
          </a:p>
          <a:p>
            <a:pPr marL="457200" marR="0" lvl="0" indent="-336550" algn="just" rtl="0">
              <a:lnSpc>
                <a:spcPct val="115000"/>
              </a:lnSpc>
              <a:spcBef>
                <a:spcPts val="0"/>
              </a:spcBef>
              <a:spcAft>
                <a:spcPts val="0"/>
              </a:spcAft>
              <a:buClr>
                <a:srgbClr val="0A0A0A"/>
              </a:buClr>
              <a:buSzPts val="1700"/>
              <a:buFont typeface="Proxima Nova"/>
              <a:buChar char="●"/>
            </a:pPr>
            <a:r>
              <a:rPr lang="en-GB" sz="1700" b="0" i="0" u="none" strike="noStrike" cap="none" dirty="0">
                <a:solidFill>
                  <a:srgbClr val="0A0A0A"/>
                </a:solidFill>
                <a:latin typeface="Proxima Nova"/>
                <a:ea typeface="Proxima Nova"/>
                <a:cs typeface="Proxima Nova"/>
                <a:sym typeface="Proxima Nova"/>
              </a:rPr>
              <a:t>The Kubernetes Cluster </a:t>
            </a:r>
            <a:r>
              <a:rPr lang="en-GB" sz="1700" b="0" i="0" u="none" strike="noStrike" cap="none" dirty="0" err="1">
                <a:solidFill>
                  <a:srgbClr val="0A0A0A"/>
                </a:solidFill>
                <a:latin typeface="Proxima Nova"/>
                <a:ea typeface="Proxima Nova"/>
                <a:cs typeface="Proxima Nova"/>
                <a:sym typeface="Proxima Nova"/>
              </a:rPr>
              <a:t>Autoscaler</a:t>
            </a:r>
            <a:r>
              <a:rPr lang="en-GB" sz="1700" b="0" i="0" u="none" strike="noStrike" cap="none" dirty="0">
                <a:solidFill>
                  <a:srgbClr val="0A0A0A"/>
                </a:solidFill>
                <a:latin typeface="Proxima Nova"/>
                <a:ea typeface="Proxima Nova"/>
                <a:cs typeface="Proxima Nova"/>
                <a:sym typeface="Proxima Nova"/>
              </a:rPr>
              <a:t> automatically adjusts the number of nodes in your cluster when pods fail or are rescheduled onto other nodes</a:t>
            </a:r>
            <a:endParaRPr sz="1700" b="0" i="0" u="none" strike="noStrike" cap="none" dirty="0">
              <a:solidFill>
                <a:srgbClr val="0A0A0A"/>
              </a:solidFill>
              <a:latin typeface="Proxima Nova"/>
              <a:ea typeface="Proxima Nova"/>
              <a:cs typeface="Proxima Nova"/>
              <a:sym typeface="Proxima Nova"/>
            </a:endParaRPr>
          </a:p>
          <a:p>
            <a:pPr marL="457200" marR="0" lvl="0" indent="0" algn="just" rtl="0">
              <a:lnSpc>
                <a:spcPct val="115000"/>
              </a:lnSpc>
              <a:spcBef>
                <a:spcPts val="0"/>
              </a:spcBef>
              <a:spcAft>
                <a:spcPts val="0"/>
              </a:spcAft>
              <a:buClr>
                <a:srgbClr val="000000"/>
              </a:buClr>
              <a:buSzPts val="1700"/>
              <a:buFont typeface="Arial"/>
              <a:buNone/>
            </a:pPr>
            <a:endParaRPr sz="1700" b="0" i="0" u="none" strike="noStrike" cap="none" dirty="0">
              <a:solidFill>
                <a:srgbClr val="0A0A0A"/>
              </a:solidFill>
              <a:latin typeface="Proxima Nova"/>
              <a:ea typeface="Proxima Nova"/>
              <a:cs typeface="Proxima Nova"/>
              <a:sym typeface="Proxima Nova"/>
            </a:endParaRPr>
          </a:p>
        </p:txBody>
      </p:sp>
      <p:pic>
        <p:nvPicPr>
          <p:cNvPr id="12" name="Google Shape;1565;p77">
            <a:extLst>
              <a:ext uri="{FF2B5EF4-FFF2-40B4-BE49-F238E27FC236}">
                <a16:creationId xmlns:a16="http://schemas.microsoft.com/office/drawing/2014/main" id="{0728FD72-D9D1-B0C2-3FBE-65F026156843}"/>
              </a:ext>
            </a:extLst>
          </p:cNvPr>
          <p:cNvPicPr preferRelativeResize="0"/>
          <p:nvPr/>
        </p:nvPicPr>
        <p:blipFill rotWithShape="1">
          <a:blip r:embed="rId6">
            <a:alphaModFix/>
          </a:blip>
          <a:srcRect/>
          <a:stretch/>
        </p:blipFill>
        <p:spPr>
          <a:xfrm>
            <a:off x="1552575" y="3741370"/>
            <a:ext cx="8823845" cy="2802305"/>
          </a:xfrm>
          <a:prstGeom prst="rect">
            <a:avLst/>
          </a:prstGeom>
          <a:noFill/>
          <a:ln>
            <a:noFill/>
          </a:ln>
        </p:spPr>
      </p:pic>
    </p:spTree>
    <p:extLst>
      <p:ext uri="{BB962C8B-B14F-4D97-AF65-F5344CB8AC3E}">
        <p14:creationId xmlns:p14="http://schemas.microsoft.com/office/powerpoint/2010/main" val="31662096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Autoscaling of nodes</a:t>
            </a:r>
          </a:p>
        </p:txBody>
      </p:sp>
      <p:sp>
        <p:nvSpPr>
          <p:cNvPr id="9" name="Google Shape;1573;p78">
            <a:extLst>
              <a:ext uri="{FF2B5EF4-FFF2-40B4-BE49-F238E27FC236}">
                <a16:creationId xmlns:a16="http://schemas.microsoft.com/office/drawing/2014/main" id="{C910BA80-F8D0-76EC-9776-AAA33A5EB605}"/>
              </a:ext>
            </a:extLst>
          </p:cNvPr>
          <p:cNvSpPr txBox="1"/>
          <p:nvPr/>
        </p:nvSpPr>
        <p:spPr>
          <a:xfrm>
            <a:off x="815655" y="1791862"/>
            <a:ext cx="9725357" cy="3314275"/>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Deploying Cluster Autoscaler</a:t>
            </a:r>
            <a:endParaRPr sz="1800" b="0" i="0" u="none" strike="noStrike" cap="none">
              <a:solidFill>
                <a:srgbClr val="0A0A0A"/>
              </a:solidFill>
              <a:latin typeface="Proxima Nova"/>
              <a:ea typeface="Proxima Nova"/>
              <a:cs typeface="Proxima Nova"/>
              <a:sym typeface="Proxima Nova"/>
            </a:endParaRPr>
          </a:p>
          <a:p>
            <a:pPr marL="914400" marR="0" lvl="1" indent="-298450" algn="l" rtl="0">
              <a:lnSpc>
                <a:spcPct val="115000"/>
              </a:lnSpc>
              <a:spcBef>
                <a:spcPts val="0"/>
              </a:spcBef>
              <a:spcAft>
                <a:spcPts val="0"/>
              </a:spcAft>
              <a:buClr>
                <a:srgbClr val="0A0A0A"/>
              </a:buClr>
              <a:buSzPts val="1100"/>
              <a:buFont typeface="Proxima Nova"/>
              <a:buChar char="○"/>
            </a:pPr>
            <a:r>
              <a:rPr lang="en-GB" sz="1100" b="1" i="0" u="none" strike="noStrike" cap="none">
                <a:solidFill>
                  <a:srgbClr val="0A0A0A"/>
                </a:solidFill>
                <a:latin typeface="Proxima Nova"/>
                <a:ea typeface="Proxima Nova"/>
                <a:cs typeface="Proxima Nova"/>
                <a:sym typeface="Proxima Nova"/>
              </a:rPr>
              <a:t>kubectl apply -f </a:t>
            </a:r>
            <a:r>
              <a:rPr lang="en-GB" sz="1100" b="1" i="0" u="sng" strike="noStrike" cap="none">
                <a:solidFill>
                  <a:schemeClr val="hlink"/>
                </a:solidFill>
                <a:latin typeface="Proxima Nova"/>
                <a:ea typeface="Proxima Nova"/>
                <a:cs typeface="Proxima Nova"/>
                <a:sym typeface="Proxima Nova"/>
                <a:hlinkClick r:id="rId6"/>
              </a:rPr>
              <a:t>https://raw.githubusercontent.com/kubernetes/autoscaler/master/cluster-autoscaler/cloudprovider/aws/examples/cluster-autoscaler-autodiscover.yaml</a:t>
            </a:r>
            <a:endParaRPr sz="1100" b="1" i="0" u="none" strike="noStrike" cap="none">
              <a:solidFill>
                <a:srgbClr val="0A0A0A"/>
              </a:solidFill>
              <a:latin typeface="Proxima Nova"/>
              <a:ea typeface="Proxima Nova"/>
              <a:cs typeface="Proxima Nova"/>
              <a:sym typeface="Proxima Nova"/>
            </a:endParaRPr>
          </a:p>
          <a:p>
            <a:pPr marL="914400" marR="0" lvl="0" indent="0" algn="l" rtl="0">
              <a:lnSpc>
                <a:spcPct val="115000"/>
              </a:lnSpc>
              <a:spcBef>
                <a:spcPts val="0"/>
              </a:spcBef>
              <a:spcAft>
                <a:spcPts val="0"/>
              </a:spcAft>
              <a:buClr>
                <a:srgbClr val="000000"/>
              </a:buClr>
              <a:buSzPts val="1100"/>
              <a:buFont typeface="Arial"/>
              <a:buNone/>
            </a:pPr>
            <a:endParaRPr sz="1100" b="1" i="0" u="none" strike="noStrike" cap="none">
              <a:solidFill>
                <a:srgbClr val="0A0A0A"/>
              </a:solidFill>
              <a:latin typeface="Proxima Nova"/>
              <a:ea typeface="Proxima Nova"/>
              <a:cs typeface="Proxima Nova"/>
              <a:sym typeface="Proxima Nova"/>
            </a:endParaRPr>
          </a:p>
          <a:p>
            <a:pPr marL="457200" marR="0" lvl="0" indent="-342900" algn="l"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The command provided above will create the following:</a:t>
            </a:r>
            <a:endParaRPr sz="1800" b="0" i="0" u="none" strike="noStrike" cap="none">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ServiceAccount</a:t>
            </a:r>
            <a:endParaRPr sz="1800" b="0" i="0" u="none" strike="noStrike" cap="none">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Clusterrole</a:t>
            </a:r>
            <a:endParaRPr sz="1800" b="0" i="0" u="none" strike="noStrike" cap="none">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ClusterRoleBinding</a:t>
            </a:r>
            <a:endParaRPr sz="1800" b="0" i="0" u="none" strike="noStrike" cap="none">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Deployment</a:t>
            </a:r>
            <a:endParaRPr sz="1800" b="0" i="0" u="none" strike="noStrike" cap="none">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Cluster Autoscaler is typically installed as a deployment in the cluster. It uses leader election to ensure high availability, but a single replica is scaled at a time.</a:t>
            </a:r>
            <a:endParaRPr sz="1800" b="0" i="0" u="none" strike="noStrike" cap="none">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17932588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Autoscaling of pods</a:t>
            </a:r>
          </a:p>
        </p:txBody>
      </p:sp>
      <p:pic>
        <p:nvPicPr>
          <p:cNvPr id="11" name="Google Shape;1582;p79">
            <a:extLst>
              <a:ext uri="{FF2B5EF4-FFF2-40B4-BE49-F238E27FC236}">
                <a16:creationId xmlns:a16="http://schemas.microsoft.com/office/drawing/2014/main" id="{AFD88C05-9B7A-B18F-654F-C3078C04978E}"/>
              </a:ext>
            </a:extLst>
          </p:cNvPr>
          <p:cNvPicPr preferRelativeResize="0"/>
          <p:nvPr/>
        </p:nvPicPr>
        <p:blipFill rotWithShape="1">
          <a:blip r:embed="rId6">
            <a:alphaModFix/>
          </a:blip>
          <a:srcRect t="23786" r="13629"/>
          <a:stretch/>
        </p:blipFill>
        <p:spPr>
          <a:xfrm>
            <a:off x="1881712" y="1921171"/>
            <a:ext cx="8428575" cy="3552750"/>
          </a:xfrm>
          <a:prstGeom prst="rect">
            <a:avLst/>
          </a:prstGeom>
          <a:noFill/>
          <a:ln>
            <a:noFill/>
          </a:ln>
        </p:spPr>
      </p:pic>
    </p:spTree>
    <p:extLst>
      <p:ext uri="{BB962C8B-B14F-4D97-AF65-F5344CB8AC3E}">
        <p14:creationId xmlns:p14="http://schemas.microsoft.com/office/powerpoint/2010/main" val="35700789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Autoscaling of pods</a:t>
            </a:r>
          </a:p>
        </p:txBody>
      </p:sp>
      <p:sp>
        <p:nvSpPr>
          <p:cNvPr id="9" name="Google Shape;1590;p80">
            <a:extLst>
              <a:ext uri="{FF2B5EF4-FFF2-40B4-BE49-F238E27FC236}">
                <a16:creationId xmlns:a16="http://schemas.microsoft.com/office/drawing/2014/main" id="{C576B8B2-CB85-6A1A-4833-54A2D3C6C2BA}"/>
              </a:ext>
            </a:extLst>
          </p:cNvPr>
          <p:cNvSpPr txBox="1"/>
          <p:nvPr/>
        </p:nvSpPr>
        <p:spPr>
          <a:xfrm>
            <a:off x="1169984" y="1813507"/>
            <a:ext cx="9016699" cy="4141275"/>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Horizontal pod autoscaling (HPA)</a:t>
            </a:r>
            <a:endParaRPr sz="1800" b="0" i="0" u="none" strike="noStrike" cap="none">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The Horizontal Pod Autoscaler automatically scales the number of pods in a replication controller, deployment, replica set or stateful set based on the metrics specified</a:t>
            </a:r>
            <a:endParaRPr sz="1800" b="0" i="0" u="none" strike="noStrike" cap="none">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Vertical pod autoscaling (VPA)</a:t>
            </a:r>
            <a:endParaRPr sz="1800" b="0" i="0" u="none" strike="noStrike" cap="none">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The Kubernetes Vertical Pod Autoscaler automatically adjusts the CPU and memory reservations for your pods to help ‘right-size’ the applications. </a:t>
            </a:r>
            <a:endParaRPr sz="1800" b="0" i="0" u="none" strike="noStrike" cap="none">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This adjustment can improve cluster resource utilisation and free up CPU and memory for other pods</a:t>
            </a:r>
            <a:endParaRPr sz="1800" b="0" i="0" u="none" strike="noStrike" cap="none">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Explore more using the following link:</a:t>
            </a:r>
            <a:endParaRPr sz="1800" b="0" i="0" u="none" strike="noStrike" cap="none">
              <a:solidFill>
                <a:srgbClr val="0A0A0A"/>
              </a:solidFill>
              <a:latin typeface="Proxima Nova"/>
              <a:ea typeface="Proxima Nova"/>
              <a:cs typeface="Proxima Nova"/>
              <a:sym typeface="Proxima Nova"/>
            </a:endParaRPr>
          </a:p>
          <a:p>
            <a:pPr marL="914400" marR="0" lvl="0" indent="0" algn="just" rtl="0">
              <a:lnSpc>
                <a:spcPct val="115000"/>
              </a:lnSpc>
              <a:spcBef>
                <a:spcPts val="0"/>
              </a:spcBef>
              <a:spcAft>
                <a:spcPts val="0"/>
              </a:spcAft>
              <a:buClr>
                <a:srgbClr val="000000"/>
              </a:buClr>
              <a:buSzPts val="1800"/>
              <a:buFont typeface="Arial"/>
              <a:buNone/>
            </a:pPr>
            <a:r>
              <a:rPr lang="en-GB" sz="1800" b="0" i="0" u="sng" strike="noStrike" cap="none">
                <a:solidFill>
                  <a:schemeClr val="hlink"/>
                </a:solidFill>
                <a:latin typeface="Proxima Nova"/>
                <a:ea typeface="Proxima Nova"/>
                <a:cs typeface="Proxima Nova"/>
                <a:sym typeface="Proxima Nova"/>
                <a:hlinkClick r:id="rId6"/>
              </a:rPr>
              <a:t>https://docs.aws.amazon.com/eks/latest/userguide/vertical-pod-autoscaler.html</a:t>
            </a:r>
            <a:endParaRPr sz="1800" b="0" i="0" u="none" strike="noStrike" cap="none">
              <a:solidFill>
                <a:srgbClr val="0A0A0A"/>
              </a:solidFill>
              <a:latin typeface="Proxima Nova"/>
              <a:ea typeface="Proxima Nova"/>
              <a:cs typeface="Proxima Nova"/>
              <a:sym typeface="Proxima Nova"/>
            </a:endParaRPr>
          </a:p>
          <a:p>
            <a:pPr marL="91440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30531564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Metric Server</a:t>
            </a:r>
          </a:p>
        </p:txBody>
      </p:sp>
      <p:sp>
        <p:nvSpPr>
          <p:cNvPr id="11" name="Google Shape;1597;p81">
            <a:extLst>
              <a:ext uri="{FF2B5EF4-FFF2-40B4-BE49-F238E27FC236}">
                <a16:creationId xmlns:a16="http://schemas.microsoft.com/office/drawing/2014/main" id="{6F30A92E-0967-0710-5767-871113AC20C2}"/>
              </a:ext>
            </a:extLst>
          </p:cNvPr>
          <p:cNvSpPr txBox="1"/>
          <p:nvPr/>
        </p:nvSpPr>
        <p:spPr>
          <a:xfrm>
            <a:off x="1673617" y="1791862"/>
            <a:ext cx="8844765" cy="226485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50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To make the HPA work, we first need to have the metrics server pod running in our EKS cluster</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50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The metrics server is a cluster-wide aggregator of resource usage data.</a:t>
            </a:r>
            <a:endParaRPr sz="1800" b="0" i="0" u="none" strike="noStrike" cap="none" dirty="0">
              <a:solidFill>
                <a:srgbClr val="0A0A0A"/>
              </a:solidFill>
              <a:latin typeface="Proxima Nova"/>
              <a:ea typeface="Proxima Nova"/>
              <a:cs typeface="Proxima Nova"/>
              <a:sym typeface="Proxima Nova"/>
            </a:endParaRPr>
          </a:p>
          <a:p>
            <a:pPr marL="457200" marR="0" lvl="0" indent="-342900" algn="just" rtl="0">
              <a:lnSpc>
                <a:spcPct val="150000"/>
              </a:lnSpc>
              <a:spcBef>
                <a:spcPts val="0"/>
              </a:spcBef>
              <a:spcAft>
                <a:spcPts val="0"/>
              </a:spcAft>
              <a:buClr>
                <a:srgbClr val="0A0A0A"/>
              </a:buClr>
              <a:buSzPts val="1800"/>
              <a:buFont typeface="Proxima Nova"/>
              <a:buChar char="●"/>
            </a:pPr>
            <a:r>
              <a:rPr lang="en-GB" sz="1800" b="0" i="0" u="none" strike="noStrike" cap="none" dirty="0">
                <a:solidFill>
                  <a:srgbClr val="0A0A0A"/>
                </a:solidFill>
                <a:latin typeface="Proxima Nova"/>
                <a:ea typeface="Proxima Nova"/>
                <a:cs typeface="Proxima Nova"/>
                <a:sym typeface="Proxima Nova"/>
              </a:rPr>
              <a:t> It collects metrics such as CPU or memory consumption for containers or nodes from the Summary API exposed by </a:t>
            </a:r>
            <a:r>
              <a:rPr lang="en-GB" sz="1800" b="0" i="0" u="none" strike="noStrike" cap="none" dirty="0" err="1">
                <a:solidFill>
                  <a:srgbClr val="0A0A0A"/>
                </a:solidFill>
                <a:latin typeface="Proxima Nova"/>
                <a:ea typeface="Proxima Nova"/>
                <a:cs typeface="Proxima Nova"/>
                <a:sym typeface="Proxima Nova"/>
              </a:rPr>
              <a:t>Kubelet</a:t>
            </a:r>
            <a:r>
              <a:rPr lang="en-GB" sz="1800" b="0" i="0" u="none" strike="noStrike" cap="none" dirty="0">
                <a:solidFill>
                  <a:srgbClr val="0A0A0A"/>
                </a:solidFill>
                <a:latin typeface="Proxima Nova"/>
                <a:ea typeface="Proxima Nova"/>
                <a:cs typeface="Proxima Nova"/>
                <a:sym typeface="Proxima Nova"/>
              </a:rPr>
              <a:t> on each node</a:t>
            </a:r>
            <a:endParaRPr sz="1800" b="0" i="0" u="none" strike="noStrike" cap="none" dirty="0">
              <a:solidFill>
                <a:srgbClr val="0A0A0A"/>
              </a:solidFill>
              <a:latin typeface="Proxima Nova"/>
              <a:ea typeface="Proxima Nova"/>
              <a:cs typeface="Proxima Nova"/>
              <a:sym typeface="Proxima Nova"/>
            </a:endParaRPr>
          </a:p>
          <a:p>
            <a:pPr marL="0" marR="0" lvl="0" indent="0" algn="just" rtl="0">
              <a:lnSpc>
                <a:spcPct val="150000"/>
              </a:lnSpc>
              <a:spcBef>
                <a:spcPts val="0"/>
              </a:spcBef>
              <a:spcAft>
                <a:spcPts val="0"/>
              </a:spcAft>
              <a:buClr>
                <a:srgbClr val="000000"/>
              </a:buClr>
              <a:buSzPts val="1800"/>
              <a:buFont typeface="Arial"/>
              <a:buNone/>
            </a:pPr>
            <a:endParaRPr sz="1800" b="0" i="0" u="none" strike="noStrike" cap="none" dirty="0">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3309392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Metric Server Installation</a:t>
            </a:r>
          </a:p>
        </p:txBody>
      </p:sp>
      <p:sp>
        <p:nvSpPr>
          <p:cNvPr id="9" name="Google Shape;1604;p82">
            <a:extLst>
              <a:ext uri="{FF2B5EF4-FFF2-40B4-BE49-F238E27FC236}">
                <a16:creationId xmlns:a16="http://schemas.microsoft.com/office/drawing/2014/main" id="{163FF202-3D8F-9AC8-4AA5-A9125B804F8B}"/>
              </a:ext>
            </a:extLst>
          </p:cNvPr>
          <p:cNvSpPr txBox="1"/>
          <p:nvPr/>
        </p:nvSpPr>
        <p:spPr>
          <a:xfrm>
            <a:off x="978074" y="1791862"/>
            <a:ext cx="10482025" cy="2599163"/>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US" sz="1800" b="0" i="0" u="none" strike="noStrike" cap="none" dirty="0">
                <a:solidFill>
                  <a:srgbClr val="0A0A0A"/>
                </a:solidFill>
                <a:latin typeface="Proxima Nova"/>
                <a:ea typeface="Proxima Nova"/>
                <a:cs typeface="Proxima Nova"/>
                <a:sym typeface="Proxima Nova"/>
              </a:rPr>
              <a:t>Following are the steps for installing metrics server:</a:t>
            </a:r>
          </a:p>
          <a:p>
            <a:pPr marL="914400" marR="0" lvl="1" indent="-342900" algn="l" rtl="0">
              <a:lnSpc>
                <a:spcPct val="115000"/>
              </a:lnSpc>
              <a:spcBef>
                <a:spcPts val="0"/>
              </a:spcBef>
              <a:spcAft>
                <a:spcPts val="0"/>
              </a:spcAft>
              <a:buClr>
                <a:srgbClr val="0A0A0A"/>
              </a:buClr>
              <a:buSzPts val="1800"/>
              <a:buFont typeface="Proxima Nova"/>
              <a:buChar char="○"/>
            </a:pPr>
            <a:r>
              <a:rPr lang="en-US" sz="1800" b="1" i="0" u="none" strike="noStrike" cap="none" dirty="0" err="1">
                <a:solidFill>
                  <a:srgbClr val="0A0A0A"/>
                </a:solidFill>
                <a:latin typeface="Proxima Nova"/>
                <a:ea typeface="Proxima Nova"/>
                <a:cs typeface="Proxima Nova"/>
                <a:sym typeface="Proxima Nova"/>
              </a:rPr>
              <a:t>kubectl</a:t>
            </a:r>
            <a:r>
              <a:rPr lang="en-US" sz="1800" b="1" i="0" u="none" strike="noStrike" cap="none" dirty="0">
                <a:solidFill>
                  <a:srgbClr val="0A0A0A"/>
                </a:solidFill>
                <a:latin typeface="Proxima Nova"/>
                <a:ea typeface="Proxima Nova"/>
                <a:cs typeface="Proxima Nova"/>
                <a:sym typeface="Proxima Nova"/>
              </a:rPr>
              <a:t> apply -f </a:t>
            </a:r>
            <a:r>
              <a:rPr lang="en-US" sz="1250" b="1" i="0" u="sng" strike="noStrike" cap="none" dirty="0">
                <a:solidFill>
                  <a:schemeClr val="hlink"/>
                </a:solidFill>
                <a:latin typeface="Proxima Nova"/>
                <a:ea typeface="Proxima Nova"/>
                <a:cs typeface="Proxima Nova"/>
                <a:sym typeface="Proxima Nova"/>
                <a:hlinkClick r:id="rId6"/>
              </a:rPr>
              <a:t>https://github.com/kubernetes-sigs/metrics-server/releases/download/v0.3.6/components.yaml</a:t>
            </a:r>
            <a:endParaRPr lang="en-US" sz="1250" b="1" i="0" u="none" strike="noStrike" cap="none" dirty="0">
              <a:solidFill>
                <a:srgbClr val="0A0A0A"/>
              </a:solidFill>
              <a:latin typeface="Proxima Nova"/>
              <a:ea typeface="Proxima Nova"/>
              <a:cs typeface="Proxima Nova"/>
              <a:sym typeface="Proxima Nova"/>
            </a:endParaRPr>
          </a:p>
          <a:p>
            <a:pPr marL="914400" marR="0" lvl="1" indent="-342900" algn="just" rtl="0">
              <a:lnSpc>
                <a:spcPct val="115000"/>
              </a:lnSpc>
              <a:spcBef>
                <a:spcPts val="0"/>
              </a:spcBef>
              <a:spcAft>
                <a:spcPts val="0"/>
              </a:spcAft>
              <a:buClr>
                <a:srgbClr val="0A0A0A"/>
              </a:buClr>
              <a:buSzPts val="1800"/>
              <a:buFont typeface="Proxima Nova"/>
              <a:buChar char="○"/>
            </a:pPr>
            <a:r>
              <a:rPr lang="en-US" sz="1800" b="0" i="0" u="none" strike="noStrike" cap="none" dirty="0">
                <a:solidFill>
                  <a:srgbClr val="0A0A0A"/>
                </a:solidFill>
                <a:latin typeface="Proxima Nova"/>
                <a:ea typeface="Proxima Nova"/>
                <a:cs typeface="Proxima Nova"/>
                <a:sym typeface="Proxima Nova"/>
              </a:rPr>
              <a:t>This command will deploy the metrics server pod.</a:t>
            </a:r>
          </a:p>
          <a:p>
            <a:pPr marL="914400" marR="0" lvl="1" indent="-342900" algn="just" rtl="0">
              <a:lnSpc>
                <a:spcPct val="115000"/>
              </a:lnSpc>
              <a:spcBef>
                <a:spcPts val="0"/>
              </a:spcBef>
              <a:spcAft>
                <a:spcPts val="0"/>
              </a:spcAft>
              <a:buClr>
                <a:srgbClr val="0A0A0A"/>
              </a:buClr>
              <a:buSzPts val="1800"/>
              <a:buFont typeface="Proxima Nova"/>
              <a:buChar char="○"/>
            </a:pPr>
            <a:r>
              <a:rPr lang="en-US" sz="1800" b="0" i="0" u="none" strike="noStrike" cap="none" dirty="0" err="1">
                <a:solidFill>
                  <a:srgbClr val="0A0A0A"/>
                </a:solidFill>
                <a:latin typeface="Proxima Nova"/>
                <a:ea typeface="Proxima Nova"/>
                <a:cs typeface="Proxima Nova"/>
                <a:sym typeface="Proxima Nova"/>
              </a:rPr>
              <a:t>kubectl</a:t>
            </a:r>
            <a:r>
              <a:rPr lang="en-US" sz="1800" b="0" i="0" u="none" strike="noStrike" cap="none" dirty="0">
                <a:solidFill>
                  <a:srgbClr val="0A0A0A"/>
                </a:solidFill>
                <a:latin typeface="Proxima Nova"/>
                <a:ea typeface="Proxima Nova"/>
                <a:cs typeface="Proxima Nova"/>
                <a:sym typeface="Proxima Nova"/>
              </a:rPr>
              <a:t> get pods -n </a:t>
            </a:r>
            <a:r>
              <a:rPr lang="en-US" sz="1800" b="0" i="0" u="none" strike="noStrike" cap="none" dirty="0" err="1">
                <a:solidFill>
                  <a:srgbClr val="0A0A0A"/>
                </a:solidFill>
                <a:latin typeface="Proxima Nova"/>
                <a:ea typeface="Proxima Nova"/>
                <a:cs typeface="Proxima Nova"/>
                <a:sym typeface="Proxima Nova"/>
              </a:rPr>
              <a:t>kube</a:t>
            </a:r>
            <a:r>
              <a:rPr lang="en-US" sz="1800" b="0" i="0" u="none" strike="noStrike" cap="none" dirty="0">
                <a:solidFill>
                  <a:srgbClr val="0A0A0A"/>
                </a:solidFill>
                <a:latin typeface="Proxima Nova"/>
                <a:ea typeface="Proxima Nova"/>
                <a:cs typeface="Proxima Nova"/>
                <a:sym typeface="Proxima Nova"/>
              </a:rPr>
              <a:t>-system -l k8s-app=metrics-server to check whether the metrics server pod is running or not</a:t>
            </a:r>
          </a:p>
          <a:p>
            <a:pPr marL="914400" marR="0" lvl="1" indent="-342900" algn="just" rtl="0">
              <a:lnSpc>
                <a:spcPct val="115000"/>
              </a:lnSpc>
              <a:spcBef>
                <a:spcPts val="0"/>
              </a:spcBef>
              <a:spcAft>
                <a:spcPts val="0"/>
              </a:spcAft>
              <a:buClr>
                <a:srgbClr val="0A0A0A"/>
              </a:buClr>
              <a:buSzPts val="1800"/>
              <a:buFont typeface="Proxima Nova"/>
              <a:buChar char="○"/>
            </a:pPr>
            <a:r>
              <a:rPr lang="en-US" sz="1800" b="0" i="0" u="none" strike="noStrike" cap="none" dirty="0">
                <a:solidFill>
                  <a:srgbClr val="0A0A0A"/>
                </a:solidFill>
                <a:latin typeface="Proxima Nova"/>
                <a:ea typeface="Proxima Nova"/>
                <a:cs typeface="Proxima Nova"/>
                <a:sym typeface="Proxima Nova"/>
              </a:rPr>
              <a:t>We need the metrics server for HPA or VPA because, by the metrics server, only </a:t>
            </a:r>
            <a:r>
              <a:rPr lang="en-US" sz="1800" b="0" i="0" u="none" strike="noStrike" cap="none" dirty="0" err="1">
                <a:solidFill>
                  <a:srgbClr val="0A0A0A"/>
                </a:solidFill>
                <a:latin typeface="Proxima Nova"/>
                <a:ea typeface="Proxima Nova"/>
                <a:cs typeface="Proxima Nova"/>
                <a:sym typeface="Proxima Nova"/>
              </a:rPr>
              <a:t>Kubelet</a:t>
            </a:r>
            <a:r>
              <a:rPr lang="en-US" sz="1800" b="0" i="0" u="none" strike="noStrike" cap="none" dirty="0">
                <a:solidFill>
                  <a:srgbClr val="0A0A0A"/>
                </a:solidFill>
                <a:latin typeface="Proxima Nova"/>
                <a:ea typeface="Proxima Nova"/>
                <a:cs typeface="Proxima Nova"/>
                <a:sym typeface="Proxima Nova"/>
              </a:rPr>
              <a:t> will know the pod’s resource </a:t>
            </a:r>
            <a:r>
              <a:rPr lang="en-US" sz="1800" b="0" i="0" u="none" strike="noStrike" cap="none" dirty="0" err="1">
                <a:solidFill>
                  <a:srgbClr val="0A0A0A"/>
                </a:solidFill>
                <a:latin typeface="Proxima Nova"/>
                <a:ea typeface="Proxima Nova"/>
                <a:cs typeface="Proxima Nova"/>
                <a:sym typeface="Proxima Nova"/>
              </a:rPr>
              <a:t>utilisation</a:t>
            </a:r>
            <a:r>
              <a:rPr lang="en-US" sz="1800" b="0" i="0" u="none" strike="noStrike" cap="none" dirty="0">
                <a:solidFill>
                  <a:srgbClr val="0A0A0A"/>
                </a:solidFill>
                <a:latin typeface="Proxima Nova"/>
                <a:ea typeface="Proxima Nova"/>
                <a:cs typeface="Proxima Nova"/>
                <a:sym typeface="Proxima Nova"/>
              </a:rPr>
              <a:t>, and according to that, HPA will work</a:t>
            </a:r>
          </a:p>
        </p:txBody>
      </p:sp>
    </p:spTree>
    <p:extLst>
      <p:ext uri="{BB962C8B-B14F-4D97-AF65-F5344CB8AC3E}">
        <p14:creationId xmlns:p14="http://schemas.microsoft.com/office/powerpoint/2010/main" val="22686668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955;p6">
            <a:extLst>
              <a:ext uri="{FF2B5EF4-FFF2-40B4-BE49-F238E27FC236}">
                <a16:creationId xmlns:a16="http://schemas.microsoft.com/office/drawing/2014/main" id="{4DBBE6E0-DDD3-C20E-3390-9E052B7CD151}"/>
              </a:ext>
            </a:extLst>
          </p:cNvPr>
          <p:cNvSpPr txBox="1"/>
          <p:nvPr/>
        </p:nvSpPr>
        <p:spPr>
          <a:xfrm>
            <a:off x="2564000" y="975784"/>
            <a:ext cx="6228669" cy="83772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80000"/>
              </a:lnSpc>
              <a:spcBef>
                <a:spcPts val="0"/>
              </a:spcBef>
              <a:spcAft>
                <a:spcPts val="0"/>
              </a:spcAft>
              <a:buClr>
                <a:schemeClr val="dk1"/>
              </a:buClr>
              <a:buSzPts val="1100"/>
              <a:buFont typeface="Arial"/>
              <a:buNone/>
            </a:pPr>
            <a:r>
              <a:rPr lang="en-US" sz="2540" b="0" i="0" u="none" strike="noStrike" cap="none" dirty="0">
                <a:solidFill>
                  <a:schemeClr val="tx1"/>
                </a:solidFill>
                <a:latin typeface="Proxima Nova"/>
                <a:ea typeface="Proxima Nova"/>
                <a:cs typeface="Proxima Nova"/>
                <a:sym typeface="Proxima Nova"/>
              </a:rPr>
              <a:t>IAM roles</a:t>
            </a:r>
          </a:p>
        </p:txBody>
      </p:sp>
      <p:sp>
        <p:nvSpPr>
          <p:cNvPr id="11" name="Google Shape;1612;p83">
            <a:extLst>
              <a:ext uri="{FF2B5EF4-FFF2-40B4-BE49-F238E27FC236}">
                <a16:creationId xmlns:a16="http://schemas.microsoft.com/office/drawing/2014/main" id="{58AD527C-D48B-8A16-7BC3-128D0E06E983}"/>
              </a:ext>
            </a:extLst>
          </p:cNvPr>
          <p:cNvSpPr txBox="1"/>
          <p:nvPr/>
        </p:nvSpPr>
        <p:spPr>
          <a:xfrm>
            <a:off x="551088" y="1791862"/>
            <a:ext cx="10254491" cy="3049887"/>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The IAM users and roles do not have the permissions to create or modify Amazon EKS resources by default. An IAM administrator must create IAM policies that grant users and roles permission to perform specific API operations on the specified resources they need</a:t>
            </a:r>
            <a:endParaRPr sz="1800" b="0" i="0" u="none" strike="noStrike" cap="none">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latin typeface="Proxima Nova"/>
                <a:ea typeface="Proxima Nova"/>
                <a:cs typeface="Proxima Nova"/>
                <a:sym typeface="Proxima Nova"/>
              </a:rPr>
              <a:t>The roles can be granted to nodes by attaching the role in the launch template of the EKS autoscaling group</a:t>
            </a:r>
            <a:endParaRPr sz="1800" b="0" i="0" u="none" strike="noStrike" cap="none">
              <a:solidFill>
                <a:srgbClr val="0A0A0A"/>
              </a:solidFill>
              <a:latin typeface="Proxima Nova"/>
              <a:ea typeface="Proxima Nova"/>
              <a:cs typeface="Proxima Nova"/>
              <a:sym typeface="Proxima Nova"/>
            </a:endParaRPr>
          </a:p>
          <a:p>
            <a:pPr marL="457200" marR="0" lvl="0" indent="-342900" algn="just" rtl="0">
              <a:lnSpc>
                <a:spcPct val="115000"/>
              </a:lnSpc>
              <a:spcBef>
                <a:spcPts val="0"/>
              </a:spcBef>
              <a:spcAft>
                <a:spcPts val="0"/>
              </a:spcAft>
              <a:buClr>
                <a:srgbClr val="0A0A0A"/>
              </a:buClr>
              <a:buSzPts val="1800"/>
              <a:buFont typeface="Proxima Nova"/>
              <a:buChar char="●"/>
            </a:pPr>
            <a:r>
              <a:rPr lang="en-GB" sz="1800" b="0" i="0" u="none" strike="noStrike" cap="none">
                <a:solidFill>
                  <a:srgbClr val="0A0A0A"/>
                </a:solidFill>
                <a:highlight>
                  <a:srgbClr val="F7F7F7"/>
                </a:highlight>
                <a:latin typeface="Proxima Nova"/>
                <a:ea typeface="Proxima Nova"/>
                <a:cs typeface="Proxima Nova"/>
                <a:sym typeface="Proxima Nova"/>
              </a:rPr>
              <a:t>In the Amazon EKS node, Kubelet daemon</a:t>
            </a:r>
            <a:r>
              <a:rPr lang="en-GB" sz="1800" b="0" i="0" u="none" strike="noStrike" cap="none">
                <a:solidFill>
                  <a:srgbClr val="0A0A0A"/>
                </a:solidFill>
                <a:latin typeface="Proxima Nova"/>
                <a:ea typeface="Proxima Nova"/>
                <a:cs typeface="Proxima Nova"/>
                <a:sym typeface="Proxima Nova"/>
              </a:rPr>
              <a:t> makes calls to AWS APIs on your behalf. Nodes receive permissions for these API calls through an IAM instance profile and associated policies. Before you can launch nodes and register them into a cluster, you must create an IAM role for those nodes to use when they are launched</a:t>
            </a:r>
            <a:endParaRPr sz="1800" b="0" i="0" u="none" strike="noStrike" cap="none">
              <a:solidFill>
                <a:srgbClr val="0A0A0A"/>
              </a:solidFill>
              <a:latin typeface="Proxima Nova"/>
              <a:ea typeface="Proxima Nova"/>
              <a:cs typeface="Proxima Nova"/>
              <a:sym typeface="Proxima Nova"/>
            </a:endParaRPr>
          </a:p>
        </p:txBody>
      </p:sp>
    </p:spTree>
    <p:extLst>
      <p:ext uri="{BB962C8B-B14F-4D97-AF65-F5344CB8AC3E}">
        <p14:creationId xmlns:p14="http://schemas.microsoft.com/office/powerpoint/2010/main" val="39675898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extBox 9">
            <a:extLst>
              <a:ext uri="{FF2B5EF4-FFF2-40B4-BE49-F238E27FC236}">
                <a16:creationId xmlns:a16="http://schemas.microsoft.com/office/drawing/2014/main" id="{E057A105-7C89-2D6B-BA9F-2556F54D63D2}"/>
              </a:ext>
            </a:extLst>
          </p:cNvPr>
          <p:cNvSpPr txBox="1"/>
          <p:nvPr/>
        </p:nvSpPr>
        <p:spPr>
          <a:xfrm>
            <a:off x="3037332" y="2828835"/>
            <a:ext cx="6117336" cy="646331"/>
          </a:xfrm>
          <a:prstGeom prst="rect">
            <a:avLst/>
          </a:prstGeom>
          <a:noFill/>
        </p:spPr>
        <p:txBody>
          <a:bodyPr wrap="square">
            <a:spAutoFit/>
          </a:bodyPr>
          <a:lstStyle/>
          <a:p>
            <a:pPr algn="ctr">
              <a:buClr>
                <a:srgbClr val="000000"/>
              </a:buClr>
              <a:buSzPts val="3200"/>
            </a:pPr>
            <a:r>
              <a:rPr lang="en-US" sz="3600" b="1" dirty="0">
                <a:latin typeface="Proxima Nova"/>
                <a:ea typeface="Proxima Nova"/>
                <a:cs typeface="Proxima Nova"/>
                <a:sym typeface="Proxima Nova"/>
              </a:rPr>
              <a:t>Doubt Clearance Window</a:t>
            </a:r>
          </a:p>
        </p:txBody>
      </p:sp>
    </p:spTree>
    <p:extLst>
      <p:ext uri="{BB962C8B-B14F-4D97-AF65-F5344CB8AC3E}">
        <p14:creationId xmlns:p14="http://schemas.microsoft.com/office/powerpoint/2010/main" val="21798616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584;g25c0f4a8d55_0_2493">
            <a:extLst>
              <a:ext uri="{FF2B5EF4-FFF2-40B4-BE49-F238E27FC236}">
                <a16:creationId xmlns:a16="http://schemas.microsoft.com/office/drawing/2014/main" id="{A1B8F4A8-AC23-DA69-EF6C-FA28DF1EB300}"/>
              </a:ext>
            </a:extLst>
          </p:cNvPr>
          <p:cNvSpPr txBox="1"/>
          <p:nvPr/>
        </p:nvSpPr>
        <p:spPr>
          <a:xfrm>
            <a:off x="839071" y="1823837"/>
            <a:ext cx="10515600" cy="697600"/>
          </a:xfrm>
          <a:prstGeom prst="rect">
            <a:avLst/>
          </a:prstGeom>
          <a:noFill/>
          <a:ln>
            <a:noFill/>
          </a:ln>
        </p:spPr>
        <p:txBody>
          <a:bodyPr spcFirstLastPara="1" wrap="square" lIns="121900" tIns="60933" rIns="121900" bIns="60933" anchor="t" anchorCtr="0">
            <a:noAutofit/>
          </a:bodyPr>
          <a:lstStyle/>
          <a:p>
            <a:pPr algn="ctr">
              <a:buClr>
                <a:srgbClr val="000000"/>
              </a:buClr>
              <a:buSzPts val="2800"/>
            </a:pPr>
            <a:r>
              <a:rPr lang="en-GB" sz="3867" dirty="0">
                <a:latin typeface="Proxima Nova"/>
                <a:ea typeface="Proxima Nova"/>
                <a:cs typeface="Proxima Nova"/>
                <a:sym typeface="Proxima Nova"/>
              </a:rPr>
              <a:t>Tasks to Complete After Today’s Session</a:t>
            </a:r>
            <a:endParaRPr sz="3867" dirty="0">
              <a:latin typeface="Proxima Nova"/>
              <a:ea typeface="Proxima Nova"/>
              <a:cs typeface="Proxima Nova"/>
              <a:sym typeface="Proxima Nova"/>
            </a:endParaRPr>
          </a:p>
        </p:txBody>
      </p:sp>
      <p:graphicFrame>
        <p:nvGraphicFramePr>
          <p:cNvPr id="13" name="Table 12">
            <a:extLst>
              <a:ext uri="{FF2B5EF4-FFF2-40B4-BE49-F238E27FC236}">
                <a16:creationId xmlns:a16="http://schemas.microsoft.com/office/drawing/2014/main" id="{F527AAC3-38DD-E57C-7C36-3C33ECB7E16F}"/>
              </a:ext>
            </a:extLst>
          </p:cNvPr>
          <p:cNvGraphicFramePr>
            <a:graphicFrameLocks noGrp="1"/>
          </p:cNvGraphicFramePr>
          <p:nvPr/>
        </p:nvGraphicFramePr>
        <p:xfrm>
          <a:off x="4039678" y="2840364"/>
          <a:ext cx="4112643" cy="2426580"/>
        </p:xfrm>
        <a:graphic>
          <a:graphicData uri="http://schemas.openxmlformats.org/drawingml/2006/table">
            <a:tbl>
              <a:tblPr firstRow="1" bandRow="1">
                <a:tableStyleId>{5940675A-B579-460E-94D1-54222C63F5DA}</a:tableStyleId>
              </a:tblPr>
              <a:tblGrid>
                <a:gridCol w="4112643">
                  <a:extLst>
                    <a:ext uri="{9D8B030D-6E8A-4147-A177-3AD203B41FA5}">
                      <a16:colId xmlns:a16="http://schemas.microsoft.com/office/drawing/2014/main" val="3414352935"/>
                    </a:ext>
                  </a:extLst>
                </a:gridCol>
              </a:tblGrid>
              <a:tr h="808860">
                <a:tc>
                  <a:txBody>
                    <a:bodyPr/>
                    <a:lstStyle/>
                    <a:p>
                      <a:pPr algn="ctr"/>
                      <a:r>
                        <a:rPr lang="en-US" sz="2000" dirty="0"/>
                        <a:t>MCQs</a:t>
                      </a:r>
                      <a:endParaRPr lang="en-IN" sz="2000" dirty="0"/>
                    </a:p>
                  </a:txBody>
                  <a:tcPr anchor="ctr"/>
                </a:tc>
                <a:extLst>
                  <a:ext uri="{0D108BD9-81ED-4DB2-BD59-A6C34878D82A}">
                    <a16:rowId xmlns:a16="http://schemas.microsoft.com/office/drawing/2014/main" val="3652120814"/>
                  </a:ext>
                </a:extLst>
              </a:tr>
              <a:tr h="808860">
                <a:tc>
                  <a:txBody>
                    <a:bodyPr/>
                    <a:lstStyle/>
                    <a:p>
                      <a:pPr algn="ctr"/>
                      <a:r>
                        <a:rPr lang="en-US" sz="2000" dirty="0"/>
                        <a:t>Conceptual Questions</a:t>
                      </a:r>
                      <a:endParaRPr lang="en-IN" sz="2000" dirty="0"/>
                    </a:p>
                  </a:txBody>
                  <a:tcPr anchor="ctr"/>
                </a:tc>
                <a:extLst>
                  <a:ext uri="{0D108BD9-81ED-4DB2-BD59-A6C34878D82A}">
                    <a16:rowId xmlns:a16="http://schemas.microsoft.com/office/drawing/2014/main" val="4015501447"/>
                  </a:ext>
                </a:extLst>
              </a:tr>
              <a:tr h="808860">
                <a:tc>
                  <a:txBody>
                    <a:bodyPr/>
                    <a:lstStyle/>
                    <a:p>
                      <a:pPr algn="ctr"/>
                      <a:r>
                        <a:rPr lang="en-US" sz="2000" dirty="0"/>
                        <a:t>Project Checkpoint</a:t>
                      </a:r>
                      <a:endParaRPr lang="en-IN" sz="2000" dirty="0"/>
                    </a:p>
                  </a:txBody>
                  <a:tcPr anchor="ctr"/>
                </a:tc>
                <a:extLst>
                  <a:ext uri="{0D108BD9-81ED-4DB2-BD59-A6C34878D82A}">
                    <a16:rowId xmlns:a16="http://schemas.microsoft.com/office/drawing/2014/main" val="2802571291"/>
                  </a:ext>
                </a:extLst>
              </a:tr>
            </a:tbl>
          </a:graphicData>
        </a:graphic>
      </p:graphicFrame>
    </p:spTree>
    <p:extLst>
      <p:ext uri="{BB962C8B-B14F-4D97-AF65-F5344CB8AC3E}">
        <p14:creationId xmlns:p14="http://schemas.microsoft.com/office/powerpoint/2010/main" val="26164212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64</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2368</Words>
  <Application>Microsoft Office PowerPoint</Application>
  <PresentationFormat>Widescreen</PresentationFormat>
  <Paragraphs>333</Paragraphs>
  <Slides>64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Calibri</vt:lpstr>
      <vt:lpstr>Calibri Light</vt:lpstr>
      <vt:lpstr>JetBrains Mono</vt:lpstr>
      <vt:lpstr>Lato</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Janvi Jannet</dc:creator>
  <cp:lastModifiedBy>Syed Rumaan Pasha</cp:lastModifiedBy>
  <cp:revision>7</cp:revision>
  <dcterms:created xsi:type="dcterms:W3CDTF">2024-07-24T09:22:11Z</dcterms:created>
  <dcterms:modified xsi:type="dcterms:W3CDTF">2024-08-08T11:47:00Z</dcterms:modified>
</cp:coreProperties>
</file>