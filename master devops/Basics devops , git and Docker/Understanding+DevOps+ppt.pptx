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5"/>
  </p:notesMasterIdLst>
  <p:sldIdLst>
    <p:sldId id="257" r:id="rId2"/>
    <p:sldId id="291" r:id="rId3"/>
    <p:sldId id="359" r:id="rId4"/>
    <p:sldId id="360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93" r:id="rId18"/>
    <p:sldId id="373" r:id="rId19"/>
    <p:sldId id="374" r:id="rId20"/>
    <p:sldId id="375" r:id="rId21"/>
    <p:sldId id="276" r:id="rId22"/>
    <p:sldId id="394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8" r:id="rId36"/>
    <p:sldId id="389" r:id="rId37"/>
    <p:sldId id="390" r:id="rId38"/>
    <p:sldId id="293" r:id="rId39"/>
    <p:sldId id="395" r:id="rId40"/>
    <p:sldId id="295" r:id="rId41"/>
    <p:sldId id="396" r:id="rId42"/>
    <p:sldId id="391" r:id="rId43"/>
    <p:sldId id="392" r:id="rId44"/>
    <p:sldId id="397" r:id="rId45"/>
    <p:sldId id="398" r:id="rId46"/>
    <p:sldId id="399" r:id="rId47"/>
    <p:sldId id="400" r:id="rId48"/>
    <p:sldId id="401" r:id="rId49"/>
    <p:sldId id="402" r:id="rId50"/>
    <p:sldId id="403" r:id="rId51"/>
    <p:sldId id="404" r:id="rId52"/>
    <p:sldId id="405" r:id="rId53"/>
    <p:sldId id="406" r:id="rId54"/>
    <p:sldId id="407" r:id="rId55"/>
    <p:sldId id="408" r:id="rId56"/>
    <p:sldId id="409" r:id="rId57"/>
    <p:sldId id="410" r:id="rId58"/>
    <p:sldId id="411" r:id="rId59"/>
    <p:sldId id="314" r:id="rId60"/>
    <p:sldId id="422" r:id="rId61"/>
    <p:sldId id="412" r:id="rId62"/>
    <p:sldId id="413" r:id="rId63"/>
    <p:sldId id="414" r:id="rId64"/>
    <p:sldId id="415" r:id="rId65"/>
    <p:sldId id="416" r:id="rId66"/>
    <p:sldId id="417" r:id="rId67"/>
    <p:sldId id="418" r:id="rId68"/>
    <p:sldId id="419" r:id="rId69"/>
    <p:sldId id="420" r:id="rId70"/>
    <p:sldId id="423" r:id="rId71"/>
    <p:sldId id="424" r:id="rId72"/>
    <p:sldId id="327" r:id="rId73"/>
    <p:sldId id="430" r:id="rId74"/>
    <p:sldId id="425" r:id="rId75"/>
    <p:sldId id="426" r:id="rId76"/>
    <p:sldId id="427" r:id="rId77"/>
    <p:sldId id="428" r:id="rId78"/>
    <p:sldId id="429" r:id="rId79"/>
    <p:sldId id="421" r:id="rId80"/>
    <p:sldId id="431" r:id="rId81"/>
    <p:sldId id="432" r:id="rId82"/>
    <p:sldId id="433" r:id="rId83"/>
    <p:sldId id="434" r:id="rId84"/>
    <p:sldId id="435" r:id="rId85"/>
    <p:sldId id="436" r:id="rId86"/>
    <p:sldId id="437" r:id="rId87"/>
    <p:sldId id="438" r:id="rId88"/>
    <p:sldId id="439" r:id="rId89"/>
    <p:sldId id="440" r:id="rId90"/>
    <p:sldId id="441" r:id="rId91"/>
    <p:sldId id="442" r:id="rId92"/>
    <p:sldId id="443" r:id="rId93"/>
    <p:sldId id="444" r:id="rId94"/>
    <p:sldId id="445" r:id="rId95"/>
    <p:sldId id="446" r:id="rId96"/>
    <p:sldId id="447" r:id="rId97"/>
    <p:sldId id="448" r:id="rId98"/>
    <p:sldId id="353" r:id="rId99"/>
    <p:sldId id="452" r:id="rId100"/>
    <p:sldId id="449" r:id="rId101"/>
    <p:sldId id="356" r:id="rId102"/>
    <p:sldId id="357" r:id="rId103"/>
    <p:sldId id="453" r:id="rId10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6EC0"/>
    <a:srgbClr val="CC00CC"/>
    <a:srgbClr val="33CC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3C399-B0F9-4F97-BA32-3CBE4C07DC8E}" v="97" dt="2024-07-22T08:27:44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BEAC8-7352-4F19-9D41-E895EDFD0E5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6DE01-BDC3-4641-ADC1-AB97D568D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04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99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232d3f3243_0_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4" name="Google Shape;1264;g2232d3f3243_0_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232d3f3243_0_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4" name="Google Shape;1264;g2232d3f3243_0_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7572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232d3f3243_0_1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2" name="Google Shape;1492;g2232d3f3243_0_1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232d3f3243_0_1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2" name="Google Shape;1492;g2232d3f3243_0_1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9679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2232d3f3243_0_1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2" name="Google Shape;1522;g2232d3f3243_0_1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2232d3f3243_0_1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2" name="Google Shape;1522;g2232d3f3243_0_1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69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2232d3f3243_0_1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0" name="Google Shape;1740;g2232d3f3243_0_1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2232d3f3243_0_1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0" name="Google Shape;1740;g2232d3f3243_0_1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8836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2232d3f3243_0_1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8" name="Google Shape;1938;g2232d3f3243_0_1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2232d3f3243_0_1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8" name="Google Shape;1938;g2232d3f3243_0_1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22465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6DE01-BDC3-4641-ADC1-AB97D568DB28}" type="slidenum">
              <a:rPr lang="en-IN" smtClean="0"/>
              <a:t>97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900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Google Shape;2653;g223622832c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4" name="Google Shape;2654;g223622832c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Google Shape;2653;g223622832c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4" name="Google Shape;2654;g223622832c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6500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g223622832c8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5" name="Google Shape;2695;g223622832c8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g223622832c8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2" name="Google Shape;2702;g223622832c8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A302A-7BF0-C2B0-9836-B02FF60E5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49594-DCE6-5D39-A979-CFB382366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7F873-5869-0417-2D19-2EB7BB59A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ADF5D-119D-468D-860E-96B4AC264C13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5834F-6E4D-99E4-8D0D-94575A75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E12B8-45CB-B2A1-A2D1-F7FD0297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21EC-1E7A-4CDC-947D-E3D749EC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37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DC8E1-45DD-AAC6-A9EE-5053E424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0827A-9CEC-B081-8548-AB66F978B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C720F-738C-8665-95F8-D796490C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ADF5D-119D-468D-860E-96B4AC264C13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03BE1-A6F6-7EF6-5709-8E019D66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36281-89B9-9AAC-606A-64A002A8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21EC-1E7A-4CDC-947D-E3D749EC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75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E08C8-ED83-B8C7-10A8-48C8A97C9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E2738-3D40-4028-1580-898B4113D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3A6BC-D78F-D7D3-D8BA-052339D32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ADF5D-119D-468D-860E-96B4AC264C13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87BA3-A565-792E-5F60-26281AD9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2E3F3-143D-A343-5BF1-444EB4D4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21EC-1E7A-4CDC-947D-E3D749EC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254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3F87-E843-A769-61B1-F66B792F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F86F7-2DF6-E4B8-FE96-AEBFAE6EA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F9835-DFBA-9CE5-A8DC-F8D60AC59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B99E1-6FA9-7D04-54AE-9D900013C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ADF5D-119D-468D-860E-96B4AC264C13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52456-AA5A-6E43-050E-FB7DCF75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101C7-EC2B-4EC8-505F-E56537CA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21EC-1E7A-4CDC-947D-E3D749EC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71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4D503-7BEA-6393-4A37-C39812D4B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47A58-F45A-AD83-7ED5-1EDDD8196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15D8C-0CB8-E405-8AE8-28AB48256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1B6F6-C31C-247B-6038-38C3D0650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811B2-784F-3FAC-D2AE-7FC859B99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E508E7-4F96-5836-0C5A-7A9CDE7A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ADF5D-119D-468D-860E-96B4AC264C13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5E526A-4A76-3FC6-945F-C9B8FD54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79E3A-EA53-7929-04DF-805D11102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21EC-1E7A-4CDC-947D-E3D749EC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585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5284-420C-A60D-3DFE-17E36C4C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71A99-1C5E-5B47-CA24-B00660824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ADF5D-119D-468D-860E-96B4AC264C13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D8389-5186-FE7F-511F-DF5FFFD5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833A1-E02D-7814-CBE8-1A0DEAA7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21EC-1E7A-4CDC-947D-E3D749EC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970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6A916A-024E-FA7D-9C70-9DB04E295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ADF5D-119D-468D-860E-96B4AC264C13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85B5F-A36E-CAE1-4E78-95292F73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16AEF-C8E6-CDCB-7BE7-0DC28156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21EC-1E7A-4CDC-947D-E3D749EC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33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2BC81-36BC-26D5-2C08-457B8615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5FDE1-52F8-C42F-54A6-54F61BC07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9EA1A-AB35-EF76-F0CE-B0D6EC8CC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E26E5-011B-3701-B8F4-BA1D6188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ADF5D-119D-468D-860E-96B4AC264C13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21082-FDC7-64A4-51B7-812C1553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0E632-528A-96A8-C4EF-F3D5E363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21EC-1E7A-4CDC-947D-E3D749EC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09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5A247-8102-9E36-153F-5F20943B4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C74B9B-6019-C5EA-A266-64C33B6AF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817C2-93C3-7A95-407B-751ED500A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AE8EE-25DB-8F73-D38A-C198A2B8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ADF5D-119D-468D-860E-96B4AC264C13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7DAC5-4C91-136A-666E-9F93C99C9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B600-2324-4CE4-3FA0-6F0AE104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21EC-1E7A-4CDC-947D-E3D749EC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40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71EC0-B67C-32ED-9074-5E98FE8D9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89857-1256-4B52-2ADD-77E68902C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92353-FD76-05C6-CC46-7ED9C39F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ADF5D-119D-468D-860E-96B4AC264C13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789-383D-100F-3B25-F388C77D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26DAD-A162-0040-F719-6858ADCB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21EC-1E7A-4CDC-947D-E3D749EC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097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70FE-4641-864D-B7DA-A1579DBAE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BAF33-5643-C818-0506-4A57D0B23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D7453-D63B-D012-F1DD-04C81CA7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ADF5D-119D-468D-860E-96B4AC264C13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13D92-307E-19CD-0C4F-66474A8EC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A2615-288F-56FD-B5C2-B88E75365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321EC-1E7A-4CDC-947D-E3D749EC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281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85228" y="620518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2D4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822635" y="5349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9" name="Google Shape;19;p2"/>
          <p:cNvSpPr/>
          <p:nvPr/>
        </p:nvSpPr>
        <p:spPr>
          <a:xfrm>
            <a:off x="0" y="1"/>
            <a:ext cx="12192000" cy="62051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5229" y="762517"/>
            <a:ext cx="2743200" cy="7319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1919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2 Line Title, Infographics and Caption">
  <p:cSld name="2_2 Line Title, Infographics and Caption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232d3f3243_0_653"/>
          <p:cNvSpPr/>
          <p:nvPr/>
        </p:nvSpPr>
        <p:spPr>
          <a:xfrm>
            <a:off x="-1" y="800101"/>
            <a:ext cx="12192000" cy="60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2232d3f3243_0_653"/>
          <p:cNvSpPr/>
          <p:nvPr/>
        </p:nvSpPr>
        <p:spPr>
          <a:xfrm>
            <a:off x="-4" y="-26732"/>
            <a:ext cx="12192000" cy="6858000"/>
          </a:xfrm>
          <a:prstGeom prst="rect">
            <a:avLst/>
          </a:prstGeom>
          <a:blipFill rotWithShape="1">
            <a:blip r:embed="rId2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2232d3f3243_0_653"/>
          <p:cNvSpPr>
            <a:spLocks noGrp="1"/>
          </p:cNvSpPr>
          <p:nvPr>
            <p:ph type="pic" idx="2"/>
          </p:nvPr>
        </p:nvSpPr>
        <p:spPr>
          <a:xfrm>
            <a:off x="-3" y="-16149"/>
            <a:ext cx="12192000" cy="68637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g2232d3f3243_0_653"/>
          <p:cNvSpPr>
            <a:spLocks noGrp="1"/>
          </p:cNvSpPr>
          <p:nvPr>
            <p:ph type="pic" idx="3"/>
          </p:nvPr>
        </p:nvSpPr>
        <p:spPr>
          <a:xfrm>
            <a:off x="13627646" y="-5142547"/>
            <a:ext cx="12192000" cy="6863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g2232d3f3243_0_65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g2232d3f3243_0_65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g2232d3f3243_0_653"/>
          <p:cNvSpPr txBox="1">
            <a:spLocks noGrp="1"/>
          </p:cNvSpPr>
          <p:nvPr>
            <p:ph type="body" idx="1"/>
          </p:nvPr>
        </p:nvSpPr>
        <p:spPr>
          <a:xfrm>
            <a:off x="4285131" y="4652963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69" name="Google Shape;269;g2232d3f3243_0_6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5129" y="2979683"/>
            <a:ext cx="7164684" cy="148106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2232d3f3243_0_653"/>
          <p:cNvSpPr txBox="1"/>
          <p:nvPr/>
        </p:nvSpPr>
        <p:spPr>
          <a:xfrm>
            <a:off x="856223" y="813647"/>
            <a:ext cx="7324500" cy="11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F5333F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 sz="4800" b="0" i="0" u="none" strike="noStrike" cap="none">
              <a:solidFill>
                <a:srgbClr val="F533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2232d3f3243_0_653"/>
          <p:cNvSpPr/>
          <p:nvPr/>
        </p:nvSpPr>
        <p:spPr>
          <a:xfrm>
            <a:off x="15624794" y="4920410"/>
            <a:ext cx="1159" cy="1427"/>
          </a:xfrm>
          <a:custGeom>
            <a:avLst/>
            <a:gdLst/>
            <a:ahLst/>
            <a:cxnLst/>
            <a:rect l="l" t="t" r="r" b="b"/>
            <a:pathLst>
              <a:path w="870" h="1071" extrusionOk="0">
                <a:moveTo>
                  <a:pt x="0" y="0"/>
                </a:moveTo>
                <a:lnTo>
                  <a:pt x="870" y="0"/>
                </a:lnTo>
                <a:lnTo>
                  <a:pt x="870" y="10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7654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orient="horz" pos="3641">
          <p15:clr>
            <a:srgbClr val="FBAE40"/>
          </p15:clr>
        </p15:guide>
        <p15:guide id="3" orient="horz" pos="293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23622832c8_0_674"/>
          <p:cNvSpPr/>
          <p:nvPr/>
        </p:nvSpPr>
        <p:spPr>
          <a:xfrm>
            <a:off x="-575" y="0"/>
            <a:ext cx="12192000" cy="68580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223622832c8_0_674"/>
          <p:cNvSpPr txBox="1">
            <a:spLocks noGrp="1"/>
          </p:cNvSpPr>
          <p:nvPr>
            <p:ph type="title"/>
          </p:nvPr>
        </p:nvSpPr>
        <p:spPr>
          <a:xfrm>
            <a:off x="840317" y="725997"/>
            <a:ext cx="79875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g223622832c8_0_674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g223622832c8_0_674"/>
          <p:cNvSpPr txBox="1">
            <a:spLocks noGrp="1"/>
          </p:cNvSpPr>
          <p:nvPr>
            <p:ph type="ftr" idx="11"/>
          </p:nvPr>
        </p:nvSpPr>
        <p:spPr>
          <a:xfrm>
            <a:off x="3502833" y="6356367"/>
            <a:ext cx="56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0" name="Google Shape;230;g223622832c8_0_67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1" name="Google Shape;231;g223622832c8_0_6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9227" y="404813"/>
            <a:ext cx="1213040" cy="32385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223622832c8_0_6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g223622832c8_0_6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2384" y="280085"/>
            <a:ext cx="1084840" cy="2896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8788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45132-898B-463F-57C8-B2B75FE18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DA72C-13A4-EE69-52BE-4E0ED01AE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2EF04-22F7-6BB7-0310-FCFD6CC27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ADF5D-119D-468D-860E-96B4AC264C13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D82D5-0482-8CA8-B9DD-EEF54134C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ED118-BE37-5B1C-92F7-F74C8C424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321EC-1E7A-4CDC-947D-E3D749EC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45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emf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emf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2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.emf"/><Relationship Id="rId7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7.emf"/><Relationship Id="rId7" Type="http://schemas.openxmlformats.org/officeDocument/2006/relationships/image" Target="../media/image3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hyperlink" Target="https://blog.inedo.com/blog/deployment-failures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emf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7.emf"/><Relationship Id="rId7" Type="http://schemas.openxmlformats.org/officeDocument/2006/relationships/image" Target="../media/image39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jp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jp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jp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7.emf"/><Relationship Id="rId7" Type="http://schemas.openxmlformats.org/officeDocument/2006/relationships/image" Target="../media/image4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5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emf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7.emf"/><Relationship Id="rId7" Type="http://schemas.openxmlformats.org/officeDocument/2006/relationships/image" Target="../media/image5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56.png"/><Relationship Id="rId5" Type="http://schemas.openxmlformats.org/officeDocument/2006/relationships/image" Target="../media/image9.emf"/><Relationship Id="rId10" Type="http://schemas.openxmlformats.org/officeDocument/2006/relationships/image" Target="../media/image55.png"/><Relationship Id="rId4" Type="http://schemas.openxmlformats.org/officeDocument/2006/relationships/image" Target="../media/image8.emf"/><Relationship Id="rId9" Type="http://schemas.openxmlformats.org/officeDocument/2006/relationships/image" Target="../media/image5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5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6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7.emf"/><Relationship Id="rId7" Type="http://schemas.openxmlformats.org/officeDocument/2006/relationships/image" Target="../media/image6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7.emf"/><Relationship Id="rId7" Type="http://schemas.openxmlformats.org/officeDocument/2006/relationships/image" Target="../media/image6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7.emf"/><Relationship Id="rId7" Type="http://schemas.openxmlformats.org/officeDocument/2006/relationships/image" Target="../media/image6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7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.emf"/><Relationship Id="rId7" Type="http://schemas.openxmlformats.org/officeDocument/2006/relationships/image" Target="../media/image7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9.emf"/><Relationship Id="rId10" Type="http://schemas.openxmlformats.org/officeDocument/2006/relationships/image" Target="../media/image76.png"/><Relationship Id="rId4" Type="http://schemas.openxmlformats.org/officeDocument/2006/relationships/image" Target="../media/image8.emf"/><Relationship Id="rId9" Type="http://schemas.openxmlformats.org/officeDocument/2006/relationships/image" Target="../media/image75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Introduction to DevOps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9679C1-BC8C-6DA1-DAAC-A17D4D80D152}"/>
              </a:ext>
            </a:extLst>
          </p:cNvPr>
          <p:cNvSpPr/>
          <p:nvPr/>
        </p:nvSpPr>
        <p:spPr>
          <a:xfrm>
            <a:off x="974708" y="2835973"/>
            <a:ext cx="10242584" cy="1891999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2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6575" y="339777"/>
            <a:ext cx="839192" cy="839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5;p35">
            <a:extLst>
              <a:ext uri="{FF2B5EF4-FFF2-40B4-BE49-F238E27FC236}">
                <a16:creationId xmlns:a16="http://schemas.microsoft.com/office/drawing/2014/main" id="{291948C9-9A2C-87BE-CE08-117DF3B40FEB}"/>
              </a:ext>
            </a:extLst>
          </p:cNvPr>
          <p:cNvSpPr txBox="1"/>
          <p:nvPr/>
        </p:nvSpPr>
        <p:spPr>
          <a:xfrm>
            <a:off x="1238600" y="3025047"/>
            <a:ext cx="10320821" cy="141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Course :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Mastering DevOps</a:t>
            </a:r>
          </a:p>
          <a:p>
            <a:pPr>
              <a:lnSpc>
                <a:spcPct val="90000"/>
              </a:lnSpc>
              <a:spcBef>
                <a:spcPts val="1333"/>
              </a:spcBef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 On :</a:t>
            </a:r>
            <a:r>
              <a:rPr lang="en-US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Introduction to DevOps</a:t>
            </a: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spcBef>
                <a:spcPts val="1333"/>
              </a:spcBef>
              <a:buClr>
                <a:schemeClr val="dk1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Instructor:</a:t>
            </a:r>
            <a:r>
              <a:rPr lang="en-IN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IN" sz="2400" dirty="0">
                <a:latin typeface="Proxima Nova"/>
                <a:ea typeface="Proxima Nova"/>
                <a:cs typeface="Proxima Nova"/>
                <a:sym typeface="Proxima Nova"/>
              </a:rPr>
              <a:t>Dipesh Garg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08B53D-9306-9D48-39AC-6DE1ADEA2CB3}"/>
              </a:ext>
            </a:extLst>
          </p:cNvPr>
          <p:cNvSpPr/>
          <p:nvPr/>
        </p:nvSpPr>
        <p:spPr>
          <a:xfrm>
            <a:off x="502022" y="554705"/>
            <a:ext cx="4035748" cy="1053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F23375-B8AB-D09C-AE78-7CB2ACA91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181" y="674400"/>
            <a:ext cx="1214204" cy="3211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638F4F-FD5E-21E6-1E9F-FDC54ACC9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-6519"/>
            <a:ext cx="2242807" cy="1783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62FBDC-6DA2-B87B-EE85-C2E7BA6FF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0112" y="-13039"/>
            <a:ext cx="964928" cy="1220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ACF819-EB7A-C5FA-9359-22256A6A50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3151" y="6109915"/>
            <a:ext cx="940736" cy="74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EE7E7C-67F5-30B2-6350-6BDF088EE9E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0" y="6388576"/>
            <a:ext cx="371088" cy="46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2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24" name="Google Shape;871;p1">
            <a:extLst>
              <a:ext uri="{FF2B5EF4-FFF2-40B4-BE49-F238E27FC236}">
                <a16:creationId xmlns:a16="http://schemas.microsoft.com/office/drawing/2014/main" id="{1B51A15A-25B4-27A6-D5FE-C5CC987694B2}"/>
              </a:ext>
            </a:extLst>
          </p:cNvPr>
          <p:cNvGrpSpPr/>
          <p:nvPr/>
        </p:nvGrpSpPr>
        <p:grpSpPr>
          <a:xfrm>
            <a:off x="5987372" y="1769986"/>
            <a:ext cx="3146395" cy="1495313"/>
            <a:chOff x="8563760" y="1258645"/>
            <a:chExt cx="3146395" cy="1495313"/>
          </a:xfrm>
        </p:grpSpPr>
        <p:sp>
          <p:nvSpPr>
            <p:cNvPr id="25" name="Google Shape;872;p1">
              <a:extLst>
                <a:ext uri="{FF2B5EF4-FFF2-40B4-BE49-F238E27FC236}">
                  <a16:creationId xmlns:a16="http://schemas.microsoft.com/office/drawing/2014/main" id="{E3855C3D-4115-1B1A-3C99-82648E3B1854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/>
            </a:solidFill>
            <a:ln w="234950" cap="flat" cmpd="sng">
              <a:solidFill>
                <a:srgbClr val="FAA7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873;p1">
              <a:extLst>
                <a:ext uri="{FF2B5EF4-FFF2-40B4-BE49-F238E27FC236}">
                  <a16:creationId xmlns:a16="http://schemas.microsoft.com/office/drawing/2014/main" id="{7086B09B-935A-660F-1ABD-FC674CD05486}"/>
                </a:ext>
              </a:extLst>
            </p:cNvPr>
            <p:cNvSpPr/>
            <p:nvPr/>
          </p:nvSpPr>
          <p:spPr>
            <a:xfrm>
              <a:off x="9031738" y="1378212"/>
              <a:ext cx="2678417" cy="126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" name="Google Shape;874;p1">
            <a:extLst>
              <a:ext uri="{FF2B5EF4-FFF2-40B4-BE49-F238E27FC236}">
                <a16:creationId xmlns:a16="http://schemas.microsoft.com/office/drawing/2014/main" id="{A2431B83-26DA-96DD-F289-2AAF49305F15}"/>
              </a:ext>
            </a:extLst>
          </p:cNvPr>
          <p:cNvSpPr txBox="1"/>
          <p:nvPr/>
        </p:nvSpPr>
        <p:spPr>
          <a:xfrm>
            <a:off x="6966262" y="2121740"/>
            <a:ext cx="1927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</a:rPr>
              <a:t>Minimum Viable Product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oogle Shape;875;p1">
            <a:extLst>
              <a:ext uri="{FF2B5EF4-FFF2-40B4-BE49-F238E27FC236}">
                <a16:creationId xmlns:a16="http://schemas.microsoft.com/office/drawing/2014/main" id="{E38A50DC-DF7B-E59B-49C9-B9FCC7EFACFB}"/>
              </a:ext>
            </a:extLst>
          </p:cNvPr>
          <p:cNvGrpSpPr/>
          <p:nvPr/>
        </p:nvGrpSpPr>
        <p:grpSpPr>
          <a:xfrm flipH="1">
            <a:off x="3017297" y="2830466"/>
            <a:ext cx="3078409" cy="1495313"/>
            <a:chOff x="8563760" y="1258645"/>
            <a:chExt cx="3078409" cy="1495313"/>
          </a:xfrm>
        </p:grpSpPr>
        <p:sp>
          <p:nvSpPr>
            <p:cNvPr id="29" name="Google Shape;876;p1">
              <a:extLst>
                <a:ext uri="{FF2B5EF4-FFF2-40B4-BE49-F238E27FC236}">
                  <a16:creationId xmlns:a16="http://schemas.microsoft.com/office/drawing/2014/main" id="{DF0371AA-C1EE-4F33-36A5-222FA8DBB3E4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4890E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877;p1">
              <a:extLst>
                <a:ext uri="{FF2B5EF4-FFF2-40B4-BE49-F238E27FC236}">
                  <a16:creationId xmlns:a16="http://schemas.microsoft.com/office/drawing/2014/main" id="{698DC5E5-8660-302E-30C3-FA2F0D396208}"/>
                </a:ext>
              </a:extLst>
            </p:cNvPr>
            <p:cNvSpPr/>
            <p:nvPr/>
          </p:nvSpPr>
          <p:spPr>
            <a:xfrm>
              <a:off x="9023501" y="1378151"/>
              <a:ext cx="2618668" cy="12598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" name="Google Shape;878;p1">
            <a:extLst>
              <a:ext uri="{FF2B5EF4-FFF2-40B4-BE49-F238E27FC236}">
                <a16:creationId xmlns:a16="http://schemas.microsoft.com/office/drawing/2014/main" id="{245D6597-E63C-E96B-25A1-0A5A150F5722}"/>
              </a:ext>
            </a:extLst>
          </p:cNvPr>
          <p:cNvSpPr txBox="1"/>
          <p:nvPr/>
        </p:nvSpPr>
        <p:spPr>
          <a:xfrm>
            <a:off x="3495883" y="3254957"/>
            <a:ext cx="1795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4890E4"/>
                </a:solidFill>
                <a:latin typeface="Lato"/>
                <a:ea typeface="Lato"/>
                <a:cs typeface="Lato"/>
                <a:sym typeface="Lato"/>
              </a:rPr>
              <a:t>Introduction to DevOps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879;p1">
            <a:extLst>
              <a:ext uri="{FF2B5EF4-FFF2-40B4-BE49-F238E27FC236}">
                <a16:creationId xmlns:a16="http://schemas.microsoft.com/office/drawing/2014/main" id="{6B0B0B2F-8E7F-690A-A8A5-84C29E9754C8}"/>
              </a:ext>
            </a:extLst>
          </p:cNvPr>
          <p:cNvGrpSpPr/>
          <p:nvPr/>
        </p:nvGrpSpPr>
        <p:grpSpPr>
          <a:xfrm>
            <a:off x="6069985" y="3636137"/>
            <a:ext cx="3183591" cy="1495313"/>
            <a:chOff x="8563760" y="1258645"/>
            <a:chExt cx="3183591" cy="1495313"/>
          </a:xfrm>
        </p:grpSpPr>
        <p:sp>
          <p:nvSpPr>
            <p:cNvPr id="33" name="Google Shape;880;p1">
              <a:extLst>
                <a:ext uri="{FF2B5EF4-FFF2-40B4-BE49-F238E27FC236}">
                  <a16:creationId xmlns:a16="http://schemas.microsoft.com/office/drawing/2014/main" id="{0DE4D9FD-F3A7-83AE-0311-6A959FAFB989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81;p1">
              <a:extLst>
                <a:ext uri="{FF2B5EF4-FFF2-40B4-BE49-F238E27FC236}">
                  <a16:creationId xmlns:a16="http://schemas.microsoft.com/office/drawing/2014/main" id="{57773FC0-41D1-4992-9A6C-66497187783C}"/>
                </a:ext>
              </a:extLst>
            </p:cNvPr>
            <p:cNvSpPr/>
            <p:nvPr/>
          </p:nvSpPr>
          <p:spPr>
            <a:xfrm>
              <a:off x="9023500" y="1378151"/>
              <a:ext cx="2723851" cy="12598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882;p1">
            <a:extLst>
              <a:ext uri="{FF2B5EF4-FFF2-40B4-BE49-F238E27FC236}">
                <a16:creationId xmlns:a16="http://schemas.microsoft.com/office/drawing/2014/main" id="{2CAB3366-AFBF-2169-E229-270DCAB713D3}"/>
              </a:ext>
            </a:extLst>
          </p:cNvPr>
          <p:cNvSpPr txBox="1"/>
          <p:nvPr/>
        </p:nvSpPr>
        <p:spPr>
          <a:xfrm>
            <a:off x="7081037" y="4050330"/>
            <a:ext cx="1698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883;p1" descr="Puzzle">
            <a:extLst>
              <a:ext uri="{FF2B5EF4-FFF2-40B4-BE49-F238E27FC236}">
                <a16:creationId xmlns:a16="http://schemas.microsoft.com/office/drawing/2014/main" id="{711CF1C8-6CEA-66CD-96FE-F075DF677AF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6177" y="2197602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884;p1" descr="Home">
            <a:extLst>
              <a:ext uri="{FF2B5EF4-FFF2-40B4-BE49-F238E27FC236}">
                <a16:creationId xmlns:a16="http://schemas.microsoft.com/office/drawing/2014/main" id="{9DE90B63-F0E0-5D47-CCD2-F90FEA755D4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78528" y="3258157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885;p1" descr="Infinity">
            <a:extLst>
              <a:ext uri="{FF2B5EF4-FFF2-40B4-BE49-F238E27FC236}">
                <a16:creationId xmlns:a16="http://schemas.microsoft.com/office/drawing/2014/main" id="{0164161A-F022-CCE0-2043-D9BC30F7EFB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26173" y="4063766"/>
            <a:ext cx="640080" cy="640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97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6" name="Google Shape;890;p2">
            <a:extLst>
              <a:ext uri="{FF2B5EF4-FFF2-40B4-BE49-F238E27FC236}">
                <a16:creationId xmlns:a16="http://schemas.microsoft.com/office/drawing/2014/main" id="{95EA9FEF-2CC9-6868-BD02-3CF8F1F0A7C8}"/>
              </a:ext>
            </a:extLst>
          </p:cNvPr>
          <p:cNvSpPr txBox="1"/>
          <p:nvPr/>
        </p:nvSpPr>
        <p:spPr>
          <a:xfrm>
            <a:off x="2310261" y="1434751"/>
            <a:ext cx="7571232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MODULE OVERVIEW: INTRODUCTION TO DEVOPS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891;p2">
            <a:extLst>
              <a:ext uri="{FF2B5EF4-FFF2-40B4-BE49-F238E27FC236}">
                <a16:creationId xmlns:a16="http://schemas.microsoft.com/office/drawing/2014/main" id="{0AB285CB-BF2F-404B-A642-3BF93B46A90B}"/>
              </a:ext>
            </a:extLst>
          </p:cNvPr>
          <p:cNvSpPr txBox="1"/>
          <p:nvPr/>
        </p:nvSpPr>
        <p:spPr>
          <a:xfrm>
            <a:off x="3290527" y="2933993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-US" sz="1999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Common deployment problems </a:t>
            </a:r>
            <a:endParaRPr sz="1999" b="1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Google Shape;892;p2">
            <a:extLst>
              <a:ext uri="{FF2B5EF4-FFF2-40B4-BE49-F238E27FC236}">
                <a16:creationId xmlns:a16="http://schemas.microsoft.com/office/drawing/2014/main" id="{433D5DA7-10B9-F9A9-5470-1D1D9F7C3508}"/>
              </a:ext>
            </a:extLst>
          </p:cNvPr>
          <p:cNvSpPr txBox="1"/>
          <p:nvPr/>
        </p:nvSpPr>
        <p:spPr>
          <a:xfrm>
            <a:off x="3290502" y="3721674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Understanding DevOps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893;p2">
            <a:extLst>
              <a:ext uri="{FF2B5EF4-FFF2-40B4-BE49-F238E27FC236}">
                <a16:creationId xmlns:a16="http://schemas.microsoft.com/office/drawing/2014/main" id="{85B40630-0DB7-5F78-F612-1A3E06404EF3}"/>
              </a:ext>
            </a:extLst>
          </p:cNvPr>
          <p:cNvSpPr txBox="1"/>
          <p:nvPr/>
        </p:nvSpPr>
        <p:spPr>
          <a:xfrm>
            <a:off x="3290539" y="2128074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B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uilding a minimum viable product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" name="Google Shape;894;p2">
            <a:extLst>
              <a:ext uri="{FF2B5EF4-FFF2-40B4-BE49-F238E27FC236}">
                <a16:creationId xmlns:a16="http://schemas.microsoft.com/office/drawing/2014/main" id="{F4B5D7C1-68F3-3AB6-B41C-B20937828D27}"/>
              </a:ext>
            </a:extLst>
          </p:cNvPr>
          <p:cNvSpPr txBox="1"/>
          <p:nvPr/>
        </p:nvSpPr>
        <p:spPr>
          <a:xfrm>
            <a:off x="3290477" y="4527693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 principles and best practices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Google Shape;895;p2">
            <a:extLst>
              <a:ext uri="{FF2B5EF4-FFF2-40B4-BE49-F238E27FC236}">
                <a16:creationId xmlns:a16="http://schemas.microsoft.com/office/drawing/2014/main" id="{64C28651-46B8-9BBD-C5EC-778292816C03}"/>
              </a:ext>
            </a:extLst>
          </p:cNvPr>
          <p:cNvSpPr txBox="1"/>
          <p:nvPr/>
        </p:nvSpPr>
        <p:spPr>
          <a:xfrm>
            <a:off x="3290452" y="5325238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5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Road map to a successful DevOps career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" name="Google Shape;896;p2">
            <a:extLst>
              <a:ext uri="{FF2B5EF4-FFF2-40B4-BE49-F238E27FC236}">
                <a16:creationId xmlns:a16="http://schemas.microsoft.com/office/drawing/2014/main" id="{63745E2B-31E3-FF5D-71FD-960044874FC2}"/>
              </a:ext>
            </a:extLst>
          </p:cNvPr>
          <p:cNvSpPr txBox="1"/>
          <p:nvPr/>
        </p:nvSpPr>
        <p:spPr>
          <a:xfrm>
            <a:off x="3290427" y="6130535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6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DevOps: Roles and responsibilities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5938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902;p69">
            <a:extLst>
              <a:ext uri="{FF2B5EF4-FFF2-40B4-BE49-F238E27FC236}">
                <a16:creationId xmlns:a16="http://schemas.microsoft.com/office/drawing/2014/main" id="{7B5CF02C-9940-C5D4-8539-C13C7C88A909}"/>
              </a:ext>
            </a:extLst>
          </p:cNvPr>
          <p:cNvGrpSpPr/>
          <p:nvPr/>
        </p:nvGrpSpPr>
        <p:grpSpPr>
          <a:xfrm>
            <a:off x="3116690" y="1829695"/>
            <a:ext cx="6125935" cy="3253363"/>
            <a:chOff x="6071315" y="1755951"/>
            <a:chExt cx="6125935" cy="3253363"/>
          </a:xfrm>
        </p:grpSpPr>
        <p:grpSp>
          <p:nvGrpSpPr>
            <p:cNvPr id="10" name="Google Shape;903;p69">
              <a:extLst>
                <a:ext uri="{FF2B5EF4-FFF2-40B4-BE49-F238E27FC236}">
                  <a16:creationId xmlns:a16="http://schemas.microsoft.com/office/drawing/2014/main" id="{34FB8EAA-7808-7299-1D4B-CA79318B742F}"/>
                </a:ext>
              </a:extLst>
            </p:cNvPr>
            <p:cNvGrpSpPr/>
            <p:nvPr/>
          </p:nvGrpSpPr>
          <p:grpSpPr>
            <a:xfrm>
              <a:off x="9005272" y="1755951"/>
              <a:ext cx="3146378" cy="1495200"/>
              <a:chOff x="8563760" y="1258645"/>
              <a:chExt cx="3146378" cy="1495200"/>
            </a:xfrm>
          </p:grpSpPr>
          <p:sp>
            <p:nvSpPr>
              <p:cNvPr id="23" name="Google Shape;904;p69">
                <a:extLst>
                  <a:ext uri="{FF2B5EF4-FFF2-40B4-BE49-F238E27FC236}">
                    <a16:creationId xmlns:a16="http://schemas.microsoft.com/office/drawing/2014/main" id="{1D7E09DE-D1AF-8E6C-0808-84C214ED3AB4}"/>
                  </a:ext>
                </a:extLst>
              </p:cNvPr>
              <p:cNvSpPr/>
              <p:nvPr/>
            </p:nvSpPr>
            <p:spPr>
              <a:xfrm>
                <a:off x="8563760" y="1258645"/>
                <a:ext cx="1795800" cy="14952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/>
              </a:solidFill>
              <a:ln w="234950" cap="flat" cmpd="sng">
                <a:solidFill>
                  <a:srgbClr val="FAA7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905;p69">
                <a:extLst>
                  <a:ext uri="{FF2B5EF4-FFF2-40B4-BE49-F238E27FC236}">
                    <a16:creationId xmlns:a16="http://schemas.microsoft.com/office/drawing/2014/main" id="{3DC8A63A-C479-7B9C-B36D-9593700CECAA}"/>
                  </a:ext>
                </a:extLst>
              </p:cNvPr>
              <p:cNvSpPr/>
              <p:nvPr/>
            </p:nvSpPr>
            <p:spPr>
              <a:xfrm>
                <a:off x="9031738" y="1378212"/>
                <a:ext cx="2678400" cy="126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381000" sx="79000" sy="79000" algn="ctr" rotWithShape="0">
                  <a:srgbClr val="D0CECE"/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" name="Google Shape;906;p69">
              <a:extLst>
                <a:ext uri="{FF2B5EF4-FFF2-40B4-BE49-F238E27FC236}">
                  <a16:creationId xmlns:a16="http://schemas.microsoft.com/office/drawing/2014/main" id="{8222822F-2FC6-DFB4-F515-A441BAE97A39}"/>
                </a:ext>
              </a:extLst>
            </p:cNvPr>
            <p:cNvSpPr txBox="1"/>
            <p:nvPr/>
          </p:nvSpPr>
          <p:spPr>
            <a:xfrm>
              <a:off x="10002237" y="2180442"/>
              <a:ext cx="1927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F7A526"/>
                  </a:solidFill>
                  <a:latin typeface="Lato"/>
                  <a:ea typeface="Lato"/>
                  <a:cs typeface="Lato"/>
                  <a:sym typeface="Lato"/>
                </a:rPr>
                <a:t>Minimum Viable Product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907;p69">
              <a:extLst>
                <a:ext uri="{FF2B5EF4-FFF2-40B4-BE49-F238E27FC236}">
                  <a16:creationId xmlns:a16="http://schemas.microsoft.com/office/drawing/2014/main" id="{C33DA846-5EF4-2C7F-6623-DBCDF8136DED}"/>
                </a:ext>
              </a:extLst>
            </p:cNvPr>
            <p:cNvGrpSpPr/>
            <p:nvPr/>
          </p:nvGrpSpPr>
          <p:grpSpPr>
            <a:xfrm flipH="1">
              <a:off x="6071315" y="2650568"/>
              <a:ext cx="3078441" cy="1495200"/>
              <a:chOff x="8563760" y="1258645"/>
              <a:chExt cx="3078441" cy="1495200"/>
            </a:xfrm>
          </p:grpSpPr>
          <p:sp>
            <p:nvSpPr>
              <p:cNvPr id="21" name="Google Shape;908;p69">
                <a:extLst>
                  <a:ext uri="{FF2B5EF4-FFF2-40B4-BE49-F238E27FC236}">
                    <a16:creationId xmlns:a16="http://schemas.microsoft.com/office/drawing/2014/main" id="{8B619771-BF4A-05E7-20FD-60FDF66BB7AB}"/>
                  </a:ext>
                </a:extLst>
              </p:cNvPr>
              <p:cNvSpPr/>
              <p:nvPr/>
            </p:nvSpPr>
            <p:spPr>
              <a:xfrm>
                <a:off x="8563760" y="1258645"/>
                <a:ext cx="1795800" cy="14952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34950" cap="flat" cmpd="sng">
                <a:solidFill>
                  <a:srgbClr val="E7E6E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909;p69">
                <a:extLst>
                  <a:ext uri="{FF2B5EF4-FFF2-40B4-BE49-F238E27FC236}">
                    <a16:creationId xmlns:a16="http://schemas.microsoft.com/office/drawing/2014/main" id="{1B531309-2A1C-8866-E061-DFAFB29596C3}"/>
                  </a:ext>
                </a:extLst>
              </p:cNvPr>
              <p:cNvSpPr/>
              <p:nvPr/>
            </p:nvSpPr>
            <p:spPr>
              <a:xfrm>
                <a:off x="9023501" y="1378151"/>
                <a:ext cx="2618700" cy="126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381000" sx="79000" sy="79000" algn="ctr" rotWithShape="0">
                  <a:srgbClr val="D0CECE"/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" name="Google Shape;910;p69">
              <a:extLst>
                <a:ext uri="{FF2B5EF4-FFF2-40B4-BE49-F238E27FC236}">
                  <a16:creationId xmlns:a16="http://schemas.microsoft.com/office/drawing/2014/main" id="{7BEC42BD-8898-B0E9-30BE-43D06C131E65}"/>
                </a:ext>
              </a:extLst>
            </p:cNvPr>
            <p:cNvSpPr txBox="1"/>
            <p:nvPr/>
          </p:nvSpPr>
          <p:spPr>
            <a:xfrm>
              <a:off x="6378258" y="3075059"/>
              <a:ext cx="1795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E7E6E6"/>
                  </a:solidFill>
                  <a:latin typeface="Lato"/>
                  <a:ea typeface="Lato"/>
                  <a:cs typeface="Lato"/>
                  <a:sym typeface="Lato"/>
                </a:rPr>
                <a:t>Introduction to DevOps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" name="Google Shape;911;p69">
              <a:extLst>
                <a:ext uri="{FF2B5EF4-FFF2-40B4-BE49-F238E27FC236}">
                  <a16:creationId xmlns:a16="http://schemas.microsoft.com/office/drawing/2014/main" id="{C8FC7550-D543-924F-D2DE-41B6FDF92408}"/>
                </a:ext>
              </a:extLst>
            </p:cNvPr>
            <p:cNvGrpSpPr/>
            <p:nvPr/>
          </p:nvGrpSpPr>
          <p:grpSpPr>
            <a:xfrm>
              <a:off x="9013510" y="3514114"/>
              <a:ext cx="3183740" cy="1495200"/>
              <a:chOff x="8563760" y="1258645"/>
              <a:chExt cx="3183740" cy="1495200"/>
            </a:xfrm>
          </p:grpSpPr>
          <p:sp>
            <p:nvSpPr>
              <p:cNvPr id="19" name="Google Shape;912;p69">
                <a:extLst>
                  <a:ext uri="{FF2B5EF4-FFF2-40B4-BE49-F238E27FC236}">
                    <a16:creationId xmlns:a16="http://schemas.microsoft.com/office/drawing/2014/main" id="{2E254530-A08A-E6DF-E9CC-C2F24C799423}"/>
                  </a:ext>
                </a:extLst>
              </p:cNvPr>
              <p:cNvSpPr/>
              <p:nvPr/>
            </p:nvSpPr>
            <p:spPr>
              <a:xfrm>
                <a:off x="8563760" y="1258645"/>
                <a:ext cx="1795800" cy="14952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34950" cap="flat" cmpd="sng">
                <a:solidFill>
                  <a:srgbClr val="E7E6E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913;p69">
                <a:extLst>
                  <a:ext uri="{FF2B5EF4-FFF2-40B4-BE49-F238E27FC236}">
                    <a16:creationId xmlns:a16="http://schemas.microsoft.com/office/drawing/2014/main" id="{F2BD463C-B021-77B2-2A3A-24BA8E8F0577}"/>
                  </a:ext>
                </a:extLst>
              </p:cNvPr>
              <p:cNvSpPr/>
              <p:nvPr/>
            </p:nvSpPr>
            <p:spPr>
              <a:xfrm>
                <a:off x="9023500" y="1378151"/>
                <a:ext cx="2724000" cy="126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381000" sx="79000" sy="79000" algn="ctr" rotWithShape="0">
                  <a:srgbClr val="D0CECE"/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914;p69">
              <a:extLst>
                <a:ext uri="{FF2B5EF4-FFF2-40B4-BE49-F238E27FC236}">
                  <a16:creationId xmlns:a16="http://schemas.microsoft.com/office/drawing/2014/main" id="{4FF25BB8-925A-FDEA-5A9A-6FF0035E333F}"/>
                </a:ext>
              </a:extLst>
            </p:cNvPr>
            <p:cNvSpPr txBox="1"/>
            <p:nvPr/>
          </p:nvSpPr>
          <p:spPr>
            <a:xfrm>
              <a:off x="10002237" y="3928282"/>
              <a:ext cx="1698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E7E6E6"/>
                  </a:solidFill>
                  <a:latin typeface="Lato"/>
                  <a:ea typeface="Lato"/>
                  <a:cs typeface="Lato"/>
                  <a:sym typeface="Lato"/>
                </a:rPr>
                <a:t>DevOps Road Map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915;p69" descr="Puzzle">
              <a:extLst>
                <a:ext uri="{FF2B5EF4-FFF2-40B4-BE49-F238E27FC236}">
                  <a16:creationId xmlns:a16="http://schemas.microsoft.com/office/drawing/2014/main" id="{736338D4-B2AD-942D-2416-BE482E131D5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391852" y="2183567"/>
              <a:ext cx="640080" cy="64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916;p69" descr="Home">
              <a:extLst>
                <a:ext uri="{FF2B5EF4-FFF2-40B4-BE49-F238E27FC236}">
                  <a16:creationId xmlns:a16="http://schemas.microsoft.com/office/drawing/2014/main" id="{10673A2E-CD97-C350-2363-845FC151BC89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69328" y="3078184"/>
              <a:ext cx="640080" cy="64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917;p69" descr="Infinity">
              <a:extLst>
                <a:ext uri="{FF2B5EF4-FFF2-40B4-BE49-F238E27FC236}">
                  <a16:creationId xmlns:a16="http://schemas.microsoft.com/office/drawing/2014/main" id="{468C1F17-C865-4906-53F0-6D600283A22B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335360" y="3941730"/>
              <a:ext cx="640080" cy="64008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9774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22;p108">
            <a:extLst>
              <a:ext uri="{FF2B5EF4-FFF2-40B4-BE49-F238E27FC236}">
                <a16:creationId xmlns:a16="http://schemas.microsoft.com/office/drawing/2014/main" id="{A4015815-A878-7D5E-02EA-76D83D74CFAD}"/>
              </a:ext>
            </a:extLst>
          </p:cNvPr>
          <p:cNvSpPr txBox="1"/>
          <p:nvPr/>
        </p:nvSpPr>
        <p:spPr>
          <a:xfrm>
            <a:off x="3290527" y="4591682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Review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waterfall methodology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923;p108">
            <a:extLst>
              <a:ext uri="{FF2B5EF4-FFF2-40B4-BE49-F238E27FC236}">
                <a16:creationId xmlns:a16="http://schemas.microsoft.com/office/drawing/2014/main" id="{629D93B8-3B18-3D8C-E288-7F2755E6C63B}"/>
              </a:ext>
            </a:extLst>
          </p:cNvPr>
          <p:cNvSpPr txBox="1"/>
          <p:nvPr/>
        </p:nvSpPr>
        <p:spPr>
          <a:xfrm>
            <a:off x="3290527" y="2246702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oncept of</a:t>
            </a:r>
            <a:r>
              <a:rPr lang="en-US" sz="1999" b="1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  </a:ext>
                </a:extLst>
              </a:rPr>
              <a:t> M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inimum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</a:ext>
                </a:extLst>
              </a:rPr>
              <a:t>iable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</a:ext>
                </a:extLst>
              </a:rPr>
              <a:t> </a:t>
            </a:r>
            <a:r>
              <a:rPr lang="en-US" sz="1999" b="1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"/>
                  </a:ext>
                </a:extLst>
              </a:rPr>
              <a:t>P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"/>
                  </a:ext>
                </a:extLst>
              </a:rPr>
              <a:t>roduct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924;p108">
            <a:extLst>
              <a:ext uri="{FF2B5EF4-FFF2-40B4-BE49-F238E27FC236}">
                <a16:creationId xmlns:a16="http://schemas.microsoft.com/office/drawing/2014/main" id="{4F57F351-E399-A986-63DF-EFD0CA8E866A}"/>
              </a:ext>
            </a:extLst>
          </p:cNvPr>
          <p:cNvSpPr txBox="1"/>
          <p:nvPr/>
        </p:nvSpPr>
        <p:spPr>
          <a:xfrm>
            <a:off x="3840877" y="1330496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SESSION OVERVIEW: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MINIMUM VIABLE PRODUCT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925;p108">
            <a:extLst>
              <a:ext uri="{FF2B5EF4-FFF2-40B4-BE49-F238E27FC236}">
                <a16:creationId xmlns:a16="http://schemas.microsoft.com/office/drawing/2014/main" id="{DBF3AFA1-ADFA-EAD0-60BA-EB880D193401}"/>
              </a:ext>
            </a:extLst>
          </p:cNvPr>
          <p:cNvSpPr txBox="1"/>
          <p:nvPr/>
        </p:nvSpPr>
        <p:spPr>
          <a:xfrm>
            <a:off x="3290527" y="3822214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Software development life cycle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SDLC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)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926;p108">
            <a:extLst>
              <a:ext uri="{FF2B5EF4-FFF2-40B4-BE49-F238E27FC236}">
                <a16:creationId xmlns:a16="http://schemas.microsoft.com/office/drawing/2014/main" id="{99218126-33D1-E053-CD43-FCC369C5825A}"/>
              </a:ext>
            </a:extLst>
          </p:cNvPr>
          <p:cNvSpPr txBox="1"/>
          <p:nvPr/>
        </p:nvSpPr>
        <p:spPr>
          <a:xfrm>
            <a:off x="3290527" y="5370294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5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Review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"/>
                  </a:ext>
                </a:extLst>
              </a:rPr>
              <a:t>gile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methodologies 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927;p108">
            <a:extLst>
              <a:ext uri="{FF2B5EF4-FFF2-40B4-BE49-F238E27FC236}">
                <a16:creationId xmlns:a16="http://schemas.microsoft.com/office/drawing/2014/main" id="{4F8974FD-88C2-2F67-7B18-5C22DF52A5BA}"/>
              </a:ext>
            </a:extLst>
          </p:cNvPr>
          <p:cNvSpPr txBox="1"/>
          <p:nvPr/>
        </p:nvSpPr>
        <p:spPr>
          <a:xfrm>
            <a:off x="3290527" y="6139760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6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Understand deployment issues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928;p108">
            <a:extLst>
              <a:ext uri="{FF2B5EF4-FFF2-40B4-BE49-F238E27FC236}">
                <a16:creationId xmlns:a16="http://schemas.microsoft.com/office/drawing/2014/main" id="{B40215F1-1F4F-B52B-C77B-095094BDDEA6}"/>
              </a:ext>
            </a:extLst>
          </p:cNvPr>
          <p:cNvSpPr txBox="1"/>
          <p:nvPr/>
        </p:nvSpPr>
        <p:spPr>
          <a:xfrm>
            <a:off x="3290527" y="3034458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dvantages of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an MVP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448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33;p5">
            <a:extLst>
              <a:ext uri="{FF2B5EF4-FFF2-40B4-BE49-F238E27FC236}">
                <a16:creationId xmlns:a16="http://schemas.microsoft.com/office/drawing/2014/main" id="{43E8E390-C483-8BB6-249E-15F0E0172DA6}"/>
              </a:ext>
            </a:extLst>
          </p:cNvPr>
          <p:cNvSpPr txBox="1"/>
          <p:nvPr/>
        </p:nvSpPr>
        <p:spPr>
          <a:xfrm>
            <a:off x="3923009" y="1600531"/>
            <a:ext cx="4269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PRODUCT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"/>
                  </a:ext>
                </a:extLst>
              </a:rPr>
              <a:t>DEVELOPMENT</a:t>
            </a: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934;p5" descr="Project management triangle - Wikipedia">
            <a:extLst>
              <a:ext uri="{FF2B5EF4-FFF2-40B4-BE49-F238E27FC236}">
                <a16:creationId xmlns:a16="http://schemas.microsoft.com/office/drawing/2014/main" id="{0361AA70-3473-1C1F-016D-6D58FBB794B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54941" y="2944295"/>
            <a:ext cx="4482120" cy="37612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924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25" name="Google Shape;939;p6">
            <a:extLst>
              <a:ext uri="{FF2B5EF4-FFF2-40B4-BE49-F238E27FC236}">
                <a16:creationId xmlns:a16="http://schemas.microsoft.com/office/drawing/2014/main" id="{0965B9CC-011C-4197-DBA9-B5E685C73635}"/>
              </a:ext>
            </a:extLst>
          </p:cNvPr>
          <p:cNvSpPr txBox="1"/>
          <p:nvPr/>
        </p:nvSpPr>
        <p:spPr>
          <a:xfrm>
            <a:off x="3886534" y="1552443"/>
            <a:ext cx="4269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PRODUCT DEVELOPMENT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" name="Google Shape;940;p6">
            <a:extLst>
              <a:ext uri="{FF2B5EF4-FFF2-40B4-BE49-F238E27FC236}">
                <a16:creationId xmlns:a16="http://schemas.microsoft.com/office/drawing/2014/main" id="{DD8A1988-02DA-5AC6-F98D-5B3E86FB1468}"/>
              </a:ext>
            </a:extLst>
          </p:cNvPr>
          <p:cNvGrpSpPr/>
          <p:nvPr/>
        </p:nvGrpSpPr>
        <p:grpSpPr>
          <a:xfrm>
            <a:off x="5967047" y="2468094"/>
            <a:ext cx="3186729" cy="1495313"/>
            <a:chOff x="8563760" y="1258645"/>
            <a:chExt cx="3186729" cy="1495313"/>
          </a:xfrm>
        </p:grpSpPr>
        <p:sp>
          <p:nvSpPr>
            <p:cNvPr id="27" name="Google Shape;941;p6">
              <a:extLst>
                <a:ext uri="{FF2B5EF4-FFF2-40B4-BE49-F238E27FC236}">
                  <a16:creationId xmlns:a16="http://schemas.microsoft.com/office/drawing/2014/main" id="{1FD48C33-A9F3-5B81-25EB-68B8BF8C48FB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/>
            </a:solidFill>
            <a:ln w="234950" cap="flat" cmpd="sng">
              <a:solidFill>
                <a:srgbClr val="FAA7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942;p6">
              <a:extLst>
                <a:ext uri="{FF2B5EF4-FFF2-40B4-BE49-F238E27FC236}">
                  <a16:creationId xmlns:a16="http://schemas.microsoft.com/office/drawing/2014/main" id="{C79833C1-C2B2-065E-4558-CCB21DFEB8A7}"/>
                </a:ext>
              </a:extLst>
            </p:cNvPr>
            <p:cNvSpPr/>
            <p:nvPr/>
          </p:nvSpPr>
          <p:spPr>
            <a:xfrm>
              <a:off x="9031739" y="1378212"/>
              <a:ext cx="2718750" cy="126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" name="Google Shape;943;p6">
            <a:extLst>
              <a:ext uri="{FF2B5EF4-FFF2-40B4-BE49-F238E27FC236}">
                <a16:creationId xmlns:a16="http://schemas.microsoft.com/office/drawing/2014/main" id="{6CB99B4F-6EB1-C1B6-814B-F54E9E03AB70}"/>
              </a:ext>
            </a:extLst>
          </p:cNvPr>
          <p:cNvSpPr txBox="1"/>
          <p:nvPr/>
        </p:nvSpPr>
        <p:spPr>
          <a:xfrm>
            <a:off x="6480213" y="2671644"/>
            <a:ext cx="65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A5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</a:rPr>
              <a:t>Cost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944;p6">
            <a:extLst>
              <a:ext uri="{FF2B5EF4-FFF2-40B4-BE49-F238E27FC236}">
                <a16:creationId xmlns:a16="http://schemas.microsoft.com/office/drawing/2014/main" id="{EC5D5E4E-FE49-194B-30C3-F99595742A44}"/>
              </a:ext>
            </a:extLst>
          </p:cNvPr>
          <p:cNvGrpSpPr/>
          <p:nvPr/>
        </p:nvGrpSpPr>
        <p:grpSpPr>
          <a:xfrm flipH="1">
            <a:off x="3033122" y="3362711"/>
            <a:ext cx="3078409" cy="1495313"/>
            <a:chOff x="8563760" y="1258645"/>
            <a:chExt cx="3078409" cy="1495313"/>
          </a:xfrm>
        </p:grpSpPr>
        <p:sp>
          <p:nvSpPr>
            <p:cNvPr id="31" name="Google Shape;945;p6">
              <a:extLst>
                <a:ext uri="{FF2B5EF4-FFF2-40B4-BE49-F238E27FC236}">
                  <a16:creationId xmlns:a16="http://schemas.microsoft.com/office/drawing/2014/main" id="{13E75365-0213-CFE7-F54E-BD35548240B0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4890E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946;p6">
              <a:extLst>
                <a:ext uri="{FF2B5EF4-FFF2-40B4-BE49-F238E27FC236}">
                  <a16:creationId xmlns:a16="http://schemas.microsoft.com/office/drawing/2014/main" id="{26A2107C-AFD8-ECAD-6405-5F7AA4C13D4D}"/>
                </a:ext>
              </a:extLst>
            </p:cNvPr>
            <p:cNvSpPr/>
            <p:nvPr/>
          </p:nvSpPr>
          <p:spPr>
            <a:xfrm>
              <a:off x="9023501" y="1378151"/>
              <a:ext cx="2618668" cy="12598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Google Shape;947;p6">
            <a:extLst>
              <a:ext uri="{FF2B5EF4-FFF2-40B4-BE49-F238E27FC236}">
                <a16:creationId xmlns:a16="http://schemas.microsoft.com/office/drawing/2014/main" id="{DBCEBB1F-088C-4C7E-8533-F72405B2147B}"/>
              </a:ext>
            </a:extLst>
          </p:cNvPr>
          <p:cNvSpPr txBox="1"/>
          <p:nvPr/>
        </p:nvSpPr>
        <p:spPr>
          <a:xfrm>
            <a:off x="6480213" y="3051811"/>
            <a:ext cx="2424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Budgeted amount available for a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948;p6">
            <a:extLst>
              <a:ext uri="{FF2B5EF4-FFF2-40B4-BE49-F238E27FC236}">
                <a16:creationId xmlns:a16="http://schemas.microsoft.com/office/drawing/2014/main" id="{34552B3E-09F9-FD11-1ADD-E51E3AE08EBE}"/>
              </a:ext>
            </a:extLst>
          </p:cNvPr>
          <p:cNvSpPr txBox="1"/>
          <p:nvPr/>
        </p:nvSpPr>
        <p:spPr>
          <a:xfrm>
            <a:off x="4944322" y="3583289"/>
            <a:ext cx="69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90E4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4890E4"/>
                </a:solidFill>
                <a:latin typeface="Lato"/>
                <a:ea typeface="Lato"/>
                <a:cs typeface="Lato"/>
                <a:sym typeface="Lato"/>
              </a:rPr>
              <a:t>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949;p6">
            <a:extLst>
              <a:ext uri="{FF2B5EF4-FFF2-40B4-BE49-F238E27FC236}">
                <a16:creationId xmlns:a16="http://schemas.microsoft.com/office/drawing/2014/main" id="{4EAE5FDE-344A-A65B-F26F-F5B14AEB0501}"/>
              </a:ext>
            </a:extLst>
          </p:cNvPr>
          <p:cNvSpPr txBox="1"/>
          <p:nvPr/>
        </p:nvSpPr>
        <p:spPr>
          <a:xfrm>
            <a:off x="3293840" y="3913905"/>
            <a:ext cx="2349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Time available to complete a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950;p6">
            <a:extLst>
              <a:ext uri="{FF2B5EF4-FFF2-40B4-BE49-F238E27FC236}">
                <a16:creationId xmlns:a16="http://schemas.microsoft.com/office/drawing/2014/main" id="{4B6E73B3-8042-CF82-87E1-91C1C9EF09AF}"/>
              </a:ext>
            </a:extLst>
          </p:cNvPr>
          <p:cNvGrpSpPr/>
          <p:nvPr/>
        </p:nvGrpSpPr>
        <p:grpSpPr>
          <a:xfrm>
            <a:off x="5975285" y="4226257"/>
            <a:ext cx="3183591" cy="1495313"/>
            <a:chOff x="8563760" y="1258645"/>
            <a:chExt cx="3183591" cy="1495313"/>
          </a:xfrm>
        </p:grpSpPr>
        <p:sp>
          <p:nvSpPr>
            <p:cNvPr id="37" name="Google Shape;951;p6">
              <a:extLst>
                <a:ext uri="{FF2B5EF4-FFF2-40B4-BE49-F238E27FC236}">
                  <a16:creationId xmlns:a16="http://schemas.microsoft.com/office/drawing/2014/main" id="{551DE74A-79AC-762D-BA65-1B04E127E101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952;p6">
              <a:extLst>
                <a:ext uri="{FF2B5EF4-FFF2-40B4-BE49-F238E27FC236}">
                  <a16:creationId xmlns:a16="http://schemas.microsoft.com/office/drawing/2014/main" id="{1191B9DD-17EA-227A-C3C7-75141E51D5F2}"/>
                </a:ext>
              </a:extLst>
            </p:cNvPr>
            <p:cNvSpPr/>
            <p:nvPr/>
          </p:nvSpPr>
          <p:spPr>
            <a:xfrm>
              <a:off x="9023500" y="1378151"/>
              <a:ext cx="2723851" cy="12598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" name="Google Shape;953;p6">
            <a:extLst>
              <a:ext uri="{FF2B5EF4-FFF2-40B4-BE49-F238E27FC236}">
                <a16:creationId xmlns:a16="http://schemas.microsoft.com/office/drawing/2014/main" id="{79329617-65CF-30A3-77FF-E235743E1304}"/>
              </a:ext>
            </a:extLst>
          </p:cNvPr>
          <p:cNvSpPr txBox="1"/>
          <p:nvPr/>
        </p:nvSpPr>
        <p:spPr>
          <a:xfrm>
            <a:off x="6480213" y="4433540"/>
            <a:ext cx="80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rPr>
              <a:t>Scope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954;p6">
            <a:extLst>
              <a:ext uri="{FF2B5EF4-FFF2-40B4-BE49-F238E27FC236}">
                <a16:creationId xmlns:a16="http://schemas.microsoft.com/office/drawing/2014/main" id="{DAE60C8F-8A28-6C39-0C70-2E754D010FFE}"/>
              </a:ext>
            </a:extLst>
          </p:cNvPr>
          <p:cNvSpPr txBox="1"/>
          <p:nvPr/>
        </p:nvSpPr>
        <p:spPr>
          <a:xfrm>
            <a:off x="6480212" y="4771034"/>
            <a:ext cx="2168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Features that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"/>
                  </a:ext>
                </a:extLst>
              </a:rPr>
              <a:t>mak</a:t>
            </a:r>
            <a:r>
              <a:rPr lang="en-US" sz="160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"/>
                  </a:ext>
                </a:extLst>
              </a:rPr>
              <a:t>e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"/>
                  </a:ext>
                </a:extLst>
              </a:rPr>
              <a:t> the product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896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59;p7">
            <a:extLst>
              <a:ext uri="{FF2B5EF4-FFF2-40B4-BE49-F238E27FC236}">
                <a16:creationId xmlns:a16="http://schemas.microsoft.com/office/drawing/2014/main" id="{2730CAFA-8C5D-CE2B-1F19-4AEA924D0C97}"/>
              </a:ext>
            </a:extLst>
          </p:cNvPr>
          <p:cNvSpPr txBox="1"/>
          <p:nvPr/>
        </p:nvSpPr>
        <p:spPr>
          <a:xfrm>
            <a:off x="3840889" y="1036384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SOCIAL MEDIA FEATURES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60;p7">
            <a:extLst>
              <a:ext uri="{FF2B5EF4-FFF2-40B4-BE49-F238E27FC236}">
                <a16:creationId xmlns:a16="http://schemas.microsoft.com/office/drawing/2014/main" id="{99CBC1D7-6CA3-E196-31C5-6370625D614C}"/>
              </a:ext>
            </a:extLst>
          </p:cNvPr>
          <p:cNvSpPr txBox="1"/>
          <p:nvPr/>
        </p:nvSpPr>
        <p:spPr>
          <a:xfrm>
            <a:off x="3290539" y="1677968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Create a profile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961;p7">
            <a:extLst>
              <a:ext uri="{FF2B5EF4-FFF2-40B4-BE49-F238E27FC236}">
                <a16:creationId xmlns:a16="http://schemas.microsoft.com/office/drawing/2014/main" id="{A709F98E-5C11-32A0-0ECB-06ACECE407FF}"/>
              </a:ext>
            </a:extLst>
          </p:cNvPr>
          <p:cNvSpPr txBox="1"/>
          <p:nvPr/>
        </p:nvSpPr>
        <p:spPr>
          <a:xfrm>
            <a:off x="3290539" y="2575452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Upload images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962;p7">
            <a:extLst>
              <a:ext uri="{FF2B5EF4-FFF2-40B4-BE49-F238E27FC236}">
                <a16:creationId xmlns:a16="http://schemas.microsoft.com/office/drawing/2014/main" id="{81AF0E3D-348C-4413-551A-E28FF76EA63D}"/>
              </a:ext>
            </a:extLst>
          </p:cNvPr>
          <p:cNvSpPr txBox="1"/>
          <p:nvPr/>
        </p:nvSpPr>
        <p:spPr>
          <a:xfrm>
            <a:off x="3290539" y="4370420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Create an “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"/>
                  </a:ext>
                </a:extLst>
              </a:rPr>
              <a:t>Inbox</a:t>
            </a:r>
            <a:r>
              <a:rPr lang="en-US" sz="1999" b="1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"/>
                  </a:ext>
                </a:extLst>
              </a:rPr>
              <a:t>”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"/>
                  </a:ext>
                </a:extLst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963;p7">
            <a:extLst>
              <a:ext uri="{FF2B5EF4-FFF2-40B4-BE49-F238E27FC236}">
                <a16:creationId xmlns:a16="http://schemas.microsoft.com/office/drawing/2014/main" id="{6BA3E44F-908E-6D1A-B9E9-49DDE027046B}"/>
              </a:ext>
            </a:extLst>
          </p:cNvPr>
          <p:cNvSpPr txBox="1"/>
          <p:nvPr/>
        </p:nvSpPr>
        <p:spPr>
          <a:xfrm>
            <a:off x="3290539" y="3472936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Add a “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"/>
                  </a:ext>
                </a:extLst>
              </a:rPr>
              <a:t>Like</a:t>
            </a:r>
            <a:r>
              <a:rPr lang="en-US" sz="1999" b="1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8"/>
                  </a:ext>
                </a:extLst>
              </a:rPr>
              <a:t>”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9"/>
                  </a:ext>
                </a:extLst>
              </a:rPr>
              <a:t> button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964;p7">
            <a:extLst>
              <a:ext uri="{FF2B5EF4-FFF2-40B4-BE49-F238E27FC236}">
                <a16:creationId xmlns:a16="http://schemas.microsoft.com/office/drawing/2014/main" id="{FC24892B-3C9D-E171-E3AA-88945BA7491E}"/>
              </a:ext>
            </a:extLst>
          </p:cNvPr>
          <p:cNvSpPr txBox="1"/>
          <p:nvPr/>
        </p:nvSpPr>
        <p:spPr>
          <a:xfrm>
            <a:off x="3290539" y="6165386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6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Add a “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0"/>
                  </a:ext>
                </a:extLst>
              </a:rPr>
              <a:t>Video chat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” feature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" name="Google Shape;965;p7">
            <a:extLst>
              <a:ext uri="{FF2B5EF4-FFF2-40B4-BE49-F238E27FC236}">
                <a16:creationId xmlns:a16="http://schemas.microsoft.com/office/drawing/2014/main" id="{5C2E3C8D-CDC7-881D-B8E6-F8CFF59C433A}"/>
              </a:ext>
            </a:extLst>
          </p:cNvPr>
          <p:cNvSpPr txBox="1"/>
          <p:nvPr/>
        </p:nvSpPr>
        <p:spPr>
          <a:xfrm>
            <a:off x="3290539" y="5267904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5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Upload v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ideos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5580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70;p109">
            <a:extLst>
              <a:ext uri="{FF2B5EF4-FFF2-40B4-BE49-F238E27FC236}">
                <a16:creationId xmlns:a16="http://schemas.microsoft.com/office/drawing/2014/main" id="{BB38A73D-A877-E040-E506-918B80CA78A5}"/>
              </a:ext>
            </a:extLst>
          </p:cNvPr>
          <p:cNvSpPr txBox="1"/>
          <p:nvPr/>
        </p:nvSpPr>
        <p:spPr>
          <a:xfrm>
            <a:off x="3865794" y="971969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CUSTOMER FEEDBACK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971;p109">
            <a:extLst>
              <a:ext uri="{FF2B5EF4-FFF2-40B4-BE49-F238E27FC236}">
                <a16:creationId xmlns:a16="http://schemas.microsoft.com/office/drawing/2014/main" id="{CE112593-FBEC-071D-12F6-F5123B9FED14}"/>
              </a:ext>
            </a:extLst>
          </p:cNvPr>
          <p:cNvGrpSpPr/>
          <p:nvPr/>
        </p:nvGrpSpPr>
        <p:grpSpPr>
          <a:xfrm>
            <a:off x="3290526" y="1596958"/>
            <a:ext cx="5610938" cy="699137"/>
            <a:chOff x="6252189" y="1295845"/>
            <a:chExt cx="5610938" cy="699137"/>
          </a:xfrm>
        </p:grpSpPr>
        <p:sp>
          <p:nvSpPr>
            <p:cNvPr id="11" name="Google Shape;972;p109">
              <a:extLst>
                <a:ext uri="{FF2B5EF4-FFF2-40B4-BE49-F238E27FC236}">
                  <a16:creationId xmlns:a16="http://schemas.microsoft.com/office/drawing/2014/main" id="{45F335F6-7337-7755-2AF4-D4BABC14A47A}"/>
                </a:ext>
              </a:extLst>
            </p:cNvPr>
            <p:cNvSpPr txBox="1"/>
            <p:nvPr/>
          </p:nvSpPr>
          <p:spPr>
            <a:xfrm>
              <a:off x="6252189" y="1295845"/>
              <a:ext cx="5610938" cy="69913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161950" tIns="71975" rIns="71975" bIns="71975" anchor="ctr" anchorCtr="0">
              <a:noAutofit/>
            </a:bodyPr>
            <a:lstStyle/>
            <a:p>
              <a:pPr marL="457200" marR="0" lvl="0" indent="-4572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99"/>
                <a:buFont typeface="Arial"/>
                <a:buAutoNum type="arabicPeriod"/>
              </a:pPr>
              <a:r>
                <a:rPr lang="en-US" sz="1999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Create a profile</a:t>
              </a:r>
              <a:endParaRPr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Google Shape;973;p109">
              <a:extLst>
                <a:ext uri="{FF2B5EF4-FFF2-40B4-BE49-F238E27FC236}">
                  <a16:creationId xmlns:a16="http://schemas.microsoft.com/office/drawing/2014/main" id="{7D5A38E3-736F-5890-6D91-250B86B3D055}"/>
                </a:ext>
              </a:extLst>
            </p:cNvPr>
            <p:cNvSpPr/>
            <p:nvPr/>
          </p:nvSpPr>
          <p:spPr>
            <a:xfrm>
              <a:off x="10090356" y="1462533"/>
              <a:ext cx="415047" cy="36576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" name="Google Shape;974;p109">
            <a:extLst>
              <a:ext uri="{FF2B5EF4-FFF2-40B4-BE49-F238E27FC236}">
                <a16:creationId xmlns:a16="http://schemas.microsoft.com/office/drawing/2014/main" id="{1C777BDF-8E95-600D-D42C-9090DB01C2B3}"/>
              </a:ext>
            </a:extLst>
          </p:cNvPr>
          <p:cNvGrpSpPr/>
          <p:nvPr/>
        </p:nvGrpSpPr>
        <p:grpSpPr>
          <a:xfrm>
            <a:off x="3290526" y="2494442"/>
            <a:ext cx="5610938" cy="699137"/>
            <a:chOff x="6252189" y="2193329"/>
            <a:chExt cx="5610938" cy="699137"/>
          </a:xfrm>
        </p:grpSpPr>
        <p:sp>
          <p:nvSpPr>
            <p:cNvPr id="14" name="Google Shape;975;p109">
              <a:extLst>
                <a:ext uri="{FF2B5EF4-FFF2-40B4-BE49-F238E27FC236}">
                  <a16:creationId xmlns:a16="http://schemas.microsoft.com/office/drawing/2014/main" id="{0DB04DEF-9A67-6A8F-3E3B-ABA63E48172C}"/>
                </a:ext>
              </a:extLst>
            </p:cNvPr>
            <p:cNvSpPr txBox="1"/>
            <p:nvPr/>
          </p:nvSpPr>
          <p:spPr>
            <a:xfrm>
              <a:off x="6252189" y="2193329"/>
              <a:ext cx="5610938" cy="69913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161950" tIns="71975" rIns="71975" bIns="71975" anchor="ctr" anchorCtr="0">
              <a:noAutofit/>
            </a:bodyPr>
            <a:lstStyle/>
            <a:p>
              <a:pPr marL="457200" marR="0" lvl="0" indent="-4572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99"/>
                <a:buFont typeface="Arial"/>
                <a:buAutoNum type="arabicPeriod" startAt="2"/>
              </a:pPr>
              <a:r>
                <a:rPr lang="en-US" sz="1999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Upload images</a:t>
              </a:r>
              <a:endParaRPr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" name="Google Shape;976;p109">
              <a:extLst>
                <a:ext uri="{FF2B5EF4-FFF2-40B4-BE49-F238E27FC236}">
                  <a16:creationId xmlns:a16="http://schemas.microsoft.com/office/drawing/2014/main" id="{CD313028-64DD-18B8-61D2-D3640718256B}"/>
                </a:ext>
              </a:extLst>
            </p:cNvPr>
            <p:cNvSpPr/>
            <p:nvPr/>
          </p:nvSpPr>
          <p:spPr>
            <a:xfrm>
              <a:off x="10090356" y="2360017"/>
              <a:ext cx="415047" cy="36576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" name="Google Shape;977;p109">
            <a:extLst>
              <a:ext uri="{FF2B5EF4-FFF2-40B4-BE49-F238E27FC236}">
                <a16:creationId xmlns:a16="http://schemas.microsoft.com/office/drawing/2014/main" id="{D25FD527-3CDD-8EE4-BCF9-41A2D1EFC1D4}"/>
              </a:ext>
            </a:extLst>
          </p:cNvPr>
          <p:cNvGrpSpPr/>
          <p:nvPr/>
        </p:nvGrpSpPr>
        <p:grpSpPr>
          <a:xfrm>
            <a:off x="3290526" y="3391926"/>
            <a:ext cx="5610938" cy="699137"/>
            <a:chOff x="6252189" y="3090813"/>
            <a:chExt cx="5610938" cy="699137"/>
          </a:xfrm>
        </p:grpSpPr>
        <p:sp>
          <p:nvSpPr>
            <p:cNvPr id="17" name="Google Shape;978;p109">
              <a:extLst>
                <a:ext uri="{FF2B5EF4-FFF2-40B4-BE49-F238E27FC236}">
                  <a16:creationId xmlns:a16="http://schemas.microsoft.com/office/drawing/2014/main" id="{B3389259-8609-93EA-EBB6-DE109C7F505E}"/>
                </a:ext>
              </a:extLst>
            </p:cNvPr>
            <p:cNvSpPr txBox="1"/>
            <p:nvPr/>
          </p:nvSpPr>
          <p:spPr>
            <a:xfrm>
              <a:off x="6252189" y="3090813"/>
              <a:ext cx="5610938" cy="69913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161950" tIns="71975" rIns="71975" bIns="71975" anchor="ctr" anchorCtr="0">
              <a:noAutofit/>
            </a:bodyPr>
            <a:lstStyle/>
            <a:p>
              <a:pPr marL="457200" marR="0" lvl="0" indent="-4572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99"/>
                <a:buFont typeface="Arial"/>
                <a:buAutoNum type="arabicPeriod" startAt="3"/>
              </a:pPr>
              <a:r>
                <a:rPr lang="en-US" sz="1999" b="1">
                  <a:latin typeface="Lato"/>
                  <a:ea typeface="Lato"/>
                  <a:cs typeface="Lato"/>
                  <a:sym typeface="Lato"/>
                </a:rPr>
                <a:t>Add a “</a:t>
              </a:r>
              <a:r>
                <a:rPr lang="en-US" sz="1999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1"/>
                    </a:ext>
                  </a:extLst>
                </a:rPr>
                <a:t>Like</a:t>
              </a:r>
              <a:r>
                <a:rPr lang="en-US" sz="1999" b="1"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2"/>
                    </a:ext>
                  </a:extLst>
                </a:rPr>
                <a:t>”</a:t>
              </a:r>
              <a:r>
                <a:rPr lang="en-US" sz="1999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3"/>
                    </a:ext>
                  </a:extLst>
                </a:rPr>
                <a:t> button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979;p109">
              <a:extLst>
                <a:ext uri="{FF2B5EF4-FFF2-40B4-BE49-F238E27FC236}">
                  <a16:creationId xmlns:a16="http://schemas.microsoft.com/office/drawing/2014/main" id="{041F683E-9DF9-A009-0829-841CCFC0E8C3}"/>
                </a:ext>
              </a:extLst>
            </p:cNvPr>
            <p:cNvSpPr/>
            <p:nvPr/>
          </p:nvSpPr>
          <p:spPr>
            <a:xfrm>
              <a:off x="10090356" y="3257501"/>
              <a:ext cx="415047" cy="36576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" name="Google Shape;980;p109">
            <a:extLst>
              <a:ext uri="{FF2B5EF4-FFF2-40B4-BE49-F238E27FC236}">
                <a16:creationId xmlns:a16="http://schemas.microsoft.com/office/drawing/2014/main" id="{A7C70884-E1FA-7FD3-172E-1C2E822ED116}"/>
              </a:ext>
            </a:extLst>
          </p:cNvPr>
          <p:cNvGrpSpPr/>
          <p:nvPr/>
        </p:nvGrpSpPr>
        <p:grpSpPr>
          <a:xfrm>
            <a:off x="3290526" y="4289410"/>
            <a:ext cx="5610938" cy="699137"/>
            <a:chOff x="6252189" y="3988297"/>
            <a:chExt cx="5610938" cy="699137"/>
          </a:xfrm>
        </p:grpSpPr>
        <p:sp>
          <p:nvSpPr>
            <p:cNvPr id="20" name="Google Shape;981;p109">
              <a:extLst>
                <a:ext uri="{FF2B5EF4-FFF2-40B4-BE49-F238E27FC236}">
                  <a16:creationId xmlns:a16="http://schemas.microsoft.com/office/drawing/2014/main" id="{5F63D61A-BD79-0044-A494-C0EF768079B2}"/>
                </a:ext>
              </a:extLst>
            </p:cNvPr>
            <p:cNvSpPr txBox="1"/>
            <p:nvPr/>
          </p:nvSpPr>
          <p:spPr>
            <a:xfrm>
              <a:off x="6252189" y="3988297"/>
              <a:ext cx="5610938" cy="69913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161950" tIns="71975" rIns="71975" bIns="71975" anchor="ctr" anchorCtr="0">
              <a:noAutofit/>
            </a:bodyPr>
            <a:lstStyle/>
            <a:p>
              <a:pPr marL="457200" marR="0" lvl="0" indent="-4572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99"/>
                <a:buFont typeface="Arial"/>
                <a:buAutoNum type="arabicPeriod" startAt="4"/>
              </a:pPr>
              <a:r>
                <a:rPr lang="en-US" sz="1999" b="1">
                  <a:latin typeface="Lato"/>
                  <a:ea typeface="Lato"/>
                  <a:cs typeface="Lato"/>
                  <a:sym typeface="Lato"/>
                </a:rPr>
                <a:t>Create an “</a:t>
              </a:r>
              <a:r>
                <a:rPr lang="en-US" sz="1999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4"/>
                    </a:ext>
                  </a:extLst>
                </a:rPr>
                <a:t>Inbox</a:t>
              </a:r>
              <a:r>
                <a:rPr lang="en-US" sz="1999" b="1"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5"/>
                    </a:ext>
                  </a:extLst>
                </a:rPr>
                <a:t>”</a:t>
              </a:r>
              <a:r>
                <a:rPr lang="en-US" sz="1999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6"/>
                    </a:ext>
                  </a:extLst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982;p109">
              <a:extLst>
                <a:ext uri="{FF2B5EF4-FFF2-40B4-BE49-F238E27FC236}">
                  <a16:creationId xmlns:a16="http://schemas.microsoft.com/office/drawing/2014/main" id="{AFB9A335-270C-89DE-7D10-01C233A214EB}"/>
                </a:ext>
              </a:extLst>
            </p:cNvPr>
            <p:cNvSpPr/>
            <p:nvPr/>
          </p:nvSpPr>
          <p:spPr>
            <a:xfrm>
              <a:off x="10090356" y="4154985"/>
              <a:ext cx="415047" cy="36576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2" name="Google Shape;983;p109">
            <a:extLst>
              <a:ext uri="{FF2B5EF4-FFF2-40B4-BE49-F238E27FC236}">
                <a16:creationId xmlns:a16="http://schemas.microsoft.com/office/drawing/2014/main" id="{CDB5BF2E-F4B4-08F6-0DCB-B9635C3360C2}"/>
              </a:ext>
            </a:extLst>
          </p:cNvPr>
          <p:cNvGrpSpPr/>
          <p:nvPr/>
        </p:nvGrpSpPr>
        <p:grpSpPr>
          <a:xfrm>
            <a:off x="3290526" y="5186894"/>
            <a:ext cx="5610938" cy="699137"/>
            <a:chOff x="6252189" y="4885781"/>
            <a:chExt cx="5610938" cy="699137"/>
          </a:xfrm>
        </p:grpSpPr>
        <p:sp>
          <p:nvSpPr>
            <p:cNvPr id="23" name="Google Shape;984;p109">
              <a:extLst>
                <a:ext uri="{FF2B5EF4-FFF2-40B4-BE49-F238E27FC236}">
                  <a16:creationId xmlns:a16="http://schemas.microsoft.com/office/drawing/2014/main" id="{28D5816E-D33D-CA5C-3282-DED4C4518367}"/>
                </a:ext>
              </a:extLst>
            </p:cNvPr>
            <p:cNvSpPr txBox="1"/>
            <p:nvPr/>
          </p:nvSpPr>
          <p:spPr>
            <a:xfrm>
              <a:off x="6252189" y="4885781"/>
              <a:ext cx="5610938" cy="69913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161950" tIns="71975" rIns="71975" bIns="71975" anchor="ctr" anchorCtr="0">
              <a:noAutofit/>
            </a:bodyPr>
            <a:lstStyle/>
            <a:p>
              <a:pPr marL="457200" marR="0" lvl="0" indent="-4572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99"/>
                <a:buFont typeface="Arial"/>
                <a:buAutoNum type="arabicPeriod" startAt="5"/>
              </a:pPr>
              <a:r>
                <a:rPr lang="en-US" sz="1999" b="1">
                  <a:latin typeface="Lato"/>
                  <a:ea typeface="Lato"/>
                  <a:cs typeface="Lato"/>
                  <a:sym typeface="Lato"/>
                </a:rPr>
                <a:t>Upload videos</a:t>
              </a:r>
              <a:endParaRPr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" name="Google Shape;985;p109">
              <a:extLst>
                <a:ext uri="{FF2B5EF4-FFF2-40B4-BE49-F238E27FC236}">
                  <a16:creationId xmlns:a16="http://schemas.microsoft.com/office/drawing/2014/main" id="{B43AE0E6-BCAD-AEA2-D7D4-7A57939FBC8C}"/>
                </a:ext>
              </a:extLst>
            </p:cNvPr>
            <p:cNvSpPr/>
            <p:nvPr/>
          </p:nvSpPr>
          <p:spPr>
            <a:xfrm>
              <a:off x="10078423" y="5017893"/>
              <a:ext cx="438912" cy="434913"/>
            </a:xfrm>
            <a:prstGeom prst="noSmoking">
              <a:avLst>
                <a:gd name="adj" fmla="val 1875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oogle Shape;986;p109">
            <a:extLst>
              <a:ext uri="{FF2B5EF4-FFF2-40B4-BE49-F238E27FC236}">
                <a16:creationId xmlns:a16="http://schemas.microsoft.com/office/drawing/2014/main" id="{95E1250A-C1B7-16BE-DD22-9281B2C2FB4A}"/>
              </a:ext>
            </a:extLst>
          </p:cNvPr>
          <p:cNvGrpSpPr/>
          <p:nvPr/>
        </p:nvGrpSpPr>
        <p:grpSpPr>
          <a:xfrm>
            <a:off x="3290526" y="6084376"/>
            <a:ext cx="5610938" cy="699137"/>
            <a:chOff x="6252189" y="5783263"/>
            <a:chExt cx="5610938" cy="699137"/>
          </a:xfrm>
        </p:grpSpPr>
        <p:sp>
          <p:nvSpPr>
            <p:cNvPr id="26" name="Google Shape;987;p109">
              <a:extLst>
                <a:ext uri="{FF2B5EF4-FFF2-40B4-BE49-F238E27FC236}">
                  <a16:creationId xmlns:a16="http://schemas.microsoft.com/office/drawing/2014/main" id="{4D69803E-C166-FCE5-CECC-080FD92C0C00}"/>
                </a:ext>
              </a:extLst>
            </p:cNvPr>
            <p:cNvSpPr txBox="1"/>
            <p:nvPr/>
          </p:nvSpPr>
          <p:spPr>
            <a:xfrm>
              <a:off x="6252189" y="5783263"/>
              <a:ext cx="5610938" cy="69913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161950" tIns="71975" rIns="71975" bIns="71975" anchor="ctr" anchorCtr="0">
              <a:noAutofit/>
            </a:bodyPr>
            <a:lstStyle/>
            <a:p>
              <a:pPr marL="457200" marR="0" lvl="0" indent="-4572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99"/>
                <a:buFont typeface="Arial"/>
                <a:buAutoNum type="arabicPeriod" startAt="6"/>
              </a:pPr>
              <a:r>
                <a:rPr lang="en-US" sz="1999" b="1">
                  <a:latin typeface="Lato"/>
                  <a:ea typeface="Lato"/>
                  <a:cs typeface="Lato"/>
                  <a:sym typeface="Lato"/>
                </a:rPr>
                <a:t>Add a “</a:t>
              </a:r>
              <a:r>
                <a:rPr lang="en-US" sz="1999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7"/>
                    </a:ext>
                  </a:extLst>
                </a:rPr>
                <a:t>Video chat</a:t>
              </a:r>
              <a:r>
                <a:rPr lang="en-US" sz="1999" b="1">
                  <a:latin typeface="Lato"/>
                  <a:ea typeface="Lato"/>
                  <a:cs typeface="Lato"/>
                  <a:sym typeface="Lato"/>
                </a:rPr>
                <a:t>” feature</a:t>
              </a:r>
              <a:endParaRPr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" name="Google Shape;988;p109">
              <a:extLst>
                <a:ext uri="{FF2B5EF4-FFF2-40B4-BE49-F238E27FC236}">
                  <a16:creationId xmlns:a16="http://schemas.microsoft.com/office/drawing/2014/main" id="{3ACB3FF7-D2D5-44F6-A038-D612110B24F4}"/>
                </a:ext>
              </a:extLst>
            </p:cNvPr>
            <p:cNvSpPr/>
            <p:nvPr/>
          </p:nvSpPr>
          <p:spPr>
            <a:xfrm>
              <a:off x="10078423" y="5915375"/>
              <a:ext cx="438912" cy="434913"/>
            </a:xfrm>
            <a:prstGeom prst="noSmoking">
              <a:avLst>
                <a:gd name="adj" fmla="val 1875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931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66" name="Google Shape;993;p9">
            <a:extLst>
              <a:ext uri="{FF2B5EF4-FFF2-40B4-BE49-F238E27FC236}">
                <a16:creationId xmlns:a16="http://schemas.microsoft.com/office/drawing/2014/main" id="{224E1054-1F84-E377-3D95-876B00D8D277}"/>
              </a:ext>
            </a:extLst>
          </p:cNvPr>
          <p:cNvSpPr txBox="1"/>
          <p:nvPr/>
        </p:nvSpPr>
        <p:spPr>
          <a:xfrm>
            <a:off x="9014048" y="3519378"/>
            <a:ext cx="2065827" cy="6671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1" i="0" u="none" strike="noStrike" cap="none" dirty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Share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994;p9">
            <a:extLst>
              <a:ext uri="{FF2B5EF4-FFF2-40B4-BE49-F238E27FC236}">
                <a16:creationId xmlns:a16="http://schemas.microsoft.com/office/drawing/2014/main" id="{3E55EFB8-80CF-4B33-8DEC-78EF7AA01686}"/>
              </a:ext>
            </a:extLst>
          </p:cNvPr>
          <p:cNvSpPr txBox="1"/>
          <p:nvPr/>
        </p:nvSpPr>
        <p:spPr>
          <a:xfrm>
            <a:off x="6438426" y="4038350"/>
            <a:ext cx="22701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Less time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 is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spent over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internet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; hence,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people prefer using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their inbox over the </a:t>
            </a:r>
            <a:r>
              <a:rPr lang="en-US" sz="1600" dirty="0" err="1">
                <a:latin typeface="Lato"/>
                <a:ea typeface="Lato"/>
                <a:cs typeface="Lato"/>
                <a:sym typeface="Lato"/>
              </a:rPr>
              <a:t>chatbox</a:t>
            </a:r>
            <a:endParaRPr sz="1600" dirty="0"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8"/>
                  </a:ext>
                </a:extLst>
              </a:rPr>
              <a:t>It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might be useful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 future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but we can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9"/>
                  </a:ext>
                </a:extLst>
              </a:rPr>
              <a:t>ignore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this feature in the present scenario </a:t>
            </a:r>
            <a:endParaRPr sz="16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" name="Google Shape;995;p9">
            <a:extLst>
              <a:ext uri="{FF2B5EF4-FFF2-40B4-BE49-F238E27FC236}">
                <a16:creationId xmlns:a16="http://schemas.microsoft.com/office/drawing/2014/main" id="{53984DFA-45C2-0890-3BE4-88DFABD6DA88}"/>
              </a:ext>
            </a:extLst>
          </p:cNvPr>
          <p:cNvSpPr/>
          <p:nvPr/>
        </p:nvSpPr>
        <p:spPr>
          <a:xfrm>
            <a:off x="8911813" y="3659168"/>
            <a:ext cx="2352600" cy="3185210"/>
          </a:xfrm>
          <a:prstGeom prst="roundRect">
            <a:avLst>
              <a:gd name="adj" fmla="val 4522"/>
            </a:avLst>
          </a:prstGeom>
          <a:noFill/>
          <a:ln w="19050" cap="flat" cmpd="sng">
            <a:solidFill>
              <a:srgbClr val="23AE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996;p9">
            <a:extLst>
              <a:ext uri="{FF2B5EF4-FFF2-40B4-BE49-F238E27FC236}">
                <a16:creationId xmlns:a16="http://schemas.microsoft.com/office/drawing/2014/main" id="{F8B43F92-562B-FEB0-F324-3E05865AABE1}"/>
              </a:ext>
            </a:extLst>
          </p:cNvPr>
          <p:cNvCxnSpPr/>
          <p:nvPr/>
        </p:nvCxnSpPr>
        <p:spPr>
          <a:xfrm>
            <a:off x="10060584" y="3281639"/>
            <a:ext cx="6964" cy="434398"/>
          </a:xfrm>
          <a:prstGeom prst="straightConnector1">
            <a:avLst/>
          </a:prstGeom>
          <a:noFill/>
          <a:ln w="19050" cap="flat" cmpd="sng">
            <a:solidFill>
              <a:srgbClr val="23AE7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0" name="Google Shape;997;p9">
            <a:extLst>
              <a:ext uri="{FF2B5EF4-FFF2-40B4-BE49-F238E27FC236}">
                <a16:creationId xmlns:a16="http://schemas.microsoft.com/office/drawing/2014/main" id="{F47D119A-D0C0-3A6F-DBB1-AF26658BBDDD}"/>
              </a:ext>
            </a:extLst>
          </p:cNvPr>
          <p:cNvGrpSpPr/>
          <p:nvPr/>
        </p:nvGrpSpPr>
        <p:grpSpPr>
          <a:xfrm>
            <a:off x="9133141" y="1735803"/>
            <a:ext cx="1839087" cy="1832821"/>
            <a:chOff x="3852378" y="601041"/>
            <a:chExt cx="1839087" cy="1832821"/>
          </a:xfrm>
        </p:grpSpPr>
        <p:sp>
          <p:nvSpPr>
            <p:cNvPr id="71" name="Google Shape;998;p9">
              <a:extLst>
                <a:ext uri="{FF2B5EF4-FFF2-40B4-BE49-F238E27FC236}">
                  <a16:creationId xmlns:a16="http://schemas.microsoft.com/office/drawing/2014/main" id="{23254AFD-E653-024E-4F37-867731B10648}"/>
                </a:ext>
              </a:extLst>
            </p:cNvPr>
            <p:cNvSpPr/>
            <p:nvPr/>
          </p:nvSpPr>
          <p:spPr>
            <a:xfrm rot="-8100000">
              <a:off x="4127054" y="869451"/>
              <a:ext cx="1296000" cy="1296000"/>
            </a:xfrm>
            <a:custGeom>
              <a:avLst/>
              <a:gdLst/>
              <a:ahLst/>
              <a:cxnLst/>
              <a:rect l="l" t="t" r="r" b="b"/>
              <a:pathLst>
                <a:path w="1296000" h="1296000" extrusionOk="0">
                  <a:moveTo>
                    <a:pt x="1296000" y="648000"/>
                  </a:moveTo>
                  <a:cubicBezTo>
                    <a:pt x="1296000" y="1005881"/>
                    <a:pt x="1005881" y="1296000"/>
                    <a:pt x="648000" y="1296000"/>
                  </a:cubicBezTo>
                  <a:cubicBezTo>
                    <a:pt x="290119" y="1296000"/>
                    <a:pt x="0" y="1005881"/>
                    <a:pt x="0" y="648000"/>
                  </a:cubicBezTo>
                  <a:cubicBezTo>
                    <a:pt x="0" y="290119"/>
                    <a:pt x="290119" y="0"/>
                    <a:pt x="648000" y="0"/>
                  </a:cubicBezTo>
                </a:path>
              </a:pathLst>
            </a:custGeom>
            <a:noFill/>
            <a:ln w="19050" cap="flat" cmpd="sng">
              <a:solidFill>
                <a:srgbClr val="23AE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999;p9">
              <a:extLst>
                <a:ext uri="{FF2B5EF4-FFF2-40B4-BE49-F238E27FC236}">
                  <a16:creationId xmlns:a16="http://schemas.microsoft.com/office/drawing/2014/main" id="{ABFEFA9D-7189-BC40-6544-1C2DCF443E7D}"/>
                </a:ext>
              </a:extLst>
            </p:cNvPr>
            <p:cNvSpPr/>
            <p:nvPr/>
          </p:nvSpPr>
          <p:spPr>
            <a:xfrm>
              <a:off x="4205701" y="949094"/>
              <a:ext cx="1136096" cy="1136149"/>
            </a:xfrm>
            <a:prstGeom prst="flowChartConnector">
              <a:avLst/>
            </a:prstGeom>
            <a:solidFill>
              <a:srgbClr val="23AE7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1000;p9">
              <a:extLst>
                <a:ext uri="{FF2B5EF4-FFF2-40B4-BE49-F238E27FC236}">
                  <a16:creationId xmlns:a16="http://schemas.microsoft.com/office/drawing/2014/main" id="{F487B8D0-4193-7002-E81E-6DB856DA5AD2}"/>
                </a:ext>
              </a:extLst>
            </p:cNvPr>
            <p:cNvSpPr/>
            <p:nvPr/>
          </p:nvSpPr>
          <p:spPr>
            <a:xfrm rot="10800000">
              <a:off x="4278839" y="1022235"/>
              <a:ext cx="989821" cy="989867"/>
            </a:xfrm>
            <a:prstGeom prst="flowChartConnector">
              <a:avLst/>
            </a:prstGeom>
            <a:gradFill>
              <a:gsLst>
                <a:gs pos="0">
                  <a:srgbClr val="FFFFFF"/>
                </a:gs>
                <a:gs pos="100000">
                  <a:srgbClr val="B9B9B9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1001;p9">
              <a:extLst>
                <a:ext uri="{FF2B5EF4-FFF2-40B4-BE49-F238E27FC236}">
                  <a16:creationId xmlns:a16="http://schemas.microsoft.com/office/drawing/2014/main" id="{CEE1799D-F045-4825-63C9-A0ECA246D7B4}"/>
                </a:ext>
              </a:extLst>
            </p:cNvPr>
            <p:cNvSpPr/>
            <p:nvPr/>
          </p:nvSpPr>
          <p:spPr>
            <a:xfrm rot="10800000">
              <a:off x="4305497" y="1048899"/>
              <a:ext cx="941147" cy="941190"/>
            </a:xfrm>
            <a:prstGeom prst="flowChartConnector">
              <a:avLst/>
            </a:prstGeom>
            <a:solidFill>
              <a:srgbClr val="F3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" name="Google Shape;1002;p9">
              <a:extLst>
                <a:ext uri="{FF2B5EF4-FFF2-40B4-BE49-F238E27FC236}">
                  <a16:creationId xmlns:a16="http://schemas.microsoft.com/office/drawing/2014/main" id="{E09DBACA-9E9B-5079-DD3C-E57C05DA3A6C}"/>
                </a:ext>
              </a:extLst>
            </p:cNvPr>
            <p:cNvGrpSpPr/>
            <p:nvPr/>
          </p:nvGrpSpPr>
          <p:grpSpPr>
            <a:xfrm>
              <a:off x="4731786" y="2109252"/>
              <a:ext cx="110297" cy="110306"/>
              <a:chOff x="4628811" y="2293037"/>
              <a:chExt cx="141937" cy="141942"/>
            </a:xfrm>
          </p:grpSpPr>
          <p:sp>
            <p:nvSpPr>
              <p:cNvPr id="77" name="Google Shape;1003;p9">
                <a:extLst>
                  <a:ext uri="{FF2B5EF4-FFF2-40B4-BE49-F238E27FC236}">
                    <a16:creationId xmlns:a16="http://schemas.microsoft.com/office/drawing/2014/main" id="{835C44A2-1E60-5EF1-3B42-8281F922715F}"/>
                  </a:ext>
                </a:extLst>
              </p:cNvPr>
              <p:cNvSpPr/>
              <p:nvPr/>
            </p:nvSpPr>
            <p:spPr>
              <a:xfrm rot="10800000" flipH="1">
                <a:off x="4628811" y="2293037"/>
                <a:ext cx="141937" cy="141942"/>
              </a:xfrm>
              <a:prstGeom prst="flowChartConnector">
                <a:avLst/>
              </a:prstGeom>
              <a:solidFill>
                <a:srgbClr val="FFFFFF"/>
              </a:solidFill>
              <a:ln w="19050" cap="flat" cmpd="sng">
                <a:solidFill>
                  <a:srgbClr val="23AE7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1004;p9">
                <a:extLst>
                  <a:ext uri="{FF2B5EF4-FFF2-40B4-BE49-F238E27FC236}">
                    <a16:creationId xmlns:a16="http://schemas.microsoft.com/office/drawing/2014/main" id="{35BFB497-B56B-67C4-BF99-6503625E97DC}"/>
                  </a:ext>
                </a:extLst>
              </p:cNvPr>
              <p:cNvSpPr/>
              <p:nvPr/>
            </p:nvSpPr>
            <p:spPr>
              <a:xfrm rot="10800000" flipH="1">
                <a:off x="4659564" y="2323792"/>
                <a:ext cx="80429" cy="80433"/>
              </a:xfrm>
              <a:prstGeom prst="flowChartConnector">
                <a:avLst/>
              </a:prstGeom>
              <a:solidFill>
                <a:srgbClr val="1B87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" name="Google Shape;1005;p9">
              <a:extLst>
                <a:ext uri="{FF2B5EF4-FFF2-40B4-BE49-F238E27FC236}">
                  <a16:creationId xmlns:a16="http://schemas.microsoft.com/office/drawing/2014/main" id="{24FB9AB2-3414-C8E9-252B-148EE4F3F9E8}"/>
                </a:ext>
              </a:extLst>
            </p:cNvPr>
            <p:cNvSpPr/>
            <p:nvPr/>
          </p:nvSpPr>
          <p:spPr>
            <a:xfrm rot="-2552177">
              <a:off x="3986181" y="1177421"/>
              <a:ext cx="648000" cy="648064"/>
            </a:xfrm>
            <a:custGeom>
              <a:avLst/>
              <a:gdLst/>
              <a:ahLst/>
              <a:cxnLst/>
              <a:rect l="l" t="t" r="r" b="b"/>
              <a:pathLst>
                <a:path w="648000" h="648000" extrusionOk="0">
                  <a:moveTo>
                    <a:pt x="0" y="648000"/>
                  </a:moveTo>
                  <a:cubicBezTo>
                    <a:pt x="0" y="290119"/>
                    <a:pt x="290119" y="0"/>
                    <a:pt x="648000" y="0"/>
                  </a:cubicBezTo>
                </a:path>
              </a:pathLst>
            </a:custGeom>
            <a:noFill/>
            <a:ln w="22225" cap="rnd" cmpd="sng">
              <a:solidFill>
                <a:srgbClr val="23AE73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1006;p9">
            <a:extLst>
              <a:ext uri="{FF2B5EF4-FFF2-40B4-BE49-F238E27FC236}">
                <a16:creationId xmlns:a16="http://schemas.microsoft.com/office/drawing/2014/main" id="{89BEEFCB-DB6A-59C1-BBE3-7B82DBD7E01A}"/>
              </a:ext>
            </a:extLst>
          </p:cNvPr>
          <p:cNvSpPr txBox="1"/>
          <p:nvPr/>
        </p:nvSpPr>
        <p:spPr>
          <a:xfrm>
            <a:off x="6443874" y="3564404"/>
            <a:ext cx="2065827" cy="66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1" i="0" u="none" strike="noStrike" cap="none" dirty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Chat Box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1007;p9">
            <a:extLst>
              <a:ext uri="{FF2B5EF4-FFF2-40B4-BE49-F238E27FC236}">
                <a16:creationId xmlns:a16="http://schemas.microsoft.com/office/drawing/2014/main" id="{836570E5-3B2D-155F-C1A2-C6B4A8664D4B}"/>
              </a:ext>
            </a:extLst>
          </p:cNvPr>
          <p:cNvSpPr/>
          <p:nvPr/>
        </p:nvSpPr>
        <p:spPr>
          <a:xfrm>
            <a:off x="3801255" y="3644924"/>
            <a:ext cx="2352600" cy="3199438"/>
          </a:xfrm>
          <a:prstGeom prst="roundRect">
            <a:avLst>
              <a:gd name="adj" fmla="val 4522"/>
            </a:avLst>
          </a:prstGeom>
          <a:noFill/>
          <a:ln w="19050" cap="flat" cmpd="sng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1008;p9">
            <a:extLst>
              <a:ext uri="{FF2B5EF4-FFF2-40B4-BE49-F238E27FC236}">
                <a16:creationId xmlns:a16="http://schemas.microsoft.com/office/drawing/2014/main" id="{6247D093-60C7-2540-01A1-13E889FA329B}"/>
              </a:ext>
            </a:extLst>
          </p:cNvPr>
          <p:cNvCxnSpPr/>
          <p:nvPr/>
        </p:nvCxnSpPr>
        <p:spPr>
          <a:xfrm>
            <a:off x="7381951" y="3284385"/>
            <a:ext cx="6964" cy="434398"/>
          </a:xfrm>
          <a:prstGeom prst="straightConnector1">
            <a:avLst/>
          </a:prstGeom>
          <a:noFill/>
          <a:ln w="19050" cap="flat" cmpd="sng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2" name="Google Shape;1009;p9">
            <a:extLst>
              <a:ext uri="{FF2B5EF4-FFF2-40B4-BE49-F238E27FC236}">
                <a16:creationId xmlns:a16="http://schemas.microsoft.com/office/drawing/2014/main" id="{B4CC66DD-C486-145F-95EC-BDC42F932AB7}"/>
              </a:ext>
            </a:extLst>
          </p:cNvPr>
          <p:cNvGrpSpPr/>
          <p:nvPr/>
        </p:nvGrpSpPr>
        <p:grpSpPr>
          <a:xfrm>
            <a:off x="6454508" y="1738549"/>
            <a:ext cx="1839087" cy="1832821"/>
            <a:chOff x="3852378" y="601041"/>
            <a:chExt cx="1839087" cy="1832821"/>
          </a:xfrm>
        </p:grpSpPr>
        <p:sp>
          <p:nvSpPr>
            <p:cNvPr id="83" name="Google Shape;1010;p9">
              <a:extLst>
                <a:ext uri="{FF2B5EF4-FFF2-40B4-BE49-F238E27FC236}">
                  <a16:creationId xmlns:a16="http://schemas.microsoft.com/office/drawing/2014/main" id="{BA4F7390-B523-C909-34EC-EA0A9417F185}"/>
                </a:ext>
              </a:extLst>
            </p:cNvPr>
            <p:cNvSpPr/>
            <p:nvPr/>
          </p:nvSpPr>
          <p:spPr>
            <a:xfrm rot="-8100000">
              <a:off x="4127054" y="869451"/>
              <a:ext cx="1296000" cy="1296000"/>
            </a:xfrm>
            <a:custGeom>
              <a:avLst/>
              <a:gdLst/>
              <a:ahLst/>
              <a:cxnLst/>
              <a:rect l="l" t="t" r="r" b="b"/>
              <a:pathLst>
                <a:path w="1296000" h="1296000" extrusionOk="0">
                  <a:moveTo>
                    <a:pt x="1296000" y="648000"/>
                  </a:moveTo>
                  <a:cubicBezTo>
                    <a:pt x="1296000" y="1005881"/>
                    <a:pt x="1005881" y="1296000"/>
                    <a:pt x="648000" y="1296000"/>
                  </a:cubicBezTo>
                  <a:cubicBezTo>
                    <a:pt x="290119" y="1296000"/>
                    <a:pt x="0" y="1005881"/>
                    <a:pt x="0" y="648000"/>
                  </a:cubicBezTo>
                  <a:cubicBezTo>
                    <a:pt x="0" y="290119"/>
                    <a:pt x="290119" y="0"/>
                    <a:pt x="648000" y="0"/>
                  </a:cubicBezTo>
                </a:path>
              </a:pathLst>
            </a:custGeom>
            <a:noFill/>
            <a:ln w="19050" cap="flat" cmpd="sng">
              <a:solidFill>
                <a:srgbClr val="5A5A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011;p9">
              <a:extLst>
                <a:ext uri="{FF2B5EF4-FFF2-40B4-BE49-F238E27FC236}">
                  <a16:creationId xmlns:a16="http://schemas.microsoft.com/office/drawing/2014/main" id="{EB74D6DB-970F-508A-8EC4-CFAB032DF1A5}"/>
                </a:ext>
              </a:extLst>
            </p:cNvPr>
            <p:cNvSpPr/>
            <p:nvPr/>
          </p:nvSpPr>
          <p:spPr>
            <a:xfrm>
              <a:off x="4205701" y="949094"/>
              <a:ext cx="1136096" cy="1136149"/>
            </a:xfrm>
            <a:prstGeom prst="flowChartConnector">
              <a:avLst/>
            </a:pr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1012;p9">
              <a:extLst>
                <a:ext uri="{FF2B5EF4-FFF2-40B4-BE49-F238E27FC236}">
                  <a16:creationId xmlns:a16="http://schemas.microsoft.com/office/drawing/2014/main" id="{3748F9B6-C465-E295-5FD5-C41F2C72A5CD}"/>
                </a:ext>
              </a:extLst>
            </p:cNvPr>
            <p:cNvSpPr/>
            <p:nvPr/>
          </p:nvSpPr>
          <p:spPr>
            <a:xfrm rot="10800000">
              <a:off x="4278839" y="1022235"/>
              <a:ext cx="989821" cy="989867"/>
            </a:xfrm>
            <a:prstGeom prst="flowChartConnector">
              <a:avLst/>
            </a:prstGeom>
            <a:gradFill>
              <a:gsLst>
                <a:gs pos="0">
                  <a:srgbClr val="FFFFFF"/>
                </a:gs>
                <a:gs pos="100000">
                  <a:srgbClr val="B9B9B9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1013;p9">
              <a:extLst>
                <a:ext uri="{FF2B5EF4-FFF2-40B4-BE49-F238E27FC236}">
                  <a16:creationId xmlns:a16="http://schemas.microsoft.com/office/drawing/2014/main" id="{475FECC9-F9AD-450D-349E-9FE2AEA927FD}"/>
                </a:ext>
              </a:extLst>
            </p:cNvPr>
            <p:cNvSpPr/>
            <p:nvPr/>
          </p:nvSpPr>
          <p:spPr>
            <a:xfrm rot="10800000">
              <a:off x="4305497" y="1048899"/>
              <a:ext cx="941147" cy="941190"/>
            </a:xfrm>
            <a:prstGeom prst="flowChartConnector">
              <a:avLst/>
            </a:prstGeom>
            <a:solidFill>
              <a:srgbClr val="F3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" name="Google Shape;1014;p9">
              <a:extLst>
                <a:ext uri="{FF2B5EF4-FFF2-40B4-BE49-F238E27FC236}">
                  <a16:creationId xmlns:a16="http://schemas.microsoft.com/office/drawing/2014/main" id="{BB46BD5D-A5A2-ED95-285F-306D9DE5D629}"/>
                </a:ext>
              </a:extLst>
            </p:cNvPr>
            <p:cNvGrpSpPr/>
            <p:nvPr/>
          </p:nvGrpSpPr>
          <p:grpSpPr>
            <a:xfrm>
              <a:off x="4731786" y="2109252"/>
              <a:ext cx="110297" cy="110306"/>
              <a:chOff x="4628811" y="2293037"/>
              <a:chExt cx="141937" cy="141942"/>
            </a:xfrm>
          </p:grpSpPr>
          <p:sp>
            <p:nvSpPr>
              <p:cNvPr id="89" name="Google Shape;1015;p9">
                <a:extLst>
                  <a:ext uri="{FF2B5EF4-FFF2-40B4-BE49-F238E27FC236}">
                    <a16:creationId xmlns:a16="http://schemas.microsoft.com/office/drawing/2014/main" id="{EF9D8D8D-AD8B-26B8-F442-92D3EE46F17A}"/>
                  </a:ext>
                </a:extLst>
              </p:cNvPr>
              <p:cNvSpPr/>
              <p:nvPr/>
            </p:nvSpPr>
            <p:spPr>
              <a:xfrm rot="10800000" flipH="1">
                <a:off x="4628811" y="2293037"/>
                <a:ext cx="141937" cy="141942"/>
              </a:xfrm>
              <a:prstGeom prst="flowChartConnector">
                <a:avLst/>
              </a:prstGeom>
              <a:solidFill>
                <a:srgbClr val="FFFFFF"/>
              </a:solidFill>
              <a:ln w="19050" cap="flat" cmpd="sng">
                <a:solidFill>
                  <a:srgbClr val="5A5A5A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1016;p9">
                <a:extLst>
                  <a:ext uri="{FF2B5EF4-FFF2-40B4-BE49-F238E27FC236}">
                    <a16:creationId xmlns:a16="http://schemas.microsoft.com/office/drawing/2014/main" id="{B8E70884-19C9-71EE-1672-BC61779483CC}"/>
                  </a:ext>
                </a:extLst>
              </p:cNvPr>
              <p:cNvSpPr/>
              <p:nvPr/>
            </p:nvSpPr>
            <p:spPr>
              <a:xfrm rot="10800000" flipH="1">
                <a:off x="4659564" y="2323792"/>
                <a:ext cx="80429" cy="80433"/>
              </a:xfrm>
              <a:prstGeom prst="flowChartConnector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" name="Google Shape;1017;p9">
              <a:extLst>
                <a:ext uri="{FF2B5EF4-FFF2-40B4-BE49-F238E27FC236}">
                  <a16:creationId xmlns:a16="http://schemas.microsoft.com/office/drawing/2014/main" id="{A2E5487F-A9A5-EE41-CEE2-B9FCF72FF9F0}"/>
                </a:ext>
              </a:extLst>
            </p:cNvPr>
            <p:cNvSpPr/>
            <p:nvPr/>
          </p:nvSpPr>
          <p:spPr>
            <a:xfrm rot="-2552177">
              <a:off x="3986181" y="1177421"/>
              <a:ext cx="648000" cy="648064"/>
            </a:xfrm>
            <a:custGeom>
              <a:avLst/>
              <a:gdLst/>
              <a:ahLst/>
              <a:cxnLst/>
              <a:rect l="l" t="t" r="r" b="b"/>
              <a:pathLst>
                <a:path w="648000" h="648000" extrusionOk="0">
                  <a:moveTo>
                    <a:pt x="0" y="648000"/>
                  </a:moveTo>
                  <a:cubicBezTo>
                    <a:pt x="0" y="290119"/>
                    <a:pt x="290119" y="0"/>
                    <a:pt x="648000" y="0"/>
                  </a:cubicBezTo>
                </a:path>
              </a:pathLst>
            </a:custGeom>
            <a:noFill/>
            <a:ln w="22225" cap="rnd" cmpd="sng">
              <a:solidFill>
                <a:srgbClr val="5A5A5A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1018;p9">
            <a:extLst>
              <a:ext uri="{FF2B5EF4-FFF2-40B4-BE49-F238E27FC236}">
                <a16:creationId xmlns:a16="http://schemas.microsoft.com/office/drawing/2014/main" id="{EB37972C-8518-C137-807E-7CC86F07CE8E}"/>
              </a:ext>
            </a:extLst>
          </p:cNvPr>
          <p:cNvSpPr txBox="1"/>
          <p:nvPr/>
        </p:nvSpPr>
        <p:spPr>
          <a:xfrm>
            <a:off x="3955111" y="3598274"/>
            <a:ext cx="2065827" cy="66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1" i="0" u="none" strike="noStrike" cap="none" dirty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Video Upload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1019;p9">
            <a:extLst>
              <a:ext uri="{FF2B5EF4-FFF2-40B4-BE49-F238E27FC236}">
                <a16:creationId xmlns:a16="http://schemas.microsoft.com/office/drawing/2014/main" id="{C37B5AD7-D1F8-EFC4-011C-5C10D928B04A}"/>
              </a:ext>
            </a:extLst>
          </p:cNvPr>
          <p:cNvSpPr/>
          <p:nvPr/>
        </p:nvSpPr>
        <p:spPr>
          <a:xfrm>
            <a:off x="6369227" y="3644924"/>
            <a:ext cx="2352600" cy="3199430"/>
          </a:xfrm>
          <a:prstGeom prst="roundRect">
            <a:avLst>
              <a:gd name="adj" fmla="val 4522"/>
            </a:avLst>
          </a:prstGeom>
          <a:noFill/>
          <a:ln w="19050" cap="flat" cmpd="sng">
            <a:solidFill>
              <a:srgbClr val="4890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1020;p9">
            <a:extLst>
              <a:ext uri="{FF2B5EF4-FFF2-40B4-BE49-F238E27FC236}">
                <a16:creationId xmlns:a16="http://schemas.microsoft.com/office/drawing/2014/main" id="{7C72142F-8E74-B287-4C91-F81F317FF390}"/>
              </a:ext>
            </a:extLst>
          </p:cNvPr>
          <p:cNvCxnSpPr/>
          <p:nvPr/>
        </p:nvCxnSpPr>
        <p:spPr>
          <a:xfrm>
            <a:off x="5012162" y="3289877"/>
            <a:ext cx="6964" cy="434398"/>
          </a:xfrm>
          <a:prstGeom prst="straightConnector1">
            <a:avLst/>
          </a:prstGeom>
          <a:noFill/>
          <a:ln w="19050" cap="flat" cmpd="sng">
            <a:solidFill>
              <a:srgbClr val="4890E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4" name="Google Shape;1021;p9">
            <a:extLst>
              <a:ext uri="{FF2B5EF4-FFF2-40B4-BE49-F238E27FC236}">
                <a16:creationId xmlns:a16="http://schemas.microsoft.com/office/drawing/2014/main" id="{D882BF7D-75D7-7314-8AF4-D0CD34514B57}"/>
              </a:ext>
            </a:extLst>
          </p:cNvPr>
          <p:cNvGrpSpPr/>
          <p:nvPr/>
        </p:nvGrpSpPr>
        <p:grpSpPr>
          <a:xfrm>
            <a:off x="4084719" y="1744041"/>
            <a:ext cx="1839087" cy="1832821"/>
            <a:chOff x="3852378" y="601041"/>
            <a:chExt cx="1839087" cy="1832821"/>
          </a:xfrm>
        </p:grpSpPr>
        <p:sp>
          <p:nvSpPr>
            <p:cNvPr id="95" name="Google Shape;1022;p9">
              <a:extLst>
                <a:ext uri="{FF2B5EF4-FFF2-40B4-BE49-F238E27FC236}">
                  <a16:creationId xmlns:a16="http://schemas.microsoft.com/office/drawing/2014/main" id="{83116E81-5013-C772-528E-859D9DAE423C}"/>
                </a:ext>
              </a:extLst>
            </p:cNvPr>
            <p:cNvSpPr/>
            <p:nvPr/>
          </p:nvSpPr>
          <p:spPr>
            <a:xfrm rot="-8100000">
              <a:off x="4127054" y="869451"/>
              <a:ext cx="1296000" cy="1296000"/>
            </a:xfrm>
            <a:custGeom>
              <a:avLst/>
              <a:gdLst/>
              <a:ahLst/>
              <a:cxnLst/>
              <a:rect l="l" t="t" r="r" b="b"/>
              <a:pathLst>
                <a:path w="1296000" h="1296000" extrusionOk="0">
                  <a:moveTo>
                    <a:pt x="1296000" y="648000"/>
                  </a:moveTo>
                  <a:cubicBezTo>
                    <a:pt x="1296000" y="1005881"/>
                    <a:pt x="1005881" y="1296000"/>
                    <a:pt x="648000" y="1296000"/>
                  </a:cubicBezTo>
                  <a:cubicBezTo>
                    <a:pt x="290119" y="1296000"/>
                    <a:pt x="0" y="1005881"/>
                    <a:pt x="0" y="648000"/>
                  </a:cubicBezTo>
                  <a:cubicBezTo>
                    <a:pt x="0" y="290119"/>
                    <a:pt x="290119" y="0"/>
                    <a:pt x="648000" y="0"/>
                  </a:cubicBezTo>
                </a:path>
              </a:pathLst>
            </a:custGeom>
            <a:noFill/>
            <a:ln w="19050" cap="flat" cmpd="sng">
              <a:solidFill>
                <a:srgbClr val="4890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1023;p9">
              <a:extLst>
                <a:ext uri="{FF2B5EF4-FFF2-40B4-BE49-F238E27FC236}">
                  <a16:creationId xmlns:a16="http://schemas.microsoft.com/office/drawing/2014/main" id="{7011410C-326F-CB59-0C30-DB31742D0A9C}"/>
                </a:ext>
              </a:extLst>
            </p:cNvPr>
            <p:cNvSpPr/>
            <p:nvPr/>
          </p:nvSpPr>
          <p:spPr>
            <a:xfrm>
              <a:off x="4205701" y="949094"/>
              <a:ext cx="1136096" cy="1136149"/>
            </a:xfrm>
            <a:prstGeom prst="flowChartConnector">
              <a:avLst/>
            </a:prstGeom>
            <a:solidFill>
              <a:srgbClr val="489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1024;p9">
              <a:extLst>
                <a:ext uri="{FF2B5EF4-FFF2-40B4-BE49-F238E27FC236}">
                  <a16:creationId xmlns:a16="http://schemas.microsoft.com/office/drawing/2014/main" id="{8363289D-3C96-34BF-BBB9-0860D4221D7A}"/>
                </a:ext>
              </a:extLst>
            </p:cNvPr>
            <p:cNvSpPr/>
            <p:nvPr/>
          </p:nvSpPr>
          <p:spPr>
            <a:xfrm rot="10800000">
              <a:off x="4278839" y="1022235"/>
              <a:ext cx="989821" cy="989867"/>
            </a:xfrm>
            <a:prstGeom prst="flowChartConnector">
              <a:avLst/>
            </a:prstGeom>
            <a:gradFill>
              <a:gsLst>
                <a:gs pos="0">
                  <a:srgbClr val="FFFFFF"/>
                </a:gs>
                <a:gs pos="100000">
                  <a:srgbClr val="B9B9B9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1025;p9">
              <a:extLst>
                <a:ext uri="{FF2B5EF4-FFF2-40B4-BE49-F238E27FC236}">
                  <a16:creationId xmlns:a16="http://schemas.microsoft.com/office/drawing/2014/main" id="{3C0921F2-53DF-B24A-1D08-17F762839A27}"/>
                </a:ext>
              </a:extLst>
            </p:cNvPr>
            <p:cNvSpPr/>
            <p:nvPr/>
          </p:nvSpPr>
          <p:spPr>
            <a:xfrm rot="10800000">
              <a:off x="4305497" y="1048899"/>
              <a:ext cx="941147" cy="941190"/>
            </a:xfrm>
            <a:prstGeom prst="flowChartConnector">
              <a:avLst/>
            </a:prstGeom>
            <a:solidFill>
              <a:srgbClr val="F3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" name="Google Shape;1026;p9">
              <a:extLst>
                <a:ext uri="{FF2B5EF4-FFF2-40B4-BE49-F238E27FC236}">
                  <a16:creationId xmlns:a16="http://schemas.microsoft.com/office/drawing/2014/main" id="{28844907-2C29-7BA5-45DC-992699AECCAA}"/>
                </a:ext>
              </a:extLst>
            </p:cNvPr>
            <p:cNvGrpSpPr/>
            <p:nvPr/>
          </p:nvGrpSpPr>
          <p:grpSpPr>
            <a:xfrm>
              <a:off x="4731786" y="2109252"/>
              <a:ext cx="110297" cy="110306"/>
              <a:chOff x="4628811" y="2293037"/>
              <a:chExt cx="141937" cy="141942"/>
            </a:xfrm>
          </p:grpSpPr>
          <p:sp>
            <p:nvSpPr>
              <p:cNvPr id="101" name="Google Shape;1027;p9">
                <a:extLst>
                  <a:ext uri="{FF2B5EF4-FFF2-40B4-BE49-F238E27FC236}">
                    <a16:creationId xmlns:a16="http://schemas.microsoft.com/office/drawing/2014/main" id="{5B265521-F004-6588-6AB6-49A69D9A215B}"/>
                  </a:ext>
                </a:extLst>
              </p:cNvPr>
              <p:cNvSpPr/>
              <p:nvPr/>
            </p:nvSpPr>
            <p:spPr>
              <a:xfrm rot="10800000" flipH="1">
                <a:off x="4628811" y="2293037"/>
                <a:ext cx="141937" cy="141942"/>
              </a:xfrm>
              <a:prstGeom prst="flowChartConnector">
                <a:avLst/>
              </a:prstGeom>
              <a:solidFill>
                <a:srgbClr val="FFFFFF"/>
              </a:solidFill>
              <a:ln w="19050" cap="flat" cmpd="sng">
                <a:solidFill>
                  <a:srgbClr val="4890E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8;p9">
                <a:extLst>
                  <a:ext uri="{FF2B5EF4-FFF2-40B4-BE49-F238E27FC236}">
                    <a16:creationId xmlns:a16="http://schemas.microsoft.com/office/drawing/2014/main" id="{08041C11-A717-F95E-655E-B5C35AFA3E94}"/>
                  </a:ext>
                </a:extLst>
              </p:cNvPr>
              <p:cNvSpPr/>
              <p:nvPr/>
            </p:nvSpPr>
            <p:spPr>
              <a:xfrm rot="10800000" flipH="1">
                <a:off x="4659564" y="2323792"/>
                <a:ext cx="80429" cy="80433"/>
              </a:xfrm>
              <a:prstGeom prst="flowChartConnector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" name="Google Shape;1029;p9">
              <a:extLst>
                <a:ext uri="{FF2B5EF4-FFF2-40B4-BE49-F238E27FC236}">
                  <a16:creationId xmlns:a16="http://schemas.microsoft.com/office/drawing/2014/main" id="{04EDB617-263A-82B1-C7E1-50FA72A96A35}"/>
                </a:ext>
              </a:extLst>
            </p:cNvPr>
            <p:cNvSpPr/>
            <p:nvPr/>
          </p:nvSpPr>
          <p:spPr>
            <a:xfrm rot="-2552177">
              <a:off x="3986181" y="1177421"/>
              <a:ext cx="648000" cy="648064"/>
            </a:xfrm>
            <a:custGeom>
              <a:avLst/>
              <a:gdLst/>
              <a:ahLst/>
              <a:cxnLst/>
              <a:rect l="l" t="t" r="r" b="b"/>
              <a:pathLst>
                <a:path w="648000" h="648000" extrusionOk="0">
                  <a:moveTo>
                    <a:pt x="0" y="648000"/>
                  </a:moveTo>
                  <a:cubicBezTo>
                    <a:pt x="0" y="290119"/>
                    <a:pt x="290119" y="0"/>
                    <a:pt x="648000" y="0"/>
                  </a:cubicBezTo>
                </a:path>
              </a:pathLst>
            </a:custGeom>
            <a:noFill/>
            <a:ln w="22225" cap="rnd" cmpd="sng">
              <a:solidFill>
                <a:srgbClr val="4890E4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0;p9">
            <a:extLst>
              <a:ext uri="{FF2B5EF4-FFF2-40B4-BE49-F238E27FC236}">
                <a16:creationId xmlns:a16="http://schemas.microsoft.com/office/drawing/2014/main" id="{D84BA241-EB16-8581-F276-F43B628FB9EC}"/>
              </a:ext>
            </a:extLst>
          </p:cNvPr>
          <p:cNvSpPr txBox="1"/>
          <p:nvPr/>
        </p:nvSpPr>
        <p:spPr>
          <a:xfrm>
            <a:off x="1069086" y="3585909"/>
            <a:ext cx="2065827" cy="6671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1" i="0" u="none" strike="noStrike" cap="none" dirty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UX/UI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31;p9">
            <a:extLst>
              <a:ext uri="{FF2B5EF4-FFF2-40B4-BE49-F238E27FC236}">
                <a16:creationId xmlns:a16="http://schemas.microsoft.com/office/drawing/2014/main" id="{284A9B96-07C4-4868-BF5F-E65701F14C0A}"/>
              </a:ext>
            </a:extLst>
          </p:cNvPr>
          <p:cNvSpPr/>
          <p:nvPr/>
        </p:nvSpPr>
        <p:spPr>
          <a:xfrm>
            <a:off x="905665" y="3659167"/>
            <a:ext cx="2352600" cy="3185211"/>
          </a:xfrm>
          <a:prstGeom prst="roundRect">
            <a:avLst>
              <a:gd name="adj" fmla="val 4522"/>
            </a:avLst>
          </a:prstGeom>
          <a:noFill/>
          <a:ln w="19050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32;p9">
            <a:extLst>
              <a:ext uri="{FF2B5EF4-FFF2-40B4-BE49-F238E27FC236}">
                <a16:creationId xmlns:a16="http://schemas.microsoft.com/office/drawing/2014/main" id="{DA87B6FA-8E3F-E641-20A0-639A817F3545}"/>
              </a:ext>
            </a:extLst>
          </p:cNvPr>
          <p:cNvCxnSpPr/>
          <p:nvPr/>
        </p:nvCxnSpPr>
        <p:spPr>
          <a:xfrm>
            <a:off x="2113836" y="3289877"/>
            <a:ext cx="6964" cy="434398"/>
          </a:xfrm>
          <a:prstGeom prst="straightConnector1">
            <a:avLst/>
          </a:prstGeom>
          <a:noFill/>
          <a:ln w="19050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33;p9">
            <a:extLst>
              <a:ext uri="{FF2B5EF4-FFF2-40B4-BE49-F238E27FC236}">
                <a16:creationId xmlns:a16="http://schemas.microsoft.com/office/drawing/2014/main" id="{3AED3B22-CCBB-4E73-E0C5-C4B9FFF80D05}"/>
              </a:ext>
            </a:extLst>
          </p:cNvPr>
          <p:cNvSpPr txBox="1"/>
          <p:nvPr/>
        </p:nvSpPr>
        <p:spPr>
          <a:xfrm>
            <a:off x="1028140" y="4095790"/>
            <a:ext cx="2270100" cy="13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0"/>
                  </a:ext>
                </a:extLst>
              </a:rPr>
              <a:t>User</a:t>
            </a:r>
            <a:r>
              <a:rPr lang="en-US" sz="1600" dirty="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1"/>
                  </a:ext>
                </a:extLst>
              </a:rPr>
              <a:t>-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2"/>
                  </a:ext>
                </a:extLst>
              </a:rPr>
              <a:t>suggested UI changes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3"/>
                </a:ext>
              </a:extLst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dirty="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4"/>
                  </a:ext>
                </a:extLst>
              </a:rPr>
              <a:t>I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5"/>
                  </a:ext>
                </a:extLst>
              </a:rPr>
              <a:t>ncorporate these changes in every feature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34;p9">
            <a:extLst>
              <a:ext uri="{FF2B5EF4-FFF2-40B4-BE49-F238E27FC236}">
                <a16:creationId xmlns:a16="http://schemas.microsoft.com/office/drawing/2014/main" id="{38DAD907-846D-41E5-8641-CA1B45015C55}"/>
              </a:ext>
            </a:extLst>
          </p:cNvPr>
          <p:cNvGrpSpPr/>
          <p:nvPr/>
        </p:nvGrpSpPr>
        <p:grpSpPr>
          <a:xfrm>
            <a:off x="1186393" y="1744041"/>
            <a:ext cx="1839087" cy="1832821"/>
            <a:chOff x="3852378" y="601041"/>
            <a:chExt cx="1839087" cy="1832821"/>
          </a:xfrm>
        </p:grpSpPr>
        <p:sp>
          <p:nvSpPr>
            <p:cNvPr id="108" name="Google Shape;1035;p9">
              <a:extLst>
                <a:ext uri="{FF2B5EF4-FFF2-40B4-BE49-F238E27FC236}">
                  <a16:creationId xmlns:a16="http://schemas.microsoft.com/office/drawing/2014/main" id="{04D619C2-DCD7-C42A-33C3-FEE837797BAD}"/>
                </a:ext>
              </a:extLst>
            </p:cNvPr>
            <p:cNvSpPr/>
            <p:nvPr/>
          </p:nvSpPr>
          <p:spPr>
            <a:xfrm rot="-8100000">
              <a:off x="4127054" y="869451"/>
              <a:ext cx="1296000" cy="1296000"/>
            </a:xfrm>
            <a:custGeom>
              <a:avLst/>
              <a:gdLst/>
              <a:ahLst/>
              <a:cxnLst/>
              <a:rect l="l" t="t" r="r" b="b"/>
              <a:pathLst>
                <a:path w="1296000" h="1296000" extrusionOk="0">
                  <a:moveTo>
                    <a:pt x="1296000" y="648000"/>
                  </a:moveTo>
                  <a:cubicBezTo>
                    <a:pt x="1296000" y="1005881"/>
                    <a:pt x="1005881" y="1296000"/>
                    <a:pt x="648000" y="1296000"/>
                  </a:cubicBezTo>
                  <a:cubicBezTo>
                    <a:pt x="290119" y="1296000"/>
                    <a:pt x="0" y="1005881"/>
                    <a:pt x="0" y="648000"/>
                  </a:cubicBezTo>
                  <a:cubicBezTo>
                    <a:pt x="0" y="290119"/>
                    <a:pt x="290119" y="0"/>
                    <a:pt x="648000" y="0"/>
                  </a:cubicBezTo>
                </a:path>
              </a:pathLst>
            </a:custGeom>
            <a:noFill/>
            <a:ln w="19050" cap="flat" cmpd="sng">
              <a:solidFill>
                <a:srgbClr val="F4A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36;p9">
              <a:extLst>
                <a:ext uri="{FF2B5EF4-FFF2-40B4-BE49-F238E27FC236}">
                  <a16:creationId xmlns:a16="http://schemas.microsoft.com/office/drawing/2014/main" id="{C17A5ED1-47A1-A68E-D59B-F0A2FF69526C}"/>
                </a:ext>
              </a:extLst>
            </p:cNvPr>
            <p:cNvSpPr/>
            <p:nvPr/>
          </p:nvSpPr>
          <p:spPr>
            <a:xfrm>
              <a:off x="4205701" y="949094"/>
              <a:ext cx="1136096" cy="1136149"/>
            </a:xfrm>
            <a:prstGeom prst="flowChartConnector">
              <a:avLst/>
            </a:prstGeom>
            <a:solidFill>
              <a:srgbClr val="F4AB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037;p9">
              <a:extLst>
                <a:ext uri="{FF2B5EF4-FFF2-40B4-BE49-F238E27FC236}">
                  <a16:creationId xmlns:a16="http://schemas.microsoft.com/office/drawing/2014/main" id="{43526E8D-FAFB-A9AF-0318-83E7222693F9}"/>
                </a:ext>
              </a:extLst>
            </p:cNvPr>
            <p:cNvSpPr/>
            <p:nvPr/>
          </p:nvSpPr>
          <p:spPr>
            <a:xfrm rot="10800000">
              <a:off x="4278839" y="1022235"/>
              <a:ext cx="989821" cy="989867"/>
            </a:xfrm>
            <a:prstGeom prst="flowChartConnector">
              <a:avLst/>
            </a:prstGeom>
            <a:gradFill>
              <a:gsLst>
                <a:gs pos="0">
                  <a:srgbClr val="FFFFFF"/>
                </a:gs>
                <a:gs pos="100000">
                  <a:srgbClr val="B9B9B9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038;p9">
              <a:extLst>
                <a:ext uri="{FF2B5EF4-FFF2-40B4-BE49-F238E27FC236}">
                  <a16:creationId xmlns:a16="http://schemas.microsoft.com/office/drawing/2014/main" id="{8EF4840B-6D52-4EFB-1380-28C9AEB87838}"/>
                </a:ext>
              </a:extLst>
            </p:cNvPr>
            <p:cNvSpPr/>
            <p:nvPr/>
          </p:nvSpPr>
          <p:spPr>
            <a:xfrm rot="10800000">
              <a:off x="4305497" y="1048899"/>
              <a:ext cx="941147" cy="941190"/>
            </a:xfrm>
            <a:prstGeom prst="flowChartConnector">
              <a:avLst/>
            </a:prstGeom>
            <a:solidFill>
              <a:srgbClr val="F3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" name="Google Shape;1039;p9">
              <a:extLst>
                <a:ext uri="{FF2B5EF4-FFF2-40B4-BE49-F238E27FC236}">
                  <a16:creationId xmlns:a16="http://schemas.microsoft.com/office/drawing/2014/main" id="{0997D8C5-491F-30B2-2E4D-03FF8D6A4427}"/>
                </a:ext>
              </a:extLst>
            </p:cNvPr>
            <p:cNvGrpSpPr/>
            <p:nvPr/>
          </p:nvGrpSpPr>
          <p:grpSpPr>
            <a:xfrm>
              <a:off x="4731786" y="2109252"/>
              <a:ext cx="110297" cy="110306"/>
              <a:chOff x="4628811" y="2293037"/>
              <a:chExt cx="141937" cy="141942"/>
            </a:xfrm>
          </p:grpSpPr>
          <p:sp>
            <p:nvSpPr>
              <p:cNvPr id="114" name="Google Shape;1040;p9">
                <a:extLst>
                  <a:ext uri="{FF2B5EF4-FFF2-40B4-BE49-F238E27FC236}">
                    <a16:creationId xmlns:a16="http://schemas.microsoft.com/office/drawing/2014/main" id="{886B158C-7F41-59B4-05A5-EF74E8E75FA6}"/>
                  </a:ext>
                </a:extLst>
              </p:cNvPr>
              <p:cNvSpPr/>
              <p:nvPr/>
            </p:nvSpPr>
            <p:spPr>
              <a:xfrm rot="10800000" flipH="1">
                <a:off x="4628811" y="2293037"/>
                <a:ext cx="141937" cy="141942"/>
              </a:xfrm>
              <a:prstGeom prst="flowChartConnector">
                <a:avLst/>
              </a:prstGeom>
              <a:solidFill>
                <a:srgbClr val="FFFFFF"/>
              </a:solidFill>
              <a:ln w="19050" cap="flat" cmpd="sng">
                <a:solidFill>
                  <a:srgbClr val="F4AB3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041;p9">
                <a:extLst>
                  <a:ext uri="{FF2B5EF4-FFF2-40B4-BE49-F238E27FC236}">
                    <a16:creationId xmlns:a16="http://schemas.microsoft.com/office/drawing/2014/main" id="{A88020B2-E7C1-871F-3A58-36E2A81740F8}"/>
                  </a:ext>
                </a:extLst>
              </p:cNvPr>
              <p:cNvSpPr/>
              <p:nvPr/>
            </p:nvSpPr>
            <p:spPr>
              <a:xfrm rot="10800000" flipH="1">
                <a:off x="4659564" y="2323792"/>
                <a:ext cx="80429" cy="80433"/>
              </a:xfrm>
              <a:prstGeom prst="flowChartConnector">
                <a:avLst/>
              </a:prstGeom>
              <a:solidFill>
                <a:srgbClr val="F4873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" name="Google Shape;1042;p9">
              <a:extLst>
                <a:ext uri="{FF2B5EF4-FFF2-40B4-BE49-F238E27FC236}">
                  <a16:creationId xmlns:a16="http://schemas.microsoft.com/office/drawing/2014/main" id="{99F06BED-D273-C39F-4D66-9CA8ED050D98}"/>
                </a:ext>
              </a:extLst>
            </p:cNvPr>
            <p:cNvSpPr/>
            <p:nvPr/>
          </p:nvSpPr>
          <p:spPr>
            <a:xfrm rot="-2552177">
              <a:off x="3986181" y="1177421"/>
              <a:ext cx="648000" cy="648064"/>
            </a:xfrm>
            <a:custGeom>
              <a:avLst/>
              <a:gdLst/>
              <a:ahLst/>
              <a:cxnLst/>
              <a:rect l="l" t="t" r="r" b="b"/>
              <a:pathLst>
                <a:path w="648000" h="648000" extrusionOk="0">
                  <a:moveTo>
                    <a:pt x="0" y="648000"/>
                  </a:moveTo>
                  <a:cubicBezTo>
                    <a:pt x="0" y="290119"/>
                    <a:pt x="290119" y="0"/>
                    <a:pt x="648000" y="0"/>
                  </a:cubicBezTo>
                </a:path>
              </a:pathLst>
            </a:custGeom>
            <a:noFill/>
            <a:ln w="22225" cap="rnd" cmpd="sng">
              <a:solidFill>
                <a:srgbClr val="F4AB35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043;p9">
            <a:extLst>
              <a:ext uri="{FF2B5EF4-FFF2-40B4-BE49-F238E27FC236}">
                <a16:creationId xmlns:a16="http://schemas.microsoft.com/office/drawing/2014/main" id="{D7327BDF-8AF3-0AD6-5BF6-CAFAC37B91C2}"/>
              </a:ext>
            </a:extLst>
          </p:cNvPr>
          <p:cNvSpPr txBox="1"/>
          <p:nvPr/>
        </p:nvSpPr>
        <p:spPr>
          <a:xfrm>
            <a:off x="1262153" y="1302018"/>
            <a:ext cx="9779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USER FEEDBACK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044;p9">
            <a:extLst>
              <a:ext uri="{FF2B5EF4-FFF2-40B4-BE49-F238E27FC236}">
                <a16:creationId xmlns:a16="http://schemas.microsoft.com/office/drawing/2014/main" id="{C7C39D62-E933-E970-2BC8-C8C570231F2E}"/>
              </a:ext>
            </a:extLst>
          </p:cNvPr>
          <p:cNvSpPr txBox="1"/>
          <p:nvPr/>
        </p:nvSpPr>
        <p:spPr>
          <a:xfrm>
            <a:off x="1920344" y="2395117"/>
            <a:ext cx="3999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045;p9">
            <a:extLst>
              <a:ext uri="{FF2B5EF4-FFF2-40B4-BE49-F238E27FC236}">
                <a16:creationId xmlns:a16="http://schemas.microsoft.com/office/drawing/2014/main" id="{80E1B977-9003-79D4-6E1A-70B60C3163D1}"/>
              </a:ext>
            </a:extLst>
          </p:cNvPr>
          <p:cNvSpPr txBox="1"/>
          <p:nvPr/>
        </p:nvSpPr>
        <p:spPr>
          <a:xfrm>
            <a:off x="4818670" y="2395117"/>
            <a:ext cx="3999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046;p9">
            <a:extLst>
              <a:ext uri="{FF2B5EF4-FFF2-40B4-BE49-F238E27FC236}">
                <a16:creationId xmlns:a16="http://schemas.microsoft.com/office/drawing/2014/main" id="{E01CD03E-74E1-8667-BC96-555F0D7B7DFB}"/>
              </a:ext>
            </a:extLst>
          </p:cNvPr>
          <p:cNvSpPr txBox="1"/>
          <p:nvPr/>
        </p:nvSpPr>
        <p:spPr>
          <a:xfrm>
            <a:off x="7188459" y="2395117"/>
            <a:ext cx="3999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047;p9">
            <a:extLst>
              <a:ext uri="{FF2B5EF4-FFF2-40B4-BE49-F238E27FC236}">
                <a16:creationId xmlns:a16="http://schemas.microsoft.com/office/drawing/2014/main" id="{5F2A16B0-B0F3-431A-3801-4CCB916B0ABD}"/>
              </a:ext>
            </a:extLst>
          </p:cNvPr>
          <p:cNvSpPr txBox="1"/>
          <p:nvPr/>
        </p:nvSpPr>
        <p:spPr>
          <a:xfrm>
            <a:off x="9867092" y="2395117"/>
            <a:ext cx="3999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048;p9">
            <a:extLst>
              <a:ext uri="{FF2B5EF4-FFF2-40B4-BE49-F238E27FC236}">
                <a16:creationId xmlns:a16="http://schemas.microsoft.com/office/drawing/2014/main" id="{03FCA643-ADE5-D405-CD4D-22C46712E3A3}"/>
              </a:ext>
            </a:extLst>
          </p:cNvPr>
          <p:cNvSpPr txBox="1"/>
          <p:nvPr/>
        </p:nvSpPr>
        <p:spPr>
          <a:xfrm>
            <a:off x="3881553" y="4076429"/>
            <a:ext cx="22701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6"/>
                  </a:ext>
                </a:extLst>
              </a:rPr>
              <a:t>Users do not have enough bandwidth for video uploads</a:t>
            </a:r>
            <a:endParaRPr sz="16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7"/>
                </a:ext>
              </a:extLst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dirty="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8"/>
                  </a:ext>
                </a:extLst>
              </a:rPr>
              <a:t>T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9"/>
                  </a:ext>
                </a:extLst>
              </a:rPr>
              <a:t>ime and resources were wasted </a:t>
            </a:r>
            <a:r>
              <a:rPr lang="en-US" sz="1600" dirty="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0"/>
                  </a:ext>
                </a:extLst>
              </a:rPr>
              <a:t>on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1"/>
                  </a:ext>
                </a:extLst>
              </a:rPr>
              <a:t> this feature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049;p9">
            <a:extLst>
              <a:ext uri="{FF2B5EF4-FFF2-40B4-BE49-F238E27FC236}">
                <a16:creationId xmlns:a16="http://schemas.microsoft.com/office/drawing/2014/main" id="{9D153E67-164D-7B03-7C97-CB2354E0369C}"/>
              </a:ext>
            </a:extLst>
          </p:cNvPr>
          <p:cNvSpPr txBox="1"/>
          <p:nvPr/>
        </p:nvSpPr>
        <p:spPr>
          <a:xfrm>
            <a:off x="8953063" y="4014549"/>
            <a:ext cx="22701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Users want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the option for sharing images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that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we </a:t>
            </a:r>
            <a:r>
              <a:rPr lang="en-US" sz="1600" b="1" i="0" u="none" strike="noStrike" cap="none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discarded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during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600" b="1" i="0" u="none" strike="noStrike" cap="none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research phase</a:t>
            </a:r>
            <a:endParaRPr sz="1600" b="1" i="0" u="none" strike="noStrike" cap="none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7458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54;p10">
            <a:extLst>
              <a:ext uri="{FF2B5EF4-FFF2-40B4-BE49-F238E27FC236}">
                <a16:creationId xmlns:a16="http://schemas.microsoft.com/office/drawing/2014/main" id="{503F1615-3B61-3F26-0C1C-087D1C24B5D8}"/>
              </a:ext>
            </a:extLst>
          </p:cNvPr>
          <p:cNvSpPr txBox="1"/>
          <p:nvPr/>
        </p:nvSpPr>
        <p:spPr>
          <a:xfrm>
            <a:off x="6385826" y="2783383"/>
            <a:ext cx="21834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Six</a:t>
            </a:r>
            <a:r>
              <a:rPr lang="en-US" sz="1800" b="0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th Month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Profile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Like button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055;p10">
            <a:extLst>
              <a:ext uri="{FF2B5EF4-FFF2-40B4-BE49-F238E27FC236}">
                <a16:creationId xmlns:a16="http://schemas.microsoft.com/office/drawing/2014/main" id="{DCDCDAC7-0C2F-512A-CA2D-6D16737C8AB1}"/>
              </a:ext>
            </a:extLst>
          </p:cNvPr>
          <p:cNvSpPr/>
          <p:nvPr/>
        </p:nvSpPr>
        <p:spPr>
          <a:xfrm>
            <a:off x="9030894" y="1926729"/>
            <a:ext cx="2384512" cy="799926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rgbClr val="23AE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056;p10">
            <a:extLst>
              <a:ext uri="{FF2B5EF4-FFF2-40B4-BE49-F238E27FC236}">
                <a16:creationId xmlns:a16="http://schemas.microsoft.com/office/drawing/2014/main" id="{0804C1B7-12A2-58DE-14A5-0A29CF355ECB}"/>
              </a:ext>
            </a:extLst>
          </p:cNvPr>
          <p:cNvSpPr/>
          <p:nvPr/>
        </p:nvSpPr>
        <p:spPr>
          <a:xfrm flipH="1">
            <a:off x="9039792" y="1912398"/>
            <a:ext cx="2383946" cy="4432820"/>
          </a:xfrm>
          <a:custGeom>
            <a:avLst/>
            <a:gdLst/>
            <a:ahLst/>
            <a:cxnLst/>
            <a:rect l="l" t="t" r="r" b="b"/>
            <a:pathLst>
              <a:path w="2383946" h="5627610" extrusionOk="0">
                <a:moveTo>
                  <a:pt x="2372678" y="1752411"/>
                </a:moveTo>
                <a:cubicBezTo>
                  <a:pt x="2376271" y="2998473"/>
                  <a:pt x="2379865" y="4258824"/>
                  <a:pt x="2383458" y="5504886"/>
                </a:cubicBezTo>
                <a:cubicBezTo>
                  <a:pt x="2383458" y="5572665"/>
                  <a:pt x="2328513" y="5627610"/>
                  <a:pt x="2260734" y="5627610"/>
                </a:cubicBezTo>
                <a:lnTo>
                  <a:pt x="122724" y="5627610"/>
                </a:lnTo>
                <a:cubicBezTo>
                  <a:pt x="54945" y="5627610"/>
                  <a:pt x="0" y="5572665"/>
                  <a:pt x="0" y="5504886"/>
                </a:cubicBezTo>
                <a:lnTo>
                  <a:pt x="0" y="122724"/>
                </a:lnTo>
                <a:cubicBezTo>
                  <a:pt x="0" y="54945"/>
                  <a:pt x="54945" y="0"/>
                  <a:pt x="122724" y="0"/>
                </a:cubicBezTo>
                <a:lnTo>
                  <a:pt x="2260734" y="0"/>
                </a:lnTo>
                <a:cubicBezTo>
                  <a:pt x="2328513" y="0"/>
                  <a:pt x="2383458" y="54945"/>
                  <a:pt x="2383458" y="122724"/>
                </a:cubicBezTo>
                <a:cubicBezTo>
                  <a:pt x="2386391" y="498594"/>
                  <a:pt x="2375037" y="936377"/>
                  <a:pt x="2377970" y="1312247"/>
                </a:cubicBezTo>
              </a:path>
            </a:pathLst>
          </a:custGeom>
          <a:noFill/>
          <a:ln w="63500" cap="rnd" cmpd="sng">
            <a:solidFill>
              <a:srgbClr val="23AE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057;p10">
            <a:extLst>
              <a:ext uri="{FF2B5EF4-FFF2-40B4-BE49-F238E27FC236}">
                <a16:creationId xmlns:a16="http://schemas.microsoft.com/office/drawing/2014/main" id="{FA173D40-A764-E5C6-401B-0E75C53AD4D1}"/>
              </a:ext>
            </a:extLst>
          </p:cNvPr>
          <p:cNvSpPr/>
          <p:nvPr/>
        </p:nvSpPr>
        <p:spPr>
          <a:xfrm>
            <a:off x="9284867" y="1972749"/>
            <a:ext cx="1876567" cy="707886"/>
          </a:xfrm>
          <a:prstGeom prst="rect">
            <a:avLst/>
          </a:prstGeom>
          <a:solidFill>
            <a:srgbClr val="23AE73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Fourth Iteration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058;p10">
            <a:extLst>
              <a:ext uri="{FF2B5EF4-FFF2-40B4-BE49-F238E27FC236}">
                <a16:creationId xmlns:a16="http://schemas.microsoft.com/office/drawing/2014/main" id="{E84A8B1A-6C7E-19F2-DC08-DB279EB7BCB7}"/>
              </a:ext>
            </a:extLst>
          </p:cNvPr>
          <p:cNvSpPr/>
          <p:nvPr/>
        </p:nvSpPr>
        <p:spPr>
          <a:xfrm>
            <a:off x="6275722" y="1927254"/>
            <a:ext cx="2384512" cy="799926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059;p10">
            <a:extLst>
              <a:ext uri="{FF2B5EF4-FFF2-40B4-BE49-F238E27FC236}">
                <a16:creationId xmlns:a16="http://schemas.microsoft.com/office/drawing/2014/main" id="{03CA3B1A-1F99-8355-1810-35FF4CA446C5}"/>
              </a:ext>
            </a:extLst>
          </p:cNvPr>
          <p:cNvSpPr/>
          <p:nvPr/>
        </p:nvSpPr>
        <p:spPr>
          <a:xfrm>
            <a:off x="6264239" y="3452052"/>
            <a:ext cx="2757481" cy="2893166"/>
          </a:xfrm>
          <a:custGeom>
            <a:avLst/>
            <a:gdLst/>
            <a:ahLst/>
            <a:cxnLst/>
            <a:rect l="l" t="t" r="r" b="b"/>
            <a:pathLst>
              <a:path w="2757481" h="4088483" extrusionOk="0">
                <a:moveTo>
                  <a:pt x="2757481" y="0"/>
                </a:moveTo>
                <a:lnTo>
                  <a:pt x="2389977" y="6649"/>
                </a:lnTo>
                <a:lnTo>
                  <a:pt x="2395995" y="3965759"/>
                </a:lnTo>
                <a:cubicBezTo>
                  <a:pt x="2395995" y="4033538"/>
                  <a:pt x="2341050" y="4088483"/>
                  <a:pt x="2273271" y="4088483"/>
                </a:cubicBezTo>
                <a:lnTo>
                  <a:pt x="135261" y="4088483"/>
                </a:lnTo>
                <a:cubicBezTo>
                  <a:pt x="67482" y="4088483"/>
                  <a:pt x="12537" y="4033538"/>
                  <a:pt x="12537" y="3965759"/>
                </a:cubicBezTo>
                <a:cubicBezTo>
                  <a:pt x="-7917" y="3318172"/>
                  <a:pt x="2812" y="888461"/>
                  <a:pt x="2812" y="232145"/>
                </a:cubicBezTo>
              </a:path>
            </a:pathLst>
          </a:custGeom>
          <a:noFill/>
          <a:ln w="63500" cap="rnd" cmpd="sng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060;p10">
            <a:extLst>
              <a:ext uri="{FF2B5EF4-FFF2-40B4-BE49-F238E27FC236}">
                <a16:creationId xmlns:a16="http://schemas.microsoft.com/office/drawing/2014/main" id="{69557058-036F-68BF-CAC7-2C3AF4C1BB03}"/>
              </a:ext>
            </a:extLst>
          </p:cNvPr>
          <p:cNvSpPr/>
          <p:nvPr/>
        </p:nvSpPr>
        <p:spPr>
          <a:xfrm>
            <a:off x="6320400" y="1903568"/>
            <a:ext cx="2332734" cy="1400460"/>
          </a:xfrm>
          <a:custGeom>
            <a:avLst/>
            <a:gdLst/>
            <a:ahLst/>
            <a:cxnLst/>
            <a:rect l="l" t="t" r="r" b="b"/>
            <a:pathLst>
              <a:path w="2392548" h="1400460" extrusionOk="0">
                <a:moveTo>
                  <a:pt x="9092" y="1304345"/>
                </a:moveTo>
                <a:cubicBezTo>
                  <a:pt x="9092" y="1063634"/>
                  <a:pt x="-11364" y="356328"/>
                  <a:pt x="9090" y="122724"/>
                </a:cubicBezTo>
                <a:cubicBezTo>
                  <a:pt x="9090" y="54945"/>
                  <a:pt x="64035" y="0"/>
                  <a:pt x="131814" y="0"/>
                </a:cubicBezTo>
                <a:lnTo>
                  <a:pt x="2269824" y="0"/>
                </a:lnTo>
                <a:cubicBezTo>
                  <a:pt x="2337603" y="0"/>
                  <a:pt x="2392548" y="54945"/>
                  <a:pt x="2392548" y="122724"/>
                </a:cubicBezTo>
                <a:lnTo>
                  <a:pt x="2387700" y="1400460"/>
                </a:lnTo>
              </a:path>
            </a:pathLst>
          </a:custGeom>
          <a:noFill/>
          <a:ln w="63500" cap="rnd" cmpd="sng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061;p10">
            <a:extLst>
              <a:ext uri="{FF2B5EF4-FFF2-40B4-BE49-F238E27FC236}">
                <a16:creationId xmlns:a16="http://schemas.microsoft.com/office/drawing/2014/main" id="{F7984D18-4C06-2E08-CDAA-685F494A0DE4}"/>
              </a:ext>
            </a:extLst>
          </p:cNvPr>
          <p:cNvSpPr/>
          <p:nvPr/>
        </p:nvSpPr>
        <p:spPr>
          <a:xfrm>
            <a:off x="6529695" y="2126637"/>
            <a:ext cx="187656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Third Iteration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62;p10">
            <a:extLst>
              <a:ext uri="{FF2B5EF4-FFF2-40B4-BE49-F238E27FC236}">
                <a16:creationId xmlns:a16="http://schemas.microsoft.com/office/drawing/2014/main" id="{2BCF71B3-3B5D-A817-5FA6-8BF0E3D8879C}"/>
              </a:ext>
            </a:extLst>
          </p:cNvPr>
          <p:cNvSpPr/>
          <p:nvPr/>
        </p:nvSpPr>
        <p:spPr>
          <a:xfrm>
            <a:off x="8910242" y="3329139"/>
            <a:ext cx="231725" cy="231725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063;p10">
            <a:extLst>
              <a:ext uri="{FF2B5EF4-FFF2-40B4-BE49-F238E27FC236}">
                <a16:creationId xmlns:a16="http://schemas.microsoft.com/office/drawing/2014/main" id="{D0FA5371-64DE-FCFE-351F-888BEC43021A}"/>
              </a:ext>
            </a:extLst>
          </p:cNvPr>
          <p:cNvSpPr/>
          <p:nvPr/>
        </p:nvSpPr>
        <p:spPr>
          <a:xfrm>
            <a:off x="8976449" y="3395346"/>
            <a:ext cx="99311" cy="99311"/>
          </a:xfrm>
          <a:prstGeom prst="ellipse">
            <a:avLst/>
          </a:prstGeom>
          <a:solidFill>
            <a:srgbClr val="23AE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064;p10">
            <a:extLst>
              <a:ext uri="{FF2B5EF4-FFF2-40B4-BE49-F238E27FC236}">
                <a16:creationId xmlns:a16="http://schemas.microsoft.com/office/drawing/2014/main" id="{81C35518-C583-3691-3FB4-C7243D2B3090}"/>
              </a:ext>
            </a:extLst>
          </p:cNvPr>
          <p:cNvSpPr/>
          <p:nvPr/>
        </p:nvSpPr>
        <p:spPr>
          <a:xfrm>
            <a:off x="3511643" y="1926729"/>
            <a:ext cx="2384512" cy="799926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rgbClr val="4890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065;p10">
            <a:extLst>
              <a:ext uri="{FF2B5EF4-FFF2-40B4-BE49-F238E27FC236}">
                <a16:creationId xmlns:a16="http://schemas.microsoft.com/office/drawing/2014/main" id="{640800DF-53C9-2411-7D4F-62EB35A2A08E}"/>
              </a:ext>
            </a:extLst>
          </p:cNvPr>
          <p:cNvSpPr/>
          <p:nvPr/>
        </p:nvSpPr>
        <p:spPr>
          <a:xfrm>
            <a:off x="3500160" y="3457083"/>
            <a:ext cx="2767799" cy="2893166"/>
          </a:xfrm>
          <a:custGeom>
            <a:avLst/>
            <a:gdLst/>
            <a:ahLst/>
            <a:cxnLst/>
            <a:rect l="l" t="t" r="r" b="b"/>
            <a:pathLst>
              <a:path w="2767799" h="4082927" extrusionOk="0">
                <a:moveTo>
                  <a:pt x="2767799" y="0"/>
                </a:moveTo>
                <a:lnTo>
                  <a:pt x="2389977" y="1093"/>
                </a:lnTo>
                <a:lnTo>
                  <a:pt x="2395995" y="3960203"/>
                </a:lnTo>
                <a:cubicBezTo>
                  <a:pt x="2395995" y="4027982"/>
                  <a:pt x="2341050" y="4082927"/>
                  <a:pt x="2273271" y="4082927"/>
                </a:cubicBezTo>
                <a:lnTo>
                  <a:pt x="135261" y="4082927"/>
                </a:lnTo>
                <a:cubicBezTo>
                  <a:pt x="67482" y="4082927"/>
                  <a:pt x="12537" y="4027982"/>
                  <a:pt x="12537" y="3960203"/>
                </a:cubicBezTo>
                <a:cubicBezTo>
                  <a:pt x="-7917" y="3312616"/>
                  <a:pt x="2812" y="882905"/>
                  <a:pt x="2812" y="226589"/>
                </a:cubicBezTo>
              </a:path>
            </a:pathLst>
          </a:custGeom>
          <a:noFill/>
          <a:ln w="63500" cap="rnd" cmpd="sng">
            <a:solidFill>
              <a:srgbClr val="4890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66;p10">
            <a:extLst>
              <a:ext uri="{FF2B5EF4-FFF2-40B4-BE49-F238E27FC236}">
                <a16:creationId xmlns:a16="http://schemas.microsoft.com/office/drawing/2014/main" id="{CD59F4D6-9DE6-DECF-32B2-2FED254799FE}"/>
              </a:ext>
            </a:extLst>
          </p:cNvPr>
          <p:cNvSpPr/>
          <p:nvPr/>
        </p:nvSpPr>
        <p:spPr>
          <a:xfrm>
            <a:off x="3765616" y="1972750"/>
            <a:ext cx="18765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Second Iteration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67;p10">
            <a:extLst>
              <a:ext uri="{FF2B5EF4-FFF2-40B4-BE49-F238E27FC236}">
                <a16:creationId xmlns:a16="http://schemas.microsoft.com/office/drawing/2014/main" id="{B74659F5-8EE1-DA99-C35E-26AAC4849776}"/>
              </a:ext>
            </a:extLst>
          </p:cNvPr>
          <p:cNvSpPr/>
          <p:nvPr/>
        </p:nvSpPr>
        <p:spPr>
          <a:xfrm>
            <a:off x="6146163" y="3328614"/>
            <a:ext cx="231725" cy="231725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4890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1068;p10">
            <a:extLst>
              <a:ext uri="{FF2B5EF4-FFF2-40B4-BE49-F238E27FC236}">
                <a16:creationId xmlns:a16="http://schemas.microsoft.com/office/drawing/2014/main" id="{F6BA6CD9-33CE-70A9-5D76-90703BCC77F9}"/>
              </a:ext>
            </a:extLst>
          </p:cNvPr>
          <p:cNvSpPr/>
          <p:nvPr/>
        </p:nvSpPr>
        <p:spPr>
          <a:xfrm>
            <a:off x="6212370" y="3394821"/>
            <a:ext cx="99311" cy="99311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069;p10">
            <a:extLst>
              <a:ext uri="{FF2B5EF4-FFF2-40B4-BE49-F238E27FC236}">
                <a16:creationId xmlns:a16="http://schemas.microsoft.com/office/drawing/2014/main" id="{F9212912-58B0-4F48-A7E5-0EB02AD205C0}"/>
              </a:ext>
            </a:extLst>
          </p:cNvPr>
          <p:cNvSpPr txBox="1"/>
          <p:nvPr/>
        </p:nvSpPr>
        <p:spPr>
          <a:xfrm>
            <a:off x="811055" y="2783383"/>
            <a:ext cx="2332776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Seco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nd Month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Profile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413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" name="Google Shape;1070;p10">
            <a:extLst>
              <a:ext uri="{FF2B5EF4-FFF2-40B4-BE49-F238E27FC236}">
                <a16:creationId xmlns:a16="http://schemas.microsoft.com/office/drawing/2014/main" id="{A31101AA-1635-E147-41DF-A54B59B15A66}"/>
              </a:ext>
            </a:extLst>
          </p:cNvPr>
          <p:cNvSpPr/>
          <p:nvPr/>
        </p:nvSpPr>
        <p:spPr>
          <a:xfrm>
            <a:off x="759319" y="1926729"/>
            <a:ext cx="2384512" cy="799926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rgbClr val="F4A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071;p10">
            <a:extLst>
              <a:ext uri="{FF2B5EF4-FFF2-40B4-BE49-F238E27FC236}">
                <a16:creationId xmlns:a16="http://schemas.microsoft.com/office/drawing/2014/main" id="{DE2BE1FF-EDEA-3AE6-CE30-58B3B571BF4A}"/>
              </a:ext>
            </a:extLst>
          </p:cNvPr>
          <p:cNvSpPr/>
          <p:nvPr/>
        </p:nvSpPr>
        <p:spPr>
          <a:xfrm>
            <a:off x="738648" y="1972748"/>
            <a:ext cx="2745624" cy="4377500"/>
          </a:xfrm>
          <a:custGeom>
            <a:avLst/>
            <a:gdLst/>
            <a:ahLst/>
            <a:cxnLst/>
            <a:rect l="l" t="t" r="r" b="b"/>
            <a:pathLst>
              <a:path w="2745624" h="5627610" extrusionOk="0">
                <a:moveTo>
                  <a:pt x="2745624" y="1550459"/>
                </a:moveTo>
                <a:lnTo>
                  <a:pt x="2377440" y="1545776"/>
                </a:lnTo>
                <a:lnTo>
                  <a:pt x="2383458" y="5504886"/>
                </a:lnTo>
                <a:cubicBezTo>
                  <a:pt x="2383458" y="5572665"/>
                  <a:pt x="2328513" y="5627610"/>
                  <a:pt x="2260734" y="5627610"/>
                </a:cubicBezTo>
                <a:lnTo>
                  <a:pt x="122724" y="5627610"/>
                </a:lnTo>
                <a:cubicBezTo>
                  <a:pt x="54945" y="5627610"/>
                  <a:pt x="0" y="5572665"/>
                  <a:pt x="0" y="5504886"/>
                </a:cubicBezTo>
                <a:lnTo>
                  <a:pt x="0" y="122724"/>
                </a:lnTo>
                <a:cubicBezTo>
                  <a:pt x="0" y="54945"/>
                  <a:pt x="54945" y="0"/>
                  <a:pt x="122724" y="0"/>
                </a:cubicBezTo>
                <a:lnTo>
                  <a:pt x="2260734" y="0"/>
                </a:lnTo>
                <a:cubicBezTo>
                  <a:pt x="2328513" y="0"/>
                  <a:pt x="2383458" y="54945"/>
                  <a:pt x="2383458" y="122724"/>
                </a:cubicBezTo>
                <a:lnTo>
                  <a:pt x="2378610" y="1400460"/>
                </a:lnTo>
              </a:path>
            </a:pathLst>
          </a:custGeom>
          <a:noFill/>
          <a:ln w="63500" cap="rnd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072;p10">
            <a:extLst>
              <a:ext uri="{FF2B5EF4-FFF2-40B4-BE49-F238E27FC236}">
                <a16:creationId xmlns:a16="http://schemas.microsoft.com/office/drawing/2014/main" id="{B47F0CC6-5CFC-D148-0AF8-3DB953658210}"/>
              </a:ext>
            </a:extLst>
          </p:cNvPr>
          <p:cNvSpPr/>
          <p:nvPr/>
        </p:nvSpPr>
        <p:spPr>
          <a:xfrm>
            <a:off x="1013292" y="2126637"/>
            <a:ext cx="187656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Initial Launch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073;p10">
            <a:extLst>
              <a:ext uri="{FF2B5EF4-FFF2-40B4-BE49-F238E27FC236}">
                <a16:creationId xmlns:a16="http://schemas.microsoft.com/office/drawing/2014/main" id="{56DFB719-85B4-A92A-F677-BD5F8FDBD933}"/>
              </a:ext>
            </a:extLst>
          </p:cNvPr>
          <p:cNvSpPr/>
          <p:nvPr/>
        </p:nvSpPr>
        <p:spPr>
          <a:xfrm>
            <a:off x="3393839" y="3328614"/>
            <a:ext cx="231725" cy="231725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F4A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1074;p10">
            <a:extLst>
              <a:ext uri="{FF2B5EF4-FFF2-40B4-BE49-F238E27FC236}">
                <a16:creationId xmlns:a16="http://schemas.microsoft.com/office/drawing/2014/main" id="{A2218971-D16A-E6A1-AF18-4101CF8B91EC}"/>
              </a:ext>
            </a:extLst>
          </p:cNvPr>
          <p:cNvSpPr/>
          <p:nvPr/>
        </p:nvSpPr>
        <p:spPr>
          <a:xfrm>
            <a:off x="3460046" y="3394821"/>
            <a:ext cx="99311" cy="99311"/>
          </a:xfrm>
          <a:prstGeom prst="ellipse">
            <a:avLst/>
          </a:prstGeom>
          <a:solidFill>
            <a:srgbClr val="4890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1075;p10">
            <a:extLst>
              <a:ext uri="{FF2B5EF4-FFF2-40B4-BE49-F238E27FC236}">
                <a16:creationId xmlns:a16="http://schemas.microsoft.com/office/drawing/2014/main" id="{F7782DBF-D95E-0FA7-A4FE-B578708E5C56}"/>
              </a:ext>
            </a:extLst>
          </p:cNvPr>
          <p:cNvSpPr txBox="1"/>
          <p:nvPr/>
        </p:nvSpPr>
        <p:spPr>
          <a:xfrm>
            <a:off x="1065675" y="1231739"/>
            <a:ext cx="9779100" cy="52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ANOTHER WAY TO LAUNCH A PRODUCT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076;p10">
            <a:extLst>
              <a:ext uri="{FF2B5EF4-FFF2-40B4-BE49-F238E27FC236}">
                <a16:creationId xmlns:a16="http://schemas.microsoft.com/office/drawing/2014/main" id="{F7296D26-EFC8-3173-1D01-5A0B7483E437}"/>
              </a:ext>
            </a:extLst>
          </p:cNvPr>
          <p:cNvSpPr txBox="1"/>
          <p:nvPr/>
        </p:nvSpPr>
        <p:spPr>
          <a:xfrm>
            <a:off x="6367419" y="5300776"/>
            <a:ext cx="218350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Feedback: </a:t>
            </a:r>
            <a:br>
              <a:rPr lang="en-US" sz="16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User wants to share images</a:t>
            </a:r>
            <a:endParaRPr sz="16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" name="Google Shape;1077;p10">
            <a:extLst>
              <a:ext uri="{FF2B5EF4-FFF2-40B4-BE49-F238E27FC236}">
                <a16:creationId xmlns:a16="http://schemas.microsoft.com/office/drawing/2014/main" id="{9A11DD48-69E6-AC19-116D-120923D99847}"/>
              </a:ext>
            </a:extLst>
          </p:cNvPr>
          <p:cNvSpPr txBox="1"/>
          <p:nvPr/>
        </p:nvSpPr>
        <p:spPr>
          <a:xfrm>
            <a:off x="3603446" y="5319868"/>
            <a:ext cx="2183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Feedback:</a:t>
            </a:r>
            <a:br>
              <a:rPr lang="en-US" sz="16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User wants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a “Like”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button for images</a:t>
            </a:r>
            <a:endParaRPr sz="16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" name="Google Shape;1078;p10">
            <a:extLst>
              <a:ext uri="{FF2B5EF4-FFF2-40B4-BE49-F238E27FC236}">
                <a16:creationId xmlns:a16="http://schemas.microsoft.com/office/drawing/2014/main" id="{B4DA7A97-93CB-F750-2A19-0AC97D4FAD72}"/>
              </a:ext>
            </a:extLst>
          </p:cNvPr>
          <p:cNvSpPr txBox="1"/>
          <p:nvPr/>
        </p:nvSpPr>
        <p:spPr>
          <a:xfrm>
            <a:off x="818511" y="5300777"/>
            <a:ext cx="233277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Feedback: </a:t>
            </a:r>
            <a:br>
              <a:rPr lang="en-US"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User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suggested UI changes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079;p10">
            <a:extLst>
              <a:ext uri="{FF2B5EF4-FFF2-40B4-BE49-F238E27FC236}">
                <a16:creationId xmlns:a16="http://schemas.microsoft.com/office/drawing/2014/main" id="{2BBD5E4A-DF9C-3E74-F90E-B55536B1F65A}"/>
              </a:ext>
            </a:extLst>
          </p:cNvPr>
          <p:cNvSpPr txBox="1"/>
          <p:nvPr/>
        </p:nvSpPr>
        <p:spPr>
          <a:xfrm>
            <a:off x="3621747" y="2783383"/>
            <a:ext cx="2183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Thi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rd</a:t>
            </a:r>
            <a:r>
              <a:rPr lang="en-US" sz="18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Month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Profile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413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" name="Google Shape;1080;p10">
            <a:extLst>
              <a:ext uri="{FF2B5EF4-FFF2-40B4-BE49-F238E27FC236}">
                <a16:creationId xmlns:a16="http://schemas.microsoft.com/office/drawing/2014/main" id="{93B31C03-9B47-2185-7DA5-93FCFF7D9924}"/>
              </a:ext>
            </a:extLst>
          </p:cNvPr>
          <p:cNvSpPr txBox="1"/>
          <p:nvPr/>
        </p:nvSpPr>
        <p:spPr>
          <a:xfrm>
            <a:off x="9137222" y="2783383"/>
            <a:ext cx="22695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Tenth</a:t>
            </a:r>
            <a:r>
              <a:rPr lang="en-US" sz="18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Month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Profile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Like button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Share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Video chat</a:t>
            </a:r>
            <a:endParaRPr sz="16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" name="Google Shape;618;p34">
            <a:extLst>
              <a:ext uri="{FF2B5EF4-FFF2-40B4-BE49-F238E27FC236}">
                <a16:creationId xmlns:a16="http://schemas.microsoft.com/office/drawing/2014/main" id="{8B4C4836-6CBF-862F-64A9-8F02B1B8021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8AF1345-2CD0-70A1-C230-7DB85FB4F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5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8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1" dur="5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1086;p11">
            <a:extLst>
              <a:ext uri="{FF2B5EF4-FFF2-40B4-BE49-F238E27FC236}">
                <a16:creationId xmlns:a16="http://schemas.microsoft.com/office/drawing/2014/main" id="{E22F98A9-1786-8357-E081-BEA7E1D85C8D}"/>
              </a:ext>
            </a:extLst>
          </p:cNvPr>
          <p:cNvGrpSpPr/>
          <p:nvPr/>
        </p:nvGrpSpPr>
        <p:grpSpPr>
          <a:xfrm>
            <a:off x="2640563" y="4972803"/>
            <a:ext cx="6910875" cy="1134001"/>
            <a:chOff x="6389225" y="1006997"/>
            <a:chExt cx="4726281" cy="775532"/>
          </a:xfrm>
        </p:grpSpPr>
        <p:sp>
          <p:nvSpPr>
            <p:cNvPr id="10" name="Google Shape;1087;p11">
              <a:extLst>
                <a:ext uri="{FF2B5EF4-FFF2-40B4-BE49-F238E27FC236}">
                  <a16:creationId xmlns:a16="http://schemas.microsoft.com/office/drawing/2014/main" id="{A4A659F5-3822-E544-FC7F-D9958C0E8288}"/>
                </a:ext>
              </a:extLst>
            </p:cNvPr>
            <p:cNvSpPr/>
            <p:nvPr/>
          </p:nvSpPr>
          <p:spPr>
            <a:xfrm>
              <a:off x="6389225" y="1006997"/>
              <a:ext cx="660817" cy="775532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00618" y="3056"/>
                    <a:pt x="232581" y="3056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088;p11">
              <a:extLst>
                <a:ext uri="{FF2B5EF4-FFF2-40B4-BE49-F238E27FC236}">
                  <a16:creationId xmlns:a16="http://schemas.microsoft.com/office/drawing/2014/main" id="{B80FD274-2255-889A-7925-AAD4AB075F45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089;p11">
              <a:extLst>
                <a:ext uri="{FF2B5EF4-FFF2-40B4-BE49-F238E27FC236}">
                  <a16:creationId xmlns:a16="http://schemas.microsoft.com/office/drawing/2014/main" id="{8AFC5856-00C9-1B00-9D31-F97FD1D99B65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03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1090;p11">
              <a:extLst>
                <a:ext uri="{FF2B5EF4-FFF2-40B4-BE49-F238E27FC236}">
                  <a16:creationId xmlns:a16="http://schemas.microsoft.com/office/drawing/2014/main" id="{20DD8752-B6FF-0570-FC62-A2C2224827A6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Minimi</a:t>
              </a:r>
              <a:r>
                <a:rPr lang="en-US" sz="2000" b="1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s</a:t>
              </a: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e wastage of </a:t>
              </a:r>
              <a:r>
                <a:rPr lang="en-US" sz="2000" b="1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resources</a:t>
              </a: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 on unnecessary features at the initial stage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" name="Google Shape;1091;p11">
            <a:extLst>
              <a:ext uri="{FF2B5EF4-FFF2-40B4-BE49-F238E27FC236}">
                <a16:creationId xmlns:a16="http://schemas.microsoft.com/office/drawing/2014/main" id="{38F9099A-A3F8-25A2-F20E-ABBB301531B6}"/>
              </a:ext>
            </a:extLst>
          </p:cNvPr>
          <p:cNvGrpSpPr/>
          <p:nvPr/>
        </p:nvGrpSpPr>
        <p:grpSpPr>
          <a:xfrm>
            <a:off x="2640563" y="3665984"/>
            <a:ext cx="6910875" cy="1134002"/>
            <a:chOff x="6389225" y="1006997"/>
            <a:chExt cx="4726281" cy="775533"/>
          </a:xfrm>
        </p:grpSpPr>
        <p:sp>
          <p:nvSpPr>
            <p:cNvPr id="15" name="Google Shape;1092;p11">
              <a:extLst>
                <a:ext uri="{FF2B5EF4-FFF2-40B4-BE49-F238E27FC236}">
                  <a16:creationId xmlns:a16="http://schemas.microsoft.com/office/drawing/2014/main" id="{3E7AED53-9D85-BE3C-950A-6811B756224E}"/>
                </a:ext>
              </a:extLst>
            </p:cNvPr>
            <p:cNvSpPr/>
            <p:nvPr/>
          </p:nvSpPr>
          <p:spPr>
            <a:xfrm>
              <a:off x="6389225" y="1006998"/>
              <a:ext cx="660817" cy="775532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12270" y="3057"/>
                    <a:pt x="244233" y="3057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489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093;p11">
              <a:extLst>
                <a:ext uri="{FF2B5EF4-FFF2-40B4-BE49-F238E27FC236}">
                  <a16:creationId xmlns:a16="http://schemas.microsoft.com/office/drawing/2014/main" id="{E714F140-2B78-BC90-26C2-0820BF223D66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94;p11">
              <a:extLst>
                <a:ext uri="{FF2B5EF4-FFF2-40B4-BE49-F238E27FC236}">
                  <a16:creationId xmlns:a16="http://schemas.microsoft.com/office/drawing/2014/main" id="{FF672C49-0614-7739-9A7E-0DE386BF5F6A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02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1095;p11">
              <a:extLst>
                <a:ext uri="{FF2B5EF4-FFF2-40B4-BE49-F238E27FC236}">
                  <a16:creationId xmlns:a16="http://schemas.microsoft.com/office/drawing/2014/main" id="{A74998D7-B091-BFF9-5F68-4AE6B4C00E98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Gather</a:t>
              </a: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 feedback for the primary product and include it in future iterations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096;p11">
            <a:extLst>
              <a:ext uri="{FF2B5EF4-FFF2-40B4-BE49-F238E27FC236}">
                <a16:creationId xmlns:a16="http://schemas.microsoft.com/office/drawing/2014/main" id="{230F35E3-1919-077D-67FC-87F612579174}"/>
              </a:ext>
            </a:extLst>
          </p:cNvPr>
          <p:cNvGrpSpPr/>
          <p:nvPr/>
        </p:nvGrpSpPr>
        <p:grpSpPr>
          <a:xfrm>
            <a:off x="2640563" y="2359167"/>
            <a:ext cx="6910875" cy="1134000"/>
            <a:chOff x="6389225" y="1006997"/>
            <a:chExt cx="4726281" cy="775531"/>
          </a:xfrm>
        </p:grpSpPr>
        <p:sp>
          <p:nvSpPr>
            <p:cNvPr id="20" name="Google Shape;1097;p11">
              <a:extLst>
                <a:ext uri="{FF2B5EF4-FFF2-40B4-BE49-F238E27FC236}">
                  <a16:creationId xmlns:a16="http://schemas.microsoft.com/office/drawing/2014/main" id="{592D576B-1A83-58E7-5DCC-D30D0ED65BFD}"/>
                </a:ext>
              </a:extLst>
            </p:cNvPr>
            <p:cNvSpPr/>
            <p:nvPr/>
          </p:nvSpPr>
          <p:spPr>
            <a:xfrm>
              <a:off x="6389225" y="1006997"/>
              <a:ext cx="660817" cy="775531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177331" y="4685"/>
                    <a:pt x="209294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F4AB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098;p11">
              <a:extLst>
                <a:ext uri="{FF2B5EF4-FFF2-40B4-BE49-F238E27FC236}">
                  <a16:creationId xmlns:a16="http://schemas.microsoft.com/office/drawing/2014/main" id="{14459A22-B752-9C90-1FB3-3579DA73C8A3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099;p11">
              <a:extLst>
                <a:ext uri="{FF2B5EF4-FFF2-40B4-BE49-F238E27FC236}">
                  <a16:creationId xmlns:a16="http://schemas.microsoft.com/office/drawing/2014/main" id="{38E45DB7-DDEE-F110-5EB5-DC1A319DCED4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01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1100;p11">
              <a:extLst>
                <a:ext uri="{FF2B5EF4-FFF2-40B4-BE49-F238E27FC236}">
                  <a16:creationId xmlns:a16="http://schemas.microsoft.com/office/drawing/2014/main" id="{874F07E3-2B30-D0BB-3373-51ECCD718A38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Enter the market quickly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1101;p11">
            <a:extLst>
              <a:ext uri="{FF2B5EF4-FFF2-40B4-BE49-F238E27FC236}">
                <a16:creationId xmlns:a16="http://schemas.microsoft.com/office/drawing/2014/main" id="{317A9952-3BAD-71A1-1BCB-B5D2C24B579A}"/>
              </a:ext>
            </a:extLst>
          </p:cNvPr>
          <p:cNvSpPr txBox="1"/>
          <p:nvPr/>
        </p:nvSpPr>
        <p:spPr>
          <a:xfrm>
            <a:off x="2314707" y="1353312"/>
            <a:ext cx="7562586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MVP: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AIM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912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1106;p12">
            <a:extLst>
              <a:ext uri="{FF2B5EF4-FFF2-40B4-BE49-F238E27FC236}">
                <a16:creationId xmlns:a16="http://schemas.microsoft.com/office/drawing/2014/main" id="{4EDB12F2-3634-F947-D75B-BB93FBDCF5D8}"/>
              </a:ext>
            </a:extLst>
          </p:cNvPr>
          <p:cNvGrpSpPr/>
          <p:nvPr/>
        </p:nvGrpSpPr>
        <p:grpSpPr>
          <a:xfrm>
            <a:off x="3592157" y="2262639"/>
            <a:ext cx="5007683" cy="3980190"/>
            <a:chOff x="6718149" y="1539170"/>
            <a:chExt cx="5007683" cy="3980190"/>
          </a:xfrm>
        </p:grpSpPr>
        <p:sp>
          <p:nvSpPr>
            <p:cNvPr id="10" name="Google Shape;1107;p12">
              <a:extLst>
                <a:ext uri="{FF2B5EF4-FFF2-40B4-BE49-F238E27FC236}">
                  <a16:creationId xmlns:a16="http://schemas.microsoft.com/office/drawing/2014/main" id="{37EAF44D-3436-DA38-7C65-99472A648ECE}"/>
                </a:ext>
              </a:extLst>
            </p:cNvPr>
            <p:cNvSpPr txBox="1"/>
            <p:nvPr/>
          </p:nvSpPr>
          <p:spPr>
            <a:xfrm>
              <a:off x="7973291" y="4688363"/>
              <a:ext cx="3648305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EE2C3C"/>
                  </a:solidFill>
                  <a:latin typeface="Lato"/>
                  <a:ea typeface="Lato"/>
                  <a:cs typeface="Lato"/>
                  <a:sym typeface="Lato"/>
                </a:rPr>
                <a:t>- By Eric Ries, The lean Startup Framework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08;p12">
              <a:extLst>
                <a:ext uri="{FF2B5EF4-FFF2-40B4-BE49-F238E27FC236}">
                  <a16:creationId xmlns:a16="http://schemas.microsoft.com/office/drawing/2014/main" id="{7B3B5610-1E9E-8AA0-BA68-9630FFF8B82F}"/>
                </a:ext>
              </a:extLst>
            </p:cNvPr>
            <p:cNvSpPr txBox="1"/>
            <p:nvPr/>
          </p:nvSpPr>
          <p:spPr>
            <a:xfrm>
              <a:off x="6718149" y="1539170"/>
              <a:ext cx="9573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0"/>
                <a:buFont typeface="Arial"/>
                <a:buNone/>
              </a:pPr>
              <a:r>
                <a:rPr lang="en-US" sz="10000" b="0" i="0" u="none" strike="noStrike" cap="none">
                  <a:solidFill>
                    <a:srgbClr val="3F3F3F"/>
                  </a:solidFill>
                  <a:latin typeface="Oi"/>
                  <a:ea typeface="Oi"/>
                  <a:cs typeface="Oi"/>
                  <a:sym typeface="Oi"/>
                </a:rPr>
                <a:t>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09;p12">
              <a:extLst>
                <a:ext uri="{FF2B5EF4-FFF2-40B4-BE49-F238E27FC236}">
                  <a16:creationId xmlns:a16="http://schemas.microsoft.com/office/drawing/2014/main" id="{4E3D2888-ADDB-9B2A-4D9B-66D8C69671A6}"/>
                </a:ext>
              </a:extLst>
            </p:cNvPr>
            <p:cNvSpPr txBox="1"/>
            <p:nvPr/>
          </p:nvSpPr>
          <p:spPr>
            <a:xfrm>
              <a:off x="7078532" y="2108666"/>
              <a:ext cx="4647300" cy="230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latin typeface="Lato"/>
                  <a:ea typeface="Lato"/>
                  <a:cs typeface="Lato"/>
                  <a:sym typeface="Lato"/>
                </a:rPr>
                <a:t>The m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inimum </a:t>
              </a:r>
              <a:r>
                <a:rPr lang="en-US" sz="2400">
                  <a:latin typeface="Lato"/>
                  <a:ea typeface="Lato"/>
                  <a:cs typeface="Lato"/>
                  <a:sym typeface="Lato"/>
                </a:rPr>
                <a:t>v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iable </a:t>
              </a:r>
              <a:r>
                <a:rPr lang="en-US" sz="2400">
                  <a:latin typeface="Lato"/>
                  <a:ea typeface="Lato"/>
                  <a:cs typeface="Lato"/>
                  <a:sym typeface="Lato"/>
                </a:rPr>
                <a:t>p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roduct is that version of a new product which allows a team to collect the maximum amount of validated learning about customers with the least effort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110;p12">
              <a:extLst>
                <a:ext uri="{FF2B5EF4-FFF2-40B4-BE49-F238E27FC236}">
                  <a16:creationId xmlns:a16="http://schemas.microsoft.com/office/drawing/2014/main" id="{ADE177DE-EB3C-F3E7-CCF1-4387A246044A}"/>
                </a:ext>
              </a:extLst>
            </p:cNvPr>
            <p:cNvSpPr txBox="1"/>
            <p:nvPr/>
          </p:nvSpPr>
          <p:spPr>
            <a:xfrm rot="10800000" flipH="1">
              <a:off x="10667997" y="3354786"/>
              <a:ext cx="9573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0"/>
                <a:buFont typeface="Arial"/>
                <a:buNone/>
              </a:pPr>
              <a:r>
                <a:rPr lang="en-US" sz="10000" b="0" i="0" u="none" strike="noStrike" cap="none">
                  <a:solidFill>
                    <a:srgbClr val="3F3F3F"/>
                  </a:solidFill>
                  <a:latin typeface="Oi"/>
                  <a:ea typeface="Oi"/>
                  <a:cs typeface="Oi"/>
                  <a:sym typeface="Oi"/>
                </a:rPr>
                <a:t>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111;p12">
            <a:extLst>
              <a:ext uri="{FF2B5EF4-FFF2-40B4-BE49-F238E27FC236}">
                <a16:creationId xmlns:a16="http://schemas.microsoft.com/office/drawing/2014/main" id="{33F19022-E35E-E557-17BB-7BD70E1CA06E}"/>
              </a:ext>
            </a:extLst>
          </p:cNvPr>
          <p:cNvSpPr txBox="1"/>
          <p:nvPr/>
        </p:nvSpPr>
        <p:spPr>
          <a:xfrm>
            <a:off x="3839363" y="1074395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MINIMUM VIABLE PRODUCT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1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16;p13">
            <a:extLst>
              <a:ext uri="{FF2B5EF4-FFF2-40B4-BE49-F238E27FC236}">
                <a16:creationId xmlns:a16="http://schemas.microsoft.com/office/drawing/2014/main" id="{D74037F1-FB4E-B1B9-050A-0A18F3235600}"/>
              </a:ext>
            </a:extLst>
          </p:cNvPr>
          <p:cNvSpPr txBox="1">
            <a:spLocks/>
          </p:cNvSpPr>
          <p:nvPr/>
        </p:nvSpPr>
        <p:spPr>
          <a:xfrm>
            <a:off x="824882" y="997528"/>
            <a:ext cx="10753800" cy="52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800"/>
              </a:spcBef>
              <a:buSzPts val="2100"/>
              <a:buFont typeface="Arial" panose="020B0604020202020204" pitchFamily="34" charset="0"/>
              <a:buNone/>
            </a:pPr>
            <a:r>
              <a:rPr lang="en-US" sz="2400" dirty="0">
                <a:latin typeface="Lato"/>
                <a:ea typeface="Lato"/>
                <a:cs typeface="Lato"/>
                <a:sym typeface="Lato"/>
              </a:rPr>
              <a:t>UNDERSTAND MVP BETTER </a:t>
            </a:r>
          </a:p>
        </p:txBody>
      </p:sp>
      <p:grpSp>
        <p:nvGrpSpPr>
          <p:cNvPr id="10" name="Google Shape;1117;p13">
            <a:extLst>
              <a:ext uri="{FF2B5EF4-FFF2-40B4-BE49-F238E27FC236}">
                <a16:creationId xmlns:a16="http://schemas.microsoft.com/office/drawing/2014/main" id="{D3F741E6-2629-0A62-1316-438E825B3012}"/>
              </a:ext>
            </a:extLst>
          </p:cNvPr>
          <p:cNvGrpSpPr/>
          <p:nvPr/>
        </p:nvGrpSpPr>
        <p:grpSpPr>
          <a:xfrm>
            <a:off x="600879" y="1564764"/>
            <a:ext cx="10753792" cy="1777099"/>
            <a:chOff x="-157267" y="635364"/>
            <a:chExt cx="11654700" cy="1516814"/>
          </a:xfrm>
        </p:grpSpPr>
        <p:sp>
          <p:nvSpPr>
            <p:cNvPr id="11" name="Google Shape;1118;p13">
              <a:extLst>
                <a:ext uri="{FF2B5EF4-FFF2-40B4-BE49-F238E27FC236}">
                  <a16:creationId xmlns:a16="http://schemas.microsoft.com/office/drawing/2014/main" id="{5B29A363-4DB9-81F2-BD5A-1683B2BECAD9}"/>
                </a:ext>
              </a:extLst>
            </p:cNvPr>
            <p:cNvSpPr txBox="1"/>
            <p:nvPr/>
          </p:nvSpPr>
          <p:spPr>
            <a:xfrm>
              <a:off x="27162" y="863378"/>
              <a:ext cx="11273400" cy="128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04792" marR="0" lvl="0" indent="-304792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AutoNum type="arabicPeriod"/>
              </a:pPr>
              <a:r>
                <a:rPr lang="en-US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MVP is </a:t>
              </a:r>
              <a:r>
                <a:rPr lang="en-US" sz="1800" dirty="0">
                  <a:latin typeface="Lato"/>
                  <a:ea typeface="Lato"/>
                  <a:cs typeface="Lato"/>
                  <a:sym typeface="Lato"/>
                </a:rPr>
                <a:t>similar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to an experiment that will help you assess whethe</a:t>
              </a:r>
              <a:r>
                <a:rPr lang="en-US" sz="1800" dirty="0">
                  <a:latin typeface="Lato"/>
                  <a:ea typeface="Lato"/>
                  <a:cs typeface="Lato"/>
                  <a:sym typeface="Lato"/>
                </a:rPr>
                <a:t>r people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will like your product</a:t>
              </a:r>
              <a:endParaRPr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304792" marR="0" lvl="0" indent="-304792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AutoNum type="arabicPeriod"/>
              </a:pPr>
              <a:r>
                <a:rPr lang="en-US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It saves you from wasting your time and money on 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2"/>
                    </a:ext>
                  </a:extLst>
                </a:rPr>
                <a:t>something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800" dirty="0">
                  <a:latin typeface="Lato"/>
                  <a:ea typeface="Lato"/>
                  <a:cs typeface="Lato"/>
                  <a:sym typeface="Lato"/>
                </a:rPr>
                <a:t>that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people will not like</a:t>
              </a:r>
              <a:endParaRPr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304792" marR="0" lvl="0" indent="-304792" algn="l" rtl="0">
                <a:lnSpc>
                  <a:spcPct val="100000"/>
                </a:lnSpc>
                <a:spcBef>
                  <a:spcPts val="1200"/>
                </a:spcBef>
                <a:spcAft>
                  <a:spcPts val="600"/>
                </a:spcAft>
                <a:buClr>
                  <a:srgbClr val="000000"/>
                </a:buClr>
                <a:buSzPts val="1400"/>
                <a:buFont typeface="Arial"/>
                <a:buAutoNum type="arabicPeriod"/>
              </a:pPr>
              <a:r>
                <a:rPr lang="en-US" sz="1800" dirty="0">
                  <a:latin typeface="Lato"/>
                  <a:ea typeface="Lato"/>
                  <a:cs typeface="Lato"/>
                  <a:sym typeface="Lato"/>
                </a:rPr>
                <a:t>An 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MVP is a version of </a:t>
              </a:r>
              <a:r>
                <a:rPr lang="en-US" sz="1800" dirty="0">
                  <a:latin typeface="Lato"/>
                  <a:ea typeface="Lato"/>
                  <a:cs typeface="Lato"/>
                  <a:sym typeface="Lato"/>
                </a:rPr>
                <a:t>a 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product </a:t>
              </a:r>
              <a:r>
                <a:rPr lang="en-US" sz="1800" dirty="0">
                  <a:latin typeface="Lato"/>
                  <a:ea typeface="Lato"/>
                  <a:cs typeface="Lato"/>
                  <a:sym typeface="Lato"/>
                </a:rPr>
                <a:t>that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has only those feature</a:t>
              </a:r>
              <a:r>
                <a:rPr lang="en-US" sz="1800" dirty="0">
                  <a:latin typeface="Lato"/>
                  <a:ea typeface="Lato"/>
                  <a:cs typeface="Lato"/>
                  <a:sym typeface="Lato"/>
                </a:rPr>
                <a:t>s n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ecessary to implement the core idea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Google Shape;1119;p13">
              <a:extLst>
                <a:ext uri="{FF2B5EF4-FFF2-40B4-BE49-F238E27FC236}">
                  <a16:creationId xmlns:a16="http://schemas.microsoft.com/office/drawing/2014/main" id="{E632515E-27F0-E022-BD53-3646E950090C}"/>
                </a:ext>
              </a:extLst>
            </p:cNvPr>
            <p:cNvSpPr/>
            <p:nvPr/>
          </p:nvSpPr>
          <p:spPr>
            <a:xfrm>
              <a:off x="-157267" y="635364"/>
              <a:ext cx="11654700" cy="1516800"/>
            </a:xfrm>
            <a:prstGeom prst="roundRect">
              <a:avLst>
                <a:gd name="adj" fmla="val 12713"/>
              </a:avLst>
            </a:prstGeom>
            <a:noFill/>
            <a:ln w="2857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oogle Shape;1120;p13">
            <a:extLst>
              <a:ext uri="{FF2B5EF4-FFF2-40B4-BE49-F238E27FC236}">
                <a16:creationId xmlns:a16="http://schemas.microsoft.com/office/drawing/2014/main" id="{33741340-1C4C-7AC1-BEF1-DE0E3B0DF013}"/>
              </a:ext>
            </a:extLst>
          </p:cNvPr>
          <p:cNvGrpSpPr/>
          <p:nvPr/>
        </p:nvGrpSpPr>
        <p:grpSpPr>
          <a:xfrm>
            <a:off x="804029" y="3448201"/>
            <a:ext cx="3136765" cy="3100253"/>
            <a:chOff x="256674" y="2579940"/>
            <a:chExt cx="3136765" cy="3466182"/>
          </a:xfrm>
        </p:grpSpPr>
        <p:sp>
          <p:nvSpPr>
            <p:cNvPr id="14" name="Google Shape;1121;p13">
              <a:extLst>
                <a:ext uri="{FF2B5EF4-FFF2-40B4-BE49-F238E27FC236}">
                  <a16:creationId xmlns:a16="http://schemas.microsoft.com/office/drawing/2014/main" id="{C7CAD923-B020-4107-2CFE-BD999603DCD9}"/>
                </a:ext>
              </a:extLst>
            </p:cNvPr>
            <p:cNvSpPr/>
            <p:nvPr/>
          </p:nvSpPr>
          <p:spPr>
            <a:xfrm>
              <a:off x="256674" y="2579940"/>
              <a:ext cx="3136765" cy="3466182"/>
            </a:xfrm>
            <a:prstGeom prst="roundRect">
              <a:avLst>
                <a:gd name="adj" fmla="val 5128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22;p13">
              <a:extLst>
                <a:ext uri="{FF2B5EF4-FFF2-40B4-BE49-F238E27FC236}">
                  <a16:creationId xmlns:a16="http://schemas.microsoft.com/office/drawing/2014/main" id="{87F4BED1-C7C7-2F08-2852-69481A5172B7}"/>
                </a:ext>
              </a:extLst>
            </p:cNvPr>
            <p:cNvSpPr txBox="1"/>
            <p:nvPr/>
          </p:nvSpPr>
          <p:spPr>
            <a:xfrm>
              <a:off x="531306" y="2917430"/>
              <a:ext cx="2587500" cy="279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PROOF OF CONCEPT</a:t>
              </a:r>
              <a:endParaRPr sz="18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Evidence, typically deriv</a:t>
              </a:r>
              <a:r>
                <a:rPr lang="en-US" sz="1600" dirty="0">
                  <a:latin typeface="Lato"/>
                  <a:ea typeface="Lato"/>
                  <a:cs typeface="Lato"/>
                  <a:sym typeface="Lato"/>
                </a:rPr>
                <a:t>ed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from an experiment or pilot project, which demonstrates that a design concept, business proposal, etc. </a:t>
              </a:r>
              <a:r>
                <a:rPr lang="en-US" sz="1600" dirty="0">
                  <a:latin typeface="Lato"/>
                  <a:ea typeface="Lato"/>
                  <a:cs typeface="Lato"/>
                  <a:sym typeface="Lato"/>
                </a:rPr>
                <a:t>are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feasible</a:t>
              </a:r>
              <a:endParaRPr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E.g.</a:t>
              </a:r>
              <a:r>
                <a:rPr lang="en-US" sz="1600" b="1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:</a:t>
              </a:r>
              <a:r>
                <a:rPr lang="en-US" sz="1600" b="1" i="0" u="none" strike="noStrike" cap="none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 Piece of code created to test the technology in an R&amp;D lab</a:t>
              </a:r>
              <a:endParaRPr sz="1600" b="1" i="0" u="none" strike="noStrike" cap="none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" name="Google Shape;1123;p13">
            <a:extLst>
              <a:ext uri="{FF2B5EF4-FFF2-40B4-BE49-F238E27FC236}">
                <a16:creationId xmlns:a16="http://schemas.microsoft.com/office/drawing/2014/main" id="{5E09CC51-563B-BB33-462A-32989A02777C}"/>
              </a:ext>
            </a:extLst>
          </p:cNvPr>
          <p:cNvGrpSpPr/>
          <p:nvPr/>
        </p:nvGrpSpPr>
        <p:grpSpPr>
          <a:xfrm>
            <a:off x="4570043" y="3448201"/>
            <a:ext cx="3136800" cy="3101610"/>
            <a:chOff x="3645887" y="3191003"/>
            <a:chExt cx="3136800" cy="3466200"/>
          </a:xfrm>
        </p:grpSpPr>
        <p:sp>
          <p:nvSpPr>
            <p:cNvPr id="17" name="Google Shape;1124;p13">
              <a:extLst>
                <a:ext uri="{FF2B5EF4-FFF2-40B4-BE49-F238E27FC236}">
                  <a16:creationId xmlns:a16="http://schemas.microsoft.com/office/drawing/2014/main" id="{5A7C02C8-CD04-9FE3-8FAD-EB052BA44940}"/>
                </a:ext>
              </a:extLst>
            </p:cNvPr>
            <p:cNvSpPr txBox="1"/>
            <p:nvPr/>
          </p:nvSpPr>
          <p:spPr>
            <a:xfrm>
              <a:off x="4091381" y="3592234"/>
              <a:ext cx="2484000" cy="254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PROTOTYPE</a:t>
              </a:r>
              <a:endParaRPr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A skeleton versio</a:t>
              </a:r>
              <a:r>
                <a:rPr lang="en-US" sz="1600" dirty="0">
                  <a:latin typeface="Lato"/>
                  <a:ea typeface="Lato"/>
                  <a:cs typeface="Lato"/>
                  <a:sym typeface="Lato"/>
                </a:rPr>
                <a:t>n m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ade available t</a:t>
              </a:r>
              <a:r>
                <a:rPr lang="en-US" sz="1600" dirty="0">
                  <a:latin typeface="Lato"/>
                  <a:ea typeface="Lato"/>
                  <a:cs typeface="Lato"/>
                  <a:sym typeface="Lato"/>
                </a:rPr>
                <a:t>o s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takeholders for internal review on the </a:t>
              </a:r>
              <a:r>
                <a:rPr lang="en-US" sz="1600" dirty="0">
                  <a:latin typeface="Lato"/>
                  <a:ea typeface="Lato"/>
                  <a:cs typeface="Lato"/>
                  <a:sym typeface="Lato"/>
                </a:rPr>
                <a:t>appearance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and 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3"/>
                    </a:ext>
                  </a:extLst>
                </a:rPr>
                <a:t>feel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of the application</a:t>
              </a:r>
              <a:endParaRPr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E.g.</a:t>
              </a:r>
              <a:r>
                <a:rPr lang="en-US" sz="1600" b="1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:</a:t>
              </a:r>
              <a:r>
                <a:rPr lang="en-US" sz="1600" b="1" i="0" u="none" strike="noStrike" cap="none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 App skeleton created for reviewing UI/UX</a:t>
              </a:r>
              <a:endParaRPr sz="1600" b="1" i="0" u="none" strike="noStrike" cap="none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1125;p13">
              <a:extLst>
                <a:ext uri="{FF2B5EF4-FFF2-40B4-BE49-F238E27FC236}">
                  <a16:creationId xmlns:a16="http://schemas.microsoft.com/office/drawing/2014/main" id="{E1B59BF7-C452-5915-AC43-E5B96F67385A}"/>
                </a:ext>
              </a:extLst>
            </p:cNvPr>
            <p:cNvSpPr/>
            <p:nvPr/>
          </p:nvSpPr>
          <p:spPr>
            <a:xfrm>
              <a:off x="3645887" y="3191003"/>
              <a:ext cx="3136800" cy="3466200"/>
            </a:xfrm>
            <a:prstGeom prst="roundRect">
              <a:avLst>
                <a:gd name="adj" fmla="val 5128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126;p13">
            <a:extLst>
              <a:ext uri="{FF2B5EF4-FFF2-40B4-BE49-F238E27FC236}">
                <a16:creationId xmlns:a16="http://schemas.microsoft.com/office/drawing/2014/main" id="{56FC21AF-A72A-BF45-7988-FF0EE0A5621A}"/>
              </a:ext>
            </a:extLst>
          </p:cNvPr>
          <p:cNvGrpSpPr/>
          <p:nvPr/>
        </p:nvGrpSpPr>
        <p:grpSpPr>
          <a:xfrm>
            <a:off x="8441882" y="3448201"/>
            <a:ext cx="3136800" cy="2995272"/>
            <a:chOff x="7935190" y="2857428"/>
            <a:chExt cx="3136800" cy="3466200"/>
          </a:xfrm>
        </p:grpSpPr>
        <p:sp>
          <p:nvSpPr>
            <p:cNvPr id="20" name="Google Shape;1127;p13">
              <a:extLst>
                <a:ext uri="{FF2B5EF4-FFF2-40B4-BE49-F238E27FC236}">
                  <a16:creationId xmlns:a16="http://schemas.microsoft.com/office/drawing/2014/main" id="{10676A1A-9E8E-B383-BE2E-B0D1838934B1}"/>
                </a:ext>
              </a:extLst>
            </p:cNvPr>
            <p:cNvSpPr txBox="1"/>
            <p:nvPr/>
          </p:nvSpPr>
          <p:spPr>
            <a:xfrm>
              <a:off x="8294087" y="2975930"/>
              <a:ext cx="2484000" cy="32291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MVP</a:t>
              </a:r>
              <a:endParaRPr sz="18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dirty="0">
                  <a:latin typeface="Lato"/>
                  <a:ea typeface="Lato"/>
                  <a:cs typeface="Lato"/>
                  <a:sym typeface="Lato"/>
                </a:rPr>
                <a:t>An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 MVP is a ready-to-launch version of </a:t>
              </a:r>
              <a:r>
                <a:rPr lang="en-US" sz="1600" dirty="0">
                  <a:latin typeface="Lato"/>
                  <a:ea typeface="Lato"/>
                  <a:cs typeface="Lato"/>
                  <a:sym typeface="Lato"/>
                </a:rPr>
                <a:t>a 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product that is not rolled back but iterated with new features based on user feedback</a:t>
              </a:r>
              <a:endParaRPr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E.g.</a:t>
              </a:r>
              <a:r>
                <a:rPr lang="en-US" sz="1600" b="1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:</a:t>
              </a:r>
              <a:r>
                <a:rPr lang="en-US" sz="1600" b="1" i="0" u="none" strike="noStrike" cap="none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 App launched with the core functionality &amp; is available in </a:t>
              </a:r>
              <a:r>
                <a:rPr lang="en-US" sz="1600" b="1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the </a:t>
              </a:r>
              <a:r>
                <a:rPr lang="en-US" sz="1600" b="1" i="0" u="none" strike="noStrike" cap="none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market </a:t>
              </a:r>
              <a:endParaRPr sz="1600" b="1" i="0" u="none" strike="noStrike" cap="none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" name="Google Shape;1128;p13">
              <a:extLst>
                <a:ext uri="{FF2B5EF4-FFF2-40B4-BE49-F238E27FC236}">
                  <a16:creationId xmlns:a16="http://schemas.microsoft.com/office/drawing/2014/main" id="{555196C4-BFC3-222B-009C-857D34145037}"/>
                </a:ext>
              </a:extLst>
            </p:cNvPr>
            <p:cNvSpPr/>
            <p:nvPr/>
          </p:nvSpPr>
          <p:spPr>
            <a:xfrm>
              <a:off x="7935190" y="2857428"/>
              <a:ext cx="3136800" cy="3466200"/>
            </a:xfrm>
            <a:prstGeom prst="roundRect">
              <a:avLst>
                <a:gd name="adj" fmla="val 5128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178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1133;p14">
            <a:extLst>
              <a:ext uri="{FF2B5EF4-FFF2-40B4-BE49-F238E27FC236}">
                <a16:creationId xmlns:a16="http://schemas.microsoft.com/office/drawing/2014/main" id="{75668887-15DC-BFCE-1F5C-85612C7151AE}"/>
              </a:ext>
            </a:extLst>
          </p:cNvPr>
          <p:cNvGrpSpPr/>
          <p:nvPr/>
        </p:nvGrpSpPr>
        <p:grpSpPr>
          <a:xfrm>
            <a:off x="3703427" y="1504372"/>
            <a:ext cx="5060644" cy="1638513"/>
            <a:chOff x="3703427" y="1028884"/>
            <a:chExt cx="5060644" cy="1638513"/>
          </a:xfrm>
        </p:grpSpPr>
        <p:sp>
          <p:nvSpPr>
            <p:cNvPr id="10" name="Google Shape;1134;p14">
              <a:extLst>
                <a:ext uri="{FF2B5EF4-FFF2-40B4-BE49-F238E27FC236}">
                  <a16:creationId xmlns:a16="http://schemas.microsoft.com/office/drawing/2014/main" id="{84748496-3912-EC11-FE7F-187B933B2702}"/>
                </a:ext>
              </a:extLst>
            </p:cNvPr>
            <p:cNvSpPr/>
            <p:nvPr/>
          </p:nvSpPr>
          <p:spPr>
            <a:xfrm>
              <a:off x="4131787" y="1028884"/>
              <a:ext cx="4632284" cy="966500"/>
            </a:xfrm>
            <a:prstGeom prst="roundRect">
              <a:avLst>
                <a:gd name="adj" fmla="val 5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Help you focus on </a:t>
              </a:r>
              <a:r>
                <a:rPr lang="en-US" sz="16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the </a:t>
              </a: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core </a:t>
              </a:r>
              <a:r>
                <a:rPr lang="en-US" sz="16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dea </a:t>
              </a:r>
              <a:endParaRPr sz="1467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1" name="Google Shape;1135;p14">
              <a:extLst>
                <a:ext uri="{FF2B5EF4-FFF2-40B4-BE49-F238E27FC236}">
                  <a16:creationId xmlns:a16="http://schemas.microsoft.com/office/drawing/2014/main" id="{34E9D918-EE61-E93E-B4BC-19A423AC1856}"/>
                </a:ext>
              </a:extLst>
            </p:cNvPr>
            <p:cNvCxnSpPr/>
            <p:nvPr/>
          </p:nvCxnSpPr>
          <p:spPr>
            <a:xfrm rot="10800000" flipH="1">
              <a:off x="3703427" y="1727549"/>
              <a:ext cx="362951" cy="939848"/>
            </a:xfrm>
            <a:prstGeom prst="straightConnector1">
              <a:avLst/>
            </a:prstGeom>
            <a:noFill/>
            <a:ln w="19050" cap="flat" cmpd="sng">
              <a:solidFill>
                <a:srgbClr val="9C9C9C"/>
              </a:solidFill>
              <a:prstDash val="solid"/>
              <a:miter lim="800000"/>
              <a:headEnd type="none" w="sm" len="sm"/>
              <a:tailEnd type="oval" w="med" len="med"/>
            </a:ln>
          </p:spPr>
        </p:cxnSp>
      </p:grpSp>
      <p:grpSp>
        <p:nvGrpSpPr>
          <p:cNvPr id="12" name="Google Shape;1136;p14">
            <a:extLst>
              <a:ext uri="{FF2B5EF4-FFF2-40B4-BE49-F238E27FC236}">
                <a16:creationId xmlns:a16="http://schemas.microsoft.com/office/drawing/2014/main" id="{119C65D8-7E32-D921-C581-3D7B5E68263E}"/>
              </a:ext>
            </a:extLst>
          </p:cNvPr>
          <p:cNvGrpSpPr/>
          <p:nvPr/>
        </p:nvGrpSpPr>
        <p:grpSpPr>
          <a:xfrm>
            <a:off x="4516751" y="3687787"/>
            <a:ext cx="5733196" cy="966500"/>
            <a:chOff x="4516751" y="3212299"/>
            <a:chExt cx="5733196" cy="966500"/>
          </a:xfrm>
        </p:grpSpPr>
        <p:sp>
          <p:nvSpPr>
            <p:cNvPr id="13" name="Google Shape;1137;p14">
              <a:extLst>
                <a:ext uri="{FF2B5EF4-FFF2-40B4-BE49-F238E27FC236}">
                  <a16:creationId xmlns:a16="http://schemas.microsoft.com/office/drawing/2014/main" id="{805BCCD4-15D2-2B1F-602B-D8A65E40ECE4}"/>
                </a:ext>
              </a:extLst>
            </p:cNvPr>
            <p:cNvSpPr/>
            <p:nvPr/>
          </p:nvSpPr>
          <p:spPr>
            <a:xfrm>
              <a:off x="5617663" y="3212299"/>
              <a:ext cx="4632284" cy="966500"/>
            </a:xfrm>
            <a:prstGeom prst="roundRect">
              <a:avLst>
                <a:gd name="adj" fmla="val 5000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Early testing opportunity</a:t>
              </a:r>
              <a:endParaRPr sz="1467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" name="Google Shape;1138;p14">
              <a:extLst>
                <a:ext uri="{FF2B5EF4-FFF2-40B4-BE49-F238E27FC236}">
                  <a16:creationId xmlns:a16="http://schemas.microsoft.com/office/drawing/2014/main" id="{304449DC-5234-A424-C6D7-633F54D7A57F}"/>
                </a:ext>
              </a:extLst>
            </p:cNvPr>
            <p:cNvCxnSpPr/>
            <p:nvPr/>
          </p:nvCxnSpPr>
          <p:spPr>
            <a:xfrm>
              <a:off x="4516751" y="3710403"/>
              <a:ext cx="1014715" cy="0"/>
            </a:xfrm>
            <a:prstGeom prst="straightConnector1">
              <a:avLst/>
            </a:prstGeom>
            <a:noFill/>
            <a:ln w="19050" cap="flat" cmpd="sng">
              <a:solidFill>
                <a:srgbClr val="9C9C9C"/>
              </a:solidFill>
              <a:prstDash val="solid"/>
              <a:miter lim="800000"/>
              <a:headEnd type="none" w="sm" len="sm"/>
              <a:tailEnd type="oval" w="med" len="med"/>
            </a:ln>
          </p:spPr>
        </p:cxnSp>
      </p:grpSp>
      <p:grpSp>
        <p:nvGrpSpPr>
          <p:cNvPr id="15" name="Google Shape;1139;p14">
            <a:extLst>
              <a:ext uri="{FF2B5EF4-FFF2-40B4-BE49-F238E27FC236}">
                <a16:creationId xmlns:a16="http://schemas.microsoft.com/office/drawing/2014/main" id="{DD12AD48-FD74-ADCC-9781-779787A31D87}"/>
              </a:ext>
            </a:extLst>
          </p:cNvPr>
          <p:cNvGrpSpPr/>
          <p:nvPr/>
        </p:nvGrpSpPr>
        <p:grpSpPr>
          <a:xfrm>
            <a:off x="3703427" y="5199190"/>
            <a:ext cx="5060644" cy="1638508"/>
            <a:chOff x="3703427" y="4723702"/>
            <a:chExt cx="5060644" cy="1638508"/>
          </a:xfrm>
        </p:grpSpPr>
        <p:sp>
          <p:nvSpPr>
            <p:cNvPr id="16" name="Google Shape;1140;p14">
              <a:extLst>
                <a:ext uri="{FF2B5EF4-FFF2-40B4-BE49-F238E27FC236}">
                  <a16:creationId xmlns:a16="http://schemas.microsoft.com/office/drawing/2014/main" id="{39C7F442-6BDC-D1A4-9E56-BF9722007B6C}"/>
                </a:ext>
              </a:extLst>
            </p:cNvPr>
            <p:cNvSpPr/>
            <p:nvPr/>
          </p:nvSpPr>
          <p:spPr>
            <a:xfrm>
              <a:off x="4131787" y="5395710"/>
              <a:ext cx="4632284" cy="966500"/>
            </a:xfrm>
            <a:prstGeom prst="roundRect">
              <a:avLst>
                <a:gd name="adj" fmla="val 50000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Less </a:t>
              </a:r>
              <a:r>
                <a:rPr lang="en-US" sz="16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wastage of </a:t>
              </a: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resource and time </a:t>
              </a:r>
              <a:endParaRPr sz="1467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7" name="Google Shape;1141;p14">
              <a:extLst>
                <a:ext uri="{FF2B5EF4-FFF2-40B4-BE49-F238E27FC236}">
                  <a16:creationId xmlns:a16="http://schemas.microsoft.com/office/drawing/2014/main" id="{0BC2A1D4-3819-F92B-A538-C1C80A46C8C4}"/>
                </a:ext>
              </a:extLst>
            </p:cNvPr>
            <p:cNvCxnSpPr/>
            <p:nvPr/>
          </p:nvCxnSpPr>
          <p:spPr>
            <a:xfrm>
              <a:off x="3703427" y="4723702"/>
              <a:ext cx="362951" cy="939848"/>
            </a:xfrm>
            <a:prstGeom prst="straightConnector1">
              <a:avLst/>
            </a:prstGeom>
            <a:noFill/>
            <a:ln w="19050" cap="flat" cmpd="sng">
              <a:solidFill>
                <a:srgbClr val="9C9C9C"/>
              </a:solidFill>
              <a:prstDash val="solid"/>
              <a:miter lim="800000"/>
              <a:headEnd type="none" w="sm" len="sm"/>
              <a:tailEnd type="oval" w="med" len="med"/>
            </a:ln>
          </p:spPr>
        </p:cxnSp>
      </p:grpSp>
      <p:grpSp>
        <p:nvGrpSpPr>
          <p:cNvPr id="18" name="Google Shape;1142;p14">
            <a:extLst>
              <a:ext uri="{FF2B5EF4-FFF2-40B4-BE49-F238E27FC236}">
                <a16:creationId xmlns:a16="http://schemas.microsoft.com/office/drawing/2014/main" id="{CAC5C6FF-8FEF-D80C-0B6A-6F2C0B8AA6D7}"/>
              </a:ext>
            </a:extLst>
          </p:cNvPr>
          <p:cNvGrpSpPr/>
          <p:nvPr/>
        </p:nvGrpSpPr>
        <p:grpSpPr>
          <a:xfrm>
            <a:off x="4269425" y="2596080"/>
            <a:ext cx="5492026" cy="1153972"/>
            <a:chOff x="4269425" y="2120592"/>
            <a:chExt cx="5492026" cy="1153972"/>
          </a:xfrm>
        </p:grpSpPr>
        <p:sp>
          <p:nvSpPr>
            <p:cNvPr id="19" name="Google Shape;1143;p14">
              <a:extLst>
                <a:ext uri="{FF2B5EF4-FFF2-40B4-BE49-F238E27FC236}">
                  <a16:creationId xmlns:a16="http://schemas.microsoft.com/office/drawing/2014/main" id="{AB559170-E143-6D7C-B6C2-660147E62D85}"/>
                </a:ext>
              </a:extLst>
            </p:cNvPr>
            <p:cNvSpPr/>
            <p:nvPr/>
          </p:nvSpPr>
          <p:spPr>
            <a:xfrm>
              <a:off x="5255602" y="2120592"/>
              <a:ext cx="4505849" cy="966500"/>
            </a:xfrm>
            <a:prstGeom prst="roundRect">
              <a:avLst>
                <a:gd name="adj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Early market entry</a:t>
              </a:r>
              <a:endParaRPr sz="1467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0" name="Google Shape;1144;p14">
              <a:extLst>
                <a:ext uri="{FF2B5EF4-FFF2-40B4-BE49-F238E27FC236}">
                  <a16:creationId xmlns:a16="http://schemas.microsoft.com/office/drawing/2014/main" id="{93C058BE-86B5-DFCF-1549-35D87236A699}"/>
                </a:ext>
              </a:extLst>
            </p:cNvPr>
            <p:cNvCxnSpPr/>
            <p:nvPr/>
          </p:nvCxnSpPr>
          <p:spPr>
            <a:xfrm rot="-8100000" flipH="1">
              <a:off x="4548559" y="2344031"/>
              <a:ext cx="362951" cy="939848"/>
            </a:xfrm>
            <a:prstGeom prst="straightConnector1">
              <a:avLst/>
            </a:prstGeom>
            <a:noFill/>
            <a:ln w="19050" cap="flat" cmpd="sng">
              <a:solidFill>
                <a:srgbClr val="9C9C9C"/>
              </a:solidFill>
              <a:prstDash val="solid"/>
              <a:miter lim="800000"/>
              <a:headEnd type="none" w="sm" len="sm"/>
              <a:tailEnd type="oval" w="med" len="med"/>
            </a:ln>
          </p:spPr>
        </p:cxnSp>
      </p:grpSp>
      <p:grpSp>
        <p:nvGrpSpPr>
          <p:cNvPr id="21" name="Google Shape;1145;p14">
            <a:extLst>
              <a:ext uri="{FF2B5EF4-FFF2-40B4-BE49-F238E27FC236}">
                <a16:creationId xmlns:a16="http://schemas.microsoft.com/office/drawing/2014/main" id="{BF930C5A-D977-6F2D-EFD8-70F6D82CF88E}"/>
              </a:ext>
            </a:extLst>
          </p:cNvPr>
          <p:cNvGrpSpPr/>
          <p:nvPr/>
        </p:nvGrpSpPr>
        <p:grpSpPr>
          <a:xfrm>
            <a:off x="4269423" y="4592021"/>
            <a:ext cx="5618462" cy="1153972"/>
            <a:chOff x="4269423" y="4116533"/>
            <a:chExt cx="5618462" cy="1153972"/>
          </a:xfrm>
        </p:grpSpPr>
        <p:sp>
          <p:nvSpPr>
            <p:cNvPr id="22" name="Google Shape;1146;p14">
              <a:extLst>
                <a:ext uri="{FF2B5EF4-FFF2-40B4-BE49-F238E27FC236}">
                  <a16:creationId xmlns:a16="http://schemas.microsoft.com/office/drawing/2014/main" id="{43CA66F5-6100-DC37-E7A6-241772533798}"/>
                </a:ext>
              </a:extLst>
            </p:cNvPr>
            <p:cNvSpPr/>
            <p:nvPr/>
          </p:nvSpPr>
          <p:spPr>
            <a:xfrm>
              <a:off x="5255601" y="4304005"/>
              <a:ext cx="4632284" cy="966500"/>
            </a:xfrm>
            <a:prstGeom prst="roundRect">
              <a:avLst>
                <a:gd name="adj" fmla="val 50000"/>
              </a:avLst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Continuously updated with customer</a:t>
              </a:r>
              <a:r>
                <a:rPr lang="en-US" sz="16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feedback </a:t>
              </a:r>
              <a:endParaRPr sz="1467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3" name="Google Shape;1147;p14">
              <a:extLst>
                <a:ext uri="{FF2B5EF4-FFF2-40B4-BE49-F238E27FC236}">
                  <a16:creationId xmlns:a16="http://schemas.microsoft.com/office/drawing/2014/main" id="{078AA0B6-E3D0-6848-2EE7-C801405AEF13}"/>
                </a:ext>
              </a:extLst>
            </p:cNvPr>
            <p:cNvCxnSpPr/>
            <p:nvPr/>
          </p:nvCxnSpPr>
          <p:spPr>
            <a:xfrm rot="-2700000">
              <a:off x="4548557" y="4107218"/>
              <a:ext cx="362951" cy="939848"/>
            </a:xfrm>
            <a:prstGeom prst="straightConnector1">
              <a:avLst/>
            </a:prstGeom>
            <a:noFill/>
            <a:ln w="19050" cap="flat" cmpd="sng">
              <a:solidFill>
                <a:srgbClr val="9C9C9C"/>
              </a:solidFill>
              <a:prstDash val="solid"/>
              <a:miter lim="800000"/>
              <a:headEnd type="none" w="sm" len="sm"/>
              <a:tailEnd type="oval" w="med" len="med"/>
            </a:ln>
          </p:spPr>
        </p:cxnSp>
      </p:grpSp>
      <p:grpSp>
        <p:nvGrpSpPr>
          <p:cNvPr id="24" name="Google Shape;1148;p14">
            <a:extLst>
              <a:ext uri="{FF2B5EF4-FFF2-40B4-BE49-F238E27FC236}">
                <a16:creationId xmlns:a16="http://schemas.microsoft.com/office/drawing/2014/main" id="{7BE5A4F8-75E6-7BE8-4DEB-42CEAA2AD18B}"/>
              </a:ext>
            </a:extLst>
          </p:cNvPr>
          <p:cNvGrpSpPr/>
          <p:nvPr/>
        </p:nvGrpSpPr>
        <p:grpSpPr>
          <a:xfrm>
            <a:off x="1942054" y="2650556"/>
            <a:ext cx="3058008" cy="3054868"/>
            <a:chOff x="1942054" y="2175068"/>
            <a:chExt cx="3058008" cy="3054868"/>
          </a:xfrm>
        </p:grpSpPr>
        <p:sp>
          <p:nvSpPr>
            <p:cNvPr id="25" name="Google Shape;1149;p14">
              <a:extLst>
                <a:ext uri="{FF2B5EF4-FFF2-40B4-BE49-F238E27FC236}">
                  <a16:creationId xmlns:a16="http://schemas.microsoft.com/office/drawing/2014/main" id="{64310E72-903E-A744-F2A4-7BE07E2762BE}"/>
                </a:ext>
              </a:extLst>
            </p:cNvPr>
            <p:cNvSpPr/>
            <p:nvPr/>
          </p:nvSpPr>
          <p:spPr>
            <a:xfrm>
              <a:off x="1964928" y="2265321"/>
              <a:ext cx="2894582" cy="2894581"/>
            </a:xfrm>
            <a:prstGeom prst="arc">
              <a:avLst>
                <a:gd name="adj1" fmla="val 17218868"/>
                <a:gd name="adj2" fmla="val 436112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6" name="Google Shape;1150;p14">
              <a:extLst>
                <a:ext uri="{FF2B5EF4-FFF2-40B4-BE49-F238E27FC236}">
                  <a16:creationId xmlns:a16="http://schemas.microsoft.com/office/drawing/2014/main" id="{A133986E-6E18-680D-BF07-C1F07688BED0}"/>
                </a:ext>
              </a:extLst>
            </p:cNvPr>
            <p:cNvGrpSpPr/>
            <p:nvPr/>
          </p:nvGrpSpPr>
          <p:grpSpPr>
            <a:xfrm>
              <a:off x="1942054" y="2175068"/>
              <a:ext cx="3058008" cy="3054868"/>
              <a:chOff x="1858695" y="3144060"/>
              <a:chExt cx="1748277" cy="1746483"/>
            </a:xfrm>
          </p:grpSpPr>
          <p:grpSp>
            <p:nvGrpSpPr>
              <p:cNvPr id="29" name="Google Shape;1151;p14">
                <a:extLst>
                  <a:ext uri="{FF2B5EF4-FFF2-40B4-BE49-F238E27FC236}">
                    <a16:creationId xmlns:a16="http://schemas.microsoft.com/office/drawing/2014/main" id="{1198BCC5-95D0-A535-C81F-D7DBD5801F10}"/>
                  </a:ext>
                </a:extLst>
              </p:cNvPr>
              <p:cNvGrpSpPr/>
              <p:nvPr/>
            </p:nvGrpSpPr>
            <p:grpSpPr>
              <a:xfrm>
                <a:off x="1858695" y="3144060"/>
                <a:ext cx="1748277" cy="1746483"/>
                <a:chOff x="209124" y="3353554"/>
                <a:chExt cx="1923104" cy="1921131"/>
              </a:xfrm>
            </p:grpSpPr>
            <p:sp>
              <p:nvSpPr>
                <p:cNvPr id="31" name="Google Shape;1152;p14">
                  <a:extLst>
                    <a:ext uri="{FF2B5EF4-FFF2-40B4-BE49-F238E27FC236}">
                      <a16:creationId xmlns:a16="http://schemas.microsoft.com/office/drawing/2014/main" id="{245E17B1-C0C1-8D54-57EA-AF23CF11391C}"/>
                    </a:ext>
                  </a:extLst>
                </p:cNvPr>
                <p:cNvSpPr/>
                <p:nvPr/>
              </p:nvSpPr>
              <p:spPr>
                <a:xfrm>
                  <a:off x="211299" y="3353754"/>
                  <a:ext cx="1920929" cy="1920930"/>
                </a:xfrm>
                <a:prstGeom prst="pie">
                  <a:avLst>
                    <a:gd name="adj1" fmla="val 5435170"/>
                    <a:gd name="adj2" fmla="val 16177132"/>
                  </a:avLst>
                </a:prstGeom>
                <a:solidFill>
                  <a:srgbClr val="D8D8D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" name="Google Shape;1153;p14">
                  <a:extLst>
                    <a:ext uri="{FF2B5EF4-FFF2-40B4-BE49-F238E27FC236}">
                      <a16:creationId xmlns:a16="http://schemas.microsoft.com/office/drawing/2014/main" id="{4F5F1B2F-78E1-D9C9-FA39-0DB7AA09BDA8}"/>
                    </a:ext>
                  </a:extLst>
                </p:cNvPr>
                <p:cNvSpPr/>
                <p:nvPr/>
              </p:nvSpPr>
              <p:spPr>
                <a:xfrm>
                  <a:off x="211297" y="3353754"/>
                  <a:ext cx="1920929" cy="1920930"/>
                </a:xfrm>
                <a:prstGeom prst="pie">
                  <a:avLst>
                    <a:gd name="adj1" fmla="val 3221791"/>
                    <a:gd name="adj2" fmla="val 5435789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600" b="1" i="0" u="none" strike="noStrike" cap="none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3" name="Google Shape;1154;p14">
                  <a:extLst>
                    <a:ext uri="{FF2B5EF4-FFF2-40B4-BE49-F238E27FC236}">
                      <a16:creationId xmlns:a16="http://schemas.microsoft.com/office/drawing/2014/main" id="{200F9723-F67C-72BB-5E5F-BE247A00035B}"/>
                    </a:ext>
                  </a:extLst>
                </p:cNvPr>
                <p:cNvSpPr/>
                <p:nvPr/>
              </p:nvSpPr>
              <p:spPr>
                <a:xfrm>
                  <a:off x="211297" y="3353754"/>
                  <a:ext cx="1920929" cy="1920930"/>
                </a:xfrm>
                <a:prstGeom prst="pie">
                  <a:avLst>
                    <a:gd name="adj1" fmla="val 948922"/>
                    <a:gd name="adj2" fmla="val 3259051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4" name="Google Shape;1155;p14">
                  <a:extLst>
                    <a:ext uri="{FF2B5EF4-FFF2-40B4-BE49-F238E27FC236}">
                      <a16:creationId xmlns:a16="http://schemas.microsoft.com/office/drawing/2014/main" id="{4EEE8B58-C58A-D7F4-68FD-09B5D5BCE8B1}"/>
                    </a:ext>
                  </a:extLst>
                </p:cNvPr>
                <p:cNvSpPr/>
                <p:nvPr/>
              </p:nvSpPr>
              <p:spPr>
                <a:xfrm>
                  <a:off x="209124" y="3353554"/>
                  <a:ext cx="1920929" cy="1920930"/>
                </a:xfrm>
                <a:prstGeom prst="pie">
                  <a:avLst>
                    <a:gd name="adj1" fmla="val 20299981"/>
                    <a:gd name="adj2" fmla="val 963198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" name="Google Shape;1156;p14">
                  <a:extLst>
                    <a:ext uri="{FF2B5EF4-FFF2-40B4-BE49-F238E27FC236}">
                      <a16:creationId xmlns:a16="http://schemas.microsoft.com/office/drawing/2014/main" id="{E99CB1BD-AF76-E7A7-A2F7-530B9346BC0F}"/>
                    </a:ext>
                  </a:extLst>
                </p:cNvPr>
                <p:cNvSpPr/>
                <p:nvPr/>
              </p:nvSpPr>
              <p:spPr>
                <a:xfrm>
                  <a:off x="211297" y="3353754"/>
                  <a:ext cx="1920929" cy="1920930"/>
                </a:xfrm>
                <a:prstGeom prst="pie">
                  <a:avLst>
                    <a:gd name="adj1" fmla="val 18109242"/>
                    <a:gd name="adj2" fmla="val 20316139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6" name="Google Shape;1157;p14">
                  <a:extLst>
                    <a:ext uri="{FF2B5EF4-FFF2-40B4-BE49-F238E27FC236}">
                      <a16:creationId xmlns:a16="http://schemas.microsoft.com/office/drawing/2014/main" id="{A4B564AF-AE11-A82D-8830-70DFB026319D}"/>
                    </a:ext>
                  </a:extLst>
                </p:cNvPr>
                <p:cNvSpPr/>
                <p:nvPr/>
              </p:nvSpPr>
              <p:spPr>
                <a:xfrm>
                  <a:off x="211298" y="3353755"/>
                  <a:ext cx="1920929" cy="1920930"/>
                </a:xfrm>
                <a:prstGeom prst="pie">
                  <a:avLst>
                    <a:gd name="adj1" fmla="val 16150917"/>
                    <a:gd name="adj2" fmla="val 1812453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0" name="Google Shape;1158;p14">
                <a:extLst>
                  <a:ext uri="{FF2B5EF4-FFF2-40B4-BE49-F238E27FC236}">
                    <a16:creationId xmlns:a16="http://schemas.microsoft.com/office/drawing/2014/main" id="{D0DEFD7A-7FF7-C4E8-6929-76B655A9EFAB}"/>
                  </a:ext>
                </a:extLst>
              </p:cNvPr>
              <p:cNvSpPr/>
              <p:nvPr/>
            </p:nvSpPr>
            <p:spPr>
              <a:xfrm>
                <a:off x="2009921" y="3293491"/>
                <a:ext cx="1447800" cy="1447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7" name="Google Shape;1159;p14">
              <a:extLst>
                <a:ext uri="{FF2B5EF4-FFF2-40B4-BE49-F238E27FC236}">
                  <a16:creationId xmlns:a16="http://schemas.microsoft.com/office/drawing/2014/main" id="{5067C948-51DC-C4F6-D860-5AE2AEB3F659}"/>
                </a:ext>
              </a:extLst>
            </p:cNvPr>
            <p:cNvSpPr/>
            <p:nvPr/>
          </p:nvSpPr>
          <p:spPr>
            <a:xfrm>
              <a:off x="2537437" y="4108774"/>
              <a:ext cx="1914294" cy="468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endParaRPr sz="1467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28" name="Google Shape;1160;p14">
              <a:extLst>
                <a:ext uri="{FF2B5EF4-FFF2-40B4-BE49-F238E27FC236}">
                  <a16:creationId xmlns:a16="http://schemas.microsoft.com/office/drawing/2014/main" id="{FE439ED2-2FD1-5ADF-17ED-476D567357E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394942" y="2690119"/>
              <a:ext cx="2152230" cy="20247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" name="Google Shape;1161;p14">
            <a:extLst>
              <a:ext uri="{FF2B5EF4-FFF2-40B4-BE49-F238E27FC236}">
                <a16:creationId xmlns:a16="http://schemas.microsoft.com/office/drawing/2014/main" id="{FE536C79-457E-D25E-A386-F12B9B78E03F}"/>
              </a:ext>
            </a:extLst>
          </p:cNvPr>
          <p:cNvSpPr txBox="1"/>
          <p:nvPr/>
        </p:nvSpPr>
        <p:spPr>
          <a:xfrm>
            <a:off x="719138" y="677101"/>
            <a:ext cx="10753725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MVP: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ADVANTAGES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19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66;p15">
            <a:extLst>
              <a:ext uri="{FF2B5EF4-FFF2-40B4-BE49-F238E27FC236}">
                <a16:creationId xmlns:a16="http://schemas.microsoft.com/office/drawing/2014/main" id="{FCECC85D-BF32-C7F8-EA97-DD954A3A6C13}"/>
              </a:ext>
            </a:extLst>
          </p:cNvPr>
          <p:cNvSpPr/>
          <p:nvPr/>
        </p:nvSpPr>
        <p:spPr>
          <a:xfrm>
            <a:off x="3257549" y="5812260"/>
            <a:ext cx="5876926" cy="1089813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MVP is not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of a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lower quality than the original software. It is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version with only those features necessary to implement the core functionality o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r i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dea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167;p15">
            <a:extLst>
              <a:ext uri="{FF2B5EF4-FFF2-40B4-BE49-F238E27FC236}">
                <a16:creationId xmlns:a16="http://schemas.microsoft.com/office/drawing/2014/main" id="{4E9CBDCD-7705-0FE3-418E-E3EA64CCC608}"/>
              </a:ext>
            </a:extLst>
          </p:cNvPr>
          <p:cNvSpPr txBox="1"/>
          <p:nvPr/>
        </p:nvSpPr>
        <p:spPr>
          <a:xfrm>
            <a:off x="681872" y="1106460"/>
            <a:ext cx="10753725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RIGHT WAY TO BUILD AN MVP</a:t>
            </a:r>
            <a:endParaRPr sz="24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" name="Google Shape;1168;p15">
            <a:extLst>
              <a:ext uri="{FF2B5EF4-FFF2-40B4-BE49-F238E27FC236}">
                <a16:creationId xmlns:a16="http://schemas.microsoft.com/office/drawing/2014/main" id="{4438FF05-3D94-A01C-E5F5-B983F894FD1F}"/>
              </a:ext>
            </a:extLst>
          </p:cNvPr>
          <p:cNvGrpSpPr/>
          <p:nvPr/>
        </p:nvGrpSpPr>
        <p:grpSpPr>
          <a:xfrm>
            <a:off x="3262204" y="1782012"/>
            <a:ext cx="5682192" cy="1841705"/>
            <a:chOff x="3257549" y="883237"/>
            <a:chExt cx="5682192" cy="1841705"/>
          </a:xfrm>
        </p:grpSpPr>
        <p:grpSp>
          <p:nvGrpSpPr>
            <p:cNvPr id="12" name="Google Shape;1169;p15">
              <a:extLst>
                <a:ext uri="{FF2B5EF4-FFF2-40B4-BE49-F238E27FC236}">
                  <a16:creationId xmlns:a16="http://schemas.microsoft.com/office/drawing/2014/main" id="{E27D4990-F8CC-5287-C053-73EF358AAFD7}"/>
                </a:ext>
              </a:extLst>
            </p:cNvPr>
            <p:cNvGrpSpPr/>
            <p:nvPr/>
          </p:nvGrpSpPr>
          <p:grpSpPr>
            <a:xfrm>
              <a:off x="7566238" y="1439066"/>
              <a:ext cx="1373503" cy="1285876"/>
              <a:chOff x="3257549" y="1704975"/>
              <a:chExt cx="1373503" cy="1285876"/>
            </a:xfrm>
          </p:grpSpPr>
          <p:sp>
            <p:nvSpPr>
              <p:cNvPr id="31" name="Google Shape;1170;p15">
                <a:extLst>
                  <a:ext uri="{FF2B5EF4-FFF2-40B4-BE49-F238E27FC236}">
                    <a16:creationId xmlns:a16="http://schemas.microsoft.com/office/drawing/2014/main" id="{8A9D6477-2888-63F2-8CA8-3ACFB93EC8E0}"/>
                  </a:ext>
                </a:extLst>
              </p:cNvPr>
              <p:cNvSpPr/>
              <p:nvPr/>
            </p:nvSpPr>
            <p:spPr>
              <a:xfrm>
                <a:off x="3258029" y="1704975"/>
                <a:ext cx="1284916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284916" h="638175" extrusionOk="0">
                    <a:moveTo>
                      <a:pt x="642458" y="0"/>
                    </a:moveTo>
                    <a:cubicBezTo>
                      <a:pt x="953158" y="0"/>
                      <a:pt x="1212382" y="220388"/>
                      <a:pt x="1272334" y="513364"/>
                    </a:cubicBezTo>
                    <a:lnTo>
                      <a:pt x="1284916" y="638175"/>
                    </a:lnTo>
                    <a:lnTo>
                      <a:pt x="1084891" y="638175"/>
                    </a:lnTo>
                    <a:lnTo>
                      <a:pt x="1076373" y="553676"/>
                    </a:lnTo>
                    <a:cubicBezTo>
                      <a:pt x="1035073" y="351848"/>
                      <a:pt x="856495" y="200025"/>
                      <a:pt x="642458" y="200025"/>
                    </a:cubicBezTo>
                    <a:cubicBezTo>
                      <a:pt x="428421" y="200025"/>
                      <a:pt x="249844" y="351848"/>
                      <a:pt x="208543" y="553676"/>
                    </a:cubicBezTo>
                    <a:lnTo>
                      <a:pt x="200025" y="638175"/>
                    </a:lnTo>
                    <a:lnTo>
                      <a:pt x="0" y="638175"/>
                    </a:lnTo>
                    <a:lnTo>
                      <a:pt x="12582" y="513364"/>
                    </a:lnTo>
                    <a:cubicBezTo>
                      <a:pt x="72534" y="220388"/>
                      <a:pt x="331759" y="0"/>
                      <a:pt x="642458" y="0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1171;p15">
                <a:extLst>
                  <a:ext uri="{FF2B5EF4-FFF2-40B4-BE49-F238E27FC236}">
                    <a16:creationId xmlns:a16="http://schemas.microsoft.com/office/drawing/2014/main" id="{192B2F9F-A572-8756-4DF7-BC1D470D445A}"/>
                  </a:ext>
                </a:extLst>
              </p:cNvPr>
              <p:cNvSpPr/>
              <p:nvPr/>
            </p:nvSpPr>
            <p:spPr>
              <a:xfrm>
                <a:off x="3257549" y="2210802"/>
                <a:ext cx="1373503" cy="780049"/>
              </a:xfrm>
              <a:custGeom>
                <a:avLst/>
                <a:gdLst/>
                <a:ahLst/>
                <a:cxnLst/>
                <a:rect l="l" t="t" r="r" b="b"/>
                <a:pathLst>
                  <a:path w="1373503" h="780049" extrusionOk="0">
                    <a:moveTo>
                      <a:pt x="1185384" y="0"/>
                    </a:moveTo>
                    <a:lnTo>
                      <a:pt x="1373503" y="133348"/>
                    </a:lnTo>
                    <a:lnTo>
                      <a:pt x="1285497" y="133348"/>
                    </a:lnTo>
                    <a:lnTo>
                      <a:pt x="1285876" y="137111"/>
                    </a:lnTo>
                    <a:cubicBezTo>
                      <a:pt x="1285876" y="492196"/>
                      <a:pt x="998023" y="780049"/>
                      <a:pt x="642938" y="780049"/>
                    </a:cubicBezTo>
                    <a:cubicBezTo>
                      <a:pt x="287853" y="780049"/>
                      <a:pt x="0" y="492196"/>
                      <a:pt x="0" y="137111"/>
                    </a:cubicBezTo>
                    <a:lnTo>
                      <a:pt x="480" y="132348"/>
                    </a:lnTo>
                    <a:lnTo>
                      <a:pt x="200505" y="132348"/>
                    </a:lnTo>
                    <a:lnTo>
                      <a:pt x="200025" y="137111"/>
                    </a:lnTo>
                    <a:cubicBezTo>
                      <a:pt x="200025" y="381725"/>
                      <a:pt x="398324" y="580024"/>
                      <a:pt x="642938" y="580024"/>
                    </a:cubicBezTo>
                    <a:cubicBezTo>
                      <a:pt x="887552" y="580024"/>
                      <a:pt x="1085851" y="381725"/>
                      <a:pt x="1085851" y="137111"/>
                    </a:cubicBezTo>
                    <a:lnTo>
                      <a:pt x="1085472" y="133348"/>
                    </a:lnTo>
                    <a:lnTo>
                      <a:pt x="997265" y="1333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" name="Google Shape;1172;p15" descr="https://lh6.googleusercontent.com/FPHqrvFT43sH7gJnKjQszK7344XzMnfeCET2t6yRoKr0qj7oEhBPSh_c5En3Y2aNFP1qUWUnrZZMlwaoNLGCERrAD8OG0QmWVIN1W1_T-9ZCVJBvHwNgAWvzfNzNdIAF-4s5sZ5-">
              <a:extLst>
                <a:ext uri="{FF2B5EF4-FFF2-40B4-BE49-F238E27FC236}">
                  <a16:creationId xmlns:a16="http://schemas.microsoft.com/office/drawing/2014/main" id="{7FCAB172-7359-41E9-E207-EAEDBC3CEF2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3703" t="25094" r="77545" b="63977"/>
            <a:stretch/>
          </p:blipFill>
          <p:spPr>
            <a:xfrm>
              <a:off x="3648075" y="1822656"/>
              <a:ext cx="586686" cy="49622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" name="Google Shape;1173;p15">
              <a:extLst>
                <a:ext uri="{FF2B5EF4-FFF2-40B4-BE49-F238E27FC236}">
                  <a16:creationId xmlns:a16="http://schemas.microsoft.com/office/drawing/2014/main" id="{16B79A36-4655-8FE0-BCE1-F71F1D438C13}"/>
                </a:ext>
              </a:extLst>
            </p:cNvPr>
            <p:cNvGrpSpPr/>
            <p:nvPr/>
          </p:nvGrpSpPr>
          <p:grpSpPr>
            <a:xfrm rot="10800000" flipH="1">
              <a:off x="6481868" y="1439066"/>
              <a:ext cx="1373503" cy="1285876"/>
              <a:chOff x="4380018" y="1704975"/>
              <a:chExt cx="1373503" cy="1285876"/>
            </a:xfrm>
          </p:grpSpPr>
          <p:sp>
            <p:nvSpPr>
              <p:cNvPr id="29" name="Google Shape;1174;p15">
                <a:extLst>
                  <a:ext uri="{FF2B5EF4-FFF2-40B4-BE49-F238E27FC236}">
                    <a16:creationId xmlns:a16="http://schemas.microsoft.com/office/drawing/2014/main" id="{ED44915D-B683-0674-4E6F-7897D827E60A}"/>
                  </a:ext>
                </a:extLst>
              </p:cNvPr>
              <p:cNvSpPr/>
              <p:nvPr/>
            </p:nvSpPr>
            <p:spPr>
              <a:xfrm>
                <a:off x="4380498" y="1704975"/>
                <a:ext cx="1284916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284916" h="638175" extrusionOk="0">
                    <a:moveTo>
                      <a:pt x="642458" y="0"/>
                    </a:moveTo>
                    <a:cubicBezTo>
                      <a:pt x="953158" y="0"/>
                      <a:pt x="1212382" y="220388"/>
                      <a:pt x="1272334" y="513364"/>
                    </a:cubicBezTo>
                    <a:lnTo>
                      <a:pt x="1284916" y="638175"/>
                    </a:lnTo>
                    <a:lnTo>
                      <a:pt x="1084891" y="638175"/>
                    </a:lnTo>
                    <a:lnTo>
                      <a:pt x="1076373" y="553676"/>
                    </a:lnTo>
                    <a:cubicBezTo>
                      <a:pt x="1035073" y="351848"/>
                      <a:pt x="856495" y="200025"/>
                      <a:pt x="642458" y="200025"/>
                    </a:cubicBezTo>
                    <a:cubicBezTo>
                      <a:pt x="428421" y="200025"/>
                      <a:pt x="249844" y="351848"/>
                      <a:pt x="208543" y="553676"/>
                    </a:cubicBezTo>
                    <a:lnTo>
                      <a:pt x="200025" y="638175"/>
                    </a:lnTo>
                    <a:lnTo>
                      <a:pt x="0" y="638175"/>
                    </a:lnTo>
                    <a:lnTo>
                      <a:pt x="12582" y="513364"/>
                    </a:lnTo>
                    <a:cubicBezTo>
                      <a:pt x="72534" y="220388"/>
                      <a:pt x="331759" y="0"/>
                      <a:pt x="642458" y="0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1175;p15">
                <a:extLst>
                  <a:ext uri="{FF2B5EF4-FFF2-40B4-BE49-F238E27FC236}">
                    <a16:creationId xmlns:a16="http://schemas.microsoft.com/office/drawing/2014/main" id="{863BB728-19D4-8E98-2F12-314A62CCF055}"/>
                  </a:ext>
                </a:extLst>
              </p:cNvPr>
              <p:cNvSpPr/>
              <p:nvPr/>
            </p:nvSpPr>
            <p:spPr>
              <a:xfrm>
                <a:off x="4380018" y="2210802"/>
                <a:ext cx="1373503" cy="780049"/>
              </a:xfrm>
              <a:custGeom>
                <a:avLst/>
                <a:gdLst/>
                <a:ahLst/>
                <a:cxnLst/>
                <a:rect l="l" t="t" r="r" b="b"/>
                <a:pathLst>
                  <a:path w="1373503" h="780049" extrusionOk="0">
                    <a:moveTo>
                      <a:pt x="1185384" y="0"/>
                    </a:moveTo>
                    <a:lnTo>
                      <a:pt x="1373503" y="133348"/>
                    </a:lnTo>
                    <a:lnTo>
                      <a:pt x="1285497" y="133348"/>
                    </a:lnTo>
                    <a:lnTo>
                      <a:pt x="1285876" y="137111"/>
                    </a:lnTo>
                    <a:cubicBezTo>
                      <a:pt x="1285876" y="492196"/>
                      <a:pt x="998023" y="780049"/>
                      <a:pt x="642938" y="780049"/>
                    </a:cubicBezTo>
                    <a:cubicBezTo>
                      <a:pt x="287853" y="780049"/>
                      <a:pt x="0" y="492196"/>
                      <a:pt x="0" y="137111"/>
                    </a:cubicBezTo>
                    <a:lnTo>
                      <a:pt x="480" y="132348"/>
                    </a:lnTo>
                    <a:lnTo>
                      <a:pt x="200505" y="132348"/>
                    </a:lnTo>
                    <a:lnTo>
                      <a:pt x="200025" y="137111"/>
                    </a:lnTo>
                    <a:cubicBezTo>
                      <a:pt x="200025" y="381725"/>
                      <a:pt x="398324" y="580024"/>
                      <a:pt x="642938" y="580024"/>
                    </a:cubicBezTo>
                    <a:cubicBezTo>
                      <a:pt x="887552" y="580024"/>
                      <a:pt x="1085851" y="381725"/>
                      <a:pt x="1085851" y="137111"/>
                    </a:cubicBezTo>
                    <a:lnTo>
                      <a:pt x="1085472" y="133348"/>
                    </a:lnTo>
                    <a:lnTo>
                      <a:pt x="997265" y="1333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" name="Google Shape;1176;p15">
              <a:extLst>
                <a:ext uri="{FF2B5EF4-FFF2-40B4-BE49-F238E27FC236}">
                  <a16:creationId xmlns:a16="http://schemas.microsoft.com/office/drawing/2014/main" id="{7BDF8A8C-A055-AF8B-C63B-EA284E995A76}"/>
                </a:ext>
              </a:extLst>
            </p:cNvPr>
            <p:cNvGrpSpPr/>
            <p:nvPr/>
          </p:nvGrpSpPr>
          <p:grpSpPr>
            <a:xfrm>
              <a:off x="5416549" y="1439066"/>
              <a:ext cx="1373503" cy="1285876"/>
              <a:chOff x="3257549" y="1704975"/>
              <a:chExt cx="1373503" cy="1285876"/>
            </a:xfrm>
          </p:grpSpPr>
          <p:sp>
            <p:nvSpPr>
              <p:cNvPr id="27" name="Google Shape;1177;p15">
                <a:extLst>
                  <a:ext uri="{FF2B5EF4-FFF2-40B4-BE49-F238E27FC236}">
                    <a16:creationId xmlns:a16="http://schemas.microsoft.com/office/drawing/2014/main" id="{615E486F-83D5-3787-CF01-2E0E2BF4D7C8}"/>
                  </a:ext>
                </a:extLst>
              </p:cNvPr>
              <p:cNvSpPr/>
              <p:nvPr/>
            </p:nvSpPr>
            <p:spPr>
              <a:xfrm>
                <a:off x="3258029" y="1704975"/>
                <a:ext cx="1284916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284916" h="638175" extrusionOk="0">
                    <a:moveTo>
                      <a:pt x="642458" y="0"/>
                    </a:moveTo>
                    <a:cubicBezTo>
                      <a:pt x="953158" y="0"/>
                      <a:pt x="1212382" y="220388"/>
                      <a:pt x="1272334" y="513364"/>
                    </a:cubicBezTo>
                    <a:lnTo>
                      <a:pt x="1284916" y="638175"/>
                    </a:lnTo>
                    <a:lnTo>
                      <a:pt x="1084891" y="638175"/>
                    </a:lnTo>
                    <a:lnTo>
                      <a:pt x="1076373" y="553676"/>
                    </a:lnTo>
                    <a:cubicBezTo>
                      <a:pt x="1035073" y="351848"/>
                      <a:pt x="856495" y="200025"/>
                      <a:pt x="642458" y="200025"/>
                    </a:cubicBezTo>
                    <a:cubicBezTo>
                      <a:pt x="428421" y="200025"/>
                      <a:pt x="249844" y="351848"/>
                      <a:pt x="208543" y="553676"/>
                    </a:cubicBezTo>
                    <a:lnTo>
                      <a:pt x="200025" y="638175"/>
                    </a:lnTo>
                    <a:lnTo>
                      <a:pt x="0" y="638175"/>
                    </a:lnTo>
                    <a:lnTo>
                      <a:pt x="12582" y="513364"/>
                    </a:lnTo>
                    <a:cubicBezTo>
                      <a:pt x="72534" y="220388"/>
                      <a:pt x="331759" y="0"/>
                      <a:pt x="642458" y="0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1178;p15">
                <a:extLst>
                  <a:ext uri="{FF2B5EF4-FFF2-40B4-BE49-F238E27FC236}">
                    <a16:creationId xmlns:a16="http://schemas.microsoft.com/office/drawing/2014/main" id="{308C5539-6E9D-262F-2A49-24875FF2F10E}"/>
                  </a:ext>
                </a:extLst>
              </p:cNvPr>
              <p:cNvSpPr/>
              <p:nvPr/>
            </p:nvSpPr>
            <p:spPr>
              <a:xfrm>
                <a:off x="3257549" y="2210802"/>
                <a:ext cx="1373503" cy="780049"/>
              </a:xfrm>
              <a:custGeom>
                <a:avLst/>
                <a:gdLst/>
                <a:ahLst/>
                <a:cxnLst/>
                <a:rect l="l" t="t" r="r" b="b"/>
                <a:pathLst>
                  <a:path w="1373503" h="780049" extrusionOk="0">
                    <a:moveTo>
                      <a:pt x="1185384" y="0"/>
                    </a:moveTo>
                    <a:lnTo>
                      <a:pt x="1373503" y="133348"/>
                    </a:lnTo>
                    <a:lnTo>
                      <a:pt x="1285497" y="133348"/>
                    </a:lnTo>
                    <a:lnTo>
                      <a:pt x="1285876" y="137111"/>
                    </a:lnTo>
                    <a:cubicBezTo>
                      <a:pt x="1285876" y="492196"/>
                      <a:pt x="998023" y="780049"/>
                      <a:pt x="642938" y="780049"/>
                    </a:cubicBezTo>
                    <a:cubicBezTo>
                      <a:pt x="287853" y="780049"/>
                      <a:pt x="0" y="492196"/>
                      <a:pt x="0" y="137111"/>
                    </a:cubicBezTo>
                    <a:lnTo>
                      <a:pt x="480" y="132348"/>
                    </a:lnTo>
                    <a:lnTo>
                      <a:pt x="200505" y="132348"/>
                    </a:lnTo>
                    <a:lnTo>
                      <a:pt x="200025" y="137111"/>
                    </a:lnTo>
                    <a:cubicBezTo>
                      <a:pt x="200025" y="381725"/>
                      <a:pt x="398324" y="580024"/>
                      <a:pt x="642938" y="580024"/>
                    </a:cubicBezTo>
                    <a:cubicBezTo>
                      <a:pt x="887552" y="580024"/>
                      <a:pt x="1085851" y="381725"/>
                      <a:pt x="1085851" y="137111"/>
                    </a:cubicBezTo>
                    <a:lnTo>
                      <a:pt x="1085472" y="133348"/>
                    </a:lnTo>
                    <a:lnTo>
                      <a:pt x="997265" y="1333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" name="Google Shape;1179;p15">
              <a:extLst>
                <a:ext uri="{FF2B5EF4-FFF2-40B4-BE49-F238E27FC236}">
                  <a16:creationId xmlns:a16="http://schemas.microsoft.com/office/drawing/2014/main" id="{A04C0BCB-F729-74DD-52AC-3E55968C4A55}"/>
                </a:ext>
              </a:extLst>
            </p:cNvPr>
            <p:cNvGrpSpPr/>
            <p:nvPr/>
          </p:nvGrpSpPr>
          <p:grpSpPr>
            <a:xfrm rot="10800000" flipH="1">
              <a:off x="4322868" y="1439066"/>
              <a:ext cx="1373503" cy="1285876"/>
              <a:chOff x="4380018" y="1704975"/>
              <a:chExt cx="1373503" cy="1285876"/>
            </a:xfrm>
          </p:grpSpPr>
          <p:sp>
            <p:nvSpPr>
              <p:cNvPr id="25" name="Google Shape;1180;p15">
                <a:extLst>
                  <a:ext uri="{FF2B5EF4-FFF2-40B4-BE49-F238E27FC236}">
                    <a16:creationId xmlns:a16="http://schemas.microsoft.com/office/drawing/2014/main" id="{FFD6BB94-AD7D-16CD-E281-38916AD90164}"/>
                  </a:ext>
                </a:extLst>
              </p:cNvPr>
              <p:cNvSpPr/>
              <p:nvPr/>
            </p:nvSpPr>
            <p:spPr>
              <a:xfrm>
                <a:off x="4380498" y="1704975"/>
                <a:ext cx="1284916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284916" h="638175" extrusionOk="0">
                    <a:moveTo>
                      <a:pt x="642458" y="0"/>
                    </a:moveTo>
                    <a:cubicBezTo>
                      <a:pt x="953158" y="0"/>
                      <a:pt x="1212382" y="220388"/>
                      <a:pt x="1272334" y="513364"/>
                    </a:cubicBezTo>
                    <a:lnTo>
                      <a:pt x="1284916" y="638175"/>
                    </a:lnTo>
                    <a:lnTo>
                      <a:pt x="1084891" y="638175"/>
                    </a:lnTo>
                    <a:lnTo>
                      <a:pt x="1076373" y="553676"/>
                    </a:lnTo>
                    <a:cubicBezTo>
                      <a:pt x="1035073" y="351848"/>
                      <a:pt x="856495" y="200025"/>
                      <a:pt x="642458" y="200025"/>
                    </a:cubicBezTo>
                    <a:cubicBezTo>
                      <a:pt x="428421" y="200025"/>
                      <a:pt x="249844" y="351848"/>
                      <a:pt x="208543" y="553676"/>
                    </a:cubicBezTo>
                    <a:lnTo>
                      <a:pt x="200025" y="638175"/>
                    </a:lnTo>
                    <a:lnTo>
                      <a:pt x="0" y="638175"/>
                    </a:lnTo>
                    <a:lnTo>
                      <a:pt x="12582" y="513364"/>
                    </a:lnTo>
                    <a:cubicBezTo>
                      <a:pt x="72534" y="220388"/>
                      <a:pt x="331759" y="0"/>
                      <a:pt x="642458" y="0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81;p15">
                <a:extLst>
                  <a:ext uri="{FF2B5EF4-FFF2-40B4-BE49-F238E27FC236}">
                    <a16:creationId xmlns:a16="http://schemas.microsoft.com/office/drawing/2014/main" id="{7D1BA9DF-9DDE-434C-887F-F0E46151075D}"/>
                  </a:ext>
                </a:extLst>
              </p:cNvPr>
              <p:cNvSpPr/>
              <p:nvPr/>
            </p:nvSpPr>
            <p:spPr>
              <a:xfrm>
                <a:off x="4380018" y="2210802"/>
                <a:ext cx="1373503" cy="780049"/>
              </a:xfrm>
              <a:custGeom>
                <a:avLst/>
                <a:gdLst/>
                <a:ahLst/>
                <a:cxnLst/>
                <a:rect l="l" t="t" r="r" b="b"/>
                <a:pathLst>
                  <a:path w="1373503" h="780049" extrusionOk="0">
                    <a:moveTo>
                      <a:pt x="1185384" y="0"/>
                    </a:moveTo>
                    <a:lnTo>
                      <a:pt x="1373503" y="133348"/>
                    </a:lnTo>
                    <a:lnTo>
                      <a:pt x="1285497" y="133348"/>
                    </a:lnTo>
                    <a:lnTo>
                      <a:pt x="1285876" y="137111"/>
                    </a:lnTo>
                    <a:cubicBezTo>
                      <a:pt x="1285876" y="492196"/>
                      <a:pt x="998023" y="780049"/>
                      <a:pt x="642938" y="780049"/>
                    </a:cubicBezTo>
                    <a:cubicBezTo>
                      <a:pt x="287853" y="780049"/>
                      <a:pt x="0" y="492196"/>
                      <a:pt x="0" y="137111"/>
                    </a:cubicBezTo>
                    <a:lnTo>
                      <a:pt x="480" y="132348"/>
                    </a:lnTo>
                    <a:lnTo>
                      <a:pt x="200505" y="132348"/>
                    </a:lnTo>
                    <a:lnTo>
                      <a:pt x="200025" y="137111"/>
                    </a:lnTo>
                    <a:cubicBezTo>
                      <a:pt x="200025" y="381725"/>
                      <a:pt x="398324" y="580024"/>
                      <a:pt x="642938" y="580024"/>
                    </a:cubicBezTo>
                    <a:cubicBezTo>
                      <a:pt x="887552" y="580024"/>
                      <a:pt x="1085851" y="381725"/>
                      <a:pt x="1085851" y="137111"/>
                    </a:cubicBezTo>
                    <a:lnTo>
                      <a:pt x="1085472" y="133348"/>
                    </a:lnTo>
                    <a:lnTo>
                      <a:pt x="997265" y="1333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" name="Google Shape;1182;p15">
              <a:extLst>
                <a:ext uri="{FF2B5EF4-FFF2-40B4-BE49-F238E27FC236}">
                  <a16:creationId xmlns:a16="http://schemas.microsoft.com/office/drawing/2014/main" id="{64A723F5-FA42-EF83-20C4-D445875B65EB}"/>
                </a:ext>
              </a:extLst>
            </p:cNvPr>
            <p:cNvGrpSpPr/>
            <p:nvPr/>
          </p:nvGrpSpPr>
          <p:grpSpPr>
            <a:xfrm>
              <a:off x="3257549" y="1439066"/>
              <a:ext cx="1373503" cy="1285876"/>
              <a:chOff x="3257549" y="1704975"/>
              <a:chExt cx="1373503" cy="1285876"/>
            </a:xfrm>
          </p:grpSpPr>
          <p:sp>
            <p:nvSpPr>
              <p:cNvPr id="23" name="Google Shape;1183;p15">
                <a:extLst>
                  <a:ext uri="{FF2B5EF4-FFF2-40B4-BE49-F238E27FC236}">
                    <a16:creationId xmlns:a16="http://schemas.microsoft.com/office/drawing/2014/main" id="{4B735648-72D5-302E-9293-0473D5F3D8EF}"/>
                  </a:ext>
                </a:extLst>
              </p:cNvPr>
              <p:cNvSpPr/>
              <p:nvPr/>
            </p:nvSpPr>
            <p:spPr>
              <a:xfrm>
                <a:off x="3258029" y="1704975"/>
                <a:ext cx="1284916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284916" h="638175" extrusionOk="0">
                    <a:moveTo>
                      <a:pt x="642458" y="0"/>
                    </a:moveTo>
                    <a:cubicBezTo>
                      <a:pt x="953158" y="0"/>
                      <a:pt x="1212382" y="220388"/>
                      <a:pt x="1272334" y="513364"/>
                    </a:cubicBezTo>
                    <a:lnTo>
                      <a:pt x="1284916" y="638175"/>
                    </a:lnTo>
                    <a:lnTo>
                      <a:pt x="1084891" y="638175"/>
                    </a:lnTo>
                    <a:lnTo>
                      <a:pt x="1076373" y="553676"/>
                    </a:lnTo>
                    <a:cubicBezTo>
                      <a:pt x="1035073" y="351848"/>
                      <a:pt x="856495" y="200025"/>
                      <a:pt x="642458" y="200025"/>
                    </a:cubicBezTo>
                    <a:cubicBezTo>
                      <a:pt x="428421" y="200025"/>
                      <a:pt x="249844" y="351848"/>
                      <a:pt x="208543" y="553676"/>
                    </a:cubicBezTo>
                    <a:lnTo>
                      <a:pt x="200025" y="638175"/>
                    </a:lnTo>
                    <a:lnTo>
                      <a:pt x="0" y="638175"/>
                    </a:lnTo>
                    <a:lnTo>
                      <a:pt x="12582" y="513364"/>
                    </a:lnTo>
                    <a:cubicBezTo>
                      <a:pt x="72534" y="220388"/>
                      <a:pt x="331759" y="0"/>
                      <a:pt x="642458" y="0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84;p15">
                <a:extLst>
                  <a:ext uri="{FF2B5EF4-FFF2-40B4-BE49-F238E27FC236}">
                    <a16:creationId xmlns:a16="http://schemas.microsoft.com/office/drawing/2014/main" id="{5428EAFB-DC44-CE16-CD61-4D46A87CFD81}"/>
                  </a:ext>
                </a:extLst>
              </p:cNvPr>
              <p:cNvSpPr/>
              <p:nvPr/>
            </p:nvSpPr>
            <p:spPr>
              <a:xfrm>
                <a:off x="3257549" y="2210802"/>
                <a:ext cx="1373503" cy="780049"/>
              </a:xfrm>
              <a:custGeom>
                <a:avLst/>
                <a:gdLst/>
                <a:ahLst/>
                <a:cxnLst/>
                <a:rect l="l" t="t" r="r" b="b"/>
                <a:pathLst>
                  <a:path w="1373503" h="780049" extrusionOk="0">
                    <a:moveTo>
                      <a:pt x="1185384" y="0"/>
                    </a:moveTo>
                    <a:lnTo>
                      <a:pt x="1373503" y="133348"/>
                    </a:lnTo>
                    <a:lnTo>
                      <a:pt x="1285497" y="133348"/>
                    </a:lnTo>
                    <a:lnTo>
                      <a:pt x="1285876" y="137111"/>
                    </a:lnTo>
                    <a:cubicBezTo>
                      <a:pt x="1285876" y="492196"/>
                      <a:pt x="998023" y="780049"/>
                      <a:pt x="642938" y="780049"/>
                    </a:cubicBezTo>
                    <a:cubicBezTo>
                      <a:pt x="287853" y="780049"/>
                      <a:pt x="0" y="492196"/>
                      <a:pt x="0" y="137111"/>
                    </a:cubicBezTo>
                    <a:lnTo>
                      <a:pt x="480" y="132348"/>
                    </a:lnTo>
                    <a:lnTo>
                      <a:pt x="200505" y="132348"/>
                    </a:lnTo>
                    <a:lnTo>
                      <a:pt x="200025" y="137111"/>
                    </a:lnTo>
                    <a:cubicBezTo>
                      <a:pt x="200025" y="381725"/>
                      <a:pt x="398324" y="580024"/>
                      <a:pt x="642938" y="580024"/>
                    </a:cubicBezTo>
                    <a:cubicBezTo>
                      <a:pt x="887552" y="580024"/>
                      <a:pt x="1085851" y="381725"/>
                      <a:pt x="1085851" y="137111"/>
                    </a:cubicBezTo>
                    <a:lnTo>
                      <a:pt x="1085472" y="133348"/>
                    </a:lnTo>
                    <a:lnTo>
                      <a:pt x="997265" y="1333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8" name="Google Shape;1185;p15" descr="https://lh6.googleusercontent.com/FPHqrvFT43sH7gJnKjQszK7344XzMnfeCET2t6yRoKr0qj7oEhBPSh_c5En3Y2aNFP1qUWUnrZZMlwaoNLGCERrAD8OG0QmWVIN1W1_T-9ZCVJBvHwNgAWvzfNzNdIAF-4s5sZ5-">
              <a:extLst>
                <a:ext uri="{FF2B5EF4-FFF2-40B4-BE49-F238E27FC236}">
                  <a16:creationId xmlns:a16="http://schemas.microsoft.com/office/drawing/2014/main" id="{85EC3368-4E6A-3FBD-22F8-41030FF828F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9046" t="25094" r="62202" b="63977"/>
            <a:stretch/>
          </p:blipFill>
          <p:spPr>
            <a:xfrm>
              <a:off x="4698441" y="1822656"/>
              <a:ext cx="586686" cy="4962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186;p15" descr="https://lh6.googleusercontent.com/FPHqrvFT43sH7gJnKjQszK7344XzMnfeCET2t6yRoKr0qj7oEhBPSh_c5En3Y2aNFP1qUWUnrZZMlwaoNLGCERrAD8OG0QmWVIN1W1_T-9ZCVJBvHwNgAWvzfNzNdIAF-4s5sZ5-">
              <a:extLst>
                <a:ext uri="{FF2B5EF4-FFF2-40B4-BE49-F238E27FC236}">
                  <a16:creationId xmlns:a16="http://schemas.microsoft.com/office/drawing/2014/main" id="{8A117289-5545-18B8-804A-BE2D7E0E79F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45670" t="25094" r="45578" b="63977"/>
            <a:stretch/>
          </p:blipFill>
          <p:spPr>
            <a:xfrm>
              <a:off x="5813052" y="1822656"/>
              <a:ext cx="586686" cy="4962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187;p15" descr="https://lh6.googleusercontent.com/FPHqrvFT43sH7gJnKjQszK7344XzMnfeCET2t6yRoKr0qj7oEhBPSh_c5En3Y2aNFP1qUWUnrZZMlwaoNLGCERrAD8OG0QmWVIN1W1_T-9ZCVJBvHwNgAWvzfNzNdIAF-4s5sZ5-">
              <a:extLst>
                <a:ext uri="{FF2B5EF4-FFF2-40B4-BE49-F238E27FC236}">
                  <a16:creationId xmlns:a16="http://schemas.microsoft.com/office/drawing/2014/main" id="{9A7411AF-CD02-0853-E37D-2F7F6B31E03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60780" t="25094" r="29381" b="63977"/>
            <a:stretch/>
          </p:blipFill>
          <p:spPr>
            <a:xfrm>
              <a:off x="6818625" y="1822656"/>
              <a:ext cx="659505" cy="4962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1188;p15" descr="https://lh6.googleusercontent.com/FPHqrvFT43sH7gJnKjQszK7344XzMnfeCET2t6yRoKr0qj7oEhBPSh_c5En3Y2aNFP1qUWUnrZZMlwaoNLGCERrAD8OG0QmWVIN1W1_T-9ZCVJBvHwNgAWvzfNzNdIAF-4s5sZ5-">
              <a:extLst>
                <a:ext uri="{FF2B5EF4-FFF2-40B4-BE49-F238E27FC236}">
                  <a16:creationId xmlns:a16="http://schemas.microsoft.com/office/drawing/2014/main" id="{6B299936-E17F-B7D8-39FD-81EB97CAB0F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77469" t="25094" r="12690" b="63977"/>
            <a:stretch/>
          </p:blipFill>
          <p:spPr>
            <a:xfrm>
              <a:off x="7923236" y="1822656"/>
              <a:ext cx="659505" cy="496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1189;p15">
              <a:extLst>
                <a:ext uri="{FF2B5EF4-FFF2-40B4-BE49-F238E27FC236}">
                  <a16:creationId xmlns:a16="http://schemas.microsoft.com/office/drawing/2014/main" id="{CD9BD2C3-E4E9-433F-D921-DC45AD3B82D0}"/>
                </a:ext>
              </a:extLst>
            </p:cNvPr>
            <p:cNvSpPr/>
            <p:nvPr/>
          </p:nvSpPr>
          <p:spPr>
            <a:xfrm>
              <a:off x="3532093" y="883237"/>
              <a:ext cx="5083453" cy="4103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How </a:t>
              </a:r>
              <a:r>
                <a:rPr lang="en-US" sz="1800" b="1" i="0" u="none" strike="noStrike" cap="non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Not to Build 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a Minimum Viable Product</a:t>
              </a:r>
              <a:endParaRPr sz="18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" name="Google Shape;1190;p15">
            <a:extLst>
              <a:ext uri="{FF2B5EF4-FFF2-40B4-BE49-F238E27FC236}">
                <a16:creationId xmlns:a16="http://schemas.microsoft.com/office/drawing/2014/main" id="{1631F07A-CCB6-6F68-AE68-681D47D88C4C}"/>
              </a:ext>
            </a:extLst>
          </p:cNvPr>
          <p:cNvGrpSpPr/>
          <p:nvPr/>
        </p:nvGrpSpPr>
        <p:grpSpPr>
          <a:xfrm>
            <a:off x="3262204" y="3794313"/>
            <a:ext cx="5682192" cy="1769560"/>
            <a:chOff x="3257549" y="3101682"/>
            <a:chExt cx="5682192" cy="1769560"/>
          </a:xfrm>
        </p:grpSpPr>
        <p:grpSp>
          <p:nvGrpSpPr>
            <p:cNvPr id="34" name="Google Shape;1191;p15">
              <a:extLst>
                <a:ext uri="{FF2B5EF4-FFF2-40B4-BE49-F238E27FC236}">
                  <a16:creationId xmlns:a16="http://schemas.microsoft.com/office/drawing/2014/main" id="{75FA6AA0-D10E-6363-0F0F-DF34F3691F35}"/>
                </a:ext>
              </a:extLst>
            </p:cNvPr>
            <p:cNvGrpSpPr/>
            <p:nvPr/>
          </p:nvGrpSpPr>
          <p:grpSpPr>
            <a:xfrm>
              <a:off x="7566238" y="3585366"/>
              <a:ext cx="1373503" cy="1285876"/>
              <a:chOff x="3257549" y="1704975"/>
              <a:chExt cx="1373503" cy="1285876"/>
            </a:xfrm>
          </p:grpSpPr>
          <p:sp>
            <p:nvSpPr>
              <p:cNvPr id="53" name="Google Shape;1192;p15">
                <a:extLst>
                  <a:ext uri="{FF2B5EF4-FFF2-40B4-BE49-F238E27FC236}">
                    <a16:creationId xmlns:a16="http://schemas.microsoft.com/office/drawing/2014/main" id="{AE1BDABC-3658-449E-2942-165DB819B42A}"/>
                  </a:ext>
                </a:extLst>
              </p:cNvPr>
              <p:cNvSpPr/>
              <p:nvPr/>
            </p:nvSpPr>
            <p:spPr>
              <a:xfrm>
                <a:off x="3258029" y="1704975"/>
                <a:ext cx="1284916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284916" h="638175" extrusionOk="0">
                    <a:moveTo>
                      <a:pt x="642458" y="0"/>
                    </a:moveTo>
                    <a:cubicBezTo>
                      <a:pt x="953158" y="0"/>
                      <a:pt x="1212382" y="220388"/>
                      <a:pt x="1272334" y="513364"/>
                    </a:cubicBezTo>
                    <a:lnTo>
                      <a:pt x="1284916" y="638175"/>
                    </a:lnTo>
                    <a:lnTo>
                      <a:pt x="1084891" y="638175"/>
                    </a:lnTo>
                    <a:lnTo>
                      <a:pt x="1076373" y="553676"/>
                    </a:lnTo>
                    <a:cubicBezTo>
                      <a:pt x="1035073" y="351848"/>
                      <a:pt x="856495" y="200025"/>
                      <a:pt x="642458" y="200025"/>
                    </a:cubicBezTo>
                    <a:cubicBezTo>
                      <a:pt x="428421" y="200025"/>
                      <a:pt x="249844" y="351848"/>
                      <a:pt x="208543" y="553676"/>
                    </a:cubicBezTo>
                    <a:lnTo>
                      <a:pt x="200025" y="638175"/>
                    </a:lnTo>
                    <a:lnTo>
                      <a:pt x="0" y="638175"/>
                    </a:lnTo>
                    <a:lnTo>
                      <a:pt x="12582" y="513364"/>
                    </a:lnTo>
                    <a:cubicBezTo>
                      <a:pt x="72534" y="220388"/>
                      <a:pt x="331759" y="0"/>
                      <a:pt x="642458" y="0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1193;p15">
                <a:extLst>
                  <a:ext uri="{FF2B5EF4-FFF2-40B4-BE49-F238E27FC236}">
                    <a16:creationId xmlns:a16="http://schemas.microsoft.com/office/drawing/2014/main" id="{8C9C0A53-5AA0-9D4F-39D6-0B128574346A}"/>
                  </a:ext>
                </a:extLst>
              </p:cNvPr>
              <p:cNvSpPr/>
              <p:nvPr/>
            </p:nvSpPr>
            <p:spPr>
              <a:xfrm>
                <a:off x="3257549" y="2210802"/>
                <a:ext cx="1373503" cy="780049"/>
              </a:xfrm>
              <a:custGeom>
                <a:avLst/>
                <a:gdLst/>
                <a:ahLst/>
                <a:cxnLst/>
                <a:rect l="l" t="t" r="r" b="b"/>
                <a:pathLst>
                  <a:path w="1373503" h="780049" extrusionOk="0">
                    <a:moveTo>
                      <a:pt x="1185384" y="0"/>
                    </a:moveTo>
                    <a:lnTo>
                      <a:pt x="1373503" y="133348"/>
                    </a:lnTo>
                    <a:lnTo>
                      <a:pt x="1285497" y="133348"/>
                    </a:lnTo>
                    <a:lnTo>
                      <a:pt x="1285876" y="137111"/>
                    </a:lnTo>
                    <a:cubicBezTo>
                      <a:pt x="1285876" y="492196"/>
                      <a:pt x="998023" y="780049"/>
                      <a:pt x="642938" y="780049"/>
                    </a:cubicBezTo>
                    <a:cubicBezTo>
                      <a:pt x="287853" y="780049"/>
                      <a:pt x="0" y="492196"/>
                      <a:pt x="0" y="137111"/>
                    </a:cubicBezTo>
                    <a:lnTo>
                      <a:pt x="480" y="132348"/>
                    </a:lnTo>
                    <a:lnTo>
                      <a:pt x="200505" y="132348"/>
                    </a:lnTo>
                    <a:lnTo>
                      <a:pt x="200025" y="137111"/>
                    </a:lnTo>
                    <a:cubicBezTo>
                      <a:pt x="200025" y="381725"/>
                      <a:pt x="398324" y="580024"/>
                      <a:pt x="642938" y="580024"/>
                    </a:cubicBezTo>
                    <a:cubicBezTo>
                      <a:pt x="887552" y="580024"/>
                      <a:pt x="1085851" y="381725"/>
                      <a:pt x="1085851" y="137111"/>
                    </a:cubicBezTo>
                    <a:lnTo>
                      <a:pt x="1085472" y="133348"/>
                    </a:lnTo>
                    <a:lnTo>
                      <a:pt x="997265" y="1333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" name="Google Shape;1194;p15">
              <a:extLst>
                <a:ext uri="{FF2B5EF4-FFF2-40B4-BE49-F238E27FC236}">
                  <a16:creationId xmlns:a16="http://schemas.microsoft.com/office/drawing/2014/main" id="{243A8BB2-CB9B-3A6E-299A-C005CE8113E9}"/>
                </a:ext>
              </a:extLst>
            </p:cNvPr>
            <p:cNvGrpSpPr/>
            <p:nvPr/>
          </p:nvGrpSpPr>
          <p:grpSpPr>
            <a:xfrm rot="10800000" flipH="1">
              <a:off x="6481868" y="3585366"/>
              <a:ext cx="1373503" cy="1285876"/>
              <a:chOff x="4380018" y="1704975"/>
              <a:chExt cx="1373503" cy="1285876"/>
            </a:xfrm>
          </p:grpSpPr>
          <p:sp>
            <p:nvSpPr>
              <p:cNvPr id="51" name="Google Shape;1195;p15">
                <a:extLst>
                  <a:ext uri="{FF2B5EF4-FFF2-40B4-BE49-F238E27FC236}">
                    <a16:creationId xmlns:a16="http://schemas.microsoft.com/office/drawing/2014/main" id="{25FA0922-C385-A6F0-0CA2-55F7324846F2}"/>
                  </a:ext>
                </a:extLst>
              </p:cNvPr>
              <p:cNvSpPr/>
              <p:nvPr/>
            </p:nvSpPr>
            <p:spPr>
              <a:xfrm>
                <a:off x="4380498" y="1704975"/>
                <a:ext cx="1284916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284916" h="638175" extrusionOk="0">
                    <a:moveTo>
                      <a:pt x="642458" y="0"/>
                    </a:moveTo>
                    <a:cubicBezTo>
                      <a:pt x="953158" y="0"/>
                      <a:pt x="1212382" y="220388"/>
                      <a:pt x="1272334" y="513364"/>
                    </a:cubicBezTo>
                    <a:lnTo>
                      <a:pt x="1284916" y="638175"/>
                    </a:lnTo>
                    <a:lnTo>
                      <a:pt x="1084891" y="638175"/>
                    </a:lnTo>
                    <a:lnTo>
                      <a:pt x="1076373" y="553676"/>
                    </a:lnTo>
                    <a:cubicBezTo>
                      <a:pt x="1035073" y="351848"/>
                      <a:pt x="856495" y="200025"/>
                      <a:pt x="642458" y="200025"/>
                    </a:cubicBezTo>
                    <a:cubicBezTo>
                      <a:pt x="428421" y="200025"/>
                      <a:pt x="249844" y="351848"/>
                      <a:pt x="208543" y="553676"/>
                    </a:cubicBezTo>
                    <a:lnTo>
                      <a:pt x="200025" y="638175"/>
                    </a:lnTo>
                    <a:lnTo>
                      <a:pt x="0" y="638175"/>
                    </a:lnTo>
                    <a:lnTo>
                      <a:pt x="12582" y="513364"/>
                    </a:lnTo>
                    <a:cubicBezTo>
                      <a:pt x="72534" y="220388"/>
                      <a:pt x="331759" y="0"/>
                      <a:pt x="642458" y="0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96;p15">
                <a:extLst>
                  <a:ext uri="{FF2B5EF4-FFF2-40B4-BE49-F238E27FC236}">
                    <a16:creationId xmlns:a16="http://schemas.microsoft.com/office/drawing/2014/main" id="{883090C0-8F4F-088E-2D49-48468F05AC23}"/>
                  </a:ext>
                </a:extLst>
              </p:cNvPr>
              <p:cNvSpPr/>
              <p:nvPr/>
            </p:nvSpPr>
            <p:spPr>
              <a:xfrm>
                <a:off x="4380018" y="2210802"/>
                <a:ext cx="1373503" cy="780049"/>
              </a:xfrm>
              <a:custGeom>
                <a:avLst/>
                <a:gdLst/>
                <a:ahLst/>
                <a:cxnLst/>
                <a:rect l="l" t="t" r="r" b="b"/>
                <a:pathLst>
                  <a:path w="1373503" h="780049" extrusionOk="0">
                    <a:moveTo>
                      <a:pt x="1185384" y="0"/>
                    </a:moveTo>
                    <a:lnTo>
                      <a:pt x="1373503" y="133348"/>
                    </a:lnTo>
                    <a:lnTo>
                      <a:pt x="1285497" y="133348"/>
                    </a:lnTo>
                    <a:lnTo>
                      <a:pt x="1285876" y="137111"/>
                    </a:lnTo>
                    <a:cubicBezTo>
                      <a:pt x="1285876" y="492196"/>
                      <a:pt x="998023" y="780049"/>
                      <a:pt x="642938" y="780049"/>
                    </a:cubicBezTo>
                    <a:cubicBezTo>
                      <a:pt x="287853" y="780049"/>
                      <a:pt x="0" y="492196"/>
                      <a:pt x="0" y="137111"/>
                    </a:cubicBezTo>
                    <a:lnTo>
                      <a:pt x="480" y="132348"/>
                    </a:lnTo>
                    <a:lnTo>
                      <a:pt x="200505" y="132348"/>
                    </a:lnTo>
                    <a:lnTo>
                      <a:pt x="200025" y="137111"/>
                    </a:lnTo>
                    <a:cubicBezTo>
                      <a:pt x="200025" y="381725"/>
                      <a:pt x="398324" y="580024"/>
                      <a:pt x="642938" y="580024"/>
                    </a:cubicBezTo>
                    <a:cubicBezTo>
                      <a:pt x="887552" y="580024"/>
                      <a:pt x="1085851" y="381725"/>
                      <a:pt x="1085851" y="137111"/>
                    </a:cubicBezTo>
                    <a:lnTo>
                      <a:pt x="1085472" y="133348"/>
                    </a:lnTo>
                    <a:lnTo>
                      <a:pt x="997265" y="1333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" name="Google Shape;1197;p15">
              <a:extLst>
                <a:ext uri="{FF2B5EF4-FFF2-40B4-BE49-F238E27FC236}">
                  <a16:creationId xmlns:a16="http://schemas.microsoft.com/office/drawing/2014/main" id="{EA397EC8-99C6-74CD-A021-4AE092F66665}"/>
                </a:ext>
              </a:extLst>
            </p:cNvPr>
            <p:cNvGrpSpPr/>
            <p:nvPr/>
          </p:nvGrpSpPr>
          <p:grpSpPr>
            <a:xfrm>
              <a:off x="5416549" y="3585366"/>
              <a:ext cx="1373503" cy="1285876"/>
              <a:chOff x="3257549" y="1704975"/>
              <a:chExt cx="1373503" cy="1285876"/>
            </a:xfrm>
          </p:grpSpPr>
          <p:sp>
            <p:nvSpPr>
              <p:cNvPr id="49" name="Google Shape;1198;p15">
                <a:extLst>
                  <a:ext uri="{FF2B5EF4-FFF2-40B4-BE49-F238E27FC236}">
                    <a16:creationId xmlns:a16="http://schemas.microsoft.com/office/drawing/2014/main" id="{93F0F712-D518-97D9-FC05-825D39B19DF0}"/>
                  </a:ext>
                </a:extLst>
              </p:cNvPr>
              <p:cNvSpPr/>
              <p:nvPr/>
            </p:nvSpPr>
            <p:spPr>
              <a:xfrm>
                <a:off x="3258029" y="1704975"/>
                <a:ext cx="1284916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284916" h="638175" extrusionOk="0">
                    <a:moveTo>
                      <a:pt x="642458" y="0"/>
                    </a:moveTo>
                    <a:cubicBezTo>
                      <a:pt x="953158" y="0"/>
                      <a:pt x="1212382" y="220388"/>
                      <a:pt x="1272334" y="513364"/>
                    </a:cubicBezTo>
                    <a:lnTo>
                      <a:pt x="1284916" y="638175"/>
                    </a:lnTo>
                    <a:lnTo>
                      <a:pt x="1084891" y="638175"/>
                    </a:lnTo>
                    <a:lnTo>
                      <a:pt x="1076373" y="553676"/>
                    </a:lnTo>
                    <a:cubicBezTo>
                      <a:pt x="1035073" y="351848"/>
                      <a:pt x="856495" y="200025"/>
                      <a:pt x="642458" y="200025"/>
                    </a:cubicBezTo>
                    <a:cubicBezTo>
                      <a:pt x="428421" y="200025"/>
                      <a:pt x="249844" y="351848"/>
                      <a:pt x="208543" y="553676"/>
                    </a:cubicBezTo>
                    <a:lnTo>
                      <a:pt x="200025" y="638175"/>
                    </a:lnTo>
                    <a:lnTo>
                      <a:pt x="0" y="638175"/>
                    </a:lnTo>
                    <a:lnTo>
                      <a:pt x="12582" y="513364"/>
                    </a:lnTo>
                    <a:cubicBezTo>
                      <a:pt x="72534" y="220388"/>
                      <a:pt x="331759" y="0"/>
                      <a:pt x="642458" y="0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1199;p15">
                <a:extLst>
                  <a:ext uri="{FF2B5EF4-FFF2-40B4-BE49-F238E27FC236}">
                    <a16:creationId xmlns:a16="http://schemas.microsoft.com/office/drawing/2014/main" id="{0711D24B-6FB9-B181-C50B-8DD32B3E8FA8}"/>
                  </a:ext>
                </a:extLst>
              </p:cNvPr>
              <p:cNvSpPr/>
              <p:nvPr/>
            </p:nvSpPr>
            <p:spPr>
              <a:xfrm>
                <a:off x="3257549" y="2210802"/>
                <a:ext cx="1373503" cy="780049"/>
              </a:xfrm>
              <a:custGeom>
                <a:avLst/>
                <a:gdLst/>
                <a:ahLst/>
                <a:cxnLst/>
                <a:rect l="l" t="t" r="r" b="b"/>
                <a:pathLst>
                  <a:path w="1373503" h="780049" extrusionOk="0">
                    <a:moveTo>
                      <a:pt x="1185384" y="0"/>
                    </a:moveTo>
                    <a:lnTo>
                      <a:pt x="1373503" y="133348"/>
                    </a:lnTo>
                    <a:lnTo>
                      <a:pt x="1285497" y="133348"/>
                    </a:lnTo>
                    <a:lnTo>
                      <a:pt x="1285876" y="137111"/>
                    </a:lnTo>
                    <a:cubicBezTo>
                      <a:pt x="1285876" y="492196"/>
                      <a:pt x="998023" y="780049"/>
                      <a:pt x="642938" y="780049"/>
                    </a:cubicBezTo>
                    <a:cubicBezTo>
                      <a:pt x="287853" y="780049"/>
                      <a:pt x="0" y="492196"/>
                      <a:pt x="0" y="137111"/>
                    </a:cubicBezTo>
                    <a:lnTo>
                      <a:pt x="480" y="132348"/>
                    </a:lnTo>
                    <a:lnTo>
                      <a:pt x="200505" y="132348"/>
                    </a:lnTo>
                    <a:lnTo>
                      <a:pt x="200025" y="137111"/>
                    </a:lnTo>
                    <a:cubicBezTo>
                      <a:pt x="200025" y="381725"/>
                      <a:pt x="398324" y="580024"/>
                      <a:pt x="642938" y="580024"/>
                    </a:cubicBezTo>
                    <a:cubicBezTo>
                      <a:pt x="887552" y="580024"/>
                      <a:pt x="1085851" y="381725"/>
                      <a:pt x="1085851" y="137111"/>
                    </a:cubicBezTo>
                    <a:lnTo>
                      <a:pt x="1085472" y="133348"/>
                    </a:lnTo>
                    <a:lnTo>
                      <a:pt x="997265" y="1333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" name="Google Shape;1200;p15">
              <a:extLst>
                <a:ext uri="{FF2B5EF4-FFF2-40B4-BE49-F238E27FC236}">
                  <a16:creationId xmlns:a16="http://schemas.microsoft.com/office/drawing/2014/main" id="{29811457-8081-2020-107A-E904FE031294}"/>
                </a:ext>
              </a:extLst>
            </p:cNvPr>
            <p:cNvGrpSpPr/>
            <p:nvPr/>
          </p:nvGrpSpPr>
          <p:grpSpPr>
            <a:xfrm rot="10800000" flipH="1">
              <a:off x="4322868" y="3585366"/>
              <a:ext cx="1373503" cy="1285876"/>
              <a:chOff x="4380018" y="1704975"/>
              <a:chExt cx="1373503" cy="1285876"/>
            </a:xfrm>
          </p:grpSpPr>
          <p:sp>
            <p:nvSpPr>
              <p:cNvPr id="47" name="Google Shape;1201;p15">
                <a:extLst>
                  <a:ext uri="{FF2B5EF4-FFF2-40B4-BE49-F238E27FC236}">
                    <a16:creationId xmlns:a16="http://schemas.microsoft.com/office/drawing/2014/main" id="{4C1DFBD8-BA5C-C262-F67D-B96426C4A972}"/>
                  </a:ext>
                </a:extLst>
              </p:cNvPr>
              <p:cNvSpPr/>
              <p:nvPr/>
            </p:nvSpPr>
            <p:spPr>
              <a:xfrm>
                <a:off x="4380498" y="1704975"/>
                <a:ext cx="1284916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284916" h="638175" extrusionOk="0">
                    <a:moveTo>
                      <a:pt x="642458" y="0"/>
                    </a:moveTo>
                    <a:cubicBezTo>
                      <a:pt x="953158" y="0"/>
                      <a:pt x="1212382" y="220388"/>
                      <a:pt x="1272334" y="513364"/>
                    </a:cubicBezTo>
                    <a:lnTo>
                      <a:pt x="1284916" y="638175"/>
                    </a:lnTo>
                    <a:lnTo>
                      <a:pt x="1084891" y="638175"/>
                    </a:lnTo>
                    <a:lnTo>
                      <a:pt x="1076373" y="553676"/>
                    </a:lnTo>
                    <a:cubicBezTo>
                      <a:pt x="1035073" y="351848"/>
                      <a:pt x="856495" y="200025"/>
                      <a:pt x="642458" y="200025"/>
                    </a:cubicBezTo>
                    <a:cubicBezTo>
                      <a:pt x="428421" y="200025"/>
                      <a:pt x="249844" y="351848"/>
                      <a:pt x="208543" y="553676"/>
                    </a:cubicBezTo>
                    <a:lnTo>
                      <a:pt x="200025" y="638175"/>
                    </a:lnTo>
                    <a:lnTo>
                      <a:pt x="0" y="638175"/>
                    </a:lnTo>
                    <a:lnTo>
                      <a:pt x="12582" y="513364"/>
                    </a:lnTo>
                    <a:cubicBezTo>
                      <a:pt x="72534" y="220388"/>
                      <a:pt x="331759" y="0"/>
                      <a:pt x="642458" y="0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1202;p15">
                <a:extLst>
                  <a:ext uri="{FF2B5EF4-FFF2-40B4-BE49-F238E27FC236}">
                    <a16:creationId xmlns:a16="http://schemas.microsoft.com/office/drawing/2014/main" id="{81FFF3C9-83ED-17EC-0296-19FF4A5618D8}"/>
                  </a:ext>
                </a:extLst>
              </p:cNvPr>
              <p:cNvSpPr/>
              <p:nvPr/>
            </p:nvSpPr>
            <p:spPr>
              <a:xfrm>
                <a:off x="4380018" y="2210802"/>
                <a:ext cx="1373503" cy="780049"/>
              </a:xfrm>
              <a:custGeom>
                <a:avLst/>
                <a:gdLst/>
                <a:ahLst/>
                <a:cxnLst/>
                <a:rect l="l" t="t" r="r" b="b"/>
                <a:pathLst>
                  <a:path w="1373503" h="780049" extrusionOk="0">
                    <a:moveTo>
                      <a:pt x="1185384" y="0"/>
                    </a:moveTo>
                    <a:lnTo>
                      <a:pt x="1373503" y="133348"/>
                    </a:lnTo>
                    <a:lnTo>
                      <a:pt x="1285497" y="133348"/>
                    </a:lnTo>
                    <a:lnTo>
                      <a:pt x="1285876" y="137111"/>
                    </a:lnTo>
                    <a:cubicBezTo>
                      <a:pt x="1285876" y="492196"/>
                      <a:pt x="998023" y="780049"/>
                      <a:pt x="642938" y="780049"/>
                    </a:cubicBezTo>
                    <a:cubicBezTo>
                      <a:pt x="287853" y="780049"/>
                      <a:pt x="0" y="492196"/>
                      <a:pt x="0" y="137111"/>
                    </a:cubicBezTo>
                    <a:lnTo>
                      <a:pt x="480" y="132348"/>
                    </a:lnTo>
                    <a:lnTo>
                      <a:pt x="200505" y="132348"/>
                    </a:lnTo>
                    <a:lnTo>
                      <a:pt x="200025" y="137111"/>
                    </a:lnTo>
                    <a:cubicBezTo>
                      <a:pt x="200025" y="381725"/>
                      <a:pt x="398324" y="580024"/>
                      <a:pt x="642938" y="580024"/>
                    </a:cubicBezTo>
                    <a:cubicBezTo>
                      <a:pt x="887552" y="580024"/>
                      <a:pt x="1085851" y="381725"/>
                      <a:pt x="1085851" y="137111"/>
                    </a:cubicBezTo>
                    <a:lnTo>
                      <a:pt x="1085472" y="133348"/>
                    </a:lnTo>
                    <a:lnTo>
                      <a:pt x="997265" y="1333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" name="Google Shape;1203;p15">
              <a:extLst>
                <a:ext uri="{FF2B5EF4-FFF2-40B4-BE49-F238E27FC236}">
                  <a16:creationId xmlns:a16="http://schemas.microsoft.com/office/drawing/2014/main" id="{99A320EC-6CD4-FC0E-EAE7-797EA28485EE}"/>
                </a:ext>
              </a:extLst>
            </p:cNvPr>
            <p:cNvGrpSpPr/>
            <p:nvPr/>
          </p:nvGrpSpPr>
          <p:grpSpPr>
            <a:xfrm>
              <a:off x="3257549" y="3585366"/>
              <a:ext cx="1373503" cy="1285876"/>
              <a:chOff x="3257549" y="1704975"/>
              <a:chExt cx="1373503" cy="1285876"/>
            </a:xfrm>
          </p:grpSpPr>
          <p:sp>
            <p:nvSpPr>
              <p:cNvPr id="45" name="Google Shape;1204;p15">
                <a:extLst>
                  <a:ext uri="{FF2B5EF4-FFF2-40B4-BE49-F238E27FC236}">
                    <a16:creationId xmlns:a16="http://schemas.microsoft.com/office/drawing/2014/main" id="{891B807A-1588-D317-1D6A-5882928C1276}"/>
                  </a:ext>
                </a:extLst>
              </p:cNvPr>
              <p:cNvSpPr/>
              <p:nvPr/>
            </p:nvSpPr>
            <p:spPr>
              <a:xfrm>
                <a:off x="3258029" y="1704975"/>
                <a:ext cx="1284916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1284916" h="638175" extrusionOk="0">
                    <a:moveTo>
                      <a:pt x="642458" y="0"/>
                    </a:moveTo>
                    <a:cubicBezTo>
                      <a:pt x="953158" y="0"/>
                      <a:pt x="1212382" y="220388"/>
                      <a:pt x="1272334" y="513364"/>
                    </a:cubicBezTo>
                    <a:lnTo>
                      <a:pt x="1284916" y="638175"/>
                    </a:lnTo>
                    <a:lnTo>
                      <a:pt x="1084891" y="638175"/>
                    </a:lnTo>
                    <a:lnTo>
                      <a:pt x="1076373" y="553676"/>
                    </a:lnTo>
                    <a:cubicBezTo>
                      <a:pt x="1035073" y="351848"/>
                      <a:pt x="856495" y="200025"/>
                      <a:pt x="642458" y="200025"/>
                    </a:cubicBezTo>
                    <a:cubicBezTo>
                      <a:pt x="428421" y="200025"/>
                      <a:pt x="249844" y="351848"/>
                      <a:pt x="208543" y="553676"/>
                    </a:cubicBezTo>
                    <a:lnTo>
                      <a:pt x="200025" y="638175"/>
                    </a:lnTo>
                    <a:lnTo>
                      <a:pt x="0" y="638175"/>
                    </a:lnTo>
                    <a:lnTo>
                      <a:pt x="12582" y="513364"/>
                    </a:lnTo>
                    <a:cubicBezTo>
                      <a:pt x="72534" y="220388"/>
                      <a:pt x="331759" y="0"/>
                      <a:pt x="642458" y="0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1205;p15">
                <a:extLst>
                  <a:ext uri="{FF2B5EF4-FFF2-40B4-BE49-F238E27FC236}">
                    <a16:creationId xmlns:a16="http://schemas.microsoft.com/office/drawing/2014/main" id="{49878E99-B3C2-7035-DD17-97DA7E18F371}"/>
                  </a:ext>
                </a:extLst>
              </p:cNvPr>
              <p:cNvSpPr/>
              <p:nvPr/>
            </p:nvSpPr>
            <p:spPr>
              <a:xfrm>
                <a:off x="3257549" y="2210802"/>
                <a:ext cx="1373503" cy="780049"/>
              </a:xfrm>
              <a:custGeom>
                <a:avLst/>
                <a:gdLst/>
                <a:ahLst/>
                <a:cxnLst/>
                <a:rect l="l" t="t" r="r" b="b"/>
                <a:pathLst>
                  <a:path w="1373503" h="780049" extrusionOk="0">
                    <a:moveTo>
                      <a:pt x="1185384" y="0"/>
                    </a:moveTo>
                    <a:lnTo>
                      <a:pt x="1373503" y="133348"/>
                    </a:lnTo>
                    <a:lnTo>
                      <a:pt x="1285497" y="133348"/>
                    </a:lnTo>
                    <a:lnTo>
                      <a:pt x="1285876" y="137111"/>
                    </a:lnTo>
                    <a:cubicBezTo>
                      <a:pt x="1285876" y="492196"/>
                      <a:pt x="998023" y="780049"/>
                      <a:pt x="642938" y="780049"/>
                    </a:cubicBezTo>
                    <a:cubicBezTo>
                      <a:pt x="287853" y="780049"/>
                      <a:pt x="0" y="492196"/>
                      <a:pt x="0" y="137111"/>
                    </a:cubicBezTo>
                    <a:lnTo>
                      <a:pt x="480" y="132348"/>
                    </a:lnTo>
                    <a:lnTo>
                      <a:pt x="200505" y="132348"/>
                    </a:lnTo>
                    <a:lnTo>
                      <a:pt x="200025" y="137111"/>
                    </a:lnTo>
                    <a:cubicBezTo>
                      <a:pt x="200025" y="381725"/>
                      <a:pt x="398324" y="580024"/>
                      <a:pt x="642938" y="580024"/>
                    </a:cubicBezTo>
                    <a:cubicBezTo>
                      <a:pt x="887552" y="580024"/>
                      <a:pt x="1085851" y="381725"/>
                      <a:pt x="1085851" y="137111"/>
                    </a:cubicBezTo>
                    <a:lnTo>
                      <a:pt x="1085472" y="133348"/>
                    </a:lnTo>
                    <a:lnTo>
                      <a:pt x="997265" y="1333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9" name="Google Shape;1206;p15" descr="https://lh6.googleusercontent.com/FPHqrvFT43sH7gJnKjQszK7344XzMnfeCET2t6yRoKr0qj7oEhBPSh_c5En3Y2aNFP1qUWUnrZZMlwaoNLGCERrAD8OG0QmWVIN1W1_T-9ZCVJBvHwNgAWvzfNzNdIAF-4s5sZ5-">
              <a:extLst>
                <a:ext uri="{FF2B5EF4-FFF2-40B4-BE49-F238E27FC236}">
                  <a16:creationId xmlns:a16="http://schemas.microsoft.com/office/drawing/2014/main" id="{7B23422D-031C-FD9B-9054-254CC4E1197F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3372" t="73981" r="77874" b="19533"/>
            <a:stretch/>
          </p:blipFill>
          <p:spPr>
            <a:xfrm>
              <a:off x="3648075" y="4081725"/>
              <a:ext cx="586686" cy="294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1207;p15" descr="https://lh6.googleusercontent.com/FPHqrvFT43sH7gJnKjQszK7344XzMnfeCET2t6yRoKr0qj7oEhBPSh_c5En3Y2aNFP1qUWUnrZZMlwaoNLGCERrAD8OG0QmWVIN1W1_T-9ZCVJBvHwNgAWvzfNzNdIAF-4s5sZ5-">
              <a:extLst>
                <a:ext uri="{FF2B5EF4-FFF2-40B4-BE49-F238E27FC236}">
                  <a16:creationId xmlns:a16="http://schemas.microsoft.com/office/drawing/2014/main" id="{5B091EF1-4A3D-CB3C-4BF4-2240CC681C0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9639" t="71475" r="63376" b="17234"/>
            <a:stretch/>
          </p:blipFill>
          <p:spPr>
            <a:xfrm>
              <a:off x="4687861" y="3967954"/>
              <a:ext cx="468227" cy="512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1208;p15" descr="https://lh6.googleusercontent.com/FPHqrvFT43sH7gJnKjQszK7344XzMnfeCET2t6yRoKr0qj7oEhBPSh_c5En3Y2aNFP1qUWUnrZZMlwaoNLGCERrAD8OG0QmWVIN1W1_T-9ZCVJBvHwNgAWvzfNzNdIAF-4s5sZ5-">
              <a:extLst>
                <a:ext uri="{FF2B5EF4-FFF2-40B4-BE49-F238E27FC236}">
                  <a16:creationId xmlns:a16="http://schemas.microsoft.com/office/drawing/2014/main" id="{4513E94E-CB61-7AD2-52A6-5893F082FA3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45353" t="71475" r="46601" b="17234"/>
            <a:stretch/>
          </p:blipFill>
          <p:spPr>
            <a:xfrm>
              <a:off x="5784478" y="3967954"/>
              <a:ext cx="539205" cy="512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1209;p15" descr="https://lh6.googleusercontent.com/FPHqrvFT43sH7gJnKjQszK7344XzMnfeCET2t6yRoKr0qj7oEhBPSh_c5En3Y2aNFP1qUWUnrZZMlwaoNLGCERrAD8OG0QmWVIN1W1_T-9ZCVJBvHwNgAWvzfNzNdIAF-4s5sZ5-">
              <a:extLst>
                <a:ext uri="{FF2B5EF4-FFF2-40B4-BE49-F238E27FC236}">
                  <a16:creationId xmlns:a16="http://schemas.microsoft.com/office/drawing/2014/main" id="{2A0610F7-F8BF-3493-8539-9D79839692B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61978" t="71475" r="29978" b="17234"/>
            <a:stretch/>
          </p:blipFill>
          <p:spPr>
            <a:xfrm>
              <a:off x="6793031" y="3967954"/>
              <a:ext cx="539205" cy="512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1210;p15" descr="https://lh6.googleusercontent.com/FPHqrvFT43sH7gJnKjQszK7344XzMnfeCET2t6yRoKr0qj7oEhBPSh_c5En3Y2aNFP1qUWUnrZZMlwaoNLGCERrAD8OG0QmWVIN1W1_T-9ZCVJBvHwNgAWvzfNzNdIAF-4s5sZ5-">
              <a:extLst>
                <a:ext uri="{FF2B5EF4-FFF2-40B4-BE49-F238E27FC236}">
                  <a16:creationId xmlns:a16="http://schemas.microsoft.com/office/drawing/2014/main" id="{C10ED4B9-D77A-027F-7A76-8E9AE5E873A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77512" t="73728" r="13108" b="17233"/>
            <a:stretch/>
          </p:blipFill>
          <p:spPr>
            <a:xfrm>
              <a:off x="7928443" y="4070296"/>
              <a:ext cx="628792" cy="4103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1211;p15">
              <a:extLst>
                <a:ext uri="{FF2B5EF4-FFF2-40B4-BE49-F238E27FC236}">
                  <a16:creationId xmlns:a16="http://schemas.microsoft.com/office/drawing/2014/main" id="{4B57904D-4146-32A4-B9B3-0C68CD39651B}"/>
                </a:ext>
              </a:extLst>
            </p:cNvPr>
            <p:cNvSpPr/>
            <p:nvPr/>
          </p:nvSpPr>
          <p:spPr>
            <a:xfrm>
              <a:off x="3556919" y="3101682"/>
              <a:ext cx="5083453" cy="4103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How </a:t>
              </a:r>
              <a:r>
                <a:rPr lang="en-US" sz="1800" b="1" i="0" u="none" strike="noStrike" cap="none">
                  <a:solidFill>
                    <a:schemeClr val="accent4"/>
                  </a:solidFill>
                  <a:latin typeface="Lato"/>
                  <a:ea typeface="Lato"/>
                  <a:cs typeface="Lato"/>
                  <a:sym typeface="Lato"/>
                </a:rPr>
                <a:t>to Build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a Minimum Viable Product</a:t>
              </a:r>
              <a:endPara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5" name="Google Shape;1212;p15">
            <a:extLst>
              <a:ext uri="{FF2B5EF4-FFF2-40B4-BE49-F238E27FC236}">
                <a16:creationId xmlns:a16="http://schemas.microsoft.com/office/drawing/2014/main" id="{EB184D96-26B7-9A63-D191-5F174C737ABF}"/>
              </a:ext>
            </a:extLst>
          </p:cNvPr>
          <p:cNvSpPr txBox="1"/>
          <p:nvPr/>
        </p:nvSpPr>
        <p:spPr>
          <a:xfrm>
            <a:off x="9262448" y="5168672"/>
            <a:ext cx="1859280" cy="37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-Henrik Kniberg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979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217;p16">
            <a:extLst>
              <a:ext uri="{FF2B5EF4-FFF2-40B4-BE49-F238E27FC236}">
                <a16:creationId xmlns:a16="http://schemas.microsoft.com/office/drawing/2014/main" id="{730EA5F4-CCB7-580C-EA8F-910A435C069D}"/>
              </a:ext>
            </a:extLst>
          </p:cNvPr>
          <p:cNvSpPr txBox="1"/>
          <p:nvPr/>
        </p:nvSpPr>
        <p:spPr>
          <a:xfrm>
            <a:off x="707887" y="493613"/>
            <a:ext cx="9773195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895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RIGHT WAY TO BUILD AN MVP</a:t>
            </a:r>
            <a:endParaRPr sz="2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218;p16">
            <a:extLst>
              <a:ext uri="{FF2B5EF4-FFF2-40B4-BE49-F238E27FC236}">
                <a16:creationId xmlns:a16="http://schemas.microsoft.com/office/drawing/2014/main" id="{0ABEF0F0-CD68-6F8B-B363-E27BC6CA7D35}"/>
              </a:ext>
            </a:extLst>
          </p:cNvPr>
          <p:cNvSpPr/>
          <p:nvPr/>
        </p:nvSpPr>
        <p:spPr>
          <a:xfrm>
            <a:off x="3136989" y="996015"/>
            <a:ext cx="5873662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Minimum Viable Product: Development Approach</a:t>
            </a:r>
            <a:endParaRPr sz="2000" b="0" i="0" u="none" strike="noStrike" cap="none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" name="Google Shape;1219;p16">
            <a:extLst>
              <a:ext uri="{FF2B5EF4-FFF2-40B4-BE49-F238E27FC236}">
                <a16:creationId xmlns:a16="http://schemas.microsoft.com/office/drawing/2014/main" id="{45F2AC52-81C6-0C21-05E2-10340FC4540F}"/>
              </a:ext>
            </a:extLst>
          </p:cNvPr>
          <p:cNvGrpSpPr/>
          <p:nvPr/>
        </p:nvGrpSpPr>
        <p:grpSpPr>
          <a:xfrm>
            <a:off x="6671329" y="1598228"/>
            <a:ext cx="5373547" cy="4425337"/>
            <a:chOff x="4895850" y="1193038"/>
            <a:chExt cx="5545364" cy="4566835"/>
          </a:xfrm>
        </p:grpSpPr>
        <p:sp>
          <p:nvSpPr>
            <p:cNvPr id="12" name="Google Shape;1220;p16">
              <a:extLst>
                <a:ext uri="{FF2B5EF4-FFF2-40B4-BE49-F238E27FC236}">
                  <a16:creationId xmlns:a16="http://schemas.microsoft.com/office/drawing/2014/main" id="{52C85423-CED1-EF17-2AF2-08146850E011}"/>
                </a:ext>
              </a:extLst>
            </p:cNvPr>
            <p:cNvSpPr/>
            <p:nvPr/>
          </p:nvSpPr>
          <p:spPr>
            <a:xfrm>
              <a:off x="4895850" y="1308625"/>
              <a:ext cx="4320449" cy="4451247"/>
            </a:xfrm>
            <a:prstGeom prst="triangle">
              <a:avLst>
                <a:gd name="adj" fmla="val 67733"/>
              </a:avLst>
            </a:prstGeom>
            <a:solidFill>
              <a:srgbClr val="BDBDB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221;p16">
              <a:extLst>
                <a:ext uri="{FF2B5EF4-FFF2-40B4-BE49-F238E27FC236}">
                  <a16:creationId xmlns:a16="http://schemas.microsoft.com/office/drawing/2014/main" id="{C2E7F60F-EC60-0290-7A5F-7E684C868E9D}"/>
                </a:ext>
              </a:extLst>
            </p:cNvPr>
            <p:cNvSpPr/>
            <p:nvPr/>
          </p:nvSpPr>
          <p:spPr>
            <a:xfrm>
              <a:off x="6729186" y="1293710"/>
              <a:ext cx="2209800" cy="189568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rPr lang="en-US"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Emotional</a:t>
              </a:r>
              <a:r>
                <a:rPr lang="en-US" sz="1867">
                  <a:solidFill>
                    <a:schemeClr val="lt1"/>
                  </a:solidFill>
                </a:rPr>
                <a:t> </a:t>
              </a:r>
              <a:br>
                <a:rPr lang="en-US"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Design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22;p16">
              <a:extLst>
                <a:ext uri="{FF2B5EF4-FFF2-40B4-BE49-F238E27FC236}">
                  <a16:creationId xmlns:a16="http://schemas.microsoft.com/office/drawing/2014/main" id="{639E9DB9-1FD0-FA65-2571-B95B07E1DA6A}"/>
                </a:ext>
              </a:extLst>
            </p:cNvPr>
            <p:cNvSpPr/>
            <p:nvPr/>
          </p:nvSpPr>
          <p:spPr>
            <a:xfrm>
              <a:off x="6256746" y="3189390"/>
              <a:ext cx="3158490" cy="811110"/>
            </a:xfrm>
            <a:prstGeom prst="trapezoid">
              <a:avLst>
                <a:gd name="adj" fmla="val 5829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rPr lang="en-US"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Usable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23;p16">
              <a:extLst>
                <a:ext uri="{FF2B5EF4-FFF2-40B4-BE49-F238E27FC236}">
                  <a16:creationId xmlns:a16="http://schemas.microsoft.com/office/drawing/2014/main" id="{595EDC60-4E89-B7C5-38C5-1532E683EF6C}"/>
                </a:ext>
              </a:extLst>
            </p:cNvPr>
            <p:cNvSpPr/>
            <p:nvPr/>
          </p:nvSpPr>
          <p:spPr>
            <a:xfrm>
              <a:off x="5749834" y="3997325"/>
              <a:ext cx="4183380" cy="930698"/>
            </a:xfrm>
            <a:prstGeom prst="trapezoid">
              <a:avLst>
                <a:gd name="adj" fmla="val 54839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rPr lang="en-US"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Reliable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224;p16">
              <a:extLst>
                <a:ext uri="{FF2B5EF4-FFF2-40B4-BE49-F238E27FC236}">
                  <a16:creationId xmlns:a16="http://schemas.microsoft.com/office/drawing/2014/main" id="{892E89DC-9784-917C-BE6E-5A4C83C7720D}"/>
                </a:ext>
              </a:extLst>
            </p:cNvPr>
            <p:cNvSpPr/>
            <p:nvPr/>
          </p:nvSpPr>
          <p:spPr>
            <a:xfrm>
              <a:off x="5230586" y="4921673"/>
              <a:ext cx="5210628" cy="838200"/>
            </a:xfrm>
            <a:prstGeom prst="trapezoid">
              <a:avLst>
                <a:gd name="adj" fmla="val 6162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rPr lang="en-US"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Functional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225;p16">
              <a:extLst>
                <a:ext uri="{FF2B5EF4-FFF2-40B4-BE49-F238E27FC236}">
                  <a16:creationId xmlns:a16="http://schemas.microsoft.com/office/drawing/2014/main" id="{A28FBA18-57DD-C498-0154-AE5F8C9ECAAA}"/>
                </a:ext>
              </a:extLst>
            </p:cNvPr>
            <p:cNvSpPr txBox="1"/>
            <p:nvPr/>
          </p:nvSpPr>
          <p:spPr>
            <a:xfrm>
              <a:off x="6012271" y="1193038"/>
              <a:ext cx="747486" cy="3796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rPr lang="en-US" sz="1867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This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" name="Google Shape;1226;p16">
              <a:extLst>
                <a:ext uri="{FF2B5EF4-FFF2-40B4-BE49-F238E27FC236}">
                  <a16:creationId xmlns:a16="http://schemas.microsoft.com/office/drawing/2014/main" id="{7D4FFB43-718D-5D2C-80F8-5DFDBF703E64}"/>
                </a:ext>
              </a:extLst>
            </p:cNvPr>
            <p:cNvCxnSpPr>
              <a:endCxn id="12" idx="1"/>
            </p:cNvCxnSpPr>
            <p:nvPr/>
          </p:nvCxnSpPr>
          <p:spPr>
            <a:xfrm>
              <a:off x="6351535" y="1724949"/>
              <a:ext cx="7500" cy="1809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oval" w="lg" len="lg"/>
              <a:tailEnd type="none" w="sm" len="sm"/>
            </a:ln>
          </p:spPr>
        </p:cxnSp>
      </p:grpSp>
      <p:grpSp>
        <p:nvGrpSpPr>
          <p:cNvPr id="19" name="Google Shape;1227;p16">
            <a:extLst>
              <a:ext uri="{FF2B5EF4-FFF2-40B4-BE49-F238E27FC236}">
                <a16:creationId xmlns:a16="http://schemas.microsoft.com/office/drawing/2014/main" id="{D367A5AA-8ADA-D309-B54F-B1DF5FE16F3A}"/>
              </a:ext>
            </a:extLst>
          </p:cNvPr>
          <p:cNvGrpSpPr/>
          <p:nvPr/>
        </p:nvGrpSpPr>
        <p:grpSpPr>
          <a:xfrm>
            <a:off x="147124" y="1597534"/>
            <a:ext cx="5635939" cy="4524279"/>
            <a:chOff x="147124" y="1314070"/>
            <a:chExt cx="5635939" cy="4524279"/>
          </a:xfrm>
        </p:grpSpPr>
        <p:grpSp>
          <p:nvGrpSpPr>
            <p:cNvPr id="20" name="Google Shape;1228;p16">
              <a:extLst>
                <a:ext uri="{FF2B5EF4-FFF2-40B4-BE49-F238E27FC236}">
                  <a16:creationId xmlns:a16="http://schemas.microsoft.com/office/drawing/2014/main" id="{E526E290-4EC8-4EB0-0EF8-A4F4F3212312}"/>
                </a:ext>
              </a:extLst>
            </p:cNvPr>
            <p:cNvGrpSpPr/>
            <p:nvPr/>
          </p:nvGrpSpPr>
          <p:grpSpPr>
            <a:xfrm>
              <a:off x="147124" y="1314070"/>
              <a:ext cx="5635939" cy="4524279"/>
              <a:chOff x="-3467100" y="1293710"/>
              <a:chExt cx="5816146" cy="4668941"/>
            </a:xfrm>
          </p:grpSpPr>
          <p:grpSp>
            <p:nvGrpSpPr>
              <p:cNvPr id="22" name="Google Shape;1229;p16">
                <a:extLst>
                  <a:ext uri="{FF2B5EF4-FFF2-40B4-BE49-F238E27FC236}">
                    <a16:creationId xmlns:a16="http://schemas.microsoft.com/office/drawing/2014/main" id="{FDE09B79-66A7-7A5C-003E-7D9818AE6519}"/>
                  </a:ext>
                </a:extLst>
              </p:cNvPr>
              <p:cNvGrpSpPr/>
              <p:nvPr/>
            </p:nvGrpSpPr>
            <p:grpSpPr>
              <a:xfrm>
                <a:off x="-3467100" y="1293710"/>
                <a:ext cx="5476875" cy="4668941"/>
                <a:chOff x="-3467100" y="1293710"/>
                <a:chExt cx="5476875" cy="4668941"/>
              </a:xfrm>
            </p:grpSpPr>
            <p:sp>
              <p:nvSpPr>
                <p:cNvPr id="24" name="Google Shape;1230;p16">
                  <a:extLst>
                    <a:ext uri="{FF2B5EF4-FFF2-40B4-BE49-F238E27FC236}">
                      <a16:creationId xmlns:a16="http://schemas.microsoft.com/office/drawing/2014/main" id="{203A0646-5530-1B48-094A-355EFBFD0F41}"/>
                    </a:ext>
                  </a:extLst>
                </p:cNvPr>
                <p:cNvSpPr/>
                <p:nvPr/>
              </p:nvSpPr>
              <p:spPr>
                <a:xfrm>
                  <a:off x="-1832428" y="1293710"/>
                  <a:ext cx="2209800" cy="189568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67"/>
                    <a:buFont typeface="Arial"/>
                    <a:buNone/>
                  </a:pPr>
                  <a:r>
                    <a:rPr lang="en-US"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Emotional</a:t>
                  </a:r>
                  <a:r>
                    <a:rPr lang="en-US" sz="1867">
                      <a:solidFill>
                        <a:schemeClr val="lt1"/>
                      </a:solidFill>
                    </a:rPr>
                    <a:t> </a:t>
                  </a:r>
                  <a:br>
                    <a:rPr lang="en-US"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</a:br>
                  <a:r>
                    <a:rPr lang="en-US"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Design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1231;p16">
                  <a:extLst>
                    <a:ext uri="{FF2B5EF4-FFF2-40B4-BE49-F238E27FC236}">
                      <a16:creationId xmlns:a16="http://schemas.microsoft.com/office/drawing/2014/main" id="{68E9C65A-5DE8-9E0C-766D-F036E811E729}"/>
                    </a:ext>
                  </a:extLst>
                </p:cNvPr>
                <p:cNvSpPr/>
                <p:nvPr/>
              </p:nvSpPr>
              <p:spPr>
                <a:xfrm>
                  <a:off x="-2304868" y="3189390"/>
                  <a:ext cx="3158490" cy="811110"/>
                </a:xfrm>
                <a:prstGeom prst="trapezoid">
                  <a:avLst>
                    <a:gd name="adj" fmla="val 58295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67"/>
                    <a:buFont typeface="Arial"/>
                    <a:buNone/>
                  </a:pPr>
                  <a:r>
                    <a:rPr lang="en-US"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Usable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" name="Google Shape;1232;p16">
                  <a:extLst>
                    <a:ext uri="{FF2B5EF4-FFF2-40B4-BE49-F238E27FC236}">
                      <a16:creationId xmlns:a16="http://schemas.microsoft.com/office/drawing/2014/main" id="{2680DA57-C433-49DD-5723-B162C2F91AD1}"/>
                    </a:ext>
                  </a:extLst>
                </p:cNvPr>
                <p:cNvSpPr/>
                <p:nvPr/>
              </p:nvSpPr>
              <p:spPr>
                <a:xfrm>
                  <a:off x="-2811780" y="3997325"/>
                  <a:ext cx="4175510" cy="930698"/>
                </a:xfrm>
                <a:prstGeom prst="trapezoid">
                  <a:avLst>
                    <a:gd name="adj" fmla="val 54839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67"/>
                    <a:buFont typeface="Arial"/>
                    <a:buNone/>
                  </a:pPr>
                  <a:r>
                    <a:rPr lang="en-US"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Reliable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1233;p16">
                  <a:extLst>
                    <a:ext uri="{FF2B5EF4-FFF2-40B4-BE49-F238E27FC236}">
                      <a16:creationId xmlns:a16="http://schemas.microsoft.com/office/drawing/2014/main" id="{4971AAE2-EAFF-7038-12A5-E14A5CA00239}"/>
                    </a:ext>
                  </a:extLst>
                </p:cNvPr>
                <p:cNvSpPr/>
                <p:nvPr/>
              </p:nvSpPr>
              <p:spPr>
                <a:xfrm>
                  <a:off x="-3331028" y="4921673"/>
                  <a:ext cx="5210628" cy="838200"/>
                </a:xfrm>
                <a:prstGeom prst="trapezoid">
                  <a:avLst>
                    <a:gd name="adj" fmla="val 61629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67"/>
                    <a:buFont typeface="Arial"/>
                    <a:buNone/>
                  </a:pPr>
                  <a:r>
                    <a:rPr lang="en-US"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Functional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1234;p16">
                  <a:extLst>
                    <a:ext uri="{FF2B5EF4-FFF2-40B4-BE49-F238E27FC236}">
                      <a16:creationId xmlns:a16="http://schemas.microsoft.com/office/drawing/2014/main" id="{600DD0D8-8FB5-FE5D-D0A1-59B7EBBDFFA5}"/>
                    </a:ext>
                  </a:extLst>
                </p:cNvPr>
                <p:cNvSpPr/>
                <p:nvPr/>
              </p:nvSpPr>
              <p:spPr>
                <a:xfrm>
                  <a:off x="-3467100" y="5759873"/>
                  <a:ext cx="5476875" cy="202778"/>
                </a:xfrm>
                <a:prstGeom prst="trapezoid">
                  <a:avLst>
                    <a:gd name="adj" fmla="val 62538"/>
                  </a:avLst>
                </a:prstGeom>
                <a:solidFill>
                  <a:srgbClr val="BDBDB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3" name="Google Shape;1235;p16">
                <a:extLst>
                  <a:ext uri="{FF2B5EF4-FFF2-40B4-BE49-F238E27FC236}">
                    <a16:creationId xmlns:a16="http://schemas.microsoft.com/office/drawing/2014/main" id="{3DEA54EA-FD9F-67FF-146F-A0EE03A588A8}"/>
                  </a:ext>
                </a:extLst>
              </p:cNvPr>
              <p:cNvSpPr txBox="1"/>
              <p:nvPr/>
            </p:nvSpPr>
            <p:spPr>
              <a:xfrm>
                <a:off x="1601560" y="2007964"/>
                <a:ext cx="747486" cy="6883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rPr lang="en-US" sz="1867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Not This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" name="Google Shape;1236;p16">
              <a:extLst>
                <a:ext uri="{FF2B5EF4-FFF2-40B4-BE49-F238E27FC236}">
                  <a16:creationId xmlns:a16="http://schemas.microsoft.com/office/drawing/2014/main" id="{9391A267-AB71-5F5C-8759-FFE7BC057FBF}"/>
                </a:ext>
              </a:extLst>
            </p:cNvPr>
            <p:cNvCxnSpPr>
              <a:endCxn id="28" idx="3"/>
            </p:cNvCxnSpPr>
            <p:nvPr/>
          </p:nvCxnSpPr>
          <p:spPr>
            <a:xfrm>
              <a:off x="5392862" y="2931801"/>
              <a:ext cx="0" cy="2808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oval" w="lg" len="lg"/>
              <a:tailEnd type="none" w="sm" len="sm"/>
            </a:ln>
          </p:spPr>
        </p:cxnSp>
      </p:grpSp>
      <p:sp>
        <p:nvSpPr>
          <p:cNvPr id="29" name="Google Shape;1237;p16">
            <a:extLst>
              <a:ext uri="{FF2B5EF4-FFF2-40B4-BE49-F238E27FC236}">
                <a16:creationId xmlns:a16="http://schemas.microsoft.com/office/drawing/2014/main" id="{B8CE3B55-FA94-146B-0892-3D87AA313B8A}"/>
              </a:ext>
            </a:extLst>
          </p:cNvPr>
          <p:cNvSpPr/>
          <p:nvPr/>
        </p:nvSpPr>
        <p:spPr>
          <a:xfrm>
            <a:off x="1615500" y="6380591"/>
            <a:ext cx="8961000" cy="41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An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MVP is implemented across all the layers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, not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just a single layer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2172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243;p17">
            <a:extLst>
              <a:ext uri="{FF2B5EF4-FFF2-40B4-BE49-F238E27FC236}">
                <a16:creationId xmlns:a16="http://schemas.microsoft.com/office/drawing/2014/main" id="{A1E80EE1-FD31-96F0-98AD-D51BA9AADC86}"/>
              </a:ext>
            </a:extLst>
          </p:cNvPr>
          <p:cNvSpPr/>
          <p:nvPr/>
        </p:nvSpPr>
        <p:spPr>
          <a:xfrm>
            <a:off x="6780472" y="1813386"/>
            <a:ext cx="5306280" cy="6649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idea was to connect friends through a social platform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" name="Google Shape;1244;p17" descr="https://lh3.googleusercontent.com/AC4MaIg9NcH6WpnRoiEPIdSa8XXk9HTiRY-uSG6sL4jBuoLecEeJTTrnCdIngRTEVeuvCeNNq5Hxm10N2F5QzGHf80B_fwr1QxSVoFN1fUx99-DYUaTpKFUGS802Kxha4NtSwqxc">
            <a:extLst>
              <a:ext uri="{FF2B5EF4-FFF2-40B4-BE49-F238E27FC236}">
                <a16:creationId xmlns:a16="http://schemas.microsoft.com/office/drawing/2014/main" id="{7C33F4DA-3D8E-8E18-7382-18A156A97CE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89174" y="2822848"/>
            <a:ext cx="5067917" cy="35286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245;p17">
            <a:extLst>
              <a:ext uri="{FF2B5EF4-FFF2-40B4-BE49-F238E27FC236}">
                <a16:creationId xmlns:a16="http://schemas.microsoft.com/office/drawing/2014/main" id="{80F0546E-209F-9728-58A8-9A0E2456A492}"/>
              </a:ext>
            </a:extLst>
          </p:cNvPr>
          <p:cNvGrpSpPr/>
          <p:nvPr/>
        </p:nvGrpSpPr>
        <p:grpSpPr>
          <a:xfrm>
            <a:off x="555280" y="2210515"/>
            <a:ext cx="4655349" cy="1132690"/>
            <a:chOff x="6389225" y="1006997"/>
            <a:chExt cx="4726281" cy="774635"/>
          </a:xfrm>
        </p:grpSpPr>
        <p:sp>
          <p:nvSpPr>
            <p:cNvPr id="12" name="Google Shape;1246;p17">
              <a:extLst>
                <a:ext uri="{FF2B5EF4-FFF2-40B4-BE49-F238E27FC236}">
                  <a16:creationId xmlns:a16="http://schemas.microsoft.com/office/drawing/2014/main" id="{18E3B99E-0D5B-FC71-114D-E8638FE243DC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1247;p17">
              <a:extLst>
                <a:ext uri="{FF2B5EF4-FFF2-40B4-BE49-F238E27FC236}">
                  <a16:creationId xmlns:a16="http://schemas.microsoft.com/office/drawing/2014/main" id="{1131F982-8EBB-905D-CE1E-3090EC38D0FE}"/>
                </a:ext>
              </a:extLst>
            </p:cNvPr>
            <p:cNvSpPr txBox="1"/>
            <p:nvPr/>
          </p:nvSpPr>
          <p:spPr>
            <a:xfrm>
              <a:off x="6929457" y="1160981"/>
              <a:ext cx="3645818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Facebook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248;p17">
            <a:extLst>
              <a:ext uri="{FF2B5EF4-FFF2-40B4-BE49-F238E27FC236}">
                <a16:creationId xmlns:a16="http://schemas.microsoft.com/office/drawing/2014/main" id="{A15A2E41-E3DD-96AF-3515-3B5B94154D54}"/>
              </a:ext>
            </a:extLst>
          </p:cNvPr>
          <p:cNvSpPr txBox="1"/>
          <p:nvPr/>
        </p:nvSpPr>
        <p:spPr>
          <a:xfrm>
            <a:off x="2758388" y="1043605"/>
            <a:ext cx="6675224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CASE STUDY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MVP</a:t>
            </a:r>
            <a:endParaRPr sz="2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" name="Google Shape;1249;p17">
            <a:extLst>
              <a:ext uri="{FF2B5EF4-FFF2-40B4-BE49-F238E27FC236}">
                <a16:creationId xmlns:a16="http://schemas.microsoft.com/office/drawing/2014/main" id="{E5D4C06D-5249-A7BA-C69C-171B9E2233A1}"/>
              </a:ext>
            </a:extLst>
          </p:cNvPr>
          <p:cNvCxnSpPr/>
          <p:nvPr/>
        </p:nvCxnSpPr>
        <p:spPr>
          <a:xfrm>
            <a:off x="5539580" y="2822848"/>
            <a:ext cx="920644" cy="0"/>
          </a:xfrm>
          <a:prstGeom prst="straightConnector1">
            <a:avLst/>
          </a:prstGeom>
          <a:noFill/>
          <a:ln w="28575" cap="flat" cmpd="sng">
            <a:solidFill>
              <a:srgbClr val="9C9C9C"/>
            </a:solidFill>
            <a:prstDash val="solid"/>
            <a:round/>
            <a:headEnd type="none" w="sm" len="sm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109387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255;p18">
            <a:extLst>
              <a:ext uri="{FF2B5EF4-FFF2-40B4-BE49-F238E27FC236}">
                <a16:creationId xmlns:a16="http://schemas.microsoft.com/office/drawing/2014/main" id="{B4680E8E-A7CF-1836-015C-CA350172FE90}"/>
              </a:ext>
            </a:extLst>
          </p:cNvPr>
          <p:cNvSpPr/>
          <p:nvPr/>
        </p:nvSpPr>
        <p:spPr>
          <a:xfrm>
            <a:off x="6563009" y="2076577"/>
            <a:ext cx="5306280" cy="5724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Started as a simple website for selling books online, with some basic functionalities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" name="Google Shape;1256;p18" descr="https://lh5.googleusercontent.com/vNlydIF8FrOokMKCfNnaWWqqYKjemxQlbDLmzfVSL6N4T2BBuGds3Y2ZVhOUqruat38Ze2fl19eOMJS_wWVquAzpDDX1fdcEaLu-N-OizWoTG2sJD_iv0K2YA81p3Mzcke484COw">
            <a:extLst>
              <a:ext uri="{FF2B5EF4-FFF2-40B4-BE49-F238E27FC236}">
                <a16:creationId xmlns:a16="http://schemas.microsoft.com/office/drawing/2014/main" id="{39A643E7-3C38-BDC1-4111-62851F1B8ED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01373" y="2835687"/>
            <a:ext cx="4951844" cy="352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57;p18">
            <a:extLst>
              <a:ext uri="{FF2B5EF4-FFF2-40B4-BE49-F238E27FC236}">
                <a16:creationId xmlns:a16="http://schemas.microsoft.com/office/drawing/2014/main" id="{F5687E78-6DD8-8910-537B-9E56184BC06C}"/>
              </a:ext>
            </a:extLst>
          </p:cNvPr>
          <p:cNvSpPr txBox="1"/>
          <p:nvPr/>
        </p:nvSpPr>
        <p:spPr>
          <a:xfrm>
            <a:off x="2758388" y="1148492"/>
            <a:ext cx="6675224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CASE STUDY: MVP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" name="Google Shape;1258;p18">
            <a:extLst>
              <a:ext uri="{FF2B5EF4-FFF2-40B4-BE49-F238E27FC236}">
                <a16:creationId xmlns:a16="http://schemas.microsoft.com/office/drawing/2014/main" id="{E9F448C4-3702-D4D8-C9FB-6F26B97E6496}"/>
              </a:ext>
            </a:extLst>
          </p:cNvPr>
          <p:cNvGrpSpPr/>
          <p:nvPr/>
        </p:nvGrpSpPr>
        <p:grpSpPr>
          <a:xfrm>
            <a:off x="555280" y="3734319"/>
            <a:ext cx="4655349" cy="1132690"/>
            <a:chOff x="6389225" y="1006997"/>
            <a:chExt cx="4726281" cy="774635"/>
          </a:xfrm>
        </p:grpSpPr>
        <p:sp>
          <p:nvSpPr>
            <p:cNvPr id="13" name="Google Shape;1259;p18">
              <a:extLst>
                <a:ext uri="{FF2B5EF4-FFF2-40B4-BE49-F238E27FC236}">
                  <a16:creationId xmlns:a16="http://schemas.microsoft.com/office/drawing/2014/main" id="{56D364B8-F589-688A-CE66-07707A165477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1260;p18">
              <a:extLst>
                <a:ext uri="{FF2B5EF4-FFF2-40B4-BE49-F238E27FC236}">
                  <a16:creationId xmlns:a16="http://schemas.microsoft.com/office/drawing/2014/main" id="{33519C7E-A7E6-2E20-1B61-4663866A1A86}"/>
                </a:ext>
              </a:extLst>
            </p:cNvPr>
            <p:cNvSpPr txBox="1"/>
            <p:nvPr/>
          </p:nvSpPr>
          <p:spPr>
            <a:xfrm>
              <a:off x="6929457" y="1160981"/>
              <a:ext cx="3645818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Amazon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1261;p18">
            <a:extLst>
              <a:ext uri="{FF2B5EF4-FFF2-40B4-BE49-F238E27FC236}">
                <a16:creationId xmlns:a16="http://schemas.microsoft.com/office/drawing/2014/main" id="{00A63ED0-6AE3-9143-5056-9C0189BDD4ED}"/>
              </a:ext>
            </a:extLst>
          </p:cNvPr>
          <p:cNvCxnSpPr/>
          <p:nvPr/>
        </p:nvCxnSpPr>
        <p:spPr>
          <a:xfrm>
            <a:off x="5545679" y="4275374"/>
            <a:ext cx="920644" cy="0"/>
          </a:xfrm>
          <a:prstGeom prst="straightConnector1">
            <a:avLst/>
          </a:prstGeom>
          <a:noFill/>
          <a:ln w="28575" cap="flat" cmpd="sng">
            <a:solidFill>
              <a:srgbClr val="9C9C9C"/>
            </a:solidFill>
            <a:prstDash val="solid"/>
            <a:round/>
            <a:headEnd type="none" w="sm" len="sm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315929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232d3f3243_0_627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7" name="Google Shape;1267;g2232d3f3243_0_627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268" name="Google Shape;1268;g2232d3f3243_0_627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92100" marR="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1269" name="Google Shape;1269;g2232d3f3243_0_627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21</a:t>
            </a:fld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0" name="Google Shape;1270;g2232d3f3243_0_6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g2232d3f3243_0_6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g2232d3f3243_0_627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g2232d3f3243_0_627"/>
          <p:cNvSpPr txBox="1"/>
          <p:nvPr/>
        </p:nvSpPr>
        <p:spPr>
          <a:xfrm>
            <a:off x="1909368" y="635644"/>
            <a:ext cx="73245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Proxima Nova"/>
              <a:buNone/>
            </a:pP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1 (15 seconds)</a:t>
            </a:r>
            <a:endParaRPr sz="4800" b="0" i="0" u="none" strike="noStrike" cap="none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6" name="Google Shape;1276;g2232d3f3243_0_627"/>
          <p:cNvSpPr txBox="1"/>
          <p:nvPr/>
        </p:nvSpPr>
        <p:spPr>
          <a:xfrm>
            <a:off x="850900" y="2589033"/>
            <a:ext cx="102687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 of the following is the correct order in which an MVP, a prototype, and a POC are created?</a:t>
            </a:r>
            <a:endParaRPr sz="2400" dirty="0">
              <a:solidFill>
                <a:srgbClr val="3F3F3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MVP, prototype, POC</a:t>
            </a:r>
            <a:endParaRPr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Prototype, POC, MVP</a:t>
            </a:r>
            <a:endParaRPr sz="2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POC, prototype, MVP</a:t>
            </a:r>
            <a:endParaRPr sz="2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POC, MVP, prototype</a:t>
            </a: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" name="Google Shape;864;p59">
            <a:extLst>
              <a:ext uri="{FF2B5EF4-FFF2-40B4-BE49-F238E27FC236}">
                <a16:creationId xmlns:a16="http://schemas.microsoft.com/office/drawing/2014/main" id="{82BB3FC5-A621-122A-44C4-E9EB5984A54C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21</a:t>
            </a:fld>
            <a:endParaRPr lang="en-IN" sz="900"/>
          </a:p>
        </p:txBody>
      </p:sp>
      <p:pic>
        <p:nvPicPr>
          <p:cNvPr id="10" name="Google Shape;618;p34">
            <a:extLst>
              <a:ext uri="{FF2B5EF4-FFF2-40B4-BE49-F238E27FC236}">
                <a16:creationId xmlns:a16="http://schemas.microsoft.com/office/drawing/2014/main" id="{EF36645F-7BBB-8CC0-2C2D-F9C0B43364A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71886F-B95A-0CD1-4848-E40BE13FC8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6FF897-1D76-7EF2-F31E-641CD3D788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D42CE9-DEA9-C27A-AA3E-9F3A8239D1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D4B587-422B-9713-EE91-B2CF9A1997C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8E4C07-BB2B-2CF2-6EEF-3345B505E6C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232d3f3243_0_627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7" name="Google Shape;1267;g2232d3f3243_0_627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268" name="Google Shape;1268;g2232d3f3243_0_627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92100" marR="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1269" name="Google Shape;1269;g2232d3f3243_0_627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22</a:t>
            </a:fld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0" name="Google Shape;1270;g2232d3f3243_0_6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g2232d3f3243_0_6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g2232d3f3243_0_627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g2232d3f3243_0_627"/>
          <p:cNvSpPr txBox="1"/>
          <p:nvPr/>
        </p:nvSpPr>
        <p:spPr>
          <a:xfrm>
            <a:off x="1909368" y="635644"/>
            <a:ext cx="73245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Proxima Nova"/>
              <a:buNone/>
            </a:pP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1 (15 seconds)</a:t>
            </a:r>
            <a:endParaRPr sz="4800" b="0" i="0" u="none" strike="noStrike" cap="none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6" name="Google Shape;1276;g2232d3f3243_0_627"/>
          <p:cNvSpPr txBox="1"/>
          <p:nvPr/>
        </p:nvSpPr>
        <p:spPr>
          <a:xfrm>
            <a:off x="850900" y="2589033"/>
            <a:ext cx="102687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 of the following is the correct order in which an MVP, a prototype, and a POC are created?</a:t>
            </a:r>
            <a:endParaRPr sz="2400" dirty="0">
              <a:solidFill>
                <a:srgbClr val="3F3F3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MVP, prototype, POC</a:t>
            </a:r>
            <a:endParaRPr lang="en-US"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Prototype, POC, MVP</a:t>
            </a: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Lato"/>
              <a:buAutoNum type="alphaUcPeriod"/>
            </a:pPr>
            <a:r>
              <a:rPr lang="en-US" sz="24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POC, prototype, MVP</a:t>
            </a: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POC, MVP, prototype</a:t>
            </a:r>
            <a:endParaRPr lang="en-US"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" name="Google Shape;864;p59">
            <a:extLst>
              <a:ext uri="{FF2B5EF4-FFF2-40B4-BE49-F238E27FC236}">
                <a16:creationId xmlns:a16="http://schemas.microsoft.com/office/drawing/2014/main" id="{82BB3FC5-A621-122A-44C4-E9EB5984A54C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22</a:t>
            </a:fld>
            <a:endParaRPr lang="en-IN" sz="900"/>
          </a:p>
        </p:txBody>
      </p:sp>
      <p:pic>
        <p:nvPicPr>
          <p:cNvPr id="10" name="Google Shape;618;p34">
            <a:extLst>
              <a:ext uri="{FF2B5EF4-FFF2-40B4-BE49-F238E27FC236}">
                <a16:creationId xmlns:a16="http://schemas.microsoft.com/office/drawing/2014/main" id="{EF36645F-7BBB-8CC0-2C2D-F9C0B43364A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71886F-B95A-0CD1-4848-E40BE13FC8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6FF897-1D76-7EF2-F31E-641CD3D788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D42CE9-DEA9-C27A-AA3E-9F3A8239D1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D4B587-422B-9713-EE91-B2CF9A1997C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8E4C07-BB2B-2CF2-6EEF-3345B505E6C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5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20" name="Google Shape;1296;p19">
            <a:extLst>
              <a:ext uri="{FF2B5EF4-FFF2-40B4-BE49-F238E27FC236}">
                <a16:creationId xmlns:a16="http://schemas.microsoft.com/office/drawing/2014/main" id="{9B2A1882-B198-CCDE-CE91-3209586C5928}"/>
              </a:ext>
            </a:extLst>
          </p:cNvPr>
          <p:cNvSpPr/>
          <p:nvPr/>
        </p:nvSpPr>
        <p:spPr>
          <a:xfrm>
            <a:off x="3554800" y="3798865"/>
            <a:ext cx="4991100" cy="1765200"/>
          </a:xfrm>
          <a:prstGeom prst="roundRect">
            <a:avLst>
              <a:gd name="adj" fmla="val 9113"/>
            </a:avLst>
          </a:prstGeom>
          <a:noFill/>
          <a:ln w="28575" cap="flat" cmpd="sng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well-defined path followed by 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development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4"/>
                  </a:ext>
                </a:extLst>
              </a:rPr>
              <a:t> team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from the initial stage to the final delivery of a software is called 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the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20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oftware </a:t>
            </a:r>
            <a:r>
              <a:rPr lang="en-US" sz="20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20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evelopment </a:t>
            </a:r>
            <a:r>
              <a:rPr lang="en-US" sz="20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20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ife </a:t>
            </a:r>
            <a:r>
              <a:rPr lang="en-US" sz="20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20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ycle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(SDLC)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Google Shape;1297;p19">
            <a:extLst>
              <a:ext uri="{FF2B5EF4-FFF2-40B4-BE49-F238E27FC236}">
                <a16:creationId xmlns:a16="http://schemas.microsoft.com/office/drawing/2014/main" id="{9643DD14-9A7A-6BF4-DF97-5EEDA8037E13}"/>
              </a:ext>
            </a:extLst>
          </p:cNvPr>
          <p:cNvSpPr txBox="1"/>
          <p:nvPr/>
        </p:nvSpPr>
        <p:spPr>
          <a:xfrm>
            <a:off x="3915909" y="1555916"/>
            <a:ext cx="42690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SOFTWARE DEVELOPMENT: LIFE CYCLE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336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302;p20">
            <a:extLst>
              <a:ext uri="{FF2B5EF4-FFF2-40B4-BE49-F238E27FC236}">
                <a16:creationId xmlns:a16="http://schemas.microsoft.com/office/drawing/2014/main" id="{8C723B69-0AA9-1B6D-D920-0A9E7FD74F28}"/>
              </a:ext>
            </a:extLst>
          </p:cNvPr>
          <p:cNvSpPr txBox="1"/>
          <p:nvPr/>
        </p:nvSpPr>
        <p:spPr>
          <a:xfrm>
            <a:off x="3290527" y="2529669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Mockup is built and technicalities are analy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ed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303;p20">
            <a:extLst>
              <a:ext uri="{FF2B5EF4-FFF2-40B4-BE49-F238E27FC236}">
                <a16:creationId xmlns:a16="http://schemas.microsoft.com/office/drawing/2014/main" id="{2262AAEE-47C9-E94D-0294-E58F315EACB6}"/>
              </a:ext>
            </a:extLst>
          </p:cNvPr>
          <p:cNvSpPr txBox="1"/>
          <p:nvPr/>
        </p:nvSpPr>
        <p:spPr>
          <a:xfrm>
            <a:off x="3840900" y="679334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SDLC STAGES FOR </a:t>
            </a:r>
            <a:r>
              <a:rPr lang="en-US" sz="2398"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SOCIAL MEDIA USE CASE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304;p20">
            <a:extLst>
              <a:ext uri="{FF2B5EF4-FFF2-40B4-BE49-F238E27FC236}">
                <a16:creationId xmlns:a16="http://schemas.microsoft.com/office/drawing/2014/main" id="{396A7A27-C8B9-F608-E8B2-ECBCABE9D338}"/>
              </a:ext>
            </a:extLst>
          </p:cNvPr>
          <p:cNvSpPr txBox="1"/>
          <p:nvPr/>
        </p:nvSpPr>
        <p:spPr>
          <a:xfrm>
            <a:off x="3290527" y="1632185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product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dea is conceived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305;p20">
            <a:extLst>
              <a:ext uri="{FF2B5EF4-FFF2-40B4-BE49-F238E27FC236}">
                <a16:creationId xmlns:a16="http://schemas.microsoft.com/office/drawing/2014/main" id="{2F141BD2-7CDB-DE7A-A122-F8CFA2BB368C}"/>
              </a:ext>
            </a:extLst>
          </p:cNvPr>
          <p:cNvSpPr txBox="1"/>
          <p:nvPr/>
        </p:nvSpPr>
        <p:spPr>
          <a:xfrm>
            <a:off x="3290527" y="3427153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Design-related decisions are taken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5"/>
                  </a:ext>
                </a:extLst>
              </a:rPr>
              <a:t> based on requirement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06;p20">
            <a:extLst>
              <a:ext uri="{FF2B5EF4-FFF2-40B4-BE49-F238E27FC236}">
                <a16:creationId xmlns:a16="http://schemas.microsoft.com/office/drawing/2014/main" id="{ED2F99D6-1AC0-0C6A-BA5E-F0B913597D5C}"/>
              </a:ext>
            </a:extLst>
          </p:cNvPr>
          <p:cNvSpPr txBox="1"/>
          <p:nvPr/>
        </p:nvSpPr>
        <p:spPr>
          <a:xfrm>
            <a:off x="3290527" y="4324637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Developer starts coding based on the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307;p20">
            <a:extLst>
              <a:ext uri="{FF2B5EF4-FFF2-40B4-BE49-F238E27FC236}">
                <a16:creationId xmlns:a16="http://schemas.microsoft.com/office/drawing/2014/main" id="{1CAD5AC5-EC2A-5846-605E-1966320EAC2F}"/>
              </a:ext>
            </a:extLst>
          </p:cNvPr>
          <p:cNvSpPr txBox="1"/>
          <p:nvPr/>
        </p:nvSpPr>
        <p:spPr>
          <a:xfrm>
            <a:off x="3290527" y="5222121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5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Application is tested and deployed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308;p20">
            <a:extLst>
              <a:ext uri="{FF2B5EF4-FFF2-40B4-BE49-F238E27FC236}">
                <a16:creationId xmlns:a16="http://schemas.microsoft.com/office/drawing/2014/main" id="{0950E654-4C21-BCD7-BE09-BAA7FE0FC752}"/>
              </a:ext>
            </a:extLst>
          </p:cNvPr>
          <p:cNvSpPr txBox="1"/>
          <p:nvPr/>
        </p:nvSpPr>
        <p:spPr>
          <a:xfrm>
            <a:off x="3290527" y="6119603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6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Application is monitored and maintained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193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314;p21">
            <a:extLst>
              <a:ext uri="{FF2B5EF4-FFF2-40B4-BE49-F238E27FC236}">
                <a16:creationId xmlns:a16="http://schemas.microsoft.com/office/drawing/2014/main" id="{CFFBC8E0-DCFF-9236-A9ED-DF57EC730ECA}"/>
              </a:ext>
            </a:extLst>
          </p:cNvPr>
          <p:cNvSpPr txBox="1"/>
          <p:nvPr/>
        </p:nvSpPr>
        <p:spPr>
          <a:xfrm>
            <a:off x="2758388" y="1290633"/>
            <a:ext cx="6675224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6"/>
                  </a:ext>
                </a:extLst>
              </a:rPr>
              <a:t>WHY SDLC</a:t>
            </a:r>
            <a:r>
              <a:rPr lang="en-US" sz="24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7"/>
                  </a:ext>
                </a:extLst>
              </a:rPr>
              <a:t>?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8"/>
                  </a:ext>
                </a:extLst>
              </a:rPr>
              <a:t> </a:t>
            </a:r>
            <a:endParaRPr sz="2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315;p21">
            <a:extLst>
              <a:ext uri="{FF2B5EF4-FFF2-40B4-BE49-F238E27FC236}">
                <a16:creationId xmlns:a16="http://schemas.microsoft.com/office/drawing/2014/main" id="{5B3A6E37-6BC9-C87E-E088-25B53005B771}"/>
              </a:ext>
            </a:extLst>
          </p:cNvPr>
          <p:cNvGrpSpPr/>
          <p:nvPr/>
        </p:nvGrpSpPr>
        <p:grpSpPr>
          <a:xfrm>
            <a:off x="2640563" y="4927083"/>
            <a:ext cx="6910875" cy="1134001"/>
            <a:chOff x="6389225" y="1006997"/>
            <a:chExt cx="4726281" cy="775532"/>
          </a:xfrm>
        </p:grpSpPr>
        <p:sp>
          <p:nvSpPr>
            <p:cNvPr id="11" name="Google Shape;1316;p21">
              <a:extLst>
                <a:ext uri="{FF2B5EF4-FFF2-40B4-BE49-F238E27FC236}">
                  <a16:creationId xmlns:a16="http://schemas.microsoft.com/office/drawing/2014/main" id="{EDDBF17F-0A59-97B1-9F1B-C6447AAAED73}"/>
                </a:ext>
              </a:extLst>
            </p:cNvPr>
            <p:cNvSpPr/>
            <p:nvPr/>
          </p:nvSpPr>
          <p:spPr>
            <a:xfrm>
              <a:off x="6389225" y="1006997"/>
              <a:ext cx="660817" cy="775532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00618" y="3056"/>
                    <a:pt x="232581" y="3056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317;p21">
              <a:extLst>
                <a:ext uri="{FF2B5EF4-FFF2-40B4-BE49-F238E27FC236}">
                  <a16:creationId xmlns:a16="http://schemas.microsoft.com/office/drawing/2014/main" id="{7D85C656-B824-EB10-8875-7334C6FB7BC0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18;p21">
              <a:extLst>
                <a:ext uri="{FF2B5EF4-FFF2-40B4-BE49-F238E27FC236}">
                  <a16:creationId xmlns:a16="http://schemas.microsoft.com/office/drawing/2014/main" id="{1414D19D-DC8D-7997-719C-29523F731622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03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1319;p21">
              <a:extLst>
                <a:ext uri="{FF2B5EF4-FFF2-40B4-BE49-F238E27FC236}">
                  <a16:creationId xmlns:a16="http://schemas.microsoft.com/office/drawing/2014/main" id="{66A5BD0F-57F3-1EE6-655C-414B2225D933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Helps deliver highest</a:t>
              </a:r>
              <a:r>
                <a:rPr lang="en-US" sz="2000" b="1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quality software while keeping track of costs and time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320;p21">
            <a:extLst>
              <a:ext uri="{FF2B5EF4-FFF2-40B4-BE49-F238E27FC236}">
                <a16:creationId xmlns:a16="http://schemas.microsoft.com/office/drawing/2014/main" id="{5F7824EF-E699-64CC-D5D3-51A02DC184E6}"/>
              </a:ext>
            </a:extLst>
          </p:cNvPr>
          <p:cNvGrpSpPr/>
          <p:nvPr/>
        </p:nvGrpSpPr>
        <p:grpSpPr>
          <a:xfrm>
            <a:off x="2640563" y="3620264"/>
            <a:ext cx="6910875" cy="1134002"/>
            <a:chOff x="6389225" y="1006997"/>
            <a:chExt cx="4726281" cy="775533"/>
          </a:xfrm>
        </p:grpSpPr>
        <p:sp>
          <p:nvSpPr>
            <p:cNvPr id="16" name="Google Shape;1321;p21">
              <a:extLst>
                <a:ext uri="{FF2B5EF4-FFF2-40B4-BE49-F238E27FC236}">
                  <a16:creationId xmlns:a16="http://schemas.microsoft.com/office/drawing/2014/main" id="{FC5CBA1C-DB34-A8D3-BFE7-3A43A7BC2847}"/>
                </a:ext>
              </a:extLst>
            </p:cNvPr>
            <p:cNvSpPr/>
            <p:nvPr/>
          </p:nvSpPr>
          <p:spPr>
            <a:xfrm>
              <a:off x="6389225" y="1006998"/>
              <a:ext cx="660817" cy="775532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12270" y="3057"/>
                    <a:pt x="244233" y="3057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489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322;p21">
              <a:extLst>
                <a:ext uri="{FF2B5EF4-FFF2-40B4-BE49-F238E27FC236}">
                  <a16:creationId xmlns:a16="http://schemas.microsoft.com/office/drawing/2014/main" id="{773EE433-9A41-83A7-A68F-A6FF19DB30EE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323;p21">
              <a:extLst>
                <a:ext uri="{FF2B5EF4-FFF2-40B4-BE49-F238E27FC236}">
                  <a16:creationId xmlns:a16="http://schemas.microsoft.com/office/drawing/2014/main" id="{CD7E6D96-3BEC-3F05-DED1-ECC4A90D51CE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02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" name="Google Shape;1324;p21">
              <a:extLst>
                <a:ext uri="{FF2B5EF4-FFF2-40B4-BE49-F238E27FC236}">
                  <a16:creationId xmlns:a16="http://schemas.microsoft.com/office/drawing/2014/main" id="{07F7B19F-0880-4ACE-CDD8-F69F5DE739F2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Encourages ownership of the team throughout the process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1325;p21">
            <a:extLst>
              <a:ext uri="{FF2B5EF4-FFF2-40B4-BE49-F238E27FC236}">
                <a16:creationId xmlns:a16="http://schemas.microsoft.com/office/drawing/2014/main" id="{BAD237A5-D9BB-CC8D-D72D-C55B5ADA6833}"/>
              </a:ext>
            </a:extLst>
          </p:cNvPr>
          <p:cNvGrpSpPr/>
          <p:nvPr/>
        </p:nvGrpSpPr>
        <p:grpSpPr>
          <a:xfrm>
            <a:off x="2640563" y="2313447"/>
            <a:ext cx="6910875" cy="1134000"/>
            <a:chOff x="6389225" y="1006997"/>
            <a:chExt cx="4726281" cy="775531"/>
          </a:xfrm>
        </p:grpSpPr>
        <p:sp>
          <p:nvSpPr>
            <p:cNvPr id="21" name="Google Shape;1326;p21">
              <a:extLst>
                <a:ext uri="{FF2B5EF4-FFF2-40B4-BE49-F238E27FC236}">
                  <a16:creationId xmlns:a16="http://schemas.microsoft.com/office/drawing/2014/main" id="{E1AA237B-EAE1-F6A8-9FA5-DBC98E6607DB}"/>
                </a:ext>
              </a:extLst>
            </p:cNvPr>
            <p:cNvSpPr/>
            <p:nvPr/>
          </p:nvSpPr>
          <p:spPr>
            <a:xfrm>
              <a:off x="6389225" y="1006997"/>
              <a:ext cx="660817" cy="775531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177331" y="4685"/>
                    <a:pt x="209294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F4AB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327;p21">
              <a:extLst>
                <a:ext uri="{FF2B5EF4-FFF2-40B4-BE49-F238E27FC236}">
                  <a16:creationId xmlns:a16="http://schemas.microsoft.com/office/drawing/2014/main" id="{B40C16BC-4F35-E081-2F93-A5BDAFC0D34B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328;p21">
              <a:extLst>
                <a:ext uri="{FF2B5EF4-FFF2-40B4-BE49-F238E27FC236}">
                  <a16:creationId xmlns:a16="http://schemas.microsoft.com/office/drawing/2014/main" id="{DF8F4CE1-BEC1-92C8-AC95-D0622481C750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01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" name="Google Shape;1329;p21">
              <a:extLst>
                <a:ext uri="{FF2B5EF4-FFF2-40B4-BE49-F238E27FC236}">
                  <a16:creationId xmlns:a16="http://schemas.microsoft.com/office/drawing/2014/main" id="{0CB78EE5-4D5D-4BB8-4FD3-69BD55DC5550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Ensures proper planning and management to achieve the end result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542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334;p22">
            <a:extLst>
              <a:ext uri="{FF2B5EF4-FFF2-40B4-BE49-F238E27FC236}">
                <a16:creationId xmlns:a16="http://schemas.microsoft.com/office/drawing/2014/main" id="{5F37FBD7-9660-545B-03CC-1F59B738BDDF}"/>
              </a:ext>
            </a:extLst>
          </p:cNvPr>
          <p:cNvSpPr txBox="1"/>
          <p:nvPr/>
        </p:nvSpPr>
        <p:spPr>
          <a:xfrm>
            <a:off x="3961559" y="1355387"/>
            <a:ext cx="42690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WATERFALL METHODOLOGY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35;p22">
            <a:extLst>
              <a:ext uri="{FF2B5EF4-FFF2-40B4-BE49-F238E27FC236}">
                <a16:creationId xmlns:a16="http://schemas.microsoft.com/office/drawing/2014/main" id="{75C8341E-1624-FCF4-0D3B-864162217CDD}"/>
              </a:ext>
            </a:extLst>
          </p:cNvPr>
          <p:cNvSpPr/>
          <p:nvPr/>
        </p:nvSpPr>
        <p:spPr>
          <a:xfrm>
            <a:off x="3600450" y="3598336"/>
            <a:ext cx="4991100" cy="1765200"/>
          </a:xfrm>
          <a:prstGeom prst="roundRect">
            <a:avLst>
              <a:gd name="adj" fmla="val 9113"/>
            </a:avLst>
          </a:prstGeom>
          <a:noFill/>
          <a:ln w="28575" cap="flat" cmpd="sng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Lato"/>
                <a:ea typeface="Lato"/>
                <a:cs typeface="Lato"/>
                <a:sym typeface="Lato"/>
              </a:rPr>
              <a:t>The w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aterfall model is known as a</a:t>
            </a:r>
            <a:r>
              <a:rPr lang="en-US" sz="2000" b="1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 linear-sequential life cycle model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-US" sz="2000" b="1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 it requires the completion of the previous stage before 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starting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next one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244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340;p23">
            <a:extLst>
              <a:ext uri="{FF2B5EF4-FFF2-40B4-BE49-F238E27FC236}">
                <a16:creationId xmlns:a16="http://schemas.microsoft.com/office/drawing/2014/main" id="{FF126349-4000-132B-1596-077F6821D1DC}"/>
              </a:ext>
            </a:extLst>
          </p:cNvPr>
          <p:cNvSpPr/>
          <p:nvPr/>
        </p:nvSpPr>
        <p:spPr>
          <a:xfrm>
            <a:off x="2472421" y="1464047"/>
            <a:ext cx="2506832" cy="762133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Requirement Gathering 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341;p23">
            <a:extLst>
              <a:ext uri="{FF2B5EF4-FFF2-40B4-BE49-F238E27FC236}">
                <a16:creationId xmlns:a16="http://schemas.microsoft.com/office/drawing/2014/main" id="{908A6826-2DF6-BBD7-C0F6-FE5B1A5253E3}"/>
              </a:ext>
            </a:extLst>
          </p:cNvPr>
          <p:cNvGrpSpPr/>
          <p:nvPr/>
        </p:nvGrpSpPr>
        <p:grpSpPr>
          <a:xfrm>
            <a:off x="3469704" y="1833756"/>
            <a:ext cx="2506832" cy="1300489"/>
            <a:chOff x="3469704" y="1495428"/>
            <a:chExt cx="2506832" cy="1300489"/>
          </a:xfrm>
        </p:grpSpPr>
        <p:sp>
          <p:nvSpPr>
            <p:cNvPr id="11" name="Google Shape;1342;p23">
              <a:extLst>
                <a:ext uri="{FF2B5EF4-FFF2-40B4-BE49-F238E27FC236}">
                  <a16:creationId xmlns:a16="http://schemas.microsoft.com/office/drawing/2014/main" id="{8EC0435B-E383-CC15-3F28-ABBA77D4A630}"/>
                </a:ext>
              </a:extLst>
            </p:cNvPr>
            <p:cNvSpPr/>
            <p:nvPr/>
          </p:nvSpPr>
          <p:spPr>
            <a:xfrm>
              <a:off x="4979253" y="1495428"/>
              <a:ext cx="478572" cy="552447"/>
            </a:xfrm>
            <a:custGeom>
              <a:avLst/>
              <a:gdLst/>
              <a:ahLst/>
              <a:cxnLst/>
              <a:rect l="l" t="t" r="r" b="b"/>
              <a:pathLst>
                <a:path w="457200" h="619125" extrusionOk="0">
                  <a:moveTo>
                    <a:pt x="0" y="0"/>
                  </a:moveTo>
                  <a:lnTo>
                    <a:pt x="457200" y="0"/>
                  </a:lnTo>
                  <a:lnTo>
                    <a:pt x="457200" y="619125"/>
                  </a:lnTo>
                </a:path>
              </a:pathLst>
            </a:custGeom>
            <a:noFill/>
            <a:ln w="28575" cap="flat" cmpd="sng">
              <a:solidFill>
                <a:srgbClr val="9C9C9C"/>
              </a:solidFill>
              <a:prstDash val="solid"/>
              <a:round/>
              <a:headEnd type="none" w="sm" len="sm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343;p23">
              <a:extLst>
                <a:ext uri="{FF2B5EF4-FFF2-40B4-BE49-F238E27FC236}">
                  <a16:creationId xmlns:a16="http://schemas.microsoft.com/office/drawing/2014/main" id="{B393E025-9DBF-E3F2-EAB2-F3701D8CDDD4}"/>
                </a:ext>
              </a:extLst>
            </p:cNvPr>
            <p:cNvSpPr/>
            <p:nvPr/>
          </p:nvSpPr>
          <p:spPr>
            <a:xfrm>
              <a:off x="3469704" y="2033783"/>
              <a:ext cx="2506832" cy="762134"/>
            </a:xfrm>
            <a:prstGeom prst="roundRect">
              <a:avLst>
                <a:gd name="adj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System Design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3" name="Google Shape;1344;p23">
            <a:extLst>
              <a:ext uri="{FF2B5EF4-FFF2-40B4-BE49-F238E27FC236}">
                <a16:creationId xmlns:a16="http://schemas.microsoft.com/office/drawing/2014/main" id="{1693D702-1EE6-2E15-5B03-46D1EEF244D2}"/>
              </a:ext>
            </a:extLst>
          </p:cNvPr>
          <p:cNvSpPr txBox="1"/>
          <p:nvPr/>
        </p:nvSpPr>
        <p:spPr>
          <a:xfrm>
            <a:off x="2564000" y="876109"/>
            <a:ext cx="7011319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WATERFALL METHODOLOGY</a:t>
            </a:r>
            <a:endParaRPr sz="2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" name="Google Shape;1345;p23">
            <a:extLst>
              <a:ext uri="{FF2B5EF4-FFF2-40B4-BE49-F238E27FC236}">
                <a16:creationId xmlns:a16="http://schemas.microsoft.com/office/drawing/2014/main" id="{ED1CD45D-CD0A-C920-8A7E-4C19AFC40C89}"/>
              </a:ext>
            </a:extLst>
          </p:cNvPr>
          <p:cNvGrpSpPr/>
          <p:nvPr/>
        </p:nvGrpSpPr>
        <p:grpSpPr>
          <a:xfrm>
            <a:off x="4466987" y="2722054"/>
            <a:ext cx="2506832" cy="1321275"/>
            <a:chOff x="4466987" y="2383726"/>
            <a:chExt cx="2506832" cy="1321275"/>
          </a:xfrm>
        </p:grpSpPr>
        <p:sp>
          <p:nvSpPr>
            <p:cNvPr id="15" name="Google Shape;1346;p23">
              <a:extLst>
                <a:ext uri="{FF2B5EF4-FFF2-40B4-BE49-F238E27FC236}">
                  <a16:creationId xmlns:a16="http://schemas.microsoft.com/office/drawing/2014/main" id="{DEEEDEC4-5452-2CEF-C1E8-1DD50354997D}"/>
                </a:ext>
              </a:extLst>
            </p:cNvPr>
            <p:cNvSpPr/>
            <p:nvPr/>
          </p:nvSpPr>
          <p:spPr>
            <a:xfrm>
              <a:off x="4466987" y="2942868"/>
              <a:ext cx="2506832" cy="762133"/>
            </a:xfrm>
            <a:prstGeom prst="roundRect">
              <a:avLst>
                <a:gd name="adj" fmla="val 5000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Implementation 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" name="Google Shape;1347;p23">
              <a:extLst>
                <a:ext uri="{FF2B5EF4-FFF2-40B4-BE49-F238E27FC236}">
                  <a16:creationId xmlns:a16="http://schemas.microsoft.com/office/drawing/2014/main" id="{BE5E207C-2200-68A4-7B16-24697187EC21}"/>
                </a:ext>
              </a:extLst>
            </p:cNvPr>
            <p:cNvSpPr/>
            <p:nvPr/>
          </p:nvSpPr>
          <p:spPr>
            <a:xfrm>
              <a:off x="5976180" y="2383726"/>
              <a:ext cx="478572" cy="552447"/>
            </a:xfrm>
            <a:custGeom>
              <a:avLst/>
              <a:gdLst/>
              <a:ahLst/>
              <a:cxnLst/>
              <a:rect l="l" t="t" r="r" b="b"/>
              <a:pathLst>
                <a:path w="457200" h="619125" extrusionOk="0">
                  <a:moveTo>
                    <a:pt x="0" y="0"/>
                  </a:moveTo>
                  <a:lnTo>
                    <a:pt x="457200" y="0"/>
                  </a:lnTo>
                  <a:lnTo>
                    <a:pt x="457200" y="619125"/>
                  </a:lnTo>
                </a:path>
              </a:pathLst>
            </a:custGeom>
            <a:noFill/>
            <a:ln w="28575" cap="flat" cmpd="sng">
              <a:solidFill>
                <a:srgbClr val="9C9C9C"/>
              </a:solidFill>
              <a:prstDash val="solid"/>
              <a:round/>
              <a:headEnd type="none" w="sm" len="sm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Google Shape;1348;p23">
            <a:extLst>
              <a:ext uri="{FF2B5EF4-FFF2-40B4-BE49-F238E27FC236}">
                <a16:creationId xmlns:a16="http://schemas.microsoft.com/office/drawing/2014/main" id="{D7C1E555-CEC4-7093-7E13-48AE0305E79F}"/>
              </a:ext>
            </a:extLst>
          </p:cNvPr>
          <p:cNvGrpSpPr/>
          <p:nvPr/>
        </p:nvGrpSpPr>
        <p:grpSpPr>
          <a:xfrm>
            <a:off x="5720403" y="3631284"/>
            <a:ext cx="2506832" cy="1330143"/>
            <a:chOff x="5720403" y="3292956"/>
            <a:chExt cx="2506832" cy="1330143"/>
          </a:xfrm>
        </p:grpSpPr>
        <p:sp>
          <p:nvSpPr>
            <p:cNvPr id="18" name="Google Shape;1349;p23">
              <a:extLst>
                <a:ext uri="{FF2B5EF4-FFF2-40B4-BE49-F238E27FC236}">
                  <a16:creationId xmlns:a16="http://schemas.microsoft.com/office/drawing/2014/main" id="{9F52FE3A-0392-29AD-3640-3D2F9171CD38}"/>
                </a:ext>
              </a:extLst>
            </p:cNvPr>
            <p:cNvSpPr/>
            <p:nvPr/>
          </p:nvSpPr>
          <p:spPr>
            <a:xfrm>
              <a:off x="5720403" y="3860965"/>
              <a:ext cx="2506832" cy="762134"/>
            </a:xfrm>
            <a:prstGeom prst="roundRect">
              <a:avLst>
                <a:gd name="adj" fmla="val 50000"/>
              </a:avLst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Testing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" name="Google Shape;1350;p23">
              <a:extLst>
                <a:ext uri="{FF2B5EF4-FFF2-40B4-BE49-F238E27FC236}">
                  <a16:creationId xmlns:a16="http://schemas.microsoft.com/office/drawing/2014/main" id="{07EA51F1-88FC-0411-F988-035D4E438BB8}"/>
                </a:ext>
              </a:extLst>
            </p:cNvPr>
            <p:cNvSpPr/>
            <p:nvPr/>
          </p:nvSpPr>
          <p:spPr>
            <a:xfrm>
              <a:off x="6973819" y="3292956"/>
              <a:ext cx="478572" cy="552447"/>
            </a:xfrm>
            <a:custGeom>
              <a:avLst/>
              <a:gdLst/>
              <a:ahLst/>
              <a:cxnLst/>
              <a:rect l="l" t="t" r="r" b="b"/>
              <a:pathLst>
                <a:path w="457200" h="619125" extrusionOk="0">
                  <a:moveTo>
                    <a:pt x="0" y="0"/>
                  </a:moveTo>
                  <a:lnTo>
                    <a:pt x="457200" y="0"/>
                  </a:lnTo>
                  <a:lnTo>
                    <a:pt x="457200" y="619125"/>
                  </a:lnTo>
                </a:path>
              </a:pathLst>
            </a:custGeom>
            <a:noFill/>
            <a:ln w="28575" cap="flat" cmpd="sng">
              <a:solidFill>
                <a:srgbClr val="9C9C9C"/>
              </a:solidFill>
              <a:prstDash val="solid"/>
              <a:round/>
              <a:headEnd type="none" w="sm" len="sm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1351;p23">
            <a:extLst>
              <a:ext uri="{FF2B5EF4-FFF2-40B4-BE49-F238E27FC236}">
                <a16:creationId xmlns:a16="http://schemas.microsoft.com/office/drawing/2014/main" id="{9D06AFDA-5318-EE6C-CC5E-B159AE16D3EF}"/>
              </a:ext>
            </a:extLst>
          </p:cNvPr>
          <p:cNvGrpSpPr/>
          <p:nvPr/>
        </p:nvGrpSpPr>
        <p:grpSpPr>
          <a:xfrm>
            <a:off x="6888183" y="4531222"/>
            <a:ext cx="2506832" cy="1319715"/>
            <a:chOff x="6888183" y="4192894"/>
            <a:chExt cx="2506832" cy="1319715"/>
          </a:xfrm>
        </p:grpSpPr>
        <p:sp>
          <p:nvSpPr>
            <p:cNvPr id="21" name="Google Shape;1352;p23">
              <a:extLst>
                <a:ext uri="{FF2B5EF4-FFF2-40B4-BE49-F238E27FC236}">
                  <a16:creationId xmlns:a16="http://schemas.microsoft.com/office/drawing/2014/main" id="{D5D6425A-9060-0B50-15B0-14D5FA73EA62}"/>
                </a:ext>
              </a:extLst>
            </p:cNvPr>
            <p:cNvSpPr/>
            <p:nvPr/>
          </p:nvSpPr>
          <p:spPr>
            <a:xfrm>
              <a:off x="6888183" y="4750475"/>
              <a:ext cx="2506832" cy="762134"/>
            </a:xfrm>
            <a:prstGeom prst="roundRect">
              <a:avLst>
                <a:gd name="adj" fmla="val 50000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" name="Google Shape;1353;p23">
              <a:extLst>
                <a:ext uri="{FF2B5EF4-FFF2-40B4-BE49-F238E27FC236}">
                  <a16:creationId xmlns:a16="http://schemas.microsoft.com/office/drawing/2014/main" id="{A9CD5865-56AF-E695-4BAD-234907B6AEE2}"/>
                </a:ext>
              </a:extLst>
            </p:cNvPr>
            <p:cNvSpPr/>
            <p:nvPr/>
          </p:nvSpPr>
          <p:spPr>
            <a:xfrm>
              <a:off x="8221314" y="4192894"/>
              <a:ext cx="478572" cy="552447"/>
            </a:xfrm>
            <a:custGeom>
              <a:avLst/>
              <a:gdLst/>
              <a:ahLst/>
              <a:cxnLst/>
              <a:rect l="l" t="t" r="r" b="b"/>
              <a:pathLst>
                <a:path w="457200" h="619125" extrusionOk="0">
                  <a:moveTo>
                    <a:pt x="0" y="0"/>
                  </a:moveTo>
                  <a:lnTo>
                    <a:pt x="457200" y="0"/>
                  </a:lnTo>
                  <a:lnTo>
                    <a:pt x="457200" y="619125"/>
                  </a:lnTo>
                </a:path>
              </a:pathLst>
            </a:custGeom>
            <a:noFill/>
            <a:ln w="28575" cap="flat" cmpd="sng">
              <a:solidFill>
                <a:srgbClr val="9C9C9C"/>
              </a:solidFill>
              <a:prstDash val="solid"/>
              <a:round/>
              <a:headEnd type="none" w="sm" len="sm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354;p23">
            <a:extLst>
              <a:ext uri="{FF2B5EF4-FFF2-40B4-BE49-F238E27FC236}">
                <a16:creationId xmlns:a16="http://schemas.microsoft.com/office/drawing/2014/main" id="{AA155E0D-7FD1-88B1-5522-04074F9893F6}"/>
              </a:ext>
            </a:extLst>
          </p:cNvPr>
          <p:cNvGrpSpPr/>
          <p:nvPr/>
        </p:nvGrpSpPr>
        <p:grpSpPr>
          <a:xfrm>
            <a:off x="8141599" y="5419520"/>
            <a:ext cx="2506832" cy="1320927"/>
            <a:chOff x="8141599" y="5081192"/>
            <a:chExt cx="2506832" cy="1320927"/>
          </a:xfrm>
        </p:grpSpPr>
        <p:sp>
          <p:nvSpPr>
            <p:cNvPr id="24" name="Google Shape;1355;p23">
              <a:extLst>
                <a:ext uri="{FF2B5EF4-FFF2-40B4-BE49-F238E27FC236}">
                  <a16:creationId xmlns:a16="http://schemas.microsoft.com/office/drawing/2014/main" id="{5F938D64-6CA5-3B10-6798-A01C3FE028E0}"/>
                </a:ext>
              </a:extLst>
            </p:cNvPr>
            <p:cNvSpPr/>
            <p:nvPr/>
          </p:nvSpPr>
          <p:spPr>
            <a:xfrm>
              <a:off x="8141599" y="5639986"/>
              <a:ext cx="2506832" cy="762133"/>
            </a:xfrm>
            <a:prstGeom prst="roundRect">
              <a:avLst>
                <a:gd name="adj" fmla="val 50000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Monitoring and Maintenance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" name="Google Shape;1356;p23">
              <a:extLst>
                <a:ext uri="{FF2B5EF4-FFF2-40B4-BE49-F238E27FC236}">
                  <a16:creationId xmlns:a16="http://schemas.microsoft.com/office/drawing/2014/main" id="{AD03F86D-3984-1762-0DC2-28942BF9356E}"/>
                </a:ext>
              </a:extLst>
            </p:cNvPr>
            <p:cNvSpPr/>
            <p:nvPr/>
          </p:nvSpPr>
          <p:spPr>
            <a:xfrm>
              <a:off x="9395015" y="5081192"/>
              <a:ext cx="478572" cy="552447"/>
            </a:xfrm>
            <a:custGeom>
              <a:avLst/>
              <a:gdLst/>
              <a:ahLst/>
              <a:cxnLst/>
              <a:rect l="l" t="t" r="r" b="b"/>
              <a:pathLst>
                <a:path w="457200" h="619125" extrusionOk="0">
                  <a:moveTo>
                    <a:pt x="0" y="0"/>
                  </a:moveTo>
                  <a:lnTo>
                    <a:pt x="457200" y="0"/>
                  </a:lnTo>
                  <a:lnTo>
                    <a:pt x="457200" y="619125"/>
                  </a:lnTo>
                </a:path>
              </a:pathLst>
            </a:custGeom>
            <a:noFill/>
            <a:ln w="28575" cap="flat" cmpd="sng">
              <a:solidFill>
                <a:srgbClr val="9C9C9C"/>
              </a:solidFill>
              <a:prstDash val="solid"/>
              <a:round/>
              <a:headEnd type="none" w="sm" len="sm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025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361;p24">
            <a:extLst>
              <a:ext uri="{FF2B5EF4-FFF2-40B4-BE49-F238E27FC236}">
                <a16:creationId xmlns:a16="http://schemas.microsoft.com/office/drawing/2014/main" id="{ACD6FA09-D421-E447-A2AB-23BC15C0D519}"/>
              </a:ext>
            </a:extLst>
          </p:cNvPr>
          <p:cNvSpPr txBox="1">
            <a:spLocks/>
          </p:cNvSpPr>
          <p:nvPr/>
        </p:nvSpPr>
        <p:spPr>
          <a:xfrm>
            <a:off x="6801306" y="2646109"/>
            <a:ext cx="4752000" cy="354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6000" tIns="96000" rIns="96000" bIns="9600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800"/>
              </a:spcBef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Once an application is in the testing stage, it is difficult to go to the previous stage and make a modification that was not well-thought-out during the concept stage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No working software is finalized until the last stage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This method is not suitable for projects with a moderate-to-high risk of changing requirements</a:t>
            </a:r>
            <a:endParaRPr lang="en-US"/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This should not be preferred for long and ongoing projects</a:t>
            </a:r>
          </a:p>
        </p:txBody>
      </p:sp>
      <p:sp>
        <p:nvSpPr>
          <p:cNvPr id="10" name="Google Shape;1362;p24">
            <a:extLst>
              <a:ext uri="{FF2B5EF4-FFF2-40B4-BE49-F238E27FC236}">
                <a16:creationId xmlns:a16="http://schemas.microsoft.com/office/drawing/2014/main" id="{279AA1F3-37BD-F50A-1A8D-ABE90B3E1CDD}"/>
              </a:ext>
            </a:extLst>
          </p:cNvPr>
          <p:cNvSpPr txBox="1">
            <a:spLocks/>
          </p:cNvSpPr>
          <p:nvPr/>
        </p:nvSpPr>
        <p:spPr>
          <a:xfrm>
            <a:off x="719931" y="2646109"/>
            <a:ext cx="5216400" cy="2718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6000" tIns="96000" rIns="96000" bIns="9600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800"/>
              </a:spcBef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It is simple and easy to understand and follow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It is easy to manage owing to the rigidity of the model (each step has a checklist)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It does not involve any overlapping of the phases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It works well for small projects in which the requirements are clearly defined and well understood</a:t>
            </a:r>
          </a:p>
        </p:txBody>
      </p:sp>
      <p:cxnSp>
        <p:nvCxnSpPr>
          <p:cNvPr id="11" name="Google Shape;1363;p24">
            <a:extLst>
              <a:ext uri="{FF2B5EF4-FFF2-40B4-BE49-F238E27FC236}">
                <a16:creationId xmlns:a16="http://schemas.microsoft.com/office/drawing/2014/main" id="{82D6AC18-A127-2554-FB31-068C425D32DF}"/>
              </a:ext>
            </a:extLst>
          </p:cNvPr>
          <p:cNvCxnSpPr/>
          <p:nvPr/>
        </p:nvCxnSpPr>
        <p:spPr>
          <a:xfrm>
            <a:off x="6128487" y="2481916"/>
            <a:ext cx="0" cy="3827009"/>
          </a:xfrm>
          <a:prstGeom prst="straightConnector1">
            <a:avLst/>
          </a:prstGeom>
          <a:noFill/>
          <a:ln w="25400" cap="rnd" cmpd="sng">
            <a:solidFill>
              <a:srgbClr val="820A1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364;p24">
            <a:extLst>
              <a:ext uri="{FF2B5EF4-FFF2-40B4-BE49-F238E27FC236}">
                <a16:creationId xmlns:a16="http://schemas.microsoft.com/office/drawing/2014/main" id="{B8C728F3-BCD5-45C1-F76E-713A515E39D9}"/>
              </a:ext>
            </a:extLst>
          </p:cNvPr>
          <p:cNvGrpSpPr/>
          <p:nvPr/>
        </p:nvGrpSpPr>
        <p:grpSpPr>
          <a:xfrm>
            <a:off x="1848724" y="1937408"/>
            <a:ext cx="2560911" cy="576263"/>
            <a:chOff x="1866900" y="851582"/>
            <a:chExt cx="1924050" cy="523875"/>
          </a:xfrm>
        </p:grpSpPr>
        <p:sp>
          <p:nvSpPr>
            <p:cNvPr id="13" name="Google Shape;1365;p24">
              <a:extLst>
                <a:ext uri="{FF2B5EF4-FFF2-40B4-BE49-F238E27FC236}">
                  <a16:creationId xmlns:a16="http://schemas.microsoft.com/office/drawing/2014/main" id="{44E671A0-9F9C-3E8D-5376-4A9B35F2FC65}"/>
                </a:ext>
              </a:extLst>
            </p:cNvPr>
            <p:cNvSpPr/>
            <p:nvPr/>
          </p:nvSpPr>
          <p:spPr>
            <a:xfrm>
              <a:off x="1866900" y="851582"/>
              <a:ext cx="1924050" cy="523875"/>
            </a:xfrm>
            <a:prstGeom prst="roundRect">
              <a:avLst>
                <a:gd name="adj" fmla="val 7576"/>
              </a:avLst>
            </a:prstGeom>
            <a:solidFill>
              <a:srgbClr val="7F7F7F"/>
            </a:solidFill>
            <a:ln w="25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366;p24">
              <a:extLst>
                <a:ext uri="{FF2B5EF4-FFF2-40B4-BE49-F238E27FC236}">
                  <a16:creationId xmlns:a16="http://schemas.microsoft.com/office/drawing/2014/main" id="{CEFCBB15-8731-C44D-9879-846102977F80}"/>
                </a:ext>
              </a:extLst>
            </p:cNvPr>
            <p:cNvSpPr/>
            <p:nvPr/>
          </p:nvSpPr>
          <p:spPr>
            <a:xfrm>
              <a:off x="2106141" y="929756"/>
              <a:ext cx="1445567" cy="36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Advantages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1367;p24">
            <a:extLst>
              <a:ext uri="{FF2B5EF4-FFF2-40B4-BE49-F238E27FC236}">
                <a16:creationId xmlns:a16="http://schemas.microsoft.com/office/drawing/2014/main" id="{9E42BCF9-9948-A2F3-3F22-EE5D0D7765EC}"/>
              </a:ext>
            </a:extLst>
          </p:cNvPr>
          <p:cNvGrpSpPr/>
          <p:nvPr/>
        </p:nvGrpSpPr>
        <p:grpSpPr>
          <a:xfrm>
            <a:off x="7847339" y="1937408"/>
            <a:ext cx="2560911" cy="576263"/>
            <a:chOff x="8124825" y="851582"/>
            <a:chExt cx="1924050" cy="523875"/>
          </a:xfrm>
        </p:grpSpPr>
        <p:sp>
          <p:nvSpPr>
            <p:cNvPr id="16" name="Google Shape;1368;p24">
              <a:extLst>
                <a:ext uri="{FF2B5EF4-FFF2-40B4-BE49-F238E27FC236}">
                  <a16:creationId xmlns:a16="http://schemas.microsoft.com/office/drawing/2014/main" id="{70E60936-D027-7CC5-C59E-1EF233419D10}"/>
                </a:ext>
              </a:extLst>
            </p:cNvPr>
            <p:cNvSpPr/>
            <p:nvPr/>
          </p:nvSpPr>
          <p:spPr>
            <a:xfrm>
              <a:off x="8124825" y="851582"/>
              <a:ext cx="1924050" cy="523875"/>
            </a:xfrm>
            <a:prstGeom prst="roundRect">
              <a:avLst>
                <a:gd name="adj" fmla="val 7576"/>
              </a:avLst>
            </a:prstGeom>
            <a:solidFill>
              <a:srgbClr val="7F7F7F"/>
            </a:solidFill>
            <a:ln w="25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369;p24">
              <a:extLst>
                <a:ext uri="{FF2B5EF4-FFF2-40B4-BE49-F238E27FC236}">
                  <a16:creationId xmlns:a16="http://schemas.microsoft.com/office/drawing/2014/main" id="{A12B4BC1-0F22-D237-175D-9FB824AD4AEC}"/>
                </a:ext>
              </a:extLst>
            </p:cNvPr>
            <p:cNvSpPr/>
            <p:nvPr/>
          </p:nvSpPr>
          <p:spPr>
            <a:xfrm>
              <a:off x="8364066" y="929756"/>
              <a:ext cx="1445567" cy="36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Disadvantages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370;p24">
            <a:extLst>
              <a:ext uri="{FF2B5EF4-FFF2-40B4-BE49-F238E27FC236}">
                <a16:creationId xmlns:a16="http://schemas.microsoft.com/office/drawing/2014/main" id="{AED78201-6774-C850-F6CC-2FDCA10FA0ED}"/>
              </a:ext>
            </a:extLst>
          </p:cNvPr>
          <p:cNvSpPr txBox="1"/>
          <p:nvPr/>
        </p:nvSpPr>
        <p:spPr>
          <a:xfrm>
            <a:off x="1206500" y="1201017"/>
            <a:ext cx="9779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WATERFALL METHODOLOGY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157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1375;p2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8A9894E-A08F-2806-DA5C-71646588000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90792" y="1231490"/>
            <a:ext cx="5437375" cy="549307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376;p25">
            <a:extLst>
              <a:ext uri="{FF2B5EF4-FFF2-40B4-BE49-F238E27FC236}">
                <a16:creationId xmlns:a16="http://schemas.microsoft.com/office/drawing/2014/main" id="{5BE0C45E-7C54-AD57-D4B8-631C19301D06}"/>
              </a:ext>
            </a:extLst>
          </p:cNvPr>
          <p:cNvSpPr/>
          <p:nvPr/>
        </p:nvSpPr>
        <p:spPr>
          <a:xfrm>
            <a:off x="375242" y="4077879"/>
            <a:ext cx="4487044" cy="1561235"/>
          </a:xfrm>
          <a:prstGeom prst="roundRect">
            <a:avLst>
              <a:gd name="adj" fmla="val 9113"/>
            </a:avLst>
          </a:prstGeom>
          <a:noFill/>
          <a:ln w="28575" cap="flat" cmpd="sng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Lato"/>
                <a:ea typeface="Lato"/>
                <a:cs typeface="Lato"/>
                <a:sym typeface="Lato"/>
              </a:rPr>
              <a:t>Observe how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Microsoft used to release a Windows OS every few years prior to 2015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377;p25">
            <a:extLst>
              <a:ext uri="{FF2B5EF4-FFF2-40B4-BE49-F238E27FC236}">
                <a16:creationId xmlns:a16="http://schemas.microsoft.com/office/drawing/2014/main" id="{B4004648-F8AE-BA86-6228-C8C3CF9004D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3764" y="1966958"/>
            <a:ext cx="3810000" cy="213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Google Shape;1378;p25">
            <a:extLst>
              <a:ext uri="{FF2B5EF4-FFF2-40B4-BE49-F238E27FC236}">
                <a16:creationId xmlns:a16="http://schemas.microsoft.com/office/drawing/2014/main" id="{92C8C7F1-46BD-548F-6E26-8C71D88F3985}"/>
              </a:ext>
            </a:extLst>
          </p:cNvPr>
          <p:cNvCxnSpPr>
            <a:cxnSpLocks/>
          </p:cNvCxnSpPr>
          <p:nvPr/>
        </p:nvCxnSpPr>
        <p:spPr>
          <a:xfrm flipV="1">
            <a:off x="5807595" y="1716866"/>
            <a:ext cx="4168474" cy="1"/>
          </a:xfrm>
          <a:prstGeom prst="straightConnector1">
            <a:avLst/>
          </a:prstGeom>
          <a:ln>
            <a:solidFill>
              <a:srgbClr val="FF0000"/>
            </a:solidFill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Google Shape;1379;p25">
            <a:extLst>
              <a:ext uri="{FF2B5EF4-FFF2-40B4-BE49-F238E27FC236}">
                <a16:creationId xmlns:a16="http://schemas.microsoft.com/office/drawing/2014/main" id="{B58126CF-FC14-C54E-9E8E-A21602CC96C4}"/>
              </a:ext>
            </a:extLst>
          </p:cNvPr>
          <p:cNvCxnSpPr>
            <a:cxnSpLocks/>
          </p:cNvCxnSpPr>
          <p:nvPr/>
        </p:nvCxnSpPr>
        <p:spPr>
          <a:xfrm>
            <a:off x="5835697" y="5736794"/>
            <a:ext cx="4595702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380;p25">
            <a:extLst>
              <a:ext uri="{FF2B5EF4-FFF2-40B4-BE49-F238E27FC236}">
                <a16:creationId xmlns:a16="http://schemas.microsoft.com/office/drawing/2014/main" id="{9F7B598A-42A4-3028-499E-8FE75B3E4AB0}"/>
              </a:ext>
            </a:extLst>
          </p:cNvPr>
          <p:cNvCxnSpPr>
            <a:cxnSpLocks/>
          </p:cNvCxnSpPr>
          <p:nvPr/>
        </p:nvCxnSpPr>
        <p:spPr>
          <a:xfrm>
            <a:off x="7976224" y="3256563"/>
            <a:ext cx="2987432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82958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1385;p26">
            <a:extLst>
              <a:ext uri="{FF2B5EF4-FFF2-40B4-BE49-F238E27FC236}">
                <a16:creationId xmlns:a16="http://schemas.microsoft.com/office/drawing/2014/main" id="{2108FD1F-37AE-E17B-C51C-6BCB4537E0A7}"/>
              </a:ext>
            </a:extLst>
          </p:cNvPr>
          <p:cNvGrpSpPr/>
          <p:nvPr/>
        </p:nvGrpSpPr>
        <p:grpSpPr>
          <a:xfrm>
            <a:off x="2768396" y="3517993"/>
            <a:ext cx="6655209" cy="921732"/>
            <a:chOff x="6389225" y="1006997"/>
            <a:chExt cx="4726281" cy="782577"/>
          </a:xfrm>
        </p:grpSpPr>
        <p:sp>
          <p:nvSpPr>
            <p:cNvPr id="10" name="Google Shape;1386;p26">
              <a:extLst>
                <a:ext uri="{FF2B5EF4-FFF2-40B4-BE49-F238E27FC236}">
                  <a16:creationId xmlns:a16="http://schemas.microsoft.com/office/drawing/2014/main" id="{1795AD45-75FE-6724-B7BE-9F882CE0F764}"/>
                </a:ext>
              </a:extLst>
            </p:cNvPr>
            <p:cNvSpPr/>
            <p:nvPr/>
          </p:nvSpPr>
          <p:spPr>
            <a:xfrm>
              <a:off x="6389225" y="1006997"/>
              <a:ext cx="660817" cy="782577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00618" y="3056"/>
                    <a:pt x="232581" y="3056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" name="Google Shape;1387;p26">
              <a:extLst>
                <a:ext uri="{FF2B5EF4-FFF2-40B4-BE49-F238E27FC236}">
                  <a16:creationId xmlns:a16="http://schemas.microsoft.com/office/drawing/2014/main" id="{A44B9D10-7216-68AF-ACB4-8B1708816C59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Google Shape;1388;p26">
              <a:extLst>
                <a:ext uri="{FF2B5EF4-FFF2-40B4-BE49-F238E27FC236}">
                  <a16:creationId xmlns:a16="http://schemas.microsoft.com/office/drawing/2014/main" id="{FB21B800-1C8B-7A94-0FFB-E85FF1E9C03F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03</a:t>
              </a:r>
              <a:endPara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1389;p26">
              <a:extLst>
                <a:ext uri="{FF2B5EF4-FFF2-40B4-BE49-F238E27FC236}">
                  <a16:creationId xmlns:a16="http://schemas.microsoft.com/office/drawing/2014/main" id="{C749D808-B40A-78B1-C2A6-08134B8344E0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Delayed</a:t>
              </a: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 feedback and implementation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" name="Google Shape;1390;p26">
            <a:extLst>
              <a:ext uri="{FF2B5EF4-FFF2-40B4-BE49-F238E27FC236}">
                <a16:creationId xmlns:a16="http://schemas.microsoft.com/office/drawing/2014/main" id="{4D127824-A86D-56E1-0B68-4A0D9BDBCB2D}"/>
              </a:ext>
            </a:extLst>
          </p:cNvPr>
          <p:cNvGrpSpPr/>
          <p:nvPr/>
        </p:nvGrpSpPr>
        <p:grpSpPr>
          <a:xfrm>
            <a:off x="2768396" y="1330066"/>
            <a:ext cx="6655209" cy="852449"/>
            <a:chOff x="2031800" y="846673"/>
            <a:chExt cx="4991407" cy="639337"/>
          </a:xfrm>
        </p:grpSpPr>
        <p:grpSp>
          <p:nvGrpSpPr>
            <p:cNvPr id="15" name="Google Shape;1391;p26">
              <a:extLst>
                <a:ext uri="{FF2B5EF4-FFF2-40B4-BE49-F238E27FC236}">
                  <a16:creationId xmlns:a16="http://schemas.microsoft.com/office/drawing/2014/main" id="{64440D92-E62C-243C-7F4E-884E795639CD}"/>
                </a:ext>
              </a:extLst>
            </p:cNvPr>
            <p:cNvGrpSpPr/>
            <p:nvPr/>
          </p:nvGrpSpPr>
          <p:grpSpPr>
            <a:xfrm>
              <a:off x="2031800" y="846673"/>
              <a:ext cx="4991407" cy="639337"/>
              <a:chOff x="6389225" y="1006997"/>
              <a:chExt cx="4726281" cy="782577"/>
            </a:xfrm>
          </p:grpSpPr>
          <p:sp>
            <p:nvSpPr>
              <p:cNvPr id="17" name="Google Shape;1392;p26">
                <a:extLst>
                  <a:ext uri="{FF2B5EF4-FFF2-40B4-BE49-F238E27FC236}">
                    <a16:creationId xmlns:a16="http://schemas.microsoft.com/office/drawing/2014/main" id="{29F00FF7-9C97-671D-BE68-9A8AAC306CBF}"/>
                  </a:ext>
                </a:extLst>
              </p:cNvPr>
              <p:cNvSpPr/>
              <p:nvPr/>
            </p:nvSpPr>
            <p:spPr>
              <a:xfrm>
                <a:off x="6389225" y="1006997"/>
                <a:ext cx="660817" cy="782577"/>
              </a:xfrm>
              <a:custGeom>
                <a:avLst/>
                <a:gdLst/>
                <a:ahLst/>
                <a:cxnLst/>
                <a:rect l="l" t="t" r="r" b="b"/>
                <a:pathLst>
                  <a:path w="4726281" h="782577" extrusionOk="0">
                    <a:moveTo>
                      <a:pt x="0" y="65817"/>
                    </a:moveTo>
                    <a:cubicBezTo>
                      <a:pt x="0" y="33854"/>
                      <a:pt x="177331" y="4685"/>
                      <a:pt x="209294" y="4685"/>
                    </a:cubicBezTo>
                    <a:lnTo>
                      <a:pt x="4726281" y="0"/>
                    </a:lnTo>
                    <a:cubicBezTo>
                      <a:pt x="4725176" y="250592"/>
                      <a:pt x="4724070" y="531329"/>
                      <a:pt x="4722965" y="781921"/>
                    </a:cubicBezTo>
                    <a:lnTo>
                      <a:pt x="0" y="782577"/>
                    </a:lnTo>
                    <a:lnTo>
                      <a:pt x="0" y="6581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1393;p26">
                <a:extLst>
                  <a:ext uri="{FF2B5EF4-FFF2-40B4-BE49-F238E27FC236}">
                    <a16:creationId xmlns:a16="http://schemas.microsoft.com/office/drawing/2014/main" id="{8A0D4D75-0A0B-DB1E-DDB2-D1CFE24A5C24}"/>
                  </a:ext>
                </a:extLst>
              </p:cNvPr>
              <p:cNvSpPr/>
              <p:nvPr/>
            </p:nvSpPr>
            <p:spPr>
              <a:xfrm>
                <a:off x="6389225" y="1006997"/>
                <a:ext cx="4726281" cy="774635"/>
              </a:xfrm>
              <a:custGeom>
                <a:avLst/>
                <a:gdLst/>
                <a:ahLst/>
                <a:cxnLst/>
                <a:rect l="l" t="t" r="r" b="b"/>
                <a:pathLst>
                  <a:path w="4726281" h="774635" extrusionOk="0">
                    <a:moveTo>
                      <a:pt x="0" y="57875"/>
                    </a:moveTo>
                    <a:cubicBezTo>
                      <a:pt x="0" y="25912"/>
                      <a:pt x="25912" y="0"/>
                      <a:pt x="57875" y="0"/>
                    </a:cubicBezTo>
                    <a:lnTo>
                      <a:pt x="4726281" y="12155"/>
                    </a:lnTo>
                    <a:lnTo>
                      <a:pt x="4722471" y="706055"/>
                    </a:lnTo>
                    <a:cubicBezTo>
                      <a:pt x="4722471" y="738018"/>
                      <a:pt x="4696559" y="763930"/>
                      <a:pt x="4664596" y="763930"/>
                    </a:cubicBezTo>
                    <a:lnTo>
                      <a:pt x="0" y="774635"/>
                    </a:lnTo>
                    <a:lnTo>
                      <a:pt x="0" y="57875"/>
                    </a:lnTo>
                    <a:close/>
                  </a:path>
                </a:pathLst>
              </a:custGeom>
              <a:noFill/>
              <a:ln w="15875" cap="flat" cmpd="sng">
                <a:solidFill>
                  <a:srgbClr val="AEABA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1394;p26">
                <a:extLst>
                  <a:ext uri="{FF2B5EF4-FFF2-40B4-BE49-F238E27FC236}">
                    <a16:creationId xmlns:a16="http://schemas.microsoft.com/office/drawing/2014/main" id="{886F23E7-0AF1-DB69-A220-6DCE20B41219}"/>
                  </a:ext>
                </a:extLst>
              </p:cNvPr>
              <p:cNvSpPr txBox="1"/>
              <p:nvPr/>
            </p:nvSpPr>
            <p:spPr>
              <a:xfrm>
                <a:off x="6399275" y="1219373"/>
                <a:ext cx="660817" cy="35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1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01</a:t>
                </a:r>
                <a:endParaRPr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6" name="Google Shape;1395;p26">
              <a:extLst>
                <a:ext uri="{FF2B5EF4-FFF2-40B4-BE49-F238E27FC236}">
                  <a16:creationId xmlns:a16="http://schemas.microsoft.com/office/drawing/2014/main" id="{BA9C37A5-FAB8-073F-BBC0-2AAD74C4E5EE}"/>
                </a:ext>
              </a:extLst>
            </p:cNvPr>
            <p:cNvSpPr txBox="1"/>
            <p:nvPr/>
          </p:nvSpPr>
          <p:spPr>
            <a:xfrm>
              <a:off x="2750826" y="909634"/>
              <a:ext cx="4240626" cy="5117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Late releases 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" name="Google Shape;1396;p26">
            <a:extLst>
              <a:ext uri="{FF2B5EF4-FFF2-40B4-BE49-F238E27FC236}">
                <a16:creationId xmlns:a16="http://schemas.microsoft.com/office/drawing/2014/main" id="{F3E2EEA8-F220-6301-4337-DC0E968FCAEF}"/>
              </a:ext>
            </a:extLst>
          </p:cNvPr>
          <p:cNvGrpSpPr/>
          <p:nvPr/>
        </p:nvGrpSpPr>
        <p:grpSpPr>
          <a:xfrm>
            <a:off x="2768395" y="2380944"/>
            <a:ext cx="6655209" cy="938620"/>
            <a:chOff x="2042414" y="1608530"/>
            <a:chExt cx="4991407" cy="703965"/>
          </a:xfrm>
        </p:grpSpPr>
        <p:grpSp>
          <p:nvGrpSpPr>
            <p:cNvPr id="21" name="Google Shape;1397;p26">
              <a:extLst>
                <a:ext uri="{FF2B5EF4-FFF2-40B4-BE49-F238E27FC236}">
                  <a16:creationId xmlns:a16="http://schemas.microsoft.com/office/drawing/2014/main" id="{BACC0C49-1EEB-0A79-8D23-6A142F87C526}"/>
                </a:ext>
              </a:extLst>
            </p:cNvPr>
            <p:cNvGrpSpPr/>
            <p:nvPr/>
          </p:nvGrpSpPr>
          <p:grpSpPr>
            <a:xfrm>
              <a:off x="2042414" y="1608530"/>
              <a:ext cx="4991407" cy="703965"/>
              <a:chOff x="6389225" y="1006997"/>
              <a:chExt cx="4726281" cy="782578"/>
            </a:xfrm>
          </p:grpSpPr>
          <p:sp>
            <p:nvSpPr>
              <p:cNvPr id="23" name="Google Shape;1398;p26">
                <a:extLst>
                  <a:ext uri="{FF2B5EF4-FFF2-40B4-BE49-F238E27FC236}">
                    <a16:creationId xmlns:a16="http://schemas.microsoft.com/office/drawing/2014/main" id="{91CB5B74-70D1-1978-1BDA-A8DCE5198398}"/>
                  </a:ext>
                </a:extLst>
              </p:cNvPr>
              <p:cNvSpPr/>
              <p:nvPr/>
            </p:nvSpPr>
            <p:spPr>
              <a:xfrm>
                <a:off x="6389225" y="1006998"/>
                <a:ext cx="660817" cy="782577"/>
              </a:xfrm>
              <a:custGeom>
                <a:avLst/>
                <a:gdLst/>
                <a:ahLst/>
                <a:cxnLst/>
                <a:rect l="l" t="t" r="r" b="b"/>
                <a:pathLst>
                  <a:path w="4726281" h="782577" extrusionOk="0">
                    <a:moveTo>
                      <a:pt x="0" y="65817"/>
                    </a:moveTo>
                    <a:cubicBezTo>
                      <a:pt x="0" y="33854"/>
                      <a:pt x="212270" y="3057"/>
                      <a:pt x="244233" y="3057"/>
                    </a:cubicBezTo>
                    <a:lnTo>
                      <a:pt x="4726281" y="0"/>
                    </a:lnTo>
                    <a:cubicBezTo>
                      <a:pt x="4725176" y="250592"/>
                      <a:pt x="4724070" y="531329"/>
                      <a:pt x="4722965" y="781921"/>
                    </a:cubicBezTo>
                    <a:lnTo>
                      <a:pt x="0" y="782577"/>
                    </a:lnTo>
                    <a:lnTo>
                      <a:pt x="0" y="6581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" name="Google Shape;1399;p26">
                <a:extLst>
                  <a:ext uri="{FF2B5EF4-FFF2-40B4-BE49-F238E27FC236}">
                    <a16:creationId xmlns:a16="http://schemas.microsoft.com/office/drawing/2014/main" id="{E00B3C8E-DC86-D83E-F8FF-6EA993B32388}"/>
                  </a:ext>
                </a:extLst>
              </p:cNvPr>
              <p:cNvSpPr/>
              <p:nvPr/>
            </p:nvSpPr>
            <p:spPr>
              <a:xfrm>
                <a:off x="6389225" y="1006997"/>
                <a:ext cx="4726281" cy="774635"/>
              </a:xfrm>
              <a:custGeom>
                <a:avLst/>
                <a:gdLst/>
                <a:ahLst/>
                <a:cxnLst/>
                <a:rect l="l" t="t" r="r" b="b"/>
                <a:pathLst>
                  <a:path w="4726281" h="774635" extrusionOk="0">
                    <a:moveTo>
                      <a:pt x="0" y="57875"/>
                    </a:moveTo>
                    <a:cubicBezTo>
                      <a:pt x="0" y="25912"/>
                      <a:pt x="25912" y="0"/>
                      <a:pt x="57875" y="0"/>
                    </a:cubicBezTo>
                    <a:lnTo>
                      <a:pt x="4726281" y="12155"/>
                    </a:lnTo>
                    <a:lnTo>
                      <a:pt x="4722471" y="706055"/>
                    </a:lnTo>
                    <a:cubicBezTo>
                      <a:pt x="4722471" y="738018"/>
                      <a:pt x="4696559" y="763930"/>
                      <a:pt x="4664596" y="763930"/>
                    </a:cubicBezTo>
                    <a:lnTo>
                      <a:pt x="0" y="774635"/>
                    </a:lnTo>
                    <a:lnTo>
                      <a:pt x="0" y="57875"/>
                    </a:lnTo>
                    <a:close/>
                  </a:path>
                </a:pathLst>
              </a:custGeom>
              <a:noFill/>
              <a:ln w="15875" cap="flat" cmpd="sng">
                <a:solidFill>
                  <a:srgbClr val="AEABA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" name="Google Shape;1400;p26">
                <a:extLst>
                  <a:ext uri="{FF2B5EF4-FFF2-40B4-BE49-F238E27FC236}">
                    <a16:creationId xmlns:a16="http://schemas.microsoft.com/office/drawing/2014/main" id="{1E46744F-78CD-3953-D339-EED1626F0E07}"/>
                  </a:ext>
                </a:extLst>
              </p:cNvPr>
              <p:cNvSpPr txBox="1"/>
              <p:nvPr/>
            </p:nvSpPr>
            <p:spPr>
              <a:xfrm>
                <a:off x="6399275" y="1219373"/>
                <a:ext cx="660817" cy="35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1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02</a:t>
                </a:r>
                <a:endParaRPr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2" name="Google Shape;1401;p26">
              <a:extLst>
                <a:ext uri="{FF2B5EF4-FFF2-40B4-BE49-F238E27FC236}">
                  <a16:creationId xmlns:a16="http://schemas.microsoft.com/office/drawing/2014/main" id="{E01B68FF-C61E-7DCC-82D0-D7A5F23A176E}"/>
                </a:ext>
              </a:extLst>
            </p:cNvPr>
            <p:cNvSpPr txBox="1"/>
            <p:nvPr/>
          </p:nvSpPr>
          <p:spPr>
            <a:xfrm>
              <a:off x="2772054" y="1698486"/>
              <a:ext cx="4240626" cy="5117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Unresolved issues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6" name="Google Shape;1402;p26">
            <a:extLst>
              <a:ext uri="{FF2B5EF4-FFF2-40B4-BE49-F238E27FC236}">
                <a16:creationId xmlns:a16="http://schemas.microsoft.com/office/drawing/2014/main" id="{4AFA7A9F-7EB1-91CB-9712-FD6D819ED24D}"/>
              </a:ext>
            </a:extLst>
          </p:cNvPr>
          <p:cNvGrpSpPr/>
          <p:nvPr/>
        </p:nvGrpSpPr>
        <p:grpSpPr>
          <a:xfrm>
            <a:off x="2768396" y="4638154"/>
            <a:ext cx="6655209" cy="921732"/>
            <a:chOff x="6389225" y="1006997"/>
            <a:chExt cx="4726281" cy="782577"/>
          </a:xfrm>
        </p:grpSpPr>
        <p:sp>
          <p:nvSpPr>
            <p:cNvPr id="27" name="Google Shape;1403;p26">
              <a:extLst>
                <a:ext uri="{FF2B5EF4-FFF2-40B4-BE49-F238E27FC236}">
                  <a16:creationId xmlns:a16="http://schemas.microsoft.com/office/drawing/2014/main" id="{B4CB3C4E-FE6F-233A-E421-8E6443E2750C}"/>
                </a:ext>
              </a:extLst>
            </p:cNvPr>
            <p:cNvSpPr/>
            <p:nvPr/>
          </p:nvSpPr>
          <p:spPr>
            <a:xfrm>
              <a:off x="6389225" y="1006997"/>
              <a:ext cx="660817" cy="782577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00618" y="3056"/>
                    <a:pt x="232581" y="3056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" name="Google Shape;1404;p26">
              <a:extLst>
                <a:ext uri="{FF2B5EF4-FFF2-40B4-BE49-F238E27FC236}">
                  <a16:creationId xmlns:a16="http://schemas.microsoft.com/office/drawing/2014/main" id="{6466CC67-BAD5-9EF1-A416-DC2E400B43C5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" name="Google Shape;1405;p26">
              <a:extLst>
                <a:ext uri="{FF2B5EF4-FFF2-40B4-BE49-F238E27FC236}">
                  <a16:creationId xmlns:a16="http://schemas.microsoft.com/office/drawing/2014/main" id="{EF98CDC2-9C0D-B271-CBFC-031871E85636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04</a:t>
              </a:r>
              <a:endPara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" name="Google Shape;1406;p26">
              <a:extLst>
                <a:ext uri="{FF2B5EF4-FFF2-40B4-BE49-F238E27FC236}">
                  <a16:creationId xmlns:a16="http://schemas.microsoft.com/office/drawing/2014/main" id="{E0C21CE7-762C-BFD0-E9BB-569F3255F5CA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Security concerns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1" name="Google Shape;1407;p26">
            <a:extLst>
              <a:ext uri="{FF2B5EF4-FFF2-40B4-BE49-F238E27FC236}">
                <a16:creationId xmlns:a16="http://schemas.microsoft.com/office/drawing/2014/main" id="{00D218BD-38C2-C200-6065-A85E3898026D}"/>
              </a:ext>
            </a:extLst>
          </p:cNvPr>
          <p:cNvGrpSpPr/>
          <p:nvPr/>
        </p:nvGrpSpPr>
        <p:grpSpPr>
          <a:xfrm>
            <a:off x="2768396" y="5758314"/>
            <a:ext cx="6655209" cy="921732"/>
            <a:chOff x="6389225" y="1006997"/>
            <a:chExt cx="4726281" cy="782577"/>
          </a:xfrm>
        </p:grpSpPr>
        <p:sp>
          <p:nvSpPr>
            <p:cNvPr id="32" name="Google Shape;1408;p26">
              <a:extLst>
                <a:ext uri="{FF2B5EF4-FFF2-40B4-BE49-F238E27FC236}">
                  <a16:creationId xmlns:a16="http://schemas.microsoft.com/office/drawing/2014/main" id="{601155E2-057E-D13E-5EC2-44E1E87AF6CE}"/>
                </a:ext>
              </a:extLst>
            </p:cNvPr>
            <p:cNvSpPr/>
            <p:nvPr/>
          </p:nvSpPr>
          <p:spPr>
            <a:xfrm>
              <a:off x="6389225" y="1006997"/>
              <a:ext cx="660817" cy="782577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00618" y="3056"/>
                    <a:pt x="232581" y="3056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" name="Google Shape;1409;p26">
              <a:extLst>
                <a:ext uri="{FF2B5EF4-FFF2-40B4-BE49-F238E27FC236}">
                  <a16:creationId xmlns:a16="http://schemas.microsoft.com/office/drawing/2014/main" id="{22C6103B-F997-5108-FC1E-2C92795CB83C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" name="Google Shape;1410;p26">
              <a:extLst>
                <a:ext uri="{FF2B5EF4-FFF2-40B4-BE49-F238E27FC236}">
                  <a16:creationId xmlns:a16="http://schemas.microsoft.com/office/drawing/2014/main" id="{B3242E3B-608D-ED2E-37BD-D2FF75232E5D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05</a:t>
              </a:r>
              <a:endPara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" name="Google Shape;1411;p26">
              <a:extLst>
                <a:ext uri="{FF2B5EF4-FFF2-40B4-BE49-F238E27FC236}">
                  <a16:creationId xmlns:a16="http://schemas.microsoft.com/office/drawing/2014/main" id="{3CA5FD59-E3D9-87FC-5236-C5AE1A07FF93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More regressive planning and requirements gathering process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6" name="Google Shape;1412;p26">
            <a:extLst>
              <a:ext uri="{FF2B5EF4-FFF2-40B4-BE49-F238E27FC236}">
                <a16:creationId xmlns:a16="http://schemas.microsoft.com/office/drawing/2014/main" id="{56EEBE59-5C95-2DB2-238D-B2E6D1738EE5}"/>
              </a:ext>
            </a:extLst>
          </p:cNvPr>
          <p:cNvSpPr txBox="1"/>
          <p:nvPr/>
        </p:nvSpPr>
        <p:spPr>
          <a:xfrm>
            <a:off x="2314706" y="740277"/>
            <a:ext cx="7562586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DRAWBACKS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33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417;p27">
            <a:extLst>
              <a:ext uri="{FF2B5EF4-FFF2-40B4-BE49-F238E27FC236}">
                <a16:creationId xmlns:a16="http://schemas.microsoft.com/office/drawing/2014/main" id="{4EB33F41-B206-FA54-8D82-B44A21F21739}"/>
              </a:ext>
            </a:extLst>
          </p:cNvPr>
          <p:cNvSpPr/>
          <p:nvPr/>
        </p:nvSpPr>
        <p:spPr>
          <a:xfrm>
            <a:off x="3600450" y="2296117"/>
            <a:ext cx="4991100" cy="3302100"/>
          </a:xfrm>
          <a:prstGeom prst="roundRect">
            <a:avLst>
              <a:gd name="adj" fmla="val 9113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Agile development model is </a:t>
            </a:r>
            <a:r>
              <a:rPr lang="en-US" sz="18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iterative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r>
              <a:rPr lang="en-US" sz="18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incremental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produc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quality software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Agile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 is an umbrella term for several iterative and incremental software development approaches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most popular </a:t>
            </a:r>
            <a:r>
              <a:rPr lang="en-US" sz="18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Agile frameworks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 include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9"/>
                  </a:ext>
                </a:extLst>
              </a:rPr>
              <a:t>Scrum and Feature-driven development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418;p27">
            <a:extLst>
              <a:ext uri="{FF2B5EF4-FFF2-40B4-BE49-F238E27FC236}">
                <a16:creationId xmlns:a16="http://schemas.microsoft.com/office/drawing/2014/main" id="{0E78C658-310F-5721-DA09-7D4BC33BE336}"/>
              </a:ext>
            </a:extLst>
          </p:cNvPr>
          <p:cNvSpPr txBox="1"/>
          <p:nvPr/>
        </p:nvSpPr>
        <p:spPr>
          <a:xfrm>
            <a:off x="3961559" y="1116246"/>
            <a:ext cx="42690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AGILE METHODOLOGIES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620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1423;p28">
            <a:extLst>
              <a:ext uri="{FF2B5EF4-FFF2-40B4-BE49-F238E27FC236}">
                <a16:creationId xmlns:a16="http://schemas.microsoft.com/office/drawing/2014/main" id="{DCBBF657-52F6-79D0-EAD7-AFFE337B08B3}"/>
              </a:ext>
            </a:extLst>
          </p:cNvPr>
          <p:cNvGrpSpPr/>
          <p:nvPr/>
        </p:nvGrpSpPr>
        <p:grpSpPr>
          <a:xfrm>
            <a:off x="6506142" y="1565263"/>
            <a:ext cx="5249218" cy="4715649"/>
            <a:chOff x="6506142" y="669151"/>
            <a:chExt cx="5249218" cy="4715649"/>
          </a:xfrm>
        </p:grpSpPr>
        <p:pic>
          <p:nvPicPr>
            <p:cNvPr id="10" name="Google Shape;1424;p28">
              <a:extLst>
                <a:ext uri="{FF2B5EF4-FFF2-40B4-BE49-F238E27FC236}">
                  <a16:creationId xmlns:a16="http://schemas.microsoft.com/office/drawing/2014/main" id="{844CED6B-A499-DD43-9B60-668B0E27652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7224" t="20180" r="7224"/>
            <a:stretch/>
          </p:blipFill>
          <p:spPr>
            <a:xfrm>
              <a:off x="6994235" y="1755522"/>
              <a:ext cx="4273034" cy="2990088"/>
            </a:xfrm>
            <a:prstGeom prst="roundRect">
              <a:avLst>
                <a:gd name="adj" fmla="val 8248"/>
              </a:avLst>
            </a:prstGeom>
            <a:noFill/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</p:pic>
        <p:grpSp>
          <p:nvGrpSpPr>
            <p:cNvPr id="11" name="Google Shape;1425;p28">
              <a:extLst>
                <a:ext uri="{FF2B5EF4-FFF2-40B4-BE49-F238E27FC236}">
                  <a16:creationId xmlns:a16="http://schemas.microsoft.com/office/drawing/2014/main" id="{257CA98D-6E8F-CAD4-0EA5-F295719A51CE}"/>
                </a:ext>
              </a:extLst>
            </p:cNvPr>
            <p:cNvGrpSpPr/>
            <p:nvPr/>
          </p:nvGrpSpPr>
          <p:grpSpPr>
            <a:xfrm>
              <a:off x="6506142" y="669151"/>
              <a:ext cx="5249218" cy="4715649"/>
              <a:chOff x="5613373" y="440551"/>
              <a:chExt cx="5249218" cy="5611114"/>
            </a:xfrm>
          </p:grpSpPr>
          <p:sp>
            <p:nvSpPr>
              <p:cNvPr id="12" name="Google Shape;1426;p28">
                <a:extLst>
                  <a:ext uri="{FF2B5EF4-FFF2-40B4-BE49-F238E27FC236}">
                    <a16:creationId xmlns:a16="http://schemas.microsoft.com/office/drawing/2014/main" id="{1F0C47AF-01A6-4BA3-3423-FB40C14A375C}"/>
                  </a:ext>
                </a:extLst>
              </p:cNvPr>
              <p:cNvSpPr txBox="1"/>
              <p:nvPr/>
            </p:nvSpPr>
            <p:spPr>
              <a:xfrm>
                <a:off x="6317673" y="689343"/>
                <a:ext cx="3854608" cy="430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25" rIns="121900" bIns="609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1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AGILE FRAMEWORK</a:t>
                </a:r>
                <a:endParaRPr sz="20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" name="Google Shape;1427;p28">
                <a:extLst>
                  <a:ext uri="{FF2B5EF4-FFF2-40B4-BE49-F238E27FC236}">
                    <a16:creationId xmlns:a16="http://schemas.microsoft.com/office/drawing/2014/main" id="{EF204336-D51D-D0F0-9F80-E222B4C23699}"/>
                  </a:ext>
                </a:extLst>
              </p:cNvPr>
              <p:cNvSpPr/>
              <p:nvPr/>
            </p:nvSpPr>
            <p:spPr>
              <a:xfrm>
                <a:off x="5613373" y="440551"/>
                <a:ext cx="5249218" cy="5611114"/>
              </a:xfrm>
              <a:prstGeom prst="roundRect">
                <a:avLst>
                  <a:gd name="adj" fmla="val 5898"/>
                </a:avLst>
              </a:pr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" name="Google Shape;1428;p28">
            <a:extLst>
              <a:ext uri="{FF2B5EF4-FFF2-40B4-BE49-F238E27FC236}">
                <a16:creationId xmlns:a16="http://schemas.microsoft.com/office/drawing/2014/main" id="{51B3BFCE-1D0A-AB79-BD25-C3B5BF8A55BD}"/>
              </a:ext>
            </a:extLst>
          </p:cNvPr>
          <p:cNvGrpSpPr/>
          <p:nvPr/>
        </p:nvGrpSpPr>
        <p:grpSpPr>
          <a:xfrm>
            <a:off x="436641" y="1565263"/>
            <a:ext cx="5249218" cy="4718304"/>
            <a:chOff x="436641" y="669151"/>
            <a:chExt cx="5249218" cy="4718304"/>
          </a:xfrm>
        </p:grpSpPr>
        <p:grpSp>
          <p:nvGrpSpPr>
            <p:cNvPr id="15" name="Google Shape;1429;p28">
              <a:extLst>
                <a:ext uri="{FF2B5EF4-FFF2-40B4-BE49-F238E27FC236}">
                  <a16:creationId xmlns:a16="http://schemas.microsoft.com/office/drawing/2014/main" id="{CB189297-90FC-C9F2-9982-1158AAA62F48}"/>
                </a:ext>
              </a:extLst>
            </p:cNvPr>
            <p:cNvGrpSpPr/>
            <p:nvPr/>
          </p:nvGrpSpPr>
          <p:grpSpPr>
            <a:xfrm>
              <a:off x="436641" y="669151"/>
              <a:ext cx="5249218" cy="4718304"/>
              <a:chOff x="232756" y="440551"/>
              <a:chExt cx="5249218" cy="4718304"/>
            </a:xfrm>
          </p:grpSpPr>
          <p:sp>
            <p:nvSpPr>
              <p:cNvPr id="19" name="Google Shape;1430;p28">
                <a:extLst>
                  <a:ext uri="{FF2B5EF4-FFF2-40B4-BE49-F238E27FC236}">
                    <a16:creationId xmlns:a16="http://schemas.microsoft.com/office/drawing/2014/main" id="{921AE125-B967-B792-8C3E-5E21BEAACE37}"/>
                  </a:ext>
                </a:extLst>
              </p:cNvPr>
              <p:cNvSpPr txBox="1"/>
              <p:nvPr/>
            </p:nvSpPr>
            <p:spPr>
              <a:xfrm>
                <a:off x="1429789" y="689343"/>
                <a:ext cx="2570470" cy="430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25" rIns="121900" bIns="609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1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WATERFALL</a:t>
                </a:r>
                <a:endParaRPr sz="20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1431;p28">
                <a:extLst>
                  <a:ext uri="{FF2B5EF4-FFF2-40B4-BE49-F238E27FC236}">
                    <a16:creationId xmlns:a16="http://schemas.microsoft.com/office/drawing/2014/main" id="{3468C549-3B3A-A93D-D323-86E36713FEB9}"/>
                  </a:ext>
                </a:extLst>
              </p:cNvPr>
              <p:cNvSpPr/>
              <p:nvPr/>
            </p:nvSpPr>
            <p:spPr>
              <a:xfrm>
                <a:off x="232756" y="440551"/>
                <a:ext cx="5249218" cy="4718304"/>
              </a:xfrm>
              <a:prstGeom prst="roundRect">
                <a:avLst>
                  <a:gd name="adj" fmla="val 5898"/>
                </a:avLst>
              </a:pr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" name="Google Shape;1432;p28">
              <a:extLst>
                <a:ext uri="{FF2B5EF4-FFF2-40B4-BE49-F238E27FC236}">
                  <a16:creationId xmlns:a16="http://schemas.microsoft.com/office/drawing/2014/main" id="{153D4AD6-F946-8CAC-6B70-A9418867834C}"/>
                </a:ext>
              </a:extLst>
            </p:cNvPr>
            <p:cNvGrpSpPr/>
            <p:nvPr/>
          </p:nvGrpSpPr>
          <p:grpSpPr>
            <a:xfrm>
              <a:off x="683961" y="1597568"/>
              <a:ext cx="4754578" cy="3219366"/>
              <a:chOff x="630222" y="1597567"/>
              <a:chExt cx="4913328" cy="3326857"/>
            </a:xfrm>
          </p:grpSpPr>
          <p:pic>
            <p:nvPicPr>
              <p:cNvPr id="17" name="Google Shape;1433;p28">
                <a:extLst>
                  <a:ext uri="{FF2B5EF4-FFF2-40B4-BE49-F238E27FC236}">
                    <a16:creationId xmlns:a16="http://schemas.microsoft.com/office/drawing/2014/main" id="{6559FF87-0D9B-08F8-E480-BF08C5C43947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851039" y="1798520"/>
                <a:ext cx="4471695" cy="2924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" name="Google Shape;1434;p28">
                <a:extLst>
                  <a:ext uri="{FF2B5EF4-FFF2-40B4-BE49-F238E27FC236}">
                    <a16:creationId xmlns:a16="http://schemas.microsoft.com/office/drawing/2014/main" id="{73E392F5-DD5B-43B6-6436-DCA67DA64E7D}"/>
                  </a:ext>
                </a:extLst>
              </p:cNvPr>
              <p:cNvSpPr/>
              <p:nvPr/>
            </p:nvSpPr>
            <p:spPr>
              <a:xfrm>
                <a:off x="630222" y="1597567"/>
                <a:ext cx="4913328" cy="3326857"/>
              </a:xfrm>
              <a:prstGeom prst="roundRect">
                <a:avLst>
                  <a:gd name="adj" fmla="val 8420"/>
                </a:avLst>
              </a:prstGeom>
              <a:noFill/>
              <a:ln w="12700" cap="flat" cmpd="sng">
                <a:solidFill>
                  <a:srgbClr val="BDBDB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596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439;p110">
            <a:extLst>
              <a:ext uri="{FF2B5EF4-FFF2-40B4-BE49-F238E27FC236}">
                <a16:creationId xmlns:a16="http://schemas.microsoft.com/office/drawing/2014/main" id="{F98165BA-93CA-7183-C2FB-6F5A29EF4312}"/>
              </a:ext>
            </a:extLst>
          </p:cNvPr>
          <p:cNvSpPr/>
          <p:nvPr/>
        </p:nvSpPr>
        <p:spPr>
          <a:xfrm>
            <a:off x="507618" y="2234689"/>
            <a:ext cx="11168150" cy="882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p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roduct is developed iteratively and incrementally in short cycles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Every iteration involves cross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functional teams working simultaneously on various areas 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440;p110">
            <a:extLst>
              <a:ext uri="{FF2B5EF4-FFF2-40B4-BE49-F238E27FC236}">
                <a16:creationId xmlns:a16="http://schemas.microsoft.com/office/drawing/2014/main" id="{B4EB3DB6-BEA0-3DD1-62FA-11E8B4337F7D}"/>
              </a:ext>
            </a:extLst>
          </p:cNvPr>
          <p:cNvSpPr txBox="1"/>
          <p:nvPr/>
        </p:nvSpPr>
        <p:spPr>
          <a:xfrm>
            <a:off x="2314707" y="1051560"/>
            <a:ext cx="7562586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AGILE FRAMEWORK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41;p110">
            <a:extLst>
              <a:ext uri="{FF2B5EF4-FFF2-40B4-BE49-F238E27FC236}">
                <a16:creationId xmlns:a16="http://schemas.microsoft.com/office/drawing/2014/main" id="{CE6ABCB7-3B3C-1B28-CDE5-F9C1143A8384}"/>
              </a:ext>
            </a:extLst>
          </p:cNvPr>
          <p:cNvSpPr/>
          <p:nvPr/>
        </p:nvSpPr>
        <p:spPr>
          <a:xfrm>
            <a:off x="149253" y="1575450"/>
            <a:ext cx="11437500" cy="4908000"/>
          </a:xfrm>
          <a:prstGeom prst="roundRect">
            <a:avLst>
              <a:gd name="adj" fmla="val 7156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442;p110">
            <a:extLst>
              <a:ext uri="{FF2B5EF4-FFF2-40B4-BE49-F238E27FC236}">
                <a16:creationId xmlns:a16="http://schemas.microsoft.com/office/drawing/2014/main" id="{B2F02890-F7D6-562E-E923-263365AC133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7224" t="20180" r="7224"/>
          <a:stretch/>
        </p:blipFill>
        <p:spPr>
          <a:xfrm>
            <a:off x="379243" y="3510478"/>
            <a:ext cx="3524866" cy="2466552"/>
          </a:xfrm>
          <a:prstGeom prst="roundRect">
            <a:avLst>
              <a:gd name="adj" fmla="val 8248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" name="Google Shape;1443;p110">
            <a:extLst>
              <a:ext uri="{FF2B5EF4-FFF2-40B4-BE49-F238E27FC236}">
                <a16:creationId xmlns:a16="http://schemas.microsoft.com/office/drawing/2014/main" id="{CB39E6B8-5792-2610-BE75-94E00753F47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7224" t="20180" r="7224"/>
          <a:stretch/>
        </p:blipFill>
        <p:spPr>
          <a:xfrm>
            <a:off x="4156679" y="3510478"/>
            <a:ext cx="3524866" cy="2466552"/>
          </a:xfrm>
          <a:prstGeom prst="roundRect">
            <a:avLst>
              <a:gd name="adj" fmla="val 8248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" name="Google Shape;1444;p110">
            <a:extLst>
              <a:ext uri="{FF2B5EF4-FFF2-40B4-BE49-F238E27FC236}">
                <a16:creationId xmlns:a16="http://schemas.microsoft.com/office/drawing/2014/main" id="{1A9EFA1E-7258-62C8-2D27-AD6709C49C2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7224" t="20180" r="7224"/>
          <a:stretch/>
        </p:blipFill>
        <p:spPr>
          <a:xfrm>
            <a:off x="7934116" y="3502475"/>
            <a:ext cx="3524866" cy="2466552"/>
          </a:xfrm>
          <a:prstGeom prst="roundRect">
            <a:avLst>
              <a:gd name="adj" fmla="val 8248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87286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449;p30">
            <a:extLst>
              <a:ext uri="{FF2B5EF4-FFF2-40B4-BE49-F238E27FC236}">
                <a16:creationId xmlns:a16="http://schemas.microsoft.com/office/drawing/2014/main" id="{AC1BF948-5390-2E47-47D7-A102BBA02166}"/>
              </a:ext>
            </a:extLst>
          </p:cNvPr>
          <p:cNvSpPr/>
          <p:nvPr/>
        </p:nvSpPr>
        <p:spPr>
          <a:xfrm>
            <a:off x="673974" y="2176666"/>
            <a:ext cx="4800600" cy="406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Scrum is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Agile method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p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roduct is launched in multiple iterations, each of a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pproximately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30 days - these are called sprints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t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o-do-list of items is called a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roduct backlog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 i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tem included in a sprint is called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sprint backlog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At the end of each sprint, </a:t>
            </a:r>
            <a:r>
              <a:rPr lang="en-US" sz="18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0"/>
                  </a:ext>
                </a:extLst>
              </a:rPr>
              <a:t>something shippable </a:t>
            </a:r>
            <a:r>
              <a:rPr lang="en-US" sz="18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is produced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final event is called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print retrospective -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1"/>
                  </a:ext>
                </a:extLst>
              </a:rPr>
              <a:t>they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discuss ways to improve their processes, team communication, tools, skills, etc.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" name="Google Shape;1450;p30">
            <a:extLst>
              <a:ext uri="{FF2B5EF4-FFF2-40B4-BE49-F238E27FC236}">
                <a16:creationId xmlns:a16="http://schemas.microsoft.com/office/drawing/2014/main" id="{552DAD2B-AD8F-2EF8-E388-C5A534DAEA8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89" y="449645"/>
            <a:ext cx="1588" cy="1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451;p30">
            <a:extLst>
              <a:ext uri="{FF2B5EF4-FFF2-40B4-BE49-F238E27FC236}">
                <a16:creationId xmlns:a16="http://schemas.microsoft.com/office/drawing/2014/main" id="{600DA752-C336-AAA6-2090-6C02D9B1E986}"/>
              </a:ext>
            </a:extLst>
          </p:cNvPr>
          <p:cNvSpPr txBox="1"/>
          <p:nvPr/>
        </p:nvSpPr>
        <p:spPr>
          <a:xfrm>
            <a:off x="2314707" y="893406"/>
            <a:ext cx="7562586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AGILE SCRUM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452;p30">
            <a:extLst>
              <a:ext uri="{FF2B5EF4-FFF2-40B4-BE49-F238E27FC236}">
                <a16:creationId xmlns:a16="http://schemas.microsoft.com/office/drawing/2014/main" id="{F26561EC-1145-A937-DDA6-1B25EA344A3A}"/>
              </a:ext>
            </a:extLst>
          </p:cNvPr>
          <p:cNvSpPr/>
          <p:nvPr/>
        </p:nvSpPr>
        <p:spPr>
          <a:xfrm>
            <a:off x="673974" y="1674019"/>
            <a:ext cx="4800600" cy="5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Scrum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453;p30">
            <a:extLst>
              <a:ext uri="{FF2B5EF4-FFF2-40B4-BE49-F238E27FC236}">
                <a16:creationId xmlns:a16="http://schemas.microsoft.com/office/drawing/2014/main" id="{EEE6FF7F-79B9-A094-B179-C9DCD23B02D6}"/>
              </a:ext>
            </a:extLst>
          </p:cNvPr>
          <p:cNvSpPr/>
          <p:nvPr/>
        </p:nvSpPr>
        <p:spPr>
          <a:xfrm>
            <a:off x="602750" y="1602681"/>
            <a:ext cx="5334000" cy="5169900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54;p30">
            <a:extLst>
              <a:ext uri="{FF2B5EF4-FFF2-40B4-BE49-F238E27FC236}">
                <a16:creationId xmlns:a16="http://schemas.microsoft.com/office/drawing/2014/main" id="{BE9DFBCC-3DD0-393F-EF9C-564DF6042FC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5984" y="1602663"/>
            <a:ext cx="5398743" cy="4799429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5" name="Google Shape;1455;p30">
            <a:extLst>
              <a:ext uri="{FF2B5EF4-FFF2-40B4-BE49-F238E27FC236}">
                <a16:creationId xmlns:a16="http://schemas.microsoft.com/office/drawing/2014/main" id="{1E9C4849-ACAB-FC8F-1F72-B5B4312B3E7F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rot="10800000" flipH="1">
            <a:off x="5936750" y="4002231"/>
            <a:ext cx="449100" cy="185400"/>
          </a:xfrm>
          <a:prstGeom prst="straightConnector1">
            <a:avLst/>
          </a:prstGeom>
          <a:noFill/>
          <a:ln w="28575" cap="flat" cmpd="sng">
            <a:solidFill>
              <a:srgbClr val="9C9C9C"/>
            </a:solidFill>
            <a:prstDash val="solid"/>
            <a:round/>
            <a:headEnd type="none" w="sm" len="sm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400738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1460;p31">
            <a:extLst>
              <a:ext uri="{FF2B5EF4-FFF2-40B4-BE49-F238E27FC236}">
                <a16:creationId xmlns:a16="http://schemas.microsoft.com/office/drawing/2014/main" id="{4B20C79F-9768-9FFA-F16C-886D063283B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89653" y="1080785"/>
            <a:ext cx="3202348" cy="53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461;p31">
            <a:extLst>
              <a:ext uri="{FF2B5EF4-FFF2-40B4-BE49-F238E27FC236}">
                <a16:creationId xmlns:a16="http://schemas.microsoft.com/office/drawing/2014/main" id="{429E0B34-F7D0-7B3C-2B2B-091A966BAC6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83423" y="1115924"/>
            <a:ext cx="5585431" cy="52996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462;p31">
            <a:extLst>
              <a:ext uri="{FF2B5EF4-FFF2-40B4-BE49-F238E27FC236}">
                <a16:creationId xmlns:a16="http://schemas.microsoft.com/office/drawing/2014/main" id="{05C72215-FF00-0CCE-90C6-461C3C3B63A4}"/>
              </a:ext>
            </a:extLst>
          </p:cNvPr>
          <p:cNvGrpSpPr/>
          <p:nvPr/>
        </p:nvGrpSpPr>
        <p:grpSpPr>
          <a:xfrm>
            <a:off x="140500" y="2143107"/>
            <a:ext cx="3810000" cy="3245331"/>
            <a:chOff x="140500" y="319273"/>
            <a:chExt cx="3810000" cy="3245331"/>
          </a:xfrm>
        </p:grpSpPr>
        <p:pic>
          <p:nvPicPr>
            <p:cNvPr id="12" name="Google Shape;1463;p31">
              <a:extLst>
                <a:ext uri="{FF2B5EF4-FFF2-40B4-BE49-F238E27FC236}">
                  <a16:creationId xmlns:a16="http://schemas.microsoft.com/office/drawing/2014/main" id="{852E7284-9E21-C528-1644-FCEDEB257BD7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40500" y="319273"/>
              <a:ext cx="3810000" cy="21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464;p31">
              <a:extLst>
                <a:ext uri="{FF2B5EF4-FFF2-40B4-BE49-F238E27FC236}">
                  <a16:creationId xmlns:a16="http://schemas.microsoft.com/office/drawing/2014/main" id="{C95E0DE4-8049-E02B-E837-EC78D84E1264}"/>
                </a:ext>
              </a:extLst>
            </p:cNvPr>
            <p:cNvSpPr/>
            <p:nvPr/>
          </p:nvSpPr>
          <p:spPr>
            <a:xfrm>
              <a:off x="159665" y="2003369"/>
              <a:ext cx="3771670" cy="1561235"/>
            </a:xfrm>
            <a:prstGeom prst="roundRect">
              <a:avLst>
                <a:gd name="adj" fmla="val 9113"/>
              </a:avLst>
            </a:prstGeom>
            <a:noFill/>
            <a:ln w="28575" cap="flat" cmpd="sng">
              <a:solidFill>
                <a:srgbClr val="5A5A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>
                  <a:latin typeface="Lato"/>
                  <a:ea typeface="Lato"/>
                  <a:cs typeface="Lato"/>
                  <a:sym typeface="Lato"/>
                </a:rPr>
                <a:t>Observe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how Microsoft updates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2"/>
                    </a:ext>
                  </a:extLst>
                </a:rPr>
                <a:t>now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: “Going passwordless” feature</a:t>
              </a:r>
              <a:endParaRPr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819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469;p32">
            <a:extLst>
              <a:ext uri="{FF2B5EF4-FFF2-40B4-BE49-F238E27FC236}">
                <a16:creationId xmlns:a16="http://schemas.microsoft.com/office/drawing/2014/main" id="{6B0C366D-973F-BA31-56D3-D9C6B16EE4E6}"/>
              </a:ext>
            </a:extLst>
          </p:cNvPr>
          <p:cNvSpPr txBox="1"/>
          <p:nvPr/>
        </p:nvSpPr>
        <p:spPr>
          <a:xfrm>
            <a:off x="2314707" y="1371600"/>
            <a:ext cx="7562586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MVP: WATERFALL VS AGILE METHODS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470;p32">
            <a:extLst>
              <a:ext uri="{FF2B5EF4-FFF2-40B4-BE49-F238E27FC236}">
                <a16:creationId xmlns:a16="http://schemas.microsoft.com/office/drawing/2014/main" id="{698BB258-8CF8-A25B-F947-60D624DDBB6E}"/>
              </a:ext>
            </a:extLst>
          </p:cNvPr>
          <p:cNvSpPr/>
          <p:nvPr/>
        </p:nvSpPr>
        <p:spPr>
          <a:xfrm>
            <a:off x="1718112" y="2899042"/>
            <a:ext cx="8851026" cy="236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Intuitively, the w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aterfall model does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not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seem to be suitable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achieve the MVP motive, as it would require a lot of time to produce software, and by then, either the market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would have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changed or your idea would no longer be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business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3"/>
                  </a:ext>
                </a:extLst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4"/>
                  </a:ext>
                </a:extLst>
              </a:rPr>
              <a:t>oftware are produced to address security concerns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such as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DRDO, a full checklist will need to be followed and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 documentation of the software will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need to be maintained.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o, the waterfall model will be easy and intuitive for them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71;p32">
            <a:extLst>
              <a:ext uri="{FF2B5EF4-FFF2-40B4-BE49-F238E27FC236}">
                <a16:creationId xmlns:a16="http://schemas.microsoft.com/office/drawing/2014/main" id="{3B071C44-3277-F15F-07BF-30F3110348B3}"/>
              </a:ext>
            </a:extLst>
          </p:cNvPr>
          <p:cNvSpPr/>
          <p:nvPr/>
        </p:nvSpPr>
        <p:spPr>
          <a:xfrm>
            <a:off x="1499037" y="2491696"/>
            <a:ext cx="9289200" cy="2963700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193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476;p33">
            <a:extLst>
              <a:ext uri="{FF2B5EF4-FFF2-40B4-BE49-F238E27FC236}">
                <a16:creationId xmlns:a16="http://schemas.microsoft.com/office/drawing/2014/main" id="{316F7EB1-E431-EB54-ABC9-3D861A4B48C9}"/>
              </a:ext>
            </a:extLst>
          </p:cNvPr>
          <p:cNvSpPr/>
          <p:nvPr/>
        </p:nvSpPr>
        <p:spPr>
          <a:xfrm>
            <a:off x="5610160" y="2967164"/>
            <a:ext cx="1038264" cy="40981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0" name="Google Shape;1477;p33">
            <a:extLst>
              <a:ext uri="{FF2B5EF4-FFF2-40B4-BE49-F238E27FC236}">
                <a16:creationId xmlns:a16="http://schemas.microsoft.com/office/drawing/2014/main" id="{F04A9AC4-F442-5EFD-4222-FE1FACF688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0158262"/>
              </p:ext>
            </p:extLst>
          </p:nvPr>
        </p:nvGraphicFramePr>
        <p:xfrm>
          <a:off x="1621484" y="2107142"/>
          <a:ext cx="8146975" cy="41927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3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Case</a:t>
                      </a:r>
                      <a:endParaRPr sz="2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9C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Waterfall</a:t>
                      </a:r>
                      <a:endParaRPr sz="2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9C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Agile</a:t>
                      </a:r>
                      <a:endParaRPr sz="2000" b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9C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Frequent changes</a:t>
                      </a:r>
                      <a:endParaRPr sz="1800" u="none" strike="noStrike" cap="none">
                        <a:solidFill>
                          <a:schemeClr val="accent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Competitive industry </a:t>
                      </a:r>
                      <a:endParaRPr sz="1800" u="none" strike="noStrike" cap="none">
                        <a:solidFill>
                          <a:schemeClr val="accent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 Monopoly </a:t>
                      </a:r>
                      <a:endParaRPr sz="18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Efficiency and </a:t>
                      </a:r>
                      <a:r>
                        <a:rPr lang="en-US" sz="1800">
                          <a:latin typeface="Lato"/>
                          <a:ea typeface="Lato"/>
                          <a:cs typeface="Lato"/>
                          <a:sym typeface="Lato"/>
                        </a:rPr>
                        <a:t>p</a:t>
                      </a:r>
                      <a:r>
                        <a:rPr lang="en-US" sz="18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roductivity </a:t>
                      </a:r>
                      <a:endParaRPr sz="18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Rigid project timeline</a:t>
                      </a:r>
                      <a:endParaRPr sz="18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Lato"/>
                          <a:ea typeface="Lato"/>
                          <a:cs typeface="Lato"/>
                          <a:sym typeface="Lato"/>
                        </a:rPr>
                        <a:t>Mandatory d</a:t>
                      </a:r>
                      <a:r>
                        <a:rPr lang="en-US" sz="18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ocumentation </a:t>
                      </a:r>
                      <a:endParaRPr sz="18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Google Shape;1478;p33">
            <a:extLst>
              <a:ext uri="{FF2B5EF4-FFF2-40B4-BE49-F238E27FC236}">
                <a16:creationId xmlns:a16="http://schemas.microsoft.com/office/drawing/2014/main" id="{5BCABB09-A1E9-3995-49CC-4BAE21B2C769}"/>
              </a:ext>
            </a:extLst>
          </p:cNvPr>
          <p:cNvSpPr/>
          <p:nvPr/>
        </p:nvSpPr>
        <p:spPr>
          <a:xfrm>
            <a:off x="7843652" y="2967164"/>
            <a:ext cx="1038264" cy="409816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YES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479;p33">
            <a:extLst>
              <a:ext uri="{FF2B5EF4-FFF2-40B4-BE49-F238E27FC236}">
                <a16:creationId xmlns:a16="http://schemas.microsoft.com/office/drawing/2014/main" id="{F4756014-348D-F656-2C9D-1F3886EDEC88}"/>
              </a:ext>
            </a:extLst>
          </p:cNvPr>
          <p:cNvSpPr/>
          <p:nvPr/>
        </p:nvSpPr>
        <p:spPr>
          <a:xfrm>
            <a:off x="5613641" y="3539253"/>
            <a:ext cx="1038264" cy="40981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1480;p33">
            <a:extLst>
              <a:ext uri="{FF2B5EF4-FFF2-40B4-BE49-F238E27FC236}">
                <a16:creationId xmlns:a16="http://schemas.microsoft.com/office/drawing/2014/main" id="{2ED00C67-4818-0F36-AAC9-E0D31A8D37A8}"/>
              </a:ext>
            </a:extLst>
          </p:cNvPr>
          <p:cNvSpPr/>
          <p:nvPr/>
        </p:nvSpPr>
        <p:spPr>
          <a:xfrm>
            <a:off x="7843652" y="3542270"/>
            <a:ext cx="1038264" cy="409816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YES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81;p33">
            <a:extLst>
              <a:ext uri="{FF2B5EF4-FFF2-40B4-BE49-F238E27FC236}">
                <a16:creationId xmlns:a16="http://schemas.microsoft.com/office/drawing/2014/main" id="{16E17F62-E556-B11E-46C4-9C52B2A206DB}"/>
              </a:ext>
            </a:extLst>
          </p:cNvPr>
          <p:cNvSpPr/>
          <p:nvPr/>
        </p:nvSpPr>
        <p:spPr>
          <a:xfrm>
            <a:off x="5610160" y="4111342"/>
            <a:ext cx="1038264" cy="409816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YES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" name="Google Shape;1482;p33">
            <a:extLst>
              <a:ext uri="{FF2B5EF4-FFF2-40B4-BE49-F238E27FC236}">
                <a16:creationId xmlns:a16="http://schemas.microsoft.com/office/drawing/2014/main" id="{D2FCDDD9-9DC0-941F-24BC-439C5D27BFD3}"/>
              </a:ext>
            </a:extLst>
          </p:cNvPr>
          <p:cNvSpPr/>
          <p:nvPr/>
        </p:nvSpPr>
        <p:spPr>
          <a:xfrm>
            <a:off x="7843652" y="4692482"/>
            <a:ext cx="1038264" cy="409816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YES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1483;p33">
            <a:extLst>
              <a:ext uri="{FF2B5EF4-FFF2-40B4-BE49-F238E27FC236}">
                <a16:creationId xmlns:a16="http://schemas.microsoft.com/office/drawing/2014/main" id="{79E1211D-8429-54EB-6B59-E3366416CD93}"/>
              </a:ext>
            </a:extLst>
          </p:cNvPr>
          <p:cNvSpPr/>
          <p:nvPr/>
        </p:nvSpPr>
        <p:spPr>
          <a:xfrm>
            <a:off x="7843652" y="5267588"/>
            <a:ext cx="1038264" cy="40981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" name="Google Shape;1484;p33">
            <a:extLst>
              <a:ext uri="{FF2B5EF4-FFF2-40B4-BE49-F238E27FC236}">
                <a16:creationId xmlns:a16="http://schemas.microsoft.com/office/drawing/2014/main" id="{90B5D6E8-2B27-F5FA-BDE4-3527195DAE46}"/>
              </a:ext>
            </a:extLst>
          </p:cNvPr>
          <p:cNvSpPr/>
          <p:nvPr/>
        </p:nvSpPr>
        <p:spPr>
          <a:xfrm>
            <a:off x="7843652" y="5842693"/>
            <a:ext cx="1038264" cy="40981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Google Shape;1485;p33">
            <a:extLst>
              <a:ext uri="{FF2B5EF4-FFF2-40B4-BE49-F238E27FC236}">
                <a16:creationId xmlns:a16="http://schemas.microsoft.com/office/drawing/2014/main" id="{55252179-0095-F5E5-8479-465904DD79C4}"/>
              </a:ext>
            </a:extLst>
          </p:cNvPr>
          <p:cNvSpPr/>
          <p:nvPr/>
        </p:nvSpPr>
        <p:spPr>
          <a:xfrm>
            <a:off x="5610160" y="5267472"/>
            <a:ext cx="1038264" cy="409816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YES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486;p33">
            <a:extLst>
              <a:ext uri="{FF2B5EF4-FFF2-40B4-BE49-F238E27FC236}">
                <a16:creationId xmlns:a16="http://schemas.microsoft.com/office/drawing/2014/main" id="{5BE8BD75-8270-DE0E-E068-523AAADD418E}"/>
              </a:ext>
            </a:extLst>
          </p:cNvPr>
          <p:cNvSpPr/>
          <p:nvPr/>
        </p:nvSpPr>
        <p:spPr>
          <a:xfrm>
            <a:off x="5610160" y="5839559"/>
            <a:ext cx="1038264" cy="409816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YES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" name="Google Shape;1487;p33">
            <a:extLst>
              <a:ext uri="{FF2B5EF4-FFF2-40B4-BE49-F238E27FC236}">
                <a16:creationId xmlns:a16="http://schemas.microsoft.com/office/drawing/2014/main" id="{C336D010-1C4D-1263-DC47-1118BF67EDFA}"/>
              </a:ext>
            </a:extLst>
          </p:cNvPr>
          <p:cNvSpPr/>
          <p:nvPr/>
        </p:nvSpPr>
        <p:spPr>
          <a:xfrm>
            <a:off x="5627268" y="4683431"/>
            <a:ext cx="1021156" cy="421768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MAY BE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Google Shape;1488;p33">
            <a:extLst>
              <a:ext uri="{FF2B5EF4-FFF2-40B4-BE49-F238E27FC236}">
                <a16:creationId xmlns:a16="http://schemas.microsoft.com/office/drawing/2014/main" id="{94191151-3636-8799-EFDA-0EAB994CBC16}"/>
              </a:ext>
            </a:extLst>
          </p:cNvPr>
          <p:cNvSpPr/>
          <p:nvPr/>
        </p:nvSpPr>
        <p:spPr>
          <a:xfrm>
            <a:off x="7843652" y="4117376"/>
            <a:ext cx="1038264" cy="40981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" name="Google Shape;1489;p33">
            <a:extLst>
              <a:ext uri="{FF2B5EF4-FFF2-40B4-BE49-F238E27FC236}">
                <a16:creationId xmlns:a16="http://schemas.microsoft.com/office/drawing/2014/main" id="{E8D7B751-7689-F1FB-B59C-7E2187956100}"/>
              </a:ext>
            </a:extLst>
          </p:cNvPr>
          <p:cNvSpPr txBox="1"/>
          <p:nvPr/>
        </p:nvSpPr>
        <p:spPr>
          <a:xfrm>
            <a:off x="2314707" y="1005840"/>
            <a:ext cx="7562586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WATERFALL VS AGILE METHODS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394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232d3f3243_0_1263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5" name="Google Shape;1495;g2232d3f3243_0_1263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1496" name="Google Shape;1496;g2232d3f3243_0_1263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92100" marR="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1497" name="Google Shape;1497;g2232d3f3243_0_1263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38</a:t>
            </a:fld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8" name="Google Shape;1498;g2232d3f3243_0_12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g2232d3f3243_0_12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g2232d3f3243_0_1263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g2232d3f3243_0_1263"/>
          <p:cNvSpPr txBox="1"/>
          <p:nvPr/>
        </p:nvSpPr>
        <p:spPr>
          <a:xfrm>
            <a:off x="1873270" y="606340"/>
            <a:ext cx="73245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Proxima Nova"/>
              <a:buNone/>
            </a:pPr>
            <a:r>
              <a:rPr lang="en-US" sz="4800" b="0" i="0" u="none" strike="noStrike" cap="none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r>
              <a:rPr lang="en-US" sz="480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-US" sz="4800" b="0" i="0" u="none" strike="noStrike" cap="none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 (15 seconds)</a:t>
            </a:r>
            <a:endParaRPr sz="4800" b="0" i="0" u="none" strike="noStrike" cap="none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3" name="Google Shape;1503;g2232d3f3243_0_1263"/>
          <p:cNvSpPr txBox="1"/>
          <p:nvPr/>
        </p:nvSpPr>
        <p:spPr>
          <a:xfrm>
            <a:off x="875633" y="2252377"/>
            <a:ext cx="102687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 of the following is an advantage of the waterfall method?</a:t>
            </a:r>
            <a:endParaRPr sz="2400">
              <a:solidFill>
                <a:srgbClr val="3F3F3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is a great model for long ongoing projects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is suitable for projects with uncertain requirements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works well for projects with fixed requirements and timelines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Using this method, no working software is produced until the last stage of the cycle </a:t>
            </a:r>
            <a:endParaRPr sz="24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4" name="Google Shape;1504;g2232d3f3243_0_1263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1BEB4F20-B8A9-8727-DD64-E1F8BFAD9D47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38</a:t>
            </a:fld>
            <a:endParaRPr lang="en-IN" sz="900"/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49335CFC-BED9-1172-877E-AE60D93D936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67B5E5-18F2-849F-5F4A-72682878DC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41B546-3112-D7EA-6417-DEE958C878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F01458-1981-DA1B-1303-F7C36E318F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A83401-0D17-0AA0-0AAB-BEE397B7213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A371C4-843A-FE46-58AF-9177B12300B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232d3f3243_0_1263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5" name="Google Shape;1495;g2232d3f3243_0_1263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1496" name="Google Shape;1496;g2232d3f3243_0_1263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92100" marR="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1497" name="Google Shape;1497;g2232d3f3243_0_1263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39</a:t>
            </a:fld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8" name="Google Shape;1498;g2232d3f3243_0_12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g2232d3f3243_0_12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g2232d3f3243_0_1263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g2232d3f3243_0_1263"/>
          <p:cNvSpPr txBox="1"/>
          <p:nvPr/>
        </p:nvSpPr>
        <p:spPr>
          <a:xfrm>
            <a:off x="1873270" y="606340"/>
            <a:ext cx="73245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Proxima Nova"/>
              <a:buNone/>
            </a:pPr>
            <a:r>
              <a:rPr lang="en-US" sz="4800" b="0" i="0" u="none" strike="noStrike" cap="none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r>
              <a:rPr lang="en-US" sz="480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-US" sz="4800" b="0" i="0" u="none" strike="noStrike" cap="none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 (15 seconds)</a:t>
            </a:r>
            <a:endParaRPr sz="4800" b="0" i="0" u="none" strike="noStrike" cap="none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3" name="Google Shape;1503;g2232d3f3243_0_1263"/>
          <p:cNvSpPr txBox="1"/>
          <p:nvPr/>
        </p:nvSpPr>
        <p:spPr>
          <a:xfrm>
            <a:off x="875633" y="2252377"/>
            <a:ext cx="102687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 of the following is an advantage of the waterfall method?</a:t>
            </a:r>
            <a:endParaRPr sz="2400" dirty="0">
              <a:solidFill>
                <a:srgbClr val="3F3F3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is a great model for long ongoing projects</a:t>
            </a:r>
            <a:endParaRPr lang="en-US"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is suitable for projects with uncertain requirements</a:t>
            </a: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Lato"/>
              <a:buAutoNum type="alphaUcPeriod"/>
            </a:pPr>
            <a:r>
              <a:rPr lang="en-US" sz="24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It works well for projects with fixed requirements and timelines</a:t>
            </a: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Using this method, no working software is produced until the last stage of the cycle </a:t>
            </a:r>
            <a:endParaRPr lang="en-US"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4" name="Google Shape;1504;g2232d3f3243_0_1263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1BEB4F20-B8A9-8727-DD64-E1F8BFAD9D47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39</a:t>
            </a:fld>
            <a:endParaRPr lang="en-IN" sz="900"/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49335CFC-BED9-1172-877E-AE60D93D936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67B5E5-18F2-849F-5F4A-72682878DC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41B546-3112-D7EA-6417-DEE958C878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F01458-1981-DA1B-1303-F7C36E318F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A83401-0D17-0AA0-0AAB-BEE397B7213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A371C4-843A-FE46-58AF-9177B12300B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642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2232d3f3243_0_1296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5" name="Google Shape;1525;g2232d3f3243_0_1296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1526" name="Google Shape;1526;g2232d3f3243_0_1296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92100" marR="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1527" name="Google Shape;1527;g2232d3f3243_0_1296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40</a:t>
            </a:fld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8" name="Google Shape;1528;g2232d3f3243_0_12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g2232d3f3243_0_12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g2232d3f3243_0_1296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g2232d3f3243_0_1296"/>
          <p:cNvSpPr txBox="1"/>
          <p:nvPr/>
        </p:nvSpPr>
        <p:spPr>
          <a:xfrm>
            <a:off x="1910594" y="587675"/>
            <a:ext cx="73245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Proxima Nova"/>
              <a:buNone/>
            </a:pP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r>
              <a:rPr lang="en-US" sz="480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 (15 seconds)</a:t>
            </a:r>
            <a:endParaRPr sz="4800" b="0" i="0" u="none" strike="noStrike" cap="none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33" name="Google Shape;1533;g2232d3f3243_0_1296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1534" name="Google Shape;1534;g2232d3f3243_0_1296"/>
          <p:cNvSpPr txBox="1"/>
          <p:nvPr/>
        </p:nvSpPr>
        <p:spPr>
          <a:xfrm>
            <a:off x="825500" y="2406641"/>
            <a:ext cx="102687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Fill in the blank in the following sentence</a:t>
            </a:r>
            <a:b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Each iteration of software development in the Scrum framework is called _________</a:t>
            </a:r>
            <a:endParaRPr sz="2400" dirty="0">
              <a:solidFill>
                <a:srgbClr val="3F3F3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Product backlog</a:t>
            </a:r>
            <a:endParaRPr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Sprint</a:t>
            </a:r>
            <a:endParaRPr sz="2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Epic</a:t>
            </a:r>
            <a:endParaRPr sz="2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To-do-list</a:t>
            </a: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1E827AF-BEA7-FB5B-AA8C-43EF352D3DBE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40</a:t>
            </a:fld>
            <a:endParaRPr lang="en-IN" sz="900"/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F762F2AB-34A4-EA1E-8904-17730FC70C6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F57669-7FA2-7DAC-11E1-F6FD51304A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205271-07B9-0C09-353E-527F048135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FEB2AD-34AE-9D3E-C1CE-6A9F7A1B52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416011-0A32-A86D-F1EE-F4C57799AD2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DCB65C-183C-2DC1-5CD1-D70E87493F4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2232d3f3243_0_1296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5" name="Google Shape;1525;g2232d3f3243_0_1296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1526" name="Google Shape;1526;g2232d3f3243_0_1296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92100" marR="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1527" name="Google Shape;1527;g2232d3f3243_0_1296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41</a:t>
            </a:fld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8" name="Google Shape;1528;g2232d3f3243_0_12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g2232d3f3243_0_12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g2232d3f3243_0_1296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g2232d3f3243_0_1296"/>
          <p:cNvSpPr txBox="1"/>
          <p:nvPr/>
        </p:nvSpPr>
        <p:spPr>
          <a:xfrm>
            <a:off x="1910594" y="587675"/>
            <a:ext cx="73245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Proxima Nova"/>
              <a:buNone/>
            </a:pP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r>
              <a:rPr lang="en-US" sz="480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 (15 seconds)</a:t>
            </a:r>
            <a:endParaRPr sz="4800" b="0" i="0" u="none" strike="noStrike" cap="none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33" name="Google Shape;1533;g2232d3f3243_0_1296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1534" name="Google Shape;1534;g2232d3f3243_0_1296"/>
          <p:cNvSpPr txBox="1"/>
          <p:nvPr/>
        </p:nvSpPr>
        <p:spPr>
          <a:xfrm>
            <a:off x="825500" y="2406641"/>
            <a:ext cx="102687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Fill in the blank in the following sentence</a:t>
            </a:r>
            <a:b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Each iteration of software development in the Scrum framework is called _________</a:t>
            </a:r>
            <a:endParaRPr sz="2400" dirty="0">
              <a:solidFill>
                <a:srgbClr val="3F3F3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Product backlog</a:t>
            </a:r>
            <a:endParaRPr lang="en-US"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AutoNum type="alphaUcPeriod"/>
            </a:pPr>
            <a:r>
              <a:rPr lang="en-US" sz="24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Sprint</a:t>
            </a: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Epic</a:t>
            </a: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To-do-list</a:t>
            </a:r>
            <a:endParaRPr lang="en-US"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1E827AF-BEA7-FB5B-AA8C-43EF352D3DBE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41</a:t>
            </a:fld>
            <a:endParaRPr lang="en-IN" sz="900"/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F762F2AB-34A4-EA1E-8904-17730FC70C6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F57669-7FA2-7DAC-11E1-F6FD51304A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205271-07B9-0C09-353E-527F048135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FEB2AD-34AE-9D3E-C1CE-6A9F7A1B52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416011-0A32-A86D-F1EE-F4C57799AD2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DCB65C-183C-2DC1-5CD1-D70E87493F4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8691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54;p34">
            <a:extLst>
              <a:ext uri="{FF2B5EF4-FFF2-40B4-BE49-F238E27FC236}">
                <a16:creationId xmlns:a16="http://schemas.microsoft.com/office/drawing/2014/main" id="{3FB6D73C-10F3-00C1-E8A3-E790EFB3D1FF}"/>
              </a:ext>
            </a:extLst>
          </p:cNvPr>
          <p:cNvSpPr txBox="1"/>
          <p:nvPr/>
        </p:nvSpPr>
        <p:spPr>
          <a:xfrm>
            <a:off x="4006284" y="1199275"/>
            <a:ext cx="42690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 VS OPS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55;p34">
            <a:extLst>
              <a:ext uri="{FF2B5EF4-FFF2-40B4-BE49-F238E27FC236}">
                <a16:creationId xmlns:a16="http://schemas.microsoft.com/office/drawing/2014/main" id="{CE9584F1-92A1-456E-5B47-12944822B48C}"/>
              </a:ext>
            </a:extLst>
          </p:cNvPr>
          <p:cNvSpPr/>
          <p:nvPr/>
        </p:nvSpPr>
        <p:spPr>
          <a:xfrm>
            <a:off x="3645175" y="2075745"/>
            <a:ext cx="4991100" cy="4747500"/>
          </a:xfrm>
          <a:prstGeom prst="roundRect">
            <a:avLst>
              <a:gd name="adj" fmla="val 553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become more agile,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5"/>
                  </a:ext>
                </a:extLst>
              </a:rPr>
              <a:t>D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6"/>
                  </a:ext>
                </a:extLst>
              </a:rPr>
              <a:t>ev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teams start producing increments frequently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d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ifference in environments caused by different configurations, dependencies, and data at the different stages of development cause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7"/>
                  </a:ext>
                </a:extLst>
              </a:rPr>
              <a:t>things to break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Changes that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8"/>
                  </a:ext>
                </a:extLst>
              </a:rPr>
              <a:t>could break the system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are pushed frequently by Dev teams,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poses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challenges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the Ops teams, as they need to the keep production environment stable and in working condition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solve this issue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Ops teams introduce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9"/>
                  </a:ext>
                </a:extLst>
              </a:rPr>
              <a:t>checklists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which slow down the process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671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6" name="Google Shape;1560;p35">
            <a:extLst>
              <a:ext uri="{FF2B5EF4-FFF2-40B4-BE49-F238E27FC236}">
                <a16:creationId xmlns:a16="http://schemas.microsoft.com/office/drawing/2014/main" id="{895BEEB2-E29F-8C7E-4814-76622118A48F}"/>
              </a:ext>
            </a:extLst>
          </p:cNvPr>
          <p:cNvSpPr txBox="1"/>
          <p:nvPr/>
        </p:nvSpPr>
        <p:spPr>
          <a:xfrm>
            <a:off x="3840900" y="726916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COMMON DEPLOYMENT ISSUES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561;p35">
            <a:extLst>
              <a:ext uri="{FF2B5EF4-FFF2-40B4-BE49-F238E27FC236}">
                <a16:creationId xmlns:a16="http://schemas.microsoft.com/office/drawing/2014/main" id="{CF6AF0C3-761D-E093-437E-53811BFA2C55}"/>
              </a:ext>
            </a:extLst>
          </p:cNvPr>
          <p:cNvSpPr txBox="1"/>
          <p:nvPr/>
        </p:nvSpPr>
        <p:spPr>
          <a:xfrm>
            <a:off x="3290527" y="1584610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Difference in 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0"/>
                  </a:ext>
                </a:extLst>
              </a:rPr>
              <a:t>Prod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and Dev environments 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Google Shape;1562;p35">
            <a:extLst>
              <a:ext uri="{FF2B5EF4-FFF2-40B4-BE49-F238E27FC236}">
                <a16:creationId xmlns:a16="http://schemas.microsoft.com/office/drawing/2014/main" id="{F4FF4BDF-10C7-0008-6D68-E56EFCCB1809}"/>
              </a:ext>
            </a:extLst>
          </p:cNvPr>
          <p:cNvSpPr txBox="1"/>
          <p:nvPr/>
        </p:nvSpPr>
        <p:spPr>
          <a:xfrm>
            <a:off x="3290527" y="2482094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 teams need agility, but Ops </a:t>
            </a:r>
            <a:r>
              <a:rPr lang="en-US" sz="1999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teams 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need stability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563;p35">
            <a:extLst>
              <a:ext uri="{FF2B5EF4-FFF2-40B4-BE49-F238E27FC236}">
                <a16:creationId xmlns:a16="http://schemas.microsoft.com/office/drawing/2014/main" id="{F85369FA-B542-8482-38EF-1F4A05E8190A}"/>
              </a:ext>
            </a:extLst>
          </p:cNvPr>
          <p:cNvSpPr txBox="1"/>
          <p:nvPr/>
        </p:nvSpPr>
        <p:spPr>
          <a:xfrm>
            <a:off x="3290527" y="4277062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Manual deployment of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thousands of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servers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564;p35">
            <a:extLst>
              <a:ext uri="{FF2B5EF4-FFF2-40B4-BE49-F238E27FC236}">
                <a16:creationId xmlns:a16="http://schemas.microsoft.com/office/drawing/2014/main" id="{C9CA677F-46B6-97DB-E143-4DA7F3946DCB}"/>
              </a:ext>
            </a:extLst>
          </p:cNvPr>
          <p:cNvSpPr txBox="1"/>
          <p:nvPr/>
        </p:nvSpPr>
        <p:spPr>
          <a:xfrm>
            <a:off x="3290527" y="3379578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1"/>
                  </a:ext>
                </a:extLst>
              </a:rPr>
              <a:t>Rolling back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takes time: No record of 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2"/>
                  </a:ext>
                </a:extLst>
              </a:rPr>
              <a:t>states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565;p35">
            <a:extLst>
              <a:ext uri="{FF2B5EF4-FFF2-40B4-BE49-F238E27FC236}">
                <a16:creationId xmlns:a16="http://schemas.microsoft.com/office/drawing/2014/main" id="{8A79E5BD-F898-B19D-003A-0279494C8C31}"/>
              </a:ext>
            </a:extLst>
          </p:cNvPr>
          <p:cNvSpPr txBox="1"/>
          <p:nvPr/>
        </p:nvSpPr>
        <p:spPr>
          <a:xfrm>
            <a:off x="3290527" y="5174546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5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Resource management and scaling issues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566;p35">
            <a:extLst>
              <a:ext uri="{FF2B5EF4-FFF2-40B4-BE49-F238E27FC236}">
                <a16:creationId xmlns:a16="http://schemas.microsoft.com/office/drawing/2014/main" id="{5BFAEEFD-078F-EC67-0466-E08F40F4D1A0}"/>
              </a:ext>
            </a:extLst>
          </p:cNvPr>
          <p:cNvSpPr txBox="1"/>
          <p:nvPr/>
        </p:nvSpPr>
        <p:spPr>
          <a:xfrm>
            <a:off x="3290527" y="6072028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6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Breaking of code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owing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to wrong commit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012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71;p36">
            <a:extLst>
              <a:ext uri="{FF2B5EF4-FFF2-40B4-BE49-F238E27FC236}">
                <a16:creationId xmlns:a16="http://schemas.microsoft.com/office/drawing/2014/main" id="{1621FECA-E8E6-602C-76AF-EE34488CDB72}"/>
              </a:ext>
            </a:extLst>
          </p:cNvPr>
          <p:cNvSpPr txBox="1">
            <a:spLocks/>
          </p:cNvSpPr>
          <p:nvPr/>
        </p:nvSpPr>
        <p:spPr>
          <a:xfrm>
            <a:off x="719138" y="987997"/>
            <a:ext cx="10753725" cy="520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800"/>
              </a:spcBef>
              <a:buSzPts val="2100"/>
              <a:buFont typeface="Arial" panose="020B0604020202020204" pitchFamily="34" charset="0"/>
              <a:buNone/>
            </a:pPr>
            <a:r>
              <a:rPr lang="en-US" sz="2400">
                <a:latin typeface="Lato"/>
                <a:ea typeface="Lato"/>
                <a:cs typeface="Lato"/>
                <a:sym typeface="Lato"/>
              </a:rPr>
              <a:t>DEPLOYMENT ISSUES</a:t>
            </a:r>
            <a:endParaRPr lang="en-US"/>
          </a:p>
        </p:txBody>
      </p:sp>
      <p:pic>
        <p:nvPicPr>
          <p:cNvPr id="10" name="Google Shape;1572;p36" descr="A picture containing diagram&#10;&#10;Description automatically generated">
            <a:extLst>
              <a:ext uri="{FF2B5EF4-FFF2-40B4-BE49-F238E27FC236}">
                <a16:creationId xmlns:a16="http://schemas.microsoft.com/office/drawing/2014/main" id="{18F66CD1-7897-4D1F-C835-FFA60E1F526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6521" y="2273919"/>
            <a:ext cx="2822484" cy="2743200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573;p36" descr="Graphical user interface&#10;&#10;Description automatically generated">
            <a:extLst>
              <a:ext uri="{FF2B5EF4-FFF2-40B4-BE49-F238E27FC236}">
                <a16:creationId xmlns:a16="http://schemas.microsoft.com/office/drawing/2014/main" id="{0922D3B2-D9F8-EE7E-D7B9-9CF3CC8B7C1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79462" y="2273917"/>
            <a:ext cx="3686721" cy="2743200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" name="Google Shape;1574;p36" descr="Diagram&#10;&#10;Description automatically generated">
            <a:extLst>
              <a:ext uri="{FF2B5EF4-FFF2-40B4-BE49-F238E27FC236}">
                <a16:creationId xmlns:a16="http://schemas.microsoft.com/office/drawing/2014/main" id="{27F7D695-4A6D-7FE6-289F-FFCB8469BDD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96641" y="2273917"/>
            <a:ext cx="2768838" cy="2743200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" name="Google Shape;1575;p36">
            <a:extLst>
              <a:ext uri="{FF2B5EF4-FFF2-40B4-BE49-F238E27FC236}">
                <a16:creationId xmlns:a16="http://schemas.microsoft.com/office/drawing/2014/main" id="{C04C1517-F11F-3EFA-2CE5-E0C5324642D1}"/>
              </a:ext>
            </a:extLst>
          </p:cNvPr>
          <p:cNvSpPr txBox="1"/>
          <p:nvPr/>
        </p:nvSpPr>
        <p:spPr>
          <a:xfrm>
            <a:off x="194023" y="5870003"/>
            <a:ext cx="503440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9"/>
              </a:rPr>
              <a:t>https://blog.inedo.com/blog/deployment-failures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98858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1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1580;p37">
            <a:extLst>
              <a:ext uri="{FF2B5EF4-FFF2-40B4-BE49-F238E27FC236}">
                <a16:creationId xmlns:a16="http://schemas.microsoft.com/office/drawing/2014/main" id="{B4A663A8-94C4-8593-80D3-E6897FAFB0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2638" y="2128544"/>
            <a:ext cx="6135448" cy="3277568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581;p37">
            <a:extLst>
              <a:ext uri="{FF2B5EF4-FFF2-40B4-BE49-F238E27FC236}">
                <a16:creationId xmlns:a16="http://schemas.microsoft.com/office/drawing/2014/main" id="{5A55710C-B360-D843-DD6C-7D501400160F}"/>
              </a:ext>
            </a:extLst>
          </p:cNvPr>
          <p:cNvSpPr txBox="1">
            <a:spLocks/>
          </p:cNvSpPr>
          <p:nvPr/>
        </p:nvSpPr>
        <p:spPr>
          <a:xfrm>
            <a:off x="719137" y="1044969"/>
            <a:ext cx="10753725" cy="520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800"/>
              </a:spcBef>
              <a:buSzPts val="2100"/>
              <a:buFont typeface="Arial" panose="020B0604020202020204" pitchFamily="34" charset="0"/>
              <a:buNone/>
            </a:pPr>
            <a:r>
              <a:rPr lang="en-US" sz="2400">
                <a:latin typeface="Lato"/>
                <a:ea typeface="Lato"/>
                <a:cs typeface="Lato"/>
                <a:sym typeface="Lato"/>
              </a:rPr>
              <a:t>CROSS-FUNCTIONAL TEAM ISSUES</a:t>
            </a:r>
          </a:p>
        </p:txBody>
      </p:sp>
      <p:pic>
        <p:nvPicPr>
          <p:cNvPr id="11" name="Google Shape;1582;p37">
            <a:extLst>
              <a:ext uri="{FF2B5EF4-FFF2-40B4-BE49-F238E27FC236}">
                <a16:creationId xmlns:a16="http://schemas.microsoft.com/office/drawing/2014/main" id="{B8A7EA1B-2CB2-EE0F-E0F4-2AEC054C7FF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3915" y="2128544"/>
            <a:ext cx="4392617" cy="3277568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" name="Google Shape;1583;p37">
            <a:extLst>
              <a:ext uri="{FF2B5EF4-FFF2-40B4-BE49-F238E27FC236}">
                <a16:creationId xmlns:a16="http://schemas.microsoft.com/office/drawing/2014/main" id="{0DB2AD36-3248-2065-6904-93263A4E15F8}"/>
              </a:ext>
            </a:extLst>
          </p:cNvPr>
          <p:cNvSpPr txBox="1"/>
          <p:nvPr/>
        </p:nvSpPr>
        <p:spPr>
          <a:xfrm>
            <a:off x="573915" y="5820229"/>
            <a:ext cx="310605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Source: Online resources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071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1588;p38">
            <a:extLst>
              <a:ext uri="{FF2B5EF4-FFF2-40B4-BE49-F238E27FC236}">
                <a16:creationId xmlns:a16="http://schemas.microsoft.com/office/drawing/2014/main" id="{DB2E0F68-CA92-3A55-EE6E-60F4A4AB0AAC}"/>
              </a:ext>
            </a:extLst>
          </p:cNvPr>
          <p:cNvGrpSpPr/>
          <p:nvPr/>
        </p:nvGrpSpPr>
        <p:grpSpPr>
          <a:xfrm>
            <a:off x="3198674" y="1925571"/>
            <a:ext cx="5739787" cy="1720096"/>
            <a:chOff x="158240" y="768981"/>
            <a:chExt cx="11470200" cy="1402800"/>
          </a:xfrm>
        </p:grpSpPr>
        <p:sp>
          <p:nvSpPr>
            <p:cNvPr id="10" name="Google Shape;1589;p38">
              <a:extLst>
                <a:ext uri="{FF2B5EF4-FFF2-40B4-BE49-F238E27FC236}">
                  <a16:creationId xmlns:a16="http://schemas.microsoft.com/office/drawing/2014/main" id="{89BDE370-EB72-06AE-15A7-7ADF1FFD4F29}"/>
                </a:ext>
              </a:extLst>
            </p:cNvPr>
            <p:cNvSpPr txBox="1"/>
            <p:nvPr/>
          </p:nvSpPr>
          <p:spPr>
            <a:xfrm>
              <a:off x="354993" y="882904"/>
              <a:ext cx="11273446" cy="12888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Resolving conflicts and deployment issues requires a close collaboration between the Dev and Ops teams 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3"/>
                    </a:ext>
                  </a:extLst>
                </a:rPr>
                <a:t>using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automation tools and principles known as the </a:t>
              </a:r>
              <a:r>
                <a:rPr lang="en-US" sz="2000" b="1" i="0" u="none" strike="noStrike" cap="none" dirty="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DevOps methodology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590;p38">
              <a:extLst>
                <a:ext uri="{FF2B5EF4-FFF2-40B4-BE49-F238E27FC236}">
                  <a16:creationId xmlns:a16="http://schemas.microsoft.com/office/drawing/2014/main" id="{C6764D7D-1511-A59D-7693-C511F2C781BA}"/>
                </a:ext>
              </a:extLst>
            </p:cNvPr>
            <p:cNvSpPr/>
            <p:nvPr/>
          </p:nvSpPr>
          <p:spPr>
            <a:xfrm>
              <a:off x="158240" y="768981"/>
              <a:ext cx="11470200" cy="1402800"/>
            </a:xfrm>
            <a:prstGeom prst="roundRect">
              <a:avLst>
                <a:gd name="adj" fmla="val 12713"/>
              </a:avLst>
            </a:prstGeom>
            <a:noFill/>
            <a:ln w="2857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1591;p38">
            <a:extLst>
              <a:ext uri="{FF2B5EF4-FFF2-40B4-BE49-F238E27FC236}">
                <a16:creationId xmlns:a16="http://schemas.microsoft.com/office/drawing/2014/main" id="{0A61FA53-EC0E-6942-DA59-3D6D944DE3F3}"/>
              </a:ext>
            </a:extLst>
          </p:cNvPr>
          <p:cNvSpPr txBox="1"/>
          <p:nvPr/>
        </p:nvSpPr>
        <p:spPr>
          <a:xfrm>
            <a:off x="740933" y="1209768"/>
            <a:ext cx="10753725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IS THE SOLUTION TO THESE PROBLEMS?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592;p38">
            <a:extLst>
              <a:ext uri="{FF2B5EF4-FFF2-40B4-BE49-F238E27FC236}">
                <a16:creationId xmlns:a16="http://schemas.microsoft.com/office/drawing/2014/main" id="{B539A241-D5A4-9813-C4E1-2EF6CD32057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8" y="3784220"/>
            <a:ext cx="4819484" cy="2939050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27615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97;p39">
            <a:extLst>
              <a:ext uri="{FF2B5EF4-FFF2-40B4-BE49-F238E27FC236}">
                <a16:creationId xmlns:a16="http://schemas.microsoft.com/office/drawing/2014/main" id="{AB47B93F-AA36-9355-35FF-DE9AFE61320B}"/>
              </a:ext>
            </a:extLst>
          </p:cNvPr>
          <p:cNvSpPr txBox="1"/>
          <p:nvPr/>
        </p:nvSpPr>
        <p:spPr>
          <a:xfrm>
            <a:off x="3290527" y="1580399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Concept of a M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4"/>
                  </a:ext>
                </a:extLst>
              </a:rPr>
              <a:t>inimum </a:t>
            </a:r>
            <a:r>
              <a:rPr lang="en-US" sz="1999" b="1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5"/>
                  </a:ext>
                </a:extLst>
              </a:rPr>
              <a:t>V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6"/>
                  </a:ext>
                </a:extLst>
              </a:rPr>
              <a:t>iable </a:t>
            </a:r>
            <a:r>
              <a:rPr lang="en-US" sz="1999" b="1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7"/>
                  </a:ext>
                </a:extLst>
              </a:rPr>
              <a:t>P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8"/>
                  </a:ext>
                </a:extLst>
              </a:rPr>
              <a:t>roduct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598;p39">
            <a:extLst>
              <a:ext uri="{FF2B5EF4-FFF2-40B4-BE49-F238E27FC236}">
                <a16:creationId xmlns:a16="http://schemas.microsoft.com/office/drawing/2014/main" id="{A6A4DD63-D6EE-FE74-5819-07E5CEA44DD0}"/>
              </a:ext>
            </a:extLst>
          </p:cNvPr>
          <p:cNvSpPr txBox="1"/>
          <p:nvPr/>
        </p:nvSpPr>
        <p:spPr>
          <a:xfrm>
            <a:off x="3840900" y="722705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SESSION SUMMARY: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MINIMUM VIABLE PRODUCT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599;p39">
            <a:extLst>
              <a:ext uri="{FF2B5EF4-FFF2-40B4-BE49-F238E27FC236}">
                <a16:creationId xmlns:a16="http://schemas.microsoft.com/office/drawing/2014/main" id="{C5825DBA-53F5-1E82-5391-114096853E15}"/>
              </a:ext>
            </a:extLst>
          </p:cNvPr>
          <p:cNvSpPr txBox="1"/>
          <p:nvPr/>
        </p:nvSpPr>
        <p:spPr>
          <a:xfrm>
            <a:off x="3290527" y="2477883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dvantages of MVP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600;p39">
            <a:extLst>
              <a:ext uri="{FF2B5EF4-FFF2-40B4-BE49-F238E27FC236}">
                <a16:creationId xmlns:a16="http://schemas.microsoft.com/office/drawing/2014/main" id="{1B117578-2DEB-E9E8-8302-62833855973E}"/>
              </a:ext>
            </a:extLst>
          </p:cNvPr>
          <p:cNvSpPr txBox="1"/>
          <p:nvPr/>
        </p:nvSpPr>
        <p:spPr>
          <a:xfrm>
            <a:off x="3290527" y="4272851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aterfall methodology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1601;p39">
            <a:extLst>
              <a:ext uri="{FF2B5EF4-FFF2-40B4-BE49-F238E27FC236}">
                <a16:creationId xmlns:a16="http://schemas.microsoft.com/office/drawing/2014/main" id="{22D134B6-9665-DF25-EBD9-D4F52F22B9B1}"/>
              </a:ext>
            </a:extLst>
          </p:cNvPr>
          <p:cNvSpPr txBox="1"/>
          <p:nvPr/>
        </p:nvSpPr>
        <p:spPr>
          <a:xfrm>
            <a:off x="3290527" y="3375367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oftware development life cycle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SDLC)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602;p39">
            <a:extLst>
              <a:ext uri="{FF2B5EF4-FFF2-40B4-BE49-F238E27FC236}">
                <a16:creationId xmlns:a16="http://schemas.microsoft.com/office/drawing/2014/main" id="{96C5A2CA-9CF6-FFE3-8F4A-3B1FAF78480E}"/>
              </a:ext>
            </a:extLst>
          </p:cNvPr>
          <p:cNvSpPr txBox="1"/>
          <p:nvPr/>
        </p:nvSpPr>
        <p:spPr>
          <a:xfrm>
            <a:off x="3290527" y="5170335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5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9"/>
                  </a:ext>
                </a:extLst>
              </a:rPr>
              <a:t>gile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methodologies 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" name="Google Shape;1603;p39">
            <a:extLst>
              <a:ext uri="{FF2B5EF4-FFF2-40B4-BE49-F238E27FC236}">
                <a16:creationId xmlns:a16="http://schemas.microsoft.com/office/drawing/2014/main" id="{223070A2-BF49-AE4C-82CE-594EBFCF5257}"/>
              </a:ext>
            </a:extLst>
          </p:cNvPr>
          <p:cNvSpPr txBox="1"/>
          <p:nvPr/>
        </p:nvSpPr>
        <p:spPr>
          <a:xfrm>
            <a:off x="3290527" y="6067817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6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eployment issues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411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1609;p40">
            <a:extLst>
              <a:ext uri="{FF2B5EF4-FFF2-40B4-BE49-F238E27FC236}">
                <a16:creationId xmlns:a16="http://schemas.microsoft.com/office/drawing/2014/main" id="{3A28E9A8-3610-1AE9-5125-D2FFAD611320}"/>
              </a:ext>
            </a:extLst>
          </p:cNvPr>
          <p:cNvGrpSpPr/>
          <p:nvPr/>
        </p:nvGrpSpPr>
        <p:grpSpPr>
          <a:xfrm>
            <a:off x="3405847" y="2350903"/>
            <a:ext cx="6125754" cy="3253476"/>
            <a:chOff x="6071347" y="1755951"/>
            <a:chExt cx="6125754" cy="3253476"/>
          </a:xfrm>
        </p:grpSpPr>
        <p:grpSp>
          <p:nvGrpSpPr>
            <p:cNvPr id="10" name="Google Shape;1610;p40">
              <a:extLst>
                <a:ext uri="{FF2B5EF4-FFF2-40B4-BE49-F238E27FC236}">
                  <a16:creationId xmlns:a16="http://schemas.microsoft.com/office/drawing/2014/main" id="{6196C71C-AFB6-A2D1-54C0-5E49D6BB6DFE}"/>
                </a:ext>
              </a:extLst>
            </p:cNvPr>
            <p:cNvGrpSpPr/>
            <p:nvPr/>
          </p:nvGrpSpPr>
          <p:grpSpPr>
            <a:xfrm>
              <a:off x="9005272" y="1755951"/>
              <a:ext cx="3146395" cy="1495313"/>
              <a:chOff x="8563760" y="1258645"/>
              <a:chExt cx="3146395" cy="1495313"/>
            </a:xfrm>
          </p:grpSpPr>
          <p:sp>
            <p:nvSpPr>
              <p:cNvPr id="23" name="Google Shape;1611;p40">
                <a:extLst>
                  <a:ext uri="{FF2B5EF4-FFF2-40B4-BE49-F238E27FC236}">
                    <a16:creationId xmlns:a16="http://schemas.microsoft.com/office/drawing/2014/main" id="{1F9EA567-8F50-8E9D-3FAB-A4232696780C}"/>
                  </a:ext>
                </a:extLst>
              </p:cNvPr>
              <p:cNvSpPr/>
              <p:nvPr/>
            </p:nvSpPr>
            <p:spPr>
              <a:xfrm>
                <a:off x="8563760" y="1258645"/>
                <a:ext cx="1795853" cy="1495313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34950" cap="flat" cmpd="sng">
                <a:solidFill>
                  <a:srgbClr val="E7E6E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612;p40">
                <a:extLst>
                  <a:ext uri="{FF2B5EF4-FFF2-40B4-BE49-F238E27FC236}">
                    <a16:creationId xmlns:a16="http://schemas.microsoft.com/office/drawing/2014/main" id="{33458AFA-B4AF-C4DD-4A39-B759C40B8602}"/>
                  </a:ext>
                </a:extLst>
              </p:cNvPr>
              <p:cNvSpPr/>
              <p:nvPr/>
            </p:nvSpPr>
            <p:spPr>
              <a:xfrm>
                <a:off x="9031738" y="1378212"/>
                <a:ext cx="2678417" cy="126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381000" sx="79000" sy="79000" algn="ctr" rotWithShape="0">
                  <a:srgbClr val="D0CECE"/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" name="Google Shape;1613;p40">
              <a:extLst>
                <a:ext uri="{FF2B5EF4-FFF2-40B4-BE49-F238E27FC236}">
                  <a16:creationId xmlns:a16="http://schemas.microsoft.com/office/drawing/2014/main" id="{88716812-6758-980A-9071-7D0B91AEC054}"/>
                </a:ext>
              </a:extLst>
            </p:cNvPr>
            <p:cNvSpPr txBox="1"/>
            <p:nvPr/>
          </p:nvSpPr>
          <p:spPr>
            <a:xfrm>
              <a:off x="10002237" y="2180442"/>
              <a:ext cx="1927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E7E6E6"/>
                  </a:solidFill>
                  <a:latin typeface="Lato"/>
                  <a:ea typeface="Lato"/>
                  <a:cs typeface="Lato"/>
                  <a:sym typeface="Lato"/>
                </a:rPr>
                <a:t>Minimum Viable Product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614;p40">
              <a:extLst>
                <a:ext uri="{FF2B5EF4-FFF2-40B4-BE49-F238E27FC236}">
                  <a16:creationId xmlns:a16="http://schemas.microsoft.com/office/drawing/2014/main" id="{7B1F0784-BE69-E929-BC35-AD7FDA5CDC6A}"/>
                </a:ext>
              </a:extLst>
            </p:cNvPr>
            <p:cNvGrpSpPr/>
            <p:nvPr/>
          </p:nvGrpSpPr>
          <p:grpSpPr>
            <a:xfrm flipH="1">
              <a:off x="6071347" y="2650568"/>
              <a:ext cx="3078409" cy="1495313"/>
              <a:chOff x="8563760" y="1258645"/>
              <a:chExt cx="3078409" cy="1495313"/>
            </a:xfrm>
          </p:grpSpPr>
          <p:sp>
            <p:nvSpPr>
              <p:cNvPr id="21" name="Google Shape;1615;p40">
                <a:extLst>
                  <a:ext uri="{FF2B5EF4-FFF2-40B4-BE49-F238E27FC236}">
                    <a16:creationId xmlns:a16="http://schemas.microsoft.com/office/drawing/2014/main" id="{9DFC8969-2258-0A12-B2A3-B13BC74EE828}"/>
                  </a:ext>
                </a:extLst>
              </p:cNvPr>
              <p:cNvSpPr/>
              <p:nvPr/>
            </p:nvSpPr>
            <p:spPr>
              <a:xfrm>
                <a:off x="8563760" y="1258645"/>
                <a:ext cx="1795853" cy="1495313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349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1616;p40">
                <a:extLst>
                  <a:ext uri="{FF2B5EF4-FFF2-40B4-BE49-F238E27FC236}">
                    <a16:creationId xmlns:a16="http://schemas.microsoft.com/office/drawing/2014/main" id="{975DB0C3-56F3-308A-9C28-DF08408B31C9}"/>
                  </a:ext>
                </a:extLst>
              </p:cNvPr>
              <p:cNvSpPr/>
              <p:nvPr/>
            </p:nvSpPr>
            <p:spPr>
              <a:xfrm>
                <a:off x="9023501" y="1378151"/>
                <a:ext cx="2618668" cy="125986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381000" sx="79000" sy="79000" algn="ctr" rotWithShape="0">
                  <a:srgbClr val="D0CECE"/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" name="Google Shape;1617;p40">
              <a:extLst>
                <a:ext uri="{FF2B5EF4-FFF2-40B4-BE49-F238E27FC236}">
                  <a16:creationId xmlns:a16="http://schemas.microsoft.com/office/drawing/2014/main" id="{7D48C555-784E-9957-D07A-81D75E23403C}"/>
                </a:ext>
              </a:extLst>
            </p:cNvPr>
            <p:cNvSpPr txBox="1"/>
            <p:nvPr/>
          </p:nvSpPr>
          <p:spPr>
            <a:xfrm>
              <a:off x="6378258" y="3075059"/>
              <a:ext cx="1795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Introduction to DevOps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" name="Google Shape;1618;p40">
              <a:extLst>
                <a:ext uri="{FF2B5EF4-FFF2-40B4-BE49-F238E27FC236}">
                  <a16:creationId xmlns:a16="http://schemas.microsoft.com/office/drawing/2014/main" id="{2ACB9F57-4E00-3148-F03B-5725F020D7F1}"/>
                </a:ext>
              </a:extLst>
            </p:cNvPr>
            <p:cNvGrpSpPr/>
            <p:nvPr/>
          </p:nvGrpSpPr>
          <p:grpSpPr>
            <a:xfrm>
              <a:off x="9013510" y="3514114"/>
              <a:ext cx="3183591" cy="1495313"/>
              <a:chOff x="8563760" y="1258645"/>
              <a:chExt cx="3183591" cy="1495313"/>
            </a:xfrm>
          </p:grpSpPr>
          <p:sp>
            <p:nvSpPr>
              <p:cNvPr id="19" name="Google Shape;1619;p40">
                <a:extLst>
                  <a:ext uri="{FF2B5EF4-FFF2-40B4-BE49-F238E27FC236}">
                    <a16:creationId xmlns:a16="http://schemas.microsoft.com/office/drawing/2014/main" id="{B081C332-54E2-453F-1A4F-6C9DA5B1EEED}"/>
                  </a:ext>
                </a:extLst>
              </p:cNvPr>
              <p:cNvSpPr/>
              <p:nvPr/>
            </p:nvSpPr>
            <p:spPr>
              <a:xfrm>
                <a:off x="8563760" y="1258645"/>
                <a:ext cx="1795853" cy="1495313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34950" cap="flat" cmpd="sng">
                <a:solidFill>
                  <a:srgbClr val="E7E6E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1620;p40">
                <a:extLst>
                  <a:ext uri="{FF2B5EF4-FFF2-40B4-BE49-F238E27FC236}">
                    <a16:creationId xmlns:a16="http://schemas.microsoft.com/office/drawing/2014/main" id="{24A8A54D-41A2-E366-5585-CBE414F85035}"/>
                  </a:ext>
                </a:extLst>
              </p:cNvPr>
              <p:cNvSpPr/>
              <p:nvPr/>
            </p:nvSpPr>
            <p:spPr>
              <a:xfrm>
                <a:off x="9023500" y="1378151"/>
                <a:ext cx="2723851" cy="125986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381000" sx="79000" sy="79000" algn="ctr" rotWithShape="0">
                  <a:srgbClr val="D0CECE"/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621;p40">
              <a:extLst>
                <a:ext uri="{FF2B5EF4-FFF2-40B4-BE49-F238E27FC236}">
                  <a16:creationId xmlns:a16="http://schemas.microsoft.com/office/drawing/2014/main" id="{2144168A-99DF-A66C-6D4A-59968901BC9C}"/>
                </a:ext>
              </a:extLst>
            </p:cNvPr>
            <p:cNvSpPr txBox="1"/>
            <p:nvPr/>
          </p:nvSpPr>
          <p:spPr>
            <a:xfrm>
              <a:off x="10002237" y="3928282"/>
              <a:ext cx="1698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E7E6E6"/>
                  </a:solidFill>
                  <a:latin typeface="Lato"/>
                  <a:ea typeface="Lato"/>
                  <a:cs typeface="Lato"/>
                  <a:sym typeface="Lato"/>
                </a:rPr>
                <a:t>DevOps Road Map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622;p40" descr="Puzzle">
              <a:extLst>
                <a:ext uri="{FF2B5EF4-FFF2-40B4-BE49-F238E27FC236}">
                  <a16:creationId xmlns:a16="http://schemas.microsoft.com/office/drawing/2014/main" id="{61DB7605-EAE8-1D4C-B83B-876EC9B5AA44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391852" y="2183567"/>
              <a:ext cx="640080" cy="64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623;p40" descr="Home">
              <a:extLst>
                <a:ext uri="{FF2B5EF4-FFF2-40B4-BE49-F238E27FC236}">
                  <a16:creationId xmlns:a16="http://schemas.microsoft.com/office/drawing/2014/main" id="{959E3159-7CF0-63DA-7665-A7A130BEED8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69328" y="3078184"/>
              <a:ext cx="640080" cy="64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624;p40" descr="Infinity">
              <a:extLst>
                <a:ext uri="{FF2B5EF4-FFF2-40B4-BE49-F238E27FC236}">
                  <a16:creationId xmlns:a16="http://schemas.microsoft.com/office/drawing/2014/main" id="{14BAAC02-4AF0-4837-1F65-D673D7545F6E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335360" y="3941730"/>
              <a:ext cx="640080" cy="64008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03395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29;p41">
            <a:extLst>
              <a:ext uri="{FF2B5EF4-FFF2-40B4-BE49-F238E27FC236}">
                <a16:creationId xmlns:a16="http://schemas.microsoft.com/office/drawing/2014/main" id="{87BA1E51-5DD5-B95D-3738-48553A0259EC}"/>
              </a:ext>
            </a:extLst>
          </p:cNvPr>
          <p:cNvSpPr txBox="1"/>
          <p:nvPr/>
        </p:nvSpPr>
        <p:spPr>
          <a:xfrm>
            <a:off x="3775638" y="717772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SESSION OVERVIEW: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INTRODUCTION TO DEVOPS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630;p41">
            <a:extLst>
              <a:ext uri="{FF2B5EF4-FFF2-40B4-BE49-F238E27FC236}">
                <a16:creationId xmlns:a16="http://schemas.microsoft.com/office/drawing/2014/main" id="{9653D3E1-5E78-5815-CBBA-8B623B5A9C47}"/>
              </a:ext>
            </a:extLst>
          </p:cNvPr>
          <p:cNvSpPr txBox="1"/>
          <p:nvPr/>
        </p:nvSpPr>
        <p:spPr>
          <a:xfrm>
            <a:off x="3225264" y="1575466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 and its definition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1631;p41">
            <a:extLst>
              <a:ext uri="{FF2B5EF4-FFF2-40B4-BE49-F238E27FC236}">
                <a16:creationId xmlns:a16="http://schemas.microsoft.com/office/drawing/2014/main" id="{FEED899E-BEDF-2049-1365-C72A25E2E2CF}"/>
              </a:ext>
            </a:extLst>
          </p:cNvPr>
          <p:cNvSpPr txBox="1"/>
          <p:nvPr/>
        </p:nvSpPr>
        <p:spPr>
          <a:xfrm>
            <a:off x="3225264" y="2472950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roblems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solved by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DevOps 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632;p41">
            <a:extLst>
              <a:ext uri="{FF2B5EF4-FFF2-40B4-BE49-F238E27FC236}">
                <a16:creationId xmlns:a16="http://schemas.microsoft.com/office/drawing/2014/main" id="{614350FB-28BD-7165-8EE1-A389D775CDFF}"/>
              </a:ext>
            </a:extLst>
          </p:cNvPr>
          <p:cNvSpPr txBox="1"/>
          <p:nvPr/>
        </p:nvSpPr>
        <p:spPr>
          <a:xfrm>
            <a:off x="3225264" y="3370434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 principles and core values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1633;p41">
            <a:extLst>
              <a:ext uri="{FF2B5EF4-FFF2-40B4-BE49-F238E27FC236}">
                <a16:creationId xmlns:a16="http://schemas.microsoft.com/office/drawing/2014/main" id="{5AD199E0-0F7C-636E-619A-34DA3A5723C1}"/>
              </a:ext>
            </a:extLst>
          </p:cNvPr>
          <p:cNvSpPr txBox="1"/>
          <p:nvPr/>
        </p:nvSpPr>
        <p:spPr>
          <a:xfrm>
            <a:off x="3225264" y="4267918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Development of an MVP with DevOps best practices 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634;p41">
            <a:extLst>
              <a:ext uri="{FF2B5EF4-FFF2-40B4-BE49-F238E27FC236}">
                <a16:creationId xmlns:a16="http://schemas.microsoft.com/office/drawing/2014/main" id="{BF110749-5F1D-8A36-68AB-8A6A5B98B39D}"/>
              </a:ext>
            </a:extLst>
          </p:cNvPr>
          <p:cNvSpPr txBox="1"/>
          <p:nvPr/>
        </p:nvSpPr>
        <p:spPr>
          <a:xfrm>
            <a:off x="3225264" y="5165402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5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 case study and future of DevOps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635;p41">
            <a:extLst>
              <a:ext uri="{FF2B5EF4-FFF2-40B4-BE49-F238E27FC236}">
                <a16:creationId xmlns:a16="http://schemas.microsoft.com/office/drawing/2014/main" id="{A964D2B8-DEB1-8E60-00F3-66978257360C}"/>
              </a:ext>
            </a:extLst>
          </p:cNvPr>
          <p:cNvSpPr txBox="1"/>
          <p:nvPr/>
        </p:nvSpPr>
        <p:spPr>
          <a:xfrm>
            <a:off x="3225264" y="6062884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6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Common DevOps myths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1992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40;p42">
            <a:extLst>
              <a:ext uri="{FF2B5EF4-FFF2-40B4-BE49-F238E27FC236}">
                <a16:creationId xmlns:a16="http://schemas.microsoft.com/office/drawing/2014/main" id="{0994AE52-C0F7-B775-B407-043770449467}"/>
              </a:ext>
            </a:extLst>
          </p:cNvPr>
          <p:cNvSpPr/>
          <p:nvPr/>
        </p:nvSpPr>
        <p:spPr>
          <a:xfrm>
            <a:off x="3600450" y="2830298"/>
            <a:ext cx="4991100" cy="2861100"/>
          </a:xfrm>
          <a:prstGeom prst="roundRect">
            <a:avLst>
              <a:gd name="adj" fmla="val 553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Agile organi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ations, the Dev team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continues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pushing new releases frequently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Ops team also needs to deploy these changes frequently so that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they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reach customers on 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Ops team also ensures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that the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system is stable and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always functioning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641;p42">
            <a:extLst>
              <a:ext uri="{FF2B5EF4-FFF2-40B4-BE49-F238E27FC236}">
                <a16:creationId xmlns:a16="http://schemas.microsoft.com/office/drawing/2014/main" id="{FCEB8453-B55F-9D7D-E629-A7A95EC27DB6}"/>
              </a:ext>
            </a:extLst>
          </p:cNvPr>
          <p:cNvSpPr txBox="1"/>
          <p:nvPr/>
        </p:nvSpPr>
        <p:spPr>
          <a:xfrm>
            <a:off x="3961559" y="1316443"/>
            <a:ext cx="42690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WHY DEVOPS?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937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1646;p43">
            <a:extLst>
              <a:ext uri="{FF2B5EF4-FFF2-40B4-BE49-F238E27FC236}">
                <a16:creationId xmlns:a16="http://schemas.microsoft.com/office/drawing/2014/main" id="{5BF43F47-0886-9EA2-EA2F-2ABEC63A3DAD}"/>
              </a:ext>
            </a:extLst>
          </p:cNvPr>
          <p:cNvGrpSpPr/>
          <p:nvPr/>
        </p:nvGrpSpPr>
        <p:grpSpPr>
          <a:xfrm>
            <a:off x="3592157" y="3054130"/>
            <a:ext cx="5007683" cy="3126567"/>
            <a:chOff x="6718149" y="1724054"/>
            <a:chExt cx="5007683" cy="3126567"/>
          </a:xfrm>
        </p:grpSpPr>
        <p:sp>
          <p:nvSpPr>
            <p:cNvPr id="10" name="Google Shape;1647;p43">
              <a:extLst>
                <a:ext uri="{FF2B5EF4-FFF2-40B4-BE49-F238E27FC236}">
                  <a16:creationId xmlns:a16="http://schemas.microsoft.com/office/drawing/2014/main" id="{38AB6330-CD7A-FDDB-9CB7-F29D9E573986}"/>
                </a:ext>
              </a:extLst>
            </p:cNvPr>
            <p:cNvSpPr txBox="1"/>
            <p:nvPr/>
          </p:nvSpPr>
          <p:spPr>
            <a:xfrm>
              <a:off x="7973291" y="4450511"/>
              <a:ext cx="36483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EE2C3C"/>
                  </a:solidFill>
                  <a:latin typeface="Lato"/>
                  <a:ea typeface="Lato"/>
                  <a:cs typeface="Lato"/>
                  <a:sym typeface="Lato"/>
                </a:rPr>
                <a:t>- Amazon.com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648;p43">
              <a:extLst>
                <a:ext uri="{FF2B5EF4-FFF2-40B4-BE49-F238E27FC236}">
                  <a16:creationId xmlns:a16="http://schemas.microsoft.com/office/drawing/2014/main" id="{7A7741B1-DC04-AEA1-14D3-207CAEC79A6B}"/>
                </a:ext>
              </a:extLst>
            </p:cNvPr>
            <p:cNvSpPr txBox="1"/>
            <p:nvPr/>
          </p:nvSpPr>
          <p:spPr>
            <a:xfrm>
              <a:off x="6718149" y="1724054"/>
              <a:ext cx="9573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0"/>
                <a:buFont typeface="Arial"/>
                <a:buNone/>
              </a:pPr>
              <a:r>
                <a:rPr lang="en-US" sz="10000" b="0" i="0" u="none" strike="noStrike" cap="none">
                  <a:solidFill>
                    <a:srgbClr val="3F3F3F"/>
                  </a:solidFill>
                  <a:latin typeface="Oi"/>
                  <a:ea typeface="Oi"/>
                  <a:cs typeface="Oi"/>
                  <a:sym typeface="Oi"/>
                </a:rPr>
                <a:t>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649;p43">
              <a:extLst>
                <a:ext uri="{FF2B5EF4-FFF2-40B4-BE49-F238E27FC236}">
                  <a16:creationId xmlns:a16="http://schemas.microsoft.com/office/drawing/2014/main" id="{687E4CFB-9D69-9C3F-EDE1-8A9FA6B07CCD}"/>
                </a:ext>
              </a:extLst>
            </p:cNvPr>
            <p:cNvSpPr txBox="1"/>
            <p:nvPr/>
          </p:nvSpPr>
          <p:spPr>
            <a:xfrm>
              <a:off x="7078532" y="2447220"/>
              <a:ext cx="46473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DevOps is the combination of cultural philosophies, practices, and tools that increases an organization’s ability to deliver good quality applications and services at high velocity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650;p43">
              <a:extLst>
                <a:ext uri="{FF2B5EF4-FFF2-40B4-BE49-F238E27FC236}">
                  <a16:creationId xmlns:a16="http://schemas.microsoft.com/office/drawing/2014/main" id="{01FA28B8-C36D-E532-1AF6-B66CB362C22F}"/>
                </a:ext>
              </a:extLst>
            </p:cNvPr>
            <p:cNvSpPr txBox="1"/>
            <p:nvPr/>
          </p:nvSpPr>
          <p:spPr>
            <a:xfrm rot="10800000" flipH="1">
              <a:off x="10667997" y="2920252"/>
              <a:ext cx="9573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0"/>
                <a:buFont typeface="Arial"/>
                <a:buNone/>
              </a:pPr>
              <a:r>
                <a:rPr lang="en-US" sz="10000" b="0" i="0" u="none" strike="noStrike" cap="none">
                  <a:solidFill>
                    <a:srgbClr val="3F3F3F"/>
                  </a:solidFill>
                  <a:latin typeface="Oi"/>
                  <a:ea typeface="Oi"/>
                  <a:cs typeface="Oi"/>
                  <a:sym typeface="Oi"/>
                </a:rPr>
                <a:t>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651;p43">
            <a:extLst>
              <a:ext uri="{FF2B5EF4-FFF2-40B4-BE49-F238E27FC236}">
                <a16:creationId xmlns:a16="http://schemas.microsoft.com/office/drawing/2014/main" id="{2C50C913-1189-A141-C692-C558F2A4BE7D}"/>
              </a:ext>
            </a:extLst>
          </p:cNvPr>
          <p:cNvSpPr txBox="1"/>
          <p:nvPr/>
        </p:nvSpPr>
        <p:spPr>
          <a:xfrm>
            <a:off x="3839363" y="1531407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IS DEVOPS?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652;p43">
            <a:extLst>
              <a:ext uri="{FF2B5EF4-FFF2-40B4-BE49-F238E27FC236}">
                <a16:creationId xmlns:a16="http://schemas.microsoft.com/office/drawing/2014/main" id="{0D535D2D-1C80-7ADC-18C9-29546FCDFCAE}"/>
              </a:ext>
            </a:extLst>
          </p:cNvPr>
          <p:cNvSpPr/>
          <p:nvPr/>
        </p:nvSpPr>
        <p:spPr>
          <a:xfrm>
            <a:off x="3600450" y="3734763"/>
            <a:ext cx="4991100" cy="1765200"/>
          </a:xfrm>
          <a:prstGeom prst="roundRect">
            <a:avLst>
              <a:gd name="adj" fmla="val 9113"/>
            </a:avLst>
          </a:prstGeom>
          <a:noFill/>
          <a:ln w="28575" cap="flat" cmpd="sng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4052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1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57;p44">
            <a:extLst>
              <a:ext uri="{FF2B5EF4-FFF2-40B4-BE49-F238E27FC236}">
                <a16:creationId xmlns:a16="http://schemas.microsoft.com/office/drawing/2014/main" id="{8024503B-7A74-D7E7-EFE1-72E68A4128AE}"/>
              </a:ext>
            </a:extLst>
          </p:cNvPr>
          <p:cNvSpPr txBox="1">
            <a:spLocks/>
          </p:cNvSpPr>
          <p:nvPr/>
        </p:nvSpPr>
        <p:spPr>
          <a:xfrm>
            <a:off x="719138" y="1262317"/>
            <a:ext cx="10753725" cy="520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800"/>
              </a:spcBef>
              <a:buSzPts val="2100"/>
              <a:buFont typeface="Arial" panose="020B0604020202020204" pitchFamily="34" charset="0"/>
              <a:buNone/>
            </a:pPr>
            <a:r>
              <a:rPr lang="en-US" sz="2400">
                <a:latin typeface="Lato"/>
                <a:ea typeface="Lato"/>
                <a:cs typeface="Lato"/>
                <a:sym typeface="Lato"/>
              </a:rPr>
              <a:t>DEVOPS</a:t>
            </a:r>
            <a:endParaRPr lang="en-US"/>
          </a:p>
        </p:txBody>
      </p:sp>
      <p:pic>
        <p:nvPicPr>
          <p:cNvPr id="10" name="Google Shape;1658;p44">
            <a:extLst>
              <a:ext uri="{FF2B5EF4-FFF2-40B4-BE49-F238E27FC236}">
                <a16:creationId xmlns:a16="http://schemas.microsoft.com/office/drawing/2014/main" id="{296E0934-7429-9F6A-0CA2-9EF4124FB62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90130" y="2621559"/>
            <a:ext cx="3743384" cy="2807208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659;p44">
            <a:extLst>
              <a:ext uri="{FF2B5EF4-FFF2-40B4-BE49-F238E27FC236}">
                <a16:creationId xmlns:a16="http://schemas.microsoft.com/office/drawing/2014/main" id="{F381ECF6-2267-75FA-BCC0-38C73AC292F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8998" r="8998"/>
          <a:stretch/>
        </p:blipFill>
        <p:spPr>
          <a:xfrm>
            <a:off x="3581949" y="2621559"/>
            <a:ext cx="4088846" cy="2807208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" name="Google Shape;1660;p44">
            <a:extLst>
              <a:ext uri="{FF2B5EF4-FFF2-40B4-BE49-F238E27FC236}">
                <a16:creationId xmlns:a16="http://schemas.microsoft.com/office/drawing/2014/main" id="{26ADB2FB-6305-F38A-CD55-962B9A70B86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486" y="2624639"/>
            <a:ext cx="2804128" cy="2804128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62616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65;p45">
            <a:extLst>
              <a:ext uri="{FF2B5EF4-FFF2-40B4-BE49-F238E27FC236}">
                <a16:creationId xmlns:a16="http://schemas.microsoft.com/office/drawing/2014/main" id="{D8FA4297-9A6B-4846-2939-699C13704BBA}"/>
              </a:ext>
            </a:extLst>
          </p:cNvPr>
          <p:cNvSpPr txBox="1"/>
          <p:nvPr/>
        </p:nvSpPr>
        <p:spPr>
          <a:xfrm>
            <a:off x="799657" y="3011640"/>
            <a:ext cx="5194500" cy="24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agile methodologies, the design, build, and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0"/>
                  </a:ext>
                </a:extLst>
              </a:rPr>
              <a:t>test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ing is continuous, but the deployment is still linear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is denoted by an infinite loop because it uses automation tools for automatic deployment, monitoring and feedback, and making the entire process continuous and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infinite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666;p45">
            <a:extLst>
              <a:ext uri="{FF2B5EF4-FFF2-40B4-BE49-F238E27FC236}">
                <a16:creationId xmlns:a16="http://schemas.microsoft.com/office/drawing/2014/main" id="{8464961D-E356-42AC-BE71-612525FDF273}"/>
              </a:ext>
            </a:extLst>
          </p:cNvPr>
          <p:cNvSpPr txBox="1">
            <a:spLocks/>
          </p:cNvSpPr>
          <p:nvPr/>
        </p:nvSpPr>
        <p:spPr>
          <a:xfrm>
            <a:off x="706374" y="1271162"/>
            <a:ext cx="10753725" cy="520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800"/>
              </a:spcBef>
              <a:buSzPts val="2100"/>
              <a:buFont typeface="Arial" panose="020B0604020202020204" pitchFamily="34" charset="0"/>
              <a:buNone/>
            </a:pPr>
            <a:r>
              <a:rPr lang="en-US" sz="2400">
                <a:latin typeface="Lato"/>
                <a:ea typeface="Lato"/>
                <a:cs typeface="Lato"/>
                <a:sym typeface="Lato"/>
              </a:rPr>
              <a:t>DEVOPS CYCLE</a:t>
            </a:r>
            <a:endParaRPr lang="en-US"/>
          </a:p>
        </p:txBody>
      </p:sp>
      <p:pic>
        <p:nvPicPr>
          <p:cNvPr id="11" name="Google Shape;1667;p45">
            <a:extLst>
              <a:ext uri="{FF2B5EF4-FFF2-40B4-BE49-F238E27FC236}">
                <a16:creationId xmlns:a16="http://schemas.microsoft.com/office/drawing/2014/main" id="{B8E631C9-3A13-3455-11EE-D05C9F34812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14044" y="2056106"/>
            <a:ext cx="4178300" cy="4178300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72686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72;p46">
            <a:extLst>
              <a:ext uri="{FF2B5EF4-FFF2-40B4-BE49-F238E27FC236}">
                <a16:creationId xmlns:a16="http://schemas.microsoft.com/office/drawing/2014/main" id="{2C4C6263-FC00-DE80-E2A6-C3DDC7866E52}"/>
              </a:ext>
            </a:extLst>
          </p:cNvPr>
          <p:cNvSpPr txBox="1"/>
          <p:nvPr/>
        </p:nvSpPr>
        <p:spPr>
          <a:xfrm>
            <a:off x="799657" y="2993352"/>
            <a:ext cx="5194407" cy="164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CI/CD PIPELINE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1"/>
                  </a:ext>
                </a:extLst>
              </a:rPr>
              <a:t>Continuous Integration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2"/>
                </a:ext>
              </a:extLst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3"/>
                  </a:ext>
                </a:extLst>
              </a:rPr>
              <a:t>Continuous Delivery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4"/>
                </a:ext>
              </a:extLst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5"/>
                  </a:ext>
                </a:extLst>
              </a:rPr>
              <a:t>Continuous Deployment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1673;p46">
            <a:extLst>
              <a:ext uri="{FF2B5EF4-FFF2-40B4-BE49-F238E27FC236}">
                <a16:creationId xmlns:a16="http://schemas.microsoft.com/office/drawing/2014/main" id="{388F7574-6644-FD7D-7C17-956CE8AD8DF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90244" y="2037818"/>
            <a:ext cx="4178400" cy="4178400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" name="Google Shape;1674;p46">
            <a:extLst>
              <a:ext uri="{FF2B5EF4-FFF2-40B4-BE49-F238E27FC236}">
                <a16:creationId xmlns:a16="http://schemas.microsoft.com/office/drawing/2014/main" id="{12BA279D-AEBA-3C52-6D35-C60C54D55D9C}"/>
              </a:ext>
            </a:extLst>
          </p:cNvPr>
          <p:cNvSpPr txBox="1"/>
          <p:nvPr/>
        </p:nvSpPr>
        <p:spPr>
          <a:xfrm>
            <a:off x="719137" y="1271162"/>
            <a:ext cx="10753725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CYCLE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239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679;p47">
            <a:extLst>
              <a:ext uri="{FF2B5EF4-FFF2-40B4-BE49-F238E27FC236}">
                <a16:creationId xmlns:a16="http://schemas.microsoft.com/office/drawing/2014/main" id="{E692CC48-3097-C81C-DC6F-AE708D071E5B}"/>
              </a:ext>
            </a:extLst>
          </p:cNvPr>
          <p:cNvSpPr/>
          <p:nvPr/>
        </p:nvSpPr>
        <p:spPr>
          <a:xfrm>
            <a:off x="806987" y="2894667"/>
            <a:ext cx="4800600" cy="264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Developers regularly merge their code changes into a source code repository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such as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Git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When a code change is detected, it is pulled, and then, automated builds and tests are run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Unit testing and integration testing are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carried out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automatically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680;p47">
            <a:extLst>
              <a:ext uri="{FF2B5EF4-FFF2-40B4-BE49-F238E27FC236}">
                <a16:creationId xmlns:a16="http://schemas.microsoft.com/office/drawing/2014/main" id="{CE3F02CE-F156-EBCA-E931-AAA3D5CA9619}"/>
              </a:ext>
            </a:extLst>
          </p:cNvPr>
          <p:cNvSpPr txBox="1"/>
          <p:nvPr/>
        </p:nvSpPr>
        <p:spPr>
          <a:xfrm>
            <a:off x="685800" y="1152901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STAGES</a:t>
            </a: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CONTINUOUS INTEGRATION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681;p47">
            <a:extLst>
              <a:ext uri="{FF2B5EF4-FFF2-40B4-BE49-F238E27FC236}">
                <a16:creationId xmlns:a16="http://schemas.microsoft.com/office/drawing/2014/main" id="{8E1D243B-F2F2-B78B-E37C-ADA10102C96A}"/>
              </a:ext>
            </a:extLst>
          </p:cNvPr>
          <p:cNvGrpSpPr/>
          <p:nvPr/>
        </p:nvGrpSpPr>
        <p:grpSpPr>
          <a:xfrm>
            <a:off x="6140987" y="5102869"/>
            <a:ext cx="5510725" cy="1201760"/>
            <a:chOff x="6140987" y="4471933"/>
            <a:chExt cx="5510725" cy="1201760"/>
          </a:xfrm>
        </p:grpSpPr>
        <p:sp>
          <p:nvSpPr>
            <p:cNvPr id="12" name="Google Shape;1682;p47">
              <a:extLst>
                <a:ext uri="{FF2B5EF4-FFF2-40B4-BE49-F238E27FC236}">
                  <a16:creationId xmlns:a16="http://schemas.microsoft.com/office/drawing/2014/main" id="{913B3D28-2A7F-B420-3659-1F4DB7B275DC}"/>
                </a:ext>
              </a:extLst>
            </p:cNvPr>
            <p:cNvSpPr/>
            <p:nvPr/>
          </p:nvSpPr>
          <p:spPr>
            <a:xfrm>
              <a:off x="6140987" y="4471933"/>
              <a:ext cx="1015892" cy="1201760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00618" y="3056"/>
                    <a:pt x="232581" y="3056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1683;p47">
              <a:extLst>
                <a:ext uri="{FF2B5EF4-FFF2-40B4-BE49-F238E27FC236}">
                  <a16:creationId xmlns:a16="http://schemas.microsoft.com/office/drawing/2014/main" id="{520334E1-F96C-8521-356F-C81309394B54}"/>
                </a:ext>
              </a:extLst>
            </p:cNvPr>
            <p:cNvSpPr/>
            <p:nvPr/>
          </p:nvSpPr>
          <p:spPr>
            <a:xfrm>
              <a:off x="6140987" y="4478031"/>
              <a:ext cx="5510725" cy="1189564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1684;p47">
              <a:extLst>
                <a:ext uri="{FF2B5EF4-FFF2-40B4-BE49-F238E27FC236}">
                  <a16:creationId xmlns:a16="http://schemas.microsoft.com/office/drawing/2014/main" id="{EE5DF3E8-2D3F-F481-3CE0-0C18FF800425}"/>
                </a:ext>
              </a:extLst>
            </p:cNvPr>
            <p:cNvSpPr txBox="1"/>
            <p:nvPr/>
          </p:nvSpPr>
          <p:spPr>
            <a:xfrm>
              <a:off x="6263685" y="4798067"/>
              <a:ext cx="770496" cy="5494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03</a:t>
              </a:r>
              <a:endPara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" name="Google Shape;1685;p47">
              <a:extLst>
                <a:ext uri="{FF2B5EF4-FFF2-40B4-BE49-F238E27FC236}">
                  <a16:creationId xmlns:a16="http://schemas.microsoft.com/office/drawing/2014/main" id="{9E179E86-7502-4540-D2C2-39832499292D}"/>
                </a:ext>
              </a:extLst>
            </p:cNvPr>
            <p:cNvSpPr txBox="1"/>
            <p:nvPr/>
          </p:nvSpPr>
          <p:spPr>
            <a:xfrm>
              <a:off x="7376730" y="4714496"/>
              <a:ext cx="3988615" cy="716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6"/>
                    </a:ext>
                  </a:extLst>
                </a:rPr>
                <a:t>Faster</a:t>
              </a: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 delivery of updates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" name="Google Shape;1686;p47">
            <a:extLst>
              <a:ext uri="{FF2B5EF4-FFF2-40B4-BE49-F238E27FC236}">
                <a16:creationId xmlns:a16="http://schemas.microsoft.com/office/drawing/2014/main" id="{B52E9F8D-5489-2111-285F-A0C10FE7A857}"/>
              </a:ext>
            </a:extLst>
          </p:cNvPr>
          <p:cNvGrpSpPr/>
          <p:nvPr/>
        </p:nvGrpSpPr>
        <p:grpSpPr>
          <a:xfrm>
            <a:off x="6140989" y="2065886"/>
            <a:ext cx="5510725" cy="1201760"/>
            <a:chOff x="6140989" y="1434950"/>
            <a:chExt cx="5510725" cy="1201760"/>
          </a:xfrm>
        </p:grpSpPr>
        <p:sp>
          <p:nvSpPr>
            <p:cNvPr id="17" name="Google Shape;1687;p47">
              <a:extLst>
                <a:ext uri="{FF2B5EF4-FFF2-40B4-BE49-F238E27FC236}">
                  <a16:creationId xmlns:a16="http://schemas.microsoft.com/office/drawing/2014/main" id="{A5C6E893-F369-47A2-2526-6E14312BE996}"/>
                </a:ext>
              </a:extLst>
            </p:cNvPr>
            <p:cNvSpPr txBox="1"/>
            <p:nvPr/>
          </p:nvSpPr>
          <p:spPr>
            <a:xfrm>
              <a:off x="7376730" y="1677513"/>
              <a:ext cx="3932083" cy="716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Developer focuses on productive work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1688;p47">
              <a:extLst>
                <a:ext uri="{FF2B5EF4-FFF2-40B4-BE49-F238E27FC236}">
                  <a16:creationId xmlns:a16="http://schemas.microsoft.com/office/drawing/2014/main" id="{1123A9DA-1F4E-A49F-3A0D-7499EE0A26EE}"/>
                </a:ext>
              </a:extLst>
            </p:cNvPr>
            <p:cNvSpPr/>
            <p:nvPr/>
          </p:nvSpPr>
          <p:spPr>
            <a:xfrm>
              <a:off x="6140989" y="1434950"/>
              <a:ext cx="1009433" cy="1201760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177331" y="4685"/>
                    <a:pt x="209294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F4AB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" name="Google Shape;1689;p47">
              <a:extLst>
                <a:ext uri="{FF2B5EF4-FFF2-40B4-BE49-F238E27FC236}">
                  <a16:creationId xmlns:a16="http://schemas.microsoft.com/office/drawing/2014/main" id="{F4462AD8-CFAB-2D17-2001-43261BDBA17F}"/>
                </a:ext>
              </a:extLst>
            </p:cNvPr>
            <p:cNvSpPr/>
            <p:nvPr/>
          </p:nvSpPr>
          <p:spPr>
            <a:xfrm>
              <a:off x="6140989" y="1441048"/>
              <a:ext cx="5510725" cy="1189564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" name="Google Shape;1690;p47">
              <a:extLst>
                <a:ext uri="{FF2B5EF4-FFF2-40B4-BE49-F238E27FC236}">
                  <a16:creationId xmlns:a16="http://schemas.microsoft.com/office/drawing/2014/main" id="{FDA4D2EB-A379-E623-B908-BFE9D8D91504}"/>
                </a:ext>
              </a:extLst>
            </p:cNvPr>
            <p:cNvSpPr txBox="1"/>
            <p:nvPr/>
          </p:nvSpPr>
          <p:spPr>
            <a:xfrm>
              <a:off x="6260457" y="1761084"/>
              <a:ext cx="770496" cy="5494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01</a:t>
              </a:r>
              <a:endPara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" name="Google Shape;1691;p47">
            <a:extLst>
              <a:ext uri="{FF2B5EF4-FFF2-40B4-BE49-F238E27FC236}">
                <a16:creationId xmlns:a16="http://schemas.microsoft.com/office/drawing/2014/main" id="{91D6B898-00E1-A9A1-D3D6-3EB58ACAF178}"/>
              </a:ext>
            </a:extLst>
          </p:cNvPr>
          <p:cNvGrpSpPr/>
          <p:nvPr/>
        </p:nvGrpSpPr>
        <p:grpSpPr>
          <a:xfrm>
            <a:off x="6140989" y="3584379"/>
            <a:ext cx="5510724" cy="1201758"/>
            <a:chOff x="6140989" y="2953443"/>
            <a:chExt cx="5510724" cy="1201758"/>
          </a:xfrm>
        </p:grpSpPr>
        <p:sp>
          <p:nvSpPr>
            <p:cNvPr id="22" name="Google Shape;1692;p47">
              <a:extLst>
                <a:ext uri="{FF2B5EF4-FFF2-40B4-BE49-F238E27FC236}">
                  <a16:creationId xmlns:a16="http://schemas.microsoft.com/office/drawing/2014/main" id="{5AA85F25-FF28-C86E-F053-D096F7A132AB}"/>
                </a:ext>
              </a:extLst>
            </p:cNvPr>
            <p:cNvSpPr txBox="1"/>
            <p:nvPr/>
          </p:nvSpPr>
          <p:spPr>
            <a:xfrm>
              <a:off x="7376730" y="3196004"/>
              <a:ext cx="3932083" cy="716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Testing with each commit helps find and resolve bugs quickly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3" name="Google Shape;1693;p47">
              <a:extLst>
                <a:ext uri="{FF2B5EF4-FFF2-40B4-BE49-F238E27FC236}">
                  <a16:creationId xmlns:a16="http://schemas.microsoft.com/office/drawing/2014/main" id="{756A1E5A-9BAD-2D7E-08EB-59356AE2D43B}"/>
                </a:ext>
              </a:extLst>
            </p:cNvPr>
            <p:cNvGrpSpPr/>
            <p:nvPr/>
          </p:nvGrpSpPr>
          <p:grpSpPr>
            <a:xfrm>
              <a:off x="6140989" y="2953443"/>
              <a:ext cx="5510724" cy="1201758"/>
              <a:chOff x="6389225" y="1006998"/>
              <a:chExt cx="4726281" cy="782577"/>
            </a:xfrm>
          </p:grpSpPr>
          <p:sp>
            <p:nvSpPr>
              <p:cNvPr id="24" name="Google Shape;1694;p47">
                <a:extLst>
                  <a:ext uri="{FF2B5EF4-FFF2-40B4-BE49-F238E27FC236}">
                    <a16:creationId xmlns:a16="http://schemas.microsoft.com/office/drawing/2014/main" id="{64D50947-9CAF-1DAB-C550-010E13CC7D1D}"/>
                  </a:ext>
                </a:extLst>
              </p:cNvPr>
              <p:cNvSpPr/>
              <p:nvPr/>
            </p:nvSpPr>
            <p:spPr>
              <a:xfrm>
                <a:off x="6389225" y="1006998"/>
                <a:ext cx="871281" cy="782577"/>
              </a:xfrm>
              <a:custGeom>
                <a:avLst/>
                <a:gdLst/>
                <a:ahLst/>
                <a:cxnLst/>
                <a:rect l="l" t="t" r="r" b="b"/>
                <a:pathLst>
                  <a:path w="4726281" h="782577" extrusionOk="0">
                    <a:moveTo>
                      <a:pt x="0" y="65817"/>
                    </a:moveTo>
                    <a:cubicBezTo>
                      <a:pt x="0" y="33854"/>
                      <a:pt x="212270" y="3057"/>
                      <a:pt x="244233" y="3057"/>
                    </a:cubicBezTo>
                    <a:lnTo>
                      <a:pt x="4726281" y="0"/>
                    </a:lnTo>
                    <a:cubicBezTo>
                      <a:pt x="4725176" y="250592"/>
                      <a:pt x="4724070" y="531329"/>
                      <a:pt x="4722965" y="781921"/>
                    </a:cubicBezTo>
                    <a:lnTo>
                      <a:pt x="0" y="782577"/>
                    </a:lnTo>
                    <a:lnTo>
                      <a:pt x="0" y="65817"/>
                    </a:lnTo>
                    <a:close/>
                  </a:path>
                </a:pathLst>
              </a:custGeom>
              <a:solidFill>
                <a:srgbClr val="4890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" name="Google Shape;1695;p47">
                <a:extLst>
                  <a:ext uri="{FF2B5EF4-FFF2-40B4-BE49-F238E27FC236}">
                    <a16:creationId xmlns:a16="http://schemas.microsoft.com/office/drawing/2014/main" id="{DAF0B0F1-C050-ABD8-EA1B-39591AC69D5A}"/>
                  </a:ext>
                </a:extLst>
              </p:cNvPr>
              <p:cNvSpPr/>
              <p:nvPr/>
            </p:nvSpPr>
            <p:spPr>
              <a:xfrm>
                <a:off x="6389225" y="1011002"/>
                <a:ext cx="4726281" cy="774635"/>
              </a:xfrm>
              <a:custGeom>
                <a:avLst/>
                <a:gdLst/>
                <a:ahLst/>
                <a:cxnLst/>
                <a:rect l="l" t="t" r="r" b="b"/>
                <a:pathLst>
                  <a:path w="4726281" h="774635" extrusionOk="0">
                    <a:moveTo>
                      <a:pt x="0" y="57875"/>
                    </a:moveTo>
                    <a:cubicBezTo>
                      <a:pt x="0" y="25912"/>
                      <a:pt x="25912" y="0"/>
                      <a:pt x="57875" y="0"/>
                    </a:cubicBezTo>
                    <a:lnTo>
                      <a:pt x="4726281" y="12155"/>
                    </a:lnTo>
                    <a:lnTo>
                      <a:pt x="4722471" y="706055"/>
                    </a:lnTo>
                    <a:cubicBezTo>
                      <a:pt x="4722471" y="738018"/>
                      <a:pt x="4696559" y="763930"/>
                      <a:pt x="4664596" y="763930"/>
                    </a:cubicBezTo>
                    <a:lnTo>
                      <a:pt x="0" y="774635"/>
                    </a:lnTo>
                    <a:lnTo>
                      <a:pt x="0" y="57875"/>
                    </a:lnTo>
                    <a:close/>
                  </a:path>
                </a:pathLst>
              </a:custGeom>
              <a:noFill/>
              <a:ln w="15875" cap="flat" cmpd="sng">
                <a:solidFill>
                  <a:srgbClr val="AEABA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" name="Google Shape;1696;p47">
                <a:extLst>
                  <a:ext uri="{FF2B5EF4-FFF2-40B4-BE49-F238E27FC236}">
                    <a16:creationId xmlns:a16="http://schemas.microsoft.com/office/drawing/2014/main" id="{9D33668A-E76C-A270-3F08-5762475D7B1B}"/>
                  </a:ext>
                </a:extLst>
              </p:cNvPr>
              <p:cNvSpPr txBox="1"/>
              <p:nvPr/>
            </p:nvSpPr>
            <p:spPr>
              <a:xfrm>
                <a:off x="6494457" y="1219375"/>
                <a:ext cx="660817" cy="35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1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02</a:t>
                </a:r>
                <a:endParaRPr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7" name="Google Shape;1697;p47">
            <a:extLst>
              <a:ext uri="{FF2B5EF4-FFF2-40B4-BE49-F238E27FC236}">
                <a16:creationId xmlns:a16="http://schemas.microsoft.com/office/drawing/2014/main" id="{87535F4C-3061-D25C-5A9C-12F10D91B431}"/>
              </a:ext>
            </a:extLst>
          </p:cNvPr>
          <p:cNvSpPr/>
          <p:nvPr/>
        </p:nvSpPr>
        <p:spPr>
          <a:xfrm>
            <a:off x="806987" y="2392020"/>
            <a:ext cx="4800600" cy="5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Continuous Integration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698;p47">
            <a:extLst>
              <a:ext uri="{FF2B5EF4-FFF2-40B4-BE49-F238E27FC236}">
                <a16:creationId xmlns:a16="http://schemas.microsoft.com/office/drawing/2014/main" id="{0C63D4A8-4717-10DF-17D9-FE576116166C}"/>
              </a:ext>
            </a:extLst>
          </p:cNvPr>
          <p:cNvSpPr/>
          <p:nvPr/>
        </p:nvSpPr>
        <p:spPr>
          <a:xfrm>
            <a:off x="540287" y="1785543"/>
            <a:ext cx="5334000" cy="4799429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003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03;p48">
            <a:extLst>
              <a:ext uri="{FF2B5EF4-FFF2-40B4-BE49-F238E27FC236}">
                <a16:creationId xmlns:a16="http://schemas.microsoft.com/office/drawing/2014/main" id="{E188DFEE-C90F-B300-96B4-50687B2470DA}"/>
              </a:ext>
            </a:extLst>
          </p:cNvPr>
          <p:cNvSpPr txBox="1"/>
          <p:nvPr/>
        </p:nvSpPr>
        <p:spPr>
          <a:xfrm>
            <a:off x="685800" y="1217481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STAGES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CONTINUOUS DELIVERY/DEPLOYMENT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1704;p48" descr="https://lh4.googleusercontent.com/F-m0mKC-GTdAorf-fp6iEV-mtyhcZ5Nj1ZVmNipm0Fi_TV21HgCNPgPeh593wBhdUseqHEA512cWUQJwGcxE0LgzIGPCXTEtebZczZDVn04lmo-g_1D6J6YlEkT4HgzRwe7kJjAD">
            <a:extLst>
              <a:ext uri="{FF2B5EF4-FFF2-40B4-BE49-F238E27FC236}">
                <a16:creationId xmlns:a16="http://schemas.microsoft.com/office/drawing/2014/main" id="{C0DC35B1-B80D-D24A-0E7D-0083180D9BB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-719" t="9830" r="720" b="-9829"/>
          <a:stretch/>
        </p:blipFill>
        <p:spPr>
          <a:xfrm>
            <a:off x="685788" y="3467540"/>
            <a:ext cx="11249100" cy="2390700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45913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09;g2232d3f3243_0_1326">
            <a:extLst>
              <a:ext uri="{FF2B5EF4-FFF2-40B4-BE49-F238E27FC236}">
                <a16:creationId xmlns:a16="http://schemas.microsoft.com/office/drawing/2014/main" id="{7B0D6668-5227-6650-7DA1-547059BCAF2A}"/>
              </a:ext>
            </a:extLst>
          </p:cNvPr>
          <p:cNvSpPr/>
          <p:nvPr/>
        </p:nvSpPr>
        <p:spPr>
          <a:xfrm>
            <a:off x="1124850" y="2352655"/>
            <a:ext cx="9942300" cy="3575700"/>
          </a:xfrm>
          <a:prstGeom prst="roundRect">
            <a:avLst>
              <a:gd name="adj" fmla="val 545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Continuous delivery/deployment is an extended version of continuous integration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which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code changes are deployed to a testing server and/or a production environment after the build stage</a:t>
            </a: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7"/>
                  </a:ext>
                </a:extLst>
              </a:rPr>
              <a:t>Automatic release of a software</a:t>
            </a: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Continuous delivery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enables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you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perform additional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8"/>
                  </a:ext>
                </a:extLst>
              </a:rPr>
              <a:t>types of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easily such as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API reliability testing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load testing, and UX/UI testing</a:t>
            </a: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continuous delivery, each code change is built, tested, and pushed to a non-production testing or staging environment.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However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manual approval is required for deploying it on the production server</a:t>
            </a: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continuous deployment, the deployment on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production server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occurs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without any approval</a:t>
            </a: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710;g2232d3f3243_0_1326">
            <a:extLst>
              <a:ext uri="{FF2B5EF4-FFF2-40B4-BE49-F238E27FC236}">
                <a16:creationId xmlns:a16="http://schemas.microsoft.com/office/drawing/2014/main" id="{BF53E8A5-BF40-EF64-5C95-F5C2A6047F42}"/>
              </a:ext>
            </a:extLst>
          </p:cNvPr>
          <p:cNvSpPr txBox="1"/>
          <p:nvPr/>
        </p:nvSpPr>
        <p:spPr>
          <a:xfrm>
            <a:off x="864300" y="1269868"/>
            <a:ext cx="10820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STAGES</a:t>
            </a: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CONTINUOUS DELIVERY/DEPLOYMENT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711;g2232d3f3243_0_1326">
            <a:extLst>
              <a:ext uri="{FF2B5EF4-FFF2-40B4-BE49-F238E27FC236}">
                <a16:creationId xmlns:a16="http://schemas.microsoft.com/office/drawing/2014/main" id="{83F7C28D-4217-B832-7F00-7E3F4702CEB8}"/>
              </a:ext>
            </a:extLst>
          </p:cNvPr>
          <p:cNvSpPr/>
          <p:nvPr/>
        </p:nvSpPr>
        <p:spPr>
          <a:xfrm>
            <a:off x="996699" y="2154655"/>
            <a:ext cx="10463400" cy="3971700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489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16;p49">
            <a:extLst>
              <a:ext uri="{FF2B5EF4-FFF2-40B4-BE49-F238E27FC236}">
                <a16:creationId xmlns:a16="http://schemas.microsoft.com/office/drawing/2014/main" id="{BD316207-FC13-2D79-B361-F57D23FFAE6E}"/>
              </a:ext>
            </a:extLst>
          </p:cNvPr>
          <p:cNvSpPr/>
          <p:nvPr/>
        </p:nvSpPr>
        <p:spPr>
          <a:xfrm>
            <a:off x="597941" y="3047070"/>
            <a:ext cx="2776499" cy="3237540"/>
          </a:xfrm>
          <a:prstGeom prst="roundRect">
            <a:avLst>
              <a:gd name="adj" fmla="val 5179"/>
            </a:avLst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" name="Google Shape;1717;p49">
            <a:extLst>
              <a:ext uri="{FF2B5EF4-FFF2-40B4-BE49-F238E27FC236}">
                <a16:creationId xmlns:a16="http://schemas.microsoft.com/office/drawing/2014/main" id="{41409D55-5C16-9188-208E-DF66B4543C14}"/>
              </a:ext>
            </a:extLst>
          </p:cNvPr>
          <p:cNvCxnSpPr>
            <a:stCxn id="11" idx="1"/>
          </p:cNvCxnSpPr>
          <p:nvPr/>
        </p:nvCxnSpPr>
        <p:spPr>
          <a:xfrm>
            <a:off x="723280" y="4146287"/>
            <a:ext cx="7277100" cy="68400"/>
          </a:xfrm>
          <a:prstGeom prst="straightConnector1">
            <a:avLst/>
          </a:prstGeom>
          <a:noFill/>
          <a:ln w="38100" cap="flat" cmpd="sng">
            <a:solidFill>
              <a:srgbClr val="757070"/>
            </a:solidFill>
            <a:prstDash val="dash"/>
            <a:round/>
            <a:headEnd type="none" w="sm" len="sm"/>
            <a:tailEnd type="triangle" w="lg" len="lg"/>
          </a:ln>
        </p:spPr>
      </p:cxnSp>
      <p:sp>
        <p:nvSpPr>
          <p:cNvPr id="11" name="Google Shape;1718;p49">
            <a:extLst>
              <a:ext uri="{FF2B5EF4-FFF2-40B4-BE49-F238E27FC236}">
                <a16:creationId xmlns:a16="http://schemas.microsoft.com/office/drawing/2014/main" id="{40A8908E-4DB4-ED11-5522-1B9C97291E9E}"/>
              </a:ext>
            </a:extLst>
          </p:cNvPr>
          <p:cNvSpPr/>
          <p:nvPr/>
        </p:nvSpPr>
        <p:spPr>
          <a:xfrm>
            <a:off x="723280" y="3801252"/>
            <a:ext cx="1096488" cy="6900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Build 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719;p49">
            <a:extLst>
              <a:ext uri="{FF2B5EF4-FFF2-40B4-BE49-F238E27FC236}">
                <a16:creationId xmlns:a16="http://schemas.microsoft.com/office/drawing/2014/main" id="{82AC1F82-C7AA-6663-E7B8-7436E83F98E9}"/>
              </a:ext>
            </a:extLst>
          </p:cNvPr>
          <p:cNvSpPr/>
          <p:nvPr/>
        </p:nvSpPr>
        <p:spPr>
          <a:xfrm>
            <a:off x="2207771" y="3831988"/>
            <a:ext cx="1096488" cy="6900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Test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1720;p49">
            <a:extLst>
              <a:ext uri="{FF2B5EF4-FFF2-40B4-BE49-F238E27FC236}">
                <a16:creationId xmlns:a16="http://schemas.microsoft.com/office/drawing/2014/main" id="{1FB687A2-FD49-DCFC-9A7C-85B44798DD1D}"/>
              </a:ext>
            </a:extLst>
          </p:cNvPr>
          <p:cNvSpPr/>
          <p:nvPr/>
        </p:nvSpPr>
        <p:spPr>
          <a:xfrm>
            <a:off x="3616833" y="3797276"/>
            <a:ext cx="1542856" cy="6900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Acceptance test 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721;p49">
            <a:extLst>
              <a:ext uri="{FF2B5EF4-FFF2-40B4-BE49-F238E27FC236}">
                <a16:creationId xmlns:a16="http://schemas.microsoft.com/office/drawing/2014/main" id="{58AB3A47-A47E-4E67-B2D9-FEA1584D29D8}"/>
              </a:ext>
            </a:extLst>
          </p:cNvPr>
          <p:cNvSpPr/>
          <p:nvPr/>
        </p:nvSpPr>
        <p:spPr>
          <a:xfrm>
            <a:off x="5509871" y="3831988"/>
            <a:ext cx="1937960" cy="6900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Deployment to </a:t>
            </a:r>
            <a:r>
              <a:rPr lang="en-US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taging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" name="Google Shape;1722;p49">
            <a:extLst>
              <a:ext uri="{FF2B5EF4-FFF2-40B4-BE49-F238E27FC236}">
                <a16:creationId xmlns:a16="http://schemas.microsoft.com/office/drawing/2014/main" id="{B1FE3F57-A824-E0C2-7FB1-59B128185731}"/>
              </a:ext>
            </a:extLst>
          </p:cNvPr>
          <p:cNvCxnSpPr/>
          <p:nvPr/>
        </p:nvCxnSpPr>
        <p:spPr>
          <a:xfrm>
            <a:off x="723280" y="5416714"/>
            <a:ext cx="11018777" cy="60542"/>
          </a:xfrm>
          <a:prstGeom prst="straightConnector1">
            <a:avLst/>
          </a:prstGeom>
          <a:noFill/>
          <a:ln w="38100" cap="flat" cmpd="sng">
            <a:solidFill>
              <a:srgbClr val="757070"/>
            </a:solidFill>
            <a:prstDash val="dash"/>
            <a:round/>
            <a:headEnd type="none" w="sm" len="sm"/>
            <a:tailEnd type="triangle" w="lg" len="lg"/>
          </a:ln>
        </p:spPr>
      </p:cxnSp>
      <p:sp>
        <p:nvSpPr>
          <p:cNvPr id="16" name="Google Shape;1723;p49">
            <a:extLst>
              <a:ext uri="{FF2B5EF4-FFF2-40B4-BE49-F238E27FC236}">
                <a16:creationId xmlns:a16="http://schemas.microsoft.com/office/drawing/2014/main" id="{618833E1-6EA9-449A-EE89-3988EEED5163}"/>
              </a:ext>
            </a:extLst>
          </p:cNvPr>
          <p:cNvSpPr/>
          <p:nvPr/>
        </p:nvSpPr>
        <p:spPr>
          <a:xfrm>
            <a:off x="723280" y="5071679"/>
            <a:ext cx="1096488" cy="6900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Build 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" name="Google Shape;1724;p49">
            <a:extLst>
              <a:ext uri="{FF2B5EF4-FFF2-40B4-BE49-F238E27FC236}">
                <a16:creationId xmlns:a16="http://schemas.microsoft.com/office/drawing/2014/main" id="{40A20ED6-B604-3EEF-CDA7-B3285F6DFF0A}"/>
              </a:ext>
            </a:extLst>
          </p:cNvPr>
          <p:cNvSpPr/>
          <p:nvPr/>
        </p:nvSpPr>
        <p:spPr>
          <a:xfrm>
            <a:off x="2207771" y="5102415"/>
            <a:ext cx="1096488" cy="6900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Test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Google Shape;1725;p49">
            <a:extLst>
              <a:ext uri="{FF2B5EF4-FFF2-40B4-BE49-F238E27FC236}">
                <a16:creationId xmlns:a16="http://schemas.microsoft.com/office/drawing/2014/main" id="{D3215AC8-BD12-0876-E02A-AB562223D73E}"/>
              </a:ext>
            </a:extLst>
          </p:cNvPr>
          <p:cNvSpPr/>
          <p:nvPr/>
        </p:nvSpPr>
        <p:spPr>
          <a:xfrm>
            <a:off x="3616833" y="5067703"/>
            <a:ext cx="1542856" cy="6900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Acceptance test 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726;p49">
            <a:extLst>
              <a:ext uri="{FF2B5EF4-FFF2-40B4-BE49-F238E27FC236}">
                <a16:creationId xmlns:a16="http://schemas.microsoft.com/office/drawing/2014/main" id="{4F41FC61-B64E-ADB8-DB68-966D008DC4AC}"/>
              </a:ext>
            </a:extLst>
          </p:cNvPr>
          <p:cNvSpPr/>
          <p:nvPr/>
        </p:nvSpPr>
        <p:spPr>
          <a:xfrm>
            <a:off x="5509871" y="5102415"/>
            <a:ext cx="1937960" cy="6900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Deployment to </a:t>
            </a:r>
            <a:r>
              <a:rPr lang="en-US" sz="16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taging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" name="Google Shape;1727;p49">
            <a:extLst>
              <a:ext uri="{FF2B5EF4-FFF2-40B4-BE49-F238E27FC236}">
                <a16:creationId xmlns:a16="http://schemas.microsoft.com/office/drawing/2014/main" id="{F848C60E-3D5C-876E-9737-C07BA6CD34A3}"/>
              </a:ext>
            </a:extLst>
          </p:cNvPr>
          <p:cNvSpPr/>
          <p:nvPr/>
        </p:nvSpPr>
        <p:spPr>
          <a:xfrm>
            <a:off x="7836643" y="5067703"/>
            <a:ext cx="1542856" cy="6900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Deploy to production 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Google Shape;1728;p49">
            <a:extLst>
              <a:ext uri="{FF2B5EF4-FFF2-40B4-BE49-F238E27FC236}">
                <a16:creationId xmlns:a16="http://schemas.microsoft.com/office/drawing/2014/main" id="{8ACDF61A-FD25-2B9A-8653-F4AD0710250D}"/>
              </a:ext>
            </a:extLst>
          </p:cNvPr>
          <p:cNvSpPr/>
          <p:nvPr/>
        </p:nvSpPr>
        <p:spPr>
          <a:xfrm>
            <a:off x="9674771" y="5036967"/>
            <a:ext cx="1542856" cy="6900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Smoke test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" name="Google Shape;1729;p49">
            <a:extLst>
              <a:ext uri="{FF2B5EF4-FFF2-40B4-BE49-F238E27FC236}">
                <a16:creationId xmlns:a16="http://schemas.microsoft.com/office/drawing/2014/main" id="{28A0EC34-8A75-E2B1-E03D-B312BD77FA5B}"/>
              </a:ext>
            </a:extLst>
          </p:cNvPr>
          <p:cNvCxnSpPr/>
          <p:nvPr/>
        </p:nvCxnSpPr>
        <p:spPr>
          <a:xfrm>
            <a:off x="8341961" y="4214535"/>
            <a:ext cx="3400096" cy="13712"/>
          </a:xfrm>
          <a:prstGeom prst="straightConnector1">
            <a:avLst/>
          </a:prstGeom>
          <a:noFill/>
          <a:ln w="38100" cap="flat" cmpd="sng">
            <a:solidFill>
              <a:srgbClr val="757070"/>
            </a:solidFill>
            <a:prstDash val="dash"/>
            <a:round/>
            <a:headEnd type="none" w="sm" len="sm"/>
            <a:tailEnd type="triangle" w="lg" len="lg"/>
          </a:ln>
        </p:spPr>
      </p:cxnSp>
      <p:sp>
        <p:nvSpPr>
          <p:cNvPr id="23" name="Google Shape;1730;p49">
            <a:extLst>
              <a:ext uri="{FF2B5EF4-FFF2-40B4-BE49-F238E27FC236}">
                <a16:creationId xmlns:a16="http://schemas.microsoft.com/office/drawing/2014/main" id="{2A6499D9-BA9A-9A51-BB67-500BB23E3669}"/>
              </a:ext>
            </a:extLst>
          </p:cNvPr>
          <p:cNvSpPr/>
          <p:nvPr/>
        </p:nvSpPr>
        <p:spPr>
          <a:xfrm>
            <a:off x="9674771" y="3916926"/>
            <a:ext cx="1542856" cy="6900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Smoke test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" name="Google Shape;1731;p49">
            <a:extLst>
              <a:ext uri="{FF2B5EF4-FFF2-40B4-BE49-F238E27FC236}">
                <a16:creationId xmlns:a16="http://schemas.microsoft.com/office/drawing/2014/main" id="{D100C6B8-C1E5-2C3C-23D8-3CACA9FAEC86}"/>
              </a:ext>
            </a:extLst>
          </p:cNvPr>
          <p:cNvSpPr txBox="1"/>
          <p:nvPr/>
        </p:nvSpPr>
        <p:spPr>
          <a:xfrm>
            <a:off x="597941" y="3151861"/>
            <a:ext cx="3142936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Continuous Integration</a:t>
            </a:r>
            <a:endParaRPr sz="20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" name="Google Shape;1732;p49">
            <a:extLst>
              <a:ext uri="{FF2B5EF4-FFF2-40B4-BE49-F238E27FC236}">
                <a16:creationId xmlns:a16="http://schemas.microsoft.com/office/drawing/2014/main" id="{CAAC6543-1982-3E1E-1973-E76E4916B05F}"/>
              </a:ext>
            </a:extLst>
          </p:cNvPr>
          <p:cNvSpPr/>
          <p:nvPr/>
        </p:nvSpPr>
        <p:spPr>
          <a:xfrm>
            <a:off x="9635059" y="1648012"/>
            <a:ext cx="1542856" cy="69006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Manual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" name="Google Shape;1733;p49">
            <a:extLst>
              <a:ext uri="{FF2B5EF4-FFF2-40B4-BE49-F238E27FC236}">
                <a16:creationId xmlns:a16="http://schemas.microsoft.com/office/drawing/2014/main" id="{1BC6660D-CB82-9713-625C-DBC00EB47A51}"/>
              </a:ext>
            </a:extLst>
          </p:cNvPr>
          <p:cNvSpPr/>
          <p:nvPr/>
        </p:nvSpPr>
        <p:spPr>
          <a:xfrm>
            <a:off x="9635059" y="2417138"/>
            <a:ext cx="1542856" cy="6900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Automatic</a:t>
            </a:r>
            <a:endParaRPr sz="1467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" name="Google Shape;1734;p49">
            <a:extLst>
              <a:ext uri="{FF2B5EF4-FFF2-40B4-BE49-F238E27FC236}">
                <a16:creationId xmlns:a16="http://schemas.microsoft.com/office/drawing/2014/main" id="{1A8453EA-9466-E1E3-F657-6704249C3C2A}"/>
              </a:ext>
            </a:extLst>
          </p:cNvPr>
          <p:cNvSpPr/>
          <p:nvPr/>
        </p:nvSpPr>
        <p:spPr>
          <a:xfrm>
            <a:off x="8040405" y="3883212"/>
            <a:ext cx="1542856" cy="69006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Deploy to production </a:t>
            </a:r>
            <a:endParaRPr sz="1467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Google Shape;1735;p49">
            <a:extLst>
              <a:ext uri="{FF2B5EF4-FFF2-40B4-BE49-F238E27FC236}">
                <a16:creationId xmlns:a16="http://schemas.microsoft.com/office/drawing/2014/main" id="{EB7FCE52-62CD-4BC4-07EB-6890FF3C7E42}"/>
              </a:ext>
            </a:extLst>
          </p:cNvPr>
          <p:cNvSpPr txBox="1"/>
          <p:nvPr/>
        </p:nvSpPr>
        <p:spPr>
          <a:xfrm>
            <a:off x="6103134" y="3264470"/>
            <a:ext cx="2628193" cy="41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Continuous Delivery 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" name="Google Shape;1736;p49">
            <a:extLst>
              <a:ext uri="{FF2B5EF4-FFF2-40B4-BE49-F238E27FC236}">
                <a16:creationId xmlns:a16="http://schemas.microsoft.com/office/drawing/2014/main" id="{503D151F-1897-7571-B09F-736C55890EE3}"/>
              </a:ext>
            </a:extLst>
          </p:cNvPr>
          <p:cNvSpPr txBox="1"/>
          <p:nvPr/>
        </p:nvSpPr>
        <p:spPr>
          <a:xfrm>
            <a:off x="5899237" y="6090989"/>
            <a:ext cx="283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Continuous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eployment </a:t>
            </a:r>
            <a:endParaRPr sz="18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" name="Google Shape;1737;p49">
            <a:extLst>
              <a:ext uri="{FF2B5EF4-FFF2-40B4-BE49-F238E27FC236}">
                <a16:creationId xmlns:a16="http://schemas.microsoft.com/office/drawing/2014/main" id="{B9B3593C-5462-1DBE-226B-055CCE63E07B}"/>
              </a:ext>
            </a:extLst>
          </p:cNvPr>
          <p:cNvSpPr/>
          <p:nvPr/>
        </p:nvSpPr>
        <p:spPr>
          <a:xfrm>
            <a:off x="2046601" y="1129451"/>
            <a:ext cx="8098799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CONTINUOUS DELIVERY</a:t>
            </a:r>
            <a:r>
              <a:rPr lang="en-US" sz="24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AND CONTINUOUS DEPLOYMENT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222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232d3f3243_0_1333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43" name="Google Shape;1743;g2232d3f3243_0_1333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1744" name="Google Shape;1744;g2232d3f3243_0_1333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92100" marR="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1745" name="Google Shape;1745;g2232d3f3243_0_1333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59</a:t>
            </a:fld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46" name="Google Shape;1746;g2232d3f3243_0_13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g2232d3f3243_0_13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g2232d3f3243_0_1333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g2232d3f3243_0_1333"/>
          <p:cNvSpPr txBox="1"/>
          <p:nvPr/>
        </p:nvSpPr>
        <p:spPr>
          <a:xfrm>
            <a:off x="1004268" y="2390485"/>
            <a:ext cx="102687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 of the following statements is correct regarding continuous deployment and continuous delivery?</a:t>
            </a:r>
            <a:endParaRPr sz="2000" dirty="0">
              <a:solidFill>
                <a:srgbClr val="3F3F3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continuous delivery, every code change is built, tested, and then pushed to a non-production or staging environment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continuous delivery, every code change is ONLY compiled and tested</a:t>
            </a: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continuous deployment, every code change is built, tested, and then pushed to a staging and production environment without any manual approval</a:t>
            </a: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continuous delivery, every code change is built, tested, and pushed to a staging environment and then to the production environment with manual approval</a:t>
            </a:r>
            <a:endParaRPr sz="20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51" name="Google Shape;1751;g2232d3f3243_0_1333"/>
          <p:cNvSpPr txBox="1"/>
          <p:nvPr/>
        </p:nvSpPr>
        <p:spPr>
          <a:xfrm>
            <a:off x="1977325" y="680360"/>
            <a:ext cx="73245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Proxima Nova"/>
              <a:buNone/>
            </a:pP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r>
              <a:rPr lang="en-US" sz="480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 (15 seconds)</a:t>
            </a:r>
            <a:endParaRPr sz="4800" b="0" i="0" u="none" strike="noStrike" cap="none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8171448C-4534-99A8-379C-452C6C8BFD6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D662BF-AC55-73AF-5E83-757FD4D940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AD65B8-7EB2-2B35-8EFC-C609A713BA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ACC599-D35A-3E7D-2BAA-D371052807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A09A33-EA41-35FB-C7E6-37D64D4AC8A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71F39D-C8B1-6314-747F-416B9F8FB28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64;p59">
            <a:extLst>
              <a:ext uri="{FF2B5EF4-FFF2-40B4-BE49-F238E27FC236}">
                <a16:creationId xmlns:a16="http://schemas.microsoft.com/office/drawing/2014/main" id="{DBB32583-2150-1A5A-A686-7FF1D98DF09B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59</a:t>
            </a:fld>
            <a:endParaRPr lang="en-IN" sz="9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232d3f3243_0_1333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43" name="Google Shape;1743;g2232d3f3243_0_1333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1744" name="Google Shape;1744;g2232d3f3243_0_1333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92100" marR="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1745" name="Google Shape;1745;g2232d3f3243_0_1333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60</a:t>
            </a:fld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46" name="Google Shape;1746;g2232d3f3243_0_13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g2232d3f3243_0_13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g2232d3f3243_0_1333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g2232d3f3243_0_1333"/>
          <p:cNvSpPr txBox="1"/>
          <p:nvPr/>
        </p:nvSpPr>
        <p:spPr>
          <a:xfrm>
            <a:off x="1004268" y="2390485"/>
            <a:ext cx="102687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 of the following statements is correct regarding continuous deployment and continuous delivery?</a:t>
            </a:r>
            <a:endParaRPr sz="2000" dirty="0">
              <a:solidFill>
                <a:srgbClr val="3F3F3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In continuous delivery, every code change is built, tested, and then pushed to a non-production or staging environment</a:t>
            </a: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continuous delivery, every code change is ONLY compiled and tested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In continuous deployment, every code change is built, tested, and then pushed to a staging and production environment without any manual approval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In continuous delivery, every code change is built, tested, and pushed to a staging environment and then to the production environment with manual approval</a:t>
            </a:r>
          </a:p>
        </p:txBody>
      </p:sp>
      <p:sp>
        <p:nvSpPr>
          <p:cNvPr id="1751" name="Google Shape;1751;g2232d3f3243_0_1333"/>
          <p:cNvSpPr txBox="1"/>
          <p:nvPr/>
        </p:nvSpPr>
        <p:spPr>
          <a:xfrm>
            <a:off x="1977325" y="680360"/>
            <a:ext cx="73245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Proxima Nova"/>
              <a:buNone/>
            </a:pP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r>
              <a:rPr lang="en-US" sz="480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 (15 seconds)</a:t>
            </a:r>
            <a:endParaRPr sz="4800" b="0" i="0" u="none" strike="noStrike" cap="none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8171448C-4534-99A8-379C-452C6C8BFD6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D662BF-AC55-73AF-5E83-757FD4D940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AD65B8-7EB2-2B35-8EFC-C609A713BA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ACC599-D35A-3E7D-2BAA-D371052807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A09A33-EA41-35FB-C7E6-37D64D4AC8A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71F39D-C8B1-6314-747F-416B9F8FB28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64;p59">
            <a:extLst>
              <a:ext uri="{FF2B5EF4-FFF2-40B4-BE49-F238E27FC236}">
                <a16:creationId xmlns:a16="http://schemas.microsoft.com/office/drawing/2014/main" id="{DBB32583-2150-1A5A-A686-7FF1D98DF09B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60</a:t>
            </a:fld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8883569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72;p50">
            <a:extLst>
              <a:ext uri="{FF2B5EF4-FFF2-40B4-BE49-F238E27FC236}">
                <a16:creationId xmlns:a16="http://schemas.microsoft.com/office/drawing/2014/main" id="{7C13F077-FDCA-5E4E-C1EA-AF9815874E4C}"/>
              </a:ext>
            </a:extLst>
          </p:cNvPr>
          <p:cNvSpPr txBox="1"/>
          <p:nvPr/>
        </p:nvSpPr>
        <p:spPr>
          <a:xfrm>
            <a:off x="3290527" y="3336329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 follows agile principles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773;p50">
            <a:extLst>
              <a:ext uri="{FF2B5EF4-FFF2-40B4-BE49-F238E27FC236}">
                <a16:creationId xmlns:a16="http://schemas.microsoft.com/office/drawing/2014/main" id="{504BBF4E-94C8-1F56-42AD-535B4D446510}"/>
              </a:ext>
            </a:extLst>
          </p:cNvPr>
          <p:cNvSpPr txBox="1"/>
          <p:nvPr/>
        </p:nvSpPr>
        <p:spPr>
          <a:xfrm>
            <a:off x="3840900" y="1581151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 PRINCIPLES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774;p50">
            <a:extLst>
              <a:ext uri="{FF2B5EF4-FFF2-40B4-BE49-F238E27FC236}">
                <a16:creationId xmlns:a16="http://schemas.microsoft.com/office/drawing/2014/main" id="{089CF532-83EB-AD83-7731-CAE3DBA529CF}"/>
              </a:ext>
            </a:extLst>
          </p:cNvPr>
          <p:cNvSpPr txBox="1"/>
          <p:nvPr/>
        </p:nvSpPr>
        <p:spPr>
          <a:xfrm>
            <a:off x="3290527" y="2438845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Principle of cooperation between the Dev and Ops teams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775;p50">
            <a:extLst>
              <a:ext uri="{FF2B5EF4-FFF2-40B4-BE49-F238E27FC236}">
                <a16:creationId xmlns:a16="http://schemas.microsoft.com/office/drawing/2014/main" id="{43E4F2F9-67EF-6C2E-0AEA-3295E9C5F0BA}"/>
              </a:ext>
            </a:extLst>
          </p:cNvPr>
          <p:cNvSpPr txBox="1"/>
          <p:nvPr/>
        </p:nvSpPr>
        <p:spPr>
          <a:xfrm>
            <a:off x="3290527" y="5131297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 enables end-to-end agility with 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9"/>
                  </a:ext>
                </a:extLst>
              </a:rPr>
              <a:t>faster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and stable deployments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776;p50">
            <a:extLst>
              <a:ext uri="{FF2B5EF4-FFF2-40B4-BE49-F238E27FC236}">
                <a16:creationId xmlns:a16="http://schemas.microsoft.com/office/drawing/2014/main" id="{A2D4BD13-D57C-E2C8-3DC9-E108E0E969B6}"/>
              </a:ext>
            </a:extLst>
          </p:cNvPr>
          <p:cNvSpPr txBox="1"/>
          <p:nvPr/>
        </p:nvSpPr>
        <p:spPr>
          <a:xfrm>
            <a:off x="3290527" y="4233813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Building pipelines to 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0"/>
                  </a:ext>
                </a:extLst>
              </a:rPr>
              <a:t>deliver faster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with minimal wastage of resources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315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81;p51">
            <a:extLst>
              <a:ext uri="{FF2B5EF4-FFF2-40B4-BE49-F238E27FC236}">
                <a16:creationId xmlns:a16="http://schemas.microsoft.com/office/drawing/2014/main" id="{B8D34FEA-3CD0-AEE0-192F-37A06FA37B94}"/>
              </a:ext>
            </a:extLst>
          </p:cNvPr>
          <p:cNvSpPr/>
          <p:nvPr/>
        </p:nvSpPr>
        <p:spPr>
          <a:xfrm>
            <a:off x="3600450" y="1772132"/>
            <a:ext cx="4991100" cy="4602600"/>
          </a:xfrm>
          <a:prstGeom prst="roundRect">
            <a:avLst>
              <a:gd name="adj" fmla="val 553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the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fictional book </a:t>
            </a:r>
            <a:r>
              <a:rPr lang="en-US" sz="1800" b="0" i="1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Phoenix Project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 DevOps transformation in a company, the following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-US" sz="1800" b="1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1"/>
                  </a:ext>
                </a:extLst>
              </a:rPr>
              <a:t>Three Ways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” describe the principles of DevOps: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Systems thinking</a:t>
            </a:r>
            <a:r>
              <a:rPr lang="en-US" sz="18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Emphasis on the performance of whole systems rather than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their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Amplifying feedback loops</a:t>
            </a:r>
            <a:r>
              <a:rPr lang="en-US" sz="18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If code is broken, it should return to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2"/>
                  </a:ext>
                </a:extLst>
              </a:rPr>
              <a:t>Dev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as soon as possible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Culture of continuous experimentation and learning</a:t>
            </a:r>
            <a:r>
              <a:rPr lang="en-US" sz="18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reate a culture to encourage risk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taking and learning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782;p51">
            <a:extLst>
              <a:ext uri="{FF2B5EF4-FFF2-40B4-BE49-F238E27FC236}">
                <a16:creationId xmlns:a16="http://schemas.microsoft.com/office/drawing/2014/main" id="{B15B06BD-6939-B0DE-DF9D-73F010070C3D}"/>
              </a:ext>
            </a:extLst>
          </p:cNvPr>
          <p:cNvSpPr txBox="1"/>
          <p:nvPr/>
        </p:nvSpPr>
        <p:spPr>
          <a:xfrm>
            <a:off x="3839363" y="950096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 PRINCIPLES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248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787;p52">
            <a:extLst>
              <a:ext uri="{FF2B5EF4-FFF2-40B4-BE49-F238E27FC236}">
                <a16:creationId xmlns:a16="http://schemas.microsoft.com/office/drawing/2014/main" id="{FC3456B7-E865-0604-B2DC-7DD6BB9A6D82}"/>
              </a:ext>
            </a:extLst>
          </p:cNvPr>
          <p:cNvSpPr txBox="1"/>
          <p:nvPr/>
        </p:nvSpPr>
        <p:spPr>
          <a:xfrm>
            <a:off x="3015289" y="861069"/>
            <a:ext cx="6675224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PRINCIPLES</a:t>
            </a:r>
            <a:endParaRPr sz="2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" name="Google Shape;1788;p52">
            <a:extLst>
              <a:ext uri="{FF2B5EF4-FFF2-40B4-BE49-F238E27FC236}">
                <a16:creationId xmlns:a16="http://schemas.microsoft.com/office/drawing/2014/main" id="{CD7D8AF3-69C6-22FB-D48E-D56026CCEA48}"/>
              </a:ext>
            </a:extLst>
          </p:cNvPr>
          <p:cNvGrpSpPr/>
          <p:nvPr/>
        </p:nvGrpSpPr>
        <p:grpSpPr>
          <a:xfrm>
            <a:off x="1860550" y="1748932"/>
            <a:ext cx="8487794" cy="4851951"/>
            <a:chOff x="1860550" y="1026556"/>
            <a:chExt cx="8487794" cy="4851951"/>
          </a:xfrm>
        </p:grpSpPr>
        <p:pic>
          <p:nvPicPr>
            <p:cNvPr id="11" name="Google Shape;1789;p52">
              <a:extLst>
                <a:ext uri="{FF2B5EF4-FFF2-40B4-BE49-F238E27FC236}">
                  <a16:creationId xmlns:a16="http://schemas.microsoft.com/office/drawing/2014/main" id="{B1BCC1C7-96A3-B015-49B7-69D3002A95F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2160" t="15298" r="12160" b="15299"/>
            <a:stretch/>
          </p:blipFill>
          <p:spPr>
            <a:xfrm>
              <a:off x="5245689" y="2664333"/>
              <a:ext cx="1719024" cy="1576396"/>
            </a:xfrm>
            <a:prstGeom prst="roundRect">
              <a:avLst>
                <a:gd name="adj" fmla="val 4676"/>
              </a:avLst>
            </a:prstGeom>
            <a:noFill/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12" name="Google Shape;1790;p52">
              <a:extLst>
                <a:ext uri="{FF2B5EF4-FFF2-40B4-BE49-F238E27FC236}">
                  <a16:creationId xmlns:a16="http://schemas.microsoft.com/office/drawing/2014/main" id="{E7445140-19D0-1DF6-54E5-0568874CBC04}"/>
                </a:ext>
              </a:extLst>
            </p:cNvPr>
            <p:cNvCxnSpPr/>
            <p:nvPr/>
          </p:nvCxnSpPr>
          <p:spPr>
            <a:xfrm rot="10800000">
              <a:off x="4314381" y="1631477"/>
              <a:ext cx="948817" cy="1015357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3" name="Google Shape;1791;p52">
              <a:extLst>
                <a:ext uri="{FF2B5EF4-FFF2-40B4-BE49-F238E27FC236}">
                  <a16:creationId xmlns:a16="http://schemas.microsoft.com/office/drawing/2014/main" id="{535B40FB-B0DF-9BDD-70FC-732E9F0651BC}"/>
                </a:ext>
              </a:extLst>
            </p:cNvPr>
            <p:cNvCxnSpPr/>
            <p:nvPr/>
          </p:nvCxnSpPr>
          <p:spPr>
            <a:xfrm rot="10800000" flipH="1">
              <a:off x="7055783" y="1567247"/>
              <a:ext cx="948817" cy="1015357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4" name="Google Shape;1792;p52">
              <a:extLst>
                <a:ext uri="{FF2B5EF4-FFF2-40B4-BE49-F238E27FC236}">
                  <a16:creationId xmlns:a16="http://schemas.microsoft.com/office/drawing/2014/main" id="{10DCDB4C-4C4A-71BA-B49D-9C4E430D4F74}"/>
                </a:ext>
              </a:extLst>
            </p:cNvPr>
            <p:cNvCxnSpPr/>
            <p:nvPr/>
          </p:nvCxnSpPr>
          <p:spPr>
            <a:xfrm flipH="1">
              <a:off x="4314381" y="4281796"/>
              <a:ext cx="948817" cy="1015359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5" name="Google Shape;1793;p52">
              <a:extLst>
                <a:ext uri="{FF2B5EF4-FFF2-40B4-BE49-F238E27FC236}">
                  <a16:creationId xmlns:a16="http://schemas.microsoft.com/office/drawing/2014/main" id="{4A8681B3-DBBD-50AE-81E7-C47895D5D6BA}"/>
                </a:ext>
              </a:extLst>
            </p:cNvPr>
            <p:cNvCxnSpPr/>
            <p:nvPr/>
          </p:nvCxnSpPr>
          <p:spPr>
            <a:xfrm>
              <a:off x="7012064" y="4207146"/>
              <a:ext cx="948817" cy="1015359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6" name="Google Shape;1794;p52">
              <a:extLst>
                <a:ext uri="{FF2B5EF4-FFF2-40B4-BE49-F238E27FC236}">
                  <a16:creationId xmlns:a16="http://schemas.microsoft.com/office/drawing/2014/main" id="{4547D2E8-8CD0-CEF0-4F35-FD3D580A270B}"/>
                </a:ext>
              </a:extLst>
            </p:cNvPr>
            <p:cNvCxnSpPr>
              <a:stCxn id="11" idx="3"/>
              <a:endCxn id="22" idx="1"/>
            </p:cNvCxnSpPr>
            <p:nvPr/>
          </p:nvCxnSpPr>
          <p:spPr>
            <a:xfrm>
              <a:off x="6964713" y="3452531"/>
              <a:ext cx="10425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7" name="Google Shape;1796;p52">
              <a:extLst>
                <a:ext uri="{FF2B5EF4-FFF2-40B4-BE49-F238E27FC236}">
                  <a16:creationId xmlns:a16="http://schemas.microsoft.com/office/drawing/2014/main" id="{C61AD9C8-57FF-037E-D1FA-20DC519E7E22}"/>
                </a:ext>
              </a:extLst>
            </p:cNvPr>
            <p:cNvCxnSpPr>
              <a:stCxn id="11" idx="1"/>
              <a:endCxn id="19" idx="3"/>
            </p:cNvCxnSpPr>
            <p:nvPr/>
          </p:nvCxnSpPr>
          <p:spPr>
            <a:xfrm rot="10800000">
              <a:off x="4201689" y="3452531"/>
              <a:ext cx="1044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sp>
          <p:nvSpPr>
            <p:cNvPr id="18" name="Google Shape;1798;p52">
              <a:extLst>
                <a:ext uri="{FF2B5EF4-FFF2-40B4-BE49-F238E27FC236}">
                  <a16:creationId xmlns:a16="http://schemas.microsoft.com/office/drawing/2014/main" id="{08195008-E55F-010A-C7EB-05944A2F465F}"/>
                </a:ext>
              </a:extLst>
            </p:cNvPr>
            <p:cNvSpPr/>
            <p:nvPr/>
          </p:nvSpPr>
          <p:spPr>
            <a:xfrm>
              <a:off x="1860550" y="1026556"/>
              <a:ext cx="2341155" cy="1244839"/>
            </a:xfrm>
            <a:prstGeom prst="roundRect">
              <a:avLst>
                <a:gd name="adj" fmla="val 7877"/>
              </a:avLst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Create with an end goal in mind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797;p52">
              <a:extLst>
                <a:ext uri="{FF2B5EF4-FFF2-40B4-BE49-F238E27FC236}">
                  <a16:creationId xmlns:a16="http://schemas.microsoft.com/office/drawing/2014/main" id="{E01B6463-F2CD-EF53-2557-FC522D4FE94D}"/>
                </a:ext>
              </a:extLst>
            </p:cNvPr>
            <p:cNvSpPr/>
            <p:nvPr/>
          </p:nvSpPr>
          <p:spPr>
            <a:xfrm>
              <a:off x="1860550" y="2830112"/>
              <a:ext cx="2341200" cy="1244700"/>
            </a:xfrm>
            <a:prstGeom prst="roundRect">
              <a:avLst>
                <a:gd name="adj" fmla="val 7877"/>
              </a:avLst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Cross</a:t>
              </a:r>
              <a:r>
                <a:rPr lang="en-US" sz="1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functional autonomous teams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1799;p52">
              <a:extLst>
                <a:ext uri="{FF2B5EF4-FFF2-40B4-BE49-F238E27FC236}">
                  <a16:creationId xmlns:a16="http://schemas.microsoft.com/office/drawing/2014/main" id="{3137B029-AE80-BDDF-72A0-6BEF88D97A5C}"/>
                </a:ext>
              </a:extLst>
            </p:cNvPr>
            <p:cNvSpPr/>
            <p:nvPr/>
          </p:nvSpPr>
          <p:spPr>
            <a:xfrm>
              <a:off x="1860550" y="4633668"/>
              <a:ext cx="2341155" cy="1244839"/>
            </a:xfrm>
            <a:prstGeom prst="roundRect">
              <a:avLst>
                <a:gd name="adj" fmla="val 7877"/>
              </a:avLst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Automate </a:t>
              </a:r>
              <a:r>
                <a:rPr lang="en-US" sz="1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the maximum number of processes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800;p52">
              <a:extLst>
                <a:ext uri="{FF2B5EF4-FFF2-40B4-BE49-F238E27FC236}">
                  <a16:creationId xmlns:a16="http://schemas.microsoft.com/office/drawing/2014/main" id="{E4932B4D-14EA-92A5-616A-D134B18A4DD5}"/>
                </a:ext>
              </a:extLst>
            </p:cNvPr>
            <p:cNvSpPr/>
            <p:nvPr/>
          </p:nvSpPr>
          <p:spPr>
            <a:xfrm>
              <a:off x="8007189" y="1026556"/>
              <a:ext cx="2341155" cy="1244839"/>
            </a:xfrm>
            <a:prstGeom prst="roundRect">
              <a:avLst>
                <a:gd name="adj" fmla="val 787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Customer</a:t>
              </a:r>
              <a:r>
                <a:rPr lang="en-US" sz="1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centric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795;p52">
              <a:extLst>
                <a:ext uri="{FF2B5EF4-FFF2-40B4-BE49-F238E27FC236}">
                  <a16:creationId xmlns:a16="http://schemas.microsoft.com/office/drawing/2014/main" id="{3E873432-D0D8-CFD6-C691-72AA3F5D187A}"/>
                </a:ext>
              </a:extLst>
            </p:cNvPr>
            <p:cNvSpPr/>
            <p:nvPr/>
          </p:nvSpPr>
          <p:spPr>
            <a:xfrm>
              <a:off x="8007189" y="2830112"/>
              <a:ext cx="2341155" cy="1244839"/>
            </a:xfrm>
            <a:prstGeom prst="roundRect">
              <a:avLst>
                <a:gd name="adj" fmla="val 7877"/>
              </a:avLst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End</a:t>
              </a:r>
              <a:r>
                <a:rPr lang="en-US" sz="1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to</a:t>
              </a:r>
              <a:r>
                <a:rPr lang="en-US" sz="1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-e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nd responsibility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801;p52">
              <a:extLst>
                <a:ext uri="{FF2B5EF4-FFF2-40B4-BE49-F238E27FC236}">
                  <a16:creationId xmlns:a16="http://schemas.microsoft.com/office/drawing/2014/main" id="{2784226B-44B6-008D-B551-9FA0D0F50C8E}"/>
                </a:ext>
              </a:extLst>
            </p:cNvPr>
            <p:cNvSpPr/>
            <p:nvPr/>
          </p:nvSpPr>
          <p:spPr>
            <a:xfrm>
              <a:off x="8007189" y="4633668"/>
              <a:ext cx="2341155" cy="1244839"/>
            </a:xfrm>
            <a:prstGeom prst="roundRect">
              <a:avLst>
                <a:gd name="adj" fmla="val 7877"/>
              </a:avLst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3"/>
                    </a:ext>
                  </a:extLst>
                </a:rPr>
                <a:t>Continuous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experimentation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460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806;p53">
            <a:extLst>
              <a:ext uri="{FF2B5EF4-FFF2-40B4-BE49-F238E27FC236}">
                <a16:creationId xmlns:a16="http://schemas.microsoft.com/office/drawing/2014/main" id="{9C97F329-C110-C390-F738-2108300EC1B9}"/>
              </a:ext>
            </a:extLst>
          </p:cNvPr>
          <p:cNvSpPr/>
          <p:nvPr/>
        </p:nvSpPr>
        <p:spPr>
          <a:xfrm>
            <a:off x="2614092" y="5844537"/>
            <a:ext cx="7463358" cy="93842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0EC1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07;p53">
            <a:extLst>
              <a:ext uri="{FF2B5EF4-FFF2-40B4-BE49-F238E27FC236}">
                <a16:creationId xmlns:a16="http://schemas.microsoft.com/office/drawing/2014/main" id="{9D3885F5-E36D-326A-0206-3027A20DD83B}"/>
              </a:ext>
            </a:extLst>
          </p:cNvPr>
          <p:cNvSpPr txBox="1"/>
          <p:nvPr/>
        </p:nvSpPr>
        <p:spPr>
          <a:xfrm>
            <a:off x="3554676" y="6113695"/>
            <a:ext cx="5760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SHARING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4"/>
                  </a:ext>
                </a:extLst>
              </a:rPr>
              <a:t>Open minded; collaborative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808;p53">
            <a:extLst>
              <a:ext uri="{FF2B5EF4-FFF2-40B4-BE49-F238E27FC236}">
                <a16:creationId xmlns:a16="http://schemas.microsoft.com/office/drawing/2014/main" id="{AEF9A769-9808-6A3C-0D39-A25682CAFF2F}"/>
              </a:ext>
            </a:extLst>
          </p:cNvPr>
          <p:cNvSpPr/>
          <p:nvPr/>
        </p:nvSpPr>
        <p:spPr>
          <a:xfrm rot="8152625">
            <a:off x="2522837" y="5834516"/>
            <a:ext cx="961844" cy="961844"/>
          </a:xfrm>
          <a:prstGeom prst="ellipse">
            <a:avLst/>
          </a:prstGeom>
          <a:solidFill>
            <a:srgbClr val="0EC1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809;p53">
            <a:extLst>
              <a:ext uri="{FF2B5EF4-FFF2-40B4-BE49-F238E27FC236}">
                <a16:creationId xmlns:a16="http://schemas.microsoft.com/office/drawing/2014/main" id="{585314FB-2559-BE66-A14D-51E286641D56}"/>
              </a:ext>
            </a:extLst>
          </p:cNvPr>
          <p:cNvSpPr txBox="1"/>
          <p:nvPr/>
        </p:nvSpPr>
        <p:spPr>
          <a:xfrm>
            <a:off x="2797966" y="6053848"/>
            <a:ext cx="41158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endParaRPr sz="28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1810;p53">
            <a:extLst>
              <a:ext uri="{FF2B5EF4-FFF2-40B4-BE49-F238E27FC236}">
                <a16:creationId xmlns:a16="http://schemas.microsoft.com/office/drawing/2014/main" id="{6C178996-1AB2-A096-1A42-610891EEB7CD}"/>
              </a:ext>
            </a:extLst>
          </p:cNvPr>
          <p:cNvSpPr txBox="1"/>
          <p:nvPr/>
        </p:nvSpPr>
        <p:spPr>
          <a:xfrm>
            <a:off x="1936577" y="894706"/>
            <a:ext cx="83188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</a:t>
            </a: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CALMS FRAMEWORK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811;p53">
            <a:extLst>
              <a:ext uri="{FF2B5EF4-FFF2-40B4-BE49-F238E27FC236}">
                <a16:creationId xmlns:a16="http://schemas.microsoft.com/office/drawing/2014/main" id="{A6C0B9D3-873D-0829-9CC5-6CCA80531929}"/>
              </a:ext>
            </a:extLst>
          </p:cNvPr>
          <p:cNvSpPr/>
          <p:nvPr/>
        </p:nvSpPr>
        <p:spPr>
          <a:xfrm>
            <a:off x="2614093" y="4757460"/>
            <a:ext cx="7463358" cy="93842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22AF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812;p53">
            <a:extLst>
              <a:ext uri="{FF2B5EF4-FFF2-40B4-BE49-F238E27FC236}">
                <a16:creationId xmlns:a16="http://schemas.microsoft.com/office/drawing/2014/main" id="{49A9A409-AE6F-637C-D5E7-D8C99D16BD95}"/>
              </a:ext>
            </a:extLst>
          </p:cNvPr>
          <p:cNvSpPr/>
          <p:nvPr/>
        </p:nvSpPr>
        <p:spPr>
          <a:xfrm rot="8152625">
            <a:off x="2522837" y="4746649"/>
            <a:ext cx="961844" cy="961844"/>
          </a:xfrm>
          <a:prstGeom prst="teardrop">
            <a:avLst>
              <a:gd name="adj" fmla="val 100000"/>
            </a:avLst>
          </a:prstGeom>
          <a:solidFill>
            <a:srgbClr val="22A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813;p53">
            <a:extLst>
              <a:ext uri="{FF2B5EF4-FFF2-40B4-BE49-F238E27FC236}">
                <a16:creationId xmlns:a16="http://schemas.microsoft.com/office/drawing/2014/main" id="{26BD4DCA-1CB1-DF1D-E785-5142B68729F7}"/>
              </a:ext>
            </a:extLst>
          </p:cNvPr>
          <p:cNvSpPr/>
          <p:nvPr/>
        </p:nvSpPr>
        <p:spPr>
          <a:xfrm>
            <a:off x="2614092" y="3673007"/>
            <a:ext cx="7463358" cy="93842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814;p53">
            <a:extLst>
              <a:ext uri="{FF2B5EF4-FFF2-40B4-BE49-F238E27FC236}">
                <a16:creationId xmlns:a16="http://schemas.microsoft.com/office/drawing/2014/main" id="{3F55E63B-E55F-71E2-0B08-BEFA5003B829}"/>
              </a:ext>
            </a:extLst>
          </p:cNvPr>
          <p:cNvSpPr/>
          <p:nvPr/>
        </p:nvSpPr>
        <p:spPr>
          <a:xfrm rot="8152625">
            <a:off x="2522837" y="3662196"/>
            <a:ext cx="961844" cy="961844"/>
          </a:xfrm>
          <a:prstGeom prst="teardrop">
            <a:avLst>
              <a:gd name="adj" fmla="val 100000"/>
            </a:avLst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15;p53">
            <a:extLst>
              <a:ext uri="{FF2B5EF4-FFF2-40B4-BE49-F238E27FC236}">
                <a16:creationId xmlns:a16="http://schemas.microsoft.com/office/drawing/2014/main" id="{CE9874B6-548D-F0FF-A65D-E0E65CFEE1DE}"/>
              </a:ext>
            </a:extLst>
          </p:cNvPr>
          <p:cNvSpPr txBox="1"/>
          <p:nvPr/>
        </p:nvSpPr>
        <p:spPr>
          <a:xfrm>
            <a:off x="3554676" y="3788277"/>
            <a:ext cx="602323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LEAN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Producing value for the end user;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5"/>
                  </a:ext>
                </a:extLst>
              </a:rPr>
              <a:t>small batches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816;p53">
            <a:extLst>
              <a:ext uri="{FF2B5EF4-FFF2-40B4-BE49-F238E27FC236}">
                <a16:creationId xmlns:a16="http://schemas.microsoft.com/office/drawing/2014/main" id="{27701DC0-BBDB-5BCF-00AB-5F91152A5959}"/>
              </a:ext>
            </a:extLst>
          </p:cNvPr>
          <p:cNvSpPr/>
          <p:nvPr/>
        </p:nvSpPr>
        <p:spPr>
          <a:xfrm>
            <a:off x="2614092" y="2582704"/>
            <a:ext cx="7463358" cy="93842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4890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817;p53">
            <a:extLst>
              <a:ext uri="{FF2B5EF4-FFF2-40B4-BE49-F238E27FC236}">
                <a16:creationId xmlns:a16="http://schemas.microsoft.com/office/drawing/2014/main" id="{3D67F0F5-0A2F-E146-FFF9-D008E5679AE0}"/>
              </a:ext>
            </a:extLst>
          </p:cNvPr>
          <p:cNvSpPr txBox="1"/>
          <p:nvPr/>
        </p:nvSpPr>
        <p:spPr>
          <a:xfrm>
            <a:off x="3554676" y="2851862"/>
            <a:ext cx="602323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AUTOMATION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6"/>
                  </a:ext>
                </a:extLst>
              </a:rPr>
              <a:t>CI/CD; Infrastructure as a Code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818;p53">
            <a:extLst>
              <a:ext uri="{FF2B5EF4-FFF2-40B4-BE49-F238E27FC236}">
                <a16:creationId xmlns:a16="http://schemas.microsoft.com/office/drawing/2014/main" id="{96300D0F-5F67-AE84-7E40-AEB7EF66DED5}"/>
              </a:ext>
            </a:extLst>
          </p:cNvPr>
          <p:cNvSpPr/>
          <p:nvPr/>
        </p:nvSpPr>
        <p:spPr>
          <a:xfrm rot="8152625">
            <a:off x="2522837" y="2571893"/>
            <a:ext cx="961844" cy="961844"/>
          </a:xfrm>
          <a:prstGeom prst="teardrop">
            <a:avLst>
              <a:gd name="adj" fmla="val 100000"/>
            </a:avLst>
          </a:prstGeom>
          <a:solidFill>
            <a:srgbClr val="4890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819;p53">
            <a:extLst>
              <a:ext uri="{FF2B5EF4-FFF2-40B4-BE49-F238E27FC236}">
                <a16:creationId xmlns:a16="http://schemas.microsoft.com/office/drawing/2014/main" id="{9E3F20A7-2215-7251-0C0E-DA615A21FB1E}"/>
              </a:ext>
            </a:extLst>
          </p:cNvPr>
          <p:cNvSpPr/>
          <p:nvPr/>
        </p:nvSpPr>
        <p:spPr>
          <a:xfrm>
            <a:off x="2614092" y="1498880"/>
            <a:ext cx="7463358" cy="93842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FAA7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1820;p53">
            <a:extLst>
              <a:ext uri="{FF2B5EF4-FFF2-40B4-BE49-F238E27FC236}">
                <a16:creationId xmlns:a16="http://schemas.microsoft.com/office/drawing/2014/main" id="{084F078F-620C-8C30-4031-E29A9D7C4FEF}"/>
              </a:ext>
            </a:extLst>
          </p:cNvPr>
          <p:cNvSpPr/>
          <p:nvPr/>
        </p:nvSpPr>
        <p:spPr>
          <a:xfrm rot="8152625">
            <a:off x="2522837" y="1488069"/>
            <a:ext cx="961844" cy="961844"/>
          </a:xfrm>
          <a:prstGeom prst="teardrop">
            <a:avLst>
              <a:gd name="adj" fmla="val 100000"/>
            </a:avLst>
          </a:prstGeom>
          <a:solidFill>
            <a:srgbClr val="FAA7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821;p53">
            <a:extLst>
              <a:ext uri="{FF2B5EF4-FFF2-40B4-BE49-F238E27FC236}">
                <a16:creationId xmlns:a16="http://schemas.microsoft.com/office/drawing/2014/main" id="{362BC9E4-5CCA-65D4-8720-47E3C0C78978}"/>
              </a:ext>
            </a:extLst>
          </p:cNvPr>
          <p:cNvSpPr txBox="1"/>
          <p:nvPr/>
        </p:nvSpPr>
        <p:spPr>
          <a:xfrm>
            <a:off x="3554676" y="1614150"/>
            <a:ext cx="583935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CULTURE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Embrace change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7"/>
                  </a:ext>
                </a:extLst>
              </a:rPr>
              <a:t>from the heart and mind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822;p53">
            <a:extLst>
              <a:ext uri="{FF2B5EF4-FFF2-40B4-BE49-F238E27FC236}">
                <a16:creationId xmlns:a16="http://schemas.microsoft.com/office/drawing/2014/main" id="{BBDC489F-ECEA-51A2-1C0F-631DA2F59486}"/>
              </a:ext>
            </a:extLst>
          </p:cNvPr>
          <p:cNvSpPr txBox="1"/>
          <p:nvPr/>
        </p:nvSpPr>
        <p:spPr>
          <a:xfrm>
            <a:off x="3554675" y="5026618"/>
            <a:ext cx="631361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MEASURE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8"/>
                  </a:ext>
                </a:extLst>
              </a:rPr>
              <a:t>Measure everything; show improvement</a:t>
            </a:r>
            <a:endParaRPr sz="2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" name="Google Shape;1823;p53">
            <a:extLst>
              <a:ext uri="{FF2B5EF4-FFF2-40B4-BE49-F238E27FC236}">
                <a16:creationId xmlns:a16="http://schemas.microsoft.com/office/drawing/2014/main" id="{88622690-AB13-7578-8C93-A81BC95A28DF}"/>
              </a:ext>
            </a:extLst>
          </p:cNvPr>
          <p:cNvSpPr txBox="1"/>
          <p:nvPr/>
        </p:nvSpPr>
        <p:spPr>
          <a:xfrm>
            <a:off x="2797966" y="2791225"/>
            <a:ext cx="41158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28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" name="Google Shape;1824;p53">
            <a:extLst>
              <a:ext uri="{FF2B5EF4-FFF2-40B4-BE49-F238E27FC236}">
                <a16:creationId xmlns:a16="http://schemas.microsoft.com/office/drawing/2014/main" id="{FF1FEBCF-06E3-1B17-21AA-C2F956390912}"/>
              </a:ext>
            </a:extLst>
          </p:cNvPr>
          <p:cNvSpPr txBox="1"/>
          <p:nvPr/>
        </p:nvSpPr>
        <p:spPr>
          <a:xfrm>
            <a:off x="2797966" y="3881528"/>
            <a:ext cx="41158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endParaRPr sz="28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Google Shape;1825;p53">
            <a:extLst>
              <a:ext uri="{FF2B5EF4-FFF2-40B4-BE49-F238E27FC236}">
                <a16:creationId xmlns:a16="http://schemas.microsoft.com/office/drawing/2014/main" id="{02D3F691-B3B7-11FA-305B-67E890F539BB}"/>
              </a:ext>
            </a:extLst>
          </p:cNvPr>
          <p:cNvSpPr txBox="1"/>
          <p:nvPr/>
        </p:nvSpPr>
        <p:spPr>
          <a:xfrm>
            <a:off x="2797966" y="4965981"/>
            <a:ext cx="41158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endParaRPr sz="28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" name="Google Shape;1826;p53">
            <a:extLst>
              <a:ext uri="{FF2B5EF4-FFF2-40B4-BE49-F238E27FC236}">
                <a16:creationId xmlns:a16="http://schemas.microsoft.com/office/drawing/2014/main" id="{48C4BAC8-CAF3-1237-9A16-0E655B685BA3}"/>
              </a:ext>
            </a:extLst>
          </p:cNvPr>
          <p:cNvSpPr txBox="1"/>
          <p:nvPr/>
        </p:nvSpPr>
        <p:spPr>
          <a:xfrm>
            <a:off x="2797966" y="1707401"/>
            <a:ext cx="41158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28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3704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1832;p56">
            <a:extLst>
              <a:ext uri="{FF2B5EF4-FFF2-40B4-BE49-F238E27FC236}">
                <a16:creationId xmlns:a16="http://schemas.microsoft.com/office/drawing/2014/main" id="{98A6AE25-A6BC-0AD9-E9BB-546C037AC7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46655" y="2784046"/>
            <a:ext cx="5165663" cy="3440331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833;p56">
            <a:extLst>
              <a:ext uri="{FF2B5EF4-FFF2-40B4-BE49-F238E27FC236}">
                <a16:creationId xmlns:a16="http://schemas.microsoft.com/office/drawing/2014/main" id="{101E1330-E4D0-9D50-B4A1-F9183B4E5DA3}"/>
              </a:ext>
            </a:extLst>
          </p:cNvPr>
          <p:cNvSpPr txBox="1"/>
          <p:nvPr/>
        </p:nvSpPr>
        <p:spPr>
          <a:xfrm>
            <a:off x="2758388" y="915729"/>
            <a:ext cx="6675224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BEST PRACTICES</a:t>
            </a:r>
            <a:endParaRPr sz="2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" name="Google Shape;1834;p56">
            <a:extLst>
              <a:ext uri="{FF2B5EF4-FFF2-40B4-BE49-F238E27FC236}">
                <a16:creationId xmlns:a16="http://schemas.microsoft.com/office/drawing/2014/main" id="{D61EF223-328E-96AE-86E9-A492D6630E6D}"/>
              </a:ext>
            </a:extLst>
          </p:cNvPr>
          <p:cNvGrpSpPr/>
          <p:nvPr/>
        </p:nvGrpSpPr>
        <p:grpSpPr>
          <a:xfrm>
            <a:off x="555280" y="2162181"/>
            <a:ext cx="4655349" cy="1132690"/>
            <a:chOff x="6389225" y="1006997"/>
            <a:chExt cx="4726281" cy="774635"/>
          </a:xfrm>
        </p:grpSpPr>
        <p:sp>
          <p:nvSpPr>
            <p:cNvPr id="12" name="Google Shape;1835;p56">
              <a:extLst>
                <a:ext uri="{FF2B5EF4-FFF2-40B4-BE49-F238E27FC236}">
                  <a16:creationId xmlns:a16="http://schemas.microsoft.com/office/drawing/2014/main" id="{57FD5406-3568-56AE-3B42-55639D726A30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1836;p56">
              <a:extLst>
                <a:ext uri="{FF2B5EF4-FFF2-40B4-BE49-F238E27FC236}">
                  <a16:creationId xmlns:a16="http://schemas.microsoft.com/office/drawing/2014/main" id="{BCEE984F-9BB2-162B-5466-858445B8E2B6}"/>
                </a:ext>
              </a:extLst>
            </p:cNvPr>
            <p:cNvSpPr txBox="1"/>
            <p:nvPr/>
          </p:nvSpPr>
          <p:spPr>
            <a:xfrm>
              <a:off x="6929457" y="1160981"/>
              <a:ext cx="3645818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Using </a:t>
              </a:r>
              <a:r>
                <a:rPr lang="en-US" sz="2000" b="1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the </a:t>
              </a: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Version Control System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" name="Google Shape;1837;p56">
            <a:extLst>
              <a:ext uri="{FF2B5EF4-FFF2-40B4-BE49-F238E27FC236}">
                <a16:creationId xmlns:a16="http://schemas.microsoft.com/office/drawing/2014/main" id="{1515FA82-3183-65CB-D55E-446705220B05}"/>
              </a:ext>
            </a:extLst>
          </p:cNvPr>
          <p:cNvCxnSpPr/>
          <p:nvPr/>
        </p:nvCxnSpPr>
        <p:spPr>
          <a:xfrm>
            <a:off x="5368320" y="5658032"/>
            <a:ext cx="920644" cy="0"/>
          </a:xfrm>
          <a:prstGeom prst="straightConnector1">
            <a:avLst/>
          </a:prstGeom>
          <a:noFill/>
          <a:ln w="28575" cap="flat" cmpd="sng">
            <a:solidFill>
              <a:srgbClr val="9C9C9C"/>
            </a:solidFill>
            <a:prstDash val="solid"/>
            <a:round/>
            <a:headEnd type="none" w="sm" len="sm"/>
            <a:tailEnd type="triangle" w="lg" len="lg"/>
          </a:ln>
        </p:spPr>
      </p:cxnSp>
      <p:grpSp>
        <p:nvGrpSpPr>
          <p:cNvPr id="15" name="Google Shape;1838;p56">
            <a:extLst>
              <a:ext uri="{FF2B5EF4-FFF2-40B4-BE49-F238E27FC236}">
                <a16:creationId xmlns:a16="http://schemas.microsoft.com/office/drawing/2014/main" id="{235FFB03-3176-09FF-2D14-8C4FA9BAD7EA}"/>
              </a:ext>
            </a:extLst>
          </p:cNvPr>
          <p:cNvGrpSpPr/>
          <p:nvPr/>
        </p:nvGrpSpPr>
        <p:grpSpPr>
          <a:xfrm>
            <a:off x="555280" y="3626934"/>
            <a:ext cx="4655349" cy="1132690"/>
            <a:chOff x="555280" y="3483244"/>
            <a:chExt cx="4655349" cy="1132690"/>
          </a:xfrm>
        </p:grpSpPr>
        <p:sp>
          <p:nvSpPr>
            <p:cNvPr id="16" name="Google Shape;1839;p56">
              <a:extLst>
                <a:ext uri="{FF2B5EF4-FFF2-40B4-BE49-F238E27FC236}">
                  <a16:creationId xmlns:a16="http://schemas.microsoft.com/office/drawing/2014/main" id="{6D4D18FA-450C-1B31-FAEE-050BCE0418ED}"/>
                </a:ext>
              </a:extLst>
            </p:cNvPr>
            <p:cNvSpPr/>
            <p:nvPr/>
          </p:nvSpPr>
          <p:spPr>
            <a:xfrm>
              <a:off x="555280" y="3483244"/>
              <a:ext cx="4655349" cy="113269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" name="Google Shape;1840;p56">
              <a:extLst>
                <a:ext uri="{FF2B5EF4-FFF2-40B4-BE49-F238E27FC236}">
                  <a16:creationId xmlns:a16="http://schemas.microsoft.com/office/drawing/2014/main" id="{F9ECC26D-8425-00A3-1074-2D2BD96C8586}"/>
                </a:ext>
              </a:extLst>
            </p:cNvPr>
            <p:cNvSpPr txBox="1"/>
            <p:nvPr/>
          </p:nvSpPr>
          <p:spPr>
            <a:xfrm>
              <a:off x="1087404" y="3708403"/>
              <a:ext cx="3591102" cy="6823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Continuous Integration and Delivery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41;p56">
            <a:extLst>
              <a:ext uri="{FF2B5EF4-FFF2-40B4-BE49-F238E27FC236}">
                <a16:creationId xmlns:a16="http://schemas.microsoft.com/office/drawing/2014/main" id="{93A3AB37-92D8-B691-F638-03BFB6283941}"/>
              </a:ext>
            </a:extLst>
          </p:cNvPr>
          <p:cNvGrpSpPr/>
          <p:nvPr/>
        </p:nvGrpSpPr>
        <p:grpSpPr>
          <a:xfrm>
            <a:off x="555280" y="5091687"/>
            <a:ext cx="4655349" cy="1132690"/>
            <a:chOff x="6389225" y="1006997"/>
            <a:chExt cx="4726281" cy="774635"/>
          </a:xfrm>
        </p:grpSpPr>
        <p:sp>
          <p:nvSpPr>
            <p:cNvPr id="19" name="Google Shape;1842;p56">
              <a:extLst>
                <a:ext uri="{FF2B5EF4-FFF2-40B4-BE49-F238E27FC236}">
                  <a16:creationId xmlns:a16="http://schemas.microsoft.com/office/drawing/2014/main" id="{AF72FD47-AF1D-5BA2-FCDD-8C215D25A7C6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" name="Google Shape;1843;p56">
              <a:extLst>
                <a:ext uri="{FF2B5EF4-FFF2-40B4-BE49-F238E27FC236}">
                  <a16:creationId xmlns:a16="http://schemas.microsoft.com/office/drawing/2014/main" id="{90E5BA49-3D24-20EF-F5E8-6C3B81D16FD8}"/>
                </a:ext>
              </a:extLst>
            </p:cNvPr>
            <p:cNvSpPr txBox="1"/>
            <p:nvPr/>
          </p:nvSpPr>
          <p:spPr>
            <a:xfrm>
              <a:off x="6929457" y="1160981"/>
              <a:ext cx="3645818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Containeri</a:t>
              </a:r>
              <a:r>
                <a:rPr lang="en-US" sz="2000" b="1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z</a:t>
              </a: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ation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034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1849;p59">
            <a:extLst>
              <a:ext uri="{FF2B5EF4-FFF2-40B4-BE49-F238E27FC236}">
                <a16:creationId xmlns:a16="http://schemas.microsoft.com/office/drawing/2014/main" id="{C88C347C-10D7-4C5D-393F-EC1D41071CA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4150" y="3733791"/>
            <a:ext cx="5285232" cy="2642616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850;p59">
            <a:extLst>
              <a:ext uri="{FF2B5EF4-FFF2-40B4-BE49-F238E27FC236}">
                <a16:creationId xmlns:a16="http://schemas.microsoft.com/office/drawing/2014/main" id="{69CC9490-A22A-DA8D-7889-9174AF505E71}"/>
              </a:ext>
            </a:extLst>
          </p:cNvPr>
          <p:cNvSpPr txBox="1"/>
          <p:nvPr/>
        </p:nvSpPr>
        <p:spPr>
          <a:xfrm>
            <a:off x="2758388" y="1113485"/>
            <a:ext cx="6675224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BEST PRACTICES</a:t>
            </a:r>
            <a:endParaRPr sz="2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" name="Google Shape;1851;p59">
            <a:extLst>
              <a:ext uri="{FF2B5EF4-FFF2-40B4-BE49-F238E27FC236}">
                <a16:creationId xmlns:a16="http://schemas.microsoft.com/office/drawing/2014/main" id="{862C46E7-B5E2-E481-8D00-343FAD684AB4}"/>
              </a:ext>
            </a:extLst>
          </p:cNvPr>
          <p:cNvGrpSpPr/>
          <p:nvPr/>
        </p:nvGrpSpPr>
        <p:grpSpPr>
          <a:xfrm>
            <a:off x="555280" y="1997589"/>
            <a:ext cx="4655349" cy="1132690"/>
            <a:chOff x="6389225" y="1006997"/>
            <a:chExt cx="4726281" cy="774635"/>
          </a:xfrm>
        </p:grpSpPr>
        <p:sp>
          <p:nvSpPr>
            <p:cNvPr id="12" name="Google Shape;1852;p59">
              <a:extLst>
                <a:ext uri="{FF2B5EF4-FFF2-40B4-BE49-F238E27FC236}">
                  <a16:creationId xmlns:a16="http://schemas.microsoft.com/office/drawing/2014/main" id="{61453D3F-88CA-CD0A-AD0F-B6CDCC42DDB8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1853;p59">
              <a:extLst>
                <a:ext uri="{FF2B5EF4-FFF2-40B4-BE49-F238E27FC236}">
                  <a16:creationId xmlns:a16="http://schemas.microsoft.com/office/drawing/2014/main" id="{D412BB5B-8201-46A9-2E77-F69087DB0881}"/>
                </a:ext>
              </a:extLst>
            </p:cNvPr>
            <p:cNvSpPr txBox="1"/>
            <p:nvPr/>
          </p:nvSpPr>
          <p:spPr>
            <a:xfrm>
              <a:off x="6929457" y="1160981"/>
              <a:ext cx="3645818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Infrastructure as a Code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" name="Google Shape;1854;p59">
            <a:extLst>
              <a:ext uri="{FF2B5EF4-FFF2-40B4-BE49-F238E27FC236}">
                <a16:creationId xmlns:a16="http://schemas.microsoft.com/office/drawing/2014/main" id="{457F7BAA-C568-BA71-121F-0F3BEA4E293F}"/>
              </a:ext>
            </a:extLst>
          </p:cNvPr>
          <p:cNvCxnSpPr/>
          <p:nvPr/>
        </p:nvCxnSpPr>
        <p:spPr>
          <a:xfrm>
            <a:off x="5368320" y="5493440"/>
            <a:ext cx="920644" cy="0"/>
          </a:xfrm>
          <a:prstGeom prst="straightConnector1">
            <a:avLst/>
          </a:prstGeom>
          <a:noFill/>
          <a:ln w="28575" cap="flat" cmpd="sng">
            <a:solidFill>
              <a:srgbClr val="9C9C9C"/>
            </a:solidFill>
            <a:prstDash val="solid"/>
            <a:round/>
            <a:headEnd type="none" w="sm" len="sm"/>
            <a:tailEnd type="triangle" w="lg" len="lg"/>
          </a:ln>
        </p:spPr>
      </p:cxnSp>
      <p:grpSp>
        <p:nvGrpSpPr>
          <p:cNvPr id="15" name="Google Shape;1855;p59">
            <a:extLst>
              <a:ext uri="{FF2B5EF4-FFF2-40B4-BE49-F238E27FC236}">
                <a16:creationId xmlns:a16="http://schemas.microsoft.com/office/drawing/2014/main" id="{94FCCBB1-1E4C-525A-D33A-0C2FBCF8A18E}"/>
              </a:ext>
            </a:extLst>
          </p:cNvPr>
          <p:cNvGrpSpPr/>
          <p:nvPr/>
        </p:nvGrpSpPr>
        <p:grpSpPr>
          <a:xfrm>
            <a:off x="555280" y="3462342"/>
            <a:ext cx="4655349" cy="1132690"/>
            <a:chOff x="555280" y="3483244"/>
            <a:chExt cx="4655349" cy="1132690"/>
          </a:xfrm>
        </p:grpSpPr>
        <p:sp>
          <p:nvSpPr>
            <p:cNvPr id="16" name="Google Shape;1856;p59">
              <a:extLst>
                <a:ext uri="{FF2B5EF4-FFF2-40B4-BE49-F238E27FC236}">
                  <a16:creationId xmlns:a16="http://schemas.microsoft.com/office/drawing/2014/main" id="{D0B9F329-DDB6-ABA2-CEAF-D01053D56FF9}"/>
                </a:ext>
              </a:extLst>
            </p:cNvPr>
            <p:cNvSpPr/>
            <p:nvPr/>
          </p:nvSpPr>
          <p:spPr>
            <a:xfrm>
              <a:off x="555280" y="3483244"/>
              <a:ext cx="4655349" cy="113269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" name="Google Shape;1857;p59">
              <a:extLst>
                <a:ext uri="{FF2B5EF4-FFF2-40B4-BE49-F238E27FC236}">
                  <a16:creationId xmlns:a16="http://schemas.microsoft.com/office/drawing/2014/main" id="{E5DAB52A-AC83-390E-CDCE-8DB60C9BFF54}"/>
                </a:ext>
              </a:extLst>
            </p:cNvPr>
            <p:cNvSpPr txBox="1"/>
            <p:nvPr/>
          </p:nvSpPr>
          <p:spPr>
            <a:xfrm>
              <a:off x="1087404" y="3708403"/>
              <a:ext cx="3591102" cy="6823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Continuous Monitoring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58;p59">
            <a:extLst>
              <a:ext uri="{FF2B5EF4-FFF2-40B4-BE49-F238E27FC236}">
                <a16:creationId xmlns:a16="http://schemas.microsoft.com/office/drawing/2014/main" id="{8CE1EEEF-1FE7-1AD9-84C5-C05044158D10}"/>
              </a:ext>
            </a:extLst>
          </p:cNvPr>
          <p:cNvGrpSpPr/>
          <p:nvPr/>
        </p:nvGrpSpPr>
        <p:grpSpPr>
          <a:xfrm>
            <a:off x="555280" y="4927095"/>
            <a:ext cx="4655349" cy="1132690"/>
            <a:chOff x="6389225" y="1006997"/>
            <a:chExt cx="4726281" cy="774635"/>
          </a:xfrm>
        </p:grpSpPr>
        <p:sp>
          <p:nvSpPr>
            <p:cNvPr id="19" name="Google Shape;1859;p59">
              <a:extLst>
                <a:ext uri="{FF2B5EF4-FFF2-40B4-BE49-F238E27FC236}">
                  <a16:creationId xmlns:a16="http://schemas.microsoft.com/office/drawing/2014/main" id="{C6400D9A-763A-8532-121E-ACF9E3C92791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" name="Google Shape;1860;p59">
              <a:extLst>
                <a:ext uri="{FF2B5EF4-FFF2-40B4-BE49-F238E27FC236}">
                  <a16:creationId xmlns:a16="http://schemas.microsoft.com/office/drawing/2014/main" id="{6E45F803-C190-506C-E564-6836324D4F3A}"/>
                </a:ext>
              </a:extLst>
            </p:cNvPr>
            <p:cNvSpPr txBox="1"/>
            <p:nvPr/>
          </p:nvSpPr>
          <p:spPr>
            <a:xfrm>
              <a:off x="6929457" y="1160981"/>
              <a:ext cx="3645818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Communication and Collaboration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396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865;p60">
            <a:extLst>
              <a:ext uri="{FF2B5EF4-FFF2-40B4-BE49-F238E27FC236}">
                <a16:creationId xmlns:a16="http://schemas.microsoft.com/office/drawing/2014/main" id="{6F24BB0B-72A1-83C4-F847-4E63F2149D3D}"/>
              </a:ext>
            </a:extLst>
          </p:cNvPr>
          <p:cNvSpPr/>
          <p:nvPr/>
        </p:nvSpPr>
        <p:spPr>
          <a:xfrm>
            <a:off x="3667680" y="2080120"/>
            <a:ext cx="5339996" cy="4602600"/>
          </a:xfrm>
          <a:prstGeom prst="roundRect">
            <a:avLst>
              <a:gd name="adj" fmla="val 553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MVP is built with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9"/>
                  </a:ext>
                </a:extLst>
              </a:rPr>
              <a:t>an assumption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is subjected to changes at various stages of its development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Continuous integration and continuous delivery (CICD) tools increase the velocity of updates and help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deliver according to the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0"/>
                  </a:ext>
                </a:extLst>
              </a:rPr>
              <a:t>market dynamics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With time, the demand will increase, and you must scale your MVP. DevOps with IaaC and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1"/>
                  </a:ext>
                </a:extLst>
              </a:rPr>
              <a:t>Containeri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2"/>
                  </a:ext>
                </a:extLst>
              </a:rPr>
              <a:t>z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3"/>
                  </a:ext>
                </a:extLst>
              </a:rPr>
              <a:t>ation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ease this scaling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If customer needs are different, with the </a:t>
            </a:r>
            <a:r>
              <a:rPr lang="en-US" sz="16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microservice</a:t>
            </a:r>
            <a:r>
              <a:rPr lang="en-US" sz="16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architecture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you can easily update and deploy without significant downtime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Inculcating the DevOps culture from the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4"/>
                  </a:ext>
                </a:extLst>
              </a:rPr>
              <a:t>starting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stage of MVP can help accelerate the development toward the final product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66;p60">
            <a:extLst>
              <a:ext uri="{FF2B5EF4-FFF2-40B4-BE49-F238E27FC236}">
                <a16:creationId xmlns:a16="http://schemas.microsoft.com/office/drawing/2014/main" id="{0C84C337-4805-117E-1ED8-5C2D8CCCD102}"/>
              </a:ext>
            </a:extLst>
          </p:cNvPr>
          <p:cNvSpPr txBox="1"/>
          <p:nvPr/>
        </p:nvSpPr>
        <p:spPr>
          <a:xfrm>
            <a:off x="3924939" y="1147252"/>
            <a:ext cx="4825479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DEVOPS: ACCELERATING FROM AN MVP TO A PRODUCT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914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871;p61">
            <a:extLst>
              <a:ext uri="{FF2B5EF4-FFF2-40B4-BE49-F238E27FC236}">
                <a16:creationId xmlns:a16="http://schemas.microsoft.com/office/drawing/2014/main" id="{2491A050-BD1A-EA00-3021-19883BE11451}"/>
              </a:ext>
            </a:extLst>
          </p:cNvPr>
          <p:cNvSpPr txBox="1"/>
          <p:nvPr/>
        </p:nvSpPr>
        <p:spPr>
          <a:xfrm>
            <a:off x="2904600" y="1299262"/>
            <a:ext cx="6382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CASE STUDY</a:t>
            </a:r>
            <a:r>
              <a:rPr lang="en-US" sz="2400" dirty="0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NETFLIX - RESILIENCE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72;p61">
            <a:extLst>
              <a:ext uri="{FF2B5EF4-FFF2-40B4-BE49-F238E27FC236}">
                <a16:creationId xmlns:a16="http://schemas.microsoft.com/office/drawing/2014/main" id="{C9C1F0E6-0B26-1F9E-870E-4252429A9969}"/>
              </a:ext>
            </a:extLst>
          </p:cNvPr>
          <p:cNvSpPr txBox="1"/>
          <p:nvPr/>
        </p:nvSpPr>
        <p:spPr>
          <a:xfrm>
            <a:off x="600703" y="3405849"/>
            <a:ext cx="47247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Started as a DVD renting company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Currently has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128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illion subscribers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2011, it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nvented C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haos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onkey that randomly kills servers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system to build resilience in its infrastructure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873;p61">
            <a:extLst>
              <a:ext uri="{FF2B5EF4-FFF2-40B4-BE49-F238E27FC236}">
                <a16:creationId xmlns:a16="http://schemas.microsoft.com/office/drawing/2014/main" id="{97FC7AAD-0654-DC97-43B0-B53595A8A91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95110" y="2880626"/>
            <a:ext cx="5796187" cy="3245864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15632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1878;p62" descr="upload.wikimedia.org/wikipedia/en/thumb/4/46/Po...">
            <a:extLst>
              <a:ext uri="{FF2B5EF4-FFF2-40B4-BE49-F238E27FC236}">
                <a16:creationId xmlns:a16="http://schemas.microsoft.com/office/drawing/2014/main" id="{86441C77-C075-62A7-28EC-7AEB355383E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95110" y="2598203"/>
            <a:ext cx="5710166" cy="3581833"/>
          </a:xfrm>
          <a:prstGeom prst="roundRect">
            <a:avLst>
              <a:gd name="adj" fmla="val 4676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879;p62">
            <a:extLst>
              <a:ext uri="{FF2B5EF4-FFF2-40B4-BE49-F238E27FC236}">
                <a16:creationId xmlns:a16="http://schemas.microsoft.com/office/drawing/2014/main" id="{89CAA940-A5B2-6F80-4072-D3CE501E654D}"/>
              </a:ext>
            </a:extLst>
          </p:cNvPr>
          <p:cNvSpPr txBox="1"/>
          <p:nvPr/>
        </p:nvSpPr>
        <p:spPr>
          <a:xfrm>
            <a:off x="600703" y="2875912"/>
            <a:ext cx="4724700" cy="3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Scaled up in record time: Within a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few days of its release, it attracted more users than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witter: 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Search capture and train Pokemon characters: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andles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ettabytes of data every day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Processes a large amount of data in real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time 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Automated end-to-end DevOps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5"/>
                  </a:ext>
                </a:extLst>
              </a:rPr>
              <a:t>pipelines expedited multiple iterations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of testing and development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880;p62">
            <a:extLst>
              <a:ext uri="{FF2B5EF4-FFF2-40B4-BE49-F238E27FC236}">
                <a16:creationId xmlns:a16="http://schemas.microsoft.com/office/drawing/2014/main" id="{E92A984D-9D7B-A3F1-B969-2258630F6684}"/>
              </a:ext>
            </a:extLst>
          </p:cNvPr>
          <p:cNvSpPr txBox="1"/>
          <p:nvPr/>
        </p:nvSpPr>
        <p:spPr>
          <a:xfrm>
            <a:off x="1838633" y="1226500"/>
            <a:ext cx="851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CASE STUDY</a:t>
            </a:r>
            <a:r>
              <a:rPr lang="en-US" sz="2400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POKÉMON GO - SCALABILITY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912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885;p63">
            <a:extLst>
              <a:ext uri="{FF2B5EF4-FFF2-40B4-BE49-F238E27FC236}">
                <a16:creationId xmlns:a16="http://schemas.microsoft.com/office/drawing/2014/main" id="{678777D6-A06C-AE03-D474-A9F197ED8B15}"/>
              </a:ext>
            </a:extLst>
          </p:cNvPr>
          <p:cNvSpPr txBox="1"/>
          <p:nvPr/>
        </p:nvSpPr>
        <p:spPr>
          <a:xfrm>
            <a:off x="1936578" y="502920"/>
            <a:ext cx="83188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</a:t>
            </a:r>
            <a:r>
              <a:rPr lang="en-US" sz="2400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FUTURE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1886;p63">
            <a:extLst>
              <a:ext uri="{FF2B5EF4-FFF2-40B4-BE49-F238E27FC236}">
                <a16:creationId xmlns:a16="http://schemas.microsoft.com/office/drawing/2014/main" id="{01EC30F1-4708-17F9-9F92-CE25854B7288}"/>
              </a:ext>
            </a:extLst>
          </p:cNvPr>
          <p:cNvGrpSpPr/>
          <p:nvPr/>
        </p:nvGrpSpPr>
        <p:grpSpPr>
          <a:xfrm>
            <a:off x="3162763" y="2531866"/>
            <a:ext cx="7108782" cy="1534975"/>
            <a:chOff x="3329548" y="2325990"/>
            <a:chExt cx="6151792" cy="1279145"/>
          </a:xfrm>
        </p:grpSpPr>
        <p:sp>
          <p:nvSpPr>
            <p:cNvPr id="11" name="Google Shape;1887;p63">
              <a:extLst>
                <a:ext uri="{FF2B5EF4-FFF2-40B4-BE49-F238E27FC236}">
                  <a16:creationId xmlns:a16="http://schemas.microsoft.com/office/drawing/2014/main" id="{98CBAD75-F200-9EC1-482A-E6C6A4979DF5}"/>
                </a:ext>
              </a:extLst>
            </p:cNvPr>
            <p:cNvSpPr/>
            <p:nvPr/>
          </p:nvSpPr>
          <p:spPr>
            <a:xfrm>
              <a:off x="3329548" y="2442982"/>
              <a:ext cx="5711624" cy="10451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888;p63">
              <a:extLst>
                <a:ext uri="{FF2B5EF4-FFF2-40B4-BE49-F238E27FC236}">
                  <a16:creationId xmlns:a16="http://schemas.microsoft.com/office/drawing/2014/main" id="{2C298FD0-5E90-7F00-F352-C36698ED49C6}"/>
                </a:ext>
              </a:extLst>
            </p:cNvPr>
            <p:cNvSpPr/>
            <p:nvPr/>
          </p:nvSpPr>
          <p:spPr>
            <a:xfrm>
              <a:off x="7940675" y="2325990"/>
              <a:ext cx="1540665" cy="1279145"/>
            </a:xfrm>
            <a:custGeom>
              <a:avLst/>
              <a:gdLst/>
              <a:ahLst/>
              <a:cxnLst/>
              <a:rect l="l" t="t" r="r" b="b"/>
              <a:pathLst>
                <a:path w="1348918" h="1162860" extrusionOk="0">
                  <a:moveTo>
                    <a:pt x="399696" y="165122"/>
                  </a:moveTo>
                  <a:lnTo>
                    <a:pt x="191542" y="581430"/>
                  </a:lnTo>
                  <a:lnTo>
                    <a:pt x="399696" y="997738"/>
                  </a:lnTo>
                  <a:lnTo>
                    <a:pt x="949222" y="997738"/>
                  </a:lnTo>
                  <a:lnTo>
                    <a:pt x="1157376" y="581430"/>
                  </a:lnTo>
                  <a:lnTo>
                    <a:pt x="949222" y="165122"/>
                  </a:lnTo>
                  <a:close/>
                  <a:moveTo>
                    <a:pt x="290715" y="0"/>
                  </a:moveTo>
                  <a:lnTo>
                    <a:pt x="1058203" y="0"/>
                  </a:lnTo>
                  <a:lnTo>
                    <a:pt x="1348918" y="581430"/>
                  </a:lnTo>
                  <a:lnTo>
                    <a:pt x="1058203" y="1162860"/>
                  </a:lnTo>
                  <a:lnTo>
                    <a:pt x="290715" y="1162860"/>
                  </a:lnTo>
                  <a:lnTo>
                    <a:pt x="0" y="581430"/>
                  </a:lnTo>
                  <a:close/>
                </a:path>
              </a:pathLst>
            </a:custGeom>
            <a:solidFill>
              <a:srgbClr val="489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889;p63">
            <a:extLst>
              <a:ext uri="{FF2B5EF4-FFF2-40B4-BE49-F238E27FC236}">
                <a16:creationId xmlns:a16="http://schemas.microsoft.com/office/drawing/2014/main" id="{80E78CB2-5BD4-A7E7-C8BB-882188A9730D}"/>
              </a:ext>
            </a:extLst>
          </p:cNvPr>
          <p:cNvSpPr txBox="1"/>
          <p:nvPr/>
        </p:nvSpPr>
        <p:spPr>
          <a:xfrm>
            <a:off x="4669927" y="3114687"/>
            <a:ext cx="36417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90E4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4890E4"/>
                </a:solidFill>
                <a:latin typeface="Lato"/>
                <a:ea typeface="Lato"/>
                <a:cs typeface="Lato"/>
                <a:sym typeface="Lato"/>
              </a:rPr>
              <a:t>AI/ML in the DevOps Framework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890;p63">
            <a:extLst>
              <a:ext uri="{FF2B5EF4-FFF2-40B4-BE49-F238E27FC236}">
                <a16:creationId xmlns:a16="http://schemas.microsoft.com/office/drawing/2014/main" id="{F44FD7B1-2A5E-9CCD-1A23-6DBE58A76639}"/>
              </a:ext>
            </a:extLst>
          </p:cNvPr>
          <p:cNvGrpSpPr/>
          <p:nvPr/>
        </p:nvGrpSpPr>
        <p:grpSpPr>
          <a:xfrm>
            <a:off x="2619494" y="3947777"/>
            <a:ext cx="6969938" cy="1534975"/>
            <a:chOff x="2899026" y="3609974"/>
            <a:chExt cx="6014927" cy="1279146"/>
          </a:xfrm>
        </p:grpSpPr>
        <p:sp>
          <p:nvSpPr>
            <p:cNvPr id="15" name="Google Shape;1891;p63">
              <a:extLst>
                <a:ext uri="{FF2B5EF4-FFF2-40B4-BE49-F238E27FC236}">
                  <a16:creationId xmlns:a16="http://schemas.microsoft.com/office/drawing/2014/main" id="{7E3E0F4F-ADAD-ED45-350F-06F5A5C9EA31}"/>
                </a:ext>
              </a:extLst>
            </p:cNvPr>
            <p:cNvSpPr/>
            <p:nvPr/>
          </p:nvSpPr>
          <p:spPr>
            <a:xfrm>
              <a:off x="3218156" y="3726260"/>
              <a:ext cx="5695797" cy="10465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892;p63">
              <a:extLst>
                <a:ext uri="{FF2B5EF4-FFF2-40B4-BE49-F238E27FC236}">
                  <a16:creationId xmlns:a16="http://schemas.microsoft.com/office/drawing/2014/main" id="{E531249E-10FA-BC64-F9DA-C8FF7B685635}"/>
                </a:ext>
              </a:extLst>
            </p:cNvPr>
            <p:cNvSpPr/>
            <p:nvPr/>
          </p:nvSpPr>
          <p:spPr>
            <a:xfrm>
              <a:off x="2899026" y="3609974"/>
              <a:ext cx="1536398" cy="1279146"/>
            </a:xfrm>
            <a:custGeom>
              <a:avLst/>
              <a:gdLst/>
              <a:ahLst/>
              <a:cxnLst/>
              <a:rect l="l" t="t" r="r" b="b"/>
              <a:pathLst>
                <a:path w="1348918" h="1162860" extrusionOk="0">
                  <a:moveTo>
                    <a:pt x="399696" y="165122"/>
                  </a:moveTo>
                  <a:lnTo>
                    <a:pt x="191542" y="581430"/>
                  </a:lnTo>
                  <a:lnTo>
                    <a:pt x="399696" y="997738"/>
                  </a:lnTo>
                  <a:lnTo>
                    <a:pt x="949222" y="997738"/>
                  </a:lnTo>
                  <a:lnTo>
                    <a:pt x="1157376" y="581430"/>
                  </a:lnTo>
                  <a:lnTo>
                    <a:pt x="949222" y="165122"/>
                  </a:lnTo>
                  <a:close/>
                  <a:moveTo>
                    <a:pt x="290715" y="0"/>
                  </a:moveTo>
                  <a:lnTo>
                    <a:pt x="1058203" y="0"/>
                  </a:lnTo>
                  <a:lnTo>
                    <a:pt x="1348918" y="581430"/>
                  </a:lnTo>
                  <a:lnTo>
                    <a:pt x="1058203" y="1162860"/>
                  </a:lnTo>
                  <a:lnTo>
                    <a:pt x="290715" y="1162860"/>
                  </a:lnTo>
                  <a:lnTo>
                    <a:pt x="0" y="581430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893;p63">
            <a:extLst>
              <a:ext uri="{FF2B5EF4-FFF2-40B4-BE49-F238E27FC236}">
                <a16:creationId xmlns:a16="http://schemas.microsoft.com/office/drawing/2014/main" id="{30D0407E-8069-76D5-426E-D0F26687DC01}"/>
              </a:ext>
            </a:extLst>
          </p:cNvPr>
          <p:cNvSpPr txBox="1"/>
          <p:nvPr/>
        </p:nvSpPr>
        <p:spPr>
          <a:xfrm>
            <a:off x="4484147" y="4530598"/>
            <a:ext cx="36417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5A5A5A"/>
                </a:solidFill>
                <a:latin typeface="Lato"/>
                <a:ea typeface="Lato"/>
                <a:cs typeface="Lato"/>
                <a:sym typeface="Lato"/>
              </a:rPr>
              <a:t> Automation for Every Company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94;p63">
            <a:extLst>
              <a:ext uri="{FF2B5EF4-FFF2-40B4-BE49-F238E27FC236}">
                <a16:creationId xmlns:a16="http://schemas.microsoft.com/office/drawing/2014/main" id="{C47E4ED2-FAB3-7F69-D0BC-F80BA8BC35CA}"/>
              </a:ext>
            </a:extLst>
          </p:cNvPr>
          <p:cNvGrpSpPr/>
          <p:nvPr/>
        </p:nvGrpSpPr>
        <p:grpSpPr>
          <a:xfrm>
            <a:off x="3143714" y="5363693"/>
            <a:ext cx="7112496" cy="1534975"/>
            <a:chOff x="3351308" y="4893960"/>
            <a:chExt cx="5927075" cy="1279146"/>
          </a:xfrm>
        </p:grpSpPr>
        <p:sp>
          <p:nvSpPr>
            <p:cNvPr id="19" name="Google Shape;1895;p63">
              <a:extLst>
                <a:ext uri="{FF2B5EF4-FFF2-40B4-BE49-F238E27FC236}">
                  <a16:creationId xmlns:a16="http://schemas.microsoft.com/office/drawing/2014/main" id="{7A304F54-090C-3969-57CF-533C3CF1196C}"/>
                </a:ext>
              </a:extLst>
            </p:cNvPr>
            <p:cNvSpPr/>
            <p:nvPr/>
          </p:nvSpPr>
          <p:spPr>
            <a:xfrm>
              <a:off x="3351308" y="5010953"/>
              <a:ext cx="5500116" cy="10451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896;p63">
              <a:extLst>
                <a:ext uri="{FF2B5EF4-FFF2-40B4-BE49-F238E27FC236}">
                  <a16:creationId xmlns:a16="http://schemas.microsoft.com/office/drawing/2014/main" id="{F6F5DAE2-8C5A-4999-E34F-D43244E21B57}"/>
                </a:ext>
              </a:extLst>
            </p:cNvPr>
            <p:cNvSpPr/>
            <p:nvPr/>
          </p:nvSpPr>
          <p:spPr>
            <a:xfrm>
              <a:off x="7792964" y="4893960"/>
              <a:ext cx="1485419" cy="1279146"/>
            </a:xfrm>
            <a:custGeom>
              <a:avLst/>
              <a:gdLst/>
              <a:ahLst/>
              <a:cxnLst/>
              <a:rect l="l" t="t" r="r" b="b"/>
              <a:pathLst>
                <a:path w="1350380" h="1162860" extrusionOk="0">
                  <a:moveTo>
                    <a:pt x="399904" y="165122"/>
                  </a:moveTo>
                  <a:lnTo>
                    <a:pt x="191750" y="581430"/>
                  </a:lnTo>
                  <a:lnTo>
                    <a:pt x="399904" y="997738"/>
                  </a:lnTo>
                  <a:lnTo>
                    <a:pt x="950477" y="997738"/>
                  </a:lnTo>
                  <a:lnTo>
                    <a:pt x="1158631" y="581430"/>
                  </a:lnTo>
                  <a:lnTo>
                    <a:pt x="950477" y="165122"/>
                  </a:lnTo>
                  <a:close/>
                  <a:moveTo>
                    <a:pt x="290715" y="0"/>
                  </a:moveTo>
                  <a:lnTo>
                    <a:pt x="1059665" y="0"/>
                  </a:lnTo>
                  <a:lnTo>
                    <a:pt x="1350380" y="581430"/>
                  </a:lnTo>
                  <a:lnTo>
                    <a:pt x="1059665" y="1162860"/>
                  </a:lnTo>
                  <a:lnTo>
                    <a:pt x="290715" y="1162860"/>
                  </a:lnTo>
                  <a:lnTo>
                    <a:pt x="0" y="581430"/>
                  </a:lnTo>
                  <a:close/>
                </a:path>
              </a:pathLst>
            </a:custGeom>
            <a:solidFill>
              <a:srgbClr val="22AF7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1897;p63">
            <a:extLst>
              <a:ext uri="{FF2B5EF4-FFF2-40B4-BE49-F238E27FC236}">
                <a16:creationId xmlns:a16="http://schemas.microsoft.com/office/drawing/2014/main" id="{D124D9A2-2CCA-984A-771D-047B35DFEF48}"/>
              </a:ext>
            </a:extLst>
          </p:cNvPr>
          <p:cNvSpPr txBox="1"/>
          <p:nvPr/>
        </p:nvSpPr>
        <p:spPr>
          <a:xfrm>
            <a:off x="4646930" y="5946514"/>
            <a:ext cx="36456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AF73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2AF73"/>
                </a:solidFill>
                <a:latin typeface="Lato"/>
                <a:ea typeface="Lato"/>
                <a:cs typeface="Lato"/>
                <a:sym typeface="Lato"/>
              </a:rPr>
              <a:t>Platform as a Service (PaaS)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1898;p63">
            <a:extLst>
              <a:ext uri="{FF2B5EF4-FFF2-40B4-BE49-F238E27FC236}">
                <a16:creationId xmlns:a16="http://schemas.microsoft.com/office/drawing/2014/main" id="{1A47BE5A-30C4-29EA-0DD3-711A4480A393}"/>
              </a:ext>
            </a:extLst>
          </p:cNvPr>
          <p:cNvGrpSpPr/>
          <p:nvPr/>
        </p:nvGrpSpPr>
        <p:grpSpPr>
          <a:xfrm>
            <a:off x="2630086" y="1115946"/>
            <a:ext cx="6939012" cy="1534975"/>
            <a:chOff x="2899027" y="1042004"/>
            <a:chExt cx="5782510" cy="1279146"/>
          </a:xfrm>
        </p:grpSpPr>
        <p:sp>
          <p:nvSpPr>
            <p:cNvPr id="23" name="Google Shape;1899;p63">
              <a:extLst>
                <a:ext uri="{FF2B5EF4-FFF2-40B4-BE49-F238E27FC236}">
                  <a16:creationId xmlns:a16="http://schemas.microsoft.com/office/drawing/2014/main" id="{62624291-AE38-A4C3-1BFE-17CFB6FD180F}"/>
                </a:ext>
              </a:extLst>
            </p:cNvPr>
            <p:cNvSpPr/>
            <p:nvPr/>
          </p:nvSpPr>
          <p:spPr>
            <a:xfrm>
              <a:off x="3178605" y="1158997"/>
              <a:ext cx="5502932" cy="10451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900;p63">
              <a:extLst>
                <a:ext uri="{FF2B5EF4-FFF2-40B4-BE49-F238E27FC236}">
                  <a16:creationId xmlns:a16="http://schemas.microsoft.com/office/drawing/2014/main" id="{D3C35614-3DAA-AE0F-51E4-0747CC2CF6DA}"/>
                </a:ext>
              </a:extLst>
            </p:cNvPr>
            <p:cNvSpPr/>
            <p:nvPr/>
          </p:nvSpPr>
          <p:spPr>
            <a:xfrm>
              <a:off x="2899027" y="1042004"/>
              <a:ext cx="1483810" cy="1279146"/>
            </a:xfrm>
            <a:custGeom>
              <a:avLst/>
              <a:gdLst/>
              <a:ahLst/>
              <a:cxnLst/>
              <a:rect l="l" t="t" r="r" b="b"/>
              <a:pathLst>
                <a:path w="1348918" h="1162860" extrusionOk="0">
                  <a:moveTo>
                    <a:pt x="399696" y="165122"/>
                  </a:moveTo>
                  <a:lnTo>
                    <a:pt x="191542" y="581430"/>
                  </a:lnTo>
                  <a:lnTo>
                    <a:pt x="399696" y="997738"/>
                  </a:lnTo>
                  <a:lnTo>
                    <a:pt x="949222" y="997738"/>
                  </a:lnTo>
                  <a:lnTo>
                    <a:pt x="1157376" y="581430"/>
                  </a:lnTo>
                  <a:lnTo>
                    <a:pt x="949222" y="165122"/>
                  </a:lnTo>
                  <a:close/>
                  <a:moveTo>
                    <a:pt x="290715" y="0"/>
                  </a:moveTo>
                  <a:lnTo>
                    <a:pt x="1058203" y="0"/>
                  </a:lnTo>
                  <a:lnTo>
                    <a:pt x="1348918" y="581430"/>
                  </a:lnTo>
                  <a:lnTo>
                    <a:pt x="1058203" y="1162860"/>
                  </a:lnTo>
                  <a:lnTo>
                    <a:pt x="290715" y="1162860"/>
                  </a:lnTo>
                  <a:lnTo>
                    <a:pt x="0" y="581430"/>
                  </a:lnTo>
                  <a:close/>
                </a:path>
              </a:pathLst>
            </a:custGeom>
            <a:solidFill>
              <a:srgbClr val="FAA72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1901;p63">
            <a:extLst>
              <a:ext uri="{FF2B5EF4-FFF2-40B4-BE49-F238E27FC236}">
                <a16:creationId xmlns:a16="http://schemas.microsoft.com/office/drawing/2014/main" id="{834C40F7-3F04-651A-C0E7-7DC4302C9F55}"/>
              </a:ext>
            </a:extLst>
          </p:cNvPr>
          <p:cNvSpPr txBox="1"/>
          <p:nvPr/>
        </p:nvSpPr>
        <p:spPr>
          <a:xfrm>
            <a:off x="4484147" y="1698767"/>
            <a:ext cx="364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A5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6"/>
                  </a:ext>
                </a:extLst>
              </a:rPr>
              <a:t>DevOps in the </a:t>
            </a:r>
            <a:r>
              <a:rPr lang="en-US" sz="1800" b="1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7"/>
                  </a:ext>
                </a:extLst>
              </a:rPr>
              <a:t>s</a:t>
            </a:r>
            <a:r>
              <a:rPr lang="en-US" sz="1800" b="1" i="0" u="none" strike="noStrike" cap="none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8"/>
                  </a:ext>
                </a:extLst>
              </a:rPr>
              <a:t>ecurity </a:t>
            </a:r>
            <a:r>
              <a:rPr lang="en-US" sz="1800" b="1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9"/>
                  </a:ext>
                </a:extLst>
              </a:rPr>
              <a:t>f</a:t>
            </a:r>
            <a:r>
              <a:rPr lang="en-US" sz="1800" b="1" i="0" u="none" strike="noStrike" cap="none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0"/>
                  </a:ext>
                </a:extLst>
              </a:rPr>
              <a:t>ield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1902;p63">
            <a:extLst>
              <a:ext uri="{FF2B5EF4-FFF2-40B4-BE49-F238E27FC236}">
                <a16:creationId xmlns:a16="http://schemas.microsoft.com/office/drawing/2014/main" id="{70385EA7-8F36-DAD2-DE21-D6F157071CD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3141" t="13270" r="-5078" b="-1987"/>
          <a:stretch/>
        </p:blipFill>
        <p:spPr>
          <a:xfrm>
            <a:off x="3216104" y="1510685"/>
            <a:ext cx="659136" cy="781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903;p63">
            <a:extLst>
              <a:ext uri="{FF2B5EF4-FFF2-40B4-BE49-F238E27FC236}">
                <a16:creationId xmlns:a16="http://schemas.microsoft.com/office/drawing/2014/main" id="{9876D7F5-C11B-879F-9EB3-959E1AC22E8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3353" b="-1"/>
          <a:stretch/>
        </p:blipFill>
        <p:spPr>
          <a:xfrm>
            <a:off x="8980188" y="2979820"/>
            <a:ext cx="764648" cy="639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904;p63">
            <a:extLst>
              <a:ext uri="{FF2B5EF4-FFF2-40B4-BE49-F238E27FC236}">
                <a16:creationId xmlns:a16="http://schemas.microsoft.com/office/drawing/2014/main" id="{526EC3DD-F297-BE48-CA03-E54B3F93F7F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21663"/>
          <a:stretch/>
        </p:blipFill>
        <p:spPr>
          <a:xfrm>
            <a:off x="3099161" y="4255658"/>
            <a:ext cx="821001" cy="812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905;p63">
            <a:extLst>
              <a:ext uri="{FF2B5EF4-FFF2-40B4-BE49-F238E27FC236}">
                <a16:creationId xmlns:a16="http://schemas.microsoft.com/office/drawing/2014/main" id="{92758BFA-9872-EC84-10C4-9002C18FC54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80188" y="5883058"/>
            <a:ext cx="777452" cy="5508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375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67853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1910;p64">
            <a:extLst>
              <a:ext uri="{FF2B5EF4-FFF2-40B4-BE49-F238E27FC236}">
                <a16:creationId xmlns:a16="http://schemas.microsoft.com/office/drawing/2014/main" id="{FB5DC375-A7BC-1F4B-B187-80B59F0E56FA}"/>
              </a:ext>
            </a:extLst>
          </p:cNvPr>
          <p:cNvGrpSpPr/>
          <p:nvPr/>
        </p:nvGrpSpPr>
        <p:grpSpPr>
          <a:xfrm>
            <a:off x="2619494" y="3807576"/>
            <a:ext cx="6969938" cy="1534975"/>
            <a:chOff x="2899026" y="3609974"/>
            <a:chExt cx="6014927" cy="1279146"/>
          </a:xfrm>
        </p:grpSpPr>
        <p:sp>
          <p:nvSpPr>
            <p:cNvPr id="10" name="Google Shape;1911;p64">
              <a:extLst>
                <a:ext uri="{FF2B5EF4-FFF2-40B4-BE49-F238E27FC236}">
                  <a16:creationId xmlns:a16="http://schemas.microsoft.com/office/drawing/2014/main" id="{709C206F-D005-1F95-2627-865A868ABFE9}"/>
                </a:ext>
              </a:extLst>
            </p:cNvPr>
            <p:cNvSpPr/>
            <p:nvPr/>
          </p:nvSpPr>
          <p:spPr>
            <a:xfrm>
              <a:off x="3218156" y="3726260"/>
              <a:ext cx="5695797" cy="10465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912;p64">
              <a:extLst>
                <a:ext uri="{FF2B5EF4-FFF2-40B4-BE49-F238E27FC236}">
                  <a16:creationId xmlns:a16="http://schemas.microsoft.com/office/drawing/2014/main" id="{E692B5D2-7344-FB65-79D4-F25769B31C1D}"/>
                </a:ext>
              </a:extLst>
            </p:cNvPr>
            <p:cNvSpPr/>
            <p:nvPr/>
          </p:nvSpPr>
          <p:spPr>
            <a:xfrm>
              <a:off x="2899026" y="3609974"/>
              <a:ext cx="1536398" cy="1279146"/>
            </a:xfrm>
            <a:custGeom>
              <a:avLst/>
              <a:gdLst/>
              <a:ahLst/>
              <a:cxnLst/>
              <a:rect l="l" t="t" r="r" b="b"/>
              <a:pathLst>
                <a:path w="1348918" h="1162860" extrusionOk="0">
                  <a:moveTo>
                    <a:pt x="399696" y="165122"/>
                  </a:moveTo>
                  <a:lnTo>
                    <a:pt x="191542" y="581430"/>
                  </a:lnTo>
                  <a:lnTo>
                    <a:pt x="399696" y="997738"/>
                  </a:lnTo>
                  <a:lnTo>
                    <a:pt x="949222" y="997738"/>
                  </a:lnTo>
                  <a:lnTo>
                    <a:pt x="1157376" y="581430"/>
                  </a:lnTo>
                  <a:lnTo>
                    <a:pt x="949222" y="165122"/>
                  </a:lnTo>
                  <a:close/>
                  <a:moveTo>
                    <a:pt x="290715" y="0"/>
                  </a:moveTo>
                  <a:lnTo>
                    <a:pt x="1058203" y="0"/>
                  </a:lnTo>
                  <a:lnTo>
                    <a:pt x="1348918" y="581430"/>
                  </a:lnTo>
                  <a:lnTo>
                    <a:pt x="1058203" y="1162860"/>
                  </a:lnTo>
                  <a:lnTo>
                    <a:pt x="290715" y="1162860"/>
                  </a:lnTo>
                  <a:lnTo>
                    <a:pt x="0" y="58143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1913;p64">
            <a:extLst>
              <a:ext uri="{FF2B5EF4-FFF2-40B4-BE49-F238E27FC236}">
                <a16:creationId xmlns:a16="http://schemas.microsoft.com/office/drawing/2014/main" id="{4C048BEC-08FE-DD8B-8B63-C970ABD59AEB}"/>
              </a:ext>
            </a:extLst>
          </p:cNvPr>
          <p:cNvSpPr txBox="1"/>
          <p:nvPr/>
        </p:nvSpPr>
        <p:spPr>
          <a:xfrm>
            <a:off x="4484147" y="4390397"/>
            <a:ext cx="36417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5A5A5A"/>
                </a:solidFill>
                <a:latin typeface="Lato"/>
                <a:ea typeface="Lato"/>
                <a:cs typeface="Lato"/>
                <a:sym typeface="Lato"/>
              </a:rPr>
              <a:t>DevOps means Cloud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914;p64">
            <a:extLst>
              <a:ext uri="{FF2B5EF4-FFF2-40B4-BE49-F238E27FC236}">
                <a16:creationId xmlns:a16="http://schemas.microsoft.com/office/drawing/2014/main" id="{14AF9639-7E63-C4F6-3603-18B9071C2439}"/>
              </a:ext>
            </a:extLst>
          </p:cNvPr>
          <p:cNvSpPr txBox="1"/>
          <p:nvPr/>
        </p:nvSpPr>
        <p:spPr>
          <a:xfrm>
            <a:off x="3325113" y="4282676"/>
            <a:ext cx="39051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915;p64">
            <a:extLst>
              <a:ext uri="{FF2B5EF4-FFF2-40B4-BE49-F238E27FC236}">
                <a16:creationId xmlns:a16="http://schemas.microsoft.com/office/drawing/2014/main" id="{E9BC26D7-0979-BAB3-EA19-048EBDFC03FD}"/>
              </a:ext>
            </a:extLst>
          </p:cNvPr>
          <p:cNvSpPr txBox="1"/>
          <p:nvPr/>
        </p:nvSpPr>
        <p:spPr>
          <a:xfrm>
            <a:off x="1936578" y="384048"/>
            <a:ext cx="83188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</a:t>
            </a:r>
            <a:r>
              <a:rPr lang="en-US" sz="2400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MYTHS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1916;p64">
            <a:extLst>
              <a:ext uri="{FF2B5EF4-FFF2-40B4-BE49-F238E27FC236}">
                <a16:creationId xmlns:a16="http://schemas.microsoft.com/office/drawing/2014/main" id="{58913230-0551-6FF5-5BD1-2AAF03664D35}"/>
              </a:ext>
            </a:extLst>
          </p:cNvPr>
          <p:cNvGrpSpPr/>
          <p:nvPr/>
        </p:nvGrpSpPr>
        <p:grpSpPr>
          <a:xfrm>
            <a:off x="3162763" y="2412994"/>
            <a:ext cx="7108782" cy="1534975"/>
            <a:chOff x="3329548" y="2325990"/>
            <a:chExt cx="6151792" cy="1279145"/>
          </a:xfrm>
        </p:grpSpPr>
        <p:sp>
          <p:nvSpPr>
            <p:cNvPr id="16" name="Google Shape;1917;p64">
              <a:extLst>
                <a:ext uri="{FF2B5EF4-FFF2-40B4-BE49-F238E27FC236}">
                  <a16:creationId xmlns:a16="http://schemas.microsoft.com/office/drawing/2014/main" id="{CA5D77E0-558D-AE0B-A235-B5E811486BC2}"/>
                </a:ext>
              </a:extLst>
            </p:cNvPr>
            <p:cNvSpPr/>
            <p:nvPr/>
          </p:nvSpPr>
          <p:spPr>
            <a:xfrm>
              <a:off x="3329548" y="2442982"/>
              <a:ext cx="5711624" cy="10451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918;p64">
              <a:extLst>
                <a:ext uri="{FF2B5EF4-FFF2-40B4-BE49-F238E27FC236}">
                  <a16:creationId xmlns:a16="http://schemas.microsoft.com/office/drawing/2014/main" id="{3191152B-43AE-F5A3-EE88-55EF12FE5E6C}"/>
                </a:ext>
              </a:extLst>
            </p:cNvPr>
            <p:cNvSpPr/>
            <p:nvPr/>
          </p:nvSpPr>
          <p:spPr>
            <a:xfrm>
              <a:off x="7940675" y="2325990"/>
              <a:ext cx="1540665" cy="1279145"/>
            </a:xfrm>
            <a:custGeom>
              <a:avLst/>
              <a:gdLst/>
              <a:ahLst/>
              <a:cxnLst/>
              <a:rect l="l" t="t" r="r" b="b"/>
              <a:pathLst>
                <a:path w="1348918" h="1162860" extrusionOk="0">
                  <a:moveTo>
                    <a:pt x="399696" y="165122"/>
                  </a:moveTo>
                  <a:lnTo>
                    <a:pt x="191542" y="581430"/>
                  </a:lnTo>
                  <a:lnTo>
                    <a:pt x="399696" y="997738"/>
                  </a:lnTo>
                  <a:lnTo>
                    <a:pt x="949222" y="997738"/>
                  </a:lnTo>
                  <a:lnTo>
                    <a:pt x="1157376" y="581430"/>
                  </a:lnTo>
                  <a:lnTo>
                    <a:pt x="949222" y="165122"/>
                  </a:lnTo>
                  <a:close/>
                  <a:moveTo>
                    <a:pt x="290715" y="0"/>
                  </a:moveTo>
                  <a:lnTo>
                    <a:pt x="1058203" y="0"/>
                  </a:lnTo>
                  <a:lnTo>
                    <a:pt x="1348918" y="581430"/>
                  </a:lnTo>
                  <a:lnTo>
                    <a:pt x="1058203" y="1162860"/>
                  </a:lnTo>
                  <a:lnTo>
                    <a:pt x="290715" y="1162860"/>
                  </a:lnTo>
                  <a:lnTo>
                    <a:pt x="0" y="581430"/>
                  </a:lnTo>
                  <a:close/>
                </a:path>
              </a:pathLst>
            </a:custGeom>
            <a:solidFill>
              <a:srgbClr val="489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919;p64">
            <a:extLst>
              <a:ext uri="{FF2B5EF4-FFF2-40B4-BE49-F238E27FC236}">
                <a16:creationId xmlns:a16="http://schemas.microsoft.com/office/drawing/2014/main" id="{3E434314-3C97-DBFE-40C9-826E4474510E}"/>
              </a:ext>
            </a:extLst>
          </p:cNvPr>
          <p:cNvSpPr txBox="1"/>
          <p:nvPr/>
        </p:nvSpPr>
        <p:spPr>
          <a:xfrm>
            <a:off x="4669927" y="2857316"/>
            <a:ext cx="364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90E4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4890E4"/>
                </a:solidFill>
                <a:latin typeface="Lato"/>
                <a:ea typeface="Lato"/>
                <a:cs typeface="Lato"/>
                <a:sym typeface="Lato"/>
              </a:rPr>
              <a:t>CI/CD </a:t>
            </a:r>
            <a:r>
              <a:rPr lang="en-US" sz="1800" b="1" i="0" u="none" strike="noStrike" cap="none">
                <a:solidFill>
                  <a:srgbClr val="4890E4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1"/>
                  </a:ext>
                </a:extLst>
              </a:rPr>
              <a:t>deliver</a:t>
            </a:r>
            <a:r>
              <a:rPr lang="en-US" sz="1800" b="1">
                <a:solidFill>
                  <a:srgbClr val="4890E4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2"/>
                  </a:ext>
                </a:extLst>
              </a:rPr>
              <a:t>s</a:t>
            </a:r>
            <a:r>
              <a:rPr lang="en-US" sz="1800" b="1">
                <a:solidFill>
                  <a:srgbClr val="4890E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>
                <a:solidFill>
                  <a:srgbClr val="4890E4"/>
                </a:solidFill>
                <a:latin typeface="Lato"/>
                <a:ea typeface="Lato"/>
                <a:cs typeface="Lato"/>
                <a:sym typeface="Lato"/>
              </a:rPr>
              <a:t>every 5 minutes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20;p64">
            <a:extLst>
              <a:ext uri="{FF2B5EF4-FFF2-40B4-BE49-F238E27FC236}">
                <a16:creationId xmlns:a16="http://schemas.microsoft.com/office/drawing/2014/main" id="{D707D672-7BBD-695A-F545-4FD119FB75CD}"/>
              </a:ext>
            </a:extLst>
          </p:cNvPr>
          <p:cNvGrpSpPr/>
          <p:nvPr/>
        </p:nvGrpSpPr>
        <p:grpSpPr>
          <a:xfrm>
            <a:off x="2619494" y="3828905"/>
            <a:ext cx="6969938" cy="1534975"/>
            <a:chOff x="2899026" y="3609974"/>
            <a:chExt cx="6014927" cy="1279146"/>
          </a:xfrm>
        </p:grpSpPr>
        <p:sp>
          <p:nvSpPr>
            <p:cNvPr id="20" name="Google Shape;1921;p64">
              <a:extLst>
                <a:ext uri="{FF2B5EF4-FFF2-40B4-BE49-F238E27FC236}">
                  <a16:creationId xmlns:a16="http://schemas.microsoft.com/office/drawing/2014/main" id="{95568C44-5D2E-1639-1381-4576345E5C28}"/>
                </a:ext>
              </a:extLst>
            </p:cNvPr>
            <p:cNvSpPr/>
            <p:nvPr/>
          </p:nvSpPr>
          <p:spPr>
            <a:xfrm>
              <a:off x="3218156" y="3726260"/>
              <a:ext cx="5695797" cy="10465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922;p64">
              <a:extLst>
                <a:ext uri="{FF2B5EF4-FFF2-40B4-BE49-F238E27FC236}">
                  <a16:creationId xmlns:a16="http://schemas.microsoft.com/office/drawing/2014/main" id="{7A9ECD0C-77B1-11DE-B8ED-3E56EAE1E103}"/>
                </a:ext>
              </a:extLst>
            </p:cNvPr>
            <p:cNvSpPr/>
            <p:nvPr/>
          </p:nvSpPr>
          <p:spPr>
            <a:xfrm>
              <a:off x="2899026" y="3609974"/>
              <a:ext cx="1536398" cy="1279146"/>
            </a:xfrm>
            <a:custGeom>
              <a:avLst/>
              <a:gdLst/>
              <a:ahLst/>
              <a:cxnLst/>
              <a:rect l="l" t="t" r="r" b="b"/>
              <a:pathLst>
                <a:path w="1348918" h="1162860" extrusionOk="0">
                  <a:moveTo>
                    <a:pt x="399696" y="165122"/>
                  </a:moveTo>
                  <a:lnTo>
                    <a:pt x="191542" y="581430"/>
                  </a:lnTo>
                  <a:lnTo>
                    <a:pt x="399696" y="997738"/>
                  </a:lnTo>
                  <a:lnTo>
                    <a:pt x="949222" y="997738"/>
                  </a:lnTo>
                  <a:lnTo>
                    <a:pt x="1157376" y="581430"/>
                  </a:lnTo>
                  <a:lnTo>
                    <a:pt x="949222" y="165122"/>
                  </a:lnTo>
                  <a:close/>
                  <a:moveTo>
                    <a:pt x="290715" y="0"/>
                  </a:moveTo>
                  <a:lnTo>
                    <a:pt x="1058203" y="0"/>
                  </a:lnTo>
                  <a:lnTo>
                    <a:pt x="1348918" y="581430"/>
                  </a:lnTo>
                  <a:lnTo>
                    <a:pt x="1058203" y="1162860"/>
                  </a:lnTo>
                  <a:lnTo>
                    <a:pt x="290715" y="1162860"/>
                  </a:lnTo>
                  <a:lnTo>
                    <a:pt x="0" y="581430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1923;p64">
            <a:extLst>
              <a:ext uri="{FF2B5EF4-FFF2-40B4-BE49-F238E27FC236}">
                <a16:creationId xmlns:a16="http://schemas.microsoft.com/office/drawing/2014/main" id="{4659B609-7E71-12B8-BD27-4DDECE04C628}"/>
              </a:ext>
            </a:extLst>
          </p:cNvPr>
          <p:cNvSpPr txBox="1"/>
          <p:nvPr/>
        </p:nvSpPr>
        <p:spPr>
          <a:xfrm>
            <a:off x="4484147" y="4273227"/>
            <a:ext cx="364171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5A5A5A"/>
                </a:solidFill>
                <a:latin typeface="Lato"/>
                <a:ea typeface="Lato"/>
                <a:cs typeface="Lato"/>
                <a:sym typeface="Lato"/>
              </a:rPr>
              <a:t>DevOps Does not work </a:t>
            </a:r>
            <a:r>
              <a:rPr lang="en-US" sz="1800" b="1" i="0" u="none" strike="noStrike" cap="none">
                <a:solidFill>
                  <a:srgbClr val="5A5A5A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3"/>
                  </a:ext>
                </a:extLst>
              </a:rPr>
              <a:t>on Complex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1924;p64">
            <a:extLst>
              <a:ext uri="{FF2B5EF4-FFF2-40B4-BE49-F238E27FC236}">
                <a16:creationId xmlns:a16="http://schemas.microsoft.com/office/drawing/2014/main" id="{0B7AFACD-E79D-DDEE-3139-B8B84DF12D59}"/>
              </a:ext>
            </a:extLst>
          </p:cNvPr>
          <p:cNvGrpSpPr/>
          <p:nvPr/>
        </p:nvGrpSpPr>
        <p:grpSpPr>
          <a:xfrm>
            <a:off x="3143714" y="5244821"/>
            <a:ext cx="7112496" cy="1534975"/>
            <a:chOff x="3351308" y="4893960"/>
            <a:chExt cx="5927075" cy="1279146"/>
          </a:xfrm>
        </p:grpSpPr>
        <p:sp>
          <p:nvSpPr>
            <p:cNvPr id="24" name="Google Shape;1925;p64">
              <a:extLst>
                <a:ext uri="{FF2B5EF4-FFF2-40B4-BE49-F238E27FC236}">
                  <a16:creationId xmlns:a16="http://schemas.microsoft.com/office/drawing/2014/main" id="{6ED89E05-69D1-BCD1-0DA7-8C6232550FA8}"/>
                </a:ext>
              </a:extLst>
            </p:cNvPr>
            <p:cNvSpPr/>
            <p:nvPr/>
          </p:nvSpPr>
          <p:spPr>
            <a:xfrm>
              <a:off x="3351308" y="5010953"/>
              <a:ext cx="5500116" cy="10451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926;p64">
              <a:extLst>
                <a:ext uri="{FF2B5EF4-FFF2-40B4-BE49-F238E27FC236}">
                  <a16:creationId xmlns:a16="http://schemas.microsoft.com/office/drawing/2014/main" id="{8A8FF5C0-BB18-B3EC-63FB-99811B04B397}"/>
                </a:ext>
              </a:extLst>
            </p:cNvPr>
            <p:cNvSpPr/>
            <p:nvPr/>
          </p:nvSpPr>
          <p:spPr>
            <a:xfrm>
              <a:off x="7792964" y="4893960"/>
              <a:ext cx="1485419" cy="1279146"/>
            </a:xfrm>
            <a:custGeom>
              <a:avLst/>
              <a:gdLst/>
              <a:ahLst/>
              <a:cxnLst/>
              <a:rect l="l" t="t" r="r" b="b"/>
              <a:pathLst>
                <a:path w="1350380" h="1162860" extrusionOk="0">
                  <a:moveTo>
                    <a:pt x="399904" y="165122"/>
                  </a:moveTo>
                  <a:lnTo>
                    <a:pt x="191750" y="581430"/>
                  </a:lnTo>
                  <a:lnTo>
                    <a:pt x="399904" y="997738"/>
                  </a:lnTo>
                  <a:lnTo>
                    <a:pt x="950477" y="997738"/>
                  </a:lnTo>
                  <a:lnTo>
                    <a:pt x="1158631" y="581430"/>
                  </a:lnTo>
                  <a:lnTo>
                    <a:pt x="950477" y="165122"/>
                  </a:lnTo>
                  <a:close/>
                  <a:moveTo>
                    <a:pt x="290715" y="0"/>
                  </a:moveTo>
                  <a:lnTo>
                    <a:pt x="1059665" y="0"/>
                  </a:lnTo>
                  <a:lnTo>
                    <a:pt x="1350380" y="581430"/>
                  </a:lnTo>
                  <a:lnTo>
                    <a:pt x="1059665" y="1162860"/>
                  </a:lnTo>
                  <a:lnTo>
                    <a:pt x="290715" y="1162860"/>
                  </a:lnTo>
                  <a:lnTo>
                    <a:pt x="0" y="581430"/>
                  </a:lnTo>
                  <a:close/>
                </a:path>
              </a:pathLst>
            </a:custGeom>
            <a:solidFill>
              <a:srgbClr val="22AF7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1927;p64">
            <a:extLst>
              <a:ext uri="{FF2B5EF4-FFF2-40B4-BE49-F238E27FC236}">
                <a16:creationId xmlns:a16="http://schemas.microsoft.com/office/drawing/2014/main" id="{A7213332-5682-478C-D276-2A7EE53DF6DB}"/>
              </a:ext>
            </a:extLst>
          </p:cNvPr>
          <p:cNvSpPr txBox="1"/>
          <p:nvPr/>
        </p:nvSpPr>
        <p:spPr>
          <a:xfrm>
            <a:off x="4646930" y="5827642"/>
            <a:ext cx="36456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AF73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2AF73"/>
                </a:solidFill>
                <a:latin typeface="Lato"/>
                <a:ea typeface="Lato"/>
                <a:cs typeface="Lato"/>
                <a:sym typeface="Lato"/>
              </a:rPr>
              <a:t>DevOps means NoOps</a:t>
            </a:r>
            <a:endParaRPr sz="1800" b="1" i="0" u="none" strike="noStrike" cap="none">
              <a:solidFill>
                <a:srgbClr val="22AF7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7" name="Google Shape;1928;p64">
            <a:extLst>
              <a:ext uri="{FF2B5EF4-FFF2-40B4-BE49-F238E27FC236}">
                <a16:creationId xmlns:a16="http://schemas.microsoft.com/office/drawing/2014/main" id="{6507542B-ED6E-15B7-7192-4806D06A81DD}"/>
              </a:ext>
            </a:extLst>
          </p:cNvPr>
          <p:cNvGrpSpPr/>
          <p:nvPr/>
        </p:nvGrpSpPr>
        <p:grpSpPr>
          <a:xfrm>
            <a:off x="2630086" y="997074"/>
            <a:ext cx="6939012" cy="1534975"/>
            <a:chOff x="2899027" y="1042004"/>
            <a:chExt cx="5782510" cy="1279146"/>
          </a:xfrm>
        </p:grpSpPr>
        <p:sp>
          <p:nvSpPr>
            <p:cNvPr id="28" name="Google Shape;1929;p64">
              <a:extLst>
                <a:ext uri="{FF2B5EF4-FFF2-40B4-BE49-F238E27FC236}">
                  <a16:creationId xmlns:a16="http://schemas.microsoft.com/office/drawing/2014/main" id="{C74C9CC1-2ACB-2EAC-3B19-00F766F154FF}"/>
                </a:ext>
              </a:extLst>
            </p:cNvPr>
            <p:cNvSpPr/>
            <p:nvPr/>
          </p:nvSpPr>
          <p:spPr>
            <a:xfrm>
              <a:off x="3178605" y="1158997"/>
              <a:ext cx="5502932" cy="10451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930;p64">
              <a:extLst>
                <a:ext uri="{FF2B5EF4-FFF2-40B4-BE49-F238E27FC236}">
                  <a16:creationId xmlns:a16="http://schemas.microsoft.com/office/drawing/2014/main" id="{EBF5F342-D5C3-8448-F0B4-CB0CEA0B7CF5}"/>
                </a:ext>
              </a:extLst>
            </p:cNvPr>
            <p:cNvSpPr/>
            <p:nvPr/>
          </p:nvSpPr>
          <p:spPr>
            <a:xfrm>
              <a:off x="2899027" y="1042004"/>
              <a:ext cx="1483810" cy="1279146"/>
            </a:xfrm>
            <a:custGeom>
              <a:avLst/>
              <a:gdLst/>
              <a:ahLst/>
              <a:cxnLst/>
              <a:rect l="l" t="t" r="r" b="b"/>
              <a:pathLst>
                <a:path w="1348918" h="1162860" extrusionOk="0">
                  <a:moveTo>
                    <a:pt x="399696" y="165122"/>
                  </a:moveTo>
                  <a:lnTo>
                    <a:pt x="191542" y="581430"/>
                  </a:lnTo>
                  <a:lnTo>
                    <a:pt x="399696" y="997738"/>
                  </a:lnTo>
                  <a:lnTo>
                    <a:pt x="949222" y="997738"/>
                  </a:lnTo>
                  <a:lnTo>
                    <a:pt x="1157376" y="581430"/>
                  </a:lnTo>
                  <a:lnTo>
                    <a:pt x="949222" y="165122"/>
                  </a:lnTo>
                  <a:close/>
                  <a:moveTo>
                    <a:pt x="290715" y="0"/>
                  </a:moveTo>
                  <a:lnTo>
                    <a:pt x="1058203" y="0"/>
                  </a:lnTo>
                  <a:lnTo>
                    <a:pt x="1348918" y="581430"/>
                  </a:lnTo>
                  <a:lnTo>
                    <a:pt x="1058203" y="1162860"/>
                  </a:lnTo>
                  <a:lnTo>
                    <a:pt x="290715" y="1162860"/>
                  </a:lnTo>
                  <a:lnTo>
                    <a:pt x="0" y="581430"/>
                  </a:lnTo>
                  <a:close/>
                </a:path>
              </a:pathLst>
            </a:custGeom>
            <a:solidFill>
              <a:srgbClr val="FAA72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1931;p64">
            <a:extLst>
              <a:ext uri="{FF2B5EF4-FFF2-40B4-BE49-F238E27FC236}">
                <a16:creationId xmlns:a16="http://schemas.microsoft.com/office/drawing/2014/main" id="{38649570-664C-434A-AE57-6583A02CE30C}"/>
              </a:ext>
            </a:extLst>
          </p:cNvPr>
          <p:cNvSpPr txBox="1"/>
          <p:nvPr/>
        </p:nvSpPr>
        <p:spPr>
          <a:xfrm>
            <a:off x="4484147" y="1579895"/>
            <a:ext cx="36417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A5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4"/>
                  </a:ext>
                </a:extLst>
              </a:rPr>
              <a:t>DevOps is a </a:t>
            </a:r>
            <a:r>
              <a:rPr lang="en-US" sz="1800" b="1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5"/>
                  </a:ext>
                </a:extLst>
              </a:rPr>
              <a:t>t</a:t>
            </a:r>
            <a:r>
              <a:rPr lang="en-US" sz="1800" b="1" i="0" u="none" strike="noStrike" cap="none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6"/>
                  </a:ext>
                </a:extLst>
              </a:rPr>
              <a:t>echnology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932;p64">
            <a:extLst>
              <a:ext uri="{FF2B5EF4-FFF2-40B4-BE49-F238E27FC236}">
                <a16:creationId xmlns:a16="http://schemas.microsoft.com/office/drawing/2014/main" id="{5BB47B37-A0CC-49AA-3C2E-F6EC9B54C4DD}"/>
              </a:ext>
            </a:extLst>
          </p:cNvPr>
          <p:cNvSpPr txBox="1"/>
          <p:nvPr/>
        </p:nvSpPr>
        <p:spPr>
          <a:xfrm>
            <a:off x="3325113" y="1472174"/>
            <a:ext cx="39051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1933;p64">
            <a:extLst>
              <a:ext uri="{FF2B5EF4-FFF2-40B4-BE49-F238E27FC236}">
                <a16:creationId xmlns:a16="http://schemas.microsoft.com/office/drawing/2014/main" id="{2C65CDD5-4652-C5C6-B9A4-557CCA79F603}"/>
              </a:ext>
            </a:extLst>
          </p:cNvPr>
          <p:cNvSpPr txBox="1"/>
          <p:nvPr/>
        </p:nvSpPr>
        <p:spPr>
          <a:xfrm>
            <a:off x="9184343" y="2888094"/>
            <a:ext cx="39051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1934;p64">
            <a:extLst>
              <a:ext uri="{FF2B5EF4-FFF2-40B4-BE49-F238E27FC236}">
                <a16:creationId xmlns:a16="http://schemas.microsoft.com/office/drawing/2014/main" id="{4BB07B5C-C7B3-D50E-822C-B11A7FB5FE7E}"/>
              </a:ext>
            </a:extLst>
          </p:cNvPr>
          <p:cNvSpPr txBox="1"/>
          <p:nvPr/>
        </p:nvSpPr>
        <p:spPr>
          <a:xfrm>
            <a:off x="3325113" y="4304005"/>
            <a:ext cx="39051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935;p64">
            <a:extLst>
              <a:ext uri="{FF2B5EF4-FFF2-40B4-BE49-F238E27FC236}">
                <a16:creationId xmlns:a16="http://schemas.microsoft.com/office/drawing/2014/main" id="{E1BEF252-6FBE-D723-0880-7C6B1F2A4FD7}"/>
              </a:ext>
            </a:extLst>
          </p:cNvPr>
          <p:cNvSpPr txBox="1"/>
          <p:nvPr/>
        </p:nvSpPr>
        <p:spPr>
          <a:xfrm>
            <a:off x="9184343" y="5759977"/>
            <a:ext cx="39051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006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g2232d3f3243_0_1366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41" name="Google Shape;1941;g2232d3f3243_0_1366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sp>
        <p:nvSpPr>
          <p:cNvPr id="1942" name="Google Shape;1942;g2232d3f3243_0_1366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92100" marR="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1943" name="Google Shape;1943;g2232d3f3243_0_1366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72</a:t>
            </a:fld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44" name="Google Shape;1944;g2232d3f3243_0_13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g2232d3f3243_0_13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g2232d3f3243_0_1366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g2232d3f3243_0_1366"/>
          <p:cNvSpPr txBox="1"/>
          <p:nvPr/>
        </p:nvSpPr>
        <p:spPr>
          <a:xfrm>
            <a:off x="1974234" y="715834"/>
            <a:ext cx="73245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Proxima Nova"/>
              <a:buNone/>
            </a:pP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r>
              <a:rPr lang="en-US" sz="480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 (15 seconds)</a:t>
            </a:r>
            <a:endParaRPr sz="4800" b="0" i="0" u="none" strike="noStrike" cap="none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0" name="Google Shape;1950;g2232d3f3243_0_1366"/>
          <p:cNvSpPr txBox="1"/>
          <p:nvPr/>
        </p:nvSpPr>
        <p:spPr>
          <a:xfrm>
            <a:off x="961649" y="2088269"/>
            <a:ext cx="102687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 of the following techniques makes DevOps a successful methodology to develop and deliver software?</a:t>
            </a:r>
            <a:endParaRPr sz="2400" dirty="0">
              <a:solidFill>
                <a:srgbClr val="3F3F3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enables you to quickly identify, fix, and learn from errors</a:t>
            </a:r>
            <a:endParaRPr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enables you to organize your teams around your organizational mission</a:t>
            </a:r>
            <a:endParaRPr sz="2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enables you to create your software with built-in quality and monitoring</a:t>
            </a:r>
            <a:endParaRPr sz="2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All of the above</a:t>
            </a: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618;p34">
            <a:extLst>
              <a:ext uri="{FF2B5EF4-FFF2-40B4-BE49-F238E27FC236}">
                <a16:creationId xmlns:a16="http://schemas.microsoft.com/office/drawing/2014/main" id="{B820B648-05F6-9933-9C16-05AA84DF9CC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9FC60B-B4E1-6BBA-0162-3D534660FF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F5BF10-4F28-65C1-99D3-E7408966BB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9408E5-1236-C49B-9A2C-AF9E2F93EE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9BC13D-A821-3406-C81C-23CD35CE498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546C50-D645-5783-EF58-5CAA1DCA1D9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6" name="Google Shape;864;p59">
            <a:extLst>
              <a:ext uri="{FF2B5EF4-FFF2-40B4-BE49-F238E27FC236}">
                <a16:creationId xmlns:a16="http://schemas.microsoft.com/office/drawing/2014/main" id="{C57B3262-93BE-0072-464D-6A8736FC9729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72</a:t>
            </a:fld>
            <a:endParaRPr lang="en-IN" sz="9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g2232d3f3243_0_1366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41" name="Google Shape;1941;g2232d3f3243_0_1366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sp>
        <p:nvSpPr>
          <p:cNvPr id="1942" name="Google Shape;1942;g2232d3f3243_0_1366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92100" marR="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1943" name="Google Shape;1943;g2232d3f3243_0_1366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73</a:t>
            </a:fld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44" name="Google Shape;1944;g2232d3f3243_0_13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g2232d3f3243_0_13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g2232d3f3243_0_1366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g2232d3f3243_0_1366"/>
          <p:cNvSpPr txBox="1"/>
          <p:nvPr/>
        </p:nvSpPr>
        <p:spPr>
          <a:xfrm>
            <a:off x="1974234" y="715834"/>
            <a:ext cx="73245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Proxima Nova"/>
              <a:buNone/>
            </a:pP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r>
              <a:rPr lang="en-US" sz="480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 (15 seconds)</a:t>
            </a:r>
            <a:endParaRPr sz="4800" b="0" i="0" u="none" strike="noStrike" cap="none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0" name="Google Shape;1950;g2232d3f3243_0_1366"/>
          <p:cNvSpPr txBox="1"/>
          <p:nvPr/>
        </p:nvSpPr>
        <p:spPr>
          <a:xfrm>
            <a:off x="961649" y="2088269"/>
            <a:ext cx="102687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 of the following techniques makes DevOps a successful methodology to develop and deliver software?</a:t>
            </a:r>
            <a:endParaRPr sz="2400" dirty="0">
              <a:solidFill>
                <a:srgbClr val="3F3F3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enables you to quickly identify, fix, and learn from errors</a:t>
            </a:r>
            <a:endParaRPr lang="en-US"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enables you to organize your teams around your organizational mission</a:t>
            </a: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enables you to create your software with built-in quality and monitoring</a:t>
            </a: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rgbClr val="FF0000"/>
              </a:buClr>
              <a:buSzPts val="2400"/>
              <a:buFont typeface="Lato"/>
              <a:buAutoNum type="alphaUcPeriod"/>
            </a:pPr>
            <a:r>
              <a:rPr lang="en-US" sz="24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All of the above</a:t>
            </a:r>
            <a:endParaRPr lang="en-US" sz="2400" b="1" i="0" u="none" strike="noStrike" cap="none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618;p34">
            <a:extLst>
              <a:ext uri="{FF2B5EF4-FFF2-40B4-BE49-F238E27FC236}">
                <a16:creationId xmlns:a16="http://schemas.microsoft.com/office/drawing/2014/main" id="{B820B648-05F6-9933-9C16-05AA84DF9CC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9FC60B-B4E1-6BBA-0162-3D534660FF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F5BF10-4F28-65C1-99D3-E7408966BB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9408E5-1236-C49B-9A2C-AF9E2F93EE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9BC13D-A821-3406-C81C-23CD35CE498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546C50-D645-5783-EF58-5CAA1DCA1D9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6" name="Google Shape;864;p59">
            <a:extLst>
              <a:ext uri="{FF2B5EF4-FFF2-40B4-BE49-F238E27FC236}">
                <a16:creationId xmlns:a16="http://schemas.microsoft.com/office/drawing/2014/main" id="{C57B3262-93BE-0072-464D-6A8736FC9729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73</a:t>
            </a:fld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39885116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970;p65">
            <a:extLst>
              <a:ext uri="{FF2B5EF4-FFF2-40B4-BE49-F238E27FC236}">
                <a16:creationId xmlns:a16="http://schemas.microsoft.com/office/drawing/2014/main" id="{7C2D3975-681C-00AA-D2A1-8083BB0BAB85}"/>
              </a:ext>
            </a:extLst>
          </p:cNvPr>
          <p:cNvSpPr txBox="1"/>
          <p:nvPr/>
        </p:nvSpPr>
        <p:spPr>
          <a:xfrm>
            <a:off x="4507513" y="790924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SESSION OVERVIEW: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INTRODUCTION TO DEVOPS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971;p65">
            <a:extLst>
              <a:ext uri="{FF2B5EF4-FFF2-40B4-BE49-F238E27FC236}">
                <a16:creationId xmlns:a16="http://schemas.microsoft.com/office/drawing/2014/main" id="{5F89CACD-3794-6F92-F605-8B9D4E6273A6}"/>
              </a:ext>
            </a:extLst>
          </p:cNvPr>
          <p:cNvSpPr txBox="1"/>
          <p:nvPr/>
        </p:nvSpPr>
        <p:spPr>
          <a:xfrm>
            <a:off x="3957139" y="1648618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is DevOps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972;p65">
            <a:extLst>
              <a:ext uri="{FF2B5EF4-FFF2-40B4-BE49-F238E27FC236}">
                <a16:creationId xmlns:a16="http://schemas.microsoft.com/office/drawing/2014/main" id="{EBA6E12E-144D-110D-BC0E-C71F624DFDBB}"/>
              </a:ext>
            </a:extLst>
          </p:cNvPr>
          <p:cNvSpPr txBox="1"/>
          <p:nvPr/>
        </p:nvSpPr>
        <p:spPr>
          <a:xfrm>
            <a:off x="3957139" y="2546102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Continuous integration and delivery 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973;p65">
            <a:extLst>
              <a:ext uri="{FF2B5EF4-FFF2-40B4-BE49-F238E27FC236}">
                <a16:creationId xmlns:a16="http://schemas.microsoft.com/office/drawing/2014/main" id="{11E8F79F-2C65-7729-E48C-EB2B80A831D8}"/>
              </a:ext>
            </a:extLst>
          </p:cNvPr>
          <p:cNvSpPr txBox="1"/>
          <p:nvPr/>
        </p:nvSpPr>
        <p:spPr>
          <a:xfrm>
            <a:off x="3957139" y="3443586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Principle and core values: 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7"/>
                  </a:ext>
                </a:extLst>
              </a:rPr>
              <a:t>CALMS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framework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974;p65">
            <a:extLst>
              <a:ext uri="{FF2B5EF4-FFF2-40B4-BE49-F238E27FC236}">
                <a16:creationId xmlns:a16="http://schemas.microsoft.com/office/drawing/2014/main" id="{F11B792B-F6D7-4D2A-D33D-02F5B58DD062}"/>
              </a:ext>
            </a:extLst>
          </p:cNvPr>
          <p:cNvSpPr txBox="1"/>
          <p:nvPr/>
        </p:nvSpPr>
        <p:spPr>
          <a:xfrm>
            <a:off x="3957139" y="4341070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Infrastructure as a code 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975;p65">
            <a:extLst>
              <a:ext uri="{FF2B5EF4-FFF2-40B4-BE49-F238E27FC236}">
                <a16:creationId xmlns:a16="http://schemas.microsoft.com/office/drawing/2014/main" id="{12014CEA-8A86-E144-DF30-AA5090EC3CD5}"/>
              </a:ext>
            </a:extLst>
          </p:cNvPr>
          <p:cNvSpPr txBox="1"/>
          <p:nvPr/>
        </p:nvSpPr>
        <p:spPr>
          <a:xfrm>
            <a:off x="3957139" y="5238554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5"/>
            </a:pPr>
            <a:r>
              <a:rPr lang="en-US" sz="1999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Case studies: 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Netflix and Pokémon Go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976;p65">
            <a:extLst>
              <a:ext uri="{FF2B5EF4-FFF2-40B4-BE49-F238E27FC236}">
                <a16:creationId xmlns:a16="http://schemas.microsoft.com/office/drawing/2014/main" id="{E874C6BA-51A2-B763-DAE9-CC4BC879F76A}"/>
              </a:ext>
            </a:extLst>
          </p:cNvPr>
          <p:cNvSpPr txBox="1"/>
          <p:nvPr/>
        </p:nvSpPr>
        <p:spPr>
          <a:xfrm>
            <a:off x="3957139" y="6136036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6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Applications of 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8"/>
                  </a:ext>
                </a:extLst>
              </a:rPr>
              <a:t>DevOps in 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future and myths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related to 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405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1982;p111">
            <a:extLst>
              <a:ext uri="{FF2B5EF4-FFF2-40B4-BE49-F238E27FC236}">
                <a16:creationId xmlns:a16="http://schemas.microsoft.com/office/drawing/2014/main" id="{2CE5F32C-E614-5BA3-2152-5C4021202F0B}"/>
              </a:ext>
            </a:extLst>
          </p:cNvPr>
          <p:cNvGrpSpPr/>
          <p:nvPr/>
        </p:nvGrpSpPr>
        <p:grpSpPr>
          <a:xfrm>
            <a:off x="3033122" y="1802263"/>
            <a:ext cx="6125754" cy="3253476"/>
            <a:chOff x="6071347" y="1755951"/>
            <a:chExt cx="6125754" cy="3253476"/>
          </a:xfrm>
        </p:grpSpPr>
        <p:grpSp>
          <p:nvGrpSpPr>
            <p:cNvPr id="10" name="Google Shape;1983;p111">
              <a:extLst>
                <a:ext uri="{FF2B5EF4-FFF2-40B4-BE49-F238E27FC236}">
                  <a16:creationId xmlns:a16="http://schemas.microsoft.com/office/drawing/2014/main" id="{B151603B-066C-C4A8-82E6-7CEE055F8BC2}"/>
                </a:ext>
              </a:extLst>
            </p:cNvPr>
            <p:cNvGrpSpPr/>
            <p:nvPr/>
          </p:nvGrpSpPr>
          <p:grpSpPr>
            <a:xfrm>
              <a:off x="9005272" y="1755951"/>
              <a:ext cx="3146395" cy="1495313"/>
              <a:chOff x="8563760" y="1258645"/>
              <a:chExt cx="3146395" cy="1495313"/>
            </a:xfrm>
          </p:grpSpPr>
          <p:sp>
            <p:nvSpPr>
              <p:cNvPr id="23" name="Google Shape;1984;p111">
                <a:extLst>
                  <a:ext uri="{FF2B5EF4-FFF2-40B4-BE49-F238E27FC236}">
                    <a16:creationId xmlns:a16="http://schemas.microsoft.com/office/drawing/2014/main" id="{140C422E-74B9-B988-1714-D27602819A07}"/>
                  </a:ext>
                </a:extLst>
              </p:cNvPr>
              <p:cNvSpPr/>
              <p:nvPr/>
            </p:nvSpPr>
            <p:spPr>
              <a:xfrm>
                <a:off x="8563760" y="1258645"/>
                <a:ext cx="1795853" cy="1495313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34950" cap="flat" cmpd="sng">
                <a:solidFill>
                  <a:srgbClr val="E7E6E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985;p111">
                <a:extLst>
                  <a:ext uri="{FF2B5EF4-FFF2-40B4-BE49-F238E27FC236}">
                    <a16:creationId xmlns:a16="http://schemas.microsoft.com/office/drawing/2014/main" id="{862E7B19-8324-4B39-C3F2-F37735394E84}"/>
                  </a:ext>
                </a:extLst>
              </p:cNvPr>
              <p:cNvSpPr/>
              <p:nvPr/>
            </p:nvSpPr>
            <p:spPr>
              <a:xfrm>
                <a:off x="9031738" y="1378212"/>
                <a:ext cx="2678417" cy="1260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381000" sx="79000" sy="79000" algn="ctr" rotWithShape="0">
                  <a:srgbClr val="D0CECE"/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" name="Google Shape;1986;p111">
              <a:extLst>
                <a:ext uri="{FF2B5EF4-FFF2-40B4-BE49-F238E27FC236}">
                  <a16:creationId xmlns:a16="http://schemas.microsoft.com/office/drawing/2014/main" id="{2E49D2A7-86A6-E497-1F36-1C90F62680E2}"/>
                </a:ext>
              </a:extLst>
            </p:cNvPr>
            <p:cNvSpPr txBox="1"/>
            <p:nvPr/>
          </p:nvSpPr>
          <p:spPr>
            <a:xfrm>
              <a:off x="10002237" y="2180442"/>
              <a:ext cx="1927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E7E6E6"/>
                  </a:solidFill>
                  <a:latin typeface="Lato"/>
                  <a:ea typeface="Lato"/>
                  <a:cs typeface="Lato"/>
                  <a:sym typeface="Lato"/>
                </a:rPr>
                <a:t>Minimum Viable Product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987;p111">
              <a:extLst>
                <a:ext uri="{FF2B5EF4-FFF2-40B4-BE49-F238E27FC236}">
                  <a16:creationId xmlns:a16="http://schemas.microsoft.com/office/drawing/2014/main" id="{C6262072-A968-410E-DD76-6FE9F0057ACA}"/>
                </a:ext>
              </a:extLst>
            </p:cNvPr>
            <p:cNvGrpSpPr/>
            <p:nvPr/>
          </p:nvGrpSpPr>
          <p:grpSpPr>
            <a:xfrm flipH="1">
              <a:off x="6071347" y="2650568"/>
              <a:ext cx="3078409" cy="1495313"/>
              <a:chOff x="8563760" y="1258645"/>
              <a:chExt cx="3078409" cy="1495313"/>
            </a:xfrm>
          </p:grpSpPr>
          <p:sp>
            <p:nvSpPr>
              <p:cNvPr id="21" name="Google Shape;1988;p111">
                <a:extLst>
                  <a:ext uri="{FF2B5EF4-FFF2-40B4-BE49-F238E27FC236}">
                    <a16:creationId xmlns:a16="http://schemas.microsoft.com/office/drawing/2014/main" id="{00BBB082-131D-07BA-CBDD-02ADF3B1805E}"/>
                  </a:ext>
                </a:extLst>
              </p:cNvPr>
              <p:cNvSpPr/>
              <p:nvPr/>
            </p:nvSpPr>
            <p:spPr>
              <a:xfrm>
                <a:off x="8563760" y="1258645"/>
                <a:ext cx="1795853" cy="1495313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34950" cap="flat" cmpd="sng">
                <a:solidFill>
                  <a:srgbClr val="E7E6E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1989;p111">
                <a:extLst>
                  <a:ext uri="{FF2B5EF4-FFF2-40B4-BE49-F238E27FC236}">
                    <a16:creationId xmlns:a16="http://schemas.microsoft.com/office/drawing/2014/main" id="{38C1741F-1338-42FB-6162-6AA264A52DEA}"/>
                  </a:ext>
                </a:extLst>
              </p:cNvPr>
              <p:cNvSpPr/>
              <p:nvPr/>
            </p:nvSpPr>
            <p:spPr>
              <a:xfrm>
                <a:off x="9023501" y="1378151"/>
                <a:ext cx="2618668" cy="125986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381000" sx="79000" sy="79000" algn="ctr" rotWithShape="0">
                  <a:srgbClr val="D0CECE"/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" name="Google Shape;1990;p111">
              <a:extLst>
                <a:ext uri="{FF2B5EF4-FFF2-40B4-BE49-F238E27FC236}">
                  <a16:creationId xmlns:a16="http://schemas.microsoft.com/office/drawing/2014/main" id="{834A0837-BCBC-1E44-DC22-AAAC8CE8D866}"/>
                </a:ext>
              </a:extLst>
            </p:cNvPr>
            <p:cNvSpPr txBox="1"/>
            <p:nvPr/>
          </p:nvSpPr>
          <p:spPr>
            <a:xfrm>
              <a:off x="6378257" y="3075059"/>
              <a:ext cx="189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E7E6E6"/>
                  </a:solidFill>
                  <a:latin typeface="Lato"/>
                  <a:ea typeface="Lato"/>
                  <a:cs typeface="Lato"/>
                  <a:sym typeface="Lato"/>
                </a:rPr>
                <a:t>Introduction to DevOps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" name="Google Shape;1991;p111">
              <a:extLst>
                <a:ext uri="{FF2B5EF4-FFF2-40B4-BE49-F238E27FC236}">
                  <a16:creationId xmlns:a16="http://schemas.microsoft.com/office/drawing/2014/main" id="{6A20F05C-16E0-5D7B-19AF-9889CAB23C03}"/>
                </a:ext>
              </a:extLst>
            </p:cNvPr>
            <p:cNvGrpSpPr/>
            <p:nvPr/>
          </p:nvGrpSpPr>
          <p:grpSpPr>
            <a:xfrm>
              <a:off x="9013510" y="3514114"/>
              <a:ext cx="3183591" cy="1495313"/>
              <a:chOff x="8563760" y="1258645"/>
              <a:chExt cx="3183591" cy="1495313"/>
            </a:xfrm>
          </p:grpSpPr>
          <p:sp>
            <p:nvSpPr>
              <p:cNvPr id="19" name="Google Shape;1992;p111">
                <a:extLst>
                  <a:ext uri="{FF2B5EF4-FFF2-40B4-BE49-F238E27FC236}">
                    <a16:creationId xmlns:a16="http://schemas.microsoft.com/office/drawing/2014/main" id="{EE033547-5FC3-0E49-8A4E-E2E0425059DA}"/>
                  </a:ext>
                </a:extLst>
              </p:cNvPr>
              <p:cNvSpPr/>
              <p:nvPr/>
            </p:nvSpPr>
            <p:spPr>
              <a:xfrm>
                <a:off x="8563760" y="1258645"/>
                <a:ext cx="1795853" cy="1495313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34950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1993;p111">
                <a:extLst>
                  <a:ext uri="{FF2B5EF4-FFF2-40B4-BE49-F238E27FC236}">
                    <a16:creationId xmlns:a16="http://schemas.microsoft.com/office/drawing/2014/main" id="{B7AEDB1E-E5F9-441A-DB02-F00750F2BD7F}"/>
                  </a:ext>
                </a:extLst>
              </p:cNvPr>
              <p:cNvSpPr/>
              <p:nvPr/>
            </p:nvSpPr>
            <p:spPr>
              <a:xfrm>
                <a:off x="9023500" y="1378151"/>
                <a:ext cx="2723851" cy="125986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381000" sx="79000" sy="79000" algn="ctr" rotWithShape="0">
                  <a:srgbClr val="D0CECE"/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994;p111">
              <a:extLst>
                <a:ext uri="{FF2B5EF4-FFF2-40B4-BE49-F238E27FC236}">
                  <a16:creationId xmlns:a16="http://schemas.microsoft.com/office/drawing/2014/main" id="{9E3D4267-AC3F-9CA3-EA32-1AFB1AC586A5}"/>
                </a:ext>
              </a:extLst>
            </p:cNvPr>
            <p:cNvSpPr txBox="1"/>
            <p:nvPr/>
          </p:nvSpPr>
          <p:spPr>
            <a:xfrm>
              <a:off x="10002237" y="3928282"/>
              <a:ext cx="1698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rPr>
                <a:t>DevOps Road Map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995;p111" descr="Puzzle">
              <a:extLst>
                <a:ext uri="{FF2B5EF4-FFF2-40B4-BE49-F238E27FC236}">
                  <a16:creationId xmlns:a16="http://schemas.microsoft.com/office/drawing/2014/main" id="{FDFE6FA4-70B9-DCC6-BA6E-E128172AAA1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391852" y="2183567"/>
              <a:ext cx="640080" cy="64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996;p111" descr="Home">
              <a:extLst>
                <a:ext uri="{FF2B5EF4-FFF2-40B4-BE49-F238E27FC236}">
                  <a16:creationId xmlns:a16="http://schemas.microsoft.com/office/drawing/2014/main" id="{D37F0E82-52C2-A829-AF28-4EDF491578BE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69328" y="3078184"/>
              <a:ext cx="640080" cy="64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997;p111" descr="Infinity">
              <a:extLst>
                <a:ext uri="{FF2B5EF4-FFF2-40B4-BE49-F238E27FC236}">
                  <a16:creationId xmlns:a16="http://schemas.microsoft.com/office/drawing/2014/main" id="{B705C643-0C62-4B0F-030C-798040095FD3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335360" y="3941730"/>
              <a:ext cx="640080" cy="64008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828531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03;p66">
            <a:extLst>
              <a:ext uri="{FF2B5EF4-FFF2-40B4-BE49-F238E27FC236}">
                <a16:creationId xmlns:a16="http://schemas.microsoft.com/office/drawing/2014/main" id="{E0076B61-4DC3-6AD4-6E62-DDB1FFD9B697}"/>
              </a:ext>
            </a:extLst>
          </p:cNvPr>
          <p:cNvSpPr txBox="1"/>
          <p:nvPr/>
        </p:nvSpPr>
        <p:spPr>
          <a:xfrm>
            <a:off x="3839363" y="1251967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>
                <a:highlight>
                  <a:srgbClr val="00FF00"/>
                </a:highlight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9"/>
                  </a:ext>
                </a:extLst>
              </a:rPr>
              <a:t>DEVOPS ROAD MAP</a:t>
            </a:r>
            <a:endParaRPr>
              <a:highlight>
                <a:srgbClr val="00FF00"/>
              </a:highlight>
            </a:endParaRPr>
          </a:p>
        </p:txBody>
      </p:sp>
      <p:sp>
        <p:nvSpPr>
          <p:cNvPr id="10" name="Google Shape;2004;p66">
            <a:extLst>
              <a:ext uri="{FF2B5EF4-FFF2-40B4-BE49-F238E27FC236}">
                <a16:creationId xmlns:a16="http://schemas.microsoft.com/office/drawing/2014/main" id="{55556CC4-308E-574D-5DB5-B5953DA4BC6C}"/>
              </a:ext>
            </a:extLst>
          </p:cNvPr>
          <p:cNvSpPr/>
          <p:nvPr/>
        </p:nvSpPr>
        <p:spPr>
          <a:xfrm>
            <a:off x="3600450" y="2074004"/>
            <a:ext cx="4991100" cy="4081800"/>
          </a:xfrm>
          <a:prstGeom prst="roundRect">
            <a:avLst>
              <a:gd name="adj" fmla="val 553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0"/>
                  </a:ext>
                </a:extLst>
              </a:rPr>
              <a:t>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1"/>
                  </a:ext>
                </a:extLst>
              </a:rPr>
              <a:t> completi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2"/>
                  </a:ext>
                </a:extLst>
              </a:rPr>
              <a:t>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3"/>
                  </a:ext>
                </a:extLst>
              </a:rPr>
              <a:t> this, you will learn: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 necessary tools and technology to excel in DevOps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roles and responsibilities of a DevOps engineer in the industry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471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09;p67">
            <a:extLst>
              <a:ext uri="{FF2B5EF4-FFF2-40B4-BE49-F238E27FC236}">
                <a16:creationId xmlns:a16="http://schemas.microsoft.com/office/drawing/2014/main" id="{0A18DFE8-449C-614C-44CD-CBFE64C9EB5F}"/>
              </a:ext>
            </a:extLst>
          </p:cNvPr>
          <p:cNvSpPr txBox="1"/>
          <p:nvPr/>
        </p:nvSpPr>
        <p:spPr>
          <a:xfrm>
            <a:off x="662337" y="1006745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2010;p67">
            <a:extLst>
              <a:ext uri="{FF2B5EF4-FFF2-40B4-BE49-F238E27FC236}">
                <a16:creationId xmlns:a16="http://schemas.microsoft.com/office/drawing/2014/main" id="{3F764ABE-9CDB-2E6D-26EE-47B90EE7D300}"/>
              </a:ext>
            </a:extLst>
          </p:cNvPr>
          <p:cNvGrpSpPr/>
          <p:nvPr/>
        </p:nvGrpSpPr>
        <p:grpSpPr>
          <a:xfrm>
            <a:off x="374377" y="1719044"/>
            <a:ext cx="3152978" cy="1188720"/>
            <a:chOff x="374377" y="1508732"/>
            <a:chExt cx="3152978" cy="1188720"/>
          </a:xfrm>
        </p:grpSpPr>
        <p:sp>
          <p:nvSpPr>
            <p:cNvPr id="11" name="Google Shape;2011;p67">
              <a:extLst>
                <a:ext uri="{FF2B5EF4-FFF2-40B4-BE49-F238E27FC236}">
                  <a16:creationId xmlns:a16="http://schemas.microsoft.com/office/drawing/2014/main" id="{3F366D00-0A66-8C60-3EDE-88097CDBF554}"/>
                </a:ext>
              </a:extLst>
            </p:cNvPr>
            <p:cNvSpPr/>
            <p:nvPr/>
          </p:nvSpPr>
          <p:spPr>
            <a:xfrm>
              <a:off x="1043377" y="1508732"/>
              <a:ext cx="2483978" cy="118872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4"/>
                    </a:ext>
                  </a:extLst>
                </a:rPr>
                <a:t>Learn </a:t>
              </a:r>
              <a:r>
                <a:rPr lang="en-US" sz="16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5"/>
                    </a:ext>
                  </a:extLst>
                </a:rPr>
                <a:t>p</a:t>
              </a: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6"/>
                    </a:ext>
                  </a:extLst>
                </a:rPr>
                <a:t>rogramming and </a:t>
              </a:r>
              <a:r>
                <a:rPr lang="en-US" sz="16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7"/>
                    </a:ext>
                  </a:extLst>
                </a:rPr>
                <a:t>s</a:t>
              </a: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8"/>
                    </a:ext>
                  </a:extLst>
                </a:rPr>
                <a:t>cripting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2" name="Google Shape;2012;p67">
              <a:extLst>
                <a:ext uri="{FF2B5EF4-FFF2-40B4-BE49-F238E27FC236}">
                  <a16:creationId xmlns:a16="http://schemas.microsoft.com/office/drawing/2014/main" id="{15A4E466-CE73-F3E9-96BD-7B715999F71B}"/>
                </a:ext>
              </a:extLst>
            </p:cNvPr>
            <p:cNvCxnSpPr>
              <a:endCxn id="11" idx="1"/>
            </p:cNvCxnSpPr>
            <p:nvPr/>
          </p:nvCxnSpPr>
          <p:spPr>
            <a:xfrm>
              <a:off x="374377" y="2103092"/>
              <a:ext cx="669000" cy="0"/>
            </a:xfrm>
            <a:prstGeom prst="straightConnector1">
              <a:avLst/>
            </a:prstGeom>
            <a:noFill/>
            <a:ln w="2857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3" name="Google Shape;2013;p67">
            <a:extLst>
              <a:ext uri="{FF2B5EF4-FFF2-40B4-BE49-F238E27FC236}">
                <a16:creationId xmlns:a16="http://schemas.microsoft.com/office/drawing/2014/main" id="{6D60006A-8F96-D403-3343-B15E48276D88}"/>
              </a:ext>
            </a:extLst>
          </p:cNvPr>
          <p:cNvGrpSpPr/>
          <p:nvPr/>
        </p:nvGrpSpPr>
        <p:grpSpPr>
          <a:xfrm>
            <a:off x="3527355" y="1719044"/>
            <a:ext cx="3787171" cy="1188720"/>
            <a:chOff x="3527355" y="1508732"/>
            <a:chExt cx="3787171" cy="1188720"/>
          </a:xfrm>
        </p:grpSpPr>
        <p:sp>
          <p:nvSpPr>
            <p:cNvPr id="14" name="Google Shape;2014;p67">
              <a:extLst>
                <a:ext uri="{FF2B5EF4-FFF2-40B4-BE49-F238E27FC236}">
                  <a16:creationId xmlns:a16="http://schemas.microsoft.com/office/drawing/2014/main" id="{DBE4B118-46C8-40C3-5F4E-F57FBE452A7E}"/>
                </a:ext>
              </a:extLst>
            </p:cNvPr>
            <p:cNvSpPr/>
            <p:nvPr/>
          </p:nvSpPr>
          <p:spPr>
            <a:xfrm>
              <a:off x="4830548" y="1508732"/>
              <a:ext cx="2483978" cy="118872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Understand </a:t>
              </a:r>
              <a:r>
                <a:rPr lang="en-US" sz="16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</a:t>
              </a: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ifferent OS concepts and Linux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" name="Google Shape;2015;p67">
              <a:extLst>
                <a:ext uri="{FF2B5EF4-FFF2-40B4-BE49-F238E27FC236}">
                  <a16:creationId xmlns:a16="http://schemas.microsoft.com/office/drawing/2014/main" id="{AD528C89-A2AC-B043-4712-83F7832969F3}"/>
                </a:ext>
              </a:extLst>
            </p:cNvPr>
            <p:cNvCxnSpPr>
              <a:stCxn id="11" idx="3"/>
              <a:endCxn id="14" idx="1"/>
            </p:cNvCxnSpPr>
            <p:nvPr/>
          </p:nvCxnSpPr>
          <p:spPr>
            <a:xfrm flipV="1">
              <a:off x="3527355" y="2103092"/>
              <a:ext cx="1303193" cy="36576"/>
            </a:xfrm>
            <a:prstGeom prst="straightConnector1">
              <a:avLst/>
            </a:prstGeom>
            <a:noFill/>
            <a:ln w="2857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" name="Google Shape;2016;p67">
            <a:extLst>
              <a:ext uri="{FF2B5EF4-FFF2-40B4-BE49-F238E27FC236}">
                <a16:creationId xmlns:a16="http://schemas.microsoft.com/office/drawing/2014/main" id="{4E8017F1-66A5-5946-42D0-2079726FFEA8}"/>
              </a:ext>
            </a:extLst>
          </p:cNvPr>
          <p:cNvGrpSpPr/>
          <p:nvPr/>
        </p:nvGrpSpPr>
        <p:grpSpPr>
          <a:xfrm>
            <a:off x="7332614" y="1719044"/>
            <a:ext cx="3769084" cy="1188720"/>
            <a:chOff x="7332614" y="1508732"/>
            <a:chExt cx="3769084" cy="1188720"/>
          </a:xfrm>
        </p:grpSpPr>
        <p:sp>
          <p:nvSpPr>
            <p:cNvPr id="17" name="Google Shape;2017;p67">
              <a:extLst>
                <a:ext uri="{FF2B5EF4-FFF2-40B4-BE49-F238E27FC236}">
                  <a16:creationId xmlns:a16="http://schemas.microsoft.com/office/drawing/2014/main" id="{96C1DEAD-4801-E6FA-5300-E793F6A149F5}"/>
                </a:ext>
              </a:extLst>
            </p:cNvPr>
            <p:cNvSpPr/>
            <p:nvPr/>
          </p:nvSpPr>
          <p:spPr>
            <a:xfrm>
              <a:off x="8617720" y="1508732"/>
              <a:ext cx="2483978" cy="118872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9"/>
                    </a:ext>
                  </a:extLst>
                </a:rPr>
                <a:t>Set</a:t>
              </a:r>
              <a:r>
                <a:rPr lang="en-US" sz="16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0"/>
                    </a:ext>
                  </a:extLst>
                </a:rPr>
                <a:t>ting up a </a:t>
              </a: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1"/>
                    </a:ext>
                  </a:extLst>
                </a:rPr>
                <a:t> </a:t>
              </a:r>
              <a:r>
                <a:rPr lang="en-US" sz="16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2"/>
                    </a:ext>
                  </a:extLst>
                </a:rPr>
                <a:t>m</a:t>
              </a: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3"/>
                    </a:ext>
                  </a:extLst>
                </a:rPr>
                <a:t>achine</a:t>
              </a:r>
              <a:endPara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-Linux and Networking</a:t>
              </a:r>
              <a:endPara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- Servers and Load balancers</a:t>
              </a:r>
              <a:endPara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8" name="Google Shape;2018;p67">
              <a:extLst>
                <a:ext uri="{FF2B5EF4-FFF2-40B4-BE49-F238E27FC236}">
                  <a16:creationId xmlns:a16="http://schemas.microsoft.com/office/drawing/2014/main" id="{3D2FB31B-89BD-2C5E-5EB0-ACA39DA7AF2D}"/>
                </a:ext>
              </a:extLst>
            </p:cNvPr>
            <p:cNvCxnSpPr/>
            <p:nvPr/>
          </p:nvCxnSpPr>
          <p:spPr>
            <a:xfrm>
              <a:off x="7332614" y="2103092"/>
              <a:ext cx="1285106" cy="0"/>
            </a:xfrm>
            <a:prstGeom prst="straightConnector1">
              <a:avLst/>
            </a:prstGeom>
            <a:noFill/>
            <a:ln w="2857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9" name="Google Shape;2019;p67">
            <a:extLst>
              <a:ext uri="{FF2B5EF4-FFF2-40B4-BE49-F238E27FC236}">
                <a16:creationId xmlns:a16="http://schemas.microsoft.com/office/drawing/2014/main" id="{8D53D0EC-8E30-6137-31BB-05DBB7AD99F6}"/>
              </a:ext>
            </a:extLst>
          </p:cNvPr>
          <p:cNvGrpSpPr/>
          <p:nvPr/>
        </p:nvGrpSpPr>
        <p:grpSpPr>
          <a:xfrm>
            <a:off x="1041586" y="3493669"/>
            <a:ext cx="3788962" cy="1188720"/>
            <a:chOff x="1041586" y="3283357"/>
            <a:chExt cx="3788962" cy="1188720"/>
          </a:xfrm>
        </p:grpSpPr>
        <p:sp>
          <p:nvSpPr>
            <p:cNvPr id="20" name="Google Shape;2020;p67">
              <a:extLst>
                <a:ext uri="{FF2B5EF4-FFF2-40B4-BE49-F238E27FC236}">
                  <a16:creationId xmlns:a16="http://schemas.microsoft.com/office/drawing/2014/main" id="{5DFD9D07-56F1-BD6F-EF9E-8A20B22C0EBF}"/>
                </a:ext>
              </a:extLst>
            </p:cNvPr>
            <p:cNvSpPr/>
            <p:nvPr/>
          </p:nvSpPr>
          <p:spPr>
            <a:xfrm>
              <a:off x="1041586" y="3283357"/>
              <a:ext cx="2483978" cy="118872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Containeri</a:t>
              </a:r>
              <a:r>
                <a:rPr lang="en-US" sz="16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z</a:t>
              </a: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ation</a:t>
              </a:r>
              <a:endPara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1" name="Google Shape;2021;p67">
              <a:extLst>
                <a:ext uri="{FF2B5EF4-FFF2-40B4-BE49-F238E27FC236}">
                  <a16:creationId xmlns:a16="http://schemas.microsoft.com/office/drawing/2014/main" id="{0FABD724-2070-D1F5-4BBF-F5E1E9C4BAD4}"/>
                </a:ext>
              </a:extLst>
            </p:cNvPr>
            <p:cNvCxnSpPr/>
            <p:nvPr/>
          </p:nvCxnSpPr>
          <p:spPr>
            <a:xfrm>
              <a:off x="3527355" y="3877717"/>
              <a:ext cx="1303193" cy="0"/>
            </a:xfrm>
            <a:prstGeom prst="straightConnector1">
              <a:avLst/>
            </a:prstGeom>
            <a:noFill/>
            <a:ln w="2857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2" name="Google Shape;2022;p67">
            <a:extLst>
              <a:ext uri="{FF2B5EF4-FFF2-40B4-BE49-F238E27FC236}">
                <a16:creationId xmlns:a16="http://schemas.microsoft.com/office/drawing/2014/main" id="{C9E1F5C2-BD78-5997-A1F7-9C28CB9F960C}"/>
              </a:ext>
            </a:extLst>
          </p:cNvPr>
          <p:cNvGrpSpPr/>
          <p:nvPr/>
        </p:nvGrpSpPr>
        <p:grpSpPr>
          <a:xfrm>
            <a:off x="4830548" y="3493669"/>
            <a:ext cx="3787172" cy="1188720"/>
            <a:chOff x="4830548" y="3283357"/>
            <a:chExt cx="3787172" cy="1188720"/>
          </a:xfrm>
        </p:grpSpPr>
        <p:sp>
          <p:nvSpPr>
            <p:cNvPr id="23" name="Google Shape;2023;p67">
              <a:extLst>
                <a:ext uri="{FF2B5EF4-FFF2-40B4-BE49-F238E27FC236}">
                  <a16:creationId xmlns:a16="http://schemas.microsoft.com/office/drawing/2014/main" id="{8375AF13-24B1-6015-38D2-DD49ACD532E1}"/>
                </a:ext>
              </a:extLst>
            </p:cNvPr>
            <p:cNvSpPr/>
            <p:nvPr/>
          </p:nvSpPr>
          <p:spPr>
            <a:xfrm>
              <a:off x="4830548" y="3283357"/>
              <a:ext cx="2483978" cy="118872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CI/CD Tools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4" name="Google Shape;2024;p67">
              <a:extLst>
                <a:ext uri="{FF2B5EF4-FFF2-40B4-BE49-F238E27FC236}">
                  <a16:creationId xmlns:a16="http://schemas.microsoft.com/office/drawing/2014/main" id="{05A774A5-D388-921B-6DF6-C0B84F8AD1FF}"/>
                </a:ext>
              </a:extLst>
            </p:cNvPr>
            <p:cNvCxnSpPr/>
            <p:nvPr/>
          </p:nvCxnSpPr>
          <p:spPr>
            <a:xfrm>
              <a:off x="7332614" y="3877717"/>
              <a:ext cx="1285106" cy="0"/>
            </a:xfrm>
            <a:prstGeom prst="straightConnector1">
              <a:avLst/>
            </a:prstGeom>
            <a:noFill/>
            <a:ln w="2857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5" name="Google Shape;2025;p67">
            <a:extLst>
              <a:ext uri="{FF2B5EF4-FFF2-40B4-BE49-F238E27FC236}">
                <a16:creationId xmlns:a16="http://schemas.microsoft.com/office/drawing/2014/main" id="{4960BF95-38C4-AE47-5300-28B9B607DD0B}"/>
              </a:ext>
            </a:extLst>
          </p:cNvPr>
          <p:cNvGrpSpPr/>
          <p:nvPr/>
        </p:nvGrpSpPr>
        <p:grpSpPr>
          <a:xfrm>
            <a:off x="3527355" y="5268295"/>
            <a:ext cx="3787171" cy="1188720"/>
            <a:chOff x="3527355" y="5057983"/>
            <a:chExt cx="3787171" cy="1188720"/>
          </a:xfrm>
        </p:grpSpPr>
        <p:sp>
          <p:nvSpPr>
            <p:cNvPr id="26" name="Google Shape;2026;p67">
              <a:extLst>
                <a:ext uri="{FF2B5EF4-FFF2-40B4-BE49-F238E27FC236}">
                  <a16:creationId xmlns:a16="http://schemas.microsoft.com/office/drawing/2014/main" id="{65865CE8-5767-1EED-1E51-E10E018726C2}"/>
                </a:ext>
              </a:extLst>
            </p:cNvPr>
            <p:cNvSpPr/>
            <p:nvPr/>
          </p:nvSpPr>
          <p:spPr>
            <a:xfrm>
              <a:off x="4830548" y="5057983"/>
              <a:ext cx="2483978" cy="118872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Infrastructure as a Code</a:t>
              </a:r>
              <a:endPara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7" name="Google Shape;2027;p67">
              <a:extLst>
                <a:ext uri="{FF2B5EF4-FFF2-40B4-BE49-F238E27FC236}">
                  <a16:creationId xmlns:a16="http://schemas.microsoft.com/office/drawing/2014/main" id="{F322732C-B90C-DB15-0F72-6C7B9D5586A7}"/>
                </a:ext>
              </a:extLst>
            </p:cNvPr>
            <p:cNvCxnSpPr/>
            <p:nvPr/>
          </p:nvCxnSpPr>
          <p:spPr>
            <a:xfrm>
              <a:off x="3527355" y="5652343"/>
              <a:ext cx="1303193" cy="0"/>
            </a:xfrm>
            <a:prstGeom prst="straightConnector1">
              <a:avLst/>
            </a:prstGeom>
            <a:noFill/>
            <a:ln w="2857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" name="Google Shape;2028;p67">
            <a:extLst>
              <a:ext uri="{FF2B5EF4-FFF2-40B4-BE49-F238E27FC236}">
                <a16:creationId xmlns:a16="http://schemas.microsoft.com/office/drawing/2014/main" id="{D6DE7CEA-B58B-5738-C63A-1341EB8240E6}"/>
              </a:ext>
            </a:extLst>
          </p:cNvPr>
          <p:cNvGrpSpPr/>
          <p:nvPr/>
        </p:nvGrpSpPr>
        <p:grpSpPr>
          <a:xfrm>
            <a:off x="8602086" y="2313404"/>
            <a:ext cx="3131678" cy="2368985"/>
            <a:chOff x="8602086" y="2103092"/>
            <a:chExt cx="3131678" cy="2368985"/>
          </a:xfrm>
        </p:grpSpPr>
        <p:sp>
          <p:nvSpPr>
            <p:cNvPr id="29" name="Google Shape;2029;p67">
              <a:extLst>
                <a:ext uri="{FF2B5EF4-FFF2-40B4-BE49-F238E27FC236}">
                  <a16:creationId xmlns:a16="http://schemas.microsoft.com/office/drawing/2014/main" id="{9E31C2F2-DE7D-7242-CC92-68F915F4F3A1}"/>
                </a:ext>
              </a:extLst>
            </p:cNvPr>
            <p:cNvSpPr/>
            <p:nvPr/>
          </p:nvSpPr>
          <p:spPr>
            <a:xfrm>
              <a:off x="8602086" y="3283357"/>
              <a:ext cx="2483978" cy="118872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Version Control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" name="Google Shape;2030;p67">
              <a:extLst>
                <a:ext uri="{FF2B5EF4-FFF2-40B4-BE49-F238E27FC236}">
                  <a16:creationId xmlns:a16="http://schemas.microsoft.com/office/drawing/2014/main" id="{CF9FBF2A-C362-0E2A-99F5-714F7B44405F}"/>
                </a:ext>
              </a:extLst>
            </p:cNvPr>
            <p:cNvSpPr/>
            <p:nvPr/>
          </p:nvSpPr>
          <p:spPr>
            <a:xfrm>
              <a:off x="11086064" y="2103092"/>
              <a:ext cx="647700" cy="1828800"/>
            </a:xfrm>
            <a:custGeom>
              <a:avLst/>
              <a:gdLst/>
              <a:ahLst/>
              <a:cxnLst/>
              <a:rect l="l" t="t" r="r" b="b"/>
              <a:pathLst>
                <a:path w="647700" h="1828800" extrusionOk="0">
                  <a:moveTo>
                    <a:pt x="0" y="0"/>
                  </a:moveTo>
                  <a:lnTo>
                    <a:pt x="647700" y="0"/>
                  </a:lnTo>
                  <a:lnTo>
                    <a:pt x="647700" y="1828800"/>
                  </a:lnTo>
                  <a:lnTo>
                    <a:pt x="0" y="1828800"/>
                  </a:lnTo>
                </a:path>
              </a:pathLst>
            </a:custGeom>
            <a:noFill/>
            <a:ln w="2857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2031;p67">
            <a:extLst>
              <a:ext uri="{FF2B5EF4-FFF2-40B4-BE49-F238E27FC236}">
                <a16:creationId xmlns:a16="http://schemas.microsoft.com/office/drawing/2014/main" id="{6374489E-A7D4-D838-9A79-FFF2D2ABC35F}"/>
              </a:ext>
            </a:extLst>
          </p:cNvPr>
          <p:cNvGrpSpPr/>
          <p:nvPr/>
        </p:nvGrpSpPr>
        <p:grpSpPr>
          <a:xfrm>
            <a:off x="374433" y="4033855"/>
            <a:ext cx="3155411" cy="2423160"/>
            <a:chOff x="374433" y="3823543"/>
            <a:chExt cx="3155411" cy="2423160"/>
          </a:xfrm>
        </p:grpSpPr>
        <p:sp>
          <p:nvSpPr>
            <p:cNvPr id="32" name="Google Shape;2032;p67">
              <a:extLst>
                <a:ext uri="{FF2B5EF4-FFF2-40B4-BE49-F238E27FC236}">
                  <a16:creationId xmlns:a16="http://schemas.microsoft.com/office/drawing/2014/main" id="{1D4D8800-C268-2DA4-118B-87A91E2C4128}"/>
                </a:ext>
              </a:extLst>
            </p:cNvPr>
            <p:cNvSpPr/>
            <p:nvPr/>
          </p:nvSpPr>
          <p:spPr>
            <a:xfrm>
              <a:off x="1045866" y="5057983"/>
              <a:ext cx="2483978" cy="118872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Cloud Services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" name="Google Shape;2033;p67">
              <a:extLst>
                <a:ext uri="{FF2B5EF4-FFF2-40B4-BE49-F238E27FC236}">
                  <a16:creationId xmlns:a16="http://schemas.microsoft.com/office/drawing/2014/main" id="{EE96644C-01D0-96FA-069C-74B021A6FBCE}"/>
                </a:ext>
              </a:extLst>
            </p:cNvPr>
            <p:cNvSpPr/>
            <p:nvPr/>
          </p:nvSpPr>
          <p:spPr>
            <a:xfrm flipH="1">
              <a:off x="374433" y="3823543"/>
              <a:ext cx="647700" cy="1828800"/>
            </a:xfrm>
            <a:custGeom>
              <a:avLst/>
              <a:gdLst/>
              <a:ahLst/>
              <a:cxnLst/>
              <a:rect l="l" t="t" r="r" b="b"/>
              <a:pathLst>
                <a:path w="647700" h="1828800" extrusionOk="0">
                  <a:moveTo>
                    <a:pt x="0" y="0"/>
                  </a:moveTo>
                  <a:lnTo>
                    <a:pt x="647700" y="0"/>
                  </a:lnTo>
                  <a:lnTo>
                    <a:pt x="647700" y="1828800"/>
                  </a:lnTo>
                  <a:lnTo>
                    <a:pt x="0" y="1828800"/>
                  </a:lnTo>
                </a:path>
              </a:pathLst>
            </a:custGeom>
            <a:noFill/>
            <a:ln w="2857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" name="Google Shape;2034;p67">
            <a:extLst>
              <a:ext uri="{FF2B5EF4-FFF2-40B4-BE49-F238E27FC236}">
                <a16:creationId xmlns:a16="http://schemas.microsoft.com/office/drawing/2014/main" id="{670251FB-6ABF-B759-DB90-280B3AA0E007}"/>
              </a:ext>
            </a:extLst>
          </p:cNvPr>
          <p:cNvGrpSpPr/>
          <p:nvPr/>
        </p:nvGrpSpPr>
        <p:grpSpPr>
          <a:xfrm>
            <a:off x="7332614" y="5268295"/>
            <a:ext cx="4401150" cy="1188720"/>
            <a:chOff x="7332614" y="5057983"/>
            <a:chExt cx="4401150" cy="1188720"/>
          </a:xfrm>
        </p:grpSpPr>
        <p:grpSp>
          <p:nvGrpSpPr>
            <p:cNvPr id="35" name="Google Shape;2035;p67">
              <a:extLst>
                <a:ext uri="{FF2B5EF4-FFF2-40B4-BE49-F238E27FC236}">
                  <a16:creationId xmlns:a16="http://schemas.microsoft.com/office/drawing/2014/main" id="{8D790C3C-C034-8DFC-F0D0-B925F9CCE8F8}"/>
                </a:ext>
              </a:extLst>
            </p:cNvPr>
            <p:cNvGrpSpPr/>
            <p:nvPr/>
          </p:nvGrpSpPr>
          <p:grpSpPr>
            <a:xfrm>
              <a:off x="7332614" y="5057983"/>
              <a:ext cx="3770707" cy="1188720"/>
              <a:chOff x="7332614" y="5057983"/>
              <a:chExt cx="3770707" cy="1188720"/>
            </a:xfrm>
          </p:grpSpPr>
          <p:sp>
            <p:nvSpPr>
              <p:cNvPr id="37" name="Google Shape;2036;p67">
                <a:extLst>
                  <a:ext uri="{FF2B5EF4-FFF2-40B4-BE49-F238E27FC236}">
                    <a16:creationId xmlns:a16="http://schemas.microsoft.com/office/drawing/2014/main" id="{327C7A66-C614-1663-2F01-A69388CE3774}"/>
                  </a:ext>
                </a:extLst>
              </p:cNvPr>
              <p:cNvSpPr/>
              <p:nvPr/>
            </p:nvSpPr>
            <p:spPr>
              <a:xfrm>
                <a:off x="8619343" y="5057983"/>
                <a:ext cx="2483978" cy="1188720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Continuous Monitoring tools </a:t>
                </a:r>
                <a:endParaRPr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" name="Google Shape;2037;p67">
                <a:extLst>
                  <a:ext uri="{FF2B5EF4-FFF2-40B4-BE49-F238E27FC236}">
                    <a16:creationId xmlns:a16="http://schemas.microsoft.com/office/drawing/2014/main" id="{88570494-9166-A944-BF8C-CBFB9CA60B25}"/>
                  </a:ext>
                </a:extLst>
              </p:cNvPr>
              <p:cNvCxnSpPr/>
              <p:nvPr/>
            </p:nvCxnSpPr>
            <p:spPr>
              <a:xfrm>
                <a:off x="7332614" y="5652343"/>
                <a:ext cx="1285106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6" name="Google Shape;2038;p67">
              <a:extLst>
                <a:ext uri="{FF2B5EF4-FFF2-40B4-BE49-F238E27FC236}">
                  <a16:creationId xmlns:a16="http://schemas.microsoft.com/office/drawing/2014/main" id="{522BCF00-0885-2871-0201-27563BA3684A}"/>
                </a:ext>
              </a:extLst>
            </p:cNvPr>
            <p:cNvCxnSpPr/>
            <p:nvPr/>
          </p:nvCxnSpPr>
          <p:spPr>
            <a:xfrm>
              <a:off x="11111927" y="5652343"/>
              <a:ext cx="621837" cy="0"/>
            </a:xfrm>
            <a:prstGeom prst="straightConnector1">
              <a:avLst/>
            </a:prstGeom>
            <a:noFill/>
            <a:ln w="28575" cap="flat" cmpd="sng">
              <a:solidFill>
                <a:srgbClr val="757070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411655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43;p68">
            <a:extLst>
              <a:ext uri="{FF2B5EF4-FFF2-40B4-BE49-F238E27FC236}">
                <a16:creationId xmlns:a16="http://schemas.microsoft.com/office/drawing/2014/main" id="{0217045B-E2F6-DD07-08EC-2BC6E233E387}"/>
              </a:ext>
            </a:extLst>
          </p:cNvPr>
          <p:cNvSpPr/>
          <p:nvPr/>
        </p:nvSpPr>
        <p:spPr>
          <a:xfrm>
            <a:off x="3810000" y="3146241"/>
            <a:ext cx="4572000" cy="3329997"/>
          </a:xfrm>
          <a:prstGeom prst="roundRect">
            <a:avLst>
              <a:gd name="adj" fmla="val 553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4"/>
                  </a:ext>
                </a:extLst>
              </a:rPr>
              <a:t>Learn Programming Language</a:t>
            </a:r>
            <a:endParaRPr sz="16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endParaRPr sz="1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ava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Ruby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C++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JavaScript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Rust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044;p68">
            <a:extLst>
              <a:ext uri="{FF2B5EF4-FFF2-40B4-BE49-F238E27FC236}">
                <a16:creationId xmlns:a16="http://schemas.microsoft.com/office/drawing/2014/main" id="{E4E9A63D-441A-D99E-64AB-5D4B01C83D8A}"/>
              </a:ext>
            </a:extLst>
          </p:cNvPr>
          <p:cNvSpPr txBox="1"/>
          <p:nvPr/>
        </p:nvSpPr>
        <p:spPr>
          <a:xfrm>
            <a:off x="685800" y="1345497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815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49;p112">
            <a:extLst>
              <a:ext uri="{FF2B5EF4-FFF2-40B4-BE49-F238E27FC236}">
                <a16:creationId xmlns:a16="http://schemas.microsoft.com/office/drawing/2014/main" id="{8A826DAD-BDD2-7004-C533-411E820D94F2}"/>
              </a:ext>
            </a:extLst>
          </p:cNvPr>
          <p:cNvSpPr/>
          <p:nvPr/>
        </p:nvSpPr>
        <p:spPr>
          <a:xfrm>
            <a:off x="3810000" y="3082233"/>
            <a:ext cx="4572000" cy="3329997"/>
          </a:xfrm>
          <a:prstGeom prst="roundRect">
            <a:avLst>
              <a:gd name="adj" fmla="val 553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OS Fundamentals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Device I/O management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Virtuali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ation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Memory and storage management 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File system architecture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Distributed file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Process management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Thread and concurrency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Sockets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050;p112">
            <a:extLst>
              <a:ext uri="{FF2B5EF4-FFF2-40B4-BE49-F238E27FC236}">
                <a16:creationId xmlns:a16="http://schemas.microsoft.com/office/drawing/2014/main" id="{3F169DCF-FAAD-FD13-77C8-C3914F5F65AB}"/>
              </a:ext>
            </a:extLst>
          </p:cNvPr>
          <p:cNvSpPr txBox="1"/>
          <p:nvPr/>
        </p:nvSpPr>
        <p:spPr>
          <a:xfrm>
            <a:off x="685800" y="1281489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106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55;p70">
            <a:extLst>
              <a:ext uri="{FF2B5EF4-FFF2-40B4-BE49-F238E27FC236}">
                <a16:creationId xmlns:a16="http://schemas.microsoft.com/office/drawing/2014/main" id="{48A44CE9-34CC-7C5D-6BC6-8EE2EDF120DC}"/>
              </a:ext>
            </a:extLst>
          </p:cNvPr>
          <p:cNvSpPr/>
          <p:nvPr/>
        </p:nvSpPr>
        <p:spPr>
          <a:xfrm>
            <a:off x="6606111" y="2625892"/>
            <a:ext cx="4991099" cy="3709338"/>
          </a:xfrm>
          <a:prstGeom prst="roundRect">
            <a:avLst>
              <a:gd name="adj" fmla="val 5450"/>
            </a:avLst>
          </a:prstGeom>
          <a:solidFill>
            <a:schemeClr val="l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Networking fundamentals </a:t>
            </a:r>
            <a:endParaRPr sz="1600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DNS, IP addresses, SSH, telnet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OSI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Models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TCP/IP, HTTP, SSL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Setting up servers</a:t>
            </a:r>
            <a:endParaRPr sz="1600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5"/>
                  </a:ext>
                </a:extLst>
              </a:rPr>
              <a:t>Load balancers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6"/>
                </a:ext>
              </a:extLst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7"/>
                  </a:ext>
                </a:extLst>
              </a:rPr>
              <a:t>Proxy server: Caching servers, Reverse proxy, Firewalls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8"/>
                </a:ext>
              </a:extLst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9"/>
                  </a:ext>
                </a:extLst>
              </a:rPr>
              <a:t>Installing Tomcat,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0"/>
                  </a:ext>
                </a:extLst>
              </a:rPr>
              <a:t>A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1"/>
                  </a:ext>
                </a:extLst>
              </a:rPr>
              <a:t>pache, and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2"/>
                  </a:ext>
                </a:extLst>
              </a:rPr>
              <a:t>N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3"/>
                  </a:ext>
                </a:extLst>
              </a:rPr>
              <a:t>ginx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4"/>
                </a:ext>
              </a:extLst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5"/>
                  </a:ext>
                </a:extLst>
              </a:rPr>
              <a:t>CDN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056;p70">
            <a:extLst>
              <a:ext uri="{FF2B5EF4-FFF2-40B4-BE49-F238E27FC236}">
                <a16:creationId xmlns:a16="http://schemas.microsoft.com/office/drawing/2014/main" id="{CAF97FF0-D9F6-7152-B2D6-82BC18395E4F}"/>
              </a:ext>
            </a:extLst>
          </p:cNvPr>
          <p:cNvSpPr/>
          <p:nvPr/>
        </p:nvSpPr>
        <p:spPr>
          <a:xfrm>
            <a:off x="594790" y="2625891"/>
            <a:ext cx="4991099" cy="3709338"/>
          </a:xfrm>
          <a:prstGeom prst="roundRect">
            <a:avLst>
              <a:gd name="adj" fmla="val 5450"/>
            </a:avLst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Linux fundamentals</a:t>
            </a:r>
            <a:endParaRPr sz="16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Administration</a:t>
            </a:r>
            <a:endParaRPr sz="16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Learn 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ash scripting</a:t>
            </a:r>
            <a:endParaRPr sz="16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Text editors 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such as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i/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ano</a:t>
            </a:r>
            <a:endParaRPr sz="16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Text manipulation</a:t>
            </a:r>
            <a:r>
              <a:rPr lang="en-US" sz="16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6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6"/>
                  </a:ext>
                </a:extLst>
              </a:rPr>
              <a:t>awk, sed, grep, sort,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6"/>
                  </a:ext>
                </a:extLst>
              </a:rPr>
              <a:t>uniq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6"/>
                  </a:ext>
                </a:extLst>
              </a:rPr>
              <a:t>, cat , cut , echo 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6"/>
                  </a:ext>
                </a:extLst>
              </a:rPr>
              <a:t>fmt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6"/>
                  </a:ext>
                </a:extLst>
              </a:rPr>
              <a:t>, tr,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6"/>
                  </a:ext>
                </a:extLst>
              </a:rPr>
              <a:t>egrep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6"/>
                  </a:ext>
                </a:extLst>
              </a:rPr>
              <a:t>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6"/>
                  </a:ext>
                </a:extLst>
              </a:rPr>
              <a:t>fgrep</a:t>
            </a:r>
            <a:endParaRPr sz="16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Process monitoring</a:t>
            </a:r>
            <a:r>
              <a:rPr lang="en-US" sz="16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600" b="0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7"/>
                  </a:ext>
                </a:extLst>
              </a:rPr>
              <a:t>ps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7"/>
                  </a:ext>
                </a:extLst>
              </a:rPr>
              <a:t>, top,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7"/>
                  </a:ext>
                </a:extLst>
              </a:rPr>
              <a:t>htop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7"/>
                  </a:ext>
                </a:extLst>
              </a:rPr>
              <a:t>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7"/>
                  </a:ext>
                </a:extLst>
              </a:rPr>
              <a:t>lsof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7"/>
                  </a:ext>
                </a:extLst>
              </a:rPr>
              <a:t>, atop</a:t>
            </a:r>
            <a:endParaRPr sz="16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Network</a:t>
            </a:r>
            <a:r>
              <a:rPr lang="en-US" sz="1600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8"/>
                  </a:ext>
                </a:extLst>
              </a:rPr>
              <a:t>ping,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8"/>
                  </a:ext>
                </a:extLst>
              </a:rPr>
              <a:t>namp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8"/>
                  </a:ext>
                </a:extLst>
              </a:rPr>
              <a:t>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8"/>
                  </a:ext>
                </a:extLst>
              </a:rPr>
              <a:t>tcpdump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8"/>
                  </a:ext>
                </a:extLst>
              </a:rPr>
              <a:t>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8"/>
                  </a:ext>
                </a:extLst>
              </a:rPr>
              <a:t>mtr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8"/>
                  </a:ext>
                </a:extLst>
              </a:rPr>
              <a:t>, traceroute, dig,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8"/>
                  </a:ext>
                </a:extLst>
              </a:rPr>
              <a:t>iptable</a:t>
            </a:r>
            <a:endParaRPr sz="16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2057;p70">
            <a:extLst>
              <a:ext uri="{FF2B5EF4-FFF2-40B4-BE49-F238E27FC236}">
                <a16:creationId xmlns:a16="http://schemas.microsoft.com/office/drawing/2014/main" id="{4589E766-DE3B-0DEC-B926-ABA78A6B5DFF}"/>
              </a:ext>
            </a:extLst>
          </p:cNvPr>
          <p:cNvSpPr txBox="1"/>
          <p:nvPr/>
        </p:nvSpPr>
        <p:spPr>
          <a:xfrm>
            <a:off x="685800" y="1235769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058;p70">
            <a:extLst>
              <a:ext uri="{FF2B5EF4-FFF2-40B4-BE49-F238E27FC236}">
                <a16:creationId xmlns:a16="http://schemas.microsoft.com/office/drawing/2014/main" id="{1CEB9782-431B-4982-6C22-460BB0B77D50}"/>
              </a:ext>
            </a:extLst>
          </p:cNvPr>
          <p:cNvSpPr txBox="1"/>
          <p:nvPr/>
        </p:nvSpPr>
        <p:spPr>
          <a:xfrm>
            <a:off x="685800" y="1808233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Setting up Machine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244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63;ga7d51d4f62_0_1">
            <a:extLst>
              <a:ext uri="{FF2B5EF4-FFF2-40B4-BE49-F238E27FC236}">
                <a16:creationId xmlns:a16="http://schemas.microsoft.com/office/drawing/2014/main" id="{B30EE71B-00B2-169C-58F9-700AB5AE391D}"/>
              </a:ext>
            </a:extLst>
          </p:cNvPr>
          <p:cNvSpPr txBox="1"/>
          <p:nvPr/>
        </p:nvSpPr>
        <p:spPr>
          <a:xfrm>
            <a:off x="1209403" y="1226625"/>
            <a:ext cx="9773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895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2064;ga7d51d4f62_0_1">
            <a:extLst>
              <a:ext uri="{FF2B5EF4-FFF2-40B4-BE49-F238E27FC236}">
                <a16:creationId xmlns:a16="http://schemas.microsoft.com/office/drawing/2014/main" id="{B6B8B503-7348-9BF2-2983-BFFC0F54D84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40481" y="6511354"/>
            <a:ext cx="1587" cy="15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2065;ga7d51d4f62_0_1">
            <a:extLst>
              <a:ext uri="{FF2B5EF4-FFF2-40B4-BE49-F238E27FC236}">
                <a16:creationId xmlns:a16="http://schemas.microsoft.com/office/drawing/2014/main" id="{78D8C3E3-B7BE-2E87-CA3A-4880807AED00}"/>
              </a:ext>
            </a:extLst>
          </p:cNvPr>
          <p:cNvGrpSpPr/>
          <p:nvPr/>
        </p:nvGrpSpPr>
        <p:grpSpPr>
          <a:xfrm>
            <a:off x="6257267" y="2726837"/>
            <a:ext cx="5128444" cy="3561347"/>
            <a:chOff x="6483686" y="1684421"/>
            <a:chExt cx="5128444" cy="3561347"/>
          </a:xfrm>
        </p:grpSpPr>
        <p:grpSp>
          <p:nvGrpSpPr>
            <p:cNvPr id="12" name="Google Shape;2066;ga7d51d4f62_0_1">
              <a:extLst>
                <a:ext uri="{FF2B5EF4-FFF2-40B4-BE49-F238E27FC236}">
                  <a16:creationId xmlns:a16="http://schemas.microsoft.com/office/drawing/2014/main" id="{47AE6251-F510-5F95-42B4-7256B441F51B}"/>
                </a:ext>
              </a:extLst>
            </p:cNvPr>
            <p:cNvGrpSpPr/>
            <p:nvPr/>
          </p:nvGrpSpPr>
          <p:grpSpPr>
            <a:xfrm>
              <a:off x="6483686" y="1819486"/>
              <a:ext cx="4814971" cy="3291217"/>
              <a:chOff x="6307576" y="1841413"/>
              <a:chExt cx="4814971" cy="3291217"/>
            </a:xfrm>
          </p:grpSpPr>
          <p:grpSp>
            <p:nvGrpSpPr>
              <p:cNvPr id="14" name="Google Shape;2067;ga7d51d4f62_0_1">
                <a:extLst>
                  <a:ext uri="{FF2B5EF4-FFF2-40B4-BE49-F238E27FC236}">
                    <a16:creationId xmlns:a16="http://schemas.microsoft.com/office/drawing/2014/main" id="{C0B21E46-6AD5-5868-D0E6-827C5899340C}"/>
                  </a:ext>
                </a:extLst>
              </p:cNvPr>
              <p:cNvGrpSpPr/>
              <p:nvPr/>
            </p:nvGrpSpPr>
            <p:grpSpPr>
              <a:xfrm>
                <a:off x="6307576" y="1841413"/>
                <a:ext cx="2672477" cy="3249506"/>
                <a:chOff x="6307576" y="1841413"/>
                <a:chExt cx="2672477" cy="3249506"/>
              </a:xfrm>
            </p:grpSpPr>
            <p:pic>
              <p:nvPicPr>
                <p:cNvPr id="19" name="Google Shape;2068;ga7d51d4f62_0_1" descr="Why we use GitLab. We're often asked by our users and… | by Brickblock.io |  Medium">
                  <a:extLst>
                    <a:ext uri="{FF2B5EF4-FFF2-40B4-BE49-F238E27FC236}">
                      <a16:creationId xmlns:a16="http://schemas.microsoft.com/office/drawing/2014/main" id="{CD1D2A7A-B000-4297-CC83-35EADCCB8AA0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6307576" y="3128326"/>
                  <a:ext cx="2672477" cy="13329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0" name="Google Shape;2069;ga7d51d4f62_0_1">
                  <a:extLst>
                    <a:ext uri="{FF2B5EF4-FFF2-40B4-BE49-F238E27FC236}">
                      <a16:creationId xmlns:a16="http://schemas.microsoft.com/office/drawing/2014/main" id="{530B2503-439E-FBE5-A9FB-F76D6AB107EC}"/>
                    </a:ext>
                  </a:extLst>
                </p:cNvPr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/>
                <a:stretch/>
              </p:blipFill>
              <p:spPr>
                <a:xfrm>
                  <a:off x="7001061" y="4386648"/>
                  <a:ext cx="1285507" cy="70427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" name="Google Shape;2070;ga7d51d4f62_0_1" descr="Beginners guide to Version control using Git and GitHub | by Mukundh  Bhushan | FAUN | Medium">
                  <a:extLst>
                    <a:ext uri="{FF2B5EF4-FFF2-40B4-BE49-F238E27FC236}">
                      <a16:creationId xmlns:a16="http://schemas.microsoft.com/office/drawing/2014/main" id="{380212C7-103B-8228-FF4B-393254A549AD}"/>
                    </a:ext>
                  </a:extLst>
                </p:cNvPr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l="51608"/>
                <a:stretch/>
              </p:blipFill>
              <p:spPr>
                <a:xfrm>
                  <a:off x="7057884" y="1841413"/>
                  <a:ext cx="1171860" cy="136149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" name="Google Shape;2071;ga7d51d4f62_0_1">
                <a:extLst>
                  <a:ext uri="{FF2B5EF4-FFF2-40B4-BE49-F238E27FC236}">
                    <a16:creationId xmlns:a16="http://schemas.microsoft.com/office/drawing/2014/main" id="{20DD0A43-C755-8BA3-BD75-5C06BD025305}"/>
                  </a:ext>
                </a:extLst>
              </p:cNvPr>
              <p:cNvGrpSpPr/>
              <p:nvPr/>
            </p:nvGrpSpPr>
            <p:grpSpPr>
              <a:xfrm>
                <a:off x="9059883" y="2318504"/>
                <a:ext cx="2062664" cy="2814126"/>
                <a:chOff x="9059883" y="2318504"/>
                <a:chExt cx="2062664" cy="2814126"/>
              </a:xfrm>
            </p:grpSpPr>
            <p:pic>
              <p:nvPicPr>
                <p:cNvPr id="16" name="Google Shape;2072;ga7d51d4f62_0_1" descr="Beginners guide to Version control using Git and GitHub | by Mukundh  Bhushan | FAUN | Medium">
                  <a:extLst>
                    <a:ext uri="{FF2B5EF4-FFF2-40B4-BE49-F238E27FC236}">
                      <a16:creationId xmlns:a16="http://schemas.microsoft.com/office/drawing/2014/main" id="{8BE25440-096E-6A0D-06CE-570661CC6224}"/>
                    </a:ext>
                  </a:extLst>
                </p:cNvPr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r="46033"/>
                <a:stretch/>
              </p:blipFill>
              <p:spPr>
                <a:xfrm>
                  <a:off x="9059883" y="2318504"/>
                  <a:ext cx="2062664" cy="214889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7" name="Google Shape;2073;ga7d51d4f62_0_1">
                  <a:extLst>
                    <a:ext uri="{FF2B5EF4-FFF2-40B4-BE49-F238E27FC236}">
                      <a16:creationId xmlns:a16="http://schemas.microsoft.com/office/drawing/2014/main" id="{4D12DCDF-A519-E094-591A-8964DCFC2E1A}"/>
                    </a:ext>
                  </a:extLst>
                </p:cNvPr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/>
                <a:stretch/>
              </p:blipFill>
              <p:spPr>
                <a:xfrm>
                  <a:off x="9076677" y="2438403"/>
                  <a:ext cx="2029076" cy="29133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" name="Google Shape;2074;ga7d51d4f62_0_1" descr="Apache Subversion - Wikipedia">
                  <a:extLst>
                    <a:ext uri="{FF2B5EF4-FFF2-40B4-BE49-F238E27FC236}">
                      <a16:creationId xmlns:a16="http://schemas.microsoft.com/office/drawing/2014/main" id="{0AA09EF0-C0A3-B3EA-0A49-144CC1C61B1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/>
                <a:stretch/>
              </p:blipFill>
              <p:spPr>
                <a:xfrm>
                  <a:off x="9191663" y="4056166"/>
                  <a:ext cx="1799104" cy="1076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13" name="Google Shape;2075;ga7d51d4f62_0_1">
              <a:extLst>
                <a:ext uri="{FF2B5EF4-FFF2-40B4-BE49-F238E27FC236}">
                  <a16:creationId xmlns:a16="http://schemas.microsoft.com/office/drawing/2014/main" id="{52CB2414-3FEE-9D3F-FE56-212EF90CB02B}"/>
                </a:ext>
              </a:extLst>
            </p:cNvPr>
            <p:cNvSpPr/>
            <p:nvPr/>
          </p:nvSpPr>
          <p:spPr>
            <a:xfrm>
              <a:off x="6780026" y="1684421"/>
              <a:ext cx="4832104" cy="3561347"/>
            </a:xfrm>
            <a:prstGeom prst="roundRect">
              <a:avLst>
                <a:gd name="adj" fmla="val 6757"/>
              </a:avLst>
            </a:prstGeom>
            <a:noFill/>
            <a:ln w="9525" cap="flat" cmpd="sng">
              <a:solidFill>
                <a:srgbClr val="9C9C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076;ga7d51d4f62_0_1">
            <a:extLst>
              <a:ext uri="{FF2B5EF4-FFF2-40B4-BE49-F238E27FC236}">
                <a16:creationId xmlns:a16="http://schemas.microsoft.com/office/drawing/2014/main" id="{FFC64DF4-B889-58F2-7423-ADA79EA16407}"/>
              </a:ext>
            </a:extLst>
          </p:cNvPr>
          <p:cNvSpPr/>
          <p:nvPr/>
        </p:nvSpPr>
        <p:spPr>
          <a:xfrm>
            <a:off x="806289" y="2845049"/>
            <a:ext cx="5573209" cy="332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Version Control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Source code management tools help us keep track of changes in code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Multiple developers work in parallel, and wrong code can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9"/>
                  </a:ext>
                </a:extLst>
              </a:rPr>
              <a:t>break things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SCM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tools help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0"/>
                  </a:ext>
                </a:extLst>
              </a:rPr>
              <a:t>to revert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Git, SVN, CVS, and Mercurial are source code management tools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1"/>
                  </a:ext>
                </a:extLst>
              </a:rPr>
              <a:t>Git is an open source distributed version control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Git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ub, Git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ab, and Bitbucket are online Git repositories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624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081;p113">
            <a:extLst>
              <a:ext uri="{FF2B5EF4-FFF2-40B4-BE49-F238E27FC236}">
                <a16:creationId xmlns:a16="http://schemas.microsoft.com/office/drawing/2014/main" id="{25E3933D-6E7F-BA2D-7041-CFC970D58B8D}"/>
              </a:ext>
            </a:extLst>
          </p:cNvPr>
          <p:cNvSpPr txBox="1"/>
          <p:nvPr/>
        </p:nvSpPr>
        <p:spPr>
          <a:xfrm>
            <a:off x="685800" y="1423865"/>
            <a:ext cx="10820400" cy="520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CD/CD TOOLS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2082;p113">
            <a:extLst>
              <a:ext uri="{FF2B5EF4-FFF2-40B4-BE49-F238E27FC236}">
                <a16:creationId xmlns:a16="http://schemas.microsoft.com/office/drawing/2014/main" id="{3FDAA075-221E-F421-BF74-CB26C1ECD5C0}"/>
              </a:ext>
            </a:extLst>
          </p:cNvPr>
          <p:cNvGrpSpPr/>
          <p:nvPr/>
        </p:nvGrpSpPr>
        <p:grpSpPr>
          <a:xfrm>
            <a:off x="9121643" y="3031076"/>
            <a:ext cx="2619560" cy="3388512"/>
            <a:chOff x="9121643" y="2002877"/>
            <a:chExt cx="2619560" cy="3727363"/>
          </a:xfrm>
        </p:grpSpPr>
        <p:pic>
          <p:nvPicPr>
            <p:cNvPr id="11" name="Google Shape;2083;p113">
              <a:extLst>
                <a:ext uri="{FF2B5EF4-FFF2-40B4-BE49-F238E27FC236}">
                  <a16:creationId xmlns:a16="http://schemas.microsoft.com/office/drawing/2014/main" id="{CF8C36CB-011A-D50B-7D34-55DF54C171D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r="8051"/>
            <a:stretch/>
          </p:blipFill>
          <p:spPr>
            <a:xfrm>
              <a:off x="9555603" y="2002877"/>
              <a:ext cx="1751640" cy="1739900"/>
            </a:xfrm>
            <a:prstGeom prst="roundRect">
              <a:avLst>
                <a:gd name="adj" fmla="val 7777"/>
              </a:avLst>
            </a:prstGeom>
            <a:noFill/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2" name="Google Shape;2084;p113">
              <a:extLst>
                <a:ext uri="{FF2B5EF4-FFF2-40B4-BE49-F238E27FC236}">
                  <a16:creationId xmlns:a16="http://schemas.microsoft.com/office/drawing/2014/main" id="{DA761C86-2101-766F-9989-84C57E94E1C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121643" y="4009085"/>
              <a:ext cx="2619560" cy="1721155"/>
            </a:xfrm>
            <a:prstGeom prst="roundRect">
              <a:avLst>
                <a:gd name="adj" fmla="val 7777"/>
              </a:avLst>
            </a:prstGeom>
            <a:noFill/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13" name="Google Shape;2085;p113">
            <a:extLst>
              <a:ext uri="{FF2B5EF4-FFF2-40B4-BE49-F238E27FC236}">
                <a16:creationId xmlns:a16="http://schemas.microsoft.com/office/drawing/2014/main" id="{6B279171-8958-6F4D-E3F5-1B6B3FB77EB9}"/>
              </a:ext>
            </a:extLst>
          </p:cNvPr>
          <p:cNvSpPr/>
          <p:nvPr/>
        </p:nvSpPr>
        <p:spPr>
          <a:xfrm>
            <a:off x="846991" y="2051112"/>
            <a:ext cx="10937902" cy="8731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When a developer makes 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changes in the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code, tools </a:t>
            </a:r>
            <a:r>
              <a:rPr lang="en-US" sz="2000" dirty="0">
                <a:latin typeface="Lato"/>
                <a:ea typeface="Lato"/>
                <a:cs typeface="Lato"/>
                <a:sym typeface="Lato"/>
              </a:rPr>
              <a:t>such 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Jenkins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pull the code from the Git repository and t</a:t>
            </a:r>
            <a:r>
              <a:rPr lang="en-US" sz="2000" dirty="0">
                <a:latin typeface="Lato"/>
                <a:ea typeface="Lato"/>
                <a:cs typeface="Lato"/>
                <a:sym typeface="Lato"/>
              </a:rPr>
              <a:t>hen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2"/>
                  </a:ext>
                </a:extLst>
              </a:rPr>
              <a:t>,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3"/>
                  </a:ext>
                </a:extLst>
              </a:rPr>
              <a:t> build, test, and deploy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the artifact on the staging and production server</a:t>
            </a: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2086;p113">
            <a:extLst>
              <a:ext uri="{FF2B5EF4-FFF2-40B4-BE49-F238E27FC236}">
                <a16:creationId xmlns:a16="http://schemas.microsoft.com/office/drawing/2014/main" id="{AD673FAA-6820-B003-72A8-78A91A7197C2}"/>
              </a:ext>
            </a:extLst>
          </p:cNvPr>
          <p:cNvSpPr/>
          <p:nvPr/>
        </p:nvSpPr>
        <p:spPr>
          <a:xfrm>
            <a:off x="953857" y="4828652"/>
            <a:ext cx="7778488" cy="1941215"/>
          </a:xfrm>
          <a:custGeom>
            <a:avLst/>
            <a:gdLst/>
            <a:ahLst/>
            <a:cxnLst/>
            <a:rect l="l" t="t" r="r" b="b"/>
            <a:pathLst>
              <a:path w="7355544" h="2135336" extrusionOk="0">
                <a:moveTo>
                  <a:pt x="38100" y="0"/>
                </a:moveTo>
                <a:lnTo>
                  <a:pt x="6999648" y="0"/>
                </a:lnTo>
                <a:cubicBezTo>
                  <a:pt x="7196204" y="0"/>
                  <a:pt x="7355544" y="159340"/>
                  <a:pt x="7355544" y="355896"/>
                </a:cubicBezTo>
                <a:lnTo>
                  <a:pt x="7355544" y="1779440"/>
                </a:lnTo>
                <a:cubicBezTo>
                  <a:pt x="7355544" y="1975996"/>
                  <a:pt x="7196204" y="2135336"/>
                  <a:pt x="6999648" y="2135336"/>
                </a:cubicBezTo>
                <a:lnTo>
                  <a:pt x="0" y="2135336"/>
                </a:lnTo>
              </a:path>
            </a:pathLst>
          </a:custGeom>
          <a:noFill/>
          <a:ln w="28575" cap="flat" cmpd="sng">
            <a:solidFill>
              <a:srgbClr val="9C9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2087;p113">
            <a:extLst>
              <a:ext uri="{FF2B5EF4-FFF2-40B4-BE49-F238E27FC236}">
                <a16:creationId xmlns:a16="http://schemas.microsoft.com/office/drawing/2014/main" id="{27F244E0-98EE-C9E9-2544-A6727761BA5A}"/>
              </a:ext>
            </a:extLst>
          </p:cNvPr>
          <p:cNvGrpSpPr/>
          <p:nvPr/>
        </p:nvGrpSpPr>
        <p:grpSpPr>
          <a:xfrm>
            <a:off x="1107695" y="3128789"/>
            <a:ext cx="1424280" cy="1554055"/>
            <a:chOff x="1107695" y="1982000"/>
            <a:chExt cx="1424280" cy="1709461"/>
          </a:xfrm>
        </p:grpSpPr>
        <p:sp>
          <p:nvSpPr>
            <p:cNvPr id="16" name="Google Shape;2088;p113">
              <a:extLst>
                <a:ext uri="{FF2B5EF4-FFF2-40B4-BE49-F238E27FC236}">
                  <a16:creationId xmlns:a16="http://schemas.microsoft.com/office/drawing/2014/main" id="{9807B168-F856-EF4A-28BE-970D66FA9223}"/>
                </a:ext>
              </a:extLst>
            </p:cNvPr>
            <p:cNvSpPr/>
            <p:nvPr/>
          </p:nvSpPr>
          <p:spPr>
            <a:xfrm>
              <a:off x="1107695" y="1982000"/>
              <a:ext cx="1424280" cy="1445288"/>
            </a:xfrm>
            <a:prstGeom prst="ellipse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Commit 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 </a:t>
              </a:r>
              <a:r>
                <a:rPr lang="en-US" sz="16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hange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089;p113">
              <a:extLst>
                <a:ext uri="{FF2B5EF4-FFF2-40B4-BE49-F238E27FC236}">
                  <a16:creationId xmlns:a16="http://schemas.microsoft.com/office/drawing/2014/main" id="{EA8A8DC6-CED1-31EA-77D1-AB30AF0AE8DA}"/>
                </a:ext>
              </a:extLst>
            </p:cNvPr>
            <p:cNvSpPr/>
            <p:nvPr/>
          </p:nvSpPr>
          <p:spPr>
            <a:xfrm>
              <a:off x="1723278" y="3498346"/>
              <a:ext cx="193115" cy="193115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2090;p113">
            <a:extLst>
              <a:ext uri="{FF2B5EF4-FFF2-40B4-BE49-F238E27FC236}">
                <a16:creationId xmlns:a16="http://schemas.microsoft.com/office/drawing/2014/main" id="{84C7B2D7-56D8-BF97-9E0B-214A8508459C}"/>
              </a:ext>
            </a:extLst>
          </p:cNvPr>
          <p:cNvGrpSpPr/>
          <p:nvPr/>
        </p:nvGrpSpPr>
        <p:grpSpPr>
          <a:xfrm>
            <a:off x="3072423" y="3128789"/>
            <a:ext cx="1424280" cy="1554055"/>
            <a:chOff x="3072423" y="1982000"/>
            <a:chExt cx="1424280" cy="1709461"/>
          </a:xfrm>
        </p:grpSpPr>
        <p:sp>
          <p:nvSpPr>
            <p:cNvPr id="19" name="Google Shape;2091;p113">
              <a:extLst>
                <a:ext uri="{FF2B5EF4-FFF2-40B4-BE49-F238E27FC236}">
                  <a16:creationId xmlns:a16="http://schemas.microsoft.com/office/drawing/2014/main" id="{FBAA7A15-11A4-A915-3B0E-970800CBF1BB}"/>
                </a:ext>
              </a:extLst>
            </p:cNvPr>
            <p:cNvSpPr/>
            <p:nvPr/>
          </p:nvSpPr>
          <p:spPr>
            <a:xfrm>
              <a:off x="3072423" y="1982000"/>
              <a:ext cx="1424280" cy="1445288"/>
            </a:xfrm>
            <a:prstGeom prst="ellipse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4"/>
                    </a:ext>
                  </a:extLst>
                </a:rPr>
                <a:t>Trigger 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4"/>
                    </a:ext>
                  </a:extLst>
                </a:rPr>
              </a:b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4"/>
                    </a:ext>
                  </a:extLst>
                </a:rPr>
                <a:t>build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92;p113">
              <a:extLst>
                <a:ext uri="{FF2B5EF4-FFF2-40B4-BE49-F238E27FC236}">
                  <a16:creationId xmlns:a16="http://schemas.microsoft.com/office/drawing/2014/main" id="{2490B77F-B775-807C-BAA3-C73DAB75355F}"/>
                </a:ext>
              </a:extLst>
            </p:cNvPr>
            <p:cNvSpPr/>
            <p:nvPr/>
          </p:nvSpPr>
          <p:spPr>
            <a:xfrm>
              <a:off x="3688006" y="3498346"/>
              <a:ext cx="193115" cy="193115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2093;p113">
            <a:extLst>
              <a:ext uri="{FF2B5EF4-FFF2-40B4-BE49-F238E27FC236}">
                <a16:creationId xmlns:a16="http://schemas.microsoft.com/office/drawing/2014/main" id="{BA01DE53-FAB2-83AB-4339-BC083D0AE4A1}"/>
              </a:ext>
            </a:extLst>
          </p:cNvPr>
          <p:cNvGrpSpPr/>
          <p:nvPr/>
        </p:nvGrpSpPr>
        <p:grpSpPr>
          <a:xfrm>
            <a:off x="5037151" y="3128789"/>
            <a:ext cx="1424280" cy="1554055"/>
            <a:chOff x="5037151" y="1982000"/>
            <a:chExt cx="1424280" cy="1709461"/>
          </a:xfrm>
        </p:grpSpPr>
        <p:sp>
          <p:nvSpPr>
            <p:cNvPr id="22" name="Google Shape;2094;p113">
              <a:extLst>
                <a:ext uri="{FF2B5EF4-FFF2-40B4-BE49-F238E27FC236}">
                  <a16:creationId xmlns:a16="http://schemas.microsoft.com/office/drawing/2014/main" id="{B7481F0E-BC78-05CC-583F-256613E61160}"/>
                </a:ext>
              </a:extLst>
            </p:cNvPr>
            <p:cNvSpPr/>
            <p:nvPr/>
          </p:nvSpPr>
          <p:spPr>
            <a:xfrm>
              <a:off x="5037151" y="1982000"/>
              <a:ext cx="1424280" cy="1445288"/>
            </a:xfrm>
            <a:prstGeom prst="ellipse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Build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095;p113">
              <a:extLst>
                <a:ext uri="{FF2B5EF4-FFF2-40B4-BE49-F238E27FC236}">
                  <a16:creationId xmlns:a16="http://schemas.microsoft.com/office/drawing/2014/main" id="{6E486131-186B-9544-B0BB-7E25357D2646}"/>
                </a:ext>
              </a:extLst>
            </p:cNvPr>
            <p:cNvSpPr/>
            <p:nvPr/>
          </p:nvSpPr>
          <p:spPr>
            <a:xfrm>
              <a:off x="5652734" y="3498346"/>
              <a:ext cx="193115" cy="193115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2096;p113">
            <a:extLst>
              <a:ext uri="{FF2B5EF4-FFF2-40B4-BE49-F238E27FC236}">
                <a16:creationId xmlns:a16="http://schemas.microsoft.com/office/drawing/2014/main" id="{EF2D8CCE-1430-0DD6-0F18-BFBC0D8FB015}"/>
              </a:ext>
            </a:extLst>
          </p:cNvPr>
          <p:cNvGrpSpPr/>
          <p:nvPr/>
        </p:nvGrpSpPr>
        <p:grpSpPr>
          <a:xfrm>
            <a:off x="7001879" y="3128789"/>
            <a:ext cx="1424280" cy="1554055"/>
            <a:chOff x="7001879" y="1982000"/>
            <a:chExt cx="1424280" cy="1709461"/>
          </a:xfrm>
        </p:grpSpPr>
        <p:sp>
          <p:nvSpPr>
            <p:cNvPr id="25" name="Google Shape;2097;p113">
              <a:extLst>
                <a:ext uri="{FF2B5EF4-FFF2-40B4-BE49-F238E27FC236}">
                  <a16:creationId xmlns:a16="http://schemas.microsoft.com/office/drawing/2014/main" id="{495C7520-A683-5932-A589-46E4D961495B}"/>
                </a:ext>
              </a:extLst>
            </p:cNvPr>
            <p:cNvSpPr/>
            <p:nvPr/>
          </p:nvSpPr>
          <p:spPr>
            <a:xfrm>
              <a:off x="7001879" y="1982000"/>
              <a:ext cx="1424280" cy="1445288"/>
            </a:xfrm>
            <a:prstGeom prst="ellipse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Notify of 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the build 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outcome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098;p113">
              <a:extLst>
                <a:ext uri="{FF2B5EF4-FFF2-40B4-BE49-F238E27FC236}">
                  <a16:creationId xmlns:a16="http://schemas.microsoft.com/office/drawing/2014/main" id="{D736E251-0000-880C-326C-38D25FE0625F}"/>
                </a:ext>
              </a:extLst>
            </p:cNvPr>
            <p:cNvSpPr/>
            <p:nvPr/>
          </p:nvSpPr>
          <p:spPr>
            <a:xfrm>
              <a:off x="7617462" y="3498346"/>
              <a:ext cx="193115" cy="193115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oogle Shape;2099;p113">
            <a:extLst>
              <a:ext uri="{FF2B5EF4-FFF2-40B4-BE49-F238E27FC236}">
                <a16:creationId xmlns:a16="http://schemas.microsoft.com/office/drawing/2014/main" id="{AC0A0B4D-A2A6-3084-2A6F-2658403BF93E}"/>
              </a:ext>
            </a:extLst>
          </p:cNvPr>
          <p:cNvGrpSpPr/>
          <p:nvPr/>
        </p:nvGrpSpPr>
        <p:grpSpPr>
          <a:xfrm>
            <a:off x="7001879" y="5009452"/>
            <a:ext cx="1424400" cy="1579613"/>
            <a:chOff x="7001879" y="4071697"/>
            <a:chExt cx="1424400" cy="1737574"/>
          </a:xfrm>
        </p:grpSpPr>
        <p:sp>
          <p:nvSpPr>
            <p:cNvPr id="28" name="Google Shape;2100;p113">
              <a:extLst>
                <a:ext uri="{FF2B5EF4-FFF2-40B4-BE49-F238E27FC236}">
                  <a16:creationId xmlns:a16="http://schemas.microsoft.com/office/drawing/2014/main" id="{4E58F1C5-2914-26F6-7A6C-D38FC08BBC39}"/>
                </a:ext>
              </a:extLst>
            </p:cNvPr>
            <p:cNvSpPr/>
            <p:nvPr/>
          </p:nvSpPr>
          <p:spPr>
            <a:xfrm>
              <a:off x="7001879" y="4071697"/>
              <a:ext cx="1424400" cy="144540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Run </a:t>
              </a:r>
              <a:r>
                <a:rPr lang="en-US" sz="16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</a:t>
              </a: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ests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101;p113">
              <a:extLst>
                <a:ext uri="{FF2B5EF4-FFF2-40B4-BE49-F238E27FC236}">
                  <a16:creationId xmlns:a16="http://schemas.microsoft.com/office/drawing/2014/main" id="{DA938ED2-5D01-74D9-B4A5-FC8DAF1EE7F4}"/>
                </a:ext>
              </a:extLst>
            </p:cNvPr>
            <p:cNvSpPr/>
            <p:nvPr/>
          </p:nvSpPr>
          <p:spPr>
            <a:xfrm>
              <a:off x="7617462" y="5616156"/>
              <a:ext cx="193115" cy="193115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2102;p113">
            <a:extLst>
              <a:ext uri="{FF2B5EF4-FFF2-40B4-BE49-F238E27FC236}">
                <a16:creationId xmlns:a16="http://schemas.microsoft.com/office/drawing/2014/main" id="{078C8751-37ED-FDE8-1502-3A35802323E1}"/>
              </a:ext>
            </a:extLst>
          </p:cNvPr>
          <p:cNvGrpSpPr/>
          <p:nvPr/>
        </p:nvGrpSpPr>
        <p:grpSpPr>
          <a:xfrm>
            <a:off x="5037151" y="5009452"/>
            <a:ext cx="1424280" cy="1579613"/>
            <a:chOff x="5037151" y="4071697"/>
            <a:chExt cx="1424280" cy="1737574"/>
          </a:xfrm>
        </p:grpSpPr>
        <p:sp>
          <p:nvSpPr>
            <p:cNvPr id="31" name="Google Shape;2103;p113">
              <a:extLst>
                <a:ext uri="{FF2B5EF4-FFF2-40B4-BE49-F238E27FC236}">
                  <a16:creationId xmlns:a16="http://schemas.microsoft.com/office/drawing/2014/main" id="{405F21F1-FAF2-3E1C-2D52-6D3372BC2AAD}"/>
                </a:ext>
              </a:extLst>
            </p:cNvPr>
            <p:cNvSpPr/>
            <p:nvPr/>
          </p:nvSpPr>
          <p:spPr>
            <a:xfrm>
              <a:off x="5037151" y="4071697"/>
              <a:ext cx="1424280" cy="1445288"/>
            </a:xfrm>
            <a:prstGeom prst="ellipse">
              <a:avLst/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5"/>
                    </a:ext>
                  </a:extLst>
                </a:rPr>
                <a:t>Notify</a:t>
              </a: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of 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the test 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outcome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2104;p113">
              <a:extLst>
                <a:ext uri="{FF2B5EF4-FFF2-40B4-BE49-F238E27FC236}">
                  <a16:creationId xmlns:a16="http://schemas.microsoft.com/office/drawing/2014/main" id="{69179007-7B54-3BB9-A275-EC7FF471A35A}"/>
                </a:ext>
              </a:extLst>
            </p:cNvPr>
            <p:cNvSpPr/>
            <p:nvPr/>
          </p:nvSpPr>
          <p:spPr>
            <a:xfrm>
              <a:off x="5652734" y="5616156"/>
              <a:ext cx="193115" cy="193115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2105;p113">
            <a:extLst>
              <a:ext uri="{FF2B5EF4-FFF2-40B4-BE49-F238E27FC236}">
                <a16:creationId xmlns:a16="http://schemas.microsoft.com/office/drawing/2014/main" id="{3BBFE208-FAC1-0430-E84A-C2E5609769C7}"/>
              </a:ext>
            </a:extLst>
          </p:cNvPr>
          <p:cNvGrpSpPr/>
          <p:nvPr/>
        </p:nvGrpSpPr>
        <p:grpSpPr>
          <a:xfrm>
            <a:off x="3072423" y="5009452"/>
            <a:ext cx="1424280" cy="1579613"/>
            <a:chOff x="3072423" y="4071697"/>
            <a:chExt cx="1424280" cy="1737574"/>
          </a:xfrm>
        </p:grpSpPr>
        <p:sp>
          <p:nvSpPr>
            <p:cNvPr id="34" name="Google Shape;2106;p113">
              <a:extLst>
                <a:ext uri="{FF2B5EF4-FFF2-40B4-BE49-F238E27FC236}">
                  <a16:creationId xmlns:a16="http://schemas.microsoft.com/office/drawing/2014/main" id="{8E536A74-CD57-0553-FC4F-993884948F9A}"/>
                </a:ext>
              </a:extLst>
            </p:cNvPr>
            <p:cNvSpPr/>
            <p:nvPr/>
          </p:nvSpPr>
          <p:spPr>
            <a:xfrm>
              <a:off x="3072423" y="4071697"/>
              <a:ext cx="1424280" cy="1445288"/>
            </a:xfrm>
            <a:prstGeom prst="ellipse">
              <a:avLst/>
            </a:prstGeom>
            <a:noFill/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Deliver 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build to 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the environment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2107;p113">
              <a:extLst>
                <a:ext uri="{FF2B5EF4-FFF2-40B4-BE49-F238E27FC236}">
                  <a16:creationId xmlns:a16="http://schemas.microsoft.com/office/drawing/2014/main" id="{629B0631-C1BD-28B3-E853-6C83AD787D41}"/>
                </a:ext>
              </a:extLst>
            </p:cNvPr>
            <p:cNvSpPr/>
            <p:nvPr/>
          </p:nvSpPr>
          <p:spPr>
            <a:xfrm>
              <a:off x="3688006" y="5616156"/>
              <a:ext cx="193115" cy="193115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2108;p113">
            <a:extLst>
              <a:ext uri="{FF2B5EF4-FFF2-40B4-BE49-F238E27FC236}">
                <a16:creationId xmlns:a16="http://schemas.microsoft.com/office/drawing/2014/main" id="{F3EB17F3-4C28-197E-3136-856C0EABB880}"/>
              </a:ext>
            </a:extLst>
          </p:cNvPr>
          <p:cNvGrpSpPr/>
          <p:nvPr/>
        </p:nvGrpSpPr>
        <p:grpSpPr>
          <a:xfrm>
            <a:off x="1107695" y="5009452"/>
            <a:ext cx="1424280" cy="1579613"/>
            <a:chOff x="1107695" y="4071697"/>
            <a:chExt cx="1424280" cy="1737574"/>
          </a:xfrm>
        </p:grpSpPr>
        <p:sp>
          <p:nvSpPr>
            <p:cNvPr id="37" name="Google Shape;2109;p113">
              <a:extLst>
                <a:ext uri="{FF2B5EF4-FFF2-40B4-BE49-F238E27FC236}">
                  <a16:creationId xmlns:a16="http://schemas.microsoft.com/office/drawing/2014/main" id="{15C6C15B-F332-2C2D-5399-306964660A88}"/>
                </a:ext>
              </a:extLst>
            </p:cNvPr>
            <p:cNvSpPr/>
            <p:nvPr/>
          </p:nvSpPr>
          <p:spPr>
            <a:xfrm>
              <a:off x="1107695" y="4071697"/>
              <a:ext cx="1424280" cy="1445288"/>
            </a:xfrm>
            <a:prstGeom prst="ellipse">
              <a:avLst/>
            </a:prstGeom>
            <a:noFill/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Deploy 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where 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necessary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2110;p113">
              <a:extLst>
                <a:ext uri="{FF2B5EF4-FFF2-40B4-BE49-F238E27FC236}">
                  <a16:creationId xmlns:a16="http://schemas.microsoft.com/office/drawing/2014/main" id="{17BC8D64-2965-AFDC-124B-06400526C9A6}"/>
                </a:ext>
              </a:extLst>
            </p:cNvPr>
            <p:cNvSpPr/>
            <p:nvPr/>
          </p:nvSpPr>
          <p:spPr>
            <a:xfrm>
              <a:off x="1723278" y="5616156"/>
              <a:ext cx="193115" cy="193115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767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15;p77">
            <a:extLst>
              <a:ext uri="{FF2B5EF4-FFF2-40B4-BE49-F238E27FC236}">
                <a16:creationId xmlns:a16="http://schemas.microsoft.com/office/drawing/2014/main" id="{3AF38E0D-3F38-A42D-8615-DDEAB494F551}"/>
              </a:ext>
            </a:extLst>
          </p:cNvPr>
          <p:cNvSpPr/>
          <p:nvPr/>
        </p:nvSpPr>
        <p:spPr>
          <a:xfrm>
            <a:off x="7100347" y="1648480"/>
            <a:ext cx="4714859" cy="2115033"/>
          </a:xfrm>
          <a:prstGeom prst="roundRect">
            <a:avLst>
              <a:gd name="adj" fmla="val 8432"/>
            </a:avLst>
          </a:prstGeom>
          <a:noFill/>
          <a:ln w="25400" cap="flat" cmpd="sng">
            <a:solidFill>
              <a:srgbClr val="9C9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116;p77">
            <a:extLst>
              <a:ext uri="{FF2B5EF4-FFF2-40B4-BE49-F238E27FC236}">
                <a16:creationId xmlns:a16="http://schemas.microsoft.com/office/drawing/2014/main" id="{F7DBE8FF-5E59-856A-89EE-E1CDCB7E3228}"/>
              </a:ext>
            </a:extLst>
          </p:cNvPr>
          <p:cNvSpPr/>
          <p:nvPr/>
        </p:nvSpPr>
        <p:spPr>
          <a:xfrm>
            <a:off x="2981845" y="4155677"/>
            <a:ext cx="5021927" cy="2115033"/>
          </a:xfrm>
          <a:prstGeom prst="roundRect">
            <a:avLst>
              <a:gd name="adj" fmla="val 4958"/>
            </a:avLst>
          </a:prstGeom>
          <a:noFill/>
          <a:ln w="25400" cap="flat" cmpd="sng">
            <a:solidFill>
              <a:srgbClr val="9C9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" name="Google Shape;2117;p77">
            <a:extLst>
              <a:ext uri="{FF2B5EF4-FFF2-40B4-BE49-F238E27FC236}">
                <a16:creationId xmlns:a16="http://schemas.microsoft.com/office/drawing/2014/main" id="{7690BEE8-9484-321C-C1A8-2986ECCC1F3E}"/>
              </a:ext>
            </a:extLst>
          </p:cNvPr>
          <p:cNvCxnSpPr/>
          <p:nvPr/>
        </p:nvCxnSpPr>
        <p:spPr>
          <a:xfrm>
            <a:off x="935417" y="3880417"/>
            <a:ext cx="10930763" cy="0"/>
          </a:xfrm>
          <a:prstGeom prst="straightConnector1">
            <a:avLst/>
          </a:prstGeom>
          <a:noFill/>
          <a:ln w="38100" cap="flat" cmpd="sng">
            <a:solidFill>
              <a:srgbClr val="9C9C9C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2" name="Google Shape;2118;p77">
            <a:extLst>
              <a:ext uri="{FF2B5EF4-FFF2-40B4-BE49-F238E27FC236}">
                <a16:creationId xmlns:a16="http://schemas.microsoft.com/office/drawing/2014/main" id="{E8A264AC-FF82-85CD-1D26-EC36E639FE99}"/>
              </a:ext>
            </a:extLst>
          </p:cNvPr>
          <p:cNvGrpSpPr/>
          <p:nvPr/>
        </p:nvGrpSpPr>
        <p:grpSpPr>
          <a:xfrm>
            <a:off x="385862" y="3862433"/>
            <a:ext cx="1131788" cy="1541986"/>
            <a:chOff x="385862" y="3313793"/>
            <a:chExt cx="1131788" cy="1541986"/>
          </a:xfrm>
          <a:solidFill>
            <a:srgbClr val="FFC000"/>
          </a:solidFill>
        </p:grpSpPr>
        <p:cxnSp>
          <p:nvCxnSpPr>
            <p:cNvPr id="13" name="Google Shape;2119;p77">
              <a:extLst>
                <a:ext uri="{FF2B5EF4-FFF2-40B4-BE49-F238E27FC236}">
                  <a16:creationId xmlns:a16="http://schemas.microsoft.com/office/drawing/2014/main" id="{ACE9EA7B-0EED-15FD-33B4-B007E5BEB182}"/>
                </a:ext>
              </a:extLst>
            </p:cNvPr>
            <p:cNvCxnSpPr/>
            <p:nvPr/>
          </p:nvCxnSpPr>
          <p:spPr>
            <a:xfrm>
              <a:off x="935855" y="3313793"/>
              <a:ext cx="0" cy="617074"/>
            </a:xfrm>
            <a:prstGeom prst="straightConnector1">
              <a:avLst/>
            </a:prstGeom>
            <a:grpFill/>
            <a:ln w="38100" cap="flat" cmpd="sng">
              <a:solidFill>
                <a:srgbClr val="9C9C9C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4" name="Google Shape;2120;p77">
              <a:extLst>
                <a:ext uri="{FF2B5EF4-FFF2-40B4-BE49-F238E27FC236}">
                  <a16:creationId xmlns:a16="http://schemas.microsoft.com/office/drawing/2014/main" id="{38085F95-7096-8664-19D0-D0CF2FAD3AEB}"/>
                </a:ext>
              </a:extLst>
            </p:cNvPr>
            <p:cNvGrpSpPr/>
            <p:nvPr/>
          </p:nvGrpSpPr>
          <p:grpSpPr>
            <a:xfrm>
              <a:off x="385862" y="3930867"/>
              <a:ext cx="1131788" cy="924912"/>
              <a:chOff x="385862" y="3930867"/>
              <a:chExt cx="1131788" cy="924912"/>
            </a:xfrm>
            <a:grpFill/>
          </p:grpSpPr>
          <p:sp>
            <p:nvSpPr>
              <p:cNvPr id="15" name="Google Shape;2121;p77">
                <a:extLst>
                  <a:ext uri="{FF2B5EF4-FFF2-40B4-BE49-F238E27FC236}">
                    <a16:creationId xmlns:a16="http://schemas.microsoft.com/office/drawing/2014/main" id="{4083EC3B-44D3-2F7C-A0F7-AC52E92EA1DD}"/>
                  </a:ext>
                </a:extLst>
              </p:cNvPr>
              <p:cNvSpPr/>
              <p:nvPr/>
            </p:nvSpPr>
            <p:spPr>
              <a:xfrm>
                <a:off x="489984" y="3930867"/>
                <a:ext cx="923544" cy="92491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121900" tIns="60925" rIns="121900" bIns="60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2122;p77">
                <a:extLst>
                  <a:ext uri="{FF2B5EF4-FFF2-40B4-BE49-F238E27FC236}">
                    <a16:creationId xmlns:a16="http://schemas.microsoft.com/office/drawing/2014/main" id="{B2143819-F6BA-5090-D6D4-E32F2A449AC1}"/>
                  </a:ext>
                </a:extLst>
              </p:cNvPr>
              <p:cNvSpPr txBox="1"/>
              <p:nvPr/>
            </p:nvSpPr>
            <p:spPr>
              <a:xfrm>
                <a:off x="385862" y="4188134"/>
                <a:ext cx="1131788" cy="3692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60925" rIns="121900" bIns="609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 dirty="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Commit</a:t>
                </a:r>
                <a:endParaRPr sz="1600" b="0" i="0" u="none" strike="noStrike" cap="none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7" name="Google Shape;2123;p77">
            <a:extLst>
              <a:ext uri="{FF2B5EF4-FFF2-40B4-BE49-F238E27FC236}">
                <a16:creationId xmlns:a16="http://schemas.microsoft.com/office/drawing/2014/main" id="{4B1DA45B-22F4-E50E-2FB8-95ECDDDEED09}"/>
              </a:ext>
            </a:extLst>
          </p:cNvPr>
          <p:cNvGrpSpPr/>
          <p:nvPr/>
        </p:nvGrpSpPr>
        <p:grpSpPr>
          <a:xfrm>
            <a:off x="3188130" y="3880307"/>
            <a:ext cx="923544" cy="1524112"/>
            <a:chOff x="2391098" y="2498750"/>
            <a:chExt cx="692658" cy="1143084"/>
          </a:xfrm>
          <a:solidFill>
            <a:srgbClr val="00B0F0"/>
          </a:solidFill>
        </p:grpSpPr>
        <p:sp>
          <p:nvSpPr>
            <p:cNvPr id="18" name="Google Shape;2124;p77">
              <a:extLst>
                <a:ext uri="{FF2B5EF4-FFF2-40B4-BE49-F238E27FC236}">
                  <a16:creationId xmlns:a16="http://schemas.microsoft.com/office/drawing/2014/main" id="{25B3EB4D-49EF-58DD-C617-4DC6272C12FB}"/>
                </a:ext>
              </a:extLst>
            </p:cNvPr>
            <p:cNvSpPr/>
            <p:nvPr/>
          </p:nvSpPr>
          <p:spPr>
            <a:xfrm>
              <a:off x="2391098" y="2948150"/>
              <a:ext cx="692658" cy="693684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9" name="Google Shape;2125;p77">
              <a:extLst>
                <a:ext uri="{FF2B5EF4-FFF2-40B4-BE49-F238E27FC236}">
                  <a16:creationId xmlns:a16="http://schemas.microsoft.com/office/drawing/2014/main" id="{2D8836ED-20E1-ECA4-6E53-984A0C44255A}"/>
                </a:ext>
              </a:extLst>
            </p:cNvPr>
            <p:cNvCxnSpPr>
              <a:endCxn id="18" idx="0"/>
            </p:cNvCxnSpPr>
            <p:nvPr/>
          </p:nvCxnSpPr>
          <p:spPr>
            <a:xfrm>
              <a:off x="2737427" y="2498750"/>
              <a:ext cx="0" cy="449400"/>
            </a:xfrm>
            <a:prstGeom prst="straightConnector1">
              <a:avLst/>
            </a:prstGeom>
            <a:grpFill/>
            <a:ln w="38100" cap="flat" cmpd="sng">
              <a:solidFill>
                <a:srgbClr val="9C9C9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" name="Google Shape;2126;p77">
              <a:extLst>
                <a:ext uri="{FF2B5EF4-FFF2-40B4-BE49-F238E27FC236}">
                  <a16:creationId xmlns:a16="http://schemas.microsoft.com/office/drawing/2014/main" id="{E6C7A2F3-52D7-D7FE-9734-E9086AD142A0}"/>
                </a:ext>
              </a:extLst>
            </p:cNvPr>
            <p:cNvSpPr txBox="1"/>
            <p:nvPr/>
          </p:nvSpPr>
          <p:spPr>
            <a:xfrm>
              <a:off x="2402281" y="3124634"/>
              <a:ext cx="670294" cy="27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Build</a:t>
              </a:r>
              <a:endParaRPr sz="1600" b="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" name="Google Shape;2127;p77">
            <a:extLst>
              <a:ext uri="{FF2B5EF4-FFF2-40B4-BE49-F238E27FC236}">
                <a16:creationId xmlns:a16="http://schemas.microsoft.com/office/drawing/2014/main" id="{66777B2D-2CEC-9829-B344-CDC72F40731B}"/>
              </a:ext>
            </a:extLst>
          </p:cNvPr>
          <p:cNvGrpSpPr/>
          <p:nvPr/>
        </p:nvGrpSpPr>
        <p:grpSpPr>
          <a:xfrm>
            <a:off x="4492297" y="3880307"/>
            <a:ext cx="923544" cy="1524112"/>
            <a:chOff x="3369223" y="2498750"/>
            <a:chExt cx="692658" cy="1143084"/>
          </a:xfrm>
          <a:solidFill>
            <a:srgbClr val="00B0F0"/>
          </a:solidFill>
        </p:grpSpPr>
        <p:sp>
          <p:nvSpPr>
            <p:cNvPr id="22" name="Google Shape;2128;p77">
              <a:extLst>
                <a:ext uri="{FF2B5EF4-FFF2-40B4-BE49-F238E27FC236}">
                  <a16:creationId xmlns:a16="http://schemas.microsoft.com/office/drawing/2014/main" id="{668C7AE3-1C0F-FF44-8D20-41248AF3490D}"/>
                </a:ext>
              </a:extLst>
            </p:cNvPr>
            <p:cNvSpPr/>
            <p:nvPr/>
          </p:nvSpPr>
          <p:spPr>
            <a:xfrm>
              <a:off x="3369223" y="2948150"/>
              <a:ext cx="692658" cy="693684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3" name="Google Shape;2129;p77">
              <a:extLst>
                <a:ext uri="{FF2B5EF4-FFF2-40B4-BE49-F238E27FC236}">
                  <a16:creationId xmlns:a16="http://schemas.microsoft.com/office/drawing/2014/main" id="{EBF3E258-D5DC-D5A0-B850-DFAE9B067504}"/>
                </a:ext>
              </a:extLst>
            </p:cNvPr>
            <p:cNvCxnSpPr>
              <a:endCxn id="22" idx="0"/>
            </p:cNvCxnSpPr>
            <p:nvPr/>
          </p:nvCxnSpPr>
          <p:spPr>
            <a:xfrm>
              <a:off x="3715552" y="2498750"/>
              <a:ext cx="0" cy="449400"/>
            </a:xfrm>
            <a:prstGeom prst="straightConnector1">
              <a:avLst/>
            </a:prstGeom>
            <a:grpFill/>
            <a:ln w="38100" cap="flat" cmpd="sng">
              <a:solidFill>
                <a:srgbClr val="9C9C9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" name="Google Shape;2130;p77">
              <a:extLst>
                <a:ext uri="{FF2B5EF4-FFF2-40B4-BE49-F238E27FC236}">
                  <a16:creationId xmlns:a16="http://schemas.microsoft.com/office/drawing/2014/main" id="{85709D2D-6776-897E-5A22-3B781FC0C5BB}"/>
                </a:ext>
              </a:extLst>
            </p:cNvPr>
            <p:cNvSpPr txBox="1"/>
            <p:nvPr/>
          </p:nvSpPr>
          <p:spPr>
            <a:xfrm>
              <a:off x="3393788" y="3033355"/>
              <a:ext cx="643532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Unit Test</a:t>
              </a:r>
              <a:endParaRPr sz="1600" b="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5" name="Google Shape;2131;p77">
            <a:extLst>
              <a:ext uri="{FF2B5EF4-FFF2-40B4-BE49-F238E27FC236}">
                <a16:creationId xmlns:a16="http://schemas.microsoft.com/office/drawing/2014/main" id="{310A3715-2A6A-A6F3-63CE-B4CC1C1E9119}"/>
              </a:ext>
            </a:extLst>
          </p:cNvPr>
          <p:cNvGrpSpPr/>
          <p:nvPr/>
        </p:nvGrpSpPr>
        <p:grpSpPr>
          <a:xfrm>
            <a:off x="5833238" y="3880418"/>
            <a:ext cx="1968945" cy="1522849"/>
            <a:chOff x="4374929" y="2498833"/>
            <a:chExt cx="1476709" cy="1142137"/>
          </a:xfrm>
          <a:solidFill>
            <a:srgbClr val="00B0F0"/>
          </a:solidFill>
        </p:grpSpPr>
        <p:sp>
          <p:nvSpPr>
            <p:cNvPr id="26" name="Google Shape;2132;p77">
              <a:extLst>
                <a:ext uri="{FF2B5EF4-FFF2-40B4-BE49-F238E27FC236}">
                  <a16:creationId xmlns:a16="http://schemas.microsoft.com/office/drawing/2014/main" id="{43E155EE-B654-81B2-6678-4273812E4D36}"/>
                </a:ext>
              </a:extLst>
            </p:cNvPr>
            <p:cNvSpPr/>
            <p:nvPr/>
          </p:nvSpPr>
          <p:spPr>
            <a:xfrm>
              <a:off x="4374929" y="2947286"/>
              <a:ext cx="1476709" cy="693684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7" name="Google Shape;2133;p77">
              <a:extLst>
                <a:ext uri="{FF2B5EF4-FFF2-40B4-BE49-F238E27FC236}">
                  <a16:creationId xmlns:a16="http://schemas.microsoft.com/office/drawing/2014/main" id="{FE59B261-129A-4DCB-4403-FC99B25EE933}"/>
                </a:ext>
              </a:extLst>
            </p:cNvPr>
            <p:cNvCxnSpPr/>
            <p:nvPr/>
          </p:nvCxnSpPr>
          <p:spPr>
            <a:xfrm>
              <a:off x="5108476" y="2498833"/>
              <a:ext cx="0" cy="460913"/>
            </a:xfrm>
            <a:prstGeom prst="straightConnector1">
              <a:avLst/>
            </a:prstGeom>
            <a:grpFill/>
            <a:ln w="38100" cap="flat" cmpd="sng">
              <a:solidFill>
                <a:srgbClr val="9C9C9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" name="Google Shape;2134;p77">
              <a:extLst>
                <a:ext uri="{FF2B5EF4-FFF2-40B4-BE49-F238E27FC236}">
                  <a16:creationId xmlns:a16="http://schemas.microsoft.com/office/drawing/2014/main" id="{C804AEBF-6575-EB6B-B792-4E51D6DC983A}"/>
                </a:ext>
              </a:extLst>
            </p:cNvPr>
            <p:cNvSpPr txBox="1"/>
            <p:nvPr/>
          </p:nvSpPr>
          <p:spPr>
            <a:xfrm>
              <a:off x="4407302" y="3141103"/>
              <a:ext cx="1431191" cy="27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Integration test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" name="Google Shape;2135;p77">
            <a:extLst>
              <a:ext uri="{FF2B5EF4-FFF2-40B4-BE49-F238E27FC236}">
                <a16:creationId xmlns:a16="http://schemas.microsoft.com/office/drawing/2014/main" id="{F6D861E9-0AE4-B4F1-3A77-A98CE4A2066D}"/>
              </a:ext>
            </a:extLst>
          </p:cNvPr>
          <p:cNvGrpSpPr/>
          <p:nvPr/>
        </p:nvGrpSpPr>
        <p:grpSpPr>
          <a:xfrm>
            <a:off x="7813256" y="2362767"/>
            <a:ext cx="1059941" cy="1517654"/>
            <a:chOff x="5859942" y="1360595"/>
            <a:chExt cx="794956" cy="1138240"/>
          </a:xfrm>
        </p:grpSpPr>
        <p:sp>
          <p:nvSpPr>
            <p:cNvPr id="30" name="Google Shape;2136;p77">
              <a:extLst>
                <a:ext uri="{FF2B5EF4-FFF2-40B4-BE49-F238E27FC236}">
                  <a16:creationId xmlns:a16="http://schemas.microsoft.com/office/drawing/2014/main" id="{A1FBAE0A-45A6-8B5F-456A-47D125903CEB}"/>
                </a:ext>
              </a:extLst>
            </p:cNvPr>
            <p:cNvSpPr/>
            <p:nvPr/>
          </p:nvSpPr>
          <p:spPr>
            <a:xfrm>
              <a:off x="5874391" y="1360595"/>
              <a:ext cx="692658" cy="6936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1" name="Google Shape;2137;p77">
              <a:extLst>
                <a:ext uri="{FF2B5EF4-FFF2-40B4-BE49-F238E27FC236}">
                  <a16:creationId xmlns:a16="http://schemas.microsoft.com/office/drawing/2014/main" id="{AEC295C9-A4E3-1625-091E-37AF5751DC73}"/>
                </a:ext>
              </a:extLst>
            </p:cNvPr>
            <p:cNvCxnSpPr/>
            <p:nvPr/>
          </p:nvCxnSpPr>
          <p:spPr>
            <a:xfrm>
              <a:off x="6220720" y="2049518"/>
              <a:ext cx="0" cy="449317"/>
            </a:xfrm>
            <a:prstGeom prst="straightConnector1">
              <a:avLst/>
            </a:prstGeom>
            <a:noFill/>
            <a:ln w="38100" cap="flat" cmpd="sng">
              <a:solidFill>
                <a:srgbClr val="9C9C9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" name="Google Shape;2138;p77">
              <a:extLst>
                <a:ext uri="{FF2B5EF4-FFF2-40B4-BE49-F238E27FC236}">
                  <a16:creationId xmlns:a16="http://schemas.microsoft.com/office/drawing/2014/main" id="{123BA25E-A006-65C5-33E3-E9769F8F15BD}"/>
                </a:ext>
              </a:extLst>
            </p:cNvPr>
            <p:cNvSpPr txBox="1"/>
            <p:nvPr/>
          </p:nvSpPr>
          <p:spPr>
            <a:xfrm>
              <a:off x="5859942" y="1535296"/>
              <a:ext cx="794956" cy="27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Review</a:t>
              </a: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" name="Google Shape;2139;p77">
            <a:extLst>
              <a:ext uri="{FF2B5EF4-FFF2-40B4-BE49-F238E27FC236}">
                <a16:creationId xmlns:a16="http://schemas.microsoft.com/office/drawing/2014/main" id="{489CA61D-DC47-12A3-8882-9F79D014DBD7}"/>
              </a:ext>
            </a:extLst>
          </p:cNvPr>
          <p:cNvGrpSpPr/>
          <p:nvPr/>
        </p:nvGrpSpPr>
        <p:grpSpPr>
          <a:xfrm>
            <a:off x="8948104" y="2356417"/>
            <a:ext cx="1059941" cy="1524003"/>
            <a:chOff x="6674263" y="1355833"/>
            <a:chExt cx="794956" cy="1143002"/>
          </a:xfrm>
        </p:grpSpPr>
        <p:sp>
          <p:nvSpPr>
            <p:cNvPr id="34" name="Google Shape;2140;p77">
              <a:extLst>
                <a:ext uri="{FF2B5EF4-FFF2-40B4-BE49-F238E27FC236}">
                  <a16:creationId xmlns:a16="http://schemas.microsoft.com/office/drawing/2014/main" id="{39BE9C39-9C41-A0F7-E814-D1BC8901AB55}"/>
                </a:ext>
              </a:extLst>
            </p:cNvPr>
            <p:cNvSpPr/>
            <p:nvPr/>
          </p:nvSpPr>
          <p:spPr>
            <a:xfrm>
              <a:off x="6710189" y="1355833"/>
              <a:ext cx="692658" cy="6936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5" name="Google Shape;2141;p77">
              <a:extLst>
                <a:ext uri="{FF2B5EF4-FFF2-40B4-BE49-F238E27FC236}">
                  <a16:creationId xmlns:a16="http://schemas.microsoft.com/office/drawing/2014/main" id="{3E31423D-159F-AC36-B54B-466483317646}"/>
                </a:ext>
              </a:extLst>
            </p:cNvPr>
            <p:cNvCxnSpPr/>
            <p:nvPr/>
          </p:nvCxnSpPr>
          <p:spPr>
            <a:xfrm>
              <a:off x="7056518" y="2049518"/>
              <a:ext cx="0" cy="449317"/>
            </a:xfrm>
            <a:prstGeom prst="straightConnector1">
              <a:avLst/>
            </a:prstGeom>
            <a:noFill/>
            <a:ln w="38100" cap="flat" cmpd="sng">
              <a:solidFill>
                <a:srgbClr val="9C9C9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" name="Google Shape;2142;p77">
              <a:extLst>
                <a:ext uri="{FF2B5EF4-FFF2-40B4-BE49-F238E27FC236}">
                  <a16:creationId xmlns:a16="http://schemas.microsoft.com/office/drawing/2014/main" id="{8E89D75F-F417-E491-EB35-41B81B41C012}"/>
                </a:ext>
              </a:extLst>
            </p:cNvPr>
            <p:cNvSpPr txBox="1"/>
            <p:nvPr/>
          </p:nvSpPr>
          <p:spPr>
            <a:xfrm>
              <a:off x="6674263" y="1558956"/>
              <a:ext cx="794956" cy="27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Staging</a:t>
              </a: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" name="Google Shape;2143;p77">
            <a:extLst>
              <a:ext uri="{FF2B5EF4-FFF2-40B4-BE49-F238E27FC236}">
                <a16:creationId xmlns:a16="http://schemas.microsoft.com/office/drawing/2014/main" id="{399EC3AE-10D0-23FC-9936-7620278F0A28}"/>
              </a:ext>
            </a:extLst>
          </p:cNvPr>
          <p:cNvGrpSpPr/>
          <p:nvPr/>
        </p:nvGrpSpPr>
        <p:grpSpPr>
          <a:xfrm>
            <a:off x="10082951" y="2356417"/>
            <a:ext cx="1314745" cy="1516511"/>
            <a:chOff x="7562208" y="1318384"/>
            <a:chExt cx="986058" cy="1137384"/>
          </a:xfrm>
        </p:grpSpPr>
        <p:sp>
          <p:nvSpPr>
            <p:cNvPr id="38" name="Google Shape;2144;p77">
              <a:extLst>
                <a:ext uri="{FF2B5EF4-FFF2-40B4-BE49-F238E27FC236}">
                  <a16:creationId xmlns:a16="http://schemas.microsoft.com/office/drawing/2014/main" id="{32A9991F-8A4E-69A4-5D6B-EAD704E53C15}"/>
                </a:ext>
              </a:extLst>
            </p:cNvPr>
            <p:cNvSpPr/>
            <p:nvPr/>
          </p:nvSpPr>
          <p:spPr>
            <a:xfrm>
              <a:off x="7562210" y="1318384"/>
              <a:ext cx="945024" cy="6936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9" name="Google Shape;2145;p77">
              <a:extLst>
                <a:ext uri="{FF2B5EF4-FFF2-40B4-BE49-F238E27FC236}">
                  <a16:creationId xmlns:a16="http://schemas.microsoft.com/office/drawing/2014/main" id="{585081A0-B7F0-E9EC-427F-2081E8ED8BC8}"/>
                </a:ext>
              </a:extLst>
            </p:cNvPr>
            <p:cNvCxnSpPr>
              <a:stCxn id="38" idx="4"/>
            </p:cNvCxnSpPr>
            <p:nvPr/>
          </p:nvCxnSpPr>
          <p:spPr>
            <a:xfrm>
              <a:off x="8034722" y="2012068"/>
              <a:ext cx="0" cy="443700"/>
            </a:xfrm>
            <a:prstGeom prst="straightConnector1">
              <a:avLst/>
            </a:prstGeom>
            <a:noFill/>
            <a:ln w="38100" cap="flat" cmpd="sng">
              <a:solidFill>
                <a:srgbClr val="9C9C9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0" name="Google Shape;2146;p77">
              <a:extLst>
                <a:ext uri="{FF2B5EF4-FFF2-40B4-BE49-F238E27FC236}">
                  <a16:creationId xmlns:a16="http://schemas.microsoft.com/office/drawing/2014/main" id="{D5E29121-DC6D-5D94-A38E-ECDF71157EC0}"/>
                </a:ext>
              </a:extLst>
            </p:cNvPr>
            <p:cNvSpPr txBox="1"/>
            <p:nvPr/>
          </p:nvSpPr>
          <p:spPr>
            <a:xfrm>
              <a:off x="7562208" y="1525835"/>
              <a:ext cx="986058" cy="27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Production</a:t>
              </a: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1" name="Google Shape;2147;p77">
            <a:extLst>
              <a:ext uri="{FF2B5EF4-FFF2-40B4-BE49-F238E27FC236}">
                <a16:creationId xmlns:a16="http://schemas.microsoft.com/office/drawing/2014/main" id="{460A224B-1F4A-467D-9FC5-0F28199961F3}"/>
              </a:ext>
            </a:extLst>
          </p:cNvPr>
          <p:cNvSpPr txBox="1"/>
          <p:nvPr/>
        </p:nvSpPr>
        <p:spPr>
          <a:xfrm>
            <a:off x="3679774" y="5824834"/>
            <a:ext cx="3626069" cy="3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B0F0"/>
                </a:solidFill>
                <a:latin typeface="Lato"/>
                <a:ea typeface="Lato"/>
                <a:cs typeface="Lato"/>
                <a:sym typeface="Lato"/>
              </a:rPr>
              <a:t>Continuous Integration</a:t>
            </a:r>
            <a:endParaRPr sz="1400" b="0" i="0" u="none" strike="noStrike" cap="none" dirty="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2148;p77">
            <a:extLst>
              <a:ext uri="{FF2B5EF4-FFF2-40B4-BE49-F238E27FC236}">
                <a16:creationId xmlns:a16="http://schemas.microsoft.com/office/drawing/2014/main" id="{9A350635-22AE-1FA4-46BA-318EA6F5CAA2}"/>
              </a:ext>
            </a:extLst>
          </p:cNvPr>
          <p:cNvSpPr txBox="1"/>
          <p:nvPr/>
        </p:nvSpPr>
        <p:spPr>
          <a:xfrm>
            <a:off x="7644742" y="1792844"/>
            <a:ext cx="3626069" cy="3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Continuous</a:t>
            </a:r>
            <a:r>
              <a:rPr lang="en-US" sz="1600" b="1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Deployment</a:t>
            </a:r>
            <a:endParaRPr sz="1600" b="1" i="0" u="none" strike="noStrike" cap="none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7856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53;p71">
            <a:extLst>
              <a:ext uri="{FF2B5EF4-FFF2-40B4-BE49-F238E27FC236}">
                <a16:creationId xmlns:a16="http://schemas.microsoft.com/office/drawing/2014/main" id="{76852682-FB94-93C3-48C3-7D43B7CA6501}"/>
              </a:ext>
            </a:extLst>
          </p:cNvPr>
          <p:cNvSpPr txBox="1"/>
          <p:nvPr/>
        </p:nvSpPr>
        <p:spPr>
          <a:xfrm>
            <a:off x="837329" y="1103748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CONTAINERI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2154;p71">
            <a:extLst>
              <a:ext uri="{FF2B5EF4-FFF2-40B4-BE49-F238E27FC236}">
                <a16:creationId xmlns:a16="http://schemas.microsoft.com/office/drawing/2014/main" id="{E9F1561C-68B3-4C0D-AB88-6894FEA2ADE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12254" y="1791862"/>
            <a:ext cx="2767491" cy="2368881"/>
          </a:xfrm>
          <a:prstGeom prst="roundRect">
            <a:avLst>
              <a:gd name="adj" fmla="val 7777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2155;p71">
            <a:extLst>
              <a:ext uri="{FF2B5EF4-FFF2-40B4-BE49-F238E27FC236}">
                <a16:creationId xmlns:a16="http://schemas.microsoft.com/office/drawing/2014/main" id="{C222F2BA-3509-CA2F-036D-E8CB73A65EF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65095" y="4228107"/>
            <a:ext cx="5261811" cy="2473051"/>
          </a:xfrm>
          <a:prstGeom prst="roundRect">
            <a:avLst>
              <a:gd name="adj" fmla="val 11163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68318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60;p72">
            <a:extLst>
              <a:ext uri="{FF2B5EF4-FFF2-40B4-BE49-F238E27FC236}">
                <a16:creationId xmlns:a16="http://schemas.microsoft.com/office/drawing/2014/main" id="{73B1A2D1-C616-E9D0-122E-F3CFD42BEAAF}"/>
              </a:ext>
            </a:extLst>
          </p:cNvPr>
          <p:cNvSpPr txBox="1"/>
          <p:nvPr/>
        </p:nvSpPr>
        <p:spPr>
          <a:xfrm>
            <a:off x="756907" y="952283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161;p72">
            <a:extLst>
              <a:ext uri="{FF2B5EF4-FFF2-40B4-BE49-F238E27FC236}">
                <a16:creationId xmlns:a16="http://schemas.microsoft.com/office/drawing/2014/main" id="{CDB56D6A-3904-DFE3-C064-423FDC7E10E8}"/>
              </a:ext>
            </a:extLst>
          </p:cNvPr>
          <p:cNvSpPr/>
          <p:nvPr/>
        </p:nvSpPr>
        <p:spPr>
          <a:xfrm>
            <a:off x="594790" y="1958378"/>
            <a:ext cx="3805759" cy="4502661"/>
          </a:xfrm>
          <a:prstGeom prst="roundRect">
            <a:avLst>
              <a:gd name="adj" fmla="val 545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Container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OS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level virtuali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ation contains the right amount of OS required to run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application in 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6"/>
                  </a:ext>
                </a:extLst>
              </a:rPr>
              <a:t>Isolated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7"/>
                </a:ext>
              </a:extLst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8"/>
                  </a:ext>
                </a:extLst>
              </a:rPr>
              <a:t>Shippable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9"/>
                </a:ext>
              </a:extLst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0"/>
                  </a:ext>
                </a:extLst>
              </a:rPr>
              <a:t>Optimi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1"/>
                  </a:ext>
                </a:extLst>
              </a:rPr>
              <a:t>z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2"/>
                  </a:ext>
                </a:extLst>
              </a:rPr>
              <a:t>ed resource utili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3"/>
                  </a:ext>
                </a:extLst>
              </a:rPr>
              <a:t>z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4"/>
                  </a:ext>
                </a:extLst>
              </a:rPr>
              <a:t>ation 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5"/>
                </a:ext>
              </a:extLst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6"/>
                  </a:ext>
                </a:extLst>
              </a:rPr>
              <a:t>Consistent environment throughout the software development stages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text Dockerfile can be used to create a container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Cloud Foundry, Docker, and Rocket are famous containeri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ation tools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2162;p72">
            <a:extLst>
              <a:ext uri="{FF2B5EF4-FFF2-40B4-BE49-F238E27FC236}">
                <a16:creationId xmlns:a16="http://schemas.microsoft.com/office/drawing/2014/main" id="{C0456B63-5A6B-FA4C-83D7-68C8751407CE}"/>
              </a:ext>
            </a:extLst>
          </p:cNvPr>
          <p:cNvSpPr txBox="1"/>
          <p:nvPr/>
        </p:nvSpPr>
        <p:spPr>
          <a:xfrm>
            <a:off x="685800" y="1449164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Containeri</a:t>
            </a:r>
            <a:r>
              <a:rPr lang="en-US" sz="2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2000" b="0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ation</a:t>
            </a:r>
            <a:endParaRPr sz="2000" b="0" i="0" u="none" strike="noStrike" cap="none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" name="Google Shape;2163;p72">
            <a:extLst>
              <a:ext uri="{FF2B5EF4-FFF2-40B4-BE49-F238E27FC236}">
                <a16:creationId xmlns:a16="http://schemas.microsoft.com/office/drawing/2014/main" id="{5042401D-F7E6-C66C-D69A-7433FA61C5AE}"/>
              </a:ext>
            </a:extLst>
          </p:cNvPr>
          <p:cNvGrpSpPr/>
          <p:nvPr/>
        </p:nvGrpSpPr>
        <p:grpSpPr>
          <a:xfrm>
            <a:off x="4591050" y="2026139"/>
            <a:ext cx="7006160" cy="4367139"/>
            <a:chOff x="6081190" y="1709854"/>
            <a:chExt cx="5516020" cy="3438292"/>
          </a:xfrm>
        </p:grpSpPr>
        <p:grpSp>
          <p:nvGrpSpPr>
            <p:cNvPr id="13" name="Google Shape;2164;p72">
              <a:extLst>
                <a:ext uri="{FF2B5EF4-FFF2-40B4-BE49-F238E27FC236}">
                  <a16:creationId xmlns:a16="http://schemas.microsoft.com/office/drawing/2014/main" id="{03E91D21-F413-AE0C-7E46-D5A201DFF565}"/>
                </a:ext>
              </a:extLst>
            </p:cNvPr>
            <p:cNvGrpSpPr/>
            <p:nvPr/>
          </p:nvGrpSpPr>
          <p:grpSpPr>
            <a:xfrm>
              <a:off x="6248400" y="2020481"/>
              <a:ext cx="5181600" cy="2817039"/>
              <a:chOff x="6324600" y="3028950"/>
              <a:chExt cx="5181600" cy="2817039"/>
            </a:xfrm>
          </p:grpSpPr>
          <p:grpSp>
            <p:nvGrpSpPr>
              <p:cNvPr id="15" name="Google Shape;2165;p72">
                <a:extLst>
                  <a:ext uri="{FF2B5EF4-FFF2-40B4-BE49-F238E27FC236}">
                    <a16:creationId xmlns:a16="http://schemas.microsoft.com/office/drawing/2014/main" id="{F8068825-7922-8561-8F17-C69073D38067}"/>
                  </a:ext>
                </a:extLst>
              </p:cNvPr>
              <p:cNvGrpSpPr/>
              <p:nvPr/>
            </p:nvGrpSpPr>
            <p:grpSpPr>
              <a:xfrm>
                <a:off x="6324600" y="3028950"/>
                <a:ext cx="2393950" cy="2763518"/>
                <a:chOff x="6324600" y="3028950"/>
                <a:chExt cx="2393950" cy="2763518"/>
              </a:xfrm>
            </p:grpSpPr>
            <p:sp>
              <p:nvSpPr>
                <p:cNvPr id="28" name="Google Shape;2166;p72">
                  <a:extLst>
                    <a:ext uri="{FF2B5EF4-FFF2-40B4-BE49-F238E27FC236}">
                      <a16:creationId xmlns:a16="http://schemas.microsoft.com/office/drawing/2014/main" id="{D8CB00FB-F7D4-2FF7-C53E-758189FFEF70}"/>
                    </a:ext>
                  </a:extLst>
                </p:cNvPr>
                <p:cNvSpPr/>
                <p:nvPr/>
              </p:nvSpPr>
              <p:spPr>
                <a:xfrm>
                  <a:off x="6324600" y="3028950"/>
                  <a:ext cx="698500" cy="22225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App 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" name="Google Shape;2167;p72">
                  <a:extLst>
                    <a:ext uri="{FF2B5EF4-FFF2-40B4-BE49-F238E27FC236}">
                      <a16:creationId xmlns:a16="http://schemas.microsoft.com/office/drawing/2014/main" id="{2369FFD8-BABA-B979-E0B9-67E2C7817F05}"/>
                    </a:ext>
                  </a:extLst>
                </p:cNvPr>
                <p:cNvSpPr/>
                <p:nvPr/>
              </p:nvSpPr>
              <p:spPr>
                <a:xfrm>
                  <a:off x="6324600" y="3298157"/>
                  <a:ext cx="698500" cy="22225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Bins/Libs</a:t>
                  </a:r>
                  <a:endParaRPr sz="1400" b="0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" name="Google Shape;2168;p72">
                  <a:extLst>
                    <a:ext uri="{FF2B5EF4-FFF2-40B4-BE49-F238E27FC236}">
                      <a16:creationId xmlns:a16="http://schemas.microsoft.com/office/drawing/2014/main" id="{62F2AF24-51D9-D679-1A05-9A36E29538F9}"/>
                    </a:ext>
                  </a:extLst>
                </p:cNvPr>
                <p:cNvSpPr/>
                <p:nvPr/>
              </p:nvSpPr>
              <p:spPr>
                <a:xfrm>
                  <a:off x="6324600" y="3567364"/>
                  <a:ext cx="698500" cy="9144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Guest OS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" name="Google Shape;2169;p72">
                  <a:extLst>
                    <a:ext uri="{FF2B5EF4-FFF2-40B4-BE49-F238E27FC236}">
                      <a16:creationId xmlns:a16="http://schemas.microsoft.com/office/drawing/2014/main" id="{C2DC01B9-79F8-B63E-AF8D-8563DA555982}"/>
                    </a:ext>
                  </a:extLst>
                </p:cNvPr>
                <p:cNvSpPr/>
                <p:nvPr/>
              </p:nvSpPr>
              <p:spPr>
                <a:xfrm>
                  <a:off x="6324600" y="4528721"/>
                  <a:ext cx="2393950" cy="220345"/>
                </a:xfrm>
                <a:prstGeom prst="rect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Hypervisor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" name="Google Shape;2170;p72">
                  <a:extLst>
                    <a:ext uri="{FF2B5EF4-FFF2-40B4-BE49-F238E27FC236}">
                      <a16:creationId xmlns:a16="http://schemas.microsoft.com/office/drawing/2014/main" id="{4F5AAA09-6034-1123-5252-A24A15C56649}"/>
                    </a:ext>
                  </a:extLst>
                </p:cNvPr>
                <p:cNvSpPr/>
                <p:nvPr/>
              </p:nvSpPr>
              <p:spPr>
                <a:xfrm>
                  <a:off x="6324600" y="4796023"/>
                  <a:ext cx="2393950" cy="220345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Operating System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" name="Google Shape;2171;p72">
                  <a:extLst>
                    <a:ext uri="{FF2B5EF4-FFF2-40B4-BE49-F238E27FC236}">
                      <a16:creationId xmlns:a16="http://schemas.microsoft.com/office/drawing/2014/main" id="{13802C32-6C30-B580-61DF-2A1F7937DD1F}"/>
                    </a:ext>
                  </a:extLst>
                </p:cNvPr>
                <p:cNvGrpSpPr/>
                <p:nvPr/>
              </p:nvGrpSpPr>
              <p:grpSpPr>
                <a:xfrm>
                  <a:off x="6324600" y="5063324"/>
                  <a:ext cx="2393950" cy="729144"/>
                  <a:chOff x="6324600" y="5063324"/>
                  <a:chExt cx="2393950" cy="729144"/>
                </a:xfrm>
              </p:grpSpPr>
              <p:sp>
                <p:nvSpPr>
                  <p:cNvPr id="40" name="Google Shape;2172;p72">
                    <a:extLst>
                      <a:ext uri="{FF2B5EF4-FFF2-40B4-BE49-F238E27FC236}">
                        <a16:creationId xmlns:a16="http://schemas.microsoft.com/office/drawing/2014/main" id="{1B761E32-F3A1-AE62-8645-3D75BB750E34}"/>
                      </a:ext>
                    </a:extLst>
                  </p:cNvPr>
                  <p:cNvSpPr/>
                  <p:nvPr/>
                </p:nvSpPr>
                <p:spPr>
                  <a:xfrm>
                    <a:off x="6324600" y="5063324"/>
                    <a:ext cx="2393950" cy="729144"/>
                  </a:xfrm>
                  <a:prstGeom prst="rect">
                    <a:avLst/>
                  </a:prstGeom>
                  <a:solidFill>
                    <a:srgbClr val="CE6EC0"/>
                  </a:solidFill>
                  <a:ln>
                    <a:noFill/>
                  </a:ln>
                </p:spPr>
                <p:txBody>
                  <a:bodyPr spcFirstLastPara="1" wrap="square" lIns="27425" tIns="45700" rIns="27425" bIns="45700" anchor="t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rPr lang="en-US" sz="1400" b="0" i="0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Infrastructure</a:t>
                    </a: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id="41" name="Google Shape;2173;p72" descr="Docker Setup and Dockerize an Application | by Romil Jain | Medium">
                    <a:extLst>
                      <a:ext uri="{FF2B5EF4-FFF2-40B4-BE49-F238E27FC236}">
                        <a16:creationId xmlns:a16="http://schemas.microsoft.com/office/drawing/2014/main" id="{8564E23E-7F25-B1A7-DA4D-C0BB81BC9AA4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l="9203" t="82292" r="62724" b="1938"/>
                  <a:stretch/>
                </p:blipFill>
                <p:spPr>
                  <a:xfrm>
                    <a:off x="6790055" y="5238498"/>
                    <a:ext cx="1463040" cy="42451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34" name="Google Shape;2174;p72">
                  <a:extLst>
                    <a:ext uri="{FF2B5EF4-FFF2-40B4-BE49-F238E27FC236}">
                      <a16:creationId xmlns:a16="http://schemas.microsoft.com/office/drawing/2014/main" id="{A3945587-6BC4-717C-43EF-32306CE380F8}"/>
                    </a:ext>
                  </a:extLst>
                </p:cNvPr>
                <p:cNvSpPr/>
                <p:nvPr/>
              </p:nvSpPr>
              <p:spPr>
                <a:xfrm>
                  <a:off x="7170420" y="3028950"/>
                  <a:ext cx="698500" cy="22225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App 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" name="Google Shape;2175;p72">
                  <a:extLst>
                    <a:ext uri="{FF2B5EF4-FFF2-40B4-BE49-F238E27FC236}">
                      <a16:creationId xmlns:a16="http://schemas.microsoft.com/office/drawing/2014/main" id="{C5BC1375-2CB6-EDAD-1926-52BEC25F294C}"/>
                    </a:ext>
                  </a:extLst>
                </p:cNvPr>
                <p:cNvSpPr/>
                <p:nvPr/>
              </p:nvSpPr>
              <p:spPr>
                <a:xfrm>
                  <a:off x="7170420" y="3298157"/>
                  <a:ext cx="698500" cy="22225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Bins/Libs</a:t>
                  </a:r>
                  <a:endParaRPr sz="1400" b="0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6" name="Google Shape;2176;p72">
                  <a:extLst>
                    <a:ext uri="{FF2B5EF4-FFF2-40B4-BE49-F238E27FC236}">
                      <a16:creationId xmlns:a16="http://schemas.microsoft.com/office/drawing/2014/main" id="{BD3BF992-6991-47DE-C3A4-158063BBFB0F}"/>
                    </a:ext>
                  </a:extLst>
                </p:cNvPr>
                <p:cNvSpPr/>
                <p:nvPr/>
              </p:nvSpPr>
              <p:spPr>
                <a:xfrm>
                  <a:off x="7170420" y="3567364"/>
                  <a:ext cx="698500" cy="91440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Guest OS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" name="Google Shape;2177;p72">
                  <a:extLst>
                    <a:ext uri="{FF2B5EF4-FFF2-40B4-BE49-F238E27FC236}">
                      <a16:creationId xmlns:a16="http://schemas.microsoft.com/office/drawing/2014/main" id="{742A4D94-D4E5-BB43-7614-1F2DE95933E3}"/>
                    </a:ext>
                  </a:extLst>
                </p:cNvPr>
                <p:cNvSpPr/>
                <p:nvPr/>
              </p:nvSpPr>
              <p:spPr>
                <a:xfrm>
                  <a:off x="8020050" y="3028950"/>
                  <a:ext cx="698500" cy="22225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App 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" name="Google Shape;2178;p72">
                  <a:extLst>
                    <a:ext uri="{FF2B5EF4-FFF2-40B4-BE49-F238E27FC236}">
                      <a16:creationId xmlns:a16="http://schemas.microsoft.com/office/drawing/2014/main" id="{BB7AC4DA-4C7C-517D-A95A-9AC12BF334FF}"/>
                    </a:ext>
                  </a:extLst>
                </p:cNvPr>
                <p:cNvSpPr/>
                <p:nvPr/>
              </p:nvSpPr>
              <p:spPr>
                <a:xfrm>
                  <a:off x="8020050" y="3298157"/>
                  <a:ext cx="698500" cy="22225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Bins/Libs</a:t>
                  </a:r>
                  <a:endParaRPr sz="1400" b="0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9" name="Google Shape;2179;p72">
                  <a:extLst>
                    <a:ext uri="{FF2B5EF4-FFF2-40B4-BE49-F238E27FC236}">
                      <a16:creationId xmlns:a16="http://schemas.microsoft.com/office/drawing/2014/main" id="{E454CEBB-9E43-0CA3-12DF-51FC08DD5FFD}"/>
                    </a:ext>
                  </a:extLst>
                </p:cNvPr>
                <p:cNvSpPr/>
                <p:nvPr/>
              </p:nvSpPr>
              <p:spPr>
                <a:xfrm>
                  <a:off x="8020050" y="3567364"/>
                  <a:ext cx="698500" cy="9144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Guest OS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" name="Google Shape;2180;p72">
                <a:extLst>
                  <a:ext uri="{FF2B5EF4-FFF2-40B4-BE49-F238E27FC236}">
                    <a16:creationId xmlns:a16="http://schemas.microsoft.com/office/drawing/2014/main" id="{0D78A768-51D8-A2FB-D19A-AF3B7CFBED31}"/>
                  </a:ext>
                </a:extLst>
              </p:cNvPr>
              <p:cNvGrpSpPr/>
              <p:nvPr/>
            </p:nvGrpSpPr>
            <p:grpSpPr>
              <a:xfrm>
                <a:off x="9112250" y="4019030"/>
                <a:ext cx="2393950" cy="1826959"/>
                <a:chOff x="6324600" y="3965509"/>
                <a:chExt cx="2393950" cy="1826959"/>
              </a:xfrm>
            </p:grpSpPr>
            <p:sp>
              <p:nvSpPr>
                <p:cNvPr id="17" name="Google Shape;2181;p72">
                  <a:extLst>
                    <a:ext uri="{FF2B5EF4-FFF2-40B4-BE49-F238E27FC236}">
                      <a16:creationId xmlns:a16="http://schemas.microsoft.com/office/drawing/2014/main" id="{3357188B-1812-90FA-222E-F6A5D3C9B5F4}"/>
                    </a:ext>
                  </a:extLst>
                </p:cNvPr>
                <p:cNvSpPr/>
                <p:nvPr/>
              </p:nvSpPr>
              <p:spPr>
                <a:xfrm>
                  <a:off x="6324600" y="3965509"/>
                  <a:ext cx="698500" cy="22225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App 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" name="Google Shape;2182;p72">
                  <a:extLst>
                    <a:ext uri="{FF2B5EF4-FFF2-40B4-BE49-F238E27FC236}">
                      <a16:creationId xmlns:a16="http://schemas.microsoft.com/office/drawing/2014/main" id="{8E56271C-70E2-6161-FF27-443023B88B5F}"/>
                    </a:ext>
                  </a:extLst>
                </p:cNvPr>
                <p:cNvSpPr/>
                <p:nvPr/>
              </p:nvSpPr>
              <p:spPr>
                <a:xfrm>
                  <a:off x="6324600" y="4234716"/>
                  <a:ext cx="698500" cy="22225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Bins/Libs</a:t>
                  </a:r>
                  <a:endParaRPr sz="1400" b="0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9" name="Google Shape;2183;p72">
                  <a:extLst>
                    <a:ext uri="{FF2B5EF4-FFF2-40B4-BE49-F238E27FC236}">
                      <a16:creationId xmlns:a16="http://schemas.microsoft.com/office/drawing/2014/main" id="{A3F4A97F-C564-54AE-AC5A-B53B7F526949}"/>
                    </a:ext>
                  </a:extLst>
                </p:cNvPr>
                <p:cNvSpPr/>
                <p:nvPr/>
              </p:nvSpPr>
              <p:spPr>
                <a:xfrm>
                  <a:off x="6324600" y="4528721"/>
                  <a:ext cx="2393950" cy="220345"/>
                </a:xfrm>
                <a:prstGeom prst="rect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Docker Engine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" name="Google Shape;2184;p72">
                  <a:extLst>
                    <a:ext uri="{FF2B5EF4-FFF2-40B4-BE49-F238E27FC236}">
                      <a16:creationId xmlns:a16="http://schemas.microsoft.com/office/drawing/2014/main" id="{5F8F91A9-AD69-5A89-AC37-A9A4D896C534}"/>
                    </a:ext>
                  </a:extLst>
                </p:cNvPr>
                <p:cNvSpPr/>
                <p:nvPr/>
              </p:nvSpPr>
              <p:spPr>
                <a:xfrm>
                  <a:off x="6324600" y="4796023"/>
                  <a:ext cx="2393950" cy="220345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Operating System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" name="Google Shape;2185;p72">
                  <a:extLst>
                    <a:ext uri="{FF2B5EF4-FFF2-40B4-BE49-F238E27FC236}">
                      <a16:creationId xmlns:a16="http://schemas.microsoft.com/office/drawing/2014/main" id="{8530099F-B4C4-42A0-5E59-93BE63A387BE}"/>
                    </a:ext>
                  </a:extLst>
                </p:cNvPr>
                <p:cNvGrpSpPr/>
                <p:nvPr/>
              </p:nvGrpSpPr>
              <p:grpSpPr>
                <a:xfrm>
                  <a:off x="6324600" y="5063324"/>
                  <a:ext cx="2393950" cy="729144"/>
                  <a:chOff x="6324600" y="5063324"/>
                  <a:chExt cx="2393950" cy="729144"/>
                </a:xfrm>
              </p:grpSpPr>
              <p:sp>
                <p:nvSpPr>
                  <p:cNvPr id="26" name="Google Shape;2186;p72">
                    <a:extLst>
                      <a:ext uri="{FF2B5EF4-FFF2-40B4-BE49-F238E27FC236}">
                        <a16:creationId xmlns:a16="http://schemas.microsoft.com/office/drawing/2014/main" id="{E6EAC95D-9780-382B-3204-556352C61EFA}"/>
                      </a:ext>
                    </a:extLst>
                  </p:cNvPr>
                  <p:cNvSpPr/>
                  <p:nvPr/>
                </p:nvSpPr>
                <p:spPr>
                  <a:xfrm>
                    <a:off x="6324600" y="5063324"/>
                    <a:ext cx="2393950" cy="729144"/>
                  </a:xfrm>
                  <a:prstGeom prst="rect">
                    <a:avLst/>
                  </a:prstGeom>
                  <a:solidFill>
                    <a:srgbClr val="CE6EC0"/>
                  </a:solidFill>
                  <a:ln>
                    <a:noFill/>
                  </a:ln>
                </p:spPr>
                <p:txBody>
                  <a:bodyPr spcFirstLastPara="1" wrap="square" lIns="27425" tIns="45700" rIns="27425" bIns="45700" anchor="t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rPr lang="en-US" sz="1400" b="0" i="0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rPr>
                      <a:t>Infrastructure</a:t>
                    </a: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id="27" name="Google Shape;2187;p72" descr="Docker Setup and Dockerize an Application | by Romil Jain | Medium">
                    <a:extLst>
                      <a:ext uri="{FF2B5EF4-FFF2-40B4-BE49-F238E27FC236}">
                        <a16:creationId xmlns:a16="http://schemas.microsoft.com/office/drawing/2014/main" id="{840A3EDB-1C00-A09E-8D89-FAF12F1969A8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l="9203" t="82292" r="62724" b="1938"/>
                  <a:stretch/>
                </p:blipFill>
                <p:spPr>
                  <a:xfrm>
                    <a:off x="6790055" y="5238498"/>
                    <a:ext cx="1463040" cy="42451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22" name="Google Shape;2188;p72">
                  <a:extLst>
                    <a:ext uri="{FF2B5EF4-FFF2-40B4-BE49-F238E27FC236}">
                      <a16:creationId xmlns:a16="http://schemas.microsoft.com/office/drawing/2014/main" id="{2FBCADCD-E51E-0FC1-7863-D3F49C51B0C1}"/>
                    </a:ext>
                  </a:extLst>
                </p:cNvPr>
                <p:cNvSpPr/>
                <p:nvPr/>
              </p:nvSpPr>
              <p:spPr>
                <a:xfrm>
                  <a:off x="7170420" y="3965509"/>
                  <a:ext cx="698500" cy="22225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App 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" name="Google Shape;2189;p72">
                  <a:extLst>
                    <a:ext uri="{FF2B5EF4-FFF2-40B4-BE49-F238E27FC236}">
                      <a16:creationId xmlns:a16="http://schemas.microsoft.com/office/drawing/2014/main" id="{EFB799D7-D2F6-6614-6EDE-DAF1638B2BE5}"/>
                    </a:ext>
                  </a:extLst>
                </p:cNvPr>
                <p:cNvSpPr/>
                <p:nvPr/>
              </p:nvSpPr>
              <p:spPr>
                <a:xfrm>
                  <a:off x="7170420" y="4234716"/>
                  <a:ext cx="698500" cy="22225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Bins/Libs</a:t>
                  </a:r>
                  <a:endParaRPr sz="1400" b="0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4" name="Google Shape;2190;p72">
                  <a:extLst>
                    <a:ext uri="{FF2B5EF4-FFF2-40B4-BE49-F238E27FC236}">
                      <a16:creationId xmlns:a16="http://schemas.microsoft.com/office/drawing/2014/main" id="{D725FE6D-4FAA-7C07-07B0-4E7DA3D4BEAF}"/>
                    </a:ext>
                  </a:extLst>
                </p:cNvPr>
                <p:cNvSpPr/>
                <p:nvPr/>
              </p:nvSpPr>
              <p:spPr>
                <a:xfrm>
                  <a:off x="8020050" y="3965509"/>
                  <a:ext cx="698500" cy="22225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App 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2191;p72">
                  <a:extLst>
                    <a:ext uri="{FF2B5EF4-FFF2-40B4-BE49-F238E27FC236}">
                      <a16:creationId xmlns:a16="http://schemas.microsoft.com/office/drawing/2014/main" id="{EF818DC0-F9C4-86B3-DBA9-7C93C7552E2A}"/>
                    </a:ext>
                  </a:extLst>
                </p:cNvPr>
                <p:cNvSpPr/>
                <p:nvPr/>
              </p:nvSpPr>
              <p:spPr>
                <a:xfrm>
                  <a:off x="8020050" y="4234716"/>
                  <a:ext cx="698500" cy="22225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spcFirstLastPara="1" wrap="square" lIns="27425" tIns="45700" rIns="27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Bins/Libs</a:t>
                  </a:r>
                  <a:endParaRPr sz="1400" b="0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sp>
          <p:nvSpPr>
            <p:cNvPr id="14" name="Google Shape;2192;p72">
              <a:extLst>
                <a:ext uri="{FF2B5EF4-FFF2-40B4-BE49-F238E27FC236}">
                  <a16:creationId xmlns:a16="http://schemas.microsoft.com/office/drawing/2014/main" id="{F071573F-93FB-BF1D-4D31-850B8B5A63E7}"/>
                </a:ext>
              </a:extLst>
            </p:cNvPr>
            <p:cNvSpPr/>
            <p:nvPr/>
          </p:nvSpPr>
          <p:spPr>
            <a:xfrm>
              <a:off x="6081190" y="1709854"/>
              <a:ext cx="5516020" cy="3438292"/>
            </a:xfrm>
            <a:prstGeom prst="roundRect">
              <a:avLst>
                <a:gd name="adj" fmla="val 3754"/>
              </a:avLst>
            </a:prstGeom>
            <a:noFill/>
            <a:ln w="9525" cap="flat" cmpd="sng">
              <a:solidFill>
                <a:srgbClr val="9C9C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077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197;p73">
            <a:extLst>
              <a:ext uri="{FF2B5EF4-FFF2-40B4-BE49-F238E27FC236}">
                <a16:creationId xmlns:a16="http://schemas.microsoft.com/office/drawing/2014/main" id="{C515BA5E-8558-1B1A-6A34-531F84B47712}"/>
              </a:ext>
            </a:extLst>
          </p:cNvPr>
          <p:cNvSpPr txBox="1"/>
          <p:nvPr/>
        </p:nvSpPr>
        <p:spPr>
          <a:xfrm>
            <a:off x="676656" y="1107753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THREE-TIER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198;p73">
            <a:extLst>
              <a:ext uri="{FF2B5EF4-FFF2-40B4-BE49-F238E27FC236}">
                <a16:creationId xmlns:a16="http://schemas.microsoft.com/office/drawing/2014/main" id="{A4B64DEC-7925-71A2-8316-9263A350547B}"/>
              </a:ext>
            </a:extLst>
          </p:cNvPr>
          <p:cNvSpPr/>
          <p:nvPr/>
        </p:nvSpPr>
        <p:spPr>
          <a:xfrm>
            <a:off x="6709153" y="5991442"/>
            <a:ext cx="2729085" cy="777731"/>
          </a:xfrm>
          <a:prstGeom prst="roundRect">
            <a:avLst>
              <a:gd name="adj" fmla="val 5699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MASTER</a:t>
            </a:r>
            <a:endParaRPr sz="1600" b="1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" name="Google Shape;2199;p73">
            <a:extLst>
              <a:ext uri="{FF2B5EF4-FFF2-40B4-BE49-F238E27FC236}">
                <a16:creationId xmlns:a16="http://schemas.microsoft.com/office/drawing/2014/main" id="{3D73963C-2B1F-524E-C533-92B40A9EB0FB}"/>
              </a:ext>
            </a:extLst>
          </p:cNvPr>
          <p:cNvGrpSpPr/>
          <p:nvPr/>
        </p:nvGrpSpPr>
        <p:grpSpPr>
          <a:xfrm>
            <a:off x="2679627" y="2031517"/>
            <a:ext cx="2046533" cy="3639276"/>
            <a:chOff x="921529" y="997644"/>
            <a:chExt cx="733480" cy="2990370"/>
          </a:xfrm>
        </p:grpSpPr>
        <p:sp>
          <p:nvSpPr>
            <p:cNvPr id="12" name="Google Shape;2200;p73">
              <a:extLst>
                <a:ext uri="{FF2B5EF4-FFF2-40B4-BE49-F238E27FC236}">
                  <a16:creationId xmlns:a16="http://schemas.microsoft.com/office/drawing/2014/main" id="{F106B4C8-DEA5-6B6F-3468-EB8046F8D225}"/>
                </a:ext>
              </a:extLst>
            </p:cNvPr>
            <p:cNvSpPr/>
            <p:nvPr/>
          </p:nvSpPr>
          <p:spPr>
            <a:xfrm>
              <a:off x="960543" y="997644"/>
              <a:ext cx="694466" cy="2990370"/>
            </a:xfrm>
            <a:prstGeom prst="roundRect">
              <a:avLst>
                <a:gd name="adj" fmla="val 5699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2201;p73">
              <a:extLst>
                <a:ext uri="{FF2B5EF4-FFF2-40B4-BE49-F238E27FC236}">
                  <a16:creationId xmlns:a16="http://schemas.microsoft.com/office/drawing/2014/main" id="{3F3595D4-43EA-4F23-142F-1AC4C255C9FB}"/>
                </a:ext>
              </a:extLst>
            </p:cNvPr>
            <p:cNvSpPr txBox="1"/>
            <p:nvPr/>
          </p:nvSpPr>
          <p:spPr>
            <a:xfrm>
              <a:off x="921529" y="2251214"/>
              <a:ext cx="716278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USER</a:t>
              </a:r>
              <a:endPara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4" name="Google Shape;2202;p73">
            <a:extLst>
              <a:ext uri="{FF2B5EF4-FFF2-40B4-BE49-F238E27FC236}">
                <a16:creationId xmlns:a16="http://schemas.microsoft.com/office/drawing/2014/main" id="{DDA83D7F-5F61-D962-8186-2C5D51600C28}"/>
              </a:ext>
            </a:extLst>
          </p:cNvPr>
          <p:cNvSpPr/>
          <p:nvPr/>
        </p:nvSpPr>
        <p:spPr>
          <a:xfrm>
            <a:off x="6855008" y="2031517"/>
            <a:ext cx="2639077" cy="3639276"/>
          </a:xfrm>
          <a:prstGeom prst="roundRect">
            <a:avLst>
              <a:gd name="adj" fmla="val 5699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" name="Google Shape;2203;p73">
            <a:extLst>
              <a:ext uri="{FF2B5EF4-FFF2-40B4-BE49-F238E27FC236}">
                <a16:creationId xmlns:a16="http://schemas.microsoft.com/office/drawing/2014/main" id="{918BAE50-9146-6EF7-8ADD-40B912F773E9}"/>
              </a:ext>
            </a:extLst>
          </p:cNvPr>
          <p:cNvSpPr/>
          <p:nvPr/>
        </p:nvSpPr>
        <p:spPr>
          <a:xfrm>
            <a:off x="7099812" y="2259046"/>
            <a:ext cx="2149467" cy="933589"/>
          </a:xfrm>
          <a:prstGeom prst="roundRect">
            <a:avLst>
              <a:gd name="adj" fmla="val 11286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7"/>
                  </a:ext>
                </a:extLst>
              </a:rPr>
              <a:t>Frontend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2204;p73">
            <a:extLst>
              <a:ext uri="{FF2B5EF4-FFF2-40B4-BE49-F238E27FC236}">
                <a16:creationId xmlns:a16="http://schemas.microsoft.com/office/drawing/2014/main" id="{21E790E2-C46E-E616-9BFE-4CFBD01C2032}"/>
              </a:ext>
            </a:extLst>
          </p:cNvPr>
          <p:cNvCxnSpPr/>
          <p:nvPr/>
        </p:nvCxnSpPr>
        <p:spPr>
          <a:xfrm>
            <a:off x="4726160" y="2583468"/>
            <a:ext cx="2373653" cy="0"/>
          </a:xfrm>
          <a:prstGeom prst="straightConnector1">
            <a:avLst/>
          </a:prstGeom>
          <a:noFill/>
          <a:ln w="28575" cap="flat" cmpd="sng">
            <a:solidFill>
              <a:srgbClr val="757070"/>
            </a:solidFill>
            <a:prstDash val="solid"/>
            <a:round/>
            <a:headEnd type="none" w="sm" len="sm"/>
            <a:tailEnd type="triangle" w="lg" len="lg"/>
          </a:ln>
        </p:spPr>
      </p:cxnSp>
      <p:grpSp>
        <p:nvGrpSpPr>
          <p:cNvPr id="17" name="Google Shape;2205;p73">
            <a:extLst>
              <a:ext uri="{FF2B5EF4-FFF2-40B4-BE49-F238E27FC236}">
                <a16:creationId xmlns:a16="http://schemas.microsoft.com/office/drawing/2014/main" id="{F426FD25-2F9E-A5FA-EA78-4EC0638FC020}"/>
              </a:ext>
            </a:extLst>
          </p:cNvPr>
          <p:cNvGrpSpPr/>
          <p:nvPr/>
        </p:nvGrpSpPr>
        <p:grpSpPr>
          <a:xfrm>
            <a:off x="6110468" y="2753207"/>
            <a:ext cx="3138811" cy="1541466"/>
            <a:chOff x="6119612" y="1829663"/>
            <a:chExt cx="3138811" cy="1541466"/>
          </a:xfrm>
        </p:grpSpPr>
        <p:sp>
          <p:nvSpPr>
            <p:cNvPr id="18" name="Google Shape;2206;p73">
              <a:extLst>
                <a:ext uri="{FF2B5EF4-FFF2-40B4-BE49-F238E27FC236}">
                  <a16:creationId xmlns:a16="http://schemas.microsoft.com/office/drawing/2014/main" id="{F9D27520-75AF-AF05-8B0B-D95203538A5F}"/>
                </a:ext>
              </a:extLst>
            </p:cNvPr>
            <p:cNvSpPr/>
            <p:nvPr/>
          </p:nvSpPr>
          <p:spPr>
            <a:xfrm>
              <a:off x="7108956" y="2437540"/>
              <a:ext cx="2149467" cy="933589"/>
            </a:xfrm>
            <a:prstGeom prst="roundRect">
              <a:avLst>
                <a:gd name="adj" fmla="val 10355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Backend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207;p73">
              <a:extLst>
                <a:ext uri="{FF2B5EF4-FFF2-40B4-BE49-F238E27FC236}">
                  <a16:creationId xmlns:a16="http://schemas.microsoft.com/office/drawing/2014/main" id="{24A76C85-7CCF-EB5D-CD5F-7CBD6AC7AAC2}"/>
                </a:ext>
              </a:extLst>
            </p:cNvPr>
            <p:cNvSpPr/>
            <p:nvPr/>
          </p:nvSpPr>
          <p:spPr>
            <a:xfrm>
              <a:off x="6119612" y="1829663"/>
              <a:ext cx="989343" cy="1025884"/>
            </a:xfrm>
            <a:custGeom>
              <a:avLst/>
              <a:gdLst/>
              <a:ahLst/>
              <a:cxnLst/>
              <a:rect l="l" t="t" r="r" b="b"/>
              <a:pathLst>
                <a:path w="812800" h="1123950" extrusionOk="0">
                  <a:moveTo>
                    <a:pt x="808012" y="0"/>
                  </a:moveTo>
                  <a:lnTo>
                    <a:pt x="0" y="0"/>
                  </a:lnTo>
                  <a:lnTo>
                    <a:pt x="0" y="1123950"/>
                  </a:lnTo>
                  <a:lnTo>
                    <a:pt x="812800" y="1123950"/>
                  </a:lnTo>
                </a:path>
              </a:pathLst>
            </a:custGeom>
            <a:noFill/>
            <a:ln w="28575" cap="flat" cmpd="sng">
              <a:solidFill>
                <a:srgbClr val="757070"/>
              </a:solidFill>
              <a:prstDash val="solid"/>
              <a:round/>
              <a:headEnd type="none" w="sm" len="sm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208;p73">
            <a:extLst>
              <a:ext uri="{FF2B5EF4-FFF2-40B4-BE49-F238E27FC236}">
                <a16:creationId xmlns:a16="http://schemas.microsoft.com/office/drawing/2014/main" id="{BF1268EC-7079-900A-4F08-F617C66AC4DD}"/>
              </a:ext>
            </a:extLst>
          </p:cNvPr>
          <p:cNvGrpSpPr/>
          <p:nvPr/>
        </p:nvGrpSpPr>
        <p:grpSpPr>
          <a:xfrm>
            <a:off x="6110469" y="4041780"/>
            <a:ext cx="3138810" cy="1354930"/>
            <a:chOff x="6119613" y="3118236"/>
            <a:chExt cx="3138810" cy="1354930"/>
          </a:xfrm>
        </p:grpSpPr>
        <p:sp>
          <p:nvSpPr>
            <p:cNvPr id="21" name="Google Shape;2209;p73">
              <a:extLst>
                <a:ext uri="{FF2B5EF4-FFF2-40B4-BE49-F238E27FC236}">
                  <a16:creationId xmlns:a16="http://schemas.microsoft.com/office/drawing/2014/main" id="{C4923455-929A-CBAF-191E-D736FE32DADF}"/>
                </a:ext>
              </a:extLst>
            </p:cNvPr>
            <p:cNvSpPr/>
            <p:nvPr/>
          </p:nvSpPr>
          <p:spPr>
            <a:xfrm>
              <a:off x="7108956" y="3539577"/>
              <a:ext cx="2149467" cy="933589"/>
            </a:xfrm>
            <a:prstGeom prst="roundRect">
              <a:avLst>
                <a:gd name="adj" fmla="val 13149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Database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10;p73">
              <a:extLst>
                <a:ext uri="{FF2B5EF4-FFF2-40B4-BE49-F238E27FC236}">
                  <a16:creationId xmlns:a16="http://schemas.microsoft.com/office/drawing/2014/main" id="{CF928663-F54B-F070-875E-209CF8C81FA3}"/>
                </a:ext>
              </a:extLst>
            </p:cNvPr>
            <p:cNvSpPr/>
            <p:nvPr/>
          </p:nvSpPr>
          <p:spPr>
            <a:xfrm>
              <a:off x="6119613" y="3118236"/>
              <a:ext cx="989342" cy="1025884"/>
            </a:xfrm>
            <a:custGeom>
              <a:avLst/>
              <a:gdLst/>
              <a:ahLst/>
              <a:cxnLst/>
              <a:rect l="l" t="t" r="r" b="b"/>
              <a:pathLst>
                <a:path w="812800" h="1123950" extrusionOk="0">
                  <a:moveTo>
                    <a:pt x="808012" y="0"/>
                  </a:moveTo>
                  <a:lnTo>
                    <a:pt x="0" y="0"/>
                  </a:lnTo>
                  <a:lnTo>
                    <a:pt x="0" y="1123950"/>
                  </a:lnTo>
                  <a:lnTo>
                    <a:pt x="812800" y="1123950"/>
                  </a:lnTo>
                </a:path>
              </a:pathLst>
            </a:custGeom>
            <a:noFill/>
            <a:ln w="28575" cap="flat" cmpd="sng">
              <a:solidFill>
                <a:srgbClr val="757070"/>
              </a:solidFill>
              <a:prstDash val="solid"/>
              <a:round/>
              <a:headEnd type="none" w="sm" len="sm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981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215;p74">
            <a:extLst>
              <a:ext uri="{FF2B5EF4-FFF2-40B4-BE49-F238E27FC236}">
                <a16:creationId xmlns:a16="http://schemas.microsoft.com/office/drawing/2014/main" id="{8A0B02E3-A8AF-88BA-12E3-6BD554E18FCD}"/>
              </a:ext>
            </a:extLst>
          </p:cNvPr>
          <p:cNvSpPr/>
          <p:nvPr/>
        </p:nvSpPr>
        <p:spPr>
          <a:xfrm>
            <a:off x="1066484" y="2589315"/>
            <a:ext cx="4991099" cy="3709338"/>
          </a:xfrm>
          <a:prstGeom prst="roundRect">
            <a:avLst>
              <a:gd name="adj" fmla="val 545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Container Orchestration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Helps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deployme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nt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8"/>
                  </a:ext>
                </a:extLst>
              </a:rPr>
              <a:t>Manages load and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9"/>
                  </a:ext>
                </a:extLst>
              </a:rPr>
              <a:t>auto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0"/>
                  </a:ext>
                </a:extLst>
              </a:rPr>
              <a:t>-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1"/>
                  </a:ext>
                </a:extLst>
              </a:rPr>
              <a:t>scales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Manages communication and networking between containers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2"/>
                  </a:ext>
                </a:extLst>
              </a:rPr>
              <a:t>Exposes capabilities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perform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logging, analytics, and health monitoring for containers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Plugins for monitoring tools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Kubernetes and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3"/>
                  </a:ext>
                </a:extLst>
              </a:rPr>
              <a:t>Docker-swarm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are some examples</a:t>
            </a: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216;p74">
            <a:extLst>
              <a:ext uri="{FF2B5EF4-FFF2-40B4-BE49-F238E27FC236}">
                <a16:creationId xmlns:a16="http://schemas.microsoft.com/office/drawing/2014/main" id="{47F30E59-D184-5DFB-D4CB-23E6560342A6}"/>
              </a:ext>
            </a:extLst>
          </p:cNvPr>
          <p:cNvSpPr txBox="1"/>
          <p:nvPr/>
        </p:nvSpPr>
        <p:spPr>
          <a:xfrm>
            <a:off x="685800" y="1199193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2217;p74" descr="Kubernetes Logo transparent PNG - StickPNG">
            <a:extLst>
              <a:ext uri="{FF2B5EF4-FFF2-40B4-BE49-F238E27FC236}">
                <a16:creationId xmlns:a16="http://schemas.microsoft.com/office/drawing/2014/main" id="{3F73EBDE-BFD5-F3EF-0FF5-4C1441BC549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38180" y="2698056"/>
            <a:ext cx="3587337" cy="3491857"/>
          </a:xfrm>
          <a:prstGeom prst="roundRect">
            <a:avLst>
              <a:gd name="adj" fmla="val 7777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428752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222;p75">
            <a:extLst>
              <a:ext uri="{FF2B5EF4-FFF2-40B4-BE49-F238E27FC236}">
                <a16:creationId xmlns:a16="http://schemas.microsoft.com/office/drawing/2014/main" id="{C0B38BDA-6D68-29E0-23B1-49B9A01E739D}"/>
              </a:ext>
            </a:extLst>
          </p:cNvPr>
          <p:cNvSpPr txBox="1"/>
          <p:nvPr/>
        </p:nvSpPr>
        <p:spPr>
          <a:xfrm>
            <a:off x="720159" y="1207331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CONTAINER ORCHESTRATION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2223;p75">
            <a:extLst>
              <a:ext uri="{FF2B5EF4-FFF2-40B4-BE49-F238E27FC236}">
                <a16:creationId xmlns:a16="http://schemas.microsoft.com/office/drawing/2014/main" id="{E3A160DF-0112-FA75-D2F2-AE1A22B9E8F7}"/>
              </a:ext>
            </a:extLst>
          </p:cNvPr>
          <p:cNvGrpSpPr/>
          <p:nvPr/>
        </p:nvGrpSpPr>
        <p:grpSpPr>
          <a:xfrm>
            <a:off x="260940" y="2233955"/>
            <a:ext cx="10647549" cy="4217697"/>
            <a:chOff x="260940" y="1420139"/>
            <a:chExt cx="10647549" cy="4217697"/>
          </a:xfrm>
        </p:grpSpPr>
        <p:sp>
          <p:nvSpPr>
            <p:cNvPr id="11" name="Google Shape;2224;p75">
              <a:extLst>
                <a:ext uri="{FF2B5EF4-FFF2-40B4-BE49-F238E27FC236}">
                  <a16:creationId xmlns:a16="http://schemas.microsoft.com/office/drawing/2014/main" id="{66CDCCF7-6367-2929-FDCA-004F19B36B2A}"/>
                </a:ext>
              </a:extLst>
            </p:cNvPr>
            <p:cNvSpPr/>
            <p:nvPr/>
          </p:nvSpPr>
          <p:spPr>
            <a:xfrm>
              <a:off x="4452655" y="1699068"/>
              <a:ext cx="1968221" cy="619219"/>
            </a:xfrm>
            <a:prstGeom prst="roundRect">
              <a:avLst>
                <a:gd name="adj" fmla="val 10355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Governance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2225;p75">
              <a:extLst>
                <a:ext uri="{FF2B5EF4-FFF2-40B4-BE49-F238E27FC236}">
                  <a16:creationId xmlns:a16="http://schemas.microsoft.com/office/drawing/2014/main" id="{E7FDBA89-EECD-076E-478E-ADFCB80E9801}"/>
                </a:ext>
              </a:extLst>
            </p:cNvPr>
            <p:cNvSpPr/>
            <p:nvPr/>
          </p:nvSpPr>
          <p:spPr>
            <a:xfrm>
              <a:off x="6568826" y="1699068"/>
              <a:ext cx="1968221" cy="619219"/>
            </a:xfrm>
            <a:prstGeom prst="roundRect">
              <a:avLst>
                <a:gd name="adj" fmla="val 10355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Security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226;p75">
              <a:extLst>
                <a:ext uri="{FF2B5EF4-FFF2-40B4-BE49-F238E27FC236}">
                  <a16:creationId xmlns:a16="http://schemas.microsoft.com/office/drawing/2014/main" id="{AA2E2E87-958C-F028-9968-DA0CF35E0F95}"/>
                </a:ext>
              </a:extLst>
            </p:cNvPr>
            <p:cNvSpPr/>
            <p:nvPr/>
          </p:nvSpPr>
          <p:spPr>
            <a:xfrm>
              <a:off x="8684996" y="1699068"/>
              <a:ext cx="1968221" cy="619219"/>
            </a:xfrm>
            <a:prstGeom prst="roundRect">
              <a:avLst>
                <a:gd name="adj" fmla="val 10355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Automation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2227;p75">
              <a:extLst>
                <a:ext uri="{FF2B5EF4-FFF2-40B4-BE49-F238E27FC236}">
                  <a16:creationId xmlns:a16="http://schemas.microsoft.com/office/drawing/2014/main" id="{E0F3B0E7-79E6-A31E-2909-330A68C16CDD}"/>
                </a:ext>
              </a:extLst>
            </p:cNvPr>
            <p:cNvSpPr/>
            <p:nvPr/>
          </p:nvSpPr>
          <p:spPr>
            <a:xfrm>
              <a:off x="4452655" y="2484548"/>
              <a:ext cx="6200562" cy="619219"/>
            </a:xfrm>
            <a:prstGeom prst="roundRect">
              <a:avLst>
                <a:gd name="adj" fmla="val 10355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Orchestration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228;p75">
              <a:extLst>
                <a:ext uri="{FF2B5EF4-FFF2-40B4-BE49-F238E27FC236}">
                  <a16:creationId xmlns:a16="http://schemas.microsoft.com/office/drawing/2014/main" id="{7359399C-29D1-D437-1821-95D3DF4A6A3E}"/>
                </a:ext>
              </a:extLst>
            </p:cNvPr>
            <p:cNvSpPr/>
            <p:nvPr/>
          </p:nvSpPr>
          <p:spPr>
            <a:xfrm>
              <a:off x="4452655" y="4688950"/>
              <a:ext cx="6200562" cy="619219"/>
            </a:xfrm>
            <a:prstGeom prst="roundRect">
              <a:avLst>
                <a:gd name="adj" fmla="val 10355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Open and Extensible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" name="Google Shape;2229;p75">
              <a:extLst>
                <a:ext uri="{FF2B5EF4-FFF2-40B4-BE49-F238E27FC236}">
                  <a16:creationId xmlns:a16="http://schemas.microsoft.com/office/drawing/2014/main" id="{47FC9313-9087-1282-D24D-7F95C3C5CC6F}"/>
                </a:ext>
              </a:extLst>
            </p:cNvPr>
            <p:cNvGrpSpPr/>
            <p:nvPr/>
          </p:nvGrpSpPr>
          <p:grpSpPr>
            <a:xfrm>
              <a:off x="260940" y="4370355"/>
              <a:ext cx="1968221" cy="1205163"/>
              <a:chOff x="2053089" y="3965549"/>
              <a:chExt cx="1532619" cy="938439"/>
            </a:xfrm>
          </p:grpSpPr>
          <p:sp>
            <p:nvSpPr>
              <p:cNvPr id="136" name="Google Shape;2230;p75">
                <a:extLst>
                  <a:ext uri="{FF2B5EF4-FFF2-40B4-BE49-F238E27FC236}">
                    <a16:creationId xmlns:a16="http://schemas.microsoft.com/office/drawing/2014/main" id="{32450607-0F4F-35C7-C22E-3D5F840E9CB2}"/>
                  </a:ext>
                </a:extLst>
              </p:cNvPr>
              <p:cNvSpPr/>
              <p:nvPr/>
            </p:nvSpPr>
            <p:spPr>
              <a:xfrm>
                <a:off x="2053089" y="3965549"/>
                <a:ext cx="1532619" cy="482175"/>
              </a:xfrm>
              <a:prstGeom prst="roundRect">
                <a:avLst>
                  <a:gd name="adj" fmla="val 10355"/>
                </a:avLst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Container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2231;p75">
                <a:extLst>
                  <a:ext uri="{FF2B5EF4-FFF2-40B4-BE49-F238E27FC236}">
                    <a16:creationId xmlns:a16="http://schemas.microsoft.com/office/drawing/2014/main" id="{B7E33BD8-2ACA-36F8-6894-1CA676B1E39D}"/>
                  </a:ext>
                </a:extLst>
              </p:cNvPr>
              <p:cNvSpPr/>
              <p:nvPr/>
            </p:nvSpPr>
            <p:spPr>
              <a:xfrm>
                <a:off x="2053089" y="4421813"/>
                <a:ext cx="1532619" cy="482175"/>
              </a:xfrm>
              <a:prstGeom prst="roundRect">
                <a:avLst>
                  <a:gd name="adj" fmla="val 10355"/>
                </a:avLst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Image format </a:t>
                </a:r>
                <a:r>
                  <a:rPr lang="en-US" sz="180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and</a:t>
                </a:r>
                <a:r>
                  <a:rPr lang="en-US" sz="1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 runtime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" name="Google Shape;2232;p75">
              <a:extLst>
                <a:ext uri="{FF2B5EF4-FFF2-40B4-BE49-F238E27FC236}">
                  <a16:creationId xmlns:a16="http://schemas.microsoft.com/office/drawing/2014/main" id="{94E9D4F3-40D4-2F18-F3E1-D5246E3BE739}"/>
                </a:ext>
              </a:extLst>
            </p:cNvPr>
            <p:cNvCxnSpPr>
              <a:stCxn id="136" idx="3"/>
            </p:cNvCxnSpPr>
            <p:nvPr/>
          </p:nvCxnSpPr>
          <p:spPr>
            <a:xfrm rot="10800000" flipH="1">
              <a:off x="2229161" y="3784465"/>
              <a:ext cx="2223600" cy="895500"/>
            </a:xfrm>
            <a:prstGeom prst="straightConnector1">
              <a:avLst/>
            </a:prstGeom>
            <a:noFill/>
            <a:ln w="28575" cap="flat" cmpd="sng">
              <a:solidFill>
                <a:srgbClr val="757070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sp>
          <p:nvSpPr>
            <p:cNvPr id="18" name="Google Shape;2233;p75">
              <a:extLst>
                <a:ext uri="{FF2B5EF4-FFF2-40B4-BE49-F238E27FC236}">
                  <a16:creationId xmlns:a16="http://schemas.microsoft.com/office/drawing/2014/main" id="{BB75CF50-D802-91FC-6085-E39EB3F66D63}"/>
                </a:ext>
              </a:extLst>
            </p:cNvPr>
            <p:cNvSpPr/>
            <p:nvPr/>
          </p:nvSpPr>
          <p:spPr>
            <a:xfrm>
              <a:off x="4197382" y="1420139"/>
              <a:ext cx="6711107" cy="4217697"/>
            </a:xfrm>
            <a:prstGeom prst="roundRect">
              <a:avLst>
                <a:gd name="adj" fmla="val 3975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9" name="Google Shape;2234;p75">
              <a:extLst>
                <a:ext uri="{FF2B5EF4-FFF2-40B4-BE49-F238E27FC236}">
                  <a16:creationId xmlns:a16="http://schemas.microsoft.com/office/drawing/2014/main" id="{AC7DA780-C55F-EC03-7063-B6C4CB4748C1}"/>
                </a:ext>
              </a:extLst>
            </p:cNvPr>
            <p:cNvGrpSpPr/>
            <p:nvPr/>
          </p:nvGrpSpPr>
          <p:grpSpPr>
            <a:xfrm>
              <a:off x="943822" y="3612970"/>
              <a:ext cx="602457" cy="619219"/>
              <a:chOff x="1538782" y="3612970"/>
              <a:chExt cx="602457" cy="619219"/>
            </a:xfrm>
          </p:grpSpPr>
          <p:sp>
            <p:nvSpPr>
              <p:cNvPr id="131" name="Google Shape;2235;p75">
                <a:extLst>
                  <a:ext uri="{FF2B5EF4-FFF2-40B4-BE49-F238E27FC236}">
                    <a16:creationId xmlns:a16="http://schemas.microsoft.com/office/drawing/2014/main" id="{071E3F83-7A7E-0719-38B9-889E804751CF}"/>
                  </a:ext>
                </a:extLst>
              </p:cNvPr>
              <p:cNvSpPr/>
              <p:nvPr/>
            </p:nvSpPr>
            <p:spPr>
              <a:xfrm>
                <a:off x="1538782" y="3612970"/>
                <a:ext cx="602457" cy="619219"/>
              </a:xfrm>
              <a:prstGeom prst="roundRect">
                <a:avLst>
                  <a:gd name="adj" fmla="val 7181"/>
                </a:avLst>
              </a:prstGeom>
              <a:noFill/>
              <a:ln w="254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2" name="Google Shape;2236;p75">
                <a:extLst>
                  <a:ext uri="{FF2B5EF4-FFF2-40B4-BE49-F238E27FC236}">
                    <a16:creationId xmlns:a16="http://schemas.microsoft.com/office/drawing/2014/main" id="{826A04D4-5B0C-8031-2F4B-EAB7D07BF941}"/>
                  </a:ext>
                </a:extLst>
              </p:cNvPr>
              <p:cNvCxnSpPr/>
              <p:nvPr/>
            </p:nvCxnSpPr>
            <p:spPr>
              <a:xfrm>
                <a:off x="1703089" y="3748701"/>
                <a:ext cx="0" cy="307182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" name="Google Shape;2237;p75">
                <a:extLst>
                  <a:ext uri="{FF2B5EF4-FFF2-40B4-BE49-F238E27FC236}">
                    <a16:creationId xmlns:a16="http://schemas.microsoft.com/office/drawing/2014/main" id="{82CF452F-3678-8831-2B94-351473B108D7}"/>
                  </a:ext>
                </a:extLst>
              </p:cNvPr>
              <p:cNvCxnSpPr/>
              <p:nvPr/>
            </p:nvCxnSpPr>
            <p:spPr>
              <a:xfrm>
                <a:off x="1792783" y="3748701"/>
                <a:ext cx="0" cy="307182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" name="Google Shape;2238;p75">
                <a:extLst>
                  <a:ext uri="{FF2B5EF4-FFF2-40B4-BE49-F238E27FC236}">
                    <a16:creationId xmlns:a16="http://schemas.microsoft.com/office/drawing/2014/main" id="{0226439B-661C-6623-3CD3-8DC801CC352F}"/>
                  </a:ext>
                </a:extLst>
              </p:cNvPr>
              <p:cNvCxnSpPr/>
              <p:nvPr/>
            </p:nvCxnSpPr>
            <p:spPr>
              <a:xfrm>
                <a:off x="1882477" y="3748701"/>
                <a:ext cx="0" cy="307182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" name="Google Shape;2239;p75">
                <a:extLst>
                  <a:ext uri="{FF2B5EF4-FFF2-40B4-BE49-F238E27FC236}">
                    <a16:creationId xmlns:a16="http://schemas.microsoft.com/office/drawing/2014/main" id="{6FDCEAF2-6B6D-AF53-67AF-C047DB9B7DBA}"/>
                  </a:ext>
                </a:extLst>
              </p:cNvPr>
              <p:cNvCxnSpPr/>
              <p:nvPr/>
            </p:nvCxnSpPr>
            <p:spPr>
              <a:xfrm>
                <a:off x="1972172" y="3748701"/>
                <a:ext cx="0" cy="307182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0" name="Google Shape;2240;p75">
              <a:extLst>
                <a:ext uri="{FF2B5EF4-FFF2-40B4-BE49-F238E27FC236}">
                  <a16:creationId xmlns:a16="http://schemas.microsoft.com/office/drawing/2014/main" id="{7169078A-0549-191E-D883-01926DAFE781}"/>
                </a:ext>
              </a:extLst>
            </p:cNvPr>
            <p:cNvGrpSpPr/>
            <p:nvPr/>
          </p:nvGrpSpPr>
          <p:grpSpPr>
            <a:xfrm>
              <a:off x="4537502" y="3270028"/>
              <a:ext cx="5999869" cy="1252662"/>
              <a:chOff x="4615856" y="5853125"/>
              <a:chExt cx="6677922" cy="1394227"/>
            </a:xfrm>
          </p:grpSpPr>
          <p:grpSp>
            <p:nvGrpSpPr>
              <p:cNvPr id="21" name="Google Shape;2241;p75">
                <a:extLst>
                  <a:ext uri="{FF2B5EF4-FFF2-40B4-BE49-F238E27FC236}">
                    <a16:creationId xmlns:a16="http://schemas.microsoft.com/office/drawing/2014/main" id="{A4468269-F361-C304-CB07-C5D3A74F9013}"/>
                  </a:ext>
                </a:extLst>
              </p:cNvPr>
              <p:cNvGrpSpPr/>
              <p:nvPr/>
            </p:nvGrpSpPr>
            <p:grpSpPr>
              <a:xfrm>
                <a:off x="4615856" y="5853125"/>
                <a:ext cx="6677922" cy="619219"/>
                <a:chOff x="4615856" y="5853125"/>
                <a:chExt cx="6677922" cy="619219"/>
              </a:xfrm>
            </p:grpSpPr>
            <p:grpSp>
              <p:nvGrpSpPr>
                <p:cNvPr id="77" name="Google Shape;2242;p75">
                  <a:extLst>
                    <a:ext uri="{FF2B5EF4-FFF2-40B4-BE49-F238E27FC236}">
                      <a16:creationId xmlns:a16="http://schemas.microsoft.com/office/drawing/2014/main" id="{2304F29C-CEA2-2BCE-D0A7-72F62C9E8CA3}"/>
                    </a:ext>
                  </a:extLst>
                </p:cNvPr>
                <p:cNvGrpSpPr/>
                <p:nvPr/>
              </p:nvGrpSpPr>
              <p:grpSpPr>
                <a:xfrm>
                  <a:off x="4615856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126" name="Google Shape;2243;p75">
                    <a:extLst>
                      <a:ext uri="{FF2B5EF4-FFF2-40B4-BE49-F238E27FC236}">
                        <a16:creationId xmlns:a16="http://schemas.microsoft.com/office/drawing/2014/main" id="{B66F6C8B-9158-4BEC-3DFF-B30AC7897904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27" name="Google Shape;2244;p75">
                    <a:extLst>
                      <a:ext uri="{FF2B5EF4-FFF2-40B4-BE49-F238E27FC236}">
                        <a16:creationId xmlns:a16="http://schemas.microsoft.com/office/drawing/2014/main" id="{58375496-A9BB-1D93-F939-7628823F712D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28" name="Google Shape;2245;p75">
                    <a:extLst>
                      <a:ext uri="{FF2B5EF4-FFF2-40B4-BE49-F238E27FC236}">
                        <a16:creationId xmlns:a16="http://schemas.microsoft.com/office/drawing/2014/main" id="{E6F48FFC-9B8B-F0BB-A45A-91A07680B599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29" name="Google Shape;2246;p75">
                    <a:extLst>
                      <a:ext uri="{FF2B5EF4-FFF2-40B4-BE49-F238E27FC236}">
                        <a16:creationId xmlns:a16="http://schemas.microsoft.com/office/drawing/2014/main" id="{9F7B549D-384E-7B13-899F-A4FBC41EB628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30" name="Google Shape;2247;p75">
                    <a:extLst>
                      <a:ext uri="{FF2B5EF4-FFF2-40B4-BE49-F238E27FC236}">
                        <a16:creationId xmlns:a16="http://schemas.microsoft.com/office/drawing/2014/main" id="{BF37D9BB-D8F7-4ED6-8A77-B6EF1082127B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78" name="Google Shape;2248;p75">
                  <a:extLst>
                    <a:ext uri="{FF2B5EF4-FFF2-40B4-BE49-F238E27FC236}">
                      <a16:creationId xmlns:a16="http://schemas.microsoft.com/office/drawing/2014/main" id="{C02ED49A-B95F-B4B1-755D-F3CBEFE7E4D8}"/>
                    </a:ext>
                  </a:extLst>
                </p:cNvPr>
                <p:cNvGrpSpPr/>
                <p:nvPr/>
              </p:nvGrpSpPr>
              <p:grpSpPr>
                <a:xfrm>
                  <a:off x="5375289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121" name="Google Shape;2249;p75">
                    <a:extLst>
                      <a:ext uri="{FF2B5EF4-FFF2-40B4-BE49-F238E27FC236}">
                        <a16:creationId xmlns:a16="http://schemas.microsoft.com/office/drawing/2014/main" id="{81372C0F-4584-8B42-D186-86CD292D5CAD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22" name="Google Shape;2250;p75">
                    <a:extLst>
                      <a:ext uri="{FF2B5EF4-FFF2-40B4-BE49-F238E27FC236}">
                        <a16:creationId xmlns:a16="http://schemas.microsoft.com/office/drawing/2014/main" id="{B40DC6E9-4A6B-AF7C-A9AC-17D442FCF4FD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23" name="Google Shape;2251;p75">
                    <a:extLst>
                      <a:ext uri="{FF2B5EF4-FFF2-40B4-BE49-F238E27FC236}">
                        <a16:creationId xmlns:a16="http://schemas.microsoft.com/office/drawing/2014/main" id="{5081FD04-7A65-CBE1-6BA4-0129C1746D4F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24" name="Google Shape;2252;p75">
                    <a:extLst>
                      <a:ext uri="{FF2B5EF4-FFF2-40B4-BE49-F238E27FC236}">
                        <a16:creationId xmlns:a16="http://schemas.microsoft.com/office/drawing/2014/main" id="{AAC57CD9-784D-E693-B253-69E8DE60726A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25" name="Google Shape;2253;p75">
                    <a:extLst>
                      <a:ext uri="{FF2B5EF4-FFF2-40B4-BE49-F238E27FC236}">
                        <a16:creationId xmlns:a16="http://schemas.microsoft.com/office/drawing/2014/main" id="{DF6F27F3-C539-9C64-DE55-E900AFB91300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79" name="Google Shape;2254;p75">
                  <a:extLst>
                    <a:ext uri="{FF2B5EF4-FFF2-40B4-BE49-F238E27FC236}">
                      <a16:creationId xmlns:a16="http://schemas.microsoft.com/office/drawing/2014/main" id="{78DE803E-6A7E-BE6B-0117-4E5BB1B69808}"/>
                    </a:ext>
                  </a:extLst>
                </p:cNvPr>
                <p:cNvGrpSpPr/>
                <p:nvPr/>
              </p:nvGrpSpPr>
              <p:grpSpPr>
                <a:xfrm>
                  <a:off x="6134722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116" name="Google Shape;2255;p75">
                    <a:extLst>
                      <a:ext uri="{FF2B5EF4-FFF2-40B4-BE49-F238E27FC236}">
                        <a16:creationId xmlns:a16="http://schemas.microsoft.com/office/drawing/2014/main" id="{8CFA1364-DE69-8BF0-73ED-8C7A49E864AC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17" name="Google Shape;2256;p75">
                    <a:extLst>
                      <a:ext uri="{FF2B5EF4-FFF2-40B4-BE49-F238E27FC236}">
                        <a16:creationId xmlns:a16="http://schemas.microsoft.com/office/drawing/2014/main" id="{C566AD5A-7A63-E9CF-F791-A3CF474DCA0E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18" name="Google Shape;2257;p75">
                    <a:extLst>
                      <a:ext uri="{FF2B5EF4-FFF2-40B4-BE49-F238E27FC236}">
                        <a16:creationId xmlns:a16="http://schemas.microsoft.com/office/drawing/2014/main" id="{99A83B01-EB2E-A4E7-937D-74E701EBDB37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19" name="Google Shape;2258;p75">
                    <a:extLst>
                      <a:ext uri="{FF2B5EF4-FFF2-40B4-BE49-F238E27FC236}">
                        <a16:creationId xmlns:a16="http://schemas.microsoft.com/office/drawing/2014/main" id="{958920D1-FF72-6DC1-28E7-6A9C7626194A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20" name="Google Shape;2259;p75">
                    <a:extLst>
                      <a:ext uri="{FF2B5EF4-FFF2-40B4-BE49-F238E27FC236}">
                        <a16:creationId xmlns:a16="http://schemas.microsoft.com/office/drawing/2014/main" id="{EF037D0E-6AA8-58AB-6D13-A6ADBA3271F3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80" name="Google Shape;2260;p75">
                  <a:extLst>
                    <a:ext uri="{FF2B5EF4-FFF2-40B4-BE49-F238E27FC236}">
                      <a16:creationId xmlns:a16="http://schemas.microsoft.com/office/drawing/2014/main" id="{72EDB9DE-34AE-1DD6-168F-208987F2E97F}"/>
                    </a:ext>
                  </a:extLst>
                </p:cNvPr>
                <p:cNvGrpSpPr/>
                <p:nvPr/>
              </p:nvGrpSpPr>
              <p:grpSpPr>
                <a:xfrm>
                  <a:off x="6894155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111" name="Google Shape;2261;p75">
                    <a:extLst>
                      <a:ext uri="{FF2B5EF4-FFF2-40B4-BE49-F238E27FC236}">
                        <a16:creationId xmlns:a16="http://schemas.microsoft.com/office/drawing/2014/main" id="{34213FFD-434B-0C57-1C9A-FA621D0051D8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12" name="Google Shape;2262;p75">
                    <a:extLst>
                      <a:ext uri="{FF2B5EF4-FFF2-40B4-BE49-F238E27FC236}">
                        <a16:creationId xmlns:a16="http://schemas.microsoft.com/office/drawing/2014/main" id="{68BB1194-7412-7451-37A9-FD3562A3CD5F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13" name="Google Shape;2263;p75">
                    <a:extLst>
                      <a:ext uri="{FF2B5EF4-FFF2-40B4-BE49-F238E27FC236}">
                        <a16:creationId xmlns:a16="http://schemas.microsoft.com/office/drawing/2014/main" id="{C8A3C447-0675-55FC-AA93-18F2760933D4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14" name="Google Shape;2264;p75">
                    <a:extLst>
                      <a:ext uri="{FF2B5EF4-FFF2-40B4-BE49-F238E27FC236}">
                        <a16:creationId xmlns:a16="http://schemas.microsoft.com/office/drawing/2014/main" id="{A0619A20-2E8B-52B3-4183-BFB7C144EA29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15" name="Google Shape;2265;p75">
                    <a:extLst>
                      <a:ext uri="{FF2B5EF4-FFF2-40B4-BE49-F238E27FC236}">
                        <a16:creationId xmlns:a16="http://schemas.microsoft.com/office/drawing/2014/main" id="{F3EE88CF-3A27-80A5-6BA0-4B0B0BD68C5E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81" name="Google Shape;2266;p75">
                  <a:extLst>
                    <a:ext uri="{FF2B5EF4-FFF2-40B4-BE49-F238E27FC236}">
                      <a16:creationId xmlns:a16="http://schemas.microsoft.com/office/drawing/2014/main" id="{A4761752-1497-919D-5963-43AD019603F0}"/>
                    </a:ext>
                  </a:extLst>
                </p:cNvPr>
                <p:cNvGrpSpPr/>
                <p:nvPr/>
              </p:nvGrpSpPr>
              <p:grpSpPr>
                <a:xfrm>
                  <a:off x="7653588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106" name="Google Shape;2267;p75">
                    <a:extLst>
                      <a:ext uri="{FF2B5EF4-FFF2-40B4-BE49-F238E27FC236}">
                        <a16:creationId xmlns:a16="http://schemas.microsoft.com/office/drawing/2014/main" id="{8740D0FE-0599-2410-E9C3-9DB48178EE85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07" name="Google Shape;2268;p75">
                    <a:extLst>
                      <a:ext uri="{FF2B5EF4-FFF2-40B4-BE49-F238E27FC236}">
                        <a16:creationId xmlns:a16="http://schemas.microsoft.com/office/drawing/2014/main" id="{45D110E5-8015-86F6-17C0-856A32E66E4C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8" name="Google Shape;2269;p75">
                    <a:extLst>
                      <a:ext uri="{FF2B5EF4-FFF2-40B4-BE49-F238E27FC236}">
                        <a16:creationId xmlns:a16="http://schemas.microsoft.com/office/drawing/2014/main" id="{88782D5D-32D9-B05C-8287-2BBFCF763E71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9" name="Google Shape;2270;p75">
                    <a:extLst>
                      <a:ext uri="{FF2B5EF4-FFF2-40B4-BE49-F238E27FC236}">
                        <a16:creationId xmlns:a16="http://schemas.microsoft.com/office/drawing/2014/main" id="{0F8E77D6-F532-967F-F866-A2F15EFF04EB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10" name="Google Shape;2271;p75">
                    <a:extLst>
                      <a:ext uri="{FF2B5EF4-FFF2-40B4-BE49-F238E27FC236}">
                        <a16:creationId xmlns:a16="http://schemas.microsoft.com/office/drawing/2014/main" id="{D87909BF-735C-BE26-9B1D-F15511FA5768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82" name="Google Shape;2272;p75">
                  <a:extLst>
                    <a:ext uri="{FF2B5EF4-FFF2-40B4-BE49-F238E27FC236}">
                      <a16:creationId xmlns:a16="http://schemas.microsoft.com/office/drawing/2014/main" id="{52EF6649-146D-00A7-E1FE-3596FE60866B}"/>
                    </a:ext>
                  </a:extLst>
                </p:cNvPr>
                <p:cNvGrpSpPr/>
                <p:nvPr/>
              </p:nvGrpSpPr>
              <p:grpSpPr>
                <a:xfrm>
                  <a:off x="8413021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101" name="Google Shape;2273;p75">
                    <a:extLst>
                      <a:ext uri="{FF2B5EF4-FFF2-40B4-BE49-F238E27FC236}">
                        <a16:creationId xmlns:a16="http://schemas.microsoft.com/office/drawing/2014/main" id="{C18B96FB-DB58-8000-D3A0-3462E6442FCF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02" name="Google Shape;2274;p75">
                    <a:extLst>
                      <a:ext uri="{FF2B5EF4-FFF2-40B4-BE49-F238E27FC236}">
                        <a16:creationId xmlns:a16="http://schemas.microsoft.com/office/drawing/2014/main" id="{ABCC3062-A080-F021-1805-CF0537689B0F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3" name="Google Shape;2275;p75">
                    <a:extLst>
                      <a:ext uri="{FF2B5EF4-FFF2-40B4-BE49-F238E27FC236}">
                        <a16:creationId xmlns:a16="http://schemas.microsoft.com/office/drawing/2014/main" id="{72FEDCB9-7696-1F94-C308-F8BA756158EA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4" name="Google Shape;2276;p75">
                    <a:extLst>
                      <a:ext uri="{FF2B5EF4-FFF2-40B4-BE49-F238E27FC236}">
                        <a16:creationId xmlns:a16="http://schemas.microsoft.com/office/drawing/2014/main" id="{40DD51F5-6D59-D020-3A4E-88AF65828E19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5" name="Google Shape;2277;p75">
                    <a:extLst>
                      <a:ext uri="{FF2B5EF4-FFF2-40B4-BE49-F238E27FC236}">
                        <a16:creationId xmlns:a16="http://schemas.microsoft.com/office/drawing/2014/main" id="{FC5C24A7-2114-C946-DBA4-5ACF2F012367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83" name="Google Shape;2278;p75">
                  <a:extLst>
                    <a:ext uri="{FF2B5EF4-FFF2-40B4-BE49-F238E27FC236}">
                      <a16:creationId xmlns:a16="http://schemas.microsoft.com/office/drawing/2014/main" id="{18364EFA-201B-FB68-AFA9-8C4853EACB0D}"/>
                    </a:ext>
                  </a:extLst>
                </p:cNvPr>
                <p:cNvGrpSpPr/>
                <p:nvPr/>
              </p:nvGrpSpPr>
              <p:grpSpPr>
                <a:xfrm>
                  <a:off x="9172454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96" name="Google Shape;2279;p75">
                    <a:extLst>
                      <a:ext uri="{FF2B5EF4-FFF2-40B4-BE49-F238E27FC236}">
                        <a16:creationId xmlns:a16="http://schemas.microsoft.com/office/drawing/2014/main" id="{CB221805-3919-294A-0485-2C92B2189C86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97" name="Google Shape;2280;p75">
                    <a:extLst>
                      <a:ext uri="{FF2B5EF4-FFF2-40B4-BE49-F238E27FC236}">
                        <a16:creationId xmlns:a16="http://schemas.microsoft.com/office/drawing/2014/main" id="{6F152D9D-A319-6F19-637F-E41BFDE65300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98" name="Google Shape;2281;p75">
                    <a:extLst>
                      <a:ext uri="{FF2B5EF4-FFF2-40B4-BE49-F238E27FC236}">
                        <a16:creationId xmlns:a16="http://schemas.microsoft.com/office/drawing/2014/main" id="{C166B889-0F8F-020E-27F2-8E9B78F2C868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99" name="Google Shape;2282;p75">
                    <a:extLst>
                      <a:ext uri="{FF2B5EF4-FFF2-40B4-BE49-F238E27FC236}">
                        <a16:creationId xmlns:a16="http://schemas.microsoft.com/office/drawing/2014/main" id="{80FCF582-F86F-A4E3-F06B-F11CC09B2E00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0" name="Google Shape;2283;p75">
                    <a:extLst>
                      <a:ext uri="{FF2B5EF4-FFF2-40B4-BE49-F238E27FC236}">
                        <a16:creationId xmlns:a16="http://schemas.microsoft.com/office/drawing/2014/main" id="{56A62E7A-4BB4-BAFF-70CD-F426AE6CD8C8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84" name="Google Shape;2284;p75">
                  <a:extLst>
                    <a:ext uri="{FF2B5EF4-FFF2-40B4-BE49-F238E27FC236}">
                      <a16:creationId xmlns:a16="http://schemas.microsoft.com/office/drawing/2014/main" id="{E29BB248-1EA9-E56C-47A1-1376D15364D3}"/>
                    </a:ext>
                  </a:extLst>
                </p:cNvPr>
                <p:cNvGrpSpPr/>
                <p:nvPr/>
              </p:nvGrpSpPr>
              <p:grpSpPr>
                <a:xfrm>
                  <a:off x="9931887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91" name="Google Shape;2285;p75">
                    <a:extLst>
                      <a:ext uri="{FF2B5EF4-FFF2-40B4-BE49-F238E27FC236}">
                        <a16:creationId xmlns:a16="http://schemas.microsoft.com/office/drawing/2014/main" id="{9686915D-2716-F058-A236-C638779004A5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92" name="Google Shape;2286;p75">
                    <a:extLst>
                      <a:ext uri="{FF2B5EF4-FFF2-40B4-BE49-F238E27FC236}">
                        <a16:creationId xmlns:a16="http://schemas.microsoft.com/office/drawing/2014/main" id="{6C96404A-BC2B-679C-C708-FA15FB7E32F0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93" name="Google Shape;2287;p75">
                    <a:extLst>
                      <a:ext uri="{FF2B5EF4-FFF2-40B4-BE49-F238E27FC236}">
                        <a16:creationId xmlns:a16="http://schemas.microsoft.com/office/drawing/2014/main" id="{48155191-4B99-A6D8-45AE-8AAED7325874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94" name="Google Shape;2288;p75">
                    <a:extLst>
                      <a:ext uri="{FF2B5EF4-FFF2-40B4-BE49-F238E27FC236}">
                        <a16:creationId xmlns:a16="http://schemas.microsoft.com/office/drawing/2014/main" id="{B8B45CED-169A-5FDA-CE71-F2CA98963146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95" name="Google Shape;2289;p75">
                    <a:extLst>
                      <a:ext uri="{FF2B5EF4-FFF2-40B4-BE49-F238E27FC236}">
                        <a16:creationId xmlns:a16="http://schemas.microsoft.com/office/drawing/2014/main" id="{AA333EF0-722B-BEE0-E89E-97CA62E8BD4A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85" name="Google Shape;2290;p75">
                  <a:extLst>
                    <a:ext uri="{FF2B5EF4-FFF2-40B4-BE49-F238E27FC236}">
                      <a16:creationId xmlns:a16="http://schemas.microsoft.com/office/drawing/2014/main" id="{28051225-7BBB-EB55-8C62-99646FB7B735}"/>
                    </a:ext>
                  </a:extLst>
                </p:cNvPr>
                <p:cNvGrpSpPr/>
                <p:nvPr/>
              </p:nvGrpSpPr>
              <p:grpSpPr>
                <a:xfrm>
                  <a:off x="10691321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86" name="Google Shape;2291;p75">
                    <a:extLst>
                      <a:ext uri="{FF2B5EF4-FFF2-40B4-BE49-F238E27FC236}">
                        <a16:creationId xmlns:a16="http://schemas.microsoft.com/office/drawing/2014/main" id="{816BCEC3-ADC1-25A7-F15F-FC856B23075A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7" name="Google Shape;2292;p75">
                    <a:extLst>
                      <a:ext uri="{FF2B5EF4-FFF2-40B4-BE49-F238E27FC236}">
                        <a16:creationId xmlns:a16="http://schemas.microsoft.com/office/drawing/2014/main" id="{7C6F944A-C83D-26B0-905D-904F3FF71B4D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8" name="Google Shape;2293;p75">
                    <a:extLst>
                      <a:ext uri="{FF2B5EF4-FFF2-40B4-BE49-F238E27FC236}">
                        <a16:creationId xmlns:a16="http://schemas.microsoft.com/office/drawing/2014/main" id="{54965698-AD0E-A8B6-07F0-447364FCCDC9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9" name="Google Shape;2294;p75">
                    <a:extLst>
                      <a:ext uri="{FF2B5EF4-FFF2-40B4-BE49-F238E27FC236}">
                        <a16:creationId xmlns:a16="http://schemas.microsoft.com/office/drawing/2014/main" id="{878BC39E-7756-3EE5-7276-7BA3CDC86EBE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90" name="Google Shape;2295;p75">
                    <a:extLst>
                      <a:ext uri="{FF2B5EF4-FFF2-40B4-BE49-F238E27FC236}">
                        <a16:creationId xmlns:a16="http://schemas.microsoft.com/office/drawing/2014/main" id="{C9DB51AE-0D7E-256D-BC03-C96F0981F375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</p:grpSp>
          <p:grpSp>
            <p:nvGrpSpPr>
              <p:cNvPr id="22" name="Google Shape;2296;p75">
                <a:extLst>
                  <a:ext uri="{FF2B5EF4-FFF2-40B4-BE49-F238E27FC236}">
                    <a16:creationId xmlns:a16="http://schemas.microsoft.com/office/drawing/2014/main" id="{D0E0AFA4-82CC-B012-2E09-038262EF9FA8}"/>
                  </a:ext>
                </a:extLst>
              </p:cNvPr>
              <p:cNvGrpSpPr/>
              <p:nvPr/>
            </p:nvGrpSpPr>
            <p:grpSpPr>
              <a:xfrm>
                <a:off x="4615856" y="6628133"/>
                <a:ext cx="6677922" cy="619219"/>
                <a:chOff x="4615856" y="5853125"/>
                <a:chExt cx="6677922" cy="619219"/>
              </a:xfrm>
            </p:grpSpPr>
            <p:grpSp>
              <p:nvGrpSpPr>
                <p:cNvPr id="23" name="Google Shape;2297;p75">
                  <a:extLst>
                    <a:ext uri="{FF2B5EF4-FFF2-40B4-BE49-F238E27FC236}">
                      <a16:creationId xmlns:a16="http://schemas.microsoft.com/office/drawing/2014/main" id="{F98DC9E7-5979-FBA3-2DBB-132755494CCD}"/>
                    </a:ext>
                  </a:extLst>
                </p:cNvPr>
                <p:cNvGrpSpPr/>
                <p:nvPr/>
              </p:nvGrpSpPr>
              <p:grpSpPr>
                <a:xfrm>
                  <a:off x="4615856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72" name="Google Shape;2298;p75">
                    <a:extLst>
                      <a:ext uri="{FF2B5EF4-FFF2-40B4-BE49-F238E27FC236}">
                        <a16:creationId xmlns:a16="http://schemas.microsoft.com/office/drawing/2014/main" id="{3DA3418B-8652-A1CC-81E8-C30337B68EAC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3" name="Google Shape;2299;p75">
                    <a:extLst>
                      <a:ext uri="{FF2B5EF4-FFF2-40B4-BE49-F238E27FC236}">
                        <a16:creationId xmlns:a16="http://schemas.microsoft.com/office/drawing/2014/main" id="{EF663B9D-40C0-80C5-B073-EE4DA726D5C5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4" name="Google Shape;2300;p75">
                    <a:extLst>
                      <a:ext uri="{FF2B5EF4-FFF2-40B4-BE49-F238E27FC236}">
                        <a16:creationId xmlns:a16="http://schemas.microsoft.com/office/drawing/2014/main" id="{9EEE3C5D-160F-DD89-43BF-202645A476C6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5" name="Google Shape;2301;p75">
                    <a:extLst>
                      <a:ext uri="{FF2B5EF4-FFF2-40B4-BE49-F238E27FC236}">
                        <a16:creationId xmlns:a16="http://schemas.microsoft.com/office/drawing/2014/main" id="{831E30DE-996E-84C5-FF9E-951F74615F3F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6" name="Google Shape;2302;p75">
                    <a:extLst>
                      <a:ext uri="{FF2B5EF4-FFF2-40B4-BE49-F238E27FC236}">
                        <a16:creationId xmlns:a16="http://schemas.microsoft.com/office/drawing/2014/main" id="{F5AEC02B-D94E-1AF6-AD99-EEE2DDF96F2A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24" name="Google Shape;2303;p75">
                  <a:extLst>
                    <a:ext uri="{FF2B5EF4-FFF2-40B4-BE49-F238E27FC236}">
                      <a16:creationId xmlns:a16="http://schemas.microsoft.com/office/drawing/2014/main" id="{437DD308-907D-DC3C-841C-DBEEF0CC1A22}"/>
                    </a:ext>
                  </a:extLst>
                </p:cNvPr>
                <p:cNvGrpSpPr/>
                <p:nvPr/>
              </p:nvGrpSpPr>
              <p:grpSpPr>
                <a:xfrm>
                  <a:off x="5375289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67" name="Google Shape;2304;p75">
                    <a:extLst>
                      <a:ext uri="{FF2B5EF4-FFF2-40B4-BE49-F238E27FC236}">
                        <a16:creationId xmlns:a16="http://schemas.microsoft.com/office/drawing/2014/main" id="{2570EE74-3D1D-43FF-5787-3F4AF3C65734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68" name="Google Shape;2305;p75">
                    <a:extLst>
                      <a:ext uri="{FF2B5EF4-FFF2-40B4-BE49-F238E27FC236}">
                        <a16:creationId xmlns:a16="http://schemas.microsoft.com/office/drawing/2014/main" id="{DC4112BD-9AED-CA86-8959-7FEC8E2ED9ED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9" name="Google Shape;2306;p75">
                    <a:extLst>
                      <a:ext uri="{FF2B5EF4-FFF2-40B4-BE49-F238E27FC236}">
                        <a16:creationId xmlns:a16="http://schemas.microsoft.com/office/drawing/2014/main" id="{50577A76-3EFF-AD9F-458F-3CCB31D9AEAF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0" name="Google Shape;2307;p75">
                    <a:extLst>
                      <a:ext uri="{FF2B5EF4-FFF2-40B4-BE49-F238E27FC236}">
                        <a16:creationId xmlns:a16="http://schemas.microsoft.com/office/drawing/2014/main" id="{45CA336C-92BF-D837-7758-33C86A752011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1" name="Google Shape;2308;p75">
                    <a:extLst>
                      <a:ext uri="{FF2B5EF4-FFF2-40B4-BE49-F238E27FC236}">
                        <a16:creationId xmlns:a16="http://schemas.microsoft.com/office/drawing/2014/main" id="{C318956F-0BCD-E3DC-AE7D-30EDFF7A1932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25" name="Google Shape;2309;p75">
                  <a:extLst>
                    <a:ext uri="{FF2B5EF4-FFF2-40B4-BE49-F238E27FC236}">
                      <a16:creationId xmlns:a16="http://schemas.microsoft.com/office/drawing/2014/main" id="{D9A2E940-BF9F-E7A8-B964-F4BFAB42D793}"/>
                    </a:ext>
                  </a:extLst>
                </p:cNvPr>
                <p:cNvGrpSpPr/>
                <p:nvPr/>
              </p:nvGrpSpPr>
              <p:grpSpPr>
                <a:xfrm>
                  <a:off x="6134722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62" name="Google Shape;2310;p75">
                    <a:extLst>
                      <a:ext uri="{FF2B5EF4-FFF2-40B4-BE49-F238E27FC236}">
                        <a16:creationId xmlns:a16="http://schemas.microsoft.com/office/drawing/2014/main" id="{A8EC5B1A-77E7-9886-7C5D-7AE294EAFC66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63" name="Google Shape;2311;p75">
                    <a:extLst>
                      <a:ext uri="{FF2B5EF4-FFF2-40B4-BE49-F238E27FC236}">
                        <a16:creationId xmlns:a16="http://schemas.microsoft.com/office/drawing/2014/main" id="{770CB7BF-0DEA-CCFF-EE4A-0DC14ABBD1B6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4" name="Google Shape;2312;p75">
                    <a:extLst>
                      <a:ext uri="{FF2B5EF4-FFF2-40B4-BE49-F238E27FC236}">
                        <a16:creationId xmlns:a16="http://schemas.microsoft.com/office/drawing/2014/main" id="{328FDD61-B994-3872-CF6F-53F77DDD1B39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" name="Google Shape;2313;p75">
                    <a:extLst>
                      <a:ext uri="{FF2B5EF4-FFF2-40B4-BE49-F238E27FC236}">
                        <a16:creationId xmlns:a16="http://schemas.microsoft.com/office/drawing/2014/main" id="{62293D75-37CD-1527-6F7B-2678F509958A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6" name="Google Shape;2314;p75">
                    <a:extLst>
                      <a:ext uri="{FF2B5EF4-FFF2-40B4-BE49-F238E27FC236}">
                        <a16:creationId xmlns:a16="http://schemas.microsoft.com/office/drawing/2014/main" id="{DBF71F46-1461-1D15-B64E-B683CBA00EBD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26" name="Google Shape;2315;p75">
                  <a:extLst>
                    <a:ext uri="{FF2B5EF4-FFF2-40B4-BE49-F238E27FC236}">
                      <a16:creationId xmlns:a16="http://schemas.microsoft.com/office/drawing/2014/main" id="{8E0D2A67-D479-65BF-ED43-8B85E9139C1E}"/>
                    </a:ext>
                  </a:extLst>
                </p:cNvPr>
                <p:cNvGrpSpPr/>
                <p:nvPr/>
              </p:nvGrpSpPr>
              <p:grpSpPr>
                <a:xfrm>
                  <a:off x="6894155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57" name="Google Shape;2316;p75">
                    <a:extLst>
                      <a:ext uri="{FF2B5EF4-FFF2-40B4-BE49-F238E27FC236}">
                        <a16:creationId xmlns:a16="http://schemas.microsoft.com/office/drawing/2014/main" id="{FF3E120A-34D1-C53B-6446-6052A0F54150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8" name="Google Shape;2317;p75">
                    <a:extLst>
                      <a:ext uri="{FF2B5EF4-FFF2-40B4-BE49-F238E27FC236}">
                        <a16:creationId xmlns:a16="http://schemas.microsoft.com/office/drawing/2014/main" id="{5339B41E-AE80-C619-4942-D97A772C425B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" name="Google Shape;2318;p75">
                    <a:extLst>
                      <a:ext uri="{FF2B5EF4-FFF2-40B4-BE49-F238E27FC236}">
                        <a16:creationId xmlns:a16="http://schemas.microsoft.com/office/drawing/2014/main" id="{5E7C3002-4DF6-4F89-C2B8-13D3FF764B5D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" name="Google Shape;2319;p75">
                    <a:extLst>
                      <a:ext uri="{FF2B5EF4-FFF2-40B4-BE49-F238E27FC236}">
                        <a16:creationId xmlns:a16="http://schemas.microsoft.com/office/drawing/2014/main" id="{DAACFDDE-03B4-DB18-D742-9A7D3F74DC8E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" name="Google Shape;2320;p75">
                    <a:extLst>
                      <a:ext uri="{FF2B5EF4-FFF2-40B4-BE49-F238E27FC236}">
                        <a16:creationId xmlns:a16="http://schemas.microsoft.com/office/drawing/2014/main" id="{D33673AD-A88A-8923-1A0E-EA3398701571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27" name="Google Shape;2321;p75">
                  <a:extLst>
                    <a:ext uri="{FF2B5EF4-FFF2-40B4-BE49-F238E27FC236}">
                      <a16:creationId xmlns:a16="http://schemas.microsoft.com/office/drawing/2014/main" id="{D04A41C4-ECF1-5B8D-BC1D-7FB324B05F59}"/>
                    </a:ext>
                  </a:extLst>
                </p:cNvPr>
                <p:cNvGrpSpPr/>
                <p:nvPr/>
              </p:nvGrpSpPr>
              <p:grpSpPr>
                <a:xfrm>
                  <a:off x="7653588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52" name="Google Shape;2322;p75">
                    <a:extLst>
                      <a:ext uri="{FF2B5EF4-FFF2-40B4-BE49-F238E27FC236}">
                        <a16:creationId xmlns:a16="http://schemas.microsoft.com/office/drawing/2014/main" id="{0C519CA0-0788-29F0-4103-BF2DC0DAFE46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3" name="Google Shape;2323;p75">
                    <a:extLst>
                      <a:ext uri="{FF2B5EF4-FFF2-40B4-BE49-F238E27FC236}">
                        <a16:creationId xmlns:a16="http://schemas.microsoft.com/office/drawing/2014/main" id="{2E754769-E040-9AEC-6917-A6AC93DBE9E8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4" name="Google Shape;2324;p75">
                    <a:extLst>
                      <a:ext uri="{FF2B5EF4-FFF2-40B4-BE49-F238E27FC236}">
                        <a16:creationId xmlns:a16="http://schemas.microsoft.com/office/drawing/2014/main" id="{523FBEFB-B2DB-6C74-955A-9A50FDF7BF96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5" name="Google Shape;2325;p75">
                    <a:extLst>
                      <a:ext uri="{FF2B5EF4-FFF2-40B4-BE49-F238E27FC236}">
                        <a16:creationId xmlns:a16="http://schemas.microsoft.com/office/drawing/2014/main" id="{88DFFC63-9AAD-1775-E4F7-4666AFCF0440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6" name="Google Shape;2326;p75">
                    <a:extLst>
                      <a:ext uri="{FF2B5EF4-FFF2-40B4-BE49-F238E27FC236}">
                        <a16:creationId xmlns:a16="http://schemas.microsoft.com/office/drawing/2014/main" id="{EBAE1AA8-BA47-00A6-82E3-8272F3668532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28" name="Google Shape;2327;p75">
                  <a:extLst>
                    <a:ext uri="{FF2B5EF4-FFF2-40B4-BE49-F238E27FC236}">
                      <a16:creationId xmlns:a16="http://schemas.microsoft.com/office/drawing/2014/main" id="{4A1088BE-F053-EEF0-286C-7CAE4A77C2E1}"/>
                    </a:ext>
                  </a:extLst>
                </p:cNvPr>
                <p:cNvGrpSpPr/>
                <p:nvPr/>
              </p:nvGrpSpPr>
              <p:grpSpPr>
                <a:xfrm>
                  <a:off x="8413021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47" name="Google Shape;2328;p75">
                    <a:extLst>
                      <a:ext uri="{FF2B5EF4-FFF2-40B4-BE49-F238E27FC236}">
                        <a16:creationId xmlns:a16="http://schemas.microsoft.com/office/drawing/2014/main" id="{DE287C35-2B60-0AF3-2041-478F1FCFA623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8" name="Google Shape;2329;p75">
                    <a:extLst>
                      <a:ext uri="{FF2B5EF4-FFF2-40B4-BE49-F238E27FC236}">
                        <a16:creationId xmlns:a16="http://schemas.microsoft.com/office/drawing/2014/main" id="{2E39BEE5-8875-98A4-CA16-9AC34749F9B9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" name="Google Shape;2330;p75">
                    <a:extLst>
                      <a:ext uri="{FF2B5EF4-FFF2-40B4-BE49-F238E27FC236}">
                        <a16:creationId xmlns:a16="http://schemas.microsoft.com/office/drawing/2014/main" id="{4E973D90-26DD-770A-801F-CAC69C591956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" name="Google Shape;2331;p75">
                    <a:extLst>
                      <a:ext uri="{FF2B5EF4-FFF2-40B4-BE49-F238E27FC236}">
                        <a16:creationId xmlns:a16="http://schemas.microsoft.com/office/drawing/2014/main" id="{33D4E4C9-69AF-4792-DC34-C27A8AB342EE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1" name="Google Shape;2332;p75">
                    <a:extLst>
                      <a:ext uri="{FF2B5EF4-FFF2-40B4-BE49-F238E27FC236}">
                        <a16:creationId xmlns:a16="http://schemas.microsoft.com/office/drawing/2014/main" id="{31D5800A-A682-A2A1-2CCD-2A2BF32995A5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29" name="Google Shape;2333;p75">
                  <a:extLst>
                    <a:ext uri="{FF2B5EF4-FFF2-40B4-BE49-F238E27FC236}">
                      <a16:creationId xmlns:a16="http://schemas.microsoft.com/office/drawing/2014/main" id="{2342194C-2B37-0A01-910E-67D299AE5C1F}"/>
                    </a:ext>
                  </a:extLst>
                </p:cNvPr>
                <p:cNvGrpSpPr/>
                <p:nvPr/>
              </p:nvGrpSpPr>
              <p:grpSpPr>
                <a:xfrm>
                  <a:off x="9172454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42" name="Google Shape;2334;p75">
                    <a:extLst>
                      <a:ext uri="{FF2B5EF4-FFF2-40B4-BE49-F238E27FC236}">
                        <a16:creationId xmlns:a16="http://schemas.microsoft.com/office/drawing/2014/main" id="{1B887BDC-3EA0-CE0D-5C6D-916DBF4001C6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" name="Google Shape;2335;p75">
                    <a:extLst>
                      <a:ext uri="{FF2B5EF4-FFF2-40B4-BE49-F238E27FC236}">
                        <a16:creationId xmlns:a16="http://schemas.microsoft.com/office/drawing/2014/main" id="{9589AD42-B756-BEDC-B94D-F62F1262DD26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" name="Google Shape;2336;p75">
                    <a:extLst>
                      <a:ext uri="{FF2B5EF4-FFF2-40B4-BE49-F238E27FC236}">
                        <a16:creationId xmlns:a16="http://schemas.microsoft.com/office/drawing/2014/main" id="{A22D0A1F-D57D-E7FF-D994-4410BA9876CB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" name="Google Shape;2337;p75">
                    <a:extLst>
                      <a:ext uri="{FF2B5EF4-FFF2-40B4-BE49-F238E27FC236}">
                        <a16:creationId xmlns:a16="http://schemas.microsoft.com/office/drawing/2014/main" id="{982CE9A4-3F87-3907-07D1-385E3ADF766B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" name="Google Shape;2338;p75">
                    <a:extLst>
                      <a:ext uri="{FF2B5EF4-FFF2-40B4-BE49-F238E27FC236}">
                        <a16:creationId xmlns:a16="http://schemas.microsoft.com/office/drawing/2014/main" id="{5C97490F-77AD-4BC8-FC6C-66A6301E7083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30" name="Google Shape;2339;p75">
                  <a:extLst>
                    <a:ext uri="{FF2B5EF4-FFF2-40B4-BE49-F238E27FC236}">
                      <a16:creationId xmlns:a16="http://schemas.microsoft.com/office/drawing/2014/main" id="{E297AA36-87C2-6A20-B283-D542067A74B9}"/>
                    </a:ext>
                  </a:extLst>
                </p:cNvPr>
                <p:cNvGrpSpPr/>
                <p:nvPr/>
              </p:nvGrpSpPr>
              <p:grpSpPr>
                <a:xfrm>
                  <a:off x="9931887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37" name="Google Shape;2340;p75">
                    <a:extLst>
                      <a:ext uri="{FF2B5EF4-FFF2-40B4-BE49-F238E27FC236}">
                        <a16:creationId xmlns:a16="http://schemas.microsoft.com/office/drawing/2014/main" id="{9EC212C5-5FA2-F41C-DD38-B1B5A6BF8B92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8" name="Google Shape;2341;p75">
                    <a:extLst>
                      <a:ext uri="{FF2B5EF4-FFF2-40B4-BE49-F238E27FC236}">
                        <a16:creationId xmlns:a16="http://schemas.microsoft.com/office/drawing/2014/main" id="{ECF6AC12-F0F2-155A-A751-DD4DFDD18995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9" name="Google Shape;2342;p75">
                    <a:extLst>
                      <a:ext uri="{FF2B5EF4-FFF2-40B4-BE49-F238E27FC236}">
                        <a16:creationId xmlns:a16="http://schemas.microsoft.com/office/drawing/2014/main" id="{0A396B83-B31C-BB1C-10EF-49BE8FDA3006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0" name="Google Shape;2343;p75">
                    <a:extLst>
                      <a:ext uri="{FF2B5EF4-FFF2-40B4-BE49-F238E27FC236}">
                        <a16:creationId xmlns:a16="http://schemas.microsoft.com/office/drawing/2014/main" id="{DB56E9A0-DC69-5C88-D7F2-858B3D0ADDF4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" name="Google Shape;2344;p75">
                    <a:extLst>
                      <a:ext uri="{FF2B5EF4-FFF2-40B4-BE49-F238E27FC236}">
                        <a16:creationId xmlns:a16="http://schemas.microsoft.com/office/drawing/2014/main" id="{7F00A34E-7D45-8B8C-0CFF-41850AFABBB5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31" name="Google Shape;2345;p75">
                  <a:extLst>
                    <a:ext uri="{FF2B5EF4-FFF2-40B4-BE49-F238E27FC236}">
                      <a16:creationId xmlns:a16="http://schemas.microsoft.com/office/drawing/2014/main" id="{A4EB731E-2CC4-A786-CB30-090B5F1B75FC}"/>
                    </a:ext>
                  </a:extLst>
                </p:cNvPr>
                <p:cNvGrpSpPr/>
                <p:nvPr/>
              </p:nvGrpSpPr>
              <p:grpSpPr>
                <a:xfrm>
                  <a:off x="10691321" y="5853125"/>
                  <a:ext cx="602457" cy="619219"/>
                  <a:chOff x="1538782" y="3612970"/>
                  <a:chExt cx="602457" cy="619219"/>
                </a:xfrm>
              </p:grpSpPr>
              <p:sp>
                <p:nvSpPr>
                  <p:cNvPr id="32" name="Google Shape;2346;p75">
                    <a:extLst>
                      <a:ext uri="{FF2B5EF4-FFF2-40B4-BE49-F238E27FC236}">
                        <a16:creationId xmlns:a16="http://schemas.microsoft.com/office/drawing/2014/main" id="{21E37ACD-01BC-5C6E-74B0-35790E95D742}"/>
                      </a:ext>
                    </a:extLst>
                  </p:cNvPr>
                  <p:cNvSpPr/>
                  <p:nvPr/>
                </p:nvSpPr>
                <p:spPr>
                  <a:xfrm>
                    <a:off x="1538782" y="3612970"/>
                    <a:ext cx="602457" cy="619219"/>
                  </a:xfrm>
                  <a:prstGeom prst="roundRect">
                    <a:avLst>
                      <a:gd name="adj" fmla="val 7181"/>
                    </a:avLst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3" name="Google Shape;2347;p75">
                    <a:extLst>
                      <a:ext uri="{FF2B5EF4-FFF2-40B4-BE49-F238E27FC236}">
                        <a16:creationId xmlns:a16="http://schemas.microsoft.com/office/drawing/2014/main" id="{C3CD9CE5-CE9F-1DEA-F51E-FF6D466B36A7}"/>
                      </a:ext>
                    </a:extLst>
                  </p:cNvPr>
                  <p:cNvCxnSpPr/>
                  <p:nvPr/>
                </p:nvCxnSpPr>
                <p:spPr>
                  <a:xfrm>
                    <a:off x="1703089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4" name="Google Shape;2348;p75">
                    <a:extLst>
                      <a:ext uri="{FF2B5EF4-FFF2-40B4-BE49-F238E27FC236}">
                        <a16:creationId xmlns:a16="http://schemas.microsoft.com/office/drawing/2014/main" id="{AC97F1F8-5560-8373-AC2B-090A2D92F9AB}"/>
                      </a:ext>
                    </a:extLst>
                  </p:cNvPr>
                  <p:cNvCxnSpPr/>
                  <p:nvPr/>
                </p:nvCxnSpPr>
                <p:spPr>
                  <a:xfrm>
                    <a:off x="1792783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5" name="Google Shape;2349;p75">
                    <a:extLst>
                      <a:ext uri="{FF2B5EF4-FFF2-40B4-BE49-F238E27FC236}">
                        <a16:creationId xmlns:a16="http://schemas.microsoft.com/office/drawing/2014/main" id="{DE49EB53-2954-31C5-5A05-7DA54AD9A39A}"/>
                      </a:ext>
                    </a:extLst>
                  </p:cNvPr>
                  <p:cNvCxnSpPr/>
                  <p:nvPr/>
                </p:nvCxnSpPr>
                <p:spPr>
                  <a:xfrm>
                    <a:off x="1882477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6" name="Google Shape;2350;p75">
                    <a:extLst>
                      <a:ext uri="{FF2B5EF4-FFF2-40B4-BE49-F238E27FC236}">
                        <a16:creationId xmlns:a16="http://schemas.microsoft.com/office/drawing/2014/main" id="{1E24FA28-0482-79FD-6FD7-EFF02B240ECC}"/>
                      </a:ext>
                    </a:extLst>
                  </p:cNvPr>
                  <p:cNvCxnSpPr/>
                  <p:nvPr/>
                </p:nvCxnSpPr>
                <p:spPr>
                  <a:xfrm>
                    <a:off x="1972172" y="3748701"/>
                    <a:ext cx="0" cy="307182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</p:grpSp>
        </p:grpSp>
      </p:grpSp>
    </p:spTree>
    <p:extLst>
      <p:ext uri="{BB962C8B-B14F-4D97-AF65-F5344CB8AC3E}">
        <p14:creationId xmlns:p14="http://schemas.microsoft.com/office/powerpoint/2010/main" val="356830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355;p78">
            <a:extLst>
              <a:ext uri="{FF2B5EF4-FFF2-40B4-BE49-F238E27FC236}">
                <a16:creationId xmlns:a16="http://schemas.microsoft.com/office/drawing/2014/main" id="{D89A2916-46EC-8BB1-DFC5-5CF2C1929C52}"/>
              </a:ext>
            </a:extLst>
          </p:cNvPr>
          <p:cNvSpPr/>
          <p:nvPr/>
        </p:nvSpPr>
        <p:spPr>
          <a:xfrm>
            <a:off x="594313" y="2645150"/>
            <a:ext cx="7026147" cy="3457841"/>
          </a:xfrm>
          <a:prstGeom prst="roundRect">
            <a:avLst>
              <a:gd name="adj" fmla="val 545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4"/>
                  </a:ext>
                </a:extLst>
              </a:rPr>
              <a:t>Centrali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5"/>
                  </a:ext>
                </a:extLst>
              </a:rPr>
              <a:t>z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ed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configuration file management and deployment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Rolling back to the previous version as the system state is recorded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hef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Puppet use the pull configuration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Ansible is a push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based tool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 i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 is agentless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SaltStack is also a push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based tool but requires an agent to be installed on the nodes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600"/>
              </a:spcBef>
              <a:spcAft>
                <a:spcPts val="80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Pull is where slaves pull code from the master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Push is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opposite of this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356;p78">
            <a:extLst>
              <a:ext uri="{FF2B5EF4-FFF2-40B4-BE49-F238E27FC236}">
                <a16:creationId xmlns:a16="http://schemas.microsoft.com/office/drawing/2014/main" id="{26C0C0BE-A2EC-3E2A-DA93-C0FEDF105648}"/>
              </a:ext>
            </a:extLst>
          </p:cNvPr>
          <p:cNvSpPr txBox="1"/>
          <p:nvPr/>
        </p:nvSpPr>
        <p:spPr>
          <a:xfrm>
            <a:off x="685800" y="1277441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CONFIGURATION MANAGEMENT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2357;p78">
            <a:extLst>
              <a:ext uri="{FF2B5EF4-FFF2-40B4-BE49-F238E27FC236}">
                <a16:creationId xmlns:a16="http://schemas.microsoft.com/office/drawing/2014/main" id="{1F868ABD-CBCD-06C7-62F0-704399BA2F2D}"/>
              </a:ext>
            </a:extLst>
          </p:cNvPr>
          <p:cNvGrpSpPr/>
          <p:nvPr/>
        </p:nvGrpSpPr>
        <p:grpSpPr>
          <a:xfrm>
            <a:off x="7724933" y="1868424"/>
            <a:ext cx="3524250" cy="4419600"/>
            <a:chOff x="7848600" y="1447800"/>
            <a:chExt cx="3524250" cy="4419600"/>
          </a:xfrm>
        </p:grpSpPr>
        <p:grpSp>
          <p:nvGrpSpPr>
            <p:cNvPr id="12" name="Google Shape;2358;p78">
              <a:extLst>
                <a:ext uri="{FF2B5EF4-FFF2-40B4-BE49-F238E27FC236}">
                  <a16:creationId xmlns:a16="http://schemas.microsoft.com/office/drawing/2014/main" id="{3B5B5E12-34BD-286E-ADFC-D12D82F4122A}"/>
                </a:ext>
              </a:extLst>
            </p:cNvPr>
            <p:cNvGrpSpPr/>
            <p:nvPr/>
          </p:nvGrpSpPr>
          <p:grpSpPr>
            <a:xfrm>
              <a:off x="8328195" y="1632834"/>
              <a:ext cx="2565060" cy="4049533"/>
              <a:chOff x="8990271" y="1625656"/>
              <a:chExt cx="2565060" cy="4049533"/>
            </a:xfrm>
          </p:grpSpPr>
          <p:pic>
            <p:nvPicPr>
              <p:cNvPr id="14" name="Google Shape;2359;p78" descr="How to Install and Configure Ansible on CentOS 7 | Liquid Web">
                <a:extLst>
                  <a:ext uri="{FF2B5EF4-FFF2-40B4-BE49-F238E27FC236}">
                    <a16:creationId xmlns:a16="http://schemas.microsoft.com/office/drawing/2014/main" id="{A9005D68-3FCF-E0AB-F456-B4C36A2FFAB8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791751" y="1625656"/>
                <a:ext cx="962101" cy="11833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2360;p78">
                <a:extLst>
                  <a:ext uri="{FF2B5EF4-FFF2-40B4-BE49-F238E27FC236}">
                    <a16:creationId xmlns:a16="http://schemas.microsoft.com/office/drawing/2014/main" id="{DEA21BE0-4EEA-41F3-F275-141F04578649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8990271" y="2809040"/>
                <a:ext cx="2565060" cy="170693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Google Shape;2361;p78">
                <a:extLst>
                  <a:ext uri="{FF2B5EF4-FFF2-40B4-BE49-F238E27FC236}">
                    <a16:creationId xmlns:a16="http://schemas.microsoft.com/office/drawing/2014/main" id="{727D9B9D-7814-9864-48E6-8C4B212AB782}"/>
                  </a:ext>
                </a:extLst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9687278" y="4515972"/>
                <a:ext cx="1171047" cy="11592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2362;p78">
              <a:extLst>
                <a:ext uri="{FF2B5EF4-FFF2-40B4-BE49-F238E27FC236}">
                  <a16:creationId xmlns:a16="http://schemas.microsoft.com/office/drawing/2014/main" id="{972DDBF4-D294-3D3F-F41C-5EDD0D22EE54}"/>
                </a:ext>
              </a:extLst>
            </p:cNvPr>
            <p:cNvSpPr/>
            <p:nvPr/>
          </p:nvSpPr>
          <p:spPr>
            <a:xfrm>
              <a:off x="7848600" y="1447800"/>
              <a:ext cx="3524250" cy="4419600"/>
            </a:xfrm>
            <a:prstGeom prst="roundRect">
              <a:avLst>
                <a:gd name="adj" fmla="val 7478"/>
              </a:avLst>
            </a:prstGeom>
            <a:noFill/>
            <a:ln w="9525" cap="flat" cmpd="sng">
              <a:solidFill>
                <a:srgbClr val="9C9C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652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367;p79">
            <a:extLst>
              <a:ext uri="{FF2B5EF4-FFF2-40B4-BE49-F238E27FC236}">
                <a16:creationId xmlns:a16="http://schemas.microsoft.com/office/drawing/2014/main" id="{90702E03-D571-3D8F-497A-ACBA96C0AF25}"/>
              </a:ext>
            </a:extLst>
          </p:cNvPr>
          <p:cNvSpPr txBox="1"/>
          <p:nvPr/>
        </p:nvSpPr>
        <p:spPr>
          <a:xfrm>
            <a:off x="685800" y="1244913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CONFIGURATION MANAGEMENT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368;p79">
            <a:extLst>
              <a:ext uri="{FF2B5EF4-FFF2-40B4-BE49-F238E27FC236}">
                <a16:creationId xmlns:a16="http://schemas.microsoft.com/office/drawing/2014/main" id="{48DE921F-172F-834F-A607-76B4945239A6}"/>
              </a:ext>
            </a:extLst>
          </p:cNvPr>
          <p:cNvSpPr/>
          <p:nvPr/>
        </p:nvSpPr>
        <p:spPr>
          <a:xfrm>
            <a:off x="847725" y="3209944"/>
            <a:ext cx="4817079" cy="2036408"/>
          </a:xfrm>
          <a:prstGeom prst="roundRect">
            <a:avLst>
              <a:gd name="adj" fmla="val 545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Configuration planning and management 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Configuration identification </a:t>
            </a:r>
            <a:endParaRPr sz="1800" b="0" i="0" u="none" strike="noStrike" cap="non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Configuration change management </a:t>
            </a:r>
            <a:endParaRPr sz="1800" b="0" i="0" u="none" strike="noStrike" cap="non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Configuration status accounting</a:t>
            </a:r>
            <a:endParaRPr sz="1800" b="0" i="0" u="none" strike="noStrike" cap="non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Configuration verification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" name="Google Shape;2369;p79">
            <a:extLst>
              <a:ext uri="{FF2B5EF4-FFF2-40B4-BE49-F238E27FC236}">
                <a16:creationId xmlns:a16="http://schemas.microsoft.com/office/drawing/2014/main" id="{E77EFEFD-E4B0-8468-6357-9232C9813881}"/>
              </a:ext>
            </a:extLst>
          </p:cNvPr>
          <p:cNvGrpSpPr/>
          <p:nvPr/>
        </p:nvGrpSpPr>
        <p:grpSpPr>
          <a:xfrm>
            <a:off x="5819775" y="3209944"/>
            <a:ext cx="5524500" cy="2140420"/>
            <a:chOff x="5657850" y="2209800"/>
            <a:chExt cx="5524500" cy="2140420"/>
          </a:xfrm>
        </p:grpSpPr>
        <p:grpSp>
          <p:nvGrpSpPr>
            <p:cNvPr id="12" name="Google Shape;2370;p79">
              <a:extLst>
                <a:ext uri="{FF2B5EF4-FFF2-40B4-BE49-F238E27FC236}">
                  <a16:creationId xmlns:a16="http://schemas.microsoft.com/office/drawing/2014/main" id="{BF3E35F8-5E4E-B969-0AA0-C93B67701C5A}"/>
                </a:ext>
              </a:extLst>
            </p:cNvPr>
            <p:cNvGrpSpPr/>
            <p:nvPr/>
          </p:nvGrpSpPr>
          <p:grpSpPr>
            <a:xfrm>
              <a:off x="5952511" y="2426545"/>
              <a:ext cx="4935179" cy="1706931"/>
              <a:chOff x="6484999" y="4629320"/>
              <a:chExt cx="4935179" cy="1706931"/>
            </a:xfrm>
          </p:grpSpPr>
          <p:pic>
            <p:nvPicPr>
              <p:cNvPr id="14" name="Google Shape;2371;p79" descr="How to Install and Configure Ansible on CentOS 7 | Liquid Web">
                <a:extLst>
                  <a:ext uri="{FF2B5EF4-FFF2-40B4-BE49-F238E27FC236}">
                    <a16:creationId xmlns:a16="http://schemas.microsoft.com/office/drawing/2014/main" id="{EA8BD9F7-E680-9862-65DF-D0702160D693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484999" y="4945159"/>
                <a:ext cx="962101" cy="11833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2372;p79">
                <a:extLst>
                  <a:ext uri="{FF2B5EF4-FFF2-40B4-BE49-F238E27FC236}">
                    <a16:creationId xmlns:a16="http://schemas.microsoft.com/office/drawing/2014/main" id="{2938953E-0861-4600-5DCB-12A3AEF46B8C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602071" y="4629320"/>
                <a:ext cx="2565060" cy="170693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Google Shape;2373;p79">
                <a:extLst>
                  <a:ext uri="{FF2B5EF4-FFF2-40B4-BE49-F238E27FC236}">
                    <a16:creationId xmlns:a16="http://schemas.microsoft.com/office/drawing/2014/main" id="{2CB6AFFE-F8A9-E723-380B-261153CA2209}"/>
                  </a:ext>
                </a:extLst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0249131" y="4970506"/>
                <a:ext cx="1171047" cy="11592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2374;p79">
              <a:extLst>
                <a:ext uri="{FF2B5EF4-FFF2-40B4-BE49-F238E27FC236}">
                  <a16:creationId xmlns:a16="http://schemas.microsoft.com/office/drawing/2014/main" id="{5F469B64-2898-A0C6-B180-48A48A64261B}"/>
                </a:ext>
              </a:extLst>
            </p:cNvPr>
            <p:cNvSpPr/>
            <p:nvPr/>
          </p:nvSpPr>
          <p:spPr>
            <a:xfrm>
              <a:off x="5657850" y="2209800"/>
              <a:ext cx="5524500" cy="2140420"/>
            </a:xfrm>
            <a:prstGeom prst="roundRect">
              <a:avLst>
                <a:gd name="adj" fmla="val 11327"/>
              </a:avLst>
            </a:prstGeom>
            <a:noFill/>
            <a:ln w="9525" cap="flat" cmpd="sng">
              <a:solidFill>
                <a:srgbClr val="9C9C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918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379;p80">
            <a:extLst>
              <a:ext uri="{FF2B5EF4-FFF2-40B4-BE49-F238E27FC236}">
                <a16:creationId xmlns:a16="http://schemas.microsoft.com/office/drawing/2014/main" id="{1F5E1F7D-FC01-5EAF-DE64-22FCFBBBC06C}"/>
              </a:ext>
            </a:extLst>
          </p:cNvPr>
          <p:cNvSpPr txBox="1"/>
          <p:nvPr/>
        </p:nvSpPr>
        <p:spPr>
          <a:xfrm>
            <a:off x="718246" y="1198804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INFRASTRUCTURE AS A CODE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380;p80">
            <a:extLst>
              <a:ext uri="{FF2B5EF4-FFF2-40B4-BE49-F238E27FC236}">
                <a16:creationId xmlns:a16="http://schemas.microsoft.com/office/drawing/2014/main" id="{15F273CE-FBD8-283C-F744-A3B565482CEC}"/>
              </a:ext>
            </a:extLst>
          </p:cNvPr>
          <p:cNvSpPr txBox="1"/>
          <p:nvPr/>
        </p:nvSpPr>
        <p:spPr>
          <a:xfrm>
            <a:off x="748364" y="1643976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Cloud Hosting</a:t>
            </a:r>
            <a:endParaRPr sz="2000" b="0" i="0" u="none" strike="noStrike" cap="none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" name="Google Shape;2381;p80">
            <a:extLst>
              <a:ext uri="{FF2B5EF4-FFF2-40B4-BE49-F238E27FC236}">
                <a16:creationId xmlns:a16="http://schemas.microsoft.com/office/drawing/2014/main" id="{D9479339-F458-79F7-4D43-90F936C40283}"/>
              </a:ext>
            </a:extLst>
          </p:cNvPr>
          <p:cNvGrpSpPr/>
          <p:nvPr/>
        </p:nvGrpSpPr>
        <p:grpSpPr>
          <a:xfrm>
            <a:off x="1835050" y="5388211"/>
            <a:ext cx="8521900" cy="1733944"/>
            <a:chOff x="1532747" y="4848715"/>
            <a:chExt cx="8969793" cy="1825076"/>
          </a:xfrm>
        </p:grpSpPr>
        <p:pic>
          <p:nvPicPr>
            <p:cNvPr id="12" name="Google Shape;2382;p80">
              <a:extLst>
                <a:ext uri="{FF2B5EF4-FFF2-40B4-BE49-F238E27FC236}">
                  <a16:creationId xmlns:a16="http://schemas.microsoft.com/office/drawing/2014/main" id="{F9B5DE38-D287-A4E1-24FE-DA911961EA1E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532747" y="5284733"/>
              <a:ext cx="1588402" cy="953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2383;p80">
              <a:extLst>
                <a:ext uri="{FF2B5EF4-FFF2-40B4-BE49-F238E27FC236}">
                  <a16:creationId xmlns:a16="http://schemas.microsoft.com/office/drawing/2014/main" id="{6BDF6EC4-3AA0-E623-9F0E-385F4BAB5D39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20445" y="5220423"/>
              <a:ext cx="1845188" cy="1081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2384;p80" descr="Download Microsoft Azure (Windows Azure) Logo in SVG Vector or PNG File  Format - Logo.wine">
              <a:extLst>
                <a:ext uri="{FF2B5EF4-FFF2-40B4-BE49-F238E27FC236}">
                  <a16:creationId xmlns:a16="http://schemas.microsoft.com/office/drawing/2014/main" id="{8D7F3F9B-DA89-2225-0CA9-DB7B986950A5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764927" y="4848715"/>
              <a:ext cx="2737613" cy="18250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2385;p80">
            <a:extLst>
              <a:ext uri="{FF2B5EF4-FFF2-40B4-BE49-F238E27FC236}">
                <a16:creationId xmlns:a16="http://schemas.microsoft.com/office/drawing/2014/main" id="{1C607F3E-15CA-4FD6-DF4B-F312662590ED}"/>
              </a:ext>
            </a:extLst>
          </p:cNvPr>
          <p:cNvSpPr/>
          <p:nvPr/>
        </p:nvSpPr>
        <p:spPr>
          <a:xfrm>
            <a:off x="879422" y="4220980"/>
            <a:ext cx="1588402" cy="1004811"/>
          </a:xfrm>
          <a:prstGeom prst="roundRect">
            <a:avLst>
              <a:gd name="adj" fmla="val 14444"/>
            </a:avLst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Scalability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386;p80">
            <a:extLst>
              <a:ext uri="{FF2B5EF4-FFF2-40B4-BE49-F238E27FC236}">
                <a16:creationId xmlns:a16="http://schemas.microsoft.com/office/drawing/2014/main" id="{D5194E3F-1757-182A-6678-F16E74BC10FA}"/>
              </a:ext>
            </a:extLst>
          </p:cNvPr>
          <p:cNvSpPr/>
          <p:nvPr/>
        </p:nvSpPr>
        <p:spPr>
          <a:xfrm>
            <a:off x="2938316" y="4220980"/>
            <a:ext cx="1845187" cy="1004811"/>
          </a:xfrm>
          <a:prstGeom prst="roundRect">
            <a:avLst>
              <a:gd name="adj" fmla="val 14444"/>
            </a:avLst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Best Performance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87;p80">
            <a:extLst>
              <a:ext uri="{FF2B5EF4-FFF2-40B4-BE49-F238E27FC236}">
                <a16:creationId xmlns:a16="http://schemas.microsoft.com/office/drawing/2014/main" id="{18A87930-B891-9747-FBCB-A7E5DF9E27A3}"/>
              </a:ext>
            </a:extLst>
          </p:cNvPr>
          <p:cNvSpPr/>
          <p:nvPr/>
        </p:nvSpPr>
        <p:spPr>
          <a:xfrm>
            <a:off x="5253996" y="4220980"/>
            <a:ext cx="1588402" cy="1004811"/>
          </a:xfrm>
          <a:prstGeom prst="roundRect">
            <a:avLst>
              <a:gd name="adj" fmla="val 14444"/>
            </a:avLst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Security and Disaster Recovery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2388;p80">
            <a:extLst>
              <a:ext uri="{FF2B5EF4-FFF2-40B4-BE49-F238E27FC236}">
                <a16:creationId xmlns:a16="http://schemas.microsoft.com/office/drawing/2014/main" id="{FC4BDEF9-17CE-C973-B806-DED24E040850}"/>
              </a:ext>
            </a:extLst>
          </p:cNvPr>
          <p:cNvSpPr/>
          <p:nvPr/>
        </p:nvSpPr>
        <p:spPr>
          <a:xfrm>
            <a:off x="7312891" y="4220980"/>
            <a:ext cx="1845187" cy="1004811"/>
          </a:xfrm>
          <a:prstGeom prst="roundRect">
            <a:avLst>
              <a:gd name="adj" fmla="val 14444"/>
            </a:avLst>
          </a:prstGeom>
          <a:noFill/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Latest Technology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2389;p80">
            <a:extLst>
              <a:ext uri="{FF2B5EF4-FFF2-40B4-BE49-F238E27FC236}">
                <a16:creationId xmlns:a16="http://schemas.microsoft.com/office/drawing/2014/main" id="{3F83CF83-011B-1CFD-B7B2-5B17F10856D1}"/>
              </a:ext>
            </a:extLst>
          </p:cNvPr>
          <p:cNvSpPr/>
          <p:nvPr/>
        </p:nvSpPr>
        <p:spPr>
          <a:xfrm>
            <a:off x="9628570" y="4220980"/>
            <a:ext cx="1845187" cy="1004811"/>
          </a:xfrm>
          <a:prstGeom prst="roundRect">
            <a:avLst>
              <a:gd name="adj" fmla="val 14444"/>
            </a:avLst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Affordability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oogle Shape;2390;p80">
            <a:extLst>
              <a:ext uri="{FF2B5EF4-FFF2-40B4-BE49-F238E27FC236}">
                <a16:creationId xmlns:a16="http://schemas.microsoft.com/office/drawing/2014/main" id="{4D972769-EB81-D307-0DA7-ED55FFF97F08}"/>
              </a:ext>
            </a:extLst>
          </p:cNvPr>
          <p:cNvGrpSpPr/>
          <p:nvPr/>
        </p:nvGrpSpPr>
        <p:grpSpPr>
          <a:xfrm>
            <a:off x="718246" y="1629955"/>
            <a:ext cx="10755511" cy="2427963"/>
            <a:chOff x="717399" y="1798964"/>
            <a:chExt cx="10755511" cy="3266041"/>
          </a:xfrm>
        </p:grpSpPr>
        <p:sp>
          <p:nvSpPr>
            <p:cNvPr id="21" name="Google Shape;2391;p80">
              <a:extLst>
                <a:ext uri="{FF2B5EF4-FFF2-40B4-BE49-F238E27FC236}">
                  <a16:creationId xmlns:a16="http://schemas.microsoft.com/office/drawing/2014/main" id="{AA08DEFC-A546-3F15-3589-DCC2858F3B91}"/>
                </a:ext>
              </a:extLst>
            </p:cNvPr>
            <p:cNvSpPr txBox="1"/>
            <p:nvPr/>
          </p:nvSpPr>
          <p:spPr>
            <a:xfrm>
              <a:off x="1069858" y="2825539"/>
              <a:ext cx="10047900" cy="12945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just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1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6"/>
                    </a:ext>
                  </a:extLst>
                </a:rPr>
                <a:t>Cloud computing is the on-demand availability of computer system resources, especially data storage and computing power, without direct active management by the user. The term is generally used to describe data cent</a:t>
              </a:r>
              <a:r>
                <a:rPr lang="en-US" sz="1800" i="1" dirty="0"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7"/>
                    </a:ext>
                  </a:extLst>
                </a:rPr>
                <a:t>er</a:t>
              </a:r>
              <a:r>
                <a:rPr lang="en-US" sz="1800" b="0" i="1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8"/>
                    </a:ext>
                  </a:extLst>
                </a:rPr>
                <a:t>s available to many users over the internet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" name="Google Shape;2392;p80">
              <a:extLst>
                <a:ext uri="{FF2B5EF4-FFF2-40B4-BE49-F238E27FC236}">
                  <a16:creationId xmlns:a16="http://schemas.microsoft.com/office/drawing/2014/main" id="{FE5F0BEA-5741-C06C-A9C4-15182958B264}"/>
                </a:ext>
              </a:extLst>
            </p:cNvPr>
            <p:cNvGrpSpPr/>
            <p:nvPr/>
          </p:nvGrpSpPr>
          <p:grpSpPr>
            <a:xfrm>
              <a:off x="717399" y="1798964"/>
              <a:ext cx="10755511" cy="3266041"/>
              <a:chOff x="717399" y="1798964"/>
              <a:chExt cx="10755511" cy="3266041"/>
            </a:xfrm>
          </p:grpSpPr>
          <p:sp>
            <p:nvSpPr>
              <p:cNvPr id="23" name="Google Shape;2393;p80">
                <a:extLst>
                  <a:ext uri="{FF2B5EF4-FFF2-40B4-BE49-F238E27FC236}">
                    <a16:creationId xmlns:a16="http://schemas.microsoft.com/office/drawing/2014/main" id="{03540B78-03BD-D041-DAB5-BCF5EA73CF5D}"/>
                  </a:ext>
                </a:extLst>
              </p:cNvPr>
              <p:cNvSpPr txBox="1"/>
              <p:nvPr/>
            </p:nvSpPr>
            <p:spPr>
              <a:xfrm>
                <a:off x="10132157" y="4568188"/>
                <a:ext cx="1317990" cy="4968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1" i="0" u="none" strike="noStrike" cap="none">
                    <a:solidFill>
                      <a:srgbClr val="EE2C3C"/>
                    </a:solidFill>
                    <a:latin typeface="Lato"/>
                    <a:ea typeface="Lato"/>
                    <a:cs typeface="Lato"/>
                    <a:sym typeface="Lato"/>
                  </a:rPr>
                  <a:t>-Wikipedia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394;p80">
                <a:extLst>
                  <a:ext uri="{FF2B5EF4-FFF2-40B4-BE49-F238E27FC236}">
                    <a16:creationId xmlns:a16="http://schemas.microsoft.com/office/drawing/2014/main" id="{346F0314-E1A0-3BB7-30E6-F9A19E023761}"/>
                  </a:ext>
                </a:extLst>
              </p:cNvPr>
              <p:cNvSpPr txBox="1"/>
              <p:nvPr/>
            </p:nvSpPr>
            <p:spPr>
              <a:xfrm>
                <a:off x="717399" y="1798964"/>
                <a:ext cx="957313" cy="16312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0"/>
                  <a:buFont typeface="Arial"/>
                  <a:buNone/>
                </a:pPr>
                <a:r>
                  <a:rPr lang="en-US" sz="10000" b="0" i="0" u="none" strike="noStrike" cap="none">
                    <a:solidFill>
                      <a:srgbClr val="3F3F3F"/>
                    </a:solidFill>
                    <a:latin typeface="Oi"/>
                    <a:ea typeface="Oi"/>
                    <a:cs typeface="Oi"/>
                    <a:sym typeface="Oi"/>
                  </a:rPr>
                  <a:t>“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395;p80">
                <a:extLst>
                  <a:ext uri="{FF2B5EF4-FFF2-40B4-BE49-F238E27FC236}">
                    <a16:creationId xmlns:a16="http://schemas.microsoft.com/office/drawing/2014/main" id="{C22398EA-2A7D-2145-461E-7E3816D0BECC}"/>
                  </a:ext>
                </a:extLst>
              </p:cNvPr>
              <p:cNvSpPr txBox="1"/>
              <p:nvPr/>
            </p:nvSpPr>
            <p:spPr>
              <a:xfrm rot="10800000" flipH="1">
                <a:off x="10515597" y="3088328"/>
                <a:ext cx="957313" cy="16312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0"/>
                  <a:buFont typeface="Arial"/>
                  <a:buNone/>
                </a:pPr>
                <a:r>
                  <a:rPr lang="en-US" sz="10000" b="0" i="0" u="none" strike="noStrike" cap="none">
                    <a:solidFill>
                      <a:srgbClr val="3F3F3F"/>
                    </a:solidFill>
                    <a:latin typeface="Oi"/>
                    <a:ea typeface="Oi"/>
                    <a:cs typeface="Oi"/>
                    <a:sym typeface="Oi"/>
                  </a:rPr>
                  <a:t>“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02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400;p81">
            <a:extLst>
              <a:ext uri="{FF2B5EF4-FFF2-40B4-BE49-F238E27FC236}">
                <a16:creationId xmlns:a16="http://schemas.microsoft.com/office/drawing/2014/main" id="{0EC6C5F6-662A-1469-C82B-A8140CED6B44}"/>
              </a:ext>
            </a:extLst>
          </p:cNvPr>
          <p:cNvSpPr txBox="1">
            <a:spLocks/>
          </p:cNvSpPr>
          <p:nvPr/>
        </p:nvSpPr>
        <p:spPr>
          <a:xfrm>
            <a:off x="719136" y="1264439"/>
            <a:ext cx="10753725" cy="520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800"/>
              </a:spcBef>
              <a:buSzPts val="2100"/>
              <a:buFont typeface="Arial" panose="020B0604020202020204" pitchFamily="34" charset="0"/>
              <a:buNone/>
            </a:pPr>
            <a:r>
              <a:rPr lang="en-US" sz="2400" dirty="0">
                <a:latin typeface="Lato"/>
                <a:ea typeface="Lato"/>
                <a:cs typeface="Lato"/>
                <a:sym typeface="Lato"/>
              </a:rPr>
              <a:t>AWS HISTORY</a:t>
            </a:r>
            <a:endParaRPr lang="en-US" dirty="0"/>
          </a:p>
        </p:txBody>
      </p:sp>
      <p:pic>
        <p:nvPicPr>
          <p:cNvPr id="10" name="Google Shape;2401;p81">
            <a:extLst>
              <a:ext uri="{FF2B5EF4-FFF2-40B4-BE49-F238E27FC236}">
                <a16:creationId xmlns:a16="http://schemas.microsoft.com/office/drawing/2014/main" id="{6EA39654-E0F5-3F64-DCF8-841CDC7630F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55355" y="1874550"/>
            <a:ext cx="4081289" cy="117729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402;p81">
            <a:extLst>
              <a:ext uri="{FF2B5EF4-FFF2-40B4-BE49-F238E27FC236}">
                <a16:creationId xmlns:a16="http://schemas.microsoft.com/office/drawing/2014/main" id="{82CEAA48-A950-64A1-A9B9-BFB097405272}"/>
              </a:ext>
            </a:extLst>
          </p:cNvPr>
          <p:cNvSpPr/>
          <p:nvPr/>
        </p:nvSpPr>
        <p:spPr>
          <a:xfrm>
            <a:off x="827314" y="2977801"/>
            <a:ext cx="1671531" cy="1625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2002</a:t>
            </a:r>
            <a:b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AWS platform launched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2403;p81">
            <a:extLst>
              <a:ext uri="{FF2B5EF4-FFF2-40B4-BE49-F238E27FC236}">
                <a16:creationId xmlns:a16="http://schemas.microsoft.com/office/drawing/2014/main" id="{9E58ED2D-F861-C807-B6A0-EC0FCEEE82D8}"/>
              </a:ext>
            </a:extLst>
          </p:cNvPr>
          <p:cNvGrpSpPr/>
          <p:nvPr/>
        </p:nvGrpSpPr>
        <p:grpSpPr>
          <a:xfrm>
            <a:off x="2498845" y="2977801"/>
            <a:ext cx="2089369" cy="1625600"/>
            <a:chOff x="2498845" y="2264569"/>
            <a:chExt cx="2089369" cy="1625600"/>
          </a:xfrm>
        </p:grpSpPr>
        <p:sp>
          <p:nvSpPr>
            <p:cNvPr id="13" name="Google Shape;2404;p81">
              <a:extLst>
                <a:ext uri="{FF2B5EF4-FFF2-40B4-BE49-F238E27FC236}">
                  <a16:creationId xmlns:a16="http://schemas.microsoft.com/office/drawing/2014/main" id="{51F5EEAA-CCEC-FE3D-46B1-5D85BFF2569A}"/>
                </a:ext>
              </a:extLst>
            </p:cNvPr>
            <p:cNvSpPr/>
            <p:nvPr/>
          </p:nvSpPr>
          <p:spPr>
            <a:xfrm>
              <a:off x="2916683" y="2264569"/>
              <a:ext cx="1671531" cy="1625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2003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New </a:t>
              </a:r>
              <a:r>
                <a:rPr lang="en-US" sz="1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oncept and plan formulated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" name="Google Shape;2405;p81">
              <a:extLst>
                <a:ext uri="{FF2B5EF4-FFF2-40B4-BE49-F238E27FC236}">
                  <a16:creationId xmlns:a16="http://schemas.microsoft.com/office/drawing/2014/main" id="{69E10B03-EA87-3592-FC77-73A4CC90259E}"/>
                </a:ext>
              </a:extLst>
            </p:cNvPr>
            <p:cNvCxnSpPr>
              <a:stCxn id="11" idx="3"/>
              <a:endCxn id="13" idx="1"/>
            </p:cNvCxnSpPr>
            <p:nvPr/>
          </p:nvCxnSpPr>
          <p:spPr>
            <a:xfrm flipV="1">
              <a:off x="2498845" y="3077369"/>
              <a:ext cx="417838" cy="64008"/>
            </a:xfrm>
            <a:prstGeom prst="straightConnector1">
              <a:avLst/>
            </a:prstGeom>
            <a:noFill/>
            <a:ln w="28575" cap="flat" cmpd="sng">
              <a:solidFill>
                <a:srgbClr val="FFC000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2406;p81">
            <a:extLst>
              <a:ext uri="{FF2B5EF4-FFF2-40B4-BE49-F238E27FC236}">
                <a16:creationId xmlns:a16="http://schemas.microsoft.com/office/drawing/2014/main" id="{76263024-AAEA-C25D-313E-3442E67F9C17}"/>
              </a:ext>
            </a:extLst>
          </p:cNvPr>
          <p:cNvGrpSpPr/>
          <p:nvPr/>
        </p:nvGrpSpPr>
        <p:grpSpPr>
          <a:xfrm>
            <a:off x="4588214" y="2977801"/>
            <a:ext cx="2089369" cy="1625600"/>
            <a:chOff x="4588214" y="2264569"/>
            <a:chExt cx="2089369" cy="1625600"/>
          </a:xfrm>
        </p:grpSpPr>
        <p:sp>
          <p:nvSpPr>
            <p:cNvPr id="16" name="Google Shape;2407;p81">
              <a:extLst>
                <a:ext uri="{FF2B5EF4-FFF2-40B4-BE49-F238E27FC236}">
                  <a16:creationId xmlns:a16="http://schemas.microsoft.com/office/drawing/2014/main" id="{70390A77-1FB5-F3F2-F59A-5D25CCE9D640}"/>
                </a:ext>
              </a:extLst>
            </p:cNvPr>
            <p:cNvSpPr/>
            <p:nvPr/>
          </p:nvSpPr>
          <p:spPr>
            <a:xfrm>
              <a:off x="5006052" y="2264569"/>
              <a:ext cx="1671531" cy="1625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2004</a:t>
              </a:r>
              <a:b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First AWS service (SQS) launched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" name="Google Shape;2408;p81">
              <a:extLst>
                <a:ext uri="{FF2B5EF4-FFF2-40B4-BE49-F238E27FC236}">
                  <a16:creationId xmlns:a16="http://schemas.microsoft.com/office/drawing/2014/main" id="{AF27058C-A2BB-AD23-EE0E-D27CF0C4D7D4}"/>
                </a:ext>
              </a:extLst>
            </p:cNvPr>
            <p:cNvCxnSpPr>
              <a:stCxn id="13" idx="3"/>
              <a:endCxn id="16" idx="1"/>
            </p:cNvCxnSpPr>
            <p:nvPr/>
          </p:nvCxnSpPr>
          <p:spPr>
            <a:xfrm flipV="1">
              <a:off x="4588214" y="3077369"/>
              <a:ext cx="417838" cy="64008"/>
            </a:xfrm>
            <a:prstGeom prst="straightConnector1">
              <a:avLst/>
            </a:prstGeom>
            <a:noFill/>
            <a:ln w="28575" cap="flat" cmpd="sng">
              <a:solidFill>
                <a:srgbClr val="FFC000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8" name="Google Shape;2409;p81">
            <a:extLst>
              <a:ext uri="{FF2B5EF4-FFF2-40B4-BE49-F238E27FC236}">
                <a16:creationId xmlns:a16="http://schemas.microsoft.com/office/drawing/2014/main" id="{D0991982-CAD2-3FE4-FFE4-9F7C0F0DEA13}"/>
              </a:ext>
            </a:extLst>
          </p:cNvPr>
          <p:cNvGrpSpPr/>
          <p:nvPr/>
        </p:nvGrpSpPr>
        <p:grpSpPr>
          <a:xfrm>
            <a:off x="6677583" y="2977801"/>
            <a:ext cx="2089369" cy="1625600"/>
            <a:chOff x="6677583" y="2264569"/>
            <a:chExt cx="2089369" cy="1625600"/>
          </a:xfrm>
        </p:grpSpPr>
        <p:sp>
          <p:nvSpPr>
            <p:cNvPr id="19" name="Google Shape;2410;p81">
              <a:extLst>
                <a:ext uri="{FF2B5EF4-FFF2-40B4-BE49-F238E27FC236}">
                  <a16:creationId xmlns:a16="http://schemas.microsoft.com/office/drawing/2014/main" id="{288A706A-3589-B8F8-F4A3-3FB03C505AE1}"/>
                </a:ext>
              </a:extLst>
            </p:cNvPr>
            <p:cNvSpPr/>
            <p:nvPr/>
          </p:nvSpPr>
          <p:spPr>
            <a:xfrm>
              <a:off x="7095421" y="2264569"/>
              <a:ext cx="1671531" cy="1625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2006</a:t>
              </a:r>
              <a:b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9"/>
                    </a:ext>
                  </a:extLst>
                </a:rPr>
                <a:t>R-launch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with Amazon EC2 instance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" name="Google Shape;2411;p81">
              <a:extLst>
                <a:ext uri="{FF2B5EF4-FFF2-40B4-BE49-F238E27FC236}">
                  <a16:creationId xmlns:a16="http://schemas.microsoft.com/office/drawing/2014/main" id="{0CA2BBA4-55B6-1658-AE9D-044DF000F88D}"/>
                </a:ext>
              </a:extLst>
            </p:cNvPr>
            <p:cNvCxnSpPr>
              <a:stCxn id="16" idx="3"/>
              <a:endCxn id="19" idx="1"/>
            </p:cNvCxnSpPr>
            <p:nvPr/>
          </p:nvCxnSpPr>
          <p:spPr>
            <a:xfrm flipV="1">
              <a:off x="6677583" y="3077369"/>
              <a:ext cx="417838" cy="64008"/>
            </a:xfrm>
            <a:prstGeom prst="straightConnector1">
              <a:avLst/>
            </a:prstGeom>
            <a:noFill/>
            <a:ln w="28575" cap="flat" cmpd="sng">
              <a:solidFill>
                <a:srgbClr val="FFC000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21" name="Google Shape;2412;p81">
            <a:extLst>
              <a:ext uri="{FF2B5EF4-FFF2-40B4-BE49-F238E27FC236}">
                <a16:creationId xmlns:a16="http://schemas.microsoft.com/office/drawing/2014/main" id="{675E0FEA-F138-955E-5F3B-AF44F4F6942D}"/>
              </a:ext>
            </a:extLst>
          </p:cNvPr>
          <p:cNvGrpSpPr/>
          <p:nvPr/>
        </p:nvGrpSpPr>
        <p:grpSpPr>
          <a:xfrm>
            <a:off x="8766952" y="2977801"/>
            <a:ext cx="2089370" cy="1625600"/>
            <a:chOff x="8766952" y="2264569"/>
            <a:chExt cx="2089370" cy="1625600"/>
          </a:xfrm>
        </p:grpSpPr>
        <p:sp>
          <p:nvSpPr>
            <p:cNvPr id="22" name="Google Shape;2413;p81">
              <a:extLst>
                <a:ext uri="{FF2B5EF4-FFF2-40B4-BE49-F238E27FC236}">
                  <a16:creationId xmlns:a16="http://schemas.microsoft.com/office/drawing/2014/main" id="{CD23C640-7BA1-7A79-512F-2BEECBB4C4B0}"/>
                </a:ext>
              </a:extLst>
            </p:cNvPr>
            <p:cNvSpPr/>
            <p:nvPr/>
          </p:nvSpPr>
          <p:spPr>
            <a:xfrm>
              <a:off x="9184791" y="2264569"/>
              <a:ext cx="1671531" cy="1625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2009</a:t>
              </a:r>
              <a:b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Virtual private cloud rollout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" name="Google Shape;2414;p81">
              <a:extLst>
                <a:ext uri="{FF2B5EF4-FFF2-40B4-BE49-F238E27FC236}">
                  <a16:creationId xmlns:a16="http://schemas.microsoft.com/office/drawing/2014/main" id="{D6D973F7-99E9-038B-11AA-435757FB8846}"/>
                </a:ext>
              </a:extLst>
            </p:cNvPr>
            <p:cNvCxnSpPr>
              <a:stCxn id="19" idx="3"/>
              <a:endCxn id="22" idx="1"/>
            </p:cNvCxnSpPr>
            <p:nvPr/>
          </p:nvCxnSpPr>
          <p:spPr>
            <a:xfrm flipV="1">
              <a:off x="8766952" y="3077369"/>
              <a:ext cx="417839" cy="64008"/>
            </a:xfrm>
            <a:prstGeom prst="straightConnector1">
              <a:avLst/>
            </a:prstGeom>
            <a:noFill/>
            <a:ln w="28575" cap="flat" cmpd="sng">
              <a:solidFill>
                <a:srgbClr val="FFC000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24" name="Google Shape;2415;p81">
            <a:extLst>
              <a:ext uri="{FF2B5EF4-FFF2-40B4-BE49-F238E27FC236}">
                <a16:creationId xmlns:a16="http://schemas.microsoft.com/office/drawing/2014/main" id="{86030494-F95B-0814-2C38-4037E37F5E1B}"/>
              </a:ext>
            </a:extLst>
          </p:cNvPr>
          <p:cNvGrpSpPr/>
          <p:nvPr/>
        </p:nvGrpSpPr>
        <p:grpSpPr>
          <a:xfrm>
            <a:off x="9208804" y="4473768"/>
            <a:ext cx="1684231" cy="2170438"/>
            <a:chOff x="9184791" y="3789201"/>
            <a:chExt cx="1684231" cy="2170438"/>
          </a:xfrm>
        </p:grpSpPr>
        <p:sp>
          <p:nvSpPr>
            <p:cNvPr id="25" name="Google Shape;2416;p81">
              <a:extLst>
                <a:ext uri="{FF2B5EF4-FFF2-40B4-BE49-F238E27FC236}">
                  <a16:creationId xmlns:a16="http://schemas.microsoft.com/office/drawing/2014/main" id="{31A7110A-D399-8852-A580-377EC5B2CD97}"/>
                </a:ext>
              </a:extLst>
            </p:cNvPr>
            <p:cNvSpPr/>
            <p:nvPr/>
          </p:nvSpPr>
          <p:spPr>
            <a:xfrm>
              <a:off x="9184791" y="4334039"/>
              <a:ext cx="1671531" cy="1625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2012</a:t>
              </a:r>
              <a:b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First AWS customer event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" name="Google Shape;2417;p81">
              <a:extLst>
                <a:ext uri="{FF2B5EF4-FFF2-40B4-BE49-F238E27FC236}">
                  <a16:creationId xmlns:a16="http://schemas.microsoft.com/office/drawing/2014/main" id="{5B4A752F-77FE-44B5-B087-7CF13A5B56F9}"/>
                </a:ext>
              </a:extLst>
            </p:cNvPr>
            <p:cNvCxnSpPr>
              <a:stCxn id="25" idx="3"/>
              <a:endCxn id="22" idx="3"/>
            </p:cNvCxnSpPr>
            <p:nvPr/>
          </p:nvCxnSpPr>
          <p:spPr>
            <a:xfrm flipV="1">
              <a:off x="10856322" y="3789201"/>
              <a:ext cx="12700" cy="1357638"/>
            </a:xfrm>
            <a:prstGeom prst="curvedConnector3">
              <a:avLst>
                <a:gd name="adj1" fmla="val 1800000"/>
              </a:avLst>
            </a:prstGeom>
            <a:noFill/>
            <a:ln w="28575" cap="flat" cmpd="sng">
              <a:solidFill>
                <a:srgbClr val="FFC000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27" name="Google Shape;2418;p81">
            <a:extLst>
              <a:ext uri="{FF2B5EF4-FFF2-40B4-BE49-F238E27FC236}">
                <a16:creationId xmlns:a16="http://schemas.microsoft.com/office/drawing/2014/main" id="{80308C1B-CCD4-50BB-B7E7-92926226B244}"/>
              </a:ext>
            </a:extLst>
          </p:cNvPr>
          <p:cNvGrpSpPr/>
          <p:nvPr/>
        </p:nvGrpSpPr>
        <p:grpSpPr>
          <a:xfrm>
            <a:off x="827314" y="5047271"/>
            <a:ext cx="2089369" cy="1625600"/>
            <a:chOff x="827314" y="4334039"/>
            <a:chExt cx="2089369" cy="1625600"/>
          </a:xfrm>
        </p:grpSpPr>
        <p:sp>
          <p:nvSpPr>
            <p:cNvPr id="28" name="Google Shape;2419;p81">
              <a:extLst>
                <a:ext uri="{FF2B5EF4-FFF2-40B4-BE49-F238E27FC236}">
                  <a16:creationId xmlns:a16="http://schemas.microsoft.com/office/drawing/2014/main" id="{9195C609-3E15-EF14-E90A-BA00CB145826}"/>
                </a:ext>
              </a:extLst>
            </p:cNvPr>
            <p:cNvSpPr/>
            <p:nvPr/>
          </p:nvSpPr>
          <p:spPr>
            <a:xfrm>
              <a:off x="827314" y="4334039"/>
              <a:ext cx="1671531" cy="1625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2018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Contract with the Pentagon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" name="Google Shape;2420;p81">
              <a:extLst>
                <a:ext uri="{FF2B5EF4-FFF2-40B4-BE49-F238E27FC236}">
                  <a16:creationId xmlns:a16="http://schemas.microsoft.com/office/drawing/2014/main" id="{8B2F3536-EED0-955D-F454-D78A201A6842}"/>
                </a:ext>
              </a:extLst>
            </p:cNvPr>
            <p:cNvCxnSpPr/>
            <p:nvPr/>
          </p:nvCxnSpPr>
          <p:spPr>
            <a:xfrm>
              <a:off x="2498845" y="5146839"/>
              <a:ext cx="417838" cy="0"/>
            </a:xfrm>
            <a:prstGeom prst="straightConnector1">
              <a:avLst/>
            </a:prstGeom>
            <a:noFill/>
            <a:ln w="28575" cap="flat" cmpd="sng">
              <a:solidFill>
                <a:srgbClr val="FFC000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30" name="Google Shape;2421;p81">
            <a:extLst>
              <a:ext uri="{FF2B5EF4-FFF2-40B4-BE49-F238E27FC236}">
                <a16:creationId xmlns:a16="http://schemas.microsoft.com/office/drawing/2014/main" id="{66E99602-109E-A80F-B027-9B2EAF952785}"/>
              </a:ext>
            </a:extLst>
          </p:cNvPr>
          <p:cNvGrpSpPr/>
          <p:nvPr/>
        </p:nvGrpSpPr>
        <p:grpSpPr>
          <a:xfrm>
            <a:off x="2916683" y="5047271"/>
            <a:ext cx="2089369" cy="1625600"/>
            <a:chOff x="2916683" y="4334039"/>
            <a:chExt cx="2089369" cy="1625600"/>
          </a:xfrm>
        </p:grpSpPr>
        <p:sp>
          <p:nvSpPr>
            <p:cNvPr id="31" name="Google Shape;2422;p81">
              <a:extLst>
                <a:ext uri="{FF2B5EF4-FFF2-40B4-BE49-F238E27FC236}">
                  <a16:creationId xmlns:a16="http://schemas.microsoft.com/office/drawing/2014/main" id="{FF9053F9-F900-8CFD-4D91-6DA1949B6D5D}"/>
                </a:ext>
              </a:extLst>
            </p:cNvPr>
            <p:cNvSpPr/>
            <p:nvPr/>
          </p:nvSpPr>
          <p:spPr>
            <a:xfrm>
              <a:off x="2916683" y="4334039"/>
              <a:ext cx="1671531" cy="1625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2017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AWS reaches 100 services in total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" name="Google Shape;2423;p81">
              <a:extLst>
                <a:ext uri="{FF2B5EF4-FFF2-40B4-BE49-F238E27FC236}">
                  <a16:creationId xmlns:a16="http://schemas.microsoft.com/office/drawing/2014/main" id="{C30BFEBF-6B8B-A90D-6F79-BE00D8AF8FAA}"/>
                </a:ext>
              </a:extLst>
            </p:cNvPr>
            <p:cNvCxnSpPr/>
            <p:nvPr/>
          </p:nvCxnSpPr>
          <p:spPr>
            <a:xfrm>
              <a:off x="4588214" y="5146839"/>
              <a:ext cx="417838" cy="0"/>
            </a:xfrm>
            <a:prstGeom prst="straightConnector1">
              <a:avLst/>
            </a:prstGeom>
            <a:noFill/>
            <a:ln w="28575" cap="flat" cmpd="sng">
              <a:solidFill>
                <a:srgbClr val="FFC000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33" name="Google Shape;2424;p81">
            <a:extLst>
              <a:ext uri="{FF2B5EF4-FFF2-40B4-BE49-F238E27FC236}">
                <a16:creationId xmlns:a16="http://schemas.microsoft.com/office/drawing/2014/main" id="{67656666-A05F-A493-C669-60C4C1F8D4B1}"/>
              </a:ext>
            </a:extLst>
          </p:cNvPr>
          <p:cNvGrpSpPr/>
          <p:nvPr/>
        </p:nvGrpSpPr>
        <p:grpSpPr>
          <a:xfrm>
            <a:off x="5006052" y="5047271"/>
            <a:ext cx="2089369" cy="1625600"/>
            <a:chOff x="5006052" y="4334039"/>
            <a:chExt cx="2089369" cy="1625600"/>
          </a:xfrm>
        </p:grpSpPr>
        <p:sp>
          <p:nvSpPr>
            <p:cNvPr id="34" name="Google Shape;2425;p81">
              <a:extLst>
                <a:ext uri="{FF2B5EF4-FFF2-40B4-BE49-F238E27FC236}">
                  <a16:creationId xmlns:a16="http://schemas.microsoft.com/office/drawing/2014/main" id="{D2FA9E09-CFE7-AD06-487D-26DD758AFFF8}"/>
                </a:ext>
              </a:extLst>
            </p:cNvPr>
            <p:cNvSpPr/>
            <p:nvPr/>
          </p:nvSpPr>
          <p:spPr>
            <a:xfrm>
              <a:off x="5006052" y="4334039"/>
              <a:ext cx="1671531" cy="1625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2016</a:t>
              </a:r>
              <a:b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AWS hits $10 billion in revenue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2426;p81">
              <a:extLst>
                <a:ext uri="{FF2B5EF4-FFF2-40B4-BE49-F238E27FC236}">
                  <a16:creationId xmlns:a16="http://schemas.microsoft.com/office/drawing/2014/main" id="{DCB79800-C474-0EBB-7311-15E3BCC25893}"/>
                </a:ext>
              </a:extLst>
            </p:cNvPr>
            <p:cNvCxnSpPr/>
            <p:nvPr/>
          </p:nvCxnSpPr>
          <p:spPr>
            <a:xfrm>
              <a:off x="6677583" y="5146839"/>
              <a:ext cx="417838" cy="0"/>
            </a:xfrm>
            <a:prstGeom prst="straightConnector1">
              <a:avLst/>
            </a:prstGeom>
            <a:noFill/>
            <a:ln w="28575" cap="flat" cmpd="sng">
              <a:solidFill>
                <a:srgbClr val="FFC000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36" name="Google Shape;2427;p81">
            <a:extLst>
              <a:ext uri="{FF2B5EF4-FFF2-40B4-BE49-F238E27FC236}">
                <a16:creationId xmlns:a16="http://schemas.microsoft.com/office/drawing/2014/main" id="{22442CF6-EEEF-E97D-A494-2E987EA855A6}"/>
              </a:ext>
            </a:extLst>
          </p:cNvPr>
          <p:cNvGrpSpPr/>
          <p:nvPr/>
        </p:nvGrpSpPr>
        <p:grpSpPr>
          <a:xfrm>
            <a:off x="7095421" y="5047271"/>
            <a:ext cx="2089370" cy="1625600"/>
            <a:chOff x="7095421" y="4334039"/>
            <a:chExt cx="2089370" cy="1625600"/>
          </a:xfrm>
        </p:grpSpPr>
        <p:sp>
          <p:nvSpPr>
            <p:cNvPr id="37" name="Google Shape;2428;p81">
              <a:extLst>
                <a:ext uri="{FF2B5EF4-FFF2-40B4-BE49-F238E27FC236}">
                  <a16:creationId xmlns:a16="http://schemas.microsoft.com/office/drawing/2014/main" id="{B2E6D52B-B109-BA30-00C0-5036A676FEF6}"/>
                </a:ext>
              </a:extLst>
            </p:cNvPr>
            <p:cNvSpPr/>
            <p:nvPr/>
          </p:nvSpPr>
          <p:spPr>
            <a:xfrm>
              <a:off x="7095421" y="4334039"/>
              <a:ext cx="1671531" cy="1625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2013</a:t>
              </a:r>
              <a:br>
                <a:rPr lang="en-US" sz="18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8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The CIA adopts AWS as the provider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" name="Google Shape;2429;p81">
              <a:extLst>
                <a:ext uri="{FF2B5EF4-FFF2-40B4-BE49-F238E27FC236}">
                  <a16:creationId xmlns:a16="http://schemas.microsoft.com/office/drawing/2014/main" id="{67C1C9EF-BA32-D316-C3B4-7CBDA34B47B4}"/>
                </a:ext>
              </a:extLst>
            </p:cNvPr>
            <p:cNvCxnSpPr/>
            <p:nvPr/>
          </p:nvCxnSpPr>
          <p:spPr>
            <a:xfrm>
              <a:off x="8766952" y="5146839"/>
              <a:ext cx="417839" cy="0"/>
            </a:xfrm>
            <a:prstGeom prst="straightConnector1">
              <a:avLst/>
            </a:prstGeom>
            <a:noFill/>
            <a:ln w="28575" cap="flat" cmpd="sng">
              <a:solidFill>
                <a:srgbClr val="FFC000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21833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434;p82">
            <a:extLst>
              <a:ext uri="{FF2B5EF4-FFF2-40B4-BE49-F238E27FC236}">
                <a16:creationId xmlns:a16="http://schemas.microsoft.com/office/drawing/2014/main" id="{F8077ECA-4CA8-F39C-760B-ABCCE3E03965}"/>
              </a:ext>
            </a:extLst>
          </p:cNvPr>
          <p:cNvSpPr/>
          <p:nvPr/>
        </p:nvSpPr>
        <p:spPr>
          <a:xfrm>
            <a:off x="1141951" y="3520050"/>
            <a:ext cx="4817079" cy="1999281"/>
          </a:xfrm>
          <a:prstGeom prst="roundRect">
            <a:avLst>
              <a:gd name="adj" fmla="val 545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0"/>
                  </a:ext>
                </a:extLst>
              </a:rPr>
              <a:t>Provision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1"/>
                  </a:ext>
                </a:extLst>
              </a:rPr>
              <a:t>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2"/>
                  </a:ext>
                </a:extLst>
              </a:rPr>
              <a:t> servers using scripts</a:t>
            </a: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3"/>
                  </a:ext>
                </a:extLst>
              </a:rPr>
              <a:t> and is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4"/>
                  </a:ext>
                </a:extLst>
              </a:rPr>
              <a:t> easy to migrate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2000" dirty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5"/>
                  </a:ext>
                </a:extLst>
              </a:rPr>
              <a:t>The s</a:t>
            </a:r>
            <a:r>
              <a:rPr lang="en-US" sz="2000" b="0" i="0" u="none" strike="noStrike" cap="none" dirty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6"/>
                  </a:ext>
                </a:extLst>
              </a:rPr>
              <a:t>ame script provisions 100 servers, which provides sense of consistency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7"/>
                  </a:ext>
                </a:extLst>
              </a:rPr>
              <a:t>Declarative YAML files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435;p82">
            <a:extLst>
              <a:ext uri="{FF2B5EF4-FFF2-40B4-BE49-F238E27FC236}">
                <a16:creationId xmlns:a16="http://schemas.microsoft.com/office/drawing/2014/main" id="{ABDB7636-D99D-8565-219D-F82710DAC476}"/>
              </a:ext>
            </a:extLst>
          </p:cNvPr>
          <p:cNvSpPr txBox="1"/>
          <p:nvPr/>
        </p:nvSpPr>
        <p:spPr>
          <a:xfrm>
            <a:off x="685800" y="1327209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INFRASTRUCTURE AS A CODE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436;p82">
            <a:extLst>
              <a:ext uri="{FF2B5EF4-FFF2-40B4-BE49-F238E27FC236}">
                <a16:creationId xmlns:a16="http://schemas.microsoft.com/office/drawing/2014/main" id="{39BD6B8A-3BA2-EA2C-E87D-FD7318244744}"/>
              </a:ext>
            </a:extLst>
          </p:cNvPr>
          <p:cNvSpPr txBox="1"/>
          <p:nvPr/>
        </p:nvSpPr>
        <p:spPr>
          <a:xfrm>
            <a:off x="807037" y="1880071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Cloud and Infrastructure Provisioning </a:t>
            </a:r>
            <a:r>
              <a:rPr lang="en-US" sz="20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2000" b="0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ools</a:t>
            </a:r>
            <a:endParaRPr sz="2000" b="0" i="0" u="none" strike="noStrike" cap="none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" name="Google Shape;2437;p82">
            <a:extLst>
              <a:ext uri="{FF2B5EF4-FFF2-40B4-BE49-F238E27FC236}">
                <a16:creationId xmlns:a16="http://schemas.microsoft.com/office/drawing/2014/main" id="{29D3A093-E86B-EB51-707C-17075EBA5C76}"/>
              </a:ext>
            </a:extLst>
          </p:cNvPr>
          <p:cNvGrpSpPr/>
          <p:nvPr/>
        </p:nvGrpSpPr>
        <p:grpSpPr>
          <a:xfrm>
            <a:off x="7423446" y="3079335"/>
            <a:ext cx="3626604" cy="2880711"/>
            <a:chOff x="7129220" y="2043869"/>
            <a:chExt cx="3626604" cy="2880711"/>
          </a:xfrm>
        </p:grpSpPr>
        <p:grpSp>
          <p:nvGrpSpPr>
            <p:cNvPr id="13" name="Google Shape;2438;p82">
              <a:extLst>
                <a:ext uri="{FF2B5EF4-FFF2-40B4-BE49-F238E27FC236}">
                  <a16:creationId xmlns:a16="http://schemas.microsoft.com/office/drawing/2014/main" id="{A22E01DC-F6BA-A5A7-2B78-A53C0F316C3C}"/>
                </a:ext>
              </a:extLst>
            </p:cNvPr>
            <p:cNvGrpSpPr/>
            <p:nvPr/>
          </p:nvGrpSpPr>
          <p:grpSpPr>
            <a:xfrm>
              <a:off x="7400188" y="2141401"/>
              <a:ext cx="3084669" cy="2685647"/>
              <a:chOff x="7349262" y="2038596"/>
              <a:chExt cx="3084669" cy="2685647"/>
            </a:xfrm>
          </p:grpSpPr>
          <p:pic>
            <p:nvPicPr>
              <p:cNvPr id="15" name="Google Shape;2439;p82" descr="Terraform logo">
                <a:extLst>
                  <a:ext uri="{FF2B5EF4-FFF2-40B4-BE49-F238E27FC236}">
                    <a16:creationId xmlns:a16="http://schemas.microsoft.com/office/drawing/2014/main" id="{ED6D5010-0FB0-0206-6647-A245DBFCBA54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7349262" y="2038596"/>
                <a:ext cx="3084669" cy="10656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Google Shape;2440;p82" descr="https://www.thorntech.com/wp-content/uploads/2018/04/CF-logo.png">
                <a:extLst>
                  <a:ext uri="{FF2B5EF4-FFF2-40B4-BE49-F238E27FC236}">
                    <a16:creationId xmlns:a16="http://schemas.microsoft.com/office/drawing/2014/main" id="{46ED6AA5-F5F2-C08D-A4B4-84A69809D74A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8094548" y="3130144"/>
                <a:ext cx="1594097" cy="15940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4" name="Google Shape;2441;p82">
              <a:extLst>
                <a:ext uri="{FF2B5EF4-FFF2-40B4-BE49-F238E27FC236}">
                  <a16:creationId xmlns:a16="http://schemas.microsoft.com/office/drawing/2014/main" id="{3C19AE88-0F92-0E52-4DAA-71FBA86C61F7}"/>
                </a:ext>
              </a:extLst>
            </p:cNvPr>
            <p:cNvSpPr/>
            <p:nvPr/>
          </p:nvSpPr>
          <p:spPr>
            <a:xfrm>
              <a:off x="7129220" y="2043869"/>
              <a:ext cx="3626604" cy="2880711"/>
            </a:xfrm>
            <a:prstGeom prst="roundRect">
              <a:avLst>
                <a:gd name="adj" fmla="val 11327"/>
              </a:avLst>
            </a:prstGeom>
            <a:noFill/>
            <a:ln w="9525" cap="flat" cmpd="sng">
              <a:solidFill>
                <a:srgbClr val="9C9C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674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41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314955" y="6118825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446;p83">
            <a:extLst>
              <a:ext uri="{FF2B5EF4-FFF2-40B4-BE49-F238E27FC236}">
                <a16:creationId xmlns:a16="http://schemas.microsoft.com/office/drawing/2014/main" id="{3BE9A9CD-C34C-97A6-FBF4-C1952D7D1753}"/>
              </a:ext>
            </a:extLst>
          </p:cNvPr>
          <p:cNvSpPr txBox="1"/>
          <p:nvPr/>
        </p:nvSpPr>
        <p:spPr>
          <a:xfrm>
            <a:off x="1091243" y="1922210"/>
            <a:ext cx="10253700" cy="3836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Monitoring is usually an underrated but a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crucial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aspect of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8"/>
                  </a:ext>
                </a:extLst>
              </a:rPr>
              <a:t>application availability and the development process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Application Performance Monitoring</a:t>
            </a:r>
            <a:r>
              <a:rPr lang="en-US" sz="16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600" b="0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monitors the latency, request per minute, CPU usage, etc. on your application with tools such as Relic</a:t>
            </a:r>
            <a:endParaRPr sz="16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Logging</a:t>
            </a:r>
            <a:r>
              <a:rPr lang="en-US" sz="1600" b="1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of information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such as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the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9"/>
                  </a:ext>
                </a:extLst>
              </a:rPr>
              <a:t>source site </a:t>
            </a:r>
            <a:r>
              <a:rPr lang="en-US" sz="1600" dirty="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80"/>
                  </a:ext>
                </a:extLst>
              </a:rPr>
              <a:t>and the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81"/>
                  </a:ext>
                </a:extLst>
              </a:rPr>
              <a:t>IP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are logged for every request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ELK stack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Elasticsearch, Logstash, Kibana</a:t>
            </a:r>
            <a:endParaRPr sz="16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EFk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stack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Elasticsearch,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Fluentd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Kibana</a:t>
            </a:r>
            <a:endParaRPr sz="16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287859" marR="0" lvl="0" indent="-18626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Metric Monitoring</a:t>
            </a:r>
            <a:r>
              <a:rPr lang="en-US" sz="1600" b="0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endParaRPr sz="1600" b="0" i="0" u="none" strike="noStrike" cap="none" dirty="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Prometheus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 and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dirty="0" err="1"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nfluxDB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: T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ime series database</a:t>
            </a:r>
            <a:endParaRPr sz="1600" dirty="0">
              <a:latin typeface="Lato"/>
              <a:ea typeface="Lato"/>
              <a:cs typeface="Lato"/>
              <a:sym typeface="Lato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Gra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isuali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ation</a:t>
            </a:r>
            <a:endParaRPr sz="16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Splunk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and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Datadog</a:t>
            </a:r>
            <a:endParaRPr sz="16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447;p83">
            <a:extLst>
              <a:ext uri="{FF2B5EF4-FFF2-40B4-BE49-F238E27FC236}">
                <a16:creationId xmlns:a16="http://schemas.microsoft.com/office/drawing/2014/main" id="{903A87C4-B72A-5663-7759-6C8CE3E04166}"/>
              </a:ext>
            </a:extLst>
          </p:cNvPr>
          <p:cNvSpPr/>
          <p:nvPr/>
        </p:nvSpPr>
        <p:spPr>
          <a:xfrm>
            <a:off x="1014934" y="1922210"/>
            <a:ext cx="10122458" cy="4810688"/>
          </a:xfrm>
          <a:prstGeom prst="roundRect">
            <a:avLst>
              <a:gd name="adj" fmla="val 6679"/>
            </a:avLst>
          </a:prstGeom>
          <a:noFill/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448;p83">
            <a:extLst>
              <a:ext uri="{FF2B5EF4-FFF2-40B4-BE49-F238E27FC236}">
                <a16:creationId xmlns:a16="http://schemas.microsoft.com/office/drawing/2014/main" id="{AA3CAED6-8275-9043-72A0-2094185F5738}"/>
              </a:ext>
            </a:extLst>
          </p:cNvPr>
          <p:cNvSpPr txBox="1"/>
          <p:nvPr/>
        </p:nvSpPr>
        <p:spPr>
          <a:xfrm>
            <a:off x="807893" y="1244853"/>
            <a:ext cx="10820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r>
              <a:rPr lang="en-US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CONTINUOUS MONITORING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2449;p83">
            <a:extLst>
              <a:ext uri="{FF2B5EF4-FFF2-40B4-BE49-F238E27FC236}">
                <a16:creationId xmlns:a16="http://schemas.microsoft.com/office/drawing/2014/main" id="{7749B13A-96D1-EDBE-3944-8D780BCB682E}"/>
              </a:ext>
            </a:extLst>
          </p:cNvPr>
          <p:cNvGrpSpPr/>
          <p:nvPr/>
        </p:nvGrpSpPr>
        <p:grpSpPr>
          <a:xfrm>
            <a:off x="1540241" y="5736846"/>
            <a:ext cx="8145592" cy="996052"/>
            <a:chOff x="1211056" y="5100127"/>
            <a:chExt cx="9046601" cy="1020150"/>
          </a:xfrm>
        </p:grpSpPr>
        <p:pic>
          <p:nvPicPr>
            <p:cNvPr id="13" name="Google Shape;2450;p83">
              <a:extLst>
                <a:ext uri="{FF2B5EF4-FFF2-40B4-BE49-F238E27FC236}">
                  <a16:creationId xmlns:a16="http://schemas.microsoft.com/office/drawing/2014/main" id="{253C29BC-D682-6C66-7D2F-0A82066EEAB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94297" y="5337732"/>
              <a:ext cx="1812043" cy="5449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2451;p83">
              <a:extLst>
                <a:ext uri="{FF2B5EF4-FFF2-40B4-BE49-F238E27FC236}">
                  <a16:creationId xmlns:a16="http://schemas.microsoft.com/office/drawing/2014/main" id="{2A8488DD-DCE3-2F21-FAF1-778F3927165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03543" y="5160730"/>
              <a:ext cx="2016551" cy="898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452;p83">
              <a:extLst>
                <a:ext uri="{FF2B5EF4-FFF2-40B4-BE49-F238E27FC236}">
                  <a16:creationId xmlns:a16="http://schemas.microsoft.com/office/drawing/2014/main" id="{ADC1FCB6-2A88-4782-6DB3-66920658EF52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986592" y="5214113"/>
              <a:ext cx="1271065" cy="792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453;p83">
              <a:extLst>
                <a:ext uri="{FF2B5EF4-FFF2-40B4-BE49-F238E27FC236}">
                  <a16:creationId xmlns:a16="http://schemas.microsoft.com/office/drawing/2014/main" id="{0E9EB20E-736D-6260-0D27-8F5335226195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211056" y="5100127"/>
              <a:ext cx="1115049" cy="102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454;p83">
              <a:extLst>
                <a:ext uri="{FF2B5EF4-FFF2-40B4-BE49-F238E27FC236}">
                  <a16:creationId xmlns:a16="http://schemas.microsoft.com/office/drawing/2014/main" id="{ED771A46-AAB2-C1A0-6A6D-656BE26EE41D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568055" y="5124895"/>
              <a:ext cx="1432689" cy="97061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6266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cxnSp>
        <p:nvCxnSpPr>
          <p:cNvPr id="9" name="Google Shape;2459;p84">
            <a:extLst>
              <a:ext uri="{FF2B5EF4-FFF2-40B4-BE49-F238E27FC236}">
                <a16:creationId xmlns:a16="http://schemas.microsoft.com/office/drawing/2014/main" id="{C771686E-BF9B-5CF9-1B99-1261BEA41CEF}"/>
              </a:ext>
            </a:extLst>
          </p:cNvPr>
          <p:cNvCxnSpPr/>
          <p:nvPr/>
        </p:nvCxnSpPr>
        <p:spPr>
          <a:xfrm>
            <a:off x="6011716" y="2395994"/>
            <a:ext cx="0" cy="3685470"/>
          </a:xfrm>
          <a:prstGeom prst="straightConnector1">
            <a:avLst/>
          </a:prstGeom>
          <a:noFill/>
          <a:ln w="25400" cap="rnd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2460;p84">
            <a:extLst>
              <a:ext uri="{FF2B5EF4-FFF2-40B4-BE49-F238E27FC236}">
                <a16:creationId xmlns:a16="http://schemas.microsoft.com/office/drawing/2014/main" id="{F8B42C1E-4F4F-6EF2-B5D9-8F73879C2A27}"/>
              </a:ext>
            </a:extLst>
          </p:cNvPr>
          <p:cNvSpPr/>
          <p:nvPr/>
        </p:nvSpPr>
        <p:spPr>
          <a:xfrm>
            <a:off x="1526833" y="1733419"/>
            <a:ext cx="3528044" cy="404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Metric Monitoring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461;p84">
            <a:extLst>
              <a:ext uri="{FF2B5EF4-FFF2-40B4-BE49-F238E27FC236}">
                <a16:creationId xmlns:a16="http://schemas.microsoft.com/office/drawing/2014/main" id="{CACA1443-F569-5EE8-FA3C-3C094F87FF1A}"/>
              </a:ext>
            </a:extLst>
          </p:cNvPr>
          <p:cNvSpPr/>
          <p:nvPr/>
        </p:nvSpPr>
        <p:spPr>
          <a:xfrm>
            <a:off x="7349349" y="1741712"/>
            <a:ext cx="3528044" cy="404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Log Monitoring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462;p84">
            <a:extLst>
              <a:ext uri="{FF2B5EF4-FFF2-40B4-BE49-F238E27FC236}">
                <a16:creationId xmlns:a16="http://schemas.microsoft.com/office/drawing/2014/main" id="{8A3108A4-CAC1-122C-07A1-5878D5AD0A55}"/>
              </a:ext>
            </a:extLst>
          </p:cNvPr>
          <p:cNvSpPr txBox="1"/>
          <p:nvPr/>
        </p:nvSpPr>
        <p:spPr>
          <a:xfrm>
            <a:off x="1206500" y="1230226"/>
            <a:ext cx="9779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CONTINUOUS MONITORING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2464;p84">
            <a:extLst>
              <a:ext uri="{FF2B5EF4-FFF2-40B4-BE49-F238E27FC236}">
                <a16:creationId xmlns:a16="http://schemas.microsoft.com/office/drawing/2014/main" id="{71A633E9-90AE-A026-8698-B5C58E1D8762}"/>
              </a:ext>
            </a:extLst>
          </p:cNvPr>
          <p:cNvGrpSpPr/>
          <p:nvPr/>
        </p:nvGrpSpPr>
        <p:grpSpPr>
          <a:xfrm>
            <a:off x="5942048" y="4903534"/>
            <a:ext cx="6062774" cy="578977"/>
            <a:chOff x="6033488" y="4312389"/>
            <a:chExt cx="6062774" cy="700562"/>
          </a:xfrm>
        </p:grpSpPr>
        <p:sp>
          <p:nvSpPr>
            <p:cNvPr id="15" name="Google Shape;2465;p84">
              <a:extLst>
                <a:ext uri="{FF2B5EF4-FFF2-40B4-BE49-F238E27FC236}">
                  <a16:creationId xmlns:a16="http://schemas.microsoft.com/office/drawing/2014/main" id="{78A6D23B-7D4B-B6CE-1403-D3A29608C196}"/>
                </a:ext>
              </a:extLst>
            </p:cNvPr>
            <p:cNvSpPr/>
            <p:nvPr/>
          </p:nvSpPr>
          <p:spPr>
            <a:xfrm>
              <a:off x="6100627" y="4642259"/>
              <a:ext cx="405297" cy="109742"/>
            </a:xfrm>
            <a:custGeom>
              <a:avLst/>
              <a:gdLst/>
              <a:ahLst/>
              <a:cxnLst/>
              <a:rect l="l" t="t" r="r" b="b"/>
              <a:pathLst>
                <a:path w="405297" h="142402" extrusionOk="0">
                  <a:moveTo>
                    <a:pt x="405297" y="5977"/>
                  </a:moveTo>
                  <a:lnTo>
                    <a:pt x="192198" y="0"/>
                  </a:lnTo>
                  <a:lnTo>
                    <a:pt x="0" y="142402"/>
                  </a:lnTo>
                </a:path>
              </a:pathLst>
            </a:custGeom>
            <a:noFill/>
            <a:ln w="25400" cap="flat" cmpd="sng">
              <a:solidFill>
                <a:srgbClr val="7671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6" name="Google Shape;2466;p84">
              <a:extLst>
                <a:ext uri="{FF2B5EF4-FFF2-40B4-BE49-F238E27FC236}">
                  <a16:creationId xmlns:a16="http://schemas.microsoft.com/office/drawing/2014/main" id="{2735DFBC-1CA8-2B06-1C75-977961E4C697}"/>
                </a:ext>
              </a:extLst>
            </p:cNvPr>
            <p:cNvGrpSpPr/>
            <p:nvPr/>
          </p:nvGrpSpPr>
          <p:grpSpPr>
            <a:xfrm>
              <a:off x="6033488" y="4674585"/>
              <a:ext cx="137160" cy="134624"/>
              <a:chOff x="6011174" y="4674585"/>
              <a:chExt cx="174688" cy="134624"/>
            </a:xfrm>
          </p:grpSpPr>
          <p:sp>
            <p:nvSpPr>
              <p:cNvPr id="23" name="Google Shape;2467;p84">
                <a:extLst>
                  <a:ext uri="{FF2B5EF4-FFF2-40B4-BE49-F238E27FC236}">
                    <a16:creationId xmlns:a16="http://schemas.microsoft.com/office/drawing/2014/main" id="{DC49D21B-47F4-0775-710C-C8E83F70996A}"/>
                  </a:ext>
                </a:extLst>
              </p:cNvPr>
              <p:cNvSpPr/>
              <p:nvPr/>
            </p:nvSpPr>
            <p:spPr>
              <a:xfrm flipH="1">
                <a:off x="6011174" y="4674585"/>
                <a:ext cx="174688" cy="134624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4890E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" name="Google Shape;2468;p84">
                <a:extLst>
                  <a:ext uri="{FF2B5EF4-FFF2-40B4-BE49-F238E27FC236}">
                    <a16:creationId xmlns:a16="http://schemas.microsoft.com/office/drawing/2014/main" id="{B39A64FF-2A2B-CED2-6006-3C69FEABE5AB}"/>
                  </a:ext>
                </a:extLst>
              </p:cNvPr>
              <p:cNvSpPr/>
              <p:nvPr/>
            </p:nvSpPr>
            <p:spPr>
              <a:xfrm flipH="1">
                <a:off x="6029000" y="4688321"/>
                <a:ext cx="139035" cy="107148"/>
              </a:xfrm>
              <a:prstGeom prst="ellipse">
                <a:avLst/>
              </a:prstGeom>
              <a:solidFill>
                <a:srgbClr val="4890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7" name="Google Shape;2469;p84">
              <a:extLst>
                <a:ext uri="{FF2B5EF4-FFF2-40B4-BE49-F238E27FC236}">
                  <a16:creationId xmlns:a16="http://schemas.microsoft.com/office/drawing/2014/main" id="{40FB6016-2F74-98BE-F63F-1DE6527E3663}"/>
                </a:ext>
              </a:extLst>
            </p:cNvPr>
            <p:cNvSpPr/>
            <p:nvPr/>
          </p:nvSpPr>
          <p:spPr>
            <a:xfrm flipH="1">
              <a:off x="6427679" y="4318071"/>
              <a:ext cx="5426769" cy="68351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rgbClr val="4890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2470;p84">
              <a:extLst>
                <a:ext uri="{FF2B5EF4-FFF2-40B4-BE49-F238E27FC236}">
                  <a16:creationId xmlns:a16="http://schemas.microsoft.com/office/drawing/2014/main" id="{4290627B-C602-6A11-9183-469F091E5B39}"/>
                </a:ext>
              </a:extLst>
            </p:cNvPr>
            <p:cNvSpPr/>
            <p:nvPr/>
          </p:nvSpPr>
          <p:spPr>
            <a:xfrm flipH="1">
              <a:off x="7776493" y="4312389"/>
              <a:ext cx="4319769" cy="700562"/>
            </a:xfrm>
            <a:custGeom>
              <a:avLst/>
              <a:gdLst/>
              <a:ahLst/>
              <a:cxnLst/>
              <a:rect l="l" t="t" r="r" b="b"/>
              <a:pathLst>
                <a:path w="4324832" h="909052" extrusionOk="0">
                  <a:moveTo>
                    <a:pt x="0" y="0"/>
                  </a:moveTo>
                  <a:lnTo>
                    <a:pt x="4324832" y="29496"/>
                  </a:lnTo>
                  <a:lnTo>
                    <a:pt x="4324832" y="872181"/>
                  </a:lnTo>
                  <a:lnTo>
                    <a:pt x="0" y="909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9" name="Google Shape;2471;p84">
              <a:extLst>
                <a:ext uri="{FF2B5EF4-FFF2-40B4-BE49-F238E27FC236}">
                  <a16:creationId xmlns:a16="http://schemas.microsoft.com/office/drawing/2014/main" id="{DAC72D7D-FEF6-86ED-FEA9-29D4367E306C}"/>
                </a:ext>
              </a:extLst>
            </p:cNvPr>
            <p:cNvGrpSpPr/>
            <p:nvPr/>
          </p:nvGrpSpPr>
          <p:grpSpPr>
            <a:xfrm>
              <a:off x="6561091" y="4517200"/>
              <a:ext cx="274320" cy="270693"/>
              <a:chOff x="6561091" y="4517200"/>
              <a:chExt cx="351252" cy="270693"/>
            </a:xfrm>
          </p:grpSpPr>
          <p:sp>
            <p:nvSpPr>
              <p:cNvPr id="21" name="Google Shape;2472;p84">
                <a:extLst>
                  <a:ext uri="{FF2B5EF4-FFF2-40B4-BE49-F238E27FC236}">
                    <a16:creationId xmlns:a16="http://schemas.microsoft.com/office/drawing/2014/main" id="{9A1D5E1B-6644-A0EA-C9B4-11073ABF4C27}"/>
                  </a:ext>
                </a:extLst>
              </p:cNvPr>
              <p:cNvSpPr/>
              <p:nvPr/>
            </p:nvSpPr>
            <p:spPr>
              <a:xfrm flipH="1">
                <a:off x="6561091" y="4517200"/>
                <a:ext cx="351252" cy="27069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4890E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" name="Google Shape;2473;p84">
                <a:extLst>
                  <a:ext uri="{FF2B5EF4-FFF2-40B4-BE49-F238E27FC236}">
                    <a16:creationId xmlns:a16="http://schemas.microsoft.com/office/drawing/2014/main" id="{47B5D1BA-40E3-ACEF-2C46-A63775F4B54C}"/>
                  </a:ext>
                </a:extLst>
              </p:cNvPr>
              <p:cNvSpPr/>
              <p:nvPr/>
            </p:nvSpPr>
            <p:spPr>
              <a:xfrm flipH="1">
                <a:off x="6596935" y="4544824"/>
                <a:ext cx="279564" cy="215446"/>
              </a:xfrm>
              <a:prstGeom prst="ellipse">
                <a:avLst/>
              </a:prstGeom>
              <a:solidFill>
                <a:srgbClr val="4890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0" name="Google Shape;2474;p84">
              <a:extLst>
                <a:ext uri="{FF2B5EF4-FFF2-40B4-BE49-F238E27FC236}">
                  <a16:creationId xmlns:a16="http://schemas.microsoft.com/office/drawing/2014/main" id="{351B2522-5DC3-E8AC-5FA2-92A388A13111}"/>
                </a:ext>
              </a:extLst>
            </p:cNvPr>
            <p:cNvSpPr txBox="1"/>
            <p:nvPr/>
          </p:nvSpPr>
          <p:spPr>
            <a:xfrm>
              <a:off x="7051261" y="4491944"/>
              <a:ext cx="4307185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Reactive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475;p84">
            <a:extLst>
              <a:ext uri="{FF2B5EF4-FFF2-40B4-BE49-F238E27FC236}">
                <a16:creationId xmlns:a16="http://schemas.microsoft.com/office/drawing/2014/main" id="{7D757B7F-9B9C-6512-3C8F-BEB8362B0CE9}"/>
              </a:ext>
            </a:extLst>
          </p:cNvPr>
          <p:cNvSpPr/>
          <p:nvPr/>
        </p:nvSpPr>
        <p:spPr>
          <a:xfrm>
            <a:off x="112773" y="4903534"/>
            <a:ext cx="4216872" cy="578977"/>
          </a:xfrm>
          <a:custGeom>
            <a:avLst/>
            <a:gdLst/>
            <a:ahLst/>
            <a:cxnLst/>
            <a:rect l="l" t="t" r="r" b="b"/>
            <a:pathLst>
              <a:path w="4324832" h="909052" extrusionOk="0">
                <a:moveTo>
                  <a:pt x="0" y="0"/>
                </a:moveTo>
                <a:lnTo>
                  <a:pt x="4324832" y="29496"/>
                </a:lnTo>
                <a:lnTo>
                  <a:pt x="4324832" y="872181"/>
                </a:lnTo>
                <a:lnTo>
                  <a:pt x="0" y="909052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" name="Google Shape;2476;p84">
            <a:extLst>
              <a:ext uri="{FF2B5EF4-FFF2-40B4-BE49-F238E27FC236}">
                <a16:creationId xmlns:a16="http://schemas.microsoft.com/office/drawing/2014/main" id="{CB9C88C8-90B2-D23E-FBFA-6D64B8B56F00}"/>
              </a:ext>
            </a:extLst>
          </p:cNvPr>
          <p:cNvGrpSpPr/>
          <p:nvPr/>
        </p:nvGrpSpPr>
        <p:grpSpPr>
          <a:xfrm>
            <a:off x="251690" y="4907736"/>
            <a:ext cx="5827518" cy="564886"/>
            <a:chOff x="343130" y="4318071"/>
            <a:chExt cx="5827518" cy="683513"/>
          </a:xfrm>
        </p:grpSpPr>
        <p:sp>
          <p:nvSpPr>
            <p:cNvPr id="27" name="Google Shape;2477;p84">
              <a:extLst>
                <a:ext uri="{FF2B5EF4-FFF2-40B4-BE49-F238E27FC236}">
                  <a16:creationId xmlns:a16="http://schemas.microsoft.com/office/drawing/2014/main" id="{5315F627-A6C7-FAB7-7917-A6C68E6F0FA1}"/>
                </a:ext>
              </a:extLst>
            </p:cNvPr>
            <p:cNvSpPr/>
            <p:nvPr/>
          </p:nvSpPr>
          <p:spPr>
            <a:xfrm flipH="1">
              <a:off x="5691654" y="4496456"/>
              <a:ext cx="410322" cy="150408"/>
            </a:xfrm>
            <a:custGeom>
              <a:avLst/>
              <a:gdLst/>
              <a:ahLst/>
              <a:cxnLst/>
              <a:rect l="l" t="t" r="r" b="b"/>
              <a:pathLst>
                <a:path w="410322" h="195170" extrusionOk="0">
                  <a:moveTo>
                    <a:pt x="410322" y="195170"/>
                  </a:moveTo>
                  <a:lnTo>
                    <a:pt x="197223" y="189193"/>
                  </a:lnTo>
                  <a:lnTo>
                    <a:pt x="0" y="0"/>
                  </a:lnTo>
                </a:path>
              </a:pathLst>
            </a:custGeom>
            <a:noFill/>
            <a:ln w="25400" cap="flat" cmpd="sng">
              <a:solidFill>
                <a:srgbClr val="7671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8" name="Google Shape;2478;p84">
              <a:extLst>
                <a:ext uri="{FF2B5EF4-FFF2-40B4-BE49-F238E27FC236}">
                  <a16:creationId xmlns:a16="http://schemas.microsoft.com/office/drawing/2014/main" id="{6105BF0C-2B48-2A0A-71FB-B23BBE144C1C}"/>
                </a:ext>
              </a:extLst>
            </p:cNvPr>
            <p:cNvGrpSpPr/>
            <p:nvPr/>
          </p:nvGrpSpPr>
          <p:grpSpPr>
            <a:xfrm>
              <a:off x="6033488" y="4424537"/>
              <a:ext cx="137160" cy="134624"/>
              <a:chOff x="6011716" y="4424537"/>
              <a:chExt cx="174688" cy="134624"/>
            </a:xfrm>
          </p:grpSpPr>
          <p:sp>
            <p:nvSpPr>
              <p:cNvPr id="34" name="Google Shape;2479;p84">
                <a:extLst>
                  <a:ext uri="{FF2B5EF4-FFF2-40B4-BE49-F238E27FC236}">
                    <a16:creationId xmlns:a16="http://schemas.microsoft.com/office/drawing/2014/main" id="{25AB9771-F406-9CA8-8E94-979E1FC72C14}"/>
                  </a:ext>
                </a:extLst>
              </p:cNvPr>
              <p:cNvSpPr/>
              <p:nvPr/>
            </p:nvSpPr>
            <p:spPr>
              <a:xfrm>
                <a:off x="6011716" y="4424537"/>
                <a:ext cx="174688" cy="134624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F4AB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" name="Google Shape;2480;p84">
                <a:extLst>
                  <a:ext uri="{FF2B5EF4-FFF2-40B4-BE49-F238E27FC236}">
                    <a16:creationId xmlns:a16="http://schemas.microsoft.com/office/drawing/2014/main" id="{A0730D03-4D79-8A7C-3EC4-D86A213773A9}"/>
                  </a:ext>
                </a:extLst>
              </p:cNvPr>
              <p:cNvSpPr/>
              <p:nvPr/>
            </p:nvSpPr>
            <p:spPr>
              <a:xfrm>
                <a:off x="6029543" y="4438275"/>
                <a:ext cx="139035" cy="107148"/>
              </a:xfrm>
              <a:prstGeom prst="ellipse">
                <a:avLst/>
              </a:prstGeom>
              <a:solidFill>
                <a:srgbClr val="F4AB3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9" name="Google Shape;2481;p84">
              <a:extLst>
                <a:ext uri="{FF2B5EF4-FFF2-40B4-BE49-F238E27FC236}">
                  <a16:creationId xmlns:a16="http://schemas.microsoft.com/office/drawing/2014/main" id="{D91E3C5F-6DAE-6458-3888-88BBFB81149A}"/>
                </a:ext>
              </a:extLst>
            </p:cNvPr>
            <p:cNvSpPr/>
            <p:nvPr/>
          </p:nvSpPr>
          <p:spPr>
            <a:xfrm>
              <a:off x="343130" y="4318071"/>
              <a:ext cx="5426769" cy="68351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rgbClr val="F4A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30" name="Google Shape;2482;p84">
              <a:extLst>
                <a:ext uri="{FF2B5EF4-FFF2-40B4-BE49-F238E27FC236}">
                  <a16:creationId xmlns:a16="http://schemas.microsoft.com/office/drawing/2014/main" id="{DC553AEB-3AE8-E3AE-4FF4-0C812BEA044C}"/>
                </a:ext>
              </a:extLst>
            </p:cNvPr>
            <p:cNvGrpSpPr/>
            <p:nvPr/>
          </p:nvGrpSpPr>
          <p:grpSpPr>
            <a:xfrm>
              <a:off x="5285235" y="4517200"/>
              <a:ext cx="274320" cy="270693"/>
              <a:chOff x="5285235" y="4517200"/>
              <a:chExt cx="351252" cy="270693"/>
            </a:xfrm>
          </p:grpSpPr>
          <p:sp>
            <p:nvSpPr>
              <p:cNvPr id="32" name="Google Shape;2483;p84">
                <a:extLst>
                  <a:ext uri="{FF2B5EF4-FFF2-40B4-BE49-F238E27FC236}">
                    <a16:creationId xmlns:a16="http://schemas.microsoft.com/office/drawing/2014/main" id="{BA6F50FB-62F6-9126-C393-9F5A26D29B46}"/>
                  </a:ext>
                </a:extLst>
              </p:cNvPr>
              <p:cNvSpPr/>
              <p:nvPr/>
            </p:nvSpPr>
            <p:spPr>
              <a:xfrm>
                <a:off x="5285235" y="4517200"/>
                <a:ext cx="351252" cy="27069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F4AB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" name="Google Shape;2484;p84">
                <a:extLst>
                  <a:ext uri="{FF2B5EF4-FFF2-40B4-BE49-F238E27FC236}">
                    <a16:creationId xmlns:a16="http://schemas.microsoft.com/office/drawing/2014/main" id="{CA4F2A3D-67E8-B8B8-8D65-289E1351E6B7}"/>
                  </a:ext>
                </a:extLst>
              </p:cNvPr>
              <p:cNvSpPr/>
              <p:nvPr/>
            </p:nvSpPr>
            <p:spPr>
              <a:xfrm>
                <a:off x="5321080" y="4544824"/>
                <a:ext cx="279564" cy="215446"/>
              </a:xfrm>
              <a:prstGeom prst="ellipse">
                <a:avLst/>
              </a:prstGeom>
              <a:solidFill>
                <a:srgbClr val="F4AB3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31" name="Google Shape;2485;p84">
              <a:extLst>
                <a:ext uri="{FF2B5EF4-FFF2-40B4-BE49-F238E27FC236}">
                  <a16:creationId xmlns:a16="http://schemas.microsoft.com/office/drawing/2014/main" id="{93967020-017A-BFAD-7C5D-BCD3886EB425}"/>
                </a:ext>
              </a:extLst>
            </p:cNvPr>
            <p:cNvSpPr txBox="1"/>
            <p:nvPr/>
          </p:nvSpPr>
          <p:spPr>
            <a:xfrm>
              <a:off x="848032" y="4491944"/>
              <a:ext cx="4307185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Proactive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2486;p84">
            <a:extLst>
              <a:ext uri="{FF2B5EF4-FFF2-40B4-BE49-F238E27FC236}">
                <a16:creationId xmlns:a16="http://schemas.microsoft.com/office/drawing/2014/main" id="{D2D33615-C958-5753-292F-4A5D18D57087}"/>
              </a:ext>
            </a:extLst>
          </p:cNvPr>
          <p:cNvGrpSpPr/>
          <p:nvPr/>
        </p:nvGrpSpPr>
        <p:grpSpPr>
          <a:xfrm>
            <a:off x="5942048" y="3977212"/>
            <a:ext cx="6062774" cy="578977"/>
            <a:chOff x="6033488" y="3386067"/>
            <a:chExt cx="6062774" cy="700562"/>
          </a:xfrm>
        </p:grpSpPr>
        <p:sp>
          <p:nvSpPr>
            <p:cNvPr id="37" name="Google Shape;2487;p84">
              <a:extLst>
                <a:ext uri="{FF2B5EF4-FFF2-40B4-BE49-F238E27FC236}">
                  <a16:creationId xmlns:a16="http://schemas.microsoft.com/office/drawing/2014/main" id="{33F28381-F352-CD75-EE1C-EE74BB52185F}"/>
                </a:ext>
              </a:extLst>
            </p:cNvPr>
            <p:cNvSpPr/>
            <p:nvPr/>
          </p:nvSpPr>
          <p:spPr>
            <a:xfrm>
              <a:off x="6100627" y="3715937"/>
              <a:ext cx="405297" cy="109742"/>
            </a:xfrm>
            <a:custGeom>
              <a:avLst/>
              <a:gdLst/>
              <a:ahLst/>
              <a:cxnLst/>
              <a:rect l="l" t="t" r="r" b="b"/>
              <a:pathLst>
                <a:path w="405297" h="142402" extrusionOk="0">
                  <a:moveTo>
                    <a:pt x="405297" y="5977"/>
                  </a:moveTo>
                  <a:lnTo>
                    <a:pt x="192198" y="0"/>
                  </a:lnTo>
                  <a:lnTo>
                    <a:pt x="0" y="142402"/>
                  </a:lnTo>
                </a:path>
              </a:pathLst>
            </a:custGeom>
            <a:noFill/>
            <a:ln w="25400" cap="flat" cmpd="sng">
              <a:solidFill>
                <a:srgbClr val="7671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38" name="Google Shape;2488;p84">
              <a:extLst>
                <a:ext uri="{FF2B5EF4-FFF2-40B4-BE49-F238E27FC236}">
                  <a16:creationId xmlns:a16="http://schemas.microsoft.com/office/drawing/2014/main" id="{902E5D55-C49B-46F0-8DFF-4F62168B7E38}"/>
                </a:ext>
              </a:extLst>
            </p:cNvPr>
            <p:cNvGrpSpPr/>
            <p:nvPr/>
          </p:nvGrpSpPr>
          <p:grpSpPr>
            <a:xfrm>
              <a:off x="6033488" y="3748263"/>
              <a:ext cx="137160" cy="134624"/>
              <a:chOff x="6011174" y="3748263"/>
              <a:chExt cx="174688" cy="134624"/>
            </a:xfrm>
          </p:grpSpPr>
          <p:sp>
            <p:nvSpPr>
              <p:cNvPr id="45" name="Google Shape;2489;p84">
                <a:extLst>
                  <a:ext uri="{FF2B5EF4-FFF2-40B4-BE49-F238E27FC236}">
                    <a16:creationId xmlns:a16="http://schemas.microsoft.com/office/drawing/2014/main" id="{817E62CC-B753-D8E9-EBC1-19D1332F9E7A}"/>
                  </a:ext>
                </a:extLst>
              </p:cNvPr>
              <p:cNvSpPr/>
              <p:nvPr/>
            </p:nvSpPr>
            <p:spPr>
              <a:xfrm flipH="1">
                <a:off x="6011174" y="3748263"/>
                <a:ext cx="174688" cy="134624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4890E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" name="Google Shape;2490;p84">
                <a:extLst>
                  <a:ext uri="{FF2B5EF4-FFF2-40B4-BE49-F238E27FC236}">
                    <a16:creationId xmlns:a16="http://schemas.microsoft.com/office/drawing/2014/main" id="{C80D4821-42A6-12F1-DBC1-1D97055C0BF7}"/>
                  </a:ext>
                </a:extLst>
              </p:cNvPr>
              <p:cNvSpPr/>
              <p:nvPr/>
            </p:nvSpPr>
            <p:spPr>
              <a:xfrm flipH="1">
                <a:off x="6029000" y="3761999"/>
                <a:ext cx="139035" cy="107148"/>
              </a:xfrm>
              <a:prstGeom prst="ellipse">
                <a:avLst/>
              </a:prstGeom>
              <a:solidFill>
                <a:srgbClr val="4890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39" name="Google Shape;2491;p84">
              <a:extLst>
                <a:ext uri="{FF2B5EF4-FFF2-40B4-BE49-F238E27FC236}">
                  <a16:creationId xmlns:a16="http://schemas.microsoft.com/office/drawing/2014/main" id="{11C7ADFB-03F4-E2C8-9432-C8467D3238AF}"/>
                </a:ext>
              </a:extLst>
            </p:cNvPr>
            <p:cNvSpPr/>
            <p:nvPr/>
          </p:nvSpPr>
          <p:spPr>
            <a:xfrm flipH="1">
              <a:off x="6427679" y="3391749"/>
              <a:ext cx="5426769" cy="68351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rgbClr val="4890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2492;p84">
              <a:extLst>
                <a:ext uri="{FF2B5EF4-FFF2-40B4-BE49-F238E27FC236}">
                  <a16:creationId xmlns:a16="http://schemas.microsoft.com/office/drawing/2014/main" id="{3D4CA671-3C10-6CB3-8F5E-B7EA64970500}"/>
                </a:ext>
              </a:extLst>
            </p:cNvPr>
            <p:cNvSpPr/>
            <p:nvPr/>
          </p:nvSpPr>
          <p:spPr>
            <a:xfrm flipH="1">
              <a:off x="7776493" y="3386067"/>
              <a:ext cx="4319769" cy="700562"/>
            </a:xfrm>
            <a:custGeom>
              <a:avLst/>
              <a:gdLst/>
              <a:ahLst/>
              <a:cxnLst/>
              <a:rect l="l" t="t" r="r" b="b"/>
              <a:pathLst>
                <a:path w="4324832" h="909052" extrusionOk="0">
                  <a:moveTo>
                    <a:pt x="0" y="0"/>
                  </a:moveTo>
                  <a:lnTo>
                    <a:pt x="4324832" y="29496"/>
                  </a:lnTo>
                  <a:lnTo>
                    <a:pt x="4324832" y="872181"/>
                  </a:lnTo>
                  <a:lnTo>
                    <a:pt x="0" y="909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1" name="Google Shape;2493;p84">
              <a:extLst>
                <a:ext uri="{FF2B5EF4-FFF2-40B4-BE49-F238E27FC236}">
                  <a16:creationId xmlns:a16="http://schemas.microsoft.com/office/drawing/2014/main" id="{B1B94E64-A4F6-41A1-6390-7620A795068D}"/>
                </a:ext>
              </a:extLst>
            </p:cNvPr>
            <p:cNvGrpSpPr/>
            <p:nvPr/>
          </p:nvGrpSpPr>
          <p:grpSpPr>
            <a:xfrm>
              <a:off x="6561091" y="3590878"/>
              <a:ext cx="274320" cy="270693"/>
              <a:chOff x="6561091" y="3590878"/>
              <a:chExt cx="351252" cy="270693"/>
            </a:xfrm>
          </p:grpSpPr>
          <p:sp>
            <p:nvSpPr>
              <p:cNvPr id="43" name="Google Shape;2494;p84">
                <a:extLst>
                  <a:ext uri="{FF2B5EF4-FFF2-40B4-BE49-F238E27FC236}">
                    <a16:creationId xmlns:a16="http://schemas.microsoft.com/office/drawing/2014/main" id="{D3546D97-51AC-E4E8-664C-ABE70C088253}"/>
                  </a:ext>
                </a:extLst>
              </p:cNvPr>
              <p:cNvSpPr/>
              <p:nvPr/>
            </p:nvSpPr>
            <p:spPr>
              <a:xfrm flipH="1">
                <a:off x="6561091" y="3590878"/>
                <a:ext cx="351252" cy="27069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4890E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" name="Google Shape;2495;p84">
                <a:extLst>
                  <a:ext uri="{FF2B5EF4-FFF2-40B4-BE49-F238E27FC236}">
                    <a16:creationId xmlns:a16="http://schemas.microsoft.com/office/drawing/2014/main" id="{FE53395D-07B1-0358-875E-1650CAD40773}"/>
                  </a:ext>
                </a:extLst>
              </p:cNvPr>
              <p:cNvSpPr/>
              <p:nvPr/>
            </p:nvSpPr>
            <p:spPr>
              <a:xfrm flipH="1">
                <a:off x="6596935" y="3618502"/>
                <a:ext cx="279564" cy="215446"/>
              </a:xfrm>
              <a:prstGeom prst="ellipse">
                <a:avLst/>
              </a:prstGeom>
              <a:solidFill>
                <a:srgbClr val="4890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42" name="Google Shape;2496;p84">
              <a:extLst>
                <a:ext uri="{FF2B5EF4-FFF2-40B4-BE49-F238E27FC236}">
                  <a16:creationId xmlns:a16="http://schemas.microsoft.com/office/drawing/2014/main" id="{41391255-D5F3-FD68-7F97-182C5087FDD3}"/>
                </a:ext>
              </a:extLst>
            </p:cNvPr>
            <p:cNvSpPr txBox="1"/>
            <p:nvPr/>
          </p:nvSpPr>
          <p:spPr>
            <a:xfrm>
              <a:off x="7051261" y="3444064"/>
              <a:ext cx="43071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Costly to store and process </a:t>
              </a:r>
              <a:r>
                <a:rPr lang="en-US" sz="1600">
                  <a:latin typeface="Lato"/>
                  <a:ea typeface="Lato"/>
                  <a:cs typeface="Lato"/>
                  <a:sym typeface="Lato"/>
                </a:rPr>
                <a:t>owing</a:t>
              </a: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to low compression 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2497;p84">
            <a:extLst>
              <a:ext uri="{FF2B5EF4-FFF2-40B4-BE49-F238E27FC236}">
                <a16:creationId xmlns:a16="http://schemas.microsoft.com/office/drawing/2014/main" id="{08C03785-9889-66F1-F458-CBC3A83ABE9A}"/>
              </a:ext>
            </a:extLst>
          </p:cNvPr>
          <p:cNvGrpSpPr/>
          <p:nvPr/>
        </p:nvGrpSpPr>
        <p:grpSpPr>
          <a:xfrm>
            <a:off x="112773" y="3977212"/>
            <a:ext cx="5966435" cy="578977"/>
            <a:chOff x="204213" y="3386067"/>
            <a:chExt cx="5966435" cy="700562"/>
          </a:xfrm>
        </p:grpSpPr>
        <p:grpSp>
          <p:nvGrpSpPr>
            <p:cNvPr id="48" name="Google Shape;2498;p84">
              <a:extLst>
                <a:ext uri="{FF2B5EF4-FFF2-40B4-BE49-F238E27FC236}">
                  <a16:creationId xmlns:a16="http://schemas.microsoft.com/office/drawing/2014/main" id="{5798BAB1-E9A1-83CD-7ED4-9E1E50E307F8}"/>
                </a:ext>
              </a:extLst>
            </p:cNvPr>
            <p:cNvGrpSpPr/>
            <p:nvPr/>
          </p:nvGrpSpPr>
          <p:grpSpPr>
            <a:xfrm>
              <a:off x="204213" y="3386067"/>
              <a:ext cx="5966435" cy="700562"/>
              <a:chOff x="204213" y="3386067"/>
              <a:chExt cx="5966435" cy="700562"/>
            </a:xfrm>
          </p:grpSpPr>
          <p:sp>
            <p:nvSpPr>
              <p:cNvPr id="52" name="Google Shape;2499;p84">
                <a:extLst>
                  <a:ext uri="{FF2B5EF4-FFF2-40B4-BE49-F238E27FC236}">
                    <a16:creationId xmlns:a16="http://schemas.microsoft.com/office/drawing/2014/main" id="{76792C46-D713-BA75-9C68-4DA8F11C1293}"/>
                  </a:ext>
                </a:extLst>
              </p:cNvPr>
              <p:cNvSpPr/>
              <p:nvPr/>
            </p:nvSpPr>
            <p:spPr>
              <a:xfrm flipH="1">
                <a:off x="5691654" y="3570134"/>
                <a:ext cx="410322" cy="150408"/>
              </a:xfrm>
              <a:custGeom>
                <a:avLst/>
                <a:gdLst/>
                <a:ahLst/>
                <a:cxnLst/>
                <a:rect l="l" t="t" r="r" b="b"/>
                <a:pathLst>
                  <a:path w="410322" h="195170" extrusionOk="0">
                    <a:moveTo>
                      <a:pt x="410322" y="195170"/>
                    </a:moveTo>
                    <a:lnTo>
                      <a:pt x="197223" y="189193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flat" cmpd="sng">
                <a:solidFill>
                  <a:srgbClr val="76717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53" name="Google Shape;2500;p84">
                <a:extLst>
                  <a:ext uri="{FF2B5EF4-FFF2-40B4-BE49-F238E27FC236}">
                    <a16:creationId xmlns:a16="http://schemas.microsoft.com/office/drawing/2014/main" id="{8A9CD828-941F-CAE9-204A-3984AA8A4E6F}"/>
                  </a:ext>
                </a:extLst>
              </p:cNvPr>
              <p:cNvGrpSpPr/>
              <p:nvPr/>
            </p:nvGrpSpPr>
            <p:grpSpPr>
              <a:xfrm>
                <a:off x="6033488" y="3498215"/>
                <a:ext cx="137160" cy="134624"/>
                <a:chOff x="6011716" y="3498215"/>
                <a:chExt cx="174688" cy="134624"/>
              </a:xfrm>
            </p:grpSpPr>
            <p:sp>
              <p:nvSpPr>
                <p:cNvPr id="57" name="Google Shape;2501;p84">
                  <a:extLst>
                    <a:ext uri="{FF2B5EF4-FFF2-40B4-BE49-F238E27FC236}">
                      <a16:creationId xmlns:a16="http://schemas.microsoft.com/office/drawing/2014/main" id="{608ED4B1-49B2-2699-39E3-C072D9D3B644}"/>
                    </a:ext>
                  </a:extLst>
                </p:cNvPr>
                <p:cNvSpPr/>
                <p:nvPr/>
              </p:nvSpPr>
              <p:spPr>
                <a:xfrm>
                  <a:off x="6011716" y="3498215"/>
                  <a:ext cx="174688" cy="134624"/>
                </a:xfrm>
                <a:prstGeom prst="ellipse">
                  <a:avLst/>
                </a:prstGeom>
                <a:solidFill>
                  <a:schemeClr val="lt1"/>
                </a:solidFill>
                <a:ln w="9525" cap="flat" cmpd="sng">
                  <a:solidFill>
                    <a:srgbClr val="F4AB3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8" name="Google Shape;2502;p84">
                  <a:extLst>
                    <a:ext uri="{FF2B5EF4-FFF2-40B4-BE49-F238E27FC236}">
                      <a16:creationId xmlns:a16="http://schemas.microsoft.com/office/drawing/2014/main" id="{BC69A4D6-4841-0810-9B90-CF1536A74E34}"/>
                    </a:ext>
                  </a:extLst>
                </p:cNvPr>
                <p:cNvSpPr/>
                <p:nvPr/>
              </p:nvSpPr>
              <p:spPr>
                <a:xfrm>
                  <a:off x="6029543" y="3511953"/>
                  <a:ext cx="139035" cy="107148"/>
                </a:xfrm>
                <a:prstGeom prst="ellipse">
                  <a:avLst/>
                </a:prstGeom>
                <a:solidFill>
                  <a:srgbClr val="F4AB3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4" name="Google Shape;2503;p84">
                <a:extLst>
                  <a:ext uri="{FF2B5EF4-FFF2-40B4-BE49-F238E27FC236}">
                    <a16:creationId xmlns:a16="http://schemas.microsoft.com/office/drawing/2014/main" id="{64B264A8-68D7-D531-AEEA-C609C334BBDD}"/>
                  </a:ext>
                </a:extLst>
              </p:cNvPr>
              <p:cNvSpPr/>
              <p:nvPr/>
            </p:nvSpPr>
            <p:spPr>
              <a:xfrm>
                <a:off x="343130" y="3391749"/>
                <a:ext cx="5426769" cy="683513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38100" cap="flat" cmpd="sng">
                <a:solidFill>
                  <a:srgbClr val="F4AB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" name="Google Shape;2504;p84">
                <a:extLst>
                  <a:ext uri="{FF2B5EF4-FFF2-40B4-BE49-F238E27FC236}">
                    <a16:creationId xmlns:a16="http://schemas.microsoft.com/office/drawing/2014/main" id="{C1EE1BF0-2DED-E031-40C6-E2337A3B1AA8}"/>
                  </a:ext>
                </a:extLst>
              </p:cNvPr>
              <p:cNvSpPr/>
              <p:nvPr/>
            </p:nvSpPr>
            <p:spPr>
              <a:xfrm>
                <a:off x="204213" y="3386067"/>
                <a:ext cx="4216872" cy="700562"/>
              </a:xfrm>
              <a:custGeom>
                <a:avLst/>
                <a:gdLst/>
                <a:ahLst/>
                <a:cxnLst/>
                <a:rect l="l" t="t" r="r" b="b"/>
                <a:pathLst>
                  <a:path w="4324832" h="909052" extrusionOk="0">
                    <a:moveTo>
                      <a:pt x="0" y="0"/>
                    </a:moveTo>
                    <a:lnTo>
                      <a:pt x="4324832" y="29496"/>
                    </a:lnTo>
                    <a:lnTo>
                      <a:pt x="4324832" y="872181"/>
                    </a:lnTo>
                    <a:lnTo>
                      <a:pt x="0" y="9090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" name="Google Shape;2505;p84">
                <a:extLst>
                  <a:ext uri="{FF2B5EF4-FFF2-40B4-BE49-F238E27FC236}">
                    <a16:creationId xmlns:a16="http://schemas.microsoft.com/office/drawing/2014/main" id="{7C934876-623A-BFE0-5B4F-CBD48C7580A8}"/>
                  </a:ext>
                </a:extLst>
              </p:cNvPr>
              <p:cNvSpPr txBox="1"/>
              <p:nvPr/>
            </p:nvSpPr>
            <p:spPr>
              <a:xfrm>
                <a:off x="848032" y="3444064"/>
                <a:ext cx="4307100" cy="5847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Inexpensive to store </a:t>
                </a:r>
                <a:r>
                  <a:rPr lang="en-US" sz="1600">
                    <a:latin typeface="Lato"/>
                    <a:ea typeface="Lato"/>
                    <a:cs typeface="Lato"/>
                    <a:sym typeface="Lato"/>
                  </a:rPr>
                  <a:t>owing</a:t>
                </a: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 to high compression </a:t>
                </a:r>
                <a:endParaRPr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9" name="Google Shape;2506;p84">
              <a:extLst>
                <a:ext uri="{FF2B5EF4-FFF2-40B4-BE49-F238E27FC236}">
                  <a16:creationId xmlns:a16="http://schemas.microsoft.com/office/drawing/2014/main" id="{BA14EA69-5D6D-559A-52B9-D0F510A43E77}"/>
                </a:ext>
              </a:extLst>
            </p:cNvPr>
            <p:cNvGrpSpPr/>
            <p:nvPr/>
          </p:nvGrpSpPr>
          <p:grpSpPr>
            <a:xfrm>
              <a:off x="5285235" y="3590878"/>
              <a:ext cx="274320" cy="270693"/>
              <a:chOff x="5285235" y="3590878"/>
              <a:chExt cx="351252" cy="270693"/>
            </a:xfrm>
          </p:grpSpPr>
          <p:sp>
            <p:nvSpPr>
              <p:cNvPr id="50" name="Google Shape;2507;p84">
                <a:extLst>
                  <a:ext uri="{FF2B5EF4-FFF2-40B4-BE49-F238E27FC236}">
                    <a16:creationId xmlns:a16="http://schemas.microsoft.com/office/drawing/2014/main" id="{BDE8942D-04FA-C69E-7013-9FC2234B0B5E}"/>
                  </a:ext>
                </a:extLst>
              </p:cNvPr>
              <p:cNvSpPr/>
              <p:nvPr/>
            </p:nvSpPr>
            <p:spPr>
              <a:xfrm>
                <a:off x="5285235" y="3590878"/>
                <a:ext cx="351252" cy="27069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F4AB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" name="Google Shape;2508;p84">
                <a:extLst>
                  <a:ext uri="{FF2B5EF4-FFF2-40B4-BE49-F238E27FC236}">
                    <a16:creationId xmlns:a16="http://schemas.microsoft.com/office/drawing/2014/main" id="{21BF6A23-CB95-8FD3-D694-F97C1EAF130C}"/>
                  </a:ext>
                </a:extLst>
              </p:cNvPr>
              <p:cNvSpPr/>
              <p:nvPr/>
            </p:nvSpPr>
            <p:spPr>
              <a:xfrm>
                <a:off x="5321080" y="3618502"/>
                <a:ext cx="279564" cy="215446"/>
              </a:xfrm>
              <a:prstGeom prst="ellipse">
                <a:avLst/>
              </a:prstGeom>
              <a:solidFill>
                <a:srgbClr val="F4AB3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9" name="Google Shape;2509;p84">
            <a:extLst>
              <a:ext uri="{FF2B5EF4-FFF2-40B4-BE49-F238E27FC236}">
                <a16:creationId xmlns:a16="http://schemas.microsoft.com/office/drawing/2014/main" id="{2F13B207-A9C1-9BF2-3B68-DAB5F0CF6375}"/>
              </a:ext>
            </a:extLst>
          </p:cNvPr>
          <p:cNvGrpSpPr/>
          <p:nvPr/>
        </p:nvGrpSpPr>
        <p:grpSpPr>
          <a:xfrm>
            <a:off x="5942048" y="3050890"/>
            <a:ext cx="6062774" cy="578977"/>
            <a:chOff x="6033488" y="2459745"/>
            <a:chExt cx="6062774" cy="700562"/>
          </a:xfrm>
        </p:grpSpPr>
        <p:sp>
          <p:nvSpPr>
            <p:cNvPr id="60" name="Google Shape;2510;p84">
              <a:extLst>
                <a:ext uri="{FF2B5EF4-FFF2-40B4-BE49-F238E27FC236}">
                  <a16:creationId xmlns:a16="http://schemas.microsoft.com/office/drawing/2014/main" id="{A890F9E5-73F1-48EF-3A32-710C033DBA3F}"/>
                </a:ext>
              </a:extLst>
            </p:cNvPr>
            <p:cNvSpPr/>
            <p:nvPr/>
          </p:nvSpPr>
          <p:spPr>
            <a:xfrm>
              <a:off x="6100627" y="2789615"/>
              <a:ext cx="405297" cy="109742"/>
            </a:xfrm>
            <a:custGeom>
              <a:avLst/>
              <a:gdLst/>
              <a:ahLst/>
              <a:cxnLst/>
              <a:rect l="l" t="t" r="r" b="b"/>
              <a:pathLst>
                <a:path w="405297" h="142402" extrusionOk="0">
                  <a:moveTo>
                    <a:pt x="405297" y="5977"/>
                  </a:moveTo>
                  <a:lnTo>
                    <a:pt x="192198" y="0"/>
                  </a:lnTo>
                  <a:lnTo>
                    <a:pt x="0" y="142402"/>
                  </a:lnTo>
                </a:path>
              </a:pathLst>
            </a:custGeom>
            <a:noFill/>
            <a:ln w="25400" cap="flat" cmpd="sng">
              <a:solidFill>
                <a:srgbClr val="7671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61" name="Google Shape;2511;p84">
              <a:extLst>
                <a:ext uri="{FF2B5EF4-FFF2-40B4-BE49-F238E27FC236}">
                  <a16:creationId xmlns:a16="http://schemas.microsoft.com/office/drawing/2014/main" id="{6C4B2F90-6259-CA07-F152-376A7911A646}"/>
                </a:ext>
              </a:extLst>
            </p:cNvPr>
            <p:cNvGrpSpPr/>
            <p:nvPr/>
          </p:nvGrpSpPr>
          <p:grpSpPr>
            <a:xfrm>
              <a:off x="6033488" y="2821941"/>
              <a:ext cx="137160" cy="134624"/>
              <a:chOff x="6011174" y="2821941"/>
              <a:chExt cx="174688" cy="134624"/>
            </a:xfrm>
          </p:grpSpPr>
          <p:sp>
            <p:nvSpPr>
              <p:cNvPr id="68" name="Google Shape;2512;p84">
                <a:extLst>
                  <a:ext uri="{FF2B5EF4-FFF2-40B4-BE49-F238E27FC236}">
                    <a16:creationId xmlns:a16="http://schemas.microsoft.com/office/drawing/2014/main" id="{6E347707-ABB7-DBB3-7B58-1B4BB4DAD8D6}"/>
                  </a:ext>
                </a:extLst>
              </p:cNvPr>
              <p:cNvSpPr/>
              <p:nvPr/>
            </p:nvSpPr>
            <p:spPr>
              <a:xfrm flipH="1">
                <a:off x="6011174" y="2821941"/>
                <a:ext cx="174688" cy="134624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4890E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" name="Google Shape;2513;p84">
                <a:extLst>
                  <a:ext uri="{FF2B5EF4-FFF2-40B4-BE49-F238E27FC236}">
                    <a16:creationId xmlns:a16="http://schemas.microsoft.com/office/drawing/2014/main" id="{BE4F809F-A3F5-A88C-3365-B69B13BAC0BE}"/>
                  </a:ext>
                </a:extLst>
              </p:cNvPr>
              <p:cNvSpPr/>
              <p:nvPr/>
            </p:nvSpPr>
            <p:spPr>
              <a:xfrm flipH="1">
                <a:off x="6029000" y="2835677"/>
                <a:ext cx="139035" cy="107148"/>
              </a:xfrm>
              <a:prstGeom prst="ellipse">
                <a:avLst/>
              </a:prstGeom>
              <a:solidFill>
                <a:srgbClr val="4890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62" name="Google Shape;2514;p84">
              <a:extLst>
                <a:ext uri="{FF2B5EF4-FFF2-40B4-BE49-F238E27FC236}">
                  <a16:creationId xmlns:a16="http://schemas.microsoft.com/office/drawing/2014/main" id="{61ABD486-3919-6397-600A-FDF135BC21CC}"/>
                </a:ext>
              </a:extLst>
            </p:cNvPr>
            <p:cNvSpPr/>
            <p:nvPr/>
          </p:nvSpPr>
          <p:spPr>
            <a:xfrm flipH="1">
              <a:off x="6427679" y="2465427"/>
              <a:ext cx="5426769" cy="68351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rgbClr val="4890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3" name="Google Shape;2515;p84">
              <a:extLst>
                <a:ext uri="{FF2B5EF4-FFF2-40B4-BE49-F238E27FC236}">
                  <a16:creationId xmlns:a16="http://schemas.microsoft.com/office/drawing/2014/main" id="{9B3CE436-233C-77CA-9907-366B97460AF7}"/>
                </a:ext>
              </a:extLst>
            </p:cNvPr>
            <p:cNvSpPr/>
            <p:nvPr/>
          </p:nvSpPr>
          <p:spPr>
            <a:xfrm flipH="1">
              <a:off x="7776493" y="2459745"/>
              <a:ext cx="4319769" cy="700562"/>
            </a:xfrm>
            <a:custGeom>
              <a:avLst/>
              <a:gdLst/>
              <a:ahLst/>
              <a:cxnLst/>
              <a:rect l="l" t="t" r="r" b="b"/>
              <a:pathLst>
                <a:path w="4324832" h="909052" extrusionOk="0">
                  <a:moveTo>
                    <a:pt x="0" y="0"/>
                  </a:moveTo>
                  <a:lnTo>
                    <a:pt x="4324832" y="29496"/>
                  </a:lnTo>
                  <a:lnTo>
                    <a:pt x="4324832" y="872181"/>
                  </a:lnTo>
                  <a:lnTo>
                    <a:pt x="0" y="909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64" name="Google Shape;2516;p84">
              <a:extLst>
                <a:ext uri="{FF2B5EF4-FFF2-40B4-BE49-F238E27FC236}">
                  <a16:creationId xmlns:a16="http://schemas.microsoft.com/office/drawing/2014/main" id="{52B16B45-BE11-4BCF-6989-3B01BC95A254}"/>
                </a:ext>
              </a:extLst>
            </p:cNvPr>
            <p:cNvGrpSpPr/>
            <p:nvPr/>
          </p:nvGrpSpPr>
          <p:grpSpPr>
            <a:xfrm>
              <a:off x="6561091" y="2664556"/>
              <a:ext cx="274320" cy="270693"/>
              <a:chOff x="6561091" y="2664556"/>
              <a:chExt cx="351252" cy="270693"/>
            </a:xfrm>
          </p:grpSpPr>
          <p:sp>
            <p:nvSpPr>
              <p:cNvPr id="66" name="Google Shape;2517;p84">
                <a:extLst>
                  <a:ext uri="{FF2B5EF4-FFF2-40B4-BE49-F238E27FC236}">
                    <a16:creationId xmlns:a16="http://schemas.microsoft.com/office/drawing/2014/main" id="{926B3983-7806-CD81-31EE-D55C8774F458}"/>
                  </a:ext>
                </a:extLst>
              </p:cNvPr>
              <p:cNvSpPr/>
              <p:nvPr/>
            </p:nvSpPr>
            <p:spPr>
              <a:xfrm flipH="1">
                <a:off x="6561091" y="2664556"/>
                <a:ext cx="351252" cy="27069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4890E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" name="Google Shape;2518;p84">
                <a:extLst>
                  <a:ext uri="{FF2B5EF4-FFF2-40B4-BE49-F238E27FC236}">
                    <a16:creationId xmlns:a16="http://schemas.microsoft.com/office/drawing/2014/main" id="{197C430A-DFBA-15BA-26FF-1A88E57A6A34}"/>
                  </a:ext>
                </a:extLst>
              </p:cNvPr>
              <p:cNvSpPr/>
              <p:nvPr/>
            </p:nvSpPr>
            <p:spPr>
              <a:xfrm flipH="1">
                <a:off x="6596935" y="2692180"/>
                <a:ext cx="279564" cy="215446"/>
              </a:xfrm>
              <a:prstGeom prst="ellipse">
                <a:avLst/>
              </a:prstGeom>
              <a:solidFill>
                <a:srgbClr val="4890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65" name="Google Shape;2519;p84">
              <a:extLst>
                <a:ext uri="{FF2B5EF4-FFF2-40B4-BE49-F238E27FC236}">
                  <a16:creationId xmlns:a16="http://schemas.microsoft.com/office/drawing/2014/main" id="{9C725C50-8A39-4DD9-26AD-8533C2E3E893}"/>
                </a:ext>
              </a:extLst>
            </p:cNvPr>
            <p:cNvSpPr txBox="1"/>
            <p:nvPr/>
          </p:nvSpPr>
          <p:spPr>
            <a:xfrm>
              <a:off x="7051261" y="2640769"/>
              <a:ext cx="4307185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Requires shaping before processing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2520;p84">
            <a:extLst>
              <a:ext uri="{FF2B5EF4-FFF2-40B4-BE49-F238E27FC236}">
                <a16:creationId xmlns:a16="http://schemas.microsoft.com/office/drawing/2014/main" id="{4CDB3B46-DACB-CA05-5E0A-3600A26D6EB9}"/>
              </a:ext>
            </a:extLst>
          </p:cNvPr>
          <p:cNvGrpSpPr/>
          <p:nvPr/>
        </p:nvGrpSpPr>
        <p:grpSpPr>
          <a:xfrm>
            <a:off x="112773" y="3050890"/>
            <a:ext cx="5966435" cy="578977"/>
            <a:chOff x="204213" y="2459745"/>
            <a:chExt cx="5966435" cy="700562"/>
          </a:xfrm>
        </p:grpSpPr>
        <p:sp>
          <p:nvSpPr>
            <p:cNvPr id="71" name="Google Shape;2521;p84">
              <a:extLst>
                <a:ext uri="{FF2B5EF4-FFF2-40B4-BE49-F238E27FC236}">
                  <a16:creationId xmlns:a16="http://schemas.microsoft.com/office/drawing/2014/main" id="{7B1DCFD6-97FB-61D5-B08D-9F964AD784E5}"/>
                </a:ext>
              </a:extLst>
            </p:cNvPr>
            <p:cNvSpPr/>
            <p:nvPr/>
          </p:nvSpPr>
          <p:spPr>
            <a:xfrm flipH="1">
              <a:off x="5691654" y="2643812"/>
              <a:ext cx="410322" cy="150408"/>
            </a:xfrm>
            <a:custGeom>
              <a:avLst/>
              <a:gdLst/>
              <a:ahLst/>
              <a:cxnLst/>
              <a:rect l="l" t="t" r="r" b="b"/>
              <a:pathLst>
                <a:path w="410322" h="195170" extrusionOk="0">
                  <a:moveTo>
                    <a:pt x="410322" y="195170"/>
                  </a:moveTo>
                  <a:lnTo>
                    <a:pt x="197223" y="189193"/>
                  </a:lnTo>
                  <a:lnTo>
                    <a:pt x="0" y="0"/>
                  </a:lnTo>
                </a:path>
              </a:pathLst>
            </a:custGeom>
            <a:noFill/>
            <a:ln w="25400" cap="flat" cmpd="sng">
              <a:solidFill>
                <a:srgbClr val="7671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72" name="Google Shape;2522;p84">
              <a:extLst>
                <a:ext uri="{FF2B5EF4-FFF2-40B4-BE49-F238E27FC236}">
                  <a16:creationId xmlns:a16="http://schemas.microsoft.com/office/drawing/2014/main" id="{93445248-FF5F-1AD2-6FE5-E6D39FAF7E62}"/>
                </a:ext>
              </a:extLst>
            </p:cNvPr>
            <p:cNvGrpSpPr/>
            <p:nvPr/>
          </p:nvGrpSpPr>
          <p:grpSpPr>
            <a:xfrm>
              <a:off x="6033488" y="2571893"/>
              <a:ext cx="137160" cy="134624"/>
              <a:chOff x="6011716" y="2571893"/>
              <a:chExt cx="174688" cy="134624"/>
            </a:xfrm>
          </p:grpSpPr>
          <p:sp>
            <p:nvSpPr>
              <p:cNvPr id="79" name="Google Shape;2523;p84">
                <a:extLst>
                  <a:ext uri="{FF2B5EF4-FFF2-40B4-BE49-F238E27FC236}">
                    <a16:creationId xmlns:a16="http://schemas.microsoft.com/office/drawing/2014/main" id="{E2A4C22A-4C72-2B9E-FAF9-F385CDBB2937}"/>
                  </a:ext>
                </a:extLst>
              </p:cNvPr>
              <p:cNvSpPr/>
              <p:nvPr/>
            </p:nvSpPr>
            <p:spPr>
              <a:xfrm>
                <a:off x="6011716" y="2571893"/>
                <a:ext cx="174688" cy="134624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F4AB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" name="Google Shape;2524;p84">
                <a:extLst>
                  <a:ext uri="{FF2B5EF4-FFF2-40B4-BE49-F238E27FC236}">
                    <a16:creationId xmlns:a16="http://schemas.microsoft.com/office/drawing/2014/main" id="{644A6BC2-226E-223D-0CD2-529573223ECC}"/>
                  </a:ext>
                </a:extLst>
              </p:cNvPr>
              <p:cNvSpPr/>
              <p:nvPr/>
            </p:nvSpPr>
            <p:spPr>
              <a:xfrm>
                <a:off x="6029543" y="2585631"/>
                <a:ext cx="139035" cy="107148"/>
              </a:xfrm>
              <a:prstGeom prst="ellipse">
                <a:avLst/>
              </a:prstGeom>
              <a:solidFill>
                <a:srgbClr val="F4AB3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73" name="Google Shape;2525;p84">
              <a:extLst>
                <a:ext uri="{FF2B5EF4-FFF2-40B4-BE49-F238E27FC236}">
                  <a16:creationId xmlns:a16="http://schemas.microsoft.com/office/drawing/2014/main" id="{58CC42A0-2DA5-D38E-86B2-413BD0F1C7B0}"/>
                </a:ext>
              </a:extLst>
            </p:cNvPr>
            <p:cNvSpPr/>
            <p:nvPr/>
          </p:nvSpPr>
          <p:spPr>
            <a:xfrm>
              <a:off x="343130" y="2465427"/>
              <a:ext cx="5426769" cy="68351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rgbClr val="F4A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4" name="Google Shape;2526;p84">
              <a:extLst>
                <a:ext uri="{FF2B5EF4-FFF2-40B4-BE49-F238E27FC236}">
                  <a16:creationId xmlns:a16="http://schemas.microsoft.com/office/drawing/2014/main" id="{B860D2C4-8278-03CA-45E2-60FC5EED0BA6}"/>
                </a:ext>
              </a:extLst>
            </p:cNvPr>
            <p:cNvSpPr/>
            <p:nvPr/>
          </p:nvSpPr>
          <p:spPr>
            <a:xfrm>
              <a:off x="204213" y="2459745"/>
              <a:ext cx="4216872" cy="700562"/>
            </a:xfrm>
            <a:custGeom>
              <a:avLst/>
              <a:gdLst/>
              <a:ahLst/>
              <a:cxnLst/>
              <a:rect l="l" t="t" r="r" b="b"/>
              <a:pathLst>
                <a:path w="4324832" h="909052" extrusionOk="0">
                  <a:moveTo>
                    <a:pt x="0" y="0"/>
                  </a:moveTo>
                  <a:lnTo>
                    <a:pt x="4324832" y="29496"/>
                  </a:lnTo>
                  <a:lnTo>
                    <a:pt x="4324832" y="872181"/>
                  </a:lnTo>
                  <a:lnTo>
                    <a:pt x="0" y="909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75" name="Google Shape;2527;p84">
              <a:extLst>
                <a:ext uri="{FF2B5EF4-FFF2-40B4-BE49-F238E27FC236}">
                  <a16:creationId xmlns:a16="http://schemas.microsoft.com/office/drawing/2014/main" id="{F553C329-5E84-2104-687D-2B8051F31716}"/>
                </a:ext>
              </a:extLst>
            </p:cNvPr>
            <p:cNvGrpSpPr/>
            <p:nvPr/>
          </p:nvGrpSpPr>
          <p:grpSpPr>
            <a:xfrm>
              <a:off x="5285235" y="2664556"/>
              <a:ext cx="274320" cy="270693"/>
              <a:chOff x="5285235" y="2664556"/>
              <a:chExt cx="351252" cy="270693"/>
            </a:xfrm>
          </p:grpSpPr>
          <p:sp>
            <p:nvSpPr>
              <p:cNvPr id="77" name="Google Shape;2528;p84">
                <a:extLst>
                  <a:ext uri="{FF2B5EF4-FFF2-40B4-BE49-F238E27FC236}">
                    <a16:creationId xmlns:a16="http://schemas.microsoft.com/office/drawing/2014/main" id="{01508EA0-38DE-557A-3472-1F69C7E0EAF8}"/>
                  </a:ext>
                </a:extLst>
              </p:cNvPr>
              <p:cNvSpPr/>
              <p:nvPr/>
            </p:nvSpPr>
            <p:spPr>
              <a:xfrm>
                <a:off x="5285235" y="2664556"/>
                <a:ext cx="351252" cy="27069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F4AB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" name="Google Shape;2529;p84">
                <a:extLst>
                  <a:ext uri="{FF2B5EF4-FFF2-40B4-BE49-F238E27FC236}">
                    <a16:creationId xmlns:a16="http://schemas.microsoft.com/office/drawing/2014/main" id="{04783AF8-AB39-60D8-9978-33AB690830EB}"/>
                  </a:ext>
                </a:extLst>
              </p:cNvPr>
              <p:cNvSpPr/>
              <p:nvPr/>
            </p:nvSpPr>
            <p:spPr>
              <a:xfrm>
                <a:off x="5321080" y="2692180"/>
                <a:ext cx="279564" cy="215446"/>
              </a:xfrm>
              <a:prstGeom prst="ellipse">
                <a:avLst/>
              </a:prstGeom>
              <a:solidFill>
                <a:srgbClr val="F4AB3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76" name="Google Shape;2530;p84">
              <a:extLst>
                <a:ext uri="{FF2B5EF4-FFF2-40B4-BE49-F238E27FC236}">
                  <a16:creationId xmlns:a16="http://schemas.microsoft.com/office/drawing/2014/main" id="{CBEED6CE-BC58-26E3-16B5-3D3197015A48}"/>
                </a:ext>
              </a:extLst>
            </p:cNvPr>
            <p:cNvSpPr txBox="1"/>
            <p:nvPr/>
          </p:nvSpPr>
          <p:spPr>
            <a:xfrm>
              <a:off x="848032" y="2640769"/>
              <a:ext cx="4307185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Easy aggregation, </a:t>
              </a: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82"/>
                    </a:ext>
                  </a:extLst>
                </a:rPr>
                <a:t>no shaping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2531;p84">
            <a:extLst>
              <a:ext uri="{FF2B5EF4-FFF2-40B4-BE49-F238E27FC236}">
                <a16:creationId xmlns:a16="http://schemas.microsoft.com/office/drawing/2014/main" id="{E0F9A638-8D98-4E8B-58A7-C40D825DD959}"/>
              </a:ext>
            </a:extLst>
          </p:cNvPr>
          <p:cNvGrpSpPr/>
          <p:nvPr/>
        </p:nvGrpSpPr>
        <p:grpSpPr>
          <a:xfrm>
            <a:off x="5942048" y="2124568"/>
            <a:ext cx="6062774" cy="578977"/>
            <a:chOff x="6033488" y="1533423"/>
            <a:chExt cx="6062774" cy="700562"/>
          </a:xfrm>
        </p:grpSpPr>
        <p:sp>
          <p:nvSpPr>
            <p:cNvPr id="82" name="Google Shape;2532;p84">
              <a:extLst>
                <a:ext uri="{FF2B5EF4-FFF2-40B4-BE49-F238E27FC236}">
                  <a16:creationId xmlns:a16="http://schemas.microsoft.com/office/drawing/2014/main" id="{5828061E-E6CA-C440-0C0B-30902A227FFB}"/>
                </a:ext>
              </a:extLst>
            </p:cNvPr>
            <p:cNvSpPr/>
            <p:nvPr/>
          </p:nvSpPr>
          <p:spPr>
            <a:xfrm>
              <a:off x="6100627" y="1863293"/>
              <a:ext cx="405297" cy="109742"/>
            </a:xfrm>
            <a:custGeom>
              <a:avLst/>
              <a:gdLst/>
              <a:ahLst/>
              <a:cxnLst/>
              <a:rect l="l" t="t" r="r" b="b"/>
              <a:pathLst>
                <a:path w="405297" h="142402" extrusionOk="0">
                  <a:moveTo>
                    <a:pt x="405297" y="5977"/>
                  </a:moveTo>
                  <a:lnTo>
                    <a:pt x="192198" y="0"/>
                  </a:lnTo>
                  <a:lnTo>
                    <a:pt x="0" y="142402"/>
                  </a:lnTo>
                </a:path>
              </a:pathLst>
            </a:custGeom>
            <a:noFill/>
            <a:ln w="25400" cap="flat" cmpd="sng">
              <a:solidFill>
                <a:srgbClr val="7671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83" name="Google Shape;2533;p84">
              <a:extLst>
                <a:ext uri="{FF2B5EF4-FFF2-40B4-BE49-F238E27FC236}">
                  <a16:creationId xmlns:a16="http://schemas.microsoft.com/office/drawing/2014/main" id="{FEFD181A-4A60-DD9C-2CDC-740F651DE970}"/>
                </a:ext>
              </a:extLst>
            </p:cNvPr>
            <p:cNvGrpSpPr/>
            <p:nvPr/>
          </p:nvGrpSpPr>
          <p:grpSpPr>
            <a:xfrm>
              <a:off x="6033488" y="1895619"/>
              <a:ext cx="137160" cy="134624"/>
              <a:chOff x="6011174" y="1895619"/>
              <a:chExt cx="174688" cy="134624"/>
            </a:xfrm>
          </p:grpSpPr>
          <p:sp>
            <p:nvSpPr>
              <p:cNvPr id="90" name="Google Shape;2534;p84">
                <a:extLst>
                  <a:ext uri="{FF2B5EF4-FFF2-40B4-BE49-F238E27FC236}">
                    <a16:creationId xmlns:a16="http://schemas.microsoft.com/office/drawing/2014/main" id="{187C7D20-A3FB-9F5F-FDF5-DC0611696122}"/>
                  </a:ext>
                </a:extLst>
              </p:cNvPr>
              <p:cNvSpPr/>
              <p:nvPr/>
            </p:nvSpPr>
            <p:spPr>
              <a:xfrm flipH="1">
                <a:off x="6011174" y="1895619"/>
                <a:ext cx="174688" cy="134624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4890E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" name="Google Shape;2535;p84">
                <a:extLst>
                  <a:ext uri="{FF2B5EF4-FFF2-40B4-BE49-F238E27FC236}">
                    <a16:creationId xmlns:a16="http://schemas.microsoft.com/office/drawing/2014/main" id="{C70167B2-B381-7714-9DAE-A509425397BA}"/>
                  </a:ext>
                </a:extLst>
              </p:cNvPr>
              <p:cNvSpPr/>
              <p:nvPr/>
            </p:nvSpPr>
            <p:spPr>
              <a:xfrm flipH="1">
                <a:off x="6029000" y="1909355"/>
                <a:ext cx="139035" cy="107148"/>
              </a:xfrm>
              <a:prstGeom prst="ellipse">
                <a:avLst/>
              </a:prstGeom>
              <a:solidFill>
                <a:srgbClr val="4890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84" name="Google Shape;2536;p84">
              <a:extLst>
                <a:ext uri="{FF2B5EF4-FFF2-40B4-BE49-F238E27FC236}">
                  <a16:creationId xmlns:a16="http://schemas.microsoft.com/office/drawing/2014/main" id="{68AB4CCC-0512-CEDC-026E-948A032D346D}"/>
                </a:ext>
              </a:extLst>
            </p:cNvPr>
            <p:cNvSpPr/>
            <p:nvPr/>
          </p:nvSpPr>
          <p:spPr>
            <a:xfrm flipH="1">
              <a:off x="6427679" y="1539105"/>
              <a:ext cx="5426769" cy="68351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rgbClr val="4890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5" name="Google Shape;2537;p84">
              <a:extLst>
                <a:ext uri="{FF2B5EF4-FFF2-40B4-BE49-F238E27FC236}">
                  <a16:creationId xmlns:a16="http://schemas.microsoft.com/office/drawing/2014/main" id="{18FBBE71-2F4C-8625-E736-55D3A3FD94A8}"/>
                </a:ext>
              </a:extLst>
            </p:cNvPr>
            <p:cNvSpPr/>
            <p:nvPr/>
          </p:nvSpPr>
          <p:spPr>
            <a:xfrm flipH="1">
              <a:off x="7776493" y="1533423"/>
              <a:ext cx="4319769" cy="700562"/>
            </a:xfrm>
            <a:custGeom>
              <a:avLst/>
              <a:gdLst/>
              <a:ahLst/>
              <a:cxnLst/>
              <a:rect l="l" t="t" r="r" b="b"/>
              <a:pathLst>
                <a:path w="4324832" h="909052" extrusionOk="0">
                  <a:moveTo>
                    <a:pt x="0" y="0"/>
                  </a:moveTo>
                  <a:lnTo>
                    <a:pt x="4324832" y="29496"/>
                  </a:lnTo>
                  <a:lnTo>
                    <a:pt x="4324832" y="872181"/>
                  </a:lnTo>
                  <a:lnTo>
                    <a:pt x="0" y="909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86" name="Google Shape;2538;p84">
              <a:extLst>
                <a:ext uri="{FF2B5EF4-FFF2-40B4-BE49-F238E27FC236}">
                  <a16:creationId xmlns:a16="http://schemas.microsoft.com/office/drawing/2014/main" id="{C0240B96-41A6-B82C-36E3-66648AE86A86}"/>
                </a:ext>
              </a:extLst>
            </p:cNvPr>
            <p:cNvGrpSpPr/>
            <p:nvPr/>
          </p:nvGrpSpPr>
          <p:grpSpPr>
            <a:xfrm>
              <a:off x="6561091" y="1738234"/>
              <a:ext cx="274320" cy="270693"/>
              <a:chOff x="6561091" y="1738234"/>
              <a:chExt cx="351252" cy="270693"/>
            </a:xfrm>
          </p:grpSpPr>
          <p:sp>
            <p:nvSpPr>
              <p:cNvPr id="88" name="Google Shape;2539;p84">
                <a:extLst>
                  <a:ext uri="{FF2B5EF4-FFF2-40B4-BE49-F238E27FC236}">
                    <a16:creationId xmlns:a16="http://schemas.microsoft.com/office/drawing/2014/main" id="{913839E5-860C-FA92-E9ED-967C5E6368EF}"/>
                  </a:ext>
                </a:extLst>
              </p:cNvPr>
              <p:cNvSpPr/>
              <p:nvPr/>
            </p:nvSpPr>
            <p:spPr>
              <a:xfrm flipH="1">
                <a:off x="6561091" y="1738234"/>
                <a:ext cx="351252" cy="27069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4890E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" name="Google Shape;2540;p84">
                <a:extLst>
                  <a:ext uri="{FF2B5EF4-FFF2-40B4-BE49-F238E27FC236}">
                    <a16:creationId xmlns:a16="http://schemas.microsoft.com/office/drawing/2014/main" id="{DED5E5D1-8A8C-1A99-0E01-D9C755AA3E89}"/>
                  </a:ext>
                </a:extLst>
              </p:cNvPr>
              <p:cNvSpPr/>
              <p:nvPr/>
            </p:nvSpPr>
            <p:spPr>
              <a:xfrm flipH="1">
                <a:off x="6596935" y="1765858"/>
                <a:ext cx="279564" cy="215446"/>
              </a:xfrm>
              <a:prstGeom prst="ellipse">
                <a:avLst/>
              </a:prstGeom>
              <a:solidFill>
                <a:srgbClr val="4890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87" name="Google Shape;2541;p84">
              <a:extLst>
                <a:ext uri="{FF2B5EF4-FFF2-40B4-BE49-F238E27FC236}">
                  <a16:creationId xmlns:a16="http://schemas.microsoft.com/office/drawing/2014/main" id="{4721495E-4FFB-2E10-9B9B-83406DC61D7C}"/>
                </a:ext>
              </a:extLst>
            </p:cNvPr>
            <p:cNvSpPr txBox="1"/>
            <p:nvPr/>
          </p:nvSpPr>
          <p:spPr>
            <a:xfrm>
              <a:off x="7051261" y="1714447"/>
              <a:ext cx="4307185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Text</a:t>
              </a:r>
              <a:r>
                <a:rPr lang="en-US" sz="16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based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92" name="Google Shape;2542;p84">
            <a:extLst>
              <a:ext uri="{FF2B5EF4-FFF2-40B4-BE49-F238E27FC236}">
                <a16:creationId xmlns:a16="http://schemas.microsoft.com/office/drawing/2014/main" id="{21211B85-F957-4403-5278-23C96E622D52}"/>
              </a:ext>
            </a:extLst>
          </p:cNvPr>
          <p:cNvGrpSpPr/>
          <p:nvPr/>
        </p:nvGrpSpPr>
        <p:grpSpPr>
          <a:xfrm>
            <a:off x="112773" y="2124568"/>
            <a:ext cx="5966435" cy="578977"/>
            <a:chOff x="204213" y="1533423"/>
            <a:chExt cx="5966435" cy="700562"/>
          </a:xfrm>
        </p:grpSpPr>
        <p:sp>
          <p:nvSpPr>
            <p:cNvPr id="93" name="Google Shape;2543;p84">
              <a:extLst>
                <a:ext uri="{FF2B5EF4-FFF2-40B4-BE49-F238E27FC236}">
                  <a16:creationId xmlns:a16="http://schemas.microsoft.com/office/drawing/2014/main" id="{BC20236A-9BF1-84E3-3FCB-E79B9330AB11}"/>
                </a:ext>
              </a:extLst>
            </p:cNvPr>
            <p:cNvSpPr/>
            <p:nvPr/>
          </p:nvSpPr>
          <p:spPr>
            <a:xfrm flipH="1">
              <a:off x="5691654" y="1717490"/>
              <a:ext cx="410322" cy="150408"/>
            </a:xfrm>
            <a:custGeom>
              <a:avLst/>
              <a:gdLst/>
              <a:ahLst/>
              <a:cxnLst/>
              <a:rect l="l" t="t" r="r" b="b"/>
              <a:pathLst>
                <a:path w="410322" h="195170" extrusionOk="0">
                  <a:moveTo>
                    <a:pt x="410322" y="195170"/>
                  </a:moveTo>
                  <a:lnTo>
                    <a:pt x="197223" y="189193"/>
                  </a:lnTo>
                  <a:lnTo>
                    <a:pt x="0" y="0"/>
                  </a:lnTo>
                </a:path>
              </a:pathLst>
            </a:custGeom>
            <a:noFill/>
            <a:ln w="25400" cap="flat" cmpd="sng">
              <a:solidFill>
                <a:srgbClr val="7671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94" name="Google Shape;2544;p84">
              <a:extLst>
                <a:ext uri="{FF2B5EF4-FFF2-40B4-BE49-F238E27FC236}">
                  <a16:creationId xmlns:a16="http://schemas.microsoft.com/office/drawing/2014/main" id="{A8D7B2D3-569D-FB17-86B3-53FBA4BC0ED5}"/>
                </a:ext>
              </a:extLst>
            </p:cNvPr>
            <p:cNvGrpSpPr/>
            <p:nvPr/>
          </p:nvGrpSpPr>
          <p:grpSpPr>
            <a:xfrm>
              <a:off x="6033488" y="1645571"/>
              <a:ext cx="137160" cy="134624"/>
              <a:chOff x="6011716" y="1645571"/>
              <a:chExt cx="174688" cy="134624"/>
            </a:xfrm>
          </p:grpSpPr>
          <p:sp>
            <p:nvSpPr>
              <p:cNvPr id="101" name="Google Shape;2545;p84">
                <a:extLst>
                  <a:ext uri="{FF2B5EF4-FFF2-40B4-BE49-F238E27FC236}">
                    <a16:creationId xmlns:a16="http://schemas.microsoft.com/office/drawing/2014/main" id="{DD862FAE-97CB-234C-ADB9-084C9CB7077C}"/>
                  </a:ext>
                </a:extLst>
              </p:cNvPr>
              <p:cNvSpPr/>
              <p:nvPr/>
            </p:nvSpPr>
            <p:spPr>
              <a:xfrm>
                <a:off x="6011716" y="1645571"/>
                <a:ext cx="174688" cy="134624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F4AB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" name="Google Shape;2546;p84">
                <a:extLst>
                  <a:ext uri="{FF2B5EF4-FFF2-40B4-BE49-F238E27FC236}">
                    <a16:creationId xmlns:a16="http://schemas.microsoft.com/office/drawing/2014/main" id="{B1E1A423-1EB3-BA9D-C2A4-ACD8189C3163}"/>
                  </a:ext>
                </a:extLst>
              </p:cNvPr>
              <p:cNvSpPr/>
              <p:nvPr/>
            </p:nvSpPr>
            <p:spPr>
              <a:xfrm>
                <a:off x="6029543" y="1659309"/>
                <a:ext cx="139035" cy="107148"/>
              </a:xfrm>
              <a:prstGeom prst="ellipse">
                <a:avLst/>
              </a:prstGeom>
              <a:solidFill>
                <a:srgbClr val="F4AB3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95" name="Google Shape;2547;p84">
              <a:extLst>
                <a:ext uri="{FF2B5EF4-FFF2-40B4-BE49-F238E27FC236}">
                  <a16:creationId xmlns:a16="http://schemas.microsoft.com/office/drawing/2014/main" id="{9B65235B-AB73-0611-360C-5885759361CF}"/>
                </a:ext>
              </a:extLst>
            </p:cNvPr>
            <p:cNvSpPr/>
            <p:nvPr/>
          </p:nvSpPr>
          <p:spPr>
            <a:xfrm>
              <a:off x="343130" y="1539105"/>
              <a:ext cx="5426769" cy="68351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rgbClr val="F4A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6" name="Google Shape;2548;p84">
              <a:extLst>
                <a:ext uri="{FF2B5EF4-FFF2-40B4-BE49-F238E27FC236}">
                  <a16:creationId xmlns:a16="http://schemas.microsoft.com/office/drawing/2014/main" id="{A7AF070C-ED1B-466A-5068-E47F2DE87EC7}"/>
                </a:ext>
              </a:extLst>
            </p:cNvPr>
            <p:cNvSpPr/>
            <p:nvPr/>
          </p:nvSpPr>
          <p:spPr>
            <a:xfrm>
              <a:off x="204213" y="1533423"/>
              <a:ext cx="4216872" cy="700562"/>
            </a:xfrm>
            <a:custGeom>
              <a:avLst/>
              <a:gdLst/>
              <a:ahLst/>
              <a:cxnLst/>
              <a:rect l="l" t="t" r="r" b="b"/>
              <a:pathLst>
                <a:path w="4324832" h="909052" extrusionOk="0">
                  <a:moveTo>
                    <a:pt x="0" y="0"/>
                  </a:moveTo>
                  <a:lnTo>
                    <a:pt x="4324832" y="29496"/>
                  </a:lnTo>
                  <a:lnTo>
                    <a:pt x="4324832" y="872181"/>
                  </a:lnTo>
                  <a:lnTo>
                    <a:pt x="0" y="909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97" name="Google Shape;2549;p84">
              <a:extLst>
                <a:ext uri="{FF2B5EF4-FFF2-40B4-BE49-F238E27FC236}">
                  <a16:creationId xmlns:a16="http://schemas.microsoft.com/office/drawing/2014/main" id="{20FBE0B9-B968-1222-AC18-800EED0818AB}"/>
                </a:ext>
              </a:extLst>
            </p:cNvPr>
            <p:cNvGrpSpPr/>
            <p:nvPr/>
          </p:nvGrpSpPr>
          <p:grpSpPr>
            <a:xfrm>
              <a:off x="5285235" y="1738234"/>
              <a:ext cx="274320" cy="270693"/>
              <a:chOff x="5285235" y="1738234"/>
              <a:chExt cx="351252" cy="270693"/>
            </a:xfrm>
          </p:grpSpPr>
          <p:sp>
            <p:nvSpPr>
              <p:cNvPr id="99" name="Google Shape;2550;p84">
                <a:extLst>
                  <a:ext uri="{FF2B5EF4-FFF2-40B4-BE49-F238E27FC236}">
                    <a16:creationId xmlns:a16="http://schemas.microsoft.com/office/drawing/2014/main" id="{F641F364-DA52-BF77-4CBA-486F3E2677E8}"/>
                  </a:ext>
                </a:extLst>
              </p:cNvPr>
              <p:cNvSpPr/>
              <p:nvPr/>
            </p:nvSpPr>
            <p:spPr>
              <a:xfrm>
                <a:off x="5285235" y="1738234"/>
                <a:ext cx="351252" cy="27069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F4AB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" name="Google Shape;2551;p84">
                <a:extLst>
                  <a:ext uri="{FF2B5EF4-FFF2-40B4-BE49-F238E27FC236}">
                    <a16:creationId xmlns:a16="http://schemas.microsoft.com/office/drawing/2014/main" id="{E551CEA6-6585-38AB-CCA6-F52E4CC5BB72}"/>
                  </a:ext>
                </a:extLst>
              </p:cNvPr>
              <p:cNvSpPr/>
              <p:nvPr/>
            </p:nvSpPr>
            <p:spPr>
              <a:xfrm>
                <a:off x="5321080" y="1765858"/>
                <a:ext cx="279564" cy="215446"/>
              </a:xfrm>
              <a:prstGeom prst="ellipse">
                <a:avLst/>
              </a:prstGeom>
              <a:solidFill>
                <a:srgbClr val="F4AB3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98" name="Google Shape;2552;p84">
              <a:extLst>
                <a:ext uri="{FF2B5EF4-FFF2-40B4-BE49-F238E27FC236}">
                  <a16:creationId xmlns:a16="http://schemas.microsoft.com/office/drawing/2014/main" id="{1015C4AB-8FB5-A721-90EC-68183CE6F42F}"/>
                </a:ext>
              </a:extLst>
            </p:cNvPr>
            <p:cNvSpPr txBox="1"/>
            <p:nvPr/>
          </p:nvSpPr>
          <p:spPr>
            <a:xfrm>
              <a:off x="848032" y="1714447"/>
              <a:ext cx="4307185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Numeric</a:t>
              </a:r>
              <a:r>
                <a:rPr lang="en-US" sz="1600"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based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2553;p84">
            <a:extLst>
              <a:ext uri="{FF2B5EF4-FFF2-40B4-BE49-F238E27FC236}">
                <a16:creationId xmlns:a16="http://schemas.microsoft.com/office/drawing/2014/main" id="{3BFABD18-2961-BDB8-A608-4F385797DEF6}"/>
              </a:ext>
            </a:extLst>
          </p:cNvPr>
          <p:cNvGrpSpPr/>
          <p:nvPr/>
        </p:nvGrpSpPr>
        <p:grpSpPr>
          <a:xfrm>
            <a:off x="5942048" y="5828670"/>
            <a:ext cx="6062774" cy="578977"/>
            <a:chOff x="6033488" y="5237525"/>
            <a:chExt cx="6062774" cy="700562"/>
          </a:xfrm>
        </p:grpSpPr>
        <p:sp>
          <p:nvSpPr>
            <p:cNvPr id="104" name="Google Shape;2554;p84">
              <a:extLst>
                <a:ext uri="{FF2B5EF4-FFF2-40B4-BE49-F238E27FC236}">
                  <a16:creationId xmlns:a16="http://schemas.microsoft.com/office/drawing/2014/main" id="{3C29A975-B055-8BED-9C4B-D129A889CF23}"/>
                </a:ext>
              </a:extLst>
            </p:cNvPr>
            <p:cNvSpPr/>
            <p:nvPr/>
          </p:nvSpPr>
          <p:spPr>
            <a:xfrm>
              <a:off x="6100627" y="5567395"/>
              <a:ext cx="405297" cy="109742"/>
            </a:xfrm>
            <a:custGeom>
              <a:avLst/>
              <a:gdLst/>
              <a:ahLst/>
              <a:cxnLst/>
              <a:rect l="l" t="t" r="r" b="b"/>
              <a:pathLst>
                <a:path w="405297" h="142402" extrusionOk="0">
                  <a:moveTo>
                    <a:pt x="405297" y="5977"/>
                  </a:moveTo>
                  <a:lnTo>
                    <a:pt x="192198" y="0"/>
                  </a:lnTo>
                  <a:lnTo>
                    <a:pt x="0" y="142402"/>
                  </a:lnTo>
                </a:path>
              </a:pathLst>
            </a:custGeom>
            <a:noFill/>
            <a:ln w="25400" cap="flat" cmpd="sng">
              <a:solidFill>
                <a:srgbClr val="7671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05" name="Google Shape;2555;p84">
              <a:extLst>
                <a:ext uri="{FF2B5EF4-FFF2-40B4-BE49-F238E27FC236}">
                  <a16:creationId xmlns:a16="http://schemas.microsoft.com/office/drawing/2014/main" id="{DF17F2EA-746F-6DD6-8D73-A0703A62D430}"/>
                </a:ext>
              </a:extLst>
            </p:cNvPr>
            <p:cNvGrpSpPr/>
            <p:nvPr/>
          </p:nvGrpSpPr>
          <p:grpSpPr>
            <a:xfrm>
              <a:off x="6033488" y="5599721"/>
              <a:ext cx="137160" cy="134624"/>
              <a:chOff x="6011174" y="5599721"/>
              <a:chExt cx="174688" cy="134624"/>
            </a:xfrm>
          </p:grpSpPr>
          <p:sp>
            <p:nvSpPr>
              <p:cNvPr id="112" name="Google Shape;2556;p84">
                <a:extLst>
                  <a:ext uri="{FF2B5EF4-FFF2-40B4-BE49-F238E27FC236}">
                    <a16:creationId xmlns:a16="http://schemas.microsoft.com/office/drawing/2014/main" id="{D533FB4E-E586-DB24-220C-277361B7D9C9}"/>
                  </a:ext>
                </a:extLst>
              </p:cNvPr>
              <p:cNvSpPr/>
              <p:nvPr/>
            </p:nvSpPr>
            <p:spPr>
              <a:xfrm flipH="1">
                <a:off x="6011174" y="5599721"/>
                <a:ext cx="174688" cy="134624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4890E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" name="Google Shape;2557;p84">
                <a:extLst>
                  <a:ext uri="{FF2B5EF4-FFF2-40B4-BE49-F238E27FC236}">
                    <a16:creationId xmlns:a16="http://schemas.microsoft.com/office/drawing/2014/main" id="{4124B604-2E14-B9C4-4937-C951710A6A5F}"/>
                  </a:ext>
                </a:extLst>
              </p:cNvPr>
              <p:cNvSpPr/>
              <p:nvPr/>
            </p:nvSpPr>
            <p:spPr>
              <a:xfrm flipH="1">
                <a:off x="6029000" y="5613457"/>
                <a:ext cx="139035" cy="107148"/>
              </a:xfrm>
              <a:prstGeom prst="ellipse">
                <a:avLst/>
              </a:prstGeom>
              <a:solidFill>
                <a:srgbClr val="4890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06" name="Google Shape;2558;p84">
              <a:extLst>
                <a:ext uri="{FF2B5EF4-FFF2-40B4-BE49-F238E27FC236}">
                  <a16:creationId xmlns:a16="http://schemas.microsoft.com/office/drawing/2014/main" id="{B7AB8C8D-EDBB-C31C-6CCD-B565E5540E2A}"/>
                </a:ext>
              </a:extLst>
            </p:cNvPr>
            <p:cNvSpPr/>
            <p:nvPr/>
          </p:nvSpPr>
          <p:spPr>
            <a:xfrm flipH="1">
              <a:off x="6427679" y="5243207"/>
              <a:ext cx="5426769" cy="68351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rgbClr val="4890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7" name="Google Shape;2559;p84">
              <a:extLst>
                <a:ext uri="{FF2B5EF4-FFF2-40B4-BE49-F238E27FC236}">
                  <a16:creationId xmlns:a16="http://schemas.microsoft.com/office/drawing/2014/main" id="{B9BE925C-5F59-7ED0-95CE-2535A7CFB203}"/>
                </a:ext>
              </a:extLst>
            </p:cNvPr>
            <p:cNvSpPr/>
            <p:nvPr/>
          </p:nvSpPr>
          <p:spPr>
            <a:xfrm flipH="1">
              <a:off x="7776493" y="5237525"/>
              <a:ext cx="4319769" cy="700562"/>
            </a:xfrm>
            <a:custGeom>
              <a:avLst/>
              <a:gdLst/>
              <a:ahLst/>
              <a:cxnLst/>
              <a:rect l="l" t="t" r="r" b="b"/>
              <a:pathLst>
                <a:path w="4324832" h="909052" extrusionOk="0">
                  <a:moveTo>
                    <a:pt x="0" y="0"/>
                  </a:moveTo>
                  <a:lnTo>
                    <a:pt x="4324832" y="29496"/>
                  </a:lnTo>
                  <a:lnTo>
                    <a:pt x="4324832" y="872181"/>
                  </a:lnTo>
                  <a:lnTo>
                    <a:pt x="0" y="909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08" name="Google Shape;2560;p84">
              <a:extLst>
                <a:ext uri="{FF2B5EF4-FFF2-40B4-BE49-F238E27FC236}">
                  <a16:creationId xmlns:a16="http://schemas.microsoft.com/office/drawing/2014/main" id="{C66057C3-6ECC-B108-D085-04CA9BF57066}"/>
                </a:ext>
              </a:extLst>
            </p:cNvPr>
            <p:cNvGrpSpPr/>
            <p:nvPr/>
          </p:nvGrpSpPr>
          <p:grpSpPr>
            <a:xfrm>
              <a:off x="6561091" y="5442336"/>
              <a:ext cx="274320" cy="270693"/>
              <a:chOff x="6561091" y="5442336"/>
              <a:chExt cx="351252" cy="270693"/>
            </a:xfrm>
          </p:grpSpPr>
          <p:sp>
            <p:nvSpPr>
              <p:cNvPr id="110" name="Google Shape;2561;p84">
                <a:extLst>
                  <a:ext uri="{FF2B5EF4-FFF2-40B4-BE49-F238E27FC236}">
                    <a16:creationId xmlns:a16="http://schemas.microsoft.com/office/drawing/2014/main" id="{74FD341A-2FF6-D47F-9AF4-7BC06E63EC00}"/>
                  </a:ext>
                </a:extLst>
              </p:cNvPr>
              <p:cNvSpPr/>
              <p:nvPr/>
            </p:nvSpPr>
            <p:spPr>
              <a:xfrm flipH="1">
                <a:off x="6561091" y="5442336"/>
                <a:ext cx="351252" cy="27069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4890E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" name="Google Shape;2562;p84">
                <a:extLst>
                  <a:ext uri="{FF2B5EF4-FFF2-40B4-BE49-F238E27FC236}">
                    <a16:creationId xmlns:a16="http://schemas.microsoft.com/office/drawing/2014/main" id="{D664C896-CEAD-BE8B-D293-0FF99B3315EF}"/>
                  </a:ext>
                </a:extLst>
              </p:cNvPr>
              <p:cNvSpPr/>
              <p:nvPr/>
            </p:nvSpPr>
            <p:spPr>
              <a:xfrm flipH="1">
                <a:off x="6596935" y="5469960"/>
                <a:ext cx="279564" cy="215446"/>
              </a:xfrm>
              <a:prstGeom prst="ellipse">
                <a:avLst/>
              </a:prstGeom>
              <a:solidFill>
                <a:srgbClr val="4890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09" name="Google Shape;2563;p84">
              <a:extLst>
                <a:ext uri="{FF2B5EF4-FFF2-40B4-BE49-F238E27FC236}">
                  <a16:creationId xmlns:a16="http://schemas.microsoft.com/office/drawing/2014/main" id="{6697782B-4C38-07B4-0FC2-64534418FF1F}"/>
                </a:ext>
              </a:extLst>
            </p:cNvPr>
            <p:cNvSpPr txBox="1"/>
            <p:nvPr/>
          </p:nvSpPr>
          <p:spPr>
            <a:xfrm>
              <a:off x="7051261" y="5417080"/>
              <a:ext cx="4307185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Forensic analysis 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14" name="Google Shape;2564;p84">
            <a:extLst>
              <a:ext uri="{FF2B5EF4-FFF2-40B4-BE49-F238E27FC236}">
                <a16:creationId xmlns:a16="http://schemas.microsoft.com/office/drawing/2014/main" id="{939E41BE-669C-113F-2349-A5FE33513B03}"/>
              </a:ext>
            </a:extLst>
          </p:cNvPr>
          <p:cNvGrpSpPr/>
          <p:nvPr/>
        </p:nvGrpSpPr>
        <p:grpSpPr>
          <a:xfrm>
            <a:off x="112773" y="5828670"/>
            <a:ext cx="5966435" cy="578977"/>
            <a:chOff x="204213" y="5237525"/>
            <a:chExt cx="5966435" cy="700562"/>
          </a:xfrm>
        </p:grpSpPr>
        <p:sp>
          <p:nvSpPr>
            <p:cNvPr id="115" name="Google Shape;2565;p84">
              <a:extLst>
                <a:ext uri="{FF2B5EF4-FFF2-40B4-BE49-F238E27FC236}">
                  <a16:creationId xmlns:a16="http://schemas.microsoft.com/office/drawing/2014/main" id="{CCDCDDAD-085E-643B-B810-0599BE745C72}"/>
                </a:ext>
              </a:extLst>
            </p:cNvPr>
            <p:cNvSpPr/>
            <p:nvPr/>
          </p:nvSpPr>
          <p:spPr>
            <a:xfrm flipH="1">
              <a:off x="5691654" y="5421592"/>
              <a:ext cx="410322" cy="150408"/>
            </a:xfrm>
            <a:custGeom>
              <a:avLst/>
              <a:gdLst/>
              <a:ahLst/>
              <a:cxnLst/>
              <a:rect l="l" t="t" r="r" b="b"/>
              <a:pathLst>
                <a:path w="410322" h="195170" extrusionOk="0">
                  <a:moveTo>
                    <a:pt x="410322" y="195170"/>
                  </a:moveTo>
                  <a:lnTo>
                    <a:pt x="197223" y="189193"/>
                  </a:lnTo>
                  <a:lnTo>
                    <a:pt x="0" y="0"/>
                  </a:lnTo>
                </a:path>
              </a:pathLst>
            </a:custGeom>
            <a:noFill/>
            <a:ln w="25400" cap="flat" cmpd="sng">
              <a:solidFill>
                <a:srgbClr val="76717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16" name="Google Shape;2566;p84">
              <a:extLst>
                <a:ext uri="{FF2B5EF4-FFF2-40B4-BE49-F238E27FC236}">
                  <a16:creationId xmlns:a16="http://schemas.microsoft.com/office/drawing/2014/main" id="{12A76E7B-2F01-9D6F-D1E7-B01DECD985DE}"/>
                </a:ext>
              </a:extLst>
            </p:cNvPr>
            <p:cNvGrpSpPr/>
            <p:nvPr/>
          </p:nvGrpSpPr>
          <p:grpSpPr>
            <a:xfrm>
              <a:off x="6033488" y="5349673"/>
              <a:ext cx="137160" cy="134624"/>
              <a:chOff x="6011716" y="5349673"/>
              <a:chExt cx="174688" cy="134624"/>
            </a:xfrm>
          </p:grpSpPr>
          <p:sp>
            <p:nvSpPr>
              <p:cNvPr id="123" name="Google Shape;2567;p84">
                <a:extLst>
                  <a:ext uri="{FF2B5EF4-FFF2-40B4-BE49-F238E27FC236}">
                    <a16:creationId xmlns:a16="http://schemas.microsoft.com/office/drawing/2014/main" id="{30699461-DDDD-2DFF-1AC4-E7A7BC12FB13}"/>
                  </a:ext>
                </a:extLst>
              </p:cNvPr>
              <p:cNvSpPr/>
              <p:nvPr/>
            </p:nvSpPr>
            <p:spPr>
              <a:xfrm>
                <a:off x="6011716" y="5349673"/>
                <a:ext cx="174688" cy="134624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F4AB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" name="Google Shape;2568;p84">
                <a:extLst>
                  <a:ext uri="{FF2B5EF4-FFF2-40B4-BE49-F238E27FC236}">
                    <a16:creationId xmlns:a16="http://schemas.microsoft.com/office/drawing/2014/main" id="{463F88E0-017D-286D-F432-A4E822AD2405}"/>
                  </a:ext>
                </a:extLst>
              </p:cNvPr>
              <p:cNvSpPr/>
              <p:nvPr/>
            </p:nvSpPr>
            <p:spPr>
              <a:xfrm>
                <a:off x="6029543" y="5363411"/>
                <a:ext cx="139035" cy="107148"/>
              </a:xfrm>
              <a:prstGeom prst="ellipse">
                <a:avLst/>
              </a:prstGeom>
              <a:solidFill>
                <a:srgbClr val="F4AB3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17" name="Google Shape;2569;p84">
              <a:extLst>
                <a:ext uri="{FF2B5EF4-FFF2-40B4-BE49-F238E27FC236}">
                  <a16:creationId xmlns:a16="http://schemas.microsoft.com/office/drawing/2014/main" id="{12904B3C-DEA5-ADF3-0F6F-6C455ED5BBD5}"/>
                </a:ext>
              </a:extLst>
            </p:cNvPr>
            <p:cNvSpPr/>
            <p:nvPr/>
          </p:nvSpPr>
          <p:spPr>
            <a:xfrm>
              <a:off x="343130" y="5243207"/>
              <a:ext cx="5426769" cy="68351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rgbClr val="F4A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8" name="Google Shape;2570;p84">
              <a:extLst>
                <a:ext uri="{FF2B5EF4-FFF2-40B4-BE49-F238E27FC236}">
                  <a16:creationId xmlns:a16="http://schemas.microsoft.com/office/drawing/2014/main" id="{EBAE63AC-381B-011F-EA43-A2EE069D14E5}"/>
                </a:ext>
              </a:extLst>
            </p:cNvPr>
            <p:cNvSpPr/>
            <p:nvPr/>
          </p:nvSpPr>
          <p:spPr>
            <a:xfrm>
              <a:off x="204213" y="5237525"/>
              <a:ext cx="4216872" cy="700562"/>
            </a:xfrm>
            <a:custGeom>
              <a:avLst/>
              <a:gdLst/>
              <a:ahLst/>
              <a:cxnLst/>
              <a:rect l="l" t="t" r="r" b="b"/>
              <a:pathLst>
                <a:path w="4324832" h="909052" extrusionOk="0">
                  <a:moveTo>
                    <a:pt x="0" y="0"/>
                  </a:moveTo>
                  <a:lnTo>
                    <a:pt x="4324832" y="29496"/>
                  </a:lnTo>
                  <a:lnTo>
                    <a:pt x="4324832" y="872181"/>
                  </a:lnTo>
                  <a:lnTo>
                    <a:pt x="0" y="909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19" name="Google Shape;2571;p84">
              <a:extLst>
                <a:ext uri="{FF2B5EF4-FFF2-40B4-BE49-F238E27FC236}">
                  <a16:creationId xmlns:a16="http://schemas.microsoft.com/office/drawing/2014/main" id="{EE83588A-994C-DCFD-F912-80BAADEDC2A3}"/>
                </a:ext>
              </a:extLst>
            </p:cNvPr>
            <p:cNvGrpSpPr/>
            <p:nvPr/>
          </p:nvGrpSpPr>
          <p:grpSpPr>
            <a:xfrm>
              <a:off x="5285235" y="5442336"/>
              <a:ext cx="274320" cy="270693"/>
              <a:chOff x="5285235" y="5442336"/>
              <a:chExt cx="351252" cy="270693"/>
            </a:xfrm>
          </p:grpSpPr>
          <p:sp>
            <p:nvSpPr>
              <p:cNvPr id="121" name="Google Shape;2572;p84">
                <a:extLst>
                  <a:ext uri="{FF2B5EF4-FFF2-40B4-BE49-F238E27FC236}">
                    <a16:creationId xmlns:a16="http://schemas.microsoft.com/office/drawing/2014/main" id="{6E946ED7-0BA9-7EFD-471D-5F3121CF7210}"/>
                  </a:ext>
                </a:extLst>
              </p:cNvPr>
              <p:cNvSpPr/>
              <p:nvPr/>
            </p:nvSpPr>
            <p:spPr>
              <a:xfrm>
                <a:off x="5285235" y="5442336"/>
                <a:ext cx="351252" cy="27069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F4AB3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" name="Google Shape;2573;p84">
                <a:extLst>
                  <a:ext uri="{FF2B5EF4-FFF2-40B4-BE49-F238E27FC236}">
                    <a16:creationId xmlns:a16="http://schemas.microsoft.com/office/drawing/2014/main" id="{7558CD60-8931-F11D-DCF3-D7DA3AAA382A}"/>
                  </a:ext>
                </a:extLst>
              </p:cNvPr>
              <p:cNvSpPr/>
              <p:nvPr/>
            </p:nvSpPr>
            <p:spPr>
              <a:xfrm>
                <a:off x="5321080" y="5469960"/>
                <a:ext cx="279564" cy="215446"/>
              </a:xfrm>
              <a:prstGeom prst="ellipse">
                <a:avLst/>
              </a:prstGeom>
              <a:solidFill>
                <a:srgbClr val="F4AB3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20" name="Google Shape;2574;p84">
              <a:extLst>
                <a:ext uri="{FF2B5EF4-FFF2-40B4-BE49-F238E27FC236}">
                  <a16:creationId xmlns:a16="http://schemas.microsoft.com/office/drawing/2014/main" id="{144BFE95-054B-5D76-F9E5-E68B31E0EF7A}"/>
                </a:ext>
              </a:extLst>
            </p:cNvPr>
            <p:cNvSpPr txBox="1"/>
            <p:nvPr/>
          </p:nvSpPr>
          <p:spPr>
            <a:xfrm>
              <a:off x="848032" y="5417080"/>
              <a:ext cx="4307185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Anomaly detection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8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2580;p85">
            <a:extLst>
              <a:ext uri="{FF2B5EF4-FFF2-40B4-BE49-F238E27FC236}">
                <a16:creationId xmlns:a16="http://schemas.microsoft.com/office/drawing/2014/main" id="{FD5A7699-AFD9-54C1-7473-F28456DFC760}"/>
              </a:ext>
            </a:extLst>
          </p:cNvPr>
          <p:cNvGrpSpPr/>
          <p:nvPr/>
        </p:nvGrpSpPr>
        <p:grpSpPr>
          <a:xfrm>
            <a:off x="2640563" y="5610338"/>
            <a:ext cx="6910875" cy="1134001"/>
            <a:chOff x="6389225" y="1006997"/>
            <a:chExt cx="4726281" cy="775532"/>
          </a:xfrm>
        </p:grpSpPr>
        <p:sp>
          <p:nvSpPr>
            <p:cNvPr id="10" name="Google Shape;2581;p85">
              <a:extLst>
                <a:ext uri="{FF2B5EF4-FFF2-40B4-BE49-F238E27FC236}">
                  <a16:creationId xmlns:a16="http://schemas.microsoft.com/office/drawing/2014/main" id="{2AFE7F9E-E0FC-A840-FA2F-E01719E0673B}"/>
                </a:ext>
              </a:extLst>
            </p:cNvPr>
            <p:cNvSpPr/>
            <p:nvPr/>
          </p:nvSpPr>
          <p:spPr>
            <a:xfrm>
              <a:off x="6389225" y="1006997"/>
              <a:ext cx="660817" cy="775532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12270" y="4685"/>
                    <a:pt x="244233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582;p85">
              <a:extLst>
                <a:ext uri="{FF2B5EF4-FFF2-40B4-BE49-F238E27FC236}">
                  <a16:creationId xmlns:a16="http://schemas.microsoft.com/office/drawing/2014/main" id="{FB1680C3-F43C-D71D-CC42-00EEE2B2689B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583;p85">
              <a:extLst>
                <a:ext uri="{FF2B5EF4-FFF2-40B4-BE49-F238E27FC236}">
                  <a16:creationId xmlns:a16="http://schemas.microsoft.com/office/drawing/2014/main" id="{46F0AF36-6880-CF67-7DCA-2B99C90C0198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07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2584;p85">
              <a:extLst>
                <a:ext uri="{FF2B5EF4-FFF2-40B4-BE49-F238E27FC236}">
                  <a16:creationId xmlns:a16="http://schemas.microsoft.com/office/drawing/2014/main" id="{E3BC9008-5CEF-4B11-BE40-A255F7E3203F}"/>
                </a:ext>
              </a:extLst>
            </p:cNvPr>
            <p:cNvSpPr txBox="1"/>
            <p:nvPr/>
          </p:nvSpPr>
          <p:spPr>
            <a:xfrm>
              <a:off x="7100477" y="1161430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Infrastructure restructuring and server-less technologies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" name="Google Shape;2585;p85">
            <a:extLst>
              <a:ext uri="{FF2B5EF4-FFF2-40B4-BE49-F238E27FC236}">
                <a16:creationId xmlns:a16="http://schemas.microsoft.com/office/drawing/2014/main" id="{6279105D-12A0-F5BA-CE3F-74590B4F4860}"/>
              </a:ext>
            </a:extLst>
          </p:cNvPr>
          <p:cNvGrpSpPr/>
          <p:nvPr/>
        </p:nvGrpSpPr>
        <p:grpSpPr>
          <a:xfrm>
            <a:off x="2640563" y="4303521"/>
            <a:ext cx="6910875" cy="1134001"/>
            <a:chOff x="6389225" y="1006997"/>
            <a:chExt cx="4726281" cy="775532"/>
          </a:xfrm>
        </p:grpSpPr>
        <p:sp>
          <p:nvSpPr>
            <p:cNvPr id="15" name="Google Shape;2586;p85">
              <a:extLst>
                <a:ext uri="{FF2B5EF4-FFF2-40B4-BE49-F238E27FC236}">
                  <a16:creationId xmlns:a16="http://schemas.microsoft.com/office/drawing/2014/main" id="{E7AFDE41-9AA5-3C0F-6CA2-ECF157E64FBD}"/>
                </a:ext>
              </a:extLst>
            </p:cNvPr>
            <p:cNvSpPr/>
            <p:nvPr/>
          </p:nvSpPr>
          <p:spPr>
            <a:xfrm>
              <a:off x="6389225" y="1006997"/>
              <a:ext cx="660817" cy="775532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00618" y="3056"/>
                    <a:pt x="232581" y="3056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587;p85">
              <a:extLst>
                <a:ext uri="{FF2B5EF4-FFF2-40B4-BE49-F238E27FC236}">
                  <a16:creationId xmlns:a16="http://schemas.microsoft.com/office/drawing/2014/main" id="{3B9CB973-12A7-29C5-0C54-22E48A8F5337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588;p85">
              <a:extLst>
                <a:ext uri="{FF2B5EF4-FFF2-40B4-BE49-F238E27FC236}">
                  <a16:creationId xmlns:a16="http://schemas.microsoft.com/office/drawing/2014/main" id="{1063C8E2-103E-C94F-D3AF-A8703C8592CF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06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2589;p85">
              <a:extLst>
                <a:ext uri="{FF2B5EF4-FFF2-40B4-BE49-F238E27FC236}">
                  <a16:creationId xmlns:a16="http://schemas.microsoft.com/office/drawing/2014/main" id="{79E5C62F-036A-D500-6806-5DFD6E6D84C8}"/>
                </a:ext>
              </a:extLst>
            </p:cNvPr>
            <p:cNvSpPr txBox="1"/>
            <p:nvPr/>
          </p:nvSpPr>
          <p:spPr>
            <a:xfrm>
              <a:off x="7100477" y="1161430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Ensure high availability and scalability using cloud automation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2590;p85">
            <a:extLst>
              <a:ext uri="{FF2B5EF4-FFF2-40B4-BE49-F238E27FC236}">
                <a16:creationId xmlns:a16="http://schemas.microsoft.com/office/drawing/2014/main" id="{444E5CED-1475-3207-91D0-2291FA1AC47F}"/>
              </a:ext>
            </a:extLst>
          </p:cNvPr>
          <p:cNvGrpSpPr/>
          <p:nvPr/>
        </p:nvGrpSpPr>
        <p:grpSpPr>
          <a:xfrm>
            <a:off x="2640418" y="5610314"/>
            <a:ext cx="11886230" cy="1133983"/>
            <a:chOff x="6389225" y="1006997"/>
            <a:chExt cx="8129004" cy="775532"/>
          </a:xfrm>
        </p:grpSpPr>
        <p:sp>
          <p:nvSpPr>
            <p:cNvPr id="20" name="Google Shape;2591;p85">
              <a:extLst>
                <a:ext uri="{FF2B5EF4-FFF2-40B4-BE49-F238E27FC236}">
                  <a16:creationId xmlns:a16="http://schemas.microsoft.com/office/drawing/2014/main" id="{2E86E2AE-7D72-9A11-432D-F9CEFB29645D}"/>
                </a:ext>
              </a:extLst>
            </p:cNvPr>
            <p:cNvSpPr/>
            <p:nvPr/>
          </p:nvSpPr>
          <p:spPr>
            <a:xfrm>
              <a:off x="6389225" y="1006997"/>
              <a:ext cx="660817" cy="775532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12270" y="4685"/>
                    <a:pt x="244233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23AE7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592;p85">
              <a:extLst>
                <a:ext uri="{FF2B5EF4-FFF2-40B4-BE49-F238E27FC236}">
                  <a16:creationId xmlns:a16="http://schemas.microsoft.com/office/drawing/2014/main" id="{E7C10F5F-DF89-46EF-1680-C42BA9445222}"/>
                </a:ext>
              </a:extLst>
            </p:cNvPr>
            <p:cNvSpPr/>
            <p:nvPr/>
          </p:nvSpPr>
          <p:spPr>
            <a:xfrm>
              <a:off x="6389362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593;p85">
              <a:extLst>
                <a:ext uri="{FF2B5EF4-FFF2-40B4-BE49-F238E27FC236}">
                  <a16:creationId xmlns:a16="http://schemas.microsoft.com/office/drawing/2014/main" id="{2AC45FB1-1667-4A78-DC1F-5A17FA408A06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04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2594;p85">
              <a:extLst>
                <a:ext uri="{FF2B5EF4-FFF2-40B4-BE49-F238E27FC236}">
                  <a16:creationId xmlns:a16="http://schemas.microsoft.com/office/drawing/2014/main" id="{91FABD7F-90C5-E73E-6F80-6B620DD01964}"/>
                </a:ext>
              </a:extLst>
            </p:cNvPr>
            <p:cNvSpPr txBox="1"/>
            <p:nvPr/>
          </p:nvSpPr>
          <p:spPr>
            <a:xfrm>
              <a:off x="10607729" y="1219389"/>
              <a:ext cx="39105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2595;p85">
            <a:extLst>
              <a:ext uri="{FF2B5EF4-FFF2-40B4-BE49-F238E27FC236}">
                <a16:creationId xmlns:a16="http://schemas.microsoft.com/office/drawing/2014/main" id="{90F3FB66-E1AC-0CD0-0687-DE42DD7F084A}"/>
              </a:ext>
            </a:extLst>
          </p:cNvPr>
          <p:cNvGrpSpPr/>
          <p:nvPr/>
        </p:nvGrpSpPr>
        <p:grpSpPr>
          <a:xfrm>
            <a:off x="2640563" y="4303521"/>
            <a:ext cx="6910875" cy="1134001"/>
            <a:chOff x="6389225" y="1006997"/>
            <a:chExt cx="4726281" cy="775532"/>
          </a:xfrm>
        </p:grpSpPr>
        <p:sp>
          <p:nvSpPr>
            <p:cNvPr id="25" name="Google Shape;2596;p85">
              <a:extLst>
                <a:ext uri="{FF2B5EF4-FFF2-40B4-BE49-F238E27FC236}">
                  <a16:creationId xmlns:a16="http://schemas.microsoft.com/office/drawing/2014/main" id="{BBF32915-9C74-539E-362D-9E6C371C53CC}"/>
                </a:ext>
              </a:extLst>
            </p:cNvPr>
            <p:cNvSpPr/>
            <p:nvPr/>
          </p:nvSpPr>
          <p:spPr>
            <a:xfrm>
              <a:off x="6389225" y="1006997"/>
              <a:ext cx="660817" cy="775532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00618" y="3056"/>
                    <a:pt x="232581" y="3056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597;p85">
              <a:extLst>
                <a:ext uri="{FF2B5EF4-FFF2-40B4-BE49-F238E27FC236}">
                  <a16:creationId xmlns:a16="http://schemas.microsoft.com/office/drawing/2014/main" id="{4599DDFD-FED7-63D0-4C9E-54BE24CE49A0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598;p85">
              <a:extLst>
                <a:ext uri="{FF2B5EF4-FFF2-40B4-BE49-F238E27FC236}">
                  <a16:creationId xmlns:a16="http://schemas.microsoft.com/office/drawing/2014/main" id="{06C8BD7A-9C90-09B9-AC33-3802FD1B85D3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03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" name="Google Shape;2599;p85">
              <a:extLst>
                <a:ext uri="{FF2B5EF4-FFF2-40B4-BE49-F238E27FC236}">
                  <a16:creationId xmlns:a16="http://schemas.microsoft.com/office/drawing/2014/main" id="{D6988193-459B-D6A8-730A-97530968C85A}"/>
                </a:ext>
              </a:extLst>
            </p:cNvPr>
            <p:cNvSpPr txBox="1"/>
            <p:nvPr/>
          </p:nvSpPr>
          <p:spPr>
            <a:xfrm>
              <a:off x="7127563" y="1160980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" name="Google Shape;2600;p85">
            <a:extLst>
              <a:ext uri="{FF2B5EF4-FFF2-40B4-BE49-F238E27FC236}">
                <a16:creationId xmlns:a16="http://schemas.microsoft.com/office/drawing/2014/main" id="{EF3C379F-2617-42EF-703F-CB4F42C553E0}"/>
              </a:ext>
            </a:extLst>
          </p:cNvPr>
          <p:cNvGrpSpPr/>
          <p:nvPr/>
        </p:nvGrpSpPr>
        <p:grpSpPr>
          <a:xfrm>
            <a:off x="2640418" y="2915729"/>
            <a:ext cx="6910968" cy="1214934"/>
            <a:chOff x="6389225" y="951635"/>
            <a:chExt cx="4726418" cy="830895"/>
          </a:xfrm>
        </p:grpSpPr>
        <p:sp>
          <p:nvSpPr>
            <p:cNvPr id="30" name="Google Shape;2601;p85">
              <a:extLst>
                <a:ext uri="{FF2B5EF4-FFF2-40B4-BE49-F238E27FC236}">
                  <a16:creationId xmlns:a16="http://schemas.microsoft.com/office/drawing/2014/main" id="{BAC8E301-6B74-622B-9B67-1FA67388EE95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Modernise the infrastructure from the monolithic layer to microservices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2602;p85">
              <a:extLst>
                <a:ext uri="{FF2B5EF4-FFF2-40B4-BE49-F238E27FC236}">
                  <a16:creationId xmlns:a16="http://schemas.microsoft.com/office/drawing/2014/main" id="{636BFB85-CCFE-820B-5D95-F560FE604BA2}"/>
                </a:ext>
              </a:extLst>
            </p:cNvPr>
            <p:cNvSpPr/>
            <p:nvPr/>
          </p:nvSpPr>
          <p:spPr>
            <a:xfrm>
              <a:off x="6389225" y="1006998"/>
              <a:ext cx="660817" cy="775532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12270" y="3057"/>
                    <a:pt x="244233" y="3057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603;p85">
              <a:extLst>
                <a:ext uri="{FF2B5EF4-FFF2-40B4-BE49-F238E27FC236}">
                  <a16:creationId xmlns:a16="http://schemas.microsoft.com/office/drawing/2014/main" id="{8E49F6EE-2367-A52E-FA0E-E09A183FF343}"/>
                </a:ext>
              </a:extLst>
            </p:cNvPr>
            <p:cNvSpPr/>
            <p:nvPr/>
          </p:nvSpPr>
          <p:spPr>
            <a:xfrm>
              <a:off x="6389362" y="951635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604;p85">
              <a:extLst>
                <a:ext uri="{FF2B5EF4-FFF2-40B4-BE49-F238E27FC236}">
                  <a16:creationId xmlns:a16="http://schemas.microsoft.com/office/drawing/2014/main" id="{CC05CC0E-1CDC-B6E9-D464-B2D74315748C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05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4" name="Google Shape;2605;p85">
            <a:extLst>
              <a:ext uri="{FF2B5EF4-FFF2-40B4-BE49-F238E27FC236}">
                <a16:creationId xmlns:a16="http://schemas.microsoft.com/office/drawing/2014/main" id="{D17E50A4-D775-DBDF-2290-BC1F0BF7ADD2}"/>
              </a:ext>
            </a:extLst>
          </p:cNvPr>
          <p:cNvSpPr txBox="1"/>
          <p:nvPr/>
        </p:nvSpPr>
        <p:spPr>
          <a:xfrm>
            <a:off x="685602" y="976000"/>
            <a:ext cx="10820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DEVOPS: ROLES AND RESPONSIBILITIES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2606;p85">
            <a:extLst>
              <a:ext uri="{FF2B5EF4-FFF2-40B4-BE49-F238E27FC236}">
                <a16:creationId xmlns:a16="http://schemas.microsoft.com/office/drawing/2014/main" id="{AEFDC365-9606-7B18-7859-7C8185B3ED8A}"/>
              </a:ext>
            </a:extLst>
          </p:cNvPr>
          <p:cNvGrpSpPr/>
          <p:nvPr/>
        </p:nvGrpSpPr>
        <p:grpSpPr>
          <a:xfrm>
            <a:off x="2640418" y="1689861"/>
            <a:ext cx="6910768" cy="1133981"/>
            <a:chOff x="6389225" y="1006997"/>
            <a:chExt cx="4726281" cy="775531"/>
          </a:xfrm>
        </p:grpSpPr>
        <p:sp>
          <p:nvSpPr>
            <p:cNvPr id="36" name="Google Shape;2607;p85">
              <a:extLst>
                <a:ext uri="{FF2B5EF4-FFF2-40B4-BE49-F238E27FC236}">
                  <a16:creationId xmlns:a16="http://schemas.microsoft.com/office/drawing/2014/main" id="{FEB75AE1-75D5-F4C4-5285-D630F8BAF37B}"/>
                </a:ext>
              </a:extLst>
            </p:cNvPr>
            <p:cNvSpPr/>
            <p:nvPr/>
          </p:nvSpPr>
          <p:spPr>
            <a:xfrm>
              <a:off x="6389225" y="1006997"/>
              <a:ext cx="660817" cy="775531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177331" y="4685"/>
                    <a:pt x="209294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F4AB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2608;p85">
              <a:extLst>
                <a:ext uri="{FF2B5EF4-FFF2-40B4-BE49-F238E27FC236}">
                  <a16:creationId xmlns:a16="http://schemas.microsoft.com/office/drawing/2014/main" id="{FB783844-F6D1-ED5C-E7F6-30020C39D2F3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2609;p85">
              <a:extLst>
                <a:ext uri="{FF2B5EF4-FFF2-40B4-BE49-F238E27FC236}">
                  <a16:creationId xmlns:a16="http://schemas.microsoft.com/office/drawing/2014/main" id="{80ABAC73-617E-8D84-4577-F16B828120ED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01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" name="Google Shape;2610;p85">
              <a:extLst>
                <a:ext uri="{FF2B5EF4-FFF2-40B4-BE49-F238E27FC236}">
                  <a16:creationId xmlns:a16="http://schemas.microsoft.com/office/drawing/2014/main" id="{0387406B-FA0B-C68A-9CA0-94FBB369CABB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Responsible for end</a:t>
              </a:r>
              <a:r>
                <a:rPr lang="en-US" sz="2000" b="1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to</a:t>
              </a:r>
              <a:r>
                <a:rPr lang="en-US" sz="2000" b="1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-</a:t>
              </a: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end reliability and the up time of application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" name="Google Shape;2611;p85">
            <a:extLst>
              <a:ext uri="{FF2B5EF4-FFF2-40B4-BE49-F238E27FC236}">
                <a16:creationId xmlns:a16="http://schemas.microsoft.com/office/drawing/2014/main" id="{2B241202-46A5-9429-E5D5-C748A10DFC97}"/>
              </a:ext>
            </a:extLst>
          </p:cNvPr>
          <p:cNvGrpSpPr/>
          <p:nvPr/>
        </p:nvGrpSpPr>
        <p:grpSpPr>
          <a:xfrm>
            <a:off x="2640418" y="1146685"/>
            <a:ext cx="14628971" cy="2911374"/>
            <a:chOff x="2869460" y="1161426"/>
            <a:chExt cx="10004767" cy="1991092"/>
          </a:xfrm>
        </p:grpSpPr>
        <p:sp>
          <p:nvSpPr>
            <p:cNvPr id="41" name="Google Shape;2612;p85">
              <a:extLst>
                <a:ext uri="{FF2B5EF4-FFF2-40B4-BE49-F238E27FC236}">
                  <a16:creationId xmlns:a16="http://schemas.microsoft.com/office/drawing/2014/main" id="{C8C723C2-6F0E-1B6A-3081-3E04041809DF}"/>
                </a:ext>
              </a:extLst>
            </p:cNvPr>
            <p:cNvSpPr/>
            <p:nvPr/>
          </p:nvSpPr>
          <p:spPr>
            <a:xfrm>
              <a:off x="2869460" y="2377766"/>
              <a:ext cx="661679" cy="774751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12270" y="3057"/>
                    <a:pt x="244233" y="3057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489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2613;p85">
              <a:extLst>
                <a:ext uri="{FF2B5EF4-FFF2-40B4-BE49-F238E27FC236}">
                  <a16:creationId xmlns:a16="http://schemas.microsoft.com/office/drawing/2014/main" id="{FE490190-B199-5E6D-4ECE-4A373018B72E}"/>
                </a:ext>
              </a:extLst>
            </p:cNvPr>
            <p:cNvSpPr/>
            <p:nvPr/>
          </p:nvSpPr>
          <p:spPr>
            <a:xfrm>
              <a:off x="2869597" y="2377825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2614;p85">
              <a:extLst>
                <a:ext uri="{FF2B5EF4-FFF2-40B4-BE49-F238E27FC236}">
                  <a16:creationId xmlns:a16="http://schemas.microsoft.com/office/drawing/2014/main" id="{19D8EEFF-8E43-0859-979F-CC0CD74C9F86}"/>
                </a:ext>
              </a:extLst>
            </p:cNvPr>
            <p:cNvSpPr txBox="1"/>
            <p:nvPr/>
          </p:nvSpPr>
          <p:spPr>
            <a:xfrm>
              <a:off x="2869850" y="2586192"/>
              <a:ext cx="6609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02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4" name="Google Shape;2615;p85">
              <a:extLst>
                <a:ext uri="{FF2B5EF4-FFF2-40B4-BE49-F238E27FC236}">
                  <a16:creationId xmlns:a16="http://schemas.microsoft.com/office/drawing/2014/main" id="{47CF01C9-7BE3-D6DE-6BFE-EEE66972B277}"/>
                </a:ext>
              </a:extLst>
            </p:cNvPr>
            <p:cNvSpPr txBox="1"/>
            <p:nvPr/>
          </p:nvSpPr>
          <p:spPr>
            <a:xfrm>
              <a:off x="8963728" y="1161426"/>
              <a:ext cx="39105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371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97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620;p87">
            <a:extLst>
              <a:ext uri="{FF2B5EF4-FFF2-40B4-BE49-F238E27FC236}">
                <a16:creationId xmlns:a16="http://schemas.microsoft.com/office/drawing/2014/main" id="{F771D843-C8CD-395C-B4B2-1ED603A9D838}"/>
              </a:ext>
            </a:extLst>
          </p:cNvPr>
          <p:cNvSpPr txBox="1"/>
          <p:nvPr/>
        </p:nvSpPr>
        <p:spPr>
          <a:xfrm>
            <a:off x="550183" y="1015371"/>
            <a:ext cx="108204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SESSION SUMMARY: DEVOPS ROAD MAP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2621;p87">
            <a:extLst>
              <a:ext uri="{FF2B5EF4-FFF2-40B4-BE49-F238E27FC236}">
                <a16:creationId xmlns:a16="http://schemas.microsoft.com/office/drawing/2014/main" id="{90DD01F4-DC20-A418-7E15-CFDBECC39AAF}"/>
              </a:ext>
            </a:extLst>
          </p:cNvPr>
          <p:cNvGrpSpPr/>
          <p:nvPr/>
        </p:nvGrpSpPr>
        <p:grpSpPr>
          <a:xfrm>
            <a:off x="6488033" y="1581637"/>
            <a:ext cx="5319009" cy="671467"/>
            <a:chOff x="6389225" y="1006997"/>
            <a:chExt cx="4726281" cy="782577"/>
          </a:xfrm>
        </p:grpSpPr>
        <p:sp>
          <p:nvSpPr>
            <p:cNvPr id="11" name="Google Shape;2622;p87">
              <a:extLst>
                <a:ext uri="{FF2B5EF4-FFF2-40B4-BE49-F238E27FC236}">
                  <a16:creationId xmlns:a16="http://schemas.microsoft.com/office/drawing/2014/main" id="{6483BB99-D983-7617-9871-D0405462EFAC}"/>
                </a:ext>
              </a:extLst>
            </p:cNvPr>
            <p:cNvSpPr/>
            <p:nvPr/>
          </p:nvSpPr>
          <p:spPr>
            <a:xfrm>
              <a:off x="6389225" y="1006997"/>
              <a:ext cx="660817" cy="782577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177331" y="4685"/>
                    <a:pt x="209294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F4AB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Google Shape;2623;p87">
              <a:extLst>
                <a:ext uri="{FF2B5EF4-FFF2-40B4-BE49-F238E27FC236}">
                  <a16:creationId xmlns:a16="http://schemas.microsoft.com/office/drawing/2014/main" id="{56BD4C01-C4D7-D0C8-E9A4-7FA87D78CF1B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2624;p87">
              <a:extLst>
                <a:ext uri="{FF2B5EF4-FFF2-40B4-BE49-F238E27FC236}">
                  <a16:creationId xmlns:a16="http://schemas.microsoft.com/office/drawing/2014/main" id="{C5FD83DB-0C8F-E007-D63D-41597BE333DD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01</a:t>
              </a:r>
              <a:endPara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2625;p87">
              <a:extLst>
                <a:ext uri="{FF2B5EF4-FFF2-40B4-BE49-F238E27FC236}">
                  <a16:creationId xmlns:a16="http://schemas.microsoft.com/office/drawing/2014/main" id="{81E65BB9-8FC7-E991-E6A2-CB77E0D70308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Linux and networking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" name="Google Shape;2626;p87">
            <a:extLst>
              <a:ext uri="{FF2B5EF4-FFF2-40B4-BE49-F238E27FC236}">
                <a16:creationId xmlns:a16="http://schemas.microsoft.com/office/drawing/2014/main" id="{899CC9F0-0F58-90EF-176A-0FC3C0565F89}"/>
              </a:ext>
            </a:extLst>
          </p:cNvPr>
          <p:cNvGrpSpPr/>
          <p:nvPr/>
        </p:nvGrpSpPr>
        <p:grpSpPr>
          <a:xfrm>
            <a:off x="6467422" y="2398331"/>
            <a:ext cx="5360229" cy="672423"/>
            <a:chOff x="6389225" y="1006997"/>
            <a:chExt cx="4726281" cy="782577"/>
          </a:xfrm>
        </p:grpSpPr>
        <p:sp>
          <p:nvSpPr>
            <p:cNvPr id="16" name="Google Shape;2627;p87">
              <a:extLst>
                <a:ext uri="{FF2B5EF4-FFF2-40B4-BE49-F238E27FC236}">
                  <a16:creationId xmlns:a16="http://schemas.microsoft.com/office/drawing/2014/main" id="{001CC5C0-E3F4-F04C-0C06-37FB17BFC965}"/>
                </a:ext>
              </a:extLst>
            </p:cNvPr>
            <p:cNvSpPr/>
            <p:nvPr/>
          </p:nvSpPr>
          <p:spPr>
            <a:xfrm>
              <a:off x="6389225" y="1006997"/>
              <a:ext cx="660817" cy="782577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177331" y="4685"/>
                    <a:pt x="209294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" name="Google Shape;2628;p87">
              <a:extLst>
                <a:ext uri="{FF2B5EF4-FFF2-40B4-BE49-F238E27FC236}">
                  <a16:creationId xmlns:a16="http://schemas.microsoft.com/office/drawing/2014/main" id="{61460530-E263-5B3F-57CC-65BA89553416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2629;p87">
              <a:extLst>
                <a:ext uri="{FF2B5EF4-FFF2-40B4-BE49-F238E27FC236}">
                  <a16:creationId xmlns:a16="http://schemas.microsoft.com/office/drawing/2014/main" id="{E9A88E3C-298E-CE42-77CD-280E782C8ACE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02</a:t>
              </a:r>
              <a:endPara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" name="Google Shape;2630;p87">
              <a:extLst>
                <a:ext uri="{FF2B5EF4-FFF2-40B4-BE49-F238E27FC236}">
                  <a16:creationId xmlns:a16="http://schemas.microsoft.com/office/drawing/2014/main" id="{144CCF35-BD6C-4918-6D1C-5E3020F353D3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Version control system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" name="Google Shape;2631;p87">
            <a:extLst>
              <a:ext uri="{FF2B5EF4-FFF2-40B4-BE49-F238E27FC236}">
                <a16:creationId xmlns:a16="http://schemas.microsoft.com/office/drawing/2014/main" id="{54EEB69F-0963-8CDA-1AC1-6E8FC9ACD152}"/>
              </a:ext>
            </a:extLst>
          </p:cNvPr>
          <p:cNvGrpSpPr/>
          <p:nvPr/>
        </p:nvGrpSpPr>
        <p:grpSpPr>
          <a:xfrm>
            <a:off x="6446812" y="3236838"/>
            <a:ext cx="5360229" cy="684109"/>
            <a:chOff x="6389225" y="1006997"/>
            <a:chExt cx="4726281" cy="782577"/>
          </a:xfrm>
        </p:grpSpPr>
        <p:sp>
          <p:nvSpPr>
            <p:cNvPr id="21" name="Google Shape;2632;p87">
              <a:extLst>
                <a:ext uri="{FF2B5EF4-FFF2-40B4-BE49-F238E27FC236}">
                  <a16:creationId xmlns:a16="http://schemas.microsoft.com/office/drawing/2014/main" id="{FAE98FC2-BD76-C1EE-1735-5B611E2EE1E9}"/>
                </a:ext>
              </a:extLst>
            </p:cNvPr>
            <p:cNvSpPr/>
            <p:nvPr/>
          </p:nvSpPr>
          <p:spPr>
            <a:xfrm>
              <a:off x="6389225" y="1006997"/>
              <a:ext cx="660817" cy="782577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177331" y="4685"/>
                    <a:pt x="209294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" name="Google Shape;2633;p87">
              <a:extLst>
                <a:ext uri="{FF2B5EF4-FFF2-40B4-BE49-F238E27FC236}">
                  <a16:creationId xmlns:a16="http://schemas.microsoft.com/office/drawing/2014/main" id="{9E791B4E-1548-5886-C495-F56869FC48EC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2634;p87">
              <a:extLst>
                <a:ext uri="{FF2B5EF4-FFF2-40B4-BE49-F238E27FC236}">
                  <a16:creationId xmlns:a16="http://schemas.microsoft.com/office/drawing/2014/main" id="{590E09B8-1372-F3F1-E771-B3DBEC4B827B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03</a:t>
              </a:r>
              <a:endPara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" name="Google Shape;2635;p87">
              <a:extLst>
                <a:ext uri="{FF2B5EF4-FFF2-40B4-BE49-F238E27FC236}">
                  <a16:creationId xmlns:a16="http://schemas.microsoft.com/office/drawing/2014/main" id="{03C5C28F-9496-5143-881A-4EF303B41553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CI/CD Pipeline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5" name="Google Shape;2636;p87">
            <a:extLst>
              <a:ext uri="{FF2B5EF4-FFF2-40B4-BE49-F238E27FC236}">
                <a16:creationId xmlns:a16="http://schemas.microsoft.com/office/drawing/2014/main" id="{C36E8ABF-8007-F039-E74C-124025E1088B}"/>
              </a:ext>
            </a:extLst>
          </p:cNvPr>
          <p:cNvGrpSpPr/>
          <p:nvPr/>
        </p:nvGrpSpPr>
        <p:grpSpPr>
          <a:xfrm>
            <a:off x="6446812" y="4055556"/>
            <a:ext cx="5360229" cy="684109"/>
            <a:chOff x="6389225" y="1006997"/>
            <a:chExt cx="4726281" cy="782577"/>
          </a:xfrm>
        </p:grpSpPr>
        <p:sp>
          <p:nvSpPr>
            <p:cNvPr id="26" name="Google Shape;2637;p87">
              <a:extLst>
                <a:ext uri="{FF2B5EF4-FFF2-40B4-BE49-F238E27FC236}">
                  <a16:creationId xmlns:a16="http://schemas.microsoft.com/office/drawing/2014/main" id="{011E0AA3-5A30-F036-73A1-25A8C8CCB4F1}"/>
                </a:ext>
              </a:extLst>
            </p:cNvPr>
            <p:cNvSpPr/>
            <p:nvPr/>
          </p:nvSpPr>
          <p:spPr>
            <a:xfrm>
              <a:off x="6389225" y="1006997"/>
              <a:ext cx="660817" cy="782577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177331" y="4685"/>
                    <a:pt x="209294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" name="Google Shape;2638;p87">
              <a:extLst>
                <a:ext uri="{FF2B5EF4-FFF2-40B4-BE49-F238E27FC236}">
                  <a16:creationId xmlns:a16="http://schemas.microsoft.com/office/drawing/2014/main" id="{45AE0872-B34E-5AF7-CCFD-7998368FF6A4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" name="Google Shape;2639;p87">
              <a:extLst>
                <a:ext uri="{FF2B5EF4-FFF2-40B4-BE49-F238E27FC236}">
                  <a16:creationId xmlns:a16="http://schemas.microsoft.com/office/drawing/2014/main" id="{E829F914-F996-DD4B-702C-84C3B01D1865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04</a:t>
              </a:r>
              <a:endPara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" name="Google Shape;2640;p87">
              <a:extLst>
                <a:ext uri="{FF2B5EF4-FFF2-40B4-BE49-F238E27FC236}">
                  <a16:creationId xmlns:a16="http://schemas.microsoft.com/office/drawing/2014/main" id="{E6F3E8E3-E832-3B15-00E3-69BE94EF5DBA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Containeri</a:t>
              </a:r>
              <a:r>
                <a:rPr lang="en-US" sz="2000" b="1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z</a:t>
              </a: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ation and Cloud 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0" name="Google Shape;2641;p87">
            <a:extLst>
              <a:ext uri="{FF2B5EF4-FFF2-40B4-BE49-F238E27FC236}">
                <a16:creationId xmlns:a16="http://schemas.microsoft.com/office/drawing/2014/main" id="{F8A24932-4690-2723-8434-2832BCC70C29}"/>
              </a:ext>
            </a:extLst>
          </p:cNvPr>
          <p:cNvGrpSpPr/>
          <p:nvPr/>
        </p:nvGrpSpPr>
        <p:grpSpPr>
          <a:xfrm>
            <a:off x="6446812" y="4886350"/>
            <a:ext cx="5360229" cy="684109"/>
            <a:chOff x="6389225" y="1006997"/>
            <a:chExt cx="4726281" cy="782577"/>
          </a:xfrm>
        </p:grpSpPr>
        <p:sp>
          <p:nvSpPr>
            <p:cNvPr id="31" name="Google Shape;2642;p87">
              <a:extLst>
                <a:ext uri="{FF2B5EF4-FFF2-40B4-BE49-F238E27FC236}">
                  <a16:creationId xmlns:a16="http://schemas.microsoft.com/office/drawing/2014/main" id="{FF0E48C8-0BC5-B74A-E51A-DD6AFF96739E}"/>
                </a:ext>
              </a:extLst>
            </p:cNvPr>
            <p:cNvSpPr/>
            <p:nvPr/>
          </p:nvSpPr>
          <p:spPr>
            <a:xfrm>
              <a:off x="6389225" y="1006997"/>
              <a:ext cx="660817" cy="782577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177331" y="4685"/>
                    <a:pt x="209294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" name="Google Shape;2643;p87">
              <a:extLst>
                <a:ext uri="{FF2B5EF4-FFF2-40B4-BE49-F238E27FC236}">
                  <a16:creationId xmlns:a16="http://schemas.microsoft.com/office/drawing/2014/main" id="{23B4C48A-AFB0-094D-74AA-F469B68F7499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" name="Google Shape;2644;p87">
              <a:extLst>
                <a:ext uri="{FF2B5EF4-FFF2-40B4-BE49-F238E27FC236}">
                  <a16:creationId xmlns:a16="http://schemas.microsoft.com/office/drawing/2014/main" id="{BCDBB54D-D002-D069-2FDA-7374949DB81A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05</a:t>
              </a:r>
              <a:endPara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" name="Google Shape;2645;p87">
              <a:extLst>
                <a:ext uri="{FF2B5EF4-FFF2-40B4-BE49-F238E27FC236}">
                  <a16:creationId xmlns:a16="http://schemas.microsoft.com/office/drawing/2014/main" id="{3803CD76-481C-CB04-55DA-AB1E76FED39A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IaaC and continuous monitoring 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5" name="Google Shape;2646;p87">
            <a:extLst>
              <a:ext uri="{FF2B5EF4-FFF2-40B4-BE49-F238E27FC236}">
                <a16:creationId xmlns:a16="http://schemas.microsoft.com/office/drawing/2014/main" id="{2C57619A-A5B3-E537-157F-B0A3AA71775C}"/>
              </a:ext>
            </a:extLst>
          </p:cNvPr>
          <p:cNvGrpSpPr/>
          <p:nvPr/>
        </p:nvGrpSpPr>
        <p:grpSpPr>
          <a:xfrm>
            <a:off x="6446813" y="5720756"/>
            <a:ext cx="5360228" cy="684109"/>
            <a:chOff x="6389225" y="1006997"/>
            <a:chExt cx="4726280" cy="782577"/>
          </a:xfrm>
        </p:grpSpPr>
        <p:sp>
          <p:nvSpPr>
            <p:cNvPr id="36" name="Google Shape;2647;p87">
              <a:extLst>
                <a:ext uri="{FF2B5EF4-FFF2-40B4-BE49-F238E27FC236}">
                  <a16:creationId xmlns:a16="http://schemas.microsoft.com/office/drawing/2014/main" id="{9DA91BD4-217F-8529-B82F-DDC9D89EAB7A}"/>
                </a:ext>
              </a:extLst>
            </p:cNvPr>
            <p:cNvSpPr/>
            <p:nvPr/>
          </p:nvSpPr>
          <p:spPr>
            <a:xfrm>
              <a:off x="6389225" y="1006997"/>
              <a:ext cx="660817" cy="782577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177331" y="4685"/>
                    <a:pt x="209294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" name="Google Shape;2648;p87">
              <a:extLst>
                <a:ext uri="{FF2B5EF4-FFF2-40B4-BE49-F238E27FC236}">
                  <a16:creationId xmlns:a16="http://schemas.microsoft.com/office/drawing/2014/main" id="{28006869-6E4D-7C89-1001-4D6EC9DB2929}"/>
                </a:ext>
              </a:extLst>
            </p:cNvPr>
            <p:cNvSpPr/>
            <p:nvPr/>
          </p:nvSpPr>
          <p:spPr>
            <a:xfrm>
              <a:off x="6389225" y="1006997"/>
              <a:ext cx="4726280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" name="Google Shape;2649;p87">
              <a:extLst>
                <a:ext uri="{FF2B5EF4-FFF2-40B4-BE49-F238E27FC236}">
                  <a16:creationId xmlns:a16="http://schemas.microsoft.com/office/drawing/2014/main" id="{C7544FCE-009E-054B-543F-5F822483689C}"/>
                </a:ext>
              </a:extLst>
            </p:cNvPr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06</a:t>
              </a:r>
              <a:endPara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" name="Google Shape;2650;p87">
              <a:extLst>
                <a:ext uri="{FF2B5EF4-FFF2-40B4-BE49-F238E27FC236}">
                  <a16:creationId xmlns:a16="http://schemas.microsoft.com/office/drawing/2014/main" id="{4C3FA86F-2A9C-915C-AF83-7D98CAE38BD0}"/>
                </a:ext>
              </a:extLst>
            </p:cNvPr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DevOps: roles and responsibilities </a:t>
              </a:r>
              <a:endParaRPr sz="20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40" name="Google Shape;2651;p87" descr="Image for post">
            <a:extLst>
              <a:ext uri="{FF2B5EF4-FFF2-40B4-BE49-F238E27FC236}">
                <a16:creationId xmlns:a16="http://schemas.microsoft.com/office/drawing/2014/main" id="{A025E12E-59A0-1829-5E6F-F717B4F2946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183" y="2627464"/>
            <a:ext cx="5545817" cy="2942995"/>
          </a:xfrm>
          <a:prstGeom prst="roundRect">
            <a:avLst>
              <a:gd name="adj" fmla="val 7777"/>
            </a:avLst>
          </a:prstGeom>
          <a:noFill/>
          <a:ln w="12700" cap="flat" cmpd="sng">
            <a:solidFill>
              <a:srgbClr val="BDBDBD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50382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g223622832c8_0_19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57" name="Google Shape;2657;g223622832c8_0_19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98</a:t>
            </a:fld>
            <a:endParaRPr/>
          </a:p>
        </p:txBody>
      </p:sp>
      <p:sp>
        <p:nvSpPr>
          <p:cNvPr id="2658" name="Google Shape;2658;g223622832c8_0_19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92100" marR="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2659" name="Google Shape;2659;g223622832c8_0_19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98</a:t>
            </a:fld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60" name="Google Shape;2660;g223622832c8_0_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1" name="Google Shape;2661;g223622832c8_0_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2" name="Google Shape;2662;g223622832c8_0_19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g223622832c8_0_19"/>
          <p:cNvSpPr txBox="1"/>
          <p:nvPr/>
        </p:nvSpPr>
        <p:spPr>
          <a:xfrm>
            <a:off x="1974234" y="669287"/>
            <a:ext cx="73245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Proxima Nova"/>
              <a:buNone/>
            </a:pP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r>
              <a:rPr lang="en-US" sz="480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 (15 seconds)</a:t>
            </a:r>
            <a:endParaRPr sz="4800" b="0" i="0" u="none" strike="noStrike" cap="none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66" name="Google Shape;2666;g223622832c8_0_19"/>
          <p:cNvSpPr txBox="1"/>
          <p:nvPr/>
        </p:nvSpPr>
        <p:spPr>
          <a:xfrm>
            <a:off x="850900" y="2077414"/>
            <a:ext cx="102687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 of the following terms explains the following statement? </a:t>
            </a:r>
            <a:endParaRPr sz="2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developer commits changes in code, and it triggers an automatic build, which is compiled, tested, and packaged in artifacts</a:t>
            </a:r>
            <a:endParaRPr sz="2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Continuous integration</a:t>
            </a:r>
            <a:endParaRPr sz="2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Continuous deployment</a:t>
            </a:r>
            <a:endParaRPr sz="2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83"/>
                  </a:ext>
                </a:extLst>
              </a:rPr>
              <a:t>Continuous deliver</a:t>
            </a: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endParaRPr sz="2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None of the Above</a:t>
            </a: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618;p34">
            <a:extLst>
              <a:ext uri="{FF2B5EF4-FFF2-40B4-BE49-F238E27FC236}">
                <a16:creationId xmlns:a16="http://schemas.microsoft.com/office/drawing/2014/main" id="{FACD1450-C9BE-DBCC-7004-63D6ECB51D1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0B469F-B788-E3C5-C674-47188BEE50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BD670A-5970-E354-6E77-5B058B806A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8BBA7C-1350-D894-F975-120609E574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F164B5-67EC-B48A-A0E4-4D9970048AB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D80E08-AADD-98A7-5116-ECAB3BE6CA2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6" name="Google Shape;864;p59">
            <a:extLst>
              <a:ext uri="{FF2B5EF4-FFF2-40B4-BE49-F238E27FC236}">
                <a16:creationId xmlns:a16="http://schemas.microsoft.com/office/drawing/2014/main" id="{ED2F337B-157B-72B6-20FE-0C9C377A8E3F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98</a:t>
            </a:fld>
            <a:endParaRPr lang="en-IN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g223622832c8_0_19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57" name="Google Shape;2657;g223622832c8_0_19"/>
          <p:cNvSpPr txBox="1">
            <a:spLocks noGrp="1"/>
          </p:cNvSpPr>
          <p:nvPr>
            <p:ph type="sldNum" idx="12"/>
          </p:nvPr>
        </p:nvSpPr>
        <p:spPr>
          <a:xfrm>
            <a:off x="4074665" y="6367045"/>
            <a:ext cx="410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99</a:t>
            </a:fld>
            <a:endParaRPr/>
          </a:p>
        </p:txBody>
      </p:sp>
      <p:sp>
        <p:nvSpPr>
          <p:cNvPr id="2658" name="Google Shape;2658;g223622832c8_0_19"/>
          <p:cNvSpPr txBox="1">
            <a:spLocks noGrp="1"/>
          </p:cNvSpPr>
          <p:nvPr>
            <p:ph type="body" idx="1"/>
          </p:nvPr>
        </p:nvSpPr>
        <p:spPr>
          <a:xfrm>
            <a:off x="4285131" y="4669112"/>
            <a:ext cx="71400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292100" marR="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Practice in teams of 4 students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expert mentoring to learn better</a:t>
            </a:r>
            <a:endParaRPr/>
          </a:p>
          <a:p>
            <a:pPr marL="292100" marR="0" lvl="0" indent="-292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 personalised feedback for improvements</a:t>
            </a:r>
            <a:endParaRPr/>
          </a:p>
        </p:txBody>
      </p:sp>
      <p:sp>
        <p:nvSpPr>
          <p:cNvPr id="2659" name="Google Shape;2659;g223622832c8_0_19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Proxima Nova"/>
                <a:ea typeface="Proxima Nova"/>
                <a:cs typeface="Proxima Nova"/>
                <a:sym typeface="Proxima Nova"/>
              </a:rPr>
              <a:t>99</a:t>
            </a:fld>
            <a:endParaRPr sz="1200">
              <a:solidFill>
                <a:srgbClr val="89898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60" name="Google Shape;2660;g223622832c8_0_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1" name="Google Shape;2661;g223622832c8_0_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2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2" name="Google Shape;2662;g223622832c8_0_19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g223622832c8_0_19"/>
          <p:cNvSpPr txBox="1"/>
          <p:nvPr/>
        </p:nvSpPr>
        <p:spPr>
          <a:xfrm>
            <a:off x="1974234" y="669287"/>
            <a:ext cx="73245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4800"/>
              <a:buFont typeface="Proxima Nova"/>
              <a:buNone/>
            </a:pP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Poll </a:t>
            </a:r>
            <a:r>
              <a:rPr lang="en-US" sz="4800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lang="en-US" sz="4800" b="0" i="0" u="none" strike="noStrike" cap="none" dirty="0">
                <a:solidFill>
                  <a:srgbClr val="F5333F"/>
                </a:solidFill>
                <a:latin typeface="Proxima Nova"/>
                <a:ea typeface="Proxima Nova"/>
                <a:cs typeface="Proxima Nova"/>
                <a:sym typeface="Proxima Nova"/>
              </a:rPr>
              <a:t> (15 seconds)</a:t>
            </a:r>
            <a:endParaRPr sz="4800" b="0" i="0" u="none" strike="noStrike" cap="none" dirty="0">
              <a:solidFill>
                <a:srgbClr val="F533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66" name="Google Shape;2666;g223622832c8_0_19"/>
          <p:cNvSpPr txBox="1"/>
          <p:nvPr/>
        </p:nvSpPr>
        <p:spPr>
          <a:xfrm>
            <a:off x="850900" y="2077414"/>
            <a:ext cx="10268700" cy="4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 of the following terms explains the following statement? </a:t>
            </a:r>
            <a:endParaRPr sz="2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developer commits changes in code, and it triggers an automatic build, which is compiled, tested, and packaged in artifacts</a:t>
            </a:r>
            <a:endParaRPr sz="2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AutoNum type="alphaUcPeriod"/>
            </a:pPr>
            <a:r>
              <a:rPr lang="en-US" sz="2400" b="1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Continuous integration</a:t>
            </a:r>
            <a:endParaRPr lang="en-US" sz="2400" b="1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Continuous deployment</a:t>
            </a: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84"/>
                  </a:ext>
                </a:extLst>
              </a:rPr>
              <a:t>Continuous deliver</a:t>
            </a: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</a:t>
            </a: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Lato"/>
              <a:buAutoNum type="alphaUcPeriod"/>
            </a:pPr>
            <a:r>
              <a:rPr lang="en-US" sz="24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None of the above</a:t>
            </a:r>
            <a:endParaRPr lang="en-US" sz="24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618;p34">
            <a:extLst>
              <a:ext uri="{FF2B5EF4-FFF2-40B4-BE49-F238E27FC236}">
                <a16:creationId xmlns:a16="http://schemas.microsoft.com/office/drawing/2014/main" id="{FACD1450-C9BE-DBCC-7004-63D6ECB51D1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0B469F-B788-E3C5-C674-47188BEE50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BD670A-5970-E354-6E77-5B058B806A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8BBA7C-1350-D894-F975-120609E574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F164B5-67EC-B48A-A0E4-4D9970048AB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D80E08-AADD-98A7-5116-ECAB3BE6CA2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6" name="Google Shape;864;p59">
            <a:extLst>
              <a:ext uri="{FF2B5EF4-FFF2-40B4-BE49-F238E27FC236}">
                <a16:creationId xmlns:a16="http://schemas.microsoft.com/office/drawing/2014/main" id="{ED2F337B-157B-72B6-20FE-0C9C377A8E3F}"/>
              </a:ext>
            </a:extLst>
          </p:cNvPr>
          <p:cNvSpPr txBox="1">
            <a:spLocks/>
          </p:cNvSpPr>
          <p:nvPr/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z="900" smtClean="0"/>
              <a:pPr/>
              <a:t>99</a:t>
            </a:fld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380870649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686;p88">
            <a:extLst>
              <a:ext uri="{FF2B5EF4-FFF2-40B4-BE49-F238E27FC236}">
                <a16:creationId xmlns:a16="http://schemas.microsoft.com/office/drawing/2014/main" id="{9766AEA6-318C-19DC-C44D-F91A468AD708}"/>
              </a:ext>
            </a:extLst>
          </p:cNvPr>
          <p:cNvSpPr txBox="1"/>
          <p:nvPr/>
        </p:nvSpPr>
        <p:spPr>
          <a:xfrm>
            <a:off x="3840900" y="690340"/>
            <a:ext cx="4510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MODULE SUMMARY: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en-US" sz="2398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INTRODUCTION TO DEVOPS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687;p88">
            <a:extLst>
              <a:ext uri="{FF2B5EF4-FFF2-40B4-BE49-F238E27FC236}">
                <a16:creationId xmlns:a16="http://schemas.microsoft.com/office/drawing/2014/main" id="{67A4ADFC-3F49-0733-E113-B0791704F4F9}"/>
              </a:ext>
            </a:extLst>
          </p:cNvPr>
          <p:cNvSpPr txBox="1"/>
          <p:nvPr/>
        </p:nvSpPr>
        <p:spPr>
          <a:xfrm>
            <a:off x="3290527" y="1548034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Minimum viable product and SDLC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688;p88">
            <a:extLst>
              <a:ext uri="{FF2B5EF4-FFF2-40B4-BE49-F238E27FC236}">
                <a16:creationId xmlns:a16="http://schemas.microsoft.com/office/drawing/2014/main" id="{305557A0-8276-E622-8885-5EEDA6DCE352}"/>
              </a:ext>
            </a:extLst>
          </p:cNvPr>
          <p:cNvSpPr txBox="1"/>
          <p:nvPr/>
        </p:nvSpPr>
        <p:spPr>
          <a:xfrm>
            <a:off x="3290527" y="2445518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2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Common deployment problems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689;p88">
            <a:extLst>
              <a:ext uri="{FF2B5EF4-FFF2-40B4-BE49-F238E27FC236}">
                <a16:creationId xmlns:a16="http://schemas.microsoft.com/office/drawing/2014/main" id="{45A11275-C14A-EB83-B08D-DE06D80B97EE}"/>
              </a:ext>
            </a:extLst>
          </p:cNvPr>
          <p:cNvSpPr txBox="1"/>
          <p:nvPr/>
        </p:nvSpPr>
        <p:spPr>
          <a:xfrm>
            <a:off x="3290527" y="3343002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3"/>
            </a:pPr>
            <a:r>
              <a:rPr lang="en-US" sz="1999" b="1">
                <a:latin typeface="Lato"/>
                <a:ea typeface="Lato"/>
                <a:cs typeface="Lato"/>
                <a:sym typeface="Lato"/>
              </a:rPr>
              <a:t>Concept of 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and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ts principles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690;p88">
            <a:extLst>
              <a:ext uri="{FF2B5EF4-FFF2-40B4-BE49-F238E27FC236}">
                <a16:creationId xmlns:a16="http://schemas.microsoft.com/office/drawing/2014/main" id="{46DF2098-79A0-3157-7757-309274817EF3}"/>
              </a:ext>
            </a:extLst>
          </p:cNvPr>
          <p:cNvSpPr txBox="1"/>
          <p:nvPr/>
        </p:nvSpPr>
        <p:spPr>
          <a:xfrm>
            <a:off x="3290527" y="4240486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4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Continuous integration and deployment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2691;p88">
            <a:extLst>
              <a:ext uri="{FF2B5EF4-FFF2-40B4-BE49-F238E27FC236}">
                <a16:creationId xmlns:a16="http://schemas.microsoft.com/office/drawing/2014/main" id="{975B4748-180B-B2BE-22FF-1BB67D2D6244}"/>
              </a:ext>
            </a:extLst>
          </p:cNvPr>
          <p:cNvSpPr txBox="1"/>
          <p:nvPr/>
        </p:nvSpPr>
        <p:spPr>
          <a:xfrm>
            <a:off x="3290527" y="5137970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5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 road map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" name="Google Shape;2692;p88">
            <a:extLst>
              <a:ext uri="{FF2B5EF4-FFF2-40B4-BE49-F238E27FC236}">
                <a16:creationId xmlns:a16="http://schemas.microsoft.com/office/drawing/2014/main" id="{4AC7CF6D-9857-668B-BCDA-3FEE6B1164BA}"/>
              </a:ext>
            </a:extLst>
          </p:cNvPr>
          <p:cNvSpPr txBox="1"/>
          <p:nvPr/>
        </p:nvSpPr>
        <p:spPr>
          <a:xfrm>
            <a:off x="3290527" y="6035452"/>
            <a:ext cx="5610900" cy="699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61950" tIns="71975" rIns="71975" bIns="71975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Arial"/>
              <a:buAutoNum type="arabicPeriod" startAt="6"/>
            </a:pP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DevOps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99" b="1"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999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oles and responsibilities </a:t>
            </a:r>
            <a:endParaRPr sz="1999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9479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g223622832c8_0_51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101</a:t>
            </a:fld>
            <a:endParaRPr/>
          </a:p>
        </p:txBody>
      </p:sp>
      <p:sp>
        <p:nvSpPr>
          <p:cNvPr id="2698" name="Google Shape;2698;g223622832c8_0_51"/>
          <p:cNvSpPr txBox="1"/>
          <p:nvPr/>
        </p:nvSpPr>
        <p:spPr>
          <a:xfrm>
            <a:off x="3060000" y="2877000"/>
            <a:ext cx="6613500" cy="6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-US" sz="43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Doubt Clearance Window</a:t>
            </a:r>
            <a:r>
              <a:rPr lang="en-US" sz="4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endParaRPr sz="4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9" name="Google Shape;2699;g223622832c8_0_51"/>
          <p:cNvSpPr txBox="1">
            <a:spLocks noGrp="1"/>
          </p:cNvSpPr>
          <p:nvPr>
            <p:ph type="ftr" idx="11"/>
          </p:nvPr>
        </p:nvSpPr>
        <p:spPr>
          <a:xfrm>
            <a:off x="2774967" y="6356367"/>
            <a:ext cx="6898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g223622832c8_0_57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102</a:t>
            </a:fld>
            <a:endParaRPr/>
          </a:p>
        </p:txBody>
      </p:sp>
      <p:sp>
        <p:nvSpPr>
          <p:cNvPr id="2705" name="Google Shape;2705;g223622832c8_0_57"/>
          <p:cNvSpPr txBox="1"/>
          <p:nvPr/>
        </p:nvSpPr>
        <p:spPr>
          <a:xfrm>
            <a:off x="850900" y="873200"/>
            <a:ext cx="10515600" cy="6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Tasks to Complete After Today’s Session</a:t>
            </a:r>
            <a:endParaRPr sz="39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06" name="Google Shape;2706;g223622832c8_0_57"/>
          <p:cNvSpPr txBox="1"/>
          <p:nvPr/>
        </p:nvSpPr>
        <p:spPr>
          <a:xfrm>
            <a:off x="1008033" y="1926233"/>
            <a:ext cx="9915300" cy="3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7" name="Google Shape;2707;g223622832c8_0_57"/>
          <p:cNvGraphicFramePr/>
          <p:nvPr/>
        </p:nvGraphicFramePr>
        <p:xfrm>
          <a:off x="3956283" y="2175833"/>
          <a:ext cx="4557700" cy="25967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85"/>
                            </a:ext>
                          </a:extLst>
                        </a:rPr>
                        <a:t>MCQs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Conceptual</a:t>
                      </a: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86"/>
                            </a:ext>
                          </a:extLst>
                        </a:rPr>
                        <a:t> Questions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Project Checkpoint 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08" name="Google Shape;2708;g223622832c8_0_57"/>
          <p:cNvSpPr txBox="1">
            <a:spLocks noGrp="1"/>
          </p:cNvSpPr>
          <p:nvPr>
            <p:ph type="ftr" idx="11"/>
          </p:nvPr>
        </p:nvSpPr>
        <p:spPr>
          <a:xfrm>
            <a:off x="2774967" y="6356367"/>
            <a:ext cx="6898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103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4656</Words>
  <Application>Microsoft Office PowerPoint</Application>
  <PresentationFormat>Widescreen</PresentationFormat>
  <Paragraphs>910</Paragraphs>
  <Slides>103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1" baseType="lpstr">
      <vt:lpstr>Arial</vt:lpstr>
      <vt:lpstr>Calibri</vt:lpstr>
      <vt:lpstr>Calibri Light</vt:lpstr>
      <vt:lpstr>Lato</vt:lpstr>
      <vt:lpstr>Noto Sans Symbols</vt:lpstr>
      <vt:lpstr>Oi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Janvi Jannet</cp:lastModifiedBy>
  <cp:revision>2</cp:revision>
  <dcterms:created xsi:type="dcterms:W3CDTF">2024-07-22T06:05:12Z</dcterms:created>
  <dcterms:modified xsi:type="dcterms:W3CDTF">2024-07-22T08:38:50Z</dcterms:modified>
</cp:coreProperties>
</file>