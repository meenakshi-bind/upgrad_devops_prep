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7" r:id="rId2"/>
    <p:sldId id="291" r:id="rId3"/>
    <p:sldId id="451" r:id="rId4"/>
    <p:sldId id="452" r:id="rId5"/>
    <p:sldId id="453" r:id="rId6"/>
    <p:sldId id="454" r:id="rId7"/>
    <p:sldId id="455" r:id="rId8"/>
    <p:sldId id="456" r:id="rId9"/>
    <p:sldId id="457" r:id="rId10"/>
    <p:sldId id="458" r:id="rId11"/>
    <p:sldId id="459" r:id="rId12"/>
    <p:sldId id="460" r:id="rId13"/>
    <p:sldId id="461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71" r:id="rId24"/>
    <p:sldId id="472" r:id="rId25"/>
    <p:sldId id="473" r:id="rId26"/>
    <p:sldId id="474" r:id="rId27"/>
    <p:sldId id="475" r:id="rId28"/>
    <p:sldId id="476" r:id="rId29"/>
    <p:sldId id="477" r:id="rId30"/>
    <p:sldId id="478" r:id="rId31"/>
    <p:sldId id="479" r:id="rId32"/>
    <p:sldId id="480" r:id="rId33"/>
    <p:sldId id="481" r:id="rId34"/>
    <p:sldId id="482" r:id="rId35"/>
    <p:sldId id="483" r:id="rId36"/>
    <p:sldId id="484" r:id="rId37"/>
    <p:sldId id="485" r:id="rId38"/>
    <p:sldId id="486" r:id="rId39"/>
    <p:sldId id="487" r:id="rId40"/>
    <p:sldId id="488" r:id="rId41"/>
    <p:sldId id="489" r:id="rId42"/>
    <p:sldId id="490" r:id="rId43"/>
    <p:sldId id="491" r:id="rId44"/>
    <p:sldId id="492" r:id="rId45"/>
    <p:sldId id="493" r:id="rId46"/>
    <p:sldId id="301" r:id="rId47"/>
    <p:sldId id="302" r:id="rId48"/>
    <p:sldId id="50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DFBA4-DC84-461F-AAB5-E51C52591639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730FC-D346-45C4-87B2-2F3F913C2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199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730FC-D346-45C4-87B2-2F3F913C27F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14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19f43c7a90_0_2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6" name="Google Shape;576;g219f43c7a90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19f43c7a90_0_2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3" name="Google Shape;583;g219f43c7a90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FFC4-577D-0E27-59F8-C80B3E4A8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4C3C6-B64C-0EEA-08D4-C91C0C4D2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064A7-0A43-4E40-6F00-26F77A83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F3E1D-6F0A-144F-8DDD-52033300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BA112-A17D-7D7B-3EA9-E6BE4B1D2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993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32AA-AABE-3EB5-E6C2-85DFE643F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5FA1E-8FC4-A9CE-CFEF-6BD3B5BCD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EBB84-20A4-F5CD-300B-C9F129D0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E63C7-C253-2546-EB86-E99BD468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1AE3C-98B0-C186-EFD9-1E83CF40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71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3195-64FF-37D9-E6C4-F9B69FF0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49E31-DEAC-BFDE-F1E0-5A8A4ABD3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18E72-CBE3-2784-3BC6-88DFC6178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D643E-E960-BABC-D299-FC82A860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DD74-C930-3815-16A9-1613A53F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05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C3B1-951C-7679-8584-E3047FF5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4D7E8-DE4A-56C4-1C7C-79DF27455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2DD0E-5EA9-D8E3-DA66-F929323B0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4FA52-D6CB-D351-D688-0D8F7BB71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10F94-D64F-BBB5-E04A-FFC4E098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25773-58E4-9252-2CA9-2C6FD02C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156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FE8A-9065-E1AC-643D-85CFF8903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51F99-8F96-F3D8-86F5-25679D6D0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C226A-408F-6847-A6B2-E310AA23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378EF-5A02-E801-94ED-59F30C16F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A85BEE-A43B-7009-D7E8-F2F040A74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266202-25EF-A356-59F5-0335AD06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816B5B-D44C-3414-678D-59A0F800E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350C0-0C98-B8E1-991A-95BF764C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25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AC7B-EC2E-D54F-F35D-3CC9BAA03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0D9C5-2DCB-169B-9DEF-8808A2A9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E4609-4E42-F02B-6AC5-2406132E3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444FD-FCA4-90BF-718E-9752A371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979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206C6-1028-F6B3-9E5A-7D10842CC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B8EB1-A501-A7D1-6799-84326C1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03FF0-7E66-9441-761A-1E38AE37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55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D94EE-B506-314A-CD45-7DFCB49D9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AD2F8-A93D-162F-6BD0-787F2AEA6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3F088-6295-CBFC-FFDD-4A62EED97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6AE08-7796-6D3C-1F5B-790ED732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DCAC1-E090-6A3F-D27A-334525195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8426D-249A-0462-A74C-E2F0F80D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16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5E6C-DBA1-10C6-97EA-BAE38024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1C97E-04C9-C3DC-8FB1-15E4A4B55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85E4D-33D4-FFF7-6DEB-6CD4A9C9D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C411A-324F-826B-FF0F-A3355B2D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C8F1D-56B5-832C-9D44-8809FA14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4C075-75BF-7107-F75C-A388865E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342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1C9D-6337-5B99-7D89-A9163FAF0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4B167-D646-94C1-A4B0-E58D3240F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A73C-3854-BA32-0635-1807DEE6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30B64-B126-7FB1-7968-0479FE95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21194-D980-8176-E932-F63D6AA3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42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6535D-7B33-3913-745F-8F396D92B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D3CD5-EC61-694C-1058-1D22CB1B5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E9A01-CCD0-0F67-880F-878AB446B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55E73-4B98-211F-45D7-9C67B810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B8F56-6006-1228-4B6F-7B9ECC02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495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/>
          <p:nvPr/>
        </p:nvSpPr>
        <p:spPr>
          <a:xfrm>
            <a:off x="-575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840317" y="725997"/>
            <a:ext cx="79876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ftr" idx="11"/>
          </p:nvPr>
        </p:nvSpPr>
        <p:spPr>
          <a:xfrm>
            <a:off x="3502833" y="6356367"/>
            <a:ext cx="560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0" name="Google Shape;9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9227" y="404813"/>
            <a:ext cx="121304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384" y="280085"/>
            <a:ext cx="1084840" cy="217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015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D79F5D-80A8-0257-97BA-28E9C542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3C791-51D1-4C7A-F31A-B9CEFE5BA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88EA7-3FC1-EE04-931A-11E2AD421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4A57E-9232-410D-96A9-296DE396685C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2BBE7-A6A7-C313-A522-7F910D36D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BDC2B-8B1E-554D-B278-707BDECA5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4915C-9AE4-43DA-B61E-11026E11E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4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0" Type="http://schemas.openxmlformats.org/officeDocument/2006/relationships/image" Target="../media/image12.png"/><Relationship Id="rId4" Type="http://schemas.openxmlformats.org/officeDocument/2006/relationships/image" Target="../media/image6.emf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emf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youtube.com/watch?v=_yQlKEq-Ueg" TargetMode="Externa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deschool.com/courses/git-real" TargetMode="External"/><Relationship Id="rId3" Type="http://schemas.openxmlformats.org/officeDocument/2006/relationships/image" Target="../media/image5.emf"/><Relationship Id="rId7" Type="http://schemas.openxmlformats.org/officeDocument/2006/relationships/hyperlink" Target="http://www.git-tower.com/files/cheatsheet/Git_Cheat_Sheet_grey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kernel.org/pub/software/scm/git/docs/" TargetMode="Externa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Version Control Systems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9679C1-BC8C-6DA1-DAAC-A17D4D80D152}"/>
              </a:ext>
            </a:extLst>
          </p:cNvPr>
          <p:cNvSpPr/>
          <p:nvPr/>
        </p:nvSpPr>
        <p:spPr>
          <a:xfrm>
            <a:off x="974708" y="2835973"/>
            <a:ext cx="10242584" cy="1891999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575" y="339777"/>
            <a:ext cx="839192" cy="839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5;p35">
            <a:extLst>
              <a:ext uri="{FF2B5EF4-FFF2-40B4-BE49-F238E27FC236}">
                <a16:creationId xmlns:a16="http://schemas.microsoft.com/office/drawing/2014/main" id="{291948C9-9A2C-87BE-CE08-117DF3B40FEB}"/>
              </a:ext>
            </a:extLst>
          </p:cNvPr>
          <p:cNvSpPr txBox="1"/>
          <p:nvPr/>
        </p:nvSpPr>
        <p:spPr>
          <a:xfrm>
            <a:off x="1238600" y="3025047"/>
            <a:ext cx="10320821" cy="141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: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Mastering DevOps</a:t>
            </a:r>
          </a:p>
          <a:p>
            <a:pPr>
              <a:lnSpc>
                <a:spcPct val="90000"/>
              </a:lnSpc>
              <a:spcBef>
                <a:spcPts val="1333"/>
              </a:spcBef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On :</a:t>
            </a:r>
            <a:r>
              <a:rPr lang="en-US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Version Control Systems</a:t>
            </a: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Instructor:</a:t>
            </a:r>
            <a:r>
              <a:rPr lang="en-IN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Dipesh Garg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8B53D-9306-9D48-39AC-6DE1ADEA2CB3}"/>
              </a:ext>
            </a:extLst>
          </p:cNvPr>
          <p:cNvSpPr/>
          <p:nvPr/>
        </p:nvSpPr>
        <p:spPr>
          <a:xfrm>
            <a:off x="502022" y="554705"/>
            <a:ext cx="4035748" cy="105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F23375-B8AB-D09C-AE78-7CB2ACA91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181" y="674400"/>
            <a:ext cx="1214204" cy="321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638F4F-FD5E-21E6-1E9F-FDC54ACC9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6519"/>
            <a:ext cx="2242807" cy="178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2FBDC-6DA2-B87B-EE85-C2E7BA6FF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0112" y="-13039"/>
            <a:ext cx="964928" cy="1220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ACF819-EB7A-C5FA-9359-22256A6A50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3151" y="6109915"/>
            <a:ext cx="940736" cy="74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EE7E7C-67F5-30B2-6350-6BDF088EE9E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0" y="6388576"/>
            <a:ext cx="371088" cy="4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3;p35">
            <a:extLst>
              <a:ext uri="{FF2B5EF4-FFF2-40B4-BE49-F238E27FC236}">
                <a16:creationId xmlns:a16="http://schemas.microsoft.com/office/drawing/2014/main" id="{E462B3D6-598E-4537-1B71-1931AA873A4B}"/>
              </a:ext>
            </a:extLst>
          </p:cNvPr>
          <p:cNvSpPr txBox="1"/>
          <p:nvPr/>
        </p:nvSpPr>
        <p:spPr>
          <a:xfrm>
            <a:off x="3636300" y="2529902"/>
            <a:ext cx="4919400" cy="3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196215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What, why, and how of version control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22250" marR="0" lvl="0" indent="-210184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Centralized vs </a:t>
            </a:r>
            <a:r>
              <a:rPr lang="en-US" sz="2000" dirty="0"/>
              <a:t>d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istributed version control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22250" marR="0" lvl="0" indent="-210184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dirty="0"/>
              <a:t>Git: 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Introduction 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22250" marR="0" lvl="0" indent="-210184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Basic Git concepts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22250" marR="0" lvl="0" indent="-210184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Setting up Git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22250" marR="0" lvl="0" indent="-210184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Git commands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22250" marR="0" lvl="0" indent="-210184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Git: </a:t>
            </a:r>
            <a:r>
              <a:rPr lang="en-US" sz="2000" dirty="0"/>
              <a:t>G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ood practices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4;p35">
            <a:extLst>
              <a:ext uri="{FF2B5EF4-FFF2-40B4-BE49-F238E27FC236}">
                <a16:creationId xmlns:a16="http://schemas.microsoft.com/office/drawing/2014/main" id="{8483840E-9B0F-DC31-10DD-7F1494100A9C}"/>
              </a:ext>
            </a:extLst>
          </p:cNvPr>
          <p:cNvSpPr txBox="1">
            <a:spLocks/>
          </p:cNvSpPr>
          <p:nvPr/>
        </p:nvSpPr>
        <p:spPr>
          <a:xfrm>
            <a:off x="4970250" y="1432696"/>
            <a:ext cx="22515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0"/>
              </a:spcBef>
            </a:pPr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8220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9;p36">
            <a:extLst>
              <a:ext uri="{FF2B5EF4-FFF2-40B4-BE49-F238E27FC236}">
                <a16:creationId xmlns:a16="http://schemas.microsoft.com/office/drawing/2014/main" id="{4D4C214E-0CA8-22A9-AD2E-4E3BDC037444}"/>
              </a:ext>
            </a:extLst>
          </p:cNvPr>
          <p:cNvSpPr txBox="1">
            <a:spLocks/>
          </p:cNvSpPr>
          <p:nvPr/>
        </p:nvSpPr>
        <p:spPr>
          <a:xfrm>
            <a:off x="2760621" y="1265128"/>
            <a:ext cx="58149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0"/>
              </a:spcBef>
            </a:pPr>
            <a:r>
              <a:rPr lang="en-US"/>
              <a:t>WHAT IS VERSION CONTROL?</a:t>
            </a:r>
          </a:p>
        </p:txBody>
      </p:sp>
      <p:sp>
        <p:nvSpPr>
          <p:cNvPr id="10" name="Google Shape;170;p36">
            <a:extLst>
              <a:ext uri="{FF2B5EF4-FFF2-40B4-BE49-F238E27FC236}">
                <a16:creationId xmlns:a16="http://schemas.microsoft.com/office/drawing/2014/main" id="{8E2744B7-1581-A07C-BC26-73DC871CC35C}"/>
              </a:ext>
            </a:extLst>
          </p:cNvPr>
          <p:cNvSpPr txBox="1"/>
          <p:nvPr/>
        </p:nvSpPr>
        <p:spPr>
          <a:xfrm>
            <a:off x="1659877" y="2685655"/>
            <a:ext cx="7430400" cy="3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343535" marR="0" lvl="0" indent="-331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A system that records changes made to file</a:t>
            </a:r>
            <a:r>
              <a:rPr lang="en-US" sz="2000" dirty="0"/>
              <a:t>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Provides control over these changes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Every change is tracked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Why </a:t>
            </a:r>
            <a:r>
              <a:rPr lang="en-US" sz="2000" dirty="0"/>
              <a:t>a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 change </a:t>
            </a:r>
            <a:r>
              <a:rPr lang="en-US" sz="2000" dirty="0"/>
              <a:t>occurred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References to a problem fixed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Who introduced an issue and when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Revert to a previous state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035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5;p37">
            <a:extLst>
              <a:ext uri="{FF2B5EF4-FFF2-40B4-BE49-F238E27FC236}">
                <a16:creationId xmlns:a16="http://schemas.microsoft.com/office/drawing/2014/main" id="{2FC97BD7-D696-8B02-F8A4-E8AD6D59393D}"/>
              </a:ext>
            </a:extLst>
          </p:cNvPr>
          <p:cNvSpPr txBox="1"/>
          <p:nvPr/>
        </p:nvSpPr>
        <p:spPr>
          <a:xfrm>
            <a:off x="1028939" y="2813366"/>
            <a:ext cx="5248327" cy="24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343535" marR="0" lvl="0" indent="-331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Version tracking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Maintaining multiple versions of software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Coordinating within/between teams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dirty="0"/>
              <a:t>Data protection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Experiment</a:t>
            </a:r>
            <a:r>
              <a:rPr lang="en-US" sz="2000" dirty="0"/>
              <a:t>ing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 without interference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76;p37">
            <a:extLst>
              <a:ext uri="{FF2B5EF4-FFF2-40B4-BE49-F238E27FC236}">
                <a16:creationId xmlns:a16="http://schemas.microsoft.com/office/drawing/2014/main" id="{8C952479-DAA4-E350-BB62-7ACA3B85E4E3}"/>
              </a:ext>
            </a:extLst>
          </p:cNvPr>
          <p:cNvSpPr txBox="1">
            <a:spLocks/>
          </p:cNvSpPr>
          <p:nvPr/>
        </p:nvSpPr>
        <p:spPr>
          <a:xfrm>
            <a:off x="3191584" y="1798765"/>
            <a:ext cx="5248327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0"/>
              </a:spcBef>
            </a:pPr>
            <a:r>
              <a:rPr lang="en-US"/>
              <a:t>WHY DO WE NEED IT?</a:t>
            </a:r>
          </a:p>
        </p:txBody>
      </p:sp>
    </p:spTree>
    <p:extLst>
      <p:ext uri="{BB962C8B-B14F-4D97-AF65-F5344CB8AC3E}">
        <p14:creationId xmlns:p14="http://schemas.microsoft.com/office/powerpoint/2010/main" val="4150964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1;p38">
            <a:extLst>
              <a:ext uri="{FF2B5EF4-FFF2-40B4-BE49-F238E27FC236}">
                <a16:creationId xmlns:a16="http://schemas.microsoft.com/office/drawing/2014/main" id="{9C38E33F-7C1D-5092-0687-CC2D54CA49EB}"/>
              </a:ext>
            </a:extLst>
          </p:cNvPr>
          <p:cNvSpPr txBox="1">
            <a:spLocks/>
          </p:cNvSpPr>
          <p:nvPr/>
        </p:nvSpPr>
        <p:spPr>
          <a:xfrm>
            <a:off x="1835700" y="3047250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buSzPts val="3111"/>
            </a:pPr>
            <a:r>
              <a:rPr lang="en-US"/>
              <a:t>Version Control Systems: Background </a:t>
            </a:r>
          </a:p>
        </p:txBody>
      </p:sp>
    </p:spTree>
    <p:extLst>
      <p:ext uri="{BB962C8B-B14F-4D97-AF65-F5344CB8AC3E}">
        <p14:creationId xmlns:p14="http://schemas.microsoft.com/office/powerpoint/2010/main" val="80304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186;p39">
            <a:extLst>
              <a:ext uri="{FF2B5EF4-FFF2-40B4-BE49-F238E27FC236}">
                <a16:creationId xmlns:a16="http://schemas.microsoft.com/office/drawing/2014/main" id="{A110A171-C018-3431-BF90-2DDC46B2091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07824" y="2248420"/>
            <a:ext cx="2324657" cy="230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7;p39">
            <a:extLst>
              <a:ext uri="{FF2B5EF4-FFF2-40B4-BE49-F238E27FC236}">
                <a16:creationId xmlns:a16="http://schemas.microsoft.com/office/drawing/2014/main" id="{0DB71E44-3212-05D4-12EE-4CB4CBAA872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36407" y="4375773"/>
            <a:ext cx="2324657" cy="230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8;p39">
            <a:extLst>
              <a:ext uri="{FF2B5EF4-FFF2-40B4-BE49-F238E27FC236}">
                <a16:creationId xmlns:a16="http://schemas.microsoft.com/office/drawing/2014/main" id="{BB18A12A-39E9-CE0E-6E64-D9FBAA432C9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91314" y="4414913"/>
            <a:ext cx="2295109" cy="228014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89;p39">
            <a:extLst>
              <a:ext uri="{FF2B5EF4-FFF2-40B4-BE49-F238E27FC236}">
                <a16:creationId xmlns:a16="http://schemas.microsoft.com/office/drawing/2014/main" id="{87CDCD40-8D79-0C5D-675C-23F675BBE627}"/>
              </a:ext>
            </a:extLst>
          </p:cNvPr>
          <p:cNvSpPr txBox="1"/>
          <p:nvPr/>
        </p:nvSpPr>
        <p:spPr>
          <a:xfrm>
            <a:off x="5112992" y="2846003"/>
            <a:ext cx="1114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LOCAL VCS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90;p39">
            <a:extLst>
              <a:ext uri="{FF2B5EF4-FFF2-40B4-BE49-F238E27FC236}">
                <a16:creationId xmlns:a16="http://schemas.microsoft.com/office/drawing/2014/main" id="{82F6F134-D0C4-6989-D409-B93C0F260411}"/>
              </a:ext>
            </a:extLst>
          </p:cNvPr>
          <p:cNvSpPr txBox="1"/>
          <p:nvPr/>
        </p:nvSpPr>
        <p:spPr>
          <a:xfrm>
            <a:off x="5886430" y="5161588"/>
            <a:ext cx="1606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DISTRIBUTED VCS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91;p39">
            <a:extLst>
              <a:ext uri="{FF2B5EF4-FFF2-40B4-BE49-F238E27FC236}">
                <a16:creationId xmlns:a16="http://schemas.microsoft.com/office/drawing/2014/main" id="{8AFEC030-EA2A-29D8-89BF-89C08BB8179B}"/>
              </a:ext>
            </a:extLst>
          </p:cNvPr>
          <p:cNvSpPr txBox="1"/>
          <p:nvPr/>
        </p:nvSpPr>
        <p:spPr>
          <a:xfrm>
            <a:off x="4000435" y="5215045"/>
            <a:ext cx="14769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CENTRALI</a:t>
            </a:r>
            <a:r>
              <a:rPr lang="en-US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2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ED VCS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92;p39">
            <a:extLst>
              <a:ext uri="{FF2B5EF4-FFF2-40B4-BE49-F238E27FC236}">
                <a16:creationId xmlns:a16="http://schemas.microsoft.com/office/drawing/2014/main" id="{AD36FC0B-CB88-DE04-D518-CA0167B719F2}"/>
              </a:ext>
            </a:extLst>
          </p:cNvPr>
          <p:cNvSpPr txBox="1"/>
          <p:nvPr/>
        </p:nvSpPr>
        <p:spPr>
          <a:xfrm>
            <a:off x="2833310" y="1362456"/>
            <a:ext cx="56721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TYPES OF VERSION CONTROL SYSTEMS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93;p39">
            <a:extLst>
              <a:ext uri="{FF2B5EF4-FFF2-40B4-BE49-F238E27FC236}">
                <a16:creationId xmlns:a16="http://schemas.microsoft.com/office/drawing/2014/main" id="{73D34473-6049-D573-477A-6F3235B3ACB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12980" y="3272172"/>
            <a:ext cx="1114501" cy="933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94;p39">
            <a:extLst>
              <a:ext uri="{FF2B5EF4-FFF2-40B4-BE49-F238E27FC236}">
                <a16:creationId xmlns:a16="http://schemas.microsoft.com/office/drawing/2014/main" id="{8B15B5FE-D98B-0504-FDF4-64C0E5035B0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093206" y="5689721"/>
            <a:ext cx="1291324" cy="93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95;p39">
            <a:extLst>
              <a:ext uri="{FF2B5EF4-FFF2-40B4-BE49-F238E27FC236}">
                <a16:creationId xmlns:a16="http://schemas.microsoft.com/office/drawing/2014/main" id="{8FBA799A-DF59-8E75-C275-4BEFECF6CBF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97679" y="5423171"/>
            <a:ext cx="1202099" cy="12292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785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0;p40">
            <a:extLst>
              <a:ext uri="{FF2B5EF4-FFF2-40B4-BE49-F238E27FC236}">
                <a16:creationId xmlns:a16="http://schemas.microsoft.com/office/drawing/2014/main" id="{5D673387-5881-9C95-8F1F-7912807A94E6}"/>
              </a:ext>
            </a:extLst>
          </p:cNvPr>
          <p:cNvSpPr txBox="1"/>
          <p:nvPr/>
        </p:nvSpPr>
        <p:spPr>
          <a:xfrm>
            <a:off x="2492294" y="1228449"/>
            <a:ext cx="6061200" cy="52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LOCAL VERSION CONTROL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01;p40">
            <a:extLst>
              <a:ext uri="{FF2B5EF4-FFF2-40B4-BE49-F238E27FC236}">
                <a16:creationId xmlns:a16="http://schemas.microsoft.com/office/drawing/2014/main" id="{5E36B504-C511-EAFE-8B7C-315D325F9685}"/>
              </a:ext>
            </a:extLst>
          </p:cNvPr>
          <p:cNvSpPr txBox="1"/>
          <p:nvPr/>
        </p:nvSpPr>
        <p:spPr>
          <a:xfrm>
            <a:off x="3886379" y="2113913"/>
            <a:ext cx="3030900" cy="52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Local Computer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02;p40">
            <a:extLst>
              <a:ext uri="{FF2B5EF4-FFF2-40B4-BE49-F238E27FC236}">
                <a16:creationId xmlns:a16="http://schemas.microsoft.com/office/drawing/2014/main" id="{A9BC0106-449C-3E8E-0AE8-2DAA65FE8849}"/>
              </a:ext>
            </a:extLst>
          </p:cNvPr>
          <p:cNvSpPr/>
          <p:nvPr/>
        </p:nvSpPr>
        <p:spPr>
          <a:xfrm>
            <a:off x="3263478" y="2820931"/>
            <a:ext cx="1899900" cy="3897300"/>
          </a:xfrm>
          <a:prstGeom prst="roundRect">
            <a:avLst>
              <a:gd name="adj" fmla="val 72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203;p40">
            <a:extLst>
              <a:ext uri="{FF2B5EF4-FFF2-40B4-BE49-F238E27FC236}">
                <a16:creationId xmlns:a16="http://schemas.microsoft.com/office/drawing/2014/main" id="{4D8732C6-AAA0-3933-568A-3019A9CD6924}"/>
              </a:ext>
            </a:extLst>
          </p:cNvPr>
          <p:cNvSpPr/>
          <p:nvPr/>
        </p:nvSpPr>
        <p:spPr>
          <a:xfrm>
            <a:off x="3515362" y="3507300"/>
            <a:ext cx="1349100" cy="669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Version 3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204;p40">
            <a:extLst>
              <a:ext uri="{FF2B5EF4-FFF2-40B4-BE49-F238E27FC236}">
                <a16:creationId xmlns:a16="http://schemas.microsoft.com/office/drawing/2014/main" id="{FEC538D6-5143-AECB-11B9-913EBBED38F9}"/>
              </a:ext>
            </a:extLst>
          </p:cNvPr>
          <p:cNvSpPr/>
          <p:nvPr/>
        </p:nvSpPr>
        <p:spPr>
          <a:xfrm>
            <a:off x="3515362" y="4698301"/>
            <a:ext cx="1349100" cy="669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Version 2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205;p40">
            <a:extLst>
              <a:ext uri="{FF2B5EF4-FFF2-40B4-BE49-F238E27FC236}">
                <a16:creationId xmlns:a16="http://schemas.microsoft.com/office/drawing/2014/main" id="{D6DF47F8-DD19-5F1D-9F96-969603E95F90}"/>
              </a:ext>
            </a:extLst>
          </p:cNvPr>
          <p:cNvSpPr/>
          <p:nvPr/>
        </p:nvSpPr>
        <p:spPr>
          <a:xfrm>
            <a:off x="3515362" y="5889302"/>
            <a:ext cx="1349100" cy="669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Version 1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206;p40">
            <a:extLst>
              <a:ext uri="{FF2B5EF4-FFF2-40B4-BE49-F238E27FC236}">
                <a16:creationId xmlns:a16="http://schemas.microsoft.com/office/drawing/2014/main" id="{0A337B39-5460-2761-9615-6EF69F13CEC1}"/>
              </a:ext>
            </a:extLst>
          </p:cNvPr>
          <p:cNvSpPr txBox="1"/>
          <p:nvPr/>
        </p:nvSpPr>
        <p:spPr>
          <a:xfrm>
            <a:off x="3342715" y="2979818"/>
            <a:ext cx="17415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Version Database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207;p40">
            <a:extLst>
              <a:ext uri="{FF2B5EF4-FFF2-40B4-BE49-F238E27FC236}">
                <a16:creationId xmlns:a16="http://schemas.microsoft.com/office/drawing/2014/main" id="{E23F8E75-3ED5-4DCF-470E-D6DBCEF47131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4189912" y="5367301"/>
            <a:ext cx="0" cy="5220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208;p40">
            <a:extLst>
              <a:ext uri="{FF2B5EF4-FFF2-40B4-BE49-F238E27FC236}">
                <a16:creationId xmlns:a16="http://schemas.microsoft.com/office/drawing/2014/main" id="{E75BEC25-B079-15E7-ED2D-28F462E9DBE4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4189912" y="4176300"/>
            <a:ext cx="0" cy="5220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209;p40">
            <a:extLst>
              <a:ext uri="{FF2B5EF4-FFF2-40B4-BE49-F238E27FC236}">
                <a16:creationId xmlns:a16="http://schemas.microsoft.com/office/drawing/2014/main" id="{DA6D77EB-D8D9-A000-B30C-0E2F4261A8DA}"/>
              </a:ext>
            </a:extLst>
          </p:cNvPr>
          <p:cNvCxnSpPr>
            <a:stCxn id="22" idx="2"/>
            <a:endCxn id="14" idx="3"/>
          </p:cNvCxnSpPr>
          <p:nvPr/>
        </p:nvCxnSpPr>
        <p:spPr>
          <a:xfrm rot="5400000">
            <a:off x="4962459" y="4078350"/>
            <a:ext cx="2047500" cy="2243400"/>
          </a:xfrm>
          <a:prstGeom prst="bent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211;p40">
            <a:extLst>
              <a:ext uri="{FF2B5EF4-FFF2-40B4-BE49-F238E27FC236}">
                <a16:creationId xmlns:a16="http://schemas.microsoft.com/office/drawing/2014/main" id="{DFD3C8A6-30A2-3ADA-12AE-20ADC0CDC0AB}"/>
              </a:ext>
            </a:extLst>
          </p:cNvPr>
          <p:cNvCxnSpPr>
            <a:stCxn id="22" idx="2"/>
            <a:endCxn id="13" idx="3"/>
          </p:cNvCxnSpPr>
          <p:nvPr/>
        </p:nvCxnSpPr>
        <p:spPr>
          <a:xfrm rot="5400000">
            <a:off x="5557959" y="3482850"/>
            <a:ext cx="856500" cy="2243400"/>
          </a:xfrm>
          <a:prstGeom prst="bent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12;p40">
            <a:extLst>
              <a:ext uri="{FF2B5EF4-FFF2-40B4-BE49-F238E27FC236}">
                <a16:creationId xmlns:a16="http://schemas.microsoft.com/office/drawing/2014/main" id="{066C339F-2C9E-F193-3FBE-58A278DE47B1}"/>
              </a:ext>
            </a:extLst>
          </p:cNvPr>
          <p:cNvCxnSpPr>
            <a:stCxn id="22" idx="1"/>
            <a:endCxn id="12" idx="3"/>
          </p:cNvCxnSpPr>
          <p:nvPr/>
        </p:nvCxnSpPr>
        <p:spPr>
          <a:xfrm rot="10800000">
            <a:off x="4864359" y="3841800"/>
            <a:ext cx="15690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" name="Google Shape;213;p40">
            <a:extLst>
              <a:ext uri="{FF2B5EF4-FFF2-40B4-BE49-F238E27FC236}">
                <a16:creationId xmlns:a16="http://schemas.microsoft.com/office/drawing/2014/main" id="{46569F29-3EEF-4076-972E-7AFCFDBBCE52}"/>
              </a:ext>
            </a:extLst>
          </p:cNvPr>
          <p:cNvGrpSpPr/>
          <p:nvPr/>
        </p:nvGrpSpPr>
        <p:grpSpPr>
          <a:xfrm>
            <a:off x="6433358" y="2999272"/>
            <a:ext cx="1349101" cy="1177028"/>
            <a:chOff x="7309843" y="1975144"/>
            <a:chExt cx="1798801" cy="1177028"/>
          </a:xfrm>
        </p:grpSpPr>
        <p:sp>
          <p:nvSpPr>
            <p:cNvPr id="22" name="Google Shape;210;p40">
              <a:extLst>
                <a:ext uri="{FF2B5EF4-FFF2-40B4-BE49-F238E27FC236}">
                  <a16:creationId xmlns:a16="http://schemas.microsoft.com/office/drawing/2014/main" id="{03BEF9DA-2F5C-17B9-05A0-6DCE59CF5E0E}"/>
                </a:ext>
              </a:extLst>
            </p:cNvPr>
            <p:cNvSpPr/>
            <p:nvPr/>
          </p:nvSpPr>
          <p:spPr>
            <a:xfrm>
              <a:off x="7309844" y="2483172"/>
              <a:ext cx="1798800" cy="669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File 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214;p40">
              <a:extLst>
                <a:ext uri="{FF2B5EF4-FFF2-40B4-BE49-F238E27FC236}">
                  <a16:creationId xmlns:a16="http://schemas.microsoft.com/office/drawing/2014/main" id="{29FC4C55-30E9-E9EA-6579-E907B54FBACE}"/>
                </a:ext>
              </a:extLst>
            </p:cNvPr>
            <p:cNvSpPr txBox="1"/>
            <p:nvPr/>
          </p:nvSpPr>
          <p:spPr>
            <a:xfrm>
              <a:off x="7309843" y="1975144"/>
              <a:ext cx="17988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Check </a:t>
              </a:r>
              <a:r>
                <a:rPr lang="en-US" sz="18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ut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187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9;p41">
            <a:extLst>
              <a:ext uri="{FF2B5EF4-FFF2-40B4-BE49-F238E27FC236}">
                <a16:creationId xmlns:a16="http://schemas.microsoft.com/office/drawing/2014/main" id="{69B29DD9-D5EB-2352-EF76-9728856E9E8D}"/>
              </a:ext>
            </a:extLst>
          </p:cNvPr>
          <p:cNvSpPr txBox="1">
            <a:spLocks/>
          </p:cNvSpPr>
          <p:nvPr/>
        </p:nvSpPr>
        <p:spPr>
          <a:xfrm>
            <a:off x="1765596" y="3047200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n-US"/>
              <a:t>What if a developer needs to collaborate with other developers?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SzPct val="111111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1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24;p42">
            <a:extLst>
              <a:ext uri="{FF2B5EF4-FFF2-40B4-BE49-F238E27FC236}">
                <a16:creationId xmlns:a16="http://schemas.microsoft.com/office/drawing/2014/main" id="{A74EFC52-E258-5B95-4A49-74D4C61814A5}"/>
              </a:ext>
            </a:extLst>
          </p:cNvPr>
          <p:cNvSpPr txBox="1">
            <a:spLocks/>
          </p:cNvSpPr>
          <p:nvPr/>
        </p:nvSpPr>
        <p:spPr>
          <a:xfrm>
            <a:off x="1930188" y="3047200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n-US"/>
              <a:t>What if a local Database, hard disk, or machine crashes?</a:t>
            </a:r>
          </a:p>
        </p:txBody>
      </p:sp>
    </p:spTree>
    <p:extLst>
      <p:ext uri="{BB962C8B-B14F-4D97-AF65-F5344CB8AC3E}">
        <p14:creationId xmlns:p14="http://schemas.microsoft.com/office/powerpoint/2010/main" val="56004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229;p43">
            <a:extLst>
              <a:ext uri="{FF2B5EF4-FFF2-40B4-BE49-F238E27FC236}">
                <a16:creationId xmlns:a16="http://schemas.microsoft.com/office/drawing/2014/main" id="{ADB086AA-6AB9-15EA-3BBC-E33A36F80DC5}"/>
              </a:ext>
            </a:extLst>
          </p:cNvPr>
          <p:cNvGrpSpPr/>
          <p:nvPr/>
        </p:nvGrpSpPr>
        <p:grpSpPr>
          <a:xfrm>
            <a:off x="3163025" y="1997114"/>
            <a:ext cx="2582575" cy="4818000"/>
            <a:chOff x="2818996" y="1163755"/>
            <a:chExt cx="3062100" cy="4818000"/>
          </a:xfrm>
        </p:grpSpPr>
        <p:sp>
          <p:nvSpPr>
            <p:cNvPr id="10" name="Google Shape;230;p43">
              <a:extLst>
                <a:ext uri="{FF2B5EF4-FFF2-40B4-BE49-F238E27FC236}">
                  <a16:creationId xmlns:a16="http://schemas.microsoft.com/office/drawing/2014/main" id="{0FA8DE27-2A25-32E3-64EC-8041064EB362}"/>
                </a:ext>
              </a:extLst>
            </p:cNvPr>
            <p:cNvSpPr/>
            <p:nvPr/>
          </p:nvSpPr>
          <p:spPr>
            <a:xfrm>
              <a:off x="3083336" y="1796803"/>
              <a:ext cx="2533200" cy="3897300"/>
            </a:xfrm>
            <a:prstGeom prst="roundRect">
              <a:avLst>
                <a:gd name="adj" fmla="val 72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Google Shape;231;p43">
              <a:extLst>
                <a:ext uri="{FF2B5EF4-FFF2-40B4-BE49-F238E27FC236}">
                  <a16:creationId xmlns:a16="http://schemas.microsoft.com/office/drawing/2014/main" id="{9965FF0B-C75B-A7D7-B2CA-E13DBE0A9524}"/>
                </a:ext>
              </a:extLst>
            </p:cNvPr>
            <p:cNvSpPr/>
            <p:nvPr/>
          </p:nvSpPr>
          <p:spPr>
            <a:xfrm>
              <a:off x="3419181" y="2483172"/>
              <a:ext cx="1798800" cy="669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3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232;p43">
              <a:extLst>
                <a:ext uri="{FF2B5EF4-FFF2-40B4-BE49-F238E27FC236}">
                  <a16:creationId xmlns:a16="http://schemas.microsoft.com/office/drawing/2014/main" id="{ECD859D1-391F-7ADA-07E1-66475DF186FE}"/>
                </a:ext>
              </a:extLst>
            </p:cNvPr>
            <p:cNvSpPr/>
            <p:nvPr/>
          </p:nvSpPr>
          <p:spPr>
            <a:xfrm>
              <a:off x="3419181" y="3674173"/>
              <a:ext cx="1798800" cy="669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2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233;p43">
              <a:extLst>
                <a:ext uri="{FF2B5EF4-FFF2-40B4-BE49-F238E27FC236}">
                  <a16:creationId xmlns:a16="http://schemas.microsoft.com/office/drawing/2014/main" id="{071CEEED-583E-9FCD-E19B-65373140EA21}"/>
                </a:ext>
              </a:extLst>
            </p:cNvPr>
            <p:cNvSpPr/>
            <p:nvPr/>
          </p:nvSpPr>
          <p:spPr>
            <a:xfrm>
              <a:off x="3419181" y="4865174"/>
              <a:ext cx="1798800" cy="669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1</a:t>
              </a: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234;p43">
              <a:extLst>
                <a:ext uri="{FF2B5EF4-FFF2-40B4-BE49-F238E27FC236}">
                  <a16:creationId xmlns:a16="http://schemas.microsoft.com/office/drawing/2014/main" id="{A10A981B-3042-DD9C-1468-30CADEBC3D94}"/>
                </a:ext>
              </a:extLst>
            </p:cNvPr>
            <p:cNvSpPr txBox="1"/>
            <p:nvPr/>
          </p:nvSpPr>
          <p:spPr>
            <a:xfrm>
              <a:off x="3188986" y="1955690"/>
              <a:ext cx="2322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Version Database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35;p43">
              <a:extLst>
                <a:ext uri="{FF2B5EF4-FFF2-40B4-BE49-F238E27FC236}">
                  <a16:creationId xmlns:a16="http://schemas.microsoft.com/office/drawing/2014/main" id="{1FC21201-9CB1-D1AB-0EF3-BB2B585B60AB}"/>
                </a:ext>
              </a:extLst>
            </p:cNvPr>
            <p:cNvSpPr/>
            <p:nvPr/>
          </p:nvSpPr>
          <p:spPr>
            <a:xfrm>
              <a:off x="2818996" y="1163755"/>
              <a:ext cx="3062100" cy="4818000"/>
            </a:xfrm>
            <a:prstGeom prst="roundRect">
              <a:avLst>
                <a:gd name="adj" fmla="val 72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" name="Google Shape;236;p43">
              <a:extLst>
                <a:ext uri="{FF2B5EF4-FFF2-40B4-BE49-F238E27FC236}">
                  <a16:creationId xmlns:a16="http://schemas.microsoft.com/office/drawing/2014/main" id="{64EB32AA-E8BB-3ED6-25AD-56376FDD1B8D}"/>
                </a:ext>
              </a:extLst>
            </p:cNvPr>
            <p:cNvSpPr txBox="1"/>
            <p:nvPr/>
          </p:nvSpPr>
          <p:spPr>
            <a:xfrm>
              <a:off x="3188986" y="1250097"/>
              <a:ext cx="2322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Central VCS Server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237;p43">
            <a:extLst>
              <a:ext uri="{FF2B5EF4-FFF2-40B4-BE49-F238E27FC236}">
                <a16:creationId xmlns:a16="http://schemas.microsoft.com/office/drawing/2014/main" id="{0F88E017-A3DB-FB7F-14F8-55AF514547F5}"/>
              </a:ext>
            </a:extLst>
          </p:cNvPr>
          <p:cNvGrpSpPr/>
          <p:nvPr/>
        </p:nvGrpSpPr>
        <p:grpSpPr>
          <a:xfrm>
            <a:off x="6866727" y="2059614"/>
            <a:ext cx="2136501" cy="2151000"/>
            <a:chOff x="7210390" y="1226255"/>
            <a:chExt cx="2533200" cy="2151000"/>
          </a:xfrm>
        </p:grpSpPr>
        <p:grpSp>
          <p:nvGrpSpPr>
            <p:cNvPr id="18" name="Google Shape;238;p43">
              <a:extLst>
                <a:ext uri="{FF2B5EF4-FFF2-40B4-BE49-F238E27FC236}">
                  <a16:creationId xmlns:a16="http://schemas.microsoft.com/office/drawing/2014/main" id="{40AD6155-8BE4-71D0-22CC-312E2FAFEEB7}"/>
                </a:ext>
              </a:extLst>
            </p:cNvPr>
            <p:cNvGrpSpPr/>
            <p:nvPr/>
          </p:nvGrpSpPr>
          <p:grpSpPr>
            <a:xfrm>
              <a:off x="7472005" y="1821078"/>
              <a:ext cx="1798801" cy="1177028"/>
              <a:chOff x="7309843" y="1975144"/>
              <a:chExt cx="1798801" cy="1177028"/>
            </a:xfrm>
          </p:grpSpPr>
          <p:sp>
            <p:nvSpPr>
              <p:cNvPr id="21" name="Google Shape;239;p43">
                <a:extLst>
                  <a:ext uri="{FF2B5EF4-FFF2-40B4-BE49-F238E27FC236}">
                    <a16:creationId xmlns:a16="http://schemas.microsoft.com/office/drawing/2014/main" id="{921E6738-B658-701E-0482-74F5ACE19459}"/>
                  </a:ext>
                </a:extLst>
              </p:cNvPr>
              <p:cNvSpPr/>
              <p:nvPr/>
            </p:nvSpPr>
            <p:spPr>
              <a:xfrm>
                <a:off x="7309844" y="2483172"/>
                <a:ext cx="1798800" cy="6690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File </a:t>
                </a: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" name="Google Shape;240;p43">
                <a:extLst>
                  <a:ext uri="{FF2B5EF4-FFF2-40B4-BE49-F238E27FC236}">
                    <a16:creationId xmlns:a16="http://schemas.microsoft.com/office/drawing/2014/main" id="{6A9D0D8D-5648-099F-43C7-6886FE9F87CE}"/>
                  </a:ext>
                </a:extLst>
              </p:cNvPr>
              <p:cNvSpPr txBox="1"/>
              <p:nvPr/>
            </p:nvSpPr>
            <p:spPr>
              <a:xfrm>
                <a:off x="7309843" y="1975144"/>
                <a:ext cx="17988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Check </a:t>
                </a:r>
                <a:r>
                  <a:rPr lang="en-US" sz="1800" b="1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r>
                  <a:rPr lang="en-US" sz="18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ut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241;p43">
              <a:extLst>
                <a:ext uri="{FF2B5EF4-FFF2-40B4-BE49-F238E27FC236}">
                  <a16:creationId xmlns:a16="http://schemas.microsoft.com/office/drawing/2014/main" id="{1B72C8B5-8393-FF62-774E-240695F92BD6}"/>
                </a:ext>
              </a:extLst>
            </p:cNvPr>
            <p:cNvSpPr/>
            <p:nvPr/>
          </p:nvSpPr>
          <p:spPr>
            <a:xfrm>
              <a:off x="7210390" y="1226255"/>
              <a:ext cx="2533200" cy="2151000"/>
            </a:xfrm>
            <a:prstGeom prst="roundRect">
              <a:avLst>
                <a:gd name="adj" fmla="val 72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" name="Google Shape;242;p43">
              <a:extLst>
                <a:ext uri="{FF2B5EF4-FFF2-40B4-BE49-F238E27FC236}">
                  <a16:creationId xmlns:a16="http://schemas.microsoft.com/office/drawing/2014/main" id="{67AC5613-7689-163A-2103-59F1DBE6D6D4}"/>
                </a:ext>
              </a:extLst>
            </p:cNvPr>
            <p:cNvSpPr txBox="1"/>
            <p:nvPr/>
          </p:nvSpPr>
          <p:spPr>
            <a:xfrm>
              <a:off x="7210396" y="1272928"/>
              <a:ext cx="2322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Computer 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243;p43">
            <a:extLst>
              <a:ext uri="{FF2B5EF4-FFF2-40B4-BE49-F238E27FC236}">
                <a16:creationId xmlns:a16="http://schemas.microsoft.com/office/drawing/2014/main" id="{1214DDDF-C60B-16F3-515A-A068516681FA}"/>
              </a:ext>
            </a:extLst>
          </p:cNvPr>
          <p:cNvGrpSpPr/>
          <p:nvPr/>
        </p:nvGrpSpPr>
        <p:grpSpPr>
          <a:xfrm>
            <a:off x="6866727" y="4578761"/>
            <a:ext cx="2136501" cy="2151000"/>
            <a:chOff x="7210390" y="1078405"/>
            <a:chExt cx="2533200" cy="2151000"/>
          </a:xfrm>
        </p:grpSpPr>
        <p:grpSp>
          <p:nvGrpSpPr>
            <p:cNvPr id="24" name="Google Shape;244;p43">
              <a:extLst>
                <a:ext uri="{FF2B5EF4-FFF2-40B4-BE49-F238E27FC236}">
                  <a16:creationId xmlns:a16="http://schemas.microsoft.com/office/drawing/2014/main" id="{92183618-DD35-2430-6340-3228184FF974}"/>
                </a:ext>
              </a:extLst>
            </p:cNvPr>
            <p:cNvGrpSpPr/>
            <p:nvPr/>
          </p:nvGrpSpPr>
          <p:grpSpPr>
            <a:xfrm>
              <a:off x="7472005" y="1821078"/>
              <a:ext cx="1798801" cy="1177028"/>
              <a:chOff x="7309843" y="1975144"/>
              <a:chExt cx="1798801" cy="1177028"/>
            </a:xfrm>
          </p:grpSpPr>
          <p:sp>
            <p:nvSpPr>
              <p:cNvPr id="27" name="Google Shape;245;p43">
                <a:extLst>
                  <a:ext uri="{FF2B5EF4-FFF2-40B4-BE49-F238E27FC236}">
                    <a16:creationId xmlns:a16="http://schemas.microsoft.com/office/drawing/2014/main" id="{859D88CB-936B-6784-DF8A-5D4DD03A37EC}"/>
                  </a:ext>
                </a:extLst>
              </p:cNvPr>
              <p:cNvSpPr/>
              <p:nvPr/>
            </p:nvSpPr>
            <p:spPr>
              <a:xfrm>
                <a:off x="7309844" y="2483172"/>
                <a:ext cx="1798800" cy="6690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File </a:t>
                </a:r>
                <a:endParaRPr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" name="Google Shape;246;p43">
                <a:extLst>
                  <a:ext uri="{FF2B5EF4-FFF2-40B4-BE49-F238E27FC236}">
                    <a16:creationId xmlns:a16="http://schemas.microsoft.com/office/drawing/2014/main" id="{2F143258-2FB7-2F54-81BB-D34178D05197}"/>
                  </a:ext>
                </a:extLst>
              </p:cNvPr>
              <p:cNvSpPr txBox="1"/>
              <p:nvPr/>
            </p:nvSpPr>
            <p:spPr>
              <a:xfrm>
                <a:off x="7309843" y="1975144"/>
                <a:ext cx="17988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Check </a:t>
                </a:r>
                <a:r>
                  <a:rPr lang="en-US" sz="1800" b="1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</a:t>
                </a:r>
                <a:r>
                  <a:rPr lang="en-US" sz="18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ut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" name="Google Shape;247;p43">
              <a:extLst>
                <a:ext uri="{FF2B5EF4-FFF2-40B4-BE49-F238E27FC236}">
                  <a16:creationId xmlns:a16="http://schemas.microsoft.com/office/drawing/2014/main" id="{D8414B31-F4AF-E190-DA08-F295D642B71F}"/>
                </a:ext>
              </a:extLst>
            </p:cNvPr>
            <p:cNvSpPr/>
            <p:nvPr/>
          </p:nvSpPr>
          <p:spPr>
            <a:xfrm>
              <a:off x="7210390" y="1078405"/>
              <a:ext cx="2533200" cy="2151000"/>
            </a:xfrm>
            <a:prstGeom prst="roundRect">
              <a:avLst>
                <a:gd name="adj" fmla="val 72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" name="Google Shape;248;p43">
              <a:extLst>
                <a:ext uri="{FF2B5EF4-FFF2-40B4-BE49-F238E27FC236}">
                  <a16:creationId xmlns:a16="http://schemas.microsoft.com/office/drawing/2014/main" id="{5A48EE41-A096-0C73-A5D2-2F7DA0A9C530}"/>
                </a:ext>
              </a:extLst>
            </p:cNvPr>
            <p:cNvSpPr txBox="1"/>
            <p:nvPr/>
          </p:nvSpPr>
          <p:spPr>
            <a:xfrm>
              <a:off x="7210396" y="1272928"/>
              <a:ext cx="2322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Computer 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" name="Google Shape;249;p43">
            <a:extLst>
              <a:ext uri="{FF2B5EF4-FFF2-40B4-BE49-F238E27FC236}">
                <a16:creationId xmlns:a16="http://schemas.microsoft.com/office/drawing/2014/main" id="{9A7AA9DF-9F84-8649-60FA-3D3F97B6A1BA}"/>
              </a:ext>
            </a:extLst>
          </p:cNvPr>
          <p:cNvCxnSpPr>
            <a:stCxn id="21" idx="1"/>
            <a:endCxn id="10" idx="3"/>
          </p:cNvCxnSpPr>
          <p:nvPr/>
        </p:nvCxnSpPr>
        <p:spPr>
          <a:xfrm flipH="1">
            <a:off x="5522574" y="3496965"/>
            <a:ext cx="1564800" cy="10818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lg" len="lg"/>
            <a:tailEnd type="none" w="sm" len="sm"/>
          </a:ln>
        </p:spPr>
      </p:cxnSp>
      <p:cxnSp>
        <p:nvCxnSpPr>
          <p:cNvPr id="30" name="Google Shape;250;p43">
            <a:extLst>
              <a:ext uri="{FF2B5EF4-FFF2-40B4-BE49-F238E27FC236}">
                <a16:creationId xmlns:a16="http://schemas.microsoft.com/office/drawing/2014/main" id="{F3F787A7-9EA7-3E98-14D1-6EE65299D7C3}"/>
              </a:ext>
            </a:extLst>
          </p:cNvPr>
          <p:cNvCxnSpPr>
            <a:stCxn id="27" idx="1"/>
            <a:endCxn id="10" idx="3"/>
          </p:cNvCxnSpPr>
          <p:nvPr/>
        </p:nvCxnSpPr>
        <p:spPr>
          <a:xfrm rot="10800000">
            <a:off x="5522574" y="4578762"/>
            <a:ext cx="1564800" cy="15852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lg" len="lg"/>
            <a:tailEnd type="none" w="sm" len="sm"/>
          </a:ln>
        </p:spPr>
      </p:cxnSp>
      <p:sp>
        <p:nvSpPr>
          <p:cNvPr id="31" name="Google Shape;251;p43">
            <a:extLst>
              <a:ext uri="{FF2B5EF4-FFF2-40B4-BE49-F238E27FC236}">
                <a16:creationId xmlns:a16="http://schemas.microsoft.com/office/drawing/2014/main" id="{98493B2D-AFEA-ADB9-CD58-2FD11C1D126D}"/>
              </a:ext>
            </a:extLst>
          </p:cNvPr>
          <p:cNvSpPr txBox="1"/>
          <p:nvPr/>
        </p:nvSpPr>
        <p:spPr>
          <a:xfrm>
            <a:off x="2411884" y="1165860"/>
            <a:ext cx="76554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CENTRALI</a:t>
            </a:r>
            <a:r>
              <a:rPr lang="en-US" sz="2399"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2399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ED VERSION CONTROL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2340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56;p44">
            <a:extLst>
              <a:ext uri="{FF2B5EF4-FFF2-40B4-BE49-F238E27FC236}">
                <a16:creationId xmlns:a16="http://schemas.microsoft.com/office/drawing/2014/main" id="{451461D1-6B6D-297D-262D-6D8043B6D2C6}"/>
              </a:ext>
            </a:extLst>
          </p:cNvPr>
          <p:cNvSpPr txBox="1">
            <a:spLocks/>
          </p:cNvSpPr>
          <p:nvPr/>
        </p:nvSpPr>
        <p:spPr>
          <a:xfrm>
            <a:off x="1204852" y="1353556"/>
            <a:ext cx="10265653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sz="3600" dirty="0"/>
              <a:t>DISADVANTAGES OF A CENTRALIZED SYSTEM</a:t>
            </a:r>
          </a:p>
        </p:txBody>
      </p:sp>
      <p:sp>
        <p:nvSpPr>
          <p:cNvPr id="10" name="Google Shape;257;p44">
            <a:extLst>
              <a:ext uri="{FF2B5EF4-FFF2-40B4-BE49-F238E27FC236}">
                <a16:creationId xmlns:a16="http://schemas.microsoft.com/office/drawing/2014/main" id="{08B383CC-4361-131B-B1AC-B8BB60CCA6A3}"/>
              </a:ext>
            </a:extLst>
          </p:cNvPr>
          <p:cNvSpPr txBox="1"/>
          <p:nvPr/>
        </p:nvSpPr>
        <p:spPr>
          <a:xfrm>
            <a:off x="2243958" y="2804233"/>
            <a:ext cx="10152055" cy="9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343535" marR="0" lvl="0" indent="-331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>
                <a:latin typeface="Arial"/>
                <a:ea typeface="Arial"/>
                <a:cs typeface="Arial"/>
                <a:sym typeface="Arial"/>
              </a:rPr>
              <a:t>Single point of failure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>
                <a:latin typeface="Arial"/>
                <a:ea typeface="Arial"/>
                <a:cs typeface="Arial"/>
                <a:sym typeface="Arial"/>
              </a:rPr>
              <a:t>If th</a:t>
            </a:r>
            <a:r>
              <a:rPr lang="en-US" sz="2000"/>
              <a:t>e </a:t>
            </a:r>
            <a:r>
              <a:rPr lang="en-US" sz="2000" b="0" i="0" u="none" strike="noStrike" cap="none">
                <a:latin typeface="Arial"/>
                <a:ea typeface="Arial"/>
                <a:cs typeface="Arial"/>
                <a:sym typeface="Arial"/>
              </a:rPr>
              <a:t>hard disk </a:t>
            </a:r>
            <a:r>
              <a:rPr lang="en-US" sz="2000"/>
              <a:t>gets</a:t>
            </a:r>
            <a:r>
              <a:rPr lang="en-US" sz="2000" b="0" i="0" u="none" strike="noStrike" cap="none">
                <a:latin typeface="Arial"/>
                <a:ea typeface="Arial"/>
                <a:cs typeface="Arial"/>
                <a:sym typeface="Arial"/>
              </a:rPr>
              <a:t> corrupted without proper backup, </a:t>
            </a:r>
            <a:r>
              <a:rPr lang="en-US" sz="2000"/>
              <a:t>all the data</a:t>
            </a:r>
            <a:r>
              <a:rPr lang="en-US" sz="2000" b="0" i="0" u="none" strike="noStrike" cap="none">
                <a:latin typeface="Arial"/>
                <a:ea typeface="Arial"/>
                <a:cs typeface="Arial"/>
                <a:sym typeface="Arial"/>
              </a:rPr>
              <a:t> is lost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5899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62;p45">
            <a:extLst>
              <a:ext uri="{FF2B5EF4-FFF2-40B4-BE49-F238E27FC236}">
                <a16:creationId xmlns:a16="http://schemas.microsoft.com/office/drawing/2014/main" id="{F4CB41FE-22BC-269A-FC99-3D5CED964B10}"/>
              </a:ext>
            </a:extLst>
          </p:cNvPr>
          <p:cNvSpPr txBox="1"/>
          <p:nvPr/>
        </p:nvSpPr>
        <p:spPr>
          <a:xfrm>
            <a:off x="3247638" y="2650546"/>
            <a:ext cx="55602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343535" marR="0" lvl="0" indent="-331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Every developer has a copy of a version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dirty="0"/>
              <a:t>A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 full version history is stored on the hard drive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dirty="0"/>
              <a:t>This is f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aster, except for remote repository operations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63;p45">
            <a:extLst>
              <a:ext uri="{FF2B5EF4-FFF2-40B4-BE49-F238E27FC236}">
                <a16:creationId xmlns:a16="http://schemas.microsoft.com/office/drawing/2014/main" id="{797A489D-43BE-EC8D-89A0-A2AEACDFF0E1}"/>
              </a:ext>
            </a:extLst>
          </p:cNvPr>
          <p:cNvSpPr txBox="1">
            <a:spLocks/>
          </p:cNvSpPr>
          <p:nvPr/>
        </p:nvSpPr>
        <p:spPr>
          <a:xfrm>
            <a:off x="2515346" y="1355080"/>
            <a:ext cx="7161307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sz="3600" dirty="0"/>
              <a:t>DISTRIBUTED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1317651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48" name="Google Shape;269;p46">
            <a:extLst>
              <a:ext uri="{FF2B5EF4-FFF2-40B4-BE49-F238E27FC236}">
                <a16:creationId xmlns:a16="http://schemas.microsoft.com/office/drawing/2014/main" id="{13D3AD81-0023-44D3-45DF-D748E4DF9344}"/>
              </a:ext>
            </a:extLst>
          </p:cNvPr>
          <p:cNvGrpSpPr/>
          <p:nvPr/>
        </p:nvGrpSpPr>
        <p:grpSpPr>
          <a:xfrm>
            <a:off x="5030457" y="1174241"/>
            <a:ext cx="1829222" cy="2447973"/>
            <a:chOff x="4553151" y="783897"/>
            <a:chExt cx="2438963" cy="2854446"/>
          </a:xfrm>
        </p:grpSpPr>
        <p:grpSp>
          <p:nvGrpSpPr>
            <p:cNvPr id="49" name="Google Shape;270;p46">
              <a:extLst>
                <a:ext uri="{FF2B5EF4-FFF2-40B4-BE49-F238E27FC236}">
                  <a16:creationId xmlns:a16="http://schemas.microsoft.com/office/drawing/2014/main" id="{48F76170-B243-CCFD-0E4B-D81E9B95AF01}"/>
                </a:ext>
              </a:extLst>
            </p:cNvPr>
            <p:cNvGrpSpPr/>
            <p:nvPr/>
          </p:nvGrpSpPr>
          <p:grpSpPr>
            <a:xfrm>
              <a:off x="4553151" y="783897"/>
              <a:ext cx="2438963" cy="2854446"/>
              <a:chOff x="2818996" y="1075522"/>
              <a:chExt cx="3062100" cy="4906233"/>
            </a:xfrm>
          </p:grpSpPr>
          <p:sp>
            <p:nvSpPr>
              <p:cNvPr id="52" name="Google Shape;271;p46">
                <a:extLst>
                  <a:ext uri="{FF2B5EF4-FFF2-40B4-BE49-F238E27FC236}">
                    <a16:creationId xmlns:a16="http://schemas.microsoft.com/office/drawing/2014/main" id="{BE930BE9-BBAA-A92C-A4F7-96266AE3B1C1}"/>
                  </a:ext>
                </a:extLst>
              </p:cNvPr>
              <p:cNvSpPr/>
              <p:nvPr/>
            </p:nvSpPr>
            <p:spPr>
              <a:xfrm>
                <a:off x="3083336" y="1796803"/>
                <a:ext cx="2533200" cy="3897300"/>
              </a:xfrm>
              <a:prstGeom prst="roundRect">
                <a:avLst>
                  <a:gd name="adj" fmla="val 720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272;p46">
                <a:extLst>
                  <a:ext uri="{FF2B5EF4-FFF2-40B4-BE49-F238E27FC236}">
                    <a16:creationId xmlns:a16="http://schemas.microsoft.com/office/drawing/2014/main" id="{15469FFA-53DC-F303-11DF-1F282CF69BA1}"/>
                  </a:ext>
                </a:extLst>
              </p:cNvPr>
              <p:cNvSpPr/>
              <p:nvPr/>
            </p:nvSpPr>
            <p:spPr>
              <a:xfrm>
                <a:off x="3419181" y="2629528"/>
                <a:ext cx="1798800" cy="6690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Version 3</a:t>
                </a: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" name="Google Shape;273;p46">
                <a:extLst>
                  <a:ext uri="{FF2B5EF4-FFF2-40B4-BE49-F238E27FC236}">
                    <a16:creationId xmlns:a16="http://schemas.microsoft.com/office/drawing/2014/main" id="{6F07FB47-528E-97DC-069B-66068932D813}"/>
                  </a:ext>
                </a:extLst>
              </p:cNvPr>
              <p:cNvSpPr/>
              <p:nvPr/>
            </p:nvSpPr>
            <p:spPr>
              <a:xfrm>
                <a:off x="3419181" y="3690055"/>
                <a:ext cx="1798800" cy="6690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Version 2</a:t>
                </a: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" name="Google Shape;274;p46">
                <a:extLst>
                  <a:ext uri="{FF2B5EF4-FFF2-40B4-BE49-F238E27FC236}">
                    <a16:creationId xmlns:a16="http://schemas.microsoft.com/office/drawing/2014/main" id="{6AD361B5-FBA5-C256-5DAC-0F33DD5FF37F}"/>
                  </a:ext>
                </a:extLst>
              </p:cNvPr>
              <p:cNvSpPr/>
              <p:nvPr/>
            </p:nvSpPr>
            <p:spPr>
              <a:xfrm>
                <a:off x="3419181" y="4750581"/>
                <a:ext cx="1798800" cy="66900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Version 1</a:t>
                </a: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" name="Google Shape;275;p46">
                <a:extLst>
                  <a:ext uri="{FF2B5EF4-FFF2-40B4-BE49-F238E27FC236}">
                    <a16:creationId xmlns:a16="http://schemas.microsoft.com/office/drawing/2014/main" id="{2178C606-EE8A-1774-DC94-7C1E3E7C9C7A}"/>
                  </a:ext>
                </a:extLst>
              </p:cNvPr>
              <p:cNvSpPr txBox="1"/>
              <p:nvPr/>
            </p:nvSpPr>
            <p:spPr>
              <a:xfrm>
                <a:off x="3188986" y="1860313"/>
                <a:ext cx="2322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rgbClr val="FF0000"/>
                    </a:solidFill>
                    <a:latin typeface="Lato"/>
                    <a:ea typeface="Lato"/>
                    <a:cs typeface="Lato"/>
                    <a:sym typeface="Lato"/>
                  </a:rPr>
                  <a:t>Version</a:t>
                </a:r>
                <a:r>
                  <a:rPr lang="en-US" sz="1600" b="1" i="0" u="none" strike="noStrike" cap="none" dirty="0">
                    <a:solidFill>
                      <a:schemeClr val="dk2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600" b="1" i="0" u="none" strike="noStrike" cap="none" dirty="0">
                    <a:solidFill>
                      <a:srgbClr val="FF0000"/>
                    </a:solidFill>
                    <a:latin typeface="Lato"/>
                    <a:ea typeface="Lato"/>
                    <a:cs typeface="Lato"/>
                    <a:sym typeface="Lato"/>
                  </a:rPr>
                  <a:t>Database</a:t>
                </a:r>
                <a:endParaRPr sz="1400" b="0" i="0" u="none" strike="noStrike" cap="none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276;p46">
                <a:extLst>
                  <a:ext uri="{FF2B5EF4-FFF2-40B4-BE49-F238E27FC236}">
                    <a16:creationId xmlns:a16="http://schemas.microsoft.com/office/drawing/2014/main" id="{BF4F2AC4-091C-F88B-2654-F5944E081351}"/>
                  </a:ext>
                </a:extLst>
              </p:cNvPr>
              <p:cNvSpPr/>
              <p:nvPr/>
            </p:nvSpPr>
            <p:spPr>
              <a:xfrm>
                <a:off x="2818996" y="1163755"/>
                <a:ext cx="3062100" cy="4818000"/>
              </a:xfrm>
              <a:prstGeom prst="roundRect">
                <a:avLst>
                  <a:gd name="adj" fmla="val 7200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" name="Google Shape;277;p46">
                <a:extLst>
                  <a:ext uri="{FF2B5EF4-FFF2-40B4-BE49-F238E27FC236}">
                    <a16:creationId xmlns:a16="http://schemas.microsoft.com/office/drawing/2014/main" id="{FBE5391A-E803-052C-757D-50450802D6B8}"/>
                  </a:ext>
                </a:extLst>
              </p:cNvPr>
              <p:cNvSpPr txBox="1"/>
              <p:nvPr/>
            </p:nvSpPr>
            <p:spPr>
              <a:xfrm>
                <a:off x="3188986" y="1075522"/>
                <a:ext cx="2322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Server Computer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0" name="Google Shape;278;p46">
              <a:extLst>
                <a:ext uri="{FF2B5EF4-FFF2-40B4-BE49-F238E27FC236}">
                  <a16:creationId xmlns:a16="http://schemas.microsoft.com/office/drawing/2014/main" id="{2954204A-4FFE-680F-59FC-A0D4380E2575}"/>
                </a:ext>
              </a:extLst>
            </p:cNvPr>
            <p:cNvCxnSpPr>
              <a:stCxn id="54" idx="2"/>
              <a:endCxn id="55" idx="0"/>
            </p:cNvCxnSpPr>
            <p:nvPr/>
          </p:nvCxnSpPr>
          <p:spPr>
            <a:xfrm>
              <a:off x="5747570" y="2694257"/>
              <a:ext cx="0" cy="2277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279;p46">
              <a:extLst>
                <a:ext uri="{FF2B5EF4-FFF2-40B4-BE49-F238E27FC236}">
                  <a16:creationId xmlns:a16="http://schemas.microsoft.com/office/drawing/2014/main" id="{9C547256-2B6A-8798-6AB4-57A4B96B1461}"/>
                </a:ext>
              </a:extLst>
            </p:cNvPr>
            <p:cNvCxnSpPr>
              <a:stCxn id="53" idx="2"/>
              <a:endCxn id="54" idx="0"/>
            </p:cNvCxnSpPr>
            <p:nvPr/>
          </p:nvCxnSpPr>
          <p:spPr>
            <a:xfrm>
              <a:off x="5747570" y="2077242"/>
              <a:ext cx="0" cy="2277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9" name="Google Shape;280;p46">
            <a:extLst>
              <a:ext uri="{FF2B5EF4-FFF2-40B4-BE49-F238E27FC236}">
                <a16:creationId xmlns:a16="http://schemas.microsoft.com/office/drawing/2014/main" id="{355008F3-2B80-699A-DEE4-4D80817BD979}"/>
              </a:ext>
            </a:extLst>
          </p:cNvPr>
          <p:cNvGrpSpPr/>
          <p:nvPr/>
        </p:nvGrpSpPr>
        <p:grpSpPr>
          <a:xfrm>
            <a:off x="3104780" y="3813048"/>
            <a:ext cx="1829025" cy="2996400"/>
            <a:chOff x="1562215" y="3429000"/>
            <a:chExt cx="2438700" cy="2996400"/>
          </a:xfrm>
        </p:grpSpPr>
        <p:sp>
          <p:nvSpPr>
            <p:cNvPr id="60" name="Google Shape;281;p46">
              <a:extLst>
                <a:ext uri="{FF2B5EF4-FFF2-40B4-BE49-F238E27FC236}">
                  <a16:creationId xmlns:a16="http://schemas.microsoft.com/office/drawing/2014/main" id="{7EDDD49B-AEFB-E2AA-0663-06088AA0A442}"/>
                </a:ext>
              </a:extLst>
            </p:cNvPr>
            <p:cNvSpPr/>
            <p:nvPr/>
          </p:nvSpPr>
          <p:spPr>
            <a:xfrm>
              <a:off x="1772754" y="4337090"/>
              <a:ext cx="2017800" cy="1944900"/>
            </a:xfrm>
            <a:prstGeom prst="roundRect">
              <a:avLst>
                <a:gd name="adj" fmla="val 72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1" name="Google Shape;282;p46">
              <a:extLst>
                <a:ext uri="{FF2B5EF4-FFF2-40B4-BE49-F238E27FC236}">
                  <a16:creationId xmlns:a16="http://schemas.microsoft.com/office/drawing/2014/main" id="{DB05EB9C-42EB-0654-6724-7E2A8DB206BC}"/>
                </a:ext>
              </a:extLst>
            </p:cNvPr>
            <p:cNvSpPr/>
            <p:nvPr/>
          </p:nvSpPr>
          <p:spPr>
            <a:xfrm>
              <a:off x="2040244" y="4752629"/>
              <a:ext cx="1432800" cy="333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3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" name="Google Shape;283;p46">
              <a:extLst>
                <a:ext uri="{FF2B5EF4-FFF2-40B4-BE49-F238E27FC236}">
                  <a16:creationId xmlns:a16="http://schemas.microsoft.com/office/drawing/2014/main" id="{EEEF5860-F868-F7C2-619B-5F05F9B8BF1B}"/>
                </a:ext>
              </a:extLst>
            </p:cNvPr>
            <p:cNvSpPr/>
            <p:nvPr/>
          </p:nvSpPr>
          <p:spPr>
            <a:xfrm>
              <a:off x="2040244" y="5281843"/>
              <a:ext cx="1432800" cy="333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2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3" name="Google Shape;284;p46">
              <a:extLst>
                <a:ext uri="{FF2B5EF4-FFF2-40B4-BE49-F238E27FC236}">
                  <a16:creationId xmlns:a16="http://schemas.microsoft.com/office/drawing/2014/main" id="{03D40870-8F16-EEE0-087F-3F06CFBB683F}"/>
                </a:ext>
              </a:extLst>
            </p:cNvPr>
            <p:cNvSpPr/>
            <p:nvPr/>
          </p:nvSpPr>
          <p:spPr>
            <a:xfrm>
              <a:off x="2040244" y="5811057"/>
              <a:ext cx="1432800" cy="333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1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" name="Google Shape;285;p46">
              <a:extLst>
                <a:ext uri="{FF2B5EF4-FFF2-40B4-BE49-F238E27FC236}">
                  <a16:creationId xmlns:a16="http://schemas.microsoft.com/office/drawing/2014/main" id="{86D74506-FE37-BAFD-F786-7B11628E786F}"/>
                </a:ext>
              </a:extLst>
            </p:cNvPr>
            <p:cNvSpPr txBox="1"/>
            <p:nvPr/>
          </p:nvSpPr>
          <p:spPr>
            <a:xfrm>
              <a:off x="1856901" y="4368782"/>
              <a:ext cx="1849500" cy="26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rgbClr val="FF0000"/>
                  </a:solidFill>
                  <a:latin typeface="Lato"/>
                  <a:ea typeface="Lato"/>
                  <a:cs typeface="Lato"/>
                  <a:sym typeface="Lato"/>
                </a:rPr>
                <a:t>Version</a:t>
              </a:r>
              <a:r>
                <a:rPr lang="en-US" sz="16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00" b="1" i="0" u="none" strike="noStrike" cap="none" dirty="0">
                  <a:solidFill>
                    <a:srgbClr val="FF0000"/>
                  </a:solidFill>
                  <a:latin typeface="Lato"/>
                  <a:ea typeface="Lato"/>
                  <a:cs typeface="Lato"/>
                  <a:sym typeface="Lato"/>
                </a:rPr>
                <a:t>Database</a:t>
              </a:r>
              <a:endParaRPr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286;p46">
              <a:extLst>
                <a:ext uri="{FF2B5EF4-FFF2-40B4-BE49-F238E27FC236}">
                  <a16:creationId xmlns:a16="http://schemas.microsoft.com/office/drawing/2014/main" id="{577C5746-E071-54D8-1944-A8D45871A389}"/>
                </a:ext>
              </a:extLst>
            </p:cNvPr>
            <p:cNvSpPr/>
            <p:nvPr/>
          </p:nvSpPr>
          <p:spPr>
            <a:xfrm>
              <a:off x="1562215" y="3429000"/>
              <a:ext cx="2438700" cy="2996400"/>
            </a:xfrm>
            <a:prstGeom prst="roundRect">
              <a:avLst>
                <a:gd name="adj" fmla="val 72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6" name="Google Shape;287;p46">
              <a:extLst>
                <a:ext uri="{FF2B5EF4-FFF2-40B4-BE49-F238E27FC236}">
                  <a16:creationId xmlns:a16="http://schemas.microsoft.com/office/drawing/2014/main" id="{51E4F5F2-0D75-5A2B-5750-EBBC332948FB}"/>
                </a:ext>
              </a:extLst>
            </p:cNvPr>
            <p:cNvSpPr txBox="1"/>
            <p:nvPr/>
          </p:nvSpPr>
          <p:spPr>
            <a:xfrm>
              <a:off x="1856901" y="3442674"/>
              <a:ext cx="1849500" cy="26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Computer 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" name="Google Shape;288;p46">
              <a:extLst>
                <a:ext uri="{FF2B5EF4-FFF2-40B4-BE49-F238E27FC236}">
                  <a16:creationId xmlns:a16="http://schemas.microsoft.com/office/drawing/2014/main" id="{DB9A23EA-CD72-8CA9-E1F0-AACE78EE37FB}"/>
                </a:ext>
              </a:extLst>
            </p:cNvPr>
            <p:cNvCxnSpPr>
              <a:stCxn id="62" idx="2"/>
              <a:endCxn id="63" idx="0"/>
            </p:cNvCxnSpPr>
            <p:nvPr/>
          </p:nvCxnSpPr>
          <p:spPr>
            <a:xfrm>
              <a:off x="2756644" y="5615743"/>
              <a:ext cx="0" cy="1953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289;p46">
              <a:extLst>
                <a:ext uri="{FF2B5EF4-FFF2-40B4-BE49-F238E27FC236}">
                  <a16:creationId xmlns:a16="http://schemas.microsoft.com/office/drawing/2014/main" id="{99015D0E-4F85-9073-27FF-2C7AA81A7B57}"/>
                </a:ext>
              </a:extLst>
            </p:cNvPr>
            <p:cNvCxnSpPr>
              <a:stCxn id="61" idx="2"/>
              <a:endCxn id="62" idx="0"/>
            </p:cNvCxnSpPr>
            <p:nvPr/>
          </p:nvCxnSpPr>
          <p:spPr>
            <a:xfrm>
              <a:off x="2756644" y="5086529"/>
              <a:ext cx="0" cy="1953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9" name="Google Shape;290;p46">
              <a:extLst>
                <a:ext uri="{FF2B5EF4-FFF2-40B4-BE49-F238E27FC236}">
                  <a16:creationId xmlns:a16="http://schemas.microsoft.com/office/drawing/2014/main" id="{A1357900-39C7-FCE4-B58C-60F638609E90}"/>
                </a:ext>
              </a:extLst>
            </p:cNvPr>
            <p:cNvSpPr/>
            <p:nvPr/>
          </p:nvSpPr>
          <p:spPr>
            <a:xfrm>
              <a:off x="2040244" y="3826521"/>
              <a:ext cx="1432800" cy="333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File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70" name="Google Shape;291;p46">
            <a:extLst>
              <a:ext uri="{FF2B5EF4-FFF2-40B4-BE49-F238E27FC236}">
                <a16:creationId xmlns:a16="http://schemas.microsoft.com/office/drawing/2014/main" id="{120D9FDC-9DE0-6B64-A751-FED4FE498CEF}"/>
              </a:ext>
            </a:extLst>
          </p:cNvPr>
          <p:cNvGrpSpPr/>
          <p:nvPr/>
        </p:nvGrpSpPr>
        <p:grpSpPr>
          <a:xfrm>
            <a:off x="6956006" y="3813048"/>
            <a:ext cx="1829025" cy="2996400"/>
            <a:chOff x="1562215" y="3429000"/>
            <a:chExt cx="2438700" cy="2996400"/>
          </a:xfrm>
        </p:grpSpPr>
        <p:sp>
          <p:nvSpPr>
            <p:cNvPr id="71" name="Google Shape;292;p46">
              <a:extLst>
                <a:ext uri="{FF2B5EF4-FFF2-40B4-BE49-F238E27FC236}">
                  <a16:creationId xmlns:a16="http://schemas.microsoft.com/office/drawing/2014/main" id="{8211FAC8-58A4-17BB-38FC-F24C34C6B63F}"/>
                </a:ext>
              </a:extLst>
            </p:cNvPr>
            <p:cNvSpPr/>
            <p:nvPr/>
          </p:nvSpPr>
          <p:spPr>
            <a:xfrm>
              <a:off x="1772754" y="4337090"/>
              <a:ext cx="2017800" cy="1944900"/>
            </a:xfrm>
            <a:prstGeom prst="roundRect">
              <a:avLst>
                <a:gd name="adj" fmla="val 72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2" name="Google Shape;293;p46">
              <a:extLst>
                <a:ext uri="{FF2B5EF4-FFF2-40B4-BE49-F238E27FC236}">
                  <a16:creationId xmlns:a16="http://schemas.microsoft.com/office/drawing/2014/main" id="{4F28FB2E-C248-4663-6D88-47B60A86AB26}"/>
                </a:ext>
              </a:extLst>
            </p:cNvPr>
            <p:cNvSpPr/>
            <p:nvPr/>
          </p:nvSpPr>
          <p:spPr>
            <a:xfrm>
              <a:off x="2040244" y="4752629"/>
              <a:ext cx="1432800" cy="333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3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3" name="Google Shape;294;p46">
              <a:extLst>
                <a:ext uri="{FF2B5EF4-FFF2-40B4-BE49-F238E27FC236}">
                  <a16:creationId xmlns:a16="http://schemas.microsoft.com/office/drawing/2014/main" id="{904C13CE-9554-41D5-51A9-2123464CDA61}"/>
                </a:ext>
              </a:extLst>
            </p:cNvPr>
            <p:cNvSpPr/>
            <p:nvPr/>
          </p:nvSpPr>
          <p:spPr>
            <a:xfrm>
              <a:off x="2040244" y="5281843"/>
              <a:ext cx="1432800" cy="333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2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4" name="Google Shape;295;p46">
              <a:extLst>
                <a:ext uri="{FF2B5EF4-FFF2-40B4-BE49-F238E27FC236}">
                  <a16:creationId xmlns:a16="http://schemas.microsoft.com/office/drawing/2014/main" id="{B877D811-FF3E-5017-FAB8-03CFA89DD75A}"/>
                </a:ext>
              </a:extLst>
            </p:cNvPr>
            <p:cNvSpPr/>
            <p:nvPr/>
          </p:nvSpPr>
          <p:spPr>
            <a:xfrm>
              <a:off x="2040244" y="5811057"/>
              <a:ext cx="1432800" cy="333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1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5" name="Google Shape;296;p46">
              <a:extLst>
                <a:ext uri="{FF2B5EF4-FFF2-40B4-BE49-F238E27FC236}">
                  <a16:creationId xmlns:a16="http://schemas.microsoft.com/office/drawing/2014/main" id="{342D560E-CD25-644A-8E50-C2BF8C21E29A}"/>
                </a:ext>
              </a:extLst>
            </p:cNvPr>
            <p:cNvSpPr txBox="1"/>
            <p:nvPr/>
          </p:nvSpPr>
          <p:spPr>
            <a:xfrm>
              <a:off x="1856901" y="4368782"/>
              <a:ext cx="1849500" cy="26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rgbClr val="FF0000"/>
                  </a:solidFill>
                  <a:latin typeface="Lato"/>
                  <a:ea typeface="Lato"/>
                  <a:cs typeface="Lato"/>
                  <a:sym typeface="Lato"/>
                </a:rPr>
                <a:t>Version</a:t>
              </a:r>
              <a:r>
                <a:rPr lang="en-US" sz="16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00" b="1" i="0" u="none" strike="noStrike" cap="none" dirty="0">
                  <a:solidFill>
                    <a:srgbClr val="FF0000"/>
                  </a:solidFill>
                  <a:latin typeface="Lato"/>
                  <a:ea typeface="Lato"/>
                  <a:cs typeface="Lato"/>
                  <a:sym typeface="Lato"/>
                </a:rPr>
                <a:t>Database</a:t>
              </a:r>
              <a:endParaRPr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297;p46">
              <a:extLst>
                <a:ext uri="{FF2B5EF4-FFF2-40B4-BE49-F238E27FC236}">
                  <a16:creationId xmlns:a16="http://schemas.microsoft.com/office/drawing/2014/main" id="{EDB43BB3-993C-EDFC-183A-EDD7AD619D98}"/>
                </a:ext>
              </a:extLst>
            </p:cNvPr>
            <p:cNvSpPr/>
            <p:nvPr/>
          </p:nvSpPr>
          <p:spPr>
            <a:xfrm>
              <a:off x="1562215" y="3429000"/>
              <a:ext cx="2438700" cy="2996400"/>
            </a:xfrm>
            <a:prstGeom prst="roundRect">
              <a:avLst>
                <a:gd name="adj" fmla="val 72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7" name="Google Shape;298;p46">
              <a:extLst>
                <a:ext uri="{FF2B5EF4-FFF2-40B4-BE49-F238E27FC236}">
                  <a16:creationId xmlns:a16="http://schemas.microsoft.com/office/drawing/2014/main" id="{1C2A8C9D-66B0-BB8B-3ABD-8FDBD17D9DE1}"/>
                </a:ext>
              </a:extLst>
            </p:cNvPr>
            <p:cNvSpPr txBox="1"/>
            <p:nvPr/>
          </p:nvSpPr>
          <p:spPr>
            <a:xfrm>
              <a:off x="1856901" y="3442674"/>
              <a:ext cx="1849500" cy="26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Computer 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" name="Google Shape;299;p46">
              <a:extLst>
                <a:ext uri="{FF2B5EF4-FFF2-40B4-BE49-F238E27FC236}">
                  <a16:creationId xmlns:a16="http://schemas.microsoft.com/office/drawing/2014/main" id="{B774E429-0B36-C13A-7B88-BD2269AC08A5}"/>
                </a:ext>
              </a:extLst>
            </p:cNvPr>
            <p:cNvCxnSpPr>
              <a:stCxn id="73" idx="2"/>
              <a:endCxn id="74" idx="0"/>
            </p:cNvCxnSpPr>
            <p:nvPr/>
          </p:nvCxnSpPr>
          <p:spPr>
            <a:xfrm>
              <a:off x="2756644" y="5615743"/>
              <a:ext cx="0" cy="1953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300;p46">
              <a:extLst>
                <a:ext uri="{FF2B5EF4-FFF2-40B4-BE49-F238E27FC236}">
                  <a16:creationId xmlns:a16="http://schemas.microsoft.com/office/drawing/2014/main" id="{617F62C7-15F1-B158-095B-324866834EB7}"/>
                </a:ext>
              </a:extLst>
            </p:cNvPr>
            <p:cNvCxnSpPr>
              <a:stCxn id="72" idx="2"/>
              <a:endCxn id="73" idx="0"/>
            </p:cNvCxnSpPr>
            <p:nvPr/>
          </p:nvCxnSpPr>
          <p:spPr>
            <a:xfrm>
              <a:off x="2756644" y="5086529"/>
              <a:ext cx="0" cy="1953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0" name="Google Shape;301;p46">
              <a:extLst>
                <a:ext uri="{FF2B5EF4-FFF2-40B4-BE49-F238E27FC236}">
                  <a16:creationId xmlns:a16="http://schemas.microsoft.com/office/drawing/2014/main" id="{CC379A74-DEB0-CEF5-504D-14D6354B22B6}"/>
                </a:ext>
              </a:extLst>
            </p:cNvPr>
            <p:cNvSpPr/>
            <p:nvPr/>
          </p:nvSpPr>
          <p:spPr>
            <a:xfrm>
              <a:off x="2040244" y="3826521"/>
              <a:ext cx="1432800" cy="333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File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81" name="Google Shape;302;p46">
            <a:extLst>
              <a:ext uri="{FF2B5EF4-FFF2-40B4-BE49-F238E27FC236}">
                <a16:creationId xmlns:a16="http://schemas.microsoft.com/office/drawing/2014/main" id="{649760C8-0F7C-11D9-57D1-DF29666E3CC0}"/>
              </a:ext>
            </a:extLst>
          </p:cNvPr>
          <p:cNvCxnSpPr>
            <a:stCxn id="57" idx="1"/>
            <a:endCxn id="66" idx="0"/>
          </p:cNvCxnSpPr>
          <p:nvPr/>
        </p:nvCxnSpPr>
        <p:spPr>
          <a:xfrm flipH="1">
            <a:off x="4019457" y="2420240"/>
            <a:ext cx="1011000" cy="1406400"/>
          </a:xfrm>
          <a:prstGeom prst="bent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82" name="Google Shape;303;p46">
            <a:extLst>
              <a:ext uri="{FF2B5EF4-FFF2-40B4-BE49-F238E27FC236}">
                <a16:creationId xmlns:a16="http://schemas.microsoft.com/office/drawing/2014/main" id="{CDA62531-C3EF-6D0B-4185-BFCC47EFFD28}"/>
              </a:ext>
            </a:extLst>
          </p:cNvPr>
          <p:cNvCxnSpPr>
            <a:stCxn id="57" idx="3"/>
            <a:endCxn id="77" idx="0"/>
          </p:cNvCxnSpPr>
          <p:nvPr/>
        </p:nvCxnSpPr>
        <p:spPr>
          <a:xfrm>
            <a:off x="6859679" y="2420240"/>
            <a:ext cx="1011000" cy="1406400"/>
          </a:xfrm>
          <a:prstGeom prst="bent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83" name="Google Shape;304;p46">
            <a:extLst>
              <a:ext uri="{FF2B5EF4-FFF2-40B4-BE49-F238E27FC236}">
                <a16:creationId xmlns:a16="http://schemas.microsoft.com/office/drawing/2014/main" id="{E68DC83D-ACB8-8A27-71D1-042880D3FC39}"/>
              </a:ext>
            </a:extLst>
          </p:cNvPr>
          <p:cNvCxnSpPr>
            <a:stCxn id="65" idx="3"/>
            <a:endCxn id="76" idx="1"/>
          </p:cNvCxnSpPr>
          <p:nvPr/>
        </p:nvCxnSpPr>
        <p:spPr>
          <a:xfrm>
            <a:off x="4933804" y="5311248"/>
            <a:ext cx="20223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84" name="Google Shape;305;p46">
            <a:extLst>
              <a:ext uri="{FF2B5EF4-FFF2-40B4-BE49-F238E27FC236}">
                <a16:creationId xmlns:a16="http://schemas.microsoft.com/office/drawing/2014/main" id="{9BC60ABF-431A-3D74-5923-29B8A8C61686}"/>
              </a:ext>
            </a:extLst>
          </p:cNvPr>
          <p:cNvSpPr txBox="1"/>
          <p:nvPr/>
        </p:nvSpPr>
        <p:spPr>
          <a:xfrm>
            <a:off x="2170578" y="660141"/>
            <a:ext cx="67287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DISTRIBUTED VERSION CONTROL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6150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10;p47">
            <a:extLst>
              <a:ext uri="{FF2B5EF4-FFF2-40B4-BE49-F238E27FC236}">
                <a16:creationId xmlns:a16="http://schemas.microsoft.com/office/drawing/2014/main" id="{4881EB04-A023-E074-02B8-A75CFF8A66E4}"/>
              </a:ext>
            </a:extLst>
          </p:cNvPr>
          <p:cNvSpPr txBox="1">
            <a:spLocks/>
          </p:cNvSpPr>
          <p:nvPr/>
        </p:nvSpPr>
        <p:spPr>
          <a:xfrm>
            <a:off x="1838748" y="120263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ts val="3111"/>
            </a:pPr>
            <a:r>
              <a:rPr lang="en-US"/>
              <a:t>DISTRIBUTED VERSION CONTROL SYSTEMS</a:t>
            </a:r>
          </a:p>
        </p:txBody>
      </p:sp>
      <p:sp>
        <p:nvSpPr>
          <p:cNvPr id="10" name="Google Shape;311;p47">
            <a:extLst>
              <a:ext uri="{FF2B5EF4-FFF2-40B4-BE49-F238E27FC236}">
                <a16:creationId xmlns:a16="http://schemas.microsoft.com/office/drawing/2014/main" id="{660ECE4C-F4AB-FAF4-BA9F-5F4C0081D454}"/>
              </a:ext>
            </a:extLst>
          </p:cNvPr>
          <p:cNvSpPr txBox="1">
            <a:spLocks/>
          </p:cNvSpPr>
          <p:nvPr/>
        </p:nvSpPr>
        <p:spPr>
          <a:xfrm>
            <a:off x="1838748" y="246032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-"/>
            </a:pPr>
            <a:r>
              <a:rPr lang="en-US"/>
              <a:t>Git</a:t>
            </a:r>
          </a:p>
          <a:p>
            <a:pPr marL="457200" indent="-342900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-"/>
            </a:pPr>
            <a:r>
              <a:rPr lang="en-US"/>
              <a:t>Mercurial</a:t>
            </a:r>
          </a:p>
          <a:p>
            <a:pPr marL="457200" indent="-342900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-"/>
            </a:pPr>
            <a:r>
              <a:rPr lang="en-US"/>
              <a:t>Perforce</a:t>
            </a:r>
          </a:p>
          <a:p>
            <a:pPr marL="457200" indent="-342900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-"/>
            </a:pPr>
            <a:r>
              <a:rPr lang="en-US"/>
              <a:t>BitKeeper</a:t>
            </a:r>
          </a:p>
          <a:p>
            <a:pPr marL="914400" indent="0">
              <a:lnSpc>
                <a:spcPct val="115000"/>
              </a:lnSpc>
              <a:spcBef>
                <a:spcPts val="1200"/>
              </a:spcBef>
              <a:buSzPts val="1800"/>
              <a:buFont typeface="Arial" panose="020B0604020202020204" pitchFamily="34" charset="0"/>
              <a:buNone/>
            </a:pPr>
            <a:endParaRPr lang="en-US"/>
          </a:p>
          <a:p>
            <a:pPr marL="457200" indent="0">
              <a:lnSpc>
                <a:spcPct val="115000"/>
              </a:lnSpc>
              <a:spcBef>
                <a:spcPts val="1200"/>
              </a:spcBef>
              <a:buSzPts val="1800"/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lnSpc>
                <a:spcPct val="115000"/>
              </a:lnSpc>
              <a:spcBef>
                <a:spcPts val="1200"/>
              </a:spcBef>
              <a:buSzPts val="1800"/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Font typeface="Arial" panose="020B0604020202020204" pitchFamily="34" charset="0"/>
              <a:buNone/>
            </a:pPr>
            <a:endParaRPr lang="en-US"/>
          </a:p>
        </p:txBody>
      </p:sp>
      <p:pic>
        <p:nvPicPr>
          <p:cNvPr id="11" name="Google Shape;312;p47">
            <a:extLst>
              <a:ext uri="{FF2B5EF4-FFF2-40B4-BE49-F238E27FC236}">
                <a16:creationId xmlns:a16="http://schemas.microsoft.com/office/drawing/2014/main" id="{99424FA8-9922-257E-A63C-B9A0E1002CB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38573" y="5362473"/>
            <a:ext cx="1692225" cy="10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13;p47">
            <a:extLst>
              <a:ext uri="{FF2B5EF4-FFF2-40B4-BE49-F238E27FC236}">
                <a16:creationId xmlns:a16="http://schemas.microsoft.com/office/drawing/2014/main" id="{AF6D37A6-3CF9-4C45-D052-F4AAFB7462E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80920" y="4883780"/>
            <a:ext cx="1095600" cy="14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14;p47">
            <a:extLst>
              <a:ext uri="{FF2B5EF4-FFF2-40B4-BE49-F238E27FC236}">
                <a16:creationId xmlns:a16="http://schemas.microsoft.com/office/drawing/2014/main" id="{6F1BBB1C-E8F8-FC7B-93C2-1C7AFFE0A87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66423" y="4966680"/>
            <a:ext cx="2486325" cy="1719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1322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19;p48">
            <a:extLst>
              <a:ext uri="{FF2B5EF4-FFF2-40B4-BE49-F238E27FC236}">
                <a16:creationId xmlns:a16="http://schemas.microsoft.com/office/drawing/2014/main" id="{66465321-6F7B-B8B9-43D2-31F67187A235}"/>
              </a:ext>
            </a:extLst>
          </p:cNvPr>
          <p:cNvSpPr txBox="1">
            <a:spLocks/>
          </p:cNvSpPr>
          <p:nvPr/>
        </p:nvSpPr>
        <p:spPr>
          <a:xfrm>
            <a:off x="1954950" y="1301816"/>
            <a:ext cx="82821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0"/>
              </a:spcBef>
            </a:pPr>
            <a:r>
              <a:rPr lang="en-US" sz="3600" dirty="0"/>
              <a:t>CENTRALIZED VS DISTRIBUTED SYSTEMS</a:t>
            </a:r>
          </a:p>
        </p:txBody>
      </p:sp>
      <p:sp>
        <p:nvSpPr>
          <p:cNvPr id="10" name="Google Shape;320;p48">
            <a:extLst>
              <a:ext uri="{FF2B5EF4-FFF2-40B4-BE49-F238E27FC236}">
                <a16:creationId xmlns:a16="http://schemas.microsoft.com/office/drawing/2014/main" id="{3B199E4C-8A0E-2912-AF47-61A57022BC9B}"/>
              </a:ext>
            </a:extLst>
          </p:cNvPr>
          <p:cNvSpPr txBox="1"/>
          <p:nvPr/>
        </p:nvSpPr>
        <p:spPr>
          <a:xfrm>
            <a:off x="2899091" y="3024358"/>
            <a:ext cx="435546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http://www.youtube.com/watch?v=_yQlKEq-Ueg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6555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25;p49">
            <a:extLst>
              <a:ext uri="{FF2B5EF4-FFF2-40B4-BE49-F238E27FC236}">
                <a16:creationId xmlns:a16="http://schemas.microsoft.com/office/drawing/2014/main" id="{EF8165DB-1C0E-2F53-D865-B115952B7CBF}"/>
              </a:ext>
            </a:extLst>
          </p:cNvPr>
          <p:cNvSpPr txBox="1">
            <a:spLocks/>
          </p:cNvSpPr>
          <p:nvPr/>
        </p:nvSpPr>
        <p:spPr>
          <a:xfrm>
            <a:off x="1910799" y="2186842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lnSpc>
                <a:spcPct val="115000"/>
              </a:lnSpc>
              <a:spcBef>
                <a:spcPts val="0"/>
              </a:spcBef>
              <a:buSzPts val="1800"/>
              <a:buFont typeface="Arial" panose="020B0604020202020204" pitchFamily="34" charset="0"/>
              <a:buNone/>
            </a:pPr>
            <a:endParaRPr lang="en-US" dirty="0"/>
          </a:p>
          <a:p>
            <a:pPr marL="457200" indent="0">
              <a:lnSpc>
                <a:spcPct val="115000"/>
              </a:lnSpc>
              <a:spcBef>
                <a:spcPts val="1200"/>
              </a:spcBef>
              <a:buSzPts val="1800"/>
              <a:buFont typeface="Arial" panose="020B0604020202020204" pitchFamily="34" charset="0"/>
              <a:buNone/>
            </a:pPr>
            <a:endParaRPr lang="en-US" dirty="0"/>
          </a:p>
          <a:p>
            <a:pPr marL="457200" indent="-361950">
              <a:lnSpc>
                <a:spcPct val="115000"/>
              </a:lnSpc>
              <a:spcBef>
                <a:spcPts val="1200"/>
              </a:spcBef>
              <a:buSzPts val="2100"/>
              <a:buFont typeface="Arial" panose="020B0604020202020204" pitchFamily="34" charset="0"/>
              <a:buChar char="●"/>
            </a:pPr>
            <a:r>
              <a:rPr lang="en-US" sz="2100" dirty="0"/>
              <a:t>Git is a version control software </a:t>
            </a:r>
          </a:p>
          <a:p>
            <a:pPr marL="457200" indent="-361950">
              <a:lnSpc>
                <a:spcPct val="115000"/>
              </a:lnSpc>
              <a:spcBef>
                <a:spcPts val="0"/>
              </a:spcBef>
              <a:buSzPts val="2100"/>
              <a:buFont typeface="Arial" panose="020B0604020202020204" pitchFamily="34" charset="0"/>
              <a:buChar char="●"/>
            </a:pPr>
            <a:r>
              <a:rPr lang="en-US" sz="2100" dirty="0"/>
              <a:t>It keeps track of all the changes made to a project</a:t>
            </a:r>
          </a:p>
          <a:p>
            <a:pPr marL="45720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10" name="Google Shape;326;p49">
            <a:extLst>
              <a:ext uri="{FF2B5EF4-FFF2-40B4-BE49-F238E27FC236}">
                <a16:creationId xmlns:a16="http://schemas.microsoft.com/office/drawing/2014/main" id="{892B05B0-C878-2E93-E046-529F7BDA1D63}"/>
              </a:ext>
            </a:extLst>
          </p:cNvPr>
          <p:cNvSpPr txBox="1">
            <a:spLocks/>
          </p:cNvSpPr>
          <p:nvPr/>
        </p:nvSpPr>
        <p:spPr>
          <a:xfrm>
            <a:off x="2372435" y="1102663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ts val="3111"/>
            </a:pPr>
            <a:r>
              <a:rPr lang="en-US" dirty="0"/>
              <a:t>WHAT IS GIT?</a:t>
            </a:r>
          </a:p>
        </p:txBody>
      </p:sp>
      <p:pic>
        <p:nvPicPr>
          <p:cNvPr id="11" name="Google Shape;327;p49">
            <a:extLst>
              <a:ext uri="{FF2B5EF4-FFF2-40B4-BE49-F238E27FC236}">
                <a16:creationId xmlns:a16="http://schemas.microsoft.com/office/drawing/2014/main" id="{E8DA9EE9-1B85-5BE4-D9BD-91CD725B15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19233" y="4222643"/>
            <a:ext cx="2345125" cy="22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28;p49">
            <a:extLst>
              <a:ext uri="{FF2B5EF4-FFF2-40B4-BE49-F238E27FC236}">
                <a16:creationId xmlns:a16="http://schemas.microsoft.com/office/drawing/2014/main" id="{4512B158-6532-1468-CB85-0BB8E4FF7A3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51059" y="1839733"/>
            <a:ext cx="3566776" cy="18637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5244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3;p50">
            <a:extLst>
              <a:ext uri="{FF2B5EF4-FFF2-40B4-BE49-F238E27FC236}">
                <a16:creationId xmlns:a16="http://schemas.microsoft.com/office/drawing/2014/main" id="{36608169-23E0-E6E1-44A8-8C3AE3A9D8EC}"/>
              </a:ext>
            </a:extLst>
          </p:cNvPr>
          <p:cNvSpPr txBox="1"/>
          <p:nvPr/>
        </p:nvSpPr>
        <p:spPr>
          <a:xfrm>
            <a:off x="3378450" y="3014534"/>
            <a:ext cx="54351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343535" marR="0" lvl="0" indent="-331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Developed and designed by Linus Torvalds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Very high performance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dirty="0"/>
              <a:t>Offers a s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trong safeguard against accidental changes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34;p50">
            <a:extLst>
              <a:ext uri="{FF2B5EF4-FFF2-40B4-BE49-F238E27FC236}">
                <a16:creationId xmlns:a16="http://schemas.microsoft.com/office/drawing/2014/main" id="{225EDE0D-82A3-51D8-CB1F-33BBB23510C5}"/>
              </a:ext>
            </a:extLst>
          </p:cNvPr>
          <p:cNvSpPr txBox="1">
            <a:spLocks/>
          </p:cNvSpPr>
          <p:nvPr/>
        </p:nvSpPr>
        <p:spPr>
          <a:xfrm>
            <a:off x="3818850" y="1252110"/>
            <a:ext cx="455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sz="3600" dirty="0"/>
              <a:t>GIT: INTRODUCTION</a:t>
            </a:r>
          </a:p>
        </p:txBody>
      </p:sp>
    </p:spTree>
    <p:extLst>
      <p:ext uri="{BB962C8B-B14F-4D97-AF65-F5344CB8AC3E}">
        <p14:creationId xmlns:p14="http://schemas.microsoft.com/office/powerpoint/2010/main" val="3510891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9;p51">
            <a:extLst>
              <a:ext uri="{FF2B5EF4-FFF2-40B4-BE49-F238E27FC236}">
                <a16:creationId xmlns:a16="http://schemas.microsoft.com/office/drawing/2014/main" id="{A127A609-67C2-621F-EBB1-752D2BEC8344}"/>
              </a:ext>
            </a:extLst>
          </p:cNvPr>
          <p:cNvSpPr txBox="1"/>
          <p:nvPr/>
        </p:nvSpPr>
        <p:spPr>
          <a:xfrm>
            <a:off x="2965241" y="2809185"/>
            <a:ext cx="5094600" cy="22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343535" marR="0" lvl="0" indent="-331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Strong support for non</a:t>
            </a:r>
            <a:r>
              <a:rPr lang="en-US" sz="2000" dirty="0"/>
              <a:t>-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linear development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Fully </a:t>
            </a:r>
            <a:r>
              <a:rPr lang="en-US" sz="2000" dirty="0"/>
              <a:t>d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istributed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Efficient handling of large projects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535" marR="0" lvl="0" indent="-331469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Simple </a:t>
            </a:r>
            <a:r>
              <a:rPr lang="en-US" sz="2000" dirty="0"/>
              <a:t>d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esign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40;p51">
            <a:extLst>
              <a:ext uri="{FF2B5EF4-FFF2-40B4-BE49-F238E27FC236}">
                <a16:creationId xmlns:a16="http://schemas.microsoft.com/office/drawing/2014/main" id="{D52A06F2-5BB1-AED9-7599-5C58C8485351}"/>
              </a:ext>
            </a:extLst>
          </p:cNvPr>
          <p:cNvSpPr txBox="1">
            <a:spLocks/>
          </p:cNvSpPr>
          <p:nvPr/>
        </p:nvSpPr>
        <p:spPr>
          <a:xfrm>
            <a:off x="2596691" y="1266616"/>
            <a:ext cx="5831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GIT: CHARACTERISTICS </a:t>
            </a:r>
          </a:p>
        </p:txBody>
      </p:sp>
    </p:spTree>
    <p:extLst>
      <p:ext uri="{BB962C8B-B14F-4D97-AF65-F5344CB8AC3E}">
        <p14:creationId xmlns:p14="http://schemas.microsoft.com/office/powerpoint/2010/main" val="861669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45;p52">
            <a:extLst>
              <a:ext uri="{FF2B5EF4-FFF2-40B4-BE49-F238E27FC236}">
                <a16:creationId xmlns:a16="http://schemas.microsoft.com/office/drawing/2014/main" id="{D83A2870-7CDB-C3AB-E16A-6E68E93171D5}"/>
              </a:ext>
            </a:extLst>
          </p:cNvPr>
          <p:cNvSpPr txBox="1"/>
          <p:nvPr/>
        </p:nvSpPr>
        <p:spPr>
          <a:xfrm>
            <a:off x="2071950" y="2788800"/>
            <a:ext cx="8048100" cy="2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241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Git has the following three states for files: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7980" marR="0" lvl="0" indent="-335915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Committed: </a:t>
            </a:r>
            <a:r>
              <a:rPr lang="en-US" sz="2000" dirty="0"/>
              <a:t>I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t means the data is safely stored in a local database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7980" marR="584200" lvl="0" indent="-335915" algn="l" rtl="0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Modified: </a:t>
            </a:r>
            <a:r>
              <a:rPr lang="en-US" sz="2000" dirty="0"/>
              <a:t>I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t means the file is changed but not committed to the database yet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7980" marR="687070" lvl="0" indent="-335915" algn="l" rtl="0">
              <a:lnSpc>
                <a:spcPct val="101000"/>
              </a:lnSpc>
              <a:spcBef>
                <a:spcPts val="137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Staged: </a:t>
            </a:r>
            <a:r>
              <a:rPr lang="en-US" sz="2000" dirty="0"/>
              <a:t>I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t means the file is marked to go into the next commit snapshot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46;p52">
            <a:extLst>
              <a:ext uri="{FF2B5EF4-FFF2-40B4-BE49-F238E27FC236}">
                <a16:creationId xmlns:a16="http://schemas.microsoft.com/office/drawing/2014/main" id="{26F73762-59F4-193A-CC52-6107606A03C9}"/>
              </a:ext>
            </a:extLst>
          </p:cNvPr>
          <p:cNvSpPr txBox="1">
            <a:spLocks/>
          </p:cNvSpPr>
          <p:nvPr/>
        </p:nvSpPr>
        <p:spPr>
          <a:xfrm>
            <a:off x="3625650" y="1297591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2073372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51;p53">
            <a:extLst>
              <a:ext uri="{FF2B5EF4-FFF2-40B4-BE49-F238E27FC236}">
                <a16:creationId xmlns:a16="http://schemas.microsoft.com/office/drawing/2014/main" id="{7E17753A-AB0E-632E-EDC9-AA0735A68B6A}"/>
              </a:ext>
            </a:extLst>
          </p:cNvPr>
          <p:cNvSpPr txBox="1"/>
          <p:nvPr/>
        </p:nvSpPr>
        <p:spPr>
          <a:xfrm>
            <a:off x="2799450" y="2868355"/>
            <a:ext cx="6593100" cy="3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343535" marR="0" lvl="0" indent="-331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Commit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/>
              <a:t>Is a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 snapshot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Represents the checked</a:t>
            </a:r>
            <a:r>
              <a:rPr lang="en-US" sz="2000" dirty="0"/>
              <a:t>-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in version of files/directories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/>
              <a:t>Is u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niquely identified by a 40</a:t>
            </a:r>
            <a:r>
              <a:rPr lang="en-US" sz="2000" dirty="0"/>
              <a:t>-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char string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Has a reference to the parent commit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/>
              <a:t>Has a t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ree</a:t>
            </a:r>
            <a:r>
              <a:rPr lang="en-US" sz="2000" dirty="0"/>
              <a:t>-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based structure when branching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52;p53">
            <a:extLst>
              <a:ext uri="{FF2B5EF4-FFF2-40B4-BE49-F238E27FC236}">
                <a16:creationId xmlns:a16="http://schemas.microsoft.com/office/drawing/2014/main" id="{7C61F052-6D4C-694D-827C-C6E2FD7E155B}"/>
              </a:ext>
            </a:extLst>
          </p:cNvPr>
          <p:cNvSpPr txBox="1">
            <a:spLocks/>
          </p:cNvSpPr>
          <p:nvPr/>
        </p:nvSpPr>
        <p:spPr>
          <a:xfrm>
            <a:off x="3625650" y="1358958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1360618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357;p54">
            <a:extLst>
              <a:ext uri="{FF2B5EF4-FFF2-40B4-BE49-F238E27FC236}">
                <a16:creationId xmlns:a16="http://schemas.microsoft.com/office/drawing/2014/main" id="{2CC88A51-69A5-33D6-08A6-9594B770FD0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20638" y="3429000"/>
            <a:ext cx="7604124" cy="2378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58;p54">
            <a:extLst>
              <a:ext uri="{FF2B5EF4-FFF2-40B4-BE49-F238E27FC236}">
                <a16:creationId xmlns:a16="http://schemas.microsoft.com/office/drawing/2014/main" id="{83D7E694-3754-53A4-B601-E8132B7CC332}"/>
              </a:ext>
            </a:extLst>
          </p:cNvPr>
          <p:cNvSpPr txBox="1">
            <a:spLocks/>
          </p:cNvSpPr>
          <p:nvPr/>
        </p:nvSpPr>
        <p:spPr>
          <a:xfrm>
            <a:off x="3252350" y="1333600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2545492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63;p55">
            <a:extLst>
              <a:ext uri="{FF2B5EF4-FFF2-40B4-BE49-F238E27FC236}">
                <a16:creationId xmlns:a16="http://schemas.microsoft.com/office/drawing/2014/main" id="{F1330C36-DAEF-F798-5963-FDB087412FFA}"/>
              </a:ext>
            </a:extLst>
          </p:cNvPr>
          <p:cNvSpPr txBox="1"/>
          <p:nvPr/>
        </p:nvSpPr>
        <p:spPr>
          <a:xfrm>
            <a:off x="2072700" y="2539277"/>
            <a:ext cx="8046600" cy="27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241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Working tree and index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7980" marR="0" lvl="0" indent="-335915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dirty="0"/>
              <a:t>W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orking tree: </a:t>
            </a:r>
            <a:r>
              <a:rPr lang="en-US" sz="2000" dirty="0"/>
              <a:t>C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onsists of files you are currently working on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7980" marR="5080" lvl="0" indent="-335915" algn="l" rtl="0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Index: </a:t>
            </a:r>
            <a:r>
              <a:rPr lang="en-US" sz="2000" dirty="0"/>
              <a:t>A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 staging area where new commits are prepared</a:t>
            </a:r>
            <a:r>
              <a:rPr lang="en-US" sz="2000" dirty="0"/>
              <a:t> and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 acts as an interface between the repository and working tree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7980" marR="47625" lvl="0" indent="-32385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The </a:t>
            </a:r>
            <a:r>
              <a:rPr lang="en-US" sz="2000" dirty="0"/>
              <a:t>c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hanges made </a:t>
            </a:r>
            <a:r>
              <a:rPr lang="en-US" sz="2000" dirty="0"/>
              <a:t>to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 the working tree will not be committed directly to the repository. They need to be staged on the index first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64;p55">
            <a:extLst>
              <a:ext uri="{FF2B5EF4-FFF2-40B4-BE49-F238E27FC236}">
                <a16:creationId xmlns:a16="http://schemas.microsoft.com/office/drawing/2014/main" id="{A03E5259-793A-3803-64EC-CC20658DF057}"/>
              </a:ext>
            </a:extLst>
          </p:cNvPr>
          <p:cNvSpPr txBox="1">
            <a:spLocks/>
          </p:cNvSpPr>
          <p:nvPr/>
        </p:nvSpPr>
        <p:spPr>
          <a:xfrm>
            <a:off x="3625650" y="1203510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813245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369;p56">
            <a:extLst>
              <a:ext uri="{FF2B5EF4-FFF2-40B4-BE49-F238E27FC236}">
                <a16:creationId xmlns:a16="http://schemas.microsoft.com/office/drawing/2014/main" id="{34869F1D-DF59-7D7F-1E68-7DACF1C8661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2717" y="2732659"/>
            <a:ext cx="7567611" cy="34718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70;p56">
            <a:extLst>
              <a:ext uri="{FF2B5EF4-FFF2-40B4-BE49-F238E27FC236}">
                <a16:creationId xmlns:a16="http://schemas.microsoft.com/office/drawing/2014/main" id="{AF028469-9594-CCD3-A60A-FC646EC51BF5}"/>
              </a:ext>
            </a:extLst>
          </p:cNvPr>
          <p:cNvSpPr txBox="1">
            <a:spLocks/>
          </p:cNvSpPr>
          <p:nvPr/>
        </p:nvSpPr>
        <p:spPr>
          <a:xfrm>
            <a:off x="3389510" y="1205584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3825282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75;p57">
            <a:extLst>
              <a:ext uri="{FF2B5EF4-FFF2-40B4-BE49-F238E27FC236}">
                <a16:creationId xmlns:a16="http://schemas.microsoft.com/office/drawing/2014/main" id="{2FD70B8E-FFFC-2D84-88BC-BF9B8AF3EA5C}"/>
              </a:ext>
            </a:extLst>
          </p:cNvPr>
          <p:cNvSpPr txBox="1"/>
          <p:nvPr/>
        </p:nvSpPr>
        <p:spPr>
          <a:xfrm>
            <a:off x="1402820" y="2897769"/>
            <a:ext cx="8274000" cy="20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241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Remote </a:t>
            </a:r>
            <a:r>
              <a:rPr lang="en-US" sz="2000" dirty="0"/>
              <a:t>r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epository and </a:t>
            </a:r>
            <a:r>
              <a:rPr lang="en-US" sz="2000" dirty="0"/>
              <a:t>l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ocal </a:t>
            </a:r>
            <a:r>
              <a:rPr lang="en-US" sz="2000" dirty="0"/>
              <a:t>r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epository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7980" marR="5080" lvl="0" indent="-335915" algn="l" rtl="0">
              <a:lnSpc>
                <a:spcPct val="101000"/>
              </a:lnSpc>
              <a:spcBef>
                <a:spcPts val="137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Remote </a:t>
            </a:r>
            <a:r>
              <a:rPr lang="en-US" sz="2000" dirty="0"/>
              <a:t>r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epository: A </a:t>
            </a:r>
            <a:r>
              <a:rPr lang="en-US" sz="2000" dirty="0"/>
              <a:t>r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epository that resides on a server and is shared among all team members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7980" marR="400050" lvl="0" indent="-335915" algn="l" rtl="0">
              <a:lnSpc>
                <a:spcPct val="101000"/>
              </a:lnSpc>
              <a:spcBef>
                <a:spcPts val="137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Local </a:t>
            </a:r>
            <a:r>
              <a:rPr lang="en-US" sz="2000" dirty="0"/>
              <a:t>r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epository: A </a:t>
            </a:r>
            <a:r>
              <a:rPr lang="en-US" sz="2000" dirty="0"/>
              <a:t>r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epository that resides on </a:t>
            </a:r>
            <a:r>
              <a:rPr lang="en-US" sz="2000" dirty="0">
                <a:solidFill>
                  <a:schemeClr val="dk1"/>
                </a:solidFill>
              </a:rPr>
              <a:t>an individual’s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 local machine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76;p57">
            <a:extLst>
              <a:ext uri="{FF2B5EF4-FFF2-40B4-BE49-F238E27FC236}">
                <a16:creationId xmlns:a16="http://schemas.microsoft.com/office/drawing/2014/main" id="{FFCB875F-9790-F4E8-FE00-F7256CEC2105}"/>
              </a:ext>
            </a:extLst>
          </p:cNvPr>
          <p:cNvSpPr txBox="1">
            <a:spLocks/>
          </p:cNvSpPr>
          <p:nvPr/>
        </p:nvSpPr>
        <p:spPr>
          <a:xfrm>
            <a:off x="3069470" y="1361032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2438756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381;p58">
            <a:extLst>
              <a:ext uri="{FF2B5EF4-FFF2-40B4-BE49-F238E27FC236}">
                <a16:creationId xmlns:a16="http://schemas.microsoft.com/office/drawing/2014/main" id="{345BF0AD-2CF8-5A24-249F-FC008994896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89408" y="2019819"/>
            <a:ext cx="7594599" cy="447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82;p58">
            <a:extLst>
              <a:ext uri="{FF2B5EF4-FFF2-40B4-BE49-F238E27FC236}">
                <a16:creationId xmlns:a16="http://schemas.microsoft.com/office/drawing/2014/main" id="{A374290D-7569-B675-E25E-E26F6472263E}"/>
              </a:ext>
            </a:extLst>
          </p:cNvPr>
          <p:cNvSpPr txBox="1">
            <a:spLocks/>
          </p:cNvSpPr>
          <p:nvPr/>
        </p:nvSpPr>
        <p:spPr>
          <a:xfrm>
            <a:off x="3316358" y="1095856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1777457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87;p59">
            <a:extLst>
              <a:ext uri="{FF2B5EF4-FFF2-40B4-BE49-F238E27FC236}">
                <a16:creationId xmlns:a16="http://schemas.microsoft.com/office/drawing/2014/main" id="{A51077F8-2F8C-FB16-FBA9-2B73495BC271}"/>
              </a:ext>
            </a:extLst>
          </p:cNvPr>
          <p:cNvSpPr txBox="1"/>
          <p:nvPr/>
        </p:nvSpPr>
        <p:spPr>
          <a:xfrm>
            <a:off x="3054000" y="2904806"/>
            <a:ext cx="6084000" cy="27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343535" marR="0" lvl="0" indent="-331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Remote </a:t>
            </a:r>
            <a:r>
              <a:rPr lang="en-US" sz="2000" dirty="0"/>
              <a:t>r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epository </a:t>
            </a:r>
            <a:r>
              <a:rPr lang="en-US" sz="2000" dirty="0"/>
              <a:t>-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 Remote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/>
              <a:t>It is p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ossible to have more than one repository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/>
              <a:t>It is a</a:t>
            </a: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n alias for each repository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Update from it with fetch and pull commands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Send updates with push commands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88;p59">
            <a:extLst>
              <a:ext uri="{FF2B5EF4-FFF2-40B4-BE49-F238E27FC236}">
                <a16:creationId xmlns:a16="http://schemas.microsoft.com/office/drawing/2014/main" id="{84913B45-45F0-271A-9A70-D13AFDA11C4A}"/>
              </a:ext>
            </a:extLst>
          </p:cNvPr>
          <p:cNvSpPr txBox="1">
            <a:spLocks/>
          </p:cNvSpPr>
          <p:nvPr/>
        </p:nvSpPr>
        <p:spPr>
          <a:xfrm>
            <a:off x="3069470" y="1260448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3547268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93;p60">
            <a:extLst>
              <a:ext uri="{FF2B5EF4-FFF2-40B4-BE49-F238E27FC236}">
                <a16:creationId xmlns:a16="http://schemas.microsoft.com/office/drawing/2014/main" id="{E7401494-BFE2-DA44-B668-A72D849AB8C0}"/>
              </a:ext>
            </a:extLst>
          </p:cNvPr>
          <p:cNvSpPr txBox="1"/>
          <p:nvPr/>
        </p:nvSpPr>
        <p:spPr>
          <a:xfrm>
            <a:off x="1573778" y="2801765"/>
            <a:ext cx="8060100" cy="27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pPr marL="343535" marR="0" lvl="0" indent="-331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Branch</a:t>
            </a:r>
            <a:endParaRPr sz="20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It is a</a:t>
            </a: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n active line of development</a:t>
            </a:r>
            <a:endParaRPr sz="20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The m</a:t>
            </a: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ost recent commit on a branch is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called</a:t>
            </a: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 a “tip”</a:t>
            </a:r>
            <a:endParaRPr sz="20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1065530" marR="0" lvl="1" indent="-191135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A single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it repository can track an arbitrary number of branches</a:t>
            </a:r>
            <a:endParaRPr sz="20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1065530" marR="5080" lvl="1" indent="-190500" algn="l" rtl="0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A w</a:t>
            </a:r>
            <a:r>
              <a:rPr lang="en-U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orking tree is associated with one of them, and the HEAD points to that branch</a:t>
            </a:r>
            <a:endParaRPr sz="20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94;p60">
            <a:extLst>
              <a:ext uri="{FF2B5EF4-FFF2-40B4-BE49-F238E27FC236}">
                <a16:creationId xmlns:a16="http://schemas.microsoft.com/office/drawing/2014/main" id="{501D1727-1FC8-7842-97E3-F7A2249E6138}"/>
              </a:ext>
            </a:extLst>
          </p:cNvPr>
          <p:cNvSpPr txBox="1">
            <a:spLocks/>
          </p:cNvSpPr>
          <p:nvPr/>
        </p:nvSpPr>
        <p:spPr>
          <a:xfrm>
            <a:off x="3133478" y="1297024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3544706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399;p61">
            <a:extLst>
              <a:ext uri="{FF2B5EF4-FFF2-40B4-BE49-F238E27FC236}">
                <a16:creationId xmlns:a16="http://schemas.microsoft.com/office/drawing/2014/main" id="{FEB452C8-7B66-4817-DC38-CB91EE22E04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61618" y="2082942"/>
            <a:ext cx="7343699" cy="4521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400;p61">
            <a:extLst>
              <a:ext uri="{FF2B5EF4-FFF2-40B4-BE49-F238E27FC236}">
                <a16:creationId xmlns:a16="http://schemas.microsoft.com/office/drawing/2014/main" id="{C77529F6-513E-644F-8EA9-AA8B8BDB4901}"/>
              </a:ext>
            </a:extLst>
          </p:cNvPr>
          <p:cNvSpPr txBox="1">
            <a:spLocks/>
          </p:cNvSpPr>
          <p:nvPr/>
        </p:nvSpPr>
        <p:spPr>
          <a:xfrm>
            <a:off x="3407798" y="1333600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4058358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05;p62">
            <a:extLst>
              <a:ext uri="{FF2B5EF4-FFF2-40B4-BE49-F238E27FC236}">
                <a16:creationId xmlns:a16="http://schemas.microsoft.com/office/drawing/2014/main" id="{A1E3E6AA-42AB-BFE4-1B5A-986C6C3A0BC1}"/>
              </a:ext>
            </a:extLst>
          </p:cNvPr>
          <p:cNvSpPr txBox="1"/>
          <p:nvPr/>
        </p:nvSpPr>
        <p:spPr>
          <a:xfrm>
            <a:off x="1665842" y="2796857"/>
            <a:ext cx="7985700" cy="23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675" rIns="0" bIns="0" anchor="t" anchorCtr="0">
            <a:spAutoFit/>
          </a:bodyPr>
          <a:lstStyle/>
          <a:p>
            <a:pPr marL="345440" marR="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Merge </a:t>
            </a:r>
            <a:r>
              <a:rPr lang="en-US" sz="2400"/>
              <a:t>c</a:t>
            </a: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onflict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1068070" marR="0" lvl="1" indent="-183514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/>
              <a:t>The s</a:t>
            </a: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ame line </a:t>
            </a:r>
            <a:r>
              <a:rPr lang="en-US" sz="2400"/>
              <a:t>in</a:t>
            </a: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 a file can be edited by multiple people</a:t>
            </a:r>
            <a:r>
              <a:rPr lang="en-US" sz="2400"/>
              <a:t> o</a:t>
            </a: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r in different branches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1068070" marR="5080" lvl="1" indent="-183514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Git is intelligent in case the changes are </a:t>
            </a:r>
            <a:r>
              <a:rPr lang="en-US" sz="2400"/>
              <a:t>in</a:t>
            </a: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 different line numbers in a file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406;p62">
            <a:extLst>
              <a:ext uri="{FF2B5EF4-FFF2-40B4-BE49-F238E27FC236}">
                <a16:creationId xmlns:a16="http://schemas.microsoft.com/office/drawing/2014/main" id="{32612964-DB65-32F8-774E-8F20303815FA}"/>
              </a:ext>
            </a:extLst>
          </p:cNvPr>
          <p:cNvSpPr txBox="1">
            <a:spLocks/>
          </p:cNvSpPr>
          <p:nvPr/>
        </p:nvSpPr>
        <p:spPr>
          <a:xfrm>
            <a:off x="3188342" y="1233016"/>
            <a:ext cx="4940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BASIC GIT CONCEPTS</a:t>
            </a:r>
          </a:p>
        </p:txBody>
      </p:sp>
    </p:spTree>
    <p:extLst>
      <p:ext uri="{BB962C8B-B14F-4D97-AF65-F5344CB8AC3E}">
        <p14:creationId xmlns:p14="http://schemas.microsoft.com/office/powerpoint/2010/main" val="1063270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11;p63">
            <a:extLst>
              <a:ext uri="{FF2B5EF4-FFF2-40B4-BE49-F238E27FC236}">
                <a16:creationId xmlns:a16="http://schemas.microsoft.com/office/drawing/2014/main" id="{D1605CCC-2231-3F31-256A-AA7BB907A2F8}"/>
              </a:ext>
            </a:extLst>
          </p:cNvPr>
          <p:cNvSpPr txBox="1"/>
          <p:nvPr/>
        </p:nvSpPr>
        <p:spPr>
          <a:xfrm>
            <a:off x="2087427" y="2563830"/>
            <a:ext cx="7281000" cy="25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675" rIns="0" bIns="0" anchor="t" anchorCtr="0">
            <a:spAutoFit/>
          </a:bodyPr>
          <a:lstStyle/>
          <a:p>
            <a:pPr marL="345440" marR="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Sudo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 apt-get </a:t>
            </a:r>
            <a:r>
              <a:rPr lang="en-US" sz="24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intall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 git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5080" lvl="0" indent="-333375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dirty="0"/>
              <a:t>G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it needs your SSH public key to allow pushing and pulling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6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git config –global user.name &lt;name&gt;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git config –global </a:t>
            </a:r>
            <a:r>
              <a:rPr lang="en-US" sz="24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user.email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	&lt;email&gt;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412;p63">
            <a:extLst>
              <a:ext uri="{FF2B5EF4-FFF2-40B4-BE49-F238E27FC236}">
                <a16:creationId xmlns:a16="http://schemas.microsoft.com/office/drawing/2014/main" id="{88269719-FD25-B9DA-9381-54953DEB9D02}"/>
              </a:ext>
            </a:extLst>
          </p:cNvPr>
          <p:cNvSpPr txBox="1">
            <a:spLocks/>
          </p:cNvSpPr>
          <p:nvPr/>
        </p:nvSpPr>
        <p:spPr>
          <a:xfrm>
            <a:off x="3711327" y="1223371"/>
            <a:ext cx="40332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SETTING UP GIT</a:t>
            </a:r>
          </a:p>
        </p:txBody>
      </p:sp>
    </p:spTree>
    <p:extLst>
      <p:ext uri="{BB962C8B-B14F-4D97-AF65-F5344CB8AC3E}">
        <p14:creationId xmlns:p14="http://schemas.microsoft.com/office/powerpoint/2010/main" val="923875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17;p64">
            <a:extLst>
              <a:ext uri="{FF2B5EF4-FFF2-40B4-BE49-F238E27FC236}">
                <a16:creationId xmlns:a16="http://schemas.microsoft.com/office/drawing/2014/main" id="{18AADFF6-EFD5-4358-1F6C-373BE30E85AE}"/>
              </a:ext>
            </a:extLst>
          </p:cNvPr>
          <p:cNvSpPr txBox="1"/>
          <p:nvPr/>
        </p:nvSpPr>
        <p:spPr>
          <a:xfrm>
            <a:off x="1747757" y="1632924"/>
            <a:ext cx="9337302" cy="51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675" rIns="0" bIns="0" anchor="t" anchorCtr="0">
            <a:spAutoFit/>
          </a:bodyPr>
          <a:lstStyle/>
          <a:p>
            <a:pPr marL="345440" marR="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init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dirty="0"/>
              <a:t>I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nitialize a directory as a </a:t>
            </a:r>
            <a:r>
              <a:rPr lang="en-US" sz="2400" dirty="0"/>
              <a:t>G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it repository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add: </a:t>
            </a:r>
            <a:r>
              <a:rPr lang="en-US" sz="2400" dirty="0"/>
              <a:t>A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dd a file to </a:t>
            </a:r>
            <a:r>
              <a:rPr lang="en-US" sz="2400" dirty="0"/>
              <a:t>G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it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rm: </a:t>
            </a:r>
            <a:r>
              <a:rPr lang="en-US" sz="2400" dirty="0"/>
              <a:t>R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emove a file from </a:t>
            </a:r>
            <a:r>
              <a:rPr lang="en-US" sz="2400" dirty="0"/>
              <a:t>G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it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commit: </a:t>
            </a:r>
            <a:r>
              <a:rPr lang="en-US" sz="2400" dirty="0"/>
              <a:t>C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ommit staged files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checkout: </a:t>
            </a:r>
            <a:r>
              <a:rPr lang="en-US" sz="2400" dirty="0"/>
              <a:t>C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heck out files/branches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branch: </a:t>
            </a:r>
            <a:r>
              <a:rPr lang="en-US" sz="2400" dirty="0"/>
              <a:t>V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iew branches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push: </a:t>
            </a:r>
            <a:r>
              <a:rPr lang="en-US" sz="2400" dirty="0"/>
              <a:t>U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pdate the remote repo with the changes made to the local repo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pull: </a:t>
            </a:r>
            <a:r>
              <a:rPr lang="en-US" sz="2400" dirty="0"/>
              <a:t>U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pdate the local repo with the changes </a:t>
            </a:r>
            <a:r>
              <a:rPr lang="en-US" sz="2400" dirty="0"/>
              <a:t>made to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the 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remote repo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418;p64">
            <a:extLst>
              <a:ext uri="{FF2B5EF4-FFF2-40B4-BE49-F238E27FC236}">
                <a16:creationId xmlns:a16="http://schemas.microsoft.com/office/drawing/2014/main" id="{EE1CD355-06B1-D173-07FB-6208D7107E5B}"/>
              </a:ext>
            </a:extLst>
          </p:cNvPr>
          <p:cNvSpPr txBox="1">
            <a:spLocks/>
          </p:cNvSpPr>
          <p:nvPr/>
        </p:nvSpPr>
        <p:spPr>
          <a:xfrm>
            <a:off x="4281150" y="1036384"/>
            <a:ext cx="3629700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sz="4000" dirty="0"/>
              <a:t>GIT COMMANDS</a:t>
            </a:r>
          </a:p>
        </p:txBody>
      </p:sp>
    </p:spTree>
    <p:extLst>
      <p:ext uri="{BB962C8B-B14F-4D97-AF65-F5344CB8AC3E}">
        <p14:creationId xmlns:p14="http://schemas.microsoft.com/office/powerpoint/2010/main" val="127115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23;p65">
            <a:extLst>
              <a:ext uri="{FF2B5EF4-FFF2-40B4-BE49-F238E27FC236}">
                <a16:creationId xmlns:a16="http://schemas.microsoft.com/office/drawing/2014/main" id="{A6063867-FA47-C477-99EB-C4ACDA43CD05}"/>
              </a:ext>
            </a:extLst>
          </p:cNvPr>
          <p:cNvSpPr txBox="1">
            <a:spLocks/>
          </p:cNvSpPr>
          <p:nvPr/>
        </p:nvSpPr>
        <p:spPr>
          <a:xfrm>
            <a:off x="1656594" y="1111213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buSzPts val="3111"/>
            </a:pPr>
            <a:r>
              <a:rPr lang="en-US" dirty="0"/>
              <a:t>HOW TO USE GIT AND GITHUB?</a:t>
            </a:r>
          </a:p>
        </p:txBody>
      </p:sp>
      <p:sp>
        <p:nvSpPr>
          <p:cNvPr id="10" name="Google Shape;424;p65">
            <a:extLst>
              <a:ext uri="{FF2B5EF4-FFF2-40B4-BE49-F238E27FC236}">
                <a16:creationId xmlns:a16="http://schemas.microsoft.com/office/drawing/2014/main" id="{083F5D9A-86E3-73BC-91D2-94F2DDA4E952}"/>
              </a:ext>
            </a:extLst>
          </p:cNvPr>
          <p:cNvSpPr txBox="1">
            <a:spLocks/>
          </p:cNvSpPr>
          <p:nvPr/>
        </p:nvSpPr>
        <p:spPr>
          <a:xfrm>
            <a:off x="2397089" y="2129113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23850">
              <a:lnSpc>
                <a:spcPct val="115000"/>
              </a:lnSpc>
              <a:spcBef>
                <a:spcPts val="0"/>
              </a:spcBef>
              <a:buSzPts val="1500"/>
              <a:buFont typeface="Arial" panose="020B0604020202020204" pitchFamily="34" charset="0"/>
              <a:buAutoNum type="arabicPeriod"/>
            </a:pPr>
            <a:r>
              <a:rPr lang="en-US" sz="2100" dirty="0"/>
              <a:t>Create a “repository” (project) with GitHub</a:t>
            </a:r>
          </a:p>
          <a:p>
            <a:pPr marL="457200" indent="-323850">
              <a:lnSpc>
                <a:spcPct val="115000"/>
              </a:lnSpc>
              <a:spcBef>
                <a:spcPts val="0"/>
              </a:spcBef>
              <a:buSzPts val="1500"/>
              <a:buFont typeface="Arial" panose="020B0604020202020204" pitchFamily="34" charset="0"/>
              <a:buAutoNum type="arabicPeriod"/>
            </a:pPr>
            <a:r>
              <a:rPr lang="en-US" sz="2100" dirty="0"/>
              <a:t>Copy (or clone) the repository to your local machine</a:t>
            </a:r>
          </a:p>
          <a:p>
            <a:pPr marL="457200" indent="-323850">
              <a:lnSpc>
                <a:spcPct val="115000"/>
              </a:lnSpc>
              <a:spcBef>
                <a:spcPts val="0"/>
              </a:spcBef>
              <a:buSzPts val="1500"/>
              <a:buFont typeface="Arial" panose="020B0604020202020204" pitchFamily="34" charset="0"/>
              <a:buAutoNum type="arabicPeriod"/>
            </a:pPr>
            <a:r>
              <a:rPr lang="en-US" sz="2100" dirty="0"/>
              <a:t>Add a file to your local repo and “commit” (save) the changes</a:t>
            </a:r>
          </a:p>
          <a:p>
            <a:pPr marL="457200" indent="-323850">
              <a:lnSpc>
                <a:spcPct val="115000"/>
              </a:lnSpc>
              <a:spcBef>
                <a:spcPts val="0"/>
              </a:spcBef>
              <a:buSzPts val="1500"/>
              <a:buFont typeface="Arial" panose="020B0604020202020204" pitchFamily="34" charset="0"/>
              <a:buAutoNum type="arabicPeriod"/>
            </a:pPr>
            <a:r>
              <a:rPr lang="en-US" sz="2100" dirty="0"/>
              <a:t>“Push” your changes to your main branch</a:t>
            </a:r>
          </a:p>
          <a:p>
            <a:pPr marL="457200" indent="-323850">
              <a:lnSpc>
                <a:spcPct val="115000"/>
              </a:lnSpc>
              <a:spcBef>
                <a:spcPts val="0"/>
              </a:spcBef>
              <a:buSzPts val="1500"/>
              <a:buFont typeface="Arial" panose="020B0604020202020204" pitchFamily="34" charset="0"/>
              <a:buAutoNum type="arabicPeriod"/>
            </a:pPr>
            <a:r>
              <a:rPr lang="en-US" sz="2100" dirty="0"/>
              <a:t>Make a change to your file with a Git hosting tool and commit</a:t>
            </a:r>
          </a:p>
          <a:p>
            <a:pPr marL="457200" indent="-323850">
              <a:lnSpc>
                <a:spcPct val="115000"/>
              </a:lnSpc>
              <a:spcBef>
                <a:spcPts val="0"/>
              </a:spcBef>
              <a:buSzPts val="1500"/>
              <a:buFont typeface="Arial" panose="020B0604020202020204" pitchFamily="34" charset="0"/>
              <a:buAutoNum type="arabicPeriod"/>
            </a:pPr>
            <a:r>
              <a:rPr lang="en-US" sz="2100" dirty="0"/>
              <a:t>“Pull” the changes to your local machine</a:t>
            </a:r>
          </a:p>
          <a:p>
            <a:pPr marL="457200" indent="-323850">
              <a:lnSpc>
                <a:spcPct val="115000"/>
              </a:lnSpc>
              <a:spcBef>
                <a:spcPts val="0"/>
              </a:spcBef>
              <a:buSzPts val="1500"/>
              <a:buFont typeface="Arial" panose="020B0604020202020204" pitchFamily="34" charset="0"/>
              <a:buAutoNum type="arabicPeriod"/>
            </a:pPr>
            <a:r>
              <a:rPr lang="en-US" sz="2100" dirty="0"/>
              <a:t>Create a “branch” (version), make a change, and commit the change</a:t>
            </a:r>
          </a:p>
          <a:p>
            <a:pPr marL="457200" indent="-323850">
              <a:lnSpc>
                <a:spcPct val="115000"/>
              </a:lnSpc>
              <a:spcBef>
                <a:spcPts val="0"/>
              </a:spcBef>
              <a:buSzPts val="1500"/>
              <a:buFont typeface="Arial" panose="020B0604020202020204" pitchFamily="34" charset="0"/>
              <a:buAutoNum type="arabicPeriod"/>
            </a:pPr>
            <a:r>
              <a:rPr lang="en-US" sz="2100" dirty="0"/>
              <a:t>Open a “pull request” (propose changes to the main branch)</a:t>
            </a:r>
          </a:p>
          <a:p>
            <a:pPr marL="457200" indent="-323850">
              <a:lnSpc>
                <a:spcPct val="115000"/>
              </a:lnSpc>
              <a:spcBef>
                <a:spcPts val="0"/>
              </a:spcBef>
              <a:buSzPts val="1500"/>
              <a:buFont typeface="Arial" panose="020B0604020202020204" pitchFamily="34" charset="0"/>
              <a:buAutoNum type="arabicPeriod"/>
            </a:pPr>
            <a:r>
              <a:rPr lang="en-US" sz="2100" dirty="0"/>
              <a:t>“Merge” your branch to the main branch</a:t>
            </a:r>
          </a:p>
        </p:txBody>
      </p:sp>
    </p:spTree>
    <p:extLst>
      <p:ext uri="{BB962C8B-B14F-4D97-AF65-F5344CB8AC3E}">
        <p14:creationId xmlns:p14="http://schemas.microsoft.com/office/powerpoint/2010/main" val="406624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29;p66">
            <a:extLst>
              <a:ext uri="{FF2B5EF4-FFF2-40B4-BE49-F238E27FC236}">
                <a16:creationId xmlns:a16="http://schemas.microsoft.com/office/drawing/2014/main" id="{CE9008A1-F28E-9A11-AC33-D7DA16F51284}"/>
              </a:ext>
            </a:extLst>
          </p:cNvPr>
          <p:cNvSpPr txBox="1"/>
          <p:nvPr/>
        </p:nvSpPr>
        <p:spPr>
          <a:xfrm>
            <a:off x="1124516" y="1973700"/>
            <a:ext cx="5983004" cy="4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675" rIns="0" bIns="0" anchor="t" anchorCtr="0">
            <a:spAutoFit/>
          </a:bodyPr>
          <a:lstStyle/>
          <a:p>
            <a:pPr marL="345440" marR="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stash: </a:t>
            </a:r>
            <a:r>
              <a:rPr lang="en-US" sz="2400" dirty="0"/>
              <a:t>M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anage the stash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remote: </a:t>
            </a:r>
            <a:r>
              <a:rPr lang="en-US" sz="2400" dirty="0"/>
              <a:t>M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anage a set of tracked repositor</a:t>
            </a:r>
            <a:r>
              <a:rPr lang="en-US" sz="2400" dirty="0"/>
              <a:t>ies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merge: </a:t>
            </a:r>
            <a:r>
              <a:rPr lang="en-US" sz="2400" dirty="0"/>
              <a:t>M</a:t>
            </a: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erge changes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Resolving merge conflicts: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8070" marR="0" lvl="1" indent="-183514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Edit files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8070" marR="0" lvl="1" indent="-183514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Add edited files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68070" marR="0" lvl="1" indent="-183514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b="0" i="0" u="none" strike="noStrike" cap="none" dirty="0">
                <a:latin typeface="Arial"/>
                <a:ea typeface="Arial"/>
                <a:cs typeface="Arial"/>
                <a:sym typeface="Arial"/>
              </a:rPr>
              <a:t>Commit files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430;p66">
            <a:extLst>
              <a:ext uri="{FF2B5EF4-FFF2-40B4-BE49-F238E27FC236}">
                <a16:creationId xmlns:a16="http://schemas.microsoft.com/office/drawing/2014/main" id="{79C019AA-0D6B-955A-8AC2-A317D5F3ACB4}"/>
              </a:ext>
            </a:extLst>
          </p:cNvPr>
          <p:cNvSpPr txBox="1">
            <a:spLocks/>
          </p:cNvSpPr>
          <p:nvPr/>
        </p:nvSpPr>
        <p:spPr>
          <a:xfrm>
            <a:off x="4060560" y="1105042"/>
            <a:ext cx="4070879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GIT COMMANDS</a:t>
            </a:r>
          </a:p>
        </p:txBody>
      </p:sp>
    </p:spTree>
    <p:extLst>
      <p:ext uri="{BB962C8B-B14F-4D97-AF65-F5344CB8AC3E}">
        <p14:creationId xmlns:p14="http://schemas.microsoft.com/office/powerpoint/2010/main" val="270903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35;p67">
            <a:extLst>
              <a:ext uri="{FF2B5EF4-FFF2-40B4-BE49-F238E27FC236}">
                <a16:creationId xmlns:a16="http://schemas.microsoft.com/office/drawing/2014/main" id="{575B4304-DE38-9456-AEF0-171545AA0906}"/>
              </a:ext>
            </a:extLst>
          </p:cNvPr>
          <p:cNvSpPr/>
          <p:nvPr/>
        </p:nvSpPr>
        <p:spPr>
          <a:xfrm>
            <a:off x="2163368" y="2804240"/>
            <a:ext cx="5792700" cy="3718500"/>
          </a:xfrm>
          <a:prstGeom prst="roundRect">
            <a:avLst>
              <a:gd name="adj" fmla="val 6909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Local Repository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436;p67">
            <a:extLst>
              <a:ext uri="{FF2B5EF4-FFF2-40B4-BE49-F238E27FC236}">
                <a16:creationId xmlns:a16="http://schemas.microsoft.com/office/drawing/2014/main" id="{D58E2D70-9032-AA23-D7AA-84D14291395D}"/>
              </a:ext>
            </a:extLst>
          </p:cNvPr>
          <p:cNvSpPr/>
          <p:nvPr/>
        </p:nvSpPr>
        <p:spPr>
          <a:xfrm>
            <a:off x="2255993" y="4106040"/>
            <a:ext cx="1381200" cy="1253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Working Copy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437;p67">
            <a:extLst>
              <a:ext uri="{FF2B5EF4-FFF2-40B4-BE49-F238E27FC236}">
                <a16:creationId xmlns:a16="http://schemas.microsoft.com/office/drawing/2014/main" id="{15CE0C6D-50DA-013C-3149-B704F2C40937}"/>
              </a:ext>
            </a:extLst>
          </p:cNvPr>
          <p:cNvSpPr/>
          <p:nvPr/>
        </p:nvSpPr>
        <p:spPr>
          <a:xfrm>
            <a:off x="4205959" y="4106040"/>
            <a:ext cx="1381200" cy="1253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Staging Area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438;p67">
            <a:extLst>
              <a:ext uri="{FF2B5EF4-FFF2-40B4-BE49-F238E27FC236}">
                <a16:creationId xmlns:a16="http://schemas.microsoft.com/office/drawing/2014/main" id="{399B1175-158C-2964-6977-1FCD33DC23C4}"/>
              </a:ext>
            </a:extLst>
          </p:cNvPr>
          <p:cNvSpPr/>
          <p:nvPr/>
        </p:nvSpPr>
        <p:spPr>
          <a:xfrm>
            <a:off x="8251118" y="4106040"/>
            <a:ext cx="1381200" cy="1253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Remote Server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(GitHub)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439;p67">
            <a:extLst>
              <a:ext uri="{FF2B5EF4-FFF2-40B4-BE49-F238E27FC236}">
                <a16:creationId xmlns:a16="http://schemas.microsoft.com/office/drawing/2014/main" id="{AC61D3F2-C014-2954-CB95-331D672B52E0}"/>
              </a:ext>
            </a:extLst>
          </p:cNvPr>
          <p:cNvSpPr/>
          <p:nvPr/>
        </p:nvSpPr>
        <p:spPr>
          <a:xfrm>
            <a:off x="6155925" y="4106040"/>
            <a:ext cx="1526400" cy="1253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Local Version Database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" name="Google Shape;440;p67">
            <a:extLst>
              <a:ext uri="{FF2B5EF4-FFF2-40B4-BE49-F238E27FC236}">
                <a16:creationId xmlns:a16="http://schemas.microsoft.com/office/drawing/2014/main" id="{BE61D24C-D91F-3256-9E17-0BCB219E231B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637193" y="4732890"/>
            <a:ext cx="5688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5" name="Google Shape;441;p67">
            <a:extLst>
              <a:ext uri="{FF2B5EF4-FFF2-40B4-BE49-F238E27FC236}">
                <a16:creationId xmlns:a16="http://schemas.microsoft.com/office/drawing/2014/main" id="{397119E6-49EA-11CA-B597-08A5230A41C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5587159" y="4732890"/>
            <a:ext cx="5688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6" name="Google Shape;442;p67">
            <a:extLst>
              <a:ext uri="{FF2B5EF4-FFF2-40B4-BE49-F238E27FC236}">
                <a16:creationId xmlns:a16="http://schemas.microsoft.com/office/drawing/2014/main" id="{786B8BBB-F577-4C25-44A7-7932674FB622}"/>
              </a:ext>
            </a:extLst>
          </p:cNvPr>
          <p:cNvCxnSpPr>
            <a:stCxn id="13" idx="3"/>
            <a:endCxn id="12" idx="1"/>
          </p:cNvCxnSpPr>
          <p:nvPr/>
        </p:nvCxnSpPr>
        <p:spPr>
          <a:xfrm>
            <a:off x="7682325" y="4732890"/>
            <a:ext cx="5688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17" name="Google Shape;443;p67">
            <a:extLst>
              <a:ext uri="{FF2B5EF4-FFF2-40B4-BE49-F238E27FC236}">
                <a16:creationId xmlns:a16="http://schemas.microsoft.com/office/drawing/2014/main" id="{A034120D-B6AC-F45B-9D09-17849FB8258F}"/>
              </a:ext>
            </a:extLst>
          </p:cNvPr>
          <p:cNvSpPr txBox="1"/>
          <p:nvPr/>
        </p:nvSpPr>
        <p:spPr>
          <a:xfrm>
            <a:off x="3494359" y="3515054"/>
            <a:ext cx="867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Git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dd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444;p67">
            <a:extLst>
              <a:ext uri="{FF2B5EF4-FFF2-40B4-BE49-F238E27FC236}">
                <a16:creationId xmlns:a16="http://schemas.microsoft.com/office/drawing/2014/main" id="{201F48D9-4B15-6E8D-D12F-F4483136DA6C}"/>
              </a:ext>
            </a:extLst>
          </p:cNvPr>
          <p:cNvSpPr txBox="1"/>
          <p:nvPr/>
        </p:nvSpPr>
        <p:spPr>
          <a:xfrm>
            <a:off x="7592168" y="3515054"/>
            <a:ext cx="867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Git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ush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445;p67">
            <a:extLst>
              <a:ext uri="{FF2B5EF4-FFF2-40B4-BE49-F238E27FC236}">
                <a16:creationId xmlns:a16="http://schemas.microsoft.com/office/drawing/2014/main" id="{20BEC26F-F2E0-09A8-54AF-E722D85385A4}"/>
              </a:ext>
            </a:extLst>
          </p:cNvPr>
          <p:cNvSpPr txBox="1"/>
          <p:nvPr/>
        </p:nvSpPr>
        <p:spPr>
          <a:xfrm>
            <a:off x="5239407" y="3515054"/>
            <a:ext cx="1356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Git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ommit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Google Shape;446;p67">
            <a:extLst>
              <a:ext uri="{FF2B5EF4-FFF2-40B4-BE49-F238E27FC236}">
                <a16:creationId xmlns:a16="http://schemas.microsoft.com/office/drawing/2014/main" id="{3F474FCF-BBC0-8D9C-4B35-787923A67235}"/>
              </a:ext>
            </a:extLst>
          </p:cNvPr>
          <p:cNvSpPr txBox="1"/>
          <p:nvPr/>
        </p:nvSpPr>
        <p:spPr>
          <a:xfrm>
            <a:off x="2494187" y="1320801"/>
            <a:ext cx="68073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FLOW IN GITHUB</a:t>
            </a:r>
            <a:endParaRPr sz="2399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4752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51;p68">
            <a:extLst>
              <a:ext uri="{FF2B5EF4-FFF2-40B4-BE49-F238E27FC236}">
                <a16:creationId xmlns:a16="http://schemas.microsoft.com/office/drawing/2014/main" id="{12FBE884-1DF4-F33A-020A-4BE70CAEB65E}"/>
              </a:ext>
            </a:extLst>
          </p:cNvPr>
          <p:cNvSpPr txBox="1"/>
          <p:nvPr/>
        </p:nvSpPr>
        <p:spPr>
          <a:xfrm>
            <a:off x="2247299" y="1247649"/>
            <a:ext cx="68073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REVERT AND RESET</a:t>
            </a:r>
            <a:endParaRPr sz="2399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452;p68">
            <a:extLst>
              <a:ext uri="{FF2B5EF4-FFF2-40B4-BE49-F238E27FC236}">
                <a16:creationId xmlns:a16="http://schemas.microsoft.com/office/drawing/2014/main" id="{C21A7F3B-5CDA-9348-4714-9AC87B727419}"/>
              </a:ext>
            </a:extLst>
          </p:cNvPr>
          <p:cNvSpPr/>
          <p:nvPr/>
        </p:nvSpPr>
        <p:spPr>
          <a:xfrm>
            <a:off x="1686741" y="4523788"/>
            <a:ext cx="1210800" cy="1180200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1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53;p68">
            <a:extLst>
              <a:ext uri="{FF2B5EF4-FFF2-40B4-BE49-F238E27FC236}">
                <a16:creationId xmlns:a16="http://schemas.microsoft.com/office/drawing/2014/main" id="{FFB39D0A-9AC2-E485-1D22-CACFAC287774}"/>
              </a:ext>
            </a:extLst>
          </p:cNvPr>
          <p:cNvSpPr/>
          <p:nvPr/>
        </p:nvSpPr>
        <p:spPr>
          <a:xfrm>
            <a:off x="3858571" y="4523788"/>
            <a:ext cx="1156500" cy="1180200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2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454;p68">
            <a:extLst>
              <a:ext uri="{FF2B5EF4-FFF2-40B4-BE49-F238E27FC236}">
                <a16:creationId xmlns:a16="http://schemas.microsoft.com/office/drawing/2014/main" id="{D47FA641-5ED7-4DD0-D600-22569638DCD7}"/>
              </a:ext>
            </a:extLst>
          </p:cNvPr>
          <p:cNvSpPr/>
          <p:nvPr/>
        </p:nvSpPr>
        <p:spPr>
          <a:xfrm>
            <a:off x="6111117" y="4523788"/>
            <a:ext cx="1156500" cy="11802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455;p68">
            <a:extLst>
              <a:ext uri="{FF2B5EF4-FFF2-40B4-BE49-F238E27FC236}">
                <a16:creationId xmlns:a16="http://schemas.microsoft.com/office/drawing/2014/main" id="{AB73453B-86E8-6436-D604-390B4E91F7E2}"/>
              </a:ext>
            </a:extLst>
          </p:cNvPr>
          <p:cNvSpPr/>
          <p:nvPr/>
        </p:nvSpPr>
        <p:spPr>
          <a:xfrm>
            <a:off x="8730089" y="4523788"/>
            <a:ext cx="1156500" cy="1180200"/>
          </a:xfrm>
          <a:prstGeom prst="ellipse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456;p68">
            <a:extLst>
              <a:ext uri="{FF2B5EF4-FFF2-40B4-BE49-F238E27FC236}">
                <a16:creationId xmlns:a16="http://schemas.microsoft.com/office/drawing/2014/main" id="{623575A6-7E8D-5A58-CEB8-6D19C3839126}"/>
              </a:ext>
            </a:extLst>
          </p:cNvPr>
          <p:cNvCxnSpPr>
            <a:stCxn id="13" idx="2"/>
            <a:endCxn id="12" idx="6"/>
          </p:cNvCxnSpPr>
          <p:nvPr/>
        </p:nvCxnSpPr>
        <p:spPr>
          <a:xfrm rot="10800000">
            <a:off x="7267589" y="5113888"/>
            <a:ext cx="14625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15" name="Google Shape;457;p68">
            <a:extLst>
              <a:ext uri="{FF2B5EF4-FFF2-40B4-BE49-F238E27FC236}">
                <a16:creationId xmlns:a16="http://schemas.microsoft.com/office/drawing/2014/main" id="{6AC0CFCE-070C-0B6B-4C46-32AA3F0C30BA}"/>
              </a:ext>
            </a:extLst>
          </p:cNvPr>
          <p:cNvSpPr/>
          <p:nvPr/>
        </p:nvSpPr>
        <p:spPr>
          <a:xfrm>
            <a:off x="5328316" y="2984990"/>
            <a:ext cx="657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Git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458;p68">
            <a:extLst>
              <a:ext uri="{FF2B5EF4-FFF2-40B4-BE49-F238E27FC236}">
                <a16:creationId xmlns:a16="http://schemas.microsoft.com/office/drawing/2014/main" id="{040E66BE-63DA-51E6-59BD-D12D74DA93AD}"/>
              </a:ext>
            </a:extLst>
          </p:cNvPr>
          <p:cNvSpPr/>
          <p:nvPr/>
        </p:nvSpPr>
        <p:spPr>
          <a:xfrm>
            <a:off x="7721864" y="5175582"/>
            <a:ext cx="734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Git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evert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459;p68">
            <a:extLst>
              <a:ext uri="{FF2B5EF4-FFF2-40B4-BE49-F238E27FC236}">
                <a16:creationId xmlns:a16="http://schemas.microsoft.com/office/drawing/2014/main" id="{DC1808E6-6D0C-7E8C-ADBD-387326578171}"/>
              </a:ext>
            </a:extLst>
          </p:cNvPr>
          <p:cNvCxnSpPr>
            <a:stCxn id="13" idx="0"/>
            <a:endCxn id="10" idx="0"/>
          </p:cNvCxnSpPr>
          <p:nvPr/>
        </p:nvCxnSpPr>
        <p:spPr>
          <a:xfrm rot="5400000">
            <a:off x="5799989" y="1016038"/>
            <a:ext cx="600" cy="7016100"/>
          </a:xfrm>
          <a:prstGeom prst="bentConnector3">
            <a:avLst>
              <a:gd name="adj1" fmla="val -396875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32131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64;p69">
            <a:extLst>
              <a:ext uri="{FF2B5EF4-FFF2-40B4-BE49-F238E27FC236}">
                <a16:creationId xmlns:a16="http://schemas.microsoft.com/office/drawing/2014/main" id="{C2F2FC1B-45D8-9476-1DC0-3EF07CBE930F}"/>
              </a:ext>
            </a:extLst>
          </p:cNvPr>
          <p:cNvSpPr txBox="1"/>
          <p:nvPr/>
        </p:nvSpPr>
        <p:spPr>
          <a:xfrm>
            <a:off x="2293019" y="1247649"/>
            <a:ext cx="68073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BRANCHING</a:t>
            </a:r>
            <a:endParaRPr sz="2399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465;p69">
            <a:extLst>
              <a:ext uri="{FF2B5EF4-FFF2-40B4-BE49-F238E27FC236}">
                <a16:creationId xmlns:a16="http://schemas.microsoft.com/office/drawing/2014/main" id="{38999F9E-DB42-0133-D4D7-75CC5086DCAD}"/>
              </a:ext>
            </a:extLst>
          </p:cNvPr>
          <p:cNvSpPr/>
          <p:nvPr/>
        </p:nvSpPr>
        <p:spPr>
          <a:xfrm>
            <a:off x="1489589" y="2948363"/>
            <a:ext cx="1072500" cy="1180200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1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66;p69">
            <a:extLst>
              <a:ext uri="{FF2B5EF4-FFF2-40B4-BE49-F238E27FC236}">
                <a16:creationId xmlns:a16="http://schemas.microsoft.com/office/drawing/2014/main" id="{EC5A102B-DDA2-EC45-D370-E9D3843B15A4}"/>
              </a:ext>
            </a:extLst>
          </p:cNvPr>
          <p:cNvSpPr/>
          <p:nvPr/>
        </p:nvSpPr>
        <p:spPr>
          <a:xfrm>
            <a:off x="3248888" y="2948363"/>
            <a:ext cx="1072500" cy="1180200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467;p69">
            <a:extLst>
              <a:ext uri="{FF2B5EF4-FFF2-40B4-BE49-F238E27FC236}">
                <a16:creationId xmlns:a16="http://schemas.microsoft.com/office/drawing/2014/main" id="{BDEC6169-8A68-B408-B43A-CB8C562CFBA2}"/>
              </a:ext>
            </a:extLst>
          </p:cNvPr>
          <p:cNvSpPr/>
          <p:nvPr/>
        </p:nvSpPr>
        <p:spPr>
          <a:xfrm>
            <a:off x="3248888" y="4976213"/>
            <a:ext cx="1072500" cy="11802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468;p69">
            <a:extLst>
              <a:ext uri="{FF2B5EF4-FFF2-40B4-BE49-F238E27FC236}">
                <a16:creationId xmlns:a16="http://schemas.microsoft.com/office/drawing/2014/main" id="{4B68A2F5-824A-DD66-989F-E514E95FEDC8}"/>
              </a:ext>
            </a:extLst>
          </p:cNvPr>
          <p:cNvSpPr/>
          <p:nvPr/>
        </p:nvSpPr>
        <p:spPr>
          <a:xfrm>
            <a:off x="5008188" y="4976213"/>
            <a:ext cx="1199400" cy="1180200"/>
          </a:xfrm>
          <a:prstGeom prst="ellipse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69;p69">
            <a:extLst>
              <a:ext uri="{FF2B5EF4-FFF2-40B4-BE49-F238E27FC236}">
                <a16:creationId xmlns:a16="http://schemas.microsoft.com/office/drawing/2014/main" id="{E17A5F85-D3EC-ACB5-99E5-6015219BC444}"/>
              </a:ext>
            </a:extLst>
          </p:cNvPr>
          <p:cNvSpPr/>
          <p:nvPr/>
        </p:nvSpPr>
        <p:spPr>
          <a:xfrm>
            <a:off x="8991740" y="4681030"/>
            <a:ext cx="988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Merging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70;p69">
            <a:extLst>
              <a:ext uri="{FF2B5EF4-FFF2-40B4-BE49-F238E27FC236}">
                <a16:creationId xmlns:a16="http://schemas.microsoft.com/office/drawing/2014/main" id="{35B30E1E-2581-2192-AE33-0563A7AA58D6}"/>
              </a:ext>
            </a:extLst>
          </p:cNvPr>
          <p:cNvSpPr/>
          <p:nvPr/>
        </p:nvSpPr>
        <p:spPr>
          <a:xfrm>
            <a:off x="6767487" y="4976213"/>
            <a:ext cx="1199400" cy="1180200"/>
          </a:xfrm>
          <a:prstGeom prst="ellipse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471;p69">
            <a:extLst>
              <a:ext uri="{FF2B5EF4-FFF2-40B4-BE49-F238E27FC236}">
                <a16:creationId xmlns:a16="http://schemas.microsoft.com/office/drawing/2014/main" id="{9CF2E6AA-0E24-6077-D0B5-C8EFEB8EECBD}"/>
              </a:ext>
            </a:extLst>
          </p:cNvPr>
          <p:cNvSpPr/>
          <p:nvPr/>
        </p:nvSpPr>
        <p:spPr>
          <a:xfrm>
            <a:off x="8526786" y="2948363"/>
            <a:ext cx="1072500" cy="1180200"/>
          </a:xfrm>
          <a:prstGeom prst="ellipse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Commit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472;p69">
            <a:extLst>
              <a:ext uri="{FF2B5EF4-FFF2-40B4-BE49-F238E27FC236}">
                <a16:creationId xmlns:a16="http://schemas.microsoft.com/office/drawing/2014/main" id="{95F4546E-1590-DCD5-320F-63FBAF23EB60}"/>
              </a:ext>
            </a:extLst>
          </p:cNvPr>
          <p:cNvCxnSpPr>
            <a:endCxn id="11" idx="2"/>
          </p:cNvCxnSpPr>
          <p:nvPr/>
        </p:nvCxnSpPr>
        <p:spPr>
          <a:xfrm>
            <a:off x="2374688" y="3538463"/>
            <a:ext cx="8742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8" name="Google Shape;473;p69">
            <a:extLst>
              <a:ext uri="{FF2B5EF4-FFF2-40B4-BE49-F238E27FC236}">
                <a16:creationId xmlns:a16="http://schemas.microsoft.com/office/drawing/2014/main" id="{BCB06EF4-24C2-A585-9E32-11FBCC3D62F5}"/>
              </a:ext>
            </a:extLst>
          </p:cNvPr>
          <p:cNvCxnSpPr>
            <a:stCxn id="11" idx="4"/>
            <a:endCxn id="12" idx="0"/>
          </p:cNvCxnSpPr>
          <p:nvPr/>
        </p:nvCxnSpPr>
        <p:spPr>
          <a:xfrm>
            <a:off x="3785138" y="4128563"/>
            <a:ext cx="0" cy="8478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9" name="Google Shape;474;p69">
            <a:extLst>
              <a:ext uri="{FF2B5EF4-FFF2-40B4-BE49-F238E27FC236}">
                <a16:creationId xmlns:a16="http://schemas.microsoft.com/office/drawing/2014/main" id="{F2C94E0F-D106-C10A-3BB7-531E9AD49805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4321388" y="5566313"/>
            <a:ext cx="686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20" name="Google Shape;475;p69">
            <a:extLst>
              <a:ext uri="{FF2B5EF4-FFF2-40B4-BE49-F238E27FC236}">
                <a16:creationId xmlns:a16="http://schemas.microsoft.com/office/drawing/2014/main" id="{FB0DD33F-9A3E-B4A1-EF58-CBED50DA9FDB}"/>
              </a:ext>
            </a:extLst>
          </p:cNvPr>
          <p:cNvCxnSpPr>
            <a:stCxn id="13" idx="6"/>
            <a:endCxn id="15" idx="2"/>
          </p:cNvCxnSpPr>
          <p:nvPr/>
        </p:nvCxnSpPr>
        <p:spPr>
          <a:xfrm>
            <a:off x="6207588" y="5566313"/>
            <a:ext cx="5598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21" name="Google Shape;476;p69">
            <a:extLst>
              <a:ext uri="{FF2B5EF4-FFF2-40B4-BE49-F238E27FC236}">
                <a16:creationId xmlns:a16="http://schemas.microsoft.com/office/drawing/2014/main" id="{C99A86BA-DC38-FC3D-1CC1-57F899A21B8B}"/>
              </a:ext>
            </a:extLst>
          </p:cNvPr>
          <p:cNvCxnSpPr>
            <a:stCxn id="11" idx="6"/>
            <a:endCxn id="16" idx="2"/>
          </p:cNvCxnSpPr>
          <p:nvPr/>
        </p:nvCxnSpPr>
        <p:spPr>
          <a:xfrm>
            <a:off x="4321388" y="3538463"/>
            <a:ext cx="42054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22" name="Google Shape;477;p69">
            <a:extLst>
              <a:ext uri="{FF2B5EF4-FFF2-40B4-BE49-F238E27FC236}">
                <a16:creationId xmlns:a16="http://schemas.microsoft.com/office/drawing/2014/main" id="{833087D0-82BE-EE09-BBA7-81100EECD6AD}"/>
              </a:ext>
            </a:extLst>
          </p:cNvPr>
          <p:cNvCxnSpPr>
            <a:stCxn id="15" idx="6"/>
            <a:endCxn id="16" idx="4"/>
          </p:cNvCxnSpPr>
          <p:nvPr/>
        </p:nvCxnSpPr>
        <p:spPr>
          <a:xfrm rot="10800000" flipH="1">
            <a:off x="7966887" y="4128713"/>
            <a:ext cx="1096200" cy="1437600"/>
          </a:xfrm>
          <a:prstGeom prst="bent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301842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82;p70">
            <a:extLst>
              <a:ext uri="{FF2B5EF4-FFF2-40B4-BE49-F238E27FC236}">
                <a16:creationId xmlns:a16="http://schemas.microsoft.com/office/drawing/2014/main" id="{8A8D1C60-14C2-1B4F-AE79-0A68B69B284C}"/>
              </a:ext>
            </a:extLst>
          </p:cNvPr>
          <p:cNvSpPr txBox="1"/>
          <p:nvPr/>
        </p:nvSpPr>
        <p:spPr>
          <a:xfrm>
            <a:off x="2002788" y="1382226"/>
            <a:ext cx="80124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6600" b="0" i="0" u="none" strike="noStrike" cap="none">
                <a:solidFill>
                  <a:srgbClr val="F4AB35"/>
                </a:solidFill>
                <a:latin typeface="Lato"/>
                <a:ea typeface="Lato"/>
                <a:cs typeface="Lato"/>
                <a:sym typeface="Lato"/>
              </a:rPr>
              <a:t>What is open source?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483;p70">
            <a:extLst>
              <a:ext uri="{FF2B5EF4-FFF2-40B4-BE49-F238E27FC236}">
                <a16:creationId xmlns:a16="http://schemas.microsoft.com/office/drawing/2014/main" id="{0AF88396-6AC7-400D-FFF1-D83ED7B2F18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76372" y="3135594"/>
            <a:ext cx="5800422" cy="3713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5882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488;p71">
            <a:extLst>
              <a:ext uri="{FF2B5EF4-FFF2-40B4-BE49-F238E27FC236}">
                <a16:creationId xmlns:a16="http://schemas.microsoft.com/office/drawing/2014/main" id="{D6048495-DCD2-07B6-2391-CA015DDFF1EC}"/>
              </a:ext>
            </a:extLst>
          </p:cNvPr>
          <p:cNvSpPr txBox="1"/>
          <p:nvPr/>
        </p:nvSpPr>
        <p:spPr>
          <a:xfrm>
            <a:off x="2183291" y="1256793"/>
            <a:ext cx="68073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IS OPEN SOURCE?</a:t>
            </a:r>
            <a:endParaRPr sz="2399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489;p71">
            <a:extLst>
              <a:ext uri="{FF2B5EF4-FFF2-40B4-BE49-F238E27FC236}">
                <a16:creationId xmlns:a16="http://schemas.microsoft.com/office/drawing/2014/main" id="{C0E56F38-B906-CFE9-A055-79575CF5BE66}"/>
              </a:ext>
            </a:extLst>
          </p:cNvPr>
          <p:cNvGrpSpPr/>
          <p:nvPr/>
        </p:nvGrpSpPr>
        <p:grpSpPr>
          <a:xfrm>
            <a:off x="2920289" y="2281363"/>
            <a:ext cx="5332603" cy="431800"/>
            <a:chOff x="2345372" y="1282818"/>
            <a:chExt cx="7501200" cy="431800"/>
          </a:xfrm>
        </p:grpSpPr>
        <p:sp>
          <p:nvSpPr>
            <p:cNvPr id="11" name="Google Shape;490;p71">
              <a:extLst>
                <a:ext uri="{FF2B5EF4-FFF2-40B4-BE49-F238E27FC236}">
                  <a16:creationId xmlns:a16="http://schemas.microsoft.com/office/drawing/2014/main" id="{D34F8A55-8E74-CB58-114D-FF36056CEB90}"/>
                </a:ext>
              </a:extLst>
            </p:cNvPr>
            <p:cNvSpPr txBox="1"/>
            <p:nvPr/>
          </p:nvSpPr>
          <p:spPr>
            <a:xfrm>
              <a:off x="2345372" y="1282819"/>
              <a:ext cx="75012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1294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Noto Sans Symbols"/>
                <a:buChar char="●"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Decentrali</a:t>
              </a:r>
              <a:r>
                <a:rPr lang="en-US" sz="1500">
                  <a:latin typeface="Lato"/>
                  <a:ea typeface="Lato"/>
                  <a:cs typeface="Lato"/>
                  <a:sym typeface="Lato"/>
                </a:rPr>
                <a:t>z</a:t>
              </a:r>
              <a:r>
                <a:rPr lang="en-US" sz="15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ed software development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491;p71">
              <a:extLst>
                <a:ext uri="{FF2B5EF4-FFF2-40B4-BE49-F238E27FC236}">
                  <a16:creationId xmlns:a16="http://schemas.microsoft.com/office/drawing/2014/main" id="{A156CD2A-0675-3E6F-7CDF-51F6F515D5A9}"/>
                </a:ext>
              </a:extLst>
            </p:cNvPr>
            <p:cNvSpPr/>
            <p:nvPr/>
          </p:nvSpPr>
          <p:spPr>
            <a:xfrm>
              <a:off x="2345373" y="1282818"/>
              <a:ext cx="7499604" cy="431800"/>
            </a:xfrm>
            <a:custGeom>
              <a:avLst/>
              <a:gdLst/>
              <a:ahLst/>
              <a:cxnLst/>
              <a:rect l="l" t="t" r="r" b="b"/>
              <a:pathLst>
                <a:path w="5638800" h="431800" extrusionOk="0">
                  <a:moveTo>
                    <a:pt x="4826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638800" y="0"/>
                  </a:lnTo>
                </a:path>
              </a:pathLst>
            </a:custGeom>
            <a:noFill/>
            <a:ln w="38100" cap="flat" cmpd="sng">
              <a:solidFill>
                <a:srgbClr val="F4AB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492;p71">
              <a:extLst>
                <a:ext uri="{FF2B5EF4-FFF2-40B4-BE49-F238E27FC236}">
                  <a16:creationId xmlns:a16="http://schemas.microsoft.com/office/drawing/2014/main" id="{7E876207-A655-69BE-D40D-B7D8A96BCFCF}"/>
                </a:ext>
              </a:extLst>
            </p:cNvPr>
            <p:cNvSpPr txBox="1"/>
            <p:nvPr/>
          </p:nvSpPr>
          <p:spPr>
            <a:xfrm>
              <a:off x="2345373" y="1282819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493;p71">
              <a:extLst>
                <a:ext uri="{FF2B5EF4-FFF2-40B4-BE49-F238E27FC236}">
                  <a16:creationId xmlns:a16="http://schemas.microsoft.com/office/drawing/2014/main" id="{18D9E069-D841-F931-C6B8-3D62B028D8B0}"/>
                </a:ext>
              </a:extLst>
            </p:cNvPr>
            <p:cNvSpPr txBox="1"/>
            <p:nvPr/>
          </p:nvSpPr>
          <p:spPr>
            <a:xfrm>
              <a:off x="2345373" y="1282819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494;p71">
            <a:extLst>
              <a:ext uri="{FF2B5EF4-FFF2-40B4-BE49-F238E27FC236}">
                <a16:creationId xmlns:a16="http://schemas.microsoft.com/office/drawing/2014/main" id="{3CC8F826-88CD-F384-613E-0F0CB84AA880}"/>
              </a:ext>
            </a:extLst>
          </p:cNvPr>
          <p:cNvGrpSpPr/>
          <p:nvPr/>
        </p:nvGrpSpPr>
        <p:grpSpPr>
          <a:xfrm>
            <a:off x="2920289" y="3210766"/>
            <a:ext cx="5332603" cy="431800"/>
            <a:chOff x="2345372" y="2462315"/>
            <a:chExt cx="7501200" cy="431800"/>
          </a:xfrm>
        </p:grpSpPr>
        <p:sp>
          <p:nvSpPr>
            <p:cNvPr id="16" name="Google Shape;495;p71">
              <a:extLst>
                <a:ext uri="{FF2B5EF4-FFF2-40B4-BE49-F238E27FC236}">
                  <a16:creationId xmlns:a16="http://schemas.microsoft.com/office/drawing/2014/main" id="{391F994F-BEF4-CBA3-F435-42DE7F0DB50E}"/>
                </a:ext>
              </a:extLst>
            </p:cNvPr>
            <p:cNvSpPr txBox="1"/>
            <p:nvPr/>
          </p:nvSpPr>
          <p:spPr>
            <a:xfrm>
              <a:off x="2345372" y="2462316"/>
              <a:ext cx="75012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1294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Noto Sans Symbols"/>
                <a:buChar char="●"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Peer collaboration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496;p71">
              <a:extLst>
                <a:ext uri="{FF2B5EF4-FFF2-40B4-BE49-F238E27FC236}">
                  <a16:creationId xmlns:a16="http://schemas.microsoft.com/office/drawing/2014/main" id="{6AD3A89D-0DA1-F1EC-3539-A2AAD135F139}"/>
                </a:ext>
              </a:extLst>
            </p:cNvPr>
            <p:cNvSpPr/>
            <p:nvPr/>
          </p:nvSpPr>
          <p:spPr>
            <a:xfrm>
              <a:off x="2345373" y="2462315"/>
              <a:ext cx="7499604" cy="431800"/>
            </a:xfrm>
            <a:custGeom>
              <a:avLst/>
              <a:gdLst/>
              <a:ahLst/>
              <a:cxnLst/>
              <a:rect l="l" t="t" r="r" b="b"/>
              <a:pathLst>
                <a:path w="5638800" h="431800" extrusionOk="0">
                  <a:moveTo>
                    <a:pt x="4826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638800" y="0"/>
                  </a:lnTo>
                </a:path>
              </a:pathLst>
            </a:custGeom>
            <a:noFill/>
            <a:ln w="38100" cap="flat" cmpd="sng">
              <a:solidFill>
                <a:srgbClr val="4890E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497;p71">
              <a:extLst>
                <a:ext uri="{FF2B5EF4-FFF2-40B4-BE49-F238E27FC236}">
                  <a16:creationId xmlns:a16="http://schemas.microsoft.com/office/drawing/2014/main" id="{A2E514DE-56FA-C44D-F0B4-A1357BE3D697}"/>
                </a:ext>
              </a:extLst>
            </p:cNvPr>
            <p:cNvSpPr txBox="1"/>
            <p:nvPr/>
          </p:nvSpPr>
          <p:spPr>
            <a:xfrm>
              <a:off x="2345373" y="2462316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498;p71">
              <a:extLst>
                <a:ext uri="{FF2B5EF4-FFF2-40B4-BE49-F238E27FC236}">
                  <a16:creationId xmlns:a16="http://schemas.microsoft.com/office/drawing/2014/main" id="{5816B084-EDBF-B848-56C3-351883FBF0AC}"/>
                </a:ext>
              </a:extLst>
            </p:cNvPr>
            <p:cNvSpPr txBox="1"/>
            <p:nvPr/>
          </p:nvSpPr>
          <p:spPr>
            <a:xfrm>
              <a:off x="2345373" y="2462316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499;p71">
            <a:extLst>
              <a:ext uri="{FF2B5EF4-FFF2-40B4-BE49-F238E27FC236}">
                <a16:creationId xmlns:a16="http://schemas.microsoft.com/office/drawing/2014/main" id="{75EFED90-8419-8FB2-80D9-98596C106E72}"/>
              </a:ext>
            </a:extLst>
          </p:cNvPr>
          <p:cNvGrpSpPr/>
          <p:nvPr/>
        </p:nvGrpSpPr>
        <p:grpSpPr>
          <a:xfrm>
            <a:off x="2920290" y="4163678"/>
            <a:ext cx="5332603" cy="668701"/>
            <a:chOff x="2345372" y="3632417"/>
            <a:chExt cx="7501200" cy="668701"/>
          </a:xfrm>
        </p:grpSpPr>
        <p:sp>
          <p:nvSpPr>
            <p:cNvPr id="21" name="Google Shape;500;p71">
              <a:extLst>
                <a:ext uri="{FF2B5EF4-FFF2-40B4-BE49-F238E27FC236}">
                  <a16:creationId xmlns:a16="http://schemas.microsoft.com/office/drawing/2014/main" id="{794F738A-8790-69DC-F908-4D0693B502C3}"/>
                </a:ext>
              </a:extLst>
            </p:cNvPr>
            <p:cNvSpPr txBox="1"/>
            <p:nvPr/>
          </p:nvSpPr>
          <p:spPr>
            <a:xfrm>
              <a:off x="2345372" y="3632418"/>
              <a:ext cx="7501200" cy="66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Lato"/>
                <a:buChar char="●"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Companies </a:t>
              </a:r>
              <a:r>
                <a:rPr lang="en-US" sz="1500">
                  <a:latin typeface="Lato"/>
                  <a:ea typeface="Lato"/>
                  <a:cs typeface="Lato"/>
                  <a:sym typeface="Lato"/>
                </a:rPr>
                <a:t>such as</a:t>
              </a:r>
              <a:r>
                <a:rPr lang="en-US" sz="15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Google, Facebook, and Microsoft have open sourced their projects</a:t>
              </a:r>
              <a:endParaRPr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" name="Google Shape;501;p71">
              <a:extLst>
                <a:ext uri="{FF2B5EF4-FFF2-40B4-BE49-F238E27FC236}">
                  <a16:creationId xmlns:a16="http://schemas.microsoft.com/office/drawing/2014/main" id="{723522FE-D8E1-12D8-5BE0-5AC54AE7D8DE}"/>
                </a:ext>
              </a:extLst>
            </p:cNvPr>
            <p:cNvSpPr/>
            <p:nvPr/>
          </p:nvSpPr>
          <p:spPr>
            <a:xfrm>
              <a:off x="2345372" y="3632417"/>
              <a:ext cx="7499604" cy="431800"/>
            </a:xfrm>
            <a:custGeom>
              <a:avLst/>
              <a:gdLst/>
              <a:ahLst/>
              <a:cxnLst/>
              <a:rect l="l" t="t" r="r" b="b"/>
              <a:pathLst>
                <a:path w="5638800" h="431800" extrusionOk="0">
                  <a:moveTo>
                    <a:pt x="4826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638800" y="0"/>
                  </a:lnTo>
                </a:path>
              </a:pathLst>
            </a:custGeom>
            <a:noFill/>
            <a:ln w="38100" cap="flat" cmpd="sng">
              <a:solidFill>
                <a:srgbClr val="5A5A5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502;p71">
              <a:extLst>
                <a:ext uri="{FF2B5EF4-FFF2-40B4-BE49-F238E27FC236}">
                  <a16:creationId xmlns:a16="http://schemas.microsoft.com/office/drawing/2014/main" id="{383EEA1A-B5C6-B909-4730-727143E4FD7F}"/>
                </a:ext>
              </a:extLst>
            </p:cNvPr>
            <p:cNvSpPr txBox="1"/>
            <p:nvPr/>
          </p:nvSpPr>
          <p:spPr>
            <a:xfrm>
              <a:off x="2345372" y="3632418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503;p71">
              <a:extLst>
                <a:ext uri="{FF2B5EF4-FFF2-40B4-BE49-F238E27FC236}">
                  <a16:creationId xmlns:a16="http://schemas.microsoft.com/office/drawing/2014/main" id="{6BF29A11-4CE9-CFD2-B165-F710A64D1932}"/>
                </a:ext>
              </a:extLst>
            </p:cNvPr>
            <p:cNvSpPr txBox="1"/>
            <p:nvPr/>
          </p:nvSpPr>
          <p:spPr>
            <a:xfrm>
              <a:off x="2345372" y="3632418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5" name="Google Shape;504;p71">
            <a:extLst>
              <a:ext uri="{FF2B5EF4-FFF2-40B4-BE49-F238E27FC236}">
                <a16:creationId xmlns:a16="http://schemas.microsoft.com/office/drawing/2014/main" id="{34047EF8-FF40-F40A-5D98-D556AA4FCF8D}"/>
              </a:ext>
            </a:extLst>
          </p:cNvPr>
          <p:cNvGrpSpPr/>
          <p:nvPr/>
        </p:nvGrpSpPr>
        <p:grpSpPr>
          <a:xfrm>
            <a:off x="2920534" y="5002928"/>
            <a:ext cx="5332603" cy="668701"/>
            <a:chOff x="2345372" y="3632417"/>
            <a:chExt cx="7501200" cy="668701"/>
          </a:xfrm>
        </p:grpSpPr>
        <p:sp>
          <p:nvSpPr>
            <p:cNvPr id="26" name="Google Shape;505;p71">
              <a:extLst>
                <a:ext uri="{FF2B5EF4-FFF2-40B4-BE49-F238E27FC236}">
                  <a16:creationId xmlns:a16="http://schemas.microsoft.com/office/drawing/2014/main" id="{30866386-7332-E865-D3E7-5E0C15E1C2D8}"/>
                </a:ext>
              </a:extLst>
            </p:cNvPr>
            <p:cNvSpPr txBox="1"/>
            <p:nvPr/>
          </p:nvSpPr>
          <p:spPr>
            <a:xfrm>
              <a:off x="2345372" y="3632418"/>
              <a:ext cx="7501200" cy="66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Lato"/>
                <a:buChar char="●"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Popular libraries </a:t>
              </a:r>
              <a:r>
                <a:rPr lang="en-US" sz="1500">
                  <a:latin typeface="Lato"/>
                  <a:ea typeface="Lato"/>
                  <a:cs typeface="Lato"/>
                  <a:sym typeface="Lato"/>
                </a:rPr>
                <a:t>such as</a:t>
              </a:r>
              <a:r>
                <a:rPr lang="en-US" sz="15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Num</a:t>
              </a:r>
              <a:r>
                <a:rPr lang="en-US" sz="1500">
                  <a:latin typeface="Lato"/>
                  <a:ea typeface="Lato"/>
                  <a:cs typeface="Lato"/>
                  <a:sym typeface="Lato"/>
                </a:rPr>
                <a:t>P</a:t>
              </a:r>
              <a:r>
                <a:rPr lang="en-US" sz="15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y, Pandas, and Tensor</a:t>
              </a:r>
              <a:r>
                <a:rPr lang="en-US" sz="1500">
                  <a:latin typeface="Lato"/>
                  <a:ea typeface="Lato"/>
                  <a:cs typeface="Lato"/>
                  <a:sym typeface="Lato"/>
                </a:rPr>
                <a:t>F</a:t>
              </a:r>
              <a:r>
                <a:rPr lang="en-US" sz="15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low are open sourced</a:t>
              </a:r>
              <a:endParaRPr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" name="Google Shape;506;p71">
              <a:extLst>
                <a:ext uri="{FF2B5EF4-FFF2-40B4-BE49-F238E27FC236}">
                  <a16:creationId xmlns:a16="http://schemas.microsoft.com/office/drawing/2014/main" id="{ABC16EDD-F593-0845-E6DE-7A4F8C1CC7EB}"/>
                </a:ext>
              </a:extLst>
            </p:cNvPr>
            <p:cNvSpPr/>
            <p:nvPr/>
          </p:nvSpPr>
          <p:spPr>
            <a:xfrm>
              <a:off x="2345372" y="3632417"/>
              <a:ext cx="7499604" cy="431800"/>
            </a:xfrm>
            <a:custGeom>
              <a:avLst/>
              <a:gdLst/>
              <a:ahLst/>
              <a:cxnLst/>
              <a:rect l="l" t="t" r="r" b="b"/>
              <a:pathLst>
                <a:path w="5638800" h="431800" extrusionOk="0">
                  <a:moveTo>
                    <a:pt x="4826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638800" y="0"/>
                  </a:lnTo>
                </a:path>
              </a:pathLst>
            </a:custGeom>
            <a:noFill/>
            <a:ln w="38100" cap="flat" cmpd="sng">
              <a:solidFill>
                <a:srgbClr val="5A5A5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" name="Google Shape;507;p71">
              <a:extLst>
                <a:ext uri="{FF2B5EF4-FFF2-40B4-BE49-F238E27FC236}">
                  <a16:creationId xmlns:a16="http://schemas.microsoft.com/office/drawing/2014/main" id="{A87F3C97-4B9B-1435-4753-495FB7C75CEF}"/>
                </a:ext>
              </a:extLst>
            </p:cNvPr>
            <p:cNvSpPr txBox="1"/>
            <p:nvPr/>
          </p:nvSpPr>
          <p:spPr>
            <a:xfrm>
              <a:off x="2345372" y="3632418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508;p71">
              <a:extLst>
                <a:ext uri="{FF2B5EF4-FFF2-40B4-BE49-F238E27FC236}">
                  <a16:creationId xmlns:a16="http://schemas.microsoft.com/office/drawing/2014/main" id="{9599C477-D30D-4BFF-047C-C4BEC487F8F9}"/>
                </a:ext>
              </a:extLst>
            </p:cNvPr>
            <p:cNvSpPr txBox="1"/>
            <p:nvPr/>
          </p:nvSpPr>
          <p:spPr>
            <a:xfrm>
              <a:off x="2345372" y="3632418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05036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513;p72">
            <a:extLst>
              <a:ext uri="{FF2B5EF4-FFF2-40B4-BE49-F238E27FC236}">
                <a16:creationId xmlns:a16="http://schemas.microsoft.com/office/drawing/2014/main" id="{A212E968-148A-B9B7-F05C-3DBA2EC9CCD4}"/>
              </a:ext>
            </a:extLst>
          </p:cNvPr>
          <p:cNvSpPr txBox="1"/>
          <p:nvPr/>
        </p:nvSpPr>
        <p:spPr>
          <a:xfrm>
            <a:off x="2111215" y="2957700"/>
            <a:ext cx="80124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F4AB35"/>
                </a:solidFill>
                <a:latin typeface="Lato"/>
                <a:ea typeface="Lato"/>
                <a:cs typeface="Lato"/>
                <a:sym typeface="Lato"/>
              </a:rPr>
              <a:t>Why is open</a:t>
            </a:r>
            <a:r>
              <a:rPr lang="en-US" sz="4800">
                <a:solidFill>
                  <a:srgbClr val="F4AB35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4800" b="0" i="0" u="none" strike="noStrike" cap="none">
                <a:solidFill>
                  <a:srgbClr val="F4AB35"/>
                </a:solidFill>
                <a:latin typeface="Lato"/>
                <a:ea typeface="Lato"/>
                <a:cs typeface="Lato"/>
                <a:sym typeface="Lato"/>
              </a:rPr>
              <a:t>source contribution helpful?</a:t>
            </a: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33417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518;p73">
            <a:extLst>
              <a:ext uri="{FF2B5EF4-FFF2-40B4-BE49-F238E27FC236}">
                <a16:creationId xmlns:a16="http://schemas.microsoft.com/office/drawing/2014/main" id="{0EB4D065-B54A-9E29-3983-46A90AADDBDB}"/>
              </a:ext>
            </a:extLst>
          </p:cNvPr>
          <p:cNvSpPr txBox="1"/>
          <p:nvPr/>
        </p:nvSpPr>
        <p:spPr>
          <a:xfrm>
            <a:off x="2183291" y="1247649"/>
            <a:ext cx="68073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WHY IS OPEN</a:t>
            </a:r>
            <a:r>
              <a:rPr lang="en-US" sz="2399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2399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SOURCE CONTRIBUTION HELPFUL?</a:t>
            </a:r>
            <a:endParaRPr sz="2399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519;p73">
            <a:extLst>
              <a:ext uri="{FF2B5EF4-FFF2-40B4-BE49-F238E27FC236}">
                <a16:creationId xmlns:a16="http://schemas.microsoft.com/office/drawing/2014/main" id="{2C0F2E51-A794-DF64-A3A7-ADC2DC976FC0}"/>
              </a:ext>
            </a:extLst>
          </p:cNvPr>
          <p:cNvGrpSpPr/>
          <p:nvPr/>
        </p:nvGrpSpPr>
        <p:grpSpPr>
          <a:xfrm>
            <a:off x="2920533" y="2387194"/>
            <a:ext cx="5332603" cy="431800"/>
            <a:chOff x="2345372" y="1282818"/>
            <a:chExt cx="7501200" cy="431800"/>
          </a:xfrm>
        </p:grpSpPr>
        <p:sp>
          <p:nvSpPr>
            <p:cNvPr id="11" name="Google Shape;520;p73">
              <a:extLst>
                <a:ext uri="{FF2B5EF4-FFF2-40B4-BE49-F238E27FC236}">
                  <a16:creationId xmlns:a16="http://schemas.microsoft.com/office/drawing/2014/main" id="{E0BE48F5-DE96-AC08-F974-EC2731DDD61C}"/>
                </a:ext>
              </a:extLst>
            </p:cNvPr>
            <p:cNvSpPr txBox="1"/>
            <p:nvPr/>
          </p:nvSpPr>
          <p:spPr>
            <a:xfrm>
              <a:off x="2345372" y="1282819"/>
              <a:ext cx="7501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Contributes to real</a:t>
              </a:r>
              <a:r>
                <a:rPr lang="en-US" sz="1800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world applications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521;p73">
              <a:extLst>
                <a:ext uri="{FF2B5EF4-FFF2-40B4-BE49-F238E27FC236}">
                  <a16:creationId xmlns:a16="http://schemas.microsoft.com/office/drawing/2014/main" id="{B7F7E82C-20BD-6D22-BF55-F2E5E464EB34}"/>
                </a:ext>
              </a:extLst>
            </p:cNvPr>
            <p:cNvSpPr/>
            <p:nvPr/>
          </p:nvSpPr>
          <p:spPr>
            <a:xfrm>
              <a:off x="2345373" y="1282818"/>
              <a:ext cx="7499604" cy="431800"/>
            </a:xfrm>
            <a:custGeom>
              <a:avLst/>
              <a:gdLst/>
              <a:ahLst/>
              <a:cxnLst/>
              <a:rect l="l" t="t" r="r" b="b"/>
              <a:pathLst>
                <a:path w="5638800" h="431800" extrusionOk="0">
                  <a:moveTo>
                    <a:pt x="4826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638800" y="0"/>
                  </a:lnTo>
                </a:path>
              </a:pathLst>
            </a:custGeom>
            <a:noFill/>
            <a:ln w="38100" cap="flat" cmpd="sng">
              <a:solidFill>
                <a:srgbClr val="F4AB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522;p73">
              <a:extLst>
                <a:ext uri="{FF2B5EF4-FFF2-40B4-BE49-F238E27FC236}">
                  <a16:creationId xmlns:a16="http://schemas.microsoft.com/office/drawing/2014/main" id="{219AE1EF-2BDC-5B30-FB90-040F5C75313E}"/>
                </a:ext>
              </a:extLst>
            </p:cNvPr>
            <p:cNvSpPr txBox="1"/>
            <p:nvPr/>
          </p:nvSpPr>
          <p:spPr>
            <a:xfrm>
              <a:off x="2345373" y="1282819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523;p73">
              <a:extLst>
                <a:ext uri="{FF2B5EF4-FFF2-40B4-BE49-F238E27FC236}">
                  <a16:creationId xmlns:a16="http://schemas.microsoft.com/office/drawing/2014/main" id="{A58A0046-B615-05E7-5CC7-2C573E7D2A71}"/>
                </a:ext>
              </a:extLst>
            </p:cNvPr>
            <p:cNvSpPr txBox="1"/>
            <p:nvPr/>
          </p:nvSpPr>
          <p:spPr>
            <a:xfrm>
              <a:off x="2345373" y="1282819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524;p73">
            <a:extLst>
              <a:ext uri="{FF2B5EF4-FFF2-40B4-BE49-F238E27FC236}">
                <a16:creationId xmlns:a16="http://schemas.microsoft.com/office/drawing/2014/main" id="{E788D01C-CBD8-387F-B1A0-F9DCC2D06BE8}"/>
              </a:ext>
            </a:extLst>
          </p:cNvPr>
          <p:cNvGrpSpPr/>
          <p:nvPr/>
        </p:nvGrpSpPr>
        <p:grpSpPr>
          <a:xfrm>
            <a:off x="2920533" y="4242222"/>
            <a:ext cx="5332603" cy="431800"/>
            <a:chOff x="2345372" y="2462315"/>
            <a:chExt cx="7501200" cy="431800"/>
          </a:xfrm>
        </p:grpSpPr>
        <p:sp>
          <p:nvSpPr>
            <p:cNvPr id="16" name="Google Shape;525;p73">
              <a:extLst>
                <a:ext uri="{FF2B5EF4-FFF2-40B4-BE49-F238E27FC236}">
                  <a16:creationId xmlns:a16="http://schemas.microsoft.com/office/drawing/2014/main" id="{9EC09DB1-566B-54EA-2DEC-8B3DC7993FA2}"/>
                </a:ext>
              </a:extLst>
            </p:cNvPr>
            <p:cNvSpPr txBox="1"/>
            <p:nvPr/>
          </p:nvSpPr>
          <p:spPr>
            <a:xfrm>
              <a:off x="2345372" y="2462316"/>
              <a:ext cx="7501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Builds a network of developers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526;p73">
              <a:extLst>
                <a:ext uri="{FF2B5EF4-FFF2-40B4-BE49-F238E27FC236}">
                  <a16:creationId xmlns:a16="http://schemas.microsoft.com/office/drawing/2014/main" id="{950F6346-C760-1D5E-E6C6-80AAB692A4E0}"/>
                </a:ext>
              </a:extLst>
            </p:cNvPr>
            <p:cNvSpPr/>
            <p:nvPr/>
          </p:nvSpPr>
          <p:spPr>
            <a:xfrm>
              <a:off x="2345373" y="2462315"/>
              <a:ext cx="7499604" cy="431800"/>
            </a:xfrm>
            <a:custGeom>
              <a:avLst/>
              <a:gdLst/>
              <a:ahLst/>
              <a:cxnLst/>
              <a:rect l="l" t="t" r="r" b="b"/>
              <a:pathLst>
                <a:path w="5638800" h="431800" extrusionOk="0">
                  <a:moveTo>
                    <a:pt x="4826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638800" y="0"/>
                  </a:lnTo>
                </a:path>
              </a:pathLst>
            </a:custGeom>
            <a:noFill/>
            <a:ln w="38100" cap="flat" cmpd="sng">
              <a:solidFill>
                <a:srgbClr val="4890E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527;p73">
              <a:extLst>
                <a:ext uri="{FF2B5EF4-FFF2-40B4-BE49-F238E27FC236}">
                  <a16:creationId xmlns:a16="http://schemas.microsoft.com/office/drawing/2014/main" id="{17FECAEC-F99A-7985-571D-0649E47CB15E}"/>
                </a:ext>
              </a:extLst>
            </p:cNvPr>
            <p:cNvSpPr txBox="1"/>
            <p:nvPr/>
          </p:nvSpPr>
          <p:spPr>
            <a:xfrm>
              <a:off x="2345373" y="2462316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528;p73">
              <a:extLst>
                <a:ext uri="{FF2B5EF4-FFF2-40B4-BE49-F238E27FC236}">
                  <a16:creationId xmlns:a16="http://schemas.microsoft.com/office/drawing/2014/main" id="{697CD97C-DA8D-2136-A664-B0251C856AC8}"/>
                </a:ext>
              </a:extLst>
            </p:cNvPr>
            <p:cNvSpPr txBox="1"/>
            <p:nvPr/>
          </p:nvSpPr>
          <p:spPr>
            <a:xfrm>
              <a:off x="2345373" y="2462316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529;p73">
            <a:extLst>
              <a:ext uri="{FF2B5EF4-FFF2-40B4-BE49-F238E27FC236}">
                <a16:creationId xmlns:a16="http://schemas.microsoft.com/office/drawing/2014/main" id="{79AF88D5-39F7-952B-58B5-D466869FB5C0}"/>
              </a:ext>
            </a:extLst>
          </p:cNvPr>
          <p:cNvGrpSpPr/>
          <p:nvPr/>
        </p:nvGrpSpPr>
        <p:grpSpPr>
          <a:xfrm>
            <a:off x="2920534" y="5195134"/>
            <a:ext cx="5332603" cy="431800"/>
            <a:chOff x="2345372" y="3632417"/>
            <a:chExt cx="7501200" cy="431800"/>
          </a:xfrm>
        </p:grpSpPr>
        <p:sp>
          <p:nvSpPr>
            <p:cNvPr id="21" name="Google Shape;530;p73">
              <a:extLst>
                <a:ext uri="{FF2B5EF4-FFF2-40B4-BE49-F238E27FC236}">
                  <a16:creationId xmlns:a16="http://schemas.microsoft.com/office/drawing/2014/main" id="{6FA369D7-72C1-B60A-F744-044F210B0C83}"/>
                </a:ext>
              </a:extLst>
            </p:cNvPr>
            <p:cNvSpPr txBox="1"/>
            <p:nvPr/>
          </p:nvSpPr>
          <p:spPr>
            <a:xfrm>
              <a:off x="2345372" y="3632418"/>
              <a:ext cx="7501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Char char="●"/>
              </a:pPr>
              <a:r>
                <a:rPr lang="en-US" sz="1800">
                  <a:latin typeface="Lato"/>
                  <a:ea typeface="Lato"/>
                  <a:cs typeface="Lato"/>
                  <a:sym typeface="Lato"/>
                </a:rPr>
                <a:t>Can be l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everaged </a:t>
              </a:r>
              <a:r>
                <a:rPr lang="en-US" sz="1800">
                  <a:latin typeface="Lato"/>
                  <a:ea typeface="Lato"/>
                  <a:cs typeface="Lato"/>
                  <a:sym typeface="Lato"/>
                </a:rPr>
                <a:t>for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your career growth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531;p73">
              <a:extLst>
                <a:ext uri="{FF2B5EF4-FFF2-40B4-BE49-F238E27FC236}">
                  <a16:creationId xmlns:a16="http://schemas.microsoft.com/office/drawing/2014/main" id="{A215A8E9-161C-A983-66C6-C3367EAA0677}"/>
                </a:ext>
              </a:extLst>
            </p:cNvPr>
            <p:cNvSpPr/>
            <p:nvPr/>
          </p:nvSpPr>
          <p:spPr>
            <a:xfrm>
              <a:off x="2345372" y="3632417"/>
              <a:ext cx="7499604" cy="431800"/>
            </a:xfrm>
            <a:custGeom>
              <a:avLst/>
              <a:gdLst/>
              <a:ahLst/>
              <a:cxnLst/>
              <a:rect l="l" t="t" r="r" b="b"/>
              <a:pathLst>
                <a:path w="5638800" h="431800" extrusionOk="0">
                  <a:moveTo>
                    <a:pt x="4826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638800" y="0"/>
                  </a:lnTo>
                </a:path>
              </a:pathLst>
            </a:custGeom>
            <a:noFill/>
            <a:ln w="38100" cap="flat" cmpd="sng">
              <a:solidFill>
                <a:srgbClr val="5A5A5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532;p73">
              <a:extLst>
                <a:ext uri="{FF2B5EF4-FFF2-40B4-BE49-F238E27FC236}">
                  <a16:creationId xmlns:a16="http://schemas.microsoft.com/office/drawing/2014/main" id="{2FC91332-D957-41B0-6CE6-95EBF041F022}"/>
                </a:ext>
              </a:extLst>
            </p:cNvPr>
            <p:cNvSpPr txBox="1"/>
            <p:nvPr/>
          </p:nvSpPr>
          <p:spPr>
            <a:xfrm>
              <a:off x="2345372" y="3632418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533;p73">
              <a:extLst>
                <a:ext uri="{FF2B5EF4-FFF2-40B4-BE49-F238E27FC236}">
                  <a16:creationId xmlns:a16="http://schemas.microsoft.com/office/drawing/2014/main" id="{520319C4-D9B3-599D-062E-AA94AE28DC07}"/>
                </a:ext>
              </a:extLst>
            </p:cNvPr>
            <p:cNvSpPr txBox="1"/>
            <p:nvPr/>
          </p:nvSpPr>
          <p:spPr>
            <a:xfrm>
              <a:off x="2345372" y="3632418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534;p73">
            <a:extLst>
              <a:ext uri="{FF2B5EF4-FFF2-40B4-BE49-F238E27FC236}">
                <a16:creationId xmlns:a16="http://schemas.microsoft.com/office/drawing/2014/main" id="{EF438660-401C-8A22-D52E-3B268306BDE0}"/>
              </a:ext>
            </a:extLst>
          </p:cNvPr>
          <p:cNvGrpSpPr/>
          <p:nvPr/>
        </p:nvGrpSpPr>
        <p:grpSpPr>
          <a:xfrm>
            <a:off x="2920537" y="2539595"/>
            <a:ext cx="5332603" cy="1479413"/>
            <a:chOff x="2184596" y="1282819"/>
            <a:chExt cx="7501200" cy="1479413"/>
          </a:xfrm>
        </p:grpSpPr>
        <p:sp>
          <p:nvSpPr>
            <p:cNvPr id="26" name="Google Shape;535;p73">
              <a:extLst>
                <a:ext uri="{FF2B5EF4-FFF2-40B4-BE49-F238E27FC236}">
                  <a16:creationId xmlns:a16="http://schemas.microsoft.com/office/drawing/2014/main" id="{34EDC312-CC6D-4B2D-0AD4-E7CD5FEDA481}"/>
                </a:ext>
              </a:extLst>
            </p:cNvPr>
            <p:cNvSpPr txBox="1"/>
            <p:nvPr/>
          </p:nvSpPr>
          <p:spPr>
            <a:xfrm>
              <a:off x="2184596" y="2062632"/>
              <a:ext cx="7501200" cy="69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	Has a short </a:t>
              </a:r>
              <a:r>
                <a:rPr lang="en-US" sz="1800">
                  <a:latin typeface="Lato"/>
                  <a:ea typeface="Lato"/>
                  <a:cs typeface="Lato"/>
                  <a:sym typeface="Lato"/>
                </a:rPr>
                <a:t>l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earning curve and an efficient  code structure</a:t>
              </a:r>
              <a:r>
                <a:rPr lang="en-US" sz="1800">
                  <a:latin typeface="Lato"/>
                  <a:ea typeface="Lato"/>
                  <a:cs typeface="Lato"/>
                  <a:sym typeface="Lato"/>
                </a:rPr>
                <a:t> and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coding style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" name="Google Shape;536;p73">
              <a:extLst>
                <a:ext uri="{FF2B5EF4-FFF2-40B4-BE49-F238E27FC236}">
                  <a16:creationId xmlns:a16="http://schemas.microsoft.com/office/drawing/2014/main" id="{0668D074-335D-5747-D9D0-BCCCA10D35F9}"/>
                </a:ext>
              </a:extLst>
            </p:cNvPr>
            <p:cNvSpPr/>
            <p:nvPr/>
          </p:nvSpPr>
          <p:spPr>
            <a:xfrm>
              <a:off x="2185401" y="2057930"/>
              <a:ext cx="7499604" cy="431800"/>
            </a:xfrm>
            <a:custGeom>
              <a:avLst/>
              <a:gdLst/>
              <a:ahLst/>
              <a:cxnLst/>
              <a:rect l="l" t="t" r="r" b="b"/>
              <a:pathLst>
                <a:path w="5638800" h="431800" extrusionOk="0">
                  <a:moveTo>
                    <a:pt x="4826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638800" y="0"/>
                  </a:lnTo>
                </a:path>
              </a:pathLst>
            </a:custGeom>
            <a:noFill/>
            <a:ln w="38100" cap="flat" cmpd="sng">
              <a:solidFill>
                <a:srgbClr val="22AF7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" name="Google Shape;537;p73">
              <a:extLst>
                <a:ext uri="{FF2B5EF4-FFF2-40B4-BE49-F238E27FC236}">
                  <a16:creationId xmlns:a16="http://schemas.microsoft.com/office/drawing/2014/main" id="{F1CEACBB-4B15-BF59-994F-888D710573DA}"/>
                </a:ext>
              </a:extLst>
            </p:cNvPr>
            <p:cNvSpPr txBox="1"/>
            <p:nvPr/>
          </p:nvSpPr>
          <p:spPr>
            <a:xfrm>
              <a:off x="2345373" y="1282819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5720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538;p73">
              <a:extLst>
                <a:ext uri="{FF2B5EF4-FFF2-40B4-BE49-F238E27FC236}">
                  <a16:creationId xmlns:a16="http://schemas.microsoft.com/office/drawing/2014/main" id="{D9C58C3D-380B-8EB0-9C4D-70208772F13F}"/>
                </a:ext>
              </a:extLst>
            </p:cNvPr>
            <p:cNvSpPr txBox="1"/>
            <p:nvPr/>
          </p:nvSpPr>
          <p:spPr>
            <a:xfrm>
              <a:off x="2184597" y="2062619"/>
              <a:ext cx="6474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72000" rIns="72000" bIns="72000" anchor="t" anchorCtr="0">
              <a:spAutoFit/>
            </a:bodyPr>
            <a:lstStyle/>
            <a:p>
              <a:pPr marL="431999" marR="0" lvl="0" indent="-431999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283C"/>
                </a:buClr>
                <a:buSzPts val="1800"/>
                <a:buFont typeface="Noto Sans Symbols"/>
                <a:buChar char="●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4303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543;p74">
            <a:extLst>
              <a:ext uri="{FF2B5EF4-FFF2-40B4-BE49-F238E27FC236}">
                <a16:creationId xmlns:a16="http://schemas.microsoft.com/office/drawing/2014/main" id="{F3153E5D-9F08-0219-7979-7F1A210CFCB0}"/>
              </a:ext>
            </a:extLst>
          </p:cNvPr>
          <p:cNvSpPr txBox="1"/>
          <p:nvPr/>
        </p:nvSpPr>
        <p:spPr>
          <a:xfrm>
            <a:off x="3106885" y="2421082"/>
            <a:ext cx="1785900" cy="15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0" tIns="360000" rIns="360000" bIns="360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Git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ork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(copy to private)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544;p74">
            <a:extLst>
              <a:ext uri="{FF2B5EF4-FFF2-40B4-BE49-F238E27FC236}">
                <a16:creationId xmlns:a16="http://schemas.microsoft.com/office/drawing/2014/main" id="{3140CE98-C42D-725E-01E9-BAE29AA1DD32}"/>
              </a:ext>
            </a:extLst>
          </p:cNvPr>
          <p:cNvSpPr/>
          <p:nvPr/>
        </p:nvSpPr>
        <p:spPr>
          <a:xfrm>
            <a:off x="2035112" y="4309043"/>
            <a:ext cx="1587300" cy="975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0" tIns="360000" rIns="360000" bIns="36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GitHub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epo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(open source)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545;p74">
            <a:extLst>
              <a:ext uri="{FF2B5EF4-FFF2-40B4-BE49-F238E27FC236}">
                <a16:creationId xmlns:a16="http://schemas.microsoft.com/office/drawing/2014/main" id="{4857C641-7714-6026-C3B4-2B37F837D823}"/>
              </a:ext>
            </a:extLst>
          </p:cNvPr>
          <p:cNvSpPr/>
          <p:nvPr/>
        </p:nvSpPr>
        <p:spPr>
          <a:xfrm>
            <a:off x="5171039" y="5711143"/>
            <a:ext cx="1587300" cy="975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0" tIns="360000" rIns="360000" bIns="36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Private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epo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546;p74">
            <a:extLst>
              <a:ext uri="{FF2B5EF4-FFF2-40B4-BE49-F238E27FC236}">
                <a16:creationId xmlns:a16="http://schemas.microsoft.com/office/drawing/2014/main" id="{6B0D7C62-1A35-F05E-C0B4-135C462FCFA4}"/>
              </a:ext>
            </a:extLst>
          </p:cNvPr>
          <p:cNvSpPr/>
          <p:nvPr/>
        </p:nvSpPr>
        <p:spPr>
          <a:xfrm>
            <a:off x="5171039" y="2969577"/>
            <a:ext cx="1587300" cy="975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0" tIns="360000" rIns="360000" bIns="36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Private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epo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547;p74">
            <a:extLst>
              <a:ext uri="{FF2B5EF4-FFF2-40B4-BE49-F238E27FC236}">
                <a16:creationId xmlns:a16="http://schemas.microsoft.com/office/drawing/2014/main" id="{54792754-838B-D9DE-970F-6EC9539709AD}"/>
              </a:ext>
            </a:extLst>
          </p:cNvPr>
          <p:cNvSpPr/>
          <p:nvPr/>
        </p:nvSpPr>
        <p:spPr>
          <a:xfrm>
            <a:off x="8045239" y="4309043"/>
            <a:ext cx="1733700" cy="975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0" tIns="360000" rIns="360000" bIns="36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Local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hanges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" name="Google Shape;548;p74">
            <a:extLst>
              <a:ext uri="{FF2B5EF4-FFF2-40B4-BE49-F238E27FC236}">
                <a16:creationId xmlns:a16="http://schemas.microsoft.com/office/drawing/2014/main" id="{79CECCD5-A914-DC1D-BBA8-AA144194DFDE}"/>
              </a:ext>
            </a:extLst>
          </p:cNvPr>
          <p:cNvCxnSpPr/>
          <p:nvPr/>
        </p:nvCxnSpPr>
        <p:spPr>
          <a:xfrm rot="10800000" flipH="1">
            <a:off x="6758396" y="5284343"/>
            <a:ext cx="2153400" cy="914400"/>
          </a:xfrm>
          <a:prstGeom prst="bent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lg" len="lg"/>
            <a:tailEnd type="none" w="sm" len="sm"/>
          </a:ln>
        </p:spPr>
      </p:cxnSp>
      <p:sp>
        <p:nvSpPr>
          <p:cNvPr id="15" name="Google Shape;549;p74">
            <a:extLst>
              <a:ext uri="{FF2B5EF4-FFF2-40B4-BE49-F238E27FC236}">
                <a16:creationId xmlns:a16="http://schemas.microsoft.com/office/drawing/2014/main" id="{1C1B2484-261B-5578-5C90-72B4B6B5C416}"/>
              </a:ext>
            </a:extLst>
          </p:cNvPr>
          <p:cNvSpPr txBox="1"/>
          <p:nvPr/>
        </p:nvSpPr>
        <p:spPr>
          <a:xfrm>
            <a:off x="3242649" y="5460687"/>
            <a:ext cx="1733700" cy="15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0" tIns="360000" rIns="360000" bIns="360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Pull 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equest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550;p74">
            <a:extLst>
              <a:ext uri="{FF2B5EF4-FFF2-40B4-BE49-F238E27FC236}">
                <a16:creationId xmlns:a16="http://schemas.microsoft.com/office/drawing/2014/main" id="{BCA1FB5D-0A4E-831C-99C3-AEB640D72F9D}"/>
              </a:ext>
            </a:extLst>
          </p:cNvPr>
          <p:cNvSpPr txBox="1"/>
          <p:nvPr/>
        </p:nvSpPr>
        <p:spPr>
          <a:xfrm>
            <a:off x="2698017" y="1233556"/>
            <a:ext cx="68073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COLLABORATION</a:t>
            </a:r>
            <a:endParaRPr sz="2399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" name="Google Shape;551;p74">
            <a:extLst>
              <a:ext uri="{FF2B5EF4-FFF2-40B4-BE49-F238E27FC236}">
                <a16:creationId xmlns:a16="http://schemas.microsoft.com/office/drawing/2014/main" id="{57330917-6C54-05FB-F013-0C67128723BC}"/>
              </a:ext>
            </a:extLst>
          </p:cNvPr>
          <p:cNvCxnSpPr>
            <a:stCxn id="10" idx="0"/>
            <a:endCxn id="12" idx="1"/>
          </p:cNvCxnSpPr>
          <p:nvPr/>
        </p:nvCxnSpPr>
        <p:spPr>
          <a:xfrm rot="16200000">
            <a:off x="3574112" y="2711993"/>
            <a:ext cx="851700" cy="2342400"/>
          </a:xfrm>
          <a:prstGeom prst="bent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8" name="Google Shape;552;p74">
            <a:extLst>
              <a:ext uri="{FF2B5EF4-FFF2-40B4-BE49-F238E27FC236}">
                <a16:creationId xmlns:a16="http://schemas.microsoft.com/office/drawing/2014/main" id="{8C67BC19-08A3-F1AC-318D-92D0B11E2E28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6758339" y="3457227"/>
            <a:ext cx="2153700" cy="851700"/>
          </a:xfrm>
          <a:prstGeom prst="bent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9" name="Google Shape;553;p74">
            <a:extLst>
              <a:ext uri="{FF2B5EF4-FFF2-40B4-BE49-F238E27FC236}">
                <a16:creationId xmlns:a16="http://schemas.microsoft.com/office/drawing/2014/main" id="{88F3B5BF-7CB3-4BC0-1298-3B79DE4F5F0A}"/>
              </a:ext>
            </a:extLst>
          </p:cNvPr>
          <p:cNvCxnSpPr>
            <a:stCxn id="11" idx="1"/>
            <a:endCxn id="10" idx="2"/>
          </p:cNvCxnSpPr>
          <p:nvPr/>
        </p:nvCxnSpPr>
        <p:spPr>
          <a:xfrm rot="10800000">
            <a:off x="2828639" y="5284393"/>
            <a:ext cx="2342400" cy="914400"/>
          </a:xfrm>
          <a:prstGeom prst="bent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20" name="Google Shape;554;p74">
            <a:extLst>
              <a:ext uri="{FF2B5EF4-FFF2-40B4-BE49-F238E27FC236}">
                <a16:creationId xmlns:a16="http://schemas.microsoft.com/office/drawing/2014/main" id="{112B3B92-C43E-FDFE-B7CD-8BAD6B25CB2A}"/>
              </a:ext>
            </a:extLst>
          </p:cNvPr>
          <p:cNvSpPr txBox="1"/>
          <p:nvPr/>
        </p:nvSpPr>
        <p:spPr>
          <a:xfrm>
            <a:off x="7197323" y="2751363"/>
            <a:ext cx="14469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0" tIns="360000" rIns="360000" bIns="360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Git Clone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555;p74">
            <a:extLst>
              <a:ext uri="{FF2B5EF4-FFF2-40B4-BE49-F238E27FC236}">
                <a16:creationId xmlns:a16="http://schemas.microsoft.com/office/drawing/2014/main" id="{F56CBFB4-B090-887A-E455-49C141883E44}"/>
              </a:ext>
            </a:extLst>
          </p:cNvPr>
          <p:cNvSpPr txBox="1"/>
          <p:nvPr/>
        </p:nvSpPr>
        <p:spPr>
          <a:xfrm>
            <a:off x="7288616" y="5460501"/>
            <a:ext cx="1446900" cy="15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0" tIns="360000" rIns="360000" bIns="360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Git 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Push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885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560;p75">
            <a:extLst>
              <a:ext uri="{FF2B5EF4-FFF2-40B4-BE49-F238E27FC236}">
                <a16:creationId xmlns:a16="http://schemas.microsoft.com/office/drawing/2014/main" id="{B3320774-F81D-34B8-319F-7AC9EC27DAE5}"/>
              </a:ext>
            </a:extLst>
          </p:cNvPr>
          <p:cNvSpPr txBox="1">
            <a:spLocks/>
          </p:cNvSpPr>
          <p:nvPr/>
        </p:nvSpPr>
        <p:spPr>
          <a:xfrm>
            <a:off x="2089350" y="2422546"/>
            <a:ext cx="8013300" cy="12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925" rIns="0" bIns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2110" marR="5080" indent="-333375">
              <a:lnSpc>
                <a:spcPct val="11875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lang="en-US" dirty="0"/>
              <a:t>.</a:t>
            </a:r>
            <a:r>
              <a:rPr lang="en-US" dirty="0" err="1"/>
              <a:t>gitignore</a:t>
            </a:r>
            <a:r>
              <a:rPr lang="en-US" dirty="0"/>
              <a:t>: Not a command but a file consisting of file names that should not be checked in the VCS. This file will be checked in the VCS</a:t>
            </a:r>
          </a:p>
        </p:txBody>
      </p:sp>
      <p:sp>
        <p:nvSpPr>
          <p:cNvPr id="10" name="Google Shape;561;p75">
            <a:extLst>
              <a:ext uri="{FF2B5EF4-FFF2-40B4-BE49-F238E27FC236}">
                <a16:creationId xmlns:a16="http://schemas.microsoft.com/office/drawing/2014/main" id="{C0648A66-80C7-CAD8-AFEE-1E9D245F0C4D}"/>
              </a:ext>
            </a:extLst>
          </p:cNvPr>
          <p:cNvSpPr txBox="1">
            <a:spLocks/>
          </p:cNvSpPr>
          <p:nvPr/>
        </p:nvSpPr>
        <p:spPr>
          <a:xfrm>
            <a:off x="3748800" y="1163485"/>
            <a:ext cx="4694400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sz="4000" dirty="0"/>
              <a:t>IGNORING FILES IN GIT</a:t>
            </a:r>
          </a:p>
        </p:txBody>
      </p:sp>
    </p:spTree>
    <p:extLst>
      <p:ext uri="{BB962C8B-B14F-4D97-AF65-F5344CB8AC3E}">
        <p14:creationId xmlns:p14="http://schemas.microsoft.com/office/powerpoint/2010/main" val="1694546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566;p76">
            <a:extLst>
              <a:ext uri="{FF2B5EF4-FFF2-40B4-BE49-F238E27FC236}">
                <a16:creationId xmlns:a16="http://schemas.microsoft.com/office/drawing/2014/main" id="{8A73D371-D965-6448-D559-276D2D38946E}"/>
              </a:ext>
            </a:extLst>
          </p:cNvPr>
          <p:cNvSpPr txBox="1"/>
          <p:nvPr/>
        </p:nvSpPr>
        <p:spPr>
          <a:xfrm>
            <a:off x="3900750" y="2603250"/>
            <a:ext cx="4390500" cy="16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675" rIns="0" bIns="0" anchor="t" anchorCtr="0">
            <a:spAutoFit/>
          </a:bodyPr>
          <a:lstStyle/>
          <a:p>
            <a:pPr marL="345440" marR="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Atomic commits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Meaningful commit messages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SzPts val="1050"/>
              <a:buFont typeface="Arial"/>
              <a:buChar char="●"/>
            </a:pPr>
            <a:r>
              <a:rPr lang="en-US" sz="2400" b="0" i="0" u="none" strike="noStrike" cap="none">
                <a:latin typeface="Arial"/>
                <a:ea typeface="Arial"/>
                <a:cs typeface="Arial"/>
                <a:sym typeface="Arial"/>
              </a:rPr>
              <a:t>Use of gitignore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67;p76">
            <a:extLst>
              <a:ext uri="{FF2B5EF4-FFF2-40B4-BE49-F238E27FC236}">
                <a16:creationId xmlns:a16="http://schemas.microsoft.com/office/drawing/2014/main" id="{7D30E7F0-F4E7-D1DF-FC46-9C2DF5D9EF12}"/>
              </a:ext>
            </a:extLst>
          </p:cNvPr>
          <p:cNvSpPr txBox="1">
            <a:spLocks/>
          </p:cNvSpPr>
          <p:nvPr/>
        </p:nvSpPr>
        <p:spPr>
          <a:xfrm>
            <a:off x="3733050" y="1206622"/>
            <a:ext cx="4725900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sz="4000" dirty="0"/>
              <a:t>GIT: GOOD PRACTICES</a:t>
            </a:r>
          </a:p>
        </p:txBody>
      </p:sp>
    </p:spTree>
    <p:extLst>
      <p:ext uri="{BB962C8B-B14F-4D97-AF65-F5344CB8AC3E}">
        <p14:creationId xmlns:p14="http://schemas.microsoft.com/office/powerpoint/2010/main" val="10669548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572;p77">
            <a:extLst>
              <a:ext uri="{FF2B5EF4-FFF2-40B4-BE49-F238E27FC236}">
                <a16:creationId xmlns:a16="http://schemas.microsoft.com/office/drawing/2014/main" id="{B64892A0-3AA4-966D-77FD-D20C3BB8657D}"/>
              </a:ext>
            </a:extLst>
          </p:cNvPr>
          <p:cNvSpPr txBox="1">
            <a:spLocks/>
          </p:cNvSpPr>
          <p:nvPr/>
        </p:nvSpPr>
        <p:spPr>
          <a:xfrm>
            <a:off x="4377300" y="1307631"/>
            <a:ext cx="3437400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0"/>
              </a:spcBef>
            </a:pPr>
            <a:r>
              <a:rPr lang="en-US" sz="4000" dirty="0"/>
              <a:t>GIT REFERENCES</a:t>
            </a:r>
          </a:p>
        </p:txBody>
      </p:sp>
      <p:sp>
        <p:nvSpPr>
          <p:cNvPr id="10" name="Google Shape;573;p77">
            <a:extLst>
              <a:ext uri="{FF2B5EF4-FFF2-40B4-BE49-F238E27FC236}">
                <a16:creationId xmlns:a16="http://schemas.microsoft.com/office/drawing/2014/main" id="{10158CE0-470B-DF59-FF2E-F641158A3AA6}"/>
              </a:ext>
            </a:extLst>
          </p:cNvPr>
          <p:cNvSpPr txBox="1"/>
          <p:nvPr/>
        </p:nvSpPr>
        <p:spPr>
          <a:xfrm>
            <a:off x="2902267" y="2605087"/>
            <a:ext cx="6387465" cy="164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675" rIns="0" bIns="0" anchor="t" anchorCtr="0">
            <a:spAutoFit/>
          </a:bodyPr>
          <a:lstStyle/>
          <a:p>
            <a:pPr marL="345440" marR="0" lvl="0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sz="2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Git Manual page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sz="2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Git cheat sheet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5440" marR="0" lvl="0" indent="-333375" algn="l" rtl="0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sz="2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https://www.codeschool.com/courses/git-real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5400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8"/>
          <p:cNvSpPr txBox="1">
            <a:spLocks noGrp="1"/>
          </p:cNvSpPr>
          <p:nvPr>
            <p:ph type="sldNum" idx="12"/>
          </p:nvPr>
        </p:nvSpPr>
        <p:spPr>
          <a:xfrm>
            <a:off x="7991475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46</a:t>
            </a:fld>
            <a:endParaRPr/>
          </a:p>
        </p:txBody>
      </p:sp>
      <p:sp>
        <p:nvSpPr>
          <p:cNvPr id="579" name="Google Shape;579;p78"/>
          <p:cNvSpPr txBox="1"/>
          <p:nvPr/>
        </p:nvSpPr>
        <p:spPr>
          <a:xfrm>
            <a:off x="3819000" y="2877000"/>
            <a:ext cx="49602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en-US" sz="3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Doubt Clearance Window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000000"/>
              </a:buClr>
              <a:buSzPts val="3200"/>
            </a:pP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78"/>
          <p:cNvSpPr txBox="1">
            <a:spLocks noGrp="1"/>
          </p:cNvSpPr>
          <p:nvPr>
            <p:ph type="ftr" idx="11"/>
          </p:nvPr>
        </p:nvSpPr>
        <p:spPr>
          <a:xfrm>
            <a:off x="3605225" y="6356367"/>
            <a:ext cx="5174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90000"/>
              </a:lnSpc>
              <a:buSzPts val="1800"/>
            </a:pPr>
            <a:endParaRPr/>
          </a:p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9"/>
          <p:cNvSpPr txBox="1">
            <a:spLocks noGrp="1"/>
          </p:cNvSpPr>
          <p:nvPr>
            <p:ph type="sldNum" idx="12"/>
          </p:nvPr>
        </p:nvSpPr>
        <p:spPr>
          <a:xfrm>
            <a:off x="7991475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47</a:t>
            </a:fld>
            <a:endParaRPr/>
          </a:p>
        </p:txBody>
      </p:sp>
      <p:sp>
        <p:nvSpPr>
          <p:cNvPr id="586" name="Google Shape;586;p79"/>
          <p:cNvSpPr txBox="1"/>
          <p:nvPr/>
        </p:nvSpPr>
        <p:spPr>
          <a:xfrm>
            <a:off x="2162175" y="873200"/>
            <a:ext cx="78867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US" sz="2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Tasks to Complete After Today’s Session</a:t>
            </a:r>
            <a:endParaRPr sz="2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7" name="Google Shape;587;p79"/>
          <p:cNvSpPr txBox="1"/>
          <p:nvPr/>
        </p:nvSpPr>
        <p:spPr>
          <a:xfrm>
            <a:off x="2280025" y="1926233"/>
            <a:ext cx="7436400" cy="3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8" name="Google Shape;588;p79"/>
          <p:cNvGraphicFramePr/>
          <p:nvPr/>
        </p:nvGraphicFramePr>
        <p:xfrm>
          <a:off x="4491212" y="2175833"/>
          <a:ext cx="3418275" cy="2596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1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MCQs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Conceptual Questions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Project Checkpoint 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89" name="Google Shape;589;p79"/>
          <p:cNvSpPr txBox="1">
            <a:spLocks noGrp="1"/>
          </p:cNvSpPr>
          <p:nvPr>
            <p:ph type="ftr" idx="11"/>
          </p:nvPr>
        </p:nvSpPr>
        <p:spPr>
          <a:xfrm>
            <a:off x="3605225" y="6356367"/>
            <a:ext cx="5174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90000"/>
              </a:lnSpc>
              <a:buSzPts val="1800"/>
            </a:pPr>
            <a:endParaRPr/>
          </a:p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48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1255</Words>
  <Application>Microsoft Office PowerPoint</Application>
  <PresentationFormat>Widescreen</PresentationFormat>
  <Paragraphs>317</Paragraphs>
  <Slides>48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Calibri</vt:lpstr>
      <vt:lpstr>Calibri Light</vt:lpstr>
      <vt:lpstr>Lato</vt:lpstr>
      <vt:lpstr>Noto Sans Symbols</vt:lpstr>
      <vt:lpstr>Proxima Nova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Janvi Jannet</cp:lastModifiedBy>
  <cp:revision>3</cp:revision>
  <dcterms:created xsi:type="dcterms:W3CDTF">2024-07-22T09:00:14Z</dcterms:created>
  <dcterms:modified xsi:type="dcterms:W3CDTF">2024-07-22T09:11:43Z</dcterms:modified>
</cp:coreProperties>
</file>