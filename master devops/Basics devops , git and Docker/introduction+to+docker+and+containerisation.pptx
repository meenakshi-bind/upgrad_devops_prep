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4"/>
  </p:notesMasterIdLst>
  <p:sldIdLst>
    <p:sldId id="257" r:id="rId2"/>
    <p:sldId id="291" r:id="rId3"/>
    <p:sldId id="494" r:id="rId4"/>
    <p:sldId id="495" r:id="rId5"/>
    <p:sldId id="496" r:id="rId6"/>
    <p:sldId id="497" r:id="rId7"/>
    <p:sldId id="498" r:id="rId8"/>
    <p:sldId id="499" r:id="rId9"/>
    <p:sldId id="500" r:id="rId10"/>
    <p:sldId id="501" r:id="rId11"/>
    <p:sldId id="502" r:id="rId12"/>
    <p:sldId id="504" r:id="rId13"/>
    <p:sldId id="505" r:id="rId14"/>
    <p:sldId id="506" r:id="rId15"/>
    <p:sldId id="507" r:id="rId16"/>
    <p:sldId id="508" r:id="rId17"/>
    <p:sldId id="509" r:id="rId18"/>
    <p:sldId id="510" r:id="rId19"/>
    <p:sldId id="511" r:id="rId20"/>
    <p:sldId id="512" r:id="rId21"/>
    <p:sldId id="514" r:id="rId22"/>
    <p:sldId id="515" r:id="rId23"/>
    <p:sldId id="516" r:id="rId24"/>
    <p:sldId id="517" r:id="rId25"/>
    <p:sldId id="518" r:id="rId26"/>
    <p:sldId id="519" r:id="rId27"/>
    <p:sldId id="520" r:id="rId28"/>
    <p:sldId id="521" r:id="rId29"/>
    <p:sldId id="522" r:id="rId30"/>
    <p:sldId id="523" r:id="rId31"/>
    <p:sldId id="524" r:id="rId32"/>
    <p:sldId id="525" r:id="rId33"/>
    <p:sldId id="526" r:id="rId34"/>
    <p:sldId id="527" r:id="rId35"/>
    <p:sldId id="528" r:id="rId36"/>
    <p:sldId id="529" r:id="rId37"/>
    <p:sldId id="530" r:id="rId38"/>
    <p:sldId id="531" r:id="rId39"/>
    <p:sldId id="532" r:id="rId40"/>
    <p:sldId id="533" r:id="rId41"/>
    <p:sldId id="534" r:id="rId42"/>
    <p:sldId id="535" r:id="rId43"/>
    <p:sldId id="536" r:id="rId44"/>
    <p:sldId id="537" r:id="rId45"/>
    <p:sldId id="538" r:id="rId46"/>
    <p:sldId id="539" r:id="rId47"/>
    <p:sldId id="540" r:id="rId48"/>
    <p:sldId id="541" r:id="rId49"/>
    <p:sldId id="542" r:id="rId50"/>
    <p:sldId id="543" r:id="rId51"/>
    <p:sldId id="544" r:id="rId52"/>
    <p:sldId id="545" r:id="rId53"/>
    <p:sldId id="546" r:id="rId54"/>
    <p:sldId id="547" r:id="rId55"/>
    <p:sldId id="548" r:id="rId56"/>
    <p:sldId id="549" r:id="rId57"/>
    <p:sldId id="550" r:id="rId58"/>
    <p:sldId id="551" r:id="rId59"/>
    <p:sldId id="552" r:id="rId60"/>
    <p:sldId id="553" r:id="rId61"/>
    <p:sldId id="554" r:id="rId62"/>
    <p:sldId id="555" r:id="rId63"/>
    <p:sldId id="556" r:id="rId64"/>
    <p:sldId id="557" r:id="rId65"/>
    <p:sldId id="558" r:id="rId66"/>
    <p:sldId id="559" r:id="rId67"/>
    <p:sldId id="560" r:id="rId68"/>
    <p:sldId id="561" r:id="rId69"/>
    <p:sldId id="562" r:id="rId70"/>
    <p:sldId id="563" r:id="rId71"/>
    <p:sldId id="564" r:id="rId72"/>
    <p:sldId id="565" r:id="rId73"/>
    <p:sldId id="566" r:id="rId74"/>
    <p:sldId id="567" r:id="rId75"/>
    <p:sldId id="568" r:id="rId76"/>
    <p:sldId id="569" r:id="rId77"/>
    <p:sldId id="570" r:id="rId78"/>
    <p:sldId id="571" r:id="rId79"/>
    <p:sldId id="572" r:id="rId80"/>
    <p:sldId id="573" r:id="rId81"/>
    <p:sldId id="574" r:id="rId82"/>
    <p:sldId id="575" r:id="rId83"/>
    <p:sldId id="576" r:id="rId84"/>
    <p:sldId id="577" r:id="rId85"/>
    <p:sldId id="578" r:id="rId86"/>
    <p:sldId id="579" r:id="rId87"/>
    <p:sldId id="580" r:id="rId88"/>
    <p:sldId id="581" r:id="rId89"/>
    <p:sldId id="582" r:id="rId90"/>
    <p:sldId id="583" r:id="rId91"/>
    <p:sldId id="584" r:id="rId92"/>
    <p:sldId id="585" r:id="rId93"/>
    <p:sldId id="586" r:id="rId94"/>
    <p:sldId id="587" r:id="rId95"/>
    <p:sldId id="588" r:id="rId96"/>
    <p:sldId id="589" r:id="rId97"/>
    <p:sldId id="590" r:id="rId98"/>
    <p:sldId id="591" r:id="rId99"/>
    <p:sldId id="592" r:id="rId100"/>
    <p:sldId id="355" r:id="rId101"/>
    <p:sldId id="356" r:id="rId102"/>
    <p:sldId id="503" r:id="rId10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CE6EC0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C0293-6A13-4350-92F3-56217300ED6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5EB6FD-E6F3-43DD-9A98-BE56681F0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997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99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9" name="Google Shape;2249;g2484d793456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0" name="Google Shape;2250;g2484d793456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g2484d793456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7" name="Google Shape;2257;g2484d793456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78A52-0CAD-9A91-27F4-2844F5284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55FC23-32A1-04B0-3F67-35D03C381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7D57E-189B-409B-3F15-200FE3912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8F35-BD76-40A5-9B33-EF86E906A10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B11D8-5403-0B29-FAE9-81914869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7EA65-4707-B90D-897E-3EE42FAC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9DA4-876D-47F5-B477-55FD5908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4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75182-4E46-9ACB-BFB0-39A525368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70747-3DE9-28E4-220A-FC43D3172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FAAA9-353B-30F4-E9B6-C9878F105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8F35-BD76-40A5-9B33-EF86E906A10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34F26-F509-F403-324C-56D9887D9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A8D98-8240-4470-5FFE-0042782E6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9DA4-876D-47F5-B477-55FD5908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131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74615-ECBB-9288-D5A7-4AC265E0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C3084-1BC4-764F-F37A-B0D228D7B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F303C-DEBC-D010-0595-44B45E5EB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8F35-BD76-40A5-9B33-EF86E906A10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C6051-A0F0-43F4-5079-823816773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DBA87-1F24-EB94-790E-A30E9B477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9DA4-876D-47F5-B477-55FD5908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187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6DB77-8649-DFB9-B7AB-B1FBD0E41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C6BA4-3018-69D9-34E8-55E06641E7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98D7D-03AC-842E-D883-859723038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0FF8B-461D-645D-0BB2-62919BBDA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8F35-BD76-40A5-9B33-EF86E906A10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DAE62-BDEA-5244-8D08-6D4A5CADC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D432E-C1EF-D09E-B523-53EAB8A8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9DA4-876D-47F5-B477-55FD5908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047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A04FC-FB1A-B1F0-0946-B49EFC4B6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5E6E3-94BD-EBD2-DB35-F60EA6C69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B1656F-56FC-B421-CC5F-473052EB6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487FCF-A2BF-EA01-FEDC-596186D418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4217D2-B14E-74B1-0288-D34A453679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1B5FF4-55B1-A106-8940-B796894F7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8F35-BD76-40A5-9B33-EF86E906A10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A77354-31B2-01B6-B4F9-C5D91C3AA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8923C8-98F6-08BF-363B-7FACD0276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9DA4-876D-47F5-B477-55FD5908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1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91D30-6B1F-B35D-BB31-EF41C385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BE9152-53BA-DB3E-DCF8-A3657DC85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8F35-BD76-40A5-9B33-EF86E906A10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64176F-9C0C-2182-BC1F-D8E0C28B3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ABF58-A53A-EF71-B1DC-A8063F99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9DA4-876D-47F5-B477-55FD5908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840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1D4115-59FC-3FC7-1A1A-422E9BDA6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8F35-BD76-40A5-9B33-EF86E906A10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D5406-538B-6D67-5D40-5B4128B60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1B7BE-C89D-FE40-6B50-847A443C9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9DA4-876D-47F5-B477-55FD5908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38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C8583-7B51-0D6C-6315-889061C5D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F41E0-FCA9-4D56-2DCF-536D7EF50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5884C-18AA-9CD2-3E02-E90210EDB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0E057-02FE-463B-F437-D5BB513C5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8F35-BD76-40A5-9B33-EF86E906A10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06494-064A-E987-F66D-D088203C6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F6E53-7D6B-0828-8A23-22108136E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9DA4-876D-47F5-B477-55FD5908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702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AC1CC-A92F-4D0D-C8BC-9A0F1175D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F9173-38EC-B956-EAF7-8CFCF6CDA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EF2BE0-099A-8B1B-F535-085C44C23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93AB7-1A86-95BE-213F-50EDBD535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8F35-BD76-40A5-9B33-EF86E906A10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C3A5A-7258-4E67-16A3-143CD4A60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20A3F-EA26-6CBF-A905-431774C37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9DA4-876D-47F5-B477-55FD5908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146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463BD-225F-EF31-53F9-BF67E1055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288023-0D03-DCD3-6C85-EEFE82B19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5A9DB-3574-CFF1-E9EF-BC1AB8324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8F35-BD76-40A5-9B33-EF86E906A10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77C03-7ED7-FC28-71BD-5316D1595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A4B29-5F49-C085-2AF4-7AA05B34A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9DA4-876D-47F5-B477-55FD5908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076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CEA70B-45EA-4B9B-D3CF-8F68FCD41D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6A696-73AA-2EB6-2F03-E0804012C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70051-FF22-A424-9F2C-31A2CDA70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8F35-BD76-40A5-9B33-EF86E906A10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C9C71-D5D0-BA7E-D085-B871FA0FD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C7968-95E8-2783-4685-2BBE26D1B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9DA4-876D-47F5-B477-55FD5908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519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2484d793456_0_523"/>
          <p:cNvSpPr/>
          <p:nvPr/>
        </p:nvSpPr>
        <p:spPr>
          <a:xfrm>
            <a:off x="-575" y="0"/>
            <a:ext cx="12192000" cy="68580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g2484d793456_0_523"/>
          <p:cNvSpPr txBox="1">
            <a:spLocks noGrp="1"/>
          </p:cNvSpPr>
          <p:nvPr>
            <p:ph type="title"/>
          </p:nvPr>
        </p:nvSpPr>
        <p:spPr>
          <a:xfrm>
            <a:off x="840317" y="725997"/>
            <a:ext cx="79875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15" name="Google Shape;615;g2484d793456_0_523"/>
          <p:cNvSpPr txBox="1">
            <a:spLocks noGrp="1"/>
          </p:cNvSpPr>
          <p:nvPr>
            <p:ph type="dt" idx="10"/>
          </p:nvPr>
        </p:nvSpPr>
        <p:spPr>
          <a:xfrm>
            <a:off x="8509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16" name="Google Shape;616;g2484d793456_0_523"/>
          <p:cNvSpPr txBox="1">
            <a:spLocks noGrp="1"/>
          </p:cNvSpPr>
          <p:nvPr>
            <p:ph type="ftr" idx="11"/>
          </p:nvPr>
        </p:nvSpPr>
        <p:spPr>
          <a:xfrm>
            <a:off x="3502833" y="6356367"/>
            <a:ext cx="56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7" name="Google Shape;617;g2484d793456_0_52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8" name="Google Shape;618;g2484d793456_0_5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49227" y="404813"/>
            <a:ext cx="1213040" cy="323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g2484d793456_0_5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0" name="Google Shape;620;g2484d793456_0_5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2384" y="280085"/>
            <a:ext cx="1084840" cy="2896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855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8C4E48-5A21-467C-FFCC-64CA1351F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682BC-E54D-70DF-E6CF-CA6E09629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7A9D2-BE76-1F87-6943-B9E0A8DD1D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48F35-BD76-40A5-9B33-EF86E906A10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77F3C-74C7-5910-F1E6-F7950FB138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A2BB5-0D2B-BC30-6041-C73F61DDE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E9DA4-876D-47F5-B477-55FD5908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38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emf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emf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docker.com/engine/install/" TargetMode="Externa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5.emf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emf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Introduction to Docker </a:t>
            </a:r>
          </a:p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And </a:t>
            </a:r>
            <a:r>
              <a:rPr lang="en-US" sz="4800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Containerisation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43D47F-0850-4C54-ECA1-347E586871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9679C1-BC8C-6DA1-DAAC-A17D4D80D152}"/>
              </a:ext>
            </a:extLst>
          </p:cNvPr>
          <p:cNvSpPr/>
          <p:nvPr/>
        </p:nvSpPr>
        <p:spPr>
          <a:xfrm>
            <a:off x="974708" y="2835973"/>
            <a:ext cx="10242584" cy="1891999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50800" dist="38100" dir="5400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2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6575" y="339777"/>
            <a:ext cx="839192" cy="8391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5;p35">
            <a:extLst>
              <a:ext uri="{FF2B5EF4-FFF2-40B4-BE49-F238E27FC236}">
                <a16:creationId xmlns:a16="http://schemas.microsoft.com/office/drawing/2014/main" id="{291948C9-9A2C-87BE-CE08-117DF3B40FEB}"/>
              </a:ext>
            </a:extLst>
          </p:cNvPr>
          <p:cNvSpPr txBox="1"/>
          <p:nvPr/>
        </p:nvSpPr>
        <p:spPr>
          <a:xfrm>
            <a:off x="1238600" y="3025047"/>
            <a:ext cx="10320821" cy="141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1800"/>
            </a:pPr>
            <a:r>
              <a:rPr lang="en-IN" sz="2400" b="1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Course : </a:t>
            </a: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Mastering DevOps</a:t>
            </a:r>
          </a:p>
          <a:p>
            <a:pPr>
              <a:lnSpc>
                <a:spcPct val="90000"/>
              </a:lnSpc>
              <a:spcBef>
                <a:spcPts val="1333"/>
              </a:spcBef>
              <a:buClr>
                <a:srgbClr val="000000"/>
              </a:buClr>
              <a:buSzPts val="1800"/>
            </a:pPr>
            <a:r>
              <a:rPr lang="en-US" sz="2400" b="1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Lecture On :</a:t>
            </a:r>
            <a:r>
              <a:rPr lang="en-US" sz="2400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Introduction to Docker and </a:t>
            </a:r>
            <a:r>
              <a:rPr lang="en-US" sz="2400" dirty="0" err="1">
                <a:latin typeface="Proxima Nova"/>
                <a:ea typeface="Proxima Nova"/>
                <a:cs typeface="Proxima Nova"/>
                <a:sym typeface="Proxima Nova"/>
              </a:rPr>
              <a:t>containerisation</a:t>
            </a:r>
            <a:endParaRPr lang="en-US" sz="2400" dirty="0"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90000"/>
              </a:lnSpc>
              <a:spcBef>
                <a:spcPts val="1333"/>
              </a:spcBef>
              <a:buClr>
                <a:schemeClr val="dk1"/>
              </a:buClr>
              <a:buSzPts val="1800"/>
            </a:pPr>
            <a:r>
              <a:rPr lang="en-IN" sz="2400" b="1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Instructor:</a:t>
            </a:r>
            <a:r>
              <a:rPr lang="en-IN" sz="2400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IN" sz="2400" dirty="0">
                <a:latin typeface="Proxima Nova"/>
                <a:ea typeface="Proxima Nova"/>
                <a:cs typeface="Proxima Nova"/>
                <a:sym typeface="Proxima Nova"/>
              </a:rPr>
              <a:t>Dipesh Garg</a:t>
            </a:r>
            <a:endParaRPr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08B53D-9306-9D48-39AC-6DE1ADEA2CB3}"/>
              </a:ext>
            </a:extLst>
          </p:cNvPr>
          <p:cNvSpPr/>
          <p:nvPr/>
        </p:nvSpPr>
        <p:spPr>
          <a:xfrm>
            <a:off x="502022" y="554705"/>
            <a:ext cx="4035748" cy="1053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F23375-B8AB-D09C-AE78-7CB2ACA91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181" y="674400"/>
            <a:ext cx="1214204" cy="3211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638F4F-FD5E-21E6-1E9F-FDC54ACC9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-6519"/>
            <a:ext cx="2242807" cy="17835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62FBDC-6DA2-B87B-EE85-C2E7BA6FF1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0112" y="-13039"/>
            <a:ext cx="964928" cy="1220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ACF819-EB7A-C5FA-9359-22256A6A507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3151" y="6109915"/>
            <a:ext cx="940736" cy="7480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EE7E7C-67F5-30B2-6350-6BDF088EE9E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0" y="6388576"/>
            <a:ext cx="371088" cy="46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927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861;p2">
            <a:extLst>
              <a:ext uri="{FF2B5EF4-FFF2-40B4-BE49-F238E27FC236}">
                <a16:creationId xmlns:a16="http://schemas.microsoft.com/office/drawing/2014/main" id="{28861B8C-1074-E42B-2F52-5D7B54366627}"/>
              </a:ext>
            </a:extLst>
          </p:cNvPr>
          <p:cNvGrpSpPr/>
          <p:nvPr/>
        </p:nvGrpSpPr>
        <p:grpSpPr>
          <a:xfrm>
            <a:off x="5767797" y="2149794"/>
            <a:ext cx="3186729" cy="1495313"/>
            <a:chOff x="8563760" y="1258645"/>
            <a:chExt cx="3186729" cy="1495313"/>
          </a:xfrm>
        </p:grpSpPr>
        <p:sp>
          <p:nvSpPr>
            <p:cNvPr id="10" name="Google Shape;862;p2">
              <a:extLst>
                <a:ext uri="{FF2B5EF4-FFF2-40B4-BE49-F238E27FC236}">
                  <a16:creationId xmlns:a16="http://schemas.microsoft.com/office/drawing/2014/main" id="{DAC9BEF1-7606-6EC8-2949-301E6CFDA894}"/>
                </a:ext>
              </a:extLst>
            </p:cNvPr>
            <p:cNvSpPr/>
            <p:nvPr/>
          </p:nvSpPr>
          <p:spPr>
            <a:xfrm>
              <a:off x="8563760" y="1258645"/>
              <a:ext cx="1795853" cy="1495313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1"/>
            </a:solidFill>
            <a:ln w="234950" cap="flat" cmpd="sng">
              <a:solidFill>
                <a:srgbClr val="FAA7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863;p2">
              <a:extLst>
                <a:ext uri="{FF2B5EF4-FFF2-40B4-BE49-F238E27FC236}">
                  <a16:creationId xmlns:a16="http://schemas.microsoft.com/office/drawing/2014/main" id="{515E787D-3227-D233-33C0-0B6128865589}"/>
                </a:ext>
              </a:extLst>
            </p:cNvPr>
            <p:cNvSpPr/>
            <p:nvPr/>
          </p:nvSpPr>
          <p:spPr>
            <a:xfrm>
              <a:off x="9031739" y="1378212"/>
              <a:ext cx="2718750" cy="126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0" sx="79000" sy="79000" algn="ctr" rotWithShape="0">
                <a:srgbClr val="505050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" name="Google Shape;864;p2">
            <a:extLst>
              <a:ext uri="{FF2B5EF4-FFF2-40B4-BE49-F238E27FC236}">
                <a16:creationId xmlns:a16="http://schemas.microsoft.com/office/drawing/2014/main" id="{DB5A91E7-1569-099C-4027-596BA42F6335}"/>
              </a:ext>
            </a:extLst>
          </p:cNvPr>
          <p:cNvSpPr txBox="1"/>
          <p:nvPr/>
        </p:nvSpPr>
        <p:spPr>
          <a:xfrm>
            <a:off x="6873047" y="2401663"/>
            <a:ext cx="1973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F7A526"/>
                </a:solidFill>
                <a:latin typeface="Lato"/>
                <a:ea typeface="Lato"/>
                <a:cs typeface="Lato"/>
                <a:sym typeface="Lato"/>
              </a:rPr>
              <a:t>Docker Overview and Installation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" name="Google Shape;865;p2">
            <a:extLst>
              <a:ext uri="{FF2B5EF4-FFF2-40B4-BE49-F238E27FC236}">
                <a16:creationId xmlns:a16="http://schemas.microsoft.com/office/drawing/2014/main" id="{02012374-590C-CFE0-76FF-FF243417ACFF}"/>
              </a:ext>
            </a:extLst>
          </p:cNvPr>
          <p:cNvGrpSpPr/>
          <p:nvPr/>
        </p:nvGrpSpPr>
        <p:grpSpPr>
          <a:xfrm flipH="1">
            <a:off x="2833871" y="3044411"/>
            <a:ext cx="3078409" cy="1495313"/>
            <a:chOff x="8563760" y="1258645"/>
            <a:chExt cx="3078409" cy="1495313"/>
          </a:xfrm>
        </p:grpSpPr>
        <p:sp>
          <p:nvSpPr>
            <p:cNvPr id="14" name="Google Shape;866;p2">
              <a:extLst>
                <a:ext uri="{FF2B5EF4-FFF2-40B4-BE49-F238E27FC236}">
                  <a16:creationId xmlns:a16="http://schemas.microsoft.com/office/drawing/2014/main" id="{B702F936-7FE4-36A5-A001-E67751C8598B}"/>
                </a:ext>
              </a:extLst>
            </p:cNvPr>
            <p:cNvSpPr/>
            <p:nvPr/>
          </p:nvSpPr>
          <p:spPr>
            <a:xfrm>
              <a:off x="8563760" y="1258645"/>
              <a:ext cx="1795853" cy="1495313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234950" cap="flat" cmpd="sng">
              <a:solidFill>
                <a:srgbClr val="4890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867;p2">
              <a:extLst>
                <a:ext uri="{FF2B5EF4-FFF2-40B4-BE49-F238E27FC236}">
                  <a16:creationId xmlns:a16="http://schemas.microsoft.com/office/drawing/2014/main" id="{50EE3E8E-3F29-9838-AC85-D6F51DD6C44E}"/>
                </a:ext>
              </a:extLst>
            </p:cNvPr>
            <p:cNvSpPr/>
            <p:nvPr/>
          </p:nvSpPr>
          <p:spPr>
            <a:xfrm>
              <a:off x="9023501" y="1378151"/>
              <a:ext cx="2618668" cy="12598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0" sx="79000" sy="79000" algn="ctr" rotWithShape="0">
                <a:srgbClr val="505050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868;p2">
            <a:extLst>
              <a:ext uri="{FF2B5EF4-FFF2-40B4-BE49-F238E27FC236}">
                <a16:creationId xmlns:a16="http://schemas.microsoft.com/office/drawing/2014/main" id="{01F402A3-0845-D0E2-860E-F28FF7616088}"/>
              </a:ext>
            </a:extLst>
          </p:cNvPr>
          <p:cNvSpPr txBox="1"/>
          <p:nvPr/>
        </p:nvSpPr>
        <p:spPr>
          <a:xfrm>
            <a:off x="2956543" y="3263522"/>
            <a:ext cx="1888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4890E4"/>
                </a:solidFill>
                <a:latin typeface="Lato"/>
                <a:ea typeface="Lato"/>
                <a:cs typeface="Lato"/>
                <a:sym typeface="Lato"/>
              </a:rPr>
              <a:t>Docker Image Creation and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4890E4"/>
                </a:solidFill>
                <a:latin typeface="Lato"/>
                <a:ea typeface="Lato"/>
                <a:cs typeface="Lato"/>
                <a:sym typeface="Lato"/>
              </a:rPr>
              <a:t>Management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oogle Shape;869;p2">
            <a:extLst>
              <a:ext uri="{FF2B5EF4-FFF2-40B4-BE49-F238E27FC236}">
                <a16:creationId xmlns:a16="http://schemas.microsoft.com/office/drawing/2014/main" id="{C26E4668-C054-7007-2FC1-0DA808E0ADBB}"/>
              </a:ext>
            </a:extLst>
          </p:cNvPr>
          <p:cNvGrpSpPr/>
          <p:nvPr/>
        </p:nvGrpSpPr>
        <p:grpSpPr>
          <a:xfrm>
            <a:off x="5776035" y="3907957"/>
            <a:ext cx="3183591" cy="1495313"/>
            <a:chOff x="8563760" y="1258645"/>
            <a:chExt cx="3183591" cy="1495313"/>
          </a:xfrm>
        </p:grpSpPr>
        <p:sp>
          <p:nvSpPr>
            <p:cNvPr id="18" name="Google Shape;870;p2">
              <a:extLst>
                <a:ext uri="{FF2B5EF4-FFF2-40B4-BE49-F238E27FC236}">
                  <a16:creationId xmlns:a16="http://schemas.microsoft.com/office/drawing/2014/main" id="{6A51BDED-F8B9-6FEE-2E35-A10477D87B03}"/>
                </a:ext>
              </a:extLst>
            </p:cNvPr>
            <p:cNvSpPr/>
            <p:nvPr/>
          </p:nvSpPr>
          <p:spPr>
            <a:xfrm>
              <a:off x="8563760" y="1258645"/>
              <a:ext cx="1795853" cy="1495313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2349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871;p2">
              <a:extLst>
                <a:ext uri="{FF2B5EF4-FFF2-40B4-BE49-F238E27FC236}">
                  <a16:creationId xmlns:a16="http://schemas.microsoft.com/office/drawing/2014/main" id="{4169BC90-8683-6398-4502-C068C6DF4E65}"/>
                </a:ext>
              </a:extLst>
            </p:cNvPr>
            <p:cNvSpPr/>
            <p:nvPr/>
          </p:nvSpPr>
          <p:spPr>
            <a:xfrm>
              <a:off x="9023500" y="1378151"/>
              <a:ext cx="2723851" cy="12598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0" sx="79000" sy="79000" algn="ctr" rotWithShape="0">
                <a:srgbClr val="505050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" name="Google Shape;872;p2">
            <a:extLst>
              <a:ext uri="{FF2B5EF4-FFF2-40B4-BE49-F238E27FC236}">
                <a16:creationId xmlns:a16="http://schemas.microsoft.com/office/drawing/2014/main" id="{9A1B57FF-E00F-7F3E-04F1-5C46209E5C80}"/>
              </a:ext>
            </a:extLst>
          </p:cNvPr>
          <p:cNvSpPr txBox="1"/>
          <p:nvPr/>
        </p:nvSpPr>
        <p:spPr>
          <a:xfrm>
            <a:off x="6764762" y="4023703"/>
            <a:ext cx="2081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rPr>
              <a:t>Docker Volumes and Multi-Container Deployments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873;p2" descr="Puzzle">
            <a:extLst>
              <a:ext uri="{FF2B5EF4-FFF2-40B4-BE49-F238E27FC236}">
                <a16:creationId xmlns:a16="http://schemas.microsoft.com/office/drawing/2014/main" id="{F069CCAF-82F0-809F-75C5-CD03A9D97C6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29460" y="2558773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874;p2" descr="Home">
            <a:extLst>
              <a:ext uri="{FF2B5EF4-FFF2-40B4-BE49-F238E27FC236}">
                <a16:creationId xmlns:a16="http://schemas.microsoft.com/office/drawing/2014/main" id="{558B4931-8D42-80DD-4729-5AA00598C61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54375" y="3420632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875;p2" descr="Infinity">
            <a:extLst>
              <a:ext uri="{FF2B5EF4-FFF2-40B4-BE49-F238E27FC236}">
                <a16:creationId xmlns:a16="http://schemas.microsoft.com/office/drawing/2014/main" id="{D9025AF5-8D95-B28A-EE4A-BE51333B855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2765" y="4343932"/>
            <a:ext cx="640080" cy="640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838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4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9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4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9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4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9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80;p3">
            <a:extLst>
              <a:ext uri="{FF2B5EF4-FFF2-40B4-BE49-F238E27FC236}">
                <a16:creationId xmlns:a16="http://schemas.microsoft.com/office/drawing/2014/main" id="{7E7906AA-A7EE-4FDA-B9B2-251E03A3FB01}"/>
              </a:ext>
            </a:extLst>
          </p:cNvPr>
          <p:cNvSpPr txBox="1"/>
          <p:nvPr/>
        </p:nvSpPr>
        <p:spPr>
          <a:xfrm>
            <a:off x="3277821" y="777001"/>
            <a:ext cx="55956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MODULE OVERVIEW: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lang="en" sz="23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CONTAINERI</a:t>
            </a:r>
            <a:r>
              <a:rPr lang="en" sz="2350"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n" sz="23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ATION USING DOCKER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881;p3">
            <a:extLst>
              <a:ext uri="{FF2B5EF4-FFF2-40B4-BE49-F238E27FC236}">
                <a16:creationId xmlns:a16="http://schemas.microsoft.com/office/drawing/2014/main" id="{475F54B7-AE49-9F5A-729F-33B1F067DB0E}"/>
              </a:ext>
            </a:extLst>
          </p:cNvPr>
          <p:cNvSpPr txBox="1"/>
          <p:nvPr/>
        </p:nvSpPr>
        <p:spPr>
          <a:xfrm>
            <a:off x="3225026" y="1810578"/>
            <a:ext cx="5610900" cy="7596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/>
            </a:pPr>
            <a:r>
              <a:rPr lang="en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Evolution of Docker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882;p3">
            <a:extLst>
              <a:ext uri="{FF2B5EF4-FFF2-40B4-BE49-F238E27FC236}">
                <a16:creationId xmlns:a16="http://schemas.microsoft.com/office/drawing/2014/main" id="{0FE66E54-5587-945A-B591-1EE56B4BF8A3}"/>
              </a:ext>
            </a:extLst>
          </p:cNvPr>
          <p:cNvSpPr txBox="1"/>
          <p:nvPr/>
        </p:nvSpPr>
        <p:spPr>
          <a:xfrm>
            <a:off x="3225026" y="2872309"/>
            <a:ext cx="5610900" cy="7608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2"/>
            </a:pPr>
            <a:r>
              <a:rPr lang="en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Creation and Management of Docker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883;p3">
            <a:extLst>
              <a:ext uri="{FF2B5EF4-FFF2-40B4-BE49-F238E27FC236}">
                <a16:creationId xmlns:a16="http://schemas.microsoft.com/office/drawing/2014/main" id="{3D2E5698-273E-CDEB-87DE-EAA9C3CA3777}"/>
              </a:ext>
            </a:extLst>
          </p:cNvPr>
          <p:cNvSpPr txBox="1"/>
          <p:nvPr/>
        </p:nvSpPr>
        <p:spPr>
          <a:xfrm>
            <a:off x="3225026" y="3934040"/>
            <a:ext cx="5610900" cy="7596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3"/>
            </a:pPr>
            <a:r>
              <a:rPr lang="en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Deployment of Docker Container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884;p3">
            <a:extLst>
              <a:ext uri="{FF2B5EF4-FFF2-40B4-BE49-F238E27FC236}">
                <a16:creationId xmlns:a16="http://schemas.microsoft.com/office/drawing/2014/main" id="{2EFEB518-4C99-EDA1-64C4-0259D65DC9C9}"/>
              </a:ext>
            </a:extLst>
          </p:cNvPr>
          <p:cNvSpPr txBox="1"/>
          <p:nvPr/>
        </p:nvSpPr>
        <p:spPr>
          <a:xfrm>
            <a:off x="3225026" y="4995771"/>
            <a:ext cx="5610900" cy="7596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4"/>
            </a:pPr>
            <a:r>
              <a:rPr lang="en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Managing Container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885;p3">
            <a:extLst>
              <a:ext uri="{FF2B5EF4-FFF2-40B4-BE49-F238E27FC236}">
                <a16:creationId xmlns:a16="http://schemas.microsoft.com/office/drawing/2014/main" id="{87F57969-FA25-D5B7-2DA5-9B6EDE1695F8}"/>
              </a:ext>
            </a:extLst>
          </p:cNvPr>
          <p:cNvSpPr txBox="1"/>
          <p:nvPr/>
        </p:nvSpPr>
        <p:spPr>
          <a:xfrm>
            <a:off x="3225026" y="6057503"/>
            <a:ext cx="5610900" cy="7596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5"/>
            </a:pPr>
            <a:r>
              <a:rPr lang="en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Multi-Container Application Deployment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1270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4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4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4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891;p4">
            <a:extLst>
              <a:ext uri="{FF2B5EF4-FFF2-40B4-BE49-F238E27FC236}">
                <a16:creationId xmlns:a16="http://schemas.microsoft.com/office/drawing/2014/main" id="{BBBD4DC2-C81D-1DB2-D44D-7DEA17FF7476}"/>
              </a:ext>
            </a:extLst>
          </p:cNvPr>
          <p:cNvGrpSpPr/>
          <p:nvPr/>
        </p:nvGrpSpPr>
        <p:grpSpPr>
          <a:xfrm>
            <a:off x="5967047" y="2195602"/>
            <a:ext cx="3186729" cy="1495313"/>
            <a:chOff x="8563760" y="1258645"/>
            <a:chExt cx="3186729" cy="1495313"/>
          </a:xfrm>
        </p:grpSpPr>
        <p:sp>
          <p:nvSpPr>
            <p:cNvPr id="10" name="Google Shape;892;p4">
              <a:extLst>
                <a:ext uri="{FF2B5EF4-FFF2-40B4-BE49-F238E27FC236}">
                  <a16:creationId xmlns:a16="http://schemas.microsoft.com/office/drawing/2014/main" id="{D3C134E3-3C04-F8CD-F259-57F0AC04830F}"/>
                </a:ext>
              </a:extLst>
            </p:cNvPr>
            <p:cNvSpPr/>
            <p:nvPr/>
          </p:nvSpPr>
          <p:spPr>
            <a:xfrm>
              <a:off x="8563760" y="1258645"/>
              <a:ext cx="1795853" cy="1495313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1"/>
            </a:solidFill>
            <a:ln w="234950" cap="flat" cmpd="sng">
              <a:solidFill>
                <a:srgbClr val="FAA7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893;p4">
              <a:extLst>
                <a:ext uri="{FF2B5EF4-FFF2-40B4-BE49-F238E27FC236}">
                  <a16:creationId xmlns:a16="http://schemas.microsoft.com/office/drawing/2014/main" id="{160AA70F-CF8A-FDD0-7176-BE2B5959D058}"/>
                </a:ext>
              </a:extLst>
            </p:cNvPr>
            <p:cNvSpPr/>
            <p:nvPr/>
          </p:nvSpPr>
          <p:spPr>
            <a:xfrm>
              <a:off x="9031739" y="1378212"/>
              <a:ext cx="2718750" cy="126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0" sx="79000" sy="79000" algn="ctr" rotWithShape="0">
                <a:srgbClr val="505050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" name="Google Shape;894;p4">
            <a:extLst>
              <a:ext uri="{FF2B5EF4-FFF2-40B4-BE49-F238E27FC236}">
                <a16:creationId xmlns:a16="http://schemas.microsoft.com/office/drawing/2014/main" id="{157B6FFA-C8ED-B7A1-2DFB-1846974D78C7}"/>
              </a:ext>
            </a:extLst>
          </p:cNvPr>
          <p:cNvSpPr txBox="1"/>
          <p:nvPr/>
        </p:nvSpPr>
        <p:spPr>
          <a:xfrm>
            <a:off x="7072297" y="2447471"/>
            <a:ext cx="1973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F7A526"/>
                </a:solidFill>
                <a:latin typeface="Lato"/>
                <a:ea typeface="Lato"/>
                <a:cs typeface="Lato"/>
                <a:sym typeface="Lato"/>
              </a:rPr>
              <a:t>Docker Overview and Installation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" name="Google Shape;895;p4">
            <a:extLst>
              <a:ext uri="{FF2B5EF4-FFF2-40B4-BE49-F238E27FC236}">
                <a16:creationId xmlns:a16="http://schemas.microsoft.com/office/drawing/2014/main" id="{00042251-2F96-D830-FB34-90002A10B2B9}"/>
              </a:ext>
            </a:extLst>
          </p:cNvPr>
          <p:cNvGrpSpPr/>
          <p:nvPr/>
        </p:nvGrpSpPr>
        <p:grpSpPr>
          <a:xfrm flipH="1">
            <a:off x="3033121" y="3090219"/>
            <a:ext cx="3078409" cy="1495313"/>
            <a:chOff x="8563760" y="1258645"/>
            <a:chExt cx="3078409" cy="1495313"/>
          </a:xfrm>
        </p:grpSpPr>
        <p:sp>
          <p:nvSpPr>
            <p:cNvPr id="14" name="Google Shape;896;p4">
              <a:extLst>
                <a:ext uri="{FF2B5EF4-FFF2-40B4-BE49-F238E27FC236}">
                  <a16:creationId xmlns:a16="http://schemas.microsoft.com/office/drawing/2014/main" id="{69C6FC78-92E5-7EFF-B2CC-7B3C38201975}"/>
                </a:ext>
              </a:extLst>
            </p:cNvPr>
            <p:cNvSpPr/>
            <p:nvPr/>
          </p:nvSpPr>
          <p:spPr>
            <a:xfrm>
              <a:off x="8563760" y="1258645"/>
              <a:ext cx="1795853" cy="1495313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234950" cap="flat" cmpd="sng">
              <a:solidFill>
                <a:srgbClr val="DEDED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897;p4">
              <a:extLst>
                <a:ext uri="{FF2B5EF4-FFF2-40B4-BE49-F238E27FC236}">
                  <a16:creationId xmlns:a16="http://schemas.microsoft.com/office/drawing/2014/main" id="{370D402E-484D-AA35-2876-0C6ED48CBE4D}"/>
                </a:ext>
              </a:extLst>
            </p:cNvPr>
            <p:cNvSpPr/>
            <p:nvPr/>
          </p:nvSpPr>
          <p:spPr>
            <a:xfrm>
              <a:off x="9023501" y="1378151"/>
              <a:ext cx="2618668" cy="12598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0" sx="79000" sy="79000" algn="ctr" rotWithShape="0">
                <a:srgbClr val="505050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898;p4">
            <a:extLst>
              <a:ext uri="{FF2B5EF4-FFF2-40B4-BE49-F238E27FC236}">
                <a16:creationId xmlns:a16="http://schemas.microsoft.com/office/drawing/2014/main" id="{E7CC0F55-B8BD-83C8-3493-9BEC0312B271}"/>
              </a:ext>
            </a:extLst>
          </p:cNvPr>
          <p:cNvSpPr txBox="1"/>
          <p:nvPr/>
        </p:nvSpPr>
        <p:spPr>
          <a:xfrm>
            <a:off x="3155793" y="3309330"/>
            <a:ext cx="1888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Docker Image Creation and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Management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oogle Shape;899;p4">
            <a:extLst>
              <a:ext uri="{FF2B5EF4-FFF2-40B4-BE49-F238E27FC236}">
                <a16:creationId xmlns:a16="http://schemas.microsoft.com/office/drawing/2014/main" id="{8B5EA7F0-8767-4E60-2FAD-1609CB1B21A8}"/>
              </a:ext>
            </a:extLst>
          </p:cNvPr>
          <p:cNvGrpSpPr/>
          <p:nvPr/>
        </p:nvGrpSpPr>
        <p:grpSpPr>
          <a:xfrm>
            <a:off x="5975285" y="3953765"/>
            <a:ext cx="3183591" cy="1495313"/>
            <a:chOff x="8563760" y="1258645"/>
            <a:chExt cx="3183591" cy="1495313"/>
          </a:xfrm>
        </p:grpSpPr>
        <p:sp>
          <p:nvSpPr>
            <p:cNvPr id="18" name="Google Shape;900;p4">
              <a:extLst>
                <a:ext uri="{FF2B5EF4-FFF2-40B4-BE49-F238E27FC236}">
                  <a16:creationId xmlns:a16="http://schemas.microsoft.com/office/drawing/2014/main" id="{785EA235-1233-37A9-042F-18ACBF36226E}"/>
                </a:ext>
              </a:extLst>
            </p:cNvPr>
            <p:cNvSpPr/>
            <p:nvPr/>
          </p:nvSpPr>
          <p:spPr>
            <a:xfrm>
              <a:off x="8563760" y="1258645"/>
              <a:ext cx="1795853" cy="1495313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234950" cap="flat" cmpd="sng">
              <a:solidFill>
                <a:srgbClr val="DEDED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901;p4">
              <a:extLst>
                <a:ext uri="{FF2B5EF4-FFF2-40B4-BE49-F238E27FC236}">
                  <a16:creationId xmlns:a16="http://schemas.microsoft.com/office/drawing/2014/main" id="{980153E6-1F38-D669-AEB3-C0C0958FA228}"/>
                </a:ext>
              </a:extLst>
            </p:cNvPr>
            <p:cNvSpPr/>
            <p:nvPr/>
          </p:nvSpPr>
          <p:spPr>
            <a:xfrm>
              <a:off x="9023500" y="1378151"/>
              <a:ext cx="2723851" cy="12598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0" sx="79000" sy="79000" algn="ctr" rotWithShape="0">
                <a:srgbClr val="505050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" name="Google Shape;902;p4">
            <a:extLst>
              <a:ext uri="{FF2B5EF4-FFF2-40B4-BE49-F238E27FC236}">
                <a16:creationId xmlns:a16="http://schemas.microsoft.com/office/drawing/2014/main" id="{0573ABA6-F94B-4B7A-E94C-22912874534C}"/>
              </a:ext>
            </a:extLst>
          </p:cNvPr>
          <p:cNvSpPr txBox="1"/>
          <p:nvPr/>
        </p:nvSpPr>
        <p:spPr>
          <a:xfrm>
            <a:off x="6964012" y="4090158"/>
            <a:ext cx="2081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Docker Volumes and Multi-Container Deployments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903;p4" descr="Puzzle">
            <a:extLst>
              <a:ext uri="{FF2B5EF4-FFF2-40B4-BE49-F238E27FC236}">
                <a16:creationId xmlns:a16="http://schemas.microsoft.com/office/drawing/2014/main" id="{97423539-BAD0-A5CE-6B37-10B034EE8A9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28710" y="2604581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904;p4" descr="Home">
            <a:extLst>
              <a:ext uri="{FF2B5EF4-FFF2-40B4-BE49-F238E27FC236}">
                <a16:creationId xmlns:a16="http://schemas.microsoft.com/office/drawing/2014/main" id="{ED7DB077-DF94-D935-2E39-0B7B03993CA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153625" y="3466440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905;p4" descr="Infinity">
            <a:extLst>
              <a:ext uri="{FF2B5EF4-FFF2-40B4-BE49-F238E27FC236}">
                <a16:creationId xmlns:a16="http://schemas.microsoft.com/office/drawing/2014/main" id="{90B5CEAE-37ED-EDF2-FC7E-FCD401E3CF6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92015" y="4389740"/>
            <a:ext cx="640080" cy="640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4009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10;p5">
            <a:extLst>
              <a:ext uri="{FF2B5EF4-FFF2-40B4-BE49-F238E27FC236}">
                <a16:creationId xmlns:a16="http://schemas.microsoft.com/office/drawing/2014/main" id="{93FF2AD5-2BD4-986D-055F-185C54FC298A}"/>
              </a:ext>
            </a:extLst>
          </p:cNvPr>
          <p:cNvSpPr txBox="1"/>
          <p:nvPr/>
        </p:nvSpPr>
        <p:spPr>
          <a:xfrm>
            <a:off x="2720159" y="700385"/>
            <a:ext cx="62538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SESSION OVERVIEW: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DOCKER OVERVIEW AND INSTALLATION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11;p5">
            <a:extLst>
              <a:ext uri="{FF2B5EF4-FFF2-40B4-BE49-F238E27FC236}">
                <a16:creationId xmlns:a16="http://schemas.microsoft.com/office/drawing/2014/main" id="{2E6A87C7-CA16-FA88-4ADB-4243214B5BF5}"/>
              </a:ext>
            </a:extLst>
          </p:cNvPr>
          <p:cNvSpPr txBox="1"/>
          <p:nvPr/>
        </p:nvSpPr>
        <p:spPr>
          <a:xfrm>
            <a:off x="2996464" y="1764757"/>
            <a:ext cx="5610900" cy="7596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/>
            </a:pPr>
            <a:r>
              <a:rPr lang="en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Journey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912;p5">
            <a:extLst>
              <a:ext uri="{FF2B5EF4-FFF2-40B4-BE49-F238E27FC236}">
                <a16:creationId xmlns:a16="http://schemas.microsoft.com/office/drawing/2014/main" id="{CB8BA8C6-01B2-958B-B491-FF3668D3994C}"/>
              </a:ext>
            </a:extLst>
          </p:cNvPr>
          <p:cNvSpPr txBox="1"/>
          <p:nvPr/>
        </p:nvSpPr>
        <p:spPr>
          <a:xfrm>
            <a:off x="2996464" y="2826488"/>
            <a:ext cx="5610900" cy="7596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AutoNum type="arabicPeriod" startAt="2"/>
            </a:pPr>
            <a:r>
              <a:rPr lang="en" sz="195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Containerization </a:t>
            </a:r>
            <a:r>
              <a:rPr lang="en" sz="1950" b="1">
                <a:latin typeface="Lato"/>
                <a:ea typeface="Lato"/>
                <a:cs typeface="Lato"/>
                <a:sym typeface="Lato"/>
              </a:rPr>
              <a:t>vs</a:t>
            </a:r>
            <a:r>
              <a:rPr lang="en" sz="195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Virtualization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913;p5">
            <a:extLst>
              <a:ext uri="{FF2B5EF4-FFF2-40B4-BE49-F238E27FC236}">
                <a16:creationId xmlns:a16="http://schemas.microsoft.com/office/drawing/2014/main" id="{1A4A555D-6FB2-70AD-C324-5F3B48C9C077}"/>
              </a:ext>
            </a:extLst>
          </p:cNvPr>
          <p:cNvSpPr txBox="1"/>
          <p:nvPr/>
        </p:nvSpPr>
        <p:spPr>
          <a:xfrm>
            <a:off x="2996464" y="3888219"/>
            <a:ext cx="5610900" cy="7596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3"/>
            </a:pPr>
            <a:r>
              <a:rPr lang="en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Vocabulary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914;p5">
            <a:extLst>
              <a:ext uri="{FF2B5EF4-FFF2-40B4-BE49-F238E27FC236}">
                <a16:creationId xmlns:a16="http://schemas.microsoft.com/office/drawing/2014/main" id="{2B3266A6-39C1-3780-BB72-E33F5F81E6CA}"/>
              </a:ext>
            </a:extLst>
          </p:cNvPr>
          <p:cNvSpPr txBox="1"/>
          <p:nvPr/>
        </p:nvSpPr>
        <p:spPr>
          <a:xfrm>
            <a:off x="2996464" y="4949950"/>
            <a:ext cx="5610900" cy="7596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4"/>
            </a:pPr>
            <a:r>
              <a:rPr lang="en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915;p5">
            <a:extLst>
              <a:ext uri="{FF2B5EF4-FFF2-40B4-BE49-F238E27FC236}">
                <a16:creationId xmlns:a16="http://schemas.microsoft.com/office/drawing/2014/main" id="{25CDAF0D-6D21-B07C-1C4D-A2615F09120B}"/>
              </a:ext>
            </a:extLst>
          </p:cNvPr>
          <p:cNvSpPr txBox="1"/>
          <p:nvPr/>
        </p:nvSpPr>
        <p:spPr>
          <a:xfrm>
            <a:off x="2996464" y="6011682"/>
            <a:ext cx="5610900" cy="7596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AutoNum type="arabicPeriod" startAt="5"/>
            </a:pPr>
            <a:r>
              <a:rPr lang="en" sz="195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Installation 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85058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4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4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4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20;p6">
            <a:extLst>
              <a:ext uri="{FF2B5EF4-FFF2-40B4-BE49-F238E27FC236}">
                <a16:creationId xmlns:a16="http://schemas.microsoft.com/office/drawing/2014/main" id="{B5A77A00-7AA5-F552-4F3B-D9D8D9932313}"/>
              </a:ext>
            </a:extLst>
          </p:cNvPr>
          <p:cNvSpPr txBox="1"/>
          <p:nvPr/>
        </p:nvSpPr>
        <p:spPr>
          <a:xfrm>
            <a:off x="1736842" y="2675476"/>
            <a:ext cx="8718316" cy="1218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" sz="6000" b="0" i="0" u="none" strike="noStrike" cap="none">
                <a:solidFill>
                  <a:srgbClr val="FFC000"/>
                </a:solidFill>
                <a:latin typeface="Lato"/>
                <a:ea typeface="Lato"/>
                <a:cs typeface="Lato"/>
                <a:sym typeface="Lato"/>
              </a:rPr>
              <a:t>Introduction to Docker</a:t>
            </a:r>
            <a:endParaRPr sz="6000" b="0" i="0" u="none" strike="noStrike" cap="none">
              <a:solidFill>
                <a:srgbClr val="FFC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06805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25;p7">
            <a:extLst>
              <a:ext uri="{FF2B5EF4-FFF2-40B4-BE49-F238E27FC236}">
                <a16:creationId xmlns:a16="http://schemas.microsoft.com/office/drawing/2014/main" id="{BDE06769-7FD3-4F94-5151-C6A0938817B4}"/>
              </a:ext>
            </a:extLst>
          </p:cNvPr>
          <p:cNvSpPr txBox="1"/>
          <p:nvPr/>
        </p:nvSpPr>
        <p:spPr>
          <a:xfrm>
            <a:off x="903796" y="2631798"/>
            <a:ext cx="5256212" cy="3494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Remember GTA Vice City Installation?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Download the installer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Run the installer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🞆"/>
            </a:pPr>
            <a:r>
              <a:rPr lang="en" sz="2000" b="1" i="0" u="none" strike="noStrike" cap="none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Error message during installation</a:t>
            </a:r>
            <a:endParaRPr sz="2000" b="1" i="0" u="none" strike="noStrike" cap="none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Troubleshoot the issue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Re-run the installer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chemeClr val="lt2"/>
              </a:buClr>
              <a:buSzPts val="2000"/>
              <a:buFont typeface="Noto Sans Symbols"/>
              <a:buChar char="🞆"/>
            </a:pPr>
            <a:r>
              <a:rPr lang="en" sz="2000" b="1" i="0" u="none" strike="noStrike" cap="none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Another issue arises</a:t>
            </a:r>
            <a:endParaRPr sz="2000" b="1" i="0" u="none" strike="noStrike" cap="none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926;p7">
            <a:extLst>
              <a:ext uri="{FF2B5EF4-FFF2-40B4-BE49-F238E27FC236}">
                <a16:creationId xmlns:a16="http://schemas.microsoft.com/office/drawing/2014/main" id="{188FBC05-8827-B285-4F03-549F8663B663}"/>
              </a:ext>
            </a:extLst>
          </p:cNvPr>
          <p:cNvSpPr txBox="1"/>
          <p:nvPr/>
        </p:nvSpPr>
        <p:spPr>
          <a:xfrm>
            <a:off x="2243958" y="1254662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PROBLEMS TO SOLVE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927;p7">
            <a:extLst>
              <a:ext uri="{FF2B5EF4-FFF2-40B4-BE49-F238E27FC236}">
                <a16:creationId xmlns:a16="http://schemas.microsoft.com/office/drawing/2014/main" id="{B45D45DB-E8EE-F89C-5131-54C7AE867A7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74067" y="2190293"/>
            <a:ext cx="3850421" cy="4052239"/>
          </a:xfrm>
          <a:prstGeom prst="roundRect">
            <a:avLst>
              <a:gd name="adj" fmla="val 9157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" name="Google Shape;928;p7">
            <a:extLst>
              <a:ext uri="{FF2B5EF4-FFF2-40B4-BE49-F238E27FC236}">
                <a16:creationId xmlns:a16="http://schemas.microsoft.com/office/drawing/2014/main" id="{9DDD9110-5A51-ED1B-99D7-131768767E90}"/>
              </a:ext>
            </a:extLst>
          </p:cNvPr>
          <p:cNvSpPr txBox="1"/>
          <p:nvPr/>
        </p:nvSpPr>
        <p:spPr>
          <a:xfrm>
            <a:off x="839788" y="6586552"/>
            <a:ext cx="6267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Source: https://images.app.goo.gl/cSnrBcWHSRwBnmqk9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7153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4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4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4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4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4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33;p8">
            <a:extLst>
              <a:ext uri="{FF2B5EF4-FFF2-40B4-BE49-F238E27FC236}">
                <a16:creationId xmlns:a16="http://schemas.microsoft.com/office/drawing/2014/main" id="{2C23F31C-20EA-5B70-8827-9DCE8C937406}"/>
              </a:ext>
            </a:extLst>
          </p:cNvPr>
          <p:cNvSpPr txBox="1"/>
          <p:nvPr/>
        </p:nvSpPr>
        <p:spPr>
          <a:xfrm>
            <a:off x="589050" y="-2077601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7"/>
              <a:buFont typeface="Arial"/>
              <a:buNone/>
            </a:pPr>
            <a:endParaRPr sz="3387" b="0" i="0" u="none" strike="noStrike" cap="none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934;p8">
            <a:extLst>
              <a:ext uri="{FF2B5EF4-FFF2-40B4-BE49-F238E27FC236}">
                <a16:creationId xmlns:a16="http://schemas.microsoft.com/office/drawing/2014/main" id="{38D55019-CAAB-9015-99B0-00C58E92100F}"/>
              </a:ext>
            </a:extLst>
          </p:cNvPr>
          <p:cNvSpPr/>
          <p:nvPr/>
        </p:nvSpPr>
        <p:spPr>
          <a:xfrm>
            <a:off x="2200938" y="1249415"/>
            <a:ext cx="1838385" cy="1318654"/>
          </a:xfrm>
          <a:custGeom>
            <a:avLst/>
            <a:gdLst/>
            <a:ahLst/>
            <a:cxnLst/>
            <a:rect l="l" t="t" r="r" b="b"/>
            <a:pathLst>
              <a:path w="20817" h="14059" extrusionOk="0">
                <a:moveTo>
                  <a:pt x="2118" y="4693"/>
                </a:moveTo>
                <a:cubicBezTo>
                  <a:pt x="1884" y="3127"/>
                  <a:pt x="3088" y="1684"/>
                  <a:pt x="4807" y="1471"/>
                </a:cubicBezTo>
                <a:cubicBezTo>
                  <a:pt x="5504" y="1385"/>
                  <a:pt x="6212" y="1514"/>
                  <a:pt x="6818" y="1838"/>
                </a:cubicBezTo>
                <a:cubicBezTo>
                  <a:pt x="7461" y="734"/>
                  <a:pt x="8963" y="314"/>
                  <a:pt x="10173" y="901"/>
                </a:cubicBezTo>
                <a:cubicBezTo>
                  <a:pt x="10385" y="1003"/>
                  <a:pt x="10579" y="1133"/>
                  <a:pt x="10750" y="1286"/>
                </a:cubicBezTo>
                <a:cubicBezTo>
                  <a:pt x="11250" y="371"/>
                  <a:pt x="12470" y="0"/>
                  <a:pt x="13473" y="456"/>
                </a:cubicBezTo>
                <a:cubicBezTo>
                  <a:pt x="13751" y="582"/>
                  <a:pt x="13993" y="765"/>
                  <a:pt x="14181" y="990"/>
                </a:cubicBezTo>
                <a:cubicBezTo>
                  <a:pt x="14988" y="125"/>
                  <a:pt x="16414" y="18"/>
                  <a:pt x="17366" y="751"/>
                </a:cubicBezTo>
                <a:cubicBezTo>
                  <a:pt x="17766" y="1060"/>
                  <a:pt x="18035" y="1485"/>
                  <a:pt x="18128" y="1954"/>
                </a:cubicBezTo>
                <a:cubicBezTo>
                  <a:pt x="19450" y="2283"/>
                  <a:pt x="20230" y="3528"/>
                  <a:pt x="19870" y="4735"/>
                </a:cubicBezTo>
                <a:cubicBezTo>
                  <a:pt x="19840" y="4837"/>
                  <a:pt x="19802" y="4936"/>
                  <a:pt x="19757" y="5033"/>
                </a:cubicBezTo>
                <a:cubicBezTo>
                  <a:pt x="20817" y="6291"/>
                  <a:pt x="20557" y="8094"/>
                  <a:pt x="19177" y="9060"/>
                </a:cubicBezTo>
                <a:cubicBezTo>
                  <a:pt x="18747" y="9361"/>
                  <a:pt x="18240" y="9555"/>
                  <a:pt x="17703" y="9625"/>
                </a:cubicBezTo>
                <a:cubicBezTo>
                  <a:pt x="17691" y="10978"/>
                  <a:pt x="16477" y="12067"/>
                  <a:pt x="14991" y="12056"/>
                </a:cubicBezTo>
                <a:cubicBezTo>
                  <a:pt x="14494" y="12052"/>
                  <a:pt x="14009" y="11924"/>
                  <a:pt x="13587" y="11684"/>
                </a:cubicBezTo>
                <a:cubicBezTo>
                  <a:pt x="13085" y="13201"/>
                  <a:pt x="11331" y="14059"/>
                  <a:pt x="9671" y="13599"/>
                </a:cubicBezTo>
                <a:cubicBezTo>
                  <a:pt x="8975" y="13407"/>
                  <a:pt x="8374" y="13000"/>
                  <a:pt x="7970" y="12448"/>
                </a:cubicBezTo>
                <a:cubicBezTo>
                  <a:pt x="6270" y="13382"/>
                  <a:pt x="4064" y="12879"/>
                  <a:pt x="3042" y="11325"/>
                </a:cubicBezTo>
                <a:cubicBezTo>
                  <a:pt x="3029" y="11305"/>
                  <a:pt x="3016" y="11286"/>
                  <a:pt x="3004" y="11266"/>
                </a:cubicBezTo>
                <a:cubicBezTo>
                  <a:pt x="1891" y="11384"/>
                  <a:pt x="884" y="10661"/>
                  <a:pt x="753" y="9650"/>
                </a:cubicBezTo>
                <a:cubicBezTo>
                  <a:pt x="683" y="9111"/>
                  <a:pt x="879" y="8571"/>
                  <a:pt x="1287" y="8175"/>
                </a:cubicBezTo>
                <a:cubicBezTo>
                  <a:pt x="323" y="7658"/>
                  <a:pt x="0" y="6524"/>
                  <a:pt x="564" y="5642"/>
                </a:cubicBezTo>
                <a:cubicBezTo>
                  <a:pt x="889" y="5132"/>
                  <a:pt x="1460" y="4796"/>
                  <a:pt x="2101" y="4735"/>
                </a:cubicBezTo>
                <a:lnTo>
                  <a:pt x="2118" y="4693"/>
                </a:lnTo>
                <a:close/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But it works </a:t>
            </a:r>
            <a:br>
              <a:rPr lang="en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fine at my end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935;p8">
            <a:extLst>
              <a:ext uri="{FF2B5EF4-FFF2-40B4-BE49-F238E27FC236}">
                <a16:creationId xmlns:a16="http://schemas.microsoft.com/office/drawing/2014/main" id="{1DF9BD6F-DDAA-033F-FDB8-AF957DF324F4}"/>
              </a:ext>
            </a:extLst>
          </p:cNvPr>
          <p:cNvSpPr/>
          <p:nvPr/>
        </p:nvSpPr>
        <p:spPr>
          <a:xfrm>
            <a:off x="4311980" y="1155463"/>
            <a:ext cx="2152322" cy="1528552"/>
          </a:xfrm>
          <a:custGeom>
            <a:avLst/>
            <a:gdLst/>
            <a:ahLst/>
            <a:cxnLst/>
            <a:rect l="l" t="t" r="r" b="b"/>
            <a:pathLst>
              <a:path w="20817" h="14059" extrusionOk="0">
                <a:moveTo>
                  <a:pt x="2118" y="4693"/>
                </a:moveTo>
                <a:cubicBezTo>
                  <a:pt x="1884" y="3127"/>
                  <a:pt x="3088" y="1684"/>
                  <a:pt x="4807" y="1471"/>
                </a:cubicBezTo>
                <a:cubicBezTo>
                  <a:pt x="5504" y="1385"/>
                  <a:pt x="6212" y="1514"/>
                  <a:pt x="6818" y="1838"/>
                </a:cubicBezTo>
                <a:cubicBezTo>
                  <a:pt x="7461" y="734"/>
                  <a:pt x="8963" y="314"/>
                  <a:pt x="10173" y="901"/>
                </a:cubicBezTo>
                <a:cubicBezTo>
                  <a:pt x="10385" y="1003"/>
                  <a:pt x="10579" y="1133"/>
                  <a:pt x="10750" y="1286"/>
                </a:cubicBezTo>
                <a:cubicBezTo>
                  <a:pt x="11250" y="371"/>
                  <a:pt x="12470" y="0"/>
                  <a:pt x="13473" y="456"/>
                </a:cubicBezTo>
                <a:cubicBezTo>
                  <a:pt x="13751" y="582"/>
                  <a:pt x="13993" y="765"/>
                  <a:pt x="14181" y="990"/>
                </a:cubicBezTo>
                <a:cubicBezTo>
                  <a:pt x="14988" y="125"/>
                  <a:pt x="16414" y="18"/>
                  <a:pt x="17366" y="751"/>
                </a:cubicBezTo>
                <a:cubicBezTo>
                  <a:pt x="17766" y="1060"/>
                  <a:pt x="18035" y="1485"/>
                  <a:pt x="18128" y="1954"/>
                </a:cubicBezTo>
                <a:cubicBezTo>
                  <a:pt x="19450" y="2283"/>
                  <a:pt x="20230" y="3528"/>
                  <a:pt x="19870" y="4735"/>
                </a:cubicBezTo>
                <a:cubicBezTo>
                  <a:pt x="19840" y="4837"/>
                  <a:pt x="19802" y="4936"/>
                  <a:pt x="19757" y="5033"/>
                </a:cubicBezTo>
                <a:cubicBezTo>
                  <a:pt x="20817" y="6291"/>
                  <a:pt x="20557" y="8094"/>
                  <a:pt x="19177" y="9060"/>
                </a:cubicBezTo>
                <a:cubicBezTo>
                  <a:pt x="18747" y="9361"/>
                  <a:pt x="18240" y="9555"/>
                  <a:pt x="17703" y="9625"/>
                </a:cubicBezTo>
                <a:cubicBezTo>
                  <a:pt x="17691" y="10978"/>
                  <a:pt x="16477" y="12067"/>
                  <a:pt x="14991" y="12056"/>
                </a:cubicBezTo>
                <a:cubicBezTo>
                  <a:pt x="14494" y="12052"/>
                  <a:pt x="14009" y="11924"/>
                  <a:pt x="13587" y="11684"/>
                </a:cubicBezTo>
                <a:cubicBezTo>
                  <a:pt x="13085" y="13201"/>
                  <a:pt x="11331" y="14059"/>
                  <a:pt x="9671" y="13599"/>
                </a:cubicBezTo>
                <a:cubicBezTo>
                  <a:pt x="8975" y="13407"/>
                  <a:pt x="8374" y="13000"/>
                  <a:pt x="7970" y="12448"/>
                </a:cubicBezTo>
                <a:cubicBezTo>
                  <a:pt x="6270" y="13382"/>
                  <a:pt x="4064" y="12879"/>
                  <a:pt x="3042" y="11325"/>
                </a:cubicBezTo>
                <a:cubicBezTo>
                  <a:pt x="3029" y="11305"/>
                  <a:pt x="3016" y="11286"/>
                  <a:pt x="3004" y="11266"/>
                </a:cubicBezTo>
                <a:cubicBezTo>
                  <a:pt x="1891" y="11384"/>
                  <a:pt x="884" y="10661"/>
                  <a:pt x="753" y="9650"/>
                </a:cubicBezTo>
                <a:cubicBezTo>
                  <a:pt x="683" y="9111"/>
                  <a:pt x="879" y="8571"/>
                  <a:pt x="1287" y="8175"/>
                </a:cubicBezTo>
                <a:cubicBezTo>
                  <a:pt x="323" y="7658"/>
                  <a:pt x="0" y="6524"/>
                  <a:pt x="564" y="5642"/>
                </a:cubicBezTo>
                <a:cubicBezTo>
                  <a:pt x="889" y="5132"/>
                  <a:pt x="1460" y="4796"/>
                  <a:pt x="2101" y="4735"/>
                </a:cubicBezTo>
                <a:lnTo>
                  <a:pt x="2118" y="4693"/>
                </a:lnTo>
                <a:close/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Maybe your </a:t>
            </a:r>
            <a:br>
              <a:rPr lang="en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machine is not the same as mine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936;p8">
            <a:extLst>
              <a:ext uri="{FF2B5EF4-FFF2-40B4-BE49-F238E27FC236}">
                <a16:creationId xmlns:a16="http://schemas.microsoft.com/office/drawing/2014/main" id="{6FCB1482-6BD1-7E09-9A57-99D53885CBA9}"/>
              </a:ext>
            </a:extLst>
          </p:cNvPr>
          <p:cNvSpPr/>
          <p:nvPr/>
        </p:nvSpPr>
        <p:spPr>
          <a:xfrm>
            <a:off x="6736958" y="1069918"/>
            <a:ext cx="3318855" cy="1846658"/>
          </a:xfrm>
          <a:custGeom>
            <a:avLst/>
            <a:gdLst/>
            <a:ahLst/>
            <a:cxnLst/>
            <a:rect l="l" t="t" r="r" b="b"/>
            <a:pathLst>
              <a:path w="20817" h="14059" extrusionOk="0">
                <a:moveTo>
                  <a:pt x="2118" y="4693"/>
                </a:moveTo>
                <a:cubicBezTo>
                  <a:pt x="1884" y="3127"/>
                  <a:pt x="3088" y="1684"/>
                  <a:pt x="4807" y="1471"/>
                </a:cubicBezTo>
                <a:cubicBezTo>
                  <a:pt x="5504" y="1385"/>
                  <a:pt x="6212" y="1514"/>
                  <a:pt x="6818" y="1838"/>
                </a:cubicBezTo>
                <a:cubicBezTo>
                  <a:pt x="7461" y="734"/>
                  <a:pt x="8963" y="314"/>
                  <a:pt x="10173" y="901"/>
                </a:cubicBezTo>
                <a:cubicBezTo>
                  <a:pt x="10385" y="1003"/>
                  <a:pt x="10579" y="1133"/>
                  <a:pt x="10750" y="1286"/>
                </a:cubicBezTo>
                <a:cubicBezTo>
                  <a:pt x="11250" y="371"/>
                  <a:pt x="12470" y="0"/>
                  <a:pt x="13473" y="456"/>
                </a:cubicBezTo>
                <a:cubicBezTo>
                  <a:pt x="13751" y="582"/>
                  <a:pt x="13993" y="765"/>
                  <a:pt x="14181" y="990"/>
                </a:cubicBezTo>
                <a:cubicBezTo>
                  <a:pt x="14988" y="125"/>
                  <a:pt x="16414" y="18"/>
                  <a:pt x="17366" y="751"/>
                </a:cubicBezTo>
                <a:cubicBezTo>
                  <a:pt x="17766" y="1060"/>
                  <a:pt x="18035" y="1485"/>
                  <a:pt x="18128" y="1954"/>
                </a:cubicBezTo>
                <a:cubicBezTo>
                  <a:pt x="19450" y="2283"/>
                  <a:pt x="20230" y="3528"/>
                  <a:pt x="19870" y="4735"/>
                </a:cubicBezTo>
                <a:cubicBezTo>
                  <a:pt x="19840" y="4837"/>
                  <a:pt x="19802" y="4936"/>
                  <a:pt x="19757" y="5033"/>
                </a:cubicBezTo>
                <a:cubicBezTo>
                  <a:pt x="20817" y="6291"/>
                  <a:pt x="20557" y="8094"/>
                  <a:pt x="19177" y="9060"/>
                </a:cubicBezTo>
                <a:cubicBezTo>
                  <a:pt x="18747" y="9361"/>
                  <a:pt x="18240" y="9555"/>
                  <a:pt x="17703" y="9625"/>
                </a:cubicBezTo>
                <a:cubicBezTo>
                  <a:pt x="17691" y="10978"/>
                  <a:pt x="16477" y="12067"/>
                  <a:pt x="14991" y="12056"/>
                </a:cubicBezTo>
                <a:cubicBezTo>
                  <a:pt x="14494" y="12052"/>
                  <a:pt x="14009" y="11924"/>
                  <a:pt x="13587" y="11684"/>
                </a:cubicBezTo>
                <a:cubicBezTo>
                  <a:pt x="13085" y="13201"/>
                  <a:pt x="11331" y="14059"/>
                  <a:pt x="9671" y="13599"/>
                </a:cubicBezTo>
                <a:cubicBezTo>
                  <a:pt x="8975" y="13407"/>
                  <a:pt x="8374" y="13000"/>
                  <a:pt x="7970" y="12448"/>
                </a:cubicBezTo>
                <a:cubicBezTo>
                  <a:pt x="6270" y="13382"/>
                  <a:pt x="4064" y="12879"/>
                  <a:pt x="3042" y="11325"/>
                </a:cubicBezTo>
                <a:cubicBezTo>
                  <a:pt x="3029" y="11305"/>
                  <a:pt x="3016" y="11286"/>
                  <a:pt x="3004" y="11266"/>
                </a:cubicBezTo>
                <a:cubicBezTo>
                  <a:pt x="1891" y="11384"/>
                  <a:pt x="884" y="10661"/>
                  <a:pt x="753" y="9650"/>
                </a:cubicBezTo>
                <a:cubicBezTo>
                  <a:pt x="683" y="9111"/>
                  <a:pt x="879" y="8571"/>
                  <a:pt x="1287" y="8175"/>
                </a:cubicBezTo>
                <a:cubicBezTo>
                  <a:pt x="323" y="7658"/>
                  <a:pt x="0" y="6524"/>
                  <a:pt x="564" y="5642"/>
                </a:cubicBezTo>
                <a:cubicBezTo>
                  <a:pt x="889" y="5132"/>
                  <a:pt x="1460" y="4796"/>
                  <a:pt x="2101" y="4735"/>
                </a:cubicBezTo>
                <a:lnTo>
                  <a:pt x="2118" y="4693"/>
                </a:lnTo>
                <a:close/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There is a problem with </a:t>
            </a:r>
            <a:br>
              <a:rPr lang="en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your application. It is not </a:t>
            </a:r>
            <a:br>
              <a:rPr lang="en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working at our end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" name="Google Shape;937;p8">
            <a:extLst>
              <a:ext uri="{FF2B5EF4-FFF2-40B4-BE49-F238E27FC236}">
                <a16:creationId xmlns:a16="http://schemas.microsoft.com/office/drawing/2014/main" id="{C3CBC2E5-963C-AE27-D642-58C084964DE5}"/>
              </a:ext>
            </a:extLst>
          </p:cNvPr>
          <p:cNvGrpSpPr/>
          <p:nvPr/>
        </p:nvGrpSpPr>
        <p:grpSpPr>
          <a:xfrm>
            <a:off x="1503058" y="3171803"/>
            <a:ext cx="2767592" cy="3133874"/>
            <a:chOff x="1503058" y="3375333"/>
            <a:chExt cx="2767592" cy="3133874"/>
          </a:xfrm>
        </p:grpSpPr>
        <p:sp>
          <p:nvSpPr>
            <p:cNvPr id="14" name="Google Shape;938;p8">
              <a:extLst>
                <a:ext uri="{FF2B5EF4-FFF2-40B4-BE49-F238E27FC236}">
                  <a16:creationId xmlns:a16="http://schemas.microsoft.com/office/drawing/2014/main" id="{CECE20BB-A6BB-D8B8-590E-4DBF08B96B88}"/>
                </a:ext>
              </a:extLst>
            </p:cNvPr>
            <p:cNvSpPr txBox="1"/>
            <p:nvPr/>
          </p:nvSpPr>
          <p:spPr>
            <a:xfrm>
              <a:off x="2264274" y="6139875"/>
              <a:ext cx="12451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Developer </a:t>
              </a:r>
              <a:endParaRPr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5" name="Google Shape;939;p8">
              <a:extLst>
                <a:ext uri="{FF2B5EF4-FFF2-40B4-BE49-F238E27FC236}">
                  <a16:creationId xmlns:a16="http://schemas.microsoft.com/office/drawing/2014/main" id="{B957CBB7-4206-AFC9-D109-56914DF5B34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747" t="34309" r="67468" b="8994"/>
            <a:stretch/>
          </p:blipFill>
          <p:spPr>
            <a:xfrm>
              <a:off x="1503058" y="3375333"/>
              <a:ext cx="2767592" cy="2677998"/>
            </a:xfrm>
            <a:prstGeom prst="roundRect">
              <a:avLst>
                <a:gd name="adj" fmla="val 5827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16" name="Google Shape;940;p8">
            <a:extLst>
              <a:ext uri="{FF2B5EF4-FFF2-40B4-BE49-F238E27FC236}">
                <a16:creationId xmlns:a16="http://schemas.microsoft.com/office/drawing/2014/main" id="{D3DCCD11-8026-62B2-03EF-1C721F1269F1}"/>
              </a:ext>
            </a:extLst>
          </p:cNvPr>
          <p:cNvGrpSpPr/>
          <p:nvPr/>
        </p:nvGrpSpPr>
        <p:grpSpPr>
          <a:xfrm>
            <a:off x="8794719" y="2968274"/>
            <a:ext cx="1975275" cy="3540933"/>
            <a:chOff x="8794719" y="2968274"/>
            <a:chExt cx="1975275" cy="3540933"/>
          </a:xfrm>
        </p:grpSpPr>
        <p:sp>
          <p:nvSpPr>
            <p:cNvPr id="17" name="Google Shape;941;p8">
              <a:extLst>
                <a:ext uri="{FF2B5EF4-FFF2-40B4-BE49-F238E27FC236}">
                  <a16:creationId xmlns:a16="http://schemas.microsoft.com/office/drawing/2014/main" id="{658E1C38-B3A3-1B2A-6269-9E8A0C20ACC2}"/>
                </a:ext>
              </a:extLst>
            </p:cNvPr>
            <p:cNvSpPr txBox="1"/>
            <p:nvPr/>
          </p:nvSpPr>
          <p:spPr>
            <a:xfrm>
              <a:off x="8975878" y="6139875"/>
              <a:ext cx="16129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Operations</a:t>
              </a:r>
              <a:endParaRPr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8" name="Google Shape;942;p8">
              <a:extLst>
                <a:ext uri="{FF2B5EF4-FFF2-40B4-BE49-F238E27FC236}">
                  <a16:creationId xmlns:a16="http://schemas.microsoft.com/office/drawing/2014/main" id="{58C1FD42-1485-E0A0-CB97-1EC3B6DD2B06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794719" y="2968274"/>
              <a:ext cx="1975275" cy="3158002"/>
            </a:xfrm>
            <a:prstGeom prst="roundRect">
              <a:avLst>
                <a:gd name="adj" fmla="val 7023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</p:spTree>
    <p:extLst>
      <p:ext uri="{BB962C8B-B14F-4D97-AF65-F5344CB8AC3E}">
        <p14:creationId xmlns:p14="http://schemas.microsoft.com/office/powerpoint/2010/main" val="3222534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47;p9">
            <a:extLst>
              <a:ext uri="{FF2B5EF4-FFF2-40B4-BE49-F238E27FC236}">
                <a16:creationId xmlns:a16="http://schemas.microsoft.com/office/drawing/2014/main" id="{CBF81CB4-EAC8-91D2-7C85-AF6452473E4A}"/>
              </a:ext>
            </a:extLst>
          </p:cNvPr>
          <p:cNvSpPr txBox="1"/>
          <p:nvPr/>
        </p:nvSpPr>
        <p:spPr>
          <a:xfrm>
            <a:off x="2414400" y="858223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MATRIX FROM HELL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48;p9">
            <a:extLst>
              <a:ext uri="{FF2B5EF4-FFF2-40B4-BE49-F238E27FC236}">
                <a16:creationId xmlns:a16="http://schemas.microsoft.com/office/drawing/2014/main" id="{26512DCE-0269-3E11-7EAE-B95AFCBB7032}"/>
              </a:ext>
            </a:extLst>
          </p:cNvPr>
          <p:cNvSpPr txBox="1"/>
          <p:nvPr/>
        </p:nvSpPr>
        <p:spPr>
          <a:xfrm>
            <a:off x="191451" y="2491912"/>
            <a:ext cx="3023213" cy="306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9200" marR="0" lvl="0" indent="-349200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🞆"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Running applications with any combination of hardware/operating systems, libraries</a:t>
            </a:r>
            <a:r>
              <a:rPr lang="en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dependencies is a challenge</a:t>
            </a: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chemeClr val="lt2"/>
              </a:buClr>
              <a:buSzPts val="1800"/>
              <a:buFont typeface="Noto Sans Symbols"/>
              <a:buChar char="🞆"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Setting up</a:t>
            </a:r>
            <a:r>
              <a:rPr lang="en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 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appropriate Dev/Prod/QA environment takes a lot of time</a:t>
            </a: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1" name="Google Shape;949;p9">
            <a:extLst>
              <a:ext uri="{FF2B5EF4-FFF2-40B4-BE49-F238E27FC236}">
                <a16:creationId xmlns:a16="http://schemas.microsoft.com/office/drawing/2014/main" id="{3742419D-E2B3-675D-9CBE-286C7610AF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0903787"/>
              </p:ext>
            </p:extLst>
          </p:nvPr>
        </p:nvGraphicFramePr>
        <p:xfrm>
          <a:off x="4244749" y="1590117"/>
          <a:ext cx="7223025" cy="391788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8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7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5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Static </a:t>
                      </a:r>
                      <a:br>
                        <a:rPr lang="en" sz="11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website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Web </a:t>
                      </a:r>
                      <a:br>
                        <a:rPr lang="en" sz="11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frontend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Background workers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User </a:t>
                      </a:r>
                      <a:br>
                        <a:rPr lang="en" sz="11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DB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Analytics </a:t>
                      </a:r>
                      <a:br>
                        <a:rPr lang="en" sz="11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DB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Queue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?</a:t>
                      </a: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0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Development VM</a:t>
                      </a:r>
                      <a:endParaRPr sz="1100" b="1" u="none" strike="noStrike" cap="none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QA Server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Single Prod Server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Onsite Cluster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Public Cloud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Contributor’s laptop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Customer Servers</a:t>
                      </a:r>
                      <a:endParaRPr sz="1100" b="1" u="none" strike="noStrike" cap="none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2" name="Google Shape;950;p9">
            <a:extLst>
              <a:ext uri="{FF2B5EF4-FFF2-40B4-BE49-F238E27FC236}">
                <a16:creationId xmlns:a16="http://schemas.microsoft.com/office/drawing/2014/main" id="{D74480CD-8853-A954-D592-1B76B79DAADC}"/>
              </a:ext>
            </a:extLst>
          </p:cNvPr>
          <p:cNvGrpSpPr/>
          <p:nvPr/>
        </p:nvGrpSpPr>
        <p:grpSpPr>
          <a:xfrm>
            <a:off x="3872415" y="1856433"/>
            <a:ext cx="7552823" cy="4292128"/>
            <a:chOff x="3872415" y="1792425"/>
            <a:chExt cx="7552823" cy="4292128"/>
          </a:xfrm>
        </p:grpSpPr>
        <p:pic>
          <p:nvPicPr>
            <p:cNvPr id="13" name="Google Shape;951;p9">
              <a:extLst>
                <a:ext uri="{FF2B5EF4-FFF2-40B4-BE49-F238E27FC236}">
                  <a16:creationId xmlns:a16="http://schemas.microsoft.com/office/drawing/2014/main" id="{4AD23C12-B02A-4CDD-9EF5-50D7797AD739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828" t="62684" r="93229" b="25839"/>
            <a:stretch/>
          </p:blipFill>
          <p:spPr>
            <a:xfrm>
              <a:off x="3897171" y="4193609"/>
              <a:ext cx="240382" cy="356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952;p9">
              <a:extLst>
                <a:ext uri="{FF2B5EF4-FFF2-40B4-BE49-F238E27FC236}">
                  <a16:creationId xmlns:a16="http://schemas.microsoft.com/office/drawing/2014/main" id="{DE1EDBAB-85ED-FD0C-B44D-4584E5FE51A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828" t="50621" r="92210" b="37904"/>
            <a:stretch/>
          </p:blipFill>
          <p:spPr>
            <a:xfrm>
              <a:off x="3872416" y="3766791"/>
              <a:ext cx="289892" cy="356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953;p9">
              <a:extLst>
                <a:ext uri="{FF2B5EF4-FFF2-40B4-BE49-F238E27FC236}">
                  <a16:creationId xmlns:a16="http://schemas.microsoft.com/office/drawing/2014/main" id="{D53D2A3F-7FAD-2A29-FF5E-73944F2709B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828" t="31169" r="92626" b="58657"/>
            <a:stretch/>
          </p:blipFill>
          <p:spPr>
            <a:xfrm>
              <a:off x="3882521" y="2906829"/>
              <a:ext cx="269683" cy="3162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954;p9">
              <a:extLst>
                <a:ext uri="{FF2B5EF4-FFF2-40B4-BE49-F238E27FC236}">
                  <a16:creationId xmlns:a16="http://schemas.microsoft.com/office/drawing/2014/main" id="{C713F562-580E-B5A4-309E-219F1462AB21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828" t="19808" r="92210" b="68967"/>
            <a:stretch/>
          </p:blipFill>
          <p:spPr>
            <a:xfrm>
              <a:off x="3872416" y="2253416"/>
              <a:ext cx="289893" cy="34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955;p9">
              <a:extLst>
                <a:ext uri="{FF2B5EF4-FFF2-40B4-BE49-F238E27FC236}">
                  <a16:creationId xmlns:a16="http://schemas.microsoft.com/office/drawing/2014/main" id="{50575A51-CC6B-D4EF-1410-37EAF01E4EE8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828" t="10084" r="93025" b="82828"/>
            <a:stretch/>
          </p:blipFill>
          <p:spPr>
            <a:xfrm>
              <a:off x="3892229" y="1792425"/>
              <a:ext cx="250267" cy="2203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956;p9">
              <a:extLst>
                <a:ext uri="{FF2B5EF4-FFF2-40B4-BE49-F238E27FC236}">
                  <a16:creationId xmlns:a16="http://schemas.microsoft.com/office/drawing/2014/main" id="{5194C98B-7370-870E-7DC8-E398476B845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2530" t="43080" r="92817" b="50645"/>
            <a:stretch/>
          </p:blipFill>
          <p:spPr>
            <a:xfrm>
              <a:off x="3872415" y="3361920"/>
              <a:ext cx="289894" cy="2500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957;p9">
              <a:extLst>
                <a:ext uri="{FF2B5EF4-FFF2-40B4-BE49-F238E27FC236}">
                  <a16:creationId xmlns:a16="http://schemas.microsoft.com/office/drawing/2014/main" id="{332699C9-18A4-9FB7-A5C4-DAE73B5330A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88987" t="85234" b="-535"/>
            <a:stretch/>
          </p:blipFill>
          <p:spPr>
            <a:xfrm>
              <a:off x="10780369" y="5516231"/>
              <a:ext cx="644869" cy="568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958;p9">
              <a:extLst>
                <a:ext uri="{FF2B5EF4-FFF2-40B4-BE49-F238E27FC236}">
                  <a16:creationId xmlns:a16="http://schemas.microsoft.com/office/drawing/2014/main" id="{296CD9E1-4612-C671-05FD-2E1EF89DA63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79482" t="85453" r="11258" b="1656"/>
            <a:stretch/>
          </p:blipFill>
          <p:spPr>
            <a:xfrm>
              <a:off x="9908989" y="5516231"/>
              <a:ext cx="542057" cy="4787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959;p9">
              <a:extLst>
                <a:ext uri="{FF2B5EF4-FFF2-40B4-BE49-F238E27FC236}">
                  <a16:creationId xmlns:a16="http://schemas.microsoft.com/office/drawing/2014/main" id="{88A2E1BC-1043-75A7-483B-1A09A5914083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68414" t="85233" r="20517" b="3473"/>
            <a:stretch/>
          </p:blipFill>
          <p:spPr>
            <a:xfrm>
              <a:off x="8931550" y="5516231"/>
              <a:ext cx="648114" cy="4194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960;p9">
              <a:extLst>
                <a:ext uri="{FF2B5EF4-FFF2-40B4-BE49-F238E27FC236}">
                  <a16:creationId xmlns:a16="http://schemas.microsoft.com/office/drawing/2014/main" id="{C88B46D1-5423-2F5B-D305-77AC5DB94DF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59268" t="85233" r="31807" b="1125"/>
            <a:stretch/>
          </p:blipFill>
          <p:spPr>
            <a:xfrm>
              <a:off x="8079710" y="5499029"/>
              <a:ext cx="522515" cy="50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961;p9">
              <a:extLst>
                <a:ext uri="{FF2B5EF4-FFF2-40B4-BE49-F238E27FC236}">
                  <a16:creationId xmlns:a16="http://schemas.microsoft.com/office/drawing/2014/main" id="{41774AB6-924D-6AF3-77A4-35CCF32DC5F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39439" t="85006" r="52877" b="3718"/>
            <a:stretch/>
          </p:blipFill>
          <p:spPr>
            <a:xfrm>
              <a:off x="6314265" y="5499029"/>
              <a:ext cx="449943" cy="4187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962;p9">
              <a:extLst>
                <a:ext uri="{FF2B5EF4-FFF2-40B4-BE49-F238E27FC236}">
                  <a16:creationId xmlns:a16="http://schemas.microsoft.com/office/drawing/2014/main" id="{054BEC7A-8416-DD98-2A39-4289CE9EE6D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28507" t="85744" r="61826" b="4878"/>
            <a:stretch/>
          </p:blipFill>
          <p:spPr>
            <a:xfrm>
              <a:off x="5418883" y="5557093"/>
              <a:ext cx="566057" cy="3483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963;p9">
              <a:extLst>
                <a:ext uri="{FF2B5EF4-FFF2-40B4-BE49-F238E27FC236}">
                  <a16:creationId xmlns:a16="http://schemas.microsoft.com/office/drawing/2014/main" id="{8F4F12AA-2A06-6CAD-637C-95EEAAF284E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47618" t="84397" r="41164" b="4812"/>
            <a:stretch/>
          </p:blipFill>
          <p:spPr>
            <a:xfrm>
              <a:off x="7093533" y="5594210"/>
              <a:ext cx="656852" cy="40081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01310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68;p10">
            <a:extLst>
              <a:ext uri="{FF2B5EF4-FFF2-40B4-BE49-F238E27FC236}">
                <a16:creationId xmlns:a16="http://schemas.microsoft.com/office/drawing/2014/main" id="{A27453DC-45D6-D1FF-0E5A-6238556DBEB2}"/>
              </a:ext>
            </a:extLst>
          </p:cNvPr>
          <p:cNvSpPr txBox="1"/>
          <p:nvPr/>
        </p:nvSpPr>
        <p:spPr>
          <a:xfrm>
            <a:off x="2414399" y="1200136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WHAT IS VM?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69;p10">
            <a:extLst>
              <a:ext uri="{FF2B5EF4-FFF2-40B4-BE49-F238E27FC236}">
                <a16:creationId xmlns:a16="http://schemas.microsoft.com/office/drawing/2014/main" id="{C7782F2A-5A21-2B42-7FC9-316B9FE649A2}"/>
              </a:ext>
            </a:extLst>
          </p:cNvPr>
          <p:cNvSpPr/>
          <p:nvPr/>
        </p:nvSpPr>
        <p:spPr>
          <a:xfrm>
            <a:off x="1422915" y="1955614"/>
            <a:ext cx="9346169" cy="4812461"/>
          </a:xfrm>
          <a:prstGeom prst="roundRect">
            <a:avLst>
              <a:gd name="adj" fmla="val 4846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virtual machine works like a virtual computer system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 is a virtual environment with its own resources 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For example, CPU, memory, etc.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These resources are created on a physical hardware system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🞆"/>
            </a:pP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h</a:t>
            </a: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ypervisor creates a separate workspace for each Guest OS 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What are VMs used for?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1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Running multiple operating systems on a single piece of hardware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1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Experimenting with a new operating system (OS), including beta releases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1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Creating and deploying cloud-based applications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1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chemeClr val="lt2"/>
              </a:buClr>
              <a:buSzPts val="18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Improving hardware utili</a:t>
            </a: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ation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95204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4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4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4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4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74;p11">
            <a:extLst>
              <a:ext uri="{FF2B5EF4-FFF2-40B4-BE49-F238E27FC236}">
                <a16:creationId xmlns:a16="http://schemas.microsoft.com/office/drawing/2014/main" id="{B7D0D0BD-ADAE-3EC4-281F-247A48001B89}"/>
              </a:ext>
            </a:extLst>
          </p:cNvPr>
          <p:cNvSpPr txBox="1"/>
          <p:nvPr/>
        </p:nvSpPr>
        <p:spPr>
          <a:xfrm>
            <a:off x="2414400" y="1239164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BENEFITS OF USING VM</a:t>
            </a:r>
            <a:endParaRPr sz="24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975;p11">
            <a:extLst>
              <a:ext uri="{FF2B5EF4-FFF2-40B4-BE49-F238E27FC236}">
                <a16:creationId xmlns:a16="http://schemas.microsoft.com/office/drawing/2014/main" id="{C48119DD-97F5-B192-85A2-1FF73DBF65FA}"/>
              </a:ext>
            </a:extLst>
          </p:cNvPr>
          <p:cNvSpPr/>
          <p:nvPr/>
        </p:nvSpPr>
        <p:spPr>
          <a:xfrm>
            <a:off x="4109376" y="3153671"/>
            <a:ext cx="3973247" cy="2562212"/>
          </a:xfrm>
          <a:prstGeom prst="roundRect">
            <a:avLst>
              <a:gd name="adj" fmla="val 7112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9200" marR="0" lvl="0" indent="-349200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Cost 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avings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Agility and speed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Lowered downtime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Scalability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chemeClr val="lt2"/>
              </a:buClr>
              <a:buSzPts val="18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Security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7346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80;p12">
            <a:extLst>
              <a:ext uri="{FF2B5EF4-FFF2-40B4-BE49-F238E27FC236}">
                <a16:creationId xmlns:a16="http://schemas.microsoft.com/office/drawing/2014/main" id="{EC9DB0CD-065D-D82D-DA3A-20A017F5CB22}"/>
              </a:ext>
            </a:extLst>
          </p:cNvPr>
          <p:cNvSpPr/>
          <p:nvPr/>
        </p:nvSpPr>
        <p:spPr>
          <a:xfrm>
            <a:off x="1415861" y="1791862"/>
            <a:ext cx="9163748" cy="4474273"/>
          </a:xfrm>
          <a:prstGeom prst="roundRect">
            <a:avLst>
              <a:gd name="adj" fmla="val 5246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9200" marR="0" lvl="0" indent="-222200" algn="l" rtl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981;p12">
            <a:extLst>
              <a:ext uri="{FF2B5EF4-FFF2-40B4-BE49-F238E27FC236}">
                <a16:creationId xmlns:a16="http://schemas.microsoft.com/office/drawing/2014/main" id="{CF93F30D-73C2-C6FF-885F-D3E10A76809B}"/>
              </a:ext>
            </a:extLst>
          </p:cNvPr>
          <p:cNvGrpSpPr/>
          <p:nvPr/>
        </p:nvGrpSpPr>
        <p:grpSpPr>
          <a:xfrm>
            <a:off x="1710828" y="2212098"/>
            <a:ext cx="8436598" cy="3787992"/>
            <a:chOff x="1134756" y="1148898"/>
            <a:chExt cx="9745486" cy="4560203"/>
          </a:xfrm>
        </p:grpSpPr>
        <p:sp>
          <p:nvSpPr>
            <p:cNvPr id="11" name="Google Shape;982;p12">
              <a:extLst>
                <a:ext uri="{FF2B5EF4-FFF2-40B4-BE49-F238E27FC236}">
                  <a16:creationId xmlns:a16="http://schemas.microsoft.com/office/drawing/2014/main" id="{06774B98-8FAC-E634-9D05-296176285D4A}"/>
                </a:ext>
              </a:extLst>
            </p:cNvPr>
            <p:cNvSpPr/>
            <p:nvPr/>
          </p:nvSpPr>
          <p:spPr>
            <a:xfrm>
              <a:off x="6375112" y="1148898"/>
              <a:ext cx="4505130" cy="2506718"/>
            </a:xfrm>
            <a:custGeom>
              <a:avLst/>
              <a:gdLst/>
              <a:ahLst/>
              <a:cxnLst/>
              <a:rect l="l" t="t" r="r" b="b"/>
              <a:pathLst>
                <a:path w="20817" h="14059" extrusionOk="0">
                  <a:moveTo>
                    <a:pt x="2118" y="4693"/>
                  </a:moveTo>
                  <a:cubicBezTo>
                    <a:pt x="1884" y="3127"/>
                    <a:pt x="3088" y="1684"/>
                    <a:pt x="4807" y="1471"/>
                  </a:cubicBezTo>
                  <a:cubicBezTo>
                    <a:pt x="5504" y="1385"/>
                    <a:pt x="6212" y="1514"/>
                    <a:pt x="6818" y="1838"/>
                  </a:cubicBezTo>
                  <a:cubicBezTo>
                    <a:pt x="7461" y="734"/>
                    <a:pt x="8963" y="314"/>
                    <a:pt x="10173" y="901"/>
                  </a:cubicBezTo>
                  <a:cubicBezTo>
                    <a:pt x="10385" y="1003"/>
                    <a:pt x="10579" y="1133"/>
                    <a:pt x="10750" y="1286"/>
                  </a:cubicBezTo>
                  <a:cubicBezTo>
                    <a:pt x="11250" y="371"/>
                    <a:pt x="12470" y="0"/>
                    <a:pt x="13473" y="456"/>
                  </a:cubicBezTo>
                  <a:cubicBezTo>
                    <a:pt x="13751" y="582"/>
                    <a:pt x="13993" y="765"/>
                    <a:pt x="14181" y="990"/>
                  </a:cubicBezTo>
                  <a:cubicBezTo>
                    <a:pt x="14988" y="125"/>
                    <a:pt x="16414" y="18"/>
                    <a:pt x="17366" y="751"/>
                  </a:cubicBezTo>
                  <a:cubicBezTo>
                    <a:pt x="17766" y="1060"/>
                    <a:pt x="18035" y="1485"/>
                    <a:pt x="18128" y="1954"/>
                  </a:cubicBezTo>
                  <a:cubicBezTo>
                    <a:pt x="19450" y="2283"/>
                    <a:pt x="20230" y="3528"/>
                    <a:pt x="19870" y="4735"/>
                  </a:cubicBezTo>
                  <a:cubicBezTo>
                    <a:pt x="19840" y="4837"/>
                    <a:pt x="19802" y="4936"/>
                    <a:pt x="19757" y="5033"/>
                  </a:cubicBezTo>
                  <a:cubicBezTo>
                    <a:pt x="20817" y="6291"/>
                    <a:pt x="20557" y="8094"/>
                    <a:pt x="19177" y="9060"/>
                  </a:cubicBezTo>
                  <a:cubicBezTo>
                    <a:pt x="18747" y="9361"/>
                    <a:pt x="18240" y="9555"/>
                    <a:pt x="17703" y="9625"/>
                  </a:cubicBezTo>
                  <a:cubicBezTo>
                    <a:pt x="17691" y="10978"/>
                    <a:pt x="16477" y="12067"/>
                    <a:pt x="14991" y="12056"/>
                  </a:cubicBezTo>
                  <a:cubicBezTo>
                    <a:pt x="14494" y="12052"/>
                    <a:pt x="14009" y="11924"/>
                    <a:pt x="13587" y="11684"/>
                  </a:cubicBezTo>
                  <a:cubicBezTo>
                    <a:pt x="13085" y="13201"/>
                    <a:pt x="11331" y="14059"/>
                    <a:pt x="9671" y="13599"/>
                  </a:cubicBezTo>
                  <a:cubicBezTo>
                    <a:pt x="8975" y="13407"/>
                    <a:pt x="8374" y="13000"/>
                    <a:pt x="7970" y="12448"/>
                  </a:cubicBezTo>
                  <a:cubicBezTo>
                    <a:pt x="6270" y="13382"/>
                    <a:pt x="4064" y="12879"/>
                    <a:pt x="3042" y="11325"/>
                  </a:cubicBezTo>
                  <a:cubicBezTo>
                    <a:pt x="3029" y="11305"/>
                    <a:pt x="3016" y="11286"/>
                    <a:pt x="3004" y="11266"/>
                  </a:cubicBezTo>
                  <a:cubicBezTo>
                    <a:pt x="1891" y="11384"/>
                    <a:pt x="884" y="10661"/>
                    <a:pt x="753" y="9650"/>
                  </a:cubicBezTo>
                  <a:cubicBezTo>
                    <a:pt x="683" y="9111"/>
                    <a:pt x="879" y="8571"/>
                    <a:pt x="1287" y="8175"/>
                  </a:cubicBezTo>
                  <a:cubicBezTo>
                    <a:pt x="323" y="7658"/>
                    <a:pt x="0" y="6524"/>
                    <a:pt x="564" y="5642"/>
                  </a:cubicBezTo>
                  <a:cubicBezTo>
                    <a:pt x="889" y="5132"/>
                    <a:pt x="1460" y="4796"/>
                    <a:pt x="2101" y="4735"/>
                  </a:cubicBezTo>
                  <a:lnTo>
                    <a:pt x="2118" y="4693"/>
                  </a:lnTo>
                  <a:close/>
                </a:path>
              </a:pathLst>
            </a:custGeom>
            <a:noFill/>
            <a:ln w="28575" cap="flat" cmpd="sng">
              <a:solidFill>
                <a:schemeClr val="bg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Docker?</a:t>
              </a:r>
              <a:r>
                <a:rPr lang="en" sz="1600"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"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Is it required </a:t>
              </a:r>
              <a:br>
                <a:rPr lang="en"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when I have a virtual machine (VM)?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" name="Google Shape;983;p12">
              <a:extLst>
                <a:ext uri="{FF2B5EF4-FFF2-40B4-BE49-F238E27FC236}">
                  <a16:creationId xmlns:a16="http://schemas.microsoft.com/office/drawing/2014/main" id="{30000113-0DA6-BB7F-9FCC-40E1B84E42D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134756" y="1148898"/>
              <a:ext cx="4682134" cy="4560203"/>
            </a:xfrm>
            <a:prstGeom prst="roundRect">
              <a:avLst>
                <a:gd name="adj" fmla="val 5024"/>
              </a:avLst>
            </a:prstGeom>
            <a:noFill/>
            <a:ln w="9525" cap="flat" cmpd="sng">
              <a:solidFill>
                <a:schemeClr val="bg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</p:spTree>
    <p:extLst>
      <p:ext uri="{BB962C8B-B14F-4D97-AF65-F5344CB8AC3E}">
        <p14:creationId xmlns:p14="http://schemas.microsoft.com/office/powerpoint/2010/main" val="8685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88;p13">
            <a:extLst>
              <a:ext uri="{FF2B5EF4-FFF2-40B4-BE49-F238E27FC236}">
                <a16:creationId xmlns:a16="http://schemas.microsoft.com/office/drawing/2014/main" id="{E95AEC51-2124-C170-3E54-42CAC1EEC495}"/>
              </a:ext>
            </a:extLst>
          </p:cNvPr>
          <p:cNvSpPr txBox="1"/>
          <p:nvPr/>
        </p:nvSpPr>
        <p:spPr>
          <a:xfrm>
            <a:off x="2418842" y="1211732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WHAT IS DOCKER?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89;p13">
            <a:extLst>
              <a:ext uri="{FF2B5EF4-FFF2-40B4-BE49-F238E27FC236}">
                <a16:creationId xmlns:a16="http://schemas.microsoft.com/office/drawing/2014/main" id="{5FA0EFD4-D734-AF82-E3A5-6BEE52F48FA5}"/>
              </a:ext>
            </a:extLst>
          </p:cNvPr>
          <p:cNvSpPr/>
          <p:nvPr/>
        </p:nvSpPr>
        <p:spPr>
          <a:xfrm>
            <a:off x="1306591" y="2613476"/>
            <a:ext cx="9578817" cy="3514712"/>
          </a:xfrm>
          <a:prstGeom prst="roundRect">
            <a:avLst>
              <a:gd name="adj" fmla="val 7014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Open-source containerization platform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Used to create, manage, and deploy containers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Docker containers - platform-independent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🞆"/>
            </a:pP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 r</a:t>
            </a: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un in any environment, such as Windows, Linux, Cloud, etc.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🞆"/>
            </a:pP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undles application code, system libraries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other dependencies in a single executable package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chemeClr val="lt2"/>
              </a:buClr>
              <a:buSzPts val="2000"/>
              <a:buFont typeface="Noto Sans Symbols"/>
              <a:buChar char="🞆"/>
            </a:pP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Lightweight,</a:t>
            </a: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open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secure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620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94;p14">
            <a:extLst>
              <a:ext uri="{FF2B5EF4-FFF2-40B4-BE49-F238E27FC236}">
                <a16:creationId xmlns:a16="http://schemas.microsoft.com/office/drawing/2014/main" id="{139C43BD-0068-B145-09D8-B1D1A8D6953B}"/>
              </a:ext>
            </a:extLst>
          </p:cNvPr>
          <p:cNvSpPr txBox="1"/>
          <p:nvPr/>
        </p:nvSpPr>
        <p:spPr>
          <a:xfrm>
            <a:off x="2414400" y="1282248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ADVANTAGES OF DOCKER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95;p14">
            <a:extLst>
              <a:ext uri="{FF2B5EF4-FFF2-40B4-BE49-F238E27FC236}">
                <a16:creationId xmlns:a16="http://schemas.microsoft.com/office/drawing/2014/main" id="{1BF29EAD-FDA7-DBCC-3C0B-2093B209DE4F}"/>
              </a:ext>
            </a:extLst>
          </p:cNvPr>
          <p:cNvSpPr txBox="1"/>
          <p:nvPr/>
        </p:nvSpPr>
        <p:spPr>
          <a:xfrm>
            <a:off x="2250481" y="6112845"/>
            <a:ext cx="79393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container swiftly moves through these stages in a DevOps 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ipeline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996;p14">
            <a:extLst>
              <a:ext uri="{FF2B5EF4-FFF2-40B4-BE49-F238E27FC236}">
                <a16:creationId xmlns:a16="http://schemas.microsoft.com/office/drawing/2014/main" id="{B2BB3E52-624D-92FF-3C31-33EFC0EAC25B}"/>
              </a:ext>
            </a:extLst>
          </p:cNvPr>
          <p:cNvSpPr/>
          <p:nvPr/>
        </p:nvSpPr>
        <p:spPr>
          <a:xfrm>
            <a:off x="1013047" y="4964685"/>
            <a:ext cx="3671529" cy="961698"/>
          </a:xfrm>
          <a:prstGeom prst="homePlate">
            <a:avLst>
              <a:gd name="adj" fmla="val 4603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Development</a:t>
            </a:r>
            <a:endParaRPr sz="1800" b="1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997;p14">
            <a:extLst>
              <a:ext uri="{FF2B5EF4-FFF2-40B4-BE49-F238E27FC236}">
                <a16:creationId xmlns:a16="http://schemas.microsoft.com/office/drawing/2014/main" id="{B0F61C9F-BAF6-FDE3-2122-6A5762C4C0B1}"/>
              </a:ext>
            </a:extLst>
          </p:cNvPr>
          <p:cNvSpPr/>
          <p:nvPr/>
        </p:nvSpPr>
        <p:spPr>
          <a:xfrm>
            <a:off x="4389417" y="4964685"/>
            <a:ext cx="3669978" cy="961200"/>
          </a:xfrm>
          <a:prstGeom prst="chevron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Staging</a:t>
            </a:r>
            <a:endParaRPr sz="1800" b="1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Google Shape;998;p14">
            <a:extLst>
              <a:ext uri="{FF2B5EF4-FFF2-40B4-BE49-F238E27FC236}">
                <a16:creationId xmlns:a16="http://schemas.microsoft.com/office/drawing/2014/main" id="{0C3FB180-99C9-B77B-3957-8D289CB2AE3C}"/>
              </a:ext>
            </a:extLst>
          </p:cNvPr>
          <p:cNvSpPr/>
          <p:nvPr/>
        </p:nvSpPr>
        <p:spPr>
          <a:xfrm>
            <a:off x="7755789" y="4964685"/>
            <a:ext cx="3669978" cy="961200"/>
          </a:xfrm>
          <a:prstGeom prst="chevron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Production </a:t>
            </a:r>
            <a:endParaRPr sz="1800" b="1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999;p14">
            <a:extLst>
              <a:ext uri="{FF2B5EF4-FFF2-40B4-BE49-F238E27FC236}">
                <a16:creationId xmlns:a16="http://schemas.microsoft.com/office/drawing/2014/main" id="{C84C6C84-6F0A-A20C-3CC0-7C0118BD504F}"/>
              </a:ext>
            </a:extLst>
          </p:cNvPr>
          <p:cNvSpPr txBox="1"/>
          <p:nvPr/>
        </p:nvSpPr>
        <p:spPr>
          <a:xfrm>
            <a:off x="1013047" y="3070305"/>
            <a:ext cx="5112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containers are portable and sharable and, thus, solve the problems related to collaborations between development and operations teams of an organization, enabling faster software delivery</a:t>
            </a:r>
            <a:endParaRPr sz="18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" name="Google Shape;1000;p14">
            <a:extLst>
              <a:ext uri="{FF2B5EF4-FFF2-40B4-BE49-F238E27FC236}">
                <a16:creationId xmlns:a16="http://schemas.microsoft.com/office/drawing/2014/main" id="{64FC1F9C-CFFB-B78E-3303-B80358B6FB6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53585" t="2471" b="40401"/>
          <a:stretch/>
        </p:blipFill>
        <p:spPr>
          <a:xfrm>
            <a:off x="6515016" y="2163802"/>
            <a:ext cx="4768524" cy="2633757"/>
          </a:xfrm>
          <a:prstGeom prst="roundRect">
            <a:avLst>
              <a:gd name="adj" fmla="val 7264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886892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005;p15">
            <a:extLst>
              <a:ext uri="{FF2B5EF4-FFF2-40B4-BE49-F238E27FC236}">
                <a16:creationId xmlns:a16="http://schemas.microsoft.com/office/drawing/2014/main" id="{4AA26BAD-31EF-7D24-A997-3492188520D5}"/>
              </a:ext>
            </a:extLst>
          </p:cNvPr>
          <p:cNvSpPr txBox="1"/>
          <p:nvPr/>
        </p:nvSpPr>
        <p:spPr>
          <a:xfrm>
            <a:off x="1322157" y="1247384"/>
            <a:ext cx="8789200" cy="5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ELIMINATES THE MATRIX FROM HELL</a:t>
            </a:r>
            <a:endParaRPr sz="1467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006;p15">
            <a:extLst>
              <a:ext uri="{FF2B5EF4-FFF2-40B4-BE49-F238E27FC236}">
                <a16:creationId xmlns:a16="http://schemas.microsoft.com/office/drawing/2014/main" id="{F3E4710E-48FA-EB2C-5FF4-2429DDC30D38}"/>
              </a:ext>
            </a:extLst>
          </p:cNvPr>
          <p:cNvSpPr txBox="1"/>
          <p:nvPr/>
        </p:nvSpPr>
        <p:spPr>
          <a:xfrm>
            <a:off x="325046" y="2151980"/>
            <a:ext cx="3074923" cy="420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9200" marR="0" lvl="0" indent="-349200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🞆"/>
            </a:pPr>
            <a:r>
              <a:rPr lang="en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Docker addresses the</a:t>
            </a: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“</a:t>
            </a:r>
            <a:r>
              <a:rPr lang="en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matrix from hell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”</a:t>
            </a:r>
            <a:r>
              <a:rPr lang="en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 </a:t>
            </a:r>
            <a:br>
              <a:rPr lang="en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problem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🞆"/>
            </a:pPr>
            <a:r>
              <a:rPr lang="en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 decouples </a:t>
            </a: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</a:t>
            </a:r>
            <a:r>
              <a:rPr lang="en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 application from the underlying operating system and hardware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🞆"/>
            </a:pPr>
            <a:r>
              <a:rPr lang="en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Docker packages an application with its environment and all of its dependencies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chemeClr val="lt2"/>
              </a:buClr>
              <a:buSzPts val="1800"/>
              <a:buFont typeface="Noto Sans Symbols"/>
              <a:buChar char="🞆"/>
            </a:pPr>
            <a:r>
              <a:rPr lang="en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</a:t>
            </a: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thus solves the </a:t>
            </a: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</a:t>
            </a:r>
            <a:r>
              <a:rPr lang="en" sz="1800" b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" sz="1800" b="1" i="0" u="none" strike="noStrike" cap="none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issing dependency problem</a:t>
            </a:r>
            <a:r>
              <a:rPr lang="en" sz="1800" b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" name="Google Shape;1007;p15">
            <a:extLst>
              <a:ext uri="{FF2B5EF4-FFF2-40B4-BE49-F238E27FC236}">
                <a16:creationId xmlns:a16="http://schemas.microsoft.com/office/drawing/2014/main" id="{3F68C8E0-CE99-C2A7-1CA7-224CA2670C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7888056"/>
              </p:ext>
            </p:extLst>
          </p:nvPr>
        </p:nvGraphicFramePr>
        <p:xfrm>
          <a:off x="4068368" y="1850990"/>
          <a:ext cx="7020725" cy="42067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4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4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4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4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5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Static </a:t>
                      </a:r>
                      <a:br>
                        <a:rPr lang="en" sz="1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" sz="1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website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Web </a:t>
                      </a:r>
                      <a:br>
                        <a:rPr lang="en" sz="1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" sz="1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frontend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Background workers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User </a:t>
                      </a:r>
                      <a:br>
                        <a:rPr lang="en" sz="1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" sz="1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DB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Analytics </a:t>
                      </a:r>
                      <a:br>
                        <a:rPr lang="en" sz="1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" sz="1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DB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Queue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Development VM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QA Server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Single Prod Server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Onsite Cluster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Public Cloud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Contributor’s laptop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Customer Servers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2" name="Google Shape;1008;p15">
            <a:extLst>
              <a:ext uri="{FF2B5EF4-FFF2-40B4-BE49-F238E27FC236}">
                <a16:creationId xmlns:a16="http://schemas.microsoft.com/office/drawing/2014/main" id="{B1A88494-3BA5-4111-6AF8-8B6B5338CA00}"/>
              </a:ext>
            </a:extLst>
          </p:cNvPr>
          <p:cNvGrpSpPr/>
          <p:nvPr/>
        </p:nvGrpSpPr>
        <p:grpSpPr>
          <a:xfrm>
            <a:off x="3727315" y="1988588"/>
            <a:ext cx="7287999" cy="4734682"/>
            <a:chOff x="4137239" y="1417685"/>
            <a:chExt cx="7287999" cy="4734682"/>
          </a:xfrm>
        </p:grpSpPr>
        <p:pic>
          <p:nvPicPr>
            <p:cNvPr id="13" name="Google Shape;1009;p15">
              <a:extLst>
                <a:ext uri="{FF2B5EF4-FFF2-40B4-BE49-F238E27FC236}">
                  <a16:creationId xmlns:a16="http://schemas.microsoft.com/office/drawing/2014/main" id="{366EE927-DDBC-6C2B-11D9-495866A989DF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828" t="62684" r="93229" b="25839"/>
            <a:stretch/>
          </p:blipFill>
          <p:spPr>
            <a:xfrm>
              <a:off x="4161995" y="4550832"/>
              <a:ext cx="240382" cy="356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010;p15">
              <a:extLst>
                <a:ext uri="{FF2B5EF4-FFF2-40B4-BE49-F238E27FC236}">
                  <a16:creationId xmlns:a16="http://schemas.microsoft.com/office/drawing/2014/main" id="{1DE69DF8-BC4F-BF15-D078-7441A9CDE81A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828" t="50621" r="92210" b="37904"/>
            <a:stretch/>
          </p:blipFill>
          <p:spPr>
            <a:xfrm>
              <a:off x="4137240" y="3790032"/>
              <a:ext cx="289892" cy="356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011;p15">
              <a:extLst>
                <a:ext uri="{FF2B5EF4-FFF2-40B4-BE49-F238E27FC236}">
                  <a16:creationId xmlns:a16="http://schemas.microsoft.com/office/drawing/2014/main" id="{3CC038AC-356A-9284-2FFD-38441CEA314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828" t="31169" r="92626" b="58657"/>
            <a:stretch/>
          </p:blipFill>
          <p:spPr>
            <a:xfrm>
              <a:off x="4147345" y="2664882"/>
              <a:ext cx="269683" cy="3162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1012;p15">
              <a:extLst>
                <a:ext uri="{FF2B5EF4-FFF2-40B4-BE49-F238E27FC236}">
                  <a16:creationId xmlns:a16="http://schemas.microsoft.com/office/drawing/2014/main" id="{1416A75B-F5B9-8465-5361-2F8428F3BAFF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828" t="19808" r="92210" b="68967"/>
            <a:stretch/>
          </p:blipFill>
          <p:spPr>
            <a:xfrm>
              <a:off x="4137240" y="2036426"/>
              <a:ext cx="289893" cy="34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013;p15">
              <a:extLst>
                <a:ext uri="{FF2B5EF4-FFF2-40B4-BE49-F238E27FC236}">
                  <a16:creationId xmlns:a16="http://schemas.microsoft.com/office/drawing/2014/main" id="{CA59D953-1C2F-EBF9-4172-A8BCDAF9479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828" t="10084" r="93025" b="82828"/>
            <a:stretch/>
          </p:blipFill>
          <p:spPr>
            <a:xfrm>
              <a:off x="4157053" y="1493838"/>
              <a:ext cx="250267" cy="2203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014;p15">
              <a:extLst>
                <a:ext uri="{FF2B5EF4-FFF2-40B4-BE49-F238E27FC236}">
                  <a16:creationId xmlns:a16="http://schemas.microsoft.com/office/drawing/2014/main" id="{C0E53ABB-DEC7-62EB-9C8D-7B782E19FE59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2530" t="43080" r="92817" b="50645"/>
            <a:stretch/>
          </p:blipFill>
          <p:spPr>
            <a:xfrm>
              <a:off x="4137239" y="3267098"/>
              <a:ext cx="289894" cy="2500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015;p15">
              <a:extLst>
                <a:ext uri="{FF2B5EF4-FFF2-40B4-BE49-F238E27FC236}">
                  <a16:creationId xmlns:a16="http://schemas.microsoft.com/office/drawing/2014/main" id="{6843654B-F57A-BAC7-04A8-8A12A4743850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88987" t="85234" b="-535"/>
            <a:stretch/>
          </p:blipFill>
          <p:spPr>
            <a:xfrm>
              <a:off x="10780369" y="5584045"/>
              <a:ext cx="644869" cy="568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016;p15">
              <a:extLst>
                <a:ext uri="{FF2B5EF4-FFF2-40B4-BE49-F238E27FC236}">
                  <a16:creationId xmlns:a16="http://schemas.microsoft.com/office/drawing/2014/main" id="{D6B4F8E0-233C-52AB-C54D-22BDB3F7C820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79482" t="85453" r="11258" b="1656"/>
            <a:stretch/>
          </p:blipFill>
          <p:spPr>
            <a:xfrm>
              <a:off x="9934085" y="5584045"/>
              <a:ext cx="542057" cy="4787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1017;p15">
              <a:extLst>
                <a:ext uri="{FF2B5EF4-FFF2-40B4-BE49-F238E27FC236}">
                  <a16:creationId xmlns:a16="http://schemas.microsoft.com/office/drawing/2014/main" id="{EA305915-D075-2681-2ACC-0E994B02FEC0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68414" t="85233" r="20517" b="3473"/>
            <a:stretch/>
          </p:blipFill>
          <p:spPr>
            <a:xfrm>
              <a:off x="9026830" y="5584045"/>
              <a:ext cx="648114" cy="4194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1018;p15">
              <a:extLst>
                <a:ext uri="{FF2B5EF4-FFF2-40B4-BE49-F238E27FC236}">
                  <a16:creationId xmlns:a16="http://schemas.microsoft.com/office/drawing/2014/main" id="{6AA943FC-199E-7633-F331-5F30C0B7E39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59268" t="85233" r="31807" b="1125"/>
            <a:stretch/>
          </p:blipFill>
          <p:spPr>
            <a:xfrm>
              <a:off x="8180107" y="5566843"/>
              <a:ext cx="522515" cy="50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1019;p15">
              <a:extLst>
                <a:ext uri="{FF2B5EF4-FFF2-40B4-BE49-F238E27FC236}">
                  <a16:creationId xmlns:a16="http://schemas.microsoft.com/office/drawing/2014/main" id="{C4A4D27E-0DCE-320D-1259-FED81035041A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39439" t="85006" r="52877" b="3718"/>
            <a:stretch/>
          </p:blipFill>
          <p:spPr>
            <a:xfrm>
              <a:off x="6454922" y="5566843"/>
              <a:ext cx="449943" cy="4187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1020;p15">
              <a:extLst>
                <a:ext uri="{FF2B5EF4-FFF2-40B4-BE49-F238E27FC236}">
                  <a16:creationId xmlns:a16="http://schemas.microsoft.com/office/drawing/2014/main" id="{269CDED3-60E8-E526-E985-90A9B09295E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28507" t="85744" r="61826" b="4878"/>
            <a:stretch/>
          </p:blipFill>
          <p:spPr>
            <a:xfrm>
              <a:off x="5514872" y="5624907"/>
              <a:ext cx="566057" cy="3483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021;p15">
              <a:extLst>
                <a:ext uri="{FF2B5EF4-FFF2-40B4-BE49-F238E27FC236}">
                  <a16:creationId xmlns:a16="http://schemas.microsoft.com/office/drawing/2014/main" id="{D4CB2ECF-F11C-EC5F-A81A-45EE5A314F5F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47618" t="84397" r="41164" b="4812"/>
            <a:stretch/>
          </p:blipFill>
          <p:spPr>
            <a:xfrm>
              <a:off x="7248623" y="5662024"/>
              <a:ext cx="656852" cy="4008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1022;p15">
              <a:extLst>
                <a:ext uri="{FF2B5EF4-FFF2-40B4-BE49-F238E27FC236}">
                  <a16:creationId xmlns:a16="http://schemas.microsoft.com/office/drawing/2014/main" id="{FC79E11F-BC6B-D43B-107B-516DE449B330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5476925" y="1417685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1023;p15">
              <a:extLst>
                <a:ext uri="{FF2B5EF4-FFF2-40B4-BE49-F238E27FC236}">
                  <a16:creationId xmlns:a16="http://schemas.microsoft.com/office/drawing/2014/main" id="{81ACCDA7-BCE5-E236-1249-57D7C41DD7FD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6357359" y="1417685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1024;p15">
              <a:extLst>
                <a:ext uri="{FF2B5EF4-FFF2-40B4-BE49-F238E27FC236}">
                  <a16:creationId xmlns:a16="http://schemas.microsoft.com/office/drawing/2014/main" id="{B9FE540C-22DA-B916-6239-91C83898C2D2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7237793" y="1417685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1025;p15">
              <a:extLst>
                <a:ext uri="{FF2B5EF4-FFF2-40B4-BE49-F238E27FC236}">
                  <a16:creationId xmlns:a16="http://schemas.microsoft.com/office/drawing/2014/main" id="{C2E6CB9B-4D2F-0F44-C6F2-142B29A8E0E3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8118227" y="1417685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1026;p15">
              <a:extLst>
                <a:ext uri="{FF2B5EF4-FFF2-40B4-BE49-F238E27FC236}">
                  <a16:creationId xmlns:a16="http://schemas.microsoft.com/office/drawing/2014/main" id="{CDE89FE3-ACBF-071C-C44E-BA9B5D6D3DBE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8998661" y="1417685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1027;p15">
              <a:extLst>
                <a:ext uri="{FF2B5EF4-FFF2-40B4-BE49-F238E27FC236}">
                  <a16:creationId xmlns:a16="http://schemas.microsoft.com/office/drawing/2014/main" id="{5A985D8D-6A98-21D6-5D58-458F57667C28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9879095" y="1417685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1028;p15">
              <a:extLst>
                <a:ext uri="{FF2B5EF4-FFF2-40B4-BE49-F238E27FC236}">
                  <a16:creationId xmlns:a16="http://schemas.microsoft.com/office/drawing/2014/main" id="{D3913B23-7617-F0A8-3221-CBDAFAEA5CB5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10759526" y="1417685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1029;p15">
              <a:extLst>
                <a:ext uri="{FF2B5EF4-FFF2-40B4-BE49-F238E27FC236}">
                  <a16:creationId xmlns:a16="http://schemas.microsoft.com/office/drawing/2014/main" id="{CB86B30D-8596-206C-2545-2B99D7190A1F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5476925" y="2012760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Google Shape;1030;p15">
              <a:extLst>
                <a:ext uri="{FF2B5EF4-FFF2-40B4-BE49-F238E27FC236}">
                  <a16:creationId xmlns:a16="http://schemas.microsoft.com/office/drawing/2014/main" id="{D0C45A0B-CCF6-DB42-A86F-FD6B767C2278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6357359" y="2012760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1031;p15">
              <a:extLst>
                <a:ext uri="{FF2B5EF4-FFF2-40B4-BE49-F238E27FC236}">
                  <a16:creationId xmlns:a16="http://schemas.microsoft.com/office/drawing/2014/main" id="{6F5EAE4D-A825-7DAB-CB90-6260555EFEE2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7237793" y="2012760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1032;p15">
              <a:extLst>
                <a:ext uri="{FF2B5EF4-FFF2-40B4-BE49-F238E27FC236}">
                  <a16:creationId xmlns:a16="http://schemas.microsoft.com/office/drawing/2014/main" id="{37A66065-F5FD-59F3-11BE-0B6BAA0D7D0F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8118227" y="2012760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1033;p15">
              <a:extLst>
                <a:ext uri="{FF2B5EF4-FFF2-40B4-BE49-F238E27FC236}">
                  <a16:creationId xmlns:a16="http://schemas.microsoft.com/office/drawing/2014/main" id="{628EF159-62CB-7CCA-422F-CEC825228226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8998661" y="2012760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Google Shape;1034;p15">
              <a:extLst>
                <a:ext uri="{FF2B5EF4-FFF2-40B4-BE49-F238E27FC236}">
                  <a16:creationId xmlns:a16="http://schemas.microsoft.com/office/drawing/2014/main" id="{5E70F2B1-7360-C722-3CB9-F48BE6D7CBF2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9879095" y="2012760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1035;p15">
              <a:extLst>
                <a:ext uri="{FF2B5EF4-FFF2-40B4-BE49-F238E27FC236}">
                  <a16:creationId xmlns:a16="http://schemas.microsoft.com/office/drawing/2014/main" id="{9714D61C-F379-F5DE-CC4D-BF55951D7535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10759526" y="2012760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1036;p15">
              <a:extLst>
                <a:ext uri="{FF2B5EF4-FFF2-40B4-BE49-F238E27FC236}">
                  <a16:creationId xmlns:a16="http://schemas.microsoft.com/office/drawing/2014/main" id="{A32D285D-5961-8FCD-BFA8-C9748CB77E3D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5476925" y="2602392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1037;p15">
              <a:extLst>
                <a:ext uri="{FF2B5EF4-FFF2-40B4-BE49-F238E27FC236}">
                  <a16:creationId xmlns:a16="http://schemas.microsoft.com/office/drawing/2014/main" id="{8F8C1D42-238F-D449-59EE-3735F086A2F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6357359" y="2602392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1038;p15">
              <a:extLst>
                <a:ext uri="{FF2B5EF4-FFF2-40B4-BE49-F238E27FC236}">
                  <a16:creationId xmlns:a16="http://schemas.microsoft.com/office/drawing/2014/main" id="{8C4BC4BC-78E3-EFE7-A444-2BB7D45D309E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7237793" y="2602392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1039;p15">
              <a:extLst>
                <a:ext uri="{FF2B5EF4-FFF2-40B4-BE49-F238E27FC236}">
                  <a16:creationId xmlns:a16="http://schemas.microsoft.com/office/drawing/2014/main" id="{315EC8D3-2573-2A77-584F-3C777EC53689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8118227" y="2602392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" name="Google Shape;1040;p15">
              <a:extLst>
                <a:ext uri="{FF2B5EF4-FFF2-40B4-BE49-F238E27FC236}">
                  <a16:creationId xmlns:a16="http://schemas.microsoft.com/office/drawing/2014/main" id="{9C558A7B-6A93-CD2C-4928-8D7E745D084B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8998661" y="2602392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Google Shape;1041;p15">
              <a:extLst>
                <a:ext uri="{FF2B5EF4-FFF2-40B4-BE49-F238E27FC236}">
                  <a16:creationId xmlns:a16="http://schemas.microsoft.com/office/drawing/2014/main" id="{1C129234-FAAB-BEC9-A966-C7A9F3617BB5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9879095" y="2602392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1042;p15">
              <a:extLst>
                <a:ext uri="{FF2B5EF4-FFF2-40B4-BE49-F238E27FC236}">
                  <a16:creationId xmlns:a16="http://schemas.microsoft.com/office/drawing/2014/main" id="{64828453-7037-E952-A742-24A7AB2827E0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10759526" y="2602392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Google Shape;1043;p15">
              <a:extLst>
                <a:ext uri="{FF2B5EF4-FFF2-40B4-BE49-F238E27FC236}">
                  <a16:creationId xmlns:a16="http://schemas.microsoft.com/office/drawing/2014/main" id="{F903D257-C5BE-9A90-37F0-E136B5DE2AE1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5476925" y="3197130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1044;p15">
              <a:extLst>
                <a:ext uri="{FF2B5EF4-FFF2-40B4-BE49-F238E27FC236}">
                  <a16:creationId xmlns:a16="http://schemas.microsoft.com/office/drawing/2014/main" id="{1A633446-3C35-AA97-C338-359A2E8CB1E6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6357359" y="3197130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1045;p15">
              <a:extLst>
                <a:ext uri="{FF2B5EF4-FFF2-40B4-BE49-F238E27FC236}">
                  <a16:creationId xmlns:a16="http://schemas.microsoft.com/office/drawing/2014/main" id="{886EE488-C816-AC1C-933D-E290718CA6E0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7237793" y="3197130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1046;p15">
              <a:extLst>
                <a:ext uri="{FF2B5EF4-FFF2-40B4-BE49-F238E27FC236}">
                  <a16:creationId xmlns:a16="http://schemas.microsoft.com/office/drawing/2014/main" id="{3BA4CCFB-6F24-3F64-59A1-D8A3A8E2F166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8118227" y="3197130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1047;p15">
              <a:extLst>
                <a:ext uri="{FF2B5EF4-FFF2-40B4-BE49-F238E27FC236}">
                  <a16:creationId xmlns:a16="http://schemas.microsoft.com/office/drawing/2014/main" id="{E6A14ADE-0DC2-1901-3824-7860F9869039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8998661" y="3197130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1048;p15">
              <a:extLst>
                <a:ext uri="{FF2B5EF4-FFF2-40B4-BE49-F238E27FC236}">
                  <a16:creationId xmlns:a16="http://schemas.microsoft.com/office/drawing/2014/main" id="{999BFE8F-CF38-EE91-1B38-F6DF61C924C3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9879095" y="3197130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1049;p15">
              <a:extLst>
                <a:ext uri="{FF2B5EF4-FFF2-40B4-BE49-F238E27FC236}">
                  <a16:creationId xmlns:a16="http://schemas.microsoft.com/office/drawing/2014/main" id="{A7F2979D-EFA5-7D93-52F5-631F3CA1447A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10759526" y="3197130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1050;p15">
              <a:extLst>
                <a:ext uri="{FF2B5EF4-FFF2-40B4-BE49-F238E27FC236}">
                  <a16:creationId xmlns:a16="http://schemas.microsoft.com/office/drawing/2014/main" id="{374D8A21-4DCA-70B5-80ED-ADDDB890C49B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5476925" y="3820967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1051;p15">
              <a:extLst>
                <a:ext uri="{FF2B5EF4-FFF2-40B4-BE49-F238E27FC236}">
                  <a16:creationId xmlns:a16="http://schemas.microsoft.com/office/drawing/2014/main" id="{C571F544-7908-DDC4-36C1-88AFC360144A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6357358" y="3820967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1052;p15">
              <a:extLst>
                <a:ext uri="{FF2B5EF4-FFF2-40B4-BE49-F238E27FC236}">
                  <a16:creationId xmlns:a16="http://schemas.microsoft.com/office/drawing/2014/main" id="{959C3F47-722B-4C63-474D-E36F13E50E92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7237791" y="3820967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1053;p15">
              <a:extLst>
                <a:ext uri="{FF2B5EF4-FFF2-40B4-BE49-F238E27FC236}">
                  <a16:creationId xmlns:a16="http://schemas.microsoft.com/office/drawing/2014/main" id="{D49FBDEA-5248-8EED-9FEE-D4584800089B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8118224" y="3820967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1054;p15">
              <a:extLst>
                <a:ext uri="{FF2B5EF4-FFF2-40B4-BE49-F238E27FC236}">
                  <a16:creationId xmlns:a16="http://schemas.microsoft.com/office/drawing/2014/main" id="{B0F0E268-73AE-4BF7-4643-9F81C0AFA2DB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8998657" y="3820967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1055;p15">
              <a:extLst>
                <a:ext uri="{FF2B5EF4-FFF2-40B4-BE49-F238E27FC236}">
                  <a16:creationId xmlns:a16="http://schemas.microsoft.com/office/drawing/2014/main" id="{E5C57789-9F40-943A-A166-2E670B6D26DB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9879090" y="3820967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1056;p15">
              <a:extLst>
                <a:ext uri="{FF2B5EF4-FFF2-40B4-BE49-F238E27FC236}">
                  <a16:creationId xmlns:a16="http://schemas.microsoft.com/office/drawing/2014/main" id="{5C99A44A-29A0-F2E3-66F1-9B5BBD5011FA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10759526" y="3820967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1057;p15">
              <a:extLst>
                <a:ext uri="{FF2B5EF4-FFF2-40B4-BE49-F238E27FC236}">
                  <a16:creationId xmlns:a16="http://schemas.microsoft.com/office/drawing/2014/main" id="{3F191666-B11D-E27C-4A3E-6B9030E0E6FA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5476925" y="4455375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1058;p15">
              <a:extLst>
                <a:ext uri="{FF2B5EF4-FFF2-40B4-BE49-F238E27FC236}">
                  <a16:creationId xmlns:a16="http://schemas.microsoft.com/office/drawing/2014/main" id="{2F4CB029-575B-D196-A5ED-6CED61386FBF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6357358" y="4455375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1059;p15">
              <a:extLst>
                <a:ext uri="{FF2B5EF4-FFF2-40B4-BE49-F238E27FC236}">
                  <a16:creationId xmlns:a16="http://schemas.microsoft.com/office/drawing/2014/main" id="{97CD683A-E509-A560-2179-81C7D040044D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7237791" y="4455375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1060;p15">
              <a:extLst>
                <a:ext uri="{FF2B5EF4-FFF2-40B4-BE49-F238E27FC236}">
                  <a16:creationId xmlns:a16="http://schemas.microsoft.com/office/drawing/2014/main" id="{8312F03E-5651-E24D-9A5A-D22389AF33A2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8118224" y="4455375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1061;p15">
              <a:extLst>
                <a:ext uri="{FF2B5EF4-FFF2-40B4-BE49-F238E27FC236}">
                  <a16:creationId xmlns:a16="http://schemas.microsoft.com/office/drawing/2014/main" id="{B54C9CE7-5AEF-B57F-10D0-E740202C44BC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8998657" y="4455375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1062;p15">
              <a:extLst>
                <a:ext uri="{FF2B5EF4-FFF2-40B4-BE49-F238E27FC236}">
                  <a16:creationId xmlns:a16="http://schemas.microsoft.com/office/drawing/2014/main" id="{68CA9381-3774-5D4B-834F-C01A69AF2478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9879090" y="4455375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1063;p15">
              <a:extLst>
                <a:ext uri="{FF2B5EF4-FFF2-40B4-BE49-F238E27FC236}">
                  <a16:creationId xmlns:a16="http://schemas.microsoft.com/office/drawing/2014/main" id="{0CD4E710-49AD-C218-EB93-4E3638E9E4EC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7573" t="3840" r="63397" b="86867"/>
            <a:stretch/>
          </p:blipFill>
          <p:spPr>
            <a:xfrm>
              <a:off x="10759526" y="4455375"/>
              <a:ext cx="587473" cy="37264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88380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cxnSp>
        <p:nvCxnSpPr>
          <p:cNvPr id="9" name="Google Shape;1068;p16">
            <a:extLst>
              <a:ext uri="{FF2B5EF4-FFF2-40B4-BE49-F238E27FC236}">
                <a16:creationId xmlns:a16="http://schemas.microsoft.com/office/drawing/2014/main" id="{4F9907F4-22F6-7F28-282D-541A07401A1F}"/>
              </a:ext>
            </a:extLst>
          </p:cNvPr>
          <p:cNvCxnSpPr/>
          <p:nvPr/>
        </p:nvCxnSpPr>
        <p:spPr>
          <a:xfrm>
            <a:off x="6089173" y="1636626"/>
            <a:ext cx="0" cy="5264046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069;p16">
            <a:extLst>
              <a:ext uri="{FF2B5EF4-FFF2-40B4-BE49-F238E27FC236}">
                <a16:creationId xmlns:a16="http://schemas.microsoft.com/office/drawing/2014/main" id="{E3554CEE-D1A0-8CF9-2966-F85363B2E918}"/>
              </a:ext>
            </a:extLst>
          </p:cNvPr>
          <p:cNvSpPr txBox="1"/>
          <p:nvPr/>
        </p:nvSpPr>
        <p:spPr>
          <a:xfrm>
            <a:off x="3511840" y="964028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VM VERSUS CONTAINER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070;p16">
            <a:extLst>
              <a:ext uri="{FF2B5EF4-FFF2-40B4-BE49-F238E27FC236}">
                <a16:creationId xmlns:a16="http://schemas.microsoft.com/office/drawing/2014/main" id="{3A0C197F-213C-8A93-20F5-AE4AAABE02BC}"/>
              </a:ext>
            </a:extLst>
          </p:cNvPr>
          <p:cNvSpPr/>
          <p:nvPr/>
        </p:nvSpPr>
        <p:spPr>
          <a:xfrm>
            <a:off x="1111814" y="1514137"/>
            <a:ext cx="4310731" cy="576180"/>
          </a:xfrm>
          <a:prstGeom prst="roundRect">
            <a:avLst>
              <a:gd name="adj" fmla="val 17967"/>
            </a:avLst>
          </a:prstGeom>
          <a:solidFill>
            <a:srgbClr val="7F7F7F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Virtual Machines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oogle Shape;1071;p16">
            <a:extLst>
              <a:ext uri="{FF2B5EF4-FFF2-40B4-BE49-F238E27FC236}">
                <a16:creationId xmlns:a16="http://schemas.microsoft.com/office/drawing/2014/main" id="{6DC63043-8FD2-FD62-F0D6-9F8D0E01DD91}"/>
              </a:ext>
            </a:extLst>
          </p:cNvPr>
          <p:cNvGrpSpPr/>
          <p:nvPr/>
        </p:nvGrpSpPr>
        <p:grpSpPr>
          <a:xfrm>
            <a:off x="999097" y="2270244"/>
            <a:ext cx="4536165" cy="4450394"/>
            <a:chOff x="999097" y="1922772"/>
            <a:chExt cx="4536165" cy="4450394"/>
          </a:xfrm>
        </p:grpSpPr>
        <p:sp>
          <p:nvSpPr>
            <p:cNvPr id="13" name="Google Shape;1072;p16">
              <a:extLst>
                <a:ext uri="{FF2B5EF4-FFF2-40B4-BE49-F238E27FC236}">
                  <a16:creationId xmlns:a16="http://schemas.microsoft.com/office/drawing/2014/main" id="{56828FF0-3123-A7EB-87CE-486B792AFDC9}"/>
                </a:ext>
              </a:extLst>
            </p:cNvPr>
            <p:cNvSpPr/>
            <p:nvPr/>
          </p:nvSpPr>
          <p:spPr>
            <a:xfrm>
              <a:off x="1060136" y="2066379"/>
              <a:ext cx="1343229" cy="473486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App 1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073;p16">
              <a:extLst>
                <a:ext uri="{FF2B5EF4-FFF2-40B4-BE49-F238E27FC236}">
                  <a16:creationId xmlns:a16="http://schemas.microsoft.com/office/drawing/2014/main" id="{BEBE86B2-17D4-CB22-E1EF-ADE7C88AECB3}"/>
                </a:ext>
              </a:extLst>
            </p:cNvPr>
            <p:cNvSpPr/>
            <p:nvPr/>
          </p:nvSpPr>
          <p:spPr>
            <a:xfrm>
              <a:off x="1060136" y="2708609"/>
              <a:ext cx="1343229" cy="473486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Bins/Lib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074;p16">
              <a:extLst>
                <a:ext uri="{FF2B5EF4-FFF2-40B4-BE49-F238E27FC236}">
                  <a16:creationId xmlns:a16="http://schemas.microsoft.com/office/drawing/2014/main" id="{81F00E96-3721-2F60-DDDA-03F3AE255984}"/>
                </a:ext>
              </a:extLst>
            </p:cNvPr>
            <p:cNvSpPr/>
            <p:nvPr/>
          </p:nvSpPr>
          <p:spPr>
            <a:xfrm>
              <a:off x="1060136" y="3328074"/>
              <a:ext cx="1343229" cy="473486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Guest OS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075;p16">
              <a:extLst>
                <a:ext uri="{FF2B5EF4-FFF2-40B4-BE49-F238E27FC236}">
                  <a16:creationId xmlns:a16="http://schemas.microsoft.com/office/drawing/2014/main" id="{ADBD9D34-8877-9E3B-55A9-3792B932E56D}"/>
                </a:ext>
              </a:extLst>
            </p:cNvPr>
            <p:cNvSpPr/>
            <p:nvPr/>
          </p:nvSpPr>
          <p:spPr>
            <a:xfrm>
              <a:off x="4130994" y="2066379"/>
              <a:ext cx="1343228" cy="473486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App 3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076;p16">
              <a:extLst>
                <a:ext uri="{FF2B5EF4-FFF2-40B4-BE49-F238E27FC236}">
                  <a16:creationId xmlns:a16="http://schemas.microsoft.com/office/drawing/2014/main" id="{E2834999-D57D-3E51-A9CB-44AD0AFEFA95}"/>
                </a:ext>
              </a:extLst>
            </p:cNvPr>
            <p:cNvSpPr/>
            <p:nvPr/>
          </p:nvSpPr>
          <p:spPr>
            <a:xfrm>
              <a:off x="4130994" y="2708609"/>
              <a:ext cx="1343228" cy="473486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Bins/Lib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077;p16">
              <a:extLst>
                <a:ext uri="{FF2B5EF4-FFF2-40B4-BE49-F238E27FC236}">
                  <a16:creationId xmlns:a16="http://schemas.microsoft.com/office/drawing/2014/main" id="{3D0B5717-E47C-9256-088C-C0813E95B630}"/>
                </a:ext>
              </a:extLst>
            </p:cNvPr>
            <p:cNvSpPr/>
            <p:nvPr/>
          </p:nvSpPr>
          <p:spPr>
            <a:xfrm>
              <a:off x="4130994" y="3328074"/>
              <a:ext cx="1343228" cy="473486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Guest OS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078;p16">
              <a:extLst>
                <a:ext uri="{FF2B5EF4-FFF2-40B4-BE49-F238E27FC236}">
                  <a16:creationId xmlns:a16="http://schemas.microsoft.com/office/drawing/2014/main" id="{4DED23D0-560F-1808-CA97-D36DBEC2F7B7}"/>
                </a:ext>
              </a:extLst>
            </p:cNvPr>
            <p:cNvSpPr/>
            <p:nvPr/>
          </p:nvSpPr>
          <p:spPr>
            <a:xfrm>
              <a:off x="2601560" y="2066379"/>
              <a:ext cx="1331239" cy="511997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App 2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1079;p16">
              <a:extLst>
                <a:ext uri="{FF2B5EF4-FFF2-40B4-BE49-F238E27FC236}">
                  <a16:creationId xmlns:a16="http://schemas.microsoft.com/office/drawing/2014/main" id="{085B0E29-9E43-D36A-D0A3-7C154B562805}"/>
                </a:ext>
              </a:extLst>
            </p:cNvPr>
            <p:cNvSpPr/>
            <p:nvPr/>
          </p:nvSpPr>
          <p:spPr>
            <a:xfrm>
              <a:off x="2601560" y="2708609"/>
              <a:ext cx="1331239" cy="511997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Bins/Lib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080;p16">
              <a:extLst>
                <a:ext uri="{FF2B5EF4-FFF2-40B4-BE49-F238E27FC236}">
                  <a16:creationId xmlns:a16="http://schemas.microsoft.com/office/drawing/2014/main" id="{7A57AF18-4676-D273-89DD-1A93FB9CEBDE}"/>
                </a:ext>
              </a:extLst>
            </p:cNvPr>
            <p:cNvSpPr/>
            <p:nvPr/>
          </p:nvSpPr>
          <p:spPr>
            <a:xfrm>
              <a:off x="2601560" y="3328074"/>
              <a:ext cx="1331239" cy="511997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Guest OS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081;p16">
              <a:extLst>
                <a:ext uri="{FF2B5EF4-FFF2-40B4-BE49-F238E27FC236}">
                  <a16:creationId xmlns:a16="http://schemas.microsoft.com/office/drawing/2014/main" id="{2783A2BE-DB47-93B4-0390-3F9330BAC9CB}"/>
                </a:ext>
              </a:extLst>
            </p:cNvPr>
            <p:cNvSpPr/>
            <p:nvPr/>
          </p:nvSpPr>
          <p:spPr>
            <a:xfrm>
              <a:off x="2534526" y="1922772"/>
              <a:ext cx="1465306" cy="2081500"/>
            </a:xfrm>
            <a:prstGeom prst="roundRect">
              <a:avLst>
                <a:gd name="adj" fmla="val 6693"/>
              </a:avLst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082;p16">
              <a:extLst>
                <a:ext uri="{FF2B5EF4-FFF2-40B4-BE49-F238E27FC236}">
                  <a16:creationId xmlns:a16="http://schemas.microsoft.com/office/drawing/2014/main" id="{267C79B7-7952-DEA8-BF71-3B29299A94FB}"/>
                </a:ext>
              </a:extLst>
            </p:cNvPr>
            <p:cNvSpPr/>
            <p:nvPr/>
          </p:nvSpPr>
          <p:spPr>
            <a:xfrm>
              <a:off x="999097" y="1922772"/>
              <a:ext cx="1465306" cy="2081500"/>
            </a:xfrm>
            <a:prstGeom prst="roundRect">
              <a:avLst>
                <a:gd name="adj" fmla="val 6693"/>
              </a:avLst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1083;p16">
              <a:extLst>
                <a:ext uri="{FF2B5EF4-FFF2-40B4-BE49-F238E27FC236}">
                  <a16:creationId xmlns:a16="http://schemas.microsoft.com/office/drawing/2014/main" id="{C905918C-98E5-DDB4-FB3D-9F3F43FFF441}"/>
                </a:ext>
              </a:extLst>
            </p:cNvPr>
            <p:cNvSpPr/>
            <p:nvPr/>
          </p:nvSpPr>
          <p:spPr>
            <a:xfrm>
              <a:off x="4069955" y="1922772"/>
              <a:ext cx="1465306" cy="2081500"/>
            </a:xfrm>
            <a:prstGeom prst="roundRect">
              <a:avLst>
                <a:gd name="adj" fmla="val 6693"/>
              </a:avLst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1084;p16">
              <a:extLst>
                <a:ext uri="{FF2B5EF4-FFF2-40B4-BE49-F238E27FC236}">
                  <a16:creationId xmlns:a16="http://schemas.microsoft.com/office/drawing/2014/main" id="{F7EC5DB9-A214-FA4F-CE32-BCB6E9570B7F}"/>
                </a:ext>
              </a:extLst>
            </p:cNvPr>
            <p:cNvSpPr/>
            <p:nvPr/>
          </p:nvSpPr>
          <p:spPr>
            <a:xfrm>
              <a:off x="999098" y="4140768"/>
              <a:ext cx="4536164" cy="576180"/>
            </a:xfrm>
            <a:prstGeom prst="roundRect">
              <a:avLst>
                <a:gd name="adj" fmla="val 17967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Hypervisor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1085;p16">
              <a:extLst>
                <a:ext uri="{FF2B5EF4-FFF2-40B4-BE49-F238E27FC236}">
                  <a16:creationId xmlns:a16="http://schemas.microsoft.com/office/drawing/2014/main" id="{4E8AFD4A-3193-D946-8CAF-4962B87A078F}"/>
                </a:ext>
              </a:extLst>
            </p:cNvPr>
            <p:cNvSpPr/>
            <p:nvPr/>
          </p:nvSpPr>
          <p:spPr>
            <a:xfrm>
              <a:off x="999098" y="4875973"/>
              <a:ext cx="4536164" cy="1497193"/>
            </a:xfrm>
            <a:prstGeom prst="roundRect">
              <a:avLst>
                <a:gd name="adj" fmla="val 9824"/>
              </a:avLst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Infrastructure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" name="Google Shape;1086;p16">
              <a:extLst>
                <a:ext uri="{FF2B5EF4-FFF2-40B4-BE49-F238E27FC236}">
                  <a16:creationId xmlns:a16="http://schemas.microsoft.com/office/drawing/2014/main" id="{A492E9B4-9AF2-3DE0-DA5D-A2B97231C563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7211" t="80361" r="64234" b="8429"/>
            <a:stretch/>
          </p:blipFill>
          <p:spPr>
            <a:xfrm>
              <a:off x="1968349" y="5327549"/>
              <a:ext cx="2600151" cy="84290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1087;p16">
            <a:extLst>
              <a:ext uri="{FF2B5EF4-FFF2-40B4-BE49-F238E27FC236}">
                <a16:creationId xmlns:a16="http://schemas.microsoft.com/office/drawing/2014/main" id="{5AE5D44C-8262-15BB-4FB7-64C03441429F}"/>
              </a:ext>
            </a:extLst>
          </p:cNvPr>
          <p:cNvSpPr/>
          <p:nvPr/>
        </p:nvSpPr>
        <p:spPr>
          <a:xfrm>
            <a:off x="6755801" y="1514137"/>
            <a:ext cx="4310731" cy="576180"/>
          </a:xfrm>
          <a:prstGeom prst="roundRect">
            <a:avLst>
              <a:gd name="adj" fmla="val 17967"/>
            </a:avLst>
          </a:prstGeom>
          <a:solidFill>
            <a:srgbClr val="7F7F7F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Containers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" name="Google Shape;1088;p16">
            <a:extLst>
              <a:ext uri="{FF2B5EF4-FFF2-40B4-BE49-F238E27FC236}">
                <a16:creationId xmlns:a16="http://schemas.microsoft.com/office/drawing/2014/main" id="{2A91F35C-4DA3-D453-BACC-5CF052E3103A}"/>
              </a:ext>
            </a:extLst>
          </p:cNvPr>
          <p:cNvGrpSpPr/>
          <p:nvPr/>
        </p:nvGrpSpPr>
        <p:grpSpPr>
          <a:xfrm>
            <a:off x="6643084" y="2270244"/>
            <a:ext cx="4536165" cy="4450394"/>
            <a:chOff x="6643084" y="1922772"/>
            <a:chExt cx="4536165" cy="4450394"/>
          </a:xfrm>
        </p:grpSpPr>
        <p:sp>
          <p:nvSpPr>
            <p:cNvPr id="30" name="Google Shape;1089;p16">
              <a:extLst>
                <a:ext uri="{FF2B5EF4-FFF2-40B4-BE49-F238E27FC236}">
                  <a16:creationId xmlns:a16="http://schemas.microsoft.com/office/drawing/2014/main" id="{AE69B151-0AA1-DB3D-605E-EC4C720F0232}"/>
                </a:ext>
              </a:extLst>
            </p:cNvPr>
            <p:cNvSpPr/>
            <p:nvPr/>
          </p:nvSpPr>
          <p:spPr>
            <a:xfrm>
              <a:off x="6704123" y="2040852"/>
              <a:ext cx="1343229" cy="473486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App 1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1090;p16">
              <a:extLst>
                <a:ext uri="{FF2B5EF4-FFF2-40B4-BE49-F238E27FC236}">
                  <a16:creationId xmlns:a16="http://schemas.microsoft.com/office/drawing/2014/main" id="{7BD77AA5-E70C-DB0D-245F-FFAB444C9AF8}"/>
                </a:ext>
              </a:extLst>
            </p:cNvPr>
            <p:cNvSpPr/>
            <p:nvPr/>
          </p:nvSpPr>
          <p:spPr>
            <a:xfrm>
              <a:off x="6704123" y="2683472"/>
              <a:ext cx="1343229" cy="473486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Bins/Lib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091;p16">
              <a:extLst>
                <a:ext uri="{FF2B5EF4-FFF2-40B4-BE49-F238E27FC236}">
                  <a16:creationId xmlns:a16="http://schemas.microsoft.com/office/drawing/2014/main" id="{8AF13937-2CAB-4C13-859D-5E5258BFEB6F}"/>
                </a:ext>
              </a:extLst>
            </p:cNvPr>
            <p:cNvSpPr/>
            <p:nvPr/>
          </p:nvSpPr>
          <p:spPr>
            <a:xfrm>
              <a:off x="9774981" y="2040852"/>
              <a:ext cx="1343228" cy="473486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App 3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092;p16">
              <a:extLst>
                <a:ext uri="{FF2B5EF4-FFF2-40B4-BE49-F238E27FC236}">
                  <a16:creationId xmlns:a16="http://schemas.microsoft.com/office/drawing/2014/main" id="{C3B5ECE6-C082-C69E-97A5-69209528E3CE}"/>
                </a:ext>
              </a:extLst>
            </p:cNvPr>
            <p:cNvSpPr/>
            <p:nvPr/>
          </p:nvSpPr>
          <p:spPr>
            <a:xfrm>
              <a:off x="9774981" y="2683472"/>
              <a:ext cx="1343228" cy="473486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Bins/Lib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1093;p16">
              <a:extLst>
                <a:ext uri="{FF2B5EF4-FFF2-40B4-BE49-F238E27FC236}">
                  <a16:creationId xmlns:a16="http://schemas.microsoft.com/office/drawing/2014/main" id="{358EF334-D8EC-32F9-9D6E-06245B7EE77F}"/>
                </a:ext>
              </a:extLst>
            </p:cNvPr>
            <p:cNvSpPr/>
            <p:nvPr/>
          </p:nvSpPr>
          <p:spPr>
            <a:xfrm>
              <a:off x="8245547" y="2040852"/>
              <a:ext cx="1331239" cy="511997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App 2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1094;p16">
              <a:extLst>
                <a:ext uri="{FF2B5EF4-FFF2-40B4-BE49-F238E27FC236}">
                  <a16:creationId xmlns:a16="http://schemas.microsoft.com/office/drawing/2014/main" id="{BF956A0E-65DD-718E-4EAA-EED3A7CF4F88}"/>
                </a:ext>
              </a:extLst>
            </p:cNvPr>
            <p:cNvSpPr/>
            <p:nvPr/>
          </p:nvSpPr>
          <p:spPr>
            <a:xfrm>
              <a:off x="8245547" y="2683472"/>
              <a:ext cx="1331239" cy="511997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Bins/Lib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1095;p16">
              <a:extLst>
                <a:ext uri="{FF2B5EF4-FFF2-40B4-BE49-F238E27FC236}">
                  <a16:creationId xmlns:a16="http://schemas.microsoft.com/office/drawing/2014/main" id="{A458CA4F-4352-DC13-9091-3F09BD27E163}"/>
                </a:ext>
              </a:extLst>
            </p:cNvPr>
            <p:cNvSpPr/>
            <p:nvPr/>
          </p:nvSpPr>
          <p:spPr>
            <a:xfrm>
              <a:off x="8178513" y="1922772"/>
              <a:ext cx="1465306" cy="1353437"/>
            </a:xfrm>
            <a:prstGeom prst="roundRect">
              <a:avLst>
                <a:gd name="adj" fmla="val 6693"/>
              </a:avLst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1096;p16">
              <a:extLst>
                <a:ext uri="{FF2B5EF4-FFF2-40B4-BE49-F238E27FC236}">
                  <a16:creationId xmlns:a16="http://schemas.microsoft.com/office/drawing/2014/main" id="{E6758357-4DBB-182E-62F6-4FF1F4701DDF}"/>
                </a:ext>
              </a:extLst>
            </p:cNvPr>
            <p:cNvSpPr/>
            <p:nvPr/>
          </p:nvSpPr>
          <p:spPr>
            <a:xfrm>
              <a:off x="6643084" y="1922772"/>
              <a:ext cx="1465306" cy="1353437"/>
            </a:xfrm>
            <a:prstGeom prst="roundRect">
              <a:avLst>
                <a:gd name="adj" fmla="val 6693"/>
              </a:avLst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1097;p16">
              <a:extLst>
                <a:ext uri="{FF2B5EF4-FFF2-40B4-BE49-F238E27FC236}">
                  <a16:creationId xmlns:a16="http://schemas.microsoft.com/office/drawing/2014/main" id="{B7478070-CB78-2C0C-3B80-57B2B7BDDF25}"/>
                </a:ext>
              </a:extLst>
            </p:cNvPr>
            <p:cNvSpPr/>
            <p:nvPr/>
          </p:nvSpPr>
          <p:spPr>
            <a:xfrm>
              <a:off x="9713942" y="1922772"/>
              <a:ext cx="1465306" cy="1353437"/>
            </a:xfrm>
            <a:prstGeom prst="roundRect">
              <a:avLst>
                <a:gd name="adj" fmla="val 6693"/>
              </a:avLst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1098;p16">
              <a:extLst>
                <a:ext uri="{FF2B5EF4-FFF2-40B4-BE49-F238E27FC236}">
                  <a16:creationId xmlns:a16="http://schemas.microsoft.com/office/drawing/2014/main" id="{3A4D7620-A028-6998-6C93-889A32CA0FF7}"/>
                </a:ext>
              </a:extLst>
            </p:cNvPr>
            <p:cNvSpPr/>
            <p:nvPr/>
          </p:nvSpPr>
          <p:spPr>
            <a:xfrm>
              <a:off x="6643085" y="4140768"/>
              <a:ext cx="4536164" cy="576180"/>
            </a:xfrm>
            <a:prstGeom prst="roundRect">
              <a:avLst>
                <a:gd name="adj" fmla="val 17967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Operating System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1099;p16">
              <a:extLst>
                <a:ext uri="{FF2B5EF4-FFF2-40B4-BE49-F238E27FC236}">
                  <a16:creationId xmlns:a16="http://schemas.microsoft.com/office/drawing/2014/main" id="{A6CC4214-51C8-D03F-83AB-B5F419DEDEF4}"/>
                </a:ext>
              </a:extLst>
            </p:cNvPr>
            <p:cNvSpPr/>
            <p:nvPr/>
          </p:nvSpPr>
          <p:spPr>
            <a:xfrm>
              <a:off x="6643085" y="4875973"/>
              <a:ext cx="4536164" cy="1497193"/>
            </a:xfrm>
            <a:prstGeom prst="roundRect">
              <a:avLst>
                <a:gd name="adj" fmla="val 9060"/>
              </a:avLst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Infrastructure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1100;p16">
              <a:extLst>
                <a:ext uri="{FF2B5EF4-FFF2-40B4-BE49-F238E27FC236}">
                  <a16:creationId xmlns:a16="http://schemas.microsoft.com/office/drawing/2014/main" id="{3E62DEA1-5B5F-DE44-D418-6A4EAC3E6B9D}"/>
                </a:ext>
              </a:extLst>
            </p:cNvPr>
            <p:cNvSpPr/>
            <p:nvPr/>
          </p:nvSpPr>
          <p:spPr>
            <a:xfrm>
              <a:off x="6643085" y="3431094"/>
              <a:ext cx="4536164" cy="576180"/>
            </a:xfrm>
            <a:prstGeom prst="roundRect">
              <a:avLst>
                <a:gd name="adj" fmla="val 17967"/>
              </a:avLst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Container Engine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" name="Google Shape;1101;p16">
              <a:extLst>
                <a:ext uri="{FF2B5EF4-FFF2-40B4-BE49-F238E27FC236}">
                  <a16:creationId xmlns:a16="http://schemas.microsoft.com/office/drawing/2014/main" id="{00264440-5DB3-43D9-2D19-B9A1A48B51D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7211" t="80361" r="64234" b="8429"/>
            <a:stretch/>
          </p:blipFill>
          <p:spPr>
            <a:xfrm>
              <a:off x="7557124" y="5327549"/>
              <a:ext cx="2600151" cy="842906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97361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4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cxnSp>
        <p:nvCxnSpPr>
          <p:cNvPr id="9" name="Google Shape;1106;g13319692f4e_1_0">
            <a:extLst>
              <a:ext uri="{FF2B5EF4-FFF2-40B4-BE49-F238E27FC236}">
                <a16:creationId xmlns:a16="http://schemas.microsoft.com/office/drawing/2014/main" id="{463D3C90-C43A-0AAB-8F05-BB508019BD12}"/>
              </a:ext>
            </a:extLst>
          </p:cNvPr>
          <p:cNvCxnSpPr/>
          <p:nvPr/>
        </p:nvCxnSpPr>
        <p:spPr>
          <a:xfrm>
            <a:off x="6089173" y="1664058"/>
            <a:ext cx="0" cy="526410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107;g13319692f4e_1_0">
            <a:extLst>
              <a:ext uri="{FF2B5EF4-FFF2-40B4-BE49-F238E27FC236}">
                <a16:creationId xmlns:a16="http://schemas.microsoft.com/office/drawing/2014/main" id="{AB1E2F1D-0F76-4DD0-2B04-DE3BA4D62F89}"/>
              </a:ext>
            </a:extLst>
          </p:cNvPr>
          <p:cNvSpPr txBox="1"/>
          <p:nvPr/>
        </p:nvSpPr>
        <p:spPr>
          <a:xfrm>
            <a:off x="3334800" y="683164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08;g13319692f4e_1_0">
            <a:extLst>
              <a:ext uri="{FF2B5EF4-FFF2-40B4-BE49-F238E27FC236}">
                <a16:creationId xmlns:a16="http://schemas.microsoft.com/office/drawing/2014/main" id="{F4688F69-4C9B-A713-C5BE-82C932260C8A}"/>
              </a:ext>
            </a:extLst>
          </p:cNvPr>
          <p:cNvSpPr/>
          <p:nvPr/>
        </p:nvSpPr>
        <p:spPr>
          <a:xfrm>
            <a:off x="1111814" y="1541569"/>
            <a:ext cx="4310700" cy="576300"/>
          </a:xfrm>
          <a:prstGeom prst="roundRect">
            <a:avLst>
              <a:gd name="adj" fmla="val 17967"/>
            </a:avLst>
          </a:prstGeom>
          <a:solidFill>
            <a:srgbClr val="7F7F7F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Virtual Machines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oogle Shape;1109;g13319692f4e_1_0">
            <a:extLst>
              <a:ext uri="{FF2B5EF4-FFF2-40B4-BE49-F238E27FC236}">
                <a16:creationId xmlns:a16="http://schemas.microsoft.com/office/drawing/2014/main" id="{31E0834D-B56D-0454-6D2E-31887B55EFEE}"/>
              </a:ext>
            </a:extLst>
          </p:cNvPr>
          <p:cNvGrpSpPr/>
          <p:nvPr/>
        </p:nvGrpSpPr>
        <p:grpSpPr>
          <a:xfrm>
            <a:off x="999097" y="2297676"/>
            <a:ext cx="4536301" cy="4450501"/>
            <a:chOff x="999097" y="1922772"/>
            <a:chExt cx="4536301" cy="4450501"/>
          </a:xfrm>
        </p:grpSpPr>
        <p:sp>
          <p:nvSpPr>
            <p:cNvPr id="13" name="Google Shape;1110;g13319692f4e_1_0">
              <a:extLst>
                <a:ext uri="{FF2B5EF4-FFF2-40B4-BE49-F238E27FC236}">
                  <a16:creationId xmlns:a16="http://schemas.microsoft.com/office/drawing/2014/main" id="{39902EDF-291E-46DA-7827-1B035720B35D}"/>
                </a:ext>
              </a:extLst>
            </p:cNvPr>
            <p:cNvSpPr/>
            <p:nvPr/>
          </p:nvSpPr>
          <p:spPr>
            <a:xfrm>
              <a:off x="1060136" y="2066379"/>
              <a:ext cx="1343100" cy="4734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App 1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111;g13319692f4e_1_0">
              <a:extLst>
                <a:ext uri="{FF2B5EF4-FFF2-40B4-BE49-F238E27FC236}">
                  <a16:creationId xmlns:a16="http://schemas.microsoft.com/office/drawing/2014/main" id="{4B945C82-D8E4-E866-F66B-D83D5F99D643}"/>
                </a:ext>
              </a:extLst>
            </p:cNvPr>
            <p:cNvSpPr/>
            <p:nvPr/>
          </p:nvSpPr>
          <p:spPr>
            <a:xfrm>
              <a:off x="1060136" y="2708609"/>
              <a:ext cx="1343100" cy="4734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Bins/Lib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112;g13319692f4e_1_0">
              <a:extLst>
                <a:ext uri="{FF2B5EF4-FFF2-40B4-BE49-F238E27FC236}">
                  <a16:creationId xmlns:a16="http://schemas.microsoft.com/office/drawing/2014/main" id="{B2A3DFCF-2B38-7F8E-3454-9FA82D91DE37}"/>
                </a:ext>
              </a:extLst>
            </p:cNvPr>
            <p:cNvSpPr/>
            <p:nvPr/>
          </p:nvSpPr>
          <p:spPr>
            <a:xfrm>
              <a:off x="1060136" y="3328074"/>
              <a:ext cx="1343100" cy="4734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Guest OS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113;g13319692f4e_1_0">
              <a:extLst>
                <a:ext uri="{FF2B5EF4-FFF2-40B4-BE49-F238E27FC236}">
                  <a16:creationId xmlns:a16="http://schemas.microsoft.com/office/drawing/2014/main" id="{6D7D230B-F5CD-FF67-B12B-53DE573B331B}"/>
                </a:ext>
              </a:extLst>
            </p:cNvPr>
            <p:cNvSpPr/>
            <p:nvPr/>
          </p:nvSpPr>
          <p:spPr>
            <a:xfrm>
              <a:off x="4130994" y="2066379"/>
              <a:ext cx="1343100" cy="4734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App 3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114;g13319692f4e_1_0">
              <a:extLst>
                <a:ext uri="{FF2B5EF4-FFF2-40B4-BE49-F238E27FC236}">
                  <a16:creationId xmlns:a16="http://schemas.microsoft.com/office/drawing/2014/main" id="{05C0538E-E303-2AE0-B4B4-CF94AA1556DE}"/>
                </a:ext>
              </a:extLst>
            </p:cNvPr>
            <p:cNvSpPr/>
            <p:nvPr/>
          </p:nvSpPr>
          <p:spPr>
            <a:xfrm>
              <a:off x="4130994" y="2708609"/>
              <a:ext cx="1343100" cy="4734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Bins/Lib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15;g13319692f4e_1_0">
              <a:extLst>
                <a:ext uri="{FF2B5EF4-FFF2-40B4-BE49-F238E27FC236}">
                  <a16:creationId xmlns:a16="http://schemas.microsoft.com/office/drawing/2014/main" id="{75108A58-961B-E55F-F91E-C22E833D8B42}"/>
                </a:ext>
              </a:extLst>
            </p:cNvPr>
            <p:cNvSpPr/>
            <p:nvPr/>
          </p:nvSpPr>
          <p:spPr>
            <a:xfrm>
              <a:off x="4130994" y="3328074"/>
              <a:ext cx="1343100" cy="4734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Guest OS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116;g13319692f4e_1_0">
              <a:extLst>
                <a:ext uri="{FF2B5EF4-FFF2-40B4-BE49-F238E27FC236}">
                  <a16:creationId xmlns:a16="http://schemas.microsoft.com/office/drawing/2014/main" id="{6267D92C-89D0-42D3-0EB9-C7F99242A255}"/>
                </a:ext>
              </a:extLst>
            </p:cNvPr>
            <p:cNvSpPr/>
            <p:nvPr/>
          </p:nvSpPr>
          <p:spPr>
            <a:xfrm>
              <a:off x="2601560" y="2066379"/>
              <a:ext cx="1331100" cy="5121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App 2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1117;g13319692f4e_1_0">
              <a:extLst>
                <a:ext uri="{FF2B5EF4-FFF2-40B4-BE49-F238E27FC236}">
                  <a16:creationId xmlns:a16="http://schemas.microsoft.com/office/drawing/2014/main" id="{B1AE527A-C82D-F06A-A008-61479733CEE4}"/>
                </a:ext>
              </a:extLst>
            </p:cNvPr>
            <p:cNvSpPr/>
            <p:nvPr/>
          </p:nvSpPr>
          <p:spPr>
            <a:xfrm>
              <a:off x="2601560" y="2708609"/>
              <a:ext cx="1331100" cy="5121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Bins/Lib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118;g13319692f4e_1_0">
              <a:extLst>
                <a:ext uri="{FF2B5EF4-FFF2-40B4-BE49-F238E27FC236}">
                  <a16:creationId xmlns:a16="http://schemas.microsoft.com/office/drawing/2014/main" id="{1EE4989A-C8D9-1E9F-888F-7CEA7868FD7F}"/>
                </a:ext>
              </a:extLst>
            </p:cNvPr>
            <p:cNvSpPr/>
            <p:nvPr/>
          </p:nvSpPr>
          <p:spPr>
            <a:xfrm>
              <a:off x="2601560" y="3328074"/>
              <a:ext cx="1331100" cy="5121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Guest OS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19;g13319692f4e_1_0">
              <a:extLst>
                <a:ext uri="{FF2B5EF4-FFF2-40B4-BE49-F238E27FC236}">
                  <a16:creationId xmlns:a16="http://schemas.microsoft.com/office/drawing/2014/main" id="{A53BCFC4-F7E2-F8F0-384D-9285018B165B}"/>
                </a:ext>
              </a:extLst>
            </p:cNvPr>
            <p:cNvSpPr/>
            <p:nvPr/>
          </p:nvSpPr>
          <p:spPr>
            <a:xfrm>
              <a:off x="2534526" y="1922772"/>
              <a:ext cx="1465200" cy="2081400"/>
            </a:xfrm>
            <a:prstGeom prst="roundRect">
              <a:avLst>
                <a:gd name="adj" fmla="val 6693"/>
              </a:avLst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120;g13319692f4e_1_0">
              <a:extLst>
                <a:ext uri="{FF2B5EF4-FFF2-40B4-BE49-F238E27FC236}">
                  <a16:creationId xmlns:a16="http://schemas.microsoft.com/office/drawing/2014/main" id="{D91385D6-6726-3994-C7EB-50A9412303E7}"/>
                </a:ext>
              </a:extLst>
            </p:cNvPr>
            <p:cNvSpPr/>
            <p:nvPr/>
          </p:nvSpPr>
          <p:spPr>
            <a:xfrm>
              <a:off x="999097" y="1922772"/>
              <a:ext cx="1465200" cy="2081400"/>
            </a:xfrm>
            <a:prstGeom prst="roundRect">
              <a:avLst>
                <a:gd name="adj" fmla="val 6693"/>
              </a:avLst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1121;g13319692f4e_1_0">
              <a:extLst>
                <a:ext uri="{FF2B5EF4-FFF2-40B4-BE49-F238E27FC236}">
                  <a16:creationId xmlns:a16="http://schemas.microsoft.com/office/drawing/2014/main" id="{2AF62550-0EE5-7755-9DB6-BA81CC4AD445}"/>
                </a:ext>
              </a:extLst>
            </p:cNvPr>
            <p:cNvSpPr/>
            <p:nvPr/>
          </p:nvSpPr>
          <p:spPr>
            <a:xfrm>
              <a:off x="4069955" y="1922772"/>
              <a:ext cx="1465200" cy="2081400"/>
            </a:xfrm>
            <a:prstGeom prst="roundRect">
              <a:avLst>
                <a:gd name="adj" fmla="val 6693"/>
              </a:avLst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1122;g13319692f4e_1_0">
              <a:extLst>
                <a:ext uri="{FF2B5EF4-FFF2-40B4-BE49-F238E27FC236}">
                  <a16:creationId xmlns:a16="http://schemas.microsoft.com/office/drawing/2014/main" id="{194F1F0C-5EAE-3608-B55A-0EFE3EA7748D}"/>
                </a:ext>
              </a:extLst>
            </p:cNvPr>
            <p:cNvSpPr/>
            <p:nvPr/>
          </p:nvSpPr>
          <p:spPr>
            <a:xfrm>
              <a:off x="999098" y="4140768"/>
              <a:ext cx="4536300" cy="576300"/>
            </a:xfrm>
            <a:prstGeom prst="roundRect">
              <a:avLst>
                <a:gd name="adj" fmla="val 17967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Hypervisor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1123;g13319692f4e_1_0">
              <a:extLst>
                <a:ext uri="{FF2B5EF4-FFF2-40B4-BE49-F238E27FC236}">
                  <a16:creationId xmlns:a16="http://schemas.microsoft.com/office/drawing/2014/main" id="{61E53336-FED7-9FA9-A77B-B4A84FBF9E96}"/>
                </a:ext>
              </a:extLst>
            </p:cNvPr>
            <p:cNvSpPr/>
            <p:nvPr/>
          </p:nvSpPr>
          <p:spPr>
            <a:xfrm>
              <a:off x="999098" y="4875973"/>
              <a:ext cx="4536300" cy="1497300"/>
            </a:xfrm>
            <a:prstGeom prst="roundRect">
              <a:avLst>
                <a:gd name="adj" fmla="val 9824"/>
              </a:avLst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Infrastructure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" name="Google Shape;1124;g13319692f4e_1_0">
              <a:extLst>
                <a:ext uri="{FF2B5EF4-FFF2-40B4-BE49-F238E27FC236}">
                  <a16:creationId xmlns:a16="http://schemas.microsoft.com/office/drawing/2014/main" id="{6DBF139C-854C-8607-37C1-EB678CD2CF29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7210" t="80359" r="64235" b="8430"/>
            <a:stretch/>
          </p:blipFill>
          <p:spPr>
            <a:xfrm>
              <a:off x="1968349" y="5327549"/>
              <a:ext cx="2600151" cy="84290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1125;g13319692f4e_1_0">
            <a:extLst>
              <a:ext uri="{FF2B5EF4-FFF2-40B4-BE49-F238E27FC236}">
                <a16:creationId xmlns:a16="http://schemas.microsoft.com/office/drawing/2014/main" id="{99A02410-46A1-8422-21E5-94BC19CE575B}"/>
              </a:ext>
            </a:extLst>
          </p:cNvPr>
          <p:cNvSpPr/>
          <p:nvPr/>
        </p:nvSpPr>
        <p:spPr>
          <a:xfrm>
            <a:off x="6802247" y="1030268"/>
            <a:ext cx="4310700" cy="576300"/>
          </a:xfrm>
          <a:prstGeom prst="roundRect">
            <a:avLst>
              <a:gd name="adj" fmla="val 17967"/>
            </a:avLst>
          </a:prstGeom>
          <a:solidFill>
            <a:srgbClr val="7F7F7F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Containers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" name="Google Shape;1126;g13319692f4e_1_0">
            <a:extLst>
              <a:ext uri="{FF2B5EF4-FFF2-40B4-BE49-F238E27FC236}">
                <a16:creationId xmlns:a16="http://schemas.microsoft.com/office/drawing/2014/main" id="{39E6F2DE-9999-FEAB-AA27-70490711CFE8}"/>
              </a:ext>
            </a:extLst>
          </p:cNvPr>
          <p:cNvGrpSpPr/>
          <p:nvPr/>
        </p:nvGrpSpPr>
        <p:grpSpPr>
          <a:xfrm>
            <a:off x="6643085" y="3805998"/>
            <a:ext cx="4536300" cy="2942179"/>
            <a:chOff x="6643085" y="3431094"/>
            <a:chExt cx="4536300" cy="2942179"/>
          </a:xfrm>
        </p:grpSpPr>
        <p:sp>
          <p:nvSpPr>
            <p:cNvPr id="30" name="Google Shape;1127;g13319692f4e_1_0">
              <a:extLst>
                <a:ext uri="{FF2B5EF4-FFF2-40B4-BE49-F238E27FC236}">
                  <a16:creationId xmlns:a16="http://schemas.microsoft.com/office/drawing/2014/main" id="{42AB3206-CBCB-1B41-F2C3-8EA7E7CB7928}"/>
                </a:ext>
              </a:extLst>
            </p:cNvPr>
            <p:cNvSpPr/>
            <p:nvPr/>
          </p:nvSpPr>
          <p:spPr>
            <a:xfrm>
              <a:off x="6643085" y="4140768"/>
              <a:ext cx="4536300" cy="576300"/>
            </a:xfrm>
            <a:prstGeom prst="roundRect">
              <a:avLst>
                <a:gd name="adj" fmla="val 17967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Operating System (Host OS)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1128;g13319692f4e_1_0">
              <a:extLst>
                <a:ext uri="{FF2B5EF4-FFF2-40B4-BE49-F238E27FC236}">
                  <a16:creationId xmlns:a16="http://schemas.microsoft.com/office/drawing/2014/main" id="{FCD353E1-2533-F976-BFEC-12EEA54A0CAB}"/>
                </a:ext>
              </a:extLst>
            </p:cNvPr>
            <p:cNvSpPr/>
            <p:nvPr/>
          </p:nvSpPr>
          <p:spPr>
            <a:xfrm>
              <a:off x="6643085" y="4875973"/>
              <a:ext cx="4536300" cy="1497300"/>
            </a:xfrm>
            <a:prstGeom prst="roundRect">
              <a:avLst>
                <a:gd name="adj" fmla="val 9060"/>
              </a:avLst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Infrastructure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129;g13319692f4e_1_0">
              <a:extLst>
                <a:ext uri="{FF2B5EF4-FFF2-40B4-BE49-F238E27FC236}">
                  <a16:creationId xmlns:a16="http://schemas.microsoft.com/office/drawing/2014/main" id="{A6C25F17-A643-DF2E-36E5-7582AEB7F7E9}"/>
                </a:ext>
              </a:extLst>
            </p:cNvPr>
            <p:cNvSpPr/>
            <p:nvPr/>
          </p:nvSpPr>
          <p:spPr>
            <a:xfrm>
              <a:off x="6643085" y="3431094"/>
              <a:ext cx="4536300" cy="576300"/>
            </a:xfrm>
            <a:prstGeom prst="roundRect">
              <a:avLst>
                <a:gd name="adj" fmla="val 17967"/>
              </a:avLst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Hypervisor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" name="Google Shape;1130;g13319692f4e_1_0">
              <a:extLst>
                <a:ext uri="{FF2B5EF4-FFF2-40B4-BE49-F238E27FC236}">
                  <a16:creationId xmlns:a16="http://schemas.microsoft.com/office/drawing/2014/main" id="{52851D66-3700-4951-9BD4-603249DA161D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7210" t="80359" r="64235" b="8430"/>
            <a:stretch/>
          </p:blipFill>
          <p:spPr>
            <a:xfrm>
              <a:off x="7557124" y="5327549"/>
              <a:ext cx="2600151" cy="84290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" name="Google Shape;1131;g13319692f4e_1_0">
            <a:extLst>
              <a:ext uri="{FF2B5EF4-FFF2-40B4-BE49-F238E27FC236}">
                <a16:creationId xmlns:a16="http://schemas.microsoft.com/office/drawing/2014/main" id="{5F3FB6FB-789A-60DA-3A06-9FC7E4A79FB9}"/>
              </a:ext>
            </a:extLst>
          </p:cNvPr>
          <p:cNvSpPr txBox="1"/>
          <p:nvPr/>
        </p:nvSpPr>
        <p:spPr>
          <a:xfrm>
            <a:off x="6544025" y="1647354"/>
            <a:ext cx="472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1893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4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32" name="Google Shape;1136;p17">
            <a:extLst>
              <a:ext uri="{FF2B5EF4-FFF2-40B4-BE49-F238E27FC236}">
                <a16:creationId xmlns:a16="http://schemas.microsoft.com/office/drawing/2014/main" id="{1D4DE7FF-7977-94CF-922F-DB7530892E35}"/>
              </a:ext>
            </a:extLst>
          </p:cNvPr>
          <p:cNvSpPr txBox="1"/>
          <p:nvPr/>
        </p:nvSpPr>
        <p:spPr>
          <a:xfrm>
            <a:off x="2414400" y="1203510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VM VERSUS CONTAINER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1137;p17">
            <a:extLst>
              <a:ext uri="{FF2B5EF4-FFF2-40B4-BE49-F238E27FC236}">
                <a16:creationId xmlns:a16="http://schemas.microsoft.com/office/drawing/2014/main" id="{DECF1625-A4D9-BFBF-789E-EB32FA77E7C3}"/>
              </a:ext>
            </a:extLst>
          </p:cNvPr>
          <p:cNvSpPr/>
          <p:nvPr/>
        </p:nvSpPr>
        <p:spPr>
          <a:xfrm>
            <a:off x="2659160" y="2293312"/>
            <a:ext cx="4417680" cy="671494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Boots in a few seconds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38;p17">
            <a:extLst>
              <a:ext uri="{FF2B5EF4-FFF2-40B4-BE49-F238E27FC236}">
                <a16:creationId xmlns:a16="http://schemas.microsoft.com/office/drawing/2014/main" id="{9B1BD575-22B1-070B-D8C9-1A9FA5FE8243}"/>
              </a:ext>
            </a:extLst>
          </p:cNvPr>
          <p:cNvSpPr/>
          <p:nvPr/>
        </p:nvSpPr>
        <p:spPr>
          <a:xfrm>
            <a:off x="7076840" y="2293312"/>
            <a:ext cx="4112241" cy="671494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akes a few minutes for VMs to boot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39;p17">
            <a:extLst>
              <a:ext uri="{FF2B5EF4-FFF2-40B4-BE49-F238E27FC236}">
                <a16:creationId xmlns:a16="http://schemas.microsoft.com/office/drawing/2014/main" id="{07883BA2-D527-6A8A-2372-610A3E42D00B}"/>
              </a:ext>
            </a:extLst>
          </p:cNvPr>
          <p:cNvSpPr/>
          <p:nvPr/>
        </p:nvSpPr>
        <p:spPr>
          <a:xfrm>
            <a:off x="602044" y="2967640"/>
            <a:ext cx="2057116" cy="671494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Runs 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1140;p17">
            <a:extLst>
              <a:ext uri="{FF2B5EF4-FFF2-40B4-BE49-F238E27FC236}">
                <a16:creationId xmlns:a16="http://schemas.microsoft.com/office/drawing/2014/main" id="{67DBD446-E27D-0B55-8F8C-6B3696B3BE24}"/>
              </a:ext>
            </a:extLst>
          </p:cNvPr>
          <p:cNvSpPr/>
          <p:nvPr/>
        </p:nvSpPr>
        <p:spPr>
          <a:xfrm>
            <a:off x="2659160" y="2967640"/>
            <a:ext cx="4417680" cy="671494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ake use of the execution engine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1141;p17">
            <a:extLst>
              <a:ext uri="{FF2B5EF4-FFF2-40B4-BE49-F238E27FC236}">
                <a16:creationId xmlns:a16="http://schemas.microsoft.com/office/drawing/2014/main" id="{5261BE13-7B12-E034-1F43-75592381C446}"/>
              </a:ext>
            </a:extLst>
          </p:cNvPr>
          <p:cNvSpPr/>
          <p:nvPr/>
        </p:nvSpPr>
        <p:spPr>
          <a:xfrm>
            <a:off x="7076840" y="2967640"/>
            <a:ext cx="4112241" cy="671494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ake use of the hypervisor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1142;p17">
            <a:extLst>
              <a:ext uri="{FF2B5EF4-FFF2-40B4-BE49-F238E27FC236}">
                <a16:creationId xmlns:a16="http://schemas.microsoft.com/office/drawing/2014/main" id="{5BEE3CA1-6CFB-16BF-849D-F4019AB2D801}"/>
              </a:ext>
            </a:extLst>
          </p:cNvPr>
          <p:cNvSpPr/>
          <p:nvPr/>
        </p:nvSpPr>
        <p:spPr>
          <a:xfrm>
            <a:off x="602044" y="3631180"/>
            <a:ext cx="2057116" cy="671494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Memory </a:t>
            </a:r>
            <a:r>
              <a:rPr lang="en"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"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fficiency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1143;p17">
            <a:extLst>
              <a:ext uri="{FF2B5EF4-FFF2-40B4-BE49-F238E27FC236}">
                <a16:creationId xmlns:a16="http://schemas.microsoft.com/office/drawing/2014/main" id="{52C1485A-4FB6-86C7-7E41-817C06104025}"/>
              </a:ext>
            </a:extLst>
          </p:cNvPr>
          <p:cNvSpPr/>
          <p:nvPr/>
        </p:nvSpPr>
        <p:spPr>
          <a:xfrm>
            <a:off x="2659160" y="3631180"/>
            <a:ext cx="4417680" cy="671494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 space needed to virtualize</a:t>
            </a: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hence less memory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1144;p17">
            <a:extLst>
              <a:ext uri="{FF2B5EF4-FFF2-40B4-BE49-F238E27FC236}">
                <a16:creationId xmlns:a16="http://schemas.microsoft.com/office/drawing/2014/main" id="{47250669-4286-9012-0DAD-7A039D9F22F4}"/>
              </a:ext>
            </a:extLst>
          </p:cNvPr>
          <p:cNvSpPr/>
          <p:nvPr/>
        </p:nvSpPr>
        <p:spPr>
          <a:xfrm>
            <a:off x="7076840" y="3631180"/>
            <a:ext cx="4112241" cy="671494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Requires entire OS to be loaded before s</a:t>
            </a:r>
            <a:r>
              <a:rPr lang="en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tarting the surface</a:t>
            </a:r>
            <a:r>
              <a:rPr lang="en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so less efficient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1145;p17">
            <a:extLst>
              <a:ext uri="{FF2B5EF4-FFF2-40B4-BE49-F238E27FC236}">
                <a16:creationId xmlns:a16="http://schemas.microsoft.com/office/drawing/2014/main" id="{358DD6B2-DE7A-6A1B-534A-646D465BB1C6}"/>
              </a:ext>
            </a:extLst>
          </p:cNvPr>
          <p:cNvSpPr/>
          <p:nvPr/>
        </p:nvSpPr>
        <p:spPr>
          <a:xfrm>
            <a:off x="602044" y="4298317"/>
            <a:ext cx="2057116" cy="671494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Isolation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1146;p17">
            <a:extLst>
              <a:ext uri="{FF2B5EF4-FFF2-40B4-BE49-F238E27FC236}">
                <a16:creationId xmlns:a16="http://schemas.microsoft.com/office/drawing/2014/main" id="{C87AA96E-0B33-5EB1-E925-2BF84FE1E970}"/>
              </a:ext>
            </a:extLst>
          </p:cNvPr>
          <p:cNvSpPr/>
          <p:nvPr/>
        </p:nvSpPr>
        <p:spPr>
          <a:xfrm>
            <a:off x="2659160" y="4298317"/>
            <a:ext cx="4417680" cy="671494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Prone to adversities, as no provisions for isolation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1147;p17">
            <a:extLst>
              <a:ext uri="{FF2B5EF4-FFF2-40B4-BE49-F238E27FC236}">
                <a16:creationId xmlns:a16="http://schemas.microsoft.com/office/drawing/2014/main" id="{F9E4274F-8DBC-19BE-8801-386313E84246}"/>
              </a:ext>
            </a:extLst>
          </p:cNvPr>
          <p:cNvSpPr/>
          <p:nvPr/>
        </p:nvSpPr>
        <p:spPr>
          <a:xfrm>
            <a:off x="7076840" y="4298317"/>
            <a:ext cx="4112241" cy="671494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Interference possibility</a:t>
            </a: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- M</a:t>
            </a:r>
            <a:r>
              <a:rPr lang="en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inim</a:t>
            </a: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</a:t>
            </a:r>
            <a:r>
              <a:rPr lang="en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because of efficient isolation mechanism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1148;p17">
            <a:extLst>
              <a:ext uri="{FF2B5EF4-FFF2-40B4-BE49-F238E27FC236}">
                <a16:creationId xmlns:a16="http://schemas.microsoft.com/office/drawing/2014/main" id="{1BB63916-4EA9-5B7B-E9EA-21E31072F41D}"/>
              </a:ext>
            </a:extLst>
          </p:cNvPr>
          <p:cNvSpPr/>
          <p:nvPr/>
        </p:nvSpPr>
        <p:spPr>
          <a:xfrm>
            <a:off x="602044" y="4961857"/>
            <a:ext cx="2057116" cy="854636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Deployment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1149;p17">
            <a:extLst>
              <a:ext uri="{FF2B5EF4-FFF2-40B4-BE49-F238E27FC236}">
                <a16:creationId xmlns:a16="http://schemas.microsoft.com/office/drawing/2014/main" id="{D843D65D-1F42-BA15-DA5F-D37A47251F99}"/>
              </a:ext>
            </a:extLst>
          </p:cNvPr>
          <p:cNvSpPr/>
          <p:nvPr/>
        </p:nvSpPr>
        <p:spPr>
          <a:xfrm>
            <a:off x="2659160" y="4961857"/>
            <a:ext cx="4417680" cy="854636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asy as only a single image, containerized can be used across all platforms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1150;p17">
            <a:extLst>
              <a:ext uri="{FF2B5EF4-FFF2-40B4-BE49-F238E27FC236}">
                <a16:creationId xmlns:a16="http://schemas.microsoft.com/office/drawing/2014/main" id="{8FA12764-E40B-06BC-2EE9-4CDD651C980C}"/>
              </a:ext>
            </a:extLst>
          </p:cNvPr>
          <p:cNvSpPr/>
          <p:nvPr/>
        </p:nvSpPr>
        <p:spPr>
          <a:xfrm>
            <a:off x="7076840" y="4961857"/>
            <a:ext cx="4112241" cy="854636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omparatively lengthy</a:t>
            </a: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</a:t>
            </a:r>
            <a:r>
              <a:rPr lang="en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 separate instances are responsible for execution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1151;p17">
            <a:extLst>
              <a:ext uri="{FF2B5EF4-FFF2-40B4-BE49-F238E27FC236}">
                <a16:creationId xmlns:a16="http://schemas.microsoft.com/office/drawing/2014/main" id="{8F7244EB-B123-561C-5AB0-026F6225DC64}"/>
              </a:ext>
            </a:extLst>
          </p:cNvPr>
          <p:cNvSpPr/>
          <p:nvPr/>
        </p:nvSpPr>
        <p:spPr>
          <a:xfrm>
            <a:off x="602044" y="5806363"/>
            <a:ext cx="2057116" cy="882635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1152;p17">
            <a:extLst>
              <a:ext uri="{FF2B5EF4-FFF2-40B4-BE49-F238E27FC236}">
                <a16:creationId xmlns:a16="http://schemas.microsoft.com/office/drawing/2014/main" id="{BB180F6D-C75F-C8FA-F00D-95D03E3E8529}"/>
              </a:ext>
            </a:extLst>
          </p:cNvPr>
          <p:cNvSpPr/>
          <p:nvPr/>
        </p:nvSpPr>
        <p:spPr>
          <a:xfrm>
            <a:off x="2659160" y="5806363"/>
            <a:ext cx="4417680" cy="882635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Complex usag</a:t>
            </a:r>
            <a:r>
              <a:rPr lang="en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 mechanism consisting of both third</a:t>
            </a: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party and docker</a:t>
            </a: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managed tools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1153;p17">
            <a:extLst>
              <a:ext uri="{FF2B5EF4-FFF2-40B4-BE49-F238E27FC236}">
                <a16:creationId xmlns:a16="http://schemas.microsoft.com/office/drawing/2014/main" id="{FCFEF449-C62C-8BF0-2102-18A0490A7142}"/>
              </a:ext>
            </a:extLst>
          </p:cNvPr>
          <p:cNvSpPr/>
          <p:nvPr/>
        </p:nvSpPr>
        <p:spPr>
          <a:xfrm>
            <a:off x="7076840" y="5806363"/>
            <a:ext cx="4112241" cy="882635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Tool</a:t>
            </a: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 e</a:t>
            </a:r>
            <a:r>
              <a:rPr lang="en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asy to use and simpler to work with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1154;p17">
            <a:extLst>
              <a:ext uri="{FF2B5EF4-FFF2-40B4-BE49-F238E27FC236}">
                <a16:creationId xmlns:a16="http://schemas.microsoft.com/office/drawing/2014/main" id="{DC3EB95F-B59E-E4D0-919B-2666587230C4}"/>
              </a:ext>
            </a:extLst>
          </p:cNvPr>
          <p:cNvSpPr/>
          <p:nvPr/>
        </p:nvSpPr>
        <p:spPr>
          <a:xfrm>
            <a:off x="602044" y="2293312"/>
            <a:ext cx="2057116" cy="671494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Boot-</a:t>
            </a:r>
            <a:r>
              <a:rPr lang="en"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"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" name="Google Shape;1155;p17">
            <a:extLst>
              <a:ext uri="{FF2B5EF4-FFF2-40B4-BE49-F238E27FC236}">
                <a16:creationId xmlns:a16="http://schemas.microsoft.com/office/drawing/2014/main" id="{A3B4BB19-F295-AC7C-3F83-A25F9A672BBC}"/>
              </a:ext>
            </a:extLst>
          </p:cNvPr>
          <p:cNvGrpSpPr/>
          <p:nvPr/>
        </p:nvGrpSpPr>
        <p:grpSpPr>
          <a:xfrm>
            <a:off x="602044" y="1834877"/>
            <a:ext cx="10587037" cy="451752"/>
            <a:chOff x="841376" y="1637954"/>
            <a:chExt cx="10585449" cy="432159"/>
          </a:xfrm>
        </p:grpSpPr>
        <p:sp>
          <p:nvSpPr>
            <p:cNvPr id="52" name="Google Shape;1156;p17">
              <a:extLst>
                <a:ext uri="{FF2B5EF4-FFF2-40B4-BE49-F238E27FC236}">
                  <a16:creationId xmlns:a16="http://schemas.microsoft.com/office/drawing/2014/main" id="{85DA5AC5-60C7-F944-3C80-474BB0A2083A}"/>
                </a:ext>
              </a:extLst>
            </p:cNvPr>
            <p:cNvSpPr/>
            <p:nvPr/>
          </p:nvSpPr>
          <p:spPr>
            <a:xfrm>
              <a:off x="841376" y="1637954"/>
              <a:ext cx="2056807" cy="432159"/>
            </a:xfrm>
            <a:prstGeom prst="rect">
              <a:avLst/>
            </a:prstGeom>
            <a:solidFill>
              <a:schemeClr val="accent3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1157;p17">
              <a:extLst>
                <a:ext uri="{FF2B5EF4-FFF2-40B4-BE49-F238E27FC236}">
                  <a16:creationId xmlns:a16="http://schemas.microsoft.com/office/drawing/2014/main" id="{12AADBE3-FA2B-0A11-80E9-5AD2EF4786CF}"/>
                </a:ext>
              </a:extLst>
            </p:cNvPr>
            <p:cNvSpPr/>
            <p:nvPr/>
          </p:nvSpPr>
          <p:spPr>
            <a:xfrm>
              <a:off x="2898183" y="1637954"/>
              <a:ext cx="4417017" cy="432159"/>
            </a:xfrm>
            <a:prstGeom prst="rect">
              <a:avLst/>
            </a:prstGeom>
            <a:solidFill>
              <a:schemeClr val="accent3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Docker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158;p17">
              <a:extLst>
                <a:ext uri="{FF2B5EF4-FFF2-40B4-BE49-F238E27FC236}">
                  <a16:creationId xmlns:a16="http://schemas.microsoft.com/office/drawing/2014/main" id="{678B837A-BC26-A541-26CC-046238EF4C0B}"/>
                </a:ext>
              </a:extLst>
            </p:cNvPr>
            <p:cNvSpPr/>
            <p:nvPr/>
          </p:nvSpPr>
          <p:spPr>
            <a:xfrm>
              <a:off x="7315201" y="1637954"/>
              <a:ext cx="4111624" cy="432159"/>
            </a:xfrm>
            <a:prstGeom prst="rect">
              <a:avLst/>
            </a:prstGeom>
            <a:solidFill>
              <a:schemeClr val="accent3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Virtual Machines (VMs)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9286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163;p18">
            <a:extLst>
              <a:ext uri="{FF2B5EF4-FFF2-40B4-BE49-F238E27FC236}">
                <a16:creationId xmlns:a16="http://schemas.microsoft.com/office/drawing/2014/main" id="{6660A3A0-DEAF-9ED7-9F66-DA985632CF7F}"/>
              </a:ext>
            </a:extLst>
          </p:cNvPr>
          <p:cNvSpPr txBox="1"/>
          <p:nvPr/>
        </p:nvSpPr>
        <p:spPr>
          <a:xfrm>
            <a:off x="1616304" y="1244544"/>
            <a:ext cx="8789200" cy="5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VIRTUAL MACHINES AND CONTAINERS </a:t>
            </a:r>
            <a:endParaRPr sz="1467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1164;p18">
            <a:extLst>
              <a:ext uri="{FF2B5EF4-FFF2-40B4-BE49-F238E27FC236}">
                <a16:creationId xmlns:a16="http://schemas.microsoft.com/office/drawing/2014/main" id="{F79E413C-5A33-EE4B-16F6-C84C1770D67D}"/>
              </a:ext>
            </a:extLst>
          </p:cNvPr>
          <p:cNvGrpSpPr/>
          <p:nvPr/>
        </p:nvGrpSpPr>
        <p:grpSpPr>
          <a:xfrm>
            <a:off x="1123764" y="1971567"/>
            <a:ext cx="9944472" cy="4779836"/>
            <a:chOff x="1125848" y="1452003"/>
            <a:chExt cx="8481185" cy="4608109"/>
          </a:xfrm>
        </p:grpSpPr>
        <p:sp>
          <p:nvSpPr>
            <p:cNvPr id="11" name="Google Shape;1165;p18">
              <a:extLst>
                <a:ext uri="{FF2B5EF4-FFF2-40B4-BE49-F238E27FC236}">
                  <a16:creationId xmlns:a16="http://schemas.microsoft.com/office/drawing/2014/main" id="{BD6E3F32-A029-AA25-051B-917C641CE66C}"/>
                </a:ext>
              </a:extLst>
            </p:cNvPr>
            <p:cNvSpPr/>
            <p:nvPr/>
          </p:nvSpPr>
          <p:spPr>
            <a:xfrm>
              <a:off x="1125848" y="4820651"/>
              <a:ext cx="8479500" cy="5760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Hypervisor</a:t>
              </a: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2" name="Google Shape;1166;p18">
              <a:extLst>
                <a:ext uri="{FF2B5EF4-FFF2-40B4-BE49-F238E27FC236}">
                  <a16:creationId xmlns:a16="http://schemas.microsoft.com/office/drawing/2014/main" id="{57B9B190-129F-E472-8F47-554945AF00A1}"/>
                </a:ext>
              </a:extLst>
            </p:cNvPr>
            <p:cNvGrpSpPr/>
            <p:nvPr/>
          </p:nvGrpSpPr>
          <p:grpSpPr>
            <a:xfrm>
              <a:off x="1126094" y="1452003"/>
              <a:ext cx="8480939" cy="3264411"/>
              <a:chOff x="1126094" y="1452003"/>
              <a:chExt cx="8480939" cy="3264411"/>
            </a:xfrm>
          </p:grpSpPr>
          <p:grpSp>
            <p:nvGrpSpPr>
              <p:cNvPr id="14" name="Google Shape;1167;p18">
                <a:extLst>
                  <a:ext uri="{FF2B5EF4-FFF2-40B4-BE49-F238E27FC236}">
                    <a16:creationId xmlns:a16="http://schemas.microsoft.com/office/drawing/2014/main" id="{087B99C2-CF25-0391-02AD-FD274DE4A9CF}"/>
                  </a:ext>
                </a:extLst>
              </p:cNvPr>
              <p:cNvGrpSpPr/>
              <p:nvPr/>
            </p:nvGrpSpPr>
            <p:grpSpPr>
              <a:xfrm>
                <a:off x="1126094" y="1452003"/>
                <a:ext cx="3991819" cy="3264411"/>
                <a:chOff x="1126094" y="1452003"/>
                <a:chExt cx="3991819" cy="3264411"/>
              </a:xfrm>
            </p:grpSpPr>
            <p:grpSp>
              <p:nvGrpSpPr>
                <p:cNvPr id="27" name="Google Shape;1168;p18">
                  <a:extLst>
                    <a:ext uri="{FF2B5EF4-FFF2-40B4-BE49-F238E27FC236}">
                      <a16:creationId xmlns:a16="http://schemas.microsoft.com/office/drawing/2014/main" id="{19C25D87-9653-5E8E-400D-0BF446D5552B}"/>
                    </a:ext>
                  </a:extLst>
                </p:cNvPr>
                <p:cNvGrpSpPr/>
                <p:nvPr/>
              </p:nvGrpSpPr>
              <p:grpSpPr>
                <a:xfrm>
                  <a:off x="1126094" y="1452003"/>
                  <a:ext cx="3991323" cy="576180"/>
                  <a:chOff x="1866900" y="1316394"/>
                  <a:chExt cx="1923900" cy="523800"/>
                </a:xfrm>
              </p:grpSpPr>
              <p:sp>
                <p:nvSpPr>
                  <p:cNvPr id="36" name="Google Shape;1169;p18">
                    <a:extLst>
                      <a:ext uri="{FF2B5EF4-FFF2-40B4-BE49-F238E27FC236}">
                        <a16:creationId xmlns:a16="http://schemas.microsoft.com/office/drawing/2014/main" id="{BE515D51-51A0-D2B1-DD50-E42A8EBC34BE}"/>
                      </a:ext>
                    </a:extLst>
                  </p:cNvPr>
                  <p:cNvSpPr/>
                  <p:nvPr/>
                </p:nvSpPr>
                <p:spPr>
                  <a:xfrm>
                    <a:off x="1866900" y="1316394"/>
                    <a:ext cx="1923900" cy="523800"/>
                  </a:xfrm>
                  <a:prstGeom prst="roundRect">
                    <a:avLst>
                      <a:gd name="adj" fmla="val 14188"/>
                    </a:avLst>
                  </a:prstGeom>
                  <a:solidFill>
                    <a:srgbClr val="7F7F7F"/>
                  </a:solidFill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endParaRPr sz="2000" b="1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7" name="Google Shape;1170;p18">
                    <a:extLst>
                      <a:ext uri="{FF2B5EF4-FFF2-40B4-BE49-F238E27FC236}">
                        <a16:creationId xmlns:a16="http://schemas.microsoft.com/office/drawing/2014/main" id="{FA65DD60-3D84-9B01-EAB1-16A8F6C18B51}"/>
                      </a:ext>
                    </a:extLst>
                  </p:cNvPr>
                  <p:cNvSpPr/>
                  <p:nvPr/>
                </p:nvSpPr>
                <p:spPr>
                  <a:xfrm>
                    <a:off x="2106141" y="1394580"/>
                    <a:ext cx="1445700" cy="367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lang="en" sz="2000" b="1" i="0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Virtual Machines</a:t>
                    </a:r>
                    <a:endParaRPr sz="2000" b="1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28" name="Google Shape;1171;p18">
                  <a:extLst>
                    <a:ext uri="{FF2B5EF4-FFF2-40B4-BE49-F238E27FC236}">
                      <a16:creationId xmlns:a16="http://schemas.microsoft.com/office/drawing/2014/main" id="{34F7B23F-AFBE-8314-6840-66C0239F26A1}"/>
                    </a:ext>
                  </a:extLst>
                </p:cNvPr>
                <p:cNvGrpSpPr/>
                <p:nvPr/>
              </p:nvGrpSpPr>
              <p:grpSpPr>
                <a:xfrm>
                  <a:off x="1126113" y="2093514"/>
                  <a:ext cx="3991800" cy="2622900"/>
                  <a:chOff x="821647" y="2093514"/>
                  <a:chExt cx="3991800" cy="2622900"/>
                </a:xfrm>
              </p:grpSpPr>
              <p:sp>
                <p:nvSpPr>
                  <p:cNvPr id="29" name="Google Shape;1172;p18">
                    <a:extLst>
                      <a:ext uri="{FF2B5EF4-FFF2-40B4-BE49-F238E27FC236}">
                        <a16:creationId xmlns:a16="http://schemas.microsoft.com/office/drawing/2014/main" id="{EF1CE318-CAEA-AF24-1896-1B2B6D7BDF8D}"/>
                      </a:ext>
                    </a:extLst>
                  </p:cNvPr>
                  <p:cNvSpPr/>
                  <p:nvPr/>
                </p:nvSpPr>
                <p:spPr>
                  <a:xfrm>
                    <a:off x="821647" y="2093514"/>
                    <a:ext cx="3991800" cy="2622900"/>
                  </a:xfrm>
                  <a:prstGeom prst="roundRect">
                    <a:avLst>
                      <a:gd name="adj" fmla="val 5046"/>
                    </a:avLst>
                  </a:prstGeom>
                  <a:noFill/>
                  <a:ln w="25400" cap="flat" cmpd="sng">
                    <a:solidFill>
                      <a:schemeClr val="accent6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 dirty="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0" name="Google Shape;1173;p18">
                    <a:extLst>
                      <a:ext uri="{FF2B5EF4-FFF2-40B4-BE49-F238E27FC236}">
                        <a16:creationId xmlns:a16="http://schemas.microsoft.com/office/drawing/2014/main" id="{72DE2404-BB91-903D-4250-9AF2B5CFDB1A}"/>
                      </a:ext>
                    </a:extLst>
                  </p:cNvPr>
                  <p:cNvSpPr/>
                  <p:nvPr/>
                </p:nvSpPr>
                <p:spPr>
                  <a:xfrm>
                    <a:off x="1154812" y="2612491"/>
                    <a:ext cx="1411800" cy="601200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2857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lang="en" sz="1800" b="0" i="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App 1</a:t>
                    </a:r>
                    <a:endParaRPr sz="18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lang="en" sz="1800" b="0" i="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Bins/Lib</a:t>
                    </a:r>
                    <a:endParaRPr sz="18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1" name="Google Shape;1174;p18">
                    <a:extLst>
                      <a:ext uri="{FF2B5EF4-FFF2-40B4-BE49-F238E27FC236}">
                        <a16:creationId xmlns:a16="http://schemas.microsoft.com/office/drawing/2014/main" id="{C5FA73D7-ED97-C04D-34CB-50BCB8D3364B}"/>
                      </a:ext>
                    </a:extLst>
                  </p:cNvPr>
                  <p:cNvSpPr/>
                  <p:nvPr/>
                </p:nvSpPr>
                <p:spPr>
                  <a:xfrm>
                    <a:off x="3080827" y="2612491"/>
                    <a:ext cx="1399200" cy="650100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2857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lang="en" sz="1800" b="0" i="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App 2</a:t>
                    </a:r>
                    <a:endParaRPr sz="18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lang="en" sz="1800" b="0" i="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Bins/Lib</a:t>
                    </a:r>
                    <a:endParaRPr sz="18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2" name="Google Shape;1175;p18">
                    <a:extLst>
                      <a:ext uri="{FF2B5EF4-FFF2-40B4-BE49-F238E27FC236}">
                        <a16:creationId xmlns:a16="http://schemas.microsoft.com/office/drawing/2014/main" id="{35FE2059-D8E7-4B65-2EFE-650B48AD7E94}"/>
                      </a:ext>
                    </a:extLst>
                  </p:cNvPr>
                  <p:cNvSpPr txBox="1"/>
                  <p:nvPr/>
                </p:nvSpPr>
                <p:spPr>
                  <a:xfrm>
                    <a:off x="1241447" y="2168608"/>
                    <a:ext cx="1202700" cy="3560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lang="en" sz="1800" b="1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Container</a:t>
                    </a:r>
                    <a:endParaRPr sz="1800" b="1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3" name="Google Shape;1176;p18">
                    <a:extLst>
                      <a:ext uri="{FF2B5EF4-FFF2-40B4-BE49-F238E27FC236}">
                        <a16:creationId xmlns:a16="http://schemas.microsoft.com/office/drawing/2014/main" id="{1F4D49FC-210B-E748-6E65-3D2F4D5EE343}"/>
                      </a:ext>
                    </a:extLst>
                  </p:cNvPr>
                  <p:cNvSpPr txBox="1"/>
                  <p:nvPr/>
                </p:nvSpPr>
                <p:spPr>
                  <a:xfrm>
                    <a:off x="3190928" y="2168608"/>
                    <a:ext cx="1202700" cy="3560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lang="en" sz="1800" b="1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Container</a:t>
                    </a:r>
                    <a:endParaRPr sz="1800" b="1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4" name="Google Shape;1177;p18">
                    <a:extLst>
                      <a:ext uri="{FF2B5EF4-FFF2-40B4-BE49-F238E27FC236}">
                        <a16:creationId xmlns:a16="http://schemas.microsoft.com/office/drawing/2014/main" id="{72BA6DAD-A1C8-A975-9E30-A8BAF8F3B4F1}"/>
                      </a:ext>
                    </a:extLst>
                  </p:cNvPr>
                  <p:cNvSpPr/>
                  <p:nvPr/>
                </p:nvSpPr>
                <p:spPr>
                  <a:xfrm>
                    <a:off x="1154812" y="3393060"/>
                    <a:ext cx="3325200" cy="501300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lang="en" sz="1800" b="0" i="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Docker</a:t>
                    </a:r>
                    <a:endParaRPr sz="18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5" name="Google Shape;1178;p18">
                    <a:extLst>
                      <a:ext uri="{FF2B5EF4-FFF2-40B4-BE49-F238E27FC236}">
                        <a16:creationId xmlns:a16="http://schemas.microsoft.com/office/drawing/2014/main" id="{0E9A08F4-4E33-ED2A-D382-20A93423D814}"/>
                      </a:ext>
                    </a:extLst>
                  </p:cNvPr>
                  <p:cNvSpPr/>
                  <p:nvPr/>
                </p:nvSpPr>
                <p:spPr>
                  <a:xfrm>
                    <a:off x="1154812" y="4025036"/>
                    <a:ext cx="3325200" cy="501300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2857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lang="en" sz="1800" b="0" i="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OS</a:t>
                    </a:r>
                    <a:endParaRPr sz="18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</p:grpSp>
          <p:grpSp>
            <p:nvGrpSpPr>
              <p:cNvPr id="15" name="Google Shape;1179;p18">
                <a:extLst>
                  <a:ext uri="{FF2B5EF4-FFF2-40B4-BE49-F238E27FC236}">
                    <a16:creationId xmlns:a16="http://schemas.microsoft.com/office/drawing/2014/main" id="{603D0412-E7F7-B4A9-5B69-A6A0DFDCA6D6}"/>
                  </a:ext>
                </a:extLst>
              </p:cNvPr>
              <p:cNvGrpSpPr/>
              <p:nvPr/>
            </p:nvGrpSpPr>
            <p:grpSpPr>
              <a:xfrm>
                <a:off x="5614026" y="1452003"/>
                <a:ext cx="3993007" cy="3264411"/>
                <a:chOff x="7074166" y="1452003"/>
                <a:chExt cx="3993007" cy="3264411"/>
              </a:xfrm>
            </p:grpSpPr>
            <p:grpSp>
              <p:nvGrpSpPr>
                <p:cNvPr id="16" name="Google Shape;1180;p18">
                  <a:extLst>
                    <a:ext uri="{FF2B5EF4-FFF2-40B4-BE49-F238E27FC236}">
                      <a16:creationId xmlns:a16="http://schemas.microsoft.com/office/drawing/2014/main" id="{4E8B8E61-9D43-0DA2-0F63-EAD2FF261426}"/>
                    </a:ext>
                  </a:extLst>
                </p:cNvPr>
                <p:cNvGrpSpPr/>
                <p:nvPr/>
              </p:nvGrpSpPr>
              <p:grpSpPr>
                <a:xfrm>
                  <a:off x="7074166" y="1452003"/>
                  <a:ext cx="3991323" cy="576180"/>
                  <a:chOff x="8124825" y="1316394"/>
                  <a:chExt cx="1923900" cy="523800"/>
                </a:xfrm>
              </p:grpSpPr>
              <p:sp>
                <p:nvSpPr>
                  <p:cNvPr id="25" name="Google Shape;1181;p18">
                    <a:extLst>
                      <a:ext uri="{FF2B5EF4-FFF2-40B4-BE49-F238E27FC236}">
                        <a16:creationId xmlns:a16="http://schemas.microsoft.com/office/drawing/2014/main" id="{E97E6CFF-2D97-4D76-42BE-ACE2E23E3788}"/>
                      </a:ext>
                    </a:extLst>
                  </p:cNvPr>
                  <p:cNvSpPr/>
                  <p:nvPr/>
                </p:nvSpPr>
                <p:spPr>
                  <a:xfrm>
                    <a:off x="8124825" y="1316394"/>
                    <a:ext cx="1923900" cy="523800"/>
                  </a:xfrm>
                  <a:prstGeom prst="roundRect">
                    <a:avLst>
                      <a:gd name="adj" fmla="val 14188"/>
                    </a:avLst>
                  </a:prstGeom>
                  <a:solidFill>
                    <a:srgbClr val="7F7F7F"/>
                  </a:solidFill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endParaRPr sz="2000" b="1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6" name="Google Shape;1182;p18">
                    <a:extLst>
                      <a:ext uri="{FF2B5EF4-FFF2-40B4-BE49-F238E27FC236}">
                        <a16:creationId xmlns:a16="http://schemas.microsoft.com/office/drawing/2014/main" id="{BD910D79-1C7A-FF94-36A5-CF2CEAA57EE2}"/>
                      </a:ext>
                    </a:extLst>
                  </p:cNvPr>
                  <p:cNvSpPr/>
                  <p:nvPr/>
                </p:nvSpPr>
                <p:spPr>
                  <a:xfrm>
                    <a:off x="8364066" y="1386690"/>
                    <a:ext cx="1445700" cy="383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lang="en" sz="2000" b="1" i="0" u="none" strike="noStrike" cap="none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Virtual Machines</a:t>
                    </a:r>
                    <a:endParaRPr sz="2000" b="1" i="0" u="none" strike="noStrike" cap="none" dirty="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17" name="Google Shape;1183;p18">
                  <a:extLst>
                    <a:ext uri="{FF2B5EF4-FFF2-40B4-BE49-F238E27FC236}">
                      <a16:creationId xmlns:a16="http://schemas.microsoft.com/office/drawing/2014/main" id="{555F15E7-06F1-0310-FDBB-E70CCC54977E}"/>
                    </a:ext>
                  </a:extLst>
                </p:cNvPr>
                <p:cNvGrpSpPr/>
                <p:nvPr/>
              </p:nvGrpSpPr>
              <p:grpSpPr>
                <a:xfrm>
                  <a:off x="7075373" y="2093514"/>
                  <a:ext cx="3991800" cy="2622900"/>
                  <a:chOff x="821647" y="2093514"/>
                  <a:chExt cx="3991800" cy="2622900"/>
                </a:xfrm>
              </p:grpSpPr>
              <p:sp>
                <p:nvSpPr>
                  <p:cNvPr id="18" name="Google Shape;1184;p18">
                    <a:extLst>
                      <a:ext uri="{FF2B5EF4-FFF2-40B4-BE49-F238E27FC236}">
                        <a16:creationId xmlns:a16="http://schemas.microsoft.com/office/drawing/2014/main" id="{A26A9F3F-1A26-03F4-718F-50786FB5326E}"/>
                      </a:ext>
                    </a:extLst>
                  </p:cNvPr>
                  <p:cNvSpPr/>
                  <p:nvPr/>
                </p:nvSpPr>
                <p:spPr>
                  <a:xfrm>
                    <a:off x="821647" y="2093514"/>
                    <a:ext cx="3991800" cy="2622900"/>
                  </a:xfrm>
                  <a:prstGeom prst="roundRect">
                    <a:avLst>
                      <a:gd name="adj" fmla="val 5627"/>
                    </a:avLst>
                  </a:prstGeom>
                  <a:noFill/>
                  <a:ln w="25400" cap="flat" cmpd="sng">
                    <a:solidFill>
                      <a:schemeClr val="accent6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9" name="Google Shape;1185;p18">
                    <a:extLst>
                      <a:ext uri="{FF2B5EF4-FFF2-40B4-BE49-F238E27FC236}">
                        <a16:creationId xmlns:a16="http://schemas.microsoft.com/office/drawing/2014/main" id="{E8689FF1-52ED-957C-45BB-5B3E2DAEE20B}"/>
                      </a:ext>
                    </a:extLst>
                  </p:cNvPr>
                  <p:cNvSpPr/>
                  <p:nvPr/>
                </p:nvSpPr>
                <p:spPr>
                  <a:xfrm>
                    <a:off x="1154812" y="2612491"/>
                    <a:ext cx="1411800" cy="601200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2857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lang="en" sz="1800" b="0" i="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App 3</a:t>
                    </a:r>
                    <a:endParaRPr sz="18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lang="en" sz="1800" b="0" i="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Bins/Lib</a:t>
                    </a:r>
                    <a:endParaRPr sz="18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0" name="Google Shape;1186;p18">
                    <a:extLst>
                      <a:ext uri="{FF2B5EF4-FFF2-40B4-BE49-F238E27FC236}">
                        <a16:creationId xmlns:a16="http://schemas.microsoft.com/office/drawing/2014/main" id="{D512FF0A-BC75-7943-6B48-7379F777C387}"/>
                      </a:ext>
                    </a:extLst>
                  </p:cNvPr>
                  <p:cNvSpPr/>
                  <p:nvPr/>
                </p:nvSpPr>
                <p:spPr>
                  <a:xfrm>
                    <a:off x="3080827" y="2612491"/>
                    <a:ext cx="1399200" cy="650100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2857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lang="en" sz="1800" b="0" i="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App 4</a:t>
                    </a:r>
                    <a:endParaRPr sz="18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lang="en" sz="1800" b="0" i="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Bins/Lib</a:t>
                    </a:r>
                    <a:endParaRPr sz="18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1" name="Google Shape;1187;p18">
                    <a:extLst>
                      <a:ext uri="{FF2B5EF4-FFF2-40B4-BE49-F238E27FC236}">
                        <a16:creationId xmlns:a16="http://schemas.microsoft.com/office/drawing/2014/main" id="{FBCC7A59-C1EA-980D-5D56-8C249BEB1C62}"/>
                      </a:ext>
                    </a:extLst>
                  </p:cNvPr>
                  <p:cNvSpPr txBox="1"/>
                  <p:nvPr/>
                </p:nvSpPr>
                <p:spPr>
                  <a:xfrm>
                    <a:off x="1241447" y="2168608"/>
                    <a:ext cx="1202700" cy="3560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lang="en" sz="1800" b="1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Container</a:t>
                    </a:r>
                    <a:endParaRPr sz="1800" b="1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2" name="Google Shape;1188;p18">
                    <a:extLst>
                      <a:ext uri="{FF2B5EF4-FFF2-40B4-BE49-F238E27FC236}">
                        <a16:creationId xmlns:a16="http://schemas.microsoft.com/office/drawing/2014/main" id="{34BB1295-73C6-FAA9-7637-741CBE3B0767}"/>
                      </a:ext>
                    </a:extLst>
                  </p:cNvPr>
                  <p:cNvSpPr txBox="1"/>
                  <p:nvPr/>
                </p:nvSpPr>
                <p:spPr>
                  <a:xfrm>
                    <a:off x="3190928" y="2168608"/>
                    <a:ext cx="1202700" cy="3560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lang="en" sz="1800" b="1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Container</a:t>
                    </a:r>
                    <a:endParaRPr sz="1800" b="1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3" name="Google Shape;1189;p18">
                    <a:extLst>
                      <a:ext uri="{FF2B5EF4-FFF2-40B4-BE49-F238E27FC236}">
                        <a16:creationId xmlns:a16="http://schemas.microsoft.com/office/drawing/2014/main" id="{2DAE3BBE-9DC1-E9A0-3828-9D3A4EB6025E}"/>
                      </a:ext>
                    </a:extLst>
                  </p:cNvPr>
                  <p:cNvSpPr/>
                  <p:nvPr/>
                </p:nvSpPr>
                <p:spPr>
                  <a:xfrm>
                    <a:off x="1154812" y="3393060"/>
                    <a:ext cx="3325200" cy="501300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2857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lang="en" sz="1800" b="0" i="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Docker</a:t>
                    </a:r>
                    <a:endParaRPr sz="18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4" name="Google Shape;1190;p18">
                    <a:extLst>
                      <a:ext uri="{FF2B5EF4-FFF2-40B4-BE49-F238E27FC236}">
                        <a16:creationId xmlns:a16="http://schemas.microsoft.com/office/drawing/2014/main" id="{C39918CF-DE31-F151-31C1-711B248917DC}"/>
                      </a:ext>
                    </a:extLst>
                  </p:cNvPr>
                  <p:cNvSpPr/>
                  <p:nvPr/>
                </p:nvSpPr>
                <p:spPr>
                  <a:xfrm>
                    <a:off x="1154812" y="4025036"/>
                    <a:ext cx="3325200" cy="501300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2857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lang="en" sz="1800" b="0" i="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OS</a:t>
                    </a:r>
                    <a:endParaRPr sz="18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</p:grpSp>
        </p:grpSp>
        <p:sp>
          <p:nvSpPr>
            <p:cNvPr id="13" name="Google Shape;1191;p18">
              <a:extLst>
                <a:ext uri="{FF2B5EF4-FFF2-40B4-BE49-F238E27FC236}">
                  <a16:creationId xmlns:a16="http://schemas.microsoft.com/office/drawing/2014/main" id="{34FB3C12-5726-D845-F35E-53CE9BA17553}"/>
                </a:ext>
              </a:extLst>
            </p:cNvPr>
            <p:cNvSpPr/>
            <p:nvPr/>
          </p:nvSpPr>
          <p:spPr>
            <a:xfrm>
              <a:off x="1126112" y="5484112"/>
              <a:ext cx="8479500" cy="5760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Infrastructure</a:t>
              </a: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483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196;p19">
            <a:extLst>
              <a:ext uri="{FF2B5EF4-FFF2-40B4-BE49-F238E27FC236}">
                <a16:creationId xmlns:a16="http://schemas.microsoft.com/office/drawing/2014/main" id="{CD180DE0-345F-9115-42A0-8FEEF809632F}"/>
              </a:ext>
            </a:extLst>
          </p:cNvPr>
          <p:cNvSpPr txBox="1"/>
          <p:nvPr/>
        </p:nvSpPr>
        <p:spPr>
          <a:xfrm>
            <a:off x="2414400" y="1239164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 CASES: VM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197;p19">
            <a:extLst>
              <a:ext uri="{FF2B5EF4-FFF2-40B4-BE49-F238E27FC236}">
                <a16:creationId xmlns:a16="http://schemas.microsoft.com/office/drawing/2014/main" id="{B5A57AC1-43AF-480D-8838-9064E16AF59A}"/>
              </a:ext>
            </a:extLst>
          </p:cNvPr>
          <p:cNvSpPr/>
          <p:nvPr/>
        </p:nvSpPr>
        <p:spPr>
          <a:xfrm>
            <a:off x="1306591" y="2707583"/>
            <a:ext cx="9578817" cy="3343262"/>
          </a:xfrm>
          <a:prstGeom prst="roundRect">
            <a:avLst>
              <a:gd name="adj" fmla="val 4846"/>
            </a:avLst>
          </a:prstGeom>
          <a:noFill/>
          <a:ln w="28575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Virtual Machine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 includes multiple applications on a single server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applications require all the resources and functionalities of the OS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applications need complete isolation and security (since containers provide process-level isolation)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chemeClr val="dk2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Virtual machines (VMs) should be preferred when network components require high performance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258566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202;p20">
            <a:extLst>
              <a:ext uri="{FF2B5EF4-FFF2-40B4-BE49-F238E27FC236}">
                <a16:creationId xmlns:a16="http://schemas.microsoft.com/office/drawing/2014/main" id="{983B53A4-0AB4-7507-A2D4-B88FA142CDBE}"/>
              </a:ext>
            </a:extLst>
          </p:cNvPr>
          <p:cNvSpPr txBox="1"/>
          <p:nvPr/>
        </p:nvSpPr>
        <p:spPr>
          <a:xfrm>
            <a:off x="2414400" y="1321460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 CASES: CONTAINERS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203;p20">
            <a:extLst>
              <a:ext uri="{FF2B5EF4-FFF2-40B4-BE49-F238E27FC236}">
                <a16:creationId xmlns:a16="http://schemas.microsoft.com/office/drawing/2014/main" id="{4C26AA03-B298-9E5E-0059-27B4F14C7AC8}"/>
              </a:ext>
            </a:extLst>
          </p:cNvPr>
          <p:cNvSpPr/>
          <p:nvPr/>
        </p:nvSpPr>
        <p:spPr>
          <a:xfrm>
            <a:off x="1306591" y="2789879"/>
            <a:ext cx="9578817" cy="3343262"/>
          </a:xfrm>
          <a:prstGeom prst="roundRect">
            <a:avLst>
              <a:gd name="adj" fmla="val 4846"/>
            </a:avLst>
          </a:prstGeom>
          <a:noFill/>
          <a:ln w="28575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Container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 is used to maximi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 the number of applications running on a server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applications will be lightweight, and the start-up time</a:t>
            </a: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"/>
                  </a:ext>
                </a:extLst>
              </a:rPr>
              <a:t>will be</a:t>
            </a: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</a:ext>
                </a:extLst>
              </a:rPr>
              <a:t> i</a:t>
            </a: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 milliseconds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applications 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should</a:t>
            </a: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be infrastructure-independent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chemeClr val="dk2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Containers are more cost-efficient than VMs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3875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208;p21">
            <a:extLst>
              <a:ext uri="{FF2B5EF4-FFF2-40B4-BE49-F238E27FC236}">
                <a16:creationId xmlns:a16="http://schemas.microsoft.com/office/drawing/2014/main" id="{6E7C7444-0C63-68B9-EFF2-5F03960D3A80}"/>
              </a:ext>
            </a:extLst>
          </p:cNvPr>
          <p:cNvSpPr txBox="1"/>
          <p:nvPr/>
        </p:nvSpPr>
        <p:spPr>
          <a:xfrm>
            <a:off x="2411800" y="2916725"/>
            <a:ext cx="7368400" cy="102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" sz="6000" b="0" i="0" u="none" strike="noStrike" cap="none">
                <a:solidFill>
                  <a:srgbClr val="FFC000"/>
                </a:solidFill>
                <a:latin typeface="Lato"/>
                <a:ea typeface="Lato"/>
                <a:cs typeface="Lato"/>
                <a:sym typeface="Lato"/>
              </a:rPr>
              <a:t>Docker Vocabulary</a:t>
            </a:r>
            <a:endParaRPr sz="6000" b="0" i="0" u="none" strike="noStrike" cap="none">
              <a:solidFill>
                <a:srgbClr val="FFC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026799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214;p22">
            <a:extLst>
              <a:ext uri="{FF2B5EF4-FFF2-40B4-BE49-F238E27FC236}">
                <a16:creationId xmlns:a16="http://schemas.microsoft.com/office/drawing/2014/main" id="{5B0A97C0-2DBE-E435-883E-0B887DEA2E33}"/>
              </a:ext>
            </a:extLst>
          </p:cNvPr>
          <p:cNvSpPr txBox="1"/>
          <p:nvPr/>
        </p:nvSpPr>
        <p:spPr>
          <a:xfrm>
            <a:off x="1701400" y="1299187"/>
            <a:ext cx="8789200" cy="5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VOCABULARY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1215;p22">
            <a:extLst>
              <a:ext uri="{FF2B5EF4-FFF2-40B4-BE49-F238E27FC236}">
                <a16:creationId xmlns:a16="http://schemas.microsoft.com/office/drawing/2014/main" id="{0C479981-884B-7CCF-D884-F9C2A82DA244}"/>
              </a:ext>
            </a:extLst>
          </p:cNvPr>
          <p:cNvGrpSpPr/>
          <p:nvPr/>
        </p:nvGrpSpPr>
        <p:grpSpPr>
          <a:xfrm>
            <a:off x="2667752" y="4439565"/>
            <a:ext cx="6839378" cy="1090727"/>
            <a:chOff x="7045169" y="3669683"/>
            <a:chExt cx="6839378" cy="1319780"/>
          </a:xfrm>
        </p:grpSpPr>
        <p:sp>
          <p:nvSpPr>
            <p:cNvPr id="11" name="Google Shape;1216;p22">
              <a:extLst>
                <a:ext uri="{FF2B5EF4-FFF2-40B4-BE49-F238E27FC236}">
                  <a16:creationId xmlns:a16="http://schemas.microsoft.com/office/drawing/2014/main" id="{702603AD-E593-553C-3624-6F48A659A009}"/>
                </a:ext>
              </a:extLst>
            </p:cNvPr>
            <p:cNvSpPr/>
            <p:nvPr/>
          </p:nvSpPr>
          <p:spPr>
            <a:xfrm>
              <a:off x="7706230" y="3669683"/>
              <a:ext cx="5943600" cy="1316918"/>
            </a:xfrm>
            <a:custGeom>
              <a:avLst/>
              <a:gdLst/>
              <a:ahLst/>
              <a:cxnLst/>
              <a:rect l="l" t="t" r="r" b="b"/>
              <a:pathLst>
                <a:path w="3702638" h="1316917" extrusionOk="0">
                  <a:moveTo>
                    <a:pt x="0" y="1319717"/>
                  </a:moveTo>
                  <a:lnTo>
                    <a:pt x="0" y="0"/>
                  </a:lnTo>
                  <a:lnTo>
                    <a:pt x="3702893" y="0"/>
                  </a:lnTo>
                  <a:lnTo>
                    <a:pt x="3702893" y="1319717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" name="Google Shape;1217;p22">
              <a:extLst>
                <a:ext uri="{FF2B5EF4-FFF2-40B4-BE49-F238E27FC236}">
                  <a16:creationId xmlns:a16="http://schemas.microsoft.com/office/drawing/2014/main" id="{70D9C9FF-5652-8B8A-0894-092CA65B663F}"/>
                </a:ext>
              </a:extLst>
            </p:cNvPr>
            <p:cNvGrpSpPr/>
            <p:nvPr/>
          </p:nvGrpSpPr>
          <p:grpSpPr>
            <a:xfrm>
              <a:off x="7045169" y="3669747"/>
              <a:ext cx="655278" cy="1316918"/>
              <a:chOff x="7045169" y="3669747"/>
              <a:chExt cx="655278" cy="1316918"/>
            </a:xfrm>
          </p:grpSpPr>
          <p:sp>
            <p:nvSpPr>
              <p:cNvPr id="16" name="Google Shape;1218;p22">
                <a:extLst>
                  <a:ext uri="{FF2B5EF4-FFF2-40B4-BE49-F238E27FC236}">
                    <a16:creationId xmlns:a16="http://schemas.microsoft.com/office/drawing/2014/main" id="{AA2D564A-17B0-5DC8-FFC0-2FC1B5D4A873}"/>
                  </a:ext>
                </a:extLst>
              </p:cNvPr>
              <p:cNvSpPr/>
              <p:nvPr/>
            </p:nvSpPr>
            <p:spPr>
              <a:xfrm>
                <a:off x="7045169" y="3669747"/>
                <a:ext cx="655278" cy="1316918"/>
              </a:xfrm>
              <a:custGeom>
                <a:avLst/>
                <a:gdLst/>
                <a:ahLst/>
                <a:cxnLst/>
                <a:rect l="l" t="t" r="r" b="b"/>
                <a:pathLst>
                  <a:path w="655277" h="1316917" extrusionOk="0">
                    <a:moveTo>
                      <a:pt x="659859" y="1182172"/>
                    </a:moveTo>
                    <a:cubicBezTo>
                      <a:pt x="371409" y="1182172"/>
                      <a:pt x="137545" y="948308"/>
                      <a:pt x="137545" y="659795"/>
                    </a:cubicBezTo>
                    <a:cubicBezTo>
                      <a:pt x="137545" y="371345"/>
                      <a:pt x="371409" y="137417"/>
                      <a:pt x="659859" y="137417"/>
                    </a:cubicBezTo>
                    <a:cubicBezTo>
                      <a:pt x="660240" y="137417"/>
                      <a:pt x="660686" y="137481"/>
                      <a:pt x="661067" y="137481"/>
                    </a:cubicBezTo>
                    <a:lnTo>
                      <a:pt x="661067" y="0"/>
                    </a:lnTo>
                    <a:cubicBezTo>
                      <a:pt x="660686" y="0"/>
                      <a:pt x="660304" y="0"/>
                      <a:pt x="659859" y="0"/>
                    </a:cubicBezTo>
                    <a:cubicBezTo>
                      <a:pt x="295448" y="0"/>
                      <a:pt x="0" y="295448"/>
                      <a:pt x="0" y="659858"/>
                    </a:cubicBezTo>
                    <a:cubicBezTo>
                      <a:pt x="0" y="1024333"/>
                      <a:pt x="295448" y="1319717"/>
                      <a:pt x="659859" y="1319717"/>
                    </a:cubicBezTo>
                    <a:cubicBezTo>
                      <a:pt x="660240" y="1319717"/>
                      <a:pt x="660622" y="1319653"/>
                      <a:pt x="661067" y="1319653"/>
                    </a:cubicBezTo>
                    <a:lnTo>
                      <a:pt x="661067" y="1182172"/>
                    </a:lnTo>
                    <a:cubicBezTo>
                      <a:pt x="660686" y="1182172"/>
                      <a:pt x="660240" y="1182172"/>
                      <a:pt x="659859" y="1182172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1219;p22">
                <a:extLst>
                  <a:ext uri="{FF2B5EF4-FFF2-40B4-BE49-F238E27FC236}">
                    <a16:creationId xmlns:a16="http://schemas.microsoft.com/office/drawing/2014/main" id="{950D30D5-6DB6-CBED-7B55-AD514E3A3E20}"/>
                  </a:ext>
                </a:extLst>
              </p:cNvPr>
              <p:cNvSpPr/>
              <p:nvPr/>
            </p:nvSpPr>
            <p:spPr>
              <a:xfrm>
                <a:off x="7045169" y="3669811"/>
                <a:ext cx="655278" cy="655278"/>
              </a:xfrm>
              <a:custGeom>
                <a:avLst/>
                <a:gdLst/>
                <a:ahLst/>
                <a:cxnLst/>
                <a:rect l="l" t="t" r="r" b="b"/>
                <a:pathLst>
                  <a:path w="655277" h="655277" extrusionOk="0">
                    <a:moveTo>
                      <a:pt x="659859" y="137417"/>
                    </a:moveTo>
                    <a:cubicBezTo>
                      <a:pt x="660240" y="137417"/>
                      <a:pt x="660686" y="137481"/>
                      <a:pt x="661067" y="137481"/>
                    </a:cubicBezTo>
                    <a:lnTo>
                      <a:pt x="661067" y="0"/>
                    </a:lnTo>
                    <a:cubicBezTo>
                      <a:pt x="660686" y="0"/>
                      <a:pt x="660304" y="0"/>
                      <a:pt x="659859" y="0"/>
                    </a:cubicBezTo>
                    <a:cubicBezTo>
                      <a:pt x="295448" y="-64"/>
                      <a:pt x="0" y="295384"/>
                      <a:pt x="0" y="659795"/>
                    </a:cubicBezTo>
                    <a:lnTo>
                      <a:pt x="137481" y="659795"/>
                    </a:lnTo>
                    <a:cubicBezTo>
                      <a:pt x="137481" y="371282"/>
                      <a:pt x="371345" y="137417"/>
                      <a:pt x="659859" y="137417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" name="Google Shape;1220;p22">
              <a:extLst>
                <a:ext uri="{FF2B5EF4-FFF2-40B4-BE49-F238E27FC236}">
                  <a16:creationId xmlns:a16="http://schemas.microsoft.com/office/drawing/2014/main" id="{385EFCA0-B552-2ADC-AB5D-21AA3EFEF93C}"/>
                </a:ext>
              </a:extLst>
            </p:cNvPr>
            <p:cNvSpPr/>
            <p:nvPr/>
          </p:nvSpPr>
          <p:spPr>
            <a:xfrm>
              <a:off x="13637659" y="3669683"/>
              <a:ext cx="246888" cy="1316918"/>
            </a:xfrm>
            <a:custGeom>
              <a:avLst/>
              <a:gdLst/>
              <a:ahLst/>
              <a:cxnLst/>
              <a:rect l="l" t="t" r="r" b="b"/>
              <a:pathLst>
                <a:path w="248114" h="1316917" extrusionOk="0">
                  <a:moveTo>
                    <a:pt x="0" y="1319717"/>
                  </a:moveTo>
                  <a:lnTo>
                    <a:pt x="0" y="0"/>
                  </a:lnTo>
                  <a:lnTo>
                    <a:pt x="252632" y="0"/>
                  </a:lnTo>
                  <a:lnTo>
                    <a:pt x="252632" y="1319717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221;p22">
              <a:extLst>
                <a:ext uri="{FF2B5EF4-FFF2-40B4-BE49-F238E27FC236}">
                  <a16:creationId xmlns:a16="http://schemas.microsoft.com/office/drawing/2014/main" id="{D13C0363-40C1-A87E-DF7A-C8F2D3FD12FF}"/>
                </a:ext>
              </a:extLst>
            </p:cNvPr>
            <p:cNvSpPr/>
            <p:nvPr/>
          </p:nvSpPr>
          <p:spPr>
            <a:xfrm>
              <a:off x="7698220" y="3669747"/>
              <a:ext cx="5943600" cy="44533"/>
            </a:xfrm>
            <a:custGeom>
              <a:avLst/>
              <a:gdLst/>
              <a:ahLst/>
              <a:cxnLst/>
              <a:rect l="l" t="t" r="r" b="b"/>
              <a:pathLst>
                <a:path w="3715362" h="44533" extrusionOk="0">
                  <a:moveTo>
                    <a:pt x="0" y="0"/>
                  </a:moveTo>
                  <a:lnTo>
                    <a:pt x="3715362" y="0"/>
                  </a:lnTo>
                  <a:lnTo>
                    <a:pt x="3715362" y="44534"/>
                  </a:lnTo>
                  <a:lnTo>
                    <a:pt x="0" y="44534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222;p22">
              <a:extLst>
                <a:ext uri="{FF2B5EF4-FFF2-40B4-BE49-F238E27FC236}">
                  <a16:creationId xmlns:a16="http://schemas.microsoft.com/office/drawing/2014/main" id="{D0E9408A-6951-BAC8-3E71-A63A39401EC1}"/>
                </a:ext>
              </a:extLst>
            </p:cNvPr>
            <p:cNvSpPr/>
            <p:nvPr/>
          </p:nvSpPr>
          <p:spPr>
            <a:xfrm>
              <a:off x="7698220" y="4944930"/>
              <a:ext cx="5943600" cy="44533"/>
            </a:xfrm>
            <a:custGeom>
              <a:avLst/>
              <a:gdLst/>
              <a:ahLst/>
              <a:cxnLst/>
              <a:rect l="l" t="t" r="r" b="b"/>
              <a:pathLst>
                <a:path w="3715362" h="44533" extrusionOk="0">
                  <a:moveTo>
                    <a:pt x="0" y="0"/>
                  </a:moveTo>
                  <a:lnTo>
                    <a:pt x="3715362" y="0"/>
                  </a:lnTo>
                  <a:lnTo>
                    <a:pt x="3715362" y="44534"/>
                  </a:lnTo>
                  <a:lnTo>
                    <a:pt x="0" y="44534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" name="Google Shape;1223;p22">
            <a:extLst>
              <a:ext uri="{FF2B5EF4-FFF2-40B4-BE49-F238E27FC236}">
                <a16:creationId xmlns:a16="http://schemas.microsoft.com/office/drawing/2014/main" id="{8D72ADB0-FC7E-FC2C-4A8F-B2A968838B8C}"/>
              </a:ext>
            </a:extLst>
          </p:cNvPr>
          <p:cNvGrpSpPr/>
          <p:nvPr/>
        </p:nvGrpSpPr>
        <p:grpSpPr>
          <a:xfrm>
            <a:off x="2861446" y="4582708"/>
            <a:ext cx="973374" cy="804441"/>
            <a:chOff x="7215241" y="3839892"/>
            <a:chExt cx="973374" cy="973374"/>
          </a:xfrm>
        </p:grpSpPr>
        <p:sp>
          <p:nvSpPr>
            <p:cNvPr id="19" name="Google Shape;1224;p22">
              <a:extLst>
                <a:ext uri="{FF2B5EF4-FFF2-40B4-BE49-F238E27FC236}">
                  <a16:creationId xmlns:a16="http://schemas.microsoft.com/office/drawing/2014/main" id="{B432D096-9E64-17A6-EBB0-C86FAF8A9BF2}"/>
                </a:ext>
              </a:extLst>
            </p:cNvPr>
            <p:cNvSpPr/>
            <p:nvPr/>
          </p:nvSpPr>
          <p:spPr>
            <a:xfrm>
              <a:off x="7215241" y="3839892"/>
              <a:ext cx="973374" cy="973374"/>
            </a:xfrm>
            <a:custGeom>
              <a:avLst/>
              <a:gdLst/>
              <a:ahLst/>
              <a:cxnLst/>
              <a:rect l="l" t="t" r="r" b="b"/>
              <a:pathLst>
                <a:path w="973373" h="973373" extrusionOk="0">
                  <a:moveTo>
                    <a:pt x="943661" y="453848"/>
                  </a:moveTo>
                  <a:cubicBezTo>
                    <a:pt x="963524" y="704501"/>
                    <a:pt x="776432" y="923798"/>
                    <a:pt x="525779" y="943661"/>
                  </a:cubicBezTo>
                  <a:cubicBezTo>
                    <a:pt x="275126" y="963524"/>
                    <a:pt x="55829" y="776432"/>
                    <a:pt x="35965" y="525779"/>
                  </a:cubicBezTo>
                  <a:cubicBezTo>
                    <a:pt x="16102" y="275126"/>
                    <a:pt x="203195" y="55829"/>
                    <a:pt x="453848" y="35965"/>
                  </a:cubicBezTo>
                  <a:cubicBezTo>
                    <a:pt x="704501" y="16102"/>
                    <a:pt x="923798" y="203195"/>
                    <a:pt x="943661" y="453848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225;p22">
              <a:extLst>
                <a:ext uri="{FF2B5EF4-FFF2-40B4-BE49-F238E27FC236}">
                  <a16:creationId xmlns:a16="http://schemas.microsoft.com/office/drawing/2014/main" id="{144647EE-8861-E014-0128-2888795B7983}"/>
                </a:ext>
              </a:extLst>
            </p:cNvPr>
            <p:cNvSpPr/>
            <p:nvPr/>
          </p:nvSpPr>
          <p:spPr>
            <a:xfrm>
              <a:off x="7249323" y="3874282"/>
              <a:ext cx="909755" cy="451696"/>
            </a:xfrm>
            <a:custGeom>
              <a:avLst/>
              <a:gdLst/>
              <a:ahLst/>
              <a:cxnLst/>
              <a:rect l="l" t="t" r="r" b="b"/>
              <a:pathLst>
                <a:path w="909754" h="451696" extrusionOk="0">
                  <a:moveTo>
                    <a:pt x="456150" y="1"/>
                  </a:moveTo>
                  <a:cubicBezTo>
                    <a:pt x="204727" y="-508"/>
                    <a:pt x="509" y="202946"/>
                    <a:pt x="0" y="454370"/>
                  </a:cubicBezTo>
                  <a:lnTo>
                    <a:pt x="910518" y="456151"/>
                  </a:lnTo>
                  <a:cubicBezTo>
                    <a:pt x="911027" y="204728"/>
                    <a:pt x="707573" y="510"/>
                    <a:pt x="456150" y="1"/>
                  </a:cubicBez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" name="Google Shape;1226;p22">
            <a:extLst>
              <a:ext uri="{FF2B5EF4-FFF2-40B4-BE49-F238E27FC236}">
                <a16:creationId xmlns:a16="http://schemas.microsoft.com/office/drawing/2014/main" id="{5C5D3F4B-41BB-3A38-DF7A-C96B89DD23A8}"/>
              </a:ext>
            </a:extLst>
          </p:cNvPr>
          <p:cNvSpPr txBox="1"/>
          <p:nvPr/>
        </p:nvSpPr>
        <p:spPr>
          <a:xfrm>
            <a:off x="3884573" y="4916728"/>
            <a:ext cx="5333100" cy="483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Comprises components that are responsible for building and containerizing the application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227;p22">
            <a:extLst>
              <a:ext uri="{FF2B5EF4-FFF2-40B4-BE49-F238E27FC236}">
                <a16:creationId xmlns:a16="http://schemas.microsoft.com/office/drawing/2014/main" id="{0DB0B20E-6E28-FB32-F543-A058C808154B}"/>
              </a:ext>
            </a:extLst>
          </p:cNvPr>
          <p:cNvSpPr txBox="1"/>
          <p:nvPr/>
        </p:nvSpPr>
        <p:spPr>
          <a:xfrm>
            <a:off x="3884573" y="4578167"/>
            <a:ext cx="5332987" cy="302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</a:pPr>
            <a:r>
              <a:rPr lang="en" sz="16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Docker Engine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1228;p22">
            <a:extLst>
              <a:ext uri="{FF2B5EF4-FFF2-40B4-BE49-F238E27FC236}">
                <a16:creationId xmlns:a16="http://schemas.microsoft.com/office/drawing/2014/main" id="{E54AA761-40F2-CA24-439D-5BB86482F6E1}"/>
              </a:ext>
            </a:extLst>
          </p:cNvPr>
          <p:cNvGrpSpPr/>
          <p:nvPr/>
        </p:nvGrpSpPr>
        <p:grpSpPr>
          <a:xfrm>
            <a:off x="2674602" y="3268094"/>
            <a:ext cx="6841562" cy="1090096"/>
            <a:chOff x="7045169" y="2274132"/>
            <a:chExt cx="6841562" cy="1319017"/>
          </a:xfrm>
        </p:grpSpPr>
        <p:grpSp>
          <p:nvGrpSpPr>
            <p:cNvPr id="24" name="Google Shape;1229;p22">
              <a:extLst>
                <a:ext uri="{FF2B5EF4-FFF2-40B4-BE49-F238E27FC236}">
                  <a16:creationId xmlns:a16="http://schemas.microsoft.com/office/drawing/2014/main" id="{C3D4D7C0-EFEF-0359-2517-AEF8AF4A644F}"/>
                </a:ext>
              </a:extLst>
            </p:cNvPr>
            <p:cNvGrpSpPr/>
            <p:nvPr/>
          </p:nvGrpSpPr>
          <p:grpSpPr>
            <a:xfrm>
              <a:off x="7045169" y="2274132"/>
              <a:ext cx="655278" cy="1316918"/>
              <a:chOff x="7045169" y="2274132"/>
              <a:chExt cx="655278" cy="1316918"/>
            </a:xfrm>
          </p:grpSpPr>
          <p:sp>
            <p:nvSpPr>
              <p:cNvPr id="29" name="Google Shape;1230;p22">
                <a:extLst>
                  <a:ext uri="{FF2B5EF4-FFF2-40B4-BE49-F238E27FC236}">
                    <a16:creationId xmlns:a16="http://schemas.microsoft.com/office/drawing/2014/main" id="{3BBFFE49-061F-9DA6-3127-1E87B5C32FF5}"/>
                  </a:ext>
                </a:extLst>
              </p:cNvPr>
              <p:cNvSpPr/>
              <p:nvPr/>
            </p:nvSpPr>
            <p:spPr>
              <a:xfrm>
                <a:off x="7045169" y="2274132"/>
                <a:ext cx="655278" cy="1316918"/>
              </a:xfrm>
              <a:custGeom>
                <a:avLst/>
                <a:gdLst/>
                <a:ahLst/>
                <a:cxnLst/>
                <a:rect l="l" t="t" r="r" b="b"/>
                <a:pathLst>
                  <a:path w="655277" h="1316917" extrusionOk="0">
                    <a:moveTo>
                      <a:pt x="659859" y="1182236"/>
                    </a:moveTo>
                    <a:cubicBezTo>
                      <a:pt x="371409" y="1182236"/>
                      <a:pt x="137545" y="948372"/>
                      <a:pt x="137545" y="659859"/>
                    </a:cubicBezTo>
                    <a:cubicBezTo>
                      <a:pt x="137545" y="371409"/>
                      <a:pt x="371409" y="137545"/>
                      <a:pt x="659859" y="137545"/>
                    </a:cubicBezTo>
                    <a:cubicBezTo>
                      <a:pt x="660240" y="137545"/>
                      <a:pt x="660686" y="137545"/>
                      <a:pt x="661067" y="137545"/>
                    </a:cubicBezTo>
                    <a:lnTo>
                      <a:pt x="661067" y="64"/>
                    </a:lnTo>
                    <a:cubicBezTo>
                      <a:pt x="660686" y="64"/>
                      <a:pt x="660304" y="0"/>
                      <a:pt x="659859" y="0"/>
                    </a:cubicBezTo>
                    <a:cubicBezTo>
                      <a:pt x="295448" y="0"/>
                      <a:pt x="0" y="295448"/>
                      <a:pt x="0" y="659859"/>
                    </a:cubicBezTo>
                    <a:cubicBezTo>
                      <a:pt x="0" y="1024333"/>
                      <a:pt x="295448" y="1319717"/>
                      <a:pt x="659859" y="1319717"/>
                    </a:cubicBezTo>
                    <a:cubicBezTo>
                      <a:pt x="660240" y="1319717"/>
                      <a:pt x="660622" y="1319717"/>
                      <a:pt x="661067" y="1319717"/>
                    </a:cubicBezTo>
                    <a:lnTo>
                      <a:pt x="661067" y="1182236"/>
                    </a:lnTo>
                    <a:cubicBezTo>
                      <a:pt x="660686" y="1182172"/>
                      <a:pt x="660240" y="1182236"/>
                      <a:pt x="659859" y="1182236"/>
                    </a:cubicBezTo>
                    <a:close/>
                  </a:path>
                </a:pathLst>
              </a:custGeom>
              <a:solidFill>
                <a:srgbClr val="4890E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1231;p22">
                <a:extLst>
                  <a:ext uri="{FF2B5EF4-FFF2-40B4-BE49-F238E27FC236}">
                    <a16:creationId xmlns:a16="http://schemas.microsoft.com/office/drawing/2014/main" id="{888E247E-D3FC-793F-9663-FA2747964A84}"/>
                  </a:ext>
                </a:extLst>
              </p:cNvPr>
              <p:cNvSpPr/>
              <p:nvPr/>
            </p:nvSpPr>
            <p:spPr>
              <a:xfrm>
                <a:off x="7045169" y="2274132"/>
                <a:ext cx="655278" cy="655278"/>
              </a:xfrm>
              <a:custGeom>
                <a:avLst/>
                <a:gdLst/>
                <a:ahLst/>
                <a:cxnLst/>
                <a:rect l="l" t="t" r="r" b="b"/>
                <a:pathLst>
                  <a:path w="655277" h="655277" extrusionOk="0">
                    <a:moveTo>
                      <a:pt x="0" y="659859"/>
                    </a:moveTo>
                    <a:cubicBezTo>
                      <a:pt x="0" y="659859"/>
                      <a:pt x="0" y="659859"/>
                      <a:pt x="0" y="659859"/>
                    </a:cubicBezTo>
                    <a:lnTo>
                      <a:pt x="137481" y="659859"/>
                    </a:lnTo>
                    <a:cubicBezTo>
                      <a:pt x="137481" y="659859"/>
                      <a:pt x="137481" y="659859"/>
                      <a:pt x="137481" y="659859"/>
                    </a:cubicBezTo>
                    <a:cubicBezTo>
                      <a:pt x="137481" y="371409"/>
                      <a:pt x="371345" y="137545"/>
                      <a:pt x="659795" y="137545"/>
                    </a:cubicBezTo>
                    <a:cubicBezTo>
                      <a:pt x="660177" y="137545"/>
                      <a:pt x="660622" y="137545"/>
                      <a:pt x="661004" y="137545"/>
                    </a:cubicBezTo>
                    <a:lnTo>
                      <a:pt x="661004" y="64"/>
                    </a:lnTo>
                    <a:cubicBezTo>
                      <a:pt x="660622" y="64"/>
                      <a:pt x="660240" y="0"/>
                      <a:pt x="659795" y="0"/>
                    </a:cubicBezTo>
                    <a:cubicBezTo>
                      <a:pt x="295448" y="0"/>
                      <a:pt x="0" y="295448"/>
                      <a:pt x="0" y="659859"/>
                    </a:cubicBezTo>
                    <a:close/>
                  </a:path>
                </a:pathLst>
              </a:custGeom>
              <a:solidFill>
                <a:srgbClr val="387FC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Google Shape;1232;p22">
              <a:extLst>
                <a:ext uri="{FF2B5EF4-FFF2-40B4-BE49-F238E27FC236}">
                  <a16:creationId xmlns:a16="http://schemas.microsoft.com/office/drawing/2014/main" id="{565D72F7-3151-452E-606B-697D5533071E}"/>
                </a:ext>
              </a:extLst>
            </p:cNvPr>
            <p:cNvSpPr/>
            <p:nvPr/>
          </p:nvSpPr>
          <p:spPr>
            <a:xfrm>
              <a:off x="7706209" y="2319397"/>
              <a:ext cx="5943600" cy="1227851"/>
            </a:xfrm>
            <a:custGeom>
              <a:avLst/>
              <a:gdLst/>
              <a:ahLst/>
              <a:cxnLst/>
              <a:rect l="l" t="t" r="r" b="b"/>
              <a:pathLst>
                <a:path w="3702638" h="1227850" extrusionOk="0">
                  <a:moveTo>
                    <a:pt x="0" y="1229251"/>
                  </a:moveTo>
                  <a:lnTo>
                    <a:pt x="0" y="0"/>
                  </a:lnTo>
                  <a:lnTo>
                    <a:pt x="3702893" y="0"/>
                  </a:lnTo>
                  <a:lnTo>
                    <a:pt x="3702893" y="122925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233;p22">
              <a:extLst>
                <a:ext uri="{FF2B5EF4-FFF2-40B4-BE49-F238E27FC236}">
                  <a16:creationId xmlns:a16="http://schemas.microsoft.com/office/drawing/2014/main" id="{492AB619-01FB-AD61-DA38-A62CD45FC0FA}"/>
                </a:ext>
              </a:extLst>
            </p:cNvPr>
            <p:cNvSpPr/>
            <p:nvPr/>
          </p:nvSpPr>
          <p:spPr>
            <a:xfrm>
              <a:off x="13639843" y="2274132"/>
              <a:ext cx="246888" cy="1316918"/>
            </a:xfrm>
            <a:custGeom>
              <a:avLst/>
              <a:gdLst/>
              <a:ahLst/>
              <a:cxnLst/>
              <a:rect l="l" t="t" r="r" b="b"/>
              <a:pathLst>
                <a:path w="248114" h="1316917" extrusionOk="0">
                  <a:moveTo>
                    <a:pt x="0" y="1319717"/>
                  </a:moveTo>
                  <a:lnTo>
                    <a:pt x="0" y="0"/>
                  </a:lnTo>
                  <a:lnTo>
                    <a:pt x="252632" y="0"/>
                  </a:lnTo>
                  <a:lnTo>
                    <a:pt x="252632" y="1319717"/>
                  </a:lnTo>
                  <a:close/>
                </a:path>
              </a:pathLst>
            </a:custGeom>
            <a:solidFill>
              <a:srgbClr val="4890E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234;p22">
              <a:extLst>
                <a:ext uri="{FF2B5EF4-FFF2-40B4-BE49-F238E27FC236}">
                  <a16:creationId xmlns:a16="http://schemas.microsoft.com/office/drawing/2014/main" id="{DC30FC87-2AD2-2A0B-10CD-C2710B80F591}"/>
                </a:ext>
              </a:extLst>
            </p:cNvPr>
            <p:cNvSpPr/>
            <p:nvPr/>
          </p:nvSpPr>
          <p:spPr>
            <a:xfrm>
              <a:off x="7704582" y="2274132"/>
              <a:ext cx="5943600" cy="44533"/>
            </a:xfrm>
            <a:custGeom>
              <a:avLst/>
              <a:gdLst/>
              <a:ahLst/>
              <a:cxnLst/>
              <a:rect l="l" t="t" r="r" b="b"/>
              <a:pathLst>
                <a:path w="3709000" h="44533" extrusionOk="0">
                  <a:moveTo>
                    <a:pt x="0" y="0"/>
                  </a:moveTo>
                  <a:lnTo>
                    <a:pt x="3709001" y="0"/>
                  </a:lnTo>
                  <a:lnTo>
                    <a:pt x="3709001" y="44533"/>
                  </a:lnTo>
                  <a:lnTo>
                    <a:pt x="0" y="44533"/>
                  </a:lnTo>
                  <a:close/>
                </a:path>
              </a:pathLst>
            </a:custGeom>
            <a:solidFill>
              <a:srgbClr val="387FC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1235;p22">
              <a:extLst>
                <a:ext uri="{FF2B5EF4-FFF2-40B4-BE49-F238E27FC236}">
                  <a16:creationId xmlns:a16="http://schemas.microsoft.com/office/drawing/2014/main" id="{15049958-F11B-F1C2-1C30-1D5449B552A6}"/>
                </a:ext>
              </a:extLst>
            </p:cNvPr>
            <p:cNvSpPr/>
            <p:nvPr/>
          </p:nvSpPr>
          <p:spPr>
            <a:xfrm>
              <a:off x="7698220" y="3548616"/>
              <a:ext cx="5943600" cy="44533"/>
            </a:xfrm>
            <a:custGeom>
              <a:avLst/>
              <a:gdLst/>
              <a:ahLst/>
              <a:cxnLst/>
              <a:rect l="l" t="t" r="r" b="b"/>
              <a:pathLst>
                <a:path w="3715362" h="44533" extrusionOk="0">
                  <a:moveTo>
                    <a:pt x="0" y="0"/>
                  </a:moveTo>
                  <a:lnTo>
                    <a:pt x="3715362" y="0"/>
                  </a:lnTo>
                  <a:lnTo>
                    <a:pt x="3715362" y="44533"/>
                  </a:lnTo>
                  <a:lnTo>
                    <a:pt x="0" y="44533"/>
                  </a:lnTo>
                  <a:close/>
                </a:path>
              </a:pathLst>
            </a:custGeom>
            <a:solidFill>
              <a:srgbClr val="4890E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" name="Google Shape;1236;p22">
            <a:extLst>
              <a:ext uri="{FF2B5EF4-FFF2-40B4-BE49-F238E27FC236}">
                <a16:creationId xmlns:a16="http://schemas.microsoft.com/office/drawing/2014/main" id="{32CA3CF6-E56F-E2EE-E5CE-817D8A0FBA3D}"/>
              </a:ext>
            </a:extLst>
          </p:cNvPr>
          <p:cNvGrpSpPr/>
          <p:nvPr/>
        </p:nvGrpSpPr>
        <p:grpSpPr>
          <a:xfrm>
            <a:off x="2893256" y="3437210"/>
            <a:ext cx="909755" cy="751864"/>
            <a:chOff x="7249768" y="2478731"/>
            <a:chExt cx="909755" cy="909755"/>
          </a:xfrm>
        </p:grpSpPr>
        <p:sp>
          <p:nvSpPr>
            <p:cNvPr id="32" name="Google Shape;1237;p22">
              <a:extLst>
                <a:ext uri="{FF2B5EF4-FFF2-40B4-BE49-F238E27FC236}">
                  <a16:creationId xmlns:a16="http://schemas.microsoft.com/office/drawing/2014/main" id="{9631507B-6260-B24A-2938-11FF130D80E4}"/>
                </a:ext>
              </a:extLst>
            </p:cNvPr>
            <p:cNvSpPr/>
            <p:nvPr/>
          </p:nvSpPr>
          <p:spPr>
            <a:xfrm>
              <a:off x="7249768" y="2478731"/>
              <a:ext cx="909755" cy="909755"/>
            </a:xfrm>
            <a:custGeom>
              <a:avLst/>
              <a:gdLst/>
              <a:ahLst/>
              <a:cxnLst/>
              <a:rect l="l" t="t" r="r" b="b"/>
              <a:pathLst>
                <a:path w="909754" h="909754" extrusionOk="0">
                  <a:moveTo>
                    <a:pt x="455259" y="0"/>
                  </a:moveTo>
                  <a:cubicBezTo>
                    <a:pt x="706682" y="0"/>
                    <a:pt x="910518" y="203836"/>
                    <a:pt x="910518" y="455259"/>
                  </a:cubicBezTo>
                  <a:cubicBezTo>
                    <a:pt x="910518" y="706746"/>
                    <a:pt x="706682" y="910518"/>
                    <a:pt x="455259" y="910518"/>
                  </a:cubicBezTo>
                  <a:cubicBezTo>
                    <a:pt x="203836" y="910518"/>
                    <a:pt x="0" y="706682"/>
                    <a:pt x="0" y="455259"/>
                  </a:cubicBezTo>
                  <a:cubicBezTo>
                    <a:pt x="0" y="203836"/>
                    <a:pt x="203836" y="0"/>
                    <a:pt x="455259" y="0"/>
                  </a:cubicBezTo>
                  <a:close/>
                </a:path>
              </a:pathLst>
            </a:custGeom>
            <a:solidFill>
              <a:srgbClr val="4890E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1238;p22">
              <a:extLst>
                <a:ext uri="{FF2B5EF4-FFF2-40B4-BE49-F238E27FC236}">
                  <a16:creationId xmlns:a16="http://schemas.microsoft.com/office/drawing/2014/main" id="{43B7E266-D7A3-65D5-6ACB-E7FAF11E4F45}"/>
                </a:ext>
              </a:extLst>
            </p:cNvPr>
            <p:cNvSpPr/>
            <p:nvPr/>
          </p:nvSpPr>
          <p:spPr>
            <a:xfrm>
              <a:off x="7249768" y="2478731"/>
              <a:ext cx="909755" cy="451696"/>
            </a:xfrm>
            <a:custGeom>
              <a:avLst/>
              <a:gdLst/>
              <a:ahLst/>
              <a:cxnLst/>
              <a:rect l="l" t="t" r="r" b="b"/>
              <a:pathLst>
                <a:path w="909754" h="451696" extrusionOk="0">
                  <a:moveTo>
                    <a:pt x="0" y="455259"/>
                  </a:moveTo>
                  <a:lnTo>
                    <a:pt x="0" y="455259"/>
                  </a:lnTo>
                  <a:lnTo>
                    <a:pt x="910518" y="455259"/>
                  </a:lnTo>
                  <a:lnTo>
                    <a:pt x="910518" y="455259"/>
                  </a:lnTo>
                  <a:cubicBezTo>
                    <a:pt x="910518" y="203836"/>
                    <a:pt x="706682" y="0"/>
                    <a:pt x="455259" y="0"/>
                  </a:cubicBezTo>
                  <a:cubicBezTo>
                    <a:pt x="203836" y="0"/>
                    <a:pt x="0" y="203836"/>
                    <a:pt x="0" y="455259"/>
                  </a:cubicBezTo>
                  <a:close/>
                </a:path>
              </a:pathLst>
            </a:custGeom>
            <a:solidFill>
              <a:srgbClr val="387FC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" name="Google Shape;1239;p22">
            <a:extLst>
              <a:ext uri="{FF2B5EF4-FFF2-40B4-BE49-F238E27FC236}">
                <a16:creationId xmlns:a16="http://schemas.microsoft.com/office/drawing/2014/main" id="{BDEB443D-ED6D-A430-D1D7-E5DD2A0363F2}"/>
              </a:ext>
            </a:extLst>
          </p:cNvPr>
          <p:cNvSpPr txBox="1"/>
          <p:nvPr/>
        </p:nvSpPr>
        <p:spPr>
          <a:xfrm>
            <a:off x="3884573" y="3818116"/>
            <a:ext cx="5333100" cy="279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Runtime instance of an image</a:t>
            </a:r>
            <a:r>
              <a:rPr lang="en" sz="1400">
                <a:latin typeface="Lato"/>
                <a:ea typeface="Lato"/>
                <a:cs typeface="Lato"/>
                <a:sym typeface="Lato"/>
              </a:rPr>
              <a:t>; read-write b</a:t>
            </a: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y default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240;p22">
            <a:extLst>
              <a:ext uri="{FF2B5EF4-FFF2-40B4-BE49-F238E27FC236}">
                <a16:creationId xmlns:a16="http://schemas.microsoft.com/office/drawing/2014/main" id="{281CFDB5-25B6-793A-FBB4-13A3F8F12BF6}"/>
              </a:ext>
            </a:extLst>
          </p:cNvPr>
          <p:cNvSpPr txBox="1"/>
          <p:nvPr/>
        </p:nvSpPr>
        <p:spPr>
          <a:xfrm>
            <a:off x="3884573" y="3527718"/>
            <a:ext cx="5332987" cy="302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</a:pPr>
            <a:r>
              <a:rPr lang="en" sz="16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Docker Container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" name="Google Shape;1241;p22">
            <a:extLst>
              <a:ext uri="{FF2B5EF4-FFF2-40B4-BE49-F238E27FC236}">
                <a16:creationId xmlns:a16="http://schemas.microsoft.com/office/drawing/2014/main" id="{4B25E6B2-6999-5B17-B3DD-D35F08FC7DBC}"/>
              </a:ext>
            </a:extLst>
          </p:cNvPr>
          <p:cNvGrpSpPr/>
          <p:nvPr/>
        </p:nvGrpSpPr>
        <p:grpSpPr>
          <a:xfrm>
            <a:off x="2690292" y="2099294"/>
            <a:ext cx="6814548" cy="1090701"/>
            <a:chOff x="7045169" y="876323"/>
            <a:chExt cx="6814548" cy="1319748"/>
          </a:xfrm>
        </p:grpSpPr>
        <p:sp>
          <p:nvSpPr>
            <p:cNvPr id="37" name="Google Shape;1242;p22">
              <a:extLst>
                <a:ext uri="{FF2B5EF4-FFF2-40B4-BE49-F238E27FC236}">
                  <a16:creationId xmlns:a16="http://schemas.microsoft.com/office/drawing/2014/main" id="{03FD9DC6-889B-A91B-F501-D3C3163BE8D8}"/>
                </a:ext>
              </a:extLst>
            </p:cNvPr>
            <p:cNvSpPr/>
            <p:nvPr/>
          </p:nvSpPr>
          <p:spPr>
            <a:xfrm>
              <a:off x="7706210" y="876323"/>
              <a:ext cx="5943600" cy="1316918"/>
            </a:xfrm>
            <a:custGeom>
              <a:avLst/>
              <a:gdLst/>
              <a:ahLst/>
              <a:cxnLst/>
              <a:rect l="l" t="t" r="r" b="b"/>
              <a:pathLst>
                <a:path w="3702638" h="1316917" extrusionOk="0">
                  <a:moveTo>
                    <a:pt x="0" y="1319717"/>
                  </a:moveTo>
                  <a:lnTo>
                    <a:pt x="0" y="0"/>
                  </a:lnTo>
                  <a:lnTo>
                    <a:pt x="3702893" y="0"/>
                  </a:lnTo>
                  <a:lnTo>
                    <a:pt x="3702893" y="1319717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" name="Google Shape;1243;p22">
              <a:extLst>
                <a:ext uri="{FF2B5EF4-FFF2-40B4-BE49-F238E27FC236}">
                  <a16:creationId xmlns:a16="http://schemas.microsoft.com/office/drawing/2014/main" id="{1E635975-144E-F75D-DC06-E3CD08C42805}"/>
                </a:ext>
              </a:extLst>
            </p:cNvPr>
            <p:cNvGrpSpPr/>
            <p:nvPr/>
          </p:nvGrpSpPr>
          <p:grpSpPr>
            <a:xfrm>
              <a:off x="7045169" y="876354"/>
              <a:ext cx="655278" cy="1316918"/>
              <a:chOff x="7045169" y="876354"/>
              <a:chExt cx="655278" cy="1316918"/>
            </a:xfrm>
          </p:grpSpPr>
          <p:sp>
            <p:nvSpPr>
              <p:cNvPr id="42" name="Google Shape;1244;p22">
                <a:extLst>
                  <a:ext uri="{FF2B5EF4-FFF2-40B4-BE49-F238E27FC236}">
                    <a16:creationId xmlns:a16="http://schemas.microsoft.com/office/drawing/2014/main" id="{7DAB62A9-3A08-B81E-5954-58AE291DFE8E}"/>
                  </a:ext>
                </a:extLst>
              </p:cNvPr>
              <p:cNvSpPr/>
              <p:nvPr/>
            </p:nvSpPr>
            <p:spPr>
              <a:xfrm>
                <a:off x="7045169" y="876354"/>
                <a:ext cx="655278" cy="1316918"/>
              </a:xfrm>
              <a:custGeom>
                <a:avLst/>
                <a:gdLst/>
                <a:ahLst/>
                <a:cxnLst/>
                <a:rect l="l" t="t" r="r" b="b"/>
                <a:pathLst>
                  <a:path w="655277" h="1316917" extrusionOk="0">
                    <a:moveTo>
                      <a:pt x="659859" y="1182236"/>
                    </a:moveTo>
                    <a:cubicBezTo>
                      <a:pt x="371409" y="1182236"/>
                      <a:pt x="137545" y="948372"/>
                      <a:pt x="137545" y="659859"/>
                    </a:cubicBezTo>
                    <a:cubicBezTo>
                      <a:pt x="137545" y="371409"/>
                      <a:pt x="371409" y="137481"/>
                      <a:pt x="659859" y="137481"/>
                    </a:cubicBezTo>
                    <a:cubicBezTo>
                      <a:pt x="660240" y="137481"/>
                      <a:pt x="660686" y="137481"/>
                      <a:pt x="661067" y="137481"/>
                    </a:cubicBezTo>
                    <a:lnTo>
                      <a:pt x="661067" y="0"/>
                    </a:lnTo>
                    <a:cubicBezTo>
                      <a:pt x="660686" y="0"/>
                      <a:pt x="660304" y="0"/>
                      <a:pt x="659859" y="0"/>
                    </a:cubicBezTo>
                    <a:cubicBezTo>
                      <a:pt x="295448" y="0"/>
                      <a:pt x="0" y="295448"/>
                      <a:pt x="0" y="659859"/>
                    </a:cubicBezTo>
                    <a:cubicBezTo>
                      <a:pt x="0" y="1024333"/>
                      <a:pt x="295448" y="1319717"/>
                      <a:pt x="659859" y="1319717"/>
                    </a:cubicBezTo>
                    <a:cubicBezTo>
                      <a:pt x="660240" y="1319717"/>
                      <a:pt x="660622" y="1319717"/>
                      <a:pt x="661067" y="1319717"/>
                    </a:cubicBezTo>
                    <a:lnTo>
                      <a:pt x="661067" y="1182236"/>
                    </a:lnTo>
                    <a:cubicBezTo>
                      <a:pt x="660686" y="1182172"/>
                      <a:pt x="660240" y="1182236"/>
                      <a:pt x="659859" y="1182236"/>
                    </a:cubicBezTo>
                    <a:close/>
                  </a:path>
                </a:pathLst>
              </a:custGeom>
              <a:solidFill>
                <a:srgbClr val="F4AB3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1245;p22">
                <a:extLst>
                  <a:ext uri="{FF2B5EF4-FFF2-40B4-BE49-F238E27FC236}">
                    <a16:creationId xmlns:a16="http://schemas.microsoft.com/office/drawing/2014/main" id="{3CCEF717-58FB-8D97-DAEB-51144ED77E2C}"/>
                  </a:ext>
                </a:extLst>
              </p:cNvPr>
              <p:cNvSpPr/>
              <p:nvPr/>
            </p:nvSpPr>
            <p:spPr>
              <a:xfrm>
                <a:off x="7045169" y="876354"/>
                <a:ext cx="655278" cy="655278"/>
              </a:xfrm>
              <a:custGeom>
                <a:avLst/>
                <a:gdLst/>
                <a:ahLst/>
                <a:cxnLst/>
                <a:rect l="l" t="t" r="r" b="b"/>
                <a:pathLst>
                  <a:path w="655277" h="655277" extrusionOk="0">
                    <a:moveTo>
                      <a:pt x="0" y="659859"/>
                    </a:moveTo>
                    <a:lnTo>
                      <a:pt x="0" y="659859"/>
                    </a:lnTo>
                    <a:lnTo>
                      <a:pt x="137481" y="659859"/>
                    </a:lnTo>
                    <a:lnTo>
                      <a:pt x="137481" y="659859"/>
                    </a:lnTo>
                    <a:cubicBezTo>
                      <a:pt x="137481" y="371409"/>
                      <a:pt x="371345" y="137481"/>
                      <a:pt x="659795" y="137481"/>
                    </a:cubicBezTo>
                    <a:cubicBezTo>
                      <a:pt x="660177" y="137481"/>
                      <a:pt x="660622" y="137481"/>
                      <a:pt x="661004" y="137481"/>
                    </a:cubicBezTo>
                    <a:lnTo>
                      <a:pt x="661004" y="0"/>
                    </a:lnTo>
                    <a:cubicBezTo>
                      <a:pt x="660622" y="0"/>
                      <a:pt x="660240" y="0"/>
                      <a:pt x="659795" y="0"/>
                    </a:cubicBezTo>
                    <a:cubicBezTo>
                      <a:pt x="295448" y="0"/>
                      <a:pt x="0" y="295448"/>
                      <a:pt x="0" y="659859"/>
                    </a:cubicBezTo>
                    <a:close/>
                  </a:path>
                </a:pathLst>
              </a:custGeom>
              <a:solidFill>
                <a:srgbClr val="E08E2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" name="Google Shape;1246;p22">
              <a:extLst>
                <a:ext uri="{FF2B5EF4-FFF2-40B4-BE49-F238E27FC236}">
                  <a16:creationId xmlns:a16="http://schemas.microsoft.com/office/drawing/2014/main" id="{3774A668-B2D4-FB3E-3F94-85F9A8700A3C}"/>
                </a:ext>
              </a:extLst>
            </p:cNvPr>
            <p:cNvSpPr/>
            <p:nvPr/>
          </p:nvSpPr>
          <p:spPr>
            <a:xfrm>
              <a:off x="13612829" y="876335"/>
              <a:ext cx="246888" cy="1316918"/>
            </a:xfrm>
            <a:custGeom>
              <a:avLst/>
              <a:gdLst/>
              <a:ahLst/>
              <a:cxnLst/>
              <a:rect l="l" t="t" r="r" b="b"/>
              <a:pathLst>
                <a:path w="248114" h="1316917" extrusionOk="0">
                  <a:moveTo>
                    <a:pt x="0" y="1319717"/>
                  </a:moveTo>
                  <a:lnTo>
                    <a:pt x="0" y="0"/>
                  </a:lnTo>
                  <a:lnTo>
                    <a:pt x="252632" y="0"/>
                  </a:lnTo>
                  <a:lnTo>
                    <a:pt x="252632" y="1319717"/>
                  </a:lnTo>
                  <a:close/>
                </a:path>
              </a:pathLst>
            </a:custGeom>
            <a:solidFill>
              <a:srgbClr val="F4AB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1247;p22">
              <a:extLst>
                <a:ext uri="{FF2B5EF4-FFF2-40B4-BE49-F238E27FC236}">
                  <a16:creationId xmlns:a16="http://schemas.microsoft.com/office/drawing/2014/main" id="{3904D2C2-6B4B-53B6-9EEA-C86A54718D76}"/>
                </a:ext>
              </a:extLst>
            </p:cNvPr>
            <p:cNvSpPr/>
            <p:nvPr/>
          </p:nvSpPr>
          <p:spPr>
            <a:xfrm>
              <a:off x="7704582" y="876609"/>
              <a:ext cx="5943600" cy="44533"/>
            </a:xfrm>
            <a:custGeom>
              <a:avLst/>
              <a:gdLst/>
              <a:ahLst/>
              <a:cxnLst/>
              <a:rect l="l" t="t" r="r" b="b"/>
              <a:pathLst>
                <a:path w="3709000" h="44533" extrusionOk="0">
                  <a:moveTo>
                    <a:pt x="0" y="0"/>
                  </a:moveTo>
                  <a:lnTo>
                    <a:pt x="3709001" y="0"/>
                  </a:lnTo>
                  <a:lnTo>
                    <a:pt x="3709001" y="44533"/>
                  </a:lnTo>
                  <a:lnTo>
                    <a:pt x="0" y="44533"/>
                  </a:lnTo>
                  <a:close/>
                </a:path>
              </a:pathLst>
            </a:custGeom>
            <a:solidFill>
              <a:srgbClr val="E08E2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1248;p22">
              <a:extLst>
                <a:ext uri="{FF2B5EF4-FFF2-40B4-BE49-F238E27FC236}">
                  <a16:creationId xmlns:a16="http://schemas.microsoft.com/office/drawing/2014/main" id="{E057D919-8C15-B7DB-8BDD-19315D5791C5}"/>
                </a:ext>
              </a:extLst>
            </p:cNvPr>
            <p:cNvSpPr/>
            <p:nvPr/>
          </p:nvSpPr>
          <p:spPr>
            <a:xfrm>
              <a:off x="7704582" y="2151538"/>
              <a:ext cx="5943600" cy="44533"/>
            </a:xfrm>
            <a:custGeom>
              <a:avLst/>
              <a:gdLst/>
              <a:ahLst/>
              <a:cxnLst/>
              <a:rect l="l" t="t" r="r" b="b"/>
              <a:pathLst>
                <a:path w="3709000" h="44533" extrusionOk="0">
                  <a:moveTo>
                    <a:pt x="0" y="0"/>
                  </a:moveTo>
                  <a:lnTo>
                    <a:pt x="3709001" y="0"/>
                  </a:lnTo>
                  <a:lnTo>
                    <a:pt x="3709001" y="44533"/>
                  </a:lnTo>
                  <a:lnTo>
                    <a:pt x="0" y="44533"/>
                  </a:lnTo>
                  <a:close/>
                </a:path>
              </a:pathLst>
            </a:custGeom>
            <a:solidFill>
              <a:srgbClr val="F4AB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" name="Google Shape;1249;p22">
            <a:extLst>
              <a:ext uri="{FF2B5EF4-FFF2-40B4-BE49-F238E27FC236}">
                <a16:creationId xmlns:a16="http://schemas.microsoft.com/office/drawing/2014/main" id="{20DE7381-4555-914E-EC70-CC2DC652F864}"/>
              </a:ext>
            </a:extLst>
          </p:cNvPr>
          <p:cNvGrpSpPr/>
          <p:nvPr/>
        </p:nvGrpSpPr>
        <p:grpSpPr>
          <a:xfrm>
            <a:off x="2848722" y="2231908"/>
            <a:ext cx="998822" cy="825473"/>
            <a:chOff x="7204346" y="1035516"/>
            <a:chExt cx="998822" cy="998822"/>
          </a:xfrm>
        </p:grpSpPr>
        <p:sp>
          <p:nvSpPr>
            <p:cNvPr id="45" name="Google Shape;1250;p22">
              <a:extLst>
                <a:ext uri="{FF2B5EF4-FFF2-40B4-BE49-F238E27FC236}">
                  <a16:creationId xmlns:a16="http://schemas.microsoft.com/office/drawing/2014/main" id="{B0169D39-DB42-C346-E7CA-DBE453750E5A}"/>
                </a:ext>
              </a:extLst>
            </p:cNvPr>
            <p:cNvSpPr/>
            <p:nvPr/>
          </p:nvSpPr>
          <p:spPr>
            <a:xfrm>
              <a:off x="7204346" y="1035516"/>
              <a:ext cx="998822" cy="998822"/>
            </a:xfrm>
            <a:custGeom>
              <a:avLst/>
              <a:gdLst/>
              <a:ahLst/>
              <a:cxnLst/>
              <a:rect l="l" t="t" r="r" b="b"/>
              <a:pathLst>
                <a:path w="998821" h="998821" extrusionOk="0">
                  <a:moveTo>
                    <a:pt x="953358" y="452710"/>
                  </a:moveTo>
                  <a:cubicBezTo>
                    <a:pt x="979834" y="702734"/>
                    <a:pt x="798612" y="926882"/>
                    <a:pt x="548587" y="953358"/>
                  </a:cubicBezTo>
                  <a:cubicBezTo>
                    <a:pt x="298563" y="979834"/>
                    <a:pt x="74415" y="798612"/>
                    <a:pt x="47939" y="548587"/>
                  </a:cubicBezTo>
                  <a:cubicBezTo>
                    <a:pt x="21463" y="298563"/>
                    <a:pt x="202685" y="74415"/>
                    <a:pt x="452710" y="47939"/>
                  </a:cubicBezTo>
                  <a:cubicBezTo>
                    <a:pt x="702734" y="21463"/>
                    <a:pt x="926882" y="202685"/>
                    <a:pt x="953358" y="452710"/>
                  </a:cubicBezTo>
                  <a:close/>
                </a:path>
              </a:pathLst>
            </a:custGeom>
            <a:solidFill>
              <a:srgbClr val="F4AB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251;p22">
              <a:extLst>
                <a:ext uri="{FF2B5EF4-FFF2-40B4-BE49-F238E27FC236}">
                  <a16:creationId xmlns:a16="http://schemas.microsoft.com/office/drawing/2014/main" id="{D96F691C-F370-75F8-E3F7-10DB9EF47EF4}"/>
                </a:ext>
              </a:extLst>
            </p:cNvPr>
            <p:cNvSpPr/>
            <p:nvPr/>
          </p:nvSpPr>
          <p:spPr>
            <a:xfrm>
              <a:off x="7249768" y="1080954"/>
              <a:ext cx="909755" cy="451696"/>
            </a:xfrm>
            <a:custGeom>
              <a:avLst/>
              <a:gdLst/>
              <a:ahLst/>
              <a:cxnLst/>
              <a:rect l="l" t="t" r="r" b="b"/>
              <a:pathLst>
                <a:path w="909754" h="451696" extrusionOk="0">
                  <a:moveTo>
                    <a:pt x="0" y="455259"/>
                  </a:moveTo>
                  <a:lnTo>
                    <a:pt x="0" y="455259"/>
                  </a:lnTo>
                  <a:lnTo>
                    <a:pt x="910518" y="455259"/>
                  </a:lnTo>
                  <a:lnTo>
                    <a:pt x="910518" y="455259"/>
                  </a:lnTo>
                  <a:cubicBezTo>
                    <a:pt x="910518" y="203836"/>
                    <a:pt x="706682" y="0"/>
                    <a:pt x="455259" y="0"/>
                  </a:cubicBezTo>
                  <a:cubicBezTo>
                    <a:pt x="203836" y="0"/>
                    <a:pt x="0" y="203836"/>
                    <a:pt x="0" y="455259"/>
                  </a:cubicBezTo>
                  <a:close/>
                </a:path>
              </a:pathLst>
            </a:custGeom>
            <a:solidFill>
              <a:srgbClr val="E08E2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" name="Google Shape;1252;p22">
            <a:extLst>
              <a:ext uri="{FF2B5EF4-FFF2-40B4-BE49-F238E27FC236}">
                <a16:creationId xmlns:a16="http://schemas.microsoft.com/office/drawing/2014/main" id="{5E349DA7-CD21-6023-F509-1C555BB4963D}"/>
              </a:ext>
            </a:extLst>
          </p:cNvPr>
          <p:cNvSpPr txBox="1"/>
          <p:nvPr/>
        </p:nvSpPr>
        <p:spPr>
          <a:xfrm>
            <a:off x="3884573" y="2597492"/>
            <a:ext cx="5329800" cy="483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Comprises multiple layers that define your container;</a:t>
            </a:r>
            <a:r>
              <a:rPr lang="en" sz="1400">
                <a:latin typeface="Lato"/>
                <a:ea typeface="Lato"/>
                <a:cs typeface="Lato"/>
                <a:sym typeface="Lato"/>
              </a:rPr>
              <a:t> i</a:t>
            </a: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mage is a static read-only property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1253;p22">
            <a:extLst>
              <a:ext uri="{FF2B5EF4-FFF2-40B4-BE49-F238E27FC236}">
                <a16:creationId xmlns:a16="http://schemas.microsoft.com/office/drawing/2014/main" id="{F3BA5A6E-C778-AB8F-1193-C0EF5B4E1C5F}"/>
              </a:ext>
            </a:extLst>
          </p:cNvPr>
          <p:cNvSpPr txBox="1"/>
          <p:nvPr/>
        </p:nvSpPr>
        <p:spPr>
          <a:xfrm>
            <a:off x="3884573" y="2244171"/>
            <a:ext cx="5329733" cy="302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</a:pPr>
            <a:r>
              <a:rPr lang="en" sz="16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Docker Image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1254;p22">
            <a:extLst>
              <a:ext uri="{FF2B5EF4-FFF2-40B4-BE49-F238E27FC236}">
                <a16:creationId xmlns:a16="http://schemas.microsoft.com/office/drawing/2014/main" id="{CD874532-5EC2-612F-A517-170EA4588228}"/>
              </a:ext>
            </a:extLst>
          </p:cNvPr>
          <p:cNvGrpSpPr/>
          <p:nvPr/>
        </p:nvGrpSpPr>
        <p:grpSpPr>
          <a:xfrm>
            <a:off x="2683049" y="5613510"/>
            <a:ext cx="6834288" cy="1090727"/>
            <a:chOff x="7045169" y="5071851"/>
            <a:chExt cx="6834288" cy="1319780"/>
          </a:xfrm>
        </p:grpSpPr>
        <p:sp>
          <p:nvSpPr>
            <p:cNvPr id="50" name="Google Shape;1255;p22">
              <a:extLst>
                <a:ext uri="{FF2B5EF4-FFF2-40B4-BE49-F238E27FC236}">
                  <a16:creationId xmlns:a16="http://schemas.microsoft.com/office/drawing/2014/main" id="{DCA9D2CC-E89E-C938-6585-9AAF510D9C67}"/>
                </a:ext>
              </a:extLst>
            </p:cNvPr>
            <p:cNvSpPr/>
            <p:nvPr/>
          </p:nvSpPr>
          <p:spPr>
            <a:xfrm>
              <a:off x="7706236" y="5071851"/>
              <a:ext cx="5943600" cy="1316918"/>
            </a:xfrm>
            <a:custGeom>
              <a:avLst/>
              <a:gdLst/>
              <a:ahLst/>
              <a:cxnLst/>
              <a:rect l="l" t="t" r="r" b="b"/>
              <a:pathLst>
                <a:path w="3702638" h="1316917" extrusionOk="0">
                  <a:moveTo>
                    <a:pt x="0" y="1319717"/>
                  </a:moveTo>
                  <a:lnTo>
                    <a:pt x="0" y="0"/>
                  </a:lnTo>
                  <a:lnTo>
                    <a:pt x="3702893" y="0"/>
                  </a:lnTo>
                  <a:lnTo>
                    <a:pt x="3702893" y="1319717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1256;p22">
              <a:extLst>
                <a:ext uri="{FF2B5EF4-FFF2-40B4-BE49-F238E27FC236}">
                  <a16:creationId xmlns:a16="http://schemas.microsoft.com/office/drawing/2014/main" id="{C7AADF8E-B62D-64A2-E90D-8C8953E61DC1}"/>
                </a:ext>
              </a:extLst>
            </p:cNvPr>
            <p:cNvGrpSpPr/>
            <p:nvPr/>
          </p:nvGrpSpPr>
          <p:grpSpPr>
            <a:xfrm>
              <a:off x="7045169" y="5071914"/>
              <a:ext cx="655278" cy="1316918"/>
              <a:chOff x="7045169" y="5071914"/>
              <a:chExt cx="655278" cy="1316918"/>
            </a:xfrm>
          </p:grpSpPr>
          <p:sp>
            <p:nvSpPr>
              <p:cNvPr id="55" name="Google Shape;1257;p22">
                <a:extLst>
                  <a:ext uri="{FF2B5EF4-FFF2-40B4-BE49-F238E27FC236}">
                    <a16:creationId xmlns:a16="http://schemas.microsoft.com/office/drawing/2014/main" id="{2EE67D46-AEA7-AF78-BE85-9EE3BCD75A9E}"/>
                  </a:ext>
                </a:extLst>
              </p:cNvPr>
              <p:cNvSpPr/>
              <p:nvPr/>
            </p:nvSpPr>
            <p:spPr>
              <a:xfrm>
                <a:off x="7045169" y="5071914"/>
                <a:ext cx="655278" cy="1316918"/>
              </a:xfrm>
              <a:custGeom>
                <a:avLst/>
                <a:gdLst/>
                <a:ahLst/>
                <a:cxnLst/>
                <a:rect l="l" t="t" r="r" b="b"/>
                <a:pathLst>
                  <a:path w="655277" h="1316917" extrusionOk="0">
                    <a:moveTo>
                      <a:pt x="659859" y="1182172"/>
                    </a:moveTo>
                    <a:cubicBezTo>
                      <a:pt x="371409" y="1182172"/>
                      <a:pt x="137545" y="948308"/>
                      <a:pt x="137545" y="659859"/>
                    </a:cubicBezTo>
                    <a:cubicBezTo>
                      <a:pt x="137545" y="371409"/>
                      <a:pt x="371409" y="137481"/>
                      <a:pt x="659859" y="137481"/>
                    </a:cubicBezTo>
                    <a:cubicBezTo>
                      <a:pt x="660240" y="137481"/>
                      <a:pt x="660686" y="137481"/>
                      <a:pt x="661067" y="137481"/>
                    </a:cubicBezTo>
                    <a:lnTo>
                      <a:pt x="661067" y="0"/>
                    </a:lnTo>
                    <a:cubicBezTo>
                      <a:pt x="660686" y="0"/>
                      <a:pt x="660304" y="0"/>
                      <a:pt x="659859" y="0"/>
                    </a:cubicBezTo>
                    <a:cubicBezTo>
                      <a:pt x="295448" y="0"/>
                      <a:pt x="0" y="295448"/>
                      <a:pt x="0" y="659859"/>
                    </a:cubicBezTo>
                    <a:cubicBezTo>
                      <a:pt x="0" y="1024333"/>
                      <a:pt x="295448" y="1319717"/>
                      <a:pt x="659859" y="1319717"/>
                    </a:cubicBezTo>
                    <a:cubicBezTo>
                      <a:pt x="660240" y="1319717"/>
                      <a:pt x="660622" y="1319717"/>
                      <a:pt x="661067" y="1319717"/>
                    </a:cubicBezTo>
                    <a:lnTo>
                      <a:pt x="661067" y="1182236"/>
                    </a:lnTo>
                    <a:cubicBezTo>
                      <a:pt x="660686" y="1182172"/>
                      <a:pt x="660240" y="1182172"/>
                      <a:pt x="659859" y="1182172"/>
                    </a:cubicBezTo>
                    <a:close/>
                  </a:path>
                </a:pathLst>
              </a:custGeom>
              <a:solidFill>
                <a:srgbClr val="22AF7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1258;p22">
                <a:extLst>
                  <a:ext uri="{FF2B5EF4-FFF2-40B4-BE49-F238E27FC236}">
                    <a16:creationId xmlns:a16="http://schemas.microsoft.com/office/drawing/2014/main" id="{65D48FBE-D376-FE92-C922-427B406A74E6}"/>
                  </a:ext>
                </a:extLst>
              </p:cNvPr>
              <p:cNvSpPr/>
              <p:nvPr/>
            </p:nvSpPr>
            <p:spPr>
              <a:xfrm>
                <a:off x="7045169" y="5071914"/>
                <a:ext cx="655278" cy="655278"/>
              </a:xfrm>
              <a:custGeom>
                <a:avLst/>
                <a:gdLst/>
                <a:ahLst/>
                <a:cxnLst/>
                <a:rect l="l" t="t" r="r" b="b"/>
                <a:pathLst>
                  <a:path w="655277" h="655277" extrusionOk="0">
                    <a:moveTo>
                      <a:pt x="0" y="659859"/>
                    </a:moveTo>
                    <a:lnTo>
                      <a:pt x="137481" y="659859"/>
                    </a:lnTo>
                    <a:cubicBezTo>
                      <a:pt x="137481" y="371409"/>
                      <a:pt x="371345" y="137481"/>
                      <a:pt x="659795" y="137481"/>
                    </a:cubicBezTo>
                    <a:cubicBezTo>
                      <a:pt x="660177" y="137481"/>
                      <a:pt x="660622" y="137481"/>
                      <a:pt x="661004" y="137481"/>
                    </a:cubicBezTo>
                    <a:lnTo>
                      <a:pt x="661004" y="0"/>
                    </a:lnTo>
                    <a:cubicBezTo>
                      <a:pt x="660622" y="0"/>
                      <a:pt x="660240" y="0"/>
                      <a:pt x="659795" y="0"/>
                    </a:cubicBezTo>
                    <a:cubicBezTo>
                      <a:pt x="295448" y="0"/>
                      <a:pt x="0" y="295384"/>
                      <a:pt x="0" y="659859"/>
                    </a:cubicBezTo>
                    <a:close/>
                  </a:path>
                </a:pathLst>
              </a:custGeom>
              <a:solidFill>
                <a:srgbClr val="1D99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2" name="Google Shape;1259;p22">
              <a:extLst>
                <a:ext uri="{FF2B5EF4-FFF2-40B4-BE49-F238E27FC236}">
                  <a16:creationId xmlns:a16="http://schemas.microsoft.com/office/drawing/2014/main" id="{CDAFFD8E-25A8-A723-2E45-581B5943ED6D}"/>
                </a:ext>
              </a:extLst>
            </p:cNvPr>
            <p:cNvSpPr/>
            <p:nvPr/>
          </p:nvSpPr>
          <p:spPr>
            <a:xfrm>
              <a:off x="13632569" y="5071851"/>
              <a:ext cx="246888" cy="1316918"/>
            </a:xfrm>
            <a:custGeom>
              <a:avLst/>
              <a:gdLst/>
              <a:ahLst/>
              <a:cxnLst/>
              <a:rect l="l" t="t" r="r" b="b"/>
              <a:pathLst>
                <a:path w="248114" h="1316917" extrusionOk="0">
                  <a:moveTo>
                    <a:pt x="0" y="1319717"/>
                  </a:moveTo>
                  <a:lnTo>
                    <a:pt x="0" y="0"/>
                  </a:lnTo>
                  <a:lnTo>
                    <a:pt x="252632" y="0"/>
                  </a:lnTo>
                  <a:lnTo>
                    <a:pt x="252632" y="1319717"/>
                  </a:lnTo>
                  <a:close/>
                </a:path>
              </a:pathLst>
            </a:custGeom>
            <a:solidFill>
              <a:srgbClr val="22AF7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260;p22">
              <a:extLst>
                <a:ext uri="{FF2B5EF4-FFF2-40B4-BE49-F238E27FC236}">
                  <a16:creationId xmlns:a16="http://schemas.microsoft.com/office/drawing/2014/main" id="{E3FE2144-A08D-C99C-A983-69DEF40C0042}"/>
                </a:ext>
              </a:extLst>
            </p:cNvPr>
            <p:cNvSpPr/>
            <p:nvPr/>
          </p:nvSpPr>
          <p:spPr>
            <a:xfrm>
              <a:off x="7698220" y="5072169"/>
              <a:ext cx="5943600" cy="44533"/>
            </a:xfrm>
            <a:custGeom>
              <a:avLst/>
              <a:gdLst/>
              <a:ahLst/>
              <a:cxnLst/>
              <a:rect l="l" t="t" r="r" b="b"/>
              <a:pathLst>
                <a:path w="3715362" h="44533" extrusionOk="0">
                  <a:moveTo>
                    <a:pt x="0" y="0"/>
                  </a:moveTo>
                  <a:lnTo>
                    <a:pt x="3715362" y="0"/>
                  </a:lnTo>
                  <a:lnTo>
                    <a:pt x="3715362" y="44534"/>
                  </a:lnTo>
                  <a:lnTo>
                    <a:pt x="0" y="44534"/>
                  </a:lnTo>
                  <a:close/>
                </a:path>
              </a:pathLst>
            </a:custGeom>
            <a:solidFill>
              <a:srgbClr val="1D99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261;p22">
              <a:extLst>
                <a:ext uri="{FF2B5EF4-FFF2-40B4-BE49-F238E27FC236}">
                  <a16:creationId xmlns:a16="http://schemas.microsoft.com/office/drawing/2014/main" id="{F5EFADAA-740B-389B-3FCF-3B53C12E605D}"/>
                </a:ext>
              </a:extLst>
            </p:cNvPr>
            <p:cNvSpPr/>
            <p:nvPr/>
          </p:nvSpPr>
          <p:spPr>
            <a:xfrm>
              <a:off x="7698220" y="6347098"/>
              <a:ext cx="5943600" cy="44533"/>
            </a:xfrm>
            <a:custGeom>
              <a:avLst/>
              <a:gdLst/>
              <a:ahLst/>
              <a:cxnLst/>
              <a:rect l="l" t="t" r="r" b="b"/>
              <a:pathLst>
                <a:path w="3715362" h="44533" extrusionOk="0">
                  <a:moveTo>
                    <a:pt x="0" y="0"/>
                  </a:moveTo>
                  <a:lnTo>
                    <a:pt x="3715362" y="0"/>
                  </a:lnTo>
                  <a:lnTo>
                    <a:pt x="3715362" y="44533"/>
                  </a:lnTo>
                  <a:lnTo>
                    <a:pt x="0" y="44533"/>
                  </a:lnTo>
                  <a:close/>
                </a:path>
              </a:pathLst>
            </a:custGeom>
            <a:solidFill>
              <a:srgbClr val="22AF7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Google Shape;1262;p22">
            <a:extLst>
              <a:ext uri="{FF2B5EF4-FFF2-40B4-BE49-F238E27FC236}">
                <a16:creationId xmlns:a16="http://schemas.microsoft.com/office/drawing/2014/main" id="{A6C3BAEC-987C-8759-3B8C-D1407E3955D5}"/>
              </a:ext>
            </a:extLst>
          </p:cNvPr>
          <p:cNvGrpSpPr/>
          <p:nvPr/>
        </p:nvGrpSpPr>
        <p:grpSpPr>
          <a:xfrm>
            <a:off x="2893256" y="5782941"/>
            <a:ext cx="909755" cy="751864"/>
            <a:chOff x="7249768" y="5276450"/>
            <a:chExt cx="909755" cy="909755"/>
          </a:xfrm>
        </p:grpSpPr>
        <p:sp>
          <p:nvSpPr>
            <p:cNvPr id="58" name="Google Shape;1263;p22">
              <a:extLst>
                <a:ext uri="{FF2B5EF4-FFF2-40B4-BE49-F238E27FC236}">
                  <a16:creationId xmlns:a16="http://schemas.microsoft.com/office/drawing/2014/main" id="{1B11A00C-A224-E1FA-B3C1-1EEFA7A8DB0F}"/>
                </a:ext>
              </a:extLst>
            </p:cNvPr>
            <p:cNvSpPr/>
            <p:nvPr/>
          </p:nvSpPr>
          <p:spPr>
            <a:xfrm>
              <a:off x="7249768" y="5276450"/>
              <a:ext cx="909755" cy="909755"/>
            </a:xfrm>
            <a:custGeom>
              <a:avLst/>
              <a:gdLst/>
              <a:ahLst/>
              <a:cxnLst/>
              <a:rect l="l" t="t" r="r" b="b"/>
              <a:pathLst>
                <a:path w="909754" h="909754" extrusionOk="0">
                  <a:moveTo>
                    <a:pt x="455259" y="0"/>
                  </a:moveTo>
                  <a:cubicBezTo>
                    <a:pt x="706682" y="0"/>
                    <a:pt x="910518" y="203836"/>
                    <a:pt x="910518" y="455259"/>
                  </a:cubicBezTo>
                  <a:cubicBezTo>
                    <a:pt x="910518" y="706682"/>
                    <a:pt x="706682" y="910518"/>
                    <a:pt x="455259" y="910518"/>
                  </a:cubicBezTo>
                  <a:cubicBezTo>
                    <a:pt x="203836" y="910518"/>
                    <a:pt x="0" y="706682"/>
                    <a:pt x="0" y="455259"/>
                  </a:cubicBezTo>
                  <a:cubicBezTo>
                    <a:pt x="0" y="203836"/>
                    <a:pt x="203836" y="0"/>
                    <a:pt x="455259" y="0"/>
                  </a:cubicBezTo>
                  <a:close/>
                </a:path>
              </a:pathLst>
            </a:custGeom>
            <a:solidFill>
              <a:srgbClr val="22AF7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264;p22">
              <a:extLst>
                <a:ext uri="{FF2B5EF4-FFF2-40B4-BE49-F238E27FC236}">
                  <a16:creationId xmlns:a16="http://schemas.microsoft.com/office/drawing/2014/main" id="{36A2B545-81DD-6A2A-09A2-29BE74E6C635}"/>
                </a:ext>
              </a:extLst>
            </p:cNvPr>
            <p:cNvSpPr/>
            <p:nvPr/>
          </p:nvSpPr>
          <p:spPr>
            <a:xfrm>
              <a:off x="7249768" y="5276450"/>
              <a:ext cx="909755" cy="451696"/>
            </a:xfrm>
            <a:custGeom>
              <a:avLst/>
              <a:gdLst/>
              <a:ahLst/>
              <a:cxnLst/>
              <a:rect l="l" t="t" r="r" b="b"/>
              <a:pathLst>
                <a:path w="909754" h="451696" extrusionOk="0">
                  <a:moveTo>
                    <a:pt x="455259" y="0"/>
                  </a:moveTo>
                  <a:cubicBezTo>
                    <a:pt x="203836" y="0"/>
                    <a:pt x="0" y="203836"/>
                    <a:pt x="0" y="455259"/>
                  </a:cubicBezTo>
                  <a:lnTo>
                    <a:pt x="910518" y="455259"/>
                  </a:lnTo>
                  <a:cubicBezTo>
                    <a:pt x="910518" y="203836"/>
                    <a:pt x="706682" y="0"/>
                    <a:pt x="455259" y="0"/>
                  </a:cubicBezTo>
                  <a:close/>
                </a:path>
              </a:pathLst>
            </a:custGeom>
            <a:solidFill>
              <a:srgbClr val="1D99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1265;p22">
            <a:extLst>
              <a:ext uri="{FF2B5EF4-FFF2-40B4-BE49-F238E27FC236}">
                <a16:creationId xmlns:a16="http://schemas.microsoft.com/office/drawing/2014/main" id="{91561037-0EE2-D91C-015B-32B68EAD436B}"/>
              </a:ext>
            </a:extLst>
          </p:cNvPr>
          <p:cNvSpPr txBox="1"/>
          <p:nvPr/>
        </p:nvSpPr>
        <p:spPr>
          <a:xfrm>
            <a:off x="3884573" y="6096961"/>
            <a:ext cx="5333100" cy="483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Cloud site of docker where images are stored</a:t>
            </a:r>
            <a:r>
              <a:rPr lang="en" sz="1400">
                <a:latin typeface="Lato"/>
                <a:ea typeface="Lato"/>
                <a:cs typeface="Lato"/>
                <a:sym typeface="Lato"/>
              </a:rPr>
              <a:t>; ca</a:t>
            </a: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 be</a:t>
            </a:r>
            <a:r>
              <a:rPr lang="en" sz="140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public or private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1266;p22">
            <a:extLst>
              <a:ext uri="{FF2B5EF4-FFF2-40B4-BE49-F238E27FC236}">
                <a16:creationId xmlns:a16="http://schemas.microsoft.com/office/drawing/2014/main" id="{1E8C45C9-7366-FF90-9E7B-EBFED9581EEC}"/>
              </a:ext>
            </a:extLst>
          </p:cNvPr>
          <p:cNvSpPr txBox="1"/>
          <p:nvPr/>
        </p:nvSpPr>
        <p:spPr>
          <a:xfrm>
            <a:off x="3884573" y="5758400"/>
            <a:ext cx="5332987" cy="302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</a:pPr>
            <a:r>
              <a:rPr lang="en" sz="16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Registry Service 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" name="Google Shape;1267;p22">
            <a:extLst>
              <a:ext uri="{FF2B5EF4-FFF2-40B4-BE49-F238E27FC236}">
                <a16:creationId xmlns:a16="http://schemas.microsoft.com/office/drawing/2014/main" id="{5BEE2DB3-D6CD-60C2-FE8C-C8AABB92C175}"/>
              </a:ext>
            </a:extLst>
          </p:cNvPr>
          <p:cNvGrpSpPr/>
          <p:nvPr/>
        </p:nvGrpSpPr>
        <p:grpSpPr>
          <a:xfrm>
            <a:off x="2990073" y="2469686"/>
            <a:ext cx="681351" cy="334769"/>
            <a:chOff x="-4975225" y="2844800"/>
            <a:chExt cx="3065462" cy="1822451"/>
          </a:xfrm>
        </p:grpSpPr>
        <p:cxnSp>
          <p:nvCxnSpPr>
            <p:cNvPr id="63" name="Google Shape;1268;p22">
              <a:extLst>
                <a:ext uri="{FF2B5EF4-FFF2-40B4-BE49-F238E27FC236}">
                  <a16:creationId xmlns:a16="http://schemas.microsoft.com/office/drawing/2014/main" id="{D61BEFA3-0F0F-0668-40E5-E199D7CB5F5B}"/>
                </a:ext>
              </a:extLst>
            </p:cNvPr>
            <p:cNvCxnSpPr/>
            <p:nvPr/>
          </p:nvCxnSpPr>
          <p:spPr>
            <a:xfrm flipH="1">
              <a:off x="-4195751" y="3182938"/>
              <a:ext cx="354000" cy="519000"/>
            </a:xfrm>
            <a:prstGeom prst="straightConnector1">
              <a:avLst/>
            </a:prstGeom>
            <a:noFill/>
            <a:ln w="222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" name="Google Shape;1269;p22">
              <a:extLst>
                <a:ext uri="{FF2B5EF4-FFF2-40B4-BE49-F238E27FC236}">
                  <a16:creationId xmlns:a16="http://schemas.microsoft.com/office/drawing/2014/main" id="{E2C9705C-BD19-BC32-BBBE-19ECEF45A5D6}"/>
                </a:ext>
              </a:extLst>
            </p:cNvPr>
            <p:cNvCxnSpPr/>
            <p:nvPr/>
          </p:nvCxnSpPr>
          <p:spPr>
            <a:xfrm flipH="1">
              <a:off x="-3841688" y="3182938"/>
              <a:ext cx="360300" cy="519000"/>
            </a:xfrm>
            <a:prstGeom prst="straightConnector1">
              <a:avLst/>
            </a:prstGeom>
            <a:noFill/>
            <a:ln w="222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5" name="Google Shape;1270;p22">
              <a:extLst>
                <a:ext uri="{FF2B5EF4-FFF2-40B4-BE49-F238E27FC236}">
                  <a16:creationId xmlns:a16="http://schemas.microsoft.com/office/drawing/2014/main" id="{3574A9AD-5DD3-E5ED-F182-B7003CA210B1}"/>
                </a:ext>
              </a:extLst>
            </p:cNvPr>
            <p:cNvCxnSpPr/>
            <p:nvPr/>
          </p:nvCxnSpPr>
          <p:spPr>
            <a:xfrm flipH="1">
              <a:off x="-3481526" y="3182938"/>
              <a:ext cx="335100" cy="519000"/>
            </a:xfrm>
            <a:prstGeom prst="straightConnector1">
              <a:avLst/>
            </a:prstGeom>
            <a:noFill/>
            <a:ln w="222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6" name="Google Shape;1271;p22">
              <a:extLst>
                <a:ext uri="{FF2B5EF4-FFF2-40B4-BE49-F238E27FC236}">
                  <a16:creationId xmlns:a16="http://schemas.microsoft.com/office/drawing/2014/main" id="{4A6B478D-B571-0C76-7C3F-253623E6CF0D}"/>
                </a:ext>
              </a:extLst>
            </p:cNvPr>
            <p:cNvSpPr/>
            <p:nvPr/>
          </p:nvSpPr>
          <p:spPr>
            <a:xfrm>
              <a:off x="-4975225" y="2844800"/>
              <a:ext cx="2600325" cy="1171575"/>
            </a:xfrm>
            <a:custGeom>
              <a:avLst/>
              <a:gdLst/>
              <a:ahLst/>
              <a:cxnLst/>
              <a:rect l="l" t="t" r="r" b="b"/>
              <a:pathLst>
                <a:path w="688" h="309" extrusionOk="0">
                  <a:moveTo>
                    <a:pt x="648" y="5"/>
                  </a:moveTo>
                  <a:cubicBezTo>
                    <a:pt x="648" y="5"/>
                    <a:pt x="299" y="6"/>
                    <a:pt x="269" y="5"/>
                  </a:cubicBezTo>
                  <a:cubicBezTo>
                    <a:pt x="239" y="4"/>
                    <a:pt x="226" y="27"/>
                    <a:pt x="226" y="27"/>
                  </a:cubicBezTo>
                  <a:cubicBezTo>
                    <a:pt x="226" y="27"/>
                    <a:pt x="75" y="216"/>
                    <a:pt x="37" y="262"/>
                  </a:cubicBezTo>
                  <a:cubicBezTo>
                    <a:pt x="0" y="309"/>
                    <a:pt x="45" y="303"/>
                    <a:pt x="45" y="303"/>
                  </a:cubicBezTo>
                  <a:cubicBezTo>
                    <a:pt x="45" y="303"/>
                    <a:pt x="87" y="303"/>
                    <a:pt x="141" y="303"/>
                  </a:cubicBezTo>
                  <a:cubicBezTo>
                    <a:pt x="237" y="303"/>
                    <a:pt x="374" y="303"/>
                    <a:pt x="399" y="303"/>
                  </a:cubicBezTo>
                  <a:cubicBezTo>
                    <a:pt x="440" y="302"/>
                    <a:pt x="465" y="276"/>
                    <a:pt x="465" y="276"/>
                  </a:cubicBezTo>
                  <a:cubicBezTo>
                    <a:pt x="465" y="276"/>
                    <a:pt x="562" y="146"/>
                    <a:pt x="619" y="77"/>
                  </a:cubicBezTo>
                  <a:cubicBezTo>
                    <a:pt x="631" y="62"/>
                    <a:pt x="641" y="50"/>
                    <a:pt x="648" y="42"/>
                  </a:cubicBezTo>
                  <a:cubicBezTo>
                    <a:pt x="688" y="0"/>
                    <a:pt x="648" y="5"/>
                    <a:pt x="648" y="5"/>
                  </a:cubicBezTo>
                  <a:close/>
                </a:path>
              </a:pathLst>
            </a:custGeom>
            <a:noFill/>
            <a:ln w="222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1272;p22">
              <a:extLst>
                <a:ext uri="{FF2B5EF4-FFF2-40B4-BE49-F238E27FC236}">
                  <a16:creationId xmlns:a16="http://schemas.microsoft.com/office/drawing/2014/main" id="{38240AF9-5858-9C78-395F-B3D345C8B662}"/>
                </a:ext>
              </a:extLst>
            </p:cNvPr>
            <p:cNvSpPr/>
            <p:nvPr/>
          </p:nvSpPr>
          <p:spPr>
            <a:xfrm>
              <a:off x="-4510088" y="3497263"/>
              <a:ext cx="2600325" cy="1169988"/>
            </a:xfrm>
            <a:custGeom>
              <a:avLst/>
              <a:gdLst/>
              <a:ahLst/>
              <a:cxnLst/>
              <a:rect l="l" t="t" r="r" b="b"/>
              <a:pathLst>
                <a:path w="688" h="309" extrusionOk="0">
                  <a:moveTo>
                    <a:pt x="649" y="6"/>
                  </a:moveTo>
                  <a:cubicBezTo>
                    <a:pt x="649" y="6"/>
                    <a:pt x="607" y="6"/>
                    <a:pt x="551" y="6"/>
                  </a:cubicBezTo>
                  <a:cubicBezTo>
                    <a:pt x="495" y="77"/>
                    <a:pt x="420" y="176"/>
                    <a:pt x="420" y="176"/>
                  </a:cubicBezTo>
                  <a:cubicBezTo>
                    <a:pt x="420" y="176"/>
                    <a:pt x="395" y="202"/>
                    <a:pt x="355" y="203"/>
                  </a:cubicBezTo>
                  <a:cubicBezTo>
                    <a:pt x="328" y="203"/>
                    <a:pt x="183" y="203"/>
                    <a:pt x="87" y="203"/>
                  </a:cubicBezTo>
                  <a:cubicBezTo>
                    <a:pt x="66" y="229"/>
                    <a:pt x="48" y="251"/>
                    <a:pt x="38" y="263"/>
                  </a:cubicBezTo>
                  <a:cubicBezTo>
                    <a:pt x="0" y="309"/>
                    <a:pt x="46" y="304"/>
                    <a:pt x="46" y="304"/>
                  </a:cubicBezTo>
                  <a:cubicBezTo>
                    <a:pt x="46" y="304"/>
                    <a:pt x="87" y="304"/>
                    <a:pt x="142" y="304"/>
                  </a:cubicBezTo>
                  <a:cubicBezTo>
                    <a:pt x="238" y="304"/>
                    <a:pt x="374" y="304"/>
                    <a:pt x="400" y="304"/>
                  </a:cubicBezTo>
                  <a:cubicBezTo>
                    <a:pt x="440" y="303"/>
                    <a:pt x="465" y="276"/>
                    <a:pt x="465" y="276"/>
                  </a:cubicBezTo>
                  <a:cubicBezTo>
                    <a:pt x="465" y="276"/>
                    <a:pt x="563" y="147"/>
                    <a:pt x="619" y="78"/>
                  </a:cubicBezTo>
                  <a:cubicBezTo>
                    <a:pt x="632" y="63"/>
                    <a:pt x="642" y="51"/>
                    <a:pt x="649" y="43"/>
                  </a:cubicBezTo>
                  <a:cubicBezTo>
                    <a:pt x="688" y="0"/>
                    <a:pt x="649" y="6"/>
                    <a:pt x="649" y="6"/>
                  </a:cubicBezTo>
                  <a:close/>
                </a:path>
              </a:pathLst>
            </a:custGeom>
            <a:noFill/>
            <a:ln w="222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273;p22">
              <a:extLst>
                <a:ext uri="{FF2B5EF4-FFF2-40B4-BE49-F238E27FC236}">
                  <a16:creationId xmlns:a16="http://schemas.microsoft.com/office/drawing/2014/main" id="{6AAFA878-C5F9-1C57-04B8-5D11E361CB1C}"/>
                </a:ext>
              </a:extLst>
            </p:cNvPr>
            <p:cNvSpPr/>
            <p:nvPr/>
          </p:nvSpPr>
          <p:spPr>
            <a:xfrm>
              <a:off x="-4679950" y="3117850"/>
              <a:ext cx="2600325" cy="1171575"/>
            </a:xfrm>
            <a:custGeom>
              <a:avLst/>
              <a:gdLst/>
              <a:ahLst/>
              <a:cxnLst/>
              <a:rect l="l" t="t" r="r" b="b"/>
              <a:pathLst>
                <a:path w="688" h="309" extrusionOk="0">
                  <a:moveTo>
                    <a:pt x="648" y="5"/>
                  </a:moveTo>
                  <a:cubicBezTo>
                    <a:pt x="648" y="5"/>
                    <a:pt x="602" y="5"/>
                    <a:pt x="541" y="5"/>
                  </a:cubicBezTo>
                  <a:cubicBezTo>
                    <a:pt x="518" y="33"/>
                    <a:pt x="489" y="71"/>
                    <a:pt x="461" y="106"/>
                  </a:cubicBezTo>
                  <a:cubicBezTo>
                    <a:pt x="421" y="158"/>
                    <a:pt x="387" y="204"/>
                    <a:pt x="387" y="204"/>
                  </a:cubicBezTo>
                  <a:cubicBezTo>
                    <a:pt x="387" y="204"/>
                    <a:pt x="362" y="230"/>
                    <a:pt x="321" y="231"/>
                  </a:cubicBezTo>
                  <a:cubicBezTo>
                    <a:pt x="306" y="231"/>
                    <a:pt x="251" y="231"/>
                    <a:pt x="189" y="231"/>
                  </a:cubicBezTo>
                  <a:cubicBezTo>
                    <a:pt x="147" y="231"/>
                    <a:pt x="102" y="231"/>
                    <a:pt x="63" y="231"/>
                  </a:cubicBezTo>
                  <a:cubicBezTo>
                    <a:pt x="53" y="244"/>
                    <a:pt x="44" y="255"/>
                    <a:pt x="38" y="262"/>
                  </a:cubicBezTo>
                  <a:cubicBezTo>
                    <a:pt x="0" y="309"/>
                    <a:pt x="45" y="303"/>
                    <a:pt x="45" y="303"/>
                  </a:cubicBezTo>
                  <a:cubicBezTo>
                    <a:pt x="45" y="303"/>
                    <a:pt x="82" y="303"/>
                    <a:pt x="132" y="303"/>
                  </a:cubicBezTo>
                  <a:cubicBezTo>
                    <a:pt x="228" y="303"/>
                    <a:pt x="373" y="303"/>
                    <a:pt x="400" y="303"/>
                  </a:cubicBezTo>
                  <a:cubicBezTo>
                    <a:pt x="440" y="302"/>
                    <a:pt x="465" y="276"/>
                    <a:pt x="465" y="276"/>
                  </a:cubicBezTo>
                  <a:cubicBezTo>
                    <a:pt x="465" y="276"/>
                    <a:pt x="540" y="177"/>
                    <a:pt x="596" y="106"/>
                  </a:cubicBezTo>
                  <a:cubicBezTo>
                    <a:pt x="618" y="78"/>
                    <a:pt x="637" y="55"/>
                    <a:pt x="648" y="42"/>
                  </a:cubicBezTo>
                  <a:cubicBezTo>
                    <a:pt x="688" y="0"/>
                    <a:pt x="648" y="5"/>
                    <a:pt x="648" y="5"/>
                  </a:cubicBezTo>
                  <a:close/>
                </a:path>
              </a:pathLst>
            </a:custGeom>
            <a:noFill/>
            <a:ln w="222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" name="Google Shape;1274;p22">
            <a:extLst>
              <a:ext uri="{FF2B5EF4-FFF2-40B4-BE49-F238E27FC236}">
                <a16:creationId xmlns:a16="http://schemas.microsoft.com/office/drawing/2014/main" id="{707AC6CF-14D2-FEC6-DCE0-793F8271CFF8}"/>
              </a:ext>
            </a:extLst>
          </p:cNvPr>
          <p:cNvGrpSpPr/>
          <p:nvPr/>
        </p:nvGrpSpPr>
        <p:grpSpPr>
          <a:xfrm>
            <a:off x="3132421" y="3625529"/>
            <a:ext cx="399053" cy="329795"/>
            <a:chOff x="1198110" y="3274750"/>
            <a:chExt cx="518700" cy="518700"/>
          </a:xfrm>
        </p:grpSpPr>
        <p:grpSp>
          <p:nvGrpSpPr>
            <p:cNvPr id="70" name="Google Shape;1275;p22">
              <a:extLst>
                <a:ext uri="{FF2B5EF4-FFF2-40B4-BE49-F238E27FC236}">
                  <a16:creationId xmlns:a16="http://schemas.microsoft.com/office/drawing/2014/main" id="{35D25366-BD90-60CA-46B9-16943EC7A164}"/>
                </a:ext>
              </a:extLst>
            </p:cNvPr>
            <p:cNvGrpSpPr/>
            <p:nvPr/>
          </p:nvGrpSpPr>
          <p:grpSpPr>
            <a:xfrm>
              <a:off x="1310652" y="3365500"/>
              <a:ext cx="293687" cy="360300"/>
              <a:chOff x="1338263" y="3348038"/>
              <a:chExt cx="293687" cy="360300"/>
            </a:xfrm>
          </p:grpSpPr>
          <p:cxnSp>
            <p:nvCxnSpPr>
              <p:cNvPr id="72" name="Google Shape;1276;p22">
                <a:extLst>
                  <a:ext uri="{FF2B5EF4-FFF2-40B4-BE49-F238E27FC236}">
                    <a16:creationId xmlns:a16="http://schemas.microsoft.com/office/drawing/2014/main" id="{05D4D7EE-E508-F02C-02DA-46BA49144C9A}"/>
                  </a:ext>
                </a:extLst>
              </p:cNvPr>
              <p:cNvCxnSpPr/>
              <p:nvPr/>
            </p:nvCxnSpPr>
            <p:spPr>
              <a:xfrm>
                <a:off x="1338263" y="3348038"/>
                <a:ext cx="0" cy="360300"/>
              </a:xfrm>
              <a:prstGeom prst="straightConnector1">
                <a:avLst/>
              </a:prstGeom>
              <a:noFill/>
              <a:ln w="22225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3" name="Google Shape;1277;p22">
                <a:extLst>
                  <a:ext uri="{FF2B5EF4-FFF2-40B4-BE49-F238E27FC236}">
                    <a16:creationId xmlns:a16="http://schemas.microsoft.com/office/drawing/2014/main" id="{C9B85599-2801-EA69-E9B2-13C609C31CA4}"/>
                  </a:ext>
                </a:extLst>
              </p:cNvPr>
              <p:cNvCxnSpPr/>
              <p:nvPr/>
            </p:nvCxnSpPr>
            <p:spPr>
              <a:xfrm>
                <a:off x="1430338" y="3348038"/>
                <a:ext cx="0" cy="360300"/>
              </a:xfrm>
              <a:prstGeom prst="straightConnector1">
                <a:avLst/>
              </a:prstGeom>
              <a:noFill/>
              <a:ln w="22225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4" name="Google Shape;1278;p22">
                <a:extLst>
                  <a:ext uri="{FF2B5EF4-FFF2-40B4-BE49-F238E27FC236}">
                    <a16:creationId xmlns:a16="http://schemas.microsoft.com/office/drawing/2014/main" id="{36E733ED-349B-7B6B-6110-05E889C649A6}"/>
                  </a:ext>
                </a:extLst>
              </p:cNvPr>
              <p:cNvCxnSpPr/>
              <p:nvPr/>
            </p:nvCxnSpPr>
            <p:spPr>
              <a:xfrm>
                <a:off x="1533525" y="3348038"/>
                <a:ext cx="0" cy="360300"/>
              </a:xfrm>
              <a:prstGeom prst="straightConnector1">
                <a:avLst/>
              </a:prstGeom>
              <a:noFill/>
              <a:ln w="22225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5" name="Google Shape;1279;p22">
                <a:extLst>
                  <a:ext uri="{FF2B5EF4-FFF2-40B4-BE49-F238E27FC236}">
                    <a16:creationId xmlns:a16="http://schemas.microsoft.com/office/drawing/2014/main" id="{5AA31F4E-F521-0958-F71A-1C0FBF6D5110}"/>
                  </a:ext>
                </a:extLst>
              </p:cNvPr>
              <p:cNvCxnSpPr/>
              <p:nvPr/>
            </p:nvCxnSpPr>
            <p:spPr>
              <a:xfrm>
                <a:off x="1631950" y="3348038"/>
                <a:ext cx="0" cy="360300"/>
              </a:xfrm>
              <a:prstGeom prst="straightConnector1">
                <a:avLst/>
              </a:prstGeom>
              <a:noFill/>
              <a:ln w="22225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71" name="Google Shape;1280;p22">
              <a:extLst>
                <a:ext uri="{FF2B5EF4-FFF2-40B4-BE49-F238E27FC236}">
                  <a16:creationId xmlns:a16="http://schemas.microsoft.com/office/drawing/2014/main" id="{1D10C586-C8D7-97E9-A933-E47DF97C1614}"/>
                </a:ext>
              </a:extLst>
            </p:cNvPr>
            <p:cNvSpPr/>
            <p:nvPr/>
          </p:nvSpPr>
          <p:spPr>
            <a:xfrm>
              <a:off x="1198110" y="3274750"/>
              <a:ext cx="518700" cy="518700"/>
            </a:xfrm>
            <a:prstGeom prst="roundRect">
              <a:avLst>
                <a:gd name="adj" fmla="val 16667"/>
              </a:avLst>
            </a:prstGeom>
            <a:noFill/>
            <a:ln w="222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281;p22">
            <a:extLst>
              <a:ext uri="{FF2B5EF4-FFF2-40B4-BE49-F238E27FC236}">
                <a16:creationId xmlns:a16="http://schemas.microsoft.com/office/drawing/2014/main" id="{CF35660F-2620-A9F4-5EA9-6971CA088D4F}"/>
              </a:ext>
            </a:extLst>
          </p:cNvPr>
          <p:cNvGrpSpPr/>
          <p:nvPr/>
        </p:nvGrpSpPr>
        <p:grpSpPr>
          <a:xfrm>
            <a:off x="3013978" y="4697985"/>
            <a:ext cx="676569" cy="572809"/>
            <a:chOff x="-1790700" y="2565400"/>
            <a:chExt cx="2079620" cy="2130426"/>
          </a:xfrm>
        </p:grpSpPr>
        <p:sp>
          <p:nvSpPr>
            <p:cNvPr id="77" name="Google Shape;1282;p22">
              <a:extLst>
                <a:ext uri="{FF2B5EF4-FFF2-40B4-BE49-F238E27FC236}">
                  <a16:creationId xmlns:a16="http://schemas.microsoft.com/office/drawing/2014/main" id="{C1BCCE53-F824-CFEF-F8E5-788167B5587A}"/>
                </a:ext>
              </a:extLst>
            </p:cNvPr>
            <p:cNvSpPr/>
            <p:nvPr/>
          </p:nvSpPr>
          <p:spPr>
            <a:xfrm>
              <a:off x="-1790700" y="2565400"/>
              <a:ext cx="2079620" cy="2130426"/>
            </a:xfrm>
            <a:custGeom>
              <a:avLst/>
              <a:gdLst/>
              <a:ahLst/>
              <a:cxnLst/>
              <a:rect l="l" t="t" r="r" b="b"/>
              <a:pathLst>
                <a:path w="5491" h="5626" extrusionOk="0">
                  <a:moveTo>
                    <a:pt x="4809" y="1256"/>
                  </a:moveTo>
                  <a:cubicBezTo>
                    <a:pt x="4732" y="1154"/>
                    <a:pt x="4649" y="1057"/>
                    <a:pt x="4558" y="966"/>
                  </a:cubicBezTo>
                  <a:cubicBezTo>
                    <a:pt x="3826" y="242"/>
                    <a:pt x="2713" y="0"/>
                    <a:pt x="1750" y="375"/>
                  </a:cubicBezTo>
                  <a:cubicBezTo>
                    <a:pt x="703" y="783"/>
                    <a:pt x="20" y="1842"/>
                    <a:pt x="81" y="2965"/>
                  </a:cubicBezTo>
                  <a:cubicBezTo>
                    <a:pt x="144" y="4129"/>
                    <a:pt x="1001" y="5144"/>
                    <a:pt x="2144" y="5388"/>
                  </a:cubicBezTo>
                  <a:cubicBezTo>
                    <a:pt x="3260" y="5626"/>
                    <a:pt x="4432" y="5106"/>
                    <a:pt x="4992" y="4108"/>
                  </a:cubicBezTo>
                  <a:cubicBezTo>
                    <a:pt x="5491" y="3217"/>
                    <a:pt x="5422" y="2075"/>
                    <a:pt x="4809" y="1256"/>
                  </a:cubicBezTo>
                  <a:close/>
                  <a:moveTo>
                    <a:pt x="2575" y="5346"/>
                  </a:moveTo>
                  <a:cubicBezTo>
                    <a:pt x="1446" y="5292"/>
                    <a:pt x="467" y="4460"/>
                    <a:pt x="231" y="3355"/>
                  </a:cubicBezTo>
                  <a:cubicBezTo>
                    <a:pt x="0" y="2276"/>
                    <a:pt x="512" y="1145"/>
                    <a:pt x="1478" y="611"/>
                  </a:cubicBezTo>
                  <a:cubicBezTo>
                    <a:pt x="2330" y="139"/>
                    <a:pt x="3410" y="208"/>
                    <a:pt x="4196" y="783"/>
                  </a:cubicBezTo>
                  <a:cubicBezTo>
                    <a:pt x="4300" y="859"/>
                    <a:pt x="4397" y="944"/>
                    <a:pt x="4489" y="1035"/>
                  </a:cubicBezTo>
                  <a:cubicBezTo>
                    <a:pt x="5181" y="1734"/>
                    <a:pt x="5411" y="2786"/>
                    <a:pt x="5069" y="3710"/>
                  </a:cubicBezTo>
                  <a:cubicBezTo>
                    <a:pt x="4689" y="4732"/>
                    <a:pt x="3661" y="5398"/>
                    <a:pt x="2575" y="5346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8" name="Google Shape;1283;p22">
              <a:extLst>
                <a:ext uri="{FF2B5EF4-FFF2-40B4-BE49-F238E27FC236}">
                  <a16:creationId xmlns:a16="http://schemas.microsoft.com/office/drawing/2014/main" id="{E7E48A67-621E-F1A8-E276-ED0AC770952A}"/>
                </a:ext>
              </a:extLst>
            </p:cNvPr>
            <p:cNvGrpSpPr/>
            <p:nvPr/>
          </p:nvGrpSpPr>
          <p:grpSpPr>
            <a:xfrm>
              <a:off x="-1581150" y="2820988"/>
              <a:ext cx="1624012" cy="1625598"/>
              <a:chOff x="-1581150" y="2820988"/>
              <a:chExt cx="1624012" cy="1625598"/>
            </a:xfrm>
          </p:grpSpPr>
          <p:sp>
            <p:nvSpPr>
              <p:cNvPr id="79" name="Google Shape;1284;p22">
                <a:extLst>
                  <a:ext uri="{FF2B5EF4-FFF2-40B4-BE49-F238E27FC236}">
                    <a16:creationId xmlns:a16="http://schemas.microsoft.com/office/drawing/2014/main" id="{0A8FBD72-0962-CB71-AA3E-BC33120E8C4B}"/>
                  </a:ext>
                </a:extLst>
              </p:cNvPr>
              <p:cNvSpPr/>
              <p:nvPr/>
            </p:nvSpPr>
            <p:spPr>
              <a:xfrm>
                <a:off x="-1035050" y="3421063"/>
                <a:ext cx="465137" cy="439739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1164" extrusionOk="0">
                    <a:moveTo>
                      <a:pt x="1230" y="566"/>
                    </a:moveTo>
                    <a:cubicBezTo>
                      <a:pt x="1224" y="348"/>
                      <a:pt x="1094" y="152"/>
                      <a:pt x="886" y="76"/>
                    </a:cubicBezTo>
                    <a:cubicBezTo>
                      <a:pt x="680" y="0"/>
                      <a:pt x="443" y="65"/>
                      <a:pt x="303" y="234"/>
                    </a:cubicBezTo>
                    <a:cubicBezTo>
                      <a:pt x="0" y="602"/>
                      <a:pt x="331" y="1164"/>
                      <a:pt x="799" y="1081"/>
                    </a:cubicBezTo>
                    <a:cubicBezTo>
                      <a:pt x="1050" y="1037"/>
                      <a:pt x="1223" y="816"/>
                      <a:pt x="1230" y="566"/>
                    </a:cubicBezTo>
                    <a:close/>
                    <a:moveTo>
                      <a:pt x="707" y="991"/>
                    </a:moveTo>
                    <a:cubicBezTo>
                      <a:pt x="474" y="991"/>
                      <a:pt x="283" y="798"/>
                      <a:pt x="282" y="566"/>
                    </a:cubicBezTo>
                    <a:cubicBezTo>
                      <a:pt x="281" y="335"/>
                      <a:pt x="476" y="141"/>
                      <a:pt x="707" y="141"/>
                    </a:cubicBezTo>
                    <a:cubicBezTo>
                      <a:pt x="943" y="142"/>
                      <a:pt x="1125" y="335"/>
                      <a:pt x="1132" y="566"/>
                    </a:cubicBezTo>
                    <a:cubicBezTo>
                      <a:pt x="1125" y="798"/>
                      <a:pt x="943" y="991"/>
                      <a:pt x="707" y="99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7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1285;p22">
                <a:extLst>
                  <a:ext uri="{FF2B5EF4-FFF2-40B4-BE49-F238E27FC236}">
                    <a16:creationId xmlns:a16="http://schemas.microsoft.com/office/drawing/2014/main" id="{B3F503AE-6F9E-6FE3-1AA2-8EA06083D8F9}"/>
                  </a:ext>
                </a:extLst>
              </p:cNvPr>
              <p:cNvSpPr/>
              <p:nvPr/>
            </p:nvSpPr>
            <p:spPr>
              <a:xfrm>
                <a:off x="-1581150" y="2820988"/>
                <a:ext cx="1624012" cy="1625598"/>
              </a:xfrm>
              <a:custGeom>
                <a:avLst/>
                <a:gdLst/>
                <a:ahLst/>
                <a:cxnLst/>
                <a:rect l="l" t="t" r="r" b="b"/>
                <a:pathLst>
                  <a:path w="4290" h="4293" extrusionOk="0">
                    <a:moveTo>
                      <a:pt x="4261" y="1816"/>
                    </a:moveTo>
                    <a:cubicBezTo>
                      <a:pt x="4262" y="1811"/>
                      <a:pt x="4262" y="1805"/>
                      <a:pt x="4261" y="1800"/>
                    </a:cubicBezTo>
                    <a:cubicBezTo>
                      <a:pt x="4176" y="1295"/>
                      <a:pt x="3914" y="839"/>
                      <a:pt x="3524" y="508"/>
                    </a:cubicBezTo>
                    <a:cubicBezTo>
                      <a:pt x="3522" y="506"/>
                      <a:pt x="3520" y="505"/>
                      <a:pt x="3518" y="504"/>
                    </a:cubicBezTo>
                    <a:cubicBezTo>
                      <a:pt x="3304" y="323"/>
                      <a:pt x="3052" y="183"/>
                      <a:pt x="2772" y="98"/>
                    </a:cubicBezTo>
                    <a:cubicBezTo>
                      <a:pt x="2542" y="28"/>
                      <a:pt x="2306" y="0"/>
                      <a:pt x="2073" y="9"/>
                    </a:cubicBezTo>
                    <a:cubicBezTo>
                      <a:pt x="2056" y="10"/>
                      <a:pt x="2040" y="11"/>
                      <a:pt x="2023" y="12"/>
                    </a:cubicBezTo>
                    <a:cubicBezTo>
                      <a:pt x="2021" y="12"/>
                      <a:pt x="2019" y="12"/>
                      <a:pt x="2017" y="12"/>
                    </a:cubicBezTo>
                    <a:cubicBezTo>
                      <a:pt x="1796" y="25"/>
                      <a:pt x="1578" y="72"/>
                      <a:pt x="1368" y="153"/>
                    </a:cubicBezTo>
                    <a:cubicBezTo>
                      <a:pt x="1361" y="156"/>
                      <a:pt x="1355" y="160"/>
                      <a:pt x="1350" y="165"/>
                    </a:cubicBezTo>
                    <a:cubicBezTo>
                      <a:pt x="1142" y="248"/>
                      <a:pt x="948" y="362"/>
                      <a:pt x="775" y="506"/>
                    </a:cubicBezTo>
                    <a:cubicBezTo>
                      <a:pt x="774" y="506"/>
                      <a:pt x="773" y="507"/>
                      <a:pt x="772" y="508"/>
                    </a:cubicBezTo>
                    <a:cubicBezTo>
                      <a:pt x="769" y="510"/>
                      <a:pt x="766" y="513"/>
                      <a:pt x="763" y="515"/>
                    </a:cubicBezTo>
                    <a:cubicBezTo>
                      <a:pt x="622" y="633"/>
                      <a:pt x="496" y="770"/>
                      <a:pt x="388" y="924"/>
                    </a:cubicBezTo>
                    <a:cubicBezTo>
                      <a:pt x="244" y="1131"/>
                      <a:pt x="140" y="1361"/>
                      <a:pt x="78" y="1600"/>
                    </a:cubicBezTo>
                    <a:cubicBezTo>
                      <a:pt x="61" y="1666"/>
                      <a:pt x="46" y="1733"/>
                      <a:pt x="34" y="1800"/>
                    </a:cubicBezTo>
                    <a:cubicBezTo>
                      <a:pt x="34" y="1805"/>
                      <a:pt x="34" y="1810"/>
                      <a:pt x="34" y="1816"/>
                    </a:cubicBezTo>
                    <a:cubicBezTo>
                      <a:pt x="0" y="2036"/>
                      <a:pt x="0" y="2260"/>
                      <a:pt x="34" y="2481"/>
                    </a:cubicBezTo>
                    <a:cubicBezTo>
                      <a:pt x="34" y="2485"/>
                      <a:pt x="34" y="2490"/>
                      <a:pt x="34" y="2495"/>
                    </a:cubicBezTo>
                    <a:cubicBezTo>
                      <a:pt x="41" y="2535"/>
                      <a:pt x="49" y="2574"/>
                      <a:pt x="58" y="2614"/>
                    </a:cubicBezTo>
                    <a:cubicBezTo>
                      <a:pt x="99" y="2802"/>
                      <a:pt x="166" y="2986"/>
                      <a:pt x="258" y="3159"/>
                    </a:cubicBezTo>
                    <a:cubicBezTo>
                      <a:pt x="387" y="3400"/>
                      <a:pt x="560" y="3609"/>
                      <a:pt x="763" y="3779"/>
                    </a:cubicBezTo>
                    <a:cubicBezTo>
                      <a:pt x="766" y="3782"/>
                      <a:pt x="769" y="3785"/>
                      <a:pt x="772" y="3787"/>
                    </a:cubicBezTo>
                    <a:cubicBezTo>
                      <a:pt x="772" y="3788"/>
                      <a:pt x="773" y="3788"/>
                      <a:pt x="774" y="3789"/>
                    </a:cubicBezTo>
                    <a:cubicBezTo>
                      <a:pt x="947" y="3932"/>
                      <a:pt x="1142" y="4048"/>
                      <a:pt x="1351" y="4131"/>
                    </a:cubicBezTo>
                    <a:cubicBezTo>
                      <a:pt x="1356" y="4136"/>
                      <a:pt x="1362" y="4139"/>
                      <a:pt x="1368" y="4142"/>
                    </a:cubicBezTo>
                    <a:cubicBezTo>
                      <a:pt x="1562" y="4217"/>
                      <a:pt x="1763" y="4262"/>
                      <a:pt x="1967" y="4279"/>
                    </a:cubicBezTo>
                    <a:cubicBezTo>
                      <a:pt x="1974" y="4280"/>
                      <a:pt x="1982" y="4281"/>
                      <a:pt x="1990" y="4281"/>
                    </a:cubicBezTo>
                    <a:cubicBezTo>
                      <a:pt x="1998" y="4282"/>
                      <a:pt x="2005" y="4282"/>
                      <a:pt x="2013" y="4283"/>
                    </a:cubicBezTo>
                    <a:cubicBezTo>
                      <a:pt x="2165" y="4293"/>
                      <a:pt x="2319" y="4288"/>
                      <a:pt x="2473" y="4265"/>
                    </a:cubicBezTo>
                    <a:cubicBezTo>
                      <a:pt x="2867" y="4206"/>
                      <a:pt x="3221" y="4038"/>
                      <a:pt x="3510" y="3796"/>
                    </a:cubicBezTo>
                    <a:cubicBezTo>
                      <a:pt x="3515" y="3794"/>
                      <a:pt x="3520" y="3791"/>
                      <a:pt x="3524" y="3787"/>
                    </a:cubicBezTo>
                    <a:cubicBezTo>
                      <a:pt x="3914" y="3456"/>
                      <a:pt x="4176" y="3000"/>
                      <a:pt x="4261" y="2495"/>
                    </a:cubicBezTo>
                    <a:cubicBezTo>
                      <a:pt x="4262" y="2490"/>
                      <a:pt x="4262" y="2484"/>
                      <a:pt x="4261" y="2479"/>
                    </a:cubicBezTo>
                    <a:cubicBezTo>
                      <a:pt x="4279" y="2371"/>
                      <a:pt x="4289" y="2260"/>
                      <a:pt x="4290" y="2147"/>
                    </a:cubicBezTo>
                    <a:cubicBezTo>
                      <a:pt x="4289" y="2035"/>
                      <a:pt x="4279" y="1925"/>
                      <a:pt x="4261" y="1816"/>
                    </a:cubicBezTo>
                    <a:close/>
                    <a:moveTo>
                      <a:pt x="3784" y="3366"/>
                    </a:moveTo>
                    <a:cubicBezTo>
                      <a:pt x="3774" y="3380"/>
                      <a:pt x="3764" y="3392"/>
                      <a:pt x="3754" y="3405"/>
                    </a:cubicBezTo>
                    <a:cubicBezTo>
                      <a:pt x="3744" y="3418"/>
                      <a:pt x="3734" y="3431"/>
                      <a:pt x="3724" y="3444"/>
                    </a:cubicBezTo>
                    <a:cubicBezTo>
                      <a:pt x="3718" y="3451"/>
                      <a:pt x="3712" y="3458"/>
                      <a:pt x="3706" y="3465"/>
                    </a:cubicBezTo>
                    <a:cubicBezTo>
                      <a:pt x="3690" y="3484"/>
                      <a:pt x="3673" y="3504"/>
                      <a:pt x="3656" y="3522"/>
                    </a:cubicBezTo>
                    <a:cubicBezTo>
                      <a:pt x="3655" y="3524"/>
                      <a:pt x="3654" y="3525"/>
                      <a:pt x="3652" y="3527"/>
                    </a:cubicBezTo>
                    <a:cubicBezTo>
                      <a:pt x="3605" y="3579"/>
                      <a:pt x="3554" y="3629"/>
                      <a:pt x="3501" y="3677"/>
                    </a:cubicBezTo>
                    <a:cubicBezTo>
                      <a:pt x="3315" y="3363"/>
                      <a:pt x="3129" y="3050"/>
                      <a:pt x="2943" y="2737"/>
                    </a:cubicBezTo>
                    <a:cubicBezTo>
                      <a:pt x="2990" y="2672"/>
                      <a:pt x="3029" y="2604"/>
                      <a:pt x="3061" y="2531"/>
                    </a:cubicBezTo>
                    <a:cubicBezTo>
                      <a:pt x="3425" y="2531"/>
                      <a:pt x="3789" y="2531"/>
                      <a:pt x="4153" y="2531"/>
                    </a:cubicBezTo>
                    <a:cubicBezTo>
                      <a:pt x="4094" y="2829"/>
                      <a:pt x="3971" y="3109"/>
                      <a:pt x="3796" y="3350"/>
                    </a:cubicBezTo>
                    <a:cubicBezTo>
                      <a:pt x="3792" y="3356"/>
                      <a:pt x="3788" y="3361"/>
                      <a:pt x="3784" y="3366"/>
                    </a:cubicBezTo>
                    <a:close/>
                    <a:moveTo>
                      <a:pt x="3029" y="2433"/>
                    </a:moveTo>
                    <a:cubicBezTo>
                      <a:pt x="3007" y="2433"/>
                      <a:pt x="2993" y="2444"/>
                      <a:pt x="2986" y="2460"/>
                    </a:cubicBezTo>
                    <a:cubicBezTo>
                      <a:pt x="2984" y="2462"/>
                      <a:pt x="2983" y="2465"/>
                      <a:pt x="2981" y="2469"/>
                    </a:cubicBezTo>
                    <a:cubicBezTo>
                      <a:pt x="2946" y="2556"/>
                      <a:pt x="2900" y="2635"/>
                      <a:pt x="2842" y="2709"/>
                    </a:cubicBezTo>
                    <a:cubicBezTo>
                      <a:pt x="2832" y="2723"/>
                      <a:pt x="2834" y="2745"/>
                      <a:pt x="2842" y="2759"/>
                    </a:cubicBezTo>
                    <a:cubicBezTo>
                      <a:pt x="3037" y="3086"/>
                      <a:pt x="3231" y="3414"/>
                      <a:pt x="3426" y="3742"/>
                    </a:cubicBezTo>
                    <a:cubicBezTo>
                      <a:pt x="3279" y="3861"/>
                      <a:pt x="3115" y="3960"/>
                      <a:pt x="2936" y="4035"/>
                    </a:cubicBezTo>
                    <a:cubicBezTo>
                      <a:pt x="2741" y="3707"/>
                      <a:pt x="2547" y="3379"/>
                      <a:pt x="2352" y="3051"/>
                    </a:cubicBezTo>
                    <a:cubicBezTo>
                      <a:pt x="2341" y="3032"/>
                      <a:pt x="2324" y="3026"/>
                      <a:pt x="2308" y="3028"/>
                    </a:cubicBezTo>
                    <a:cubicBezTo>
                      <a:pt x="2304" y="3027"/>
                      <a:pt x="2301" y="3028"/>
                      <a:pt x="2297" y="3028"/>
                    </a:cubicBezTo>
                    <a:cubicBezTo>
                      <a:pt x="2197" y="3044"/>
                      <a:pt x="2098" y="3044"/>
                      <a:pt x="1999" y="3028"/>
                    </a:cubicBezTo>
                    <a:cubicBezTo>
                      <a:pt x="1977" y="3025"/>
                      <a:pt x="1956" y="3031"/>
                      <a:pt x="1944" y="3051"/>
                    </a:cubicBezTo>
                    <a:cubicBezTo>
                      <a:pt x="1750" y="3378"/>
                      <a:pt x="1556" y="3704"/>
                      <a:pt x="1362" y="4031"/>
                    </a:cubicBezTo>
                    <a:cubicBezTo>
                      <a:pt x="1186" y="3959"/>
                      <a:pt x="1020" y="3862"/>
                      <a:pt x="869" y="3743"/>
                    </a:cubicBezTo>
                    <a:cubicBezTo>
                      <a:pt x="1063" y="3416"/>
                      <a:pt x="1257" y="3089"/>
                      <a:pt x="1451" y="2762"/>
                    </a:cubicBezTo>
                    <a:cubicBezTo>
                      <a:pt x="1464" y="2749"/>
                      <a:pt x="1468" y="2729"/>
                      <a:pt x="1453" y="2709"/>
                    </a:cubicBezTo>
                    <a:cubicBezTo>
                      <a:pt x="1396" y="2635"/>
                      <a:pt x="1349" y="2556"/>
                      <a:pt x="1314" y="2469"/>
                    </a:cubicBezTo>
                    <a:cubicBezTo>
                      <a:pt x="1306" y="2448"/>
                      <a:pt x="1290" y="2433"/>
                      <a:pt x="1267" y="2433"/>
                    </a:cubicBezTo>
                    <a:cubicBezTo>
                      <a:pt x="887" y="2433"/>
                      <a:pt x="506" y="2433"/>
                      <a:pt x="126" y="2433"/>
                    </a:cubicBezTo>
                    <a:cubicBezTo>
                      <a:pt x="100" y="2244"/>
                      <a:pt x="99" y="2052"/>
                      <a:pt x="125" y="1862"/>
                    </a:cubicBezTo>
                    <a:cubicBezTo>
                      <a:pt x="506" y="1862"/>
                      <a:pt x="886" y="1862"/>
                      <a:pt x="1267" y="1862"/>
                    </a:cubicBezTo>
                    <a:cubicBezTo>
                      <a:pt x="1289" y="1862"/>
                      <a:pt x="1303" y="1851"/>
                      <a:pt x="1309" y="1835"/>
                    </a:cubicBezTo>
                    <a:cubicBezTo>
                      <a:pt x="1311" y="1833"/>
                      <a:pt x="1313" y="1830"/>
                      <a:pt x="1314" y="1826"/>
                    </a:cubicBezTo>
                    <a:cubicBezTo>
                      <a:pt x="1349" y="1739"/>
                      <a:pt x="1396" y="1660"/>
                      <a:pt x="1453" y="1586"/>
                    </a:cubicBezTo>
                    <a:cubicBezTo>
                      <a:pt x="1463" y="1572"/>
                      <a:pt x="1461" y="1550"/>
                      <a:pt x="1453" y="1536"/>
                    </a:cubicBezTo>
                    <a:cubicBezTo>
                      <a:pt x="1259" y="1209"/>
                      <a:pt x="1065" y="882"/>
                      <a:pt x="871" y="555"/>
                    </a:cubicBezTo>
                    <a:cubicBezTo>
                      <a:pt x="1020" y="436"/>
                      <a:pt x="1186" y="338"/>
                      <a:pt x="1362" y="265"/>
                    </a:cubicBezTo>
                    <a:cubicBezTo>
                      <a:pt x="1556" y="591"/>
                      <a:pt x="1750" y="918"/>
                      <a:pt x="1944" y="1244"/>
                    </a:cubicBezTo>
                    <a:cubicBezTo>
                      <a:pt x="1954" y="1263"/>
                      <a:pt x="1971" y="1269"/>
                      <a:pt x="1987" y="1267"/>
                    </a:cubicBezTo>
                    <a:cubicBezTo>
                      <a:pt x="1991" y="1268"/>
                      <a:pt x="1995" y="1267"/>
                      <a:pt x="1999" y="1267"/>
                    </a:cubicBezTo>
                    <a:cubicBezTo>
                      <a:pt x="2098" y="1251"/>
                      <a:pt x="2197" y="1251"/>
                      <a:pt x="2297" y="1267"/>
                    </a:cubicBezTo>
                    <a:cubicBezTo>
                      <a:pt x="2319" y="1270"/>
                      <a:pt x="2340" y="1264"/>
                      <a:pt x="2352" y="1244"/>
                    </a:cubicBezTo>
                    <a:cubicBezTo>
                      <a:pt x="2546" y="917"/>
                      <a:pt x="2741" y="589"/>
                      <a:pt x="2935" y="262"/>
                    </a:cubicBezTo>
                    <a:cubicBezTo>
                      <a:pt x="3112" y="337"/>
                      <a:pt x="3277" y="436"/>
                      <a:pt x="3424" y="556"/>
                    </a:cubicBezTo>
                    <a:cubicBezTo>
                      <a:pt x="3231" y="882"/>
                      <a:pt x="3037" y="1207"/>
                      <a:pt x="2844" y="1533"/>
                    </a:cubicBezTo>
                    <a:cubicBezTo>
                      <a:pt x="2831" y="1546"/>
                      <a:pt x="2827" y="1566"/>
                      <a:pt x="2842" y="1586"/>
                    </a:cubicBezTo>
                    <a:cubicBezTo>
                      <a:pt x="2900" y="1660"/>
                      <a:pt x="2946" y="1739"/>
                      <a:pt x="2981" y="1826"/>
                    </a:cubicBezTo>
                    <a:cubicBezTo>
                      <a:pt x="2989" y="1847"/>
                      <a:pt x="3005" y="1862"/>
                      <a:pt x="3029" y="1862"/>
                    </a:cubicBezTo>
                    <a:cubicBezTo>
                      <a:pt x="3409" y="1862"/>
                      <a:pt x="3789" y="1862"/>
                      <a:pt x="4170" y="1862"/>
                    </a:cubicBezTo>
                    <a:cubicBezTo>
                      <a:pt x="4184" y="1956"/>
                      <a:pt x="4191" y="2051"/>
                      <a:pt x="4192" y="2147"/>
                    </a:cubicBezTo>
                    <a:cubicBezTo>
                      <a:pt x="4191" y="2244"/>
                      <a:pt x="4183" y="2339"/>
                      <a:pt x="4169" y="2433"/>
                    </a:cubicBezTo>
                    <a:cubicBezTo>
                      <a:pt x="3789" y="2433"/>
                      <a:pt x="3409" y="2433"/>
                      <a:pt x="3029" y="2433"/>
                    </a:cubicBezTo>
                    <a:close/>
                    <a:moveTo>
                      <a:pt x="1825" y="4163"/>
                    </a:moveTo>
                    <a:cubicBezTo>
                      <a:pt x="1815" y="4161"/>
                      <a:pt x="1806" y="4160"/>
                      <a:pt x="1797" y="4158"/>
                    </a:cubicBezTo>
                    <a:cubicBezTo>
                      <a:pt x="1680" y="4137"/>
                      <a:pt x="1566" y="4107"/>
                      <a:pt x="1455" y="4067"/>
                    </a:cubicBezTo>
                    <a:cubicBezTo>
                      <a:pt x="1640" y="3754"/>
                      <a:pt x="1826" y="3441"/>
                      <a:pt x="2012" y="3128"/>
                    </a:cubicBezTo>
                    <a:cubicBezTo>
                      <a:pt x="2103" y="3139"/>
                      <a:pt x="2192" y="3139"/>
                      <a:pt x="2284" y="3128"/>
                    </a:cubicBezTo>
                    <a:cubicBezTo>
                      <a:pt x="2470" y="3442"/>
                      <a:pt x="2656" y="3755"/>
                      <a:pt x="2842" y="4069"/>
                    </a:cubicBezTo>
                    <a:cubicBezTo>
                      <a:pt x="2527" y="4180"/>
                      <a:pt x="2195" y="4214"/>
                      <a:pt x="1870" y="4170"/>
                    </a:cubicBezTo>
                    <a:cubicBezTo>
                      <a:pt x="1855" y="4168"/>
                      <a:pt x="1840" y="4165"/>
                      <a:pt x="1825" y="4163"/>
                    </a:cubicBezTo>
                    <a:close/>
                    <a:moveTo>
                      <a:pt x="795" y="618"/>
                    </a:moveTo>
                    <a:cubicBezTo>
                      <a:pt x="980" y="932"/>
                      <a:pt x="1166" y="1245"/>
                      <a:pt x="1352" y="1558"/>
                    </a:cubicBezTo>
                    <a:cubicBezTo>
                      <a:pt x="1305" y="1623"/>
                      <a:pt x="1267" y="1691"/>
                      <a:pt x="1235" y="1764"/>
                    </a:cubicBezTo>
                    <a:cubicBezTo>
                      <a:pt x="870" y="1764"/>
                      <a:pt x="505" y="1764"/>
                      <a:pt x="141" y="1764"/>
                    </a:cubicBezTo>
                    <a:cubicBezTo>
                      <a:pt x="227" y="1333"/>
                      <a:pt x="443" y="946"/>
                      <a:pt x="764" y="646"/>
                    </a:cubicBezTo>
                    <a:cubicBezTo>
                      <a:pt x="774" y="637"/>
                      <a:pt x="784" y="627"/>
                      <a:pt x="795" y="618"/>
                    </a:cubicBezTo>
                    <a:close/>
                    <a:moveTo>
                      <a:pt x="142" y="2531"/>
                    </a:moveTo>
                    <a:cubicBezTo>
                      <a:pt x="506" y="2531"/>
                      <a:pt x="871" y="2531"/>
                      <a:pt x="1235" y="2531"/>
                    </a:cubicBezTo>
                    <a:cubicBezTo>
                      <a:pt x="1267" y="2604"/>
                      <a:pt x="1305" y="2672"/>
                      <a:pt x="1352" y="2737"/>
                    </a:cubicBezTo>
                    <a:cubicBezTo>
                      <a:pt x="1166" y="3050"/>
                      <a:pt x="980" y="3363"/>
                      <a:pt x="794" y="3677"/>
                    </a:cubicBezTo>
                    <a:cubicBezTo>
                      <a:pt x="498" y="3410"/>
                      <a:pt x="286" y="3069"/>
                      <a:pt x="178" y="2688"/>
                    </a:cubicBezTo>
                    <a:cubicBezTo>
                      <a:pt x="164" y="2636"/>
                      <a:pt x="152" y="2584"/>
                      <a:pt x="142" y="2531"/>
                    </a:cubicBezTo>
                    <a:close/>
                    <a:moveTo>
                      <a:pt x="1692" y="158"/>
                    </a:moveTo>
                    <a:cubicBezTo>
                      <a:pt x="2073" y="72"/>
                      <a:pt x="2469" y="95"/>
                      <a:pt x="2842" y="226"/>
                    </a:cubicBezTo>
                    <a:cubicBezTo>
                      <a:pt x="2656" y="540"/>
                      <a:pt x="2470" y="853"/>
                      <a:pt x="2284" y="1167"/>
                    </a:cubicBezTo>
                    <a:cubicBezTo>
                      <a:pt x="2193" y="1156"/>
                      <a:pt x="2103" y="1156"/>
                      <a:pt x="2012" y="1167"/>
                    </a:cubicBezTo>
                    <a:cubicBezTo>
                      <a:pt x="1826" y="854"/>
                      <a:pt x="1640" y="541"/>
                      <a:pt x="1455" y="228"/>
                    </a:cubicBezTo>
                    <a:cubicBezTo>
                      <a:pt x="1532" y="200"/>
                      <a:pt x="1611" y="176"/>
                      <a:pt x="1692" y="158"/>
                    </a:cubicBezTo>
                    <a:close/>
                    <a:moveTo>
                      <a:pt x="4153" y="1764"/>
                    </a:moveTo>
                    <a:cubicBezTo>
                      <a:pt x="3789" y="1764"/>
                      <a:pt x="3425" y="1764"/>
                      <a:pt x="3061" y="1764"/>
                    </a:cubicBezTo>
                    <a:cubicBezTo>
                      <a:pt x="3029" y="1691"/>
                      <a:pt x="2990" y="1623"/>
                      <a:pt x="2943" y="1558"/>
                    </a:cubicBezTo>
                    <a:cubicBezTo>
                      <a:pt x="3129" y="1246"/>
                      <a:pt x="3314" y="933"/>
                      <a:pt x="3500" y="621"/>
                    </a:cubicBezTo>
                    <a:cubicBezTo>
                      <a:pt x="3830" y="917"/>
                      <a:pt x="4064" y="1318"/>
                      <a:pt x="4153" y="1764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7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1286;p22">
                <a:extLst>
                  <a:ext uri="{FF2B5EF4-FFF2-40B4-BE49-F238E27FC236}">
                    <a16:creationId xmlns:a16="http://schemas.microsoft.com/office/drawing/2014/main" id="{083B52A0-9A34-4927-7799-63CE8D13AFEB}"/>
                  </a:ext>
                </a:extLst>
              </p:cNvPr>
              <p:cNvSpPr/>
              <p:nvPr/>
            </p:nvSpPr>
            <p:spPr>
              <a:xfrm>
                <a:off x="-977900" y="3348038"/>
                <a:ext cx="114300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5" extrusionOk="0">
                    <a:moveTo>
                      <a:pt x="145" y="301"/>
                    </a:moveTo>
                    <a:cubicBezTo>
                      <a:pt x="228" y="305"/>
                      <a:pt x="289" y="242"/>
                      <a:pt x="300" y="166"/>
                    </a:cubicBezTo>
                    <a:cubicBezTo>
                      <a:pt x="301" y="161"/>
                      <a:pt x="302" y="156"/>
                      <a:pt x="302" y="151"/>
                    </a:cubicBezTo>
                    <a:cubicBezTo>
                      <a:pt x="302" y="146"/>
                      <a:pt x="301" y="141"/>
                      <a:pt x="300" y="136"/>
                    </a:cubicBezTo>
                    <a:cubicBezTo>
                      <a:pt x="290" y="61"/>
                      <a:pt x="231" y="0"/>
                      <a:pt x="151" y="0"/>
                    </a:cubicBezTo>
                    <a:cubicBezTo>
                      <a:pt x="69" y="0"/>
                      <a:pt x="1" y="69"/>
                      <a:pt x="0" y="151"/>
                    </a:cubicBezTo>
                    <a:cubicBezTo>
                      <a:pt x="0" y="231"/>
                      <a:pt x="66" y="298"/>
                      <a:pt x="145" y="301"/>
                    </a:cubicBezTo>
                    <a:close/>
                    <a:moveTo>
                      <a:pt x="204" y="151"/>
                    </a:moveTo>
                    <a:cubicBezTo>
                      <a:pt x="200" y="218"/>
                      <a:pt x="98" y="219"/>
                      <a:pt x="98" y="151"/>
                    </a:cubicBezTo>
                    <a:cubicBezTo>
                      <a:pt x="98" y="83"/>
                      <a:pt x="200" y="83"/>
                      <a:pt x="204" y="1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7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1287;p22">
                <a:extLst>
                  <a:ext uri="{FF2B5EF4-FFF2-40B4-BE49-F238E27FC236}">
                    <a16:creationId xmlns:a16="http://schemas.microsoft.com/office/drawing/2014/main" id="{589E5446-9EF9-3E41-9100-068FE41B15B0}"/>
                  </a:ext>
                </a:extLst>
              </p:cNvPr>
              <p:cNvSpPr/>
              <p:nvPr/>
            </p:nvSpPr>
            <p:spPr>
              <a:xfrm>
                <a:off x="-676275" y="3811588"/>
                <a:ext cx="114300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5" extrusionOk="0">
                    <a:moveTo>
                      <a:pt x="301" y="136"/>
                    </a:moveTo>
                    <a:cubicBezTo>
                      <a:pt x="290" y="61"/>
                      <a:pt x="231" y="0"/>
                      <a:pt x="151" y="0"/>
                    </a:cubicBezTo>
                    <a:cubicBezTo>
                      <a:pt x="69" y="0"/>
                      <a:pt x="1" y="69"/>
                      <a:pt x="1" y="151"/>
                    </a:cubicBezTo>
                    <a:cubicBezTo>
                      <a:pt x="0" y="231"/>
                      <a:pt x="67" y="298"/>
                      <a:pt x="146" y="301"/>
                    </a:cubicBezTo>
                    <a:cubicBezTo>
                      <a:pt x="228" y="305"/>
                      <a:pt x="290" y="242"/>
                      <a:pt x="301" y="165"/>
                    </a:cubicBezTo>
                    <a:cubicBezTo>
                      <a:pt x="302" y="161"/>
                      <a:pt x="302" y="156"/>
                      <a:pt x="302" y="151"/>
                    </a:cubicBezTo>
                    <a:cubicBezTo>
                      <a:pt x="302" y="145"/>
                      <a:pt x="302" y="141"/>
                      <a:pt x="301" y="136"/>
                    </a:cubicBezTo>
                    <a:close/>
                    <a:moveTo>
                      <a:pt x="99" y="151"/>
                    </a:moveTo>
                    <a:cubicBezTo>
                      <a:pt x="99" y="83"/>
                      <a:pt x="200" y="83"/>
                      <a:pt x="204" y="151"/>
                    </a:cubicBezTo>
                    <a:cubicBezTo>
                      <a:pt x="200" y="218"/>
                      <a:pt x="99" y="219"/>
                      <a:pt x="99" y="1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7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1288;p22">
                <a:extLst>
                  <a:ext uri="{FF2B5EF4-FFF2-40B4-BE49-F238E27FC236}">
                    <a16:creationId xmlns:a16="http://schemas.microsoft.com/office/drawing/2014/main" id="{1F88049D-8FAC-8F83-F5E5-72C32F99B448}"/>
                  </a:ext>
                </a:extLst>
              </p:cNvPr>
              <p:cNvSpPr/>
              <p:nvPr/>
            </p:nvSpPr>
            <p:spPr>
              <a:xfrm>
                <a:off x="-673100" y="3346450"/>
                <a:ext cx="114300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5" extrusionOk="0">
                    <a:moveTo>
                      <a:pt x="156" y="4"/>
                    </a:moveTo>
                    <a:cubicBezTo>
                      <a:pt x="74" y="0"/>
                      <a:pt x="12" y="62"/>
                      <a:pt x="2" y="139"/>
                    </a:cubicBezTo>
                    <a:cubicBezTo>
                      <a:pt x="1" y="144"/>
                      <a:pt x="0" y="149"/>
                      <a:pt x="0" y="154"/>
                    </a:cubicBezTo>
                    <a:cubicBezTo>
                      <a:pt x="0" y="159"/>
                      <a:pt x="1" y="164"/>
                      <a:pt x="2" y="168"/>
                    </a:cubicBezTo>
                    <a:cubicBezTo>
                      <a:pt x="12" y="243"/>
                      <a:pt x="71" y="305"/>
                      <a:pt x="151" y="305"/>
                    </a:cubicBezTo>
                    <a:cubicBezTo>
                      <a:pt x="233" y="305"/>
                      <a:pt x="301" y="236"/>
                      <a:pt x="301" y="154"/>
                    </a:cubicBezTo>
                    <a:cubicBezTo>
                      <a:pt x="302" y="74"/>
                      <a:pt x="236" y="7"/>
                      <a:pt x="156" y="4"/>
                    </a:cubicBezTo>
                    <a:close/>
                    <a:moveTo>
                      <a:pt x="98" y="154"/>
                    </a:moveTo>
                    <a:cubicBezTo>
                      <a:pt x="102" y="86"/>
                      <a:pt x="203" y="86"/>
                      <a:pt x="203" y="154"/>
                    </a:cubicBezTo>
                    <a:cubicBezTo>
                      <a:pt x="203" y="222"/>
                      <a:pt x="102" y="221"/>
                      <a:pt x="98" y="15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7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1289;p22">
                <a:extLst>
                  <a:ext uri="{FF2B5EF4-FFF2-40B4-BE49-F238E27FC236}">
                    <a16:creationId xmlns:a16="http://schemas.microsoft.com/office/drawing/2014/main" id="{BD6C22CF-3D8C-491C-F9A1-8720610D74E5}"/>
                  </a:ext>
                </a:extLst>
              </p:cNvPr>
              <p:cNvSpPr/>
              <p:nvPr/>
            </p:nvSpPr>
            <p:spPr>
              <a:xfrm>
                <a:off x="-549275" y="3576638"/>
                <a:ext cx="114300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4" extrusionOk="0">
                    <a:moveTo>
                      <a:pt x="156" y="3"/>
                    </a:moveTo>
                    <a:cubicBezTo>
                      <a:pt x="74" y="0"/>
                      <a:pt x="12" y="62"/>
                      <a:pt x="2" y="139"/>
                    </a:cubicBezTo>
                    <a:cubicBezTo>
                      <a:pt x="1" y="143"/>
                      <a:pt x="0" y="148"/>
                      <a:pt x="0" y="153"/>
                    </a:cubicBezTo>
                    <a:cubicBezTo>
                      <a:pt x="0" y="159"/>
                      <a:pt x="1" y="164"/>
                      <a:pt x="2" y="168"/>
                    </a:cubicBezTo>
                    <a:cubicBezTo>
                      <a:pt x="12" y="243"/>
                      <a:pt x="71" y="304"/>
                      <a:pt x="151" y="304"/>
                    </a:cubicBezTo>
                    <a:cubicBezTo>
                      <a:pt x="233" y="304"/>
                      <a:pt x="301" y="235"/>
                      <a:pt x="301" y="153"/>
                    </a:cubicBezTo>
                    <a:cubicBezTo>
                      <a:pt x="302" y="73"/>
                      <a:pt x="236" y="7"/>
                      <a:pt x="156" y="3"/>
                    </a:cubicBezTo>
                    <a:close/>
                    <a:moveTo>
                      <a:pt x="98" y="153"/>
                    </a:moveTo>
                    <a:cubicBezTo>
                      <a:pt x="102" y="86"/>
                      <a:pt x="203" y="85"/>
                      <a:pt x="203" y="153"/>
                    </a:cubicBezTo>
                    <a:cubicBezTo>
                      <a:pt x="203" y="222"/>
                      <a:pt x="102" y="221"/>
                      <a:pt x="98" y="15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7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1290;p22">
                <a:extLst>
                  <a:ext uri="{FF2B5EF4-FFF2-40B4-BE49-F238E27FC236}">
                    <a16:creationId xmlns:a16="http://schemas.microsoft.com/office/drawing/2014/main" id="{14761826-2280-2664-3708-85CE6AFA9E33}"/>
                  </a:ext>
                </a:extLst>
              </p:cNvPr>
              <p:cNvSpPr/>
              <p:nvPr/>
            </p:nvSpPr>
            <p:spPr>
              <a:xfrm>
                <a:off x="-1100138" y="3576638"/>
                <a:ext cx="114300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4" extrusionOk="0">
                    <a:moveTo>
                      <a:pt x="156" y="3"/>
                    </a:moveTo>
                    <a:cubicBezTo>
                      <a:pt x="74" y="0"/>
                      <a:pt x="12" y="62"/>
                      <a:pt x="1" y="139"/>
                    </a:cubicBezTo>
                    <a:cubicBezTo>
                      <a:pt x="0" y="143"/>
                      <a:pt x="0" y="148"/>
                      <a:pt x="0" y="153"/>
                    </a:cubicBezTo>
                    <a:cubicBezTo>
                      <a:pt x="0" y="159"/>
                      <a:pt x="0" y="164"/>
                      <a:pt x="1" y="168"/>
                    </a:cubicBezTo>
                    <a:cubicBezTo>
                      <a:pt x="12" y="243"/>
                      <a:pt x="70" y="304"/>
                      <a:pt x="150" y="304"/>
                    </a:cubicBezTo>
                    <a:cubicBezTo>
                      <a:pt x="233" y="304"/>
                      <a:pt x="301" y="235"/>
                      <a:pt x="301" y="153"/>
                    </a:cubicBezTo>
                    <a:cubicBezTo>
                      <a:pt x="302" y="73"/>
                      <a:pt x="235" y="7"/>
                      <a:pt x="156" y="3"/>
                    </a:cubicBezTo>
                    <a:close/>
                    <a:moveTo>
                      <a:pt x="98" y="153"/>
                    </a:moveTo>
                    <a:cubicBezTo>
                      <a:pt x="102" y="86"/>
                      <a:pt x="203" y="85"/>
                      <a:pt x="203" y="153"/>
                    </a:cubicBezTo>
                    <a:cubicBezTo>
                      <a:pt x="203" y="222"/>
                      <a:pt x="102" y="221"/>
                      <a:pt x="98" y="15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7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1291;p22">
                <a:extLst>
                  <a:ext uri="{FF2B5EF4-FFF2-40B4-BE49-F238E27FC236}">
                    <a16:creationId xmlns:a16="http://schemas.microsoft.com/office/drawing/2014/main" id="{9DA2565C-4D43-4982-8796-3856B75714E7}"/>
                  </a:ext>
                </a:extLst>
              </p:cNvPr>
              <p:cNvSpPr/>
              <p:nvPr/>
            </p:nvSpPr>
            <p:spPr>
              <a:xfrm>
                <a:off x="-974725" y="3810000"/>
                <a:ext cx="114300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4" extrusionOk="0">
                    <a:moveTo>
                      <a:pt x="157" y="3"/>
                    </a:moveTo>
                    <a:cubicBezTo>
                      <a:pt x="75" y="0"/>
                      <a:pt x="13" y="62"/>
                      <a:pt x="2" y="139"/>
                    </a:cubicBezTo>
                    <a:cubicBezTo>
                      <a:pt x="1" y="144"/>
                      <a:pt x="0" y="148"/>
                      <a:pt x="1" y="154"/>
                    </a:cubicBezTo>
                    <a:cubicBezTo>
                      <a:pt x="0" y="159"/>
                      <a:pt x="1" y="164"/>
                      <a:pt x="2" y="168"/>
                    </a:cubicBezTo>
                    <a:cubicBezTo>
                      <a:pt x="12" y="243"/>
                      <a:pt x="71" y="304"/>
                      <a:pt x="151" y="304"/>
                    </a:cubicBezTo>
                    <a:cubicBezTo>
                      <a:pt x="233" y="304"/>
                      <a:pt x="301" y="235"/>
                      <a:pt x="302" y="154"/>
                    </a:cubicBezTo>
                    <a:cubicBezTo>
                      <a:pt x="302" y="74"/>
                      <a:pt x="236" y="7"/>
                      <a:pt x="157" y="3"/>
                    </a:cubicBezTo>
                    <a:close/>
                    <a:moveTo>
                      <a:pt x="99" y="154"/>
                    </a:moveTo>
                    <a:cubicBezTo>
                      <a:pt x="102" y="86"/>
                      <a:pt x="204" y="86"/>
                      <a:pt x="204" y="154"/>
                    </a:cubicBezTo>
                    <a:cubicBezTo>
                      <a:pt x="204" y="222"/>
                      <a:pt x="102" y="221"/>
                      <a:pt x="99" y="15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7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7" name="Google Shape;1292;p22">
            <a:extLst>
              <a:ext uri="{FF2B5EF4-FFF2-40B4-BE49-F238E27FC236}">
                <a16:creationId xmlns:a16="http://schemas.microsoft.com/office/drawing/2014/main" id="{57F77EE8-69E7-D11C-2E2D-1B24AB1BFC46}"/>
              </a:ext>
            </a:extLst>
          </p:cNvPr>
          <p:cNvGrpSpPr/>
          <p:nvPr/>
        </p:nvGrpSpPr>
        <p:grpSpPr>
          <a:xfrm>
            <a:off x="3073365" y="5923061"/>
            <a:ext cx="510896" cy="417090"/>
            <a:chOff x="-865188" y="4454525"/>
            <a:chExt cx="1435100" cy="1417638"/>
          </a:xfrm>
        </p:grpSpPr>
        <p:sp>
          <p:nvSpPr>
            <p:cNvPr id="88" name="Google Shape;1293;p22">
              <a:extLst>
                <a:ext uri="{FF2B5EF4-FFF2-40B4-BE49-F238E27FC236}">
                  <a16:creationId xmlns:a16="http://schemas.microsoft.com/office/drawing/2014/main" id="{93A3C3C5-979F-CC03-9878-3B19D4204863}"/>
                </a:ext>
              </a:extLst>
            </p:cNvPr>
            <p:cNvSpPr/>
            <p:nvPr/>
          </p:nvSpPr>
          <p:spPr>
            <a:xfrm>
              <a:off x="-612774" y="4492931"/>
              <a:ext cx="234900" cy="335100"/>
            </a:xfrm>
            <a:prstGeom prst="rect">
              <a:avLst/>
            </a:prstGeom>
            <a:noFill/>
            <a:ln w="222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1294;p22">
              <a:extLst>
                <a:ext uri="{FF2B5EF4-FFF2-40B4-BE49-F238E27FC236}">
                  <a16:creationId xmlns:a16="http://schemas.microsoft.com/office/drawing/2014/main" id="{A209CF3E-3D5F-AFA4-D7B7-DC84AF1BD61F}"/>
                </a:ext>
              </a:extLst>
            </p:cNvPr>
            <p:cNvSpPr/>
            <p:nvPr/>
          </p:nvSpPr>
          <p:spPr>
            <a:xfrm>
              <a:off x="-150814" y="4492931"/>
              <a:ext cx="234900" cy="335100"/>
            </a:xfrm>
            <a:prstGeom prst="rect">
              <a:avLst/>
            </a:prstGeom>
            <a:noFill/>
            <a:ln w="222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1295;p22">
              <a:extLst>
                <a:ext uri="{FF2B5EF4-FFF2-40B4-BE49-F238E27FC236}">
                  <a16:creationId xmlns:a16="http://schemas.microsoft.com/office/drawing/2014/main" id="{5C94B832-4BA9-3FB0-6615-C266F978C03F}"/>
                </a:ext>
              </a:extLst>
            </p:cNvPr>
            <p:cNvSpPr/>
            <p:nvPr/>
          </p:nvSpPr>
          <p:spPr>
            <a:xfrm>
              <a:off x="84137" y="4492931"/>
              <a:ext cx="234900" cy="335100"/>
            </a:xfrm>
            <a:prstGeom prst="rect">
              <a:avLst/>
            </a:prstGeom>
            <a:noFill/>
            <a:ln w="222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1296;p22">
              <a:extLst>
                <a:ext uri="{FF2B5EF4-FFF2-40B4-BE49-F238E27FC236}">
                  <a16:creationId xmlns:a16="http://schemas.microsoft.com/office/drawing/2014/main" id="{7810833F-03A3-11A2-7ACF-5D1CAB49D4F7}"/>
                </a:ext>
              </a:extLst>
            </p:cNvPr>
            <p:cNvSpPr/>
            <p:nvPr/>
          </p:nvSpPr>
          <p:spPr>
            <a:xfrm>
              <a:off x="-612775" y="5067300"/>
              <a:ext cx="234900" cy="335100"/>
            </a:xfrm>
            <a:prstGeom prst="rect">
              <a:avLst/>
            </a:prstGeom>
            <a:noFill/>
            <a:ln w="222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1297;p22">
              <a:extLst>
                <a:ext uri="{FF2B5EF4-FFF2-40B4-BE49-F238E27FC236}">
                  <a16:creationId xmlns:a16="http://schemas.microsoft.com/office/drawing/2014/main" id="{2036FDED-9B73-4316-D34F-E2F11606BD5F}"/>
                </a:ext>
              </a:extLst>
            </p:cNvPr>
            <p:cNvSpPr/>
            <p:nvPr/>
          </p:nvSpPr>
          <p:spPr>
            <a:xfrm>
              <a:off x="-377825" y="5067300"/>
              <a:ext cx="227100" cy="335100"/>
            </a:xfrm>
            <a:prstGeom prst="rect">
              <a:avLst/>
            </a:prstGeom>
            <a:noFill/>
            <a:ln w="222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1298;p22">
              <a:extLst>
                <a:ext uri="{FF2B5EF4-FFF2-40B4-BE49-F238E27FC236}">
                  <a16:creationId xmlns:a16="http://schemas.microsoft.com/office/drawing/2014/main" id="{49DC8735-99F1-872D-0922-20FB5888CA77}"/>
                </a:ext>
              </a:extLst>
            </p:cNvPr>
            <p:cNvSpPr/>
            <p:nvPr/>
          </p:nvSpPr>
          <p:spPr>
            <a:xfrm>
              <a:off x="-150813" y="5067300"/>
              <a:ext cx="234900" cy="335100"/>
            </a:xfrm>
            <a:prstGeom prst="rect">
              <a:avLst/>
            </a:prstGeom>
            <a:noFill/>
            <a:ln w="222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1299;p22">
              <a:extLst>
                <a:ext uri="{FF2B5EF4-FFF2-40B4-BE49-F238E27FC236}">
                  <a16:creationId xmlns:a16="http://schemas.microsoft.com/office/drawing/2014/main" id="{337532AC-091F-6C21-8161-8C2681757E76}"/>
                </a:ext>
              </a:extLst>
            </p:cNvPr>
            <p:cNvSpPr/>
            <p:nvPr/>
          </p:nvSpPr>
          <p:spPr>
            <a:xfrm>
              <a:off x="84138" y="5067300"/>
              <a:ext cx="234900" cy="335100"/>
            </a:xfrm>
            <a:prstGeom prst="rect">
              <a:avLst/>
            </a:prstGeom>
            <a:noFill/>
            <a:ln w="222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1300;p22">
              <a:extLst>
                <a:ext uri="{FF2B5EF4-FFF2-40B4-BE49-F238E27FC236}">
                  <a16:creationId xmlns:a16="http://schemas.microsoft.com/office/drawing/2014/main" id="{1FB7552D-4F8D-94A3-6B51-8BAF520FD406}"/>
                </a:ext>
              </a:extLst>
            </p:cNvPr>
            <p:cNvSpPr/>
            <p:nvPr/>
          </p:nvSpPr>
          <p:spPr>
            <a:xfrm>
              <a:off x="-865188" y="4454525"/>
              <a:ext cx="1435100" cy="1417638"/>
            </a:xfrm>
            <a:custGeom>
              <a:avLst/>
              <a:gdLst/>
              <a:ahLst/>
              <a:cxnLst/>
              <a:rect l="l" t="t" r="r" b="b"/>
              <a:pathLst>
                <a:path w="171" h="169" extrusionOk="0">
                  <a:moveTo>
                    <a:pt x="165" y="0"/>
                  </a:moveTo>
                  <a:cubicBezTo>
                    <a:pt x="146" y="0"/>
                    <a:pt x="146" y="0"/>
                    <a:pt x="146" y="0"/>
                  </a:cubicBezTo>
                  <a:cubicBezTo>
                    <a:pt x="143" y="0"/>
                    <a:pt x="141" y="3"/>
                    <a:pt x="141" y="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3"/>
                    <a:pt x="27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0" y="167"/>
                    <a:pt x="2" y="169"/>
                    <a:pt x="5" y="169"/>
                  </a:cubicBezTo>
                  <a:cubicBezTo>
                    <a:pt x="24" y="169"/>
                    <a:pt x="24" y="169"/>
                    <a:pt x="24" y="169"/>
                  </a:cubicBezTo>
                  <a:cubicBezTo>
                    <a:pt x="27" y="169"/>
                    <a:pt x="30" y="167"/>
                    <a:pt x="30" y="164"/>
                  </a:cubicBezTo>
                  <a:cubicBezTo>
                    <a:pt x="30" y="132"/>
                    <a:pt x="30" y="132"/>
                    <a:pt x="30" y="132"/>
                  </a:cubicBezTo>
                  <a:cubicBezTo>
                    <a:pt x="141" y="132"/>
                    <a:pt x="141" y="132"/>
                    <a:pt x="141" y="132"/>
                  </a:cubicBezTo>
                  <a:cubicBezTo>
                    <a:pt x="141" y="164"/>
                    <a:pt x="141" y="164"/>
                    <a:pt x="141" y="164"/>
                  </a:cubicBezTo>
                  <a:cubicBezTo>
                    <a:pt x="141" y="167"/>
                    <a:pt x="143" y="169"/>
                    <a:pt x="146" y="169"/>
                  </a:cubicBezTo>
                  <a:cubicBezTo>
                    <a:pt x="165" y="169"/>
                    <a:pt x="165" y="169"/>
                    <a:pt x="165" y="169"/>
                  </a:cubicBezTo>
                  <a:cubicBezTo>
                    <a:pt x="168" y="169"/>
                    <a:pt x="171" y="167"/>
                    <a:pt x="171" y="164"/>
                  </a:cubicBezTo>
                  <a:cubicBezTo>
                    <a:pt x="171" y="6"/>
                    <a:pt x="171" y="6"/>
                    <a:pt x="171" y="6"/>
                  </a:cubicBezTo>
                  <a:cubicBezTo>
                    <a:pt x="171" y="3"/>
                    <a:pt x="168" y="0"/>
                    <a:pt x="165" y="0"/>
                  </a:cubicBezTo>
                  <a:close/>
                  <a:moveTo>
                    <a:pt x="141" y="113"/>
                  </a:moveTo>
                  <a:cubicBezTo>
                    <a:pt x="30" y="113"/>
                    <a:pt x="30" y="113"/>
                    <a:pt x="30" y="113"/>
                  </a:cubicBezTo>
                  <a:cubicBezTo>
                    <a:pt x="30" y="73"/>
                    <a:pt x="30" y="73"/>
                    <a:pt x="30" y="73"/>
                  </a:cubicBezTo>
                  <a:cubicBezTo>
                    <a:pt x="141" y="73"/>
                    <a:pt x="141" y="73"/>
                    <a:pt x="141" y="73"/>
                  </a:cubicBezTo>
                  <a:lnTo>
                    <a:pt x="141" y="113"/>
                  </a:lnTo>
                  <a:close/>
                </a:path>
              </a:pathLst>
            </a:custGeom>
            <a:noFill/>
            <a:ln w="222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3728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16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306;p23">
            <a:extLst>
              <a:ext uri="{FF2B5EF4-FFF2-40B4-BE49-F238E27FC236}">
                <a16:creationId xmlns:a16="http://schemas.microsoft.com/office/drawing/2014/main" id="{108BA12D-D8C3-0A82-B7B9-3C911B0BED36}"/>
              </a:ext>
            </a:extLst>
          </p:cNvPr>
          <p:cNvSpPr txBox="1"/>
          <p:nvPr/>
        </p:nvSpPr>
        <p:spPr>
          <a:xfrm>
            <a:off x="1498555" y="1203446"/>
            <a:ext cx="9678248" cy="46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ENGINE COMPONENTS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1307;p23">
            <a:extLst>
              <a:ext uri="{FF2B5EF4-FFF2-40B4-BE49-F238E27FC236}">
                <a16:creationId xmlns:a16="http://schemas.microsoft.com/office/drawing/2014/main" id="{3A86E65C-6C5A-FFD1-3BDB-502F002BB7F5}"/>
              </a:ext>
            </a:extLst>
          </p:cNvPr>
          <p:cNvGrpSpPr/>
          <p:nvPr/>
        </p:nvGrpSpPr>
        <p:grpSpPr>
          <a:xfrm>
            <a:off x="3266462" y="1932254"/>
            <a:ext cx="6178737" cy="4791016"/>
            <a:chOff x="3253175" y="638160"/>
            <a:chExt cx="6243186" cy="5384707"/>
          </a:xfrm>
        </p:grpSpPr>
        <p:cxnSp>
          <p:nvCxnSpPr>
            <p:cNvPr id="11" name="Google Shape;1308;p23">
              <a:extLst>
                <a:ext uri="{FF2B5EF4-FFF2-40B4-BE49-F238E27FC236}">
                  <a16:creationId xmlns:a16="http://schemas.microsoft.com/office/drawing/2014/main" id="{0A26332A-C455-8F4E-510B-3B995165398D}"/>
                </a:ext>
              </a:extLst>
            </p:cNvPr>
            <p:cNvCxnSpPr>
              <a:stCxn id="21" idx="0"/>
            </p:cNvCxnSpPr>
            <p:nvPr/>
          </p:nvCxnSpPr>
          <p:spPr>
            <a:xfrm rot="5400000" flipH="1">
              <a:off x="7648407" y="4320890"/>
              <a:ext cx="248700" cy="1806600"/>
            </a:xfrm>
            <a:prstGeom prst="bentConnector3">
              <a:avLst>
                <a:gd name="adj1" fmla="val 339305"/>
              </a:avLst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" name="Google Shape;1310;p23">
              <a:extLst>
                <a:ext uri="{FF2B5EF4-FFF2-40B4-BE49-F238E27FC236}">
                  <a16:creationId xmlns:a16="http://schemas.microsoft.com/office/drawing/2014/main" id="{D34024B1-F91B-CCCF-AAC6-BCD28EC58E88}"/>
                </a:ext>
              </a:extLst>
            </p:cNvPr>
            <p:cNvCxnSpPr>
              <a:stCxn id="20" idx="0"/>
            </p:cNvCxnSpPr>
            <p:nvPr/>
          </p:nvCxnSpPr>
          <p:spPr>
            <a:xfrm rot="-5400000">
              <a:off x="4815680" y="4357640"/>
              <a:ext cx="248700" cy="1733100"/>
            </a:xfrm>
            <a:prstGeom prst="bentConnector3">
              <a:avLst>
                <a:gd name="adj1" fmla="val 333176"/>
              </a:avLst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" name="Google Shape;1312;p23">
              <a:extLst>
                <a:ext uri="{FF2B5EF4-FFF2-40B4-BE49-F238E27FC236}">
                  <a16:creationId xmlns:a16="http://schemas.microsoft.com/office/drawing/2014/main" id="{C0DAE0E6-8047-932D-A081-42887CC5E698}"/>
                </a:ext>
              </a:extLst>
            </p:cNvPr>
            <p:cNvCxnSpPr>
              <a:stCxn id="18" idx="2"/>
            </p:cNvCxnSpPr>
            <p:nvPr/>
          </p:nvCxnSpPr>
          <p:spPr>
            <a:xfrm rot="-5400000" flipH="1">
              <a:off x="4723580" y="3081488"/>
              <a:ext cx="432900" cy="1733100"/>
            </a:xfrm>
            <a:prstGeom prst="bentConnector3">
              <a:avLst>
                <a:gd name="adj1" fmla="val -35226"/>
              </a:avLst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314;p23">
              <a:extLst>
                <a:ext uri="{FF2B5EF4-FFF2-40B4-BE49-F238E27FC236}">
                  <a16:creationId xmlns:a16="http://schemas.microsoft.com/office/drawing/2014/main" id="{D7E4CE1C-6CC8-A8BB-4F9A-A44407333733}"/>
                </a:ext>
              </a:extLst>
            </p:cNvPr>
            <p:cNvCxnSpPr>
              <a:stCxn id="19" idx="2"/>
            </p:cNvCxnSpPr>
            <p:nvPr/>
          </p:nvCxnSpPr>
          <p:spPr>
            <a:xfrm rot="5400000">
              <a:off x="7556307" y="3044738"/>
              <a:ext cx="432900" cy="1806600"/>
            </a:xfrm>
            <a:prstGeom prst="bentConnector3">
              <a:avLst>
                <a:gd name="adj1" fmla="val -35226"/>
              </a:avLst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" name="Google Shape;1316;p23">
              <a:extLst>
                <a:ext uri="{FF2B5EF4-FFF2-40B4-BE49-F238E27FC236}">
                  <a16:creationId xmlns:a16="http://schemas.microsoft.com/office/drawing/2014/main" id="{851E8C14-4239-5FED-D88E-06F10E766CDE}"/>
                </a:ext>
              </a:extLst>
            </p:cNvPr>
            <p:cNvSpPr/>
            <p:nvPr/>
          </p:nvSpPr>
          <p:spPr>
            <a:xfrm>
              <a:off x="5586289" y="638160"/>
              <a:ext cx="1503335" cy="1504800"/>
            </a:xfrm>
            <a:prstGeom prst="ellipse">
              <a:avLst/>
            </a:prstGeom>
            <a:noFill/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Docker CLI</a:t>
              </a: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" name="Google Shape;1317;p23">
              <a:extLst>
                <a:ext uri="{FF2B5EF4-FFF2-40B4-BE49-F238E27FC236}">
                  <a16:creationId xmlns:a16="http://schemas.microsoft.com/office/drawing/2014/main" id="{B098E317-62E8-9AA6-757B-CA0307624731}"/>
                </a:ext>
              </a:extLst>
            </p:cNvPr>
            <p:cNvSpPr/>
            <p:nvPr/>
          </p:nvSpPr>
          <p:spPr>
            <a:xfrm>
              <a:off x="5586289" y="2265877"/>
              <a:ext cx="1503335" cy="1504800"/>
            </a:xfrm>
            <a:prstGeom prst="ellipse">
              <a:avLst/>
            </a:prstGeom>
            <a:noFill/>
            <a:ln w="2540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REST API</a:t>
              </a: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" name="Google Shape;1318;p23">
              <a:extLst>
                <a:ext uri="{FF2B5EF4-FFF2-40B4-BE49-F238E27FC236}">
                  <a16:creationId xmlns:a16="http://schemas.microsoft.com/office/drawing/2014/main" id="{6D390875-F8BD-E62E-60B7-DD0417D08310}"/>
                </a:ext>
              </a:extLst>
            </p:cNvPr>
            <p:cNvSpPr/>
            <p:nvPr/>
          </p:nvSpPr>
          <p:spPr>
            <a:xfrm>
              <a:off x="5586289" y="3879814"/>
              <a:ext cx="1503335" cy="15048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Docker </a:t>
              </a:r>
              <a:r>
                <a:rPr lang="en" sz="18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</a:t>
              </a: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aemon</a:t>
              </a: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" name="Google Shape;1313;p23">
              <a:extLst>
                <a:ext uri="{FF2B5EF4-FFF2-40B4-BE49-F238E27FC236}">
                  <a16:creationId xmlns:a16="http://schemas.microsoft.com/office/drawing/2014/main" id="{054944E7-BC9A-FB23-CB2C-ABF8FBAA8EF8}"/>
                </a:ext>
              </a:extLst>
            </p:cNvPr>
            <p:cNvSpPr/>
            <p:nvPr/>
          </p:nvSpPr>
          <p:spPr>
            <a:xfrm>
              <a:off x="3253175" y="3057261"/>
              <a:ext cx="1640609" cy="674327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Containers 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315;p23">
              <a:extLst>
                <a:ext uri="{FF2B5EF4-FFF2-40B4-BE49-F238E27FC236}">
                  <a16:creationId xmlns:a16="http://schemas.microsoft.com/office/drawing/2014/main" id="{37EDEE38-5C44-F239-46A9-CAFC46846BC5}"/>
                </a:ext>
              </a:extLst>
            </p:cNvPr>
            <p:cNvSpPr/>
            <p:nvPr/>
          </p:nvSpPr>
          <p:spPr>
            <a:xfrm>
              <a:off x="7855752" y="3057261"/>
              <a:ext cx="1640609" cy="674327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Container Images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1311;p23">
              <a:extLst>
                <a:ext uri="{FF2B5EF4-FFF2-40B4-BE49-F238E27FC236}">
                  <a16:creationId xmlns:a16="http://schemas.microsoft.com/office/drawing/2014/main" id="{36461CBF-D180-4A2A-09CB-163129B4EE85}"/>
                </a:ext>
              </a:extLst>
            </p:cNvPr>
            <p:cNvSpPr/>
            <p:nvPr/>
          </p:nvSpPr>
          <p:spPr>
            <a:xfrm>
              <a:off x="3253175" y="5348540"/>
              <a:ext cx="1640609" cy="674327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Network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309;p23">
              <a:extLst>
                <a:ext uri="{FF2B5EF4-FFF2-40B4-BE49-F238E27FC236}">
                  <a16:creationId xmlns:a16="http://schemas.microsoft.com/office/drawing/2014/main" id="{47BA3CA8-9821-73BF-2CF7-A0CA4EFC180A}"/>
                </a:ext>
              </a:extLst>
            </p:cNvPr>
            <p:cNvSpPr/>
            <p:nvPr/>
          </p:nvSpPr>
          <p:spPr>
            <a:xfrm>
              <a:off x="7855752" y="5348540"/>
              <a:ext cx="1640609" cy="674327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Data </a:t>
              </a:r>
              <a:b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Volumes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319;p23">
              <a:extLst>
                <a:ext uri="{FF2B5EF4-FFF2-40B4-BE49-F238E27FC236}">
                  <a16:creationId xmlns:a16="http://schemas.microsoft.com/office/drawing/2014/main" id="{47F937D7-5E7B-39A6-B0E2-020C585B28C1}"/>
                </a:ext>
              </a:extLst>
            </p:cNvPr>
            <p:cNvSpPr txBox="1"/>
            <p:nvPr/>
          </p:nvSpPr>
          <p:spPr>
            <a:xfrm>
              <a:off x="4073479" y="4130751"/>
              <a:ext cx="1422400" cy="3796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Manages</a:t>
              </a:r>
              <a:endParaRPr sz="18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" name="Google Shape;1320;p23">
              <a:extLst>
                <a:ext uri="{FF2B5EF4-FFF2-40B4-BE49-F238E27FC236}">
                  <a16:creationId xmlns:a16="http://schemas.microsoft.com/office/drawing/2014/main" id="{4A2F2124-C145-AC0D-6B7D-54D048F069CF}"/>
                </a:ext>
              </a:extLst>
            </p:cNvPr>
            <p:cNvSpPr txBox="1"/>
            <p:nvPr/>
          </p:nvSpPr>
          <p:spPr>
            <a:xfrm>
              <a:off x="4073479" y="4706884"/>
              <a:ext cx="1422400" cy="3796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Manages</a:t>
              </a:r>
              <a:endParaRPr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4" name="Google Shape;1321;p23">
              <a:extLst>
                <a:ext uri="{FF2B5EF4-FFF2-40B4-BE49-F238E27FC236}">
                  <a16:creationId xmlns:a16="http://schemas.microsoft.com/office/drawing/2014/main" id="{2DE4EA67-5FBA-711C-4C23-407611523B44}"/>
                </a:ext>
              </a:extLst>
            </p:cNvPr>
            <p:cNvSpPr txBox="1"/>
            <p:nvPr/>
          </p:nvSpPr>
          <p:spPr>
            <a:xfrm>
              <a:off x="7066890" y="4130751"/>
              <a:ext cx="1422400" cy="3796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Manages</a:t>
              </a:r>
              <a:endParaRPr sz="18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" name="Google Shape;1322;p23">
              <a:extLst>
                <a:ext uri="{FF2B5EF4-FFF2-40B4-BE49-F238E27FC236}">
                  <a16:creationId xmlns:a16="http://schemas.microsoft.com/office/drawing/2014/main" id="{13813377-2EED-2580-4A44-E05D49023220}"/>
                </a:ext>
              </a:extLst>
            </p:cNvPr>
            <p:cNvSpPr txBox="1"/>
            <p:nvPr/>
          </p:nvSpPr>
          <p:spPr>
            <a:xfrm>
              <a:off x="7066890" y="4706884"/>
              <a:ext cx="1422400" cy="3796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Manages</a:t>
              </a:r>
              <a:endParaRPr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26" name="Google Shape;1323;p23">
              <a:extLst>
                <a:ext uri="{FF2B5EF4-FFF2-40B4-BE49-F238E27FC236}">
                  <a16:creationId xmlns:a16="http://schemas.microsoft.com/office/drawing/2014/main" id="{585BAB4C-77EA-1A10-3A22-5301E9DCA42E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41171" t="62030" r="44141" b="29104"/>
            <a:stretch/>
          </p:blipFill>
          <p:spPr>
            <a:xfrm>
              <a:off x="6021955" y="4786698"/>
              <a:ext cx="632002" cy="356234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99445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329;p24">
            <a:extLst>
              <a:ext uri="{FF2B5EF4-FFF2-40B4-BE49-F238E27FC236}">
                <a16:creationId xmlns:a16="http://schemas.microsoft.com/office/drawing/2014/main" id="{79E021D1-04A3-1DCF-C86A-1C837FA28941}"/>
              </a:ext>
            </a:extLst>
          </p:cNvPr>
          <p:cNvSpPr txBox="1"/>
          <p:nvPr/>
        </p:nvSpPr>
        <p:spPr>
          <a:xfrm>
            <a:off x="1206500" y="1242904"/>
            <a:ext cx="9779200" cy="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ARCHITECTURE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" name="Google Shape;1330;p24">
            <a:extLst>
              <a:ext uri="{FF2B5EF4-FFF2-40B4-BE49-F238E27FC236}">
                <a16:creationId xmlns:a16="http://schemas.microsoft.com/office/drawing/2014/main" id="{FE74EC96-EFA1-B364-FE50-F2E4C432BF3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90750" y="2491045"/>
            <a:ext cx="5810500" cy="4019994"/>
          </a:xfrm>
          <a:prstGeom prst="roundRect">
            <a:avLst>
              <a:gd name="adj" fmla="val 5107"/>
            </a:avLst>
          </a:prstGeom>
          <a:noFill/>
          <a:ln w="9525" cap="flat" cmpd="sng">
            <a:solidFill>
              <a:srgbClr val="9B9B9B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11642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336;p25">
            <a:extLst>
              <a:ext uri="{FF2B5EF4-FFF2-40B4-BE49-F238E27FC236}">
                <a16:creationId xmlns:a16="http://schemas.microsoft.com/office/drawing/2014/main" id="{17A40D5C-0758-A0B2-EB86-04F59383E929}"/>
              </a:ext>
            </a:extLst>
          </p:cNvPr>
          <p:cNvSpPr txBox="1"/>
          <p:nvPr/>
        </p:nvSpPr>
        <p:spPr>
          <a:xfrm>
            <a:off x="1316228" y="1245703"/>
            <a:ext cx="9779200" cy="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ARCHITECTURE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1337;p25">
            <a:extLst>
              <a:ext uri="{FF2B5EF4-FFF2-40B4-BE49-F238E27FC236}">
                <a16:creationId xmlns:a16="http://schemas.microsoft.com/office/drawing/2014/main" id="{39C42FB7-04A8-4EE1-B824-EE1C1DEDD140}"/>
              </a:ext>
            </a:extLst>
          </p:cNvPr>
          <p:cNvGrpSpPr/>
          <p:nvPr/>
        </p:nvGrpSpPr>
        <p:grpSpPr>
          <a:xfrm>
            <a:off x="2640310" y="5432967"/>
            <a:ext cx="6910875" cy="937191"/>
            <a:chOff x="6389225" y="1006997"/>
            <a:chExt cx="4726281" cy="775532"/>
          </a:xfrm>
        </p:grpSpPr>
        <p:sp>
          <p:nvSpPr>
            <p:cNvPr id="11" name="Google Shape;1338;p25">
              <a:extLst>
                <a:ext uri="{FF2B5EF4-FFF2-40B4-BE49-F238E27FC236}">
                  <a16:creationId xmlns:a16="http://schemas.microsoft.com/office/drawing/2014/main" id="{158C27B9-6859-6870-22EC-AE6FD451AE93}"/>
                </a:ext>
              </a:extLst>
            </p:cNvPr>
            <p:cNvSpPr/>
            <p:nvPr/>
          </p:nvSpPr>
          <p:spPr>
            <a:xfrm>
              <a:off x="6389225" y="1006997"/>
              <a:ext cx="660817" cy="775532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12270" y="4685"/>
                    <a:pt x="244233" y="4685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23AE7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339;p25">
              <a:extLst>
                <a:ext uri="{FF2B5EF4-FFF2-40B4-BE49-F238E27FC236}">
                  <a16:creationId xmlns:a16="http://schemas.microsoft.com/office/drawing/2014/main" id="{42BEFB7B-E44A-B080-E124-0B838C9540DA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FAB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40;p25">
              <a:extLst>
                <a:ext uri="{FF2B5EF4-FFF2-40B4-BE49-F238E27FC236}">
                  <a16:creationId xmlns:a16="http://schemas.microsoft.com/office/drawing/2014/main" id="{90A98E28-3F66-A043-B580-90A6B0DA3036}"/>
                </a:ext>
              </a:extLst>
            </p:cNvPr>
            <p:cNvSpPr txBox="1"/>
            <p:nvPr/>
          </p:nvSpPr>
          <p:spPr>
            <a:xfrm>
              <a:off x="6399275" y="1207288"/>
              <a:ext cx="660817" cy="381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" sz="24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04</a:t>
              </a:r>
              <a:endParaRPr sz="24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" name="Google Shape;1341;p25">
              <a:extLst>
                <a:ext uri="{FF2B5EF4-FFF2-40B4-BE49-F238E27FC236}">
                  <a16:creationId xmlns:a16="http://schemas.microsoft.com/office/drawing/2014/main" id="{FB5FCC12-88BA-08B9-F443-7FC1BD4BC839}"/>
                </a:ext>
              </a:extLst>
            </p:cNvPr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Docker objects: Includes Docker images, containers</a:t>
              </a:r>
              <a:r>
                <a:rPr lang="en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,</a:t>
              </a:r>
              <a:r>
                <a:rPr lang="en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 and volumes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342;p25">
            <a:extLst>
              <a:ext uri="{FF2B5EF4-FFF2-40B4-BE49-F238E27FC236}">
                <a16:creationId xmlns:a16="http://schemas.microsoft.com/office/drawing/2014/main" id="{7683969E-8929-EBC1-97E6-5D61507282AA}"/>
              </a:ext>
            </a:extLst>
          </p:cNvPr>
          <p:cNvGrpSpPr/>
          <p:nvPr/>
        </p:nvGrpSpPr>
        <p:grpSpPr>
          <a:xfrm>
            <a:off x="2655005" y="4411894"/>
            <a:ext cx="6910768" cy="937176"/>
            <a:chOff x="6389225" y="1006997"/>
            <a:chExt cx="4726281" cy="775532"/>
          </a:xfrm>
        </p:grpSpPr>
        <p:sp>
          <p:nvSpPr>
            <p:cNvPr id="16" name="Google Shape;1343;p25">
              <a:extLst>
                <a:ext uri="{FF2B5EF4-FFF2-40B4-BE49-F238E27FC236}">
                  <a16:creationId xmlns:a16="http://schemas.microsoft.com/office/drawing/2014/main" id="{94E41B03-E4FD-EC83-E8D5-B5014AD86E39}"/>
                </a:ext>
              </a:extLst>
            </p:cNvPr>
            <p:cNvSpPr/>
            <p:nvPr/>
          </p:nvSpPr>
          <p:spPr>
            <a:xfrm>
              <a:off x="6389225" y="1006997"/>
              <a:ext cx="660817" cy="775532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00618" y="3056"/>
                    <a:pt x="232581" y="3056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344;p25">
              <a:extLst>
                <a:ext uri="{FF2B5EF4-FFF2-40B4-BE49-F238E27FC236}">
                  <a16:creationId xmlns:a16="http://schemas.microsoft.com/office/drawing/2014/main" id="{9C35FFE4-4BE6-1A97-3C1B-DF1398565966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FAB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345;p25">
              <a:extLst>
                <a:ext uri="{FF2B5EF4-FFF2-40B4-BE49-F238E27FC236}">
                  <a16:creationId xmlns:a16="http://schemas.microsoft.com/office/drawing/2014/main" id="{E2B85203-DCA5-AC15-2AF9-E7F6D9955FF2}"/>
                </a:ext>
              </a:extLst>
            </p:cNvPr>
            <p:cNvSpPr txBox="1"/>
            <p:nvPr/>
          </p:nvSpPr>
          <p:spPr>
            <a:xfrm>
              <a:off x="6399275" y="1207283"/>
              <a:ext cx="660817" cy="3820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" sz="24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03</a:t>
              </a:r>
              <a:endParaRPr sz="24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" name="Google Shape;1346;p25">
              <a:extLst>
                <a:ext uri="{FF2B5EF4-FFF2-40B4-BE49-F238E27FC236}">
                  <a16:creationId xmlns:a16="http://schemas.microsoft.com/office/drawing/2014/main" id="{B4F64789-41DB-3FD1-9E42-5A74B1F66DD9}"/>
                </a:ext>
              </a:extLst>
            </p:cNvPr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Docker </a:t>
              </a:r>
              <a:r>
                <a:rPr lang="en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r</a:t>
              </a:r>
              <a:r>
                <a:rPr lang="en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egistry: Storage for Docker </a:t>
              </a:r>
              <a:r>
                <a:rPr lang="en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i</a:t>
              </a:r>
              <a:r>
                <a:rPr lang="en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mages, which facilitates </a:t>
              </a:r>
              <a:r>
                <a:rPr lang="en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the </a:t>
              </a:r>
              <a:r>
                <a:rPr lang="en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sharing of docker images 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1347;p25">
            <a:extLst>
              <a:ext uri="{FF2B5EF4-FFF2-40B4-BE49-F238E27FC236}">
                <a16:creationId xmlns:a16="http://schemas.microsoft.com/office/drawing/2014/main" id="{8D95E679-A38B-E80D-169E-A0C517DC2B5A}"/>
              </a:ext>
            </a:extLst>
          </p:cNvPr>
          <p:cNvGrpSpPr/>
          <p:nvPr/>
        </p:nvGrpSpPr>
        <p:grpSpPr>
          <a:xfrm>
            <a:off x="2640562" y="3394057"/>
            <a:ext cx="6910875" cy="937192"/>
            <a:chOff x="6389225" y="1006997"/>
            <a:chExt cx="4726281" cy="775533"/>
          </a:xfrm>
        </p:grpSpPr>
        <p:sp>
          <p:nvSpPr>
            <p:cNvPr id="21" name="Google Shape;1348;p25">
              <a:extLst>
                <a:ext uri="{FF2B5EF4-FFF2-40B4-BE49-F238E27FC236}">
                  <a16:creationId xmlns:a16="http://schemas.microsoft.com/office/drawing/2014/main" id="{A9F3880B-E857-D639-FD03-1B11CA6544AD}"/>
                </a:ext>
              </a:extLst>
            </p:cNvPr>
            <p:cNvSpPr/>
            <p:nvPr/>
          </p:nvSpPr>
          <p:spPr>
            <a:xfrm>
              <a:off x="6389225" y="1006998"/>
              <a:ext cx="660817" cy="775532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12270" y="3057"/>
                    <a:pt x="244233" y="3057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4890E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349;p25">
              <a:extLst>
                <a:ext uri="{FF2B5EF4-FFF2-40B4-BE49-F238E27FC236}">
                  <a16:creationId xmlns:a16="http://schemas.microsoft.com/office/drawing/2014/main" id="{E80BFD8A-BD2F-D611-C047-95F548FF59EF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FAB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350;p25">
              <a:extLst>
                <a:ext uri="{FF2B5EF4-FFF2-40B4-BE49-F238E27FC236}">
                  <a16:creationId xmlns:a16="http://schemas.microsoft.com/office/drawing/2014/main" id="{BF0E1E20-9E74-F7B3-94EA-6308D8D5882D}"/>
                </a:ext>
              </a:extLst>
            </p:cNvPr>
            <p:cNvSpPr txBox="1"/>
            <p:nvPr/>
          </p:nvSpPr>
          <p:spPr>
            <a:xfrm>
              <a:off x="6399275" y="1207288"/>
              <a:ext cx="660817" cy="381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" sz="24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02</a:t>
              </a:r>
              <a:endParaRPr sz="24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4" name="Google Shape;1351;p25">
              <a:extLst>
                <a:ext uri="{FF2B5EF4-FFF2-40B4-BE49-F238E27FC236}">
                  <a16:creationId xmlns:a16="http://schemas.microsoft.com/office/drawing/2014/main" id="{F6E16C45-E79B-BC70-D92B-FADD32FA234E}"/>
                </a:ext>
              </a:extLst>
            </p:cNvPr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Docker </a:t>
              </a:r>
              <a:r>
                <a:rPr lang="en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r>
                <a:rPr lang="en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lient: Interacts with Docker daemon using CLI commands 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oogle Shape;1352;p25">
            <a:extLst>
              <a:ext uri="{FF2B5EF4-FFF2-40B4-BE49-F238E27FC236}">
                <a16:creationId xmlns:a16="http://schemas.microsoft.com/office/drawing/2014/main" id="{74ED8B99-B316-1B13-577E-FB41C280293E}"/>
              </a:ext>
            </a:extLst>
          </p:cNvPr>
          <p:cNvGrpSpPr/>
          <p:nvPr/>
        </p:nvGrpSpPr>
        <p:grpSpPr>
          <a:xfrm>
            <a:off x="2640562" y="2379848"/>
            <a:ext cx="6910875" cy="937190"/>
            <a:chOff x="6389225" y="1006997"/>
            <a:chExt cx="4726281" cy="775531"/>
          </a:xfrm>
        </p:grpSpPr>
        <p:sp>
          <p:nvSpPr>
            <p:cNvPr id="26" name="Google Shape;1353;p25">
              <a:extLst>
                <a:ext uri="{FF2B5EF4-FFF2-40B4-BE49-F238E27FC236}">
                  <a16:creationId xmlns:a16="http://schemas.microsoft.com/office/drawing/2014/main" id="{0E01DA4D-F20F-6CBE-BD55-EFF216E384C7}"/>
                </a:ext>
              </a:extLst>
            </p:cNvPr>
            <p:cNvSpPr/>
            <p:nvPr/>
          </p:nvSpPr>
          <p:spPr>
            <a:xfrm>
              <a:off x="6389225" y="1006997"/>
              <a:ext cx="660817" cy="775531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177331" y="4685"/>
                    <a:pt x="209294" y="4685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F4AB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354;p25">
              <a:extLst>
                <a:ext uri="{FF2B5EF4-FFF2-40B4-BE49-F238E27FC236}">
                  <a16:creationId xmlns:a16="http://schemas.microsoft.com/office/drawing/2014/main" id="{56147242-CE3C-BFA8-7DD8-4E65503E91B2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FAB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1355;p25">
              <a:extLst>
                <a:ext uri="{FF2B5EF4-FFF2-40B4-BE49-F238E27FC236}">
                  <a16:creationId xmlns:a16="http://schemas.microsoft.com/office/drawing/2014/main" id="{36986C2D-6472-606E-CD5F-3C4B2F79B457}"/>
                </a:ext>
              </a:extLst>
            </p:cNvPr>
            <p:cNvSpPr txBox="1"/>
            <p:nvPr/>
          </p:nvSpPr>
          <p:spPr>
            <a:xfrm>
              <a:off x="6399275" y="1207288"/>
              <a:ext cx="660817" cy="381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" sz="2400" b="1" i="0" u="none" strike="noStrike" cap="none" dirty="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01</a:t>
              </a:r>
              <a:endParaRPr sz="2400" b="1" i="0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" name="Google Shape;1356;p25">
              <a:extLst>
                <a:ext uri="{FF2B5EF4-FFF2-40B4-BE49-F238E27FC236}">
                  <a16:creationId xmlns:a16="http://schemas.microsoft.com/office/drawing/2014/main" id="{6F06766E-EC66-145F-6039-55E0C1E2DD0F}"/>
                </a:ext>
              </a:extLst>
            </p:cNvPr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Docker </a:t>
              </a:r>
              <a:r>
                <a:rPr lang="en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d</a:t>
              </a:r>
              <a:r>
                <a:rPr lang="en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aemon: Runs on Docker host and handles all requests from Docker client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4513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36" name="Google Shape;1361;p26">
            <a:extLst>
              <a:ext uri="{FF2B5EF4-FFF2-40B4-BE49-F238E27FC236}">
                <a16:creationId xmlns:a16="http://schemas.microsoft.com/office/drawing/2014/main" id="{D25E24FA-7DAD-9C75-1213-CF1FC51CE789}"/>
              </a:ext>
            </a:extLst>
          </p:cNvPr>
          <p:cNvSpPr txBox="1"/>
          <p:nvPr/>
        </p:nvSpPr>
        <p:spPr>
          <a:xfrm>
            <a:off x="1072598" y="1326549"/>
            <a:ext cx="9779200" cy="433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INSTALLATION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" name="Google Shape;1362;p26">
            <a:extLst>
              <a:ext uri="{FF2B5EF4-FFF2-40B4-BE49-F238E27FC236}">
                <a16:creationId xmlns:a16="http://schemas.microsoft.com/office/drawing/2014/main" id="{48A99B85-871A-A5BA-EAE2-D5A44E3CB787}"/>
              </a:ext>
            </a:extLst>
          </p:cNvPr>
          <p:cNvSpPr/>
          <p:nvPr/>
        </p:nvSpPr>
        <p:spPr>
          <a:xfrm>
            <a:off x="986347" y="2628986"/>
            <a:ext cx="9622200" cy="798843"/>
          </a:xfrm>
          <a:prstGeom prst="roundRect">
            <a:avLst>
              <a:gd name="adj" fmla="val 15141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Docker Installation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" name="Google Shape;1363;p26">
            <a:extLst>
              <a:ext uri="{FF2B5EF4-FFF2-40B4-BE49-F238E27FC236}">
                <a16:creationId xmlns:a16="http://schemas.microsoft.com/office/drawing/2014/main" id="{B235348A-03FD-3371-E5CB-BAC927567C55}"/>
              </a:ext>
            </a:extLst>
          </p:cNvPr>
          <p:cNvGrpSpPr/>
          <p:nvPr/>
        </p:nvGrpSpPr>
        <p:grpSpPr>
          <a:xfrm>
            <a:off x="910124" y="3782012"/>
            <a:ext cx="1771800" cy="2590661"/>
            <a:chOff x="1153052" y="2433117"/>
            <a:chExt cx="1771800" cy="3134700"/>
          </a:xfrm>
        </p:grpSpPr>
        <p:grpSp>
          <p:nvGrpSpPr>
            <p:cNvPr id="39" name="Google Shape;1364;p26">
              <a:extLst>
                <a:ext uri="{FF2B5EF4-FFF2-40B4-BE49-F238E27FC236}">
                  <a16:creationId xmlns:a16="http://schemas.microsoft.com/office/drawing/2014/main" id="{26AC5BB7-76E5-C533-58EC-5F72C8D2BB64}"/>
                </a:ext>
              </a:extLst>
            </p:cNvPr>
            <p:cNvGrpSpPr/>
            <p:nvPr/>
          </p:nvGrpSpPr>
          <p:grpSpPr>
            <a:xfrm>
              <a:off x="1153052" y="3274917"/>
              <a:ext cx="1771800" cy="2292900"/>
              <a:chOff x="2066736" y="3014108"/>
              <a:chExt cx="1771800" cy="2292900"/>
            </a:xfrm>
          </p:grpSpPr>
          <p:sp>
            <p:nvSpPr>
              <p:cNvPr id="41" name="Google Shape;1365;p26">
                <a:extLst>
                  <a:ext uri="{FF2B5EF4-FFF2-40B4-BE49-F238E27FC236}">
                    <a16:creationId xmlns:a16="http://schemas.microsoft.com/office/drawing/2014/main" id="{EF68794D-EC44-04C2-5F2A-707B87C8F6CA}"/>
                  </a:ext>
                </a:extLst>
              </p:cNvPr>
              <p:cNvSpPr/>
              <p:nvPr/>
            </p:nvSpPr>
            <p:spPr>
              <a:xfrm>
                <a:off x="2066736" y="3014108"/>
                <a:ext cx="1771800" cy="2292900"/>
              </a:xfrm>
              <a:prstGeom prst="roundRect">
                <a:avLst>
                  <a:gd name="adj" fmla="val 7389"/>
                </a:avLst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" name="Google Shape;1366;p26">
                <a:extLst>
                  <a:ext uri="{FF2B5EF4-FFF2-40B4-BE49-F238E27FC236}">
                    <a16:creationId xmlns:a16="http://schemas.microsoft.com/office/drawing/2014/main" id="{4EDA5AB1-9DBE-E314-2108-B173C788DFEC}"/>
                  </a:ext>
                </a:extLst>
              </p:cNvPr>
              <p:cNvSpPr txBox="1"/>
              <p:nvPr/>
            </p:nvSpPr>
            <p:spPr>
              <a:xfrm>
                <a:off x="2248111" y="3160415"/>
                <a:ext cx="1409100" cy="830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Windows version below 10 </a:t>
                </a: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" name="Google Shape;1367;p26">
                <a:extLst>
                  <a:ext uri="{FF2B5EF4-FFF2-40B4-BE49-F238E27FC236}">
                    <a16:creationId xmlns:a16="http://schemas.microsoft.com/office/drawing/2014/main" id="{13BEAF1A-F517-3850-5ED6-C7A097A1B18F}"/>
                  </a:ext>
                </a:extLst>
              </p:cNvPr>
              <p:cNvSpPr txBox="1"/>
              <p:nvPr/>
            </p:nvSpPr>
            <p:spPr>
              <a:xfrm>
                <a:off x="2248111" y="4146284"/>
                <a:ext cx="1409100" cy="830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Requires Docker Toolbox</a:t>
                </a: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40" name="Google Shape;1368;p26">
              <a:extLst>
                <a:ext uri="{FF2B5EF4-FFF2-40B4-BE49-F238E27FC236}">
                  <a16:creationId xmlns:a16="http://schemas.microsoft.com/office/drawing/2014/main" id="{40BF6943-B291-0EC4-5D11-35AA6FF3DA7B}"/>
                </a:ext>
              </a:extLst>
            </p:cNvPr>
            <p:cNvCxnSpPr>
              <a:endCxn id="41" idx="0"/>
            </p:cNvCxnSpPr>
            <p:nvPr/>
          </p:nvCxnSpPr>
          <p:spPr>
            <a:xfrm>
              <a:off x="2038952" y="2433117"/>
              <a:ext cx="0" cy="8418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</p:grpSp>
      <p:grpSp>
        <p:nvGrpSpPr>
          <p:cNvPr id="44" name="Google Shape;1369;p26">
            <a:extLst>
              <a:ext uri="{FF2B5EF4-FFF2-40B4-BE49-F238E27FC236}">
                <a16:creationId xmlns:a16="http://schemas.microsoft.com/office/drawing/2014/main" id="{BFB92C23-9A55-B7F0-5465-1712D10FF15C}"/>
              </a:ext>
            </a:extLst>
          </p:cNvPr>
          <p:cNvGrpSpPr/>
          <p:nvPr/>
        </p:nvGrpSpPr>
        <p:grpSpPr>
          <a:xfrm>
            <a:off x="3539131" y="3802435"/>
            <a:ext cx="1829700" cy="2552308"/>
            <a:chOff x="3782059" y="2457568"/>
            <a:chExt cx="1829700" cy="3088293"/>
          </a:xfrm>
        </p:grpSpPr>
        <p:grpSp>
          <p:nvGrpSpPr>
            <p:cNvPr id="45" name="Google Shape;1370;p26">
              <a:extLst>
                <a:ext uri="{FF2B5EF4-FFF2-40B4-BE49-F238E27FC236}">
                  <a16:creationId xmlns:a16="http://schemas.microsoft.com/office/drawing/2014/main" id="{4AEEF488-5B6F-A534-F153-0356A82F3C78}"/>
                </a:ext>
              </a:extLst>
            </p:cNvPr>
            <p:cNvGrpSpPr/>
            <p:nvPr/>
          </p:nvGrpSpPr>
          <p:grpSpPr>
            <a:xfrm>
              <a:off x="3782059" y="3252961"/>
              <a:ext cx="1829700" cy="2292900"/>
              <a:chOff x="3976070" y="2992152"/>
              <a:chExt cx="1829700" cy="2292900"/>
            </a:xfrm>
          </p:grpSpPr>
          <p:sp>
            <p:nvSpPr>
              <p:cNvPr id="47" name="Google Shape;1371;p26">
                <a:extLst>
                  <a:ext uri="{FF2B5EF4-FFF2-40B4-BE49-F238E27FC236}">
                    <a16:creationId xmlns:a16="http://schemas.microsoft.com/office/drawing/2014/main" id="{932B0A44-C583-B749-8667-8D34D7A3A8E8}"/>
                  </a:ext>
                </a:extLst>
              </p:cNvPr>
              <p:cNvSpPr/>
              <p:nvPr/>
            </p:nvSpPr>
            <p:spPr>
              <a:xfrm>
                <a:off x="3976070" y="2992152"/>
                <a:ext cx="1829700" cy="2292900"/>
              </a:xfrm>
              <a:prstGeom prst="roundRect">
                <a:avLst>
                  <a:gd name="adj" fmla="val 5910"/>
                </a:avLst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" name="Google Shape;1372;p26">
                <a:extLst>
                  <a:ext uri="{FF2B5EF4-FFF2-40B4-BE49-F238E27FC236}">
                    <a16:creationId xmlns:a16="http://schemas.microsoft.com/office/drawing/2014/main" id="{AE9CCB64-9888-7A87-4435-73E7C7751D00}"/>
                  </a:ext>
                </a:extLst>
              </p:cNvPr>
              <p:cNvSpPr txBox="1"/>
              <p:nvPr/>
            </p:nvSpPr>
            <p:spPr>
              <a:xfrm>
                <a:off x="4186377" y="3169631"/>
                <a:ext cx="1409100" cy="5847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Windows version 10 </a:t>
                </a: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" name="Google Shape;1373;p26">
                <a:extLst>
                  <a:ext uri="{FF2B5EF4-FFF2-40B4-BE49-F238E27FC236}">
                    <a16:creationId xmlns:a16="http://schemas.microsoft.com/office/drawing/2014/main" id="{322FEC14-AFBF-6D7C-01FF-29A6FD793769}"/>
                  </a:ext>
                </a:extLst>
              </p:cNvPr>
              <p:cNvSpPr txBox="1"/>
              <p:nvPr/>
            </p:nvSpPr>
            <p:spPr>
              <a:xfrm>
                <a:off x="4186377" y="4150479"/>
                <a:ext cx="1409100" cy="830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Requires Docker Desktop</a:t>
                </a: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46" name="Google Shape;1374;p26">
              <a:extLst>
                <a:ext uri="{FF2B5EF4-FFF2-40B4-BE49-F238E27FC236}">
                  <a16:creationId xmlns:a16="http://schemas.microsoft.com/office/drawing/2014/main" id="{C9EDDB38-432B-128E-2952-D62506A7D69F}"/>
                </a:ext>
              </a:extLst>
            </p:cNvPr>
            <p:cNvCxnSpPr/>
            <p:nvPr/>
          </p:nvCxnSpPr>
          <p:spPr>
            <a:xfrm>
              <a:off x="4696908" y="2457568"/>
              <a:ext cx="0" cy="7953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</p:grpSp>
      <p:grpSp>
        <p:nvGrpSpPr>
          <p:cNvPr id="50" name="Google Shape;1375;p26">
            <a:extLst>
              <a:ext uri="{FF2B5EF4-FFF2-40B4-BE49-F238E27FC236}">
                <a16:creationId xmlns:a16="http://schemas.microsoft.com/office/drawing/2014/main" id="{8CBC0EA4-CF42-01D5-5187-7109DD8163B0}"/>
              </a:ext>
            </a:extLst>
          </p:cNvPr>
          <p:cNvGrpSpPr/>
          <p:nvPr/>
        </p:nvGrpSpPr>
        <p:grpSpPr>
          <a:xfrm>
            <a:off x="6226002" y="3782484"/>
            <a:ext cx="1829700" cy="2577351"/>
            <a:chOff x="6468930" y="2434987"/>
            <a:chExt cx="1829700" cy="3118595"/>
          </a:xfrm>
        </p:grpSpPr>
        <p:grpSp>
          <p:nvGrpSpPr>
            <p:cNvPr id="51" name="Google Shape;1376;p26">
              <a:extLst>
                <a:ext uri="{FF2B5EF4-FFF2-40B4-BE49-F238E27FC236}">
                  <a16:creationId xmlns:a16="http://schemas.microsoft.com/office/drawing/2014/main" id="{219A2524-EBA4-1782-EFF0-FCC13CBBFA78}"/>
                </a:ext>
              </a:extLst>
            </p:cNvPr>
            <p:cNvGrpSpPr/>
            <p:nvPr/>
          </p:nvGrpSpPr>
          <p:grpSpPr>
            <a:xfrm>
              <a:off x="6468930" y="3260682"/>
              <a:ext cx="1829700" cy="2292900"/>
              <a:chOff x="6000754" y="2999873"/>
              <a:chExt cx="1829700" cy="2292900"/>
            </a:xfrm>
          </p:grpSpPr>
          <p:sp>
            <p:nvSpPr>
              <p:cNvPr id="53" name="Google Shape;1377;p26">
                <a:extLst>
                  <a:ext uri="{FF2B5EF4-FFF2-40B4-BE49-F238E27FC236}">
                    <a16:creationId xmlns:a16="http://schemas.microsoft.com/office/drawing/2014/main" id="{8C7B667B-B533-F5A7-9033-84F1A6A6AC44}"/>
                  </a:ext>
                </a:extLst>
              </p:cNvPr>
              <p:cNvSpPr/>
              <p:nvPr/>
            </p:nvSpPr>
            <p:spPr>
              <a:xfrm>
                <a:off x="6000754" y="2999873"/>
                <a:ext cx="1829700" cy="2292900"/>
              </a:xfrm>
              <a:prstGeom prst="roundRect">
                <a:avLst>
                  <a:gd name="adj" fmla="val 7299"/>
                </a:avLst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" name="Google Shape;1378;p26">
                <a:extLst>
                  <a:ext uri="{FF2B5EF4-FFF2-40B4-BE49-F238E27FC236}">
                    <a16:creationId xmlns:a16="http://schemas.microsoft.com/office/drawing/2014/main" id="{6A84D4E5-40CF-366D-A301-57228972DC7D}"/>
                  </a:ext>
                </a:extLst>
              </p:cNvPr>
              <p:cNvSpPr txBox="1"/>
              <p:nvPr/>
            </p:nvSpPr>
            <p:spPr>
              <a:xfrm>
                <a:off x="6211061" y="3269758"/>
                <a:ext cx="1409100" cy="3385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Linux</a:t>
                </a: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" name="Google Shape;1379;p26">
                <a:extLst>
                  <a:ext uri="{FF2B5EF4-FFF2-40B4-BE49-F238E27FC236}">
                    <a16:creationId xmlns:a16="http://schemas.microsoft.com/office/drawing/2014/main" id="{1F33A90A-5FAC-C12A-3735-63DF4F7E86A0}"/>
                  </a:ext>
                </a:extLst>
              </p:cNvPr>
              <p:cNvSpPr txBox="1"/>
              <p:nvPr/>
            </p:nvSpPr>
            <p:spPr>
              <a:xfrm>
                <a:off x="6211061" y="4160433"/>
                <a:ext cx="1409100" cy="830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Requires Docker Engine</a:t>
                </a: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52" name="Google Shape;1380;p26">
              <a:extLst>
                <a:ext uri="{FF2B5EF4-FFF2-40B4-BE49-F238E27FC236}">
                  <a16:creationId xmlns:a16="http://schemas.microsoft.com/office/drawing/2014/main" id="{A61A3402-7986-DD90-EE2A-A90B5E5EA442}"/>
                </a:ext>
              </a:extLst>
            </p:cNvPr>
            <p:cNvCxnSpPr/>
            <p:nvPr/>
          </p:nvCxnSpPr>
          <p:spPr>
            <a:xfrm>
              <a:off x="7383779" y="2434987"/>
              <a:ext cx="0" cy="8181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</p:grpSp>
      <p:grpSp>
        <p:nvGrpSpPr>
          <p:cNvPr id="56" name="Google Shape;1381;p26">
            <a:extLst>
              <a:ext uri="{FF2B5EF4-FFF2-40B4-BE49-F238E27FC236}">
                <a16:creationId xmlns:a16="http://schemas.microsoft.com/office/drawing/2014/main" id="{0A8AD627-AB16-F60D-6538-B01DF0C79DCB}"/>
              </a:ext>
            </a:extLst>
          </p:cNvPr>
          <p:cNvGrpSpPr/>
          <p:nvPr/>
        </p:nvGrpSpPr>
        <p:grpSpPr>
          <a:xfrm>
            <a:off x="8912873" y="3785295"/>
            <a:ext cx="1829700" cy="2604128"/>
            <a:chOff x="9155801" y="2434987"/>
            <a:chExt cx="1829700" cy="3150995"/>
          </a:xfrm>
        </p:grpSpPr>
        <p:grpSp>
          <p:nvGrpSpPr>
            <p:cNvPr id="57" name="Google Shape;1382;p26">
              <a:extLst>
                <a:ext uri="{FF2B5EF4-FFF2-40B4-BE49-F238E27FC236}">
                  <a16:creationId xmlns:a16="http://schemas.microsoft.com/office/drawing/2014/main" id="{7DFE6EFF-181A-1A0F-89A2-7FAAE1A709C7}"/>
                </a:ext>
              </a:extLst>
            </p:cNvPr>
            <p:cNvGrpSpPr/>
            <p:nvPr/>
          </p:nvGrpSpPr>
          <p:grpSpPr>
            <a:xfrm>
              <a:off x="9155801" y="3260682"/>
              <a:ext cx="1829700" cy="2325300"/>
              <a:chOff x="7935820" y="2999873"/>
              <a:chExt cx="1829700" cy="2325300"/>
            </a:xfrm>
          </p:grpSpPr>
          <p:sp>
            <p:nvSpPr>
              <p:cNvPr id="59" name="Google Shape;1383;p26">
                <a:extLst>
                  <a:ext uri="{FF2B5EF4-FFF2-40B4-BE49-F238E27FC236}">
                    <a16:creationId xmlns:a16="http://schemas.microsoft.com/office/drawing/2014/main" id="{9FC9C731-6598-B8A7-9860-B2D71FCD71F3}"/>
                  </a:ext>
                </a:extLst>
              </p:cNvPr>
              <p:cNvSpPr/>
              <p:nvPr/>
            </p:nvSpPr>
            <p:spPr>
              <a:xfrm>
                <a:off x="7935820" y="2999873"/>
                <a:ext cx="1829700" cy="2325300"/>
              </a:xfrm>
              <a:prstGeom prst="roundRect">
                <a:avLst>
                  <a:gd name="adj" fmla="val 5910"/>
                </a:avLst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" name="Google Shape;1384;p26">
                <a:extLst>
                  <a:ext uri="{FF2B5EF4-FFF2-40B4-BE49-F238E27FC236}">
                    <a16:creationId xmlns:a16="http://schemas.microsoft.com/office/drawing/2014/main" id="{90A378AA-C90A-DFD2-777F-846C74AFA7A2}"/>
                  </a:ext>
                </a:extLst>
              </p:cNvPr>
              <p:cNvSpPr txBox="1"/>
              <p:nvPr/>
            </p:nvSpPr>
            <p:spPr>
              <a:xfrm>
                <a:off x="8146119" y="3239112"/>
                <a:ext cx="1409100" cy="3385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MacOS</a:t>
                </a: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" name="Google Shape;1385;p26">
                <a:extLst>
                  <a:ext uri="{FF2B5EF4-FFF2-40B4-BE49-F238E27FC236}">
                    <a16:creationId xmlns:a16="http://schemas.microsoft.com/office/drawing/2014/main" id="{1E68A0A6-5F95-FFAE-27F0-FBA75F1F44C9}"/>
                  </a:ext>
                </a:extLst>
              </p:cNvPr>
              <p:cNvSpPr txBox="1"/>
              <p:nvPr/>
            </p:nvSpPr>
            <p:spPr>
              <a:xfrm>
                <a:off x="8146119" y="4146266"/>
                <a:ext cx="1409100" cy="861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Requires Docker</a:t>
                </a:r>
                <a:endParaRPr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Desktop</a:t>
                </a:r>
                <a:endParaRPr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58" name="Google Shape;1386;p26">
              <a:extLst>
                <a:ext uri="{FF2B5EF4-FFF2-40B4-BE49-F238E27FC236}">
                  <a16:creationId xmlns:a16="http://schemas.microsoft.com/office/drawing/2014/main" id="{B9207024-E523-E7B1-48AF-397FE9C815C4}"/>
                </a:ext>
              </a:extLst>
            </p:cNvPr>
            <p:cNvCxnSpPr/>
            <p:nvPr/>
          </p:nvCxnSpPr>
          <p:spPr>
            <a:xfrm>
              <a:off x="10067285" y="2434987"/>
              <a:ext cx="6600" cy="8181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</p:grpSp>
      <p:sp>
        <p:nvSpPr>
          <p:cNvPr id="62" name="Google Shape;1387;p26">
            <a:extLst>
              <a:ext uri="{FF2B5EF4-FFF2-40B4-BE49-F238E27FC236}">
                <a16:creationId xmlns:a16="http://schemas.microsoft.com/office/drawing/2014/main" id="{D26FFCC5-759F-0D2B-3D7A-70AA203FADF9}"/>
              </a:ext>
            </a:extLst>
          </p:cNvPr>
          <p:cNvSpPr/>
          <p:nvPr/>
        </p:nvSpPr>
        <p:spPr>
          <a:xfrm>
            <a:off x="528891" y="2482830"/>
            <a:ext cx="10585451" cy="4242314"/>
          </a:xfrm>
          <a:prstGeom prst="roundRect">
            <a:avLst>
              <a:gd name="adj" fmla="val 4774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052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392;p27">
            <a:extLst>
              <a:ext uri="{FF2B5EF4-FFF2-40B4-BE49-F238E27FC236}">
                <a16:creationId xmlns:a16="http://schemas.microsoft.com/office/drawing/2014/main" id="{06CDB620-6FB8-50D9-BB69-E48A7041CDC1}"/>
              </a:ext>
            </a:extLst>
          </p:cNvPr>
          <p:cNvSpPr txBox="1"/>
          <p:nvPr/>
        </p:nvSpPr>
        <p:spPr>
          <a:xfrm>
            <a:off x="1206500" y="1290171"/>
            <a:ext cx="9779200" cy="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INSTALLATION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393;p27">
            <a:extLst>
              <a:ext uri="{FF2B5EF4-FFF2-40B4-BE49-F238E27FC236}">
                <a16:creationId xmlns:a16="http://schemas.microsoft.com/office/drawing/2014/main" id="{685A54EA-8937-E1B0-36C6-8EA7C45D8135}"/>
              </a:ext>
            </a:extLst>
          </p:cNvPr>
          <p:cNvSpPr/>
          <p:nvPr/>
        </p:nvSpPr>
        <p:spPr>
          <a:xfrm>
            <a:off x="1306591" y="2652718"/>
            <a:ext cx="9578817" cy="3519481"/>
          </a:xfrm>
          <a:prstGeom prst="roundRect">
            <a:avLst>
              <a:gd name="adj" fmla="val 4846"/>
            </a:avLst>
          </a:prstGeom>
          <a:noFill/>
          <a:ln w="28575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All operating systems suppor</a:t>
            </a:r>
            <a:r>
              <a:rPr lang="en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Docker tool 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installation instructions for Docker may be found here: </a:t>
            </a:r>
            <a:r>
              <a:rPr lang="en" sz="2000" b="0" i="0" u="sng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https://docs.docker.com/engine/install/</a:t>
            </a:r>
            <a:endParaRPr sz="2000" b="0" i="0" u="none" strike="noStrike" cap="none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" sz="2000" b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" sz="2000" b="1" i="0" u="none" strike="noStrike" cap="none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ocker version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command can be used to check the installed version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"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ocker info 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can be used to display system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wide information regarding the Docker installation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displayed information includes the kernel versi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</a:ext>
                </a:extLst>
              </a:rPr>
              <a:t>on</a:t>
            </a:r>
            <a:r>
              <a:rPr lang="en" sz="2000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</a:ext>
                </a:extLst>
              </a:rPr>
              <a:t> and the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7"/>
                  </a:ext>
                </a:extLst>
              </a:rPr>
              <a:t> nu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mber of containers and images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52537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398;p28">
            <a:extLst>
              <a:ext uri="{FF2B5EF4-FFF2-40B4-BE49-F238E27FC236}">
                <a16:creationId xmlns:a16="http://schemas.microsoft.com/office/drawing/2014/main" id="{9B9B9A78-6369-1723-E119-ACB55A478647}"/>
              </a:ext>
            </a:extLst>
          </p:cNvPr>
          <p:cNvSpPr txBox="1"/>
          <p:nvPr/>
        </p:nvSpPr>
        <p:spPr>
          <a:xfrm>
            <a:off x="1206500" y="1262739"/>
            <a:ext cx="9779200" cy="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DEMO 1: DOCKER INSTALLATION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399;p28">
            <a:extLst>
              <a:ext uri="{FF2B5EF4-FFF2-40B4-BE49-F238E27FC236}">
                <a16:creationId xmlns:a16="http://schemas.microsoft.com/office/drawing/2014/main" id="{4EACD10E-D6F3-2EB2-C055-3577AF3681BF}"/>
              </a:ext>
            </a:extLst>
          </p:cNvPr>
          <p:cNvSpPr/>
          <p:nvPr/>
        </p:nvSpPr>
        <p:spPr>
          <a:xfrm>
            <a:off x="3504650" y="3617201"/>
            <a:ext cx="5182699" cy="1397534"/>
          </a:xfrm>
          <a:prstGeom prst="roundRect">
            <a:avLst>
              <a:gd name="adj" fmla="val 11662"/>
            </a:avLst>
          </a:prstGeom>
          <a:noFill/>
          <a:ln w="28575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Installing Docker over EC2 instance</a:t>
            </a:r>
            <a:endParaRPr sz="18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Managing Docker as a non-root user 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48412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1405;p29">
            <a:extLst>
              <a:ext uri="{FF2B5EF4-FFF2-40B4-BE49-F238E27FC236}">
                <a16:creationId xmlns:a16="http://schemas.microsoft.com/office/drawing/2014/main" id="{DCC7DB55-632D-B984-2032-7CD396C8C839}"/>
              </a:ext>
            </a:extLst>
          </p:cNvPr>
          <p:cNvGrpSpPr/>
          <p:nvPr/>
        </p:nvGrpSpPr>
        <p:grpSpPr>
          <a:xfrm>
            <a:off x="5967047" y="1921301"/>
            <a:ext cx="3186729" cy="1495313"/>
            <a:chOff x="8563760" y="1258645"/>
            <a:chExt cx="3186729" cy="1495313"/>
          </a:xfrm>
        </p:grpSpPr>
        <p:sp>
          <p:nvSpPr>
            <p:cNvPr id="10" name="Google Shape;1406;p29">
              <a:extLst>
                <a:ext uri="{FF2B5EF4-FFF2-40B4-BE49-F238E27FC236}">
                  <a16:creationId xmlns:a16="http://schemas.microsoft.com/office/drawing/2014/main" id="{D8E1DDEA-C5ED-A8FD-E7CC-CDE3CA111E8A}"/>
                </a:ext>
              </a:extLst>
            </p:cNvPr>
            <p:cNvSpPr/>
            <p:nvPr/>
          </p:nvSpPr>
          <p:spPr>
            <a:xfrm>
              <a:off x="8563760" y="1258645"/>
              <a:ext cx="1795853" cy="1495313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/>
            </a:solidFill>
            <a:ln w="2349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407;p29">
              <a:extLst>
                <a:ext uri="{FF2B5EF4-FFF2-40B4-BE49-F238E27FC236}">
                  <a16:creationId xmlns:a16="http://schemas.microsoft.com/office/drawing/2014/main" id="{6A2B0374-6814-98D1-3E10-B63252F8C3E9}"/>
                </a:ext>
              </a:extLst>
            </p:cNvPr>
            <p:cNvSpPr/>
            <p:nvPr/>
          </p:nvSpPr>
          <p:spPr>
            <a:xfrm>
              <a:off x="9031739" y="1378212"/>
              <a:ext cx="2718750" cy="126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81000" sx="79000" sy="79000" algn="ctr" rotWithShape="0">
                <a:srgbClr val="505050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" name="Google Shape;1408;p29">
            <a:extLst>
              <a:ext uri="{FF2B5EF4-FFF2-40B4-BE49-F238E27FC236}">
                <a16:creationId xmlns:a16="http://schemas.microsoft.com/office/drawing/2014/main" id="{3513D1C6-3572-CCA9-27B7-FE8BC22D162A}"/>
              </a:ext>
            </a:extLst>
          </p:cNvPr>
          <p:cNvSpPr txBox="1"/>
          <p:nvPr/>
        </p:nvSpPr>
        <p:spPr>
          <a:xfrm>
            <a:off x="7072297" y="2173170"/>
            <a:ext cx="1973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Docker Overview </a:t>
            </a:r>
            <a:r>
              <a:rPr lang="en" sz="1800" b="1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" sz="1800" b="1" i="0" u="none" strike="noStrike" cap="non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nd Installation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" name="Google Shape;1409;p29">
            <a:extLst>
              <a:ext uri="{FF2B5EF4-FFF2-40B4-BE49-F238E27FC236}">
                <a16:creationId xmlns:a16="http://schemas.microsoft.com/office/drawing/2014/main" id="{46F0702B-D2F5-1117-5A92-C22A5E4B372B}"/>
              </a:ext>
            </a:extLst>
          </p:cNvPr>
          <p:cNvGrpSpPr/>
          <p:nvPr/>
        </p:nvGrpSpPr>
        <p:grpSpPr>
          <a:xfrm flipH="1">
            <a:off x="3033121" y="2815918"/>
            <a:ext cx="3078409" cy="1495313"/>
            <a:chOff x="8563760" y="1258645"/>
            <a:chExt cx="3078409" cy="1495313"/>
          </a:xfrm>
        </p:grpSpPr>
        <p:sp>
          <p:nvSpPr>
            <p:cNvPr id="14" name="Google Shape;1410;p29">
              <a:extLst>
                <a:ext uri="{FF2B5EF4-FFF2-40B4-BE49-F238E27FC236}">
                  <a16:creationId xmlns:a16="http://schemas.microsoft.com/office/drawing/2014/main" id="{BAAE80C3-108B-CA66-02A2-DC28AC1F223A}"/>
                </a:ext>
              </a:extLst>
            </p:cNvPr>
            <p:cNvSpPr/>
            <p:nvPr/>
          </p:nvSpPr>
          <p:spPr>
            <a:xfrm>
              <a:off x="8563760" y="1258645"/>
              <a:ext cx="1795853" cy="1495313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234950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411;p29">
              <a:extLst>
                <a:ext uri="{FF2B5EF4-FFF2-40B4-BE49-F238E27FC236}">
                  <a16:creationId xmlns:a16="http://schemas.microsoft.com/office/drawing/2014/main" id="{A6076B51-C98E-835E-0D3A-5735F2A47543}"/>
                </a:ext>
              </a:extLst>
            </p:cNvPr>
            <p:cNvSpPr/>
            <p:nvPr/>
          </p:nvSpPr>
          <p:spPr>
            <a:xfrm>
              <a:off x="9023501" y="1378151"/>
              <a:ext cx="2618668" cy="12598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81000" sx="79000" sy="79000" algn="ctr" rotWithShape="0">
                <a:srgbClr val="505050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412;p29">
            <a:extLst>
              <a:ext uri="{FF2B5EF4-FFF2-40B4-BE49-F238E27FC236}">
                <a16:creationId xmlns:a16="http://schemas.microsoft.com/office/drawing/2014/main" id="{475A966B-9CD1-8570-4C62-16166ABCF980}"/>
              </a:ext>
            </a:extLst>
          </p:cNvPr>
          <p:cNvSpPr txBox="1"/>
          <p:nvPr/>
        </p:nvSpPr>
        <p:spPr>
          <a:xfrm>
            <a:off x="3155793" y="3035029"/>
            <a:ext cx="1888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Docker Image Creation and </a:t>
            </a:r>
            <a:endParaRPr sz="1400" b="0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Management</a:t>
            </a:r>
            <a:endParaRPr sz="1400" b="0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oogle Shape;1413;p29">
            <a:extLst>
              <a:ext uri="{FF2B5EF4-FFF2-40B4-BE49-F238E27FC236}">
                <a16:creationId xmlns:a16="http://schemas.microsoft.com/office/drawing/2014/main" id="{3A6312A0-6708-6128-0521-583E811A59C3}"/>
              </a:ext>
            </a:extLst>
          </p:cNvPr>
          <p:cNvGrpSpPr/>
          <p:nvPr/>
        </p:nvGrpSpPr>
        <p:grpSpPr>
          <a:xfrm>
            <a:off x="5975285" y="3679464"/>
            <a:ext cx="3183591" cy="1495313"/>
            <a:chOff x="8563760" y="1258645"/>
            <a:chExt cx="3183591" cy="1495313"/>
          </a:xfrm>
        </p:grpSpPr>
        <p:sp>
          <p:nvSpPr>
            <p:cNvPr id="18" name="Google Shape;1414;p29">
              <a:extLst>
                <a:ext uri="{FF2B5EF4-FFF2-40B4-BE49-F238E27FC236}">
                  <a16:creationId xmlns:a16="http://schemas.microsoft.com/office/drawing/2014/main" id="{ADC158E0-167D-A832-BCCC-EEB12AE916FE}"/>
                </a:ext>
              </a:extLst>
            </p:cNvPr>
            <p:cNvSpPr/>
            <p:nvPr/>
          </p:nvSpPr>
          <p:spPr>
            <a:xfrm>
              <a:off x="8563760" y="1258645"/>
              <a:ext cx="1795853" cy="1495313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234950" cap="flat" cmpd="sng">
              <a:solidFill>
                <a:srgbClr val="DEDED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415;p29">
              <a:extLst>
                <a:ext uri="{FF2B5EF4-FFF2-40B4-BE49-F238E27FC236}">
                  <a16:creationId xmlns:a16="http://schemas.microsoft.com/office/drawing/2014/main" id="{4B1F9460-755B-A88C-83CF-53C0BB4F9A0D}"/>
                </a:ext>
              </a:extLst>
            </p:cNvPr>
            <p:cNvSpPr/>
            <p:nvPr/>
          </p:nvSpPr>
          <p:spPr>
            <a:xfrm>
              <a:off x="9023500" y="1378151"/>
              <a:ext cx="2723851" cy="12598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81000" sx="79000" sy="79000" algn="ctr" rotWithShape="0">
                <a:srgbClr val="505050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" name="Google Shape;1416;p29">
            <a:extLst>
              <a:ext uri="{FF2B5EF4-FFF2-40B4-BE49-F238E27FC236}">
                <a16:creationId xmlns:a16="http://schemas.microsoft.com/office/drawing/2014/main" id="{520DCC33-D6FC-6694-46C9-1692E42C9654}"/>
              </a:ext>
            </a:extLst>
          </p:cNvPr>
          <p:cNvSpPr txBox="1"/>
          <p:nvPr/>
        </p:nvSpPr>
        <p:spPr>
          <a:xfrm>
            <a:off x="6964012" y="3815857"/>
            <a:ext cx="2081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Docker Volumes and Multi-Container Deployments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1417;p29" descr="Puzzle">
            <a:extLst>
              <a:ext uri="{FF2B5EF4-FFF2-40B4-BE49-F238E27FC236}">
                <a16:creationId xmlns:a16="http://schemas.microsoft.com/office/drawing/2014/main" id="{81155D76-B576-AC6C-7555-47E3BB4FE96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28710" y="2330280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418;p29" descr="Home">
            <a:extLst>
              <a:ext uri="{FF2B5EF4-FFF2-40B4-BE49-F238E27FC236}">
                <a16:creationId xmlns:a16="http://schemas.microsoft.com/office/drawing/2014/main" id="{2BE9B91F-683B-3F18-0367-72FDB2266D2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153625" y="3192139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419;p29" descr="Infinity">
            <a:extLst>
              <a:ext uri="{FF2B5EF4-FFF2-40B4-BE49-F238E27FC236}">
                <a16:creationId xmlns:a16="http://schemas.microsoft.com/office/drawing/2014/main" id="{8C82CB53-9110-E9F3-981A-2B773664384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92015" y="4115439"/>
            <a:ext cx="640080" cy="640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0055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424;p30">
            <a:extLst>
              <a:ext uri="{FF2B5EF4-FFF2-40B4-BE49-F238E27FC236}">
                <a16:creationId xmlns:a16="http://schemas.microsoft.com/office/drawing/2014/main" id="{1FEF465C-4FD7-748E-7CDE-69FBD0B72902}"/>
              </a:ext>
            </a:extLst>
          </p:cNvPr>
          <p:cNvSpPr txBox="1"/>
          <p:nvPr/>
        </p:nvSpPr>
        <p:spPr>
          <a:xfrm>
            <a:off x="4082578" y="1125827"/>
            <a:ext cx="45102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" sz="2398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SESSION OVERVIEW: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" sz="2398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8"/>
                  </a:ext>
                </a:extLst>
              </a:rPr>
              <a:t>DOCKER IMAGE CREATION AND MANAGEMENT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425;p30">
            <a:extLst>
              <a:ext uri="{FF2B5EF4-FFF2-40B4-BE49-F238E27FC236}">
                <a16:creationId xmlns:a16="http://schemas.microsoft.com/office/drawing/2014/main" id="{D0696F3A-4279-FF6B-13B0-EB5D429218EA}"/>
              </a:ext>
            </a:extLst>
          </p:cNvPr>
          <p:cNvSpPr txBox="1"/>
          <p:nvPr/>
        </p:nvSpPr>
        <p:spPr>
          <a:xfrm>
            <a:off x="3290527" y="2932789"/>
            <a:ext cx="5610900" cy="453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/>
            </a:pPr>
            <a:r>
              <a:rPr lang="en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Image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426;p30">
            <a:extLst>
              <a:ext uri="{FF2B5EF4-FFF2-40B4-BE49-F238E27FC236}">
                <a16:creationId xmlns:a16="http://schemas.microsoft.com/office/drawing/2014/main" id="{F5707851-1769-0F70-902F-5B575DF9D12D}"/>
              </a:ext>
            </a:extLst>
          </p:cNvPr>
          <p:cNvSpPr txBox="1"/>
          <p:nvPr/>
        </p:nvSpPr>
        <p:spPr>
          <a:xfrm>
            <a:off x="3290527" y="3514813"/>
            <a:ext cx="5610900" cy="453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2"/>
            </a:pPr>
            <a:r>
              <a:rPr lang="en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Dockerfile and Instruction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427;p30">
            <a:extLst>
              <a:ext uri="{FF2B5EF4-FFF2-40B4-BE49-F238E27FC236}">
                <a16:creationId xmlns:a16="http://schemas.microsoft.com/office/drawing/2014/main" id="{693DE0F8-2541-31D8-A7CC-3E0096918F8B}"/>
              </a:ext>
            </a:extLst>
          </p:cNvPr>
          <p:cNvSpPr txBox="1"/>
          <p:nvPr/>
        </p:nvSpPr>
        <p:spPr>
          <a:xfrm>
            <a:off x="3290527" y="4105981"/>
            <a:ext cx="5610900" cy="453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3"/>
            </a:pPr>
            <a:r>
              <a:rPr lang="en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9"/>
                  </a:ext>
                </a:extLst>
              </a:rPr>
              <a:t>Context</a:t>
            </a:r>
            <a:r>
              <a:rPr lang="en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-building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428;p30">
            <a:extLst>
              <a:ext uri="{FF2B5EF4-FFF2-40B4-BE49-F238E27FC236}">
                <a16:creationId xmlns:a16="http://schemas.microsoft.com/office/drawing/2014/main" id="{A19474DA-C6CE-0F79-E38A-3A3380A09FA5}"/>
              </a:ext>
            </a:extLst>
          </p:cNvPr>
          <p:cNvSpPr txBox="1"/>
          <p:nvPr/>
        </p:nvSpPr>
        <p:spPr>
          <a:xfrm>
            <a:off x="3290527" y="4697149"/>
            <a:ext cx="5610900" cy="453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4"/>
            </a:pPr>
            <a:r>
              <a:rPr lang="en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Layer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29;p30">
            <a:extLst>
              <a:ext uri="{FF2B5EF4-FFF2-40B4-BE49-F238E27FC236}">
                <a16:creationId xmlns:a16="http://schemas.microsoft.com/office/drawing/2014/main" id="{CCB6CCB6-0300-FFB6-B71F-AE4CF02FBB58}"/>
              </a:ext>
            </a:extLst>
          </p:cNvPr>
          <p:cNvSpPr txBox="1"/>
          <p:nvPr/>
        </p:nvSpPr>
        <p:spPr>
          <a:xfrm>
            <a:off x="3290527" y="5833765"/>
            <a:ext cx="5610900" cy="453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6"/>
            </a:pPr>
            <a:r>
              <a:rPr lang="en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Container</a:t>
            </a:r>
            <a:r>
              <a:rPr lang="en" sz="1999" b="1">
                <a:latin typeface="Lato"/>
                <a:ea typeface="Lato"/>
                <a:cs typeface="Lato"/>
                <a:sym typeface="Lato"/>
              </a:rPr>
              <a:t> Deployment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430;p30">
            <a:extLst>
              <a:ext uri="{FF2B5EF4-FFF2-40B4-BE49-F238E27FC236}">
                <a16:creationId xmlns:a16="http://schemas.microsoft.com/office/drawing/2014/main" id="{9E3CA703-3085-CB9F-CB82-A35C2827A189}"/>
              </a:ext>
            </a:extLst>
          </p:cNvPr>
          <p:cNvSpPr txBox="1"/>
          <p:nvPr/>
        </p:nvSpPr>
        <p:spPr>
          <a:xfrm>
            <a:off x="3290527" y="5279173"/>
            <a:ext cx="5610900" cy="453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5"/>
            </a:pPr>
            <a:r>
              <a:rPr lang="en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Registry and Tarball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16090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4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4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4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4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435;p31">
            <a:extLst>
              <a:ext uri="{FF2B5EF4-FFF2-40B4-BE49-F238E27FC236}">
                <a16:creationId xmlns:a16="http://schemas.microsoft.com/office/drawing/2014/main" id="{3ADF2125-2678-1DC8-97D9-E576F5585454}"/>
              </a:ext>
            </a:extLst>
          </p:cNvPr>
          <p:cNvSpPr/>
          <p:nvPr/>
        </p:nvSpPr>
        <p:spPr>
          <a:xfrm>
            <a:off x="1306592" y="2318766"/>
            <a:ext cx="4089868" cy="4495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9200" marR="0" lvl="0" indent="-349200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Containers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Volumes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Plugins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ther objects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436;p31">
            <a:extLst>
              <a:ext uri="{FF2B5EF4-FFF2-40B4-BE49-F238E27FC236}">
                <a16:creationId xmlns:a16="http://schemas.microsoft.com/office/drawing/2014/main" id="{7A28C8E9-D3BA-3D94-EFE5-E78FCBE8FCCD}"/>
              </a:ext>
            </a:extLst>
          </p:cNvPr>
          <p:cNvSpPr txBox="1"/>
          <p:nvPr/>
        </p:nvSpPr>
        <p:spPr>
          <a:xfrm>
            <a:off x="2414400" y="1312316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OBJECTS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437;p31">
            <a:extLst>
              <a:ext uri="{FF2B5EF4-FFF2-40B4-BE49-F238E27FC236}">
                <a16:creationId xmlns:a16="http://schemas.microsoft.com/office/drawing/2014/main" id="{1DBFC354-B66A-97DB-4A01-AE187FC9245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29197" y="3033959"/>
            <a:ext cx="5256212" cy="3174785"/>
          </a:xfrm>
          <a:prstGeom prst="roundRect">
            <a:avLst>
              <a:gd name="adj" fmla="val 7981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900595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4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4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4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4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442;p32">
            <a:extLst>
              <a:ext uri="{FF2B5EF4-FFF2-40B4-BE49-F238E27FC236}">
                <a16:creationId xmlns:a16="http://schemas.microsoft.com/office/drawing/2014/main" id="{FE5810F9-33BD-CF2D-EE55-CBA7473B067C}"/>
              </a:ext>
            </a:extLst>
          </p:cNvPr>
          <p:cNvSpPr txBox="1"/>
          <p:nvPr/>
        </p:nvSpPr>
        <p:spPr>
          <a:xfrm>
            <a:off x="2414400" y="1240908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IMAGE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443;p32">
            <a:extLst>
              <a:ext uri="{FF2B5EF4-FFF2-40B4-BE49-F238E27FC236}">
                <a16:creationId xmlns:a16="http://schemas.microsoft.com/office/drawing/2014/main" id="{CE831F13-7724-1CAC-6D26-85C8E7D9BA7E}"/>
              </a:ext>
            </a:extLst>
          </p:cNvPr>
          <p:cNvSpPr/>
          <p:nvPr/>
        </p:nvSpPr>
        <p:spPr>
          <a:xfrm>
            <a:off x="1306591" y="2617727"/>
            <a:ext cx="9578817" cy="3842976"/>
          </a:xfrm>
          <a:prstGeom prst="roundRect">
            <a:avLst>
              <a:gd name="adj" fmla="val 4846"/>
            </a:avLst>
          </a:prstGeom>
          <a:noFill/>
          <a:ln w="28575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 </a:t>
            </a:r>
            <a:r>
              <a:rPr lang="en" sz="2000" dirty="0"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mage is an instruction file that defines the blueprint of </a:t>
            </a:r>
            <a:r>
              <a:rPr lang="en" sz="2000" dirty="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container</a:t>
            </a:r>
            <a:endParaRPr sz="1867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All the requirements</a:t>
            </a:r>
            <a:r>
              <a:rPr lang="en" sz="2000" dirty="0">
                <a:latin typeface="Lato"/>
                <a:ea typeface="Lato"/>
                <a:cs typeface="Lato"/>
                <a:sym typeface="Lato"/>
              </a:rPr>
              <a:t> such as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binaries, runtime, etc. are present in the image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These are similar to the snapshots created in VM environments</a:t>
            </a:r>
            <a:b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 Docker image can be created by any of the following methods: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1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Dockerfile</a:t>
            </a:r>
            <a:r>
              <a:rPr lang="en" sz="2000" b="0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 text</a:t>
            </a:r>
            <a:r>
              <a:rPr lang="en" sz="2000" dirty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file that contains </a:t>
            </a:r>
            <a:r>
              <a:rPr lang="en" sz="2000" dirty="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set of instructions that describe how to build an image 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1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Interactive:</a:t>
            </a:r>
            <a:r>
              <a:rPr lang="en" sz="2000" b="1" i="0" u="none" strike="noStrike" cap="none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By saving the state of a running container and creating a customi</a:t>
            </a:r>
            <a:r>
              <a:rPr lang="en" sz="2000" dirty="0"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ed Docker image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55090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448;p33">
            <a:extLst>
              <a:ext uri="{FF2B5EF4-FFF2-40B4-BE49-F238E27FC236}">
                <a16:creationId xmlns:a16="http://schemas.microsoft.com/office/drawing/2014/main" id="{F56BA8A5-3D99-C26E-9774-0E291D8DAEFC}"/>
              </a:ext>
            </a:extLst>
          </p:cNvPr>
          <p:cNvSpPr txBox="1"/>
          <p:nvPr/>
        </p:nvSpPr>
        <p:spPr>
          <a:xfrm>
            <a:off x="2414399" y="1203510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IMAGE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449;p33">
            <a:extLst>
              <a:ext uri="{FF2B5EF4-FFF2-40B4-BE49-F238E27FC236}">
                <a16:creationId xmlns:a16="http://schemas.microsoft.com/office/drawing/2014/main" id="{A2A09DEB-5CD8-746C-FAA0-5CCB7846BBEA}"/>
              </a:ext>
            </a:extLst>
          </p:cNvPr>
          <p:cNvSpPr/>
          <p:nvPr/>
        </p:nvSpPr>
        <p:spPr>
          <a:xfrm>
            <a:off x="1306591" y="2074229"/>
            <a:ext cx="9578817" cy="4616449"/>
          </a:xfrm>
          <a:prstGeom prst="roundRect">
            <a:avLst>
              <a:gd name="adj" fmla="val 4846"/>
            </a:avLst>
          </a:prstGeom>
          <a:noFill/>
          <a:ln w="28575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Dockerfile Method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1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Advantages: 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Clean, repeatable, and compact images; offers easier CI/CD integration and better lifecycle management</a:t>
            </a:r>
            <a:r>
              <a:rPr lang="en" sz="2000" dirty="0">
                <a:latin typeface="Lato"/>
                <a:ea typeface="Lato"/>
                <a:cs typeface="Lato"/>
                <a:sym typeface="Lato"/>
              </a:rPr>
              <a:t>;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helps us have clear documented steps to build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0"/>
                  </a:ext>
                </a:extLst>
              </a:rPr>
              <a:t> </a:t>
            </a:r>
            <a:r>
              <a:rPr lang="en" sz="2000" dirty="0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1"/>
                  </a:ext>
                </a:extLst>
              </a:rPr>
              <a:t>an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2"/>
                  </a:ext>
                </a:extLst>
              </a:rPr>
              <a:t> image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1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Disadvantages:</a:t>
            </a:r>
            <a:r>
              <a:rPr lang="en" sz="2000" b="0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  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More time-consuming than the interactive method and more difficult for beginners to learn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Interactive Method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1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Advantages:</a:t>
            </a:r>
            <a:r>
              <a:rPr lang="en" sz="2000" b="0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simplest and fastest way to construct Docker images</a:t>
            </a:r>
            <a:r>
              <a:rPr lang="en" sz="2000" dirty="0">
                <a:latin typeface="Lato"/>
                <a:ea typeface="Lato"/>
                <a:cs typeface="Lato"/>
                <a:sym typeface="Lato"/>
              </a:rPr>
              <a:t>; i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deal for </a:t>
            </a:r>
            <a:r>
              <a:rPr lang="en" sz="2000" dirty="0">
                <a:latin typeface="Lato"/>
                <a:ea typeface="Lato"/>
                <a:cs typeface="Lato"/>
                <a:sym typeface="Lato"/>
              </a:rPr>
              <a:t>POC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testing, and analy</a:t>
            </a:r>
            <a:r>
              <a:rPr lang="en" sz="2000" dirty="0"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ing dependencies and processes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1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Disadvantages:</a:t>
            </a:r>
            <a:r>
              <a:rPr lang="en" sz="2000" b="0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Difficult lifecycle management</a:t>
            </a:r>
            <a:r>
              <a:rPr lang="en" sz="2000" dirty="0">
                <a:latin typeface="Lato"/>
                <a:ea typeface="Lato"/>
                <a:cs typeface="Lato"/>
                <a:sym typeface="Lato"/>
              </a:rPr>
              <a:t>;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requires error-free manual configurations; difficult to have rollbacks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75485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454;p34">
            <a:extLst>
              <a:ext uri="{FF2B5EF4-FFF2-40B4-BE49-F238E27FC236}">
                <a16:creationId xmlns:a16="http://schemas.microsoft.com/office/drawing/2014/main" id="{9CB9AF03-C487-BD4D-910E-7E21AF14C70D}"/>
              </a:ext>
            </a:extLst>
          </p:cNvPr>
          <p:cNvSpPr/>
          <p:nvPr/>
        </p:nvSpPr>
        <p:spPr>
          <a:xfrm>
            <a:off x="1306591" y="2156525"/>
            <a:ext cx="9578817" cy="4616449"/>
          </a:xfrm>
          <a:prstGeom prst="roundRect">
            <a:avLst>
              <a:gd name="adj" fmla="val 4846"/>
            </a:avLst>
          </a:prstGeom>
          <a:noFill/>
          <a:ln w="28575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 text document that contains a set of instructions that execute after one another to build an image</a:t>
            </a:r>
            <a:endParaRPr sz="18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commands include FROM, RUN, CMD, ADD, COPY, ENTRYPOINT, VOLUME, USER and many more.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455;p34">
            <a:extLst>
              <a:ext uri="{FF2B5EF4-FFF2-40B4-BE49-F238E27FC236}">
                <a16:creationId xmlns:a16="http://schemas.microsoft.com/office/drawing/2014/main" id="{A558FDB3-CD15-BF47-CCD2-7C921159FB20}"/>
              </a:ext>
            </a:extLst>
          </p:cNvPr>
          <p:cNvSpPr txBox="1"/>
          <p:nvPr/>
        </p:nvSpPr>
        <p:spPr>
          <a:xfrm>
            <a:off x="2414400" y="1129436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DOCKERFILE</a:t>
            </a:r>
            <a:endParaRPr sz="2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" name="Google Shape;1456;p34">
            <a:extLst>
              <a:ext uri="{FF2B5EF4-FFF2-40B4-BE49-F238E27FC236}">
                <a16:creationId xmlns:a16="http://schemas.microsoft.com/office/drawing/2014/main" id="{71112F20-B5C1-C6A4-2A63-1EA301BE3D53}"/>
              </a:ext>
            </a:extLst>
          </p:cNvPr>
          <p:cNvGrpSpPr/>
          <p:nvPr/>
        </p:nvGrpSpPr>
        <p:grpSpPr>
          <a:xfrm>
            <a:off x="1724025" y="4353622"/>
            <a:ext cx="1783673" cy="2066925"/>
            <a:chOff x="1724025" y="3494086"/>
            <a:chExt cx="1783673" cy="2066925"/>
          </a:xfrm>
        </p:grpSpPr>
        <p:pic>
          <p:nvPicPr>
            <p:cNvPr id="12" name="Google Shape;1457;p34">
              <a:extLst>
                <a:ext uri="{FF2B5EF4-FFF2-40B4-BE49-F238E27FC236}">
                  <a16:creationId xmlns:a16="http://schemas.microsoft.com/office/drawing/2014/main" id="{79C70396-79E8-BEC7-C6A5-F50C7B9D56F3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r="79601" b="21867"/>
            <a:stretch/>
          </p:blipFill>
          <p:spPr>
            <a:xfrm>
              <a:off x="1724025" y="3494086"/>
              <a:ext cx="1783673" cy="16149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458;p34">
              <a:extLst>
                <a:ext uri="{FF2B5EF4-FFF2-40B4-BE49-F238E27FC236}">
                  <a16:creationId xmlns:a16="http://schemas.microsoft.com/office/drawing/2014/main" id="{4F07808F-DF80-C1B8-96C2-6F9AACAD82B3}"/>
                </a:ext>
              </a:extLst>
            </p:cNvPr>
            <p:cNvSpPr txBox="1"/>
            <p:nvPr/>
          </p:nvSpPr>
          <p:spPr>
            <a:xfrm>
              <a:off x="1871034" y="5160901"/>
              <a:ext cx="1351652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Dockerfile</a:t>
              </a:r>
              <a:endParaRPr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14" name="Google Shape;1459;p34">
            <a:extLst>
              <a:ext uri="{FF2B5EF4-FFF2-40B4-BE49-F238E27FC236}">
                <a16:creationId xmlns:a16="http://schemas.microsoft.com/office/drawing/2014/main" id="{E31EC898-B4CD-AB15-5055-802D8D1EAE3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0399" r="70686" b="21867"/>
          <a:stretch/>
        </p:blipFill>
        <p:spPr>
          <a:xfrm>
            <a:off x="3507698" y="4353622"/>
            <a:ext cx="779490" cy="16149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oogle Shape;1460;p34">
            <a:extLst>
              <a:ext uri="{FF2B5EF4-FFF2-40B4-BE49-F238E27FC236}">
                <a16:creationId xmlns:a16="http://schemas.microsoft.com/office/drawing/2014/main" id="{A9A32818-95DE-6ECD-1884-8B1D93558D8A}"/>
              </a:ext>
            </a:extLst>
          </p:cNvPr>
          <p:cNvGrpSpPr/>
          <p:nvPr/>
        </p:nvGrpSpPr>
        <p:grpSpPr>
          <a:xfrm>
            <a:off x="4287188" y="4353622"/>
            <a:ext cx="2413416" cy="2066925"/>
            <a:chOff x="4287188" y="3494086"/>
            <a:chExt cx="2413416" cy="2066925"/>
          </a:xfrm>
        </p:grpSpPr>
        <p:sp>
          <p:nvSpPr>
            <p:cNvPr id="16" name="Google Shape;1461;p34">
              <a:extLst>
                <a:ext uri="{FF2B5EF4-FFF2-40B4-BE49-F238E27FC236}">
                  <a16:creationId xmlns:a16="http://schemas.microsoft.com/office/drawing/2014/main" id="{33958E0E-46A2-F30C-6D37-499CE37AE7E2}"/>
                </a:ext>
              </a:extLst>
            </p:cNvPr>
            <p:cNvSpPr txBox="1"/>
            <p:nvPr/>
          </p:nvSpPr>
          <p:spPr>
            <a:xfrm>
              <a:off x="4655448" y="5160901"/>
              <a:ext cx="17508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Docker Image</a:t>
              </a:r>
              <a:endParaRPr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7" name="Google Shape;1462;p34">
              <a:extLst>
                <a:ext uri="{FF2B5EF4-FFF2-40B4-BE49-F238E27FC236}">
                  <a16:creationId xmlns:a16="http://schemas.microsoft.com/office/drawing/2014/main" id="{DCBD07AC-2014-6E08-F8A3-05AA2014EEE8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29314" r="43085" b="21867"/>
            <a:stretch/>
          </p:blipFill>
          <p:spPr>
            <a:xfrm>
              <a:off x="4287188" y="3494086"/>
              <a:ext cx="2413416" cy="161494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" name="Google Shape;1463;p34">
            <a:extLst>
              <a:ext uri="{FF2B5EF4-FFF2-40B4-BE49-F238E27FC236}">
                <a16:creationId xmlns:a16="http://schemas.microsoft.com/office/drawing/2014/main" id="{3C2E6ED7-BE92-542D-B84C-61E7D2F1C37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57086" r="33656" b="21867"/>
          <a:stretch/>
        </p:blipFill>
        <p:spPr>
          <a:xfrm>
            <a:off x="6715593" y="4353622"/>
            <a:ext cx="809469" cy="16149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464;p34">
            <a:extLst>
              <a:ext uri="{FF2B5EF4-FFF2-40B4-BE49-F238E27FC236}">
                <a16:creationId xmlns:a16="http://schemas.microsoft.com/office/drawing/2014/main" id="{215FD06E-BF7F-E6DF-A58A-03E28A02CF92}"/>
              </a:ext>
            </a:extLst>
          </p:cNvPr>
          <p:cNvGrpSpPr/>
          <p:nvPr/>
        </p:nvGrpSpPr>
        <p:grpSpPr>
          <a:xfrm>
            <a:off x="7525061" y="4353622"/>
            <a:ext cx="2942913" cy="2066925"/>
            <a:chOff x="7525061" y="3494086"/>
            <a:chExt cx="2942913" cy="2066925"/>
          </a:xfrm>
        </p:grpSpPr>
        <p:sp>
          <p:nvSpPr>
            <p:cNvPr id="20" name="Google Shape;1465;p34">
              <a:extLst>
                <a:ext uri="{FF2B5EF4-FFF2-40B4-BE49-F238E27FC236}">
                  <a16:creationId xmlns:a16="http://schemas.microsoft.com/office/drawing/2014/main" id="{0D1CFC09-5D4B-6F0E-FA2C-7F89C223AFF3}"/>
                </a:ext>
              </a:extLst>
            </p:cNvPr>
            <p:cNvSpPr txBox="1"/>
            <p:nvPr/>
          </p:nvSpPr>
          <p:spPr>
            <a:xfrm>
              <a:off x="7992692" y="5160901"/>
              <a:ext cx="2182008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Docker Container</a:t>
              </a:r>
              <a:endParaRPr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21" name="Google Shape;1466;p34">
              <a:extLst>
                <a:ext uri="{FF2B5EF4-FFF2-40B4-BE49-F238E27FC236}">
                  <a16:creationId xmlns:a16="http://schemas.microsoft.com/office/drawing/2014/main" id="{53DF53AF-B602-0D20-7C07-1DB76831559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66343" b="21867"/>
            <a:stretch/>
          </p:blipFill>
          <p:spPr>
            <a:xfrm>
              <a:off x="7525061" y="3494086"/>
              <a:ext cx="2942913" cy="161494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872563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471;p35">
            <a:extLst>
              <a:ext uri="{FF2B5EF4-FFF2-40B4-BE49-F238E27FC236}">
                <a16:creationId xmlns:a16="http://schemas.microsoft.com/office/drawing/2014/main" id="{73FCBB9F-A0EB-A523-C289-8D90E7FE14CE}"/>
              </a:ext>
            </a:extLst>
          </p:cNvPr>
          <p:cNvSpPr txBox="1"/>
          <p:nvPr/>
        </p:nvSpPr>
        <p:spPr>
          <a:xfrm>
            <a:off x="2414400" y="1287546"/>
            <a:ext cx="7363200" cy="443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DOCKERFILE INSTRUCTIONS</a:t>
            </a:r>
            <a:endParaRPr sz="2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472;p35">
            <a:extLst>
              <a:ext uri="{FF2B5EF4-FFF2-40B4-BE49-F238E27FC236}">
                <a16:creationId xmlns:a16="http://schemas.microsoft.com/office/drawing/2014/main" id="{EB3AB10A-E8CE-5268-9280-2C9F4A079886}"/>
              </a:ext>
            </a:extLst>
          </p:cNvPr>
          <p:cNvSpPr/>
          <p:nvPr/>
        </p:nvSpPr>
        <p:spPr>
          <a:xfrm>
            <a:off x="6272500" y="5468844"/>
            <a:ext cx="894000" cy="17652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9"/>
              <a:buFont typeface="Arial"/>
              <a:buNone/>
            </a:pPr>
            <a:endParaRPr sz="24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473;p35">
            <a:extLst>
              <a:ext uri="{FF2B5EF4-FFF2-40B4-BE49-F238E27FC236}">
                <a16:creationId xmlns:a16="http://schemas.microsoft.com/office/drawing/2014/main" id="{57AE364B-7418-DB4A-C1E9-C4574448782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99100" y="2299711"/>
            <a:ext cx="5228763" cy="4005223"/>
          </a:xfrm>
          <a:prstGeom prst="roundRect">
            <a:avLst>
              <a:gd name="adj" fmla="val 2926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2" name="Google Shape;1474;p35">
            <a:extLst>
              <a:ext uri="{FF2B5EF4-FFF2-40B4-BE49-F238E27FC236}">
                <a16:creationId xmlns:a16="http://schemas.microsoft.com/office/drawing/2014/main" id="{9CA45F2A-2D4D-7573-8C07-7CE28EC07A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3154280"/>
              </p:ext>
            </p:extLst>
          </p:nvPr>
        </p:nvGraphicFramePr>
        <p:xfrm>
          <a:off x="412226" y="1951010"/>
          <a:ext cx="5871375" cy="59311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6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28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Command</a:t>
                      </a:r>
                      <a:endParaRPr sz="15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37789" marB="37789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Purpose</a:t>
                      </a:r>
                      <a:endParaRPr sz="15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37789" marB="37789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9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FROM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37789" marB="37789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To specify the parent image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37789" marB="37789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Google Shape;1475;p35">
            <a:extLst>
              <a:ext uri="{FF2B5EF4-FFF2-40B4-BE49-F238E27FC236}">
                <a16:creationId xmlns:a16="http://schemas.microsoft.com/office/drawing/2014/main" id="{1D9944FD-8861-43D9-788B-AF661835C7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5724844"/>
              </p:ext>
            </p:extLst>
          </p:nvPr>
        </p:nvGraphicFramePr>
        <p:xfrm>
          <a:off x="412226" y="3220905"/>
          <a:ext cx="5871375" cy="50229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6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121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RUN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37789" marB="37789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To install any applications and packages required for your container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37789" marB="37789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Google Shape;1476;p35">
            <a:extLst>
              <a:ext uri="{FF2B5EF4-FFF2-40B4-BE49-F238E27FC236}">
                <a16:creationId xmlns:a16="http://schemas.microsoft.com/office/drawing/2014/main" id="{26D63473-6CB1-36FB-6895-361C7E165C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9464933"/>
              </p:ext>
            </p:extLst>
          </p:nvPr>
        </p:nvGraphicFramePr>
        <p:xfrm>
          <a:off x="412226" y="2641785"/>
          <a:ext cx="5871375" cy="50229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6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121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WORKDIR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37789" marB="37789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To set the working directory for any commands that follow in the Dockerfile</a:t>
                      </a:r>
                      <a:endParaRPr sz="1200" u="none" strike="noStrike" cap="none"/>
                    </a:p>
                  </a:txBody>
                  <a:tcPr marL="91450" marR="91450" marT="37789" marB="37789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Google Shape;1477;p35">
            <a:extLst>
              <a:ext uri="{FF2B5EF4-FFF2-40B4-BE49-F238E27FC236}">
                <a16:creationId xmlns:a16="http://schemas.microsoft.com/office/drawing/2014/main" id="{DF986A34-80A2-42E5-0A12-600586A155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8480768"/>
              </p:ext>
            </p:extLst>
          </p:nvPr>
        </p:nvGraphicFramePr>
        <p:xfrm>
          <a:off x="412226" y="6421303"/>
          <a:ext cx="5871375" cy="28893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6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39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LABEL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37789" marB="37789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To add metadata to the image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37789" marB="37789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Google Shape;1478;p35">
            <a:extLst>
              <a:ext uri="{FF2B5EF4-FFF2-40B4-BE49-F238E27FC236}">
                <a16:creationId xmlns:a16="http://schemas.microsoft.com/office/drawing/2014/main" id="{F00131EB-E364-BB20-8DC4-5DC2407F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5008794"/>
              </p:ext>
            </p:extLst>
          </p:nvPr>
        </p:nvGraphicFramePr>
        <p:xfrm>
          <a:off x="412226" y="3800025"/>
          <a:ext cx="5871375" cy="50229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6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121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COPY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37789" marB="37789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To copy over files or directions from a specific location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37789" marB="37789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Google Shape;1479;p35">
            <a:extLst>
              <a:ext uri="{FF2B5EF4-FFF2-40B4-BE49-F238E27FC236}">
                <a16:creationId xmlns:a16="http://schemas.microsoft.com/office/drawing/2014/main" id="{0818E6C3-0715-2B03-4D39-F1BC29E632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3883733"/>
              </p:ext>
            </p:extLst>
          </p:nvPr>
        </p:nvGraphicFramePr>
        <p:xfrm>
          <a:off x="412226" y="4954863"/>
          <a:ext cx="5871375" cy="50229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6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121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ENTRYPOINT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37789" marB="37789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Command that will always be executed when the container starts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37789" marB="37789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Google Shape;1480;p35">
            <a:extLst>
              <a:ext uri="{FF2B5EF4-FFF2-40B4-BE49-F238E27FC236}">
                <a16:creationId xmlns:a16="http://schemas.microsoft.com/office/drawing/2014/main" id="{09CB39D6-C3F7-E62A-0DB1-9CC82E9516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1305834"/>
              </p:ext>
            </p:extLst>
          </p:nvPr>
        </p:nvGraphicFramePr>
        <p:xfrm>
          <a:off x="412226" y="5509106"/>
          <a:ext cx="5871375" cy="28893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6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39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CMD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37789" marB="37789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Arguments passed to the entrypoint</a:t>
                      </a:r>
                      <a:endParaRPr sz="1200" u="none" strike="noStrike" cap="none"/>
                    </a:p>
                  </a:txBody>
                  <a:tcPr marL="91450" marR="91450" marT="37789" marB="37789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Google Shape;1481;p35">
            <a:extLst>
              <a:ext uri="{FF2B5EF4-FFF2-40B4-BE49-F238E27FC236}">
                <a16:creationId xmlns:a16="http://schemas.microsoft.com/office/drawing/2014/main" id="{80453D3B-5188-1709-7C2A-B16D740CEE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5244949"/>
              </p:ext>
            </p:extLst>
          </p:nvPr>
        </p:nvGraphicFramePr>
        <p:xfrm>
          <a:off x="412226" y="5864079"/>
          <a:ext cx="5871375" cy="50229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6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121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EXPOSE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37789" marB="37789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To define which port through which to access your container application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37789" marB="37789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Google Shape;1482;p35">
            <a:extLst>
              <a:ext uri="{FF2B5EF4-FFF2-40B4-BE49-F238E27FC236}">
                <a16:creationId xmlns:a16="http://schemas.microsoft.com/office/drawing/2014/main" id="{69BE8DAE-FE37-D319-BF56-B44ABF8CC9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9356371"/>
              </p:ext>
            </p:extLst>
          </p:nvPr>
        </p:nvGraphicFramePr>
        <p:xfrm>
          <a:off x="412226" y="4375743"/>
          <a:ext cx="5871375" cy="50229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6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121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ADD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37789" marB="37789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Lato"/>
                          <a:ea typeface="Lato"/>
                          <a:cs typeface="Lato"/>
                          <a:sym typeface="Lato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"/>
                            </a:ext>
                          </a:extLst>
                        </a:rPr>
                        <a:t>As COPY</a:t>
                      </a:r>
                      <a:r>
                        <a:rPr lang="en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, but also able to handle remote URLs and unpack files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37789" marB="37789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32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487;p36">
            <a:extLst>
              <a:ext uri="{FF2B5EF4-FFF2-40B4-BE49-F238E27FC236}">
                <a16:creationId xmlns:a16="http://schemas.microsoft.com/office/drawing/2014/main" id="{36EED736-22DF-1F0D-B1DA-ABCE071071F3}"/>
              </a:ext>
            </a:extLst>
          </p:cNvPr>
          <p:cNvSpPr/>
          <p:nvPr/>
        </p:nvSpPr>
        <p:spPr>
          <a:xfrm>
            <a:off x="1320970" y="2162571"/>
            <a:ext cx="9623616" cy="4521910"/>
          </a:xfrm>
          <a:prstGeom prst="roundRect">
            <a:avLst>
              <a:gd name="adj" fmla="val 4846"/>
            </a:avLst>
          </a:prstGeom>
          <a:noFill/>
          <a:ln w="28575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following command is used to build an image from Dockerfile:</a:t>
            </a:r>
            <a:b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20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bu</a:t>
            </a:r>
            <a:r>
              <a:rPr lang="en" sz="20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4"/>
                  </a:ext>
                </a:extLst>
              </a:rPr>
              <a:t>ild</a:t>
            </a:r>
            <a:r>
              <a:rPr lang="en" sz="20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5"/>
                  </a:ext>
                </a:extLst>
              </a:rPr>
              <a:t> .</a:t>
            </a:r>
            <a:endParaRPr sz="18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Use the </a:t>
            </a:r>
            <a:r>
              <a:rPr lang="en" sz="20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-t flag 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 set an image name and tag: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488;p36">
            <a:extLst>
              <a:ext uri="{FF2B5EF4-FFF2-40B4-BE49-F238E27FC236}">
                <a16:creationId xmlns:a16="http://schemas.microsoft.com/office/drawing/2014/main" id="{44D55485-6B4F-4869-354F-B458636D75B0}"/>
              </a:ext>
            </a:extLst>
          </p:cNvPr>
          <p:cNvSpPr txBox="1"/>
          <p:nvPr/>
        </p:nvSpPr>
        <p:spPr>
          <a:xfrm>
            <a:off x="2861693" y="1407093"/>
            <a:ext cx="6693818" cy="488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BUILD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489;p36">
            <a:extLst>
              <a:ext uri="{FF2B5EF4-FFF2-40B4-BE49-F238E27FC236}">
                <a16:creationId xmlns:a16="http://schemas.microsoft.com/office/drawing/2014/main" id="{A90DC4FD-D37D-1DF4-C427-CE03D936EFB8}"/>
              </a:ext>
            </a:extLst>
          </p:cNvPr>
          <p:cNvGrpSpPr/>
          <p:nvPr/>
        </p:nvGrpSpPr>
        <p:grpSpPr>
          <a:xfrm>
            <a:off x="2353765" y="3672328"/>
            <a:ext cx="7709675" cy="2982751"/>
            <a:chOff x="1844456" y="2727662"/>
            <a:chExt cx="8480643" cy="3281026"/>
          </a:xfrm>
        </p:grpSpPr>
        <p:cxnSp>
          <p:nvCxnSpPr>
            <p:cNvPr id="12" name="Google Shape;1490;p36">
              <a:extLst>
                <a:ext uri="{FF2B5EF4-FFF2-40B4-BE49-F238E27FC236}">
                  <a16:creationId xmlns:a16="http://schemas.microsoft.com/office/drawing/2014/main" id="{84740EBA-E640-2FC3-ACDB-374AF6AC8308}"/>
                </a:ext>
              </a:extLst>
            </p:cNvPr>
            <p:cNvCxnSpPr/>
            <p:nvPr/>
          </p:nvCxnSpPr>
          <p:spPr>
            <a:xfrm rot="-5400000">
              <a:off x="7623869" y="3756680"/>
              <a:ext cx="553084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none" w="sm" len="sm"/>
            </a:ln>
          </p:spPr>
        </p:cxnSp>
        <p:cxnSp>
          <p:nvCxnSpPr>
            <p:cNvPr id="13" name="Google Shape;1491;p36">
              <a:extLst>
                <a:ext uri="{FF2B5EF4-FFF2-40B4-BE49-F238E27FC236}">
                  <a16:creationId xmlns:a16="http://schemas.microsoft.com/office/drawing/2014/main" id="{B63A42D5-4F85-EB47-9E93-CE2B68DCA8CB}"/>
                </a:ext>
              </a:extLst>
            </p:cNvPr>
            <p:cNvCxnSpPr/>
            <p:nvPr/>
          </p:nvCxnSpPr>
          <p:spPr>
            <a:xfrm rot="-5400000">
              <a:off x="5423592" y="3737630"/>
              <a:ext cx="553084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none" w="sm" len="sm"/>
            </a:ln>
          </p:spPr>
        </p:cxnSp>
        <p:grpSp>
          <p:nvGrpSpPr>
            <p:cNvPr id="14" name="Google Shape;1492;p36">
              <a:extLst>
                <a:ext uri="{FF2B5EF4-FFF2-40B4-BE49-F238E27FC236}">
                  <a16:creationId xmlns:a16="http://schemas.microsoft.com/office/drawing/2014/main" id="{C7FE499C-FDAA-3288-188B-24232E8D9758}"/>
                </a:ext>
              </a:extLst>
            </p:cNvPr>
            <p:cNvGrpSpPr/>
            <p:nvPr/>
          </p:nvGrpSpPr>
          <p:grpSpPr>
            <a:xfrm>
              <a:off x="4590223" y="2727662"/>
              <a:ext cx="4360709" cy="742950"/>
              <a:chOff x="3491161" y="3439951"/>
              <a:chExt cx="4360709" cy="742950"/>
            </a:xfrm>
          </p:grpSpPr>
          <p:sp>
            <p:nvSpPr>
              <p:cNvPr id="20" name="Google Shape;1493;p36">
                <a:extLst>
                  <a:ext uri="{FF2B5EF4-FFF2-40B4-BE49-F238E27FC236}">
                    <a16:creationId xmlns:a16="http://schemas.microsoft.com/office/drawing/2014/main" id="{E050B15F-ECD5-20DE-6C3D-79FEAD9AB03E}"/>
                  </a:ext>
                </a:extLst>
              </p:cNvPr>
              <p:cNvSpPr/>
              <p:nvPr/>
            </p:nvSpPr>
            <p:spPr>
              <a:xfrm>
                <a:off x="5879697" y="3439951"/>
                <a:ext cx="1972173" cy="742950"/>
              </a:xfrm>
              <a:prstGeom prst="roundRect">
                <a:avLst>
                  <a:gd name="adj" fmla="val 21795"/>
                </a:avLst>
              </a:prstGeom>
              <a:solidFill>
                <a:schemeClr val="lt1"/>
              </a:solidFill>
              <a:ln w="2857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Version </a:t>
                </a:r>
                <a:br>
                  <a:rPr lang="en"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</a:br>
                <a:r>
                  <a:rPr lang="en"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Label</a:t>
                </a:r>
                <a:endParaRPr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" name="Google Shape;1494;p36">
                <a:extLst>
                  <a:ext uri="{FF2B5EF4-FFF2-40B4-BE49-F238E27FC236}">
                    <a16:creationId xmlns:a16="http://schemas.microsoft.com/office/drawing/2014/main" id="{82BC49FC-A0B3-24D8-F066-2FBE2993808E}"/>
                  </a:ext>
                </a:extLst>
              </p:cNvPr>
              <p:cNvSpPr/>
              <p:nvPr/>
            </p:nvSpPr>
            <p:spPr>
              <a:xfrm>
                <a:off x="3491161" y="3439951"/>
                <a:ext cx="1972173" cy="742950"/>
              </a:xfrm>
              <a:prstGeom prst="roundRect">
                <a:avLst>
                  <a:gd name="adj" fmla="val 21795"/>
                </a:avLst>
              </a:prstGeom>
              <a:solidFill>
                <a:schemeClr val="lt1"/>
              </a:solidFill>
              <a:ln w="2857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Repository Name</a:t>
                </a:r>
                <a:endParaRPr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5" name="Google Shape;1495;p36">
              <a:extLst>
                <a:ext uri="{FF2B5EF4-FFF2-40B4-BE49-F238E27FC236}">
                  <a16:creationId xmlns:a16="http://schemas.microsoft.com/office/drawing/2014/main" id="{37A141AE-7DE7-CE9A-B1F7-3B4788384E24}"/>
                </a:ext>
              </a:extLst>
            </p:cNvPr>
            <p:cNvSpPr/>
            <p:nvPr/>
          </p:nvSpPr>
          <p:spPr>
            <a:xfrm>
              <a:off x="3806606" y="5227638"/>
              <a:ext cx="1972173" cy="742950"/>
            </a:xfrm>
            <a:prstGeom prst="roundRect">
              <a:avLst>
                <a:gd name="adj" fmla="val 21795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Build Command</a:t>
              </a: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" name="Google Shape;1496;p36">
              <a:extLst>
                <a:ext uri="{FF2B5EF4-FFF2-40B4-BE49-F238E27FC236}">
                  <a16:creationId xmlns:a16="http://schemas.microsoft.com/office/drawing/2014/main" id="{8A5194F4-E4C1-1556-24B2-B34573828518}"/>
                </a:ext>
              </a:extLst>
            </p:cNvPr>
            <p:cNvSpPr/>
            <p:nvPr/>
          </p:nvSpPr>
          <p:spPr>
            <a:xfrm>
              <a:off x="7390901" y="5265738"/>
              <a:ext cx="1972173" cy="742950"/>
            </a:xfrm>
            <a:prstGeom prst="roundRect">
              <a:avLst>
                <a:gd name="adj" fmla="val 21795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Build Context</a:t>
              </a: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" name="Google Shape;1497;p36">
              <a:extLst>
                <a:ext uri="{FF2B5EF4-FFF2-40B4-BE49-F238E27FC236}">
                  <a16:creationId xmlns:a16="http://schemas.microsoft.com/office/drawing/2014/main" id="{10B0F87B-902E-63F4-129A-BD5443BEE9BB}"/>
                </a:ext>
              </a:extLst>
            </p:cNvPr>
            <p:cNvSpPr/>
            <p:nvPr/>
          </p:nvSpPr>
          <p:spPr>
            <a:xfrm>
              <a:off x="1844456" y="3993654"/>
              <a:ext cx="8480643" cy="742950"/>
            </a:xfrm>
            <a:prstGeom prst="roundRect">
              <a:avLst>
                <a:gd name="adj" fmla="val 21795"/>
              </a:avLst>
            </a:pr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lt2"/>
                  </a:solidFill>
                  <a:latin typeface="Lato"/>
                  <a:ea typeface="Lato"/>
                  <a:cs typeface="Lato"/>
                  <a:sym typeface="Lato"/>
                </a:rPr>
                <a:t>docker build –t </a:t>
              </a: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repository/application: latest .</a:t>
              </a: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8" name="Google Shape;1498;p36">
              <a:extLst>
                <a:ext uri="{FF2B5EF4-FFF2-40B4-BE49-F238E27FC236}">
                  <a16:creationId xmlns:a16="http://schemas.microsoft.com/office/drawing/2014/main" id="{779E9295-0B72-C478-A8FA-52C807466FB6}"/>
                </a:ext>
              </a:extLst>
            </p:cNvPr>
            <p:cNvCxnSpPr/>
            <p:nvPr/>
          </p:nvCxnSpPr>
          <p:spPr>
            <a:xfrm rot="10800000">
              <a:off x="8348412" y="4736604"/>
              <a:ext cx="0" cy="510084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none" w="sm" len="sm"/>
            </a:ln>
          </p:spPr>
        </p:cxnSp>
        <p:cxnSp>
          <p:nvCxnSpPr>
            <p:cNvPr id="19" name="Google Shape;1499;p36">
              <a:extLst>
                <a:ext uri="{FF2B5EF4-FFF2-40B4-BE49-F238E27FC236}">
                  <a16:creationId xmlns:a16="http://schemas.microsoft.com/office/drawing/2014/main" id="{A36514FA-7387-C52C-299C-F226392CFBCA}"/>
                </a:ext>
              </a:extLst>
            </p:cNvPr>
            <p:cNvCxnSpPr/>
            <p:nvPr/>
          </p:nvCxnSpPr>
          <p:spPr>
            <a:xfrm rot="10800000">
              <a:off x="4822604" y="4736604"/>
              <a:ext cx="0" cy="510084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644451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504;p37">
            <a:extLst>
              <a:ext uri="{FF2B5EF4-FFF2-40B4-BE49-F238E27FC236}">
                <a16:creationId xmlns:a16="http://schemas.microsoft.com/office/drawing/2014/main" id="{2F51B76E-1F71-77B4-2AE0-12542AD55198}"/>
              </a:ext>
            </a:extLst>
          </p:cNvPr>
          <p:cNvSpPr/>
          <p:nvPr/>
        </p:nvSpPr>
        <p:spPr>
          <a:xfrm>
            <a:off x="839788" y="2163958"/>
            <a:ext cx="5256211" cy="4341593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9200" marR="0" lvl="0" indent="-349200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1800"/>
              <a:buFont typeface="Noto Sans Symbols"/>
              <a:buChar char="🞆"/>
            </a:pPr>
            <a: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COPY can only access resources available </a:t>
            </a:r>
            <a:b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 the build context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1800"/>
              <a:buFont typeface="Noto Sans Symbols"/>
              <a:buChar char="🞆"/>
            </a:pPr>
            <a: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By default, Docker uses the contents of </a:t>
            </a:r>
            <a:b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directory passed to 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ocker build as </a:t>
            </a:r>
            <a:b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build context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1800"/>
              <a:buFont typeface="Noto Sans Symbols"/>
              <a:buChar char="🞆"/>
            </a:pPr>
            <a: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When you run </a:t>
            </a: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ocker build, the CLI </a:t>
            </a:r>
            <a:b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sends the files and folders to build to </a:t>
            </a:r>
            <a:b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Docker engine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1800"/>
              <a:buFont typeface="Noto Sans Symbols"/>
              <a:buChar char="🞆"/>
            </a:pPr>
            <a: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This set of files and folders becomes the </a:t>
            </a:r>
            <a:b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build context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1800"/>
              <a:buFont typeface="Noto Sans Symbols"/>
              <a:buChar char="🞆"/>
            </a:pPr>
            <a: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6"/>
                  </a:ext>
                </a:extLst>
              </a:rPr>
              <a:t>Slowdown will be apparent once you</a:t>
            </a:r>
            <a:b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6"/>
                  </a:ext>
                </a:extLst>
              </a:rPr>
            </a:br>
            <a: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6"/>
                  </a:ext>
                </a:extLst>
              </a:rPr>
              <a:t>add files to your working directory that </a:t>
            </a:r>
            <a:b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6"/>
                  </a:ext>
                </a:extLst>
              </a:rPr>
            </a:br>
            <a:r>
              <a:rPr lang="en" sz="1800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7"/>
                  </a:ext>
                </a:extLst>
              </a:rPr>
              <a:t>a</a:t>
            </a:r>
            <a: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8"/>
                  </a:ext>
                </a:extLst>
              </a:rPr>
              <a:t>re n</a:t>
            </a:r>
            <a:r>
              <a:rPr lang="en" sz="1800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9"/>
                  </a:ext>
                </a:extLst>
              </a:rPr>
              <a:t>o</a:t>
            </a:r>
            <a:r>
              <a:rPr lang="en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0"/>
                  </a:ext>
                </a:extLst>
              </a:rPr>
              <a:t>t used by your Dockerfile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505;p37">
            <a:extLst>
              <a:ext uri="{FF2B5EF4-FFF2-40B4-BE49-F238E27FC236}">
                <a16:creationId xmlns:a16="http://schemas.microsoft.com/office/drawing/2014/main" id="{A04590DE-1DEB-ECD6-A914-D5EBAEB55DC7}"/>
              </a:ext>
            </a:extLst>
          </p:cNvPr>
          <p:cNvSpPr txBox="1"/>
          <p:nvPr/>
        </p:nvSpPr>
        <p:spPr>
          <a:xfrm>
            <a:off x="2414399" y="1362617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BUILD CONTEXT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506;p37">
            <a:extLst>
              <a:ext uri="{FF2B5EF4-FFF2-40B4-BE49-F238E27FC236}">
                <a16:creationId xmlns:a16="http://schemas.microsoft.com/office/drawing/2014/main" id="{2BA8DC59-0E02-1B84-BA56-AC850A9279BE}"/>
              </a:ext>
            </a:extLst>
          </p:cNvPr>
          <p:cNvGrpSpPr/>
          <p:nvPr/>
        </p:nvGrpSpPr>
        <p:grpSpPr>
          <a:xfrm>
            <a:off x="6217556" y="2163958"/>
            <a:ext cx="5064969" cy="4341593"/>
            <a:chOff x="6255656" y="1681836"/>
            <a:chExt cx="5064969" cy="4341593"/>
          </a:xfrm>
        </p:grpSpPr>
        <p:sp>
          <p:nvSpPr>
            <p:cNvPr id="12" name="Google Shape;1507;p37">
              <a:extLst>
                <a:ext uri="{FF2B5EF4-FFF2-40B4-BE49-F238E27FC236}">
                  <a16:creationId xmlns:a16="http://schemas.microsoft.com/office/drawing/2014/main" id="{E0C2294B-7158-A80E-4AC5-12824F973820}"/>
                </a:ext>
              </a:extLst>
            </p:cNvPr>
            <p:cNvSpPr/>
            <p:nvPr/>
          </p:nvSpPr>
          <p:spPr>
            <a:xfrm>
              <a:off x="6255656" y="1681836"/>
              <a:ext cx="5064969" cy="4341593"/>
            </a:xfrm>
            <a:prstGeom prst="roundRect">
              <a:avLst>
                <a:gd name="adj" fmla="val 4632"/>
              </a:avLst>
            </a:prstGeom>
            <a:noFill/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Google Shape;1508;p37">
              <a:extLst>
                <a:ext uri="{FF2B5EF4-FFF2-40B4-BE49-F238E27FC236}">
                  <a16:creationId xmlns:a16="http://schemas.microsoft.com/office/drawing/2014/main" id="{2E3ACB8B-788E-3196-3D32-14A3A4E3F254}"/>
                </a:ext>
              </a:extLst>
            </p:cNvPr>
            <p:cNvSpPr/>
            <p:nvPr/>
          </p:nvSpPr>
          <p:spPr>
            <a:xfrm>
              <a:off x="9083403" y="2641600"/>
              <a:ext cx="2064657" cy="642938"/>
            </a:xfrm>
            <a:prstGeom prst="roundRect">
              <a:avLst>
                <a:gd name="adj" fmla="val 11261"/>
              </a:avLst>
            </a:prstGeom>
            <a:noFill/>
            <a:ln w="25400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myappimage</a:t>
              </a:r>
              <a:b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(container Image)</a:t>
              </a: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" name="Google Shape;1509;p37">
              <a:extLst>
                <a:ext uri="{FF2B5EF4-FFF2-40B4-BE49-F238E27FC236}">
                  <a16:creationId xmlns:a16="http://schemas.microsoft.com/office/drawing/2014/main" id="{AF47950A-7E72-6F12-17C0-A4CE6C7E7544}"/>
                </a:ext>
              </a:extLst>
            </p:cNvPr>
            <p:cNvSpPr/>
            <p:nvPr/>
          </p:nvSpPr>
          <p:spPr>
            <a:xfrm>
              <a:off x="6588683" y="4247816"/>
              <a:ext cx="1785257" cy="1572095"/>
            </a:xfrm>
            <a:prstGeom prst="roundRect">
              <a:avLst>
                <a:gd name="adj" fmla="val 7383"/>
              </a:avLst>
            </a:prstGeom>
            <a:noFill/>
            <a:ln w="25400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Build Context</a:t>
              </a: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" name="Google Shape;1510;p37">
              <a:extLst>
                <a:ext uri="{FF2B5EF4-FFF2-40B4-BE49-F238E27FC236}">
                  <a16:creationId xmlns:a16="http://schemas.microsoft.com/office/drawing/2014/main" id="{1E34C07A-B1A5-D5F8-BD5C-0CD19827BFF2}"/>
                </a:ext>
              </a:extLst>
            </p:cNvPr>
            <p:cNvSpPr/>
            <p:nvPr/>
          </p:nvSpPr>
          <p:spPr>
            <a:xfrm>
              <a:off x="6756718" y="4664195"/>
              <a:ext cx="1449186" cy="425965"/>
            </a:xfrm>
            <a:prstGeom prst="roundRect">
              <a:avLst>
                <a:gd name="adj" fmla="val 11261"/>
              </a:avLst>
            </a:prstGeom>
            <a:noFill/>
            <a:ln w="25400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Myapp (c#)</a:t>
              </a: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" name="Google Shape;1511;p37">
              <a:extLst>
                <a:ext uri="{FF2B5EF4-FFF2-40B4-BE49-F238E27FC236}">
                  <a16:creationId xmlns:a16="http://schemas.microsoft.com/office/drawing/2014/main" id="{F61CB7D4-05E4-0080-A991-82D99C05230F}"/>
                </a:ext>
              </a:extLst>
            </p:cNvPr>
            <p:cNvSpPr/>
            <p:nvPr/>
          </p:nvSpPr>
          <p:spPr>
            <a:xfrm>
              <a:off x="6756718" y="5176164"/>
              <a:ext cx="1449186" cy="425965"/>
            </a:xfrm>
            <a:prstGeom prst="roundRect">
              <a:avLst>
                <a:gd name="adj" fmla="val 11261"/>
              </a:avLst>
            </a:prstGeom>
            <a:noFill/>
            <a:ln w="25400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Dockerfile</a:t>
              </a: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" name="Google Shape;1512;p37">
              <a:extLst>
                <a:ext uri="{FF2B5EF4-FFF2-40B4-BE49-F238E27FC236}">
                  <a16:creationId xmlns:a16="http://schemas.microsoft.com/office/drawing/2014/main" id="{E16C4060-C050-C571-74BD-DB7E5105E573}"/>
                </a:ext>
              </a:extLst>
            </p:cNvPr>
            <p:cNvSpPr txBox="1"/>
            <p:nvPr/>
          </p:nvSpPr>
          <p:spPr>
            <a:xfrm>
              <a:off x="6255656" y="1789230"/>
              <a:ext cx="1785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Linux VM</a:t>
              </a:r>
              <a:br>
                <a:rPr lang="en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(Docker Host)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" name="Google Shape;1513;p37">
              <a:extLst>
                <a:ext uri="{FF2B5EF4-FFF2-40B4-BE49-F238E27FC236}">
                  <a16:creationId xmlns:a16="http://schemas.microsoft.com/office/drawing/2014/main" id="{588D0D4B-6BB5-E8A9-4BC0-A11B29D17A39}"/>
                </a:ext>
              </a:extLst>
            </p:cNvPr>
            <p:cNvGrpSpPr/>
            <p:nvPr/>
          </p:nvGrpSpPr>
          <p:grpSpPr>
            <a:xfrm>
              <a:off x="6589486" y="2641600"/>
              <a:ext cx="1785257" cy="957943"/>
              <a:chOff x="6589486" y="2641600"/>
              <a:chExt cx="1785257" cy="957943"/>
            </a:xfrm>
          </p:grpSpPr>
          <p:sp>
            <p:nvSpPr>
              <p:cNvPr id="21" name="Google Shape;1514;p37">
                <a:extLst>
                  <a:ext uri="{FF2B5EF4-FFF2-40B4-BE49-F238E27FC236}">
                    <a16:creationId xmlns:a16="http://schemas.microsoft.com/office/drawing/2014/main" id="{13EAF2A3-9F21-6890-7506-8BCD7A50BAF7}"/>
                  </a:ext>
                </a:extLst>
              </p:cNvPr>
              <p:cNvSpPr/>
              <p:nvPr/>
            </p:nvSpPr>
            <p:spPr>
              <a:xfrm>
                <a:off x="6589486" y="2641600"/>
                <a:ext cx="1785257" cy="957943"/>
              </a:xfrm>
              <a:prstGeom prst="roundRect">
                <a:avLst>
                  <a:gd name="adj" fmla="val 11261"/>
                </a:avLst>
              </a:prstGeom>
              <a:noFill/>
              <a:ln w="25400" cap="flat" cmpd="sng">
                <a:solidFill>
                  <a:srgbClr val="0070C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Docker Build</a:t>
                </a:r>
                <a:endParaRPr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22" name="Google Shape;1515;p37">
                <a:extLst>
                  <a:ext uri="{FF2B5EF4-FFF2-40B4-BE49-F238E27FC236}">
                    <a16:creationId xmlns:a16="http://schemas.microsoft.com/office/drawing/2014/main" id="{8E7F2599-45D9-1F03-2340-2A2C5F883A7B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 l="16834" t="28691" r="67128" b="57802"/>
              <a:stretch/>
            </p:blipFill>
            <p:spPr>
              <a:xfrm>
                <a:off x="7259868" y="3024070"/>
                <a:ext cx="618001" cy="4427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19" name="Google Shape;1516;p37">
              <a:extLst>
                <a:ext uri="{FF2B5EF4-FFF2-40B4-BE49-F238E27FC236}">
                  <a16:creationId xmlns:a16="http://schemas.microsoft.com/office/drawing/2014/main" id="{12ED8C76-B0BA-84C9-99FC-01E4733CB731}"/>
                </a:ext>
              </a:extLst>
            </p:cNvPr>
            <p:cNvCxnSpPr/>
            <p:nvPr/>
          </p:nvCxnSpPr>
          <p:spPr>
            <a:xfrm rot="10800000">
              <a:off x="8450140" y="2963069"/>
              <a:ext cx="553084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none" w="sm" len="sm"/>
            </a:ln>
          </p:spPr>
        </p:cxnSp>
        <p:cxnSp>
          <p:nvCxnSpPr>
            <p:cNvPr id="20" name="Google Shape;1517;p37">
              <a:extLst>
                <a:ext uri="{FF2B5EF4-FFF2-40B4-BE49-F238E27FC236}">
                  <a16:creationId xmlns:a16="http://schemas.microsoft.com/office/drawing/2014/main" id="{89698B46-4CFF-8361-CD4B-173C4A50222F}"/>
                </a:ext>
              </a:extLst>
            </p:cNvPr>
            <p:cNvCxnSpPr/>
            <p:nvPr/>
          </p:nvCxnSpPr>
          <p:spPr>
            <a:xfrm rot="5400000">
              <a:off x="7204769" y="3905113"/>
              <a:ext cx="553084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94862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4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4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522;p38">
            <a:extLst>
              <a:ext uri="{FF2B5EF4-FFF2-40B4-BE49-F238E27FC236}">
                <a16:creationId xmlns:a16="http://schemas.microsoft.com/office/drawing/2014/main" id="{1DE290CB-DC63-7D06-C8D3-9B7D5E328207}"/>
              </a:ext>
            </a:extLst>
          </p:cNvPr>
          <p:cNvSpPr txBox="1"/>
          <p:nvPr/>
        </p:nvSpPr>
        <p:spPr>
          <a:xfrm>
            <a:off x="2097221" y="598691"/>
            <a:ext cx="7562800" cy="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523;p38">
            <a:extLst>
              <a:ext uri="{FF2B5EF4-FFF2-40B4-BE49-F238E27FC236}">
                <a16:creationId xmlns:a16="http://schemas.microsoft.com/office/drawing/2014/main" id="{921836FF-B299-7416-9A3A-B65CBFD772DC}"/>
              </a:ext>
            </a:extLst>
          </p:cNvPr>
          <p:cNvSpPr txBox="1"/>
          <p:nvPr/>
        </p:nvSpPr>
        <p:spPr>
          <a:xfrm>
            <a:off x="3833581" y="745865"/>
            <a:ext cx="4524838" cy="50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DOCKER BUILD OVERFLOW</a:t>
            </a:r>
            <a:endParaRPr sz="24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1524;p38">
            <a:extLst>
              <a:ext uri="{FF2B5EF4-FFF2-40B4-BE49-F238E27FC236}">
                <a16:creationId xmlns:a16="http://schemas.microsoft.com/office/drawing/2014/main" id="{4D51350E-6FBD-BFDD-0339-232B011D1AE8}"/>
              </a:ext>
            </a:extLst>
          </p:cNvPr>
          <p:cNvSpPr/>
          <p:nvPr/>
        </p:nvSpPr>
        <p:spPr>
          <a:xfrm>
            <a:off x="9528045" y="4797253"/>
            <a:ext cx="1648800" cy="777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Docker Image</a:t>
            </a:r>
            <a:endParaRPr sz="1800" b="1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2" name="Google Shape;1525;p38">
            <a:extLst>
              <a:ext uri="{FF2B5EF4-FFF2-40B4-BE49-F238E27FC236}">
                <a16:creationId xmlns:a16="http://schemas.microsoft.com/office/drawing/2014/main" id="{A3A28BEC-F613-E851-460C-97ED0FAD8F82}"/>
              </a:ext>
            </a:extLst>
          </p:cNvPr>
          <p:cNvGrpSpPr/>
          <p:nvPr/>
        </p:nvGrpSpPr>
        <p:grpSpPr>
          <a:xfrm>
            <a:off x="832851" y="3589143"/>
            <a:ext cx="2310575" cy="2380295"/>
            <a:chOff x="832851" y="3177663"/>
            <a:chExt cx="2310575" cy="2380295"/>
          </a:xfrm>
        </p:grpSpPr>
        <p:sp>
          <p:nvSpPr>
            <p:cNvPr id="13" name="Google Shape;1526;p38">
              <a:extLst>
                <a:ext uri="{FF2B5EF4-FFF2-40B4-BE49-F238E27FC236}">
                  <a16:creationId xmlns:a16="http://schemas.microsoft.com/office/drawing/2014/main" id="{A28624A9-ECB5-526B-1A5B-865F8718DFAC}"/>
                </a:ext>
              </a:extLst>
            </p:cNvPr>
            <p:cNvSpPr/>
            <p:nvPr/>
          </p:nvSpPr>
          <p:spPr>
            <a:xfrm>
              <a:off x="832851" y="3177663"/>
              <a:ext cx="2082875" cy="1953600"/>
            </a:xfrm>
            <a:prstGeom prst="roundRect">
              <a:avLst>
                <a:gd name="adj" fmla="val 6520"/>
              </a:avLst>
            </a:prstGeom>
            <a:solidFill>
              <a:schemeClr val="lt1"/>
            </a:solidFill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Configuration to define the behavior of the Docker container</a:t>
              </a: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" name="Google Shape;1527;p38">
              <a:extLst>
                <a:ext uri="{FF2B5EF4-FFF2-40B4-BE49-F238E27FC236}">
                  <a16:creationId xmlns:a16="http://schemas.microsoft.com/office/drawing/2014/main" id="{B94A21AD-D016-895D-2EDE-B0DFBC631BFB}"/>
                </a:ext>
              </a:extLst>
            </p:cNvPr>
            <p:cNvSpPr/>
            <p:nvPr/>
          </p:nvSpPr>
          <p:spPr>
            <a:xfrm>
              <a:off x="1391426" y="4865158"/>
              <a:ext cx="1752000" cy="6928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Create Dockerfile</a:t>
              </a:r>
              <a:endPara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" name="Google Shape;1528;p38">
            <a:extLst>
              <a:ext uri="{FF2B5EF4-FFF2-40B4-BE49-F238E27FC236}">
                <a16:creationId xmlns:a16="http://schemas.microsoft.com/office/drawing/2014/main" id="{58EBE870-A9BA-3C51-707F-66A4974F4AAE}"/>
              </a:ext>
            </a:extLst>
          </p:cNvPr>
          <p:cNvGrpSpPr/>
          <p:nvPr/>
        </p:nvGrpSpPr>
        <p:grpSpPr>
          <a:xfrm>
            <a:off x="3862967" y="3242779"/>
            <a:ext cx="2175200" cy="2380364"/>
            <a:chOff x="3862967" y="2831299"/>
            <a:chExt cx="2175200" cy="2380364"/>
          </a:xfrm>
        </p:grpSpPr>
        <p:sp>
          <p:nvSpPr>
            <p:cNvPr id="16" name="Google Shape;1529;p38">
              <a:extLst>
                <a:ext uri="{FF2B5EF4-FFF2-40B4-BE49-F238E27FC236}">
                  <a16:creationId xmlns:a16="http://schemas.microsoft.com/office/drawing/2014/main" id="{68C0D41D-C99E-F671-0054-268646B37513}"/>
                </a:ext>
              </a:extLst>
            </p:cNvPr>
            <p:cNvSpPr/>
            <p:nvPr/>
          </p:nvSpPr>
          <p:spPr>
            <a:xfrm>
              <a:off x="3862967" y="3177663"/>
              <a:ext cx="2175200" cy="2034000"/>
            </a:xfrm>
            <a:prstGeom prst="roundRect">
              <a:avLst>
                <a:gd name="adj" fmla="val 7301"/>
              </a:avLst>
            </a:prstGeom>
            <a:solidFill>
              <a:schemeClr val="lt1"/>
            </a:solidFill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Docker CLI acting as client</a:t>
              </a: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" name="Google Shape;1530;p38">
              <a:extLst>
                <a:ext uri="{FF2B5EF4-FFF2-40B4-BE49-F238E27FC236}">
                  <a16:creationId xmlns:a16="http://schemas.microsoft.com/office/drawing/2014/main" id="{A706E9E2-AF45-29C8-30CC-CA1E2FC4AB42}"/>
                </a:ext>
              </a:extLst>
            </p:cNvPr>
            <p:cNvSpPr/>
            <p:nvPr/>
          </p:nvSpPr>
          <p:spPr>
            <a:xfrm>
              <a:off x="4513943" y="2831299"/>
              <a:ext cx="1524000" cy="6928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Docker </a:t>
              </a:r>
              <a:r>
                <a:rPr lang="en" sz="1800" b="1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r>
                <a:rPr lang="en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lient</a:t>
              </a:r>
              <a:endPara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8" name="Google Shape;1531;p38">
            <a:extLst>
              <a:ext uri="{FF2B5EF4-FFF2-40B4-BE49-F238E27FC236}">
                <a16:creationId xmlns:a16="http://schemas.microsoft.com/office/drawing/2014/main" id="{D57321F7-C07A-1148-2A81-600CD51C3E99}"/>
              </a:ext>
            </a:extLst>
          </p:cNvPr>
          <p:cNvGrpSpPr/>
          <p:nvPr/>
        </p:nvGrpSpPr>
        <p:grpSpPr>
          <a:xfrm>
            <a:off x="6474861" y="3464453"/>
            <a:ext cx="2288592" cy="2548641"/>
            <a:chOff x="6474861" y="3052973"/>
            <a:chExt cx="2288592" cy="2548641"/>
          </a:xfrm>
        </p:grpSpPr>
        <p:sp>
          <p:nvSpPr>
            <p:cNvPr id="19" name="Google Shape;1532;p38">
              <a:extLst>
                <a:ext uri="{FF2B5EF4-FFF2-40B4-BE49-F238E27FC236}">
                  <a16:creationId xmlns:a16="http://schemas.microsoft.com/office/drawing/2014/main" id="{8730425F-9050-CCA1-8DB2-C41BA6964086}"/>
                </a:ext>
              </a:extLst>
            </p:cNvPr>
            <p:cNvSpPr/>
            <p:nvPr/>
          </p:nvSpPr>
          <p:spPr>
            <a:xfrm>
              <a:off x="6474861" y="3052973"/>
              <a:ext cx="2080400" cy="2078000"/>
            </a:xfrm>
            <a:prstGeom prst="roundRect">
              <a:avLst>
                <a:gd name="adj" fmla="val 7500"/>
              </a:avLst>
            </a:prstGeom>
            <a:solidFill>
              <a:schemeClr val="lt1"/>
            </a:solidFill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Docker daemon gets the command from Docker client and builds the image</a:t>
              </a: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0" name="Google Shape;1533;p38">
              <a:extLst>
                <a:ext uri="{FF2B5EF4-FFF2-40B4-BE49-F238E27FC236}">
                  <a16:creationId xmlns:a16="http://schemas.microsoft.com/office/drawing/2014/main" id="{0EC90249-21FB-D43B-1A54-13C2580A439E}"/>
                </a:ext>
              </a:extLst>
            </p:cNvPr>
            <p:cNvSpPr/>
            <p:nvPr/>
          </p:nvSpPr>
          <p:spPr>
            <a:xfrm>
              <a:off x="7239453" y="4908814"/>
              <a:ext cx="1524000" cy="6928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Docker </a:t>
              </a:r>
              <a:r>
                <a:rPr lang="en" sz="1800" b="1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S</a:t>
              </a:r>
              <a:r>
                <a:rPr lang="en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erver</a:t>
              </a:r>
              <a:endPara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1" name="Google Shape;1534;p38">
            <a:extLst>
              <a:ext uri="{FF2B5EF4-FFF2-40B4-BE49-F238E27FC236}">
                <a16:creationId xmlns:a16="http://schemas.microsoft.com/office/drawing/2014/main" id="{746E80B7-BE07-6A5E-95D3-92E2A948E3B8}"/>
              </a:ext>
            </a:extLst>
          </p:cNvPr>
          <p:cNvGrpSpPr/>
          <p:nvPr/>
        </p:nvGrpSpPr>
        <p:grpSpPr>
          <a:xfrm>
            <a:off x="1167395" y="1598739"/>
            <a:ext cx="9345031" cy="1682234"/>
            <a:chOff x="1167395" y="1187259"/>
            <a:chExt cx="9345031" cy="1682234"/>
          </a:xfrm>
        </p:grpSpPr>
        <p:sp>
          <p:nvSpPr>
            <p:cNvPr id="22" name="Google Shape;1535;p38">
              <a:extLst>
                <a:ext uri="{FF2B5EF4-FFF2-40B4-BE49-F238E27FC236}">
                  <a16:creationId xmlns:a16="http://schemas.microsoft.com/office/drawing/2014/main" id="{A027918F-137A-3EBC-587F-7E13B2E89116}"/>
                </a:ext>
              </a:extLst>
            </p:cNvPr>
            <p:cNvSpPr/>
            <p:nvPr/>
          </p:nvSpPr>
          <p:spPr>
            <a:xfrm>
              <a:off x="1167395" y="1187259"/>
              <a:ext cx="8650800" cy="562800"/>
            </a:xfrm>
            <a:prstGeom prst="roundRect">
              <a:avLst>
                <a:gd name="adj" fmla="val 21994"/>
              </a:avLst>
            </a:prstGeom>
            <a:solidFill>
              <a:schemeClr val="l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docker build –t </a:t>
              </a:r>
              <a:r>
                <a:rPr lang="en" sz="20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repository/application:latest</a:t>
              </a:r>
              <a:r>
                <a:rPr lang="en" sz="20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 .</a:t>
              </a:r>
              <a:endPara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" name="Google Shape;1536;p38">
              <a:extLst>
                <a:ext uri="{FF2B5EF4-FFF2-40B4-BE49-F238E27FC236}">
                  <a16:creationId xmlns:a16="http://schemas.microsoft.com/office/drawing/2014/main" id="{BC273C45-D45F-A415-5394-9A938F2C5AB4}"/>
                </a:ext>
              </a:extLst>
            </p:cNvPr>
            <p:cNvSpPr/>
            <p:nvPr/>
          </p:nvSpPr>
          <p:spPr>
            <a:xfrm>
              <a:off x="8892084" y="2005093"/>
              <a:ext cx="1620342" cy="864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Build context path</a:t>
              </a: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4" name="Google Shape;1537;p38">
              <a:extLst>
                <a:ext uri="{FF2B5EF4-FFF2-40B4-BE49-F238E27FC236}">
                  <a16:creationId xmlns:a16="http://schemas.microsoft.com/office/drawing/2014/main" id="{1E463AC7-ED1F-8B5B-411E-4621600D2B36}"/>
                </a:ext>
              </a:extLst>
            </p:cNvPr>
            <p:cNvSpPr/>
            <p:nvPr/>
          </p:nvSpPr>
          <p:spPr>
            <a:xfrm>
              <a:off x="3043253" y="2092271"/>
              <a:ext cx="2101200" cy="6156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Build command</a:t>
              </a: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5" name="Google Shape;1538;p38">
              <a:extLst>
                <a:ext uri="{FF2B5EF4-FFF2-40B4-BE49-F238E27FC236}">
                  <a16:creationId xmlns:a16="http://schemas.microsoft.com/office/drawing/2014/main" id="{3081CF25-51B1-2B31-B32C-5510D787DD99}"/>
                </a:ext>
              </a:extLst>
            </p:cNvPr>
            <p:cNvCxnSpPr/>
            <p:nvPr/>
          </p:nvCxnSpPr>
          <p:spPr>
            <a:xfrm>
              <a:off x="7953828" y="1750059"/>
              <a:ext cx="909681" cy="649134"/>
            </a:xfrm>
            <a:prstGeom prst="bentConnector3">
              <a:avLst>
                <a:gd name="adj1" fmla="val 1137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26" name="Google Shape;1539;p38">
              <a:extLst>
                <a:ext uri="{FF2B5EF4-FFF2-40B4-BE49-F238E27FC236}">
                  <a16:creationId xmlns:a16="http://schemas.microsoft.com/office/drawing/2014/main" id="{D82DD883-7A18-1209-1C94-D1E3559904E2}"/>
                </a:ext>
              </a:extLst>
            </p:cNvPr>
            <p:cNvCxnSpPr>
              <a:endCxn id="24" idx="0"/>
            </p:cNvCxnSpPr>
            <p:nvPr/>
          </p:nvCxnSpPr>
          <p:spPr>
            <a:xfrm>
              <a:off x="4093853" y="1751771"/>
              <a:ext cx="0" cy="3405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</p:grpSp>
      <p:sp>
        <p:nvSpPr>
          <p:cNvPr id="27" name="Google Shape;1540;p38">
            <a:extLst>
              <a:ext uri="{FF2B5EF4-FFF2-40B4-BE49-F238E27FC236}">
                <a16:creationId xmlns:a16="http://schemas.microsoft.com/office/drawing/2014/main" id="{4C182880-1848-9E5A-B7E3-48911E5C87D9}"/>
              </a:ext>
            </a:extLst>
          </p:cNvPr>
          <p:cNvSpPr/>
          <p:nvPr/>
        </p:nvSpPr>
        <p:spPr>
          <a:xfrm rot="9029133">
            <a:off x="3015210" y="4633621"/>
            <a:ext cx="2231658" cy="2213352"/>
          </a:xfrm>
          <a:prstGeom prst="arc">
            <a:avLst>
              <a:gd name="adj1" fmla="val 13281361"/>
              <a:gd name="adj2" fmla="val 425697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triangle" w="lg" len="lg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541;p38">
            <a:extLst>
              <a:ext uri="{FF2B5EF4-FFF2-40B4-BE49-F238E27FC236}">
                <a16:creationId xmlns:a16="http://schemas.microsoft.com/office/drawing/2014/main" id="{E8B33249-7F68-C307-6C1D-4ACC895DCC22}"/>
              </a:ext>
            </a:extLst>
          </p:cNvPr>
          <p:cNvSpPr/>
          <p:nvPr/>
        </p:nvSpPr>
        <p:spPr>
          <a:xfrm rot="1770867" flipH="1">
            <a:off x="5474133" y="2529708"/>
            <a:ext cx="2030126" cy="2032755"/>
          </a:xfrm>
          <a:prstGeom prst="arc">
            <a:avLst>
              <a:gd name="adj1" fmla="val 13867690"/>
              <a:gd name="adj2" fmla="val 2143856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triangle" w="lg" len="lg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1542;p38">
            <a:extLst>
              <a:ext uri="{FF2B5EF4-FFF2-40B4-BE49-F238E27FC236}">
                <a16:creationId xmlns:a16="http://schemas.microsoft.com/office/drawing/2014/main" id="{F9503F73-F017-099C-D2CC-89E7EEE13E29}"/>
              </a:ext>
            </a:extLst>
          </p:cNvPr>
          <p:cNvSpPr/>
          <p:nvPr/>
        </p:nvSpPr>
        <p:spPr>
          <a:xfrm rot="9029133">
            <a:off x="8562499" y="4996894"/>
            <a:ext cx="1820456" cy="1782812"/>
          </a:xfrm>
          <a:prstGeom prst="arc">
            <a:avLst>
              <a:gd name="adj1" fmla="val 12775054"/>
              <a:gd name="adj2" fmla="val 1081084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triangle" w="lg" len="lg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829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547;p39">
            <a:extLst>
              <a:ext uri="{FF2B5EF4-FFF2-40B4-BE49-F238E27FC236}">
                <a16:creationId xmlns:a16="http://schemas.microsoft.com/office/drawing/2014/main" id="{BC55CE44-E294-AAA0-FE52-337D02D0E4A3}"/>
              </a:ext>
            </a:extLst>
          </p:cNvPr>
          <p:cNvSpPr txBox="1"/>
          <p:nvPr/>
        </p:nvSpPr>
        <p:spPr>
          <a:xfrm>
            <a:off x="1206500" y="1299315"/>
            <a:ext cx="9779200" cy="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DEMO 2: CREATING A DOCKERFILE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548;p39">
            <a:extLst>
              <a:ext uri="{FF2B5EF4-FFF2-40B4-BE49-F238E27FC236}">
                <a16:creationId xmlns:a16="http://schemas.microsoft.com/office/drawing/2014/main" id="{13579D74-1264-E5C6-77F7-59F495B83653}"/>
              </a:ext>
            </a:extLst>
          </p:cNvPr>
          <p:cNvSpPr/>
          <p:nvPr/>
        </p:nvSpPr>
        <p:spPr>
          <a:xfrm>
            <a:off x="2696344" y="3653777"/>
            <a:ext cx="6799311" cy="1397534"/>
          </a:xfrm>
          <a:prstGeom prst="roundRect">
            <a:avLst>
              <a:gd name="adj" fmla="val 11662"/>
            </a:avLst>
          </a:prstGeom>
          <a:noFill/>
          <a:ln w="28575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9200" marR="0" lvl="0" indent="-349200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Writ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ing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Dockerfile to create an Nginx docker image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Understanding the use of ADD versus COPY, CMD versus ENTRYPOINT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920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553;p40">
            <a:extLst>
              <a:ext uri="{FF2B5EF4-FFF2-40B4-BE49-F238E27FC236}">
                <a16:creationId xmlns:a16="http://schemas.microsoft.com/office/drawing/2014/main" id="{D1057C4D-2D1D-B35B-830A-12435200F321}"/>
              </a:ext>
            </a:extLst>
          </p:cNvPr>
          <p:cNvSpPr txBox="1"/>
          <p:nvPr/>
        </p:nvSpPr>
        <p:spPr>
          <a:xfrm>
            <a:off x="2414400" y="1303172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LAYERS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554;p40">
            <a:extLst>
              <a:ext uri="{FF2B5EF4-FFF2-40B4-BE49-F238E27FC236}">
                <a16:creationId xmlns:a16="http://schemas.microsoft.com/office/drawing/2014/main" id="{028DB752-5A05-62DA-0110-4377B737AB21}"/>
              </a:ext>
            </a:extLst>
          </p:cNvPr>
          <p:cNvSpPr txBox="1"/>
          <p:nvPr/>
        </p:nvSpPr>
        <p:spPr>
          <a:xfrm>
            <a:off x="839788" y="2541248"/>
            <a:ext cx="5256212" cy="384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1800"/>
              <a:buFont typeface="Noto Sans Symbols"/>
              <a:buChar char="🞆"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Every command you specify (FROM, RUN, COPY, etc.) creates a new layer</a:t>
            </a:r>
            <a:endParaRPr sz="18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1800"/>
              <a:buFont typeface="Noto Sans Symbols"/>
              <a:buChar char="🞆"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This new layer is created </a:t>
            </a:r>
            <a:r>
              <a:rPr lang="en" sz="1800" dirty="0">
                <a:latin typeface="Lato"/>
                <a:ea typeface="Lato"/>
                <a:cs typeface="Lato"/>
                <a:sym typeface="Lato"/>
              </a:rPr>
              <a:t>based on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the previous layer</a:t>
            </a:r>
            <a:endParaRPr sz="18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1800"/>
              <a:buFont typeface="Noto Sans Symbols"/>
              <a:buChar char="🞆"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These layers are generated during the build phase of the image</a:t>
            </a:r>
            <a:endParaRPr sz="18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1800"/>
              <a:buFont typeface="Noto Sans Symbols"/>
              <a:buChar char="🞆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A r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andom ID is given to each layer during </a:t>
            </a:r>
            <a:r>
              <a:rPr lang="en" sz="1800" dirty="0">
                <a:latin typeface="Lato"/>
                <a:ea typeface="Lato"/>
                <a:cs typeface="Lato"/>
                <a:sym typeface="Lato"/>
              </a:rPr>
              <a:t>its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creation</a:t>
            </a:r>
            <a:endParaRPr sz="18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1800"/>
              <a:buFont typeface="Noto Sans Symbols"/>
              <a:buChar char="🞆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history command can be used to view all the layers that make up a Docker image</a:t>
            </a:r>
            <a:endParaRPr sz="18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" name="Google Shape;1555;p40">
            <a:extLst>
              <a:ext uri="{FF2B5EF4-FFF2-40B4-BE49-F238E27FC236}">
                <a16:creationId xmlns:a16="http://schemas.microsoft.com/office/drawing/2014/main" id="{082954AA-BA7D-5980-C7C8-2D7542B8441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t="-20269" b="-20269"/>
          <a:stretch/>
        </p:blipFill>
        <p:spPr>
          <a:xfrm>
            <a:off x="6354684" y="2544993"/>
            <a:ext cx="4594933" cy="3834556"/>
          </a:xfrm>
          <a:prstGeom prst="roundRect">
            <a:avLst>
              <a:gd name="adj" fmla="val 7981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792325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560;p41">
            <a:extLst>
              <a:ext uri="{FF2B5EF4-FFF2-40B4-BE49-F238E27FC236}">
                <a16:creationId xmlns:a16="http://schemas.microsoft.com/office/drawing/2014/main" id="{8D6CC79F-AB6C-BDB3-A93D-98D8FB700108}"/>
              </a:ext>
            </a:extLst>
          </p:cNvPr>
          <p:cNvSpPr txBox="1"/>
          <p:nvPr/>
        </p:nvSpPr>
        <p:spPr>
          <a:xfrm>
            <a:off x="2414400" y="1230020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INTERACTIVE METHOD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561;p41">
            <a:extLst>
              <a:ext uri="{FF2B5EF4-FFF2-40B4-BE49-F238E27FC236}">
                <a16:creationId xmlns:a16="http://schemas.microsoft.com/office/drawing/2014/main" id="{5E68EB66-B766-C7E9-B039-6D2423FFCDC8}"/>
              </a:ext>
            </a:extLst>
          </p:cNvPr>
          <p:cNvSpPr/>
          <p:nvPr/>
        </p:nvSpPr>
        <p:spPr>
          <a:xfrm>
            <a:off x="1277544" y="3163453"/>
            <a:ext cx="9655961" cy="2451334"/>
          </a:xfrm>
          <a:prstGeom prst="roundRect">
            <a:avLst>
              <a:gd name="adj" fmla="val 6925"/>
            </a:avLst>
          </a:prstGeom>
          <a:noFill/>
          <a:ln w="28575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changes made inside a container can be converted into a new image</a:t>
            </a:r>
            <a:endParaRPr sz="1867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container b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1"/>
                  </a:ext>
                </a:extLst>
              </a:rPr>
              <a:t>eing committed 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and its processes are paused by default while the image is 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2"/>
                  </a:ext>
                </a:extLst>
              </a:rPr>
              <a:t>committed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3"/>
                  </a:ext>
                </a:extLst>
              </a:rPr>
              <a:t>No data present in volumes are included during the commit operation.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docker commit &lt;CONTAINER_ID&gt;  &lt;REPO&gt;/&lt;APPLICATION&gt;:&lt;TAG&gt;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1497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566;p42">
            <a:extLst>
              <a:ext uri="{FF2B5EF4-FFF2-40B4-BE49-F238E27FC236}">
                <a16:creationId xmlns:a16="http://schemas.microsoft.com/office/drawing/2014/main" id="{BE094E34-9583-A5D0-3217-97E1F385D144}"/>
              </a:ext>
            </a:extLst>
          </p:cNvPr>
          <p:cNvSpPr txBox="1"/>
          <p:nvPr/>
        </p:nvSpPr>
        <p:spPr>
          <a:xfrm>
            <a:off x="2414400" y="1228777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IMAGE COMMANDS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567;p42">
            <a:extLst>
              <a:ext uri="{FF2B5EF4-FFF2-40B4-BE49-F238E27FC236}">
                <a16:creationId xmlns:a16="http://schemas.microsoft.com/office/drawing/2014/main" id="{2CB2A49A-5259-7DBE-AD21-00EE6C2CE77E}"/>
              </a:ext>
            </a:extLst>
          </p:cNvPr>
          <p:cNvSpPr/>
          <p:nvPr/>
        </p:nvSpPr>
        <p:spPr>
          <a:xfrm>
            <a:off x="1418285" y="2277292"/>
            <a:ext cx="9241129" cy="4530842"/>
          </a:xfrm>
          <a:prstGeom prst="roundRect">
            <a:avLst>
              <a:gd name="adj" fmla="val 6276"/>
            </a:avLst>
          </a:prstGeom>
          <a:noFill/>
          <a:ln w="28575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images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This command lists all the downloaded images in your system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rmi &lt;image_id&gt;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This command deletes an image that is not linked to any container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build &lt;path_to_docker_file&gt;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This command builds an image from a given 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ockerfile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history &lt;image_id&gt;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chemeClr val="lt2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 is used to display all the layers used in image creation/</a:t>
            </a:r>
            <a:r>
              <a:rPr lang="en" sz="2000"/>
              <a:t>D</a:t>
            </a:r>
            <a:r>
              <a:rPr lang="en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ocker history &lt;image_id&gt;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7174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4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4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572;p43">
            <a:extLst>
              <a:ext uri="{FF2B5EF4-FFF2-40B4-BE49-F238E27FC236}">
                <a16:creationId xmlns:a16="http://schemas.microsoft.com/office/drawing/2014/main" id="{7F810004-2CCC-1B90-5361-AD81637B29CE}"/>
              </a:ext>
            </a:extLst>
          </p:cNvPr>
          <p:cNvSpPr txBox="1"/>
          <p:nvPr/>
        </p:nvSpPr>
        <p:spPr>
          <a:xfrm>
            <a:off x="1206500" y="1262739"/>
            <a:ext cx="9779200" cy="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DEMO 3: DIFFERENT IMAGE COMMANDS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573;p43">
            <a:extLst>
              <a:ext uri="{FF2B5EF4-FFF2-40B4-BE49-F238E27FC236}">
                <a16:creationId xmlns:a16="http://schemas.microsoft.com/office/drawing/2014/main" id="{F2FF8304-250B-4FF8-077A-5F5CFEEBBABA}"/>
              </a:ext>
            </a:extLst>
          </p:cNvPr>
          <p:cNvSpPr/>
          <p:nvPr/>
        </p:nvSpPr>
        <p:spPr>
          <a:xfrm>
            <a:off x="3430972" y="2931400"/>
            <a:ext cx="5330056" cy="3388016"/>
          </a:xfrm>
          <a:prstGeom prst="roundRect">
            <a:avLst>
              <a:gd name="adj" fmla="val 6547"/>
            </a:avLst>
          </a:prstGeom>
          <a:noFill/>
          <a:ln w="28575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images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tag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build &lt;path_to_docker_file&gt;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rmi &lt;image_id&gt;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history &lt;image_id&gt;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inspect &lt;image_id&gt;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system prune -af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853311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4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578;p44">
            <a:extLst>
              <a:ext uri="{FF2B5EF4-FFF2-40B4-BE49-F238E27FC236}">
                <a16:creationId xmlns:a16="http://schemas.microsoft.com/office/drawing/2014/main" id="{B67E7801-3D70-EF83-3339-6CA3A0157242}"/>
              </a:ext>
            </a:extLst>
          </p:cNvPr>
          <p:cNvSpPr txBox="1"/>
          <p:nvPr/>
        </p:nvSpPr>
        <p:spPr>
          <a:xfrm>
            <a:off x="1548333" y="1249911"/>
            <a:ext cx="8789200" cy="5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SHAR</a:t>
            </a:r>
            <a:r>
              <a:rPr lang="en" sz="2400">
                <a:latin typeface="Lato"/>
                <a:ea typeface="Lato"/>
                <a:cs typeface="Lato"/>
                <a:sym typeface="Lato"/>
              </a:rPr>
              <a:t>ING</a:t>
            </a: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 DOCKER IMAGE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1579;p44">
            <a:extLst>
              <a:ext uri="{FF2B5EF4-FFF2-40B4-BE49-F238E27FC236}">
                <a16:creationId xmlns:a16="http://schemas.microsoft.com/office/drawing/2014/main" id="{A4F4FE76-2AB2-9548-0E0B-B3B43FB8B8D2}"/>
              </a:ext>
            </a:extLst>
          </p:cNvPr>
          <p:cNvGrpSpPr/>
          <p:nvPr/>
        </p:nvGrpSpPr>
        <p:grpSpPr>
          <a:xfrm>
            <a:off x="1926877" y="2499102"/>
            <a:ext cx="4169123" cy="4569839"/>
            <a:chOff x="726727" y="1264215"/>
            <a:chExt cx="4169124" cy="4569840"/>
          </a:xfrm>
        </p:grpSpPr>
        <p:pic>
          <p:nvPicPr>
            <p:cNvPr id="11" name="Google Shape;1580;p44">
              <a:extLst>
                <a:ext uri="{FF2B5EF4-FFF2-40B4-BE49-F238E27FC236}">
                  <a16:creationId xmlns:a16="http://schemas.microsoft.com/office/drawing/2014/main" id="{7866DDC5-7214-AA17-7721-4EBE668A894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26727" y="1264215"/>
              <a:ext cx="4169124" cy="41691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581;p44">
              <a:extLst>
                <a:ext uri="{FF2B5EF4-FFF2-40B4-BE49-F238E27FC236}">
                  <a16:creationId xmlns:a16="http://schemas.microsoft.com/office/drawing/2014/main" id="{0791A841-D99C-1FF2-85DB-2B7A8745B063}"/>
                </a:ext>
              </a:extLst>
            </p:cNvPr>
            <p:cNvSpPr/>
            <p:nvPr/>
          </p:nvSpPr>
          <p:spPr>
            <a:xfrm>
              <a:off x="1557452" y="5032622"/>
              <a:ext cx="2507672" cy="801433"/>
            </a:xfrm>
            <a:prstGeom prst="flowChartProcess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Developer</a:t>
              </a:r>
              <a:endPara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3" name="Google Shape;1582;p44">
            <a:extLst>
              <a:ext uri="{FF2B5EF4-FFF2-40B4-BE49-F238E27FC236}">
                <a16:creationId xmlns:a16="http://schemas.microsoft.com/office/drawing/2014/main" id="{22E14EA7-5EE1-8D7A-98EB-8EBA8F747EEA}"/>
              </a:ext>
            </a:extLst>
          </p:cNvPr>
          <p:cNvSpPr/>
          <p:nvPr/>
        </p:nvSpPr>
        <p:spPr>
          <a:xfrm>
            <a:off x="5641315" y="2499102"/>
            <a:ext cx="4598928" cy="2419488"/>
          </a:xfrm>
          <a:prstGeom prst="cloud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Where 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 I</a:t>
            </a: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store a Docker image, and how 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 I</a:t>
            </a: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share it with my team members and the operations team?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647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588;p45">
            <a:extLst>
              <a:ext uri="{FF2B5EF4-FFF2-40B4-BE49-F238E27FC236}">
                <a16:creationId xmlns:a16="http://schemas.microsoft.com/office/drawing/2014/main" id="{7BB61BAE-C192-3B3B-48BD-8536B1C4C30F}"/>
              </a:ext>
            </a:extLst>
          </p:cNvPr>
          <p:cNvSpPr txBox="1"/>
          <p:nvPr/>
        </p:nvSpPr>
        <p:spPr>
          <a:xfrm>
            <a:off x="1620971" y="8575291"/>
            <a:ext cx="7562800" cy="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589;p45">
            <a:extLst>
              <a:ext uri="{FF2B5EF4-FFF2-40B4-BE49-F238E27FC236}">
                <a16:creationId xmlns:a16="http://schemas.microsoft.com/office/drawing/2014/main" id="{C4DE7F28-1DFC-83A3-E965-FF6B1CE04725}"/>
              </a:ext>
            </a:extLst>
          </p:cNvPr>
          <p:cNvSpPr/>
          <p:nvPr/>
        </p:nvSpPr>
        <p:spPr>
          <a:xfrm>
            <a:off x="1102384" y="1930815"/>
            <a:ext cx="10625479" cy="2529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dirty="0">
                <a:latin typeface="Lato"/>
                <a:ea typeface="Lato"/>
                <a:cs typeface="Lato"/>
                <a:sym typeface="Lato"/>
              </a:rPr>
              <a:t>A D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ocker registry is a storage system that holds different tagged versions of Docker images</a:t>
            </a:r>
            <a:endParaRPr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 is similar to the Git repository, which is used for source code management</a:t>
            </a:r>
            <a:endParaRPr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 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enables the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stor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ing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and shar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ing of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images</a:t>
            </a:r>
            <a:endParaRPr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b="1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The D</a:t>
            </a:r>
            <a:r>
              <a:rPr lang="en" b="1" i="0" u="none" strike="noStrike" cap="none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ocker push 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command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 is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used to save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 an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image to 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remote registry. Similarly, 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" b="1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" b="1" i="0" u="none" strike="noStrike" cap="none" dirty="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ocker pull 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command is used to fetch the image from the remote registry</a:t>
            </a:r>
            <a:endParaRPr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dirty="0">
                <a:latin typeface="Lato"/>
                <a:ea typeface="Lato"/>
                <a:cs typeface="Lato"/>
                <a:sym typeface="Lato"/>
              </a:rPr>
              <a:t>The r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egistry can be easily integrated with the CI/CD system</a:t>
            </a:r>
            <a:endParaRPr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1590;p45">
            <a:extLst>
              <a:ext uri="{FF2B5EF4-FFF2-40B4-BE49-F238E27FC236}">
                <a16:creationId xmlns:a16="http://schemas.microsoft.com/office/drawing/2014/main" id="{3867FA60-746A-79B0-7F37-1F567806579D}"/>
              </a:ext>
            </a:extLst>
          </p:cNvPr>
          <p:cNvSpPr txBox="1"/>
          <p:nvPr/>
        </p:nvSpPr>
        <p:spPr>
          <a:xfrm>
            <a:off x="1701400" y="1264579"/>
            <a:ext cx="8789200" cy="5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REGISTRY</a:t>
            </a:r>
            <a:endParaRPr sz="1467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1591;p45">
            <a:extLst>
              <a:ext uri="{FF2B5EF4-FFF2-40B4-BE49-F238E27FC236}">
                <a16:creationId xmlns:a16="http://schemas.microsoft.com/office/drawing/2014/main" id="{94D30938-9770-ED0A-3070-02EA236E4CA4}"/>
              </a:ext>
            </a:extLst>
          </p:cNvPr>
          <p:cNvSpPr/>
          <p:nvPr/>
        </p:nvSpPr>
        <p:spPr>
          <a:xfrm>
            <a:off x="868287" y="5105707"/>
            <a:ext cx="10146643" cy="1415774"/>
          </a:xfrm>
          <a:prstGeom prst="roundRect">
            <a:avLst>
              <a:gd name="adj" fmla="val 4774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" name="Google Shape;1592;p45">
            <a:extLst>
              <a:ext uri="{FF2B5EF4-FFF2-40B4-BE49-F238E27FC236}">
                <a16:creationId xmlns:a16="http://schemas.microsoft.com/office/drawing/2014/main" id="{F4CDEBFE-5D31-8FAD-17DB-FFF8813A9FC7}"/>
              </a:ext>
            </a:extLst>
          </p:cNvPr>
          <p:cNvGrpSpPr/>
          <p:nvPr/>
        </p:nvGrpSpPr>
        <p:grpSpPr>
          <a:xfrm>
            <a:off x="6884711" y="4392961"/>
            <a:ext cx="1074004" cy="2019020"/>
            <a:chOff x="6849299" y="3679362"/>
            <a:chExt cx="1181404" cy="2220922"/>
          </a:xfrm>
        </p:grpSpPr>
        <p:grpSp>
          <p:nvGrpSpPr>
            <p:cNvPr id="14" name="Google Shape;1593;p45">
              <a:extLst>
                <a:ext uri="{FF2B5EF4-FFF2-40B4-BE49-F238E27FC236}">
                  <a16:creationId xmlns:a16="http://schemas.microsoft.com/office/drawing/2014/main" id="{0975B469-C69C-645C-9006-7FBD7028B8F2}"/>
                </a:ext>
              </a:extLst>
            </p:cNvPr>
            <p:cNvGrpSpPr/>
            <p:nvPr/>
          </p:nvGrpSpPr>
          <p:grpSpPr>
            <a:xfrm>
              <a:off x="6849299" y="4543873"/>
              <a:ext cx="1181404" cy="1356411"/>
              <a:chOff x="6990349" y="4711711"/>
              <a:chExt cx="828300" cy="951000"/>
            </a:xfrm>
          </p:grpSpPr>
          <p:sp>
            <p:nvSpPr>
              <p:cNvPr id="16" name="Google Shape;1594;p45">
                <a:extLst>
                  <a:ext uri="{FF2B5EF4-FFF2-40B4-BE49-F238E27FC236}">
                    <a16:creationId xmlns:a16="http://schemas.microsoft.com/office/drawing/2014/main" id="{C30BC055-52BD-525B-9250-E3AA8FCEFC5A}"/>
                  </a:ext>
                </a:extLst>
              </p:cNvPr>
              <p:cNvSpPr/>
              <p:nvPr/>
            </p:nvSpPr>
            <p:spPr>
              <a:xfrm>
                <a:off x="6990349" y="4711711"/>
                <a:ext cx="828300" cy="951000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" name="Google Shape;1595;p45">
                <a:extLst>
                  <a:ext uri="{FF2B5EF4-FFF2-40B4-BE49-F238E27FC236}">
                    <a16:creationId xmlns:a16="http://schemas.microsoft.com/office/drawing/2014/main" id="{26795538-B8B7-4244-4EA4-C4BF44C131D0}"/>
                  </a:ext>
                </a:extLst>
              </p:cNvPr>
              <p:cNvSpPr/>
              <p:nvPr/>
            </p:nvSpPr>
            <p:spPr>
              <a:xfrm>
                <a:off x="7183784" y="4845497"/>
                <a:ext cx="159900" cy="219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endParaRPr sz="1600" b="0" i="0" u="none" strike="noStrike" cap="none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" name="Google Shape;1596;p45">
                <a:extLst>
                  <a:ext uri="{FF2B5EF4-FFF2-40B4-BE49-F238E27FC236}">
                    <a16:creationId xmlns:a16="http://schemas.microsoft.com/office/drawing/2014/main" id="{4BF53785-0DF8-68E3-C6AC-94AB28C0D9A6}"/>
                  </a:ext>
                </a:extLst>
              </p:cNvPr>
              <p:cNvSpPr/>
              <p:nvPr/>
            </p:nvSpPr>
            <p:spPr>
              <a:xfrm>
                <a:off x="7466031" y="4845498"/>
                <a:ext cx="159900" cy="219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endParaRPr sz="1600" b="0" i="0" u="none" strike="noStrike" cap="none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" name="Google Shape;1597;p45">
                <a:extLst>
                  <a:ext uri="{FF2B5EF4-FFF2-40B4-BE49-F238E27FC236}">
                    <a16:creationId xmlns:a16="http://schemas.microsoft.com/office/drawing/2014/main" id="{7618772C-83D0-A3F9-1CCE-CD8CDAA49DC6}"/>
                  </a:ext>
                </a:extLst>
              </p:cNvPr>
              <p:cNvSpPr/>
              <p:nvPr/>
            </p:nvSpPr>
            <p:spPr>
              <a:xfrm>
                <a:off x="7180046" y="5203542"/>
                <a:ext cx="159900" cy="219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endParaRPr sz="1600" b="0" i="0" u="none" strike="noStrike" cap="none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" name="Google Shape;1598;p45">
                <a:extLst>
                  <a:ext uri="{FF2B5EF4-FFF2-40B4-BE49-F238E27FC236}">
                    <a16:creationId xmlns:a16="http://schemas.microsoft.com/office/drawing/2014/main" id="{DC12B4C2-70D3-C969-A260-9E5822F13C40}"/>
                  </a:ext>
                </a:extLst>
              </p:cNvPr>
              <p:cNvSpPr/>
              <p:nvPr/>
            </p:nvSpPr>
            <p:spPr>
              <a:xfrm>
                <a:off x="7466031" y="5206499"/>
                <a:ext cx="159900" cy="219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endParaRPr sz="1600" b="0" i="0" u="none" strike="noStrike" cap="none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5" name="Google Shape;1599;p45">
              <a:extLst>
                <a:ext uri="{FF2B5EF4-FFF2-40B4-BE49-F238E27FC236}">
                  <a16:creationId xmlns:a16="http://schemas.microsoft.com/office/drawing/2014/main" id="{A2E834D8-C51E-6CDD-2C7B-D50CD9286138}"/>
                </a:ext>
              </a:extLst>
            </p:cNvPr>
            <p:cNvSpPr txBox="1"/>
            <p:nvPr/>
          </p:nvSpPr>
          <p:spPr>
            <a:xfrm>
              <a:off x="6894672" y="3679362"/>
              <a:ext cx="10914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Docker Registry</a:t>
              </a:r>
              <a:endParaRPr sz="16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1" name="Google Shape;1600;p45">
            <a:extLst>
              <a:ext uri="{FF2B5EF4-FFF2-40B4-BE49-F238E27FC236}">
                <a16:creationId xmlns:a16="http://schemas.microsoft.com/office/drawing/2014/main" id="{5B69A7D2-C7B0-C5B2-6ED8-8F95D83B1469}"/>
              </a:ext>
            </a:extLst>
          </p:cNvPr>
          <p:cNvGrpSpPr/>
          <p:nvPr/>
        </p:nvGrpSpPr>
        <p:grpSpPr>
          <a:xfrm>
            <a:off x="822120" y="4388175"/>
            <a:ext cx="1222636" cy="1923297"/>
            <a:chOff x="1373636" y="3679362"/>
            <a:chExt cx="1344900" cy="2115627"/>
          </a:xfrm>
        </p:grpSpPr>
        <p:sp>
          <p:nvSpPr>
            <p:cNvPr id="22" name="Google Shape;1601;p45">
              <a:extLst>
                <a:ext uri="{FF2B5EF4-FFF2-40B4-BE49-F238E27FC236}">
                  <a16:creationId xmlns:a16="http://schemas.microsoft.com/office/drawing/2014/main" id="{4D32F57F-DE12-8899-37A7-D9F3C43E8D9F}"/>
                </a:ext>
              </a:extLst>
            </p:cNvPr>
            <p:cNvSpPr/>
            <p:nvPr/>
          </p:nvSpPr>
          <p:spPr>
            <a:xfrm>
              <a:off x="1551268" y="4631289"/>
              <a:ext cx="969900" cy="1163700"/>
            </a:xfrm>
            <a:prstGeom prst="can">
              <a:avLst>
                <a:gd name="adj" fmla="val 25000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" name="Google Shape;1602;p45">
              <a:extLst>
                <a:ext uri="{FF2B5EF4-FFF2-40B4-BE49-F238E27FC236}">
                  <a16:creationId xmlns:a16="http://schemas.microsoft.com/office/drawing/2014/main" id="{BA8C901A-8958-45D6-2EDA-E8806910E8B1}"/>
                </a:ext>
              </a:extLst>
            </p:cNvPr>
            <p:cNvSpPr txBox="1"/>
            <p:nvPr/>
          </p:nvSpPr>
          <p:spPr>
            <a:xfrm>
              <a:off x="1373636" y="3679362"/>
              <a:ext cx="13449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Git Repository</a:t>
              </a:r>
              <a:endParaRPr sz="16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4" name="Google Shape;1603;p45">
            <a:extLst>
              <a:ext uri="{FF2B5EF4-FFF2-40B4-BE49-F238E27FC236}">
                <a16:creationId xmlns:a16="http://schemas.microsoft.com/office/drawing/2014/main" id="{FB25D373-38D5-4515-B776-39161D3FBBFE}"/>
              </a:ext>
            </a:extLst>
          </p:cNvPr>
          <p:cNvGrpSpPr/>
          <p:nvPr/>
        </p:nvGrpSpPr>
        <p:grpSpPr>
          <a:xfrm>
            <a:off x="4055678" y="4264776"/>
            <a:ext cx="1222636" cy="2130069"/>
            <a:chOff x="4012835" y="3539256"/>
            <a:chExt cx="1344900" cy="2343076"/>
          </a:xfrm>
        </p:grpSpPr>
        <p:sp>
          <p:nvSpPr>
            <p:cNvPr id="25" name="Google Shape;1604;p45">
              <a:extLst>
                <a:ext uri="{FF2B5EF4-FFF2-40B4-BE49-F238E27FC236}">
                  <a16:creationId xmlns:a16="http://schemas.microsoft.com/office/drawing/2014/main" id="{9D0AB063-EBB8-E936-FBAD-62A0AC61954E}"/>
                </a:ext>
              </a:extLst>
            </p:cNvPr>
            <p:cNvSpPr/>
            <p:nvPr/>
          </p:nvSpPr>
          <p:spPr>
            <a:xfrm>
              <a:off x="4012835" y="4544032"/>
              <a:ext cx="1344900" cy="1338300"/>
            </a:xfrm>
            <a:prstGeom prst="roundRect">
              <a:avLst>
                <a:gd name="adj" fmla="val 10771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Build</a:t>
              </a:r>
              <a:endParaRPr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Test</a:t>
              </a:r>
              <a:endParaRPr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Docker build</a:t>
              </a:r>
              <a:endParaRPr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" name="Google Shape;1605;p45">
              <a:extLst>
                <a:ext uri="{FF2B5EF4-FFF2-40B4-BE49-F238E27FC236}">
                  <a16:creationId xmlns:a16="http://schemas.microsoft.com/office/drawing/2014/main" id="{3261F18D-5990-6BF3-C24B-E0AC26726957}"/>
                </a:ext>
              </a:extLst>
            </p:cNvPr>
            <p:cNvSpPr txBox="1"/>
            <p:nvPr/>
          </p:nvSpPr>
          <p:spPr>
            <a:xfrm>
              <a:off x="4012835" y="3539256"/>
              <a:ext cx="13449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CI/CD Build </a:t>
              </a:r>
              <a:r>
                <a:rPr lang="en" sz="1600" b="1" dirty="0">
                  <a:latin typeface="Lato"/>
                  <a:ea typeface="Lato"/>
                  <a:cs typeface="Lato"/>
                  <a:sym typeface="Lato"/>
                </a:rPr>
                <a:t>S</a:t>
              </a:r>
              <a:r>
                <a:rPr lang="en" sz="1600" b="1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erver </a:t>
              </a:r>
              <a:endParaRPr sz="16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7" name="Google Shape;1606;p45">
            <a:extLst>
              <a:ext uri="{FF2B5EF4-FFF2-40B4-BE49-F238E27FC236}">
                <a16:creationId xmlns:a16="http://schemas.microsoft.com/office/drawing/2014/main" id="{8626C8EF-1EA3-3719-49E1-B0EFEB7AB90B}"/>
              </a:ext>
            </a:extLst>
          </p:cNvPr>
          <p:cNvGrpSpPr/>
          <p:nvPr/>
        </p:nvGrpSpPr>
        <p:grpSpPr>
          <a:xfrm>
            <a:off x="9454741" y="4392963"/>
            <a:ext cx="1371757" cy="2019064"/>
            <a:chOff x="9408963" y="3679362"/>
            <a:chExt cx="1508932" cy="2220970"/>
          </a:xfrm>
        </p:grpSpPr>
        <p:sp>
          <p:nvSpPr>
            <p:cNvPr id="28" name="Google Shape;1607;p45">
              <a:extLst>
                <a:ext uri="{FF2B5EF4-FFF2-40B4-BE49-F238E27FC236}">
                  <a16:creationId xmlns:a16="http://schemas.microsoft.com/office/drawing/2014/main" id="{373F9B2D-D334-9F47-B55D-7B25D78DFCBC}"/>
                </a:ext>
              </a:extLst>
            </p:cNvPr>
            <p:cNvSpPr txBox="1"/>
            <p:nvPr/>
          </p:nvSpPr>
          <p:spPr>
            <a:xfrm>
              <a:off x="9408963" y="3679362"/>
              <a:ext cx="1508932" cy="6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Deployment Host</a:t>
              </a:r>
              <a:endParaRPr sz="16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9" name="Google Shape;1608;p45">
              <a:extLst>
                <a:ext uri="{FF2B5EF4-FFF2-40B4-BE49-F238E27FC236}">
                  <a16:creationId xmlns:a16="http://schemas.microsoft.com/office/drawing/2014/main" id="{4A94EFD1-B7AF-54F5-D5BC-9A2E804B0A1A}"/>
                </a:ext>
              </a:extLst>
            </p:cNvPr>
            <p:cNvGrpSpPr/>
            <p:nvPr/>
          </p:nvGrpSpPr>
          <p:grpSpPr>
            <a:xfrm>
              <a:off x="9522918" y="4544032"/>
              <a:ext cx="1181700" cy="1356300"/>
              <a:chOff x="9041669" y="4495030"/>
              <a:chExt cx="1181700" cy="1356300"/>
            </a:xfrm>
          </p:grpSpPr>
          <p:sp>
            <p:nvSpPr>
              <p:cNvPr id="30" name="Google Shape;1609;p45">
                <a:extLst>
                  <a:ext uri="{FF2B5EF4-FFF2-40B4-BE49-F238E27FC236}">
                    <a16:creationId xmlns:a16="http://schemas.microsoft.com/office/drawing/2014/main" id="{4B04290A-EC2F-69DB-5960-09FFB6FA2D5F}"/>
                  </a:ext>
                </a:extLst>
              </p:cNvPr>
              <p:cNvSpPr/>
              <p:nvPr/>
            </p:nvSpPr>
            <p:spPr>
              <a:xfrm>
                <a:off x="9041669" y="4495030"/>
                <a:ext cx="1181700" cy="1356300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31" name="Google Shape;1610;p45">
                <a:extLst>
                  <a:ext uri="{FF2B5EF4-FFF2-40B4-BE49-F238E27FC236}">
                    <a16:creationId xmlns:a16="http://schemas.microsoft.com/office/drawing/2014/main" id="{60C33A71-2972-7EDD-6B61-8D2BFCAC5D5B}"/>
                  </a:ext>
                </a:extLst>
              </p:cNvPr>
              <p:cNvGrpSpPr/>
              <p:nvPr/>
            </p:nvGrpSpPr>
            <p:grpSpPr>
              <a:xfrm>
                <a:off x="9221310" y="4777159"/>
                <a:ext cx="822105" cy="813726"/>
                <a:chOff x="9401175" y="6737351"/>
                <a:chExt cx="2181229" cy="2158997"/>
              </a:xfrm>
            </p:grpSpPr>
            <p:sp>
              <p:nvSpPr>
                <p:cNvPr id="32" name="Google Shape;1611;p45">
                  <a:extLst>
                    <a:ext uri="{FF2B5EF4-FFF2-40B4-BE49-F238E27FC236}">
                      <a16:creationId xmlns:a16="http://schemas.microsoft.com/office/drawing/2014/main" id="{89DC77D0-4A22-3BCA-35AD-DB54FCD83D48}"/>
                    </a:ext>
                  </a:extLst>
                </p:cNvPr>
                <p:cNvSpPr/>
                <p:nvPr/>
              </p:nvSpPr>
              <p:spPr>
                <a:xfrm>
                  <a:off x="9401175" y="6737351"/>
                  <a:ext cx="2181229" cy="2158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7" h="2135" extrusionOk="0">
                      <a:moveTo>
                        <a:pt x="1086" y="2135"/>
                      </a:moveTo>
                      <a:cubicBezTo>
                        <a:pt x="975" y="2135"/>
                        <a:pt x="890" y="2118"/>
                        <a:pt x="885" y="2117"/>
                      </a:cubicBezTo>
                      <a:cubicBezTo>
                        <a:pt x="862" y="2113"/>
                        <a:pt x="844" y="2094"/>
                        <a:pt x="841" y="2071"/>
                      </a:cubicBezTo>
                      <a:cubicBezTo>
                        <a:pt x="812" y="1892"/>
                        <a:pt x="812" y="1892"/>
                        <a:pt x="812" y="1892"/>
                      </a:cubicBezTo>
                      <a:cubicBezTo>
                        <a:pt x="771" y="1879"/>
                        <a:pt x="731" y="1862"/>
                        <a:pt x="692" y="1842"/>
                      </a:cubicBezTo>
                      <a:cubicBezTo>
                        <a:pt x="543" y="1948"/>
                        <a:pt x="543" y="1948"/>
                        <a:pt x="543" y="1948"/>
                      </a:cubicBezTo>
                      <a:cubicBezTo>
                        <a:pt x="524" y="1961"/>
                        <a:pt x="499" y="1961"/>
                        <a:pt x="480" y="1949"/>
                      </a:cubicBezTo>
                      <a:cubicBezTo>
                        <a:pt x="320" y="1845"/>
                        <a:pt x="212" y="1683"/>
                        <a:pt x="207" y="1676"/>
                      </a:cubicBezTo>
                      <a:cubicBezTo>
                        <a:pt x="194" y="1657"/>
                        <a:pt x="195" y="1631"/>
                        <a:pt x="208" y="1612"/>
                      </a:cubicBezTo>
                      <a:cubicBezTo>
                        <a:pt x="315" y="1465"/>
                        <a:pt x="315" y="1465"/>
                        <a:pt x="315" y="1465"/>
                      </a:cubicBezTo>
                      <a:cubicBezTo>
                        <a:pt x="295" y="1426"/>
                        <a:pt x="279" y="1386"/>
                        <a:pt x="265" y="1345"/>
                      </a:cubicBezTo>
                      <a:cubicBezTo>
                        <a:pt x="85" y="1314"/>
                        <a:pt x="85" y="1314"/>
                        <a:pt x="85" y="1314"/>
                      </a:cubicBezTo>
                      <a:cubicBezTo>
                        <a:pt x="63" y="1310"/>
                        <a:pt x="45" y="1293"/>
                        <a:pt x="40" y="1271"/>
                      </a:cubicBezTo>
                      <a:cubicBezTo>
                        <a:pt x="0" y="1084"/>
                        <a:pt x="38" y="893"/>
                        <a:pt x="40" y="885"/>
                      </a:cubicBezTo>
                      <a:cubicBezTo>
                        <a:pt x="45" y="862"/>
                        <a:pt x="63" y="844"/>
                        <a:pt x="86" y="841"/>
                      </a:cubicBezTo>
                      <a:cubicBezTo>
                        <a:pt x="265" y="812"/>
                        <a:pt x="265" y="812"/>
                        <a:pt x="265" y="812"/>
                      </a:cubicBezTo>
                      <a:cubicBezTo>
                        <a:pt x="279" y="771"/>
                        <a:pt x="295" y="731"/>
                        <a:pt x="315" y="692"/>
                      </a:cubicBezTo>
                      <a:cubicBezTo>
                        <a:pt x="210" y="543"/>
                        <a:pt x="210" y="543"/>
                        <a:pt x="210" y="543"/>
                      </a:cubicBezTo>
                      <a:cubicBezTo>
                        <a:pt x="197" y="524"/>
                        <a:pt x="196" y="499"/>
                        <a:pt x="209" y="480"/>
                      </a:cubicBezTo>
                      <a:cubicBezTo>
                        <a:pt x="312" y="320"/>
                        <a:pt x="475" y="212"/>
                        <a:pt x="481" y="207"/>
                      </a:cubicBezTo>
                      <a:cubicBezTo>
                        <a:pt x="501" y="194"/>
                        <a:pt x="526" y="195"/>
                        <a:pt x="545" y="208"/>
                      </a:cubicBezTo>
                      <a:cubicBezTo>
                        <a:pt x="692" y="315"/>
                        <a:pt x="692" y="315"/>
                        <a:pt x="692" y="315"/>
                      </a:cubicBezTo>
                      <a:cubicBezTo>
                        <a:pt x="731" y="295"/>
                        <a:pt x="771" y="279"/>
                        <a:pt x="812" y="265"/>
                      </a:cubicBezTo>
                      <a:cubicBezTo>
                        <a:pt x="843" y="85"/>
                        <a:pt x="843" y="85"/>
                        <a:pt x="843" y="85"/>
                      </a:cubicBezTo>
                      <a:cubicBezTo>
                        <a:pt x="847" y="63"/>
                        <a:pt x="865" y="45"/>
                        <a:pt x="887" y="40"/>
                      </a:cubicBezTo>
                      <a:cubicBezTo>
                        <a:pt x="1073" y="0"/>
                        <a:pt x="1265" y="38"/>
                        <a:pt x="1273" y="40"/>
                      </a:cubicBezTo>
                      <a:cubicBezTo>
                        <a:pt x="1295" y="45"/>
                        <a:pt x="1313" y="63"/>
                        <a:pt x="1317" y="86"/>
                      </a:cubicBezTo>
                      <a:cubicBezTo>
                        <a:pt x="1346" y="265"/>
                        <a:pt x="1346" y="265"/>
                        <a:pt x="1346" y="265"/>
                      </a:cubicBezTo>
                      <a:cubicBezTo>
                        <a:pt x="1387" y="279"/>
                        <a:pt x="1427" y="295"/>
                        <a:pt x="1465" y="315"/>
                      </a:cubicBezTo>
                      <a:cubicBezTo>
                        <a:pt x="1615" y="210"/>
                        <a:pt x="1615" y="210"/>
                        <a:pt x="1615" y="210"/>
                      </a:cubicBezTo>
                      <a:cubicBezTo>
                        <a:pt x="1633" y="197"/>
                        <a:pt x="1658" y="196"/>
                        <a:pt x="1677" y="209"/>
                      </a:cubicBezTo>
                      <a:cubicBezTo>
                        <a:pt x="1837" y="312"/>
                        <a:pt x="1946" y="474"/>
                        <a:pt x="1950" y="481"/>
                      </a:cubicBezTo>
                      <a:cubicBezTo>
                        <a:pt x="1963" y="501"/>
                        <a:pt x="1963" y="526"/>
                        <a:pt x="1949" y="545"/>
                      </a:cubicBezTo>
                      <a:cubicBezTo>
                        <a:pt x="1843" y="692"/>
                        <a:pt x="1843" y="692"/>
                        <a:pt x="1843" y="692"/>
                      </a:cubicBezTo>
                      <a:cubicBezTo>
                        <a:pt x="1862" y="731"/>
                        <a:pt x="1879" y="771"/>
                        <a:pt x="1892" y="812"/>
                      </a:cubicBezTo>
                      <a:cubicBezTo>
                        <a:pt x="2072" y="843"/>
                        <a:pt x="2072" y="843"/>
                        <a:pt x="2072" y="843"/>
                      </a:cubicBezTo>
                      <a:cubicBezTo>
                        <a:pt x="2095" y="847"/>
                        <a:pt x="2113" y="864"/>
                        <a:pt x="2117" y="887"/>
                      </a:cubicBezTo>
                      <a:cubicBezTo>
                        <a:pt x="2157" y="1073"/>
                        <a:pt x="2119" y="1265"/>
                        <a:pt x="2117" y="1273"/>
                      </a:cubicBezTo>
                      <a:cubicBezTo>
                        <a:pt x="2113" y="1295"/>
                        <a:pt x="2095" y="1313"/>
                        <a:pt x="2072" y="1317"/>
                      </a:cubicBezTo>
                      <a:cubicBezTo>
                        <a:pt x="1892" y="1346"/>
                        <a:pt x="1892" y="1346"/>
                        <a:pt x="1892" y="1346"/>
                      </a:cubicBezTo>
                      <a:cubicBezTo>
                        <a:pt x="1879" y="1387"/>
                        <a:pt x="1862" y="1427"/>
                        <a:pt x="1843" y="1465"/>
                      </a:cubicBezTo>
                      <a:cubicBezTo>
                        <a:pt x="1948" y="1615"/>
                        <a:pt x="1948" y="1615"/>
                        <a:pt x="1948" y="1615"/>
                      </a:cubicBezTo>
                      <a:cubicBezTo>
                        <a:pt x="1961" y="1633"/>
                        <a:pt x="1961" y="1658"/>
                        <a:pt x="1949" y="1677"/>
                      </a:cubicBezTo>
                      <a:cubicBezTo>
                        <a:pt x="1845" y="1837"/>
                        <a:pt x="1683" y="1946"/>
                        <a:pt x="1676" y="1950"/>
                      </a:cubicBezTo>
                      <a:cubicBezTo>
                        <a:pt x="1657" y="1963"/>
                        <a:pt x="1631" y="1963"/>
                        <a:pt x="1612" y="1949"/>
                      </a:cubicBezTo>
                      <a:cubicBezTo>
                        <a:pt x="1465" y="1843"/>
                        <a:pt x="1465" y="1843"/>
                        <a:pt x="1465" y="1843"/>
                      </a:cubicBezTo>
                      <a:cubicBezTo>
                        <a:pt x="1426" y="1862"/>
                        <a:pt x="1386" y="1879"/>
                        <a:pt x="1345" y="1892"/>
                      </a:cubicBezTo>
                      <a:cubicBezTo>
                        <a:pt x="1314" y="2072"/>
                        <a:pt x="1314" y="2072"/>
                        <a:pt x="1314" y="2072"/>
                      </a:cubicBezTo>
                      <a:cubicBezTo>
                        <a:pt x="1310" y="2095"/>
                        <a:pt x="1293" y="2112"/>
                        <a:pt x="1271" y="2117"/>
                      </a:cubicBezTo>
                      <a:cubicBezTo>
                        <a:pt x="1207" y="2131"/>
                        <a:pt x="1143" y="2135"/>
                        <a:pt x="1086" y="2135"/>
                      </a:cubicBezTo>
                      <a:close/>
                      <a:moveTo>
                        <a:pt x="945" y="2014"/>
                      </a:moveTo>
                      <a:cubicBezTo>
                        <a:pt x="999" y="2021"/>
                        <a:pt x="1105" y="2031"/>
                        <a:pt x="1210" y="2014"/>
                      </a:cubicBezTo>
                      <a:cubicBezTo>
                        <a:pt x="1241" y="1841"/>
                        <a:pt x="1241" y="1841"/>
                        <a:pt x="1241" y="1841"/>
                      </a:cubicBezTo>
                      <a:cubicBezTo>
                        <a:pt x="1243" y="1820"/>
                        <a:pt x="1259" y="1801"/>
                        <a:pt x="1281" y="1795"/>
                      </a:cubicBezTo>
                      <a:cubicBezTo>
                        <a:pt x="1337" y="1779"/>
                        <a:pt x="1391" y="1757"/>
                        <a:pt x="1443" y="1728"/>
                      </a:cubicBezTo>
                      <a:cubicBezTo>
                        <a:pt x="1464" y="1716"/>
                        <a:pt x="1490" y="1719"/>
                        <a:pt x="1508" y="1736"/>
                      </a:cubicBezTo>
                      <a:cubicBezTo>
                        <a:pt x="1645" y="1834"/>
                        <a:pt x="1645" y="1834"/>
                        <a:pt x="1645" y="1834"/>
                      </a:cubicBezTo>
                      <a:cubicBezTo>
                        <a:pt x="1689" y="1801"/>
                        <a:pt x="1770" y="1734"/>
                        <a:pt x="1834" y="1647"/>
                      </a:cubicBezTo>
                      <a:cubicBezTo>
                        <a:pt x="1735" y="1508"/>
                        <a:pt x="1735" y="1508"/>
                        <a:pt x="1735" y="1508"/>
                      </a:cubicBezTo>
                      <a:cubicBezTo>
                        <a:pt x="1719" y="1490"/>
                        <a:pt x="1716" y="1464"/>
                        <a:pt x="1728" y="1442"/>
                      </a:cubicBezTo>
                      <a:cubicBezTo>
                        <a:pt x="1757" y="1391"/>
                        <a:pt x="1779" y="1337"/>
                        <a:pt x="1795" y="1281"/>
                      </a:cubicBezTo>
                      <a:cubicBezTo>
                        <a:pt x="1801" y="1258"/>
                        <a:pt x="1820" y="1243"/>
                        <a:pt x="1843" y="1240"/>
                      </a:cubicBezTo>
                      <a:cubicBezTo>
                        <a:pt x="2014" y="1213"/>
                        <a:pt x="2014" y="1213"/>
                        <a:pt x="2014" y="1213"/>
                      </a:cubicBezTo>
                      <a:cubicBezTo>
                        <a:pt x="2021" y="1158"/>
                        <a:pt x="2031" y="1053"/>
                        <a:pt x="2015" y="947"/>
                      </a:cubicBezTo>
                      <a:cubicBezTo>
                        <a:pt x="1841" y="917"/>
                        <a:pt x="1841" y="917"/>
                        <a:pt x="1841" y="917"/>
                      </a:cubicBezTo>
                      <a:cubicBezTo>
                        <a:pt x="1820" y="914"/>
                        <a:pt x="1801" y="899"/>
                        <a:pt x="1795" y="877"/>
                      </a:cubicBezTo>
                      <a:cubicBezTo>
                        <a:pt x="1779" y="820"/>
                        <a:pt x="1757" y="766"/>
                        <a:pt x="1728" y="715"/>
                      </a:cubicBezTo>
                      <a:cubicBezTo>
                        <a:pt x="1716" y="693"/>
                        <a:pt x="1719" y="667"/>
                        <a:pt x="1736" y="649"/>
                      </a:cubicBezTo>
                      <a:cubicBezTo>
                        <a:pt x="1835" y="512"/>
                        <a:pt x="1835" y="512"/>
                        <a:pt x="1835" y="512"/>
                      </a:cubicBezTo>
                      <a:cubicBezTo>
                        <a:pt x="1801" y="469"/>
                        <a:pt x="1734" y="387"/>
                        <a:pt x="1647" y="324"/>
                      </a:cubicBezTo>
                      <a:cubicBezTo>
                        <a:pt x="1508" y="422"/>
                        <a:pt x="1508" y="422"/>
                        <a:pt x="1508" y="422"/>
                      </a:cubicBezTo>
                      <a:cubicBezTo>
                        <a:pt x="1490" y="438"/>
                        <a:pt x="1464" y="442"/>
                        <a:pt x="1443" y="430"/>
                      </a:cubicBezTo>
                      <a:cubicBezTo>
                        <a:pt x="1391" y="401"/>
                        <a:pt x="1337" y="378"/>
                        <a:pt x="1281" y="362"/>
                      </a:cubicBezTo>
                      <a:cubicBezTo>
                        <a:pt x="1259" y="356"/>
                        <a:pt x="1243" y="337"/>
                        <a:pt x="1240" y="315"/>
                      </a:cubicBezTo>
                      <a:cubicBezTo>
                        <a:pt x="1213" y="144"/>
                        <a:pt x="1213" y="144"/>
                        <a:pt x="1213" y="144"/>
                      </a:cubicBezTo>
                      <a:cubicBezTo>
                        <a:pt x="1158" y="136"/>
                        <a:pt x="1053" y="127"/>
                        <a:pt x="947" y="143"/>
                      </a:cubicBezTo>
                      <a:cubicBezTo>
                        <a:pt x="917" y="316"/>
                        <a:pt x="917" y="316"/>
                        <a:pt x="917" y="316"/>
                      </a:cubicBezTo>
                      <a:cubicBezTo>
                        <a:pt x="914" y="338"/>
                        <a:pt x="899" y="356"/>
                        <a:pt x="877" y="362"/>
                      </a:cubicBezTo>
                      <a:cubicBezTo>
                        <a:pt x="821" y="378"/>
                        <a:pt x="766" y="401"/>
                        <a:pt x="715" y="430"/>
                      </a:cubicBezTo>
                      <a:cubicBezTo>
                        <a:pt x="693" y="442"/>
                        <a:pt x="667" y="438"/>
                        <a:pt x="649" y="422"/>
                      </a:cubicBezTo>
                      <a:cubicBezTo>
                        <a:pt x="512" y="323"/>
                        <a:pt x="512" y="323"/>
                        <a:pt x="512" y="323"/>
                      </a:cubicBezTo>
                      <a:cubicBezTo>
                        <a:pt x="469" y="356"/>
                        <a:pt x="387" y="424"/>
                        <a:pt x="324" y="510"/>
                      </a:cubicBezTo>
                      <a:cubicBezTo>
                        <a:pt x="422" y="650"/>
                        <a:pt x="422" y="650"/>
                        <a:pt x="422" y="650"/>
                      </a:cubicBezTo>
                      <a:cubicBezTo>
                        <a:pt x="438" y="667"/>
                        <a:pt x="442" y="694"/>
                        <a:pt x="430" y="715"/>
                      </a:cubicBezTo>
                      <a:cubicBezTo>
                        <a:pt x="401" y="766"/>
                        <a:pt x="378" y="820"/>
                        <a:pt x="363" y="877"/>
                      </a:cubicBezTo>
                      <a:cubicBezTo>
                        <a:pt x="356" y="899"/>
                        <a:pt x="337" y="915"/>
                        <a:pt x="315" y="917"/>
                      </a:cubicBezTo>
                      <a:cubicBezTo>
                        <a:pt x="144" y="945"/>
                        <a:pt x="144" y="945"/>
                        <a:pt x="144" y="945"/>
                      </a:cubicBezTo>
                      <a:cubicBezTo>
                        <a:pt x="136" y="999"/>
                        <a:pt x="127" y="1104"/>
                        <a:pt x="143" y="1210"/>
                      </a:cubicBezTo>
                      <a:cubicBezTo>
                        <a:pt x="316" y="1240"/>
                        <a:pt x="316" y="1240"/>
                        <a:pt x="316" y="1240"/>
                      </a:cubicBezTo>
                      <a:cubicBezTo>
                        <a:pt x="338" y="1243"/>
                        <a:pt x="356" y="1259"/>
                        <a:pt x="363" y="1281"/>
                      </a:cubicBezTo>
                      <a:cubicBezTo>
                        <a:pt x="378" y="1337"/>
                        <a:pt x="401" y="1391"/>
                        <a:pt x="430" y="1442"/>
                      </a:cubicBezTo>
                      <a:cubicBezTo>
                        <a:pt x="442" y="1464"/>
                        <a:pt x="438" y="1490"/>
                        <a:pt x="422" y="1508"/>
                      </a:cubicBezTo>
                      <a:cubicBezTo>
                        <a:pt x="323" y="1645"/>
                        <a:pt x="323" y="1645"/>
                        <a:pt x="323" y="1645"/>
                      </a:cubicBezTo>
                      <a:cubicBezTo>
                        <a:pt x="356" y="1689"/>
                        <a:pt x="424" y="1770"/>
                        <a:pt x="510" y="1834"/>
                      </a:cubicBezTo>
                      <a:cubicBezTo>
                        <a:pt x="650" y="1735"/>
                        <a:pt x="650" y="1735"/>
                        <a:pt x="650" y="1735"/>
                      </a:cubicBezTo>
                      <a:cubicBezTo>
                        <a:pt x="667" y="1719"/>
                        <a:pt x="694" y="1716"/>
                        <a:pt x="715" y="1728"/>
                      </a:cubicBezTo>
                      <a:cubicBezTo>
                        <a:pt x="766" y="1757"/>
                        <a:pt x="821" y="1779"/>
                        <a:pt x="877" y="1795"/>
                      </a:cubicBezTo>
                      <a:cubicBezTo>
                        <a:pt x="899" y="1801"/>
                        <a:pt x="915" y="1820"/>
                        <a:pt x="917" y="1843"/>
                      </a:cubicBezTo>
                      <a:lnTo>
                        <a:pt x="945" y="2014"/>
                      </a:lnTo>
                      <a:close/>
                      <a:moveTo>
                        <a:pt x="2063" y="1261"/>
                      </a:moveTo>
                      <a:cubicBezTo>
                        <a:pt x="2063" y="1261"/>
                        <a:pt x="2063" y="1261"/>
                        <a:pt x="2063" y="1261"/>
                      </a:cubicBezTo>
                      <a:close/>
                      <a:moveTo>
                        <a:pt x="2063" y="1261"/>
                      </a:moveTo>
                      <a:cubicBezTo>
                        <a:pt x="2063" y="1261"/>
                        <a:pt x="2063" y="1261"/>
                        <a:pt x="2063" y="126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endParaRPr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3" name="Google Shape;1612;p45">
                  <a:extLst>
                    <a:ext uri="{FF2B5EF4-FFF2-40B4-BE49-F238E27FC236}">
                      <a16:creationId xmlns:a16="http://schemas.microsoft.com/office/drawing/2014/main" id="{54987010-4CCD-EA5D-DD07-F56DD207FAE0}"/>
                    </a:ext>
                  </a:extLst>
                </p:cNvPr>
                <p:cNvSpPr/>
                <p:nvPr/>
              </p:nvSpPr>
              <p:spPr>
                <a:xfrm>
                  <a:off x="10045700" y="7381876"/>
                  <a:ext cx="893764" cy="8937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" h="884" extrusionOk="0">
                      <a:moveTo>
                        <a:pt x="442" y="884"/>
                      </a:moveTo>
                      <a:cubicBezTo>
                        <a:pt x="198" y="884"/>
                        <a:pt x="0" y="685"/>
                        <a:pt x="0" y="442"/>
                      </a:cubicBezTo>
                      <a:cubicBezTo>
                        <a:pt x="0" y="198"/>
                        <a:pt x="198" y="0"/>
                        <a:pt x="442" y="0"/>
                      </a:cubicBezTo>
                      <a:cubicBezTo>
                        <a:pt x="685" y="0"/>
                        <a:pt x="884" y="198"/>
                        <a:pt x="884" y="442"/>
                      </a:cubicBezTo>
                      <a:cubicBezTo>
                        <a:pt x="884" y="685"/>
                        <a:pt x="685" y="884"/>
                        <a:pt x="442" y="884"/>
                      </a:cubicBezTo>
                      <a:close/>
                      <a:moveTo>
                        <a:pt x="442" y="84"/>
                      </a:moveTo>
                      <a:cubicBezTo>
                        <a:pt x="244" y="84"/>
                        <a:pt x="84" y="244"/>
                        <a:pt x="84" y="442"/>
                      </a:cubicBezTo>
                      <a:cubicBezTo>
                        <a:pt x="84" y="639"/>
                        <a:pt x="244" y="800"/>
                        <a:pt x="442" y="800"/>
                      </a:cubicBezTo>
                      <a:cubicBezTo>
                        <a:pt x="639" y="800"/>
                        <a:pt x="800" y="639"/>
                        <a:pt x="800" y="442"/>
                      </a:cubicBezTo>
                      <a:cubicBezTo>
                        <a:pt x="800" y="244"/>
                        <a:pt x="639" y="84"/>
                        <a:pt x="442" y="8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endParaRPr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  <p:grpSp>
        <p:nvGrpSpPr>
          <p:cNvPr id="34" name="Google Shape;1613;p45">
            <a:extLst>
              <a:ext uri="{FF2B5EF4-FFF2-40B4-BE49-F238E27FC236}">
                <a16:creationId xmlns:a16="http://schemas.microsoft.com/office/drawing/2014/main" id="{9DB949E9-7CBA-2E4B-FB1A-7148C7DA0F7A}"/>
              </a:ext>
            </a:extLst>
          </p:cNvPr>
          <p:cNvGrpSpPr/>
          <p:nvPr/>
        </p:nvGrpSpPr>
        <p:grpSpPr>
          <a:xfrm>
            <a:off x="1995930" y="5081076"/>
            <a:ext cx="2032151" cy="1368747"/>
            <a:chOff x="2234069" y="4216406"/>
            <a:chExt cx="2235366" cy="1505622"/>
          </a:xfrm>
        </p:grpSpPr>
        <p:sp>
          <p:nvSpPr>
            <p:cNvPr id="35" name="Google Shape;1614;p45">
              <a:extLst>
                <a:ext uri="{FF2B5EF4-FFF2-40B4-BE49-F238E27FC236}">
                  <a16:creationId xmlns:a16="http://schemas.microsoft.com/office/drawing/2014/main" id="{43FA4E21-309B-80CB-C947-075CDE576803}"/>
                </a:ext>
              </a:extLst>
            </p:cNvPr>
            <p:cNvSpPr txBox="1"/>
            <p:nvPr/>
          </p:nvSpPr>
          <p:spPr>
            <a:xfrm>
              <a:off x="2234069" y="4216406"/>
              <a:ext cx="2235366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4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Code commit initiates the CI/CD pipeline</a:t>
              </a:r>
              <a:endParaRPr sz="1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6" name="Google Shape;1615;p45">
              <a:extLst>
                <a:ext uri="{FF2B5EF4-FFF2-40B4-BE49-F238E27FC236}">
                  <a16:creationId xmlns:a16="http://schemas.microsoft.com/office/drawing/2014/main" id="{7E52D53E-C901-E356-0417-488A9BAF8BBD}"/>
                </a:ext>
              </a:extLst>
            </p:cNvPr>
            <p:cNvCxnSpPr/>
            <p:nvPr/>
          </p:nvCxnSpPr>
          <p:spPr>
            <a:xfrm rot="10800000">
              <a:off x="3298813" y="4880228"/>
              <a:ext cx="0" cy="8418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</p:grpSp>
      <p:grpSp>
        <p:nvGrpSpPr>
          <p:cNvPr id="37" name="Google Shape;1616;p45">
            <a:extLst>
              <a:ext uri="{FF2B5EF4-FFF2-40B4-BE49-F238E27FC236}">
                <a16:creationId xmlns:a16="http://schemas.microsoft.com/office/drawing/2014/main" id="{18B2D8C6-4457-C357-8B66-AEBA966BF082}"/>
              </a:ext>
            </a:extLst>
          </p:cNvPr>
          <p:cNvGrpSpPr/>
          <p:nvPr/>
        </p:nvGrpSpPr>
        <p:grpSpPr>
          <a:xfrm>
            <a:off x="5750132" y="5402699"/>
            <a:ext cx="669545" cy="1107165"/>
            <a:chOff x="5734942" y="4480508"/>
            <a:chExt cx="736500" cy="1217882"/>
          </a:xfrm>
        </p:grpSpPr>
        <p:sp>
          <p:nvSpPr>
            <p:cNvPr id="38" name="Google Shape;1617;p45">
              <a:extLst>
                <a:ext uri="{FF2B5EF4-FFF2-40B4-BE49-F238E27FC236}">
                  <a16:creationId xmlns:a16="http://schemas.microsoft.com/office/drawing/2014/main" id="{4115428B-4B74-9DB5-95FD-6DFD06AC4846}"/>
                </a:ext>
              </a:extLst>
            </p:cNvPr>
            <p:cNvSpPr txBox="1"/>
            <p:nvPr/>
          </p:nvSpPr>
          <p:spPr>
            <a:xfrm>
              <a:off x="5734942" y="4480508"/>
              <a:ext cx="73650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Push</a:t>
              </a:r>
              <a:endParaRPr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9" name="Google Shape;1618;p45">
              <a:extLst>
                <a:ext uri="{FF2B5EF4-FFF2-40B4-BE49-F238E27FC236}">
                  <a16:creationId xmlns:a16="http://schemas.microsoft.com/office/drawing/2014/main" id="{ACEBFFEC-A5D3-CE45-297F-DA9AB5E679EB}"/>
                </a:ext>
              </a:extLst>
            </p:cNvPr>
            <p:cNvCxnSpPr/>
            <p:nvPr/>
          </p:nvCxnSpPr>
          <p:spPr>
            <a:xfrm rot="10800000">
              <a:off x="6096000" y="4856590"/>
              <a:ext cx="0" cy="8418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</p:grpSp>
      <p:grpSp>
        <p:nvGrpSpPr>
          <p:cNvPr id="40" name="Google Shape;1619;p45">
            <a:extLst>
              <a:ext uri="{FF2B5EF4-FFF2-40B4-BE49-F238E27FC236}">
                <a16:creationId xmlns:a16="http://schemas.microsoft.com/office/drawing/2014/main" id="{CB22BB81-D059-7969-6E88-CBF1DF829B8F}"/>
              </a:ext>
            </a:extLst>
          </p:cNvPr>
          <p:cNvGrpSpPr/>
          <p:nvPr/>
        </p:nvGrpSpPr>
        <p:grpSpPr>
          <a:xfrm>
            <a:off x="8416230" y="5456474"/>
            <a:ext cx="669545" cy="1081711"/>
            <a:chOff x="8408560" y="4508507"/>
            <a:chExt cx="736500" cy="1189882"/>
          </a:xfrm>
        </p:grpSpPr>
        <p:sp>
          <p:nvSpPr>
            <p:cNvPr id="41" name="Google Shape;1620;p45">
              <a:extLst>
                <a:ext uri="{FF2B5EF4-FFF2-40B4-BE49-F238E27FC236}">
                  <a16:creationId xmlns:a16="http://schemas.microsoft.com/office/drawing/2014/main" id="{DB82F514-BBF8-62C5-D8E8-A6C3CB3F8E4D}"/>
                </a:ext>
              </a:extLst>
            </p:cNvPr>
            <p:cNvSpPr txBox="1"/>
            <p:nvPr/>
          </p:nvSpPr>
          <p:spPr>
            <a:xfrm>
              <a:off x="8408560" y="4508507"/>
              <a:ext cx="73650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Pull</a:t>
              </a:r>
              <a:endParaRPr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42" name="Google Shape;1621;p45">
              <a:extLst>
                <a:ext uri="{FF2B5EF4-FFF2-40B4-BE49-F238E27FC236}">
                  <a16:creationId xmlns:a16="http://schemas.microsoft.com/office/drawing/2014/main" id="{2997BCB8-44C4-BA8A-24C8-2EA6D7FA60BE}"/>
                </a:ext>
              </a:extLst>
            </p:cNvPr>
            <p:cNvCxnSpPr/>
            <p:nvPr/>
          </p:nvCxnSpPr>
          <p:spPr>
            <a:xfrm rot="10800000">
              <a:off x="8784806" y="4856589"/>
              <a:ext cx="0" cy="8418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</p:grpSp>
    </p:spTree>
    <p:extLst>
      <p:ext uri="{BB962C8B-B14F-4D97-AF65-F5344CB8AC3E}">
        <p14:creationId xmlns:p14="http://schemas.microsoft.com/office/powerpoint/2010/main" val="98714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626;p46">
            <a:extLst>
              <a:ext uri="{FF2B5EF4-FFF2-40B4-BE49-F238E27FC236}">
                <a16:creationId xmlns:a16="http://schemas.microsoft.com/office/drawing/2014/main" id="{F04D0A44-FEAD-20AE-0BA0-E04AD97981CE}"/>
              </a:ext>
            </a:extLst>
          </p:cNvPr>
          <p:cNvSpPr txBox="1"/>
          <p:nvPr/>
        </p:nvSpPr>
        <p:spPr>
          <a:xfrm>
            <a:off x="1698518" y="1324245"/>
            <a:ext cx="7990182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PUSH/PULL DOCKER IMAGE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1627;p46">
            <a:extLst>
              <a:ext uri="{FF2B5EF4-FFF2-40B4-BE49-F238E27FC236}">
                <a16:creationId xmlns:a16="http://schemas.microsoft.com/office/drawing/2014/main" id="{CFD7B087-E2ED-9D88-A2A3-4EDF37722119}"/>
              </a:ext>
            </a:extLst>
          </p:cNvPr>
          <p:cNvGrpSpPr/>
          <p:nvPr/>
        </p:nvGrpSpPr>
        <p:grpSpPr>
          <a:xfrm>
            <a:off x="1491093" y="2286116"/>
            <a:ext cx="9050881" cy="4315148"/>
            <a:chOff x="1372244" y="1218738"/>
            <a:chExt cx="9955969" cy="4746663"/>
          </a:xfrm>
        </p:grpSpPr>
        <p:sp>
          <p:nvSpPr>
            <p:cNvPr id="11" name="Google Shape;1628;p46">
              <a:extLst>
                <a:ext uri="{FF2B5EF4-FFF2-40B4-BE49-F238E27FC236}">
                  <a16:creationId xmlns:a16="http://schemas.microsoft.com/office/drawing/2014/main" id="{05AF8977-E6CB-7A1E-227A-76575404C47E}"/>
                </a:ext>
              </a:extLst>
            </p:cNvPr>
            <p:cNvSpPr txBox="1"/>
            <p:nvPr/>
          </p:nvSpPr>
          <p:spPr>
            <a:xfrm>
              <a:off x="10553897" y="3257527"/>
              <a:ext cx="559303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1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Pull</a:t>
              </a:r>
              <a:endParaRPr sz="1600" b="0" i="1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2" name="Google Shape;1629;p46">
              <a:extLst>
                <a:ext uri="{FF2B5EF4-FFF2-40B4-BE49-F238E27FC236}">
                  <a16:creationId xmlns:a16="http://schemas.microsoft.com/office/drawing/2014/main" id="{147A9B42-AB2F-18A3-B207-4A80C7DFBF80}"/>
                </a:ext>
              </a:extLst>
            </p:cNvPr>
            <p:cNvGrpSpPr/>
            <p:nvPr/>
          </p:nvGrpSpPr>
          <p:grpSpPr>
            <a:xfrm>
              <a:off x="1372244" y="1218738"/>
              <a:ext cx="9955969" cy="4746663"/>
              <a:chOff x="934305" y="1218738"/>
              <a:chExt cx="9955969" cy="4746662"/>
            </a:xfrm>
          </p:grpSpPr>
          <p:sp>
            <p:nvSpPr>
              <p:cNvPr id="13" name="Google Shape;1630;p46">
                <a:extLst>
                  <a:ext uri="{FF2B5EF4-FFF2-40B4-BE49-F238E27FC236}">
                    <a16:creationId xmlns:a16="http://schemas.microsoft.com/office/drawing/2014/main" id="{D2FA0895-1AD6-5F22-E9A1-8F3B5AB282ED}"/>
                  </a:ext>
                </a:extLst>
              </p:cNvPr>
              <p:cNvSpPr txBox="1"/>
              <p:nvPr/>
            </p:nvSpPr>
            <p:spPr>
              <a:xfrm>
                <a:off x="10122721" y="3631140"/>
                <a:ext cx="767553" cy="3385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" sz="1600" b="0" i="1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Run</a:t>
                </a:r>
                <a:endParaRPr sz="1600" b="0" i="1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" name="Google Shape;1631;p46">
                <a:extLst>
                  <a:ext uri="{FF2B5EF4-FFF2-40B4-BE49-F238E27FC236}">
                    <a16:creationId xmlns:a16="http://schemas.microsoft.com/office/drawing/2014/main" id="{CF7651D3-B93C-F187-9C27-CE643A166573}"/>
                  </a:ext>
                </a:extLst>
              </p:cNvPr>
              <p:cNvCxnSpPr/>
              <p:nvPr/>
            </p:nvCxnSpPr>
            <p:spPr>
              <a:xfrm rot="10800000" flipH="1">
                <a:off x="2139998" y="4130689"/>
                <a:ext cx="1971900" cy="204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15" name="Google Shape;1632;p46">
                <a:extLst>
                  <a:ext uri="{FF2B5EF4-FFF2-40B4-BE49-F238E27FC236}">
                    <a16:creationId xmlns:a16="http://schemas.microsoft.com/office/drawing/2014/main" id="{529126AE-21E1-C986-3936-DB6A647E320A}"/>
                  </a:ext>
                </a:extLst>
              </p:cNvPr>
              <p:cNvGrpSpPr/>
              <p:nvPr/>
            </p:nvGrpSpPr>
            <p:grpSpPr>
              <a:xfrm>
                <a:off x="934305" y="3537970"/>
                <a:ext cx="1176600" cy="2098200"/>
                <a:chOff x="934305" y="3537970"/>
                <a:chExt cx="1176600" cy="2098200"/>
              </a:xfrm>
            </p:grpSpPr>
            <p:sp>
              <p:nvSpPr>
                <p:cNvPr id="40" name="Google Shape;1633;p46">
                  <a:extLst>
                    <a:ext uri="{FF2B5EF4-FFF2-40B4-BE49-F238E27FC236}">
                      <a16:creationId xmlns:a16="http://schemas.microsoft.com/office/drawing/2014/main" id="{FC607A49-CE34-E442-C70C-93ED55648B32}"/>
                    </a:ext>
                  </a:extLst>
                </p:cNvPr>
                <p:cNvSpPr/>
                <p:nvPr/>
              </p:nvSpPr>
              <p:spPr>
                <a:xfrm>
                  <a:off x="934305" y="3537970"/>
                  <a:ext cx="1176600" cy="2098200"/>
                </a:xfrm>
                <a:prstGeom prst="can">
                  <a:avLst>
                    <a:gd name="adj" fmla="val 25000"/>
                  </a:avLst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endParaRPr sz="1400" b="0" i="0" u="none" strike="noStrike" cap="none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endParaRPr sz="1400" b="0" i="0" u="none" strike="noStrike" cap="none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endParaRPr sz="1400" b="0" i="0" u="none" strike="noStrike" cap="none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endParaRPr sz="1400" b="0" i="0" u="none" strike="noStrike" cap="none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lang="en" sz="1400" b="0" i="0" u="none" strike="noStrike" cap="none" dirty="0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Source Code Repository</a:t>
                  </a:r>
                  <a:endParaRPr sz="1400" b="0" i="0" u="none" strike="noStrike" cap="none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1" name="Google Shape;1634;p46">
                  <a:extLst>
                    <a:ext uri="{FF2B5EF4-FFF2-40B4-BE49-F238E27FC236}">
                      <a16:creationId xmlns:a16="http://schemas.microsoft.com/office/drawing/2014/main" id="{EB38A733-1940-3D7F-214B-5ACCF00DE9B5}"/>
                    </a:ext>
                  </a:extLst>
                </p:cNvPr>
                <p:cNvSpPr/>
                <p:nvPr/>
              </p:nvSpPr>
              <p:spPr>
                <a:xfrm>
                  <a:off x="1074427" y="3899541"/>
                  <a:ext cx="925452" cy="823068"/>
                </a:xfrm>
                <a:prstGeom prst="flowChartDocument">
                  <a:avLst/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lang="en" sz="1400" b="1" i="0" u="none" strike="noStrike" cap="none" dirty="0">
                      <a:solidFill>
                        <a:schemeClr val="dk2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Docker</a:t>
                  </a:r>
                  <a:br>
                    <a:rPr lang="en" sz="1400" b="1" i="0" u="none" strike="noStrike" cap="none" dirty="0">
                      <a:solidFill>
                        <a:schemeClr val="dk2"/>
                      </a:solidFill>
                      <a:latin typeface="Lato"/>
                      <a:ea typeface="Lato"/>
                      <a:cs typeface="Lato"/>
                      <a:sym typeface="Lato"/>
                    </a:rPr>
                  </a:br>
                  <a:r>
                    <a:rPr lang="en" sz="1400" b="1" i="0" u="none" strike="noStrike" cap="none" dirty="0">
                      <a:solidFill>
                        <a:schemeClr val="dk2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file</a:t>
                  </a:r>
                  <a:endParaRPr sz="1400" b="1" i="0" u="none" strike="noStrike" cap="none" dirty="0">
                    <a:solidFill>
                      <a:schemeClr val="dk2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6" name="Google Shape;1635;p46">
                <a:extLst>
                  <a:ext uri="{FF2B5EF4-FFF2-40B4-BE49-F238E27FC236}">
                    <a16:creationId xmlns:a16="http://schemas.microsoft.com/office/drawing/2014/main" id="{908FAEBA-1B00-4F46-B681-191D8DCF3442}"/>
                  </a:ext>
                </a:extLst>
              </p:cNvPr>
              <p:cNvSpPr/>
              <p:nvPr/>
            </p:nvSpPr>
            <p:spPr>
              <a:xfrm>
                <a:off x="3397672" y="5143565"/>
                <a:ext cx="2159400" cy="333300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" sz="1400" b="0" i="0" u="none" strike="noStrike" cap="none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Docker Engine</a:t>
                </a:r>
                <a:endParaRPr sz="14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7" name="Google Shape;1636;p46">
                <a:extLst>
                  <a:ext uri="{FF2B5EF4-FFF2-40B4-BE49-F238E27FC236}">
                    <a16:creationId xmlns:a16="http://schemas.microsoft.com/office/drawing/2014/main" id="{2F465316-93E0-1CDE-A7AE-D650F3782A89}"/>
                  </a:ext>
                </a:extLst>
              </p:cNvPr>
              <p:cNvCxnSpPr/>
              <p:nvPr/>
            </p:nvCxnSpPr>
            <p:spPr>
              <a:xfrm>
                <a:off x="4101979" y="3453568"/>
                <a:ext cx="0" cy="970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triangle" w="lg" len="lg"/>
                <a:tailEnd type="none" w="sm" len="sm"/>
              </a:ln>
            </p:spPr>
          </p:cxnSp>
          <p:sp>
            <p:nvSpPr>
              <p:cNvPr id="18" name="Google Shape;1637;p46">
                <a:extLst>
                  <a:ext uri="{FF2B5EF4-FFF2-40B4-BE49-F238E27FC236}">
                    <a16:creationId xmlns:a16="http://schemas.microsoft.com/office/drawing/2014/main" id="{51A90E73-DF68-B40B-DE9D-AF18016B7331}"/>
                  </a:ext>
                </a:extLst>
              </p:cNvPr>
              <p:cNvSpPr txBox="1"/>
              <p:nvPr/>
            </p:nvSpPr>
            <p:spPr>
              <a:xfrm>
                <a:off x="2730986" y="3697860"/>
                <a:ext cx="734700" cy="3385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" sz="1600" b="0" i="1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Build</a:t>
                </a:r>
                <a:endParaRPr sz="1600" b="0" i="1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9" name="Google Shape;1638;p46">
                <a:extLst>
                  <a:ext uri="{FF2B5EF4-FFF2-40B4-BE49-F238E27FC236}">
                    <a16:creationId xmlns:a16="http://schemas.microsoft.com/office/drawing/2014/main" id="{93E77C7E-E9D6-7CEC-B1CA-1B9F71B49CB1}"/>
                  </a:ext>
                </a:extLst>
              </p:cNvPr>
              <p:cNvGrpSpPr/>
              <p:nvPr/>
            </p:nvGrpSpPr>
            <p:grpSpPr>
              <a:xfrm>
                <a:off x="7642964" y="4317323"/>
                <a:ext cx="2623255" cy="1606172"/>
                <a:chOff x="7642964" y="4317323"/>
                <a:chExt cx="2623255" cy="1606172"/>
              </a:xfrm>
            </p:grpSpPr>
            <p:sp>
              <p:nvSpPr>
                <p:cNvPr id="32" name="Google Shape;1639;p46">
                  <a:extLst>
                    <a:ext uri="{FF2B5EF4-FFF2-40B4-BE49-F238E27FC236}">
                      <a16:creationId xmlns:a16="http://schemas.microsoft.com/office/drawing/2014/main" id="{8A3499C5-04EC-48EA-9E62-C5BFB1D15799}"/>
                    </a:ext>
                  </a:extLst>
                </p:cNvPr>
                <p:cNvSpPr/>
                <p:nvPr/>
              </p:nvSpPr>
              <p:spPr>
                <a:xfrm rot="5400000">
                  <a:off x="8871827" y="4847346"/>
                  <a:ext cx="1126926" cy="348076"/>
                </a:xfrm>
                <a:prstGeom prst="flowChartProcess">
                  <a:avLst/>
                </a:prstGeom>
                <a:noFill/>
                <a:ln w="2857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lang="en" sz="1400" b="0" i="0" u="none" strike="noStrike" cap="none" dirty="0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Docker </a:t>
                  </a:r>
                  <a:endParaRPr sz="1400" b="0" i="0" u="none" strike="noStrike" cap="none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3" name="Google Shape;1640;p46">
                  <a:extLst>
                    <a:ext uri="{FF2B5EF4-FFF2-40B4-BE49-F238E27FC236}">
                      <a16:creationId xmlns:a16="http://schemas.microsoft.com/office/drawing/2014/main" id="{F034E083-AD88-059E-B542-E9A863CCDD15}"/>
                    </a:ext>
                  </a:extLst>
                </p:cNvPr>
                <p:cNvSpPr/>
                <p:nvPr/>
              </p:nvSpPr>
              <p:spPr>
                <a:xfrm>
                  <a:off x="7642964" y="4330295"/>
                  <a:ext cx="431400" cy="1272900"/>
                </a:xfrm>
                <a:prstGeom prst="cube">
                  <a:avLst>
                    <a:gd name="adj" fmla="val 27120"/>
                  </a:avLst>
                </a:prstGeom>
                <a:noFill/>
                <a:ln w="2857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endParaRPr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4" name="Google Shape;1641;p46">
                  <a:extLst>
                    <a:ext uri="{FF2B5EF4-FFF2-40B4-BE49-F238E27FC236}">
                      <a16:creationId xmlns:a16="http://schemas.microsoft.com/office/drawing/2014/main" id="{3E6C7D1F-04C9-B48E-C5D1-13D3CD4A90AD}"/>
                    </a:ext>
                  </a:extLst>
                </p:cNvPr>
                <p:cNvSpPr txBox="1"/>
                <p:nvPr/>
              </p:nvSpPr>
              <p:spPr>
                <a:xfrm rot="5400000">
                  <a:off x="7114111" y="4859195"/>
                  <a:ext cx="1372200" cy="314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lang="en" sz="1400" b="0" i="0" u="none" strike="noStrike" cap="none" dirty="0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Container A</a:t>
                  </a:r>
                  <a:endParaRPr sz="1400" b="0" i="0" u="none" strike="noStrike" cap="none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5" name="Google Shape;1642;p46">
                  <a:extLst>
                    <a:ext uri="{FF2B5EF4-FFF2-40B4-BE49-F238E27FC236}">
                      <a16:creationId xmlns:a16="http://schemas.microsoft.com/office/drawing/2014/main" id="{1AEC2684-1392-7C68-2FB9-D266CAFB1764}"/>
                    </a:ext>
                  </a:extLst>
                </p:cNvPr>
                <p:cNvSpPr/>
                <p:nvPr/>
              </p:nvSpPr>
              <p:spPr>
                <a:xfrm>
                  <a:off x="8175142" y="4344166"/>
                  <a:ext cx="411300" cy="1259100"/>
                </a:xfrm>
                <a:prstGeom prst="cube">
                  <a:avLst>
                    <a:gd name="adj" fmla="val 25000"/>
                  </a:avLst>
                </a:prstGeom>
                <a:noFill/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endParaRPr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6" name="Google Shape;1643;p46">
                  <a:extLst>
                    <a:ext uri="{FF2B5EF4-FFF2-40B4-BE49-F238E27FC236}">
                      <a16:creationId xmlns:a16="http://schemas.microsoft.com/office/drawing/2014/main" id="{A486EB0C-DBBF-F5CC-4130-BD068E4E97B0}"/>
                    </a:ext>
                  </a:extLst>
                </p:cNvPr>
                <p:cNvSpPr txBox="1"/>
                <p:nvPr/>
              </p:nvSpPr>
              <p:spPr>
                <a:xfrm rot="5400000">
                  <a:off x="7651049" y="4841904"/>
                  <a:ext cx="1356600" cy="308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lang="en" sz="1400" b="0" i="0" u="none" strike="noStrike" cap="none" dirty="0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Container B</a:t>
                  </a:r>
                  <a:endParaRPr sz="1400" b="0" i="0" u="none" strike="noStrike" cap="none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7" name="Google Shape;1644;p46">
                  <a:extLst>
                    <a:ext uri="{FF2B5EF4-FFF2-40B4-BE49-F238E27FC236}">
                      <a16:creationId xmlns:a16="http://schemas.microsoft.com/office/drawing/2014/main" id="{F69610BA-511A-4974-3E85-8A9994DF47AB}"/>
                    </a:ext>
                  </a:extLst>
                </p:cNvPr>
                <p:cNvSpPr/>
                <p:nvPr/>
              </p:nvSpPr>
              <p:spPr>
                <a:xfrm>
                  <a:off x="8687047" y="4338506"/>
                  <a:ext cx="411300" cy="1264800"/>
                </a:xfrm>
                <a:prstGeom prst="cube">
                  <a:avLst>
                    <a:gd name="adj" fmla="val 25000"/>
                  </a:avLst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endParaRPr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8" name="Google Shape;1645;p46">
                  <a:extLst>
                    <a:ext uri="{FF2B5EF4-FFF2-40B4-BE49-F238E27FC236}">
                      <a16:creationId xmlns:a16="http://schemas.microsoft.com/office/drawing/2014/main" id="{CAD7954C-C31F-1D2E-71CA-C10550B160B0}"/>
                    </a:ext>
                  </a:extLst>
                </p:cNvPr>
                <p:cNvSpPr txBox="1"/>
                <p:nvPr/>
              </p:nvSpPr>
              <p:spPr>
                <a:xfrm rot="5400000">
                  <a:off x="8159635" y="4844723"/>
                  <a:ext cx="1363200" cy="308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lang="en" sz="1400" b="0" i="0" u="none" strike="noStrike" cap="none" dirty="0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Container C</a:t>
                  </a:r>
                  <a:endParaRPr sz="1400" b="0" i="0" u="none" strike="noStrike" cap="none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9" name="Google Shape;1646;p46">
                  <a:extLst>
                    <a:ext uri="{FF2B5EF4-FFF2-40B4-BE49-F238E27FC236}">
                      <a16:creationId xmlns:a16="http://schemas.microsoft.com/office/drawing/2014/main" id="{5A7CE29B-EB58-977F-2B1A-5C73C0ABF5B9}"/>
                    </a:ext>
                  </a:extLst>
                </p:cNvPr>
                <p:cNvSpPr/>
                <p:nvPr/>
              </p:nvSpPr>
              <p:spPr>
                <a:xfrm>
                  <a:off x="7642964" y="5608320"/>
                  <a:ext cx="2623255" cy="315175"/>
                </a:xfrm>
                <a:prstGeom prst="flowChartProcess">
                  <a:avLst/>
                </a:prstGeom>
                <a:noFill/>
                <a:ln w="2857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lang="en" sz="16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Host B</a:t>
                  </a:r>
                  <a:endParaRPr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20" name="Google Shape;1647;p46">
                <a:extLst>
                  <a:ext uri="{FF2B5EF4-FFF2-40B4-BE49-F238E27FC236}">
                    <a16:creationId xmlns:a16="http://schemas.microsoft.com/office/drawing/2014/main" id="{4EB137C2-AEE1-8B56-B4D2-BE3FB17BD955}"/>
                  </a:ext>
                </a:extLst>
              </p:cNvPr>
              <p:cNvSpPr/>
              <p:nvPr/>
            </p:nvSpPr>
            <p:spPr>
              <a:xfrm>
                <a:off x="3841015" y="1358815"/>
                <a:ext cx="757800" cy="2048700"/>
              </a:xfrm>
              <a:prstGeom prst="cube">
                <a:avLst>
                  <a:gd name="adj" fmla="val 25000"/>
                </a:avLst>
              </a:prstGeom>
              <a:noFill/>
              <a:ln w="285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" name="Google Shape;1648;p46">
                <a:extLst>
                  <a:ext uri="{FF2B5EF4-FFF2-40B4-BE49-F238E27FC236}">
                    <a16:creationId xmlns:a16="http://schemas.microsoft.com/office/drawing/2014/main" id="{24F4120D-7718-E9A9-3D6D-221DEF61C81F}"/>
                  </a:ext>
                </a:extLst>
              </p:cNvPr>
              <p:cNvSpPr txBox="1"/>
              <p:nvPr/>
            </p:nvSpPr>
            <p:spPr>
              <a:xfrm rot="5400000">
                <a:off x="3125332" y="2219927"/>
                <a:ext cx="1959300" cy="5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" sz="1400" b="0" i="0" u="none" strike="noStrike" cap="none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Docker Image for Container A</a:t>
                </a:r>
                <a:endParaRPr sz="14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2" name="Google Shape;1649;p46">
                <a:extLst>
                  <a:ext uri="{FF2B5EF4-FFF2-40B4-BE49-F238E27FC236}">
                    <a16:creationId xmlns:a16="http://schemas.microsoft.com/office/drawing/2014/main" id="{7A295FC0-5F2E-E345-0834-0F6E26EC40AF}"/>
                  </a:ext>
                </a:extLst>
              </p:cNvPr>
              <p:cNvCxnSpPr/>
              <p:nvPr/>
            </p:nvCxnSpPr>
            <p:spPr>
              <a:xfrm rot="10800000">
                <a:off x="4599000" y="2307482"/>
                <a:ext cx="4659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triangle" w="lg" len="lg"/>
                <a:tailEnd type="none" w="sm" len="sm"/>
              </a:ln>
            </p:spPr>
          </p:cxnSp>
          <p:sp>
            <p:nvSpPr>
              <p:cNvPr id="23" name="Google Shape;1650;p46">
                <a:extLst>
                  <a:ext uri="{FF2B5EF4-FFF2-40B4-BE49-F238E27FC236}">
                    <a16:creationId xmlns:a16="http://schemas.microsoft.com/office/drawing/2014/main" id="{A857E4A9-3D10-9AD6-DB98-C2C330FA92F9}"/>
                  </a:ext>
                </a:extLst>
              </p:cNvPr>
              <p:cNvSpPr txBox="1"/>
              <p:nvPr/>
            </p:nvSpPr>
            <p:spPr>
              <a:xfrm>
                <a:off x="6465912" y="1759706"/>
                <a:ext cx="925500" cy="3385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" sz="1600" b="0" i="1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Push</a:t>
                </a:r>
                <a:endParaRPr sz="1600" b="0" i="1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4" name="Google Shape;1651;p46">
                <a:extLst>
                  <a:ext uri="{FF2B5EF4-FFF2-40B4-BE49-F238E27FC236}">
                    <a16:creationId xmlns:a16="http://schemas.microsoft.com/office/drawing/2014/main" id="{6608DD0E-6979-D03B-DE38-9D5562B53DBD}"/>
                  </a:ext>
                </a:extLst>
              </p:cNvPr>
              <p:cNvCxnSpPr/>
              <p:nvPr/>
            </p:nvCxnSpPr>
            <p:spPr>
              <a:xfrm>
                <a:off x="9786488" y="2981320"/>
                <a:ext cx="19500" cy="25956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triangle" w="lg" len="lg"/>
                <a:tailEnd type="none" w="sm" len="sm"/>
              </a:ln>
            </p:spPr>
          </p:cxnSp>
          <p:cxnSp>
            <p:nvCxnSpPr>
              <p:cNvPr id="25" name="Google Shape;1652;p46">
                <a:extLst>
                  <a:ext uri="{FF2B5EF4-FFF2-40B4-BE49-F238E27FC236}">
                    <a16:creationId xmlns:a16="http://schemas.microsoft.com/office/drawing/2014/main" id="{4745A7CB-E5E3-269E-215F-536025950340}"/>
                  </a:ext>
                </a:extLst>
              </p:cNvPr>
              <p:cNvCxnSpPr/>
              <p:nvPr/>
            </p:nvCxnSpPr>
            <p:spPr>
              <a:xfrm rot="10800000">
                <a:off x="10055962" y="2983566"/>
                <a:ext cx="12000" cy="2592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triangle" w="lg" len="lg"/>
                <a:tailEnd type="none" w="sm" len="sm"/>
              </a:ln>
            </p:spPr>
          </p:cxnSp>
          <p:sp>
            <p:nvSpPr>
              <p:cNvPr id="26" name="Google Shape;1653;p46">
                <a:extLst>
                  <a:ext uri="{FF2B5EF4-FFF2-40B4-BE49-F238E27FC236}">
                    <a16:creationId xmlns:a16="http://schemas.microsoft.com/office/drawing/2014/main" id="{EDE6D83B-8DB6-94D5-693D-D41D20C7213E}"/>
                  </a:ext>
                </a:extLst>
              </p:cNvPr>
              <p:cNvSpPr txBox="1"/>
              <p:nvPr/>
            </p:nvSpPr>
            <p:spPr>
              <a:xfrm>
                <a:off x="8586362" y="3161318"/>
                <a:ext cx="1048200" cy="3385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" sz="1600" b="0" i="1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Search</a:t>
                </a:r>
                <a:endParaRPr sz="1600" b="0" i="1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" name="Google Shape;1654;p46">
                <a:extLst>
                  <a:ext uri="{FF2B5EF4-FFF2-40B4-BE49-F238E27FC236}">
                    <a16:creationId xmlns:a16="http://schemas.microsoft.com/office/drawing/2014/main" id="{32875E11-54A7-DFC1-0373-180E8D551781}"/>
                  </a:ext>
                </a:extLst>
              </p:cNvPr>
              <p:cNvSpPr/>
              <p:nvPr/>
            </p:nvSpPr>
            <p:spPr>
              <a:xfrm>
                <a:off x="3397672" y="5548400"/>
                <a:ext cx="2159400" cy="417000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" sz="1400" b="0" i="0" u="none" strike="noStrike" cap="none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Host A  </a:t>
                </a:r>
                <a:endParaRPr sz="14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" name="Google Shape;1655;p46">
                <a:extLst>
                  <a:ext uri="{FF2B5EF4-FFF2-40B4-BE49-F238E27FC236}">
                    <a16:creationId xmlns:a16="http://schemas.microsoft.com/office/drawing/2014/main" id="{AEE2210C-5336-53EE-10AC-491727A28E15}"/>
                  </a:ext>
                </a:extLst>
              </p:cNvPr>
              <p:cNvSpPr/>
              <p:nvPr/>
            </p:nvSpPr>
            <p:spPr>
              <a:xfrm>
                <a:off x="9261252" y="1218738"/>
                <a:ext cx="1145400" cy="1764300"/>
              </a:xfrm>
              <a:prstGeom prst="can">
                <a:avLst>
                  <a:gd name="adj" fmla="val 25000"/>
                </a:avLst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" sz="1400" b="0" i="0" u="none" strike="noStrike" cap="none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Docker</a:t>
                </a:r>
                <a:endParaRPr sz="14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" sz="1400" b="0" i="0" u="none" strike="noStrike" cap="none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Container</a:t>
                </a:r>
                <a:endParaRPr sz="14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" sz="1400" b="0" i="0" u="none" strike="noStrike" cap="none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Image Registry</a:t>
                </a:r>
                <a:endParaRPr sz="14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" name="Google Shape;1656;p46">
                <a:extLst>
                  <a:ext uri="{FF2B5EF4-FFF2-40B4-BE49-F238E27FC236}">
                    <a16:creationId xmlns:a16="http://schemas.microsoft.com/office/drawing/2014/main" id="{DFB5ADA5-AF66-3661-EA0C-92BEC788699A}"/>
                  </a:ext>
                </a:extLst>
              </p:cNvPr>
              <p:cNvSpPr/>
              <p:nvPr/>
            </p:nvSpPr>
            <p:spPr>
              <a:xfrm>
                <a:off x="3397672" y="4424354"/>
                <a:ext cx="2159400" cy="647700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" sz="1400" b="0" i="0" u="none" strike="noStrike" cap="none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Continuous Integration Process </a:t>
                </a:r>
                <a:endParaRPr sz="14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" name="Google Shape;1657;p46">
                <a:extLst>
                  <a:ext uri="{FF2B5EF4-FFF2-40B4-BE49-F238E27FC236}">
                    <a16:creationId xmlns:a16="http://schemas.microsoft.com/office/drawing/2014/main" id="{7557DD6C-1FC5-9860-5BC4-FEE52669D6DC}"/>
                  </a:ext>
                </a:extLst>
              </p:cNvPr>
              <p:cNvSpPr/>
              <p:nvPr/>
            </p:nvSpPr>
            <p:spPr>
              <a:xfrm>
                <a:off x="5688652" y="4514376"/>
                <a:ext cx="365400" cy="1326000"/>
              </a:xfrm>
              <a:prstGeom prst="rightBrace">
                <a:avLst>
                  <a:gd name="adj1" fmla="val 8333"/>
                  <a:gd name="adj2" fmla="val 50000"/>
                </a:avLst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endParaRPr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" name="Google Shape;1658;p46">
                <a:extLst>
                  <a:ext uri="{FF2B5EF4-FFF2-40B4-BE49-F238E27FC236}">
                    <a16:creationId xmlns:a16="http://schemas.microsoft.com/office/drawing/2014/main" id="{D179EB31-B7E4-0A45-0551-95CF4B01FE66}"/>
                  </a:ext>
                </a:extLst>
              </p:cNvPr>
              <p:cNvSpPr txBox="1"/>
              <p:nvPr/>
            </p:nvSpPr>
            <p:spPr>
              <a:xfrm>
                <a:off x="6120388" y="4582974"/>
                <a:ext cx="1522576" cy="10771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Build </a:t>
                </a:r>
                <a:r>
                  <a:rPr lang="en" sz="1600">
                    <a:highlight>
                      <a:srgbClr val="00FF00"/>
                    </a:highlight>
                    <a:latin typeface="Lato"/>
                    <a:ea typeface="Lato"/>
                    <a:cs typeface="Lato"/>
                    <a:sym typeface="Lato"/>
                  </a:rPr>
                  <a:t>s</a:t>
                </a:r>
                <a:r>
                  <a:rPr lang="en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erver running </a:t>
                </a:r>
                <a:br>
                  <a:rPr lang="en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</a:br>
                <a:r>
                  <a:rPr lang="en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CI/CD </a:t>
                </a:r>
                <a:br>
                  <a:rPr lang="en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</a:br>
                <a:r>
                  <a:rPr lang="en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pipeline</a:t>
                </a: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42" name="Google Shape;1659;p46">
            <a:extLst>
              <a:ext uri="{FF2B5EF4-FFF2-40B4-BE49-F238E27FC236}">
                <a16:creationId xmlns:a16="http://schemas.microsoft.com/office/drawing/2014/main" id="{80D5E425-4A49-FE6C-D805-7903A08ADFBA}"/>
              </a:ext>
            </a:extLst>
          </p:cNvPr>
          <p:cNvSpPr/>
          <p:nvPr/>
        </p:nvSpPr>
        <p:spPr>
          <a:xfrm>
            <a:off x="989053" y="1828790"/>
            <a:ext cx="9659455" cy="4970455"/>
          </a:xfrm>
          <a:prstGeom prst="roundRect">
            <a:avLst>
              <a:gd name="adj" fmla="val 4774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323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664;p47">
            <a:extLst>
              <a:ext uri="{FF2B5EF4-FFF2-40B4-BE49-F238E27FC236}">
                <a16:creationId xmlns:a16="http://schemas.microsoft.com/office/drawing/2014/main" id="{62C86E98-F31E-253E-7371-ED60774832F5}"/>
              </a:ext>
            </a:extLst>
          </p:cNvPr>
          <p:cNvSpPr txBox="1"/>
          <p:nvPr/>
        </p:nvSpPr>
        <p:spPr>
          <a:xfrm>
            <a:off x="2414400" y="1303172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DOCKER REGISTRY COMMANDS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665;p47">
            <a:extLst>
              <a:ext uri="{FF2B5EF4-FFF2-40B4-BE49-F238E27FC236}">
                <a16:creationId xmlns:a16="http://schemas.microsoft.com/office/drawing/2014/main" id="{A8420548-C59D-5E3B-4CE7-A283A9336284}"/>
              </a:ext>
            </a:extLst>
          </p:cNvPr>
          <p:cNvSpPr/>
          <p:nvPr/>
        </p:nvSpPr>
        <p:spPr>
          <a:xfrm>
            <a:off x="1808810" y="1916847"/>
            <a:ext cx="8574379" cy="4624142"/>
          </a:xfrm>
          <a:prstGeom prst="roundRect">
            <a:avLst>
              <a:gd name="adj" fmla="val 5452"/>
            </a:avLst>
          </a:prstGeom>
          <a:noFill/>
          <a:ln w="28575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login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This command enables you to log in to the 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ocker hub repository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pull &lt;image_name&gt;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This command is used to download a particular image from the Docker repository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push &lt;username/image name&gt;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This command enables us to push a local Docker image to a particular repository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search &lt;image&gt;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chemeClr val="lt2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This command enables us to search for Docker images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16504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4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4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670;p48">
            <a:extLst>
              <a:ext uri="{FF2B5EF4-FFF2-40B4-BE49-F238E27FC236}">
                <a16:creationId xmlns:a16="http://schemas.microsoft.com/office/drawing/2014/main" id="{3CC8FBFE-58B7-8272-533E-7D7096F371E2}"/>
              </a:ext>
            </a:extLst>
          </p:cNvPr>
          <p:cNvSpPr txBox="1"/>
          <p:nvPr/>
        </p:nvSpPr>
        <p:spPr>
          <a:xfrm>
            <a:off x="1206500" y="1262739"/>
            <a:ext cx="9779200" cy="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DEMO 4: DOCKER REGISTRY COMMANDS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671;p48">
            <a:extLst>
              <a:ext uri="{FF2B5EF4-FFF2-40B4-BE49-F238E27FC236}">
                <a16:creationId xmlns:a16="http://schemas.microsoft.com/office/drawing/2014/main" id="{32ADDF50-BB21-F4EE-8FA5-7A2FF7DCA9C4}"/>
              </a:ext>
            </a:extLst>
          </p:cNvPr>
          <p:cNvSpPr/>
          <p:nvPr/>
        </p:nvSpPr>
        <p:spPr>
          <a:xfrm>
            <a:off x="2704549" y="3074397"/>
            <a:ext cx="6782901" cy="2483141"/>
          </a:xfrm>
          <a:prstGeom prst="roundRect">
            <a:avLst>
              <a:gd name="adj" fmla="val 6547"/>
            </a:avLst>
          </a:prstGeom>
          <a:noFill/>
          <a:ln w="28575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9200" marR="0" lvl="0" indent="-349200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Set up a public 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ocker repository over Docker hub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Public vs private repository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login &lt;image_name&gt;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push &lt;image_name&gt;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pull &lt;image_name&gt;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4546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676;p49">
            <a:extLst>
              <a:ext uri="{FF2B5EF4-FFF2-40B4-BE49-F238E27FC236}">
                <a16:creationId xmlns:a16="http://schemas.microsoft.com/office/drawing/2014/main" id="{63C27A31-8906-A15B-D4DF-B83D72569311}"/>
              </a:ext>
            </a:extLst>
          </p:cNvPr>
          <p:cNvSpPr txBox="1"/>
          <p:nvPr/>
        </p:nvSpPr>
        <p:spPr>
          <a:xfrm>
            <a:off x="1510987" y="1365525"/>
            <a:ext cx="8789200" cy="3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IMAGE AS A TARBALL</a:t>
            </a:r>
            <a:endParaRPr sz="1467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677;p49">
            <a:extLst>
              <a:ext uri="{FF2B5EF4-FFF2-40B4-BE49-F238E27FC236}">
                <a16:creationId xmlns:a16="http://schemas.microsoft.com/office/drawing/2014/main" id="{F3A9ABFB-3899-A486-19D4-0CA058972AFE}"/>
              </a:ext>
            </a:extLst>
          </p:cNvPr>
          <p:cNvSpPr/>
          <p:nvPr/>
        </p:nvSpPr>
        <p:spPr>
          <a:xfrm>
            <a:off x="674512" y="2139026"/>
            <a:ext cx="10131200" cy="89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marL="349200" marR="0" lvl="0" indent="-349200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4"/>
                  </a:ext>
                </a:extLst>
              </a:rPr>
              <a:t>Apart from the Docker registry, 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images can be shared by creating a tarball</a:t>
            </a:r>
            <a:endParaRPr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dirty="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Docker image c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an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be shared in this manner if the Docker registry is not set up or is temporarily inaccessible to the deployment host</a:t>
            </a:r>
            <a:endParaRPr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1678;p49">
            <a:extLst>
              <a:ext uri="{FF2B5EF4-FFF2-40B4-BE49-F238E27FC236}">
                <a16:creationId xmlns:a16="http://schemas.microsoft.com/office/drawing/2014/main" id="{964635DB-2E0E-8B62-83C9-0061C9BB119E}"/>
              </a:ext>
            </a:extLst>
          </p:cNvPr>
          <p:cNvSpPr/>
          <p:nvPr/>
        </p:nvSpPr>
        <p:spPr>
          <a:xfrm>
            <a:off x="592887" y="2024216"/>
            <a:ext cx="10625401" cy="4623472"/>
          </a:xfrm>
          <a:prstGeom prst="roundRect">
            <a:avLst>
              <a:gd name="adj" fmla="val 4774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679;p49">
            <a:extLst>
              <a:ext uri="{FF2B5EF4-FFF2-40B4-BE49-F238E27FC236}">
                <a16:creationId xmlns:a16="http://schemas.microsoft.com/office/drawing/2014/main" id="{7846032B-F98F-0DC6-6B35-7A5DF3A3C43F}"/>
              </a:ext>
            </a:extLst>
          </p:cNvPr>
          <p:cNvSpPr/>
          <p:nvPr/>
        </p:nvSpPr>
        <p:spPr>
          <a:xfrm>
            <a:off x="5670725" y="5712501"/>
            <a:ext cx="1371600" cy="789813"/>
          </a:xfrm>
          <a:prstGeom prst="ellipse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Tarball</a:t>
            </a:r>
            <a:endParaRPr sz="16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Google Shape;1680;p49">
            <a:extLst>
              <a:ext uri="{FF2B5EF4-FFF2-40B4-BE49-F238E27FC236}">
                <a16:creationId xmlns:a16="http://schemas.microsoft.com/office/drawing/2014/main" id="{92620354-87FC-D884-D2DD-EC00729FC379}"/>
              </a:ext>
            </a:extLst>
          </p:cNvPr>
          <p:cNvSpPr/>
          <p:nvPr/>
        </p:nvSpPr>
        <p:spPr>
          <a:xfrm>
            <a:off x="9025137" y="5836820"/>
            <a:ext cx="1358000" cy="541247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0" i="0" u="none" strike="noStrike" cap="none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Docker image</a:t>
            </a:r>
            <a:endParaRPr sz="1600" b="0" i="0" u="none" strike="noStrike" cap="none" dirty="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" name="Google Shape;1681;p49">
            <a:extLst>
              <a:ext uri="{FF2B5EF4-FFF2-40B4-BE49-F238E27FC236}">
                <a16:creationId xmlns:a16="http://schemas.microsoft.com/office/drawing/2014/main" id="{7ED16C05-38EE-4750-9DA6-86076E5CBBD9}"/>
              </a:ext>
            </a:extLst>
          </p:cNvPr>
          <p:cNvCxnSpPr>
            <a:stCxn id="12" idx="6"/>
            <a:endCxn id="13" idx="1"/>
          </p:cNvCxnSpPr>
          <p:nvPr/>
        </p:nvCxnSpPr>
        <p:spPr>
          <a:xfrm>
            <a:off x="7042325" y="6107408"/>
            <a:ext cx="1982812" cy="36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triangle" w="lg" len="lg"/>
          </a:ln>
        </p:spPr>
      </p:cxnSp>
      <p:sp>
        <p:nvSpPr>
          <p:cNvPr id="15" name="Google Shape;1682;p49">
            <a:extLst>
              <a:ext uri="{FF2B5EF4-FFF2-40B4-BE49-F238E27FC236}">
                <a16:creationId xmlns:a16="http://schemas.microsoft.com/office/drawing/2014/main" id="{74552212-7531-8808-560D-6B3C2F620DBC}"/>
              </a:ext>
            </a:extLst>
          </p:cNvPr>
          <p:cNvSpPr txBox="1"/>
          <p:nvPr/>
        </p:nvSpPr>
        <p:spPr>
          <a:xfrm>
            <a:off x="1228019" y="5940990"/>
            <a:ext cx="34200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docker load –input </a:t>
            </a:r>
            <a:r>
              <a:rPr lang="en" sz="1600" b="1" i="0" u="none" strike="noStrike" cap="none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image.tar</a:t>
            </a:r>
            <a:endParaRPr sz="1600" b="1" i="0" u="none" strike="noStrike" cap="none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Google Shape;1683;p49">
            <a:extLst>
              <a:ext uri="{FF2B5EF4-FFF2-40B4-BE49-F238E27FC236}">
                <a16:creationId xmlns:a16="http://schemas.microsoft.com/office/drawing/2014/main" id="{E61389AB-6392-8C3C-6527-1F220A8AFD2A}"/>
              </a:ext>
            </a:extLst>
          </p:cNvPr>
          <p:cNvSpPr/>
          <p:nvPr/>
        </p:nvSpPr>
        <p:spPr>
          <a:xfrm>
            <a:off x="9018209" y="4136534"/>
            <a:ext cx="1371600" cy="789813"/>
          </a:xfrm>
          <a:prstGeom prst="ellipse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Tarball</a:t>
            </a:r>
            <a:endParaRPr sz="16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" name="Google Shape;1684;p49">
            <a:extLst>
              <a:ext uri="{FF2B5EF4-FFF2-40B4-BE49-F238E27FC236}">
                <a16:creationId xmlns:a16="http://schemas.microsoft.com/office/drawing/2014/main" id="{433D430D-F658-8D2D-A71A-89F2301A41C7}"/>
              </a:ext>
            </a:extLst>
          </p:cNvPr>
          <p:cNvSpPr/>
          <p:nvPr/>
        </p:nvSpPr>
        <p:spPr>
          <a:xfrm>
            <a:off x="5739997" y="4260853"/>
            <a:ext cx="1232800" cy="541247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0" i="0" u="none" strike="noStrike" cap="none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Docker imaage</a:t>
            </a:r>
            <a:endParaRPr sz="1600" b="0" i="0" u="none" strike="noStrike" cap="none" dirty="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" name="Google Shape;1685;p49">
            <a:extLst>
              <a:ext uri="{FF2B5EF4-FFF2-40B4-BE49-F238E27FC236}">
                <a16:creationId xmlns:a16="http://schemas.microsoft.com/office/drawing/2014/main" id="{DAE4B05E-BC54-FBC9-C636-4B67AB91A887}"/>
              </a:ext>
            </a:extLst>
          </p:cNvPr>
          <p:cNvCxnSpPr>
            <a:stCxn id="17" idx="3"/>
            <a:endCxn id="16" idx="2"/>
          </p:cNvCxnSpPr>
          <p:nvPr/>
        </p:nvCxnSpPr>
        <p:spPr>
          <a:xfrm flipV="1">
            <a:off x="6972797" y="4531441"/>
            <a:ext cx="2045412" cy="36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triangle" w="lg" len="lg"/>
          </a:ln>
        </p:spPr>
      </p:cxnSp>
      <p:sp>
        <p:nvSpPr>
          <p:cNvPr id="19" name="Google Shape;1686;p49">
            <a:extLst>
              <a:ext uri="{FF2B5EF4-FFF2-40B4-BE49-F238E27FC236}">
                <a16:creationId xmlns:a16="http://schemas.microsoft.com/office/drawing/2014/main" id="{EFD2BF71-204A-9EB6-FBE2-E6741899E53F}"/>
              </a:ext>
            </a:extLst>
          </p:cNvPr>
          <p:cNvSpPr txBox="1"/>
          <p:nvPr/>
        </p:nvSpPr>
        <p:spPr>
          <a:xfrm>
            <a:off x="1228019" y="4291279"/>
            <a:ext cx="3420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docker save –output </a:t>
            </a:r>
            <a:r>
              <a:rPr lang="en" sz="1600" b="1" i="0" u="none" strike="noStrike" cap="none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image.tar </a:t>
            </a:r>
            <a:r>
              <a:rPr lang="en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repository/application :latest</a:t>
            </a:r>
            <a:endParaRPr sz="16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0" name="Google Shape;1687;p49">
            <a:extLst>
              <a:ext uri="{FF2B5EF4-FFF2-40B4-BE49-F238E27FC236}">
                <a16:creationId xmlns:a16="http://schemas.microsoft.com/office/drawing/2014/main" id="{B5088633-24B5-9751-EAFA-0911445F47CA}"/>
              </a:ext>
            </a:extLst>
          </p:cNvPr>
          <p:cNvGrpSpPr/>
          <p:nvPr/>
        </p:nvGrpSpPr>
        <p:grpSpPr>
          <a:xfrm>
            <a:off x="1911419" y="3477475"/>
            <a:ext cx="2053200" cy="813804"/>
            <a:chOff x="2158307" y="2515633"/>
            <a:chExt cx="2053200" cy="1270141"/>
          </a:xfrm>
        </p:grpSpPr>
        <p:cxnSp>
          <p:nvCxnSpPr>
            <p:cNvPr id="21" name="Google Shape;1688;p49">
              <a:extLst>
                <a:ext uri="{FF2B5EF4-FFF2-40B4-BE49-F238E27FC236}">
                  <a16:creationId xmlns:a16="http://schemas.microsoft.com/office/drawing/2014/main" id="{E31C71AA-640A-0775-C998-D6F2F7199BD3}"/>
                </a:ext>
              </a:extLst>
            </p:cNvPr>
            <p:cNvCxnSpPr>
              <a:cxnSpLocks/>
              <a:stCxn id="22" idx="2"/>
              <a:endCxn id="19" idx="0"/>
            </p:cNvCxnSpPr>
            <p:nvPr/>
          </p:nvCxnSpPr>
          <p:spPr>
            <a:xfrm>
              <a:off x="3184907" y="2957633"/>
              <a:ext cx="0" cy="828141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sp>
          <p:nvSpPr>
            <p:cNvPr id="22" name="Google Shape;1689;p49">
              <a:extLst>
                <a:ext uri="{FF2B5EF4-FFF2-40B4-BE49-F238E27FC236}">
                  <a16:creationId xmlns:a16="http://schemas.microsoft.com/office/drawing/2014/main" id="{79C4FC3E-83B9-AAAC-A897-30219BFFE18E}"/>
                </a:ext>
              </a:extLst>
            </p:cNvPr>
            <p:cNvSpPr/>
            <p:nvPr/>
          </p:nvSpPr>
          <p:spPr>
            <a:xfrm>
              <a:off x="2158307" y="2515633"/>
              <a:ext cx="2053200" cy="4420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600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T</a:t>
              </a:r>
              <a:r>
                <a:rPr lang="en" sz="16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arball name</a:t>
              </a:r>
              <a:endParaRPr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cxnSp>
        <p:nvCxnSpPr>
          <p:cNvPr id="23" name="Google Shape;1690;p49">
            <a:extLst>
              <a:ext uri="{FF2B5EF4-FFF2-40B4-BE49-F238E27FC236}">
                <a16:creationId xmlns:a16="http://schemas.microsoft.com/office/drawing/2014/main" id="{A33C1AFF-CEEF-8570-20FA-56F219865ADC}"/>
              </a:ext>
            </a:extLst>
          </p:cNvPr>
          <p:cNvCxnSpPr/>
          <p:nvPr/>
        </p:nvCxnSpPr>
        <p:spPr>
          <a:xfrm rot="10800000">
            <a:off x="5068919" y="4215248"/>
            <a:ext cx="0" cy="632457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triangle" w="lg" len="lg"/>
          </a:ln>
        </p:spPr>
      </p:cxnSp>
      <p:cxnSp>
        <p:nvCxnSpPr>
          <p:cNvPr id="24" name="Google Shape;1691;p49">
            <a:extLst>
              <a:ext uri="{FF2B5EF4-FFF2-40B4-BE49-F238E27FC236}">
                <a16:creationId xmlns:a16="http://schemas.microsoft.com/office/drawing/2014/main" id="{ACDA003B-5F83-9448-BE34-4C4515E3DB51}"/>
              </a:ext>
            </a:extLst>
          </p:cNvPr>
          <p:cNvCxnSpPr/>
          <p:nvPr/>
        </p:nvCxnSpPr>
        <p:spPr>
          <a:xfrm rot="10800000">
            <a:off x="5068919" y="5791179"/>
            <a:ext cx="0" cy="632457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3236060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696;p50">
            <a:extLst>
              <a:ext uri="{FF2B5EF4-FFF2-40B4-BE49-F238E27FC236}">
                <a16:creationId xmlns:a16="http://schemas.microsoft.com/office/drawing/2014/main" id="{6DBC5D19-12C8-553D-7921-57661BE1B472}"/>
              </a:ext>
            </a:extLst>
          </p:cNvPr>
          <p:cNvSpPr txBox="1"/>
          <p:nvPr/>
        </p:nvSpPr>
        <p:spPr>
          <a:xfrm>
            <a:off x="1206500" y="1244451"/>
            <a:ext cx="9779200" cy="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DEMO 5: CREATING A TARBALL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697;p50">
            <a:extLst>
              <a:ext uri="{FF2B5EF4-FFF2-40B4-BE49-F238E27FC236}">
                <a16:creationId xmlns:a16="http://schemas.microsoft.com/office/drawing/2014/main" id="{55191579-EC70-A077-D824-461F8D8F17D4}"/>
              </a:ext>
            </a:extLst>
          </p:cNvPr>
          <p:cNvSpPr/>
          <p:nvPr/>
        </p:nvSpPr>
        <p:spPr>
          <a:xfrm>
            <a:off x="3536675" y="3803834"/>
            <a:ext cx="5118651" cy="698768"/>
          </a:xfrm>
          <a:prstGeom prst="roundRect">
            <a:avLst>
              <a:gd name="adj" fmla="val 16933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9200" marR="0" lvl="0" indent="-349200" algn="ctr" rtl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Create and load the image as a tarball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20858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702;p51">
            <a:extLst>
              <a:ext uri="{FF2B5EF4-FFF2-40B4-BE49-F238E27FC236}">
                <a16:creationId xmlns:a16="http://schemas.microsoft.com/office/drawing/2014/main" id="{7199F251-41C7-0FA2-5617-AC21100C829C}"/>
              </a:ext>
            </a:extLst>
          </p:cNvPr>
          <p:cNvSpPr/>
          <p:nvPr/>
        </p:nvSpPr>
        <p:spPr>
          <a:xfrm>
            <a:off x="965514" y="2458142"/>
            <a:ext cx="3955200" cy="3815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containers are running instances of Docker images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dirty="0"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run command is used to launch </a:t>
            </a:r>
            <a:r>
              <a:rPr lang="en" sz="2000" dirty="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container 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 provides various command options to speci</a:t>
            </a:r>
            <a:r>
              <a:rPr lang="en" sz="2000" dirty="0">
                <a:latin typeface="Lato"/>
                <a:ea typeface="Lato"/>
                <a:cs typeface="Lato"/>
                <a:sym typeface="Lato"/>
              </a:rPr>
              <a:t>fy depl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oyment characteristics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Example: </a:t>
            </a:r>
            <a:r>
              <a:rPr lang="en" sz="2000" dirty="0"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ontainer name, host port</a:t>
            </a:r>
            <a:r>
              <a:rPr lang="en" sz="2000" dirty="0"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and environment variables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703;p51">
            <a:extLst>
              <a:ext uri="{FF2B5EF4-FFF2-40B4-BE49-F238E27FC236}">
                <a16:creationId xmlns:a16="http://schemas.microsoft.com/office/drawing/2014/main" id="{D0F10C6D-FDB5-1054-0AC5-3BC6D736E4B1}"/>
              </a:ext>
            </a:extLst>
          </p:cNvPr>
          <p:cNvSpPr txBox="1"/>
          <p:nvPr/>
        </p:nvSpPr>
        <p:spPr>
          <a:xfrm>
            <a:off x="1701400" y="1310672"/>
            <a:ext cx="87892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CONTAINERS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" name="Google Shape;1704;p51">
            <a:extLst>
              <a:ext uri="{FF2B5EF4-FFF2-40B4-BE49-F238E27FC236}">
                <a16:creationId xmlns:a16="http://schemas.microsoft.com/office/drawing/2014/main" id="{5391467C-E86B-43B4-EBB0-93BC801B64DC}"/>
              </a:ext>
            </a:extLst>
          </p:cNvPr>
          <p:cNvGrpSpPr/>
          <p:nvPr/>
        </p:nvGrpSpPr>
        <p:grpSpPr>
          <a:xfrm>
            <a:off x="783150" y="2465042"/>
            <a:ext cx="10625700" cy="3952515"/>
            <a:chOff x="839775" y="1718780"/>
            <a:chExt cx="10625700" cy="3977100"/>
          </a:xfrm>
        </p:grpSpPr>
        <p:grpSp>
          <p:nvGrpSpPr>
            <p:cNvPr id="12" name="Google Shape;1705;p51">
              <a:extLst>
                <a:ext uri="{FF2B5EF4-FFF2-40B4-BE49-F238E27FC236}">
                  <a16:creationId xmlns:a16="http://schemas.microsoft.com/office/drawing/2014/main" id="{9BC5337E-E77B-AB26-D7FE-C32D17BA87D2}"/>
                </a:ext>
              </a:extLst>
            </p:cNvPr>
            <p:cNvGrpSpPr/>
            <p:nvPr/>
          </p:nvGrpSpPr>
          <p:grpSpPr>
            <a:xfrm>
              <a:off x="5036739" y="2075139"/>
              <a:ext cx="6336243" cy="3205083"/>
              <a:chOff x="5036739" y="2212167"/>
              <a:chExt cx="6336243" cy="3205082"/>
            </a:xfrm>
          </p:grpSpPr>
          <p:grpSp>
            <p:nvGrpSpPr>
              <p:cNvPr id="14" name="Google Shape;1706;p51">
                <a:extLst>
                  <a:ext uri="{FF2B5EF4-FFF2-40B4-BE49-F238E27FC236}">
                    <a16:creationId xmlns:a16="http://schemas.microsoft.com/office/drawing/2014/main" id="{DEA0FF39-B053-1122-1450-EB55B94A7FBB}"/>
                  </a:ext>
                </a:extLst>
              </p:cNvPr>
              <p:cNvGrpSpPr/>
              <p:nvPr/>
            </p:nvGrpSpPr>
            <p:grpSpPr>
              <a:xfrm>
                <a:off x="6914031" y="2461549"/>
                <a:ext cx="1993200" cy="1852957"/>
                <a:chOff x="6914031" y="2461549"/>
                <a:chExt cx="1993200" cy="1852957"/>
              </a:xfrm>
            </p:grpSpPr>
            <p:grpSp>
              <p:nvGrpSpPr>
                <p:cNvPr id="29" name="Google Shape;1707;p51">
                  <a:extLst>
                    <a:ext uri="{FF2B5EF4-FFF2-40B4-BE49-F238E27FC236}">
                      <a16:creationId xmlns:a16="http://schemas.microsoft.com/office/drawing/2014/main" id="{1C829219-2BAA-A44D-B4D2-B5E55565E4E4}"/>
                    </a:ext>
                  </a:extLst>
                </p:cNvPr>
                <p:cNvGrpSpPr/>
                <p:nvPr/>
              </p:nvGrpSpPr>
              <p:grpSpPr>
                <a:xfrm>
                  <a:off x="7100069" y="2461549"/>
                  <a:ext cx="1620900" cy="1302190"/>
                  <a:chOff x="7107993" y="2461549"/>
                  <a:chExt cx="1620900" cy="1302190"/>
                </a:xfrm>
              </p:grpSpPr>
              <p:sp>
                <p:nvSpPr>
                  <p:cNvPr id="31" name="Google Shape;1708;p51">
                    <a:extLst>
                      <a:ext uri="{FF2B5EF4-FFF2-40B4-BE49-F238E27FC236}">
                        <a16:creationId xmlns:a16="http://schemas.microsoft.com/office/drawing/2014/main" id="{632BF30F-F795-9EDF-1EBF-CFFF2CF5ADB6}"/>
                      </a:ext>
                    </a:extLst>
                  </p:cNvPr>
                  <p:cNvSpPr/>
                  <p:nvPr/>
                </p:nvSpPr>
                <p:spPr>
                  <a:xfrm>
                    <a:off x="7107993" y="3500639"/>
                    <a:ext cx="1620900" cy="263100"/>
                  </a:xfrm>
                  <a:prstGeom prst="cube">
                    <a:avLst>
                      <a:gd name="adj" fmla="val 25000"/>
                    </a:avLst>
                  </a:prstGeom>
                  <a:noFill/>
                  <a:ln w="28575" cap="flat" cmpd="sng">
                    <a:solidFill>
                      <a:schemeClr val="bg2">
                        <a:lumMod val="50000"/>
                      </a:schemeClr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2" name="Google Shape;1709;p51">
                    <a:extLst>
                      <a:ext uri="{FF2B5EF4-FFF2-40B4-BE49-F238E27FC236}">
                        <a16:creationId xmlns:a16="http://schemas.microsoft.com/office/drawing/2014/main" id="{F328BB1C-CFBE-D7E6-DE72-1DCC10FF3374}"/>
                      </a:ext>
                    </a:extLst>
                  </p:cNvPr>
                  <p:cNvSpPr/>
                  <p:nvPr/>
                </p:nvSpPr>
                <p:spPr>
                  <a:xfrm>
                    <a:off x="7107993" y="3237403"/>
                    <a:ext cx="1620900" cy="263100"/>
                  </a:xfrm>
                  <a:prstGeom prst="cube">
                    <a:avLst>
                      <a:gd name="adj" fmla="val 25000"/>
                    </a:avLst>
                  </a:prstGeom>
                  <a:noFill/>
                  <a:ln w="28575" cap="flat" cmpd="sng">
                    <a:solidFill>
                      <a:schemeClr val="bg2">
                        <a:lumMod val="50000"/>
                      </a:schemeClr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3" name="Google Shape;1710;p51">
                    <a:extLst>
                      <a:ext uri="{FF2B5EF4-FFF2-40B4-BE49-F238E27FC236}">
                        <a16:creationId xmlns:a16="http://schemas.microsoft.com/office/drawing/2014/main" id="{B6AD80EB-3F80-5D7A-B93B-345DFDAC0CFD}"/>
                      </a:ext>
                    </a:extLst>
                  </p:cNvPr>
                  <p:cNvSpPr/>
                  <p:nvPr/>
                </p:nvSpPr>
                <p:spPr>
                  <a:xfrm>
                    <a:off x="7107993" y="2974167"/>
                    <a:ext cx="1620900" cy="263100"/>
                  </a:xfrm>
                  <a:prstGeom prst="cube">
                    <a:avLst>
                      <a:gd name="adj" fmla="val 25000"/>
                    </a:avLst>
                  </a:prstGeom>
                  <a:noFill/>
                  <a:ln w="28575" cap="flat" cmpd="sng">
                    <a:solidFill>
                      <a:schemeClr val="bg2">
                        <a:lumMod val="50000"/>
                      </a:schemeClr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4" name="Google Shape;1711;p51">
                    <a:extLst>
                      <a:ext uri="{FF2B5EF4-FFF2-40B4-BE49-F238E27FC236}">
                        <a16:creationId xmlns:a16="http://schemas.microsoft.com/office/drawing/2014/main" id="{1C52F57A-4BB4-7F58-BC0F-C011E5FB0595}"/>
                      </a:ext>
                    </a:extLst>
                  </p:cNvPr>
                  <p:cNvSpPr/>
                  <p:nvPr/>
                </p:nvSpPr>
                <p:spPr>
                  <a:xfrm>
                    <a:off x="7107993" y="2710930"/>
                    <a:ext cx="1620900" cy="263100"/>
                  </a:xfrm>
                  <a:prstGeom prst="cube">
                    <a:avLst>
                      <a:gd name="adj" fmla="val 25000"/>
                    </a:avLst>
                  </a:prstGeom>
                  <a:noFill/>
                  <a:ln w="28575" cap="flat" cmpd="sng">
                    <a:solidFill>
                      <a:schemeClr val="bg2">
                        <a:lumMod val="50000"/>
                      </a:schemeClr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5" name="Google Shape;1712;p51">
                    <a:extLst>
                      <a:ext uri="{FF2B5EF4-FFF2-40B4-BE49-F238E27FC236}">
                        <a16:creationId xmlns:a16="http://schemas.microsoft.com/office/drawing/2014/main" id="{B6EF3816-B26B-D3C6-97A6-F6ACFC3D5448}"/>
                      </a:ext>
                    </a:extLst>
                  </p:cNvPr>
                  <p:cNvSpPr/>
                  <p:nvPr/>
                </p:nvSpPr>
                <p:spPr>
                  <a:xfrm>
                    <a:off x="7107993" y="2461549"/>
                    <a:ext cx="1620900" cy="263100"/>
                  </a:xfrm>
                  <a:prstGeom prst="cube">
                    <a:avLst>
                      <a:gd name="adj" fmla="val 25000"/>
                    </a:avLst>
                  </a:prstGeom>
                  <a:noFill/>
                  <a:ln w="28575" cap="flat" cmpd="sng">
                    <a:solidFill>
                      <a:schemeClr val="bg2">
                        <a:lumMod val="50000"/>
                      </a:schemeClr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30" name="Google Shape;1713;p51">
                  <a:extLst>
                    <a:ext uri="{FF2B5EF4-FFF2-40B4-BE49-F238E27FC236}">
                      <a16:creationId xmlns:a16="http://schemas.microsoft.com/office/drawing/2014/main" id="{A042B3B1-295C-1599-F5E2-B3E604C79BC6}"/>
                    </a:ext>
                  </a:extLst>
                </p:cNvPr>
                <p:cNvSpPr txBox="1"/>
                <p:nvPr/>
              </p:nvSpPr>
              <p:spPr>
                <a:xfrm>
                  <a:off x="6914031" y="3976706"/>
                  <a:ext cx="1993200" cy="33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" sz="1800" b="1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Docker Image</a:t>
                  </a:r>
                  <a:endParaRPr sz="1800" b="1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5" name="Google Shape;1714;p51">
                <a:extLst>
                  <a:ext uri="{FF2B5EF4-FFF2-40B4-BE49-F238E27FC236}">
                    <a16:creationId xmlns:a16="http://schemas.microsoft.com/office/drawing/2014/main" id="{361806D8-E602-824B-76BB-3E547F1D7472}"/>
                  </a:ext>
                </a:extLst>
              </p:cNvPr>
              <p:cNvGrpSpPr/>
              <p:nvPr/>
            </p:nvGrpSpPr>
            <p:grpSpPr>
              <a:xfrm>
                <a:off x="6242522" y="2716836"/>
                <a:ext cx="835800" cy="451295"/>
                <a:chOff x="6242522" y="2716836"/>
                <a:chExt cx="835800" cy="451295"/>
              </a:xfrm>
            </p:grpSpPr>
            <p:cxnSp>
              <p:nvCxnSpPr>
                <p:cNvPr id="27" name="Google Shape;1715;p51">
                  <a:extLst>
                    <a:ext uri="{FF2B5EF4-FFF2-40B4-BE49-F238E27FC236}">
                      <a16:creationId xmlns:a16="http://schemas.microsoft.com/office/drawing/2014/main" id="{736916A3-679C-464B-9B7C-976CA52653C8}"/>
                    </a:ext>
                  </a:extLst>
                </p:cNvPr>
                <p:cNvCxnSpPr/>
                <p:nvPr/>
              </p:nvCxnSpPr>
              <p:spPr>
                <a:xfrm rot="10800000">
                  <a:off x="6413700" y="3168131"/>
                  <a:ext cx="6348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bg2">
                      <a:lumMod val="50000"/>
                    </a:schemeClr>
                  </a:solidFill>
                  <a:prstDash val="solid"/>
                  <a:round/>
                  <a:headEnd type="triangle" w="lg" len="lg"/>
                  <a:tailEnd type="none" w="sm" len="sm"/>
                </a:ln>
              </p:spPr>
            </p:cxnSp>
            <p:sp>
              <p:nvSpPr>
                <p:cNvPr id="28" name="Google Shape;1716;p51">
                  <a:extLst>
                    <a:ext uri="{FF2B5EF4-FFF2-40B4-BE49-F238E27FC236}">
                      <a16:creationId xmlns:a16="http://schemas.microsoft.com/office/drawing/2014/main" id="{295A0158-5ADE-97CA-8A8F-7CCCF952C7EF}"/>
                    </a:ext>
                  </a:extLst>
                </p:cNvPr>
                <p:cNvSpPr txBox="1"/>
                <p:nvPr/>
              </p:nvSpPr>
              <p:spPr>
                <a:xfrm>
                  <a:off x="6242522" y="2716836"/>
                  <a:ext cx="835800" cy="33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" sz="18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Build</a:t>
                  </a:r>
                  <a:endParaRPr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6" name="Google Shape;1717;p51">
                <a:extLst>
                  <a:ext uri="{FF2B5EF4-FFF2-40B4-BE49-F238E27FC236}">
                    <a16:creationId xmlns:a16="http://schemas.microsoft.com/office/drawing/2014/main" id="{E396C789-E2F5-027A-4DF4-418D8AD234D9}"/>
                  </a:ext>
                </a:extLst>
              </p:cNvPr>
              <p:cNvGrpSpPr/>
              <p:nvPr/>
            </p:nvGrpSpPr>
            <p:grpSpPr>
              <a:xfrm>
                <a:off x="8740410" y="2716836"/>
                <a:ext cx="835800" cy="451295"/>
                <a:chOff x="8740410" y="2716836"/>
                <a:chExt cx="835800" cy="451295"/>
              </a:xfrm>
            </p:grpSpPr>
            <p:cxnSp>
              <p:nvCxnSpPr>
                <p:cNvPr id="25" name="Google Shape;1718;p51">
                  <a:extLst>
                    <a:ext uri="{FF2B5EF4-FFF2-40B4-BE49-F238E27FC236}">
                      <a16:creationId xmlns:a16="http://schemas.microsoft.com/office/drawing/2014/main" id="{91844F4B-BA61-87DF-9117-3BC0B03B2FFF}"/>
                    </a:ext>
                  </a:extLst>
                </p:cNvPr>
                <p:cNvCxnSpPr/>
                <p:nvPr/>
              </p:nvCxnSpPr>
              <p:spPr>
                <a:xfrm rot="10800000">
                  <a:off x="8844983" y="3168131"/>
                  <a:ext cx="626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bg2">
                      <a:lumMod val="50000"/>
                    </a:schemeClr>
                  </a:solidFill>
                  <a:prstDash val="solid"/>
                  <a:round/>
                  <a:headEnd type="triangle" w="lg" len="lg"/>
                  <a:tailEnd type="none" w="sm" len="sm"/>
                </a:ln>
              </p:spPr>
            </p:cxnSp>
            <p:sp>
              <p:nvSpPr>
                <p:cNvPr id="26" name="Google Shape;1719;p51">
                  <a:extLst>
                    <a:ext uri="{FF2B5EF4-FFF2-40B4-BE49-F238E27FC236}">
                      <a16:creationId xmlns:a16="http://schemas.microsoft.com/office/drawing/2014/main" id="{2EC66986-6C8B-493D-5BEF-0B388FC103A1}"/>
                    </a:ext>
                  </a:extLst>
                </p:cNvPr>
                <p:cNvSpPr txBox="1"/>
                <p:nvPr/>
              </p:nvSpPr>
              <p:spPr>
                <a:xfrm>
                  <a:off x="8740410" y="2716836"/>
                  <a:ext cx="835800" cy="33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" sz="18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Run</a:t>
                  </a:r>
                  <a:endParaRPr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7" name="Google Shape;1720;p51">
                <a:extLst>
                  <a:ext uri="{FF2B5EF4-FFF2-40B4-BE49-F238E27FC236}">
                    <a16:creationId xmlns:a16="http://schemas.microsoft.com/office/drawing/2014/main" id="{4E9EDA3F-9B45-0D49-6874-F79432C39F99}"/>
                  </a:ext>
                </a:extLst>
              </p:cNvPr>
              <p:cNvSpPr/>
              <p:nvPr/>
            </p:nvSpPr>
            <p:spPr>
              <a:xfrm>
                <a:off x="5036740" y="2212167"/>
                <a:ext cx="1270200" cy="1676400"/>
              </a:xfrm>
              <a:prstGeom prst="roundRect">
                <a:avLst>
                  <a:gd name="adj" fmla="val 3918"/>
                </a:avLst>
              </a:prstGeom>
              <a:noFill/>
              <a:ln w="28575" cap="flat" cmpd="sng">
                <a:solidFill>
                  <a:schemeClr val="bg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" name="Google Shape;1721;p51">
                <a:extLst>
                  <a:ext uri="{FF2B5EF4-FFF2-40B4-BE49-F238E27FC236}">
                    <a16:creationId xmlns:a16="http://schemas.microsoft.com/office/drawing/2014/main" id="{5D1A3DAB-CED7-3EF5-3C59-2420DEF70F14}"/>
                  </a:ext>
                </a:extLst>
              </p:cNvPr>
              <p:cNvSpPr txBox="1"/>
              <p:nvPr/>
            </p:nvSpPr>
            <p:spPr>
              <a:xfrm>
                <a:off x="5036739" y="3984103"/>
                <a:ext cx="1270200" cy="33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1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Dockerfile</a:t>
                </a:r>
                <a:endParaRPr sz="18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" name="Google Shape;1722;p51">
                <a:extLst>
                  <a:ext uri="{FF2B5EF4-FFF2-40B4-BE49-F238E27FC236}">
                    <a16:creationId xmlns:a16="http://schemas.microsoft.com/office/drawing/2014/main" id="{D8190073-926F-BAB8-B1E0-49981C64D1AE}"/>
                  </a:ext>
                </a:extLst>
              </p:cNvPr>
              <p:cNvSpPr txBox="1"/>
              <p:nvPr/>
            </p:nvSpPr>
            <p:spPr>
              <a:xfrm>
                <a:off x="6703435" y="4572449"/>
                <a:ext cx="2535300" cy="84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Alpine Linux image with Java package and application JAR</a:t>
                </a:r>
                <a:endParaRPr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20" name="Google Shape;1723;p51">
                <a:extLst>
                  <a:ext uri="{FF2B5EF4-FFF2-40B4-BE49-F238E27FC236}">
                    <a16:creationId xmlns:a16="http://schemas.microsoft.com/office/drawing/2014/main" id="{576A8237-D25A-BAED-51F4-8B1D164F174C}"/>
                  </a:ext>
                </a:extLst>
              </p:cNvPr>
              <p:cNvGrpSpPr/>
              <p:nvPr/>
            </p:nvGrpSpPr>
            <p:grpSpPr>
              <a:xfrm>
                <a:off x="9269382" y="2290871"/>
                <a:ext cx="2103600" cy="2872878"/>
                <a:chOff x="9269382" y="2290871"/>
                <a:chExt cx="2103600" cy="2872878"/>
              </a:xfrm>
            </p:grpSpPr>
            <p:grpSp>
              <p:nvGrpSpPr>
                <p:cNvPr id="21" name="Google Shape;1724;p51">
                  <a:extLst>
                    <a:ext uri="{FF2B5EF4-FFF2-40B4-BE49-F238E27FC236}">
                      <a16:creationId xmlns:a16="http://schemas.microsoft.com/office/drawing/2014/main" id="{C8A046B3-C998-344D-EEB2-6A617BA98371}"/>
                    </a:ext>
                  </a:extLst>
                </p:cNvPr>
                <p:cNvGrpSpPr/>
                <p:nvPr/>
              </p:nvGrpSpPr>
              <p:grpSpPr>
                <a:xfrm>
                  <a:off x="9269382" y="2290871"/>
                  <a:ext cx="2103600" cy="2053260"/>
                  <a:chOff x="9269382" y="2290871"/>
                  <a:chExt cx="2103600" cy="2053260"/>
                </a:xfrm>
              </p:grpSpPr>
              <p:sp>
                <p:nvSpPr>
                  <p:cNvPr id="23" name="Google Shape;1725;p51">
                    <a:extLst>
                      <a:ext uri="{FF2B5EF4-FFF2-40B4-BE49-F238E27FC236}">
                        <a16:creationId xmlns:a16="http://schemas.microsoft.com/office/drawing/2014/main" id="{27DDA86B-F72D-4345-44A0-1098592ADA65}"/>
                      </a:ext>
                    </a:extLst>
                  </p:cNvPr>
                  <p:cNvSpPr/>
                  <p:nvPr/>
                </p:nvSpPr>
                <p:spPr>
                  <a:xfrm>
                    <a:off x="9659456" y="2290871"/>
                    <a:ext cx="1371600" cy="1288500"/>
                  </a:xfrm>
                  <a:prstGeom prst="cube">
                    <a:avLst>
                      <a:gd name="adj" fmla="val 25000"/>
                    </a:avLst>
                  </a:prstGeom>
                  <a:noFill/>
                  <a:ln w="28575" cap="flat" cmpd="sng">
                    <a:solidFill>
                      <a:srgbClr val="0070C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 dirty="0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4" name="Google Shape;1726;p51">
                    <a:extLst>
                      <a:ext uri="{FF2B5EF4-FFF2-40B4-BE49-F238E27FC236}">
                        <a16:creationId xmlns:a16="http://schemas.microsoft.com/office/drawing/2014/main" id="{06F66E52-6EB9-E8B4-1B29-D0D58F4EF0F3}"/>
                      </a:ext>
                    </a:extLst>
                  </p:cNvPr>
                  <p:cNvSpPr txBox="1"/>
                  <p:nvPr/>
                </p:nvSpPr>
                <p:spPr>
                  <a:xfrm>
                    <a:off x="9269382" y="4006331"/>
                    <a:ext cx="2103600" cy="337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lang="en" sz="1800" b="1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Docker Container</a:t>
                    </a:r>
                    <a:endParaRPr sz="1800" b="1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22" name="Google Shape;1727;p51">
                  <a:extLst>
                    <a:ext uri="{FF2B5EF4-FFF2-40B4-BE49-F238E27FC236}">
                      <a16:creationId xmlns:a16="http://schemas.microsoft.com/office/drawing/2014/main" id="{21E6CCE0-451F-3ABE-0C67-45B63EAB6F10}"/>
                    </a:ext>
                  </a:extLst>
                </p:cNvPr>
                <p:cNvSpPr txBox="1"/>
                <p:nvPr/>
              </p:nvSpPr>
              <p:spPr>
                <a:xfrm>
                  <a:off x="9642245" y="4572449"/>
                  <a:ext cx="1357800" cy="591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" sz="18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Runs application</a:t>
                  </a:r>
                  <a:endParaRPr sz="18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sp>
          <p:nvSpPr>
            <p:cNvPr id="13" name="Google Shape;1728;p51">
              <a:extLst>
                <a:ext uri="{FF2B5EF4-FFF2-40B4-BE49-F238E27FC236}">
                  <a16:creationId xmlns:a16="http://schemas.microsoft.com/office/drawing/2014/main" id="{43628735-A85B-6EFD-955C-3B7CD3CF7C5D}"/>
                </a:ext>
              </a:extLst>
            </p:cNvPr>
            <p:cNvSpPr/>
            <p:nvPr/>
          </p:nvSpPr>
          <p:spPr>
            <a:xfrm>
              <a:off x="839775" y="1718780"/>
              <a:ext cx="10625700" cy="3977100"/>
            </a:xfrm>
            <a:prstGeom prst="roundRect">
              <a:avLst>
                <a:gd name="adj" fmla="val 4774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4142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4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733;p52">
            <a:extLst>
              <a:ext uri="{FF2B5EF4-FFF2-40B4-BE49-F238E27FC236}">
                <a16:creationId xmlns:a16="http://schemas.microsoft.com/office/drawing/2014/main" id="{EFCE57D8-32C3-ECC0-FE39-2B671E1EAEDC}"/>
              </a:ext>
            </a:extLst>
          </p:cNvPr>
          <p:cNvSpPr/>
          <p:nvPr/>
        </p:nvSpPr>
        <p:spPr>
          <a:xfrm>
            <a:off x="897290" y="1933952"/>
            <a:ext cx="10361028" cy="76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marL="349200" marR="0" lvl="0" indent="-349200" algn="l" rtl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containers go through different stages during 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their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lifespan. Docker commands are used to change the state of Docker containers</a:t>
            </a:r>
            <a:endParaRPr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734;p52">
            <a:extLst>
              <a:ext uri="{FF2B5EF4-FFF2-40B4-BE49-F238E27FC236}">
                <a16:creationId xmlns:a16="http://schemas.microsoft.com/office/drawing/2014/main" id="{1CEA3655-0DEB-C697-B7EA-963A0C594086}"/>
              </a:ext>
            </a:extLst>
          </p:cNvPr>
          <p:cNvSpPr txBox="1"/>
          <p:nvPr/>
        </p:nvSpPr>
        <p:spPr>
          <a:xfrm>
            <a:off x="1700225" y="928595"/>
            <a:ext cx="8789200" cy="4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 CYCLE OF </a:t>
            </a: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CONTAINERS </a:t>
            </a:r>
            <a:endParaRPr sz="145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1735;p52">
            <a:extLst>
              <a:ext uri="{FF2B5EF4-FFF2-40B4-BE49-F238E27FC236}">
                <a16:creationId xmlns:a16="http://schemas.microsoft.com/office/drawing/2014/main" id="{40B7D313-FF43-0D27-33EE-8118D7C0ABFD}"/>
              </a:ext>
            </a:extLst>
          </p:cNvPr>
          <p:cNvSpPr/>
          <p:nvPr/>
        </p:nvSpPr>
        <p:spPr>
          <a:xfrm>
            <a:off x="839800" y="2815857"/>
            <a:ext cx="10585500" cy="3538265"/>
          </a:xfrm>
          <a:prstGeom prst="roundRect">
            <a:avLst>
              <a:gd name="adj" fmla="val 4774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" name="Google Shape;1736;p52">
            <a:extLst>
              <a:ext uri="{FF2B5EF4-FFF2-40B4-BE49-F238E27FC236}">
                <a16:creationId xmlns:a16="http://schemas.microsoft.com/office/drawing/2014/main" id="{5EF12342-3711-EE97-667D-167D86675FC8}"/>
              </a:ext>
            </a:extLst>
          </p:cNvPr>
          <p:cNvGrpSpPr/>
          <p:nvPr/>
        </p:nvGrpSpPr>
        <p:grpSpPr>
          <a:xfrm>
            <a:off x="1052225" y="2955046"/>
            <a:ext cx="10133290" cy="2925082"/>
            <a:chOff x="1052225" y="2113544"/>
            <a:chExt cx="10133290" cy="3539349"/>
          </a:xfrm>
        </p:grpSpPr>
        <p:grpSp>
          <p:nvGrpSpPr>
            <p:cNvPr id="13" name="Google Shape;1737;p52">
              <a:extLst>
                <a:ext uri="{FF2B5EF4-FFF2-40B4-BE49-F238E27FC236}">
                  <a16:creationId xmlns:a16="http://schemas.microsoft.com/office/drawing/2014/main" id="{C3D40964-EADF-21EE-B379-10AAFC1595E0}"/>
                </a:ext>
              </a:extLst>
            </p:cNvPr>
            <p:cNvGrpSpPr/>
            <p:nvPr/>
          </p:nvGrpSpPr>
          <p:grpSpPr>
            <a:xfrm>
              <a:off x="1052225" y="2290362"/>
              <a:ext cx="10133290" cy="3362531"/>
              <a:chOff x="1052225" y="2290362"/>
              <a:chExt cx="10133290" cy="3362531"/>
            </a:xfrm>
          </p:grpSpPr>
          <p:grpSp>
            <p:nvGrpSpPr>
              <p:cNvPr id="15" name="Google Shape;1738;p52">
                <a:extLst>
                  <a:ext uri="{FF2B5EF4-FFF2-40B4-BE49-F238E27FC236}">
                    <a16:creationId xmlns:a16="http://schemas.microsoft.com/office/drawing/2014/main" id="{606215E0-1AE2-D0A1-C4AD-78467AA7857A}"/>
                  </a:ext>
                </a:extLst>
              </p:cNvPr>
              <p:cNvGrpSpPr/>
              <p:nvPr/>
            </p:nvGrpSpPr>
            <p:grpSpPr>
              <a:xfrm>
                <a:off x="1052225" y="2290362"/>
                <a:ext cx="10133290" cy="3362531"/>
                <a:chOff x="1052225" y="2355023"/>
                <a:chExt cx="10133291" cy="3362531"/>
              </a:xfrm>
            </p:grpSpPr>
            <p:sp>
              <p:nvSpPr>
                <p:cNvPr id="21" name="Google Shape;1739;p52">
                  <a:extLst>
                    <a:ext uri="{FF2B5EF4-FFF2-40B4-BE49-F238E27FC236}">
                      <a16:creationId xmlns:a16="http://schemas.microsoft.com/office/drawing/2014/main" id="{F192FD9F-5532-4CEA-63D0-732D1ED81519}"/>
                    </a:ext>
                  </a:extLst>
                </p:cNvPr>
                <p:cNvSpPr/>
                <p:nvPr/>
              </p:nvSpPr>
              <p:spPr>
                <a:xfrm>
                  <a:off x="3558903" y="3380049"/>
                  <a:ext cx="1580400" cy="795600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0070C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" sz="18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Created</a:t>
                  </a:r>
                  <a:endParaRPr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2" name="Google Shape;1740;p52">
                  <a:extLst>
                    <a:ext uri="{FF2B5EF4-FFF2-40B4-BE49-F238E27FC236}">
                      <a16:creationId xmlns:a16="http://schemas.microsoft.com/office/drawing/2014/main" id="{7B1FAEB7-C8D8-0890-EC8A-1C7610AD7437}"/>
                    </a:ext>
                  </a:extLst>
                </p:cNvPr>
                <p:cNvSpPr/>
                <p:nvPr/>
              </p:nvSpPr>
              <p:spPr>
                <a:xfrm>
                  <a:off x="6612367" y="3347216"/>
                  <a:ext cx="1736700" cy="752100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0070C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" sz="18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Up</a:t>
                  </a:r>
                  <a:endParaRPr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3" name="Google Shape;1741;p52">
                  <a:extLst>
                    <a:ext uri="{FF2B5EF4-FFF2-40B4-BE49-F238E27FC236}">
                      <a16:creationId xmlns:a16="http://schemas.microsoft.com/office/drawing/2014/main" id="{5EE383F2-E364-4C18-8177-927C274F9BB8}"/>
                    </a:ext>
                  </a:extLst>
                </p:cNvPr>
                <p:cNvSpPr/>
                <p:nvPr/>
              </p:nvSpPr>
              <p:spPr>
                <a:xfrm>
                  <a:off x="6612367" y="4994254"/>
                  <a:ext cx="1830600" cy="723300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0070C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" sz="18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Paused</a:t>
                  </a:r>
                  <a:endParaRPr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4" name="Google Shape;1742;p52">
                  <a:extLst>
                    <a:ext uri="{FF2B5EF4-FFF2-40B4-BE49-F238E27FC236}">
                      <a16:creationId xmlns:a16="http://schemas.microsoft.com/office/drawing/2014/main" id="{2DDA41A4-0DC0-D72F-10FA-763733E0366E}"/>
                    </a:ext>
                  </a:extLst>
                </p:cNvPr>
                <p:cNvSpPr/>
                <p:nvPr/>
              </p:nvSpPr>
              <p:spPr>
                <a:xfrm>
                  <a:off x="9822316" y="3380049"/>
                  <a:ext cx="1363200" cy="795600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0070C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" sz="18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Exited</a:t>
                  </a:r>
                  <a:endParaRPr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5" name="Google Shape;1743;p52">
                  <a:extLst>
                    <a:ext uri="{FF2B5EF4-FFF2-40B4-BE49-F238E27FC236}">
                      <a16:creationId xmlns:a16="http://schemas.microsoft.com/office/drawing/2014/main" id="{0EC4A77E-4786-13CF-5C8B-6E655A2EAF52}"/>
                    </a:ext>
                  </a:extLst>
                </p:cNvPr>
                <p:cNvSpPr/>
                <p:nvPr/>
              </p:nvSpPr>
              <p:spPr>
                <a:xfrm>
                  <a:off x="1261908" y="3134418"/>
                  <a:ext cx="823800" cy="1287000"/>
                </a:xfrm>
                <a:prstGeom prst="roundRect">
                  <a:avLst>
                    <a:gd name="adj" fmla="val 16667"/>
                  </a:avLst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6" name="Google Shape;1744;p52">
                  <a:extLst>
                    <a:ext uri="{FF2B5EF4-FFF2-40B4-BE49-F238E27FC236}">
                      <a16:creationId xmlns:a16="http://schemas.microsoft.com/office/drawing/2014/main" id="{03A14F91-136F-CC4E-C7AB-7931C1E25AE8}"/>
                    </a:ext>
                  </a:extLst>
                </p:cNvPr>
                <p:cNvSpPr txBox="1"/>
                <p:nvPr/>
              </p:nvSpPr>
              <p:spPr>
                <a:xfrm>
                  <a:off x="2027445" y="2961518"/>
                  <a:ext cx="1589700" cy="3692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" sz="18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docker create</a:t>
                  </a:r>
                  <a:endParaRPr sz="18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7" name="Google Shape;1745;p52">
                  <a:extLst>
                    <a:ext uri="{FF2B5EF4-FFF2-40B4-BE49-F238E27FC236}">
                      <a16:creationId xmlns:a16="http://schemas.microsoft.com/office/drawing/2014/main" id="{F0229B7B-BB71-15D3-1FAA-36EFFD6E0708}"/>
                    </a:ext>
                  </a:extLst>
                </p:cNvPr>
                <p:cNvSpPr txBox="1"/>
                <p:nvPr/>
              </p:nvSpPr>
              <p:spPr>
                <a:xfrm>
                  <a:off x="5080909" y="3077834"/>
                  <a:ext cx="1589700" cy="3796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" sz="18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docker start</a:t>
                  </a:r>
                  <a:endParaRPr sz="18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8" name="Google Shape;1746;p52">
                  <a:extLst>
                    <a:ext uri="{FF2B5EF4-FFF2-40B4-BE49-F238E27FC236}">
                      <a16:creationId xmlns:a16="http://schemas.microsoft.com/office/drawing/2014/main" id="{FE8B0BD1-AD54-FD41-9B9F-BC5CCD6FE81B}"/>
                    </a:ext>
                  </a:extLst>
                </p:cNvPr>
                <p:cNvSpPr txBox="1"/>
                <p:nvPr/>
              </p:nvSpPr>
              <p:spPr>
                <a:xfrm>
                  <a:off x="3583648" y="4596999"/>
                  <a:ext cx="1589700" cy="3796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" sz="18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docker run</a:t>
                  </a:r>
                  <a:endParaRPr sz="18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" name="Google Shape;1747;p52">
                  <a:extLst>
                    <a:ext uri="{FF2B5EF4-FFF2-40B4-BE49-F238E27FC236}">
                      <a16:creationId xmlns:a16="http://schemas.microsoft.com/office/drawing/2014/main" id="{E3338644-A75F-8092-F001-D7D4650F901B}"/>
                    </a:ext>
                  </a:extLst>
                </p:cNvPr>
                <p:cNvSpPr txBox="1"/>
                <p:nvPr/>
              </p:nvSpPr>
              <p:spPr>
                <a:xfrm>
                  <a:off x="8290857" y="2880931"/>
                  <a:ext cx="1589700" cy="6669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" sz="18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docker kill/stop</a:t>
                  </a:r>
                  <a:endParaRPr sz="18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" name="Google Shape;1748;p52">
                  <a:extLst>
                    <a:ext uri="{FF2B5EF4-FFF2-40B4-BE49-F238E27FC236}">
                      <a16:creationId xmlns:a16="http://schemas.microsoft.com/office/drawing/2014/main" id="{55B0AE72-B3CC-D940-C689-87C89B4FB4B5}"/>
                    </a:ext>
                  </a:extLst>
                </p:cNvPr>
                <p:cNvSpPr txBox="1"/>
                <p:nvPr/>
              </p:nvSpPr>
              <p:spPr>
                <a:xfrm>
                  <a:off x="1052225" y="2355023"/>
                  <a:ext cx="1296000" cy="6669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" sz="1800" b="1" i="0" u="none" strike="noStrike" cap="none" dirty="0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Docker Image</a:t>
                  </a:r>
                  <a:endParaRPr sz="1800" b="1" i="0" u="none" strike="noStrike" cap="none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" name="Google Shape;1749;p52">
                  <a:extLst>
                    <a:ext uri="{FF2B5EF4-FFF2-40B4-BE49-F238E27FC236}">
                      <a16:creationId xmlns:a16="http://schemas.microsoft.com/office/drawing/2014/main" id="{6906FE6E-0DDC-D032-4B2E-EFA922629319}"/>
                    </a:ext>
                  </a:extLst>
                </p:cNvPr>
                <p:cNvSpPr txBox="1"/>
                <p:nvPr/>
              </p:nvSpPr>
              <p:spPr>
                <a:xfrm>
                  <a:off x="5648812" y="4341131"/>
                  <a:ext cx="1589700" cy="3796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" sz="18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docker pause</a:t>
                  </a:r>
                  <a:endParaRPr sz="18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2" name="Google Shape;1750;p52">
                  <a:extLst>
                    <a:ext uri="{FF2B5EF4-FFF2-40B4-BE49-F238E27FC236}">
                      <a16:creationId xmlns:a16="http://schemas.microsoft.com/office/drawing/2014/main" id="{3FB96E0F-991C-0A2A-6E55-00EC44AE1E6E}"/>
                    </a:ext>
                  </a:extLst>
                </p:cNvPr>
                <p:cNvSpPr txBox="1"/>
                <p:nvPr/>
              </p:nvSpPr>
              <p:spPr>
                <a:xfrm>
                  <a:off x="7887822" y="4273854"/>
                  <a:ext cx="2079000" cy="6669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" sz="18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docker </a:t>
                  </a:r>
                  <a:br>
                    <a:rPr lang="en" sz="18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</a:br>
                  <a:r>
                    <a:rPr lang="en" sz="18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unpause</a:t>
                  </a:r>
                  <a:endParaRPr sz="18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16" name="Google Shape;1751;p52">
                <a:extLst>
                  <a:ext uri="{FF2B5EF4-FFF2-40B4-BE49-F238E27FC236}">
                    <a16:creationId xmlns:a16="http://schemas.microsoft.com/office/drawing/2014/main" id="{ED924450-DD87-1A8E-42A2-33FDC6D3F6B8}"/>
                  </a:ext>
                </a:extLst>
              </p:cNvPr>
              <p:cNvCxnSpPr/>
              <p:nvPr/>
            </p:nvCxnSpPr>
            <p:spPr>
              <a:xfrm rot="10800000">
                <a:off x="2169319" y="3735147"/>
                <a:ext cx="1247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triangle" w="lg" len="lg"/>
                <a:tailEnd type="none" w="sm" len="sm"/>
              </a:ln>
            </p:spPr>
          </p:cxnSp>
          <p:cxnSp>
            <p:nvCxnSpPr>
              <p:cNvPr id="17" name="Google Shape;1752;p52">
                <a:extLst>
                  <a:ext uri="{FF2B5EF4-FFF2-40B4-BE49-F238E27FC236}">
                    <a16:creationId xmlns:a16="http://schemas.microsoft.com/office/drawing/2014/main" id="{D8D83499-B3AA-587E-C7C3-AB597D57D7AC}"/>
                  </a:ext>
                </a:extLst>
              </p:cNvPr>
              <p:cNvCxnSpPr/>
              <p:nvPr/>
            </p:nvCxnSpPr>
            <p:spPr>
              <a:xfrm rot="10800000">
                <a:off x="5243639" y="3735147"/>
                <a:ext cx="1247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triangle" w="lg" len="lg"/>
                <a:tailEnd type="none" w="sm" len="sm"/>
              </a:ln>
            </p:spPr>
          </p:cxnSp>
          <p:cxnSp>
            <p:nvCxnSpPr>
              <p:cNvPr id="18" name="Google Shape;1753;p52">
                <a:extLst>
                  <a:ext uri="{FF2B5EF4-FFF2-40B4-BE49-F238E27FC236}">
                    <a16:creationId xmlns:a16="http://schemas.microsoft.com/office/drawing/2014/main" id="{74524563-97BD-CC5C-0C7E-D0D6BA4E765A}"/>
                  </a:ext>
                </a:extLst>
              </p:cNvPr>
              <p:cNvCxnSpPr/>
              <p:nvPr/>
            </p:nvCxnSpPr>
            <p:spPr>
              <a:xfrm rot="10800000">
                <a:off x="8479712" y="3735147"/>
                <a:ext cx="1247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triangle" w="lg" len="lg"/>
                <a:tailEnd type="none" w="sm" len="sm"/>
              </a:ln>
            </p:spPr>
          </p:cxnSp>
          <p:cxnSp>
            <p:nvCxnSpPr>
              <p:cNvPr id="19" name="Google Shape;1754;p52">
                <a:extLst>
                  <a:ext uri="{FF2B5EF4-FFF2-40B4-BE49-F238E27FC236}">
                    <a16:creationId xmlns:a16="http://schemas.microsoft.com/office/drawing/2014/main" id="{5F962BCE-F7E9-A1D0-3B34-398A3FD3EFDF}"/>
                  </a:ext>
                </a:extLst>
              </p:cNvPr>
              <p:cNvCxnSpPr/>
              <p:nvPr/>
            </p:nvCxnSpPr>
            <p:spPr>
              <a:xfrm rot="10800000">
                <a:off x="7305161" y="4135400"/>
                <a:ext cx="0" cy="752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triangle" w="lg" len="lg"/>
                <a:tailEnd type="none" w="sm" len="sm"/>
              </a:ln>
            </p:spPr>
          </p:cxnSp>
          <p:cxnSp>
            <p:nvCxnSpPr>
              <p:cNvPr id="20" name="Google Shape;1755;p52">
                <a:extLst>
                  <a:ext uri="{FF2B5EF4-FFF2-40B4-BE49-F238E27FC236}">
                    <a16:creationId xmlns:a16="http://schemas.microsoft.com/office/drawing/2014/main" id="{75D11396-4E9C-0473-E321-47D76FEDEDF4}"/>
                  </a:ext>
                </a:extLst>
              </p:cNvPr>
              <p:cNvCxnSpPr/>
              <p:nvPr/>
            </p:nvCxnSpPr>
            <p:spPr>
              <a:xfrm>
                <a:off x="7756011" y="4135400"/>
                <a:ext cx="0" cy="752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triangle" w="lg" len="lg"/>
                <a:tailEnd type="none" w="sm" len="sm"/>
              </a:ln>
            </p:spPr>
          </p:cxnSp>
        </p:grpSp>
        <p:sp>
          <p:nvSpPr>
            <p:cNvPr id="14" name="Google Shape;1756;p52">
              <a:extLst>
                <a:ext uri="{FF2B5EF4-FFF2-40B4-BE49-F238E27FC236}">
                  <a16:creationId xmlns:a16="http://schemas.microsoft.com/office/drawing/2014/main" id="{026E9655-102F-FADE-6E27-45D519BB52C8}"/>
                </a:ext>
              </a:extLst>
            </p:cNvPr>
            <p:cNvSpPr/>
            <p:nvPr/>
          </p:nvSpPr>
          <p:spPr>
            <a:xfrm rot="9947517">
              <a:off x="2305707" y="2113544"/>
              <a:ext cx="3398594" cy="3374884"/>
            </a:xfrm>
            <a:prstGeom prst="arc">
              <a:avLst>
                <a:gd name="adj1" fmla="val 12723726"/>
                <a:gd name="adj2" fmla="val 21479318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368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761;p53">
            <a:extLst>
              <a:ext uri="{FF2B5EF4-FFF2-40B4-BE49-F238E27FC236}">
                <a16:creationId xmlns:a16="http://schemas.microsoft.com/office/drawing/2014/main" id="{2F88A208-9FC7-61AC-F9AE-1B37762E3DCC}"/>
              </a:ext>
            </a:extLst>
          </p:cNvPr>
          <p:cNvSpPr txBox="1"/>
          <p:nvPr/>
        </p:nvSpPr>
        <p:spPr>
          <a:xfrm>
            <a:off x="2112434" y="1007542"/>
            <a:ext cx="7990182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RUN COMMAND USAGE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1762;p53">
            <a:extLst>
              <a:ext uri="{FF2B5EF4-FFF2-40B4-BE49-F238E27FC236}">
                <a16:creationId xmlns:a16="http://schemas.microsoft.com/office/drawing/2014/main" id="{FCE65211-CC46-E2E8-3E72-37CE8EEC6F58}"/>
              </a:ext>
            </a:extLst>
          </p:cNvPr>
          <p:cNvGrpSpPr/>
          <p:nvPr/>
        </p:nvGrpSpPr>
        <p:grpSpPr>
          <a:xfrm>
            <a:off x="2169104" y="2133280"/>
            <a:ext cx="7846367" cy="4291047"/>
            <a:chOff x="1630622" y="1233926"/>
            <a:chExt cx="8631004" cy="4720152"/>
          </a:xfrm>
        </p:grpSpPr>
        <p:sp>
          <p:nvSpPr>
            <p:cNvPr id="11" name="Google Shape;1763;p53">
              <a:extLst>
                <a:ext uri="{FF2B5EF4-FFF2-40B4-BE49-F238E27FC236}">
                  <a16:creationId xmlns:a16="http://schemas.microsoft.com/office/drawing/2014/main" id="{098ABC6C-6961-BFED-3ADB-E8226C665C02}"/>
                </a:ext>
              </a:extLst>
            </p:cNvPr>
            <p:cNvSpPr/>
            <p:nvPr/>
          </p:nvSpPr>
          <p:spPr>
            <a:xfrm>
              <a:off x="4355808" y="1233926"/>
              <a:ext cx="3212100" cy="7200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host-port : container-port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" name="Google Shape;1764;p53">
              <a:extLst>
                <a:ext uri="{FF2B5EF4-FFF2-40B4-BE49-F238E27FC236}">
                  <a16:creationId xmlns:a16="http://schemas.microsoft.com/office/drawing/2014/main" id="{500D7FE5-0E4E-D567-B1C7-4E3EC2A89336}"/>
                </a:ext>
              </a:extLst>
            </p:cNvPr>
            <p:cNvSpPr/>
            <p:nvPr/>
          </p:nvSpPr>
          <p:spPr>
            <a:xfrm>
              <a:off x="1630622" y="5106578"/>
              <a:ext cx="8520600" cy="8475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600" b="0" i="0" u="none" strike="noStrike" cap="none" dirty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Access the deployed application on http://&lt;host-ip&gt;:&lt;host-port&gt;, </a:t>
              </a:r>
              <a:br>
                <a:rPr lang="en" sz="1600" b="0" i="0" u="none" strike="noStrike" cap="none" dirty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1600" b="0" i="0" u="none" strike="noStrike" cap="none" dirty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where host-ip is the public IP address of Docker host</a:t>
              </a:r>
              <a:endParaRPr sz="1600" b="0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3" name="Google Shape;1765;p53">
              <a:extLst>
                <a:ext uri="{FF2B5EF4-FFF2-40B4-BE49-F238E27FC236}">
                  <a16:creationId xmlns:a16="http://schemas.microsoft.com/office/drawing/2014/main" id="{470A8269-BA5F-C846-03C1-07B98BF7ABEB}"/>
                </a:ext>
              </a:extLst>
            </p:cNvPr>
            <p:cNvGrpSpPr/>
            <p:nvPr/>
          </p:nvGrpSpPr>
          <p:grpSpPr>
            <a:xfrm>
              <a:off x="1662126" y="1953910"/>
              <a:ext cx="8599500" cy="1290900"/>
              <a:chOff x="1662126" y="1953910"/>
              <a:chExt cx="8599500" cy="1290900"/>
            </a:xfrm>
          </p:grpSpPr>
          <p:sp>
            <p:nvSpPr>
              <p:cNvPr id="22" name="Google Shape;1766;p53">
                <a:extLst>
                  <a:ext uri="{FF2B5EF4-FFF2-40B4-BE49-F238E27FC236}">
                    <a16:creationId xmlns:a16="http://schemas.microsoft.com/office/drawing/2014/main" id="{744152DC-1983-6212-72D5-05AC5CCCFB6A}"/>
                  </a:ext>
                </a:extLst>
              </p:cNvPr>
              <p:cNvSpPr/>
              <p:nvPr/>
            </p:nvSpPr>
            <p:spPr>
              <a:xfrm>
                <a:off x="1662126" y="2524810"/>
                <a:ext cx="8599500" cy="720000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1" i="0" u="none" strike="noStrike" cap="none">
                    <a:solidFill>
                      <a:srgbClr val="333333"/>
                    </a:solidFill>
                    <a:latin typeface="Lato"/>
                    <a:ea typeface="Lato"/>
                    <a:cs typeface="Lato"/>
                    <a:sym typeface="Lato"/>
                  </a:rPr>
                  <a:t>docker run </a:t>
                </a:r>
                <a:r>
                  <a:rPr lang="en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--name application -d -p 3458:8080 example/application:latest</a:t>
                </a:r>
                <a:endParaRPr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3" name="Google Shape;1767;p53">
                <a:extLst>
                  <a:ext uri="{FF2B5EF4-FFF2-40B4-BE49-F238E27FC236}">
                    <a16:creationId xmlns:a16="http://schemas.microsoft.com/office/drawing/2014/main" id="{AC9B7DE8-CA62-6E37-BAAC-47947FB98E15}"/>
                  </a:ext>
                </a:extLst>
              </p:cNvPr>
              <p:cNvCxnSpPr/>
              <p:nvPr/>
            </p:nvCxnSpPr>
            <p:spPr>
              <a:xfrm rot="10800000">
                <a:off x="5961863" y="1953910"/>
                <a:ext cx="0" cy="570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triangle" w="lg" len="lg"/>
                <a:tailEnd type="none" w="sm" len="sm"/>
              </a:ln>
            </p:spPr>
          </p:cxnSp>
        </p:grpSp>
        <p:grpSp>
          <p:nvGrpSpPr>
            <p:cNvPr id="14" name="Google Shape;1768;p53">
              <a:extLst>
                <a:ext uri="{FF2B5EF4-FFF2-40B4-BE49-F238E27FC236}">
                  <a16:creationId xmlns:a16="http://schemas.microsoft.com/office/drawing/2014/main" id="{45C52999-CFD9-5940-432E-1DC66685BE30}"/>
                </a:ext>
              </a:extLst>
            </p:cNvPr>
            <p:cNvGrpSpPr/>
            <p:nvPr/>
          </p:nvGrpSpPr>
          <p:grpSpPr>
            <a:xfrm>
              <a:off x="1630622" y="3235385"/>
              <a:ext cx="4255359" cy="1449425"/>
              <a:chOff x="1630622" y="3235385"/>
              <a:chExt cx="4255359" cy="1449425"/>
            </a:xfrm>
          </p:grpSpPr>
          <p:sp>
            <p:nvSpPr>
              <p:cNvPr id="19" name="Google Shape;1769;p53">
                <a:extLst>
                  <a:ext uri="{FF2B5EF4-FFF2-40B4-BE49-F238E27FC236}">
                    <a16:creationId xmlns:a16="http://schemas.microsoft.com/office/drawing/2014/main" id="{A6C886B7-34AD-7252-DD37-9B264DC50EAD}"/>
                  </a:ext>
                </a:extLst>
              </p:cNvPr>
              <p:cNvSpPr/>
              <p:nvPr/>
            </p:nvSpPr>
            <p:spPr>
              <a:xfrm>
                <a:off x="1630622" y="3964810"/>
                <a:ext cx="1800000" cy="720000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 dirty="0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Container name</a:t>
                </a:r>
                <a:endParaRPr sz="16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0" name="Google Shape;1770;p53">
                <a:extLst>
                  <a:ext uri="{FF2B5EF4-FFF2-40B4-BE49-F238E27FC236}">
                    <a16:creationId xmlns:a16="http://schemas.microsoft.com/office/drawing/2014/main" id="{6F368EC4-7DD9-3B3D-F006-9992198A1438}"/>
                  </a:ext>
                </a:extLst>
              </p:cNvPr>
              <p:cNvCxnSpPr>
                <a:stCxn id="19" idx="0"/>
              </p:cNvCxnSpPr>
              <p:nvPr/>
            </p:nvCxnSpPr>
            <p:spPr>
              <a:xfrm rot="10800000">
                <a:off x="2530622" y="3244810"/>
                <a:ext cx="0" cy="720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triangle" w="lg" len="lg"/>
                <a:tailEnd type="none" w="sm" len="sm"/>
              </a:ln>
            </p:spPr>
          </p:cxnSp>
          <p:cxnSp>
            <p:nvCxnSpPr>
              <p:cNvPr id="21" name="Google Shape;1771;p53">
                <a:extLst>
                  <a:ext uri="{FF2B5EF4-FFF2-40B4-BE49-F238E27FC236}">
                    <a16:creationId xmlns:a16="http://schemas.microsoft.com/office/drawing/2014/main" id="{F3EE4E07-BD56-2518-B6C8-65A5DE1600B2}"/>
                  </a:ext>
                </a:extLst>
              </p:cNvPr>
              <p:cNvCxnSpPr/>
              <p:nvPr/>
            </p:nvCxnSpPr>
            <p:spPr>
              <a:xfrm rot="10800000">
                <a:off x="5885981" y="3235385"/>
                <a:ext cx="0" cy="719901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triangle" w="lg" len="lg"/>
                <a:tailEnd type="none" w="sm" len="sm"/>
              </a:ln>
            </p:spPr>
          </p:cxnSp>
        </p:grpSp>
        <p:sp>
          <p:nvSpPr>
            <p:cNvPr id="15" name="Google Shape;1772;p53">
              <a:extLst>
                <a:ext uri="{FF2B5EF4-FFF2-40B4-BE49-F238E27FC236}">
                  <a16:creationId xmlns:a16="http://schemas.microsoft.com/office/drawing/2014/main" id="{5F1F53BA-7C2F-7F9F-AB3B-DF1975A05094}"/>
                </a:ext>
              </a:extLst>
            </p:cNvPr>
            <p:cNvSpPr/>
            <p:nvPr/>
          </p:nvSpPr>
          <p:spPr>
            <a:xfrm>
              <a:off x="5050859" y="3964810"/>
              <a:ext cx="1800000" cy="7200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6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Detached mode</a:t>
              </a:r>
              <a:endParaRPr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6" name="Google Shape;1773;p53">
              <a:extLst>
                <a:ext uri="{FF2B5EF4-FFF2-40B4-BE49-F238E27FC236}">
                  <a16:creationId xmlns:a16="http://schemas.microsoft.com/office/drawing/2014/main" id="{A9840DAC-0EA6-2D8F-D709-5E4A2063236C}"/>
                </a:ext>
              </a:extLst>
            </p:cNvPr>
            <p:cNvGrpSpPr/>
            <p:nvPr/>
          </p:nvGrpSpPr>
          <p:grpSpPr>
            <a:xfrm>
              <a:off x="8120270" y="3235285"/>
              <a:ext cx="1800000" cy="1449526"/>
              <a:chOff x="8120270" y="3235285"/>
              <a:chExt cx="1800000" cy="1449526"/>
            </a:xfrm>
          </p:grpSpPr>
          <p:sp>
            <p:nvSpPr>
              <p:cNvPr id="17" name="Google Shape;1774;p53">
                <a:extLst>
                  <a:ext uri="{FF2B5EF4-FFF2-40B4-BE49-F238E27FC236}">
                    <a16:creationId xmlns:a16="http://schemas.microsoft.com/office/drawing/2014/main" id="{05E24C03-7F7E-218F-7AF8-67C7ECBCC65C}"/>
                  </a:ext>
                </a:extLst>
              </p:cNvPr>
              <p:cNvSpPr/>
              <p:nvPr/>
            </p:nvSpPr>
            <p:spPr>
              <a:xfrm>
                <a:off x="8120270" y="3964812"/>
                <a:ext cx="1800000" cy="719999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 dirty="0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Image's full name</a:t>
                </a:r>
                <a:endParaRPr sz="16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8" name="Google Shape;1775;p53">
                <a:extLst>
                  <a:ext uri="{FF2B5EF4-FFF2-40B4-BE49-F238E27FC236}">
                    <a16:creationId xmlns:a16="http://schemas.microsoft.com/office/drawing/2014/main" id="{CB2DF26E-766E-CC4A-9D94-1C333AC9BCC2}"/>
                  </a:ext>
                </a:extLst>
              </p:cNvPr>
              <p:cNvCxnSpPr/>
              <p:nvPr/>
            </p:nvCxnSpPr>
            <p:spPr>
              <a:xfrm rot="10800000">
                <a:off x="8858344" y="3235285"/>
                <a:ext cx="0" cy="719999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triangle" w="lg" len="lg"/>
                <a:tailEnd type="none" w="sm" len="sm"/>
              </a:ln>
            </p:spPr>
          </p:cxnSp>
        </p:grpSp>
      </p:grpSp>
      <p:sp>
        <p:nvSpPr>
          <p:cNvPr id="24" name="Google Shape;1776;p53">
            <a:extLst>
              <a:ext uri="{FF2B5EF4-FFF2-40B4-BE49-F238E27FC236}">
                <a16:creationId xmlns:a16="http://schemas.microsoft.com/office/drawing/2014/main" id="{A76AB642-9944-05D9-2042-15C7EB9F34BF}"/>
              </a:ext>
            </a:extLst>
          </p:cNvPr>
          <p:cNvSpPr/>
          <p:nvPr/>
        </p:nvSpPr>
        <p:spPr>
          <a:xfrm>
            <a:off x="1322763" y="1945531"/>
            <a:ext cx="9659532" cy="4666545"/>
          </a:xfrm>
          <a:prstGeom prst="roundRect">
            <a:avLst>
              <a:gd name="adj" fmla="val 4774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593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781;p54">
            <a:extLst>
              <a:ext uri="{FF2B5EF4-FFF2-40B4-BE49-F238E27FC236}">
                <a16:creationId xmlns:a16="http://schemas.microsoft.com/office/drawing/2014/main" id="{A25E273A-3A43-606D-1563-178E6BB79DF1}"/>
              </a:ext>
            </a:extLst>
          </p:cNvPr>
          <p:cNvSpPr txBox="1"/>
          <p:nvPr/>
        </p:nvSpPr>
        <p:spPr>
          <a:xfrm>
            <a:off x="2414400" y="1275740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RUN COMMAND FLAGS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782;p54">
            <a:extLst>
              <a:ext uri="{FF2B5EF4-FFF2-40B4-BE49-F238E27FC236}">
                <a16:creationId xmlns:a16="http://schemas.microsoft.com/office/drawing/2014/main" id="{54173E40-AEB2-75B7-4346-88EA474959B6}"/>
              </a:ext>
            </a:extLst>
          </p:cNvPr>
          <p:cNvSpPr/>
          <p:nvPr/>
        </p:nvSpPr>
        <p:spPr>
          <a:xfrm>
            <a:off x="839788" y="2613734"/>
            <a:ext cx="10585450" cy="3642212"/>
          </a:xfrm>
          <a:prstGeom prst="roundRect">
            <a:avLst>
              <a:gd name="adj" fmla="val 5452"/>
            </a:avLst>
          </a:prstGeom>
          <a:noFill/>
          <a:ln w="28575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run --</a:t>
            </a:r>
            <a:r>
              <a:rPr lang="en" sz="2000" b="1" i="0" u="none" strike="noStrike" cap="non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name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000" b="1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test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-it debian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-it flag is used to open an interactive terminal in the container and attach a pseudo TTY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run </a:t>
            </a:r>
            <a:r>
              <a:rPr lang="en" sz="2000" b="1" i="0" u="none" strike="noStrike" cap="non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-p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127.0.0.1:80:8080/tcp ubuntu bash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-p flag is used for port mapping between the host port and the container port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run </a:t>
            </a:r>
            <a:r>
              <a:rPr lang="en" sz="2000" b="1" i="0" u="none" strike="noStrike" cap="non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-e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MYVAR1 </a:t>
            </a:r>
            <a:r>
              <a:rPr lang="en" sz="2000" b="1" i="0" u="none" strike="noStrike" cap="non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--env </a:t>
            </a:r>
            <a:r>
              <a:rPr lang="en" sz="2000" b="1" i="0" u="none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MYVAR2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=foo </a:t>
            </a:r>
            <a:r>
              <a:rPr lang="en" sz="2000" b="1" i="0" u="none" strike="noStrike" cap="non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--env-file 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./env.list ubuntu bash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-e, --env, and --env-file flags are used to create environment variables in the container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283939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787;p55">
            <a:extLst>
              <a:ext uri="{FF2B5EF4-FFF2-40B4-BE49-F238E27FC236}">
                <a16:creationId xmlns:a16="http://schemas.microsoft.com/office/drawing/2014/main" id="{4D239515-0A20-7F51-7378-EE3420E6E037}"/>
              </a:ext>
            </a:extLst>
          </p:cNvPr>
          <p:cNvSpPr txBox="1"/>
          <p:nvPr/>
        </p:nvSpPr>
        <p:spPr>
          <a:xfrm>
            <a:off x="2414400" y="1293940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CONTAINER COMMANDS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788;p55">
            <a:extLst>
              <a:ext uri="{FF2B5EF4-FFF2-40B4-BE49-F238E27FC236}">
                <a16:creationId xmlns:a16="http://schemas.microsoft.com/office/drawing/2014/main" id="{692A96D6-BA68-3FD3-B2B6-EFF09AE56A1D}"/>
              </a:ext>
            </a:extLst>
          </p:cNvPr>
          <p:cNvSpPr/>
          <p:nvPr/>
        </p:nvSpPr>
        <p:spPr>
          <a:xfrm>
            <a:off x="839788" y="2150365"/>
            <a:ext cx="10585450" cy="4253680"/>
          </a:xfrm>
          <a:prstGeom prst="roundRect">
            <a:avLst>
              <a:gd name="adj" fmla="val 5452"/>
            </a:avLst>
          </a:prstGeom>
          <a:noFill/>
          <a:ln w="28575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run -it -d &lt;image_name&gt;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This command creates an container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5"/>
                  </a:ext>
                </a:extLst>
              </a:rPr>
              <a:t> with interactive terminal running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in detached mode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ps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This command enables you to see the list of containers that are in t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he 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running state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ps -a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This command is used to see the list of stopped and running containers 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exec -it &lt;container_id&gt; bash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This command is used to run a bash process inside 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running container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125619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4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4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793;p56">
            <a:extLst>
              <a:ext uri="{FF2B5EF4-FFF2-40B4-BE49-F238E27FC236}">
                <a16:creationId xmlns:a16="http://schemas.microsoft.com/office/drawing/2014/main" id="{5AA2D95D-032B-1FF3-EE56-0CD34A28D663}"/>
              </a:ext>
            </a:extLst>
          </p:cNvPr>
          <p:cNvSpPr txBox="1"/>
          <p:nvPr/>
        </p:nvSpPr>
        <p:spPr>
          <a:xfrm>
            <a:off x="2414400" y="1321460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CONTAINER COMMANDS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794;p56">
            <a:extLst>
              <a:ext uri="{FF2B5EF4-FFF2-40B4-BE49-F238E27FC236}">
                <a16:creationId xmlns:a16="http://schemas.microsoft.com/office/drawing/2014/main" id="{00082EF6-DCB1-EFAE-5AA5-5B954DD7405C}"/>
              </a:ext>
            </a:extLst>
          </p:cNvPr>
          <p:cNvSpPr/>
          <p:nvPr/>
        </p:nvSpPr>
        <p:spPr>
          <a:xfrm>
            <a:off x="1296194" y="3255827"/>
            <a:ext cx="9599612" cy="2462983"/>
          </a:xfrm>
          <a:prstGeom prst="roundRect">
            <a:avLst>
              <a:gd name="adj" fmla="val 5452"/>
            </a:avLst>
          </a:prstGeom>
          <a:noFill/>
          <a:ln w="28575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9200" marR="0" lvl="0" indent="-349200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stop &lt;container_id&gt;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84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This command takes container_id as a parameter and stops 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running container.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kill &lt;container_id&gt;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84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This command kills one or more containers forcefully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982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799;p57">
            <a:extLst>
              <a:ext uri="{FF2B5EF4-FFF2-40B4-BE49-F238E27FC236}">
                <a16:creationId xmlns:a16="http://schemas.microsoft.com/office/drawing/2014/main" id="{90B4AAEC-43CC-30AD-8EB8-2999DA45A957}"/>
              </a:ext>
            </a:extLst>
          </p:cNvPr>
          <p:cNvSpPr txBox="1"/>
          <p:nvPr/>
        </p:nvSpPr>
        <p:spPr>
          <a:xfrm>
            <a:off x="1206500" y="1244451"/>
            <a:ext cx="9779200" cy="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DEMO 6: DOCKER CONTAINER COMMANDS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800;p57">
            <a:extLst>
              <a:ext uri="{FF2B5EF4-FFF2-40B4-BE49-F238E27FC236}">
                <a16:creationId xmlns:a16="http://schemas.microsoft.com/office/drawing/2014/main" id="{365CFF4C-681F-8D85-E6D9-6B90A14DD08A}"/>
              </a:ext>
            </a:extLst>
          </p:cNvPr>
          <p:cNvSpPr/>
          <p:nvPr/>
        </p:nvSpPr>
        <p:spPr>
          <a:xfrm>
            <a:off x="3288504" y="2552928"/>
            <a:ext cx="5614992" cy="3489504"/>
          </a:xfrm>
          <a:prstGeom prst="roundRect">
            <a:avLst>
              <a:gd name="adj" fmla="val 6547"/>
            </a:avLst>
          </a:prstGeom>
          <a:noFill/>
          <a:ln w="28575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9200" marR="0" lvl="0" indent="-349200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ocker run 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ommand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Different flags (i, t, d, 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Port 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apping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Stop, start, exec, pause, 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and 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attach command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ps, ps -a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top vs kill comman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d (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Differences)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6"/>
                  </a:ext>
                </a:extLst>
              </a:rPr>
              <a:t>C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7"/>
                  </a:ext>
                </a:extLst>
              </a:rPr>
              <a:t>ommit command to persist the changes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3939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4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805;p58">
            <a:extLst>
              <a:ext uri="{FF2B5EF4-FFF2-40B4-BE49-F238E27FC236}">
                <a16:creationId xmlns:a16="http://schemas.microsoft.com/office/drawing/2014/main" id="{C59EE551-F617-0158-C636-5FC18E57251E}"/>
              </a:ext>
            </a:extLst>
          </p:cNvPr>
          <p:cNvSpPr txBox="1"/>
          <p:nvPr/>
        </p:nvSpPr>
        <p:spPr>
          <a:xfrm>
            <a:off x="2100909" y="1335609"/>
            <a:ext cx="7990182" cy="4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LOGGING </a:t>
            </a:r>
            <a:r>
              <a:rPr lang="en" sz="2400">
                <a:latin typeface="Lato"/>
                <a:ea typeface="Lato"/>
                <a:cs typeface="Lato"/>
                <a:sym typeface="Lato"/>
              </a:rPr>
              <a:t>AND</a:t>
            </a: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SECURING A CONTAINER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1806;p58">
            <a:extLst>
              <a:ext uri="{FF2B5EF4-FFF2-40B4-BE49-F238E27FC236}">
                <a16:creationId xmlns:a16="http://schemas.microsoft.com/office/drawing/2014/main" id="{C614AAC1-B094-CFE7-79C9-8F004CB9DFA0}"/>
              </a:ext>
            </a:extLst>
          </p:cNvPr>
          <p:cNvGrpSpPr/>
          <p:nvPr/>
        </p:nvGrpSpPr>
        <p:grpSpPr>
          <a:xfrm>
            <a:off x="1320945" y="2221654"/>
            <a:ext cx="9623136" cy="4242314"/>
            <a:chOff x="839788" y="1062979"/>
            <a:chExt cx="10585450" cy="5133200"/>
          </a:xfrm>
        </p:grpSpPr>
        <p:pic>
          <p:nvPicPr>
            <p:cNvPr id="11" name="Google Shape;1807;p58">
              <a:extLst>
                <a:ext uri="{FF2B5EF4-FFF2-40B4-BE49-F238E27FC236}">
                  <a16:creationId xmlns:a16="http://schemas.microsoft.com/office/drawing/2014/main" id="{284FA5BC-DF3F-7686-5DBB-E2917395E23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44227" y="1364176"/>
              <a:ext cx="4530806" cy="45308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808;p58">
              <a:extLst>
                <a:ext uri="{FF2B5EF4-FFF2-40B4-BE49-F238E27FC236}">
                  <a16:creationId xmlns:a16="http://schemas.microsoft.com/office/drawing/2014/main" id="{F2E950FD-ED8D-F11D-022D-11B711290AA7}"/>
                </a:ext>
              </a:extLst>
            </p:cNvPr>
            <p:cNvSpPr/>
            <p:nvPr/>
          </p:nvSpPr>
          <p:spPr>
            <a:xfrm>
              <a:off x="839788" y="1062979"/>
              <a:ext cx="10585450" cy="5133200"/>
            </a:xfrm>
            <a:prstGeom prst="roundRect">
              <a:avLst>
                <a:gd name="adj" fmla="val 4774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809;p58">
              <a:extLst>
                <a:ext uri="{FF2B5EF4-FFF2-40B4-BE49-F238E27FC236}">
                  <a16:creationId xmlns:a16="http://schemas.microsoft.com/office/drawing/2014/main" id="{1B0BF5EA-FBA0-C6BB-B79A-EF944BA4D464}"/>
                </a:ext>
              </a:extLst>
            </p:cNvPr>
            <p:cNvSpPr/>
            <p:nvPr/>
          </p:nvSpPr>
          <p:spPr>
            <a:xfrm>
              <a:off x="5061281" y="1610989"/>
              <a:ext cx="5102050" cy="2290266"/>
            </a:xfrm>
            <a:prstGeom prst="cloud">
              <a:avLst/>
            </a:prstGeom>
            <a:solidFill>
              <a:schemeClr val="lt1"/>
            </a:solidFill>
            <a:ln w="25400" cap="flat" cmpd="sng">
              <a:solidFill>
                <a:schemeClr val="bg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How can we check logs and secure applications running in Docker containers? 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746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814;p59">
            <a:extLst>
              <a:ext uri="{FF2B5EF4-FFF2-40B4-BE49-F238E27FC236}">
                <a16:creationId xmlns:a16="http://schemas.microsoft.com/office/drawing/2014/main" id="{4287AA5C-761A-15CA-6689-CB81A155B3DF}"/>
              </a:ext>
            </a:extLst>
          </p:cNvPr>
          <p:cNvSpPr/>
          <p:nvPr/>
        </p:nvSpPr>
        <p:spPr>
          <a:xfrm>
            <a:off x="1320945" y="2254142"/>
            <a:ext cx="9623136" cy="4436017"/>
          </a:xfrm>
          <a:prstGeom prst="roundRect">
            <a:avLst>
              <a:gd name="adj" fmla="val 5452"/>
            </a:avLst>
          </a:prstGeom>
          <a:noFill/>
          <a:ln w="28575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9200" marR="0" lvl="0" indent="-349200" algn="l" rtl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When UNIX and Linux commands run, they normally open the three I/O streams known as STDIN, STDOUT, and STDERR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815;p59">
            <a:extLst>
              <a:ext uri="{FF2B5EF4-FFF2-40B4-BE49-F238E27FC236}">
                <a16:creationId xmlns:a16="http://schemas.microsoft.com/office/drawing/2014/main" id="{DABBE76E-139C-78E7-6AED-3AA3AED6F9F6}"/>
              </a:ext>
            </a:extLst>
          </p:cNvPr>
          <p:cNvSpPr txBox="1"/>
          <p:nvPr/>
        </p:nvSpPr>
        <p:spPr>
          <a:xfrm>
            <a:off x="2260728" y="1274417"/>
            <a:ext cx="7670545" cy="443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LOGGING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816;p59">
            <a:extLst>
              <a:ext uri="{FF2B5EF4-FFF2-40B4-BE49-F238E27FC236}">
                <a16:creationId xmlns:a16="http://schemas.microsoft.com/office/drawing/2014/main" id="{037A2DA1-146B-5FAC-5109-8CD6BBC03471}"/>
              </a:ext>
            </a:extLst>
          </p:cNvPr>
          <p:cNvGrpSpPr/>
          <p:nvPr/>
        </p:nvGrpSpPr>
        <p:grpSpPr>
          <a:xfrm>
            <a:off x="2467250" y="3577462"/>
            <a:ext cx="7683996" cy="2915537"/>
            <a:chOff x="2083050" y="2420938"/>
            <a:chExt cx="8452396" cy="3527800"/>
          </a:xfrm>
        </p:grpSpPr>
        <p:sp>
          <p:nvSpPr>
            <p:cNvPr id="12" name="Google Shape;1817;p59">
              <a:extLst>
                <a:ext uri="{FF2B5EF4-FFF2-40B4-BE49-F238E27FC236}">
                  <a16:creationId xmlns:a16="http://schemas.microsoft.com/office/drawing/2014/main" id="{605B5770-7497-9ED3-DFDB-634425D7C681}"/>
                </a:ext>
              </a:extLst>
            </p:cNvPr>
            <p:cNvSpPr/>
            <p:nvPr/>
          </p:nvSpPr>
          <p:spPr>
            <a:xfrm>
              <a:off x="4171950" y="5205788"/>
              <a:ext cx="3848100" cy="74295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Your Terminal</a:t>
              </a:r>
              <a:endParaRPr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Google Shape;1818;p59">
              <a:extLst>
                <a:ext uri="{FF2B5EF4-FFF2-40B4-BE49-F238E27FC236}">
                  <a16:creationId xmlns:a16="http://schemas.microsoft.com/office/drawing/2014/main" id="{BF8543EF-8B6D-1880-9812-4917E0E0FFCE}"/>
                </a:ext>
              </a:extLst>
            </p:cNvPr>
            <p:cNvSpPr/>
            <p:nvPr/>
          </p:nvSpPr>
          <p:spPr>
            <a:xfrm>
              <a:off x="2466190" y="2420938"/>
              <a:ext cx="2982109" cy="742950"/>
            </a:xfrm>
            <a:prstGeom prst="roundRect">
              <a:avLst>
                <a:gd name="adj" fmla="val 13590"/>
              </a:avLst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Bash </a:t>
              </a:r>
              <a:endParaRPr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" name="Google Shape;1819;p59">
              <a:extLst>
                <a:ext uri="{FF2B5EF4-FFF2-40B4-BE49-F238E27FC236}">
                  <a16:creationId xmlns:a16="http://schemas.microsoft.com/office/drawing/2014/main" id="{52D51CF9-96E0-45A1-D80F-71A9CA04ADFD}"/>
                </a:ext>
              </a:extLst>
            </p:cNvPr>
            <p:cNvSpPr/>
            <p:nvPr/>
          </p:nvSpPr>
          <p:spPr>
            <a:xfrm>
              <a:off x="6743701" y="2420938"/>
              <a:ext cx="2971800" cy="742950"/>
            </a:xfrm>
            <a:prstGeom prst="roundRect">
              <a:avLst>
                <a:gd name="adj" fmla="val 8974"/>
              </a:avLst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nginx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" name="Google Shape;1820;p59">
              <a:extLst>
                <a:ext uri="{FF2B5EF4-FFF2-40B4-BE49-F238E27FC236}">
                  <a16:creationId xmlns:a16="http://schemas.microsoft.com/office/drawing/2014/main" id="{0947429F-D1EA-5A7D-437A-E0C1884F43FE}"/>
                </a:ext>
              </a:extLst>
            </p:cNvPr>
            <p:cNvCxnSpPr>
              <a:stCxn id="12" idx="0"/>
            </p:cNvCxnSpPr>
            <p:nvPr/>
          </p:nvCxnSpPr>
          <p:spPr>
            <a:xfrm rot="10800000" flipH="1">
              <a:off x="6096000" y="3755888"/>
              <a:ext cx="2133600" cy="1449900"/>
            </a:xfrm>
            <a:prstGeom prst="straightConnector1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6" name="Google Shape;1821;p59">
              <a:extLst>
                <a:ext uri="{FF2B5EF4-FFF2-40B4-BE49-F238E27FC236}">
                  <a16:creationId xmlns:a16="http://schemas.microsoft.com/office/drawing/2014/main" id="{276E5E0D-D244-C3F2-637D-832D8E760758}"/>
                </a:ext>
              </a:extLst>
            </p:cNvPr>
            <p:cNvCxnSpPr>
              <a:stCxn id="12" idx="0"/>
              <a:endCxn id="25" idx="2"/>
            </p:cNvCxnSpPr>
            <p:nvPr/>
          </p:nvCxnSpPr>
          <p:spPr>
            <a:xfrm rot="10800000">
              <a:off x="3976200" y="3718988"/>
              <a:ext cx="2119800" cy="1486800"/>
            </a:xfrm>
            <a:prstGeom prst="straightConnector1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sp>
          <p:nvSpPr>
            <p:cNvPr id="17" name="Google Shape;1823;p59">
              <a:extLst>
                <a:ext uri="{FF2B5EF4-FFF2-40B4-BE49-F238E27FC236}">
                  <a16:creationId xmlns:a16="http://schemas.microsoft.com/office/drawing/2014/main" id="{4B5999E5-8B3D-B4FE-898D-83EA829873B6}"/>
                </a:ext>
              </a:extLst>
            </p:cNvPr>
            <p:cNvSpPr txBox="1"/>
            <p:nvPr/>
          </p:nvSpPr>
          <p:spPr>
            <a:xfrm>
              <a:off x="2083050" y="4367484"/>
              <a:ext cx="256009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Things that you type</a:t>
              </a:r>
              <a:endParaRPr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" name="Google Shape;1824;p59">
              <a:extLst>
                <a:ext uri="{FF2B5EF4-FFF2-40B4-BE49-F238E27FC236}">
                  <a16:creationId xmlns:a16="http://schemas.microsoft.com/office/drawing/2014/main" id="{BC180BB2-609C-743F-F0AB-90E0BE50E359}"/>
                </a:ext>
              </a:extLst>
            </p:cNvPr>
            <p:cNvSpPr txBox="1"/>
            <p:nvPr/>
          </p:nvSpPr>
          <p:spPr>
            <a:xfrm>
              <a:off x="7975349" y="4367484"/>
              <a:ext cx="256009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Things that you type</a:t>
              </a:r>
              <a:endParaRPr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9" name="Google Shape;1825;p59">
              <a:extLst>
                <a:ext uri="{FF2B5EF4-FFF2-40B4-BE49-F238E27FC236}">
                  <a16:creationId xmlns:a16="http://schemas.microsoft.com/office/drawing/2014/main" id="{5B51E2C7-CB64-0112-FF74-D9FDC03039F3}"/>
                </a:ext>
              </a:extLst>
            </p:cNvPr>
            <p:cNvGrpSpPr/>
            <p:nvPr/>
          </p:nvGrpSpPr>
          <p:grpSpPr>
            <a:xfrm>
              <a:off x="2476499" y="3177367"/>
              <a:ext cx="2971800" cy="541654"/>
              <a:chOff x="2476499" y="3177367"/>
              <a:chExt cx="2971800" cy="541654"/>
            </a:xfrm>
          </p:grpSpPr>
          <p:sp>
            <p:nvSpPr>
              <p:cNvPr id="24" name="Google Shape;1826;p59">
                <a:extLst>
                  <a:ext uri="{FF2B5EF4-FFF2-40B4-BE49-F238E27FC236}">
                    <a16:creationId xmlns:a16="http://schemas.microsoft.com/office/drawing/2014/main" id="{EF8F5665-94C5-56D7-43B8-BF9534AA7C78}"/>
                  </a:ext>
                </a:extLst>
              </p:cNvPr>
              <p:cNvSpPr/>
              <p:nvPr/>
            </p:nvSpPr>
            <p:spPr>
              <a:xfrm>
                <a:off x="2476499" y="3177367"/>
                <a:ext cx="1030686" cy="541654"/>
              </a:xfrm>
              <a:prstGeom prst="roundRect">
                <a:avLst>
                  <a:gd name="adj" fmla="val 0"/>
                </a:avLst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stdin</a:t>
                </a:r>
                <a:endParaRPr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" name="Google Shape;1822;p59">
                <a:extLst>
                  <a:ext uri="{FF2B5EF4-FFF2-40B4-BE49-F238E27FC236}">
                    <a16:creationId xmlns:a16="http://schemas.microsoft.com/office/drawing/2014/main" id="{1B2C75A9-D828-257D-EBAF-4F252A46753F}"/>
                  </a:ext>
                </a:extLst>
              </p:cNvPr>
              <p:cNvSpPr/>
              <p:nvPr/>
            </p:nvSpPr>
            <p:spPr>
              <a:xfrm>
                <a:off x="3507185" y="3177367"/>
                <a:ext cx="937812" cy="541654"/>
              </a:xfrm>
              <a:prstGeom prst="roundRect">
                <a:avLst>
                  <a:gd name="adj" fmla="val 0"/>
                </a:avLst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stdout</a:t>
                </a: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" name="Google Shape;1827;p59">
                <a:extLst>
                  <a:ext uri="{FF2B5EF4-FFF2-40B4-BE49-F238E27FC236}">
                    <a16:creationId xmlns:a16="http://schemas.microsoft.com/office/drawing/2014/main" id="{7ED21F5E-E051-4EA7-D7FC-C11440329CAA}"/>
                  </a:ext>
                </a:extLst>
              </p:cNvPr>
              <p:cNvSpPr/>
              <p:nvPr/>
            </p:nvSpPr>
            <p:spPr>
              <a:xfrm>
                <a:off x="4444997" y="3177367"/>
                <a:ext cx="1003302" cy="541654"/>
              </a:xfrm>
              <a:prstGeom prst="roundRect">
                <a:avLst>
                  <a:gd name="adj" fmla="val 0"/>
                </a:avLst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stderr</a:t>
                </a:r>
                <a:endParaRPr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0" name="Google Shape;1828;p59">
              <a:extLst>
                <a:ext uri="{FF2B5EF4-FFF2-40B4-BE49-F238E27FC236}">
                  <a16:creationId xmlns:a16="http://schemas.microsoft.com/office/drawing/2014/main" id="{842053DF-5722-2371-3501-E3937E8254F6}"/>
                </a:ext>
              </a:extLst>
            </p:cNvPr>
            <p:cNvGrpSpPr/>
            <p:nvPr/>
          </p:nvGrpSpPr>
          <p:grpSpPr>
            <a:xfrm>
              <a:off x="6743701" y="3177367"/>
              <a:ext cx="2971800" cy="541654"/>
              <a:chOff x="2476499" y="3177367"/>
              <a:chExt cx="2971800" cy="541654"/>
            </a:xfrm>
          </p:grpSpPr>
          <p:sp>
            <p:nvSpPr>
              <p:cNvPr id="21" name="Google Shape;1829;p59">
                <a:extLst>
                  <a:ext uri="{FF2B5EF4-FFF2-40B4-BE49-F238E27FC236}">
                    <a16:creationId xmlns:a16="http://schemas.microsoft.com/office/drawing/2014/main" id="{2273C8C9-4AA6-1C08-DCBB-1FAB29CBBF30}"/>
                  </a:ext>
                </a:extLst>
              </p:cNvPr>
              <p:cNvSpPr/>
              <p:nvPr/>
            </p:nvSpPr>
            <p:spPr>
              <a:xfrm>
                <a:off x="2476499" y="3177367"/>
                <a:ext cx="1030686" cy="541654"/>
              </a:xfrm>
              <a:prstGeom prst="roundRect">
                <a:avLst>
                  <a:gd name="adj" fmla="val 0"/>
                </a:avLst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stdin</a:t>
                </a:r>
                <a:endParaRPr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" name="Google Shape;1830;p59">
                <a:extLst>
                  <a:ext uri="{FF2B5EF4-FFF2-40B4-BE49-F238E27FC236}">
                    <a16:creationId xmlns:a16="http://schemas.microsoft.com/office/drawing/2014/main" id="{56DB0ADF-3C06-D4FD-DDB5-C750CF6F28FE}"/>
                  </a:ext>
                </a:extLst>
              </p:cNvPr>
              <p:cNvSpPr/>
              <p:nvPr/>
            </p:nvSpPr>
            <p:spPr>
              <a:xfrm>
                <a:off x="3507185" y="3177367"/>
                <a:ext cx="937812" cy="541654"/>
              </a:xfrm>
              <a:prstGeom prst="roundRect">
                <a:avLst>
                  <a:gd name="adj" fmla="val 0"/>
                </a:avLst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stdout</a:t>
                </a: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" name="Google Shape;1831;p59">
                <a:extLst>
                  <a:ext uri="{FF2B5EF4-FFF2-40B4-BE49-F238E27FC236}">
                    <a16:creationId xmlns:a16="http://schemas.microsoft.com/office/drawing/2014/main" id="{5776A608-DD3A-CD61-8F34-CA0F5BD6EBE3}"/>
                  </a:ext>
                </a:extLst>
              </p:cNvPr>
              <p:cNvSpPr/>
              <p:nvPr/>
            </p:nvSpPr>
            <p:spPr>
              <a:xfrm>
                <a:off x="4444997" y="3177367"/>
                <a:ext cx="1003302" cy="541654"/>
              </a:xfrm>
              <a:prstGeom prst="roundRect">
                <a:avLst>
                  <a:gd name="adj" fmla="val 0"/>
                </a:avLst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stderr</a:t>
                </a: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645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836;p60">
            <a:extLst>
              <a:ext uri="{FF2B5EF4-FFF2-40B4-BE49-F238E27FC236}">
                <a16:creationId xmlns:a16="http://schemas.microsoft.com/office/drawing/2014/main" id="{0B8821E5-649D-8C46-2BD8-682664D528D3}"/>
              </a:ext>
            </a:extLst>
          </p:cNvPr>
          <p:cNvSpPr txBox="1"/>
          <p:nvPr/>
        </p:nvSpPr>
        <p:spPr>
          <a:xfrm>
            <a:off x="1913713" y="1216831"/>
            <a:ext cx="84376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LOGGING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837;p60">
            <a:extLst>
              <a:ext uri="{FF2B5EF4-FFF2-40B4-BE49-F238E27FC236}">
                <a16:creationId xmlns:a16="http://schemas.microsoft.com/office/drawing/2014/main" id="{5CDD7348-77CC-59EB-A0D9-4AF3951E35EE}"/>
              </a:ext>
            </a:extLst>
          </p:cNvPr>
          <p:cNvSpPr/>
          <p:nvPr/>
        </p:nvSpPr>
        <p:spPr>
          <a:xfrm>
            <a:off x="839788" y="1870208"/>
            <a:ext cx="10585450" cy="4496629"/>
          </a:xfrm>
          <a:prstGeom prst="roundRect">
            <a:avLst>
              <a:gd name="adj" fmla="val 3965"/>
            </a:avLst>
          </a:prstGeom>
          <a:noFill/>
          <a:ln w="28575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 lot of logging driver options are available in Docker, including:</a:t>
            </a:r>
            <a:endParaRPr sz="18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json-file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none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syslog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local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journald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splunk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awslogs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docker logs command is not available for drivers other than json-file and journald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127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4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4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4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842;p61">
            <a:extLst>
              <a:ext uri="{FF2B5EF4-FFF2-40B4-BE49-F238E27FC236}">
                <a16:creationId xmlns:a16="http://schemas.microsoft.com/office/drawing/2014/main" id="{273D2F11-1C01-CB05-0FDA-BE133048D2C8}"/>
              </a:ext>
            </a:extLst>
          </p:cNvPr>
          <p:cNvSpPr txBox="1"/>
          <p:nvPr/>
        </p:nvSpPr>
        <p:spPr>
          <a:xfrm>
            <a:off x="1206500" y="1253595"/>
            <a:ext cx="9779200" cy="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DEMO 7: DOCKER LOGGING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843;p61">
            <a:extLst>
              <a:ext uri="{FF2B5EF4-FFF2-40B4-BE49-F238E27FC236}">
                <a16:creationId xmlns:a16="http://schemas.microsoft.com/office/drawing/2014/main" id="{B69130F7-F809-6ED6-2EEE-99CCE96966D6}"/>
              </a:ext>
            </a:extLst>
          </p:cNvPr>
          <p:cNvSpPr/>
          <p:nvPr/>
        </p:nvSpPr>
        <p:spPr>
          <a:xfrm>
            <a:off x="3628570" y="3957440"/>
            <a:ext cx="4934860" cy="698768"/>
          </a:xfrm>
          <a:prstGeom prst="roundRect">
            <a:avLst>
              <a:gd name="adj" fmla="val 16933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9200" marR="0" lvl="0" indent="-349200" algn="ctr" rtl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Using the docker logs command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568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848;p62">
            <a:extLst>
              <a:ext uri="{FF2B5EF4-FFF2-40B4-BE49-F238E27FC236}">
                <a16:creationId xmlns:a16="http://schemas.microsoft.com/office/drawing/2014/main" id="{B643610E-68E4-4AF5-AAF2-B2F55C48D7CA}"/>
              </a:ext>
            </a:extLst>
          </p:cNvPr>
          <p:cNvSpPr txBox="1"/>
          <p:nvPr/>
        </p:nvSpPr>
        <p:spPr>
          <a:xfrm>
            <a:off x="1877200" y="1233830"/>
            <a:ext cx="84376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SECURING DOCKER CONTAINER DEPLOYMENTS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849;p62">
            <a:extLst>
              <a:ext uri="{FF2B5EF4-FFF2-40B4-BE49-F238E27FC236}">
                <a16:creationId xmlns:a16="http://schemas.microsoft.com/office/drawing/2014/main" id="{42B9FC4D-C23D-7799-554B-5AB62C61ACBF}"/>
              </a:ext>
            </a:extLst>
          </p:cNvPr>
          <p:cNvSpPr/>
          <p:nvPr/>
        </p:nvSpPr>
        <p:spPr>
          <a:xfrm>
            <a:off x="2445339" y="2306409"/>
            <a:ext cx="7346362" cy="3982542"/>
          </a:xfrm>
          <a:prstGeom prst="roundRect">
            <a:avLst>
              <a:gd name="adj" fmla="val 3965"/>
            </a:avLst>
          </a:prstGeom>
          <a:noFill/>
          <a:ln w="28575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8"/>
                  </a:ext>
                </a:extLst>
              </a:rPr>
              <a:t>Containers should be run as a non-root user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Setting up a non-root user in your Dockerfile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Including the –user option in your Docker run command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Use 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9"/>
                  </a:ext>
                </a:extLst>
              </a:rPr>
              <a:t>your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own private registry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Keep the images lean and clean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Choose minimi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ed parent images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Optimi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 images in dockerfile and .dockerignore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Use multi-stage builds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24457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4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4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1855;p63">
            <a:extLst>
              <a:ext uri="{FF2B5EF4-FFF2-40B4-BE49-F238E27FC236}">
                <a16:creationId xmlns:a16="http://schemas.microsoft.com/office/drawing/2014/main" id="{98B8F9DC-52CD-685D-066F-C2804A5BAEA9}"/>
              </a:ext>
            </a:extLst>
          </p:cNvPr>
          <p:cNvGrpSpPr/>
          <p:nvPr/>
        </p:nvGrpSpPr>
        <p:grpSpPr>
          <a:xfrm>
            <a:off x="5630972" y="1939507"/>
            <a:ext cx="3186729" cy="1495313"/>
            <a:chOff x="8563760" y="1258645"/>
            <a:chExt cx="3186729" cy="1495313"/>
          </a:xfrm>
        </p:grpSpPr>
        <p:sp>
          <p:nvSpPr>
            <p:cNvPr id="10" name="Google Shape;1856;p63">
              <a:extLst>
                <a:ext uri="{FF2B5EF4-FFF2-40B4-BE49-F238E27FC236}">
                  <a16:creationId xmlns:a16="http://schemas.microsoft.com/office/drawing/2014/main" id="{7083888B-9050-B4D2-DA51-88DC1CB2231A}"/>
                </a:ext>
              </a:extLst>
            </p:cNvPr>
            <p:cNvSpPr/>
            <p:nvPr/>
          </p:nvSpPr>
          <p:spPr>
            <a:xfrm>
              <a:off x="8563760" y="1258645"/>
              <a:ext cx="1795853" cy="1495313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234950" cap="flat" cmpd="sng">
              <a:solidFill>
                <a:srgbClr val="DEDED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857;p63">
              <a:extLst>
                <a:ext uri="{FF2B5EF4-FFF2-40B4-BE49-F238E27FC236}">
                  <a16:creationId xmlns:a16="http://schemas.microsoft.com/office/drawing/2014/main" id="{73FEFA72-6FC9-E449-9CBE-F3E0E0B3F5E0}"/>
                </a:ext>
              </a:extLst>
            </p:cNvPr>
            <p:cNvSpPr/>
            <p:nvPr/>
          </p:nvSpPr>
          <p:spPr>
            <a:xfrm>
              <a:off x="9031739" y="1378212"/>
              <a:ext cx="2718750" cy="126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0" sx="79000" sy="79000" algn="ctr" rotWithShape="0">
                <a:srgbClr val="505050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" name="Google Shape;1858;p63">
            <a:extLst>
              <a:ext uri="{FF2B5EF4-FFF2-40B4-BE49-F238E27FC236}">
                <a16:creationId xmlns:a16="http://schemas.microsoft.com/office/drawing/2014/main" id="{B66EFE57-F822-B728-8690-DAD17CC70590}"/>
              </a:ext>
            </a:extLst>
          </p:cNvPr>
          <p:cNvSpPr txBox="1"/>
          <p:nvPr/>
        </p:nvSpPr>
        <p:spPr>
          <a:xfrm>
            <a:off x="6736222" y="2191376"/>
            <a:ext cx="1973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Docker Overview </a:t>
            </a:r>
            <a:r>
              <a:rPr lang="en" sz="1800" b="1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" sz="1800" b="1" i="0" u="none" strike="noStrike" cap="non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nd Installation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" name="Google Shape;1859;p63">
            <a:extLst>
              <a:ext uri="{FF2B5EF4-FFF2-40B4-BE49-F238E27FC236}">
                <a16:creationId xmlns:a16="http://schemas.microsoft.com/office/drawing/2014/main" id="{AFF3CE31-F786-DE5D-E0E1-070D6066ED31}"/>
              </a:ext>
            </a:extLst>
          </p:cNvPr>
          <p:cNvGrpSpPr/>
          <p:nvPr/>
        </p:nvGrpSpPr>
        <p:grpSpPr>
          <a:xfrm flipH="1">
            <a:off x="2697046" y="2834124"/>
            <a:ext cx="3078409" cy="1495313"/>
            <a:chOff x="8563760" y="1258645"/>
            <a:chExt cx="3078409" cy="1495313"/>
          </a:xfrm>
        </p:grpSpPr>
        <p:sp>
          <p:nvSpPr>
            <p:cNvPr id="14" name="Google Shape;1860;p63">
              <a:extLst>
                <a:ext uri="{FF2B5EF4-FFF2-40B4-BE49-F238E27FC236}">
                  <a16:creationId xmlns:a16="http://schemas.microsoft.com/office/drawing/2014/main" id="{9A1AF4C5-E996-3A90-A9EA-D616BB0D5880}"/>
                </a:ext>
              </a:extLst>
            </p:cNvPr>
            <p:cNvSpPr/>
            <p:nvPr/>
          </p:nvSpPr>
          <p:spPr>
            <a:xfrm>
              <a:off x="8563760" y="1258645"/>
              <a:ext cx="1795853" cy="1495313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234950" cap="flat" cmpd="sng">
              <a:solidFill>
                <a:srgbClr val="DEDED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861;p63">
              <a:extLst>
                <a:ext uri="{FF2B5EF4-FFF2-40B4-BE49-F238E27FC236}">
                  <a16:creationId xmlns:a16="http://schemas.microsoft.com/office/drawing/2014/main" id="{453E41DE-D9F0-D175-5DB1-33E22D8CF295}"/>
                </a:ext>
              </a:extLst>
            </p:cNvPr>
            <p:cNvSpPr/>
            <p:nvPr/>
          </p:nvSpPr>
          <p:spPr>
            <a:xfrm>
              <a:off x="9023501" y="1378151"/>
              <a:ext cx="2618668" cy="12598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0" sx="79000" sy="79000" algn="ctr" rotWithShape="0">
                <a:srgbClr val="505050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862;p63">
            <a:extLst>
              <a:ext uri="{FF2B5EF4-FFF2-40B4-BE49-F238E27FC236}">
                <a16:creationId xmlns:a16="http://schemas.microsoft.com/office/drawing/2014/main" id="{0E73E134-6914-C8CB-CAE9-90AE94D104E1}"/>
              </a:ext>
            </a:extLst>
          </p:cNvPr>
          <p:cNvSpPr txBox="1"/>
          <p:nvPr/>
        </p:nvSpPr>
        <p:spPr>
          <a:xfrm>
            <a:off x="2819718" y="3053235"/>
            <a:ext cx="1888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Docker Image Creation and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Management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oogle Shape;1863;p63">
            <a:extLst>
              <a:ext uri="{FF2B5EF4-FFF2-40B4-BE49-F238E27FC236}">
                <a16:creationId xmlns:a16="http://schemas.microsoft.com/office/drawing/2014/main" id="{EEC2CDFE-38B1-947E-6EB0-2A5EB17372B8}"/>
              </a:ext>
            </a:extLst>
          </p:cNvPr>
          <p:cNvGrpSpPr/>
          <p:nvPr/>
        </p:nvGrpSpPr>
        <p:grpSpPr>
          <a:xfrm>
            <a:off x="5639210" y="3697670"/>
            <a:ext cx="3183591" cy="1495313"/>
            <a:chOff x="8563760" y="1258645"/>
            <a:chExt cx="3183591" cy="1495313"/>
          </a:xfrm>
        </p:grpSpPr>
        <p:sp>
          <p:nvSpPr>
            <p:cNvPr id="18" name="Google Shape;1864;p63">
              <a:extLst>
                <a:ext uri="{FF2B5EF4-FFF2-40B4-BE49-F238E27FC236}">
                  <a16:creationId xmlns:a16="http://schemas.microsoft.com/office/drawing/2014/main" id="{39FD9D7D-DE7D-E28D-4172-8320431D284E}"/>
                </a:ext>
              </a:extLst>
            </p:cNvPr>
            <p:cNvSpPr/>
            <p:nvPr/>
          </p:nvSpPr>
          <p:spPr>
            <a:xfrm>
              <a:off x="8563760" y="1258645"/>
              <a:ext cx="1795853" cy="1495313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234950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865;p63">
              <a:extLst>
                <a:ext uri="{FF2B5EF4-FFF2-40B4-BE49-F238E27FC236}">
                  <a16:creationId xmlns:a16="http://schemas.microsoft.com/office/drawing/2014/main" id="{DA38CC54-0F39-90F4-3E0A-BA945C21B629}"/>
                </a:ext>
              </a:extLst>
            </p:cNvPr>
            <p:cNvSpPr/>
            <p:nvPr/>
          </p:nvSpPr>
          <p:spPr>
            <a:xfrm>
              <a:off x="9023500" y="1378151"/>
              <a:ext cx="2723851" cy="1259867"/>
            </a:xfrm>
            <a:prstGeom prst="rect">
              <a:avLst/>
            </a:prstGeom>
            <a:solidFill>
              <a:schemeClr val="lt1"/>
            </a:solidFill>
            <a:ln>
              <a:solidFill>
                <a:srgbClr val="0070C0"/>
              </a:solidFill>
            </a:ln>
            <a:effectLst>
              <a:outerShdw blurRad="381000" sx="79000" sy="79000" algn="ctr" rotWithShape="0">
                <a:srgbClr val="505050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" name="Google Shape;1866;p63">
            <a:extLst>
              <a:ext uri="{FF2B5EF4-FFF2-40B4-BE49-F238E27FC236}">
                <a16:creationId xmlns:a16="http://schemas.microsoft.com/office/drawing/2014/main" id="{01FC1DD9-D76A-F81C-D706-82F0C2107BE2}"/>
              </a:ext>
            </a:extLst>
          </p:cNvPr>
          <p:cNvSpPr txBox="1"/>
          <p:nvPr/>
        </p:nvSpPr>
        <p:spPr>
          <a:xfrm>
            <a:off x="6627937" y="3834063"/>
            <a:ext cx="2081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Docker Volumes and Multi-Container Deployments</a:t>
            </a:r>
            <a:endParaRPr sz="1400" b="0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1867;p63" descr="Puzzle">
            <a:extLst>
              <a:ext uri="{FF2B5EF4-FFF2-40B4-BE49-F238E27FC236}">
                <a16:creationId xmlns:a16="http://schemas.microsoft.com/office/drawing/2014/main" id="{1705E3FA-1FB1-AC70-BDCF-62ABA0BA6C1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92635" y="2348486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868;p63" descr="Infinity">
            <a:extLst>
              <a:ext uri="{FF2B5EF4-FFF2-40B4-BE49-F238E27FC236}">
                <a16:creationId xmlns:a16="http://schemas.microsoft.com/office/drawing/2014/main" id="{7F99EE53-2C1E-0DEE-2B9C-173D92F34B9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50690" y="4114595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869;p63" descr="Home">
            <a:extLst>
              <a:ext uri="{FF2B5EF4-FFF2-40B4-BE49-F238E27FC236}">
                <a16:creationId xmlns:a16="http://schemas.microsoft.com/office/drawing/2014/main" id="{77435954-A399-3655-DAF3-926CD4829DA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17550" y="3210345"/>
            <a:ext cx="640080" cy="640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6332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874;p64">
            <a:extLst>
              <a:ext uri="{FF2B5EF4-FFF2-40B4-BE49-F238E27FC236}">
                <a16:creationId xmlns:a16="http://schemas.microsoft.com/office/drawing/2014/main" id="{33B87ECA-C6E2-AAD6-D005-94C12DCADAAD}"/>
              </a:ext>
            </a:extLst>
          </p:cNvPr>
          <p:cNvSpPr txBox="1"/>
          <p:nvPr/>
        </p:nvSpPr>
        <p:spPr>
          <a:xfrm>
            <a:off x="3840900" y="955839"/>
            <a:ext cx="45102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SESSION OVERVIEW: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0"/>
                  </a:ext>
                </a:extLst>
              </a:rPr>
              <a:t>VOLUMES AND MULTI-CONTAINER DEPLOYMENT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875;p64">
            <a:extLst>
              <a:ext uri="{FF2B5EF4-FFF2-40B4-BE49-F238E27FC236}">
                <a16:creationId xmlns:a16="http://schemas.microsoft.com/office/drawing/2014/main" id="{E683BD90-B599-DBE9-AC72-F1311D8CB7F9}"/>
              </a:ext>
            </a:extLst>
          </p:cNvPr>
          <p:cNvSpPr txBox="1"/>
          <p:nvPr/>
        </p:nvSpPr>
        <p:spPr>
          <a:xfrm>
            <a:off x="3290527" y="2383745"/>
            <a:ext cx="5610900" cy="648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/>
            </a:pPr>
            <a:r>
              <a:rPr lang="en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Persistence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876;p64">
            <a:extLst>
              <a:ext uri="{FF2B5EF4-FFF2-40B4-BE49-F238E27FC236}">
                <a16:creationId xmlns:a16="http://schemas.microsoft.com/office/drawing/2014/main" id="{7008EA2F-4738-5F19-96E4-84217585230D}"/>
              </a:ext>
            </a:extLst>
          </p:cNvPr>
          <p:cNvSpPr txBox="1"/>
          <p:nvPr/>
        </p:nvSpPr>
        <p:spPr>
          <a:xfrm>
            <a:off x="3290527" y="3258377"/>
            <a:ext cx="5610900" cy="648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2"/>
            </a:pPr>
            <a:r>
              <a:rPr lang="en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Volumes </a:t>
            </a:r>
            <a:r>
              <a:rPr lang="en" sz="1999" b="1">
                <a:latin typeface="Lato"/>
                <a:ea typeface="Lato"/>
                <a:cs typeface="Lato"/>
                <a:sym typeface="Lato"/>
              </a:rPr>
              <a:t>vs</a:t>
            </a:r>
            <a:r>
              <a:rPr lang="en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Bind Mounts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877;p64">
            <a:extLst>
              <a:ext uri="{FF2B5EF4-FFF2-40B4-BE49-F238E27FC236}">
                <a16:creationId xmlns:a16="http://schemas.microsoft.com/office/drawing/2014/main" id="{21FEF6DA-4975-2166-8602-3579D40AD6AB}"/>
              </a:ext>
            </a:extLst>
          </p:cNvPr>
          <p:cNvSpPr txBox="1"/>
          <p:nvPr/>
        </p:nvSpPr>
        <p:spPr>
          <a:xfrm>
            <a:off x="3290527" y="4133009"/>
            <a:ext cx="5610900" cy="648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3"/>
            </a:pPr>
            <a:r>
              <a:rPr lang="en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Different Docker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878;p64">
            <a:extLst>
              <a:ext uri="{FF2B5EF4-FFF2-40B4-BE49-F238E27FC236}">
                <a16:creationId xmlns:a16="http://schemas.microsoft.com/office/drawing/2014/main" id="{36000416-58AC-2DF7-EE6D-93750E5D074E}"/>
              </a:ext>
            </a:extLst>
          </p:cNvPr>
          <p:cNvSpPr txBox="1"/>
          <p:nvPr/>
        </p:nvSpPr>
        <p:spPr>
          <a:xfrm>
            <a:off x="3290527" y="5007641"/>
            <a:ext cx="5610900" cy="648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4"/>
            </a:pPr>
            <a:r>
              <a:rPr lang="en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Compose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879;p64">
            <a:extLst>
              <a:ext uri="{FF2B5EF4-FFF2-40B4-BE49-F238E27FC236}">
                <a16:creationId xmlns:a16="http://schemas.microsoft.com/office/drawing/2014/main" id="{99C335CA-BA09-E4A3-D484-C2FF135855B7}"/>
              </a:ext>
            </a:extLst>
          </p:cNvPr>
          <p:cNvSpPr txBox="1"/>
          <p:nvPr/>
        </p:nvSpPr>
        <p:spPr>
          <a:xfrm>
            <a:off x="3290527" y="5882273"/>
            <a:ext cx="5610900" cy="648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5"/>
            </a:pPr>
            <a:r>
              <a:rPr lang="en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Deployment of a Voting Application Using Compose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192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4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4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4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884;p65">
            <a:extLst>
              <a:ext uri="{FF2B5EF4-FFF2-40B4-BE49-F238E27FC236}">
                <a16:creationId xmlns:a16="http://schemas.microsoft.com/office/drawing/2014/main" id="{96729F9C-9270-B70C-1DB8-BBDACFDBAD3A}"/>
              </a:ext>
            </a:extLst>
          </p:cNvPr>
          <p:cNvSpPr txBox="1"/>
          <p:nvPr/>
        </p:nvSpPr>
        <p:spPr>
          <a:xfrm>
            <a:off x="1482178" y="1188387"/>
            <a:ext cx="8789200" cy="5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STORAGE IN DOCKER CONTAINER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885;p65">
            <a:extLst>
              <a:ext uri="{FF2B5EF4-FFF2-40B4-BE49-F238E27FC236}">
                <a16:creationId xmlns:a16="http://schemas.microsoft.com/office/drawing/2014/main" id="{1A45847C-B23F-0B6C-612E-1ABDB82ED79E}"/>
              </a:ext>
            </a:extLst>
          </p:cNvPr>
          <p:cNvSpPr/>
          <p:nvPr/>
        </p:nvSpPr>
        <p:spPr>
          <a:xfrm>
            <a:off x="688210" y="1932228"/>
            <a:ext cx="10248651" cy="4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marL="349200" marR="0" lvl="0" indent="-349200" algn="l" rtl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Any file/directory created inside a container persists only </a:t>
            </a:r>
            <a:r>
              <a:rPr lang="en" sz="2000" dirty="0">
                <a:latin typeface="Lato"/>
                <a:ea typeface="Lato"/>
                <a:cs typeface="Lato"/>
                <a:sym typeface="Lato"/>
              </a:rPr>
              <a:t>for as long as the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container is alive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1886;p65">
            <a:extLst>
              <a:ext uri="{FF2B5EF4-FFF2-40B4-BE49-F238E27FC236}">
                <a16:creationId xmlns:a16="http://schemas.microsoft.com/office/drawing/2014/main" id="{F72C41F6-372E-4695-A88E-54964EEDE878}"/>
              </a:ext>
            </a:extLst>
          </p:cNvPr>
          <p:cNvSpPr/>
          <p:nvPr/>
        </p:nvSpPr>
        <p:spPr>
          <a:xfrm>
            <a:off x="556336" y="5916052"/>
            <a:ext cx="10585500" cy="907200"/>
          </a:xfrm>
          <a:prstGeom prst="roundRect">
            <a:avLst>
              <a:gd name="adj" fmla="val 4774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" name="Google Shape;1887;p65">
            <a:extLst>
              <a:ext uri="{FF2B5EF4-FFF2-40B4-BE49-F238E27FC236}">
                <a16:creationId xmlns:a16="http://schemas.microsoft.com/office/drawing/2014/main" id="{6A2EE120-F908-D621-49F3-11A1A4B4B47C}"/>
              </a:ext>
            </a:extLst>
          </p:cNvPr>
          <p:cNvGrpSpPr/>
          <p:nvPr/>
        </p:nvGrpSpPr>
        <p:grpSpPr>
          <a:xfrm>
            <a:off x="1065216" y="2947970"/>
            <a:ext cx="10003532" cy="3566609"/>
            <a:chOff x="1348680" y="2454194"/>
            <a:chExt cx="10003532" cy="3566609"/>
          </a:xfrm>
        </p:grpSpPr>
        <p:sp>
          <p:nvSpPr>
            <p:cNvPr id="13" name="Google Shape;1888;p65">
              <a:extLst>
                <a:ext uri="{FF2B5EF4-FFF2-40B4-BE49-F238E27FC236}">
                  <a16:creationId xmlns:a16="http://schemas.microsoft.com/office/drawing/2014/main" id="{8CE7806F-1023-05AB-2EED-DDE2394BAAF9}"/>
                </a:ext>
              </a:extLst>
            </p:cNvPr>
            <p:cNvSpPr/>
            <p:nvPr/>
          </p:nvSpPr>
          <p:spPr>
            <a:xfrm>
              <a:off x="5030573" y="2470589"/>
              <a:ext cx="3264800" cy="7876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" name="Google Shape;1889;p65">
              <a:extLst>
                <a:ext uri="{FF2B5EF4-FFF2-40B4-BE49-F238E27FC236}">
                  <a16:creationId xmlns:a16="http://schemas.microsoft.com/office/drawing/2014/main" id="{8042408D-13D4-1178-D55E-9883411CCB57}"/>
                </a:ext>
              </a:extLst>
            </p:cNvPr>
            <p:cNvSpPr/>
            <p:nvPr/>
          </p:nvSpPr>
          <p:spPr>
            <a:xfrm>
              <a:off x="5030573" y="2812341"/>
              <a:ext cx="3264800" cy="446000"/>
            </a:xfrm>
            <a:prstGeom prst="roundRect">
              <a:avLst>
                <a:gd name="adj" fmla="val 28062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Container Layer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" name="Google Shape;1890;p65">
              <a:extLst>
                <a:ext uri="{FF2B5EF4-FFF2-40B4-BE49-F238E27FC236}">
                  <a16:creationId xmlns:a16="http://schemas.microsoft.com/office/drawing/2014/main" id="{F5598042-AAE5-B816-76A2-4D19681A0113}"/>
                </a:ext>
              </a:extLst>
            </p:cNvPr>
            <p:cNvSpPr txBox="1"/>
            <p:nvPr/>
          </p:nvSpPr>
          <p:spPr>
            <a:xfrm>
              <a:off x="5763773" y="2454194"/>
              <a:ext cx="179840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Read Write</a:t>
              </a:r>
              <a:endParaRPr sz="16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" name="Google Shape;1891;p65">
              <a:extLst>
                <a:ext uri="{FF2B5EF4-FFF2-40B4-BE49-F238E27FC236}">
                  <a16:creationId xmlns:a16="http://schemas.microsoft.com/office/drawing/2014/main" id="{1ACEEC2F-E3CB-1EA9-260D-10870B1264C4}"/>
                </a:ext>
              </a:extLst>
            </p:cNvPr>
            <p:cNvSpPr/>
            <p:nvPr/>
          </p:nvSpPr>
          <p:spPr>
            <a:xfrm>
              <a:off x="5030573" y="3543301"/>
              <a:ext cx="3264800" cy="1952800"/>
            </a:xfrm>
            <a:prstGeom prst="roundRect">
              <a:avLst>
                <a:gd name="adj" fmla="val 9838"/>
              </a:avLst>
            </a:prstGeom>
            <a:solidFill>
              <a:schemeClr val="lt1"/>
            </a:solidFill>
            <a:ln w="2857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" name="Google Shape;1892;p65">
              <a:extLst>
                <a:ext uri="{FF2B5EF4-FFF2-40B4-BE49-F238E27FC236}">
                  <a16:creationId xmlns:a16="http://schemas.microsoft.com/office/drawing/2014/main" id="{1CFF35A7-2AE1-DA4A-7689-46DFBB2DAF1F}"/>
                </a:ext>
              </a:extLst>
            </p:cNvPr>
            <p:cNvSpPr/>
            <p:nvPr/>
          </p:nvSpPr>
          <p:spPr>
            <a:xfrm>
              <a:off x="5017357" y="4955719"/>
              <a:ext cx="3278000" cy="4332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Base Alpine layer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" name="Google Shape;1893;p65">
              <a:extLst>
                <a:ext uri="{FF2B5EF4-FFF2-40B4-BE49-F238E27FC236}">
                  <a16:creationId xmlns:a16="http://schemas.microsoft.com/office/drawing/2014/main" id="{DCA7EE1D-AA59-5E61-CB4A-F804514BAECB}"/>
                </a:ext>
              </a:extLst>
            </p:cNvPr>
            <p:cNvSpPr/>
            <p:nvPr/>
          </p:nvSpPr>
          <p:spPr>
            <a:xfrm>
              <a:off x="5023967" y="4442363"/>
              <a:ext cx="3278000" cy="4332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JDK Packages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" name="Google Shape;1894;p65">
              <a:extLst>
                <a:ext uri="{FF2B5EF4-FFF2-40B4-BE49-F238E27FC236}">
                  <a16:creationId xmlns:a16="http://schemas.microsoft.com/office/drawing/2014/main" id="{CC34A593-D5EE-7E1F-470B-646440B5A293}"/>
                </a:ext>
              </a:extLst>
            </p:cNvPr>
            <p:cNvSpPr/>
            <p:nvPr/>
          </p:nvSpPr>
          <p:spPr>
            <a:xfrm>
              <a:off x="5017357" y="3929005"/>
              <a:ext cx="3278000" cy="4332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Application JAR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0" name="Google Shape;1895;p65">
              <a:extLst>
                <a:ext uri="{FF2B5EF4-FFF2-40B4-BE49-F238E27FC236}">
                  <a16:creationId xmlns:a16="http://schemas.microsoft.com/office/drawing/2014/main" id="{A0282AD0-7156-3BD5-448A-09FDFAE0EB7C}"/>
                </a:ext>
              </a:extLst>
            </p:cNvPr>
            <p:cNvSpPr txBox="1"/>
            <p:nvPr/>
          </p:nvSpPr>
          <p:spPr>
            <a:xfrm>
              <a:off x="5763773" y="3543302"/>
              <a:ext cx="179840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Read Only</a:t>
              </a:r>
              <a:endParaRPr sz="16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1" name="Google Shape;1896;p65">
              <a:extLst>
                <a:ext uri="{FF2B5EF4-FFF2-40B4-BE49-F238E27FC236}">
                  <a16:creationId xmlns:a16="http://schemas.microsoft.com/office/drawing/2014/main" id="{14B889D2-6E5C-DAE7-D973-8EE862D49DA6}"/>
                </a:ext>
              </a:extLst>
            </p:cNvPr>
            <p:cNvSpPr/>
            <p:nvPr/>
          </p:nvSpPr>
          <p:spPr>
            <a:xfrm>
              <a:off x="4727869" y="3813587"/>
              <a:ext cx="216715" cy="144160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2" name="Google Shape;1897;p65">
              <a:extLst>
                <a:ext uri="{FF2B5EF4-FFF2-40B4-BE49-F238E27FC236}">
                  <a16:creationId xmlns:a16="http://schemas.microsoft.com/office/drawing/2014/main" id="{E1E0ED73-875E-D7B1-9069-E8F7B3CE5522}"/>
                </a:ext>
              </a:extLst>
            </p:cNvPr>
            <p:cNvSpPr/>
            <p:nvPr/>
          </p:nvSpPr>
          <p:spPr>
            <a:xfrm>
              <a:off x="1348680" y="2679893"/>
              <a:ext cx="3293200" cy="369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docker run --name </a:t>
              </a:r>
              <a:r>
                <a:rPr lang="en" sz="1600" b="1" i="0" u="none" strike="noStrike" cap="none" dirty="0">
                  <a:solidFill>
                    <a:srgbClr val="0070C0"/>
                  </a:solidFill>
                  <a:latin typeface="Lato"/>
                  <a:ea typeface="Lato"/>
                  <a:cs typeface="Lato"/>
                  <a:sym typeface="Lato"/>
                </a:rPr>
                <a:t>application</a:t>
              </a:r>
              <a:r>
                <a:rPr lang="en" sz="16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  -d </a:t>
              </a:r>
              <a:endParaRPr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" name="Google Shape;1898;p65">
              <a:extLst>
                <a:ext uri="{FF2B5EF4-FFF2-40B4-BE49-F238E27FC236}">
                  <a16:creationId xmlns:a16="http://schemas.microsoft.com/office/drawing/2014/main" id="{21C85467-EA78-502D-8754-D55079723A74}"/>
                </a:ext>
              </a:extLst>
            </p:cNvPr>
            <p:cNvSpPr/>
            <p:nvPr/>
          </p:nvSpPr>
          <p:spPr>
            <a:xfrm>
              <a:off x="1348680" y="3519376"/>
              <a:ext cx="3293200" cy="6328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docker build –t </a:t>
              </a:r>
              <a:r>
                <a:rPr lang="en" sz="1600" b="1" i="0" u="none" strike="noStrike" cap="none" dirty="0">
                  <a:solidFill>
                    <a:srgbClr val="0070C0"/>
                  </a:solidFill>
                  <a:latin typeface="Lato"/>
                  <a:ea typeface="Lato"/>
                  <a:cs typeface="Lato"/>
                  <a:sym typeface="Lato"/>
                </a:rPr>
                <a:t>application-name:tagname</a:t>
              </a:r>
              <a:endParaRPr sz="1600" b="1" i="0" u="none" strike="noStrike" cap="none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4" name="Google Shape;1899;p65">
              <a:extLst>
                <a:ext uri="{FF2B5EF4-FFF2-40B4-BE49-F238E27FC236}">
                  <a16:creationId xmlns:a16="http://schemas.microsoft.com/office/drawing/2014/main" id="{11B388C3-8962-53FA-9E13-1AC9FA08D162}"/>
                </a:ext>
              </a:extLst>
            </p:cNvPr>
            <p:cNvSpPr/>
            <p:nvPr/>
          </p:nvSpPr>
          <p:spPr>
            <a:xfrm>
              <a:off x="2522280" y="4622523"/>
              <a:ext cx="2119600" cy="6328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Image Layers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" name="Google Shape;1900;p65">
              <a:extLst>
                <a:ext uri="{FF2B5EF4-FFF2-40B4-BE49-F238E27FC236}">
                  <a16:creationId xmlns:a16="http://schemas.microsoft.com/office/drawing/2014/main" id="{E9B2DF57-E85D-E9F7-D310-D081B93BAC30}"/>
                </a:ext>
              </a:extLst>
            </p:cNvPr>
            <p:cNvSpPr/>
            <p:nvPr/>
          </p:nvSpPr>
          <p:spPr>
            <a:xfrm>
              <a:off x="8926461" y="2470589"/>
              <a:ext cx="1728800" cy="1150800"/>
            </a:xfrm>
            <a:prstGeom prst="roundRect">
              <a:avLst>
                <a:gd name="adj" fmla="val 14184"/>
              </a:avLst>
            </a:prstGeom>
            <a:solidFill>
              <a:schemeClr val="lt1"/>
            </a:solidFill>
            <a:ln w="25400" cap="flat" cmpd="sng">
              <a:solidFill>
                <a:srgbClr val="33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New files are created</a:t>
              </a:r>
              <a:endParaRPr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here</a:t>
              </a:r>
              <a:endParaRPr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" name="Google Shape;1901;p65">
              <a:extLst>
                <a:ext uri="{FF2B5EF4-FFF2-40B4-BE49-F238E27FC236}">
                  <a16:creationId xmlns:a16="http://schemas.microsoft.com/office/drawing/2014/main" id="{36CC5402-D73A-52E9-948B-78F5152EB624}"/>
                </a:ext>
              </a:extLst>
            </p:cNvPr>
            <p:cNvSpPr/>
            <p:nvPr/>
          </p:nvSpPr>
          <p:spPr>
            <a:xfrm>
              <a:off x="8552059" y="3730323"/>
              <a:ext cx="2800153" cy="2290480"/>
            </a:xfrm>
            <a:prstGeom prst="irregularSeal1">
              <a:avLst/>
            </a:prstGeom>
            <a:noFill/>
            <a:ln w="28575" cap="flat" cmpd="sng">
              <a:solidFill>
                <a:srgbClr val="CE6E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Files are </a:t>
              </a:r>
              <a:br>
                <a:rPr lang="en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deleted once </a:t>
              </a:r>
              <a:br>
                <a:rPr lang="en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the container </a:t>
              </a:r>
              <a:br>
                <a:rPr lang="en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is deleted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7" name="Google Shape;1902;p65">
              <a:extLst>
                <a:ext uri="{FF2B5EF4-FFF2-40B4-BE49-F238E27FC236}">
                  <a16:creationId xmlns:a16="http://schemas.microsoft.com/office/drawing/2014/main" id="{B34FDA28-BA21-3403-B074-6A33D75EFA34}"/>
                </a:ext>
              </a:extLst>
            </p:cNvPr>
            <p:cNvCxnSpPr/>
            <p:nvPr/>
          </p:nvCxnSpPr>
          <p:spPr>
            <a:xfrm>
              <a:off x="8295373" y="2945890"/>
              <a:ext cx="631088" cy="10648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400111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907;p66">
            <a:extLst>
              <a:ext uri="{FF2B5EF4-FFF2-40B4-BE49-F238E27FC236}">
                <a16:creationId xmlns:a16="http://schemas.microsoft.com/office/drawing/2014/main" id="{F6322FC0-3B14-403B-384C-EB2BB761AF9E}"/>
              </a:ext>
            </a:extLst>
          </p:cNvPr>
          <p:cNvSpPr txBox="1"/>
          <p:nvPr/>
        </p:nvSpPr>
        <p:spPr>
          <a:xfrm>
            <a:off x="1701400" y="1361982"/>
            <a:ext cx="8789200" cy="4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STORAGE IN DOCKER CONTAINER</a:t>
            </a:r>
            <a:endParaRPr sz="1467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1908;p66">
            <a:extLst>
              <a:ext uri="{FF2B5EF4-FFF2-40B4-BE49-F238E27FC236}">
                <a16:creationId xmlns:a16="http://schemas.microsoft.com/office/drawing/2014/main" id="{1D503244-58CA-7D13-25DD-D573A416B9FF}"/>
              </a:ext>
            </a:extLst>
          </p:cNvPr>
          <p:cNvGrpSpPr/>
          <p:nvPr/>
        </p:nvGrpSpPr>
        <p:grpSpPr>
          <a:xfrm>
            <a:off x="766762" y="2120308"/>
            <a:ext cx="10658476" cy="4242314"/>
            <a:chOff x="766762" y="1043929"/>
            <a:chExt cx="10658476" cy="5133200"/>
          </a:xfrm>
        </p:grpSpPr>
        <p:pic>
          <p:nvPicPr>
            <p:cNvPr id="11" name="Google Shape;1909;p66">
              <a:extLst>
                <a:ext uri="{FF2B5EF4-FFF2-40B4-BE49-F238E27FC236}">
                  <a16:creationId xmlns:a16="http://schemas.microsoft.com/office/drawing/2014/main" id="{017F0AF3-BEC6-B69C-F094-71E2DE528A7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66762" y="1044061"/>
              <a:ext cx="5133068" cy="51330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910;p66">
              <a:extLst>
                <a:ext uri="{FF2B5EF4-FFF2-40B4-BE49-F238E27FC236}">
                  <a16:creationId xmlns:a16="http://schemas.microsoft.com/office/drawing/2014/main" id="{26C1F39C-5CA0-AE70-4F80-BD9C92D18D52}"/>
                </a:ext>
              </a:extLst>
            </p:cNvPr>
            <p:cNvSpPr/>
            <p:nvPr/>
          </p:nvSpPr>
          <p:spPr>
            <a:xfrm>
              <a:off x="839788" y="1043929"/>
              <a:ext cx="10585450" cy="5133200"/>
            </a:xfrm>
            <a:prstGeom prst="roundRect">
              <a:avLst>
                <a:gd name="adj" fmla="val 4774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911;p66">
            <a:extLst>
              <a:ext uri="{FF2B5EF4-FFF2-40B4-BE49-F238E27FC236}">
                <a16:creationId xmlns:a16="http://schemas.microsoft.com/office/drawing/2014/main" id="{A0AE8AD8-D628-85AB-5AA4-5405CE0D602E}"/>
              </a:ext>
            </a:extLst>
          </p:cNvPr>
          <p:cNvSpPr/>
          <p:nvPr/>
        </p:nvSpPr>
        <p:spPr>
          <a:xfrm>
            <a:off x="5391151" y="2322659"/>
            <a:ext cx="4730256" cy="1999577"/>
          </a:xfrm>
          <a:prstGeom prst="cloud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1"/>
                  </a:ext>
                </a:extLst>
              </a:rPr>
              <a:t>How can I continue to</a:t>
            </a:r>
            <a:r>
              <a:rPr lang="en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2"/>
                  </a:ext>
                </a:extLst>
              </a:rPr>
              <a:t> store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3"/>
                  </a:ext>
                </a:extLst>
              </a:rPr>
              <a:t> application data in container environment?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79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916;p67">
            <a:extLst>
              <a:ext uri="{FF2B5EF4-FFF2-40B4-BE49-F238E27FC236}">
                <a16:creationId xmlns:a16="http://schemas.microsoft.com/office/drawing/2014/main" id="{41EB7C53-B2AD-A270-A3BE-BA55A009CE88}"/>
              </a:ext>
            </a:extLst>
          </p:cNvPr>
          <p:cNvSpPr txBox="1"/>
          <p:nvPr/>
        </p:nvSpPr>
        <p:spPr>
          <a:xfrm>
            <a:off x="2010682" y="1203510"/>
            <a:ext cx="7990182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STORAGE IN DOCKER CONTAINER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1917;p67">
            <a:extLst>
              <a:ext uri="{FF2B5EF4-FFF2-40B4-BE49-F238E27FC236}">
                <a16:creationId xmlns:a16="http://schemas.microsoft.com/office/drawing/2014/main" id="{F5CFA093-9C73-E52E-0D66-E877AB70CDE7}"/>
              </a:ext>
            </a:extLst>
          </p:cNvPr>
          <p:cNvGrpSpPr/>
          <p:nvPr/>
        </p:nvGrpSpPr>
        <p:grpSpPr>
          <a:xfrm>
            <a:off x="1222951" y="1967169"/>
            <a:ext cx="9603252" cy="4645455"/>
            <a:chOff x="861661" y="1067384"/>
            <a:chExt cx="10563577" cy="5110000"/>
          </a:xfrm>
        </p:grpSpPr>
        <p:sp>
          <p:nvSpPr>
            <p:cNvPr id="11" name="Google Shape;1918;p67">
              <a:extLst>
                <a:ext uri="{FF2B5EF4-FFF2-40B4-BE49-F238E27FC236}">
                  <a16:creationId xmlns:a16="http://schemas.microsoft.com/office/drawing/2014/main" id="{EDFBA000-C46E-E30F-EE8A-1AFAC9971E19}"/>
                </a:ext>
              </a:extLst>
            </p:cNvPr>
            <p:cNvSpPr/>
            <p:nvPr/>
          </p:nvSpPr>
          <p:spPr>
            <a:xfrm>
              <a:off x="861661" y="1067384"/>
              <a:ext cx="10563577" cy="5110000"/>
            </a:xfrm>
            <a:prstGeom prst="roundRect">
              <a:avLst>
                <a:gd name="adj" fmla="val 4774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" name="Google Shape;1919;p67">
              <a:extLst>
                <a:ext uri="{FF2B5EF4-FFF2-40B4-BE49-F238E27FC236}">
                  <a16:creationId xmlns:a16="http://schemas.microsoft.com/office/drawing/2014/main" id="{DCE9986A-F4EA-F20D-69B0-CD47EBFEE09A}"/>
                </a:ext>
              </a:extLst>
            </p:cNvPr>
            <p:cNvGrpSpPr/>
            <p:nvPr/>
          </p:nvGrpSpPr>
          <p:grpSpPr>
            <a:xfrm>
              <a:off x="2295142" y="1405339"/>
              <a:ext cx="7572758" cy="4434091"/>
              <a:chOff x="6872286" y="1529785"/>
              <a:chExt cx="4554056" cy="3222338"/>
            </a:xfrm>
          </p:grpSpPr>
          <p:sp>
            <p:nvSpPr>
              <p:cNvPr id="13" name="Google Shape;1920;p67">
                <a:extLst>
                  <a:ext uri="{FF2B5EF4-FFF2-40B4-BE49-F238E27FC236}">
                    <a16:creationId xmlns:a16="http://schemas.microsoft.com/office/drawing/2014/main" id="{CA884A74-35E8-0F4B-2D24-583033624CC1}"/>
                  </a:ext>
                </a:extLst>
              </p:cNvPr>
              <p:cNvSpPr txBox="1"/>
              <p:nvPr/>
            </p:nvSpPr>
            <p:spPr>
              <a:xfrm>
                <a:off x="8634417" y="1529785"/>
                <a:ext cx="1079400" cy="2907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" sz="2000" b="1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HOST</a:t>
                </a:r>
                <a:endParaRPr sz="20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" name="Google Shape;1921;p67">
                <a:extLst>
                  <a:ext uri="{FF2B5EF4-FFF2-40B4-BE49-F238E27FC236}">
                    <a16:creationId xmlns:a16="http://schemas.microsoft.com/office/drawing/2014/main" id="{34D6EF5C-6F8E-9F67-7BDF-1F7469E39996}"/>
                  </a:ext>
                </a:extLst>
              </p:cNvPr>
              <p:cNvSpPr/>
              <p:nvPr/>
            </p:nvSpPr>
            <p:spPr>
              <a:xfrm>
                <a:off x="8307738" y="2140205"/>
                <a:ext cx="1768500" cy="541800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chemeClr val="bg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88000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Container</a:t>
                </a:r>
                <a:endParaRPr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5" name="Google Shape;1922;p67">
                <a:extLst>
                  <a:ext uri="{FF2B5EF4-FFF2-40B4-BE49-F238E27FC236}">
                    <a16:creationId xmlns:a16="http://schemas.microsoft.com/office/drawing/2014/main" id="{C1BB9346-7850-D8AC-D46E-26723F1154E7}"/>
                  </a:ext>
                </a:extLst>
              </p:cNvPr>
              <p:cNvGrpSpPr/>
              <p:nvPr/>
            </p:nvGrpSpPr>
            <p:grpSpPr>
              <a:xfrm>
                <a:off x="7048500" y="3618423"/>
                <a:ext cx="1768500" cy="1133700"/>
                <a:chOff x="6788147" y="5215668"/>
                <a:chExt cx="1768500" cy="1133700"/>
              </a:xfrm>
            </p:grpSpPr>
            <p:sp>
              <p:nvSpPr>
                <p:cNvPr id="27" name="Google Shape;1923;p67">
                  <a:extLst>
                    <a:ext uri="{FF2B5EF4-FFF2-40B4-BE49-F238E27FC236}">
                      <a16:creationId xmlns:a16="http://schemas.microsoft.com/office/drawing/2014/main" id="{8073E10D-5D26-6EC2-9655-1F22681C19E1}"/>
                    </a:ext>
                  </a:extLst>
                </p:cNvPr>
                <p:cNvSpPr/>
                <p:nvPr/>
              </p:nvSpPr>
              <p:spPr>
                <a:xfrm>
                  <a:off x="6788147" y="5215668"/>
                  <a:ext cx="1768500" cy="1133700"/>
                </a:xfrm>
                <a:prstGeom prst="roundRect">
                  <a:avLst>
                    <a:gd name="adj" fmla="val 16667"/>
                  </a:avLst>
                </a:prstGeom>
                <a:noFill/>
                <a:ln w="28575" cap="flat" cmpd="sng">
                  <a:solidFill>
                    <a:schemeClr val="bg2">
                      <a:lumMod val="5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" sz="18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Filesystem</a:t>
                  </a:r>
                  <a:endParaRPr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8" name="Google Shape;1924;p67">
                  <a:extLst>
                    <a:ext uri="{FF2B5EF4-FFF2-40B4-BE49-F238E27FC236}">
                      <a16:creationId xmlns:a16="http://schemas.microsoft.com/office/drawing/2014/main" id="{418ACEC6-B3EE-A007-5CB6-49172C882FDF}"/>
                    </a:ext>
                  </a:extLst>
                </p:cNvPr>
                <p:cNvSpPr/>
                <p:nvPr/>
              </p:nvSpPr>
              <p:spPr>
                <a:xfrm>
                  <a:off x="6958011" y="5716950"/>
                  <a:ext cx="1428600" cy="546300"/>
                </a:xfrm>
                <a:prstGeom prst="roundRect">
                  <a:avLst>
                    <a:gd name="adj" fmla="val 16667"/>
                  </a:avLst>
                </a:prstGeom>
                <a:noFill/>
                <a:ln w="28575" cap="flat" cmpd="sng">
                  <a:solidFill>
                    <a:schemeClr val="bg2">
                      <a:lumMod val="50000"/>
                    </a:schemeClr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" sz="18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Docker Area</a:t>
                  </a:r>
                  <a:endParaRPr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6" name="Google Shape;1925;p67">
                <a:extLst>
                  <a:ext uri="{FF2B5EF4-FFF2-40B4-BE49-F238E27FC236}">
                    <a16:creationId xmlns:a16="http://schemas.microsoft.com/office/drawing/2014/main" id="{27D08236-9562-D3DD-6F29-3E01C243A679}"/>
                  </a:ext>
                </a:extLst>
              </p:cNvPr>
              <p:cNvSpPr/>
              <p:nvPr/>
            </p:nvSpPr>
            <p:spPr>
              <a:xfrm>
                <a:off x="9566976" y="3914472"/>
                <a:ext cx="1768500" cy="541800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chemeClr val="bg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Memory</a:t>
                </a:r>
                <a:endParaRPr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7" name="Google Shape;1926;p67">
                <a:extLst>
                  <a:ext uri="{FF2B5EF4-FFF2-40B4-BE49-F238E27FC236}">
                    <a16:creationId xmlns:a16="http://schemas.microsoft.com/office/drawing/2014/main" id="{FAB5B973-E948-D365-4FB9-6BE84B6E67DB}"/>
                  </a:ext>
                </a:extLst>
              </p:cNvPr>
              <p:cNvCxnSpPr>
                <a:stCxn id="14" idx="1"/>
                <a:endCxn id="27" idx="1"/>
              </p:cNvCxnSpPr>
              <p:nvPr/>
            </p:nvCxnSpPr>
            <p:spPr>
              <a:xfrm flipH="1">
                <a:off x="7048638" y="2411105"/>
                <a:ext cx="1259100" cy="1774200"/>
              </a:xfrm>
              <a:prstGeom prst="bentConnector3">
                <a:avLst>
                  <a:gd name="adj1" fmla="val -234474"/>
                </a:avLst>
              </a:prstGeom>
              <a:noFill/>
              <a:ln w="28575" cap="flat" cmpd="sng">
                <a:solidFill>
                  <a:schemeClr val="bg2">
                    <a:lumMod val="50000"/>
                  </a:schemeClr>
                </a:solidFill>
                <a:prstDash val="solid"/>
                <a:round/>
                <a:headEnd type="none" w="sm" len="sm"/>
                <a:tailEnd type="triangle" w="lg" len="lg"/>
              </a:ln>
            </p:spPr>
          </p:cxnSp>
          <p:cxnSp>
            <p:nvCxnSpPr>
              <p:cNvPr id="18" name="Google Shape;1927;p67">
                <a:extLst>
                  <a:ext uri="{FF2B5EF4-FFF2-40B4-BE49-F238E27FC236}">
                    <a16:creationId xmlns:a16="http://schemas.microsoft.com/office/drawing/2014/main" id="{41268E87-6BA4-CF27-9657-DFC57A981C96}"/>
                  </a:ext>
                </a:extLst>
              </p:cNvPr>
              <p:cNvCxnSpPr>
                <a:stCxn id="14" idx="2"/>
                <a:endCxn id="28" idx="3"/>
              </p:cNvCxnSpPr>
              <p:nvPr/>
            </p:nvCxnSpPr>
            <p:spPr>
              <a:xfrm rot="5400000">
                <a:off x="8063988" y="3264905"/>
                <a:ext cx="1710900" cy="545100"/>
              </a:xfrm>
              <a:prstGeom prst="bentConnector2">
                <a:avLst/>
              </a:prstGeom>
              <a:noFill/>
              <a:ln w="28575" cap="flat" cmpd="sng">
                <a:solidFill>
                  <a:schemeClr val="bg2">
                    <a:lumMod val="50000"/>
                  </a:schemeClr>
                </a:solidFill>
                <a:prstDash val="solid"/>
                <a:round/>
                <a:headEnd type="none" w="sm" len="sm"/>
                <a:tailEnd type="triangle" w="lg" len="lg"/>
              </a:ln>
            </p:spPr>
          </p:cxnSp>
          <p:cxnSp>
            <p:nvCxnSpPr>
              <p:cNvPr id="19" name="Google Shape;1928;p67">
                <a:extLst>
                  <a:ext uri="{FF2B5EF4-FFF2-40B4-BE49-F238E27FC236}">
                    <a16:creationId xmlns:a16="http://schemas.microsoft.com/office/drawing/2014/main" id="{5C988AC2-BB29-80E5-E51E-74BC5C8190CA}"/>
                  </a:ext>
                </a:extLst>
              </p:cNvPr>
              <p:cNvCxnSpPr>
                <a:stCxn id="14" idx="3"/>
                <a:endCxn id="16" idx="3"/>
              </p:cNvCxnSpPr>
              <p:nvPr/>
            </p:nvCxnSpPr>
            <p:spPr>
              <a:xfrm>
                <a:off x="10076238" y="2411105"/>
                <a:ext cx="1259100" cy="1774200"/>
              </a:xfrm>
              <a:prstGeom prst="bentConnector3">
                <a:avLst>
                  <a:gd name="adj1" fmla="val 230480"/>
                </a:avLst>
              </a:prstGeom>
              <a:noFill/>
              <a:ln w="28575" cap="flat" cmpd="sng">
                <a:solidFill>
                  <a:schemeClr val="bg2">
                    <a:lumMod val="50000"/>
                  </a:schemeClr>
                </a:solidFill>
                <a:prstDash val="solid"/>
                <a:round/>
                <a:headEnd type="none" w="sm" len="sm"/>
                <a:tailEnd type="triangle" w="lg" len="lg"/>
              </a:ln>
            </p:spPr>
          </p:cxnSp>
          <p:grpSp>
            <p:nvGrpSpPr>
              <p:cNvPr id="20" name="Google Shape;1929;p67">
                <a:extLst>
                  <a:ext uri="{FF2B5EF4-FFF2-40B4-BE49-F238E27FC236}">
                    <a16:creationId xmlns:a16="http://schemas.microsoft.com/office/drawing/2014/main" id="{21632792-99B1-E001-CB61-C23E4015EBEA}"/>
                  </a:ext>
                </a:extLst>
              </p:cNvPr>
              <p:cNvGrpSpPr/>
              <p:nvPr/>
            </p:nvGrpSpPr>
            <p:grpSpPr>
              <a:xfrm>
                <a:off x="6872286" y="2888553"/>
                <a:ext cx="4554056" cy="469671"/>
                <a:chOff x="6872286" y="2987496"/>
                <a:chExt cx="4554056" cy="469671"/>
              </a:xfrm>
            </p:grpSpPr>
            <p:sp>
              <p:nvSpPr>
                <p:cNvPr id="24" name="Google Shape;1930;p67">
                  <a:extLst>
                    <a:ext uri="{FF2B5EF4-FFF2-40B4-BE49-F238E27FC236}">
                      <a16:creationId xmlns:a16="http://schemas.microsoft.com/office/drawing/2014/main" id="{9CDC9DAE-6B98-3B9C-7AB4-9FF4E85896C4}"/>
                    </a:ext>
                  </a:extLst>
                </p:cNvPr>
                <p:cNvSpPr txBox="1"/>
                <p:nvPr/>
              </p:nvSpPr>
              <p:spPr>
                <a:xfrm>
                  <a:off x="6872286" y="2987496"/>
                  <a:ext cx="846000" cy="26837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" sz="18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Bind Mount</a:t>
                  </a:r>
                  <a:endParaRPr sz="18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5" name="Google Shape;1931;p67">
                  <a:extLst>
                    <a:ext uri="{FF2B5EF4-FFF2-40B4-BE49-F238E27FC236}">
                      <a16:creationId xmlns:a16="http://schemas.microsoft.com/office/drawing/2014/main" id="{0872799D-779B-49C9-02AC-B5A71E8A1053}"/>
                    </a:ext>
                  </a:extLst>
                </p:cNvPr>
                <p:cNvSpPr txBox="1"/>
                <p:nvPr/>
              </p:nvSpPr>
              <p:spPr>
                <a:xfrm>
                  <a:off x="9257239" y="3095219"/>
                  <a:ext cx="1128600" cy="26837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" sz="18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Volume</a:t>
                  </a:r>
                  <a:endParaRPr sz="18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6" name="Google Shape;1932;p67">
                  <a:extLst>
                    <a:ext uri="{FF2B5EF4-FFF2-40B4-BE49-F238E27FC236}">
                      <a16:creationId xmlns:a16="http://schemas.microsoft.com/office/drawing/2014/main" id="{DFDE484E-93E0-9598-6655-FCC50A257949}"/>
                    </a:ext>
                  </a:extLst>
                </p:cNvPr>
                <p:cNvSpPr txBox="1"/>
                <p:nvPr/>
              </p:nvSpPr>
              <p:spPr>
                <a:xfrm>
                  <a:off x="10568942" y="2987496"/>
                  <a:ext cx="857400" cy="46967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" sz="18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Tmpfs Mount</a:t>
                  </a:r>
                  <a:endParaRPr sz="18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1" name="Google Shape;1933;p67">
                <a:extLst>
                  <a:ext uri="{FF2B5EF4-FFF2-40B4-BE49-F238E27FC236}">
                    <a16:creationId xmlns:a16="http://schemas.microsoft.com/office/drawing/2014/main" id="{7FA67695-8CF1-D0FC-D7E5-1FE8573B7551}"/>
                  </a:ext>
                </a:extLst>
              </p:cNvPr>
              <p:cNvGrpSpPr/>
              <p:nvPr/>
            </p:nvGrpSpPr>
            <p:grpSpPr>
              <a:xfrm>
                <a:off x="8373000" y="2218275"/>
                <a:ext cx="359400" cy="377400"/>
                <a:chOff x="8373000" y="2218275"/>
                <a:chExt cx="359400" cy="377400"/>
              </a:xfrm>
            </p:grpSpPr>
            <p:sp>
              <p:nvSpPr>
                <p:cNvPr id="22" name="Google Shape;1934;p67">
                  <a:extLst>
                    <a:ext uri="{FF2B5EF4-FFF2-40B4-BE49-F238E27FC236}">
                      <a16:creationId xmlns:a16="http://schemas.microsoft.com/office/drawing/2014/main" id="{74EA5A6E-D92D-1D91-4D33-650738D7B98B}"/>
                    </a:ext>
                  </a:extLst>
                </p:cNvPr>
                <p:cNvSpPr/>
                <p:nvPr/>
              </p:nvSpPr>
              <p:spPr>
                <a:xfrm>
                  <a:off x="8373000" y="2218275"/>
                  <a:ext cx="359400" cy="377400"/>
                </a:xfrm>
                <a:prstGeom prst="roundRect">
                  <a:avLst>
                    <a:gd name="adj" fmla="val 16667"/>
                  </a:avLst>
                </a:prstGeom>
                <a:noFill/>
                <a:ln w="28575" cap="flat" cmpd="sng">
                  <a:solidFill>
                    <a:schemeClr val="bg2">
                      <a:lumMod val="5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3" name="Google Shape;1935;p67">
                  <a:extLst>
                    <a:ext uri="{FF2B5EF4-FFF2-40B4-BE49-F238E27FC236}">
                      <a16:creationId xmlns:a16="http://schemas.microsoft.com/office/drawing/2014/main" id="{0FDFD78E-5362-669C-1500-8A9892693714}"/>
                    </a:ext>
                  </a:extLst>
                </p:cNvPr>
                <p:cNvSpPr/>
                <p:nvPr/>
              </p:nvSpPr>
              <p:spPr>
                <a:xfrm>
                  <a:off x="8467033" y="2323628"/>
                  <a:ext cx="171600" cy="166800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bg2">
                      <a:lumMod val="5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81746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940;p68">
            <a:extLst>
              <a:ext uri="{FF2B5EF4-FFF2-40B4-BE49-F238E27FC236}">
                <a16:creationId xmlns:a16="http://schemas.microsoft.com/office/drawing/2014/main" id="{E5310AF5-01A1-2CF1-6E20-4A03F0E0CEED}"/>
              </a:ext>
            </a:extLst>
          </p:cNvPr>
          <p:cNvSpPr txBox="1"/>
          <p:nvPr/>
        </p:nvSpPr>
        <p:spPr>
          <a:xfrm>
            <a:off x="2100909" y="1126721"/>
            <a:ext cx="7990182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SHARE DATA BETWEEN DOCKER CONTAINERS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1941;p68">
            <a:extLst>
              <a:ext uri="{FF2B5EF4-FFF2-40B4-BE49-F238E27FC236}">
                <a16:creationId xmlns:a16="http://schemas.microsoft.com/office/drawing/2014/main" id="{CFCC656B-3AF5-95EF-8210-5E2CBF9E940F}"/>
              </a:ext>
            </a:extLst>
          </p:cNvPr>
          <p:cNvGrpSpPr/>
          <p:nvPr/>
        </p:nvGrpSpPr>
        <p:grpSpPr>
          <a:xfrm>
            <a:off x="8286876" y="3578147"/>
            <a:ext cx="2453727" cy="2869680"/>
            <a:chOff x="8164189" y="2657423"/>
            <a:chExt cx="2699100" cy="3156648"/>
          </a:xfrm>
        </p:grpSpPr>
        <p:sp>
          <p:nvSpPr>
            <p:cNvPr id="11" name="Google Shape;1942;p68">
              <a:extLst>
                <a:ext uri="{FF2B5EF4-FFF2-40B4-BE49-F238E27FC236}">
                  <a16:creationId xmlns:a16="http://schemas.microsoft.com/office/drawing/2014/main" id="{6F4BE875-179A-63AA-661C-A86326E8ED42}"/>
                </a:ext>
              </a:extLst>
            </p:cNvPr>
            <p:cNvSpPr/>
            <p:nvPr/>
          </p:nvSpPr>
          <p:spPr>
            <a:xfrm>
              <a:off x="8383203" y="2657423"/>
              <a:ext cx="2480000" cy="1219200"/>
            </a:xfrm>
            <a:prstGeom prst="cube">
              <a:avLst>
                <a:gd name="adj" fmla="val 25000"/>
              </a:avLst>
            </a:prstGeom>
            <a:noFill/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Container A</a:t>
              </a:r>
              <a:endPara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2" name="Google Shape;1943;p68">
              <a:extLst>
                <a:ext uri="{FF2B5EF4-FFF2-40B4-BE49-F238E27FC236}">
                  <a16:creationId xmlns:a16="http://schemas.microsoft.com/office/drawing/2014/main" id="{C9CA617A-46AE-63E1-AB4A-B73D2E12D2AB}"/>
                </a:ext>
              </a:extLst>
            </p:cNvPr>
            <p:cNvGrpSpPr/>
            <p:nvPr/>
          </p:nvGrpSpPr>
          <p:grpSpPr>
            <a:xfrm>
              <a:off x="8164189" y="4442471"/>
              <a:ext cx="2699100" cy="1371600"/>
              <a:chOff x="8514580" y="4442471"/>
              <a:chExt cx="2699100" cy="1371600"/>
            </a:xfrm>
          </p:grpSpPr>
          <p:sp>
            <p:nvSpPr>
              <p:cNvPr id="13" name="Google Shape;1944;p68">
                <a:extLst>
                  <a:ext uri="{FF2B5EF4-FFF2-40B4-BE49-F238E27FC236}">
                    <a16:creationId xmlns:a16="http://schemas.microsoft.com/office/drawing/2014/main" id="{84737458-1AB8-5BAF-E6CE-3A45A821A62F}"/>
                  </a:ext>
                </a:extLst>
              </p:cNvPr>
              <p:cNvSpPr/>
              <p:nvPr/>
            </p:nvSpPr>
            <p:spPr>
              <a:xfrm>
                <a:off x="8514580" y="4442471"/>
                <a:ext cx="2546700" cy="1219200"/>
              </a:xfrm>
              <a:prstGeom prst="cube">
                <a:avLst>
                  <a:gd name="adj" fmla="val 25000"/>
                </a:avLst>
              </a:prstGeom>
              <a:noFill/>
              <a:ln w="25400" cap="flat" cmpd="sng">
                <a:solidFill>
                  <a:srgbClr val="0070C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945;p68">
                <a:extLst>
                  <a:ext uri="{FF2B5EF4-FFF2-40B4-BE49-F238E27FC236}">
                    <a16:creationId xmlns:a16="http://schemas.microsoft.com/office/drawing/2014/main" id="{D2DCDF2C-76DF-4008-FF1F-D194325CC8F8}"/>
                  </a:ext>
                </a:extLst>
              </p:cNvPr>
              <p:cNvSpPr/>
              <p:nvPr/>
            </p:nvSpPr>
            <p:spPr>
              <a:xfrm>
                <a:off x="8666980" y="4594871"/>
                <a:ext cx="2546700" cy="1219200"/>
              </a:xfrm>
              <a:prstGeom prst="cube">
                <a:avLst>
                  <a:gd name="adj" fmla="val 25000"/>
                </a:avLst>
              </a:prstGeom>
              <a:noFill/>
              <a:ln w="25400" cap="flat" cmpd="sng">
                <a:solidFill>
                  <a:srgbClr val="0070C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"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Container B</a:t>
                </a:r>
                <a:endParaRPr sz="20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" name="Google Shape;1946;p68">
            <a:extLst>
              <a:ext uri="{FF2B5EF4-FFF2-40B4-BE49-F238E27FC236}">
                <a16:creationId xmlns:a16="http://schemas.microsoft.com/office/drawing/2014/main" id="{328F5A07-B766-5979-2AC6-14BA7406E863}"/>
              </a:ext>
            </a:extLst>
          </p:cNvPr>
          <p:cNvGrpSpPr/>
          <p:nvPr/>
        </p:nvGrpSpPr>
        <p:grpSpPr>
          <a:xfrm>
            <a:off x="1320945" y="2054497"/>
            <a:ext cx="9623136" cy="4666545"/>
            <a:chOff x="839788" y="1043929"/>
            <a:chExt cx="10585450" cy="5133200"/>
          </a:xfrm>
        </p:grpSpPr>
        <p:pic>
          <p:nvPicPr>
            <p:cNvPr id="16" name="Google Shape;1947;p68">
              <a:extLst>
                <a:ext uri="{FF2B5EF4-FFF2-40B4-BE49-F238E27FC236}">
                  <a16:creationId xmlns:a16="http://schemas.microsoft.com/office/drawing/2014/main" id="{0732F827-347F-D1A1-D675-C49568D5F92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52586" y="1043929"/>
              <a:ext cx="5133068" cy="51330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948;p68">
              <a:extLst>
                <a:ext uri="{FF2B5EF4-FFF2-40B4-BE49-F238E27FC236}">
                  <a16:creationId xmlns:a16="http://schemas.microsoft.com/office/drawing/2014/main" id="{4EED09F7-0560-7B4F-C7A8-F530EC92C25B}"/>
                </a:ext>
              </a:extLst>
            </p:cNvPr>
            <p:cNvSpPr/>
            <p:nvPr/>
          </p:nvSpPr>
          <p:spPr>
            <a:xfrm>
              <a:off x="839788" y="1043929"/>
              <a:ext cx="10585450" cy="5133200"/>
            </a:xfrm>
            <a:prstGeom prst="roundRect">
              <a:avLst>
                <a:gd name="adj" fmla="val 4774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949;p68">
            <a:extLst>
              <a:ext uri="{FF2B5EF4-FFF2-40B4-BE49-F238E27FC236}">
                <a16:creationId xmlns:a16="http://schemas.microsoft.com/office/drawing/2014/main" id="{A5C8A6D1-D7E6-DCC6-CB33-6E5C4C7C7CCA}"/>
              </a:ext>
            </a:extLst>
          </p:cNvPr>
          <p:cNvSpPr/>
          <p:nvPr/>
        </p:nvSpPr>
        <p:spPr>
          <a:xfrm>
            <a:off x="4433392" y="2196870"/>
            <a:ext cx="3761818" cy="1801091"/>
          </a:xfrm>
          <a:prstGeom prst="cloudCallout">
            <a:avLst>
              <a:gd name="adj1" fmla="val -44773"/>
              <a:gd name="adj2" fmla="val 64423"/>
            </a:avLst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How 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 I</a:t>
            </a: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share data between Container </a:t>
            </a:r>
            <a:b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and Container B?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63177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954;p69">
            <a:extLst>
              <a:ext uri="{FF2B5EF4-FFF2-40B4-BE49-F238E27FC236}">
                <a16:creationId xmlns:a16="http://schemas.microsoft.com/office/drawing/2014/main" id="{72604C5F-662C-9A5C-E2DB-1C406A05E8A5}"/>
              </a:ext>
            </a:extLst>
          </p:cNvPr>
          <p:cNvSpPr/>
          <p:nvPr/>
        </p:nvSpPr>
        <p:spPr>
          <a:xfrm>
            <a:off x="839788" y="2638807"/>
            <a:ext cx="10585450" cy="3148165"/>
          </a:xfrm>
          <a:prstGeom prst="roundRect">
            <a:avLst>
              <a:gd name="adj" fmla="val 4774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They are used for the long-term storage of container data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 directory in the container is mapped to a directory on the host machine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They can also be used to share data among containers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They significantly reduce the chances of data loss due to a failed container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is available on the host machine even when a container is not alive 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Logs and backups of the application container can be stored in data volumes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955;p69">
            <a:extLst>
              <a:ext uri="{FF2B5EF4-FFF2-40B4-BE49-F238E27FC236}">
                <a16:creationId xmlns:a16="http://schemas.microsoft.com/office/drawing/2014/main" id="{18047B28-0F4A-591C-9CA0-2487BFEC2BD1}"/>
              </a:ext>
            </a:extLst>
          </p:cNvPr>
          <p:cNvSpPr txBox="1"/>
          <p:nvPr/>
        </p:nvSpPr>
        <p:spPr>
          <a:xfrm>
            <a:off x="-1388360" y="941710"/>
            <a:ext cx="8789200" cy="5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VOLUME</a:t>
            </a:r>
            <a:endParaRPr sz="1467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981982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4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4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4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960;p70">
            <a:extLst>
              <a:ext uri="{FF2B5EF4-FFF2-40B4-BE49-F238E27FC236}">
                <a16:creationId xmlns:a16="http://schemas.microsoft.com/office/drawing/2014/main" id="{07B90B47-651A-054C-7133-BCD01DE975A0}"/>
              </a:ext>
            </a:extLst>
          </p:cNvPr>
          <p:cNvSpPr txBox="1"/>
          <p:nvPr/>
        </p:nvSpPr>
        <p:spPr>
          <a:xfrm>
            <a:off x="1888201" y="1378703"/>
            <a:ext cx="8789200" cy="4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VOLUME: SHARE DATA BETWEEN CONTAINERS</a:t>
            </a:r>
            <a:endParaRPr sz="1467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1961;p70">
            <a:extLst>
              <a:ext uri="{FF2B5EF4-FFF2-40B4-BE49-F238E27FC236}">
                <a16:creationId xmlns:a16="http://schemas.microsoft.com/office/drawing/2014/main" id="{A24D55AA-76D5-0C93-E57D-CE93F15B6C59}"/>
              </a:ext>
            </a:extLst>
          </p:cNvPr>
          <p:cNvGrpSpPr/>
          <p:nvPr/>
        </p:nvGrpSpPr>
        <p:grpSpPr>
          <a:xfrm>
            <a:off x="839801" y="2358057"/>
            <a:ext cx="9837600" cy="4242396"/>
            <a:chOff x="839801" y="1043925"/>
            <a:chExt cx="9837600" cy="5133300"/>
          </a:xfrm>
        </p:grpSpPr>
        <p:sp>
          <p:nvSpPr>
            <p:cNvPr id="11" name="Google Shape;1962;p70">
              <a:extLst>
                <a:ext uri="{FF2B5EF4-FFF2-40B4-BE49-F238E27FC236}">
                  <a16:creationId xmlns:a16="http://schemas.microsoft.com/office/drawing/2014/main" id="{8270C927-15F6-CA03-0E6D-6C3319DA5AB2}"/>
                </a:ext>
              </a:extLst>
            </p:cNvPr>
            <p:cNvSpPr/>
            <p:nvPr/>
          </p:nvSpPr>
          <p:spPr>
            <a:xfrm>
              <a:off x="7650179" y="1447523"/>
              <a:ext cx="2048400" cy="1593200"/>
            </a:xfrm>
            <a:prstGeom prst="roundRect">
              <a:avLst>
                <a:gd name="adj" fmla="val 6803"/>
              </a:avLst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Container 1/Data</a:t>
              </a:r>
              <a:endParaRPr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" name="Google Shape;1963;p70">
              <a:extLst>
                <a:ext uri="{FF2B5EF4-FFF2-40B4-BE49-F238E27FC236}">
                  <a16:creationId xmlns:a16="http://schemas.microsoft.com/office/drawing/2014/main" id="{7B00A028-DBA5-E6CE-9714-A3884869920B}"/>
                </a:ext>
              </a:extLst>
            </p:cNvPr>
            <p:cNvSpPr/>
            <p:nvPr/>
          </p:nvSpPr>
          <p:spPr>
            <a:xfrm>
              <a:off x="7650179" y="3719668"/>
              <a:ext cx="2048400" cy="1593200"/>
            </a:xfrm>
            <a:prstGeom prst="roundRect">
              <a:avLst>
                <a:gd name="adj" fmla="val 12183"/>
              </a:avLst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Container 2/Data</a:t>
              </a:r>
              <a:endParaRPr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Google Shape;1964;p70">
              <a:extLst>
                <a:ext uri="{FF2B5EF4-FFF2-40B4-BE49-F238E27FC236}">
                  <a16:creationId xmlns:a16="http://schemas.microsoft.com/office/drawing/2014/main" id="{0648BF90-6BF9-F4E2-20A0-8348F1791474}"/>
                </a:ext>
              </a:extLst>
            </p:cNvPr>
            <p:cNvSpPr/>
            <p:nvPr/>
          </p:nvSpPr>
          <p:spPr>
            <a:xfrm>
              <a:off x="2493429" y="2105613"/>
              <a:ext cx="2717600" cy="2549200"/>
            </a:xfrm>
            <a:prstGeom prst="roundRect">
              <a:avLst>
                <a:gd name="adj" fmla="val 5458"/>
              </a:avLst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Host/Data</a:t>
              </a:r>
              <a:endParaRPr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(Shared volume)</a:t>
              </a:r>
              <a:endParaRPr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" name="Google Shape;1965;p70">
              <a:extLst>
                <a:ext uri="{FF2B5EF4-FFF2-40B4-BE49-F238E27FC236}">
                  <a16:creationId xmlns:a16="http://schemas.microsoft.com/office/drawing/2014/main" id="{1B86E815-0509-725F-D350-ECE66F46606D}"/>
                </a:ext>
              </a:extLst>
            </p:cNvPr>
            <p:cNvSpPr txBox="1"/>
            <p:nvPr/>
          </p:nvSpPr>
          <p:spPr>
            <a:xfrm>
              <a:off x="5472201" y="1457021"/>
              <a:ext cx="2048400" cy="7820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Write Files to/Data on Host</a:t>
              </a:r>
              <a:endParaRPr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" name="Google Shape;1966;p70">
              <a:extLst>
                <a:ext uri="{FF2B5EF4-FFF2-40B4-BE49-F238E27FC236}">
                  <a16:creationId xmlns:a16="http://schemas.microsoft.com/office/drawing/2014/main" id="{F104E698-4869-208A-877F-A5378BD3E4F3}"/>
                </a:ext>
              </a:extLst>
            </p:cNvPr>
            <p:cNvSpPr txBox="1"/>
            <p:nvPr/>
          </p:nvSpPr>
          <p:spPr>
            <a:xfrm>
              <a:off x="5210978" y="4654779"/>
              <a:ext cx="2466000" cy="7820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Read Files from/Data on Host</a:t>
              </a:r>
              <a:endParaRPr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6" name="Google Shape;1967;p70">
              <a:extLst>
                <a:ext uri="{FF2B5EF4-FFF2-40B4-BE49-F238E27FC236}">
                  <a16:creationId xmlns:a16="http://schemas.microsoft.com/office/drawing/2014/main" id="{ABFC4755-0AD5-F876-DF38-27B99F7DD91D}"/>
                </a:ext>
              </a:extLst>
            </p:cNvPr>
            <p:cNvCxnSpPr>
              <a:stCxn id="11" idx="1"/>
              <a:endCxn id="13" idx="3"/>
            </p:cNvCxnSpPr>
            <p:nvPr/>
          </p:nvCxnSpPr>
          <p:spPr>
            <a:xfrm flipH="1">
              <a:off x="5211179" y="2244123"/>
              <a:ext cx="2439000" cy="1136100"/>
            </a:xfrm>
            <a:prstGeom prst="bentConnector3">
              <a:avLst>
                <a:gd name="adj1" fmla="val 50000"/>
              </a:avLst>
            </a:prstGeom>
            <a:noFill/>
            <a:ln w="28575" cap="flat" cmpd="sng">
              <a:solidFill>
                <a:schemeClr val="bg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968;p70">
              <a:extLst>
                <a:ext uri="{FF2B5EF4-FFF2-40B4-BE49-F238E27FC236}">
                  <a16:creationId xmlns:a16="http://schemas.microsoft.com/office/drawing/2014/main" id="{33BF9F73-AAD2-FE5B-9EC7-D52E14937049}"/>
                </a:ext>
              </a:extLst>
            </p:cNvPr>
            <p:cNvCxnSpPr>
              <a:stCxn id="12" idx="1"/>
              <a:endCxn id="13" idx="3"/>
            </p:cNvCxnSpPr>
            <p:nvPr/>
          </p:nvCxnSpPr>
          <p:spPr>
            <a:xfrm rot="10800000">
              <a:off x="5211179" y="3380168"/>
              <a:ext cx="2439000" cy="1136100"/>
            </a:xfrm>
            <a:prstGeom prst="bentConnector3">
              <a:avLst>
                <a:gd name="adj1" fmla="val 50000"/>
              </a:avLst>
            </a:prstGeom>
            <a:noFill/>
            <a:ln w="28575" cap="flat" cmpd="sng">
              <a:solidFill>
                <a:schemeClr val="bg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" name="Google Shape;1969;p70">
              <a:extLst>
                <a:ext uri="{FF2B5EF4-FFF2-40B4-BE49-F238E27FC236}">
                  <a16:creationId xmlns:a16="http://schemas.microsoft.com/office/drawing/2014/main" id="{CA7FB3F2-616A-570D-E4D4-C06FADA44164}"/>
                </a:ext>
              </a:extLst>
            </p:cNvPr>
            <p:cNvSpPr/>
            <p:nvPr/>
          </p:nvSpPr>
          <p:spPr>
            <a:xfrm>
              <a:off x="839801" y="1043925"/>
              <a:ext cx="9837600" cy="5133300"/>
            </a:xfrm>
            <a:prstGeom prst="roundRect">
              <a:avLst>
                <a:gd name="adj" fmla="val 4774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397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974;p71">
            <a:extLst>
              <a:ext uri="{FF2B5EF4-FFF2-40B4-BE49-F238E27FC236}">
                <a16:creationId xmlns:a16="http://schemas.microsoft.com/office/drawing/2014/main" id="{71F39DD2-FAAA-0F1F-3ABA-D2502B9337D9}"/>
              </a:ext>
            </a:extLst>
          </p:cNvPr>
          <p:cNvSpPr/>
          <p:nvPr/>
        </p:nvSpPr>
        <p:spPr>
          <a:xfrm>
            <a:off x="1320946" y="2191651"/>
            <a:ext cx="9623136" cy="4468091"/>
          </a:xfrm>
          <a:prstGeom prst="roundRect">
            <a:avLst>
              <a:gd name="adj" fmla="val 4318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975;p71">
            <a:extLst>
              <a:ext uri="{FF2B5EF4-FFF2-40B4-BE49-F238E27FC236}">
                <a16:creationId xmlns:a16="http://schemas.microsoft.com/office/drawing/2014/main" id="{7744F29F-7A32-C157-D3AD-9CA9F1C52BE0}"/>
              </a:ext>
            </a:extLst>
          </p:cNvPr>
          <p:cNvSpPr txBox="1"/>
          <p:nvPr/>
        </p:nvSpPr>
        <p:spPr>
          <a:xfrm>
            <a:off x="1311809" y="1186771"/>
            <a:ext cx="9559636" cy="606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WAYS TO CREATE DOCKER VOLUME</a:t>
            </a:r>
            <a:endParaRPr sz="24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1976;p71">
            <a:extLst>
              <a:ext uri="{FF2B5EF4-FFF2-40B4-BE49-F238E27FC236}">
                <a16:creationId xmlns:a16="http://schemas.microsoft.com/office/drawing/2014/main" id="{B09CC547-7556-E892-F9DB-B98A768BA0DB}"/>
              </a:ext>
            </a:extLst>
          </p:cNvPr>
          <p:cNvSpPr/>
          <p:nvPr/>
        </p:nvSpPr>
        <p:spPr>
          <a:xfrm>
            <a:off x="1400684" y="2113623"/>
            <a:ext cx="9477645" cy="73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v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olume can be created using the docker command or implicitly during container or service creation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2" name="Google Shape;1977;p71">
            <a:extLst>
              <a:ext uri="{FF2B5EF4-FFF2-40B4-BE49-F238E27FC236}">
                <a16:creationId xmlns:a16="http://schemas.microsoft.com/office/drawing/2014/main" id="{FF6F566C-68E4-6AD5-F3CE-AA7699FE8E3D}"/>
              </a:ext>
            </a:extLst>
          </p:cNvPr>
          <p:cNvGrpSpPr/>
          <p:nvPr/>
        </p:nvGrpSpPr>
        <p:grpSpPr>
          <a:xfrm>
            <a:off x="1523020" y="3550078"/>
            <a:ext cx="8599273" cy="511636"/>
            <a:chOff x="1093056" y="2756400"/>
            <a:chExt cx="9459200" cy="562800"/>
          </a:xfrm>
        </p:grpSpPr>
        <p:sp>
          <p:nvSpPr>
            <p:cNvPr id="13" name="Google Shape;1978;p71">
              <a:extLst>
                <a:ext uri="{FF2B5EF4-FFF2-40B4-BE49-F238E27FC236}">
                  <a16:creationId xmlns:a16="http://schemas.microsoft.com/office/drawing/2014/main" id="{4AA6487B-D70D-8EAD-3041-B70C89D48341}"/>
                </a:ext>
              </a:extLst>
            </p:cNvPr>
            <p:cNvSpPr/>
            <p:nvPr/>
          </p:nvSpPr>
          <p:spPr>
            <a:xfrm>
              <a:off x="1093056" y="2756400"/>
              <a:ext cx="9459200" cy="5628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               Create data volume </a:t>
              </a:r>
              <a:r>
                <a:rPr lang="en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4"/>
                    </a:ext>
                  </a:extLst>
                </a:rPr>
                <a:t>while running service 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979;p71">
              <a:extLst>
                <a:ext uri="{FF2B5EF4-FFF2-40B4-BE49-F238E27FC236}">
                  <a16:creationId xmlns:a16="http://schemas.microsoft.com/office/drawing/2014/main" id="{E9219008-A574-183D-89FF-6DBDEC55DB2F}"/>
                </a:ext>
              </a:extLst>
            </p:cNvPr>
            <p:cNvSpPr/>
            <p:nvPr/>
          </p:nvSpPr>
          <p:spPr>
            <a:xfrm>
              <a:off x="1093056" y="2760400"/>
              <a:ext cx="558000" cy="554800"/>
            </a:xfrm>
            <a:prstGeom prst="roundRect">
              <a:avLst>
                <a:gd name="adj" fmla="val 16667"/>
              </a:avLst>
            </a:prstGeom>
            <a:solidFill>
              <a:srgbClr val="FFC000"/>
            </a:solidFill>
            <a:ln w="25400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980;p71">
            <a:extLst>
              <a:ext uri="{FF2B5EF4-FFF2-40B4-BE49-F238E27FC236}">
                <a16:creationId xmlns:a16="http://schemas.microsoft.com/office/drawing/2014/main" id="{77BAA99C-BFAB-D728-26F2-8B635FC0E67B}"/>
              </a:ext>
            </a:extLst>
          </p:cNvPr>
          <p:cNvGrpSpPr/>
          <p:nvPr/>
        </p:nvGrpSpPr>
        <p:grpSpPr>
          <a:xfrm>
            <a:off x="1851397" y="4400320"/>
            <a:ext cx="8286532" cy="1868459"/>
            <a:chOff x="1437071" y="3538801"/>
            <a:chExt cx="9115185" cy="2055305"/>
          </a:xfrm>
        </p:grpSpPr>
        <p:sp>
          <p:nvSpPr>
            <p:cNvPr id="16" name="Google Shape;1981;p71">
              <a:extLst>
                <a:ext uri="{FF2B5EF4-FFF2-40B4-BE49-F238E27FC236}">
                  <a16:creationId xmlns:a16="http://schemas.microsoft.com/office/drawing/2014/main" id="{B874FB50-48C3-1076-AEE6-D89D1CE098F8}"/>
                </a:ext>
              </a:extLst>
            </p:cNvPr>
            <p:cNvSpPr/>
            <p:nvPr/>
          </p:nvSpPr>
          <p:spPr>
            <a:xfrm>
              <a:off x="1437071" y="3538801"/>
              <a:ext cx="9115185" cy="658061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docker run </a:t>
              </a:r>
              <a:r>
                <a:rPr lang="en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--name application  -d -p 3458:8080 –v  sharedvolume:/data example/application: latest</a:t>
              </a:r>
              <a:endPara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982;p71">
              <a:extLst>
                <a:ext uri="{FF2B5EF4-FFF2-40B4-BE49-F238E27FC236}">
                  <a16:creationId xmlns:a16="http://schemas.microsoft.com/office/drawing/2014/main" id="{87461E82-D1C3-DCA4-4386-B67BD2F40C1D}"/>
                </a:ext>
              </a:extLst>
            </p:cNvPr>
            <p:cNvSpPr/>
            <p:nvPr/>
          </p:nvSpPr>
          <p:spPr>
            <a:xfrm>
              <a:off x="8155456" y="4800600"/>
              <a:ext cx="2396800" cy="793506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/data </a:t>
              </a:r>
              <a:r>
                <a:rPr lang="en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is mounted </a:t>
              </a:r>
              <a:r>
                <a:rPr lang="en" sz="1800">
                  <a:solidFill>
                    <a:schemeClr val="dk1"/>
                  </a:solidFill>
                </a:rPr>
                <a:t>on</a:t>
              </a:r>
              <a:r>
                <a:rPr lang="en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the container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983;p71">
              <a:extLst>
                <a:ext uri="{FF2B5EF4-FFF2-40B4-BE49-F238E27FC236}">
                  <a16:creationId xmlns:a16="http://schemas.microsoft.com/office/drawing/2014/main" id="{416AE20C-8DF5-7F90-904A-EA63B15AC847}"/>
                </a:ext>
              </a:extLst>
            </p:cNvPr>
            <p:cNvSpPr/>
            <p:nvPr/>
          </p:nvSpPr>
          <p:spPr>
            <a:xfrm>
              <a:off x="4336400" y="4800600"/>
              <a:ext cx="3519200" cy="748711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sharedvolume</a:t>
              </a:r>
              <a:r>
                <a:rPr lang="en" sz="18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r>
                <a:rPr lang="en" sz="1800" dirty="0">
                  <a:solidFill>
                    <a:schemeClr val="dk1"/>
                  </a:solidFill>
                </a:rPr>
                <a:t> D</a:t>
              </a:r>
              <a:r>
                <a:rPr lang="en" sz="18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ata volume </a:t>
              </a:r>
              <a:r>
                <a:rPr lang="en" sz="1800" dirty="0">
                  <a:solidFill>
                    <a:schemeClr val="dk1"/>
                  </a:solidFill>
                </a:rPr>
                <a:t>i</a:t>
              </a:r>
              <a:r>
                <a:rPr lang="en" sz="18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 the host machine </a:t>
              </a:r>
              <a:endParaRPr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" name="Google Shape;1984;p71">
              <a:extLst>
                <a:ext uri="{FF2B5EF4-FFF2-40B4-BE49-F238E27FC236}">
                  <a16:creationId xmlns:a16="http://schemas.microsoft.com/office/drawing/2014/main" id="{CB414CC1-F024-4C45-F248-204362F246F9}"/>
                </a:ext>
              </a:extLst>
            </p:cNvPr>
            <p:cNvCxnSpPr/>
            <p:nvPr/>
          </p:nvCxnSpPr>
          <p:spPr>
            <a:xfrm rot="-5400000">
              <a:off x="9038312" y="4493407"/>
              <a:ext cx="631088" cy="10648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none" w="sm" len="sm"/>
            </a:ln>
          </p:spPr>
        </p:cxnSp>
        <p:cxnSp>
          <p:nvCxnSpPr>
            <p:cNvPr id="20" name="Google Shape;1985;p71">
              <a:extLst>
                <a:ext uri="{FF2B5EF4-FFF2-40B4-BE49-F238E27FC236}">
                  <a16:creationId xmlns:a16="http://schemas.microsoft.com/office/drawing/2014/main" id="{89755306-E1C1-6004-EC8D-C078BE00087C}"/>
                </a:ext>
              </a:extLst>
            </p:cNvPr>
            <p:cNvCxnSpPr/>
            <p:nvPr/>
          </p:nvCxnSpPr>
          <p:spPr>
            <a:xfrm rot="-5400000">
              <a:off x="5780456" y="4493407"/>
              <a:ext cx="631088" cy="10648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04190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990;p72">
            <a:extLst>
              <a:ext uri="{FF2B5EF4-FFF2-40B4-BE49-F238E27FC236}">
                <a16:creationId xmlns:a16="http://schemas.microsoft.com/office/drawing/2014/main" id="{6A06AEE8-7DDA-42F6-9331-F74723CE4471}"/>
              </a:ext>
            </a:extLst>
          </p:cNvPr>
          <p:cNvSpPr txBox="1"/>
          <p:nvPr/>
        </p:nvSpPr>
        <p:spPr>
          <a:xfrm>
            <a:off x="2046008" y="732881"/>
            <a:ext cx="6875273" cy="476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991;p72">
            <a:extLst>
              <a:ext uri="{FF2B5EF4-FFF2-40B4-BE49-F238E27FC236}">
                <a16:creationId xmlns:a16="http://schemas.microsoft.com/office/drawing/2014/main" id="{FF1C1D01-9004-5A4E-4B38-2FCB71ED2163}"/>
              </a:ext>
            </a:extLst>
          </p:cNvPr>
          <p:cNvSpPr txBox="1"/>
          <p:nvPr/>
        </p:nvSpPr>
        <p:spPr>
          <a:xfrm>
            <a:off x="1221581" y="1259884"/>
            <a:ext cx="9559636" cy="606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WAYS TO CREATE DOCKER VOLUME</a:t>
            </a:r>
            <a:endParaRPr sz="24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1992;p72">
            <a:extLst>
              <a:ext uri="{FF2B5EF4-FFF2-40B4-BE49-F238E27FC236}">
                <a16:creationId xmlns:a16="http://schemas.microsoft.com/office/drawing/2014/main" id="{359B6736-148A-48A1-E5F6-F630B4113E2C}"/>
              </a:ext>
            </a:extLst>
          </p:cNvPr>
          <p:cNvSpPr/>
          <p:nvPr/>
        </p:nvSpPr>
        <p:spPr>
          <a:xfrm>
            <a:off x="1320945" y="2153636"/>
            <a:ext cx="9623136" cy="4546024"/>
          </a:xfrm>
          <a:prstGeom prst="roundRect">
            <a:avLst>
              <a:gd name="adj" fmla="val 3371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993;p72">
            <a:extLst>
              <a:ext uri="{FF2B5EF4-FFF2-40B4-BE49-F238E27FC236}">
                <a16:creationId xmlns:a16="http://schemas.microsoft.com/office/drawing/2014/main" id="{36E95D91-4B4D-9786-5EE4-C1EC0481D819}"/>
              </a:ext>
            </a:extLst>
          </p:cNvPr>
          <p:cNvSpPr/>
          <p:nvPr/>
        </p:nvSpPr>
        <p:spPr>
          <a:xfrm>
            <a:off x="2181944" y="4279140"/>
            <a:ext cx="8599273" cy="1290909"/>
          </a:xfrm>
          <a:prstGeom prst="roundRect">
            <a:avLst>
              <a:gd name="adj" fmla="val 8490"/>
            </a:avLst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docker volume create </a:t>
            </a:r>
            <a:r>
              <a:rPr lang="en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sharedvolume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3" name="Google Shape;1994;p72">
            <a:extLst>
              <a:ext uri="{FF2B5EF4-FFF2-40B4-BE49-F238E27FC236}">
                <a16:creationId xmlns:a16="http://schemas.microsoft.com/office/drawing/2014/main" id="{B9B99774-F962-5AAE-1C7B-9B6913ADB78D}"/>
              </a:ext>
            </a:extLst>
          </p:cNvPr>
          <p:cNvGrpSpPr/>
          <p:nvPr/>
        </p:nvGrpSpPr>
        <p:grpSpPr>
          <a:xfrm>
            <a:off x="2084962" y="2226282"/>
            <a:ext cx="6659636" cy="511636"/>
            <a:chOff x="1751980" y="1569764"/>
            <a:chExt cx="7325600" cy="562800"/>
          </a:xfrm>
        </p:grpSpPr>
        <p:sp>
          <p:nvSpPr>
            <p:cNvPr id="14" name="Google Shape;1995;p72">
              <a:extLst>
                <a:ext uri="{FF2B5EF4-FFF2-40B4-BE49-F238E27FC236}">
                  <a16:creationId xmlns:a16="http://schemas.microsoft.com/office/drawing/2014/main" id="{F23A3B1D-FA83-2048-463F-A842115FBA98}"/>
                </a:ext>
              </a:extLst>
            </p:cNvPr>
            <p:cNvSpPr/>
            <p:nvPr/>
          </p:nvSpPr>
          <p:spPr>
            <a:xfrm>
              <a:off x="1751980" y="1569764"/>
              <a:ext cx="7325600" cy="5628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              Create data volume and </a:t>
              </a:r>
              <a:r>
                <a:rPr lang="en" sz="18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5"/>
                    </a:ext>
                  </a:extLst>
                </a:rPr>
                <a:t>mount it on</a:t>
              </a:r>
              <a:r>
                <a:rPr lang="en" sz="18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 the container</a:t>
              </a:r>
              <a:endParaRPr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" name="Google Shape;1996;p72">
              <a:extLst>
                <a:ext uri="{FF2B5EF4-FFF2-40B4-BE49-F238E27FC236}">
                  <a16:creationId xmlns:a16="http://schemas.microsoft.com/office/drawing/2014/main" id="{590CF044-78DF-1FCB-B234-89821593432C}"/>
                </a:ext>
              </a:extLst>
            </p:cNvPr>
            <p:cNvSpPr/>
            <p:nvPr/>
          </p:nvSpPr>
          <p:spPr>
            <a:xfrm>
              <a:off x="1751980" y="1573764"/>
              <a:ext cx="558000" cy="5548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02</a:t>
              </a:r>
              <a:endPara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6" name="Google Shape;1997;p72">
            <a:extLst>
              <a:ext uri="{FF2B5EF4-FFF2-40B4-BE49-F238E27FC236}">
                <a16:creationId xmlns:a16="http://schemas.microsoft.com/office/drawing/2014/main" id="{989ABE67-F1CB-382C-B3CD-CA31CE9B9038}"/>
              </a:ext>
            </a:extLst>
          </p:cNvPr>
          <p:cNvGrpSpPr/>
          <p:nvPr/>
        </p:nvGrpSpPr>
        <p:grpSpPr>
          <a:xfrm>
            <a:off x="2181944" y="5570049"/>
            <a:ext cx="3414909" cy="891855"/>
            <a:chOff x="967888" y="4810159"/>
            <a:chExt cx="3756400" cy="981041"/>
          </a:xfrm>
        </p:grpSpPr>
        <p:sp>
          <p:nvSpPr>
            <p:cNvPr id="17" name="Google Shape;1998;p72">
              <a:extLst>
                <a:ext uri="{FF2B5EF4-FFF2-40B4-BE49-F238E27FC236}">
                  <a16:creationId xmlns:a16="http://schemas.microsoft.com/office/drawing/2014/main" id="{3548519B-376A-9242-DA2C-7B25CC75445E}"/>
                </a:ext>
              </a:extLst>
            </p:cNvPr>
            <p:cNvSpPr/>
            <p:nvPr/>
          </p:nvSpPr>
          <p:spPr>
            <a:xfrm>
              <a:off x="967888" y="5170118"/>
              <a:ext cx="2952400" cy="621082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/data</a:t>
              </a: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r>
                <a:rPr lang="en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Path in the container</a:t>
              </a:r>
              <a:endParaRPr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8" name="Google Shape;1999;p72">
              <a:extLst>
                <a:ext uri="{FF2B5EF4-FFF2-40B4-BE49-F238E27FC236}">
                  <a16:creationId xmlns:a16="http://schemas.microsoft.com/office/drawing/2014/main" id="{B8291D0F-4C50-C9DA-2906-9BB8B35867B2}"/>
                </a:ext>
              </a:extLst>
            </p:cNvPr>
            <p:cNvCxnSpPr>
              <a:endCxn id="17" idx="3"/>
            </p:cNvCxnSpPr>
            <p:nvPr/>
          </p:nvCxnSpPr>
          <p:spPr>
            <a:xfrm flipH="1">
              <a:off x="3920288" y="4810159"/>
              <a:ext cx="804000" cy="670500"/>
            </a:xfrm>
            <a:prstGeom prst="bentConnector3">
              <a:avLst>
                <a:gd name="adj1" fmla="val 258495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none" w="sm" len="sm"/>
            </a:ln>
          </p:spPr>
        </p:cxnSp>
      </p:grpSp>
      <p:grpSp>
        <p:nvGrpSpPr>
          <p:cNvPr id="19" name="Google Shape;2000;p72">
            <a:extLst>
              <a:ext uri="{FF2B5EF4-FFF2-40B4-BE49-F238E27FC236}">
                <a16:creationId xmlns:a16="http://schemas.microsoft.com/office/drawing/2014/main" id="{2081B7FE-DE94-864A-C998-9DC4FAF336A6}"/>
              </a:ext>
            </a:extLst>
          </p:cNvPr>
          <p:cNvGrpSpPr/>
          <p:nvPr/>
        </p:nvGrpSpPr>
        <p:grpSpPr>
          <a:xfrm>
            <a:off x="2831774" y="3046000"/>
            <a:ext cx="4141545" cy="1275003"/>
            <a:chOff x="2624696" y="2351314"/>
            <a:chExt cx="4555700" cy="1402503"/>
          </a:xfrm>
        </p:grpSpPr>
        <p:sp>
          <p:nvSpPr>
            <p:cNvPr id="20" name="Google Shape;2001;p72">
              <a:extLst>
                <a:ext uri="{FF2B5EF4-FFF2-40B4-BE49-F238E27FC236}">
                  <a16:creationId xmlns:a16="http://schemas.microsoft.com/office/drawing/2014/main" id="{478CD679-A86F-D165-295A-EA441DEB5352}"/>
                </a:ext>
              </a:extLst>
            </p:cNvPr>
            <p:cNvSpPr/>
            <p:nvPr/>
          </p:nvSpPr>
          <p:spPr>
            <a:xfrm>
              <a:off x="2624696" y="2351314"/>
              <a:ext cx="3269600" cy="75300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600" b="1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sharedvolume</a:t>
              </a:r>
              <a:r>
                <a:rPr lang="en" sz="16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: </a:t>
              </a:r>
              <a:r>
                <a:rPr lang="en" sz="1600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</a:t>
              </a:r>
              <a:r>
                <a:rPr lang="en" sz="16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ata volume </a:t>
              </a:r>
              <a:r>
                <a:rPr lang="en" sz="1600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i</a:t>
              </a:r>
              <a:r>
                <a:rPr lang="en" sz="16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n the host machine </a:t>
              </a:r>
              <a:endParaRPr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1" name="Google Shape;2002;p72">
              <a:extLst>
                <a:ext uri="{FF2B5EF4-FFF2-40B4-BE49-F238E27FC236}">
                  <a16:creationId xmlns:a16="http://schemas.microsoft.com/office/drawing/2014/main" id="{79A93D1B-63A1-F225-0CEC-86211AEDDDBD}"/>
                </a:ext>
              </a:extLst>
            </p:cNvPr>
            <p:cNvCxnSpPr>
              <a:endCxn id="20" idx="3"/>
            </p:cNvCxnSpPr>
            <p:nvPr/>
          </p:nvCxnSpPr>
          <p:spPr>
            <a:xfrm rot="10800000">
              <a:off x="5894296" y="2727817"/>
              <a:ext cx="1286100" cy="1026000"/>
            </a:xfrm>
            <a:prstGeom prst="bentConnector3">
              <a:avLst>
                <a:gd name="adj1" fmla="val -123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none" w="sm" len="sm"/>
            </a:ln>
          </p:spPr>
        </p:cxnSp>
      </p:grpSp>
      <p:grpSp>
        <p:nvGrpSpPr>
          <p:cNvPr id="22" name="Google Shape;2003;p72">
            <a:extLst>
              <a:ext uri="{FF2B5EF4-FFF2-40B4-BE49-F238E27FC236}">
                <a16:creationId xmlns:a16="http://schemas.microsoft.com/office/drawing/2014/main" id="{9536C398-93AB-590A-F3EA-4C3E34CE8947}"/>
              </a:ext>
            </a:extLst>
          </p:cNvPr>
          <p:cNvGrpSpPr/>
          <p:nvPr/>
        </p:nvGrpSpPr>
        <p:grpSpPr>
          <a:xfrm>
            <a:off x="8367079" y="3066031"/>
            <a:ext cx="2829840" cy="1675641"/>
            <a:chOff x="8225587" y="2351313"/>
            <a:chExt cx="3112824" cy="1843205"/>
          </a:xfrm>
        </p:grpSpPr>
        <p:sp>
          <p:nvSpPr>
            <p:cNvPr id="23" name="Google Shape;2004;p72">
              <a:extLst>
                <a:ext uri="{FF2B5EF4-FFF2-40B4-BE49-F238E27FC236}">
                  <a16:creationId xmlns:a16="http://schemas.microsoft.com/office/drawing/2014/main" id="{55E7DF7C-7954-FCB5-F07C-787B6B1FB7B9}"/>
                </a:ext>
              </a:extLst>
            </p:cNvPr>
            <p:cNvSpPr/>
            <p:nvPr/>
          </p:nvSpPr>
          <p:spPr>
            <a:xfrm>
              <a:off x="8225587" y="2351313"/>
              <a:ext cx="3112824" cy="75300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" sz="1600" b="1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6"/>
                    </a:ext>
                  </a:extLst>
                </a:rPr>
                <a:t>sharedvolume</a:t>
              </a:r>
              <a:r>
                <a:rPr lang="en" sz="1600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7"/>
                    </a:ext>
                  </a:extLst>
                </a:rPr>
                <a:t>: Data volume in the host machine </a:t>
              </a:r>
              <a:endParaRPr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4" name="Google Shape;2005;p72">
              <a:extLst>
                <a:ext uri="{FF2B5EF4-FFF2-40B4-BE49-F238E27FC236}">
                  <a16:creationId xmlns:a16="http://schemas.microsoft.com/office/drawing/2014/main" id="{5E9AB7E7-4693-67F9-0F5E-6ABCB0C94CB2}"/>
                </a:ext>
              </a:extLst>
            </p:cNvPr>
            <p:cNvCxnSpPr>
              <a:endCxn id="23" idx="2"/>
            </p:cNvCxnSpPr>
            <p:nvPr/>
          </p:nvCxnSpPr>
          <p:spPr>
            <a:xfrm rot="10800000">
              <a:off x="9781999" y="3104318"/>
              <a:ext cx="0" cy="10902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none" w="sm" len="sm"/>
            </a:ln>
          </p:spPr>
        </p:cxnSp>
      </p:grpSp>
      <p:sp>
        <p:nvSpPr>
          <p:cNvPr id="25" name="Google Shape;2006;p72">
            <a:extLst>
              <a:ext uri="{FF2B5EF4-FFF2-40B4-BE49-F238E27FC236}">
                <a16:creationId xmlns:a16="http://schemas.microsoft.com/office/drawing/2014/main" id="{8DA1B406-DAB7-3133-0CE8-D81159EE7BB9}"/>
              </a:ext>
            </a:extLst>
          </p:cNvPr>
          <p:cNvSpPr txBox="1"/>
          <p:nvPr/>
        </p:nvSpPr>
        <p:spPr>
          <a:xfrm>
            <a:off x="2181944" y="4881488"/>
            <a:ext cx="8599273" cy="587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docker run </a:t>
            </a:r>
            <a:r>
              <a:rPr lang="en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--name application  -d -p 3458:8080 –mount source=sharedvolume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,destination=/data example/application: latest</a:t>
            </a:r>
            <a:endParaRPr sz="1800" b="1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99293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011;p73">
            <a:extLst>
              <a:ext uri="{FF2B5EF4-FFF2-40B4-BE49-F238E27FC236}">
                <a16:creationId xmlns:a16="http://schemas.microsoft.com/office/drawing/2014/main" id="{109E20F6-063E-8A5B-73D7-4FD3D9A5B8EF}"/>
              </a:ext>
            </a:extLst>
          </p:cNvPr>
          <p:cNvSpPr txBox="1"/>
          <p:nvPr/>
        </p:nvSpPr>
        <p:spPr>
          <a:xfrm>
            <a:off x="1206500" y="1253595"/>
            <a:ext cx="9779200" cy="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DEMO 8: DOCKER VOLUME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012;p73">
            <a:extLst>
              <a:ext uri="{FF2B5EF4-FFF2-40B4-BE49-F238E27FC236}">
                <a16:creationId xmlns:a16="http://schemas.microsoft.com/office/drawing/2014/main" id="{AFC7914B-1245-2320-3D82-89075CD5B151}"/>
              </a:ext>
            </a:extLst>
          </p:cNvPr>
          <p:cNvSpPr/>
          <p:nvPr/>
        </p:nvSpPr>
        <p:spPr>
          <a:xfrm>
            <a:off x="2704550" y="3812978"/>
            <a:ext cx="6782901" cy="698768"/>
          </a:xfrm>
          <a:prstGeom prst="roundRect">
            <a:avLst>
              <a:gd name="adj" fmla="val 16933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8615" marR="0" lvl="0" indent="-348615" algn="ctr" rtl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 Creati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ng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volume and mounting it on 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container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837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017;p74">
            <a:extLst>
              <a:ext uri="{FF2B5EF4-FFF2-40B4-BE49-F238E27FC236}">
                <a16:creationId xmlns:a16="http://schemas.microsoft.com/office/drawing/2014/main" id="{A41DA29A-ED7A-76F2-739B-2A61EA0833CD}"/>
              </a:ext>
            </a:extLst>
          </p:cNvPr>
          <p:cNvSpPr/>
          <p:nvPr/>
        </p:nvSpPr>
        <p:spPr>
          <a:xfrm>
            <a:off x="874649" y="2382558"/>
            <a:ext cx="10585450" cy="3627620"/>
          </a:xfrm>
          <a:prstGeom prst="roundRect">
            <a:avLst>
              <a:gd name="adj" fmla="val 4774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8965" marR="0" lvl="0" indent="0" algn="l" rtl="0">
              <a:lnSpc>
                <a:spcPct val="150000"/>
              </a:lnSpc>
              <a:spcBef>
                <a:spcPts val="667"/>
              </a:spcBef>
              <a:spcAft>
                <a:spcPts val="0"/>
              </a:spcAft>
              <a:buClr>
                <a:srgbClr val="000000"/>
              </a:buClr>
              <a:buSzPts val="2267"/>
              <a:buFont typeface="Arial"/>
              <a:buNone/>
            </a:pPr>
            <a:endParaRPr sz="2267" b="0" i="0" u="none" strike="noStrike" cap="none" dirty="0">
              <a:solidFill>
                <a:srgbClr val="0F161E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dirty="0">
                <a:latin typeface="Lato"/>
                <a:ea typeface="Lato"/>
                <a:cs typeface="Lato"/>
                <a:sym typeface="Lato"/>
              </a:rPr>
              <a:t>Compared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to dockers, they provide limited capabilities 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Here, a file or directory </a:t>
            </a:r>
            <a:r>
              <a:rPr lang="en" sz="2000" dirty="0">
                <a:latin typeface="Lato"/>
                <a:ea typeface="Lato"/>
                <a:cs typeface="Lato"/>
                <a:sym typeface="Lato"/>
              </a:rPr>
              <a:t>in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the host machine is mounted </a:t>
            </a:r>
            <a:r>
              <a:rPr lang="en" sz="2000" dirty="0">
                <a:latin typeface="Lato"/>
                <a:ea typeface="Lato"/>
                <a:cs typeface="Lato"/>
                <a:sym typeface="Lato"/>
              </a:rPr>
              <a:t>on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 container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file or directory is then referenced by its absolute path on the host machine 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If the file or directory does not exist, it is created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They can be modified by non-docker processes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general syntax to create them is as follows: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08965" marR="0" lvl="0" indent="608965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docker run </a:t>
            </a:r>
            <a:r>
              <a:rPr lang="en" sz="2000" b="1" i="0" u="none" strike="noStrike" cap="none" dirty="0">
                <a:solidFill>
                  <a:srgbClr val="CE6EC0"/>
                </a:solidFill>
                <a:latin typeface="Lato"/>
                <a:ea typeface="Lato"/>
                <a:cs typeface="Lato"/>
                <a:sym typeface="Lato"/>
              </a:rPr>
              <a:t>-d -it --name</a:t>
            </a:r>
            <a:r>
              <a:rPr lang="en" sz="2000" b="1" i="0" u="none" strike="noStrike" cap="none" dirty="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devtest </a:t>
            </a:r>
            <a:r>
              <a:rPr lang="en" sz="2000" b="1" i="0" u="none" strike="noStrike" cap="none" dirty="0">
                <a:solidFill>
                  <a:srgbClr val="CE6EC0"/>
                </a:solidFill>
                <a:latin typeface="Lato"/>
                <a:ea typeface="Lato"/>
                <a:cs typeface="Lato"/>
                <a:sym typeface="Lato"/>
              </a:rPr>
              <a:t>-v</a:t>
            </a:r>
            <a:r>
              <a:rPr lang="en" sz="2000" b="0" i="0" u="none" strike="noStrike" cap="none" dirty="0">
                <a:solidFill>
                  <a:srgbClr val="CE6EC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000" b="1" i="0" u="none" strike="noStrike" cap="none" dirty="0">
                <a:solidFill>
                  <a:srgbClr val="CE6EC0"/>
                </a:solidFill>
                <a:latin typeface="Lato"/>
                <a:ea typeface="Lato"/>
                <a:cs typeface="Lato"/>
                <a:sym typeface="Lato"/>
              </a:rPr>
              <a:t>"$(</a:t>
            </a:r>
            <a:r>
              <a:rPr lang="en" sz="2000" b="1" i="0" u="none" strike="noStrike" cap="none" dirty="0">
                <a:solidFill>
                  <a:srgbClr val="00B050"/>
                </a:solidFill>
                <a:latin typeface="Lato"/>
                <a:ea typeface="Lato"/>
                <a:cs typeface="Lato"/>
                <a:sym typeface="Lato"/>
              </a:rPr>
              <a:t>pwd</a:t>
            </a:r>
            <a:r>
              <a:rPr lang="en" sz="2000" b="1" i="0" u="none" strike="noStrike" cap="none" dirty="0">
                <a:solidFill>
                  <a:srgbClr val="CE6EC0"/>
                </a:solidFill>
                <a:latin typeface="Lato"/>
                <a:ea typeface="Lato"/>
                <a:cs typeface="Lato"/>
                <a:sym typeface="Lato"/>
              </a:rPr>
              <a:t>)"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/target:/app nginx:latest</a:t>
            </a:r>
            <a:endParaRPr sz="20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667"/>
              </a:spcAft>
              <a:buClr>
                <a:srgbClr val="000000"/>
              </a:buClr>
              <a:buSzPts val="2267"/>
              <a:buFont typeface="Arial"/>
              <a:buNone/>
            </a:pPr>
            <a:endParaRPr sz="2267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2018;p74">
            <a:extLst>
              <a:ext uri="{FF2B5EF4-FFF2-40B4-BE49-F238E27FC236}">
                <a16:creationId xmlns:a16="http://schemas.microsoft.com/office/drawing/2014/main" id="{84AB555D-9200-D2E4-7725-9FAC44B538C5}"/>
              </a:ext>
            </a:extLst>
          </p:cNvPr>
          <p:cNvSpPr txBox="1"/>
          <p:nvPr/>
        </p:nvSpPr>
        <p:spPr>
          <a:xfrm>
            <a:off x="1715215" y="1280160"/>
            <a:ext cx="8789200" cy="5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BIND MOUNT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019083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023;p75">
            <a:extLst>
              <a:ext uri="{FF2B5EF4-FFF2-40B4-BE49-F238E27FC236}">
                <a16:creationId xmlns:a16="http://schemas.microsoft.com/office/drawing/2014/main" id="{692C13E4-756C-C759-8F2C-C5032625A31B}"/>
              </a:ext>
            </a:extLst>
          </p:cNvPr>
          <p:cNvSpPr txBox="1"/>
          <p:nvPr/>
        </p:nvSpPr>
        <p:spPr>
          <a:xfrm>
            <a:off x="1206500" y="1271883"/>
            <a:ext cx="9779200" cy="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DEMO 9: BIND MOUNTS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024;p75">
            <a:extLst>
              <a:ext uri="{FF2B5EF4-FFF2-40B4-BE49-F238E27FC236}">
                <a16:creationId xmlns:a16="http://schemas.microsoft.com/office/drawing/2014/main" id="{791B9E53-94C8-8686-AF60-CCDEF91B902F}"/>
              </a:ext>
            </a:extLst>
          </p:cNvPr>
          <p:cNvSpPr/>
          <p:nvPr/>
        </p:nvSpPr>
        <p:spPr>
          <a:xfrm>
            <a:off x="2704549" y="3831266"/>
            <a:ext cx="6782901" cy="698768"/>
          </a:xfrm>
          <a:prstGeom prst="roundRect">
            <a:avLst>
              <a:gd name="adj" fmla="val 16933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8615" marR="0" lvl="0" indent="-348615" algn="ctr" rtl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 Creati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ng a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bind mount and mounting it on a container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004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029;p76">
            <a:extLst>
              <a:ext uri="{FF2B5EF4-FFF2-40B4-BE49-F238E27FC236}">
                <a16:creationId xmlns:a16="http://schemas.microsoft.com/office/drawing/2014/main" id="{DF773DE9-7082-79B5-1E9C-CE6A4BB83410}"/>
              </a:ext>
            </a:extLst>
          </p:cNvPr>
          <p:cNvSpPr/>
          <p:nvPr/>
        </p:nvSpPr>
        <p:spPr>
          <a:xfrm>
            <a:off x="810591" y="2519662"/>
            <a:ext cx="10570818" cy="3143150"/>
          </a:xfrm>
          <a:prstGeom prst="roundRect">
            <a:avLst>
              <a:gd name="adj" fmla="val 4774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dirty="0">
                <a:latin typeface="Lato"/>
                <a:ea typeface="Lato"/>
                <a:cs typeface="Lato"/>
                <a:sym typeface="Lato"/>
              </a:rPr>
              <a:t>It is a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temporary mode of 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8"/>
                  </a:ext>
                </a:extLst>
              </a:rPr>
              <a:t>persisting data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Here, the data persists only in the host memory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files are deleted as soon as the container stops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9"/>
                  </a:ext>
                </a:extLst>
              </a:rPr>
              <a:t>They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cannot be shared among containers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 is available only </a:t>
            </a:r>
            <a:r>
              <a:rPr lang="en" sz="2000" dirty="0"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 Linux and not on Windows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08965" marR="0" lvl="0" indent="608965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docker run </a:t>
            </a:r>
            <a:r>
              <a:rPr lang="en" sz="2000" b="1" i="0" u="none" strike="noStrike" cap="none" dirty="0">
                <a:solidFill>
                  <a:srgbClr val="CE6EC0"/>
                </a:solidFill>
                <a:latin typeface="Lato"/>
                <a:ea typeface="Lato"/>
                <a:cs typeface="Lato"/>
                <a:sym typeface="Lato"/>
              </a:rPr>
              <a:t>-d -it --name 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tmptest </a:t>
            </a:r>
            <a:r>
              <a:rPr lang="en" sz="2000" b="1" i="0" u="none" strike="noStrike" cap="none" dirty="0">
                <a:solidFill>
                  <a:srgbClr val="CE6EC0"/>
                </a:solidFill>
                <a:latin typeface="Lato"/>
                <a:ea typeface="Lato"/>
                <a:cs typeface="Lato"/>
                <a:sym typeface="Lato"/>
              </a:rPr>
              <a:t>--tmpfs 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/app nginx:latest</a:t>
            </a:r>
            <a:endParaRPr sz="2267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2030;p76">
            <a:extLst>
              <a:ext uri="{FF2B5EF4-FFF2-40B4-BE49-F238E27FC236}">
                <a16:creationId xmlns:a16="http://schemas.microsoft.com/office/drawing/2014/main" id="{AE0F0045-5FA5-9490-51F5-3FA1C10DA7F8}"/>
              </a:ext>
            </a:extLst>
          </p:cNvPr>
          <p:cNvSpPr txBox="1"/>
          <p:nvPr/>
        </p:nvSpPr>
        <p:spPr>
          <a:xfrm>
            <a:off x="1704987" y="1252728"/>
            <a:ext cx="8789200" cy="5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TMPFS MOUNT</a:t>
            </a:r>
            <a:endParaRPr sz="2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4233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4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4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4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035;p77">
            <a:extLst>
              <a:ext uri="{FF2B5EF4-FFF2-40B4-BE49-F238E27FC236}">
                <a16:creationId xmlns:a16="http://schemas.microsoft.com/office/drawing/2014/main" id="{9CA22AE8-F9C7-F0AC-B244-851C5E8AE98D}"/>
              </a:ext>
            </a:extLst>
          </p:cNvPr>
          <p:cNvSpPr txBox="1"/>
          <p:nvPr/>
        </p:nvSpPr>
        <p:spPr>
          <a:xfrm>
            <a:off x="1206500" y="1244451"/>
            <a:ext cx="9779200" cy="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DEMO 10: TMPFS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036;p77">
            <a:extLst>
              <a:ext uri="{FF2B5EF4-FFF2-40B4-BE49-F238E27FC236}">
                <a16:creationId xmlns:a16="http://schemas.microsoft.com/office/drawing/2014/main" id="{B3E1BAC4-C3E0-8141-970E-F7C572D15A00}"/>
              </a:ext>
            </a:extLst>
          </p:cNvPr>
          <p:cNvSpPr/>
          <p:nvPr/>
        </p:nvSpPr>
        <p:spPr>
          <a:xfrm>
            <a:off x="4063999" y="3803834"/>
            <a:ext cx="4064002" cy="698768"/>
          </a:xfrm>
          <a:prstGeom prst="roundRect">
            <a:avLst>
              <a:gd name="adj" fmla="val 16933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9200" marR="0" lvl="0" indent="-349200" algn="ctr" rtl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Creation of tmpfs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73372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041;p78">
            <a:extLst>
              <a:ext uri="{FF2B5EF4-FFF2-40B4-BE49-F238E27FC236}">
                <a16:creationId xmlns:a16="http://schemas.microsoft.com/office/drawing/2014/main" id="{5F59C306-695E-2BC1-5A41-4345CC1FCDBF}"/>
              </a:ext>
            </a:extLst>
          </p:cNvPr>
          <p:cNvSpPr txBox="1"/>
          <p:nvPr/>
        </p:nvSpPr>
        <p:spPr>
          <a:xfrm>
            <a:off x="2100909" y="1301643"/>
            <a:ext cx="7990182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NETWORKING</a:t>
            </a:r>
            <a:endParaRPr sz="1467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2042;p78">
            <a:extLst>
              <a:ext uri="{FF2B5EF4-FFF2-40B4-BE49-F238E27FC236}">
                <a16:creationId xmlns:a16="http://schemas.microsoft.com/office/drawing/2014/main" id="{03D6E10C-46F2-9867-A32D-388E12C0681D}"/>
              </a:ext>
            </a:extLst>
          </p:cNvPr>
          <p:cNvGrpSpPr/>
          <p:nvPr/>
        </p:nvGrpSpPr>
        <p:grpSpPr>
          <a:xfrm>
            <a:off x="1320945" y="1944769"/>
            <a:ext cx="9623136" cy="4666545"/>
            <a:chOff x="839788" y="1043929"/>
            <a:chExt cx="10585450" cy="5133200"/>
          </a:xfrm>
        </p:grpSpPr>
        <p:pic>
          <p:nvPicPr>
            <p:cNvPr id="11" name="Google Shape;2043;p78">
              <a:extLst>
                <a:ext uri="{FF2B5EF4-FFF2-40B4-BE49-F238E27FC236}">
                  <a16:creationId xmlns:a16="http://schemas.microsoft.com/office/drawing/2014/main" id="{BA3E516D-8E2F-C227-3ECD-F2AA6DF910BF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39788" y="1043929"/>
              <a:ext cx="5133068" cy="51330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2044;p78">
              <a:extLst>
                <a:ext uri="{FF2B5EF4-FFF2-40B4-BE49-F238E27FC236}">
                  <a16:creationId xmlns:a16="http://schemas.microsoft.com/office/drawing/2014/main" id="{B9DACFB2-98DB-160D-840B-5BBD62A8FD8C}"/>
                </a:ext>
              </a:extLst>
            </p:cNvPr>
            <p:cNvSpPr/>
            <p:nvPr/>
          </p:nvSpPr>
          <p:spPr>
            <a:xfrm>
              <a:off x="839788" y="1043929"/>
              <a:ext cx="10585450" cy="5133200"/>
            </a:xfrm>
            <a:prstGeom prst="roundRect">
              <a:avLst>
                <a:gd name="adj" fmla="val 4774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2045;p78">
            <a:extLst>
              <a:ext uri="{FF2B5EF4-FFF2-40B4-BE49-F238E27FC236}">
                <a16:creationId xmlns:a16="http://schemas.microsoft.com/office/drawing/2014/main" id="{B587C9B8-294A-795A-297C-311ACD696632}"/>
              </a:ext>
            </a:extLst>
          </p:cNvPr>
          <p:cNvSpPr/>
          <p:nvPr/>
        </p:nvSpPr>
        <p:spPr>
          <a:xfrm>
            <a:off x="5606163" y="2259256"/>
            <a:ext cx="4300233" cy="2199535"/>
          </a:xfrm>
          <a:prstGeom prst="cloud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How do Docker containers communicate with each other and with the external world?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34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050;p79">
            <a:extLst>
              <a:ext uri="{FF2B5EF4-FFF2-40B4-BE49-F238E27FC236}">
                <a16:creationId xmlns:a16="http://schemas.microsoft.com/office/drawing/2014/main" id="{3CAF2530-01D1-47EA-AA7B-E35407B9B5DE}"/>
              </a:ext>
            </a:extLst>
          </p:cNvPr>
          <p:cNvSpPr/>
          <p:nvPr/>
        </p:nvSpPr>
        <p:spPr>
          <a:xfrm>
            <a:off x="1553369" y="2072431"/>
            <a:ext cx="9085262" cy="4000500"/>
          </a:xfrm>
          <a:prstGeom prst="roundRect">
            <a:avLst>
              <a:gd name="adj" fmla="val 4774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provides a networking medium for 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0"/>
                  </a:ext>
                </a:extLst>
              </a:rPr>
              <a:t>ntainers to communicate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among themselves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These communications can be of two types: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Internal - 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mong containers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External - 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utside the 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ocker host 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By default, three types of networks are created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when Docker is installed: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Bridge 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etwork (Docker0)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Host 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etwork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None 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etwork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2051;p79">
            <a:extLst>
              <a:ext uri="{FF2B5EF4-FFF2-40B4-BE49-F238E27FC236}">
                <a16:creationId xmlns:a16="http://schemas.microsoft.com/office/drawing/2014/main" id="{4D5CD4DC-9264-9A17-62A1-961A6CB78980}"/>
              </a:ext>
            </a:extLst>
          </p:cNvPr>
          <p:cNvSpPr txBox="1"/>
          <p:nvPr/>
        </p:nvSpPr>
        <p:spPr>
          <a:xfrm>
            <a:off x="1704575" y="1263053"/>
            <a:ext cx="8789200" cy="5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NETWORKING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58204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4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4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4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4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4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4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056;p80">
            <a:extLst>
              <a:ext uri="{FF2B5EF4-FFF2-40B4-BE49-F238E27FC236}">
                <a16:creationId xmlns:a16="http://schemas.microsoft.com/office/drawing/2014/main" id="{ABEA0202-E2B6-BC33-0B83-8629802208B9}"/>
              </a:ext>
            </a:extLst>
          </p:cNvPr>
          <p:cNvSpPr txBox="1"/>
          <p:nvPr/>
        </p:nvSpPr>
        <p:spPr>
          <a:xfrm>
            <a:off x="1706575" y="1281341"/>
            <a:ext cx="8789200" cy="5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NETWORKING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2057;p80">
            <a:extLst>
              <a:ext uri="{FF2B5EF4-FFF2-40B4-BE49-F238E27FC236}">
                <a16:creationId xmlns:a16="http://schemas.microsoft.com/office/drawing/2014/main" id="{2AF6E6AC-420C-7043-F22D-C47843D9C1E2}"/>
              </a:ext>
            </a:extLst>
          </p:cNvPr>
          <p:cNvSpPr/>
          <p:nvPr/>
        </p:nvSpPr>
        <p:spPr>
          <a:xfrm>
            <a:off x="1472406" y="2473375"/>
            <a:ext cx="9247187" cy="2971800"/>
          </a:xfrm>
          <a:prstGeom prst="roundRect">
            <a:avLst>
              <a:gd name="adj" fmla="val 6697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Apart from the default ones, there are two more network types: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Overlay 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etwork - These are used to run a container on a cluster of EC2 machines. For example, in Docker Swarm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Macvlan 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etwork – Here, a MAC address is assigned to a container; therefore, it acts as a physical device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Network bridges are used to define these networks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4806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062;p81">
            <a:extLst>
              <a:ext uri="{FF2B5EF4-FFF2-40B4-BE49-F238E27FC236}">
                <a16:creationId xmlns:a16="http://schemas.microsoft.com/office/drawing/2014/main" id="{62122B03-FB76-8962-8E97-C3B5B83EC3D1}"/>
              </a:ext>
            </a:extLst>
          </p:cNvPr>
          <p:cNvSpPr txBox="1"/>
          <p:nvPr/>
        </p:nvSpPr>
        <p:spPr>
          <a:xfrm>
            <a:off x="2137422" y="1133373"/>
            <a:ext cx="7990182" cy="4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CONTAINER</a:t>
            </a:r>
            <a:r>
              <a:rPr lang="en" sz="2400" dirty="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</a:t>
            </a:r>
            <a:r>
              <a:rPr lang="en" sz="2400" dirty="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CONTAINER COMMUNICATION:</a:t>
            </a:r>
            <a:r>
              <a:rPr lang="en" sz="2400" dirty="0"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en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BRIDGE NETWORK</a:t>
            </a:r>
            <a:endParaRPr sz="1467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2063;p81">
            <a:extLst>
              <a:ext uri="{FF2B5EF4-FFF2-40B4-BE49-F238E27FC236}">
                <a16:creationId xmlns:a16="http://schemas.microsoft.com/office/drawing/2014/main" id="{0B9F730A-86A3-4E2C-EF72-E4098614B591}"/>
              </a:ext>
            </a:extLst>
          </p:cNvPr>
          <p:cNvGrpSpPr/>
          <p:nvPr/>
        </p:nvGrpSpPr>
        <p:grpSpPr>
          <a:xfrm>
            <a:off x="1320945" y="2049716"/>
            <a:ext cx="9623136" cy="4544794"/>
            <a:chOff x="839788" y="1041399"/>
            <a:chExt cx="10585450" cy="5499200"/>
          </a:xfrm>
        </p:grpSpPr>
        <p:grpSp>
          <p:nvGrpSpPr>
            <p:cNvPr id="11" name="Google Shape;2064;p81">
              <a:extLst>
                <a:ext uri="{FF2B5EF4-FFF2-40B4-BE49-F238E27FC236}">
                  <a16:creationId xmlns:a16="http://schemas.microsoft.com/office/drawing/2014/main" id="{3E96AB53-C37A-4AD5-D6BB-9129CAA0DAF8}"/>
                </a:ext>
              </a:extLst>
            </p:cNvPr>
            <p:cNvGrpSpPr/>
            <p:nvPr/>
          </p:nvGrpSpPr>
          <p:grpSpPr>
            <a:xfrm>
              <a:off x="1274980" y="1191639"/>
              <a:ext cx="9642017" cy="5198675"/>
              <a:chOff x="1412032" y="1071536"/>
              <a:chExt cx="9642018" cy="5198675"/>
            </a:xfrm>
          </p:grpSpPr>
          <p:sp>
            <p:nvSpPr>
              <p:cNvPr id="13" name="Google Shape;2065;p81">
                <a:extLst>
                  <a:ext uri="{FF2B5EF4-FFF2-40B4-BE49-F238E27FC236}">
                    <a16:creationId xmlns:a16="http://schemas.microsoft.com/office/drawing/2014/main" id="{28B41D69-3809-5C9A-AFE2-1FB900517BB7}"/>
                  </a:ext>
                </a:extLst>
              </p:cNvPr>
              <p:cNvSpPr/>
              <p:nvPr/>
            </p:nvSpPr>
            <p:spPr>
              <a:xfrm>
                <a:off x="2741350" y="1225128"/>
                <a:ext cx="8312700" cy="4561200"/>
              </a:xfrm>
              <a:prstGeom prst="roundRect">
                <a:avLst>
                  <a:gd name="adj" fmla="val 4784"/>
                </a:avLst>
              </a:prstGeom>
              <a:solidFill>
                <a:schemeClr val="lt1"/>
              </a:solidFill>
              <a:ln w="25400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" name="Google Shape;2066;p81">
                <a:extLst>
                  <a:ext uri="{FF2B5EF4-FFF2-40B4-BE49-F238E27FC236}">
                    <a16:creationId xmlns:a16="http://schemas.microsoft.com/office/drawing/2014/main" id="{A69F0EDF-807F-C172-81D1-66F912456CEE}"/>
                  </a:ext>
                </a:extLst>
              </p:cNvPr>
              <p:cNvSpPr/>
              <p:nvPr/>
            </p:nvSpPr>
            <p:spPr>
              <a:xfrm>
                <a:off x="6152712" y="5637811"/>
                <a:ext cx="1490100" cy="6324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25400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eth0</a:t>
                </a: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" name="Google Shape;2067;p81">
                <a:extLst>
                  <a:ext uri="{FF2B5EF4-FFF2-40B4-BE49-F238E27FC236}">
                    <a16:creationId xmlns:a16="http://schemas.microsoft.com/office/drawing/2014/main" id="{B0A0313B-3042-DF25-6798-6D09AAFE9D14}"/>
                  </a:ext>
                </a:extLst>
              </p:cNvPr>
              <p:cNvSpPr/>
              <p:nvPr/>
            </p:nvSpPr>
            <p:spPr>
              <a:xfrm>
                <a:off x="1412032" y="1071536"/>
                <a:ext cx="1989600" cy="7974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25400" cap="flat" cmpd="sng">
                <a:solidFill>
                  <a:srgbClr val="33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 dirty="0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src:172.17.0.2</a:t>
                </a:r>
                <a:endParaRPr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 dirty="0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dest:172.17.0.3</a:t>
                </a:r>
                <a:endParaRPr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" name="Google Shape;2068;p81">
                <a:extLst>
                  <a:ext uri="{FF2B5EF4-FFF2-40B4-BE49-F238E27FC236}">
                    <a16:creationId xmlns:a16="http://schemas.microsoft.com/office/drawing/2014/main" id="{EFBF2CD4-A044-D30A-CBD5-B95837FAC17F}"/>
                  </a:ext>
                </a:extLst>
              </p:cNvPr>
              <p:cNvSpPr/>
              <p:nvPr/>
            </p:nvSpPr>
            <p:spPr>
              <a:xfrm>
                <a:off x="4072517" y="1857203"/>
                <a:ext cx="2487000" cy="1246800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" name="Google Shape;2069;p81">
                <a:extLst>
                  <a:ext uri="{FF2B5EF4-FFF2-40B4-BE49-F238E27FC236}">
                    <a16:creationId xmlns:a16="http://schemas.microsoft.com/office/drawing/2014/main" id="{2D22BDF4-9C4F-EB9F-5F3B-316581AD32A7}"/>
                  </a:ext>
                </a:extLst>
              </p:cNvPr>
              <p:cNvSpPr/>
              <p:nvPr/>
            </p:nvSpPr>
            <p:spPr>
              <a:xfrm>
                <a:off x="7242993" y="1857203"/>
                <a:ext cx="2479800" cy="1246800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" name="Google Shape;2070;p81">
                <a:extLst>
                  <a:ext uri="{FF2B5EF4-FFF2-40B4-BE49-F238E27FC236}">
                    <a16:creationId xmlns:a16="http://schemas.microsoft.com/office/drawing/2014/main" id="{45D04377-E861-9DF3-55DD-5EF0AFA243B5}"/>
                  </a:ext>
                </a:extLst>
              </p:cNvPr>
              <p:cNvSpPr/>
              <p:nvPr/>
            </p:nvSpPr>
            <p:spPr>
              <a:xfrm>
                <a:off x="4072518" y="4403270"/>
                <a:ext cx="5638800" cy="7215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25400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" name="Google Shape;2071;p81">
                <a:extLst>
                  <a:ext uri="{FF2B5EF4-FFF2-40B4-BE49-F238E27FC236}">
                    <a16:creationId xmlns:a16="http://schemas.microsoft.com/office/drawing/2014/main" id="{AF7AE706-1D69-3CEC-CAC3-B2A690728284}"/>
                  </a:ext>
                </a:extLst>
              </p:cNvPr>
              <p:cNvSpPr/>
              <p:nvPr/>
            </p:nvSpPr>
            <p:spPr>
              <a:xfrm>
                <a:off x="4854541" y="4035546"/>
                <a:ext cx="983700" cy="4572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25400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veth1</a:t>
                </a: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" name="Google Shape;2072;p81">
                <a:extLst>
                  <a:ext uri="{FF2B5EF4-FFF2-40B4-BE49-F238E27FC236}">
                    <a16:creationId xmlns:a16="http://schemas.microsoft.com/office/drawing/2014/main" id="{AA5C6BBA-BDBE-221F-3A93-A55BDD281A95}"/>
                  </a:ext>
                </a:extLst>
              </p:cNvPr>
              <p:cNvSpPr/>
              <p:nvPr/>
            </p:nvSpPr>
            <p:spPr>
              <a:xfrm>
                <a:off x="7904920" y="4029727"/>
                <a:ext cx="983700" cy="4572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25400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veth2</a:t>
                </a: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" name="Google Shape;2073;p81">
                <a:extLst>
                  <a:ext uri="{FF2B5EF4-FFF2-40B4-BE49-F238E27FC236}">
                    <a16:creationId xmlns:a16="http://schemas.microsoft.com/office/drawing/2014/main" id="{ED10A01F-2E01-EABB-1DC3-16ED8C66F962}"/>
                  </a:ext>
                </a:extLst>
              </p:cNvPr>
              <p:cNvSpPr/>
              <p:nvPr/>
            </p:nvSpPr>
            <p:spPr>
              <a:xfrm>
                <a:off x="4645329" y="2624703"/>
                <a:ext cx="1462800" cy="6324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25400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 dirty="0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eth0</a:t>
                </a:r>
                <a:endParaRPr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 dirty="0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172.17.0.2</a:t>
                </a:r>
                <a:endParaRPr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" name="Google Shape;2074;p81">
                <a:extLst>
                  <a:ext uri="{FF2B5EF4-FFF2-40B4-BE49-F238E27FC236}">
                    <a16:creationId xmlns:a16="http://schemas.microsoft.com/office/drawing/2014/main" id="{502B93FC-C697-6BFC-7040-E36CBC317DC0}"/>
                  </a:ext>
                </a:extLst>
              </p:cNvPr>
              <p:cNvSpPr txBox="1"/>
              <p:nvPr/>
            </p:nvSpPr>
            <p:spPr>
              <a:xfrm>
                <a:off x="4171902" y="1530647"/>
                <a:ext cx="1870500" cy="3796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" name="Google Shape;2075;p81">
                <a:extLst>
                  <a:ext uri="{FF2B5EF4-FFF2-40B4-BE49-F238E27FC236}">
                    <a16:creationId xmlns:a16="http://schemas.microsoft.com/office/drawing/2014/main" id="{3BB51069-FFC5-BA17-58A2-814865E4E560}"/>
                  </a:ext>
                </a:extLst>
              </p:cNvPr>
              <p:cNvSpPr txBox="1"/>
              <p:nvPr/>
            </p:nvSpPr>
            <p:spPr>
              <a:xfrm>
                <a:off x="4380804" y="1383209"/>
                <a:ext cx="1870500" cy="3796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1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 Container</a:t>
                </a:r>
                <a:endParaRPr sz="18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" name="Google Shape;2076;p81">
                <a:extLst>
                  <a:ext uri="{FF2B5EF4-FFF2-40B4-BE49-F238E27FC236}">
                    <a16:creationId xmlns:a16="http://schemas.microsoft.com/office/drawing/2014/main" id="{D308AB39-4632-E6BD-649F-8C3483428C78}"/>
                  </a:ext>
                </a:extLst>
              </p:cNvPr>
              <p:cNvSpPr txBox="1"/>
              <p:nvPr/>
            </p:nvSpPr>
            <p:spPr>
              <a:xfrm>
                <a:off x="7547770" y="1397723"/>
                <a:ext cx="1870500" cy="3796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1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Container</a:t>
                </a:r>
                <a:endParaRPr sz="18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" name="Google Shape;2077;p81">
                <a:extLst>
                  <a:ext uri="{FF2B5EF4-FFF2-40B4-BE49-F238E27FC236}">
                    <a16:creationId xmlns:a16="http://schemas.microsoft.com/office/drawing/2014/main" id="{8B1D0E71-AC92-9647-A11F-48D5DF43E8EF}"/>
                  </a:ext>
                </a:extLst>
              </p:cNvPr>
              <p:cNvSpPr/>
              <p:nvPr/>
            </p:nvSpPr>
            <p:spPr>
              <a:xfrm>
                <a:off x="7751509" y="2583257"/>
                <a:ext cx="1462800" cy="6324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25400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eth0</a:t>
                </a: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172.17.0.3</a:t>
                </a: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" name="Google Shape;2078;p81">
                <a:extLst>
                  <a:ext uri="{FF2B5EF4-FFF2-40B4-BE49-F238E27FC236}">
                    <a16:creationId xmlns:a16="http://schemas.microsoft.com/office/drawing/2014/main" id="{8B02C9F8-A434-8F90-0214-0A9EB77A5D42}"/>
                  </a:ext>
                </a:extLst>
              </p:cNvPr>
              <p:cNvCxnSpPr/>
              <p:nvPr/>
            </p:nvCxnSpPr>
            <p:spPr>
              <a:xfrm>
                <a:off x="5376770" y="3257048"/>
                <a:ext cx="0" cy="758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bg2">
                    <a:lumMod val="50000"/>
                  </a:schemeClr>
                </a:solidFill>
                <a:prstDash val="solid"/>
                <a:round/>
                <a:headEnd type="none" w="sm" len="sm"/>
                <a:tailEnd type="triangle" w="lg" len="lg"/>
              </a:ln>
            </p:spPr>
          </p:cxnSp>
          <p:cxnSp>
            <p:nvCxnSpPr>
              <p:cNvPr id="27" name="Google Shape;2079;p81">
                <a:extLst>
                  <a:ext uri="{FF2B5EF4-FFF2-40B4-BE49-F238E27FC236}">
                    <a16:creationId xmlns:a16="http://schemas.microsoft.com/office/drawing/2014/main" id="{A3C94CA3-5401-2788-CEA7-D46102DCD855}"/>
                  </a:ext>
                </a:extLst>
              </p:cNvPr>
              <p:cNvCxnSpPr/>
              <p:nvPr/>
            </p:nvCxnSpPr>
            <p:spPr>
              <a:xfrm>
                <a:off x="8396756" y="3222127"/>
                <a:ext cx="0" cy="8076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bg2">
                    <a:lumMod val="50000"/>
                  </a:schemeClr>
                </a:solidFill>
                <a:prstDash val="solid"/>
                <a:round/>
                <a:headEnd type="none" w="sm" len="sm"/>
                <a:tailEnd type="triangle" w="lg" len="lg"/>
              </a:ln>
            </p:spPr>
          </p:cxnSp>
          <p:sp>
            <p:nvSpPr>
              <p:cNvPr id="28" name="Google Shape;2080;p81">
                <a:extLst>
                  <a:ext uri="{FF2B5EF4-FFF2-40B4-BE49-F238E27FC236}">
                    <a16:creationId xmlns:a16="http://schemas.microsoft.com/office/drawing/2014/main" id="{8F332B8D-A20F-00F2-29B2-51A64E4A7E85}"/>
                  </a:ext>
                </a:extLst>
              </p:cNvPr>
              <p:cNvSpPr/>
              <p:nvPr/>
            </p:nvSpPr>
            <p:spPr>
              <a:xfrm>
                <a:off x="4136812" y="2857493"/>
                <a:ext cx="360000" cy="360000"/>
              </a:xfrm>
              <a:prstGeom prst="ellipse">
                <a:avLst/>
              </a:prstGeom>
              <a:solidFill>
                <a:schemeClr val="lt1"/>
              </a:solidFill>
              <a:ln w="28575" cap="flat" cmpd="sng">
                <a:solidFill>
                  <a:srgbClr val="CE6EC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0" i="0" u="none" strike="noStrike" cap="none" dirty="0">
                    <a:solidFill>
                      <a:srgbClr val="CE6EC0"/>
                    </a:solidFill>
                    <a:latin typeface="Lato"/>
                    <a:ea typeface="Lato"/>
                    <a:cs typeface="Lato"/>
                    <a:sym typeface="Lato"/>
                  </a:rPr>
                  <a:t>1</a:t>
                </a:r>
                <a:endParaRPr sz="1800" b="0" i="0" u="none" strike="noStrike" cap="none" dirty="0">
                  <a:solidFill>
                    <a:srgbClr val="CE6EC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" name="Google Shape;2081;p81">
                <a:extLst>
                  <a:ext uri="{FF2B5EF4-FFF2-40B4-BE49-F238E27FC236}">
                    <a16:creationId xmlns:a16="http://schemas.microsoft.com/office/drawing/2014/main" id="{2AB5F25A-F656-1C2D-272B-2467C2D380CC}"/>
                  </a:ext>
                </a:extLst>
              </p:cNvPr>
              <p:cNvSpPr/>
              <p:nvPr/>
            </p:nvSpPr>
            <p:spPr>
              <a:xfrm>
                <a:off x="7197465" y="2865912"/>
                <a:ext cx="360000" cy="360000"/>
              </a:xfrm>
              <a:prstGeom prst="ellipse">
                <a:avLst/>
              </a:prstGeom>
              <a:solidFill>
                <a:schemeClr val="lt1"/>
              </a:solidFill>
              <a:ln w="28575" cap="flat" cmpd="sng">
                <a:solidFill>
                  <a:srgbClr val="CE6EC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0" i="0" u="none" strike="noStrike" cap="none">
                    <a:solidFill>
                      <a:srgbClr val="CE6EC0"/>
                    </a:solidFill>
                    <a:latin typeface="Lato"/>
                    <a:ea typeface="Lato"/>
                    <a:cs typeface="Lato"/>
                    <a:sym typeface="Lato"/>
                  </a:rPr>
                  <a:t>4</a:t>
                </a:r>
                <a:endParaRPr sz="1800" b="0" i="0" u="none" strike="noStrike" cap="none">
                  <a:solidFill>
                    <a:srgbClr val="CE6EC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" name="Google Shape;2082;p81">
                <a:extLst>
                  <a:ext uri="{FF2B5EF4-FFF2-40B4-BE49-F238E27FC236}">
                    <a16:creationId xmlns:a16="http://schemas.microsoft.com/office/drawing/2014/main" id="{2123459E-3B8E-B1B3-F033-4A2303ED2855}"/>
                  </a:ext>
                </a:extLst>
              </p:cNvPr>
              <p:cNvSpPr/>
              <p:nvPr/>
            </p:nvSpPr>
            <p:spPr>
              <a:xfrm>
                <a:off x="4136812" y="3971448"/>
                <a:ext cx="360000" cy="360000"/>
              </a:xfrm>
              <a:prstGeom prst="ellipse">
                <a:avLst/>
              </a:prstGeom>
              <a:solidFill>
                <a:schemeClr val="lt1"/>
              </a:solidFill>
              <a:ln w="28575" cap="flat" cmpd="sng">
                <a:solidFill>
                  <a:srgbClr val="CE6EC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0" i="0" u="none" strike="noStrike" cap="none">
                    <a:solidFill>
                      <a:srgbClr val="CE6EC0"/>
                    </a:solidFill>
                    <a:latin typeface="Lato"/>
                    <a:ea typeface="Lato"/>
                    <a:cs typeface="Lato"/>
                    <a:sym typeface="Lato"/>
                  </a:rPr>
                  <a:t>2</a:t>
                </a:r>
                <a:endParaRPr sz="1800" b="0" i="0" u="none" strike="noStrike" cap="none">
                  <a:solidFill>
                    <a:srgbClr val="CE6EC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" name="Google Shape;2083;p81">
                <a:extLst>
                  <a:ext uri="{FF2B5EF4-FFF2-40B4-BE49-F238E27FC236}">
                    <a16:creationId xmlns:a16="http://schemas.microsoft.com/office/drawing/2014/main" id="{77EED60D-74C1-6DE4-0DFB-DFCD2FBED002}"/>
                  </a:ext>
                </a:extLst>
              </p:cNvPr>
              <p:cNvSpPr/>
              <p:nvPr/>
            </p:nvSpPr>
            <p:spPr>
              <a:xfrm>
                <a:off x="7197465" y="3971448"/>
                <a:ext cx="360000" cy="360000"/>
              </a:xfrm>
              <a:prstGeom prst="ellipse">
                <a:avLst/>
              </a:prstGeom>
              <a:solidFill>
                <a:schemeClr val="lt1"/>
              </a:solidFill>
              <a:ln w="28575" cap="flat" cmpd="sng">
                <a:solidFill>
                  <a:srgbClr val="CE6EC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0" i="0" u="none" strike="noStrike" cap="none">
                    <a:solidFill>
                      <a:srgbClr val="CE6EC0"/>
                    </a:solidFill>
                    <a:latin typeface="Lato"/>
                    <a:ea typeface="Lato"/>
                    <a:cs typeface="Lato"/>
                    <a:sym typeface="Lato"/>
                  </a:rPr>
                  <a:t>3</a:t>
                </a:r>
                <a:endParaRPr sz="1800" b="0" i="0" u="none" strike="noStrike" cap="none">
                  <a:solidFill>
                    <a:srgbClr val="CE6EC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" name="Google Shape;2084;p81">
                <a:extLst>
                  <a:ext uri="{FF2B5EF4-FFF2-40B4-BE49-F238E27FC236}">
                    <a16:creationId xmlns:a16="http://schemas.microsoft.com/office/drawing/2014/main" id="{E10AC0C8-505F-3135-1E32-AB974BDA29AC}"/>
                  </a:ext>
                </a:extLst>
              </p:cNvPr>
              <p:cNvSpPr txBox="1"/>
              <p:nvPr/>
            </p:nvSpPr>
            <p:spPr>
              <a:xfrm>
                <a:off x="5758217" y="4440940"/>
                <a:ext cx="2267401" cy="7075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docker0 bridge (172.17.0.1)</a:t>
                </a: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3" name="Google Shape;2085;p81">
                <a:extLst>
                  <a:ext uri="{FF2B5EF4-FFF2-40B4-BE49-F238E27FC236}">
                    <a16:creationId xmlns:a16="http://schemas.microsoft.com/office/drawing/2014/main" id="{29A2A1B0-56A3-544F-A97E-DCF376B81EDA}"/>
                  </a:ext>
                </a:extLst>
              </p:cNvPr>
              <p:cNvCxnSpPr/>
              <p:nvPr/>
            </p:nvCxnSpPr>
            <p:spPr>
              <a:xfrm>
                <a:off x="6016581" y="4201957"/>
                <a:ext cx="1045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bg2">
                    <a:lumMod val="50000"/>
                  </a:schemeClr>
                </a:solidFill>
                <a:prstDash val="solid"/>
                <a:round/>
                <a:headEnd type="none" w="sm" len="sm"/>
                <a:tailEnd type="triangle" w="lg" len="lg"/>
              </a:ln>
            </p:spPr>
          </p:cxnSp>
          <p:cxnSp>
            <p:nvCxnSpPr>
              <p:cNvPr id="34" name="Google Shape;2086;p81">
                <a:extLst>
                  <a:ext uri="{FF2B5EF4-FFF2-40B4-BE49-F238E27FC236}">
                    <a16:creationId xmlns:a16="http://schemas.microsoft.com/office/drawing/2014/main" id="{0FA212A5-0DA4-F7D5-428A-49416E2F7C95}"/>
                  </a:ext>
                </a:extLst>
              </p:cNvPr>
              <p:cNvCxnSpPr>
                <a:stCxn id="18" idx="2"/>
                <a:endCxn id="14" idx="0"/>
              </p:cNvCxnSpPr>
              <p:nvPr/>
            </p:nvCxnSpPr>
            <p:spPr>
              <a:xfrm>
                <a:off x="6891918" y="5124770"/>
                <a:ext cx="5700" cy="513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bg2">
                    <a:lumMod val="50000"/>
                  </a:schemeClr>
                </a:solidFill>
                <a:prstDash val="solid"/>
                <a:round/>
                <a:headEnd type="triangle" w="lg" len="lg"/>
                <a:tailEnd type="triangle" w="lg" len="lg"/>
              </a:ln>
            </p:spPr>
          </p:cxnSp>
        </p:grpSp>
        <p:sp>
          <p:nvSpPr>
            <p:cNvPr id="12" name="Google Shape;2087;p81">
              <a:extLst>
                <a:ext uri="{FF2B5EF4-FFF2-40B4-BE49-F238E27FC236}">
                  <a16:creationId xmlns:a16="http://schemas.microsoft.com/office/drawing/2014/main" id="{A9CEC82D-92A3-FED2-40CB-24F8B76577E6}"/>
                </a:ext>
              </a:extLst>
            </p:cNvPr>
            <p:cNvSpPr/>
            <p:nvPr/>
          </p:nvSpPr>
          <p:spPr>
            <a:xfrm>
              <a:off x="839788" y="1041399"/>
              <a:ext cx="10585450" cy="5499200"/>
            </a:xfrm>
            <a:prstGeom prst="roundRect">
              <a:avLst>
                <a:gd name="adj" fmla="val 4774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07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092;p82">
            <a:extLst>
              <a:ext uri="{FF2B5EF4-FFF2-40B4-BE49-F238E27FC236}">
                <a16:creationId xmlns:a16="http://schemas.microsoft.com/office/drawing/2014/main" id="{74DB3A93-860C-D8E2-E9F5-E65B0BD1F016}"/>
              </a:ext>
            </a:extLst>
          </p:cNvPr>
          <p:cNvSpPr txBox="1"/>
          <p:nvPr/>
        </p:nvSpPr>
        <p:spPr>
          <a:xfrm>
            <a:off x="2177959" y="1325065"/>
            <a:ext cx="7990182" cy="4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CONTAINER COMMUNICATION WITH THE OUTSIDE WORLD</a:t>
            </a:r>
            <a:r>
              <a:rPr lang="en" sz="2400" dirty="0"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BRIDGE NETWORK</a:t>
            </a:r>
            <a:endParaRPr sz="1467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2093;p82">
            <a:extLst>
              <a:ext uri="{FF2B5EF4-FFF2-40B4-BE49-F238E27FC236}">
                <a16:creationId xmlns:a16="http://schemas.microsoft.com/office/drawing/2014/main" id="{0057AE0F-D5DA-FE8D-A7E0-390986150A61}"/>
              </a:ext>
            </a:extLst>
          </p:cNvPr>
          <p:cNvGrpSpPr/>
          <p:nvPr/>
        </p:nvGrpSpPr>
        <p:grpSpPr>
          <a:xfrm>
            <a:off x="3657103" y="2611563"/>
            <a:ext cx="4950818" cy="3819028"/>
            <a:chOff x="5850610" y="1757589"/>
            <a:chExt cx="5445900" cy="4621024"/>
          </a:xfrm>
        </p:grpSpPr>
        <p:sp>
          <p:nvSpPr>
            <p:cNvPr id="11" name="Google Shape;2094;p82">
              <a:extLst>
                <a:ext uri="{FF2B5EF4-FFF2-40B4-BE49-F238E27FC236}">
                  <a16:creationId xmlns:a16="http://schemas.microsoft.com/office/drawing/2014/main" id="{CA118254-A731-7078-0B8F-5CDC0952708C}"/>
                </a:ext>
              </a:extLst>
            </p:cNvPr>
            <p:cNvSpPr/>
            <p:nvPr/>
          </p:nvSpPr>
          <p:spPr>
            <a:xfrm>
              <a:off x="5850610" y="1757589"/>
              <a:ext cx="5445900" cy="4249200"/>
            </a:xfrm>
            <a:prstGeom prst="roundRect">
              <a:avLst>
                <a:gd name="adj" fmla="val 4057"/>
              </a:avLst>
            </a:prstGeom>
            <a:solidFill>
              <a:schemeClr val="lt1"/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" name="Google Shape;2095;p82">
              <a:extLst>
                <a:ext uri="{FF2B5EF4-FFF2-40B4-BE49-F238E27FC236}">
                  <a16:creationId xmlns:a16="http://schemas.microsoft.com/office/drawing/2014/main" id="{80F05A2C-648D-1D22-63C7-04CF874561EB}"/>
                </a:ext>
              </a:extLst>
            </p:cNvPr>
            <p:cNvSpPr/>
            <p:nvPr/>
          </p:nvSpPr>
          <p:spPr>
            <a:xfrm>
              <a:off x="7064063" y="2301683"/>
              <a:ext cx="2298900" cy="9909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bg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Google Shape;2096;p82">
              <a:extLst>
                <a:ext uri="{FF2B5EF4-FFF2-40B4-BE49-F238E27FC236}">
                  <a16:creationId xmlns:a16="http://schemas.microsoft.com/office/drawing/2014/main" id="{8A509DF3-9BA2-A8CC-58BE-0C5B31828E66}"/>
                </a:ext>
              </a:extLst>
            </p:cNvPr>
            <p:cNvSpPr/>
            <p:nvPr/>
          </p:nvSpPr>
          <p:spPr>
            <a:xfrm>
              <a:off x="6660054" y="4486576"/>
              <a:ext cx="3322500" cy="671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" name="Google Shape;2097;p82">
              <a:extLst>
                <a:ext uri="{FF2B5EF4-FFF2-40B4-BE49-F238E27FC236}">
                  <a16:creationId xmlns:a16="http://schemas.microsoft.com/office/drawing/2014/main" id="{20447BD6-ABF1-9286-19D2-9393FB27CABF}"/>
                </a:ext>
              </a:extLst>
            </p:cNvPr>
            <p:cNvSpPr/>
            <p:nvPr/>
          </p:nvSpPr>
          <p:spPr>
            <a:xfrm>
              <a:off x="7530199" y="4176235"/>
              <a:ext cx="781800" cy="363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veth1</a:t>
              </a: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" name="Google Shape;2098;p82">
              <a:extLst>
                <a:ext uri="{FF2B5EF4-FFF2-40B4-BE49-F238E27FC236}">
                  <a16:creationId xmlns:a16="http://schemas.microsoft.com/office/drawing/2014/main" id="{41A56CCE-A258-625F-CB22-44DC956CFF60}"/>
                </a:ext>
              </a:extLst>
            </p:cNvPr>
            <p:cNvSpPr/>
            <p:nvPr/>
          </p:nvSpPr>
          <p:spPr>
            <a:xfrm>
              <a:off x="7320652" y="3039278"/>
              <a:ext cx="1297500" cy="713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4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eth0</a:t>
              </a:r>
              <a:endParaRPr sz="1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4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172.17.0.2</a:t>
              </a:r>
              <a:endParaRPr sz="1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" name="Google Shape;2099;p82">
              <a:extLst>
                <a:ext uri="{FF2B5EF4-FFF2-40B4-BE49-F238E27FC236}">
                  <a16:creationId xmlns:a16="http://schemas.microsoft.com/office/drawing/2014/main" id="{F1AE6821-8F83-2BE8-1A16-193250717FC9}"/>
                </a:ext>
              </a:extLst>
            </p:cNvPr>
            <p:cNvSpPr txBox="1"/>
            <p:nvPr/>
          </p:nvSpPr>
          <p:spPr>
            <a:xfrm>
              <a:off x="7241129" y="1866116"/>
              <a:ext cx="2312400" cy="3723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4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Web Server Container</a:t>
              </a:r>
              <a:endParaRPr sz="1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" name="Google Shape;2100;p82">
              <a:extLst>
                <a:ext uri="{FF2B5EF4-FFF2-40B4-BE49-F238E27FC236}">
                  <a16:creationId xmlns:a16="http://schemas.microsoft.com/office/drawing/2014/main" id="{6E5E1A8A-9920-3040-BC1F-917CDBD33F68}"/>
                </a:ext>
              </a:extLst>
            </p:cNvPr>
            <p:cNvSpPr/>
            <p:nvPr/>
          </p:nvSpPr>
          <p:spPr>
            <a:xfrm>
              <a:off x="7082771" y="4239336"/>
              <a:ext cx="360000" cy="3600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2</a:t>
              </a:r>
              <a:endParaRPr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" name="Google Shape;2101;p82">
              <a:extLst>
                <a:ext uri="{FF2B5EF4-FFF2-40B4-BE49-F238E27FC236}">
                  <a16:creationId xmlns:a16="http://schemas.microsoft.com/office/drawing/2014/main" id="{18B0E62B-709E-FE52-3D73-58C507C23267}"/>
                </a:ext>
              </a:extLst>
            </p:cNvPr>
            <p:cNvSpPr txBox="1"/>
            <p:nvPr/>
          </p:nvSpPr>
          <p:spPr>
            <a:xfrm>
              <a:off x="7149339" y="4661588"/>
              <a:ext cx="2670600" cy="3723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docker0 bridge( 172.17.0.1) </a:t>
              </a: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9" name="Google Shape;2102;p82">
              <a:extLst>
                <a:ext uri="{FF2B5EF4-FFF2-40B4-BE49-F238E27FC236}">
                  <a16:creationId xmlns:a16="http://schemas.microsoft.com/office/drawing/2014/main" id="{18BA1FAE-E759-CEDC-545B-2E7DDE61EC3D}"/>
                </a:ext>
              </a:extLst>
            </p:cNvPr>
            <p:cNvCxnSpPr/>
            <p:nvPr/>
          </p:nvCxnSpPr>
          <p:spPr>
            <a:xfrm rot="10800000">
              <a:off x="7812948" y="3617842"/>
              <a:ext cx="0" cy="5481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50000"/>
                </a:schemeClr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sp>
          <p:nvSpPr>
            <p:cNvPr id="20" name="Google Shape;2103;p82">
              <a:extLst>
                <a:ext uri="{FF2B5EF4-FFF2-40B4-BE49-F238E27FC236}">
                  <a16:creationId xmlns:a16="http://schemas.microsoft.com/office/drawing/2014/main" id="{A28CBF4F-7711-5D62-9474-B92908F48AC6}"/>
                </a:ext>
              </a:extLst>
            </p:cNvPr>
            <p:cNvSpPr/>
            <p:nvPr/>
          </p:nvSpPr>
          <p:spPr>
            <a:xfrm>
              <a:off x="8618221" y="3163435"/>
              <a:ext cx="1041900" cy="533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Port 8080</a:t>
              </a: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1" name="Google Shape;2104;p82">
              <a:extLst>
                <a:ext uri="{FF2B5EF4-FFF2-40B4-BE49-F238E27FC236}">
                  <a16:creationId xmlns:a16="http://schemas.microsoft.com/office/drawing/2014/main" id="{655A3EFD-A455-D299-B661-6BC990659CAA}"/>
                </a:ext>
              </a:extLst>
            </p:cNvPr>
            <p:cNvSpPr/>
            <p:nvPr/>
          </p:nvSpPr>
          <p:spPr>
            <a:xfrm>
              <a:off x="8389236" y="6068608"/>
              <a:ext cx="1162499" cy="279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rgbClr val="33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Port 80</a:t>
              </a: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2" name="Google Shape;2105;p82">
              <a:extLst>
                <a:ext uri="{FF2B5EF4-FFF2-40B4-BE49-F238E27FC236}">
                  <a16:creationId xmlns:a16="http://schemas.microsoft.com/office/drawing/2014/main" id="{8F8C7ECE-66AF-E9C9-3373-BD07FAD79C00}"/>
                </a:ext>
              </a:extLst>
            </p:cNvPr>
            <p:cNvSpPr/>
            <p:nvPr/>
          </p:nvSpPr>
          <p:spPr>
            <a:xfrm>
              <a:off x="8744035" y="5549975"/>
              <a:ext cx="295200" cy="3060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1</a:t>
              </a:r>
              <a:endParaRPr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" name="Google Shape;2106;p82">
              <a:extLst>
                <a:ext uri="{FF2B5EF4-FFF2-40B4-BE49-F238E27FC236}">
                  <a16:creationId xmlns:a16="http://schemas.microsoft.com/office/drawing/2014/main" id="{B5B83EC4-F7E5-4400-6DEF-3E1CCB50FAA4}"/>
                </a:ext>
              </a:extLst>
            </p:cNvPr>
            <p:cNvSpPr/>
            <p:nvPr/>
          </p:nvSpPr>
          <p:spPr>
            <a:xfrm>
              <a:off x="6918565" y="3174586"/>
              <a:ext cx="360000" cy="3600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3</a:t>
              </a:r>
              <a:endParaRPr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4" name="Google Shape;2107;p82">
              <a:extLst>
                <a:ext uri="{FF2B5EF4-FFF2-40B4-BE49-F238E27FC236}">
                  <a16:creationId xmlns:a16="http://schemas.microsoft.com/office/drawing/2014/main" id="{EE4750E3-C4B5-137B-B73B-863C7940023F}"/>
                </a:ext>
              </a:extLst>
            </p:cNvPr>
            <p:cNvCxnSpPr>
              <a:stCxn id="27" idx="0"/>
            </p:cNvCxnSpPr>
            <p:nvPr/>
          </p:nvCxnSpPr>
          <p:spPr>
            <a:xfrm rot="10800000">
              <a:off x="7822379" y="5158213"/>
              <a:ext cx="0" cy="7179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50000"/>
                </a:schemeClr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sp>
          <p:nvSpPr>
            <p:cNvPr id="25" name="Google Shape;2109;p82">
              <a:extLst>
                <a:ext uri="{FF2B5EF4-FFF2-40B4-BE49-F238E27FC236}">
                  <a16:creationId xmlns:a16="http://schemas.microsoft.com/office/drawing/2014/main" id="{FE90BC11-C4EC-4F45-0E09-80155E7E01D3}"/>
                </a:ext>
              </a:extLst>
            </p:cNvPr>
            <p:cNvSpPr/>
            <p:nvPr/>
          </p:nvSpPr>
          <p:spPr>
            <a:xfrm>
              <a:off x="9677030" y="5284698"/>
              <a:ext cx="1299000" cy="362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NAT Rules</a:t>
              </a:r>
              <a:endPara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6" name="Google Shape;2110;p82">
              <a:extLst>
                <a:ext uri="{FF2B5EF4-FFF2-40B4-BE49-F238E27FC236}">
                  <a16:creationId xmlns:a16="http://schemas.microsoft.com/office/drawing/2014/main" id="{BED32C80-9D96-F467-6F77-0B87C6489A45}"/>
                </a:ext>
              </a:extLst>
            </p:cNvPr>
            <p:cNvCxnSpPr/>
            <p:nvPr/>
          </p:nvCxnSpPr>
          <p:spPr>
            <a:xfrm rot="10800000">
              <a:off x="7822430" y="5452921"/>
              <a:ext cx="1854600" cy="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50000"/>
                </a:schemeClr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sp>
          <p:nvSpPr>
            <p:cNvPr id="27" name="Google Shape;2108;p82">
              <a:extLst>
                <a:ext uri="{FF2B5EF4-FFF2-40B4-BE49-F238E27FC236}">
                  <a16:creationId xmlns:a16="http://schemas.microsoft.com/office/drawing/2014/main" id="{D00C8108-85CD-5EF7-2ADD-92465100AAC2}"/>
                </a:ext>
              </a:extLst>
            </p:cNvPr>
            <p:cNvSpPr/>
            <p:nvPr/>
          </p:nvSpPr>
          <p:spPr>
            <a:xfrm>
              <a:off x="7241129" y="5876113"/>
              <a:ext cx="1162500" cy="502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eth0</a:t>
              </a: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8" name="Google Shape;2111;p82">
            <a:extLst>
              <a:ext uri="{FF2B5EF4-FFF2-40B4-BE49-F238E27FC236}">
                <a16:creationId xmlns:a16="http://schemas.microsoft.com/office/drawing/2014/main" id="{0DC1F437-DF99-50E8-75BE-12F0DB2651AF}"/>
              </a:ext>
            </a:extLst>
          </p:cNvPr>
          <p:cNvSpPr/>
          <p:nvPr/>
        </p:nvSpPr>
        <p:spPr>
          <a:xfrm>
            <a:off x="1320944" y="2303061"/>
            <a:ext cx="9623137" cy="4436033"/>
          </a:xfrm>
          <a:prstGeom prst="roundRect">
            <a:avLst>
              <a:gd name="adj" fmla="val 4774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9"/>
              <a:buFont typeface="Arial"/>
              <a:buNone/>
            </a:pPr>
            <a:endParaRPr sz="2489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9"/>
              <a:buFont typeface="Arial"/>
              <a:buNone/>
            </a:pPr>
            <a:endParaRPr sz="2489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9"/>
              <a:buFont typeface="Arial"/>
              <a:buNone/>
            </a:pPr>
            <a:endParaRPr sz="2489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601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116;p83">
            <a:extLst>
              <a:ext uri="{FF2B5EF4-FFF2-40B4-BE49-F238E27FC236}">
                <a16:creationId xmlns:a16="http://schemas.microsoft.com/office/drawing/2014/main" id="{82134587-2C93-157F-6BA9-2F98DB4F71FF}"/>
              </a:ext>
            </a:extLst>
          </p:cNvPr>
          <p:cNvSpPr txBox="1"/>
          <p:nvPr/>
        </p:nvSpPr>
        <p:spPr>
          <a:xfrm>
            <a:off x="1206500" y="1271883"/>
            <a:ext cx="9779200" cy="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DEMO 11: BRIDGE NETWORK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117;p83">
            <a:extLst>
              <a:ext uri="{FF2B5EF4-FFF2-40B4-BE49-F238E27FC236}">
                <a16:creationId xmlns:a16="http://schemas.microsoft.com/office/drawing/2014/main" id="{F4356627-3A34-6BBE-57A4-C48BF4DD9AF7}"/>
              </a:ext>
            </a:extLst>
          </p:cNvPr>
          <p:cNvSpPr/>
          <p:nvPr/>
        </p:nvSpPr>
        <p:spPr>
          <a:xfrm>
            <a:off x="2704549" y="3291770"/>
            <a:ext cx="6782901" cy="698768"/>
          </a:xfrm>
          <a:prstGeom prst="roundRect">
            <a:avLst>
              <a:gd name="adj" fmla="val 16933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8615" marR="0" lvl="0" indent="-348615" algn="ctr" rtl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 Creating a custom bridge network with security</a:t>
            </a:r>
            <a:endParaRPr sz="18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092946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122;p84">
            <a:extLst>
              <a:ext uri="{FF2B5EF4-FFF2-40B4-BE49-F238E27FC236}">
                <a16:creationId xmlns:a16="http://schemas.microsoft.com/office/drawing/2014/main" id="{5EE7FEBA-8FCE-E405-5D08-3B83273C453C}"/>
              </a:ext>
            </a:extLst>
          </p:cNvPr>
          <p:cNvSpPr txBox="1"/>
          <p:nvPr/>
        </p:nvSpPr>
        <p:spPr>
          <a:xfrm>
            <a:off x="2100909" y="1212880"/>
            <a:ext cx="7990182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HOST NETWORK</a:t>
            </a:r>
            <a:endParaRPr sz="1467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2123;p84">
            <a:extLst>
              <a:ext uri="{FF2B5EF4-FFF2-40B4-BE49-F238E27FC236}">
                <a16:creationId xmlns:a16="http://schemas.microsoft.com/office/drawing/2014/main" id="{3E25E326-74E5-406A-D9C6-D179BA73738B}"/>
              </a:ext>
            </a:extLst>
          </p:cNvPr>
          <p:cNvGrpSpPr/>
          <p:nvPr/>
        </p:nvGrpSpPr>
        <p:grpSpPr>
          <a:xfrm>
            <a:off x="1320959" y="2434946"/>
            <a:ext cx="9623182" cy="4275835"/>
            <a:chOff x="839800" y="1837106"/>
            <a:chExt cx="10585500" cy="4703419"/>
          </a:xfrm>
        </p:grpSpPr>
        <p:grpSp>
          <p:nvGrpSpPr>
            <p:cNvPr id="11" name="Google Shape;2124;p84">
              <a:extLst>
                <a:ext uri="{FF2B5EF4-FFF2-40B4-BE49-F238E27FC236}">
                  <a16:creationId xmlns:a16="http://schemas.microsoft.com/office/drawing/2014/main" id="{12408AAF-3A90-34FB-F342-DF9EBD233C3F}"/>
                </a:ext>
              </a:extLst>
            </p:cNvPr>
            <p:cNvGrpSpPr/>
            <p:nvPr/>
          </p:nvGrpSpPr>
          <p:grpSpPr>
            <a:xfrm>
              <a:off x="1939638" y="1837106"/>
              <a:ext cx="8312700" cy="3907561"/>
              <a:chOff x="1811384" y="2003462"/>
              <a:chExt cx="8312700" cy="3907561"/>
            </a:xfrm>
          </p:grpSpPr>
          <p:sp>
            <p:nvSpPr>
              <p:cNvPr id="13" name="Google Shape;2125;p84">
                <a:extLst>
                  <a:ext uri="{FF2B5EF4-FFF2-40B4-BE49-F238E27FC236}">
                    <a16:creationId xmlns:a16="http://schemas.microsoft.com/office/drawing/2014/main" id="{B52E83C6-F128-71EB-F8E1-8C2B1EF6412C}"/>
                  </a:ext>
                </a:extLst>
              </p:cNvPr>
              <p:cNvSpPr/>
              <p:nvPr/>
            </p:nvSpPr>
            <p:spPr>
              <a:xfrm>
                <a:off x="1811384" y="2003462"/>
                <a:ext cx="8312700" cy="3529500"/>
              </a:xfrm>
              <a:prstGeom prst="roundRect">
                <a:avLst>
                  <a:gd name="adj" fmla="val 6143"/>
                </a:avLst>
              </a:prstGeom>
              <a:solidFill>
                <a:schemeClr val="lt1"/>
              </a:solidFill>
              <a:ln w="25400" cap="flat" cmpd="sng">
                <a:solidFill>
                  <a:srgbClr val="0070C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7"/>
                  <a:buFont typeface="Arial"/>
                  <a:buNone/>
                </a:pPr>
                <a:endParaRPr sz="1467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" name="Google Shape;2126;p84">
                <a:extLst>
                  <a:ext uri="{FF2B5EF4-FFF2-40B4-BE49-F238E27FC236}">
                    <a16:creationId xmlns:a16="http://schemas.microsoft.com/office/drawing/2014/main" id="{4C352A45-F7D7-97A0-D64B-B5C7FC51D162}"/>
                  </a:ext>
                </a:extLst>
              </p:cNvPr>
              <p:cNvSpPr/>
              <p:nvPr/>
            </p:nvSpPr>
            <p:spPr>
              <a:xfrm>
                <a:off x="2171956" y="5218923"/>
                <a:ext cx="7591500" cy="6921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25400" cap="flat" cmpd="sng">
                <a:solidFill>
                  <a:srgbClr val="0070C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endParaRPr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eth0 </a:t>
                </a:r>
                <a:r>
                  <a:rPr lang="en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 (192.168.0.11)</a:t>
                </a: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endParaRPr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" name="Google Shape;2127;p84">
                <a:extLst>
                  <a:ext uri="{FF2B5EF4-FFF2-40B4-BE49-F238E27FC236}">
                    <a16:creationId xmlns:a16="http://schemas.microsoft.com/office/drawing/2014/main" id="{969BD86A-67A9-5C6F-F993-B58F9256038D}"/>
                  </a:ext>
                </a:extLst>
              </p:cNvPr>
              <p:cNvSpPr/>
              <p:nvPr/>
            </p:nvSpPr>
            <p:spPr>
              <a:xfrm>
                <a:off x="4833762" y="3223162"/>
                <a:ext cx="2268000" cy="12468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28575" cap="flat" cmpd="sng">
                <a:solidFill>
                  <a:schemeClr val="bg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 Container 1</a:t>
                </a:r>
                <a:endParaRPr sz="1467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endParaRPr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 192.168.0.11:80</a:t>
                </a:r>
                <a:endParaRPr sz="1467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128;p84">
                <a:extLst>
                  <a:ext uri="{FF2B5EF4-FFF2-40B4-BE49-F238E27FC236}">
                    <a16:creationId xmlns:a16="http://schemas.microsoft.com/office/drawing/2014/main" id="{260AA128-B57C-72EE-06A6-3FDB15EA4CF0}"/>
                  </a:ext>
                </a:extLst>
              </p:cNvPr>
              <p:cNvSpPr/>
              <p:nvPr/>
            </p:nvSpPr>
            <p:spPr>
              <a:xfrm>
                <a:off x="7495568" y="3223162"/>
                <a:ext cx="2268000" cy="12468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28575" cap="flat" cmpd="sng">
                <a:solidFill>
                  <a:schemeClr val="bg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 Container 2</a:t>
                </a:r>
                <a:endParaRPr sz="1467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endParaRPr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 192.168.0.11:8080</a:t>
                </a:r>
                <a:endParaRPr sz="1467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129;p84">
                <a:extLst>
                  <a:ext uri="{FF2B5EF4-FFF2-40B4-BE49-F238E27FC236}">
                    <a16:creationId xmlns:a16="http://schemas.microsoft.com/office/drawing/2014/main" id="{69AFF59E-83FC-5272-6EA8-0F5FD14152FD}"/>
                  </a:ext>
                </a:extLst>
              </p:cNvPr>
              <p:cNvSpPr/>
              <p:nvPr/>
            </p:nvSpPr>
            <p:spPr>
              <a:xfrm>
                <a:off x="2171956" y="3223162"/>
                <a:ext cx="2268000" cy="12468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28575" cap="flat" cmpd="sng">
                <a:solidFill>
                  <a:schemeClr val="bg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 Host process (SSHD)</a:t>
                </a:r>
                <a:endParaRPr sz="1467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endParaRPr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 192.168.0.11:22</a:t>
                </a:r>
                <a:endParaRPr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8" name="Google Shape;2130;p84">
                <a:extLst>
                  <a:ext uri="{FF2B5EF4-FFF2-40B4-BE49-F238E27FC236}">
                    <a16:creationId xmlns:a16="http://schemas.microsoft.com/office/drawing/2014/main" id="{AC74E268-8D86-25A4-78F7-5C605E0704C9}"/>
                  </a:ext>
                </a:extLst>
              </p:cNvPr>
              <p:cNvCxnSpPr>
                <a:stCxn id="17" idx="2"/>
              </p:cNvCxnSpPr>
              <p:nvPr/>
            </p:nvCxnSpPr>
            <p:spPr>
              <a:xfrm>
                <a:off x="3305956" y="4469962"/>
                <a:ext cx="0" cy="735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bg2">
                    <a:lumMod val="50000"/>
                  </a:schemeClr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sp>
            <p:nvSpPr>
              <p:cNvPr id="19" name="Google Shape;2131;p84">
                <a:extLst>
                  <a:ext uri="{FF2B5EF4-FFF2-40B4-BE49-F238E27FC236}">
                    <a16:creationId xmlns:a16="http://schemas.microsoft.com/office/drawing/2014/main" id="{2015B13D-485E-F65D-0D7B-7FB7B384B449}"/>
                  </a:ext>
                </a:extLst>
              </p:cNvPr>
              <p:cNvSpPr txBox="1"/>
              <p:nvPr/>
            </p:nvSpPr>
            <p:spPr>
              <a:xfrm>
                <a:off x="3180771" y="2228586"/>
                <a:ext cx="5580300" cy="646500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"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Containers run directly on the Docker host network along with other host processes</a:t>
                </a: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" name="Google Shape;2132;p84">
                <a:extLst>
                  <a:ext uri="{FF2B5EF4-FFF2-40B4-BE49-F238E27FC236}">
                    <a16:creationId xmlns:a16="http://schemas.microsoft.com/office/drawing/2014/main" id="{A3A70022-46DD-A032-CEDA-C82A2A8318BE}"/>
                  </a:ext>
                </a:extLst>
              </p:cNvPr>
              <p:cNvCxnSpPr/>
              <p:nvPr/>
            </p:nvCxnSpPr>
            <p:spPr>
              <a:xfrm>
                <a:off x="5967762" y="4470071"/>
                <a:ext cx="0" cy="735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bg2">
                    <a:lumMod val="50000"/>
                  </a:schemeClr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" name="Google Shape;2133;p84">
                <a:extLst>
                  <a:ext uri="{FF2B5EF4-FFF2-40B4-BE49-F238E27FC236}">
                    <a16:creationId xmlns:a16="http://schemas.microsoft.com/office/drawing/2014/main" id="{A8DA3853-C2E2-855E-7531-E9610DC86667}"/>
                  </a:ext>
                </a:extLst>
              </p:cNvPr>
              <p:cNvCxnSpPr/>
              <p:nvPr/>
            </p:nvCxnSpPr>
            <p:spPr>
              <a:xfrm>
                <a:off x="8629568" y="4470071"/>
                <a:ext cx="0" cy="735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bg2">
                    <a:lumMod val="50000"/>
                  </a:schemeClr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12" name="Google Shape;2134;p84">
              <a:extLst>
                <a:ext uri="{FF2B5EF4-FFF2-40B4-BE49-F238E27FC236}">
                  <a16:creationId xmlns:a16="http://schemas.microsoft.com/office/drawing/2014/main" id="{C27DF7C1-A011-E96C-BABE-74131FF5C8E2}"/>
                </a:ext>
              </a:extLst>
            </p:cNvPr>
            <p:cNvSpPr/>
            <p:nvPr/>
          </p:nvSpPr>
          <p:spPr>
            <a:xfrm>
              <a:off x="839800" y="2941125"/>
              <a:ext cx="10585500" cy="3599400"/>
            </a:xfrm>
            <a:prstGeom prst="roundRect">
              <a:avLst>
                <a:gd name="adj" fmla="val 4774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7662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139;p85">
            <a:extLst>
              <a:ext uri="{FF2B5EF4-FFF2-40B4-BE49-F238E27FC236}">
                <a16:creationId xmlns:a16="http://schemas.microsoft.com/office/drawing/2014/main" id="{32046D06-5387-870A-973B-42B5CCBC2B7D}"/>
              </a:ext>
            </a:extLst>
          </p:cNvPr>
          <p:cNvSpPr txBox="1"/>
          <p:nvPr/>
        </p:nvSpPr>
        <p:spPr>
          <a:xfrm>
            <a:off x="1206500" y="1253595"/>
            <a:ext cx="9779200" cy="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DEMO 12: HOST NETWORK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140;p85">
            <a:extLst>
              <a:ext uri="{FF2B5EF4-FFF2-40B4-BE49-F238E27FC236}">
                <a16:creationId xmlns:a16="http://schemas.microsoft.com/office/drawing/2014/main" id="{20D636CF-069C-2793-03EE-5829EC3F56D3}"/>
              </a:ext>
            </a:extLst>
          </p:cNvPr>
          <p:cNvSpPr/>
          <p:nvPr/>
        </p:nvSpPr>
        <p:spPr>
          <a:xfrm>
            <a:off x="1089025" y="3205132"/>
            <a:ext cx="10013949" cy="698768"/>
          </a:xfrm>
          <a:prstGeom prst="roundRect">
            <a:avLst>
              <a:gd name="adj" fmla="val 16933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9200" marR="0" lvl="0" indent="-349200" algn="ctr" rtl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1"/>
                  </a:ext>
                </a:extLst>
              </a:rPr>
              <a:t>Creating host network and disadvantage (You cannot spin up two similar containers)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4019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145;p86">
            <a:extLst>
              <a:ext uri="{FF2B5EF4-FFF2-40B4-BE49-F238E27FC236}">
                <a16:creationId xmlns:a16="http://schemas.microsoft.com/office/drawing/2014/main" id="{A58D7C20-06CF-1E82-8FC7-A4AE29E0DCF5}"/>
              </a:ext>
            </a:extLst>
          </p:cNvPr>
          <p:cNvSpPr/>
          <p:nvPr/>
        </p:nvSpPr>
        <p:spPr>
          <a:xfrm>
            <a:off x="839788" y="2352018"/>
            <a:ext cx="10585450" cy="3635292"/>
          </a:xfrm>
          <a:prstGeom prst="roundRect">
            <a:avLst>
              <a:gd name="adj" fmla="val 4774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It is u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sed to fully disable the networking stack of 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container 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 IP address is configured in this mode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Therefore, no internal and external communication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 is 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possible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Internal communication refers to communication between containers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External communication refers to communication 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with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the outside world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The s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yntax 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for</a:t>
            </a: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the none driver is as follows: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800"/>
              </a:spcBef>
              <a:spcAft>
                <a:spcPts val="667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docker run -itd --name &lt;container-id&gt; --network none &lt;image-name&gt;</a:t>
            </a:r>
            <a:endParaRPr sz="2000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2146;p86">
            <a:extLst>
              <a:ext uri="{FF2B5EF4-FFF2-40B4-BE49-F238E27FC236}">
                <a16:creationId xmlns:a16="http://schemas.microsoft.com/office/drawing/2014/main" id="{5BF01390-0F85-811D-3391-AA15091BD4D2}"/>
              </a:ext>
            </a:extLst>
          </p:cNvPr>
          <p:cNvSpPr txBox="1"/>
          <p:nvPr/>
        </p:nvSpPr>
        <p:spPr>
          <a:xfrm>
            <a:off x="1737913" y="1261500"/>
            <a:ext cx="8789200" cy="5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NONE NETWORK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749941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4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4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4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4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4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151;p87">
            <a:extLst>
              <a:ext uri="{FF2B5EF4-FFF2-40B4-BE49-F238E27FC236}">
                <a16:creationId xmlns:a16="http://schemas.microsoft.com/office/drawing/2014/main" id="{24EBD281-D017-A0FA-8723-CC54D5BC1C9F}"/>
              </a:ext>
            </a:extLst>
          </p:cNvPr>
          <p:cNvSpPr txBox="1"/>
          <p:nvPr/>
        </p:nvSpPr>
        <p:spPr>
          <a:xfrm>
            <a:off x="1206500" y="1299315"/>
            <a:ext cx="9779200" cy="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DEMO 13: NONE NETWORK</a:t>
            </a:r>
            <a:endParaRPr sz="2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2152;p87">
            <a:extLst>
              <a:ext uri="{FF2B5EF4-FFF2-40B4-BE49-F238E27FC236}">
                <a16:creationId xmlns:a16="http://schemas.microsoft.com/office/drawing/2014/main" id="{83645B2C-E06A-5E74-7CDD-42FF023605E2}"/>
              </a:ext>
            </a:extLst>
          </p:cNvPr>
          <p:cNvSpPr/>
          <p:nvPr/>
        </p:nvSpPr>
        <p:spPr>
          <a:xfrm>
            <a:off x="3615418" y="3291770"/>
            <a:ext cx="4961164" cy="698768"/>
          </a:xfrm>
          <a:prstGeom prst="roundRect">
            <a:avLst>
              <a:gd name="adj" fmla="val 16933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9200" marR="0" lvl="0" indent="-349200" algn="ctr" rtl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Creating a none network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2321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157;p88">
            <a:extLst>
              <a:ext uri="{FF2B5EF4-FFF2-40B4-BE49-F238E27FC236}">
                <a16:creationId xmlns:a16="http://schemas.microsoft.com/office/drawing/2014/main" id="{8E6E2BB7-0A46-1631-2E5E-F4C365AA6243}"/>
              </a:ext>
            </a:extLst>
          </p:cNvPr>
          <p:cNvSpPr txBox="1"/>
          <p:nvPr/>
        </p:nvSpPr>
        <p:spPr>
          <a:xfrm>
            <a:off x="2067103" y="1268131"/>
            <a:ext cx="7990182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MULTI-CONTAINER DEPLOYMENT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2158;p88">
            <a:extLst>
              <a:ext uri="{FF2B5EF4-FFF2-40B4-BE49-F238E27FC236}">
                <a16:creationId xmlns:a16="http://schemas.microsoft.com/office/drawing/2014/main" id="{B3E5B9A7-AF85-2F77-D091-43F84C0A4928}"/>
              </a:ext>
            </a:extLst>
          </p:cNvPr>
          <p:cNvGrpSpPr/>
          <p:nvPr/>
        </p:nvGrpSpPr>
        <p:grpSpPr>
          <a:xfrm>
            <a:off x="1320944" y="2000395"/>
            <a:ext cx="9623137" cy="4666545"/>
            <a:chOff x="839787" y="1062979"/>
            <a:chExt cx="10585451" cy="5133200"/>
          </a:xfrm>
        </p:grpSpPr>
        <p:pic>
          <p:nvPicPr>
            <p:cNvPr id="11" name="Google Shape;2159;p88">
              <a:extLst>
                <a:ext uri="{FF2B5EF4-FFF2-40B4-BE49-F238E27FC236}">
                  <a16:creationId xmlns:a16="http://schemas.microsoft.com/office/drawing/2014/main" id="{8DE19000-C390-56AA-989C-B14C4769E31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22095" y="1062979"/>
              <a:ext cx="5133068" cy="51330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2160;p88">
              <a:extLst>
                <a:ext uri="{FF2B5EF4-FFF2-40B4-BE49-F238E27FC236}">
                  <a16:creationId xmlns:a16="http://schemas.microsoft.com/office/drawing/2014/main" id="{E781ECFB-B369-0FC7-0856-6AAEA806B8B3}"/>
                </a:ext>
              </a:extLst>
            </p:cNvPr>
            <p:cNvSpPr/>
            <p:nvPr/>
          </p:nvSpPr>
          <p:spPr>
            <a:xfrm>
              <a:off x="839787" y="1062979"/>
              <a:ext cx="10585451" cy="5133200"/>
            </a:xfrm>
            <a:prstGeom prst="roundRect">
              <a:avLst>
                <a:gd name="adj" fmla="val 4774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2161;p88">
            <a:extLst>
              <a:ext uri="{FF2B5EF4-FFF2-40B4-BE49-F238E27FC236}">
                <a16:creationId xmlns:a16="http://schemas.microsoft.com/office/drawing/2014/main" id="{DA29A0BF-4FEF-AC5B-DD2F-2CB03FEFF53C}"/>
              </a:ext>
            </a:extLst>
          </p:cNvPr>
          <p:cNvSpPr/>
          <p:nvPr/>
        </p:nvSpPr>
        <p:spPr>
          <a:xfrm>
            <a:off x="5539847" y="2156292"/>
            <a:ext cx="5176276" cy="2580218"/>
          </a:xfrm>
          <a:prstGeom prst="cloud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 want to deploy a web server with a backend MYSQL database.</a:t>
            </a: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Shall I deploy both containers one after the other, or is there a </a:t>
            </a:r>
            <a:r>
              <a:rPr lang="en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2"/>
                  </a:ext>
                </a:extLst>
              </a:rPr>
              <a:t>tool for this feature?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1416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166;p89">
            <a:extLst>
              <a:ext uri="{FF2B5EF4-FFF2-40B4-BE49-F238E27FC236}">
                <a16:creationId xmlns:a16="http://schemas.microsoft.com/office/drawing/2014/main" id="{049750BC-A7E0-D132-A99F-56F9EA4B42F7}"/>
              </a:ext>
            </a:extLst>
          </p:cNvPr>
          <p:cNvSpPr txBox="1"/>
          <p:nvPr/>
        </p:nvSpPr>
        <p:spPr>
          <a:xfrm>
            <a:off x="1844851" y="1333410"/>
            <a:ext cx="7990182" cy="4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COMPOSE</a:t>
            </a:r>
            <a:endParaRPr sz="1467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2167;p89">
            <a:extLst>
              <a:ext uri="{FF2B5EF4-FFF2-40B4-BE49-F238E27FC236}">
                <a16:creationId xmlns:a16="http://schemas.microsoft.com/office/drawing/2014/main" id="{BF2E7C40-24FE-3E29-6A12-A43EBF005AAC}"/>
              </a:ext>
            </a:extLst>
          </p:cNvPr>
          <p:cNvGrpSpPr/>
          <p:nvPr/>
        </p:nvGrpSpPr>
        <p:grpSpPr>
          <a:xfrm>
            <a:off x="959262" y="4791138"/>
            <a:ext cx="6220684" cy="728925"/>
            <a:chOff x="836539" y="3669353"/>
            <a:chExt cx="7397036" cy="882000"/>
          </a:xfrm>
        </p:grpSpPr>
        <p:sp>
          <p:nvSpPr>
            <p:cNvPr id="11" name="Google Shape;2168;p89">
              <a:extLst>
                <a:ext uri="{FF2B5EF4-FFF2-40B4-BE49-F238E27FC236}">
                  <a16:creationId xmlns:a16="http://schemas.microsoft.com/office/drawing/2014/main" id="{4D9B3233-D59A-43D4-D793-07F27CAD0084}"/>
                </a:ext>
              </a:extLst>
            </p:cNvPr>
            <p:cNvSpPr/>
            <p:nvPr/>
          </p:nvSpPr>
          <p:spPr>
            <a:xfrm>
              <a:off x="836539" y="3669353"/>
              <a:ext cx="1690200" cy="882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90000" rIns="90000" bIns="90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6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Windows and MacOS</a:t>
              </a:r>
              <a:endParaRPr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" name="Google Shape;2169;p89">
              <a:extLst>
                <a:ext uri="{FF2B5EF4-FFF2-40B4-BE49-F238E27FC236}">
                  <a16:creationId xmlns:a16="http://schemas.microsoft.com/office/drawing/2014/main" id="{BD264E96-A9C3-06E6-39DA-CF5FD5479FB3}"/>
                </a:ext>
              </a:extLst>
            </p:cNvPr>
            <p:cNvSpPr/>
            <p:nvPr/>
          </p:nvSpPr>
          <p:spPr>
            <a:xfrm>
              <a:off x="3228975" y="3669353"/>
              <a:ext cx="5004600" cy="8820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90000" rIns="90000" bIns="90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6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Docker Compose is included in Docker Desktop</a:t>
              </a:r>
              <a:endParaRPr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" name="Google Shape;2170;p89">
              <a:extLst>
                <a:ext uri="{FF2B5EF4-FFF2-40B4-BE49-F238E27FC236}">
                  <a16:creationId xmlns:a16="http://schemas.microsoft.com/office/drawing/2014/main" id="{502C1E2C-1D5B-934B-042D-08BFD67D71A9}"/>
                </a:ext>
              </a:extLst>
            </p:cNvPr>
            <p:cNvCxnSpPr>
              <a:stCxn id="12" idx="1"/>
              <a:endCxn id="11" idx="3"/>
            </p:cNvCxnSpPr>
            <p:nvPr/>
          </p:nvCxnSpPr>
          <p:spPr>
            <a:xfrm rot="10800000">
              <a:off x="2526675" y="4110353"/>
              <a:ext cx="7023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none" w="sm" len="sm"/>
            </a:ln>
          </p:spPr>
        </p:cxnSp>
      </p:grpSp>
      <p:grpSp>
        <p:nvGrpSpPr>
          <p:cNvPr id="14" name="Google Shape;2171;p89">
            <a:extLst>
              <a:ext uri="{FF2B5EF4-FFF2-40B4-BE49-F238E27FC236}">
                <a16:creationId xmlns:a16="http://schemas.microsoft.com/office/drawing/2014/main" id="{2D8BFD5D-DC28-A6B1-963E-51257C16FB2A}"/>
              </a:ext>
            </a:extLst>
          </p:cNvPr>
          <p:cNvGrpSpPr/>
          <p:nvPr/>
        </p:nvGrpSpPr>
        <p:grpSpPr>
          <a:xfrm>
            <a:off x="959163" y="5702295"/>
            <a:ext cx="6220783" cy="728925"/>
            <a:chOff x="836442" y="5187434"/>
            <a:chExt cx="7397155" cy="882000"/>
          </a:xfrm>
        </p:grpSpPr>
        <p:sp>
          <p:nvSpPr>
            <p:cNvPr id="15" name="Google Shape;2172;p89">
              <a:extLst>
                <a:ext uri="{FF2B5EF4-FFF2-40B4-BE49-F238E27FC236}">
                  <a16:creationId xmlns:a16="http://schemas.microsoft.com/office/drawing/2014/main" id="{EB9A5DC6-85C3-C4A3-744D-6BADB7665AFB}"/>
                </a:ext>
              </a:extLst>
            </p:cNvPr>
            <p:cNvSpPr/>
            <p:nvPr/>
          </p:nvSpPr>
          <p:spPr>
            <a:xfrm>
              <a:off x="836442" y="5187434"/>
              <a:ext cx="1690200" cy="882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90000" rIns="90000" bIns="90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6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Linux</a:t>
              </a:r>
              <a:endParaRPr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" name="Google Shape;2173;p89">
              <a:extLst>
                <a:ext uri="{FF2B5EF4-FFF2-40B4-BE49-F238E27FC236}">
                  <a16:creationId xmlns:a16="http://schemas.microsoft.com/office/drawing/2014/main" id="{142CD2E2-75BA-6CEB-DF13-EF1042E4FAC7}"/>
                </a:ext>
              </a:extLst>
            </p:cNvPr>
            <p:cNvSpPr/>
            <p:nvPr/>
          </p:nvSpPr>
          <p:spPr>
            <a:xfrm>
              <a:off x="3200497" y="5187434"/>
              <a:ext cx="5033100" cy="8820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90000" rIns="90000" bIns="90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600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Visit</a:t>
              </a:r>
              <a:r>
                <a:rPr lang="en" sz="16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 the following link for installation: https://docs.docker.com/compose/install/</a:t>
              </a:r>
              <a:endParaRPr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" name="Google Shape;2174;p89">
              <a:extLst>
                <a:ext uri="{FF2B5EF4-FFF2-40B4-BE49-F238E27FC236}">
                  <a16:creationId xmlns:a16="http://schemas.microsoft.com/office/drawing/2014/main" id="{F11361D1-D9D1-9409-ABDF-08ECBC4EA109}"/>
                </a:ext>
              </a:extLst>
            </p:cNvPr>
            <p:cNvCxnSpPr>
              <a:stCxn id="16" idx="1"/>
              <a:endCxn id="15" idx="3"/>
            </p:cNvCxnSpPr>
            <p:nvPr/>
          </p:nvCxnSpPr>
          <p:spPr>
            <a:xfrm rot="10800000">
              <a:off x="2526697" y="5628434"/>
              <a:ext cx="6738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none" w="sm" len="sm"/>
            </a:ln>
          </p:spPr>
        </p:cxnSp>
      </p:grpSp>
      <p:sp>
        <p:nvSpPr>
          <p:cNvPr id="18" name="Google Shape;2175;p89">
            <a:extLst>
              <a:ext uri="{FF2B5EF4-FFF2-40B4-BE49-F238E27FC236}">
                <a16:creationId xmlns:a16="http://schemas.microsoft.com/office/drawing/2014/main" id="{AA2AF68D-A9B7-07C5-2F2E-2843459C4020}"/>
              </a:ext>
            </a:extLst>
          </p:cNvPr>
          <p:cNvSpPr/>
          <p:nvPr/>
        </p:nvSpPr>
        <p:spPr>
          <a:xfrm>
            <a:off x="959163" y="1966806"/>
            <a:ext cx="6220000" cy="2467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 is a tool used 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to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defin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and run multi-container Docker applications</a:t>
            </a:r>
            <a:endParaRPr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 Docker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-C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ompose YAML file is used to configure all the containers used in 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an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application</a:t>
            </a:r>
            <a:endParaRPr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Then, a single command is used to create and start all the services</a:t>
            </a:r>
            <a:endParaRPr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 Docker Compose can be install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ed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as follows:</a:t>
            </a:r>
            <a:endParaRPr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9" name="Google Shape;2176;p89">
            <a:extLst>
              <a:ext uri="{FF2B5EF4-FFF2-40B4-BE49-F238E27FC236}">
                <a16:creationId xmlns:a16="http://schemas.microsoft.com/office/drawing/2014/main" id="{7E7E4A9D-C50F-2230-5D1F-6D538FFEE07A}"/>
              </a:ext>
            </a:extLst>
          </p:cNvPr>
          <p:cNvGrpSpPr/>
          <p:nvPr/>
        </p:nvGrpSpPr>
        <p:grpSpPr>
          <a:xfrm>
            <a:off x="7887146" y="2532654"/>
            <a:ext cx="3031105" cy="2411547"/>
            <a:chOff x="8044147" y="1874425"/>
            <a:chExt cx="3334216" cy="2917972"/>
          </a:xfrm>
        </p:grpSpPr>
        <p:pic>
          <p:nvPicPr>
            <p:cNvPr id="20" name="Google Shape;2177;p89">
              <a:extLst>
                <a:ext uri="{FF2B5EF4-FFF2-40B4-BE49-F238E27FC236}">
                  <a16:creationId xmlns:a16="http://schemas.microsoft.com/office/drawing/2014/main" id="{CDC79963-FE28-168F-E1B2-A5C32B505743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044147" y="2971761"/>
              <a:ext cx="1667108" cy="10097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78;p89">
              <a:extLst>
                <a:ext uri="{FF2B5EF4-FFF2-40B4-BE49-F238E27FC236}">
                  <a16:creationId xmlns:a16="http://schemas.microsoft.com/office/drawing/2014/main" id="{6B652947-057C-5244-008A-F8138832274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711255" y="2971761"/>
              <a:ext cx="1667108" cy="10097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179;p89">
              <a:extLst>
                <a:ext uri="{FF2B5EF4-FFF2-40B4-BE49-F238E27FC236}">
                  <a16:creationId xmlns:a16="http://schemas.microsoft.com/office/drawing/2014/main" id="{54F3904A-6588-4291-3BAC-2777754B2978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044147" y="1961970"/>
              <a:ext cx="1667108" cy="10097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180;p89">
              <a:extLst>
                <a:ext uri="{FF2B5EF4-FFF2-40B4-BE49-F238E27FC236}">
                  <a16:creationId xmlns:a16="http://schemas.microsoft.com/office/drawing/2014/main" id="{AF0A0D69-BB94-D79C-CB2A-2BE08B09A6DE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711255" y="1874425"/>
              <a:ext cx="1667108" cy="10097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2181;p89">
              <a:extLst>
                <a:ext uri="{FF2B5EF4-FFF2-40B4-BE49-F238E27FC236}">
                  <a16:creationId xmlns:a16="http://schemas.microsoft.com/office/drawing/2014/main" id="{B6291FB3-2EC8-6B60-31C9-5E62A9289B4F}"/>
                </a:ext>
              </a:extLst>
            </p:cNvPr>
            <p:cNvSpPr/>
            <p:nvPr/>
          </p:nvSpPr>
          <p:spPr>
            <a:xfrm>
              <a:off x="8189932" y="4069097"/>
              <a:ext cx="3042600" cy="723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Docker</a:t>
              </a:r>
              <a:r>
                <a:rPr lang="en" sz="1800" b="1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 C</a:t>
              </a:r>
              <a:r>
                <a:rPr lang="en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ompose</a:t>
              </a:r>
              <a:endPara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5" name="Google Shape;2182;p89">
            <a:extLst>
              <a:ext uri="{FF2B5EF4-FFF2-40B4-BE49-F238E27FC236}">
                <a16:creationId xmlns:a16="http://schemas.microsoft.com/office/drawing/2014/main" id="{3425A925-F5D7-A374-216C-8230D3F7A7E4}"/>
              </a:ext>
            </a:extLst>
          </p:cNvPr>
          <p:cNvSpPr/>
          <p:nvPr/>
        </p:nvSpPr>
        <p:spPr>
          <a:xfrm>
            <a:off x="959163" y="6443579"/>
            <a:ext cx="9623182" cy="321323"/>
          </a:xfrm>
          <a:prstGeom prst="roundRect">
            <a:avLst>
              <a:gd name="adj" fmla="val 4774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991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4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4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4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4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187;p90">
            <a:extLst>
              <a:ext uri="{FF2B5EF4-FFF2-40B4-BE49-F238E27FC236}">
                <a16:creationId xmlns:a16="http://schemas.microsoft.com/office/drawing/2014/main" id="{69DD9D80-37A4-EB60-4555-779DA027BFB3}"/>
              </a:ext>
            </a:extLst>
          </p:cNvPr>
          <p:cNvSpPr txBox="1"/>
          <p:nvPr/>
        </p:nvSpPr>
        <p:spPr>
          <a:xfrm>
            <a:off x="2414400" y="1288551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COMPOSE FILE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2188;p90">
            <a:extLst>
              <a:ext uri="{FF2B5EF4-FFF2-40B4-BE49-F238E27FC236}">
                <a16:creationId xmlns:a16="http://schemas.microsoft.com/office/drawing/2014/main" id="{81C0F571-2AAF-D70A-DAA6-956DBED38A9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829" t="1321" r="5128" b="1575"/>
          <a:stretch/>
        </p:blipFill>
        <p:spPr>
          <a:xfrm>
            <a:off x="3940174" y="2107532"/>
            <a:ext cx="4318001" cy="4629727"/>
          </a:xfrm>
          <a:prstGeom prst="roundRect">
            <a:avLst>
              <a:gd name="adj" fmla="val 3138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46249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193;p91">
            <a:extLst>
              <a:ext uri="{FF2B5EF4-FFF2-40B4-BE49-F238E27FC236}">
                <a16:creationId xmlns:a16="http://schemas.microsoft.com/office/drawing/2014/main" id="{F2801E10-0824-A9CC-0EC9-81BF6F9DFA71}"/>
              </a:ext>
            </a:extLst>
          </p:cNvPr>
          <p:cNvSpPr txBox="1"/>
          <p:nvPr/>
        </p:nvSpPr>
        <p:spPr>
          <a:xfrm>
            <a:off x="1745945" y="1207008"/>
            <a:ext cx="8789200" cy="5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BASIC DOCKER-COMPOSE COMMANDS 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0" name="Google Shape;2194;p91">
            <a:extLst>
              <a:ext uri="{FF2B5EF4-FFF2-40B4-BE49-F238E27FC236}">
                <a16:creationId xmlns:a16="http://schemas.microsoft.com/office/drawing/2014/main" id="{AB8B9420-C39E-F9F5-CB5E-2144EC5AB5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6964103"/>
              </p:ext>
            </p:extLst>
          </p:nvPr>
        </p:nvGraphicFramePr>
        <p:xfrm>
          <a:off x="1972145" y="2415766"/>
          <a:ext cx="8345500" cy="11371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18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7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000" b="1" i="0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Command</a:t>
                      </a:r>
                      <a:endParaRPr sz="2000" b="1" i="0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75" marR="91475" marT="108000" marB="108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000" b="1" i="0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 sz="2000" b="1" i="0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75" marR="91475" marT="108000" marB="108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docker-compose up </a:t>
                      </a:r>
                      <a:endParaRPr sz="19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75" marR="91475" marT="108000" marB="108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Starts all the containers</a:t>
                      </a:r>
                      <a:endParaRPr sz="19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75" marR="91475" marT="108000" marB="108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Google Shape;2195;p91">
            <a:extLst>
              <a:ext uri="{FF2B5EF4-FFF2-40B4-BE49-F238E27FC236}">
                <a16:creationId xmlns:a16="http://schemas.microsoft.com/office/drawing/2014/main" id="{862FB489-AD2B-FD1D-5874-746EFF2AB7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8536670"/>
              </p:ext>
            </p:extLst>
          </p:nvPr>
        </p:nvGraphicFramePr>
        <p:xfrm>
          <a:off x="1972145" y="3552919"/>
          <a:ext cx="8345500" cy="8809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18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0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docker-compose ps </a:t>
                      </a:r>
                      <a:endParaRPr sz="19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75" marR="91475" marT="108000" marB="108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Can be used to verify the status of running containers</a:t>
                      </a:r>
                      <a:endParaRPr sz="19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75" marR="91475" marT="108000" marB="108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Google Shape;2196;p91">
            <a:extLst>
              <a:ext uri="{FF2B5EF4-FFF2-40B4-BE49-F238E27FC236}">
                <a16:creationId xmlns:a16="http://schemas.microsoft.com/office/drawing/2014/main" id="{96DD75F2-C7C4-D5EF-FD57-8323A49819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7465814"/>
              </p:ext>
            </p:extLst>
          </p:nvPr>
        </p:nvGraphicFramePr>
        <p:xfrm>
          <a:off x="1972145" y="4434840"/>
          <a:ext cx="8345500" cy="5601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18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docker-compose stop </a:t>
                      </a:r>
                      <a:endParaRPr sz="19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75" marR="91475" marT="108000" marB="108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Can be used to stop the containers</a:t>
                      </a:r>
                      <a:endParaRPr sz="19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75" marR="91475" marT="108000" marB="108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Google Shape;2197;p91">
            <a:extLst>
              <a:ext uri="{FF2B5EF4-FFF2-40B4-BE49-F238E27FC236}">
                <a16:creationId xmlns:a16="http://schemas.microsoft.com/office/drawing/2014/main" id="{2BA1F024-189C-DD7B-7F01-92D1A880D2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6068201"/>
              </p:ext>
            </p:extLst>
          </p:nvPr>
        </p:nvGraphicFramePr>
        <p:xfrm>
          <a:off x="1972145" y="4988623"/>
          <a:ext cx="8345500" cy="8809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18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0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docker-compose logs </a:t>
                      </a:r>
                      <a:endParaRPr sz="19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75" marR="91475" marT="108000" marB="108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Can be used to check the logs of the containers</a:t>
                      </a:r>
                      <a:endParaRPr sz="19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75" marR="91475" marT="108000" marB="108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Google Shape;2198;p91">
            <a:extLst>
              <a:ext uri="{FF2B5EF4-FFF2-40B4-BE49-F238E27FC236}">
                <a16:creationId xmlns:a16="http://schemas.microsoft.com/office/drawing/2014/main" id="{B5B433FB-F7B0-3965-F244-12C4481373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4414743"/>
              </p:ext>
            </p:extLst>
          </p:nvPr>
        </p:nvGraphicFramePr>
        <p:xfrm>
          <a:off x="1972145" y="5864752"/>
          <a:ext cx="8345500" cy="5601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18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docker-compose down </a:t>
                      </a:r>
                      <a:endParaRPr sz="19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75" marR="91475" marT="108000" marB="108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Can be used to remove the containers</a:t>
                      </a:r>
                      <a:endParaRPr sz="19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75" marR="91475" marT="108000" marB="108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698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203;p92">
            <a:extLst>
              <a:ext uri="{FF2B5EF4-FFF2-40B4-BE49-F238E27FC236}">
                <a16:creationId xmlns:a16="http://schemas.microsoft.com/office/drawing/2014/main" id="{E3DAA978-D22F-D704-79F1-5A6AD7E992CE}"/>
              </a:ext>
            </a:extLst>
          </p:cNvPr>
          <p:cNvSpPr txBox="1"/>
          <p:nvPr/>
        </p:nvSpPr>
        <p:spPr>
          <a:xfrm>
            <a:off x="2450913" y="1306639"/>
            <a:ext cx="7363200" cy="488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45650" rIns="91350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</a:t>
            </a:r>
            <a:r>
              <a:rPr lang="en" sz="2400" dirty="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COMPOSE RESTART POLICIES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204;p92">
            <a:extLst>
              <a:ext uri="{FF2B5EF4-FFF2-40B4-BE49-F238E27FC236}">
                <a16:creationId xmlns:a16="http://schemas.microsoft.com/office/drawing/2014/main" id="{917DD983-5F4B-230A-8C0C-1A9ABA09E076}"/>
              </a:ext>
            </a:extLst>
          </p:cNvPr>
          <p:cNvSpPr/>
          <p:nvPr/>
        </p:nvSpPr>
        <p:spPr>
          <a:xfrm>
            <a:off x="839788" y="2065258"/>
            <a:ext cx="10585450" cy="4328065"/>
          </a:xfrm>
          <a:prstGeom prst="roundRect">
            <a:avLst>
              <a:gd name="adj" fmla="val 4774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 mechanism to decide whether our containers start automatically or not</a:t>
            </a:r>
            <a:r>
              <a:rPr lang="en" sz="2000" dirty="0">
                <a:latin typeface="Lato"/>
                <a:ea typeface="Lato"/>
                <a:cs typeface="Lato"/>
                <a:sym typeface="Lato"/>
              </a:rPr>
              <a:t> when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867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container exits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docker starts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dirty="0">
                <a:latin typeface="Lato"/>
                <a:ea typeface="Lato"/>
                <a:cs typeface="Lato"/>
                <a:sym typeface="Lato"/>
              </a:rPr>
              <a:t>It is advisable to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use them in place of process managers 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1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Restart </a:t>
            </a:r>
            <a:r>
              <a:rPr lang="en" sz="2000" b="1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" sz="2000" b="1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olicies 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can be classified into four types: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on-failure [:max-retries]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always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unless-stopped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1331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4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4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4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4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209;p93">
            <a:extLst>
              <a:ext uri="{FF2B5EF4-FFF2-40B4-BE49-F238E27FC236}">
                <a16:creationId xmlns:a16="http://schemas.microsoft.com/office/drawing/2014/main" id="{545473D8-FAA9-BF6D-C9DB-2395C49F9FD0}"/>
              </a:ext>
            </a:extLst>
          </p:cNvPr>
          <p:cNvSpPr/>
          <p:nvPr/>
        </p:nvSpPr>
        <p:spPr>
          <a:xfrm>
            <a:off x="1412412" y="1872823"/>
            <a:ext cx="9623708" cy="4872364"/>
          </a:xfrm>
          <a:prstGeom prst="roundRect">
            <a:avLst>
              <a:gd name="adj" fmla="val 4582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Environment variables can be set in a service’s containers with the 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“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environment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”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key</a:t>
            </a:r>
            <a:endParaRPr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08965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b="1" i="0" u="none" strike="noStrike" cap="none" dirty="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web:</a:t>
            </a:r>
            <a:endParaRPr b="1" i="0" u="none" strike="noStrike" cap="none" dirty="0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6089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b="1" i="0" u="none" strike="noStrike" cap="none" dirty="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environment:</a:t>
            </a:r>
            <a:endParaRPr b="1" i="0" u="none" strike="noStrike" cap="none" dirty="0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7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- </a:t>
            </a:r>
            <a:r>
              <a:rPr lang="en" sz="2000" b="1" i="0" u="none" strike="noStrike" cap="none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DEBUG=1</a:t>
            </a:r>
            <a:endParaRPr sz="2000" b="1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185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7"/>
              <a:buFont typeface="Arial"/>
              <a:buNone/>
            </a:pPr>
            <a:r>
              <a:rPr lang="en" sz="2000" b="0" i="0" u="none" strike="noStrike" cap="none" dirty="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2000" b="0" i="0" u="none" strike="noStrike" cap="none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000" b="1" i="0" u="none" strike="noStrike" cap="none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KEY=VALUE</a:t>
            </a:r>
            <a:endParaRPr sz="2000" b="1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7"/>
              <a:buFont typeface="Arial"/>
              <a:buNone/>
            </a:pPr>
            <a:endParaRPr sz="2000" b="0" i="0" u="none" strike="noStrike" cap="none" dirty="0">
              <a:solidFill>
                <a:srgbClr val="CD55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Depends 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n:</a:t>
            </a:r>
            <a:endParaRPr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1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 expresses the dependency between services</a:t>
            </a:r>
            <a:endParaRPr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7865" marR="0" lvl="1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b="1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" b="1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ocker-compose up 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will start the servic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3"/>
                  </a:ext>
                </a:extLst>
              </a:rPr>
              <a:t>es in the order of dependency.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In the following example, the 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“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db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”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container will begin before the 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“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web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”</a:t>
            </a:r>
            <a:r>
              <a:rPr lang="en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container:</a:t>
            </a:r>
            <a:endParaRPr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08965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67"/>
              <a:buFont typeface="Arial"/>
              <a:buNone/>
            </a:pPr>
            <a:r>
              <a:rPr lang="en" sz="2000" b="0" i="0" u="none" strike="noStrike" cap="none" dirty="0">
                <a:solidFill>
                  <a:srgbClr val="658B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 i="0" u="none" strike="noStrike" cap="none" dirty="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web:</a:t>
            </a:r>
            <a:endParaRPr b="1" i="0" u="none" strike="noStrike" cap="none" dirty="0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6089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b="1" i="0" u="none" strike="noStrike" cap="none" dirty="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depends_on:</a:t>
            </a:r>
            <a:endParaRPr b="1" i="0" u="none" strike="noStrike" cap="none" dirty="0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7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- </a:t>
            </a:r>
            <a:r>
              <a:rPr lang="en" sz="2000" b="1" i="0" u="none" strike="noStrike" cap="none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db</a:t>
            </a:r>
            <a:endParaRPr sz="2000" b="1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    </a:t>
            </a:r>
            <a:r>
              <a:rPr lang="en" sz="2000" b="1" i="0" u="none" strike="noStrike" cap="none" dirty="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" b="1" i="0" u="none" strike="noStrike" cap="none" dirty="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b:</a:t>
            </a:r>
            <a:endParaRPr b="1" i="0" u="none" strike="noStrike" cap="none" dirty="0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" name="Google Shape;2210;p93">
            <a:extLst>
              <a:ext uri="{FF2B5EF4-FFF2-40B4-BE49-F238E27FC236}">
                <a16:creationId xmlns:a16="http://schemas.microsoft.com/office/drawing/2014/main" id="{398CF3D8-E075-466B-D398-736CE9DA9778}"/>
              </a:ext>
            </a:extLst>
          </p:cNvPr>
          <p:cNvSpPr txBox="1"/>
          <p:nvPr/>
        </p:nvSpPr>
        <p:spPr>
          <a:xfrm>
            <a:off x="1659091" y="1284471"/>
            <a:ext cx="8873818" cy="4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DOCKER</a:t>
            </a: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COMPOSE </a:t>
            </a: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</a:t>
            </a:r>
            <a:r>
              <a:rPr lang="en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ENV VARIABLES</a:t>
            </a: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”</a:t>
            </a:r>
            <a:r>
              <a:rPr lang="en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</a:t>
            </a:r>
            <a:r>
              <a:rPr lang="en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DEPENDS ON</a:t>
            </a: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577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4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4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4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4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4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4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4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4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4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4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215;p94">
            <a:extLst>
              <a:ext uri="{FF2B5EF4-FFF2-40B4-BE49-F238E27FC236}">
                <a16:creationId xmlns:a16="http://schemas.microsoft.com/office/drawing/2014/main" id="{ABCFC8C8-E90A-9FC9-A0C3-3FDCAD61037C}"/>
              </a:ext>
            </a:extLst>
          </p:cNvPr>
          <p:cNvSpPr txBox="1"/>
          <p:nvPr/>
        </p:nvSpPr>
        <p:spPr>
          <a:xfrm>
            <a:off x="2749091" y="1252596"/>
            <a:ext cx="6693818" cy="488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FEATURES OF DOCKER COMPOSE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216;p94">
            <a:extLst>
              <a:ext uri="{FF2B5EF4-FFF2-40B4-BE49-F238E27FC236}">
                <a16:creationId xmlns:a16="http://schemas.microsoft.com/office/drawing/2014/main" id="{5E403BC0-7BA1-A097-14F4-7D82BA3F6B8D}"/>
              </a:ext>
            </a:extLst>
          </p:cNvPr>
          <p:cNvSpPr txBox="1"/>
          <p:nvPr/>
        </p:nvSpPr>
        <p:spPr>
          <a:xfrm>
            <a:off x="1317627" y="2042965"/>
            <a:ext cx="9556749" cy="194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Compose </a:t>
            </a:r>
            <a:r>
              <a:rPr lang="en" sz="2000" b="1" dirty="0">
                <a:latin typeface="Lato"/>
                <a:ea typeface="Lato"/>
                <a:cs typeface="Lato"/>
                <a:sym typeface="Lato"/>
              </a:rPr>
              <a:t>has the</a:t>
            </a:r>
            <a:r>
              <a:rPr lang="en" sz="20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follow</a:t>
            </a:r>
            <a:r>
              <a:rPr lang="en" sz="2000" b="1" dirty="0">
                <a:latin typeface="Lato"/>
                <a:ea typeface="Lato"/>
                <a:cs typeface="Lato"/>
                <a:sym typeface="Lato"/>
              </a:rPr>
              <a:t>ing features</a:t>
            </a:r>
            <a:r>
              <a:rPr lang="en" sz="20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2000" b="1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Multiple isolated environments on a single host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Preserves volume data when containers are created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8615" marR="0" lvl="0" indent="-348615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dirty="0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4"/>
                  </a:ext>
                </a:extLst>
              </a:rPr>
              <a:t>R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5"/>
                  </a:ext>
                </a:extLst>
              </a:rPr>
              <a:t>ecreates only the containers that have changed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" name="Google Shape;2217;p94">
            <a:extLst>
              <a:ext uri="{FF2B5EF4-FFF2-40B4-BE49-F238E27FC236}">
                <a16:creationId xmlns:a16="http://schemas.microsoft.com/office/drawing/2014/main" id="{7D0A6B09-50B6-80FF-FB87-3CE6E8770FB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57741" y="4393385"/>
            <a:ext cx="3048561" cy="209044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218;p94">
            <a:extLst>
              <a:ext uri="{FF2B5EF4-FFF2-40B4-BE49-F238E27FC236}">
                <a16:creationId xmlns:a16="http://schemas.microsoft.com/office/drawing/2014/main" id="{7BD48EB4-8CCF-E980-463D-CE5123BD99CE}"/>
              </a:ext>
            </a:extLst>
          </p:cNvPr>
          <p:cNvSpPr/>
          <p:nvPr/>
        </p:nvSpPr>
        <p:spPr>
          <a:xfrm>
            <a:off x="1320959" y="4763019"/>
            <a:ext cx="9623182" cy="2022818"/>
          </a:xfrm>
          <a:prstGeom prst="roundRect">
            <a:avLst>
              <a:gd name="adj" fmla="val 4774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9200" marR="0" lvl="0" indent="-222200" algn="l" rtl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6584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223;p95">
            <a:extLst>
              <a:ext uri="{FF2B5EF4-FFF2-40B4-BE49-F238E27FC236}">
                <a16:creationId xmlns:a16="http://schemas.microsoft.com/office/drawing/2014/main" id="{4EFBF2E0-07F1-A386-1F17-491D4098D2DC}"/>
              </a:ext>
            </a:extLst>
          </p:cNvPr>
          <p:cNvSpPr txBox="1"/>
          <p:nvPr/>
        </p:nvSpPr>
        <p:spPr>
          <a:xfrm>
            <a:off x="2417575" y="1348892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DOCKER COMPOSE DEMO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224;p95">
            <a:extLst>
              <a:ext uri="{FF2B5EF4-FFF2-40B4-BE49-F238E27FC236}">
                <a16:creationId xmlns:a16="http://schemas.microsoft.com/office/drawing/2014/main" id="{3E589CE7-1F5E-1EE1-50B4-9B55268621CF}"/>
              </a:ext>
            </a:extLst>
          </p:cNvPr>
          <p:cNvSpPr/>
          <p:nvPr/>
        </p:nvSpPr>
        <p:spPr>
          <a:xfrm>
            <a:off x="839788" y="3602731"/>
            <a:ext cx="10585450" cy="1591062"/>
          </a:xfrm>
          <a:prstGeom prst="roundRect">
            <a:avLst>
              <a:gd name="adj" fmla="val 8406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9200" marR="0" lvl="0" indent="-349200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Let’s set up a complete application using Docker Compose and see if it solves all of our problems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1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Voting application: </a:t>
            </a:r>
            <a:r>
              <a:rPr lang="en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https://github.com/dockersamples/example-voting-app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9725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2229;p96">
            <a:extLst>
              <a:ext uri="{FF2B5EF4-FFF2-40B4-BE49-F238E27FC236}">
                <a16:creationId xmlns:a16="http://schemas.microsoft.com/office/drawing/2014/main" id="{FDB93FA2-49A5-2FDE-6AD0-A66B92B5109D}"/>
              </a:ext>
            </a:extLst>
          </p:cNvPr>
          <p:cNvGrpSpPr/>
          <p:nvPr/>
        </p:nvGrpSpPr>
        <p:grpSpPr>
          <a:xfrm>
            <a:off x="1325778" y="2194128"/>
            <a:ext cx="9546793" cy="4243680"/>
            <a:chOff x="839788" y="2192337"/>
            <a:chExt cx="9546793" cy="4243680"/>
          </a:xfrm>
        </p:grpSpPr>
        <p:sp>
          <p:nvSpPr>
            <p:cNvPr id="10" name="Google Shape;2230;p96">
              <a:extLst>
                <a:ext uri="{FF2B5EF4-FFF2-40B4-BE49-F238E27FC236}">
                  <a16:creationId xmlns:a16="http://schemas.microsoft.com/office/drawing/2014/main" id="{0829672C-5230-9CFF-835E-D439E34CC3B1}"/>
                </a:ext>
              </a:extLst>
            </p:cNvPr>
            <p:cNvSpPr/>
            <p:nvPr/>
          </p:nvSpPr>
          <p:spPr>
            <a:xfrm>
              <a:off x="839788" y="2192337"/>
              <a:ext cx="1523139" cy="1239865"/>
            </a:xfrm>
            <a:prstGeom prst="flowChartMagneticDisk">
              <a:avLst/>
            </a:prstGeom>
            <a:noFill/>
            <a:ln w="25400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Voting App</a:t>
              </a:r>
              <a:endPara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" name="Google Shape;2231;p96">
              <a:extLst>
                <a:ext uri="{FF2B5EF4-FFF2-40B4-BE49-F238E27FC236}">
                  <a16:creationId xmlns:a16="http://schemas.microsoft.com/office/drawing/2014/main" id="{7507D4D5-E8AD-0D0F-8D21-C8C3A2179138}"/>
                </a:ext>
              </a:extLst>
            </p:cNvPr>
            <p:cNvSpPr/>
            <p:nvPr/>
          </p:nvSpPr>
          <p:spPr>
            <a:xfrm>
              <a:off x="839788" y="4329567"/>
              <a:ext cx="1523139" cy="1239865"/>
            </a:xfrm>
            <a:prstGeom prst="flowChartMagneticDisk">
              <a:avLst/>
            </a:prstGeom>
            <a:noFill/>
            <a:ln w="2540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Result App</a:t>
              </a:r>
              <a:endPara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" name="Google Shape;2232;p96">
              <a:extLst>
                <a:ext uri="{FF2B5EF4-FFF2-40B4-BE49-F238E27FC236}">
                  <a16:creationId xmlns:a16="http://schemas.microsoft.com/office/drawing/2014/main" id="{52F192D9-85A1-BDBE-23BD-719F46E225EC}"/>
                </a:ext>
              </a:extLst>
            </p:cNvPr>
            <p:cNvSpPr/>
            <p:nvPr/>
          </p:nvSpPr>
          <p:spPr>
            <a:xfrm>
              <a:off x="5001648" y="2192337"/>
              <a:ext cx="1523139" cy="1239865"/>
            </a:xfrm>
            <a:prstGeom prst="flowChartMagneticDisk">
              <a:avLst/>
            </a:prstGeom>
            <a:noFill/>
            <a:ln w="25400" cap="flat" cmpd="sng">
              <a:solidFill>
                <a:schemeClr val="bg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Redis</a:t>
              </a:r>
              <a:endPara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Google Shape;2233;p96">
              <a:extLst>
                <a:ext uri="{FF2B5EF4-FFF2-40B4-BE49-F238E27FC236}">
                  <a16:creationId xmlns:a16="http://schemas.microsoft.com/office/drawing/2014/main" id="{F327E059-C97D-1C2B-0061-0EB3E394F158}"/>
                </a:ext>
              </a:extLst>
            </p:cNvPr>
            <p:cNvSpPr/>
            <p:nvPr/>
          </p:nvSpPr>
          <p:spPr>
            <a:xfrm>
              <a:off x="5001648" y="4329566"/>
              <a:ext cx="1523139" cy="1239865"/>
            </a:xfrm>
            <a:prstGeom prst="flowChartMagneticDisk">
              <a:avLst/>
            </a:prstGeom>
            <a:noFill/>
            <a:ln w="25400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Database</a:t>
              </a:r>
              <a:endPara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" name="Google Shape;2234;p96">
              <a:extLst>
                <a:ext uri="{FF2B5EF4-FFF2-40B4-BE49-F238E27FC236}">
                  <a16:creationId xmlns:a16="http://schemas.microsoft.com/office/drawing/2014/main" id="{D83964E5-A847-4673-DC54-E2CF9FA112C1}"/>
                </a:ext>
              </a:extLst>
            </p:cNvPr>
            <p:cNvSpPr/>
            <p:nvPr/>
          </p:nvSpPr>
          <p:spPr>
            <a:xfrm>
              <a:off x="8863442" y="3260952"/>
              <a:ext cx="1523139" cy="1239865"/>
            </a:xfrm>
            <a:prstGeom prst="flowChartMagneticDisk">
              <a:avLst/>
            </a:prstGeom>
            <a:noFill/>
            <a:ln w="25400" cap="flat" cmpd="sng">
              <a:solidFill>
                <a:srgbClr val="33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Worker</a:t>
              </a:r>
              <a:endPara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" name="Google Shape;2235;p96">
              <a:extLst>
                <a:ext uri="{FF2B5EF4-FFF2-40B4-BE49-F238E27FC236}">
                  <a16:creationId xmlns:a16="http://schemas.microsoft.com/office/drawing/2014/main" id="{4C263B9B-1B23-A0F1-4B77-AECDD303536A}"/>
                </a:ext>
              </a:extLst>
            </p:cNvPr>
            <p:cNvSpPr txBox="1"/>
            <p:nvPr/>
          </p:nvSpPr>
          <p:spPr>
            <a:xfrm>
              <a:off x="4117101" y="6035907"/>
              <a:ext cx="3957798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Node (Single Machine)</a:t>
              </a:r>
              <a:endParaRPr sz="20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6" name="Google Shape;2236;p96">
              <a:extLst>
                <a:ext uri="{FF2B5EF4-FFF2-40B4-BE49-F238E27FC236}">
                  <a16:creationId xmlns:a16="http://schemas.microsoft.com/office/drawing/2014/main" id="{BB34D8EB-CAF4-47E7-792D-330A930BDC6D}"/>
                </a:ext>
              </a:extLst>
            </p:cNvPr>
            <p:cNvCxnSpPr/>
            <p:nvPr/>
          </p:nvCxnSpPr>
          <p:spPr>
            <a:xfrm>
              <a:off x="2943906" y="2812269"/>
              <a:ext cx="1461407" cy="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50000"/>
                </a:schemeClr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7" name="Google Shape;2237;p96">
              <a:extLst>
                <a:ext uri="{FF2B5EF4-FFF2-40B4-BE49-F238E27FC236}">
                  <a16:creationId xmlns:a16="http://schemas.microsoft.com/office/drawing/2014/main" id="{B5B36B46-9D35-C27C-5408-418703DA42AC}"/>
                </a:ext>
              </a:extLst>
            </p:cNvPr>
            <p:cNvCxnSpPr/>
            <p:nvPr/>
          </p:nvCxnSpPr>
          <p:spPr>
            <a:xfrm>
              <a:off x="2943906" y="5041119"/>
              <a:ext cx="1461407" cy="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50000"/>
                </a:schemeClr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grpSp>
          <p:nvGrpSpPr>
            <p:cNvPr id="18" name="Google Shape;2238;p96">
              <a:extLst>
                <a:ext uri="{FF2B5EF4-FFF2-40B4-BE49-F238E27FC236}">
                  <a16:creationId xmlns:a16="http://schemas.microsoft.com/office/drawing/2014/main" id="{AD2B9224-EAD5-6F5A-2AD0-42505C5BB70A}"/>
                </a:ext>
              </a:extLst>
            </p:cNvPr>
            <p:cNvGrpSpPr/>
            <p:nvPr/>
          </p:nvGrpSpPr>
          <p:grpSpPr>
            <a:xfrm rot="-374941">
              <a:off x="7107476" y="3354604"/>
              <a:ext cx="1361394" cy="821772"/>
              <a:chOff x="7039656" y="3028951"/>
              <a:chExt cx="1361394" cy="821772"/>
            </a:xfrm>
          </p:grpSpPr>
          <p:cxnSp>
            <p:nvCxnSpPr>
              <p:cNvPr id="19" name="Google Shape;2239;p96">
                <a:extLst>
                  <a:ext uri="{FF2B5EF4-FFF2-40B4-BE49-F238E27FC236}">
                    <a16:creationId xmlns:a16="http://schemas.microsoft.com/office/drawing/2014/main" id="{EDF4783F-A077-10CB-27B6-ABB5A4B16324}"/>
                  </a:ext>
                </a:extLst>
              </p:cNvPr>
              <p:cNvCxnSpPr/>
              <p:nvPr/>
            </p:nvCxnSpPr>
            <p:spPr>
              <a:xfrm rot="10800000">
                <a:off x="7039656" y="3028951"/>
                <a:ext cx="1361394" cy="400049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bg2">
                    <a:lumMod val="50000"/>
                  </a:schemeClr>
                </a:solidFill>
                <a:prstDash val="solid"/>
                <a:round/>
                <a:headEnd type="none" w="sm" len="sm"/>
                <a:tailEnd type="triangle" w="lg" len="lg"/>
              </a:ln>
            </p:spPr>
          </p:cxnSp>
          <p:cxnSp>
            <p:nvCxnSpPr>
              <p:cNvPr id="20" name="Google Shape;2240;p96">
                <a:extLst>
                  <a:ext uri="{FF2B5EF4-FFF2-40B4-BE49-F238E27FC236}">
                    <a16:creationId xmlns:a16="http://schemas.microsoft.com/office/drawing/2014/main" id="{E6FD16EE-0FC1-8C34-1165-179CA1247A79}"/>
                  </a:ext>
                </a:extLst>
              </p:cNvPr>
              <p:cNvCxnSpPr/>
              <p:nvPr/>
            </p:nvCxnSpPr>
            <p:spPr>
              <a:xfrm flipH="1">
                <a:off x="7039656" y="3439836"/>
                <a:ext cx="1361394" cy="410887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bg2">
                    <a:lumMod val="50000"/>
                  </a:schemeClr>
                </a:solidFill>
                <a:prstDash val="solid"/>
                <a:round/>
                <a:headEnd type="none" w="sm" len="sm"/>
                <a:tailEnd type="triangle" w="lg" len="lg"/>
              </a:ln>
            </p:spPr>
          </p:cxnSp>
        </p:grpSp>
      </p:grpSp>
      <p:sp>
        <p:nvSpPr>
          <p:cNvPr id="21" name="Google Shape;2241;p96">
            <a:extLst>
              <a:ext uri="{FF2B5EF4-FFF2-40B4-BE49-F238E27FC236}">
                <a16:creationId xmlns:a16="http://schemas.microsoft.com/office/drawing/2014/main" id="{AE364F10-5E61-370A-8FFA-E34ADE8F16FE}"/>
              </a:ext>
            </a:extLst>
          </p:cNvPr>
          <p:cNvSpPr txBox="1"/>
          <p:nvPr/>
        </p:nvSpPr>
        <p:spPr>
          <a:xfrm>
            <a:off x="2417575" y="1156868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VOTING APP USING DOCKER COMPOSE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296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246;p97">
            <a:extLst>
              <a:ext uri="{FF2B5EF4-FFF2-40B4-BE49-F238E27FC236}">
                <a16:creationId xmlns:a16="http://schemas.microsoft.com/office/drawing/2014/main" id="{650F2844-126D-E530-431A-9D8A2551FC19}"/>
              </a:ext>
            </a:extLst>
          </p:cNvPr>
          <p:cNvSpPr txBox="1"/>
          <p:nvPr/>
        </p:nvSpPr>
        <p:spPr>
          <a:xfrm>
            <a:off x="2417575" y="1348892"/>
            <a:ext cx="7363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DEMO 14: DOCKER COMPOSE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247;p97">
            <a:extLst>
              <a:ext uri="{FF2B5EF4-FFF2-40B4-BE49-F238E27FC236}">
                <a16:creationId xmlns:a16="http://schemas.microsoft.com/office/drawing/2014/main" id="{5D79B849-2F0B-927A-2D2D-3D57B0427B7C}"/>
              </a:ext>
            </a:extLst>
          </p:cNvPr>
          <p:cNvSpPr/>
          <p:nvPr/>
        </p:nvSpPr>
        <p:spPr>
          <a:xfrm>
            <a:off x="2308590" y="3172962"/>
            <a:ext cx="7802767" cy="2462171"/>
          </a:xfrm>
          <a:prstGeom prst="roundRect">
            <a:avLst>
              <a:gd name="adj" fmla="val 8406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9200" marR="0" lvl="0" indent="-349200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Docker Compose concepts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Running multiple containers using Docker Compose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Deploying a voting application: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8400" marR="0" lvl="1" indent="-34920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●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https://github.com/dockersamples/example-voting-app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00" marR="0" lvl="0" indent="-349200" algn="l" rtl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lang="en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Issues with Docker Compose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503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4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4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4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Google Shape;2252;g2484d793456_0_258"/>
          <p:cNvSpPr txBox="1">
            <a:spLocks noGrp="1"/>
          </p:cNvSpPr>
          <p:nvPr>
            <p:ph type="sldNum" idx="12"/>
          </p:nvPr>
        </p:nvSpPr>
        <p:spPr>
          <a:xfrm>
            <a:off x="86233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100</a:t>
            </a:fld>
            <a:endParaRPr/>
          </a:p>
        </p:txBody>
      </p:sp>
      <p:sp>
        <p:nvSpPr>
          <p:cNvPr id="2253" name="Google Shape;2253;g2484d793456_0_258"/>
          <p:cNvSpPr txBox="1"/>
          <p:nvPr/>
        </p:nvSpPr>
        <p:spPr>
          <a:xfrm>
            <a:off x="3060000" y="2877000"/>
            <a:ext cx="6613500" cy="6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lang="en" sz="43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Doubt</a:t>
            </a:r>
            <a:r>
              <a:rPr lang="en" sz="4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-</a:t>
            </a:r>
            <a:r>
              <a:rPr lang="en" sz="43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Clearance Window</a:t>
            </a:r>
            <a:r>
              <a:rPr lang="en" sz="4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4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endParaRPr sz="4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4" name="Google Shape;2254;g2484d793456_0_258"/>
          <p:cNvSpPr txBox="1">
            <a:spLocks noGrp="1"/>
          </p:cNvSpPr>
          <p:nvPr>
            <p:ph type="ftr" idx="11"/>
          </p:nvPr>
        </p:nvSpPr>
        <p:spPr>
          <a:xfrm>
            <a:off x="2774967" y="6356367"/>
            <a:ext cx="6898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g2484d793456_0_264"/>
          <p:cNvSpPr txBox="1">
            <a:spLocks noGrp="1"/>
          </p:cNvSpPr>
          <p:nvPr>
            <p:ph type="sldNum" idx="12"/>
          </p:nvPr>
        </p:nvSpPr>
        <p:spPr>
          <a:xfrm>
            <a:off x="86233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101</a:t>
            </a:fld>
            <a:endParaRPr/>
          </a:p>
        </p:txBody>
      </p:sp>
      <p:sp>
        <p:nvSpPr>
          <p:cNvPr id="2260" name="Google Shape;2260;g2484d793456_0_264"/>
          <p:cNvSpPr txBox="1"/>
          <p:nvPr/>
        </p:nvSpPr>
        <p:spPr>
          <a:xfrm>
            <a:off x="850900" y="873200"/>
            <a:ext cx="10515600" cy="6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" sz="3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Tasks to </a:t>
            </a:r>
            <a:r>
              <a:rPr lang="en" sz="3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complete after today’s session</a:t>
            </a:r>
            <a:endParaRPr sz="39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61" name="Google Shape;2261;g2484d793456_0_264"/>
          <p:cNvSpPr txBox="1"/>
          <p:nvPr/>
        </p:nvSpPr>
        <p:spPr>
          <a:xfrm>
            <a:off x="1008033" y="1926233"/>
            <a:ext cx="9915300" cy="3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62" name="Google Shape;2262;g2484d793456_0_264"/>
          <p:cNvGraphicFramePr/>
          <p:nvPr/>
        </p:nvGraphicFramePr>
        <p:xfrm>
          <a:off x="3956283" y="2175833"/>
          <a:ext cx="4557700" cy="25967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5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2400" u="none" strike="noStrike" cap="non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6"/>
                            </a:ext>
                          </a:extLst>
                        </a:rPr>
                        <a:t>MCQs</a:t>
                      </a:r>
                      <a:endParaRPr sz="2400" u="none" strike="noStrike" cap="none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5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2400" u="none" strike="noStrike" cap="non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Conceptual</a:t>
                      </a:r>
                      <a:r>
                        <a:rPr lang="en" sz="2400" u="none" strike="noStrike" cap="non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7"/>
                            </a:ext>
                          </a:extLst>
                        </a:rPr>
                        <a:t> Questions</a:t>
                      </a:r>
                      <a:endParaRPr sz="2400" u="none" strike="noStrike" cap="none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5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2400" u="none" strike="noStrike" cap="non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Project Checkpoint </a:t>
                      </a:r>
                      <a:endParaRPr sz="2400" u="none" strike="noStrike" cap="none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63" name="Google Shape;2263;g2484d793456_0_264"/>
          <p:cNvSpPr txBox="1">
            <a:spLocks noGrp="1"/>
          </p:cNvSpPr>
          <p:nvPr>
            <p:ph type="ftr" idx="11"/>
          </p:nvPr>
        </p:nvSpPr>
        <p:spPr>
          <a:xfrm>
            <a:off x="2774967" y="6356367"/>
            <a:ext cx="6898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Thank You!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102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6418B9-9024-36FD-FF4A-D689E721F1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4495</Words>
  <Application>Microsoft Office PowerPoint</Application>
  <PresentationFormat>Widescreen</PresentationFormat>
  <Paragraphs>939</Paragraphs>
  <Slides>102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10" baseType="lpstr">
      <vt:lpstr>Arial</vt:lpstr>
      <vt:lpstr>Calibri</vt:lpstr>
      <vt:lpstr>Calibri Light</vt:lpstr>
      <vt:lpstr>Courier New</vt:lpstr>
      <vt:lpstr>Lato</vt:lpstr>
      <vt:lpstr>Noto Sans Symbols</vt:lpstr>
      <vt:lpstr>Proxima Nova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Janvi Jannet</dc:creator>
  <cp:lastModifiedBy>Janvi Jannet</cp:lastModifiedBy>
  <cp:revision>1</cp:revision>
  <dcterms:created xsi:type="dcterms:W3CDTF">2024-07-22T09:09:46Z</dcterms:created>
  <dcterms:modified xsi:type="dcterms:W3CDTF">2024-07-22T10:33:22Z</dcterms:modified>
</cp:coreProperties>
</file>