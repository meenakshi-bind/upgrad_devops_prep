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4"/>
  </p:notesMasterIdLst>
  <p:sldIdLst>
    <p:sldId id="257" r:id="rId2"/>
    <p:sldId id="291" r:id="rId3"/>
    <p:sldId id="594" r:id="rId4"/>
    <p:sldId id="259" r:id="rId5"/>
    <p:sldId id="595" r:id="rId6"/>
    <p:sldId id="593" r:id="rId7"/>
    <p:sldId id="596" r:id="rId8"/>
    <p:sldId id="597" r:id="rId9"/>
    <p:sldId id="598" r:id="rId10"/>
    <p:sldId id="599" r:id="rId11"/>
    <p:sldId id="600" r:id="rId12"/>
    <p:sldId id="267" r:id="rId13"/>
    <p:sldId id="601" r:id="rId14"/>
    <p:sldId id="602" r:id="rId15"/>
    <p:sldId id="603" r:id="rId16"/>
    <p:sldId id="604" r:id="rId17"/>
    <p:sldId id="605" r:id="rId18"/>
    <p:sldId id="606" r:id="rId19"/>
    <p:sldId id="607" r:id="rId20"/>
    <p:sldId id="608" r:id="rId21"/>
    <p:sldId id="609" r:id="rId22"/>
    <p:sldId id="610" r:id="rId23"/>
    <p:sldId id="611" r:id="rId24"/>
    <p:sldId id="612" r:id="rId25"/>
    <p:sldId id="613" r:id="rId26"/>
    <p:sldId id="614" r:id="rId27"/>
    <p:sldId id="615" r:id="rId28"/>
    <p:sldId id="616" r:id="rId29"/>
    <p:sldId id="617" r:id="rId30"/>
    <p:sldId id="618" r:id="rId31"/>
    <p:sldId id="619" r:id="rId32"/>
    <p:sldId id="620" r:id="rId33"/>
    <p:sldId id="621" r:id="rId34"/>
    <p:sldId id="622" r:id="rId35"/>
    <p:sldId id="623" r:id="rId36"/>
    <p:sldId id="624" r:id="rId37"/>
    <p:sldId id="625" r:id="rId38"/>
    <p:sldId id="626" r:id="rId39"/>
    <p:sldId id="627" r:id="rId40"/>
    <p:sldId id="628" r:id="rId41"/>
    <p:sldId id="629" r:id="rId42"/>
    <p:sldId id="630" r:id="rId43"/>
    <p:sldId id="298" r:id="rId44"/>
    <p:sldId id="631" r:id="rId45"/>
    <p:sldId id="632" r:id="rId46"/>
    <p:sldId id="633" r:id="rId47"/>
    <p:sldId id="634" r:id="rId48"/>
    <p:sldId id="635" r:id="rId49"/>
    <p:sldId id="636" r:id="rId50"/>
    <p:sldId id="637" r:id="rId51"/>
    <p:sldId id="638" r:id="rId52"/>
    <p:sldId id="639" r:id="rId53"/>
    <p:sldId id="640" r:id="rId54"/>
    <p:sldId id="641" r:id="rId55"/>
    <p:sldId id="642" r:id="rId56"/>
    <p:sldId id="643" r:id="rId57"/>
    <p:sldId id="644" r:id="rId58"/>
    <p:sldId id="645" r:id="rId59"/>
    <p:sldId id="646" r:id="rId60"/>
    <p:sldId id="315" r:id="rId61"/>
    <p:sldId id="316" r:id="rId62"/>
    <p:sldId id="503" r:id="rId6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02C86F-D1F3-4D05-8A5A-DC2704FA83F6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5F96D-3FF0-4AF8-90C2-C01264FF53A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179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8899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8" name="Google Shape;2578;g23c268efcd9_0_19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9" name="Google Shape;2579;g23c268efcd9_0_19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1" name="Google Shape;2721;g23c268efcd9_0_19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2" name="Google Shape;2722;g23c268efcd9_0_19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4" name="Google Shape;3354;g23c268efcd9_0_13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5" name="Google Shape;3355;g23c268efcd9_0_13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3" name="Google Shape;3513;g23c268efcd9_0_27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14" name="Google Shape;3514;g23c268efcd9_0_27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0" name="Google Shape;3520;g23c268efcd9_0_27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521" name="Google Shape;3521;g23c268efcd9_0_27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3" name="Google Shape;61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C6F20-1B06-3F5D-206C-CC9DF553F9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DDD845-6411-108F-FD33-4C02AD984EE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1A9157-33BE-7B9F-0046-9ECB80A57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F6C30-EF99-F166-4099-C71470FFDE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DC95E-56D1-472D-283B-820E8EB04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1240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7A913-D059-840B-F6F1-F0D8550F96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24AD82-555F-A4D7-A7F4-85A7C1D831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E60AEC-E65A-7F2D-B83A-40040B5AC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7A861-B904-1E9B-10A0-1DDB8B04B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55966-449B-F587-39BC-4B8C8C425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2187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A6EC-303F-F99E-BD6B-493F84E30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36B937-D28A-F642-2856-22AC96A255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D42356-D7C7-AE37-5AFF-B5041A30A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5FECCB-D135-8FF5-502B-9955B13F2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E6DEE8-5BB7-263C-1323-7FFF5E115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191906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ED731-710D-B81D-E455-D451A568E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06C105-5700-92FA-227C-0A299C464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C2A96-3679-8634-F89C-35756279C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9B0D4E-681A-817A-0925-2B3545B95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BAEFA2-2776-72E1-2BA2-A5A76E4C7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D450B9-3EBF-C8C1-763F-744F5FD7E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1128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67D95-1C1C-111C-3363-AA08F148F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30B68-4091-5075-EAC8-15C9AF2B9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AAA791-1E19-A617-877C-7C2B5C9AA3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816D062-DFC0-8C62-CAFA-B774F98512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64E7CE-869B-1A78-60AD-02A1203C6C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C2A8BF-88DE-4322-69AC-D311F847F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978B41-7C01-E1FE-D180-1ECC4BF24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70A975-D025-211D-CFFD-7A6B4650E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412105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B057AB-8B79-20C2-EF33-5BA1E1486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97EA61-4C12-67BE-AE94-AC8197D2C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252ED7-6FFF-4CCD-F24B-4EC12D250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57CED8-B4D5-47BF-3C5E-28195ADD6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27589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FC5ECD-7A1B-6DFC-6143-C6EB3EA2B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0DBEB07-9177-E800-68DA-515F1BEDC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93A45F-4DD7-A1AB-34D3-A2A76F79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134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F1FAE-4116-0828-4E51-322E3128F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1F456F-3998-1C1D-1F45-DEC53D404C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E2C01-3D31-FE79-47DB-955C51C6E6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B7F5C-342A-8C6B-AA0E-67E5F35AE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B71CE5-3542-9DE8-996F-AD6507B55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82E3FC-A1C9-F25C-81A1-219A65BF9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1565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EF7D6-2AD6-E14B-F8E3-6ACF62006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362721-E2A5-B9C6-465C-A06858BFAD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20686-5FDD-8E16-C81E-4F482B9B3F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FDE5F-20FD-3578-9C70-16BCF7D0FA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A3EA1F-0033-DB36-7CEB-4D0283B3AF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3982E6-19FF-0D53-CF44-3D881A128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74126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9D014-6192-5BE8-19E6-13B1C025F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F28873-3A0D-13E2-9667-CA85BC8E09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AE924-6DE2-2ED5-E489-F5841D72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4BA10D-FED6-E543-5C1B-EA50B34A2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18DD0E-CDC8-F0D0-1A31-E4CF549FAC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7354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A67D1E0-EB5A-594D-367E-34496619D6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439300-AC35-1181-D4B1-C158072687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2531F5-F41B-9113-7817-1CC97AB8D1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833D29-EA15-3F6A-D935-D19808C0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B6AC09-C271-C409-5E1D-7509BDA1D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75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">
  <p:cSld name="Divider">
    <p:spTree>
      <p:nvGrpSpPr>
        <p:cNvPr id="1" name="Shape 1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7" name="Google Shape;1717;g23c268efcd9_0_1368"/>
          <p:cNvSpPr/>
          <p:nvPr/>
        </p:nvSpPr>
        <p:spPr>
          <a:xfrm>
            <a:off x="-575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8" name="Google Shape;1718;g23c268efcd9_0_1368"/>
          <p:cNvSpPr txBox="1">
            <a:spLocks noGrp="1"/>
          </p:cNvSpPr>
          <p:nvPr>
            <p:ph type="title"/>
          </p:nvPr>
        </p:nvSpPr>
        <p:spPr>
          <a:xfrm>
            <a:off x="840317" y="725997"/>
            <a:ext cx="7987500" cy="7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Arial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19" name="Google Shape;1719;g23c268efcd9_0_1368"/>
          <p:cNvSpPr txBox="1">
            <a:spLocks noGrp="1"/>
          </p:cNvSpPr>
          <p:nvPr>
            <p:ph type="dt" idx="10"/>
          </p:nvPr>
        </p:nvSpPr>
        <p:spPr>
          <a:xfrm>
            <a:off x="8509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900"/>
              <a:buNone/>
              <a:defRPr>
                <a:solidFill>
                  <a:schemeClr val="lt1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/>
            </a:lvl9pPr>
          </a:lstStyle>
          <a:p>
            <a:endParaRPr/>
          </a:p>
        </p:txBody>
      </p:sp>
      <p:sp>
        <p:nvSpPr>
          <p:cNvPr id="1720" name="Google Shape;1720;g23c268efcd9_0_1368"/>
          <p:cNvSpPr txBox="1">
            <a:spLocks noGrp="1"/>
          </p:cNvSpPr>
          <p:nvPr>
            <p:ph type="ftr" idx="11"/>
          </p:nvPr>
        </p:nvSpPr>
        <p:spPr>
          <a:xfrm>
            <a:off x="3502833" y="6356367"/>
            <a:ext cx="56055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>
            <a:lvl1pPr marR="0" lvl="0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900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21" name="Google Shape;1721;g23c268efcd9_0_136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22" name="Google Shape;1722;g23c268efcd9_0_136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49227" y="404813"/>
            <a:ext cx="1213040" cy="323851"/>
          </a:xfrm>
          <a:prstGeom prst="rect">
            <a:avLst/>
          </a:prstGeom>
          <a:noFill/>
          <a:ln>
            <a:noFill/>
          </a:ln>
        </p:spPr>
      </p:pic>
      <p:sp>
        <p:nvSpPr>
          <p:cNvPr id="1723" name="Google Shape;1723;g23c268efcd9_0_13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1333F"/>
          </a:solidFill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4" name="Google Shape;1724;g23c268efcd9_0_136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572384" y="280085"/>
            <a:ext cx="1084840" cy="28962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0387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37529-163C-1877-E1A2-A81F8353B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B8A813-4BE5-21A6-BA49-DDDB212E0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16933-693D-2726-716F-380D0BF0C7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DCDCDB-F013-48A5-AC8D-238BDE2CCEA7}" type="datetimeFigureOut">
              <a:rPr lang="en-IN" smtClean="0"/>
              <a:t>22-07-2024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8BA0FD-81FC-5946-DEBD-4749B70C49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90ED9-0C2A-36F7-6C00-64598FAA6B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5EDCFE-06CB-4D34-9C92-6BC136B8BEE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57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emf"/><Relationship Id="rId5" Type="http://schemas.openxmlformats.org/officeDocument/2006/relationships/image" Target="../media/image6.emf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emf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5.emf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g"/><Relationship Id="rId5" Type="http://schemas.openxmlformats.org/officeDocument/2006/relationships/image" Target="../media/image7.emf"/><Relationship Id="rId10" Type="http://schemas.openxmlformats.org/officeDocument/2006/relationships/image" Target="../media/image18.png"/><Relationship Id="rId4" Type="http://schemas.openxmlformats.org/officeDocument/2006/relationships/image" Target="../media/image6.emf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2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5.emf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emf"/><Relationship Id="rId4" Type="http://schemas.openxmlformats.org/officeDocument/2006/relationships/image" Target="../media/image6.emf"/><Relationship Id="rId9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emf"/><Relationship Id="rId7" Type="http://schemas.openxmlformats.org/officeDocument/2006/relationships/image" Target="../media/image3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5.emf"/><Relationship Id="rId7" Type="http://schemas.openxmlformats.org/officeDocument/2006/relationships/image" Target="../media/image31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g"/><Relationship Id="rId3" Type="http://schemas.openxmlformats.org/officeDocument/2006/relationships/image" Target="../media/image5.emf"/><Relationship Id="rId7" Type="http://schemas.openxmlformats.org/officeDocument/2006/relationships/image" Target="../media/image1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5.emf"/><Relationship Id="rId7" Type="http://schemas.openxmlformats.org/officeDocument/2006/relationships/image" Target="../media/image3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jpg"/><Relationship Id="rId5" Type="http://schemas.openxmlformats.org/officeDocument/2006/relationships/image" Target="../media/image7.emf"/><Relationship Id="rId10" Type="http://schemas.openxmlformats.org/officeDocument/2006/relationships/image" Target="../media/image40.png"/><Relationship Id="rId4" Type="http://schemas.openxmlformats.org/officeDocument/2006/relationships/image" Target="../media/image6.emf"/><Relationship Id="rId9" Type="http://schemas.openxmlformats.org/officeDocument/2006/relationships/image" Target="../media/image3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13" Type="http://schemas.openxmlformats.org/officeDocument/2006/relationships/image" Target="../media/image34.png"/><Relationship Id="rId3" Type="http://schemas.openxmlformats.org/officeDocument/2006/relationships/image" Target="../media/image5.emf"/><Relationship Id="rId7" Type="http://schemas.openxmlformats.org/officeDocument/2006/relationships/image" Target="../media/image42.png"/><Relationship Id="rId12" Type="http://schemas.openxmlformats.org/officeDocument/2006/relationships/image" Target="../media/image4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openxmlformats.org/officeDocument/2006/relationships/image" Target="../media/image46.jpg"/><Relationship Id="rId5" Type="http://schemas.openxmlformats.org/officeDocument/2006/relationships/image" Target="../media/image7.emf"/><Relationship Id="rId10" Type="http://schemas.openxmlformats.org/officeDocument/2006/relationships/image" Target="../media/image45.png"/><Relationship Id="rId4" Type="http://schemas.openxmlformats.org/officeDocument/2006/relationships/image" Target="../media/image6.emf"/><Relationship Id="rId9" Type="http://schemas.openxmlformats.org/officeDocument/2006/relationships/image" Target="../media/image44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3.jpg"/><Relationship Id="rId3" Type="http://schemas.openxmlformats.org/officeDocument/2006/relationships/image" Target="../media/image5.emf"/><Relationship Id="rId7" Type="http://schemas.openxmlformats.org/officeDocument/2006/relationships/image" Target="../media/image49.png"/><Relationship Id="rId12" Type="http://schemas.openxmlformats.org/officeDocument/2006/relationships/image" Target="../media/image4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8.png"/><Relationship Id="rId11" Type="http://schemas.openxmlformats.org/officeDocument/2006/relationships/image" Target="../media/image52.jpg"/><Relationship Id="rId5" Type="http://schemas.openxmlformats.org/officeDocument/2006/relationships/image" Target="../media/image7.emf"/><Relationship Id="rId10" Type="http://schemas.openxmlformats.org/officeDocument/2006/relationships/image" Target="../media/image42.png"/><Relationship Id="rId4" Type="http://schemas.openxmlformats.org/officeDocument/2006/relationships/image" Target="../media/image6.emf"/><Relationship Id="rId9" Type="http://schemas.openxmlformats.org/officeDocument/2006/relationships/image" Target="../media/image51.png"/><Relationship Id="rId14" Type="http://schemas.openxmlformats.org/officeDocument/2006/relationships/image" Target="../media/image4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5.jp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7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8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9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1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2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3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emf"/><Relationship Id="rId4" Type="http://schemas.openxmlformats.org/officeDocument/2006/relationships/image" Target="../media/image6.emf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Web Application on Cloud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1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43D47F-0850-4C54-ECA1-347E5868710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B9679C1-BC8C-6DA1-DAAC-A17D4D80D152}"/>
              </a:ext>
            </a:extLst>
          </p:cNvPr>
          <p:cNvSpPr/>
          <p:nvPr/>
        </p:nvSpPr>
        <p:spPr>
          <a:xfrm>
            <a:off x="974708" y="2835973"/>
            <a:ext cx="10242584" cy="1891999"/>
          </a:xfrm>
          <a:prstGeom prst="rect">
            <a:avLst/>
          </a:prstGeom>
          <a:solidFill>
            <a:srgbClr val="F9F9F9"/>
          </a:solidFill>
          <a:ln>
            <a:noFill/>
          </a:ln>
          <a:effectLst>
            <a:outerShdw blurRad="50800" dist="38100" dir="5400000" algn="t" rotWithShape="0">
              <a:prstClr val="black">
                <a:alpha val="11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121900" tIns="60933" rIns="121900" bIns="60933" rtlCol="0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586575" y="339777"/>
            <a:ext cx="839192" cy="839192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25;p35">
            <a:extLst>
              <a:ext uri="{FF2B5EF4-FFF2-40B4-BE49-F238E27FC236}">
                <a16:creationId xmlns:a16="http://schemas.microsoft.com/office/drawing/2014/main" id="{291948C9-9A2C-87BE-CE08-117DF3B40FEB}"/>
              </a:ext>
            </a:extLst>
          </p:cNvPr>
          <p:cNvSpPr txBox="1"/>
          <p:nvPr/>
        </p:nvSpPr>
        <p:spPr>
          <a:xfrm>
            <a:off x="1238600" y="3025047"/>
            <a:ext cx="10320821" cy="1410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t" anchorCtr="0">
            <a:noAutofit/>
          </a:bodyPr>
          <a:lstStyle/>
          <a:p>
            <a:pPr>
              <a:lnSpc>
                <a:spcPct val="90000"/>
              </a:lnSpc>
              <a:buClr>
                <a:srgbClr val="000000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Course :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Mastering DevOps</a:t>
            </a:r>
          </a:p>
          <a:p>
            <a:pPr>
              <a:lnSpc>
                <a:spcPct val="90000"/>
              </a:lnSpc>
              <a:spcBef>
                <a:spcPts val="1333"/>
              </a:spcBef>
              <a:buClr>
                <a:srgbClr val="000000"/>
              </a:buClr>
              <a:buSzPts val="1800"/>
            </a:pPr>
            <a:r>
              <a:rPr lang="en-US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Lecture On :</a:t>
            </a:r>
            <a:r>
              <a:rPr lang="en-US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US" sz="2400" dirty="0">
                <a:latin typeface="Proxima Nova"/>
                <a:ea typeface="Proxima Nova"/>
                <a:cs typeface="Proxima Nova"/>
                <a:sym typeface="Proxima Nova"/>
              </a:rPr>
              <a:t>Web Application on Cloud</a:t>
            </a:r>
            <a:endParaRPr lang="en-US" sz="2400" dirty="0">
              <a:latin typeface="Calibri"/>
              <a:ea typeface="Calibri"/>
              <a:cs typeface="Calibri"/>
              <a:sym typeface="Calibri"/>
            </a:endParaRPr>
          </a:p>
          <a:p>
            <a:pPr>
              <a:lnSpc>
                <a:spcPct val="90000"/>
              </a:lnSpc>
              <a:spcBef>
                <a:spcPts val="1333"/>
              </a:spcBef>
              <a:buClr>
                <a:schemeClr val="dk1"/>
              </a:buClr>
              <a:buSzPts val="1800"/>
            </a:pPr>
            <a:r>
              <a:rPr lang="en-IN" sz="2400" b="1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Instructor:</a:t>
            </a:r>
            <a:r>
              <a:rPr lang="en-IN" sz="2400" dirty="0">
                <a:solidFill>
                  <a:srgbClr val="004F9B"/>
                </a:solidFill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r>
              <a:rPr lang="en-IN" sz="2400" dirty="0">
                <a:latin typeface="Proxima Nova"/>
                <a:ea typeface="Proxima Nova"/>
                <a:cs typeface="Proxima Nova"/>
                <a:sym typeface="Proxima Nova"/>
              </a:rPr>
              <a:t>Dipesh Garg</a:t>
            </a:r>
            <a:endParaRPr sz="24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A08B53D-9306-9D48-39AC-6DE1ADEA2CB3}"/>
              </a:ext>
            </a:extLst>
          </p:cNvPr>
          <p:cNvSpPr/>
          <p:nvPr/>
        </p:nvSpPr>
        <p:spPr>
          <a:xfrm>
            <a:off x="502022" y="554705"/>
            <a:ext cx="4035748" cy="105385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9F23375-B8AB-D09C-AE78-7CB2ACA91B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2181" y="674400"/>
            <a:ext cx="1214204" cy="3211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5638F4F-FD5E-21E6-1E9F-FDC54ACC9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" y="-6519"/>
            <a:ext cx="2242807" cy="17835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862FBDC-6DA2-B87B-EE85-C2E7BA6FF1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40112" y="-13039"/>
            <a:ext cx="964928" cy="122063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ACF819-EB7A-C5FA-9359-22256A6A507F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11000"/>
          </a:blip>
          <a:stretch>
            <a:fillRect/>
          </a:stretch>
        </p:blipFill>
        <p:spPr>
          <a:xfrm rot="10800000">
            <a:off x="11253151" y="6109915"/>
            <a:ext cx="940736" cy="7480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EE7E7C-67F5-30B2-6350-6BDF088EE9E8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27000"/>
          </a:blip>
          <a:stretch>
            <a:fillRect/>
          </a:stretch>
        </p:blipFill>
        <p:spPr>
          <a:xfrm rot="10800000">
            <a:off x="0" y="6388576"/>
            <a:ext cx="371088" cy="469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9278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561;p1">
            <a:extLst>
              <a:ext uri="{FF2B5EF4-FFF2-40B4-BE49-F238E27FC236}">
                <a16:creationId xmlns:a16="http://schemas.microsoft.com/office/drawing/2014/main" id="{4FB56273-C2F3-A9A6-F2B2-5D9359788774}"/>
              </a:ext>
            </a:extLst>
          </p:cNvPr>
          <p:cNvGrpSpPr/>
          <p:nvPr/>
        </p:nvGrpSpPr>
        <p:grpSpPr>
          <a:xfrm>
            <a:off x="5967049" y="2929679"/>
            <a:ext cx="3183553" cy="1495313"/>
            <a:chOff x="8563760" y="1258645"/>
            <a:chExt cx="3183553" cy="1495313"/>
          </a:xfrm>
        </p:grpSpPr>
        <p:sp>
          <p:nvSpPr>
            <p:cNvPr id="10" name="Google Shape;2562;p1">
              <a:extLst>
                <a:ext uri="{FF2B5EF4-FFF2-40B4-BE49-F238E27FC236}">
                  <a16:creationId xmlns:a16="http://schemas.microsoft.com/office/drawing/2014/main" id="{244F335B-4FBF-4392-7FB1-0C4254583196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solidFill>
              <a:srgbClr val="FFFFFF"/>
            </a:solidFill>
            <a:ln w="234950" cap="flat" cmpd="sng">
              <a:solidFill>
                <a:srgbClr val="FAA726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563;p1">
              <a:extLst>
                <a:ext uri="{FF2B5EF4-FFF2-40B4-BE49-F238E27FC236}">
                  <a16:creationId xmlns:a16="http://schemas.microsoft.com/office/drawing/2014/main" id="{EC49CF8F-318B-4D53-C64F-54B0EA1FB1F2}"/>
                </a:ext>
              </a:extLst>
            </p:cNvPr>
            <p:cNvSpPr/>
            <p:nvPr/>
          </p:nvSpPr>
          <p:spPr>
            <a:xfrm>
              <a:off x="9031738" y="1378212"/>
              <a:ext cx="2715575" cy="1260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" name="Google Shape;2564;p1">
            <a:extLst>
              <a:ext uri="{FF2B5EF4-FFF2-40B4-BE49-F238E27FC236}">
                <a16:creationId xmlns:a16="http://schemas.microsoft.com/office/drawing/2014/main" id="{C1E68C90-8BA2-AF7F-024E-251E4921A29B}"/>
              </a:ext>
            </a:extLst>
          </p:cNvPr>
          <p:cNvSpPr txBox="1"/>
          <p:nvPr/>
        </p:nvSpPr>
        <p:spPr>
          <a:xfrm>
            <a:off x="6964013" y="3354171"/>
            <a:ext cx="1914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A5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</a:rPr>
              <a:t>Introduction to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7A526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7A526"/>
                </a:solidFill>
                <a:latin typeface="Lato"/>
                <a:ea typeface="Lato"/>
                <a:cs typeface="Lato"/>
                <a:sym typeface="Lato"/>
              </a:rPr>
              <a:t>Web Applications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" name="Google Shape;2565;p1">
            <a:extLst>
              <a:ext uri="{FF2B5EF4-FFF2-40B4-BE49-F238E27FC236}">
                <a16:creationId xmlns:a16="http://schemas.microsoft.com/office/drawing/2014/main" id="{8F25C8F6-D9F6-80EF-3827-DCBE8850F850}"/>
              </a:ext>
            </a:extLst>
          </p:cNvPr>
          <p:cNvGrpSpPr/>
          <p:nvPr/>
        </p:nvGrpSpPr>
        <p:grpSpPr>
          <a:xfrm flipH="1">
            <a:off x="3033123" y="3824296"/>
            <a:ext cx="3078409" cy="1495313"/>
            <a:chOff x="8563760" y="1258645"/>
            <a:chExt cx="3078409" cy="1495313"/>
          </a:xfrm>
        </p:grpSpPr>
        <p:sp>
          <p:nvSpPr>
            <p:cNvPr id="14" name="Google Shape;2566;p1">
              <a:extLst>
                <a:ext uri="{FF2B5EF4-FFF2-40B4-BE49-F238E27FC236}">
                  <a16:creationId xmlns:a16="http://schemas.microsoft.com/office/drawing/2014/main" id="{FA0FA763-44A0-7530-59DB-A5C3AD5D2F50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4890E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567;p1">
              <a:extLst>
                <a:ext uri="{FF2B5EF4-FFF2-40B4-BE49-F238E27FC236}">
                  <a16:creationId xmlns:a16="http://schemas.microsoft.com/office/drawing/2014/main" id="{31EF1B79-E963-7AD8-363B-97009BC50FCC}"/>
                </a:ext>
              </a:extLst>
            </p:cNvPr>
            <p:cNvSpPr/>
            <p:nvPr/>
          </p:nvSpPr>
          <p:spPr>
            <a:xfrm>
              <a:off x="9023501" y="1378151"/>
              <a:ext cx="2618668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" name="Google Shape;2568;p1">
            <a:extLst>
              <a:ext uri="{FF2B5EF4-FFF2-40B4-BE49-F238E27FC236}">
                <a16:creationId xmlns:a16="http://schemas.microsoft.com/office/drawing/2014/main" id="{E93028A6-733F-098A-B8E7-DBCF142A2D4C}"/>
              </a:ext>
            </a:extLst>
          </p:cNvPr>
          <p:cNvSpPr txBox="1"/>
          <p:nvPr/>
        </p:nvSpPr>
        <p:spPr>
          <a:xfrm>
            <a:off x="3250471" y="4267809"/>
            <a:ext cx="174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890E4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4890E4"/>
                </a:solidFill>
                <a:latin typeface="Lato"/>
                <a:ea typeface="Lato"/>
                <a:cs typeface="Lato"/>
                <a:sym typeface="Lato"/>
              </a:rPr>
              <a:t>Application Architectures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7" name="Google Shape;2569;p1">
            <a:extLst>
              <a:ext uri="{FF2B5EF4-FFF2-40B4-BE49-F238E27FC236}">
                <a16:creationId xmlns:a16="http://schemas.microsoft.com/office/drawing/2014/main" id="{01114358-5537-39CE-D522-B361169D158F}"/>
              </a:ext>
            </a:extLst>
          </p:cNvPr>
          <p:cNvGrpSpPr/>
          <p:nvPr/>
        </p:nvGrpSpPr>
        <p:grpSpPr>
          <a:xfrm>
            <a:off x="5975287" y="4687842"/>
            <a:ext cx="3183591" cy="1495313"/>
            <a:chOff x="8563760" y="1258645"/>
            <a:chExt cx="3183591" cy="1495313"/>
          </a:xfrm>
        </p:grpSpPr>
        <p:sp>
          <p:nvSpPr>
            <p:cNvPr id="18" name="Google Shape;2570;p1">
              <a:extLst>
                <a:ext uri="{FF2B5EF4-FFF2-40B4-BE49-F238E27FC236}">
                  <a16:creationId xmlns:a16="http://schemas.microsoft.com/office/drawing/2014/main" id="{971D6FC2-74AB-31A4-A4C5-D37BDF3D821B}"/>
                </a:ext>
              </a:extLst>
            </p:cNvPr>
            <p:cNvSpPr/>
            <p:nvPr/>
          </p:nvSpPr>
          <p:spPr>
            <a:xfrm>
              <a:off x="8563760" y="1258645"/>
              <a:ext cx="1795853" cy="1495313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234950" cap="flat" cmpd="sng">
              <a:solidFill>
                <a:srgbClr val="808080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571;p1">
              <a:extLst>
                <a:ext uri="{FF2B5EF4-FFF2-40B4-BE49-F238E27FC236}">
                  <a16:creationId xmlns:a16="http://schemas.microsoft.com/office/drawing/2014/main" id="{EA152786-60E3-3DA6-0195-A8160BF7592A}"/>
                </a:ext>
              </a:extLst>
            </p:cNvPr>
            <p:cNvSpPr/>
            <p:nvPr/>
          </p:nvSpPr>
          <p:spPr>
            <a:xfrm>
              <a:off x="9023500" y="1378151"/>
              <a:ext cx="2723851" cy="1259867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381000" sx="79000" sy="79000" algn="ctr" rotWithShape="0">
                <a:srgbClr val="D0CECE"/>
              </a:outerShdw>
            </a:effectLst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" name="Google Shape;2572;p1">
            <a:extLst>
              <a:ext uri="{FF2B5EF4-FFF2-40B4-BE49-F238E27FC236}">
                <a16:creationId xmlns:a16="http://schemas.microsoft.com/office/drawing/2014/main" id="{64E19BDD-B7A5-8145-6589-3FE32CC8788A}"/>
              </a:ext>
            </a:extLst>
          </p:cNvPr>
          <p:cNvSpPr txBox="1"/>
          <p:nvPr/>
        </p:nvSpPr>
        <p:spPr>
          <a:xfrm>
            <a:off x="6964013" y="5112334"/>
            <a:ext cx="17460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8080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808080"/>
                </a:solidFill>
                <a:latin typeface="Lato"/>
                <a:ea typeface="Lato"/>
                <a:cs typeface="Lato"/>
                <a:sym typeface="Lato"/>
              </a:rPr>
              <a:t>Scaling and Load Balancing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573;p1">
            <a:extLst>
              <a:ext uri="{FF2B5EF4-FFF2-40B4-BE49-F238E27FC236}">
                <a16:creationId xmlns:a16="http://schemas.microsoft.com/office/drawing/2014/main" id="{F5523234-6993-D0C0-156E-03597F1F5D8E}"/>
              </a:ext>
            </a:extLst>
          </p:cNvPr>
          <p:cNvSpPr txBox="1"/>
          <p:nvPr/>
        </p:nvSpPr>
        <p:spPr>
          <a:xfrm>
            <a:off x="3886536" y="1299394"/>
            <a:ext cx="4269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 APPLICATION ON THE CLOUD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" name="Google Shape;2574;p1">
            <a:extLst>
              <a:ext uri="{FF2B5EF4-FFF2-40B4-BE49-F238E27FC236}">
                <a16:creationId xmlns:a16="http://schemas.microsoft.com/office/drawing/2014/main" id="{A0B9B551-916C-A911-8533-8D1AC5AF4CE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67128" y="3313596"/>
            <a:ext cx="804227" cy="75013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2575;p1">
            <a:extLst>
              <a:ext uri="{FF2B5EF4-FFF2-40B4-BE49-F238E27FC236}">
                <a16:creationId xmlns:a16="http://schemas.microsoft.com/office/drawing/2014/main" id="{D88E6104-7B0E-FB0B-ECEA-4C730D9DC924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 l="18438" t="22965" r="18440" b="15795"/>
          <a:stretch/>
        </p:blipFill>
        <p:spPr>
          <a:xfrm>
            <a:off x="4979812" y="4273592"/>
            <a:ext cx="869804" cy="5967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Google Shape;2576;p1">
            <a:extLst>
              <a:ext uri="{FF2B5EF4-FFF2-40B4-BE49-F238E27FC236}">
                <a16:creationId xmlns:a16="http://schemas.microsoft.com/office/drawing/2014/main" id="{6B29541B-0F72-4C5F-F460-DB12CCA1DBF2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92013" y="4828390"/>
            <a:ext cx="1231015" cy="123101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306457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1" name="Google Shape;2581;g23c268efcd9_0_1956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4</a:t>
            </a:fld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82" name="Google Shape;2582;g23c268efcd9_0_1956"/>
          <p:cNvSpPr txBox="1"/>
          <p:nvPr/>
        </p:nvSpPr>
        <p:spPr>
          <a:xfrm>
            <a:off x="2099067" y="2401133"/>
            <a:ext cx="8351100" cy="23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Web Application</a:t>
            </a:r>
            <a:endParaRPr sz="4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83" name="Google Shape;2583;g23c268efcd9_0_1956"/>
          <p:cNvSpPr txBox="1">
            <a:spLocks noGrp="1"/>
          </p:cNvSpPr>
          <p:nvPr>
            <p:ph type="ftr" idx="11"/>
          </p:nvPr>
        </p:nvSpPr>
        <p:spPr>
          <a:xfrm>
            <a:off x="4375300" y="6356367"/>
            <a:ext cx="6302400" cy="365100"/>
          </a:xfrm>
          <a:prstGeom prst="rect">
            <a:avLst/>
          </a:prstGeom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Web Application on Cloud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588;p3">
            <a:extLst>
              <a:ext uri="{FF2B5EF4-FFF2-40B4-BE49-F238E27FC236}">
                <a16:creationId xmlns:a16="http://schemas.microsoft.com/office/drawing/2014/main" id="{E1EB3836-C61E-C6F4-8A4F-FE485C4F81C7}"/>
              </a:ext>
            </a:extLst>
          </p:cNvPr>
          <p:cNvSpPr txBox="1"/>
          <p:nvPr/>
        </p:nvSpPr>
        <p:spPr>
          <a:xfrm>
            <a:off x="9137222" y="2051863"/>
            <a:ext cx="2269500" cy="474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Monolithic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Service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-o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riented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Advantages and disadvantages of using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icroservice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Difference between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onolithic and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icro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ervice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ase: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Uber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Brief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ntroduction to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microservice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tools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Serverless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589;p3">
            <a:extLst>
              <a:ext uri="{FF2B5EF4-FFF2-40B4-BE49-F238E27FC236}">
                <a16:creationId xmlns:a16="http://schemas.microsoft.com/office/drawing/2014/main" id="{AD29F64F-9746-C0B7-FEE1-0719618A259C}"/>
              </a:ext>
            </a:extLst>
          </p:cNvPr>
          <p:cNvSpPr/>
          <p:nvPr/>
        </p:nvSpPr>
        <p:spPr>
          <a:xfrm>
            <a:off x="9030894" y="1195209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23AE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2590;p3">
            <a:extLst>
              <a:ext uri="{FF2B5EF4-FFF2-40B4-BE49-F238E27FC236}">
                <a16:creationId xmlns:a16="http://schemas.microsoft.com/office/drawing/2014/main" id="{F43AD4E3-3283-4EE2-03B7-2F4522A4178D}"/>
              </a:ext>
            </a:extLst>
          </p:cNvPr>
          <p:cNvSpPr/>
          <p:nvPr/>
        </p:nvSpPr>
        <p:spPr>
          <a:xfrm>
            <a:off x="9022854" y="1152509"/>
            <a:ext cx="2383946" cy="5754231"/>
          </a:xfrm>
          <a:custGeom>
            <a:avLst/>
            <a:gdLst/>
            <a:ahLst/>
            <a:cxnLst/>
            <a:rect l="l" t="t" r="r" b="b"/>
            <a:pathLst>
              <a:path w="2383946" h="5627610" extrusionOk="0">
                <a:moveTo>
                  <a:pt x="2372678" y="1752411"/>
                </a:moveTo>
                <a:cubicBezTo>
                  <a:pt x="2376271" y="2998473"/>
                  <a:pt x="2379865" y="4258824"/>
                  <a:pt x="2383458" y="5504886"/>
                </a:cubicBez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cubicBezTo>
                  <a:pt x="2386391" y="498594"/>
                  <a:pt x="2375037" y="936377"/>
                  <a:pt x="2377970" y="1312247"/>
                </a:cubicBezTo>
              </a:path>
            </a:pathLst>
          </a:custGeom>
          <a:noFill/>
          <a:ln w="63500" cap="rnd" cmpd="sng">
            <a:solidFill>
              <a:srgbClr val="23AE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591;p3">
            <a:extLst>
              <a:ext uri="{FF2B5EF4-FFF2-40B4-BE49-F238E27FC236}">
                <a16:creationId xmlns:a16="http://schemas.microsoft.com/office/drawing/2014/main" id="{F5741208-8C35-09B1-D23C-1724BF11AAB1}"/>
              </a:ext>
            </a:extLst>
          </p:cNvPr>
          <p:cNvSpPr/>
          <p:nvPr/>
        </p:nvSpPr>
        <p:spPr>
          <a:xfrm>
            <a:off x="8894144" y="1272007"/>
            <a:ext cx="2658014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Architecture of 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Web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592;p3">
            <a:extLst>
              <a:ext uri="{FF2B5EF4-FFF2-40B4-BE49-F238E27FC236}">
                <a16:creationId xmlns:a16="http://schemas.microsoft.com/office/drawing/2014/main" id="{B280A5DE-CC21-2117-D602-2AA9DD5B52DA}"/>
              </a:ext>
            </a:extLst>
          </p:cNvPr>
          <p:cNvSpPr txBox="1"/>
          <p:nvPr/>
        </p:nvSpPr>
        <p:spPr>
          <a:xfrm>
            <a:off x="6385826" y="2051863"/>
            <a:ext cx="2183400" cy="408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What is a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erver?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Need for web servers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it 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Apache HTTP 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Tomcat 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Working of the Apache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server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Difference between the Apache HTTP and Tomcat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ervers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Other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ervers: Windows IIS and Nginx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593;p3">
            <a:extLst>
              <a:ext uri="{FF2B5EF4-FFF2-40B4-BE49-F238E27FC236}">
                <a16:creationId xmlns:a16="http://schemas.microsoft.com/office/drawing/2014/main" id="{28535C6D-5A24-BF4A-57B8-71FDDF2DBB53}"/>
              </a:ext>
            </a:extLst>
          </p:cNvPr>
          <p:cNvSpPr/>
          <p:nvPr/>
        </p:nvSpPr>
        <p:spPr>
          <a:xfrm>
            <a:off x="6275722" y="1195734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2594;p3">
            <a:extLst>
              <a:ext uri="{FF2B5EF4-FFF2-40B4-BE49-F238E27FC236}">
                <a16:creationId xmlns:a16="http://schemas.microsoft.com/office/drawing/2014/main" id="{9BA3E32D-0074-2DE7-5F4B-0A8B5D2866D8}"/>
              </a:ext>
            </a:extLst>
          </p:cNvPr>
          <p:cNvSpPr/>
          <p:nvPr/>
        </p:nvSpPr>
        <p:spPr>
          <a:xfrm>
            <a:off x="6264250" y="2723655"/>
            <a:ext cx="2757481" cy="4078262"/>
          </a:xfrm>
          <a:custGeom>
            <a:avLst/>
            <a:gdLst/>
            <a:ahLst/>
            <a:cxnLst/>
            <a:rect l="l" t="t" r="r" b="b"/>
            <a:pathLst>
              <a:path w="2757481" h="4088483" extrusionOk="0">
                <a:moveTo>
                  <a:pt x="2757481" y="0"/>
                </a:moveTo>
                <a:lnTo>
                  <a:pt x="2389977" y="6649"/>
                </a:lnTo>
                <a:lnTo>
                  <a:pt x="2395995" y="3965759"/>
                </a:lnTo>
                <a:cubicBezTo>
                  <a:pt x="2395995" y="4033538"/>
                  <a:pt x="2341050" y="4088483"/>
                  <a:pt x="2273271" y="4088483"/>
                </a:cubicBezTo>
                <a:lnTo>
                  <a:pt x="135261" y="4088483"/>
                </a:lnTo>
                <a:cubicBezTo>
                  <a:pt x="67482" y="4088483"/>
                  <a:pt x="12537" y="4033538"/>
                  <a:pt x="12537" y="3965759"/>
                </a:cubicBezTo>
                <a:cubicBezTo>
                  <a:pt x="-7917" y="3318172"/>
                  <a:pt x="2812" y="888461"/>
                  <a:pt x="2812" y="232145"/>
                </a:cubicBezTo>
              </a:path>
            </a:pathLst>
          </a:custGeom>
          <a:noFill/>
          <a:ln w="63500" cap="rnd" cmpd="sng">
            <a:solidFill>
              <a:srgbClr val="5A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595;p3">
            <a:extLst>
              <a:ext uri="{FF2B5EF4-FFF2-40B4-BE49-F238E27FC236}">
                <a16:creationId xmlns:a16="http://schemas.microsoft.com/office/drawing/2014/main" id="{0D67E5D8-EC41-088C-3ABA-058982C5805C}"/>
              </a:ext>
            </a:extLst>
          </p:cNvPr>
          <p:cNvSpPr/>
          <p:nvPr/>
        </p:nvSpPr>
        <p:spPr>
          <a:xfrm>
            <a:off x="6266000" y="1181401"/>
            <a:ext cx="2392548" cy="357117"/>
          </a:xfrm>
          <a:custGeom>
            <a:avLst/>
            <a:gdLst/>
            <a:ahLst/>
            <a:cxnLst/>
            <a:rect l="l" t="t" r="r" b="b"/>
            <a:pathLst>
              <a:path w="2392548" h="1400460" extrusionOk="0">
                <a:moveTo>
                  <a:pt x="9092" y="1304345"/>
                </a:moveTo>
                <a:cubicBezTo>
                  <a:pt x="9092" y="1063634"/>
                  <a:pt x="-11364" y="356328"/>
                  <a:pt x="9090" y="122724"/>
                </a:cubicBezTo>
                <a:cubicBezTo>
                  <a:pt x="9090" y="54945"/>
                  <a:pt x="64035" y="0"/>
                  <a:pt x="131814" y="0"/>
                </a:cubicBezTo>
                <a:lnTo>
                  <a:pt x="2269824" y="0"/>
                </a:lnTo>
                <a:cubicBezTo>
                  <a:pt x="2337603" y="0"/>
                  <a:pt x="2392548" y="54945"/>
                  <a:pt x="2392548" y="122724"/>
                </a:cubicBezTo>
                <a:lnTo>
                  <a:pt x="2387700" y="1400460"/>
                </a:lnTo>
              </a:path>
            </a:pathLst>
          </a:custGeom>
          <a:noFill/>
          <a:ln w="63500" cap="rnd" cmpd="sng">
            <a:solidFill>
              <a:srgbClr val="5A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596;p3">
            <a:extLst>
              <a:ext uri="{FF2B5EF4-FFF2-40B4-BE49-F238E27FC236}">
                <a16:creationId xmlns:a16="http://schemas.microsoft.com/office/drawing/2014/main" id="{0F12D755-295D-F28A-198E-33FD992D79AD}"/>
              </a:ext>
            </a:extLst>
          </p:cNvPr>
          <p:cNvSpPr/>
          <p:nvPr/>
        </p:nvSpPr>
        <p:spPr>
          <a:xfrm>
            <a:off x="6264551" y="1175058"/>
            <a:ext cx="2371454" cy="8402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Web Servers Apache HTTP &amp; Tomcat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597;p3">
            <a:extLst>
              <a:ext uri="{FF2B5EF4-FFF2-40B4-BE49-F238E27FC236}">
                <a16:creationId xmlns:a16="http://schemas.microsoft.com/office/drawing/2014/main" id="{C1D3A107-4F70-D4C2-4E1F-166B4DA3427A}"/>
              </a:ext>
            </a:extLst>
          </p:cNvPr>
          <p:cNvSpPr/>
          <p:nvPr/>
        </p:nvSpPr>
        <p:spPr>
          <a:xfrm>
            <a:off x="8910242" y="2597619"/>
            <a:ext cx="231725" cy="231725"/>
          </a:xfrm>
          <a:prstGeom prst="ellipse">
            <a:avLst/>
          </a:prstGeom>
          <a:solidFill>
            <a:srgbClr val="FFFFFF"/>
          </a:solidFill>
          <a:ln w="63500" cap="flat" cmpd="sng">
            <a:solidFill>
              <a:srgbClr val="5A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2598;p3">
            <a:extLst>
              <a:ext uri="{FF2B5EF4-FFF2-40B4-BE49-F238E27FC236}">
                <a16:creationId xmlns:a16="http://schemas.microsoft.com/office/drawing/2014/main" id="{36109F8D-5ACB-FE0C-A465-0A6123AE8A82}"/>
              </a:ext>
            </a:extLst>
          </p:cNvPr>
          <p:cNvSpPr/>
          <p:nvPr/>
        </p:nvSpPr>
        <p:spPr>
          <a:xfrm>
            <a:off x="8976449" y="2663826"/>
            <a:ext cx="99311" cy="99311"/>
          </a:xfrm>
          <a:prstGeom prst="ellipse">
            <a:avLst/>
          </a:prstGeom>
          <a:solidFill>
            <a:srgbClr val="23AE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599;p3">
            <a:extLst>
              <a:ext uri="{FF2B5EF4-FFF2-40B4-BE49-F238E27FC236}">
                <a16:creationId xmlns:a16="http://schemas.microsoft.com/office/drawing/2014/main" id="{8289C2E1-B90B-2992-0822-16837A86D82D}"/>
              </a:ext>
            </a:extLst>
          </p:cNvPr>
          <p:cNvSpPr txBox="1"/>
          <p:nvPr/>
        </p:nvSpPr>
        <p:spPr>
          <a:xfrm>
            <a:off x="3621747" y="2051863"/>
            <a:ext cx="2183400" cy="290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verview of the one-tier and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wo-tier architectures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Three-tier architecture and its layers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Benefits of using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hree-tier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N-tier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600;p3">
            <a:extLst>
              <a:ext uri="{FF2B5EF4-FFF2-40B4-BE49-F238E27FC236}">
                <a16:creationId xmlns:a16="http://schemas.microsoft.com/office/drawing/2014/main" id="{AEA1CC7D-A396-35F9-AB04-B9995CF8897D}"/>
              </a:ext>
            </a:extLst>
          </p:cNvPr>
          <p:cNvSpPr/>
          <p:nvPr/>
        </p:nvSpPr>
        <p:spPr>
          <a:xfrm>
            <a:off x="3511643" y="1195209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601;p3">
            <a:extLst>
              <a:ext uri="{FF2B5EF4-FFF2-40B4-BE49-F238E27FC236}">
                <a16:creationId xmlns:a16="http://schemas.microsoft.com/office/drawing/2014/main" id="{BB3352CC-6258-BA2B-5CC6-DDCCD4116BB5}"/>
              </a:ext>
            </a:extLst>
          </p:cNvPr>
          <p:cNvSpPr/>
          <p:nvPr/>
        </p:nvSpPr>
        <p:spPr>
          <a:xfrm>
            <a:off x="3500150" y="2724673"/>
            <a:ext cx="2747041" cy="4082927"/>
          </a:xfrm>
          <a:custGeom>
            <a:avLst/>
            <a:gdLst/>
            <a:ahLst/>
            <a:cxnLst/>
            <a:rect l="l" t="t" r="r" b="b"/>
            <a:pathLst>
              <a:path w="2767799" h="4082927" extrusionOk="0">
                <a:moveTo>
                  <a:pt x="2767799" y="0"/>
                </a:moveTo>
                <a:lnTo>
                  <a:pt x="2389977" y="1093"/>
                </a:lnTo>
                <a:lnTo>
                  <a:pt x="2395995" y="3960203"/>
                </a:lnTo>
                <a:cubicBezTo>
                  <a:pt x="2395995" y="4027982"/>
                  <a:pt x="2341050" y="4082927"/>
                  <a:pt x="2273271" y="4082927"/>
                </a:cubicBezTo>
                <a:lnTo>
                  <a:pt x="135261" y="4082927"/>
                </a:lnTo>
                <a:cubicBezTo>
                  <a:pt x="67482" y="4082927"/>
                  <a:pt x="12537" y="4027982"/>
                  <a:pt x="12537" y="3960203"/>
                </a:cubicBezTo>
                <a:cubicBezTo>
                  <a:pt x="-7917" y="3312616"/>
                  <a:pt x="2812" y="882905"/>
                  <a:pt x="2812" y="226589"/>
                </a:cubicBezTo>
              </a:path>
            </a:pathLst>
          </a:custGeom>
          <a:noFill/>
          <a:ln w="63500" cap="rnd" cmpd="sng">
            <a:solidFill>
              <a:srgbClr val="4890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602;p3">
            <a:extLst>
              <a:ext uri="{FF2B5EF4-FFF2-40B4-BE49-F238E27FC236}">
                <a16:creationId xmlns:a16="http://schemas.microsoft.com/office/drawing/2014/main" id="{B7BCBDA4-7AE6-6CD2-E9AC-3FD9F975BF18}"/>
              </a:ext>
            </a:extLst>
          </p:cNvPr>
          <p:cNvSpPr/>
          <p:nvPr/>
        </p:nvSpPr>
        <p:spPr>
          <a:xfrm>
            <a:off x="3501925" y="1180875"/>
            <a:ext cx="2392548" cy="647713"/>
          </a:xfrm>
          <a:custGeom>
            <a:avLst/>
            <a:gdLst/>
            <a:ahLst/>
            <a:cxnLst/>
            <a:rect l="l" t="t" r="r" b="b"/>
            <a:pathLst>
              <a:path w="2392548" h="1400460" extrusionOk="0">
                <a:moveTo>
                  <a:pt x="9092" y="1304345"/>
                </a:moveTo>
                <a:cubicBezTo>
                  <a:pt x="9092" y="1063634"/>
                  <a:pt x="-11364" y="356328"/>
                  <a:pt x="9090" y="122724"/>
                </a:cubicBezTo>
                <a:cubicBezTo>
                  <a:pt x="9090" y="54945"/>
                  <a:pt x="64035" y="0"/>
                  <a:pt x="131814" y="0"/>
                </a:cubicBezTo>
                <a:lnTo>
                  <a:pt x="2269824" y="0"/>
                </a:lnTo>
                <a:cubicBezTo>
                  <a:pt x="2337603" y="0"/>
                  <a:pt x="2392548" y="54945"/>
                  <a:pt x="2392548" y="122724"/>
                </a:cubicBezTo>
                <a:lnTo>
                  <a:pt x="2387700" y="1400460"/>
                </a:lnTo>
              </a:path>
            </a:pathLst>
          </a:custGeom>
          <a:noFill/>
          <a:ln w="63500" cap="rnd" cmpd="sng">
            <a:solidFill>
              <a:srgbClr val="4890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603;p3">
            <a:extLst>
              <a:ext uri="{FF2B5EF4-FFF2-40B4-BE49-F238E27FC236}">
                <a16:creationId xmlns:a16="http://schemas.microsoft.com/office/drawing/2014/main" id="{9C7C5C32-F12A-1AFA-6B47-0DC8F2C327D7}"/>
              </a:ext>
            </a:extLst>
          </p:cNvPr>
          <p:cNvSpPr/>
          <p:nvPr/>
        </p:nvSpPr>
        <p:spPr>
          <a:xfrm>
            <a:off x="3494686" y="1272006"/>
            <a:ext cx="241842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Three-</a:t>
            </a:r>
            <a:r>
              <a:rPr lang="en-US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ier  structure of a Web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604;p3">
            <a:extLst>
              <a:ext uri="{FF2B5EF4-FFF2-40B4-BE49-F238E27FC236}">
                <a16:creationId xmlns:a16="http://schemas.microsoft.com/office/drawing/2014/main" id="{42249AAB-AE7F-93B9-B3AD-81944C722576}"/>
              </a:ext>
            </a:extLst>
          </p:cNvPr>
          <p:cNvSpPr/>
          <p:nvPr/>
        </p:nvSpPr>
        <p:spPr>
          <a:xfrm>
            <a:off x="6146163" y="2597094"/>
            <a:ext cx="231725" cy="231725"/>
          </a:xfrm>
          <a:prstGeom prst="ellipse">
            <a:avLst/>
          </a:prstGeom>
          <a:solidFill>
            <a:srgbClr val="FFFFFF"/>
          </a:solidFill>
          <a:ln w="63500" cap="flat" cmpd="sng">
            <a:solidFill>
              <a:srgbClr val="4890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05;p3">
            <a:extLst>
              <a:ext uri="{FF2B5EF4-FFF2-40B4-BE49-F238E27FC236}">
                <a16:creationId xmlns:a16="http://schemas.microsoft.com/office/drawing/2014/main" id="{D470327E-6627-F6FC-6AB7-CFC03C3EB48B}"/>
              </a:ext>
            </a:extLst>
          </p:cNvPr>
          <p:cNvSpPr/>
          <p:nvPr/>
        </p:nvSpPr>
        <p:spPr>
          <a:xfrm>
            <a:off x="6212370" y="2663301"/>
            <a:ext cx="99311" cy="99311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606;p3">
            <a:extLst>
              <a:ext uri="{FF2B5EF4-FFF2-40B4-BE49-F238E27FC236}">
                <a16:creationId xmlns:a16="http://schemas.microsoft.com/office/drawing/2014/main" id="{BF30F295-91CD-7817-3979-5AE585303708}"/>
              </a:ext>
            </a:extLst>
          </p:cNvPr>
          <p:cNvSpPr txBox="1"/>
          <p:nvPr/>
        </p:nvSpPr>
        <p:spPr>
          <a:xfrm>
            <a:off x="811055" y="2051863"/>
            <a:ext cx="2332800" cy="22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Brief introduction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How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 works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Benefits of using a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Website vs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Commonly used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607;p3">
            <a:extLst>
              <a:ext uri="{FF2B5EF4-FFF2-40B4-BE49-F238E27FC236}">
                <a16:creationId xmlns:a16="http://schemas.microsoft.com/office/drawing/2014/main" id="{4692DB75-C03C-A69E-5AAF-10D0EB425685}"/>
              </a:ext>
            </a:extLst>
          </p:cNvPr>
          <p:cNvSpPr/>
          <p:nvPr/>
        </p:nvSpPr>
        <p:spPr>
          <a:xfrm>
            <a:off x="759319" y="1195209"/>
            <a:ext cx="2384512" cy="799926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F4A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608;p3">
            <a:extLst>
              <a:ext uri="{FF2B5EF4-FFF2-40B4-BE49-F238E27FC236}">
                <a16:creationId xmlns:a16="http://schemas.microsoft.com/office/drawing/2014/main" id="{0B3149E0-F869-1BE1-2B92-DC6094BF99D1}"/>
              </a:ext>
            </a:extLst>
          </p:cNvPr>
          <p:cNvSpPr/>
          <p:nvPr/>
        </p:nvSpPr>
        <p:spPr>
          <a:xfrm>
            <a:off x="760375" y="1175049"/>
            <a:ext cx="2745624" cy="5641679"/>
          </a:xfrm>
          <a:custGeom>
            <a:avLst/>
            <a:gdLst/>
            <a:ahLst/>
            <a:cxnLst/>
            <a:rect l="l" t="t" r="r" b="b"/>
            <a:pathLst>
              <a:path w="2745624" h="5627610" extrusionOk="0">
                <a:moveTo>
                  <a:pt x="2745624" y="1550459"/>
                </a:moveTo>
                <a:lnTo>
                  <a:pt x="2377440" y="1545776"/>
                </a:lnTo>
                <a:lnTo>
                  <a:pt x="2383458" y="5504886"/>
                </a:ln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lnTo>
                  <a:pt x="2378610" y="1400460"/>
                </a:lnTo>
              </a:path>
            </a:pathLst>
          </a:custGeom>
          <a:noFill/>
          <a:ln w="63500" cap="rnd" cmpd="sng">
            <a:solidFill>
              <a:srgbClr val="F4AB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2609;p3">
            <a:extLst>
              <a:ext uri="{FF2B5EF4-FFF2-40B4-BE49-F238E27FC236}">
                <a16:creationId xmlns:a16="http://schemas.microsoft.com/office/drawing/2014/main" id="{2ECEAF30-D043-D410-0402-9E7ADA530182}"/>
              </a:ext>
            </a:extLst>
          </p:cNvPr>
          <p:cNvSpPr/>
          <p:nvPr/>
        </p:nvSpPr>
        <p:spPr>
          <a:xfrm>
            <a:off x="772767" y="1272007"/>
            <a:ext cx="23576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What </a:t>
            </a:r>
            <a:r>
              <a:rPr lang="en-US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 a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Web Application?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610;p3">
            <a:extLst>
              <a:ext uri="{FF2B5EF4-FFF2-40B4-BE49-F238E27FC236}">
                <a16:creationId xmlns:a16="http://schemas.microsoft.com/office/drawing/2014/main" id="{B00B251E-A655-2C77-622E-D823A82000E5}"/>
              </a:ext>
            </a:extLst>
          </p:cNvPr>
          <p:cNvSpPr/>
          <p:nvPr/>
        </p:nvSpPr>
        <p:spPr>
          <a:xfrm>
            <a:off x="3393839" y="2597094"/>
            <a:ext cx="231725" cy="231725"/>
          </a:xfrm>
          <a:prstGeom prst="ellipse">
            <a:avLst/>
          </a:prstGeom>
          <a:solidFill>
            <a:srgbClr val="FFFFFF"/>
          </a:solidFill>
          <a:ln w="63500" cap="flat" cmpd="sng">
            <a:solidFill>
              <a:srgbClr val="F4AB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2611;p3">
            <a:extLst>
              <a:ext uri="{FF2B5EF4-FFF2-40B4-BE49-F238E27FC236}">
                <a16:creationId xmlns:a16="http://schemas.microsoft.com/office/drawing/2014/main" id="{2928228C-7FA7-1314-630E-879F32EAC03E}"/>
              </a:ext>
            </a:extLst>
          </p:cNvPr>
          <p:cNvSpPr/>
          <p:nvPr/>
        </p:nvSpPr>
        <p:spPr>
          <a:xfrm>
            <a:off x="3460046" y="2663301"/>
            <a:ext cx="99311" cy="99311"/>
          </a:xfrm>
          <a:prstGeom prst="ellipse">
            <a:avLst/>
          </a:pr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612;p3">
            <a:extLst>
              <a:ext uri="{FF2B5EF4-FFF2-40B4-BE49-F238E27FC236}">
                <a16:creationId xmlns:a16="http://schemas.microsoft.com/office/drawing/2014/main" id="{FE05A7AC-2528-F38B-5B70-D23AEAFCB498}"/>
              </a:ext>
            </a:extLst>
          </p:cNvPr>
          <p:cNvSpPr txBox="1"/>
          <p:nvPr/>
        </p:nvSpPr>
        <p:spPr>
          <a:xfrm>
            <a:off x="3143831" y="286405"/>
            <a:ext cx="5700885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SESSION OVERVIEW: INTRODUCTION TO WEB APPLICATIONS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7141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7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>
                      <p:stCondLst>
                        <p:cond delay="indefinite"/>
                      </p:stCondLst>
                      <p:childTnLst>
                        <p:par>
                          <p:cTn id="127" fill="hold">
                            <p:stCondLst>
                              <p:cond delay="0"/>
                            </p:stCondLst>
                            <p:childTnLst>
                              <p:par>
                                <p:cTn id="1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>
                      <p:stCondLst>
                        <p:cond delay="indefinite"/>
                      </p:stCondLst>
                      <p:childTnLst>
                        <p:par>
                          <p:cTn id="147" fill="hold">
                            <p:stCondLst>
                              <p:cond delay="0"/>
                            </p:stCondLst>
                            <p:childTnLst>
                              <p:par>
                                <p:cTn id="1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500"/>
                            </p:stCondLst>
                            <p:childTnLst>
                              <p:par>
                                <p:cTn id="15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>
                      <p:stCondLst>
                        <p:cond delay="indefinite"/>
                      </p:stCondLst>
                      <p:childTnLst>
                        <p:par>
                          <p:cTn id="167" fill="hold">
                            <p:stCondLst>
                              <p:cond delay="0"/>
                            </p:stCondLst>
                            <p:childTnLst>
                              <p:par>
                                <p:cTn id="16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5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0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>
                      <p:stCondLst>
                        <p:cond delay="indefinite"/>
                      </p:stCondLst>
                      <p:childTnLst>
                        <p:par>
                          <p:cTn id="192" fill="hold">
                            <p:stCondLst>
                              <p:cond delay="0"/>
                            </p:stCondLst>
                            <p:childTnLst>
                              <p:par>
                                <p:cTn id="1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5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6" fill="hold">
                      <p:stCondLst>
                        <p:cond delay="indefinite"/>
                      </p:stCondLst>
                      <p:childTnLst>
                        <p:par>
                          <p:cTn id="197" fill="hold">
                            <p:stCondLst>
                              <p:cond delay="0"/>
                            </p:stCondLst>
                            <p:childTnLst>
                              <p:par>
                                <p:cTn id="19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0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5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6" fill="hold">
                      <p:stCondLst>
                        <p:cond delay="indefinite"/>
                      </p:stCondLst>
                      <p:childTnLst>
                        <p:par>
                          <p:cTn id="207" fill="hold">
                            <p:stCondLst>
                              <p:cond delay="0"/>
                            </p:stCondLst>
                            <p:childTnLst>
                              <p:par>
                                <p:cTn id="20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7" dur="500"/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0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3" dur="500"/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6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3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7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0" dur="500"/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3" dur="500"/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6" dur="500"/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7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0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3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6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2" dur="500"/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5" dur="500"/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8" dur="500"/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8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1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4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617;p4">
            <a:extLst>
              <a:ext uri="{FF2B5EF4-FFF2-40B4-BE49-F238E27FC236}">
                <a16:creationId xmlns:a16="http://schemas.microsoft.com/office/drawing/2014/main" id="{74AED61F-82F2-A9FF-B0A6-6C5D67CD5258}"/>
              </a:ext>
            </a:extLst>
          </p:cNvPr>
          <p:cNvGrpSpPr/>
          <p:nvPr/>
        </p:nvGrpSpPr>
        <p:grpSpPr>
          <a:xfrm>
            <a:off x="1526187" y="2131274"/>
            <a:ext cx="9139626" cy="3016077"/>
            <a:chOff x="1526187" y="1920961"/>
            <a:chExt cx="9139626" cy="3016077"/>
          </a:xfrm>
        </p:grpSpPr>
        <p:pic>
          <p:nvPicPr>
            <p:cNvPr id="10" name="Google Shape;2618;p4">
              <a:extLst>
                <a:ext uri="{FF2B5EF4-FFF2-40B4-BE49-F238E27FC236}">
                  <a16:creationId xmlns:a16="http://schemas.microsoft.com/office/drawing/2014/main" id="{518EBB47-8368-1D00-531C-7DB94FCA8C8B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096000" y="1920961"/>
              <a:ext cx="4569813" cy="3016077"/>
            </a:xfrm>
            <a:prstGeom prst="roundRect">
              <a:avLst>
                <a:gd name="adj" fmla="val 2838"/>
              </a:avLst>
            </a:prstGeom>
            <a:noFill/>
            <a:ln w="952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pic>
        <p:sp>
          <p:nvSpPr>
            <p:cNvPr id="11" name="Google Shape;2619;p4">
              <a:extLst>
                <a:ext uri="{FF2B5EF4-FFF2-40B4-BE49-F238E27FC236}">
                  <a16:creationId xmlns:a16="http://schemas.microsoft.com/office/drawing/2014/main" id="{BC93C76D-3197-AB93-C8D1-2505D58D55FE}"/>
                </a:ext>
              </a:extLst>
            </p:cNvPr>
            <p:cNvSpPr txBox="1"/>
            <p:nvPr/>
          </p:nvSpPr>
          <p:spPr>
            <a:xfrm>
              <a:off x="1526187" y="3013501"/>
              <a:ext cx="3914273" cy="8309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What </a:t>
              </a:r>
              <a:r>
                <a:rPr lang="en-US" sz="2400" b="1"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-US" sz="24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 a </a:t>
              </a:r>
              <a:endParaRPr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Web Application?</a:t>
              </a:r>
              <a:endParaRPr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4819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624;p5">
            <a:extLst>
              <a:ext uri="{FF2B5EF4-FFF2-40B4-BE49-F238E27FC236}">
                <a16:creationId xmlns:a16="http://schemas.microsoft.com/office/drawing/2014/main" id="{802371DC-E342-8211-AF57-65A40E00F849}"/>
              </a:ext>
            </a:extLst>
          </p:cNvPr>
          <p:cNvGrpSpPr/>
          <p:nvPr/>
        </p:nvGrpSpPr>
        <p:grpSpPr>
          <a:xfrm>
            <a:off x="6462093" y="1389755"/>
            <a:ext cx="4755398" cy="5047755"/>
            <a:chOff x="6096000" y="1034097"/>
            <a:chExt cx="4755398" cy="5552530"/>
          </a:xfrm>
        </p:grpSpPr>
        <p:pic>
          <p:nvPicPr>
            <p:cNvPr id="10" name="Google Shape;2625;p5">
              <a:extLst>
                <a:ext uri="{FF2B5EF4-FFF2-40B4-BE49-F238E27FC236}">
                  <a16:creationId xmlns:a16="http://schemas.microsoft.com/office/drawing/2014/main" id="{3396991E-AE88-909B-030B-F6FDDBE703A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6096000" y="1034097"/>
              <a:ext cx="4720683" cy="3147122"/>
            </a:xfrm>
            <a:prstGeom prst="roundRect">
              <a:avLst>
                <a:gd name="adj" fmla="val 2838"/>
              </a:avLst>
            </a:prstGeom>
            <a:noFill/>
            <a:ln w="952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pic>
        <p:pic>
          <p:nvPicPr>
            <p:cNvPr id="11" name="Google Shape;2626;p5">
              <a:extLst>
                <a:ext uri="{FF2B5EF4-FFF2-40B4-BE49-F238E27FC236}">
                  <a16:creationId xmlns:a16="http://schemas.microsoft.com/office/drawing/2014/main" id="{5D91FE0E-D0EE-2282-E05D-F17A80696B40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6096000" y="4347082"/>
              <a:ext cx="4755398" cy="2239545"/>
            </a:xfrm>
            <a:prstGeom prst="roundRect">
              <a:avLst>
                <a:gd name="adj" fmla="val 2838"/>
              </a:avLst>
            </a:prstGeom>
            <a:noFill/>
            <a:ln w="952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</p:pic>
      </p:grpSp>
      <p:sp>
        <p:nvSpPr>
          <p:cNvPr id="12" name="Google Shape;2627;p5">
            <a:extLst>
              <a:ext uri="{FF2B5EF4-FFF2-40B4-BE49-F238E27FC236}">
                <a16:creationId xmlns:a16="http://schemas.microsoft.com/office/drawing/2014/main" id="{9E83AF98-008C-40F4-92B0-94259478E9D1}"/>
              </a:ext>
            </a:extLst>
          </p:cNvPr>
          <p:cNvSpPr txBox="1"/>
          <p:nvPr/>
        </p:nvSpPr>
        <p:spPr>
          <a:xfrm>
            <a:off x="2066835" y="1319460"/>
            <a:ext cx="2718900" cy="75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BRIEF INTRODUCTION</a:t>
            </a:r>
            <a:endParaRPr/>
          </a:p>
        </p:txBody>
      </p:sp>
      <p:sp>
        <p:nvSpPr>
          <p:cNvPr id="13" name="Google Shape;2628;p5">
            <a:extLst>
              <a:ext uri="{FF2B5EF4-FFF2-40B4-BE49-F238E27FC236}">
                <a16:creationId xmlns:a16="http://schemas.microsoft.com/office/drawing/2014/main" id="{478FB03D-2C2E-DEBC-428F-E584D699E8BE}"/>
              </a:ext>
            </a:extLst>
          </p:cNvPr>
          <p:cNvSpPr txBox="1"/>
          <p:nvPr/>
        </p:nvSpPr>
        <p:spPr>
          <a:xfrm>
            <a:off x="974509" y="3726561"/>
            <a:ext cx="5487600" cy="755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a computer program that uses a web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browser and web technology to perform any task over the Internet.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Example: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Flipkart, BookMyShow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7589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633;p10">
            <a:extLst>
              <a:ext uri="{FF2B5EF4-FFF2-40B4-BE49-F238E27FC236}">
                <a16:creationId xmlns:a16="http://schemas.microsoft.com/office/drawing/2014/main" id="{7939153C-A038-C236-46F2-73799D488221}"/>
              </a:ext>
            </a:extLst>
          </p:cNvPr>
          <p:cNvSpPr txBox="1"/>
          <p:nvPr/>
        </p:nvSpPr>
        <p:spPr>
          <a:xfrm>
            <a:off x="6153374" y="2801671"/>
            <a:ext cx="2269500" cy="343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contains static content. It is public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y accessible to all 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user can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read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its contents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but not manipulate or affect its functioning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It is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server based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meaningless to have users log into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 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Breaking News, Aktu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634;p10">
            <a:extLst>
              <a:ext uri="{FF2B5EF4-FFF2-40B4-BE49-F238E27FC236}">
                <a16:creationId xmlns:a16="http://schemas.microsoft.com/office/drawing/2014/main" id="{857F00C5-F22D-C791-AF40-18A69D055003}"/>
              </a:ext>
            </a:extLst>
          </p:cNvPr>
          <p:cNvSpPr/>
          <p:nvPr/>
        </p:nvSpPr>
        <p:spPr>
          <a:xfrm>
            <a:off x="6047046" y="1945017"/>
            <a:ext cx="2384512" cy="663614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635;p10">
            <a:extLst>
              <a:ext uri="{FF2B5EF4-FFF2-40B4-BE49-F238E27FC236}">
                <a16:creationId xmlns:a16="http://schemas.microsoft.com/office/drawing/2014/main" id="{D49021B2-5609-7C87-8B3D-5727703CBA25}"/>
              </a:ext>
            </a:extLst>
          </p:cNvPr>
          <p:cNvSpPr/>
          <p:nvPr/>
        </p:nvSpPr>
        <p:spPr>
          <a:xfrm flipH="1">
            <a:off x="6039004" y="1934294"/>
            <a:ext cx="2383946" cy="4656961"/>
          </a:xfrm>
          <a:custGeom>
            <a:avLst/>
            <a:gdLst/>
            <a:ahLst/>
            <a:cxnLst/>
            <a:rect l="l" t="t" r="r" b="b"/>
            <a:pathLst>
              <a:path w="2383946" h="5627610" extrusionOk="0">
                <a:moveTo>
                  <a:pt x="2372678" y="1752411"/>
                </a:moveTo>
                <a:cubicBezTo>
                  <a:pt x="2376271" y="2998473"/>
                  <a:pt x="2379865" y="4258824"/>
                  <a:pt x="2383458" y="5504886"/>
                </a:cubicBez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cubicBezTo>
                  <a:pt x="2386391" y="498594"/>
                  <a:pt x="2375037" y="936377"/>
                  <a:pt x="2377970" y="1312247"/>
                </a:cubicBezTo>
              </a:path>
            </a:pathLst>
          </a:custGeom>
          <a:noFill/>
          <a:ln w="63500" cap="rnd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2636;p10">
            <a:extLst>
              <a:ext uri="{FF2B5EF4-FFF2-40B4-BE49-F238E27FC236}">
                <a16:creationId xmlns:a16="http://schemas.microsoft.com/office/drawing/2014/main" id="{244E74C9-D87E-846E-B4B2-B193A223C705}"/>
              </a:ext>
            </a:extLst>
          </p:cNvPr>
          <p:cNvSpPr/>
          <p:nvPr/>
        </p:nvSpPr>
        <p:spPr>
          <a:xfrm>
            <a:off x="6206260" y="2191092"/>
            <a:ext cx="2064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Website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2637;p10">
            <a:extLst>
              <a:ext uri="{FF2B5EF4-FFF2-40B4-BE49-F238E27FC236}">
                <a16:creationId xmlns:a16="http://schemas.microsoft.com/office/drawing/2014/main" id="{93DFB708-CA47-9EC5-FB60-57CC60421C8E}"/>
              </a:ext>
            </a:extLst>
          </p:cNvPr>
          <p:cNvSpPr txBox="1"/>
          <p:nvPr/>
        </p:nvSpPr>
        <p:spPr>
          <a:xfrm>
            <a:off x="3325654" y="2801671"/>
            <a:ext cx="2332800" cy="32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is designed for interactions with end users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user can read the conte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nt of web applications and manipulat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 the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is client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server based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mostly requires users to sign up/log in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Example: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Amazon, Facebook, etc.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638;p10">
            <a:extLst>
              <a:ext uri="{FF2B5EF4-FFF2-40B4-BE49-F238E27FC236}">
                <a16:creationId xmlns:a16="http://schemas.microsoft.com/office/drawing/2014/main" id="{A236B41F-6A49-7DEB-1A89-49ECD738537A}"/>
              </a:ext>
            </a:extLst>
          </p:cNvPr>
          <p:cNvSpPr/>
          <p:nvPr/>
        </p:nvSpPr>
        <p:spPr>
          <a:xfrm>
            <a:off x="3273918" y="1945017"/>
            <a:ext cx="2384512" cy="663614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639;p10">
            <a:extLst>
              <a:ext uri="{FF2B5EF4-FFF2-40B4-BE49-F238E27FC236}">
                <a16:creationId xmlns:a16="http://schemas.microsoft.com/office/drawing/2014/main" id="{F050ACEC-0402-EB23-E0CF-DE9B07D567CD}"/>
              </a:ext>
            </a:extLst>
          </p:cNvPr>
          <p:cNvSpPr/>
          <p:nvPr/>
        </p:nvSpPr>
        <p:spPr>
          <a:xfrm>
            <a:off x="3274975" y="1945007"/>
            <a:ext cx="2745624" cy="4656961"/>
          </a:xfrm>
          <a:custGeom>
            <a:avLst/>
            <a:gdLst/>
            <a:ahLst/>
            <a:cxnLst/>
            <a:rect l="l" t="t" r="r" b="b"/>
            <a:pathLst>
              <a:path w="2745624" h="5627610" extrusionOk="0">
                <a:moveTo>
                  <a:pt x="2745624" y="1550459"/>
                </a:moveTo>
                <a:lnTo>
                  <a:pt x="2377440" y="1545776"/>
                </a:lnTo>
                <a:lnTo>
                  <a:pt x="2383458" y="5504886"/>
                </a:ln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lnTo>
                  <a:pt x="2378610" y="1400460"/>
                </a:lnTo>
              </a:path>
            </a:pathLst>
          </a:custGeom>
          <a:noFill/>
          <a:ln w="63500" cap="rnd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2640;p10">
            <a:extLst>
              <a:ext uri="{FF2B5EF4-FFF2-40B4-BE49-F238E27FC236}">
                <a16:creationId xmlns:a16="http://schemas.microsoft.com/office/drawing/2014/main" id="{23E00D22-7244-6DB2-C08D-DE7DE94F6A30}"/>
              </a:ext>
            </a:extLst>
          </p:cNvPr>
          <p:cNvSpPr/>
          <p:nvPr/>
        </p:nvSpPr>
        <p:spPr>
          <a:xfrm>
            <a:off x="3434062" y="2191092"/>
            <a:ext cx="20642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Web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2641;p10">
            <a:extLst>
              <a:ext uri="{FF2B5EF4-FFF2-40B4-BE49-F238E27FC236}">
                <a16:creationId xmlns:a16="http://schemas.microsoft.com/office/drawing/2014/main" id="{0BF00F5F-2B1D-D3C8-2C52-D86718364011}"/>
              </a:ext>
            </a:extLst>
          </p:cNvPr>
          <p:cNvSpPr/>
          <p:nvPr/>
        </p:nvSpPr>
        <p:spPr>
          <a:xfrm>
            <a:off x="5908438" y="3346903"/>
            <a:ext cx="231725" cy="192238"/>
          </a:xfrm>
          <a:prstGeom prst="ellipse">
            <a:avLst/>
          </a:prstGeom>
          <a:solidFill>
            <a:schemeClr val="lt1"/>
          </a:solidFill>
          <a:ln w="6350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2642;p10">
            <a:extLst>
              <a:ext uri="{FF2B5EF4-FFF2-40B4-BE49-F238E27FC236}">
                <a16:creationId xmlns:a16="http://schemas.microsoft.com/office/drawing/2014/main" id="{5B1A7548-ABDB-3579-AF51-187ABD10B00A}"/>
              </a:ext>
            </a:extLst>
          </p:cNvPr>
          <p:cNvSpPr/>
          <p:nvPr/>
        </p:nvSpPr>
        <p:spPr>
          <a:xfrm>
            <a:off x="5974645" y="3413110"/>
            <a:ext cx="99311" cy="8238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643;p10">
            <a:extLst>
              <a:ext uri="{FF2B5EF4-FFF2-40B4-BE49-F238E27FC236}">
                <a16:creationId xmlns:a16="http://schemas.microsoft.com/office/drawing/2014/main" id="{45C0EA09-E590-C63B-9C1A-3AC2C29021E6}"/>
              </a:ext>
            </a:extLst>
          </p:cNvPr>
          <p:cNvSpPr txBox="1"/>
          <p:nvPr/>
        </p:nvSpPr>
        <p:spPr>
          <a:xfrm>
            <a:off x="1267328" y="1335024"/>
            <a:ext cx="9657300" cy="4345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DIFFERENCE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254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9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648;p6">
            <a:extLst>
              <a:ext uri="{FF2B5EF4-FFF2-40B4-BE49-F238E27FC236}">
                <a16:creationId xmlns:a16="http://schemas.microsoft.com/office/drawing/2014/main" id="{2A8C04BC-4A0F-C896-842D-8ECA52F99D06}"/>
              </a:ext>
            </a:extLst>
          </p:cNvPr>
          <p:cNvSpPr txBox="1">
            <a:spLocks/>
          </p:cNvSpPr>
          <p:nvPr/>
        </p:nvSpPr>
        <p:spPr>
          <a:xfrm>
            <a:off x="488805" y="420252"/>
            <a:ext cx="9776114" cy="108094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rgbClr val="000000"/>
              </a:buClr>
              <a:buSzPts val="2400"/>
              <a:buFont typeface="Arial" panose="020B0604020202020204" pitchFamily="34" charset="0"/>
              <a:buNone/>
            </a:pPr>
            <a:br>
              <a:rPr lang="en-US" sz="2400"/>
            </a:br>
            <a:endParaRPr lang="en-US" sz="2400"/>
          </a:p>
        </p:txBody>
      </p:sp>
      <p:sp>
        <p:nvSpPr>
          <p:cNvPr id="10" name="Google Shape;2649;p6">
            <a:extLst>
              <a:ext uri="{FF2B5EF4-FFF2-40B4-BE49-F238E27FC236}">
                <a16:creationId xmlns:a16="http://schemas.microsoft.com/office/drawing/2014/main" id="{14195499-C67C-B502-11C9-0B93F1A5D3A7}"/>
              </a:ext>
            </a:extLst>
          </p:cNvPr>
          <p:cNvSpPr txBox="1"/>
          <p:nvPr/>
        </p:nvSpPr>
        <p:spPr>
          <a:xfrm>
            <a:off x="1809439" y="942676"/>
            <a:ext cx="8890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WORKING OF A WEB APPLICATION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2650;p6">
            <a:extLst>
              <a:ext uri="{FF2B5EF4-FFF2-40B4-BE49-F238E27FC236}">
                <a16:creationId xmlns:a16="http://schemas.microsoft.com/office/drawing/2014/main" id="{8D5191E9-FB40-2FC2-70EE-CF67178BFCC5}"/>
              </a:ext>
            </a:extLst>
          </p:cNvPr>
          <p:cNvGrpSpPr/>
          <p:nvPr/>
        </p:nvGrpSpPr>
        <p:grpSpPr>
          <a:xfrm>
            <a:off x="849642" y="1484379"/>
            <a:ext cx="10492717" cy="5065607"/>
            <a:chOff x="281043" y="1268360"/>
            <a:chExt cx="11541989" cy="5572168"/>
          </a:xfrm>
        </p:grpSpPr>
        <p:sp>
          <p:nvSpPr>
            <p:cNvPr id="12" name="Google Shape;2651;p6">
              <a:extLst>
                <a:ext uri="{FF2B5EF4-FFF2-40B4-BE49-F238E27FC236}">
                  <a16:creationId xmlns:a16="http://schemas.microsoft.com/office/drawing/2014/main" id="{693C2822-0F93-5B1B-982B-F352AB70F0F6}"/>
                </a:ext>
              </a:extLst>
            </p:cNvPr>
            <p:cNvSpPr/>
            <p:nvPr/>
          </p:nvSpPr>
          <p:spPr>
            <a:xfrm>
              <a:off x="3384884" y="1268360"/>
              <a:ext cx="8438148" cy="5385319"/>
            </a:xfrm>
            <a:prstGeom prst="roundRect">
              <a:avLst>
                <a:gd name="adj" fmla="val 3787"/>
              </a:avLst>
            </a:prstGeom>
            <a:noFill/>
            <a:ln w="28575" cap="flat" cmpd="sng">
              <a:solidFill>
                <a:schemeClr val="accent3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652;p6">
              <a:extLst>
                <a:ext uri="{FF2B5EF4-FFF2-40B4-BE49-F238E27FC236}">
                  <a16:creationId xmlns:a16="http://schemas.microsoft.com/office/drawing/2014/main" id="{C0D17C1C-7D21-53C9-CCEE-95E11DCDBCDF}"/>
                </a:ext>
              </a:extLst>
            </p:cNvPr>
            <p:cNvSpPr/>
            <p:nvPr/>
          </p:nvSpPr>
          <p:spPr>
            <a:xfrm>
              <a:off x="3834062" y="1572469"/>
              <a:ext cx="2518611" cy="2743201"/>
            </a:xfrm>
            <a:prstGeom prst="roundRect">
              <a:avLst>
                <a:gd name="adj" fmla="val 378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653;p6">
              <a:extLst>
                <a:ext uri="{FF2B5EF4-FFF2-40B4-BE49-F238E27FC236}">
                  <a16:creationId xmlns:a16="http://schemas.microsoft.com/office/drawing/2014/main" id="{B3109A39-C144-8431-0404-1FC885BD688A}"/>
                </a:ext>
              </a:extLst>
            </p:cNvPr>
            <p:cNvSpPr/>
            <p:nvPr/>
          </p:nvSpPr>
          <p:spPr>
            <a:xfrm>
              <a:off x="7561943" y="1553394"/>
              <a:ext cx="3860036" cy="4485450"/>
            </a:xfrm>
            <a:prstGeom prst="roundRect">
              <a:avLst>
                <a:gd name="adj" fmla="val 378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Google Shape;2654;p6">
              <a:extLst>
                <a:ext uri="{FF2B5EF4-FFF2-40B4-BE49-F238E27FC236}">
                  <a16:creationId xmlns:a16="http://schemas.microsoft.com/office/drawing/2014/main" id="{120ED4FC-FAEC-F3A0-B740-EE7F54267D31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3495" r="23494"/>
            <a:stretch/>
          </p:blipFill>
          <p:spPr>
            <a:xfrm>
              <a:off x="4230985" y="1687686"/>
              <a:ext cx="1671315" cy="1802617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16" name="Google Shape;2655;p6">
              <a:extLst>
                <a:ext uri="{FF2B5EF4-FFF2-40B4-BE49-F238E27FC236}">
                  <a16:creationId xmlns:a16="http://schemas.microsoft.com/office/drawing/2014/main" id="{22B9C39B-9562-B046-0AB1-97C87E3AB3ED}"/>
                </a:ext>
              </a:extLst>
            </p:cNvPr>
            <p:cNvCxnSpPr/>
            <p:nvPr/>
          </p:nvCxnSpPr>
          <p:spPr>
            <a:xfrm>
              <a:off x="1819606" y="2779489"/>
              <a:ext cx="2014456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7" name="Google Shape;2656;p6">
              <a:extLst>
                <a:ext uri="{FF2B5EF4-FFF2-40B4-BE49-F238E27FC236}">
                  <a16:creationId xmlns:a16="http://schemas.microsoft.com/office/drawing/2014/main" id="{7F7A5644-B388-5C4E-8533-08BD1A5B11B0}"/>
                </a:ext>
              </a:extLst>
            </p:cNvPr>
            <p:cNvCxnSpPr/>
            <p:nvPr/>
          </p:nvCxnSpPr>
          <p:spPr>
            <a:xfrm rot="10800000">
              <a:off x="1819606" y="2944069"/>
              <a:ext cx="2014456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18" name="Google Shape;2657;p6">
              <a:extLst>
                <a:ext uri="{FF2B5EF4-FFF2-40B4-BE49-F238E27FC236}">
                  <a16:creationId xmlns:a16="http://schemas.microsoft.com/office/drawing/2014/main" id="{FF012A5A-5DC2-BEA5-6DA3-B2431FEFA762}"/>
                </a:ext>
              </a:extLst>
            </p:cNvPr>
            <p:cNvSpPr txBox="1"/>
            <p:nvPr/>
          </p:nvSpPr>
          <p:spPr>
            <a:xfrm>
              <a:off x="1861103" y="2407424"/>
              <a:ext cx="16375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Collect </a:t>
              </a:r>
              <a:r>
                <a:rPr lang="en-US" sz="1400">
                  <a:latin typeface="Lato"/>
                  <a:ea typeface="Lato"/>
                  <a:cs typeface="Lato"/>
                  <a:sym typeface="Lato"/>
                </a:rPr>
                <a:t>d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ata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658;p6">
              <a:extLst>
                <a:ext uri="{FF2B5EF4-FFF2-40B4-BE49-F238E27FC236}">
                  <a16:creationId xmlns:a16="http://schemas.microsoft.com/office/drawing/2014/main" id="{5DE19298-6CA2-8D81-DA24-85F30C5495A1}"/>
                </a:ext>
              </a:extLst>
            </p:cNvPr>
            <p:cNvSpPr txBox="1"/>
            <p:nvPr/>
          </p:nvSpPr>
          <p:spPr>
            <a:xfrm>
              <a:off x="1848553" y="2952693"/>
              <a:ext cx="16375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Display </a:t>
              </a:r>
              <a:r>
                <a:rPr lang="en-US" sz="1400">
                  <a:latin typeface="Lato"/>
                  <a:ea typeface="Lato"/>
                  <a:cs typeface="Lato"/>
                  <a:sym typeface="Lato"/>
                </a:rPr>
                <a:t>r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esults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659;p6">
              <a:extLst>
                <a:ext uri="{FF2B5EF4-FFF2-40B4-BE49-F238E27FC236}">
                  <a16:creationId xmlns:a16="http://schemas.microsoft.com/office/drawing/2014/main" id="{CF06B6CB-BAB6-EBFC-B3CB-68CC7BA46F93}"/>
                </a:ext>
              </a:extLst>
            </p:cNvPr>
            <p:cNvSpPr txBox="1"/>
            <p:nvPr/>
          </p:nvSpPr>
          <p:spPr>
            <a:xfrm>
              <a:off x="3834062" y="3172671"/>
              <a:ext cx="2576077" cy="107721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What the </a:t>
              </a:r>
              <a:r>
                <a:rPr lang="en-US" sz="1400">
                  <a:latin typeface="Lato"/>
                  <a:ea typeface="Lato"/>
                  <a:cs typeface="Lato"/>
                  <a:sym typeface="Lato"/>
                </a:rPr>
                <a:t>u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ser </a:t>
              </a:r>
              <a:r>
                <a:rPr lang="en-US" sz="1400"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ees </a:t>
              </a:r>
              <a:r>
                <a:rPr lang="en-US" sz="1400">
                  <a:latin typeface="Lato"/>
                  <a:ea typeface="Lato"/>
                  <a:cs typeface="Lato"/>
                  <a:sym typeface="Lato"/>
                </a:rPr>
                <a:t>and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</a:t>
              </a:r>
              <a:r>
                <a:rPr lang="en-US" sz="1400">
                  <a:latin typeface="Lato"/>
                  <a:ea typeface="Lato"/>
                  <a:cs typeface="Lato"/>
                  <a:sym typeface="Lato"/>
                </a:rPr>
                <a:t>i</a:t>
              </a: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nteracts with </a:t>
              </a:r>
              <a:b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</a:b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HTML, CSS, and JavaScript </a:t>
              </a:r>
              <a:r>
                <a:rPr lang="en-US" sz="14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Frontend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" name="Google Shape;2660;p6">
              <a:extLst>
                <a:ext uri="{FF2B5EF4-FFF2-40B4-BE49-F238E27FC236}">
                  <a16:creationId xmlns:a16="http://schemas.microsoft.com/office/drawing/2014/main" id="{59006241-512B-104C-D0E6-69F5CAEE8D5B}"/>
                </a:ext>
              </a:extLst>
            </p:cNvPr>
            <p:cNvCxnSpPr/>
            <p:nvPr/>
          </p:nvCxnSpPr>
          <p:spPr>
            <a:xfrm>
              <a:off x="6352673" y="2779489"/>
              <a:ext cx="1789867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22" name="Google Shape;2661;p6">
              <a:extLst>
                <a:ext uri="{FF2B5EF4-FFF2-40B4-BE49-F238E27FC236}">
                  <a16:creationId xmlns:a16="http://schemas.microsoft.com/office/drawing/2014/main" id="{D1B852FE-35CE-DA17-8457-29216C1E9516}"/>
                </a:ext>
              </a:extLst>
            </p:cNvPr>
            <p:cNvCxnSpPr/>
            <p:nvPr/>
          </p:nvCxnSpPr>
          <p:spPr>
            <a:xfrm rot="10800000">
              <a:off x="6339595" y="2960743"/>
              <a:ext cx="179952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23" name="Google Shape;2662;p6">
              <a:extLst>
                <a:ext uri="{FF2B5EF4-FFF2-40B4-BE49-F238E27FC236}">
                  <a16:creationId xmlns:a16="http://schemas.microsoft.com/office/drawing/2014/main" id="{BB09660D-B6AD-6438-9B35-7DC0FC11C913}"/>
                </a:ext>
              </a:extLst>
            </p:cNvPr>
            <p:cNvSpPr txBox="1"/>
            <p:nvPr/>
          </p:nvSpPr>
          <p:spPr>
            <a:xfrm>
              <a:off x="6212967" y="2407424"/>
              <a:ext cx="16375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Request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663;p6">
              <a:extLst>
                <a:ext uri="{FF2B5EF4-FFF2-40B4-BE49-F238E27FC236}">
                  <a16:creationId xmlns:a16="http://schemas.microsoft.com/office/drawing/2014/main" id="{ABD57114-5DB1-48D4-56D8-22463FE68FC6}"/>
                </a:ext>
              </a:extLst>
            </p:cNvPr>
            <p:cNvSpPr txBox="1"/>
            <p:nvPr/>
          </p:nvSpPr>
          <p:spPr>
            <a:xfrm>
              <a:off x="6205570" y="2952693"/>
              <a:ext cx="163756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Response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664;p6">
              <a:extLst>
                <a:ext uri="{FF2B5EF4-FFF2-40B4-BE49-F238E27FC236}">
                  <a16:creationId xmlns:a16="http://schemas.microsoft.com/office/drawing/2014/main" id="{6F095378-191F-E65D-6952-C0DE96BB30CC}"/>
                </a:ext>
              </a:extLst>
            </p:cNvPr>
            <p:cNvSpPr/>
            <p:nvPr/>
          </p:nvSpPr>
          <p:spPr>
            <a:xfrm>
              <a:off x="8189045" y="3540213"/>
              <a:ext cx="2646775" cy="374571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Web </a:t>
              </a:r>
              <a:r>
                <a:rPr lang="en-US" sz="14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</a:t>
              </a:r>
              <a:r>
                <a:rPr lang="en-US" sz="14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erver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26" name="Google Shape;2665;p6">
              <a:extLst>
                <a:ext uri="{FF2B5EF4-FFF2-40B4-BE49-F238E27FC236}">
                  <a16:creationId xmlns:a16="http://schemas.microsoft.com/office/drawing/2014/main" id="{00D50433-301E-A84A-8A02-1C099E877108}"/>
                </a:ext>
              </a:extLst>
            </p:cNvPr>
            <p:cNvGrpSpPr/>
            <p:nvPr/>
          </p:nvGrpSpPr>
          <p:grpSpPr>
            <a:xfrm>
              <a:off x="7675436" y="4164782"/>
              <a:ext cx="3633051" cy="1652770"/>
              <a:chOff x="7750323" y="4164782"/>
              <a:chExt cx="3633051" cy="1652770"/>
            </a:xfrm>
          </p:grpSpPr>
          <p:grpSp>
            <p:nvGrpSpPr>
              <p:cNvPr id="41" name="Google Shape;2666;p6">
                <a:extLst>
                  <a:ext uri="{FF2B5EF4-FFF2-40B4-BE49-F238E27FC236}">
                    <a16:creationId xmlns:a16="http://schemas.microsoft.com/office/drawing/2014/main" id="{48ABA711-EB9E-6C8B-8E1D-3C75B4D2ED7F}"/>
                  </a:ext>
                </a:extLst>
              </p:cNvPr>
              <p:cNvGrpSpPr/>
              <p:nvPr/>
            </p:nvGrpSpPr>
            <p:grpSpPr>
              <a:xfrm>
                <a:off x="9744018" y="4186989"/>
                <a:ext cx="1639356" cy="1630563"/>
                <a:chOff x="9692427" y="4186989"/>
                <a:chExt cx="1639356" cy="1630563"/>
              </a:xfrm>
            </p:grpSpPr>
            <p:pic>
              <p:nvPicPr>
                <p:cNvPr id="46" name="Google Shape;2667;p6">
                  <a:extLst>
                    <a:ext uri="{FF2B5EF4-FFF2-40B4-BE49-F238E27FC236}">
                      <a16:creationId xmlns:a16="http://schemas.microsoft.com/office/drawing/2014/main" id="{61CBB8D9-8D1E-780A-4D00-DA3AFE1A23F7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10223643" y="4231245"/>
                  <a:ext cx="612177" cy="612177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7" name="Google Shape;2668;p6">
                  <a:extLst>
                    <a:ext uri="{FF2B5EF4-FFF2-40B4-BE49-F238E27FC236}">
                      <a16:creationId xmlns:a16="http://schemas.microsoft.com/office/drawing/2014/main" id="{88D37E42-06F7-411C-B062-A7470474D9CD}"/>
                    </a:ext>
                  </a:extLst>
                </p:cNvPr>
                <p:cNvSpPr/>
                <p:nvPr/>
              </p:nvSpPr>
              <p:spPr>
                <a:xfrm>
                  <a:off x="9727680" y="4186989"/>
                  <a:ext cx="1604103" cy="1613519"/>
                </a:xfrm>
                <a:prstGeom prst="roundRect">
                  <a:avLst>
                    <a:gd name="adj" fmla="val 3787"/>
                  </a:avLst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" name="Google Shape;2669;p6">
                  <a:extLst>
                    <a:ext uri="{FF2B5EF4-FFF2-40B4-BE49-F238E27FC236}">
                      <a16:creationId xmlns:a16="http://schemas.microsoft.com/office/drawing/2014/main" id="{67AD855D-8C1C-B172-DE5A-8778840057F0}"/>
                    </a:ext>
                  </a:extLst>
                </p:cNvPr>
                <p:cNvSpPr txBox="1"/>
                <p:nvPr/>
              </p:nvSpPr>
              <p:spPr>
                <a:xfrm>
                  <a:off x="9692427" y="4768079"/>
                  <a:ext cx="1627605" cy="104947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Database</a:t>
                  </a: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MySQL, PostgresSQL, </a:t>
                  </a:r>
                  <a:r>
                    <a:rPr lang="en-US" sz="1400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and </a:t>
                  </a: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 MariaDB</a:t>
                  </a: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2" name="Google Shape;2670;p6">
                <a:extLst>
                  <a:ext uri="{FF2B5EF4-FFF2-40B4-BE49-F238E27FC236}">
                    <a16:creationId xmlns:a16="http://schemas.microsoft.com/office/drawing/2014/main" id="{F510DACA-D5C4-63E3-5D67-04DBAC4FCB9A}"/>
                  </a:ext>
                </a:extLst>
              </p:cNvPr>
              <p:cNvGrpSpPr/>
              <p:nvPr/>
            </p:nvGrpSpPr>
            <p:grpSpPr>
              <a:xfrm>
                <a:off x="7750323" y="4164782"/>
                <a:ext cx="1604103" cy="1635726"/>
                <a:chOff x="7750323" y="4164782"/>
                <a:chExt cx="1604103" cy="1635726"/>
              </a:xfrm>
            </p:grpSpPr>
            <p:sp>
              <p:nvSpPr>
                <p:cNvPr id="43" name="Google Shape;2671;p6">
                  <a:extLst>
                    <a:ext uri="{FF2B5EF4-FFF2-40B4-BE49-F238E27FC236}">
                      <a16:creationId xmlns:a16="http://schemas.microsoft.com/office/drawing/2014/main" id="{097B8F38-B61D-FB85-2BE0-DADFD46B1F30}"/>
                    </a:ext>
                  </a:extLst>
                </p:cNvPr>
                <p:cNvSpPr/>
                <p:nvPr/>
              </p:nvSpPr>
              <p:spPr>
                <a:xfrm>
                  <a:off x="7750323" y="4186989"/>
                  <a:ext cx="1604103" cy="1613519"/>
                </a:xfrm>
                <a:prstGeom prst="roundRect">
                  <a:avLst>
                    <a:gd name="adj" fmla="val 3787"/>
                  </a:avLst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2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" name="Google Shape;2672;p6">
                  <a:extLst>
                    <a:ext uri="{FF2B5EF4-FFF2-40B4-BE49-F238E27FC236}">
                      <a16:creationId xmlns:a16="http://schemas.microsoft.com/office/drawing/2014/main" id="{8EB20211-AD14-3B07-8AC3-C019C11C7D2B}"/>
                    </a:ext>
                  </a:extLst>
                </p:cNvPr>
                <p:cNvSpPr txBox="1"/>
                <p:nvPr/>
              </p:nvSpPr>
              <p:spPr>
                <a:xfrm>
                  <a:off x="7818844" y="4768079"/>
                  <a:ext cx="1443600" cy="81248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4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File </a:t>
                  </a:r>
                  <a:r>
                    <a:rPr lang="en-US" sz="1400" b="1">
                      <a:latin typeface="Lato"/>
                      <a:ea typeface="Lato"/>
                      <a:cs typeface="Lato"/>
                      <a:sym typeface="Lato"/>
                    </a:rPr>
                    <a:t>s</a:t>
                  </a:r>
                  <a:r>
                    <a:rPr lang="en-US" sz="1400" b="1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ystem</a:t>
                  </a: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HTML, CSS, </a:t>
                  </a:r>
                  <a:r>
                    <a:rPr lang="en-US" sz="1400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and </a:t>
                  </a: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 </a:t>
                  </a:r>
                  <a:r>
                    <a:rPr lang="en-US" sz="1400">
                      <a:latin typeface="Lato"/>
                      <a:ea typeface="Lato"/>
                      <a:cs typeface="Lato"/>
                      <a:sym typeface="Lato"/>
                    </a:rPr>
                    <a:t>i</a:t>
                  </a:r>
                  <a:r>
                    <a:rPr lang="en-US" sz="1400" b="0" i="0" u="none" strike="noStrike" cap="none">
                      <a:solidFill>
                        <a:srgbClr val="000000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mages</a:t>
                  </a:r>
                  <a:endParaRPr sz="12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45" name="Google Shape;2673;p6">
                  <a:extLst>
                    <a:ext uri="{FF2B5EF4-FFF2-40B4-BE49-F238E27FC236}">
                      <a16:creationId xmlns:a16="http://schemas.microsoft.com/office/drawing/2014/main" id="{CD783DF2-80F6-16A4-F023-290A2F988F7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l="18866" t="18866" r="18866" b="18866"/>
                <a:stretch/>
              </p:blipFill>
              <p:spPr>
                <a:xfrm>
                  <a:off x="8189045" y="4164782"/>
                  <a:ext cx="703155" cy="70315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27" name="Google Shape;2674;p6">
              <a:extLst>
                <a:ext uri="{FF2B5EF4-FFF2-40B4-BE49-F238E27FC236}">
                  <a16:creationId xmlns:a16="http://schemas.microsoft.com/office/drawing/2014/main" id="{0764DA1C-0642-B0D3-9D6F-94748B976122}"/>
                </a:ext>
              </a:extLst>
            </p:cNvPr>
            <p:cNvGrpSpPr/>
            <p:nvPr/>
          </p:nvGrpSpPr>
          <p:grpSpPr>
            <a:xfrm>
              <a:off x="281043" y="1886769"/>
              <a:ext cx="1538563" cy="2114600"/>
              <a:chOff x="446888" y="1876927"/>
              <a:chExt cx="1538563" cy="2114600"/>
            </a:xfrm>
          </p:grpSpPr>
          <p:pic>
            <p:nvPicPr>
              <p:cNvPr id="38" name="Google Shape;2675;p6">
                <a:extLst>
                  <a:ext uri="{FF2B5EF4-FFF2-40B4-BE49-F238E27FC236}">
                    <a16:creationId xmlns:a16="http://schemas.microsoft.com/office/drawing/2014/main" id="{61F671B0-203F-A8B0-7356-386A0DFE3463}"/>
                  </a:ext>
                </a:extLst>
              </p:cNvPr>
              <p:cNvPicPr preferRelativeResize="0"/>
              <p:nvPr/>
            </p:nvPicPr>
            <p:blipFill rotWithShape="1">
              <a:blip r:embed="rId9">
                <a:alphaModFix/>
              </a:blip>
              <a:srcRect/>
              <a:stretch/>
            </p:blipFill>
            <p:spPr>
              <a:xfrm>
                <a:off x="664460" y="2137925"/>
                <a:ext cx="1103418" cy="12910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" name="Google Shape;2676;p6">
                <a:extLst>
                  <a:ext uri="{FF2B5EF4-FFF2-40B4-BE49-F238E27FC236}">
                    <a16:creationId xmlns:a16="http://schemas.microsoft.com/office/drawing/2014/main" id="{596A091C-96FA-EC63-EB4C-16878FB4F7E5}"/>
                  </a:ext>
                </a:extLst>
              </p:cNvPr>
              <p:cNvSpPr txBox="1"/>
              <p:nvPr/>
            </p:nvSpPr>
            <p:spPr>
              <a:xfrm>
                <a:off x="854684" y="3467101"/>
                <a:ext cx="72297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4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Users</a:t>
                </a:r>
                <a:endParaRPr sz="12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2677;p6">
                <a:extLst>
                  <a:ext uri="{FF2B5EF4-FFF2-40B4-BE49-F238E27FC236}">
                    <a16:creationId xmlns:a16="http://schemas.microsoft.com/office/drawing/2014/main" id="{71C928E5-CCAF-745D-7CCC-857060E34678}"/>
                  </a:ext>
                </a:extLst>
              </p:cNvPr>
              <p:cNvSpPr/>
              <p:nvPr/>
            </p:nvSpPr>
            <p:spPr>
              <a:xfrm>
                <a:off x="446888" y="1876927"/>
                <a:ext cx="1538563" cy="2114600"/>
              </a:xfrm>
              <a:prstGeom prst="roundRect">
                <a:avLst>
                  <a:gd name="adj" fmla="val 378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8" name="Google Shape;2678;p6">
              <a:extLst>
                <a:ext uri="{FF2B5EF4-FFF2-40B4-BE49-F238E27FC236}">
                  <a16:creationId xmlns:a16="http://schemas.microsoft.com/office/drawing/2014/main" id="{7C6B9F51-E138-9872-858C-38D781E87996}"/>
                </a:ext>
              </a:extLst>
            </p:cNvPr>
            <p:cNvGrpSpPr/>
            <p:nvPr/>
          </p:nvGrpSpPr>
          <p:grpSpPr>
            <a:xfrm>
              <a:off x="7778777" y="1775221"/>
              <a:ext cx="3467311" cy="1707486"/>
              <a:chOff x="7976166" y="1775221"/>
              <a:chExt cx="3467311" cy="1707486"/>
            </a:xfrm>
          </p:grpSpPr>
          <p:pic>
            <p:nvPicPr>
              <p:cNvPr id="35" name="Google Shape;2679;p6">
                <a:extLst>
                  <a:ext uri="{FF2B5EF4-FFF2-40B4-BE49-F238E27FC236}">
                    <a16:creationId xmlns:a16="http://schemas.microsoft.com/office/drawing/2014/main" id="{824EA794-53B4-AB59-6474-2748BAC70052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 l="34561" t="30175" r="34473" b="39182"/>
              <a:stretch/>
            </p:blipFill>
            <p:spPr>
              <a:xfrm>
                <a:off x="9254152" y="1775221"/>
                <a:ext cx="870396" cy="861316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6" name="Google Shape;2680;p6">
                <a:extLst>
                  <a:ext uri="{FF2B5EF4-FFF2-40B4-BE49-F238E27FC236}">
                    <a16:creationId xmlns:a16="http://schemas.microsoft.com/office/drawing/2014/main" id="{F762BF5B-8C71-E92B-4303-F4134BA5FB63}"/>
                  </a:ext>
                </a:extLst>
              </p:cNvPr>
              <p:cNvSpPr txBox="1"/>
              <p:nvPr/>
            </p:nvSpPr>
            <p:spPr>
              <a:xfrm>
                <a:off x="7976166" y="2849659"/>
                <a:ext cx="3467311" cy="63304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400" b="1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Contains </a:t>
                </a:r>
                <a:r>
                  <a:rPr lang="en-US" sz="1400" b="1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</a:t>
                </a:r>
                <a:r>
                  <a:rPr lang="en-US" sz="1400" b="1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pp </a:t>
                </a:r>
                <a:r>
                  <a:rPr lang="en-US" sz="1400" b="1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l</a:t>
                </a:r>
                <a:r>
                  <a:rPr lang="en-US" sz="1400" b="1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ogic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PHP, JavaScript, Python, </a:t>
                </a:r>
                <a:r>
                  <a:rPr lang="en-US" sz="1400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and </a:t>
                </a:r>
                <a:r>
                  <a:rPr lang="en-US" sz="1400" b="0" i="0" u="none" strike="noStrike" cap="none" dirty="0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Java</a:t>
                </a:r>
                <a:endParaRPr sz="12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2681;p6">
                <a:extLst>
                  <a:ext uri="{FF2B5EF4-FFF2-40B4-BE49-F238E27FC236}">
                    <a16:creationId xmlns:a16="http://schemas.microsoft.com/office/drawing/2014/main" id="{9274F4E7-085B-3359-CD06-7415678A8BB0}"/>
                  </a:ext>
                </a:extLst>
              </p:cNvPr>
              <p:cNvSpPr/>
              <p:nvPr/>
            </p:nvSpPr>
            <p:spPr>
              <a:xfrm>
                <a:off x="8201216" y="3123308"/>
                <a:ext cx="2976270" cy="260420"/>
              </a:xfrm>
              <a:prstGeom prst="roundRect">
                <a:avLst>
                  <a:gd name="adj" fmla="val 378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2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" name="Google Shape;2682;p6">
              <a:extLst>
                <a:ext uri="{FF2B5EF4-FFF2-40B4-BE49-F238E27FC236}">
                  <a16:creationId xmlns:a16="http://schemas.microsoft.com/office/drawing/2014/main" id="{1E4A3423-AD42-2199-B006-A2CC1D2EF85E}"/>
                </a:ext>
              </a:extLst>
            </p:cNvPr>
            <p:cNvSpPr/>
            <p:nvPr/>
          </p:nvSpPr>
          <p:spPr>
            <a:xfrm>
              <a:off x="7913716" y="3728779"/>
              <a:ext cx="275329" cy="444210"/>
            </a:xfrm>
            <a:custGeom>
              <a:avLst/>
              <a:gdLst/>
              <a:ahLst/>
              <a:cxnLst/>
              <a:rect l="l" t="t" r="r" b="b"/>
              <a:pathLst>
                <a:path w="315884" h="515389" extrusionOk="0">
                  <a:moveTo>
                    <a:pt x="0" y="515389"/>
                  </a:moveTo>
                  <a:lnTo>
                    <a:pt x="0" y="0"/>
                  </a:lnTo>
                  <a:lnTo>
                    <a:pt x="315884" y="0"/>
                  </a:lnTo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2683;p6">
              <a:extLst>
                <a:ext uri="{FF2B5EF4-FFF2-40B4-BE49-F238E27FC236}">
                  <a16:creationId xmlns:a16="http://schemas.microsoft.com/office/drawing/2014/main" id="{6D6AE100-4131-E7EE-069C-152B285D50FE}"/>
                </a:ext>
              </a:extLst>
            </p:cNvPr>
            <p:cNvSpPr/>
            <p:nvPr/>
          </p:nvSpPr>
          <p:spPr>
            <a:xfrm flipH="1">
              <a:off x="10835821" y="3728779"/>
              <a:ext cx="197338" cy="444210"/>
            </a:xfrm>
            <a:custGeom>
              <a:avLst/>
              <a:gdLst/>
              <a:ahLst/>
              <a:cxnLst/>
              <a:rect l="l" t="t" r="r" b="b"/>
              <a:pathLst>
                <a:path w="315884" h="515389" extrusionOk="0">
                  <a:moveTo>
                    <a:pt x="0" y="515389"/>
                  </a:moveTo>
                  <a:lnTo>
                    <a:pt x="0" y="0"/>
                  </a:lnTo>
                  <a:lnTo>
                    <a:pt x="315884" y="0"/>
                  </a:lnTo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2684;p6">
              <a:extLst>
                <a:ext uri="{FF2B5EF4-FFF2-40B4-BE49-F238E27FC236}">
                  <a16:creationId xmlns:a16="http://schemas.microsoft.com/office/drawing/2014/main" id="{3611C5E3-D231-D518-98E0-B9030E0D73CE}"/>
                </a:ext>
              </a:extLst>
            </p:cNvPr>
            <p:cNvSpPr/>
            <p:nvPr/>
          </p:nvSpPr>
          <p:spPr>
            <a:xfrm rot="10800000">
              <a:off x="9279534" y="3914490"/>
              <a:ext cx="184505" cy="1149799"/>
            </a:xfrm>
            <a:custGeom>
              <a:avLst/>
              <a:gdLst/>
              <a:ahLst/>
              <a:cxnLst/>
              <a:rect l="l" t="t" r="r" b="b"/>
              <a:pathLst>
                <a:path w="315884" h="515389" extrusionOk="0">
                  <a:moveTo>
                    <a:pt x="0" y="515389"/>
                  </a:moveTo>
                  <a:lnTo>
                    <a:pt x="0" y="0"/>
                  </a:lnTo>
                  <a:lnTo>
                    <a:pt x="315884" y="0"/>
                  </a:lnTo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2685;p6">
              <a:extLst>
                <a:ext uri="{FF2B5EF4-FFF2-40B4-BE49-F238E27FC236}">
                  <a16:creationId xmlns:a16="http://schemas.microsoft.com/office/drawing/2014/main" id="{E97EBC1C-1CEC-7607-E028-BC33F908D37C}"/>
                </a:ext>
              </a:extLst>
            </p:cNvPr>
            <p:cNvSpPr/>
            <p:nvPr/>
          </p:nvSpPr>
          <p:spPr>
            <a:xfrm rot="10800000" flipH="1">
              <a:off x="9525000" y="3914490"/>
              <a:ext cx="179383" cy="1149799"/>
            </a:xfrm>
            <a:custGeom>
              <a:avLst/>
              <a:gdLst/>
              <a:ahLst/>
              <a:cxnLst/>
              <a:rect l="l" t="t" r="r" b="b"/>
              <a:pathLst>
                <a:path w="315884" h="515389" extrusionOk="0">
                  <a:moveTo>
                    <a:pt x="0" y="515389"/>
                  </a:moveTo>
                  <a:lnTo>
                    <a:pt x="0" y="0"/>
                  </a:lnTo>
                  <a:lnTo>
                    <a:pt x="315884" y="0"/>
                  </a:lnTo>
                </a:path>
              </a:pathLst>
            </a:cu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2686;p6">
              <a:extLst>
                <a:ext uri="{FF2B5EF4-FFF2-40B4-BE49-F238E27FC236}">
                  <a16:creationId xmlns:a16="http://schemas.microsoft.com/office/drawing/2014/main" id="{2BEA2C62-745E-C0F3-02D0-B707D5B52CB1}"/>
                </a:ext>
              </a:extLst>
            </p:cNvPr>
            <p:cNvSpPr/>
            <p:nvPr/>
          </p:nvSpPr>
          <p:spPr>
            <a:xfrm>
              <a:off x="6039413" y="6439658"/>
              <a:ext cx="3129090" cy="400870"/>
            </a:xfrm>
            <a:prstGeom prst="roundRect">
              <a:avLst>
                <a:gd name="adj" fmla="val 50000"/>
              </a:avLst>
            </a:prstGeom>
            <a:solidFill>
              <a:schemeClr val="lt1"/>
            </a:solidFill>
            <a:ln w="28575" cap="flat" cmpd="sng">
              <a:solidFill>
                <a:schemeClr val="accent3"/>
              </a:solidFill>
              <a:prstDash val="dash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Web Application Architecture</a:t>
              </a:r>
              <a:endPara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2687;p6">
              <a:extLst>
                <a:ext uri="{FF2B5EF4-FFF2-40B4-BE49-F238E27FC236}">
                  <a16:creationId xmlns:a16="http://schemas.microsoft.com/office/drawing/2014/main" id="{31A0509F-ED7C-9AE2-D0D4-FFC582E34037}"/>
                </a:ext>
              </a:extLst>
            </p:cNvPr>
            <p:cNvSpPr txBox="1"/>
            <p:nvPr/>
          </p:nvSpPr>
          <p:spPr>
            <a:xfrm>
              <a:off x="8658896" y="6061051"/>
              <a:ext cx="1443558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4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Backend</a:t>
              </a:r>
              <a:endParaRPr sz="1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73511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692;p7">
            <a:extLst>
              <a:ext uri="{FF2B5EF4-FFF2-40B4-BE49-F238E27FC236}">
                <a16:creationId xmlns:a16="http://schemas.microsoft.com/office/drawing/2014/main" id="{880A510B-FE5B-7FAD-E1D1-92A539C330BB}"/>
              </a:ext>
            </a:extLst>
          </p:cNvPr>
          <p:cNvSpPr txBox="1"/>
          <p:nvPr/>
        </p:nvSpPr>
        <p:spPr>
          <a:xfrm>
            <a:off x="3570366" y="1047686"/>
            <a:ext cx="42996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BENEFITS OF A WEB APPLICATION</a:t>
            </a:r>
            <a:endParaRPr/>
          </a:p>
        </p:txBody>
      </p:sp>
      <p:pic>
        <p:nvPicPr>
          <p:cNvPr id="10" name="Google Shape;2693;p7">
            <a:extLst>
              <a:ext uri="{FF2B5EF4-FFF2-40B4-BE49-F238E27FC236}">
                <a16:creationId xmlns:a16="http://schemas.microsoft.com/office/drawing/2014/main" id="{EA14B74E-D839-141C-6471-C2F0740953D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80648" y="2479098"/>
            <a:ext cx="4752195" cy="3801756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2694;p7">
            <a:extLst>
              <a:ext uri="{FF2B5EF4-FFF2-40B4-BE49-F238E27FC236}">
                <a16:creationId xmlns:a16="http://schemas.microsoft.com/office/drawing/2014/main" id="{DD7853CA-CB02-F5DC-31D1-FBDEA105E3C1}"/>
              </a:ext>
            </a:extLst>
          </p:cNvPr>
          <p:cNvSpPr txBox="1"/>
          <p:nvPr/>
        </p:nvSpPr>
        <p:spPr>
          <a:xfrm>
            <a:off x="1159158" y="3524190"/>
            <a:ext cx="4550100" cy="23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Is 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ndependent of any OS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Is secure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Reduces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co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Is scalable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Is easy to maintain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Increases overall 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fficiency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71760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699;p11">
            <a:extLst>
              <a:ext uri="{FF2B5EF4-FFF2-40B4-BE49-F238E27FC236}">
                <a16:creationId xmlns:a16="http://schemas.microsoft.com/office/drawing/2014/main" id="{F1996FC9-E0F4-2914-98FF-59E062AF950B}"/>
              </a:ext>
            </a:extLst>
          </p:cNvPr>
          <p:cNvSpPr/>
          <p:nvPr/>
        </p:nvSpPr>
        <p:spPr>
          <a:xfrm>
            <a:off x="2954154" y="5906654"/>
            <a:ext cx="6783104" cy="8528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0EC1C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700;p11">
            <a:extLst>
              <a:ext uri="{FF2B5EF4-FFF2-40B4-BE49-F238E27FC236}">
                <a16:creationId xmlns:a16="http://schemas.microsoft.com/office/drawing/2014/main" id="{E80DBCF5-D464-4B74-C049-81489992E78F}"/>
              </a:ext>
            </a:extLst>
          </p:cNvPr>
          <p:cNvSpPr/>
          <p:nvPr/>
        </p:nvSpPr>
        <p:spPr>
          <a:xfrm>
            <a:off x="2584288" y="5910213"/>
            <a:ext cx="836545" cy="836545"/>
          </a:xfrm>
          <a:prstGeom prst="ellipse">
            <a:avLst/>
          </a:prstGeom>
          <a:solidFill>
            <a:srgbClr val="0EC1C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" name="Google Shape;2701;p11">
            <a:extLst>
              <a:ext uri="{FF2B5EF4-FFF2-40B4-BE49-F238E27FC236}">
                <a16:creationId xmlns:a16="http://schemas.microsoft.com/office/drawing/2014/main" id="{AD3DB18E-700B-B16B-E14D-B12A30AA1FD7}"/>
              </a:ext>
            </a:extLst>
          </p:cNvPr>
          <p:cNvSpPr/>
          <p:nvPr/>
        </p:nvSpPr>
        <p:spPr>
          <a:xfrm>
            <a:off x="2954154" y="4947876"/>
            <a:ext cx="6783104" cy="8528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22AF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2" name="Google Shape;2702;p11">
            <a:extLst>
              <a:ext uri="{FF2B5EF4-FFF2-40B4-BE49-F238E27FC236}">
                <a16:creationId xmlns:a16="http://schemas.microsoft.com/office/drawing/2014/main" id="{F7C4A66E-DF3E-A6D5-C8FE-1503AA3A5DE9}"/>
              </a:ext>
            </a:extLst>
          </p:cNvPr>
          <p:cNvSpPr/>
          <p:nvPr/>
        </p:nvSpPr>
        <p:spPr>
          <a:xfrm rot="8152625">
            <a:off x="2565472" y="4938131"/>
            <a:ext cx="874176" cy="874176"/>
          </a:xfrm>
          <a:prstGeom prst="teardrop">
            <a:avLst>
              <a:gd name="adj" fmla="val 100000"/>
            </a:avLst>
          </a:prstGeom>
          <a:solidFill>
            <a:srgbClr val="22AF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" name="Google Shape;2703;p11">
            <a:extLst>
              <a:ext uri="{FF2B5EF4-FFF2-40B4-BE49-F238E27FC236}">
                <a16:creationId xmlns:a16="http://schemas.microsoft.com/office/drawing/2014/main" id="{7B07C90F-823B-6954-6C6F-43970F44D3D3}"/>
              </a:ext>
            </a:extLst>
          </p:cNvPr>
          <p:cNvSpPr/>
          <p:nvPr/>
        </p:nvSpPr>
        <p:spPr>
          <a:xfrm>
            <a:off x="2954154" y="3973434"/>
            <a:ext cx="6783104" cy="8528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5A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2704;p11">
            <a:extLst>
              <a:ext uri="{FF2B5EF4-FFF2-40B4-BE49-F238E27FC236}">
                <a16:creationId xmlns:a16="http://schemas.microsoft.com/office/drawing/2014/main" id="{9E9EE3FB-2E18-A16A-36E6-692A774EC0E7}"/>
              </a:ext>
            </a:extLst>
          </p:cNvPr>
          <p:cNvSpPr/>
          <p:nvPr/>
        </p:nvSpPr>
        <p:spPr>
          <a:xfrm rot="8152625">
            <a:off x="2565472" y="3963689"/>
            <a:ext cx="874176" cy="874176"/>
          </a:xfrm>
          <a:prstGeom prst="teardrop">
            <a:avLst>
              <a:gd name="adj" fmla="val 100000"/>
            </a:avLst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" name="Google Shape;2705;p11">
            <a:extLst>
              <a:ext uri="{FF2B5EF4-FFF2-40B4-BE49-F238E27FC236}">
                <a16:creationId xmlns:a16="http://schemas.microsoft.com/office/drawing/2014/main" id="{5EA95A33-FD15-1824-D19A-CF1A9D5C5CB6}"/>
              </a:ext>
            </a:extLst>
          </p:cNvPr>
          <p:cNvSpPr/>
          <p:nvPr/>
        </p:nvSpPr>
        <p:spPr>
          <a:xfrm>
            <a:off x="2954154" y="3011431"/>
            <a:ext cx="6783104" cy="8528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4890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6" name="Google Shape;2706;p11">
            <a:extLst>
              <a:ext uri="{FF2B5EF4-FFF2-40B4-BE49-F238E27FC236}">
                <a16:creationId xmlns:a16="http://schemas.microsoft.com/office/drawing/2014/main" id="{CB1BD284-BAC5-0CEF-8E6C-6CBD52F3ABEF}"/>
              </a:ext>
            </a:extLst>
          </p:cNvPr>
          <p:cNvSpPr/>
          <p:nvPr/>
        </p:nvSpPr>
        <p:spPr>
          <a:xfrm rot="8152625">
            <a:off x="2565472" y="3001686"/>
            <a:ext cx="874176" cy="874176"/>
          </a:xfrm>
          <a:prstGeom prst="teardrop">
            <a:avLst>
              <a:gd name="adj" fmla="val 100000"/>
            </a:avLst>
          </a:pr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7" name="Google Shape;2707;p11">
            <a:extLst>
              <a:ext uri="{FF2B5EF4-FFF2-40B4-BE49-F238E27FC236}">
                <a16:creationId xmlns:a16="http://schemas.microsoft.com/office/drawing/2014/main" id="{A2808BDD-7540-BD7F-514D-5FCD7CDD16C1}"/>
              </a:ext>
            </a:extLst>
          </p:cNvPr>
          <p:cNvSpPr/>
          <p:nvPr/>
        </p:nvSpPr>
        <p:spPr>
          <a:xfrm>
            <a:off x="2954154" y="2046761"/>
            <a:ext cx="6783104" cy="85289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28575" cap="flat" cmpd="sng">
            <a:solidFill>
              <a:srgbClr val="FAA726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8" name="Google Shape;2708;p11">
            <a:extLst>
              <a:ext uri="{FF2B5EF4-FFF2-40B4-BE49-F238E27FC236}">
                <a16:creationId xmlns:a16="http://schemas.microsoft.com/office/drawing/2014/main" id="{B6341B11-428B-DA49-CAA1-7C062BCBE769}"/>
              </a:ext>
            </a:extLst>
          </p:cNvPr>
          <p:cNvSpPr/>
          <p:nvPr/>
        </p:nvSpPr>
        <p:spPr>
          <a:xfrm rot="8152625">
            <a:off x="2565472" y="2044484"/>
            <a:ext cx="874176" cy="874176"/>
          </a:xfrm>
          <a:prstGeom prst="teardrop">
            <a:avLst>
              <a:gd name="adj" fmla="val 100000"/>
            </a:avLst>
          </a:prstGeom>
          <a:solidFill>
            <a:srgbClr val="FAA72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9"/>
              <a:buFont typeface="Arial"/>
              <a:buNone/>
            </a:pPr>
            <a:endParaRPr sz="1600" b="0" i="0" u="none" strike="noStrike" cap="none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9" name="Google Shape;2709;p11">
            <a:extLst>
              <a:ext uri="{FF2B5EF4-FFF2-40B4-BE49-F238E27FC236}">
                <a16:creationId xmlns:a16="http://schemas.microsoft.com/office/drawing/2014/main" id="{122C5AAC-DEB4-B8F5-CF99-DF4857E56D7F}"/>
              </a:ext>
            </a:extLst>
          </p:cNvPr>
          <p:cNvSpPr txBox="1"/>
          <p:nvPr/>
        </p:nvSpPr>
        <p:spPr>
          <a:xfrm>
            <a:off x="1651000" y="1260272"/>
            <a:ext cx="8890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COMMONLY USED WEB APPLICATIONS</a:t>
            </a:r>
            <a:endParaRPr sz="12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710;p11">
            <a:extLst>
              <a:ext uri="{FF2B5EF4-FFF2-40B4-BE49-F238E27FC236}">
                <a16:creationId xmlns:a16="http://schemas.microsoft.com/office/drawing/2014/main" id="{E60755EB-F229-7185-4C99-D149CC283605}"/>
              </a:ext>
            </a:extLst>
          </p:cNvPr>
          <p:cNvSpPr txBox="1"/>
          <p:nvPr/>
        </p:nvSpPr>
        <p:spPr>
          <a:xfrm>
            <a:off x="3819901" y="6148454"/>
            <a:ext cx="53714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Social </a:t>
            </a:r>
            <a:r>
              <a:rPr lang="en-US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edia</a:t>
            </a:r>
            <a:r>
              <a:rPr lang="en-US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Facebook, Twitter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711;p11">
            <a:extLst>
              <a:ext uri="{FF2B5EF4-FFF2-40B4-BE49-F238E27FC236}">
                <a16:creationId xmlns:a16="http://schemas.microsoft.com/office/drawing/2014/main" id="{3E3695FA-4807-8754-AEE6-297084CEE465}"/>
              </a:ext>
            </a:extLst>
          </p:cNvPr>
          <p:cNvSpPr txBox="1"/>
          <p:nvPr/>
        </p:nvSpPr>
        <p:spPr>
          <a:xfrm>
            <a:off x="3838511" y="5189676"/>
            <a:ext cx="5743618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Booking </a:t>
            </a:r>
            <a:r>
              <a:rPr lang="en-US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olutions: </a:t>
            </a:r>
            <a:r>
              <a:rPr lang="en-US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Bookmyshow, Booking.com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712;p11">
            <a:extLst>
              <a:ext uri="{FF2B5EF4-FFF2-40B4-BE49-F238E27FC236}">
                <a16:creationId xmlns:a16="http://schemas.microsoft.com/office/drawing/2014/main" id="{4FD69DFD-53A6-3344-0600-EA8FA102F303}"/>
              </a:ext>
            </a:extLst>
          </p:cNvPr>
          <p:cNvSpPr txBox="1"/>
          <p:nvPr/>
        </p:nvSpPr>
        <p:spPr>
          <a:xfrm>
            <a:off x="3819901" y="4215233"/>
            <a:ext cx="5371413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E-</a:t>
            </a:r>
            <a:r>
              <a:rPr lang="en-US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</a:t>
            </a: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ommerce: </a:t>
            </a:r>
            <a:r>
              <a:rPr lang="en-US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Flipkart, Amazon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" name="Google Shape;2713;p11">
            <a:extLst>
              <a:ext uri="{FF2B5EF4-FFF2-40B4-BE49-F238E27FC236}">
                <a16:creationId xmlns:a16="http://schemas.microsoft.com/office/drawing/2014/main" id="{E99FF8E2-B209-00C8-D54F-AB9DAE4C9BF8}"/>
              </a:ext>
            </a:extLst>
          </p:cNvPr>
          <p:cNvSpPr txBox="1"/>
          <p:nvPr/>
        </p:nvSpPr>
        <p:spPr>
          <a:xfrm>
            <a:off x="3847860" y="3253230"/>
            <a:ext cx="5930632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Learning platforms: </a:t>
            </a:r>
            <a:r>
              <a:rPr lang="en-US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Udemy, upGrad</a:t>
            </a:r>
            <a:endParaRPr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4" name="Google Shape;2714;p11">
            <a:extLst>
              <a:ext uri="{FF2B5EF4-FFF2-40B4-BE49-F238E27FC236}">
                <a16:creationId xmlns:a16="http://schemas.microsoft.com/office/drawing/2014/main" id="{2EF3CDD0-13BD-321C-C34F-DAA903382B8C}"/>
              </a:ext>
            </a:extLst>
          </p:cNvPr>
          <p:cNvSpPr txBox="1"/>
          <p:nvPr/>
        </p:nvSpPr>
        <p:spPr>
          <a:xfrm>
            <a:off x="3819901" y="2151439"/>
            <a:ext cx="5371413" cy="643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Google </a:t>
            </a:r>
            <a:r>
              <a:rPr lang="en-US" b="1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pps: </a:t>
            </a:r>
            <a:r>
              <a:rPr lang="en-US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Applications for work </a:t>
            </a:r>
            <a:r>
              <a:rPr lang="en-US">
                <a:latin typeface="Lato"/>
                <a:ea typeface="Lato"/>
                <a:cs typeface="Lato"/>
                <a:sym typeface="Lato"/>
              </a:rPr>
              <a:t>such as</a:t>
            </a:r>
            <a:r>
              <a:rPr lang="en-US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Google Docs, Google Sheets, and Google Slides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715;p11">
            <a:extLst>
              <a:ext uri="{FF2B5EF4-FFF2-40B4-BE49-F238E27FC236}">
                <a16:creationId xmlns:a16="http://schemas.microsoft.com/office/drawing/2014/main" id="{42E0EA8E-87B1-4F6C-07F0-1C3FAA834AE2}"/>
              </a:ext>
            </a:extLst>
          </p:cNvPr>
          <p:cNvSpPr txBox="1"/>
          <p:nvPr/>
        </p:nvSpPr>
        <p:spPr>
          <a:xfrm>
            <a:off x="2867033" y="2194307"/>
            <a:ext cx="271054" cy="55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1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716;p11">
            <a:extLst>
              <a:ext uri="{FF2B5EF4-FFF2-40B4-BE49-F238E27FC236}">
                <a16:creationId xmlns:a16="http://schemas.microsoft.com/office/drawing/2014/main" id="{E9E9A62D-ED40-991F-B4B6-E26DE6921D4D}"/>
              </a:ext>
            </a:extLst>
          </p:cNvPr>
          <p:cNvSpPr txBox="1"/>
          <p:nvPr/>
        </p:nvSpPr>
        <p:spPr>
          <a:xfrm>
            <a:off x="2867033" y="3158977"/>
            <a:ext cx="271054" cy="55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2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17;p11">
            <a:extLst>
              <a:ext uri="{FF2B5EF4-FFF2-40B4-BE49-F238E27FC236}">
                <a16:creationId xmlns:a16="http://schemas.microsoft.com/office/drawing/2014/main" id="{666A4DB2-77DA-BCDE-F802-E331433F41F0}"/>
              </a:ext>
            </a:extLst>
          </p:cNvPr>
          <p:cNvSpPr txBox="1"/>
          <p:nvPr/>
        </p:nvSpPr>
        <p:spPr>
          <a:xfrm>
            <a:off x="2867033" y="4120980"/>
            <a:ext cx="271054" cy="55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3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718;p11">
            <a:extLst>
              <a:ext uri="{FF2B5EF4-FFF2-40B4-BE49-F238E27FC236}">
                <a16:creationId xmlns:a16="http://schemas.microsoft.com/office/drawing/2014/main" id="{2F9E0EC4-CAF3-EAC0-DC4D-A1FEF7173BC1}"/>
              </a:ext>
            </a:extLst>
          </p:cNvPr>
          <p:cNvSpPr txBox="1"/>
          <p:nvPr/>
        </p:nvSpPr>
        <p:spPr>
          <a:xfrm>
            <a:off x="2867033" y="5095422"/>
            <a:ext cx="271054" cy="55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4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719;p11">
            <a:extLst>
              <a:ext uri="{FF2B5EF4-FFF2-40B4-BE49-F238E27FC236}">
                <a16:creationId xmlns:a16="http://schemas.microsoft.com/office/drawing/2014/main" id="{25410C05-E233-4745-1E27-EA4B7DD23564}"/>
              </a:ext>
            </a:extLst>
          </p:cNvPr>
          <p:cNvSpPr txBox="1"/>
          <p:nvPr/>
        </p:nvSpPr>
        <p:spPr>
          <a:xfrm>
            <a:off x="2867033" y="6048688"/>
            <a:ext cx="271054" cy="5595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6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5</a:t>
            </a:r>
            <a:endParaRPr sz="12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10849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000"/>
                            </p:stCondLst>
                            <p:childTnLst>
                              <p:par>
                                <p:cTn id="3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000"/>
                            </p:stCondLst>
                            <p:childTnLst>
                              <p:par>
                                <p:cTn id="5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500"/>
                            </p:stCondLst>
                            <p:childTnLst>
                              <p:par>
                                <p:cTn id="5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1000"/>
                            </p:stCondLst>
                            <p:childTnLst>
                              <p:par>
                                <p:cTn id="8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4" name="Google Shape;2724;g23c268efcd9_0_1950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12</a:t>
            </a:fld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5" name="Google Shape;2725;g23c268efcd9_0_1950"/>
          <p:cNvSpPr txBox="1"/>
          <p:nvPr/>
        </p:nvSpPr>
        <p:spPr>
          <a:xfrm>
            <a:off x="2099067" y="2401133"/>
            <a:ext cx="8351100" cy="23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Application Architecture</a:t>
            </a:r>
            <a:endParaRPr sz="4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26" name="Google Shape;2726;g23c268efcd9_0_1950"/>
          <p:cNvSpPr txBox="1">
            <a:spLocks noGrp="1"/>
          </p:cNvSpPr>
          <p:nvPr>
            <p:ph type="ftr" idx="11"/>
          </p:nvPr>
        </p:nvSpPr>
        <p:spPr>
          <a:xfrm>
            <a:off x="4375300" y="6356367"/>
            <a:ext cx="6302400" cy="365100"/>
          </a:xfrm>
          <a:prstGeom prst="rect">
            <a:avLst/>
          </a:prstGeom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Web Application on Cloud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731;p12">
            <a:extLst>
              <a:ext uri="{FF2B5EF4-FFF2-40B4-BE49-F238E27FC236}">
                <a16:creationId xmlns:a16="http://schemas.microsoft.com/office/drawing/2014/main" id="{28B8120E-59BA-6D10-D957-67DFE1F4C20B}"/>
              </a:ext>
            </a:extLst>
          </p:cNvPr>
          <p:cNvGrpSpPr/>
          <p:nvPr/>
        </p:nvGrpSpPr>
        <p:grpSpPr>
          <a:xfrm>
            <a:off x="3236828" y="2410751"/>
            <a:ext cx="5718354" cy="3066917"/>
            <a:chOff x="2041810" y="1200150"/>
            <a:chExt cx="8378540" cy="4493652"/>
          </a:xfrm>
        </p:grpSpPr>
        <p:sp>
          <p:nvSpPr>
            <p:cNvPr id="10" name="Google Shape;2732;p12">
              <a:extLst>
                <a:ext uri="{FF2B5EF4-FFF2-40B4-BE49-F238E27FC236}">
                  <a16:creationId xmlns:a16="http://schemas.microsoft.com/office/drawing/2014/main" id="{5F441254-E977-9EAC-83DC-18029C1631A8}"/>
                </a:ext>
              </a:extLst>
            </p:cNvPr>
            <p:cNvSpPr/>
            <p:nvPr/>
          </p:nvSpPr>
          <p:spPr>
            <a:xfrm>
              <a:off x="7124700" y="1864752"/>
              <a:ext cx="3295650" cy="3829050"/>
            </a:xfrm>
            <a:prstGeom prst="roundRect">
              <a:avLst>
                <a:gd name="adj" fmla="val 395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1" name="Google Shape;2733;p12">
              <a:extLst>
                <a:ext uri="{FF2B5EF4-FFF2-40B4-BE49-F238E27FC236}">
                  <a16:creationId xmlns:a16="http://schemas.microsoft.com/office/drawing/2014/main" id="{A42531CE-B2ED-AE09-10D7-15AB7851262F}"/>
                </a:ext>
              </a:extLst>
            </p:cNvPr>
            <p:cNvSpPr/>
            <p:nvPr/>
          </p:nvSpPr>
          <p:spPr>
            <a:xfrm>
              <a:off x="2041810" y="1864752"/>
              <a:ext cx="3295650" cy="3829050"/>
            </a:xfrm>
            <a:prstGeom prst="roundRect">
              <a:avLst>
                <a:gd name="adj" fmla="val 3950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2" name="Google Shape;2734;p12">
              <a:extLst>
                <a:ext uri="{FF2B5EF4-FFF2-40B4-BE49-F238E27FC236}">
                  <a16:creationId xmlns:a16="http://schemas.microsoft.com/office/drawing/2014/main" id="{0E04A724-80B2-12AD-D670-676451C998B9}"/>
                </a:ext>
              </a:extLst>
            </p:cNvPr>
            <p:cNvGrpSpPr/>
            <p:nvPr/>
          </p:nvGrpSpPr>
          <p:grpSpPr>
            <a:xfrm>
              <a:off x="2211379" y="2260227"/>
              <a:ext cx="2885330" cy="3038102"/>
              <a:chOff x="2211379" y="2024249"/>
              <a:chExt cx="2885330" cy="3038102"/>
            </a:xfrm>
          </p:grpSpPr>
          <p:pic>
            <p:nvPicPr>
              <p:cNvPr id="22" name="Google Shape;2735;p12">
                <a:extLst>
                  <a:ext uri="{FF2B5EF4-FFF2-40B4-BE49-F238E27FC236}">
                    <a16:creationId xmlns:a16="http://schemas.microsoft.com/office/drawing/2014/main" id="{6B159CD5-8E47-8A76-8F93-281CAF31D581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211379" y="2024249"/>
                <a:ext cx="2820748" cy="3038102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3" name="Google Shape;2736;p12">
                <a:extLst>
                  <a:ext uri="{FF2B5EF4-FFF2-40B4-BE49-F238E27FC236}">
                    <a16:creationId xmlns:a16="http://schemas.microsoft.com/office/drawing/2014/main" id="{94FD12A3-24A0-2CC4-3CFA-32EB354B8F63}"/>
                  </a:ext>
                </a:extLst>
              </p:cNvPr>
              <p:cNvGrpSpPr/>
              <p:nvPr/>
            </p:nvGrpSpPr>
            <p:grpSpPr>
              <a:xfrm>
                <a:off x="4177862" y="3805653"/>
                <a:ext cx="918847" cy="918847"/>
                <a:chOff x="4177862" y="3805653"/>
                <a:chExt cx="918847" cy="918847"/>
              </a:xfrm>
            </p:grpSpPr>
            <p:sp>
              <p:nvSpPr>
                <p:cNvPr id="24" name="Google Shape;2737;p12">
                  <a:extLst>
                    <a:ext uri="{FF2B5EF4-FFF2-40B4-BE49-F238E27FC236}">
                      <a16:creationId xmlns:a16="http://schemas.microsoft.com/office/drawing/2014/main" id="{B5B7DA85-AFAA-15FB-D139-6B8440009DB5}"/>
                    </a:ext>
                  </a:extLst>
                </p:cNvPr>
                <p:cNvSpPr/>
                <p:nvPr/>
              </p:nvSpPr>
              <p:spPr>
                <a:xfrm>
                  <a:off x="4177862" y="3805653"/>
                  <a:ext cx="918847" cy="918847"/>
                </a:xfrm>
                <a:prstGeom prst="ellipse">
                  <a:avLst/>
                </a:prstGeom>
                <a:solidFill>
                  <a:schemeClr val="lt1"/>
                </a:solidFill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lt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25" name="Google Shape;2738;p12">
                  <a:extLst>
                    <a:ext uri="{FF2B5EF4-FFF2-40B4-BE49-F238E27FC236}">
                      <a16:creationId xmlns:a16="http://schemas.microsoft.com/office/drawing/2014/main" id="{2F39E009-9F37-9E21-3788-DBA66FD66348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/>
                <a:stretch/>
              </p:blipFill>
              <p:spPr>
                <a:xfrm>
                  <a:off x="4210152" y="3837943"/>
                  <a:ext cx="854266" cy="8542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</p:grpSp>
        <p:grpSp>
          <p:nvGrpSpPr>
            <p:cNvPr id="13" name="Google Shape;2739;p12">
              <a:extLst>
                <a:ext uri="{FF2B5EF4-FFF2-40B4-BE49-F238E27FC236}">
                  <a16:creationId xmlns:a16="http://schemas.microsoft.com/office/drawing/2014/main" id="{B5CBC6F3-D59F-AD9B-0DFB-F1C8A3371BAD}"/>
                </a:ext>
              </a:extLst>
            </p:cNvPr>
            <p:cNvGrpSpPr/>
            <p:nvPr/>
          </p:nvGrpSpPr>
          <p:grpSpPr>
            <a:xfrm>
              <a:off x="7394860" y="2260227"/>
              <a:ext cx="2755330" cy="3038100"/>
              <a:chOff x="7394860" y="1972602"/>
              <a:chExt cx="2755330" cy="3038100"/>
            </a:xfrm>
          </p:grpSpPr>
          <p:sp>
            <p:nvSpPr>
              <p:cNvPr id="20" name="Google Shape;2740;p12">
                <a:extLst>
                  <a:ext uri="{FF2B5EF4-FFF2-40B4-BE49-F238E27FC236}">
                    <a16:creationId xmlns:a16="http://schemas.microsoft.com/office/drawing/2014/main" id="{88C77C34-AA56-98B4-CAB7-F69C8F4FD0CC}"/>
                  </a:ext>
                </a:extLst>
              </p:cNvPr>
              <p:cNvSpPr/>
              <p:nvPr/>
            </p:nvSpPr>
            <p:spPr>
              <a:xfrm>
                <a:off x="7394860" y="1972602"/>
                <a:ext cx="2755330" cy="1418219"/>
              </a:xfrm>
              <a:prstGeom prst="roundRect">
                <a:avLst>
                  <a:gd name="adj" fmla="val 16715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Web Construction Logic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741;p12">
                <a:extLst>
                  <a:ext uri="{FF2B5EF4-FFF2-40B4-BE49-F238E27FC236}">
                    <a16:creationId xmlns:a16="http://schemas.microsoft.com/office/drawing/2014/main" id="{2AF3D6E1-0C0E-F3FD-BC4B-A5A41429CF53}"/>
                  </a:ext>
                </a:extLst>
              </p:cNvPr>
              <p:cNvSpPr/>
              <p:nvPr/>
            </p:nvSpPr>
            <p:spPr>
              <a:xfrm>
                <a:off x="7394860" y="3592483"/>
                <a:ext cx="2755330" cy="1418219"/>
              </a:xfrm>
              <a:prstGeom prst="roundRect">
                <a:avLst>
                  <a:gd name="adj" fmla="val 16715"/>
                </a:avLst>
              </a:prstGeom>
              <a:noFill/>
              <a:ln w="28575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Business Logic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4" name="Google Shape;2742;p12">
              <a:extLst>
                <a:ext uri="{FF2B5EF4-FFF2-40B4-BE49-F238E27FC236}">
                  <a16:creationId xmlns:a16="http://schemas.microsoft.com/office/drawing/2014/main" id="{A3A2D233-3D5D-A68B-1DA4-8A080ACCF291}"/>
                </a:ext>
              </a:extLst>
            </p:cNvPr>
            <p:cNvSpPr txBox="1"/>
            <p:nvPr/>
          </p:nvSpPr>
          <p:spPr>
            <a:xfrm>
              <a:off x="2722991" y="1200150"/>
              <a:ext cx="19332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Client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2743;p12">
              <a:extLst>
                <a:ext uri="{FF2B5EF4-FFF2-40B4-BE49-F238E27FC236}">
                  <a16:creationId xmlns:a16="http://schemas.microsoft.com/office/drawing/2014/main" id="{CF238090-0C41-AA98-0727-84659BD341DF}"/>
                </a:ext>
              </a:extLst>
            </p:cNvPr>
            <p:cNvSpPr txBox="1"/>
            <p:nvPr/>
          </p:nvSpPr>
          <p:spPr>
            <a:xfrm>
              <a:off x="7700361" y="1200150"/>
              <a:ext cx="21444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Web Server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" name="Google Shape;2744;p12">
              <a:extLst>
                <a:ext uri="{FF2B5EF4-FFF2-40B4-BE49-F238E27FC236}">
                  <a16:creationId xmlns:a16="http://schemas.microsoft.com/office/drawing/2014/main" id="{E7E4A84E-5D2F-4C8C-A7B3-876E6B0C8FD1}"/>
                </a:ext>
              </a:extLst>
            </p:cNvPr>
            <p:cNvCxnSpPr/>
            <p:nvPr/>
          </p:nvCxnSpPr>
          <p:spPr>
            <a:xfrm>
              <a:off x="4656280" y="2952750"/>
              <a:ext cx="246842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cxnSp>
          <p:nvCxnSpPr>
            <p:cNvPr id="17" name="Google Shape;2745;p12">
              <a:extLst>
                <a:ext uri="{FF2B5EF4-FFF2-40B4-BE49-F238E27FC236}">
                  <a16:creationId xmlns:a16="http://schemas.microsoft.com/office/drawing/2014/main" id="{03AF5087-0ABE-9DEC-18DC-0C4C91432660}"/>
                </a:ext>
              </a:extLst>
            </p:cNvPr>
            <p:cNvCxnSpPr>
              <a:endCxn id="24" idx="6"/>
            </p:cNvCxnSpPr>
            <p:nvPr/>
          </p:nvCxnSpPr>
          <p:spPr>
            <a:xfrm rot="10800000">
              <a:off x="5096709" y="4501055"/>
              <a:ext cx="2028000" cy="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triangle" w="lg" len="lg"/>
            </a:ln>
          </p:spPr>
        </p:cxnSp>
        <p:sp>
          <p:nvSpPr>
            <p:cNvPr id="18" name="Google Shape;2746;p12">
              <a:extLst>
                <a:ext uri="{FF2B5EF4-FFF2-40B4-BE49-F238E27FC236}">
                  <a16:creationId xmlns:a16="http://schemas.microsoft.com/office/drawing/2014/main" id="{19F05A62-B345-8712-5126-DACCAECEB0A4}"/>
                </a:ext>
              </a:extLst>
            </p:cNvPr>
            <p:cNvSpPr txBox="1"/>
            <p:nvPr/>
          </p:nvSpPr>
          <p:spPr>
            <a:xfrm>
              <a:off x="5105069" y="2404798"/>
              <a:ext cx="20196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HTML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747;p12">
              <a:extLst>
                <a:ext uri="{FF2B5EF4-FFF2-40B4-BE49-F238E27FC236}">
                  <a16:creationId xmlns:a16="http://schemas.microsoft.com/office/drawing/2014/main" id="{6262C84F-A82F-AF4C-97AF-DA32B5849289}"/>
                </a:ext>
              </a:extLst>
            </p:cNvPr>
            <p:cNvSpPr txBox="1"/>
            <p:nvPr/>
          </p:nvSpPr>
          <p:spPr>
            <a:xfrm>
              <a:off x="4637286" y="3951077"/>
              <a:ext cx="3171000" cy="49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HTML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6" name="Google Shape;2748;p12">
            <a:extLst>
              <a:ext uri="{FF2B5EF4-FFF2-40B4-BE49-F238E27FC236}">
                <a16:creationId xmlns:a16="http://schemas.microsoft.com/office/drawing/2014/main" id="{C85D09E2-6519-1CB4-940C-2C9616FD4C1B}"/>
              </a:ext>
            </a:extLst>
          </p:cNvPr>
          <p:cNvSpPr txBox="1"/>
          <p:nvPr/>
        </p:nvSpPr>
        <p:spPr>
          <a:xfrm>
            <a:off x="3961748" y="1248832"/>
            <a:ext cx="4269000" cy="5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CLIENT-SERVER ARCHITECTURE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31500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754;gb34d97dc5c_0_4">
            <a:extLst>
              <a:ext uri="{FF2B5EF4-FFF2-40B4-BE49-F238E27FC236}">
                <a16:creationId xmlns:a16="http://schemas.microsoft.com/office/drawing/2014/main" id="{7035467B-8020-3363-4D4A-BCBF218F5735}"/>
              </a:ext>
            </a:extLst>
          </p:cNvPr>
          <p:cNvSpPr txBox="1"/>
          <p:nvPr/>
        </p:nvSpPr>
        <p:spPr>
          <a:xfrm>
            <a:off x="1206500" y="1444285"/>
            <a:ext cx="97790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 APPLICATION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" name="Google Shape;2755;gb34d97dc5c_0_4">
            <a:extLst>
              <a:ext uri="{FF2B5EF4-FFF2-40B4-BE49-F238E27FC236}">
                <a16:creationId xmlns:a16="http://schemas.microsoft.com/office/drawing/2014/main" id="{53D88D30-247E-7A11-20F8-0DF2BE715809}"/>
              </a:ext>
            </a:extLst>
          </p:cNvPr>
          <p:cNvCxnSpPr/>
          <p:nvPr/>
        </p:nvCxnSpPr>
        <p:spPr>
          <a:xfrm>
            <a:off x="6116295" y="2739979"/>
            <a:ext cx="0" cy="4118021"/>
          </a:xfrm>
          <a:prstGeom prst="straightConnector1">
            <a:avLst/>
          </a:prstGeom>
          <a:noFill/>
          <a:ln w="25400" cap="rnd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1" name="Google Shape;2756;gb34d97dc5c_0_4">
            <a:extLst>
              <a:ext uri="{FF2B5EF4-FFF2-40B4-BE49-F238E27FC236}">
                <a16:creationId xmlns:a16="http://schemas.microsoft.com/office/drawing/2014/main" id="{7698DBE2-1303-EFAD-26DE-878C3E7BD252}"/>
              </a:ext>
            </a:extLst>
          </p:cNvPr>
          <p:cNvGrpSpPr/>
          <p:nvPr/>
        </p:nvGrpSpPr>
        <p:grpSpPr>
          <a:xfrm>
            <a:off x="1131774" y="2183058"/>
            <a:ext cx="3994812" cy="523875"/>
            <a:chOff x="1866900" y="851582"/>
            <a:chExt cx="1924050" cy="523875"/>
          </a:xfrm>
        </p:grpSpPr>
        <p:sp>
          <p:nvSpPr>
            <p:cNvPr id="12" name="Google Shape;2757;gb34d97dc5c_0_4">
              <a:extLst>
                <a:ext uri="{FF2B5EF4-FFF2-40B4-BE49-F238E27FC236}">
                  <a16:creationId xmlns:a16="http://schemas.microsoft.com/office/drawing/2014/main" id="{52DB194A-3BEC-BF9B-0EC1-3E69F6CF5020}"/>
                </a:ext>
              </a:extLst>
            </p:cNvPr>
            <p:cNvSpPr/>
            <p:nvPr/>
          </p:nvSpPr>
          <p:spPr>
            <a:xfrm>
              <a:off x="1866900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758;gb34d97dc5c_0_4">
              <a:extLst>
                <a:ext uri="{FF2B5EF4-FFF2-40B4-BE49-F238E27FC236}">
                  <a16:creationId xmlns:a16="http://schemas.microsoft.com/office/drawing/2014/main" id="{05DFE36D-B38D-343E-059A-A07BBC5C8A94}"/>
                </a:ext>
              </a:extLst>
            </p:cNvPr>
            <p:cNvSpPr/>
            <p:nvPr/>
          </p:nvSpPr>
          <p:spPr>
            <a:xfrm>
              <a:off x="2106141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Tiers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2759;gb34d97dc5c_0_4">
            <a:extLst>
              <a:ext uri="{FF2B5EF4-FFF2-40B4-BE49-F238E27FC236}">
                <a16:creationId xmlns:a16="http://schemas.microsoft.com/office/drawing/2014/main" id="{65BBD9B5-8545-1C2C-29F9-B3576F5764EE}"/>
              </a:ext>
            </a:extLst>
          </p:cNvPr>
          <p:cNvGrpSpPr/>
          <p:nvPr/>
        </p:nvGrpSpPr>
        <p:grpSpPr>
          <a:xfrm>
            <a:off x="7130390" y="2183058"/>
            <a:ext cx="3994812" cy="523875"/>
            <a:chOff x="8124825" y="851582"/>
            <a:chExt cx="1924050" cy="523875"/>
          </a:xfrm>
        </p:grpSpPr>
        <p:sp>
          <p:nvSpPr>
            <p:cNvPr id="15" name="Google Shape;2760;gb34d97dc5c_0_4">
              <a:extLst>
                <a:ext uri="{FF2B5EF4-FFF2-40B4-BE49-F238E27FC236}">
                  <a16:creationId xmlns:a16="http://schemas.microsoft.com/office/drawing/2014/main" id="{C35724B7-5F8F-F855-B446-BCE7314CE27B}"/>
                </a:ext>
              </a:extLst>
            </p:cNvPr>
            <p:cNvSpPr/>
            <p:nvPr/>
          </p:nvSpPr>
          <p:spPr>
            <a:xfrm>
              <a:off x="8124825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2761;gb34d97dc5c_0_4">
              <a:extLst>
                <a:ext uri="{FF2B5EF4-FFF2-40B4-BE49-F238E27FC236}">
                  <a16:creationId xmlns:a16="http://schemas.microsoft.com/office/drawing/2014/main" id="{F38DE821-D0ED-53ED-8113-4BA274B1F8EE}"/>
                </a:ext>
              </a:extLst>
            </p:cNvPr>
            <p:cNvSpPr/>
            <p:nvPr/>
          </p:nvSpPr>
          <p:spPr>
            <a:xfrm>
              <a:off x="8364066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Layers</a:t>
              </a:r>
              <a:endParaRPr sz="200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" name="Google Shape;2762;gb34d97dc5c_0_4">
            <a:extLst>
              <a:ext uri="{FF2B5EF4-FFF2-40B4-BE49-F238E27FC236}">
                <a16:creationId xmlns:a16="http://schemas.microsoft.com/office/drawing/2014/main" id="{5E4DA29E-34F3-84C4-7B30-F4686DC9BC26}"/>
              </a:ext>
            </a:extLst>
          </p:cNvPr>
          <p:cNvGrpSpPr/>
          <p:nvPr/>
        </p:nvGrpSpPr>
        <p:grpSpPr>
          <a:xfrm>
            <a:off x="337921" y="3237564"/>
            <a:ext cx="5569771" cy="2960142"/>
            <a:chOff x="337921" y="1873405"/>
            <a:chExt cx="5569771" cy="3256156"/>
          </a:xfrm>
        </p:grpSpPr>
        <p:grpSp>
          <p:nvGrpSpPr>
            <p:cNvPr id="18" name="Google Shape;2763;gb34d97dc5c_0_4">
              <a:extLst>
                <a:ext uri="{FF2B5EF4-FFF2-40B4-BE49-F238E27FC236}">
                  <a16:creationId xmlns:a16="http://schemas.microsoft.com/office/drawing/2014/main" id="{62B9FFAD-D76B-47A3-60E0-7B71B2D7B89A}"/>
                </a:ext>
              </a:extLst>
            </p:cNvPr>
            <p:cNvGrpSpPr/>
            <p:nvPr/>
          </p:nvGrpSpPr>
          <p:grpSpPr>
            <a:xfrm>
              <a:off x="430394" y="2374637"/>
              <a:ext cx="5384825" cy="2253692"/>
              <a:chOff x="414120" y="2607980"/>
              <a:chExt cx="5384825" cy="2253692"/>
            </a:xfrm>
          </p:grpSpPr>
          <p:pic>
            <p:nvPicPr>
              <p:cNvPr id="20" name="Google Shape;2764;gb34d97dc5c_0_4">
                <a:extLst>
                  <a:ext uri="{FF2B5EF4-FFF2-40B4-BE49-F238E27FC236}">
                    <a16:creationId xmlns:a16="http://schemas.microsoft.com/office/drawing/2014/main" id="{FF5352A2-94B6-9632-B75F-F6B965D7C0FB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414120" y="2607980"/>
                <a:ext cx="1613704" cy="2058135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21" name="Google Shape;2765;gb34d97dc5c_0_4">
                <a:extLst>
                  <a:ext uri="{FF2B5EF4-FFF2-40B4-BE49-F238E27FC236}">
                    <a16:creationId xmlns:a16="http://schemas.microsoft.com/office/drawing/2014/main" id="{C07CC899-60F8-64AA-3FCA-77B6BC9BB6D4}"/>
                  </a:ext>
                </a:extLst>
              </p:cNvPr>
              <p:cNvGrpSpPr/>
              <p:nvPr/>
            </p:nvGrpSpPr>
            <p:grpSpPr>
              <a:xfrm>
                <a:off x="2677815" y="2751559"/>
                <a:ext cx="1081829" cy="1411609"/>
                <a:chOff x="2419364" y="2815412"/>
                <a:chExt cx="1081829" cy="1411609"/>
              </a:xfrm>
            </p:grpSpPr>
            <p:pic>
              <p:nvPicPr>
                <p:cNvPr id="30" name="Google Shape;2766;gb34d97dc5c_0_4">
                  <a:extLst>
                    <a:ext uri="{FF2B5EF4-FFF2-40B4-BE49-F238E27FC236}">
                      <a16:creationId xmlns:a16="http://schemas.microsoft.com/office/drawing/2014/main" id="{82381BE8-9B86-CCA6-BDD2-A8D62D173316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l="34561" t="30175" r="34473" b="39182"/>
                <a:stretch/>
              </p:blipFill>
              <p:spPr>
                <a:xfrm>
                  <a:off x="2419364" y="3156478"/>
                  <a:ext cx="1081829" cy="107054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pic>
            <p:pic>
              <p:nvPicPr>
                <p:cNvPr id="31" name="Google Shape;2767;gb34d97dc5c_0_4">
                  <a:extLst>
                    <a:ext uri="{FF2B5EF4-FFF2-40B4-BE49-F238E27FC236}">
                      <a16:creationId xmlns:a16="http://schemas.microsoft.com/office/drawing/2014/main" id="{7BEC3243-D778-CA5B-E41A-E66165660611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l="34561" t="30175" r="34473" b="58803"/>
                <a:stretch/>
              </p:blipFill>
              <p:spPr>
                <a:xfrm>
                  <a:off x="2419364" y="2815412"/>
                  <a:ext cx="1081829" cy="385033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pic>
          </p:grpSp>
          <p:grpSp>
            <p:nvGrpSpPr>
              <p:cNvPr id="22" name="Google Shape;2768;gb34d97dc5c_0_4">
                <a:extLst>
                  <a:ext uri="{FF2B5EF4-FFF2-40B4-BE49-F238E27FC236}">
                    <a16:creationId xmlns:a16="http://schemas.microsoft.com/office/drawing/2014/main" id="{A20E7FA7-12E8-FD7C-5180-30031A1A3133}"/>
                  </a:ext>
                </a:extLst>
              </p:cNvPr>
              <p:cNvGrpSpPr/>
              <p:nvPr/>
            </p:nvGrpSpPr>
            <p:grpSpPr>
              <a:xfrm>
                <a:off x="4409634" y="3091101"/>
                <a:ext cx="1389311" cy="406769"/>
                <a:chOff x="4409634" y="3152537"/>
                <a:chExt cx="1389311" cy="406769"/>
              </a:xfrm>
            </p:grpSpPr>
            <p:pic>
              <p:nvPicPr>
                <p:cNvPr id="28" name="Google Shape;2769;gb34d97dc5c_0_4">
                  <a:extLst>
                    <a:ext uri="{FF2B5EF4-FFF2-40B4-BE49-F238E27FC236}">
                      <a16:creationId xmlns:a16="http://schemas.microsoft.com/office/drawing/2014/main" id="{2A77C249-266C-5476-4B0B-5950E698B838}"/>
                    </a:ext>
                  </a:extLst>
                </p:cNvPr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l="34561" t="30175" r="34473" b="58803"/>
                <a:stretch/>
              </p:blipFill>
              <p:spPr>
                <a:xfrm>
                  <a:off x="4409634" y="3152537"/>
                  <a:ext cx="1142902" cy="406769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</p:pic>
            <p:sp>
              <p:nvSpPr>
                <p:cNvPr id="29" name="Google Shape;2770;gb34d97dc5c_0_4">
                  <a:extLst>
                    <a:ext uri="{FF2B5EF4-FFF2-40B4-BE49-F238E27FC236}">
                      <a16:creationId xmlns:a16="http://schemas.microsoft.com/office/drawing/2014/main" id="{DB379DF1-1C4B-9F53-C46D-7513A5AE8D6C}"/>
                    </a:ext>
                  </a:extLst>
                </p:cNvPr>
                <p:cNvSpPr/>
                <p:nvPr/>
              </p:nvSpPr>
              <p:spPr>
                <a:xfrm>
                  <a:off x="5552536" y="3314454"/>
                  <a:ext cx="246409" cy="203385"/>
                </a:xfrm>
                <a:prstGeom prst="flowChartMagneticDisk">
                  <a:avLst/>
                </a:prstGeom>
                <a:solidFill>
                  <a:schemeClr val="lt1"/>
                </a:solidFill>
                <a:ln w="25400" cap="flat" cmpd="sng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3" name="Google Shape;2771;gb34d97dc5c_0_4">
                <a:extLst>
                  <a:ext uri="{FF2B5EF4-FFF2-40B4-BE49-F238E27FC236}">
                    <a16:creationId xmlns:a16="http://schemas.microsoft.com/office/drawing/2014/main" id="{711108A5-72B4-96A2-FF3F-9CA91F901E09}"/>
                  </a:ext>
                </a:extLst>
              </p:cNvPr>
              <p:cNvSpPr txBox="1"/>
              <p:nvPr/>
            </p:nvSpPr>
            <p:spPr>
              <a:xfrm>
                <a:off x="599528" y="4233471"/>
                <a:ext cx="1026072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Client Tier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772;gb34d97dc5c_0_4">
                <a:extLst>
                  <a:ext uri="{FF2B5EF4-FFF2-40B4-BE49-F238E27FC236}">
                    <a16:creationId xmlns:a16="http://schemas.microsoft.com/office/drawing/2014/main" id="{FA639F20-E389-20B8-3111-17BB3B64EEDA}"/>
                  </a:ext>
                </a:extLst>
              </p:cNvPr>
              <p:cNvSpPr txBox="1"/>
              <p:nvPr/>
            </p:nvSpPr>
            <p:spPr>
              <a:xfrm>
                <a:off x="2607214" y="4276897"/>
                <a:ext cx="115218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Business Tier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773;gb34d97dc5c_0_4">
                <a:extLst>
                  <a:ext uri="{FF2B5EF4-FFF2-40B4-BE49-F238E27FC236}">
                    <a16:creationId xmlns:a16="http://schemas.microsoft.com/office/drawing/2014/main" id="{41DA16D8-3350-98B2-9D63-614A0F1D0D84}"/>
                  </a:ext>
                </a:extLst>
              </p:cNvPr>
              <p:cNvSpPr txBox="1"/>
              <p:nvPr/>
            </p:nvSpPr>
            <p:spPr>
              <a:xfrm>
                <a:off x="4409634" y="4276897"/>
                <a:ext cx="1209081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Storage Tier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774;gb34d97dc5c_0_4">
                <a:extLst>
                  <a:ext uri="{FF2B5EF4-FFF2-40B4-BE49-F238E27FC236}">
                    <a16:creationId xmlns:a16="http://schemas.microsoft.com/office/drawing/2014/main" id="{566C9D68-6940-7C2F-69C0-29361BC30E3D}"/>
                  </a:ext>
                </a:extLst>
              </p:cNvPr>
              <p:cNvSpPr/>
              <p:nvPr/>
            </p:nvSpPr>
            <p:spPr>
              <a:xfrm>
                <a:off x="1543050" y="3310758"/>
                <a:ext cx="1219200" cy="45719"/>
              </a:xfrm>
              <a:custGeom>
                <a:avLst/>
                <a:gdLst/>
                <a:ahLst/>
                <a:cxnLst/>
                <a:rect l="l" t="t" r="r" b="b"/>
                <a:pathLst>
                  <a:path w="930165" h="120000" extrusionOk="0">
                    <a:moveTo>
                      <a:pt x="0" y="0"/>
                    </a:moveTo>
                    <a:lnTo>
                      <a:pt x="930165" y="0"/>
                    </a:lnTo>
                  </a:path>
                </a:pathLst>
              </a:cu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75;gb34d97dc5c_0_4">
                <a:extLst>
                  <a:ext uri="{FF2B5EF4-FFF2-40B4-BE49-F238E27FC236}">
                    <a16:creationId xmlns:a16="http://schemas.microsoft.com/office/drawing/2014/main" id="{63FF9186-0A7B-6DEB-F2A0-EB9BFF5650CB}"/>
                  </a:ext>
                </a:extLst>
              </p:cNvPr>
              <p:cNvSpPr/>
              <p:nvPr/>
            </p:nvSpPr>
            <p:spPr>
              <a:xfrm rot="10800000" flipH="1">
                <a:off x="3669149" y="3267281"/>
                <a:ext cx="833001" cy="67443"/>
              </a:xfrm>
              <a:custGeom>
                <a:avLst/>
                <a:gdLst/>
                <a:ahLst/>
                <a:cxnLst/>
                <a:rect l="l" t="t" r="r" b="b"/>
                <a:pathLst>
                  <a:path w="930165" h="120000" extrusionOk="0">
                    <a:moveTo>
                      <a:pt x="0" y="0"/>
                    </a:moveTo>
                    <a:lnTo>
                      <a:pt x="930165" y="0"/>
                    </a:lnTo>
                  </a:path>
                </a:pathLst>
              </a:cu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9" name="Google Shape;2776;gb34d97dc5c_0_4">
              <a:extLst>
                <a:ext uri="{FF2B5EF4-FFF2-40B4-BE49-F238E27FC236}">
                  <a16:creationId xmlns:a16="http://schemas.microsoft.com/office/drawing/2014/main" id="{5F2C794C-7622-7BB1-D748-7DAF8CE68040}"/>
                </a:ext>
              </a:extLst>
            </p:cNvPr>
            <p:cNvSpPr/>
            <p:nvPr/>
          </p:nvSpPr>
          <p:spPr>
            <a:xfrm>
              <a:off x="337921" y="1873405"/>
              <a:ext cx="5569771" cy="3256156"/>
            </a:xfrm>
            <a:prstGeom prst="roundRect">
              <a:avLst>
                <a:gd name="adj" fmla="val 4338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2" name="Google Shape;2777;gb34d97dc5c_0_4">
            <a:extLst>
              <a:ext uri="{FF2B5EF4-FFF2-40B4-BE49-F238E27FC236}">
                <a16:creationId xmlns:a16="http://schemas.microsoft.com/office/drawing/2014/main" id="{F628299C-3421-D43E-C722-69452F77C1EB}"/>
              </a:ext>
            </a:extLst>
          </p:cNvPr>
          <p:cNvGrpSpPr/>
          <p:nvPr/>
        </p:nvGrpSpPr>
        <p:grpSpPr>
          <a:xfrm>
            <a:off x="6315937" y="3237564"/>
            <a:ext cx="5569771" cy="2960142"/>
            <a:chOff x="6315937" y="1873405"/>
            <a:chExt cx="5569771" cy="3256156"/>
          </a:xfrm>
        </p:grpSpPr>
        <p:grpSp>
          <p:nvGrpSpPr>
            <p:cNvPr id="33" name="Google Shape;2778;gb34d97dc5c_0_4">
              <a:extLst>
                <a:ext uri="{FF2B5EF4-FFF2-40B4-BE49-F238E27FC236}">
                  <a16:creationId xmlns:a16="http://schemas.microsoft.com/office/drawing/2014/main" id="{32FBDD03-DA15-DA29-2188-3C084188B5F0}"/>
                </a:ext>
              </a:extLst>
            </p:cNvPr>
            <p:cNvGrpSpPr/>
            <p:nvPr/>
          </p:nvGrpSpPr>
          <p:grpSpPr>
            <a:xfrm>
              <a:off x="6482128" y="2976621"/>
              <a:ext cx="5237389" cy="1651708"/>
              <a:chOff x="6431283" y="2605317"/>
              <a:chExt cx="5237389" cy="1651708"/>
            </a:xfrm>
          </p:grpSpPr>
          <p:grpSp>
            <p:nvGrpSpPr>
              <p:cNvPr id="35" name="Google Shape;2779;gb34d97dc5c_0_4">
                <a:extLst>
                  <a:ext uri="{FF2B5EF4-FFF2-40B4-BE49-F238E27FC236}">
                    <a16:creationId xmlns:a16="http://schemas.microsoft.com/office/drawing/2014/main" id="{7A07937C-A138-768F-4F24-A7CE9CA1A443}"/>
                  </a:ext>
                </a:extLst>
              </p:cNvPr>
              <p:cNvGrpSpPr/>
              <p:nvPr/>
            </p:nvGrpSpPr>
            <p:grpSpPr>
              <a:xfrm>
                <a:off x="6762090" y="2605317"/>
                <a:ext cx="1117602" cy="982979"/>
                <a:chOff x="7115665" y="2019300"/>
                <a:chExt cx="1649481" cy="1450789"/>
              </a:xfrm>
            </p:grpSpPr>
            <p:pic>
              <p:nvPicPr>
                <p:cNvPr id="48" name="Google Shape;2780;gb34d97dc5c_0_4">
                  <a:extLst>
                    <a:ext uri="{FF2B5EF4-FFF2-40B4-BE49-F238E27FC236}">
                      <a16:creationId xmlns:a16="http://schemas.microsoft.com/office/drawing/2014/main" id="{8F8E70D3-CBCB-DA02-61AA-B96D0939A6A0}"/>
                    </a:ext>
                  </a:extLst>
                </p:cNvPr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/>
                <a:stretch/>
              </p:blipFill>
              <p:spPr>
                <a:xfrm>
                  <a:off x="7115665" y="2019300"/>
                  <a:ext cx="1346403" cy="1346403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grpSp>
              <p:nvGrpSpPr>
                <p:cNvPr id="49" name="Google Shape;2781;gb34d97dc5c_0_4">
                  <a:extLst>
                    <a:ext uri="{FF2B5EF4-FFF2-40B4-BE49-F238E27FC236}">
                      <a16:creationId xmlns:a16="http://schemas.microsoft.com/office/drawing/2014/main" id="{310BE8E7-1C62-981F-DC90-955B42591031}"/>
                    </a:ext>
                  </a:extLst>
                </p:cNvPr>
                <p:cNvGrpSpPr/>
                <p:nvPr/>
              </p:nvGrpSpPr>
              <p:grpSpPr>
                <a:xfrm>
                  <a:off x="7987558" y="2648789"/>
                  <a:ext cx="777588" cy="821300"/>
                  <a:chOff x="7987558" y="2648789"/>
                  <a:chExt cx="777588" cy="821300"/>
                </a:xfrm>
              </p:grpSpPr>
              <p:sp>
                <p:nvSpPr>
                  <p:cNvPr id="50" name="Google Shape;2782;gb34d97dc5c_0_4">
                    <a:extLst>
                      <a:ext uri="{FF2B5EF4-FFF2-40B4-BE49-F238E27FC236}">
                        <a16:creationId xmlns:a16="http://schemas.microsoft.com/office/drawing/2014/main" id="{D096E06A-01EB-F3E0-D926-AB9A8D0FAA73}"/>
                      </a:ext>
                    </a:extLst>
                  </p:cNvPr>
                  <p:cNvSpPr/>
                  <p:nvPr/>
                </p:nvSpPr>
                <p:spPr>
                  <a:xfrm>
                    <a:off x="7987558" y="2692501"/>
                    <a:ext cx="777588" cy="777588"/>
                  </a:xfrm>
                  <a:prstGeom prst="ellipse">
                    <a:avLst/>
                  </a:prstGeom>
                  <a:solidFill>
                    <a:schemeClr val="lt1"/>
                  </a:solidFill>
                  <a:ln w="25400" cap="flat" cmpd="sng">
                    <a:solidFill>
                      <a:srgbClr val="8A8A8A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000000"/>
                      </a:buClr>
                      <a:buSzPts val="1400"/>
                      <a:buFont typeface="Arial"/>
                      <a:buNone/>
                    </a:pPr>
                    <a:endParaRPr sz="1400" b="0" i="0" u="none" strike="noStrike" cap="none">
                      <a:solidFill>
                        <a:schemeClr val="lt1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pic>
                <p:nvPicPr>
                  <p:cNvPr id="51" name="Google Shape;2783;gb34d97dc5c_0_4">
                    <a:extLst>
                      <a:ext uri="{FF2B5EF4-FFF2-40B4-BE49-F238E27FC236}">
                        <a16:creationId xmlns:a16="http://schemas.microsoft.com/office/drawing/2014/main" id="{C523A0D2-B5D9-FC69-80C2-7BAF50A5F993}"/>
                      </a:ext>
                    </a:extLst>
                  </p:cNvPr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/>
                  <a:stretch/>
                </p:blipFill>
                <p:spPr>
                  <a:xfrm>
                    <a:off x="7987558" y="2648789"/>
                    <a:ext cx="777588" cy="77758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</p:grpSp>
          </p:grpSp>
          <p:sp>
            <p:nvSpPr>
              <p:cNvPr id="36" name="Google Shape;2784;gb34d97dc5c_0_4">
                <a:extLst>
                  <a:ext uri="{FF2B5EF4-FFF2-40B4-BE49-F238E27FC236}">
                    <a16:creationId xmlns:a16="http://schemas.microsoft.com/office/drawing/2014/main" id="{3E5F7A18-500D-4AEF-3F82-B18186C9A259}"/>
                  </a:ext>
                </a:extLst>
              </p:cNvPr>
              <p:cNvSpPr/>
              <p:nvPr/>
            </p:nvSpPr>
            <p:spPr>
              <a:xfrm>
                <a:off x="10621696" y="2726828"/>
                <a:ext cx="727608" cy="600565"/>
              </a:xfrm>
              <a:prstGeom prst="flowChartMagneticDisk">
                <a:avLst/>
              </a:prstGeom>
              <a:solidFill>
                <a:schemeClr val="lt1"/>
              </a:solidFill>
              <a:ln w="28575" cap="flat" cmpd="sng">
                <a:solidFill>
                  <a:srgbClr val="64646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7" name="Google Shape;2785;gb34d97dc5c_0_4">
                <a:extLst>
                  <a:ext uri="{FF2B5EF4-FFF2-40B4-BE49-F238E27FC236}">
                    <a16:creationId xmlns:a16="http://schemas.microsoft.com/office/drawing/2014/main" id="{B02C7371-B0B7-E992-846F-6F20B03F762E}"/>
                  </a:ext>
                </a:extLst>
              </p:cNvPr>
              <p:cNvGrpSpPr/>
              <p:nvPr/>
            </p:nvGrpSpPr>
            <p:grpSpPr>
              <a:xfrm>
                <a:off x="8528740" y="2796524"/>
                <a:ext cx="1443909" cy="600565"/>
                <a:chOff x="8496252" y="2677724"/>
                <a:chExt cx="1593567" cy="662813"/>
              </a:xfrm>
            </p:grpSpPr>
            <p:sp>
              <p:nvSpPr>
                <p:cNvPr id="43" name="Google Shape;2786;gb34d97dc5c_0_4">
                  <a:extLst>
                    <a:ext uri="{FF2B5EF4-FFF2-40B4-BE49-F238E27FC236}">
                      <a16:creationId xmlns:a16="http://schemas.microsoft.com/office/drawing/2014/main" id="{9BF7CC5D-FDFC-38D8-1727-6A934065467F}"/>
                    </a:ext>
                  </a:extLst>
                </p:cNvPr>
                <p:cNvSpPr/>
                <p:nvPr/>
              </p:nvSpPr>
              <p:spPr>
                <a:xfrm>
                  <a:off x="8496252" y="2677724"/>
                  <a:ext cx="1593567" cy="662813"/>
                </a:xfrm>
                <a:prstGeom prst="cube">
                  <a:avLst>
                    <a:gd name="adj" fmla="val 69116"/>
                  </a:avLst>
                </a:prstGeom>
                <a:noFill/>
                <a:ln w="28575" cap="flat" cmpd="sng">
                  <a:solidFill>
                    <a:srgbClr val="646464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cxnSp>
              <p:nvCxnSpPr>
                <p:cNvPr id="44" name="Google Shape;2787;gb34d97dc5c_0_4">
                  <a:extLst>
                    <a:ext uri="{FF2B5EF4-FFF2-40B4-BE49-F238E27FC236}">
                      <a16:creationId xmlns:a16="http://schemas.microsoft.com/office/drawing/2014/main" id="{62702DF9-85CC-B943-75E6-582555AA1B23}"/>
                    </a:ext>
                  </a:extLst>
                </p:cNvPr>
                <p:cNvCxnSpPr/>
                <p:nvPr/>
              </p:nvCxnSpPr>
              <p:spPr>
                <a:xfrm rot="10800000">
                  <a:off x="8744379" y="2963903"/>
                  <a:ext cx="464417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triangle" w="lg" len="lg"/>
                </a:ln>
              </p:spPr>
            </p:cxnSp>
            <p:cxnSp>
              <p:nvCxnSpPr>
                <p:cNvPr id="45" name="Google Shape;2788;gb34d97dc5c_0_4">
                  <a:extLst>
                    <a:ext uri="{FF2B5EF4-FFF2-40B4-BE49-F238E27FC236}">
                      <a16:creationId xmlns:a16="http://schemas.microsoft.com/office/drawing/2014/main" id="{4E45F378-C4AD-44F5-A9DA-3D934B838673}"/>
                    </a:ext>
                  </a:extLst>
                </p:cNvPr>
                <p:cNvCxnSpPr/>
                <p:nvPr/>
              </p:nvCxnSpPr>
              <p:spPr>
                <a:xfrm rot="10800000">
                  <a:off x="8895585" y="2821697"/>
                  <a:ext cx="464417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triangle" w="lg" len="lg"/>
                </a:ln>
              </p:spPr>
            </p:cxnSp>
            <p:cxnSp>
              <p:nvCxnSpPr>
                <p:cNvPr id="46" name="Google Shape;2789;gb34d97dc5c_0_4">
                  <a:extLst>
                    <a:ext uri="{FF2B5EF4-FFF2-40B4-BE49-F238E27FC236}">
                      <a16:creationId xmlns:a16="http://schemas.microsoft.com/office/drawing/2014/main" id="{6D8F7FEE-0372-20CF-ADB5-582347EE6ECD}"/>
                    </a:ext>
                  </a:extLst>
                </p:cNvPr>
                <p:cNvCxnSpPr/>
                <p:nvPr/>
              </p:nvCxnSpPr>
              <p:spPr>
                <a:xfrm>
                  <a:off x="9208796" y="3026036"/>
                  <a:ext cx="464417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triangle" w="lg" len="lg"/>
                </a:ln>
              </p:spPr>
            </p:cxnSp>
            <p:cxnSp>
              <p:nvCxnSpPr>
                <p:cNvPr id="47" name="Google Shape;2790;gb34d97dc5c_0_4">
                  <a:extLst>
                    <a:ext uri="{FF2B5EF4-FFF2-40B4-BE49-F238E27FC236}">
                      <a16:creationId xmlns:a16="http://schemas.microsoft.com/office/drawing/2014/main" id="{AFBD6B71-148E-2A02-048C-3885EB20C942}"/>
                    </a:ext>
                  </a:extLst>
                </p:cNvPr>
                <p:cNvCxnSpPr/>
                <p:nvPr/>
              </p:nvCxnSpPr>
              <p:spPr>
                <a:xfrm>
                  <a:off x="9293035" y="2894138"/>
                  <a:ext cx="464417" cy="0"/>
                </a:xfrm>
                <a:prstGeom prst="straightConnector1">
                  <a:avLst/>
                </a:prstGeom>
                <a:noFill/>
                <a:ln w="2857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triangle" w="lg" len="lg"/>
                </a:ln>
              </p:spPr>
            </p:cxnSp>
          </p:grpSp>
          <p:sp>
            <p:nvSpPr>
              <p:cNvPr id="38" name="Google Shape;2791;gb34d97dc5c_0_4">
                <a:extLst>
                  <a:ext uri="{FF2B5EF4-FFF2-40B4-BE49-F238E27FC236}">
                    <a16:creationId xmlns:a16="http://schemas.microsoft.com/office/drawing/2014/main" id="{268819AA-3317-2E5B-5BC4-A78B891C1674}"/>
                  </a:ext>
                </a:extLst>
              </p:cNvPr>
              <p:cNvSpPr/>
              <p:nvPr/>
            </p:nvSpPr>
            <p:spPr>
              <a:xfrm rot="10800000" flipH="1">
                <a:off x="7794982" y="2969248"/>
                <a:ext cx="843937" cy="140191"/>
              </a:xfrm>
              <a:custGeom>
                <a:avLst/>
                <a:gdLst/>
                <a:ahLst/>
                <a:cxnLst/>
                <a:rect l="l" t="t" r="r" b="b"/>
                <a:pathLst>
                  <a:path w="930165" h="120000" extrusionOk="0">
                    <a:moveTo>
                      <a:pt x="0" y="0"/>
                    </a:moveTo>
                    <a:lnTo>
                      <a:pt x="930165" y="0"/>
                    </a:lnTo>
                  </a:path>
                </a:pathLst>
              </a:cu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triangle" w="lg" len="lg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2792;gb34d97dc5c_0_4">
                <a:extLst>
                  <a:ext uri="{FF2B5EF4-FFF2-40B4-BE49-F238E27FC236}">
                    <a16:creationId xmlns:a16="http://schemas.microsoft.com/office/drawing/2014/main" id="{B9606074-8ECB-D242-7365-C0445DB85A98}"/>
                  </a:ext>
                </a:extLst>
              </p:cNvPr>
              <p:cNvSpPr/>
              <p:nvPr/>
            </p:nvSpPr>
            <p:spPr>
              <a:xfrm rot="10800000" flipH="1">
                <a:off x="9891261" y="3025626"/>
                <a:ext cx="727608" cy="83812"/>
              </a:xfrm>
              <a:custGeom>
                <a:avLst/>
                <a:gdLst/>
                <a:ahLst/>
                <a:cxnLst/>
                <a:rect l="l" t="t" r="r" b="b"/>
                <a:pathLst>
                  <a:path w="930165" h="120000" extrusionOk="0">
                    <a:moveTo>
                      <a:pt x="0" y="0"/>
                    </a:moveTo>
                    <a:lnTo>
                      <a:pt x="930165" y="0"/>
                    </a:lnTo>
                  </a:path>
                </a:pathLst>
              </a:cu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triangle" w="lg" len="lg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2793;gb34d97dc5c_0_4">
                <a:extLst>
                  <a:ext uri="{FF2B5EF4-FFF2-40B4-BE49-F238E27FC236}">
                    <a16:creationId xmlns:a16="http://schemas.microsoft.com/office/drawing/2014/main" id="{0CB96D9A-8D40-2CD5-56AE-F6EB8D2725FC}"/>
                  </a:ext>
                </a:extLst>
              </p:cNvPr>
              <p:cNvSpPr txBox="1"/>
              <p:nvPr/>
            </p:nvSpPr>
            <p:spPr>
              <a:xfrm>
                <a:off x="6431283" y="3672250"/>
                <a:ext cx="143922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Presentation Layer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" name="Google Shape;2794;gb34d97dc5c_0_4">
                <a:extLst>
                  <a:ext uri="{FF2B5EF4-FFF2-40B4-BE49-F238E27FC236}">
                    <a16:creationId xmlns:a16="http://schemas.microsoft.com/office/drawing/2014/main" id="{AE4675EA-7406-95E7-DB41-375D97CE54C3}"/>
                  </a:ext>
                </a:extLst>
              </p:cNvPr>
              <p:cNvSpPr txBox="1"/>
              <p:nvPr/>
            </p:nvSpPr>
            <p:spPr>
              <a:xfrm>
                <a:off x="8381209" y="3672250"/>
                <a:ext cx="1439229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Business Logic Layer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2795;gb34d97dc5c_0_4">
                <a:extLst>
                  <a:ext uri="{FF2B5EF4-FFF2-40B4-BE49-F238E27FC236}">
                    <a16:creationId xmlns:a16="http://schemas.microsoft.com/office/drawing/2014/main" id="{B9C74F70-D87F-7254-729E-E4B09EC88FD2}"/>
                  </a:ext>
                </a:extLst>
              </p:cNvPr>
              <p:cNvSpPr txBox="1"/>
              <p:nvPr/>
            </p:nvSpPr>
            <p:spPr>
              <a:xfrm>
                <a:off x="10537394" y="3672250"/>
                <a:ext cx="1131278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Storage Layer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4" name="Google Shape;2796;gb34d97dc5c_0_4">
              <a:extLst>
                <a:ext uri="{FF2B5EF4-FFF2-40B4-BE49-F238E27FC236}">
                  <a16:creationId xmlns:a16="http://schemas.microsoft.com/office/drawing/2014/main" id="{4313A32A-2957-5A4A-BCC3-17D48247B52E}"/>
                </a:ext>
              </a:extLst>
            </p:cNvPr>
            <p:cNvSpPr/>
            <p:nvPr/>
          </p:nvSpPr>
          <p:spPr>
            <a:xfrm>
              <a:off x="6315937" y="1873405"/>
              <a:ext cx="5569771" cy="3256156"/>
            </a:xfrm>
            <a:prstGeom prst="roundRect">
              <a:avLst>
                <a:gd name="adj" fmla="val 4338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2801;p19" descr="Gmail Login Sign in">
            <a:extLst>
              <a:ext uri="{FF2B5EF4-FFF2-40B4-BE49-F238E27FC236}">
                <a16:creationId xmlns:a16="http://schemas.microsoft.com/office/drawing/2014/main" id="{D13F128C-767F-2CBC-8F50-276F95BC520B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7648" t="8107" r="3355" b="8327"/>
          <a:stretch/>
        </p:blipFill>
        <p:spPr>
          <a:xfrm>
            <a:off x="6754397" y="2608326"/>
            <a:ext cx="4610100" cy="3693974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2802;p19">
            <a:extLst>
              <a:ext uri="{FF2B5EF4-FFF2-40B4-BE49-F238E27FC236}">
                <a16:creationId xmlns:a16="http://schemas.microsoft.com/office/drawing/2014/main" id="{D8981E62-823A-46A9-ED5B-0C60D34A0770}"/>
              </a:ext>
            </a:extLst>
          </p:cNvPr>
          <p:cNvSpPr txBox="1"/>
          <p:nvPr/>
        </p:nvSpPr>
        <p:spPr>
          <a:xfrm>
            <a:off x="3885686" y="1145965"/>
            <a:ext cx="27627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</a:rPr>
              <a:t>PRESENTATION LAYER</a:t>
            </a:r>
            <a:endParaRPr/>
          </a:p>
        </p:txBody>
      </p:sp>
      <p:sp>
        <p:nvSpPr>
          <p:cNvPr id="11" name="Google Shape;2803;p19">
            <a:extLst>
              <a:ext uri="{FF2B5EF4-FFF2-40B4-BE49-F238E27FC236}">
                <a16:creationId xmlns:a16="http://schemas.microsoft.com/office/drawing/2014/main" id="{BE6AD323-B9DC-0D6F-5143-031532E927C7}"/>
              </a:ext>
            </a:extLst>
          </p:cNvPr>
          <p:cNvSpPr txBox="1"/>
          <p:nvPr/>
        </p:nvSpPr>
        <p:spPr>
          <a:xfrm>
            <a:off x="827503" y="2944544"/>
            <a:ext cx="5282100" cy="3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also called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the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1" i="0" u="none" strike="noStrike" cap="non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rPr>
              <a:t>client layer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 consists of the user interface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user interface is mostly a graphic user interface that is accessible over a web browser or any web-based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main functionality of the presentation layer is to communicate with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 layer. This layer passes the informat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</a:ext>
                </a:extLst>
              </a:rPr>
              <a:t>ion inputted by the end user through  keyboard inputs and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mouse clicks to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l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tier is often built on web technologies such as CSS, HTML5, or JavaScript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For example: Gmail login page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40239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808;p20">
            <a:extLst>
              <a:ext uri="{FF2B5EF4-FFF2-40B4-BE49-F238E27FC236}">
                <a16:creationId xmlns:a16="http://schemas.microsoft.com/office/drawing/2014/main" id="{C9EFD373-CC7E-ABD5-23B6-E64D75BFD7D5}"/>
              </a:ext>
            </a:extLst>
          </p:cNvPr>
          <p:cNvSpPr txBox="1"/>
          <p:nvPr/>
        </p:nvSpPr>
        <p:spPr>
          <a:xfrm>
            <a:off x="4423545" y="1233385"/>
            <a:ext cx="396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</a:rPr>
              <a:t>APPLICATION LAYER</a:t>
            </a:r>
            <a:endParaRPr/>
          </a:p>
        </p:txBody>
      </p:sp>
      <p:sp>
        <p:nvSpPr>
          <p:cNvPr id="10" name="Google Shape;2809;p20">
            <a:extLst>
              <a:ext uri="{FF2B5EF4-FFF2-40B4-BE49-F238E27FC236}">
                <a16:creationId xmlns:a16="http://schemas.microsoft.com/office/drawing/2014/main" id="{C8438442-F78D-5C71-E4F0-9627DD8F2ED7}"/>
              </a:ext>
            </a:extLst>
          </p:cNvPr>
          <p:cNvSpPr txBox="1"/>
          <p:nvPr/>
        </p:nvSpPr>
        <p:spPr>
          <a:xfrm>
            <a:off x="827503" y="3457729"/>
            <a:ext cx="52821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where our core business logic resides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Let’s take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our Gmail use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case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-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hen the user clicks on th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e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sign-in/login button,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 layer interacts with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ata layer and sends the required information to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resentation layer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manages the application’s functionality by performing detailed processing of the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 mostly written in Java, .NET, C#, Python, C++, etc.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2810;p20">
            <a:extLst>
              <a:ext uri="{FF2B5EF4-FFF2-40B4-BE49-F238E27FC236}">
                <a16:creationId xmlns:a16="http://schemas.microsoft.com/office/drawing/2014/main" id="{1EE5416C-F1E5-0782-6FC6-28A7837A9D7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8230" y="2571106"/>
            <a:ext cx="5036268" cy="3361709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2183741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815;p21">
            <a:extLst>
              <a:ext uri="{FF2B5EF4-FFF2-40B4-BE49-F238E27FC236}">
                <a16:creationId xmlns:a16="http://schemas.microsoft.com/office/drawing/2014/main" id="{920BCEC8-C514-E892-1770-0A9870830580}"/>
              </a:ext>
            </a:extLst>
          </p:cNvPr>
          <p:cNvSpPr txBox="1"/>
          <p:nvPr/>
        </p:nvSpPr>
        <p:spPr>
          <a:xfrm>
            <a:off x="4473986" y="1121627"/>
            <a:ext cx="276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</a:rPr>
              <a:t>DATA LAYER</a:t>
            </a:r>
            <a:endParaRPr/>
          </a:p>
        </p:txBody>
      </p:sp>
      <p:sp>
        <p:nvSpPr>
          <p:cNvPr id="10" name="Google Shape;2816;p21">
            <a:extLst>
              <a:ext uri="{FF2B5EF4-FFF2-40B4-BE49-F238E27FC236}">
                <a16:creationId xmlns:a16="http://schemas.microsoft.com/office/drawing/2014/main" id="{063CE8AC-93DB-1C6E-5506-EF6DE3F4A994}"/>
              </a:ext>
            </a:extLst>
          </p:cNvPr>
          <p:cNvSpPr txBox="1"/>
          <p:nvPr/>
        </p:nvSpPr>
        <p:spPr>
          <a:xfrm>
            <a:off x="827503" y="3530881"/>
            <a:ext cx="5282100" cy="24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the data storage layer of our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Let’s take our Gmail use case -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 layer communicates with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ata layer to retrieve/store data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contains functions that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connect with the database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perform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the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required action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: insert, update, delete etc.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Examples of such systems are MongoDB, Oracle, MySQL, and PostgreSQL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2817;p21">
            <a:extLst>
              <a:ext uri="{FF2B5EF4-FFF2-40B4-BE49-F238E27FC236}">
                <a16:creationId xmlns:a16="http://schemas.microsoft.com/office/drawing/2014/main" id="{394D627E-B632-E666-FA12-87C4D9CD6497}"/>
              </a:ext>
            </a:extLst>
          </p:cNvPr>
          <p:cNvGrpSpPr/>
          <p:nvPr/>
        </p:nvGrpSpPr>
        <p:grpSpPr>
          <a:xfrm>
            <a:off x="7560010" y="2438488"/>
            <a:ext cx="3804487" cy="3773249"/>
            <a:chOff x="7560010" y="914302"/>
            <a:chExt cx="3804487" cy="3773249"/>
          </a:xfrm>
        </p:grpSpPr>
        <p:pic>
          <p:nvPicPr>
            <p:cNvPr id="12" name="Google Shape;2818;p21">
              <a:extLst>
                <a:ext uri="{FF2B5EF4-FFF2-40B4-BE49-F238E27FC236}">
                  <a16:creationId xmlns:a16="http://schemas.microsoft.com/office/drawing/2014/main" id="{1EBE7881-C4C0-0025-98EE-A2E9A81ACBF9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7972340" y="1132945"/>
              <a:ext cx="2979826" cy="333596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Google Shape;2819;p21">
              <a:extLst>
                <a:ext uri="{FF2B5EF4-FFF2-40B4-BE49-F238E27FC236}">
                  <a16:creationId xmlns:a16="http://schemas.microsoft.com/office/drawing/2014/main" id="{865620E0-C631-4A63-FF5E-B51738B64FCF}"/>
                </a:ext>
              </a:extLst>
            </p:cNvPr>
            <p:cNvSpPr/>
            <p:nvPr/>
          </p:nvSpPr>
          <p:spPr>
            <a:xfrm>
              <a:off x="7560010" y="914302"/>
              <a:ext cx="3804487" cy="3773249"/>
            </a:xfrm>
            <a:prstGeom prst="roundRect">
              <a:avLst>
                <a:gd name="adj" fmla="val 3498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23279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824;p22">
            <a:extLst>
              <a:ext uri="{FF2B5EF4-FFF2-40B4-BE49-F238E27FC236}">
                <a16:creationId xmlns:a16="http://schemas.microsoft.com/office/drawing/2014/main" id="{C10BAC36-F234-E314-F011-1A1BFC28F061}"/>
              </a:ext>
            </a:extLst>
          </p:cNvPr>
          <p:cNvSpPr txBox="1"/>
          <p:nvPr/>
        </p:nvSpPr>
        <p:spPr>
          <a:xfrm>
            <a:off x="4714650" y="1330162"/>
            <a:ext cx="2762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Lato"/>
                <a:ea typeface="Lato"/>
                <a:cs typeface="Lato"/>
                <a:sym typeface="Lato"/>
              </a:rPr>
              <a:t>EXAMPLE</a:t>
            </a:r>
            <a:endParaRPr dirty="0"/>
          </a:p>
        </p:txBody>
      </p:sp>
      <p:sp>
        <p:nvSpPr>
          <p:cNvPr id="10" name="Google Shape;2825;p22">
            <a:extLst>
              <a:ext uri="{FF2B5EF4-FFF2-40B4-BE49-F238E27FC236}">
                <a16:creationId xmlns:a16="http://schemas.microsoft.com/office/drawing/2014/main" id="{7AC904F4-B268-CD9F-50FF-EBE2A20486E6}"/>
              </a:ext>
            </a:extLst>
          </p:cNvPr>
          <p:cNvSpPr txBox="1"/>
          <p:nvPr/>
        </p:nvSpPr>
        <p:spPr>
          <a:xfrm>
            <a:off x="827503" y="3330380"/>
            <a:ext cx="5282100" cy="27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 user logs into Netflix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watch a video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Once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they log in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, they might access a specific video through the Netflix interface, which is the presentation tier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they use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 an end user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Once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they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select a video, that informatio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is passed on to the application tier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then quer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ies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the data tier to call the information,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this case a video, back up to the presentation tier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</a:t>
            </a:r>
            <a:endParaRPr sz="1600">
              <a:latin typeface="Lato"/>
              <a:ea typeface="Lato"/>
              <a:cs typeface="Lato"/>
              <a:sym typeface="Lato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This happens every time you access a video from most media sites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" name="Google Shape;2826;p22">
            <a:extLst>
              <a:ext uri="{FF2B5EF4-FFF2-40B4-BE49-F238E27FC236}">
                <a16:creationId xmlns:a16="http://schemas.microsoft.com/office/drawing/2014/main" id="{E2AE9DBF-D139-2001-A778-26EECF802E91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09432" y="2692269"/>
            <a:ext cx="4955065" cy="3357127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</p:spTree>
    <p:extLst>
      <p:ext uri="{BB962C8B-B14F-4D97-AF65-F5344CB8AC3E}">
        <p14:creationId xmlns:p14="http://schemas.microsoft.com/office/powerpoint/2010/main" val="114271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19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831;p15">
            <a:extLst>
              <a:ext uri="{FF2B5EF4-FFF2-40B4-BE49-F238E27FC236}">
                <a16:creationId xmlns:a16="http://schemas.microsoft.com/office/drawing/2014/main" id="{D93685D7-2551-DC00-59A2-1B9026FF534F}"/>
              </a:ext>
            </a:extLst>
          </p:cNvPr>
          <p:cNvSpPr txBox="1"/>
          <p:nvPr/>
        </p:nvSpPr>
        <p:spPr>
          <a:xfrm>
            <a:off x="827503" y="2860505"/>
            <a:ext cx="5099100" cy="16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On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e-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tier architecture has all the layers, such as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resentation,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b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usiness, and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ata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ccess layers, in a single software package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Applications that handle all three tiers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such as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MP3 player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and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MS Office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,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come under one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-t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2832;p15">
            <a:extLst>
              <a:ext uri="{FF2B5EF4-FFF2-40B4-BE49-F238E27FC236}">
                <a16:creationId xmlns:a16="http://schemas.microsoft.com/office/drawing/2014/main" id="{4A4AB294-D753-A048-DBBA-0CBCC8B18040}"/>
              </a:ext>
            </a:extLst>
          </p:cNvPr>
          <p:cNvGrpSpPr/>
          <p:nvPr/>
        </p:nvGrpSpPr>
        <p:grpSpPr>
          <a:xfrm>
            <a:off x="6096000" y="1142451"/>
            <a:ext cx="4841497" cy="5779517"/>
            <a:chOff x="6038850" y="685800"/>
            <a:chExt cx="5325647" cy="5779517"/>
          </a:xfrm>
        </p:grpSpPr>
        <p:sp>
          <p:nvSpPr>
            <p:cNvPr id="11" name="Google Shape;2833;p15">
              <a:extLst>
                <a:ext uri="{FF2B5EF4-FFF2-40B4-BE49-F238E27FC236}">
                  <a16:creationId xmlns:a16="http://schemas.microsoft.com/office/drawing/2014/main" id="{D1A2E15A-CCF2-23B3-C9D3-296CAC825E20}"/>
                </a:ext>
              </a:extLst>
            </p:cNvPr>
            <p:cNvSpPr/>
            <p:nvPr/>
          </p:nvSpPr>
          <p:spPr>
            <a:xfrm>
              <a:off x="6038850" y="685800"/>
              <a:ext cx="5325647" cy="5779517"/>
            </a:xfrm>
            <a:prstGeom prst="roundRect">
              <a:avLst>
                <a:gd name="adj" fmla="val 3498"/>
              </a:avLst>
            </a:prstGeom>
            <a:noFill/>
            <a:ln w="952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" name="Google Shape;2834;p15">
              <a:extLst>
                <a:ext uri="{FF2B5EF4-FFF2-40B4-BE49-F238E27FC236}">
                  <a16:creationId xmlns:a16="http://schemas.microsoft.com/office/drawing/2014/main" id="{EFA9BDD5-916E-3483-6939-BF256973B9AF}"/>
                </a:ext>
              </a:extLst>
            </p:cNvPr>
            <p:cNvGrpSpPr/>
            <p:nvPr/>
          </p:nvGrpSpPr>
          <p:grpSpPr>
            <a:xfrm>
              <a:off x="7480217" y="1699576"/>
              <a:ext cx="2804863" cy="882741"/>
              <a:chOff x="7043986" y="1802393"/>
              <a:chExt cx="3724957" cy="1172310"/>
            </a:xfrm>
          </p:grpSpPr>
          <p:pic>
            <p:nvPicPr>
              <p:cNvPr id="25" name="Google Shape;2835;p15">
                <a:extLst>
                  <a:ext uri="{FF2B5EF4-FFF2-40B4-BE49-F238E27FC236}">
                    <a16:creationId xmlns:a16="http://schemas.microsoft.com/office/drawing/2014/main" id="{ADCF9A1C-E0E1-FE02-CFE8-3F230DC07A56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7043986" y="1802393"/>
                <a:ext cx="1369809" cy="1172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6" name="Google Shape;2836;p15">
                <a:extLst>
                  <a:ext uri="{FF2B5EF4-FFF2-40B4-BE49-F238E27FC236}">
                    <a16:creationId xmlns:a16="http://schemas.microsoft.com/office/drawing/2014/main" id="{FB91A5E4-D3B6-CF24-750A-7897C0DC4DB2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8221560" y="1802393"/>
                <a:ext cx="1369809" cy="1172310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27" name="Google Shape;2837;p15">
                <a:extLst>
                  <a:ext uri="{FF2B5EF4-FFF2-40B4-BE49-F238E27FC236}">
                    <a16:creationId xmlns:a16="http://schemas.microsoft.com/office/drawing/2014/main" id="{A42FAFB3-5D78-238C-56ED-B25F9AD8AE02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9399134" y="1802393"/>
                <a:ext cx="1369809" cy="11723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13" name="Google Shape;2838;p15">
              <a:extLst>
                <a:ext uri="{FF2B5EF4-FFF2-40B4-BE49-F238E27FC236}">
                  <a16:creationId xmlns:a16="http://schemas.microsoft.com/office/drawing/2014/main" id="{64A513FA-D240-040B-F22A-A8D7DA91AD24}"/>
                </a:ext>
              </a:extLst>
            </p:cNvPr>
            <p:cNvSpPr txBox="1"/>
            <p:nvPr/>
          </p:nvSpPr>
          <p:spPr>
            <a:xfrm>
              <a:off x="7825373" y="2623206"/>
              <a:ext cx="2263139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 dirty="0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Presentation Layer</a:t>
              </a:r>
              <a:endParaRPr sz="14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839;p15">
              <a:extLst>
                <a:ext uri="{FF2B5EF4-FFF2-40B4-BE49-F238E27FC236}">
                  <a16:creationId xmlns:a16="http://schemas.microsoft.com/office/drawing/2014/main" id="{A599E3F4-BF7E-6FC2-79DA-0B7627DBC723}"/>
                </a:ext>
              </a:extLst>
            </p:cNvPr>
            <p:cNvSpPr txBox="1"/>
            <p:nvPr/>
          </p:nvSpPr>
          <p:spPr>
            <a:xfrm>
              <a:off x="6038850" y="3406281"/>
              <a:ext cx="1082700" cy="584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Client Tier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5" name="Google Shape;2840;p15">
              <a:extLst>
                <a:ext uri="{FF2B5EF4-FFF2-40B4-BE49-F238E27FC236}">
                  <a16:creationId xmlns:a16="http://schemas.microsoft.com/office/drawing/2014/main" id="{CCC92C6B-E277-EEF8-1C18-46900C1CC475}"/>
                </a:ext>
              </a:extLst>
            </p:cNvPr>
            <p:cNvGrpSpPr/>
            <p:nvPr/>
          </p:nvGrpSpPr>
          <p:grpSpPr>
            <a:xfrm>
              <a:off x="7911097" y="3408740"/>
              <a:ext cx="1943100" cy="1460050"/>
              <a:chOff x="7655843" y="3402467"/>
              <a:chExt cx="1943100" cy="1460050"/>
            </a:xfrm>
          </p:grpSpPr>
          <p:pic>
            <p:nvPicPr>
              <p:cNvPr id="23" name="Google Shape;2841;p15">
                <a:extLst>
                  <a:ext uri="{FF2B5EF4-FFF2-40B4-BE49-F238E27FC236}">
                    <a16:creationId xmlns:a16="http://schemas.microsoft.com/office/drawing/2014/main" id="{389BEB16-6D77-9F07-CE33-28CFDC5E5634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2548" t="17085" r="21674" b="20437"/>
              <a:stretch/>
            </p:blipFill>
            <p:spPr>
              <a:xfrm>
                <a:off x="8156403" y="3402467"/>
                <a:ext cx="1001128" cy="1121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" name="Google Shape;2842;p15">
                <a:extLst>
                  <a:ext uri="{FF2B5EF4-FFF2-40B4-BE49-F238E27FC236}">
                    <a16:creationId xmlns:a16="http://schemas.microsoft.com/office/drawing/2014/main" id="{2900EC99-9357-12BB-4166-C98DCF3AF005}"/>
                  </a:ext>
                </a:extLst>
              </p:cNvPr>
              <p:cNvSpPr txBox="1"/>
              <p:nvPr/>
            </p:nvSpPr>
            <p:spPr>
              <a:xfrm>
                <a:off x="7655843" y="4523817"/>
                <a:ext cx="19431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Application Layer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" name="Google Shape;2843;p15">
              <a:extLst>
                <a:ext uri="{FF2B5EF4-FFF2-40B4-BE49-F238E27FC236}">
                  <a16:creationId xmlns:a16="http://schemas.microsoft.com/office/drawing/2014/main" id="{84B7734E-EB5D-0117-4B5F-03963C526FC8}"/>
                </a:ext>
              </a:extLst>
            </p:cNvPr>
            <p:cNvGrpSpPr/>
            <p:nvPr/>
          </p:nvGrpSpPr>
          <p:grpSpPr>
            <a:xfrm>
              <a:off x="7911098" y="5334674"/>
              <a:ext cx="1943100" cy="906552"/>
              <a:chOff x="7655844" y="5334674"/>
              <a:chExt cx="1943100" cy="906552"/>
            </a:xfrm>
          </p:grpSpPr>
          <p:pic>
            <p:nvPicPr>
              <p:cNvPr id="21" name="Google Shape;2844;p15">
                <a:extLst>
                  <a:ext uri="{FF2B5EF4-FFF2-40B4-BE49-F238E27FC236}">
                    <a16:creationId xmlns:a16="http://schemas.microsoft.com/office/drawing/2014/main" id="{814EBA5A-2B1A-0D1D-E26B-0DF0AA483BA1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321305" y="5334674"/>
                <a:ext cx="612177" cy="61217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2" name="Google Shape;2845;p15">
                <a:extLst>
                  <a:ext uri="{FF2B5EF4-FFF2-40B4-BE49-F238E27FC236}">
                    <a16:creationId xmlns:a16="http://schemas.microsoft.com/office/drawing/2014/main" id="{851721F8-0E6B-E44E-1831-F67C3CC74602}"/>
                  </a:ext>
                </a:extLst>
              </p:cNvPr>
              <p:cNvSpPr txBox="1"/>
              <p:nvPr/>
            </p:nvSpPr>
            <p:spPr>
              <a:xfrm>
                <a:off x="7655844" y="5902526"/>
                <a:ext cx="19431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Data Base Layer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7" name="Google Shape;2846;p15">
              <a:extLst>
                <a:ext uri="{FF2B5EF4-FFF2-40B4-BE49-F238E27FC236}">
                  <a16:creationId xmlns:a16="http://schemas.microsoft.com/office/drawing/2014/main" id="{CA7FAE9B-F357-C7AD-92AE-F68120B338AB}"/>
                </a:ext>
              </a:extLst>
            </p:cNvPr>
            <p:cNvSpPr/>
            <p:nvPr/>
          </p:nvSpPr>
          <p:spPr>
            <a:xfrm rot="5400000" flipV="1">
              <a:off x="8644759" y="3149809"/>
              <a:ext cx="566308" cy="50291"/>
            </a:xfrm>
            <a:custGeom>
              <a:avLst/>
              <a:gdLst/>
              <a:ahLst/>
              <a:cxnLst/>
              <a:rect l="l" t="t" r="r" b="b"/>
              <a:pathLst>
                <a:path w="930165" h="120000" extrusionOk="0">
                  <a:moveTo>
                    <a:pt x="0" y="0"/>
                  </a:moveTo>
                  <a:lnTo>
                    <a:pt x="930165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2847;p15">
              <a:extLst>
                <a:ext uri="{FF2B5EF4-FFF2-40B4-BE49-F238E27FC236}">
                  <a16:creationId xmlns:a16="http://schemas.microsoft.com/office/drawing/2014/main" id="{FA4DD4D5-A126-C97E-4F06-C196F0922186}"/>
                </a:ext>
              </a:extLst>
            </p:cNvPr>
            <p:cNvSpPr/>
            <p:nvPr/>
          </p:nvSpPr>
          <p:spPr>
            <a:xfrm rot="5400000">
              <a:off x="8578840" y="5081776"/>
              <a:ext cx="607617" cy="0"/>
            </a:xfrm>
            <a:custGeom>
              <a:avLst/>
              <a:gdLst/>
              <a:ahLst/>
              <a:cxnLst/>
              <a:rect l="l" t="t" r="r" b="b"/>
              <a:pathLst>
                <a:path w="930165" h="120000" extrusionOk="0">
                  <a:moveTo>
                    <a:pt x="0" y="0"/>
                  </a:moveTo>
                  <a:lnTo>
                    <a:pt x="930165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triangle" w="lg" len="lg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848;p15">
              <a:extLst>
                <a:ext uri="{FF2B5EF4-FFF2-40B4-BE49-F238E27FC236}">
                  <a16:creationId xmlns:a16="http://schemas.microsoft.com/office/drawing/2014/main" id="{469085F8-E5B1-DEA0-6962-7D58B81588A6}"/>
                </a:ext>
              </a:extLst>
            </p:cNvPr>
            <p:cNvSpPr/>
            <p:nvPr/>
          </p:nvSpPr>
          <p:spPr>
            <a:xfrm>
              <a:off x="7200900" y="1647991"/>
              <a:ext cx="3486151" cy="4593089"/>
            </a:xfrm>
            <a:prstGeom prst="roundRect">
              <a:avLst>
                <a:gd name="adj" fmla="val 3498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849;p15">
              <a:extLst>
                <a:ext uri="{FF2B5EF4-FFF2-40B4-BE49-F238E27FC236}">
                  <a16:creationId xmlns:a16="http://schemas.microsoft.com/office/drawing/2014/main" id="{EC6E1F82-45EB-2819-7F35-72B4DBDD166A}"/>
                </a:ext>
              </a:extLst>
            </p:cNvPr>
            <p:cNvSpPr txBox="1"/>
            <p:nvPr/>
          </p:nvSpPr>
          <p:spPr>
            <a:xfrm>
              <a:off x="7602870" y="781147"/>
              <a:ext cx="2682300" cy="708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One-Tier Architecture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87891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854;p16">
            <a:extLst>
              <a:ext uri="{FF2B5EF4-FFF2-40B4-BE49-F238E27FC236}">
                <a16:creationId xmlns:a16="http://schemas.microsoft.com/office/drawing/2014/main" id="{BBB10435-A318-CE12-81C3-17CBE63E1893}"/>
              </a:ext>
            </a:extLst>
          </p:cNvPr>
          <p:cNvSpPr txBox="1"/>
          <p:nvPr/>
        </p:nvSpPr>
        <p:spPr>
          <a:xfrm>
            <a:off x="2908733" y="8728448"/>
            <a:ext cx="609369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endParaRPr sz="18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" name="Google Shape;2855;p16">
            <a:extLst>
              <a:ext uri="{FF2B5EF4-FFF2-40B4-BE49-F238E27FC236}">
                <a16:creationId xmlns:a16="http://schemas.microsoft.com/office/drawing/2014/main" id="{02D850A8-9506-61B9-8874-CA5C7FB710FF}"/>
              </a:ext>
            </a:extLst>
          </p:cNvPr>
          <p:cNvSpPr txBox="1"/>
          <p:nvPr/>
        </p:nvSpPr>
        <p:spPr>
          <a:xfrm>
            <a:off x="1385356" y="1218563"/>
            <a:ext cx="9779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TWO-TIER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2856;p16">
            <a:extLst>
              <a:ext uri="{FF2B5EF4-FFF2-40B4-BE49-F238E27FC236}">
                <a16:creationId xmlns:a16="http://schemas.microsoft.com/office/drawing/2014/main" id="{33EFE728-711C-90EA-6BB4-413979250A1C}"/>
              </a:ext>
            </a:extLst>
          </p:cNvPr>
          <p:cNvGrpSpPr/>
          <p:nvPr/>
        </p:nvGrpSpPr>
        <p:grpSpPr>
          <a:xfrm>
            <a:off x="2247638" y="2135781"/>
            <a:ext cx="3376246" cy="4349119"/>
            <a:chOff x="534572" y="1395117"/>
            <a:chExt cx="3376246" cy="4349119"/>
          </a:xfrm>
        </p:grpSpPr>
        <p:sp>
          <p:nvSpPr>
            <p:cNvPr id="12" name="Google Shape;2857;p16">
              <a:extLst>
                <a:ext uri="{FF2B5EF4-FFF2-40B4-BE49-F238E27FC236}">
                  <a16:creationId xmlns:a16="http://schemas.microsoft.com/office/drawing/2014/main" id="{783999EF-297F-F87E-ADC0-97886495B6E5}"/>
                </a:ext>
              </a:extLst>
            </p:cNvPr>
            <p:cNvSpPr/>
            <p:nvPr/>
          </p:nvSpPr>
          <p:spPr>
            <a:xfrm>
              <a:off x="534572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858;p16">
              <a:extLst>
                <a:ext uri="{FF2B5EF4-FFF2-40B4-BE49-F238E27FC236}">
                  <a16:creationId xmlns:a16="http://schemas.microsoft.com/office/drawing/2014/main" id="{6E23FF18-4CAB-D115-2E04-EFA2C13046E6}"/>
                </a:ext>
              </a:extLst>
            </p:cNvPr>
            <p:cNvSpPr txBox="1"/>
            <p:nvPr/>
          </p:nvSpPr>
          <p:spPr>
            <a:xfrm>
              <a:off x="792980" y="1742188"/>
              <a:ext cx="28594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Client Tier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2859;p16">
              <a:extLst>
                <a:ext uri="{FF2B5EF4-FFF2-40B4-BE49-F238E27FC236}">
                  <a16:creationId xmlns:a16="http://schemas.microsoft.com/office/drawing/2014/main" id="{A3ABC36C-0832-AEB8-1FD8-E30722488C46}"/>
                </a:ext>
              </a:extLst>
            </p:cNvPr>
            <p:cNvGrpSpPr/>
            <p:nvPr/>
          </p:nvGrpSpPr>
          <p:grpSpPr>
            <a:xfrm>
              <a:off x="681726" y="2851764"/>
              <a:ext cx="3073502" cy="1350774"/>
              <a:chOff x="578909" y="2686108"/>
              <a:chExt cx="3563704" cy="1566213"/>
            </a:xfrm>
          </p:grpSpPr>
          <p:pic>
            <p:nvPicPr>
              <p:cNvPr id="15" name="Google Shape;2860;p16">
                <a:extLst>
                  <a:ext uri="{FF2B5EF4-FFF2-40B4-BE49-F238E27FC236}">
                    <a16:creationId xmlns:a16="http://schemas.microsoft.com/office/drawing/2014/main" id="{ED5D7625-7401-71ED-374B-4E077FA4FAC0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78909" y="2686108"/>
                <a:ext cx="1310510" cy="11215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2861;p16">
                <a:extLst>
                  <a:ext uri="{FF2B5EF4-FFF2-40B4-BE49-F238E27FC236}">
                    <a16:creationId xmlns:a16="http://schemas.microsoft.com/office/drawing/2014/main" id="{31EAA813-C6A5-7FD4-B5B6-5E93A4118B6F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705506" y="2686108"/>
                <a:ext cx="1310510" cy="11215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7" name="Google Shape;2862;p16">
                <a:extLst>
                  <a:ext uri="{FF2B5EF4-FFF2-40B4-BE49-F238E27FC236}">
                    <a16:creationId xmlns:a16="http://schemas.microsoft.com/office/drawing/2014/main" id="{3B428257-8B71-1E8D-5832-3B0A1AB0A7B7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832103" y="2686108"/>
                <a:ext cx="1310510" cy="11215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" name="Google Shape;2863;p16">
                <a:extLst>
                  <a:ext uri="{FF2B5EF4-FFF2-40B4-BE49-F238E27FC236}">
                    <a16:creationId xmlns:a16="http://schemas.microsoft.com/office/drawing/2014/main" id="{BA22FCF4-FD19-AAE4-9789-F49940FE739B}"/>
                  </a:ext>
                </a:extLst>
              </p:cNvPr>
              <p:cNvSpPr txBox="1"/>
              <p:nvPr/>
            </p:nvSpPr>
            <p:spPr>
              <a:xfrm>
                <a:off x="1017446" y="3859621"/>
                <a:ext cx="2468700" cy="39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Client </a:t>
                </a:r>
                <a:r>
                  <a:rPr lang="en-US" sz="1600">
                    <a:latin typeface="Lato"/>
                    <a:ea typeface="Lato"/>
                    <a:cs typeface="Lato"/>
                    <a:sym typeface="Lato"/>
                  </a:rPr>
                  <a:t>c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omputer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9" name="Google Shape;2864;p16">
            <a:extLst>
              <a:ext uri="{FF2B5EF4-FFF2-40B4-BE49-F238E27FC236}">
                <a16:creationId xmlns:a16="http://schemas.microsoft.com/office/drawing/2014/main" id="{CF7860E1-2C4D-171D-1CFA-E5A1E574B069}"/>
              </a:ext>
            </a:extLst>
          </p:cNvPr>
          <p:cNvGrpSpPr/>
          <p:nvPr/>
        </p:nvGrpSpPr>
        <p:grpSpPr>
          <a:xfrm>
            <a:off x="6925830" y="2135781"/>
            <a:ext cx="3376246" cy="4349119"/>
            <a:chOff x="8256240" y="1395117"/>
            <a:chExt cx="3376246" cy="4349119"/>
          </a:xfrm>
        </p:grpSpPr>
        <p:sp>
          <p:nvSpPr>
            <p:cNvPr id="20" name="Google Shape;2865;p16">
              <a:extLst>
                <a:ext uri="{FF2B5EF4-FFF2-40B4-BE49-F238E27FC236}">
                  <a16:creationId xmlns:a16="http://schemas.microsoft.com/office/drawing/2014/main" id="{757DAC72-2618-9D23-73C5-9B1630277FC1}"/>
                </a:ext>
              </a:extLst>
            </p:cNvPr>
            <p:cNvSpPr/>
            <p:nvPr/>
          </p:nvSpPr>
          <p:spPr>
            <a:xfrm>
              <a:off x="8256240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866;p16">
              <a:extLst>
                <a:ext uri="{FF2B5EF4-FFF2-40B4-BE49-F238E27FC236}">
                  <a16:creationId xmlns:a16="http://schemas.microsoft.com/office/drawing/2014/main" id="{931A51DA-4CE2-A3D4-2B15-62C2A0E071F5}"/>
                </a:ext>
              </a:extLst>
            </p:cNvPr>
            <p:cNvSpPr txBox="1"/>
            <p:nvPr/>
          </p:nvSpPr>
          <p:spPr>
            <a:xfrm>
              <a:off x="8514648" y="1742188"/>
              <a:ext cx="285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</a:ext>
                  </a:extLst>
                </a:rPr>
                <a:t>Data</a:t>
              </a:r>
              <a:r>
                <a:rPr lang="en-US" sz="1800" b="1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"/>
                    </a:ext>
                  </a:extLst>
                </a:rPr>
                <a:t>b</a:t>
              </a:r>
              <a:r>
                <a:rPr lang="en-US" sz="1800" b="1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8"/>
                    </a:ext>
                  </a:extLst>
                </a:rPr>
                <a:t>ase</a:t>
              </a:r>
              <a:r>
                <a:rPr lang="en-US" sz="1800" b="1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 Tier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2" name="Google Shape;2867;p16">
              <a:extLst>
                <a:ext uri="{FF2B5EF4-FFF2-40B4-BE49-F238E27FC236}">
                  <a16:creationId xmlns:a16="http://schemas.microsoft.com/office/drawing/2014/main" id="{85235685-E19F-4BC8-EA69-CE625D9A5EF7}"/>
                </a:ext>
              </a:extLst>
            </p:cNvPr>
            <p:cNvGrpSpPr/>
            <p:nvPr/>
          </p:nvGrpSpPr>
          <p:grpSpPr>
            <a:xfrm>
              <a:off x="8972813" y="2907621"/>
              <a:ext cx="1943100" cy="1327214"/>
              <a:chOff x="8156245" y="2720818"/>
              <a:chExt cx="1943100" cy="1327214"/>
            </a:xfrm>
          </p:grpSpPr>
          <p:pic>
            <p:nvPicPr>
              <p:cNvPr id="23" name="Google Shape;2868;p16">
                <a:extLst>
                  <a:ext uri="{FF2B5EF4-FFF2-40B4-BE49-F238E27FC236}">
                    <a16:creationId xmlns:a16="http://schemas.microsoft.com/office/drawing/2014/main" id="{BB073DE5-FF4E-A03A-658A-C9312F897394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8557063" y="2720818"/>
                <a:ext cx="1008619" cy="10086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4" name="Google Shape;2869;p16">
                <a:extLst>
                  <a:ext uri="{FF2B5EF4-FFF2-40B4-BE49-F238E27FC236}">
                    <a16:creationId xmlns:a16="http://schemas.microsoft.com/office/drawing/2014/main" id="{01831653-9197-336B-ACCA-82EE84992CE9}"/>
                  </a:ext>
                </a:extLst>
              </p:cNvPr>
              <p:cNvSpPr txBox="1"/>
              <p:nvPr/>
            </p:nvSpPr>
            <p:spPr>
              <a:xfrm>
                <a:off x="8156245" y="3709478"/>
                <a:ext cx="19431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Da</a:t>
                </a:r>
                <a:r>
                  <a:rPr lang="en-US" sz="1600">
                    <a:latin typeface="Lato"/>
                    <a:ea typeface="Lato"/>
                    <a:cs typeface="Lato"/>
                    <a:sym typeface="Lato"/>
                  </a:rPr>
                  <a:t>tabase l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5" name="Google Shape;2870;p16">
            <a:extLst>
              <a:ext uri="{FF2B5EF4-FFF2-40B4-BE49-F238E27FC236}">
                <a16:creationId xmlns:a16="http://schemas.microsoft.com/office/drawing/2014/main" id="{DE57F90D-3C4D-F5FE-0884-F67054F5D7B0}"/>
              </a:ext>
            </a:extLst>
          </p:cNvPr>
          <p:cNvSpPr/>
          <p:nvPr/>
        </p:nvSpPr>
        <p:spPr>
          <a:xfrm>
            <a:off x="5623884" y="4287481"/>
            <a:ext cx="1301944" cy="45719"/>
          </a:xfrm>
          <a:custGeom>
            <a:avLst/>
            <a:gdLst/>
            <a:ahLst/>
            <a:cxnLst/>
            <a:rect l="l" t="t" r="r" b="b"/>
            <a:pathLst>
              <a:path w="930165" h="120000" extrusionOk="0">
                <a:moveTo>
                  <a:pt x="0" y="0"/>
                </a:moveTo>
                <a:lnTo>
                  <a:pt x="930165" y="0"/>
                </a:ln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triangle" w="lg" len="lg"/>
            <a:tailEnd type="triangle" w="lg" len="lg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8542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875;p18">
            <a:extLst>
              <a:ext uri="{FF2B5EF4-FFF2-40B4-BE49-F238E27FC236}">
                <a16:creationId xmlns:a16="http://schemas.microsoft.com/office/drawing/2014/main" id="{54CA2660-9DCF-D53A-DC40-CD220217DA56}"/>
              </a:ext>
            </a:extLst>
          </p:cNvPr>
          <p:cNvSpPr txBox="1"/>
          <p:nvPr/>
        </p:nvSpPr>
        <p:spPr>
          <a:xfrm>
            <a:off x="1206500" y="1317898"/>
            <a:ext cx="9779000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THREE-TIER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2876;p18">
            <a:extLst>
              <a:ext uri="{FF2B5EF4-FFF2-40B4-BE49-F238E27FC236}">
                <a16:creationId xmlns:a16="http://schemas.microsoft.com/office/drawing/2014/main" id="{7BED5F3F-191E-3959-DDCC-40D4B0DF2D26}"/>
              </a:ext>
            </a:extLst>
          </p:cNvPr>
          <p:cNvGrpSpPr/>
          <p:nvPr/>
        </p:nvGrpSpPr>
        <p:grpSpPr>
          <a:xfrm>
            <a:off x="534572" y="1943757"/>
            <a:ext cx="3376246" cy="4349119"/>
            <a:chOff x="534572" y="1395117"/>
            <a:chExt cx="3376246" cy="4349119"/>
          </a:xfrm>
        </p:grpSpPr>
        <p:sp>
          <p:nvSpPr>
            <p:cNvPr id="11" name="Google Shape;2877;p18">
              <a:extLst>
                <a:ext uri="{FF2B5EF4-FFF2-40B4-BE49-F238E27FC236}">
                  <a16:creationId xmlns:a16="http://schemas.microsoft.com/office/drawing/2014/main" id="{2F1C6514-A6A4-9FD2-8BF2-1947D32FBC51}"/>
                </a:ext>
              </a:extLst>
            </p:cNvPr>
            <p:cNvSpPr/>
            <p:nvPr/>
          </p:nvSpPr>
          <p:spPr>
            <a:xfrm>
              <a:off x="534572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2878;p18">
              <a:extLst>
                <a:ext uri="{FF2B5EF4-FFF2-40B4-BE49-F238E27FC236}">
                  <a16:creationId xmlns:a16="http://schemas.microsoft.com/office/drawing/2014/main" id="{C9398086-6253-F895-7110-B0E3BDA8FE4D}"/>
                </a:ext>
              </a:extLst>
            </p:cNvPr>
            <p:cNvSpPr txBox="1"/>
            <p:nvPr/>
          </p:nvSpPr>
          <p:spPr>
            <a:xfrm>
              <a:off x="792980" y="1742188"/>
              <a:ext cx="28594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Client Tier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" name="Google Shape;2879;p18">
              <a:extLst>
                <a:ext uri="{FF2B5EF4-FFF2-40B4-BE49-F238E27FC236}">
                  <a16:creationId xmlns:a16="http://schemas.microsoft.com/office/drawing/2014/main" id="{62BEE822-0B45-051B-8F52-BB3803865C1D}"/>
                </a:ext>
              </a:extLst>
            </p:cNvPr>
            <p:cNvGrpSpPr/>
            <p:nvPr/>
          </p:nvGrpSpPr>
          <p:grpSpPr>
            <a:xfrm>
              <a:off x="681726" y="2851764"/>
              <a:ext cx="3073502" cy="1350774"/>
              <a:chOff x="578909" y="2686108"/>
              <a:chExt cx="3563704" cy="1566213"/>
            </a:xfrm>
          </p:grpSpPr>
          <p:pic>
            <p:nvPicPr>
              <p:cNvPr id="14" name="Google Shape;2880;p18">
                <a:extLst>
                  <a:ext uri="{FF2B5EF4-FFF2-40B4-BE49-F238E27FC236}">
                    <a16:creationId xmlns:a16="http://schemas.microsoft.com/office/drawing/2014/main" id="{2CD37392-7E67-5488-B188-A697A6C61217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578909" y="2686108"/>
                <a:ext cx="1310510" cy="11215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5" name="Google Shape;2881;p18">
                <a:extLst>
                  <a:ext uri="{FF2B5EF4-FFF2-40B4-BE49-F238E27FC236}">
                    <a16:creationId xmlns:a16="http://schemas.microsoft.com/office/drawing/2014/main" id="{AA22B318-FC16-B823-7D48-52444F8EC84C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1705506" y="2686108"/>
                <a:ext cx="1310510" cy="1121562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6" name="Google Shape;2882;p18">
                <a:extLst>
                  <a:ext uri="{FF2B5EF4-FFF2-40B4-BE49-F238E27FC236}">
                    <a16:creationId xmlns:a16="http://schemas.microsoft.com/office/drawing/2014/main" id="{FD04D8BD-78CF-7F2A-154C-9ABC79991DCF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/>
              <a:stretch/>
            </p:blipFill>
            <p:spPr>
              <a:xfrm>
                <a:off x="2832103" y="2686108"/>
                <a:ext cx="1310510" cy="112156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7" name="Google Shape;2883;p18">
                <a:extLst>
                  <a:ext uri="{FF2B5EF4-FFF2-40B4-BE49-F238E27FC236}">
                    <a16:creationId xmlns:a16="http://schemas.microsoft.com/office/drawing/2014/main" id="{3722708A-6ADC-5C76-7AAB-1D9803B6871E}"/>
                  </a:ext>
                </a:extLst>
              </p:cNvPr>
              <p:cNvSpPr txBox="1"/>
              <p:nvPr/>
            </p:nvSpPr>
            <p:spPr>
              <a:xfrm>
                <a:off x="1017446" y="3859621"/>
                <a:ext cx="2468700" cy="392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Client </a:t>
                </a:r>
                <a:r>
                  <a:rPr lang="en-US" sz="1600">
                    <a:latin typeface="Lato"/>
                    <a:ea typeface="Lato"/>
                    <a:cs typeface="Lato"/>
                    <a:sym typeface="Lato"/>
                  </a:rPr>
                  <a:t>c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omputer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8" name="Google Shape;2884;p18">
            <a:extLst>
              <a:ext uri="{FF2B5EF4-FFF2-40B4-BE49-F238E27FC236}">
                <a16:creationId xmlns:a16="http://schemas.microsoft.com/office/drawing/2014/main" id="{593005B3-D025-4C01-A5CF-886F12E65895}"/>
              </a:ext>
            </a:extLst>
          </p:cNvPr>
          <p:cNvGrpSpPr/>
          <p:nvPr/>
        </p:nvGrpSpPr>
        <p:grpSpPr>
          <a:xfrm>
            <a:off x="4395406" y="1943757"/>
            <a:ext cx="3376246" cy="4349119"/>
            <a:chOff x="4395406" y="1395117"/>
            <a:chExt cx="3376246" cy="4349119"/>
          </a:xfrm>
        </p:grpSpPr>
        <p:sp>
          <p:nvSpPr>
            <p:cNvPr id="19" name="Google Shape;2885;p18">
              <a:extLst>
                <a:ext uri="{FF2B5EF4-FFF2-40B4-BE49-F238E27FC236}">
                  <a16:creationId xmlns:a16="http://schemas.microsoft.com/office/drawing/2014/main" id="{6AB4F56E-6D20-44EE-8FBF-02027A5D5794}"/>
                </a:ext>
              </a:extLst>
            </p:cNvPr>
            <p:cNvSpPr/>
            <p:nvPr/>
          </p:nvSpPr>
          <p:spPr>
            <a:xfrm>
              <a:off x="4395406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886;p18">
              <a:extLst>
                <a:ext uri="{FF2B5EF4-FFF2-40B4-BE49-F238E27FC236}">
                  <a16:creationId xmlns:a16="http://schemas.microsoft.com/office/drawing/2014/main" id="{660FCC8B-BC63-FB2C-68D7-B38673F99C38}"/>
                </a:ext>
              </a:extLst>
            </p:cNvPr>
            <p:cNvSpPr txBox="1"/>
            <p:nvPr/>
          </p:nvSpPr>
          <p:spPr>
            <a:xfrm>
              <a:off x="4653814" y="1742188"/>
              <a:ext cx="2859431" cy="2769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Application Tier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1" name="Google Shape;2887;p18">
              <a:extLst>
                <a:ext uri="{FF2B5EF4-FFF2-40B4-BE49-F238E27FC236}">
                  <a16:creationId xmlns:a16="http://schemas.microsoft.com/office/drawing/2014/main" id="{ED40C4FC-1A65-A06C-E3BB-B83E23A9723C}"/>
                </a:ext>
              </a:extLst>
            </p:cNvPr>
            <p:cNvGrpSpPr/>
            <p:nvPr/>
          </p:nvGrpSpPr>
          <p:grpSpPr>
            <a:xfrm>
              <a:off x="5099296" y="2686108"/>
              <a:ext cx="1943100" cy="1548727"/>
              <a:chOff x="5094876" y="2702812"/>
              <a:chExt cx="1943100" cy="1548727"/>
            </a:xfrm>
          </p:grpSpPr>
          <p:pic>
            <p:nvPicPr>
              <p:cNvPr id="22" name="Google Shape;2888;p18">
                <a:extLst>
                  <a:ext uri="{FF2B5EF4-FFF2-40B4-BE49-F238E27FC236}">
                    <a16:creationId xmlns:a16="http://schemas.microsoft.com/office/drawing/2014/main" id="{84FB4E79-FFA1-357A-D512-99527935AA87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 l="22548" t="17085" r="21674" b="20437"/>
              <a:stretch/>
            </p:blipFill>
            <p:spPr>
              <a:xfrm>
                <a:off x="5595436" y="2702812"/>
                <a:ext cx="1001128" cy="112135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3" name="Google Shape;2889;p18">
                <a:extLst>
                  <a:ext uri="{FF2B5EF4-FFF2-40B4-BE49-F238E27FC236}">
                    <a16:creationId xmlns:a16="http://schemas.microsoft.com/office/drawing/2014/main" id="{B922FEB5-CAB4-0FC2-AFB5-09AEB5485A4B}"/>
                  </a:ext>
                </a:extLst>
              </p:cNvPr>
              <p:cNvSpPr txBox="1"/>
              <p:nvPr/>
            </p:nvSpPr>
            <p:spPr>
              <a:xfrm>
                <a:off x="5094876" y="3912985"/>
                <a:ext cx="19431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Application </a:t>
                </a:r>
                <a:r>
                  <a:rPr lang="en-US" sz="1600">
                    <a:latin typeface="Lato"/>
                    <a:ea typeface="Lato"/>
                    <a:cs typeface="Lato"/>
                    <a:sym typeface="Lato"/>
                  </a:rPr>
                  <a:t>l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24" name="Google Shape;2890;p18">
            <a:extLst>
              <a:ext uri="{FF2B5EF4-FFF2-40B4-BE49-F238E27FC236}">
                <a16:creationId xmlns:a16="http://schemas.microsoft.com/office/drawing/2014/main" id="{9CEFFD07-ED7F-ADF7-0731-9C8A7F0E2E9A}"/>
              </a:ext>
            </a:extLst>
          </p:cNvPr>
          <p:cNvGrpSpPr/>
          <p:nvPr/>
        </p:nvGrpSpPr>
        <p:grpSpPr>
          <a:xfrm>
            <a:off x="8256240" y="1943757"/>
            <a:ext cx="3376246" cy="4349119"/>
            <a:chOff x="8256240" y="1395117"/>
            <a:chExt cx="3376246" cy="4349119"/>
          </a:xfrm>
        </p:grpSpPr>
        <p:sp>
          <p:nvSpPr>
            <p:cNvPr id="25" name="Google Shape;2891;p18">
              <a:extLst>
                <a:ext uri="{FF2B5EF4-FFF2-40B4-BE49-F238E27FC236}">
                  <a16:creationId xmlns:a16="http://schemas.microsoft.com/office/drawing/2014/main" id="{DDE8A018-679D-357F-ECB5-36CEB713E0F8}"/>
                </a:ext>
              </a:extLst>
            </p:cNvPr>
            <p:cNvSpPr/>
            <p:nvPr/>
          </p:nvSpPr>
          <p:spPr>
            <a:xfrm>
              <a:off x="8256240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rgbClr val="5A5A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892;p18">
              <a:extLst>
                <a:ext uri="{FF2B5EF4-FFF2-40B4-BE49-F238E27FC236}">
                  <a16:creationId xmlns:a16="http://schemas.microsoft.com/office/drawing/2014/main" id="{DDE35ACF-8A42-BF7A-7C57-9E3045EF6FFE}"/>
                </a:ext>
              </a:extLst>
            </p:cNvPr>
            <p:cNvSpPr txBox="1"/>
            <p:nvPr/>
          </p:nvSpPr>
          <p:spPr>
            <a:xfrm>
              <a:off x="8514648" y="1742188"/>
              <a:ext cx="28593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en-US" sz="1800" b="1" i="0" u="none" strike="noStrike" cap="non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9"/>
                    </a:ext>
                  </a:extLst>
                </a:rPr>
                <a:t>Data</a:t>
              </a:r>
              <a:r>
                <a:rPr lang="en-US" sz="1800" b="1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0"/>
                    </a:ext>
                  </a:extLst>
                </a:rPr>
                <a:t>b</a:t>
              </a:r>
              <a:r>
                <a:rPr lang="en-US" sz="1800" b="1" i="0" u="none" strike="noStrike" cap="non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1"/>
                    </a:ext>
                  </a:extLst>
                </a:rPr>
                <a:t>ase Tier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7" name="Google Shape;2893;p18">
              <a:extLst>
                <a:ext uri="{FF2B5EF4-FFF2-40B4-BE49-F238E27FC236}">
                  <a16:creationId xmlns:a16="http://schemas.microsoft.com/office/drawing/2014/main" id="{5EF2683C-B2D6-78DA-5358-AD34CDC84EED}"/>
                </a:ext>
              </a:extLst>
            </p:cNvPr>
            <p:cNvGrpSpPr/>
            <p:nvPr/>
          </p:nvGrpSpPr>
          <p:grpSpPr>
            <a:xfrm>
              <a:off x="8972813" y="2907621"/>
              <a:ext cx="1943100" cy="1327214"/>
              <a:chOff x="8156245" y="2720818"/>
              <a:chExt cx="1943100" cy="1327214"/>
            </a:xfrm>
          </p:grpSpPr>
          <p:pic>
            <p:nvPicPr>
              <p:cNvPr id="28" name="Google Shape;2894;p18">
                <a:extLst>
                  <a:ext uri="{FF2B5EF4-FFF2-40B4-BE49-F238E27FC236}">
                    <a16:creationId xmlns:a16="http://schemas.microsoft.com/office/drawing/2014/main" id="{E35BB8BE-0557-6A7C-9AF8-A2896827358A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8557063" y="2720818"/>
                <a:ext cx="1008619" cy="100861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9" name="Google Shape;2895;p18">
                <a:extLst>
                  <a:ext uri="{FF2B5EF4-FFF2-40B4-BE49-F238E27FC236}">
                    <a16:creationId xmlns:a16="http://schemas.microsoft.com/office/drawing/2014/main" id="{47D23A11-7EF1-DEA3-45E8-D7D2FA2E8588}"/>
                  </a:ext>
                </a:extLst>
              </p:cNvPr>
              <p:cNvSpPr txBox="1"/>
              <p:nvPr/>
            </p:nvSpPr>
            <p:spPr>
              <a:xfrm>
                <a:off x="8156245" y="3709478"/>
                <a:ext cx="194310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DataBase </a:t>
                </a:r>
                <a:r>
                  <a:rPr lang="en-US" sz="1600">
                    <a:latin typeface="Lato"/>
                    <a:ea typeface="Lato"/>
                    <a:cs typeface="Lato"/>
                    <a:sym typeface="Lato"/>
                  </a:rPr>
                  <a:t>l</a:t>
                </a:r>
                <a:r>
                  <a:rPr lang="en-US" sz="16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" name="Google Shape;2896;p18">
            <a:extLst>
              <a:ext uri="{FF2B5EF4-FFF2-40B4-BE49-F238E27FC236}">
                <a16:creationId xmlns:a16="http://schemas.microsoft.com/office/drawing/2014/main" id="{62E302E0-0265-59AF-62DF-1E095ACA484E}"/>
              </a:ext>
            </a:extLst>
          </p:cNvPr>
          <p:cNvSpPr/>
          <p:nvPr/>
        </p:nvSpPr>
        <p:spPr>
          <a:xfrm rot="10800000" flipH="1">
            <a:off x="3919538" y="4002152"/>
            <a:ext cx="466726" cy="54925"/>
          </a:xfrm>
          <a:custGeom>
            <a:avLst/>
            <a:gdLst/>
            <a:ahLst/>
            <a:cxnLst/>
            <a:rect l="l" t="t" r="r" b="b"/>
            <a:pathLst>
              <a:path w="930165" h="120000" extrusionOk="0">
                <a:moveTo>
                  <a:pt x="0" y="0"/>
                </a:moveTo>
                <a:lnTo>
                  <a:pt x="930165" y="0"/>
                </a:ln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triangle" w="lg" len="lg"/>
            <a:tailEnd type="triangle" w="lg" len="lg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2897;p18">
            <a:extLst>
              <a:ext uri="{FF2B5EF4-FFF2-40B4-BE49-F238E27FC236}">
                <a16:creationId xmlns:a16="http://schemas.microsoft.com/office/drawing/2014/main" id="{C3D8C3AC-1494-D8B4-AE44-51B8230C77E3}"/>
              </a:ext>
            </a:extLst>
          </p:cNvPr>
          <p:cNvSpPr/>
          <p:nvPr/>
        </p:nvSpPr>
        <p:spPr>
          <a:xfrm rot="10800000" flipH="1">
            <a:off x="7772500" y="4002152"/>
            <a:ext cx="466726" cy="54925"/>
          </a:xfrm>
          <a:custGeom>
            <a:avLst/>
            <a:gdLst/>
            <a:ahLst/>
            <a:cxnLst/>
            <a:rect l="l" t="t" r="r" b="b"/>
            <a:pathLst>
              <a:path w="930165" h="120000" extrusionOk="0">
                <a:moveTo>
                  <a:pt x="0" y="0"/>
                </a:moveTo>
                <a:lnTo>
                  <a:pt x="930165" y="0"/>
                </a:lnTo>
              </a:path>
            </a:pathLst>
          </a:custGeom>
          <a:noFill/>
          <a:ln w="19050" cap="flat" cmpd="sng">
            <a:solidFill>
              <a:schemeClr val="accent3"/>
            </a:solidFill>
            <a:prstDash val="solid"/>
            <a:round/>
            <a:headEnd type="triangle" w="lg" len="lg"/>
            <a:tailEnd type="triangle" w="lg" len="lg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39040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902;p17">
            <a:extLst>
              <a:ext uri="{FF2B5EF4-FFF2-40B4-BE49-F238E27FC236}">
                <a16:creationId xmlns:a16="http://schemas.microsoft.com/office/drawing/2014/main" id="{3CF46019-E253-2B20-A22C-AB7EAB61D737}"/>
              </a:ext>
            </a:extLst>
          </p:cNvPr>
          <p:cNvSpPr txBox="1"/>
          <p:nvPr/>
        </p:nvSpPr>
        <p:spPr>
          <a:xfrm>
            <a:off x="1206469" y="1303618"/>
            <a:ext cx="9779000" cy="4329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EXAMPLE: IRCTC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903;p17">
            <a:extLst>
              <a:ext uri="{FF2B5EF4-FFF2-40B4-BE49-F238E27FC236}">
                <a16:creationId xmlns:a16="http://schemas.microsoft.com/office/drawing/2014/main" id="{224FF540-BB44-78EE-0C62-1E53AAD2F67E}"/>
              </a:ext>
            </a:extLst>
          </p:cNvPr>
          <p:cNvSpPr txBox="1"/>
          <p:nvPr/>
        </p:nvSpPr>
        <p:spPr>
          <a:xfrm>
            <a:off x="1072769" y="2153242"/>
            <a:ext cx="10046400" cy="534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2"/>
                  </a:ext>
                </a:extLst>
              </a:rPr>
              <a:t>“Difference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between 2-tier and 3-tier architecture is somewhat the same as the difference between booking a rail ticket at the counter and booking a rail t</a:t>
            </a:r>
            <a:r>
              <a:rPr lang="en-US" sz="18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3"/>
                  </a:ext>
                </a:extLst>
              </a:rPr>
              <a:t>icket via IRCTC.</a:t>
            </a:r>
            <a:r>
              <a:rPr lang="en-US" sz="1800" dirty="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4"/>
                  </a:ext>
                </a:extLst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2904;p17">
            <a:extLst>
              <a:ext uri="{FF2B5EF4-FFF2-40B4-BE49-F238E27FC236}">
                <a16:creationId xmlns:a16="http://schemas.microsoft.com/office/drawing/2014/main" id="{843E5152-43EE-2A4B-8484-6D9C58CE66D6}"/>
              </a:ext>
            </a:extLst>
          </p:cNvPr>
          <p:cNvGrpSpPr/>
          <p:nvPr/>
        </p:nvGrpSpPr>
        <p:grpSpPr>
          <a:xfrm>
            <a:off x="1021342" y="3217434"/>
            <a:ext cx="10149317" cy="3289352"/>
            <a:chOff x="589293" y="1528205"/>
            <a:chExt cx="10149317" cy="3980116"/>
          </a:xfrm>
        </p:grpSpPr>
        <p:pic>
          <p:nvPicPr>
            <p:cNvPr id="12" name="Google Shape;2905;p17">
              <a:extLst>
                <a:ext uri="{FF2B5EF4-FFF2-40B4-BE49-F238E27FC236}">
                  <a16:creationId xmlns:a16="http://schemas.microsoft.com/office/drawing/2014/main" id="{7EC39407-AC6A-B1FE-EA7B-73DAD646DD35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36503" y="2543140"/>
              <a:ext cx="745264" cy="950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" name="Google Shape;2906;p17">
              <a:extLst>
                <a:ext uri="{FF2B5EF4-FFF2-40B4-BE49-F238E27FC236}">
                  <a16:creationId xmlns:a16="http://schemas.microsoft.com/office/drawing/2014/main" id="{61C95621-3E9C-C840-3DD8-AD9882FD1A24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40760" y="2203799"/>
              <a:ext cx="531479" cy="6218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2907;p17">
              <a:extLst>
                <a:ext uri="{FF2B5EF4-FFF2-40B4-BE49-F238E27FC236}">
                  <a16:creationId xmlns:a16="http://schemas.microsoft.com/office/drawing/2014/main" id="{FDCF2C6D-0BCB-C096-0B23-821B4A8F6445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940760" y="4551790"/>
              <a:ext cx="531479" cy="6218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2908;p17">
              <a:extLst>
                <a:ext uri="{FF2B5EF4-FFF2-40B4-BE49-F238E27FC236}">
                  <a16:creationId xmlns:a16="http://schemas.microsoft.com/office/drawing/2014/main" id="{6040F132-49C0-4B81-37F3-A679D4ADEBE5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2876846" y="1528205"/>
              <a:ext cx="1064578" cy="9581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2909;p17">
              <a:extLst>
                <a:ext uri="{FF2B5EF4-FFF2-40B4-BE49-F238E27FC236}">
                  <a16:creationId xmlns:a16="http://schemas.microsoft.com/office/drawing/2014/main" id="{A5620984-3B3F-D057-5652-5AEA92A9E3C6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36503" y="3550472"/>
              <a:ext cx="745264" cy="95051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" name="Google Shape;2910;p17">
              <a:extLst>
                <a:ext uri="{FF2B5EF4-FFF2-40B4-BE49-F238E27FC236}">
                  <a16:creationId xmlns:a16="http://schemas.microsoft.com/office/drawing/2014/main" id="{D55BEB1F-CAF7-1F73-4EFD-81949B749B80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3036503" y="4557803"/>
              <a:ext cx="745264" cy="95051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Google Shape;2911;p17">
              <a:extLst>
                <a:ext uri="{FF2B5EF4-FFF2-40B4-BE49-F238E27FC236}">
                  <a16:creationId xmlns:a16="http://schemas.microsoft.com/office/drawing/2014/main" id="{A9D4AB4E-A881-9953-EF4C-5AF843932548}"/>
                </a:ext>
              </a:extLst>
            </p:cNvPr>
            <p:cNvSpPr/>
            <p:nvPr/>
          </p:nvSpPr>
          <p:spPr>
            <a:xfrm>
              <a:off x="1472238" y="1973943"/>
              <a:ext cx="1760051" cy="748300"/>
            </a:xfrm>
            <a:custGeom>
              <a:avLst/>
              <a:gdLst/>
              <a:ahLst/>
              <a:cxnLst/>
              <a:rect l="l" t="t" r="r" b="b"/>
              <a:pathLst>
                <a:path w="1843314" h="725714" extrusionOk="0">
                  <a:moveTo>
                    <a:pt x="0" y="725714"/>
                  </a:moveTo>
                  <a:lnTo>
                    <a:pt x="184331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2912;p17">
              <a:extLst>
                <a:ext uri="{FF2B5EF4-FFF2-40B4-BE49-F238E27FC236}">
                  <a16:creationId xmlns:a16="http://schemas.microsoft.com/office/drawing/2014/main" id="{A82EB993-7540-72FC-C411-11E03FA676FA}"/>
                </a:ext>
              </a:extLst>
            </p:cNvPr>
            <p:cNvSpPr/>
            <p:nvPr/>
          </p:nvSpPr>
          <p:spPr>
            <a:xfrm rot="10800000" flipH="1">
              <a:off x="1472239" y="2676523"/>
              <a:ext cx="1671011" cy="45719"/>
            </a:xfrm>
            <a:custGeom>
              <a:avLst/>
              <a:gdLst/>
              <a:ahLst/>
              <a:cxnLst/>
              <a:rect l="l" t="t" r="r" b="b"/>
              <a:pathLst>
                <a:path w="1752600" h="120000" extrusionOk="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913;p17">
              <a:extLst>
                <a:ext uri="{FF2B5EF4-FFF2-40B4-BE49-F238E27FC236}">
                  <a16:creationId xmlns:a16="http://schemas.microsoft.com/office/drawing/2014/main" id="{08FC372B-6009-CB95-DA7D-C846FC053CE2}"/>
                </a:ext>
              </a:extLst>
            </p:cNvPr>
            <p:cNvSpPr/>
            <p:nvPr/>
          </p:nvSpPr>
          <p:spPr>
            <a:xfrm rot="10800000" flipH="1">
              <a:off x="1472239" y="3856262"/>
              <a:ext cx="1671011" cy="45719"/>
            </a:xfrm>
            <a:custGeom>
              <a:avLst/>
              <a:gdLst/>
              <a:ahLst/>
              <a:cxnLst/>
              <a:rect l="l" t="t" r="r" b="b"/>
              <a:pathLst>
                <a:path w="1752600" h="120000" extrusionOk="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914;p17">
              <a:extLst>
                <a:ext uri="{FF2B5EF4-FFF2-40B4-BE49-F238E27FC236}">
                  <a16:creationId xmlns:a16="http://schemas.microsoft.com/office/drawing/2014/main" id="{080B333B-B961-6C0E-1EBB-748C82C8C590}"/>
                </a:ext>
              </a:extLst>
            </p:cNvPr>
            <p:cNvSpPr/>
            <p:nvPr/>
          </p:nvSpPr>
          <p:spPr>
            <a:xfrm rot="10800000" flipH="1">
              <a:off x="1472239" y="4809122"/>
              <a:ext cx="1671011" cy="45719"/>
            </a:xfrm>
            <a:custGeom>
              <a:avLst/>
              <a:gdLst/>
              <a:ahLst/>
              <a:cxnLst/>
              <a:rect l="l" t="t" r="r" b="b"/>
              <a:pathLst>
                <a:path w="1752600" h="120000" extrusionOk="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915;p17">
              <a:extLst>
                <a:ext uri="{FF2B5EF4-FFF2-40B4-BE49-F238E27FC236}">
                  <a16:creationId xmlns:a16="http://schemas.microsoft.com/office/drawing/2014/main" id="{27BF2A23-4737-C074-2550-A75A542A7166}"/>
                </a:ext>
              </a:extLst>
            </p:cNvPr>
            <p:cNvSpPr txBox="1"/>
            <p:nvPr/>
          </p:nvSpPr>
          <p:spPr>
            <a:xfrm>
              <a:off x="692148" y="2932416"/>
              <a:ext cx="10287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Trave</a:t>
              </a:r>
              <a:r>
                <a:rPr lang="en-US" sz="1600" b="0" i="0" u="none" strike="noStrike" cap="none">
                  <a:solidFill>
                    <a:srgbClr val="000000"/>
                  </a:solidFill>
                  <a:highlight>
                    <a:srgbClr val="00FF00"/>
                  </a:highlight>
                  <a:latin typeface="Lato"/>
                  <a:ea typeface="Lato"/>
                  <a:cs typeface="Lato"/>
                  <a:sym typeface="Lato"/>
                </a:rPr>
                <a:t>l</a:t>
              </a: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er</a:t>
              </a:r>
              <a:endParaRPr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2916;p17">
              <a:extLst>
                <a:ext uri="{FF2B5EF4-FFF2-40B4-BE49-F238E27FC236}">
                  <a16:creationId xmlns:a16="http://schemas.microsoft.com/office/drawing/2014/main" id="{F228B24D-829A-B3AC-2647-D586C6B4669B}"/>
                </a:ext>
              </a:extLst>
            </p:cNvPr>
            <p:cNvSpPr txBox="1"/>
            <p:nvPr/>
          </p:nvSpPr>
          <p:spPr>
            <a:xfrm>
              <a:off x="589293" y="4176189"/>
              <a:ext cx="12344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Help Desk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4" name="Google Shape;2917;p17">
              <a:extLst>
                <a:ext uri="{FF2B5EF4-FFF2-40B4-BE49-F238E27FC236}">
                  <a16:creationId xmlns:a16="http://schemas.microsoft.com/office/drawing/2014/main" id="{C6C30179-205A-EEF5-8E4B-5363E09BDEDB}"/>
                </a:ext>
              </a:extLst>
            </p:cNvPr>
            <p:cNvGrpSpPr/>
            <p:nvPr/>
          </p:nvGrpSpPr>
          <p:grpSpPr>
            <a:xfrm>
              <a:off x="940760" y="3550472"/>
              <a:ext cx="624516" cy="621867"/>
              <a:chOff x="940760" y="3550472"/>
              <a:chExt cx="624516" cy="621867"/>
            </a:xfrm>
          </p:grpSpPr>
          <p:pic>
            <p:nvPicPr>
              <p:cNvPr id="44" name="Google Shape;2918;p17">
                <a:extLst>
                  <a:ext uri="{FF2B5EF4-FFF2-40B4-BE49-F238E27FC236}">
                    <a16:creationId xmlns:a16="http://schemas.microsoft.com/office/drawing/2014/main" id="{AA78E4B2-F9BD-A441-2DBA-73FF4E884EBA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940760" y="3550472"/>
                <a:ext cx="531479" cy="62186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5" name="Google Shape;2919;p17">
                <a:extLst>
                  <a:ext uri="{FF2B5EF4-FFF2-40B4-BE49-F238E27FC236}">
                    <a16:creationId xmlns:a16="http://schemas.microsoft.com/office/drawing/2014/main" id="{8EAF96DD-BF32-F9D7-E192-8C487394E736}"/>
                  </a:ext>
                </a:extLst>
              </p:cNvPr>
              <p:cNvSpPr/>
              <p:nvPr/>
            </p:nvSpPr>
            <p:spPr>
              <a:xfrm>
                <a:off x="1356954" y="3959686"/>
                <a:ext cx="208322" cy="208322"/>
              </a:xfrm>
              <a:prstGeom prst="ellipse">
                <a:avLst/>
              </a:prstGeom>
              <a:solidFill>
                <a:schemeClr val="lt1"/>
              </a:solidFill>
              <a:ln w="25400" cap="flat" cmpd="sng">
                <a:solidFill>
                  <a:srgbClr val="7A7A7A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n-US" sz="1400" b="0" i="0" u="none" strike="noStrike" cap="none">
                    <a:solidFill>
                      <a:srgbClr val="7A7A7A"/>
                    </a:solidFill>
                    <a:latin typeface="Arial"/>
                    <a:ea typeface="Arial"/>
                    <a:cs typeface="Arial"/>
                    <a:sym typeface="Arial"/>
                  </a:rPr>
                  <a:t>i</a:t>
                </a:r>
                <a:endParaRPr sz="1400" b="0" i="0" u="none" strike="noStrike" cap="none">
                  <a:solidFill>
                    <a:srgbClr val="7A7A7A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5" name="Google Shape;2920;p17">
              <a:extLst>
                <a:ext uri="{FF2B5EF4-FFF2-40B4-BE49-F238E27FC236}">
                  <a16:creationId xmlns:a16="http://schemas.microsoft.com/office/drawing/2014/main" id="{A935E3D3-AC8C-79F6-3D83-17A787C671AD}"/>
                </a:ext>
              </a:extLst>
            </p:cNvPr>
            <p:cNvSpPr txBox="1"/>
            <p:nvPr/>
          </p:nvSpPr>
          <p:spPr>
            <a:xfrm>
              <a:off x="589293" y="5149620"/>
              <a:ext cx="1234411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Accounts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6" name="Google Shape;2921;p17">
              <a:extLst>
                <a:ext uri="{FF2B5EF4-FFF2-40B4-BE49-F238E27FC236}">
                  <a16:creationId xmlns:a16="http://schemas.microsoft.com/office/drawing/2014/main" id="{2DD378DC-12FF-9C55-7617-096CC66165E0}"/>
                </a:ext>
              </a:extLst>
            </p:cNvPr>
            <p:cNvGrpSpPr/>
            <p:nvPr/>
          </p:nvGrpSpPr>
          <p:grpSpPr>
            <a:xfrm>
              <a:off x="5029582" y="2042410"/>
              <a:ext cx="1988457" cy="2833978"/>
              <a:chOff x="5029582" y="1974377"/>
              <a:chExt cx="1988457" cy="2833978"/>
            </a:xfrm>
          </p:grpSpPr>
          <p:sp>
            <p:nvSpPr>
              <p:cNvPr id="41" name="Google Shape;2922;p17">
                <a:extLst>
                  <a:ext uri="{FF2B5EF4-FFF2-40B4-BE49-F238E27FC236}">
                    <a16:creationId xmlns:a16="http://schemas.microsoft.com/office/drawing/2014/main" id="{096F31DA-3742-762C-C060-B8A74C65111D}"/>
                  </a:ext>
                </a:extLst>
              </p:cNvPr>
              <p:cNvSpPr/>
              <p:nvPr/>
            </p:nvSpPr>
            <p:spPr>
              <a:xfrm>
                <a:off x="5029582" y="1974377"/>
                <a:ext cx="1988457" cy="592104"/>
              </a:xfrm>
              <a:prstGeom prst="roundRect">
                <a:avLst>
                  <a:gd name="adj" fmla="val 6372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Online Reservation System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" name="Google Shape;2923;p17">
                <a:extLst>
                  <a:ext uri="{FF2B5EF4-FFF2-40B4-BE49-F238E27FC236}">
                    <a16:creationId xmlns:a16="http://schemas.microsoft.com/office/drawing/2014/main" id="{C7882A6D-8392-7739-AF63-2081DD0BBFF9}"/>
                  </a:ext>
                </a:extLst>
              </p:cNvPr>
              <p:cNvSpPr/>
              <p:nvPr/>
            </p:nvSpPr>
            <p:spPr>
              <a:xfrm>
                <a:off x="5029582" y="3095314"/>
                <a:ext cx="1988457" cy="592104"/>
              </a:xfrm>
              <a:prstGeom prst="roundRect">
                <a:avLst>
                  <a:gd name="adj" fmla="val 6372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Management Information System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2924;p17">
                <a:extLst>
                  <a:ext uri="{FF2B5EF4-FFF2-40B4-BE49-F238E27FC236}">
                    <a16:creationId xmlns:a16="http://schemas.microsoft.com/office/drawing/2014/main" id="{25B65C8C-BA79-466A-5AAC-B4A3DA2E3930}"/>
                  </a:ext>
                </a:extLst>
              </p:cNvPr>
              <p:cNvSpPr/>
              <p:nvPr/>
            </p:nvSpPr>
            <p:spPr>
              <a:xfrm>
                <a:off x="5029582" y="4216251"/>
                <a:ext cx="1988457" cy="592104"/>
              </a:xfrm>
              <a:prstGeom prst="roundRect">
                <a:avLst>
                  <a:gd name="adj" fmla="val 6372"/>
                </a:avLst>
              </a:prstGeom>
              <a:noFill/>
              <a:ln w="28575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Help Desk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7" name="Google Shape;2925;p17">
              <a:extLst>
                <a:ext uri="{FF2B5EF4-FFF2-40B4-BE49-F238E27FC236}">
                  <a16:creationId xmlns:a16="http://schemas.microsoft.com/office/drawing/2014/main" id="{848B60EE-ED03-F0FF-CB8A-BFC99437E1B6}"/>
                </a:ext>
              </a:extLst>
            </p:cNvPr>
            <p:cNvSpPr/>
            <p:nvPr/>
          </p:nvSpPr>
          <p:spPr>
            <a:xfrm>
              <a:off x="4716379" y="1746711"/>
              <a:ext cx="2614863" cy="3425376"/>
            </a:xfrm>
            <a:prstGeom prst="roundRect">
              <a:avLst>
                <a:gd name="adj" fmla="val 4606"/>
              </a:avLst>
            </a:prstGeom>
            <a:noFill/>
            <a:ln w="254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8" name="Google Shape;2926;p17">
              <a:extLst>
                <a:ext uri="{FF2B5EF4-FFF2-40B4-BE49-F238E27FC236}">
                  <a16:creationId xmlns:a16="http://schemas.microsoft.com/office/drawing/2014/main" id="{DC2B2FF7-5025-E716-80E4-A8E13910E3C1}"/>
                </a:ext>
              </a:extLst>
            </p:cNvPr>
            <p:cNvGrpSpPr/>
            <p:nvPr/>
          </p:nvGrpSpPr>
          <p:grpSpPr>
            <a:xfrm>
              <a:off x="8123747" y="1746711"/>
              <a:ext cx="2614863" cy="3425376"/>
              <a:chOff x="7331242" y="1746711"/>
              <a:chExt cx="2614863" cy="3425376"/>
            </a:xfrm>
          </p:grpSpPr>
          <p:grpSp>
            <p:nvGrpSpPr>
              <p:cNvPr id="36" name="Google Shape;2927;p17">
                <a:extLst>
                  <a:ext uri="{FF2B5EF4-FFF2-40B4-BE49-F238E27FC236}">
                    <a16:creationId xmlns:a16="http://schemas.microsoft.com/office/drawing/2014/main" id="{75945623-53A6-FAB2-D951-34311C950B25}"/>
                  </a:ext>
                </a:extLst>
              </p:cNvPr>
              <p:cNvGrpSpPr/>
              <p:nvPr/>
            </p:nvGrpSpPr>
            <p:grpSpPr>
              <a:xfrm>
                <a:off x="7644445" y="2042410"/>
                <a:ext cx="1988457" cy="2833978"/>
                <a:chOff x="7946573" y="1974377"/>
                <a:chExt cx="1988457" cy="2833978"/>
              </a:xfrm>
            </p:grpSpPr>
            <p:sp>
              <p:nvSpPr>
                <p:cNvPr id="38" name="Google Shape;2928;p17">
                  <a:extLst>
                    <a:ext uri="{FF2B5EF4-FFF2-40B4-BE49-F238E27FC236}">
                      <a16:creationId xmlns:a16="http://schemas.microsoft.com/office/drawing/2014/main" id="{3AFC504E-4B25-8760-8D51-2767A6AE6CA7}"/>
                    </a:ext>
                  </a:extLst>
                </p:cNvPr>
                <p:cNvSpPr/>
                <p:nvPr/>
              </p:nvSpPr>
              <p:spPr>
                <a:xfrm>
                  <a:off x="7946573" y="1974377"/>
                  <a:ext cx="1988457" cy="592104"/>
                </a:xfrm>
                <a:prstGeom prst="roundRect">
                  <a:avLst>
                    <a:gd name="adj" fmla="val 6372"/>
                  </a:avLst>
                </a:prstGeom>
                <a:noFill/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Centralized Database Server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" name="Google Shape;2929;p17">
                  <a:extLst>
                    <a:ext uri="{FF2B5EF4-FFF2-40B4-BE49-F238E27FC236}">
                      <a16:creationId xmlns:a16="http://schemas.microsoft.com/office/drawing/2014/main" id="{798D12AD-4C17-77E9-9C09-71F5AECA5B88}"/>
                    </a:ext>
                  </a:extLst>
                </p:cNvPr>
                <p:cNvSpPr/>
                <p:nvPr/>
              </p:nvSpPr>
              <p:spPr>
                <a:xfrm>
                  <a:off x="7946573" y="3095314"/>
                  <a:ext cx="1988457" cy="592104"/>
                </a:xfrm>
                <a:prstGeom prst="roundRect">
                  <a:avLst>
                    <a:gd name="adj" fmla="val 6372"/>
                  </a:avLst>
                </a:prstGeom>
                <a:noFill/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Directory Services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" name="Google Shape;2930;p17">
                  <a:extLst>
                    <a:ext uri="{FF2B5EF4-FFF2-40B4-BE49-F238E27FC236}">
                      <a16:creationId xmlns:a16="http://schemas.microsoft.com/office/drawing/2014/main" id="{BD9BD9AC-4246-B6F5-0A55-4EFFA54BAD2E}"/>
                    </a:ext>
                  </a:extLst>
                </p:cNvPr>
                <p:cNvSpPr/>
                <p:nvPr/>
              </p:nvSpPr>
              <p:spPr>
                <a:xfrm>
                  <a:off x="7946573" y="4216251"/>
                  <a:ext cx="1988457" cy="592104"/>
                </a:xfrm>
                <a:prstGeom prst="roundRect">
                  <a:avLst>
                    <a:gd name="adj" fmla="val 6372"/>
                  </a:avLst>
                </a:prstGeom>
                <a:noFill/>
                <a:ln w="28575" cap="flat" cmpd="sng">
                  <a:solidFill>
                    <a:schemeClr val="accent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Payment System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7" name="Google Shape;2931;p17">
                <a:extLst>
                  <a:ext uri="{FF2B5EF4-FFF2-40B4-BE49-F238E27FC236}">
                    <a16:creationId xmlns:a16="http://schemas.microsoft.com/office/drawing/2014/main" id="{203518B5-4CBB-EF1A-A5DB-A31597D4D7F9}"/>
                  </a:ext>
                </a:extLst>
              </p:cNvPr>
              <p:cNvSpPr/>
              <p:nvPr/>
            </p:nvSpPr>
            <p:spPr>
              <a:xfrm>
                <a:off x="7331242" y="1746711"/>
                <a:ext cx="2614863" cy="3425376"/>
              </a:xfrm>
              <a:prstGeom prst="roundRect">
                <a:avLst>
                  <a:gd name="adj" fmla="val 4606"/>
                </a:avLst>
              </a:prstGeom>
              <a:noFill/>
              <a:ln w="2540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29" name="Google Shape;2932;p17">
              <a:extLst>
                <a:ext uri="{FF2B5EF4-FFF2-40B4-BE49-F238E27FC236}">
                  <a16:creationId xmlns:a16="http://schemas.microsoft.com/office/drawing/2014/main" id="{B0245515-8435-65FF-B086-496E2E7C0E2C}"/>
                </a:ext>
              </a:extLst>
            </p:cNvPr>
            <p:cNvSpPr/>
            <p:nvPr/>
          </p:nvSpPr>
          <p:spPr>
            <a:xfrm rot="3943413">
              <a:off x="3214955" y="2544259"/>
              <a:ext cx="1832161" cy="438454"/>
            </a:xfrm>
            <a:custGeom>
              <a:avLst/>
              <a:gdLst/>
              <a:ahLst/>
              <a:cxnLst/>
              <a:rect l="l" t="t" r="r" b="b"/>
              <a:pathLst>
                <a:path w="1843314" h="725714" extrusionOk="0">
                  <a:moveTo>
                    <a:pt x="0" y="725714"/>
                  </a:moveTo>
                  <a:lnTo>
                    <a:pt x="184331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2933;p17">
              <a:extLst>
                <a:ext uri="{FF2B5EF4-FFF2-40B4-BE49-F238E27FC236}">
                  <a16:creationId xmlns:a16="http://schemas.microsoft.com/office/drawing/2014/main" id="{F406ACEF-CD63-CFCE-D974-F4A2A386E3A2}"/>
                </a:ext>
              </a:extLst>
            </p:cNvPr>
            <p:cNvSpPr/>
            <p:nvPr/>
          </p:nvSpPr>
          <p:spPr>
            <a:xfrm rot="3943413">
              <a:off x="3609230" y="2800352"/>
              <a:ext cx="1038259" cy="797644"/>
            </a:xfrm>
            <a:custGeom>
              <a:avLst/>
              <a:gdLst/>
              <a:ahLst/>
              <a:cxnLst/>
              <a:rect l="l" t="t" r="r" b="b"/>
              <a:pathLst>
                <a:path w="1843314" h="725714" extrusionOk="0">
                  <a:moveTo>
                    <a:pt x="0" y="725714"/>
                  </a:moveTo>
                  <a:lnTo>
                    <a:pt x="184331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2934;p17">
              <a:extLst>
                <a:ext uri="{FF2B5EF4-FFF2-40B4-BE49-F238E27FC236}">
                  <a16:creationId xmlns:a16="http://schemas.microsoft.com/office/drawing/2014/main" id="{301E68B4-B055-8A56-8A87-6E7CC2FB58B0}"/>
                </a:ext>
              </a:extLst>
            </p:cNvPr>
            <p:cNvSpPr/>
            <p:nvPr/>
          </p:nvSpPr>
          <p:spPr>
            <a:xfrm rot="3943413" flipH="1">
              <a:off x="3798551" y="3360727"/>
              <a:ext cx="691149" cy="1567251"/>
            </a:xfrm>
            <a:custGeom>
              <a:avLst/>
              <a:gdLst/>
              <a:ahLst/>
              <a:cxnLst/>
              <a:rect l="l" t="t" r="r" b="b"/>
              <a:pathLst>
                <a:path w="1843314" h="725714" extrusionOk="0">
                  <a:moveTo>
                    <a:pt x="0" y="725714"/>
                  </a:moveTo>
                  <a:lnTo>
                    <a:pt x="184331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2935;p17">
              <a:extLst>
                <a:ext uri="{FF2B5EF4-FFF2-40B4-BE49-F238E27FC236}">
                  <a16:creationId xmlns:a16="http://schemas.microsoft.com/office/drawing/2014/main" id="{11A54C39-D152-965C-B4D4-909FCE76A222}"/>
                </a:ext>
              </a:extLst>
            </p:cNvPr>
            <p:cNvSpPr/>
            <p:nvPr/>
          </p:nvSpPr>
          <p:spPr>
            <a:xfrm rot="3943413">
              <a:off x="4025000" y="3076919"/>
              <a:ext cx="205597" cy="1184872"/>
            </a:xfrm>
            <a:custGeom>
              <a:avLst/>
              <a:gdLst/>
              <a:ahLst/>
              <a:cxnLst/>
              <a:rect l="l" t="t" r="r" b="b"/>
              <a:pathLst>
                <a:path w="1843314" h="725714" extrusionOk="0">
                  <a:moveTo>
                    <a:pt x="0" y="725714"/>
                  </a:moveTo>
                  <a:lnTo>
                    <a:pt x="1843314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2936;p17">
              <a:extLst>
                <a:ext uri="{FF2B5EF4-FFF2-40B4-BE49-F238E27FC236}">
                  <a16:creationId xmlns:a16="http://schemas.microsoft.com/office/drawing/2014/main" id="{839506E4-4084-BF76-1D71-223EF966651B}"/>
                </a:ext>
              </a:extLst>
            </p:cNvPr>
            <p:cNvSpPr/>
            <p:nvPr/>
          </p:nvSpPr>
          <p:spPr>
            <a:xfrm rot="10800000" flipH="1">
              <a:off x="7326397" y="3424256"/>
              <a:ext cx="1110554" cy="69401"/>
            </a:xfrm>
            <a:custGeom>
              <a:avLst/>
              <a:gdLst/>
              <a:ahLst/>
              <a:cxnLst/>
              <a:rect l="l" t="t" r="r" b="b"/>
              <a:pathLst>
                <a:path w="1752600" h="120000" extrusionOk="0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2937;p17">
              <a:extLst>
                <a:ext uri="{FF2B5EF4-FFF2-40B4-BE49-F238E27FC236}">
                  <a16:creationId xmlns:a16="http://schemas.microsoft.com/office/drawing/2014/main" id="{A89A421C-18F0-CDED-8F27-49DAEDCF8F04}"/>
                </a:ext>
              </a:extLst>
            </p:cNvPr>
            <p:cNvSpPr txBox="1"/>
            <p:nvPr/>
          </p:nvSpPr>
          <p:spPr>
            <a:xfrm>
              <a:off x="1802458" y="2743162"/>
              <a:ext cx="1028702" cy="3385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eTicket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2938;p17">
              <a:extLst>
                <a:ext uri="{FF2B5EF4-FFF2-40B4-BE49-F238E27FC236}">
                  <a16:creationId xmlns:a16="http://schemas.microsoft.com/office/drawing/2014/main" id="{13D80E85-A0F0-0828-BB49-3D02CDC2CE7A}"/>
                </a:ext>
              </a:extLst>
            </p:cNvPr>
            <p:cNvSpPr txBox="1"/>
            <p:nvPr/>
          </p:nvSpPr>
          <p:spPr>
            <a:xfrm>
              <a:off x="1660191" y="1751498"/>
              <a:ext cx="1028702" cy="5847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Mobile Ticket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43791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943;p23">
            <a:extLst>
              <a:ext uri="{FF2B5EF4-FFF2-40B4-BE49-F238E27FC236}">
                <a16:creationId xmlns:a16="http://schemas.microsoft.com/office/drawing/2014/main" id="{249CF22B-394D-D1D2-0E2F-2490BB46AFE7}"/>
              </a:ext>
            </a:extLst>
          </p:cNvPr>
          <p:cNvSpPr txBox="1"/>
          <p:nvPr/>
        </p:nvSpPr>
        <p:spPr>
          <a:xfrm>
            <a:off x="1918290" y="978409"/>
            <a:ext cx="8318845" cy="4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BENEFITS OF USING A 3-LAYER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944;p23">
            <a:extLst>
              <a:ext uri="{FF2B5EF4-FFF2-40B4-BE49-F238E27FC236}">
                <a16:creationId xmlns:a16="http://schemas.microsoft.com/office/drawing/2014/main" id="{09E0D0E2-5CB2-377A-6447-3BEDD8B25BC8}"/>
              </a:ext>
            </a:extLst>
          </p:cNvPr>
          <p:cNvSpPr txBox="1"/>
          <p:nvPr/>
        </p:nvSpPr>
        <p:spPr>
          <a:xfrm>
            <a:off x="9118934" y="2445055"/>
            <a:ext cx="2269500" cy="28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Disparate layers help increase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5"/>
                  </a:ext>
                </a:extLst>
              </a:rPr>
              <a:t>reliability and availability.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We can host different parts of the application on different servers and also utili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ze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caching to speed up data access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2945;p23">
            <a:extLst>
              <a:ext uri="{FF2B5EF4-FFF2-40B4-BE49-F238E27FC236}">
                <a16:creationId xmlns:a16="http://schemas.microsoft.com/office/drawing/2014/main" id="{E29A786A-95C2-88F1-367B-A85A0FEBBA9D}"/>
              </a:ext>
            </a:extLst>
          </p:cNvPr>
          <p:cNvSpPr/>
          <p:nvPr/>
        </p:nvSpPr>
        <p:spPr>
          <a:xfrm>
            <a:off x="9012606" y="1588401"/>
            <a:ext cx="2384512" cy="740010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23AE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2946;p23">
            <a:extLst>
              <a:ext uri="{FF2B5EF4-FFF2-40B4-BE49-F238E27FC236}">
                <a16:creationId xmlns:a16="http://schemas.microsoft.com/office/drawing/2014/main" id="{A081463A-215E-A582-9568-0699B25A59C9}"/>
              </a:ext>
            </a:extLst>
          </p:cNvPr>
          <p:cNvSpPr/>
          <p:nvPr/>
        </p:nvSpPr>
        <p:spPr>
          <a:xfrm flipH="1">
            <a:off x="9004891" y="1590168"/>
            <a:ext cx="2383946" cy="5193084"/>
          </a:xfrm>
          <a:custGeom>
            <a:avLst/>
            <a:gdLst/>
            <a:ahLst/>
            <a:cxnLst/>
            <a:rect l="l" t="t" r="r" b="b"/>
            <a:pathLst>
              <a:path w="2383946" h="5627610" extrusionOk="0">
                <a:moveTo>
                  <a:pt x="2372678" y="1752411"/>
                </a:moveTo>
                <a:cubicBezTo>
                  <a:pt x="2376271" y="2998473"/>
                  <a:pt x="2379865" y="4258824"/>
                  <a:pt x="2383458" y="5504886"/>
                </a:cubicBez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cubicBezTo>
                  <a:pt x="2386391" y="498594"/>
                  <a:pt x="2375037" y="936377"/>
                  <a:pt x="2377970" y="1312247"/>
                </a:cubicBezTo>
              </a:path>
            </a:pathLst>
          </a:custGeom>
          <a:noFill/>
          <a:ln w="63500" cap="rnd" cmpd="sng">
            <a:solidFill>
              <a:srgbClr val="23AE7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2947;p23">
            <a:extLst>
              <a:ext uri="{FF2B5EF4-FFF2-40B4-BE49-F238E27FC236}">
                <a16:creationId xmlns:a16="http://schemas.microsoft.com/office/drawing/2014/main" id="{2BD752C9-5231-89E9-FF9D-24B306A2F7BD}"/>
              </a:ext>
            </a:extLst>
          </p:cNvPr>
          <p:cNvSpPr/>
          <p:nvPr/>
        </p:nvSpPr>
        <p:spPr>
          <a:xfrm>
            <a:off x="8875856" y="1803698"/>
            <a:ext cx="265801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Availability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2948;p23">
            <a:extLst>
              <a:ext uri="{FF2B5EF4-FFF2-40B4-BE49-F238E27FC236}">
                <a16:creationId xmlns:a16="http://schemas.microsoft.com/office/drawing/2014/main" id="{1647DD48-6315-5F30-22E6-1DB72F8B57F1}"/>
              </a:ext>
            </a:extLst>
          </p:cNvPr>
          <p:cNvSpPr txBox="1"/>
          <p:nvPr/>
        </p:nvSpPr>
        <p:spPr>
          <a:xfrm>
            <a:off x="6367538" y="2445055"/>
            <a:ext cx="2183400" cy="20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 can keep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pplication and database layers hosted onsite and have the presentation layer on a public cloud or vice vers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2949;p23">
            <a:extLst>
              <a:ext uri="{FF2B5EF4-FFF2-40B4-BE49-F238E27FC236}">
                <a16:creationId xmlns:a16="http://schemas.microsoft.com/office/drawing/2014/main" id="{20D59EB3-FC60-D9CF-7EC9-FFF8C57D5ED1}"/>
              </a:ext>
            </a:extLst>
          </p:cNvPr>
          <p:cNvSpPr/>
          <p:nvPr/>
        </p:nvSpPr>
        <p:spPr>
          <a:xfrm>
            <a:off x="6257434" y="1588926"/>
            <a:ext cx="2384512" cy="740010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2950;p23">
            <a:extLst>
              <a:ext uri="{FF2B5EF4-FFF2-40B4-BE49-F238E27FC236}">
                <a16:creationId xmlns:a16="http://schemas.microsoft.com/office/drawing/2014/main" id="{F0A8A971-C2CE-B26B-9006-CAB957B9184C}"/>
              </a:ext>
            </a:extLst>
          </p:cNvPr>
          <p:cNvSpPr/>
          <p:nvPr/>
        </p:nvSpPr>
        <p:spPr>
          <a:xfrm>
            <a:off x="6245951" y="3113724"/>
            <a:ext cx="2757481" cy="3782254"/>
          </a:xfrm>
          <a:custGeom>
            <a:avLst/>
            <a:gdLst/>
            <a:ahLst/>
            <a:cxnLst/>
            <a:rect l="l" t="t" r="r" b="b"/>
            <a:pathLst>
              <a:path w="2757481" h="4088483" extrusionOk="0">
                <a:moveTo>
                  <a:pt x="2757481" y="0"/>
                </a:moveTo>
                <a:lnTo>
                  <a:pt x="2389977" y="6649"/>
                </a:lnTo>
                <a:lnTo>
                  <a:pt x="2395995" y="3965759"/>
                </a:lnTo>
                <a:cubicBezTo>
                  <a:pt x="2395995" y="4033538"/>
                  <a:pt x="2341050" y="4088483"/>
                  <a:pt x="2273271" y="4088483"/>
                </a:cubicBezTo>
                <a:lnTo>
                  <a:pt x="135261" y="4088483"/>
                </a:lnTo>
                <a:cubicBezTo>
                  <a:pt x="67482" y="4088483"/>
                  <a:pt x="12537" y="4033538"/>
                  <a:pt x="12537" y="3965759"/>
                </a:cubicBezTo>
                <a:cubicBezTo>
                  <a:pt x="-7917" y="3318172"/>
                  <a:pt x="2812" y="888461"/>
                  <a:pt x="2812" y="232145"/>
                </a:cubicBezTo>
              </a:path>
            </a:pathLst>
          </a:custGeom>
          <a:noFill/>
          <a:ln w="63500" cap="rnd" cmpd="sng">
            <a:solidFill>
              <a:srgbClr val="5A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2951;p23">
            <a:extLst>
              <a:ext uri="{FF2B5EF4-FFF2-40B4-BE49-F238E27FC236}">
                <a16:creationId xmlns:a16="http://schemas.microsoft.com/office/drawing/2014/main" id="{7980411B-BCD9-80C8-4135-582F9013121F}"/>
              </a:ext>
            </a:extLst>
          </p:cNvPr>
          <p:cNvSpPr/>
          <p:nvPr/>
        </p:nvSpPr>
        <p:spPr>
          <a:xfrm>
            <a:off x="6247712" y="1574593"/>
            <a:ext cx="2392548" cy="738472"/>
          </a:xfrm>
          <a:custGeom>
            <a:avLst/>
            <a:gdLst/>
            <a:ahLst/>
            <a:cxnLst/>
            <a:rect l="l" t="t" r="r" b="b"/>
            <a:pathLst>
              <a:path w="2392548" h="1400460" extrusionOk="0">
                <a:moveTo>
                  <a:pt x="9092" y="1304345"/>
                </a:moveTo>
                <a:cubicBezTo>
                  <a:pt x="9092" y="1063634"/>
                  <a:pt x="-11364" y="356328"/>
                  <a:pt x="9090" y="122724"/>
                </a:cubicBezTo>
                <a:cubicBezTo>
                  <a:pt x="9090" y="54945"/>
                  <a:pt x="64035" y="0"/>
                  <a:pt x="131814" y="0"/>
                </a:cubicBezTo>
                <a:lnTo>
                  <a:pt x="2269824" y="0"/>
                </a:lnTo>
                <a:cubicBezTo>
                  <a:pt x="2337603" y="0"/>
                  <a:pt x="2392548" y="54945"/>
                  <a:pt x="2392548" y="122724"/>
                </a:cubicBezTo>
                <a:lnTo>
                  <a:pt x="2387700" y="1400460"/>
                </a:lnTo>
              </a:path>
            </a:pathLst>
          </a:custGeom>
          <a:noFill/>
          <a:ln w="63500" cap="rnd" cmpd="sng">
            <a:solidFill>
              <a:srgbClr val="5A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2952;p23">
            <a:extLst>
              <a:ext uri="{FF2B5EF4-FFF2-40B4-BE49-F238E27FC236}">
                <a16:creationId xmlns:a16="http://schemas.microsoft.com/office/drawing/2014/main" id="{3D8C383F-BAE2-2F81-14FB-58C4B276436C}"/>
              </a:ext>
            </a:extLst>
          </p:cNvPr>
          <p:cNvSpPr/>
          <p:nvPr/>
        </p:nvSpPr>
        <p:spPr>
          <a:xfrm>
            <a:off x="6045976" y="1803698"/>
            <a:ext cx="277202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Flexibility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2953;p23">
            <a:extLst>
              <a:ext uri="{FF2B5EF4-FFF2-40B4-BE49-F238E27FC236}">
                <a16:creationId xmlns:a16="http://schemas.microsoft.com/office/drawing/2014/main" id="{E951AE8D-0A77-2517-1D7F-A8FB5B51631C}"/>
              </a:ext>
            </a:extLst>
          </p:cNvPr>
          <p:cNvSpPr/>
          <p:nvPr/>
        </p:nvSpPr>
        <p:spPr>
          <a:xfrm>
            <a:off x="8891954" y="2990811"/>
            <a:ext cx="231725" cy="214369"/>
          </a:xfrm>
          <a:prstGeom prst="ellipse">
            <a:avLst/>
          </a:prstGeom>
          <a:solidFill>
            <a:srgbClr val="FFFFFF"/>
          </a:solidFill>
          <a:ln w="63500" cap="flat" cmpd="sng">
            <a:solidFill>
              <a:srgbClr val="5A5A5A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954;p23">
            <a:extLst>
              <a:ext uri="{FF2B5EF4-FFF2-40B4-BE49-F238E27FC236}">
                <a16:creationId xmlns:a16="http://schemas.microsoft.com/office/drawing/2014/main" id="{B3C1832A-DB56-5901-8627-EE113D469DA7}"/>
              </a:ext>
            </a:extLst>
          </p:cNvPr>
          <p:cNvSpPr/>
          <p:nvPr/>
        </p:nvSpPr>
        <p:spPr>
          <a:xfrm>
            <a:off x="8958161" y="3057018"/>
            <a:ext cx="99311" cy="91873"/>
          </a:xfrm>
          <a:prstGeom prst="ellipse">
            <a:avLst/>
          </a:prstGeom>
          <a:solidFill>
            <a:srgbClr val="23AE7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955;p23">
            <a:extLst>
              <a:ext uri="{FF2B5EF4-FFF2-40B4-BE49-F238E27FC236}">
                <a16:creationId xmlns:a16="http://schemas.microsoft.com/office/drawing/2014/main" id="{E3483C07-C844-3F73-3ED1-10F947F44F0F}"/>
              </a:ext>
            </a:extLst>
          </p:cNvPr>
          <p:cNvSpPr txBox="1"/>
          <p:nvPr/>
        </p:nvSpPr>
        <p:spPr>
          <a:xfrm>
            <a:off x="3603459" y="2445055"/>
            <a:ext cx="2183400" cy="8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Each layer can be individually scaled as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required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956;p23">
            <a:extLst>
              <a:ext uri="{FF2B5EF4-FFF2-40B4-BE49-F238E27FC236}">
                <a16:creationId xmlns:a16="http://schemas.microsoft.com/office/drawing/2014/main" id="{7555101B-00EA-C623-1E31-2190EB6597FC}"/>
              </a:ext>
            </a:extLst>
          </p:cNvPr>
          <p:cNvSpPr/>
          <p:nvPr/>
        </p:nvSpPr>
        <p:spPr>
          <a:xfrm>
            <a:off x="3493355" y="1588401"/>
            <a:ext cx="2384512" cy="740010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957;p23">
            <a:extLst>
              <a:ext uri="{FF2B5EF4-FFF2-40B4-BE49-F238E27FC236}">
                <a16:creationId xmlns:a16="http://schemas.microsoft.com/office/drawing/2014/main" id="{F5EA4860-222D-743E-7CCC-6CF02FC067BB}"/>
              </a:ext>
            </a:extLst>
          </p:cNvPr>
          <p:cNvSpPr/>
          <p:nvPr/>
        </p:nvSpPr>
        <p:spPr>
          <a:xfrm>
            <a:off x="3481862" y="3117040"/>
            <a:ext cx="2767799" cy="3786556"/>
          </a:xfrm>
          <a:custGeom>
            <a:avLst/>
            <a:gdLst/>
            <a:ahLst/>
            <a:cxnLst/>
            <a:rect l="l" t="t" r="r" b="b"/>
            <a:pathLst>
              <a:path w="2767799" h="4082927" extrusionOk="0">
                <a:moveTo>
                  <a:pt x="2767799" y="0"/>
                </a:moveTo>
                <a:lnTo>
                  <a:pt x="2389977" y="1093"/>
                </a:lnTo>
                <a:lnTo>
                  <a:pt x="2395995" y="3960203"/>
                </a:lnTo>
                <a:cubicBezTo>
                  <a:pt x="2395995" y="4027982"/>
                  <a:pt x="2341050" y="4082927"/>
                  <a:pt x="2273271" y="4082927"/>
                </a:cubicBezTo>
                <a:lnTo>
                  <a:pt x="135261" y="4082927"/>
                </a:lnTo>
                <a:cubicBezTo>
                  <a:pt x="67482" y="4082927"/>
                  <a:pt x="12537" y="4027982"/>
                  <a:pt x="12537" y="3960203"/>
                </a:cubicBezTo>
                <a:cubicBezTo>
                  <a:pt x="-7917" y="3312616"/>
                  <a:pt x="2812" y="882905"/>
                  <a:pt x="2812" y="226589"/>
                </a:cubicBezTo>
              </a:path>
            </a:pathLst>
          </a:custGeom>
          <a:noFill/>
          <a:ln w="63500" cap="rnd" cmpd="sng">
            <a:solidFill>
              <a:srgbClr val="4890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958;p23">
            <a:extLst>
              <a:ext uri="{FF2B5EF4-FFF2-40B4-BE49-F238E27FC236}">
                <a16:creationId xmlns:a16="http://schemas.microsoft.com/office/drawing/2014/main" id="{063507B9-56D6-FE79-B042-31ADD90362AE}"/>
              </a:ext>
            </a:extLst>
          </p:cNvPr>
          <p:cNvSpPr/>
          <p:nvPr/>
        </p:nvSpPr>
        <p:spPr>
          <a:xfrm>
            <a:off x="3483627" y="1574069"/>
            <a:ext cx="2392548" cy="1295565"/>
          </a:xfrm>
          <a:custGeom>
            <a:avLst/>
            <a:gdLst/>
            <a:ahLst/>
            <a:cxnLst/>
            <a:rect l="l" t="t" r="r" b="b"/>
            <a:pathLst>
              <a:path w="2392548" h="1400460" extrusionOk="0">
                <a:moveTo>
                  <a:pt x="9092" y="1304345"/>
                </a:moveTo>
                <a:cubicBezTo>
                  <a:pt x="9092" y="1063634"/>
                  <a:pt x="-11364" y="356328"/>
                  <a:pt x="9090" y="122724"/>
                </a:cubicBezTo>
                <a:cubicBezTo>
                  <a:pt x="9090" y="54945"/>
                  <a:pt x="64035" y="0"/>
                  <a:pt x="131814" y="0"/>
                </a:cubicBezTo>
                <a:lnTo>
                  <a:pt x="2269824" y="0"/>
                </a:lnTo>
                <a:cubicBezTo>
                  <a:pt x="2337603" y="0"/>
                  <a:pt x="2392548" y="54945"/>
                  <a:pt x="2392548" y="122724"/>
                </a:cubicBezTo>
                <a:lnTo>
                  <a:pt x="2387700" y="1400460"/>
                </a:lnTo>
              </a:path>
            </a:pathLst>
          </a:custGeom>
          <a:noFill/>
          <a:ln w="63500" cap="rnd" cmpd="sng">
            <a:solidFill>
              <a:srgbClr val="4890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959;p23">
            <a:extLst>
              <a:ext uri="{FF2B5EF4-FFF2-40B4-BE49-F238E27FC236}">
                <a16:creationId xmlns:a16="http://schemas.microsoft.com/office/drawing/2014/main" id="{97255A14-E29B-E078-F283-AB0A6260E815}"/>
              </a:ext>
            </a:extLst>
          </p:cNvPr>
          <p:cNvSpPr/>
          <p:nvPr/>
        </p:nvSpPr>
        <p:spPr>
          <a:xfrm>
            <a:off x="3347700" y="1803697"/>
            <a:ext cx="267582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Scalability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960;p23">
            <a:extLst>
              <a:ext uri="{FF2B5EF4-FFF2-40B4-BE49-F238E27FC236}">
                <a16:creationId xmlns:a16="http://schemas.microsoft.com/office/drawing/2014/main" id="{BA5753DC-1980-F343-3A86-D26723787FE5}"/>
              </a:ext>
            </a:extLst>
          </p:cNvPr>
          <p:cNvSpPr/>
          <p:nvPr/>
        </p:nvSpPr>
        <p:spPr>
          <a:xfrm>
            <a:off x="6127875" y="2990286"/>
            <a:ext cx="231725" cy="214369"/>
          </a:xfrm>
          <a:prstGeom prst="ellipse">
            <a:avLst/>
          </a:prstGeom>
          <a:solidFill>
            <a:srgbClr val="FFFFFF"/>
          </a:solidFill>
          <a:ln w="63500" cap="flat" cmpd="sng">
            <a:solidFill>
              <a:srgbClr val="4890E4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961;p23">
            <a:extLst>
              <a:ext uri="{FF2B5EF4-FFF2-40B4-BE49-F238E27FC236}">
                <a16:creationId xmlns:a16="http://schemas.microsoft.com/office/drawing/2014/main" id="{EDA789CA-2E2F-FBD2-22A3-C81246474F91}"/>
              </a:ext>
            </a:extLst>
          </p:cNvPr>
          <p:cNvSpPr/>
          <p:nvPr/>
        </p:nvSpPr>
        <p:spPr>
          <a:xfrm>
            <a:off x="6194082" y="3056493"/>
            <a:ext cx="99311" cy="91873"/>
          </a:xfrm>
          <a:prstGeom prst="ellipse">
            <a:avLst/>
          </a:prstGeom>
          <a:solidFill>
            <a:srgbClr val="5A5A5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962;p23">
            <a:extLst>
              <a:ext uri="{FF2B5EF4-FFF2-40B4-BE49-F238E27FC236}">
                <a16:creationId xmlns:a16="http://schemas.microsoft.com/office/drawing/2014/main" id="{9A09919E-0D79-2A5D-97BC-7FF43F45987B}"/>
              </a:ext>
            </a:extLst>
          </p:cNvPr>
          <p:cNvSpPr txBox="1"/>
          <p:nvPr/>
        </p:nvSpPr>
        <p:spPr>
          <a:xfrm>
            <a:off x="792767" y="2445055"/>
            <a:ext cx="2332800" cy="438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As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application is divided into modules, development teams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can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quickly enhance and develop the product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An u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pdate made to a specific layer has zero to minimal impact on other layers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AutoNum type="arabicPeriod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A 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eam can have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groups of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speciali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z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ed developers for each layer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63;p23">
            <a:extLst>
              <a:ext uri="{FF2B5EF4-FFF2-40B4-BE49-F238E27FC236}">
                <a16:creationId xmlns:a16="http://schemas.microsoft.com/office/drawing/2014/main" id="{6E97E6D7-08C7-4B0F-C296-95E05E3ABB90}"/>
              </a:ext>
            </a:extLst>
          </p:cNvPr>
          <p:cNvSpPr/>
          <p:nvPr/>
        </p:nvSpPr>
        <p:spPr>
          <a:xfrm>
            <a:off x="741031" y="1588401"/>
            <a:ext cx="2384512" cy="740010"/>
          </a:xfrm>
          <a:custGeom>
            <a:avLst/>
            <a:gdLst/>
            <a:ahLst/>
            <a:cxnLst/>
            <a:rect l="l" t="t" r="r" b="b"/>
            <a:pathLst>
              <a:path w="2384512" h="799926" extrusionOk="0">
                <a:moveTo>
                  <a:pt x="0" y="95865"/>
                </a:moveTo>
                <a:cubicBezTo>
                  <a:pt x="15802" y="-37456"/>
                  <a:pt x="58994" y="45474"/>
                  <a:pt x="95865" y="0"/>
                </a:cubicBezTo>
                <a:lnTo>
                  <a:pt x="2256503" y="0"/>
                </a:lnTo>
                <a:cubicBezTo>
                  <a:pt x="2364658" y="9832"/>
                  <a:pt x="2340078" y="93407"/>
                  <a:pt x="2381865" y="140110"/>
                </a:cubicBezTo>
                <a:cubicBezTo>
                  <a:pt x="2382747" y="360049"/>
                  <a:pt x="2383630" y="579987"/>
                  <a:pt x="2384512" y="799926"/>
                </a:cubicBezTo>
                <a:lnTo>
                  <a:pt x="1054" y="799926"/>
                </a:lnTo>
                <a:cubicBezTo>
                  <a:pt x="703" y="565239"/>
                  <a:pt x="351" y="330552"/>
                  <a:pt x="0" y="95865"/>
                </a:cubicBezTo>
                <a:close/>
              </a:path>
            </a:pathLst>
          </a:custGeom>
          <a:solidFill>
            <a:srgbClr val="F4AB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2964;p23">
            <a:extLst>
              <a:ext uri="{FF2B5EF4-FFF2-40B4-BE49-F238E27FC236}">
                <a16:creationId xmlns:a16="http://schemas.microsoft.com/office/drawing/2014/main" id="{9AA67252-3235-6DED-A7A4-A0C5B750F5E5}"/>
              </a:ext>
            </a:extLst>
          </p:cNvPr>
          <p:cNvSpPr/>
          <p:nvPr/>
        </p:nvSpPr>
        <p:spPr>
          <a:xfrm>
            <a:off x="742087" y="1589006"/>
            <a:ext cx="2745624" cy="5193084"/>
          </a:xfrm>
          <a:custGeom>
            <a:avLst/>
            <a:gdLst/>
            <a:ahLst/>
            <a:cxnLst/>
            <a:rect l="l" t="t" r="r" b="b"/>
            <a:pathLst>
              <a:path w="2745624" h="5627610" extrusionOk="0">
                <a:moveTo>
                  <a:pt x="2745624" y="1550459"/>
                </a:moveTo>
                <a:lnTo>
                  <a:pt x="2377440" y="1545776"/>
                </a:lnTo>
                <a:lnTo>
                  <a:pt x="2383458" y="5504886"/>
                </a:lnTo>
                <a:cubicBezTo>
                  <a:pt x="2383458" y="5572665"/>
                  <a:pt x="2328513" y="5627610"/>
                  <a:pt x="2260734" y="5627610"/>
                </a:cubicBezTo>
                <a:lnTo>
                  <a:pt x="122724" y="5627610"/>
                </a:lnTo>
                <a:cubicBezTo>
                  <a:pt x="54945" y="5627610"/>
                  <a:pt x="0" y="5572665"/>
                  <a:pt x="0" y="5504886"/>
                </a:cubicBezTo>
                <a:lnTo>
                  <a:pt x="0" y="122724"/>
                </a:lnTo>
                <a:cubicBezTo>
                  <a:pt x="0" y="54945"/>
                  <a:pt x="54945" y="0"/>
                  <a:pt x="122724" y="0"/>
                </a:cubicBezTo>
                <a:lnTo>
                  <a:pt x="2260734" y="0"/>
                </a:lnTo>
                <a:cubicBezTo>
                  <a:pt x="2328513" y="0"/>
                  <a:pt x="2383458" y="54945"/>
                  <a:pt x="2383458" y="122724"/>
                </a:cubicBezTo>
                <a:lnTo>
                  <a:pt x="2378610" y="1400460"/>
                </a:lnTo>
              </a:path>
            </a:pathLst>
          </a:custGeom>
          <a:noFill/>
          <a:ln w="63500" cap="rnd" cmpd="sng">
            <a:solidFill>
              <a:srgbClr val="F4AB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2965;p23">
            <a:extLst>
              <a:ext uri="{FF2B5EF4-FFF2-40B4-BE49-F238E27FC236}">
                <a16:creationId xmlns:a16="http://schemas.microsoft.com/office/drawing/2014/main" id="{B50ED786-D8DD-22D7-344A-2FDBEE3B87B7}"/>
              </a:ext>
            </a:extLst>
          </p:cNvPr>
          <p:cNvSpPr/>
          <p:nvPr/>
        </p:nvSpPr>
        <p:spPr>
          <a:xfrm>
            <a:off x="754479" y="1665199"/>
            <a:ext cx="2357618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Improved Speed of Development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2966;p23">
            <a:extLst>
              <a:ext uri="{FF2B5EF4-FFF2-40B4-BE49-F238E27FC236}">
                <a16:creationId xmlns:a16="http://schemas.microsoft.com/office/drawing/2014/main" id="{5E799C46-40DA-854F-DC92-2322E20B4EF4}"/>
              </a:ext>
            </a:extLst>
          </p:cNvPr>
          <p:cNvSpPr/>
          <p:nvPr/>
        </p:nvSpPr>
        <p:spPr>
          <a:xfrm>
            <a:off x="3375551" y="2990286"/>
            <a:ext cx="231725" cy="214369"/>
          </a:xfrm>
          <a:prstGeom prst="ellipse">
            <a:avLst/>
          </a:prstGeom>
          <a:solidFill>
            <a:srgbClr val="FFFFFF"/>
          </a:solidFill>
          <a:ln w="63500" cap="flat" cmpd="sng">
            <a:solidFill>
              <a:srgbClr val="F4AB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2967;p23">
            <a:extLst>
              <a:ext uri="{FF2B5EF4-FFF2-40B4-BE49-F238E27FC236}">
                <a16:creationId xmlns:a16="http://schemas.microsoft.com/office/drawing/2014/main" id="{4D58C966-9D1B-155C-F468-8080527ABBCF}"/>
              </a:ext>
            </a:extLst>
          </p:cNvPr>
          <p:cNvSpPr/>
          <p:nvPr/>
        </p:nvSpPr>
        <p:spPr>
          <a:xfrm>
            <a:off x="3441758" y="3056493"/>
            <a:ext cx="99311" cy="91873"/>
          </a:xfrm>
          <a:prstGeom prst="ellipse">
            <a:avLst/>
          </a:prstGeom>
          <a:solidFill>
            <a:srgbClr val="4890E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6484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9" dur="500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5" dur="500"/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2972;p24" descr="Fig 1 : Web-App-DB (3 Tier) - Reference Architecture Context">
            <a:extLst>
              <a:ext uri="{FF2B5EF4-FFF2-40B4-BE49-F238E27FC236}">
                <a16:creationId xmlns:a16="http://schemas.microsoft.com/office/drawing/2014/main" id="{707E60A5-DD5B-96E3-CE38-476AEE4F1E4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629482" y="2070768"/>
            <a:ext cx="8933037" cy="4772835"/>
          </a:xfrm>
          <a:prstGeom prst="roundRect">
            <a:avLst>
              <a:gd name="adj" fmla="val 2740"/>
            </a:avLst>
          </a:prstGeom>
          <a:solidFill>
            <a:schemeClr val="accent2"/>
          </a:solidFill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2973;p24">
            <a:extLst>
              <a:ext uri="{FF2B5EF4-FFF2-40B4-BE49-F238E27FC236}">
                <a16:creationId xmlns:a16="http://schemas.microsoft.com/office/drawing/2014/main" id="{F3773515-A227-F8AF-C996-79B456883331}"/>
              </a:ext>
            </a:extLst>
          </p:cNvPr>
          <p:cNvSpPr txBox="1"/>
          <p:nvPr/>
        </p:nvSpPr>
        <p:spPr>
          <a:xfrm>
            <a:off x="1936577" y="1315290"/>
            <a:ext cx="831884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THREE-TIER INFRASTRUCTURE ON AWS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569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2978;p35">
            <a:extLst>
              <a:ext uri="{FF2B5EF4-FFF2-40B4-BE49-F238E27FC236}">
                <a16:creationId xmlns:a16="http://schemas.microsoft.com/office/drawing/2014/main" id="{154E9C18-48FF-FA5E-DA85-33485231E78B}"/>
              </a:ext>
            </a:extLst>
          </p:cNvPr>
          <p:cNvGrpSpPr/>
          <p:nvPr/>
        </p:nvGrpSpPr>
        <p:grpSpPr>
          <a:xfrm>
            <a:off x="3206550" y="1395680"/>
            <a:ext cx="5778900" cy="4798444"/>
            <a:chOff x="6171375" y="1400883"/>
            <a:chExt cx="5778900" cy="4798444"/>
          </a:xfrm>
        </p:grpSpPr>
        <p:sp>
          <p:nvSpPr>
            <p:cNvPr id="10" name="Google Shape;2979;p35">
              <a:extLst>
                <a:ext uri="{FF2B5EF4-FFF2-40B4-BE49-F238E27FC236}">
                  <a16:creationId xmlns:a16="http://schemas.microsoft.com/office/drawing/2014/main" id="{9495766B-596B-D6B1-0D18-B8EB7664C521}"/>
                </a:ext>
              </a:extLst>
            </p:cNvPr>
            <p:cNvSpPr txBox="1"/>
            <p:nvPr/>
          </p:nvSpPr>
          <p:spPr>
            <a:xfrm>
              <a:off x="6426676" y="1400883"/>
              <a:ext cx="5268300" cy="1100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Now that </a:t>
              </a:r>
              <a:r>
                <a:rPr lang="en-US" sz="2000">
                  <a:latin typeface="Lato"/>
                  <a:ea typeface="Lato"/>
                  <a:cs typeface="Lato"/>
                  <a:sym typeface="Lato"/>
                </a:rPr>
                <a:t>you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have learned about web servers, we </a:t>
              </a:r>
              <a:r>
                <a:rPr lang="en-US" sz="2000">
                  <a:latin typeface="Lato"/>
                  <a:ea typeface="Lato"/>
                  <a:cs typeface="Lato"/>
                  <a:sym typeface="Lato"/>
                </a:rPr>
                <a:t>will talk</a:t>
              </a: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 about the different types of web applications</a:t>
              </a:r>
              <a:b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</a:br>
              <a:endParaRPr sz="20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1" name="Google Shape;2980;p35">
              <a:extLst>
                <a:ext uri="{FF2B5EF4-FFF2-40B4-BE49-F238E27FC236}">
                  <a16:creationId xmlns:a16="http://schemas.microsoft.com/office/drawing/2014/main" id="{3C8DF0CF-5286-4765-7989-94636A232541}"/>
                </a:ext>
              </a:extLst>
            </p:cNvPr>
            <p:cNvGrpSpPr/>
            <p:nvPr/>
          </p:nvGrpSpPr>
          <p:grpSpPr>
            <a:xfrm>
              <a:off x="6171375" y="2673779"/>
              <a:ext cx="5778900" cy="3525548"/>
              <a:chOff x="6171375" y="2673779"/>
              <a:chExt cx="5778900" cy="3525548"/>
            </a:xfrm>
          </p:grpSpPr>
          <p:grpSp>
            <p:nvGrpSpPr>
              <p:cNvPr id="12" name="Google Shape;2981;p35">
                <a:extLst>
                  <a:ext uri="{FF2B5EF4-FFF2-40B4-BE49-F238E27FC236}">
                    <a16:creationId xmlns:a16="http://schemas.microsoft.com/office/drawing/2014/main" id="{DAAAE035-52C5-CDB9-8351-C0ABB18D76CF}"/>
                  </a:ext>
                </a:extLst>
              </p:cNvPr>
              <p:cNvGrpSpPr/>
              <p:nvPr/>
            </p:nvGrpSpPr>
            <p:grpSpPr>
              <a:xfrm>
                <a:off x="9563668" y="3530231"/>
                <a:ext cx="1834500" cy="1635937"/>
                <a:chOff x="9563668" y="3307911"/>
                <a:chExt cx="1834500" cy="1635937"/>
              </a:xfrm>
            </p:grpSpPr>
            <p:pic>
              <p:nvPicPr>
                <p:cNvPr id="17" name="Google Shape;2982;p35">
                  <a:extLst>
                    <a:ext uri="{FF2B5EF4-FFF2-40B4-BE49-F238E27FC236}">
                      <a16:creationId xmlns:a16="http://schemas.microsoft.com/office/drawing/2014/main" id="{C67FF63E-BE23-5138-E763-B0F90CD21DE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t="11465" b="7960"/>
                <a:stretch/>
              </p:blipFill>
              <p:spPr>
                <a:xfrm>
                  <a:off x="9789465" y="3307911"/>
                  <a:ext cx="1386756" cy="94017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18" name="Google Shape;2983;p35">
                  <a:extLst>
                    <a:ext uri="{FF2B5EF4-FFF2-40B4-BE49-F238E27FC236}">
                      <a16:creationId xmlns:a16="http://schemas.microsoft.com/office/drawing/2014/main" id="{13DA4FEC-C1F0-34D1-95C3-359748D05E93}"/>
                    </a:ext>
                  </a:extLst>
                </p:cNvPr>
                <p:cNvSpPr txBox="1"/>
                <p:nvPr/>
              </p:nvSpPr>
              <p:spPr>
                <a:xfrm>
                  <a:off x="9563668" y="4358848"/>
                  <a:ext cx="1834500" cy="585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Web Application Architecture</a:t>
                  </a:r>
                  <a:endParaRPr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</p:grpSp>
          <p:sp>
            <p:nvSpPr>
              <p:cNvPr id="13" name="Google Shape;2984;p35">
                <a:extLst>
                  <a:ext uri="{FF2B5EF4-FFF2-40B4-BE49-F238E27FC236}">
                    <a16:creationId xmlns:a16="http://schemas.microsoft.com/office/drawing/2014/main" id="{73F63C5F-6301-5AF9-2330-986B35B56459}"/>
                  </a:ext>
                </a:extLst>
              </p:cNvPr>
              <p:cNvSpPr/>
              <p:nvPr/>
            </p:nvSpPr>
            <p:spPr>
              <a:xfrm>
                <a:off x="7074415" y="2673779"/>
                <a:ext cx="2181300" cy="806100"/>
              </a:xfrm>
              <a:prstGeom prst="homePlate">
                <a:avLst>
                  <a:gd name="adj" fmla="val 50000"/>
                </a:avLst>
              </a:prstGeom>
              <a:noFill/>
              <a:ln w="2540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accent1"/>
                    </a:solidFill>
                    <a:latin typeface="Lato"/>
                    <a:ea typeface="Lato"/>
                    <a:cs typeface="Lato"/>
                    <a:sym typeface="Lato"/>
                  </a:rPr>
                  <a:t>Monolithic Architectures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2985;p35">
                <a:extLst>
                  <a:ext uri="{FF2B5EF4-FFF2-40B4-BE49-F238E27FC236}">
                    <a16:creationId xmlns:a16="http://schemas.microsoft.com/office/drawing/2014/main" id="{ADE00685-40B0-FDF7-D84F-6C9AE359B9EC}"/>
                  </a:ext>
                </a:extLst>
              </p:cNvPr>
              <p:cNvSpPr/>
              <p:nvPr/>
            </p:nvSpPr>
            <p:spPr>
              <a:xfrm>
                <a:off x="6502459" y="3936297"/>
                <a:ext cx="2181300" cy="806100"/>
              </a:xfrm>
              <a:prstGeom prst="homePlate">
                <a:avLst>
                  <a:gd name="adj" fmla="val 50000"/>
                </a:avLst>
              </a:prstGeom>
              <a:noFill/>
              <a:ln w="2540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accent2"/>
                    </a:solidFill>
                    <a:latin typeface="Lato"/>
                    <a:ea typeface="Lato"/>
                    <a:cs typeface="Lato"/>
                    <a:sym typeface="Lato"/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6"/>
                      </a:ext>
                    </a:extLst>
                  </a:rPr>
                  <a:t>Micro</a:t>
                </a:r>
                <a:r>
                  <a:rPr lang="en-US" sz="1600" b="1">
                    <a:solidFill>
                      <a:schemeClr val="accent2"/>
                    </a:solidFill>
                    <a:latin typeface="Lato"/>
                    <a:ea typeface="Lato"/>
                    <a:cs typeface="Lato"/>
                    <a:sym typeface="Lato"/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7"/>
                      </a:ext>
                    </a:extLst>
                  </a:rPr>
                  <a:t>s</a:t>
                </a:r>
                <a:r>
                  <a:rPr lang="en-US" sz="1600" b="1" i="0" u="none" strike="noStrike" cap="none">
                    <a:solidFill>
                      <a:schemeClr val="accent2"/>
                    </a:solidFill>
                    <a:latin typeface="Lato"/>
                    <a:ea typeface="Lato"/>
                    <a:cs typeface="Lato"/>
                    <a:sym typeface="Lato"/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8"/>
                      </a:ext>
                    </a:extLst>
                  </a:rPr>
                  <a:t>ervices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2986;p35">
                <a:extLst>
                  <a:ext uri="{FF2B5EF4-FFF2-40B4-BE49-F238E27FC236}">
                    <a16:creationId xmlns:a16="http://schemas.microsoft.com/office/drawing/2014/main" id="{1429CB2A-5D2A-D15F-32CA-8590FC4D5506}"/>
                  </a:ext>
                </a:extLst>
              </p:cNvPr>
              <p:cNvSpPr/>
              <p:nvPr/>
            </p:nvSpPr>
            <p:spPr>
              <a:xfrm>
                <a:off x="7074415" y="5198814"/>
                <a:ext cx="2181300" cy="806100"/>
              </a:xfrm>
              <a:prstGeom prst="homePlate">
                <a:avLst>
                  <a:gd name="adj" fmla="val 50000"/>
                </a:avLst>
              </a:prstGeom>
              <a:noFill/>
              <a:ln w="25400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bg2">
                        <a:lumMod val="50000"/>
                      </a:schemeClr>
                    </a:solidFill>
                    <a:latin typeface="Lato"/>
                    <a:ea typeface="Lato"/>
                    <a:cs typeface="Lato"/>
                    <a:sym typeface="Lato"/>
                  </a:rPr>
                  <a:t>Serverless Architectures</a:t>
                </a:r>
                <a:endParaRPr sz="1400" b="0" i="0" u="none" strike="noStrike" cap="none" dirty="0">
                  <a:solidFill>
                    <a:schemeClr val="bg2">
                      <a:lumMod val="50000"/>
                    </a:schemeClr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2987;p35">
                <a:extLst>
                  <a:ext uri="{FF2B5EF4-FFF2-40B4-BE49-F238E27FC236}">
                    <a16:creationId xmlns:a16="http://schemas.microsoft.com/office/drawing/2014/main" id="{DC619FD9-F327-BBAB-5E90-0F82FB035D67}"/>
                  </a:ext>
                </a:extLst>
              </p:cNvPr>
              <p:cNvSpPr/>
              <p:nvPr/>
            </p:nvSpPr>
            <p:spPr>
              <a:xfrm>
                <a:off x="6171375" y="5614327"/>
                <a:ext cx="5778900" cy="585000"/>
              </a:xfrm>
              <a:prstGeom prst="roundRect">
                <a:avLst>
                  <a:gd name="adj" fmla="val 5209"/>
                </a:avLst>
              </a:prstGeom>
              <a:noFill/>
              <a:ln w="28575" cap="flat" cmpd="sng">
                <a:solidFill>
                  <a:srgbClr val="AEABAB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35760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2992;p36">
            <a:extLst>
              <a:ext uri="{FF2B5EF4-FFF2-40B4-BE49-F238E27FC236}">
                <a16:creationId xmlns:a16="http://schemas.microsoft.com/office/drawing/2014/main" id="{086692F3-3872-9819-6CAF-5A4A25B9DC66}"/>
              </a:ext>
            </a:extLst>
          </p:cNvPr>
          <p:cNvSpPr txBox="1"/>
          <p:nvPr/>
        </p:nvSpPr>
        <p:spPr>
          <a:xfrm>
            <a:off x="1936578" y="1066228"/>
            <a:ext cx="831884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ARCHITECTURES OF WEB APPLICATIONS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2993;p36">
            <a:extLst>
              <a:ext uri="{FF2B5EF4-FFF2-40B4-BE49-F238E27FC236}">
                <a16:creationId xmlns:a16="http://schemas.microsoft.com/office/drawing/2014/main" id="{5A8861CE-B2D4-A890-FCB3-EE7E9E34A15C}"/>
              </a:ext>
            </a:extLst>
          </p:cNvPr>
          <p:cNvSpPr txBox="1"/>
          <p:nvPr/>
        </p:nvSpPr>
        <p:spPr>
          <a:xfrm>
            <a:off x="1936578" y="1634870"/>
            <a:ext cx="831884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Monolithic vs </a:t>
            </a:r>
            <a:r>
              <a:rPr lang="en-US" sz="20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9"/>
                  </a:ext>
                </a:extLst>
              </a:rPr>
              <a:t>SOA </a:t>
            </a:r>
            <a:r>
              <a:rPr lang="en-US" sz="20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vs Microservices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2994;p36">
            <a:extLst>
              <a:ext uri="{FF2B5EF4-FFF2-40B4-BE49-F238E27FC236}">
                <a16:creationId xmlns:a16="http://schemas.microsoft.com/office/drawing/2014/main" id="{879E792D-8981-85EC-7603-AD2B09D400C0}"/>
              </a:ext>
            </a:extLst>
          </p:cNvPr>
          <p:cNvGrpSpPr/>
          <p:nvPr/>
        </p:nvGrpSpPr>
        <p:grpSpPr>
          <a:xfrm>
            <a:off x="534572" y="2434052"/>
            <a:ext cx="3376246" cy="3953745"/>
            <a:chOff x="534572" y="1395117"/>
            <a:chExt cx="3376246" cy="4349119"/>
          </a:xfrm>
        </p:grpSpPr>
        <p:sp>
          <p:nvSpPr>
            <p:cNvPr id="12" name="Google Shape;2995;p36">
              <a:extLst>
                <a:ext uri="{FF2B5EF4-FFF2-40B4-BE49-F238E27FC236}">
                  <a16:creationId xmlns:a16="http://schemas.microsoft.com/office/drawing/2014/main" id="{F74D3777-4127-8607-823A-DED3151116B0}"/>
                </a:ext>
              </a:extLst>
            </p:cNvPr>
            <p:cNvSpPr/>
            <p:nvPr/>
          </p:nvSpPr>
          <p:spPr>
            <a:xfrm>
              <a:off x="534572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rgbClr val="F4AB3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2996;p36">
              <a:extLst>
                <a:ext uri="{FF2B5EF4-FFF2-40B4-BE49-F238E27FC236}">
                  <a16:creationId xmlns:a16="http://schemas.microsoft.com/office/drawing/2014/main" id="{F8CB16D1-E88B-8636-B867-3A02F194FE70}"/>
                </a:ext>
              </a:extLst>
            </p:cNvPr>
            <p:cNvSpPr txBox="1"/>
            <p:nvPr/>
          </p:nvSpPr>
          <p:spPr>
            <a:xfrm>
              <a:off x="792980" y="4277355"/>
              <a:ext cx="2859431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accent1"/>
                  </a:solidFill>
                  <a:latin typeface="Lato"/>
                  <a:ea typeface="Lato"/>
                  <a:cs typeface="Lato"/>
                  <a:sym typeface="Lato"/>
                </a:rPr>
                <a:t>Monolithic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Single unit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2997;p36">
              <a:extLst>
                <a:ext uri="{FF2B5EF4-FFF2-40B4-BE49-F238E27FC236}">
                  <a16:creationId xmlns:a16="http://schemas.microsoft.com/office/drawing/2014/main" id="{07B8DE64-CD8E-4D5D-F596-C5169E0C11A6}"/>
                </a:ext>
              </a:extLst>
            </p:cNvPr>
            <p:cNvSpPr/>
            <p:nvPr/>
          </p:nvSpPr>
          <p:spPr>
            <a:xfrm>
              <a:off x="739976" y="1608677"/>
              <a:ext cx="2965439" cy="2033883"/>
            </a:xfrm>
            <a:prstGeom prst="roundRect">
              <a:avLst>
                <a:gd name="adj" fmla="val 9126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" name="Google Shape;2998;p36">
            <a:extLst>
              <a:ext uri="{FF2B5EF4-FFF2-40B4-BE49-F238E27FC236}">
                <a16:creationId xmlns:a16="http://schemas.microsoft.com/office/drawing/2014/main" id="{269B08B9-CCEA-ED8D-6807-376BAFB6A18C}"/>
              </a:ext>
            </a:extLst>
          </p:cNvPr>
          <p:cNvGrpSpPr/>
          <p:nvPr/>
        </p:nvGrpSpPr>
        <p:grpSpPr>
          <a:xfrm>
            <a:off x="4395406" y="2434052"/>
            <a:ext cx="3376246" cy="3953745"/>
            <a:chOff x="4395406" y="1395117"/>
            <a:chExt cx="3376246" cy="4349119"/>
          </a:xfrm>
        </p:grpSpPr>
        <p:sp>
          <p:nvSpPr>
            <p:cNvPr id="16" name="Google Shape;2999;p36">
              <a:extLst>
                <a:ext uri="{FF2B5EF4-FFF2-40B4-BE49-F238E27FC236}">
                  <a16:creationId xmlns:a16="http://schemas.microsoft.com/office/drawing/2014/main" id="{712DC078-1B57-CEEE-8914-ABC3A11F99DA}"/>
                </a:ext>
              </a:extLst>
            </p:cNvPr>
            <p:cNvSpPr/>
            <p:nvPr/>
          </p:nvSpPr>
          <p:spPr>
            <a:xfrm>
              <a:off x="4395406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rgbClr val="4890E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7" name="Google Shape;3000;p36">
              <a:extLst>
                <a:ext uri="{FF2B5EF4-FFF2-40B4-BE49-F238E27FC236}">
                  <a16:creationId xmlns:a16="http://schemas.microsoft.com/office/drawing/2014/main" id="{7CE0F09A-2A05-7E80-0B6A-487171BA2127}"/>
                </a:ext>
              </a:extLst>
            </p:cNvPr>
            <p:cNvGrpSpPr/>
            <p:nvPr/>
          </p:nvGrpSpPr>
          <p:grpSpPr>
            <a:xfrm>
              <a:off x="5262519" y="1791757"/>
              <a:ext cx="1642020" cy="1667723"/>
              <a:chOff x="5048250" y="1852422"/>
              <a:chExt cx="2371351" cy="2408471"/>
            </a:xfrm>
          </p:grpSpPr>
          <p:sp>
            <p:nvSpPr>
              <p:cNvPr id="19" name="Google Shape;3001;p36">
                <a:extLst>
                  <a:ext uri="{FF2B5EF4-FFF2-40B4-BE49-F238E27FC236}">
                    <a16:creationId xmlns:a16="http://schemas.microsoft.com/office/drawing/2014/main" id="{A8C44278-D116-820D-683C-F3AD3552772A}"/>
                  </a:ext>
                </a:extLst>
              </p:cNvPr>
              <p:cNvSpPr/>
              <p:nvPr/>
            </p:nvSpPr>
            <p:spPr>
              <a:xfrm>
                <a:off x="5048250" y="1852422"/>
                <a:ext cx="1009650" cy="1009650"/>
              </a:xfrm>
              <a:prstGeom prst="ellipse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3002;p36">
                <a:extLst>
                  <a:ext uri="{FF2B5EF4-FFF2-40B4-BE49-F238E27FC236}">
                    <a16:creationId xmlns:a16="http://schemas.microsoft.com/office/drawing/2014/main" id="{21360CFA-A4D8-9767-745F-37C72D8957A0}"/>
                  </a:ext>
                </a:extLst>
              </p:cNvPr>
              <p:cNvSpPr/>
              <p:nvPr/>
            </p:nvSpPr>
            <p:spPr>
              <a:xfrm>
                <a:off x="6409951" y="1852422"/>
                <a:ext cx="1009650" cy="1009650"/>
              </a:xfrm>
              <a:prstGeom prst="ellipse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3003;p36">
                <a:extLst>
                  <a:ext uri="{FF2B5EF4-FFF2-40B4-BE49-F238E27FC236}">
                    <a16:creationId xmlns:a16="http://schemas.microsoft.com/office/drawing/2014/main" id="{8A8A0985-C844-93D6-7347-D23A6B271F65}"/>
                  </a:ext>
                </a:extLst>
              </p:cNvPr>
              <p:cNvSpPr/>
              <p:nvPr/>
            </p:nvSpPr>
            <p:spPr>
              <a:xfrm>
                <a:off x="5048250" y="3251243"/>
                <a:ext cx="1009650" cy="1009650"/>
              </a:xfrm>
              <a:prstGeom prst="ellipse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3004;p36">
                <a:extLst>
                  <a:ext uri="{FF2B5EF4-FFF2-40B4-BE49-F238E27FC236}">
                    <a16:creationId xmlns:a16="http://schemas.microsoft.com/office/drawing/2014/main" id="{549BD84D-8891-6BAF-2647-EEE538B561C1}"/>
                  </a:ext>
                </a:extLst>
              </p:cNvPr>
              <p:cNvSpPr/>
              <p:nvPr/>
            </p:nvSpPr>
            <p:spPr>
              <a:xfrm>
                <a:off x="6409951" y="3251243"/>
                <a:ext cx="1009650" cy="1009650"/>
              </a:xfrm>
              <a:prstGeom prst="ellipse">
                <a:avLst/>
              </a:prstGeom>
              <a:noFill/>
              <a:ln w="2857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8" name="Google Shape;3005;p36">
              <a:extLst>
                <a:ext uri="{FF2B5EF4-FFF2-40B4-BE49-F238E27FC236}">
                  <a16:creationId xmlns:a16="http://schemas.microsoft.com/office/drawing/2014/main" id="{3617C20E-8C15-A433-C56A-E13C238A49F0}"/>
                </a:ext>
              </a:extLst>
            </p:cNvPr>
            <p:cNvSpPr txBox="1"/>
            <p:nvPr/>
          </p:nvSpPr>
          <p:spPr>
            <a:xfrm>
              <a:off x="4628183" y="4277355"/>
              <a:ext cx="2859431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accent2"/>
                  </a:solidFill>
                  <a:latin typeface="Lato"/>
                  <a:ea typeface="Lato"/>
                  <a:cs typeface="Lato"/>
                  <a:sym typeface="Lato"/>
                </a:rPr>
                <a:t>SOA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Coarse-grained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" name="Google Shape;3006;p36">
            <a:extLst>
              <a:ext uri="{FF2B5EF4-FFF2-40B4-BE49-F238E27FC236}">
                <a16:creationId xmlns:a16="http://schemas.microsoft.com/office/drawing/2014/main" id="{9FDC0B49-F107-2958-E8EA-52B5D25FC451}"/>
              </a:ext>
            </a:extLst>
          </p:cNvPr>
          <p:cNvGrpSpPr/>
          <p:nvPr/>
        </p:nvGrpSpPr>
        <p:grpSpPr>
          <a:xfrm>
            <a:off x="8256240" y="2434052"/>
            <a:ext cx="3376246" cy="3953745"/>
            <a:chOff x="8256240" y="1395117"/>
            <a:chExt cx="3376246" cy="4349119"/>
          </a:xfrm>
        </p:grpSpPr>
        <p:sp>
          <p:nvSpPr>
            <p:cNvPr id="24" name="Google Shape;3007;p36">
              <a:extLst>
                <a:ext uri="{FF2B5EF4-FFF2-40B4-BE49-F238E27FC236}">
                  <a16:creationId xmlns:a16="http://schemas.microsoft.com/office/drawing/2014/main" id="{06EF9C4A-9FDB-03F9-BE2C-925D08F58AA5}"/>
                </a:ext>
              </a:extLst>
            </p:cNvPr>
            <p:cNvSpPr/>
            <p:nvPr/>
          </p:nvSpPr>
          <p:spPr>
            <a:xfrm>
              <a:off x="8256240" y="1395117"/>
              <a:ext cx="3376246" cy="4349119"/>
            </a:xfrm>
            <a:prstGeom prst="roundRect">
              <a:avLst>
                <a:gd name="adj" fmla="val 3506"/>
              </a:avLst>
            </a:prstGeom>
            <a:noFill/>
            <a:ln w="28575" cap="flat" cmpd="sng">
              <a:solidFill>
                <a:srgbClr val="5A5A5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" name="Google Shape;3008;p36">
              <a:extLst>
                <a:ext uri="{FF2B5EF4-FFF2-40B4-BE49-F238E27FC236}">
                  <a16:creationId xmlns:a16="http://schemas.microsoft.com/office/drawing/2014/main" id="{1EF77CC9-D71D-E4E3-9B96-47B59F6A92BB}"/>
                </a:ext>
              </a:extLst>
            </p:cNvPr>
            <p:cNvGrpSpPr/>
            <p:nvPr/>
          </p:nvGrpSpPr>
          <p:grpSpPr>
            <a:xfrm>
              <a:off x="8781565" y="1620777"/>
              <a:ext cx="2325596" cy="2009683"/>
              <a:chOff x="8628154" y="1694036"/>
              <a:chExt cx="2487621" cy="2149698"/>
            </a:xfrm>
          </p:grpSpPr>
          <p:grpSp>
            <p:nvGrpSpPr>
              <p:cNvPr id="27" name="Google Shape;3009;p36">
                <a:extLst>
                  <a:ext uri="{FF2B5EF4-FFF2-40B4-BE49-F238E27FC236}">
                    <a16:creationId xmlns:a16="http://schemas.microsoft.com/office/drawing/2014/main" id="{B185AFFC-6C0B-1D0E-945C-CBD25C45FC01}"/>
                  </a:ext>
                </a:extLst>
              </p:cNvPr>
              <p:cNvGrpSpPr/>
              <p:nvPr/>
            </p:nvGrpSpPr>
            <p:grpSpPr>
              <a:xfrm>
                <a:off x="8628154" y="1694036"/>
                <a:ext cx="455185" cy="2149698"/>
                <a:chOff x="8628154" y="1694036"/>
                <a:chExt cx="455185" cy="2149698"/>
              </a:xfrm>
            </p:grpSpPr>
            <p:sp>
              <p:nvSpPr>
                <p:cNvPr id="43" name="Google Shape;3010;p36">
                  <a:extLst>
                    <a:ext uri="{FF2B5EF4-FFF2-40B4-BE49-F238E27FC236}">
                      <a16:creationId xmlns:a16="http://schemas.microsoft.com/office/drawing/2014/main" id="{190C3B54-27A4-8F62-95FC-6A44D86BA8DF}"/>
                    </a:ext>
                  </a:extLst>
                </p:cNvPr>
                <p:cNvSpPr/>
                <p:nvPr/>
              </p:nvSpPr>
              <p:spPr>
                <a:xfrm>
                  <a:off x="8628154" y="1694036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" name="Google Shape;3011;p36">
                  <a:extLst>
                    <a:ext uri="{FF2B5EF4-FFF2-40B4-BE49-F238E27FC236}">
                      <a16:creationId xmlns:a16="http://schemas.microsoft.com/office/drawing/2014/main" id="{69363D26-8B86-A35E-4C53-48FCEC8045B4}"/>
                    </a:ext>
                  </a:extLst>
                </p:cNvPr>
                <p:cNvSpPr/>
                <p:nvPr/>
              </p:nvSpPr>
              <p:spPr>
                <a:xfrm>
                  <a:off x="8628154" y="2258874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" name="Google Shape;3012;p36">
                  <a:extLst>
                    <a:ext uri="{FF2B5EF4-FFF2-40B4-BE49-F238E27FC236}">
                      <a16:creationId xmlns:a16="http://schemas.microsoft.com/office/drawing/2014/main" id="{E68F2B00-F20B-D9E0-7A8C-CBF57C2458BA}"/>
                    </a:ext>
                  </a:extLst>
                </p:cNvPr>
                <p:cNvSpPr/>
                <p:nvPr/>
              </p:nvSpPr>
              <p:spPr>
                <a:xfrm>
                  <a:off x="8628154" y="2823712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6" name="Google Shape;3013;p36">
                  <a:extLst>
                    <a:ext uri="{FF2B5EF4-FFF2-40B4-BE49-F238E27FC236}">
                      <a16:creationId xmlns:a16="http://schemas.microsoft.com/office/drawing/2014/main" id="{2CFBACB1-3EA7-5859-72C0-666CA09B9669}"/>
                    </a:ext>
                  </a:extLst>
                </p:cNvPr>
                <p:cNvSpPr/>
                <p:nvPr/>
              </p:nvSpPr>
              <p:spPr>
                <a:xfrm>
                  <a:off x="8628154" y="3388549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8" name="Google Shape;3014;p36">
                <a:extLst>
                  <a:ext uri="{FF2B5EF4-FFF2-40B4-BE49-F238E27FC236}">
                    <a16:creationId xmlns:a16="http://schemas.microsoft.com/office/drawing/2014/main" id="{A3BAFE2C-0DEF-4DFD-238C-98039DF33907}"/>
                  </a:ext>
                </a:extLst>
              </p:cNvPr>
              <p:cNvGrpSpPr/>
              <p:nvPr/>
            </p:nvGrpSpPr>
            <p:grpSpPr>
              <a:xfrm>
                <a:off x="9305633" y="1694036"/>
                <a:ext cx="455185" cy="2149698"/>
                <a:chOff x="8628154" y="1694036"/>
                <a:chExt cx="455185" cy="2149698"/>
              </a:xfrm>
            </p:grpSpPr>
            <p:sp>
              <p:nvSpPr>
                <p:cNvPr id="39" name="Google Shape;3015;p36">
                  <a:extLst>
                    <a:ext uri="{FF2B5EF4-FFF2-40B4-BE49-F238E27FC236}">
                      <a16:creationId xmlns:a16="http://schemas.microsoft.com/office/drawing/2014/main" id="{B9CF1083-95FB-DB5E-DF7B-4AC7FCED6F1E}"/>
                    </a:ext>
                  </a:extLst>
                </p:cNvPr>
                <p:cNvSpPr/>
                <p:nvPr/>
              </p:nvSpPr>
              <p:spPr>
                <a:xfrm>
                  <a:off x="8628154" y="1694036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" name="Google Shape;3016;p36">
                  <a:extLst>
                    <a:ext uri="{FF2B5EF4-FFF2-40B4-BE49-F238E27FC236}">
                      <a16:creationId xmlns:a16="http://schemas.microsoft.com/office/drawing/2014/main" id="{2434BFBC-F9D5-A67D-E7C9-B43359844361}"/>
                    </a:ext>
                  </a:extLst>
                </p:cNvPr>
                <p:cNvSpPr/>
                <p:nvPr/>
              </p:nvSpPr>
              <p:spPr>
                <a:xfrm>
                  <a:off x="8628154" y="2258874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1" name="Google Shape;3017;p36">
                  <a:extLst>
                    <a:ext uri="{FF2B5EF4-FFF2-40B4-BE49-F238E27FC236}">
                      <a16:creationId xmlns:a16="http://schemas.microsoft.com/office/drawing/2014/main" id="{42A34599-76BF-DD5D-38A6-1F5894697487}"/>
                    </a:ext>
                  </a:extLst>
                </p:cNvPr>
                <p:cNvSpPr/>
                <p:nvPr/>
              </p:nvSpPr>
              <p:spPr>
                <a:xfrm>
                  <a:off x="8628154" y="2823712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2" name="Google Shape;3018;p36">
                  <a:extLst>
                    <a:ext uri="{FF2B5EF4-FFF2-40B4-BE49-F238E27FC236}">
                      <a16:creationId xmlns:a16="http://schemas.microsoft.com/office/drawing/2014/main" id="{58290D03-E2D4-54D8-32D6-EB1C3D779DCC}"/>
                    </a:ext>
                  </a:extLst>
                </p:cNvPr>
                <p:cNvSpPr/>
                <p:nvPr/>
              </p:nvSpPr>
              <p:spPr>
                <a:xfrm>
                  <a:off x="8628154" y="3388549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29" name="Google Shape;3019;p36">
                <a:extLst>
                  <a:ext uri="{FF2B5EF4-FFF2-40B4-BE49-F238E27FC236}">
                    <a16:creationId xmlns:a16="http://schemas.microsoft.com/office/drawing/2014/main" id="{1A36CC62-C009-96B3-658F-468D2A68BC2E}"/>
                  </a:ext>
                </a:extLst>
              </p:cNvPr>
              <p:cNvGrpSpPr/>
              <p:nvPr/>
            </p:nvGrpSpPr>
            <p:grpSpPr>
              <a:xfrm>
                <a:off x="9983112" y="1694036"/>
                <a:ext cx="455185" cy="2149698"/>
                <a:chOff x="8628154" y="1694036"/>
                <a:chExt cx="455185" cy="2149698"/>
              </a:xfrm>
            </p:grpSpPr>
            <p:sp>
              <p:nvSpPr>
                <p:cNvPr id="35" name="Google Shape;3020;p36">
                  <a:extLst>
                    <a:ext uri="{FF2B5EF4-FFF2-40B4-BE49-F238E27FC236}">
                      <a16:creationId xmlns:a16="http://schemas.microsoft.com/office/drawing/2014/main" id="{B0AF9547-3F5D-976B-EC00-6CADCEB31D5A}"/>
                    </a:ext>
                  </a:extLst>
                </p:cNvPr>
                <p:cNvSpPr/>
                <p:nvPr/>
              </p:nvSpPr>
              <p:spPr>
                <a:xfrm>
                  <a:off x="8628154" y="1694036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" name="Google Shape;3021;p36">
                  <a:extLst>
                    <a:ext uri="{FF2B5EF4-FFF2-40B4-BE49-F238E27FC236}">
                      <a16:creationId xmlns:a16="http://schemas.microsoft.com/office/drawing/2014/main" id="{7EE582E6-61C8-9EBF-577A-E1DB36B602E6}"/>
                    </a:ext>
                  </a:extLst>
                </p:cNvPr>
                <p:cNvSpPr/>
                <p:nvPr/>
              </p:nvSpPr>
              <p:spPr>
                <a:xfrm>
                  <a:off x="8628154" y="2258874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7" name="Google Shape;3022;p36">
                  <a:extLst>
                    <a:ext uri="{FF2B5EF4-FFF2-40B4-BE49-F238E27FC236}">
                      <a16:creationId xmlns:a16="http://schemas.microsoft.com/office/drawing/2014/main" id="{AA814CE1-5861-A6B0-63B8-6523A38FA7FC}"/>
                    </a:ext>
                  </a:extLst>
                </p:cNvPr>
                <p:cNvSpPr/>
                <p:nvPr/>
              </p:nvSpPr>
              <p:spPr>
                <a:xfrm>
                  <a:off x="8628154" y="2823712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" name="Google Shape;3023;p36">
                  <a:extLst>
                    <a:ext uri="{FF2B5EF4-FFF2-40B4-BE49-F238E27FC236}">
                      <a16:creationId xmlns:a16="http://schemas.microsoft.com/office/drawing/2014/main" id="{7FA45D7C-D7FC-2404-DB0E-CE17A63CA684}"/>
                    </a:ext>
                  </a:extLst>
                </p:cNvPr>
                <p:cNvSpPr/>
                <p:nvPr/>
              </p:nvSpPr>
              <p:spPr>
                <a:xfrm>
                  <a:off x="8628154" y="3388549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30" name="Google Shape;3024;p36">
                <a:extLst>
                  <a:ext uri="{FF2B5EF4-FFF2-40B4-BE49-F238E27FC236}">
                    <a16:creationId xmlns:a16="http://schemas.microsoft.com/office/drawing/2014/main" id="{9A5A385D-1AF4-79B7-265D-6F790F6159E8}"/>
                  </a:ext>
                </a:extLst>
              </p:cNvPr>
              <p:cNvGrpSpPr/>
              <p:nvPr/>
            </p:nvGrpSpPr>
            <p:grpSpPr>
              <a:xfrm>
                <a:off x="10660590" y="1694036"/>
                <a:ext cx="455185" cy="2149698"/>
                <a:chOff x="8628154" y="1694036"/>
                <a:chExt cx="455185" cy="2149698"/>
              </a:xfrm>
            </p:grpSpPr>
            <p:sp>
              <p:nvSpPr>
                <p:cNvPr id="31" name="Google Shape;3025;p36">
                  <a:extLst>
                    <a:ext uri="{FF2B5EF4-FFF2-40B4-BE49-F238E27FC236}">
                      <a16:creationId xmlns:a16="http://schemas.microsoft.com/office/drawing/2014/main" id="{FF4A93CA-65FA-FBC1-C5FE-9346DCB221B4}"/>
                    </a:ext>
                  </a:extLst>
                </p:cNvPr>
                <p:cNvSpPr/>
                <p:nvPr/>
              </p:nvSpPr>
              <p:spPr>
                <a:xfrm>
                  <a:off x="8628154" y="1694036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3026;p36">
                  <a:extLst>
                    <a:ext uri="{FF2B5EF4-FFF2-40B4-BE49-F238E27FC236}">
                      <a16:creationId xmlns:a16="http://schemas.microsoft.com/office/drawing/2014/main" id="{8D0E44EF-A17F-06CB-0B22-11B8206509F3}"/>
                    </a:ext>
                  </a:extLst>
                </p:cNvPr>
                <p:cNvSpPr/>
                <p:nvPr/>
              </p:nvSpPr>
              <p:spPr>
                <a:xfrm>
                  <a:off x="8628154" y="2258874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3027;p36">
                  <a:extLst>
                    <a:ext uri="{FF2B5EF4-FFF2-40B4-BE49-F238E27FC236}">
                      <a16:creationId xmlns:a16="http://schemas.microsoft.com/office/drawing/2014/main" id="{B328242A-3844-93E7-E954-1C36381FDE46}"/>
                    </a:ext>
                  </a:extLst>
                </p:cNvPr>
                <p:cNvSpPr/>
                <p:nvPr/>
              </p:nvSpPr>
              <p:spPr>
                <a:xfrm>
                  <a:off x="8628154" y="2823712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3028;p36">
                  <a:extLst>
                    <a:ext uri="{FF2B5EF4-FFF2-40B4-BE49-F238E27FC236}">
                      <a16:creationId xmlns:a16="http://schemas.microsoft.com/office/drawing/2014/main" id="{123CF499-A257-D5DC-85C6-44164D1E93D8}"/>
                    </a:ext>
                  </a:extLst>
                </p:cNvPr>
                <p:cNvSpPr/>
                <p:nvPr/>
              </p:nvSpPr>
              <p:spPr>
                <a:xfrm>
                  <a:off x="8628154" y="3388549"/>
                  <a:ext cx="455185" cy="455185"/>
                </a:xfrm>
                <a:prstGeom prst="ellipse">
                  <a:avLst/>
                </a:prstGeom>
                <a:noFill/>
                <a:ln w="28575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400"/>
                    <a:buFont typeface="Arial"/>
                    <a:buNone/>
                  </a:pPr>
                  <a:endParaRPr sz="1400" b="0" i="0" u="none" strike="noStrike" cap="none">
                    <a:solidFill>
                      <a:schemeClr val="lt1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26" name="Google Shape;3029;p36">
              <a:extLst>
                <a:ext uri="{FF2B5EF4-FFF2-40B4-BE49-F238E27FC236}">
                  <a16:creationId xmlns:a16="http://schemas.microsoft.com/office/drawing/2014/main" id="{4318B537-044F-34DC-0391-22AA6CA701DE}"/>
                </a:ext>
              </a:extLst>
            </p:cNvPr>
            <p:cNvSpPr txBox="1"/>
            <p:nvPr/>
          </p:nvSpPr>
          <p:spPr>
            <a:xfrm>
              <a:off x="8514648" y="4277355"/>
              <a:ext cx="2859431" cy="76944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accent3"/>
                  </a:solidFill>
                  <a:latin typeface="Lato"/>
                  <a:ea typeface="Lato"/>
                  <a:cs typeface="Lato"/>
                  <a:sym typeface="Lato"/>
                </a:rPr>
                <a:t>Microservices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rPr>
                <a:t>Fine-grained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4211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034;p37">
            <a:extLst>
              <a:ext uri="{FF2B5EF4-FFF2-40B4-BE49-F238E27FC236}">
                <a16:creationId xmlns:a16="http://schemas.microsoft.com/office/drawing/2014/main" id="{8501FB6F-C2FD-6511-09F7-D7F3991A8250}"/>
              </a:ext>
            </a:extLst>
          </p:cNvPr>
          <p:cNvSpPr txBox="1"/>
          <p:nvPr/>
        </p:nvSpPr>
        <p:spPr>
          <a:xfrm>
            <a:off x="3480750" y="1072460"/>
            <a:ext cx="5230500" cy="419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latin typeface="Lato"/>
                <a:ea typeface="Lato"/>
                <a:cs typeface="Lato"/>
                <a:sym typeface="Lato"/>
              </a:rPr>
              <a:t>MONOLITHIC ARCHITECTURE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35;p37">
            <a:extLst>
              <a:ext uri="{FF2B5EF4-FFF2-40B4-BE49-F238E27FC236}">
                <a16:creationId xmlns:a16="http://schemas.microsoft.com/office/drawing/2014/main" id="{64AF14DF-66E9-F773-A127-858EA3DA98BB}"/>
              </a:ext>
            </a:extLst>
          </p:cNvPr>
          <p:cNvSpPr txBox="1"/>
          <p:nvPr/>
        </p:nvSpPr>
        <p:spPr>
          <a:xfrm>
            <a:off x="1255962" y="2808939"/>
            <a:ext cx="5230500" cy="2957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Monolith means all in one piece. It is a single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unit setup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ll the features of a project/layer exists in a single codebase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Example: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Consider an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-commerce application.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he application contains several components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such as a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eb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i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nterface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a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backend processing service to check the inventory, authori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ze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and charge payments, and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place an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order</a:t>
            </a:r>
            <a:endParaRPr/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 this case, if we deploy the application as a single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war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file, it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will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be called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onolithic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3036;p37">
            <a:extLst>
              <a:ext uri="{FF2B5EF4-FFF2-40B4-BE49-F238E27FC236}">
                <a16:creationId xmlns:a16="http://schemas.microsoft.com/office/drawing/2014/main" id="{C21EF5DA-F196-175C-E015-69B39B25158C}"/>
              </a:ext>
            </a:extLst>
          </p:cNvPr>
          <p:cNvGrpSpPr/>
          <p:nvPr/>
        </p:nvGrpSpPr>
        <p:grpSpPr>
          <a:xfrm>
            <a:off x="7217374" y="1576486"/>
            <a:ext cx="3718664" cy="5262057"/>
            <a:chOff x="7217374" y="656239"/>
            <a:chExt cx="3718664" cy="5788269"/>
          </a:xfrm>
        </p:grpSpPr>
        <p:sp>
          <p:nvSpPr>
            <p:cNvPr id="12" name="Google Shape;3037;p37">
              <a:extLst>
                <a:ext uri="{FF2B5EF4-FFF2-40B4-BE49-F238E27FC236}">
                  <a16:creationId xmlns:a16="http://schemas.microsoft.com/office/drawing/2014/main" id="{6B070C48-3293-92A5-E873-C482C48B66F7}"/>
                </a:ext>
              </a:extLst>
            </p:cNvPr>
            <p:cNvSpPr/>
            <p:nvPr/>
          </p:nvSpPr>
          <p:spPr>
            <a:xfrm>
              <a:off x="7688239" y="1101768"/>
              <a:ext cx="2755330" cy="766781"/>
            </a:xfrm>
            <a:prstGeom prst="roundRect">
              <a:avLst>
                <a:gd name="adj" fmla="val 16715"/>
              </a:avLst>
            </a:prstGeom>
            <a:noFill/>
            <a:ln w="2857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Presentation Layer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038;p37">
              <a:extLst>
                <a:ext uri="{FF2B5EF4-FFF2-40B4-BE49-F238E27FC236}">
                  <a16:creationId xmlns:a16="http://schemas.microsoft.com/office/drawing/2014/main" id="{45E227A9-DAD6-2DCD-B0B7-94E7A42AD8D5}"/>
                </a:ext>
              </a:extLst>
            </p:cNvPr>
            <p:cNvSpPr/>
            <p:nvPr/>
          </p:nvSpPr>
          <p:spPr>
            <a:xfrm>
              <a:off x="7688239" y="2185556"/>
              <a:ext cx="2755330" cy="766781"/>
            </a:xfrm>
            <a:prstGeom prst="roundRect">
              <a:avLst>
                <a:gd name="adj" fmla="val 16715"/>
              </a:avLst>
            </a:prstGeom>
            <a:noFill/>
            <a:ln w="2857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Service Layer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3039;p37">
              <a:extLst>
                <a:ext uri="{FF2B5EF4-FFF2-40B4-BE49-F238E27FC236}">
                  <a16:creationId xmlns:a16="http://schemas.microsoft.com/office/drawing/2014/main" id="{E1518510-D07A-DF2E-4C7F-C4F3785EEAAC}"/>
                </a:ext>
              </a:extLst>
            </p:cNvPr>
            <p:cNvSpPr/>
            <p:nvPr/>
          </p:nvSpPr>
          <p:spPr>
            <a:xfrm>
              <a:off x="7688239" y="3269343"/>
              <a:ext cx="2755330" cy="766781"/>
            </a:xfrm>
            <a:prstGeom prst="roundRect">
              <a:avLst>
                <a:gd name="adj" fmla="val 16715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Persistence Layer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3040;p37">
              <a:extLst>
                <a:ext uri="{FF2B5EF4-FFF2-40B4-BE49-F238E27FC236}">
                  <a16:creationId xmlns:a16="http://schemas.microsoft.com/office/drawing/2014/main" id="{DAD81578-99E3-88DA-9F61-BD0FF2E59074}"/>
                </a:ext>
              </a:extLst>
            </p:cNvPr>
            <p:cNvSpPr/>
            <p:nvPr/>
          </p:nvSpPr>
          <p:spPr>
            <a:xfrm>
              <a:off x="7473499" y="876881"/>
              <a:ext cx="3184810" cy="3467501"/>
            </a:xfrm>
            <a:prstGeom prst="roundRect">
              <a:avLst>
                <a:gd name="adj" fmla="val 2887"/>
              </a:avLst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grpSp>
          <p:nvGrpSpPr>
            <p:cNvPr id="16" name="Google Shape;3041;p37">
              <a:extLst>
                <a:ext uri="{FF2B5EF4-FFF2-40B4-BE49-F238E27FC236}">
                  <a16:creationId xmlns:a16="http://schemas.microsoft.com/office/drawing/2014/main" id="{524C3FDC-4F5F-7F8E-FDF5-AB6EAA9361A9}"/>
                </a:ext>
              </a:extLst>
            </p:cNvPr>
            <p:cNvGrpSpPr/>
            <p:nvPr/>
          </p:nvGrpSpPr>
          <p:grpSpPr>
            <a:xfrm>
              <a:off x="8182895" y="4827791"/>
              <a:ext cx="1766017" cy="832639"/>
              <a:chOff x="8101883" y="5491961"/>
              <a:chExt cx="1766017" cy="832639"/>
            </a:xfrm>
          </p:grpSpPr>
          <p:sp>
            <p:nvSpPr>
              <p:cNvPr id="21" name="Google Shape;3042;p37">
                <a:extLst>
                  <a:ext uri="{FF2B5EF4-FFF2-40B4-BE49-F238E27FC236}">
                    <a16:creationId xmlns:a16="http://schemas.microsoft.com/office/drawing/2014/main" id="{847D6A56-3033-AE54-E075-6D317A97B0E8}"/>
                  </a:ext>
                </a:extLst>
              </p:cNvPr>
              <p:cNvSpPr/>
              <p:nvPr/>
            </p:nvSpPr>
            <p:spPr>
              <a:xfrm>
                <a:off x="8101883" y="5491961"/>
                <a:ext cx="1766017" cy="832639"/>
              </a:xfrm>
              <a:prstGeom prst="flowChartMagneticDisk">
                <a:avLst/>
              </a:prstGeom>
              <a:noFill/>
              <a:ln w="28575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0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" name="Google Shape;3043;p37">
                <a:extLst>
                  <a:ext uri="{FF2B5EF4-FFF2-40B4-BE49-F238E27FC236}">
                    <a16:creationId xmlns:a16="http://schemas.microsoft.com/office/drawing/2014/main" id="{11F9E493-461C-A5D5-80C5-E5AF8001E3FA}"/>
                  </a:ext>
                </a:extLst>
              </p:cNvPr>
              <p:cNvSpPr/>
              <p:nvPr/>
            </p:nvSpPr>
            <p:spPr>
              <a:xfrm>
                <a:off x="8425732" y="5892238"/>
                <a:ext cx="1118318" cy="353495"/>
              </a:xfrm>
              <a:prstGeom prst="roundRect">
                <a:avLst>
                  <a:gd name="adj" fmla="val 16715"/>
                </a:avLst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DB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7" name="Google Shape;3044;p37">
              <a:extLst>
                <a:ext uri="{FF2B5EF4-FFF2-40B4-BE49-F238E27FC236}">
                  <a16:creationId xmlns:a16="http://schemas.microsoft.com/office/drawing/2014/main" id="{275BD656-1A9C-7F33-E4C9-37E92B6C6E23}"/>
                </a:ext>
              </a:extLst>
            </p:cNvPr>
            <p:cNvCxnSpPr>
              <a:stCxn id="21" idx="1"/>
            </p:cNvCxnSpPr>
            <p:nvPr/>
          </p:nvCxnSpPr>
          <p:spPr>
            <a:xfrm rot="10800000">
              <a:off x="9055704" y="4344491"/>
              <a:ext cx="10200" cy="483300"/>
            </a:xfrm>
            <a:prstGeom prst="straightConnector1">
              <a:avLst/>
            </a:prstGeom>
            <a:noFill/>
            <a:ln w="2857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triangle" w="lg" len="lg"/>
            </a:ln>
          </p:spPr>
        </p:cxnSp>
        <p:grpSp>
          <p:nvGrpSpPr>
            <p:cNvPr id="18" name="Google Shape;3045;p37">
              <a:extLst>
                <a:ext uri="{FF2B5EF4-FFF2-40B4-BE49-F238E27FC236}">
                  <a16:creationId xmlns:a16="http://schemas.microsoft.com/office/drawing/2014/main" id="{18995733-650D-598A-BC81-4CB953BA83B0}"/>
                </a:ext>
              </a:extLst>
            </p:cNvPr>
            <p:cNvGrpSpPr/>
            <p:nvPr/>
          </p:nvGrpSpPr>
          <p:grpSpPr>
            <a:xfrm>
              <a:off x="7217374" y="656239"/>
              <a:ext cx="3718664" cy="5788269"/>
              <a:chOff x="7217374" y="656239"/>
              <a:chExt cx="3718664" cy="5788269"/>
            </a:xfrm>
          </p:grpSpPr>
          <p:sp>
            <p:nvSpPr>
              <p:cNvPr id="19" name="Google Shape;3046;p37">
                <a:extLst>
                  <a:ext uri="{FF2B5EF4-FFF2-40B4-BE49-F238E27FC236}">
                    <a16:creationId xmlns:a16="http://schemas.microsoft.com/office/drawing/2014/main" id="{CAF7FA4E-786A-A9B7-21E2-2F49A4B30EB6}"/>
                  </a:ext>
                </a:extLst>
              </p:cNvPr>
              <p:cNvSpPr/>
              <p:nvPr/>
            </p:nvSpPr>
            <p:spPr>
              <a:xfrm>
                <a:off x="7938711" y="6019128"/>
                <a:ext cx="2719598" cy="425380"/>
              </a:xfrm>
              <a:prstGeom prst="roundRect">
                <a:avLst>
                  <a:gd name="adj" fmla="val 16715"/>
                </a:avLst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 dirty="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Monolithic Architecture</a:t>
                </a:r>
                <a:endParaRPr sz="1400" b="0" i="0" u="none" strike="noStrike" cap="none" dirty="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3047;p37">
                <a:extLst>
                  <a:ext uri="{FF2B5EF4-FFF2-40B4-BE49-F238E27FC236}">
                    <a16:creationId xmlns:a16="http://schemas.microsoft.com/office/drawing/2014/main" id="{5A3E620D-EFBF-D59E-89C4-02D77E1C8352}"/>
                  </a:ext>
                </a:extLst>
              </p:cNvPr>
              <p:cNvSpPr/>
              <p:nvPr/>
            </p:nvSpPr>
            <p:spPr>
              <a:xfrm>
                <a:off x="7217374" y="656239"/>
                <a:ext cx="3718664" cy="5357799"/>
              </a:xfrm>
              <a:prstGeom prst="roundRect">
                <a:avLst>
                  <a:gd name="adj" fmla="val 2887"/>
                </a:avLst>
              </a:prstGeom>
              <a:noFill/>
              <a:ln w="28575" cap="flat" cmpd="sng">
                <a:solidFill>
                  <a:schemeClr val="accent3"/>
                </a:solidFill>
                <a:prstDash val="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endParaRPr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6880937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cxnSp>
        <p:nvCxnSpPr>
          <p:cNvPr id="9" name="Google Shape;3053;gaaa9190144_0_54">
            <a:extLst>
              <a:ext uri="{FF2B5EF4-FFF2-40B4-BE49-F238E27FC236}">
                <a16:creationId xmlns:a16="http://schemas.microsoft.com/office/drawing/2014/main" id="{777985B4-8169-D7B4-22D9-E8EA820211BF}"/>
              </a:ext>
            </a:extLst>
          </p:cNvPr>
          <p:cNvCxnSpPr/>
          <p:nvPr/>
        </p:nvCxnSpPr>
        <p:spPr>
          <a:xfrm>
            <a:off x="6128487" y="2319830"/>
            <a:ext cx="0" cy="4197436"/>
          </a:xfrm>
          <a:prstGeom prst="straightConnector1">
            <a:avLst/>
          </a:prstGeom>
          <a:noFill/>
          <a:ln w="25400" cap="rnd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" name="Google Shape;3054;gaaa9190144_0_54">
            <a:extLst>
              <a:ext uri="{FF2B5EF4-FFF2-40B4-BE49-F238E27FC236}">
                <a16:creationId xmlns:a16="http://schemas.microsoft.com/office/drawing/2014/main" id="{D264FB3E-3D17-2E09-E78C-A323FFA83EBC}"/>
              </a:ext>
            </a:extLst>
          </p:cNvPr>
          <p:cNvGrpSpPr/>
          <p:nvPr/>
        </p:nvGrpSpPr>
        <p:grpSpPr>
          <a:xfrm>
            <a:off x="1131774" y="2125678"/>
            <a:ext cx="3994812" cy="576263"/>
            <a:chOff x="1866900" y="851582"/>
            <a:chExt cx="1924050" cy="523875"/>
          </a:xfrm>
        </p:grpSpPr>
        <p:sp>
          <p:nvSpPr>
            <p:cNvPr id="11" name="Google Shape;3055;gaaa9190144_0_54">
              <a:extLst>
                <a:ext uri="{FF2B5EF4-FFF2-40B4-BE49-F238E27FC236}">
                  <a16:creationId xmlns:a16="http://schemas.microsoft.com/office/drawing/2014/main" id="{F12D5D8C-BB88-F7DB-A85B-4D2186BFABB3}"/>
                </a:ext>
              </a:extLst>
            </p:cNvPr>
            <p:cNvSpPr/>
            <p:nvPr/>
          </p:nvSpPr>
          <p:spPr>
            <a:xfrm>
              <a:off x="1866900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056;gaaa9190144_0_54">
              <a:extLst>
                <a:ext uri="{FF2B5EF4-FFF2-40B4-BE49-F238E27FC236}">
                  <a16:creationId xmlns:a16="http://schemas.microsoft.com/office/drawing/2014/main" id="{41CDB613-170E-5FF2-5561-5ADF51F78C47}"/>
                </a:ext>
              </a:extLst>
            </p:cNvPr>
            <p:cNvSpPr/>
            <p:nvPr/>
          </p:nvSpPr>
          <p:spPr>
            <a:xfrm>
              <a:off x="2106141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Advantages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3057;gaaa9190144_0_54">
            <a:extLst>
              <a:ext uri="{FF2B5EF4-FFF2-40B4-BE49-F238E27FC236}">
                <a16:creationId xmlns:a16="http://schemas.microsoft.com/office/drawing/2014/main" id="{6492BDA4-EA01-CA41-A462-614B4C32ABF0}"/>
              </a:ext>
            </a:extLst>
          </p:cNvPr>
          <p:cNvGrpSpPr/>
          <p:nvPr/>
        </p:nvGrpSpPr>
        <p:grpSpPr>
          <a:xfrm>
            <a:off x="7130390" y="2125678"/>
            <a:ext cx="3994812" cy="576263"/>
            <a:chOff x="8124825" y="851582"/>
            <a:chExt cx="1924050" cy="523875"/>
          </a:xfrm>
        </p:grpSpPr>
        <p:sp>
          <p:nvSpPr>
            <p:cNvPr id="14" name="Google Shape;3058;gaaa9190144_0_54">
              <a:extLst>
                <a:ext uri="{FF2B5EF4-FFF2-40B4-BE49-F238E27FC236}">
                  <a16:creationId xmlns:a16="http://schemas.microsoft.com/office/drawing/2014/main" id="{3AE37B76-3BEE-1285-CD16-24F165393265}"/>
                </a:ext>
              </a:extLst>
            </p:cNvPr>
            <p:cNvSpPr/>
            <p:nvPr/>
          </p:nvSpPr>
          <p:spPr>
            <a:xfrm>
              <a:off x="8124825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3059;gaaa9190144_0_54">
              <a:extLst>
                <a:ext uri="{FF2B5EF4-FFF2-40B4-BE49-F238E27FC236}">
                  <a16:creationId xmlns:a16="http://schemas.microsoft.com/office/drawing/2014/main" id="{6F424C40-2C1A-370C-11B6-65F6BF8C4DAA}"/>
                </a:ext>
              </a:extLst>
            </p:cNvPr>
            <p:cNvSpPr/>
            <p:nvPr/>
          </p:nvSpPr>
          <p:spPr>
            <a:xfrm>
              <a:off x="8364066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Drawbacks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3060;gaaa9190144_0_54">
            <a:extLst>
              <a:ext uri="{FF2B5EF4-FFF2-40B4-BE49-F238E27FC236}">
                <a16:creationId xmlns:a16="http://schemas.microsoft.com/office/drawing/2014/main" id="{F34D0973-BF80-F51F-ACA9-897D0C842342}"/>
              </a:ext>
            </a:extLst>
          </p:cNvPr>
          <p:cNvSpPr txBox="1"/>
          <p:nvPr/>
        </p:nvSpPr>
        <p:spPr>
          <a:xfrm>
            <a:off x="1131762" y="3236318"/>
            <a:ext cx="39948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sy to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deploy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Easy to test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Easy to scale horizontally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Easy to develop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061;gaaa9190144_0_54">
            <a:extLst>
              <a:ext uri="{FF2B5EF4-FFF2-40B4-BE49-F238E27FC236}">
                <a16:creationId xmlns:a16="http://schemas.microsoft.com/office/drawing/2014/main" id="{18A2922A-44AD-AA5B-1AE2-F24BFD9AD7FE}"/>
              </a:ext>
            </a:extLst>
          </p:cNvPr>
          <p:cNvSpPr txBox="1"/>
          <p:nvPr/>
        </p:nvSpPr>
        <p:spPr>
          <a:xfrm>
            <a:off x="7130400" y="3236318"/>
            <a:ext cx="3994800" cy="29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Maintenance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Size of application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likely to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be a bottleneck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Need to redeploy the entire application in each update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Reliab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Not so easy to adopt new technologies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3062;gaaa9190144_0_54">
            <a:extLst>
              <a:ext uri="{FF2B5EF4-FFF2-40B4-BE49-F238E27FC236}">
                <a16:creationId xmlns:a16="http://schemas.microsoft.com/office/drawing/2014/main" id="{23DFBEFD-0E92-4A73-6BD4-A721767D2770}"/>
              </a:ext>
            </a:extLst>
          </p:cNvPr>
          <p:cNvSpPr txBox="1"/>
          <p:nvPr/>
        </p:nvSpPr>
        <p:spPr>
          <a:xfrm>
            <a:off x="1936578" y="1280160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MONOLITHIC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79527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29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068;gaa46748daa_1_83">
            <a:extLst>
              <a:ext uri="{FF2B5EF4-FFF2-40B4-BE49-F238E27FC236}">
                <a16:creationId xmlns:a16="http://schemas.microsoft.com/office/drawing/2014/main" id="{AF769846-023F-759D-D000-AF3DD545CF45}"/>
              </a:ext>
            </a:extLst>
          </p:cNvPr>
          <p:cNvSpPr txBox="1"/>
          <p:nvPr/>
        </p:nvSpPr>
        <p:spPr>
          <a:xfrm>
            <a:off x="2549603" y="1013461"/>
            <a:ext cx="8191200" cy="419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</a:rPr>
              <a:t>SERVICE-ORIENTED ARCHITECTURE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069;gaa46748daa_1_83">
            <a:extLst>
              <a:ext uri="{FF2B5EF4-FFF2-40B4-BE49-F238E27FC236}">
                <a16:creationId xmlns:a16="http://schemas.microsoft.com/office/drawing/2014/main" id="{463EB78D-516F-4844-236C-A57E6B6356F9}"/>
              </a:ext>
            </a:extLst>
          </p:cNvPr>
          <p:cNvSpPr txBox="1"/>
          <p:nvPr/>
        </p:nvSpPr>
        <p:spPr>
          <a:xfrm>
            <a:off x="251802" y="2156422"/>
            <a:ext cx="4790400" cy="3582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Service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-o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riented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rchitecture (SOA) is based on the principle of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service provider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service consumer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”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SOA, instead of having a single monolithic unit/system/component, we have many different units/systems/components talking to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one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another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Each component is called a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web service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”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and can either be a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service provider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or a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service consumer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”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Example: Let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’s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say we wish to create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e-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commerce website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.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We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can use Google services for authentication an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d 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Pay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 services for payment.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ur main task 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is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creat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 common process and integrat</a:t>
            </a:r>
            <a:r>
              <a:rPr lang="en-US" sz="1600" dirty="0">
                <a:latin typeface="Lato"/>
                <a:ea typeface="Lato"/>
                <a:cs typeface="Lato"/>
                <a:sym typeface="Lato"/>
              </a:rPr>
              <a:t>ing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all the external services 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3070;gaa46748daa_1_83">
            <a:extLst>
              <a:ext uri="{FF2B5EF4-FFF2-40B4-BE49-F238E27FC236}">
                <a16:creationId xmlns:a16="http://schemas.microsoft.com/office/drawing/2014/main" id="{2F61FD84-AC57-F9DC-16B3-671F1BD7306F}"/>
              </a:ext>
            </a:extLst>
          </p:cNvPr>
          <p:cNvGrpSpPr/>
          <p:nvPr/>
        </p:nvGrpSpPr>
        <p:grpSpPr>
          <a:xfrm>
            <a:off x="5094858" y="1496856"/>
            <a:ext cx="6975039" cy="4798184"/>
            <a:chOff x="5292604" y="948602"/>
            <a:chExt cx="6975039" cy="5278002"/>
          </a:xfrm>
        </p:grpSpPr>
        <p:grpSp>
          <p:nvGrpSpPr>
            <p:cNvPr id="12" name="Google Shape;3071;gaa46748daa_1_83">
              <a:extLst>
                <a:ext uri="{FF2B5EF4-FFF2-40B4-BE49-F238E27FC236}">
                  <a16:creationId xmlns:a16="http://schemas.microsoft.com/office/drawing/2014/main" id="{5FAED7E8-D2E4-790E-9B97-4CE6D1A3F8EB}"/>
                </a:ext>
              </a:extLst>
            </p:cNvPr>
            <p:cNvGrpSpPr/>
            <p:nvPr/>
          </p:nvGrpSpPr>
          <p:grpSpPr>
            <a:xfrm>
              <a:off x="5292604" y="948602"/>
              <a:ext cx="6975039" cy="4960796"/>
              <a:chOff x="5292604" y="1284268"/>
              <a:chExt cx="6975039" cy="4960796"/>
            </a:xfrm>
          </p:grpSpPr>
          <p:sp>
            <p:nvSpPr>
              <p:cNvPr id="14" name="Google Shape;3072;gaa46748daa_1_83">
                <a:extLst>
                  <a:ext uri="{FF2B5EF4-FFF2-40B4-BE49-F238E27FC236}">
                    <a16:creationId xmlns:a16="http://schemas.microsoft.com/office/drawing/2014/main" id="{B63AB747-D13B-B484-97EF-FD261B26D764}"/>
                  </a:ext>
                </a:extLst>
              </p:cNvPr>
              <p:cNvSpPr/>
              <p:nvPr/>
            </p:nvSpPr>
            <p:spPr>
              <a:xfrm>
                <a:off x="10972800" y="4834295"/>
                <a:ext cx="949851" cy="832639"/>
              </a:xfrm>
              <a:prstGeom prst="flowChartMagneticDisk">
                <a:avLst/>
              </a:prstGeom>
              <a:noFill/>
              <a:ln w="19050" cap="flat" cmpd="sng">
                <a:solidFill>
                  <a:schemeClr val="accent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DB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5" name="Google Shape;3073;gaa46748daa_1_83">
                <a:extLst>
                  <a:ext uri="{FF2B5EF4-FFF2-40B4-BE49-F238E27FC236}">
                    <a16:creationId xmlns:a16="http://schemas.microsoft.com/office/drawing/2014/main" id="{FBA3C5AD-2E77-A1FC-D94C-3918BD335EF0}"/>
                  </a:ext>
                </a:extLst>
              </p:cNvPr>
              <p:cNvGrpSpPr/>
              <p:nvPr/>
            </p:nvGrpSpPr>
            <p:grpSpPr>
              <a:xfrm>
                <a:off x="6612689" y="1284268"/>
                <a:ext cx="1312111" cy="846157"/>
                <a:chOff x="6612689" y="1487468"/>
                <a:chExt cx="1312111" cy="846157"/>
              </a:xfrm>
            </p:grpSpPr>
            <p:pic>
              <p:nvPicPr>
                <p:cNvPr id="40" name="Google Shape;3074;gaa46748daa_1_83">
                  <a:extLst>
                    <a:ext uri="{FF2B5EF4-FFF2-40B4-BE49-F238E27FC236}">
                      <a16:creationId xmlns:a16="http://schemas.microsoft.com/office/drawing/2014/main" id="{73BA02C9-16D0-FCD1-C95E-2EE85B92E523}"/>
                    </a:ext>
                  </a:extLst>
                </p:cNvPr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/>
                <a:stretch/>
              </p:blipFill>
              <p:spPr>
                <a:xfrm>
                  <a:off x="6914415" y="1487468"/>
                  <a:ext cx="708660" cy="70866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41" name="Google Shape;3075;gaa46748daa_1_83">
                  <a:extLst>
                    <a:ext uri="{FF2B5EF4-FFF2-40B4-BE49-F238E27FC236}">
                      <a16:creationId xmlns:a16="http://schemas.microsoft.com/office/drawing/2014/main" id="{9B4B1E62-C17B-56DD-9F5E-39DBEE7587E7}"/>
                    </a:ext>
                  </a:extLst>
                </p:cNvPr>
                <p:cNvSpPr/>
                <p:nvPr/>
              </p:nvSpPr>
              <p:spPr>
                <a:xfrm>
                  <a:off x="6612689" y="1590675"/>
                  <a:ext cx="1312111" cy="742950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rgbClr val="75707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42" name="Google Shape;3076;gaa46748daa_1_83">
                  <a:extLst>
                    <a:ext uri="{FF2B5EF4-FFF2-40B4-BE49-F238E27FC236}">
                      <a16:creationId xmlns:a16="http://schemas.microsoft.com/office/drawing/2014/main" id="{C9069FA5-EDCD-AB6D-7ECA-BEEA2CF12E75}"/>
                    </a:ext>
                  </a:extLst>
                </p:cNvPr>
                <p:cNvSpPr txBox="1"/>
                <p:nvPr/>
              </p:nvSpPr>
              <p:spPr>
                <a:xfrm>
                  <a:off x="6914414" y="1995071"/>
                  <a:ext cx="708660" cy="33855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t" anchorCtr="0">
                  <a:sp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User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6" name="Google Shape;3077;gaa46748daa_1_83">
                <a:extLst>
                  <a:ext uri="{FF2B5EF4-FFF2-40B4-BE49-F238E27FC236}">
                    <a16:creationId xmlns:a16="http://schemas.microsoft.com/office/drawing/2014/main" id="{EF837584-60ED-D8DC-E4D0-AA897BFBD71F}"/>
                  </a:ext>
                </a:extLst>
              </p:cNvPr>
              <p:cNvSpPr/>
              <p:nvPr/>
            </p:nvSpPr>
            <p:spPr>
              <a:xfrm>
                <a:off x="6612689" y="3133307"/>
                <a:ext cx="1312111" cy="74295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Front End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3078;gaa46748daa_1_83">
                <a:extLst>
                  <a:ext uri="{FF2B5EF4-FFF2-40B4-BE49-F238E27FC236}">
                    <a16:creationId xmlns:a16="http://schemas.microsoft.com/office/drawing/2014/main" id="{B330DE07-DCB3-CEBE-04CD-7FBE4F0C450C}"/>
                  </a:ext>
                </a:extLst>
              </p:cNvPr>
              <p:cNvSpPr/>
              <p:nvPr/>
            </p:nvSpPr>
            <p:spPr>
              <a:xfrm>
                <a:off x="8792745" y="3133307"/>
                <a:ext cx="1312111" cy="74295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Back End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3079;gaa46748daa_1_83">
                <a:extLst>
                  <a:ext uri="{FF2B5EF4-FFF2-40B4-BE49-F238E27FC236}">
                    <a16:creationId xmlns:a16="http://schemas.microsoft.com/office/drawing/2014/main" id="{D46E2BC3-A8A6-9E5D-04BF-9130D4C90C98}"/>
                  </a:ext>
                </a:extLst>
              </p:cNvPr>
              <p:cNvSpPr/>
              <p:nvPr/>
            </p:nvSpPr>
            <p:spPr>
              <a:xfrm>
                <a:off x="8792745" y="4879139"/>
                <a:ext cx="1312111" cy="742950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Data Access Layer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19" name="Google Shape;3080;gaa46748daa_1_83">
                <a:extLst>
                  <a:ext uri="{FF2B5EF4-FFF2-40B4-BE49-F238E27FC236}">
                    <a16:creationId xmlns:a16="http://schemas.microsoft.com/office/drawing/2014/main" id="{A831B810-1749-D81B-F6D4-8F90FCFE47B6}"/>
                  </a:ext>
                </a:extLst>
              </p:cNvPr>
              <p:cNvCxnSpPr>
                <a:stCxn id="42" idx="2"/>
                <a:endCxn id="16" idx="0"/>
              </p:cNvCxnSpPr>
              <p:nvPr/>
            </p:nvCxnSpPr>
            <p:spPr>
              <a:xfrm>
                <a:off x="7268744" y="2130425"/>
                <a:ext cx="0" cy="10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20" name="Google Shape;3081;gaa46748daa_1_83">
                <a:extLst>
                  <a:ext uri="{FF2B5EF4-FFF2-40B4-BE49-F238E27FC236}">
                    <a16:creationId xmlns:a16="http://schemas.microsoft.com/office/drawing/2014/main" id="{3EC7D0FA-CF83-0018-CC0B-A26D5DF17A85}"/>
                  </a:ext>
                </a:extLst>
              </p:cNvPr>
              <p:cNvCxnSpPr>
                <a:stCxn id="16" idx="3"/>
                <a:endCxn id="17" idx="1"/>
              </p:cNvCxnSpPr>
              <p:nvPr/>
            </p:nvCxnSpPr>
            <p:spPr>
              <a:xfrm>
                <a:off x="7924800" y="3504782"/>
                <a:ext cx="86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21" name="Google Shape;3082;gaa46748daa_1_83">
                <a:extLst>
                  <a:ext uri="{FF2B5EF4-FFF2-40B4-BE49-F238E27FC236}">
                    <a16:creationId xmlns:a16="http://schemas.microsoft.com/office/drawing/2014/main" id="{74C6814E-ECE9-CCEB-8EB1-01ADD62C5192}"/>
                  </a:ext>
                </a:extLst>
              </p:cNvPr>
              <p:cNvCxnSpPr>
                <a:stCxn id="17" idx="2"/>
                <a:endCxn id="18" idx="0"/>
              </p:cNvCxnSpPr>
              <p:nvPr/>
            </p:nvCxnSpPr>
            <p:spPr>
              <a:xfrm>
                <a:off x="9448801" y="3876257"/>
                <a:ext cx="0" cy="10029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22" name="Google Shape;3083;gaa46748daa_1_83">
                <a:extLst>
                  <a:ext uri="{FF2B5EF4-FFF2-40B4-BE49-F238E27FC236}">
                    <a16:creationId xmlns:a16="http://schemas.microsoft.com/office/drawing/2014/main" id="{B69D0E1C-0DEE-6F94-F222-7F0ADFA72EEB}"/>
                  </a:ext>
                </a:extLst>
              </p:cNvPr>
              <p:cNvCxnSpPr>
                <a:stCxn id="18" idx="3"/>
                <a:endCxn id="14" idx="2"/>
              </p:cNvCxnSpPr>
              <p:nvPr/>
            </p:nvCxnSpPr>
            <p:spPr>
              <a:xfrm>
                <a:off x="10104856" y="5250614"/>
                <a:ext cx="8679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sp>
            <p:nvSpPr>
              <p:cNvPr id="23" name="Google Shape;3084;gaa46748daa_1_83">
                <a:extLst>
                  <a:ext uri="{FF2B5EF4-FFF2-40B4-BE49-F238E27FC236}">
                    <a16:creationId xmlns:a16="http://schemas.microsoft.com/office/drawing/2014/main" id="{85849047-0E3F-320F-190B-7FA3A804C9E4}"/>
                  </a:ext>
                </a:extLst>
              </p:cNvPr>
              <p:cNvSpPr txBox="1"/>
              <p:nvPr/>
            </p:nvSpPr>
            <p:spPr>
              <a:xfrm>
                <a:off x="7159504" y="2770144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Machine M1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3085;gaa46748daa_1_83">
                <a:extLst>
                  <a:ext uri="{FF2B5EF4-FFF2-40B4-BE49-F238E27FC236}">
                    <a16:creationId xmlns:a16="http://schemas.microsoft.com/office/drawing/2014/main" id="{0C83524F-04E7-1F14-1A0D-EA6C965BEBC5}"/>
                  </a:ext>
                </a:extLst>
              </p:cNvPr>
              <p:cNvSpPr txBox="1"/>
              <p:nvPr/>
            </p:nvSpPr>
            <p:spPr>
              <a:xfrm>
                <a:off x="7799347" y="3514085"/>
                <a:ext cx="1118850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(Service call)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5" name="Google Shape;3086;gaa46748daa_1_83">
                <a:extLst>
                  <a:ext uri="{FF2B5EF4-FFF2-40B4-BE49-F238E27FC236}">
                    <a16:creationId xmlns:a16="http://schemas.microsoft.com/office/drawing/2014/main" id="{C39D9DAF-ED70-FA6C-13A8-D02394F794DA}"/>
                  </a:ext>
                </a:extLst>
              </p:cNvPr>
              <p:cNvCxnSpPr>
                <a:endCxn id="16" idx="1"/>
              </p:cNvCxnSpPr>
              <p:nvPr/>
            </p:nvCxnSpPr>
            <p:spPr>
              <a:xfrm>
                <a:off x="5502389" y="3504782"/>
                <a:ext cx="11103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sp>
            <p:nvSpPr>
              <p:cNvPr id="26" name="Google Shape;3087;gaa46748daa_1_83">
                <a:extLst>
                  <a:ext uri="{FF2B5EF4-FFF2-40B4-BE49-F238E27FC236}">
                    <a16:creationId xmlns:a16="http://schemas.microsoft.com/office/drawing/2014/main" id="{8B00DEA1-A249-3D35-887E-08A964AD3861}"/>
                  </a:ext>
                </a:extLst>
              </p:cNvPr>
              <p:cNvSpPr txBox="1"/>
              <p:nvPr/>
            </p:nvSpPr>
            <p:spPr>
              <a:xfrm>
                <a:off x="5292604" y="3504782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Consumer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3088;gaa46748daa_1_83">
                <a:extLst>
                  <a:ext uri="{FF2B5EF4-FFF2-40B4-BE49-F238E27FC236}">
                    <a16:creationId xmlns:a16="http://schemas.microsoft.com/office/drawing/2014/main" id="{073630AE-F238-FE35-19C1-484B404AEB2A}"/>
                  </a:ext>
                </a:extLst>
              </p:cNvPr>
              <p:cNvSpPr txBox="1"/>
              <p:nvPr/>
            </p:nvSpPr>
            <p:spPr>
              <a:xfrm>
                <a:off x="9255004" y="2770144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Machine M2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3089;gaa46748daa_1_83">
                <a:extLst>
                  <a:ext uri="{FF2B5EF4-FFF2-40B4-BE49-F238E27FC236}">
                    <a16:creationId xmlns:a16="http://schemas.microsoft.com/office/drawing/2014/main" id="{DFAE3E4C-62F6-9C9B-F5C4-86FB61EACED8}"/>
                  </a:ext>
                </a:extLst>
              </p:cNvPr>
              <p:cNvSpPr txBox="1"/>
              <p:nvPr/>
            </p:nvSpPr>
            <p:spPr>
              <a:xfrm>
                <a:off x="9337559" y="4532186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Machine 3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3090;gaa46748daa_1_83">
                <a:extLst>
                  <a:ext uri="{FF2B5EF4-FFF2-40B4-BE49-F238E27FC236}">
                    <a16:creationId xmlns:a16="http://schemas.microsoft.com/office/drawing/2014/main" id="{0606A425-FBE5-B967-CBB4-3C711565A379}"/>
                  </a:ext>
                </a:extLst>
              </p:cNvPr>
              <p:cNvSpPr txBox="1"/>
              <p:nvPr/>
            </p:nvSpPr>
            <p:spPr>
              <a:xfrm>
                <a:off x="10737051" y="4532186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Machine 4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91;gaa46748daa_1_83">
                <a:extLst>
                  <a:ext uri="{FF2B5EF4-FFF2-40B4-BE49-F238E27FC236}">
                    <a16:creationId xmlns:a16="http://schemas.microsoft.com/office/drawing/2014/main" id="{6B8B8D60-3BD1-7236-DD41-8E4A3687892F}"/>
                  </a:ext>
                </a:extLst>
              </p:cNvPr>
              <p:cNvSpPr txBox="1"/>
              <p:nvPr/>
            </p:nvSpPr>
            <p:spPr>
              <a:xfrm>
                <a:off x="9337559" y="4157621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Consumer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092;gaa46748daa_1_83">
                <a:extLst>
                  <a:ext uri="{FF2B5EF4-FFF2-40B4-BE49-F238E27FC236}">
                    <a16:creationId xmlns:a16="http://schemas.microsoft.com/office/drawing/2014/main" id="{52CF437D-8128-C564-86E0-FEBC52B7C293}"/>
                  </a:ext>
                </a:extLst>
              </p:cNvPr>
              <p:cNvSpPr txBox="1"/>
              <p:nvPr/>
            </p:nvSpPr>
            <p:spPr>
              <a:xfrm>
                <a:off x="8212023" y="4157621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Provider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" name="Google Shape;3093;gaa46748daa_1_83">
                <a:extLst>
                  <a:ext uri="{FF2B5EF4-FFF2-40B4-BE49-F238E27FC236}">
                    <a16:creationId xmlns:a16="http://schemas.microsoft.com/office/drawing/2014/main" id="{1A529CF0-7003-F6ED-5FB4-AA4C9741792E}"/>
                  </a:ext>
                </a:extLst>
              </p:cNvPr>
              <p:cNvCxnSpPr/>
              <p:nvPr/>
            </p:nvCxnSpPr>
            <p:spPr>
              <a:xfrm>
                <a:off x="9846000" y="3876257"/>
                <a:ext cx="1" cy="365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33" name="Google Shape;3094;gaa46748daa_1_83">
                <a:extLst>
                  <a:ext uri="{FF2B5EF4-FFF2-40B4-BE49-F238E27FC236}">
                    <a16:creationId xmlns:a16="http://schemas.microsoft.com/office/drawing/2014/main" id="{C0F642E8-47CE-C99E-E476-0BB4BA67801A}"/>
                  </a:ext>
                </a:extLst>
              </p:cNvPr>
              <p:cNvCxnSpPr/>
              <p:nvPr/>
            </p:nvCxnSpPr>
            <p:spPr>
              <a:xfrm rot="10800000" flipH="1">
                <a:off x="9075117" y="3876257"/>
                <a:ext cx="1" cy="365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sp>
            <p:nvSpPr>
              <p:cNvPr id="34" name="Google Shape;3095;gaa46748daa_1_83">
                <a:extLst>
                  <a:ext uri="{FF2B5EF4-FFF2-40B4-BE49-F238E27FC236}">
                    <a16:creationId xmlns:a16="http://schemas.microsoft.com/office/drawing/2014/main" id="{884EAFCB-8455-CBAE-17C5-CF20CE362FB6}"/>
                  </a:ext>
                </a:extLst>
              </p:cNvPr>
              <p:cNvSpPr txBox="1"/>
              <p:nvPr/>
            </p:nvSpPr>
            <p:spPr>
              <a:xfrm>
                <a:off x="9337559" y="5906510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Consumer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096;gaa46748daa_1_83">
                <a:extLst>
                  <a:ext uri="{FF2B5EF4-FFF2-40B4-BE49-F238E27FC236}">
                    <a16:creationId xmlns:a16="http://schemas.microsoft.com/office/drawing/2014/main" id="{A49CA96F-9AAF-864D-EDFF-0CF2152D76F4}"/>
                  </a:ext>
                </a:extLst>
              </p:cNvPr>
              <p:cNvSpPr txBox="1"/>
              <p:nvPr/>
            </p:nvSpPr>
            <p:spPr>
              <a:xfrm>
                <a:off x="8212023" y="5906510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Provider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6" name="Google Shape;3097;gaa46748daa_1_83">
                <a:extLst>
                  <a:ext uri="{FF2B5EF4-FFF2-40B4-BE49-F238E27FC236}">
                    <a16:creationId xmlns:a16="http://schemas.microsoft.com/office/drawing/2014/main" id="{80720DF4-1728-C6BB-A10F-2F7EED534607}"/>
                  </a:ext>
                </a:extLst>
              </p:cNvPr>
              <p:cNvCxnSpPr/>
              <p:nvPr/>
            </p:nvCxnSpPr>
            <p:spPr>
              <a:xfrm>
                <a:off x="9846000" y="5625146"/>
                <a:ext cx="1" cy="365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cxnSp>
            <p:nvCxnSpPr>
              <p:cNvPr id="37" name="Google Shape;3098;gaa46748daa_1_83">
                <a:extLst>
                  <a:ext uri="{FF2B5EF4-FFF2-40B4-BE49-F238E27FC236}">
                    <a16:creationId xmlns:a16="http://schemas.microsoft.com/office/drawing/2014/main" id="{0262D838-9ECA-A8A0-509C-A2C8065B4B72}"/>
                  </a:ext>
                </a:extLst>
              </p:cNvPr>
              <p:cNvCxnSpPr/>
              <p:nvPr/>
            </p:nvCxnSpPr>
            <p:spPr>
              <a:xfrm rot="10800000" flipH="1">
                <a:off x="9075117" y="5625146"/>
                <a:ext cx="1" cy="365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  <p:sp>
            <p:nvSpPr>
              <p:cNvPr id="38" name="Google Shape;3099;gaa46748daa_1_83">
                <a:extLst>
                  <a:ext uri="{FF2B5EF4-FFF2-40B4-BE49-F238E27FC236}">
                    <a16:creationId xmlns:a16="http://schemas.microsoft.com/office/drawing/2014/main" id="{5EC330FD-69E5-85D0-6CB0-C9B9DC0F429D}"/>
                  </a:ext>
                </a:extLst>
              </p:cNvPr>
              <p:cNvSpPr txBox="1"/>
              <p:nvPr/>
            </p:nvSpPr>
            <p:spPr>
              <a:xfrm>
                <a:off x="10563563" y="5906510"/>
                <a:ext cx="1530592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Provider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9" name="Google Shape;3100;gaa46748daa_1_83">
                <a:extLst>
                  <a:ext uri="{FF2B5EF4-FFF2-40B4-BE49-F238E27FC236}">
                    <a16:creationId xmlns:a16="http://schemas.microsoft.com/office/drawing/2014/main" id="{0129F8EA-A24A-6A49-4379-914B0809546E}"/>
                  </a:ext>
                </a:extLst>
              </p:cNvPr>
              <p:cNvCxnSpPr/>
              <p:nvPr/>
            </p:nvCxnSpPr>
            <p:spPr>
              <a:xfrm rot="10800000" flipH="1">
                <a:off x="11426657" y="5625146"/>
                <a:ext cx="1" cy="36576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triangle" w="lg" len="lg"/>
              </a:ln>
            </p:spPr>
          </p:cxnSp>
        </p:grpSp>
        <p:sp>
          <p:nvSpPr>
            <p:cNvPr id="13" name="Google Shape;3101;gaa46748daa_1_83">
              <a:extLst>
                <a:ext uri="{FF2B5EF4-FFF2-40B4-BE49-F238E27FC236}">
                  <a16:creationId xmlns:a16="http://schemas.microsoft.com/office/drawing/2014/main" id="{8063FC6B-D0A5-1355-C99C-3541DBDB4E7F}"/>
                </a:ext>
              </a:extLst>
            </p:cNvPr>
            <p:cNvSpPr/>
            <p:nvPr/>
          </p:nvSpPr>
          <p:spPr>
            <a:xfrm>
              <a:off x="5428349" y="6066704"/>
              <a:ext cx="6647400" cy="159900"/>
            </a:xfrm>
            <a:prstGeom prst="roundRect">
              <a:avLst>
                <a:gd name="adj" fmla="val 6990"/>
              </a:avLst>
            </a:prstGeom>
            <a:noFill/>
            <a:ln w="9525" cap="flat" cmpd="sng">
              <a:solidFill>
                <a:srgbClr val="75707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406458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cxnSp>
        <p:nvCxnSpPr>
          <p:cNvPr id="9" name="Google Shape;3107;gaa46748daa_1_91">
            <a:extLst>
              <a:ext uri="{FF2B5EF4-FFF2-40B4-BE49-F238E27FC236}">
                <a16:creationId xmlns:a16="http://schemas.microsoft.com/office/drawing/2014/main" id="{ED64A33D-7E32-5621-A25C-6D8542B83448}"/>
              </a:ext>
            </a:extLst>
          </p:cNvPr>
          <p:cNvCxnSpPr/>
          <p:nvPr/>
        </p:nvCxnSpPr>
        <p:spPr>
          <a:xfrm>
            <a:off x="6128487" y="2429558"/>
            <a:ext cx="0" cy="3138657"/>
          </a:xfrm>
          <a:prstGeom prst="straightConnector1">
            <a:avLst/>
          </a:prstGeom>
          <a:noFill/>
          <a:ln w="25400" cap="rnd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0" name="Google Shape;3108;gaa46748daa_1_91">
            <a:extLst>
              <a:ext uri="{FF2B5EF4-FFF2-40B4-BE49-F238E27FC236}">
                <a16:creationId xmlns:a16="http://schemas.microsoft.com/office/drawing/2014/main" id="{88FEEEC7-65BD-FAC5-C338-76914D844C56}"/>
              </a:ext>
            </a:extLst>
          </p:cNvPr>
          <p:cNvGrpSpPr/>
          <p:nvPr/>
        </p:nvGrpSpPr>
        <p:grpSpPr>
          <a:xfrm>
            <a:off x="1131774" y="2235406"/>
            <a:ext cx="3994812" cy="576263"/>
            <a:chOff x="1866900" y="851582"/>
            <a:chExt cx="1924050" cy="523875"/>
          </a:xfrm>
        </p:grpSpPr>
        <p:sp>
          <p:nvSpPr>
            <p:cNvPr id="11" name="Google Shape;3109;gaa46748daa_1_91">
              <a:extLst>
                <a:ext uri="{FF2B5EF4-FFF2-40B4-BE49-F238E27FC236}">
                  <a16:creationId xmlns:a16="http://schemas.microsoft.com/office/drawing/2014/main" id="{5B226796-EAE3-3517-093E-EC64128CFF50}"/>
                </a:ext>
              </a:extLst>
            </p:cNvPr>
            <p:cNvSpPr/>
            <p:nvPr/>
          </p:nvSpPr>
          <p:spPr>
            <a:xfrm>
              <a:off x="1866900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110;gaa46748daa_1_91">
              <a:extLst>
                <a:ext uri="{FF2B5EF4-FFF2-40B4-BE49-F238E27FC236}">
                  <a16:creationId xmlns:a16="http://schemas.microsoft.com/office/drawing/2014/main" id="{97A94EF5-E3D2-C8B0-1397-1BFA56A80DC5}"/>
                </a:ext>
              </a:extLst>
            </p:cNvPr>
            <p:cNvSpPr/>
            <p:nvPr/>
          </p:nvSpPr>
          <p:spPr>
            <a:xfrm>
              <a:off x="2106141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Advantages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" name="Google Shape;3111;gaa46748daa_1_91">
            <a:extLst>
              <a:ext uri="{FF2B5EF4-FFF2-40B4-BE49-F238E27FC236}">
                <a16:creationId xmlns:a16="http://schemas.microsoft.com/office/drawing/2014/main" id="{AE9D0872-328C-F409-43FC-28FA58FD8682}"/>
              </a:ext>
            </a:extLst>
          </p:cNvPr>
          <p:cNvGrpSpPr/>
          <p:nvPr/>
        </p:nvGrpSpPr>
        <p:grpSpPr>
          <a:xfrm>
            <a:off x="7130390" y="2235406"/>
            <a:ext cx="3994812" cy="576263"/>
            <a:chOff x="8124825" y="851582"/>
            <a:chExt cx="1924050" cy="523875"/>
          </a:xfrm>
        </p:grpSpPr>
        <p:sp>
          <p:nvSpPr>
            <p:cNvPr id="14" name="Google Shape;3112;gaa46748daa_1_91">
              <a:extLst>
                <a:ext uri="{FF2B5EF4-FFF2-40B4-BE49-F238E27FC236}">
                  <a16:creationId xmlns:a16="http://schemas.microsoft.com/office/drawing/2014/main" id="{C5B77FAD-2F73-1276-E991-8FABD17A2ED9}"/>
                </a:ext>
              </a:extLst>
            </p:cNvPr>
            <p:cNvSpPr/>
            <p:nvPr/>
          </p:nvSpPr>
          <p:spPr>
            <a:xfrm>
              <a:off x="8124825" y="851582"/>
              <a:ext cx="1924050" cy="523875"/>
            </a:xfrm>
            <a:prstGeom prst="roundRect">
              <a:avLst>
                <a:gd name="adj" fmla="val 7576"/>
              </a:avLst>
            </a:prstGeom>
            <a:solidFill>
              <a:srgbClr val="7F7F7F"/>
            </a:solidFill>
            <a:ln w="25400" cap="flat" cmpd="sng">
              <a:solidFill>
                <a:srgbClr val="59595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3113;gaa46748daa_1_91">
              <a:extLst>
                <a:ext uri="{FF2B5EF4-FFF2-40B4-BE49-F238E27FC236}">
                  <a16:creationId xmlns:a16="http://schemas.microsoft.com/office/drawing/2014/main" id="{27757375-807A-DD4A-CEE5-F3E6A0E05C5F}"/>
                </a:ext>
              </a:extLst>
            </p:cNvPr>
            <p:cNvSpPr/>
            <p:nvPr/>
          </p:nvSpPr>
          <p:spPr>
            <a:xfrm>
              <a:off x="8364066" y="929756"/>
              <a:ext cx="1445567" cy="36752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lang="en-US" sz="2000" b="1" i="0" u="none" strike="noStrike" cap="none">
                  <a:solidFill>
                    <a:schemeClr val="lt1"/>
                  </a:solidFill>
                  <a:latin typeface="Lato"/>
                  <a:ea typeface="Lato"/>
                  <a:cs typeface="Lato"/>
                  <a:sym typeface="Lato"/>
                </a:rPr>
                <a:t>Disadvantages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6" name="Google Shape;3114;gaa46748daa_1_91">
            <a:extLst>
              <a:ext uri="{FF2B5EF4-FFF2-40B4-BE49-F238E27FC236}">
                <a16:creationId xmlns:a16="http://schemas.microsoft.com/office/drawing/2014/main" id="{FC09B13F-5AD0-D209-7CD2-593B168C885E}"/>
              </a:ext>
            </a:extLst>
          </p:cNvPr>
          <p:cNvSpPr txBox="1"/>
          <p:nvPr/>
        </p:nvSpPr>
        <p:spPr>
          <a:xfrm>
            <a:off x="1131762" y="3346046"/>
            <a:ext cx="3994800" cy="1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Service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r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eusability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Easy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aintenance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Platform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ndependent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Availability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3115;gaa46748daa_1_91">
            <a:extLst>
              <a:ext uri="{FF2B5EF4-FFF2-40B4-BE49-F238E27FC236}">
                <a16:creationId xmlns:a16="http://schemas.microsoft.com/office/drawing/2014/main" id="{9B0323CC-FF46-E54F-3438-1684A30CF6A8}"/>
              </a:ext>
            </a:extLst>
          </p:cNvPr>
          <p:cNvSpPr txBox="1"/>
          <p:nvPr/>
        </p:nvSpPr>
        <p:spPr>
          <a:xfrm>
            <a:off x="7130400" y="3346046"/>
            <a:ext cx="3994800" cy="123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verheads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High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nvestment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1200"/>
              </a:spcBef>
              <a:spcAft>
                <a:spcPts val="60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Complex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ervice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anagement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3116;gaa46748daa_1_91">
            <a:extLst>
              <a:ext uri="{FF2B5EF4-FFF2-40B4-BE49-F238E27FC236}">
                <a16:creationId xmlns:a16="http://schemas.microsoft.com/office/drawing/2014/main" id="{D0734F3E-A873-175E-65A2-E8C5C9E096CE}"/>
              </a:ext>
            </a:extLst>
          </p:cNvPr>
          <p:cNvSpPr txBox="1"/>
          <p:nvPr/>
        </p:nvSpPr>
        <p:spPr>
          <a:xfrm>
            <a:off x="1936578" y="1389888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latin typeface="Lato"/>
                <a:ea typeface="Lato"/>
                <a:cs typeface="Lato"/>
                <a:sym typeface="Lato"/>
              </a:rPr>
              <a:t>SERVICE-ORIENTED ARCHITECTURE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563149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5" dur="500"/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500"/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4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0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122;gaa46748daa_1_98">
            <a:extLst>
              <a:ext uri="{FF2B5EF4-FFF2-40B4-BE49-F238E27FC236}">
                <a16:creationId xmlns:a16="http://schemas.microsoft.com/office/drawing/2014/main" id="{4CB80CD9-786A-6B54-B565-787A0A4529FB}"/>
              </a:ext>
            </a:extLst>
          </p:cNvPr>
          <p:cNvSpPr txBox="1"/>
          <p:nvPr/>
        </p:nvSpPr>
        <p:spPr>
          <a:xfrm>
            <a:off x="893048" y="2013259"/>
            <a:ext cx="47904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0"/>
                  </a:ext>
                </a:extLst>
              </a:rPr>
              <a:t>MICROSERVICE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123;gaa46748daa_1_98">
            <a:extLst>
              <a:ext uri="{FF2B5EF4-FFF2-40B4-BE49-F238E27FC236}">
                <a16:creationId xmlns:a16="http://schemas.microsoft.com/office/drawing/2014/main" id="{D69B937B-B6DB-2064-F189-9F1FEF3D1510}"/>
              </a:ext>
            </a:extLst>
          </p:cNvPr>
          <p:cNvSpPr txBox="1"/>
          <p:nvPr/>
        </p:nvSpPr>
        <p:spPr>
          <a:xfrm>
            <a:off x="799889" y="2640788"/>
            <a:ext cx="4976700" cy="310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 this architecture, we break down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monolithic application into smaller, independent units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Each individual module communicate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1"/>
                  </a:ext>
                </a:extLst>
              </a:rPr>
              <a:t>s within each other usi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ng a well-defined method called APIs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The p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rinciples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underlying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microservices are as follows: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Individual responsibility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Designed keeping failure in mind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Buil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around the new and available business capabilities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1841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None/>
            </a:pPr>
            <a:endParaRPr sz="1600" b="0" i="0" u="none" strike="noStrike" cap="non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3124;gaa46748daa_1_98">
            <a:extLst>
              <a:ext uri="{FF2B5EF4-FFF2-40B4-BE49-F238E27FC236}">
                <a16:creationId xmlns:a16="http://schemas.microsoft.com/office/drawing/2014/main" id="{62AFC828-C2A0-9EC4-8E69-6AE44E1297BF}"/>
              </a:ext>
            </a:extLst>
          </p:cNvPr>
          <p:cNvGrpSpPr/>
          <p:nvPr/>
        </p:nvGrpSpPr>
        <p:grpSpPr>
          <a:xfrm>
            <a:off x="5900111" y="1620688"/>
            <a:ext cx="5492000" cy="4274993"/>
            <a:chOff x="6821476" y="1307660"/>
            <a:chExt cx="5780525" cy="4499582"/>
          </a:xfrm>
        </p:grpSpPr>
        <p:sp>
          <p:nvSpPr>
            <p:cNvPr id="12" name="Google Shape;3125;gaa46748daa_1_98">
              <a:extLst>
                <a:ext uri="{FF2B5EF4-FFF2-40B4-BE49-F238E27FC236}">
                  <a16:creationId xmlns:a16="http://schemas.microsoft.com/office/drawing/2014/main" id="{81612560-AD1D-26CE-89CC-06F6708896D2}"/>
                </a:ext>
              </a:extLst>
            </p:cNvPr>
            <p:cNvSpPr/>
            <p:nvPr/>
          </p:nvSpPr>
          <p:spPr>
            <a:xfrm>
              <a:off x="6821476" y="1307660"/>
              <a:ext cx="1569513" cy="627529"/>
            </a:xfrm>
            <a:prstGeom prst="roundRect">
              <a:avLst>
                <a:gd name="adj" fmla="val 16715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Microservice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3126;gaa46748daa_1_98">
              <a:extLst>
                <a:ext uri="{FF2B5EF4-FFF2-40B4-BE49-F238E27FC236}">
                  <a16:creationId xmlns:a16="http://schemas.microsoft.com/office/drawing/2014/main" id="{D67E7390-B491-AB6D-5136-8A16DB1D2656}"/>
                </a:ext>
              </a:extLst>
            </p:cNvPr>
            <p:cNvSpPr/>
            <p:nvPr/>
          </p:nvSpPr>
          <p:spPr>
            <a:xfrm>
              <a:off x="9789416" y="1973883"/>
              <a:ext cx="1569513" cy="627529"/>
            </a:xfrm>
            <a:prstGeom prst="roundRect">
              <a:avLst>
                <a:gd name="adj" fmla="val 16715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n-US" sz="16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Microservice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" name="Google Shape;3127;gaa46748daa_1_98">
              <a:extLst>
                <a:ext uri="{FF2B5EF4-FFF2-40B4-BE49-F238E27FC236}">
                  <a16:creationId xmlns:a16="http://schemas.microsoft.com/office/drawing/2014/main" id="{0537C230-FFCF-391C-8F8A-CA0ACA3761D6}"/>
                </a:ext>
              </a:extLst>
            </p:cNvPr>
            <p:cNvGrpSpPr/>
            <p:nvPr/>
          </p:nvGrpSpPr>
          <p:grpSpPr>
            <a:xfrm>
              <a:off x="6821476" y="3267635"/>
              <a:ext cx="1569513" cy="2539607"/>
              <a:chOff x="6821476" y="3267635"/>
              <a:chExt cx="1569513" cy="2539607"/>
            </a:xfrm>
          </p:grpSpPr>
          <p:grpSp>
            <p:nvGrpSpPr>
              <p:cNvPr id="35" name="Google Shape;3128;gaa46748daa_1_98">
                <a:extLst>
                  <a:ext uri="{FF2B5EF4-FFF2-40B4-BE49-F238E27FC236}">
                    <a16:creationId xmlns:a16="http://schemas.microsoft.com/office/drawing/2014/main" id="{E50EFAE7-1BFD-D446-4431-13DDF2CA641C}"/>
                  </a:ext>
                </a:extLst>
              </p:cNvPr>
              <p:cNvGrpSpPr/>
              <p:nvPr/>
            </p:nvGrpSpPr>
            <p:grpSpPr>
              <a:xfrm>
                <a:off x="6958765" y="4451694"/>
                <a:ext cx="1294934" cy="1355548"/>
                <a:chOff x="8182895" y="4827791"/>
                <a:chExt cx="1766017" cy="832639"/>
              </a:xfrm>
            </p:grpSpPr>
            <p:sp>
              <p:nvSpPr>
                <p:cNvPr id="38" name="Google Shape;3129;gaa46748daa_1_98">
                  <a:extLst>
                    <a:ext uri="{FF2B5EF4-FFF2-40B4-BE49-F238E27FC236}">
                      <a16:creationId xmlns:a16="http://schemas.microsoft.com/office/drawing/2014/main" id="{4FE78032-9A31-39BA-A69E-FBE600E20E72}"/>
                    </a:ext>
                  </a:extLst>
                </p:cNvPr>
                <p:cNvSpPr/>
                <p:nvPr/>
              </p:nvSpPr>
              <p:spPr>
                <a:xfrm>
                  <a:off x="8182895" y="4827791"/>
                  <a:ext cx="1766017" cy="832639"/>
                </a:xfrm>
                <a:prstGeom prst="flowChartMagneticDisk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9" name="Google Shape;3130;gaa46748daa_1_98">
                  <a:extLst>
                    <a:ext uri="{FF2B5EF4-FFF2-40B4-BE49-F238E27FC236}">
                      <a16:creationId xmlns:a16="http://schemas.microsoft.com/office/drawing/2014/main" id="{07FD03D8-AF6B-B475-26BE-A93000AB0DE8}"/>
                    </a:ext>
                  </a:extLst>
                </p:cNvPr>
                <p:cNvSpPr/>
                <p:nvPr/>
              </p:nvSpPr>
              <p:spPr>
                <a:xfrm>
                  <a:off x="8506744" y="5149134"/>
                  <a:ext cx="1118318" cy="353495"/>
                </a:xfrm>
                <a:prstGeom prst="roundRect">
                  <a:avLst>
                    <a:gd name="adj" fmla="val 16715"/>
                  </a:avLst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DB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" name="Google Shape;3131;gaa46748daa_1_98">
                <a:extLst>
                  <a:ext uri="{FF2B5EF4-FFF2-40B4-BE49-F238E27FC236}">
                    <a16:creationId xmlns:a16="http://schemas.microsoft.com/office/drawing/2014/main" id="{AC3D5A23-8234-FF6A-99DF-C9FC7A32365A}"/>
                  </a:ext>
                </a:extLst>
              </p:cNvPr>
              <p:cNvSpPr/>
              <p:nvPr/>
            </p:nvSpPr>
            <p:spPr>
              <a:xfrm>
                <a:off x="6821476" y="3267635"/>
                <a:ext cx="1569513" cy="627529"/>
              </a:xfrm>
              <a:prstGeom prst="roundRect">
                <a:avLst>
                  <a:gd name="adj" fmla="val 16715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Microservice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7" name="Google Shape;3132;gaa46748daa_1_98">
                <a:extLst>
                  <a:ext uri="{FF2B5EF4-FFF2-40B4-BE49-F238E27FC236}">
                    <a16:creationId xmlns:a16="http://schemas.microsoft.com/office/drawing/2014/main" id="{0853FDC0-9DCE-3ED9-0099-271F8F84C9DB}"/>
                  </a:ext>
                </a:extLst>
              </p:cNvPr>
              <p:cNvCxnSpPr>
                <a:stCxn id="38" idx="1"/>
                <a:endCxn id="36" idx="2"/>
              </p:cNvCxnSpPr>
              <p:nvPr/>
            </p:nvCxnSpPr>
            <p:spPr>
              <a:xfrm rot="10800000">
                <a:off x="7606232" y="3895194"/>
                <a:ext cx="0" cy="5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triangle" w="lg" len="lg"/>
              </a:ln>
            </p:spPr>
          </p:cxnSp>
        </p:grpSp>
        <p:cxnSp>
          <p:nvCxnSpPr>
            <p:cNvPr id="15" name="Google Shape;3133;gaa46748daa_1_98">
              <a:extLst>
                <a:ext uri="{FF2B5EF4-FFF2-40B4-BE49-F238E27FC236}">
                  <a16:creationId xmlns:a16="http://schemas.microsoft.com/office/drawing/2014/main" id="{AFEC3AA7-DC57-DCF8-AE08-4F0259682ACA}"/>
                </a:ext>
              </a:extLst>
            </p:cNvPr>
            <p:cNvCxnSpPr>
              <a:stCxn id="36" idx="0"/>
              <a:endCxn id="12" idx="2"/>
            </p:cNvCxnSpPr>
            <p:nvPr/>
          </p:nvCxnSpPr>
          <p:spPr>
            <a:xfrm rot="10800000">
              <a:off x="7606233" y="1935335"/>
              <a:ext cx="0" cy="1332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16" name="Google Shape;3134;gaa46748daa_1_98">
              <a:extLst>
                <a:ext uri="{FF2B5EF4-FFF2-40B4-BE49-F238E27FC236}">
                  <a16:creationId xmlns:a16="http://schemas.microsoft.com/office/drawing/2014/main" id="{403FA6FB-F447-519F-4502-8832C377FC8D}"/>
                </a:ext>
              </a:extLst>
            </p:cNvPr>
            <p:cNvCxnSpPr>
              <a:stCxn id="13" idx="1"/>
              <a:endCxn id="12" idx="2"/>
            </p:cNvCxnSpPr>
            <p:nvPr/>
          </p:nvCxnSpPr>
          <p:spPr>
            <a:xfrm rot="10800000">
              <a:off x="7606316" y="1935148"/>
              <a:ext cx="2183100" cy="3525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grpSp>
          <p:nvGrpSpPr>
            <p:cNvPr id="17" name="Google Shape;3135;gaa46748daa_1_98">
              <a:extLst>
                <a:ext uri="{FF2B5EF4-FFF2-40B4-BE49-F238E27FC236}">
                  <a16:creationId xmlns:a16="http://schemas.microsoft.com/office/drawing/2014/main" id="{096A859F-B0E9-D1BC-E1F7-FB25062B22B7}"/>
                </a:ext>
              </a:extLst>
            </p:cNvPr>
            <p:cNvGrpSpPr/>
            <p:nvPr/>
          </p:nvGrpSpPr>
          <p:grpSpPr>
            <a:xfrm>
              <a:off x="8926982" y="3267635"/>
              <a:ext cx="1569513" cy="2539607"/>
              <a:chOff x="6821476" y="3267635"/>
              <a:chExt cx="1569513" cy="2539607"/>
            </a:xfrm>
          </p:grpSpPr>
          <p:grpSp>
            <p:nvGrpSpPr>
              <p:cNvPr id="30" name="Google Shape;3136;gaa46748daa_1_98">
                <a:extLst>
                  <a:ext uri="{FF2B5EF4-FFF2-40B4-BE49-F238E27FC236}">
                    <a16:creationId xmlns:a16="http://schemas.microsoft.com/office/drawing/2014/main" id="{A5B68772-E782-F458-5516-B560ED34A046}"/>
                  </a:ext>
                </a:extLst>
              </p:cNvPr>
              <p:cNvGrpSpPr/>
              <p:nvPr/>
            </p:nvGrpSpPr>
            <p:grpSpPr>
              <a:xfrm>
                <a:off x="6958765" y="4451694"/>
                <a:ext cx="1294934" cy="1355548"/>
                <a:chOff x="8182895" y="4827791"/>
                <a:chExt cx="1766017" cy="832639"/>
              </a:xfrm>
            </p:grpSpPr>
            <p:sp>
              <p:nvSpPr>
                <p:cNvPr id="33" name="Google Shape;3137;gaa46748daa_1_98">
                  <a:extLst>
                    <a:ext uri="{FF2B5EF4-FFF2-40B4-BE49-F238E27FC236}">
                      <a16:creationId xmlns:a16="http://schemas.microsoft.com/office/drawing/2014/main" id="{8004BD63-5651-38AD-FE62-20782DA85ED7}"/>
                    </a:ext>
                  </a:extLst>
                </p:cNvPr>
                <p:cNvSpPr/>
                <p:nvPr/>
              </p:nvSpPr>
              <p:spPr>
                <a:xfrm>
                  <a:off x="8182895" y="4827791"/>
                  <a:ext cx="1766017" cy="832639"/>
                </a:xfrm>
                <a:prstGeom prst="flowChartMagneticDisk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34" name="Google Shape;3138;gaa46748daa_1_98">
                  <a:extLst>
                    <a:ext uri="{FF2B5EF4-FFF2-40B4-BE49-F238E27FC236}">
                      <a16:creationId xmlns:a16="http://schemas.microsoft.com/office/drawing/2014/main" id="{3C51B79E-18FD-5D90-8691-EFF2A43A89DD}"/>
                    </a:ext>
                  </a:extLst>
                </p:cNvPr>
                <p:cNvSpPr/>
                <p:nvPr/>
              </p:nvSpPr>
              <p:spPr>
                <a:xfrm>
                  <a:off x="8506744" y="5149134"/>
                  <a:ext cx="1118318" cy="353495"/>
                </a:xfrm>
                <a:prstGeom prst="roundRect">
                  <a:avLst>
                    <a:gd name="adj" fmla="val 16715"/>
                  </a:avLst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DB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1" name="Google Shape;3139;gaa46748daa_1_98">
                <a:extLst>
                  <a:ext uri="{FF2B5EF4-FFF2-40B4-BE49-F238E27FC236}">
                    <a16:creationId xmlns:a16="http://schemas.microsoft.com/office/drawing/2014/main" id="{E05E9758-3AC0-CB24-72AB-7B706906763F}"/>
                  </a:ext>
                </a:extLst>
              </p:cNvPr>
              <p:cNvSpPr/>
              <p:nvPr/>
            </p:nvSpPr>
            <p:spPr>
              <a:xfrm>
                <a:off x="6821476" y="3267635"/>
                <a:ext cx="1569513" cy="627529"/>
              </a:xfrm>
              <a:prstGeom prst="roundRect">
                <a:avLst>
                  <a:gd name="adj" fmla="val 16715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Microservice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32" name="Google Shape;3140;gaa46748daa_1_98">
                <a:extLst>
                  <a:ext uri="{FF2B5EF4-FFF2-40B4-BE49-F238E27FC236}">
                    <a16:creationId xmlns:a16="http://schemas.microsoft.com/office/drawing/2014/main" id="{12D00DD2-9FE8-C6E4-D200-C603FC220860}"/>
                  </a:ext>
                </a:extLst>
              </p:cNvPr>
              <p:cNvCxnSpPr>
                <a:stCxn id="33" idx="1"/>
                <a:endCxn id="31" idx="2"/>
              </p:cNvCxnSpPr>
              <p:nvPr/>
            </p:nvCxnSpPr>
            <p:spPr>
              <a:xfrm rot="10800000">
                <a:off x="7606232" y="3895194"/>
                <a:ext cx="0" cy="5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triangle" w="lg" len="lg"/>
              </a:ln>
            </p:spPr>
          </p:cxnSp>
        </p:grpSp>
        <p:grpSp>
          <p:nvGrpSpPr>
            <p:cNvPr id="18" name="Google Shape;3141;gaa46748daa_1_98">
              <a:extLst>
                <a:ext uri="{FF2B5EF4-FFF2-40B4-BE49-F238E27FC236}">
                  <a16:creationId xmlns:a16="http://schemas.microsoft.com/office/drawing/2014/main" id="{A5542F55-54C7-74C7-B65D-EF0B9581D844}"/>
                </a:ext>
              </a:extLst>
            </p:cNvPr>
            <p:cNvGrpSpPr/>
            <p:nvPr/>
          </p:nvGrpSpPr>
          <p:grpSpPr>
            <a:xfrm>
              <a:off x="11032488" y="3267635"/>
              <a:ext cx="1569513" cy="2539607"/>
              <a:chOff x="6821476" y="3267635"/>
              <a:chExt cx="1569513" cy="2539607"/>
            </a:xfrm>
          </p:grpSpPr>
          <p:grpSp>
            <p:nvGrpSpPr>
              <p:cNvPr id="25" name="Google Shape;3142;gaa46748daa_1_98">
                <a:extLst>
                  <a:ext uri="{FF2B5EF4-FFF2-40B4-BE49-F238E27FC236}">
                    <a16:creationId xmlns:a16="http://schemas.microsoft.com/office/drawing/2014/main" id="{01245CC3-2AF3-8237-0DAA-1D607AE6C690}"/>
                  </a:ext>
                </a:extLst>
              </p:cNvPr>
              <p:cNvGrpSpPr/>
              <p:nvPr/>
            </p:nvGrpSpPr>
            <p:grpSpPr>
              <a:xfrm>
                <a:off x="6958765" y="4451694"/>
                <a:ext cx="1294934" cy="1355548"/>
                <a:chOff x="8182895" y="4827791"/>
                <a:chExt cx="1766017" cy="832639"/>
              </a:xfrm>
            </p:grpSpPr>
            <p:sp>
              <p:nvSpPr>
                <p:cNvPr id="28" name="Google Shape;3143;gaa46748daa_1_98">
                  <a:extLst>
                    <a:ext uri="{FF2B5EF4-FFF2-40B4-BE49-F238E27FC236}">
                      <a16:creationId xmlns:a16="http://schemas.microsoft.com/office/drawing/2014/main" id="{9319135F-2D0C-4F27-5E50-6D5CDFA52365}"/>
                    </a:ext>
                  </a:extLst>
                </p:cNvPr>
                <p:cNvSpPr/>
                <p:nvPr/>
              </p:nvSpPr>
              <p:spPr>
                <a:xfrm>
                  <a:off x="8182895" y="4827791"/>
                  <a:ext cx="1766017" cy="832639"/>
                </a:xfrm>
                <a:prstGeom prst="flowChartMagneticDisk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endParaRPr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sp>
              <p:nvSpPr>
                <p:cNvPr id="29" name="Google Shape;3144;gaa46748daa_1_98">
                  <a:extLst>
                    <a:ext uri="{FF2B5EF4-FFF2-40B4-BE49-F238E27FC236}">
                      <a16:creationId xmlns:a16="http://schemas.microsoft.com/office/drawing/2014/main" id="{81BE1871-39B1-73CE-0DE1-F948D876A49E}"/>
                    </a:ext>
                  </a:extLst>
                </p:cNvPr>
                <p:cNvSpPr/>
                <p:nvPr/>
              </p:nvSpPr>
              <p:spPr>
                <a:xfrm>
                  <a:off x="8506744" y="5149134"/>
                  <a:ext cx="1118318" cy="353495"/>
                </a:xfrm>
                <a:prstGeom prst="roundRect">
                  <a:avLst>
                    <a:gd name="adj" fmla="val 16715"/>
                  </a:avLst>
                </a:prstGeom>
                <a:noFill/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600"/>
                    <a:buFont typeface="Arial"/>
                    <a:buNone/>
                  </a:pPr>
                  <a:r>
                    <a:rPr lang="en-US" sz="16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DB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6" name="Google Shape;3145;gaa46748daa_1_98">
                <a:extLst>
                  <a:ext uri="{FF2B5EF4-FFF2-40B4-BE49-F238E27FC236}">
                    <a16:creationId xmlns:a16="http://schemas.microsoft.com/office/drawing/2014/main" id="{57717B23-0F60-3995-F703-7287EFEEE566}"/>
                  </a:ext>
                </a:extLst>
              </p:cNvPr>
              <p:cNvSpPr/>
              <p:nvPr/>
            </p:nvSpPr>
            <p:spPr>
              <a:xfrm>
                <a:off x="6821476" y="3267635"/>
                <a:ext cx="1569513" cy="627529"/>
              </a:xfrm>
              <a:prstGeom prst="roundRect">
                <a:avLst>
                  <a:gd name="adj" fmla="val 16715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en-US" sz="16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Microservice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7" name="Google Shape;3146;gaa46748daa_1_98">
                <a:extLst>
                  <a:ext uri="{FF2B5EF4-FFF2-40B4-BE49-F238E27FC236}">
                    <a16:creationId xmlns:a16="http://schemas.microsoft.com/office/drawing/2014/main" id="{B904F116-43BE-287D-4CDA-06448D3AB7E1}"/>
                  </a:ext>
                </a:extLst>
              </p:cNvPr>
              <p:cNvCxnSpPr>
                <a:stCxn id="28" idx="1"/>
                <a:endCxn id="26" idx="2"/>
              </p:cNvCxnSpPr>
              <p:nvPr/>
            </p:nvCxnSpPr>
            <p:spPr>
              <a:xfrm rot="10800000">
                <a:off x="7606232" y="3895194"/>
                <a:ext cx="0" cy="5565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triangle" w="lg" len="lg"/>
                <a:tailEnd type="triangle" w="lg" len="lg"/>
              </a:ln>
            </p:spPr>
          </p:cxnSp>
        </p:grpSp>
        <p:cxnSp>
          <p:nvCxnSpPr>
            <p:cNvPr id="19" name="Google Shape;3147;gaa46748daa_1_98">
              <a:extLst>
                <a:ext uri="{FF2B5EF4-FFF2-40B4-BE49-F238E27FC236}">
                  <a16:creationId xmlns:a16="http://schemas.microsoft.com/office/drawing/2014/main" id="{BAF6720F-6458-C1B5-C0BF-38F2F6AEB4BF}"/>
                </a:ext>
              </a:extLst>
            </p:cNvPr>
            <p:cNvCxnSpPr>
              <a:stCxn id="31" idx="0"/>
              <a:endCxn id="12" idx="2"/>
            </p:cNvCxnSpPr>
            <p:nvPr/>
          </p:nvCxnSpPr>
          <p:spPr>
            <a:xfrm rot="10800000">
              <a:off x="7606339" y="1935335"/>
              <a:ext cx="2105400" cy="1332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20" name="Google Shape;3148;gaa46748daa_1_98">
              <a:extLst>
                <a:ext uri="{FF2B5EF4-FFF2-40B4-BE49-F238E27FC236}">
                  <a16:creationId xmlns:a16="http://schemas.microsoft.com/office/drawing/2014/main" id="{4C2809CB-41BB-F256-5E25-9DF7E411776D}"/>
                </a:ext>
              </a:extLst>
            </p:cNvPr>
            <p:cNvCxnSpPr>
              <a:stCxn id="31" idx="0"/>
              <a:endCxn id="13" idx="2"/>
            </p:cNvCxnSpPr>
            <p:nvPr/>
          </p:nvCxnSpPr>
          <p:spPr>
            <a:xfrm rot="10800000" flipH="1">
              <a:off x="9711739" y="2601335"/>
              <a:ext cx="862500" cy="666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21" name="Google Shape;3149;gaa46748daa_1_98">
              <a:extLst>
                <a:ext uri="{FF2B5EF4-FFF2-40B4-BE49-F238E27FC236}">
                  <a16:creationId xmlns:a16="http://schemas.microsoft.com/office/drawing/2014/main" id="{730AC1E6-22FB-CA51-A23E-6C255278B8F7}"/>
                </a:ext>
              </a:extLst>
            </p:cNvPr>
            <p:cNvCxnSpPr>
              <a:stCxn id="26" idx="0"/>
              <a:endCxn id="13" idx="2"/>
            </p:cNvCxnSpPr>
            <p:nvPr/>
          </p:nvCxnSpPr>
          <p:spPr>
            <a:xfrm rot="10800000">
              <a:off x="10574045" y="2601335"/>
              <a:ext cx="1243200" cy="666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  <p:cxnSp>
          <p:nvCxnSpPr>
            <p:cNvPr id="22" name="Google Shape;3150;gaa46748daa_1_98">
              <a:extLst>
                <a:ext uri="{FF2B5EF4-FFF2-40B4-BE49-F238E27FC236}">
                  <a16:creationId xmlns:a16="http://schemas.microsoft.com/office/drawing/2014/main" id="{432E5A81-A7A5-45E1-CFB2-4F571CC0214D}"/>
                </a:ext>
              </a:extLst>
            </p:cNvPr>
            <p:cNvCxnSpPr>
              <a:stCxn id="31" idx="1"/>
              <a:endCxn id="36" idx="3"/>
            </p:cNvCxnSpPr>
            <p:nvPr/>
          </p:nvCxnSpPr>
          <p:spPr>
            <a:xfrm rot="10800000">
              <a:off x="8390882" y="3581400"/>
              <a:ext cx="536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triangle" w="lg" len="lg"/>
            </a:ln>
          </p:spPr>
        </p:cxnSp>
        <p:cxnSp>
          <p:nvCxnSpPr>
            <p:cNvPr id="23" name="Google Shape;3151;gaa46748daa_1_98">
              <a:extLst>
                <a:ext uri="{FF2B5EF4-FFF2-40B4-BE49-F238E27FC236}">
                  <a16:creationId xmlns:a16="http://schemas.microsoft.com/office/drawing/2014/main" id="{3B5F1F2A-66CE-25B3-97A6-7E64803518AD}"/>
                </a:ext>
              </a:extLst>
            </p:cNvPr>
            <p:cNvCxnSpPr>
              <a:stCxn id="26" idx="1"/>
              <a:endCxn id="31" idx="3"/>
            </p:cNvCxnSpPr>
            <p:nvPr/>
          </p:nvCxnSpPr>
          <p:spPr>
            <a:xfrm rot="10800000">
              <a:off x="10496388" y="3581400"/>
              <a:ext cx="536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triangle" w="lg" len="lg"/>
            </a:ln>
          </p:spPr>
        </p:cxnSp>
        <p:cxnSp>
          <p:nvCxnSpPr>
            <p:cNvPr id="24" name="Google Shape;3152;gaa46748daa_1_98">
              <a:extLst>
                <a:ext uri="{FF2B5EF4-FFF2-40B4-BE49-F238E27FC236}">
                  <a16:creationId xmlns:a16="http://schemas.microsoft.com/office/drawing/2014/main" id="{D6AA1A1F-6EB8-8BBF-29C0-4D18C0E400AE}"/>
                </a:ext>
              </a:extLst>
            </p:cNvPr>
            <p:cNvCxnSpPr>
              <a:stCxn id="26" idx="0"/>
              <a:endCxn id="12" idx="2"/>
            </p:cNvCxnSpPr>
            <p:nvPr/>
          </p:nvCxnSpPr>
          <p:spPr>
            <a:xfrm rot="10800000">
              <a:off x="7606145" y="1935335"/>
              <a:ext cx="4211100" cy="133230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triangle" w="lg" len="lg"/>
              <a:tailEnd type="none" w="sm" len="sm"/>
            </a:ln>
          </p:spPr>
        </p:cxnSp>
      </p:grpSp>
    </p:spTree>
    <p:extLst>
      <p:ext uri="{BB962C8B-B14F-4D97-AF65-F5344CB8AC3E}">
        <p14:creationId xmlns:p14="http://schemas.microsoft.com/office/powerpoint/2010/main" val="956956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157;p38">
            <a:extLst>
              <a:ext uri="{FF2B5EF4-FFF2-40B4-BE49-F238E27FC236}">
                <a16:creationId xmlns:a16="http://schemas.microsoft.com/office/drawing/2014/main" id="{6D19897C-29BC-AAC0-0199-808DA66FE6AF}"/>
              </a:ext>
            </a:extLst>
          </p:cNvPr>
          <p:cNvSpPr txBox="1"/>
          <p:nvPr/>
        </p:nvSpPr>
        <p:spPr>
          <a:xfrm>
            <a:off x="1936578" y="1261872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3158;p38">
            <a:extLst>
              <a:ext uri="{FF2B5EF4-FFF2-40B4-BE49-F238E27FC236}">
                <a16:creationId xmlns:a16="http://schemas.microsoft.com/office/drawing/2014/main" id="{CB90A0D1-134C-CFCE-4FCA-D3BDDAF457C6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8231" y="2800604"/>
            <a:ext cx="5067300" cy="3378200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3159;p38">
            <a:extLst>
              <a:ext uri="{FF2B5EF4-FFF2-40B4-BE49-F238E27FC236}">
                <a16:creationId xmlns:a16="http://schemas.microsoft.com/office/drawing/2014/main" id="{7E3F30EB-5C41-B59D-8533-2E0FE8A4CBEC}"/>
              </a:ext>
            </a:extLst>
          </p:cNvPr>
          <p:cNvSpPr txBox="1"/>
          <p:nvPr/>
        </p:nvSpPr>
        <p:spPr>
          <a:xfrm>
            <a:off x="1073315" y="2180522"/>
            <a:ext cx="47904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Advantages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3160;p38">
            <a:extLst>
              <a:ext uri="{FF2B5EF4-FFF2-40B4-BE49-F238E27FC236}">
                <a16:creationId xmlns:a16="http://schemas.microsoft.com/office/drawing/2014/main" id="{DD0398CB-D76E-1084-6F1F-2E943585839F}"/>
              </a:ext>
            </a:extLst>
          </p:cNvPr>
          <p:cNvSpPr txBox="1"/>
          <p:nvPr/>
        </p:nvSpPr>
        <p:spPr>
          <a:xfrm>
            <a:off x="827503" y="2808051"/>
            <a:ext cx="5282100" cy="37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Microservices are self-contained, independent deployment module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cost of scaling is relatively l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ower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than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2"/>
                  </a:ext>
                </a:extLst>
              </a:rPr>
              <a:t> the monolithic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Microservices are independently manageable services.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3"/>
                  </a:ext>
                </a:extLst>
              </a:rPr>
              <a:t>It can enable more and more services as the need arises</a:t>
            </a:r>
            <a:r>
              <a:rPr lang="en-US" sz="16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4"/>
                  </a:ext>
                </a:extLst>
              </a:rPr>
              <a:t> and can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5"/>
                  </a:ext>
                </a:extLst>
              </a:rPr>
              <a:t> minimi</a:t>
            </a:r>
            <a:r>
              <a:rPr lang="en-US" sz="16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6"/>
                  </a:ext>
                </a:extLst>
              </a:rPr>
              <a:t>z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7"/>
                  </a:ext>
                </a:extLst>
              </a:rPr>
              <a:t>es the impact on existing 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is possible to vary or upgrade each service individually instead of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8"/>
                  </a:ext>
                </a:extLst>
              </a:rPr>
              <a:t>upgrading  the entire application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Microservices permit us to develop an application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that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is organic (an application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that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lat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er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upgrades by adding more functions or modules) in nature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28424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165;p9">
            <a:extLst>
              <a:ext uri="{FF2B5EF4-FFF2-40B4-BE49-F238E27FC236}">
                <a16:creationId xmlns:a16="http://schemas.microsoft.com/office/drawing/2014/main" id="{885C1465-96FC-F8C1-2F97-3ED67B33F41D}"/>
              </a:ext>
            </a:extLst>
          </p:cNvPr>
          <p:cNvSpPr txBox="1"/>
          <p:nvPr/>
        </p:nvSpPr>
        <p:spPr>
          <a:xfrm>
            <a:off x="1936578" y="1234440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3166;p9">
            <a:extLst>
              <a:ext uri="{FF2B5EF4-FFF2-40B4-BE49-F238E27FC236}">
                <a16:creationId xmlns:a16="http://schemas.microsoft.com/office/drawing/2014/main" id="{97F9917D-FA0E-F114-9682-83AFE68A5E3E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8231" y="2773172"/>
            <a:ext cx="5067300" cy="3378200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3167;p9">
            <a:extLst>
              <a:ext uri="{FF2B5EF4-FFF2-40B4-BE49-F238E27FC236}">
                <a16:creationId xmlns:a16="http://schemas.microsoft.com/office/drawing/2014/main" id="{FB57DBED-72D5-3DFA-6EA1-55A51E74A26D}"/>
              </a:ext>
            </a:extLst>
          </p:cNvPr>
          <p:cNvSpPr txBox="1"/>
          <p:nvPr/>
        </p:nvSpPr>
        <p:spPr>
          <a:xfrm>
            <a:off x="1073315" y="2712817"/>
            <a:ext cx="47904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Advantages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3168;p9">
            <a:extLst>
              <a:ext uri="{FF2B5EF4-FFF2-40B4-BE49-F238E27FC236}">
                <a16:creationId xmlns:a16="http://schemas.microsoft.com/office/drawing/2014/main" id="{36F217A8-87E7-F25E-BDB4-CE7AB0398542}"/>
              </a:ext>
            </a:extLst>
          </p:cNvPr>
          <p:cNvSpPr txBox="1"/>
          <p:nvPr/>
        </p:nvSpPr>
        <p:spPr>
          <a:xfrm>
            <a:off x="827503" y="3340346"/>
            <a:ext cx="5282100" cy="25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It enables event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-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streaming techno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9"/>
                  </a:ext>
                </a:extLst>
              </a:rPr>
              <a:t>logy to allow easy integration as compared to heavyweight 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0"/>
                  </a:ext>
                </a:extLst>
              </a:rPr>
              <a:t>nterpro</a:t>
            </a:r>
            <a:r>
              <a:rPr lang="en-US" sz="1600"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1"/>
                  </a:ext>
                </a:extLst>
              </a:rPr>
              <a:t>c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2"/>
                  </a:ext>
                </a:extLst>
              </a:rPr>
              <a:t>ess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3"/>
                  </a:ext>
                </a:extLst>
              </a:rPr>
              <a:t>communication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Microservices follow the single responsibility principle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The demanding service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is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often deployed on multiple servers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4"/>
                  </a:ext>
                </a:extLst>
              </a:rPr>
              <a:t>to improve performance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5"/>
                  </a:ext>
                </a:extLst>
              </a:rPr>
              <a:t>Less dependency and easy to test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6"/>
                </a:ext>
              </a:extLst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7"/>
                  </a:ext>
                </a:extLst>
              </a:rPr>
              <a:t>Dynamic scaling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  <a:extLst>
                <a:ext uri="http://customooxmlschemas.google.com/">
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8"/>
                </a:ext>
              </a:extLst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9"/>
                  </a:ext>
                </a:extLst>
              </a:rPr>
              <a:t>Faster release cycle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87803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173;p39">
            <a:extLst>
              <a:ext uri="{FF2B5EF4-FFF2-40B4-BE49-F238E27FC236}">
                <a16:creationId xmlns:a16="http://schemas.microsoft.com/office/drawing/2014/main" id="{6A26C228-729F-2D02-6D25-638C2543C135}"/>
              </a:ext>
            </a:extLst>
          </p:cNvPr>
          <p:cNvSpPr txBox="1"/>
          <p:nvPr/>
        </p:nvSpPr>
        <p:spPr>
          <a:xfrm>
            <a:off x="1936577" y="1142261"/>
            <a:ext cx="8318845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MICROSERVICE ARCHITECTURE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" name="Google Shape;3174;p39">
            <a:extLst>
              <a:ext uri="{FF2B5EF4-FFF2-40B4-BE49-F238E27FC236}">
                <a16:creationId xmlns:a16="http://schemas.microsoft.com/office/drawing/2014/main" id="{7DBFF36C-2068-7265-9459-A6B0FB6E82B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28231" y="2690315"/>
            <a:ext cx="5067300" cy="3071091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" name="Google Shape;3175;p39">
            <a:extLst>
              <a:ext uri="{FF2B5EF4-FFF2-40B4-BE49-F238E27FC236}">
                <a16:creationId xmlns:a16="http://schemas.microsoft.com/office/drawing/2014/main" id="{D29E0015-DB36-16B5-B002-502D116B86FE}"/>
              </a:ext>
            </a:extLst>
          </p:cNvPr>
          <p:cNvSpPr txBox="1"/>
          <p:nvPr/>
        </p:nvSpPr>
        <p:spPr>
          <a:xfrm>
            <a:off x="3700772" y="1575091"/>
            <a:ext cx="4790456" cy="363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Disadvantages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oogle Shape;3176;p39">
            <a:extLst>
              <a:ext uri="{FF2B5EF4-FFF2-40B4-BE49-F238E27FC236}">
                <a16:creationId xmlns:a16="http://schemas.microsoft.com/office/drawing/2014/main" id="{9D9E9FB1-82D5-270F-1FE2-139A3BE19050}"/>
              </a:ext>
            </a:extLst>
          </p:cNvPr>
          <p:cNvGrpSpPr/>
          <p:nvPr/>
        </p:nvGrpSpPr>
        <p:grpSpPr>
          <a:xfrm>
            <a:off x="460318" y="1788947"/>
            <a:ext cx="5226106" cy="833218"/>
            <a:chOff x="460318" y="1408958"/>
            <a:chExt cx="5226106" cy="916540"/>
          </a:xfrm>
        </p:grpSpPr>
        <p:sp>
          <p:nvSpPr>
            <p:cNvPr id="13" name="Google Shape;3177;p39">
              <a:extLst>
                <a:ext uri="{FF2B5EF4-FFF2-40B4-BE49-F238E27FC236}">
                  <a16:creationId xmlns:a16="http://schemas.microsoft.com/office/drawing/2014/main" id="{A1FD8FB0-ECB5-8945-BB5A-52EC3CDDD533}"/>
                </a:ext>
              </a:extLst>
            </p:cNvPr>
            <p:cNvSpPr txBox="1"/>
            <p:nvPr/>
          </p:nvSpPr>
          <p:spPr>
            <a:xfrm>
              <a:off x="1396652" y="1518705"/>
              <a:ext cx="4289772" cy="697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750" tIns="73750" rIns="73750" bIns="737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Microservices h</a:t>
              </a:r>
              <a:r>
                <a:rPr lang="en-US" sz="15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ave</a:t>
              </a:r>
              <a:r>
                <a:rPr lang="en-US" sz="15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all the associated complexities of </a:t>
              </a:r>
              <a:r>
                <a:rPr lang="en-US" sz="15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r>
                <a:rPr lang="en-US" sz="15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 distributed system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3178;p39">
              <a:extLst>
                <a:ext uri="{FF2B5EF4-FFF2-40B4-BE49-F238E27FC236}">
                  <a16:creationId xmlns:a16="http://schemas.microsoft.com/office/drawing/2014/main" id="{B2CBE2EF-C177-2E1B-92D9-0B9512178024}"/>
                </a:ext>
              </a:extLst>
            </p:cNvPr>
            <p:cNvSpPr/>
            <p:nvPr/>
          </p:nvSpPr>
          <p:spPr>
            <a:xfrm>
              <a:off x="460318" y="1408958"/>
              <a:ext cx="916540" cy="91654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5" name="Google Shape;3179;p39">
              <a:extLst>
                <a:ext uri="{FF2B5EF4-FFF2-40B4-BE49-F238E27FC236}">
                  <a16:creationId xmlns:a16="http://schemas.microsoft.com/office/drawing/2014/main" id="{CA1D2C79-0BAD-9042-9AC8-FA6D8652D42B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16287" t="30179" r="18041" b="26917"/>
            <a:stretch/>
          </p:blipFill>
          <p:spPr>
            <a:xfrm rot="5400000" flipH="1">
              <a:off x="559601" y="1632688"/>
              <a:ext cx="717974" cy="46908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" name="Google Shape;3180;p39">
            <a:extLst>
              <a:ext uri="{FF2B5EF4-FFF2-40B4-BE49-F238E27FC236}">
                <a16:creationId xmlns:a16="http://schemas.microsoft.com/office/drawing/2014/main" id="{88DB87D1-7E8E-DA50-115C-DCF897BB34DB}"/>
              </a:ext>
            </a:extLst>
          </p:cNvPr>
          <p:cNvGrpSpPr/>
          <p:nvPr/>
        </p:nvGrpSpPr>
        <p:grpSpPr>
          <a:xfrm>
            <a:off x="470215" y="4819403"/>
            <a:ext cx="5216209" cy="833218"/>
            <a:chOff x="470215" y="4439414"/>
            <a:chExt cx="5216209" cy="916540"/>
          </a:xfrm>
        </p:grpSpPr>
        <p:sp>
          <p:nvSpPr>
            <p:cNvPr id="17" name="Google Shape;3181;p39">
              <a:extLst>
                <a:ext uri="{FF2B5EF4-FFF2-40B4-BE49-F238E27FC236}">
                  <a16:creationId xmlns:a16="http://schemas.microsoft.com/office/drawing/2014/main" id="{94DDBC5F-61D7-32EA-F8B6-4AF5AABA87C6}"/>
                </a:ext>
              </a:extLst>
            </p:cNvPr>
            <p:cNvSpPr txBox="1"/>
            <p:nvPr/>
          </p:nvSpPr>
          <p:spPr>
            <a:xfrm>
              <a:off x="1396652" y="4549161"/>
              <a:ext cx="4289772" cy="697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750" tIns="73750" rIns="73750" bIns="737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The developer must solve the problems </a:t>
              </a:r>
              <a:r>
                <a:rPr lang="en-US" sz="15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such as </a:t>
              </a:r>
              <a:r>
                <a:rPr lang="en-US" sz="15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network latency and load balancing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3182;p39">
              <a:extLst>
                <a:ext uri="{FF2B5EF4-FFF2-40B4-BE49-F238E27FC236}">
                  <a16:creationId xmlns:a16="http://schemas.microsoft.com/office/drawing/2014/main" id="{2059DF30-D045-A8B9-B14A-D02800998A27}"/>
                </a:ext>
              </a:extLst>
            </p:cNvPr>
            <p:cNvSpPr/>
            <p:nvPr/>
          </p:nvSpPr>
          <p:spPr>
            <a:xfrm>
              <a:off x="470215" y="4439414"/>
              <a:ext cx="916540" cy="91654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9" name="Google Shape;3183;p39">
              <a:extLst>
                <a:ext uri="{FF2B5EF4-FFF2-40B4-BE49-F238E27FC236}">
                  <a16:creationId xmlns:a16="http://schemas.microsoft.com/office/drawing/2014/main" id="{B569D365-6731-F4C8-EFBF-0295953D2A82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 l="16287" t="30179" r="18041" b="26917"/>
            <a:stretch/>
          </p:blipFill>
          <p:spPr>
            <a:xfrm>
              <a:off x="559601" y="4642953"/>
              <a:ext cx="717974" cy="4690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" name="Google Shape;3184;p39">
            <a:extLst>
              <a:ext uri="{FF2B5EF4-FFF2-40B4-BE49-F238E27FC236}">
                <a16:creationId xmlns:a16="http://schemas.microsoft.com/office/drawing/2014/main" id="{0020DDDC-1CFF-9AA2-5723-078DCB85DE49}"/>
              </a:ext>
            </a:extLst>
          </p:cNvPr>
          <p:cNvSpPr/>
          <p:nvPr/>
        </p:nvSpPr>
        <p:spPr>
          <a:xfrm>
            <a:off x="102104" y="4407966"/>
            <a:ext cx="355860" cy="323509"/>
          </a:xfrm>
          <a:prstGeom prst="ellipse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" name="Google Shape;3185;p39">
            <a:extLst>
              <a:ext uri="{FF2B5EF4-FFF2-40B4-BE49-F238E27FC236}">
                <a16:creationId xmlns:a16="http://schemas.microsoft.com/office/drawing/2014/main" id="{3F5A67B0-63C2-28FB-45F6-A6E216108155}"/>
              </a:ext>
            </a:extLst>
          </p:cNvPr>
          <p:cNvGrpSpPr/>
          <p:nvPr/>
        </p:nvGrpSpPr>
        <p:grpSpPr>
          <a:xfrm>
            <a:off x="470215" y="5829554"/>
            <a:ext cx="5216209" cy="833218"/>
            <a:chOff x="470215" y="5449565"/>
            <a:chExt cx="5216209" cy="916540"/>
          </a:xfrm>
        </p:grpSpPr>
        <p:sp>
          <p:nvSpPr>
            <p:cNvPr id="22" name="Google Shape;3186;p39">
              <a:extLst>
                <a:ext uri="{FF2B5EF4-FFF2-40B4-BE49-F238E27FC236}">
                  <a16:creationId xmlns:a16="http://schemas.microsoft.com/office/drawing/2014/main" id="{044369A9-0983-2B72-4807-BA6333954F96}"/>
                </a:ext>
              </a:extLst>
            </p:cNvPr>
            <p:cNvSpPr txBox="1"/>
            <p:nvPr/>
          </p:nvSpPr>
          <p:spPr>
            <a:xfrm>
              <a:off x="1396652" y="5559312"/>
              <a:ext cx="4289772" cy="69704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750" tIns="73750" rIns="73750" bIns="737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0"/>
                    </a:ext>
                  </a:extLst>
                </a:rPr>
                <a:t>Complex testing over a distributed environment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3187;p39">
              <a:extLst>
                <a:ext uri="{FF2B5EF4-FFF2-40B4-BE49-F238E27FC236}">
                  <a16:creationId xmlns:a16="http://schemas.microsoft.com/office/drawing/2014/main" id="{C16ADB60-933A-018B-504E-F9CB19B5E582}"/>
                </a:ext>
              </a:extLst>
            </p:cNvPr>
            <p:cNvSpPr/>
            <p:nvPr/>
          </p:nvSpPr>
          <p:spPr>
            <a:xfrm>
              <a:off x="470215" y="5449565"/>
              <a:ext cx="916540" cy="91654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4" name="Google Shape;3188;p39">
              <a:extLst>
                <a:ext uri="{FF2B5EF4-FFF2-40B4-BE49-F238E27FC236}">
                  <a16:creationId xmlns:a16="http://schemas.microsoft.com/office/drawing/2014/main" id="{BF8AA168-5DD8-5C3F-1207-08E442B119AC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44157" y="5578825"/>
              <a:ext cx="548862" cy="615749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" name="Google Shape;3189;p39">
            <a:extLst>
              <a:ext uri="{FF2B5EF4-FFF2-40B4-BE49-F238E27FC236}">
                <a16:creationId xmlns:a16="http://schemas.microsoft.com/office/drawing/2014/main" id="{E6659566-B420-666F-19A4-1DA76D3431C7}"/>
              </a:ext>
            </a:extLst>
          </p:cNvPr>
          <p:cNvGrpSpPr/>
          <p:nvPr/>
        </p:nvGrpSpPr>
        <p:grpSpPr>
          <a:xfrm>
            <a:off x="470215" y="3809251"/>
            <a:ext cx="5216137" cy="833218"/>
            <a:chOff x="470215" y="3429262"/>
            <a:chExt cx="5216137" cy="916540"/>
          </a:xfrm>
        </p:grpSpPr>
        <p:sp>
          <p:nvSpPr>
            <p:cNvPr id="26" name="Google Shape;3190;p39">
              <a:extLst>
                <a:ext uri="{FF2B5EF4-FFF2-40B4-BE49-F238E27FC236}">
                  <a16:creationId xmlns:a16="http://schemas.microsoft.com/office/drawing/2014/main" id="{5E05CFE4-116D-B3D9-63E0-EA31A74A9230}"/>
                </a:ext>
              </a:extLst>
            </p:cNvPr>
            <p:cNvSpPr txBox="1"/>
            <p:nvPr/>
          </p:nvSpPr>
          <p:spPr>
            <a:xfrm>
              <a:off x="1396652" y="3539009"/>
              <a:ext cx="4289700" cy="696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3750" tIns="73750" rIns="73750" bIns="737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500"/>
                <a:buFont typeface="Arial"/>
                <a:buNone/>
              </a:pPr>
              <a:r>
                <a:rPr lang="en-US" sz="1500" b="1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It is d</a:t>
              </a:r>
              <a:r>
                <a:rPr lang="en-US" sz="1500" b="1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ifficult to manage a higher number of services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3191;p39">
              <a:extLst>
                <a:ext uri="{FF2B5EF4-FFF2-40B4-BE49-F238E27FC236}">
                  <a16:creationId xmlns:a16="http://schemas.microsoft.com/office/drawing/2014/main" id="{DA299449-DC79-4BD4-7E06-46FE7311DE95}"/>
                </a:ext>
              </a:extLst>
            </p:cNvPr>
            <p:cNvSpPr/>
            <p:nvPr/>
          </p:nvSpPr>
          <p:spPr>
            <a:xfrm>
              <a:off x="470215" y="3429262"/>
              <a:ext cx="916540" cy="91654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28" name="Google Shape;3192;p39">
              <a:extLst>
                <a:ext uri="{FF2B5EF4-FFF2-40B4-BE49-F238E27FC236}">
                  <a16:creationId xmlns:a16="http://schemas.microsoft.com/office/drawing/2014/main" id="{C94564DA-2D4D-F63A-B3DA-7DC09D2D11FB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625300" y="3584347"/>
              <a:ext cx="606370" cy="60637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9" name="Google Shape;3193;p39">
            <a:extLst>
              <a:ext uri="{FF2B5EF4-FFF2-40B4-BE49-F238E27FC236}">
                <a16:creationId xmlns:a16="http://schemas.microsoft.com/office/drawing/2014/main" id="{D392530A-E62F-BFA9-BB00-A88CA545CDA0}"/>
              </a:ext>
            </a:extLst>
          </p:cNvPr>
          <p:cNvGrpSpPr/>
          <p:nvPr/>
        </p:nvGrpSpPr>
        <p:grpSpPr>
          <a:xfrm>
            <a:off x="460318" y="2799099"/>
            <a:ext cx="5226106" cy="833218"/>
            <a:chOff x="460318" y="2419110"/>
            <a:chExt cx="5226106" cy="916540"/>
          </a:xfrm>
        </p:grpSpPr>
        <p:grpSp>
          <p:nvGrpSpPr>
            <p:cNvPr id="30" name="Google Shape;3194;p39">
              <a:extLst>
                <a:ext uri="{FF2B5EF4-FFF2-40B4-BE49-F238E27FC236}">
                  <a16:creationId xmlns:a16="http://schemas.microsoft.com/office/drawing/2014/main" id="{659AC070-D937-7AE2-45F9-1FA356207542}"/>
                </a:ext>
              </a:extLst>
            </p:cNvPr>
            <p:cNvGrpSpPr/>
            <p:nvPr/>
          </p:nvGrpSpPr>
          <p:grpSpPr>
            <a:xfrm>
              <a:off x="460318" y="2419110"/>
              <a:ext cx="5226106" cy="916540"/>
              <a:chOff x="460318" y="2792710"/>
              <a:chExt cx="5226106" cy="916540"/>
            </a:xfrm>
          </p:grpSpPr>
          <p:sp>
            <p:nvSpPr>
              <p:cNvPr id="32" name="Google Shape;3195;p39">
                <a:extLst>
                  <a:ext uri="{FF2B5EF4-FFF2-40B4-BE49-F238E27FC236}">
                    <a16:creationId xmlns:a16="http://schemas.microsoft.com/office/drawing/2014/main" id="{6A419E8A-7E66-76E8-F8D8-6EF0C6C093C3}"/>
                  </a:ext>
                </a:extLst>
              </p:cNvPr>
              <p:cNvSpPr txBox="1"/>
              <p:nvPr/>
            </p:nvSpPr>
            <p:spPr>
              <a:xfrm>
                <a:off x="1396652" y="2902457"/>
                <a:ext cx="4289772" cy="6970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73750" tIns="73750" rIns="73750" bIns="7375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500"/>
                  <a:buFont typeface="Arial"/>
                  <a:buNone/>
                </a:pPr>
                <a:r>
                  <a:rPr lang="en-US" sz="15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There is a higher possibility of failure </a:t>
                </a:r>
                <a:r>
                  <a:rPr lang="en-US" sz="15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  <a:extLst>
                      <a:ext uri="http://customooxmlschemas.google.com/">
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1"/>
                      </a:ext>
                    </a:extLst>
                  </a:rPr>
                  <a:t>throughout communication between totally different services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" name="Google Shape;3196;p39">
                <a:extLst>
                  <a:ext uri="{FF2B5EF4-FFF2-40B4-BE49-F238E27FC236}">
                    <a16:creationId xmlns:a16="http://schemas.microsoft.com/office/drawing/2014/main" id="{E5DBAFD7-084A-4AE7-28CF-54B9BFEB3544}"/>
                  </a:ext>
                </a:extLst>
              </p:cNvPr>
              <p:cNvSpPr/>
              <p:nvPr/>
            </p:nvSpPr>
            <p:spPr>
              <a:xfrm>
                <a:off x="460318" y="2792710"/>
                <a:ext cx="916540" cy="91654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pic>
          <p:nvPicPr>
            <p:cNvPr id="31" name="Google Shape;3197;p39">
              <a:extLst>
                <a:ext uri="{FF2B5EF4-FFF2-40B4-BE49-F238E27FC236}">
                  <a16:creationId xmlns:a16="http://schemas.microsoft.com/office/drawing/2014/main" id="{A27A1D67-ECA7-B386-84D3-634F6D8A09E6}"/>
                </a:ext>
              </a:extLst>
            </p:cNvPr>
            <p:cNvPicPr preferRelativeResize="0"/>
            <p:nvPr/>
          </p:nvPicPr>
          <p:blipFill rotWithShape="1">
            <a:blip r:embed="rId10">
              <a:alphaModFix/>
            </a:blip>
            <a:srcRect/>
            <a:stretch/>
          </p:blipFill>
          <p:spPr>
            <a:xfrm>
              <a:off x="618963" y="2537753"/>
              <a:ext cx="600866" cy="67409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944149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aphicFrame>
        <p:nvGraphicFramePr>
          <p:cNvPr id="9" name="Google Shape;3202;p40">
            <a:extLst>
              <a:ext uri="{FF2B5EF4-FFF2-40B4-BE49-F238E27FC236}">
                <a16:creationId xmlns:a16="http://schemas.microsoft.com/office/drawing/2014/main" id="{9DCAEA27-6C5A-C83B-76BD-7406C45B6B5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30383649"/>
              </p:ext>
            </p:extLst>
          </p:nvPr>
        </p:nvGraphicFramePr>
        <p:xfrm>
          <a:off x="934817" y="1810516"/>
          <a:ext cx="10322350" cy="4648307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184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7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7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65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Key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Monolithic 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</a:t>
                      </a:r>
                      <a:r>
                        <a:rPr lang="en-US" sz="1600" b="1" i="0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rchitecture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969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600" b="1" i="0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Microservices</a:t>
                      </a:r>
                      <a:r>
                        <a:rPr lang="en-US" sz="1600" b="1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A</a:t>
                      </a:r>
                      <a:r>
                        <a:rPr lang="en-US" sz="1600" b="1" i="0" u="none" strike="noStrike" cap="non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rchitecture</a:t>
                      </a:r>
                      <a:endParaRPr sz="1600" u="none" strike="noStrike" cap="none">
                        <a:solidFill>
                          <a:schemeClr val="lt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96969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129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Basic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is built as one large system and has a single codebase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2"/>
                            </a:ext>
                          </a:extLst>
                        </a:rPr>
                        <a:t> 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framework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Microservices architecture is made up of small independent modules based on business functionality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129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Scale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 cannot be scaled easily 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based on increases in demand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 can be scaled easily based on increases in demand</a:t>
                      </a:r>
                      <a:endParaRPr sz="15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endParaRPr sz="150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Database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 has a shared database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 most cases, 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3"/>
                            </a:ext>
                          </a:extLst>
                        </a:rPr>
                        <a:t>modules ha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4"/>
                            </a:ext>
                          </a:extLst>
                        </a:rPr>
                        <a:t>ve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5"/>
                            </a:ext>
                          </a:extLst>
                        </a:rPr>
                        <a:t> their own database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3129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Deployment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 single and massive codebase makes development slow and time consuming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Since e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ach project is independent and small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,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6"/>
                            </a:ext>
                          </a:extLst>
                        </a:rPr>
                        <a:t>overall time require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7"/>
                            </a:ext>
                          </a:extLst>
                        </a:rPr>
                        <a:t>d </a:t>
                      </a: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8"/>
                            </a:ext>
                          </a:extLst>
                        </a:rPr>
                        <a:t>for building and development is less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5296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Tightly </a:t>
                      </a:r>
                      <a:r>
                        <a:rPr lang="en-US" sz="1500" b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</a:t>
                      </a: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oupled and </a:t>
                      </a:r>
                      <a:r>
                        <a:rPr lang="en-US" sz="1500" b="1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</a:t>
                      </a:r>
                      <a:r>
                        <a:rPr lang="en-US" sz="1500" b="1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oosely coupled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b="0" i="0" u="none" strike="noStrike" cap="none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 is extremely difficult to vary the technology, language, or framework because everything is tightly coupled and </a:t>
                      </a:r>
                      <a:r>
                        <a:rPr lang="en-US" sz="150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interdependent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500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It is e</a:t>
                      </a:r>
                      <a:r>
                        <a:rPr lang="en-US" sz="1500" b="0" i="0" u="none" strike="noStrike" cap="none" dirty="0">
                          <a:solidFill>
                            <a:schemeClr val="dk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asy to vary the technology or framework, as every module and project is independent</a:t>
                      </a:r>
                      <a:endParaRPr sz="1500" u="none" strike="noStrike" cap="none" dirty="0">
                        <a:solidFill>
                          <a:schemeClr val="dk1"/>
                        </a:solidFill>
                        <a:latin typeface="Lato"/>
                        <a:ea typeface="Lato"/>
                        <a:cs typeface="Lato"/>
                        <a:sym typeface="Lato"/>
                      </a:endParaRPr>
                    </a:p>
                  </a:txBody>
                  <a:tcPr marL="91450" marR="91450" marT="83136" marB="83136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Google Shape;3204;p40">
            <a:extLst>
              <a:ext uri="{FF2B5EF4-FFF2-40B4-BE49-F238E27FC236}">
                <a16:creationId xmlns:a16="http://schemas.microsoft.com/office/drawing/2014/main" id="{F5EE17AF-38D0-70F6-E9E7-7497C82BAEA1}"/>
              </a:ext>
            </a:extLst>
          </p:cNvPr>
          <p:cNvSpPr txBox="1"/>
          <p:nvPr/>
        </p:nvSpPr>
        <p:spPr>
          <a:xfrm>
            <a:off x="1936569" y="1267987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DIFFERENCE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6602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209;p41">
            <a:extLst>
              <a:ext uri="{FF2B5EF4-FFF2-40B4-BE49-F238E27FC236}">
                <a16:creationId xmlns:a16="http://schemas.microsoft.com/office/drawing/2014/main" id="{286A1BC3-098E-2033-09C7-9C9ECF15C742}"/>
              </a:ext>
            </a:extLst>
          </p:cNvPr>
          <p:cNvSpPr txBox="1"/>
          <p:nvPr/>
        </p:nvSpPr>
        <p:spPr>
          <a:xfrm>
            <a:off x="648681" y="2636258"/>
            <a:ext cx="5282100" cy="197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Initially a global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axi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echnology company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Started its journey with monolithic architecture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;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one codebase, which was the core business logic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ingle codebase to manage user info, driver info, notifications, logins, etc.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Faced issues with scalability and continuous integration as it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expanded across the globe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" name="Google Shape;3210;p41">
            <a:extLst>
              <a:ext uri="{FF2B5EF4-FFF2-40B4-BE49-F238E27FC236}">
                <a16:creationId xmlns:a16="http://schemas.microsoft.com/office/drawing/2014/main" id="{D2CA5972-316D-9D2E-C141-C9330B032232}"/>
              </a:ext>
            </a:extLst>
          </p:cNvPr>
          <p:cNvGrpSpPr/>
          <p:nvPr/>
        </p:nvGrpSpPr>
        <p:grpSpPr>
          <a:xfrm>
            <a:off x="6304473" y="1177091"/>
            <a:ext cx="5238847" cy="5162187"/>
            <a:chOff x="6304473" y="847907"/>
            <a:chExt cx="5238847" cy="5162187"/>
          </a:xfrm>
        </p:grpSpPr>
        <p:sp>
          <p:nvSpPr>
            <p:cNvPr id="11" name="Google Shape;3211;p41">
              <a:extLst>
                <a:ext uri="{FF2B5EF4-FFF2-40B4-BE49-F238E27FC236}">
                  <a16:creationId xmlns:a16="http://schemas.microsoft.com/office/drawing/2014/main" id="{E0993786-D011-A6A6-B63B-46F1E90CC286}"/>
                </a:ext>
              </a:extLst>
            </p:cNvPr>
            <p:cNvSpPr/>
            <p:nvPr/>
          </p:nvSpPr>
          <p:spPr>
            <a:xfrm>
              <a:off x="8552949" y="3115815"/>
              <a:ext cx="1941226" cy="1716068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3212;p41">
              <a:extLst>
                <a:ext uri="{FF2B5EF4-FFF2-40B4-BE49-F238E27FC236}">
                  <a16:creationId xmlns:a16="http://schemas.microsoft.com/office/drawing/2014/main" id="{1B8B667F-D975-DA1A-DFD3-6F4685C215DF}"/>
                </a:ext>
              </a:extLst>
            </p:cNvPr>
            <p:cNvSpPr/>
            <p:nvPr/>
          </p:nvSpPr>
          <p:spPr>
            <a:xfrm rot="5400000">
              <a:off x="7875856" y="2433540"/>
              <a:ext cx="3383365" cy="2990937"/>
            </a:xfrm>
            <a:prstGeom prst="hexagon">
              <a:avLst>
                <a:gd name="adj" fmla="val 25000"/>
                <a:gd name="vf" fmla="val 115470"/>
              </a:avLst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13" name="Google Shape;3213;p41">
              <a:extLst>
                <a:ext uri="{FF2B5EF4-FFF2-40B4-BE49-F238E27FC236}">
                  <a16:creationId xmlns:a16="http://schemas.microsoft.com/office/drawing/2014/main" id="{1AEEE63A-C039-6717-E374-AE17A4207257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6799" t="37885" r="50473" b="33505"/>
            <a:stretch/>
          </p:blipFill>
          <p:spPr>
            <a:xfrm>
              <a:off x="9066342" y="3045571"/>
              <a:ext cx="822069" cy="8466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3214;p41">
              <a:extLst>
                <a:ext uri="{FF2B5EF4-FFF2-40B4-BE49-F238E27FC236}">
                  <a16:creationId xmlns:a16="http://schemas.microsoft.com/office/drawing/2014/main" id="{CB4A7113-806C-5DC7-D105-9838C8ECFA0F}"/>
                </a:ext>
              </a:extLst>
            </p:cNvPr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8891999" y="4113261"/>
              <a:ext cx="650180" cy="6501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" name="Google Shape;3215;p41">
              <a:extLst>
                <a:ext uri="{FF2B5EF4-FFF2-40B4-BE49-F238E27FC236}">
                  <a16:creationId xmlns:a16="http://schemas.microsoft.com/office/drawing/2014/main" id="{02C7AD75-1F2E-D9E0-BC89-7A37452B4198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9329997" y="3973849"/>
              <a:ext cx="869430" cy="8694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" name="Google Shape;3216;p41">
              <a:extLst>
                <a:ext uri="{FF2B5EF4-FFF2-40B4-BE49-F238E27FC236}">
                  <a16:creationId xmlns:a16="http://schemas.microsoft.com/office/drawing/2014/main" id="{2930CB83-109B-603A-6E54-0E827886CC94}"/>
                </a:ext>
              </a:extLst>
            </p:cNvPr>
            <p:cNvPicPr preferRelativeResize="0"/>
            <p:nvPr/>
          </p:nvPicPr>
          <p:blipFill rotWithShape="1">
            <a:blip r:embed="rId9">
              <a:alphaModFix/>
            </a:blip>
            <a:srcRect l="11096" t="11096" r="11096" b="11096"/>
            <a:stretch/>
          </p:blipFill>
          <p:spPr>
            <a:xfrm>
              <a:off x="9691264" y="3736660"/>
              <a:ext cx="508163" cy="404134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7" name="Google Shape;3217;p41">
              <a:extLst>
                <a:ext uri="{FF2B5EF4-FFF2-40B4-BE49-F238E27FC236}">
                  <a16:creationId xmlns:a16="http://schemas.microsoft.com/office/drawing/2014/main" id="{4547469C-F34E-94F6-AAE2-400EE8A08E25}"/>
                </a:ext>
              </a:extLst>
            </p:cNvPr>
            <p:cNvGrpSpPr/>
            <p:nvPr/>
          </p:nvGrpSpPr>
          <p:grpSpPr>
            <a:xfrm>
              <a:off x="9171877" y="847907"/>
              <a:ext cx="788798" cy="788798"/>
              <a:chOff x="8940800" y="798279"/>
              <a:chExt cx="929286" cy="929286"/>
            </a:xfrm>
          </p:grpSpPr>
          <p:sp>
            <p:nvSpPr>
              <p:cNvPr id="44" name="Google Shape;3218;p41">
                <a:extLst>
                  <a:ext uri="{FF2B5EF4-FFF2-40B4-BE49-F238E27FC236}">
                    <a16:creationId xmlns:a16="http://schemas.microsoft.com/office/drawing/2014/main" id="{F321B3BB-FAD6-0A75-8F21-3769B466625F}"/>
                  </a:ext>
                </a:extLst>
              </p:cNvPr>
              <p:cNvSpPr/>
              <p:nvPr/>
            </p:nvSpPr>
            <p:spPr>
              <a:xfrm>
                <a:off x="8940800" y="798279"/>
                <a:ext cx="929286" cy="929286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5" name="Google Shape;3219;p41">
                <a:extLst>
                  <a:ext uri="{FF2B5EF4-FFF2-40B4-BE49-F238E27FC236}">
                    <a16:creationId xmlns:a16="http://schemas.microsoft.com/office/drawing/2014/main" id="{DD119F1D-079C-1203-2ACF-978D2FC7A126}"/>
                  </a:ext>
                </a:extLst>
              </p:cNvPr>
              <p:cNvPicPr preferRelativeResize="0"/>
              <p:nvPr/>
            </p:nvPicPr>
            <p:blipFill rotWithShape="1">
              <a:blip r:embed="rId10">
                <a:alphaModFix/>
              </a:blip>
              <a:srcRect/>
              <a:stretch/>
            </p:blipFill>
            <p:spPr>
              <a:xfrm>
                <a:off x="9125142" y="982553"/>
                <a:ext cx="560603" cy="560738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18" name="Google Shape;3220;p41">
              <a:extLst>
                <a:ext uri="{FF2B5EF4-FFF2-40B4-BE49-F238E27FC236}">
                  <a16:creationId xmlns:a16="http://schemas.microsoft.com/office/drawing/2014/main" id="{7F2500DF-D23B-DB45-1F53-BA0E1AB20A61}"/>
                </a:ext>
              </a:extLst>
            </p:cNvPr>
            <p:cNvPicPr preferRelativeResize="0"/>
            <p:nvPr/>
          </p:nvPicPr>
          <p:blipFill rotWithShape="1">
            <a:blip r:embed="rId11">
              <a:alphaModFix/>
            </a:blip>
            <a:srcRect l="74218" t="3849" r="3605" b="64484"/>
            <a:stretch/>
          </p:blipFill>
          <p:spPr>
            <a:xfrm>
              <a:off x="8657613" y="3520171"/>
              <a:ext cx="783696" cy="88456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" name="Google Shape;3221;p41">
              <a:extLst>
                <a:ext uri="{FF2B5EF4-FFF2-40B4-BE49-F238E27FC236}">
                  <a16:creationId xmlns:a16="http://schemas.microsoft.com/office/drawing/2014/main" id="{CE3568E8-641B-9C0B-0DEE-CA7CD738E003}"/>
                </a:ext>
              </a:extLst>
            </p:cNvPr>
            <p:cNvPicPr preferRelativeResize="0"/>
            <p:nvPr/>
          </p:nvPicPr>
          <p:blipFill rotWithShape="1">
            <a:blip r:embed="rId12">
              <a:alphaModFix/>
            </a:blip>
            <a:srcRect l="49847" t="7309" r="29514" b="64484"/>
            <a:stretch/>
          </p:blipFill>
          <p:spPr>
            <a:xfrm>
              <a:off x="9060841" y="3580358"/>
              <a:ext cx="783696" cy="84659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" name="Google Shape;3222;p41">
              <a:extLst>
                <a:ext uri="{FF2B5EF4-FFF2-40B4-BE49-F238E27FC236}">
                  <a16:creationId xmlns:a16="http://schemas.microsoft.com/office/drawing/2014/main" id="{9D326B4B-22DF-B12E-C1F8-2949E5130569}"/>
                </a:ext>
              </a:extLst>
            </p:cNvPr>
            <p:cNvSpPr/>
            <p:nvPr/>
          </p:nvSpPr>
          <p:spPr>
            <a:xfrm>
              <a:off x="7668299" y="2722325"/>
              <a:ext cx="989314" cy="52092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Rest API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3223;p41">
              <a:extLst>
                <a:ext uri="{FF2B5EF4-FFF2-40B4-BE49-F238E27FC236}">
                  <a16:creationId xmlns:a16="http://schemas.microsoft.com/office/drawing/2014/main" id="{632C1219-F97D-6297-2686-DD91D3D9C943}"/>
                </a:ext>
              </a:extLst>
            </p:cNvPr>
            <p:cNvSpPr/>
            <p:nvPr/>
          </p:nvSpPr>
          <p:spPr>
            <a:xfrm>
              <a:off x="9054605" y="2066226"/>
              <a:ext cx="989314" cy="52092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Database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3224;p41">
              <a:extLst>
                <a:ext uri="{FF2B5EF4-FFF2-40B4-BE49-F238E27FC236}">
                  <a16:creationId xmlns:a16="http://schemas.microsoft.com/office/drawing/2014/main" id="{8EDA5999-B41C-A568-A521-01BC889B08BD}"/>
                </a:ext>
              </a:extLst>
            </p:cNvPr>
            <p:cNvSpPr/>
            <p:nvPr/>
          </p:nvSpPr>
          <p:spPr>
            <a:xfrm>
              <a:off x="10554006" y="2785110"/>
              <a:ext cx="989314" cy="52092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Adapter 1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3225;p41">
              <a:extLst>
                <a:ext uri="{FF2B5EF4-FFF2-40B4-BE49-F238E27FC236}">
                  <a16:creationId xmlns:a16="http://schemas.microsoft.com/office/drawing/2014/main" id="{B2F5936B-4CB7-E775-1B0A-73FE60931A7C}"/>
                </a:ext>
              </a:extLst>
            </p:cNvPr>
            <p:cNvSpPr/>
            <p:nvPr/>
          </p:nvSpPr>
          <p:spPr>
            <a:xfrm>
              <a:off x="10554006" y="4571422"/>
              <a:ext cx="989314" cy="52092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Adapter 2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3226;p41">
              <a:extLst>
                <a:ext uri="{FF2B5EF4-FFF2-40B4-BE49-F238E27FC236}">
                  <a16:creationId xmlns:a16="http://schemas.microsoft.com/office/drawing/2014/main" id="{B8A359C0-ACA4-AF03-DBB8-6F109611A108}"/>
                </a:ext>
              </a:extLst>
            </p:cNvPr>
            <p:cNvSpPr/>
            <p:nvPr/>
          </p:nvSpPr>
          <p:spPr>
            <a:xfrm>
              <a:off x="9072880" y="5313341"/>
              <a:ext cx="989314" cy="52092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Adapter 3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3227;p41">
              <a:extLst>
                <a:ext uri="{FF2B5EF4-FFF2-40B4-BE49-F238E27FC236}">
                  <a16:creationId xmlns:a16="http://schemas.microsoft.com/office/drawing/2014/main" id="{4C8DC627-656E-D9A2-04A7-1F6D44FFFB5C}"/>
                </a:ext>
              </a:extLst>
            </p:cNvPr>
            <p:cNvSpPr/>
            <p:nvPr/>
          </p:nvSpPr>
          <p:spPr>
            <a:xfrm>
              <a:off x="7548106" y="4561383"/>
              <a:ext cx="989314" cy="520922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rPr>
                <a:t>Browser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3228;p41">
              <a:extLst>
                <a:ext uri="{FF2B5EF4-FFF2-40B4-BE49-F238E27FC236}">
                  <a16:creationId xmlns:a16="http://schemas.microsoft.com/office/drawing/2014/main" id="{54581B66-C73C-DA54-EFCD-8BD96C7DCD7C}"/>
                </a:ext>
              </a:extLst>
            </p:cNvPr>
            <p:cNvSpPr/>
            <p:nvPr/>
          </p:nvSpPr>
          <p:spPr>
            <a:xfrm flipH="1">
              <a:off x="9511276" y="2587147"/>
              <a:ext cx="45719" cy="528667"/>
            </a:xfrm>
            <a:custGeom>
              <a:avLst/>
              <a:gdLst/>
              <a:ahLst/>
              <a:cxnLst/>
              <a:rect l="l" t="t" r="r" b="b"/>
              <a:pathLst>
                <a:path w="120000" h="533400" extrusionOk="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3229;p41">
              <a:extLst>
                <a:ext uri="{FF2B5EF4-FFF2-40B4-BE49-F238E27FC236}">
                  <a16:creationId xmlns:a16="http://schemas.microsoft.com/office/drawing/2014/main" id="{97E50AFB-973F-1488-0D17-3275AAF02896}"/>
                </a:ext>
              </a:extLst>
            </p:cNvPr>
            <p:cNvSpPr/>
            <p:nvPr/>
          </p:nvSpPr>
          <p:spPr>
            <a:xfrm rot="-2911224" flipH="1">
              <a:off x="8478471" y="3173538"/>
              <a:ext cx="45719" cy="553553"/>
            </a:xfrm>
            <a:custGeom>
              <a:avLst/>
              <a:gdLst/>
              <a:ahLst/>
              <a:cxnLst/>
              <a:rect l="l" t="t" r="r" b="b"/>
              <a:pathLst>
                <a:path w="120000" h="533400" extrusionOk="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3230;p41">
              <a:extLst>
                <a:ext uri="{FF2B5EF4-FFF2-40B4-BE49-F238E27FC236}">
                  <a16:creationId xmlns:a16="http://schemas.microsoft.com/office/drawing/2014/main" id="{31DF4F6B-772D-834F-AFC3-DE15C776A2FB}"/>
                </a:ext>
              </a:extLst>
            </p:cNvPr>
            <p:cNvSpPr/>
            <p:nvPr/>
          </p:nvSpPr>
          <p:spPr>
            <a:xfrm rot="2911224" flipH="1">
              <a:off x="10593577" y="3191529"/>
              <a:ext cx="45719" cy="657888"/>
            </a:xfrm>
            <a:custGeom>
              <a:avLst/>
              <a:gdLst/>
              <a:ahLst/>
              <a:cxnLst/>
              <a:rect l="l" t="t" r="r" b="b"/>
              <a:pathLst>
                <a:path w="120000" h="533400" extrusionOk="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3231;p41">
              <a:extLst>
                <a:ext uri="{FF2B5EF4-FFF2-40B4-BE49-F238E27FC236}">
                  <a16:creationId xmlns:a16="http://schemas.microsoft.com/office/drawing/2014/main" id="{B2F90368-171C-01DC-92C9-04526D01DB03}"/>
                </a:ext>
              </a:extLst>
            </p:cNvPr>
            <p:cNvSpPr/>
            <p:nvPr/>
          </p:nvSpPr>
          <p:spPr>
            <a:xfrm rot="10800000">
              <a:off x="9511274" y="4821843"/>
              <a:ext cx="55002" cy="491497"/>
            </a:xfrm>
            <a:custGeom>
              <a:avLst/>
              <a:gdLst/>
              <a:ahLst/>
              <a:cxnLst/>
              <a:rect l="l" t="t" r="r" b="b"/>
              <a:pathLst>
                <a:path w="120000" h="533400" extrusionOk="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232;p41">
              <a:extLst>
                <a:ext uri="{FF2B5EF4-FFF2-40B4-BE49-F238E27FC236}">
                  <a16:creationId xmlns:a16="http://schemas.microsoft.com/office/drawing/2014/main" id="{4DFD5EE3-2EDB-680E-478C-38B12A0A7C66}"/>
                </a:ext>
              </a:extLst>
            </p:cNvPr>
            <p:cNvSpPr/>
            <p:nvPr/>
          </p:nvSpPr>
          <p:spPr>
            <a:xfrm>
              <a:off x="8210798" y="4383580"/>
              <a:ext cx="556260" cy="175260"/>
            </a:xfrm>
            <a:custGeom>
              <a:avLst/>
              <a:gdLst/>
              <a:ahLst/>
              <a:cxnLst/>
              <a:rect l="l" t="t" r="r" b="b"/>
              <a:pathLst>
                <a:path w="556260" h="175260" extrusionOk="0">
                  <a:moveTo>
                    <a:pt x="556260" y="0"/>
                  </a:moveTo>
                  <a:lnTo>
                    <a:pt x="0" y="17526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233;p41">
              <a:extLst>
                <a:ext uri="{FF2B5EF4-FFF2-40B4-BE49-F238E27FC236}">
                  <a16:creationId xmlns:a16="http://schemas.microsoft.com/office/drawing/2014/main" id="{215DD6A7-A49A-2E65-5ACD-23215002E79A}"/>
                </a:ext>
              </a:extLst>
            </p:cNvPr>
            <p:cNvSpPr/>
            <p:nvPr/>
          </p:nvSpPr>
          <p:spPr>
            <a:xfrm>
              <a:off x="10283438" y="4383580"/>
              <a:ext cx="655320" cy="190500"/>
            </a:xfrm>
            <a:custGeom>
              <a:avLst/>
              <a:gdLst/>
              <a:ahLst/>
              <a:cxnLst/>
              <a:rect l="l" t="t" r="r" b="b"/>
              <a:pathLst>
                <a:path w="655320" h="190500" extrusionOk="0">
                  <a:moveTo>
                    <a:pt x="0" y="0"/>
                  </a:moveTo>
                  <a:lnTo>
                    <a:pt x="655320" y="19050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34;p41">
              <a:extLst>
                <a:ext uri="{FF2B5EF4-FFF2-40B4-BE49-F238E27FC236}">
                  <a16:creationId xmlns:a16="http://schemas.microsoft.com/office/drawing/2014/main" id="{4737FBBB-20A6-0132-FE7E-3A262F894C4C}"/>
                </a:ext>
              </a:extLst>
            </p:cNvPr>
            <p:cNvSpPr/>
            <p:nvPr/>
          </p:nvSpPr>
          <p:spPr>
            <a:xfrm flipH="1">
              <a:off x="9511274" y="1643525"/>
              <a:ext cx="45719" cy="409528"/>
            </a:xfrm>
            <a:custGeom>
              <a:avLst/>
              <a:gdLst/>
              <a:ahLst/>
              <a:cxnLst/>
              <a:rect l="l" t="t" r="r" b="b"/>
              <a:pathLst>
                <a:path w="120000" h="533400" extrusionOk="0">
                  <a:moveTo>
                    <a:pt x="0" y="0"/>
                  </a:moveTo>
                  <a:lnTo>
                    <a:pt x="0" y="533400"/>
                  </a:lnTo>
                </a:path>
              </a:pathLst>
            </a:cu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33" name="Google Shape;3235;p41">
              <a:extLst>
                <a:ext uri="{FF2B5EF4-FFF2-40B4-BE49-F238E27FC236}">
                  <a16:creationId xmlns:a16="http://schemas.microsoft.com/office/drawing/2014/main" id="{AE640450-D000-CA1A-9034-55A58BDCD85D}"/>
                </a:ext>
              </a:extLst>
            </p:cNvPr>
            <p:cNvGrpSpPr/>
            <p:nvPr/>
          </p:nvGrpSpPr>
          <p:grpSpPr>
            <a:xfrm>
              <a:off x="6318556" y="2030797"/>
              <a:ext cx="869430" cy="869430"/>
              <a:chOff x="6497378" y="2066817"/>
              <a:chExt cx="869430" cy="869430"/>
            </a:xfrm>
          </p:grpSpPr>
          <p:sp>
            <p:nvSpPr>
              <p:cNvPr id="42" name="Google Shape;3236;p41">
                <a:extLst>
                  <a:ext uri="{FF2B5EF4-FFF2-40B4-BE49-F238E27FC236}">
                    <a16:creationId xmlns:a16="http://schemas.microsoft.com/office/drawing/2014/main" id="{51C49AC5-0820-4C0A-9E5A-B514FDDEC698}"/>
                  </a:ext>
                </a:extLst>
              </p:cNvPr>
              <p:cNvSpPr/>
              <p:nvPr/>
            </p:nvSpPr>
            <p:spPr>
              <a:xfrm>
                <a:off x="6534331" y="2107133"/>
                <a:ext cx="788798" cy="788798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3" name="Google Shape;3237;p41">
                <a:extLst>
                  <a:ext uri="{FF2B5EF4-FFF2-40B4-BE49-F238E27FC236}">
                    <a16:creationId xmlns:a16="http://schemas.microsoft.com/office/drawing/2014/main" id="{2C036E0E-FE83-B92B-45B5-B588214C8CA2}"/>
                  </a:ext>
                </a:extLst>
              </p:cNvPr>
              <p:cNvPicPr preferRelativeResize="0"/>
              <p:nvPr/>
            </p:nvPicPr>
            <p:blipFill rotWithShape="1">
              <a:blip r:embed="rId8">
                <a:alphaModFix/>
              </a:blip>
              <a:srcRect/>
              <a:stretch/>
            </p:blipFill>
            <p:spPr>
              <a:xfrm>
                <a:off x="6497378" y="2066817"/>
                <a:ext cx="869430" cy="86943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34" name="Google Shape;3238;p41">
              <a:extLst>
                <a:ext uri="{FF2B5EF4-FFF2-40B4-BE49-F238E27FC236}">
                  <a16:creationId xmlns:a16="http://schemas.microsoft.com/office/drawing/2014/main" id="{76D04647-B621-5FFB-F575-799C2493CFB6}"/>
                </a:ext>
              </a:extLst>
            </p:cNvPr>
            <p:cNvCxnSpPr>
              <a:stCxn id="20" idx="1"/>
            </p:cNvCxnSpPr>
            <p:nvPr/>
          </p:nvCxnSpPr>
          <p:spPr>
            <a:xfrm rot="10800000">
              <a:off x="7107899" y="2621586"/>
              <a:ext cx="560400" cy="3612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sp>
          <p:nvSpPr>
            <p:cNvPr id="35" name="Google Shape;3239;p41">
              <a:extLst>
                <a:ext uri="{FF2B5EF4-FFF2-40B4-BE49-F238E27FC236}">
                  <a16:creationId xmlns:a16="http://schemas.microsoft.com/office/drawing/2014/main" id="{C791220F-26B5-CEF5-9FF7-3600482A29E7}"/>
                </a:ext>
              </a:extLst>
            </p:cNvPr>
            <p:cNvSpPr/>
            <p:nvPr/>
          </p:nvSpPr>
          <p:spPr>
            <a:xfrm>
              <a:off x="6355509" y="3485852"/>
              <a:ext cx="788798" cy="788798"/>
            </a:xfrm>
            <a:prstGeom prst="ellipse">
              <a:avLst/>
            </a:prstGeom>
            <a:solidFill>
              <a:schemeClr val="lt1"/>
            </a:solidFill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cxnSp>
          <p:nvCxnSpPr>
            <p:cNvPr id="36" name="Google Shape;3240;p41">
              <a:extLst>
                <a:ext uri="{FF2B5EF4-FFF2-40B4-BE49-F238E27FC236}">
                  <a16:creationId xmlns:a16="http://schemas.microsoft.com/office/drawing/2014/main" id="{177912AF-C9B9-F845-B943-72A965D29E9B}"/>
                </a:ext>
              </a:extLst>
            </p:cNvPr>
            <p:cNvCxnSpPr>
              <a:stCxn id="20" idx="1"/>
            </p:cNvCxnSpPr>
            <p:nvPr/>
          </p:nvCxnSpPr>
          <p:spPr>
            <a:xfrm flipH="1">
              <a:off x="6981899" y="2982786"/>
              <a:ext cx="686400" cy="5580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37" name="Google Shape;3241;p41">
              <a:extLst>
                <a:ext uri="{FF2B5EF4-FFF2-40B4-BE49-F238E27FC236}">
                  <a16:creationId xmlns:a16="http://schemas.microsoft.com/office/drawing/2014/main" id="{C3EF76CC-D672-FFF8-BC08-A58F03333358}"/>
                </a:ext>
              </a:extLst>
            </p:cNvPr>
            <p:cNvCxnSpPr>
              <a:stCxn id="25" idx="2"/>
              <a:endCxn id="40" idx="6"/>
            </p:cNvCxnSpPr>
            <p:nvPr/>
          </p:nvCxnSpPr>
          <p:spPr>
            <a:xfrm flipH="1">
              <a:off x="7093263" y="5082305"/>
              <a:ext cx="949500" cy="533400"/>
            </a:xfrm>
            <a:prstGeom prst="straightConnector1">
              <a:avLst/>
            </a:prstGeom>
            <a:noFill/>
            <a:ln w="1905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grpSp>
          <p:nvGrpSpPr>
            <p:cNvPr id="38" name="Google Shape;3243;p41">
              <a:extLst>
                <a:ext uri="{FF2B5EF4-FFF2-40B4-BE49-F238E27FC236}">
                  <a16:creationId xmlns:a16="http://schemas.microsoft.com/office/drawing/2014/main" id="{E7E7B7BC-D08F-23AE-86CA-83A53A93DCBB}"/>
                </a:ext>
              </a:extLst>
            </p:cNvPr>
            <p:cNvGrpSpPr/>
            <p:nvPr/>
          </p:nvGrpSpPr>
          <p:grpSpPr>
            <a:xfrm>
              <a:off x="6304473" y="5221296"/>
              <a:ext cx="788798" cy="788798"/>
              <a:chOff x="6483295" y="5257316"/>
              <a:chExt cx="788798" cy="788798"/>
            </a:xfrm>
          </p:grpSpPr>
          <p:sp>
            <p:nvSpPr>
              <p:cNvPr id="40" name="Google Shape;3242;p41">
                <a:extLst>
                  <a:ext uri="{FF2B5EF4-FFF2-40B4-BE49-F238E27FC236}">
                    <a16:creationId xmlns:a16="http://schemas.microsoft.com/office/drawing/2014/main" id="{C1816B04-85C4-4991-8865-FE1AE41F0A9F}"/>
                  </a:ext>
                </a:extLst>
              </p:cNvPr>
              <p:cNvSpPr/>
              <p:nvPr/>
            </p:nvSpPr>
            <p:spPr>
              <a:xfrm>
                <a:off x="6483295" y="5257316"/>
                <a:ext cx="788798" cy="788798"/>
              </a:xfrm>
              <a:prstGeom prst="ellipse">
                <a:avLst/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41" name="Google Shape;3244;p41">
                <a:extLst>
                  <a:ext uri="{FF2B5EF4-FFF2-40B4-BE49-F238E27FC236}">
                    <a16:creationId xmlns:a16="http://schemas.microsoft.com/office/drawing/2014/main" id="{88966F83-BCA1-0E9C-AD3E-66468931A301}"/>
                  </a:ext>
                </a:extLst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 t="11469" b="7955"/>
              <a:stretch/>
            </p:blipFill>
            <p:spPr>
              <a:xfrm>
                <a:off x="6631841" y="5485036"/>
                <a:ext cx="491707" cy="33335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39" name="Google Shape;3245;p41">
              <a:extLst>
                <a:ext uri="{FF2B5EF4-FFF2-40B4-BE49-F238E27FC236}">
                  <a16:creationId xmlns:a16="http://schemas.microsoft.com/office/drawing/2014/main" id="{6F5F8050-8E26-E18F-0E39-148B9E951AD2}"/>
                </a:ext>
              </a:extLst>
            </p:cNvPr>
            <p:cNvPicPr preferRelativeResize="0"/>
            <p:nvPr/>
          </p:nvPicPr>
          <p:blipFill rotWithShape="1">
            <a:blip r:embed="rId6">
              <a:alphaModFix/>
            </a:blip>
            <a:srcRect l="26799" t="37885" r="50473" b="33505"/>
            <a:stretch/>
          </p:blipFill>
          <p:spPr>
            <a:xfrm>
              <a:off x="6345379" y="3509020"/>
              <a:ext cx="822069" cy="84663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6" name="Google Shape;3246;p41">
            <a:extLst>
              <a:ext uri="{FF2B5EF4-FFF2-40B4-BE49-F238E27FC236}">
                <a16:creationId xmlns:a16="http://schemas.microsoft.com/office/drawing/2014/main" id="{C2DE5A1E-7E0F-23E9-22BE-1343AE430366}"/>
              </a:ext>
            </a:extLst>
          </p:cNvPr>
          <p:cNvSpPr txBox="1"/>
          <p:nvPr/>
        </p:nvSpPr>
        <p:spPr>
          <a:xfrm>
            <a:off x="1581369" y="1826754"/>
            <a:ext cx="34167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</a:rPr>
              <a:t>USE CASE: UBER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79360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252;gaa46748daa_1_112">
            <a:extLst>
              <a:ext uri="{FF2B5EF4-FFF2-40B4-BE49-F238E27FC236}">
                <a16:creationId xmlns:a16="http://schemas.microsoft.com/office/drawing/2014/main" id="{9A002559-0B4A-7ECF-0134-7C9FADF88C28}"/>
              </a:ext>
            </a:extLst>
          </p:cNvPr>
          <p:cNvSpPr txBox="1"/>
          <p:nvPr/>
        </p:nvSpPr>
        <p:spPr>
          <a:xfrm>
            <a:off x="615119" y="1953706"/>
            <a:ext cx="341658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</a:rPr>
              <a:t>USE CASE: UBER</a:t>
            </a:r>
            <a:endParaRPr/>
          </a:p>
        </p:txBody>
      </p:sp>
      <p:sp>
        <p:nvSpPr>
          <p:cNvPr id="10" name="Google Shape;3253;gaa46748daa_1_112">
            <a:extLst>
              <a:ext uri="{FF2B5EF4-FFF2-40B4-BE49-F238E27FC236}">
                <a16:creationId xmlns:a16="http://schemas.microsoft.com/office/drawing/2014/main" id="{17227DDF-BE2E-5F3B-8672-07812A9895EF}"/>
              </a:ext>
            </a:extLst>
          </p:cNvPr>
          <p:cNvSpPr txBox="1"/>
          <p:nvPr/>
        </p:nvSpPr>
        <p:spPr>
          <a:xfrm>
            <a:off x="369307" y="2581235"/>
            <a:ext cx="3767100" cy="3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solve this,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adopted the microservices approach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he architecture was divided into smaller units, and each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unit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use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REST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API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for inter-communication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The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API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ateway is used to connect the driver with all the passengers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All the internal points are connected to the API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ateways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 a developer wants to update the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river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w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eb UI, they just have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to  update/deploy the new </a:t>
            </a:r>
            <a:r>
              <a:rPr lang="en-US" sz="1600">
                <a:latin typeface="Lato"/>
                <a:ea typeface="Lato"/>
                <a:cs typeface="Lato"/>
                <a:sym typeface="Lato"/>
              </a:rPr>
              <a:t>d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river UI microservice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1" name="Google Shape;3254;gaa46748daa_1_112">
            <a:extLst>
              <a:ext uri="{FF2B5EF4-FFF2-40B4-BE49-F238E27FC236}">
                <a16:creationId xmlns:a16="http://schemas.microsoft.com/office/drawing/2014/main" id="{A20A6E1B-EB79-D2B0-179D-27ED05DE781B}"/>
              </a:ext>
            </a:extLst>
          </p:cNvPr>
          <p:cNvGrpSpPr/>
          <p:nvPr/>
        </p:nvGrpSpPr>
        <p:grpSpPr>
          <a:xfrm>
            <a:off x="4434106" y="2318470"/>
            <a:ext cx="7450055" cy="3642616"/>
            <a:chOff x="4434106" y="1458934"/>
            <a:chExt cx="7450055" cy="3642616"/>
          </a:xfrm>
        </p:grpSpPr>
        <p:grpSp>
          <p:nvGrpSpPr>
            <p:cNvPr id="12" name="Google Shape;3255;gaa46748daa_1_112">
              <a:extLst>
                <a:ext uri="{FF2B5EF4-FFF2-40B4-BE49-F238E27FC236}">
                  <a16:creationId xmlns:a16="http://schemas.microsoft.com/office/drawing/2014/main" id="{C0447045-5489-6F56-E43A-EFDEAA99D1E2}"/>
                </a:ext>
              </a:extLst>
            </p:cNvPr>
            <p:cNvGrpSpPr/>
            <p:nvPr/>
          </p:nvGrpSpPr>
          <p:grpSpPr>
            <a:xfrm>
              <a:off x="4434106" y="1458934"/>
              <a:ext cx="7450055" cy="3642616"/>
              <a:chOff x="778881" y="900727"/>
              <a:chExt cx="10964792" cy="5361105"/>
            </a:xfrm>
          </p:grpSpPr>
          <p:sp>
            <p:nvSpPr>
              <p:cNvPr id="15" name="Google Shape;3256;gaa46748daa_1_112">
                <a:extLst>
                  <a:ext uri="{FF2B5EF4-FFF2-40B4-BE49-F238E27FC236}">
                    <a16:creationId xmlns:a16="http://schemas.microsoft.com/office/drawing/2014/main" id="{9DD01393-1042-4478-2081-87B1B7189FCC}"/>
                  </a:ext>
                </a:extLst>
              </p:cNvPr>
              <p:cNvSpPr/>
              <p:nvPr/>
            </p:nvSpPr>
            <p:spPr>
              <a:xfrm>
                <a:off x="778881" y="3664245"/>
                <a:ext cx="911269" cy="911269"/>
              </a:xfrm>
              <a:prstGeom prst="ellipse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6" name="Google Shape;3257;gaa46748daa_1_112">
                <a:extLst>
                  <a:ext uri="{FF2B5EF4-FFF2-40B4-BE49-F238E27FC236}">
                    <a16:creationId xmlns:a16="http://schemas.microsoft.com/office/drawing/2014/main" id="{11DDD38E-B895-CC8A-8DF9-5F4FF8104945}"/>
                  </a:ext>
                </a:extLst>
              </p:cNvPr>
              <p:cNvSpPr/>
              <p:nvPr/>
            </p:nvSpPr>
            <p:spPr>
              <a:xfrm>
                <a:off x="778881" y="2282487"/>
                <a:ext cx="911269" cy="911269"/>
              </a:xfrm>
              <a:prstGeom prst="ellipse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endParaRPr sz="1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pic>
            <p:nvPicPr>
              <p:cNvPr id="17" name="Google Shape;3258;gaa46748daa_1_112">
                <a:extLst>
                  <a:ext uri="{FF2B5EF4-FFF2-40B4-BE49-F238E27FC236}">
                    <a16:creationId xmlns:a16="http://schemas.microsoft.com/office/drawing/2014/main" id="{B5FBEB7D-FFA0-0EA4-43C4-0F74C1836208}"/>
                  </a:ext>
                </a:extLst>
              </p:cNvPr>
              <p:cNvPicPr preferRelativeResize="0"/>
              <p:nvPr/>
            </p:nvPicPr>
            <p:blipFill rotWithShape="1">
              <a:blip r:embed="rId6">
                <a:alphaModFix/>
              </a:blip>
              <a:srcRect l="61643" t="9525" r="21974" b="66264"/>
              <a:stretch/>
            </p:blipFill>
            <p:spPr>
              <a:xfrm>
                <a:off x="897038" y="2427822"/>
                <a:ext cx="674954" cy="62059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18" name="Google Shape;3259;gaa46748daa_1_112">
                <a:extLst>
                  <a:ext uri="{FF2B5EF4-FFF2-40B4-BE49-F238E27FC236}">
                    <a16:creationId xmlns:a16="http://schemas.microsoft.com/office/drawing/2014/main" id="{37EEA997-C740-64C4-BCF8-0B96AA1FE96C}"/>
                  </a:ext>
                </a:extLst>
              </p:cNvPr>
              <p:cNvPicPr preferRelativeResize="0"/>
              <p:nvPr/>
            </p:nvPicPr>
            <p:blipFill rotWithShape="1">
              <a:blip r:embed="rId7">
                <a:alphaModFix/>
              </a:blip>
              <a:srcRect/>
              <a:stretch/>
            </p:blipFill>
            <p:spPr>
              <a:xfrm>
                <a:off x="940719" y="3904429"/>
                <a:ext cx="587592" cy="430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9" name="Google Shape;3260;gaa46748daa_1_112">
                <a:extLst>
                  <a:ext uri="{FF2B5EF4-FFF2-40B4-BE49-F238E27FC236}">
                    <a16:creationId xmlns:a16="http://schemas.microsoft.com/office/drawing/2014/main" id="{5284FFAB-D1AF-B64C-81BF-90DF79BCB020}"/>
                  </a:ext>
                </a:extLst>
              </p:cNvPr>
              <p:cNvSpPr/>
              <p:nvPr/>
            </p:nvSpPr>
            <p:spPr>
              <a:xfrm>
                <a:off x="2945846" y="2282487"/>
                <a:ext cx="911269" cy="911269"/>
              </a:xfrm>
              <a:prstGeom prst="ellipse">
                <a:avLst/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API </a:t>
                </a:r>
                <a:b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</a:br>
                <a:r>
                  <a:rPr lang="en-US" sz="10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Gateway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" name="Google Shape;3261;gaa46748daa_1_112">
                <a:extLst>
                  <a:ext uri="{FF2B5EF4-FFF2-40B4-BE49-F238E27FC236}">
                    <a16:creationId xmlns:a16="http://schemas.microsoft.com/office/drawing/2014/main" id="{82D4A1E0-C283-372E-D72E-862546A17962}"/>
                  </a:ext>
                </a:extLst>
              </p:cNvPr>
              <p:cNvGrpSpPr/>
              <p:nvPr/>
            </p:nvGrpSpPr>
            <p:grpSpPr>
              <a:xfrm>
                <a:off x="2945846" y="900727"/>
                <a:ext cx="911269" cy="911269"/>
                <a:chOff x="3614295" y="900727"/>
                <a:chExt cx="911269" cy="911269"/>
              </a:xfrm>
            </p:grpSpPr>
            <p:sp>
              <p:nvSpPr>
                <p:cNvPr id="60" name="Google Shape;3262;gaa46748daa_1_112">
                  <a:extLst>
                    <a:ext uri="{FF2B5EF4-FFF2-40B4-BE49-F238E27FC236}">
                      <a16:creationId xmlns:a16="http://schemas.microsoft.com/office/drawing/2014/main" id="{C3A3162B-FB21-FD5C-6044-972B86C4152C}"/>
                    </a:ext>
                  </a:extLst>
                </p:cNvPr>
                <p:cNvSpPr/>
                <p:nvPr/>
              </p:nvSpPr>
              <p:spPr>
                <a:xfrm>
                  <a:off x="3614295" y="900727"/>
                  <a:ext cx="911269" cy="911269"/>
                </a:xfrm>
                <a:prstGeom prst="ellipse">
                  <a:avLst/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endParaRPr sz="10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endParaRPr>
                </a:p>
              </p:txBody>
            </p:sp>
            <p:pic>
              <p:nvPicPr>
                <p:cNvPr id="61" name="Google Shape;3263;gaa46748daa_1_112">
                  <a:extLst>
                    <a:ext uri="{FF2B5EF4-FFF2-40B4-BE49-F238E27FC236}">
                      <a16:creationId xmlns:a16="http://schemas.microsoft.com/office/drawing/2014/main" id="{D7E70012-2817-5686-FB2C-42F1F776494D}"/>
                    </a:ext>
                  </a:extLst>
                </p:cNvPr>
                <p:cNvPicPr preferRelativeResize="0"/>
                <p:nvPr/>
              </p:nvPicPr>
              <p:blipFill rotWithShape="1">
                <a:blip r:embed="rId8">
                  <a:alphaModFix/>
                </a:blip>
                <a:srcRect l="29808" t="12570" r="29806" b="12570"/>
                <a:stretch/>
              </p:blipFill>
              <p:spPr>
                <a:xfrm>
                  <a:off x="3851590" y="980846"/>
                  <a:ext cx="447360" cy="74635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grpSp>
            <p:nvGrpSpPr>
              <p:cNvPr id="21" name="Google Shape;3264;gaa46748daa_1_112">
                <a:extLst>
                  <a:ext uri="{FF2B5EF4-FFF2-40B4-BE49-F238E27FC236}">
                    <a16:creationId xmlns:a16="http://schemas.microsoft.com/office/drawing/2014/main" id="{10468058-4CA0-4771-6AA9-E89C965DEFC0}"/>
                  </a:ext>
                </a:extLst>
              </p:cNvPr>
              <p:cNvGrpSpPr/>
              <p:nvPr/>
            </p:nvGrpSpPr>
            <p:grpSpPr>
              <a:xfrm>
                <a:off x="2538145" y="3664245"/>
                <a:ext cx="2016082" cy="2293028"/>
                <a:chOff x="2705446" y="3664245"/>
                <a:chExt cx="2016082" cy="2293028"/>
              </a:xfrm>
            </p:grpSpPr>
            <p:sp>
              <p:nvSpPr>
                <p:cNvPr id="57" name="Google Shape;3265;gaa46748daa_1_112">
                  <a:extLst>
                    <a:ext uri="{FF2B5EF4-FFF2-40B4-BE49-F238E27FC236}">
                      <a16:creationId xmlns:a16="http://schemas.microsoft.com/office/drawing/2014/main" id="{88A37DB1-24C3-2DE5-85D8-D821D06A3515}"/>
                    </a:ext>
                  </a:extLst>
                </p:cNvPr>
                <p:cNvSpPr/>
                <p:nvPr/>
              </p:nvSpPr>
              <p:spPr>
                <a:xfrm>
                  <a:off x="2705446" y="3664245"/>
                  <a:ext cx="2016081" cy="91126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48625" tIns="45700" rIns="0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Passenger </a:t>
                  </a:r>
                  <a:b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</a:b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Web UI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3266;gaa46748daa_1_112">
                  <a:extLst>
                    <a:ext uri="{FF2B5EF4-FFF2-40B4-BE49-F238E27FC236}">
                      <a16:creationId xmlns:a16="http://schemas.microsoft.com/office/drawing/2014/main" id="{0FABE3AA-BFE2-B3DD-6C6F-144136997E4C}"/>
                    </a:ext>
                  </a:extLst>
                </p:cNvPr>
                <p:cNvSpPr/>
                <p:nvPr/>
              </p:nvSpPr>
              <p:spPr>
                <a:xfrm>
                  <a:off x="2705446" y="5046004"/>
                  <a:ext cx="2016082" cy="91126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48625" tIns="45700" rIns="0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Driver</a:t>
                  </a: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 </a:t>
                  </a:r>
                  <a:b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</a:b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Web UI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59" name="Google Shape;3267;gaa46748daa_1_112">
                  <a:extLst>
                    <a:ext uri="{FF2B5EF4-FFF2-40B4-BE49-F238E27FC236}">
                      <a16:creationId xmlns:a16="http://schemas.microsoft.com/office/drawing/2014/main" id="{563AF510-BC3F-3F2F-42E6-1EA058755697}"/>
                    </a:ext>
                  </a:extLst>
                </p:cNvPr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l="61643" t="9525" r="21974" b="66264"/>
                <a:stretch/>
              </p:blipFill>
              <p:spPr>
                <a:xfrm>
                  <a:off x="2857290" y="3809581"/>
                  <a:ext cx="571798" cy="5257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cxnSp>
            <p:nvCxnSpPr>
              <p:cNvPr id="22" name="Google Shape;3268;gaa46748daa_1_112">
                <a:extLst>
                  <a:ext uri="{FF2B5EF4-FFF2-40B4-BE49-F238E27FC236}">
                    <a16:creationId xmlns:a16="http://schemas.microsoft.com/office/drawing/2014/main" id="{1DBA3FDF-70DF-C841-C145-5EEB7E6780B3}"/>
                  </a:ext>
                </a:extLst>
              </p:cNvPr>
              <p:cNvCxnSpPr>
                <a:stCxn id="60" idx="4"/>
                <a:endCxn id="19" idx="0"/>
              </p:cNvCxnSpPr>
              <p:nvPr/>
            </p:nvCxnSpPr>
            <p:spPr>
              <a:xfrm>
                <a:off x="3401481" y="1811996"/>
                <a:ext cx="0" cy="4704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3" name="Google Shape;3269;gaa46748daa_1_112">
                <a:extLst>
                  <a:ext uri="{FF2B5EF4-FFF2-40B4-BE49-F238E27FC236}">
                    <a16:creationId xmlns:a16="http://schemas.microsoft.com/office/drawing/2014/main" id="{CBDF4F87-48CA-189A-D66E-00FA56444705}"/>
                  </a:ext>
                </a:extLst>
              </p:cNvPr>
              <p:cNvCxnSpPr>
                <a:stCxn id="16" idx="6"/>
                <a:endCxn id="19" idx="2"/>
              </p:cNvCxnSpPr>
              <p:nvPr/>
            </p:nvCxnSpPr>
            <p:spPr>
              <a:xfrm>
                <a:off x="1690150" y="2738122"/>
                <a:ext cx="1255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4" name="Google Shape;3270;gaa46748daa_1_112">
                <a:extLst>
                  <a:ext uri="{FF2B5EF4-FFF2-40B4-BE49-F238E27FC236}">
                    <a16:creationId xmlns:a16="http://schemas.microsoft.com/office/drawing/2014/main" id="{CA3E0DC8-8C1D-64C4-449D-F26963421422}"/>
                  </a:ext>
                </a:extLst>
              </p:cNvPr>
              <p:cNvCxnSpPr>
                <a:stCxn id="19" idx="6"/>
                <a:endCxn id="54" idx="1"/>
              </p:cNvCxnSpPr>
              <p:nvPr/>
            </p:nvCxnSpPr>
            <p:spPr>
              <a:xfrm>
                <a:off x="3857115" y="2738122"/>
                <a:ext cx="14400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5" name="Google Shape;3272;gaa46748daa_1_112">
                <a:extLst>
                  <a:ext uri="{FF2B5EF4-FFF2-40B4-BE49-F238E27FC236}">
                    <a16:creationId xmlns:a16="http://schemas.microsoft.com/office/drawing/2014/main" id="{42FE9591-87A8-98EF-71BD-69039007FCE1}"/>
                  </a:ext>
                </a:extLst>
              </p:cNvPr>
              <p:cNvCxnSpPr>
                <a:stCxn id="57" idx="0"/>
                <a:endCxn id="54" idx="2"/>
              </p:cNvCxnSpPr>
              <p:nvPr/>
            </p:nvCxnSpPr>
            <p:spPr>
              <a:xfrm rot="10800000" flipH="1">
                <a:off x="3546186" y="2982345"/>
                <a:ext cx="2056800" cy="681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6" name="Google Shape;3273;gaa46748daa_1_112">
                <a:extLst>
                  <a:ext uri="{FF2B5EF4-FFF2-40B4-BE49-F238E27FC236}">
                    <a16:creationId xmlns:a16="http://schemas.microsoft.com/office/drawing/2014/main" id="{753BE313-28C4-2C13-F432-8DD426F131B5}"/>
                  </a:ext>
                </a:extLst>
              </p:cNvPr>
              <p:cNvCxnSpPr>
                <a:stCxn id="19" idx="6"/>
                <a:endCxn id="55" idx="0"/>
              </p:cNvCxnSpPr>
              <p:nvPr/>
            </p:nvCxnSpPr>
            <p:spPr>
              <a:xfrm>
                <a:off x="3857115" y="2738121"/>
                <a:ext cx="1746000" cy="113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7" name="Google Shape;3275;gaa46748daa_1_112">
                <a:extLst>
                  <a:ext uri="{FF2B5EF4-FFF2-40B4-BE49-F238E27FC236}">
                    <a16:creationId xmlns:a16="http://schemas.microsoft.com/office/drawing/2014/main" id="{21DC8469-2568-64DE-8496-50FAD31B1F8F}"/>
                  </a:ext>
                </a:extLst>
              </p:cNvPr>
              <p:cNvCxnSpPr>
                <a:stCxn id="19" idx="6"/>
                <a:endCxn id="56" idx="0"/>
              </p:cNvCxnSpPr>
              <p:nvPr/>
            </p:nvCxnSpPr>
            <p:spPr>
              <a:xfrm>
                <a:off x="3857115" y="2738121"/>
                <a:ext cx="1766100" cy="2514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8" name="Google Shape;3277;gaa46748daa_1_112">
                <a:extLst>
                  <a:ext uri="{FF2B5EF4-FFF2-40B4-BE49-F238E27FC236}">
                    <a16:creationId xmlns:a16="http://schemas.microsoft.com/office/drawing/2014/main" id="{52A069A4-82AC-9C30-663A-A0A9F6A5A45F}"/>
                  </a:ext>
                </a:extLst>
              </p:cNvPr>
              <p:cNvCxnSpPr>
                <a:stCxn id="51" idx="3"/>
                <a:endCxn id="44" idx="0"/>
              </p:cNvCxnSpPr>
              <p:nvPr/>
            </p:nvCxnSpPr>
            <p:spPr>
              <a:xfrm>
                <a:off x="7880213" y="2738121"/>
                <a:ext cx="1029000" cy="1137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29" name="Google Shape;3280;gaa46748daa_1_112">
                <a:extLst>
                  <a:ext uri="{FF2B5EF4-FFF2-40B4-BE49-F238E27FC236}">
                    <a16:creationId xmlns:a16="http://schemas.microsoft.com/office/drawing/2014/main" id="{289F726A-A8F8-90AE-8E64-8C147F0ECDC0}"/>
                  </a:ext>
                </a:extLst>
              </p:cNvPr>
              <p:cNvCxnSpPr>
                <a:stCxn id="50" idx="3"/>
                <a:endCxn id="43" idx="2"/>
              </p:cNvCxnSpPr>
              <p:nvPr/>
            </p:nvCxnSpPr>
            <p:spPr>
              <a:xfrm rot="10800000" flipH="1">
                <a:off x="7880213" y="2982389"/>
                <a:ext cx="1029000" cy="25149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0" name="Google Shape;3283;gaa46748daa_1_112">
                <a:extLst>
                  <a:ext uri="{FF2B5EF4-FFF2-40B4-BE49-F238E27FC236}">
                    <a16:creationId xmlns:a16="http://schemas.microsoft.com/office/drawing/2014/main" id="{E20D732E-33F7-B829-8A0D-18059805D031}"/>
                  </a:ext>
                </a:extLst>
              </p:cNvPr>
              <p:cNvCxnSpPr>
                <a:stCxn id="58" idx="1"/>
                <a:endCxn id="15" idx="6"/>
              </p:cNvCxnSpPr>
              <p:nvPr/>
            </p:nvCxnSpPr>
            <p:spPr>
              <a:xfrm rot="10800000">
                <a:off x="1690045" y="4119839"/>
                <a:ext cx="848100" cy="1381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1" name="Google Shape;3284;gaa46748daa_1_112">
                <a:extLst>
                  <a:ext uri="{FF2B5EF4-FFF2-40B4-BE49-F238E27FC236}">
                    <a16:creationId xmlns:a16="http://schemas.microsoft.com/office/drawing/2014/main" id="{5A741410-3835-A399-A3B1-5037A4F3F078}"/>
                  </a:ext>
                </a:extLst>
              </p:cNvPr>
              <p:cNvCxnSpPr>
                <a:stCxn id="57" idx="1"/>
                <a:endCxn id="15" idx="6"/>
              </p:cNvCxnSpPr>
              <p:nvPr/>
            </p:nvCxnSpPr>
            <p:spPr>
              <a:xfrm rot="10800000">
                <a:off x="1690045" y="4119880"/>
                <a:ext cx="8481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2" name="Google Shape;3285;gaa46748daa_1_112">
                <a:extLst>
                  <a:ext uri="{FF2B5EF4-FFF2-40B4-BE49-F238E27FC236}">
                    <a16:creationId xmlns:a16="http://schemas.microsoft.com/office/drawing/2014/main" id="{027CE03C-659F-1973-4E8B-B3852EAA20C9}"/>
                  </a:ext>
                </a:extLst>
              </p:cNvPr>
              <p:cNvCxnSpPr>
                <a:stCxn id="49" idx="3"/>
                <a:endCxn id="45" idx="0"/>
              </p:cNvCxnSpPr>
              <p:nvPr/>
            </p:nvCxnSpPr>
            <p:spPr>
              <a:xfrm>
                <a:off x="7880213" y="4119879"/>
                <a:ext cx="1048800" cy="11331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3" name="Google Shape;3288;gaa46748daa_1_112">
                <a:extLst>
                  <a:ext uri="{FF2B5EF4-FFF2-40B4-BE49-F238E27FC236}">
                    <a16:creationId xmlns:a16="http://schemas.microsoft.com/office/drawing/2014/main" id="{76E8D5C8-7341-6208-C79C-CA7C39A74984}"/>
                  </a:ext>
                </a:extLst>
              </p:cNvPr>
              <p:cNvCxnSpPr>
                <a:stCxn id="49" idx="3"/>
              </p:cNvCxnSpPr>
              <p:nvPr/>
            </p:nvCxnSpPr>
            <p:spPr>
              <a:xfrm>
                <a:off x="7880213" y="4119879"/>
                <a:ext cx="742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4" name="Google Shape;3289;gaa46748daa_1_112">
                <a:extLst>
                  <a:ext uri="{FF2B5EF4-FFF2-40B4-BE49-F238E27FC236}">
                    <a16:creationId xmlns:a16="http://schemas.microsoft.com/office/drawing/2014/main" id="{B16B50E6-0155-1B48-8D02-E1DD76755028}"/>
                  </a:ext>
                </a:extLst>
              </p:cNvPr>
              <p:cNvCxnSpPr>
                <a:stCxn id="55" idx="1"/>
                <a:endCxn id="57" idx="3"/>
              </p:cNvCxnSpPr>
              <p:nvPr/>
            </p:nvCxnSpPr>
            <p:spPr>
              <a:xfrm rot="10800000">
                <a:off x="4554361" y="4119879"/>
                <a:ext cx="742800" cy="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cxnSp>
            <p:nvCxnSpPr>
              <p:cNvPr id="35" name="Google Shape;3290;gaa46748daa_1_112">
                <a:extLst>
                  <a:ext uri="{FF2B5EF4-FFF2-40B4-BE49-F238E27FC236}">
                    <a16:creationId xmlns:a16="http://schemas.microsoft.com/office/drawing/2014/main" id="{5AFA1D5C-EB46-0164-E93C-2FE7ABF2C713}"/>
                  </a:ext>
                </a:extLst>
              </p:cNvPr>
              <p:cNvCxnSpPr>
                <a:endCxn id="58" idx="3"/>
              </p:cNvCxnSpPr>
              <p:nvPr/>
            </p:nvCxnSpPr>
            <p:spPr>
              <a:xfrm flipH="1">
                <a:off x="4554227" y="4586039"/>
                <a:ext cx="1522800" cy="9156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757070"/>
                </a:solidFill>
                <a:prstDash val="solid"/>
                <a:round/>
                <a:headEnd type="none" w="sm" len="sm"/>
                <a:tailEnd type="none" w="sm" len="sm"/>
              </a:ln>
            </p:spPr>
          </p:cxnSp>
          <p:grpSp>
            <p:nvGrpSpPr>
              <p:cNvPr id="36" name="Google Shape;3291;gaa46748daa_1_112">
                <a:extLst>
                  <a:ext uri="{FF2B5EF4-FFF2-40B4-BE49-F238E27FC236}">
                    <a16:creationId xmlns:a16="http://schemas.microsoft.com/office/drawing/2014/main" id="{A4FA1740-D1E7-3966-74EA-77B038456FDD}"/>
                  </a:ext>
                </a:extLst>
              </p:cNvPr>
              <p:cNvGrpSpPr/>
              <p:nvPr/>
            </p:nvGrpSpPr>
            <p:grpSpPr>
              <a:xfrm>
                <a:off x="5297161" y="2282486"/>
                <a:ext cx="2583052" cy="3670437"/>
                <a:chOff x="5628835" y="2282486"/>
                <a:chExt cx="2583052" cy="3670437"/>
              </a:xfrm>
            </p:grpSpPr>
            <p:sp>
              <p:nvSpPr>
                <p:cNvPr id="49" name="Google Shape;3286;gaa46748daa_1_112">
                  <a:extLst>
                    <a:ext uri="{FF2B5EF4-FFF2-40B4-BE49-F238E27FC236}">
                      <a16:creationId xmlns:a16="http://schemas.microsoft.com/office/drawing/2014/main" id="{2C8A185B-21F7-102B-F182-ACC892727921}"/>
                    </a:ext>
                  </a:extLst>
                </p:cNvPr>
                <p:cNvSpPr/>
                <p:nvPr/>
              </p:nvSpPr>
              <p:spPr>
                <a:xfrm>
                  <a:off x="6195805" y="3664244"/>
                  <a:ext cx="2016082" cy="91126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48625" tIns="45700" rIns="0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Driver </a:t>
                  </a: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Management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0" name="Google Shape;3281;gaa46748daa_1_112">
                  <a:extLst>
                    <a:ext uri="{FF2B5EF4-FFF2-40B4-BE49-F238E27FC236}">
                      <a16:creationId xmlns:a16="http://schemas.microsoft.com/office/drawing/2014/main" id="{4353EE8F-2381-D9C0-3205-F191E92491A3}"/>
                    </a:ext>
                  </a:extLst>
                </p:cNvPr>
                <p:cNvSpPr/>
                <p:nvPr/>
              </p:nvSpPr>
              <p:spPr>
                <a:xfrm>
                  <a:off x="6195805" y="5041654"/>
                  <a:ext cx="2016082" cy="91126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48625" tIns="45700" rIns="0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Trip</a:t>
                  </a: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 Management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" name="Google Shape;3278;gaa46748daa_1_112">
                  <a:extLst>
                    <a:ext uri="{FF2B5EF4-FFF2-40B4-BE49-F238E27FC236}">
                      <a16:creationId xmlns:a16="http://schemas.microsoft.com/office/drawing/2014/main" id="{284AD40F-A7A6-85CF-24EF-222581437B25}"/>
                    </a:ext>
                  </a:extLst>
                </p:cNvPr>
                <p:cNvSpPr/>
                <p:nvPr/>
              </p:nvSpPr>
              <p:spPr>
                <a:xfrm>
                  <a:off x="6195805" y="2282486"/>
                  <a:ext cx="2016082" cy="911269"/>
                </a:xfrm>
                <a:prstGeom prst="roundRect">
                  <a:avLst>
                    <a:gd name="adj" fmla="val 16667"/>
                  </a:avLst>
                </a:prstGeom>
                <a:noFill/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548625" tIns="45700" rIns="0" bIns="45700" anchor="ctr" anchorCtr="0">
                  <a:noAutofit/>
                </a:bodyPr>
                <a:lstStyle/>
                <a:p>
                  <a:pPr marL="0" marR="0" lvl="0" indent="0" algn="l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Passenger </a:t>
                  </a:r>
                  <a:b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</a:b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Management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pic>
              <p:nvPicPr>
                <p:cNvPr id="52" name="Google Shape;3292;gaa46748daa_1_112">
                  <a:extLst>
                    <a:ext uri="{FF2B5EF4-FFF2-40B4-BE49-F238E27FC236}">
                      <a16:creationId xmlns:a16="http://schemas.microsoft.com/office/drawing/2014/main" id="{3E77A163-2AE3-510C-9BC4-1CB31B8A4AF4}"/>
                    </a:ext>
                  </a:extLst>
                </p:cNvPr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l="16077" t="16077" r="16076" b="16076"/>
                <a:stretch/>
              </p:blipFill>
              <p:spPr>
                <a:xfrm>
                  <a:off x="6423401" y="5217291"/>
                  <a:ext cx="559994" cy="559994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pic>
              <p:nvPicPr>
                <p:cNvPr id="53" name="Google Shape;3293;gaa46748daa_1_112">
                  <a:extLst>
                    <a:ext uri="{FF2B5EF4-FFF2-40B4-BE49-F238E27FC236}">
                      <a16:creationId xmlns:a16="http://schemas.microsoft.com/office/drawing/2014/main" id="{EDD7006E-11D3-454B-382D-BF81BB5FD388}"/>
                    </a:ext>
                  </a:extLst>
                </p:cNvPr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l="61643" t="9525" r="21974" b="66264"/>
                <a:stretch/>
              </p:blipFill>
              <p:spPr>
                <a:xfrm>
                  <a:off x="6417499" y="2475246"/>
                  <a:ext cx="571798" cy="525748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54" name="Google Shape;3271;gaa46748daa_1_112">
                  <a:extLst>
                    <a:ext uri="{FF2B5EF4-FFF2-40B4-BE49-F238E27FC236}">
                      <a16:creationId xmlns:a16="http://schemas.microsoft.com/office/drawing/2014/main" id="{070F543C-26CC-7DE4-3331-1808E00A40EC}"/>
                    </a:ext>
                  </a:extLst>
                </p:cNvPr>
                <p:cNvSpPr/>
                <p:nvPr/>
              </p:nvSpPr>
              <p:spPr>
                <a:xfrm>
                  <a:off x="5628835" y="2493923"/>
                  <a:ext cx="611940" cy="48839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Rest </a:t>
                  </a: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API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3274;gaa46748daa_1_112">
                  <a:extLst>
                    <a:ext uri="{FF2B5EF4-FFF2-40B4-BE49-F238E27FC236}">
                      <a16:creationId xmlns:a16="http://schemas.microsoft.com/office/drawing/2014/main" id="{CA4B0B73-736C-F6AB-611C-5FA5B22CA8EE}"/>
                    </a:ext>
                  </a:extLst>
                </p:cNvPr>
                <p:cNvSpPr/>
                <p:nvPr/>
              </p:nvSpPr>
              <p:spPr>
                <a:xfrm>
                  <a:off x="5628835" y="3875682"/>
                  <a:ext cx="611940" cy="48839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Rest </a:t>
                  </a: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API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3276;gaa46748daa_1_112">
                  <a:extLst>
                    <a:ext uri="{FF2B5EF4-FFF2-40B4-BE49-F238E27FC236}">
                      <a16:creationId xmlns:a16="http://schemas.microsoft.com/office/drawing/2014/main" id="{9E22CB04-A423-3E23-ADD6-4614E8B56044}"/>
                    </a:ext>
                  </a:extLst>
                </p:cNvPr>
                <p:cNvSpPr/>
                <p:nvPr/>
              </p:nvSpPr>
              <p:spPr>
                <a:xfrm>
                  <a:off x="5648813" y="5253091"/>
                  <a:ext cx="611940" cy="488394"/>
                </a:xfrm>
                <a:prstGeom prst="roundRect">
                  <a:avLst>
                    <a:gd name="adj" fmla="val 16667"/>
                  </a:avLst>
                </a:prstGeom>
                <a:solidFill>
                  <a:schemeClr val="lt1"/>
                </a:solidFill>
                <a:ln w="19050" cap="flat" cmpd="sng">
                  <a:solidFill>
                    <a:schemeClr val="accent3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0" tIns="45700" rIns="0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000"/>
                    <a:buFont typeface="Arial"/>
                    <a:buNone/>
                  </a:pPr>
                  <a:r>
                    <a:rPr lang="en-US" sz="1000" b="1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Rest </a:t>
                  </a:r>
                  <a:r>
                    <a:rPr lang="en-US" sz="1000" b="0" i="0" u="none" strike="noStrike" cap="none">
                      <a:solidFill>
                        <a:schemeClr val="dk1"/>
                      </a:solidFill>
                      <a:latin typeface="Lato"/>
                      <a:ea typeface="Lato"/>
                      <a:cs typeface="Lato"/>
                      <a:sym typeface="Lato"/>
                    </a:rPr>
                    <a:t>API</a:t>
                  </a:r>
                  <a:endParaRPr sz="1400" b="0" i="0" u="none" strike="noStrike" cap="none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pic>
            <p:nvPicPr>
              <p:cNvPr id="37" name="Google Shape;3294;gaa46748daa_1_112">
                <a:extLst>
                  <a:ext uri="{FF2B5EF4-FFF2-40B4-BE49-F238E27FC236}">
                    <a16:creationId xmlns:a16="http://schemas.microsoft.com/office/drawing/2014/main" id="{83E8C1B2-804C-6590-7D4B-094C61AA5D5D}"/>
                  </a:ext>
                </a:extLst>
              </p:cNvPr>
              <p:cNvPicPr preferRelativeResize="0"/>
              <p:nvPr/>
            </p:nvPicPr>
            <p:blipFill rotWithShape="1">
              <a:blip r:embed="rId11">
                <a:alphaModFix/>
              </a:blip>
              <a:srcRect l="41700" t="10618" r="42184" b="73578"/>
              <a:stretch/>
            </p:blipFill>
            <p:spPr>
              <a:xfrm>
                <a:off x="9188421" y="3792547"/>
                <a:ext cx="806685" cy="654664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" name="Google Shape;3295;gaa46748daa_1_112">
                <a:extLst>
                  <a:ext uri="{FF2B5EF4-FFF2-40B4-BE49-F238E27FC236}">
                    <a16:creationId xmlns:a16="http://schemas.microsoft.com/office/drawing/2014/main" id="{CF99321B-7B4A-7E16-8532-574E3740DE83}"/>
                  </a:ext>
                </a:extLst>
              </p:cNvPr>
              <p:cNvSpPr/>
              <p:nvPr/>
            </p:nvSpPr>
            <p:spPr>
              <a:xfrm>
                <a:off x="9112223" y="3664245"/>
                <a:ext cx="2016082" cy="91126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48625" tIns="45700" rIns="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Payments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296;gaa46748daa_1_112">
                <a:extLst>
                  <a:ext uri="{FF2B5EF4-FFF2-40B4-BE49-F238E27FC236}">
                    <a16:creationId xmlns:a16="http://schemas.microsoft.com/office/drawing/2014/main" id="{23EEC380-FEF3-6E5D-FCA1-3A25B4B7B5C6}"/>
                  </a:ext>
                </a:extLst>
              </p:cNvPr>
              <p:cNvSpPr/>
              <p:nvPr/>
            </p:nvSpPr>
            <p:spPr>
              <a:xfrm>
                <a:off x="9112223" y="2282486"/>
                <a:ext cx="2016082" cy="91126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48625" tIns="45700" rIns="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Billing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3297;gaa46748daa_1_112">
                <a:extLst>
                  <a:ext uri="{FF2B5EF4-FFF2-40B4-BE49-F238E27FC236}">
                    <a16:creationId xmlns:a16="http://schemas.microsoft.com/office/drawing/2014/main" id="{A4304E6A-AC68-3379-A5F8-29211CFECA84}"/>
                  </a:ext>
                </a:extLst>
              </p:cNvPr>
              <p:cNvSpPr/>
              <p:nvPr/>
            </p:nvSpPr>
            <p:spPr>
              <a:xfrm>
                <a:off x="9083987" y="5046004"/>
                <a:ext cx="2016082" cy="911269"/>
              </a:xfrm>
              <a:prstGeom prst="roundRect">
                <a:avLst>
                  <a:gd name="adj" fmla="val 16667"/>
                </a:avLst>
              </a:prstGeom>
              <a:noFill/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548625" tIns="45700" rIns="0" bIns="4570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Notification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pic>
            <p:nvPicPr>
              <p:cNvPr id="41" name="Google Shape;3298;gaa46748daa_1_112">
                <a:extLst>
                  <a:ext uri="{FF2B5EF4-FFF2-40B4-BE49-F238E27FC236}">
                    <a16:creationId xmlns:a16="http://schemas.microsoft.com/office/drawing/2014/main" id="{8D550C0B-ACC5-D73D-54EF-30589903EB5A}"/>
                  </a:ext>
                </a:extLst>
              </p:cNvPr>
              <p:cNvPicPr preferRelativeResize="0"/>
              <p:nvPr/>
            </p:nvPicPr>
            <p:blipFill rotWithShape="1">
              <a:blip r:embed="rId12">
                <a:alphaModFix/>
              </a:blip>
              <a:srcRect l="11096" t="11096" r="11096" b="11096"/>
              <a:stretch/>
            </p:blipFill>
            <p:spPr>
              <a:xfrm>
                <a:off x="9284148" y="5256996"/>
                <a:ext cx="615231" cy="489284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42" name="Google Shape;3299;gaa46748daa_1_112">
                <a:extLst>
                  <a:ext uri="{FF2B5EF4-FFF2-40B4-BE49-F238E27FC236}">
                    <a16:creationId xmlns:a16="http://schemas.microsoft.com/office/drawing/2014/main" id="{2422081F-8F50-FD7A-85DC-EF1A958FA156}"/>
                  </a:ext>
                </a:extLst>
              </p:cNvPr>
              <p:cNvPicPr preferRelativeResize="0"/>
              <p:nvPr/>
            </p:nvPicPr>
            <p:blipFill rotWithShape="1">
              <a:blip r:embed="rId13">
                <a:alphaModFix/>
              </a:blip>
              <a:srcRect l="23046" t="9968" r="22246" b="31806"/>
              <a:stretch/>
            </p:blipFill>
            <p:spPr>
              <a:xfrm>
                <a:off x="9309188" y="2420946"/>
                <a:ext cx="565150" cy="634349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3" name="Google Shape;3282;gaa46748daa_1_112">
                <a:extLst>
                  <a:ext uri="{FF2B5EF4-FFF2-40B4-BE49-F238E27FC236}">
                    <a16:creationId xmlns:a16="http://schemas.microsoft.com/office/drawing/2014/main" id="{377EB395-CB5A-B097-2BE5-C3E56A92A647}"/>
                  </a:ext>
                </a:extLst>
              </p:cNvPr>
              <p:cNvSpPr/>
              <p:nvPr/>
            </p:nvSpPr>
            <p:spPr>
              <a:xfrm>
                <a:off x="8603171" y="2493923"/>
                <a:ext cx="611940" cy="48839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Rest </a:t>
                </a:r>
                <a:r>
                  <a:rPr lang="en-US" sz="10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API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3279;gaa46748daa_1_112">
                <a:extLst>
                  <a:ext uri="{FF2B5EF4-FFF2-40B4-BE49-F238E27FC236}">
                    <a16:creationId xmlns:a16="http://schemas.microsoft.com/office/drawing/2014/main" id="{6C07A93F-87C4-4119-EA4C-681B5D50F411}"/>
                  </a:ext>
                </a:extLst>
              </p:cNvPr>
              <p:cNvSpPr/>
              <p:nvPr/>
            </p:nvSpPr>
            <p:spPr>
              <a:xfrm>
                <a:off x="8603171" y="3875682"/>
                <a:ext cx="611940" cy="48839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Rest </a:t>
                </a:r>
                <a:r>
                  <a:rPr lang="en-US" sz="10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API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" name="Google Shape;3287;gaa46748daa_1_112">
                <a:extLst>
                  <a:ext uri="{FF2B5EF4-FFF2-40B4-BE49-F238E27FC236}">
                    <a16:creationId xmlns:a16="http://schemas.microsoft.com/office/drawing/2014/main" id="{DEDF1CAE-81D2-B15C-1B9F-F0AFE064C587}"/>
                  </a:ext>
                </a:extLst>
              </p:cNvPr>
              <p:cNvSpPr/>
              <p:nvPr/>
            </p:nvSpPr>
            <p:spPr>
              <a:xfrm>
                <a:off x="8623149" y="5253091"/>
                <a:ext cx="611940" cy="48839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Rest </a:t>
                </a:r>
                <a:r>
                  <a:rPr lang="en-US" sz="1000" b="0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API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3300;gaa46748daa_1_112">
                <a:extLst>
                  <a:ext uri="{FF2B5EF4-FFF2-40B4-BE49-F238E27FC236}">
                    <a16:creationId xmlns:a16="http://schemas.microsoft.com/office/drawing/2014/main" id="{ED08BD5B-1972-7E0F-70F5-0C50FEFE7C3B}"/>
                  </a:ext>
                </a:extLst>
              </p:cNvPr>
              <p:cNvSpPr/>
              <p:nvPr/>
            </p:nvSpPr>
            <p:spPr>
              <a:xfrm>
                <a:off x="10846251" y="2090419"/>
                <a:ext cx="897422" cy="48839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Adapter 1</a:t>
                </a:r>
                <a:endParaRPr sz="1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7" name="Google Shape;3301;gaa46748daa_1_112">
                <a:extLst>
                  <a:ext uri="{FF2B5EF4-FFF2-40B4-BE49-F238E27FC236}">
                    <a16:creationId xmlns:a16="http://schemas.microsoft.com/office/drawing/2014/main" id="{0DC3EEEE-E56D-DD1E-0D85-4CBEC13E3EF4}"/>
                  </a:ext>
                </a:extLst>
              </p:cNvPr>
              <p:cNvSpPr/>
              <p:nvPr/>
            </p:nvSpPr>
            <p:spPr>
              <a:xfrm>
                <a:off x="10802460" y="4797457"/>
                <a:ext cx="897422" cy="48839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Adapter 2</a:t>
                </a:r>
                <a:endParaRPr sz="1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48" name="Google Shape;3302;gaa46748daa_1_112">
                <a:extLst>
                  <a:ext uri="{FF2B5EF4-FFF2-40B4-BE49-F238E27FC236}">
                    <a16:creationId xmlns:a16="http://schemas.microsoft.com/office/drawing/2014/main" id="{3104F62C-F8BC-E045-7EB3-82110886079D}"/>
                  </a:ext>
                </a:extLst>
              </p:cNvPr>
              <p:cNvSpPr/>
              <p:nvPr/>
            </p:nvSpPr>
            <p:spPr>
              <a:xfrm>
                <a:off x="9742195" y="5773438"/>
                <a:ext cx="897422" cy="488394"/>
              </a:xfrm>
              <a:prstGeom prst="roundRect">
                <a:avLst>
                  <a:gd name="adj" fmla="val 16667"/>
                </a:avLst>
              </a:prstGeom>
              <a:solidFill>
                <a:schemeClr val="lt1"/>
              </a:solidFill>
              <a:ln w="19050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0" tIns="45700" rIns="0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000"/>
                  <a:buFont typeface="Arial"/>
                  <a:buNone/>
                </a:pPr>
                <a:r>
                  <a:rPr lang="en-US" sz="1000" b="1" i="0" u="none" strike="noStrike" cap="none">
                    <a:solidFill>
                      <a:schemeClr val="dk1"/>
                    </a:solidFill>
                    <a:latin typeface="Lato"/>
                    <a:ea typeface="Lato"/>
                    <a:cs typeface="Lato"/>
                    <a:sym typeface="Lato"/>
                  </a:rPr>
                  <a:t>Adapter 3</a:t>
                </a:r>
                <a:endParaRPr sz="1000" b="0" i="0" u="none" strike="noStrike" cap="none">
                  <a:solidFill>
                    <a:schemeClr val="dk1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pic>
          <p:nvPicPr>
            <p:cNvPr id="13" name="Google Shape;3303;gaa46748daa_1_112">
              <a:extLst>
                <a:ext uri="{FF2B5EF4-FFF2-40B4-BE49-F238E27FC236}">
                  <a16:creationId xmlns:a16="http://schemas.microsoft.com/office/drawing/2014/main" id="{A78801A6-1863-625E-2BC9-DC5C383BB2A9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7787738" y="3211805"/>
              <a:ext cx="869430" cy="8694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" name="Google Shape;3304;gaa46748daa_1_112">
              <a:extLst>
                <a:ext uri="{FF2B5EF4-FFF2-40B4-BE49-F238E27FC236}">
                  <a16:creationId xmlns:a16="http://schemas.microsoft.com/office/drawing/2014/main" id="{AA0318E6-0248-E353-86E1-23CE431D2B57}"/>
                </a:ext>
              </a:extLst>
            </p:cNvPr>
            <p:cNvPicPr preferRelativeResize="0"/>
            <p:nvPr/>
          </p:nvPicPr>
          <p:blipFill rotWithShape="1">
            <a:blip r:embed="rId14">
              <a:alphaModFix/>
            </a:blip>
            <a:srcRect/>
            <a:stretch/>
          </p:blipFill>
          <p:spPr>
            <a:xfrm>
              <a:off x="5477304" y="4174025"/>
              <a:ext cx="869430" cy="869430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1367598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3309;p4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208714D3-0840-7B60-CD2A-5274EA701D2F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17467" r="5035"/>
          <a:stretch/>
        </p:blipFill>
        <p:spPr>
          <a:xfrm>
            <a:off x="6593127" y="2708018"/>
            <a:ext cx="4802404" cy="3563372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3310;p42">
            <a:extLst>
              <a:ext uri="{FF2B5EF4-FFF2-40B4-BE49-F238E27FC236}">
                <a16:creationId xmlns:a16="http://schemas.microsoft.com/office/drawing/2014/main" id="{36C0B7F4-D781-0643-A5DC-33B55D1D8D57}"/>
              </a:ext>
            </a:extLst>
          </p:cNvPr>
          <p:cNvSpPr txBox="1"/>
          <p:nvPr/>
        </p:nvSpPr>
        <p:spPr>
          <a:xfrm>
            <a:off x="3325715" y="1437496"/>
            <a:ext cx="4790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>
                <a:latin typeface="Lato"/>
                <a:ea typeface="Lato"/>
                <a:cs typeface="Lato"/>
                <a:sym typeface="Lato"/>
              </a:rPr>
              <a:t>MICROSERVICE TOOLS</a:t>
            </a:r>
            <a:endParaRPr/>
          </a:p>
        </p:txBody>
      </p:sp>
      <p:sp>
        <p:nvSpPr>
          <p:cNvPr id="11" name="Google Shape;3311;p42">
            <a:extLst>
              <a:ext uri="{FF2B5EF4-FFF2-40B4-BE49-F238E27FC236}">
                <a16:creationId xmlns:a16="http://schemas.microsoft.com/office/drawing/2014/main" id="{DFC7D982-D98E-5F3F-4E21-25511F20A8F9}"/>
              </a:ext>
            </a:extLst>
          </p:cNvPr>
          <p:cNvSpPr txBox="1"/>
          <p:nvPr/>
        </p:nvSpPr>
        <p:spPr>
          <a:xfrm>
            <a:off x="827503" y="3846750"/>
            <a:ext cx="5282081" cy="18261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Message queuing: 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9"/>
                  </a:ext>
                </a:extLst>
              </a:rPr>
              <a:t>Apache Kafka, A</a:t>
            </a: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WS SQS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Containerization: Docker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Orchestration: ECS , Kubernetes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Cloud deployment:  AWS , GCP, Azure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Application monitoring: Prometheus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API Testing and management: Postman, API Fortress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8613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39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16;p43">
            <a:extLst>
              <a:ext uri="{FF2B5EF4-FFF2-40B4-BE49-F238E27FC236}">
                <a16:creationId xmlns:a16="http://schemas.microsoft.com/office/drawing/2014/main" id="{8B13BF02-1715-23F1-003C-28D6D8F5FA22}"/>
              </a:ext>
            </a:extLst>
          </p:cNvPr>
          <p:cNvSpPr/>
          <p:nvPr/>
        </p:nvSpPr>
        <p:spPr>
          <a:xfrm>
            <a:off x="1367631" y="2837388"/>
            <a:ext cx="9456738" cy="2856613"/>
          </a:xfrm>
          <a:prstGeom prst="roundRect">
            <a:avLst>
              <a:gd name="adj" fmla="val 7168"/>
            </a:avLst>
          </a:prstGeom>
          <a:noFill/>
          <a:ln w="28575" cap="flat" cmpd="sng">
            <a:solidFill>
              <a:srgbClr val="FFC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317;p43">
            <a:extLst>
              <a:ext uri="{FF2B5EF4-FFF2-40B4-BE49-F238E27FC236}">
                <a16:creationId xmlns:a16="http://schemas.microsoft.com/office/drawing/2014/main" id="{5DD7AC12-508B-0785-667E-34A8DB9439FF}"/>
              </a:ext>
            </a:extLst>
          </p:cNvPr>
          <p:cNvSpPr txBox="1"/>
          <p:nvPr/>
        </p:nvSpPr>
        <p:spPr>
          <a:xfrm>
            <a:off x="1496920" y="2919192"/>
            <a:ext cx="9198300" cy="27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0"/>
                  </a:ext>
                </a:extLst>
              </a:rPr>
              <a:t>In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1"/>
                  </a:ext>
                </a:extLst>
              </a:rPr>
              <a:t>m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2"/>
                  </a:ext>
                </a:extLst>
              </a:rPr>
              <a:t>icroservices, we have autonomous services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3"/>
                  </a:ext>
                </a:extLst>
              </a:rPr>
              <a:t>To get the application running, they have to communicate with each other.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achieve this, multiple tools are available in the industry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For example: Apache Kafka, RabbitMQ, and SNS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Apache Kafka: It is a distributed 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p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ub-</a:t>
            </a:r>
            <a:r>
              <a:rPr lang="en-US" sz="1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ub messaging system. It was originally developed at LinkedIn. It is agile, scalable, and distributed by design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300"/>
              </a:spcAft>
              <a:buClr>
                <a:schemeClr val="dk2"/>
              </a:buClr>
              <a:buSzPts val="2000"/>
              <a:buFont typeface="Noto Sans Symbols"/>
              <a:buChar char="🞆"/>
            </a:pPr>
            <a:r>
              <a:rPr lang="en-US"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SNS: Simple Notification Service is an AWS offering. It is a reliable, robust, and  flexible choice for microservice communications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318;p43">
            <a:extLst>
              <a:ext uri="{FF2B5EF4-FFF2-40B4-BE49-F238E27FC236}">
                <a16:creationId xmlns:a16="http://schemas.microsoft.com/office/drawing/2014/main" id="{523935C3-5771-F875-920A-69D944EF03AA}"/>
              </a:ext>
            </a:extLst>
          </p:cNvPr>
          <p:cNvSpPr txBox="1"/>
          <p:nvPr/>
        </p:nvSpPr>
        <p:spPr>
          <a:xfrm>
            <a:off x="1936578" y="1289304"/>
            <a:ext cx="831884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MESSAGING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978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23;p44">
            <a:extLst>
              <a:ext uri="{FF2B5EF4-FFF2-40B4-BE49-F238E27FC236}">
                <a16:creationId xmlns:a16="http://schemas.microsoft.com/office/drawing/2014/main" id="{74B88603-B4F6-78B3-15E4-766B702E4D23}"/>
              </a:ext>
            </a:extLst>
          </p:cNvPr>
          <p:cNvSpPr txBox="1"/>
          <p:nvPr/>
        </p:nvSpPr>
        <p:spPr>
          <a:xfrm>
            <a:off x="1073315" y="2158517"/>
            <a:ext cx="47904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Containerization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3324;p44">
            <a:extLst>
              <a:ext uri="{FF2B5EF4-FFF2-40B4-BE49-F238E27FC236}">
                <a16:creationId xmlns:a16="http://schemas.microsoft.com/office/drawing/2014/main" id="{99E05792-5942-F703-ED72-DBE3F5F01BBA}"/>
              </a:ext>
            </a:extLst>
          </p:cNvPr>
          <p:cNvSpPr txBox="1"/>
          <p:nvPr/>
        </p:nvSpPr>
        <p:spPr>
          <a:xfrm>
            <a:off x="827503" y="2786046"/>
            <a:ext cx="5282100" cy="21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30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1" i="0" u="none" strike="noStrike" cap="none" dirty="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Containerization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 is the process of building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application along with all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its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required dependencies and configuration files so that it can be run on any computing environment efficientl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y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is an open platform for running and developing applications</a:t>
            </a:r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0" indent="-3302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Docker is the most common tool used in the </a:t>
            </a:r>
            <a:r>
              <a:rPr lang="en-US" sz="1600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600" b="0" i="0" u="none" strike="noStrike" cap="none" dirty="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ndustry to build containers</a:t>
            </a:r>
            <a:endParaRPr sz="1600" b="1" i="0" u="none" strike="noStrike" cap="none" dirty="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  <p:grpSp>
        <p:nvGrpSpPr>
          <p:cNvPr id="11" name="Google Shape;3325;p44">
            <a:extLst>
              <a:ext uri="{FF2B5EF4-FFF2-40B4-BE49-F238E27FC236}">
                <a16:creationId xmlns:a16="http://schemas.microsoft.com/office/drawing/2014/main" id="{8C705414-11DB-57D0-2BAB-D272A9D3544F}"/>
              </a:ext>
            </a:extLst>
          </p:cNvPr>
          <p:cNvGrpSpPr/>
          <p:nvPr/>
        </p:nvGrpSpPr>
        <p:grpSpPr>
          <a:xfrm>
            <a:off x="6605075" y="1486591"/>
            <a:ext cx="4790456" cy="3884818"/>
            <a:chOff x="6409106" y="1065923"/>
            <a:chExt cx="4790456" cy="3884818"/>
          </a:xfrm>
        </p:grpSpPr>
        <p:grpSp>
          <p:nvGrpSpPr>
            <p:cNvPr id="12" name="Google Shape;3326;p44">
              <a:extLst>
                <a:ext uri="{FF2B5EF4-FFF2-40B4-BE49-F238E27FC236}">
                  <a16:creationId xmlns:a16="http://schemas.microsoft.com/office/drawing/2014/main" id="{6AA86E77-2CF7-7468-D737-7A9E90A181A4}"/>
                </a:ext>
              </a:extLst>
            </p:cNvPr>
            <p:cNvGrpSpPr/>
            <p:nvPr/>
          </p:nvGrpSpPr>
          <p:grpSpPr>
            <a:xfrm>
              <a:off x="7004900" y="1898541"/>
              <a:ext cx="3771290" cy="3052200"/>
              <a:chOff x="6654184" y="4370275"/>
              <a:chExt cx="3771290" cy="3052200"/>
            </a:xfrm>
          </p:grpSpPr>
          <p:sp>
            <p:nvSpPr>
              <p:cNvPr id="16" name="Google Shape;3327;p44">
                <a:extLst>
                  <a:ext uri="{FF2B5EF4-FFF2-40B4-BE49-F238E27FC236}">
                    <a16:creationId xmlns:a16="http://schemas.microsoft.com/office/drawing/2014/main" id="{E85854A5-6B02-0E9F-2365-381CE8C50BE2}"/>
                  </a:ext>
                </a:extLst>
              </p:cNvPr>
              <p:cNvSpPr/>
              <p:nvPr/>
            </p:nvSpPr>
            <p:spPr>
              <a:xfrm rot="-5400000">
                <a:off x="6263366" y="4761094"/>
                <a:ext cx="1266501" cy="484863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 A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7" name="Google Shape;3328;p44">
                <a:extLst>
                  <a:ext uri="{FF2B5EF4-FFF2-40B4-BE49-F238E27FC236}">
                    <a16:creationId xmlns:a16="http://schemas.microsoft.com/office/drawing/2014/main" id="{4A1914B6-1AA7-A003-C2E4-3610EAB3F44B}"/>
                  </a:ext>
                </a:extLst>
              </p:cNvPr>
              <p:cNvSpPr/>
              <p:nvPr/>
            </p:nvSpPr>
            <p:spPr>
              <a:xfrm>
                <a:off x="6654184" y="6974679"/>
                <a:ext cx="3771289" cy="447796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chemeClr val="bg2">
                    <a:lumMod val="50000"/>
                  </a:schemeClr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Infrastructure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8" name="Google Shape;3329;p44">
                <a:extLst>
                  <a:ext uri="{FF2B5EF4-FFF2-40B4-BE49-F238E27FC236}">
                    <a16:creationId xmlns:a16="http://schemas.microsoft.com/office/drawing/2014/main" id="{E28A59A7-911D-23FF-D7DE-DCD39B259006}"/>
                  </a:ext>
                </a:extLst>
              </p:cNvPr>
              <p:cNvSpPr/>
              <p:nvPr/>
            </p:nvSpPr>
            <p:spPr>
              <a:xfrm>
                <a:off x="6654184" y="6379446"/>
                <a:ext cx="3771289" cy="447796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0070C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Host Operating System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19" name="Google Shape;3330;p44">
                <a:extLst>
                  <a:ext uri="{FF2B5EF4-FFF2-40B4-BE49-F238E27FC236}">
                    <a16:creationId xmlns:a16="http://schemas.microsoft.com/office/drawing/2014/main" id="{CE4E92F4-CE65-5283-3F31-860931F6A6FA}"/>
                  </a:ext>
                </a:extLst>
              </p:cNvPr>
              <p:cNvSpPr/>
              <p:nvPr/>
            </p:nvSpPr>
            <p:spPr>
              <a:xfrm>
                <a:off x="6654184" y="5784213"/>
                <a:ext cx="3771289" cy="447796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Docker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0" name="Google Shape;3331;p44">
                <a:extLst>
                  <a:ext uri="{FF2B5EF4-FFF2-40B4-BE49-F238E27FC236}">
                    <a16:creationId xmlns:a16="http://schemas.microsoft.com/office/drawing/2014/main" id="{347DFA40-C315-97ED-4DFC-7D9D3EDEAE49}"/>
                  </a:ext>
                </a:extLst>
              </p:cNvPr>
              <p:cNvSpPr/>
              <p:nvPr/>
            </p:nvSpPr>
            <p:spPr>
              <a:xfrm rot="-5400000">
                <a:off x="6920651" y="4761094"/>
                <a:ext cx="1266501" cy="484863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 B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1" name="Google Shape;3332;p44">
                <a:extLst>
                  <a:ext uri="{FF2B5EF4-FFF2-40B4-BE49-F238E27FC236}">
                    <a16:creationId xmlns:a16="http://schemas.microsoft.com/office/drawing/2014/main" id="{4A67FF6C-8542-6287-D31B-2ABD1FBA5378}"/>
                  </a:ext>
                </a:extLst>
              </p:cNvPr>
              <p:cNvSpPr/>
              <p:nvPr/>
            </p:nvSpPr>
            <p:spPr>
              <a:xfrm rot="-5400000">
                <a:off x="7577936" y="4761094"/>
                <a:ext cx="1266501" cy="484863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 C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2" name="Google Shape;3333;p44">
                <a:extLst>
                  <a:ext uri="{FF2B5EF4-FFF2-40B4-BE49-F238E27FC236}">
                    <a16:creationId xmlns:a16="http://schemas.microsoft.com/office/drawing/2014/main" id="{902EDEB7-B22F-2B8A-E16F-96B85BDF5EBE}"/>
                  </a:ext>
                </a:extLst>
              </p:cNvPr>
              <p:cNvSpPr/>
              <p:nvPr/>
            </p:nvSpPr>
            <p:spPr>
              <a:xfrm rot="-5400000">
                <a:off x="8235221" y="4761094"/>
                <a:ext cx="1266501" cy="484863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 D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3" name="Google Shape;3334;p44">
                <a:extLst>
                  <a:ext uri="{FF2B5EF4-FFF2-40B4-BE49-F238E27FC236}">
                    <a16:creationId xmlns:a16="http://schemas.microsoft.com/office/drawing/2014/main" id="{39EEEF8A-6C84-35E7-E6DC-529789771D5F}"/>
                  </a:ext>
                </a:extLst>
              </p:cNvPr>
              <p:cNvSpPr/>
              <p:nvPr/>
            </p:nvSpPr>
            <p:spPr>
              <a:xfrm rot="-5400000">
                <a:off x="8892506" y="4761094"/>
                <a:ext cx="1266501" cy="484863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 E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  <p:sp>
            <p:nvSpPr>
              <p:cNvPr id="24" name="Google Shape;3335;p44">
                <a:extLst>
                  <a:ext uri="{FF2B5EF4-FFF2-40B4-BE49-F238E27FC236}">
                    <a16:creationId xmlns:a16="http://schemas.microsoft.com/office/drawing/2014/main" id="{3400CEA0-48FD-D81B-B642-A9D498DC7E7F}"/>
                  </a:ext>
                </a:extLst>
              </p:cNvPr>
              <p:cNvSpPr/>
              <p:nvPr/>
            </p:nvSpPr>
            <p:spPr>
              <a:xfrm rot="-5400000">
                <a:off x="9549792" y="4761094"/>
                <a:ext cx="1266501" cy="484863"/>
              </a:xfrm>
              <a:prstGeom prst="roundRect">
                <a:avLst>
                  <a:gd name="adj" fmla="val 16667"/>
                </a:avLst>
              </a:prstGeom>
              <a:noFill/>
              <a:ln w="28575" cap="flat" cmpd="sng">
                <a:solidFill>
                  <a:srgbClr val="FFC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0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App F</a:t>
                </a:r>
                <a:endParaRPr sz="1800" b="0" i="0" u="none" strike="noStrike" cap="none">
                  <a:solidFill>
                    <a:srgbClr val="000000"/>
                  </a:solidFill>
                  <a:latin typeface="Lato"/>
                  <a:ea typeface="Lato"/>
                  <a:cs typeface="Lato"/>
                  <a:sym typeface="Lato"/>
                </a:endParaRPr>
              </a:p>
            </p:txBody>
          </p:sp>
        </p:grpSp>
        <p:grpSp>
          <p:nvGrpSpPr>
            <p:cNvPr id="13" name="Google Shape;3336;p44">
              <a:extLst>
                <a:ext uri="{FF2B5EF4-FFF2-40B4-BE49-F238E27FC236}">
                  <a16:creationId xmlns:a16="http://schemas.microsoft.com/office/drawing/2014/main" id="{63496CA8-C9A2-66A4-0DE7-2C09F4CC9629}"/>
                </a:ext>
              </a:extLst>
            </p:cNvPr>
            <p:cNvGrpSpPr/>
            <p:nvPr/>
          </p:nvGrpSpPr>
          <p:grpSpPr>
            <a:xfrm>
              <a:off x="6409106" y="1065923"/>
              <a:ext cx="4790456" cy="685180"/>
              <a:chOff x="6409106" y="857868"/>
              <a:chExt cx="4790456" cy="685180"/>
            </a:xfrm>
          </p:grpSpPr>
          <p:sp>
            <p:nvSpPr>
              <p:cNvPr id="14" name="Google Shape;3337;p44">
                <a:extLst>
                  <a:ext uri="{FF2B5EF4-FFF2-40B4-BE49-F238E27FC236}">
                    <a16:creationId xmlns:a16="http://schemas.microsoft.com/office/drawing/2014/main" id="{7957594C-840B-0F68-1F90-A5DA3A2EDF1F}"/>
                  </a:ext>
                </a:extLst>
              </p:cNvPr>
              <p:cNvSpPr/>
              <p:nvPr/>
            </p:nvSpPr>
            <p:spPr>
              <a:xfrm rot="-5400000">
                <a:off x="8752238" y="-480905"/>
                <a:ext cx="276616" cy="3771290"/>
              </a:xfrm>
              <a:prstGeom prst="rightBracket">
                <a:avLst>
                  <a:gd name="adj" fmla="val 8333"/>
                </a:avLst>
              </a:prstGeom>
              <a:noFill/>
              <a:ln w="9525" cap="flat" cmpd="sng">
                <a:solidFill>
                  <a:schemeClr val="accent3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3338;p44">
                <a:extLst>
                  <a:ext uri="{FF2B5EF4-FFF2-40B4-BE49-F238E27FC236}">
                    <a16:creationId xmlns:a16="http://schemas.microsoft.com/office/drawing/2014/main" id="{1B97E023-27EB-958D-CDFA-5ED85EECA64B}"/>
                  </a:ext>
                </a:extLst>
              </p:cNvPr>
              <p:cNvSpPr txBox="1"/>
              <p:nvPr/>
            </p:nvSpPr>
            <p:spPr>
              <a:xfrm>
                <a:off x="6409106" y="857868"/>
                <a:ext cx="479045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ctr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en-US" sz="1800" b="1" i="0" u="none" strike="noStrike" cap="none">
                    <a:solidFill>
                      <a:srgbClr val="000000"/>
                    </a:solidFill>
                    <a:latin typeface="Lato"/>
                    <a:ea typeface="Lato"/>
                    <a:cs typeface="Lato"/>
                    <a:sym typeface="Lato"/>
                  </a:rPr>
                  <a:t>Containerization Applications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41644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5" dur="5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3343;p45" descr="What Is Container Orchestration?">
            <a:extLst>
              <a:ext uri="{FF2B5EF4-FFF2-40B4-BE49-F238E27FC236}">
                <a16:creationId xmlns:a16="http://schemas.microsoft.com/office/drawing/2014/main" id="{43F9BD83-AE15-E0A9-3DAF-EFCC90F42AD4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l="8328" r="6341" b="2"/>
          <a:stretch/>
        </p:blipFill>
        <p:spPr>
          <a:xfrm>
            <a:off x="6594377" y="1821050"/>
            <a:ext cx="4801154" cy="3563372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3344;p45">
            <a:extLst>
              <a:ext uri="{FF2B5EF4-FFF2-40B4-BE49-F238E27FC236}">
                <a16:creationId xmlns:a16="http://schemas.microsoft.com/office/drawing/2014/main" id="{A956DD51-D002-1104-1810-008714BEBA23}"/>
              </a:ext>
            </a:extLst>
          </p:cNvPr>
          <p:cNvSpPr txBox="1"/>
          <p:nvPr/>
        </p:nvSpPr>
        <p:spPr>
          <a:xfrm>
            <a:off x="1073315" y="1391016"/>
            <a:ext cx="47904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Orchestration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345;p45">
            <a:extLst>
              <a:ext uri="{FF2B5EF4-FFF2-40B4-BE49-F238E27FC236}">
                <a16:creationId xmlns:a16="http://schemas.microsoft.com/office/drawing/2014/main" id="{DE019445-D4C5-5504-E246-C1601EA03DCF}"/>
              </a:ext>
            </a:extLst>
          </p:cNvPr>
          <p:cNvSpPr txBox="1"/>
          <p:nvPr/>
        </p:nvSpPr>
        <p:spPr>
          <a:xfrm>
            <a:off x="827503" y="2018545"/>
            <a:ext cx="5282100" cy="428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the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method of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automat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ing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most of the manual work required to run containers in a production workload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Tasks such as scaling (up or down), networking, load balancing  and many more are managed by container orchestration tools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ample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: Kubernetes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is the most common open-source container orchestration tool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At present, it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is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the industry standard in terms of container orchestration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566928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●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was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built upon 10+ years of experience of running production workloads at Google, along with the best ideas and practices from the community</a:t>
            </a:r>
            <a:b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</a:br>
            <a:endParaRPr sz="1600" b="0" i="0" u="none" strike="noStrike" cap="non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1411794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pic>
        <p:nvPicPr>
          <p:cNvPr id="9" name="Google Shape;3350;p48" descr="What is Serverless Computing? What are its benefits?">
            <a:extLst>
              <a:ext uri="{FF2B5EF4-FFF2-40B4-BE49-F238E27FC236}">
                <a16:creationId xmlns:a16="http://schemas.microsoft.com/office/drawing/2014/main" id="{17A5E3E1-10A5-B19C-A48B-DE27653411D2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16771" r="1847"/>
          <a:stretch/>
        </p:blipFill>
        <p:spPr>
          <a:xfrm>
            <a:off x="6594378" y="2894838"/>
            <a:ext cx="4801154" cy="2476500"/>
          </a:xfrm>
          <a:prstGeom prst="roundRect">
            <a:avLst>
              <a:gd name="adj" fmla="val 2838"/>
            </a:avLst>
          </a:prstGeom>
          <a:noFill/>
          <a:ln w="9525" cap="flat" cmpd="sng">
            <a:solidFill>
              <a:srgbClr val="75707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" name="Google Shape;3351;p48">
            <a:extLst>
              <a:ext uri="{FF2B5EF4-FFF2-40B4-BE49-F238E27FC236}">
                <a16:creationId xmlns:a16="http://schemas.microsoft.com/office/drawing/2014/main" id="{EF9E0695-412C-AA4E-06EC-81AAECDE2484}"/>
              </a:ext>
            </a:extLst>
          </p:cNvPr>
          <p:cNvSpPr txBox="1"/>
          <p:nvPr/>
        </p:nvSpPr>
        <p:spPr>
          <a:xfrm>
            <a:off x="1073315" y="1921368"/>
            <a:ext cx="4790456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Serverless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3352;p48">
            <a:extLst>
              <a:ext uri="{FF2B5EF4-FFF2-40B4-BE49-F238E27FC236}">
                <a16:creationId xmlns:a16="http://schemas.microsoft.com/office/drawing/2014/main" id="{C1E5C9C9-E0C4-5C50-4424-04323E0871C7}"/>
              </a:ext>
            </a:extLst>
          </p:cNvPr>
          <p:cNvSpPr txBox="1"/>
          <p:nvPr/>
        </p:nvSpPr>
        <p:spPr>
          <a:xfrm>
            <a:off x="827503" y="2548897"/>
            <a:ext cx="5282100" cy="349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This involves b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uilding and running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application 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4"/>
                  </a:ext>
                </a:extLst>
              </a:rPr>
              <a:t>without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5"/>
                  </a:ext>
                </a:extLst>
              </a:rPr>
              <a:t>involving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6"/>
                  </a:ext>
                </a:extLst>
              </a:rPr>
              <a:t>  the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backend servers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ervers are managed by the cloud providers, and they take care of its allocation and provisioning 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The application is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broken into smaller functions that must be invoked for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it</a:t>
            </a: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to work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Examples: AWS Lambda, Azure Functions, and Google Cloud Functions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Noto Sans Symbols"/>
              <a:buChar char="🞆"/>
            </a:pPr>
            <a:r>
              <a:rPr lang="en-US"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"We relied on AWS Lambda to get our platform on the market in under four weeks. Within six months, we had scaled to 40,000 users without running a single server.” - Sam Kroonenburg, co-founder and CEO, A Cloud Guru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4001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7" name="Google Shape;3357;g23c268efcd9_0_1342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latin typeface="Proxima Nova"/>
                <a:ea typeface="Proxima Nova"/>
                <a:cs typeface="Proxima Nova"/>
                <a:sym typeface="Proxima Nova"/>
              </a:rPr>
              <a:t>43</a:t>
            </a:fld>
            <a:endParaRPr sz="12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58" name="Google Shape;3358;g23c268efcd9_0_1342"/>
          <p:cNvSpPr txBox="1"/>
          <p:nvPr/>
        </p:nvSpPr>
        <p:spPr>
          <a:xfrm>
            <a:off x="2099067" y="2401133"/>
            <a:ext cx="8351100" cy="23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 and Load Balancing </a:t>
            </a:r>
            <a:endParaRPr sz="43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59" name="Google Shape;3359;g23c268efcd9_0_1342"/>
          <p:cNvSpPr txBox="1">
            <a:spLocks noGrp="1"/>
          </p:cNvSpPr>
          <p:nvPr>
            <p:ph type="ftr" idx="11"/>
          </p:nvPr>
        </p:nvSpPr>
        <p:spPr>
          <a:xfrm>
            <a:off x="4375300" y="6356367"/>
            <a:ext cx="6302400" cy="365100"/>
          </a:xfrm>
          <a:prstGeom prst="rect">
            <a:avLst/>
          </a:prstGeom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/>
              <a:t>Web Application on Cloud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64;g23c268efcd9_0_0">
            <a:extLst>
              <a:ext uri="{FF2B5EF4-FFF2-40B4-BE49-F238E27FC236}">
                <a16:creationId xmlns:a16="http://schemas.microsoft.com/office/drawing/2014/main" id="{2C7159DA-F2AB-787E-18BB-F1FCB4B1334A}"/>
              </a:ext>
            </a:extLst>
          </p:cNvPr>
          <p:cNvSpPr txBox="1"/>
          <p:nvPr/>
        </p:nvSpPr>
        <p:spPr>
          <a:xfrm>
            <a:off x="2414400" y="1523212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4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VOTING </a:t>
            </a:r>
            <a:r>
              <a:rPr lang="en-US" sz="3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7"/>
                  </a:ext>
                </a:extLst>
              </a:rPr>
              <a:t>APP</a:t>
            </a:r>
            <a:r>
              <a:rPr lang="en-US" sz="3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LICATION</a:t>
            </a:r>
            <a:endParaRPr sz="3400" b="1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4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3365;g23c268efcd9_0_0">
            <a:extLst>
              <a:ext uri="{FF2B5EF4-FFF2-40B4-BE49-F238E27FC236}">
                <a16:creationId xmlns:a16="http://schemas.microsoft.com/office/drawing/2014/main" id="{968BC311-74D9-4FA9-3414-65A684B5D694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797765" y="2755738"/>
            <a:ext cx="6538573" cy="37209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9561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70;g23c268efcd9_0_3654">
            <a:extLst>
              <a:ext uri="{FF2B5EF4-FFF2-40B4-BE49-F238E27FC236}">
                <a16:creationId xmlns:a16="http://schemas.microsoft.com/office/drawing/2014/main" id="{DF2329D4-2B6B-E297-664B-EE15B4F82FCE}"/>
              </a:ext>
            </a:extLst>
          </p:cNvPr>
          <p:cNvSpPr txBox="1"/>
          <p:nvPr/>
        </p:nvSpPr>
        <p:spPr>
          <a:xfrm>
            <a:off x="2414400" y="1303407"/>
            <a:ext cx="7363200" cy="4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400" b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</a:t>
            </a:r>
            <a:endParaRPr sz="3400" b="1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3371;g23c268efcd9_0_3654">
            <a:extLst>
              <a:ext uri="{FF2B5EF4-FFF2-40B4-BE49-F238E27FC236}">
                <a16:creationId xmlns:a16="http://schemas.microsoft.com/office/drawing/2014/main" id="{895ECA11-B7B7-774A-43D1-ADDEF9E4FBAE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2266949"/>
            <a:ext cx="10799014" cy="4311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1890477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76;g23c268efcd9_0_7">
            <a:extLst>
              <a:ext uri="{FF2B5EF4-FFF2-40B4-BE49-F238E27FC236}">
                <a16:creationId xmlns:a16="http://schemas.microsoft.com/office/drawing/2014/main" id="{5C024FF6-31FD-1946-05FE-73ED468C1221}"/>
              </a:ext>
            </a:extLst>
          </p:cNvPr>
          <p:cNvSpPr txBox="1"/>
          <p:nvPr/>
        </p:nvSpPr>
        <p:spPr>
          <a:xfrm>
            <a:off x="2243958" y="1343707"/>
            <a:ext cx="7363200" cy="4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</a:t>
            </a:r>
            <a:endParaRPr sz="3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40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3377;g23c268efcd9_0_7">
            <a:extLst>
              <a:ext uri="{FF2B5EF4-FFF2-40B4-BE49-F238E27FC236}">
                <a16:creationId xmlns:a16="http://schemas.microsoft.com/office/drawing/2014/main" id="{C9FC7FB7-83A2-A5C6-572B-7296401E9480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2330957"/>
            <a:ext cx="10799014" cy="43117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9333160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82;g23c268efcd9_0_14">
            <a:extLst>
              <a:ext uri="{FF2B5EF4-FFF2-40B4-BE49-F238E27FC236}">
                <a16:creationId xmlns:a16="http://schemas.microsoft.com/office/drawing/2014/main" id="{B1B96FA9-71AC-2B4E-27BD-B4AF2C2F1CF1}"/>
              </a:ext>
            </a:extLst>
          </p:cNvPr>
          <p:cNvSpPr txBox="1"/>
          <p:nvPr/>
        </p:nvSpPr>
        <p:spPr>
          <a:xfrm>
            <a:off x="2414400" y="1470793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</a:t>
            </a:r>
            <a:endParaRPr sz="3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3383;g23c268efcd9_0_14">
            <a:extLst>
              <a:ext uri="{FF2B5EF4-FFF2-40B4-BE49-F238E27FC236}">
                <a16:creationId xmlns:a16="http://schemas.microsoft.com/office/drawing/2014/main" id="{887009F2-C095-A56A-52D8-5E5053D3154D}"/>
              </a:ext>
            </a:extLst>
          </p:cNvPr>
          <p:cNvSpPr txBox="1"/>
          <p:nvPr/>
        </p:nvSpPr>
        <p:spPr>
          <a:xfrm>
            <a:off x="640400" y="2437393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3384;g23c268efcd9_0_14">
            <a:extLst>
              <a:ext uri="{FF2B5EF4-FFF2-40B4-BE49-F238E27FC236}">
                <a16:creationId xmlns:a16="http://schemas.microsoft.com/office/drawing/2014/main" id="{E1D2A1FD-8244-4CD2-2F38-301BB50313AE}"/>
              </a:ext>
            </a:extLst>
          </p:cNvPr>
          <p:cNvSpPr txBox="1"/>
          <p:nvPr/>
        </p:nvSpPr>
        <p:spPr>
          <a:xfrm>
            <a:off x="640400" y="2437393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Scalability is the ability to easily increase or decrease compute or storage resources as needed to meet changing demand cost-effectively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Ideally, if your app takes t seconds to respond to a user request, it should take the same t seconds to respond to each of the million concurrent user requests on your app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The cloud has dramatically simplified all these scaling problems 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Remember</a:t>
            </a: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,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 scaling is important for all the parts of an application</a:t>
            </a: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Ignoring any part can result in downtime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16893107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89;g23c268efcd9_0_22">
            <a:extLst>
              <a:ext uri="{FF2B5EF4-FFF2-40B4-BE49-F238E27FC236}">
                <a16:creationId xmlns:a16="http://schemas.microsoft.com/office/drawing/2014/main" id="{8C0EF0DD-5078-F959-5FF4-4563A6382CA5}"/>
              </a:ext>
            </a:extLst>
          </p:cNvPr>
          <p:cNvSpPr txBox="1"/>
          <p:nvPr/>
        </p:nvSpPr>
        <p:spPr>
          <a:xfrm>
            <a:off x="505525" y="1888388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 STRATEGIES</a:t>
            </a:r>
            <a:endParaRPr sz="3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3390;g23c268efcd9_0_22">
            <a:extLst>
              <a:ext uri="{FF2B5EF4-FFF2-40B4-BE49-F238E27FC236}">
                <a16:creationId xmlns:a16="http://schemas.microsoft.com/office/drawing/2014/main" id="{DDD191CD-DA29-5DAE-EB8B-3A8838C8D18E}"/>
              </a:ext>
            </a:extLst>
          </p:cNvPr>
          <p:cNvSpPr txBox="1"/>
          <p:nvPr/>
        </p:nvSpPr>
        <p:spPr>
          <a:xfrm>
            <a:off x="631256" y="2547121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3391;g23c268efcd9_0_22">
            <a:extLst>
              <a:ext uri="{FF2B5EF4-FFF2-40B4-BE49-F238E27FC236}">
                <a16:creationId xmlns:a16="http://schemas.microsoft.com/office/drawing/2014/main" id="{AC8A05DC-F5A3-41D9-5267-5FB8D2BAB5FD}"/>
              </a:ext>
            </a:extLst>
          </p:cNvPr>
          <p:cNvSpPr txBox="1"/>
          <p:nvPr/>
        </p:nvSpPr>
        <p:spPr>
          <a:xfrm>
            <a:off x="631256" y="2547121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Vertical 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caling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Adding resources to existing servers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Replacing 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</a:t>
            </a: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 server with 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 </a:t>
            </a: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bigger/more powerful server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Example: Changing t2.small to t2.large in AWS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Horizontal </a:t>
            </a:r>
            <a:r>
              <a:rPr lang="en-US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</a:t>
            </a: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caling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Provision of additional servers to meet the need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Execute the concurrent workload and handle traffic efficiently 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400">
                <a:latin typeface="Proxima Nova"/>
                <a:ea typeface="Proxima Nova"/>
                <a:cs typeface="Proxima Nova"/>
                <a:sym typeface="Proxima Nova"/>
              </a:rPr>
              <a:t>Example: Adding 2 more nodes in a cluster of 3 nodes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37944599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49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396;g23c268efcd9_0_30">
            <a:extLst>
              <a:ext uri="{FF2B5EF4-FFF2-40B4-BE49-F238E27FC236}">
                <a16:creationId xmlns:a16="http://schemas.microsoft.com/office/drawing/2014/main" id="{711E29AF-5AB9-4352-57F4-661076AFB9C9}"/>
              </a:ext>
            </a:extLst>
          </p:cNvPr>
          <p:cNvSpPr txBox="1"/>
          <p:nvPr/>
        </p:nvSpPr>
        <p:spPr>
          <a:xfrm>
            <a:off x="2414400" y="1372460"/>
            <a:ext cx="7363200" cy="4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 STRATEGIES</a:t>
            </a:r>
            <a:endParaRPr sz="3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3397;g23c268efcd9_0_30">
            <a:extLst>
              <a:ext uri="{FF2B5EF4-FFF2-40B4-BE49-F238E27FC236}">
                <a16:creationId xmlns:a16="http://schemas.microsoft.com/office/drawing/2014/main" id="{1C540E04-BED8-FE1F-85E3-74295943536C}"/>
              </a:ext>
            </a:extLst>
          </p:cNvPr>
          <p:cNvSpPr txBox="1"/>
          <p:nvPr/>
        </p:nvSpPr>
        <p:spPr>
          <a:xfrm>
            <a:off x="640400" y="1824614"/>
            <a:ext cx="10911300" cy="3472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1" name="Google Shape;3398;g23c268efcd9_0_30">
            <a:extLst>
              <a:ext uri="{FF2B5EF4-FFF2-40B4-BE49-F238E27FC236}">
                <a16:creationId xmlns:a16="http://schemas.microsoft.com/office/drawing/2014/main" id="{6DCA4BF4-5456-0CD0-5603-DFB471EC7DA9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298700" y="2391917"/>
            <a:ext cx="7594600" cy="43668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93305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50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03;g23c268efcd9_0_38">
            <a:extLst>
              <a:ext uri="{FF2B5EF4-FFF2-40B4-BE49-F238E27FC236}">
                <a16:creationId xmlns:a16="http://schemas.microsoft.com/office/drawing/2014/main" id="{D4186FB1-BDBE-A249-F812-598F5CADED46}"/>
              </a:ext>
            </a:extLst>
          </p:cNvPr>
          <p:cNvSpPr txBox="1"/>
          <p:nvPr/>
        </p:nvSpPr>
        <p:spPr>
          <a:xfrm>
            <a:off x="640350" y="2721689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Vertical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■"/>
            </a:pP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When data is on a single machine and partitioning is complicated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■"/>
            </a:pP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R</a:t>
            </a: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8"/>
                  </a:ext>
                </a:extLst>
              </a:rPr>
              <a:t>esources perform some </a:t>
            </a:r>
            <a:r>
              <a:rPr lang="en-US" sz="20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8"/>
                  </a:ext>
                </a:extLst>
              </a:rPr>
              <a:t>cron</a:t>
            </a: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8"/>
                  </a:ext>
                </a:extLst>
              </a:rPr>
              <a:t> job operations and </a:t>
            </a:r>
            <a:r>
              <a:rPr lang="en-US" sz="2000" dirty="0" err="1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9"/>
                  </a:ext>
                </a:extLst>
              </a:rPr>
              <a:t>duplicacy</a:t>
            </a: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9"/>
                  </a:ext>
                </a:extLst>
              </a:rPr>
              <a:t> </a:t>
            </a: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0"/>
                  </a:ext>
                </a:extLst>
              </a:rPr>
              <a:t>can lead to errors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Horizontal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roxima Nova"/>
              <a:buChar char="■"/>
            </a:pPr>
            <a:r>
              <a:rPr lang="en-US" sz="20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It can provide instant and continuous availability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■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1"/>
                  </a:ext>
                </a:extLst>
              </a:rPr>
              <a:t>There is no limit to the hardware capacity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■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It is applicable when having multiple machines does not cause data </a:t>
            </a:r>
            <a:r>
              <a:rPr lang="en-US" sz="2000" dirty="0" err="1"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2"/>
                  </a:ext>
                </a:extLst>
              </a:rPr>
              <a:t>duplicacy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2"/>
                  </a:ext>
                </a:extLst>
              </a:rPr>
              <a:t> 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errors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■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Run only the required hardware and choose not to pay for full capacity every time</a:t>
            </a: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3404;g23c268efcd9_0_38">
            <a:extLst>
              <a:ext uri="{FF2B5EF4-FFF2-40B4-BE49-F238E27FC236}">
                <a16:creationId xmlns:a16="http://schemas.microsoft.com/office/drawing/2014/main" id="{B1C4832C-9FBB-BDFD-C08D-3AD0BC2C5C4E}"/>
              </a:ext>
            </a:extLst>
          </p:cNvPr>
          <p:cNvSpPr txBox="1"/>
          <p:nvPr/>
        </p:nvSpPr>
        <p:spPr>
          <a:xfrm>
            <a:off x="514669" y="1796948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SCALING: USE CASES</a:t>
            </a:r>
            <a:endParaRPr sz="3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339991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51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11" name="Google Shape;3409;g23c268efcd9_0_45">
            <a:extLst>
              <a:ext uri="{FF2B5EF4-FFF2-40B4-BE49-F238E27FC236}">
                <a16:creationId xmlns:a16="http://schemas.microsoft.com/office/drawing/2014/main" id="{9E2AE9CD-D9DB-016F-4A77-F9289B238BF7}"/>
              </a:ext>
            </a:extLst>
          </p:cNvPr>
          <p:cNvSpPr txBox="1"/>
          <p:nvPr/>
        </p:nvSpPr>
        <p:spPr>
          <a:xfrm>
            <a:off x="-97440" y="2721689"/>
            <a:ext cx="121920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b="1" dirty="0">
                <a:latin typeface="Proxima Nova"/>
                <a:ea typeface="Proxima Nova"/>
                <a:cs typeface="Proxima Nova"/>
                <a:sym typeface="Proxima Nova"/>
              </a:rPr>
              <a:t>Vertical</a:t>
            </a:r>
            <a:endParaRPr sz="20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6AA84F"/>
                </a:solidFill>
                <a:latin typeface="Proxima Nova"/>
                <a:ea typeface="Proxima Nova"/>
                <a:cs typeface="Proxima Nova"/>
                <a:sym typeface="Proxima Nova"/>
              </a:rPr>
              <a:t>Less administrative efforts, as you need to manage just one system</a:t>
            </a:r>
            <a:endParaRPr sz="20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Involves downtime</a:t>
            </a:r>
            <a:endParaRPr sz="2000" b="1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3"/>
                  </a:ext>
                </a:extLst>
              </a:rPr>
              <a:t>Hardware always runs at full capacity</a:t>
            </a:r>
            <a:endParaRPr sz="2000" b="1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Finite scope for upgradeability in the future</a:t>
            </a:r>
            <a:endParaRPr sz="2000" b="1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b="1" dirty="0">
                <a:latin typeface="Proxima Nova"/>
                <a:ea typeface="Proxima Nova"/>
                <a:cs typeface="Proxima Nova"/>
                <a:sym typeface="Proxima Nova"/>
              </a:rPr>
              <a:t>Horizontal</a:t>
            </a:r>
            <a:endParaRPr sz="2000" b="1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6AA84F"/>
                </a:solidFill>
                <a:latin typeface="Proxima Nova"/>
                <a:ea typeface="Proxima Nova"/>
                <a:cs typeface="Proxima Nova"/>
                <a:sym typeface="Proxima Nova"/>
              </a:rPr>
              <a:t>No downtime;</a:t>
            </a:r>
            <a:r>
              <a:rPr lang="en-US" sz="2000" b="1" dirty="0">
                <a:solidFill>
                  <a:srgbClr val="6AA84F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4"/>
                  </a:ext>
                </a:extLst>
              </a:rPr>
              <a:t> dynamic increase or decrease in the resources</a:t>
            </a:r>
            <a:endParaRPr sz="2000" b="1" dirty="0">
              <a:solidFill>
                <a:srgbClr val="6AA8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6AA84F"/>
                </a:solidFill>
                <a:latin typeface="Proxima Nova"/>
                <a:ea typeface="Proxima Nova"/>
                <a:cs typeface="Proxima Nova"/>
                <a:sym typeface="Proxima Nova"/>
              </a:rPr>
              <a:t>Choice to run only a specific quantity of hardware</a:t>
            </a:r>
            <a:endParaRPr sz="2000" b="1" dirty="0">
              <a:solidFill>
                <a:srgbClr val="6AA8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6AA84F"/>
                </a:solidFill>
                <a:latin typeface="Proxima Nova"/>
                <a:ea typeface="Proxima Nova"/>
                <a:cs typeface="Proxima Nova"/>
                <a:sym typeface="Proxima Nova"/>
              </a:rPr>
              <a:t>Easier to run fault-tolerance</a:t>
            </a:r>
            <a:endParaRPr sz="2000" b="1" dirty="0">
              <a:solidFill>
                <a:srgbClr val="6AA8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rgbClr val="6AA84F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6AA84F"/>
                </a:solidFill>
                <a:latin typeface="Proxima Nova"/>
                <a:ea typeface="Proxima Nova"/>
                <a:cs typeface="Proxima Nova"/>
                <a:sym typeface="Proxima Nova"/>
              </a:rPr>
              <a:t>Infinite scope for scaling</a:t>
            </a:r>
            <a:endParaRPr sz="2000" b="1" dirty="0">
              <a:solidFill>
                <a:srgbClr val="6AA84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2" indent="-4572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Proxima Nova"/>
              <a:buChar char="■"/>
            </a:pPr>
            <a:r>
              <a:rPr lang="en-US" sz="2000" b="1" dirty="0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t>Architectural design likely to become highly complicated</a:t>
            </a:r>
            <a:endParaRPr sz="2000" b="1" dirty="0"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18288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" name="Google Shape;3410;g23c268efcd9_0_45">
            <a:extLst>
              <a:ext uri="{FF2B5EF4-FFF2-40B4-BE49-F238E27FC236}">
                <a16:creationId xmlns:a16="http://schemas.microsoft.com/office/drawing/2014/main" id="{68AB0CED-B9E5-7D52-465C-3A3763FC0BC4}"/>
              </a:ext>
            </a:extLst>
          </p:cNvPr>
          <p:cNvSpPr txBox="1"/>
          <p:nvPr/>
        </p:nvSpPr>
        <p:spPr>
          <a:xfrm>
            <a:off x="2414400" y="1886835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SCALING: PROS AND CONS</a:t>
            </a:r>
            <a:endParaRPr sz="3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44427404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52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15;g23c268efcd9_0_58">
            <a:extLst>
              <a:ext uri="{FF2B5EF4-FFF2-40B4-BE49-F238E27FC236}">
                <a16:creationId xmlns:a16="http://schemas.microsoft.com/office/drawing/2014/main" id="{8025529E-9CB0-1EE4-96BF-25DB0EA2BCA4}"/>
              </a:ext>
            </a:extLst>
          </p:cNvPr>
          <p:cNvSpPr txBox="1"/>
          <p:nvPr/>
        </p:nvSpPr>
        <p:spPr>
          <a:xfrm>
            <a:off x="2243958" y="1404449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5"/>
                  </a:ext>
                </a:extLst>
              </a:rPr>
              <a:t>WAYS TO SCALE</a:t>
            </a:r>
            <a:endParaRPr sz="3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3416;g23c268efcd9_0_58">
            <a:extLst>
              <a:ext uri="{FF2B5EF4-FFF2-40B4-BE49-F238E27FC236}">
                <a16:creationId xmlns:a16="http://schemas.microsoft.com/office/drawing/2014/main" id="{3F95DE74-D732-A024-83E2-112C5361DB46}"/>
              </a:ext>
            </a:extLst>
          </p:cNvPr>
          <p:cNvSpPr txBox="1"/>
          <p:nvPr/>
        </p:nvSpPr>
        <p:spPr>
          <a:xfrm>
            <a:off x="640400" y="2172217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3417;g23c268efcd9_0_58">
            <a:extLst>
              <a:ext uri="{FF2B5EF4-FFF2-40B4-BE49-F238E27FC236}">
                <a16:creationId xmlns:a16="http://schemas.microsoft.com/office/drawing/2014/main" id="{3555E23C-2209-551B-72BD-2F64565BC8DD}"/>
              </a:ext>
            </a:extLst>
          </p:cNvPr>
          <p:cNvSpPr txBox="1"/>
          <p:nvPr/>
        </p:nvSpPr>
        <p:spPr>
          <a:xfrm>
            <a:off x="640350" y="2190878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Manual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Manual efforts required for scaling operations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Not ideal for sudden fluctuations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Can lead to human errors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Scheduled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For predictable workloads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Effective for 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6"/>
                  </a:ext>
                </a:extLst>
              </a:rPr>
              <a:t>non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-production systems or predictable 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7"/>
                  </a:ext>
                </a:extLst>
              </a:rPr>
              <a:t>prod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uction traffic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Example: Shut-down of 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8"/>
                  </a:ext>
                </a:extLst>
              </a:rPr>
              <a:t>non-production env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ironments in the night hours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Cost-effective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Automatic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Based on predefined rules and thresholds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Makes an application always available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1219200" lvl="1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○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Must be configured in dynamic traffic applications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156966763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53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22;g23c268efcd9_0_52">
            <a:extLst>
              <a:ext uri="{FF2B5EF4-FFF2-40B4-BE49-F238E27FC236}">
                <a16:creationId xmlns:a16="http://schemas.microsoft.com/office/drawing/2014/main" id="{89DB89CF-A102-FE86-A3CC-16C5BD7D7841}"/>
              </a:ext>
            </a:extLst>
          </p:cNvPr>
          <p:cNvSpPr txBox="1"/>
          <p:nvPr/>
        </p:nvSpPr>
        <p:spPr>
          <a:xfrm>
            <a:off x="2142117" y="1328541"/>
            <a:ext cx="7363200" cy="4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2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SCALING: WHAT DO WE ACHIEVE?</a:t>
            </a:r>
            <a:endParaRPr sz="32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32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3423;g23c268efcd9_0_52">
            <a:extLst>
              <a:ext uri="{FF2B5EF4-FFF2-40B4-BE49-F238E27FC236}">
                <a16:creationId xmlns:a16="http://schemas.microsoft.com/office/drawing/2014/main" id="{9C159B9B-6277-1CC5-3938-11E90FF737C2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04800" y="1966858"/>
            <a:ext cx="11221608" cy="448044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3970582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54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28;g23c268efcd9_0_80">
            <a:extLst>
              <a:ext uri="{FF2B5EF4-FFF2-40B4-BE49-F238E27FC236}">
                <a16:creationId xmlns:a16="http://schemas.microsoft.com/office/drawing/2014/main" id="{6A0074CC-338C-A4A3-77D1-83CF2C9B283E}"/>
              </a:ext>
            </a:extLst>
          </p:cNvPr>
          <p:cNvSpPr txBox="1"/>
          <p:nvPr/>
        </p:nvSpPr>
        <p:spPr>
          <a:xfrm>
            <a:off x="2067000" y="1299952"/>
            <a:ext cx="8058000" cy="4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LOAD BALANCING (LB)</a:t>
            </a:r>
            <a:endParaRPr sz="32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3429;g23c268efcd9_0_80">
            <a:extLst>
              <a:ext uri="{FF2B5EF4-FFF2-40B4-BE49-F238E27FC236}">
                <a16:creationId xmlns:a16="http://schemas.microsoft.com/office/drawing/2014/main" id="{F1E91D62-0954-F0D7-CDBA-3BCF077197F3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 t="3260"/>
          <a:stretch/>
        </p:blipFill>
        <p:spPr>
          <a:xfrm>
            <a:off x="496267" y="2005015"/>
            <a:ext cx="10653965" cy="458727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7091864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55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34;g23c268efcd9_0_87">
            <a:extLst>
              <a:ext uri="{FF2B5EF4-FFF2-40B4-BE49-F238E27FC236}">
                <a16:creationId xmlns:a16="http://schemas.microsoft.com/office/drawing/2014/main" id="{AEE41BD4-6C2B-F803-F5C5-D0F255251FDD}"/>
              </a:ext>
            </a:extLst>
          </p:cNvPr>
          <p:cNvSpPr txBox="1"/>
          <p:nvPr/>
        </p:nvSpPr>
        <p:spPr>
          <a:xfrm>
            <a:off x="514669" y="1961540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LOAD BALANCING (LB)</a:t>
            </a:r>
            <a:endParaRPr sz="3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3435;g23c268efcd9_0_87">
            <a:extLst>
              <a:ext uri="{FF2B5EF4-FFF2-40B4-BE49-F238E27FC236}">
                <a16:creationId xmlns:a16="http://schemas.microsoft.com/office/drawing/2014/main" id="{91B90027-23BE-02B9-482F-4D7583D09E61}"/>
              </a:ext>
            </a:extLst>
          </p:cNvPr>
          <p:cNvSpPr txBox="1"/>
          <p:nvPr/>
        </p:nvSpPr>
        <p:spPr>
          <a:xfrm>
            <a:off x="640400" y="2620273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3436;g23c268efcd9_0_87">
            <a:extLst>
              <a:ext uri="{FF2B5EF4-FFF2-40B4-BE49-F238E27FC236}">
                <a16:creationId xmlns:a16="http://schemas.microsoft.com/office/drawing/2014/main" id="{3770C866-2C4B-4D72-13B4-78AF0B0236EA}"/>
              </a:ext>
            </a:extLst>
          </p:cNvPr>
          <p:cNvSpPr txBox="1"/>
          <p:nvPr/>
        </p:nvSpPr>
        <p:spPr>
          <a:xfrm>
            <a:off x="640400" y="2620273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Load balancing refers to efficiently distributing application requests across all the healthy back-end servers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It is the key component of highly available infrastructure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It provides the flexibility to add or remove servers as per demand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The user accesses the 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9"/>
                  </a:ext>
                </a:extLst>
              </a:rPr>
              <a:t>LB</a:t>
            </a: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, which forwards the user’s request to a back-end server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It saves us from launching any application server in a public subnet. Only the LB needs to be launched in a public subnet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It ensures the effective use of all the available servers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-US" sz="2000" dirty="0">
                <a:latin typeface="Proxima Nova"/>
                <a:ea typeface="Proxima Nova"/>
                <a:cs typeface="Proxima Nova"/>
                <a:sym typeface="Proxima Nova"/>
              </a:rPr>
              <a:t>It saves cost</a:t>
            </a: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3010278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56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41;g23c268efcd9_0_95">
            <a:extLst>
              <a:ext uri="{FF2B5EF4-FFF2-40B4-BE49-F238E27FC236}">
                <a16:creationId xmlns:a16="http://schemas.microsoft.com/office/drawing/2014/main" id="{61AB4AEE-270F-7247-D0AD-85BC9C8CA661}"/>
              </a:ext>
            </a:extLst>
          </p:cNvPr>
          <p:cNvSpPr txBox="1"/>
          <p:nvPr/>
        </p:nvSpPr>
        <p:spPr>
          <a:xfrm>
            <a:off x="1536078" y="1303407"/>
            <a:ext cx="7363200" cy="4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LOAD </a:t>
            </a:r>
            <a:r>
              <a:rPr lang="en-US" sz="3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0"/>
                  </a:ext>
                </a:extLst>
              </a:rPr>
              <a:t>BALANCING</a:t>
            </a:r>
            <a:r>
              <a:rPr lang="en-US" sz="32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 (LB)</a:t>
            </a:r>
            <a:endParaRPr sz="32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3442;g23c268efcd9_0_95">
            <a:extLst>
              <a:ext uri="{FF2B5EF4-FFF2-40B4-BE49-F238E27FC236}">
                <a16:creationId xmlns:a16="http://schemas.microsoft.com/office/drawing/2014/main" id="{6108FBFF-B48B-BDD8-DC92-44E4B355981D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40567" y="1691520"/>
            <a:ext cx="10222741" cy="476775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631166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57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47;g23c268efcd9_0_101">
            <a:extLst>
              <a:ext uri="{FF2B5EF4-FFF2-40B4-BE49-F238E27FC236}">
                <a16:creationId xmlns:a16="http://schemas.microsoft.com/office/drawing/2014/main" id="{1215E270-C520-5CA9-8828-BCE1A1D3C18C}"/>
              </a:ext>
            </a:extLst>
          </p:cNvPr>
          <p:cNvSpPr txBox="1"/>
          <p:nvPr/>
        </p:nvSpPr>
        <p:spPr>
          <a:xfrm>
            <a:off x="514669" y="1909237"/>
            <a:ext cx="7363200" cy="5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34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LOAD BALANCING TYPES</a:t>
            </a:r>
            <a:endParaRPr sz="34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0" name="Google Shape;3448;g23c268efcd9_0_101">
            <a:extLst>
              <a:ext uri="{FF2B5EF4-FFF2-40B4-BE49-F238E27FC236}">
                <a16:creationId xmlns:a16="http://schemas.microsoft.com/office/drawing/2014/main" id="{EDE4E1E9-5FBE-F411-3059-2B2585C09515}"/>
              </a:ext>
            </a:extLst>
          </p:cNvPr>
          <p:cNvSpPr txBox="1"/>
          <p:nvPr/>
        </p:nvSpPr>
        <p:spPr>
          <a:xfrm>
            <a:off x="640400" y="2446537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1" name="Google Shape;3449;g23c268efcd9_0_101">
            <a:extLst>
              <a:ext uri="{FF2B5EF4-FFF2-40B4-BE49-F238E27FC236}">
                <a16:creationId xmlns:a16="http://schemas.microsoft.com/office/drawing/2014/main" id="{5D6DCBA2-8ED7-4A8B-3F3C-1A7E0600E884}"/>
              </a:ext>
            </a:extLst>
          </p:cNvPr>
          <p:cNvSpPr txBox="1"/>
          <p:nvPr/>
        </p:nvSpPr>
        <p:spPr>
          <a:xfrm>
            <a:off x="640400" y="2446537"/>
            <a:ext cx="10911300" cy="38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400"/>
              <a:buChar char="●"/>
            </a:pPr>
            <a:r>
              <a:rPr lang="en-US" sz="2400" b="1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Round robin:</a:t>
            </a:r>
            <a:r>
              <a:rPr lang="en-US" sz="2400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 This is the most common type and is widely used. Requests are distributed sequentially (one by one to each server)</a:t>
            </a:r>
            <a:endParaRPr sz="2400">
              <a:solidFill>
                <a:srgbClr val="3434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400"/>
              <a:buChar char="●"/>
            </a:pPr>
            <a:r>
              <a:rPr lang="en-US" sz="2400" b="1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Least connections:</a:t>
            </a:r>
            <a:r>
              <a:rPr lang="en-US" sz="2400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 The server with the fewest connections is awarded the new request</a:t>
            </a:r>
            <a:endParaRPr sz="2400">
              <a:solidFill>
                <a:srgbClr val="3434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400"/>
              <a:buChar char="●"/>
            </a:pPr>
            <a:r>
              <a:rPr lang="en-US" sz="2400" b="1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Least time:</a:t>
            </a:r>
            <a:r>
              <a:rPr lang="en-US" sz="2400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 It depends on the fastest response time and the fewest active connections</a:t>
            </a:r>
            <a:endParaRPr sz="2400">
              <a:solidFill>
                <a:srgbClr val="3434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-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43434"/>
              </a:buClr>
              <a:buSzPts val="2400"/>
              <a:buChar char="●"/>
            </a:pPr>
            <a:r>
              <a:rPr lang="en-US" sz="2400" b="1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IP hash:</a:t>
            </a:r>
            <a:r>
              <a:rPr lang="en-US" sz="2400">
                <a:solidFill>
                  <a:srgbClr val="343434"/>
                </a:solidFill>
                <a:latin typeface="Proxima Nova"/>
                <a:ea typeface="Proxima Nova"/>
                <a:cs typeface="Proxima Nova"/>
                <a:sym typeface="Proxima Nova"/>
              </a:rPr>
              <a:t> This is used for sticky sessions. The IP address of the client is used to determine which server receives the request</a:t>
            </a:r>
            <a:endParaRPr sz="2400">
              <a:solidFill>
                <a:srgbClr val="343434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320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marL="6096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  <p:extLst>
      <p:ext uri="{BB962C8B-B14F-4D97-AF65-F5344CB8AC3E}">
        <p14:creationId xmlns:p14="http://schemas.microsoft.com/office/powerpoint/2010/main" val="255944852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58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sp>
        <p:nvSpPr>
          <p:cNvPr id="9" name="Google Shape;3454;g23c268efcd9_0_109">
            <a:extLst>
              <a:ext uri="{FF2B5EF4-FFF2-40B4-BE49-F238E27FC236}">
                <a16:creationId xmlns:a16="http://schemas.microsoft.com/office/drawing/2014/main" id="{FC7E75CA-62FD-5002-6E2B-C8D190A671C8}"/>
              </a:ext>
            </a:extLst>
          </p:cNvPr>
          <p:cNvSpPr txBox="1"/>
          <p:nvPr/>
        </p:nvSpPr>
        <p:spPr>
          <a:xfrm>
            <a:off x="2433272" y="1303407"/>
            <a:ext cx="7325455" cy="488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8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r>
              <a:rPr lang="en-US" sz="2800" dirty="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LOAD BALANCING: WHAT DO WE ACHIEVE?</a:t>
            </a:r>
            <a:endParaRPr sz="2800" dirty="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None/>
            </a:pPr>
            <a:endParaRPr sz="2800" dirty="0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10" name="Google Shape;3455;g23c268efcd9_0_109">
            <a:extLst>
              <a:ext uri="{FF2B5EF4-FFF2-40B4-BE49-F238E27FC236}">
                <a16:creationId xmlns:a16="http://schemas.microsoft.com/office/drawing/2014/main" id="{3DC9B2DF-14DE-3AC5-D9D7-205770FC35C5}"/>
              </a:ext>
            </a:extLst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68947" y="2341820"/>
            <a:ext cx="10123148" cy="431171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5469312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864;p59">
            <a:extLst>
              <a:ext uri="{FF2B5EF4-FFF2-40B4-BE49-F238E27FC236}">
                <a16:creationId xmlns:a16="http://schemas.microsoft.com/office/drawing/2014/main" id="{7A2FFAB5-A837-B08E-22D5-D9FA862A104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9402699" y="6358709"/>
            <a:ext cx="2057400" cy="3645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900">
                <a:latin typeface="Proxima Nova"/>
                <a:ea typeface="Proxima Nova"/>
                <a:cs typeface="Proxima Nova"/>
                <a:sym typeface="Proxima Nova"/>
              </a:rPr>
              <a:t>59</a:t>
            </a:fld>
            <a:endParaRPr sz="9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" name="Google Shape;618;p34">
            <a:extLst>
              <a:ext uri="{FF2B5EF4-FFF2-40B4-BE49-F238E27FC236}">
                <a16:creationId xmlns:a16="http://schemas.microsoft.com/office/drawing/2014/main" id="{9EA8F3DC-D7BB-51CF-3D2A-9FBA61EA9597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0431399" y="365787"/>
            <a:ext cx="923272" cy="837723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3B35CB-A5FF-FAE7-D660-EF5CA5BF4D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9278" y="715834"/>
            <a:ext cx="1212079" cy="32055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906045-6F94-E57D-3F82-95B57EFA01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" y="11476"/>
            <a:ext cx="2238883" cy="178038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CA51130-91C8-0D4D-B666-4EFB408673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2968" y="-14988"/>
            <a:ext cx="963240" cy="12184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4441A4B-4DD9-6F80-BA99-3F2DD42865F3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11000"/>
          </a:blip>
          <a:stretch>
            <a:fillRect/>
          </a:stretch>
        </p:blipFill>
        <p:spPr>
          <a:xfrm rot="10800000">
            <a:off x="11258318" y="6126356"/>
            <a:ext cx="939090" cy="74677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6881E7-E998-ACE7-D2FF-3C3861068AEB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7000"/>
          </a:blip>
          <a:stretch>
            <a:fillRect/>
          </a:stretch>
        </p:blipFill>
        <p:spPr>
          <a:xfrm rot="10800000">
            <a:off x="8803" y="6369939"/>
            <a:ext cx="370439" cy="468604"/>
          </a:xfrm>
          <a:prstGeom prst="rect">
            <a:avLst/>
          </a:prstGeom>
        </p:spPr>
      </p:pic>
      <p:grpSp>
        <p:nvGrpSpPr>
          <p:cNvPr id="9" name="Google Shape;3460;p31">
            <a:extLst>
              <a:ext uri="{FF2B5EF4-FFF2-40B4-BE49-F238E27FC236}">
                <a16:creationId xmlns:a16="http://schemas.microsoft.com/office/drawing/2014/main" id="{16633C31-520A-2E53-555E-4C1B926D5A9A}"/>
              </a:ext>
            </a:extLst>
          </p:cNvPr>
          <p:cNvGrpSpPr/>
          <p:nvPr/>
        </p:nvGrpSpPr>
        <p:grpSpPr>
          <a:xfrm>
            <a:off x="4055895" y="5819195"/>
            <a:ext cx="4296619" cy="704214"/>
            <a:chOff x="6389225" y="1006997"/>
            <a:chExt cx="4726281" cy="774635"/>
          </a:xfrm>
        </p:grpSpPr>
        <p:sp>
          <p:nvSpPr>
            <p:cNvPr id="10" name="Google Shape;3461;p31">
              <a:extLst>
                <a:ext uri="{FF2B5EF4-FFF2-40B4-BE49-F238E27FC236}">
                  <a16:creationId xmlns:a16="http://schemas.microsoft.com/office/drawing/2014/main" id="{9B492C9A-BCBF-E2C5-3966-D94A622E7F4B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23AE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3462;p31">
              <a:extLst>
                <a:ext uri="{FF2B5EF4-FFF2-40B4-BE49-F238E27FC236}">
                  <a16:creationId xmlns:a16="http://schemas.microsoft.com/office/drawing/2014/main" id="{7362C8A5-6C58-ACC1-62DC-74064B5A82E9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3463;p31">
              <a:extLst>
                <a:ext uri="{FF2B5EF4-FFF2-40B4-BE49-F238E27FC236}">
                  <a16:creationId xmlns:a16="http://schemas.microsoft.com/office/drawing/2014/main" id="{30ADA75F-F7C0-A9F6-5178-ABC17FFA7C52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10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3" name="Google Shape;3464;p31">
              <a:extLst>
                <a:ext uri="{FF2B5EF4-FFF2-40B4-BE49-F238E27FC236}">
                  <a16:creationId xmlns:a16="http://schemas.microsoft.com/office/drawing/2014/main" id="{92BBEDA5-4FB9-CEDA-B2CB-044D86623E74}"/>
                </a:ext>
              </a:extLst>
            </p:cNvPr>
            <p:cNvSpPr txBox="1"/>
            <p:nvPr/>
          </p:nvSpPr>
          <p:spPr>
            <a:xfrm>
              <a:off x="7100477" y="1187519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How to deploy a Web Application on Cloud?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" name="Google Shape;3465;p31">
            <a:extLst>
              <a:ext uri="{FF2B5EF4-FFF2-40B4-BE49-F238E27FC236}">
                <a16:creationId xmlns:a16="http://schemas.microsoft.com/office/drawing/2014/main" id="{D7A110BE-8783-5BDA-D2DE-3E114AEBF1E7}"/>
              </a:ext>
            </a:extLst>
          </p:cNvPr>
          <p:cNvGrpSpPr/>
          <p:nvPr/>
        </p:nvGrpSpPr>
        <p:grpSpPr>
          <a:xfrm>
            <a:off x="4055895" y="5029128"/>
            <a:ext cx="4296619" cy="704214"/>
            <a:chOff x="6389225" y="1006997"/>
            <a:chExt cx="4726281" cy="774635"/>
          </a:xfrm>
        </p:grpSpPr>
        <p:sp>
          <p:nvSpPr>
            <p:cNvPr id="15" name="Google Shape;3466;p31">
              <a:extLst>
                <a:ext uri="{FF2B5EF4-FFF2-40B4-BE49-F238E27FC236}">
                  <a16:creationId xmlns:a16="http://schemas.microsoft.com/office/drawing/2014/main" id="{A8579EF3-2FFE-9D6C-E046-6CC92B7111FA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3467;p31">
              <a:extLst>
                <a:ext uri="{FF2B5EF4-FFF2-40B4-BE49-F238E27FC236}">
                  <a16:creationId xmlns:a16="http://schemas.microsoft.com/office/drawing/2014/main" id="{4191F8D0-7537-2CF2-BA9E-D920EF68E910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3468;p31">
              <a:extLst>
                <a:ext uri="{FF2B5EF4-FFF2-40B4-BE49-F238E27FC236}">
                  <a16:creationId xmlns:a16="http://schemas.microsoft.com/office/drawing/2014/main" id="{A36D8D2F-807E-080B-B804-9A3DFA8843AC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09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18" name="Google Shape;3469;p31">
              <a:extLst>
                <a:ext uri="{FF2B5EF4-FFF2-40B4-BE49-F238E27FC236}">
                  <a16:creationId xmlns:a16="http://schemas.microsoft.com/office/drawing/2014/main" id="{35D29CD4-2CC7-D05F-DE47-BCF8D7DBB7F3}"/>
                </a:ext>
              </a:extLst>
            </p:cNvPr>
            <p:cNvSpPr txBox="1"/>
            <p:nvPr/>
          </p:nvSpPr>
          <p:spPr>
            <a:xfrm>
              <a:off x="7100477" y="1187519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Amazon EC2 and its benefits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" name="Google Shape;3470;p31">
            <a:extLst>
              <a:ext uri="{FF2B5EF4-FFF2-40B4-BE49-F238E27FC236}">
                <a16:creationId xmlns:a16="http://schemas.microsoft.com/office/drawing/2014/main" id="{24ACA4BB-1667-F997-51F0-C00BE46C37DB}"/>
              </a:ext>
            </a:extLst>
          </p:cNvPr>
          <p:cNvGrpSpPr/>
          <p:nvPr/>
        </p:nvGrpSpPr>
        <p:grpSpPr>
          <a:xfrm>
            <a:off x="4055895" y="4239061"/>
            <a:ext cx="4296619" cy="704214"/>
            <a:chOff x="6389225" y="1006997"/>
            <a:chExt cx="4726281" cy="774635"/>
          </a:xfrm>
        </p:grpSpPr>
        <p:sp>
          <p:nvSpPr>
            <p:cNvPr id="20" name="Google Shape;3471;p31">
              <a:extLst>
                <a:ext uri="{FF2B5EF4-FFF2-40B4-BE49-F238E27FC236}">
                  <a16:creationId xmlns:a16="http://schemas.microsoft.com/office/drawing/2014/main" id="{51DCC6AA-CDE9-5BF5-2D10-C8953C2D2F3D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3472;p31">
              <a:extLst>
                <a:ext uri="{FF2B5EF4-FFF2-40B4-BE49-F238E27FC236}">
                  <a16:creationId xmlns:a16="http://schemas.microsoft.com/office/drawing/2014/main" id="{D142201B-F074-6391-A8B4-F5AC9C47EE3F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3473;p31">
              <a:extLst>
                <a:ext uri="{FF2B5EF4-FFF2-40B4-BE49-F238E27FC236}">
                  <a16:creationId xmlns:a16="http://schemas.microsoft.com/office/drawing/2014/main" id="{345BE243-F778-5EF0-FD19-1E11DA6E822F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08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3" name="Google Shape;3474;p31">
              <a:extLst>
                <a:ext uri="{FF2B5EF4-FFF2-40B4-BE49-F238E27FC236}">
                  <a16:creationId xmlns:a16="http://schemas.microsoft.com/office/drawing/2014/main" id="{37DAF1D8-0E3D-19EC-67D8-6D68C6DD23A3}"/>
                </a:ext>
              </a:extLst>
            </p:cNvPr>
            <p:cNvSpPr txBox="1"/>
            <p:nvPr/>
          </p:nvSpPr>
          <p:spPr>
            <a:xfrm>
              <a:off x="7100477" y="1187519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Why AWS?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" name="Google Shape;3475;p31">
            <a:extLst>
              <a:ext uri="{FF2B5EF4-FFF2-40B4-BE49-F238E27FC236}">
                <a16:creationId xmlns:a16="http://schemas.microsoft.com/office/drawing/2014/main" id="{CD8A7745-6E1F-E6FA-1401-B12AFD51293A}"/>
              </a:ext>
            </a:extLst>
          </p:cNvPr>
          <p:cNvGrpSpPr/>
          <p:nvPr/>
        </p:nvGrpSpPr>
        <p:grpSpPr>
          <a:xfrm>
            <a:off x="4055895" y="3458138"/>
            <a:ext cx="4296619" cy="704214"/>
            <a:chOff x="6389225" y="1006997"/>
            <a:chExt cx="4726281" cy="774635"/>
          </a:xfrm>
        </p:grpSpPr>
        <p:sp>
          <p:nvSpPr>
            <p:cNvPr id="25" name="Google Shape;3476;p31">
              <a:extLst>
                <a:ext uri="{FF2B5EF4-FFF2-40B4-BE49-F238E27FC236}">
                  <a16:creationId xmlns:a16="http://schemas.microsoft.com/office/drawing/2014/main" id="{32179C5D-BEE6-BE6B-23C8-143557CBF7D8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3477;p31">
              <a:extLst>
                <a:ext uri="{FF2B5EF4-FFF2-40B4-BE49-F238E27FC236}">
                  <a16:creationId xmlns:a16="http://schemas.microsoft.com/office/drawing/2014/main" id="{4F293235-16CF-59D0-9A0D-1B30695289FE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3478;p31">
              <a:extLst>
                <a:ext uri="{FF2B5EF4-FFF2-40B4-BE49-F238E27FC236}">
                  <a16:creationId xmlns:a16="http://schemas.microsoft.com/office/drawing/2014/main" id="{61FA0C03-4FEA-AA23-D6E7-BB9738FD765D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07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28" name="Google Shape;3479;p31">
              <a:extLst>
                <a:ext uri="{FF2B5EF4-FFF2-40B4-BE49-F238E27FC236}">
                  <a16:creationId xmlns:a16="http://schemas.microsoft.com/office/drawing/2014/main" id="{A7D18EF6-04BB-7F61-108A-696ACF2AB6C8}"/>
                </a:ext>
              </a:extLst>
            </p:cNvPr>
            <p:cNvSpPr txBox="1"/>
            <p:nvPr/>
          </p:nvSpPr>
          <p:spPr>
            <a:xfrm>
              <a:off x="7100477" y="1187519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Cloud Providers: AWS, Google Cloud,etc;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" name="Google Shape;3480;p31">
            <a:extLst>
              <a:ext uri="{FF2B5EF4-FFF2-40B4-BE49-F238E27FC236}">
                <a16:creationId xmlns:a16="http://schemas.microsoft.com/office/drawing/2014/main" id="{E7810CBC-F8E9-7867-342A-1F88B510BB0E}"/>
              </a:ext>
            </a:extLst>
          </p:cNvPr>
          <p:cNvGrpSpPr/>
          <p:nvPr/>
        </p:nvGrpSpPr>
        <p:grpSpPr>
          <a:xfrm>
            <a:off x="4055895" y="2658927"/>
            <a:ext cx="4296619" cy="704214"/>
            <a:chOff x="6389225" y="1006997"/>
            <a:chExt cx="4726281" cy="774635"/>
          </a:xfrm>
        </p:grpSpPr>
        <p:sp>
          <p:nvSpPr>
            <p:cNvPr id="30" name="Google Shape;3481;p31">
              <a:extLst>
                <a:ext uri="{FF2B5EF4-FFF2-40B4-BE49-F238E27FC236}">
                  <a16:creationId xmlns:a16="http://schemas.microsoft.com/office/drawing/2014/main" id="{E64101DB-091E-CC66-9754-AC3F90D4A07C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3482;p31">
              <a:extLst>
                <a:ext uri="{FF2B5EF4-FFF2-40B4-BE49-F238E27FC236}">
                  <a16:creationId xmlns:a16="http://schemas.microsoft.com/office/drawing/2014/main" id="{0F9E8CB9-D479-5A28-062D-1408D175C949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483;p31">
              <a:extLst>
                <a:ext uri="{FF2B5EF4-FFF2-40B4-BE49-F238E27FC236}">
                  <a16:creationId xmlns:a16="http://schemas.microsoft.com/office/drawing/2014/main" id="{47BB5A1B-8160-B001-DE73-BCA493015616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06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3" name="Google Shape;3484;p31">
              <a:extLst>
                <a:ext uri="{FF2B5EF4-FFF2-40B4-BE49-F238E27FC236}">
                  <a16:creationId xmlns:a16="http://schemas.microsoft.com/office/drawing/2014/main" id="{00890B30-4B20-731A-18E3-52ABF4342C44}"/>
                </a:ext>
              </a:extLst>
            </p:cNvPr>
            <p:cNvSpPr txBox="1"/>
            <p:nvPr/>
          </p:nvSpPr>
          <p:spPr>
            <a:xfrm>
              <a:off x="7100477" y="1187519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Delivery models offered by Cloud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4" name="Google Shape;3485;p31">
            <a:extLst>
              <a:ext uri="{FF2B5EF4-FFF2-40B4-BE49-F238E27FC236}">
                <a16:creationId xmlns:a16="http://schemas.microsoft.com/office/drawing/2014/main" id="{C4B12F13-D914-2C7A-0927-8579BFAD7CBC}"/>
              </a:ext>
            </a:extLst>
          </p:cNvPr>
          <p:cNvGrpSpPr/>
          <p:nvPr/>
        </p:nvGrpSpPr>
        <p:grpSpPr>
          <a:xfrm>
            <a:off x="4055895" y="5819195"/>
            <a:ext cx="4296619" cy="704214"/>
            <a:chOff x="6389225" y="1006997"/>
            <a:chExt cx="4726281" cy="774635"/>
          </a:xfrm>
        </p:grpSpPr>
        <p:sp>
          <p:nvSpPr>
            <p:cNvPr id="35" name="Google Shape;3486;p31">
              <a:extLst>
                <a:ext uri="{FF2B5EF4-FFF2-40B4-BE49-F238E27FC236}">
                  <a16:creationId xmlns:a16="http://schemas.microsoft.com/office/drawing/2014/main" id="{C0443D1E-34AD-7902-0E07-B2828458CF01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0EC1C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3487;p31">
              <a:extLst>
                <a:ext uri="{FF2B5EF4-FFF2-40B4-BE49-F238E27FC236}">
                  <a16:creationId xmlns:a16="http://schemas.microsoft.com/office/drawing/2014/main" id="{CA0BD430-406F-436B-60C1-D12A8E8180BD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3488;p31">
              <a:extLst>
                <a:ext uri="{FF2B5EF4-FFF2-40B4-BE49-F238E27FC236}">
                  <a16:creationId xmlns:a16="http://schemas.microsoft.com/office/drawing/2014/main" id="{A33627D2-A5DD-6635-23BA-B359BCF92FE6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05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38" name="Google Shape;3489;p31">
              <a:extLst>
                <a:ext uri="{FF2B5EF4-FFF2-40B4-BE49-F238E27FC236}">
                  <a16:creationId xmlns:a16="http://schemas.microsoft.com/office/drawing/2014/main" id="{A941227E-2A05-02D5-D48F-BFF999CD9E01}"/>
                </a:ext>
              </a:extLst>
            </p:cNvPr>
            <p:cNvSpPr txBox="1"/>
            <p:nvPr/>
          </p:nvSpPr>
          <p:spPr>
            <a:xfrm>
              <a:off x="7100477" y="1060708"/>
              <a:ext cx="3910423" cy="7202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Scaling and load balancing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" name="Google Shape;3490;p31">
            <a:extLst>
              <a:ext uri="{FF2B5EF4-FFF2-40B4-BE49-F238E27FC236}">
                <a16:creationId xmlns:a16="http://schemas.microsoft.com/office/drawing/2014/main" id="{F7751F7F-FD30-B9E2-C597-E068D3E79FFA}"/>
              </a:ext>
            </a:extLst>
          </p:cNvPr>
          <p:cNvGrpSpPr/>
          <p:nvPr/>
        </p:nvGrpSpPr>
        <p:grpSpPr>
          <a:xfrm>
            <a:off x="4055895" y="5029128"/>
            <a:ext cx="4296619" cy="704214"/>
            <a:chOff x="6389225" y="1006997"/>
            <a:chExt cx="4726281" cy="774635"/>
          </a:xfrm>
        </p:grpSpPr>
        <p:sp>
          <p:nvSpPr>
            <p:cNvPr id="40" name="Google Shape;3491;p31">
              <a:extLst>
                <a:ext uri="{FF2B5EF4-FFF2-40B4-BE49-F238E27FC236}">
                  <a16:creationId xmlns:a16="http://schemas.microsoft.com/office/drawing/2014/main" id="{952C4474-AF1D-9A6B-33A6-55D80D2B5623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23AE7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3492;p31">
              <a:extLst>
                <a:ext uri="{FF2B5EF4-FFF2-40B4-BE49-F238E27FC236}">
                  <a16:creationId xmlns:a16="http://schemas.microsoft.com/office/drawing/2014/main" id="{A1A1C5F7-4DFF-021A-6D5A-0EBD8E2EFAF2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3493;p31">
              <a:extLst>
                <a:ext uri="{FF2B5EF4-FFF2-40B4-BE49-F238E27FC236}">
                  <a16:creationId xmlns:a16="http://schemas.microsoft.com/office/drawing/2014/main" id="{B3852086-4B1B-3235-F83F-0A2D8D0A8C57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04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3" name="Google Shape;3494;p31">
              <a:extLst>
                <a:ext uri="{FF2B5EF4-FFF2-40B4-BE49-F238E27FC236}">
                  <a16:creationId xmlns:a16="http://schemas.microsoft.com/office/drawing/2014/main" id="{6960A6EE-E62B-EA0E-4063-C70ACC673CDB}"/>
                </a:ext>
              </a:extLst>
            </p:cNvPr>
            <p:cNvSpPr txBox="1"/>
            <p:nvPr/>
          </p:nvSpPr>
          <p:spPr>
            <a:xfrm>
              <a:off x="7100477" y="1077275"/>
              <a:ext cx="3910423" cy="68715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Components</a:t>
              </a: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 of a </a:t>
              </a:r>
              <a:r>
                <a:rPr lang="en-US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w</a:t>
              </a: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eb application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4" name="Google Shape;3495;p31">
            <a:extLst>
              <a:ext uri="{FF2B5EF4-FFF2-40B4-BE49-F238E27FC236}">
                <a16:creationId xmlns:a16="http://schemas.microsoft.com/office/drawing/2014/main" id="{E8A767EA-D027-EE6C-4585-0A4D49FD58AD}"/>
              </a:ext>
            </a:extLst>
          </p:cNvPr>
          <p:cNvGrpSpPr/>
          <p:nvPr/>
        </p:nvGrpSpPr>
        <p:grpSpPr>
          <a:xfrm>
            <a:off x="4055895" y="4239061"/>
            <a:ext cx="4296619" cy="704214"/>
            <a:chOff x="6389225" y="1006997"/>
            <a:chExt cx="4726281" cy="774635"/>
          </a:xfrm>
        </p:grpSpPr>
        <p:sp>
          <p:nvSpPr>
            <p:cNvPr id="45" name="Google Shape;3496;p31">
              <a:extLst>
                <a:ext uri="{FF2B5EF4-FFF2-40B4-BE49-F238E27FC236}">
                  <a16:creationId xmlns:a16="http://schemas.microsoft.com/office/drawing/2014/main" id="{4E3BD062-CF1D-F68F-1FEC-5335F98C84BD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5A5A5A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3497;p31">
              <a:extLst>
                <a:ext uri="{FF2B5EF4-FFF2-40B4-BE49-F238E27FC236}">
                  <a16:creationId xmlns:a16="http://schemas.microsoft.com/office/drawing/2014/main" id="{D40F67E1-D64A-A174-6264-3194E2FE5233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3498;p31">
              <a:extLst>
                <a:ext uri="{FF2B5EF4-FFF2-40B4-BE49-F238E27FC236}">
                  <a16:creationId xmlns:a16="http://schemas.microsoft.com/office/drawing/2014/main" id="{91908EBF-EBD4-2A7B-337E-F1A68FCC6AEC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03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48" name="Google Shape;3499;p31">
              <a:extLst>
                <a:ext uri="{FF2B5EF4-FFF2-40B4-BE49-F238E27FC236}">
                  <a16:creationId xmlns:a16="http://schemas.microsoft.com/office/drawing/2014/main" id="{FDB4AC25-7633-6D66-8EB5-01C1E6B2222B}"/>
                </a:ext>
              </a:extLst>
            </p:cNvPr>
            <p:cNvSpPr txBox="1"/>
            <p:nvPr/>
          </p:nvSpPr>
          <p:spPr>
            <a:xfrm>
              <a:off x="7100477" y="1130966"/>
              <a:ext cx="3910423" cy="579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Architectures of a web application</a:t>
              </a:r>
              <a:endParaRPr>
                <a:solidFill>
                  <a:srgbClr val="3F3F3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</p:grpSp>
      <p:grpSp>
        <p:nvGrpSpPr>
          <p:cNvPr id="49" name="Google Shape;3500;p31">
            <a:extLst>
              <a:ext uri="{FF2B5EF4-FFF2-40B4-BE49-F238E27FC236}">
                <a16:creationId xmlns:a16="http://schemas.microsoft.com/office/drawing/2014/main" id="{B90E9A1A-7513-3CE7-FE2D-6BC9BAEDDE68}"/>
              </a:ext>
            </a:extLst>
          </p:cNvPr>
          <p:cNvGrpSpPr/>
          <p:nvPr/>
        </p:nvGrpSpPr>
        <p:grpSpPr>
          <a:xfrm>
            <a:off x="4055895" y="3458138"/>
            <a:ext cx="4296619" cy="704214"/>
            <a:chOff x="6389225" y="1006997"/>
            <a:chExt cx="4726281" cy="774635"/>
          </a:xfrm>
        </p:grpSpPr>
        <p:sp>
          <p:nvSpPr>
            <p:cNvPr id="50" name="Google Shape;3501;p31">
              <a:extLst>
                <a:ext uri="{FF2B5EF4-FFF2-40B4-BE49-F238E27FC236}">
                  <a16:creationId xmlns:a16="http://schemas.microsoft.com/office/drawing/2014/main" id="{73BA3575-D970-B65C-9309-77F5F310804B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3502;p31">
              <a:extLst>
                <a:ext uri="{FF2B5EF4-FFF2-40B4-BE49-F238E27FC236}">
                  <a16:creationId xmlns:a16="http://schemas.microsoft.com/office/drawing/2014/main" id="{5882DBF7-99C1-2D3D-1968-70E0F9B0560C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3503;p31">
              <a:extLst>
                <a:ext uri="{FF2B5EF4-FFF2-40B4-BE49-F238E27FC236}">
                  <a16:creationId xmlns:a16="http://schemas.microsoft.com/office/drawing/2014/main" id="{1C2EF5C2-AF75-9EE3-5A47-3B907423EC91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3" name="Google Shape;3504;p31">
              <a:extLst>
                <a:ext uri="{FF2B5EF4-FFF2-40B4-BE49-F238E27FC236}">
                  <a16:creationId xmlns:a16="http://schemas.microsoft.com/office/drawing/2014/main" id="{AC12C727-49ED-6E33-EED3-F9E7FC87DE40}"/>
                </a:ext>
              </a:extLst>
            </p:cNvPr>
            <p:cNvSpPr txBox="1"/>
            <p:nvPr/>
          </p:nvSpPr>
          <p:spPr>
            <a:xfrm>
              <a:off x="7100477" y="1130966"/>
              <a:ext cx="3910423" cy="579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Three-tier structure of a </a:t>
              </a:r>
              <a:r>
                <a:rPr lang="en-US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w</a:t>
              </a: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eb application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4" name="Google Shape;3505;p31">
            <a:extLst>
              <a:ext uri="{FF2B5EF4-FFF2-40B4-BE49-F238E27FC236}">
                <a16:creationId xmlns:a16="http://schemas.microsoft.com/office/drawing/2014/main" id="{32F04DE3-3245-4A3C-DAAF-56F9CC8830C5}"/>
              </a:ext>
            </a:extLst>
          </p:cNvPr>
          <p:cNvGrpSpPr/>
          <p:nvPr/>
        </p:nvGrpSpPr>
        <p:grpSpPr>
          <a:xfrm>
            <a:off x="4055895" y="2658927"/>
            <a:ext cx="4296619" cy="704214"/>
            <a:chOff x="6389225" y="1006997"/>
            <a:chExt cx="4726281" cy="774635"/>
          </a:xfrm>
        </p:grpSpPr>
        <p:sp>
          <p:nvSpPr>
            <p:cNvPr id="55" name="Google Shape;3506;p31">
              <a:extLst>
                <a:ext uri="{FF2B5EF4-FFF2-40B4-BE49-F238E27FC236}">
                  <a16:creationId xmlns:a16="http://schemas.microsoft.com/office/drawing/2014/main" id="{59F95908-34DA-12D3-A60E-1D593A7AE915}"/>
                </a:ext>
              </a:extLst>
            </p:cNvPr>
            <p:cNvSpPr/>
            <p:nvPr/>
          </p:nvSpPr>
          <p:spPr>
            <a:xfrm>
              <a:off x="6399275" y="1006997"/>
              <a:ext cx="660817" cy="774000"/>
            </a:xfrm>
            <a:custGeom>
              <a:avLst/>
              <a:gdLst/>
              <a:ahLst/>
              <a:cxnLst/>
              <a:rect l="l" t="t" r="r" b="b"/>
              <a:pathLst>
                <a:path w="4726281" h="782577" extrusionOk="0">
                  <a:moveTo>
                    <a:pt x="0" y="65817"/>
                  </a:moveTo>
                  <a:cubicBezTo>
                    <a:pt x="0" y="33854"/>
                    <a:pt x="25912" y="7942"/>
                    <a:pt x="57875" y="7942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3507;p31">
              <a:extLst>
                <a:ext uri="{FF2B5EF4-FFF2-40B4-BE49-F238E27FC236}">
                  <a16:creationId xmlns:a16="http://schemas.microsoft.com/office/drawing/2014/main" id="{D1065A1C-578A-1C33-1B85-F69683829EC0}"/>
                </a:ext>
              </a:extLst>
            </p:cNvPr>
            <p:cNvSpPr/>
            <p:nvPr/>
          </p:nvSpPr>
          <p:spPr>
            <a:xfrm>
              <a:off x="6389225" y="1006997"/>
              <a:ext cx="4726281" cy="774635"/>
            </a:xfrm>
            <a:custGeom>
              <a:avLst/>
              <a:gdLst/>
              <a:ahLst/>
              <a:cxnLst/>
              <a:rect l="l" t="t" r="r" b="b"/>
              <a:pathLst>
                <a:path w="4726281" h="774635" extrusionOk="0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w="15875" cap="flat" cmpd="sng">
              <a:solidFill>
                <a:srgbClr val="AEABAB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3508;p31">
              <a:extLst>
                <a:ext uri="{FF2B5EF4-FFF2-40B4-BE49-F238E27FC236}">
                  <a16:creationId xmlns:a16="http://schemas.microsoft.com/office/drawing/2014/main" id="{6C22D943-D457-1F86-C266-70C2A6262740}"/>
                </a:ext>
              </a:extLst>
            </p:cNvPr>
            <p:cNvSpPr txBox="1"/>
            <p:nvPr/>
          </p:nvSpPr>
          <p:spPr>
            <a:xfrm>
              <a:off x="6399275" y="1130966"/>
              <a:ext cx="660817" cy="5232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lang="en-US" sz="2400" b="1" i="0" u="none" strike="noStrike" cap="non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sz="24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58" name="Google Shape;3509;p31">
              <a:extLst>
                <a:ext uri="{FF2B5EF4-FFF2-40B4-BE49-F238E27FC236}">
                  <a16:creationId xmlns:a16="http://schemas.microsoft.com/office/drawing/2014/main" id="{57A78925-D1A2-3E5E-B500-B0149D9FA4CF}"/>
                </a:ext>
              </a:extLst>
            </p:cNvPr>
            <p:cNvSpPr txBox="1"/>
            <p:nvPr/>
          </p:nvSpPr>
          <p:spPr>
            <a:xfrm>
              <a:off x="7100477" y="1060708"/>
              <a:ext cx="3910423" cy="72029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3F3F3F"/>
                </a:buClr>
                <a:buSzPts val="2000"/>
                <a:buFont typeface="Arial"/>
                <a:buNone/>
              </a:pP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What is a </a:t>
              </a:r>
              <a:r>
                <a:rPr lang="en-US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w</a:t>
              </a: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eb </a:t>
              </a:r>
              <a:r>
                <a:rPr lang="en-US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a</a:t>
              </a:r>
              <a:r>
                <a:rPr lang="en-US" b="0" i="0" u="none" strike="noStrike" cap="non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pplication? How does it work?</a:t>
              </a:r>
              <a:endParaRPr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9" name="Google Shape;3510;p31">
            <a:extLst>
              <a:ext uri="{FF2B5EF4-FFF2-40B4-BE49-F238E27FC236}">
                <a16:creationId xmlns:a16="http://schemas.microsoft.com/office/drawing/2014/main" id="{372757FB-80AF-FA5D-1E79-D36FB1B2791B}"/>
              </a:ext>
            </a:extLst>
          </p:cNvPr>
          <p:cNvSpPr txBox="1"/>
          <p:nvPr/>
        </p:nvSpPr>
        <p:spPr>
          <a:xfrm>
            <a:off x="4166013" y="1336010"/>
            <a:ext cx="3880909" cy="47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MODULE SUMMARY</a:t>
            </a:r>
            <a:endParaRPr sz="16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3511;p31">
            <a:extLst>
              <a:ext uri="{FF2B5EF4-FFF2-40B4-BE49-F238E27FC236}">
                <a16:creationId xmlns:a16="http://schemas.microsoft.com/office/drawing/2014/main" id="{E76D1ABE-1A28-5D97-FFF9-AE8AE037F76E}"/>
              </a:ext>
            </a:extLst>
          </p:cNvPr>
          <p:cNvSpPr txBox="1"/>
          <p:nvPr/>
        </p:nvSpPr>
        <p:spPr>
          <a:xfrm>
            <a:off x="4166013" y="1847639"/>
            <a:ext cx="3880909" cy="4761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000"/>
              <a:buFont typeface="Arial"/>
              <a:buNone/>
            </a:pPr>
            <a:r>
              <a:rPr lang="en-US" b="1" i="0" u="none" strike="noStrike" cap="none">
                <a:solidFill>
                  <a:schemeClr val="accent3"/>
                </a:solidFill>
                <a:latin typeface="Lato"/>
                <a:ea typeface="Lato"/>
                <a:cs typeface="Lato"/>
                <a:sym typeface="Lato"/>
              </a:rPr>
              <a:t>Web Application on the Cloud</a:t>
            </a:r>
            <a:endParaRPr b="0" i="0" u="none" strike="noStrike" cap="none">
              <a:solidFill>
                <a:schemeClr val="accent3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9764639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0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2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6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6" name="Google Shape;3516;g23c268efcd9_0_2774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60</a:t>
            </a:fld>
            <a:endParaRPr/>
          </a:p>
        </p:txBody>
      </p:sp>
      <p:sp>
        <p:nvSpPr>
          <p:cNvPr id="3517" name="Google Shape;3517;g23c268efcd9_0_2774"/>
          <p:cNvSpPr txBox="1"/>
          <p:nvPr/>
        </p:nvSpPr>
        <p:spPr>
          <a:xfrm>
            <a:off x="3060000" y="2877000"/>
            <a:ext cx="66135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r>
              <a:rPr lang="en-US" sz="43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Doubt Clearance Window</a:t>
            </a:r>
            <a:r>
              <a:rPr lang="en-US" sz="43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00"/>
              <a:buFont typeface="Arial"/>
              <a:buNone/>
            </a:pPr>
            <a:endParaRPr sz="4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8" name="Google Shape;3518;g23c268efcd9_0_2774"/>
          <p:cNvSpPr txBox="1">
            <a:spLocks noGrp="1"/>
          </p:cNvSpPr>
          <p:nvPr>
            <p:ph type="ftr" idx="11"/>
          </p:nvPr>
        </p:nvSpPr>
        <p:spPr>
          <a:xfrm>
            <a:off x="2774967" y="6356367"/>
            <a:ext cx="689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3" name="Google Shape;3523;g23c268efcd9_0_2780"/>
          <p:cNvSpPr txBox="1">
            <a:spLocks noGrp="1"/>
          </p:cNvSpPr>
          <p:nvPr>
            <p:ph type="sldNum" idx="12"/>
          </p:nvPr>
        </p:nvSpPr>
        <p:spPr>
          <a:xfrm>
            <a:off x="86233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61</a:t>
            </a:fld>
            <a:endParaRPr/>
          </a:p>
        </p:txBody>
      </p:sp>
      <p:sp>
        <p:nvSpPr>
          <p:cNvPr id="3524" name="Google Shape;3524;g23c268efcd9_0_2780"/>
          <p:cNvSpPr txBox="1"/>
          <p:nvPr/>
        </p:nvSpPr>
        <p:spPr>
          <a:xfrm>
            <a:off x="850900" y="873200"/>
            <a:ext cx="10515600" cy="6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700"/>
              <a:buFont typeface="Arial"/>
              <a:buNone/>
            </a:pPr>
            <a:r>
              <a:rPr lang="en-US" sz="3900" b="0" i="0" u="none" strike="noStrike" cap="none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Tasks to </a:t>
            </a:r>
            <a:r>
              <a:rPr lang="en-US" sz="3900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complete after today’s session</a:t>
            </a:r>
            <a:endParaRPr sz="3900" b="0" i="0" u="none" strike="noStrike" cap="none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25" name="Google Shape;3525;g23c268efcd9_0_2780"/>
          <p:cNvSpPr txBox="1"/>
          <p:nvPr/>
        </p:nvSpPr>
        <p:spPr>
          <a:xfrm>
            <a:off x="1008033" y="1926233"/>
            <a:ext cx="9915300" cy="38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3526" name="Google Shape;3526;g23c268efcd9_0_2780"/>
          <p:cNvGraphicFramePr/>
          <p:nvPr/>
        </p:nvGraphicFramePr>
        <p:xfrm>
          <a:off x="3956283" y="2175833"/>
          <a:ext cx="4557700" cy="25967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4557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1"/>
                            </a:ext>
                          </a:extLst>
                        </a:rPr>
                        <a:t>MCQs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Conceptual</a:t>
                      </a: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72"/>
                            </a:ext>
                          </a:extLst>
                        </a:rPr>
                        <a:t> Questions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55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400" u="none" strike="noStrike" cap="none">
                          <a:solidFill>
                            <a:srgbClr val="FFFFFF"/>
                          </a:solidFill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Project Checkpoint </a:t>
                      </a:r>
                      <a:endParaRPr sz="2400" u="none" strike="noStrike" cap="none">
                        <a:solidFill>
                          <a:srgbClr val="FFFFFF"/>
                        </a:solidFill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L="121900" marR="121900" marT="121900" marB="121900">
                    <a:lnL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527" name="Google Shape;3527;g23c268efcd9_0_2780"/>
          <p:cNvSpPr txBox="1">
            <a:spLocks noGrp="1"/>
          </p:cNvSpPr>
          <p:nvPr>
            <p:ph type="ftr" idx="11"/>
          </p:nvPr>
        </p:nvSpPr>
        <p:spPr>
          <a:xfrm>
            <a:off x="2774967" y="6356367"/>
            <a:ext cx="6898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25" rIns="121900" bIns="609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</a:pP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66814A4-BFD7-7A21-DFB9-863B5D439FE5}"/>
              </a:ext>
            </a:extLst>
          </p:cNvPr>
          <p:cNvSpPr/>
          <p:nvPr/>
        </p:nvSpPr>
        <p:spPr>
          <a:xfrm>
            <a:off x="0" y="2692672"/>
            <a:ext cx="12192000" cy="2751349"/>
          </a:xfrm>
          <a:prstGeom prst="rect">
            <a:avLst/>
          </a:prstGeom>
          <a:solidFill>
            <a:srgbClr val="004F9B"/>
          </a:solidFill>
          <a:ln>
            <a:noFill/>
          </a:ln>
          <a:effectLst>
            <a:outerShdw blurRad="50800" dist="38100" dir="5400000" algn="t" rotWithShape="0">
              <a:prstClr val="black">
                <a:alpha val="1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67"/>
          </a:p>
        </p:txBody>
      </p:sp>
      <p:sp>
        <p:nvSpPr>
          <p:cNvPr id="615" name="Google Shape;615;p34"/>
          <p:cNvSpPr txBox="1"/>
          <p:nvPr/>
        </p:nvSpPr>
        <p:spPr>
          <a:xfrm>
            <a:off x="1162171" y="3429000"/>
            <a:ext cx="9867659" cy="1298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4000"/>
            </a:pPr>
            <a:r>
              <a:rPr lang="en-US" sz="4800" dirty="0">
                <a:solidFill>
                  <a:schemeClr val="bg1"/>
                </a:solidFill>
                <a:latin typeface="Lato"/>
                <a:ea typeface="Lato"/>
                <a:cs typeface="Lato"/>
                <a:sym typeface="Lato"/>
                <a:extLst>
                  <a:ext uri="http://customooxmlschemas.google.com/">
                    <go:slidesCustomData xmlns:lc="http://schemas.openxmlformats.org/drawingml/2006/lockedCanvas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Thank You!</a:t>
            </a:r>
            <a:endParaRPr lang="en-US" sz="4800" dirty="0">
              <a:solidFill>
                <a:schemeClr val="bg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617" name="Google Shape;617;p34"/>
          <p:cNvSpPr txBox="1">
            <a:spLocks noGrp="1"/>
          </p:cNvSpPr>
          <p:nvPr>
            <p:ph type="sldNum" idx="4294967295"/>
          </p:nvPr>
        </p:nvSpPr>
        <p:spPr>
          <a:xfrm>
            <a:off x="8682567" y="6356351"/>
            <a:ext cx="2743200" cy="36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fld id="{00000000-1234-1234-1234-123412341234}" type="slidenum">
              <a:rPr lang="en-IN">
                <a:solidFill>
                  <a:srgbClr val="FF0000"/>
                </a:solidFill>
                <a:latin typeface="Proxima Nova"/>
                <a:ea typeface="Proxima Nova"/>
                <a:cs typeface="Proxima Nova"/>
                <a:sym typeface="Proxima Nova"/>
              </a:rPr>
              <a:pPr/>
              <a:t>62</a:t>
            </a:fld>
            <a:endParaRPr>
              <a:solidFill>
                <a:srgbClr val="FF00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618" name="Google Shape;61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46335" y="135650"/>
            <a:ext cx="2058733" cy="2058733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6418B9-9024-36FD-FF4A-D689E721F1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725" t="37867" r="34750" b="40666"/>
          <a:stretch/>
        </p:blipFill>
        <p:spPr>
          <a:xfrm>
            <a:off x="1042416" y="709650"/>
            <a:ext cx="3504687" cy="107069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3079</Words>
  <Application>Microsoft Office PowerPoint</Application>
  <PresentationFormat>Widescreen</PresentationFormat>
  <Paragraphs>571</Paragraphs>
  <Slides>62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9" baseType="lpstr">
      <vt:lpstr>Arial</vt:lpstr>
      <vt:lpstr>Calibri</vt:lpstr>
      <vt:lpstr>Calibri Light</vt:lpstr>
      <vt:lpstr>Lato</vt:lpstr>
      <vt:lpstr>Noto Sans Symbols</vt:lpstr>
      <vt:lpstr>Proxima Nova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Janvi Jannet</dc:creator>
  <cp:lastModifiedBy>Janvi Jannet</cp:lastModifiedBy>
  <cp:revision>1</cp:revision>
  <dcterms:created xsi:type="dcterms:W3CDTF">2024-07-22T10:38:42Z</dcterms:created>
  <dcterms:modified xsi:type="dcterms:W3CDTF">2024-07-22T11:51:00Z</dcterms:modified>
</cp:coreProperties>
</file>