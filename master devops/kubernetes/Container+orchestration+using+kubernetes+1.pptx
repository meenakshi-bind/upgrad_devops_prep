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91" r:id="rId3"/>
    <p:sldId id="776" r:id="rId4"/>
    <p:sldId id="880" r:id="rId5"/>
    <p:sldId id="881" r:id="rId6"/>
    <p:sldId id="882" r:id="rId7"/>
    <p:sldId id="893" r:id="rId8"/>
    <p:sldId id="883" r:id="rId9"/>
    <p:sldId id="884" r:id="rId10"/>
    <p:sldId id="885" r:id="rId11"/>
    <p:sldId id="886" r:id="rId12"/>
    <p:sldId id="887" r:id="rId13"/>
    <p:sldId id="888" r:id="rId14"/>
    <p:sldId id="889" r:id="rId15"/>
    <p:sldId id="890" r:id="rId16"/>
    <p:sldId id="891" r:id="rId17"/>
    <p:sldId id="892" r:id="rId18"/>
    <p:sldId id="894" r:id="rId19"/>
    <p:sldId id="895" r:id="rId20"/>
    <p:sldId id="896" r:id="rId21"/>
    <p:sldId id="784" r:id="rId22"/>
    <p:sldId id="785" r:id="rId23"/>
    <p:sldId id="5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AE73"/>
    <a:srgbClr val="009900"/>
    <a:srgbClr val="0EC1C1"/>
    <a:srgbClr val="CE6E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AD704-B57C-4720-828B-0CCD213F0986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4F1D1-1EA8-4656-8FF8-C6913E6EE2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54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742B-C1C4-AA69-80B0-7A288B1BC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333F6-3B01-617A-8E5A-F14EEC5A8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A0D5-8FA6-F7DC-16B6-47E47401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F6D7F-C592-FF5D-7666-3BEB7BC5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301D7-8708-CA54-943E-E882FE33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05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AB66-3398-6C28-E529-E87C42C9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FEAFE-8C4F-51D4-C45A-AB4A5CB41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1236C-6B9C-C4F7-9F51-A033AB53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1B6EC-048C-87DE-5FBD-9019D1F6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6FAE3-D388-AD32-F495-ACBBF153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07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E95-D0EA-DE22-186E-6E8B49A06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D58B7-2D83-F121-7AEE-26EB5958F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3BC5D-87BB-CE1F-B48D-F05C86ED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15DB-BB4A-EC24-E224-F836C883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61EF0-263B-E8DD-F598-96D036B6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10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8319-8362-5D89-D83F-028FA155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A68D-ECA7-D5CF-471E-4DBBA9509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93829-3178-C31E-53F3-A9D296DF8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4F2D7-D309-F2EE-670C-15AA4A8F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6EE23-3691-7903-BCFD-9691C599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59C72-8F75-5A60-8760-B8427D20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93E9-E078-7790-904E-78BDF0C12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32586-DD1B-EAF2-F1A7-1A9F762BB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1E090-FA74-9651-F0CB-CDB0992AC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EFF8F-9336-EC9B-D272-4E30F2A16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C3D56-E43F-48C6-3BD3-D599753777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176D83-0E41-72FD-C689-236A08741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D054D4-DE3D-EC7A-D5AC-B2196F72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A9075-2940-27B2-E336-4D936C07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77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2249-C5E6-2A0B-CA36-4144DA58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5C727-3332-65F7-6D11-694B8DA1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807D5-A734-6492-E8EA-1568EB6D2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CAFB8-384F-000B-B4AD-29983065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23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F74C8-AAFC-5C9D-20B8-A2FA8BF6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0DF69C-67DF-432E-4F17-40A374E0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4E230-7646-C0C3-172F-975ADF36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99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92F6-1FBB-E3EF-8E4E-24483F8F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C164C-3747-8FC6-A830-6A4972B43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A600-5510-2712-BB3F-1012AAD56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AF16B-E2D1-D5B4-BC22-C290BAB3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F42F0-9D52-B3A9-971A-009CD853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CCAF7-9892-86A5-F081-C4450C26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3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466C-E5E4-AAD3-1FCF-F6E87603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7987B-DB52-9321-D0AF-1E20F0379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208F3-C46F-1A4B-298A-1DFA377A3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6C24F-CD2E-FCC5-2043-F967E833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6D9D0-29EA-9644-4B1E-8225987C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11910-6D3C-189D-3472-A582A348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62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F518-0F4D-E250-6745-76B7A76A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69AF1-A89A-46DE-0D87-7B1A63BA1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C7D4-E0F0-B034-9FDE-DBE45468D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5E43-2239-4EE2-FBE2-417435AC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15A6E-5CE5-17CB-7194-D5A096AD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9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CFBAA-CA9A-BCEE-4939-0F181D5CF0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28F5E-0C3A-F399-7527-F2B395780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716FC-6E6C-2BC0-F02F-EE415D58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B5837-1972-3E82-4249-373B95C1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463BD-0AD2-2D3F-F2FF-D4BF09D4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77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15D47-569A-B68C-7C6E-C085F0E04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8C56F-9F2F-97BD-7381-3C7C558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EBAD3-8F5A-B4B2-DBAA-189DF700E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E7F42-0B70-4719-8EA7-D488CFBCF2EE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CF115-056A-C13B-72A4-C45B85E21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95D3-F0D0-AE51-2633-2EBE9CB9D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1A064-B0E0-49BD-9F89-B4C4AC99A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08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inikube.sigs.k8s.io/docs/start/" TargetMode="Externa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Container orchestration </a:t>
            </a:r>
          </a:p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using Kubernetes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Mastering DevOps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 :</a:t>
            </a:r>
            <a:r>
              <a:rPr lang="en-US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Container Orchestration using Kubernetes</a:t>
            </a: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Instructor:</a:t>
            </a:r>
            <a:r>
              <a:rPr lang="en-IN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Dipesh Garg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Recap – Container Orchestration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ysClr val="windowText" lastClr="000000"/>
                </a:solidFill>
              </a:rPr>
              <a:t>Ansible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31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3" name="Google Shape;936;p4">
            <a:extLst>
              <a:ext uri="{FF2B5EF4-FFF2-40B4-BE49-F238E27FC236}">
                <a16:creationId xmlns:a16="http://schemas.microsoft.com/office/drawing/2014/main" id="{6AD549F0-4FF3-6941-6BD5-1F1F480ECBC0}"/>
              </a:ext>
            </a:extLst>
          </p:cNvPr>
          <p:cNvSpPr txBox="1"/>
          <p:nvPr/>
        </p:nvSpPr>
        <p:spPr>
          <a:xfrm>
            <a:off x="3009900" y="1587000"/>
            <a:ext cx="61722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40" b="0" i="0" u="none" strike="noStrike" cap="none" dirty="0">
              <a:solidFill>
                <a:schemeClr val="tx1"/>
              </a:solidFill>
              <a:highlight>
                <a:srgbClr val="00FF00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MANAGING CONTAINERS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40" b="0" i="0" u="none" strike="noStrike" cap="none" dirty="0">
              <a:solidFill>
                <a:schemeClr val="tx1"/>
              </a:solidFill>
              <a:highlight>
                <a:srgbClr val="00FF00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" name="Google Shape;938;p4">
            <a:extLst>
              <a:ext uri="{FF2B5EF4-FFF2-40B4-BE49-F238E27FC236}">
                <a16:creationId xmlns:a16="http://schemas.microsoft.com/office/drawing/2014/main" id="{B5116924-FF2F-D4D3-CA74-4C5569151CCF}"/>
              </a:ext>
            </a:extLst>
          </p:cNvPr>
          <p:cNvSpPr txBox="1"/>
          <p:nvPr/>
        </p:nvSpPr>
        <p:spPr>
          <a:xfrm>
            <a:off x="2004300" y="2342478"/>
            <a:ext cx="8183400" cy="378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0A0A0A"/>
                </a:solidFill>
                <a:latin typeface="Proxima Nova"/>
                <a:ea typeface="Proxima Nova"/>
                <a:cs typeface="Proxima Nova"/>
                <a:sym typeface="Proxima Nova"/>
              </a:rPr>
              <a:t>Challenges for managing containers:</a:t>
            </a:r>
            <a:endParaRPr sz="2000" b="1" i="0" u="none" strike="noStrike" cap="none" dirty="0">
              <a:solidFill>
                <a:srgbClr val="0A0A0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400" b="1" i="0" u="none" strike="noStrike" cap="none" dirty="0">
              <a:solidFill>
                <a:srgbClr val="0A0A0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Scalability </a:t>
            </a: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Avoiding port conflicts</a:t>
            </a: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Multi node</a:t>
            </a: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Availability</a:t>
            </a: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Deployments</a:t>
            </a: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●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Logging and monitoring</a:t>
            </a:r>
            <a:endParaRPr sz="20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400" b="0" i="0" u="none" strike="noStrike" cap="none" dirty="0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400" b="0" i="0" u="none" strike="noStrike" cap="none" dirty="0">
              <a:solidFill>
                <a:srgbClr val="33333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20443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44;p5">
            <a:extLst>
              <a:ext uri="{FF2B5EF4-FFF2-40B4-BE49-F238E27FC236}">
                <a16:creationId xmlns:a16="http://schemas.microsoft.com/office/drawing/2014/main" id="{4DCC1443-35BA-6AB1-3082-704136CD9729}"/>
              </a:ext>
            </a:extLst>
          </p:cNvPr>
          <p:cNvSpPr txBox="1"/>
          <p:nvPr/>
        </p:nvSpPr>
        <p:spPr>
          <a:xfrm>
            <a:off x="3334800" y="1581540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CONTAINER ORCHESTRATION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946;p5">
            <a:extLst>
              <a:ext uri="{FF2B5EF4-FFF2-40B4-BE49-F238E27FC236}">
                <a16:creationId xmlns:a16="http://schemas.microsoft.com/office/drawing/2014/main" id="{74F6D232-D616-A6C0-BE8E-938711A1026F}"/>
              </a:ext>
            </a:extLst>
          </p:cNvPr>
          <p:cNvSpPr txBox="1"/>
          <p:nvPr/>
        </p:nvSpPr>
        <p:spPr>
          <a:xfrm>
            <a:off x="2004300" y="2265538"/>
            <a:ext cx="8183400" cy="28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21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Container orchestration is all about managing the life cycle of containers. </a:t>
            </a:r>
            <a:endParaRPr sz="21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roxima Nova"/>
              <a:buChar char="●"/>
            </a:pPr>
            <a:r>
              <a:rPr lang="en-GB" sz="21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It helps with managing large, dynamic environments.</a:t>
            </a:r>
            <a:endParaRPr sz="21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948;p5">
            <a:extLst>
              <a:ext uri="{FF2B5EF4-FFF2-40B4-BE49-F238E27FC236}">
                <a16:creationId xmlns:a16="http://schemas.microsoft.com/office/drawing/2014/main" id="{346E8285-63ED-C439-D3A6-22C8A1C734F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3225" y="3929788"/>
            <a:ext cx="6305550" cy="240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2672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53;p6">
            <a:extLst>
              <a:ext uri="{FF2B5EF4-FFF2-40B4-BE49-F238E27FC236}">
                <a16:creationId xmlns:a16="http://schemas.microsoft.com/office/drawing/2014/main" id="{DCE3E30E-CF2D-8A18-F3F3-65A9F538BC35}"/>
              </a:ext>
            </a:extLst>
          </p:cNvPr>
          <p:cNvSpPr txBox="1"/>
          <p:nvPr/>
        </p:nvSpPr>
        <p:spPr>
          <a:xfrm>
            <a:off x="1665150" y="2501601"/>
            <a:ext cx="8861700" cy="28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The life cycle of a container includes three phases:</a:t>
            </a:r>
            <a:endParaRPr sz="1800" b="1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Starting phase:</a:t>
            </a:r>
            <a:r>
              <a:rPr lang="en-GB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Configuration phase - container name, image name, port mapping, volume and network configuration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Running phase: </a:t>
            </a:r>
            <a:r>
              <a:rPr lang="en-GB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Scaling, load balancing, availability and health check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Deletion phase: </a:t>
            </a:r>
            <a:r>
              <a:rPr lang="en-GB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Clean-up of the resources associated with a container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955;p6">
            <a:extLst>
              <a:ext uri="{FF2B5EF4-FFF2-40B4-BE49-F238E27FC236}">
                <a16:creationId xmlns:a16="http://schemas.microsoft.com/office/drawing/2014/main" id="{4DBBE6E0-DDD3-C20E-3390-9E052B7CD151}"/>
              </a:ext>
            </a:extLst>
          </p:cNvPr>
          <p:cNvSpPr txBox="1"/>
          <p:nvPr/>
        </p:nvSpPr>
        <p:spPr>
          <a:xfrm>
            <a:off x="3270269" y="1590397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LIFE CYCLE OF A CONTAINER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49129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Kubernetes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" name="Google Shape;963;p7">
            <a:extLst>
              <a:ext uri="{FF2B5EF4-FFF2-40B4-BE49-F238E27FC236}">
                <a16:creationId xmlns:a16="http://schemas.microsoft.com/office/drawing/2014/main" id="{44CCCFCF-0151-142A-4AC8-99493B8B462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29626" y="3457906"/>
            <a:ext cx="5135764" cy="3422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947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68;p8">
            <a:extLst>
              <a:ext uri="{FF2B5EF4-FFF2-40B4-BE49-F238E27FC236}">
                <a16:creationId xmlns:a16="http://schemas.microsoft.com/office/drawing/2014/main" id="{DDDCA1DC-352D-152B-EB32-48E541195226}"/>
              </a:ext>
            </a:extLst>
          </p:cNvPr>
          <p:cNvSpPr txBox="1"/>
          <p:nvPr/>
        </p:nvSpPr>
        <p:spPr>
          <a:xfrm>
            <a:off x="2470507" y="1435899"/>
            <a:ext cx="7251090" cy="43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969;p8">
            <a:extLst>
              <a:ext uri="{FF2B5EF4-FFF2-40B4-BE49-F238E27FC236}">
                <a16:creationId xmlns:a16="http://schemas.microsoft.com/office/drawing/2014/main" id="{B232426B-F229-B634-F942-6D87FBEB7451}"/>
              </a:ext>
            </a:extLst>
          </p:cNvPr>
          <p:cNvGrpSpPr/>
          <p:nvPr/>
        </p:nvGrpSpPr>
        <p:grpSpPr>
          <a:xfrm>
            <a:off x="2256860" y="2505957"/>
            <a:ext cx="1693395" cy="3069483"/>
            <a:chOff x="1288773" y="1673458"/>
            <a:chExt cx="2052600" cy="3720585"/>
          </a:xfrm>
        </p:grpSpPr>
        <p:sp>
          <p:nvSpPr>
            <p:cNvPr id="32" name="Google Shape;970;p8">
              <a:extLst>
                <a:ext uri="{FF2B5EF4-FFF2-40B4-BE49-F238E27FC236}">
                  <a16:creationId xmlns:a16="http://schemas.microsoft.com/office/drawing/2014/main" id="{306F0EB2-6569-707A-C9D6-A68643FE0C55}"/>
                </a:ext>
              </a:extLst>
            </p:cNvPr>
            <p:cNvSpPr txBox="1"/>
            <p:nvPr/>
          </p:nvSpPr>
          <p:spPr>
            <a:xfrm>
              <a:off x="1293535" y="1673458"/>
              <a:ext cx="2043000" cy="6808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600" b="1" i="0" u="none" strike="noStrike" cap="none" dirty="0">
                  <a:solidFill>
                    <a:srgbClr val="F4AB35"/>
                  </a:solidFill>
                  <a:latin typeface="Arial"/>
                  <a:ea typeface="Arial"/>
                  <a:cs typeface="Arial"/>
                  <a:sym typeface="Arial"/>
                </a:rPr>
                <a:t>Monolithic Application</a:t>
              </a:r>
              <a:endParaRPr sz="1600" b="1" i="0" u="none" strike="noStrike" cap="none" dirty="0">
                <a:solidFill>
                  <a:srgbClr val="F4AB3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971;p8">
              <a:extLst>
                <a:ext uri="{FF2B5EF4-FFF2-40B4-BE49-F238E27FC236}">
                  <a16:creationId xmlns:a16="http://schemas.microsoft.com/office/drawing/2014/main" id="{36167E5D-FE5B-BD61-19B4-157D1BEF2628}"/>
                </a:ext>
              </a:extLst>
            </p:cNvPr>
            <p:cNvSpPr/>
            <p:nvPr/>
          </p:nvSpPr>
          <p:spPr>
            <a:xfrm>
              <a:off x="1288773" y="2429743"/>
              <a:ext cx="2052600" cy="2964300"/>
            </a:xfrm>
            <a:prstGeom prst="roundRect">
              <a:avLst>
                <a:gd name="adj" fmla="val 5810"/>
              </a:avLst>
            </a:prstGeom>
            <a:noFill/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972;p8">
              <a:extLst>
                <a:ext uri="{FF2B5EF4-FFF2-40B4-BE49-F238E27FC236}">
                  <a16:creationId xmlns:a16="http://schemas.microsoft.com/office/drawing/2014/main" id="{453F7C89-6546-CCFA-BE19-3C7E512CD3F9}"/>
                </a:ext>
              </a:extLst>
            </p:cNvPr>
            <p:cNvSpPr txBox="1"/>
            <p:nvPr/>
          </p:nvSpPr>
          <p:spPr>
            <a:xfrm>
              <a:off x="1293535" y="2588331"/>
              <a:ext cx="2043000" cy="345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Recruitment website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973;p8">
              <a:extLst>
                <a:ext uri="{FF2B5EF4-FFF2-40B4-BE49-F238E27FC236}">
                  <a16:creationId xmlns:a16="http://schemas.microsoft.com/office/drawing/2014/main" id="{52ADED83-725E-98FF-C322-3B45BFFDB61D}"/>
                </a:ext>
              </a:extLst>
            </p:cNvPr>
            <p:cNvSpPr txBox="1"/>
            <p:nvPr/>
          </p:nvSpPr>
          <p:spPr>
            <a:xfrm>
              <a:off x="1293535" y="3148029"/>
              <a:ext cx="2043000" cy="345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Job applicants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974;p8">
              <a:extLst>
                <a:ext uri="{FF2B5EF4-FFF2-40B4-BE49-F238E27FC236}">
                  <a16:creationId xmlns:a16="http://schemas.microsoft.com/office/drawing/2014/main" id="{EB399482-E110-CCD4-1367-9EF68A0731C7}"/>
                </a:ext>
              </a:extLst>
            </p:cNvPr>
            <p:cNvSpPr txBox="1"/>
            <p:nvPr/>
          </p:nvSpPr>
          <p:spPr>
            <a:xfrm>
              <a:off x="1293535" y="3987575"/>
              <a:ext cx="2043000" cy="345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Job vacancies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975;p8">
              <a:extLst>
                <a:ext uri="{FF2B5EF4-FFF2-40B4-BE49-F238E27FC236}">
                  <a16:creationId xmlns:a16="http://schemas.microsoft.com/office/drawing/2014/main" id="{CC8F1B7E-0DB1-12BE-FA2D-A9D0C5DB3AE9}"/>
                </a:ext>
              </a:extLst>
            </p:cNvPr>
            <p:cNvSpPr txBox="1"/>
            <p:nvPr/>
          </p:nvSpPr>
          <p:spPr>
            <a:xfrm>
              <a:off x="1293535" y="4827121"/>
              <a:ext cx="2043000" cy="345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Recruiters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" name="Google Shape;976;p8">
            <a:extLst>
              <a:ext uri="{FF2B5EF4-FFF2-40B4-BE49-F238E27FC236}">
                <a16:creationId xmlns:a16="http://schemas.microsoft.com/office/drawing/2014/main" id="{17C0F468-4581-D175-4704-33F4BECFC25B}"/>
              </a:ext>
            </a:extLst>
          </p:cNvPr>
          <p:cNvGrpSpPr/>
          <p:nvPr/>
        </p:nvGrpSpPr>
        <p:grpSpPr>
          <a:xfrm>
            <a:off x="4251820" y="2505957"/>
            <a:ext cx="1693395" cy="3069483"/>
            <a:chOff x="3756041" y="1673458"/>
            <a:chExt cx="2052600" cy="3720585"/>
          </a:xfrm>
        </p:grpSpPr>
        <p:sp>
          <p:nvSpPr>
            <p:cNvPr id="26" name="Google Shape;977;p8">
              <a:extLst>
                <a:ext uri="{FF2B5EF4-FFF2-40B4-BE49-F238E27FC236}">
                  <a16:creationId xmlns:a16="http://schemas.microsoft.com/office/drawing/2014/main" id="{13338125-6583-0B86-E2AE-D55F794747DE}"/>
                </a:ext>
              </a:extLst>
            </p:cNvPr>
            <p:cNvSpPr txBox="1"/>
            <p:nvPr/>
          </p:nvSpPr>
          <p:spPr>
            <a:xfrm>
              <a:off x="3760803" y="1673458"/>
              <a:ext cx="2043000" cy="6808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600" b="1" i="0" u="none" strike="noStrike" cap="none">
                  <a:solidFill>
                    <a:srgbClr val="4890E4"/>
                  </a:solidFill>
                  <a:latin typeface="Arial"/>
                  <a:ea typeface="Arial"/>
                  <a:cs typeface="Arial"/>
                  <a:sym typeface="Arial"/>
                </a:rPr>
                <a:t>Transition to Microservices</a:t>
              </a:r>
              <a:endParaRPr sz="1600" b="1" i="0" u="none" strike="noStrike" cap="none">
                <a:solidFill>
                  <a:srgbClr val="4890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978;p8">
              <a:extLst>
                <a:ext uri="{FF2B5EF4-FFF2-40B4-BE49-F238E27FC236}">
                  <a16:creationId xmlns:a16="http://schemas.microsoft.com/office/drawing/2014/main" id="{983E4DBF-D4C5-C9CB-36AF-B38FD7EAE670}"/>
                </a:ext>
              </a:extLst>
            </p:cNvPr>
            <p:cNvSpPr/>
            <p:nvPr/>
          </p:nvSpPr>
          <p:spPr>
            <a:xfrm>
              <a:off x="3756041" y="2429743"/>
              <a:ext cx="2052600" cy="2964300"/>
            </a:xfrm>
            <a:prstGeom prst="roundRect">
              <a:avLst>
                <a:gd name="adj" fmla="val 5810"/>
              </a:avLst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979;p8">
              <a:extLst>
                <a:ext uri="{FF2B5EF4-FFF2-40B4-BE49-F238E27FC236}">
                  <a16:creationId xmlns:a16="http://schemas.microsoft.com/office/drawing/2014/main" id="{F99A6109-DDE4-3C08-211C-71D010EAC8E7}"/>
                </a:ext>
              </a:extLst>
            </p:cNvPr>
            <p:cNvSpPr txBox="1"/>
            <p:nvPr/>
          </p:nvSpPr>
          <p:spPr>
            <a:xfrm>
              <a:off x="3765566" y="2588331"/>
              <a:ext cx="2043000" cy="345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Recruitment website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980;p8">
              <a:extLst>
                <a:ext uri="{FF2B5EF4-FFF2-40B4-BE49-F238E27FC236}">
                  <a16:creationId xmlns:a16="http://schemas.microsoft.com/office/drawing/2014/main" id="{51DFFCB4-B987-0149-DABF-0A9E9791DE87}"/>
                </a:ext>
              </a:extLst>
            </p:cNvPr>
            <p:cNvSpPr/>
            <p:nvPr/>
          </p:nvSpPr>
          <p:spPr>
            <a:xfrm>
              <a:off x="3944159" y="3092232"/>
              <a:ext cx="1676400" cy="578400"/>
            </a:xfrm>
            <a:prstGeom prst="roundRect">
              <a:avLst>
                <a:gd name="adj" fmla="val 15345"/>
              </a:avLst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Recruiters</a:t>
              </a:r>
              <a:endParaRPr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981;p8">
              <a:extLst>
                <a:ext uri="{FF2B5EF4-FFF2-40B4-BE49-F238E27FC236}">
                  <a16:creationId xmlns:a16="http://schemas.microsoft.com/office/drawing/2014/main" id="{36CC97A6-F989-EEAB-7A39-89AD9827345A}"/>
                </a:ext>
              </a:extLst>
            </p:cNvPr>
            <p:cNvSpPr/>
            <p:nvPr/>
          </p:nvSpPr>
          <p:spPr>
            <a:xfrm>
              <a:off x="3944159" y="3905682"/>
              <a:ext cx="1676400" cy="578400"/>
            </a:xfrm>
            <a:prstGeom prst="roundRect">
              <a:avLst>
                <a:gd name="adj" fmla="val 15345"/>
              </a:avLst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Job applicants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982;p8">
              <a:extLst>
                <a:ext uri="{FF2B5EF4-FFF2-40B4-BE49-F238E27FC236}">
                  <a16:creationId xmlns:a16="http://schemas.microsoft.com/office/drawing/2014/main" id="{093A2D49-0736-1C0C-751F-ECCEB8D4D48F}"/>
                </a:ext>
              </a:extLst>
            </p:cNvPr>
            <p:cNvSpPr/>
            <p:nvPr/>
          </p:nvSpPr>
          <p:spPr>
            <a:xfrm>
              <a:off x="3944159" y="4719133"/>
              <a:ext cx="1676400" cy="578400"/>
            </a:xfrm>
            <a:prstGeom prst="roundRect">
              <a:avLst>
                <a:gd name="adj" fmla="val 15345"/>
              </a:avLst>
            </a:prstGeom>
            <a:noFill/>
            <a:ln w="28575" cap="flat" cmpd="sng">
              <a:solidFill>
                <a:schemeClr val="bg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Job vacancies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983;p8">
            <a:extLst>
              <a:ext uri="{FF2B5EF4-FFF2-40B4-BE49-F238E27FC236}">
                <a16:creationId xmlns:a16="http://schemas.microsoft.com/office/drawing/2014/main" id="{BFB3672B-55AC-347D-CA13-98602324669A}"/>
              </a:ext>
            </a:extLst>
          </p:cNvPr>
          <p:cNvGrpSpPr/>
          <p:nvPr/>
        </p:nvGrpSpPr>
        <p:grpSpPr>
          <a:xfrm>
            <a:off x="8241740" y="2724094"/>
            <a:ext cx="1693395" cy="2840959"/>
            <a:chOff x="8850591" y="1950457"/>
            <a:chExt cx="2052600" cy="3443586"/>
          </a:xfrm>
        </p:grpSpPr>
        <p:sp>
          <p:nvSpPr>
            <p:cNvPr id="22" name="Google Shape;984;p8">
              <a:extLst>
                <a:ext uri="{FF2B5EF4-FFF2-40B4-BE49-F238E27FC236}">
                  <a16:creationId xmlns:a16="http://schemas.microsoft.com/office/drawing/2014/main" id="{80A41A62-F1C3-CE47-6960-2587F5200EE6}"/>
                </a:ext>
              </a:extLst>
            </p:cNvPr>
            <p:cNvSpPr txBox="1"/>
            <p:nvPr/>
          </p:nvSpPr>
          <p:spPr>
            <a:xfrm>
              <a:off x="8855353" y="1950457"/>
              <a:ext cx="2043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600" b="1" i="0" u="none" strike="noStrike" cap="none">
                  <a:solidFill>
                    <a:srgbClr val="23AE73"/>
                  </a:solidFill>
                  <a:latin typeface="Arial"/>
                  <a:ea typeface="Arial"/>
                  <a:cs typeface="Arial"/>
                  <a:sym typeface="Arial"/>
                </a:rPr>
                <a:t>Kubernetes</a:t>
              </a:r>
              <a:endParaRPr sz="1600" b="1" i="0" u="none" strike="noStrike" cap="none">
                <a:solidFill>
                  <a:srgbClr val="23AE7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985;p8">
              <a:extLst>
                <a:ext uri="{FF2B5EF4-FFF2-40B4-BE49-F238E27FC236}">
                  <a16:creationId xmlns:a16="http://schemas.microsoft.com/office/drawing/2014/main" id="{BB5B99B0-3426-DA01-7C41-783839545B8E}"/>
                </a:ext>
              </a:extLst>
            </p:cNvPr>
            <p:cNvSpPr/>
            <p:nvPr/>
          </p:nvSpPr>
          <p:spPr>
            <a:xfrm>
              <a:off x="8850591" y="2429743"/>
              <a:ext cx="2052600" cy="2964300"/>
            </a:xfrm>
            <a:prstGeom prst="roundRect">
              <a:avLst>
                <a:gd name="adj" fmla="val 5810"/>
              </a:avLst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986;p8">
              <a:extLst>
                <a:ext uri="{FF2B5EF4-FFF2-40B4-BE49-F238E27FC236}">
                  <a16:creationId xmlns:a16="http://schemas.microsoft.com/office/drawing/2014/main" id="{FB4DD58B-9D9E-49BF-CDC0-03BE909007DD}"/>
                </a:ext>
              </a:extLst>
            </p:cNvPr>
            <p:cNvSpPr txBox="1"/>
            <p:nvPr/>
          </p:nvSpPr>
          <p:spPr>
            <a:xfrm>
              <a:off x="8855353" y="2588331"/>
              <a:ext cx="2043000" cy="867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Launch your containerised application in K8s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987;p8">
              <a:extLst>
                <a:ext uri="{FF2B5EF4-FFF2-40B4-BE49-F238E27FC236}">
                  <a16:creationId xmlns:a16="http://schemas.microsoft.com/office/drawing/2014/main" id="{F1E9873E-AA6E-1B79-FE0F-1E0AF60B7173}"/>
                </a:ext>
              </a:extLst>
            </p:cNvPr>
            <p:cNvSpPr/>
            <p:nvPr/>
          </p:nvSpPr>
          <p:spPr>
            <a:xfrm>
              <a:off x="9244301" y="3756352"/>
              <a:ext cx="1164300" cy="11268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" name="Google Shape;988;p8">
            <a:extLst>
              <a:ext uri="{FF2B5EF4-FFF2-40B4-BE49-F238E27FC236}">
                <a16:creationId xmlns:a16="http://schemas.microsoft.com/office/drawing/2014/main" id="{7E08B45D-98AA-F855-A40E-EFFFFBFA189E}"/>
              </a:ext>
            </a:extLst>
          </p:cNvPr>
          <p:cNvCxnSpPr>
            <a:stCxn id="33" idx="3"/>
            <a:endCxn id="27" idx="1"/>
          </p:cNvCxnSpPr>
          <p:nvPr/>
        </p:nvCxnSpPr>
        <p:spPr>
          <a:xfrm>
            <a:off x="3950255" y="4352666"/>
            <a:ext cx="301565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4" name="Google Shape;989;p8">
            <a:extLst>
              <a:ext uri="{FF2B5EF4-FFF2-40B4-BE49-F238E27FC236}">
                <a16:creationId xmlns:a16="http://schemas.microsoft.com/office/drawing/2014/main" id="{94EC6251-B527-2CB2-4950-22F6EC8EF5E0}"/>
              </a:ext>
            </a:extLst>
          </p:cNvPr>
          <p:cNvCxnSpPr>
            <a:stCxn id="27" idx="3"/>
            <a:endCxn id="19" idx="1"/>
          </p:cNvCxnSpPr>
          <p:nvPr/>
        </p:nvCxnSpPr>
        <p:spPr>
          <a:xfrm flipV="1">
            <a:off x="5945215" y="4342279"/>
            <a:ext cx="301565" cy="10387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cxnSp>
        <p:nvCxnSpPr>
          <p:cNvPr id="15" name="Google Shape;991;p8">
            <a:extLst>
              <a:ext uri="{FF2B5EF4-FFF2-40B4-BE49-F238E27FC236}">
                <a16:creationId xmlns:a16="http://schemas.microsoft.com/office/drawing/2014/main" id="{0CB51464-0491-1816-36E8-F641CE242282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7940175" y="4342279"/>
            <a:ext cx="301565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16" name="Google Shape;992;p8">
            <a:extLst>
              <a:ext uri="{FF2B5EF4-FFF2-40B4-BE49-F238E27FC236}">
                <a16:creationId xmlns:a16="http://schemas.microsoft.com/office/drawing/2014/main" id="{729BF912-C7D5-493C-C288-A5689991A801}"/>
              </a:ext>
            </a:extLst>
          </p:cNvPr>
          <p:cNvGrpSpPr/>
          <p:nvPr/>
        </p:nvGrpSpPr>
        <p:grpSpPr>
          <a:xfrm>
            <a:off x="6246780" y="2724094"/>
            <a:ext cx="1693395" cy="2840959"/>
            <a:chOff x="6399655" y="1950457"/>
            <a:chExt cx="2052600" cy="3443586"/>
          </a:xfrm>
        </p:grpSpPr>
        <p:sp>
          <p:nvSpPr>
            <p:cNvPr id="18" name="Google Shape;993;p8">
              <a:extLst>
                <a:ext uri="{FF2B5EF4-FFF2-40B4-BE49-F238E27FC236}">
                  <a16:creationId xmlns:a16="http://schemas.microsoft.com/office/drawing/2014/main" id="{86B1AF57-BBAD-B8F0-EEE8-92EAADF7B25F}"/>
                </a:ext>
              </a:extLst>
            </p:cNvPr>
            <p:cNvSpPr txBox="1"/>
            <p:nvPr/>
          </p:nvSpPr>
          <p:spPr>
            <a:xfrm>
              <a:off x="6404417" y="1950457"/>
              <a:ext cx="2043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600" b="1" i="0" u="none" strike="noStrike" cap="non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Docker</a:t>
              </a:r>
              <a:endParaRPr sz="1600" b="1" i="0" u="none" strike="noStrike" cap="non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990;p8">
              <a:extLst>
                <a:ext uri="{FF2B5EF4-FFF2-40B4-BE49-F238E27FC236}">
                  <a16:creationId xmlns:a16="http://schemas.microsoft.com/office/drawing/2014/main" id="{32BF9F2E-5835-636F-3C0E-0D2B52EEA5AF}"/>
                </a:ext>
              </a:extLst>
            </p:cNvPr>
            <p:cNvSpPr/>
            <p:nvPr/>
          </p:nvSpPr>
          <p:spPr>
            <a:xfrm>
              <a:off x="6399655" y="2429743"/>
              <a:ext cx="2052600" cy="2964300"/>
            </a:xfrm>
            <a:prstGeom prst="roundRect">
              <a:avLst>
                <a:gd name="adj" fmla="val 581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994;p8">
              <a:extLst>
                <a:ext uri="{FF2B5EF4-FFF2-40B4-BE49-F238E27FC236}">
                  <a16:creationId xmlns:a16="http://schemas.microsoft.com/office/drawing/2014/main" id="{597DF2C0-CE42-6F08-6572-1C7776E5072A}"/>
                </a:ext>
              </a:extLst>
            </p:cNvPr>
            <p:cNvSpPr txBox="1"/>
            <p:nvPr/>
          </p:nvSpPr>
          <p:spPr>
            <a:xfrm>
              <a:off x="6409180" y="2588331"/>
              <a:ext cx="2043000" cy="606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Create containers for your application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" name="Google Shape;995;p8" descr="What is Docker? | AWS">
              <a:extLst>
                <a:ext uri="{FF2B5EF4-FFF2-40B4-BE49-F238E27FC236}">
                  <a16:creationId xmlns:a16="http://schemas.microsoft.com/office/drawing/2014/main" id="{F4640FD8-0B4C-30EA-680B-C5220830DC1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2152" r="22851"/>
            <a:stretch/>
          </p:blipFill>
          <p:spPr>
            <a:xfrm>
              <a:off x="6695229" y="3627457"/>
              <a:ext cx="1461488" cy="1247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" name="Google Shape;996;p8">
            <a:extLst>
              <a:ext uri="{FF2B5EF4-FFF2-40B4-BE49-F238E27FC236}">
                <a16:creationId xmlns:a16="http://schemas.microsoft.com/office/drawing/2014/main" id="{D40D1362-6D3D-129D-70CB-F1F449A0A6A7}"/>
              </a:ext>
            </a:extLst>
          </p:cNvPr>
          <p:cNvSpPr/>
          <p:nvPr/>
        </p:nvSpPr>
        <p:spPr>
          <a:xfrm>
            <a:off x="1515270" y="1974194"/>
            <a:ext cx="9161460" cy="4127970"/>
          </a:xfrm>
          <a:prstGeom prst="roundRect">
            <a:avLst>
              <a:gd name="adj" fmla="val 4774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0" marR="0" lvl="0" indent="-15240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EE283C"/>
              </a:buClr>
              <a:buSzPts val="15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2899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01;p9">
            <a:extLst>
              <a:ext uri="{FF2B5EF4-FFF2-40B4-BE49-F238E27FC236}">
                <a16:creationId xmlns:a16="http://schemas.microsoft.com/office/drawing/2014/main" id="{815A7C48-D768-D533-604D-B6E50EAE8F4D}"/>
              </a:ext>
            </a:extLst>
          </p:cNvPr>
          <p:cNvSpPr txBox="1"/>
          <p:nvPr/>
        </p:nvSpPr>
        <p:spPr>
          <a:xfrm>
            <a:off x="2107900" y="1275344"/>
            <a:ext cx="7976199" cy="475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25" tIns="34250" rIns="68525" bIns="342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MEET KUBERNETES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02;p9">
            <a:extLst>
              <a:ext uri="{FF2B5EF4-FFF2-40B4-BE49-F238E27FC236}">
                <a16:creationId xmlns:a16="http://schemas.microsoft.com/office/drawing/2014/main" id="{E7508E23-E4D2-2156-E449-AEA7CC93EDE8}"/>
              </a:ext>
            </a:extLst>
          </p:cNvPr>
          <p:cNvSpPr/>
          <p:nvPr/>
        </p:nvSpPr>
        <p:spPr>
          <a:xfrm>
            <a:off x="5609271" y="3596856"/>
            <a:ext cx="1266507" cy="122585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003;p9">
            <a:extLst>
              <a:ext uri="{FF2B5EF4-FFF2-40B4-BE49-F238E27FC236}">
                <a16:creationId xmlns:a16="http://schemas.microsoft.com/office/drawing/2014/main" id="{2476AEC1-A8C9-899B-D99D-A66EE24AEE6A}"/>
              </a:ext>
            </a:extLst>
          </p:cNvPr>
          <p:cNvSpPr/>
          <p:nvPr/>
        </p:nvSpPr>
        <p:spPr>
          <a:xfrm>
            <a:off x="5402741" y="2076043"/>
            <a:ext cx="1560174" cy="134491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source and portable platform</a:t>
            </a:r>
            <a:endParaRPr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004;p9">
            <a:extLst>
              <a:ext uri="{FF2B5EF4-FFF2-40B4-BE49-F238E27FC236}">
                <a16:creationId xmlns:a16="http://schemas.microsoft.com/office/drawing/2014/main" id="{1F15C9EA-7FA5-9907-FEC3-3C9FC66E34A6}"/>
              </a:ext>
            </a:extLst>
          </p:cNvPr>
          <p:cNvSpPr/>
          <p:nvPr/>
        </p:nvSpPr>
        <p:spPr>
          <a:xfrm>
            <a:off x="6858914" y="2738870"/>
            <a:ext cx="1560174" cy="134491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Automates scaling of workloads</a:t>
            </a:r>
            <a:endParaRPr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005;p9">
            <a:extLst>
              <a:ext uri="{FF2B5EF4-FFF2-40B4-BE49-F238E27FC236}">
                <a16:creationId xmlns:a16="http://schemas.microsoft.com/office/drawing/2014/main" id="{B57B6F90-E43A-DDA7-68F8-FB9FB9B00E43}"/>
              </a:ext>
            </a:extLst>
          </p:cNvPr>
          <p:cNvSpPr/>
          <p:nvPr/>
        </p:nvSpPr>
        <p:spPr>
          <a:xfrm>
            <a:off x="6842050" y="4259683"/>
            <a:ext cx="1560174" cy="1344915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Groups containers into logical units</a:t>
            </a:r>
            <a:endParaRPr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006;p9">
            <a:extLst>
              <a:ext uri="{FF2B5EF4-FFF2-40B4-BE49-F238E27FC236}">
                <a16:creationId xmlns:a16="http://schemas.microsoft.com/office/drawing/2014/main" id="{FEC2F109-713C-A272-DD59-03C7FA4C7B3C}"/>
              </a:ext>
            </a:extLst>
          </p:cNvPr>
          <p:cNvSpPr/>
          <p:nvPr/>
        </p:nvSpPr>
        <p:spPr>
          <a:xfrm>
            <a:off x="5462437" y="5030850"/>
            <a:ext cx="1560174" cy="134491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23AE73"/>
          </a:solidFill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Google’s Brainchild. Now, donated to CNCG</a:t>
            </a:r>
          </a:p>
        </p:txBody>
      </p:sp>
      <p:sp>
        <p:nvSpPr>
          <p:cNvPr id="15" name="Google Shape;1007;p9">
            <a:extLst>
              <a:ext uri="{FF2B5EF4-FFF2-40B4-BE49-F238E27FC236}">
                <a16:creationId xmlns:a16="http://schemas.microsoft.com/office/drawing/2014/main" id="{CBE86D03-1340-5228-9903-13EBBF632B8B}"/>
              </a:ext>
            </a:extLst>
          </p:cNvPr>
          <p:cNvSpPr/>
          <p:nvPr/>
        </p:nvSpPr>
        <p:spPr>
          <a:xfrm>
            <a:off x="3995704" y="4192125"/>
            <a:ext cx="1647294" cy="134491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EC1C1"/>
          </a:solidFill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Written in the ‘Go’ programming language</a:t>
            </a:r>
            <a:endParaRPr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008;p9">
            <a:extLst>
              <a:ext uri="{FF2B5EF4-FFF2-40B4-BE49-F238E27FC236}">
                <a16:creationId xmlns:a16="http://schemas.microsoft.com/office/drawing/2014/main" id="{5CC40E30-7F13-414E-06E5-6DFF6735262F}"/>
              </a:ext>
            </a:extLst>
          </p:cNvPr>
          <p:cNvSpPr/>
          <p:nvPr/>
        </p:nvSpPr>
        <p:spPr>
          <a:xfrm>
            <a:off x="3982373" y="2649790"/>
            <a:ext cx="1560174" cy="134491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CE6EC0"/>
          </a:solidFill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container </a:t>
            </a:r>
            <a:br>
              <a:rPr lang="en-GB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orchestration </a:t>
            </a:r>
            <a:br>
              <a:rPr lang="en-GB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7185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13;p10">
            <a:extLst>
              <a:ext uri="{FF2B5EF4-FFF2-40B4-BE49-F238E27FC236}">
                <a16:creationId xmlns:a16="http://schemas.microsoft.com/office/drawing/2014/main" id="{2AA2669D-B02D-C462-C50B-FDEDF7CD598C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WHAT DOES KUBERNETES DO?</a:t>
            </a:r>
            <a:endParaRPr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15;p10">
            <a:extLst>
              <a:ext uri="{FF2B5EF4-FFF2-40B4-BE49-F238E27FC236}">
                <a16:creationId xmlns:a16="http://schemas.microsoft.com/office/drawing/2014/main" id="{39423C46-7BED-0E93-7854-ED25D081A263}"/>
              </a:ext>
            </a:extLst>
          </p:cNvPr>
          <p:cNvSpPr txBox="1"/>
          <p:nvPr/>
        </p:nvSpPr>
        <p:spPr>
          <a:xfrm>
            <a:off x="2067150" y="2326589"/>
            <a:ext cx="80577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System for running and coordinating containerized applications across a cluster of machines. 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Manage the life cycle of containerized applications</a:t>
            </a: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It manages the services using methods that provide predictability, scalability and high availability.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It easily coordinates the deployments of your system: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Which containers need to be deployed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Where should the containers be deployed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60329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20;p11">
            <a:extLst>
              <a:ext uri="{FF2B5EF4-FFF2-40B4-BE49-F238E27FC236}">
                <a16:creationId xmlns:a16="http://schemas.microsoft.com/office/drawing/2014/main" id="{5013AB89-FBF5-6ED5-7479-6937B2E886B4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ADVANTAGES</a:t>
            </a:r>
            <a:endParaRPr sz="254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23;p11">
            <a:extLst>
              <a:ext uri="{FF2B5EF4-FFF2-40B4-BE49-F238E27FC236}">
                <a16:creationId xmlns:a16="http://schemas.microsoft.com/office/drawing/2014/main" id="{535498D5-4320-76A2-4B2A-9A0CE3D576B4}"/>
              </a:ext>
            </a:extLst>
          </p:cNvPr>
          <p:cNvSpPr txBox="1"/>
          <p:nvPr/>
        </p:nvSpPr>
        <p:spPr>
          <a:xfrm>
            <a:off x="3045762" y="2532618"/>
            <a:ext cx="6100475" cy="283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Service discovery and load balancing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Storage orchestration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Automated rollouts and rollbacks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Automatic bin packing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Self-healing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Secret and configuration management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15882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29;p13">
            <a:extLst>
              <a:ext uri="{FF2B5EF4-FFF2-40B4-BE49-F238E27FC236}">
                <a16:creationId xmlns:a16="http://schemas.microsoft.com/office/drawing/2014/main" id="{F11A326C-F329-74FF-C166-1454DBA7DD7F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KUBERNETES ARCHITECTURE</a:t>
            </a:r>
            <a:endParaRPr sz="254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32;p13">
            <a:extLst>
              <a:ext uri="{FF2B5EF4-FFF2-40B4-BE49-F238E27FC236}">
                <a16:creationId xmlns:a16="http://schemas.microsoft.com/office/drawing/2014/main" id="{1EAFDFDF-B26A-EC35-9293-58A0537CC3A7}"/>
              </a:ext>
            </a:extLst>
          </p:cNvPr>
          <p:cNvSpPr txBox="1"/>
          <p:nvPr/>
        </p:nvSpPr>
        <p:spPr>
          <a:xfrm>
            <a:off x="1547836" y="2586462"/>
            <a:ext cx="9096328" cy="365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dirty="0">
                <a:latin typeface="Proxima Nova"/>
                <a:ea typeface="Proxima Nova"/>
                <a:cs typeface="Proxima Nova"/>
                <a:sym typeface="Proxima Nova"/>
              </a:rPr>
              <a:t>F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ollows a client-server architecture. 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At a very high level, 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From a high level, a Kubernetes environment consists of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control plane (master)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Distributed storage system for keeping the cluster state consistent (</a:t>
            </a:r>
            <a:r>
              <a:rPr lang="en-GB" sz="1800" b="0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etcd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Several cluster nodes (</a:t>
            </a:r>
            <a:r>
              <a:rPr lang="en-GB" sz="1800" b="0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Kubelets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The various components present in the master server are a </a:t>
            </a:r>
            <a:r>
              <a:rPr lang="en-GB" sz="1800" b="0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kube-apiserver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, an </a:t>
            </a:r>
            <a:r>
              <a:rPr lang="en-GB" sz="1800" b="0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etcd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storage, a </a:t>
            </a:r>
            <a:r>
              <a:rPr lang="en-GB" sz="1800" b="0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-controller-manager, a cloud-controller-manager, a </a:t>
            </a:r>
            <a:r>
              <a:rPr lang="en-GB" sz="1800" b="0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-scheduler and a DNS server Kubernetes services.</a:t>
            </a:r>
            <a:endParaRPr lang="en-IN"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966908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37;p14">
            <a:extLst>
              <a:ext uri="{FF2B5EF4-FFF2-40B4-BE49-F238E27FC236}">
                <a16:creationId xmlns:a16="http://schemas.microsoft.com/office/drawing/2014/main" id="{7F8CDF8F-9F03-12AF-3DA6-68A4A2471C1F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endParaRPr sz="254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1041;p14">
            <a:extLst>
              <a:ext uri="{FF2B5EF4-FFF2-40B4-BE49-F238E27FC236}">
                <a16:creationId xmlns:a16="http://schemas.microsoft.com/office/drawing/2014/main" id="{59E10FC8-F205-5F7D-9BE2-A10723632CB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0591" y="2089147"/>
            <a:ext cx="8970819" cy="4472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0896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46;p15">
            <a:extLst>
              <a:ext uri="{FF2B5EF4-FFF2-40B4-BE49-F238E27FC236}">
                <a16:creationId xmlns:a16="http://schemas.microsoft.com/office/drawing/2014/main" id="{58C888BC-BEDF-49E4-F833-7F48C0B7B0EA}"/>
              </a:ext>
            </a:extLst>
          </p:cNvPr>
          <p:cNvSpPr txBox="1"/>
          <p:nvPr/>
        </p:nvSpPr>
        <p:spPr>
          <a:xfrm>
            <a:off x="2436750" y="1590412"/>
            <a:ext cx="73185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ARCHITECTURE: MASTER COMPONENTS</a:t>
            </a:r>
            <a:endParaRPr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49;p15">
            <a:extLst>
              <a:ext uri="{FF2B5EF4-FFF2-40B4-BE49-F238E27FC236}">
                <a16:creationId xmlns:a16="http://schemas.microsoft.com/office/drawing/2014/main" id="{AA83CE28-8955-EC43-68A2-6A8E02DD0C28}"/>
              </a:ext>
            </a:extLst>
          </p:cNvPr>
          <p:cNvSpPr txBox="1"/>
          <p:nvPr/>
        </p:nvSpPr>
        <p:spPr>
          <a:xfrm>
            <a:off x="1282660" y="2270140"/>
            <a:ext cx="9626680" cy="436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etcd</a:t>
            </a:r>
            <a:r>
              <a:rPr lang="en-GB" sz="18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cluster: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It is a simple, distributed key value storage which is used to store the Kubernetes cluster data, API objects and service discovery details.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kube-apiserver</a:t>
            </a:r>
            <a:r>
              <a:rPr lang="en-GB" sz="18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It is the central management entity that receives all REST requests for modifications serving as frontend to the cluster. 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</a:t>
            </a:r>
            <a:r>
              <a:rPr lang="en-GB" sz="18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-controller-manager: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It runs different controller processes in the background to perform routine tasks and regulate the shared state of the cluster.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Cloud-controller-manager: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It is responsible for managing controller processes with dependencies on the underlying cloud provider.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1800" b="1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</a:t>
            </a:r>
            <a:r>
              <a:rPr lang="en-GB" sz="18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-scheduler: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It helps schedule the pods on the various nodes based on resource utilisation.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065406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54;p16">
            <a:extLst>
              <a:ext uri="{FF2B5EF4-FFF2-40B4-BE49-F238E27FC236}">
                <a16:creationId xmlns:a16="http://schemas.microsoft.com/office/drawing/2014/main" id="{BDAF3052-AE02-E189-41DC-215A27EE5B04}"/>
              </a:ext>
            </a:extLst>
          </p:cNvPr>
          <p:cNvSpPr txBox="1"/>
          <p:nvPr/>
        </p:nvSpPr>
        <p:spPr>
          <a:xfrm>
            <a:off x="2515350" y="1643604"/>
            <a:ext cx="71613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ARCHITECTURE: NODE COMPONENTS</a:t>
            </a:r>
            <a:endParaRPr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57;p16">
            <a:extLst>
              <a:ext uri="{FF2B5EF4-FFF2-40B4-BE49-F238E27FC236}">
                <a16:creationId xmlns:a16="http://schemas.microsoft.com/office/drawing/2014/main" id="{336BB44B-B0DC-4520-DA43-7DE8058EB72C}"/>
              </a:ext>
            </a:extLst>
          </p:cNvPr>
          <p:cNvSpPr txBox="1"/>
          <p:nvPr/>
        </p:nvSpPr>
        <p:spPr>
          <a:xfrm>
            <a:off x="1538692" y="2331691"/>
            <a:ext cx="9114616" cy="248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Arial"/>
              <a:buChar char="●"/>
            </a:pPr>
            <a:r>
              <a:rPr lang="en-GB" sz="1800" b="1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Kubelet</a:t>
            </a:r>
            <a:r>
              <a:rPr lang="en-GB" sz="18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It is a service on the node that regularly takes in new or modified pod specifications and ensures that pods and their containers are healthy and running in the desired state. 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Arial"/>
              <a:buChar char="●"/>
            </a:pPr>
            <a:r>
              <a:rPr lang="en-GB" sz="1800" b="1" i="0" u="none" strike="noStrike" cap="none" dirty="0" err="1">
                <a:latin typeface="Proxima Nova"/>
                <a:ea typeface="Proxima Nova"/>
                <a:cs typeface="Proxima Nova"/>
                <a:sym typeface="Proxima Nova"/>
              </a:rPr>
              <a:t>Kube</a:t>
            </a:r>
            <a:r>
              <a:rPr lang="en-GB" sz="1800" b="1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-proxy:</a:t>
            </a:r>
            <a:r>
              <a:rPr lang="en-GB" sz="18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 It is a proxy service running on each worker node to deal with individual host subnetting and expose the services to the external world. </a:t>
            </a: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1058;p16">
            <a:extLst>
              <a:ext uri="{FF2B5EF4-FFF2-40B4-BE49-F238E27FC236}">
                <a16:creationId xmlns:a16="http://schemas.microsoft.com/office/drawing/2014/main" id="{B1CA2C09-AF94-B383-6040-CC11979C9B0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63353" y="4598147"/>
            <a:ext cx="8665294" cy="2125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551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63;p17">
            <a:extLst>
              <a:ext uri="{FF2B5EF4-FFF2-40B4-BE49-F238E27FC236}">
                <a16:creationId xmlns:a16="http://schemas.microsoft.com/office/drawing/2014/main" id="{EE94579A-89AC-692A-8E7E-56892F624B6D}"/>
              </a:ext>
            </a:extLst>
          </p:cNvPr>
          <p:cNvSpPr txBox="1"/>
          <p:nvPr/>
        </p:nvSpPr>
        <p:spPr>
          <a:xfrm>
            <a:off x="2814281" y="1590412"/>
            <a:ext cx="6563438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ARCHITECTURE: COMPLETE FLOW</a:t>
            </a:r>
            <a:endParaRPr sz="254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1067;p17">
            <a:extLst>
              <a:ext uri="{FF2B5EF4-FFF2-40B4-BE49-F238E27FC236}">
                <a16:creationId xmlns:a16="http://schemas.microsoft.com/office/drawing/2014/main" id="{4946C484-BAEC-4A43-05E0-DFC4FAE402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1335" y="2016931"/>
            <a:ext cx="8129330" cy="4592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2162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72;p18">
            <a:extLst>
              <a:ext uri="{FF2B5EF4-FFF2-40B4-BE49-F238E27FC236}">
                <a16:creationId xmlns:a16="http://schemas.microsoft.com/office/drawing/2014/main" id="{FACFBD20-FBF1-88D5-021B-1B0A9DED4E77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Production Cluster Setup</a:t>
            </a:r>
            <a:endParaRPr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1076;p18">
            <a:extLst>
              <a:ext uri="{FF2B5EF4-FFF2-40B4-BE49-F238E27FC236}">
                <a16:creationId xmlns:a16="http://schemas.microsoft.com/office/drawing/2014/main" id="{BC09A1AE-AD1A-573A-D922-8EE95EC886B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4037" y="2422487"/>
            <a:ext cx="6031124" cy="340690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077;p18">
            <a:extLst>
              <a:ext uri="{FF2B5EF4-FFF2-40B4-BE49-F238E27FC236}">
                <a16:creationId xmlns:a16="http://schemas.microsoft.com/office/drawing/2014/main" id="{4F2E990A-4442-4A16-C434-5C65FCEA88E6}"/>
              </a:ext>
            </a:extLst>
          </p:cNvPr>
          <p:cNvSpPr txBox="1"/>
          <p:nvPr/>
        </p:nvSpPr>
        <p:spPr>
          <a:xfrm>
            <a:off x="651390" y="2971792"/>
            <a:ext cx="4021194" cy="23082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20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Multiple master and worker nodes</a:t>
            </a:r>
            <a:endParaRPr sz="20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20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Separate physical or virtual machines</a:t>
            </a:r>
            <a:endParaRPr sz="20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-GB" sz="200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Maintaining high availability of all control plane components</a:t>
            </a:r>
            <a:endParaRPr sz="200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959246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82;p19">
            <a:extLst>
              <a:ext uri="{FF2B5EF4-FFF2-40B4-BE49-F238E27FC236}">
                <a16:creationId xmlns:a16="http://schemas.microsoft.com/office/drawing/2014/main" id="{B5883C1B-9B3E-B23C-074A-E49666C1DDBD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Production Cluster Setup</a:t>
            </a:r>
            <a:endParaRPr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1086;p19">
            <a:extLst>
              <a:ext uri="{FF2B5EF4-FFF2-40B4-BE49-F238E27FC236}">
                <a16:creationId xmlns:a16="http://schemas.microsoft.com/office/drawing/2014/main" id="{C9100CBD-CCA9-EFD3-BF3F-D3FEB764148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8975" y="2552324"/>
            <a:ext cx="6031124" cy="340690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087;p19">
            <a:extLst>
              <a:ext uri="{FF2B5EF4-FFF2-40B4-BE49-F238E27FC236}">
                <a16:creationId xmlns:a16="http://schemas.microsoft.com/office/drawing/2014/main" id="{1CB24E8D-C0D3-3EDF-01A4-79B2C2CEA7F6}"/>
              </a:ext>
            </a:extLst>
          </p:cNvPr>
          <p:cNvSpPr txBox="1"/>
          <p:nvPr/>
        </p:nvSpPr>
        <p:spPr>
          <a:xfrm>
            <a:off x="2105485" y="2552324"/>
            <a:ext cx="3495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Test on local machine ?</a:t>
            </a:r>
            <a:endParaRPr sz="18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" name="Google Shape;1088;p19">
            <a:extLst>
              <a:ext uri="{FF2B5EF4-FFF2-40B4-BE49-F238E27FC236}">
                <a16:creationId xmlns:a16="http://schemas.microsoft.com/office/drawing/2014/main" id="{2D275923-4DBF-1149-BA61-139A0BE4F5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4800" y="3185382"/>
            <a:ext cx="1037271" cy="26483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567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93;p21">
            <a:extLst>
              <a:ext uri="{FF2B5EF4-FFF2-40B4-BE49-F238E27FC236}">
                <a16:creationId xmlns:a16="http://schemas.microsoft.com/office/drawing/2014/main" id="{0DCB95B2-C902-A4A7-CAC5-EBA976660747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MINIKUBE</a:t>
            </a:r>
            <a:endParaRPr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96;p21">
            <a:extLst>
              <a:ext uri="{FF2B5EF4-FFF2-40B4-BE49-F238E27FC236}">
                <a16:creationId xmlns:a16="http://schemas.microsoft.com/office/drawing/2014/main" id="{36D3FF4D-D477-2B01-88E4-EBEA7E60F588}"/>
              </a:ext>
            </a:extLst>
          </p:cNvPr>
          <p:cNvSpPr txBox="1"/>
          <p:nvPr/>
        </p:nvSpPr>
        <p:spPr>
          <a:xfrm>
            <a:off x="1058202" y="2293211"/>
            <a:ext cx="10075596" cy="384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 err="1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Minikube</a:t>
            </a:r>
            <a:r>
              <a:rPr lang="en-GB" sz="1800" b="0" i="0" u="none" strike="noStrike" cap="none" dirty="0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 is a local Kubernetes, focusing on making it easy to learn and develop for Kubernetes.</a:t>
            </a:r>
            <a:endParaRPr sz="1800" b="0" i="0" u="none" strike="noStrike" cap="none" dirty="0">
              <a:solidFill>
                <a:srgbClr val="0E10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All you need is a Docker (or similarly compatible) container or a virtual machine (VM) environment, and Kubernetes is a single command away: </a:t>
            </a:r>
            <a:r>
              <a:rPr lang="en-GB" sz="1800" b="0" i="0" u="none" strike="noStrike" cap="none" dirty="0" err="1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minikube</a:t>
            </a:r>
            <a:r>
              <a:rPr lang="en-GB" sz="1800" b="0" i="0" u="none" strike="noStrike" cap="none" dirty="0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 start.</a:t>
            </a:r>
            <a:endParaRPr sz="1800" b="0" i="0" u="none" strike="noStrike" cap="none" dirty="0">
              <a:solidFill>
                <a:srgbClr val="0E10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It creates a single node cluster inside a VM.</a:t>
            </a:r>
            <a:endParaRPr sz="1800" b="0" i="0" u="none" strike="noStrike" cap="none" dirty="0">
              <a:solidFill>
                <a:srgbClr val="0E10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This cluster allows you to demo Kubernetes operations without requiring the time and resource-consuming installation of full-blown K8s.</a:t>
            </a:r>
            <a:endParaRPr sz="1800" b="0" i="0" u="none" strike="noStrike" cap="none" dirty="0">
              <a:solidFill>
                <a:srgbClr val="0E10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solidFill>
                  <a:srgbClr val="0E101A"/>
                </a:solidFill>
                <a:latin typeface="Proxima Nova"/>
                <a:ea typeface="Proxima Nova"/>
                <a:cs typeface="Proxima Nova"/>
                <a:sym typeface="Proxima Nova"/>
              </a:rPr>
              <a:t>This flexibility enables you to easily try out the Kubernetes deployments, perform development tasks or test configurations. </a:t>
            </a:r>
            <a:endParaRPr sz="1800" b="0" i="0" u="none" strike="noStrike" cap="none" dirty="0">
              <a:solidFill>
                <a:srgbClr val="0E101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040512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01;p22">
            <a:extLst>
              <a:ext uri="{FF2B5EF4-FFF2-40B4-BE49-F238E27FC236}">
                <a16:creationId xmlns:a16="http://schemas.microsoft.com/office/drawing/2014/main" id="{6FACD10E-64B6-A89D-E808-D349B37DEEB9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4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MINIKUBE USAGE</a:t>
            </a:r>
            <a:endParaRPr sz="254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105;p22">
            <a:extLst>
              <a:ext uri="{FF2B5EF4-FFF2-40B4-BE49-F238E27FC236}">
                <a16:creationId xmlns:a16="http://schemas.microsoft.com/office/drawing/2014/main" id="{7ED44D0C-3ACD-40E7-7F8D-54D5C0059D3B}"/>
              </a:ext>
            </a:extLst>
          </p:cNvPr>
          <p:cNvSpPr txBox="1"/>
          <p:nvPr/>
        </p:nvSpPr>
        <p:spPr>
          <a:xfrm>
            <a:off x="1684199" y="2011519"/>
            <a:ext cx="8823600" cy="500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Proxima Nova"/>
              <a:buChar char="●"/>
            </a:pPr>
            <a:r>
              <a:rPr lang="en-GB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Installation:</a:t>
            </a: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-GB" sz="1800" b="0" i="0" u="sng" strike="noStrike" cap="none" dirty="0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https://minikube.sigs.k8s.io/docs/start/</a:t>
            </a: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roxima Nova"/>
              <a:buChar char="○"/>
            </a:pPr>
            <a:r>
              <a:rPr lang="en-GB" sz="15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curl -LO https://storage.googleapis.com/minikube/releases/latest/minikube-linux-amd64</a:t>
            </a:r>
            <a:endParaRPr sz="15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sudo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install minikube-linux-amd64 /</a:t>
            </a:r>
            <a:r>
              <a:rPr lang="en-GB" sz="18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usr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/local/bin/</a:t>
            </a:r>
            <a:r>
              <a:rPr lang="en-GB" sz="18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minikube</a:t>
            </a: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minikube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start</a:t>
            </a: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-GB" sz="1800" b="0" i="0" u="none" strike="noStrike" cap="none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minikube</a:t>
            </a:r>
            <a:r>
              <a:rPr lang="en-GB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dashboard</a:t>
            </a: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6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1106;p22">
            <a:extLst>
              <a:ext uri="{FF2B5EF4-FFF2-40B4-BE49-F238E27FC236}">
                <a16:creationId xmlns:a16="http://schemas.microsoft.com/office/drawing/2014/main" id="{B6430864-81F1-E019-C664-C2070BDF3B3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0262" y="4864689"/>
            <a:ext cx="7991475" cy="1657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577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57A105-7C89-2D6B-BA9F-2556F54D63D2}"/>
              </a:ext>
            </a:extLst>
          </p:cNvPr>
          <p:cNvSpPr txBox="1"/>
          <p:nvPr/>
        </p:nvSpPr>
        <p:spPr>
          <a:xfrm>
            <a:off x="3037332" y="2828835"/>
            <a:ext cx="611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SzPts val="3200"/>
            </a:pPr>
            <a:r>
              <a:rPr lang="en-US" sz="3600" b="1" dirty="0">
                <a:latin typeface="Proxima Nova"/>
                <a:ea typeface="Proxima Nova"/>
                <a:cs typeface="Proxima Nova"/>
                <a:sym typeface="Proxima Nova"/>
              </a:rPr>
              <a:t>Doubt Clearance Window</a:t>
            </a:r>
          </a:p>
        </p:txBody>
      </p:sp>
    </p:spTree>
    <p:extLst>
      <p:ext uri="{BB962C8B-B14F-4D97-AF65-F5344CB8AC3E}">
        <p14:creationId xmlns:p14="http://schemas.microsoft.com/office/powerpoint/2010/main" val="2179861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84;g25c0f4a8d55_0_2493">
            <a:extLst>
              <a:ext uri="{FF2B5EF4-FFF2-40B4-BE49-F238E27FC236}">
                <a16:creationId xmlns:a16="http://schemas.microsoft.com/office/drawing/2014/main" id="{A1B8F4A8-AC23-DA69-EF6C-FA28DF1EB300}"/>
              </a:ext>
            </a:extLst>
          </p:cNvPr>
          <p:cNvSpPr txBox="1"/>
          <p:nvPr/>
        </p:nvSpPr>
        <p:spPr>
          <a:xfrm>
            <a:off x="839071" y="1823837"/>
            <a:ext cx="10515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GB" sz="3867" dirty="0">
                <a:latin typeface="Proxima Nova"/>
                <a:ea typeface="Proxima Nova"/>
                <a:cs typeface="Proxima Nova"/>
                <a:sym typeface="Proxima Nova"/>
              </a:rPr>
              <a:t>Tasks to Complete After Today’s Session</a:t>
            </a:r>
            <a:endParaRPr sz="3867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27AAC3-38DD-E57C-7C36-3C33ECB7E16F}"/>
              </a:ext>
            </a:extLst>
          </p:cNvPr>
          <p:cNvGraphicFramePr>
            <a:graphicFrameLocks noGrp="1"/>
          </p:cNvGraphicFramePr>
          <p:nvPr/>
        </p:nvGraphicFramePr>
        <p:xfrm>
          <a:off x="4039678" y="2840364"/>
          <a:ext cx="4112643" cy="2426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2643">
                  <a:extLst>
                    <a:ext uri="{9D8B030D-6E8A-4147-A177-3AD203B41FA5}">
                      <a16:colId xmlns:a16="http://schemas.microsoft.com/office/drawing/2014/main" val="3414352935"/>
                    </a:ext>
                  </a:extLst>
                </a:gridCol>
              </a:tblGrid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MCQs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120814"/>
                  </a:ext>
                </a:extLst>
              </a:tr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Conceptual Questions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501447"/>
                  </a:ext>
                </a:extLst>
              </a:tr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Project Checkpoint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57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421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23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753</Words>
  <Application>Microsoft Office PowerPoint</Application>
  <PresentationFormat>Widescreen</PresentationFormat>
  <Paragraphs>145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Lato</vt:lpstr>
      <vt:lpstr>Noto Sans Symbols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Janvi Jannet</cp:lastModifiedBy>
  <cp:revision>2</cp:revision>
  <dcterms:created xsi:type="dcterms:W3CDTF">2024-07-24T09:22:11Z</dcterms:created>
  <dcterms:modified xsi:type="dcterms:W3CDTF">2024-07-24T09:49:58Z</dcterms:modified>
</cp:coreProperties>
</file>