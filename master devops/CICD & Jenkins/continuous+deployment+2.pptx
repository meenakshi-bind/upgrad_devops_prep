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91" r:id="rId3"/>
    <p:sldId id="706" r:id="rId4"/>
    <p:sldId id="775" r:id="rId5"/>
    <p:sldId id="759" r:id="rId6"/>
    <p:sldId id="760" r:id="rId7"/>
    <p:sldId id="761" r:id="rId8"/>
    <p:sldId id="794" r:id="rId9"/>
    <p:sldId id="762" r:id="rId10"/>
    <p:sldId id="763" r:id="rId11"/>
    <p:sldId id="795" r:id="rId12"/>
    <p:sldId id="764" r:id="rId13"/>
    <p:sldId id="765" r:id="rId14"/>
    <p:sldId id="766" r:id="rId15"/>
    <p:sldId id="767" r:id="rId16"/>
    <p:sldId id="768" r:id="rId17"/>
    <p:sldId id="769" r:id="rId18"/>
    <p:sldId id="770" r:id="rId19"/>
    <p:sldId id="771" r:id="rId20"/>
    <p:sldId id="772" r:id="rId21"/>
    <p:sldId id="796" r:id="rId22"/>
    <p:sldId id="797" r:id="rId23"/>
    <p:sldId id="773" r:id="rId24"/>
    <p:sldId id="774" r:id="rId25"/>
    <p:sldId id="798" r:id="rId26"/>
    <p:sldId id="776" r:id="rId27"/>
    <p:sldId id="777" r:id="rId28"/>
    <p:sldId id="799" r:id="rId29"/>
    <p:sldId id="778" r:id="rId30"/>
    <p:sldId id="800" r:id="rId31"/>
    <p:sldId id="801" r:id="rId32"/>
    <p:sldId id="50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A9998-D270-430A-A657-1E2AA9D62355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7E95E-74C0-4B78-80A2-9DFC623442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151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5c0f4a8d55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4" name="Google Shape;1314;g25c0f4a8d55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531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5c0f4a8d55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4" name="Google Shape;1314;g25c0f4a8d55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8826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88DF-3B82-E559-71FB-D937B49E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CA15D-92BD-6582-E548-89232D67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9DAFE-C9D4-9427-57A8-0D522900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09F8D-F1A1-E992-1770-BD5F688B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F86E8-B2EC-8E2B-2030-90E4CF2A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17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F696-49A5-B2DE-D2D9-8229F7793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D513-57FD-568E-D98D-FE972FFC4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EBC9C-87CA-A1B2-19D3-85A60242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475ED-89C1-61DC-AF8C-9C6E3611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E5C5F-A73F-0785-6D4E-0FF67710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74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9EF4-7464-42A6-B573-11300B16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03BA8-6E46-2E07-8F8D-84B010D80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1B397-8F85-A50C-DCF6-2D38166C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DD938-7449-97D4-43BC-C84459F4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2EF14-11B9-DCCE-0ED2-42F03B7B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11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93CF-80BB-5DE3-506D-DC0D4E28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2D0E-FBAC-97B3-6574-0BB4B83DA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79603-E286-2943-6918-C0CBB86DB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89C60-DB95-9BCC-3E22-3E2DF521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1992-BED3-2624-EEDB-F6821C13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94472-6A54-6945-8800-E1B4F0AC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5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1026-A0FD-CBAC-8F4E-AB50435F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0F1D1-96A3-1F5B-DC6B-0E75E8E46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D783D-DAAB-C06B-7E5B-4429457B4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A4122-91CA-623A-4ADF-55024B589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0D648-44CB-FC7F-A44B-AED967C20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AF0A4-F104-B3B4-5727-9F245F27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A5D72-CA72-B714-BDC0-447A4BBF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2DB88-C036-39E7-57D9-3E73439B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52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FB29-82AA-A249-3C38-E5EE3B5F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BE02C-C19E-3EA3-353F-4EC1DCC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18956-230B-5DAE-1389-53936655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31661-7DA7-2410-2139-FB101BD3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8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031B-6EBA-DF97-75CE-9CA913FB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9BB70-9B6C-BA3F-F6AA-59700982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156D-3CC7-7DCE-2038-75810070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0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E752-1264-FE92-8AE8-AB4F252F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D7E13-F6EC-8989-17ED-D1F1B6C2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BC0D4-B9ED-7C8B-16BD-65BCB1EDB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FBFB7-DD48-9CEC-D0C4-D1F629CF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A2E89-D67E-E332-4324-015D5A78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2376B-EEF3-256A-6177-42BA5764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6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6308-787B-A850-D3E1-F23B4C78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3FEEA8-2C8F-5C50-1522-1892498ED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27213-FB82-065A-C4F8-13E122079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9C965-34D1-B9AE-A06E-4B3F28AE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4694-3F7A-EE50-2531-2225EA8CD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1E37-C42C-9821-23AA-70FE1BFD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83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CD04-3026-A20A-C88E-EDD0AC36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5E13B-D529-501C-43E4-EDC0E9421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EFC6F-6300-5B42-5F76-52209666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6063-17C7-EB1D-8C52-70A22703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B60C-314C-36E6-E0D8-96EC1001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3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F878E-B4FC-CE07-9039-CF19AD9C0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3B59C-AB0F-F3B7-6568-054FD1CEB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F73B-FB16-F5A3-C072-6783F87E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B363-C2A6-A826-AFF1-2530EE67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05BF-154C-E0D6-821C-B021DABE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71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2 Line Title, Infographics and Caption 1">
  <p:cSld name="2_2 Line Title, Infographics and Caption 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c0f4a8d55_0_1734"/>
          <p:cNvSpPr/>
          <p:nvPr/>
        </p:nvSpPr>
        <p:spPr>
          <a:xfrm>
            <a:off x="-1" y="800101"/>
            <a:ext cx="12192000" cy="60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25c0f4a8d55_0_1734"/>
          <p:cNvSpPr/>
          <p:nvPr/>
        </p:nvSpPr>
        <p:spPr>
          <a:xfrm>
            <a:off x="-4" y="-26732"/>
            <a:ext cx="12192000" cy="6858000"/>
          </a:xfrm>
          <a:prstGeom prst="rect">
            <a:avLst/>
          </a:prstGeom>
          <a:blipFill rotWithShape="1">
            <a:blip r:embed="rId2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25c0f4a8d55_0_1734"/>
          <p:cNvSpPr>
            <a:spLocks noGrp="1"/>
          </p:cNvSpPr>
          <p:nvPr>
            <p:ph type="pic" idx="2"/>
          </p:nvPr>
        </p:nvSpPr>
        <p:spPr>
          <a:xfrm>
            <a:off x="-3" y="-16149"/>
            <a:ext cx="12192000" cy="6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8" name="Google Shape;278;g25c0f4a8d55_0_1734"/>
          <p:cNvSpPr>
            <a:spLocks noGrp="1"/>
          </p:cNvSpPr>
          <p:nvPr>
            <p:ph type="pic" idx="3"/>
          </p:nvPr>
        </p:nvSpPr>
        <p:spPr>
          <a:xfrm>
            <a:off x="13627645" y="-5142547"/>
            <a:ext cx="12192000" cy="6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9" name="Google Shape;279;g25c0f4a8d55_0_173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g25c0f4a8d55_0_173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81" name="Google Shape;281;g25c0f4a8d55_0_1734"/>
          <p:cNvSpPr txBox="1">
            <a:spLocks noGrp="1"/>
          </p:cNvSpPr>
          <p:nvPr>
            <p:ph type="body" idx="1"/>
          </p:nvPr>
        </p:nvSpPr>
        <p:spPr>
          <a:xfrm>
            <a:off x="4285131" y="4652963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063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82" name="Google Shape;282;g25c0f4a8d55_0_17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5130" y="2979683"/>
            <a:ext cx="7164684" cy="148106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5c0f4a8d55_0_1734"/>
          <p:cNvSpPr txBox="1"/>
          <p:nvPr/>
        </p:nvSpPr>
        <p:spPr>
          <a:xfrm>
            <a:off x="856223" y="813647"/>
            <a:ext cx="7324400" cy="1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Arial"/>
              <a:buNone/>
            </a:pPr>
            <a:r>
              <a:rPr lang="en-GB" sz="4800" b="0" i="0" u="none" strike="noStrike" cap="none">
                <a:solidFill>
                  <a:srgbClr val="F5333F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 sz="4800" b="0" i="0" u="none" strike="noStrike" cap="none">
              <a:solidFill>
                <a:srgbClr val="F533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25c0f4a8d55_0_1734"/>
          <p:cNvSpPr/>
          <p:nvPr/>
        </p:nvSpPr>
        <p:spPr>
          <a:xfrm>
            <a:off x="15624793" y="4920411"/>
            <a:ext cx="1160" cy="1428"/>
          </a:xfrm>
          <a:custGeom>
            <a:avLst/>
            <a:gdLst/>
            <a:ahLst/>
            <a:cxnLst/>
            <a:rect l="l" t="t" r="r" b="b"/>
            <a:pathLst>
              <a:path w="870" h="1071" extrusionOk="0">
                <a:moveTo>
                  <a:pt x="0" y="0"/>
                </a:moveTo>
                <a:lnTo>
                  <a:pt x="870" y="0"/>
                </a:lnTo>
                <a:lnTo>
                  <a:pt x="870" y="10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460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731">
          <p15:clr>
            <a:srgbClr val="FBAE40"/>
          </p15:clr>
        </p15:guide>
        <p15:guide id="3" orient="horz" pos="219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F71C6-C080-D4D8-0886-26B7AA03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08D32-2F6A-DA09-E491-1A0106A78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E1C70-F620-6B93-859F-3E0A7F2D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A263E-3155-42AC-AA4F-8760B92F4F2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3B324-50FC-ECDD-45A5-A629C10D4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B3372-5055-6947-5C39-532ABF6AC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8E3F1-8813-46E7-B4A4-953300D90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1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jenkins.io/doc/book/blueocean/" TargetMode="Externa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3.pn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3.pn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Continuous Deployment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Continuous Deployment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Dipesh Garg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85;p49">
            <a:extLst>
              <a:ext uri="{FF2B5EF4-FFF2-40B4-BE49-F238E27FC236}">
                <a16:creationId xmlns:a16="http://schemas.microsoft.com/office/drawing/2014/main" id="{FDF87282-1E7F-59F7-71D6-B750B230B0BB}"/>
              </a:ext>
            </a:extLst>
          </p:cNvPr>
          <p:cNvSpPr txBox="1"/>
          <p:nvPr/>
        </p:nvSpPr>
        <p:spPr>
          <a:xfrm>
            <a:off x="2526900" y="1788715"/>
            <a:ext cx="713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Proxima Nova"/>
                <a:ea typeface="Proxima Nova"/>
                <a:cs typeface="Proxima Nova"/>
                <a:sym typeface="Proxima Nova"/>
              </a:rPr>
              <a:t>Prerequisites for this session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86;p49">
            <a:extLst>
              <a:ext uri="{FF2B5EF4-FFF2-40B4-BE49-F238E27FC236}">
                <a16:creationId xmlns:a16="http://schemas.microsoft.com/office/drawing/2014/main" id="{EA8410CE-F1B6-2DBB-1729-69A6423B32D4}"/>
              </a:ext>
            </a:extLst>
          </p:cNvPr>
          <p:cNvSpPr txBox="1"/>
          <p:nvPr/>
        </p:nvSpPr>
        <p:spPr>
          <a:xfrm>
            <a:off x="2048400" y="2616496"/>
            <a:ext cx="8095200" cy="2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Calibri"/>
                <a:ea typeface="Calibri"/>
                <a:cs typeface="Calibri"/>
                <a:sym typeface="Calibri"/>
              </a:rPr>
              <a:t>Basic understanding of Jenkins and continuous integration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Calibri"/>
                <a:ea typeface="Calibri"/>
                <a:cs typeface="Calibri"/>
                <a:sym typeface="Calibri"/>
              </a:rPr>
              <a:t>Basic understanding of Amazon ECS and EC2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610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Semantic Versioning 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Continuous Delivery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ysClr val="windowText" lastClr="000000"/>
                </a:solidFill>
              </a:rPr>
              <a:t>Continuous Deployment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47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98;p51">
            <a:extLst>
              <a:ext uri="{FF2B5EF4-FFF2-40B4-BE49-F238E27FC236}">
                <a16:creationId xmlns:a16="http://schemas.microsoft.com/office/drawing/2014/main" id="{27FE7A62-47A5-CFF2-5660-316EB1A9ED8F}"/>
              </a:ext>
            </a:extLst>
          </p:cNvPr>
          <p:cNvSpPr txBox="1"/>
          <p:nvPr/>
        </p:nvSpPr>
        <p:spPr>
          <a:xfrm>
            <a:off x="1618454" y="2387022"/>
            <a:ext cx="8955091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While following continuous delivery and continuous deployment of software, another important aspect is versioning your releases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 should automatically version your releases with a version scheme before every release of your system through a CI-CD pipeline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Your versioning scheme should convey some meaning to the end consumers so that they can differentiate between two distinct releases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 popular software versioning scheme is </a:t>
            </a: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semantic versioning</a:t>
            </a:r>
            <a:endParaRPr sz="1800" b="1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 this scheme, the software version consists of the following: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&lt;MAJOR&gt;.&lt;MINOR&gt;.&lt;PATCH&gt;</a:t>
            </a:r>
            <a:endParaRPr sz="1800" b="1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99;p51">
            <a:extLst>
              <a:ext uri="{FF2B5EF4-FFF2-40B4-BE49-F238E27FC236}">
                <a16:creationId xmlns:a16="http://schemas.microsoft.com/office/drawing/2014/main" id="{0202A4F1-7845-F69B-7803-9FC35E404379}"/>
              </a:ext>
            </a:extLst>
          </p:cNvPr>
          <p:cNvSpPr txBox="1"/>
          <p:nvPr/>
        </p:nvSpPr>
        <p:spPr>
          <a:xfrm>
            <a:off x="2597399" y="1388962"/>
            <a:ext cx="6997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Semantic Versioning and Continuous Delivery 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15688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05;p52">
            <a:extLst>
              <a:ext uri="{FF2B5EF4-FFF2-40B4-BE49-F238E27FC236}">
                <a16:creationId xmlns:a16="http://schemas.microsoft.com/office/drawing/2014/main" id="{F81993AB-2A7F-B57D-1223-E6F584EF03C3}"/>
              </a:ext>
            </a:extLst>
          </p:cNvPr>
          <p:cNvSpPr txBox="1"/>
          <p:nvPr/>
        </p:nvSpPr>
        <p:spPr>
          <a:xfrm>
            <a:off x="2651850" y="1408961"/>
            <a:ext cx="68883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Semantic Versioning and Continuous Delivery 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07;p52">
            <a:extLst>
              <a:ext uri="{FF2B5EF4-FFF2-40B4-BE49-F238E27FC236}">
                <a16:creationId xmlns:a16="http://schemas.microsoft.com/office/drawing/2014/main" id="{C8A12E5D-426E-F020-3BD9-A8712F14F56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8639" y="1963856"/>
            <a:ext cx="8334722" cy="4759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586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2;p53">
            <a:extLst>
              <a:ext uri="{FF2B5EF4-FFF2-40B4-BE49-F238E27FC236}">
                <a16:creationId xmlns:a16="http://schemas.microsoft.com/office/drawing/2014/main" id="{871340E3-B224-751A-A8DC-46FB275677C5}"/>
              </a:ext>
            </a:extLst>
          </p:cNvPr>
          <p:cNvSpPr txBox="1"/>
          <p:nvPr/>
        </p:nvSpPr>
        <p:spPr>
          <a:xfrm>
            <a:off x="2067150" y="2632766"/>
            <a:ext cx="80577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As seen in the image on the previous slide, when you follow semantic versioning in your CI-CD pipeline, you first give an initial version and</a:t>
            </a:r>
            <a:r>
              <a:rPr lang="en" sz="1800" dirty="0">
                <a:solidFill>
                  <a:srgbClr val="202122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then, increase the version numbering as follows: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AutoNum type="alphaLcPeriod"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MAJOR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version - when the release introduces backward incompatible changes (the end user of your API functionality is affected)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AutoNum type="alphaLcPeriod"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MINOR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version</a:t>
            </a:r>
            <a:r>
              <a:rPr lang="en" sz="1800" dirty="0">
                <a:solidFill>
                  <a:srgbClr val="202122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 - 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when you add additional functionality in a backward compatible manner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AutoNum type="alphaLcPeriod"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PATCH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version</a:t>
            </a:r>
            <a:r>
              <a:rPr lang="en" sz="1800" dirty="0">
                <a:solidFill>
                  <a:srgbClr val="202122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 - 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when you make backward-compatible bug fixes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Usually, you treat your default branch (master, main) in the VCS system for the purpose of releasing the software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3;p53">
            <a:extLst>
              <a:ext uri="{FF2B5EF4-FFF2-40B4-BE49-F238E27FC236}">
                <a16:creationId xmlns:a16="http://schemas.microsoft.com/office/drawing/2014/main" id="{FED1E30F-4379-3F67-D452-353784B7FD37}"/>
              </a:ext>
            </a:extLst>
          </p:cNvPr>
          <p:cNvSpPr txBox="1"/>
          <p:nvPr/>
        </p:nvSpPr>
        <p:spPr>
          <a:xfrm>
            <a:off x="2635050" y="1601388"/>
            <a:ext cx="6921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Semantic Versioning and Continuous Delivery 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23767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Blue Ocean Plugin for Jenkins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ysClr val="windowText" lastClr="000000"/>
                </a:solidFill>
              </a:rPr>
              <a:t>Continuous Deployment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19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26;p55">
            <a:extLst>
              <a:ext uri="{FF2B5EF4-FFF2-40B4-BE49-F238E27FC236}">
                <a16:creationId xmlns:a16="http://schemas.microsoft.com/office/drawing/2014/main" id="{8DB2E0AE-A22D-C7D5-B025-443973CA241E}"/>
              </a:ext>
            </a:extLst>
          </p:cNvPr>
          <p:cNvSpPr txBox="1"/>
          <p:nvPr/>
        </p:nvSpPr>
        <p:spPr>
          <a:xfrm>
            <a:off x="2067150" y="2326200"/>
            <a:ext cx="80577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Blue Ocean is a plugin for Jenkins, which provides a new UI for Jenkins based on a personalizable modern design that allows users to graphically create, visualize, and diagnose CD Pipelines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Its various features are: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Provides sophisticated visualizations of CD pipelines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Creates visually intuitive Pipelines with the help of a Pipeline editor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Can be personalized to suit the role-based needs of each team member 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Enables native integration for branch and pull requests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For more information, you can visit the official documentation for Blue Ocean </a:t>
            </a:r>
            <a:r>
              <a:rPr lang="en" sz="1800" u="sng" dirty="0">
                <a:solidFill>
                  <a:schemeClr val="hlink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here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27;p55">
            <a:extLst>
              <a:ext uri="{FF2B5EF4-FFF2-40B4-BE49-F238E27FC236}">
                <a16:creationId xmlns:a16="http://schemas.microsoft.com/office/drawing/2014/main" id="{8EA113C1-201D-A682-8977-5AEE3CA95F2F}"/>
              </a:ext>
            </a:extLst>
          </p:cNvPr>
          <p:cNvSpPr txBox="1"/>
          <p:nvPr/>
        </p:nvSpPr>
        <p:spPr>
          <a:xfrm>
            <a:off x="2833200" y="1458991"/>
            <a:ext cx="65256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Blue Ocean Plugin for Jenkins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10576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33;p56">
            <a:extLst>
              <a:ext uri="{FF2B5EF4-FFF2-40B4-BE49-F238E27FC236}">
                <a16:creationId xmlns:a16="http://schemas.microsoft.com/office/drawing/2014/main" id="{455E607B-53E0-B901-3926-376ABC6D4D92}"/>
              </a:ext>
            </a:extLst>
          </p:cNvPr>
          <p:cNvSpPr txBox="1"/>
          <p:nvPr/>
        </p:nvSpPr>
        <p:spPr>
          <a:xfrm>
            <a:off x="2833199" y="1540776"/>
            <a:ext cx="65256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Blue Ocean Plugin for Jenkins</a:t>
            </a:r>
            <a:endParaRPr sz="280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35;p56">
            <a:extLst>
              <a:ext uri="{FF2B5EF4-FFF2-40B4-BE49-F238E27FC236}">
                <a16:creationId xmlns:a16="http://schemas.microsoft.com/office/drawing/2014/main" id="{41A4F7FF-B5C4-7BCC-23F7-F462172D54F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4387" y="2095490"/>
            <a:ext cx="9223225" cy="4715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63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Deployment Strategies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ysClr val="windowText" lastClr="000000"/>
                </a:solidFill>
              </a:rPr>
              <a:t>Continuous Deployment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574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47;p58">
            <a:extLst>
              <a:ext uri="{FF2B5EF4-FFF2-40B4-BE49-F238E27FC236}">
                <a16:creationId xmlns:a16="http://schemas.microsoft.com/office/drawing/2014/main" id="{93F851F6-2009-1F97-090C-5EC7A6AD5D9A}"/>
              </a:ext>
            </a:extLst>
          </p:cNvPr>
          <p:cNvSpPr txBox="1"/>
          <p:nvPr/>
        </p:nvSpPr>
        <p:spPr>
          <a:xfrm>
            <a:off x="1290828" y="2172637"/>
            <a:ext cx="9610344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 step-by-step approach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Reduces the risks of downtime 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new version in the deployment gradually replaces the previous one	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If we have five servers in which the application is deployed, the new version deployment will occur in one server, followed by the next. This will be repeated for all five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This will ensure that if we have some errors, we find this early and rectify it before the system collapses and avoid downtime for the user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When it comes to containerized applications, a pod/container with the new version pops up. Then, once that is active, the older one is wiped away. So, the user does not experience downtime, and there is a change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48;p58">
            <a:extLst>
              <a:ext uri="{FF2B5EF4-FFF2-40B4-BE49-F238E27FC236}">
                <a16:creationId xmlns:a16="http://schemas.microsoft.com/office/drawing/2014/main" id="{F09DE0E4-3098-5735-7DE3-43DD46E58A52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Rolling Deployment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300378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54;p59">
            <a:extLst>
              <a:ext uri="{FF2B5EF4-FFF2-40B4-BE49-F238E27FC236}">
                <a16:creationId xmlns:a16="http://schemas.microsoft.com/office/drawing/2014/main" id="{23EF3EC4-76FC-2F8F-584F-8E6BBDD7D236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Rolling Deployment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56;p59">
            <a:extLst>
              <a:ext uri="{FF2B5EF4-FFF2-40B4-BE49-F238E27FC236}">
                <a16:creationId xmlns:a16="http://schemas.microsoft.com/office/drawing/2014/main" id="{A862747D-91DB-663D-9BC8-B384435A51C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512" y="2172637"/>
            <a:ext cx="11764975" cy="41116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8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61;p60">
            <a:extLst>
              <a:ext uri="{FF2B5EF4-FFF2-40B4-BE49-F238E27FC236}">
                <a16:creationId xmlns:a16="http://schemas.microsoft.com/office/drawing/2014/main" id="{C0DA0D81-0C7F-B073-29B5-A5B3AFAF9CCE}"/>
              </a:ext>
            </a:extLst>
          </p:cNvPr>
          <p:cNvSpPr txBox="1"/>
          <p:nvPr/>
        </p:nvSpPr>
        <p:spPr>
          <a:xfrm>
            <a:off x="2067150" y="2991754"/>
            <a:ext cx="8057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Jenkins: In the pipeline, each stage will have the following: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AutoNum type="alphaLcPeriod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Deployment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AutoNum type="alphaLcPeriod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Validation of the new version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AutoNum type="alphaLcPeriod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Switching the load balancer settings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62;p60">
            <a:extLst>
              <a:ext uri="{FF2B5EF4-FFF2-40B4-BE49-F238E27FC236}">
                <a16:creationId xmlns:a16="http://schemas.microsoft.com/office/drawing/2014/main" id="{AA963543-22BE-C2A8-9034-5BE832DD79AB}"/>
              </a:ext>
            </a:extLst>
          </p:cNvPr>
          <p:cNvSpPr txBox="1"/>
          <p:nvPr/>
        </p:nvSpPr>
        <p:spPr>
          <a:xfrm>
            <a:off x="3334800" y="160794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Rolling Deployment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205471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68;p61">
            <a:extLst>
              <a:ext uri="{FF2B5EF4-FFF2-40B4-BE49-F238E27FC236}">
                <a16:creationId xmlns:a16="http://schemas.microsoft.com/office/drawing/2014/main" id="{6465483E-614F-FFFC-FFCF-4B505FE165B8}"/>
              </a:ext>
            </a:extLst>
          </p:cNvPr>
          <p:cNvSpPr txBox="1"/>
          <p:nvPr/>
        </p:nvSpPr>
        <p:spPr>
          <a:xfrm>
            <a:off x="2067150" y="2517030"/>
            <a:ext cx="8057700" cy="2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Fail-safe way of deployment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Two identical production environments will be available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One will take all the user traffic as of now: </a:t>
            </a: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blue</a:t>
            </a:r>
            <a:endParaRPr sz="1800" b="1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second one will be idle, which is a clone of the blue one</a:t>
            </a:r>
            <a:r>
              <a:rPr lang="en" sz="1800" dirty="0">
                <a:solidFill>
                  <a:srgbClr val="202122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green</a:t>
            </a:r>
            <a:endParaRPr sz="1800" b="1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Mostly, the same DB and configurations are used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new version is deployed to the green environment 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green environment is tested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69;p61">
            <a:extLst>
              <a:ext uri="{FF2B5EF4-FFF2-40B4-BE49-F238E27FC236}">
                <a16:creationId xmlns:a16="http://schemas.microsoft.com/office/drawing/2014/main" id="{425864E3-0B59-DBEB-AAB6-03042149C9A7}"/>
              </a:ext>
            </a:extLst>
          </p:cNvPr>
          <p:cNvSpPr txBox="1"/>
          <p:nvPr/>
        </p:nvSpPr>
        <p:spPr>
          <a:xfrm>
            <a:off x="3334800" y="1458991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Blue-Green Deployment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827040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75;p62">
            <a:extLst>
              <a:ext uri="{FF2B5EF4-FFF2-40B4-BE49-F238E27FC236}">
                <a16:creationId xmlns:a16="http://schemas.microsoft.com/office/drawing/2014/main" id="{951272F4-F765-736E-6D91-8B7A34C93B60}"/>
              </a:ext>
            </a:extLst>
          </p:cNvPr>
          <p:cNvSpPr txBox="1"/>
          <p:nvPr/>
        </p:nvSpPr>
        <p:spPr>
          <a:xfrm>
            <a:off x="2067150" y="2242200"/>
            <a:ext cx="80577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Once the tests are successful, the traffic is routed to the current green environment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Then, the green environment becomes active, and the blue one becomes idle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This process is ideal for immediate rollback when the deployment fails, and new changes need to be tested without the user being interrupted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76;p62">
            <a:extLst>
              <a:ext uri="{FF2B5EF4-FFF2-40B4-BE49-F238E27FC236}">
                <a16:creationId xmlns:a16="http://schemas.microsoft.com/office/drawing/2014/main" id="{9D2E14AC-D3E6-0988-BA20-FFA2F756AE7A}"/>
              </a:ext>
            </a:extLst>
          </p:cNvPr>
          <p:cNvSpPr txBox="1"/>
          <p:nvPr/>
        </p:nvSpPr>
        <p:spPr>
          <a:xfrm>
            <a:off x="3334800" y="138896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Blue-Green Deployment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536134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82;p63">
            <a:extLst>
              <a:ext uri="{FF2B5EF4-FFF2-40B4-BE49-F238E27FC236}">
                <a16:creationId xmlns:a16="http://schemas.microsoft.com/office/drawing/2014/main" id="{46686F11-7CF8-D307-8DBB-24C90AD544BC}"/>
              </a:ext>
            </a:extLst>
          </p:cNvPr>
          <p:cNvSpPr txBox="1"/>
          <p:nvPr/>
        </p:nvSpPr>
        <p:spPr>
          <a:xfrm>
            <a:off x="3334800" y="1441767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Blue-Green Deployment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84;p63">
            <a:extLst>
              <a:ext uri="{FF2B5EF4-FFF2-40B4-BE49-F238E27FC236}">
                <a16:creationId xmlns:a16="http://schemas.microsoft.com/office/drawing/2014/main" id="{16B1F39D-E00C-A944-DF03-FF681A534A9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284" y="2132048"/>
            <a:ext cx="10695432" cy="3737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32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89;p64">
            <a:extLst>
              <a:ext uri="{FF2B5EF4-FFF2-40B4-BE49-F238E27FC236}">
                <a16:creationId xmlns:a16="http://schemas.microsoft.com/office/drawing/2014/main" id="{6FA01F59-8A4C-5D3C-856B-8AAAB2DED1AD}"/>
              </a:ext>
            </a:extLst>
          </p:cNvPr>
          <p:cNvSpPr txBox="1"/>
          <p:nvPr/>
        </p:nvSpPr>
        <p:spPr>
          <a:xfrm>
            <a:off x="2067150" y="2575500"/>
            <a:ext cx="8057700" cy="30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Similar to Blue-Green Deployment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phased approach to switching between different versions of an application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new version is deployed/released to a small part of the infrastructure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load balancer is modified for some user traffic to be routed to the new version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If no errors are reported, we can roll forward the version to all the remaining infrastructure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90;p64">
            <a:extLst>
              <a:ext uri="{FF2B5EF4-FFF2-40B4-BE49-F238E27FC236}">
                <a16:creationId xmlns:a16="http://schemas.microsoft.com/office/drawing/2014/main" id="{D76D30BC-1883-8FCF-9CF6-9E4B8DF80DAC}"/>
              </a:ext>
            </a:extLst>
          </p:cNvPr>
          <p:cNvSpPr txBox="1"/>
          <p:nvPr/>
        </p:nvSpPr>
        <p:spPr>
          <a:xfrm>
            <a:off x="3334800" y="1443750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Canary Deployment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490935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96;p65">
            <a:extLst>
              <a:ext uri="{FF2B5EF4-FFF2-40B4-BE49-F238E27FC236}">
                <a16:creationId xmlns:a16="http://schemas.microsoft.com/office/drawing/2014/main" id="{89F10EFA-C2C1-325E-34FE-F5AEDD6B5230}"/>
              </a:ext>
            </a:extLst>
          </p:cNvPr>
          <p:cNvSpPr txBox="1"/>
          <p:nvPr/>
        </p:nvSpPr>
        <p:spPr>
          <a:xfrm>
            <a:off x="2067150" y="2594310"/>
            <a:ext cx="80577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deployment can be opened up to the user base in this way: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- Internal users for check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- Regional users 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- IP address ranges 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- Based on user behavior 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97;p65">
            <a:extLst>
              <a:ext uri="{FF2B5EF4-FFF2-40B4-BE49-F238E27FC236}">
                <a16:creationId xmlns:a16="http://schemas.microsoft.com/office/drawing/2014/main" id="{32CA0579-F6B6-F9FB-A464-943F1894DC39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Canary Deployment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158026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3;p66">
            <a:extLst>
              <a:ext uri="{FF2B5EF4-FFF2-40B4-BE49-F238E27FC236}">
                <a16:creationId xmlns:a16="http://schemas.microsoft.com/office/drawing/2014/main" id="{B60413C8-8C65-6D50-8220-9253F9389128}"/>
              </a:ext>
            </a:extLst>
          </p:cNvPr>
          <p:cNvSpPr txBox="1"/>
          <p:nvPr/>
        </p:nvSpPr>
        <p:spPr>
          <a:xfrm>
            <a:off x="3334800" y="1261711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Canary Deployment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805;p66">
            <a:extLst>
              <a:ext uri="{FF2B5EF4-FFF2-40B4-BE49-F238E27FC236}">
                <a16:creationId xmlns:a16="http://schemas.microsoft.com/office/drawing/2014/main" id="{4EB92A70-3A32-0BB3-C85F-399A0C00707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4050" y="1791862"/>
            <a:ext cx="8923899" cy="47594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4730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5c0f4a8d55_0_174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r>
              <a:rPr lang="en-GB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g25c0f4a8d55_0_174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21</a:t>
            </a:fld>
            <a:endParaRPr/>
          </a:p>
        </p:txBody>
      </p:sp>
      <p:sp>
        <p:nvSpPr>
          <p:cNvPr id="1318" name="Google Shape;1318;g25c0f4a8d55_0_174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285742" indent="-285742">
              <a:spcBef>
                <a:spcPts val="0"/>
              </a:spcBef>
            </a:pPr>
            <a:r>
              <a:rPr lang="en-GB"/>
              <a:t>Practice in teams of 4 students</a:t>
            </a:r>
            <a:endParaRPr/>
          </a:p>
          <a:p>
            <a:pPr marL="285742" indent="-285742"/>
            <a:r>
              <a:rPr lang="en-GB"/>
              <a:t>Industry expert mentoring to learn better</a:t>
            </a:r>
            <a:endParaRPr/>
          </a:p>
          <a:p>
            <a:pPr marL="285742" indent="-285742"/>
            <a:r>
              <a:rPr lang="en-GB"/>
              <a:t>Get personalised feedback for improvements</a:t>
            </a:r>
            <a:endParaRPr/>
          </a:p>
        </p:txBody>
      </p:sp>
      <p:sp>
        <p:nvSpPr>
          <p:cNvPr id="1319" name="Google Shape;1319;g25c0f4a8d55_0_174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pPr>
                <a:buSzPts val="900"/>
              </a:pPr>
              <a:t>21</a:t>
            </a:fld>
            <a:endParaRPr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0" name="Google Shape;1320;g25c0f4a8d55_0_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g25c0f4a8d55_0_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g25c0f4a8d55_0_174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013"/>
            </a:pPr>
            <a:endParaRPr sz="13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g25c0f4a8d55_0_174"/>
          <p:cNvSpPr txBox="1"/>
          <p:nvPr/>
        </p:nvSpPr>
        <p:spPr>
          <a:xfrm>
            <a:off x="2078299" y="672045"/>
            <a:ext cx="7324400" cy="1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F5333F"/>
              </a:buClr>
              <a:buSzPts val="3600"/>
            </a:pPr>
            <a:r>
              <a:rPr lang="en-GB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(15 seconds)</a:t>
            </a:r>
            <a:endParaRPr sz="4800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6" name="Google Shape;1326;g25c0f4a8d55_0_174"/>
          <p:cNvSpPr txBox="1"/>
          <p:nvPr/>
        </p:nvSpPr>
        <p:spPr>
          <a:xfrm>
            <a:off x="945310" y="2188888"/>
            <a:ext cx="102688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C3B37"/>
                </a:solidFill>
                <a:latin typeface="Proxima Nova"/>
                <a:ea typeface="Proxima Nova"/>
                <a:cs typeface="Proxima Nova"/>
                <a:sym typeface="Proxima Nova"/>
              </a:rPr>
              <a:t>Which of the following deployment methods will be preferred if you want to release the code first to some beta users in a region?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3C3B3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lphaUcPeriod"/>
            </a:pP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Blue green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lphaUcPeriod"/>
            </a:pP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Rolling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roxima Nova"/>
              <a:buAutoNum type="alphaUcPeriod"/>
            </a:pP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Canary</a:t>
            </a:r>
          </a:p>
        </p:txBody>
      </p:sp>
      <p:sp>
        <p:nvSpPr>
          <p:cNvPr id="9" name="Google Shape;864;p59">
            <a:extLst>
              <a:ext uri="{FF2B5EF4-FFF2-40B4-BE49-F238E27FC236}">
                <a16:creationId xmlns:a16="http://schemas.microsoft.com/office/drawing/2014/main" id="{AE1719BF-6D6A-1B56-6FE8-254857440AE4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21</a:t>
            </a:fld>
            <a:endParaRPr lang="en-IN" sz="900"/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98C032AF-F069-08C6-A104-0E8270ACCDD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D1E07B-752A-025D-8591-1466629D9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448513-DAE2-11FE-221E-E369A127E4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DDCB5B-A85C-9BB7-D0A5-4EC97755C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994B7E-35D0-23D5-5A7D-FEB6A453E87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AEB7FD-65C4-F4ED-1D3D-4F74469E98F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87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5c0f4a8d55_0_174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r>
              <a:rPr lang="en-GB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g25c0f4a8d55_0_174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22</a:t>
            </a:fld>
            <a:endParaRPr/>
          </a:p>
        </p:txBody>
      </p:sp>
      <p:sp>
        <p:nvSpPr>
          <p:cNvPr id="1318" name="Google Shape;1318;g25c0f4a8d55_0_174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285742" indent="-285742">
              <a:spcBef>
                <a:spcPts val="0"/>
              </a:spcBef>
            </a:pPr>
            <a:r>
              <a:rPr lang="en-GB"/>
              <a:t>Practice in teams of 4 students</a:t>
            </a:r>
            <a:endParaRPr/>
          </a:p>
          <a:p>
            <a:pPr marL="285742" indent="-285742"/>
            <a:r>
              <a:rPr lang="en-GB"/>
              <a:t>Industry expert mentoring to learn better</a:t>
            </a:r>
            <a:endParaRPr/>
          </a:p>
          <a:p>
            <a:pPr marL="285742" indent="-285742"/>
            <a:r>
              <a:rPr lang="en-GB"/>
              <a:t>Get personalised feedback for improvements</a:t>
            </a:r>
            <a:endParaRPr/>
          </a:p>
        </p:txBody>
      </p:sp>
      <p:sp>
        <p:nvSpPr>
          <p:cNvPr id="1319" name="Google Shape;1319;g25c0f4a8d55_0_174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pPr>
                <a:buSzPts val="900"/>
              </a:pPr>
              <a:t>22</a:t>
            </a:fld>
            <a:endParaRPr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0" name="Google Shape;1320;g25c0f4a8d55_0_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g25c0f4a8d55_0_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g25c0f4a8d55_0_174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013"/>
            </a:pPr>
            <a:endParaRPr sz="13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g25c0f4a8d55_0_174"/>
          <p:cNvSpPr txBox="1"/>
          <p:nvPr/>
        </p:nvSpPr>
        <p:spPr>
          <a:xfrm>
            <a:off x="2078299" y="672045"/>
            <a:ext cx="7324400" cy="1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F5333F"/>
              </a:buClr>
              <a:buSzPts val="3600"/>
            </a:pPr>
            <a:r>
              <a:rPr lang="en-GB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(15 seconds)</a:t>
            </a:r>
            <a:endParaRPr sz="4800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6" name="Google Shape;1326;g25c0f4a8d55_0_174"/>
          <p:cNvSpPr txBox="1"/>
          <p:nvPr/>
        </p:nvSpPr>
        <p:spPr>
          <a:xfrm>
            <a:off x="945310" y="2188888"/>
            <a:ext cx="102688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C3B37"/>
                </a:solidFill>
                <a:latin typeface="Proxima Nova"/>
                <a:ea typeface="Proxima Nova"/>
                <a:cs typeface="Proxima Nova"/>
                <a:sym typeface="Proxima Nova"/>
              </a:rPr>
              <a:t>Which of the following deployment methods will be preferred if you want to release the code first to some beta users in a region?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3C3B3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lphaUcPeriod"/>
            </a:pP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Blue green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lphaUcPeriod"/>
            </a:pP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Rolling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0000"/>
              </a:buClr>
              <a:buSzPts val="1800"/>
              <a:buFont typeface="Proxima Nova"/>
              <a:buAutoNum type="alphaUcPeriod"/>
            </a:pPr>
            <a:r>
              <a:rPr lang="en-IN" sz="24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Canary</a:t>
            </a:r>
          </a:p>
        </p:txBody>
      </p:sp>
      <p:sp>
        <p:nvSpPr>
          <p:cNvPr id="9" name="Google Shape;864;p59">
            <a:extLst>
              <a:ext uri="{FF2B5EF4-FFF2-40B4-BE49-F238E27FC236}">
                <a16:creationId xmlns:a16="http://schemas.microsoft.com/office/drawing/2014/main" id="{AE1719BF-6D6A-1B56-6FE8-254857440AE4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22</a:t>
            </a:fld>
            <a:endParaRPr lang="en-IN" sz="900"/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98C032AF-F069-08C6-A104-0E8270ACCDD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D1E07B-752A-025D-8591-1466629D9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448513-DAE2-11FE-221E-E369A127E4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DDCB5B-A85C-9BB7-D0A5-4EC97755C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994B7E-35D0-23D5-5A7D-FEB6A453E87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AEB7FD-65C4-F4ED-1D3D-4F74469E98F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27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40;p69">
            <a:extLst>
              <a:ext uri="{FF2B5EF4-FFF2-40B4-BE49-F238E27FC236}">
                <a16:creationId xmlns:a16="http://schemas.microsoft.com/office/drawing/2014/main" id="{0F86E23A-6EFA-B70F-4A04-63DA9ABD7B74}"/>
              </a:ext>
            </a:extLst>
          </p:cNvPr>
          <p:cNvSpPr txBox="1"/>
          <p:nvPr/>
        </p:nvSpPr>
        <p:spPr>
          <a:xfrm>
            <a:off x="2067150" y="2555113"/>
            <a:ext cx="8057700" cy="305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 is a common practice to integrate third-party API/software into CD pipelines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These are used for various use cases and reasons that include: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Notifications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Alerts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Monitoring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 can look at how you can integrate the APIs of </a:t>
            </a: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Slack and Teams 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into the Jenkins pipeline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41;p69">
            <a:extLst>
              <a:ext uri="{FF2B5EF4-FFF2-40B4-BE49-F238E27FC236}">
                <a16:creationId xmlns:a16="http://schemas.microsoft.com/office/drawing/2014/main" id="{822E56BF-2114-847E-9CEF-18DEC95F9E28}"/>
              </a:ext>
            </a:extLst>
          </p:cNvPr>
          <p:cNvSpPr txBox="1"/>
          <p:nvPr/>
        </p:nvSpPr>
        <p:spPr>
          <a:xfrm>
            <a:off x="3334800" y="1458991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Jenkins Third Party Plugins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791391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47;p70">
            <a:extLst>
              <a:ext uri="{FF2B5EF4-FFF2-40B4-BE49-F238E27FC236}">
                <a16:creationId xmlns:a16="http://schemas.microsoft.com/office/drawing/2014/main" id="{11A976D0-18A9-A3E4-ACE6-A2BBDC7658F6}"/>
              </a:ext>
            </a:extLst>
          </p:cNvPr>
          <p:cNvSpPr txBox="1"/>
          <p:nvPr/>
        </p:nvSpPr>
        <p:spPr>
          <a:xfrm>
            <a:off x="2067150" y="2868354"/>
            <a:ext cx="80577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 Jenkins, you can use the plugin “</a:t>
            </a: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Slack Notification Plugin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Once the plugin is available, you can take the following steps: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slackSend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: Send a Slack message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slackUploadFile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: Upload a file to Slack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48;p70">
            <a:extLst>
              <a:ext uri="{FF2B5EF4-FFF2-40B4-BE49-F238E27FC236}">
                <a16:creationId xmlns:a16="http://schemas.microsoft.com/office/drawing/2014/main" id="{E14E0D6C-D9A9-B304-3FE9-554051E11180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Jenkins Third Party Plugins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692839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Jenkins Build Metrics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ysClr val="windowText" lastClr="000000"/>
                </a:solidFill>
              </a:rPr>
              <a:t>Continuous Deployment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373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61;p72">
            <a:extLst>
              <a:ext uri="{FF2B5EF4-FFF2-40B4-BE49-F238E27FC236}">
                <a16:creationId xmlns:a16="http://schemas.microsoft.com/office/drawing/2014/main" id="{8DE16C26-C252-7879-BB44-AB6264F97E4F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Build Metrics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62;p72">
            <a:extLst>
              <a:ext uri="{FF2B5EF4-FFF2-40B4-BE49-F238E27FC236}">
                <a16:creationId xmlns:a16="http://schemas.microsoft.com/office/drawing/2014/main" id="{E8D4E5FF-B9E4-9D24-886A-A7D737F78D50}"/>
              </a:ext>
            </a:extLst>
          </p:cNvPr>
          <p:cNvSpPr txBox="1"/>
          <p:nvPr/>
        </p:nvSpPr>
        <p:spPr>
          <a:xfrm>
            <a:off x="2067150" y="2537542"/>
            <a:ext cx="8057700" cy="3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Build metrics 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are key in Jenkins when it comes to an organization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users will get an idea of how the build is working and how the results are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 need to monitor these few important metrics: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n" sz="1800" b="1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Build History Metrics Plugin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can be used, which can calculate the following: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■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Metrics Time to Failure (</a:t>
            </a:r>
            <a:r>
              <a:rPr lang="en" sz="1800" dirty="0">
                <a:solidFill>
                  <a:srgbClr val="202122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MTTF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■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Mean Time to Recovery (</a:t>
            </a:r>
            <a:r>
              <a:rPr lang="en" sz="1800" dirty="0">
                <a:solidFill>
                  <a:srgbClr val="202122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MTTR</a:t>
            </a: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■"/>
            </a:pPr>
            <a:r>
              <a:rPr lang="en" sz="18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Standard deviation of the build times</a:t>
            </a: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51810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68;p73">
            <a:extLst>
              <a:ext uri="{FF2B5EF4-FFF2-40B4-BE49-F238E27FC236}">
                <a16:creationId xmlns:a16="http://schemas.microsoft.com/office/drawing/2014/main" id="{74E12D7D-2463-DE33-D3C1-D00C501AEB7B}"/>
              </a:ext>
            </a:extLst>
          </p:cNvPr>
          <p:cNvSpPr txBox="1"/>
          <p:nvPr/>
        </p:nvSpPr>
        <p:spPr>
          <a:xfrm>
            <a:off x="3334800" y="1315840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Build Metrics</a:t>
            </a:r>
            <a:endParaRPr sz="254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69;p73">
            <a:extLst>
              <a:ext uri="{FF2B5EF4-FFF2-40B4-BE49-F238E27FC236}">
                <a16:creationId xmlns:a16="http://schemas.microsoft.com/office/drawing/2014/main" id="{DDCE0D66-7B14-4F15-43A2-8FC498C98491}"/>
              </a:ext>
            </a:extLst>
          </p:cNvPr>
          <p:cNvSpPr txBox="1"/>
          <p:nvPr/>
        </p:nvSpPr>
        <p:spPr>
          <a:xfrm>
            <a:off x="2067150" y="2220314"/>
            <a:ext cx="805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See the Trends on the </a:t>
            </a:r>
            <a:r>
              <a:rPr lang="en" sz="1800" b="1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Build Metrics Plugin (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as shown below)</a:t>
            </a:r>
            <a:endParaRPr sz="180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871;p73">
            <a:extLst>
              <a:ext uri="{FF2B5EF4-FFF2-40B4-BE49-F238E27FC236}">
                <a16:creationId xmlns:a16="http://schemas.microsoft.com/office/drawing/2014/main" id="{9B2EE6D9-937C-FA9C-816B-E49166B6686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685"/>
          <a:stretch/>
        </p:blipFill>
        <p:spPr>
          <a:xfrm>
            <a:off x="1633630" y="2873744"/>
            <a:ext cx="8924740" cy="32932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8481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Job Sequencing in Jenkins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ysClr val="windowText" lastClr="000000"/>
                </a:solidFill>
              </a:rPr>
              <a:t>Continuous Deployment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811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83;p75">
            <a:extLst>
              <a:ext uri="{FF2B5EF4-FFF2-40B4-BE49-F238E27FC236}">
                <a16:creationId xmlns:a16="http://schemas.microsoft.com/office/drawing/2014/main" id="{18AEF406-587B-952B-1C0E-ABEAED2CC1FC}"/>
              </a:ext>
            </a:extLst>
          </p:cNvPr>
          <p:cNvSpPr txBox="1"/>
          <p:nvPr/>
        </p:nvSpPr>
        <p:spPr>
          <a:xfrm>
            <a:off x="3334800" y="1492538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Job Sequencing in Jenkins</a:t>
            </a:r>
            <a:endParaRPr sz="254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84;p75">
            <a:extLst>
              <a:ext uri="{FF2B5EF4-FFF2-40B4-BE49-F238E27FC236}">
                <a16:creationId xmlns:a16="http://schemas.microsoft.com/office/drawing/2014/main" id="{B0E6EA69-2350-0B85-0A13-29E4C476F096}"/>
              </a:ext>
            </a:extLst>
          </p:cNvPr>
          <p:cNvSpPr txBox="1"/>
          <p:nvPr/>
        </p:nvSpPr>
        <p:spPr>
          <a:xfrm>
            <a:off x="2067150" y="2395448"/>
            <a:ext cx="8057700" cy="297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20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 Jenkins, multiple jobs can be clubbed together to be executed in a sequence</a:t>
            </a:r>
            <a:endParaRPr sz="20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20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 can be achieved through phases in Jenkins build</a:t>
            </a:r>
            <a:endParaRPr sz="20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20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Each phase will have a Jenkins job, and the project will be a multi-job project</a:t>
            </a:r>
            <a:endParaRPr sz="20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Proxima Nova"/>
              <a:buChar char="●"/>
            </a:pPr>
            <a:r>
              <a:rPr lang="en" sz="2000" dirty="0">
                <a:solidFill>
                  <a:srgbClr val="2021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To run N jobs sequentially, add N phases to your MultiJob project, and then, add one job to each phase</a:t>
            </a:r>
            <a:endParaRPr sz="20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02122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860722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Doubt Clearance Window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ysClr val="windowText" lastClr="000000"/>
                </a:solidFill>
              </a:rPr>
              <a:t>Continuous Deployment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832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84;g25c0f4a8d55_0_2493">
            <a:extLst>
              <a:ext uri="{FF2B5EF4-FFF2-40B4-BE49-F238E27FC236}">
                <a16:creationId xmlns:a16="http://schemas.microsoft.com/office/drawing/2014/main" id="{A1B8F4A8-AC23-DA69-EF6C-FA28DF1EB300}"/>
              </a:ext>
            </a:extLst>
          </p:cNvPr>
          <p:cNvSpPr txBox="1"/>
          <p:nvPr/>
        </p:nvSpPr>
        <p:spPr>
          <a:xfrm>
            <a:off x="839071" y="1823837"/>
            <a:ext cx="10515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GB" sz="3867" dirty="0">
                <a:latin typeface="Proxima Nova"/>
                <a:ea typeface="Proxima Nova"/>
                <a:cs typeface="Proxima Nova"/>
                <a:sym typeface="Proxima Nova"/>
              </a:rPr>
              <a:t>Tasks to Complete After Today’s Session</a:t>
            </a:r>
            <a:endParaRPr sz="3867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27AAC3-38DD-E57C-7C36-3C33ECB7E16F}"/>
              </a:ext>
            </a:extLst>
          </p:cNvPr>
          <p:cNvGraphicFramePr>
            <a:graphicFrameLocks noGrp="1"/>
          </p:cNvGraphicFramePr>
          <p:nvPr/>
        </p:nvGraphicFramePr>
        <p:xfrm>
          <a:off x="4039678" y="2840364"/>
          <a:ext cx="4112643" cy="2426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2643">
                  <a:extLst>
                    <a:ext uri="{9D8B030D-6E8A-4147-A177-3AD203B41FA5}">
                      <a16:colId xmlns:a16="http://schemas.microsoft.com/office/drawing/2014/main" val="3414352935"/>
                    </a:ext>
                  </a:extLst>
                </a:gridCol>
              </a:tblGrid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MCQs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120814"/>
                  </a:ext>
                </a:extLst>
              </a:tr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Conceptual Questions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501447"/>
                  </a:ext>
                </a:extLst>
              </a:tr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Project Checkpoint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57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421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32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1152</Words>
  <Application>Microsoft Office PowerPoint</Application>
  <PresentationFormat>Widescreen</PresentationFormat>
  <Paragraphs>177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Lato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Janvi Jannet</cp:lastModifiedBy>
  <cp:revision>3</cp:revision>
  <dcterms:created xsi:type="dcterms:W3CDTF">2024-07-23T09:18:27Z</dcterms:created>
  <dcterms:modified xsi:type="dcterms:W3CDTF">2024-07-23T09:57:16Z</dcterms:modified>
</cp:coreProperties>
</file>