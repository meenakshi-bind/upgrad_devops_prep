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7" r:id="rId2"/>
    <p:sldId id="291" r:id="rId3"/>
    <p:sldId id="258" r:id="rId4"/>
    <p:sldId id="647" r:id="rId5"/>
    <p:sldId id="648" r:id="rId6"/>
    <p:sldId id="649" r:id="rId7"/>
    <p:sldId id="650" r:id="rId8"/>
    <p:sldId id="651" r:id="rId9"/>
    <p:sldId id="652" r:id="rId10"/>
    <p:sldId id="653" r:id="rId11"/>
    <p:sldId id="654" r:id="rId12"/>
    <p:sldId id="267" r:id="rId13"/>
    <p:sldId id="655" r:id="rId14"/>
    <p:sldId id="656" r:id="rId15"/>
    <p:sldId id="657" r:id="rId16"/>
    <p:sldId id="658" r:id="rId17"/>
    <p:sldId id="659" r:id="rId18"/>
    <p:sldId id="660" r:id="rId19"/>
    <p:sldId id="661" r:id="rId20"/>
    <p:sldId id="662" r:id="rId21"/>
    <p:sldId id="663" r:id="rId22"/>
    <p:sldId id="665" r:id="rId23"/>
    <p:sldId id="666" r:id="rId24"/>
    <p:sldId id="667" r:id="rId25"/>
    <p:sldId id="280" r:id="rId26"/>
    <p:sldId id="668" r:id="rId27"/>
    <p:sldId id="669" r:id="rId28"/>
    <p:sldId id="670" r:id="rId29"/>
    <p:sldId id="671" r:id="rId30"/>
    <p:sldId id="672" r:id="rId31"/>
    <p:sldId id="673" r:id="rId32"/>
    <p:sldId id="287" r:id="rId33"/>
    <p:sldId id="674" r:id="rId34"/>
    <p:sldId id="675" r:id="rId35"/>
    <p:sldId id="676" r:id="rId36"/>
    <p:sldId id="677" r:id="rId37"/>
    <p:sldId id="678" r:id="rId38"/>
    <p:sldId id="664" r:id="rId39"/>
    <p:sldId id="679" r:id="rId40"/>
    <p:sldId id="689" r:id="rId41"/>
    <p:sldId id="680" r:id="rId42"/>
    <p:sldId id="681" r:id="rId43"/>
    <p:sldId id="298" r:id="rId44"/>
    <p:sldId id="690" r:id="rId45"/>
    <p:sldId id="300" r:id="rId46"/>
    <p:sldId id="682" r:id="rId47"/>
    <p:sldId id="683" r:id="rId48"/>
    <p:sldId id="684" r:id="rId49"/>
    <p:sldId id="685" r:id="rId50"/>
    <p:sldId id="686" r:id="rId51"/>
    <p:sldId id="687" r:id="rId52"/>
    <p:sldId id="688" r:id="rId53"/>
    <p:sldId id="503"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95176-1B7E-4134-A4A4-FA8B8BAB8258}" type="datetimeFigureOut">
              <a:rPr lang="en-IN" smtClean="0"/>
              <a:t>23-07-2024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64666B-1871-4BE8-8B07-FC107D30F733}" type="slidenum">
              <a:rPr lang="en-IN" smtClean="0"/>
              <a:t>‹#›</a:t>
            </a:fld>
            <a:endParaRPr lang="en-IN"/>
          </a:p>
        </p:txBody>
      </p:sp>
    </p:spTree>
    <p:extLst>
      <p:ext uri="{BB962C8B-B14F-4D97-AF65-F5344CB8AC3E}">
        <p14:creationId xmlns:p14="http://schemas.microsoft.com/office/powerpoint/2010/main" val="1279329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99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p9: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924" name="Google Shape;924;p9: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p13: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p13: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5"/>
        <p:cNvGrpSpPr/>
        <p:nvPr/>
      </p:nvGrpSpPr>
      <p:grpSpPr>
        <a:xfrm>
          <a:off x="0" y="0"/>
          <a:ext cx="0" cy="0"/>
          <a:chOff x="0" y="0"/>
          <a:chExt cx="0" cy="0"/>
        </a:xfrm>
      </p:grpSpPr>
      <p:sp>
        <p:nvSpPr>
          <p:cNvPr id="1176" name="Google Shape;1176;g25c0f4a8d55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7" name="Google Shape;1177;g25c0f4a8d5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2"/>
        <p:cNvGrpSpPr/>
        <p:nvPr/>
      </p:nvGrpSpPr>
      <p:grpSpPr>
        <a:xfrm>
          <a:off x="0" y="0"/>
          <a:ext cx="0" cy="0"/>
          <a:chOff x="0" y="0"/>
          <a:chExt cx="0" cy="0"/>
        </a:xfrm>
      </p:grpSpPr>
      <p:sp>
        <p:nvSpPr>
          <p:cNvPr id="1233" name="Google Shape;1233;g25c0f4a8d55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4" name="Google Shape;1234;g25c0f4a8d55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2"/>
        <p:cNvGrpSpPr/>
        <p:nvPr/>
      </p:nvGrpSpPr>
      <p:grpSpPr>
        <a:xfrm>
          <a:off x="0" y="0"/>
          <a:ext cx="0" cy="0"/>
          <a:chOff x="0" y="0"/>
          <a:chExt cx="0" cy="0"/>
        </a:xfrm>
      </p:grpSpPr>
      <p:sp>
        <p:nvSpPr>
          <p:cNvPr id="1313" name="Google Shape;1313;g25c0f4a8d55_0_1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4" name="Google Shape;1314;g25c0f4a8d55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2"/>
        <p:cNvGrpSpPr/>
        <p:nvPr/>
      </p:nvGrpSpPr>
      <p:grpSpPr>
        <a:xfrm>
          <a:off x="0" y="0"/>
          <a:ext cx="0" cy="0"/>
          <a:chOff x="0" y="0"/>
          <a:chExt cx="0" cy="0"/>
        </a:xfrm>
      </p:grpSpPr>
      <p:sp>
        <p:nvSpPr>
          <p:cNvPr id="1313" name="Google Shape;1313;g25c0f4a8d55_0_1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4" name="Google Shape;1314;g25c0f4a8d55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4938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2"/>
        <p:cNvGrpSpPr/>
        <p:nvPr/>
      </p:nvGrpSpPr>
      <p:grpSpPr>
        <a:xfrm>
          <a:off x="0" y="0"/>
          <a:ext cx="0" cy="0"/>
          <a:chOff x="0" y="0"/>
          <a:chExt cx="0" cy="0"/>
        </a:xfrm>
      </p:grpSpPr>
      <p:sp>
        <p:nvSpPr>
          <p:cNvPr id="1343" name="Google Shape;1343;g25c0f4a8d55_0_2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4" name="Google Shape;1344;g25c0f4a8d55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E5DF3-9927-799C-335A-CA1C5D0A23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7FFFC85-5503-E419-5D73-0C91170CE6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95C6D0E-E212-FBB5-14D7-439396D6F7D5}"/>
              </a:ext>
            </a:extLst>
          </p:cNvPr>
          <p:cNvSpPr>
            <a:spLocks noGrp="1"/>
          </p:cNvSpPr>
          <p:nvPr>
            <p:ph type="dt" sz="half" idx="10"/>
          </p:nvPr>
        </p:nvSpPr>
        <p:spPr/>
        <p:txBody>
          <a:bodyPr/>
          <a:lstStyle/>
          <a:p>
            <a:fld id="{484276C4-743D-4ABD-8CED-366984E16E9D}" type="datetimeFigureOut">
              <a:rPr lang="en-IN" smtClean="0"/>
              <a:t>23-07-2024</a:t>
            </a:fld>
            <a:endParaRPr lang="en-IN"/>
          </a:p>
        </p:txBody>
      </p:sp>
      <p:sp>
        <p:nvSpPr>
          <p:cNvPr id="5" name="Footer Placeholder 4">
            <a:extLst>
              <a:ext uri="{FF2B5EF4-FFF2-40B4-BE49-F238E27FC236}">
                <a16:creationId xmlns:a16="http://schemas.microsoft.com/office/drawing/2014/main" id="{1CEDEAE5-EF7E-798B-0DA3-3EDBEA83CE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770B01-85FE-54E2-8DE2-ED9A12247F74}"/>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3786833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9854E-E4CF-FD2D-BEDF-9722CBD9D6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07C33E-E6BA-CA05-372E-93C871D093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235E01-03EC-0286-C4CE-F9D253544197}"/>
              </a:ext>
            </a:extLst>
          </p:cNvPr>
          <p:cNvSpPr>
            <a:spLocks noGrp="1"/>
          </p:cNvSpPr>
          <p:nvPr>
            <p:ph type="dt" sz="half" idx="10"/>
          </p:nvPr>
        </p:nvSpPr>
        <p:spPr/>
        <p:txBody>
          <a:bodyPr/>
          <a:lstStyle/>
          <a:p>
            <a:fld id="{484276C4-743D-4ABD-8CED-366984E16E9D}" type="datetimeFigureOut">
              <a:rPr lang="en-IN" smtClean="0"/>
              <a:t>23-07-2024</a:t>
            </a:fld>
            <a:endParaRPr lang="en-IN"/>
          </a:p>
        </p:txBody>
      </p:sp>
      <p:sp>
        <p:nvSpPr>
          <p:cNvPr id="5" name="Footer Placeholder 4">
            <a:extLst>
              <a:ext uri="{FF2B5EF4-FFF2-40B4-BE49-F238E27FC236}">
                <a16:creationId xmlns:a16="http://schemas.microsoft.com/office/drawing/2014/main" id="{AB045B37-1528-FC9F-95A4-B86896E4FF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44EB15-CDC6-1DDF-ACE1-6021FFE37DE9}"/>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2568084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C3E60-3EED-C2D8-2713-5A5939D81E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29A3F87-DA1D-8176-8041-121B572679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DDA8B3-71E3-81BC-2347-1D37369C5298}"/>
              </a:ext>
            </a:extLst>
          </p:cNvPr>
          <p:cNvSpPr>
            <a:spLocks noGrp="1"/>
          </p:cNvSpPr>
          <p:nvPr>
            <p:ph type="dt" sz="half" idx="10"/>
          </p:nvPr>
        </p:nvSpPr>
        <p:spPr/>
        <p:txBody>
          <a:bodyPr/>
          <a:lstStyle/>
          <a:p>
            <a:fld id="{484276C4-743D-4ABD-8CED-366984E16E9D}" type="datetimeFigureOut">
              <a:rPr lang="en-IN" smtClean="0"/>
              <a:t>23-07-2024</a:t>
            </a:fld>
            <a:endParaRPr lang="en-IN"/>
          </a:p>
        </p:txBody>
      </p:sp>
      <p:sp>
        <p:nvSpPr>
          <p:cNvPr id="5" name="Footer Placeholder 4">
            <a:extLst>
              <a:ext uri="{FF2B5EF4-FFF2-40B4-BE49-F238E27FC236}">
                <a16:creationId xmlns:a16="http://schemas.microsoft.com/office/drawing/2014/main" id="{E7450139-8340-03A8-35A5-77B02EC596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78756E-7A36-2660-49A5-59637EB47569}"/>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1916937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ABC34-A30D-1FE3-592A-5C67D4CA4E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82EB8F-CFF4-9437-3127-23D4D6888C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02C7A2-78D4-5DE4-D6B8-6E1E1F7BFD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FEF95EC-AB0E-DC5B-882D-A2DA65C01C40}"/>
              </a:ext>
            </a:extLst>
          </p:cNvPr>
          <p:cNvSpPr>
            <a:spLocks noGrp="1"/>
          </p:cNvSpPr>
          <p:nvPr>
            <p:ph type="dt" sz="half" idx="10"/>
          </p:nvPr>
        </p:nvSpPr>
        <p:spPr/>
        <p:txBody>
          <a:bodyPr/>
          <a:lstStyle/>
          <a:p>
            <a:fld id="{484276C4-743D-4ABD-8CED-366984E16E9D}" type="datetimeFigureOut">
              <a:rPr lang="en-IN" smtClean="0"/>
              <a:t>23-07-2024</a:t>
            </a:fld>
            <a:endParaRPr lang="en-IN"/>
          </a:p>
        </p:txBody>
      </p:sp>
      <p:sp>
        <p:nvSpPr>
          <p:cNvPr id="6" name="Footer Placeholder 5">
            <a:extLst>
              <a:ext uri="{FF2B5EF4-FFF2-40B4-BE49-F238E27FC236}">
                <a16:creationId xmlns:a16="http://schemas.microsoft.com/office/drawing/2014/main" id="{9D8E0005-D026-5525-676D-B2EFB787EA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E252D5-7BC8-EB03-7D82-F0C6A9454E28}"/>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2867386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26DF6-741A-D9D6-2B65-554494D2837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70A9C9-818B-4864-6533-F7C00D8E0E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139128-F199-F6F1-8403-A0BDDA965D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7680A08-7125-0DFE-E916-4B33AE102D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62A229-F555-C247-F61E-021B9BC9E6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8DB3873-110E-0074-9C38-0F766DD6B531}"/>
              </a:ext>
            </a:extLst>
          </p:cNvPr>
          <p:cNvSpPr>
            <a:spLocks noGrp="1"/>
          </p:cNvSpPr>
          <p:nvPr>
            <p:ph type="dt" sz="half" idx="10"/>
          </p:nvPr>
        </p:nvSpPr>
        <p:spPr/>
        <p:txBody>
          <a:bodyPr/>
          <a:lstStyle/>
          <a:p>
            <a:fld id="{484276C4-743D-4ABD-8CED-366984E16E9D}" type="datetimeFigureOut">
              <a:rPr lang="en-IN" smtClean="0"/>
              <a:t>23-07-2024</a:t>
            </a:fld>
            <a:endParaRPr lang="en-IN"/>
          </a:p>
        </p:txBody>
      </p:sp>
      <p:sp>
        <p:nvSpPr>
          <p:cNvPr id="8" name="Footer Placeholder 7">
            <a:extLst>
              <a:ext uri="{FF2B5EF4-FFF2-40B4-BE49-F238E27FC236}">
                <a16:creationId xmlns:a16="http://schemas.microsoft.com/office/drawing/2014/main" id="{5B918D55-CF6C-1D9F-0644-BA2861580B7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F25CE60-BA3B-8A50-3C5E-6D6287B97E17}"/>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4271871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B3379-282D-2A29-E011-80005F59E29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93F226D-A58E-C8C8-AFDF-E0D5EDC8A87D}"/>
              </a:ext>
            </a:extLst>
          </p:cNvPr>
          <p:cNvSpPr>
            <a:spLocks noGrp="1"/>
          </p:cNvSpPr>
          <p:nvPr>
            <p:ph type="dt" sz="half" idx="10"/>
          </p:nvPr>
        </p:nvSpPr>
        <p:spPr/>
        <p:txBody>
          <a:bodyPr/>
          <a:lstStyle/>
          <a:p>
            <a:fld id="{484276C4-743D-4ABD-8CED-366984E16E9D}" type="datetimeFigureOut">
              <a:rPr lang="en-IN" smtClean="0"/>
              <a:t>23-07-2024</a:t>
            </a:fld>
            <a:endParaRPr lang="en-IN"/>
          </a:p>
        </p:txBody>
      </p:sp>
      <p:sp>
        <p:nvSpPr>
          <p:cNvPr id="4" name="Footer Placeholder 3">
            <a:extLst>
              <a:ext uri="{FF2B5EF4-FFF2-40B4-BE49-F238E27FC236}">
                <a16:creationId xmlns:a16="http://schemas.microsoft.com/office/drawing/2014/main" id="{0123CA83-03F5-E2E8-4F39-A326A6DA55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A9A7DD5-A02C-4662-6F94-74C3007D2A70}"/>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499348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F4FC4D-127F-E7A8-0050-815B1DDAE5FF}"/>
              </a:ext>
            </a:extLst>
          </p:cNvPr>
          <p:cNvSpPr>
            <a:spLocks noGrp="1"/>
          </p:cNvSpPr>
          <p:nvPr>
            <p:ph type="dt" sz="half" idx="10"/>
          </p:nvPr>
        </p:nvSpPr>
        <p:spPr/>
        <p:txBody>
          <a:bodyPr/>
          <a:lstStyle/>
          <a:p>
            <a:fld id="{484276C4-743D-4ABD-8CED-366984E16E9D}" type="datetimeFigureOut">
              <a:rPr lang="en-IN" smtClean="0"/>
              <a:t>23-07-2024</a:t>
            </a:fld>
            <a:endParaRPr lang="en-IN"/>
          </a:p>
        </p:txBody>
      </p:sp>
      <p:sp>
        <p:nvSpPr>
          <p:cNvPr id="3" name="Footer Placeholder 2">
            <a:extLst>
              <a:ext uri="{FF2B5EF4-FFF2-40B4-BE49-F238E27FC236}">
                <a16:creationId xmlns:a16="http://schemas.microsoft.com/office/drawing/2014/main" id="{61D007CF-42CA-2734-EF40-6ACA48A34C9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055224-833E-C849-97DB-4FB5C2CBEB71}"/>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1217544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82C63-4090-68A0-875B-68EFF3AD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9FAB8F1-0911-F801-E607-47B7CD1B66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9D002F8-C451-7830-2141-7FBBC0A624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5AB293-FC3E-F81E-B570-4EB53E4BE084}"/>
              </a:ext>
            </a:extLst>
          </p:cNvPr>
          <p:cNvSpPr>
            <a:spLocks noGrp="1"/>
          </p:cNvSpPr>
          <p:nvPr>
            <p:ph type="dt" sz="half" idx="10"/>
          </p:nvPr>
        </p:nvSpPr>
        <p:spPr/>
        <p:txBody>
          <a:bodyPr/>
          <a:lstStyle/>
          <a:p>
            <a:fld id="{484276C4-743D-4ABD-8CED-366984E16E9D}" type="datetimeFigureOut">
              <a:rPr lang="en-IN" smtClean="0"/>
              <a:t>23-07-2024</a:t>
            </a:fld>
            <a:endParaRPr lang="en-IN"/>
          </a:p>
        </p:txBody>
      </p:sp>
      <p:sp>
        <p:nvSpPr>
          <p:cNvPr id="6" name="Footer Placeholder 5">
            <a:extLst>
              <a:ext uri="{FF2B5EF4-FFF2-40B4-BE49-F238E27FC236}">
                <a16:creationId xmlns:a16="http://schemas.microsoft.com/office/drawing/2014/main" id="{30D0440F-008C-3FE9-9131-4C14DE6393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735026-AD80-CC20-8622-685E5C5BA878}"/>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1586904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7DB59-1DBB-C282-E845-763AB5EDE5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519B9A-52EB-1AEC-F578-EC8C20C575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DB590C9-28C1-2404-03F3-3F758082E0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A5F3E2-7F0A-AC2C-B734-BBBBEAA953EC}"/>
              </a:ext>
            </a:extLst>
          </p:cNvPr>
          <p:cNvSpPr>
            <a:spLocks noGrp="1"/>
          </p:cNvSpPr>
          <p:nvPr>
            <p:ph type="dt" sz="half" idx="10"/>
          </p:nvPr>
        </p:nvSpPr>
        <p:spPr/>
        <p:txBody>
          <a:bodyPr/>
          <a:lstStyle/>
          <a:p>
            <a:fld id="{484276C4-743D-4ABD-8CED-366984E16E9D}" type="datetimeFigureOut">
              <a:rPr lang="en-IN" smtClean="0"/>
              <a:t>23-07-2024</a:t>
            </a:fld>
            <a:endParaRPr lang="en-IN"/>
          </a:p>
        </p:txBody>
      </p:sp>
      <p:sp>
        <p:nvSpPr>
          <p:cNvPr id="6" name="Footer Placeholder 5">
            <a:extLst>
              <a:ext uri="{FF2B5EF4-FFF2-40B4-BE49-F238E27FC236}">
                <a16:creationId xmlns:a16="http://schemas.microsoft.com/office/drawing/2014/main" id="{323E9C61-32C7-CF1B-53DC-EEB581C4D9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66250B-FC77-4B99-7B83-A0F53FC5D73E}"/>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2364973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4426E-F58E-86A6-D69B-B6B7CC7AD90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09B52D-DA00-FF49-447B-FD03E9139C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3D40A8-8443-52BE-8366-B4F559251E15}"/>
              </a:ext>
            </a:extLst>
          </p:cNvPr>
          <p:cNvSpPr>
            <a:spLocks noGrp="1"/>
          </p:cNvSpPr>
          <p:nvPr>
            <p:ph type="dt" sz="half" idx="10"/>
          </p:nvPr>
        </p:nvSpPr>
        <p:spPr/>
        <p:txBody>
          <a:bodyPr/>
          <a:lstStyle/>
          <a:p>
            <a:fld id="{484276C4-743D-4ABD-8CED-366984E16E9D}" type="datetimeFigureOut">
              <a:rPr lang="en-IN" smtClean="0"/>
              <a:t>23-07-2024</a:t>
            </a:fld>
            <a:endParaRPr lang="en-IN"/>
          </a:p>
        </p:txBody>
      </p:sp>
      <p:sp>
        <p:nvSpPr>
          <p:cNvPr id="5" name="Footer Placeholder 4">
            <a:extLst>
              <a:ext uri="{FF2B5EF4-FFF2-40B4-BE49-F238E27FC236}">
                <a16:creationId xmlns:a16="http://schemas.microsoft.com/office/drawing/2014/main" id="{48B179DB-B653-6D4E-A433-8793C7748F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A02BE9-4ABE-67E9-85CB-9D5B1FF02747}"/>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1105745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47C9EA-001D-E2D7-9633-ADFBE60CBF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572E64-0E46-1C28-C934-5A0CB3B8C2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941C91-AC32-0D7F-5DFD-71DFBCB9BC79}"/>
              </a:ext>
            </a:extLst>
          </p:cNvPr>
          <p:cNvSpPr>
            <a:spLocks noGrp="1"/>
          </p:cNvSpPr>
          <p:nvPr>
            <p:ph type="dt" sz="half" idx="10"/>
          </p:nvPr>
        </p:nvSpPr>
        <p:spPr/>
        <p:txBody>
          <a:bodyPr/>
          <a:lstStyle/>
          <a:p>
            <a:fld id="{484276C4-743D-4ABD-8CED-366984E16E9D}" type="datetimeFigureOut">
              <a:rPr lang="en-IN" smtClean="0"/>
              <a:t>23-07-2024</a:t>
            </a:fld>
            <a:endParaRPr lang="en-IN"/>
          </a:p>
        </p:txBody>
      </p:sp>
      <p:sp>
        <p:nvSpPr>
          <p:cNvPr id="5" name="Footer Placeholder 4">
            <a:extLst>
              <a:ext uri="{FF2B5EF4-FFF2-40B4-BE49-F238E27FC236}">
                <a16:creationId xmlns:a16="http://schemas.microsoft.com/office/drawing/2014/main" id="{0BEF1607-3C6C-EED3-B259-776A2AA91F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5C20C3-08D5-0B5E-C93F-396C3AAD6B24}"/>
              </a:ext>
            </a:extLst>
          </p:cNvPr>
          <p:cNvSpPr>
            <a:spLocks noGrp="1"/>
          </p:cNvSpPr>
          <p:nvPr>
            <p:ph type="sldNum" sz="quarter" idx="12"/>
          </p:nvPr>
        </p:nvSpPr>
        <p:spPr/>
        <p:txBody>
          <a:bodyPr/>
          <a:lstStyle/>
          <a:p>
            <a:fld id="{2E326ACC-6C02-4444-B52B-8DF957F88ADE}" type="slidenum">
              <a:rPr lang="en-IN" smtClean="0"/>
              <a:t>‹#›</a:t>
            </a:fld>
            <a:endParaRPr lang="en-IN"/>
          </a:p>
        </p:txBody>
      </p:sp>
    </p:spTree>
    <p:extLst>
      <p:ext uri="{BB962C8B-B14F-4D97-AF65-F5344CB8AC3E}">
        <p14:creationId xmlns:p14="http://schemas.microsoft.com/office/powerpoint/2010/main" val="6516609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vider">
  <p:cSld name="Divider">
    <p:spTree>
      <p:nvGrpSpPr>
        <p:cNvPr id="1" name="Shape 256"/>
        <p:cNvGrpSpPr/>
        <p:nvPr/>
      </p:nvGrpSpPr>
      <p:grpSpPr>
        <a:xfrm>
          <a:off x="0" y="0"/>
          <a:ext cx="0" cy="0"/>
          <a:chOff x="0" y="0"/>
          <a:chExt cx="0" cy="0"/>
        </a:xfrm>
      </p:grpSpPr>
      <p:sp>
        <p:nvSpPr>
          <p:cNvPr id="257" name="Google Shape;257;g25c0f4a8d55_0_1716"/>
          <p:cNvSpPr/>
          <p:nvPr/>
        </p:nvSpPr>
        <p:spPr>
          <a:xfrm>
            <a:off x="-575" y="0"/>
            <a:ext cx="12192000" cy="6858000"/>
          </a:xfrm>
          <a:prstGeom prst="rect">
            <a:avLst/>
          </a:prstGeom>
          <a:solidFill>
            <a:srgbClr val="F1333F"/>
          </a:solidFill>
          <a:ln>
            <a:noFill/>
          </a:ln>
        </p:spPr>
        <p:txBody>
          <a:bodyPr spcFirstLastPara="1" wrap="square" lIns="121900" tIns="60933" rIns="121900" bIns="60933"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chemeClr val="lt1"/>
              </a:solidFill>
              <a:latin typeface="Calibri"/>
              <a:ea typeface="Calibri"/>
              <a:cs typeface="Calibri"/>
              <a:sym typeface="Calibri"/>
            </a:endParaRPr>
          </a:p>
        </p:txBody>
      </p:sp>
      <p:sp>
        <p:nvSpPr>
          <p:cNvPr id="258" name="Google Shape;258;g25c0f4a8d55_0_1716"/>
          <p:cNvSpPr txBox="1">
            <a:spLocks noGrp="1"/>
          </p:cNvSpPr>
          <p:nvPr>
            <p:ph type="title"/>
          </p:nvPr>
        </p:nvSpPr>
        <p:spPr>
          <a:xfrm>
            <a:off x="840317" y="725997"/>
            <a:ext cx="7987600" cy="750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lt1"/>
              </a:buClr>
              <a:buSzPts val="3600"/>
              <a:buFont typeface="Arial"/>
              <a:buNone/>
              <a:defRPr sz="4800">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59" name="Google Shape;259;g25c0f4a8d55_0_1716"/>
          <p:cNvSpPr txBox="1">
            <a:spLocks noGrp="1"/>
          </p:cNvSpPr>
          <p:nvPr>
            <p:ph type="dt" idx="10"/>
          </p:nvPr>
        </p:nvSpPr>
        <p:spPr>
          <a:xfrm>
            <a:off x="850900" y="6356351"/>
            <a:ext cx="2743200" cy="3652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60" name="Google Shape;260;g25c0f4a8d55_0_1716"/>
          <p:cNvSpPr txBox="1">
            <a:spLocks noGrp="1"/>
          </p:cNvSpPr>
          <p:nvPr>
            <p:ph type="ftr" idx="11"/>
          </p:nvPr>
        </p:nvSpPr>
        <p:spPr>
          <a:xfrm>
            <a:off x="3502833" y="6356367"/>
            <a:ext cx="5605600" cy="365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261" name="Google Shape;261;g25c0f4a8d55_0_1716"/>
          <p:cNvSpPr txBox="1">
            <a:spLocks noGrp="1"/>
          </p:cNvSpPr>
          <p:nvPr>
            <p:ph type="sldNum" idx="12"/>
          </p:nvPr>
        </p:nvSpPr>
        <p:spPr>
          <a:xfrm>
            <a:off x="8610600" y="6356351"/>
            <a:ext cx="27432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9pPr>
          </a:lstStyle>
          <a:p>
            <a:fld id="{00000000-1234-1234-1234-123412341234}" type="slidenum">
              <a:rPr lang="en-GB" smtClean="0"/>
              <a:pPr/>
              <a:t>‹#›</a:t>
            </a:fld>
            <a:endParaRPr lang="en-GB"/>
          </a:p>
        </p:txBody>
      </p:sp>
      <p:pic>
        <p:nvPicPr>
          <p:cNvPr id="262" name="Google Shape;262;g25c0f4a8d55_0_1716"/>
          <p:cNvPicPr preferRelativeResize="0"/>
          <p:nvPr/>
        </p:nvPicPr>
        <p:blipFill rotWithShape="1">
          <a:blip r:embed="rId2">
            <a:alphaModFix/>
          </a:blip>
          <a:srcRect/>
          <a:stretch/>
        </p:blipFill>
        <p:spPr>
          <a:xfrm>
            <a:off x="10149227" y="404813"/>
            <a:ext cx="1213040" cy="323851"/>
          </a:xfrm>
          <a:prstGeom prst="rect">
            <a:avLst/>
          </a:prstGeom>
          <a:noFill/>
          <a:ln>
            <a:noFill/>
          </a:ln>
        </p:spPr>
      </p:pic>
      <p:sp>
        <p:nvSpPr>
          <p:cNvPr id="263" name="Google Shape;263;g25c0f4a8d55_0_1716"/>
          <p:cNvSpPr/>
          <p:nvPr/>
        </p:nvSpPr>
        <p:spPr>
          <a:xfrm>
            <a:off x="0" y="0"/>
            <a:ext cx="12192000" cy="6858000"/>
          </a:xfrm>
          <a:prstGeom prst="rect">
            <a:avLst/>
          </a:prstGeom>
          <a:solidFill>
            <a:srgbClr val="F1333F"/>
          </a:solidFill>
          <a:ln>
            <a:noFill/>
          </a:ln>
        </p:spPr>
        <p:txBody>
          <a:bodyPr spcFirstLastPara="1" wrap="square" lIns="121900" tIns="60933" rIns="121900" bIns="60933"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chemeClr val="lt1"/>
              </a:solidFill>
              <a:latin typeface="Calibri"/>
              <a:ea typeface="Calibri"/>
              <a:cs typeface="Calibri"/>
              <a:sym typeface="Calibri"/>
            </a:endParaRPr>
          </a:p>
        </p:txBody>
      </p:sp>
      <p:pic>
        <p:nvPicPr>
          <p:cNvPr id="264" name="Google Shape;264;g25c0f4a8d55_0_1716"/>
          <p:cNvPicPr preferRelativeResize="0"/>
          <p:nvPr/>
        </p:nvPicPr>
        <p:blipFill rotWithShape="1">
          <a:blip r:embed="rId3">
            <a:alphaModFix/>
          </a:blip>
          <a:srcRect/>
          <a:stretch/>
        </p:blipFill>
        <p:spPr>
          <a:xfrm>
            <a:off x="10572384" y="280085"/>
            <a:ext cx="1084840" cy="289624"/>
          </a:xfrm>
          <a:prstGeom prst="rect">
            <a:avLst/>
          </a:prstGeom>
          <a:noFill/>
          <a:ln>
            <a:noFill/>
          </a:ln>
        </p:spPr>
      </p:pic>
    </p:spTree>
    <p:extLst>
      <p:ext uri="{BB962C8B-B14F-4D97-AF65-F5344CB8AC3E}">
        <p14:creationId xmlns:p14="http://schemas.microsoft.com/office/powerpoint/2010/main" val="36551569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265"/>
        <p:cNvGrpSpPr/>
        <p:nvPr/>
      </p:nvGrpSpPr>
      <p:grpSpPr>
        <a:xfrm>
          <a:off x="0" y="0"/>
          <a:ext cx="0" cy="0"/>
          <a:chOff x="0" y="0"/>
          <a:chExt cx="0" cy="0"/>
        </a:xfrm>
      </p:grpSpPr>
      <p:sp>
        <p:nvSpPr>
          <p:cNvPr id="266" name="Google Shape;266;g25c0f4a8d55_0_1725"/>
          <p:cNvSpPr/>
          <p:nvPr/>
        </p:nvSpPr>
        <p:spPr>
          <a:xfrm>
            <a:off x="-575" y="0"/>
            <a:ext cx="12192000" cy="6858000"/>
          </a:xfrm>
          <a:prstGeom prst="rect">
            <a:avLst/>
          </a:prstGeom>
          <a:solidFill>
            <a:srgbClr val="F1333F"/>
          </a:solidFill>
          <a:ln>
            <a:noFill/>
          </a:ln>
        </p:spPr>
        <p:txBody>
          <a:bodyPr spcFirstLastPara="1" wrap="square" lIns="121900" tIns="60933" rIns="121900" bIns="60933"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chemeClr val="lt1"/>
              </a:solidFill>
              <a:latin typeface="Calibri"/>
              <a:ea typeface="Calibri"/>
              <a:cs typeface="Calibri"/>
              <a:sym typeface="Calibri"/>
            </a:endParaRPr>
          </a:p>
        </p:txBody>
      </p:sp>
      <p:sp>
        <p:nvSpPr>
          <p:cNvPr id="267" name="Google Shape;267;g25c0f4a8d55_0_1725"/>
          <p:cNvSpPr txBox="1">
            <a:spLocks noGrp="1"/>
          </p:cNvSpPr>
          <p:nvPr>
            <p:ph type="title"/>
          </p:nvPr>
        </p:nvSpPr>
        <p:spPr>
          <a:xfrm>
            <a:off x="840317" y="725997"/>
            <a:ext cx="7987600" cy="750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lt1"/>
              </a:buClr>
              <a:buSzPts val="3600"/>
              <a:buFont typeface="Arial"/>
              <a:buNone/>
              <a:defRPr sz="4800">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68" name="Google Shape;268;g25c0f4a8d55_0_1725"/>
          <p:cNvSpPr txBox="1">
            <a:spLocks noGrp="1"/>
          </p:cNvSpPr>
          <p:nvPr>
            <p:ph type="dt" idx="10"/>
          </p:nvPr>
        </p:nvSpPr>
        <p:spPr>
          <a:xfrm>
            <a:off x="850900" y="6356351"/>
            <a:ext cx="2743200" cy="3652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69" name="Google Shape;269;g25c0f4a8d55_0_1725"/>
          <p:cNvSpPr txBox="1">
            <a:spLocks noGrp="1"/>
          </p:cNvSpPr>
          <p:nvPr>
            <p:ph type="ftr" idx="11"/>
          </p:nvPr>
        </p:nvSpPr>
        <p:spPr>
          <a:xfrm>
            <a:off x="3502833" y="6356367"/>
            <a:ext cx="5605600" cy="365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chemeClr val="l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270" name="Google Shape;270;g25c0f4a8d55_0_1725"/>
          <p:cNvSpPr txBox="1">
            <a:spLocks noGrp="1"/>
          </p:cNvSpPr>
          <p:nvPr>
            <p:ph type="sldNum" idx="12"/>
          </p:nvPr>
        </p:nvSpPr>
        <p:spPr>
          <a:xfrm>
            <a:off x="8610600" y="6356351"/>
            <a:ext cx="27432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9pPr>
          </a:lstStyle>
          <a:p>
            <a:fld id="{00000000-1234-1234-1234-123412341234}" type="slidenum">
              <a:rPr lang="en-GB" smtClean="0"/>
              <a:pPr/>
              <a:t>‹#›</a:t>
            </a:fld>
            <a:endParaRPr lang="en-GB"/>
          </a:p>
        </p:txBody>
      </p:sp>
      <p:pic>
        <p:nvPicPr>
          <p:cNvPr id="271" name="Google Shape;271;g25c0f4a8d55_0_1725"/>
          <p:cNvPicPr preferRelativeResize="0"/>
          <p:nvPr/>
        </p:nvPicPr>
        <p:blipFill rotWithShape="1">
          <a:blip r:embed="rId2">
            <a:alphaModFix/>
          </a:blip>
          <a:srcRect/>
          <a:stretch/>
        </p:blipFill>
        <p:spPr>
          <a:xfrm>
            <a:off x="10149227" y="404813"/>
            <a:ext cx="1213040" cy="323851"/>
          </a:xfrm>
          <a:prstGeom prst="rect">
            <a:avLst/>
          </a:prstGeom>
          <a:noFill/>
          <a:ln>
            <a:noFill/>
          </a:ln>
        </p:spPr>
      </p:pic>
      <p:sp>
        <p:nvSpPr>
          <p:cNvPr id="272" name="Google Shape;272;g25c0f4a8d55_0_1725"/>
          <p:cNvSpPr/>
          <p:nvPr/>
        </p:nvSpPr>
        <p:spPr>
          <a:xfrm>
            <a:off x="0" y="0"/>
            <a:ext cx="12192000" cy="6858000"/>
          </a:xfrm>
          <a:prstGeom prst="rect">
            <a:avLst/>
          </a:prstGeom>
          <a:solidFill>
            <a:srgbClr val="F1333F"/>
          </a:solidFill>
          <a:ln>
            <a:noFill/>
          </a:ln>
        </p:spPr>
        <p:txBody>
          <a:bodyPr spcFirstLastPara="1" wrap="square" lIns="121900" tIns="60933" rIns="121900" bIns="60933"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chemeClr val="lt1"/>
              </a:solidFill>
              <a:latin typeface="Calibri"/>
              <a:ea typeface="Calibri"/>
              <a:cs typeface="Calibri"/>
              <a:sym typeface="Calibri"/>
            </a:endParaRPr>
          </a:p>
        </p:txBody>
      </p:sp>
      <p:pic>
        <p:nvPicPr>
          <p:cNvPr id="273" name="Google Shape;273;g25c0f4a8d55_0_1725"/>
          <p:cNvPicPr preferRelativeResize="0"/>
          <p:nvPr/>
        </p:nvPicPr>
        <p:blipFill rotWithShape="1">
          <a:blip r:embed="rId3">
            <a:alphaModFix/>
          </a:blip>
          <a:srcRect/>
          <a:stretch/>
        </p:blipFill>
        <p:spPr>
          <a:xfrm>
            <a:off x="10572384" y="280085"/>
            <a:ext cx="1084840" cy="289624"/>
          </a:xfrm>
          <a:prstGeom prst="rect">
            <a:avLst/>
          </a:prstGeom>
          <a:noFill/>
          <a:ln>
            <a:noFill/>
          </a:ln>
        </p:spPr>
      </p:pic>
    </p:spTree>
    <p:extLst>
      <p:ext uri="{BB962C8B-B14F-4D97-AF65-F5344CB8AC3E}">
        <p14:creationId xmlns:p14="http://schemas.microsoft.com/office/powerpoint/2010/main" val="2891224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2 Line Title, Infographics and Caption 1">
  <p:cSld name="2_2 Line Title, Infographics and Caption 1">
    <p:spTree>
      <p:nvGrpSpPr>
        <p:cNvPr id="1" name="Shape 274"/>
        <p:cNvGrpSpPr/>
        <p:nvPr/>
      </p:nvGrpSpPr>
      <p:grpSpPr>
        <a:xfrm>
          <a:off x="0" y="0"/>
          <a:ext cx="0" cy="0"/>
          <a:chOff x="0" y="0"/>
          <a:chExt cx="0" cy="0"/>
        </a:xfrm>
      </p:grpSpPr>
      <p:sp>
        <p:nvSpPr>
          <p:cNvPr id="275" name="Google Shape;275;g25c0f4a8d55_0_1734"/>
          <p:cNvSpPr/>
          <p:nvPr/>
        </p:nvSpPr>
        <p:spPr>
          <a:xfrm>
            <a:off x="-1" y="800101"/>
            <a:ext cx="12192000" cy="6058000"/>
          </a:xfrm>
          <a:prstGeom prst="rect">
            <a:avLst/>
          </a:prstGeom>
          <a:solidFill>
            <a:schemeClr val="lt1"/>
          </a:solidFill>
          <a:ln>
            <a:noFill/>
          </a:ln>
        </p:spPr>
        <p:txBody>
          <a:bodyPr spcFirstLastPara="1" wrap="square" lIns="121900" tIns="60933" rIns="121900" bIns="60933"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351" b="0" i="0" u="none" strike="noStrike" cap="none">
              <a:solidFill>
                <a:schemeClr val="lt1"/>
              </a:solidFill>
              <a:latin typeface="Calibri"/>
              <a:ea typeface="Calibri"/>
              <a:cs typeface="Calibri"/>
              <a:sym typeface="Calibri"/>
            </a:endParaRPr>
          </a:p>
        </p:txBody>
      </p:sp>
      <p:sp>
        <p:nvSpPr>
          <p:cNvPr id="276" name="Google Shape;276;g25c0f4a8d55_0_1734"/>
          <p:cNvSpPr/>
          <p:nvPr/>
        </p:nvSpPr>
        <p:spPr>
          <a:xfrm>
            <a:off x="-4" y="-26732"/>
            <a:ext cx="12192000" cy="6858000"/>
          </a:xfrm>
          <a:prstGeom prst="rect">
            <a:avLst/>
          </a:prstGeom>
          <a:blipFill rotWithShape="1">
            <a:blip r:embed="rId2">
              <a:alphaModFix amt="17000"/>
            </a:blip>
            <a:stretch>
              <a:fillRect/>
            </a:stretch>
          </a:blipFill>
          <a:ln>
            <a:noFill/>
          </a:ln>
        </p:spPr>
        <p:txBody>
          <a:bodyPr spcFirstLastPara="1" wrap="square" lIns="121900" tIns="60933" rIns="121900" bIns="60933" anchor="ctr" anchorCtr="0">
            <a:noAutofit/>
          </a:bodyPr>
          <a:lstStyle/>
          <a:p>
            <a:pPr marL="0" marR="0" lvl="0" indent="0" algn="ctr" rtl="0">
              <a:lnSpc>
                <a:spcPct val="100000"/>
              </a:lnSpc>
              <a:spcBef>
                <a:spcPts val="0"/>
              </a:spcBef>
              <a:spcAft>
                <a:spcPts val="0"/>
              </a:spcAft>
              <a:buClr>
                <a:srgbClr val="000000"/>
              </a:buClr>
              <a:buSzPts val="1013"/>
              <a:buFont typeface="Arial"/>
              <a:buNone/>
            </a:pPr>
            <a:endParaRPr sz="1351" b="0" i="0" u="none" strike="noStrike" cap="none">
              <a:solidFill>
                <a:schemeClr val="lt1"/>
              </a:solidFill>
              <a:latin typeface="Calibri"/>
              <a:ea typeface="Calibri"/>
              <a:cs typeface="Calibri"/>
              <a:sym typeface="Calibri"/>
            </a:endParaRPr>
          </a:p>
        </p:txBody>
      </p:sp>
      <p:sp>
        <p:nvSpPr>
          <p:cNvPr id="277" name="Google Shape;277;g25c0f4a8d55_0_1734"/>
          <p:cNvSpPr>
            <a:spLocks noGrp="1"/>
          </p:cNvSpPr>
          <p:nvPr>
            <p:ph type="pic" idx="2"/>
          </p:nvPr>
        </p:nvSpPr>
        <p:spPr>
          <a:xfrm>
            <a:off x="-3" y="-16149"/>
            <a:ext cx="12192000" cy="68636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1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8" name="Google Shape;278;g25c0f4a8d55_0_1734"/>
          <p:cNvSpPr>
            <a:spLocks noGrp="1"/>
          </p:cNvSpPr>
          <p:nvPr>
            <p:ph type="pic" idx="3"/>
          </p:nvPr>
        </p:nvSpPr>
        <p:spPr>
          <a:xfrm>
            <a:off x="13627645" y="-5142547"/>
            <a:ext cx="12192000" cy="68636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1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9" name="Google Shape;279;g25c0f4a8d55_0_1734"/>
          <p:cNvSpPr txBox="1">
            <a:spLocks noGrp="1"/>
          </p:cNvSpPr>
          <p:nvPr>
            <p:ph type="dt" idx="10"/>
          </p:nvPr>
        </p:nvSpPr>
        <p:spPr>
          <a:xfrm>
            <a:off x="838200" y="6356351"/>
            <a:ext cx="2743200" cy="3652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80" name="Google Shape;280;g25c0f4a8d55_0_1734"/>
          <p:cNvSpPr txBox="1">
            <a:spLocks noGrp="1"/>
          </p:cNvSpPr>
          <p:nvPr>
            <p:ph type="sldNum" idx="12"/>
          </p:nvPr>
        </p:nvSpPr>
        <p:spPr>
          <a:xfrm>
            <a:off x="8610600" y="6356351"/>
            <a:ext cx="27432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rgbClr val="888888"/>
                </a:solidFill>
                <a:latin typeface="Proxima Nova"/>
                <a:ea typeface="Proxima Nova"/>
                <a:cs typeface="Proxima Nova"/>
                <a:sym typeface="Proxima Nova"/>
              </a:defRPr>
            </a:lvl9pPr>
          </a:lstStyle>
          <a:p>
            <a:fld id="{00000000-1234-1234-1234-123412341234}" type="slidenum">
              <a:rPr lang="en-GB" smtClean="0"/>
              <a:pPr/>
              <a:t>‹#›</a:t>
            </a:fld>
            <a:endParaRPr lang="en-GB"/>
          </a:p>
        </p:txBody>
      </p:sp>
      <p:sp>
        <p:nvSpPr>
          <p:cNvPr id="281" name="Google Shape;281;g25c0f4a8d55_0_1734"/>
          <p:cNvSpPr txBox="1">
            <a:spLocks noGrp="1"/>
          </p:cNvSpPr>
          <p:nvPr>
            <p:ph type="body" idx="1"/>
          </p:nvPr>
        </p:nvSpPr>
        <p:spPr>
          <a:xfrm>
            <a:off x="4285131" y="4652963"/>
            <a:ext cx="7140000" cy="1116000"/>
          </a:xfrm>
          <a:prstGeom prst="rect">
            <a:avLst/>
          </a:prstGeom>
          <a:noFill/>
          <a:ln>
            <a:noFill/>
          </a:ln>
        </p:spPr>
        <p:txBody>
          <a:bodyPr spcFirstLastPara="1" wrap="square" lIns="91425" tIns="45700" rIns="91425" bIns="45700" anchor="t" anchorCtr="0">
            <a:noAutofit/>
          </a:bodyPr>
          <a:lstStyle>
            <a:lvl1pPr marL="609585" marR="0" lvl="0" indent="-406390" algn="l" rtl="0">
              <a:lnSpc>
                <a:spcPct val="90000"/>
              </a:lnSpc>
              <a:spcBef>
                <a:spcPts val="1000"/>
              </a:spcBef>
              <a:spcAft>
                <a:spcPts val="0"/>
              </a:spcAft>
              <a:buClr>
                <a:schemeClr val="dk1"/>
              </a:buClr>
              <a:buSzPts val="1200"/>
              <a:buFont typeface="Arial"/>
              <a:buChar char="•"/>
              <a:defRPr sz="1600" b="0" i="0" u="none" strike="noStrike" cap="none">
                <a:solidFill>
                  <a:schemeClr val="dk1"/>
                </a:solidFill>
                <a:latin typeface="Proxima Nova"/>
                <a:ea typeface="Proxima Nova"/>
                <a:cs typeface="Proxima Nova"/>
                <a:sym typeface="Proxima Nova"/>
              </a:defRPr>
            </a:lvl1pPr>
            <a:lvl2pPr marL="1219170" marR="0" lvl="1" indent="-457189"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00"/>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4pPr>
            <a:lvl5pPr marL="3047924" marR="0" lvl="4"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5pPr>
            <a:lvl6pPr marL="3657509" marR="0" lvl="5"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6pPr>
            <a:lvl7pPr marL="4267093" marR="0" lvl="6"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7pPr>
            <a:lvl8pPr marL="4876678" marR="0" lvl="7"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8pPr>
            <a:lvl9pPr marL="5486263" marR="0" lvl="8" indent="-419090"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82" name="Google Shape;282;g25c0f4a8d55_0_1734"/>
          <p:cNvPicPr preferRelativeResize="0"/>
          <p:nvPr/>
        </p:nvPicPr>
        <p:blipFill rotWithShape="1">
          <a:blip r:embed="rId3">
            <a:alphaModFix/>
          </a:blip>
          <a:srcRect/>
          <a:stretch/>
        </p:blipFill>
        <p:spPr>
          <a:xfrm>
            <a:off x="4285130" y="2979683"/>
            <a:ext cx="7164684" cy="1481067"/>
          </a:xfrm>
          <a:prstGeom prst="rect">
            <a:avLst/>
          </a:prstGeom>
          <a:noFill/>
          <a:ln>
            <a:noFill/>
          </a:ln>
        </p:spPr>
      </p:pic>
      <p:sp>
        <p:nvSpPr>
          <p:cNvPr id="283" name="Google Shape;283;g25c0f4a8d55_0_1734"/>
          <p:cNvSpPr txBox="1"/>
          <p:nvPr/>
        </p:nvSpPr>
        <p:spPr>
          <a:xfrm>
            <a:off x="856223" y="813647"/>
            <a:ext cx="7324400" cy="1152400"/>
          </a:xfrm>
          <a:prstGeom prst="rect">
            <a:avLst/>
          </a:prstGeom>
          <a:noFill/>
          <a:ln>
            <a:noFill/>
          </a:ln>
        </p:spPr>
        <p:txBody>
          <a:bodyPr spcFirstLastPara="1" wrap="square" lIns="91433" tIns="45700" rIns="91433" bIns="45700" anchor="t" anchorCtr="0">
            <a:noAutofit/>
          </a:bodyPr>
          <a:lstStyle/>
          <a:p>
            <a:pPr marL="0" marR="0" lvl="0" indent="0" algn="l" rtl="0">
              <a:lnSpc>
                <a:spcPct val="90000"/>
              </a:lnSpc>
              <a:spcBef>
                <a:spcPts val="0"/>
              </a:spcBef>
              <a:spcAft>
                <a:spcPts val="0"/>
              </a:spcAft>
              <a:buClr>
                <a:srgbClr val="F5333F"/>
              </a:buClr>
              <a:buSzPts val="3600"/>
              <a:buFont typeface="Arial"/>
              <a:buNone/>
            </a:pPr>
            <a:r>
              <a:rPr lang="en-GB" sz="4800" b="0" i="0" u="none" strike="noStrike" cap="none">
                <a:solidFill>
                  <a:srgbClr val="F5333F"/>
                </a:solidFill>
                <a:latin typeface="Arial"/>
                <a:ea typeface="Arial"/>
                <a:cs typeface="Arial"/>
                <a:sym typeface="Arial"/>
              </a:rPr>
              <a:t>Click to add Title</a:t>
            </a:r>
            <a:endParaRPr sz="4800" b="0" i="0" u="none" strike="noStrike" cap="none">
              <a:solidFill>
                <a:srgbClr val="F5333F"/>
              </a:solidFill>
              <a:latin typeface="Arial"/>
              <a:ea typeface="Arial"/>
              <a:cs typeface="Arial"/>
              <a:sym typeface="Arial"/>
            </a:endParaRPr>
          </a:p>
        </p:txBody>
      </p:sp>
      <p:sp>
        <p:nvSpPr>
          <p:cNvPr id="284" name="Google Shape;284;g25c0f4a8d55_0_1734"/>
          <p:cNvSpPr/>
          <p:nvPr/>
        </p:nvSpPr>
        <p:spPr>
          <a:xfrm>
            <a:off x="15624793" y="4920411"/>
            <a:ext cx="1160" cy="1428"/>
          </a:xfrm>
          <a:custGeom>
            <a:avLst/>
            <a:gdLst/>
            <a:ahLst/>
            <a:cxnLst/>
            <a:rect l="l" t="t" r="r" b="b"/>
            <a:pathLst>
              <a:path w="870" h="1071" extrusionOk="0">
                <a:moveTo>
                  <a:pt x="0" y="0"/>
                </a:moveTo>
                <a:lnTo>
                  <a:pt x="870" y="0"/>
                </a:lnTo>
                <a:lnTo>
                  <a:pt x="870" y="1071"/>
                </a:lnTo>
                <a:lnTo>
                  <a:pt x="0" y="0"/>
                </a:lnTo>
                <a:close/>
              </a:path>
            </a:pathLst>
          </a:custGeom>
          <a:solidFill>
            <a:schemeClr val="accent1"/>
          </a:solidFill>
          <a:ln w="12700" cap="flat" cmpd="sng">
            <a:solidFill>
              <a:srgbClr val="31538F"/>
            </a:solidFill>
            <a:prstDash val="solid"/>
            <a:miter lim="800000"/>
            <a:headEnd type="none" w="sm" len="sm"/>
            <a:tailEnd type="none" w="sm" len="sm"/>
          </a:ln>
        </p:spPr>
        <p:txBody>
          <a:bodyPr spcFirstLastPara="1" wrap="square" lIns="121900" tIns="60933" rIns="121900" bIns="60933"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4097905257"/>
      </p:ext>
    </p:extLst>
  </p:cSld>
  <p:clrMapOvr>
    <a:masterClrMapping/>
  </p:clrMapOvr>
  <p:extLst>
    <p:ext uri="{DCECCB84-F9BA-43D5-87BE-67443E8EF086}">
      <p15:sldGuideLst xmlns:p15="http://schemas.microsoft.com/office/powerpoint/2012/main">
        <p15:guide id="1" orient="horz" pos="378">
          <p15:clr>
            <a:srgbClr val="FBAE40"/>
          </p15:clr>
        </p15:guide>
        <p15:guide id="2" orient="horz" pos="2731">
          <p15:clr>
            <a:srgbClr val="FBAE40"/>
          </p15:clr>
        </p15:guide>
        <p15:guide id="3" orient="horz" pos="219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2A46D8-81BA-E357-A9B9-26062FF817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7B3C1B-644C-BF14-9501-2AE7E46E9C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00DE9E-CF1D-F112-CFD7-2F2B950013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276C4-743D-4ABD-8CED-366984E16E9D}" type="datetimeFigureOut">
              <a:rPr lang="en-IN" smtClean="0"/>
              <a:t>23-07-2024</a:t>
            </a:fld>
            <a:endParaRPr lang="en-IN"/>
          </a:p>
        </p:txBody>
      </p:sp>
      <p:sp>
        <p:nvSpPr>
          <p:cNvPr id="5" name="Footer Placeholder 4">
            <a:extLst>
              <a:ext uri="{FF2B5EF4-FFF2-40B4-BE49-F238E27FC236}">
                <a16:creationId xmlns:a16="http://schemas.microsoft.com/office/drawing/2014/main" id="{7F68BB27-3A78-B41A-7CCE-3D6C8573F2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C5F9156-6F91-D63E-CA7B-9A8AD485F3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326ACC-6C02-4444-B52B-8DF957F88ADE}" type="slidenum">
              <a:rPr lang="en-IN" smtClean="0"/>
              <a:t>‹#›</a:t>
            </a:fld>
            <a:endParaRPr lang="en-IN"/>
          </a:p>
        </p:txBody>
      </p:sp>
    </p:spTree>
    <p:extLst>
      <p:ext uri="{BB962C8B-B14F-4D97-AF65-F5344CB8AC3E}">
        <p14:creationId xmlns:p14="http://schemas.microsoft.com/office/powerpoint/2010/main" val="1421200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8.emf"/></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emf"/><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7.emf"/><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5.png"/><Relationship Id="rId16"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9.emf"/><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8.emf"/><Relationship Id="rId9" Type="http://schemas.openxmlformats.org/officeDocument/2006/relationships/image" Target="../media/image14.png"/><Relationship Id="rId1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0.png"/><Relationship Id="rId3" Type="http://schemas.openxmlformats.org/officeDocument/2006/relationships/image" Target="../media/image7.emf"/><Relationship Id="rId7" Type="http://schemas.openxmlformats.org/officeDocument/2006/relationships/image" Target="../media/image12.png"/><Relationship Id="rId12" Type="http://schemas.openxmlformats.org/officeDocument/2006/relationships/image" Target="../media/image19.png"/><Relationship Id="rId2" Type="http://schemas.openxmlformats.org/officeDocument/2006/relationships/image" Target="../media/image5.png"/><Relationship Id="rId16"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7.png"/><Relationship Id="rId5" Type="http://schemas.openxmlformats.org/officeDocument/2006/relationships/image" Target="../media/image9.emf"/><Relationship Id="rId15" Type="http://schemas.openxmlformats.org/officeDocument/2006/relationships/image" Target="../media/image23.png"/><Relationship Id="rId10" Type="http://schemas.openxmlformats.org/officeDocument/2006/relationships/image" Target="../media/image15.png"/><Relationship Id="rId4" Type="http://schemas.openxmlformats.org/officeDocument/2006/relationships/image" Target="../media/image8.emf"/><Relationship Id="rId9" Type="http://schemas.openxmlformats.org/officeDocument/2006/relationships/image" Target="../media/image14.png"/><Relationship Id="rId1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9.emf"/><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8.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8.emf"/></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9.emf"/><Relationship Id="rId4" Type="http://schemas.openxmlformats.org/officeDocument/2006/relationships/image" Target="../media/image8.emf"/></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8.emf"/></Relationships>
</file>

<file path=ppt/slides/_rels/slide17.xml.rels><?xml version="1.0" encoding="UTF-8" standalone="yes"?>
<Relationships xmlns="http://schemas.openxmlformats.org/package/2006/relationships"><Relationship Id="rId8" Type="http://schemas.openxmlformats.org/officeDocument/2006/relationships/image" Target="../media/image29.jpg"/><Relationship Id="rId3" Type="http://schemas.openxmlformats.org/officeDocument/2006/relationships/image" Target="../media/image7.emf"/><Relationship Id="rId7"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9.emf"/><Relationship Id="rId10" Type="http://schemas.openxmlformats.org/officeDocument/2006/relationships/image" Target="../media/image31.png"/><Relationship Id="rId4" Type="http://schemas.openxmlformats.org/officeDocument/2006/relationships/image" Target="../media/image8.emf"/><Relationship Id="rId9"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8.emf"/></Relationships>
</file>

<file path=ppt/slides/_rels/slide1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7.emf"/><Relationship Id="rId7" Type="http://schemas.openxmlformats.org/officeDocument/2006/relationships/image" Target="../media/image34.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9.emf"/><Relationship Id="rId4" Type="http://schemas.openxmlformats.org/officeDocument/2006/relationships/image" Target="../media/image8.emf"/></Relationships>
</file>

<file path=ppt/slides/_rels/slide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8.emf"/></Relationships>
</file>

<file path=ppt/slides/_rels/slide21.x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3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9.emf"/><Relationship Id="rId4" Type="http://schemas.openxmlformats.org/officeDocument/2006/relationships/image" Target="../media/image8.emf"/></Relationships>
</file>

<file path=ppt/slides/_rels/slide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9.emf"/><Relationship Id="rId4" Type="http://schemas.openxmlformats.org/officeDocument/2006/relationships/image" Target="../media/image8.emf"/></Relationships>
</file>

<file path=ppt/slides/_rels/slide2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8.emf"/></Relationships>
</file>

<file path=ppt/slides/_rels/slide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9.emf"/><Relationship Id="rId4" Type="http://schemas.openxmlformats.org/officeDocument/2006/relationships/image" Target="../media/image8.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0.jpg"/><Relationship Id="rId5" Type="http://schemas.openxmlformats.org/officeDocument/2006/relationships/image" Target="../media/image9.emf"/><Relationship Id="rId4" Type="http://schemas.openxmlformats.org/officeDocument/2006/relationships/image" Target="../media/image8.emf"/></Relationships>
</file>

<file path=ppt/slides/_rels/slide2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8.emf"/></Relationships>
</file>

<file path=ppt/slides/_rels/slide2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8.emf"/></Relationships>
</file>

<file path=ppt/slides/_rels/slide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9.emf"/><Relationship Id="rId4" Type="http://schemas.openxmlformats.org/officeDocument/2006/relationships/image" Target="../media/image8.emf"/></Relationships>
</file>

<file path=ppt/slides/_rels/slide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9.emf"/><Relationship Id="rId4" Type="http://schemas.openxmlformats.org/officeDocument/2006/relationships/image" Target="../media/image8.emf"/></Relationships>
</file>

<file path=ppt/slides/_rels/slide3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9.emf"/><Relationship Id="rId4" Type="http://schemas.openxmlformats.org/officeDocument/2006/relationships/image" Target="../media/image8.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0.jpg"/><Relationship Id="rId5" Type="http://schemas.openxmlformats.org/officeDocument/2006/relationships/image" Target="../media/image9.emf"/><Relationship Id="rId4" Type="http://schemas.openxmlformats.org/officeDocument/2006/relationships/image" Target="../media/image8.emf"/></Relationships>
</file>

<file path=ppt/slides/_rels/slide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9.emf"/><Relationship Id="rId4" Type="http://schemas.openxmlformats.org/officeDocument/2006/relationships/image" Target="../media/image8.emf"/></Relationships>
</file>

<file path=ppt/slides/_rels/slide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9.emf"/><Relationship Id="rId4" Type="http://schemas.openxmlformats.org/officeDocument/2006/relationships/image" Target="../media/image8.emf"/></Relationships>
</file>

<file path=ppt/slides/_rels/slide3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9.emf"/><Relationship Id="rId4" Type="http://schemas.openxmlformats.org/officeDocument/2006/relationships/image" Target="../media/image8.emf"/></Relationships>
</file>

<file path=ppt/slides/_rels/slide3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9.emf"/><Relationship Id="rId4" Type="http://schemas.openxmlformats.org/officeDocument/2006/relationships/image" Target="../media/image8.emf"/></Relationships>
</file>

<file path=ppt/slides/_rels/slide3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9.emf"/><Relationship Id="rId4" Type="http://schemas.openxmlformats.org/officeDocument/2006/relationships/image" Target="../media/image8.emf"/></Relationships>
</file>

<file path=ppt/slides/_rels/slide3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9.emf"/><Relationship Id="rId4" Type="http://schemas.openxmlformats.org/officeDocument/2006/relationships/image" Target="../media/image8.emf"/></Relationships>
</file>

<file path=ppt/slides/_rels/slide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9.emf"/><Relationship Id="rId4" Type="http://schemas.openxmlformats.org/officeDocument/2006/relationships/image" Target="../media/image8.emf"/></Relationships>
</file>

<file path=ppt/slides/_rels/slide4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9.emf"/><Relationship Id="rId4" Type="http://schemas.openxmlformats.org/officeDocument/2006/relationships/image" Target="../media/image8.emf"/></Relationships>
</file>

<file path=ppt/slides/_rels/slide4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9.emf"/><Relationship Id="rId4" Type="http://schemas.openxmlformats.org/officeDocument/2006/relationships/image" Target="../media/image8.emf"/></Relationships>
</file>

<file path=ppt/slides/_rels/slide43.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53.png"/><Relationship Id="rId7" Type="http://schemas.openxmlformats.org/officeDocument/2006/relationships/image" Target="../media/image8.emf"/><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7.emf"/><Relationship Id="rId5" Type="http://schemas.openxmlformats.org/officeDocument/2006/relationships/image" Target="../media/image5.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53.png"/><Relationship Id="rId7"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7.emf"/><Relationship Id="rId5" Type="http://schemas.openxmlformats.org/officeDocument/2006/relationships/image" Target="../media/image5.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5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9.emf"/><Relationship Id="rId4" Type="http://schemas.openxmlformats.org/officeDocument/2006/relationships/image" Target="../media/image8.emf"/></Relationships>
</file>

<file path=ppt/slides/_rels/slide4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8.emf"/></Relationships>
</file>

<file path=ppt/slides/_rels/slide4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9.emf"/><Relationship Id="rId4" Type="http://schemas.openxmlformats.org/officeDocument/2006/relationships/image" Target="../media/image8.emf"/></Relationships>
</file>

<file path=ppt/slides/_rels/slide4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9.emf"/><Relationship Id="rId4" Type="http://schemas.openxmlformats.org/officeDocument/2006/relationships/image" Target="../media/image8.emf"/></Relationships>
</file>

<file path=ppt/slides/_rels/slide5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9.emf"/><Relationship Id="rId4" Type="http://schemas.openxmlformats.org/officeDocument/2006/relationships/image" Target="../media/image8.emf"/></Relationships>
</file>

<file path=ppt/slides/_rels/slide5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9.emf"/><Relationship Id="rId4" Type="http://schemas.openxmlformats.org/officeDocument/2006/relationships/image" Target="../media/image8.emf"/></Relationships>
</file>

<file path=ppt/slides/_rels/slide5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9.emf"/><Relationship Id="rId4" Type="http://schemas.openxmlformats.org/officeDocument/2006/relationships/image" Target="../media/image8.emf"/></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Continuous Integration</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1</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8" name="Rectangle 7">
            <a:extLst>
              <a:ext uri="{FF2B5EF4-FFF2-40B4-BE49-F238E27FC236}">
                <a16:creationId xmlns:a16="http://schemas.microsoft.com/office/drawing/2014/main" id="{9B9679C1-BC8C-6DA1-DAAC-A17D4D80D152}"/>
              </a:ext>
            </a:extLst>
          </p:cNvPr>
          <p:cNvSpPr/>
          <p:nvPr/>
        </p:nvSpPr>
        <p:spPr>
          <a:xfrm>
            <a:off x="974708" y="2835973"/>
            <a:ext cx="10242584" cy="1891999"/>
          </a:xfrm>
          <a:prstGeom prst="rect">
            <a:avLst/>
          </a:prstGeom>
          <a:solidFill>
            <a:srgbClr val="F9F9F9"/>
          </a:solidFill>
          <a:ln>
            <a:noFill/>
          </a:ln>
          <a:effectLst>
            <a:outerShdw blurRad="50800" dist="38100" dir="5400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2</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10586575" y="339777"/>
            <a:ext cx="839192" cy="839192"/>
          </a:xfrm>
          <a:prstGeom prst="rect">
            <a:avLst/>
          </a:prstGeom>
          <a:noFill/>
          <a:ln>
            <a:noFill/>
          </a:ln>
        </p:spPr>
      </p:pic>
      <p:sp>
        <p:nvSpPr>
          <p:cNvPr id="2" name="Google Shape;625;p35">
            <a:extLst>
              <a:ext uri="{FF2B5EF4-FFF2-40B4-BE49-F238E27FC236}">
                <a16:creationId xmlns:a16="http://schemas.microsoft.com/office/drawing/2014/main" id="{291948C9-9A2C-87BE-CE08-117DF3B40FEB}"/>
              </a:ext>
            </a:extLst>
          </p:cNvPr>
          <p:cNvSpPr txBox="1"/>
          <p:nvPr/>
        </p:nvSpPr>
        <p:spPr>
          <a:xfrm>
            <a:off x="1238600" y="3025047"/>
            <a:ext cx="10320821" cy="1410192"/>
          </a:xfrm>
          <a:prstGeom prst="rect">
            <a:avLst/>
          </a:prstGeom>
          <a:noFill/>
          <a:ln>
            <a:noFill/>
          </a:ln>
        </p:spPr>
        <p:txBody>
          <a:bodyPr spcFirstLastPara="1" wrap="square" lIns="121900" tIns="60933" rIns="121900" bIns="60933" anchor="t" anchorCtr="0">
            <a:noAutofit/>
          </a:bodyPr>
          <a:lstStyle/>
          <a:p>
            <a:pPr>
              <a:lnSpc>
                <a:spcPct val="90000"/>
              </a:lnSpc>
              <a:buClr>
                <a:srgbClr val="000000"/>
              </a:buClr>
              <a:buSzPts val="1800"/>
            </a:pPr>
            <a:r>
              <a:rPr lang="en-IN" sz="2400" b="1" dirty="0">
                <a:solidFill>
                  <a:srgbClr val="004F9B"/>
                </a:solidFill>
                <a:latin typeface="Proxima Nova"/>
                <a:ea typeface="Proxima Nova"/>
                <a:cs typeface="Proxima Nova"/>
                <a:sym typeface="Proxima Nova"/>
              </a:rPr>
              <a:t>Course : </a:t>
            </a:r>
            <a:r>
              <a:rPr lang="en-US" sz="2400" dirty="0">
                <a:latin typeface="Proxima Nova"/>
                <a:ea typeface="Proxima Nova"/>
                <a:cs typeface="Proxima Nova"/>
                <a:sym typeface="Proxima Nova"/>
              </a:rPr>
              <a:t>Mastering DevOps</a:t>
            </a:r>
          </a:p>
          <a:p>
            <a:pPr>
              <a:lnSpc>
                <a:spcPct val="90000"/>
              </a:lnSpc>
              <a:spcBef>
                <a:spcPts val="1333"/>
              </a:spcBef>
              <a:buClr>
                <a:srgbClr val="000000"/>
              </a:buClr>
              <a:buSzPts val="1800"/>
            </a:pPr>
            <a:r>
              <a:rPr lang="en-US" sz="2400" b="1" dirty="0">
                <a:solidFill>
                  <a:srgbClr val="004F9B"/>
                </a:solidFill>
                <a:latin typeface="Proxima Nova"/>
                <a:ea typeface="Proxima Nova"/>
                <a:cs typeface="Proxima Nova"/>
                <a:sym typeface="Proxima Nova"/>
              </a:rPr>
              <a:t>Lecture On :</a:t>
            </a:r>
            <a:r>
              <a:rPr lang="en-US" sz="2400" dirty="0">
                <a:solidFill>
                  <a:srgbClr val="004F9B"/>
                </a:solidFill>
                <a:latin typeface="Proxima Nova"/>
                <a:ea typeface="Proxima Nova"/>
                <a:cs typeface="Proxima Nova"/>
                <a:sym typeface="Proxima Nova"/>
              </a:rPr>
              <a:t> </a:t>
            </a:r>
            <a:r>
              <a:rPr lang="en-US" sz="2400" dirty="0">
                <a:latin typeface="Proxima Nova"/>
                <a:ea typeface="Proxima Nova"/>
                <a:cs typeface="Proxima Nova"/>
                <a:sym typeface="Proxima Nova"/>
              </a:rPr>
              <a:t>Continuous Integration</a:t>
            </a:r>
            <a:endParaRPr lang="en-US" sz="2400" dirty="0">
              <a:latin typeface="Calibri"/>
              <a:ea typeface="Calibri"/>
              <a:cs typeface="Calibri"/>
              <a:sym typeface="Calibri"/>
            </a:endParaRPr>
          </a:p>
          <a:p>
            <a:pPr>
              <a:lnSpc>
                <a:spcPct val="90000"/>
              </a:lnSpc>
              <a:spcBef>
                <a:spcPts val="1333"/>
              </a:spcBef>
              <a:buClr>
                <a:schemeClr val="dk1"/>
              </a:buClr>
              <a:buSzPts val="1800"/>
            </a:pPr>
            <a:r>
              <a:rPr lang="en-IN" sz="2400" b="1" dirty="0">
                <a:solidFill>
                  <a:srgbClr val="004F9B"/>
                </a:solidFill>
                <a:latin typeface="Proxima Nova"/>
                <a:ea typeface="Proxima Nova"/>
                <a:cs typeface="Proxima Nova"/>
                <a:sym typeface="Proxima Nova"/>
              </a:rPr>
              <a:t>Instructor:</a:t>
            </a:r>
            <a:r>
              <a:rPr lang="en-IN" sz="2400" dirty="0">
                <a:solidFill>
                  <a:srgbClr val="004F9B"/>
                </a:solidFill>
                <a:latin typeface="Proxima Nova"/>
                <a:ea typeface="Proxima Nova"/>
                <a:cs typeface="Proxima Nova"/>
                <a:sym typeface="Proxima Nova"/>
              </a:rPr>
              <a:t> </a:t>
            </a:r>
            <a:r>
              <a:rPr lang="en-IN" sz="2400" dirty="0">
                <a:latin typeface="Proxima Nova"/>
                <a:ea typeface="Proxima Nova"/>
                <a:cs typeface="Proxima Nova"/>
                <a:sym typeface="Proxima Nova"/>
              </a:rPr>
              <a:t>Dipesh Garg</a:t>
            </a:r>
            <a:endParaRPr sz="2400" dirty="0">
              <a:latin typeface="Proxima Nova"/>
              <a:ea typeface="Proxima Nova"/>
              <a:cs typeface="Proxima Nova"/>
              <a:sym typeface="Proxima Nova"/>
            </a:endParaRPr>
          </a:p>
        </p:txBody>
      </p:sp>
      <p:sp>
        <p:nvSpPr>
          <p:cNvPr id="10" name="Rectangle 9">
            <a:extLst>
              <a:ext uri="{FF2B5EF4-FFF2-40B4-BE49-F238E27FC236}">
                <a16:creationId xmlns:a16="http://schemas.microsoft.com/office/drawing/2014/main" id="{3A08B53D-9306-9D48-39AC-6DE1ADEA2CB3}"/>
              </a:ext>
            </a:extLst>
          </p:cNvPr>
          <p:cNvSpPr/>
          <p:nvPr/>
        </p:nvSpPr>
        <p:spPr>
          <a:xfrm>
            <a:off x="502022" y="554705"/>
            <a:ext cx="4035748" cy="10538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1" name="Picture 10">
            <a:extLst>
              <a:ext uri="{FF2B5EF4-FFF2-40B4-BE49-F238E27FC236}">
                <a16:creationId xmlns:a16="http://schemas.microsoft.com/office/drawing/2014/main" id="{A9F23375-B8AB-D09C-AE78-7CB2ACA91BA0}"/>
              </a:ext>
            </a:extLst>
          </p:cNvPr>
          <p:cNvPicPr>
            <a:picLocks noChangeAspect="1"/>
          </p:cNvPicPr>
          <p:nvPr/>
        </p:nvPicPr>
        <p:blipFill>
          <a:blip r:embed="rId4"/>
          <a:stretch>
            <a:fillRect/>
          </a:stretch>
        </p:blipFill>
        <p:spPr>
          <a:xfrm>
            <a:off x="9262181" y="674400"/>
            <a:ext cx="1214204" cy="321112"/>
          </a:xfrm>
          <a:prstGeom prst="rect">
            <a:avLst/>
          </a:prstGeom>
        </p:spPr>
      </p:pic>
      <p:pic>
        <p:nvPicPr>
          <p:cNvPr id="3" name="Picture 2">
            <a:extLst>
              <a:ext uri="{FF2B5EF4-FFF2-40B4-BE49-F238E27FC236}">
                <a16:creationId xmlns:a16="http://schemas.microsoft.com/office/drawing/2014/main" id="{C5638F4F-FD5E-21E6-1E9F-FDC54ACC902B}"/>
              </a:ext>
            </a:extLst>
          </p:cNvPr>
          <p:cNvPicPr>
            <a:picLocks noChangeAspect="1"/>
          </p:cNvPicPr>
          <p:nvPr/>
        </p:nvPicPr>
        <p:blipFill>
          <a:blip r:embed="rId5"/>
          <a:stretch>
            <a:fillRect/>
          </a:stretch>
        </p:blipFill>
        <p:spPr>
          <a:xfrm>
            <a:off x="1" y="-6519"/>
            <a:ext cx="2242807" cy="1783508"/>
          </a:xfrm>
          <a:prstGeom prst="rect">
            <a:avLst/>
          </a:prstGeom>
        </p:spPr>
      </p:pic>
      <p:pic>
        <p:nvPicPr>
          <p:cNvPr id="5" name="Picture 4">
            <a:extLst>
              <a:ext uri="{FF2B5EF4-FFF2-40B4-BE49-F238E27FC236}">
                <a16:creationId xmlns:a16="http://schemas.microsoft.com/office/drawing/2014/main" id="{0862FBDC-6DA2-B87B-EE85-C2E7BA6FF1E4}"/>
              </a:ext>
            </a:extLst>
          </p:cNvPr>
          <p:cNvPicPr>
            <a:picLocks noChangeAspect="1"/>
          </p:cNvPicPr>
          <p:nvPr/>
        </p:nvPicPr>
        <p:blipFill>
          <a:blip r:embed="rId6"/>
          <a:stretch>
            <a:fillRect/>
          </a:stretch>
        </p:blipFill>
        <p:spPr>
          <a:xfrm>
            <a:off x="11240112" y="-13039"/>
            <a:ext cx="964928" cy="1220633"/>
          </a:xfrm>
          <a:prstGeom prst="rect">
            <a:avLst/>
          </a:prstGeom>
        </p:spPr>
      </p:pic>
      <p:pic>
        <p:nvPicPr>
          <p:cNvPr id="9" name="Picture 8">
            <a:extLst>
              <a:ext uri="{FF2B5EF4-FFF2-40B4-BE49-F238E27FC236}">
                <a16:creationId xmlns:a16="http://schemas.microsoft.com/office/drawing/2014/main" id="{6FACF819-EB7A-C5FA-9359-22256A6A507F}"/>
              </a:ext>
            </a:extLst>
          </p:cNvPr>
          <p:cNvPicPr>
            <a:picLocks noChangeAspect="1"/>
          </p:cNvPicPr>
          <p:nvPr/>
        </p:nvPicPr>
        <p:blipFill>
          <a:blip r:embed="rId5">
            <a:alphaModFix amt="11000"/>
          </a:blip>
          <a:stretch>
            <a:fillRect/>
          </a:stretch>
        </p:blipFill>
        <p:spPr>
          <a:xfrm rot="10800000">
            <a:off x="11253151" y="6109915"/>
            <a:ext cx="940736" cy="748085"/>
          </a:xfrm>
          <a:prstGeom prst="rect">
            <a:avLst/>
          </a:prstGeom>
        </p:spPr>
      </p:pic>
      <p:pic>
        <p:nvPicPr>
          <p:cNvPr id="12" name="Picture 11">
            <a:extLst>
              <a:ext uri="{FF2B5EF4-FFF2-40B4-BE49-F238E27FC236}">
                <a16:creationId xmlns:a16="http://schemas.microsoft.com/office/drawing/2014/main" id="{98EE7E7C-67F5-30B2-6350-6BDF088EE9E8}"/>
              </a:ext>
            </a:extLst>
          </p:cNvPr>
          <p:cNvPicPr>
            <a:picLocks noChangeAspect="1"/>
          </p:cNvPicPr>
          <p:nvPr/>
        </p:nvPicPr>
        <p:blipFill>
          <a:blip r:embed="rId6">
            <a:alphaModFix amt="27000"/>
          </a:blip>
          <a:stretch>
            <a:fillRect/>
          </a:stretch>
        </p:blipFill>
        <p:spPr>
          <a:xfrm rot="10800000">
            <a:off x="0" y="6388576"/>
            <a:ext cx="371088" cy="469425"/>
          </a:xfrm>
          <a:prstGeom prst="rect">
            <a:avLst/>
          </a:prstGeom>
        </p:spPr>
      </p:pic>
    </p:spTree>
    <p:extLst>
      <p:ext uri="{BB962C8B-B14F-4D97-AF65-F5344CB8AC3E}">
        <p14:creationId xmlns:p14="http://schemas.microsoft.com/office/powerpoint/2010/main" val="2235927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p9"/>
          <p:cNvSpPr txBox="1"/>
          <p:nvPr/>
        </p:nvSpPr>
        <p:spPr>
          <a:xfrm>
            <a:off x="8623200" y="6356160"/>
            <a:ext cx="2742720" cy="364800"/>
          </a:xfrm>
          <a:prstGeom prst="rect">
            <a:avLst/>
          </a:prstGeom>
          <a:noFill/>
          <a:ln>
            <a:noFill/>
          </a:ln>
        </p:spPr>
        <p:txBody>
          <a:bodyPr spcFirstLastPara="1" wrap="square" lIns="121900" tIns="60933" rIns="121900" bIns="60933" anchor="ctr" anchorCtr="0">
            <a:noAutofit/>
          </a:bodyPr>
          <a:lstStyle/>
          <a:p>
            <a:pPr algn="r">
              <a:buClr>
                <a:srgbClr val="000000"/>
              </a:buClr>
              <a:buSzPts val="900"/>
            </a:pPr>
            <a:fld id="{00000000-1234-1234-1234-123412341234}" type="slidenum">
              <a:rPr lang="en-GB" sz="1200">
                <a:solidFill>
                  <a:srgbClr val="FFFFFF"/>
                </a:solidFill>
                <a:latin typeface="Proxima Nova"/>
                <a:ea typeface="Proxima Nova"/>
                <a:cs typeface="Proxima Nova"/>
                <a:sym typeface="Proxima Nova"/>
              </a:rPr>
              <a:pPr algn="r">
                <a:buClr>
                  <a:srgbClr val="000000"/>
                </a:buClr>
                <a:buSzPts val="900"/>
              </a:pPr>
              <a:t>3</a:t>
            </a:fld>
            <a:endParaRPr sz="1200">
              <a:solidFill>
                <a:srgbClr val="000000"/>
              </a:solidFill>
              <a:latin typeface="Times New Roman"/>
              <a:ea typeface="Times New Roman"/>
              <a:cs typeface="Times New Roman"/>
              <a:sym typeface="Times New Roman"/>
            </a:endParaRPr>
          </a:p>
        </p:txBody>
      </p:sp>
      <p:sp>
        <p:nvSpPr>
          <p:cNvPr id="927" name="Google Shape;927;p9"/>
          <p:cNvSpPr/>
          <p:nvPr/>
        </p:nvSpPr>
        <p:spPr>
          <a:xfrm>
            <a:off x="1534080" y="2915040"/>
            <a:ext cx="9122880" cy="1027200"/>
          </a:xfrm>
          <a:prstGeom prst="rect">
            <a:avLst/>
          </a:prstGeom>
          <a:noFill/>
          <a:ln>
            <a:noFill/>
          </a:ln>
        </p:spPr>
        <p:txBody>
          <a:bodyPr spcFirstLastPara="1" wrap="square" lIns="121900" tIns="60933" rIns="121900" bIns="60933" anchor="t" anchorCtr="0">
            <a:noAutofit/>
          </a:bodyPr>
          <a:lstStyle/>
          <a:p>
            <a:pPr algn="ctr">
              <a:buClr>
                <a:srgbClr val="000000"/>
              </a:buClr>
              <a:buSzPts val="3200"/>
            </a:pPr>
            <a:r>
              <a:rPr lang="en-GB" sz="4267">
                <a:solidFill>
                  <a:srgbClr val="FFFFFF"/>
                </a:solidFill>
                <a:latin typeface="Proxima Nova"/>
                <a:ea typeface="Proxima Nova"/>
                <a:cs typeface="Proxima Nova"/>
                <a:sym typeface="Proxima Nova"/>
              </a:rPr>
              <a:t>Continuous Integration</a:t>
            </a:r>
            <a:endParaRPr sz="4267">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932;p11">
            <a:extLst>
              <a:ext uri="{FF2B5EF4-FFF2-40B4-BE49-F238E27FC236}">
                <a16:creationId xmlns:a16="http://schemas.microsoft.com/office/drawing/2014/main" id="{DCD1DDF9-C3F4-CF35-7D14-5DC437D22189}"/>
              </a:ext>
            </a:extLst>
          </p:cNvPr>
          <p:cNvSpPr/>
          <p:nvPr/>
        </p:nvSpPr>
        <p:spPr>
          <a:xfrm>
            <a:off x="2243958" y="1389382"/>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Continuous Integration: A Recap</a:t>
            </a:r>
            <a:endParaRPr sz="2540" b="0" i="0" u="none" strike="noStrike" cap="none" dirty="0">
              <a:latin typeface="Arial"/>
              <a:ea typeface="Arial"/>
              <a:cs typeface="Arial"/>
              <a:sym typeface="Arial"/>
            </a:endParaRPr>
          </a:p>
        </p:txBody>
      </p:sp>
      <p:sp>
        <p:nvSpPr>
          <p:cNvPr id="11" name="Google Shape;934;p11">
            <a:extLst>
              <a:ext uri="{FF2B5EF4-FFF2-40B4-BE49-F238E27FC236}">
                <a16:creationId xmlns:a16="http://schemas.microsoft.com/office/drawing/2014/main" id="{5C16E276-7512-6159-FF09-4FB3150CA3D8}"/>
              </a:ext>
            </a:extLst>
          </p:cNvPr>
          <p:cNvSpPr/>
          <p:nvPr/>
        </p:nvSpPr>
        <p:spPr>
          <a:xfrm>
            <a:off x="1633464" y="2488248"/>
            <a:ext cx="8136720" cy="1703160"/>
          </a:xfrm>
          <a:prstGeom prst="rect">
            <a:avLst/>
          </a:prstGeom>
          <a:noFill/>
          <a:ln>
            <a:noFill/>
          </a:ln>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Continuous Integration (CI) is a development practice that requires developers to </a:t>
            </a:r>
            <a:r>
              <a:rPr lang="en-GB" sz="1600" b="1" i="0" u="none" strike="noStrike" cap="none">
                <a:solidFill>
                  <a:srgbClr val="000000"/>
                </a:solidFill>
                <a:latin typeface="Arial"/>
                <a:ea typeface="Arial"/>
                <a:cs typeface="Arial"/>
                <a:sym typeface="Arial"/>
              </a:rPr>
              <a:t>integrate code</a:t>
            </a:r>
            <a:r>
              <a:rPr lang="en-GB" sz="1400" b="0" i="0" u="none" strike="noStrike" cap="none">
                <a:solidFill>
                  <a:srgbClr val="000000"/>
                </a:solidFill>
                <a:latin typeface="Arial"/>
                <a:ea typeface="Arial"/>
                <a:cs typeface="Arial"/>
                <a:sym typeface="Arial"/>
              </a:rPr>
              <a:t> into a shared repository </a:t>
            </a:r>
            <a:r>
              <a:rPr lang="en-GB" sz="1600" b="1" i="0" u="none" strike="noStrike" cap="none">
                <a:solidFill>
                  <a:srgbClr val="000000"/>
                </a:solidFill>
                <a:latin typeface="Arial"/>
                <a:ea typeface="Arial"/>
                <a:cs typeface="Arial"/>
                <a:sym typeface="Arial"/>
              </a:rPr>
              <a:t>several times a day</a:t>
            </a:r>
            <a:r>
              <a:rPr lang="en-GB" sz="1400" b="0" i="0" u="none" strike="noStrike" cap="none">
                <a:solidFill>
                  <a:srgbClr val="000000"/>
                </a:solidFill>
                <a:latin typeface="Arial"/>
                <a:ea typeface="Arial"/>
                <a:cs typeface="Arial"/>
                <a:sym typeface="Arial"/>
              </a:rPr>
              <a:t>. Each check-in is then verified by an </a:t>
            </a:r>
            <a:r>
              <a:rPr lang="en-GB" sz="1600" b="1" i="0" u="none" strike="noStrike" cap="none">
                <a:solidFill>
                  <a:srgbClr val="000000"/>
                </a:solidFill>
                <a:latin typeface="Arial"/>
                <a:ea typeface="Arial"/>
                <a:cs typeface="Arial"/>
                <a:sym typeface="Arial"/>
              </a:rPr>
              <a:t>automated build</a:t>
            </a:r>
            <a:r>
              <a:rPr lang="en-GB" sz="1400" b="0" i="0" u="none" strike="noStrike" cap="none">
                <a:solidFill>
                  <a:srgbClr val="000000"/>
                </a:solidFill>
                <a:latin typeface="Arial"/>
                <a:ea typeface="Arial"/>
                <a:cs typeface="Arial"/>
                <a:sym typeface="Arial"/>
              </a:rPr>
              <a:t>, thereby allowing teams to detect problems early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br>
              <a:rPr lang="en-GB" sz="1800" b="0" i="0" u="none" strike="noStrike" cap="none">
                <a:solidFill>
                  <a:srgbClr val="000000"/>
                </a:solidFill>
                <a:latin typeface="Arial"/>
                <a:ea typeface="Arial"/>
                <a:cs typeface="Arial"/>
                <a:sym typeface="Arial"/>
              </a:rPr>
            </a:br>
            <a:r>
              <a:rPr lang="en-GB" sz="1400" b="0" i="0" u="none" strike="noStrike" cap="none">
                <a:solidFill>
                  <a:srgbClr val="000000"/>
                </a:solidFill>
                <a:latin typeface="Arial"/>
                <a:ea typeface="Arial"/>
                <a:cs typeface="Arial"/>
                <a:sym typeface="Arial"/>
              </a:rPr>
              <a:t>By </a:t>
            </a:r>
            <a:r>
              <a:rPr lang="en-GB" sz="1600" b="1" i="0" u="none" strike="noStrike" cap="none">
                <a:solidFill>
                  <a:srgbClr val="000000"/>
                </a:solidFill>
                <a:latin typeface="Arial"/>
                <a:ea typeface="Arial"/>
                <a:cs typeface="Arial"/>
                <a:sym typeface="Arial"/>
              </a:rPr>
              <a:t>integrating code regularly</a:t>
            </a:r>
            <a:r>
              <a:rPr lang="en-GB" sz="1400" b="0" i="0" u="none" strike="noStrike" cap="none">
                <a:solidFill>
                  <a:srgbClr val="000000"/>
                </a:solidFill>
                <a:latin typeface="Arial"/>
                <a:ea typeface="Arial"/>
                <a:cs typeface="Arial"/>
                <a:sym typeface="Arial"/>
              </a:rPr>
              <a:t>, you can detect errors quickly, and locate them more easily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400"/>
              <a:buFont typeface="Arial"/>
              <a:buNone/>
            </a:pPr>
            <a:r>
              <a:rPr lang="en-GB" sz="1400" b="0" i="1" u="none" strike="noStrike" cap="none">
                <a:solidFill>
                  <a:srgbClr val="203864"/>
                </a:solidFill>
                <a:latin typeface="Arial"/>
                <a:ea typeface="Arial"/>
                <a:cs typeface="Arial"/>
                <a:sym typeface="Arial"/>
              </a:rPr>
              <a:t>thoughtworks.com</a:t>
            </a:r>
            <a:endParaRPr sz="1400" b="0" i="0" u="none" strike="noStrike" cap="none">
              <a:solidFill>
                <a:srgbClr val="000000"/>
              </a:solidFill>
              <a:latin typeface="Arial"/>
              <a:ea typeface="Arial"/>
              <a:cs typeface="Arial"/>
              <a:sym typeface="Arial"/>
            </a:endParaRPr>
          </a:p>
        </p:txBody>
      </p:sp>
      <p:sp>
        <p:nvSpPr>
          <p:cNvPr id="12" name="Google Shape;935;p11">
            <a:extLst>
              <a:ext uri="{FF2B5EF4-FFF2-40B4-BE49-F238E27FC236}">
                <a16:creationId xmlns:a16="http://schemas.microsoft.com/office/drawing/2014/main" id="{4614371B-7742-1D19-44D8-7D5D93E9992B}"/>
              </a:ext>
            </a:extLst>
          </p:cNvPr>
          <p:cNvSpPr/>
          <p:nvPr/>
        </p:nvSpPr>
        <p:spPr>
          <a:xfrm>
            <a:off x="1659024" y="2133648"/>
            <a:ext cx="1368360" cy="3034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500" b="0" i="0" u="none" strike="noStrike" cap="none">
              <a:solidFill>
                <a:srgbClr val="000000"/>
              </a:solidFill>
              <a:latin typeface="Arial"/>
              <a:ea typeface="Arial"/>
              <a:cs typeface="Arial"/>
              <a:sym typeface="Arial"/>
            </a:endParaRPr>
          </a:p>
        </p:txBody>
      </p:sp>
      <p:sp>
        <p:nvSpPr>
          <p:cNvPr id="13" name="Google Shape;936;p11">
            <a:extLst>
              <a:ext uri="{FF2B5EF4-FFF2-40B4-BE49-F238E27FC236}">
                <a16:creationId xmlns:a16="http://schemas.microsoft.com/office/drawing/2014/main" id="{5506A108-B9BF-0D89-F79D-377AC002663B}"/>
              </a:ext>
            </a:extLst>
          </p:cNvPr>
          <p:cNvSpPr/>
          <p:nvPr/>
        </p:nvSpPr>
        <p:spPr>
          <a:xfrm>
            <a:off x="1655784" y="4460328"/>
            <a:ext cx="8136720" cy="11253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1" i="1" u="none" strike="noStrike" cap="none" dirty="0">
                <a:solidFill>
                  <a:srgbClr val="0D0D0D"/>
                </a:solidFill>
                <a:latin typeface="Arial"/>
                <a:ea typeface="Arial"/>
                <a:cs typeface="Arial"/>
                <a:sym typeface="Arial"/>
              </a:rPr>
              <a:t>“Continuous Integration doesn’t get rid of bugs, but it does make them dramatically easier to find and remove”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400"/>
              <a:buFont typeface="Arial"/>
              <a:buNone/>
            </a:pPr>
            <a:r>
              <a:rPr lang="en-GB" sz="1400" b="1" i="0" u="none" strike="noStrike" cap="none" dirty="0">
                <a:solidFill>
                  <a:srgbClr val="203864"/>
                </a:solidFill>
                <a:latin typeface="Arial"/>
                <a:ea typeface="Arial"/>
                <a:cs typeface="Arial"/>
                <a:sym typeface="Arial"/>
              </a:rPr>
              <a:t>Martin Fowler</a:t>
            </a:r>
            <a:endParaRPr sz="1400" b="0" i="0" u="none" strike="noStrike" cap="none" dirty="0">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200"/>
              <a:buFont typeface="Arial"/>
              <a:buNone/>
            </a:pPr>
            <a:r>
              <a:rPr lang="en-GB" sz="1200" b="0" i="0" u="none" strike="noStrike" cap="none" dirty="0">
                <a:solidFill>
                  <a:srgbClr val="203864"/>
                </a:solidFill>
                <a:latin typeface="Arial"/>
                <a:ea typeface="Arial"/>
                <a:cs typeface="Arial"/>
                <a:sym typeface="Arial"/>
              </a:rPr>
              <a:t>Chief Scientist, </a:t>
            </a:r>
            <a:r>
              <a:rPr lang="en-GB" sz="1200" b="0" i="0" u="none" strike="noStrike" cap="none" dirty="0" err="1">
                <a:solidFill>
                  <a:srgbClr val="203864"/>
                </a:solidFill>
                <a:latin typeface="Arial"/>
                <a:ea typeface="Arial"/>
                <a:cs typeface="Arial"/>
                <a:sym typeface="Arial"/>
              </a:rPr>
              <a:t>ThoughtWorks</a:t>
            </a:r>
            <a:endParaRPr sz="12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623370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5" name="Google Shape;942;gd834dbe927_0_599">
            <a:extLst>
              <a:ext uri="{FF2B5EF4-FFF2-40B4-BE49-F238E27FC236}">
                <a16:creationId xmlns:a16="http://schemas.microsoft.com/office/drawing/2014/main" id="{23768F7B-4427-8F04-D0B6-441779B68725}"/>
              </a:ext>
            </a:extLst>
          </p:cNvPr>
          <p:cNvSpPr txBox="1"/>
          <p:nvPr/>
        </p:nvSpPr>
        <p:spPr>
          <a:xfrm>
            <a:off x="1455850" y="1948929"/>
            <a:ext cx="65079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dk1"/>
              </a:buClr>
              <a:buSzPts val="1100"/>
              <a:buFont typeface="Arial"/>
              <a:buNone/>
            </a:pPr>
            <a:r>
              <a:rPr lang="en-GB" sz="2540" b="0" i="0" u="none" strike="noStrike" cap="none" dirty="0">
                <a:latin typeface="Proxima Nova"/>
                <a:ea typeface="Proxima Nova"/>
                <a:cs typeface="Proxima Nova"/>
                <a:sym typeface="Proxima Nova"/>
              </a:rPr>
              <a:t>Drawbacks of Traditional SDLC</a:t>
            </a:r>
            <a:endParaRPr sz="2540" b="0" i="0" u="none" strike="noStrike" cap="none" dirty="0">
              <a:latin typeface="Proxima Nova"/>
              <a:ea typeface="Proxima Nova"/>
              <a:cs typeface="Proxima Nova"/>
              <a:sym typeface="Proxima Nova"/>
            </a:endParaRPr>
          </a:p>
        </p:txBody>
      </p:sp>
      <p:sp>
        <p:nvSpPr>
          <p:cNvPr id="17" name="Google Shape;944;gd834dbe927_0_599">
            <a:extLst>
              <a:ext uri="{FF2B5EF4-FFF2-40B4-BE49-F238E27FC236}">
                <a16:creationId xmlns:a16="http://schemas.microsoft.com/office/drawing/2014/main" id="{39A608FD-6178-2879-2B09-DB22F04373D6}"/>
              </a:ext>
            </a:extLst>
          </p:cNvPr>
          <p:cNvSpPr txBox="1"/>
          <p:nvPr/>
        </p:nvSpPr>
        <p:spPr>
          <a:xfrm>
            <a:off x="1167124" y="5571556"/>
            <a:ext cx="9046800" cy="803400"/>
          </a:xfrm>
          <a:prstGeom prst="rect">
            <a:avLst/>
          </a:prstGeom>
          <a:solidFill>
            <a:schemeClr val="lt1"/>
          </a:solidFill>
          <a:ln>
            <a:noFill/>
          </a:ln>
        </p:spPr>
        <p:txBody>
          <a:bodyPr spcFirstLastPara="1" wrap="square" lIns="91425" tIns="45700" rIns="91425" bIns="45700" anchor="t" anchorCtr="0">
            <a:spAutoFit/>
          </a:bodyPr>
          <a:lstStyle/>
          <a:p>
            <a:pPr marL="457200" marR="0" lvl="0" indent="-444500" algn="l" rtl="0">
              <a:lnSpc>
                <a:spcPct val="115000"/>
              </a:lnSpc>
              <a:spcBef>
                <a:spcPts val="0"/>
              </a:spcBef>
              <a:spcAft>
                <a:spcPts val="0"/>
              </a:spcAft>
              <a:buClr>
                <a:srgbClr val="000000"/>
              </a:buClr>
              <a:buSzPts val="1400"/>
              <a:buFont typeface="Noto Sans Symbols"/>
              <a:buChar char="●"/>
            </a:pPr>
            <a:r>
              <a:rPr lang="en-GB" sz="1400" b="0" i="0" u="none" strike="noStrike" cap="none">
                <a:solidFill>
                  <a:srgbClr val="000000"/>
                </a:solidFill>
                <a:latin typeface="Arial"/>
                <a:ea typeface="Arial"/>
                <a:cs typeface="Arial"/>
                <a:sym typeface="Arial"/>
              </a:rPr>
              <a:t>Agile breaks down the wall between the </a:t>
            </a: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Business</a:t>
            </a:r>
            <a:r>
              <a:rPr lang="en-GB" sz="1400" b="0" i="0" u="none" strike="noStrike" cap="none">
                <a:solidFill>
                  <a:srgbClr val="000000"/>
                </a:solidFill>
                <a:latin typeface="Arial"/>
                <a:ea typeface="Arial"/>
                <a:cs typeface="Arial"/>
                <a:sym typeface="Arial"/>
              </a:rPr>
              <a:t> and Development teams</a:t>
            </a:r>
            <a:endParaRPr sz="1400" b="0" i="0" u="none" strike="noStrike" cap="none">
              <a:solidFill>
                <a:srgbClr val="000000"/>
              </a:solidFill>
              <a:latin typeface="Arial"/>
              <a:ea typeface="Arial"/>
              <a:cs typeface="Arial"/>
              <a:sym typeface="Arial"/>
            </a:endParaRPr>
          </a:p>
          <a:p>
            <a:pPr marL="457200" marR="0" lvl="0" indent="-444500" algn="l" rtl="0">
              <a:lnSpc>
                <a:spcPct val="115000"/>
              </a:lnSpc>
              <a:spcBef>
                <a:spcPts val="0"/>
              </a:spcBef>
              <a:spcAft>
                <a:spcPts val="0"/>
              </a:spcAft>
              <a:buClr>
                <a:srgbClr val="000000"/>
              </a:buClr>
              <a:buSzPts val="1400"/>
              <a:buFont typeface="Noto Sans Symbols"/>
              <a:buChar char="●"/>
            </a:pPr>
            <a:r>
              <a:rPr lang="en-GB" sz="1400" b="0" i="0" u="none" strike="noStrike" cap="none">
                <a:solidFill>
                  <a:srgbClr val="000000"/>
                </a:solidFill>
                <a:latin typeface="Arial"/>
                <a:ea typeface="Arial"/>
                <a:cs typeface="Arial"/>
                <a:sym typeface="Arial"/>
              </a:rPr>
              <a:t>DevOps breaks down the wall between the Development and Operations </a:t>
            </a:r>
            <a:r>
              <a:rPr lang="en-GB" sz="1400" b="0" i="0" u="none" strike="noStrike" cap="none">
                <a:solidFill>
                  <a:schemeClr val="dk1"/>
                </a:solidFill>
                <a:latin typeface="Arial"/>
                <a:ea typeface="Arial"/>
                <a:cs typeface="Arial"/>
                <a:sym typeface="Arial"/>
              </a:rPr>
              <a:t>teams</a:t>
            </a:r>
            <a:endParaRPr sz="1400" b="0" i="0" u="none" strike="noStrike" cap="none">
              <a:solidFill>
                <a:srgbClr val="000000"/>
              </a:solidFill>
              <a:latin typeface="Arial"/>
              <a:ea typeface="Arial"/>
              <a:cs typeface="Arial"/>
              <a:sym typeface="Arial"/>
            </a:endParaRPr>
          </a:p>
          <a:p>
            <a:pPr marL="457200" marR="0" lvl="0" indent="-444500" algn="l" rtl="0">
              <a:lnSpc>
                <a:spcPct val="115000"/>
              </a:lnSpc>
              <a:spcBef>
                <a:spcPts val="0"/>
              </a:spcBef>
              <a:spcAft>
                <a:spcPts val="0"/>
              </a:spcAft>
              <a:buClr>
                <a:srgbClr val="000000"/>
              </a:buClr>
              <a:buSzPts val="1400"/>
              <a:buFont typeface="Noto Sans Symbols"/>
              <a:buChar char="●"/>
            </a:pPr>
            <a:r>
              <a:rPr lang="en-GB" sz="1400" b="0" i="0" u="none" strike="noStrike" cap="none">
                <a:solidFill>
                  <a:srgbClr val="000000"/>
                </a:solidFill>
                <a:latin typeface="Arial"/>
                <a:ea typeface="Arial"/>
                <a:cs typeface="Arial"/>
                <a:sym typeface="Arial"/>
              </a:rPr>
              <a:t>DevOps centres on the concept of sharing (ideas, issues, processes, tools and goals)</a:t>
            </a:r>
            <a:endParaRPr sz="1400" b="0" i="0" u="none" strike="noStrike" cap="none">
              <a:solidFill>
                <a:srgbClr val="000000"/>
              </a:solidFill>
              <a:latin typeface="Arial"/>
              <a:ea typeface="Arial"/>
              <a:cs typeface="Arial"/>
              <a:sym typeface="Arial"/>
            </a:endParaRPr>
          </a:p>
        </p:txBody>
      </p:sp>
      <p:pic>
        <p:nvPicPr>
          <p:cNvPr id="18" name="Google Shape;945;gd834dbe927_0_599">
            <a:extLst>
              <a:ext uri="{FF2B5EF4-FFF2-40B4-BE49-F238E27FC236}">
                <a16:creationId xmlns:a16="http://schemas.microsoft.com/office/drawing/2014/main" id="{30EE4AFD-1A86-A83B-9C9D-E749D127E502}"/>
              </a:ext>
            </a:extLst>
          </p:cNvPr>
          <p:cNvPicPr preferRelativeResize="0"/>
          <p:nvPr/>
        </p:nvPicPr>
        <p:blipFill rotWithShape="1">
          <a:blip r:embed="rId6">
            <a:alphaModFix/>
          </a:blip>
          <a:srcRect/>
          <a:stretch/>
        </p:blipFill>
        <p:spPr>
          <a:xfrm>
            <a:off x="1332273" y="2804204"/>
            <a:ext cx="8568124" cy="2614950"/>
          </a:xfrm>
          <a:prstGeom prst="rect">
            <a:avLst/>
          </a:prstGeom>
          <a:noFill/>
          <a:ln>
            <a:noFill/>
          </a:ln>
        </p:spPr>
      </p:pic>
    </p:spTree>
    <p:extLst>
      <p:ext uri="{BB962C8B-B14F-4D97-AF65-F5344CB8AC3E}">
        <p14:creationId xmlns:p14="http://schemas.microsoft.com/office/powerpoint/2010/main" val="262786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951;gd99b63929a_0_638">
            <a:extLst>
              <a:ext uri="{FF2B5EF4-FFF2-40B4-BE49-F238E27FC236}">
                <a16:creationId xmlns:a16="http://schemas.microsoft.com/office/drawing/2014/main" id="{DDB9F89A-D766-191E-F5CD-81F0F1F345B9}"/>
              </a:ext>
            </a:extLst>
          </p:cNvPr>
          <p:cNvSpPr txBox="1"/>
          <p:nvPr/>
        </p:nvSpPr>
        <p:spPr>
          <a:xfrm>
            <a:off x="2172988" y="1314840"/>
            <a:ext cx="7700700" cy="785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GB" sz="2500" b="0" i="0" u="none" strike="noStrike" cap="none" dirty="0">
                <a:latin typeface="Proxima Nova"/>
                <a:ea typeface="Proxima Nova"/>
                <a:cs typeface="Proxima Nova"/>
                <a:sym typeface="Proxima Nova"/>
              </a:rPr>
              <a:t>Old School Integration: Before CI was Introduced</a:t>
            </a:r>
            <a:endParaRPr sz="2500" b="0" i="0" u="none" strike="noStrike" cap="none" dirty="0">
              <a:latin typeface="Proxima Nova"/>
              <a:ea typeface="Proxima Nova"/>
              <a:cs typeface="Proxima Nova"/>
              <a:sym typeface="Proxima Nova"/>
            </a:endParaRPr>
          </a:p>
          <a:p>
            <a:pPr marL="0" marR="0" lvl="0" indent="0" algn="l" rtl="0">
              <a:lnSpc>
                <a:spcPct val="100000"/>
              </a:lnSpc>
              <a:spcBef>
                <a:spcPts val="0"/>
              </a:spcBef>
              <a:spcAft>
                <a:spcPts val="0"/>
              </a:spcAft>
              <a:buClr>
                <a:schemeClr val="dk1"/>
              </a:buClr>
              <a:buSzPts val="1400"/>
              <a:buFont typeface="Arial"/>
              <a:buNone/>
            </a:pPr>
            <a:endParaRPr sz="1400" b="0" i="0" u="none" strike="noStrike" cap="none" dirty="0">
              <a:latin typeface="Arial"/>
              <a:ea typeface="Arial"/>
              <a:cs typeface="Arial"/>
              <a:sym typeface="Arial"/>
            </a:endParaRPr>
          </a:p>
        </p:txBody>
      </p:sp>
      <p:grpSp>
        <p:nvGrpSpPr>
          <p:cNvPr id="10" name="Google Shape;952;gd99b63929a_0_638">
            <a:extLst>
              <a:ext uri="{FF2B5EF4-FFF2-40B4-BE49-F238E27FC236}">
                <a16:creationId xmlns:a16="http://schemas.microsoft.com/office/drawing/2014/main" id="{511C65E5-9858-C223-D99A-1189D6D6CB43}"/>
              </a:ext>
            </a:extLst>
          </p:cNvPr>
          <p:cNvGrpSpPr/>
          <p:nvPr/>
        </p:nvGrpSpPr>
        <p:grpSpPr>
          <a:xfrm>
            <a:off x="2243958" y="2573370"/>
            <a:ext cx="7706379" cy="3926373"/>
            <a:chOff x="488356" y="943058"/>
            <a:chExt cx="7706379" cy="3926373"/>
          </a:xfrm>
        </p:grpSpPr>
        <p:pic>
          <p:nvPicPr>
            <p:cNvPr id="11" name="Google Shape;953;gd99b63929a_0_638">
              <a:extLst>
                <a:ext uri="{FF2B5EF4-FFF2-40B4-BE49-F238E27FC236}">
                  <a16:creationId xmlns:a16="http://schemas.microsoft.com/office/drawing/2014/main" id="{AC28B363-48E1-C5AE-95DD-A7672BEDB54E}"/>
                </a:ext>
              </a:extLst>
            </p:cNvPr>
            <p:cNvPicPr preferRelativeResize="0"/>
            <p:nvPr/>
          </p:nvPicPr>
          <p:blipFill rotWithShape="1">
            <a:blip r:embed="rId6">
              <a:alphaModFix/>
            </a:blip>
            <a:srcRect/>
            <a:stretch/>
          </p:blipFill>
          <p:spPr>
            <a:xfrm>
              <a:off x="488356" y="1026495"/>
              <a:ext cx="674570" cy="741195"/>
            </a:xfrm>
            <a:prstGeom prst="rect">
              <a:avLst/>
            </a:prstGeom>
            <a:noFill/>
            <a:ln>
              <a:noFill/>
            </a:ln>
          </p:spPr>
        </p:pic>
        <p:pic>
          <p:nvPicPr>
            <p:cNvPr id="12" name="Google Shape;954;gd99b63929a_0_638">
              <a:extLst>
                <a:ext uri="{FF2B5EF4-FFF2-40B4-BE49-F238E27FC236}">
                  <a16:creationId xmlns:a16="http://schemas.microsoft.com/office/drawing/2014/main" id="{9F3E8841-501A-83F9-03C4-275BB6ABA42E}"/>
                </a:ext>
              </a:extLst>
            </p:cNvPr>
            <p:cNvPicPr preferRelativeResize="0"/>
            <p:nvPr/>
          </p:nvPicPr>
          <p:blipFill rotWithShape="1">
            <a:blip r:embed="rId7">
              <a:alphaModFix/>
            </a:blip>
            <a:srcRect/>
            <a:stretch/>
          </p:blipFill>
          <p:spPr>
            <a:xfrm>
              <a:off x="619906" y="2309147"/>
              <a:ext cx="490818" cy="741600"/>
            </a:xfrm>
            <a:prstGeom prst="rect">
              <a:avLst/>
            </a:prstGeom>
            <a:noFill/>
            <a:ln>
              <a:noFill/>
            </a:ln>
          </p:spPr>
        </p:pic>
        <p:sp>
          <p:nvSpPr>
            <p:cNvPr id="13" name="Google Shape;955;gd99b63929a_0_638">
              <a:extLst>
                <a:ext uri="{FF2B5EF4-FFF2-40B4-BE49-F238E27FC236}">
                  <a16:creationId xmlns:a16="http://schemas.microsoft.com/office/drawing/2014/main" id="{A09D098F-B95A-D653-8783-9E0071A5008B}"/>
                </a:ext>
              </a:extLst>
            </p:cNvPr>
            <p:cNvSpPr txBox="1"/>
            <p:nvPr/>
          </p:nvSpPr>
          <p:spPr>
            <a:xfrm>
              <a:off x="494632" y="1810732"/>
              <a:ext cx="7188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Customer</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Profile</a:t>
              </a:r>
              <a:endParaRPr sz="1400" b="0" i="0" u="none" strike="noStrike" cap="none">
                <a:solidFill>
                  <a:srgbClr val="000000"/>
                </a:solidFill>
                <a:latin typeface="Arial"/>
                <a:ea typeface="Arial"/>
                <a:cs typeface="Arial"/>
                <a:sym typeface="Arial"/>
              </a:endParaRPr>
            </a:p>
          </p:txBody>
        </p:sp>
        <p:sp>
          <p:nvSpPr>
            <p:cNvPr id="14" name="Google Shape;956;gd99b63929a_0_638">
              <a:extLst>
                <a:ext uri="{FF2B5EF4-FFF2-40B4-BE49-F238E27FC236}">
                  <a16:creationId xmlns:a16="http://schemas.microsoft.com/office/drawing/2014/main" id="{0D034D28-641C-E695-67DD-8050621CAED4}"/>
                </a:ext>
              </a:extLst>
            </p:cNvPr>
            <p:cNvSpPr txBox="1"/>
            <p:nvPr/>
          </p:nvSpPr>
          <p:spPr>
            <a:xfrm>
              <a:off x="557130" y="3133907"/>
              <a:ext cx="6156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Product</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Catalog</a:t>
              </a:r>
              <a:endParaRPr sz="1200" b="0" i="0" u="none" strike="noStrike" cap="none">
                <a:solidFill>
                  <a:srgbClr val="000000"/>
                </a:solidFill>
                <a:latin typeface="Lato"/>
                <a:ea typeface="Lato"/>
                <a:cs typeface="Lato"/>
                <a:sym typeface="Lato"/>
              </a:endParaRPr>
            </a:p>
          </p:txBody>
        </p:sp>
        <p:pic>
          <p:nvPicPr>
            <p:cNvPr id="15" name="Google Shape;957;gd99b63929a_0_638">
              <a:extLst>
                <a:ext uri="{FF2B5EF4-FFF2-40B4-BE49-F238E27FC236}">
                  <a16:creationId xmlns:a16="http://schemas.microsoft.com/office/drawing/2014/main" id="{58D575A1-6E3F-68AF-1E0C-B53341492D4B}"/>
                </a:ext>
              </a:extLst>
            </p:cNvPr>
            <p:cNvPicPr preferRelativeResize="0"/>
            <p:nvPr/>
          </p:nvPicPr>
          <p:blipFill rotWithShape="1">
            <a:blip r:embed="rId6">
              <a:alphaModFix/>
            </a:blip>
            <a:srcRect/>
            <a:stretch/>
          </p:blipFill>
          <p:spPr>
            <a:xfrm>
              <a:off x="488356" y="3715906"/>
              <a:ext cx="674570" cy="741195"/>
            </a:xfrm>
            <a:prstGeom prst="rect">
              <a:avLst/>
            </a:prstGeom>
            <a:noFill/>
            <a:ln>
              <a:noFill/>
            </a:ln>
          </p:spPr>
        </p:pic>
        <p:sp>
          <p:nvSpPr>
            <p:cNvPr id="16" name="Google Shape;958;gd99b63929a_0_638">
              <a:extLst>
                <a:ext uri="{FF2B5EF4-FFF2-40B4-BE49-F238E27FC236}">
                  <a16:creationId xmlns:a16="http://schemas.microsoft.com/office/drawing/2014/main" id="{1E1D7671-A2FE-59E6-D88B-46E3E693EA54}"/>
                </a:ext>
              </a:extLst>
            </p:cNvPr>
            <p:cNvSpPr txBox="1"/>
            <p:nvPr/>
          </p:nvSpPr>
          <p:spPr>
            <a:xfrm>
              <a:off x="535499" y="4500131"/>
              <a:ext cx="5802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dirty="0">
                  <a:solidFill>
                    <a:srgbClr val="000000"/>
                  </a:solidFill>
                  <a:latin typeface="Lato"/>
                  <a:ea typeface="Lato"/>
                  <a:cs typeface="Lato"/>
                  <a:sym typeface="Lato"/>
                </a:rPr>
                <a:t>Order</a:t>
              </a:r>
              <a:br>
                <a:rPr lang="en-GB" sz="1200" b="0" i="0" u="none" strike="noStrike" cap="none" dirty="0">
                  <a:solidFill>
                    <a:srgbClr val="000000"/>
                  </a:solidFill>
                  <a:latin typeface="Lato"/>
                  <a:ea typeface="Lato"/>
                  <a:cs typeface="Lato"/>
                  <a:sym typeface="Lato"/>
                </a:rPr>
              </a:br>
              <a:r>
                <a:rPr lang="en-GB" sz="1200" b="0" i="0" u="none" strike="noStrike" cap="none" dirty="0">
                  <a:solidFill>
                    <a:srgbClr val="000000"/>
                  </a:solidFill>
                  <a:latin typeface="Lato"/>
                  <a:ea typeface="Lato"/>
                  <a:cs typeface="Lato"/>
                  <a:sym typeface="Lato"/>
                </a:rPr>
                <a:t>Tracking</a:t>
              </a:r>
              <a:endParaRPr sz="1400" b="0" i="0" u="none" strike="noStrike" cap="none" dirty="0">
                <a:solidFill>
                  <a:srgbClr val="000000"/>
                </a:solidFill>
                <a:latin typeface="Arial"/>
                <a:ea typeface="Arial"/>
                <a:cs typeface="Arial"/>
                <a:sym typeface="Arial"/>
              </a:endParaRPr>
            </a:p>
          </p:txBody>
        </p:sp>
        <p:pic>
          <p:nvPicPr>
            <p:cNvPr id="17" name="Google Shape;959;gd99b63929a_0_638">
              <a:extLst>
                <a:ext uri="{FF2B5EF4-FFF2-40B4-BE49-F238E27FC236}">
                  <a16:creationId xmlns:a16="http://schemas.microsoft.com/office/drawing/2014/main" id="{0378CB71-15FC-3B15-31FB-F9AF69476533}"/>
                </a:ext>
              </a:extLst>
            </p:cNvPr>
            <p:cNvPicPr preferRelativeResize="0"/>
            <p:nvPr/>
          </p:nvPicPr>
          <p:blipFill rotWithShape="1">
            <a:blip r:embed="rId8">
              <a:alphaModFix/>
            </a:blip>
            <a:srcRect/>
            <a:stretch/>
          </p:blipFill>
          <p:spPr>
            <a:xfrm>
              <a:off x="1336992" y="1218985"/>
              <a:ext cx="437004" cy="356214"/>
            </a:xfrm>
            <a:prstGeom prst="rect">
              <a:avLst/>
            </a:prstGeom>
            <a:noFill/>
            <a:ln>
              <a:noFill/>
            </a:ln>
          </p:spPr>
        </p:pic>
        <p:pic>
          <p:nvPicPr>
            <p:cNvPr id="18" name="Google Shape;960;gd99b63929a_0_638">
              <a:extLst>
                <a:ext uri="{FF2B5EF4-FFF2-40B4-BE49-F238E27FC236}">
                  <a16:creationId xmlns:a16="http://schemas.microsoft.com/office/drawing/2014/main" id="{A1AF2841-DC4B-812A-EDAF-EDA47584BB2D}"/>
                </a:ext>
              </a:extLst>
            </p:cNvPr>
            <p:cNvPicPr preferRelativeResize="0"/>
            <p:nvPr/>
          </p:nvPicPr>
          <p:blipFill rotWithShape="1">
            <a:blip r:embed="rId9">
              <a:alphaModFix/>
            </a:blip>
            <a:srcRect/>
            <a:stretch/>
          </p:blipFill>
          <p:spPr>
            <a:xfrm>
              <a:off x="1336992" y="2501840"/>
              <a:ext cx="437004" cy="356214"/>
            </a:xfrm>
            <a:prstGeom prst="rect">
              <a:avLst/>
            </a:prstGeom>
            <a:noFill/>
            <a:ln>
              <a:noFill/>
            </a:ln>
          </p:spPr>
        </p:pic>
        <p:pic>
          <p:nvPicPr>
            <p:cNvPr id="19" name="Google Shape;961;gd99b63929a_0_638">
              <a:extLst>
                <a:ext uri="{FF2B5EF4-FFF2-40B4-BE49-F238E27FC236}">
                  <a16:creationId xmlns:a16="http://schemas.microsoft.com/office/drawing/2014/main" id="{A3CF2712-A6DC-13B4-BD31-A2ADCFD201EF}"/>
                </a:ext>
              </a:extLst>
            </p:cNvPr>
            <p:cNvPicPr preferRelativeResize="0"/>
            <p:nvPr/>
          </p:nvPicPr>
          <p:blipFill rotWithShape="1">
            <a:blip r:embed="rId10">
              <a:alphaModFix/>
            </a:blip>
            <a:srcRect/>
            <a:stretch/>
          </p:blipFill>
          <p:spPr>
            <a:xfrm>
              <a:off x="1336992" y="3908396"/>
              <a:ext cx="437004" cy="356214"/>
            </a:xfrm>
            <a:prstGeom prst="rect">
              <a:avLst/>
            </a:prstGeom>
            <a:noFill/>
            <a:ln>
              <a:noFill/>
            </a:ln>
          </p:spPr>
        </p:pic>
        <p:pic>
          <p:nvPicPr>
            <p:cNvPr id="20" name="Google Shape;962;gd99b63929a_0_638">
              <a:extLst>
                <a:ext uri="{FF2B5EF4-FFF2-40B4-BE49-F238E27FC236}">
                  <a16:creationId xmlns:a16="http://schemas.microsoft.com/office/drawing/2014/main" id="{2E2AE32E-5D89-58AF-E422-186C4F78431C}"/>
                </a:ext>
              </a:extLst>
            </p:cNvPr>
            <p:cNvPicPr preferRelativeResize="0"/>
            <p:nvPr/>
          </p:nvPicPr>
          <p:blipFill rotWithShape="1">
            <a:blip r:embed="rId11">
              <a:alphaModFix/>
            </a:blip>
            <a:srcRect/>
            <a:stretch/>
          </p:blipFill>
          <p:spPr>
            <a:xfrm>
              <a:off x="2212798" y="1218985"/>
              <a:ext cx="317466" cy="356400"/>
            </a:xfrm>
            <a:prstGeom prst="rect">
              <a:avLst/>
            </a:prstGeom>
            <a:noFill/>
            <a:ln>
              <a:noFill/>
            </a:ln>
          </p:spPr>
        </p:pic>
        <p:pic>
          <p:nvPicPr>
            <p:cNvPr id="21" name="Google Shape;963;gd99b63929a_0_638">
              <a:extLst>
                <a:ext uri="{FF2B5EF4-FFF2-40B4-BE49-F238E27FC236}">
                  <a16:creationId xmlns:a16="http://schemas.microsoft.com/office/drawing/2014/main" id="{9E2B4B24-47CE-2B9E-3A0E-425D29E24F43}"/>
                </a:ext>
              </a:extLst>
            </p:cNvPr>
            <p:cNvPicPr preferRelativeResize="0"/>
            <p:nvPr/>
          </p:nvPicPr>
          <p:blipFill rotWithShape="1">
            <a:blip r:embed="rId12">
              <a:alphaModFix/>
            </a:blip>
            <a:srcRect/>
            <a:stretch/>
          </p:blipFill>
          <p:spPr>
            <a:xfrm>
              <a:off x="2212798" y="2501654"/>
              <a:ext cx="317466" cy="356400"/>
            </a:xfrm>
            <a:prstGeom prst="rect">
              <a:avLst/>
            </a:prstGeom>
            <a:noFill/>
            <a:ln>
              <a:noFill/>
            </a:ln>
          </p:spPr>
        </p:pic>
        <p:pic>
          <p:nvPicPr>
            <p:cNvPr id="22" name="Google Shape;964;gd99b63929a_0_638">
              <a:extLst>
                <a:ext uri="{FF2B5EF4-FFF2-40B4-BE49-F238E27FC236}">
                  <a16:creationId xmlns:a16="http://schemas.microsoft.com/office/drawing/2014/main" id="{22F9D2AE-1E43-4E00-6465-8209F539619D}"/>
                </a:ext>
              </a:extLst>
            </p:cNvPr>
            <p:cNvPicPr preferRelativeResize="0"/>
            <p:nvPr/>
          </p:nvPicPr>
          <p:blipFill rotWithShape="1">
            <a:blip r:embed="rId13">
              <a:alphaModFix/>
            </a:blip>
            <a:srcRect/>
            <a:stretch/>
          </p:blipFill>
          <p:spPr>
            <a:xfrm>
              <a:off x="2212798" y="3908210"/>
              <a:ext cx="317466" cy="356400"/>
            </a:xfrm>
            <a:prstGeom prst="rect">
              <a:avLst/>
            </a:prstGeom>
            <a:noFill/>
            <a:ln>
              <a:noFill/>
            </a:ln>
          </p:spPr>
        </p:pic>
        <p:cxnSp>
          <p:nvCxnSpPr>
            <p:cNvPr id="23" name="Google Shape;965;gd99b63929a_0_638">
              <a:extLst>
                <a:ext uri="{FF2B5EF4-FFF2-40B4-BE49-F238E27FC236}">
                  <a16:creationId xmlns:a16="http://schemas.microsoft.com/office/drawing/2014/main" id="{6DA41A53-1349-C26D-5815-8B25A9956F7A}"/>
                </a:ext>
              </a:extLst>
            </p:cNvPr>
            <p:cNvCxnSpPr>
              <a:stCxn id="17" idx="3"/>
              <a:endCxn id="20" idx="1"/>
            </p:cNvCxnSpPr>
            <p:nvPr/>
          </p:nvCxnSpPr>
          <p:spPr>
            <a:xfrm>
              <a:off x="1773996" y="1397092"/>
              <a:ext cx="438900" cy="0"/>
            </a:xfrm>
            <a:prstGeom prst="straightConnector1">
              <a:avLst/>
            </a:prstGeom>
            <a:noFill/>
            <a:ln w="9525" cap="flat" cmpd="sng">
              <a:solidFill>
                <a:srgbClr val="757070"/>
              </a:solidFill>
              <a:prstDash val="solid"/>
              <a:round/>
              <a:headEnd type="none" w="sm" len="sm"/>
              <a:tailEnd type="triangle" w="med" len="med"/>
            </a:ln>
          </p:spPr>
        </p:cxnSp>
        <p:cxnSp>
          <p:nvCxnSpPr>
            <p:cNvPr id="24" name="Google Shape;966;gd99b63929a_0_638">
              <a:extLst>
                <a:ext uri="{FF2B5EF4-FFF2-40B4-BE49-F238E27FC236}">
                  <a16:creationId xmlns:a16="http://schemas.microsoft.com/office/drawing/2014/main" id="{26D40491-0F4F-CD81-07B3-6BFBA68452A0}"/>
                </a:ext>
              </a:extLst>
            </p:cNvPr>
            <p:cNvCxnSpPr>
              <a:stCxn id="18" idx="3"/>
              <a:endCxn id="21" idx="1"/>
            </p:cNvCxnSpPr>
            <p:nvPr/>
          </p:nvCxnSpPr>
          <p:spPr>
            <a:xfrm>
              <a:off x="1773996" y="2679947"/>
              <a:ext cx="438900" cy="0"/>
            </a:xfrm>
            <a:prstGeom prst="straightConnector1">
              <a:avLst/>
            </a:prstGeom>
            <a:noFill/>
            <a:ln w="9525" cap="flat" cmpd="sng">
              <a:solidFill>
                <a:srgbClr val="757070"/>
              </a:solidFill>
              <a:prstDash val="solid"/>
              <a:round/>
              <a:headEnd type="none" w="sm" len="sm"/>
              <a:tailEnd type="triangle" w="med" len="med"/>
            </a:ln>
          </p:spPr>
        </p:cxnSp>
        <p:cxnSp>
          <p:nvCxnSpPr>
            <p:cNvPr id="25" name="Google Shape;967;gd99b63929a_0_638">
              <a:extLst>
                <a:ext uri="{FF2B5EF4-FFF2-40B4-BE49-F238E27FC236}">
                  <a16:creationId xmlns:a16="http://schemas.microsoft.com/office/drawing/2014/main" id="{F46399B9-7AA4-6A39-0AC6-AE015504837A}"/>
                </a:ext>
              </a:extLst>
            </p:cNvPr>
            <p:cNvCxnSpPr>
              <a:stCxn id="19" idx="3"/>
              <a:endCxn id="22" idx="1"/>
            </p:cNvCxnSpPr>
            <p:nvPr/>
          </p:nvCxnSpPr>
          <p:spPr>
            <a:xfrm>
              <a:off x="1773996" y="4086503"/>
              <a:ext cx="438900" cy="0"/>
            </a:xfrm>
            <a:prstGeom prst="straightConnector1">
              <a:avLst/>
            </a:prstGeom>
            <a:noFill/>
            <a:ln w="9525" cap="flat" cmpd="sng">
              <a:solidFill>
                <a:srgbClr val="757070"/>
              </a:solidFill>
              <a:prstDash val="solid"/>
              <a:round/>
              <a:headEnd type="none" w="sm" len="sm"/>
              <a:tailEnd type="triangle" w="med" len="med"/>
            </a:ln>
          </p:spPr>
        </p:cxnSp>
        <p:pic>
          <p:nvPicPr>
            <p:cNvPr id="26" name="Google Shape;968;gd99b63929a_0_638">
              <a:extLst>
                <a:ext uri="{FF2B5EF4-FFF2-40B4-BE49-F238E27FC236}">
                  <a16:creationId xmlns:a16="http://schemas.microsoft.com/office/drawing/2014/main" id="{AD7EF1D9-14FC-5B49-D299-48DA2EDC66B6}"/>
                </a:ext>
              </a:extLst>
            </p:cNvPr>
            <p:cNvPicPr preferRelativeResize="0"/>
            <p:nvPr/>
          </p:nvPicPr>
          <p:blipFill rotWithShape="1">
            <a:blip r:embed="rId12">
              <a:alphaModFix/>
            </a:blip>
            <a:srcRect/>
            <a:stretch/>
          </p:blipFill>
          <p:spPr>
            <a:xfrm>
              <a:off x="3460685" y="2501654"/>
              <a:ext cx="317466" cy="356400"/>
            </a:xfrm>
            <a:prstGeom prst="rect">
              <a:avLst/>
            </a:prstGeom>
            <a:noFill/>
            <a:ln>
              <a:noFill/>
            </a:ln>
          </p:spPr>
        </p:pic>
        <p:cxnSp>
          <p:nvCxnSpPr>
            <p:cNvPr id="27" name="Google Shape;969;gd99b63929a_0_638">
              <a:extLst>
                <a:ext uri="{FF2B5EF4-FFF2-40B4-BE49-F238E27FC236}">
                  <a16:creationId xmlns:a16="http://schemas.microsoft.com/office/drawing/2014/main" id="{7B069874-4A03-C84D-8850-5B78210D3FC7}"/>
                </a:ext>
              </a:extLst>
            </p:cNvPr>
            <p:cNvCxnSpPr>
              <a:stCxn id="21" idx="3"/>
              <a:endCxn id="26" idx="1"/>
            </p:cNvCxnSpPr>
            <p:nvPr/>
          </p:nvCxnSpPr>
          <p:spPr>
            <a:xfrm>
              <a:off x="2530264" y="2679854"/>
              <a:ext cx="930300" cy="0"/>
            </a:xfrm>
            <a:prstGeom prst="straightConnector1">
              <a:avLst/>
            </a:prstGeom>
            <a:noFill/>
            <a:ln w="9525" cap="flat" cmpd="sng">
              <a:solidFill>
                <a:srgbClr val="757070"/>
              </a:solidFill>
              <a:prstDash val="solid"/>
              <a:round/>
              <a:headEnd type="none" w="sm" len="sm"/>
              <a:tailEnd type="triangle" w="med" len="med"/>
            </a:ln>
          </p:spPr>
        </p:cxnSp>
        <p:cxnSp>
          <p:nvCxnSpPr>
            <p:cNvPr id="28" name="Google Shape;970;gd99b63929a_0_638">
              <a:extLst>
                <a:ext uri="{FF2B5EF4-FFF2-40B4-BE49-F238E27FC236}">
                  <a16:creationId xmlns:a16="http://schemas.microsoft.com/office/drawing/2014/main" id="{C5033A79-8695-EAA3-8256-F6E028CFAF81}"/>
                </a:ext>
              </a:extLst>
            </p:cNvPr>
            <p:cNvCxnSpPr>
              <a:stCxn id="20" idx="3"/>
              <a:endCxn id="26" idx="1"/>
            </p:cNvCxnSpPr>
            <p:nvPr/>
          </p:nvCxnSpPr>
          <p:spPr>
            <a:xfrm>
              <a:off x="2530264" y="1397185"/>
              <a:ext cx="930300" cy="1282800"/>
            </a:xfrm>
            <a:prstGeom prst="straightConnector1">
              <a:avLst/>
            </a:prstGeom>
            <a:noFill/>
            <a:ln w="9525" cap="flat" cmpd="sng">
              <a:solidFill>
                <a:srgbClr val="757070"/>
              </a:solidFill>
              <a:prstDash val="solid"/>
              <a:round/>
              <a:headEnd type="none" w="sm" len="sm"/>
              <a:tailEnd type="triangle" w="med" len="med"/>
            </a:ln>
          </p:spPr>
        </p:cxnSp>
        <p:cxnSp>
          <p:nvCxnSpPr>
            <p:cNvPr id="29" name="Google Shape;971;gd99b63929a_0_638">
              <a:extLst>
                <a:ext uri="{FF2B5EF4-FFF2-40B4-BE49-F238E27FC236}">
                  <a16:creationId xmlns:a16="http://schemas.microsoft.com/office/drawing/2014/main" id="{D58F9FA0-A5C2-0363-FEBB-AEFB3B68BA9F}"/>
                </a:ext>
              </a:extLst>
            </p:cNvPr>
            <p:cNvCxnSpPr>
              <a:stCxn id="22" idx="3"/>
              <a:endCxn id="26" idx="1"/>
            </p:cNvCxnSpPr>
            <p:nvPr/>
          </p:nvCxnSpPr>
          <p:spPr>
            <a:xfrm rot="10800000" flipH="1">
              <a:off x="2530264" y="2679710"/>
              <a:ext cx="930300" cy="1406700"/>
            </a:xfrm>
            <a:prstGeom prst="straightConnector1">
              <a:avLst/>
            </a:prstGeom>
            <a:noFill/>
            <a:ln w="9525" cap="flat" cmpd="sng">
              <a:solidFill>
                <a:srgbClr val="757070"/>
              </a:solidFill>
              <a:prstDash val="solid"/>
              <a:round/>
              <a:headEnd type="none" w="sm" len="sm"/>
              <a:tailEnd type="triangle" w="med" len="med"/>
            </a:ln>
          </p:spPr>
        </p:cxnSp>
        <p:cxnSp>
          <p:nvCxnSpPr>
            <p:cNvPr id="30" name="Google Shape;972;gd99b63929a_0_638">
              <a:extLst>
                <a:ext uri="{FF2B5EF4-FFF2-40B4-BE49-F238E27FC236}">
                  <a16:creationId xmlns:a16="http://schemas.microsoft.com/office/drawing/2014/main" id="{8F1B195B-E20A-F788-32AE-A3E3B87236E1}"/>
                </a:ext>
              </a:extLst>
            </p:cNvPr>
            <p:cNvCxnSpPr/>
            <p:nvPr/>
          </p:nvCxnSpPr>
          <p:spPr>
            <a:xfrm>
              <a:off x="3912970" y="2679947"/>
              <a:ext cx="438900" cy="0"/>
            </a:xfrm>
            <a:prstGeom prst="straightConnector1">
              <a:avLst/>
            </a:prstGeom>
            <a:noFill/>
            <a:ln w="9525" cap="flat" cmpd="sng">
              <a:solidFill>
                <a:srgbClr val="757070"/>
              </a:solidFill>
              <a:prstDash val="solid"/>
              <a:round/>
              <a:headEnd type="none" w="sm" len="sm"/>
              <a:tailEnd type="triangle" w="med" len="med"/>
            </a:ln>
          </p:spPr>
        </p:cxnSp>
        <p:pic>
          <p:nvPicPr>
            <p:cNvPr id="31" name="Google Shape;973;gd99b63929a_0_638">
              <a:extLst>
                <a:ext uri="{FF2B5EF4-FFF2-40B4-BE49-F238E27FC236}">
                  <a16:creationId xmlns:a16="http://schemas.microsoft.com/office/drawing/2014/main" id="{DDB29D5A-D69D-9CEE-7312-12EDC8EFC8D1}"/>
                </a:ext>
              </a:extLst>
            </p:cNvPr>
            <p:cNvPicPr preferRelativeResize="0"/>
            <p:nvPr/>
          </p:nvPicPr>
          <p:blipFill rotWithShape="1">
            <a:blip r:embed="rId14">
              <a:alphaModFix/>
            </a:blip>
            <a:srcRect/>
            <a:stretch/>
          </p:blipFill>
          <p:spPr>
            <a:xfrm>
              <a:off x="4486592" y="2501840"/>
              <a:ext cx="437004" cy="356214"/>
            </a:xfrm>
            <a:prstGeom prst="rect">
              <a:avLst/>
            </a:prstGeom>
            <a:noFill/>
            <a:ln>
              <a:noFill/>
            </a:ln>
          </p:spPr>
        </p:pic>
        <p:sp>
          <p:nvSpPr>
            <p:cNvPr id="32" name="Google Shape;974;gd99b63929a_0_638">
              <a:extLst>
                <a:ext uri="{FF2B5EF4-FFF2-40B4-BE49-F238E27FC236}">
                  <a16:creationId xmlns:a16="http://schemas.microsoft.com/office/drawing/2014/main" id="{AED39900-B179-571F-DED5-8CEDAF99F295}"/>
                </a:ext>
              </a:extLst>
            </p:cNvPr>
            <p:cNvSpPr txBox="1"/>
            <p:nvPr/>
          </p:nvSpPr>
          <p:spPr>
            <a:xfrm>
              <a:off x="3306020" y="3003335"/>
              <a:ext cx="6156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Integrate</a:t>
              </a:r>
              <a:endParaRPr sz="1400" b="0" i="0" u="none" strike="noStrike" cap="none">
                <a:solidFill>
                  <a:srgbClr val="000000"/>
                </a:solidFill>
                <a:latin typeface="Arial"/>
                <a:ea typeface="Arial"/>
                <a:cs typeface="Arial"/>
                <a:sym typeface="Arial"/>
              </a:endParaRPr>
            </a:p>
          </p:txBody>
        </p:sp>
        <p:sp>
          <p:nvSpPr>
            <p:cNvPr id="33" name="Google Shape;975;gd99b63929a_0_638">
              <a:extLst>
                <a:ext uri="{FF2B5EF4-FFF2-40B4-BE49-F238E27FC236}">
                  <a16:creationId xmlns:a16="http://schemas.microsoft.com/office/drawing/2014/main" id="{846F8230-966F-5763-9C89-95811AC15269}"/>
                </a:ext>
              </a:extLst>
            </p:cNvPr>
            <p:cNvSpPr txBox="1"/>
            <p:nvPr/>
          </p:nvSpPr>
          <p:spPr>
            <a:xfrm>
              <a:off x="4426174" y="3003335"/>
              <a:ext cx="5577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Compile</a:t>
              </a:r>
              <a:endParaRPr sz="1400" b="0" i="0" u="none" strike="noStrike" cap="none">
                <a:solidFill>
                  <a:srgbClr val="000000"/>
                </a:solidFill>
                <a:latin typeface="Arial"/>
                <a:ea typeface="Arial"/>
                <a:cs typeface="Arial"/>
                <a:sym typeface="Arial"/>
              </a:endParaRPr>
            </a:p>
          </p:txBody>
        </p:sp>
        <p:cxnSp>
          <p:nvCxnSpPr>
            <p:cNvPr id="34" name="Google Shape;976;gd99b63929a_0_638">
              <a:extLst>
                <a:ext uri="{FF2B5EF4-FFF2-40B4-BE49-F238E27FC236}">
                  <a16:creationId xmlns:a16="http://schemas.microsoft.com/office/drawing/2014/main" id="{D1A0FF7D-7C19-B80E-F2E8-DEA07A6EF3E2}"/>
                </a:ext>
              </a:extLst>
            </p:cNvPr>
            <p:cNvCxnSpPr/>
            <p:nvPr/>
          </p:nvCxnSpPr>
          <p:spPr>
            <a:xfrm>
              <a:off x="5077871" y="2679947"/>
              <a:ext cx="438900" cy="0"/>
            </a:xfrm>
            <a:prstGeom prst="straightConnector1">
              <a:avLst/>
            </a:prstGeom>
            <a:noFill/>
            <a:ln w="9525" cap="flat" cmpd="sng">
              <a:solidFill>
                <a:srgbClr val="757070"/>
              </a:solidFill>
              <a:prstDash val="solid"/>
              <a:round/>
              <a:headEnd type="none" w="sm" len="sm"/>
              <a:tailEnd type="triangle" w="med" len="med"/>
            </a:ln>
          </p:spPr>
        </p:cxnSp>
        <p:pic>
          <p:nvPicPr>
            <p:cNvPr id="35" name="Google Shape;977;gd99b63929a_0_638">
              <a:extLst>
                <a:ext uri="{FF2B5EF4-FFF2-40B4-BE49-F238E27FC236}">
                  <a16:creationId xmlns:a16="http://schemas.microsoft.com/office/drawing/2014/main" id="{C0F36A1A-4F4B-7266-F68E-008B96249039}"/>
                </a:ext>
              </a:extLst>
            </p:cNvPr>
            <p:cNvPicPr preferRelativeResize="0"/>
            <p:nvPr/>
          </p:nvPicPr>
          <p:blipFill rotWithShape="1">
            <a:blip r:embed="rId15">
              <a:alphaModFix/>
            </a:blip>
            <a:srcRect/>
            <a:stretch/>
          </p:blipFill>
          <p:spPr>
            <a:xfrm>
              <a:off x="5736218" y="2501630"/>
              <a:ext cx="437233" cy="356400"/>
            </a:xfrm>
            <a:prstGeom prst="rect">
              <a:avLst/>
            </a:prstGeom>
            <a:noFill/>
            <a:ln>
              <a:noFill/>
            </a:ln>
          </p:spPr>
        </p:pic>
        <p:sp>
          <p:nvSpPr>
            <p:cNvPr id="36" name="Google Shape;978;gd99b63929a_0_638">
              <a:extLst>
                <a:ext uri="{FF2B5EF4-FFF2-40B4-BE49-F238E27FC236}">
                  <a16:creationId xmlns:a16="http://schemas.microsoft.com/office/drawing/2014/main" id="{2633D204-F976-66C4-9827-EABD285C9472}"/>
                </a:ext>
              </a:extLst>
            </p:cNvPr>
            <p:cNvSpPr txBox="1"/>
            <p:nvPr/>
          </p:nvSpPr>
          <p:spPr>
            <a:xfrm>
              <a:off x="5674309" y="3003335"/>
              <a:ext cx="5610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Package</a:t>
              </a:r>
              <a:endParaRPr sz="1400" b="0" i="0" u="none" strike="noStrike" cap="none">
                <a:solidFill>
                  <a:srgbClr val="000000"/>
                </a:solidFill>
                <a:latin typeface="Arial"/>
                <a:ea typeface="Arial"/>
                <a:cs typeface="Arial"/>
                <a:sym typeface="Arial"/>
              </a:endParaRPr>
            </a:p>
          </p:txBody>
        </p:sp>
        <p:cxnSp>
          <p:nvCxnSpPr>
            <p:cNvPr id="37" name="Google Shape;979;gd99b63929a_0_638">
              <a:extLst>
                <a:ext uri="{FF2B5EF4-FFF2-40B4-BE49-F238E27FC236}">
                  <a16:creationId xmlns:a16="http://schemas.microsoft.com/office/drawing/2014/main" id="{53549E70-D87E-0D1A-5B31-2E4F075B1438}"/>
                </a:ext>
              </a:extLst>
            </p:cNvPr>
            <p:cNvCxnSpPr/>
            <p:nvPr/>
          </p:nvCxnSpPr>
          <p:spPr>
            <a:xfrm>
              <a:off x="6369642" y="2679947"/>
              <a:ext cx="438900" cy="0"/>
            </a:xfrm>
            <a:prstGeom prst="straightConnector1">
              <a:avLst/>
            </a:prstGeom>
            <a:noFill/>
            <a:ln w="9525" cap="flat" cmpd="sng">
              <a:solidFill>
                <a:srgbClr val="757070"/>
              </a:solidFill>
              <a:prstDash val="solid"/>
              <a:round/>
              <a:headEnd type="none" w="sm" len="sm"/>
              <a:tailEnd type="triangle" w="med" len="med"/>
            </a:ln>
          </p:spPr>
        </p:cxnSp>
        <p:sp>
          <p:nvSpPr>
            <p:cNvPr id="38" name="Google Shape;980;gd99b63929a_0_638">
              <a:extLst>
                <a:ext uri="{FF2B5EF4-FFF2-40B4-BE49-F238E27FC236}">
                  <a16:creationId xmlns:a16="http://schemas.microsoft.com/office/drawing/2014/main" id="{7FBD3DCD-200A-B78E-5A7E-2410122C4233}"/>
                </a:ext>
              </a:extLst>
            </p:cNvPr>
            <p:cNvSpPr/>
            <p:nvPr/>
          </p:nvSpPr>
          <p:spPr>
            <a:xfrm>
              <a:off x="7004635" y="2508234"/>
              <a:ext cx="1190100" cy="343200"/>
            </a:xfrm>
            <a:prstGeom prst="roundRect">
              <a:avLst>
                <a:gd name="adj" fmla="val 50000"/>
              </a:avLst>
            </a:prstGeom>
            <a:solidFill>
              <a:srgbClr val="F7CAA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39" name="Google Shape;981;gd99b63929a_0_638">
              <a:extLst>
                <a:ext uri="{FF2B5EF4-FFF2-40B4-BE49-F238E27FC236}">
                  <a16:creationId xmlns:a16="http://schemas.microsoft.com/office/drawing/2014/main" id="{66DDAFEE-32FE-8F6D-F837-C97B65C4DACE}"/>
                </a:ext>
              </a:extLst>
            </p:cNvPr>
            <p:cNvPicPr preferRelativeResize="0"/>
            <p:nvPr/>
          </p:nvPicPr>
          <p:blipFill rotWithShape="1">
            <a:blip r:embed="rId16">
              <a:alphaModFix/>
            </a:blip>
            <a:srcRect/>
            <a:stretch/>
          </p:blipFill>
          <p:spPr>
            <a:xfrm>
              <a:off x="4168425" y="943058"/>
              <a:ext cx="1359199" cy="664195"/>
            </a:xfrm>
            <a:prstGeom prst="rect">
              <a:avLst/>
            </a:prstGeom>
            <a:noFill/>
            <a:ln>
              <a:noFill/>
            </a:ln>
          </p:spPr>
        </p:pic>
        <p:sp>
          <p:nvSpPr>
            <p:cNvPr id="40" name="Google Shape;982;gd99b63929a_0_638">
              <a:extLst>
                <a:ext uri="{FF2B5EF4-FFF2-40B4-BE49-F238E27FC236}">
                  <a16:creationId xmlns:a16="http://schemas.microsoft.com/office/drawing/2014/main" id="{B6B40965-46DD-85C9-E430-4CE030E7D441}"/>
                </a:ext>
              </a:extLst>
            </p:cNvPr>
            <p:cNvSpPr txBox="1"/>
            <p:nvPr/>
          </p:nvSpPr>
          <p:spPr>
            <a:xfrm>
              <a:off x="4267736" y="1663802"/>
              <a:ext cx="11607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Build &amp;</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Integration Team</a:t>
              </a:r>
              <a:endParaRPr sz="1400" b="0" i="0" u="none" strike="noStrike" cap="none">
                <a:solidFill>
                  <a:srgbClr val="000000"/>
                </a:solidFill>
                <a:latin typeface="Arial"/>
                <a:ea typeface="Arial"/>
                <a:cs typeface="Arial"/>
                <a:sym typeface="Arial"/>
              </a:endParaRPr>
            </a:p>
          </p:txBody>
        </p:sp>
        <p:sp>
          <p:nvSpPr>
            <p:cNvPr id="41" name="Google Shape;983;gd99b63929a_0_638">
              <a:extLst>
                <a:ext uri="{FF2B5EF4-FFF2-40B4-BE49-F238E27FC236}">
                  <a16:creationId xmlns:a16="http://schemas.microsoft.com/office/drawing/2014/main" id="{BF52DC54-5322-8EA1-575A-E8351D65BB14}"/>
                </a:ext>
              </a:extLst>
            </p:cNvPr>
            <p:cNvSpPr/>
            <p:nvPr/>
          </p:nvSpPr>
          <p:spPr>
            <a:xfrm rot="-5400000">
              <a:off x="4720087" y="836012"/>
              <a:ext cx="255900" cy="2774700"/>
            </a:xfrm>
            <a:prstGeom prst="rightBrace">
              <a:avLst>
                <a:gd name="adj1" fmla="val 24000"/>
                <a:gd name="adj2" fmla="val 50000"/>
              </a:avLst>
            </a:prstGeom>
            <a:noFill/>
            <a:ln w="9525" cap="flat" cmpd="sng">
              <a:solidFill>
                <a:srgbClr val="75707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cxnSp>
          <p:nvCxnSpPr>
            <p:cNvPr id="42" name="Google Shape;984;gd99b63929a_0_638">
              <a:extLst>
                <a:ext uri="{FF2B5EF4-FFF2-40B4-BE49-F238E27FC236}">
                  <a16:creationId xmlns:a16="http://schemas.microsoft.com/office/drawing/2014/main" id="{5EBD881D-B4A0-26F8-7797-277A904D9FE9}"/>
                </a:ext>
              </a:extLst>
            </p:cNvPr>
            <p:cNvCxnSpPr/>
            <p:nvPr/>
          </p:nvCxnSpPr>
          <p:spPr>
            <a:xfrm>
              <a:off x="2933700" y="1397092"/>
              <a:ext cx="0" cy="2689200"/>
            </a:xfrm>
            <a:prstGeom prst="straightConnector1">
              <a:avLst/>
            </a:prstGeom>
            <a:noFill/>
            <a:ln w="9525" cap="flat" cmpd="sng">
              <a:solidFill>
                <a:schemeClr val="dk1"/>
              </a:solidFill>
              <a:prstDash val="dash"/>
              <a:round/>
              <a:headEnd type="none" w="sm" len="sm"/>
              <a:tailEnd type="none" w="sm" len="sm"/>
            </a:ln>
          </p:spPr>
        </p:cxnSp>
        <p:cxnSp>
          <p:nvCxnSpPr>
            <p:cNvPr id="43" name="Google Shape;985;gd99b63929a_0_638">
              <a:extLst>
                <a:ext uri="{FF2B5EF4-FFF2-40B4-BE49-F238E27FC236}">
                  <a16:creationId xmlns:a16="http://schemas.microsoft.com/office/drawing/2014/main" id="{144846C3-935F-2F46-7389-2EC6D1E2BCC7}"/>
                </a:ext>
              </a:extLst>
            </p:cNvPr>
            <p:cNvCxnSpPr/>
            <p:nvPr/>
          </p:nvCxnSpPr>
          <p:spPr>
            <a:xfrm>
              <a:off x="6324600" y="1397092"/>
              <a:ext cx="0" cy="2689200"/>
            </a:xfrm>
            <a:prstGeom prst="straightConnector1">
              <a:avLst/>
            </a:prstGeom>
            <a:noFill/>
            <a:ln w="9525" cap="flat" cmpd="sng">
              <a:solidFill>
                <a:schemeClr val="dk1"/>
              </a:solidFill>
              <a:prstDash val="dash"/>
              <a:round/>
              <a:headEnd type="none" w="sm" len="sm"/>
              <a:tailEnd type="none" w="sm" len="sm"/>
            </a:ln>
          </p:spPr>
        </p:cxnSp>
      </p:grpSp>
    </p:spTree>
    <p:extLst>
      <p:ext uri="{BB962C8B-B14F-4D97-AF65-F5344CB8AC3E}">
        <p14:creationId xmlns:p14="http://schemas.microsoft.com/office/powerpoint/2010/main" val="864460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991;gd287c8a928_0_10">
            <a:extLst>
              <a:ext uri="{FF2B5EF4-FFF2-40B4-BE49-F238E27FC236}">
                <a16:creationId xmlns:a16="http://schemas.microsoft.com/office/drawing/2014/main" id="{C9A89ABB-88FB-D7D5-D872-B0BE08FEE4B4}"/>
              </a:ext>
            </a:extLst>
          </p:cNvPr>
          <p:cNvSpPr txBox="1"/>
          <p:nvPr/>
        </p:nvSpPr>
        <p:spPr>
          <a:xfrm>
            <a:off x="2278716" y="2027561"/>
            <a:ext cx="8496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Issues with software roll-out when Continuous Integration is not </a:t>
            </a: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used</a:t>
            </a:r>
            <a:r>
              <a:rPr lang="en-GB"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0" name="Google Shape;992;gd287c8a928_0_10">
            <a:extLst>
              <a:ext uri="{FF2B5EF4-FFF2-40B4-BE49-F238E27FC236}">
                <a16:creationId xmlns:a16="http://schemas.microsoft.com/office/drawing/2014/main" id="{8F6618E6-F81A-CAB0-8438-8E4036EB5C88}"/>
              </a:ext>
            </a:extLst>
          </p:cNvPr>
          <p:cNvSpPr txBox="1"/>
          <p:nvPr/>
        </p:nvSpPr>
        <p:spPr>
          <a:xfrm>
            <a:off x="2376691" y="2747436"/>
            <a:ext cx="8257500" cy="21240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2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(Code) Integration is painful and </a:t>
            </a: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
                  </a:ext>
                </a:extLst>
              </a:rPr>
              <a:t>requires effort</a:t>
            </a:r>
            <a:endParaRPr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endParaRPr>
          </a:p>
          <a:p>
            <a:pPr marL="457200" marR="0" lvl="0" indent="-317500" algn="l" rtl="0">
              <a:lnSpc>
                <a:spcPct val="2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Fixing issues at the end of iterations</a:t>
            </a:r>
            <a:endParaRPr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endParaRPr>
          </a:p>
          <a:p>
            <a:pPr marL="457200" marR="0" lvl="0" indent="-317500" algn="l" rtl="0">
              <a:lnSpc>
                <a:spcPct val="2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7"/>
                  </a:ext>
                </a:extLst>
              </a:rPr>
              <a:t>Intermediate merge issues can hold up teams</a:t>
            </a:r>
            <a:endParaRPr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8"/>
                </a:ext>
              </a:extLst>
            </a:endParaRPr>
          </a:p>
          <a:p>
            <a:pPr marL="457200" marR="0" lvl="0" indent="-317500" algn="l" rtl="0">
              <a:lnSpc>
                <a:spcPct val="2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rPr>
              <a:t>Long feedback cycle for functional defects</a:t>
            </a:r>
            <a:endParaRPr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0"/>
                </a:ext>
              </a:extLst>
            </a:endParaRPr>
          </a:p>
          <a:p>
            <a:pPr marL="457200" marR="0" lvl="0" indent="-317500" algn="l" rtl="0">
              <a:lnSpc>
                <a:spcPct val="200000"/>
              </a:lnSpc>
              <a:spcBef>
                <a:spcPts val="0"/>
              </a:spcBef>
              <a:spcAft>
                <a:spcPts val="0"/>
              </a:spcAft>
              <a:buClr>
                <a:srgbClr val="000000"/>
              </a:buClr>
              <a:buSzPts val="1400"/>
              <a:buFont typeface="Arial"/>
              <a:buChar char="●"/>
            </a:pPr>
            <a:r>
              <a:rPr lang="en-GB" sz="14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1"/>
                  </a:ext>
                </a:extLst>
              </a:rPr>
              <a:t>Long iterations</a:t>
            </a:r>
            <a:endParaRPr sz="1400" b="0" i="0" u="none" strike="noStrike" cap="none">
              <a:solidFill>
                <a:srgbClr val="000000"/>
              </a:solidFill>
              <a:latin typeface="Arial"/>
              <a:ea typeface="Arial"/>
              <a:cs typeface="Arial"/>
              <a:sym typeface="Arial"/>
            </a:endParaRPr>
          </a:p>
        </p:txBody>
      </p:sp>
      <p:sp>
        <p:nvSpPr>
          <p:cNvPr id="11" name="Google Shape;993;gd287c8a928_0_10">
            <a:extLst>
              <a:ext uri="{FF2B5EF4-FFF2-40B4-BE49-F238E27FC236}">
                <a16:creationId xmlns:a16="http://schemas.microsoft.com/office/drawing/2014/main" id="{9E486354-64F0-E43A-41AF-F9F92D7C5230}"/>
              </a:ext>
            </a:extLst>
          </p:cNvPr>
          <p:cNvSpPr txBox="1"/>
          <p:nvPr/>
        </p:nvSpPr>
        <p:spPr>
          <a:xfrm>
            <a:off x="2322266" y="1394486"/>
            <a:ext cx="55827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GB" sz="2500" b="0" i="0" u="none" strike="noStrike" cap="none" dirty="0">
                <a:latin typeface="Proxima Nova"/>
                <a:ea typeface="Proxima Nova"/>
                <a:cs typeface="Proxima Nova"/>
                <a:sym typeface="Proxima Nova"/>
              </a:rPr>
              <a:t>Old School Integration: Pain Points </a:t>
            </a:r>
            <a:endParaRPr sz="2500" b="0" i="0" u="none" strike="noStrike" cap="none" dirty="0">
              <a:latin typeface="Proxima Nova"/>
              <a:ea typeface="Proxima Nova"/>
              <a:cs typeface="Proxima Nova"/>
              <a:sym typeface="Proxima Nova"/>
            </a:endParaRPr>
          </a:p>
        </p:txBody>
      </p:sp>
    </p:spTree>
    <p:extLst>
      <p:ext uri="{BB962C8B-B14F-4D97-AF65-F5344CB8AC3E}">
        <p14:creationId xmlns:p14="http://schemas.microsoft.com/office/powerpoint/2010/main" val="941340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999;gd99b63929a_0_535">
            <a:extLst>
              <a:ext uri="{FF2B5EF4-FFF2-40B4-BE49-F238E27FC236}">
                <a16:creationId xmlns:a16="http://schemas.microsoft.com/office/drawing/2014/main" id="{CCB8C38B-06F3-C613-D951-FBD290423730}"/>
              </a:ext>
            </a:extLst>
          </p:cNvPr>
          <p:cNvSpPr txBox="1"/>
          <p:nvPr/>
        </p:nvSpPr>
        <p:spPr>
          <a:xfrm>
            <a:off x="1981811" y="2059274"/>
            <a:ext cx="8201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How does Continuous Integration help in fixing the pain points?</a:t>
            </a:r>
            <a:endParaRPr sz="1400" b="0" i="0" u="none" strike="noStrike" cap="none">
              <a:solidFill>
                <a:srgbClr val="000000"/>
              </a:solidFill>
              <a:latin typeface="Arial"/>
              <a:ea typeface="Arial"/>
              <a:cs typeface="Arial"/>
              <a:sym typeface="Arial"/>
            </a:endParaRPr>
          </a:p>
        </p:txBody>
      </p:sp>
      <p:sp>
        <p:nvSpPr>
          <p:cNvPr id="10" name="Google Shape;1000;gd99b63929a_0_535">
            <a:extLst>
              <a:ext uri="{FF2B5EF4-FFF2-40B4-BE49-F238E27FC236}">
                <a16:creationId xmlns:a16="http://schemas.microsoft.com/office/drawing/2014/main" id="{BB78D029-4303-AFE4-4057-DDBC94035386}"/>
              </a:ext>
            </a:extLst>
          </p:cNvPr>
          <p:cNvSpPr txBox="1"/>
          <p:nvPr/>
        </p:nvSpPr>
        <p:spPr>
          <a:xfrm>
            <a:off x="1926336" y="1381674"/>
            <a:ext cx="60603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GB" sz="2500" b="0" i="0" u="none" strike="noStrike" cap="none" dirty="0">
                <a:latin typeface="Proxima Nova"/>
                <a:ea typeface="Proxima Nova"/>
                <a:cs typeface="Proxima Nova"/>
                <a:sym typeface="Proxima Nova"/>
              </a:rPr>
              <a:t>Implementing</a:t>
            </a:r>
            <a:r>
              <a:rPr lang="en-GB" sz="2500" b="0" i="0" u="none" strike="noStrike" cap="none" dirty="0">
                <a:latin typeface="Proxima Nova"/>
                <a:ea typeface="Proxima Nova"/>
                <a:cs typeface="Proxima Nova"/>
                <a:sym typeface="Proxima Nova"/>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2"/>
                  </a:ext>
                </a:extLst>
              </a:rPr>
              <a:t> </a:t>
            </a:r>
            <a:r>
              <a:rPr lang="en-GB" sz="2500" b="0" i="0" u="none" strike="noStrike" cap="none" dirty="0">
                <a:latin typeface="Proxima Nova"/>
                <a:ea typeface="Proxima Nova"/>
                <a:cs typeface="Proxima Nova"/>
                <a:sym typeface="Proxima Nova"/>
              </a:rPr>
              <a:t>Continuous Integration</a:t>
            </a:r>
            <a:endParaRPr sz="2500" b="0" i="0" u="none" strike="noStrike" cap="none" dirty="0">
              <a:latin typeface="Proxima Nova"/>
              <a:ea typeface="Proxima Nova"/>
              <a:cs typeface="Proxima Nova"/>
              <a:sym typeface="Proxima Nova"/>
            </a:endParaRPr>
          </a:p>
        </p:txBody>
      </p:sp>
      <p:grpSp>
        <p:nvGrpSpPr>
          <p:cNvPr id="11" name="Google Shape;1001;gd99b63929a_0_535">
            <a:extLst>
              <a:ext uri="{FF2B5EF4-FFF2-40B4-BE49-F238E27FC236}">
                <a16:creationId xmlns:a16="http://schemas.microsoft.com/office/drawing/2014/main" id="{1B93F24C-E993-C1F6-EDE7-C0542BDC855B}"/>
              </a:ext>
            </a:extLst>
          </p:cNvPr>
          <p:cNvGrpSpPr/>
          <p:nvPr/>
        </p:nvGrpSpPr>
        <p:grpSpPr>
          <a:xfrm>
            <a:off x="1506346" y="2567674"/>
            <a:ext cx="9014663" cy="4112001"/>
            <a:chOff x="718775" y="1200663"/>
            <a:chExt cx="8263638" cy="3842936"/>
          </a:xfrm>
        </p:grpSpPr>
        <p:pic>
          <p:nvPicPr>
            <p:cNvPr id="12" name="Google Shape;1002;gd99b63929a_0_535">
              <a:extLst>
                <a:ext uri="{FF2B5EF4-FFF2-40B4-BE49-F238E27FC236}">
                  <a16:creationId xmlns:a16="http://schemas.microsoft.com/office/drawing/2014/main" id="{7062D6E7-954A-D437-1A14-F5C79AB0CFEB}"/>
                </a:ext>
              </a:extLst>
            </p:cNvPr>
            <p:cNvPicPr preferRelativeResize="0"/>
            <p:nvPr/>
          </p:nvPicPr>
          <p:blipFill rotWithShape="1">
            <a:blip r:embed="rId6">
              <a:alphaModFix/>
            </a:blip>
            <a:srcRect/>
            <a:stretch/>
          </p:blipFill>
          <p:spPr>
            <a:xfrm>
              <a:off x="718775" y="1200663"/>
              <a:ext cx="674570" cy="741195"/>
            </a:xfrm>
            <a:prstGeom prst="rect">
              <a:avLst/>
            </a:prstGeom>
            <a:noFill/>
            <a:ln>
              <a:noFill/>
            </a:ln>
          </p:spPr>
        </p:pic>
        <p:pic>
          <p:nvPicPr>
            <p:cNvPr id="13" name="Google Shape;1003;gd99b63929a_0_535">
              <a:extLst>
                <a:ext uri="{FF2B5EF4-FFF2-40B4-BE49-F238E27FC236}">
                  <a16:creationId xmlns:a16="http://schemas.microsoft.com/office/drawing/2014/main" id="{E916BE68-E33C-E1FC-2D2F-B1AA6AD8344F}"/>
                </a:ext>
              </a:extLst>
            </p:cNvPr>
            <p:cNvPicPr preferRelativeResize="0"/>
            <p:nvPr/>
          </p:nvPicPr>
          <p:blipFill rotWithShape="1">
            <a:blip r:embed="rId7">
              <a:alphaModFix/>
            </a:blip>
            <a:srcRect/>
            <a:stretch/>
          </p:blipFill>
          <p:spPr>
            <a:xfrm>
              <a:off x="850325" y="2483315"/>
              <a:ext cx="490818" cy="741600"/>
            </a:xfrm>
            <a:prstGeom prst="rect">
              <a:avLst/>
            </a:prstGeom>
            <a:noFill/>
            <a:ln>
              <a:noFill/>
            </a:ln>
          </p:spPr>
        </p:pic>
        <p:sp>
          <p:nvSpPr>
            <p:cNvPr id="14" name="Google Shape;1004;gd99b63929a_0_535">
              <a:extLst>
                <a:ext uri="{FF2B5EF4-FFF2-40B4-BE49-F238E27FC236}">
                  <a16:creationId xmlns:a16="http://schemas.microsoft.com/office/drawing/2014/main" id="{E7A3EE48-BAE6-231E-301D-3E9EF6462127}"/>
                </a:ext>
              </a:extLst>
            </p:cNvPr>
            <p:cNvSpPr txBox="1"/>
            <p:nvPr/>
          </p:nvSpPr>
          <p:spPr>
            <a:xfrm>
              <a:off x="725047" y="1984900"/>
              <a:ext cx="7389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Customer</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Profile</a:t>
              </a:r>
              <a:endParaRPr sz="1400" b="0" i="0" u="none" strike="noStrike" cap="none">
                <a:solidFill>
                  <a:srgbClr val="000000"/>
                </a:solidFill>
                <a:latin typeface="Arial"/>
                <a:ea typeface="Arial"/>
                <a:cs typeface="Arial"/>
                <a:sym typeface="Arial"/>
              </a:endParaRPr>
            </a:p>
          </p:txBody>
        </p:sp>
        <p:sp>
          <p:nvSpPr>
            <p:cNvPr id="15" name="Google Shape;1005;gd99b63929a_0_535">
              <a:extLst>
                <a:ext uri="{FF2B5EF4-FFF2-40B4-BE49-F238E27FC236}">
                  <a16:creationId xmlns:a16="http://schemas.microsoft.com/office/drawing/2014/main" id="{66984279-1DFE-2334-BFB9-B17963E07973}"/>
                </a:ext>
              </a:extLst>
            </p:cNvPr>
            <p:cNvSpPr txBox="1"/>
            <p:nvPr/>
          </p:nvSpPr>
          <p:spPr>
            <a:xfrm>
              <a:off x="787545" y="3308075"/>
              <a:ext cx="5802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Product</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Catalog</a:t>
              </a:r>
              <a:endParaRPr sz="1200" b="0" i="0" u="none" strike="noStrike" cap="none">
                <a:solidFill>
                  <a:srgbClr val="000000"/>
                </a:solidFill>
                <a:latin typeface="Lato"/>
                <a:ea typeface="Lato"/>
                <a:cs typeface="Lato"/>
                <a:sym typeface="Lato"/>
              </a:endParaRPr>
            </a:p>
          </p:txBody>
        </p:sp>
        <p:pic>
          <p:nvPicPr>
            <p:cNvPr id="16" name="Google Shape;1006;gd99b63929a_0_535">
              <a:extLst>
                <a:ext uri="{FF2B5EF4-FFF2-40B4-BE49-F238E27FC236}">
                  <a16:creationId xmlns:a16="http://schemas.microsoft.com/office/drawing/2014/main" id="{9160A069-B745-B1C5-2819-3EE114C75D4C}"/>
                </a:ext>
              </a:extLst>
            </p:cNvPr>
            <p:cNvPicPr preferRelativeResize="0"/>
            <p:nvPr/>
          </p:nvPicPr>
          <p:blipFill rotWithShape="1">
            <a:blip r:embed="rId6">
              <a:alphaModFix/>
            </a:blip>
            <a:srcRect/>
            <a:stretch/>
          </p:blipFill>
          <p:spPr>
            <a:xfrm>
              <a:off x="718775" y="3890074"/>
              <a:ext cx="674570" cy="741195"/>
            </a:xfrm>
            <a:prstGeom prst="rect">
              <a:avLst/>
            </a:prstGeom>
            <a:noFill/>
            <a:ln>
              <a:noFill/>
            </a:ln>
          </p:spPr>
        </p:pic>
        <p:sp>
          <p:nvSpPr>
            <p:cNvPr id="17" name="Google Shape;1007;gd99b63929a_0_535">
              <a:extLst>
                <a:ext uri="{FF2B5EF4-FFF2-40B4-BE49-F238E27FC236}">
                  <a16:creationId xmlns:a16="http://schemas.microsoft.com/office/drawing/2014/main" id="{96E06E6C-2F75-7550-D9BE-D5385C213FEF}"/>
                </a:ext>
              </a:extLst>
            </p:cNvPr>
            <p:cNvSpPr txBox="1"/>
            <p:nvPr/>
          </p:nvSpPr>
          <p:spPr>
            <a:xfrm>
              <a:off x="765918" y="4674299"/>
              <a:ext cx="5802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Order</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Tracking</a:t>
              </a:r>
              <a:endParaRPr sz="1400" b="0" i="0" u="none" strike="noStrike" cap="none">
                <a:solidFill>
                  <a:srgbClr val="000000"/>
                </a:solidFill>
                <a:latin typeface="Arial"/>
                <a:ea typeface="Arial"/>
                <a:cs typeface="Arial"/>
                <a:sym typeface="Arial"/>
              </a:endParaRPr>
            </a:p>
          </p:txBody>
        </p:sp>
        <p:pic>
          <p:nvPicPr>
            <p:cNvPr id="18" name="Google Shape;1008;gd99b63929a_0_535">
              <a:extLst>
                <a:ext uri="{FF2B5EF4-FFF2-40B4-BE49-F238E27FC236}">
                  <a16:creationId xmlns:a16="http://schemas.microsoft.com/office/drawing/2014/main" id="{519243AC-9801-4A1C-5A14-CCCF72902F75}"/>
                </a:ext>
              </a:extLst>
            </p:cNvPr>
            <p:cNvPicPr preferRelativeResize="0"/>
            <p:nvPr/>
          </p:nvPicPr>
          <p:blipFill rotWithShape="1">
            <a:blip r:embed="rId8">
              <a:alphaModFix/>
            </a:blip>
            <a:srcRect/>
            <a:stretch/>
          </p:blipFill>
          <p:spPr>
            <a:xfrm>
              <a:off x="1567411" y="1393153"/>
              <a:ext cx="437004" cy="356214"/>
            </a:xfrm>
            <a:prstGeom prst="rect">
              <a:avLst/>
            </a:prstGeom>
            <a:noFill/>
            <a:ln>
              <a:noFill/>
            </a:ln>
          </p:spPr>
        </p:pic>
        <p:pic>
          <p:nvPicPr>
            <p:cNvPr id="19" name="Google Shape;1009;gd99b63929a_0_535">
              <a:extLst>
                <a:ext uri="{FF2B5EF4-FFF2-40B4-BE49-F238E27FC236}">
                  <a16:creationId xmlns:a16="http://schemas.microsoft.com/office/drawing/2014/main" id="{CE5FC6EE-3553-56EB-38D0-AF3164FC1F86}"/>
                </a:ext>
              </a:extLst>
            </p:cNvPr>
            <p:cNvPicPr preferRelativeResize="0"/>
            <p:nvPr/>
          </p:nvPicPr>
          <p:blipFill rotWithShape="1">
            <a:blip r:embed="rId9">
              <a:alphaModFix/>
            </a:blip>
            <a:srcRect/>
            <a:stretch/>
          </p:blipFill>
          <p:spPr>
            <a:xfrm>
              <a:off x="1567411" y="2676008"/>
              <a:ext cx="437004" cy="356214"/>
            </a:xfrm>
            <a:prstGeom prst="rect">
              <a:avLst/>
            </a:prstGeom>
            <a:noFill/>
            <a:ln>
              <a:noFill/>
            </a:ln>
          </p:spPr>
        </p:pic>
        <p:pic>
          <p:nvPicPr>
            <p:cNvPr id="20" name="Google Shape;1010;gd99b63929a_0_535">
              <a:extLst>
                <a:ext uri="{FF2B5EF4-FFF2-40B4-BE49-F238E27FC236}">
                  <a16:creationId xmlns:a16="http://schemas.microsoft.com/office/drawing/2014/main" id="{CA72072D-3829-767A-2231-4EFF29B3328F}"/>
                </a:ext>
              </a:extLst>
            </p:cNvPr>
            <p:cNvPicPr preferRelativeResize="0"/>
            <p:nvPr/>
          </p:nvPicPr>
          <p:blipFill rotWithShape="1">
            <a:blip r:embed="rId10">
              <a:alphaModFix/>
            </a:blip>
            <a:srcRect/>
            <a:stretch/>
          </p:blipFill>
          <p:spPr>
            <a:xfrm>
              <a:off x="1567411" y="4082564"/>
              <a:ext cx="437004" cy="356214"/>
            </a:xfrm>
            <a:prstGeom prst="rect">
              <a:avLst/>
            </a:prstGeom>
            <a:noFill/>
            <a:ln>
              <a:noFill/>
            </a:ln>
          </p:spPr>
        </p:pic>
        <p:pic>
          <p:nvPicPr>
            <p:cNvPr id="21" name="Google Shape;1011;gd99b63929a_0_535">
              <a:extLst>
                <a:ext uri="{FF2B5EF4-FFF2-40B4-BE49-F238E27FC236}">
                  <a16:creationId xmlns:a16="http://schemas.microsoft.com/office/drawing/2014/main" id="{203CC1B7-A970-BDA5-16E1-16E2A7D67112}"/>
                </a:ext>
              </a:extLst>
            </p:cNvPr>
            <p:cNvPicPr preferRelativeResize="0"/>
            <p:nvPr/>
          </p:nvPicPr>
          <p:blipFill rotWithShape="1">
            <a:blip r:embed="rId11">
              <a:alphaModFix/>
            </a:blip>
            <a:srcRect/>
            <a:stretch/>
          </p:blipFill>
          <p:spPr>
            <a:xfrm>
              <a:off x="2965741" y="2675822"/>
              <a:ext cx="317466" cy="356400"/>
            </a:xfrm>
            <a:prstGeom prst="rect">
              <a:avLst/>
            </a:prstGeom>
            <a:noFill/>
            <a:ln>
              <a:noFill/>
            </a:ln>
          </p:spPr>
        </p:pic>
        <p:cxnSp>
          <p:nvCxnSpPr>
            <p:cNvPr id="22" name="Google Shape;1012;gd99b63929a_0_535">
              <a:extLst>
                <a:ext uri="{FF2B5EF4-FFF2-40B4-BE49-F238E27FC236}">
                  <a16:creationId xmlns:a16="http://schemas.microsoft.com/office/drawing/2014/main" id="{219D1CD1-5E79-BDC2-16B3-8B80EBB1D8C4}"/>
                </a:ext>
              </a:extLst>
            </p:cNvPr>
            <p:cNvCxnSpPr>
              <a:stCxn id="19" idx="3"/>
              <a:endCxn id="21" idx="1"/>
            </p:cNvCxnSpPr>
            <p:nvPr/>
          </p:nvCxnSpPr>
          <p:spPr>
            <a:xfrm>
              <a:off x="2004415" y="2854115"/>
              <a:ext cx="961200" cy="0"/>
            </a:xfrm>
            <a:prstGeom prst="straightConnector1">
              <a:avLst/>
            </a:prstGeom>
            <a:noFill/>
            <a:ln w="9525" cap="flat" cmpd="sng">
              <a:solidFill>
                <a:srgbClr val="757070"/>
              </a:solidFill>
              <a:prstDash val="solid"/>
              <a:round/>
              <a:headEnd type="none" w="sm" len="sm"/>
              <a:tailEnd type="triangle" w="med" len="med"/>
            </a:ln>
          </p:spPr>
        </p:cxnSp>
        <p:cxnSp>
          <p:nvCxnSpPr>
            <p:cNvPr id="23" name="Google Shape;1013;gd99b63929a_0_535">
              <a:extLst>
                <a:ext uri="{FF2B5EF4-FFF2-40B4-BE49-F238E27FC236}">
                  <a16:creationId xmlns:a16="http://schemas.microsoft.com/office/drawing/2014/main" id="{D01F5734-2DA5-3C21-D931-B521D39DBA54}"/>
                </a:ext>
              </a:extLst>
            </p:cNvPr>
            <p:cNvCxnSpPr>
              <a:stCxn id="18" idx="3"/>
              <a:endCxn id="21" idx="1"/>
            </p:cNvCxnSpPr>
            <p:nvPr/>
          </p:nvCxnSpPr>
          <p:spPr>
            <a:xfrm>
              <a:off x="2004415" y="1571260"/>
              <a:ext cx="961200" cy="1282800"/>
            </a:xfrm>
            <a:prstGeom prst="straightConnector1">
              <a:avLst/>
            </a:prstGeom>
            <a:noFill/>
            <a:ln w="9525" cap="flat" cmpd="sng">
              <a:solidFill>
                <a:srgbClr val="757070"/>
              </a:solidFill>
              <a:prstDash val="solid"/>
              <a:round/>
              <a:headEnd type="none" w="sm" len="sm"/>
              <a:tailEnd type="triangle" w="med" len="med"/>
            </a:ln>
          </p:spPr>
        </p:cxnSp>
        <p:cxnSp>
          <p:nvCxnSpPr>
            <p:cNvPr id="24" name="Google Shape;1014;gd99b63929a_0_535">
              <a:extLst>
                <a:ext uri="{FF2B5EF4-FFF2-40B4-BE49-F238E27FC236}">
                  <a16:creationId xmlns:a16="http://schemas.microsoft.com/office/drawing/2014/main" id="{51DEB3B9-DF09-93CC-C9F5-FD3E4FA73652}"/>
                </a:ext>
              </a:extLst>
            </p:cNvPr>
            <p:cNvCxnSpPr>
              <a:stCxn id="20" idx="3"/>
              <a:endCxn id="21" idx="1"/>
            </p:cNvCxnSpPr>
            <p:nvPr/>
          </p:nvCxnSpPr>
          <p:spPr>
            <a:xfrm rot="10800000" flipH="1">
              <a:off x="2004415" y="2853971"/>
              <a:ext cx="961200" cy="1406700"/>
            </a:xfrm>
            <a:prstGeom prst="straightConnector1">
              <a:avLst/>
            </a:prstGeom>
            <a:noFill/>
            <a:ln w="9525" cap="flat" cmpd="sng">
              <a:solidFill>
                <a:srgbClr val="757070"/>
              </a:solidFill>
              <a:prstDash val="solid"/>
              <a:round/>
              <a:headEnd type="none" w="sm" len="sm"/>
              <a:tailEnd type="triangle" w="med" len="med"/>
            </a:ln>
          </p:spPr>
        </p:cxnSp>
        <p:cxnSp>
          <p:nvCxnSpPr>
            <p:cNvPr id="25" name="Google Shape;1015;gd99b63929a_0_535">
              <a:extLst>
                <a:ext uri="{FF2B5EF4-FFF2-40B4-BE49-F238E27FC236}">
                  <a16:creationId xmlns:a16="http://schemas.microsoft.com/office/drawing/2014/main" id="{2CDBCD24-D624-9219-EB25-9C8E78E881F4}"/>
                </a:ext>
              </a:extLst>
            </p:cNvPr>
            <p:cNvCxnSpPr/>
            <p:nvPr/>
          </p:nvCxnSpPr>
          <p:spPr>
            <a:xfrm>
              <a:off x="3406636" y="2854115"/>
              <a:ext cx="438900" cy="0"/>
            </a:xfrm>
            <a:prstGeom prst="straightConnector1">
              <a:avLst/>
            </a:prstGeom>
            <a:noFill/>
            <a:ln w="9525" cap="flat" cmpd="sng">
              <a:solidFill>
                <a:srgbClr val="757070"/>
              </a:solidFill>
              <a:prstDash val="solid"/>
              <a:round/>
              <a:headEnd type="none" w="sm" len="sm"/>
              <a:tailEnd type="triangle" w="med" len="med"/>
            </a:ln>
          </p:spPr>
        </p:cxnSp>
        <p:pic>
          <p:nvPicPr>
            <p:cNvPr id="26" name="Google Shape;1016;gd99b63929a_0_535">
              <a:extLst>
                <a:ext uri="{FF2B5EF4-FFF2-40B4-BE49-F238E27FC236}">
                  <a16:creationId xmlns:a16="http://schemas.microsoft.com/office/drawing/2014/main" id="{90D3D448-4BD9-5F67-2988-04BFABCC9C83}"/>
                </a:ext>
              </a:extLst>
            </p:cNvPr>
            <p:cNvPicPr preferRelativeResize="0"/>
            <p:nvPr/>
          </p:nvPicPr>
          <p:blipFill rotWithShape="1">
            <a:blip r:embed="rId12">
              <a:alphaModFix/>
            </a:blip>
            <a:srcRect/>
            <a:stretch/>
          </p:blipFill>
          <p:spPr>
            <a:xfrm>
              <a:off x="3968867" y="2676008"/>
              <a:ext cx="437004" cy="356214"/>
            </a:xfrm>
            <a:prstGeom prst="rect">
              <a:avLst/>
            </a:prstGeom>
            <a:noFill/>
            <a:ln>
              <a:noFill/>
            </a:ln>
          </p:spPr>
        </p:pic>
        <p:sp>
          <p:nvSpPr>
            <p:cNvPr id="27" name="Google Shape;1017;gd99b63929a_0_535">
              <a:extLst>
                <a:ext uri="{FF2B5EF4-FFF2-40B4-BE49-F238E27FC236}">
                  <a16:creationId xmlns:a16="http://schemas.microsoft.com/office/drawing/2014/main" id="{0D3EECF4-7FD9-2885-3A19-EC0ADB381ED1}"/>
                </a:ext>
              </a:extLst>
            </p:cNvPr>
            <p:cNvSpPr txBox="1"/>
            <p:nvPr/>
          </p:nvSpPr>
          <p:spPr>
            <a:xfrm>
              <a:off x="2887221" y="3177500"/>
              <a:ext cx="5370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Master</a:t>
              </a:r>
              <a:endParaRPr sz="1400" b="0" i="0" u="none" strike="noStrike" cap="none">
                <a:solidFill>
                  <a:srgbClr val="000000"/>
                </a:solidFill>
                <a:latin typeface="Arial"/>
                <a:ea typeface="Arial"/>
                <a:cs typeface="Arial"/>
                <a:sym typeface="Arial"/>
              </a:endParaRPr>
            </a:p>
          </p:txBody>
        </p:sp>
        <p:sp>
          <p:nvSpPr>
            <p:cNvPr id="28" name="Google Shape;1018;gd99b63929a_0_535">
              <a:extLst>
                <a:ext uri="{FF2B5EF4-FFF2-40B4-BE49-F238E27FC236}">
                  <a16:creationId xmlns:a16="http://schemas.microsoft.com/office/drawing/2014/main" id="{1FAD3176-838E-2A98-1DDC-DC7DF367F968}"/>
                </a:ext>
              </a:extLst>
            </p:cNvPr>
            <p:cNvSpPr txBox="1"/>
            <p:nvPr/>
          </p:nvSpPr>
          <p:spPr>
            <a:xfrm>
              <a:off x="3905315" y="3177503"/>
              <a:ext cx="5577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Compile</a:t>
              </a:r>
              <a:endParaRPr sz="1400" b="0" i="0" u="none" strike="noStrike" cap="none">
                <a:solidFill>
                  <a:srgbClr val="000000"/>
                </a:solidFill>
                <a:latin typeface="Arial"/>
                <a:ea typeface="Arial"/>
                <a:cs typeface="Arial"/>
                <a:sym typeface="Arial"/>
              </a:endParaRPr>
            </a:p>
          </p:txBody>
        </p:sp>
        <p:cxnSp>
          <p:nvCxnSpPr>
            <p:cNvPr id="29" name="Google Shape;1019;gd99b63929a_0_535">
              <a:extLst>
                <a:ext uri="{FF2B5EF4-FFF2-40B4-BE49-F238E27FC236}">
                  <a16:creationId xmlns:a16="http://schemas.microsoft.com/office/drawing/2014/main" id="{F0DAC942-6813-8FB6-AE2A-C81EB1E022BD}"/>
                </a:ext>
              </a:extLst>
            </p:cNvPr>
            <p:cNvCxnSpPr/>
            <p:nvPr/>
          </p:nvCxnSpPr>
          <p:spPr>
            <a:xfrm>
              <a:off x="4529300" y="2854115"/>
              <a:ext cx="438900" cy="0"/>
            </a:xfrm>
            <a:prstGeom prst="straightConnector1">
              <a:avLst/>
            </a:prstGeom>
            <a:noFill/>
            <a:ln w="9525" cap="flat" cmpd="sng">
              <a:solidFill>
                <a:srgbClr val="757070"/>
              </a:solidFill>
              <a:prstDash val="solid"/>
              <a:round/>
              <a:headEnd type="none" w="sm" len="sm"/>
              <a:tailEnd type="triangle" w="med" len="med"/>
            </a:ln>
          </p:spPr>
        </p:cxnSp>
        <p:pic>
          <p:nvPicPr>
            <p:cNvPr id="30" name="Google Shape;1020;gd99b63929a_0_535">
              <a:extLst>
                <a:ext uri="{FF2B5EF4-FFF2-40B4-BE49-F238E27FC236}">
                  <a16:creationId xmlns:a16="http://schemas.microsoft.com/office/drawing/2014/main" id="{97CF1692-2F20-59AD-7123-6A2CB3AF8A46}"/>
                </a:ext>
              </a:extLst>
            </p:cNvPr>
            <p:cNvPicPr preferRelativeResize="0"/>
            <p:nvPr/>
          </p:nvPicPr>
          <p:blipFill rotWithShape="1">
            <a:blip r:embed="rId13">
              <a:alphaModFix/>
            </a:blip>
            <a:srcRect/>
            <a:stretch/>
          </p:blipFill>
          <p:spPr>
            <a:xfrm>
              <a:off x="5091531" y="2675798"/>
              <a:ext cx="437233" cy="356400"/>
            </a:xfrm>
            <a:prstGeom prst="rect">
              <a:avLst/>
            </a:prstGeom>
            <a:noFill/>
            <a:ln>
              <a:noFill/>
            </a:ln>
          </p:spPr>
        </p:pic>
        <p:sp>
          <p:nvSpPr>
            <p:cNvPr id="31" name="Google Shape;1021;gd99b63929a_0_535">
              <a:extLst>
                <a:ext uri="{FF2B5EF4-FFF2-40B4-BE49-F238E27FC236}">
                  <a16:creationId xmlns:a16="http://schemas.microsoft.com/office/drawing/2014/main" id="{4782B350-715D-BD5A-2AC4-580BDC52336B}"/>
                </a:ext>
              </a:extLst>
            </p:cNvPr>
            <p:cNvSpPr txBox="1"/>
            <p:nvPr/>
          </p:nvSpPr>
          <p:spPr>
            <a:xfrm>
              <a:off x="5029621" y="3177503"/>
              <a:ext cx="5610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Package</a:t>
              </a:r>
              <a:endParaRPr sz="1400" b="0" i="0" u="none" strike="noStrike" cap="none">
                <a:solidFill>
                  <a:srgbClr val="000000"/>
                </a:solidFill>
                <a:latin typeface="Arial"/>
                <a:ea typeface="Arial"/>
                <a:cs typeface="Arial"/>
                <a:sym typeface="Arial"/>
              </a:endParaRPr>
            </a:p>
          </p:txBody>
        </p:sp>
        <p:cxnSp>
          <p:nvCxnSpPr>
            <p:cNvPr id="32" name="Google Shape;1022;gd99b63929a_0_535">
              <a:extLst>
                <a:ext uri="{FF2B5EF4-FFF2-40B4-BE49-F238E27FC236}">
                  <a16:creationId xmlns:a16="http://schemas.microsoft.com/office/drawing/2014/main" id="{46FB9079-0B70-E2E7-F6F8-4F7B63E0CAC7}"/>
                </a:ext>
              </a:extLst>
            </p:cNvPr>
            <p:cNvCxnSpPr/>
            <p:nvPr/>
          </p:nvCxnSpPr>
          <p:spPr>
            <a:xfrm>
              <a:off x="5652193" y="2854115"/>
              <a:ext cx="438900" cy="0"/>
            </a:xfrm>
            <a:prstGeom prst="straightConnector1">
              <a:avLst/>
            </a:prstGeom>
            <a:noFill/>
            <a:ln w="9525" cap="flat" cmpd="sng">
              <a:solidFill>
                <a:srgbClr val="757070"/>
              </a:solidFill>
              <a:prstDash val="solid"/>
              <a:round/>
              <a:headEnd type="none" w="sm" len="sm"/>
              <a:tailEnd type="triangle" w="med" len="med"/>
            </a:ln>
          </p:spPr>
        </p:cxnSp>
        <p:sp>
          <p:nvSpPr>
            <p:cNvPr id="33" name="Google Shape;1023;gd99b63929a_0_535">
              <a:extLst>
                <a:ext uri="{FF2B5EF4-FFF2-40B4-BE49-F238E27FC236}">
                  <a16:creationId xmlns:a16="http://schemas.microsoft.com/office/drawing/2014/main" id="{2765604E-DEE8-6E2B-810D-F1255542FF50}"/>
                </a:ext>
              </a:extLst>
            </p:cNvPr>
            <p:cNvSpPr/>
            <p:nvPr/>
          </p:nvSpPr>
          <p:spPr>
            <a:xfrm>
              <a:off x="8243513" y="2682402"/>
              <a:ext cx="738900" cy="343200"/>
            </a:xfrm>
            <a:prstGeom prst="roundRect">
              <a:avLst>
                <a:gd name="adj" fmla="val 50000"/>
              </a:avLst>
            </a:prstGeom>
            <a:solidFill>
              <a:srgbClr val="F7CAA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 name="Google Shape;1024;gd99b63929a_0_535">
              <a:extLst>
                <a:ext uri="{FF2B5EF4-FFF2-40B4-BE49-F238E27FC236}">
                  <a16:creationId xmlns:a16="http://schemas.microsoft.com/office/drawing/2014/main" id="{641A3289-2210-2DE8-1381-6399CE168623}"/>
                </a:ext>
              </a:extLst>
            </p:cNvPr>
            <p:cNvSpPr txBox="1"/>
            <p:nvPr/>
          </p:nvSpPr>
          <p:spPr>
            <a:xfrm>
              <a:off x="4703960" y="1837970"/>
              <a:ext cx="11607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Build &amp;</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Integration Team</a:t>
              </a:r>
              <a:endParaRPr sz="1400" b="0" i="0" u="none" strike="noStrike" cap="none">
                <a:solidFill>
                  <a:srgbClr val="000000"/>
                </a:solidFill>
                <a:latin typeface="Arial"/>
                <a:ea typeface="Arial"/>
                <a:cs typeface="Arial"/>
                <a:sym typeface="Arial"/>
              </a:endParaRPr>
            </a:p>
          </p:txBody>
        </p:sp>
        <p:sp>
          <p:nvSpPr>
            <p:cNvPr id="35" name="Google Shape;1025;gd99b63929a_0_535">
              <a:extLst>
                <a:ext uri="{FF2B5EF4-FFF2-40B4-BE49-F238E27FC236}">
                  <a16:creationId xmlns:a16="http://schemas.microsoft.com/office/drawing/2014/main" id="{89643DF7-6F79-20A1-5835-B69EFC0CA07A}"/>
                </a:ext>
              </a:extLst>
            </p:cNvPr>
            <p:cNvSpPr/>
            <p:nvPr/>
          </p:nvSpPr>
          <p:spPr>
            <a:xfrm rot="-5400000">
              <a:off x="5156268" y="529"/>
              <a:ext cx="255900" cy="4794000"/>
            </a:xfrm>
            <a:prstGeom prst="rightBrace">
              <a:avLst>
                <a:gd name="adj1" fmla="val 24000"/>
                <a:gd name="adj2" fmla="val 50000"/>
              </a:avLst>
            </a:prstGeom>
            <a:noFill/>
            <a:ln w="9525" cap="flat" cmpd="sng">
              <a:solidFill>
                <a:srgbClr val="75707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cxnSp>
          <p:nvCxnSpPr>
            <p:cNvPr id="36" name="Google Shape;1026;gd99b63929a_0_535">
              <a:extLst>
                <a:ext uri="{FF2B5EF4-FFF2-40B4-BE49-F238E27FC236}">
                  <a16:creationId xmlns:a16="http://schemas.microsoft.com/office/drawing/2014/main" id="{F41D961A-B0EA-052D-5884-12AC35A1DC1E}"/>
                </a:ext>
              </a:extLst>
            </p:cNvPr>
            <p:cNvCxnSpPr/>
            <p:nvPr/>
          </p:nvCxnSpPr>
          <p:spPr>
            <a:xfrm>
              <a:off x="2583548" y="1571260"/>
              <a:ext cx="0" cy="2689200"/>
            </a:xfrm>
            <a:prstGeom prst="straightConnector1">
              <a:avLst/>
            </a:prstGeom>
            <a:noFill/>
            <a:ln w="9525" cap="flat" cmpd="sng">
              <a:solidFill>
                <a:schemeClr val="dk1"/>
              </a:solidFill>
              <a:prstDash val="dash"/>
              <a:round/>
              <a:headEnd type="none" w="sm" len="sm"/>
              <a:tailEnd type="none" w="sm" len="sm"/>
            </a:ln>
          </p:spPr>
        </p:cxnSp>
        <p:cxnSp>
          <p:nvCxnSpPr>
            <p:cNvPr id="37" name="Google Shape;1027;gd99b63929a_0_535">
              <a:extLst>
                <a:ext uri="{FF2B5EF4-FFF2-40B4-BE49-F238E27FC236}">
                  <a16:creationId xmlns:a16="http://schemas.microsoft.com/office/drawing/2014/main" id="{D290E6E2-F370-0B10-1CD4-B9914EB73D59}"/>
                </a:ext>
              </a:extLst>
            </p:cNvPr>
            <p:cNvCxnSpPr/>
            <p:nvPr/>
          </p:nvCxnSpPr>
          <p:spPr>
            <a:xfrm>
              <a:off x="7851700" y="1571260"/>
              <a:ext cx="0" cy="2689200"/>
            </a:xfrm>
            <a:prstGeom prst="straightConnector1">
              <a:avLst/>
            </a:prstGeom>
            <a:noFill/>
            <a:ln w="9525" cap="flat" cmpd="sng">
              <a:solidFill>
                <a:schemeClr val="dk1"/>
              </a:solidFill>
              <a:prstDash val="dash"/>
              <a:round/>
              <a:headEnd type="none" w="sm" len="sm"/>
              <a:tailEnd type="none" w="sm" len="sm"/>
            </a:ln>
          </p:spPr>
        </p:cxnSp>
        <p:pic>
          <p:nvPicPr>
            <p:cNvPr id="38" name="Google Shape;1028;gd99b63929a_0_535">
              <a:extLst>
                <a:ext uri="{FF2B5EF4-FFF2-40B4-BE49-F238E27FC236}">
                  <a16:creationId xmlns:a16="http://schemas.microsoft.com/office/drawing/2014/main" id="{94CE7C8C-305C-A32A-E0EF-5AF905911174}"/>
                </a:ext>
              </a:extLst>
            </p:cNvPr>
            <p:cNvPicPr preferRelativeResize="0"/>
            <p:nvPr/>
          </p:nvPicPr>
          <p:blipFill rotWithShape="1">
            <a:blip r:embed="rId14">
              <a:alphaModFix/>
            </a:blip>
            <a:srcRect/>
            <a:stretch/>
          </p:blipFill>
          <p:spPr>
            <a:xfrm>
              <a:off x="6214424" y="2675798"/>
              <a:ext cx="312581" cy="356400"/>
            </a:xfrm>
            <a:prstGeom prst="rect">
              <a:avLst/>
            </a:prstGeom>
            <a:noFill/>
            <a:ln>
              <a:noFill/>
            </a:ln>
          </p:spPr>
        </p:pic>
        <p:sp>
          <p:nvSpPr>
            <p:cNvPr id="39" name="Google Shape;1029;gd99b63929a_0_535">
              <a:extLst>
                <a:ext uri="{FF2B5EF4-FFF2-40B4-BE49-F238E27FC236}">
                  <a16:creationId xmlns:a16="http://schemas.microsoft.com/office/drawing/2014/main" id="{5E565A0C-137E-AB2A-AC9C-AC253E387D74}"/>
                </a:ext>
              </a:extLst>
            </p:cNvPr>
            <p:cNvSpPr txBox="1"/>
            <p:nvPr/>
          </p:nvSpPr>
          <p:spPr>
            <a:xfrm>
              <a:off x="5991603" y="3085170"/>
              <a:ext cx="7581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Automated</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unit tests</a:t>
              </a:r>
              <a:endParaRPr sz="1400" b="0" i="0" u="none" strike="noStrike" cap="none">
                <a:solidFill>
                  <a:srgbClr val="000000"/>
                </a:solidFill>
                <a:latin typeface="Arial"/>
                <a:ea typeface="Arial"/>
                <a:cs typeface="Arial"/>
                <a:sym typeface="Arial"/>
              </a:endParaRPr>
            </a:p>
          </p:txBody>
        </p:sp>
        <p:pic>
          <p:nvPicPr>
            <p:cNvPr id="40" name="Google Shape;1030;gd99b63929a_0_535" descr="Logo&#10;&#10;Description automatically generated">
              <a:extLst>
                <a:ext uri="{FF2B5EF4-FFF2-40B4-BE49-F238E27FC236}">
                  <a16:creationId xmlns:a16="http://schemas.microsoft.com/office/drawing/2014/main" id="{601A05D3-F094-AD75-3AEB-EA5C28074E1B}"/>
                </a:ext>
              </a:extLst>
            </p:cNvPr>
            <p:cNvPicPr preferRelativeResize="0"/>
            <p:nvPr/>
          </p:nvPicPr>
          <p:blipFill rotWithShape="1">
            <a:blip r:embed="rId15">
              <a:alphaModFix/>
            </a:blip>
            <a:srcRect/>
            <a:stretch/>
          </p:blipFill>
          <p:spPr>
            <a:xfrm>
              <a:off x="7212665" y="2667118"/>
              <a:ext cx="345188" cy="356400"/>
            </a:xfrm>
            <a:prstGeom prst="rect">
              <a:avLst/>
            </a:prstGeom>
            <a:noFill/>
            <a:ln>
              <a:noFill/>
            </a:ln>
          </p:spPr>
        </p:pic>
        <p:sp>
          <p:nvSpPr>
            <p:cNvPr id="41" name="Google Shape;1031;gd99b63929a_0_535">
              <a:extLst>
                <a:ext uri="{FF2B5EF4-FFF2-40B4-BE49-F238E27FC236}">
                  <a16:creationId xmlns:a16="http://schemas.microsoft.com/office/drawing/2014/main" id="{9EC1D993-A0CF-D06E-3F7F-98577328C347}"/>
                </a:ext>
              </a:extLst>
            </p:cNvPr>
            <p:cNvSpPr txBox="1"/>
            <p:nvPr/>
          </p:nvSpPr>
          <p:spPr>
            <a:xfrm>
              <a:off x="7006147" y="3085170"/>
              <a:ext cx="7581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Automated</a:t>
              </a:r>
              <a:br>
                <a:rPr lang="en-GB" sz="1200" b="0" i="0" u="none" strike="noStrike" cap="none">
                  <a:solidFill>
                    <a:srgbClr val="000000"/>
                  </a:solidFill>
                  <a:latin typeface="Lato"/>
                  <a:ea typeface="Lato"/>
                  <a:cs typeface="Lato"/>
                  <a:sym typeface="Lato"/>
                </a:rPr>
              </a:br>
              <a:r>
                <a:rPr lang="en-GB" sz="1200" b="0" i="0" u="none" strike="noStrike" cap="none">
                  <a:solidFill>
                    <a:srgbClr val="000000"/>
                  </a:solidFill>
                  <a:latin typeface="Lato"/>
                  <a:ea typeface="Lato"/>
                  <a:cs typeface="Lato"/>
                  <a:sym typeface="Lato"/>
                </a:rPr>
                <a:t>UI tests</a:t>
              </a:r>
              <a:endParaRPr sz="1400" b="0" i="0" u="none" strike="noStrike" cap="none">
                <a:solidFill>
                  <a:srgbClr val="000000"/>
                </a:solidFill>
                <a:latin typeface="Arial"/>
                <a:ea typeface="Arial"/>
                <a:cs typeface="Arial"/>
                <a:sym typeface="Arial"/>
              </a:endParaRPr>
            </a:p>
          </p:txBody>
        </p:sp>
        <p:cxnSp>
          <p:nvCxnSpPr>
            <p:cNvPr id="42" name="Google Shape;1032;gd99b63929a_0_535">
              <a:extLst>
                <a:ext uri="{FF2B5EF4-FFF2-40B4-BE49-F238E27FC236}">
                  <a16:creationId xmlns:a16="http://schemas.microsoft.com/office/drawing/2014/main" id="{A104FE78-10CB-4B37-9F75-B118A48471F5}"/>
                </a:ext>
              </a:extLst>
            </p:cNvPr>
            <p:cNvCxnSpPr/>
            <p:nvPr/>
          </p:nvCxnSpPr>
          <p:spPr>
            <a:xfrm>
              <a:off x="6650434" y="2854115"/>
              <a:ext cx="438900" cy="0"/>
            </a:xfrm>
            <a:prstGeom prst="straightConnector1">
              <a:avLst/>
            </a:prstGeom>
            <a:noFill/>
            <a:ln w="9525" cap="flat" cmpd="sng">
              <a:solidFill>
                <a:srgbClr val="757070"/>
              </a:solidFill>
              <a:prstDash val="solid"/>
              <a:round/>
              <a:headEnd type="none" w="sm" len="sm"/>
              <a:tailEnd type="triangle" w="med" len="med"/>
            </a:ln>
          </p:spPr>
        </p:cxnSp>
        <p:cxnSp>
          <p:nvCxnSpPr>
            <p:cNvPr id="43" name="Google Shape;1033;gd99b63929a_0_535">
              <a:extLst>
                <a:ext uri="{FF2B5EF4-FFF2-40B4-BE49-F238E27FC236}">
                  <a16:creationId xmlns:a16="http://schemas.microsoft.com/office/drawing/2014/main" id="{89D81DEF-03D6-CED1-70FA-37FB2F9F5C37}"/>
                </a:ext>
              </a:extLst>
            </p:cNvPr>
            <p:cNvCxnSpPr/>
            <p:nvPr/>
          </p:nvCxnSpPr>
          <p:spPr>
            <a:xfrm>
              <a:off x="7681280" y="2854115"/>
              <a:ext cx="438900" cy="0"/>
            </a:xfrm>
            <a:prstGeom prst="straightConnector1">
              <a:avLst/>
            </a:prstGeom>
            <a:noFill/>
            <a:ln w="9525" cap="flat" cmpd="sng">
              <a:solidFill>
                <a:srgbClr val="757070"/>
              </a:solidFill>
              <a:prstDash val="solid"/>
              <a:round/>
              <a:headEnd type="none" w="sm" len="sm"/>
              <a:tailEnd type="triangle" w="med" len="med"/>
            </a:ln>
          </p:spPr>
        </p:cxnSp>
        <p:pic>
          <p:nvPicPr>
            <p:cNvPr id="44" name="Google Shape;1034;gd99b63929a_0_535">
              <a:extLst>
                <a:ext uri="{FF2B5EF4-FFF2-40B4-BE49-F238E27FC236}">
                  <a16:creationId xmlns:a16="http://schemas.microsoft.com/office/drawing/2014/main" id="{6AF340E0-2F30-01EC-F277-12CBA3384355}"/>
                </a:ext>
              </a:extLst>
            </p:cNvPr>
            <p:cNvPicPr preferRelativeResize="0"/>
            <p:nvPr/>
          </p:nvPicPr>
          <p:blipFill rotWithShape="1">
            <a:blip r:embed="rId16">
              <a:alphaModFix/>
            </a:blip>
            <a:srcRect/>
            <a:stretch/>
          </p:blipFill>
          <p:spPr>
            <a:xfrm>
              <a:off x="5088330" y="1236859"/>
              <a:ext cx="391835" cy="492823"/>
            </a:xfrm>
            <a:prstGeom prst="rect">
              <a:avLst/>
            </a:prstGeom>
            <a:noFill/>
            <a:ln>
              <a:noFill/>
            </a:ln>
          </p:spPr>
        </p:pic>
      </p:grpSp>
    </p:spTree>
    <p:extLst>
      <p:ext uri="{BB962C8B-B14F-4D97-AF65-F5344CB8AC3E}">
        <p14:creationId xmlns:p14="http://schemas.microsoft.com/office/powerpoint/2010/main" val="1496156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40;gd287c8a928_1_5">
            <a:extLst>
              <a:ext uri="{FF2B5EF4-FFF2-40B4-BE49-F238E27FC236}">
                <a16:creationId xmlns:a16="http://schemas.microsoft.com/office/drawing/2014/main" id="{C99C5F67-6ED9-DCD6-C41D-C80E830EDFFB}"/>
              </a:ext>
            </a:extLst>
          </p:cNvPr>
          <p:cNvSpPr txBox="1"/>
          <p:nvPr/>
        </p:nvSpPr>
        <p:spPr>
          <a:xfrm>
            <a:off x="305074" y="1848103"/>
            <a:ext cx="7781400" cy="769411"/>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GB" sz="2400" b="0" i="0" u="none" strike="noStrike" cap="none" dirty="0">
                <a:latin typeface="Proxima Nova"/>
                <a:ea typeface="Proxima Nova"/>
                <a:cs typeface="Proxima Nova"/>
                <a:sym typeface="Proxima Nova"/>
              </a:rPr>
              <a:t>Benefits of Introducing Continuous Integration</a:t>
            </a:r>
            <a:endParaRPr sz="2400" b="0" i="0" u="none" strike="noStrike" cap="none" dirty="0">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latin typeface="Arial"/>
              <a:ea typeface="Arial"/>
              <a:cs typeface="Arial"/>
              <a:sym typeface="Arial"/>
            </a:endParaRPr>
          </a:p>
        </p:txBody>
      </p:sp>
      <p:sp>
        <p:nvSpPr>
          <p:cNvPr id="10" name="Google Shape;1041;gd287c8a928_1_5">
            <a:extLst>
              <a:ext uri="{FF2B5EF4-FFF2-40B4-BE49-F238E27FC236}">
                <a16:creationId xmlns:a16="http://schemas.microsoft.com/office/drawing/2014/main" id="{BA0E7C28-40FC-2B44-D4FD-386368E0EEE9}"/>
              </a:ext>
            </a:extLst>
          </p:cNvPr>
          <p:cNvSpPr txBox="1"/>
          <p:nvPr/>
        </p:nvSpPr>
        <p:spPr>
          <a:xfrm>
            <a:off x="430674" y="2590828"/>
            <a:ext cx="5777700" cy="3139291"/>
          </a:xfrm>
          <a:prstGeom prst="rect">
            <a:avLst/>
          </a:prstGeom>
          <a:noFill/>
          <a:ln>
            <a:noFill/>
          </a:ln>
        </p:spPr>
        <p:txBody>
          <a:bodyPr spcFirstLastPara="1" wrap="square" lIns="91425" tIns="91425" rIns="91425" bIns="91425" anchor="t" anchorCtr="0">
            <a:spAutoFit/>
          </a:bodyPr>
          <a:lstStyle/>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Reduced risk</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Increased confidence</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Better quality code</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Ready-to-ship code</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Systematic versioning</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Code quality trend analysis </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3"/>
                  </a:ext>
                </a:extLst>
              </a:rPr>
              <a:t>Time taken for market</a:t>
            </a:r>
            <a:r>
              <a:rPr lang="en-GB" sz="1600" b="0" i="0" u="none" strike="noStrike" cap="none">
                <a:solidFill>
                  <a:srgbClr val="000000"/>
                </a:solidFill>
                <a:latin typeface="Arial"/>
                <a:ea typeface="Arial"/>
                <a:cs typeface="Arial"/>
                <a:sym typeface="Arial"/>
              </a:rPr>
              <a:t>ing</a:t>
            </a:r>
            <a:endParaRPr sz="1600" b="0" i="0" u="none" strike="noStrike" cap="none">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Reduced cost</a:t>
            </a:r>
            <a:endParaRPr sz="16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214364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46;p12">
            <a:extLst>
              <a:ext uri="{FF2B5EF4-FFF2-40B4-BE49-F238E27FC236}">
                <a16:creationId xmlns:a16="http://schemas.microsoft.com/office/drawing/2014/main" id="{D9C9DA95-E745-5CED-7753-B51508036A1E}"/>
              </a:ext>
            </a:extLst>
          </p:cNvPr>
          <p:cNvSpPr/>
          <p:nvPr/>
        </p:nvSpPr>
        <p:spPr>
          <a:xfrm>
            <a:off x="2243958" y="1396189"/>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Continuous Integration: Summary</a:t>
            </a:r>
            <a:endParaRPr sz="2540" b="0" i="0" u="none" strike="noStrike" cap="none" dirty="0">
              <a:latin typeface="Arial"/>
              <a:ea typeface="Arial"/>
              <a:cs typeface="Arial"/>
              <a:sym typeface="Arial"/>
            </a:endParaRPr>
          </a:p>
        </p:txBody>
      </p:sp>
      <p:pic>
        <p:nvPicPr>
          <p:cNvPr id="11" name="Google Shape;1048;p12">
            <a:extLst>
              <a:ext uri="{FF2B5EF4-FFF2-40B4-BE49-F238E27FC236}">
                <a16:creationId xmlns:a16="http://schemas.microsoft.com/office/drawing/2014/main" id="{9ED2E4F8-A063-55B6-D891-3A61B4BBA27B}"/>
              </a:ext>
            </a:extLst>
          </p:cNvPr>
          <p:cNvPicPr preferRelativeResize="0"/>
          <p:nvPr/>
        </p:nvPicPr>
        <p:blipFill rotWithShape="1">
          <a:blip r:embed="rId6">
            <a:alphaModFix/>
          </a:blip>
          <a:srcRect/>
          <a:stretch/>
        </p:blipFill>
        <p:spPr>
          <a:xfrm>
            <a:off x="2488437" y="2158474"/>
            <a:ext cx="7019694" cy="3993581"/>
          </a:xfrm>
          <a:prstGeom prst="rect">
            <a:avLst/>
          </a:prstGeom>
          <a:noFill/>
          <a:ln>
            <a:noFill/>
          </a:ln>
        </p:spPr>
      </p:pic>
    </p:spTree>
    <p:extLst>
      <p:ext uri="{BB962C8B-B14F-4D97-AF65-F5344CB8AC3E}">
        <p14:creationId xmlns:p14="http://schemas.microsoft.com/office/powerpoint/2010/main" val="259772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54;gd287c8a928_0_18">
            <a:extLst>
              <a:ext uri="{FF2B5EF4-FFF2-40B4-BE49-F238E27FC236}">
                <a16:creationId xmlns:a16="http://schemas.microsoft.com/office/drawing/2014/main" id="{DBD7F968-675F-EDFF-9FDE-08C4F4E19BEA}"/>
              </a:ext>
            </a:extLst>
          </p:cNvPr>
          <p:cNvSpPr txBox="1"/>
          <p:nvPr/>
        </p:nvSpPr>
        <p:spPr>
          <a:xfrm>
            <a:off x="1909417" y="1828361"/>
            <a:ext cx="81435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2500" b="0" i="0" u="none" strike="noStrike" cap="none" dirty="0">
                <a:latin typeface="Proxima Nova"/>
                <a:ea typeface="Proxima Nova"/>
                <a:cs typeface="Proxima Nova"/>
                <a:sym typeface="Proxima Nova"/>
              </a:rPr>
              <a:t>Principles of Continuous Integration   </a:t>
            </a:r>
            <a:endParaRPr sz="2500" b="0" i="0" u="none" strike="noStrike" cap="none" dirty="0">
              <a:latin typeface="Proxima Nova"/>
              <a:ea typeface="Proxima Nova"/>
              <a:cs typeface="Proxima Nova"/>
              <a:sym typeface="Proxima Nova"/>
            </a:endParaRPr>
          </a:p>
        </p:txBody>
      </p:sp>
      <p:sp>
        <p:nvSpPr>
          <p:cNvPr id="10" name="Google Shape;1055;gd287c8a928_0_18">
            <a:extLst>
              <a:ext uri="{FF2B5EF4-FFF2-40B4-BE49-F238E27FC236}">
                <a16:creationId xmlns:a16="http://schemas.microsoft.com/office/drawing/2014/main" id="{BF54D418-31E1-370F-F715-2ADCA5A45F1D}"/>
              </a:ext>
            </a:extLst>
          </p:cNvPr>
          <p:cNvSpPr txBox="1"/>
          <p:nvPr/>
        </p:nvSpPr>
        <p:spPr>
          <a:xfrm>
            <a:off x="2033817" y="2613686"/>
            <a:ext cx="8086500" cy="2769959"/>
          </a:xfrm>
          <a:prstGeom prst="rect">
            <a:avLst/>
          </a:prstGeom>
          <a:noFill/>
          <a:ln>
            <a:noFill/>
          </a:ln>
        </p:spPr>
        <p:txBody>
          <a:bodyPr spcFirstLastPara="1" wrap="square" lIns="91425" tIns="91425" rIns="91425" bIns="91425" anchor="t" anchorCtr="0">
            <a:spAutoFit/>
          </a:bodyPr>
          <a:lstStyle/>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4"/>
                  </a:ext>
                </a:extLst>
              </a:rPr>
              <a:t>A single central repository where </a:t>
            </a: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5"/>
                  </a:ext>
                </a:extLst>
              </a:rPr>
              <a:t>the code </a:t>
            </a:r>
            <a:r>
              <a:rPr lang="en-GB" sz="1600" b="0" i="0" u="none" strike="noStrike" cap="none" dirty="0">
                <a:solidFill>
                  <a:srgbClr val="000000"/>
                </a:solidFill>
                <a:latin typeface="Arial"/>
                <a:ea typeface="Arial"/>
                <a:cs typeface="Arial"/>
                <a:sym typeface="Arial"/>
              </a:rPr>
              <a:t>is stored.</a:t>
            </a:r>
            <a:endParaRPr sz="1600" b="0" i="0" u="none" strike="noStrike" cap="none" dirty="0">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Developers check in or commit their code frequently</a:t>
            </a:r>
            <a:endParaRPr sz="1600" b="0" i="0" u="none" strike="noStrike" cap="none" dirty="0">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Build should be triggered every time a developer checks in code</a:t>
            </a:r>
            <a:endParaRPr sz="1600" b="0" i="0" u="none" strike="noStrike" cap="none" dirty="0">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Build should be automated and fast </a:t>
            </a:r>
            <a:endParaRPr sz="1600" b="0" i="0" u="none" strike="noStrike" cap="none" dirty="0">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Build should compile the code as well as run automated test suites</a:t>
            </a:r>
            <a:endParaRPr sz="1600" b="0" i="0" u="none" strike="noStrike" cap="none" dirty="0">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Fixing a failed build should be the top priority for developers</a:t>
            </a:r>
            <a:endParaRPr sz="1600" b="0" i="0" u="none" strike="noStrike" cap="none" dirty="0">
              <a:solidFill>
                <a:srgbClr val="000000"/>
              </a:solidFill>
              <a:latin typeface="Arial"/>
              <a:ea typeface="Arial"/>
              <a:cs typeface="Arial"/>
              <a:sym typeface="Arial"/>
            </a:endParaRPr>
          </a:p>
          <a:p>
            <a:pPr marL="457200" marR="0" lvl="0" indent="-317500" algn="l" rtl="0">
              <a:lnSpc>
                <a:spcPct val="15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Build results should always be communicated to all developers</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49802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13"/>
          <p:cNvSpPr txBox="1"/>
          <p:nvPr/>
        </p:nvSpPr>
        <p:spPr>
          <a:xfrm>
            <a:off x="8623200" y="6356160"/>
            <a:ext cx="2742720" cy="364800"/>
          </a:xfrm>
          <a:prstGeom prst="rect">
            <a:avLst/>
          </a:prstGeom>
          <a:noFill/>
          <a:ln>
            <a:noFill/>
          </a:ln>
        </p:spPr>
        <p:txBody>
          <a:bodyPr spcFirstLastPara="1" wrap="square" lIns="121900" tIns="60933" rIns="121900" bIns="60933" anchor="ctr" anchorCtr="0">
            <a:noAutofit/>
          </a:bodyPr>
          <a:lstStyle/>
          <a:p>
            <a:pPr algn="r">
              <a:buClr>
                <a:srgbClr val="000000"/>
              </a:buClr>
              <a:buSzPts val="900"/>
            </a:pPr>
            <a:fld id="{00000000-1234-1234-1234-123412341234}" type="slidenum">
              <a:rPr lang="en-GB" sz="1200">
                <a:solidFill>
                  <a:srgbClr val="FFFFFF"/>
                </a:solidFill>
                <a:latin typeface="Proxima Nova"/>
                <a:ea typeface="Proxima Nova"/>
                <a:cs typeface="Proxima Nova"/>
                <a:sym typeface="Proxima Nova"/>
              </a:rPr>
              <a:pPr algn="r">
                <a:buClr>
                  <a:srgbClr val="000000"/>
                </a:buClr>
                <a:buSzPts val="900"/>
              </a:pPr>
              <a:t>12</a:t>
            </a:fld>
            <a:endParaRPr sz="1200">
              <a:solidFill>
                <a:srgbClr val="000000"/>
              </a:solidFill>
              <a:latin typeface="Times New Roman"/>
              <a:ea typeface="Times New Roman"/>
              <a:cs typeface="Times New Roman"/>
              <a:sym typeface="Times New Roman"/>
            </a:endParaRPr>
          </a:p>
        </p:txBody>
      </p:sp>
      <p:sp>
        <p:nvSpPr>
          <p:cNvPr id="1061" name="Google Shape;1061;p13"/>
          <p:cNvSpPr/>
          <p:nvPr/>
        </p:nvSpPr>
        <p:spPr>
          <a:xfrm>
            <a:off x="2087040" y="2915040"/>
            <a:ext cx="8017440" cy="1027200"/>
          </a:xfrm>
          <a:prstGeom prst="rect">
            <a:avLst/>
          </a:prstGeom>
          <a:noFill/>
          <a:ln>
            <a:noFill/>
          </a:ln>
        </p:spPr>
        <p:txBody>
          <a:bodyPr spcFirstLastPara="1" wrap="square" lIns="121900" tIns="60933" rIns="121900" bIns="60933" anchor="t" anchorCtr="0">
            <a:noAutofit/>
          </a:bodyPr>
          <a:lstStyle/>
          <a:p>
            <a:pPr algn="ctr">
              <a:buClr>
                <a:srgbClr val="000000"/>
              </a:buClr>
              <a:buSzPts val="3200"/>
            </a:pPr>
            <a:r>
              <a:rPr lang="en-GB" sz="4267">
                <a:solidFill>
                  <a:srgbClr val="FFFFFF"/>
                </a:solidFill>
                <a:latin typeface="Proxima Nova"/>
                <a:ea typeface="Proxima Nova"/>
                <a:cs typeface="Proxima Nova"/>
                <a:sym typeface="Proxima Nova"/>
              </a:rPr>
              <a:t>Continuous Integration Phases</a:t>
            </a:r>
            <a:endParaRPr sz="4267">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66;p14">
            <a:extLst>
              <a:ext uri="{FF2B5EF4-FFF2-40B4-BE49-F238E27FC236}">
                <a16:creationId xmlns:a16="http://schemas.microsoft.com/office/drawing/2014/main" id="{BAC572C3-3298-4D63-1EBF-FCF78E0C8DD5}"/>
              </a:ext>
            </a:extLst>
          </p:cNvPr>
          <p:cNvSpPr/>
          <p:nvPr/>
        </p:nvSpPr>
        <p:spPr>
          <a:xfrm>
            <a:off x="2243958" y="1473336"/>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Continuous Integration Phases</a:t>
            </a:r>
            <a:endParaRPr sz="2540" b="0" i="0" u="none" strike="noStrike" cap="none" dirty="0">
              <a:latin typeface="Arial"/>
              <a:ea typeface="Arial"/>
              <a:cs typeface="Arial"/>
              <a:sym typeface="Arial"/>
            </a:endParaRPr>
          </a:p>
        </p:txBody>
      </p:sp>
      <p:sp>
        <p:nvSpPr>
          <p:cNvPr id="11" name="Google Shape;1068;p14">
            <a:extLst>
              <a:ext uri="{FF2B5EF4-FFF2-40B4-BE49-F238E27FC236}">
                <a16:creationId xmlns:a16="http://schemas.microsoft.com/office/drawing/2014/main" id="{FAE21B92-9699-55E3-48D2-C6A897F2F41E}"/>
              </a:ext>
            </a:extLst>
          </p:cNvPr>
          <p:cNvSpPr/>
          <p:nvPr/>
        </p:nvSpPr>
        <p:spPr>
          <a:xfrm>
            <a:off x="2581632" y="2126636"/>
            <a:ext cx="4542480" cy="2422080"/>
          </a:xfrm>
          <a:prstGeom prst="rect">
            <a:avLst/>
          </a:prstGeom>
          <a:noFill/>
          <a:ln>
            <a:noFill/>
          </a:ln>
        </p:spPr>
        <p:txBody>
          <a:bodyPr spcFirstLastPara="1" wrap="square" lIns="90000" tIns="45000" rIns="90000" bIns="45000" anchor="t" anchorCtr="0">
            <a:spAutoFit/>
          </a:bodyPr>
          <a:lstStyle/>
          <a:p>
            <a:pPr marL="285840" marR="0" lvl="0" indent="-285480" algn="l" rtl="0">
              <a:lnSpc>
                <a:spcPct val="150000"/>
              </a:lnSpc>
              <a:spcBef>
                <a:spcPts val="0"/>
              </a:spcBef>
              <a:spcAft>
                <a:spcPts val="0"/>
              </a:spcAft>
              <a:buClr>
                <a:srgbClr val="000000"/>
              </a:buClr>
              <a:buSzPts val="1800"/>
              <a:buFont typeface="Arial"/>
              <a:buChar char="▪"/>
            </a:pPr>
            <a:r>
              <a:rPr lang="en-GB" sz="1800" b="1" i="0" u="none" strike="noStrike" cap="none" dirty="0">
                <a:solidFill>
                  <a:srgbClr val="000000"/>
                </a:solidFill>
                <a:latin typeface="Arial"/>
                <a:ea typeface="Arial"/>
                <a:cs typeface="Arial"/>
                <a:sym typeface="Arial"/>
              </a:rPr>
              <a:t>Unit Testing</a:t>
            </a:r>
            <a:endParaRPr sz="1800" b="0" i="0" u="none" strike="noStrike" cap="none" dirty="0">
              <a:solidFill>
                <a:srgbClr val="000000"/>
              </a:solidFill>
              <a:latin typeface="Arial"/>
              <a:ea typeface="Arial"/>
              <a:cs typeface="Arial"/>
              <a:sym typeface="Arial"/>
            </a:endParaRPr>
          </a:p>
          <a:p>
            <a:pPr marL="285840" marR="0" lvl="0" indent="-285480" algn="l" rtl="0">
              <a:lnSpc>
                <a:spcPct val="150000"/>
              </a:lnSpc>
              <a:spcBef>
                <a:spcPts val="0"/>
              </a:spcBef>
              <a:spcAft>
                <a:spcPts val="0"/>
              </a:spcAft>
              <a:buClr>
                <a:srgbClr val="000000"/>
              </a:buClr>
              <a:buSzPts val="1800"/>
              <a:buFont typeface="Arial"/>
              <a:buChar char="▪"/>
            </a:pPr>
            <a:r>
              <a:rPr lang="en-GB" sz="1800" b="1" i="0" u="none" strike="noStrike" cap="none" dirty="0">
                <a:solidFill>
                  <a:srgbClr val="000000"/>
                </a:solidFill>
                <a:latin typeface="Arial"/>
                <a:ea typeface="Arial"/>
                <a:cs typeface="Arial"/>
                <a:sym typeface="Arial"/>
              </a:rPr>
              <a:t>Compilation and Packaging</a:t>
            </a:r>
            <a:endParaRPr sz="1800" b="0" i="0" u="none" strike="noStrike" cap="none" dirty="0">
              <a:solidFill>
                <a:srgbClr val="000000"/>
              </a:solidFill>
              <a:latin typeface="Arial"/>
              <a:ea typeface="Arial"/>
              <a:cs typeface="Arial"/>
              <a:sym typeface="Arial"/>
            </a:endParaRPr>
          </a:p>
          <a:p>
            <a:pPr marL="285840" marR="0" lvl="0" indent="-285480" algn="l" rtl="0">
              <a:lnSpc>
                <a:spcPct val="150000"/>
              </a:lnSpc>
              <a:spcBef>
                <a:spcPts val="0"/>
              </a:spcBef>
              <a:spcAft>
                <a:spcPts val="0"/>
              </a:spcAft>
              <a:buClr>
                <a:srgbClr val="000000"/>
              </a:buClr>
              <a:buSzPts val="1800"/>
              <a:buFont typeface="Arial"/>
              <a:buChar char="▪"/>
            </a:pPr>
            <a:r>
              <a:rPr lang="en-GB" sz="1800" b="1" i="0" u="none" strike="noStrike" cap="none" dirty="0">
                <a:solidFill>
                  <a:srgbClr val="000000"/>
                </a:solidFill>
                <a:latin typeface="Arial"/>
                <a:ea typeface="Arial"/>
                <a:cs typeface="Arial"/>
                <a:sym typeface="Arial"/>
              </a:rPr>
              <a:t>Continuous Testing</a:t>
            </a:r>
            <a:endParaRPr sz="1800" b="0" i="0" u="none" strike="noStrike" cap="none" dirty="0">
              <a:solidFill>
                <a:srgbClr val="000000"/>
              </a:solidFill>
              <a:latin typeface="Arial"/>
              <a:ea typeface="Arial"/>
              <a:cs typeface="Arial"/>
              <a:sym typeface="Arial"/>
            </a:endParaRPr>
          </a:p>
          <a:p>
            <a:pPr marL="285840" marR="0" lvl="0" indent="-285480" algn="l" rtl="0">
              <a:lnSpc>
                <a:spcPct val="150000"/>
              </a:lnSpc>
              <a:spcBef>
                <a:spcPts val="0"/>
              </a:spcBef>
              <a:spcAft>
                <a:spcPts val="0"/>
              </a:spcAft>
              <a:buClr>
                <a:srgbClr val="000000"/>
              </a:buClr>
              <a:buSzPts val="1800"/>
              <a:buFont typeface="Arial"/>
              <a:buChar char="▪"/>
            </a:pPr>
            <a:r>
              <a:rPr lang="en-GB" sz="1800" b="1" i="0" u="none" strike="noStrike" cap="none" dirty="0">
                <a:solidFill>
                  <a:srgbClr val="000000"/>
                </a:solidFill>
                <a:latin typeface="Arial"/>
                <a:ea typeface="Arial"/>
                <a:cs typeface="Arial"/>
                <a:sym typeface="Arial"/>
              </a:rPr>
              <a:t>Code Review (Static Code Analysis)</a:t>
            </a:r>
            <a:endParaRPr sz="1800" b="0" i="0" u="none" strike="noStrike" cap="none" dirty="0">
              <a:solidFill>
                <a:srgbClr val="000000"/>
              </a:solidFill>
              <a:latin typeface="Arial"/>
              <a:ea typeface="Arial"/>
              <a:cs typeface="Arial"/>
              <a:sym typeface="Arial"/>
            </a:endParaRPr>
          </a:p>
          <a:p>
            <a:pPr marL="285840" marR="0" lvl="0" indent="-285480" algn="l" rtl="0">
              <a:lnSpc>
                <a:spcPct val="150000"/>
              </a:lnSpc>
              <a:spcBef>
                <a:spcPts val="0"/>
              </a:spcBef>
              <a:spcAft>
                <a:spcPts val="0"/>
              </a:spcAft>
              <a:buClr>
                <a:srgbClr val="000000"/>
              </a:buClr>
              <a:buSzPts val="1800"/>
              <a:buFont typeface="Arial"/>
              <a:buChar char="▪"/>
            </a:pPr>
            <a:r>
              <a:rPr lang="en-GB" sz="1800" b="1" i="0" u="none" strike="noStrike" cap="none" dirty="0">
                <a:solidFill>
                  <a:srgbClr val="000000"/>
                </a:solidFill>
                <a:latin typeface="Arial"/>
                <a:ea typeface="Arial"/>
                <a:cs typeface="Arial"/>
                <a:sym typeface="Arial"/>
              </a:rPr>
              <a:t>Artifact Repository</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53090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73;p15">
            <a:extLst>
              <a:ext uri="{FF2B5EF4-FFF2-40B4-BE49-F238E27FC236}">
                <a16:creationId xmlns:a16="http://schemas.microsoft.com/office/drawing/2014/main" id="{6C5D8D4F-6C0E-551D-0299-68DEF5C94B4D}"/>
              </a:ext>
            </a:extLst>
          </p:cNvPr>
          <p:cNvSpPr/>
          <p:nvPr/>
        </p:nvSpPr>
        <p:spPr>
          <a:xfrm>
            <a:off x="2243958" y="1389382"/>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a:latin typeface="Proxima Nova"/>
                <a:ea typeface="Proxima Nova"/>
                <a:cs typeface="Proxima Nova"/>
                <a:sym typeface="Proxima Nova"/>
              </a:rPr>
              <a:t>Unit Testing </a:t>
            </a:r>
            <a:endParaRPr sz="2540" b="0" i="0" u="none" strike="noStrike" cap="none">
              <a:latin typeface="Arial"/>
              <a:ea typeface="Arial"/>
              <a:cs typeface="Arial"/>
              <a:sym typeface="Arial"/>
            </a:endParaRPr>
          </a:p>
        </p:txBody>
      </p:sp>
      <p:sp>
        <p:nvSpPr>
          <p:cNvPr id="11" name="Google Shape;1075;p15">
            <a:extLst>
              <a:ext uri="{FF2B5EF4-FFF2-40B4-BE49-F238E27FC236}">
                <a16:creationId xmlns:a16="http://schemas.microsoft.com/office/drawing/2014/main" id="{9BC763EC-8C04-D3B0-4E34-B6B8D5BA20BB}"/>
              </a:ext>
            </a:extLst>
          </p:cNvPr>
          <p:cNvSpPr/>
          <p:nvPr/>
        </p:nvSpPr>
        <p:spPr>
          <a:xfrm>
            <a:off x="1654868" y="2151714"/>
            <a:ext cx="4571640" cy="1568206"/>
          </a:xfrm>
          <a:prstGeom prst="rect">
            <a:avLst/>
          </a:prstGeom>
          <a:noFill/>
          <a:ln>
            <a:noFill/>
          </a:ln>
        </p:spPr>
        <p:txBody>
          <a:bodyPr spcFirstLastPara="1" wrap="square" lIns="90000" tIns="45000" rIns="90000" bIns="45000" anchor="t" anchorCtr="0">
            <a:spAutoFit/>
          </a:bodyPr>
          <a:lstStyle/>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What is Unit Testing?</a:t>
            </a:r>
            <a:endParaRPr sz="1600" b="0" i="0" u="none" strike="noStrike" cap="none">
              <a:solidFill>
                <a:srgbClr val="000000"/>
              </a:solidFill>
              <a:latin typeface="Arial"/>
              <a:ea typeface="Arial"/>
              <a:cs typeface="Arial"/>
              <a:sym typeface="Arial"/>
            </a:endParaRPr>
          </a:p>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Why do we need to perform unit testing?</a:t>
            </a:r>
            <a:endParaRPr sz="1600" b="0" i="0" u="none" strike="noStrike" cap="none">
              <a:solidFill>
                <a:srgbClr val="000000"/>
              </a:solidFill>
              <a:latin typeface="Arial"/>
              <a:ea typeface="Arial"/>
              <a:cs typeface="Arial"/>
              <a:sym typeface="Arial"/>
            </a:endParaRPr>
          </a:p>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a:solidFill>
                  <a:srgbClr val="000000"/>
                </a:solidFill>
                <a:latin typeface="Arial"/>
                <a:ea typeface="Arial"/>
                <a:cs typeface="Arial"/>
                <a:sym typeface="Arial"/>
              </a:rPr>
              <a:t>Some popular testing tools</a:t>
            </a:r>
            <a:endParaRPr sz="16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97006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80;p16">
            <a:extLst>
              <a:ext uri="{FF2B5EF4-FFF2-40B4-BE49-F238E27FC236}">
                <a16:creationId xmlns:a16="http://schemas.microsoft.com/office/drawing/2014/main" id="{EFFFC91F-0697-06E6-2455-71C9B4EB292D}"/>
              </a:ext>
            </a:extLst>
          </p:cNvPr>
          <p:cNvSpPr/>
          <p:nvPr/>
        </p:nvSpPr>
        <p:spPr>
          <a:xfrm>
            <a:off x="2470752" y="1482480"/>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a:latin typeface="Proxima Nova"/>
                <a:ea typeface="Proxima Nova"/>
                <a:cs typeface="Proxima Nova"/>
                <a:sym typeface="Proxima Nova"/>
              </a:rPr>
              <a:t>What Is Unit Testing? </a:t>
            </a:r>
            <a:endParaRPr sz="2540" b="0" i="0" u="none" strike="noStrike" cap="none">
              <a:latin typeface="Arial"/>
              <a:ea typeface="Arial"/>
              <a:cs typeface="Arial"/>
              <a:sym typeface="Arial"/>
            </a:endParaRPr>
          </a:p>
        </p:txBody>
      </p:sp>
      <p:sp>
        <p:nvSpPr>
          <p:cNvPr id="11" name="Google Shape;1082;p16">
            <a:extLst>
              <a:ext uri="{FF2B5EF4-FFF2-40B4-BE49-F238E27FC236}">
                <a16:creationId xmlns:a16="http://schemas.microsoft.com/office/drawing/2014/main" id="{5C4C4040-43BE-4333-6E8C-CD043681C175}"/>
              </a:ext>
            </a:extLst>
          </p:cNvPr>
          <p:cNvSpPr/>
          <p:nvPr/>
        </p:nvSpPr>
        <p:spPr>
          <a:xfrm>
            <a:off x="6037272" y="2780640"/>
            <a:ext cx="4505400" cy="1568206"/>
          </a:xfrm>
          <a:prstGeom prst="rect">
            <a:avLst/>
          </a:prstGeom>
          <a:noFill/>
          <a:ln>
            <a:noFill/>
          </a:ln>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dirty="0">
                <a:solidFill>
                  <a:srgbClr val="203864"/>
                </a:solidFill>
                <a:latin typeface="Arial"/>
                <a:ea typeface="Arial"/>
                <a:cs typeface="Arial"/>
                <a:sym typeface="Arial"/>
              </a:rPr>
              <a:t>Unit Testing is a software testing method by which individual units of source code</a:t>
            </a:r>
            <a:r>
              <a:rPr lang="en-GB" sz="1600" b="0" i="0" u="none" strike="noStrike" cap="none" dirty="0">
                <a:solidFill>
                  <a:srgbClr val="202124"/>
                </a:solidFill>
                <a:highlight>
                  <a:srgbClr val="FFFFFF"/>
                </a:highlight>
                <a:latin typeface="Arial"/>
                <a:ea typeface="Arial"/>
                <a:cs typeface="Arial"/>
                <a:sym typeface="Arial"/>
              </a:rPr>
              <a:t>—</a:t>
            </a:r>
            <a:r>
              <a:rPr lang="en-GB" sz="1600" b="0" i="0" u="none" strike="noStrike" cap="none" dirty="0">
                <a:solidFill>
                  <a:srgbClr val="203864"/>
                </a:solidFill>
                <a:latin typeface="Arial"/>
                <a:ea typeface="Arial"/>
                <a:cs typeface="Arial"/>
                <a:sym typeface="Arial"/>
              </a:rPr>
              <a:t>sets of one or more computer program modules together with associated control data, usage procedures, and operating procedures</a:t>
            </a:r>
            <a:r>
              <a:rPr lang="en-GB" sz="1600" b="0" i="0" u="none" strike="noStrike" cap="none" dirty="0">
                <a:solidFill>
                  <a:srgbClr val="202124"/>
                </a:solidFill>
                <a:highlight>
                  <a:srgbClr val="FFFFFF"/>
                </a:highlight>
                <a:latin typeface="Arial"/>
                <a:ea typeface="Arial"/>
                <a:cs typeface="Arial"/>
                <a:sym typeface="Arial"/>
              </a:rPr>
              <a:t>—</a:t>
            </a:r>
            <a:r>
              <a:rPr lang="en-GB" sz="1600" b="0" i="0" u="none" strike="noStrike" cap="none" dirty="0">
                <a:solidFill>
                  <a:srgbClr val="203864"/>
                </a:solidFill>
                <a:latin typeface="Arial"/>
                <a:ea typeface="Arial"/>
                <a:cs typeface="Arial"/>
                <a:sym typeface="Arial"/>
              </a:rPr>
              <a:t>are tested to determine whether they are fit for use</a:t>
            </a:r>
            <a:endParaRPr sz="1600" b="0" i="0" u="none" strike="noStrike" cap="none" dirty="0">
              <a:solidFill>
                <a:srgbClr val="000000"/>
              </a:solidFill>
              <a:latin typeface="Arial"/>
              <a:ea typeface="Arial"/>
              <a:cs typeface="Arial"/>
              <a:sym typeface="Arial"/>
            </a:endParaRPr>
          </a:p>
        </p:txBody>
      </p:sp>
      <p:sp>
        <p:nvSpPr>
          <p:cNvPr id="12" name="Google Shape;1083;p16">
            <a:extLst>
              <a:ext uri="{FF2B5EF4-FFF2-40B4-BE49-F238E27FC236}">
                <a16:creationId xmlns:a16="http://schemas.microsoft.com/office/drawing/2014/main" id="{F21B651F-B961-5052-8035-C36031D95573}"/>
              </a:ext>
            </a:extLst>
          </p:cNvPr>
          <p:cNvSpPr/>
          <p:nvPr/>
        </p:nvSpPr>
        <p:spPr>
          <a:xfrm>
            <a:off x="9585432" y="4760640"/>
            <a:ext cx="1103904" cy="3371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600" b="0" i="1" u="none" strike="noStrike" cap="none">
                <a:solidFill>
                  <a:srgbClr val="203864"/>
                </a:solidFill>
                <a:latin typeface="Arial"/>
                <a:ea typeface="Arial"/>
                <a:cs typeface="Arial"/>
                <a:sym typeface="Arial"/>
              </a:rPr>
              <a:t>Wikipedia</a:t>
            </a:r>
            <a:endParaRPr sz="1600" b="0" i="0" u="none" strike="noStrike" cap="none">
              <a:solidFill>
                <a:srgbClr val="000000"/>
              </a:solidFill>
              <a:latin typeface="Arial"/>
              <a:ea typeface="Arial"/>
              <a:cs typeface="Arial"/>
              <a:sym typeface="Arial"/>
            </a:endParaRPr>
          </a:p>
        </p:txBody>
      </p:sp>
      <p:pic>
        <p:nvPicPr>
          <p:cNvPr id="13" name="Google Shape;1084;p16" descr="SOFTWARE TESTING COMPANY IN CHENNAI-Ecphasis infotech">
            <a:extLst>
              <a:ext uri="{FF2B5EF4-FFF2-40B4-BE49-F238E27FC236}">
                <a16:creationId xmlns:a16="http://schemas.microsoft.com/office/drawing/2014/main" id="{C4E49AEC-E075-8399-B27A-402BBCA209BD}"/>
              </a:ext>
            </a:extLst>
          </p:cNvPr>
          <p:cNvPicPr preferRelativeResize="0"/>
          <p:nvPr/>
        </p:nvPicPr>
        <p:blipFill rotWithShape="1">
          <a:blip r:embed="rId6">
            <a:alphaModFix/>
          </a:blip>
          <a:srcRect/>
          <a:stretch/>
        </p:blipFill>
        <p:spPr>
          <a:xfrm>
            <a:off x="1912032" y="2688840"/>
            <a:ext cx="4535640" cy="2578320"/>
          </a:xfrm>
          <a:prstGeom prst="rect">
            <a:avLst/>
          </a:prstGeom>
          <a:noFill/>
          <a:ln>
            <a:noFill/>
          </a:ln>
        </p:spPr>
      </p:pic>
    </p:spTree>
    <p:extLst>
      <p:ext uri="{BB962C8B-B14F-4D97-AF65-F5344CB8AC3E}">
        <p14:creationId xmlns:p14="http://schemas.microsoft.com/office/powerpoint/2010/main" val="291760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89;p17">
            <a:extLst>
              <a:ext uri="{FF2B5EF4-FFF2-40B4-BE49-F238E27FC236}">
                <a16:creationId xmlns:a16="http://schemas.microsoft.com/office/drawing/2014/main" id="{88DA5243-BC8B-436A-8184-02D26EBFFBA2}"/>
              </a:ext>
            </a:extLst>
          </p:cNvPr>
          <p:cNvSpPr/>
          <p:nvPr/>
        </p:nvSpPr>
        <p:spPr>
          <a:xfrm>
            <a:off x="2104920" y="1454829"/>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Unit </a:t>
            </a:r>
            <a:r>
              <a:rPr lang="en-GB" sz="2540" b="0" i="0" u="none" strike="noStrike" cap="none" dirty="0">
                <a:latin typeface="Proxima Nova"/>
                <a:ea typeface="Proxima Nova"/>
                <a:cs typeface="Proxima Nova"/>
                <a:sym typeface="Proxima Nova"/>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6"/>
                  </a:ext>
                </a:extLst>
              </a:rPr>
              <a:t>Test</a:t>
            </a:r>
            <a:r>
              <a:rPr lang="en-GB" sz="2540" b="0" i="0" u="none" strike="noStrike" cap="none" dirty="0">
                <a:latin typeface="Proxima Nova"/>
                <a:ea typeface="Proxima Nova"/>
                <a:cs typeface="Proxima Nova"/>
                <a:sym typeface="Proxima Nova"/>
              </a:rPr>
              <a:t>ing: Why Do It?</a:t>
            </a:r>
            <a:endParaRPr sz="2540" b="0" i="0" u="none" strike="noStrike" cap="none" dirty="0">
              <a:latin typeface="Arial"/>
              <a:ea typeface="Arial"/>
              <a:cs typeface="Arial"/>
              <a:sym typeface="Arial"/>
            </a:endParaRPr>
          </a:p>
        </p:txBody>
      </p:sp>
      <p:sp>
        <p:nvSpPr>
          <p:cNvPr id="11" name="Google Shape;1091;p17">
            <a:extLst>
              <a:ext uri="{FF2B5EF4-FFF2-40B4-BE49-F238E27FC236}">
                <a16:creationId xmlns:a16="http://schemas.microsoft.com/office/drawing/2014/main" id="{116F241F-281F-B7BE-53F8-F87E0BB65B7F}"/>
              </a:ext>
            </a:extLst>
          </p:cNvPr>
          <p:cNvSpPr/>
          <p:nvPr/>
        </p:nvSpPr>
        <p:spPr>
          <a:xfrm>
            <a:off x="8785811" y="5957805"/>
            <a:ext cx="2107224" cy="3371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600" b="0" i="1" u="none" strike="noStrike" cap="none" dirty="0" err="1">
                <a:solidFill>
                  <a:srgbClr val="203864"/>
                </a:solidFill>
                <a:latin typeface="Arial"/>
                <a:ea typeface="Arial"/>
                <a:cs typeface="Arial"/>
                <a:sym typeface="Arial"/>
              </a:rPr>
              <a:t>Dzone</a:t>
            </a:r>
            <a:r>
              <a:rPr lang="en-GB" sz="1600" b="0" i="1" u="none" strike="noStrike" cap="none" dirty="0">
                <a:solidFill>
                  <a:srgbClr val="203864"/>
                </a:solidFill>
                <a:latin typeface="Arial"/>
                <a:ea typeface="Arial"/>
                <a:cs typeface="Arial"/>
                <a:sym typeface="Arial"/>
              </a:rPr>
              <a:t> DevOps Zone</a:t>
            </a:r>
            <a:endParaRPr sz="1600" b="0" i="0" u="none" strike="noStrike" cap="none" dirty="0">
              <a:solidFill>
                <a:srgbClr val="000000"/>
              </a:solidFill>
              <a:latin typeface="Arial"/>
              <a:ea typeface="Arial"/>
              <a:cs typeface="Arial"/>
              <a:sym typeface="Arial"/>
            </a:endParaRPr>
          </a:p>
        </p:txBody>
      </p:sp>
      <p:sp>
        <p:nvSpPr>
          <p:cNvPr id="12" name="Google Shape;1092;p17">
            <a:extLst>
              <a:ext uri="{FF2B5EF4-FFF2-40B4-BE49-F238E27FC236}">
                <a16:creationId xmlns:a16="http://schemas.microsoft.com/office/drawing/2014/main" id="{9009F77B-F5CB-C4B3-AB8B-0C0C171C2CD8}"/>
              </a:ext>
            </a:extLst>
          </p:cNvPr>
          <p:cNvSpPr/>
          <p:nvPr/>
        </p:nvSpPr>
        <p:spPr>
          <a:xfrm>
            <a:off x="2104920" y="2152454"/>
            <a:ext cx="6357600" cy="2553091"/>
          </a:xfrm>
          <a:prstGeom prst="rect">
            <a:avLst/>
          </a:prstGeom>
          <a:noFill/>
          <a:ln>
            <a:noFill/>
          </a:ln>
        </p:spPr>
        <p:txBody>
          <a:bodyPr spcFirstLastPara="1" wrap="square" lIns="90000" tIns="45000" rIns="90000" bIns="45000" anchor="t" anchorCtr="0">
            <a:spAutoFit/>
          </a:bodyPr>
          <a:lstStyle/>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Improves the quality of code</a:t>
            </a:r>
            <a:endParaRPr sz="1600" b="0" i="0" u="none" strike="noStrike" cap="none" dirty="0">
              <a:solidFill>
                <a:srgbClr val="000000"/>
              </a:solidFill>
              <a:latin typeface="Arial"/>
              <a:ea typeface="Arial"/>
              <a:cs typeface="Arial"/>
              <a:sym typeface="Arial"/>
            </a:endParaRPr>
          </a:p>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Goes hand in hand with Agile processes</a:t>
            </a:r>
            <a:endParaRPr sz="1600" b="0" i="0" u="none" strike="noStrike" cap="none" dirty="0">
              <a:solidFill>
                <a:srgbClr val="000000"/>
              </a:solidFill>
              <a:latin typeface="Arial"/>
              <a:ea typeface="Arial"/>
              <a:cs typeface="Arial"/>
              <a:sym typeface="Arial"/>
            </a:endParaRPr>
          </a:p>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Helps to find software bugs early</a:t>
            </a:r>
            <a:endParaRPr sz="1600" b="0" i="0" u="none" strike="noStrike" cap="none" dirty="0">
              <a:solidFill>
                <a:srgbClr val="000000"/>
              </a:solidFill>
              <a:latin typeface="Arial"/>
              <a:ea typeface="Arial"/>
              <a:cs typeface="Arial"/>
              <a:sym typeface="Arial"/>
            </a:endParaRPr>
          </a:p>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Helps to understand the design in a better manner</a:t>
            </a:r>
            <a:endParaRPr sz="1600" b="0" i="0" u="none" strike="noStrike" cap="none" dirty="0">
              <a:solidFill>
                <a:srgbClr val="000000"/>
              </a:solidFill>
              <a:latin typeface="Arial"/>
              <a:ea typeface="Arial"/>
              <a:cs typeface="Arial"/>
              <a:sym typeface="Arial"/>
            </a:endParaRPr>
          </a:p>
          <a:p>
            <a:pPr marL="285840" marR="0" lvl="0" indent="-260079" algn="l" rtl="0">
              <a:lnSpc>
                <a:spcPct val="200000"/>
              </a:lnSpc>
              <a:spcBef>
                <a:spcPts val="0"/>
              </a:spcBef>
              <a:spcAft>
                <a:spcPts val="0"/>
              </a:spcAft>
              <a:buClr>
                <a:srgbClr val="000000"/>
              </a:buClr>
              <a:buSzPts val="1400"/>
              <a:buFont typeface="Arial"/>
              <a:buChar char="▪"/>
            </a:pPr>
            <a:r>
              <a:rPr lang="en-GB" sz="1600" b="0" i="0" u="none" strike="noStrike" cap="none" dirty="0">
                <a:solidFill>
                  <a:srgbClr val="000000"/>
                </a:solidFill>
                <a:latin typeface="Arial"/>
                <a:ea typeface="Arial"/>
                <a:cs typeface="Arial"/>
                <a:sym typeface="Arial"/>
              </a:rPr>
              <a:t>Reduces </a:t>
            </a:r>
            <a:r>
              <a:rPr lang="en-GB" sz="1600" b="0" i="1" u="none" strike="noStrike" cap="none" dirty="0">
                <a:solidFill>
                  <a:srgbClr val="000000"/>
                </a:solidFill>
                <a:latin typeface="Arial"/>
                <a:ea typeface="Arial"/>
                <a:cs typeface="Arial"/>
                <a:sym typeface="Arial"/>
              </a:rPr>
              <a:t>‘Technical Debt’</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443854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097;gd829989b68_0_4">
            <a:extLst>
              <a:ext uri="{FF2B5EF4-FFF2-40B4-BE49-F238E27FC236}">
                <a16:creationId xmlns:a16="http://schemas.microsoft.com/office/drawing/2014/main" id="{6DF02FAB-4AC8-F416-4D97-CD9CD0C046EE}"/>
              </a:ext>
            </a:extLst>
          </p:cNvPr>
          <p:cNvSpPr txBox="1"/>
          <p:nvPr/>
        </p:nvSpPr>
        <p:spPr>
          <a:xfrm>
            <a:off x="1940952" y="1339532"/>
            <a:ext cx="6682104" cy="487509"/>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dk1"/>
              </a:buClr>
              <a:buSzPts val="1100"/>
              <a:buFont typeface="Arial"/>
              <a:buNone/>
            </a:pPr>
            <a:r>
              <a:rPr lang="en-GB" sz="2800" b="0" i="0" u="none" strike="noStrike" cap="none" dirty="0">
                <a:latin typeface="Proxima Nova"/>
                <a:ea typeface="Proxima Nova"/>
                <a:cs typeface="Proxima Nova"/>
                <a:sym typeface="Proxima Nova"/>
              </a:rPr>
              <a:t>Some Popular Unit Testing Tools</a:t>
            </a:r>
            <a:endParaRPr sz="2800" b="0" i="0" u="none" strike="noStrike" cap="none" dirty="0">
              <a:latin typeface="Proxima Nova"/>
              <a:ea typeface="Proxima Nova"/>
              <a:cs typeface="Proxima Nova"/>
              <a:sym typeface="Proxima Nova"/>
            </a:endParaRPr>
          </a:p>
        </p:txBody>
      </p:sp>
      <p:pic>
        <p:nvPicPr>
          <p:cNvPr id="11" name="Google Shape;1099;gd829989b68_0_4" descr="Test Dependency in TestNG - Knoldus Blogs">
            <a:extLst>
              <a:ext uri="{FF2B5EF4-FFF2-40B4-BE49-F238E27FC236}">
                <a16:creationId xmlns:a16="http://schemas.microsoft.com/office/drawing/2014/main" id="{C79B061B-163D-947C-F43D-F9BB0545591F}"/>
              </a:ext>
            </a:extLst>
          </p:cNvPr>
          <p:cNvPicPr preferRelativeResize="0"/>
          <p:nvPr/>
        </p:nvPicPr>
        <p:blipFill rotWithShape="1">
          <a:blip r:embed="rId6">
            <a:alphaModFix/>
          </a:blip>
          <a:srcRect/>
          <a:stretch/>
        </p:blipFill>
        <p:spPr>
          <a:xfrm>
            <a:off x="4879805" y="2316648"/>
            <a:ext cx="2432390" cy="1368220"/>
          </a:xfrm>
          <a:prstGeom prst="rect">
            <a:avLst/>
          </a:prstGeom>
          <a:noFill/>
          <a:ln>
            <a:noFill/>
          </a:ln>
        </p:spPr>
      </p:pic>
      <p:pic>
        <p:nvPicPr>
          <p:cNvPr id="12" name="Google Shape;1100;gd829989b68_0_4" descr="Overriding Dependency Injection with HK2 in Jersey Tests | by m4nu56 |  Medium">
            <a:extLst>
              <a:ext uri="{FF2B5EF4-FFF2-40B4-BE49-F238E27FC236}">
                <a16:creationId xmlns:a16="http://schemas.microsoft.com/office/drawing/2014/main" id="{0C81DBDD-5CEA-80A5-B67D-F34A4E32FFA3}"/>
              </a:ext>
            </a:extLst>
          </p:cNvPr>
          <p:cNvPicPr preferRelativeResize="0"/>
          <p:nvPr/>
        </p:nvPicPr>
        <p:blipFill rotWithShape="1">
          <a:blip r:embed="rId7">
            <a:alphaModFix/>
          </a:blip>
          <a:srcRect/>
          <a:stretch/>
        </p:blipFill>
        <p:spPr>
          <a:xfrm>
            <a:off x="8623056" y="2000237"/>
            <a:ext cx="3329390" cy="1664695"/>
          </a:xfrm>
          <a:prstGeom prst="rect">
            <a:avLst/>
          </a:prstGeom>
          <a:noFill/>
          <a:ln>
            <a:noFill/>
          </a:ln>
        </p:spPr>
      </p:pic>
      <p:pic>
        <p:nvPicPr>
          <p:cNvPr id="13" name="Google Shape;1101;gd829989b68_0_4" descr="Why you should migrate to Junit 5 | by RIAG Digital | RIAG Digital Techblog  | Medium">
            <a:extLst>
              <a:ext uri="{FF2B5EF4-FFF2-40B4-BE49-F238E27FC236}">
                <a16:creationId xmlns:a16="http://schemas.microsoft.com/office/drawing/2014/main" id="{7CE20563-B6E3-51E3-BE8B-09B5325460CE}"/>
              </a:ext>
            </a:extLst>
          </p:cNvPr>
          <p:cNvPicPr preferRelativeResize="0"/>
          <p:nvPr/>
        </p:nvPicPr>
        <p:blipFill rotWithShape="1">
          <a:blip r:embed="rId8">
            <a:alphaModFix/>
          </a:blip>
          <a:srcRect/>
          <a:stretch/>
        </p:blipFill>
        <p:spPr>
          <a:xfrm>
            <a:off x="461038" y="2250212"/>
            <a:ext cx="2587995" cy="1501093"/>
          </a:xfrm>
          <a:prstGeom prst="rect">
            <a:avLst/>
          </a:prstGeom>
          <a:noFill/>
          <a:ln>
            <a:noFill/>
          </a:ln>
        </p:spPr>
      </p:pic>
      <p:pic>
        <p:nvPicPr>
          <p:cNvPr id="14" name="Google Shape;1102;gd829989b68_0_4" descr="Introduction to UnitTesting with Jasmine. (Part I) | by Mocktar Issa |  Noteworthy - The Journal Blog">
            <a:extLst>
              <a:ext uri="{FF2B5EF4-FFF2-40B4-BE49-F238E27FC236}">
                <a16:creationId xmlns:a16="http://schemas.microsoft.com/office/drawing/2014/main" id="{E94FCE4A-936B-425E-7A00-48399D2291A6}"/>
              </a:ext>
            </a:extLst>
          </p:cNvPr>
          <p:cNvPicPr preferRelativeResize="0"/>
          <p:nvPr/>
        </p:nvPicPr>
        <p:blipFill rotWithShape="1">
          <a:blip r:embed="rId9">
            <a:alphaModFix/>
          </a:blip>
          <a:srcRect/>
          <a:stretch/>
        </p:blipFill>
        <p:spPr>
          <a:xfrm>
            <a:off x="403011" y="4174476"/>
            <a:ext cx="3660157" cy="1991191"/>
          </a:xfrm>
          <a:prstGeom prst="rect">
            <a:avLst/>
          </a:prstGeom>
          <a:noFill/>
          <a:ln>
            <a:noFill/>
          </a:ln>
        </p:spPr>
      </p:pic>
      <p:pic>
        <p:nvPicPr>
          <p:cNvPr id="15" name="Google Shape;1103;gd829989b68_0_4" descr="Mocking Inputs in Angular Unit Tests | John D Potts">
            <a:extLst>
              <a:ext uri="{FF2B5EF4-FFF2-40B4-BE49-F238E27FC236}">
                <a16:creationId xmlns:a16="http://schemas.microsoft.com/office/drawing/2014/main" id="{8C33BBE7-FB96-8E0E-3FA1-AB852ABB12F3}"/>
              </a:ext>
            </a:extLst>
          </p:cNvPr>
          <p:cNvPicPr preferRelativeResize="0"/>
          <p:nvPr/>
        </p:nvPicPr>
        <p:blipFill rotWithShape="1">
          <a:blip r:embed="rId10">
            <a:alphaModFix/>
          </a:blip>
          <a:srcRect/>
          <a:stretch/>
        </p:blipFill>
        <p:spPr>
          <a:xfrm>
            <a:off x="5622614" y="4174475"/>
            <a:ext cx="1659636" cy="1790256"/>
          </a:xfrm>
          <a:prstGeom prst="rect">
            <a:avLst/>
          </a:prstGeom>
          <a:noFill/>
          <a:ln>
            <a:noFill/>
          </a:ln>
        </p:spPr>
      </p:pic>
      <p:pic>
        <p:nvPicPr>
          <p:cNvPr id="16" name="Google Shape;1104;gd829989b68_0_4" descr="Lesson 2 - Introduction to unit tests in PHP and PHPUnit installation">
            <a:extLst>
              <a:ext uri="{FF2B5EF4-FFF2-40B4-BE49-F238E27FC236}">
                <a16:creationId xmlns:a16="http://schemas.microsoft.com/office/drawing/2014/main" id="{9D3BE2A5-2B94-ACB6-BC00-FC82B181DF05}"/>
              </a:ext>
            </a:extLst>
          </p:cNvPr>
          <p:cNvPicPr preferRelativeResize="0"/>
          <p:nvPr/>
        </p:nvPicPr>
        <p:blipFill rotWithShape="1">
          <a:blip r:embed="rId11">
            <a:alphaModFix/>
          </a:blip>
          <a:srcRect/>
          <a:stretch/>
        </p:blipFill>
        <p:spPr>
          <a:xfrm>
            <a:off x="9214458" y="4135162"/>
            <a:ext cx="2232102" cy="1991193"/>
          </a:xfrm>
          <a:prstGeom prst="rect">
            <a:avLst/>
          </a:prstGeom>
          <a:noFill/>
          <a:ln>
            <a:noFill/>
          </a:ln>
        </p:spPr>
      </p:pic>
    </p:spTree>
    <p:extLst>
      <p:ext uri="{BB962C8B-B14F-4D97-AF65-F5344CB8AC3E}">
        <p14:creationId xmlns:p14="http://schemas.microsoft.com/office/powerpoint/2010/main" val="1137722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109;p21">
            <a:extLst>
              <a:ext uri="{FF2B5EF4-FFF2-40B4-BE49-F238E27FC236}">
                <a16:creationId xmlns:a16="http://schemas.microsoft.com/office/drawing/2014/main" id="{4BF19C0A-0038-073D-7FF6-213D888A11A7}"/>
              </a:ext>
            </a:extLst>
          </p:cNvPr>
          <p:cNvSpPr/>
          <p:nvPr/>
        </p:nvSpPr>
        <p:spPr>
          <a:xfrm>
            <a:off x="2243958" y="1390678"/>
            <a:ext cx="5522100" cy="4026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Compilation and Packaging</a:t>
            </a:r>
            <a:endParaRPr sz="2540" b="0" i="0" u="none" strike="noStrike" cap="none" dirty="0">
              <a:latin typeface="Arial"/>
              <a:ea typeface="Arial"/>
              <a:cs typeface="Arial"/>
              <a:sym typeface="Arial"/>
            </a:endParaRPr>
          </a:p>
        </p:txBody>
      </p:sp>
      <p:sp>
        <p:nvSpPr>
          <p:cNvPr id="11" name="Google Shape;1111;p21">
            <a:extLst>
              <a:ext uri="{FF2B5EF4-FFF2-40B4-BE49-F238E27FC236}">
                <a16:creationId xmlns:a16="http://schemas.microsoft.com/office/drawing/2014/main" id="{4D23B7B6-A775-26D7-09C8-C7B3E8DDAC82}"/>
              </a:ext>
            </a:extLst>
          </p:cNvPr>
          <p:cNvSpPr/>
          <p:nvPr/>
        </p:nvSpPr>
        <p:spPr>
          <a:xfrm>
            <a:off x="806544" y="2218795"/>
            <a:ext cx="9937656" cy="3291755"/>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Automated software builds that can be triggered from the command line are an essential and integral part of any CI pipeline</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A modern full-fledged automated build tool sh</a:t>
            </a: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7"/>
                  </a:ext>
                </a:extLst>
              </a:rPr>
              <a:t>ould have </a:t>
            </a:r>
            <a:r>
              <a:rPr lang="en-GB" sz="1600" b="0" i="0" u="none" strike="noStrike" cap="none" dirty="0">
                <a:solidFill>
                  <a:srgbClr val="000000"/>
                </a:solidFill>
                <a:latin typeface="Arial"/>
                <a:ea typeface="Arial"/>
                <a:cs typeface="Arial"/>
                <a:sym typeface="Arial"/>
              </a:rPr>
              <a:t>the following capabilities among others:</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285840" marR="0" lvl="0" indent="-285479" algn="l" rtl="0">
              <a:lnSpc>
                <a:spcPct val="10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rPr>
              <a:t>Initialising the environment</a:t>
            </a:r>
            <a:endParaRPr sz="1600" b="0" i="0" u="none" strike="noStrike" cap="none" dirty="0">
              <a:solidFill>
                <a:srgbClr val="000000"/>
              </a:solidFill>
              <a:latin typeface="Arial"/>
              <a:ea typeface="Arial"/>
              <a:cs typeface="Arial"/>
              <a:sym typeface="Arial"/>
            </a:endParaRPr>
          </a:p>
          <a:p>
            <a:pPr marL="285840" marR="0" lvl="0" indent="-285479" algn="l" rtl="0">
              <a:lnSpc>
                <a:spcPct val="10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rPr>
              <a:t>Compiling source code</a:t>
            </a:r>
            <a:endParaRPr sz="1600" b="0" i="0" u="none" strike="noStrike" cap="none" dirty="0">
              <a:solidFill>
                <a:srgbClr val="000000"/>
              </a:solidFill>
              <a:latin typeface="Arial"/>
              <a:ea typeface="Arial"/>
              <a:cs typeface="Arial"/>
              <a:sym typeface="Arial"/>
            </a:endParaRPr>
          </a:p>
          <a:p>
            <a:pPr marL="285840" marR="0" lvl="0" indent="-285479" algn="l" rtl="0">
              <a:lnSpc>
                <a:spcPct val="10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rPr>
              <a:t>Setting up test data</a:t>
            </a:r>
            <a:endParaRPr sz="1600" b="0" i="0" u="none" strike="noStrike" cap="none" dirty="0">
              <a:solidFill>
                <a:srgbClr val="000000"/>
              </a:solidFill>
              <a:latin typeface="Arial"/>
              <a:ea typeface="Arial"/>
              <a:cs typeface="Arial"/>
              <a:sym typeface="Arial"/>
            </a:endParaRPr>
          </a:p>
          <a:p>
            <a:pPr marL="285840" marR="0" lvl="0" indent="-285479" algn="l" rtl="0">
              <a:lnSpc>
                <a:spcPct val="10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rPr>
              <a:t>Compiling and running tests</a:t>
            </a:r>
            <a:endParaRPr sz="1600" b="0" i="0" u="none" strike="noStrike" cap="none" dirty="0">
              <a:solidFill>
                <a:srgbClr val="000000"/>
              </a:solidFill>
              <a:latin typeface="Arial"/>
              <a:ea typeface="Arial"/>
              <a:cs typeface="Arial"/>
              <a:sym typeface="Arial"/>
            </a:endParaRPr>
          </a:p>
          <a:p>
            <a:pPr marL="285840" marR="0" lvl="0" indent="-285479" algn="l" rtl="0">
              <a:lnSpc>
                <a:spcPct val="10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rPr>
              <a:t>Building Artifact for delivery/deployment</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Examples of build tools: Make (C/C++), Rake (Rails), </a:t>
            </a:r>
            <a:r>
              <a:rPr lang="en-GB" sz="1600" b="0" i="0" u="none" strike="noStrike" cap="none" dirty="0" err="1">
                <a:solidFill>
                  <a:srgbClr val="000000"/>
                </a:solidFill>
                <a:latin typeface="Arial"/>
                <a:ea typeface="Arial"/>
                <a:cs typeface="Arial"/>
                <a:sym typeface="Arial"/>
              </a:rPr>
              <a:t>MSBuild</a:t>
            </a:r>
            <a:r>
              <a:rPr lang="en-GB" sz="1600" b="0" i="0" u="none" strike="noStrike" cap="none" dirty="0">
                <a:solidFill>
                  <a:srgbClr val="000000"/>
                </a:solidFill>
                <a:latin typeface="Arial"/>
                <a:ea typeface="Arial"/>
                <a:cs typeface="Arial"/>
                <a:sym typeface="Arial"/>
              </a:rPr>
              <a:t> and </a:t>
            </a:r>
            <a:r>
              <a:rPr lang="en-GB" sz="1600" b="0" i="0" u="none" strike="noStrike" cap="none" dirty="0" err="1">
                <a:solidFill>
                  <a:srgbClr val="000000"/>
                </a:solidFill>
                <a:latin typeface="Arial"/>
                <a:ea typeface="Arial"/>
                <a:cs typeface="Arial"/>
                <a:sym typeface="Arial"/>
              </a:rPr>
              <a:t>NAnt</a:t>
            </a:r>
            <a:r>
              <a:rPr lang="en-GB" sz="1600" b="0" i="0" u="none" strike="noStrike" cap="none" dirty="0">
                <a:solidFill>
                  <a:srgbClr val="000000"/>
                </a:solidFill>
                <a:latin typeface="Arial"/>
                <a:ea typeface="Arial"/>
                <a:cs typeface="Arial"/>
                <a:sym typeface="Arial"/>
              </a:rPr>
              <a:t> (</a:t>
            </a:r>
            <a:r>
              <a:rPr lang="en-GB" sz="1600" b="0" i="0" u="none" strike="noStrike" cap="none" dirty="0" err="1">
                <a:solidFill>
                  <a:srgbClr val="000000"/>
                </a:solidFill>
                <a:latin typeface="Arial"/>
                <a:ea typeface="Arial"/>
                <a:cs typeface="Arial"/>
                <a:sym typeface="Arial"/>
              </a:rPr>
              <a:t>.Net</a:t>
            </a:r>
            <a:r>
              <a:rPr lang="en-GB" sz="1600" b="0" i="0" u="none" strike="noStrike" cap="none" dirty="0">
                <a:solidFill>
                  <a:srgbClr val="000000"/>
                </a:solidFill>
                <a:latin typeface="Arial"/>
                <a:ea typeface="Arial"/>
                <a:cs typeface="Arial"/>
                <a:sym typeface="Arial"/>
              </a:rPr>
              <a:t>) and Ant, Maven, Gradle (Java), etc.</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266232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117;gd99b63929a_0_450">
            <a:extLst>
              <a:ext uri="{FF2B5EF4-FFF2-40B4-BE49-F238E27FC236}">
                <a16:creationId xmlns:a16="http://schemas.microsoft.com/office/drawing/2014/main" id="{D38A8038-6D1C-1F8F-DB1A-BB5D8D44E0CA}"/>
              </a:ext>
            </a:extLst>
          </p:cNvPr>
          <p:cNvSpPr txBox="1"/>
          <p:nvPr/>
        </p:nvSpPr>
        <p:spPr>
          <a:xfrm>
            <a:off x="379243" y="2161674"/>
            <a:ext cx="8128200"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600" b="0" i="0" u="none" strike="noStrike" cap="none">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8"/>
                  </a:ext>
                </a:extLst>
              </a:rPr>
              <a:t>Flow diagram explaining how compilation and packaging is being run by CI server</a:t>
            </a:r>
            <a:endParaRPr sz="1600" b="0" i="0" u="none" strike="noStrike" cap="none">
              <a:solidFill>
                <a:srgbClr val="000000"/>
              </a:solidFill>
              <a:latin typeface="Arial"/>
              <a:ea typeface="Arial"/>
              <a:cs typeface="Arial"/>
              <a:sym typeface="Arial"/>
            </a:endParaRPr>
          </a:p>
        </p:txBody>
      </p:sp>
      <p:grpSp>
        <p:nvGrpSpPr>
          <p:cNvPr id="10" name="Google Shape;1118;gd99b63929a_0_450">
            <a:extLst>
              <a:ext uri="{FF2B5EF4-FFF2-40B4-BE49-F238E27FC236}">
                <a16:creationId xmlns:a16="http://schemas.microsoft.com/office/drawing/2014/main" id="{F55F5960-2202-E816-B367-9E5731F988F1}"/>
              </a:ext>
            </a:extLst>
          </p:cNvPr>
          <p:cNvGrpSpPr/>
          <p:nvPr/>
        </p:nvGrpSpPr>
        <p:grpSpPr>
          <a:xfrm>
            <a:off x="2337827" y="2938001"/>
            <a:ext cx="4651227" cy="2721700"/>
            <a:chOff x="1124516" y="2305813"/>
            <a:chExt cx="4651227" cy="2721700"/>
          </a:xfrm>
        </p:grpSpPr>
        <p:pic>
          <p:nvPicPr>
            <p:cNvPr id="11" name="Google Shape;1119;gd99b63929a_0_450">
              <a:extLst>
                <a:ext uri="{FF2B5EF4-FFF2-40B4-BE49-F238E27FC236}">
                  <a16:creationId xmlns:a16="http://schemas.microsoft.com/office/drawing/2014/main" id="{47E479D6-F003-297D-D8EF-9D44DAEAB68F}"/>
                </a:ext>
              </a:extLst>
            </p:cNvPr>
            <p:cNvPicPr preferRelativeResize="0"/>
            <p:nvPr/>
          </p:nvPicPr>
          <p:blipFill rotWithShape="1">
            <a:blip r:embed="rId6">
              <a:alphaModFix/>
            </a:blip>
            <a:srcRect/>
            <a:stretch/>
          </p:blipFill>
          <p:spPr>
            <a:xfrm>
              <a:off x="1124516" y="3550487"/>
              <a:ext cx="560860" cy="657677"/>
            </a:xfrm>
            <a:prstGeom prst="rect">
              <a:avLst/>
            </a:prstGeom>
            <a:noFill/>
            <a:ln>
              <a:noFill/>
            </a:ln>
          </p:spPr>
        </p:pic>
        <p:pic>
          <p:nvPicPr>
            <p:cNvPr id="12" name="Google Shape;1120;gd99b63929a_0_450">
              <a:extLst>
                <a:ext uri="{FF2B5EF4-FFF2-40B4-BE49-F238E27FC236}">
                  <a16:creationId xmlns:a16="http://schemas.microsoft.com/office/drawing/2014/main" id="{4FFA81DE-26B4-23A6-F4DB-3958BF79566F}"/>
                </a:ext>
              </a:extLst>
            </p:cNvPr>
            <p:cNvPicPr preferRelativeResize="0"/>
            <p:nvPr/>
          </p:nvPicPr>
          <p:blipFill rotWithShape="1">
            <a:blip r:embed="rId6">
              <a:alphaModFix/>
            </a:blip>
            <a:srcRect/>
            <a:stretch/>
          </p:blipFill>
          <p:spPr>
            <a:xfrm>
              <a:off x="2559616" y="3550487"/>
              <a:ext cx="560860" cy="657677"/>
            </a:xfrm>
            <a:prstGeom prst="rect">
              <a:avLst/>
            </a:prstGeom>
            <a:noFill/>
            <a:ln>
              <a:noFill/>
            </a:ln>
          </p:spPr>
        </p:pic>
        <p:pic>
          <p:nvPicPr>
            <p:cNvPr id="13" name="Google Shape;1121;gd99b63929a_0_450">
              <a:extLst>
                <a:ext uri="{FF2B5EF4-FFF2-40B4-BE49-F238E27FC236}">
                  <a16:creationId xmlns:a16="http://schemas.microsoft.com/office/drawing/2014/main" id="{66ED7A13-1B31-53E9-856A-8A5515A49D0F}"/>
                </a:ext>
              </a:extLst>
            </p:cNvPr>
            <p:cNvPicPr preferRelativeResize="0"/>
            <p:nvPr/>
          </p:nvPicPr>
          <p:blipFill rotWithShape="1">
            <a:blip r:embed="rId7">
              <a:alphaModFix/>
            </a:blip>
            <a:srcRect/>
            <a:stretch/>
          </p:blipFill>
          <p:spPr>
            <a:xfrm>
              <a:off x="1898658" y="2424739"/>
              <a:ext cx="447675" cy="561975"/>
            </a:xfrm>
            <a:prstGeom prst="rect">
              <a:avLst/>
            </a:prstGeom>
            <a:noFill/>
            <a:ln>
              <a:noFill/>
            </a:ln>
          </p:spPr>
        </p:pic>
        <p:cxnSp>
          <p:nvCxnSpPr>
            <p:cNvPr id="14" name="Google Shape;1122;gd99b63929a_0_450">
              <a:extLst>
                <a:ext uri="{FF2B5EF4-FFF2-40B4-BE49-F238E27FC236}">
                  <a16:creationId xmlns:a16="http://schemas.microsoft.com/office/drawing/2014/main" id="{197B5B4A-2D08-5192-594B-E5719793A200}"/>
                </a:ext>
              </a:extLst>
            </p:cNvPr>
            <p:cNvCxnSpPr>
              <a:stCxn id="11" idx="0"/>
              <a:endCxn id="16" idx="2"/>
            </p:cNvCxnSpPr>
            <p:nvPr/>
          </p:nvCxnSpPr>
          <p:spPr>
            <a:xfrm rot="-5400000">
              <a:off x="1444996" y="2966237"/>
              <a:ext cx="544200" cy="624300"/>
            </a:xfrm>
            <a:prstGeom prst="bentConnector3">
              <a:avLst>
                <a:gd name="adj1" fmla="val -198197"/>
              </a:avLst>
            </a:prstGeom>
            <a:noFill/>
            <a:ln w="9525" cap="flat" cmpd="sng">
              <a:solidFill>
                <a:srgbClr val="5A5A5A"/>
              </a:solidFill>
              <a:prstDash val="solid"/>
              <a:round/>
              <a:headEnd type="none" w="sm" len="sm"/>
              <a:tailEnd type="triangle" w="med" len="med"/>
            </a:ln>
          </p:spPr>
        </p:cxnSp>
        <p:cxnSp>
          <p:nvCxnSpPr>
            <p:cNvPr id="15" name="Google Shape;1124;gd99b63929a_0_450">
              <a:extLst>
                <a:ext uri="{FF2B5EF4-FFF2-40B4-BE49-F238E27FC236}">
                  <a16:creationId xmlns:a16="http://schemas.microsoft.com/office/drawing/2014/main" id="{18C6464A-3B69-34A3-53F7-D613E4114037}"/>
                </a:ext>
              </a:extLst>
            </p:cNvPr>
            <p:cNvCxnSpPr>
              <a:stCxn id="12" idx="0"/>
              <a:endCxn id="17" idx="2"/>
            </p:cNvCxnSpPr>
            <p:nvPr/>
          </p:nvCxnSpPr>
          <p:spPr>
            <a:xfrm rot="5400000" flipH="1">
              <a:off x="2255796" y="2966237"/>
              <a:ext cx="544200" cy="624300"/>
            </a:xfrm>
            <a:prstGeom prst="bentConnector3">
              <a:avLst>
                <a:gd name="adj1" fmla="val -198197"/>
              </a:avLst>
            </a:prstGeom>
            <a:noFill/>
            <a:ln w="9525" cap="flat" cmpd="sng">
              <a:solidFill>
                <a:srgbClr val="5A5A5A"/>
              </a:solidFill>
              <a:prstDash val="solid"/>
              <a:round/>
              <a:headEnd type="none" w="sm" len="sm"/>
              <a:tailEnd type="triangle" w="med" len="med"/>
            </a:ln>
          </p:spPr>
        </p:cxnSp>
        <p:sp>
          <p:nvSpPr>
            <p:cNvPr id="16" name="Google Shape;1123;gd99b63929a_0_450">
              <a:extLst>
                <a:ext uri="{FF2B5EF4-FFF2-40B4-BE49-F238E27FC236}">
                  <a16:creationId xmlns:a16="http://schemas.microsoft.com/office/drawing/2014/main" id="{BB17E215-4651-8413-0632-D66B5AA29D6E}"/>
                </a:ext>
              </a:extLst>
            </p:cNvPr>
            <p:cNvSpPr/>
            <p:nvPr/>
          </p:nvSpPr>
          <p:spPr>
            <a:xfrm>
              <a:off x="1972157" y="2899507"/>
              <a:ext cx="114300" cy="106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 name="Google Shape;1125;gd99b63929a_0_450">
              <a:extLst>
                <a:ext uri="{FF2B5EF4-FFF2-40B4-BE49-F238E27FC236}">
                  <a16:creationId xmlns:a16="http://schemas.microsoft.com/office/drawing/2014/main" id="{6105B590-ADF7-775B-9E22-F301499534E2}"/>
                </a:ext>
              </a:extLst>
            </p:cNvPr>
            <p:cNvSpPr/>
            <p:nvPr/>
          </p:nvSpPr>
          <p:spPr>
            <a:xfrm>
              <a:off x="2158534" y="2899507"/>
              <a:ext cx="114300" cy="106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18" name="Google Shape;1126;gd99b63929a_0_450">
              <a:extLst>
                <a:ext uri="{FF2B5EF4-FFF2-40B4-BE49-F238E27FC236}">
                  <a16:creationId xmlns:a16="http://schemas.microsoft.com/office/drawing/2014/main" id="{BD121569-8E06-24EA-0AED-CD911E452966}"/>
                </a:ext>
              </a:extLst>
            </p:cNvPr>
            <p:cNvCxnSpPr/>
            <p:nvPr/>
          </p:nvCxnSpPr>
          <p:spPr>
            <a:xfrm>
              <a:off x="2346333" y="2725200"/>
              <a:ext cx="1641600" cy="0"/>
            </a:xfrm>
            <a:prstGeom prst="straightConnector1">
              <a:avLst/>
            </a:prstGeom>
            <a:noFill/>
            <a:ln w="9525" cap="flat" cmpd="sng">
              <a:solidFill>
                <a:srgbClr val="757070"/>
              </a:solidFill>
              <a:prstDash val="solid"/>
              <a:round/>
              <a:headEnd type="none" w="sm" len="sm"/>
              <a:tailEnd type="triangle" w="med" len="med"/>
            </a:ln>
          </p:spPr>
        </p:cxnSp>
        <p:sp>
          <p:nvSpPr>
            <p:cNvPr id="19" name="Google Shape;1127;gd99b63929a_0_450">
              <a:extLst>
                <a:ext uri="{FF2B5EF4-FFF2-40B4-BE49-F238E27FC236}">
                  <a16:creationId xmlns:a16="http://schemas.microsoft.com/office/drawing/2014/main" id="{118B25D2-09E4-6629-EDDF-1392B13A9D26}"/>
                </a:ext>
              </a:extLst>
            </p:cNvPr>
            <p:cNvSpPr txBox="1"/>
            <p:nvPr/>
          </p:nvSpPr>
          <p:spPr>
            <a:xfrm>
              <a:off x="1815522" y="3442021"/>
              <a:ext cx="614100" cy="3693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highlight>
                    <a:schemeClr val="lt1"/>
                  </a:highlight>
                  <a:latin typeface="Lato"/>
                  <a:ea typeface="Lato"/>
                  <a:cs typeface="Lato"/>
                  <a:sym typeface="Lato"/>
                </a:rPr>
                <a:t>Code</a:t>
              </a:r>
              <a:br>
                <a:rPr lang="en-GB" sz="1200" b="0" i="0" u="none" strike="noStrike" cap="none">
                  <a:solidFill>
                    <a:srgbClr val="000000"/>
                  </a:solidFill>
                  <a:highlight>
                    <a:schemeClr val="lt1"/>
                  </a:highlight>
                  <a:latin typeface="Lato"/>
                  <a:ea typeface="Lato"/>
                  <a:cs typeface="Lato"/>
                  <a:sym typeface="Lato"/>
                </a:rPr>
              </a:br>
              <a:r>
                <a:rPr lang="en-GB" sz="1200" b="0" i="0" u="none" strike="noStrike" cap="none">
                  <a:solidFill>
                    <a:srgbClr val="000000"/>
                  </a:solidFill>
                  <a:highlight>
                    <a:schemeClr val="lt1"/>
                  </a:highlight>
                  <a:latin typeface="Lato"/>
                  <a:ea typeface="Lato"/>
                  <a:cs typeface="Lato"/>
                  <a:sym typeface="Lato"/>
                </a:rPr>
                <a:t>Checkins</a:t>
              </a:r>
              <a:endParaRPr sz="1200" b="0" i="0" u="none" strike="noStrike" cap="none">
                <a:solidFill>
                  <a:srgbClr val="000000"/>
                </a:solidFill>
                <a:highlight>
                  <a:schemeClr val="lt1"/>
                </a:highlight>
                <a:latin typeface="Lato"/>
                <a:ea typeface="Lato"/>
                <a:cs typeface="Lato"/>
                <a:sym typeface="Lato"/>
              </a:endParaRPr>
            </a:p>
          </p:txBody>
        </p:sp>
        <p:sp>
          <p:nvSpPr>
            <p:cNvPr id="20" name="Google Shape;1128;gd99b63929a_0_450">
              <a:extLst>
                <a:ext uri="{FF2B5EF4-FFF2-40B4-BE49-F238E27FC236}">
                  <a16:creationId xmlns:a16="http://schemas.microsoft.com/office/drawing/2014/main" id="{6B6FDDCF-35EE-8C1E-21D0-738109911AD6}"/>
                </a:ext>
              </a:extLst>
            </p:cNvPr>
            <p:cNvSpPr txBox="1"/>
            <p:nvPr/>
          </p:nvSpPr>
          <p:spPr>
            <a:xfrm>
              <a:off x="2664526" y="2826304"/>
              <a:ext cx="10050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dirty="0">
                  <a:solidFill>
                    <a:srgbClr val="000000"/>
                  </a:solidFill>
                  <a:latin typeface="Lato"/>
                  <a:ea typeface="Lato"/>
                  <a:cs typeface="Lato"/>
                  <a:sym typeface="Lato"/>
                </a:rPr>
                <a:t>Fetch Changes</a:t>
              </a:r>
              <a:endParaRPr sz="1400" b="0" i="0" u="none" strike="noStrike" cap="none" dirty="0">
                <a:solidFill>
                  <a:srgbClr val="000000"/>
                </a:solidFill>
                <a:latin typeface="Arial"/>
                <a:ea typeface="Arial"/>
                <a:cs typeface="Arial"/>
                <a:sym typeface="Arial"/>
              </a:endParaRPr>
            </a:p>
          </p:txBody>
        </p:sp>
        <p:pic>
          <p:nvPicPr>
            <p:cNvPr id="21" name="Google Shape;1129;gd99b63929a_0_450">
              <a:extLst>
                <a:ext uri="{FF2B5EF4-FFF2-40B4-BE49-F238E27FC236}">
                  <a16:creationId xmlns:a16="http://schemas.microsoft.com/office/drawing/2014/main" id="{5155C839-90CB-864C-6764-781B7952123E}"/>
                </a:ext>
              </a:extLst>
            </p:cNvPr>
            <p:cNvPicPr preferRelativeResize="0"/>
            <p:nvPr/>
          </p:nvPicPr>
          <p:blipFill rotWithShape="1">
            <a:blip r:embed="rId7">
              <a:alphaModFix/>
            </a:blip>
            <a:srcRect/>
            <a:stretch/>
          </p:blipFill>
          <p:spPr>
            <a:xfrm>
              <a:off x="3981458" y="2424739"/>
              <a:ext cx="447675" cy="561975"/>
            </a:xfrm>
            <a:prstGeom prst="rect">
              <a:avLst/>
            </a:prstGeom>
            <a:noFill/>
            <a:ln>
              <a:noFill/>
            </a:ln>
          </p:spPr>
        </p:pic>
        <p:pic>
          <p:nvPicPr>
            <p:cNvPr id="22" name="Google Shape;1130;gd99b63929a_0_450">
              <a:extLst>
                <a:ext uri="{FF2B5EF4-FFF2-40B4-BE49-F238E27FC236}">
                  <a16:creationId xmlns:a16="http://schemas.microsoft.com/office/drawing/2014/main" id="{40E820F6-4C8C-544A-07B5-F6EFEC01F5BF}"/>
                </a:ext>
              </a:extLst>
            </p:cNvPr>
            <p:cNvPicPr preferRelativeResize="0"/>
            <p:nvPr/>
          </p:nvPicPr>
          <p:blipFill rotWithShape="1">
            <a:blip r:embed="rId8">
              <a:alphaModFix/>
            </a:blip>
            <a:srcRect/>
            <a:stretch/>
          </p:blipFill>
          <p:spPr>
            <a:xfrm>
              <a:off x="4833725" y="2305813"/>
              <a:ext cx="942018" cy="799826"/>
            </a:xfrm>
            <a:prstGeom prst="rect">
              <a:avLst/>
            </a:prstGeom>
            <a:noFill/>
            <a:ln>
              <a:noFill/>
            </a:ln>
          </p:spPr>
        </p:pic>
        <p:sp>
          <p:nvSpPr>
            <p:cNvPr id="23" name="Google Shape;1131;gd99b63929a_0_450">
              <a:extLst>
                <a:ext uri="{FF2B5EF4-FFF2-40B4-BE49-F238E27FC236}">
                  <a16:creationId xmlns:a16="http://schemas.microsoft.com/office/drawing/2014/main" id="{AF78363C-C25F-9BE7-9946-B21A3205D7DD}"/>
                </a:ext>
              </a:extLst>
            </p:cNvPr>
            <p:cNvSpPr/>
            <p:nvPr/>
          </p:nvSpPr>
          <p:spPr>
            <a:xfrm>
              <a:off x="4992914" y="3149600"/>
              <a:ext cx="319315" cy="1582057"/>
            </a:xfrm>
            <a:custGeom>
              <a:avLst/>
              <a:gdLst/>
              <a:ahLst/>
              <a:cxnLst/>
              <a:rect l="l" t="t" r="r" b="b"/>
              <a:pathLst>
                <a:path w="319315" h="1582057" extrusionOk="0">
                  <a:moveTo>
                    <a:pt x="319315" y="0"/>
                  </a:moveTo>
                  <a:lnTo>
                    <a:pt x="319315" y="1582057"/>
                  </a:lnTo>
                  <a:lnTo>
                    <a:pt x="0" y="1582057"/>
                  </a:lnTo>
                </a:path>
              </a:pathLst>
            </a:custGeom>
            <a:noFill/>
            <a:ln w="9525" cap="flat" cmpd="sng">
              <a:solidFill>
                <a:srgbClr val="757070"/>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 name="Google Shape;1132;gd99b63929a_0_450">
              <a:extLst>
                <a:ext uri="{FF2B5EF4-FFF2-40B4-BE49-F238E27FC236}">
                  <a16:creationId xmlns:a16="http://schemas.microsoft.com/office/drawing/2014/main" id="{F4C87243-071F-3B21-0CC8-B083ABEF440A}"/>
                </a:ext>
              </a:extLst>
            </p:cNvPr>
            <p:cNvSpPr/>
            <p:nvPr/>
          </p:nvSpPr>
          <p:spPr>
            <a:xfrm>
              <a:off x="2902857" y="4441371"/>
              <a:ext cx="2017486" cy="290286"/>
            </a:xfrm>
            <a:custGeom>
              <a:avLst/>
              <a:gdLst/>
              <a:ahLst/>
              <a:cxnLst/>
              <a:rect l="l" t="t" r="r" b="b"/>
              <a:pathLst>
                <a:path w="2017486" h="290286" extrusionOk="0">
                  <a:moveTo>
                    <a:pt x="2017486" y="290286"/>
                  </a:moveTo>
                  <a:lnTo>
                    <a:pt x="0" y="290286"/>
                  </a:lnTo>
                  <a:lnTo>
                    <a:pt x="0" y="0"/>
                  </a:lnTo>
                </a:path>
              </a:pathLst>
            </a:custGeom>
            <a:noFill/>
            <a:ln w="9525" cap="flat" cmpd="sng">
              <a:solidFill>
                <a:srgbClr val="757070"/>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 name="Google Shape;1133;gd99b63929a_0_450">
              <a:extLst>
                <a:ext uri="{FF2B5EF4-FFF2-40B4-BE49-F238E27FC236}">
                  <a16:creationId xmlns:a16="http://schemas.microsoft.com/office/drawing/2014/main" id="{A4133D92-8396-CFED-13B5-EE7CF146ECAC}"/>
                </a:ext>
              </a:extLst>
            </p:cNvPr>
            <p:cNvSpPr/>
            <p:nvPr/>
          </p:nvSpPr>
          <p:spPr>
            <a:xfrm>
              <a:off x="1404945" y="4441371"/>
              <a:ext cx="1699732" cy="290286"/>
            </a:xfrm>
            <a:custGeom>
              <a:avLst/>
              <a:gdLst/>
              <a:ahLst/>
              <a:cxnLst/>
              <a:rect l="l" t="t" r="r" b="b"/>
              <a:pathLst>
                <a:path w="2017486" h="290286" extrusionOk="0">
                  <a:moveTo>
                    <a:pt x="2017486" y="290286"/>
                  </a:moveTo>
                  <a:lnTo>
                    <a:pt x="0" y="290286"/>
                  </a:lnTo>
                  <a:lnTo>
                    <a:pt x="0" y="0"/>
                  </a:lnTo>
                </a:path>
              </a:pathLst>
            </a:custGeom>
            <a:noFill/>
            <a:ln w="9525" cap="flat" cmpd="sng">
              <a:solidFill>
                <a:srgbClr val="757070"/>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 name="Google Shape;1134;gd99b63929a_0_450">
              <a:extLst>
                <a:ext uri="{FF2B5EF4-FFF2-40B4-BE49-F238E27FC236}">
                  <a16:creationId xmlns:a16="http://schemas.microsoft.com/office/drawing/2014/main" id="{6AF42EF3-7581-99F7-8890-D186A049B92B}"/>
                </a:ext>
              </a:extLst>
            </p:cNvPr>
            <p:cNvSpPr txBox="1"/>
            <p:nvPr/>
          </p:nvSpPr>
          <p:spPr>
            <a:xfrm>
              <a:off x="2840045" y="4842713"/>
              <a:ext cx="1255200" cy="18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Lato"/>
                  <a:ea typeface="Lato"/>
                  <a:cs typeface="Lato"/>
                  <a:sym typeface="Lato"/>
                </a:rPr>
                <a:t>Build Notifications</a:t>
              </a:r>
              <a:endParaRPr sz="1400" b="0" i="0" u="none" strike="noStrike" cap="none">
                <a:solidFill>
                  <a:srgbClr val="000000"/>
                </a:solidFill>
                <a:latin typeface="Arial"/>
                <a:ea typeface="Arial"/>
                <a:cs typeface="Arial"/>
                <a:sym typeface="Arial"/>
              </a:endParaRPr>
            </a:p>
          </p:txBody>
        </p:sp>
      </p:grpSp>
      <p:sp>
        <p:nvSpPr>
          <p:cNvPr id="27" name="Google Shape;1135;gd99b63929a_0_450">
            <a:extLst>
              <a:ext uri="{FF2B5EF4-FFF2-40B4-BE49-F238E27FC236}">
                <a16:creationId xmlns:a16="http://schemas.microsoft.com/office/drawing/2014/main" id="{EE8C78BF-B460-8A0B-06E6-0FA56C9ACC05}"/>
              </a:ext>
            </a:extLst>
          </p:cNvPr>
          <p:cNvSpPr/>
          <p:nvPr/>
        </p:nvSpPr>
        <p:spPr>
          <a:xfrm>
            <a:off x="2165952" y="1389262"/>
            <a:ext cx="5522100" cy="4026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Compilation and Packaging</a:t>
            </a:r>
            <a:endParaRPr sz="2540" b="0" i="0" u="none" strike="noStrike" cap="none" dirty="0">
              <a:latin typeface="Arial"/>
              <a:ea typeface="Arial"/>
              <a:cs typeface="Arial"/>
              <a:sym typeface="Arial"/>
            </a:endParaRPr>
          </a:p>
        </p:txBody>
      </p:sp>
    </p:spTree>
    <p:extLst>
      <p:ext uri="{BB962C8B-B14F-4D97-AF65-F5344CB8AC3E}">
        <p14:creationId xmlns:p14="http://schemas.microsoft.com/office/powerpoint/2010/main" val="4292207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140;p26">
            <a:extLst>
              <a:ext uri="{FF2B5EF4-FFF2-40B4-BE49-F238E27FC236}">
                <a16:creationId xmlns:a16="http://schemas.microsoft.com/office/drawing/2014/main" id="{65D4494E-6C89-EE8F-CB72-C157ADEE7584}"/>
              </a:ext>
            </a:extLst>
          </p:cNvPr>
          <p:cNvSpPr/>
          <p:nvPr/>
        </p:nvSpPr>
        <p:spPr>
          <a:xfrm>
            <a:off x="2243958" y="1370730"/>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Static Code Analysis</a:t>
            </a:r>
            <a:endParaRPr sz="2540" b="0" i="0" u="none" strike="noStrike" cap="none" dirty="0">
              <a:latin typeface="Arial"/>
              <a:ea typeface="Arial"/>
              <a:cs typeface="Arial"/>
              <a:sym typeface="Arial"/>
            </a:endParaRPr>
          </a:p>
        </p:txBody>
      </p:sp>
      <p:sp>
        <p:nvSpPr>
          <p:cNvPr id="11" name="Google Shape;1142;p26">
            <a:extLst>
              <a:ext uri="{FF2B5EF4-FFF2-40B4-BE49-F238E27FC236}">
                <a16:creationId xmlns:a16="http://schemas.microsoft.com/office/drawing/2014/main" id="{74FDDC85-C363-9ADB-68D9-8935AD701F09}"/>
              </a:ext>
            </a:extLst>
          </p:cNvPr>
          <p:cNvSpPr/>
          <p:nvPr/>
        </p:nvSpPr>
        <p:spPr>
          <a:xfrm>
            <a:off x="603720" y="2464848"/>
            <a:ext cx="10654598" cy="3784198"/>
          </a:xfrm>
          <a:prstGeom prst="rect">
            <a:avLst/>
          </a:prstGeom>
          <a:noFill/>
          <a:ln>
            <a:noFill/>
          </a:ln>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Static code analysis (also known as Source Code Analysis) is a method of debugging by examining source code before a program is run. This is done by analysing a set of code against a set (or multiple sets) of coding rules</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Some of the common techniques are </a:t>
            </a:r>
            <a:r>
              <a:rPr lang="en-GB" sz="1600" b="0" i="1" u="none" strike="noStrike" cap="none" dirty="0">
                <a:solidFill>
                  <a:srgbClr val="000000"/>
                </a:solidFill>
                <a:latin typeface="Arial"/>
                <a:ea typeface="Arial"/>
                <a:cs typeface="Arial"/>
                <a:sym typeface="Arial"/>
              </a:rPr>
              <a:t>Taint Analysis</a:t>
            </a:r>
            <a:r>
              <a:rPr lang="en-GB" sz="1600" b="0" i="0" u="none" strike="noStrike" cap="none" dirty="0">
                <a:solidFill>
                  <a:srgbClr val="000000"/>
                </a:solidFill>
                <a:latin typeface="Arial"/>
                <a:ea typeface="Arial"/>
                <a:cs typeface="Arial"/>
                <a:sym typeface="Arial"/>
              </a:rPr>
              <a:t> and </a:t>
            </a:r>
            <a:r>
              <a:rPr lang="en-GB" sz="1600" b="0" i="1" u="none" strike="noStrike" cap="none" dirty="0">
                <a:solidFill>
                  <a:srgbClr val="000000"/>
                </a:solidFill>
                <a:latin typeface="Arial"/>
                <a:ea typeface="Arial"/>
                <a:cs typeface="Arial"/>
                <a:sym typeface="Arial"/>
              </a:rPr>
              <a:t>Data flow Analysis</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GB" sz="1600" b="1" i="0" u="none" strike="noStrike" cap="none" dirty="0">
                <a:solidFill>
                  <a:srgbClr val="203864"/>
                </a:solidFill>
                <a:latin typeface="Arial"/>
                <a:ea typeface="Arial"/>
                <a:cs typeface="Arial"/>
                <a:sym typeface="Arial"/>
              </a:rPr>
              <a:t>Taint Analysis</a:t>
            </a:r>
            <a:endParaRPr sz="1600" b="1"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Taint analysis is an analysis that detects any injection vulnerability pattern in source code. The analysis identifies the information flow of untrustworthy input that affects the sensitive sink or part of the system</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br>
              <a:rPr lang="en-GB" sz="1600" b="1" i="0" u="none" strike="noStrike" cap="none" dirty="0">
                <a:solidFill>
                  <a:srgbClr val="203864"/>
                </a:solidFill>
                <a:latin typeface="Arial"/>
                <a:ea typeface="Arial"/>
                <a:cs typeface="Arial"/>
                <a:sym typeface="Arial"/>
              </a:rPr>
            </a:br>
            <a:r>
              <a:rPr lang="en-GB" sz="1600" b="1" i="0" u="none" strike="noStrike" cap="none" dirty="0">
                <a:solidFill>
                  <a:srgbClr val="203864"/>
                </a:solidFill>
                <a:latin typeface="Arial"/>
                <a:ea typeface="Arial"/>
                <a:cs typeface="Arial"/>
                <a:sym typeface="Arial"/>
              </a:rPr>
              <a:t>Data Flow Analysis: </a:t>
            </a:r>
            <a:endParaRPr sz="1600" b="1" i="0" u="none" strike="noStrike" cap="none" dirty="0">
              <a:solidFill>
                <a:srgbClr val="20386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GB" sz="1600" b="0" i="0" u="none" strike="noStrike" cap="none" dirty="0">
                <a:solidFill>
                  <a:schemeClr val="dk1"/>
                </a:solidFill>
                <a:latin typeface="Arial"/>
                <a:ea typeface="Arial"/>
                <a:cs typeface="Arial"/>
                <a:sym typeface="Arial"/>
              </a:rPr>
              <a:t>Data flow testing is a testing strategy that focuses on the data variables and their values, used in the programming logic of the software product, by making use of the control flow graph. Data flow testing is a form of white box testing and structural type testing that generally keeps check at the points where the data values are being received by the variables and at the points </a:t>
            </a:r>
            <a:r>
              <a:rPr lang="en-GB" sz="1600" b="0" i="0" u="none" strike="noStrike" cap="none" dirty="0">
                <a:solidFill>
                  <a:schemeClr val="dk1"/>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9"/>
                  </a:ext>
                </a:extLst>
              </a:rPr>
              <a:t>when </a:t>
            </a:r>
            <a:r>
              <a:rPr lang="en-GB" sz="1600" b="0" i="0" u="none" strike="noStrike" cap="none" dirty="0">
                <a:solidFill>
                  <a:schemeClr val="dk1"/>
                </a:solidFill>
                <a:latin typeface="Arial"/>
                <a:ea typeface="Arial"/>
                <a:cs typeface="Arial"/>
                <a:sym typeface="Arial"/>
              </a:rPr>
              <a:t>it is called for use. </a:t>
            </a:r>
            <a:endParaRPr sz="1600" b="1" i="0" u="sng" strike="noStrike" cap="none" dirty="0">
              <a:solidFill>
                <a:srgbClr val="203864"/>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p:txBody>
      </p:sp>
      <p:sp>
        <p:nvSpPr>
          <p:cNvPr id="12" name="Google Shape;1143;p26">
            <a:extLst>
              <a:ext uri="{FF2B5EF4-FFF2-40B4-BE49-F238E27FC236}">
                <a16:creationId xmlns:a16="http://schemas.microsoft.com/office/drawing/2014/main" id="{A92B8A3E-0EFC-0938-AD37-12464D40DE7E}"/>
              </a:ext>
            </a:extLst>
          </p:cNvPr>
          <p:cNvSpPr/>
          <p:nvPr/>
        </p:nvSpPr>
        <p:spPr>
          <a:xfrm>
            <a:off x="606600" y="2157038"/>
            <a:ext cx="1492626" cy="3371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600" b="1" i="0" u="none" strike="noStrike" cap="none" dirty="0">
                <a:solidFill>
                  <a:srgbClr val="203864"/>
                </a:solidFill>
                <a:latin typeface="Arial"/>
                <a:ea typeface="Arial"/>
                <a:cs typeface="Arial"/>
                <a:sym typeface="Arial"/>
              </a:rPr>
              <a:t>Definition</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739339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pic>
        <p:nvPicPr>
          <p:cNvPr id="9" name="Google Shape;1149;gd2941260b3_0_10">
            <a:extLst>
              <a:ext uri="{FF2B5EF4-FFF2-40B4-BE49-F238E27FC236}">
                <a16:creationId xmlns:a16="http://schemas.microsoft.com/office/drawing/2014/main" id="{3E1EA9F6-B7AC-A174-FA3A-827F8B7B7CA1}"/>
              </a:ext>
            </a:extLst>
          </p:cNvPr>
          <p:cNvPicPr preferRelativeResize="0"/>
          <p:nvPr/>
        </p:nvPicPr>
        <p:blipFill rotWithShape="1">
          <a:blip r:embed="rId6">
            <a:alphaModFix/>
          </a:blip>
          <a:srcRect/>
          <a:stretch/>
        </p:blipFill>
        <p:spPr>
          <a:xfrm>
            <a:off x="1253580" y="4268800"/>
            <a:ext cx="4412051" cy="2589200"/>
          </a:xfrm>
          <a:prstGeom prst="rect">
            <a:avLst/>
          </a:prstGeom>
          <a:noFill/>
          <a:ln>
            <a:noFill/>
          </a:ln>
        </p:spPr>
      </p:pic>
      <p:pic>
        <p:nvPicPr>
          <p:cNvPr id="10" name="Google Shape;1150;gd2941260b3_0_10">
            <a:extLst>
              <a:ext uri="{FF2B5EF4-FFF2-40B4-BE49-F238E27FC236}">
                <a16:creationId xmlns:a16="http://schemas.microsoft.com/office/drawing/2014/main" id="{719AA38B-C730-7E59-6CAF-82C8AD5F5EB9}"/>
              </a:ext>
            </a:extLst>
          </p:cNvPr>
          <p:cNvPicPr preferRelativeResize="0"/>
          <p:nvPr/>
        </p:nvPicPr>
        <p:blipFill rotWithShape="1">
          <a:blip r:embed="rId7">
            <a:alphaModFix/>
          </a:blip>
          <a:srcRect/>
          <a:stretch/>
        </p:blipFill>
        <p:spPr>
          <a:xfrm>
            <a:off x="6096000" y="4249343"/>
            <a:ext cx="4731949" cy="2589200"/>
          </a:xfrm>
          <a:prstGeom prst="rect">
            <a:avLst/>
          </a:prstGeom>
          <a:noFill/>
          <a:ln>
            <a:noFill/>
          </a:ln>
        </p:spPr>
      </p:pic>
      <p:sp>
        <p:nvSpPr>
          <p:cNvPr id="11" name="Google Shape;1151;gd2941260b3_0_10">
            <a:extLst>
              <a:ext uri="{FF2B5EF4-FFF2-40B4-BE49-F238E27FC236}">
                <a16:creationId xmlns:a16="http://schemas.microsoft.com/office/drawing/2014/main" id="{893F9AC7-E789-BF28-C4BE-7C725ADAA931}"/>
              </a:ext>
            </a:extLst>
          </p:cNvPr>
          <p:cNvSpPr/>
          <p:nvPr/>
        </p:nvSpPr>
        <p:spPr>
          <a:xfrm>
            <a:off x="1466499" y="1892062"/>
            <a:ext cx="7936200" cy="1538700"/>
          </a:xfrm>
          <a:prstGeom prst="rect">
            <a:avLst/>
          </a:prstGeom>
          <a:noFill/>
          <a:ln>
            <a:noFill/>
          </a:ln>
        </p:spPr>
        <p:txBody>
          <a:bodyPr spcFirstLastPara="1" wrap="square" lIns="90000" tIns="45000" rIns="90000" bIns="45000" anchor="t" anchorCtr="0">
            <a:noAutofit/>
          </a:bodyPr>
          <a:lstStyle/>
          <a:p>
            <a:pPr marL="285840" marR="0" lvl="0"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rPr>
              <a:t>Evaluation of full source code, which increases the code quality</a:t>
            </a:r>
            <a:endParaRPr sz="1600" b="0" i="0" u="none" strike="noStrike" cap="none" dirty="0">
              <a:solidFill>
                <a:srgbClr val="000000"/>
              </a:solidFill>
              <a:latin typeface="Arial"/>
              <a:ea typeface="Arial"/>
              <a:cs typeface="Arial"/>
              <a:sym typeface="Arial"/>
            </a:endParaRPr>
          </a:p>
          <a:p>
            <a:pPr marL="285840" marR="0" lvl="0"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chemeClr val="dk1"/>
                </a:solidFill>
                <a:latin typeface="Arial"/>
                <a:ea typeface="Arial"/>
                <a:cs typeface="Arial"/>
                <a:sym typeface="Arial"/>
              </a:rPr>
              <a:t>Typically done using automated tools, making it less prone to human error</a:t>
            </a:r>
            <a:endParaRPr sz="1600" b="0" i="0" u="none" strike="noStrike" cap="none" dirty="0">
              <a:solidFill>
                <a:schemeClr val="dk1"/>
              </a:solidFill>
              <a:latin typeface="Arial"/>
              <a:ea typeface="Arial"/>
              <a:cs typeface="Arial"/>
              <a:sym typeface="Arial"/>
            </a:endParaRPr>
          </a:p>
          <a:p>
            <a:pPr marL="285840" marR="0" lvl="0"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chemeClr val="dk1"/>
                </a:solidFill>
                <a:latin typeface="Arial"/>
                <a:ea typeface="Arial"/>
                <a:cs typeface="Arial"/>
                <a:sym typeface="Arial"/>
              </a:rPr>
              <a:t>Much faster than other methods of code review mechanisms</a:t>
            </a:r>
            <a:endParaRPr sz="1600" b="0" i="0" u="none" strike="noStrike" cap="none" dirty="0">
              <a:solidFill>
                <a:schemeClr val="dk1"/>
              </a:solidFill>
              <a:latin typeface="Arial"/>
              <a:ea typeface="Arial"/>
              <a:cs typeface="Arial"/>
              <a:sym typeface="Arial"/>
            </a:endParaRPr>
          </a:p>
          <a:p>
            <a:pPr marL="285840" marR="0" lvl="0"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chemeClr val="dk1"/>
                </a:solidFill>
                <a:latin typeface="Arial"/>
                <a:ea typeface="Arial"/>
                <a:cs typeface="Arial"/>
                <a:sym typeface="Arial"/>
              </a:rPr>
              <a:t>More cost-effective than pair programming</a:t>
            </a:r>
            <a:endParaRPr sz="1600" b="0" i="0" u="none" strike="noStrike" cap="none" dirty="0">
              <a:solidFill>
                <a:srgbClr val="000000"/>
              </a:solidFill>
              <a:latin typeface="Arial"/>
              <a:ea typeface="Arial"/>
              <a:cs typeface="Arial"/>
              <a:sym typeface="Arial"/>
            </a:endParaRPr>
          </a:p>
          <a:p>
            <a:pPr marL="285840" marR="0" lvl="0"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chemeClr val="dk1"/>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0"/>
                  </a:ext>
                </a:extLst>
              </a:rPr>
              <a:t>Incremental scan capability only analyses new or modified code</a:t>
            </a:r>
            <a:endParaRPr sz="1600" b="0" i="0" u="none" strike="noStrike" cap="none" dirty="0">
              <a:solidFill>
                <a:schemeClr val="dk1"/>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1"/>
                </a:ext>
              </a:extLst>
            </a:endParaRPr>
          </a:p>
          <a:p>
            <a:pPr marL="285840" marR="0" lvl="0"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chemeClr val="dk1"/>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2"/>
                  </a:ext>
                </a:extLst>
              </a:rPr>
              <a:t>No dependencies need to be configured. You just throw at it!</a:t>
            </a:r>
            <a:endParaRPr sz="1600" b="0" i="0" u="none" strike="noStrike" cap="none" dirty="0">
              <a:solidFill>
                <a:srgbClr val="000000"/>
              </a:solidFill>
              <a:latin typeface="Arial"/>
              <a:ea typeface="Arial"/>
              <a:cs typeface="Arial"/>
              <a:sym typeface="Arial"/>
            </a:endParaRPr>
          </a:p>
        </p:txBody>
      </p:sp>
      <p:sp>
        <p:nvSpPr>
          <p:cNvPr id="12" name="Google Shape;1152;gd2941260b3_0_10">
            <a:extLst>
              <a:ext uri="{FF2B5EF4-FFF2-40B4-BE49-F238E27FC236}">
                <a16:creationId xmlns:a16="http://schemas.microsoft.com/office/drawing/2014/main" id="{594B27DC-3F6B-1F06-759F-500956815093}"/>
              </a:ext>
            </a:extLst>
          </p:cNvPr>
          <p:cNvSpPr/>
          <p:nvPr/>
        </p:nvSpPr>
        <p:spPr>
          <a:xfrm>
            <a:off x="2115117" y="1404573"/>
            <a:ext cx="7390200" cy="3078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2500" b="0" i="0" u="none" strike="noStrike" cap="none" dirty="0">
                <a:latin typeface="Proxima Nova"/>
                <a:ea typeface="Proxima Nova"/>
                <a:cs typeface="Proxima Nova"/>
                <a:sym typeface="Proxima Nova"/>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3"/>
                  </a:ext>
                </a:extLst>
              </a:rPr>
              <a:t>Benefits</a:t>
            </a:r>
            <a:r>
              <a:rPr lang="en-GB" sz="2500" b="0" i="0" u="none" strike="noStrike" cap="none" dirty="0">
                <a:latin typeface="Proxima Nova"/>
                <a:ea typeface="Proxima Nova"/>
                <a:cs typeface="Proxima Nova"/>
                <a:sym typeface="Proxima Nova"/>
              </a:rPr>
              <a:t> of Static Code Analysis</a:t>
            </a:r>
            <a:endParaRPr sz="2500" b="0" i="0" u="none" strike="noStrike" cap="none" dirty="0">
              <a:latin typeface="Proxima Nova"/>
              <a:ea typeface="Proxima Nova"/>
              <a:cs typeface="Proxima Nova"/>
              <a:sym typeface="Proxima Nova"/>
            </a:endParaRPr>
          </a:p>
        </p:txBody>
      </p:sp>
    </p:spTree>
    <p:extLst>
      <p:ext uri="{BB962C8B-B14F-4D97-AF65-F5344CB8AC3E}">
        <p14:creationId xmlns:p14="http://schemas.microsoft.com/office/powerpoint/2010/main" val="2143470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157;p27">
            <a:extLst>
              <a:ext uri="{FF2B5EF4-FFF2-40B4-BE49-F238E27FC236}">
                <a16:creationId xmlns:a16="http://schemas.microsoft.com/office/drawing/2014/main" id="{AD43B76F-7940-7867-9FFD-E103ED50AB98}"/>
              </a:ext>
            </a:extLst>
          </p:cNvPr>
          <p:cNvSpPr/>
          <p:nvPr/>
        </p:nvSpPr>
        <p:spPr>
          <a:xfrm>
            <a:off x="2243958" y="1417448"/>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Static Code Analysis: Popular Tools</a:t>
            </a:r>
            <a:endParaRPr sz="2540" b="0" i="0" u="none" strike="noStrike" cap="none" dirty="0">
              <a:latin typeface="Arial"/>
              <a:ea typeface="Arial"/>
              <a:cs typeface="Arial"/>
              <a:sym typeface="Arial"/>
            </a:endParaRPr>
          </a:p>
        </p:txBody>
      </p:sp>
      <p:pic>
        <p:nvPicPr>
          <p:cNvPr id="11" name="Google Shape;1159;p27">
            <a:extLst>
              <a:ext uri="{FF2B5EF4-FFF2-40B4-BE49-F238E27FC236}">
                <a16:creationId xmlns:a16="http://schemas.microsoft.com/office/drawing/2014/main" id="{D5EE1419-8917-C293-50EA-109C9C88C542}"/>
              </a:ext>
            </a:extLst>
          </p:cNvPr>
          <p:cNvPicPr preferRelativeResize="0"/>
          <p:nvPr/>
        </p:nvPicPr>
        <p:blipFill rotWithShape="1">
          <a:blip r:embed="rId6">
            <a:alphaModFix/>
          </a:blip>
          <a:srcRect/>
          <a:stretch/>
        </p:blipFill>
        <p:spPr>
          <a:xfrm>
            <a:off x="731901" y="1909251"/>
            <a:ext cx="10288449" cy="4708023"/>
          </a:xfrm>
          <a:prstGeom prst="rect">
            <a:avLst/>
          </a:prstGeom>
          <a:noFill/>
          <a:ln>
            <a:noFill/>
          </a:ln>
        </p:spPr>
      </p:pic>
    </p:spTree>
    <p:extLst>
      <p:ext uri="{BB962C8B-B14F-4D97-AF65-F5344CB8AC3E}">
        <p14:creationId xmlns:p14="http://schemas.microsoft.com/office/powerpoint/2010/main" val="756572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164;p28">
            <a:extLst>
              <a:ext uri="{FF2B5EF4-FFF2-40B4-BE49-F238E27FC236}">
                <a16:creationId xmlns:a16="http://schemas.microsoft.com/office/drawing/2014/main" id="{2B4C2F2F-27F8-77D4-92C7-A9D469795096}"/>
              </a:ext>
            </a:extLst>
          </p:cNvPr>
          <p:cNvSpPr/>
          <p:nvPr/>
        </p:nvSpPr>
        <p:spPr>
          <a:xfrm>
            <a:off x="2243958" y="1313424"/>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Artifact Repository</a:t>
            </a:r>
            <a:endParaRPr sz="2540" b="0" i="0" u="none" strike="noStrike" cap="none" dirty="0">
              <a:latin typeface="Arial"/>
              <a:ea typeface="Arial"/>
              <a:cs typeface="Arial"/>
              <a:sym typeface="Arial"/>
            </a:endParaRPr>
          </a:p>
        </p:txBody>
      </p:sp>
      <p:sp>
        <p:nvSpPr>
          <p:cNvPr id="11" name="Google Shape;1166;p28">
            <a:extLst>
              <a:ext uri="{FF2B5EF4-FFF2-40B4-BE49-F238E27FC236}">
                <a16:creationId xmlns:a16="http://schemas.microsoft.com/office/drawing/2014/main" id="{E19F44D9-8566-DDF9-B7DE-0F9338B77CBB}"/>
              </a:ext>
            </a:extLst>
          </p:cNvPr>
          <p:cNvSpPr/>
          <p:nvPr/>
        </p:nvSpPr>
        <p:spPr>
          <a:xfrm>
            <a:off x="1785467" y="2188801"/>
            <a:ext cx="9107568" cy="3784198"/>
          </a:xfrm>
          <a:prstGeom prst="rect">
            <a:avLst/>
          </a:prstGeom>
          <a:noFill/>
          <a:ln>
            <a:noFill/>
          </a:ln>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One of the main objective of a fully integrated CI system is to generate the bundled software artifacts with the latest code changes and make it available for Continuous Delivery or Continuous Deployment pipelines</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For this purpose, we generally need an </a:t>
            </a:r>
            <a:r>
              <a:rPr lang="en-GB" sz="1600" b="1" i="1" u="none" strike="noStrike" cap="none" dirty="0">
                <a:solidFill>
                  <a:srgbClr val="000000"/>
                </a:solidFill>
                <a:latin typeface="Arial"/>
                <a:ea typeface="Arial"/>
                <a:cs typeface="Arial"/>
                <a:sym typeface="Arial"/>
              </a:rPr>
              <a:t>Artifact Repository</a:t>
            </a:r>
            <a:r>
              <a:rPr lang="en-GB" sz="1600" b="0" i="0" u="none" strike="noStrike" cap="none" dirty="0">
                <a:solidFill>
                  <a:srgbClr val="000000"/>
                </a:solidFill>
                <a:latin typeface="Arial"/>
                <a:ea typeface="Arial"/>
                <a:cs typeface="Arial"/>
                <a:sym typeface="Arial"/>
              </a:rPr>
              <a:t> software, which typically acts as an output location for a CI workflow and an input location for a CD workflow</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rPr>
              <a:t>An Artifact Repository is sometimes also referred to as </a:t>
            </a:r>
            <a:r>
              <a:rPr lang="en-GB" sz="1600" b="1" i="1" u="none" strike="noStrike" cap="none" dirty="0">
                <a:solidFill>
                  <a:srgbClr val="000000"/>
                </a:solidFill>
                <a:latin typeface="Arial"/>
                <a:ea typeface="Arial"/>
                <a:cs typeface="Arial"/>
                <a:sym typeface="Arial"/>
              </a:rPr>
              <a:t>Artifact Management </a:t>
            </a:r>
            <a:r>
              <a:rPr lang="en-GB" sz="1600" b="1" i="1"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4"/>
                  </a:ext>
                </a:extLst>
              </a:rPr>
              <a:t>Tools</a:t>
            </a:r>
            <a:r>
              <a:rPr lang="en-GB" sz="1600" b="1" i="1" u="none" strike="noStrike" cap="none" dirty="0">
                <a:solidFill>
                  <a:srgbClr val="000000"/>
                </a:solidFill>
                <a:latin typeface="Arial"/>
                <a:ea typeface="Arial"/>
                <a:cs typeface="Arial"/>
                <a:sym typeface="Arial"/>
              </a:rPr>
              <a:t>.</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5"/>
                </a:ext>
              </a:extLst>
            </a:endParaRPr>
          </a:p>
          <a:p>
            <a:pPr marL="0" marR="0" lvl="0" indent="0" algn="just" rtl="0">
              <a:lnSpc>
                <a:spcPct val="150000"/>
              </a:lnSpc>
              <a:spcBef>
                <a:spcPts val="0"/>
              </a:spcBef>
              <a:spcAft>
                <a:spcPts val="0"/>
              </a:spcAft>
              <a:buClr>
                <a:srgbClr val="000000"/>
              </a:buClr>
              <a:buSzPts val="1400"/>
              <a:buFont typeface="Arial"/>
              <a:buNone/>
            </a:pP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6"/>
                  </a:ext>
                </a:extLst>
              </a:rPr>
              <a:t>Artifact repositories make:</a:t>
            </a:r>
            <a:endParaRPr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7"/>
                </a:ext>
              </a:extLst>
            </a:endParaRPr>
          </a:p>
          <a:p>
            <a:pPr marL="285840" marR="0" lvl="2"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8"/>
                  </a:ext>
                </a:extLst>
              </a:rPr>
              <a:t>Dependency management easier</a:t>
            </a:r>
            <a:endParaRPr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9"/>
                </a:ext>
              </a:extLst>
            </a:endParaRPr>
          </a:p>
          <a:p>
            <a:pPr marL="285840" marR="0" lvl="2"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0"/>
                  </a:ext>
                </a:extLst>
              </a:rPr>
              <a:t>Releases more stable</a:t>
            </a:r>
            <a:endParaRPr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1"/>
                </a:ext>
              </a:extLst>
            </a:endParaRPr>
          </a:p>
          <a:p>
            <a:pPr marL="285840" marR="0" lvl="2" indent="-285479" algn="just" rtl="0">
              <a:lnSpc>
                <a:spcPct val="150000"/>
              </a:lnSpc>
              <a:spcBef>
                <a:spcPts val="0"/>
              </a:spcBef>
              <a:spcAft>
                <a:spcPts val="0"/>
              </a:spcAft>
              <a:buClr>
                <a:srgbClr val="000000"/>
              </a:buClr>
              <a:buSzPts val="1400"/>
              <a:buFont typeface="Noto Sans Symbols"/>
              <a:buChar char="▪"/>
            </a:pP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2"/>
                  </a:ext>
                </a:extLst>
              </a:rPr>
              <a:t>Audit easier and more feasible</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385849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171;p29">
            <a:extLst>
              <a:ext uri="{FF2B5EF4-FFF2-40B4-BE49-F238E27FC236}">
                <a16:creationId xmlns:a16="http://schemas.microsoft.com/office/drawing/2014/main" id="{08003C69-026E-7887-E467-20BF372E3E19}"/>
              </a:ext>
            </a:extLst>
          </p:cNvPr>
          <p:cNvSpPr/>
          <p:nvPr/>
        </p:nvSpPr>
        <p:spPr>
          <a:xfrm>
            <a:off x="1611216" y="1299334"/>
            <a:ext cx="5522040" cy="40248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000000"/>
              </a:buClr>
              <a:buSzPts val="2540"/>
              <a:buFont typeface="Arial"/>
              <a:buNone/>
            </a:pPr>
            <a:r>
              <a:rPr lang="en-GB" sz="2540" b="0" i="0" u="none" strike="noStrike" cap="none" dirty="0">
                <a:latin typeface="Proxima Nova"/>
                <a:ea typeface="Proxima Nova"/>
                <a:cs typeface="Proxima Nova"/>
                <a:sym typeface="Proxima Nova"/>
              </a:rPr>
              <a:t>Popular Artifact Repositories</a:t>
            </a:r>
            <a:endParaRPr sz="2540" b="0" i="0" u="none" strike="noStrike" cap="none" dirty="0">
              <a:latin typeface="Arial"/>
              <a:ea typeface="Arial"/>
              <a:cs typeface="Arial"/>
              <a:sym typeface="Arial"/>
            </a:endParaRPr>
          </a:p>
        </p:txBody>
      </p:sp>
      <p:sp>
        <p:nvSpPr>
          <p:cNvPr id="11" name="Google Shape;1173;p29">
            <a:extLst>
              <a:ext uri="{FF2B5EF4-FFF2-40B4-BE49-F238E27FC236}">
                <a16:creationId xmlns:a16="http://schemas.microsoft.com/office/drawing/2014/main" id="{6CFE0028-99B2-0BD4-D4CB-3762F3DBD915}"/>
              </a:ext>
            </a:extLst>
          </p:cNvPr>
          <p:cNvSpPr/>
          <p:nvPr/>
        </p:nvSpPr>
        <p:spPr>
          <a:xfrm>
            <a:off x="1064186" y="2325739"/>
            <a:ext cx="3388200" cy="2060649"/>
          </a:xfrm>
          <a:prstGeom prst="rect">
            <a:avLst/>
          </a:prstGeom>
          <a:noFill/>
          <a:ln>
            <a:noFill/>
          </a:ln>
        </p:spPr>
        <p:txBody>
          <a:bodyPr spcFirstLastPara="1" wrap="square" lIns="90000" tIns="45000" rIns="90000" bIns="45000" anchor="t" anchorCtr="0">
            <a:spAutoFit/>
          </a:bodyPr>
          <a:lstStyle/>
          <a:p>
            <a:pPr marL="457200" marR="0" lvl="0" indent="-317500" algn="just" rtl="0">
              <a:lnSpc>
                <a:spcPct val="200000"/>
              </a:lnSpc>
              <a:spcBef>
                <a:spcPts val="0"/>
              </a:spcBef>
              <a:spcAft>
                <a:spcPts val="0"/>
              </a:spcAft>
              <a:buClr>
                <a:srgbClr val="000000"/>
              </a:buClr>
              <a:buSzPts val="1400"/>
              <a:buFont typeface="Noto Sans Symbols"/>
              <a:buChar char="▪"/>
            </a:pPr>
            <a:r>
              <a:rPr lang="en-GB" sz="1600" b="1" i="0" u="none" strike="noStrike" cap="none" dirty="0" err="1">
                <a:solidFill>
                  <a:srgbClr val="203864"/>
                </a:solidFill>
                <a:latin typeface="Arial"/>
                <a:ea typeface="Arial"/>
                <a:cs typeface="Arial"/>
                <a:sym typeface="Arial"/>
              </a:rPr>
              <a:t>Sonatype</a:t>
            </a:r>
            <a:r>
              <a:rPr lang="en-GB" sz="1600" b="1" i="0" u="none" strike="noStrike" cap="none" dirty="0">
                <a:solidFill>
                  <a:srgbClr val="203864"/>
                </a:solidFill>
                <a:latin typeface="Arial"/>
                <a:ea typeface="Arial"/>
                <a:cs typeface="Arial"/>
                <a:sym typeface="Arial"/>
              </a:rPr>
              <a:t> Nexus</a:t>
            </a:r>
            <a:endParaRPr sz="1600" b="1" i="0" u="none" strike="noStrike" cap="none" dirty="0">
              <a:solidFill>
                <a:srgbClr val="203864"/>
              </a:solidFill>
              <a:latin typeface="Arial"/>
              <a:ea typeface="Arial"/>
              <a:cs typeface="Arial"/>
              <a:sym typeface="Arial"/>
            </a:endParaRPr>
          </a:p>
          <a:p>
            <a:pPr marL="457200" marR="0" lvl="0" indent="-317500" algn="just" rtl="0">
              <a:lnSpc>
                <a:spcPct val="200000"/>
              </a:lnSpc>
              <a:spcBef>
                <a:spcPts val="0"/>
              </a:spcBef>
              <a:spcAft>
                <a:spcPts val="0"/>
              </a:spcAft>
              <a:buClr>
                <a:srgbClr val="000000"/>
              </a:buClr>
              <a:buSzPts val="1400"/>
              <a:buFont typeface="Noto Sans Symbols"/>
              <a:buChar char="▪"/>
            </a:pPr>
            <a:r>
              <a:rPr lang="en-GB" sz="1600" b="1" i="0" u="none" strike="noStrike" cap="none" dirty="0" err="1">
                <a:solidFill>
                  <a:srgbClr val="203864"/>
                </a:solidFill>
                <a:latin typeface="Arial"/>
                <a:ea typeface="Arial"/>
                <a:cs typeface="Arial"/>
                <a:sym typeface="Arial"/>
              </a:rPr>
              <a:t>Jfrog</a:t>
            </a:r>
            <a:r>
              <a:rPr lang="en-GB" sz="1600" b="1" i="0" u="none" strike="noStrike" cap="none" dirty="0">
                <a:solidFill>
                  <a:srgbClr val="203864"/>
                </a:solidFill>
                <a:latin typeface="Arial"/>
                <a:ea typeface="Arial"/>
                <a:cs typeface="Arial"/>
                <a:sym typeface="Arial"/>
              </a:rPr>
              <a:t> Artifactory</a:t>
            </a:r>
            <a:endParaRPr sz="1600" b="0" i="0" u="none" strike="noStrike" cap="none" dirty="0">
              <a:solidFill>
                <a:srgbClr val="000000"/>
              </a:solidFill>
              <a:latin typeface="Arial"/>
              <a:ea typeface="Arial"/>
              <a:cs typeface="Arial"/>
              <a:sym typeface="Arial"/>
            </a:endParaRPr>
          </a:p>
          <a:p>
            <a:pPr marL="457200" marR="0" lvl="0" indent="-317500" algn="just" rtl="0">
              <a:lnSpc>
                <a:spcPct val="200000"/>
              </a:lnSpc>
              <a:spcBef>
                <a:spcPts val="0"/>
              </a:spcBef>
              <a:spcAft>
                <a:spcPts val="0"/>
              </a:spcAft>
              <a:buClr>
                <a:srgbClr val="000000"/>
              </a:buClr>
              <a:buSzPts val="1400"/>
              <a:buFont typeface="Noto Sans Symbols"/>
              <a:buChar char="▪"/>
            </a:pPr>
            <a:r>
              <a:rPr lang="en-GB" sz="1600" b="1" i="0" u="none" strike="noStrike" cap="none" dirty="0">
                <a:solidFill>
                  <a:srgbClr val="203864"/>
                </a:solidFill>
                <a:latin typeface="Arial"/>
                <a:ea typeface="Arial"/>
                <a:cs typeface="Arial"/>
                <a:sym typeface="Arial"/>
              </a:rPr>
              <a:t>Maven Artifact Repository</a:t>
            </a:r>
            <a:endParaRPr sz="1600" b="0" i="0" u="none" strike="noStrike" cap="none" dirty="0">
              <a:solidFill>
                <a:srgbClr val="000000"/>
              </a:solidFill>
              <a:latin typeface="Arial"/>
              <a:ea typeface="Arial"/>
              <a:cs typeface="Arial"/>
              <a:sym typeface="Arial"/>
            </a:endParaRPr>
          </a:p>
          <a:p>
            <a:pPr marL="457200" marR="0" lvl="0" indent="-317500" algn="just" rtl="0">
              <a:lnSpc>
                <a:spcPct val="200000"/>
              </a:lnSpc>
              <a:spcBef>
                <a:spcPts val="0"/>
              </a:spcBef>
              <a:spcAft>
                <a:spcPts val="0"/>
              </a:spcAft>
              <a:buClr>
                <a:srgbClr val="000000"/>
              </a:buClr>
              <a:buSzPts val="1400"/>
              <a:buFont typeface="Noto Sans Symbols"/>
              <a:buChar char="▪"/>
            </a:pPr>
            <a:r>
              <a:rPr lang="en-GB" sz="1600" b="1" i="0" u="none" strike="noStrike" cap="none" dirty="0">
                <a:solidFill>
                  <a:srgbClr val="203864"/>
                </a:solidFill>
                <a:latin typeface="Arial"/>
                <a:ea typeface="Arial"/>
                <a:cs typeface="Arial"/>
                <a:sym typeface="Arial"/>
              </a:rPr>
              <a:t>Apache </a:t>
            </a:r>
            <a:r>
              <a:rPr lang="en-GB" sz="1600" b="1" i="0" u="none" strike="noStrike" cap="none" dirty="0" err="1">
                <a:solidFill>
                  <a:srgbClr val="203864"/>
                </a:solidFill>
                <a:latin typeface="Arial"/>
                <a:ea typeface="Arial"/>
                <a:cs typeface="Arial"/>
                <a:sym typeface="Arial"/>
              </a:rPr>
              <a:t>Archiva</a:t>
            </a:r>
            <a:endParaRPr sz="1600" b="0" i="0" u="none" strike="noStrike" cap="none" dirty="0">
              <a:solidFill>
                <a:srgbClr val="000000"/>
              </a:solidFill>
              <a:latin typeface="Arial"/>
              <a:ea typeface="Arial"/>
              <a:cs typeface="Arial"/>
              <a:sym typeface="Arial"/>
            </a:endParaRPr>
          </a:p>
        </p:txBody>
      </p:sp>
      <p:pic>
        <p:nvPicPr>
          <p:cNvPr id="12" name="Google Shape;1174;p29">
            <a:extLst>
              <a:ext uri="{FF2B5EF4-FFF2-40B4-BE49-F238E27FC236}">
                <a16:creationId xmlns:a16="http://schemas.microsoft.com/office/drawing/2014/main" id="{FD919E5D-D609-A81D-9EE2-58FFEB3505B6}"/>
              </a:ext>
            </a:extLst>
          </p:cNvPr>
          <p:cNvPicPr preferRelativeResize="0"/>
          <p:nvPr/>
        </p:nvPicPr>
        <p:blipFill rotWithShape="1">
          <a:blip r:embed="rId6">
            <a:alphaModFix/>
          </a:blip>
          <a:srcRect/>
          <a:stretch/>
        </p:blipFill>
        <p:spPr>
          <a:xfrm>
            <a:off x="5548701" y="2041904"/>
            <a:ext cx="5911398" cy="3781299"/>
          </a:xfrm>
          <a:prstGeom prst="rect">
            <a:avLst/>
          </a:prstGeom>
          <a:noFill/>
          <a:ln>
            <a:noFill/>
          </a:ln>
        </p:spPr>
      </p:pic>
    </p:spTree>
    <p:extLst>
      <p:ext uri="{BB962C8B-B14F-4D97-AF65-F5344CB8AC3E}">
        <p14:creationId xmlns:p14="http://schemas.microsoft.com/office/powerpoint/2010/main" val="2845644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8"/>
        <p:cNvGrpSpPr/>
        <p:nvPr/>
      </p:nvGrpSpPr>
      <p:grpSpPr>
        <a:xfrm>
          <a:off x="0" y="0"/>
          <a:ext cx="0" cy="0"/>
          <a:chOff x="0" y="0"/>
          <a:chExt cx="0" cy="0"/>
        </a:xfrm>
      </p:grpSpPr>
      <p:sp>
        <p:nvSpPr>
          <p:cNvPr id="1179" name="Google Shape;1179;g25c0f4a8d55_0_1"/>
          <p:cNvSpPr txBox="1">
            <a:spLocks noGrp="1"/>
          </p:cNvSpPr>
          <p:nvPr>
            <p:ph type="sldNum" idx="12"/>
          </p:nvPr>
        </p:nvSpPr>
        <p:spPr>
          <a:xfrm>
            <a:off x="8623300" y="6356351"/>
            <a:ext cx="2743200" cy="3652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GB"/>
              <a:pPr/>
              <a:t>25</a:t>
            </a:fld>
            <a:endParaRPr/>
          </a:p>
        </p:txBody>
      </p:sp>
      <p:sp>
        <p:nvSpPr>
          <p:cNvPr id="1180" name="Google Shape;1180;g25c0f4a8d55_0_1"/>
          <p:cNvSpPr txBox="1"/>
          <p:nvPr/>
        </p:nvSpPr>
        <p:spPr>
          <a:xfrm>
            <a:off x="2388967" y="2233000"/>
            <a:ext cx="7368400" cy="2392000"/>
          </a:xfrm>
          <a:prstGeom prst="rect">
            <a:avLst/>
          </a:prstGeom>
          <a:noFill/>
          <a:ln>
            <a:noFill/>
          </a:ln>
        </p:spPr>
        <p:txBody>
          <a:bodyPr spcFirstLastPara="1" wrap="square" lIns="121900" tIns="60933" rIns="121900" bIns="60933" anchor="t" anchorCtr="0">
            <a:noAutofit/>
          </a:bodyPr>
          <a:lstStyle/>
          <a:p>
            <a:pPr algn="ctr">
              <a:buClr>
                <a:srgbClr val="000000"/>
              </a:buClr>
              <a:buSzPts val="3200"/>
            </a:pPr>
            <a:r>
              <a:rPr lang="en-GB" sz="4267">
                <a:solidFill>
                  <a:schemeClr val="lt1"/>
                </a:solidFill>
                <a:latin typeface="Proxima Nova"/>
                <a:ea typeface="Proxima Nova"/>
                <a:cs typeface="Proxima Nova"/>
                <a:sym typeface="Proxima Nova"/>
              </a:rPr>
              <a:t>Introduction to Jenkins</a:t>
            </a:r>
            <a:endParaRPr sz="4267">
              <a:solidFill>
                <a:schemeClr val="lt1"/>
              </a:solidFill>
              <a:latin typeface="Proxima Nova"/>
              <a:ea typeface="Proxima Nova"/>
              <a:cs typeface="Proxima Nova"/>
              <a:sym typeface="Proxima Nova"/>
            </a:endParaRPr>
          </a:p>
          <a:p>
            <a:pPr algn="ctr">
              <a:buClr>
                <a:srgbClr val="000000"/>
              </a:buClr>
              <a:buSzPts val="3200"/>
            </a:pPr>
            <a:endParaRPr sz="4267">
              <a:solidFill>
                <a:schemeClr val="lt1"/>
              </a:solidFill>
              <a:latin typeface="Proxima Nova"/>
              <a:ea typeface="Proxima Nova"/>
              <a:cs typeface="Proxima Nova"/>
              <a:sym typeface="Proxima Nova"/>
            </a:endParaRPr>
          </a:p>
          <a:p>
            <a:pPr algn="ctr">
              <a:buClr>
                <a:srgbClr val="000000"/>
              </a:buClr>
              <a:buSzPts val="3200"/>
            </a:pPr>
            <a:endParaRPr sz="4267">
              <a:solidFill>
                <a:schemeClr val="lt1"/>
              </a:solidFill>
              <a:latin typeface="Proxima Nova"/>
              <a:ea typeface="Proxima Nova"/>
              <a:cs typeface="Proxima Nova"/>
              <a:sym typeface="Proxima Nov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185;g25c0f4a8d55_0_6">
            <a:extLst>
              <a:ext uri="{FF2B5EF4-FFF2-40B4-BE49-F238E27FC236}">
                <a16:creationId xmlns:a16="http://schemas.microsoft.com/office/drawing/2014/main" id="{0079A964-960D-CC33-FB31-857F37826102}"/>
              </a:ext>
            </a:extLst>
          </p:cNvPr>
          <p:cNvSpPr txBox="1">
            <a:spLocks/>
          </p:cNvSpPr>
          <p:nvPr/>
        </p:nvSpPr>
        <p:spPr>
          <a:xfrm>
            <a:off x="7508621" y="5891975"/>
            <a:ext cx="2057400" cy="274500"/>
          </a:xfrm>
          <a:prstGeom prst="rect">
            <a:avLst/>
          </a:prstGeom>
          <a:noFill/>
          <a:ln>
            <a:noFill/>
          </a:ln>
        </p:spPr>
        <p:txBody>
          <a:bodyPr spcFirstLastPara="1" vert="horz" wrap="square" lIns="91425" tIns="45700" rIns="91425" bIns="45700" rtlCol="0" anchor="ctr" anchorCtr="0">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ts val="900"/>
            </a:pPr>
            <a:endParaRPr lang="en-GB" sz="900" dirty="0">
              <a:solidFill>
                <a:srgbClr val="FF0000"/>
              </a:solidFill>
              <a:latin typeface="Proxima Nova"/>
              <a:ea typeface="Proxima Nova"/>
              <a:cs typeface="Proxima Nova"/>
              <a:sym typeface="Proxima Nova"/>
            </a:endParaRPr>
          </a:p>
        </p:txBody>
      </p:sp>
      <p:sp>
        <p:nvSpPr>
          <p:cNvPr id="10" name="Google Shape;1186;g25c0f4a8d55_0_6">
            <a:extLst>
              <a:ext uri="{FF2B5EF4-FFF2-40B4-BE49-F238E27FC236}">
                <a16:creationId xmlns:a16="http://schemas.microsoft.com/office/drawing/2014/main" id="{B9EAA2F5-6B29-639E-6B63-B913F1B548B7}"/>
              </a:ext>
            </a:extLst>
          </p:cNvPr>
          <p:cNvSpPr txBox="1"/>
          <p:nvPr/>
        </p:nvSpPr>
        <p:spPr>
          <a:xfrm>
            <a:off x="2141650" y="1388962"/>
            <a:ext cx="55224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dk1"/>
              </a:buClr>
              <a:buSzPts val="1100"/>
              <a:buFont typeface="Arial"/>
              <a:buNone/>
            </a:pPr>
            <a:r>
              <a:rPr lang="en-GB" sz="2540" b="0" i="0" u="none" strike="noStrike" cap="none" dirty="0">
                <a:latin typeface="Proxima Nova"/>
                <a:ea typeface="Proxima Nova"/>
                <a:cs typeface="Proxima Nova"/>
                <a:sym typeface="Proxima Nova"/>
              </a:rPr>
              <a:t>Jenkins</a:t>
            </a:r>
            <a:r>
              <a:rPr lang="en-GB" sz="2540" b="0" i="0" u="none" strike="noStrike" cap="none" dirty="0">
                <a:solidFill>
                  <a:schemeClr val="lt1"/>
                </a:solidFill>
                <a:latin typeface="Proxima Nova"/>
                <a:ea typeface="Proxima Nova"/>
                <a:cs typeface="Proxima Nova"/>
                <a:sym typeface="Proxima Nova"/>
              </a:rPr>
              <a:t> – </a:t>
            </a:r>
            <a:r>
              <a:rPr lang="en-GB" sz="2540" dirty="0">
                <a:solidFill>
                  <a:schemeClr val="lt1"/>
                </a:solidFill>
                <a:latin typeface="Proxima Nova"/>
                <a:ea typeface="Proxima Nova"/>
                <a:cs typeface="Proxima Nova"/>
                <a:sym typeface="Proxima Nova"/>
              </a:rPr>
              <a:t>A</a:t>
            </a:r>
            <a:r>
              <a:rPr lang="en-GB" sz="2540" b="0" i="0" u="none" strike="noStrike" cap="none" dirty="0">
                <a:solidFill>
                  <a:schemeClr val="lt1"/>
                </a:solidFill>
                <a:latin typeface="Proxima Nova"/>
                <a:ea typeface="Proxima Nova"/>
                <a:cs typeface="Proxima Nova"/>
                <a:sym typeface="Proxima Nova"/>
              </a:rPr>
              <a:t>n </a:t>
            </a:r>
            <a:r>
              <a:rPr lang="en-GB" sz="2540" dirty="0">
                <a:solidFill>
                  <a:schemeClr val="lt1"/>
                </a:solidFill>
                <a:latin typeface="Proxima Nova"/>
                <a:ea typeface="Proxima Nova"/>
                <a:cs typeface="Proxima Nova"/>
                <a:sym typeface="Proxima Nova"/>
              </a:rPr>
              <a:t>I</a:t>
            </a:r>
            <a:r>
              <a:rPr lang="en-GB" sz="2540" b="0" i="0" u="none" strike="noStrike" cap="none" dirty="0">
                <a:solidFill>
                  <a:schemeClr val="lt1"/>
                </a:solidFill>
                <a:latin typeface="Proxima Nova"/>
                <a:ea typeface="Proxima Nova"/>
                <a:cs typeface="Proxima Nova"/>
                <a:sym typeface="Proxima Nova"/>
              </a:rPr>
              <a:t>ntroduction</a:t>
            </a:r>
            <a:endParaRPr sz="2540" b="0" i="0" u="none" strike="noStrike" cap="none" dirty="0">
              <a:solidFill>
                <a:schemeClr val="lt1"/>
              </a:solidFill>
              <a:latin typeface="Proxima Nova"/>
              <a:ea typeface="Proxima Nova"/>
              <a:cs typeface="Proxima Nova"/>
              <a:sym typeface="Proxima Nova"/>
            </a:endParaRPr>
          </a:p>
        </p:txBody>
      </p:sp>
      <p:pic>
        <p:nvPicPr>
          <p:cNvPr id="12" name="Google Shape;1188;g25c0f4a8d55_0_6" descr="Your Jenkins Belongs to Us Now: Abusing Continuous Integration Systems">
            <a:extLst>
              <a:ext uri="{FF2B5EF4-FFF2-40B4-BE49-F238E27FC236}">
                <a16:creationId xmlns:a16="http://schemas.microsoft.com/office/drawing/2014/main" id="{19C1EC7B-30D0-F51C-FE42-A34F220ADBAE}"/>
              </a:ext>
            </a:extLst>
          </p:cNvPr>
          <p:cNvPicPr preferRelativeResize="0"/>
          <p:nvPr/>
        </p:nvPicPr>
        <p:blipFill rotWithShape="1">
          <a:blip r:embed="rId6">
            <a:alphaModFix/>
          </a:blip>
          <a:srcRect/>
          <a:stretch/>
        </p:blipFill>
        <p:spPr>
          <a:xfrm>
            <a:off x="4577339" y="2137915"/>
            <a:ext cx="3037321" cy="1682093"/>
          </a:xfrm>
          <a:prstGeom prst="rect">
            <a:avLst/>
          </a:prstGeom>
          <a:noFill/>
          <a:ln>
            <a:noFill/>
          </a:ln>
        </p:spPr>
      </p:pic>
      <p:sp>
        <p:nvSpPr>
          <p:cNvPr id="13" name="Google Shape;1189;g25c0f4a8d55_0_6">
            <a:extLst>
              <a:ext uri="{FF2B5EF4-FFF2-40B4-BE49-F238E27FC236}">
                <a16:creationId xmlns:a16="http://schemas.microsoft.com/office/drawing/2014/main" id="{B2EE5E7F-8E5A-4AF2-4E08-E48AF3491F8E}"/>
              </a:ext>
            </a:extLst>
          </p:cNvPr>
          <p:cNvSpPr txBox="1"/>
          <p:nvPr/>
        </p:nvSpPr>
        <p:spPr>
          <a:xfrm>
            <a:off x="2822816" y="4173339"/>
            <a:ext cx="8183400" cy="2196600"/>
          </a:xfrm>
          <a:prstGeom prst="rect">
            <a:avLst/>
          </a:prstGeom>
          <a:noFill/>
          <a:ln>
            <a:noFill/>
          </a:ln>
        </p:spPr>
        <p:txBody>
          <a:bodyPr spcFirstLastPara="1" wrap="square" lIns="91425" tIns="91425" rIns="91425" bIns="91425" anchor="t" anchorCtr="0">
            <a:noAutofit/>
          </a:bodyPr>
          <a:lstStyle/>
          <a:p>
            <a:pPr marL="285750" marR="0" lvl="0" indent="-273050" algn="l" rtl="0">
              <a:lnSpc>
                <a:spcPct val="100000"/>
              </a:lnSpc>
              <a:spcBef>
                <a:spcPts val="0"/>
              </a:spcBef>
              <a:spcAft>
                <a:spcPts val="0"/>
              </a:spcAft>
              <a:buClr>
                <a:srgbClr val="000000"/>
              </a:buClr>
              <a:buSzPts val="1600"/>
              <a:buChar char="●"/>
            </a:pPr>
            <a:r>
              <a:rPr lang="en-GB" i="0" u="none" strike="noStrike" cap="none" dirty="0">
                <a:solidFill>
                  <a:srgbClr val="000000"/>
                </a:solidFill>
              </a:rPr>
              <a:t>Jenkins is basically a free and open</a:t>
            </a:r>
            <a:r>
              <a:rPr lang="en-GB" dirty="0"/>
              <a:t>-</a:t>
            </a:r>
            <a:r>
              <a:rPr lang="en-GB" i="0" u="none" strike="noStrike" cap="none" dirty="0">
                <a:solidFill>
                  <a:srgbClr val="000000"/>
                </a:solidFill>
              </a:rPr>
              <a:t>source automation server.</a:t>
            </a:r>
            <a:endParaRPr sz="1400" i="0" u="none" strike="noStrike" cap="none" dirty="0">
              <a:solidFill>
                <a:srgbClr val="000000"/>
              </a:solidFill>
            </a:endParaRPr>
          </a:p>
          <a:p>
            <a:pPr marL="285750" marR="0" lvl="0" indent="-171450" algn="l" rtl="0">
              <a:lnSpc>
                <a:spcPct val="100000"/>
              </a:lnSpc>
              <a:spcBef>
                <a:spcPts val="0"/>
              </a:spcBef>
              <a:spcAft>
                <a:spcPts val="0"/>
              </a:spcAft>
              <a:buClr>
                <a:srgbClr val="000000"/>
              </a:buClr>
              <a:buSzPts val="1800"/>
              <a:buFont typeface="Arial"/>
              <a:buNone/>
            </a:pPr>
            <a:endParaRPr i="0" u="none" strike="noStrike" cap="none" dirty="0">
              <a:solidFill>
                <a:srgbClr val="000000"/>
              </a:solidFill>
            </a:endParaRPr>
          </a:p>
          <a:p>
            <a:pPr marL="285750" marR="0" lvl="0" indent="-273050" algn="l" rtl="0">
              <a:lnSpc>
                <a:spcPct val="100000"/>
              </a:lnSpc>
              <a:spcBef>
                <a:spcPts val="0"/>
              </a:spcBef>
              <a:spcAft>
                <a:spcPts val="0"/>
              </a:spcAft>
              <a:buClr>
                <a:srgbClr val="000000"/>
              </a:buClr>
              <a:buSzPts val="1600"/>
              <a:buChar char="●"/>
            </a:pPr>
            <a:r>
              <a:rPr lang="en-GB" i="0" u="none" strike="noStrike" cap="none" dirty="0">
                <a:solidFill>
                  <a:srgbClr val="000000"/>
                </a:solidFill>
              </a:rPr>
              <a:t>Jenkins can be used to automate all </a:t>
            </a:r>
            <a:r>
              <a:rPr lang="en-GB" dirty="0"/>
              <a:t>types </a:t>
            </a:r>
            <a:r>
              <a:rPr lang="en-GB" i="0" u="none" strike="noStrike" cap="none" dirty="0">
                <a:solidFill>
                  <a:srgbClr val="000000"/>
                </a:solidFill>
              </a:rPr>
              <a:t>of software development tasks such as building, testing, and delivering or deploying software.</a:t>
            </a:r>
            <a:endParaRPr sz="1400" i="0" u="none" strike="noStrike" cap="none" dirty="0">
              <a:solidFill>
                <a:srgbClr val="000000"/>
              </a:solidFill>
            </a:endParaRPr>
          </a:p>
          <a:p>
            <a:pPr marL="114300" marR="0" lvl="0" indent="0" algn="l" rtl="0">
              <a:lnSpc>
                <a:spcPct val="100000"/>
              </a:lnSpc>
              <a:spcBef>
                <a:spcPts val="0"/>
              </a:spcBef>
              <a:spcAft>
                <a:spcPts val="0"/>
              </a:spcAft>
              <a:buClr>
                <a:srgbClr val="000000"/>
              </a:buClr>
              <a:buSzPts val="1800"/>
              <a:buFont typeface="Arial"/>
              <a:buNone/>
            </a:pPr>
            <a:endParaRPr i="0" u="none" strike="noStrike" cap="none" dirty="0">
              <a:solidFill>
                <a:srgbClr val="000000"/>
              </a:solidFill>
            </a:endParaRPr>
          </a:p>
          <a:p>
            <a:pPr marL="285750" marR="0" lvl="0" indent="-273050" algn="l" rtl="0">
              <a:lnSpc>
                <a:spcPct val="100000"/>
              </a:lnSpc>
              <a:spcBef>
                <a:spcPts val="0"/>
              </a:spcBef>
              <a:spcAft>
                <a:spcPts val="0"/>
              </a:spcAft>
              <a:buClr>
                <a:srgbClr val="000000"/>
              </a:buClr>
              <a:buSzPts val="1600"/>
              <a:buChar char="●"/>
            </a:pPr>
            <a:r>
              <a:rPr lang="en-GB" dirty="0"/>
              <a:t>Jenkins can be installed via native system packages, Docker, or it can be run standalone on any computer.</a:t>
            </a:r>
            <a:endParaRPr i="0" u="none" strike="noStrike" cap="none" dirty="0">
              <a:solidFill>
                <a:srgbClr val="000000"/>
              </a:solidFill>
            </a:endParaRPr>
          </a:p>
          <a:p>
            <a:pPr marL="457200" marR="0" lvl="0" indent="0" algn="l" rtl="0">
              <a:lnSpc>
                <a:spcPct val="100000"/>
              </a:lnSpc>
              <a:spcBef>
                <a:spcPts val="0"/>
              </a:spcBef>
              <a:spcAft>
                <a:spcPts val="0"/>
              </a:spcAft>
              <a:buClr>
                <a:srgbClr val="000000"/>
              </a:buClr>
              <a:buSzPts val="1800"/>
              <a:buFont typeface="Arial"/>
              <a:buNone/>
            </a:pPr>
            <a:endParaRPr i="0" u="none" strike="noStrike" cap="none" dirty="0">
              <a:solidFill>
                <a:srgbClr val="000000"/>
              </a:solidFill>
            </a:endParaRPr>
          </a:p>
          <a:p>
            <a:pPr marL="285750" marR="0" lvl="0" indent="-171450" algn="l" rtl="0">
              <a:lnSpc>
                <a:spcPct val="100000"/>
              </a:lnSpc>
              <a:spcBef>
                <a:spcPts val="0"/>
              </a:spcBef>
              <a:spcAft>
                <a:spcPts val="0"/>
              </a:spcAft>
              <a:buClr>
                <a:srgbClr val="000000"/>
              </a:buClr>
              <a:buSzPts val="1800"/>
              <a:buFont typeface="Arial"/>
              <a:buNone/>
            </a:pPr>
            <a:endParaRPr i="0" u="none" strike="noStrike" cap="none" dirty="0">
              <a:solidFill>
                <a:srgbClr val="000000"/>
              </a:solidFill>
            </a:endParaRPr>
          </a:p>
          <a:p>
            <a:pPr marL="285750" marR="0" lvl="0" indent="-171450" algn="l" rtl="0">
              <a:lnSpc>
                <a:spcPct val="100000"/>
              </a:lnSpc>
              <a:spcBef>
                <a:spcPts val="0"/>
              </a:spcBef>
              <a:spcAft>
                <a:spcPts val="0"/>
              </a:spcAft>
              <a:buClr>
                <a:srgbClr val="000000"/>
              </a:buClr>
              <a:buSzPts val="1800"/>
              <a:buFont typeface="Arial"/>
              <a:buNone/>
            </a:pPr>
            <a:endParaRPr i="0" u="none" strike="noStrike" cap="none" dirty="0">
              <a:solidFill>
                <a:srgbClr val="000000"/>
              </a:solidFill>
            </a:endParaRPr>
          </a:p>
          <a:p>
            <a:pPr marL="457200" marR="0" lvl="0" indent="-228600" algn="l" rtl="0">
              <a:lnSpc>
                <a:spcPct val="100000"/>
              </a:lnSpc>
              <a:spcBef>
                <a:spcPts val="0"/>
              </a:spcBef>
              <a:spcAft>
                <a:spcPts val="0"/>
              </a:spcAft>
              <a:buClr>
                <a:schemeClr val="dk1"/>
              </a:buClr>
              <a:buSzPts val="1800"/>
              <a:buFont typeface="Calibri"/>
              <a:buNone/>
            </a:pPr>
            <a:endParaRPr i="0" u="none" strike="noStrike" cap="none" dirty="0">
              <a:solidFill>
                <a:srgbClr val="000000"/>
              </a:solidFill>
            </a:endParaRPr>
          </a:p>
        </p:txBody>
      </p:sp>
    </p:spTree>
    <p:extLst>
      <p:ext uri="{BB962C8B-B14F-4D97-AF65-F5344CB8AC3E}">
        <p14:creationId xmlns:p14="http://schemas.microsoft.com/office/powerpoint/2010/main" val="3038598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1195;g25c0f4a8d55_0_20">
            <a:extLst>
              <a:ext uri="{FF2B5EF4-FFF2-40B4-BE49-F238E27FC236}">
                <a16:creationId xmlns:a16="http://schemas.microsoft.com/office/drawing/2014/main" id="{9B724470-A77F-3A8A-D260-068D2046CC16}"/>
              </a:ext>
            </a:extLst>
          </p:cNvPr>
          <p:cNvSpPr txBox="1"/>
          <p:nvPr/>
        </p:nvSpPr>
        <p:spPr>
          <a:xfrm>
            <a:off x="1894762" y="1378888"/>
            <a:ext cx="55224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dk1"/>
              </a:buClr>
              <a:buSzPts val="1100"/>
              <a:buFont typeface="Arial"/>
              <a:buNone/>
            </a:pPr>
            <a:r>
              <a:rPr lang="en-GB" sz="2540" b="0" i="0" u="none" strike="noStrike" cap="none" dirty="0">
                <a:latin typeface="Proxima Nova"/>
                <a:ea typeface="Proxima Nova"/>
                <a:cs typeface="Proxima Nova"/>
                <a:sym typeface="Proxima Nova"/>
              </a:rPr>
              <a:t>Features of Jenkins</a:t>
            </a:r>
            <a:endParaRPr sz="2540" b="0" i="0" u="none" strike="noStrike" cap="none" dirty="0">
              <a:latin typeface="Proxima Nova"/>
              <a:ea typeface="Proxima Nova"/>
              <a:cs typeface="Proxima Nova"/>
              <a:sym typeface="Proxima Nova"/>
            </a:endParaRPr>
          </a:p>
        </p:txBody>
      </p:sp>
      <p:sp>
        <p:nvSpPr>
          <p:cNvPr id="11" name="Google Shape;1196;g25c0f4a8d55_0_20">
            <a:extLst>
              <a:ext uri="{FF2B5EF4-FFF2-40B4-BE49-F238E27FC236}">
                <a16:creationId xmlns:a16="http://schemas.microsoft.com/office/drawing/2014/main" id="{3127DD26-6F07-D4B8-0E38-8C57F011C766}"/>
              </a:ext>
            </a:extLst>
          </p:cNvPr>
          <p:cNvSpPr txBox="1"/>
          <p:nvPr/>
        </p:nvSpPr>
        <p:spPr>
          <a:xfrm>
            <a:off x="1801350" y="2403796"/>
            <a:ext cx="8589300" cy="2914800"/>
          </a:xfrm>
          <a:prstGeom prst="rect">
            <a:avLst/>
          </a:prstGeom>
          <a:noFill/>
          <a:ln>
            <a:noFill/>
          </a:ln>
        </p:spPr>
        <p:txBody>
          <a:bodyPr spcFirstLastPara="1" wrap="square" lIns="91425" tIns="91425" rIns="91425" bIns="91425" anchor="t" anchorCtr="0">
            <a:noAutofit/>
          </a:bodyPr>
          <a:lstStyle/>
          <a:p>
            <a:pPr marL="285750" marR="0" lvl="0" indent="-279400" algn="l" rtl="0">
              <a:lnSpc>
                <a:spcPct val="100000"/>
              </a:lnSpc>
              <a:spcBef>
                <a:spcPts val="0"/>
              </a:spcBef>
              <a:spcAft>
                <a:spcPts val="0"/>
              </a:spcAft>
              <a:buClr>
                <a:srgbClr val="000000"/>
              </a:buClr>
              <a:buSzPts val="1500"/>
              <a:buFont typeface="Arial"/>
              <a:buChar char="●"/>
            </a:pPr>
            <a:r>
              <a:rPr lang="en-GB" b="0" i="0" u="none" strike="noStrike" cap="none" dirty="0">
                <a:solidFill>
                  <a:srgbClr val="000000"/>
                </a:solidFill>
                <a:ea typeface="Arial"/>
                <a:cs typeface="Arial"/>
                <a:sym typeface="Arial"/>
              </a:rPr>
              <a:t>Jenkins, originally called Hudson, is an open</a:t>
            </a:r>
            <a:r>
              <a:rPr lang="en-GB" dirty="0"/>
              <a:t>-</a:t>
            </a:r>
            <a:r>
              <a:rPr lang="en-GB" b="0" i="0" u="none" strike="noStrike" cap="none" dirty="0">
                <a:solidFill>
                  <a:srgbClr val="000000"/>
                </a:solidFill>
                <a:ea typeface="Arial"/>
                <a:cs typeface="Arial"/>
                <a:sym typeface="Arial"/>
              </a:rPr>
              <a:t>source </a:t>
            </a:r>
            <a:r>
              <a:rPr lang="en-GB" b="0" i="0" u="none" strike="noStrike" cap="none" dirty="0">
                <a:solidFill>
                  <a:srgbClr val="000000"/>
                </a:solidFil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3"/>
                  </a:ext>
                </a:extLst>
              </a:rPr>
              <a:t>CI tool written in Java. </a:t>
            </a:r>
            <a:endParaRPr b="0" i="0" u="none" strike="noStrike" cap="none" dirty="0">
              <a:solidFill>
                <a:srgbClr val="000000"/>
              </a:solidFill>
              <a:ea typeface="Arial"/>
              <a:cs typeface="Arial"/>
              <a:sym typeface="Arial"/>
            </a:endParaRPr>
          </a:p>
          <a:p>
            <a:pPr marL="0" marR="0" lvl="0" indent="0" algn="l" rtl="0">
              <a:lnSpc>
                <a:spcPct val="100000"/>
              </a:lnSpc>
              <a:spcBef>
                <a:spcPts val="0"/>
              </a:spcBef>
              <a:spcAft>
                <a:spcPts val="0"/>
              </a:spcAft>
              <a:buNone/>
            </a:pPr>
            <a:endParaRPr dirty="0"/>
          </a:p>
          <a:p>
            <a:pPr marL="285750" marR="0" lvl="0" indent="-279400" algn="l" rtl="0">
              <a:lnSpc>
                <a:spcPct val="100000"/>
              </a:lnSpc>
              <a:spcBef>
                <a:spcPts val="0"/>
              </a:spcBef>
              <a:spcAft>
                <a:spcPts val="0"/>
              </a:spcAft>
              <a:buSzPts val="1500"/>
              <a:buChar char="●"/>
            </a:pPr>
            <a:r>
              <a:rPr lang="en-GB" dirty="0"/>
              <a:t>Jenkins is a very user-friendly tool, with a simple, intuitive and visually appealing user interface. </a:t>
            </a:r>
            <a:endParaRPr dirty="0"/>
          </a:p>
          <a:p>
            <a:pPr marL="457200" marR="0" lvl="0" indent="0" algn="l" rtl="0">
              <a:lnSpc>
                <a:spcPct val="100000"/>
              </a:lnSpc>
              <a:spcBef>
                <a:spcPts val="0"/>
              </a:spcBef>
              <a:spcAft>
                <a:spcPts val="0"/>
              </a:spcAft>
              <a:buNone/>
            </a:pPr>
            <a:endParaRPr dirty="0"/>
          </a:p>
          <a:p>
            <a:pPr marL="285750" marR="0" lvl="0" indent="-279400" algn="l" rtl="0">
              <a:lnSpc>
                <a:spcPct val="100000"/>
              </a:lnSpc>
              <a:spcBef>
                <a:spcPts val="0"/>
              </a:spcBef>
              <a:spcAft>
                <a:spcPts val="0"/>
              </a:spcAft>
              <a:buClr>
                <a:srgbClr val="000000"/>
              </a:buClr>
              <a:buSzPts val="1500"/>
              <a:buFont typeface="Arial"/>
              <a:buChar char="●"/>
            </a:pPr>
            <a:r>
              <a:rPr lang="en-GB" b="0" i="0" u="none" strike="noStrike" cap="none" dirty="0">
                <a:solidFill>
                  <a:srgbClr val="000000"/>
                </a:solidFill>
                <a:ea typeface="Arial"/>
                <a:cs typeface="Arial"/>
                <a:sym typeface="Arial"/>
              </a:rPr>
              <a:t>Jenkins has a very low learning curve. </a:t>
            </a:r>
            <a:endParaRPr b="0" i="0" u="none" strike="noStrike" cap="none" dirty="0">
              <a:solidFill>
                <a:srgbClr val="000000"/>
              </a:solidFill>
              <a:ea typeface="Arial"/>
              <a:cs typeface="Arial"/>
              <a:sym typeface="Arial"/>
            </a:endParaRPr>
          </a:p>
          <a:p>
            <a:pPr marL="457200" marR="0" lvl="0" indent="0" algn="l" rtl="0">
              <a:lnSpc>
                <a:spcPct val="100000"/>
              </a:lnSpc>
              <a:spcBef>
                <a:spcPts val="0"/>
              </a:spcBef>
              <a:spcAft>
                <a:spcPts val="0"/>
              </a:spcAft>
              <a:buNone/>
            </a:pPr>
            <a:endParaRPr dirty="0"/>
          </a:p>
          <a:p>
            <a:pPr marL="285750" marR="0" lvl="0" indent="-279400" algn="l" rtl="0">
              <a:lnSpc>
                <a:spcPct val="100000"/>
              </a:lnSpc>
              <a:spcBef>
                <a:spcPts val="0"/>
              </a:spcBef>
              <a:spcAft>
                <a:spcPts val="0"/>
              </a:spcAft>
              <a:buClr>
                <a:srgbClr val="000000"/>
              </a:buClr>
              <a:buSzPts val="1500"/>
              <a:buFont typeface="Arial"/>
              <a:buChar char="●"/>
            </a:pPr>
            <a:r>
              <a:rPr lang="en-GB" b="0" i="0" u="none" strike="noStrike" cap="none" dirty="0">
                <a:solidFill>
                  <a:srgbClr val="000000"/>
                </a:solidFill>
                <a:ea typeface="Arial"/>
                <a:cs typeface="Arial"/>
                <a:sym typeface="Arial"/>
              </a:rPr>
              <a:t>Jenkins is an extremely flexible tool and hundreds of open</a:t>
            </a:r>
            <a:r>
              <a:rPr lang="en-GB" dirty="0"/>
              <a:t>-</a:t>
            </a:r>
            <a:r>
              <a:rPr lang="en-GB" b="0" i="0" u="none" strike="noStrike" cap="none" dirty="0">
                <a:solidFill>
                  <a:srgbClr val="000000"/>
                </a:solidFill>
                <a:ea typeface="Arial"/>
                <a:cs typeface="Arial"/>
                <a:sym typeface="Arial"/>
              </a:rPr>
              <a:t>source plugins are available, with more coming </a:t>
            </a:r>
            <a:r>
              <a:rPr lang="en-GB" dirty="0"/>
              <a:t>up </a:t>
            </a:r>
            <a:r>
              <a:rPr lang="en-GB" b="0" i="0" u="none" strike="noStrike" cap="none" dirty="0">
                <a:solidFill>
                  <a:srgbClr val="000000"/>
                </a:solidFill>
                <a:ea typeface="Arial"/>
                <a:cs typeface="Arial"/>
                <a:sym typeface="Arial"/>
              </a:rPr>
              <a:t>every week. </a:t>
            </a:r>
            <a:endParaRPr sz="1400" b="0" i="0" u="none" strike="noStrike" cap="none" dirty="0">
              <a:solidFill>
                <a:srgbClr val="000000"/>
              </a:solidFill>
              <a:ea typeface="Arial"/>
              <a:cs typeface="Arial"/>
              <a:sym typeface="Arial"/>
            </a:endParaRPr>
          </a:p>
        </p:txBody>
      </p:sp>
    </p:spTree>
    <p:extLst>
      <p:ext uri="{BB962C8B-B14F-4D97-AF65-F5344CB8AC3E}">
        <p14:creationId xmlns:p14="http://schemas.microsoft.com/office/powerpoint/2010/main" val="847495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2" name="Google Shape;1202;g25c0f4a8d55_0_27">
            <a:extLst>
              <a:ext uri="{FF2B5EF4-FFF2-40B4-BE49-F238E27FC236}">
                <a16:creationId xmlns:a16="http://schemas.microsoft.com/office/drawing/2014/main" id="{67C61446-3824-7403-D35C-AF78D8109E61}"/>
              </a:ext>
            </a:extLst>
          </p:cNvPr>
          <p:cNvSpPr txBox="1"/>
          <p:nvPr/>
        </p:nvSpPr>
        <p:spPr>
          <a:xfrm>
            <a:off x="1622244" y="2245800"/>
            <a:ext cx="8589300" cy="3670200"/>
          </a:xfrm>
          <a:prstGeom prst="rect">
            <a:avLst/>
          </a:prstGeom>
          <a:noFill/>
          <a:ln>
            <a:noFill/>
          </a:ln>
        </p:spPr>
        <p:txBody>
          <a:bodyPr spcFirstLastPara="1" wrap="square" lIns="91425" tIns="91425" rIns="91425" bIns="91425" anchor="t" anchorCtr="0">
            <a:noAutofit/>
          </a:bodyPr>
          <a:lstStyle/>
          <a:p>
            <a:pPr marL="285750" marR="0" lvl="0" indent="-279400" algn="just" rtl="0">
              <a:lnSpc>
                <a:spcPct val="100000"/>
              </a:lnSpc>
              <a:spcBef>
                <a:spcPts val="0"/>
              </a:spcBef>
              <a:spcAft>
                <a:spcPts val="0"/>
              </a:spcAft>
              <a:buClr>
                <a:srgbClr val="000000"/>
              </a:buClr>
              <a:buSzPts val="1500"/>
              <a:buFont typeface="Arial"/>
              <a:buChar char="●"/>
            </a:pPr>
            <a:r>
              <a:rPr lang="en-GB" sz="1600" b="0" i="0" u="none" strike="noStrike" cap="none" dirty="0">
                <a:solidFill>
                  <a:srgbClr val="000000"/>
                </a:solidFill>
                <a:latin typeface="Arial"/>
                <a:ea typeface="Arial"/>
                <a:cs typeface="Arial"/>
                <a:sym typeface="Arial"/>
              </a:rPr>
              <a:t>These plugins cover everything from version</a:t>
            </a:r>
            <a:r>
              <a:rPr lang="en-GB" sz="1600" dirty="0"/>
              <a:t>-</a:t>
            </a:r>
            <a:r>
              <a:rPr lang="en-GB" sz="1600" b="0" i="0" u="none" strike="noStrike" cap="none" dirty="0">
                <a:solidFill>
                  <a:srgbClr val="000000"/>
                </a:solidFill>
                <a:latin typeface="Arial"/>
                <a:ea typeface="Arial"/>
                <a:cs typeface="Arial"/>
                <a:sym typeface="Arial"/>
              </a:rPr>
              <a:t>control systems, build tools, code quality metrics</a:t>
            </a:r>
            <a:r>
              <a:rPr lang="en-GB" sz="1600" dirty="0"/>
              <a:t> and</a:t>
            </a:r>
            <a:r>
              <a:rPr lang="en-GB" sz="1600" b="0" i="0" u="none" strike="noStrike" cap="none" dirty="0">
                <a:solidFill>
                  <a:srgbClr val="000000"/>
                </a:solidFill>
                <a:latin typeface="Arial"/>
                <a:ea typeface="Arial"/>
                <a:cs typeface="Arial"/>
                <a:sym typeface="Arial"/>
              </a:rPr>
              <a:t> build notifiers </a:t>
            </a:r>
            <a:r>
              <a:rPr lang="en-GB" sz="1600" dirty="0"/>
              <a:t>to </a:t>
            </a:r>
            <a:r>
              <a:rPr lang="en-GB" sz="1600" b="0" i="0" u="none" strike="noStrike" cap="none" dirty="0">
                <a:solidFill>
                  <a:srgbClr val="000000"/>
                </a:solidFill>
                <a:latin typeface="Arial"/>
                <a:ea typeface="Arial"/>
                <a:cs typeface="Arial"/>
                <a:sym typeface="Arial"/>
              </a:rPr>
              <a:t>integration with external systems, UI customi</a:t>
            </a:r>
            <a:r>
              <a:rPr lang="en-GB" sz="1600" dirty="0"/>
              <a:t>s</a:t>
            </a:r>
            <a:r>
              <a:rPr lang="en-GB" sz="1600" b="0" i="0" u="none" strike="noStrike" cap="none" dirty="0">
                <a:solidFill>
                  <a:srgbClr val="000000"/>
                </a:solidFill>
                <a:latin typeface="Arial"/>
                <a:ea typeface="Arial"/>
                <a:cs typeface="Arial"/>
                <a:sym typeface="Arial"/>
              </a:rPr>
              <a:t>ations, and much more.</a:t>
            </a:r>
            <a:endParaRPr sz="1600" b="0" i="0" u="none" strike="noStrike" cap="none" dirty="0">
              <a:solidFill>
                <a:srgbClr val="000000"/>
              </a:solidFill>
              <a:latin typeface="Arial"/>
              <a:ea typeface="Arial"/>
              <a:cs typeface="Arial"/>
              <a:sym typeface="Arial"/>
            </a:endParaRPr>
          </a:p>
          <a:p>
            <a:pPr marL="457200" marR="0" lvl="0" indent="0" algn="just" rtl="0">
              <a:lnSpc>
                <a:spcPct val="100000"/>
              </a:lnSpc>
              <a:spcBef>
                <a:spcPts val="0"/>
              </a:spcBef>
              <a:spcAft>
                <a:spcPts val="0"/>
              </a:spcAft>
              <a:buNone/>
            </a:pPr>
            <a:r>
              <a:rPr lang="en-GB" sz="1600" b="0" i="0" u="none" strike="noStrike" cap="none" dirty="0">
                <a:solidFill>
                  <a:srgbClr val="000000"/>
                </a:solidFill>
                <a:latin typeface="Arial"/>
                <a:ea typeface="Arial"/>
                <a:cs typeface="Arial"/>
                <a:sym typeface="Arial"/>
              </a:rPr>
              <a:t> </a:t>
            </a:r>
            <a:endParaRPr sz="1600" b="0" i="0" u="none" strike="noStrike" cap="none" dirty="0">
              <a:solidFill>
                <a:srgbClr val="000000"/>
              </a:solidFill>
              <a:latin typeface="Arial"/>
              <a:ea typeface="Arial"/>
              <a:cs typeface="Arial"/>
              <a:sym typeface="Arial"/>
            </a:endParaRPr>
          </a:p>
          <a:p>
            <a:pPr marL="285750" marR="0" lvl="0" indent="-279400" algn="just" rtl="0">
              <a:lnSpc>
                <a:spcPct val="100000"/>
              </a:lnSpc>
              <a:spcBef>
                <a:spcPts val="0"/>
              </a:spcBef>
              <a:spcAft>
                <a:spcPts val="0"/>
              </a:spcAft>
              <a:buClr>
                <a:srgbClr val="000000"/>
              </a:buClr>
              <a:buSzPts val="1500"/>
              <a:buFont typeface="Arial"/>
              <a:buChar char="●"/>
            </a:pPr>
            <a:r>
              <a:rPr lang="en-GB" sz="1600" b="0" i="0" u="none" strike="noStrike" cap="none" dirty="0">
                <a:solidFill>
                  <a:srgbClr val="000000"/>
                </a:solidFill>
                <a:latin typeface="Arial"/>
                <a:ea typeface="Arial"/>
                <a:cs typeface="Arial"/>
                <a:sym typeface="Arial"/>
              </a:rPr>
              <a:t>The Jenkins community is a large, dynamic, reactive and welcoming bunch, with passionate champions, active mailing lists, IRC channels and a very vocal blog and </a:t>
            </a:r>
            <a:r>
              <a:rPr lang="en-GB" sz="1600" dirty="0"/>
              <a:t>T</a:t>
            </a:r>
            <a:r>
              <a:rPr lang="en-GB" sz="1600" b="0" i="0" u="none" strike="noStrike" cap="none" dirty="0">
                <a:solidFill>
                  <a:srgbClr val="000000"/>
                </a:solidFill>
                <a:latin typeface="Arial"/>
                <a:ea typeface="Arial"/>
                <a:cs typeface="Arial"/>
                <a:sym typeface="Arial"/>
              </a:rPr>
              <a:t>witter account.</a:t>
            </a:r>
            <a:endParaRPr sz="1600" dirty="0"/>
          </a:p>
          <a:p>
            <a:pPr marL="457200" marR="0" lvl="0" indent="0" algn="just" rtl="0">
              <a:lnSpc>
                <a:spcPct val="100000"/>
              </a:lnSpc>
              <a:spcBef>
                <a:spcPts val="0"/>
              </a:spcBef>
              <a:spcAft>
                <a:spcPts val="0"/>
              </a:spcAft>
              <a:buNone/>
            </a:pPr>
            <a:endParaRPr sz="1600" dirty="0"/>
          </a:p>
          <a:p>
            <a:pPr marL="285750" marR="0" lvl="0" indent="-279400" algn="just" rtl="0">
              <a:lnSpc>
                <a:spcPct val="100000"/>
              </a:lnSpc>
              <a:spcBef>
                <a:spcPts val="0"/>
              </a:spcBef>
              <a:spcAft>
                <a:spcPts val="0"/>
              </a:spcAft>
              <a:buClr>
                <a:srgbClr val="000000"/>
              </a:buClr>
              <a:buSzPts val="1500"/>
              <a:buFont typeface="Arial"/>
              <a:buChar char="●"/>
            </a:pPr>
            <a:r>
              <a:rPr lang="en-GB" sz="1600" b="0" i="0" u="none" strike="noStrike" cap="none" dirty="0">
                <a:solidFill>
                  <a:srgbClr val="000000"/>
                </a:solidFill>
                <a:latin typeface="Arial"/>
                <a:ea typeface="Arial"/>
                <a:cs typeface="Arial"/>
                <a:sym typeface="Arial"/>
              </a:rPr>
              <a:t>The pace of development is quite fast, with the latest new features, bug fixes, and plugin updates bei</a:t>
            </a:r>
            <a:r>
              <a:rPr lang="en-GB" sz="1600" dirty="0"/>
              <a:t>ng </a:t>
            </a:r>
            <a:r>
              <a:rPr lang="en-GB" sz="1600" dirty="0">
                <a:solidFill>
                  <a:schemeClr val="dk1"/>
                </a:solidFill>
              </a:rPr>
              <a:t>released on a weekly basis</a:t>
            </a:r>
            <a:r>
              <a:rPr lang="en-GB" sz="1600" b="0" i="0" u="none" strike="noStrike" cap="none" dirty="0">
                <a:solidFill>
                  <a:srgbClr val="000000"/>
                </a:solidFill>
                <a:latin typeface="Arial"/>
                <a:ea typeface="Arial"/>
                <a:cs typeface="Arial"/>
                <a:sym typeface="Arial"/>
              </a:rPr>
              <a:t>.</a:t>
            </a:r>
            <a:endParaRPr sz="1600" b="0" i="0" u="none" strike="noStrike" cap="none" dirty="0">
              <a:solidFill>
                <a:srgbClr val="000000"/>
              </a:solidFill>
              <a:latin typeface="Arial"/>
              <a:ea typeface="Arial"/>
              <a:cs typeface="Arial"/>
              <a:sym typeface="Arial"/>
            </a:endParaRPr>
          </a:p>
          <a:p>
            <a:pPr marL="457200" marR="0" lvl="0" indent="0" algn="just" rtl="0">
              <a:lnSpc>
                <a:spcPct val="100000"/>
              </a:lnSpc>
              <a:spcBef>
                <a:spcPts val="0"/>
              </a:spcBef>
              <a:spcAft>
                <a:spcPts val="0"/>
              </a:spcAft>
              <a:buNone/>
            </a:pPr>
            <a:endParaRPr sz="1600" dirty="0"/>
          </a:p>
          <a:p>
            <a:pPr marL="285750" marR="0" lvl="0" indent="-279400" algn="just" rtl="0">
              <a:lnSpc>
                <a:spcPct val="100000"/>
              </a:lnSpc>
              <a:spcBef>
                <a:spcPts val="0"/>
              </a:spcBef>
              <a:spcAft>
                <a:spcPts val="0"/>
              </a:spcAft>
              <a:buClr>
                <a:srgbClr val="000000"/>
              </a:buClr>
              <a:buSzPts val="1500"/>
              <a:buFont typeface="Arial"/>
              <a:buChar char="●"/>
            </a:pPr>
            <a:r>
              <a:rPr lang="en-GB" sz="1600" b="0" i="0" u="none" strike="noStrike" cap="none" dirty="0">
                <a:solidFill>
                  <a:srgbClr val="000000"/>
                </a:solidFill>
                <a:latin typeface="Arial"/>
                <a:ea typeface="Arial"/>
                <a:cs typeface="Arial"/>
                <a:sym typeface="Arial"/>
              </a:rPr>
              <a:t>Jenkins is a </a:t>
            </a:r>
            <a:r>
              <a:rPr lang="en-GB" sz="1600" b="0"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4"/>
                  </a:ext>
                </a:extLst>
              </a:rPr>
              <a:t>JAVA application, so it is platform independent. </a:t>
            </a:r>
            <a:endParaRPr sz="1600" b="0" i="0" u="none" strike="noStrike" cap="none" dirty="0">
              <a:solidFill>
                <a:srgbClr val="000000"/>
              </a:solidFill>
              <a:latin typeface="Arial"/>
              <a:ea typeface="Arial"/>
              <a:cs typeface="Arial"/>
              <a:sym typeface="Arial"/>
            </a:endParaRPr>
          </a:p>
        </p:txBody>
      </p:sp>
      <p:sp>
        <p:nvSpPr>
          <p:cNvPr id="13" name="Google Shape;1204;g25c0f4a8d55_0_27">
            <a:extLst>
              <a:ext uri="{FF2B5EF4-FFF2-40B4-BE49-F238E27FC236}">
                <a16:creationId xmlns:a16="http://schemas.microsoft.com/office/drawing/2014/main" id="{FE52C99A-6C9C-D2BC-D81E-20BA5371DD38}"/>
              </a:ext>
            </a:extLst>
          </p:cNvPr>
          <p:cNvSpPr txBox="1"/>
          <p:nvPr/>
        </p:nvSpPr>
        <p:spPr>
          <a:xfrm>
            <a:off x="2060105" y="1434509"/>
            <a:ext cx="55224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dk1"/>
              </a:buClr>
              <a:buSzPts val="1100"/>
              <a:buFont typeface="Arial"/>
              <a:buNone/>
            </a:pPr>
            <a:r>
              <a:rPr lang="en-GB" sz="2540" b="0" i="0" u="none" strike="noStrike" cap="none" dirty="0">
                <a:latin typeface="Proxima Nova"/>
                <a:ea typeface="Proxima Nova"/>
                <a:cs typeface="Proxima Nova"/>
                <a:sym typeface="Proxima Nova"/>
              </a:rPr>
              <a:t>Features of Jenkins</a:t>
            </a:r>
            <a:endParaRPr sz="2540" b="0" i="0" u="none" strike="noStrike" cap="none" dirty="0">
              <a:latin typeface="Proxima Nova"/>
              <a:ea typeface="Proxima Nova"/>
              <a:cs typeface="Proxima Nova"/>
              <a:sym typeface="Proxima Nova"/>
            </a:endParaRPr>
          </a:p>
        </p:txBody>
      </p:sp>
    </p:spTree>
    <p:extLst>
      <p:ext uri="{BB962C8B-B14F-4D97-AF65-F5344CB8AC3E}">
        <p14:creationId xmlns:p14="http://schemas.microsoft.com/office/powerpoint/2010/main" val="2549212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211;g25c0f4a8d55_0_34">
            <a:extLst>
              <a:ext uri="{FF2B5EF4-FFF2-40B4-BE49-F238E27FC236}">
                <a16:creationId xmlns:a16="http://schemas.microsoft.com/office/drawing/2014/main" id="{EA397861-A8B3-5BE0-026B-EDAD6917989B}"/>
              </a:ext>
            </a:extLst>
          </p:cNvPr>
          <p:cNvSpPr txBox="1"/>
          <p:nvPr/>
        </p:nvSpPr>
        <p:spPr>
          <a:xfrm>
            <a:off x="2243958" y="1388962"/>
            <a:ext cx="55224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dk1"/>
              </a:buClr>
              <a:buSzPts val="1100"/>
              <a:buFont typeface="Arial"/>
              <a:buNone/>
            </a:pPr>
            <a:r>
              <a:rPr lang="en-GB" sz="2540" dirty="0">
                <a:latin typeface="Proxima Nova"/>
                <a:ea typeface="Proxima Nova"/>
                <a:cs typeface="Proxima Nova"/>
                <a:sym typeface="Proxima Nova"/>
              </a:rPr>
              <a:t>Comparison of </a:t>
            </a:r>
            <a:r>
              <a:rPr lang="en-GB" sz="2540" b="0" i="0" u="none" strike="noStrike" cap="none" dirty="0">
                <a:latin typeface="Proxima Nova"/>
                <a:ea typeface="Proxima Nova"/>
                <a:cs typeface="Proxima Nova"/>
                <a:sym typeface="Proxima Nova"/>
              </a:rPr>
              <a:t>CI Tools </a:t>
            </a:r>
            <a:endParaRPr sz="2540" b="0" i="0" u="none" strike="noStrike" cap="none" dirty="0">
              <a:latin typeface="Proxima Nova"/>
              <a:ea typeface="Proxima Nova"/>
              <a:cs typeface="Proxima Nova"/>
              <a:sym typeface="Proxima Nova"/>
            </a:endParaRPr>
          </a:p>
        </p:txBody>
      </p:sp>
      <p:sp>
        <p:nvSpPr>
          <p:cNvPr id="10" name="Google Shape;1213;g25c0f4a8d55_0_34">
            <a:extLst>
              <a:ext uri="{FF2B5EF4-FFF2-40B4-BE49-F238E27FC236}">
                <a16:creationId xmlns:a16="http://schemas.microsoft.com/office/drawing/2014/main" id="{0871F80B-21E2-096C-264D-7BAFC8178BE4}"/>
              </a:ext>
            </a:extLst>
          </p:cNvPr>
          <p:cNvSpPr txBox="1"/>
          <p:nvPr/>
        </p:nvSpPr>
        <p:spPr>
          <a:xfrm>
            <a:off x="7695344" y="2774023"/>
            <a:ext cx="1294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 name="Google Shape;1214;g25c0f4a8d55_0_34">
            <a:extLst>
              <a:ext uri="{FF2B5EF4-FFF2-40B4-BE49-F238E27FC236}">
                <a16:creationId xmlns:a16="http://schemas.microsoft.com/office/drawing/2014/main" id="{FE18B403-D2E9-995A-8498-DB91E511F49D}"/>
              </a:ext>
            </a:extLst>
          </p:cNvPr>
          <p:cNvPicPr preferRelativeResize="0"/>
          <p:nvPr/>
        </p:nvPicPr>
        <p:blipFill>
          <a:blip r:embed="rId6">
            <a:alphaModFix/>
          </a:blip>
          <a:stretch>
            <a:fillRect/>
          </a:stretch>
        </p:blipFill>
        <p:spPr>
          <a:xfrm>
            <a:off x="512955" y="1899344"/>
            <a:ext cx="10611651" cy="4707881"/>
          </a:xfrm>
          <a:prstGeom prst="rect">
            <a:avLst/>
          </a:prstGeom>
          <a:noFill/>
          <a:ln>
            <a:noFill/>
          </a:ln>
        </p:spPr>
      </p:pic>
    </p:spTree>
    <p:extLst>
      <p:ext uri="{BB962C8B-B14F-4D97-AF65-F5344CB8AC3E}">
        <p14:creationId xmlns:p14="http://schemas.microsoft.com/office/powerpoint/2010/main" val="4127061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220;g25c0f4a8d55_0_42">
            <a:extLst>
              <a:ext uri="{FF2B5EF4-FFF2-40B4-BE49-F238E27FC236}">
                <a16:creationId xmlns:a16="http://schemas.microsoft.com/office/drawing/2014/main" id="{5A3681EA-C6F7-890C-F12D-BB3AFD554E34}"/>
              </a:ext>
            </a:extLst>
          </p:cNvPr>
          <p:cNvSpPr txBox="1"/>
          <p:nvPr/>
        </p:nvSpPr>
        <p:spPr>
          <a:xfrm>
            <a:off x="2243958" y="1360564"/>
            <a:ext cx="55224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dk1"/>
              </a:buClr>
              <a:buSzPts val="1100"/>
              <a:buFont typeface="Arial"/>
              <a:buNone/>
            </a:pPr>
            <a:r>
              <a:rPr lang="en-GB" sz="2540" b="0" i="0" u="none" strike="noStrike" cap="none" dirty="0">
                <a:latin typeface="Proxima Nova"/>
                <a:ea typeface="Proxima Nova"/>
                <a:cs typeface="Proxima Nova"/>
                <a:sym typeface="Proxima Nova"/>
              </a:rPr>
              <a:t>Jenkins Architecture</a:t>
            </a:r>
            <a:endParaRPr sz="2540" b="0" i="0" u="none" strike="noStrike" cap="none" dirty="0">
              <a:latin typeface="Proxima Nova"/>
              <a:ea typeface="Proxima Nova"/>
              <a:cs typeface="Proxima Nova"/>
              <a:sym typeface="Proxima Nova"/>
            </a:endParaRPr>
          </a:p>
        </p:txBody>
      </p:sp>
      <p:sp>
        <p:nvSpPr>
          <p:cNvPr id="10" name="Google Shape;1222;g25c0f4a8d55_0_42">
            <a:extLst>
              <a:ext uri="{FF2B5EF4-FFF2-40B4-BE49-F238E27FC236}">
                <a16:creationId xmlns:a16="http://schemas.microsoft.com/office/drawing/2014/main" id="{F2B6A821-9EB2-E93C-76D7-4FB378105984}"/>
              </a:ext>
            </a:extLst>
          </p:cNvPr>
          <p:cNvSpPr txBox="1"/>
          <p:nvPr/>
        </p:nvSpPr>
        <p:spPr>
          <a:xfrm>
            <a:off x="5765285" y="2804677"/>
            <a:ext cx="5959470" cy="22638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chemeClr val="dk1"/>
              </a:buClr>
              <a:buSzPts val="1800"/>
              <a:buFont typeface="Calibri"/>
              <a:buNone/>
            </a:pPr>
            <a:endParaRPr sz="2000" b="0" i="0" u="none" strike="noStrike" cap="none">
              <a:solidFill>
                <a:srgbClr val="000000"/>
              </a:solidFill>
              <a:latin typeface="Proxima Nova"/>
              <a:ea typeface="Proxima Nova"/>
              <a:cs typeface="Proxima Nova"/>
              <a:sym typeface="Proxima Nova"/>
            </a:endParaRPr>
          </a:p>
        </p:txBody>
      </p:sp>
      <p:pic>
        <p:nvPicPr>
          <p:cNvPr id="11" name="Google Shape;1223;g25c0f4a8d55_0_42">
            <a:extLst>
              <a:ext uri="{FF2B5EF4-FFF2-40B4-BE49-F238E27FC236}">
                <a16:creationId xmlns:a16="http://schemas.microsoft.com/office/drawing/2014/main" id="{2991760D-F3D9-573C-EAFC-21B3E8198068}"/>
              </a:ext>
            </a:extLst>
          </p:cNvPr>
          <p:cNvPicPr preferRelativeResize="0"/>
          <p:nvPr/>
        </p:nvPicPr>
        <p:blipFill>
          <a:blip r:embed="rId6">
            <a:alphaModFix/>
          </a:blip>
          <a:stretch>
            <a:fillRect/>
          </a:stretch>
        </p:blipFill>
        <p:spPr>
          <a:xfrm>
            <a:off x="1287258" y="2087643"/>
            <a:ext cx="9439376" cy="4156790"/>
          </a:xfrm>
          <a:prstGeom prst="rect">
            <a:avLst/>
          </a:prstGeom>
          <a:noFill/>
          <a:ln>
            <a:noFill/>
          </a:ln>
        </p:spPr>
      </p:pic>
    </p:spTree>
    <p:extLst>
      <p:ext uri="{BB962C8B-B14F-4D97-AF65-F5344CB8AC3E}">
        <p14:creationId xmlns:p14="http://schemas.microsoft.com/office/powerpoint/2010/main" val="1342276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229;g25c0f4a8d55_0_50">
            <a:extLst>
              <a:ext uri="{FF2B5EF4-FFF2-40B4-BE49-F238E27FC236}">
                <a16:creationId xmlns:a16="http://schemas.microsoft.com/office/drawing/2014/main" id="{8FBCB409-340B-2E2A-17F1-8ADDBE855993}"/>
              </a:ext>
            </a:extLst>
          </p:cNvPr>
          <p:cNvSpPr txBox="1"/>
          <p:nvPr/>
        </p:nvSpPr>
        <p:spPr>
          <a:xfrm>
            <a:off x="2169082" y="1398684"/>
            <a:ext cx="55224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dk1"/>
              </a:buClr>
              <a:buSzPts val="1100"/>
              <a:buFont typeface="Arial"/>
              <a:buNone/>
            </a:pPr>
            <a:r>
              <a:rPr lang="en-GB" sz="2540">
                <a:latin typeface="Proxima Nova"/>
                <a:ea typeface="Proxima Nova"/>
                <a:cs typeface="Proxima Nova"/>
                <a:sym typeface="Proxima Nova"/>
              </a:rPr>
              <a:t>Companies That Use Jenkins</a:t>
            </a:r>
            <a:endParaRPr sz="2540" b="0" i="0" u="none" strike="noStrike" cap="none" dirty="0">
              <a:latin typeface="Proxima Nova"/>
              <a:ea typeface="Proxima Nova"/>
              <a:cs typeface="Proxima Nova"/>
              <a:sym typeface="Proxima Nova"/>
            </a:endParaRPr>
          </a:p>
        </p:txBody>
      </p:sp>
      <p:pic>
        <p:nvPicPr>
          <p:cNvPr id="10" name="Google Shape;1231;g25c0f4a8d55_0_50">
            <a:extLst>
              <a:ext uri="{FF2B5EF4-FFF2-40B4-BE49-F238E27FC236}">
                <a16:creationId xmlns:a16="http://schemas.microsoft.com/office/drawing/2014/main" id="{CE6E204E-7605-EAC5-5601-81A9B18AB7C7}"/>
              </a:ext>
            </a:extLst>
          </p:cNvPr>
          <p:cNvPicPr preferRelativeResize="0"/>
          <p:nvPr/>
        </p:nvPicPr>
        <p:blipFill>
          <a:blip r:embed="rId6">
            <a:alphaModFix/>
          </a:blip>
          <a:stretch>
            <a:fillRect/>
          </a:stretch>
        </p:blipFill>
        <p:spPr>
          <a:xfrm>
            <a:off x="307848" y="2010949"/>
            <a:ext cx="10884408" cy="4593292"/>
          </a:xfrm>
          <a:prstGeom prst="rect">
            <a:avLst/>
          </a:prstGeom>
          <a:noFill/>
          <a:ln>
            <a:noFill/>
          </a:ln>
        </p:spPr>
      </p:pic>
    </p:spTree>
    <p:extLst>
      <p:ext uri="{BB962C8B-B14F-4D97-AF65-F5344CB8AC3E}">
        <p14:creationId xmlns:p14="http://schemas.microsoft.com/office/powerpoint/2010/main" val="5391361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35"/>
        <p:cNvGrpSpPr/>
        <p:nvPr/>
      </p:nvGrpSpPr>
      <p:grpSpPr>
        <a:xfrm>
          <a:off x="0" y="0"/>
          <a:ext cx="0" cy="0"/>
          <a:chOff x="0" y="0"/>
          <a:chExt cx="0" cy="0"/>
        </a:xfrm>
      </p:grpSpPr>
      <p:sp>
        <p:nvSpPr>
          <p:cNvPr id="1236" name="Google Shape;1236;g25c0f4a8d55_0_57"/>
          <p:cNvSpPr txBox="1">
            <a:spLocks noGrp="1"/>
          </p:cNvSpPr>
          <p:nvPr>
            <p:ph type="sldNum" idx="12"/>
          </p:nvPr>
        </p:nvSpPr>
        <p:spPr>
          <a:xfrm>
            <a:off x="8623300" y="6356351"/>
            <a:ext cx="2743200" cy="3652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GB"/>
              <a:pPr/>
              <a:t>32</a:t>
            </a:fld>
            <a:endParaRPr/>
          </a:p>
        </p:txBody>
      </p:sp>
      <p:sp>
        <p:nvSpPr>
          <p:cNvPr id="1237" name="Google Shape;1237;g25c0f4a8d55_0_57"/>
          <p:cNvSpPr txBox="1"/>
          <p:nvPr/>
        </p:nvSpPr>
        <p:spPr>
          <a:xfrm>
            <a:off x="2388967" y="2233000"/>
            <a:ext cx="7368400" cy="2392000"/>
          </a:xfrm>
          <a:prstGeom prst="rect">
            <a:avLst/>
          </a:prstGeom>
          <a:noFill/>
          <a:ln>
            <a:noFill/>
          </a:ln>
        </p:spPr>
        <p:txBody>
          <a:bodyPr spcFirstLastPara="1" wrap="square" lIns="121900" tIns="60933" rIns="121900" bIns="60933" anchor="t" anchorCtr="0">
            <a:noAutofit/>
          </a:bodyPr>
          <a:lstStyle/>
          <a:p>
            <a:pPr algn="ctr">
              <a:buClr>
                <a:srgbClr val="000000"/>
              </a:buClr>
              <a:buSzPts val="3200"/>
            </a:pPr>
            <a:r>
              <a:rPr lang="en-GB" sz="4267">
                <a:solidFill>
                  <a:schemeClr val="lt1"/>
                </a:solidFill>
                <a:latin typeface="Proxima Nova"/>
                <a:ea typeface="Proxima Nova"/>
                <a:cs typeface="Proxima Nova"/>
                <a:sym typeface="Proxima Nova"/>
              </a:rPr>
              <a:t>Configuring and Setting Up Jenkins </a:t>
            </a:r>
            <a:endParaRPr sz="4267">
              <a:solidFill>
                <a:schemeClr val="lt1"/>
              </a:solidFill>
              <a:latin typeface="Proxima Nova"/>
              <a:ea typeface="Proxima Nova"/>
              <a:cs typeface="Proxima Nova"/>
              <a:sym typeface="Proxima Nov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5" name="Google Shape;1243;g25c0f4a8d55_0_62">
            <a:extLst>
              <a:ext uri="{FF2B5EF4-FFF2-40B4-BE49-F238E27FC236}">
                <a16:creationId xmlns:a16="http://schemas.microsoft.com/office/drawing/2014/main" id="{2CFAB1D2-F736-B748-B3F7-CB864C2A1E7C}"/>
              </a:ext>
            </a:extLst>
          </p:cNvPr>
          <p:cNvSpPr txBox="1">
            <a:spLocks/>
          </p:cNvSpPr>
          <p:nvPr/>
        </p:nvSpPr>
        <p:spPr>
          <a:xfrm>
            <a:off x="2310071" y="2017083"/>
            <a:ext cx="8629800" cy="43866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a:spcBef>
                <a:spcPts val="750"/>
              </a:spcBef>
              <a:buSzPts val="1800"/>
              <a:buFont typeface="Arial" panose="020B0604020202020204" pitchFamily="34" charset="0"/>
              <a:buNone/>
            </a:pPr>
            <a:endParaRPr lang="en-IN" sz="1500">
              <a:latin typeface="Arial"/>
              <a:ea typeface="Arial"/>
              <a:cs typeface="Arial"/>
              <a:sym typeface="Arial"/>
            </a:endParaRPr>
          </a:p>
          <a:p>
            <a:pPr marL="0" indent="0">
              <a:spcBef>
                <a:spcPts val="750"/>
              </a:spcBef>
              <a:buSzPts val="1800"/>
              <a:buFont typeface="Arial" panose="020B0604020202020204" pitchFamily="34" charset="0"/>
              <a:buNone/>
            </a:pPr>
            <a:endParaRPr lang="en-IN" sz="1500"/>
          </a:p>
          <a:p>
            <a:pPr marL="457200">
              <a:spcBef>
                <a:spcPts val="750"/>
              </a:spcBef>
              <a:buSzPts val="1800"/>
              <a:buFont typeface="Arial" panose="020B0604020202020204" pitchFamily="34" charset="0"/>
              <a:buNone/>
            </a:pPr>
            <a:endParaRPr lang="en-IN" sz="1500"/>
          </a:p>
        </p:txBody>
      </p:sp>
      <p:sp>
        <p:nvSpPr>
          <p:cNvPr id="16" name="Google Shape;1244;g25c0f4a8d55_0_62">
            <a:extLst>
              <a:ext uri="{FF2B5EF4-FFF2-40B4-BE49-F238E27FC236}">
                <a16:creationId xmlns:a16="http://schemas.microsoft.com/office/drawing/2014/main" id="{A11F6747-EE42-4036-2E20-BC995BD145F0}"/>
              </a:ext>
            </a:extLst>
          </p:cNvPr>
          <p:cNvSpPr txBox="1">
            <a:spLocks/>
          </p:cNvSpPr>
          <p:nvPr/>
        </p:nvSpPr>
        <p:spPr>
          <a:xfrm>
            <a:off x="2310067" y="1388988"/>
            <a:ext cx="6977700"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SzPts val="2400"/>
            </a:pPr>
            <a:r>
              <a:rPr lang="en-US" sz="4000" dirty="0"/>
              <a:t>Jenkins Installation – The Step-by-Step Procedure</a:t>
            </a:r>
          </a:p>
        </p:txBody>
      </p:sp>
      <p:sp>
        <p:nvSpPr>
          <p:cNvPr id="17" name="Google Shape;1245;g25c0f4a8d55_0_62">
            <a:extLst>
              <a:ext uri="{FF2B5EF4-FFF2-40B4-BE49-F238E27FC236}">
                <a16:creationId xmlns:a16="http://schemas.microsoft.com/office/drawing/2014/main" id="{C11D5D2D-58D4-9268-ADC2-4E70F6951B33}"/>
              </a:ext>
            </a:extLst>
          </p:cNvPr>
          <p:cNvSpPr/>
          <p:nvPr/>
        </p:nvSpPr>
        <p:spPr>
          <a:xfrm>
            <a:off x="2243958" y="2118566"/>
            <a:ext cx="8922600" cy="4708110"/>
          </a:xfrm>
          <a:prstGeom prst="roundRect">
            <a:avLst>
              <a:gd name="adj" fmla="val 16667"/>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246;g25c0f4a8d55_0_62">
            <a:extLst>
              <a:ext uri="{FF2B5EF4-FFF2-40B4-BE49-F238E27FC236}">
                <a16:creationId xmlns:a16="http://schemas.microsoft.com/office/drawing/2014/main" id="{BC9171F5-3A9F-D1E8-F142-6C1406480066}"/>
              </a:ext>
            </a:extLst>
          </p:cNvPr>
          <p:cNvSpPr txBox="1"/>
          <p:nvPr/>
        </p:nvSpPr>
        <p:spPr>
          <a:xfrm>
            <a:off x="2310067" y="2227256"/>
            <a:ext cx="8421900" cy="4897721"/>
          </a:xfrm>
          <a:prstGeom prst="rect">
            <a:avLst/>
          </a:prstGeom>
          <a:noFill/>
          <a:ln>
            <a:noFill/>
          </a:ln>
        </p:spPr>
        <p:txBody>
          <a:bodyPr spcFirstLastPara="1" wrap="square" lIns="91425" tIns="91425" rIns="91425" bIns="91425" anchor="t" anchorCtr="0">
            <a:spAutoFit/>
          </a:bodyPr>
          <a:lstStyle/>
          <a:p>
            <a:pPr marL="457200" lvl="0" indent="-228600" algn="l" rtl="0">
              <a:lnSpc>
                <a:spcPct val="90000"/>
              </a:lnSpc>
              <a:spcBef>
                <a:spcPts val="750"/>
              </a:spcBef>
              <a:spcAft>
                <a:spcPts val="0"/>
              </a:spcAft>
              <a:buClr>
                <a:schemeClr val="dk1"/>
              </a:buClr>
              <a:buSzPts val="1800"/>
              <a:buFont typeface="Arial"/>
              <a:buNone/>
            </a:pPr>
            <a:r>
              <a:rPr lang="en-GB" sz="1600" b="1" dirty="0">
                <a:solidFill>
                  <a:srgbClr val="FF0000"/>
                </a:solidFill>
              </a:rPr>
              <a:t>Install Java </a:t>
            </a:r>
            <a:endParaRPr sz="1600" b="1" dirty="0">
              <a:solidFill>
                <a:srgbClr val="FF0000"/>
              </a:solidFill>
            </a:endParaRPr>
          </a:p>
          <a:p>
            <a:pPr marL="457200" lvl="0" indent="-228600" algn="l" rtl="0">
              <a:lnSpc>
                <a:spcPct val="90000"/>
              </a:lnSpc>
              <a:spcBef>
                <a:spcPts val="750"/>
              </a:spcBef>
              <a:spcAft>
                <a:spcPts val="0"/>
              </a:spcAft>
              <a:buClr>
                <a:schemeClr val="dk1"/>
              </a:buClr>
              <a:buSzPts val="1800"/>
              <a:buFont typeface="Arial"/>
              <a:buNone/>
            </a:pPr>
            <a:r>
              <a:rPr lang="en-GB" sz="1600" dirty="0" err="1">
                <a:solidFill>
                  <a:schemeClr val="dk1"/>
                </a:solidFill>
              </a:rPr>
              <a:t>sudo</a:t>
            </a:r>
            <a:r>
              <a:rPr lang="en-GB" sz="1600" dirty="0">
                <a:solidFill>
                  <a:schemeClr val="dk1"/>
                </a:solidFill>
              </a:rPr>
              <a:t> apt install openjdk-11-jdk</a:t>
            </a:r>
            <a:endParaRPr sz="1600" dirty="0">
              <a:solidFill>
                <a:schemeClr val="dk1"/>
              </a:solidFill>
            </a:endParaRPr>
          </a:p>
          <a:p>
            <a:pPr marL="457200" lvl="0" indent="-228600" algn="l" rtl="0">
              <a:lnSpc>
                <a:spcPct val="90000"/>
              </a:lnSpc>
              <a:spcBef>
                <a:spcPts val="750"/>
              </a:spcBef>
              <a:spcAft>
                <a:spcPts val="0"/>
              </a:spcAft>
              <a:buClr>
                <a:schemeClr val="dk1"/>
              </a:buClr>
              <a:buSzPts val="1800"/>
              <a:buFont typeface="Arial"/>
              <a:buNone/>
            </a:pPr>
            <a:r>
              <a:rPr lang="en-GB" sz="1600" b="1" dirty="0">
                <a:solidFill>
                  <a:srgbClr val="FF0000"/>
                </a:solidFill>
              </a:rPr>
              <a:t>To check</a:t>
            </a:r>
            <a:r>
              <a:rPr lang="en-GB" sz="1600" b="1" dirty="0">
                <a:solidFill>
                  <a:schemeClr val="dk1"/>
                </a:solidFill>
              </a:rPr>
              <a:t> </a:t>
            </a:r>
            <a:r>
              <a:rPr lang="en-GB" sz="1600" dirty="0">
                <a:solidFill>
                  <a:schemeClr val="dk1"/>
                </a:solidFill>
              </a:rPr>
              <a:t>java –version</a:t>
            </a:r>
            <a:endParaRPr sz="1600" dirty="0">
              <a:solidFill>
                <a:schemeClr val="dk1"/>
              </a:solidFill>
            </a:endParaRPr>
          </a:p>
          <a:p>
            <a:pPr marL="457200" lvl="0" indent="-228600" algn="l" rtl="0">
              <a:lnSpc>
                <a:spcPct val="90000"/>
              </a:lnSpc>
              <a:spcBef>
                <a:spcPts val="750"/>
              </a:spcBef>
              <a:spcAft>
                <a:spcPts val="0"/>
              </a:spcAft>
              <a:buClr>
                <a:schemeClr val="dk1"/>
              </a:buClr>
              <a:buSzPts val="1800"/>
              <a:buFont typeface="Arial"/>
              <a:buNone/>
            </a:pPr>
            <a:r>
              <a:rPr lang="en-GB" sz="1600" dirty="0" err="1">
                <a:solidFill>
                  <a:schemeClr val="dk1"/>
                </a:solidFill>
              </a:rPr>
              <a:t>openjdk</a:t>
            </a:r>
            <a:r>
              <a:rPr lang="en-GB" sz="1600" dirty="0">
                <a:solidFill>
                  <a:schemeClr val="dk1"/>
                </a:solidFill>
              </a:rPr>
              <a:t> 11.0.10 2021-01-19</a:t>
            </a:r>
            <a:endParaRPr sz="1600" dirty="0">
              <a:solidFill>
                <a:schemeClr val="dk1"/>
              </a:solidFill>
            </a:endParaRPr>
          </a:p>
          <a:p>
            <a:pPr marL="457200" lvl="0" indent="-228600" algn="l" rtl="0">
              <a:lnSpc>
                <a:spcPct val="90000"/>
              </a:lnSpc>
              <a:spcBef>
                <a:spcPts val="750"/>
              </a:spcBef>
              <a:spcAft>
                <a:spcPts val="0"/>
              </a:spcAft>
              <a:buClr>
                <a:schemeClr val="dk1"/>
              </a:buClr>
              <a:buSzPts val="1800"/>
              <a:buFont typeface="Arial"/>
              <a:buNone/>
            </a:pPr>
            <a:r>
              <a:rPr lang="en-GB" sz="1600" dirty="0">
                <a:solidFill>
                  <a:schemeClr val="dk1"/>
                </a:solidFill>
              </a:rPr>
              <a:t>OpenJDK Runtime Environment (build 11.0.10+9-Ubuntu-0ubuntu1.18.04)</a:t>
            </a:r>
            <a:endParaRPr sz="1600" dirty="0">
              <a:solidFill>
                <a:schemeClr val="dk1"/>
              </a:solidFill>
            </a:endParaRPr>
          </a:p>
          <a:p>
            <a:pPr marL="457200" lvl="0" indent="-228600" algn="l" rtl="0">
              <a:lnSpc>
                <a:spcPct val="90000"/>
              </a:lnSpc>
              <a:spcBef>
                <a:spcPts val="750"/>
              </a:spcBef>
              <a:spcAft>
                <a:spcPts val="0"/>
              </a:spcAft>
              <a:buClr>
                <a:schemeClr val="dk1"/>
              </a:buClr>
              <a:buSzPts val="1800"/>
              <a:buFont typeface="Arial"/>
              <a:buNone/>
            </a:pPr>
            <a:r>
              <a:rPr lang="en-GB" sz="1600" dirty="0">
                <a:solidFill>
                  <a:schemeClr val="dk1"/>
                </a:solidFill>
              </a:rPr>
              <a:t>OpenJDK 64-Bit Server VM (build 11.0.10+9-Ubuntu-0ubuntu1.18.04, mixed mode, sharing)</a:t>
            </a:r>
            <a:endParaRPr sz="1600" dirty="0">
              <a:solidFill>
                <a:schemeClr val="dk1"/>
              </a:solidFill>
            </a:endParaRPr>
          </a:p>
          <a:p>
            <a:pPr marL="457200" lvl="0" indent="-228600" algn="l" rtl="0">
              <a:lnSpc>
                <a:spcPct val="90000"/>
              </a:lnSpc>
              <a:spcBef>
                <a:spcPts val="750"/>
              </a:spcBef>
              <a:spcAft>
                <a:spcPts val="0"/>
              </a:spcAft>
              <a:buClr>
                <a:schemeClr val="dk1"/>
              </a:buClr>
              <a:buSzPts val="1800"/>
              <a:buFont typeface="Arial"/>
              <a:buNone/>
            </a:pPr>
            <a:r>
              <a:rPr lang="en-GB" sz="1600" b="1" dirty="0">
                <a:solidFill>
                  <a:srgbClr val="FF0000"/>
                </a:solidFill>
                <a:highlight>
                  <a:srgbClr val="FFFFFF"/>
                </a:highlight>
              </a:rPr>
              <a:t>Install Jenkins</a:t>
            </a:r>
            <a:endParaRPr sz="1600" dirty="0">
              <a:solidFill>
                <a:srgbClr val="FF0000"/>
              </a:solidFill>
              <a:highlight>
                <a:srgbClr val="FFFFFF"/>
              </a:highlight>
            </a:endParaRPr>
          </a:p>
          <a:p>
            <a:pPr marL="457200" lvl="0" indent="-228600" algn="l" rtl="0">
              <a:lnSpc>
                <a:spcPct val="90000"/>
              </a:lnSpc>
              <a:spcBef>
                <a:spcPts val="750"/>
              </a:spcBef>
              <a:spcAft>
                <a:spcPts val="0"/>
              </a:spcAft>
              <a:buClr>
                <a:schemeClr val="dk1"/>
              </a:buClr>
              <a:buSzPts val="1800"/>
              <a:buFont typeface="Arial"/>
              <a:buNone/>
            </a:pPr>
            <a:r>
              <a:rPr lang="en-GB" sz="1600" dirty="0" err="1">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5"/>
                  </a:ext>
                </a:extLst>
              </a:rPr>
              <a:t>wget</a:t>
            </a:r>
            <a:r>
              <a:rPr lang="en-GB" sz="1600" dirty="0">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5"/>
                  </a:ext>
                </a:extLst>
              </a:rPr>
              <a:t> -q -O - https://pkg.jenkins.io/debian-stable/jenkins.io.key | </a:t>
            </a:r>
            <a:r>
              <a:rPr lang="en-GB" sz="1600" dirty="0" err="1">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5"/>
                  </a:ext>
                </a:extLst>
              </a:rPr>
              <a:t>sudo</a:t>
            </a:r>
            <a:r>
              <a:rPr lang="en-GB" sz="1600" dirty="0">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5"/>
                  </a:ext>
                </a:extLst>
              </a:rPr>
              <a:t> apt-key add -</a:t>
            </a:r>
            <a:endParaRPr sz="1600" dirty="0">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6"/>
                </a:ext>
              </a:extLst>
            </a:endParaRPr>
          </a:p>
          <a:p>
            <a:pPr marL="457200" lvl="0" indent="-228600" algn="l" rtl="0">
              <a:lnSpc>
                <a:spcPct val="90000"/>
              </a:lnSpc>
              <a:spcBef>
                <a:spcPts val="750"/>
              </a:spcBef>
              <a:spcAft>
                <a:spcPts val="0"/>
              </a:spcAft>
              <a:buClr>
                <a:schemeClr val="dk1"/>
              </a:buClr>
              <a:buSzPts val="1800"/>
              <a:buFont typeface="Arial"/>
              <a:buNone/>
            </a:pPr>
            <a:r>
              <a:rPr lang="en-GB" sz="1600" dirty="0" err="1">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7"/>
                  </a:ext>
                </a:extLst>
              </a:rPr>
              <a:t>sudo</a:t>
            </a:r>
            <a:r>
              <a:rPr lang="en-GB" sz="1600" dirty="0">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7"/>
                  </a:ext>
                </a:extLst>
              </a:rPr>
              <a:t> </a:t>
            </a:r>
            <a:r>
              <a:rPr lang="en-GB" sz="1600" dirty="0" err="1">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7"/>
                  </a:ext>
                </a:extLst>
              </a:rPr>
              <a:t>sh</a:t>
            </a:r>
            <a:r>
              <a:rPr lang="en-GB" sz="1600" dirty="0">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7"/>
                  </a:ext>
                </a:extLst>
              </a:rPr>
              <a:t> -c 'echo deb https://pkg.jenkins.io/debian-stable binary/ /etc/apt/</a:t>
            </a:r>
            <a:r>
              <a:rPr lang="en-GB" sz="1600" dirty="0" err="1">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7"/>
                  </a:ext>
                </a:extLst>
              </a:rPr>
              <a:t>sources.list.d</a:t>
            </a:r>
            <a:r>
              <a:rPr lang="en-GB" sz="1600" dirty="0">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7"/>
                  </a:ext>
                </a:extLst>
              </a:rPr>
              <a:t>/</a:t>
            </a:r>
            <a:r>
              <a:rPr lang="en-GB" sz="1600" dirty="0" err="1">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7"/>
                  </a:ext>
                </a:extLst>
              </a:rPr>
              <a:t>jenkins.list</a:t>
            </a:r>
            <a:r>
              <a:rPr lang="en-GB" sz="1600" dirty="0">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7"/>
                  </a:ext>
                </a:extLst>
              </a:rPr>
              <a:t>'</a:t>
            </a:r>
            <a:endParaRPr sz="1600" dirty="0">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8"/>
                </a:ext>
              </a:extLst>
            </a:endParaRPr>
          </a:p>
          <a:p>
            <a:pPr marL="457200" lvl="0" indent="-228600" algn="l" rtl="0">
              <a:lnSpc>
                <a:spcPct val="90000"/>
              </a:lnSpc>
              <a:spcBef>
                <a:spcPts val="750"/>
              </a:spcBef>
              <a:spcAft>
                <a:spcPts val="0"/>
              </a:spcAft>
              <a:buClr>
                <a:schemeClr val="dk1"/>
              </a:buClr>
              <a:buSzPts val="1800"/>
              <a:buFont typeface="Arial"/>
              <a:buNone/>
            </a:pPr>
            <a:r>
              <a:rPr lang="en-GB" sz="1600" dirty="0" err="1">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9"/>
                  </a:ext>
                </a:extLst>
              </a:rPr>
              <a:t>sudo</a:t>
            </a:r>
            <a:r>
              <a:rPr lang="en-GB" sz="1600" dirty="0">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9"/>
                  </a:ext>
                </a:extLst>
              </a:rPr>
              <a:t> apt-get update</a:t>
            </a:r>
            <a:endParaRPr sz="1600" dirty="0">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0"/>
                </a:ext>
              </a:extLst>
            </a:endParaRPr>
          </a:p>
          <a:p>
            <a:pPr marL="457200" lvl="0" indent="-228600" algn="l" rtl="0">
              <a:lnSpc>
                <a:spcPct val="90000"/>
              </a:lnSpc>
              <a:spcBef>
                <a:spcPts val="750"/>
              </a:spcBef>
              <a:spcAft>
                <a:spcPts val="0"/>
              </a:spcAft>
              <a:buClr>
                <a:schemeClr val="dk1"/>
              </a:buClr>
              <a:buSzPts val="1800"/>
              <a:buFont typeface="Arial"/>
              <a:buNone/>
            </a:pPr>
            <a:r>
              <a:rPr lang="en-GB" sz="1600" dirty="0" err="1">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1"/>
                  </a:ext>
                </a:extLst>
              </a:rPr>
              <a:t>sudo</a:t>
            </a:r>
            <a:r>
              <a:rPr lang="en-GB" sz="1600" dirty="0">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1"/>
                  </a:ext>
                </a:extLst>
              </a:rPr>
              <a:t> apt-get install </a:t>
            </a:r>
            <a:r>
              <a:rPr lang="en-GB" sz="1600" dirty="0" err="1">
                <a:solidFill>
                  <a:schemeClr val="dk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1"/>
                  </a:ext>
                </a:extLst>
              </a:rPr>
              <a:t>jenkins</a:t>
            </a:r>
            <a:endParaRPr sz="1600" dirty="0">
              <a:solidFill>
                <a:schemeClr val="dk1"/>
              </a:solidFill>
            </a:endParaRPr>
          </a:p>
          <a:p>
            <a:pPr marL="457200" lvl="0" indent="-228600" algn="l" rtl="0">
              <a:lnSpc>
                <a:spcPct val="90000"/>
              </a:lnSpc>
              <a:spcBef>
                <a:spcPts val="750"/>
              </a:spcBef>
              <a:spcAft>
                <a:spcPts val="0"/>
              </a:spcAft>
              <a:buClr>
                <a:schemeClr val="dk1"/>
              </a:buClr>
              <a:buSzPts val="1800"/>
              <a:buFont typeface="Arial"/>
              <a:buNone/>
            </a:pPr>
            <a:r>
              <a:rPr lang="en-GB" sz="1600" b="1" dirty="0">
                <a:solidFill>
                  <a:srgbClr val="FF0000"/>
                </a:solidFill>
              </a:rPr>
              <a:t>To check Jenkins version</a:t>
            </a:r>
            <a:r>
              <a:rPr lang="en-GB" sz="1600" dirty="0">
                <a:solidFill>
                  <a:schemeClr val="dk1"/>
                </a:solidFill>
              </a:rPr>
              <a:t>:  vim /var/lib/</a:t>
            </a:r>
            <a:r>
              <a:rPr lang="en-GB" sz="1600" dirty="0" err="1">
                <a:solidFill>
                  <a:schemeClr val="dk1"/>
                </a:solidFill>
              </a:rPr>
              <a:t>jenkins</a:t>
            </a:r>
            <a:r>
              <a:rPr lang="en-GB" sz="1600" dirty="0">
                <a:solidFill>
                  <a:schemeClr val="dk1"/>
                </a:solidFill>
              </a:rPr>
              <a:t>/config.xml</a:t>
            </a:r>
            <a:endParaRPr sz="1600" dirty="0">
              <a:solidFill>
                <a:schemeClr val="dk1"/>
              </a:solidFill>
            </a:endParaRPr>
          </a:p>
          <a:p>
            <a:pPr marL="457200" lvl="0" indent="-228600" algn="l" rtl="0">
              <a:lnSpc>
                <a:spcPct val="90000"/>
              </a:lnSpc>
              <a:spcBef>
                <a:spcPts val="750"/>
              </a:spcBef>
              <a:spcAft>
                <a:spcPts val="0"/>
              </a:spcAft>
              <a:buClr>
                <a:schemeClr val="dk1"/>
              </a:buClr>
              <a:buSzPts val="1800"/>
              <a:buFont typeface="Arial"/>
              <a:buNone/>
            </a:pPr>
            <a:r>
              <a:rPr lang="en-GB" sz="1600" dirty="0">
                <a:solidFill>
                  <a:schemeClr val="dk1"/>
                </a:solidFill>
              </a:rPr>
              <a:t>                                               &lt;version&gt;2.263.4&lt;/version&gt;</a:t>
            </a:r>
            <a:endParaRPr sz="1600" dirty="0">
              <a:solidFill>
                <a:schemeClr val="dk1"/>
              </a:solidFill>
            </a:endParaRPr>
          </a:p>
          <a:p>
            <a:pPr marL="0" lvl="0" indent="0" algn="l" rtl="0">
              <a:spcBef>
                <a:spcPts val="0"/>
              </a:spcBef>
              <a:spcAft>
                <a:spcPts val="0"/>
              </a:spcAft>
              <a:buNone/>
            </a:pPr>
            <a:endParaRPr sz="2000" dirty="0"/>
          </a:p>
        </p:txBody>
      </p:sp>
      <p:pic>
        <p:nvPicPr>
          <p:cNvPr id="19" name="Google Shape;1247;g25c0f4a8d55_0_62" descr="Your Jenkins Belongs to Us Now: Abusing Continuous Integration Systems">
            <a:extLst>
              <a:ext uri="{FF2B5EF4-FFF2-40B4-BE49-F238E27FC236}">
                <a16:creationId xmlns:a16="http://schemas.microsoft.com/office/drawing/2014/main" id="{B24C762A-A36A-A397-628F-5DAFCEB67CDC}"/>
              </a:ext>
            </a:extLst>
          </p:cNvPr>
          <p:cNvPicPr preferRelativeResize="0"/>
          <p:nvPr/>
        </p:nvPicPr>
        <p:blipFill rotWithShape="1">
          <a:blip r:embed="rId6">
            <a:alphaModFix/>
          </a:blip>
          <a:srcRect/>
          <a:stretch/>
        </p:blipFill>
        <p:spPr>
          <a:xfrm>
            <a:off x="8921367" y="2334581"/>
            <a:ext cx="1745124" cy="1149175"/>
          </a:xfrm>
          <a:prstGeom prst="rect">
            <a:avLst/>
          </a:prstGeom>
          <a:noFill/>
          <a:ln>
            <a:noFill/>
          </a:ln>
        </p:spPr>
      </p:pic>
    </p:spTree>
    <p:extLst>
      <p:ext uri="{BB962C8B-B14F-4D97-AF65-F5344CB8AC3E}">
        <p14:creationId xmlns:p14="http://schemas.microsoft.com/office/powerpoint/2010/main" val="6343035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Google Shape;1253;g25c0f4a8d55_0_77">
            <a:extLst>
              <a:ext uri="{FF2B5EF4-FFF2-40B4-BE49-F238E27FC236}">
                <a16:creationId xmlns:a16="http://schemas.microsoft.com/office/drawing/2014/main" id="{0C637D64-1E13-15B1-B16D-52178C18456E}"/>
              </a:ext>
            </a:extLst>
          </p:cNvPr>
          <p:cNvSpPr txBox="1">
            <a:spLocks/>
          </p:cNvSpPr>
          <p:nvPr/>
        </p:nvSpPr>
        <p:spPr>
          <a:xfrm>
            <a:off x="1926022" y="1435362"/>
            <a:ext cx="7062529"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GB" sz="4000" dirty="0"/>
              <a:t>Execute https://&lt;ipaddress&gt;:8080</a:t>
            </a:r>
          </a:p>
        </p:txBody>
      </p:sp>
      <p:pic>
        <p:nvPicPr>
          <p:cNvPr id="11" name="Google Shape;1254;g25c0f4a8d55_0_77">
            <a:extLst>
              <a:ext uri="{FF2B5EF4-FFF2-40B4-BE49-F238E27FC236}">
                <a16:creationId xmlns:a16="http://schemas.microsoft.com/office/drawing/2014/main" id="{F709834B-010C-4D8B-5164-EDE51C927880}"/>
              </a:ext>
            </a:extLst>
          </p:cNvPr>
          <p:cNvPicPr preferRelativeResize="0"/>
          <p:nvPr/>
        </p:nvPicPr>
        <p:blipFill>
          <a:blip r:embed="rId6">
            <a:alphaModFix/>
          </a:blip>
          <a:stretch>
            <a:fillRect/>
          </a:stretch>
        </p:blipFill>
        <p:spPr>
          <a:xfrm>
            <a:off x="1581912" y="2050215"/>
            <a:ext cx="9290304" cy="4788327"/>
          </a:xfrm>
          <a:prstGeom prst="rect">
            <a:avLst/>
          </a:prstGeom>
          <a:noFill/>
          <a:ln>
            <a:noFill/>
          </a:ln>
        </p:spPr>
      </p:pic>
    </p:spTree>
    <p:extLst>
      <p:ext uri="{BB962C8B-B14F-4D97-AF65-F5344CB8AC3E}">
        <p14:creationId xmlns:p14="http://schemas.microsoft.com/office/powerpoint/2010/main" val="20735762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260;g25c0f4a8d55_0_83">
            <a:extLst>
              <a:ext uri="{FF2B5EF4-FFF2-40B4-BE49-F238E27FC236}">
                <a16:creationId xmlns:a16="http://schemas.microsoft.com/office/drawing/2014/main" id="{7BB92158-0AA0-F58E-CB7E-2F82E537CD49}"/>
              </a:ext>
            </a:extLst>
          </p:cNvPr>
          <p:cNvSpPr txBox="1">
            <a:spLocks/>
          </p:cNvSpPr>
          <p:nvPr/>
        </p:nvSpPr>
        <p:spPr>
          <a:xfrm>
            <a:off x="2099754" y="1451114"/>
            <a:ext cx="5828094"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GB" sz="3600" dirty="0"/>
              <a:t>Installation of Default Plugins </a:t>
            </a:r>
          </a:p>
        </p:txBody>
      </p:sp>
      <p:pic>
        <p:nvPicPr>
          <p:cNvPr id="10" name="Google Shape;1261;g25c0f4a8d55_0_83">
            <a:extLst>
              <a:ext uri="{FF2B5EF4-FFF2-40B4-BE49-F238E27FC236}">
                <a16:creationId xmlns:a16="http://schemas.microsoft.com/office/drawing/2014/main" id="{681A3B35-CA0D-8781-4483-BB1904E7671C}"/>
              </a:ext>
            </a:extLst>
          </p:cNvPr>
          <p:cNvPicPr preferRelativeResize="0"/>
          <p:nvPr/>
        </p:nvPicPr>
        <p:blipFill>
          <a:blip r:embed="rId6">
            <a:alphaModFix/>
          </a:blip>
          <a:stretch>
            <a:fillRect/>
          </a:stretch>
        </p:blipFill>
        <p:spPr>
          <a:xfrm>
            <a:off x="1282643" y="1957391"/>
            <a:ext cx="9148756" cy="4591786"/>
          </a:xfrm>
          <a:prstGeom prst="rect">
            <a:avLst/>
          </a:prstGeom>
          <a:noFill/>
          <a:ln>
            <a:noFill/>
          </a:ln>
        </p:spPr>
      </p:pic>
    </p:spTree>
    <p:extLst>
      <p:ext uri="{BB962C8B-B14F-4D97-AF65-F5344CB8AC3E}">
        <p14:creationId xmlns:p14="http://schemas.microsoft.com/office/powerpoint/2010/main" val="33688490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267;g25c0f4a8d55_0_89">
            <a:extLst>
              <a:ext uri="{FF2B5EF4-FFF2-40B4-BE49-F238E27FC236}">
                <a16:creationId xmlns:a16="http://schemas.microsoft.com/office/drawing/2014/main" id="{6E9435F7-90AB-FEC1-094D-50F936F12E7E}"/>
              </a:ext>
            </a:extLst>
          </p:cNvPr>
          <p:cNvSpPr txBox="1">
            <a:spLocks/>
          </p:cNvSpPr>
          <p:nvPr/>
        </p:nvSpPr>
        <p:spPr>
          <a:xfrm>
            <a:off x="2099758" y="1409362"/>
            <a:ext cx="5142290"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GB" sz="3600" dirty="0"/>
              <a:t>Install Suggested Plugins</a:t>
            </a:r>
          </a:p>
        </p:txBody>
      </p:sp>
      <p:pic>
        <p:nvPicPr>
          <p:cNvPr id="10" name="Google Shape;1268;g25c0f4a8d55_0_89">
            <a:extLst>
              <a:ext uri="{FF2B5EF4-FFF2-40B4-BE49-F238E27FC236}">
                <a16:creationId xmlns:a16="http://schemas.microsoft.com/office/drawing/2014/main" id="{9DB7A868-7487-520D-61E2-76D787A97D46}"/>
              </a:ext>
            </a:extLst>
          </p:cNvPr>
          <p:cNvPicPr preferRelativeResize="0"/>
          <p:nvPr/>
        </p:nvPicPr>
        <p:blipFill>
          <a:blip r:embed="rId6">
            <a:alphaModFix/>
          </a:blip>
          <a:stretch>
            <a:fillRect/>
          </a:stretch>
        </p:blipFill>
        <p:spPr>
          <a:xfrm>
            <a:off x="886968" y="2011588"/>
            <a:ext cx="9634041" cy="4834936"/>
          </a:xfrm>
          <a:prstGeom prst="rect">
            <a:avLst/>
          </a:prstGeom>
          <a:noFill/>
          <a:ln>
            <a:noFill/>
          </a:ln>
        </p:spPr>
      </p:pic>
    </p:spTree>
    <p:extLst>
      <p:ext uri="{BB962C8B-B14F-4D97-AF65-F5344CB8AC3E}">
        <p14:creationId xmlns:p14="http://schemas.microsoft.com/office/powerpoint/2010/main" val="8695272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274;g25c0f4a8d55_0_95">
            <a:extLst>
              <a:ext uri="{FF2B5EF4-FFF2-40B4-BE49-F238E27FC236}">
                <a16:creationId xmlns:a16="http://schemas.microsoft.com/office/drawing/2014/main" id="{C11176EA-3255-0833-8E55-6EC87372EE14}"/>
              </a:ext>
            </a:extLst>
          </p:cNvPr>
          <p:cNvSpPr txBox="1">
            <a:spLocks/>
          </p:cNvSpPr>
          <p:nvPr/>
        </p:nvSpPr>
        <p:spPr>
          <a:xfrm>
            <a:off x="2141956" y="1409362"/>
            <a:ext cx="4716044"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GB" sz="4000" dirty="0"/>
              <a:t>Continue as Admin</a:t>
            </a:r>
          </a:p>
        </p:txBody>
      </p:sp>
      <p:pic>
        <p:nvPicPr>
          <p:cNvPr id="10" name="Google Shape;1276;g25c0f4a8d55_0_95">
            <a:extLst>
              <a:ext uri="{FF2B5EF4-FFF2-40B4-BE49-F238E27FC236}">
                <a16:creationId xmlns:a16="http://schemas.microsoft.com/office/drawing/2014/main" id="{0CEE7113-BAE8-9235-0705-53C3B3F9450C}"/>
              </a:ext>
            </a:extLst>
          </p:cNvPr>
          <p:cNvPicPr preferRelativeResize="0"/>
          <p:nvPr/>
        </p:nvPicPr>
        <p:blipFill>
          <a:blip r:embed="rId6">
            <a:alphaModFix/>
          </a:blip>
          <a:stretch>
            <a:fillRect/>
          </a:stretch>
        </p:blipFill>
        <p:spPr>
          <a:xfrm>
            <a:off x="1142804" y="2188959"/>
            <a:ext cx="9956353" cy="4398307"/>
          </a:xfrm>
          <a:prstGeom prst="rect">
            <a:avLst/>
          </a:prstGeom>
          <a:noFill/>
          <a:ln>
            <a:noFill/>
          </a:ln>
        </p:spPr>
      </p:pic>
    </p:spTree>
    <p:extLst>
      <p:ext uri="{BB962C8B-B14F-4D97-AF65-F5344CB8AC3E}">
        <p14:creationId xmlns:p14="http://schemas.microsoft.com/office/powerpoint/2010/main" val="25590242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282;g25c0f4a8d55_0_102">
            <a:extLst>
              <a:ext uri="{FF2B5EF4-FFF2-40B4-BE49-F238E27FC236}">
                <a16:creationId xmlns:a16="http://schemas.microsoft.com/office/drawing/2014/main" id="{2CC9A083-ED95-1635-B4D1-9BCE988C746C}"/>
              </a:ext>
            </a:extLst>
          </p:cNvPr>
          <p:cNvSpPr txBox="1">
            <a:spLocks/>
          </p:cNvSpPr>
          <p:nvPr/>
        </p:nvSpPr>
        <p:spPr>
          <a:xfrm>
            <a:off x="2072326" y="1409362"/>
            <a:ext cx="5252017"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GB" sz="3600" dirty="0"/>
              <a:t>Save Jenkins Configuration</a:t>
            </a:r>
          </a:p>
        </p:txBody>
      </p:sp>
      <p:pic>
        <p:nvPicPr>
          <p:cNvPr id="10" name="Google Shape;1283;g25c0f4a8d55_0_102">
            <a:extLst>
              <a:ext uri="{FF2B5EF4-FFF2-40B4-BE49-F238E27FC236}">
                <a16:creationId xmlns:a16="http://schemas.microsoft.com/office/drawing/2014/main" id="{11688309-3C34-64BB-F1AF-D0BA6DC775DE}"/>
              </a:ext>
            </a:extLst>
          </p:cNvPr>
          <p:cNvPicPr preferRelativeResize="0"/>
          <p:nvPr/>
        </p:nvPicPr>
        <p:blipFill>
          <a:blip r:embed="rId6">
            <a:alphaModFix/>
          </a:blip>
          <a:stretch>
            <a:fillRect/>
          </a:stretch>
        </p:blipFill>
        <p:spPr>
          <a:xfrm>
            <a:off x="731901" y="2024216"/>
            <a:ext cx="10414583" cy="4686269"/>
          </a:xfrm>
          <a:prstGeom prst="rect">
            <a:avLst/>
          </a:prstGeom>
          <a:noFill/>
          <a:ln>
            <a:noFill/>
          </a:ln>
        </p:spPr>
      </p:pic>
    </p:spTree>
    <p:extLst>
      <p:ext uri="{BB962C8B-B14F-4D97-AF65-F5344CB8AC3E}">
        <p14:creationId xmlns:p14="http://schemas.microsoft.com/office/powerpoint/2010/main" val="5209682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289;g25c0f4a8d55_0_108">
            <a:extLst>
              <a:ext uri="{FF2B5EF4-FFF2-40B4-BE49-F238E27FC236}">
                <a16:creationId xmlns:a16="http://schemas.microsoft.com/office/drawing/2014/main" id="{6CB9BF61-3D99-3680-5694-71A534C8571E}"/>
              </a:ext>
            </a:extLst>
          </p:cNvPr>
          <p:cNvSpPr txBox="1">
            <a:spLocks/>
          </p:cNvSpPr>
          <p:nvPr/>
        </p:nvSpPr>
        <p:spPr>
          <a:xfrm>
            <a:off x="2243958" y="1345523"/>
            <a:ext cx="3735900"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GB" dirty="0"/>
              <a:t> Start Jenkins</a:t>
            </a:r>
          </a:p>
        </p:txBody>
      </p:sp>
      <p:pic>
        <p:nvPicPr>
          <p:cNvPr id="10" name="Google Shape;1290;g25c0f4a8d55_0_108">
            <a:extLst>
              <a:ext uri="{FF2B5EF4-FFF2-40B4-BE49-F238E27FC236}">
                <a16:creationId xmlns:a16="http://schemas.microsoft.com/office/drawing/2014/main" id="{73EC3619-76F7-412B-02E4-2F2293551BAA}"/>
              </a:ext>
            </a:extLst>
          </p:cNvPr>
          <p:cNvPicPr preferRelativeResize="0"/>
          <p:nvPr/>
        </p:nvPicPr>
        <p:blipFill>
          <a:blip r:embed="rId6">
            <a:alphaModFix/>
          </a:blip>
          <a:stretch>
            <a:fillRect/>
          </a:stretch>
        </p:blipFill>
        <p:spPr>
          <a:xfrm>
            <a:off x="1798320" y="2301766"/>
            <a:ext cx="8839200" cy="3889817"/>
          </a:xfrm>
          <a:prstGeom prst="rect">
            <a:avLst/>
          </a:prstGeom>
          <a:noFill/>
          <a:ln>
            <a:noFill/>
          </a:ln>
        </p:spPr>
      </p:pic>
    </p:spTree>
    <p:extLst>
      <p:ext uri="{BB962C8B-B14F-4D97-AF65-F5344CB8AC3E}">
        <p14:creationId xmlns:p14="http://schemas.microsoft.com/office/powerpoint/2010/main" val="24223145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296;g25c0f4a8d55_0_114">
            <a:extLst>
              <a:ext uri="{FF2B5EF4-FFF2-40B4-BE49-F238E27FC236}">
                <a16:creationId xmlns:a16="http://schemas.microsoft.com/office/drawing/2014/main" id="{33E760D5-0F2B-FAAF-D0CB-26842F21CFEE}"/>
              </a:ext>
            </a:extLst>
          </p:cNvPr>
          <p:cNvSpPr txBox="1">
            <a:spLocks/>
          </p:cNvSpPr>
          <p:nvPr/>
        </p:nvSpPr>
        <p:spPr>
          <a:xfrm>
            <a:off x="2163766" y="1430998"/>
            <a:ext cx="5041705"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GB"/>
              <a:t>Jenkins Dashboard</a:t>
            </a:r>
          </a:p>
        </p:txBody>
      </p:sp>
      <p:pic>
        <p:nvPicPr>
          <p:cNvPr id="10" name="Google Shape;1297;g25c0f4a8d55_0_114">
            <a:extLst>
              <a:ext uri="{FF2B5EF4-FFF2-40B4-BE49-F238E27FC236}">
                <a16:creationId xmlns:a16="http://schemas.microsoft.com/office/drawing/2014/main" id="{DD65AEFF-4267-A68B-570E-F9648D4D9719}"/>
              </a:ext>
            </a:extLst>
          </p:cNvPr>
          <p:cNvPicPr preferRelativeResize="0"/>
          <p:nvPr/>
        </p:nvPicPr>
        <p:blipFill>
          <a:blip r:embed="rId6">
            <a:alphaModFix/>
          </a:blip>
          <a:stretch>
            <a:fillRect/>
          </a:stretch>
        </p:blipFill>
        <p:spPr>
          <a:xfrm>
            <a:off x="1676400" y="2293058"/>
            <a:ext cx="8839200" cy="3949474"/>
          </a:xfrm>
          <a:prstGeom prst="rect">
            <a:avLst/>
          </a:prstGeom>
          <a:noFill/>
          <a:ln>
            <a:noFill/>
          </a:ln>
        </p:spPr>
      </p:pic>
    </p:spTree>
    <p:extLst>
      <p:ext uri="{BB962C8B-B14F-4D97-AF65-F5344CB8AC3E}">
        <p14:creationId xmlns:p14="http://schemas.microsoft.com/office/powerpoint/2010/main" val="11643419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303;g25c0f4a8d55_0_120">
            <a:extLst>
              <a:ext uri="{FF2B5EF4-FFF2-40B4-BE49-F238E27FC236}">
                <a16:creationId xmlns:a16="http://schemas.microsoft.com/office/drawing/2014/main" id="{F1CDC00B-537F-9F96-85A3-835A3CE9768D}"/>
              </a:ext>
            </a:extLst>
          </p:cNvPr>
          <p:cNvSpPr txBox="1">
            <a:spLocks/>
          </p:cNvSpPr>
          <p:nvPr/>
        </p:nvSpPr>
        <p:spPr>
          <a:xfrm>
            <a:off x="2103673" y="1409362"/>
            <a:ext cx="7299026"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GB" sz="4000" dirty="0"/>
              <a:t>Dashboard – Various Options</a:t>
            </a:r>
          </a:p>
        </p:txBody>
      </p:sp>
      <p:pic>
        <p:nvPicPr>
          <p:cNvPr id="10" name="Google Shape;1304;g25c0f4a8d55_0_120">
            <a:extLst>
              <a:ext uri="{FF2B5EF4-FFF2-40B4-BE49-F238E27FC236}">
                <a16:creationId xmlns:a16="http://schemas.microsoft.com/office/drawing/2014/main" id="{44980E8E-89DE-C7AC-8B70-FC5BA4DD294E}"/>
              </a:ext>
            </a:extLst>
          </p:cNvPr>
          <p:cNvPicPr preferRelativeResize="0"/>
          <p:nvPr/>
        </p:nvPicPr>
        <p:blipFill rotWithShape="1">
          <a:blip r:embed="rId6">
            <a:alphaModFix/>
          </a:blip>
          <a:srcRect/>
          <a:stretch/>
        </p:blipFill>
        <p:spPr>
          <a:xfrm>
            <a:off x="1605983" y="2259832"/>
            <a:ext cx="2974091" cy="3769304"/>
          </a:xfrm>
          <a:prstGeom prst="rect">
            <a:avLst/>
          </a:prstGeom>
          <a:noFill/>
          <a:ln w="9525" cap="flat" cmpd="sng">
            <a:solidFill>
              <a:srgbClr val="D9D9D9"/>
            </a:solidFill>
            <a:prstDash val="solid"/>
            <a:round/>
            <a:headEnd type="none" w="sm" len="sm"/>
            <a:tailEnd type="none" w="sm" len="sm"/>
          </a:ln>
        </p:spPr>
      </p:pic>
    </p:spTree>
    <p:extLst>
      <p:ext uri="{BB962C8B-B14F-4D97-AF65-F5344CB8AC3E}">
        <p14:creationId xmlns:p14="http://schemas.microsoft.com/office/powerpoint/2010/main" val="6473980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310;g25c0f4a8d55_0_126">
            <a:extLst>
              <a:ext uri="{FF2B5EF4-FFF2-40B4-BE49-F238E27FC236}">
                <a16:creationId xmlns:a16="http://schemas.microsoft.com/office/drawing/2014/main" id="{BDFC597C-E598-D7CB-821A-4E38619CA721}"/>
              </a:ext>
            </a:extLst>
          </p:cNvPr>
          <p:cNvSpPr txBox="1">
            <a:spLocks/>
          </p:cNvSpPr>
          <p:nvPr/>
        </p:nvSpPr>
        <p:spPr>
          <a:xfrm>
            <a:off x="2243958" y="1409362"/>
            <a:ext cx="3735900"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GB" sz="4000" dirty="0"/>
              <a:t>Select New Item</a:t>
            </a:r>
          </a:p>
        </p:txBody>
      </p:sp>
      <p:pic>
        <p:nvPicPr>
          <p:cNvPr id="10" name="Google Shape;1311;g25c0f4a8d55_0_126">
            <a:extLst>
              <a:ext uri="{FF2B5EF4-FFF2-40B4-BE49-F238E27FC236}">
                <a16:creationId xmlns:a16="http://schemas.microsoft.com/office/drawing/2014/main" id="{9474980C-772B-539C-76BE-3680CA387346}"/>
              </a:ext>
            </a:extLst>
          </p:cNvPr>
          <p:cNvPicPr preferRelativeResize="0"/>
          <p:nvPr/>
        </p:nvPicPr>
        <p:blipFill rotWithShape="1">
          <a:blip r:embed="rId6">
            <a:alphaModFix/>
          </a:blip>
          <a:srcRect/>
          <a:stretch/>
        </p:blipFill>
        <p:spPr>
          <a:xfrm>
            <a:off x="2243958" y="2118438"/>
            <a:ext cx="7648574" cy="4007917"/>
          </a:xfrm>
          <a:prstGeom prst="rect">
            <a:avLst/>
          </a:prstGeom>
          <a:noFill/>
          <a:ln>
            <a:noFill/>
          </a:ln>
        </p:spPr>
      </p:pic>
    </p:spTree>
    <p:extLst>
      <p:ext uri="{BB962C8B-B14F-4D97-AF65-F5344CB8AC3E}">
        <p14:creationId xmlns:p14="http://schemas.microsoft.com/office/powerpoint/2010/main" val="15071036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315"/>
        <p:cNvGrpSpPr/>
        <p:nvPr/>
      </p:nvGrpSpPr>
      <p:grpSpPr>
        <a:xfrm>
          <a:off x="0" y="0"/>
          <a:ext cx="0" cy="0"/>
          <a:chOff x="0" y="0"/>
          <a:chExt cx="0" cy="0"/>
        </a:xfrm>
      </p:grpSpPr>
      <p:sp>
        <p:nvSpPr>
          <p:cNvPr id="1316" name="Google Shape;1316;g25c0f4a8d55_0_174"/>
          <p:cNvSpPr txBox="1">
            <a:spLocks noGrp="1"/>
          </p:cNvSpPr>
          <p:nvPr>
            <p:ph type="dt" idx="10"/>
          </p:nvPr>
        </p:nvSpPr>
        <p:spPr>
          <a:xfrm>
            <a:off x="850900" y="6356351"/>
            <a:ext cx="2743200" cy="365200"/>
          </a:xfrm>
          <a:prstGeom prst="rect">
            <a:avLst/>
          </a:prstGeom>
          <a:noFill/>
          <a:ln>
            <a:noFill/>
          </a:ln>
        </p:spPr>
        <p:txBody>
          <a:bodyPr spcFirstLastPara="1" vert="horz" wrap="square" lIns="121900" tIns="60933" rIns="121900" bIns="60933" rtlCol="0" anchor="ctr" anchorCtr="0">
            <a:noAutofit/>
          </a:bodyPr>
          <a:lstStyle/>
          <a:p>
            <a:r>
              <a:rPr lang="en-GB">
                <a:solidFill>
                  <a:srgbClr val="898989"/>
                </a:solidFill>
                <a:latin typeface="Proxima Nova"/>
                <a:ea typeface="Proxima Nova"/>
                <a:cs typeface="Proxima Nova"/>
                <a:sym typeface="Proxima Nova"/>
              </a:rPr>
              <a:t>23/05/19</a:t>
            </a:r>
            <a:endParaRPr>
              <a:solidFill>
                <a:srgbClr val="898989"/>
              </a:solidFill>
              <a:latin typeface="Proxima Nova"/>
              <a:ea typeface="Proxima Nova"/>
              <a:cs typeface="Proxima Nova"/>
              <a:sym typeface="Proxima Nova"/>
            </a:endParaRPr>
          </a:p>
        </p:txBody>
      </p:sp>
      <p:sp>
        <p:nvSpPr>
          <p:cNvPr id="1317" name="Google Shape;1317;g25c0f4a8d55_0_174"/>
          <p:cNvSpPr txBox="1">
            <a:spLocks noGrp="1"/>
          </p:cNvSpPr>
          <p:nvPr>
            <p:ph type="sldNum" idx="12"/>
          </p:nvPr>
        </p:nvSpPr>
        <p:spPr>
          <a:xfrm>
            <a:off x="4074665" y="6367045"/>
            <a:ext cx="4100400" cy="3652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GB"/>
              <a:pPr/>
              <a:t>43</a:t>
            </a:fld>
            <a:endParaRPr/>
          </a:p>
        </p:txBody>
      </p:sp>
      <p:sp>
        <p:nvSpPr>
          <p:cNvPr id="1318" name="Google Shape;1318;g25c0f4a8d55_0_174"/>
          <p:cNvSpPr txBox="1">
            <a:spLocks noGrp="1"/>
          </p:cNvSpPr>
          <p:nvPr>
            <p:ph type="body" idx="1"/>
          </p:nvPr>
        </p:nvSpPr>
        <p:spPr>
          <a:xfrm>
            <a:off x="4285131" y="4669112"/>
            <a:ext cx="7140000" cy="1116000"/>
          </a:xfrm>
          <a:prstGeom prst="rect">
            <a:avLst/>
          </a:prstGeom>
          <a:noFill/>
          <a:ln>
            <a:noFill/>
          </a:ln>
        </p:spPr>
        <p:txBody>
          <a:bodyPr spcFirstLastPara="1" vert="horz" wrap="square" lIns="121900" tIns="60933" rIns="121900" bIns="60933" rtlCol="0" anchor="t" anchorCtr="0">
            <a:noAutofit/>
          </a:bodyPr>
          <a:lstStyle/>
          <a:p>
            <a:pPr marL="285742" indent="-285742">
              <a:spcBef>
                <a:spcPts val="0"/>
              </a:spcBef>
            </a:pPr>
            <a:r>
              <a:rPr lang="en-GB"/>
              <a:t>Practice in teams of 4 students</a:t>
            </a:r>
            <a:endParaRPr/>
          </a:p>
          <a:p>
            <a:pPr marL="285742" indent="-285742"/>
            <a:r>
              <a:rPr lang="en-GB"/>
              <a:t>Industry expert mentoring to learn better</a:t>
            </a:r>
            <a:endParaRPr/>
          </a:p>
          <a:p>
            <a:pPr marL="285742" indent="-285742"/>
            <a:r>
              <a:rPr lang="en-GB"/>
              <a:t>Get personalised feedback for improvements</a:t>
            </a:r>
            <a:endParaRPr/>
          </a:p>
        </p:txBody>
      </p:sp>
      <p:sp>
        <p:nvSpPr>
          <p:cNvPr id="1319" name="Google Shape;1319;g25c0f4a8d55_0_174"/>
          <p:cNvSpPr txBox="1">
            <a:spLocks noGrp="1"/>
          </p:cNvSpPr>
          <p:nvPr>
            <p:ph type="sldNum" idx="4294967295"/>
          </p:nvPr>
        </p:nvSpPr>
        <p:spPr>
          <a:xfrm>
            <a:off x="9448800" y="6356351"/>
            <a:ext cx="2743200" cy="366000"/>
          </a:xfrm>
          <a:prstGeom prst="rect">
            <a:avLst/>
          </a:prstGeom>
          <a:noFill/>
          <a:ln>
            <a:noFill/>
          </a:ln>
        </p:spPr>
        <p:txBody>
          <a:bodyPr spcFirstLastPara="1" vert="horz" wrap="square" lIns="121900" tIns="60933" rIns="121900" bIns="60933" rtlCol="0" anchor="ctr" anchorCtr="0">
            <a:noAutofit/>
          </a:bodyPr>
          <a:lstStyle/>
          <a:p>
            <a:pPr>
              <a:buSzPts val="900"/>
            </a:pPr>
            <a:fld id="{00000000-1234-1234-1234-123412341234}" type="slidenum">
              <a:rPr lang="en-GB">
                <a:solidFill>
                  <a:srgbClr val="898989"/>
                </a:solidFill>
                <a:latin typeface="Proxima Nova"/>
                <a:ea typeface="Proxima Nova"/>
                <a:cs typeface="Proxima Nova"/>
                <a:sym typeface="Proxima Nova"/>
              </a:rPr>
              <a:pPr>
                <a:buSzPts val="900"/>
              </a:pPr>
              <a:t>43</a:t>
            </a:fld>
            <a:endParaRPr>
              <a:solidFill>
                <a:srgbClr val="898989"/>
              </a:solidFill>
              <a:latin typeface="Proxima Nova"/>
              <a:ea typeface="Proxima Nova"/>
              <a:cs typeface="Proxima Nova"/>
              <a:sym typeface="Proxima Nova"/>
            </a:endParaRPr>
          </a:p>
        </p:txBody>
      </p:sp>
      <p:sp>
        <p:nvSpPr>
          <p:cNvPr id="1320" name="Google Shape;1320;g25c0f4a8d55_0_174"/>
          <p:cNvSpPr/>
          <p:nvPr/>
        </p:nvSpPr>
        <p:spPr>
          <a:xfrm>
            <a:off x="0" y="0"/>
            <a:ext cx="12192000" cy="6858000"/>
          </a:xfrm>
          <a:prstGeom prst="rect">
            <a:avLst/>
          </a:prstGeom>
          <a:solidFill>
            <a:schemeClr val="lt1"/>
          </a:solidFill>
          <a:ln>
            <a:noFill/>
          </a:ln>
        </p:spPr>
        <p:txBody>
          <a:bodyPr spcFirstLastPara="1" wrap="square" lIns="121900" tIns="60933" rIns="121900" bIns="60933" anchor="ctr" anchorCtr="0">
            <a:noAutofit/>
          </a:bodyPr>
          <a:lstStyle/>
          <a:p>
            <a:pPr algn="ctr">
              <a:buClr>
                <a:srgbClr val="000000"/>
              </a:buClr>
              <a:buSzPts val="1800"/>
            </a:pPr>
            <a:endParaRPr sz="2400">
              <a:solidFill>
                <a:schemeClr val="lt1"/>
              </a:solidFill>
              <a:latin typeface="Calibri"/>
              <a:ea typeface="Calibri"/>
              <a:cs typeface="Calibri"/>
              <a:sym typeface="Calibri"/>
            </a:endParaRPr>
          </a:p>
        </p:txBody>
      </p:sp>
      <p:sp>
        <p:nvSpPr>
          <p:cNvPr id="1321" name="Google Shape;1321;g25c0f4a8d55_0_174"/>
          <p:cNvSpPr/>
          <p:nvPr/>
        </p:nvSpPr>
        <p:spPr>
          <a:xfrm>
            <a:off x="0" y="0"/>
            <a:ext cx="12192000" cy="6858000"/>
          </a:xfrm>
          <a:prstGeom prst="rect">
            <a:avLst/>
          </a:prstGeom>
          <a:blipFill rotWithShape="1">
            <a:blip r:embed="rId3">
              <a:alphaModFix amt="21000"/>
            </a:blip>
            <a:stretch>
              <a:fillRect/>
            </a:stretch>
          </a:blipFill>
          <a:ln>
            <a:noFill/>
          </a:ln>
        </p:spPr>
        <p:txBody>
          <a:bodyPr spcFirstLastPara="1" wrap="square" lIns="121900" tIns="60933" rIns="121900" bIns="60933" anchor="ctr" anchorCtr="0">
            <a:noAutofit/>
          </a:bodyPr>
          <a:lstStyle/>
          <a:p>
            <a:pPr algn="ctr">
              <a:buClr>
                <a:srgbClr val="000000"/>
              </a:buClr>
              <a:buSzPts val="1800"/>
            </a:pPr>
            <a:endParaRPr sz="2400">
              <a:solidFill>
                <a:schemeClr val="lt1"/>
              </a:solidFill>
              <a:latin typeface="Calibri"/>
              <a:ea typeface="Calibri"/>
              <a:cs typeface="Calibri"/>
              <a:sym typeface="Calibri"/>
            </a:endParaRPr>
          </a:p>
        </p:txBody>
      </p:sp>
      <p:sp>
        <p:nvSpPr>
          <p:cNvPr id="1322" name="Google Shape;1322;g25c0f4a8d55_0_174"/>
          <p:cNvSpPr/>
          <p:nvPr/>
        </p:nvSpPr>
        <p:spPr>
          <a:xfrm>
            <a:off x="-1" y="0"/>
            <a:ext cx="12192000" cy="6858000"/>
          </a:xfrm>
          <a:prstGeom prst="rect">
            <a:avLst/>
          </a:prstGeom>
          <a:blipFill rotWithShape="1">
            <a:blip r:embed="rId4">
              <a:alphaModFix amt="17000"/>
            </a:blip>
            <a:stretch>
              <a:fillRect/>
            </a:stretch>
          </a:blipFill>
          <a:ln>
            <a:noFill/>
          </a:ln>
        </p:spPr>
        <p:txBody>
          <a:bodyPr spcFirstLastPara="1" wrap="square" lIns="121900" tIns="60933" rIns="121900" bIns="60933" anchor="ctr" anchorCtr="0">
            <a:noAutofit/>
          </a:bodyPr>
          <a:lstStyle/>
          <a:p>
            <a:pPr algn="ctr">
              <a:buClr>
                <a:srgbClr val="000000"/>
              </a:buClr>
              <a:buSzPts val="1013"/>
            </a:pPr>
            <a:endParaRPr sz="1351">
              <a:solidFill>
                <a:schemeClr val="lt1"/>
              </a:solidFill>
              <a:latin typeface="Calibri"/>
              <a:ea typeface="Calibri"/>
              <a:cs typeface="Calibri"/>
              <a:sym typeface="Calibri"/>
            </a:endParaRPr>
          </a:p>
        </p:txBody>
      </p:sp>
      <p:sp>
        <p:nvSpPr>
          <p:cNvPr id="1324" name="Google Shape;1324;g25c0f4a8d55_0_174"/>
          <p:cNvSpPr txBox="1"/>
          <p:nvPr/>
        </p:nvSpPr>
        <p:spPr>
          <a:xfrm>
            <a:off x="2078299" y="672045"/>
            <a:ext cx="7324400" cy="1826800"/>
          </a:xfrm>
          <a:prstGeom prst="rect">
            <a:avLst/>
          </a:prstGeom>
          <a:noFill/>
          <a:ln>
            <a:noFill/>
          </a:ln>
        </p:spPr>
        <p:txBody>
          <a:bodyPr spcFirstLastPara="1" wrap="square" lIns="91433" tIns="45700" rIns="91433" bIns="45700" anchor="ctr" anchorCtr="0">
            <a:noAutofit/>
          </a:bodyPr>
          <a:lstStyle/>
          <a:p>
            <a:pPr>
              <a:lnSpc>
                <a:spcPct val="90000"/>
              </a:lnSpc>
              <a:buClr>
                <a:srgbClr val="F5333F"/>
              </a:buClr>
              <a:buSzPts val="3600"/>
            </a:pPr>
            <a:r>
              <a:rPr lang="en-GB" sz="4800">
                <a:solidFill>
                  <a:srgbClr val="F5333F"/>
                </a:solidFill>
                <a:latin typeface="Proxima Nova"/>
                <a:ea typeface="Proxima Nova"/>
                <a:cs typeface="Proxima Nova"/>
                <a:sym typeface="Proxima Nova"/>
              </a:rPr>
              <a:t>Poll 1 (15 seconds)</a:t>
            </a:r>
            <a:endParaRPr sz="4800">
              <a:solidFill>
                <a:srgbClr val="F5333F"/>
              </a:solidFill>
              <a:latin typeface="Proxima Nova"/>
              <a:ea typeface="Proxima Nova"/>
              <a:cs typeface="Proxima Nova"/>
              <a:sym typeface="Proxima Nova"/>
            </a:endParaRPr>
          </a:p>
        </p:txBody>
      </p:sp>
      <p:sp>
        <p:nvSpPr>
          <p:cNvPr id="1326" name="Google Shape;1326;g25c0f4a8d55_0_174"/>
          <p:cNvSpPr txBox="1"/>
          <p:nvPr/>
        </p:nvSpPr>
        <p:spPr>
          <a:xfrm>
            <a:off x="945310" y="2406641"/>
            <a:ext cx="10268800" cy="4197600"/>
          </a:xfrm>
          <a:prstGeom prst="rect">
            <a:avLst/>
          </a:prstGeom>
          <a:noFill/>
          <a:ln>
            <a:noFill/>
          </a:ln>
        </p:spPr>
        <p:txBody>
          <a:bodyPr spcFirstLastPara="1" wrap="square" lIns="121900" tIns="60933" rIns="121900" bIns="60933" anchor="t" anchorCtr="0">
            <a:noAutofit/>
          </a:bodyPr>
          <a:lstStyle/>
          <a:p>
            <a:pPr>
              <a:lnSpc>
                <a:spcPct val="115000"/>
              </a:lnSpc>
            </a:pPr>
            <a:r>
              <a:rPr lang="en-GB" sz="2400" dirty="0">
                <a:solidFill>
                  <a:srgbClr val="3C3B37"/>
                </a:solidFill>
                <a:latin typeface="Proxima Nova"/>
                <a:ea typeface="Proxima Nova"/>
                <a:cs typeface="Proxima Nova"/>
                <a:sym typeface="Proxima Nova"/>
              </a:rPr>
              <a:t>Jenkins default admin password can be found at:</a:t>
            </a:r>
            <a:endParaRPr sz="2400" dirty="0">
              <a:latin typeface="Proxima Nova"/>
              <a:ea typeface="Proxima Nova"/>
              <a:cs typeface="Proxima Nova"/>
              <a:sym typeface="Proxima Nova"/>
            </a:endParaRPr>
          </a:p>
          <a:p>
            <a:pPr marL="609585" indent="-457189">
              <a:lnSpc>
                <a:spcPct val="115000"/>
              </a:lnSpc>
              <a:spcBef>
                <a:spcPts val="1333"/>
              </a:spcBef>
              <a:buSzPts val="1800"/>
              <a:buFont typeface="Proxima Nova"/>
              <a:buAutoNum type="alphaUcPeriod"/>
            </a:pPr>
            <a:r>
              <a:rPr lang="en-GB" sz="2400" dirty="0">
                <a:latin typeface="Proxima Nova"/>
                <a:ea typeface="Proxima Nova"/>
                <a:cs typeface="Proxima Nova"/>
                <a:sym typeface="Proxima Nova"/>
              </a:rPr>
              <a:t>/var/lib/</a:t>
            </a:r>
            <a:r>
              <a:rPr lang="en-GB" sz="2400" dirty="0" err="1">
                <a:latin typeface="Proxima Nova"/>
                <a:ea typeface="Proxima Nova"/>
                <a:cs typeface="Proxima Nova"/>
                <a:sym typeface="Proxima Nova"/>
              </a:rPr>
              <a:t>jenkins</a:t>
            </a:r>
            <a:r>
              <a:rPr lang="en-GB" sz="2400" dirty="0">
                <a:latin typeface="Proxima Nova"/>
                <a:ea typeface="Proxima Nova"/>
                <a:cs typeface="Proxima Nova"/>
                <a:sym typeface="Proxima Nova"/>
              </a:rPr>
              <a:t>/secrets/</a:t>
            </a:r>
            <a:r>
              <a:rPr lang="en-GB" sz="2400" dirty="0" err="1">
                <a:latin typeface="Proxima Nova"/>
                <a:ea typeface="Proxima Nova"/>
                <a:cs typeface="Proxima Nova"/>
                <a:sym typeface="Proxima Nova"/>
              </a:rPr>
              <a:t>InitialAdminPassword</a:t>
            </a:r>
            <a:endParaRPr sz="2400" dirty="0">
              <a:latin typeface="Proxima Nova"/>
              <a:ea typeface="Proxima Nova"/>
              <a:cs typeface="Proxima Nova"/>
              <a:sym typeface="Proxima Nova"/>
            </a:endParaRPr>
          </a:p>
          <a:p>
            <a:pPr marL="609585" indent="-457189">
              <a:lnSpc>
                <a:spcPct val="115000"/>
              </a:lnSpc>
              <a:spcBef>
                <a:spcPts val="1333"/>
              </a:spcBef>
              <a:buClr>
                <a:schemeClr val="dk1"/>
              </a:buClr>
              <a:buSzPts val="1800"/>
              <a:buFont typeface="Proxima Nova"/>
              <a:buAutoNum type="alphaUcPeriod"/>
            </a:pPr>
            <a:r>
              <a:rPr lang="en-GB" sz="2400" dirty="0">
                <a:solidFill>
                  <a:schemeClr val="dk1"/>
                </a:solidFill>
                <a:latin typeface="Proxima Nova"/>
                <a:ea typeface="Proxima Nova"/>
                <a:cs typeface="Proxima Nova"/>
                <a:sym typeface="Proxima Nova"/>
              </a:rPr>
              <a:t>/etc/passwd | grep admin</a:t>
            </a:r>
            <a:endParaRPr sz="2400" dirty="0">
              <a:solidFill>
                <a:schemeClr val="dk1"/>
              </a:solidFill>
              <a:latin typeface="Proxima Nova"/>
              <a:ea typeface="Proxima Nova"/>
              <a:cs typeface="Proxima Nova"/>
              <a:sym typeface="Proxima Nova"/>
            </a:endParaRPr>
          </a:p>
          <a:p>
            <a:pPr marL="609585" indent="-457189">
              <a:lnSpc>
                <a:spcPct val="115000"/>
              </a:lnSpc>
              <a:spcBef>
                <a:spcPts val="1333"/>
              </a:spcBef>
              <a:buClr>
                <a:schemeClr val="dk1"/>
              </a:buClr>
              <a:buSzPts val="1800"/>
              <a:buFont typeface="Proxima Nova"/>
              <a:buAutoNum type="alphaUcPeriod"/>
            </a:pPr>
            <a:r>
              <a:rPr lang="en-GB" sz="2400" dirty="0">
                <a:solidFill>
                  <a:schemeClr val="dk1"/>
                </a:solidFill>
                <a:latin typeface="Proxima Nova"/>
                <a:ea typeface="Proxima Nova"/>
                <a:cs typeface="Proxima Nova"/>
                <a:sym typeface="Proxima Nova"/>
              </a:rPr>
              <a:t>/var/lib/Jenkins/secrets/</a:t>
            </a:r>
            <a:r>
              <a:rPr lang="en-GB" sz="2400" dirty="0" err="1">
                <a:solidFill>
                  <a:schemeClr val="dk1"/>
                </a:solidFill>
                <a:latin typeface="Proxima Nova"/>
                <a:ea typeface="Proxima Nova"/>
                <a:cs typeface="Proxima Nova"/>
                <a:sym typeface="Proxima Nova"/>
              </a:rPr>
              <a:t>InitialAdminPassword</a:t>
            </a:r>
            <a:endParaRPr sz="2400" dirty="0">
              <a:solidFill>
                <a:schemeClr val="dk1"/>
              </a:solidFill>
              <a:latin typeface="Proxima Nova"/>
              <a:ea typeface="Proxima Nova"/>
              <a:cs typeface="Proxima Nova"/>
              <a:sym typeface="Proxima Nova"/>
            </a:endParaRPr>
          </a:p>
          <a:p>
            <a:pPr marL="609585" indent="-457189">
              <a:lnSpc>
                <a:spcPct val="115000"/>
              </a:lnSpc>
              <a:spcBef>
                <a:spcPts val="1333"/>
              </a:spcBef>
              <a:buClr>
                <a:schemeClr val="dk1"/>
              </a:buClr>
              <a:buSzPts val="1800"/>
              <a:buFont typeface="Proxima Nova"/>
              <a:buAutoNum type="alphaUcPeriod"/>
            </a:pPr>
            <a:r>
              <a:rPr lang="en-GB" sz="2400" dirty="0">
                <a:solidFill>
                  <a:schemeClr val="dk1"/>
                </a:solidFill>
                <a:latin typeface="Proxima Nova"/>
                <a:ea typeface="Proxima Nova"/>
                <a:cs typeface="Proxima Nova"/>
                <a:sym typeface="Proxima Nova"/>
              </a:rPr>
              <a:t>/var/lib/Jenkins/secrets/passwd</a:t>
            </a:r>
            <a:endParaRPr sz="2400" dirty="0">
              <a:solidFill>
                <a:schemeClr val="dk1"/>
              </a:solidFill>
              <a:latin typeface="Proxima Nova"/>
              <a:ea typeface="Proxima Nova"/>
              <a:cs typeface="Proxima Nova"/>
              <a:sym typeface="Proxima Nova"/>
            </a:endParaRPr>
          </a:p>
          <a:p>
            <a:pPr marL="609585">
              <a:lnSpc>
                <a:spcPct val="115000"/>
              </a:lnSpc>
              <a:spcBef>
                <a:spcPts val="1333"/>
              </a:spcBef>
            </a:pPr>
            <a:endParaRPr sz="2400" dirty="0">
              <a:solidFill>
                <a:srgbClr val="3C3B37"/>
              </a:solidFill>
              <a:latin typeface="Proxima Nova"/>
              <a:ea typeface="Proxima Nova"/>
              <a:cs typeface="Proxima Nova"/>
              <a:sym typeface="Proxima Nova"/>
            </a:endParaRPr>
          </a:p>
        </p:txBody>
      </p:sp>
      <p:sp>
        <p:nvSpPr>
          <p:cNvPr id="9" name="Google Shape;864;p59">
            <a:extLst>
              <a:ext uri="{FF2B5EF4-FFF2-40B4-BE49-F238E27FC236}">
                <a16:creationId xmlns:a16="http://schemas.microsoft.com/office/drawing/2014/main" id="{AE1719BF-6D6A-1B56-6FE8-254857440AE4}"/>
              </a:ext>
            </a:extLst>
          </p:cNvPr>
          <p:cNvSpPr txBox="1">
            <a:spLocks/>
          </p:cNvSpPr>
          <p:nvPr/>
        </p:nvSpPr>
        <p:spPr>
          <a:xfrm>
            <a:off x="9402699" y="6358709"/>
            <a:ext cx="2057400" cy="364561"/>
          </a:xfrm>
          <a:prstGeom prst="rect">
            <a:avLst/>
          </a:prstGeom>
          <a:noFill/>
          <a:ln>
            <a:noFill/>
          </a:ln>
        </p:spPr>
        <p:txBody>
          <a:bodyPr spcFirstLastPara="1" vert="horz" wrap="square" lIns="91425" tIns="45700" rIns="91425" bIns="45700" rtlCol="0" anchor="ctr" anchorCtr="0">
            <a:noAutofit/>
          </a:bodyPr>
          <a:lstStyle>
            <a:defPPr>
              <a:defRPr lang="en-US"/>
            </a:defPPr>
            <a:lvl1pPr marL="0" marR="0" lvl="0"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1pPr>
            <a:lvl2pPr marL="0" marR="0" lvl="1"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2pPr>
            <a:lvl3pPr marL="0" marR="0" lvl="2"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3pPr>
            <a:lvl4pPr marL="0" marR="0" lvl="3"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4pPr>
            <a:lvl5pPr marL="0" marR="0" lvl="4"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5pPr>
            <a:lvl6pPr marL="0" marR="0" lvl="5"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6pPr>
            <a:lvl7pPr marL="0" marR="0" lvl="6"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7pPr>
            <a:lvl8pPr marL="0" marR="0" lvl="7"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8pPr>
            <a:lvl9pPr marL="0" marR="0" lvl="8"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9pPr>
          </a:lstStyle>
          <a:p>
            <a:fld id="{00000000-1234-1234-1234-123412341234}" type="slidenum">
              <a:rPr lang="en-IN" sz="900" smtClean="0"/>
              <a:pPr/>
              <a:t>43</a:t>
            </a:fld>
            <a:endParaRPr lang="en-IN" sz="900"/>
          </a:p>
        </p:txBody>
      </p:sp>
      <p:pic>
        <p:nvPicPr>
          <p:cNvPr id="10" name="Google Shape;618;p34">
            <a:extLst>
              <a:ext uri="{FF2B5EF4-FFF2-40B4-BE49-F238E27FC236}">
                <a16:creationId xmlns:a16="http://schemas.microsoft.com/office/drawing/2014/main" id="{98C032AF-F069-08C6-A104-0E8270ACCDD5}"/>
              </a:ext>
            </a:extLst>
          </p:cNvPr>
          <p:cNvPicPr preferRelativeResize="0"/>
          <p:nvPr/>
        </p:nvPicPr>
        <p:blipFill>
          <a:blip r:embed="rId5">
            <a:alphaModFix/>
          </a:blip>
          <a:stretch>
            <a:fillRect/>
          </a:stretch>
        </p:blipFill>
        <p:spPr>
          <a:xfrm>
            <a:off x="10431399" y="365787"/>
            <a:ext cx="923272" cy="837723"/>
          </a:xfrm>
          <a:prstGeom prst="rect">
            <a:avLst/>
          </a:prstGeom>
          <a:noFill/>
          <a:ln>
            <a:noFill/>
          </a:ln>
        </p:spPr>
      </p:pic>
      <p:pic>
        <p:nvPicPr>
          <p:cNvPr id="11" name="Picture 10">
            <a:extLst>
              <a:ext uri="{FF2B5EF4-FFF2-40B4-BE49-F238E27FC236}">
                <a16:creationId xmlns:a16="http://schemas.microsoft.com/office/drawing/2014/main" id="{6AD1E07B-752A-025D-8591-1466629D96AC}"/>
              </a:ext>
            </a:extLst>
          </p:cNvPr>
          <p:cNvPicPr>
            <a:picLocks noChangeAspect="1"/>
          </p:cNvPicPr>
          <p:nvPr/>
        </p:nvPicPr>
        <p:blipFill>
          <a:blip r:embed="rId6"/>
          <a:stretch>
            <a:fillRect/>
          </a:stretch>
        </p:blipFill>
        <p:spPr>
          <a:xfrm>
            <a:off x="8899278" y="715834"/>
            <a:ext cx="1212079" cy="320550"/>
          </a:xfrm>
          <a:prstGeom prst="rect">
            <a:avLst/>
          </a:prstGeom>
        </p:spPr>
      </p:pic>
      <p:pic>
        <p:nvPicPr>
          <p:cNvPr id="12" name="Picture 11">
            <a:extLst>
              <a:ext uri="{FF2B5EF4-FFF2-40B4-BE49-F238E27FC236}">
                <a16:creationId xmlns:a16="http://schemas.microsoft.com/office/drawing/2014/main" id="{40448513-DAE2-11FE-221E-E369A127E433}"/>
              </a:ext>
            </a:extLst>
          </p:cNvPr>
          <p:cNvPicPr>
            <a:picLocks noChangeAspect="1"/>
          </p:cNvPicPr>
          <p:nvPr/>
        </p:nvPicPr>
        <p:blipFill>
          <a:blip r:embed="rId7"/>
          <a:stretch>
            <a:fillRect/>
          </a:stretch>
        </p:blipFill>
        <p:spPr>
          <a:xfrm>
            <a:off x="5075" y="11476"/>
            <a:ext cx="2238883" cy="1780386"/>
          </a:xfrm>
          <a:prstGeom prst="rect">
            <a:avLst/>
          </a:prstGeom>
        </p:spPr>
      </p:pic>
      <p:pic>
        <p:nvPicPr>
          <p:cNvPr id="13" name="Picture 12">
            <a:extLst>
              <a:ext uri="{FF2B5EF4-FFF2-40B4-BE49-F238E27FC236}">
                <a16:creationId xmlns:a16="http://schemas.microsoft.com/office/drawing/2014/main" id="{56DDCB5B-A85C-9BB7-D0A5-4EC97755C1A5}"/>
              </a:ext>
            </a:extLst>
          </p:cNvPr>
          <p:cNvPicPr>
            <a:picLocks noChangeAspect="1"/>
          </p:cNvPicPr>
          <p:nvPr/>
        </p:nvPicPr>
        <p:blipFill>
          <a:blip r:embed="rId8"/>
          <a:stretch>
            <a:fillRect/>
          </a:stretch>
        </p:blipFill>
        <p:spPr>
          <a:xfrm>
            <a:off x="11272968" y="-14988"/>
            <a:ext cx="963240" cy="1218498"/>
          </a:xfrm>
          <a:prstGeom prst="rect">
            <a:avLst/>
          </a:prstGeom>
        </p:spPr>
      </p:pic>
      <p:pic>
        <p:nvPicPr>
          <p:cNvPr id="14" name="Picture 13">
            <a:extLst>
              <a:ext uri="{FF2B5EF4-FFF2-40B4-BE49-F238E27FC236}">
                <a16:creationId xmlns:a16="http://schemas.microsoft.com/office/drawing/2014/main" id="{F2994B7E-35D0-23D5-5A7D-FEB6A453E87F}"/>
              </a:ext>
            </a:extLst>
          </p:cNvPr>
          <p:cNvPicPr>
            <a:picLocks noChangeAspect="1"/>
          </p:cNvPicPr>
          <p:nvPr/>
        </p:nvPicPr>
        <p:blipFill>
          <a:blip r:embed="rId7">
            <a:alphaModFix amt="11000"/>
          </a:blip>
          <a:stretch>
            <a:fillRect/>
          </a:stretch>
        </p:blipFill>
        <p:spPr>
          <a:xfrm rot="10800000">
            <a:off x="11258318" y="6126356"/>
            <a:ext cx="939090" cy="746776"/>
          </a:xfrm>
          <a:prstGeom prst="rect">
            <a:avLst/>
          </a:prstGeom>
        </p:spPr>
      </p:pic>
      <p:pic>
        <p:nvPicPr>
          <p:cNvPr id="15" name="Picture 14">
            <a:extLst>
              <a:ext uri="{FF2B5EF4-FFF2-40B4-BE49-F238E27FC236}">
                <a16:creationId xmlns:a16="http://schemas.microsoft.com/office/drawing/2014/main" id="{AEAEB7FD-65C4-F4ED-1D3D-4F74469E98F4}"/>
              </a:ext>
            </a:extLst>
          </p:cNvPr>
          <p:cNvPicPr>
            <a:picLocks noChangeAspect="1"/>
          </p:cNvPicPr>
          <p:nvPr/>
        </p:nvPicPr>
        <p:blipFill>
          <a:blip r:embed="rId8">
            <a:alphaModFix amt="27000"/>
          </a:blip>
          <a:stretch>
            <a:fillRect/>
          </a:stretch>
        </p:blipFill>
        <p:spPr>
          <a:xfrm rot="10800000">
            <a:off x="8803" y="6369939"/>
            <a:ext cx="370439" cy="46860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15"/>
        <p:cNvGrpSpPr/>
        <p:nvPr/>
      </p:nvGrpSpPr>
      <p:grpSpPr>
        <a:xfrm>
          <a:off x="0" y="0"/>
          <a:ext cx="0" cy="0"/>
          <a:chOff x="0" y="0"/>
          <a:chExt cx="0" cy="0"/>
        </a:xfrm>
      </p:grpSpPr>
      <p:sp>
        <p:nvSpPr>
          <p:cNvPr id="1316" name="Google Shape;1316;g25c0f4a8d55_0_174"/>
          <p:cNvSpPr txBox="1">
            <a:spLocks noGrp="1"/>
          </p:cNvSpPr>
          <p:nvPr>
            <p:ph type="dt" idx="10"/>
          </p:nvPr>
        </p:nvSpPr>
        <p:spPr>
          <a:xfrm>
            <a:off x="850900" y="6356351"/>
            <a:ext cx="2743200" cy="365200"/>
          </a:xfrm>
          <a:prstGeom prst="rect">
            <a:avLst/>
          </a:prstGeom>
          <a:noFill/>
          <a:ln>
            <a:noFill/>
          </a:ln>
        </p:spPr>
        <p:txBody>
          <a:bodyPr spcFirstLastPara="1" vert="horz" wrap="square" lIns="121900" tIns="60933" rIns="121900" bIns="60933" rtlCol="0" anchor="ctr" anchorCtr="0">
            <a:noAutofit/>
          </a:bodyPr>
          <a:lstStyle/>
          <a:p>
            <a:r>
              <a:rPr lang="en-GB">
                <a:solidFill>
                  <a:srgbClr val="898989"/>
                </a:solidFill>
                <a:latin typeface="Proxima Nova"/>
                <a:ea typeface="Proxima Nova"/>
                <a:cs typeface="Proxima Nova"/>
                <a:sym typeface="Proxima Nova"/>
              </a:rPr>
              <a:t>23/05/19</a:t>
            </a:r>
            <a:endParaRPr>
              <a:solidFill>
                <a:srgbClr val="898989"/>
              </a:solidFill>
              <a:latin typeface="Proxima Nova"/>
              <a:ea typeface="Proxima Nova"/>
              <a:cs typeface="Proxima Nova"/>
              <a:sym typeface="Proxima Nova"/>
            </a:endParaRPr>
          </a:p>
        </p:txBody>
      </p:sp>
      <p:sp>
        <p:nvSpPr>
          <p:cNvPr id="1317" name="Google Shape;1317;g25c0f4a8d55_0_174"/>
          <p:cNvSpPr txBox="1">
            <a:spLocks noGrp="1"/>
          </p:cNvSpPr>
          <p:nvPr>
            <p:ph type="sldNum" idx="12"/>
          </p:nvPr>
        </p:nvSpPr>
        <p:spPr>
          <a:xfrm>
            <a:off x="4074665" y="6367045"/>
            <a:ext cx="4100400" cy="3652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GB"/>
              <a:pPr/>
              <a:t>44</a:t>
            </a:fld>
            <a:endParaRPr/>
          </a:p>
        </p:txBody>
      </p:sp>
      <p:sp>
        <p:nvSpPr>
          <p:cNvPr id="1318" name="Google Shape;1318;g25c0f4a8d55_0_174"/>
          <p:cNvSpPr txBox="1">
            <a:spLocks noGrp="1"/>
          </p:cNvSpPr>
          <p:nvPr>
            <p:ph type="body" idx="1"/>
          </p:nvPr>
        </p:nvSpPr>
        <p:spPr>
          <a:xfrm>
            <a:off x="4285131" y="4669112"/>
            <a:ext cx="7140000" cy="1116000"/>
          </a:xfrm>
          <a:prstGeom prst="rect">
            <a:avLst/>
          </a:prstGeom>
          <a:noFill/>
          <a:ln>
            <a:noFill/>
          </a:ln>
        </p:spPr>
        <p:txBody>
          <a:bodyPr spcFirstLastPara="1" vert="horz" wrap="square" lIns="121900" tIns="60933" rIns="121900" bIns="60933" rtlCol="0" anchor="t" anchorCtr="0">
            <a:noAutofit/>
          </a:bodyPr>
          <a:lstStyle/>
          <a:p>
            <a:pPr marL="285742" indent="-285742">
              <a:spcBef>
                <a:spcPts val="0"/>
              </a:spcBef>
            </a:pPr>
            <a:r>
              <a:rPr lang="en-GB"/>
              <a:t>Practice in teams of 4 students</a:t>
            </a:r>
            <a:endParaRPr/>
          </a:p>
          <a:p>
            <a:pPr marL="285742" indent="-285742"/>
            <a:r>
              <a:rPr lang="en-GB"/>
              <a:t>Industry expert mentoring to learn better</a:t>
            </a:r>
            <a:endParaRPr/>
          </a:p>
          <a:p>
            <a:pPr marL="285742" indent="-285742"/>
            <a:r>
              <a:rPr lang="en-GB"/>
              <a:t>Get personalised feedback for improvements</a:t>
            </a:r>
            <a:endParaRPr/>
          </a:p>
        </p:txBody>
      </p:sp>
      <p:sp>
        <p:nvSpPr>
          <p:cNvPr id="1319" name="Google Shape;1319;g25c0f4a8d55_0_174"/>
          <p:cNvSpPr txBox="1">
            <a:spLocks noGrp="1"/>
          </p:cNvSpPr>
          <p:nvPr>
            <p:ph type="sldNum" idx="4294967295"/>
          </p:nvPr>
        </p:nvSpPr>
        <p:spPr>
          <a:xfrm>
            <a:off x="9448800" y="6356351"/>
            <a:ext cx="2743200" cy="366000"/>
          </a:xfrm>
          <a:prstGeom prst="rect">
            <a:avLst/>
          </a:prstGeom>
          <a:noFill/>
          <a:ln>
            <a:noFill/>
          </a:ln>
        </p:spPr>
        <p:txBody>
          <a:bodyPr spcFirstLastPara="1" vert="horz" wrap="square" lIns="121900" tIns="60933" rIns="121900" bIns="60933" rtlCol="0" anchor="ctr" anchorCtr="0">
            <a:noAutofit/>
          </a:bodyPr>
          <a:lstStyle/>
          <a:p>
            <a:pPr>
              <a:buSzPts val="900"/>
            </a:pPr>
            <a:fld id="{00000000-1234-1234-1234-123412341234}" type="slidenum">
              <a:rPr lang="en-GB">
                <a:solidFill>
                  <a:srgbClr val="898989"/>
                </a:solidFill>
                <a:latin typeface="Proxima Nova"/>
                <a:ea typeface="Proxima Nova"/>
                <a:cs typeface="Proxima Nova"/>
                <a:sym typeface="Proxima Nova"/>
              </a:rPr>
              <a:pPr>
                <a:buSzPts val="900"/>
              </a:pPr>
              <a:t>44</a:t>
            </a:fld>
            <a:endParaRPr>
              <a:solidFill>
                <a:srgbClr val="898989"/>
              </a:solidFill>
              <a:latin typeface="Proxima Nova"/>
              <a:ea typeface="Proxima Nova"/>
              <a:cs typeface="Proxima Nova"/>
              <a:sym typeface="Proxima Nova"/>
            </a:endParaRPr>
          </a:p>
        </p:txBody>
      </p:sp>
      <p:sp>
        <p:nvSpPr>
          <p:cNvPr id="1320" name="Google Shape;1320;g25c0f4a8d55_0_174"/>
          <p:cNvSpPr/>
          <p:nvPr/>
        </p:nvSpPr>
        <p:spPr>
          <a:xfrm>
            <a:off x="0" y="0"/>
            <a:ext cx="12192000" cy="6858000"/>
          </a:xfrm>
          <a:prstGeom prst="rect">
            <a:avLst/>
          </a:prstGeom>
          <a:solidFill>
            <a:schemeClr val="lt1"/>
          </a:solidFill>
          <a:ln>
            <a:noFill/>
          </a:ln>
        </p:spPr>
        <p:txBody>
          <a:bodyPr spcFirstLastPara="1" wrap="square" lIns="121900" tIns="60933" rIns="121900" bIns="60933" anchor="ctr" anchorCtr="0">
            <a:noAutofit/>
          </a:bodyPr>
          <a:lstStyle/>
          <a:p>
            <a:pPr algn="ctr">
              <a:buClr>
                <a:srgbClr val="000000"/>
              </a:buClr>
              <a:buSzPts val="1800"/>
            </a:pPr>
            <a:endParaRPr sz="2400">
              <a:solidFill>
                <a:schemeClr val="lt1"/>
              </a:solidFill>
              <a:latin typeface="Calibri"/>
              <a:ea typeface="Calibri"/>
              <a:cs typeface="Calibri"/>
              <a:sym typeface="Calibri"/>
            </a:endParaRPr>
          </a:p>
        </p:txBody>
      </p:sp>
      <p:sp>
        <p:nvSpPr>
          <p:cNvPr id="1321" name="Google Shape;1321;g25c0f4a8d55_0_174"/>
          <p:cNvSpPr/>
          <p:nvPr/>
        </p:nvSpPr>
        <p:spPr>
          <a:xfrm>
            <a:off x="0" y="0"/>
            <a:ext cx="12192000" cy="6858000"/>
          </a:xfrm>
          <a:prstGeom prst="rect">
            <a:avLst/>
          </a:prstGeom>
          <a:blipFill rotWithShape="1">
            <a:blip r:embed="rId3">
              <a:alphaModFix amt="21000"/>
            </a:blip>
            <a:stretch>
              <a:fillRect/>
            </a:stretch>
          </a:blipFill>
          <a:ln>
            <a:noFill/>
          </a:ln>
        </p:spPr>
        <p:txBody>
          <a:bodyPr spcFirstLastPara="1" wrap="square" lIns="121900" tIns="60933" rIns="121900" bIns="60933" anchor="ctr" anchorCtr="0">
            <a:noAutofit/>
          </a:bodyPr>
          <a:lstStyle/>
          <a:p>
            <a:pPr algn="ctr">
              <a:buClr>
                <a:srgbClr val="000000"/>
              </a:buClr>
              <a:buSzPts val="1800"/>
            </a:pPr>
            <a:endParaRPr sz="2400">
              <a:solidFill>
                <a:schemeClr val="lt1"/>
              </a:solidFill>
              <a:latin typeface="Calibri"/>
              <a:ea typeface="Calibri"/>
              <a:cs typeface="Calibri"/>
              <a:sym typeface="Calibri"/>
            </a:endParaRPr>
          </a:p>
        </p:txBody>
      </p:sp>
      <p:sp>
        <p:nvSpPr>
          <p:cNvPr id="1322" name="Google Shape;1322;g25c0f4a8d55_0_174"/>
          <p:cNvSpPr/>
          <p:nvPr/>
        </p:nvSpPr>
        <p:spPr>
          <a:xfrm>
            <a:off x="-1" y="0"/>
            <a:ext cx="12192000" cy="6858000"/>
          </a:xfrm>
          <a:prstGeom prst="rect">
            <a:avLst/>
          </a:prstGeom>
          <a:blipFill rotWithShape="1">
            <a:blip r:embed="rId4">
              <a:alphaModFix amt="17000"/>
            </a:blip>
            <a:stretch>
              <a:fillRect/>
            </a:stretch>
          </a:blipFill>
          <a:ln>
            <a:noFill/>
          </a:ln>
        </p:spPr>
        <p:txBody>
          <a:bodyPr spcFirstLastPara="1" wrap="square" lIns="121900" tIns="60933" rIns="121900" bIns="60933" anchor="ctr" anchorCtr="0">
            <a:noAutofit/>
          </a:bodyPr>
          <a:lstStyle/>
          <a:p>
            <a:pPr algn="ctr">
              <a:buClr>
                <a:srgbClr val="000000"/>
              </a:buClr>
              <a:buSzPts val="1013"/>
            </a:pPr>
            <a:endParaRPr sz="1351">
              <a:solidFill>
                <a:schemeClr val="lt1"/>
              </a:solidFill>
              <a:latin typeface="Calibri"/>
              <a:ea typeface="Calibri"/>
              <a:cs typeface="Calibri"/>
              <a:sym typeface="Calibri"/>
            </a:endParaRPr>
          </a:p>
        </p:txBody>
      </p:sp>
      <p:sp>
        <p:nvSpPr>
          <p:cNvPr id="1324" name="Google Shape;1324;g25c0f4a8d55_0_174"/>
          <p:cNvSpPr txBox="1"/>
          <p:nvPr/>
        </p:nvSpPr>
        <p:spPr>
          <a:xfrm>
            <a:off x="2078299" y="672045"/>
            <a:ext cx="7324400" cy="1826800"/>
          </a:xfrm>
          <a:prstGeom prst="rect">
            <a:avLst/>
          </a:prstGeom>
          <a:noFill/>
          <a:ln>
            <a:noFill/>
          </a:ln>
        </p:spPr>
        <p:txBody>
          <a:bodyPr spcFirstLastPara="1" wrap="square" lIns="91433" tIns="45700" rIns="91433" bIns="45700" anchor="ctr" anchorCtr="0">
            <a:noAutofit/>
          </a:bodyPr>
          <a:lstStyle/>
          <a:p>
            <a:pPr>
              <a:lnSpc>
                <a:spcPct val="90000"/>
              </a:lnSpc>
              <a:buClr>
                <a:srgbClr val="F5333F"/>
              </a:buClr>
              <a:buSzPts val="3600"/>
            </a:pPr>
            <a:r>
              <a:rPr lang="en-GB" sz="4800">
                <a:solidFill>
                  <a:srgbClr val="F5333F"/>
                </a:solidFill>
                <a:latin typeface="Proxima Nova"/>
                <a:ea typeface="Proxima Nova"/>
                <a:cs typeface="Proxima Nova"/>
                <a:sym typeface="Proxima Nova"/>
              </a:rPr>
              <a:t>Poll 1 (15 seconds)</a:t>
            </a:r>
            <a:endParaRPr sz="4800">
              <a:solidFill>
                <a:srgbClr val="F5333F"/>
              </a:solidFill>
              <a:latin typeface="Proxima Nova"/>
              <a:ea typeface="Proxima Nova"/>
              <a:cs typeface="Proxima Nova"/>
              <a:sym typeface="Proxima Nova"/>
            </a:endParaRPr>
          </a:p>
        </p:txBody>
      </p:sp>
      <p:sp>
        <p:nvSpPr>
          <p:cNvPr id="1326" name="Google Shape;1326;g25c0f4a8d55_0_174"/>
          <p:cNvSpPr txBox="1"/>
          <p:nvPr/>
        </p:nvSpPr>
        <p:spPr>
          <a:xfrm>
            <a:off x="945310" y="2406641"/>
            <a:ext cx="10268800" cy="4197600"/>
          </a:xfrm>
          <a:prstGeom prst="rect">
            <a:avLst/>
          </a:prstGeom>
          <a:noFill/>
          <a:ln>
            <a:noFill/>
          </a:ln>
        </p:spPr>
        <p:txBody>
          <a:bodyPr spcFirstLastPara="1" wrap="square" lIns="121900" tIns="60933" rIns="121900" bIns="60933" anchor="t" anchorCtr="0">
            <a:noAutofit/>
          </a:bodyPr>
          <a:lstStyle/>
          <a:p>
            <a:pPr>
              <a:lnSpc>
                <a:spcPct val="115000"/>
              </a:lnSpc>
            </a:pPr>
            <a:r>
              <a:rPr lang="en-GB" sz="2400" dirty="0">
                <a:solidFill>
                  <a:srgbClr val="3C3B37"/>
                </a:solidFill>
                <a:latin typeface="Proxima Nova"/>
                <a:ea typeface="Proxima Nova"/>
                <a:cs typeface="Proxima Nova"/>
                <a:sym typeface="Proxima Nova"/>
              </a:rPr>
              <a:t>Jenkins default admin password can be found at:</a:t>
            </a:r>
          </a:p>
          <a:p>
            <a:pPr marL="609585" indent="-457189">
              <a:lnSpc>
                <a:spcPct val="115000"/>
              </a:lnSpc>
              <a:spcBef>
                <a:spcPts val="1333"/>
              </a:spcBef>
              <a:buClr>
                <a:srgbClr val="FF0000"/>
              </a:buClr>
              <a:buSzPts val="1800"/>
              <a:buFont typeface="Proxima Nova"/>
              <a:buAutoNum type="alphaUcPeriod"/>
            </a:pPr>
            <a:r>
              <a:rPr lang="en-GB" sz="2400" dirty="0">
                <a:solidFill>
                  <a:schemeClr val="dk1"/>
                </a:solidFill>
                <a:latin typeface="Proxima Nova"/>
                <a:ea typeface="Proxima Nova"/>
                <a:cs typeface="Proxima Nova"/>
                <a:sym typeface="Proxima Nova"/>
              </a:rPr>
              <a:t>/</a:t>
            </a:r>
            <a:r>
              <a:rPr lang="en-GB" sz="2400" b="1" dirty="0">
                <a:solidFill>
                  <a:srgbClr val="FF0000"/>
                </a:solidFill>
                <a:latin typeface="Proxima Nova"/>
                <a:ea typeface="Proxima Nova"/>
                <a:cs typeface="Proxima Nova"/>
                <a:sym typeface="Proxima Nova"/>
              </a:rPr>
              <a:t>var/lib/</a:t>
            </a:r>
            <a:r>
              <a:rPr lang="en-GB" sz="2400" b="1" dirty="0" err="1">
                <a:solidFill>
                  <a:srgbClr val="FF0000"/>
                </a:solidFill>
                <a:latin typeface="Proxima Nova"/>
                <a:ea typeface="Proxima Nova"/>
                <a:cs typeface="Proxima Nova"/>
                <a:sym typeface="Proxima Nova"/>
              </a:rPr>
              <a:t>jenkins</a:t>
            </a:r>
            <a:r>
              <a:rPr lang="en-GB" sz="2400" b="1" dirty="0">
                <a:solidFill>
                  <a:srgbClr val="FF0000"/>
                </a:solidFill>
                <a:latin typeface="Proxima Nova"/>
                <a:ea typeface="Proxima Nova"/>
                <a:cs typeface="Proxima Nova"/>
                <a:sym typeface="Proxima Nova"/>
              </a:rPr>
              <a:t>/secrets/</a:t>
            </a:r>
            <a:r>
              <a:rPr lang="en-GB" sz="2400" b="1" dirty="0" err="1">
                <a:solidFill>
                  <a:srgbClr val="FF0000"/>
                </a:solidFill>
                <a:latin typeface="Proxima Nova"/>
                <a:ea typeface="Proxima Nova"/>
                <a:cs typeface="Proxima Nova"/>
                <a:sym typeface="Proxima Nova"/>
              </a:rPr>
              <a:t>InitialAdminPassword</a:t>
            </a:r>
            <a:endParaRPr lang="en-GB" sz="2400" b="1" dirty="0">
              <a:solidFill>
                <a:srgbClr val="FF0000"/>
              </a:solidFill>
              <a:latin typeface="Proxima Nova"/>
              <a:ea typeface="Proxima Nova"/>
              <a:cs typeface="Proxima Nova"/>
              <a:sym typeface="Proxima Nova"/>
            </a:endParaRPr>
          </a:p>
          <a:p>
            <a:pPr marL="609585" indent="-457189">
              <a:lnSpc>
                <a:spcPct val="115000"/>
              </a:lnSpc>
              <a:spcBef>
                <a:spcPts val="1333"/>
              </a:spcBef>
              <a:buClr>
                <a:schemeClr val="dk1"/>
              </a:buClr>
              <a:buSzPts val="1800"/>
              <a:buFont typeface="Proxima Nova"/>
              <a:buAutoNum type="alphaUcPeriod"/>
            </a:pPr>
            <a:r>
              <a:rPr lang="en-GB" sz="2400" dirty="0">
                <a:solidFill>
                  <a:schemeClr val="dk1"/>
                </a:solidFill>
                <a:latin typeface="Proxima Nova"/>
                <a:ea typeface="Proxima Nova"/>
                <a:cs typeface="Proxima Nova"/>
                <a:sym typeface="Proxima Nova"/>
              </a:rPr>
              <a:t>/etc/passwd | grep admin</a:t>
            </a:r>
          </a:p>
          <a:p>
            <a:pPr marL="609585" indent="-457189">
              <a:lnSpc>
                <a:spcPct val="115000"/>
              </a:lnSpc>
              <a:spcBef>
                <a:spcPts val="1333"/>
              </a:spcBef>
              <a:buClr>
                <a:schemeClr val="dk1"/>
              </a:buClr>
              <a:buSzPts val="1800"/>
              <a:buFont typeface="Proxima Nova"/>
              <a:buAutoNum type="alphaUcPeriod"/>
            </a:pPr>
            <a:r>
              <a:rPr lang="en-GB" sz="2400" dirty="0">
                <a:solidFill>
                  <a:schemeClr val="dk1"/>
                </a:solidFill>
                <a:latin typeface="Proxima Nova"/>
                <a:ea typeface="Proxima Nova"/>
                <a:cs typeface="Proxima Nova"/>
                <a:sym typeface="Proxima Nova"/>
              </a:rPr>
              <a:t>/var/lib/Jenkins/secrets/</a:t>
            </a:r>
            <a:r>
              <a:rPr lang="en-GB" sz="2400" dirty="0" err="1">
                <a:solidFill>
                  <a:schemeClr val="dk1"/>
                </a:solidFill>
                <a:latin typeface="Proxima Nova"/>
                <a:ea typeface="Proxima Nova"/>
                <a:cs typeface="Proxima Nova"/>
                <a:sym typeface="Proxima Nova"/>
              </a:rPr>
              <a:t>InitialAdminPassword</a:t>
            </a:r>
            <a:endParaRPr lang="en-GB" sz="2400" dirty="0">
              <a:solidFill>
                <a:schemeClr val="dk1"/>
              </a:solidFill>
              <a:latin typeface="Proxima Nova"/>
              <a:ea typeface="Proxima Nova"/>
              <a:cs typeface="Proxima Nova"/>
              <a:sym typeface="Proxima Nova"/>
            </a:endParaRPr>
          </a:p>
          <a:p>
            <a:pPr marL="609585" indent="-457189">
              <a:lnSpc>
                <a:spcPct val="115000"/>
              </a:lnSpc>
              <a:spcBef>
                <a:spcPts val="1333"/>
              </a:spcBef>
              <a:buClr>
                <a:schemeClr val="dk1"/>
              </a:buClr>
              <a:buSzPts val="1800"/>
              <a:buFont typeface="Proxima Nova"/>
              <a:buAutoNum type="alphaUcPeriod"/>
            </a:pPr>
            <a:r>
              <a:rPr lang="en-GB" sz="2400" dirty="0">
                <a:solidFill>
                  <a:schemeClr val="dk1"/>
                </a:solidFill>
                <a:latin typeface="Proxima Nova"/>
                <a:ea typeface="Proxima Nova"/>
                <a:cs typeface="Proxima Nova"/>
                <a:sym typeface="Proxima Nova"/>
              </a:rPr>
              <a:t>/var/lib/Jenkins/secrets/passwd</a:t>
            </a:r>
          </a:p>
          <a:p>
            <a:pPr marL="609585">
              <a:lnSpc>
                <a:spcPct val="115000"/>
              </a:lnSpc>
              <a:spcBef>
                <a:spcPts val="1333"/>
              </a:spcBef>
            </a:pPr>
            <a:endParaRPr sz="2400" dirty="0">
              <a:solidFill>
                <a:srgbClr val="3C3B37"/>
              </a:solidFill>
              <a:latin typeface="Proxima Nova"/>
              <a:ea typeface="Proxima Nova"/>
              <a:cs typeface="Proxima Nova"/>
              <a:sym typeface="Proxima Nova"/>
            </a:endParaRPr>
          </a:p>
        </p:txBody>
      </p:sp>
      <p:sp>
        <p:nvSpPr>
          <p:cNvPr id="9" name="Google Shape;864;p59">
            <a:extLst>
              <a:ext uri="{FF2B5EF4-FFF2-40B4-BE49-F238E27FC236}">
                <a16:creationId xmlns:a16="http://schemas.microsoft.com/office/drawing/2014/main" id="{AE1719BF-6D6A-1B56-6FE8-254857440AE4}"/>
              </a:ext>
            </a:extLst>
          </p:cNvPr>
          <p:cNvSpPr txBox="1">
            <a:spLocks/>
          </p:cNvSpPr>
          <p:nvPr/>
        </p:nvSpPr>
        <p:spPr>
          <a:xfrm>
            <a:off x="9402699" y="6358709"/>
            <a:ext cx="2057400" cy="364561"/>
          </a:xfrm>
          <a:prstGeom prst="rect">
            <a:avLst/>
          </a:prstGeom>
          <a:noFill/>
          <a:ln>
            <a:noFill/>
          </a:ln>
        </p:spPr>
        <p:txBody>
          <a:bodyPr spcFirstLastPara="1" vert="horz" wrap="square" lIns="91425" tIns="45700" rIns="91425" bIns="45700" rtlCol="0" anchor="ctr" anchorCtr="0">
            <a:noAutofit/>
          </a:bodyPr>
          <a:lstStyle>
            <a:defPPr>
              <a:defRPr lang="en-US"/>
            </a:defPPr>
            <a:lvl1pPr marL="0" marR="0" lvl="0"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1pPr>
            <a:lvl2pPr marL="0" marR="0" lvl="1"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2pPr>
            <a:lvl3pPr marL="0" marR="0" lvl="2"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3pPr>
            <a:lvl4pPr marL="0" marR="0" lvl="3"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4pPr>
            <a:lvl5pPr marL="0" marR="0" lvl="4"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5pPr>
            <a:lvl6pPr marL="0" marR="0" lvl="5"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6pPr>
            <a:lvl7pPr marL="0" marR="0" lvl="6"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7pPr>
            <a:lvl8pPr marL="0" marR="0" lvl="7"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8pPr>
            <a:lvl9pPr marL="0" marR="0" lvl="8" indent="0" algn="r" defTabSz="914400" rtl="0" eaLnBrk="1" latinLnBrk="0" hangingPunct="1">
              <a:lnSpc>
                <a:spcPct val="100000"/>
              </a:lnSpc>
              <a:spcBef>
                <a:spcPts val="0"/>
              </a:spcBef>
              <a:spcAft>
                <a:spcPts val="0"/>
              </a:spcAft>
              <a:buClr>
                <a:srgbClr val="000000"/>
              </a:buClr>
              <a:buSzPts val="900"/>
              <a:buFont typeface="Arial"/>
              <a:buNone/>
              <a:defRPr sz="1200" b="0" i="0" u="none" strike="noStrike" kern="1200" cap="none">
                <a:solidFill>
                  <a:srgbClr val="888888"/>
                </a:solidFill>
                <a:latin typeface="Proxima Nova"/>
                <a:ea typeface="Proxima Nova"/>
                <a:cs typeface="Proxima Nova"/>
                <a:sym typeface="Proxima Nova"/>
              </a:defRPr>
            </a:lvl9pPr>
          </a:lstStyle>
          <a:p>
            <a:fld id="{00000000-1234-1234-1234-123412341234}" type="slidenum">
              <a:rPr lang="en-IN" sz="900" smtClean="0"/>
              <a:pPr/>
              <a:t>44</a:t>
            </a:fld>
            <a:endParaRPr lang="en-IN" sz="900"/>
          </a:p>
        </p:txBody>
      </p:sp>
      <p:pic>
        <p:nvPicPr>
          <p:cNvPr id="10" name="Google Shape;618;p34">
            <a:extLst>
              <a:ext uri="{FF2B5EF4-FFF2-40B4-BE49-F238E27FC236}">
                <a16:creationId xmlns:a16="http://schemas.microsoft.com/office/drawing/2014/main" id="{98C032AF-F069-08C6-A104-0E8270ACCDD5}"/>
              </a:ext>
            </a:extLst>
          </p:cNvPr>
          <p:cNvPicPr preferRelativeResize="0"/>
          <p:nvPr/>
        </p:nvPicPr>
        <p:blipFill>
          <a:blip r:embed="rId5">
            <a:alphaModFix/>
          </a:blip>
          <a:stretch>
            <a:fillRect/>
          </a:stretch>
        </p:blipFill>
        <p:spPr>
          <a:xfrm>
            <a:off x="10431399" y="365787"/>
            <a:ext cx="923272" cy="837723"/>
          </a:xfrm>
          <a:prstGeom prst="rect">
            <a:avLst/>
          </a:prstGeom>
          <a:noFill/>
          <a:ln>
            <a:noFill/>
          </a:ln>
        </p:spPr>
      </p:pic>
      <p:pic>
        <p:nvPicPr>
          <p:cNvPr id="11" name="Picture 10">
            <a:extLst>
              <a:ext uri="{FF2B5EF4-FFF2-40B4-BE49-F238E27FC236}">
                <a16:creationId xmlns:a16="http://schemas.microsoft.com/office/drawing/2014/main" id="{6AD1E07B-752A-025D-8591-1466629D96AC}"/>
              </a:ext>
            </a:extLst>
          </p:cNvPr>
          <p:cNvPicPr>
            <a:picLocks noChangeAspect="1"/>
          </p:cNvPicPr>
          <p:nvPr/>
        </p:nvPicPr>
        <p:blipFill>
          <a:blip r:embed="rId6"/>
          <a:stretch>
            <a:fillRect/>
          </a:stretch>
        </p:blipFill>
        <p:spPr>
          <a:xfrm>
            <a:off x="8899278" y="715834"/>
            <a:ext cx="1212079" cy="320550"/>
          </a:xfrm>
          <a:prstGeom prst="rect">
            <a:avLst/>
          </a:prstGeom>
        </p:spPr>
      </p:pic>
      <p:pic>
        <p:nvPicPr>
          <p:cNvPr id="12" name="Picture 11">
            <a:extLst>
              <a:ext uri="{FF2B5EF4-FFF2-40B4-BE49-F238E27FC236}">
                <a16:creationId xmlns:a16="http://schemas.microsoft.com/office/drawing/2014/main" id="{40448513-DAE2-11FE-221E-E369A127E433}"/>
              </a:ext>
            </a:extLst>
          </p:cNvPr>
          <p:cNvPicPr>
            <a:picLocks noChangeAspect="1"/>
          </p:cNvPicPr>
          <p:nvPr/>
        </p:nvPicPr>
        <p:blipFill>
          <a:blip r:embed="rId7"/>
          <a:stretch>
            <a:fillRect/>
          </a:stretch>
        </p:blipFill>
        <p:spPr>
          <a:xfrm>
            <a:off x="5075" y="11476"/>
            <a:ext cx="2238883" cy="1780386"/>
          </a:xfrm>
          <a:prstGeom prst="rect">
            <a:avLst/>
          </a:prstGeom>
        </p:spPr>
      </p:pic>
      <p:pic>
        <p:nvPicPr>
          <p:cNvPr id="13" name="Picture 12">
            <a:extLst>
              <a:ext uri="{FF2B5EF4-FFF2-40B4-BE49-F238E27FC236}">
                <a16:creationId xmlns:a16="http://schemas.microsoft.com/office/drawing/2014/main" id="{56DDCB5B-A85C-9BB7-D0A5-4EC97755C1A5}"/>
              </a:ext>
            </a:extLst>
          </p:cNvPr>
          <p:cNvPicPr>
            <a:picLocks noChangeAspect="1"/>
          </p:cNvPicPr>
          <p:nvPr/>
        </p:nvPicPr>
        <p:blipFill>
          <a:blip r:embed="rId8"/>
          <a:stretch>
            <a:fillRect/>
          </a:stretch>
        </p:blipFill>
        <p:spPr>
          <a:xfrm>
            <a:off x="11272968" y="-14988"/>
            <a:ext cx="963240" cy="1218498"/>
          </a:xfrm>
          <a:prstGeom prst="rect">
            <a:avLst/>
          </a:prstGeom>
        </p:spPr>
      </p:pic>
      <p:pic>
        <p:nvPicPr>
          <p:cNvPr id="14" name="Picture 13">
            <a:extLst>
              <a:ext uri="{FF2B5EF4-FFF2-40B4-BE49-F238E27FC236}">
                <a16:creationId xmlns:a16="http://schemas.microsoft.com/office/drawing/2014/main" id="{F2994B7E-35D0-23D5-5A7D-FEB6A453E87F}"/>
              </a:ext>
            </a:extLst>
          </p:cNvPr>
          <p:cNvPicPr>
            <a:picLocks noChangeAspect="1"/>
          </p:cNvPicPr>
          <p:nvPr/>
        </p:nvPicPr>
        <p:blipFill>
          <a:blip r:embed="rId7">
            <a:alphaModFix amt="11000"/>
          </a:blip>
          <a:stretch>
            <a:fillRect/>
          </a:stretch>
        </p:blipFill>
        <p:spPr>
          <a:xfrm rot="10800000">
            <a:off x="11258318" y="6126356"/>
            <a:ext cx="939090" cy="746776"/>
          </a:xfrm>
          <a:prstGeom prst="rect">
            <a:avLst/>
          </a:prstGeom>
        </p:spPr>
      </p:pic>
      <p:pic>
        <p:nvPicPr>
          <p:cNvPr id="15" name="Picture 14">
            <a:extLst>
              <a:ext uri="{FF2B5EF4-FFF2-40B4-BE49-F238E27FC236}">
                <a16:creationId xmlns:a16="http://schemas.microsoft.com/office/drawing/2014/main" id="{AEAEB7FD-65C4-F4ED-1D3D-4F74469E98F4}"/>
              </a:ext>
            </a:extLst>
          </p:cNvPr>
          <p:cNvPicPr>
            <a:picLocks noChangeAspect="1"/>
          </p:cNvPicPr>
          <p:nvPr/>
        </p:nvPicPr>
        <p:blipFill>
          <a:blip r:embed="rId8">
            <a:alphaModFix amt="27000"/>
          </a:blip>
          <a:stretch>
            <a:fillRect/>
          </a:stretch>
        </p:blipFill>
        <p:spPr>
          <a:xfrm rot="10800000">
            <a:off x="8803" y="6369939"/>
            <a:ext cx="370439" cy="468604"/>
          </a:xfrm>
          <a:prstGeom prst="rect">
            <a:avLst/>
          </a:prstGeom>
        </p:spPr>
      </p:pic>
    </p:spTree>
    <p:extLst>
      <p:ext uri="{BB962C8B-B14F-4D97-AF65-F5344CB8AC3E}">
        <p14:creationId xmlns:p14="http://schemas.microsoft.com/office/powerpoint/2010/main" val="21619803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45"/>
        <p:cNvGrpSpPr/>
        <p:nvPr/>
      </p:nvGrpSpPr>
      <p:grpSpPr>
        <a:xfrm>
          <a:off x="0" y="0"/>
          <a:ext cx="0" cy="0"/>
          <a:chOff x="0" y="0"/>
          <a:chExt cx="0" cy="0"/>
        </a:xfrm>
      </p:grpSpPr>
      <p:sp>
        <p:nvSpPr>
          <p:cNvPr id="1346" name="Google Shape;1346;g25c0f4a8d55_0_202"/>
          <p:cNvSpPr txBox="1">
            <a:spLocks noGrp="1"/>
          </p:cNvSpPr>
          <p:nvPr>
            <p:ph type="sldNum" idx="12"/>
          </p:nvPr>
        </p:nvSpPr>
        <p:spPr>
          <a:xfrm>
            <a:off x="8623300" y="6356351"/>
            <a:ext cx="2743200" cy="3652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GB"/>
              <a:pPr/>
              <a:t>45</a:t>
            </a:fld>
            <a:endParaRPr/>
          </a:p>
        </p:txBody>
      </p:sp>
      <p:sp>
        <p:nvSpPr>
          <p:cNvPr id="1347" name="Google Shape;1347;g25c0f4a8d55_0_202"/>
          <p:cNvSpPr txBox="1"/>
          <p:nvPr/>
        </p:nvSpPr>
        <p:spPr>
          <a:xfrm>
            <a:off x="2388967" y="2233000"/>
            <a:ext cx="7368400" cy="2392000"/>
          </a:xfrm>
          <a:prstGeom prst="rect">
            <a:avLst/>
          </a:prstGeom>
          <a:noFill/>
          <a:ln>
            <a:noFill/>
          </a:ln>
        </p:spPr>
        <p:txBody>
          <a:bodyPr spcFirstLastPara="1" wrap="square" lIns="121900" tIns="60933" rIns="121900" bIns="60933" anchor="t" anchorCtr="0">
            <a:noAutofit/>
          </a:bodyPr>
          <a:lstStyle/>
          <a:p>
            <a:pPr algn="ctr">
              <a:buClr>
                <a:srgbClr val="000000"/>
              </a:buClr>
              <a:buSzPts val="3200"/>
            </a:pPr>
            <a:r>
              <a:rPr lang="en-GB" sz="4267">
                <a:solidFill>
                  <a:schemeClr val="lt1"/>
                </a:solidFill>
                <a:latin typeface="Proxima Nova"/>
                <a:ea typeface="Proxima Nova"/>
                <a:cs typeface="Proxima Nova"/>
                <a:sym typeface="Proxima Nova"/>
              </a:rPr>
              <a:t>Understand How to Create Jobs in Jenkins</a:t>
            </a:r>
            <a:endParaRPr sz="4267">
              <a:solidFill>
                <a:schemeClr val="lt1"/>
              </a:solidFill>
              <a:latin typeface="Proxima Nova"/>
              <a:ea typeface="Proxima Nova"/>
              <a:cs typeface="Proxima Nova"/>
              <a:sym typeface="Proxima Nov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352;g25c0f4a8d55_0_207">
            <a:extLst>
              <a:ext uri="{FF2B5EF4-FFF2-40B4-BE49-F238E27FC236}">
                <a16:creationId xmlns:a16="http://schemas.microsoft.com/office/drawing/2014/main" id="{FD01F46B-9EA6-7F8B-BA97-5697DF2866BE}"/>
              </a:ext>
            </a:extLst>
          </p:cNvPr>
          <p:cNvSpPr txBox="1">
            <a:spLocks/>
          </p:cNvSpPr>
          <p:nvPr/>
        </p:nvSpPr>
        <p:spPr>
          <a:xfrm>
            <a:off x="7884414" y="6047423"/>
            <a:ext cx="2057400" cy="273900"/>
          </a:xfrm>
          <a:prstGeom prst="rect">
            <a:avLst/>
          </a:prstGeom>
          <a:noFill/>
          <a:ln>
            <a:noFill/>
          </a:ln>
        </p:spPr>
        <p:txBody>
          <a:bodyPr spcFirstLastPara="1" vert="horz" wrap="square" lIns="91425" tIns="45700" rIns="91425" bIns="45700" rtlCol="0" anchor="ctr" anchorCtr="0">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Clr>
                <a:srgbClr val="000000"/>
              </a:buClr>
              <a:buSzPts val="900"/>
              <a:buFont typeface="Arial"/>
              <a:buNone/>
            </a:pPr>
            <a:fld id="{00000000-1234-1234-1234-123412341234}" type="slidenum">
              <a:rPr lang="en-GB" smtClean="0"/>
              <a:pPr>
                <a:buClr>
                  <a:srgbClr val="000000"/>
                </a:buClr>
                <a:buSzPts val="900"/>
                <a:buFont typeface="Arial"/>
                <a:buNone/>
              </a:pPr>
              <a:t>46</a:t>
            </a:fld>
            <a:endParaRPr lang="en-GB"/>
          </a:p>
        </p:txBody>
      </p:sp>
      <p:pic>
        <p:nvPicPr>
          <p:cNvPr id="10" name="Google Shape;1353;g25c0f4a8d55_0_207">
            <a:extLst>
              <a:ext uri="{FF2B5EF4-FFF2-40B4-BE49-F238E27FC236}">
                <a16:creationId xmlns:a16="http://schemas.microsoft.com/office/drawing/2014/main" id="{063013DF-0104-C1EC-42E6-DD3E078F6E5B}"/>
              </a:ext>
            </a:extLst>
          </p:cNvPr>
          <p:cNvPicPr preferRelativeResize="0"/>
          <p:nvPr/>
        </p:nvPicPr>
        <p:blipFill rotWithShape="1">
          <a:blip r:embed="rId6">
            <a:alphaModFix/>
          </a:blip>
          <a:srcRect/>
          <a:stretch/>
        </p:blipFill>
        <p:spPr>
          <a:xfrm>
            <a:off x="1595315" y="1999886"/>
            <a:ext cx="8346499" cy="3002747"/>
          </a:xfrm>
          <a:prstGeom prst="rect">
            <a:avLst/>
          </a:prstGeom>
          <a:noFill/>
          <a:ln>
            <a:noFill/>
          </a:ln>
        </p:spPr>
      </p:pic>
      <p:sp>
        <p:nvSpPr>
          <p:cNvPr id="11" name="Google Shape;1354;g25c0f4a8d55_0_207">
            <a:extLst>
              <a:ext uri="{FF2B5EF4-FFF2-40B4-BE49-F238E27FC236}">
                <a16:creationId xmlns:a16="http://schemas.microsoft.com/office/drawing/2014/main" id="{F7379B84-004D-9E11-68CE-9D88A45AB2E5}"/>
              </a:ext>
            </a:extLst>
          </p:cNvPr>
          <p:cNvSpPr txBox="1">
            <a:spLocks/>
          </p:cNvSpPr>
          <p:nvPr/>
        </p:nvSpPr>
        <p:spPr>
          <a:xfrm>
            <a:off x="2243958" y="1393531"/>
            <a:ext cx="6977700"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SzPts val="2400"/>
            </a:pPr>
            <a:r>
              <a:rPr lang="en-GB" sz="4000"/>
              <a:t>Start Jenkins</a:t>
            </a:r>
          </a:p>
        </p:txBody>
      </p:sp>
      <p:pic>
        <p:nvPicPr>
          <p:cNvPr id="12" name="Google Shape;1355;g25c0f4a8d55_0_207">
            <a:extLst>
              <a:ext uri="{FF2B5EF4-FFF2-40B4-BE49-F238E27FC236}">
                <a16:creationId xmlns:a16="http://schemas.microsoft.com/office/drawing/2014/main" id="{4633EBED-740B-9DD3-3495-E299184B7CA0}"/>
              </a:ext>
            </a:extLst>
          </p:cNvPr>
          <p:cNvPicPr preferRelativeResize="0"/>
          <p:nvPr/>
        </p:nvPicPr>
        <p:blipFill>
          <a:blip r:embed="rId7">
            <a:alphaModFix/>
          </a:blip>
          <a:stretch>
            <a:fillRect/>
          </a:stretch>
        </p:blipFill>
        <p:spPr>
          <a:xfrm>
            <a:off x="1460583" y="5156184"/>
            <a:ext cx="8869926" cy="1202525"/>
          </a:xfrm>
          <a:prstGeom prst="rect">
            <a:avLst/>
          </a:prstGeom>
          <a:noFill/>
          <a:ln>
            <a:noFill/>
          </a:ln>
        </p:spPr>
      </p:pic>
    </p:spTree>
    <p:extLst>
      <p:ext uri="{BB962C8B-B14F-4D97-AF65-F5344CB8AC3E}">
        <p14:creationId xmlns:p14="http://schemas.microsoft.com/office/powerpoint/2010/main" val="36419139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361;g25c0f4a8d55_0_214">
            <a:extLst>
              <a:ext uri="{FF2B5EF4-FFF2-40B4-BE49-F238E27FC236}">
                <a16:creationId xmlns:a16="http://schemas.microsoft.com/office/drawing/2014/main" id="{D321F747-6678-0437-867D-680D209AD78D}"/>
              </a:ext>
            </a:extLst>
          </p:cNvPr>
          <p:cNvSpPr txBox="1">
            <a:spLocks/>
          </p:cNvSpPr>
          <p:nvPr/>
        </p:nvSpPr>
        <p:spPr>
          <a:xfrm>
            <a:off x="2108903" y="1409362"/>
            <a:ext cx="7112700"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GB" sz="4000" dirty="0"/>
              <a:t>Jenkins Workspace</a:t>
            </a:r>
          </a:p>
        </p:txBody>
      </p:sp>
      <p:sp>
        <p:nvSpPr>
          <p:cNvPr id="10" name="Google Shape;1362;g25c0f4a8d55_0_214">
            <a:extLst>
              <a:ext uri="{FF2B5EF4-FFF2-40B4-BE49-F238E27FC236}">
                <a16:creationId xmlns:a16="http://schemas.microsoft.com/office/drawing/2014/main" id="{D1E602FF-9906-D34D-A9CF-D0D8828D990C}"/>
              </a:ext>
            </a:extLst>
          </p:cNvPr>
          <p:cNvSpPr/>
          <p:nvPr/>
        </p:nvSpPr>
        <p:spPr>
          <a:xfrm>
            <a:off x="1623450" y="1976485"/>
            <a:ext cx="8640300" cy="42660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GB" sz="1600" b="1" i="0" u="none" strike="noStrike" cap="none" dirty="0">
                <a:solidFill>
                  <a:srgbClr val="FF0000"/>
                </a:solidFill>
                <a:latin typeface="Arial"/>
                <a:ea typeface="Arial"/>
                <a:cs typeface="Arial"/>
                <a:sym typeface="Arial"/>
              </a:rPr>
              <a:t>Jenkins home directory: </a:t>
            </a:r>
            <a:endParaRPr sz="1600" dirty="0">
              <a:solidFill>
                <a:srgbClr val="FF0000"/>
              </a:solidFill>
            </a:endParaRPr>
          </a:p>
          <a:p>
            <a:pPr marL="0" marR="0" lvl="0" indent="0" algn="l" rtl="0">
              <a:lnSpc>
                <a:spcPct val="115000"/>
              </a:lnSpc>
              <a:spcBef>
                <a:spcPts val="0"/>
              </a:spcBef>
              <a:spcAft>
                <a:spcPts val="0"/>
              </a:spcAft>
              <a:buNone/>
            </a:pPr>
            <a:r>
              <a:rPr lang="en-GB" sz="1600" b="0" i="0" u="none" strike="noStrike" cap="none" dirty="0">
                <a:solidFill>
                  <a:srgbClr val="000000"/>
                </a:solidFill>
                <a:latin typeface="Arial"/>
                <a:ea typeface="Arial"/>
                <a:cs typeface="Arial"/>
                <a:sym typeface="Arial"/>
              </a:rPr>
              <a:t>ubuntu@ip-172-31-81-117:~$ </a:t>
            </a:r>
            <a:r>
              <a:rPr lang="en-GB" sz="1600" b="0" i="0" u="none" strike="noStrike" cap="none" dirty="0" err="1">
                <a:solidFill>
                  <a:srgbClr val="000000"/>
                </a:solidFill>
                <a:latin typeface="Arial"/>
                <a:ea typeface="Arial"/>
                <a:cs typeface="Arial"/>
                <a:sym typeface="Arial"/>
              </a:rPr>
              <a:t>sudo</a:t>
            </a:r>
            <a:r>
              <a:rPr lang="en-GB" sz="1600" b="0" i="0" u="none" strike="noStrike" cap="none" dirty="0">
                <a:solidFill>
                  <a:srgbClr val="000000"/>
                </a:solidFill>
                <a:latin typeface="Arial"/>
                <a:ea typeface="Arial"/>
                <a:cs typeface="Arial"/>
                <a:sym typeface="Arial"/>
              </a:rPr>
              <a:t> </a:t>
            </a:r>
            <a:r>
              <a:rPr lang="en-GB" sz="1600" b="0" i="0" u="none" strike="noStrike" cap="none" dirty="0" err="1">
                <a:solidFill>
                  <a:srgbClr val="000000"/>
                </a:solidFill>
                <a:latin typeface="Arial"/>
                <a:ea typeface="Arial"/>
                <a:cs typeface="Arial"/>
                <a:sym typeface="Arial"/>
              </a:rPr>
              <a:t>su</a:t>
            </a:r>
            <a:r>
              <a:rPr lang="en-GB" sz="1600" b="0" i="0" u="none" strike="noStrike" cap="none" dirty="0">
                <a:solidFill>
                  <a:srgbClr val="000000"/>
                </a:solidFill>
                <a:latin typeface="Arial"/>
                <a:ea typeface="Arial"/>
                <a:cs typeface="Arial"/>
                <a:sym typeface="Arial"/>
              </a:rPr>
              <a:t> - </a:t>
            </a:r>
            <a:r>
              <a:rPr lang="en-GB" sz="1600" b="0" i="0" u="none" strike="noStrike" cap="none" dirty="0" err="1">
                <a:solidFill>
                  <a:srgbClr val="000000"/>
                </a:solidFill>
                <a:latin typeface="Arial"/>
                <a:ea typeface="Arial"/>
                <a:cs typeface="Arial"/>
                <a:sym typeface="Arial"/>
              </a:rPr>
              <a:t>jenkins</a:t>
            </a:r>
            <a:endParaRPr sz="16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None/>
            </a:pPr>
            <a:r>
              <a:rPr lang="en-GB" sz="1600" b="0" i="0" u="none" strike="noStrike" cap="none" dirty="0">
                <a:solidFill>
                  <a:srgbClr val="000000"/>
                </a:solidFill>
                <a:latin typeface="Arial"/>
                <a:ea typeface="Arial"/>
                <a:cs typeface="Arial"/>
                <a:sym typeface="Arial"/>
              </a:rPr>
              <a:t>jenkins@ip-172-31-81-117:~$ </a:t>
            </a:r>
            <a:r>
              <a:rPr lang="en-GB" sz="1600" b="0" i="0" u="none" strike="noStrike" cap="none" dirty="0" err="1">
                <a:solidFill>
                  <a:srgbClr val="000000"/>
                </a:solidFill>
                <a:latin typeface="Arial"/>
                <a:ea typeface="Arial"/>
                <a:cs typeface="Arial"/>
                <a:sym typeface="Arial"/>
              </a:rPr>
              <a:t>pwd</a:t>
            </a:r>
            <a:endParaRPr sz="16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None/>
            </a:pPr>
            <a:r>
              <a:rPr lang="en-GB" sz="1600" b="0" i="0" u="none" strike="noStrike" cap="none" dirty="0">
                <a:solidFill>
                  <a:srgbClr val="000000"/>
                </a:solidFill>
                <a:latin typeface="Arial"/>
                <a:ea typeface="Arial"/>
                <a:cs typeface="Arial"/>
                <a:sym typeface="Arial"/>
              </a:rPr>
              <a:t>/var/lib/</a:t>
            </a:r>
            <a:r>
              <a:rPr lang="en-GB" sz="1600" b="0" i="0" u="none" strike="noStrike" cap="none" dirty="0" err="1">
                <a:solidFill>
                  <a:srgbClr val="000000"/>
                </a:solidFill>
                <a:latin typeface="Arial"/>
                <a:ea typeface="Arial"/>
                <a:cs typeface="Arial"/>
                <a:sym typeface="Arial"/>
              </a:rPr>
              <a:t>jenkins</a:t>
            </a:r>
            <a:endParaRPr sz="16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None/>
            </a:pPr>
            <a:r>
              <a:rPr lang="en-GB" sz="1600" b="0" i="0" u="none" strike="noStrike" cap="none" dirty="0">
                <a:solidFill>
                  <a:srgbClr val="000000"/>
                </a:solidFill>
                <a:latin typeface="Arial"/>
                <a:ea typeface="Arial"/>
                <a:cs typeface="Arial"/>
                <a:sym typeface="Arial"/>
              </a:rPr>
              <a:t>jenkins@ip-172-31-81-117:~$</a:t>
            </a:r>
            <a:endParaRPr sz="1600" dirty="0"/>
          </a:p>
          <a:p>
            <a:pPr marL="0" marR="0" lvl="0" indent="0" algn="l" rtl="0">
              <a:lnSpc>
                <a:spcPct val="115000"/>
              </a:lnSpc>
              <a:spcBef>
                <a:spcPts val="0"/>
              </a:spcBef>
              <a:spcAft>
                <a:spcPts val="0"/>
              </a:spcAft>
              <a:buNone/>
            </a:pPr>
            <a:endParaRPr sz="16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None/>
            </a:pPr>
            <a:r>
              <a:rPr lang="en-GB" sz="1600" b="0" i="0" u="none" strike="noStrike" cap="none" dirty="0">
                <a:solidFill>
                  <a:srgbClr val="000000"/>
                </a:solidFill>
                <a:latin typeface="Arial"/>
                <a:ea typeface="Arial"/>
                <a:cs typeface="Arial"/>
                <a:sym typeface="Arial"/>
              </a:rPr>
              <a:t>Jenkins home directory: /var/lib/</a:t>
            </a:r>
            <a:r>
              <a:rPr lang="en-GB" sz="1600" b="0" i="0" u="none" strike="noStrike" cap="none" dirty="0" err="1">
                <a:solidFill>
                  <a:srgbClr val="000000"/>
                </a:solidFill>
                <a:latin typeface="Arial"/>
                <a:ea typeface="Arial"/>
                <a:cs typeface="Arial"/>
                <a:sym typeface="Arial"/>
              </a:rPr>
              <a:t>jenkins</a:t>
            </a:r>
            <a:endParaRPr sz="16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None/>
            </a:pPr>
            <a:r>
              <a:rPr lang="en-GB" sz="1600" b="0" i="0" u="none" strike="noStrike" cap="none" dirty="0">
                <a:solidFill>
                  <a:srgbClr val="000000"/>
                </a:solidFill>
                <a:latin typeface="Arial"/>
                <a:ea typeface="Arial"/>
                <a:cs typeface="Arial"/>
                <a:sym typeface="Arial"/>
              </a:rPr>
              <a:t>It contains the details of the Jenkins server configuration, which is used to configure in the Manage </a:t>
            </a:r>
            <a:r>
              <a:rPr lang="en-GB" sz="1600" dirty="0">
                <a:solidFill>
                  <a:schemeClr val="dk1"/>
                </a:solidFill>
              </a:rPr>
              <a:t>Jenkins. The core configuration files are stored in config.xml.</a:t>
            </a:r>
            <a:endParaRPr sz="1600" dirty="0"/>
          </a:p>
          <a:p>
            <a:pPr marL="0" marR="0" lvl="0" indent="0" algn="l" rtl="0">
              <a:lnSpc>
                <a:spcPct val="115000"/>
              </a:lnSpc>
              <a:spcBef>
                <a:spcPts val="0"/>
              </a:spcBef>
              <a:spcAft>
                <a:spcPts val="0"/>
              </a:spcAft>
              <a:buNone/>
            </a:pPr>
            <a:endParaRPr sz="16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None/>
            </a:pPr>
            <a:r>
              <a:rPr lang="en-GB" sz="1600" b="0" i="0" u="none" strike="noStrike" cap="none" dirty="0">
                <a:solidFill>
                  <a:srgbClr val="000000"/>
                </a:solidFill>
                <a:latin typeface="Arial"/>
                <a:ea typeface="Arial"/>
                <a:cs typeface="Arial"/>
                <a:sym typeface="Arial"/>
              </a:rPr>
              <a:t>It contains two important subdirectories: </a:t>
            </a:r>
            <a:r>
              <a:rPr lang="en-GB" sz="1600" b="1" i="0" u="none" strike="noStrike" cap="none" dirty="0">
                <a:solidFill>
                  <a:srgbClr val="FF0000"/>
                </a:solidFill>
              </a:rPr>
              <a:t>jobs and workspace</a:t>
            </a:r>
            <a:r>
              <a:rPr lang="en-GB" sz="1600" b="0" i="0" u="none" strike="noStrike" cap="none" dirty="0">
                <a:solidFill>
                  <a:srgbClr val="000000"/>
                </a:solidFill>
                <a:latin typeface="Arial"/>
                <a:ea typeface="Arial"/>
                <a:cs typeface="Arial"/>
                <a:sym typeface="Arial"/>
              </a:rPr>
              <a:t>.</a:t>
            </a:r>
            <a:endParaRPr sz="1600" dirty="0"/>
          </a:p>
          <a:p>
            <a:pPr marL="0" marR="0" lvl="0" indent="0" algn="l" rtl="0">
              <a:lnSpc>
                <a:spcPct val="115000"/>
              </a:lnSpc>
              <a:spcBef>
                <a:spcPts val="0"/>
              </a:spcBef>
              <a:spcAft>
                <a:spcPts val="0"/>
              </a:spcAft>
              <a:buNone/>
            </a:pPr>
            <a:r>
              <a:rPr lang="en-GB" sz="1600" b="0" i="0" u="none" strike="noStrike" cap="none" dirty="0">
                <a:solidFill>
                  <a:srgbClr val="000000"/>
                </a:solidFill>
                <a:latin typeface="Arial"/>
                <a:ea typeface="Arial"/>
                <a:cs typeface="Arial"/>
                <a:sym typeface="Arial"/>
              </a:rPr>
              <a:t>Jobs directory contains configuration details of </a:t>
            </a:r>
            <a:r>
              <a:rPr lang="en-GB" sz="1600" dirty="0"/>
              <a:t>the </a:t>
            </a:r>
            <a:r>
              <a:rPr lang="en-GB" sz="1600" b="0" i="0" u="none" strike="noStrike" cap="none" dirty="0">
                <a:solidFill>
                  <a:srgbClr val="000000"/>
                </a:solidFill>
                <a:latin typeface="Arial"/>
                <a:ea typeface="Arial"/>
                <a:cs typeface="Arial"/>
                <a:sym typeface="Arial"/>
              </a:rPr>
              <a:t>build job in config.xml file. </a:t>
            </a:r>
            <a:endParaRPr sz="1600" b="0" i="0" u="none" strike="noStrike" cap="none" dirty="0">
              <a:solidFill>
                <a:srgbClr val="000000"/>
              </a:solidFill>
              <a:latin typeface="Arial"/>
              <a:ea typeface="Arial"/>
              <a:cs typeface="Arial"/>
              <a:sym typeface="Arial"/>
            </a:endParaRPr>
          </a:p>
          <a:p>
            <a:pPr marL="0" marR="0" lvl="0" indent="0" algn="l" rtl="0">
              <a:lnSpc>
                <a:spcPct val="115000"/>
              </a:lnSpc>
              <a:spcBef>
                <a:spcPts val="0"/>
              </a:spcBef>
              <a:spcAft>
                <a:spcPts val="0"/>
              </a:spcAft>
              <a:buNone/>
            </a:pPr>
            <a:r>
              <a:rPr lang="en-GB" sz="1600" b="0" i="0" u="none" strike="noStrike" cap="none" dirty="0">
                <a:solidFill>
                  <a:srgbClr val="000000"/>
                </a:solidFill>
                <a:latin typeface="Arial"/>
                <a:ea typeface="Arial"/>
                <a:cs typeface="Arial"/>
                <a:sym typeface="Arial"/>
              </a:rPr>
              <a:t>Jenkins builds the given project in the workspace directory. Each project has its own directory in the workspace.</a:t>
            </a:r>
            <a:endParaRPr sz="16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7867679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368;g25c0f4a8d55_0_220">
            <a:extLst>
              <a:ext uri="{FF2B5EF4-FFF2-40B4-BE49-F238E27FC236}">
                <a16:creationId xmlns:a16="http://schemas.microsoft.com/office/drawing/2014/main" id="{65030616-24B5-65B4-DFF8-F41B8449122B}"/>
              </a:ext>
            </a:extLst>
          </p:cNvPr>
          <p:cNvSpPr txBox="1">
            <a:spLocks/>
          </p:cNvSpPr>
          <p:nvPr/>
        </p:nvSpPr>
        <p:spPr>
          <a:xfrm>
            <a:off x="2099759" y="1409362"/>
            <a:ext cx="7112700"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US" sz="4000"/>
              <a:t>Click to Create a Job</a:t>
            </a:r>
          </a:p>
        </p:txBody>
      </p:sp>
      <p:pic>
        <p:nvPicPr>
          <p:cNvPr id="10" name="Google Shape;1369;g25c0f4a8d55_0_220">
            <a:extLst>
              <a:ext uri="{FF2B5EF4-FFF2-40B4-BE49-F238E27FC236}">
                <a16:creationId xmlns:a16="http://schemas.microsoft.com/office/drawing/2014/main" id="{6D9348C9-B9C8-12CD-1298-E22AB27FCB7D}"/>
              </a:ext>
            </a:extLst>
          </p:cNvPr>
          <p:cNvPicPr preferRelativeResize="0"/>
          <p:nvPr/>
        </p:nvPicPr>
        <p:blipFill rotWithShape="1">
          <a:blip r:embed="rId6">
            <a:alphaModFix/>
          </a:blip>
          <a:srcRect/>
          <a:stretch/>
        </p:blipFill>
        <p:spPr>
          <a:xfrm>
            <a:off x="1393671" y="2700008"/>
            <a:ext cx="8524875" cy="2626279"/>
          </a:xfrm>
          <a:prstGeom prst="rect">
            <a:avLst/>
          </a:prstGeom>
          <a:noFill/>
          <a:ln w="19050" cap="flat" cmpd="sng">
            <a:solidFill>
              <a:srgbClr val="999999"/>
            </a:solidFill>
            <a:prstDash val="solid"/>
            <a:round/>
            <a:headEnd type="none" w="sm" len="sm"/>
            <a:tailEnd type="none" w="sm" len="sm"/>
          </a:ln>
        </p:spPr>
      </p:pic>
      <p:cxnSp>
        <p:nvCxnSpPr>
          <p:cNvPr id="11" name="Google Shape;1370;g25c0f4a8d55_0_220">
            <a:extLst>
              <a:ext uri="{FF2B5EF4-FFF2-40B4-BE49-F238E27FC236}">
                <a16:creationId xmlns:a16="http://schemas.microsoft.com/office/drawing/2014/main" id="{FBADD930-3B1E-1454-5C7F-F228F09FFE8F}"/>
              </a:ext>
            </a:extLst>
          </p:cNvPr>
          <p:cNvCxnSpPr/>
          <p:nvPr/>
        </p:nvCxnSpPr>
        <p:spPr>
          <a:xfrm>
            <a:off x="3897007" y="4325943"/>
            <a:ext cx="872700" cy="405300"/>
          </a:xfrm>
          <a:prstGeom prst="straightConnector1">
            <a:avLst/>
          </a:prstGeom>
          <a:noFill/>
          <a:ln w="38100" cap="flat" cmpd="sng">
            <a:solidFill>
              <a:srgbClr val="C55A11"/>
            </a:solidFill>
            <a:prstDash val="solid"/>
            <a:round/>
            <a:headEnd type="none" w="sm" len="sm"/>
            <a:tailEnd type="triangle" w="med" len="med"/>
          </a:ln>
        </p:spPr>
      </p:cxnSp>
    </p:spTree>
    <p:extLst>
      <p:ext uri="{BB962C8B-B14F-4D97-AF65-F5344CB8AC3E}">
        <p14:creationId xmlns:p14="http://schemas.microsoft.com/office/powerpoint/2010/main" val="38509801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376;g25c0f4a8d55_0_227">
            <a:extLst>
              <a:ext uri="{FF2B5EF4-FFF2-40B4-BE49-F238E27FC236}">
                <a16:creationId xmlns:a16="http://schemas.microsoft.com/office/drawing/2014/main" id="{B7456A87-E5D5-BE26-C388-F0AD398D26CC}"/>
              </a:ext>
            </a:extLst>
          </p:cNvPr>
          <p:cNvSpPr txBox="1">
            <a:spLocks/>
          </p:cNvSpPr>
          <p:nvPr/>
        </p:nvSpPr>
        <p:spPr>
          <a:xfrm>
            <a:off x="2289999" y="1613908"/>
            <a:ext cx="7112700"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US" sz="4000"/>
              <a:t>Enter Project Name and Choose Freestyle Project</a:t>
            </a:r>
          </a:p>
        </p:txBody>
      </p:sp>
      <p:pic>
        <p:nvPicPr>
          <p:cNvPr id="10" name="Google Shape;1377;g25c0f4a8d55_0_227">
            <a:extLst>
              <a:ext uri="{FF2B5EF4-FFF2-40B4-BE49-F238E27FC236}">
                <a16:creationId xmlns:a16="http://schemas.microsoft.com/office/drawing/2014/main" id="{859B097E-E319-4A23-B7EA-AC6BE8539567}"/>
              </a:ext>
            </a:extLst>
          </p:cNvPr>
          <p:cNvPicPr preferRelativeResize="0"/>
          <p:nvPr/>
        </p:nvPicPr>
        <p:blipFill rotWithShape="1">
          <a:blip r:embed="rId6">
            <a:alphaModFix/>
          </a:blip>
          <a:srcRect/>
          <a:stretch/>
        </p:blipFill>
        <p:spPr>
          <a:xfrm>
            <a:off x="2014105" y="2403428"/>
            <a:ext cx="8163790" cy="4099192"/>
          </a:xfrm>
          <a:prstGeom prst="rect">
            <a:avLst/>
          </a:prstGeom>
          <a:noFill/>
          <a:ln w="19050" cap="flat" cmpd="sng">
            <a:solidFill>
              <a:srgbClr val="999999"/>
            </a:solidFill>
            <a:prstDash val="solid"/>
            <a:round/>
            <a:headEnd type="none" w="sm" len="sm"/>
            <a:tailEnd type="none" w="sm" len="sm"/>
          </a:ln>
        </p:spPr>
      </p:pic>
    </p:spTree>
    <p:extLst>
      <p:ext uri="{BB962C8B-B14F-4D97-AF65-F5344CB8AC3E}">
        <p14:creationId xmlns:p14="http://schemas.microsoft.com/office/powerpoint/2010/main" val="688074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383;g25c0f4a8d55_0_233">
            <a:extLst>
              <a:ext uri="{FF2B5EF4-FFF2-40B4-BE49-F238E27FC236}">
                <a16:creationId xmlns:a16="http://schemas.microsoft.com/office/drawing/2014/main" id="{0E3056B3-2B9D-227E-4D3D-35545A1E6380}"/>
              </a:ext>
            </a:extLst>
          </p:cNvPr>
          <p:cNvSpPr txBox="1">
            <a:spLocks/>
          </p:cNvSpPr>
          <p:nvPr/>
        </p:nvSpPr>
        <p:spPr>
          <a:xfrm>
            <a:off x="2089247" y="1388462"/>
            <a:ext cx="8013505"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GB" sz="4000" dirty="0"/>
              <a:t>Example: HelloWorld Python Program</a:t>
            </a:r>
          </a:p>
        </p:txBody>
      </p:sp>
      <p:pic>
        <p:nvPicPr>
          <p:cNvPr id="10" name="Google Shape;1384;g25c0f4a8d55_0_233">
            <a:extLst>
              <a:ext uri="{FF2B5EF4-FFF2-40B4-BE49-F238E27FC236}">
                <a16:creationId xmlns:a16="http://schemas.microsoft.com/office/drawing/2014/main" id="{219C68E2-F31E-1CDC-5FEB-E0113690488D}"/>
              </a:ext>
            </a:extLst>
          </p:cNvPr>
          <p:cNvPicPr preferRelativeResize="0"/>
          <p:nvPr/>
        </p:nvPicPr>
        <p:blipFill>
          <a:blip r:embed="rId6">
            <a:alphaModFix/>
          </a:blip>
          <a:stretch>
            <a:fillRect/>
          </a:stretch>
        </p:blipFill>
        <p:spPr>
          <a:xfrm>
            <a:off x="1681809" y="2417008"/>
            <a:ext cx="8839200" cy="3962601"/>
          </a:xfrm>
          <a:prstGeom prst="rect">
            <a:avLst/>
          </a:prstGeom>
          <a:noFill/>
          <a:ln>
            <a:noFill/>
          </a:ln>
        </p:spPr>
      </p:pic>
    </p:spTree>
    <p:extLst>
      <p:ext uri="{BB962C8B-B14F-4D97-AF65-F5344CB8AC3E}">
        <p14:creationId xmlns:p14="http://schemas.microsoft.com/office/powerpoint/2010/main" val="12514954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390;g25c0f4a8d55_0_239">
            <a:extLst>
              <a:ext uri="{FF2B5EF4-FFF2-40B4-BE49-F238E27FC236}">
                <a16:creationId xmlns:a16="http://schemas.microsoft.com/office/drawing/2014/main" id="{9541B96B-6D40-B810-3495-F55020CC1D22}"/>
              </a:ext>
            </a:extLst>
          </p:cNvPr>
          <p:cNvSpPr txBox="1">
            <a:spLocks/>
          </p:cNvSpPr>
          <p:nvPr/>
        </p:nvSpPr>
        <p:spPr>
          <a:xfrm>
            <a:off x="2145479" y="1369672"/>
            <a:ext cx="3735900"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GB" sz="4000"/>
              <a:t>Build the Project</a:t>
            </a:r>
          </a:p>
        </p:txBody>
      </p:sp>
      <p:pic>
        <p:nvPicPr>
          <p:cNvPr id="10" name="Google Shape;1391;g25c0f4a8d55_0_239">
            <a:extLst>
              <a:ext uri="{FF2B5EF4-FFF2-40B4-BE49-F238E27FC236}">
                <a16:creationId xmlns:a16="http://schemas.microsoft.com/office/drawing/2014/main" id="{6730246D-14A0-37BB-9A55-104E776B818C}"/>
              </a:ext>
            </a:extLst>
          </p:cNvPr>
          <p:cNvPicPr preferRelativeResize="0"/>
          <p:nvPr/>
        </p:nvPicPr>
        <p:blipFill>
          <a:blip r:embed="rId6">
            <a:alphaModFix/>
          </a:blip>
          <a:stretch>
            <a:fillRect/>
          </a:stretch>
        </p:blipFill>
        <p:spPr>
          <a:xfrm>
            <a:off x="1676400" y="2024216"/>
            <a:ext cx="8839199" cy="3952925"/>
          </a:xfrm>
          <a:prstGeom prst="rect">
            <a:avLst/>
          </a:prstGeom>
          <a:noFill/>
          <a:ln>
            <a:noFill/>
          </a:ln>
        </p:spPr>
      </p:pic>
    </p:spTree>
    <p:extLst>
      <p:ext uri="{BB962C8B-B14F-4D97-AF65-F5344CB8AC3E}">
        <p14:creationId xmlns:p14="http://schemas.microsoft.com/office/powerpoint/2010/main" val="20027069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1397;g25c0f4a8d55_0_245">
            <a:extLst>
              <a:ext uri="{FF2B5EF4-FFF2-40B4-BE49-F238E27FC236}">
                <a16:creationId xmlns:a16="http://schemas.microsoft.com/office/drawing/2014/main" id="{99122240-8B2D-4FDC-F90C-5A60786FEB01}"/>
              </a:ext>
            </a:extLst>
          </p:cNvPr>
          <p:cNvSpPr txBox="1">
            <a:spLocks/>
          </p:cNvSpPr>
          <p:nvPr/>
        </p:nvSpPr>
        <p:spPr>
          <a:xfrm>
            <a:off x="2243958" y="1409362"/>
            <a:ext cx="7112700" cy="382500"/>
          </a:xfrm>
          <a:prstGeom prst="rect">
            <a:avLst/>
          </a:prstGeom>
          <a:noFill/>
          <a:ln>
            <a:noFill/>
          </a:ln>
        </p:spPr>
        <p:txBody>
          <a:bodyPr spcFirstLastPara="1" wrap="square" lIns="91425" tIns="45700" rIns="91425" bIns="4570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lt1"/>
              </a:buClr>
              <a:buSzPts val="2400"/>
              <a:buFont typeface="Proxima Nova"/>
              <a:buNone/>
            </a:pPr>
            <a:r>
              <a:rPr lang="en-GB" sz="4000" dirty="0"/>
              <a:t>Console Output</a:t>
            </a:r>
          </a:p>
        </p:txBody>
      </p:sp>
      <p:pic>
        <p:nvPicPr>
          <p:cNvPr id="10" name="Google Shape;1398;g25c0f4a8d55_0_245">
            <a:extLst>
              <a:ext uri="{FF2B5EF4-FFF2-40B4-BE49-F238E27FC236}">
                <a16:creationId xmlns:a16="http://schemas.microsoft.com/office/drawing/2014/main" id="{E2B24F75-0C97-318A-5694-77D7494516EB}"/>
              </a:ext>
            </a:extLst>
          </p:cNvPr>
          <p:cNvPicPr preferRelativeResize="0"/>
          <p:nvPr/>
        </p:nvPicPr>
        <p:blipFill rotWithShape="1">
          <a:blip r:embed="rId6">
            <a:alphaModFix/>
          </a:blip>
          <a:srcRect/>
          <a:stretch/>
        </p:blipFill>
        <p:spPr>
          <a:xfrm>
            <a:off x="1576781" y="2312053"/>
            <a:ext cx="8715375" cy="3533775"/>
          </a:xfrm>
          <a:prstGeom prst="rect">
            <a:avLst/>
          </a:prstGeom>
          <a:noFill/>
          <a:ln w="19050" cap="flat" cmpd="sng">
            <a:solidFill>
              <a:srgbClr val="999999"/>
            </a:solidFill>
            <a:prstDash val="solid"/>
            <a:round/>
            <a:headEnd type="none" w="sm" len="sm"/>
            <a:tailEnd type="none" w="sm" len="sm"/>
          </a:ln>
        </p:spPr>
      </p:pic>
    </p:spTree>
    <p:extLst>
      <p:ext uri="{BB962C8B-B14F-4D97-AF65-F5344CB8AC3E}">
        <p14:creationId xmlns:p14="http://schemas.microsoft.com/office/powerpoint/2010/main" val="41720664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Thank You!</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wrap="square" lIns="121900" tIns="60933" rIns="121900" bIns="60933" anchor="ctr" anchorCtr="0">
            <a:noAutofit/>
          </a:bodyPr>
          <a:lstStyle/>
          <a:p>
            <a:fld id="{00000000-1234-1234-1234-123412341234}" type="slidenum">
              <a:rPr lang="en-IN">
                <a:solidFill>
                  <a:srgbClr val="FF0000"/>
                </a:solidFill>
                <a:latin typeface="Proxima Nova"/>
                <a:ea typeface="Proxima Nova"/>
                <a:cs typeface="Proxima Nova"/>
                <a:sym typeface="Proxima Nova"/>
              </a:rPr>
              <a:pPr/>
              <a:t>53</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1737</Words>
  <Application>Microsoft Office PowerPoint</Application>
  <PresentationFormat>Widescreen</PresentationFormat>
  <Paragraphs>287</Paragraphs>
  <Slides>53</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Arial</vt:lpstr>
      <vt:lpstr>Calibri</vt:lpstr>
      <vt:lpstr>Calibri Light</vt:lpstr>
      <vt:lpstr>Lato</vt:lpstr>
      <vt:lpstr>Noto Sans Symbols</vt:lpstr>
      <vt:lpstr>Proxima Nova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Janvi Jannet</dc:creator>
  <cp:lastModifiedBy>Janvi Jannet</cp:lastModifiedBy>
  <cp:revision>2</cp:revision>
  <dcterms:created xsi:type="dcterms:W3CDTF">2024-07-22T11:53:29Z</dcterms:created>
  <dcterms:modified xsi:type="dcterms:W3CDTF">2024-07-23T05:51:49Z</dcterms:modified>
</cp:coreProperties>
</file>