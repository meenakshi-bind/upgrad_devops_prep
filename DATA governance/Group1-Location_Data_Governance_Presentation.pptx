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8203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349"/>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0D7B6E"/>
          </a:solidFill>
          <a:ln/>
        </p:spPr>
        <p:txBody>
          <a:bodyPr/>
          <a:lstStyle/>
          <a:p>
            <a:endParaRPr lang="en-IE"/>
          </a:p>
        </p:txBody>
      </p:sp>
      <p:sp>
        <p:nvSpPr>
          <p:cNvPr id="3" name="Text 1"/>
          <p:cNvSpPr/>
          <p:nvPr/>
        </p:nvSpPr>
        <p:spPr>
          <a:xfrm>
            <a:off x="457200" y="228600"/>
            <a:ext cx="8229600" cy="640080"/>
          </a:xfrm>
          <a:prstGeom prst="rect">
            <a:avLst/>
          </a:prstGeom>
          <a:noFill/>
          <a:ln/>
        </p:spPr>
        <p:txBody>
          <a:bodyPr wrap="square" rtlCol="0" anchor="ctr"/>
          <a:lstStyle/>
          <a:p>
            <a:pPr marL="0" indent="0" algn="l">
              <a:buNone/>
            </a:pPr>
            <a:r>
              <a:rPr lang="en-US" sz="1300" b="1" kern="0" spc="400" dirty="0">
                <a:solidFill>
                  <a:srgbClr val="FFFFFF"/>
                </a:solidFill>
              </a:rPr>
              <a:t>PERSONAL LOCATION DATA</a:t>
            </a:r>
            <a:endParaRPr lang="en-US" sz="1300" dirty="0"/>
          </a:p>
        </p:txBody>
      </p:sp>
      <p:sp>
        <p:nvSpPr>
          <p:cNvPr id="4" name="Text 2"/>
          <p:cNvSpPr/>
          <p:nvPr/>
        </p:nvSpPr>
        <p:spPr>
          <a:xfrm>
            <a:off x="457200" y="1371600"/>
            <a:ext cx="8229600" cy="1097280"/>
          </a:xfrm>
          <a:prstGeom prst="rect">
            <a:avLst/>
          </a:prstGeom>
          <a:noFill/>
          <a:ln/>
        </p:spPr>
        <p:txBody>
          <a:bodyPr wrap="square" rtlCol="0" anchor="ctr"/>
          <a:lstStyle/>
          <a:p>
            <a:pPr marL="0" indent="0" algn="l">
              <a:buNone/>
            </a:pPr>
            <a:r>
              <a:rPr lang="en-US" sz="3800" b="1" dirty="0">
                <a:solidFill>
                  <a:srgbClr val="FFFFFF"/>
                </a:solidFill>
              </a:rPr>
              <a:t>Ethics, Challenges &amp; Governance</a:t>
            </a:r>
            <a:endParaRPr lang="en-US" sz="3800" dirty="0"/>
          </a:p>
        </p:txBody>
      </p:sp>
      <p:sp>
        <p:nvSpPr>
          <p:cNvPr id="5" name="Text 3"/>
          <p:cNvSpPr/>
          <p:nvPr/>
        </p:nvSpPr>
        <p:spPr>
          <a:xfrm>
            <a:off x="457200" y="2743200"/>
            <a:ext cx="8229600" cy="914400"/>
          </a:xfrm>
          <a:prstGeom prst="rect">
            <a:avLst/>
          </a:prstGeom>
          <a:noFill/>
          <a:ln/>
        </p:spPr>
        <p:txBody>
          <a:bodyPr wrap="square" rtlCol="0" anchor="ctr"/>
          <a:lstStyle/>
          <a:p>
            <a:pPr marL="0" indent="0" algn="l">
              <a:buNone/>
            </a:pPr>
            <a:r>
              <a:rPr lang="en-US" sz="1300" dirty="0">
                <a:solidFill>
                  <a:srgbClr val="A0C4BE"/>
                </a:solidFill>
              </a:rPr>
              <a:t>Based on: Royal Society &amp; British Academy</a:t>
            </a:r>
            <a:endParaRPr lang="en-US" sz="1300" dirty="0"/>
          </a:p>
          <a:p>
            <a:pPr marL="0" indent="0" algn="l">
              <a:buNone/>
            </a:pPr>
            <a:r>
              <a:rPr lang="en-US" sz="1300" dirty="0">
                <a:solidFill>
                  <a:srgbClr val="A0C4BE"/>
                </a:solidFill>
              </a:rPr>
              <a:t>Data Management and Use: Governance in the 21st Century</a:t>
            </a:r>
            <a:endParaRPr lang="en-US" sz="1300" dirty="0"/>
          </a:p>
          <a:p>
            <a:pPr marL="0" indent="0" algn="l">
              <a:buNone/>
            </a:pPr>
            <a:r>
              <a:rPr lang="en-US" sz="1300" dirty="0">
                <a:solidFill>
                  <a:srgbClr val="A0C4BE"/>
                </a:solidFill>
              </a:rPr>
              <a:t>Case Study 6 — Section 6</a:t>
            </a:r>
            <a:endParaRPr lang="en-US" sz="1300" dirty="0"/>
          </a:p>
        </p:txBody>
      </p:sp>
      <p:sp>
        <p:nvSpPr>
          <p:cNvPr id="6" name="Shape 4"/>
          <p:cNvSpPr/>
          <p:nvPr/>
        </p:nvSpPr>
        <p:spPr>
          <a:xfrm>
            <a:off x="457200" y="3840480"/>
            <a:ext cx="2743200" cy="54864"/>
          </a:xfrm>
          <a:prstGeom prst="rect">
            <a:avLst/>
          </a:prstGeom>
          <a:solidFill>
            <a:srgbClr val="E8A020"/>
          </a:solidFill>
          <a:ln/>
        </p:spPr>
        <p:txBody>
          <a:bodyPr/>
          <a:lstStyle/>
          <a:p>
            <a:endParaRPr lang="en-IE"/>
          </a:p>
        </p:txBody>
      </p:sp>
      <p:sp>
        <p:nvSpPr>
          <p:cNvPr id="7" name="Text 5"/>
          <p:cNvSpPr/>
          <p:nvPr/>
        </p:nvSpPr>
        <p:spPr>
          <a:xfrm>
            <a:off x="457200" y="4114800"/>
            <a:ext cx="8229600" cy="365760"/>
          </a:xfrm>
          <a:prstGeom prst="rect">
            <a:avLst/>
          </a:prstGeom>
          <a:noFill/>
          <a:ln/>
        </p:spPr>
        <p:txBody>
          <a:bodyPr wrap="square" rtlCol="0" anchor="ctr"/>
          <a:lstStyle/>
          <a:p>
            <a:pPr marL="0" indent="0" algn="l">
              <a:buNone/>
            </a:pPr>
            <a:r>
              <a:rPr lang="en-US" sz="1100" dirty="0">
                <a:solidFill>
                  <a:srgbClr val="7AACAA"/>
                </a:solidFill>
              </a:rPr>
              <a:t>Data Governance &amp; Ethics | Group Presentation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3349"/>
          </a:solidFill>
          <a:ln/>
        </p:spPr>
        <p:txBody>
          <a:bodyPr/>
          <a:lstStyle/>
          <a:p>
            <a:endParaRPr lang="en-IE"/>
          </a:p>
        </p:txBody>
      </p:sp>
      <p:sp>
        <p:nvSpPr>
          <p:cNvPr id="3" name="Text 1"/>
          <p:cNvSpPr/>
          <p:nvPr/>
        </p:nvSpPr>
        <p:spPr>
          <a:xfrm>
            <a:off x="457200" y="91440"/>
            <a:ext cx="8229600" cy="640080"/>
          </a:xfrm>
          <a:prstGeom prst="rect">
            <a:avLst/>
          </a:prstGeom>
          <a:noFill/>
          <a:ln/>
        </p:spPr>
        <p:txBody>
          <a:bodyPr wrap="square" rtlCol="0" anchor="ctr"/>
          <a:lstStyle/>
          <a:p>
            <a:pPr marL="0" indent="0">
              <a:buNone/>
            </a:pPr>
            <a:r>
              <a:rPr lang="en-US" sz="2400" b="1" dirty="0">
                <a:solidFill>
                  <a:srgbClr val="FFFFFF"/>
                </a:solidFill>
              </a:rPr>
              <a:t>Agenda</a:t>
            </a:r>
            <a:endParaRPr lang="en-US" sz="2400" dirty="0"/>
          </a:p>
        </p:txBody>
      </p:sp>
      <p:sp>
        <p:nvSpPr>
          <p:cNvPr id="4" name="Shape 2"/>
          <p:cNvSpPr/>
          <p:nvPr/>
        </p:nvSpPr>
        <p:spPr>
          <a:xfrm>
            <a:off x="274320" y="914400"/>
            <a:ext cx="2788920" cy="841248"/>
          </a:xfrm>
          <a:prstGeom prst="roundRect">
            <a:avLst>
              <a:gd name="adj" fmla="val 8696"/>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5" name="Shape 3"/>
          <p:cNvSpPr/>
          <p:nvPr/>
        </p:nvSpPr>
        <p:spPr>
          <a:xfrm>
            <a:off x="274320" y="914400"/>
            <a:ext cx="411480" cy="841248"/>
          </a:xfrm>
          <a:prstGeom prst="rect">
            <a:avLst/>
          </a:prstGeom>
          <a:solidFill>
            <a:srgbClr val="0D7B6E"/>
          </a:solidFill>
          <a:ln/>
        </p:spPr>
        <p:txBody>
          <a:bodyPr/>
          <a:lstStyle/>
          <a:p>
            <a:endParaRPr lang="en-IE"/>
          </a:p>
        </p:txBody>
      </p:sp>
      <p:sp>
        <p:nvSpPr>
          <p:cNvPr id="6" name="Text 4"/>
          <p:cNvSpPr/>
          <p:nvPr/>
        </p:nvSpPr>
        <p:spPr>
          <a:xfrm>
            <a:off x="283464" y="1097280"/>
            <a:ext cx="393192" cy="411480"/>
          </a:xfrm>
          <a:prstGeom prst="rect">
            <a:avLst/>
          </a:prstGeom>
          <a:noFill/>
          <a:ln/>
        </p:spPr>
        <p:txBody>
          <a:bodyPr wrap="square" rtlCol="0" anchor="ctr"/>
          <a:lstStyle/>
          <a:p>
            <a:pPr marL="0" indent="0" algn="ctr">
              <a:buNone/>
            </a:pPr>
            <a:r>
              <a:rPr lang="en-US" sz="1300" b="1" dirty="0">
                <a:solidFill>
                  <a:srgbClr val="FFFFFF"/>
                </a:solidFill>
              </a:rPr>
              <a:t>01</a:t>
            </a:r>
            <a:endParaRPr lang="en-US" sz="1300" dirty="0"/>
          </a:p>
        </p:txBody>
      </p:sp>
      <p:sp>
        <p:nvSpPr>
          <p:cNvPr id="7" name="Text 5"/>
          <p:cNvSpPr/>
          <p:nvPr/>
        </p:nvSpPr>
        <p:spPr>
          <a:xfrm>
            <a:off x="749808" y="969264"/>
            <a:ext cx="2240280" cy="347472"/>
          </a:xfrm>
          <a:prstGeom prst="rect">
            <a:avLst/>
          </a:prstGeom>
          <a:noFill/>
          <a:ln/>
        </p:spPr>
        <p:txBody>
          <a:bodyPr wrap="square" lIns="0" tIns="0" rIns="0" bIns="0" rtlCol="0" anchor="ctr"/>
          <a:lstStyle/>
          <a:p>
            <a:pPr marL="0" indent="0">
              <a:buNone/>
            </a:pPr>
            <a:r>
              <a:rPr lang="en-US" sz="1000" b="1" dirty="0">
                <a:solidFill>
                  <a:srgbClr val="0D3349"/>
                </a:solidFill>
              </a:rPr>
              <a:t>Introduction &amp; Paper Overview</a:t>
            </a:r>
            <a:endParaRPr lang="en-US" sz="1000" dirty="0"/>
          </a:p>
        </p:txBody>
      </p:sp>
      <p:sp>
        <p:nvSpPr>
          <p:cNvPr id="8" name="Text 6"/>
          <p:cNvSpPr/>
          <p:nvPr/>
        </p:nvSpPr>
        <p:spPr>
          <a:xfrm>
            <a:off x="749808" y="1389888"/>
            <a:ext cx="2240280" cy="310896"/>
          </a:xfrm>
          <a:prstGeom prst="rect">
            <a:avLst/>
          </a:prstGeom>
          <a:noFill/>
          <a:ln/>
        </p:spPr>
        <p:txBody>
          <a:bodyPr wrap="square" lIns="0" tIns="0" rIns="0" bIns="0" rtlCol="0" anchor="ctr"/>
          <a:lstStyle/>
          <a:p>
            <a:pPr marL="0" indent="0">
              <a:buNone/>
            </a:pPr>
            <a:r>
              <a:rPr lang="en-US" sz="850" dirty="0">
                <a:solidFill>
                  <a:srgbClr val="64748B"/>
                </a:solidFill>
              </a:rPr>
              <a:t>Who wrote it, in what context, and why it matters</a:t>
            </a:r>
            <a:endParaRPr lang="en-US" sz="850" dirty="0"/>
          </a:p>
        </p:txBody>
      </p:sp>
      <p:sp>
        <p:nvSpPr>
          <p:cNvPr id="9" name="Shape 7"/>
          <p:cNvSpPr/>
          <p:nvPr/>
        </p:nvSpPr>
        <p:spPr>
          <a:xfrm>
            <a:off x="3200400" y="914400"/>
            <a:ext cx="2788920" cy="841248"/>
          </a:xfrm>
          <a:prstGeom prst="roundRect">
            <a:avLst>
              <a:gd name="adj" fmla="val 8696"/>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10" name="Shape 8"/>
          <p:cNvSpPr/>
          <p:nvPr/>
        </p:nvSpPr>
        <p:spPr>
          <a:xfrm>
            <a:off x="3200400" y="914400"/>
            <a:ext cx="411480" cy="841248"/>
          </a:xfrm>
          <a:prstGeom prst="rect">
            <a:avLst/>
          </a:prstGeom>
          <a:solidFill>
            <a:srgbClr val="0D7B6E"/>
          </a:solidFill>
          <a:ln/>
        </p:spPr>
        <p:txBody>
          <a:bodyPr/>
          <a:lstStyle/>
          <a:p>
            <a:endParaRPr lang="en-IE"/>
          </a:p>
        </p:txBody>
      </p:sp>
      <p:sp>
        <p:nvSpPr>
          <p:cNvPr id="11" name="Text 9"/>
          <p:cNvSpPr/>
          <p:nvPr/>
        </p:nvSpPr>
        <p:spPr>
          <a:xfrm>
            <a:off x="3209544" y="1097280"/>
            <a:ext cx="393192" cy="411480"/>
          </a:xfrm>
          <a:prstGeom prst="rect">
            <a:avLst/>
          </a:prstGeom>
          <a:noFill/>
          <a:ln/>
        </p:spPr>
        <p:txBody>
          <a:bodyPr wrap="square" rtlCol="0" anchor="ctr"/>
          <a:lstStyle/>
          <a:p>
            <a:pPr marL="0" indent="0" algn="ctr">
              <a:buNone/>
            </a:pPr>
            <a:r>
              <a:rPr lang="en-US" sz="1300" b="1" dirty="0">
                <a:solidFill>
                  <a:srgbClr val="FFFFFF"/>
                </a:solidFill>
              </a:rPr>
              <a:t>02</a:t>
            </a:r>
            <a:endParaRPr lang="en-US" sz="1300" dirty="0"/>
          </a:p>
        </p:txBody>
      </p:sp>
      <p:sp>
        <p:nvSpPr>
          <p:cNvPr id="12" name="Text 10"/>
          <p:cNvSpPr/>
          <p:nvPr/>
        </p:nvSpPr>
        <p:spPr>
          <a:xfrm>
            <a:off x="3675888" y="969264"/>
            <a:ext cx="2240280" cy="347472"/>
          </a:xfrm>
          <a:prstGeom prst="rect">
            <a:avLst/>
          </a:prstGeom>
          <a:noFill/>
          <a:ln/>
        </p:spPr>
        <p:txBody>
          <a:bodyPr wrap="square" lIns="0" tIns="0" rIns="0" bIns="0" rtlCol="0" anchor="ctr"/>
          <a:lstStyle/>
          <a:p>
            <a:pPr marL="0" indent="0">
              <a:buNone/>
            </a:pPr>
            <a:r>
              <a:rPr lang="en-US" sz="1000" b="1" dirty="0">
                <a:solidFill>
                  <a:srgbClr val="0D3349"/>
                </a:solidFill>
              </a:rPr>
              <a:t>Self-Tracking Modes</a:t>
            </a:r>
            <a:endParaRPr lang="en-US" sz="1000" dirty="0"/>
          </a:p>
        </p:txBody>
      </p:sp>
      <p:sp>
        <p:nvSpPr>
          <p:cNvPr id="13" name="Text 11"/>
          <p:cNvSpPr/>
          <p:nvPr/>
        </p:nvSpPr>
        <p:spPr>
          <a:xfrm>
            <a:off x="3675888" y="1389888"/>
            <a:ext cx="2240280" cy="310896"/>
          </a:xfrm>
          <a:prstGeom prst="rect">
            <a:avLst/>
          </a:prstGeom>
          <a:noFill/>
          <a:ln/>
        </p:spPr>
        <p:txBody>
          <a:bodyPr wrap="square" lIns="0" tIns="0" rIns="0" bIns="0" rtlCol="0" anchor="ctr"/>
          <a:lstStyle/>
          <a:p>
            <a:pPr marL="0" indent="0">
              <a:buNone/>
            </a:pPr>
            <a:r>
              <a:rPr lang="en-US" sz="850" dirty="0">
                <a:solidFill>
                  <a:srgbClr val="64748B"/>
                </a:solidFill>
              </a:rPr>
              <a:t>Five categories of location tracking &amp; their implications</a:t>
            </a:r>
            <a:endParaRPr lang="en-US" sz="850" dirty="0"/>
          </a:p>
        </p:txBody>
      </p:sp>
      <p:sp>
        <p:nvSpPr>
          <p:cNvPr id="14" name="Shape 12"/>
          <p:cNvSpPr/>
          <p:nvPr/>
        </p:nvSpPr>
        <p:spPr>
          <a:xfrm>
            <a:off x="6126480" y="914400"/>
            <a:ext cx="2788920" cy="841248"/>
          </a:xfrm>
          <a:prstGeom prst="roundRect">
            <a:avLst>
              <a:gd name="adj" fmla="val 8696"/>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15" name="Shape 13"/>
          <p:cNvSpPr/>
          <p:nvPr/>
        </p:nvSpPr>
        <p:spPr>
          <a:xfrm>
            <a:off x="6126480" y="914400"/>
            <a:ext cx="411480" cy="841248"/>
          </a:xfrm>
          <a:prstGeom prst="rect">
            <a:avLst/>
          </a:prstGeom>
          <a:solidFill>
            <a:srgbClr val="0D7B6E"/>
          </a:solidFill>
          <a:ln/>
        </p:spPr>
        <p:txBody>
          <a:bodyPr/>
          <a:lstStyle/>
          <a:p>
            <a:endParaRPr lang="en-IE"/>
          </a:p>
        </p:txBody>
      </p:sp>
      <p:sp>
        <p:nvSpPr>
          <p:cNvPr id="16" name="Text 14"/>
          <p:cNvSpPr/>
          <p:nvPr/>
        </p:nvSpPr>
        <p:spPr>
          <a:xfrm>
            <a:off x="6135624" y="1097280"/>
            <a:ext cx="393192" cy="411480"/>
          </a:xfrm>
          <a:prstGeom prst="rect">
            <a:avLst/>
          </a:prstGeom>
          <a:noFill/>
          <a:ln/>
        </p:spPr>
        <p:txBody>
          <a:bodyPr wrap="square" rtlCol="0" anchor="ctr"/>
          <a:lstStyle/>
          <a:p>
            <a:pPr marL="0" indent="0" algn="ctr">
              <a:buNone/>
            </a:pPr>
            <a:r>
              <a:rPr lang="en-US" sz="1300" b="1" dirty="0">
                <a:solidFill>
                  <a:srgbClr val="FFFFFF"/>
                </a:solidFill>
              </a:rPr>
              <a:t>03</a:t>
            </a:r>
            <a:endParaRPr lang="en-US" sz="1300" dirty="0"/>
          </a:p>
        </p:txBody>
      </p:sp>
      <p:sp>
        <p:nvSpPr>
          <p:cNvPr id="17" name="Text 15"/>
          <p:cNvSpPr/>
          <p:nvPr/>
        </p:nvSpPr>
        <p:spPr>
          <a:xfrm>
            <a:off x="6601968" y="969264"/>
            <a:ext cx="2240280" cy="347472"/>
          </a:xfrm>
          <a:prstGeom prst="rect">
            <a:avLst/>
          </a:prstGeom>
          <a:noFill/>
          <a:ln/>
        </p:spPr>
        <p:txBody>
          <a:bodyPr wrap="square" lIns="0" tIns="0" rIns="0" bIns="0" rtlCol="0" anchor="ctr"/>
          <a:lstStyle/>
          <a:p>
            <a:pPr marL="0" indent="0">
              <a:buNone/>
            </a:pPr>
            <a:r>
              <a:rPr lang="en-US" sz="1000" b="1" dirty="0">
                <a:solidFill>
                  <a:srgbClr val="0D3349"/>
                </a:solidFill>
              </a:rPr>
              <a:t>Opportunities</a:t>
            </a:r>
            <a:endParaRPr lang="en-US" sz="1000" dirty="0"/>
          </a:p>
        </p:txBody>
      </p:sp>
      <p:sp>
        <p:nvSpPr>
          <p:cNvPr id="18" name="Text 16"/>
          <p:cNvSpPr/>
          <p:nvPr/>
        </p:nvSpPr>
        <p:spPr>
          <a:xfrm>
            <a:off x="6601968" y="1389888"/>
            <a:ext cx="2240280" cy="310896"/>
          </a:xfrm>
          <a:prstGeom prst="rect">
            <a:avLst/>
          </a:prstGeom>
          <a:noFill/>
          <a:ln/>
        </p:spPr>
        <p:txBody>
          <a:bodyPr wrap="square" lIns="0" tIns="0" rIns="0" bIns="0" rtlCol="0" anchor="ctr"/>
          <a:lstStyle/>
          <a:p>
            <a:pPr marL="0" indent="0">
              <a:buNone/>
            </a:pPr>
            <a:r>
              <a:rPr lang="en-US" sz="850" dirty="0">
                <a:solidFill>
                  <a:srgbClr val="64748B"/>
                </a:solidFill>
              </a:rPr>
              <a:t>Evidence-based planning, smart cities &amp; data-driven services</a:t>
            </a:r>
            <a:endParaRPr lang="en-US" sz="850" dirty="0"/>
          </a:p>
        </p:txBody>
      </p:sp>
      <p:sp>
        <p:nvSpPr>
          <p:cNvPr id="19" name="Shape 17"/>
          <p:cNvSpPr/>
          <p:nvPr/>
        </p:nvSpPr>
        <p:spPr>
          <a:xfrm>
            <a:off x="274320" y="1920240"/>
            <a:ext cx="2788920" cy="841248"/>
          </a:xfrm>
          <a:prstGeom prst="roundRect">
            <a:avLst>
              <a:gd name="adj" fmla="val 8696"/>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20" name="Shape 18"/>
          <p:cNvSpPr/>
          <p:nvPr/>
        </p:nvSpPr>
        <p:spPr>
          <a:xfrm>
            <a:off x="274320" y="1920240"/>
            <a:ext cx="411480" cy="841248"/>
          </a:xfrm>
          <a:prstGeom prst="rect">
            <a:avLst/>
          </a:prstGeom>
          <a:solidFill>
            <a:srgbClr val="0D7B6E"/>
          </a:solidFill>
          <a:ln/>
        </p:spPr>
        <p:txBody>
          <a:bodyPr/>
          <a:lstStyle/>
          <a:p>
            <a:endParaRPr lang="en-IE"/>
          </a:p>
        </p:txBody>
      </p:sp>
      <p:sp>
        <p:nvSpPr>
          <p:cNvPr id="21" name="Text 19"/>
          <p:cNvSpPr/>
          <p:nvPr/>
        </p:nvSpPr>
        <p:spPr>
          <a:xfrm>
            <a:off x="283464" y="2103120"/>
            <a:ext cx="393192" cy="411480"/>
          </a:xfrm>
          <a:prstGeom prst="rect">
            <a:avLst/>
          </a:prstGeom>
          <a:noFill/>
          <a:ln/>
        </p:spPr>
        <p:txBody>
          <a:bodyPr wrap="square" rtlCol="0" anchor="ctr"/>
          <a:lstStyle/>
          <a:p>
            <a:pPr marL="0" indent="0" algn="ctr">
              <a:buNone/>
            </a:pPr>
            <a:r>
              <a:rPr lang="en-US" sz="1300" b="1" dirty="0">
                <a:solidFill>
                  <a:srgbClr val="FFFFFF"/>
                </a:solidFill>
              </a:rPr>
              <a:t>04</a:t>
            </a:r>
            <a:endParaRPr lang="en-US" sz="1300" dirty="0"/>
          </a:p>
        </p:txBody>
      </p:sp>
      <p:sp>
        <p:nvSpPr>
          <p:cNvPr id="22" name="Text 20"/>
          <p:cNvSpPr/>
          <p:nvPr/>
        </p:nvSpPr>
        <p:spPr>
          <a:xfrm>
            <a:off x="749808" y="1975104"/>
            <a:ext cx="2240280" cy="347472"/>
          </a:xfrm>
          <a:prstGeom prst="rect">
            <a:avLst/>
          </a:prstGeom>
          <a:noFill/>
          <a:ln/>
        </p:spPr>
        <p:txBody>
          <a:bodyPr wrap="square" lIns="0" tIns="0" rIns="0" bIns="0" rtlCol="0" anchor="ctr"/>
          <a:lstStyle/>
          <a:p>
            <a:pPr marL="0" indent="0">
              <a:buNone/>
            </a:pPr>
            <a:r>
              <a:rPr lang="en-US" sz="1000" b="1" dirty="0">
                <a:solidFill>
                  <a:srgbClr val="0D3349"/>
                </a:solidFill>
              </a:rPr>
              <a:t>Three Core Discussion Topics</a:t>
            </a:r>
            <a:endParaRPr lang="en-US" sz="1000" dirty="0"/>
          </a:p>
        </p:txBody>
      </p:sp>
      <p:sp>
        <p:nvSpPr>
          <p:cNvPr id="23" name="Text 21"/>
          <p:cNvSpPr/>
          <p:nvPr/>
        </p:nvSpPr>
        <p:spPr>
          <a:xfrm>
            <a:off x="749808" y="2395728"/>
            <a:ext cx="2240280" cy="310896"/>
          </a:xfrm>
          <a:prstGeom prst="rect">
            <a:avLst/>
          </a:prstGeom>
          <a:noFill/>
          <a:ln/>
        </p:spPr>
        <p:txBody>
          <a:bodyPr wrap="square" lIns="0" tIns="0" rIns="0" bIns="0" rtlCol="0" anchor="ctr"/>
          <a:lstStyle/>
          <a:p>
            <a:pPr marL="0" indent="0">
              <a:buNone/>
            </a:pPr>
            <a:r>
              <a:rPr lang="en-US" sz="850" dirty="0">
                <a:solidFill>
                  <a:srgbClr val="64748B"/>
                </a:solidFill>
              </a:rPr>
              <a:t>Re-identification, consent, and feedback effects / bias</a:t>
            </a:r>
            <a:endParaRPr lang="en-US" sz="850" dirty="0"/>
          </a:p>
        </p:txBody>
      </p:sp>
      <p:sp>
        <p:nvSpPr>
          <p:cNvPr id="24" name="Shape 22"/>
          <p:cNvSpPr/>
          <p:nvPr/>
        </p:nvSpPr>
        <p:spPr>
          <a:xfrm>
            <a:off x="3200400" y="1920240"/>
            <a:ext cx="2788920" cy="841248"/>
          </a:xfrm>
          <a:prstGeom prst="roundRect">
            <a:avLst>
              <a:gd name="adj" fmla="val 8696"/>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25" name="Shape 23"/>
          <p:cNvSpPr/>
          <p:nvPr/>
        </p:nvSpPr>
        <p:spPr>
          <a:xfrm>
            <a:off x="3200400" y="1920240"/>
            <a:ext cx="411480" cy="841248"/>
          </a:xfrm>
          <a:prstGeom prst="rect">
            <a:avLst/>
          </a:prstGeom>
          <a:solidFill>
            <a:srgbClr val="0D7B6E"/>
          </a:solidFill>
          <a:ln/>
        </p:spPr>
        <p:txBody>
          <a:bodyPr/>
          <a:lstStyle/>
          <a:p>
            <a:endParaRPr lang="en-IE"/>
          </a:p>
        </p:txBody>
      </p:sp>
      <p:sp>
        <p:nvSpPr>
          <p:cNvPr id="26" name="Text 24"/>
          <p:cNvSpPr/>
          <p:nvPr/>
        </p:nvSpPr>
        <p:spPr>
          <a:xfrm>
            <a:off x="3209544" y="2103120"/>
            <a:ext cx="393192" cy="411480"/>
          </a:xfrm>
          <a:prstGeom prst="rect">
            <a:avLst/>
          </a:prstGeom>
          <a:noFill/>
          <a:ln/>
        </p:spPr>
        <p:txBody>
          <a:bodyPr wrap="square" rtlCol="0" anchor="ctr"/>
          <a:lstStyle/>
          <a:p>
            <a:pPr marL="0" indent="0" algn="ctr">
              <a:buNone/>
            </a:pPr>
            <a:r>
              <a:rPr lang="en-US" sz="1300" b="1" dirty="0">
                <a:solidFill>
                  <a:srgbClr val="FFFFFF"/>
                </a:solidFill>
              </a:rPr>
              <a:t>05</a:t>
            </a:r>
            <a:endParaRPr lang="en-US" sz="1300" dirty="0"/>
          </a:p>
        </p:txBody>
      </p:sp>
      <p:sp>
        <p:nvSpPr>
          <p:cNvPr id="27" name="Text 25"/>
          <p:cNvSpPr/>
          <p:nvPr/>
        </p:nvSpPr>
        <p:spPr>
          <a:xfrm>
            <a:off x="3675888" y="1975104"/>
            <a:ext cx="2240280" cy="347472"/>
          </a:xfrm>
          <a:prstGeom prst="rect">
            <a:avLst/>
          </a:prstGeom>
          <a:noFill/>
          <a:ln/>
        </p:spPr>
        <p:txBody>
          <a:bodyPr wrap="square" lIns="0" tIns="0" rIns="0" bIns="0" rtlCol="0" anchor="ctr"/>
          <a:lstStyle/>
          <a:p>
            <a:pPr marL="0" indent="0">
              <a:buNone/>
            </a:pPr>
            <a:r>
              <a:rPr lang="en-US" sz="1000" b="1" dirty="0">
                <a:solidFill>
                  <a:srgbClr val="0D3349"/>
                </a:solidFill>
              </a:rPr>
              <a:t>Governance Landscape</a:t>
            </a:r>
            <a:endParaRPr lang="en-US" sz="1000" dirty="0"/>
          </a:p>
        </p:txBody>
      </p:sp>
      <p:sp>
        <p:nvSpPr>
          <p:cNvPr id="28" name="Text 26"/>
          <p:cNvSpPr/>
          <p:nvPr/>
        </p:nvSpPr>
        <p:spPr>
          <a:xfrm>
            <a:off x="3675888" y="2395728"/>
            <a:ext cx="2240280" cy="310896"/>
          </a:xfrm>
          <a:prstGeom prst="rect">
            <a:avLst/>
          </a:prstGeom>
          <a:noFill/>
          <a:ln/>
        </p:spPr>
        <p:txBody>
          <a:bodyPr wrap="square" lIns="0" tIns="0" rIns="0" bIns="0" rtlCol="0" anchor="ctr"/>
          <a:lstStyle/>
          <a:p>
            <a:pPr marL="0" indent="0">
              <a:buNone/>
            </a:pPr>
            <a:r>
              <a:rPr lang="en-US" sz="850" dirty="0">
                <a:solidFill>
                  <a:srgbClr val="64748B"/>
                </a:solidFill>
              </a:rPr>
              <a:t>GDPR, technical tools &amp; regulatory challenges</a:t>
            </a:r>
            <a:endParaRPr lang="en-US" sz="850" dirty="0"/>
          </a:p>
        </p:txBody>
      </p:sp>
      <p:sp>
        <p:nvSpPr>
          <p:cNvPr id="29" name="Shape 27"/>
          <p:cNvSpPr/>
          <p:nvPr/>
        </p:nvSpPr>
        <p:spPr>
          <a:xfrm>
            <a:off x="6126480" y="1920240"/>
            <a:ext cx="2788920" cy="841248"/>
          </a:xfrm>
          <a:prstGeom prst="roundRect">
            <a:avLst>
              <a:gd name="adj" fmla="val 8696"/>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30" name="Shape 28"/>
          <p:cNvSpPr/>
          <p:nvPr/>
        </p:nvSpPr>
        <p:spPr>
          <a:xfrm>
            <a:off x="6126480" y="1920240"/>
            <a:ext cx="411480" cy="841248"/>
          </a:xfrm>
          <a:prstGeom prst="rect">
            <a:avLst/>
          </a:prstGeom>
          <a:solidFill>
            <a:srgbClr val="0D7B6E"/>
          </a:solidFill>
          <a:ln/>
        </p:spPr>
        <p:txBody>
          <a:bodyPr/>
          <a:lstStyle/>
          <a:p>
            <a:endParaRPr lang="en-IE"/>
          </a:p>
        </p:txBody>
      </p:sp>
      <p:sp>
        <p:nvSpPr>
          <p:cNvPr id="31" name="Text 29"/>
          <p:cNvSpPr/>
          <p:nvPr/>
        </p:nvSpPr>
        <p:spPr>
          <a:xfrm>
            <a:off x="6135624" y="2103120"/>
            <a:ext cx="393192" cy="411480"/>
          </a:xfrm>
          <a:prstGeom prst="rect">
            <a:avLst/>
          </a:prstGeom>
          <a:noFill/>
          <a:ln/>
        </p:spPr>
        <p:txBody>
          <a:bodyPr wrap="square" rtlCol="0" anchor="ctr"/>
          <a:lstStyle/>
          <a:p>
            <a:pPr marL="0" indent="0" algn="ctr">
              <a:buNone/>
            </a:pPr>
            <a:r>
              <a:rPr lang="en-US" sz="1300" b="1" dirty="0">
                <a:solidFill>
                  <a:srgbClr val="FFFFFF"/>
                </a:solidFill>
              </a:rPr>
              <a:t>06</a:t>
            </a:r>
            <a:endParaRPr lang="en-US" sz="1300" dirty="0"/>
          </a:p>
        </p:txBody>
      </p:sp>
      <p:sp>
        <p:nvSpPr>
          <p:cNvPr id="32" name="Text 30"/>
          <p:cNvSpPr/>
          <p:nvPr/>
        </p:nvSpPr>
        <p:spPr>
          <a:xfrm>
            <a:off x="6601968" y="1975104"/>
            <a:ext cx="2240280" cy="347472"/>
          </a:xfrm>
          <a:prstGeom prst="rect">
            <a:avLst/>
          </a:prstGeom>
          <a:noFill/>
          <a:ln/>
        </p:spPr>
        <p:txBody>
          <a:bodyPr wrap="square" lIns="0" tIns="0" rIns="0" bIns="0" rtlCol="0" anchor="ctr"/>
          <a:lstStyle/>
          <a:p>
            <a:pPr marL="0" indent="0">
              <a:buNone/>
            </a:pPr>
            <a:r>
              <a:rPr lang="en-US" sz="1000" b="1" dirty="0">
                <a:solidFill>
                  <a:srgbClr val="0D3349"/>
                </a:solidFill>
              </a:rPr>
              <a:t>Solutions Overview</a:t>
            </a:r>
            <a:endParaRPr lang="en-US" sz="1000" dirty="0"/>
          </a:p>
        </p:txBody>
      </p:sp>
      <p:sp>
        <p:nvSpPr>
          <p:cNvPr id="33" name="Text 31"/>
          <p:cNvSpPr/>
          <p:nvPr/>
        </p:nvSpPr>
        <p:spPr>
          <a:xfrm>
            <a:off x="6601968" y="2395728"/>
            <a:ext cx="2240280" cy="310896"/>
          </a:xfrm>
          <a:prstGeom prst="rect">
            <a:avLst/>
          </a:prstGeom>
          <a:noFill/>
          <a:ln/>
        </p:spPr>
        <p:txBody>
          <a:bodyPr wrap="square" lIns="0" tIns="0" rIns="0" bIns="0" rtlCol="0" anchor="ctr"/>
          <a:lstStyle/>
          <a:p>
            <a:pPr marL="0" indent="0">
              <a:buNone/>
            </a:pPr>
            <a:r>
              <a:rPr lang="en-US" sz="850" dirty="0">
                <a:solidFill>
                  <a:srgbClr val="64748B"/>
                </a:solidFill>
              </a:rPr>
              <a:t>Six proposed approaches mapped to each ethical challenge</a:t>
            </a:r>
            <a:endParaRPr lang="en-US" sz="850" dirty="0"/>
          </a:p>
        </p:txBody>
      </p:sp>
      <p:sp>
        <p:nvSpPr>
          <p:cNvPr id="34" name="Shape 32"/>
          <p:cNvSpPr/>
          <p:nvPr/>
        </p:nvSpPr>
        <p:spPr>
          <a:xfrm>
            <a:off x="274320" y="2926080"/>
            <a:ext cx="2788920" cy="841248"/>
          </a:xfrm>
          <a:prstGeom prst="roundRect">
            <a:avLst>
              <a:gd name="adj" fmla="val 8696"/>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35" name="Shape 33"/>
          <p:cNvSpPr/>
          <p:nvPr/>
        </p:nvSpPr>
        <p:spPr>
          <a:xfrm>
            <a:off x="274320" y="2926080"/>
            <a:ext cx="411480" cy="841248"/>
          </a:xfrm>
          <a:prstGeom prst="rect">
            <a:avLst/>
          </a:prstGeom>
          <a:solidFill>
            <a:srgbClr val="0D7B6E"/>
          </a:solidFill>
          <a:ln/>
        </p:spPr>
        <p:txBody>
          <a:bodyPr/>
          <a:lstStyle/>
          <a:p>
            <a:endParaRPr lang="en-IE"/>
          </a:p>
        </p:txBody>
      </p:sp>
      <p:sp>
        <p:nvSpPr>
          <p:cNvPr id="36" name="Text 34"/>
          <p:cNvSpPr/>
          <p:nvPr/>
        </p:nvSpPr>
        <p:spPr>
          <a:xfrm>
            <a:off x="283464" y="3108960"/>
            <a:ext cx="393192" cy="411480"/>
          </a:xfrm>
          <a:prstGeom prst="rect">
            <a:avLst/>
          </a:prstGeom>
          <a:noFill/>
          <a:ln/>
        </p:spPr>
        <p:txBody>
          <a:bodyPr wrap="square" rtlCol="0" anchor="ctr"/>
          <a:lstStyle/>
          <a:p>
            <a:pPr marL="0" indent="0" algn="ctr">
              <a:buNone/>
            </a:pPr>
            <a:r>
              <a:rPr lang="en-US" sz="1300" b="1" dirty="0">
                <a:solidFill>
                  <a:srgbClr val="FFFFFF"/>
                </a:solidFill>
              </a:rPr>
              <a:t>07</a:t>
            </a:r>
            <a:endParaRPr lang="en-US" sz="1300" dirty="0"/>
          </a:p>
        </p:txBody>
      </p:sp>
      <p:sp>
        <p:nvSpPr>
          <p:cNvPr id="37" name="Text 35"/>
          <p:cNvSpPr/>
          <p:nvPr/>
        </p:nvSpPr>
        <p:spPr>
          <a:xfrm>
            <a:off x="749808" y="2980944"/>
            <a:ext cx="2240280" cy="347472"/>
          </a:xfrm>
          <a:prstGeom prst="rect">
            <a:avLst/>
          </a:prstGeom>
          <a:noFill/>
          <a:ln/>
        </p:spPr>
        <p:txBody>
          <a:bodyPr wrap="square" lIns="0" tIns="0" rIns="0" bIns="0" rtlCol="0" anchor="ctr"/>
          <a:lstStyle/>
          <a:p>
            <a:pPr marL="0" indent="0">
              <a:buNone/>
            </a:pPr>
            <a:r>
              <a:rPr lang="en-US" sz="1000" b="1" dirty="0">
                <a:solidFill>
                  <a:srgbClr val="0D3349"/>
                </a:solidFill>
              </a:rPr>
              <a:t>Real-World Incidents</a:t>
            </a:r>
            <a:endParaRPr lang="en-US" sz="1000" dirty="0"/>
          </a:p>
        </p:txBody>
      </p:sp>
      <p:sp>
        <p:nvSpPr>
          <p:cNvPr id="38" name="Text 36"/>
          <p:cNvSpPr/>
          <p:nvPr/>
        </p:nvSpPr>
        <p:spPr>
          <a:xfrm>
            <a:off x="749808" y="3401568"/>
            <a:ext cx="2240280" cy="310896"/>
          </a:xfrm>
          <a:prstGeom prst="rect">
            <a:avLst/>
          </a:prstGeom>
          <a:noFill/>
          <a:ln/>
        </p:spPr>
        <p:txBody>
          <a:bodyPr wrap="square" lIns="0" tIns="0" rIns="0" bIns="0" rtlCol="0" anchor="ctr"/>
          <a:lstStyle/>
          <a:p>
            <a:pPr marL="0" indent="0">
              <a:buNone/>
            </a:pPr>
            <a:r>
              <a:rPr lang="en-US" sz="850" dirty="0">
                <a:solidFill>
                  <a:srgbClr val="64748B"/>
                </a:solidFill>
              </a:rPr>
              <a:t>Waze, OkCupid, Strava heatmap &amp; Apple location scandals</a:t>
            </a:r>
            <a:endParaRPr lang="en-US" sz="850" dirty="0"/>
          </a:p>
        </p:txBody>
      </p:sp>
      <p:sp>
        <p:nvSpPr>
          <p:cNvPr id="39" name="Shape 37"/>
          <p:cNvSpPr/>
          <p:nvPr/>
        </p:nvSpPr>
        <p:spPr>
          <a:xfrm>
            <a:off x="3200400" y="2926080"/>
            <a:ext cx="2788920" cy="841248"/>
          </a:xfrm>
          <a:prstGeom prst="roundRect">
            <a:avLst>
              <a:gd name="adj" fmla="val 8696"/>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40" name="Shape 38"/>
          <p:cNvSpPr/>
          <p:nvPr/>
        </p:nvSpPr>
        <p:spPr>
          <a:xfrm>
            <a:off x="3200400" y="2926080"/>
            <a:ext cx="411480" cy="841248"/>
          </a:xfrm>
          <a:prstGeom prst="rect">
            <a:avLst/>
          </a:prstGeom>
          <a:solidFill>
            <a:srgbClr val="0D7B6E"/>
          </a:solidFill>
          <a:ln/>
        </p:spPr>
        <p:txBody>
          <a:bodyPr/>
          <a:lstStyle/>
          <a:p>
            <a:endParaRPr lang="en-IE"/>
          </a:p>
        </p:txBody>
      </p:sp>
      <p:sp>
        <p:nvSpPr>
          <p:cNvPr id="41" name="Text 39"/>
          <p:cNvSpPr/>
          <p:nvPr/>
        </p:nvSpPr>
        <p:spPr>
          <a:xfrm>
            <a:off x="3209544" y="3108960"/>
            <a:ext cx="393192" cy="411480"/>
          </a:xfrm>
          <a:prstGeom prst="rect">
            <a:avLst/>
          </a:prstGeom>
          <a:noFill/>
          <a:ln/>
        </p:spPr>
        <p:txBody>
          <a:bodyPr wrap="square" rtlCol="0" anchor="ctr"/>
          <a:lstStyle/>
          <a:p>
            <a:pPr marL="0" indent="0" algn="ctr">
              <a:buNone/>
            </a:pPr>
            <a:r>
              <a:rPr lang="en-US" sz="1300" b="1" dirty="0">
                <a:solidFill>
                  <a:srgbClr val="FFFFFF"/>
                </a:solidFill>
              </a:rPr>
              <a:t>08</a:t>
            </a:r>
            <a:endParaRPr lang="en-US" sz="1300" dirty="0"/>
          </a:p>
        </p:txBody>
      </p:sp>
      <p:sp>
        <p:nvSpPr>
          <p:cNvPr id="42" name="Text 40"/>
          <p:cNvSpPr/>
          <p:nvPr/>
        </p:nvSpPr>
        <p:spPr>
          <a:xfrm>
            <a:off x="3675888" y="2980944"/>
            <a:ext cx="2240280" cy="347472"/>
          </a:xfrm>
          <a:prstGeom prst="rect">
            <a:avLst/>
          </a:prstGeom>
          <a:noFill/>
          <a:ln/>
        </p:spPr>
        <p:txBody>
          <a:bodyPr wrap="square" lIns="0" tIns="0" rIns="0" bIns="0" rtlCol="0" anchor="ctr"/>
          <a:lstStyle/>
          <a:p>
            <a:pPr marL="0" indent="0">
              <a:buNone/>
            </a:pPr>
            <a:r>
              <a:rPr lang="en-US" sz="1000" b="1" dirty="0">
                <a:solidFill>
                  <a:srgbClr val="0D3349"/>
                </a:solidFill>
              </a:rPr>
              <a:t>Ethical Framework</a:t>
            </a:r>
            <a:endParaRPr lang="en-US" sz="1000" dirty="0"/>
          </a:p>
        </p:txBody>
      </p:sp>
      <p:sp>
        <p:nvSpPr>
          <p:cNvPr id="43" name="Text 41"/>
          <p:cNvSpPr/>
          <p:nvPr/>
        </p:nvSpPr>
        <p:spPr>
          <a:xfrm>
            <a:off x="3675888" y="3401568"/>
            <a:ext cx="2240280" cy="310896"/>
          </a:xfrm>
          <a:prstGeom prst="rect">
            <a:avLst/>
          </a:prstGeom>
          <a:noFill/>
          <a:ln/>
        </p:spPr>
        <p:txBody>
          <a:bodyPr wrap="square" lIns="0" tIns="0" rIns="0" bIns="0" rtlCol="0" anchor="ctr"/>
          <a:lstStyle/>
          <a:p>
            <a:pPr marL="0" indent="0">
              <a:buNone/>
            </a:pPr>
            <a:r>
              <a:rPr lang="en-US" sz="850" dirty="0">
                <a:solidFill>
                  <a:srgbClr val="64748B"/>
                </a:solidFill>
              </a:rPr>
              <a:t>Key tensions: public benefit vs individual privacy</a:t>
            </a:r>
            <a:endParaRPr lang="en-US" sz="850" dirty="0"/>
          </a:p>
        </p:txBody>
      </p:sp>
      <p:sp>
        <p:nvSpPr>
          <p:cNvPr id="44" name="Shape 42"/>
          <p:cNvSpPr/>
          <p:nvPr/>
        </p:nvSpPr>
        <p:spPr>
          <a:xfrm>
            <a:off x="6126480" y="2926080"/>
            <a:ext cx="2788920" cy="841248"/>
          </a:xfrm>
          <a:prstGeom prst="roundRect">
            <a:avLst>
              <a:gd name="adj" fmla="val 8696"/>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45" name="Shape 43"/>
          <p:cNvSpPr/>
          <p:nvPr/>
        </p:nvSpPr>
        <p:spPr>
          <a:xfrm>
            <a:off x="6126480" y="2926080"/>
            <a:ext cx="411480" cy="841248"/>
          </a:xfrm>
          <a:prstGeom prst="rect">
            <a:avLst/>
          </a:prstGeom>
          <a:solidFill>
            <a:srgbClr val="0D7B6E"/>
          </a:solidFill>
          <a:ln/>
        </p:spPr>
        <p:txBody>
          <a:bodyPr/>
          <a:lstStyle/>
          <a:p>
            <a:endParaRPr lang="en-IE"/>
          </a:p>
        </p:txBody>
      </p:sp>
      <p:sp>
        <p:nvSpPr>
          <p:cNvPr id="46" name="Text 44"/>
          <p:cNvSpPr/>
          <p:nvPr/>
        </p:nvSpPr>
        <p:spPr>
          <a:xfrm>
            <a:off x="6135624" y="3108960"/>
            <a:ext cx="393192" cy="411480"/>
          </a:xfrm>
          <a:prstGeom prst="rect">
            <a:avLst/>
          </a:prstGeom>
          <a:noFill/>
          <a:ln/>
        </p:spPr>
        <p:txBody>
          <a:bodyPr wrap="square" rtlCol="0" anchor="ctr"/>
          <a:lstStyle/>
          <a:p>
            <a:pPr marL="0" indent="0" algn="ctr">
              <a:buNone/>
            </a:pPr>
            <a:r>
              <a:rPr lang="en-US" sz="1300" b="1" dirty="0">
                <a:solidFill>
                  <a:srgbClr val="FFFFFF"/>
                </a:solidFill>
              </a:rPr>
              <a:t>09</a:t>
            </a:r>
            <a:endParaRPr lang="en-US" sz="1300" dirty="0"/>
          </a:p>
        </p:txBody>
      </p:sp>
      <p:sp>
        <p:nvSpPr>
          <p:cNvPr id="47" name="Text 45"/>
          <p:cNvSpPr/>
          <p:nvPr/>
        </p:nvSpPr>
        <p:spPr>
          <a:xfrm>
            <a:off x="6601968" y="2980944"/>
            <a:ext cx="2240280" cy="347472"/>
          </a:xfrm>
          <a:prstGeom prst="rect">
            <a:avLst/>
          </a:prstGeom>
          <a:noFill/>
          <a:ln/>
        </p:spPr>
        <p:txBody>
          <a:bodyPr wrap="square" lIns="0" tIns="0" rIns="0" bIns="0" rtlCol="0" anchor="ctr"/>
          <a:lstStyle/>
          <a:p>
            <a:pPr marL="0" indent="0">
              <a:buNone/>
            </a:pPr>
            <a:r>
              <a:rPr lang="en-US" sz="1000" b="1" dirty="0">
                <a:solidFill>
                  <a:srgbClr val="0D3349"/>
                </a:solidFill>
              </a:rPr>
              <a:t>Solutions Deep Dive</a:t>
            </a:r>
            <a:endParaRPr lang="en-US" sz="1000" dirty="0"/>
          </a:p>
        </p:txBody>
      </p:sp>
      <p:sp>
        <p:nvSpPr>
          <p:cNvPr id="48" name="Text 46"/>
          <p:cNvSpPr/>
          <p:nvPr/>
        </p:nvSpPr>
        <p:spPr>
          <a:xfrm>
            <a:off x="6601968" y="3401568"/>
            <a:ext cx="2240280" cy="310896"/>
          </a:xfrm>
          <a:prstGeom prst="rect">
            <a:avLst/>
          </a:prstGeom>
          <a:noFill/>
          <a:ln/>
        </p:spPr>
        <p:txBody>
          <a:bodyPr wrap="square" lIns="0" tIns="0" rIns="0" bIns="0" rtlCol="0" anchor="ctr"/>
          <a:lstStyle/>
          <a:p>
            <a:pPr marL="0" indent="0">
              <a:buNone/>
            </a:pPr>
            <a:r>
              <a:rPr lang="en-US" sz="850" dirty="0">
                <a:solidFill>
                  <a:srgbClr val="64748B"/>
                </a:solidFill>
              </a:rPr>
              <a:t>Technical vs regulatory fixes — a comparison table</a:t>
            </a:r>
            <a:endParaRPr lang="en-US" sz="850" dirty="0"/>
          </a:p>
        </p:txBody>
      </p:sp>
      <p:sp>
        <p:nvSpPr>
          <p:cNvPr id="49" name="Shape 47"/>
          <p:cNvSpPr/>
          <p:nvPr/>
        </p:nvSpPr>
        <p:spPr>
          <a:xfrm>
            <a:off x="274320" y="3931920"/>
            <a:ext cx="2788920" cy="841248"/>
          </a:xfrm>
          <a:prstGeom prst="roundRect">
            <a:avLst>
              <a:gd name="adj" fmla="val 8696"/>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50" name="Shape 48"/>
          <p:cNvSpPr/>
          <p:nvPr/>
        </p:nvSpPr>
        <p:spPr>
          <a:xfrm>
            <a:off x="274320" y="3931920"/>
            <a:ext cx="411480" cy="841248"/>
          </a:xfrm>
          <a:prstGeom prst="rect">
            <a:avLst/>
          </a:prstGeom>
          <a:solidFill>
            <a:srgbClr val="0D7B6E"/>
          </a:solidFill>
          <a:ln/>
        </p:spPr>
        <p:txBody>
          <a:bodyPr/>
          <a:lstStyle/>
          <a:p>
            <a:endParaRPr lang="en-IE"/>
          </a:p>
        </p:txBody>
      </p:sp>
      <p:sp>
        <p:nvSpPr>
          <p:cNvPr id="51" name="Text 49"/>
          <p:cNvSpPr/>
          <p:nvPr/>
        </p:nvSpPr>
        <p:spPr>
          <a:xfrm>
            <a:off x="283464" y="4114800"/>
            <a:ext cx="393192" cy="411480"/>
          </a:xfrm>
          <a:prstGeom prst="rect">
            <a:avLst/>
          </a:prstGeom>
          <a:noFill/>
          <a:ln/>
        </p:spPr>
        <p:txBody>
          <a:bodyPr wrap="square" rtlCol="0" anchor="ctr"/>
          <a:lstStyle/>
          <a:p>
            <a:pPr marL="0" indent="0" algn="ctr">
              <a:buNone/>
            </a:pPr>
            <a:r>
              <a:rPr lang="en-US" sz="1300" b="1" dirty="0">
                <a:solidFill>
                  <a:srgbClr val="FFFFFF"/>
                </a:solidFill>
              </a:rPr>
              <a:t>10</a:t>
            </a:r>
            <a:endParaRPr lang="en-US" sz="1300" dirty="0"/>
          </a:p>
        </p:txBody>
      </p:sp>
      <p:sp>
        <p:nvSpPr>
          <p:cNvPr id="52" name="Text 50"/>
          <p:cNvSpPr/>
          <p:nvPr/>
        </p:nvSpPr>
        <p:spPr>
          <a:xfrm>
            <a:off x="749808" y="3986784"/>
            <a:ext cx="2240280" cy="347472"/>
          </a:xfrm>
          <a:prstGeom prst="rect">
            <a:avLst/>
          </a:prstGeom>
          <a:noFill/>
          <a:ln/>
        </p:spPr>
        <p:txBody>
          <a:bodyPr wrap="square" lIns="0" tIns="0" rIns="0" bIns="0" rtlCol="0" anchor="ctr"/>
          <a:lstStyle/>
          <a:p>
            <a:pPr marL="0" indent="0">
              <a:buNone/>
            </a:pPr>
            <a:r>
              <a:rPr lang="en-US" sz="1000" b="1" dirty="0">
                <a:solidFill>
                  <a:srgbClr val="0D3349"/>
                </a:solidFill>
              </a:rPr>
              <a:t>Comparative Analysis</a:t>
            </a:r>
            <a:endParaRPr lang="en-US" sz="1000" dirty="0"/>
          </a:p>
        </p:txBody>
      </p:sp>
      <p:sp>
        <p:nvSpPr>
          <p:cNvPr id="53" name="Text 51"/>
          <p:cNvSpPr/>
          <p:nvPr/>
        </p:nvSpPr>
        <p:spPr>
          <a:xfrm>
            <a:off x="749808" y="4407408"/>
            <a:ext cx="2240280" cy="310896"/>
          </a:xfrm>
          <a:prstGeom prst="rect">
            <a:avLst/>
          </a:prstGeom>
          <a:noFill/>
          <a:ln/>
        </p:spPr>
        <p:txBody>
          <a:bodyPr wrap="square" lIns="0" tIns="0" rIns="0" bIns="0" rtlCol="0" anchor="ctr"/>
          <a:lstStyle/>
          <a:p>
            <a:pPr marL="0" indent="0">
              <a:buNone/>
            </a:pPr>
            <a:r>
              <a:rPr lang="en-US" sz="850" dirty="0">
                <a:solidFill>
                  <a:srgbClr val="64748B"/>
                </a:solidFill>
              </a:rPr>
              <a:t>How industry, regulators, academia &amp; tech govern data</a:t>
            </a:r>
            <a:endParaRPr lang="en-US" sz="850" dirty="0"/>
          </a:p>
        </p:txBody>
      </p:sp>
      <p:sp>
        <p:nvSpPr>
          <p:cNvPr id="54" name="Shape 52"/>
          <p:cNvSpPr/>
          <p:nvPr/>
        </p:nvSpPr>
        <p:spPr>
          <a:xfrm>
            <a:off x="3200400" y="3931920"/>
            <a:ext cx="2788920" cy="841248"/>
          </a:xfrm>
          <a:prstGeom prst="roundRect">
            <a:avLst>
              <a:gd name="adj" fmla="val 8696"/>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55" name="Shape 53"/>
          <p:cNvSpPr/>
          <p:nvPr/>
        </p:nvSpPr>
        <p:spPr>
          <a:xfrm>
            <a:off x="3200400" y="3931920"/>
            <a:ext cx="411480" cy="841248"/>
          </a:xfrm>
          <a:prstGeom prst="rect">
            <a:avLst/>
          </a:prstGeom>
          <a:solidFill>
            <a:srgbClr val="0D7B6E"/>
          </a:solidFill>
          <a:ln/>
        </p:spPr>
        <p:txBody>
          <a:bodyPr/>
          <a:lstStyle/>
          <a:p>
            <a:endParaRPr lang="en-IE"/>
          </a:p>
        </p:txBody>
      </p:sp>
      <p:sp>
        <p:nvSpPr>
          <p:cNvPr id="56" name="Text 54"/>
          <p:cNvSpPr/>
          <p:nvPr/>
        </p:nvSpPr>
        <p:spPr>
          <a:xfrm>
            <a:off x="3209544" y="4114800"/>
            <a:ext cx="393192" cy="411480"/>
          </a:xfrm>
          <a:prstGeom prst="rect">
            <a:avLst/>
          </a:prstGeom>
          <a:noFill/>
          <a:ln/>
        </p:spPr>
        <p:txBody>
          <a:bodyPr wrap="square" rtlCol="0" anchor="ctr"/>
          <a:lstStyle/>
          <a:p>
            <a:pPr marL="0" indent="0" algn="ctr">
              <a:buNone/>
            </a:pPr>
            <a:r>
              <a:rPr lang="en-US" sz="1300" b="1" dirty="0">
                <a:solidFill>
                  <a:srgbClr val="FFFFFF"/>
                </a:solidFill>
              </a:rPr>
              <a:t>11</a:t>
            </a:r>
            <a:endParaRPr lang="en-US" sz="1300" dirty="0"/>
          </a:p>
        </p:txBody>
      </p:sp>
      <p:sp>
        <p:nvSpPr>
          <p:cNvPr id="57" name="Text 55"/>
          <p:cNvSpPr/>
          <p:nvPr/>
        </p:nvSpPr>
        <p:spPr>
          <a:xfrm>
            <a:off x="3675888" y="3986784"/>
            <a:ext cx="2240280" cy="347472"/>
          </a:xfrm>
          <a:prstGeom prst="rect">
            <a:avLst/>
          </a:prstGeom>
          <a:noFill/>
          <a:ln/>
        </p:spPr>
        <p:txBody>
          <a:bodyPr wrap="square" lIns="0" tIns="0" rIns="0" bIns="0" rtlCol="0" anchor="ctr"/>
          <a:lstStyle/>
          <a:p>
            <a:pPr marL="0" indent="0">
              <a:buNone/>
            </a:pPr>
            <a:r>
              <a:rPr lang="en-US" sz="1000" b="1" dirty="0">
                <a:solidFill>
                  <a:srgbClr val="0D3349"/>
                </a:solidFill>
              </a:rPr>
              <a:t>Case Study Analysis</a:t>
            </a:r>
            <a:endParaRPr lang="en-US" sz="1000" dirty="0"/>
          </a:p>
        </p:txBody>
      </p:sp>
      <p:sp>
        <p:nvSpPr>
          <p:cNvPr id="58" name="Text 56"/>
          <p:cNvSpPr/>
          <p:nvPr/>
        </p:nvSpPr>
        <p:spPr>
          <a:xfrm>
            <a:off x="3675888" y="4407408"/>
            <a:ext cx="2240280" cy="310896"/>
          </a:xfrm>
          <a:prstGeom prst="rect">
            <a:avLst/>
          </a:prstGeom>
          <a:noFill/>
          <a:ln/>
        </p:spPr>
        <p:txBody>
          <a:bodyPr wrap="square" lIns="0" tIns="0" rIns="0" bIns="0" rtlCol="0" anchor="ctr"/>
          <a:lstStyle/>
          <a:p>
            <a:pPr marL="0" indent="0">
              <a:buNone/>
            </a:pPr>
            <a:r>
              <a:rPr lang="en-US" sz="850" dirty="0">
                <a:solidFill>
                  <a:srgbClr val="64748B"/>
                </a:solidFill>
              </a:rPr>
              <a:t>What was done right, wrong &amp; how it could be improved</a:t>
            </a:r>
            <a:endParaRPr lang="en-US" sz="850" dirty="0"/>
          </a:p>
        </p:txBody>
      </p:sp>
      <p:sp>
        <p:nvSpPr>
          <p:cNvPr id="59" name="Shape 57"/>
          <p:cNvSpPr/>
          <p:nvPr/>
        </p:nvSpPr>
        <p:spPr>
          <a:xfrm>
            <a:off x="6126480" y="3931920"/>
            <a:ext cx="2788920" cy="841248"/>
          </a:xfrm>
          <a:prstGeom prst="roundRect">
            <a:avLst>
              <a:gd name="adj" fmla="val 8696"/>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60" name="Shape 58"/>
          <p:cNvSpPr/>
          <p:nvPr/>
        </p:nvSpPr>
        <p:spPr>
          <a:xfrm>
            <a:off x="6126480" y="3931920"/>
            <a:ext cx="411480" cy="841248"/>
          </a:xfrm>
          <a:prstGeom prst="rect">
            <a:avLst/>
          </a:prstGeom>
          <a:solidFill>
            <a:srgbClr val="0D7B6E"/>
          </a:solidFill>
          <a:ln/>
        </p:spPr>
        <p:txBody>
          <a:bodyPr/>
          <a:lstStyle/>
          <a:p>
            <a:endParaRPr lang="en-IE"/>
          </a:p>
        </p:txBody>
      </p:sp>
      <p:sp>
        <p:nvSpPr>
          <p:cNvPr id="61" name="Text 59"/>
          <p:cNvSpPr/>
          <p:nvPr/>
        </p:nvSpPr>
        <p:spPr>
          <a:xfrm>
            <a:off x="6135624" y="4114800"/>
            <a:ext cx="393192" cy="411480"/>
          </a:xfrm>
          <a:prstGeom prst="rect">
            <a:avLst/>
          </a:prstGeom>
          <a:noFill/>
          <a:ln/>
        </p:spPr>
        <p:txBody>
          <a:bodyPr wrap="square" rtlCol="0" anchor="ctr"/>
          <a:lstStyle/>
          <a:p>
            <a:pPr marL="0" indent="0" algn="ctr">
              <a:buNone/>
            </a:pPr>
            <a:r>
              <a:rPr lang="en-US" sz="1300" b="1" dirty="0">
                <a:solidFill>
                  <a:srgbClr val="FFFFFF"/>
                </a:solidFill>
              </a:rPr>
              <a:t>12</a:t>
            </a:r>
            <a:endParaRPr lang="en-US" sz="1300" dirty="0"/>
          </a:p>
        </p:txBody>
      </p:sp>
      <p:sp>
        <p:nvSpPr>
          <p:cNvPr id="62" name="Text 60"/>
          <p:cNvSpPr/>
          <p:nvPr/>
        </p:nvSpPr>
        <p:spPr>
          <a:xfrm>
            <a:off x="6601968" y="3986784"/>
            <a:ext cx="2240280" cy="347472"/>
          </a:xfrm>
          <a:prstGeom prst="rect">
            <a:avLst/>
          </a:prstGeom>
          <a:noFill/>
          <a:ln/>
        </p:spPr>
        <p:txBody>
          <a:bodyPr wrap="square" lIns="0" tIns="0" rIns="0" bIns="0" rtlCol="0" anchor="ctr"/>
          <a:lstStyle/>
          <a:p>
            <a:pPr marL="0" indent="0">
              <a:buNone/>
            </a:pPr>
            <a:r>
              <a:rPr lang="en-US" sz="1000" b="1" dirty="0">
                <a:solidFill>
                  <a:srgbClr val="0D3349"/>
                </a:solidFill>
              </a:rPr>
              <a:t>Conclusion &amp; Q&amp;A</a:t>
            </a:r>
            <a:endParaRPr lang="en-US" sz="1000" dirty="0"/>
          </a:p>
        </p:txBody>
      </p:sp>
      <p:sp>
        <p:nvSpPr>
          <p:cNvPr id="63" name="Text 61"/>
          <p:cNvSpPr/>
          <p:nvPr/>
        </p:nvSpPr>
        <p:spPr>
          <a:xfrm>
            <a:off x="6601968" y="4407408"/>
            <a:ext cx="2240280" cy="310896"/>
          </a:xfrm>
          <a:prstGeom prst="rect">
            <a:avLst/>
          </a:prstGeom>
          <a:noFill/>
          <a:ln/>
        </p:spPr>
        <p:txBody>
          <a:bodyPr wrap="square" lIns="0" tIns="0" rIns="0" bIns="0" rtlCol="0" anchor="ctr"/>
          <a:lstStyle/>
          <a:p>
            <a:pPr marL="0" indent="0">
              <a:buNone/>
            </a:pPr>
            <a:r>
              <a:rPr lang="en-US" sz="850" dirty="0">
                <a:solidFill>
                  <a:srgbClr val="64748B"/>
                </a:solidFill>
              </a:rPr>
              <a:t>Scholarly response, key takeaways, open discussion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3349"/>
          </a:solidFill>
          <a:ln/>
        </p:spPr>
        <p:txBody>
          <a:bodyPr/>
          <a:lstStyle/>
          <a:p>
            <a:endParaRPr lang="en-IE"/>
          </a:p>
        </p:txBody>
      </p:sp>
      <p:sp>
        <p:nvSpPr>
          <p:cNvPr id="3" name="Text 1"/>
          <p:cNvSpPr/>
          <p:nvPr/>
        </p:nvSpPr>
        <p:spPr>
          <a:xfrm>
            <a:off x="457200" y="91440"/>
            <a:ext cx="8229600" cy="640080"/>
          </a:xfrm>
          <a:prstGeom prst="rect">
            <a:avLst/>
          </a:prstGeom>
          <a:noFill/>
          <a:ln/>
        </p:spPr>
        <p:txBody>
          <a:bodyPr wrap="square" rtlCol="0" anchor="ctr"/>
          <a:lstStyle/>
          <a:p>
            <a:pPr marL="0" indent="0">
              <a:buNone/>
            </a:pPr>
            <a:r>
              <a:rPr lang="en-US" sz="2400" b="1" dirty="0">
                <a:solidFill>
                  <a:srgbClr val="FFFFFF"/>
                </a:solidFill>
              </a:rPr>
              <a:t>Introduction: About the Paper</a:t>
            </a:r>
            <a:endParaRPr lang="en-US" sz="2400" dirty="0"/>
          </a:p>
        </p:txBody>
      </p:sp>
      <p:sp>
        <p:nvSpPr>
          <p:cNvPr id="4" name="Shape 2"/>
          <p:cNvSpPr/>
          <p:nvPr/>
        </p:nvSpPr>
        <p:spPr>
          <a:xfrm>
            <a:off x="365760" y="1005840"/>
            <a:ext cx="4023360" cy="1554480"/>
          </a:xfrm>
          <a:prstGeom prst="roundRect">
            <a:avLst>
              <a:gd name="adj" fmla="val 5882"/>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5" name="Text 3"/>
          <p:cNvSpPr/>
          <p:nvPr/>
        </p:nvSpPr>
        <p:spPr>
          <a:xfrm>
            <a:off x="548640" y="1115568"/>
            <a:ext cx="3657600" cy="365760"/>
          </a:xfrm>
          <a:prstGeom prst="rect">
            <a:avLst/>
          </a:prstGeom>
          <a:noFill/>
          <a:ln/>
        </p:spPr>
        <p:txBody>
          <a:bodyPr wrap="square" lIns="0" tIns="0" rIns="0" bIns="0" rtlCol="0" anchor="ctr"/>
          <a:lstStyle/>
          <a:p>
            <a:pPr marL="0" indent="0">
              <a:buNone/>
            </a:pPr>
            <a:r>
              <a:rPr lang="en-US" sz="1300" b="1" dirty="0">
                <a:solidFill>
                  <a:srgbClr val="0D7B6E"/>
                </a:solidFill>
              </a:rPr>
              <a:t>Who?</a:t>
            </a:r>
            <a:endParaRPr lang="en-US" sz="1300" dirty="0"/>
          </a:p>
        </p:txBody>
      </p:sp>
      <p:sp>
        <p:nvSpPr>
          <p:cNvPr id="6" name="Text 4"/>
          <p:cNvSpPr/>
          <p:nvPr/>
        </p:nvSpPr>
        <p:spPr>
          <a:xfrm>
            <a:off x="548640" y="1481328"/>
            <a:ext cx="3657600" cy="960120"/>
          </a:xfrm>
          <a:prstGeom prst="rect">
            <a:avLst/>
          </a:prstGeom>
          <a:noFill/>
          <a:ln/>
        </p:spPr>
        <p:txBody>
          <a:bodyPr wrap="square" lIns="0" tIns="0" rIns="0" bIns="0" rtlCol="0" anchor="ctr"/>
          <a:lstStyle/>
          <a:p>
            <a:pPr marL="0" indent="0">
              <a:buNone/>
            </a:pPr>
            <a:r>
              <a:rPr lang="en-US" sz="1100" dirty="0">
                <a:solidFill>
                  <a:srgbClr val="1E293B"/>
                </a:solidFill>
              </a:rPr>
              <a:t>Michael Veale, UCL</a:t>
            </a:r>
            <a:endParaRPr lang="en-US" sz="1100" dirty="0"/>
          </a:p>
          <a:p>
            <a:pPr marL="0" indent="0">
              <a:buNone/>
            </a:pPr>
            <a:r>
              <a:rPr lang="en-US" sz="1100" dirty="0">
                <a:solidFill>
                  <a:srgbClr val="1E293B"/>
                </a:solidFill>
              </a:rPr>
              <a:t>For the British Academy &amp; Royal Society working group</a:t>
            </a:r>
            <a:endParaRPr lang="en-US" sz="1100" dirty="0"/>
          </a:p>
        </p:txBody>
      </p:sp>
      <p:sp>
        <p:nvSpPr>
          <p:cNvPr id="7" name="Shape 5"/>
          <p:cNvSpPr/>
          <p:nvPr/>
        </p:nvSpPr>
        <p:spPr>
          <a:xfrm>
            <a:off x="4754880" y="1005840"/>
            <a:ext cx="4023360" cy="1554480"/>
          </a:xfrm>
          <a:prstGeom prst="roundRect">
            <a:avLst>
              <a:gd name="adj" fmla="val 5882"/>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8" name="Text 6"/>
          <p:cNvSpPr/>
          <p:nvPr/>
        </p:nvSpPr>
        <p:spPr>
          <a:xfrm>
            <a:off x="4937760" y="1115568"/>
            <a:ext cx="3657600" cy="365760"/>
          </a:xfrm>
          <a:prstGeom prst="rect">
            <a:avLst/>
          </a:prstGeom>
          <a:noFill/>
          <a:ln/>
        </p:spPr>
        <p:txBody>
          <a:bodyPr wrap="square" lIns="0" tIns="0" rIns="0" bIns="0" rtlCol="0" anchor="ctr"/>
          <a:lstStyle/>
          <a:p>
            <a:pPr marL="0" indent="0">
              <a:buNone/>
            </a:pPr>
            <a:r>
              <a:rPr lang="en-US" sz="1300" b="1" dirty="0">
                <a:solidFill>
                  <a:srgbClr val="0D7B6E"/>
                </a:solidFill>
              </a:rPr>
              <a:t>Context?</a:t>
            </a:r>
            <a:endParaRPr lang="en-US" sz="1300" dirty="0"/>
          </a:p>
        </p:txBody>
      </p:sp>
      <p:sp>
        <p:nvSpPr>
          <p:cNvPr id="9" name="Text 7"/>
          <p:cNvSpPr/>
          <p:nvPr/>
        </p:nvSpPr>
        <p:spPr>
          <a:xfrm>
            <a:off x="4937760" y="1481328"/>
            <a:ext cx="3657600" cy="960120"/>
          </a:xfrm>
          <a:prstGeom prst="rect">
            <a:avLst/>
          </a:prstGeom>
          <a:noFill/>
          <a:ln/>
        </p:spPr>
        <p:txBody>
          <a:bodyPr wrap="square" lIns="0" tIns="0" rIns="0" bIns="0" rtlCol="0" anchor="ctr"/>
          <a:lstStyle/>
          <a:p>
            <a:pPr marL="0" indent="0">
              <a:buNone/>
            </a:pPr>
            <a:r>
              <a:rPr lang="en-US" sz="1100" dirty="0">
                <a:solidFill>
                  <a:srgbClr val="1E293B"/>
                </a:solidFill>
              </a:rPr>
              <a:t>Part of the 'Data Management &amp; Use: Governance in the 21st Century' project (2017)</a:t>
            </a:r>
            <a:endParaRPr lang="en-US" sz="1100" dirty="0"/>
          </a:p>
        </p:txBody>
      </p:sp>
      <p:sp>
        <p:nvSpPr>
          <p:cNvPr id="10" name="Shape 8"/>
          <p:cNvSpPr/>
          <p:nvPr/>
        </p:nvSpPr>
        <p:spPr>
          <a:xfrm>
            <a:off x="365760" y="2743200"/>
            <a:ext cx="4023360" cy="1554480"/>
          </a:xfrm>
          <a:prstGeom prst="roundRect">
            <a:avLst>
              <a:gd name="adj" fmla="val 5882"/>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11" name="Text 9"/>
          <p:cNvSpPr/>
          <p:nvPr/>
        </p:nvSpPr>
        <p:spPr>
          <a:xfrm>
            <a:off x="548640" y="2852928"/>
            <a:ext cx="3657600" cy="365760"/>
          </a:xfrm>
          <a:prstGeom prst="rect">
            <a:avLst/>
          </a:prstGeom>
          <a:noFill/>
          <a:ln/>
        </p:spPr>
        <p:txBody>
          <a:bodyPr wrap="square" lIns="0" tIns="0" rIns="0" bIns="0" rtlCol="0" anchor="ctr"/>
          <a:lstStyle/>
          <a:p>
            <a:pPr marL="0" indent="0">
              <a:buNone/>
            </a:pPr>
            <a:r>
              <a:rPr lang="en-US" sz="1300" b="1" dirty="0">
                <a:solidFill>
                  <a:srgbClr val="0D7B6E"/>
                </a:solidFill>
              </a:rPr>
              <a:t>Problem?</a:t>
            </a:r>
            <a:endParaRPr lang="en-US" sz="1300" dirty="0"/>
          </a:p>
        </p:txBody>
      </p:sp>
      <p:sp>
        <p:nvSpPr>
          <p:cNvPr id="12" name="Text 10"/>
          <p:cNvSpPr/>
          <p:nvPr/>
        </p:nvSpPr>
        <p:spPr>
          <a:xfrm>
            <a:off x="548640" y="3218688"/>
            <a:ext cx="3657600" cy="960120"/>
          </a:xfrm>
          <a:prstGeom prst="rect">
            <a:avLst/>
          </a:prstGeom>
          <a:noFill/>
          <a:ln/>
        </p:spPr>
        <p:txBody>
          <a:bodyPr wrap="square" lIns="0" tIns="0" rIns="0" bIns="0" rtlCol="0" anchor="ctr"/>
          <a:lstStyle/>
          <a:p>
            <a:pPr marL="0" indent="0">
              <a:buNone/>
            </a:pPr>
            <a:r>
              <a:rPr lang="en-US" sz="1100" dirty="0">
                <a:solidFill>
                  <a:srgbClr val="1E293B"/>
                </a:solidFill>
              </a:rPr>
              <a:t>Location data powers valuable services — but raises profound privacy, consent &amp; bias concerns</a:t>
            </a:r>
            <a:endParaRPr lang="en-US" sz="1100" dirty="0"/>
          </a:p>
        </p:txBody>
      </p:sp>
      <p:sp>
        <p:nvSpPr>
          <p:cNvPr id="13" name="Shape 11"/>
          <p:cNvSpPr/>
          <p:nvPr/>
        </p:nvSpPr>
        <p:spPr>
          <a:xfrm>
            <a:off x="4754880" y="2743200"/>
            <a:ext cx="4023360" cy="1554480"/>
          </a:xfrm>
          <a:prstGeom prst="roundRect">
            <a:avLst>
              <a:gd name="adj" fmla="val 5882"/>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14" name="Text 12"/>
          <p:cNvSpPr/>
          <p:nvPr/>
        </p:nvSpPr>
        <p:spPr>
          <a:xfrm>
            <a:off x="4937760" y="2852928"/>
            <a:ext cx="3657600" cy="365760"/>
          </a:xfrm>
          <a:prstGeom prst="rect">
            <a:avLst/>
          </a:prstGeom>
          <a:noFill/>
          <a:ln/>
        </p:spPr>
        <p:txBody>
          <a:bodyPr wrap="square" lIns="0" tIns="0" rIns="0" bIns="0" rtlCol="0" anchor="ctr"/>
          <a:lstStyle/>
          <a:p>
            <a:pPr marL="0" indent="0">
              <a:buNone/>
            </a:pPr>
            <a:r>
              <a:rPr lang="en-US" sz="1300" b="1" dirty="0">
                <a:solidFill>
                  <a:srgbClr val="0D7B6E"/>
                </a:solidFill>
              </a:rPr>
              <a:t>Relevance?</a:t>
            </a:r>
            <a:endParaRPr lang="en-US" sz="1300" dirty="0"/>
          </a:p>
        </p:txBody>
      </p:sp>
      <p:sp>
        <p:nvSpPr>
          <p:cNvPr id="15" name="Text 13"/>
          <p:cNvSpPr/>
          <p:nvPr/>
        </p:nvSpPr>
        <p:spPr>
          <a:xfrm>
            <a:off x="4937760" y="3218688"/>
            <a:ext cx="3657600" cy="960120"/>
          </a:xfrm>
          <a:prstGeom prst="rect">
            <a:avLst/>
          </a:prstGeom>
          <a:noFill/>
          <a:ln/>
        </p:spPr>
        <p:txBody>
          <a:bodyPr wrap="square" lIns="0" tIns="0" rIns="0" bIns="0" rtlCol="0" anchor="ctr"/>
          <a:lstStyle/>
          <a:p>
            <a:pPr marL="0" indent="0">
              <a:buNone/>
            </a:pPr>
            <a:r>
              <a:rPr lang="en-US" sz="1100" dirty="0">
                <a:solidFill>
                  <a:srgbClr val="1E293B"/>
                </a:solidFill>
              </a:rPr>
              <a:t>GDPR had not yet come into force; governance frameworks were nascent and uncertain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7B6E"/>
          </a:solidFill>
          <a:ln/>
        </p:spPr>
        <p:txBody>
          <a:bodyPr/>
          <a:lstStyle/>
          <a:p>
            <a:endParaRPr lang="en-IE"/>
          </a:p>
        </p:txBody>
      </p:sp>
      <p:sp>
        <p:nvSpPr>
          <p:cNvPr id="3" name="Text 1"/>
          <p:cNvSpPr/>
          <p:nvPr/>
        </p:nvSpPr>
        <p:spPr>
          <a:xfrm>
            <a:off x="457200" y="91440"/>
            <a:ext cx="8229600" cy="640080"/>
          </a:xfrm>
          <a:prstGeom prst="rect">
            <a:avLst/>
          </a:prstGeom>
          <a:noFill/>
          <a:ln/>
        </p:spPr>
        <p:txBody>
          <a:bodyPr wrap="square" rtlCol="0" anchor="ctr"/>
          <a:lstStyle/>
          <a:p>
            <a:pPr marL="0" indent="0">
              <a:buNone/>
            </a:pPr>
            <a:r>
              <a:rPr lang="en-US" sz="2400" b="1" dirty="0">
                <a:solidFill>
                  <a:srgbClr val="FFFFFF"/>
                </a:solidFill>
              </a:rPr>
              <a:t>Five Modes of Location Self-Tracking</a:t>
            </a:r>
            <a:endParaRPr lang="en-US" sz="2400" dirty="0"/>
          </a:p>
        </p:txBody>
      </p:sp>
      <p:sp>
        <p:nvSpPr>
          <p:cNvPr id="4" name="Shape 2"/>
          <p:cNvSpPr/>
          <p:nvPr/>
        </p:nvSpPr>
        <p:spPr>
          <a:xfrm>
            <a:off x="274320" y="960120"/>
            <a:ext cx="8595360" cy="685800"/>
          </a:xfrm>
          <a:prstGeom prst="roundRect">
            <a:avLst>
              <a:gd name="adj" fmla="val 10667"/>
            </a:avLst>
          </a:prstGeom>
          <a:solidFill>
            <a:srgbClr val="F8FAFB"/>
          </a:solidFill>
          <a:ln/>
          <a:effectLst>
            <a:outerShdw blurRad="76200" dist="25400" dir="2700000" algn="bl" rotWithShape="0">
              <a:srgbClr val="000000">
                <a:alpha val="12000"/>
              </a:srgbClr>
            </a:outerShdw>
          </a:effectLst>
        </p:spPr>
        <p:txBody>
          <a:bodyPr/>
          <a:lstStyle/>
          <a:p>
            <a:endParaRPr lang="en-IE"/>
          </a:p>
        </p:txBody>
      </p:sp>
      <p:sp>
        <p:nvSpPr>
          <p:cNvPr id="5" name="Shape 3"/>
          <p:cNvSpPr/>
          <p:nvPr/>
        </p:nvSpPr>
        <p:spPr>
          <a:xfrm>
            <a:off x="274320" y="960120"/>
            <a:ext cx="1188720" cy="685800"/>
          </a:xfrm>
          <a:prstGeom prst="roundRect">
            <a:avLst>
              <a:gd name="adj" fmla="val 10667"/>
            </a:avLst>
          </a:prstGeom>
          <a:solidFill>
            <a:srgbClr val="1B998B"/>
          </a:solidFill>
          <a:ln/>
        </p:spPr>
        <p:txBody>
          <a:bodyPr/>
          <a:lstStyle/>
          <a:p>
            <a:endParaRPr lang="en-IE"/>
          </a:p>
        </p:txBody>
      </p:sp>
      <p:sp>
        <p:nvSpPr>
          <p:cNvPr id="6" name="Text 4"/>
          <p:cNvSpPr/>
          <p:nvPr/>
        </p:nvSpPr>
        <p:spPr>
          <a:xfrm>
            <a:off x="320040" y="1124712"/>
            <a:ext cx="1097280" cy="365760"/>
          </a:xfrm>
          <a:prstGeom prst="rect">
            <a:avLst/>
          </a:prstGeom>
          <a:noFill/>
          <a:ln/>
        </p:spPr>
        <p:txBody>
          <a:bodyPr wrap="square" lIns="0" tIns="0" rIns="0" bIns="0" rtlCol="0" anchor="ctr"/>
          <a:lstStyle/>
          <a:p>
            <a:pPr marL="0" indent="0" algn="ctr">
              <a:buNone/>
            </a:pPr>
            <a:r>
              <a:rPr lang="en-US" sz="1100" b="1" dirty="0">
                <a:solidFill>
                  <a:srgbClr val="FFFFFF"/>
                </a:solidFill>
              </a:rPr>
              <a:t>Private</a:t>
            </a:r>
            <a:endParaRPr lang="en-US" sz="1100" dirty="0"/>
          </a:p>
        </p:txBody>
      </p:sp>
      <p:sp>
        <p:nvSpPr>
          <p:cNvPr id="7" name="Text 5"/>
          <p:cNvSpPr/>
          <p:nvPr/>
        </p:nvSpPr>
        <p:spPr>
          <a:xfrm>
            <a:off x="1600200" y="1124712"/>
            <a:ext cx="7132320" cy="365760"/>
          </a:xfrm>
          <a:prstGeom prst="rect">
            <a:avLst/>
          </a:prstGeom>
          <a:noFill/>
          <a:ln/>
        </p:spPr>
        <p:txBody>
          <a:bodyPr wrap="square" lIns="0" tIns="0" rIns="0" bIns="0" rtlCol="0" anchor="ctr"/>
          <a:lstStyle/>
          <a:p>
            <a:pPr marL="0" indent="0">
              <a:buNone/>
            </a:pPr>
            <a:r>
              <a:rPr lang="en-US" sz="1200" dirty="0">
                <a:solidFill>
                  <a:srgbClr val="1E293B"/>
                </a:solidFill>
              </a:rPr>
              <a:t>Self-chosen tracking for personal reflection (e.g. fitness wearables)</a:t>
            </a:r>
            <a:endParaRPr lang="en-US" sz="1200" dirty="0"/>
          </a:p>
        </p:txBody>
      </p:sp>
      <p:sp>
        <p:nvSpPr>
          <p:cNvPr id="8" name="Shape 6"/>
          <p:cNvSpPr/>
          <p:nvPr/>
        </p:nvSpPr>
        <p:spPr>
          <a:xfrm>
            <a:off x="274320" y="1764792"/>
            <a:ext cx="8595360" cy="685800"/>
          </a:xfrm>
          <a:prstGeom prst="roundRect">
            <a:avLst>
              <a:gd name="adj" fmla="val 10667"/>
            </a:avLst>
          </a:prstGeom>
          <a:solidFill>
            <a:srgbClr val="F8FAFB"/>
          </a:solidFill>
          <a:ln/>
          <a:effectLst>
            <a:outerShdw blurRad="76200" dist="25400" dir="2700000" algn="bl" rotWithShape="0">
              <a:srgbClr val="000000">
                <a:alpha val="12000"/>
              </a:srgbClr>
            </a:outerShdw>
          </a:effectLst>
        </p:spPr>
        <p:txBody>
          <a:bodyPr/>
          <a:lstStyle/>
          <a:p>
            <a:endParaRPr lang="en-IE"/>
          </a:p>
        </p:txBody>
      </p:sp>
      <p:sp>
        <p:nvSpPr>
          <p:cNvPr id="9" name="Shape 7"/>
          <p:cNvSpPr/>
          <p:nvPr/>
        </p:nvSpPr>
        <p:spPr>
          <a:xfrm>
            <a:off x="274320" y="1764792"/>
            <a:ext cx="1188720" cy="685800"/>
          </a:xfrm>
          <a:prstGeom prst="roundRect">
            <a:avLst>
              <a:gd name="adj" fmla="val 10667"/>
            </a:avLst>
          </a:prstGeom>
          <a:solidFill>
            <a:srgbClr val="0D7B6E"/>
          </a:solidFill>
          <a:ln/>
        </p:spPr>
        <p:txBody>
          <a:bodyPr/>
          <a:lstStyle/>
          <a:p>
            <a:endParaRPr lang="en-IE"/>
          </a:p>
        </p:txBody>
      </p:sp>
      <p:sp>
        <p:nvSpPr>
          <p:cNvPr id="10" name="Text 8"/>
          <p:cNvSpPr/>
          <p:nvPr/>
        </p:nvSpPr>
        <p:spPr>
          <a:xfrm>
            <a:off x="320040" y="1929384"/>
            <a:ext cx="1097280" cy="365760"/>
          </a:xfrm>
          <a:prstGeom prst="rect">
            <a:avLst/>
          </a:prstGeom>
          <a:noFill/>
          <a:ln/>
        </p:spPr>
        <p:txBody>
          <a:bodyPr wrap="square" lIns="0" tIns="0" rIns="0" bIns="0" rtlCol="0" anchor="ctr"/>
          <a:lstStyle/>
          <a:p>
            <a:pPr marL="0" indent="0" algn="ctr">
              <a:buNone/>
            </a:pPr>
            <a:r>
              <a:rPr lang="en-US" sz="1100" b="1" dirty="0">
                <a:solidFill>
                  <a:srgbClr val="FFFFFF"/>
                </a:solidFill>
              </a:rPr>
              <a:t>Pushed</a:t>
            </a:r>
            <a:endParaRPr lang="en-US" sz="1100" dirty="0"/>
          </a:p>
        </p:txBody>
      </p:sp>
      <p:sp>
        <p:nvSpPr>
          <p:cNvPr id="11" name="Text 9"/>
          <p:cNvSpPr/>
          <p:nvPr/>
        </p:nvSpPr>
        <p:spPr>
          <a:xfrm>
            <a:off x="1600200" y="1929384"/>
            <a:ext cx="7132320" cy="365760"/>
          </a:xfrm>
          <a:prstGeom prst="rect">
            <a:avLst/>
          </a:prstGeom>
          <a:noFill/>
          <a:ln/>
        </p:spPr>
        <p:txBody>
          <a:bodyPr wrap="square" lIns="0" tIns="0" rIns="0" bIns="0" rtlCol="0" anchor="ctr"/>
          <a:lstStyle/>
          <a:p>
            <a:pPr marL="0" indent="0">
              <a:buNone/>
            </a:pPr>
            <a:r>
              <a:rPr lang="en-US" sz="1200" dirty="0">
                <a:solidFill>
                  <a:srgbClr val="1E293B"/>
                </a:solidFill>
              </a:rPr>
              <a:t>Incentivised by another actor — e.g. insurance telematics</a:t>
            </a:r>
            <a:endParaRPr lang="en-US" sz="1200" dirty="0"/>
          </a:p>
        </p:txBody>
      </p:sp>
      <p:sp>
        <p:nvSpPr>
          <p:cNvPr id="12" name="Shape 10"/>
          <p:cNvSpPr/>
          <p:nvPr/>
        </p:nvSpPr>
        <p:spPr>
          <a:xfrm>
            <a:off x="274320" y="2569464"/>
            <a:ext cx="8595360" cy="685800"/>
          </a:xfrm>
          <a:prstGeom prst="roundRect">
            <a:avLst>
              <a:gd name="adj" fmla="val 10667"/>
            </a:avLst>
          </a:prstGeom>
          <a:solidFill>
            <a:srgbClr val="F8FAFB"/>
          </a:solidFill>
          <a:ln/>
          <a:effectLst>
            <a:outerShdw blurRad="76200" dist="25400" dir="2700000" algn="bl" rotWithShape="0">
              <a:srgbClr val="000000">
                <a:alpha val="12000"/>
              </a:srgbClr>
            </a:outerShdw>
          </a:effectLst>
        </p:spPr>
        <p:txBody>
          <a:bodyPr/>
          <a:lstStyle/>
          <a:p>
            <a:endParaRPr lang="en-IE"/>
          </a:p>
        </p:txBody>
      </p:sp>
      <p:sp>
        <p:nvSpPr>
          <p:cNvPr id="13" name="Shape 11"/>
          <p:cNvSpPr/>
          <p:nvPr/>
        </p:nvSpPr>
        <p:spPr>
          <a:xfrm>
            <a:off x="274320" y="2569464"/>
            <a:ext cx="1188720" cy="685800"/>
          </a:xfrm>
          <a:prstGeom prst="roundRect">
            <a:avLst>
              <a:gd name="adj" fmla="val 10667"/>
            </a:avLst>
          </a:prstGeom>
          <a:solidFill>
            <a:srgbClr val="E07B39"/>
          </a:solidFill>
          <a:ln/>
        </p:spPr>
        <p:txBody>
          <a:bodyPr/>
          <a:lstStyle/>
          <a:p>
            <a:endParaRPr lang="en-IE"/>
          </a:p>
        </p:txBody>
      </p:sp>
      <p:sp>
        <p:nvSpPr>
          <p:cNvPr id="14" name="Text 12"/>
          <p:cNvSpPr/>
          <p:nvPr/>
        </p:nvSpPr>
        <p:spPr>
          <a:xfrm>
            <a:off x="320040" y="2734056"/>
            <a:ext cx="1097280" cy="365760"/>
          </a:xfrm>
          <a:prstGeom prst="rect">
            <a:avLst/>
          </a:prstGeom>
          <a:noFill/>
          <a:ln/>
        </p:spPr>
        <p:txBody>
          <a:bodyPr wrap="square" lIns="0" tIns="0" rIns="0" bIns="0" rtlCol="0" anchor="ctr"/>
          <a:lstStyle/>
          <a:p>
            <a:pPr marL="0" indent="0" algn="ctr">
              <a:buNone/>
            </a:pPr>
            <a:r>
              <a:rPr lang="en-US" sz="1100" b="1" dirty="0">
                <a:solidFill>
                  <a:srgbClr val="FFFFFF"/>
                </a:solidFill>
              </a:rPr>
              <a:t>Imposed</a:t>
            </a:r>
            <a:endParaRPr lang="en-US" sz="1100" dirty="0"/>
          </a:p>
        </p:txBody>
      </p:sp>
      <p:sp>
        <p:nvSpPr>
          <p:cNvPr id="15" name="Text 13"/>
          <p:cNvSpPr/>
          <p:nvPr/>
        </p:nvSpPr>
        <p:spPr>
          <a:xfrm>
            <a:off x="1600200" y="2734056"/>
            <a:ext cx="7132320" cy="365760"/>
          </a:xfrm>
          <a:prstGeom prst="rect">
            <a:avLst/>
          </a:prstGeom>
          <a:noFill/>
          <a:ln/>
        </p:spPr>
        <p:txBody>
          <a:bodyPr wrap="square" lIns="0" tIns="0" rIns="0" bIns="0" rtlCol="0" anchor="ctr"/>
          <a:lstStyle/>
          <a:p>
            <a:pPr marL="0" indent="0">
              <a:buNone/>
            </a:pPr>
            <a:r>
              <a:rPr lang="en-US" sz="1200" dirty="0">
                <a:solidFill>
                  <a:srgbClr val="1E293B"/>
                </a:solidFill>
              </a:rPr>
              <a:t>Coercively enforced — user must accept to access the service</a:t>
            </a:r>
            <a:endParaRPr lang="en-US" sz="1200" dirty="0"/>
          </a:p>
        </p:txBody>
      </p:sp>
      <p:sp>
        <p:nvSpPr>
          <p:cNvPr id="16" name="Shape 14"/>
          <p:cNvSpPr/>
          <p:nvPr/>
        </p:nvSpPr>
        <p:spPr>
          <a:xfrm>
            <a:off x="274320" y="3374136"/>
            <a:ext cx="8595360" cy="685800"/>
          </a:xfrm>
          <a:prstGeom prst="roundRect">
            <a:avLst>
              <a:gd name="adj" fmla="val 10667"/>
            </a:avLst>
          </a:prstGeom>
          <a:solidFill>
            <a:srgbClr val="F8FAFB"/>
          </a:solidFill>
          <a:ln/>
          <a:effectLst>
            <a:outerShdw blurRad="76200" dist="25400" dir="2700000" algn="bl" rotWithShape="0">
              <a:srgbClr val="000000">
                <a:alpha val="12000"/>
              </a:srgbClr>
            </a:outerShdw>
          </a:effectLst>
        </p:spPr>
        <p:txBody>
          <a:bodyPr/>
          <a:lstStyle/>
          <a:p>
            <a:endParaRPr lang="en-IE"/>
          </a:p>
        </p:txBody>
      </p:sp>
      <p:sp>
        <p:nvSpPr>
          <p:cNvPr id="17" name="Shape 15"/>
          <p:cNvSpPr/>
          <p:nvPr/>
        </p:nvSpPr>
        <p:spPr>
          <a:xfrm>
            <a:off x="274320" y="3374136"/>
            <a:ext cx="1188720" cy="685800"/>
          </a:xfrm>
          <a:prstGeom prst="roundRect">
            <a:avLst>
              <a:gd name="adj" fmla="val 10667"/>
            </a:avLst>
          </a:prstGeom>
          <a:solidFill>
            <a:srgbClr val="1B998B"/>
          </a:solidFill>
          <a:ln/>
        </p:spPr>
        <p:txBody>
          <a:bodyPr/>
          <a:lstStyle/>
          <a:p>
            <a:endParaRPr lang="en-IE"/>
          </a:p>
        </p:txBody>
      </p:sp>
      <p:sp>
        <p:nvSpPr>
          <p:cNvPr id="18" name="Text 16"/>
          <p:cNvSpPr/>
          <p:nvPr/>
        </p:nvSpPr>
        <p:spPr>
          <a:xfrm>
            <a:off x="320040" y="3538728"/>
            <a:ext cx="1097280" cy="365760"/>
          </a:xfrm>
          <a:prstGeom prst="rect">
            <a:avLst/>
          </a:prstGeom>
          <a:noFill/>
          <a:ln/>
        </p:spPr>
        <p:txBody>
          <a:bodyPr wrap="square" lIns="0" tIns="0" rIns="0" bIns="0" rtlCol="0" anchor="ctr"/>
          <a:lstStyle/>
          <a:p>
            <a:pPr marL="0" indent="0" algn="ctr">
              <a:buNone/>
            </a:pPr>
            <a:r>
              <a:rPr lang="en-US" sz="1100" b="1" dirty="0">
                <a:solidFill>
                  <a:srgbClr val="FFFFFF"/>
                </a:solidFill>
              </a:rPr>
              <a:t>Communal</a:t>
            </a:r>
            <a:endParaRPr lang="en-US" sz="1100" dirty="0"/>
          </a:p>
        </p:txBody>
      </p:sp>
      <p:sp>
        <p:nvSpPr>
          <p:cNvPr id="19" name="Text 17"/>
          <p:cNvSpPr/>
          <p:nvPr/>
        </p:nvSpPr>
        <p:spPr>
          <a:xfrm>
            <a:off x="1600200" y="3538728"/>
            <a:ext cx="7132320" cy="365760"/>
          </a:xfrm>
          <a:prstGeom prst="rect">
            <a:avLst/>
          </a:prstGeom>
          <a:noFill/>
          <a:ln/>
        </p:spPr>
        <p:txBody>
          <a:bodyPr wrap="square" lIns="0" tIns="0" rIns="0" bIns="0" rtlCol="0" anchor="ctr"/>
          <a:lstStyle/>
          <a:p>
            <a:pPr marL="0" indent="0">
              <a:buNone/>
            </a:pPr>
            <a:r>
              <a:rPr lang="en-US" sz="1200" dirty="0">
                <a:solidFill>
                  <a:srgbClr val="1E293B"/>
                </a:solidFill>
              </a:rPr>
              <a:t>Pooled self-tracking data — e.g. CleanSpace air quality tags</a:t>
            </a:r>
            <a:endParaRPr lang="en-US" sz="1200" dirty="0"/>
          </a:p>
        </p:txBody>
      </p:sp>
      <p:sp>
        <p:nvSpPr>
          <p:cNvPr id="20" name="Shape 18"/>
          <p:cNvSpPr/>
          <p:nvPr/>
        </p:nvSpPr>
        <p:spPr>
          <a:xfrm>
            <a:off x="274320" y="4178808"/>
            <a:ext cx="8595360" cy="685800"/>
          </a:xfrm>
          <a:prstGeom prst="roundRect">
            <a:avLst>
              <a:gd name="adj" fmla="val 10667"/>
            </a:avLst>
          </a:prstGeom>
          <a:solidFill>
            <a:srgbClr val="F8FAFB"/>
          </a:solidFill>
          <a:ln/>
          <a:effectLst>
            <a:outerShdw blurRad="76200" dist="25400" dir="2700000" algn="bl" rotWithShape="0">
              <a:srgbClr val="000000">
                <a:alpha val="12000"/>
              </a:srgbClr>
            </a:outerShdw>
          </a:effectLst>
        </p:spPr>
        <p:txBody>
          <a:bodyPr/>
          <a:lstStyle/>
          <a:p>
            <a:endParaRPr lang="en-IE"/>
          </a:p>
        </p:txBody>
      </p:sp>
      <p:sp>
        <p:nvSpPr>
          <p:cNvPr id="21" name="Shape 19"/>
          <p:cNvSpPr/>
          <p:nvPr/>
        </p:nvSpPr>
        <p:spPr>
          <a:xfrm>
            <a:off x="274320" y="4178808"/>
            <a:ext cx="1188720" cy="685800"/>
          </a:xfrm>
          <a:prstGeom prst="roundRect">
            <a:avLst>
              <a:gd name="adj" fmla="val 10667"/>
            </a:avLst>
          </a:prstGeom>
          <a:solidFill>
            <a:srgbClr val="C0392B"/>
          </a:solidFill>
          <a:ln/>
        </p:spPr>
        <p:txBody>
          <a:bodyPr/>
          <a:lstStyle/>
          <a:p>
            <a:endParaRPr lang="en-IE"/>
          </a:p>
        </p:txBody>
      </p:sp>
      <p:sp>
        <p:nvSpPr>
          <p:cNvPr id="22" name="Text 20"/>
          <p:cNvSpPr/>
          <p:nvPr/>
        </p:nvSpPr>
        <p:spPr>
          <a:xfrm>
            <a:off x="320040" y="4343400"/>
            <a:ext cx="1097280" cy="365760"/>
          </a:xfrm>
          <a:prstGeom prst="rect">
            <a:avLst/>
          </a:prstGeom>
          <a:noFill/>
          <a:ln/>
        </p:spPr>
        <p:txBody>
          <a:bodyPr wrap="square" lIns="0" tIns="0" rIns="0" bIns="0" rtlCol="0" anchor="ctr"/>
          <a:lstStyle/>
          <a:p>
            <a:pPr marL="0" indent="0" algn="ctr">
              <a:buNone/>
            </a:pPr>
            <a:r>
              <a:rPr lang="en-US" sz="1100" b="1" dirty="0">
                <a:solidFill>
                  <a:srgbClr val="FFFFFF"/>
                </a:solidFill>
              </a:rPr>
              <a:t>Exploited</a:t>
            </a:r>
            <a:endParaRPr lang="en-US" sz="1100" dirty="0"/>
          </a:p>
        </p:txBody>
      </p:sp>
      <p:sp>
        <p:nvSpPr>
          <p:cNvPr id="23" name="Text 21"/>
          <p:cNvSpPr/>
          <p:nvPr/>
        </p:nvSpPr>
        <p:spPr>
          <a:xfrm>
            <a:off x="1600200" y="4343400"/>
            <a:ext cx="7132320" cy="365760"/>
          </a:xfrm>
          <a:prstGeom prst="rect">
            <a:avLst/>
          </a:prstGeom>
          <a:noFill/>
          <a:ln/>
        </p:spPr>
        <p:txBody>
          <a:bodyPr wrap="square" lIns="0" tIns="0" rIns="0" bIns="0" rtlCol="0" anchor="ctr"/>
          <a:lstStyle/>
          <a:p>
            <a:pPr marL="0" indent="0">
              <a:buNone/>
            </a:pPr>
            <a:r>
              <a:rPr lang="en-US" sz="1200" dirty="0">
                <a:solidFill>
                  <a:srgbClr val="1E293B"/>
                </a:solidFill>
              </a:rPr>
              <a:t>Self-tracking data used commercially — e.g. Pokémon Go location data</a:t>
            </a:r>
            <a:endParaRPr lang="en-US" sz="1200" dirty="0"/>
          </a:p>
        </p:txBody>
      </p:sp>
      <p:sp>
        <p:nvSpPr>
          <p:cNvPr id="24" name="Text 22"/>
          <p:cNvSpPr/>
          <p:nvPr/>
        </p:nvSpPr>
        <p:spPr>
          <a:xfrm>
            <a:off x="457200" y="4892040"/>
            <a:ext cx="8229600" cy="228600"/>
          </a:xfrm>
          <a:prstGeom prst="rect">
            <a:avLst/>
          </a:prstGeom>
          <a:noFill/>
          <a:ln/>
        </p:spPr>
        <p:txBody>
          <a:bodyPr wrap="square" rtlCol="0" anchor="ctr"/>
          <a:lstStyle/>
          <a:p>
            <a:pPr marL="0" indent="0">
              <a:buNone/>
            </a:pPr>
            <a:r>
              <a:rPr lang="en-US" sz="900" i="1" dirty="0">
                <a:solidFill>
                  <a:srgbClr val="64748B"/>
                </a:solidFill>
              </a:rPr>
              <a:t>Source: Lupton (2014), cited in Royal Society Case Studies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3349"/>
          </a:solidFill>
          <a:ln/>
        </p:spPr>
        <p:txBody>
          <a:bodyPr/>
          <a:lstStyle/>
          <a:p>
            <a:endParaRPr lang="en-IE"/>
          </a:p>
        </p:txBody>
      </p:sp>
      <p:sp>
        <p:nvSpPr>
          <p:cNvPr id="3" name="Text 1"/>
          <p:cNvSpPr/>
          <p:nvPr/>
        </p:nvSpPr>
        <p:spPr>
          <a:xfrm>
            <a:off x="457200" y="91440"/>
            <a:ext cx="8229600" cy="640080"/>
          </a:xfrm>
          <a:prstGeom prst="rect">
            <a:avLst/>
          </a:prstGeom>
          <a:noFill/>
          <a:ln/>
        </p:spPr>
        <p:txBody>
          <a:bodyPr wrap="square" rtlCol="0" anchor="ctr"/>
          <a:lstStyle/>
          <a:p>
            <a:pPr marL="0" indent="0">
              <a:buNone/>
            </a:pPr>
            <a:r>
              <a:rPr lang="en-US" sz="2200" b="1" dirty="0">
                <a:solidFill>
                  <a:srgbClr val="FFFFFF"/>
                </a:solidFill>
              </a:rPr>
              <a:t>Opportunities: Using Location Data for Good</a:t>
            </a:r>
            <a:endParaRPr lang="en-US" sz="2200" dirty="0"/>
          </a:p>
        </p:txBody>
      </p:sp>
      <p:sp>
        <p:nvSpPr>
          <p:cNvPr id="4" name="Shape 2"/>
          <p:cNvSpPr/>
          <p:nvPr/>
        </p:nvSpPr>
        <p:spPr>
          <a:xfrm>
            <a:off x="274320" y="914400"/>
            <a:ext cx="4114800" cy="3931920"/>
          </a:xfrm>
          <a:prstGeom prst="roundRect">
            <a:avLst>
              <a:gd name="adj" fmla="val 2326"/>
            </a:avLst>
          </a:prstGeom>
          <a:solidFill>
            <a:srgbClr val="F1F5F9"/>
          </a:solidFill>
          <a:ln/>
        </p:spPr>
        <p:txBody>
          <a:bodyPr/>
          <a:lstStyle/>
          <a:p>
            <a:endParaRPr lang="en-IE"/>
          </a:p>
        </p:txBody>
      </p:sp>
      <p:sp>
        <p:nvSpPr>
          <p:cNvPr id="5" name="Text 3"/>
          <p:cNvSpPr/>
          <p:nvPr/>
        </p:nvSpPr>
        <p:spPr>
          <a:xfrm>
            <a:off x="457200" y="1005840"/>
            <a:ext cx="3749040" cy="457200"/>
          </a:xfrm>
          <a:prstGeom prst="rect">
            <a:avLst/>
          </a:prstGeom>
          <a:noFill/>
          <a:ln/>
        </p:spPr>
        <p:txBody>
          <a:bodyPr wrap="square" rtlCol="0" anchor="ctr"/>
          <a:lstStyle/>
          <a:p>
            <a:pPr marL="0" indent="0">
              <a:buNone/>
            </a:pPr>
            <a:r>
              <a:rPr lang="en-US" sz="1400" b="1" dirty="0">
                <a:solidFill>
                  <a:srgbClr val="0D7B6E"/>
                </a:solidFill>
              </a:rPr>
              <a:t>Evidence-Based Urban Planning</a:t>
            </a:r>
            <a:endParaRPr lang="en-US" sz="1400" dirty="0"/>
          </a:p>
        </p:txBody>
      </p:sp>
      <p:sp>
        <p:nvSpPr>
          <p:cNvPr id="6" name="Text 4"/>
          <p:cNvSpPr/>
          <p:nvPr/>
        </p:nvSpPr>
        <p:spPr>
          <a:xfrm>
            <a:off x="457200" y="1508760"/>
            <a:ext cx="3749040" cy="3108960"/>
          </a:xfrm>
          <a:prstGeom prst="rect">
            <a:avLst/>
          </a:prstGeom>
          <a:noFill/>
          <a:ln/>
        </p:spPr>
        <p:txBody>
          <a:bodyPr wrap="square" rtlCol="0" anchor="ctr"/>
          <a:lstStyle/>
          <a:p>
            <a:pPr marL="0" indent="0">
              <a:buNone/>
            </a:pPr>
            <a:r>
              <a:rPr lang="en-US" sz="1100" b="1" dirty="0">
                <a:solidFill>
                  <a:srgbClr val="1E293B"/>
                </a:solidFill>
              </a:rPr>
              <a:t>Strava Metro</a:t>
            </a:r>
            <a:endParaRPr lang="en-US" sz="1100" dirty="0"/>
          </a:p>
          <a:p>
            <a:pPr marL="0" indent="0">
              <a:buNone/>
            </a:pPr>
            <a:r>
              <a:rPr lang="en-US" sz="1100" dirty="0">
                <a:solidFill>
                  <a:srgbClr val="1E293B"/>
                </a:solidFill>
              </a:rPr>
              <a:t>7M+ cycle journeys uploaded in London (2015–16). Sold to local authorities for planning.
</a:t>
            </a:r>
            <a:endParaRPr lang="en-US" sz="1100" dirty="0"/>
          </a:p>
          <a:p>
            <a:pPr marL="0" indent="0">
              <a:buNone/>
            </a:pPr>
            <a:r>
              <a:rPr lang="en-US" sz="1100" b="1" dirty="0">
                <a:solidFill>
                  <a:srgbClr val="1E293B"/>
                </a:solidFill>
              </a:rPr>
              <a:t>Uber Movement</a:t>
            </a:r>
            <a:endParaRPr lang="en-US" sz="1100" dirty="0"/>
          </a:p>
          <a:p>
            <a:pPr marL="0" indent="0">
              <a:buNone/>
            </a:pPr>
            <a:r>
              <a:rPr lang="en-US" sz="1100" dirty="0">
                <a:solidFill>
                  <a:srgbClr val="1E293B"/>
                </a:solidFill>
              </a:rPr>
              <a:t>Free summary journey data for city planners.
</a:t>
            </a:r>
            <a:endParaRPr lang="en-US" sz="1100" dirty="0"/>
          </a:p>
          <a:p>
            <a:pPr marL="0" indent="0">
              <a:buNone/>
            </a:pPr>
            <a:r>
              <a:rPr lang="en-US" sz="1100" b="1" dirty="0">
                <a:solidFill>
                  <a:srgbClr val="1E293B"/>
                </a:solidFill>
              </a:rPr>
              <a:t>Waze</a:t>
            </a:r>
            <a:endParaRPr lang="en-US" sz="1100" dirty="0"/>
          </a:p>
          <a:p>
            <a:pPr marL="0" indent="0">
              <a:buNone/>
            </a:pPr>
            <a:r>
              <a:rPr lang="en-US" sz="1100" dirty="0">
                <a:solidFill>
                  <a:srgbClr val="1E293B"/>
                </a:solidFill>
              </a:rPr>
              <a:t>Collaborates with cities for road planning &amp; traffic management.</a:t>
            </a:r>
            <a:endParaRPr lang="en-US" sz="1100" dirty="0"/>
          </a:p>
        </p:txBody>
      </p:sp>
      <p:sp>
        <p:nvSpPr>
          <p:cNvPr id="7" name="Shape 5"/>
          <p:cNvSpPr/>
          <p:nvPr/>
        </p:nvSpPr>
        <p:spPr>
          <a:xfrm>
            <a:off x="4663440" y="914400"/>
            <a:ext cx="4114800" cy="3931920"/>
          </a:xfrm>
          <a:prstGeom prst="roundRect">
            <a:avLst>
              <a:gd name="adj" fmla="val 2326"/>
            </a:avLst>
          </a:prstGeom>
          <a:solidFill>
            <a:srgbClr val="FFF8F0"/>
          </a:solidFill>
          <a:ln/>
        </p:spPr>
        <p:txBody>
          <a:bodyPr/>
          <a:lstStyle/>
          <a:p>
            <a:endParaRPr lang="en-IE"/>
          </a:p>
        </p:txBody>
      </p:sp>
      <p:sp>
        <p:nvSpPr>
          <p:cNvPr id="8" name="Text 6"/>
          <p:cNvSpPr/>
          <p:nvPr/>
        </p:nvSpPr>
        <p:spPr>
          <a:xfrm>
            <a:off x="4846320" y="1005840"/>
            <a:ext cx="3749040" cy="457200"/>
          </a:xfrm>
          <a:prstGeom prst="rect">
            <a:avLst/>
          </a:prstGeom>
          <a:noFill/>
          <a:ln/>
        </p:spPr>
        <p:txBody>
          <a:bodyPr wrap="square" rtlCol="0" anchor="ctr"/>
          <a:lstStyle/>
          <a:p>
            <a:pPr marL="0" indent="0">
              <a:buNone/>
            </a:pPr>
            <a:r>
              <a:rPr lang="en-US" sz="1400" b="1" dirty="0">
                <a:solidFill>
                  <a:srgbClr val="E8A020"/>
                </a:solidFill>
              </a:rPr>
              <a:t>Broader Benefits</a:t>
            </a:r>
            <a:endParaRPr lang="en-US" sz="1400" dirty="0"/>
          </a:p>
        </p:txBody>
      </p:sp>
      <p:sp>
        <p:nvSpPr>
          <p:cNvPr id="9" name="Text 7"/>
          <p:cNvSpPr/>
          <p:nvPr/>
        </p:nvSpPr>
        <p:spPr>
          <a:xfrm>
            <a:off x="4846320" y="1508760"/>
            <a:ext cx="3749040" cy="3108960"/>
          </a:xfrm>
          <a:prstGeom prst="rect">
            <a:avLst/>
          </a:prstGeom>
          <a:noFill/>
          <a:ln/>
        </p:spPr>
        <p:txBody>
          <a:bodyPr wrap="square" rtlCol="0" anchor="ctr"/>
          <a:lstStyle/>
          <a:p>
            <a:pPr marL="0" indent="0">
              <a:buNone/>
            </a:pPr>
            <a:r>
              <a:rPr lang="en-US" sz="1100" b="1" dirty="0">
                <a:solidFill>
                  <a:srgbClr val="1E293B"/>
                </a:solidFill>
              </a:rPr>
              <a:t>Cheaper &amp; richer data </a:t>
            </a:r>
            <a:r>
              <a:rPr lang="en-US" sz="1100" dirty="0">
                <a:solidFill>
                  <a:srgbClr val="1E293B"/>
                </a:solidFill>
              </a:rPr>
              <a:t>than traditional volunteer counts or surveys.
</a:t>
            </a:r>
            <a:endParaRPr lang="en-US" sz="1100" dirty="0"/>
          </a:p>
          <a:p>
            <a:pPr marL="0" indent="0">
              <a:buNone/>
            </a:pPr>
            <a:r>
              <a:rPr lang="en-US" sz="1100" b="1" dirty="0">
                <a:solidFill>
                  <a:srgbClr val="1E293B"/>
                </a:solidFill>
              </a:rPr>
              <a:t>Transferable methodologies </a:t>
            </a:r>
            <a:r>
              <a:rPr lang="en-US" sz="1100" dirty="0">
                <a:solidFill>
                  <a:srgbClr val="1E293B"/>
                </a:solidFill>
              </a:rPr>
              <a:t>for regions with low analytical capacity.
</a:t>
            </a:r>
            <a:endParaRPr lang="en-US" sz="1100" dirty="0"/>
          </a:p>
          <a:p>
            <a:pPr marL="0" indent="0">
              <a:buNone/>
            </a:pPr>
            <a:r>
              <a:rPr lang="en-US" sz="1100" b="1" dirty="0">
                <a:solidFill>
                  <a:srgbClr val="1E293B"/>
                </a:solidFill>
              </a:rPr>
              <a:t>Public health monitoring </a:t>
            </a:r>
            <a:r>
              <a:rPr lang="en-US" sz="1100" dirty="0">
                <a:solidFill>
                  <a:srgbClr val="1E293B"/>
                </a:solidFill>
              </a:rPr>
              <a:t>of elderly individuals to extend independent living.
</a:t>
            </a:r>
            <a:endParaRPr lang="en-US" sz="1100" dirty="0"/>
          </a:p>
          <a:p>
            <a:pPr marL="0" indent="0">
              <a:buNone/>
            </a:pPr>
            <a:r>
              <a:rPr lang="en-US" sz="1100" b="1" dirty="0">
                <a:solidFill>
                  <a:srgbClr val="1E293B"/>
                </a:solidFill>
              </a:rPr>
              <a:t>Smart city infrastructure </a:t>
            </a:r>
            <a:r>
              <a:rPr lang="en-US" sz="1100" dirty="0">
                <a:solidFill>
                  <a:srgbClr val="1E293B"/>
                </a:solidFill>
              </a:rPr>
              <a:t>optimisation through real-time sensor feeds.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C0392B"/>
          </a:solidFill>
          <a:ln/>
        </p:spPr>
        <p:txBody>
          <a:bodyPr/>
          <a:lstStyle/>
          <a:p>
            <a:endParaRPr lang="en-IE"/>
          </a:p>
        </p:txBody>
      </p:sp>
      <p:sp>
        <p:nvSpPr>
          <p:cNvPr id="3" name="Text 1"/>
          <p:cNvSpPr/>
          <p:nvPr/>
        </p:nvSpPr>
        <p:spPr>
          <a:xfrm>
            <a:off x="457200" y="91440"/>
            <a:ext cx="8229600" cy="640080"/>
          </a:xfrm>
          <a:prstGeom prst="rect">
            <a:avLst/>
          </a:prstGeom>
          <a:noFill/>
          <a:ln/>
        </p:spPr>
        <p:txBody>
          <a:bodyPr wrap="square" rtlCol="0" anchor="ctr"/>
          <a:lstStyle/>
          <a:p>
            <a:pPr marL="0" indent="0">
              <a:buNone/>
            </a:pPr>
            <a:r>
              <a:rPr lang="en-US" sz="2200" b="1" dirty="0">
                <a:solidFill>
                  <a:srgbClr val="FFFFFF"/>
                </a:solidFill>
              </a:rPr>
              <a:t>Discussion Topic 1: Re-identification Risk</a:t>
            </a:r>
            <a:endParaRPr lang="en-US" sz="2200" dirty="0"/>
          </a:p>
        </p:txBody>
      </p:sp>
      <p:sp>
        <p:nvSpPr>
          <p:cNvPr id="4" name="Shape 2"/>
          <p:cNvSpPr/>
          <p:nvPr/>
        </p:nvSpPr>
        <p:spPr>
          <a:xfrm>
            <a:off x="274320" y="914400"/>
            <a:ext cx="2743200" cy="2560320"/>
          </a:xfrm>
          <a:prstGeom prst="roundRect">
            <a:avLst>
              <a:gd name="adj" fmla="val 4286"/>
            </a:avLst>
          </a:prstGeom>
          <a:solidFill>
            <a:srgbClr val="FEF2F2"/>
          </a:solidFill>
          <a:ln/>
        </p:spPr>
        <p:txBody>
          <a:bodyPr/>
          <a:lstStyle/>
          <a:p>
            <a:endParaRPr lang="en-IE"/>
          </a:p>
        </p:txBody>
      </p:sp>
      <p:sp>
        <p:nvSpPr>
          <p:cNvPr id="5" name="Text 3"/>
          <p:cNvSpPr/>
          <p:nvPr/>
        </p:nvSpPr>
        <p:spPr>
          <a:xfrm>
            <a:off x="274320" y="1097280"/>
            <a:ext cx="2743200" cy="1097280"/>
          </a:xfrm>
          <a:prstGeom prst="rect">
            <a:avLst/>
          </a:prstGeom>
          <a:noFill/>
          <a:ln/>
        </p:spPr>
        <p:txBody>
          <a:bodyPr wrap="square" rtlCol="0" anchor="ctr"/>
          <a:lstStyle/>
          <a:p>
            <a:pPr marL="0" indent="0" algn="ctr">
              <a:buNone/>
            </a:pPr>
            <a:r>
              <a:rPr lang="en-US" sz="7200" b="1" dirty="0">
                <a:solidFill>
                  <a:srgbClr val="C0392B"/>
                </a:solidFill>
              </a:rPr>
              <a:t>95%</a:t>
            </a:r>
            <a:endParaRPr lang="en-US" sz="7200" dirty="0"/>
          </a:p>
        </p:txBody>
      </p:sp>
      <p:sp>
        <p:nvSpPr>
          <p:cNvPr id="6" name="Text 4"/>
          <p:cNvSpPr/>
          <p:nvPr/>
        </p:nvSpPr>
        <p:spPr>
          <a:xfrm>
            <a:off x="320040" y="2194560"/>
            <a:ext cx="2651760" cy="1097280"/>
          </a:xfrm>
          <a:prstGeom prst="rect">
            <a:avLst/>
          </a:prstGeom>
          <a:noFill/>
          <a:ln/>
        </p:spPr>
        <p:txBody>
          <a:bodyPr wrap="square" rtlCol="0" anchor="ctr"/>
          <a:lstStyle/>
          <a:p>
            <a:pPr marL="0" indent="0" algn="ctr">
              <a:buNone/>
            </a:pPr>
            <a:r>
              <a:rPr lang="en-US" sz="1100" dirty="0">
                <a:solidFill>
                  <a:srgbClr val="1E293B"/>
                </a:solidFill>
              </a:rPr>
              <a:t>of individuals are uniquely</a:t>
            </a:r>
            <a:endParaRPr lang="en-US" sz="1100" dirty="0"/>
          </a:p>
          <a:p>
            <a:pPr marL="0" indent="0" algn="ctr">
              <a:buNone/>
            </a:pPr>
            <a:r>
              <a:rPr lang="en-US" sz="1100" dirty="0">
                <a:solidFill>
                  <a:srgbClr val="1E293B"/>
                </a:solidFill>
              </a:rPr>
              <a:t>identifiable from just</a:t>
            </a:r>
            <a:endParaRPr lang="en-US" sz="1100" dirty="0"/>
          </a:p>
          <a:p>
            <a:pPr marL="0" indent="0" algn="ctr">
              <a:buNone/>
            </a:pPr>
            <a:r>
              <a:rPr lang="en-US" sz="1100" dirty="0">
                <a:solidFill>
                  <a:srgbClr val="1E293B"/>
                </a:solidFill>
              </a:rPr>
              <a:t>4 spatiotemporal points</a:t>
            </a:r>
            <a:endParaRPr lang="en-US" sz="1100" dirty="0"/>
          </a:p>
        </p:txBody>
      </p:sp>
      <p:sp>
        <p:nvSpPr>
          <p:cNvPr id="7" name="Shape 5"/>
          <p:cNvSpPr/>
          <p:nvPr/>
        </p:nvSpPr>
        <p:spPr>
          <a:xfrm>
            <a:off x="3291840" y="914400"/>
            <a:ext cx="5577840" cy="2560320"/>
          </a:xfrm>
          <a:prstGeom prst="roundRect">
            <a:avLst>
              <a:gd name="adj" fmla="val 4286"/>
            </a:avLst>
          </a:prstGeom>
          <a:solidFill>
            <a:srgbClr val="F1F5F9"/>
          </a:solidFill>
          <a:ln/>
        </p:spPr>
        <p:txBody>
          <a:bodyPr/>
          <a:lstStyle/>
          <a:p>
            <a:endParaRPr lang="en-IE"/>
          </a:p>
        </p:txBody>
      </p:sp>
      <p:sp>
        <p:nvSpPr>
          <p:cNvPr id="8" name="Text 6"/>
          <p:cNvSpPr/>
          <p:nvPr/>
        </p:nvSpPr>
        <p:spPr>
          <a:xfrm>
            <a:off x="3474720" y="1005840"/>
            <a:ext cx="5212080" cy="365760"/>
          </a:xfrm>
          <a:prstGeom prst="rect">
            <a:avLst/>
          </a:prstGeom>
          <a:noFill/>
          <a:ln/>
        </p:spPr>
        <p:txBody>
          <a:bodyPr wrap="square" rtlCol="0" anchor="ctr"/>
          <a:lstStyle/>
          <a:p>
            <a:pPr marL="0" indent="0">
              <a:buNone/>
            </a:pPr>
            <a:r>
              <a:rPr lang="en-US" sz="1300" b="1" dirty="0">
                <a:solidFill>
                  <a:srgbClr val="0D3349"/>
                </a:solidFill>
              </a:rPr>
              <a:t>What Can Be Inferred from Location Data?</a:t>
            </a:r>
            <a:endParaRPr lang="en-US" sz="1300" dirty="0"/>
          </a:p>
        </p:txBody>
      </p:sp>
      <p:sp>
        <p:nvSpPr>
          <p:cNvPr id="9" name="Text 7"/>
          <p:cNvSpPr/>
          <p:nvPr/>
        </p:nvSpPr>
        <p:spPr>
          <a:xfrm>
            <a:off x="3474720" y="1417320"/>
            <a:ext cx="5212080" cy="1920240"/>
          </a:xfrm>
          <a:prstGeom prst="rect">
            <a:avLst/>
          </a:prstGeom>
          <a:noFill/>
          <a:ln/>
        </p:spPr>
        <p:txBody>
          <a:bodyPr wrap="square" rtlCol="0" anchor="ctr"/>
          <a:lstStyle/>
          <a:p>
            <a:pPr marL="0" indent="0">
              <a:buNone/>
            </a:pPr>
            <a:r>
              <a:rPr lang="en-US" sz="1100" b="1" dirty="0">
                <a:solidFill>
                  <a:srgbClr val="1E293B"/>
                </a:solidFill>
              </a:rPr>
              <a:t>Identity:</a:t>
            </a:r>
            <a:r>
              <a:rPr lang="en-US" sz="1100" dirty="0">
                <a:solidFill>
                  <a:srgbClr val="1E293B"/>
                </a:solidFill>
              </a:rPr>
              <a:t> Home/work pairs are often sufficient to uniquely identify a person
</a:t>
            </a:r>
            <a:endParaRPr lang="en-US" sz="1100" dirty="0"/>
          </a:p>
          <a:p>
            <a:pPr marL="0" indent="0">
              <a:buNone/>
            </a:pPr>
            <a:r>
              <a:rPr lang="en-US" sz="1100" b="1" dirty="0">
                <a:solidFill>
                  <a:srgbClr val="1E293B"/>
                </a:solidFill>
              </a:rPr>
              <a:t>Behaviour:</a:t>
            </a:r>
            <a:r>
              <a:rPr lang="en-US" sz="1100" dirty="0">
                <a:solidFill>
                  <a:srgbClr val="1E293B"/>
                </a:solidFill>
              </a:rPr>
              <a:t> Spending patterns, education, leisure, transport mode
</a:t>
            </a:r>
            <a:endParaRPr lang="en-US" sz="1100" dirty="0"/>
          </a:p>
          <a:p>
            <a:pPr marL="0" indent="0">
              <a:buNone/>
            </a:pPr>
            <a:r>
              <a:rPr lang="en-US" sz="1100" b="1" dirty="0">
                <a:solidFill>
                  <a:srgbClr val="1E293B"/>
                </a:solidFill>
              </a:rPr>
              <a:t>Income:</a:t>
            </a:r>
            <a:r>
              <a:rPr lang="en-US" sz="1100" dirty="0">
                <a:solidFill>
                  <a:srgbClr val="1E293B"/>
                </a:solidFill>
              </a:rPr>
              <a:t> Inferred from location clusters and areas visited
</a:t>
            </a:r>
            <a:endParaRPr lang="en-US" sz="1100" dirty="0"/>
          </a:p>
          <a:p>
            <a:pPr marL="0" indent="0">
              <a:buNone/>
            </a:pPr>
            <a:r>
              <a:rPr lang="en-US" sz="1100" b="1" dirty="0">
                <a:solidFill>
                  <a:srgbClr val="1E293B"/>
                </a:solidFill>
              </a:rPr>
              <a:t>Personality:</a:t>
            </a:r>
            <a:r>
              <a:rPr lang="en-US" sz="1100" dirty="0">
                <a:solidFill>
                  <a:srgbClr val="1E293B"/>
                </a:solidFill>
              </a:rPr>
              <a:t> Machine learning predicts personality from mobility patterns
</a:t>
            </a:r>
            <a:endParaRPr lang="en-US" sz="1100" dirty="0"/>
          </a:p>
          <a:p>
            <a:pPr marL="0" indent="0">
              <a:buNone/>
            </a:pPr>
            <a:r>
              <a:rPr lang="en-US" sz="1100" b="1" dirty="0">
                <a:solidFill>
                  <a:srgbClr val="1E293B"/>
                </a:solidFill>
              </a:rPr>
              <a:t>Future location:</a:t>
            </a:r>
            <a:r>
              <a:rPr lang="en-US" sz="1100" dirty="0">
                <a:solidFill>
                  <a:srgbClr val="1E293B"/>
                </a:solidFill>
              </a:rPr>
              <a:t> Predictability ceiling of ~88%</a:t>
            </a:r>
            <a:endParaRPr lang="en-US" sz="1100" dirty="0"/>
          </a:p>
        </p:txBody>
      </p:sp>
      <p:sp>
        <p:nvSpPr>
          <p:cNvPr id="10" name="Shape 8"/>
          <p:cNvSpPr/>
          <p:nvPr/>
        </p:nvSpPr>
        <p:spPr>
          <a:xfrm>
            <a:off x="274320" y="3657600"/>
            <a:ext cx="8595360" cy="1188720"/>
          </a:xfrm>
          <a:prstGeom prst="roundRect">
            <a:avLst>
              <a:gd name="adj" fmla="val 6154"/>
            </a:avLst>
          </a:prstGeom>
          <a:solidFill>
            <a:srgbClr val="FFF3CD"/>
          </a:solidFill>
          <a:ln/>
        </p:spPr>
        <p:txBody>
          <a:bodyPr/>
          <a:lstStyle/>
          <a:p>
            <a:endParaRPr lang="en-IE"/>
          </a:p>
        </p:txBody>
      </p:sp>
      <p:sp>
        <p:nvSpPr>
          <p:cNvPr id="11" name="Text 9"/>
          <p:cNvSpPr/>
          <p:nvPr/>
        </p:nvSpPr>
        <p:spPr>
          <a:xfrm>
            <a:off x="502920" y="3749040"/>
            <a:ext cx="1463040" cy="320040"/>
          </a:xfrm>
          <a:prstGeom prst="rect">
            <a:avLst/>
          </a:prstGeom>
          <a:noFill/>
          <a:ln/>
        </p:spPr>
        <p:txBody>
          <a:bodyPr wrap="square" lIns="0" tIns="0" rIns="0" bIns="0" rtlCol="0" anchor="ctr"/>
          <a:lstStyle/>
          <a:p>
            <a:pPr marL="0" indent="0">
              <a:buNone/>
            </a:pPr>
            <a:r>
              <a:rPr lang="en-US" sz="1100" b="1" dirty="0">
                <a:solidFill>
                  <a:srgbClr val="0D3349"/>
                </a:solidFill>
              </a:rPr>
              <a:t>Paper Example: </a:t>
            </a:r>
            <a:endParaRPr lang="en-US" sz="1100" dirty="0"/>
          </a:p>
        </p:txBody>
      </p:sp>
      <p:sp>
        <p:nvSpPr>
          <p:cNvPr id="12" name="Text 10"/>
          <p:cNvSpPr/>
          <p:nvPr/>
        </p:nvSpPr>
        <p:spPr>
          <a:xfrm>
            <a:off x="502920" y="4069080"/>
            <a:ext cx="8229600" cy="685800"/>
          </a:xfrm>
          <a:prstGeom prst="rect">
            <a:avLst/>
          </a:prstGeom>
          <a:noFill/>
          <a:ln/>
        </p:spPr>
        <p:txBody>
          <a:bodyPr wrap="square" rtlCol="0" anchor="ctr"/>
          <a:lstStyle/>
          <a:p>
            <a:pPr marL="0" indent="0">
              <a:buNone/>
            </a:pPr>
            <a:r>
              <a:rPr lang="en-US" sz="1050" dirty="0">
                <a:solidFill>
                  <a:srgbClr val="1E293B"/>
                </a:solidFill>
              </a:rPr>
              <a:t>De Montjoye et al. (2013) showed that even making datasets significantly coarser barely reduces re-identifiability — and for home/work pairs, the risk may be even higher. Open data (social media, landmarks, news) creates easy auxiliary linkage without specialist resources.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7B6E"/>
          </a:solidFill>
          <a:ln/>
        </p:spPr>
        <p:txBody>
          <a:bodyPr/>
          <a:lstStyle/>
          <a:p>
            <a:endParaRPr lang="en-IE"/>
          </a:p>
        </p:txBody>
      </p:sp>
      <p:sp>
        <p:nvSpPr>
          <p:cNvPr id="3" name="Text 1"/>
          <p:cNvSpPr/>
          <p:nvPr/>
        </p:nvSpPr>
        <p:spPr>
          <a:xfrm>
            <a:off x="457200" y="91440"/>
            <a:ext cx="8229600" cy="640080"/>
          </a:xfrm>
          <a:prstGeom prst="rect">
            <a:avLst/>
          </a:prstGeom>
          <a:noFill/>
          <a:ln/>
        </p:spPr>
        <p:txBody>
          <a:bodyPr wrap="square" rtlCol="0" anchor="ctr"/>
          <a:lstStyle/>
          <a:p>
            <a:pPr marL="0" indent="0">
              <a:buNone/>
            </a:pPr>
            <a:r>
              <a:rPr lang="en-US" sz="2200" b="1" dirty="0">
                <a:solidFill>
                  <a:srgbClr val="FFFFFF"/>
                </a:solidFill>
              </a:rPr>
              <a:t>Discussion Topic 2: The Consent Problem</a:t>
            </a:r>
            <a:endParaRPr lang="en-US" sz="2200" dirty="0"/>
          </a:p>
        </p:txBody>
      </p:sp>
      <p:sp>
        <p:nvSpPr>
          <p:cNvPr id="4" name="Shape 2"/>
          <p:cNvSpPr/>
          <p:nvPr/>
        </p:nvSpPr>
        <p:spPr>
          <a:xfrm>
            <a:off x="274320" y="914400"/>
            <a:ext cx="8595360" cy="685800"/>
          </a:xfrm>
          <a:prstGeom prst="roundRect">
            <a:avLst>
              <a:gd name="adj" fmla="val 10667"/>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5" name="Text 3"/>
          <p:cNvSpPr/>
          <p:nvPr/>
        </p:nvSpPr>
        <p:spPr>
          <a:xfrm>
            <a:off x="320040" y="1069848"/>
            <a:ext cx="411480" cy="384048"/>
          </a:xfrm>
          <a:prstGeom prst="rect">
            <a:avLst/>
          </a:prstGeom>
          <a:noFill/>
          <a:ln/>
        </p:spPr>
        <p:txBody>
          <a:bodyPr wrap="square" lIns="0" tIns="0" rIns="0" bIns="0" rtlCol="0" anchor="ctr"/>
          <a:lstStyle/>
          <a:p>
            <a:pPr marL="0" indent="0" algn="ctr">
              <a:buNone/>
            </a:pPr>
            <a:r>
              <a:rPr lang="en-US" sz="1600" b="1" dirty="0">
                <a:solidFill>
                  <a:srgbClr val="0D7B6E"/>
                </a:solidFill>
              </a:rPr>
              <a:t>1</a:t>
            </a:r>
            <a:endParaRPr lang="en-US" sz="1600" dirty="0"/>
          </a:p>
        </p:txBody>
      </p:sp>
      <p:sp>
        <p:nvSpPr>
          <p:cNvPr id="6" name="Text 4"/>
          <p:cNvSpPr/>
          <p:nvPr/>
        </p:nvSpPr>
        <p:spPr>
          <a:xfrm>
            <a:off x="822960" y="960120"/>
            <a:ext cx="2286000" cy="320040"/>
          </a:xfrm>
          <a:prstGeom prst="rect">
            <a:avLst/>
          </a:prstGeom>
          <a:noFill/>
          <a:ln/>
        </p:spPr>
        <p:txBody>
          <a:bodyPr wrap="square" lIns="0" tIns="0" rIns="0" bIns="0" rtlCol="0" anchor="ctr"/>
          <a:lstStyle/>
          <a:p>
            <a:pPr marL="0" indent="0">
              <a:buNone/>
            </a:pPr>
            <a:r>
              <a:rPr lang="en-US" sz="1100" b="1" dirty="0">
                <a:solidFill>
                  <a:srgbClr val="0D3349"/>
                </a:solidFill>
              </a:rPr>
              <a:t>Hidden Collection</a:t>
            </a:r>
            <a:endParaRPr lang="en-US" sz="1100" dirty="0"/>
          </a:p>
        </p:txBody>
      </p:sp>
      <p:sp>
        <p:nvSpPr>
          <p:cNvPr id="7" name="Text 5"/>
          <p:cNvSpPr/>
          <p:nvPr/>
        </p:nvSpPr>
        <p:spPr>
          <a:xfrm>
            <a:off x="822960" y="1261872"/>
            <a:ext cx="7863840" cy="292608"/>
          </a:xfrm>
          <a:prstGeom prst="rect">
            <a:avLst/>
          </a:prstGeom>
          <a:noFill/>
          <a:ln/>
        </p:spPr>
        <p:txBody>
          <a:bodyPr wrap="square" lIns="0" tIns="0" rIns="0" bIns="0" rtlCol="0" anchor="ctr"/>
          <a:lstStyle/>
          <a:p>
            <a:pPr marL="0" indent="0">
              <a:buNone/>
            </a:pPr>
            <a:r>
              <a:rPr lang="en-US" sz="950" dirty="0">
                <a:solidFill>
                  <a:srgbClr val="64748B"/>
                </a:solidFill>
              </a:rPr>
              <a:t>Users often don't know when location data is captured — Bluetooth, WiFi triangulation, or ultrasound signals in ads can all track without GPS consent.</a:t>
            </a:r>
            <a:endParaRPr lang="en-US" sz="950" dirty="0"/>
          </a:p>
        </p:txBody>
      </p:sp>
      <p:sp>
        <p:nvSpPr>
          <p:cNvPr id="8" name="Shape 6"/>
          <p:cNvSpPr/>
          <p:nvPr/>
        </p:nvSpPr>
        <p:spPr>
          <a:xfrm>
            <a:off x="274320" y="1709928"/>
            <a:ext cx="8595360" cy="685800"/>
          </a:xfrm>
          <a:prstGeom prst="roundRect">
            <a:avLst>
              <a:gd name="adj" fmla="val 10667"/>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9" name="Text 7"/>
          <p:cNvSpPr/>
          <p:nvPr/>
        </p:nvSpPr>
        <p:spPr>
          <a:xfrm>
            <a:off x="320040" y="1865376"/>
            <a:ext cx="411480" cy="384048"/>
          </a:xfrm>
          <a:prstGeom prst="rect">
            <a:avLst/>
          </a:prstGeom>
          <a:noFill/>
          <a:ln/>
        </p:spPr>
        <p:txBody>
          <a:bodyPr wrap="square" lIns="0" tIns="0" rIns="0" bIns="0" rtlCol="0" anchor="ctr"/>
          <a:lstStyle/>
          <a:p>
            <a:pPr marL="0" indent="0" algn="ctr">
              <a:buNone/>
            </a:pPr>
            <a:r>
              <a:rPr lang="en-US" sz="1600" b="1" dirty="0">
                <a:solidFill>
                  <a:srgbClr val="0D7B6E"/>
                </a:solidFill>
              </a:rPr>
              <a:t>2</a:t>
            </a:r>
            <a:endParaRPr lang="en-US" sz="1600" dirty="0"/>
          </a:p>
        </p:txBody>
      </p:sp>
      <p:sp>
        <p:nvSpPr>
          <p:cNvPr id="10" name="Text 8"/>
          <p:cNvSpPr/>
          <p:nvPr/>
        </p:nvSpPr>
        <p:spPr>
          <a:xfrm>
            <a:off x="822960" y="1755648"/>
            <a:ext cx="2286000" cy="320040"/>
          </a:xfrm>
          <a:prstGeom prst="rect">
            <a:avLst/>
          </a:prstGeom>
          <a:noFill/>
          <a:ln/>
        </p:spPr>
        <p:txBody>
          <a:bodyPr wrap="square" lIns="0" tIns="0" rIns="0" bIns="0" rtlCol="0" anchor="ctr"/>
          <a:lstStyle/>
          <a:p>
            <a:pPr marL="0" indent="0">
              <a:buNone/>
            </a:pPr>
            <a:r>
              <a:rPr lang="en-US" sz="1100" b="1" dirty="0">
                <a:solidFill>
                  <a:srgbClr val="0D3349"/>
                </a:solidFill>
              </a:rPr>
              <a:t>Coercive Incentives</a:t>
            </a:r>
            <a:endParaRPr lang="en-US" sz="1100" dirty="0"/>
          </a:p>
        </p:txBody>
      </p:sp>
      <p:sp>
        <p:nvSpPr>
          <p:cNvPr id="11" name="Text 9"/>
          <p:cNvSpPr/>
          <p:nvPr/>
        </p:nvSpPr>
        <p:spPr>
          <a:xfrm>
            <a:off x="822960" y="2057400"/>
            <a:ext cx="7863840" cy="292608"/>
          </a:xfrm>
          <a:prstGeom prst="rect">
            <a:avLst/>
          </a:prstGeom>
          <a:noFill/>
          <a:ln/>
        </p:spPr>
        <p:txBody>
          <a:bodyPr wrap="square" lIns="0" tIns="0" rIns="0" bIns="0" rtlCol="0" anchor="ctr"/>
          <a:lstStyle/>
          <a:p>
            <a:pPr marL="0" indent="0">
              <a:buNone/>
            </a:pPr>
            <a:r>
              <a:rPr lang="en-US" sz="950" dirty="0">
                <a:solidFill>
                  <a:srgbClr val="64748B"/>
                </a:solidFill>
              </a:rPr>
              <a:t>When generic insurance is unaffordable, users are de facto coerced into accepting tracking boxes. Consent becomes a financial necessity, not a free choice.</a:t>
            </a:r>
            <a:endParaRPr lang="en-US" sz="950" dirty="0"/>
          </a:p>
        </p:txBody>
      </p:sp>
      <p:sp>
        <p:nvSpPr>
          <p:cNvPr id="12" name="Shape 10"/>
          <p:cNvSpPr/>
          <p:nvPr/>
        </p:nvSpPr>
        <p:spPr>
          <a:xfrm>
            <a:off x="274320" y="2505456"/>
            <a:ext cx="8595360" cy="685800"/>
          </a:xfrm>
          <a:prstGeom prst="roundRect">
            <a:avLst>
              <a:gd name="adj" fmla="val 10667"/>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13" name="Text 11"/>
          <p:cNvSpPr/>
          <p:nvPr/>
        </p:nvSpPr>
        <p:spPr>
          <a:xfrm>
            <a:off x="320040" y="2660904"/>
            <a:ext cx="411480" cy="384048"/>
          </a:xfrm>
          <a:prstGeom prst="rect">
            <a:avLst/>
          </a:prstGeom>
          <a:noFill/>
          <a:ln/>
        </p:spPr>
        <p:txBody>
          <a:bodyPr wrap="square" lIns="0" tIns="0" rIns="0" bIns="0" rtlCol="0" anchor="ctr"/>
          <a:lstStyle/>
          <a:p>
            <a:pPr marL="0" indent="0" algn="ctr">
              <a:buNone/>
            </a:pPr>
            <a:r>
              <a:rPr lang="en-US" sz="1600" b="1" dirty="0">
                <a:solidFill>
                  <a:srgbClr val="0D7B6E"/>
                </a:solidFill>
              </a:rPr>
              <a:t>3</a:t>
            </a:r>
            <a:endParaRPr lang="en-US" sz="1600" dirty="0"/>
          </a:p>
        </p:txBody>
      </p:sp>
      <p:sp>
        <p:nvSpPr>
          <p:cNvPr id="14" name="Text 12"/>
          <p:cNvSpPr/>
          <p:nvPr/>
        </p:nvSpPr>
        <p:spPr>
          <a:xfrm>
            <a:off x="822960" y="2551176"/>
            <a:ext cx="2286000" cy="320040"/>
          </a:xfrm>
          <a:prstGeom prst="rect">
            <a:avLst/>
          </a:prstGeom>
          <a:noFill/>
          <a:ln/>
        </p:spPr>
        <p:txBody>
          <a:bodyPr wrap="square" lIns="0" tIns="0" rIns="0" bIns="0" rtlCol="0" anchor="ctr"/>
          <a:lstStyle/>
          <a:p>
            <a:pPr marL="0" indent="0">
              <a:buNone/>
            </a:pPr>
            <a:r>
              <a:rPr lang="en-US" sz="1100" b="1" dirty="0">
                <a:solidFill>
                  <a:srgbClr val="0D3349"/>
                </a:solidFill>
              </a:rPr>
              <a:t>Third-Party Consent</a:t>
            </a:r>
            <a:endParaRPr lang="en-US" sz="1100" dirty="0"/>
          </a:p>
        </p:txBody>
      </p:sp>
      <p:sp>
        <p:nvSpPr>
          <p:cNvPr id="15" name="Text 13"/>
          <p:cNvSpPr/>
          <p:nvPr/>
        </p:nvSpPr>
        <p:spPr>
          <a:xfrm>
            <a:off x="822960" y="2852928"/>
            <a:ext cx="7863840" cy="292608"/>
          </a:xfrm>
          <a:prstGeom prst="rect">
            <a:avLst/>
          </a:prstGeom>
          <a:noFill/>
          <a:ln/>
        </p:spPr>
        <p:txBody>
          <a:bodyPr wrap="square" lIns="0" tIns="0" rIns="0" bIns="0" rtlCol="0" anchor="ctr"/>
          <a:lstStyle/>
          <a:p>
            <a:pPr marL="0" indent="0">
              <a:buNone/>
            </a:pPr>
            <a:r>
              <a:rPr lang="en-US" sz="950" dirty="0">
                <a:solidFill>
                  <a:srgbClr val="64748B"/>
                </a:solidFill>
              </a:rPr>
              <a:t>Others travelling with you (who consent differently) change what data is inferred about you — consent is not individual in practice.</a:t>
            </a:r>
            <a:endParaRPr lang="en-US" sz="950" dirty="0"/>
          </a:p>
        </p:txBody>
      </p:sp>
      <p:sp>
        <p:nvSpPr>
          <p:cNvPr id="16" name="Shape 14"/>
          <p:cNvSpPr/>
          <p:nvPr/>
        </p:nvSpPr>
        <p:spPr>
          <a:xfrm>
            <a:off x="274320" y="3300984"/>
            <a:ext cx="8595360" cy="685800"/>
          </a:xfrm>
          <a:prstGeom prst="roundRect">
            <a:avLst>
              <a:gd name="adj" fmla="val 10667"/>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17" name="Text 15"/>
          <p:cNvSpPr/>
          <p:nvPr/>
        </p:nvSpPr>
        <p:spPr>
          <a:xfrm>
            <a:off x="320040" y="3456432"/>
            <a:ext cx="411480" cy="384048"/>
          </a:xfrm>
          <a:prstGeom prst="rect">
            <a:avLst/>
          </a:prstGeom>
          <a:noFill/>
          <a:ln/>
        </p:spPr>
        <p:txBody>
          <a:bodyPr wrap="square" lIns="0" tIns="0" rIns="0" bIns="0" rtlCol="0" anchor="ctr"/>
          <a:lstStyle/>
          <a:p>
            <a:pPr marL="0" indent="0" algn="ctr">
              <a:buNone/>
            </a:pPr>
            <a:r>
              <a:rPr lang="en-US" sz="1600" b="1" dirty="0">
                <a:solidFill>
                  <a:srgbClr val="0D7B6E"/>
                </a:solidFill>
              </a:rPr>
              <a:t>4</a:t>
            </a:r>
            <a:endParaRPr lang="en-US" sz="1600" dirty="0"/>
          </a:p>
        </p:txBody>
      </p:sp>
      <p:sp>
        <p:nvSpPr>
          <p:cNvPr id="18" name="Text 16"/>
          <p:cNvSpPr/>
          <p:nvPr/>
        </p:nvSpPr>
        <p:spPr>
          <a:xfrm>
            <a:off x="822960" y="3346704"/>
            <a:ext cx="2286000" cy="320040"/>
          </a:xfrm>
          <a:prstGeom prst="rect">
            <a:avLst/>
          </a:prstGeom>
          <a:noFill/>
          <a:ln/>
        </p:spPr>
        <p:txBody>
          <a:bodyPr wrap="square" lIns="0" tIns="0" rIns="0" bIns="0" rtlCol="0" anchor="ctr"/>
          <a:lstStyle/>
          <a:p>
            <a:pPr marL="0" indent="0">
              <a:buNone/>
            </a:pPr>
            <a:r>
              <a:rPr lang="en-US" sz="1100" b="1" dirty="0">
                <a:solidFill>
                  <a:srgbClr val="0D3349"/>
                </a:solidFill>
              </a:rPr>
              <a:t>Publicly Posted ≠ Consented</a:t>
            </a:r>
            <a:endParaRPr lang="en-US" sz="1100" dirty="0"/>
          </a:p>
        </p:txBody>
      </p:sp>
      <p:sp>
        <p:nvSpPr>
          <p:cNvPr id="19" name="Text 17"/>
          <p:cNvSpPr/>
          <p:nvPr/>
        </p:nvSpPr>
        <p:spPr>
          <a:xfrm>
            <a:off x="822960" y="3648456"/>
            <a:ext cx="7863840" cy="292608"/>
          </a:xfrm>
          <a:prstGeom prst="rect">
            <a:avLst/>
          </a:prstGeom>
          <a:noFill/>
          <a:ln/>
        </p:spPr>
        <p:txBody>
          <a:bodyPr wrap="square" lIns="0" tIns="0" rIns="0" bIns="0" rtlCol="0" anchor="ctr"/>
          <a:lstStyle/>
          <a:p>
            <a:pPr marL="0" indent="0">
              <a:buNone/>
            </a:pPr>
            <a:r>
              <a:rPr lang="en-US" sz="950" dirty="0">
                <a:solidFill>
                  <a:srgbClr val="64748B"/>
                </a:solidFill>
              </a:rPr>
              <a:t>A Master's student scraping 70,000 OkCupid profiles showed that reordering public data into an analysable dataset violates people's contextual expectations of privacy.</a:t>
            </a:r>
            <a:endParaRPr lang="en-US" sz="950" dirty="0"/>
          </a:p>
        </p:txBody>
      </p:sp>
      <p:sp>
        <p:nvSpPr>
          <p:cNvPr id="20" name="Shape 18"/>
          <p:cNvSpPr/>
          <p:nvPr/>
        </p:nvSpPr>
        <p:spPr>
          <a:xfrm>
            <a:off x="274320" y="4096512"/>
            <a:ext cx="8595360" cy="685800"/>
          </a:xfrm>
          <a:prstGeom prst="roundRect">
            <a:avLst>
              <a:gd name="adj" fmla="val 10667"/>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21" name="Text 19"/>
          <p:cNvSpPr/>
          <p:nvPr/>
        </p:nvSpPr>
        <p:spPr>
          <a:xfrm>
            <a:off x="320040" y="4251960"/>
            <a:ext cx="411480" cy="384048"/>
          </a:xfrm>
          <a:prstGeom prst="rect">
            <a:avLst/>
          </a:prstGeom>
          <a:noFill/>
          <a:ln/>
        </p:spPr>
        <p:txBody>
          <a:bodyPr wrap="square" lIns="0" tIns="0" rIns="0" bIns="0" rtlCol="0" anchor="ctr"/>
          <a:lstStyle/>
          <a:p>
            <a:pPr marL="0" indent="0" algn="ctr">
              <a:buNone/>
            </a:pPr>
            <a:r>
              <a:rPr lang="en-US" sz="1600" b="1" dirty="0">
                <a:solidFill>
                  <a:srgbClr val="0D7B6E"/>
                </a:solidFill>
              </a:rPr>
              <a:t>5</a:t>
            </a:r>
            <a:endParaRPr lang="en-US" sz="1600" dirty="0"/>
          </a:p>
        </p:txBody>
      </p:sp>
      <p:sp>
        <p:nvSpPr>
          <p:cNvPr id="22" name="Text 20"/>
          <p:cNvSpPr/>
          <p:nvPr/>
        </p:nvSpPr>
        <p:spPr>
          <a:xfrm>
            <a:off x="822960" y="4142232"/>
            <a:ext cx="2286000" cy="320040"/>
          </a:xfrm>
          <a:prstGeom prst="rect">
            <a:avLst/>
          </a:prstGeom>
          <a:noFill/>
          <a:ln/>
        </p:spPr>
        <p:txBody>
          <a:bodyPr wrap="square" lIns="0" tIns="0" rIns="0" bIns="0" rtlCol="0" anchor="ctr"/>
          <a:lstStyle/>
          <a:p>
            <a:pPr marL="0" indent="0">
              <a:buNone/>
            </a:pPr>
            <a:r>
              <a:rPr lang="en-US" sz="1100" b="1" dirty="0">
                <a:solidFill>
                  <a:srgbClr val="0D3349"/>
                </a:solidFill>
              </a:rPr>
              <a:t>Elderly / Vulnerable Users</a:t>
            </a:r>
            <a:endParaRPr lang="en-US" sz="1100" dirty="0"/>
          </a:p>
        </p:txBody>
      </p:sp>
      <p:sp>
        <p:nvSpPr>
          <p:cNvPr id="23" name="Text 21"/>
          <p:cNvSpPr/>
          <p:nvPr/>
        </p:nvSpPr>
        <p:spPr>
          <a:xfrm>
            <a:off x="822960" y="4443984"/>
            <a:ext cx="7863840" cy="292608"/>
          </a:xfrm>
          <a:prstGeom prst="rect">
            <a:avLst/>
          </a:prstGeom>
          <a:noFill/>
          <a:ln/>
        </p:spPr>
        <p:txBody>
          <a:bodyPr wrap="square" lIns="0" tIns="0" rIns="0" bIns="0" rtlCol="0" anchor="ctr"/>
          <a:lstStyle/>
          <a:p>
            <a:pPr marL="0" indent="0">
              <a:buNone/>
            </a:pPr>
            <a:r>
              <a:rPr lang="en-US" sz="950" dirty="0">
                <a:solidFill>
                  <a:srgbClr val="64748B"/>
                </a:solidFill>
              </a:rPr>
              <a:t>Health monitoring apps for elderly users often involve individuals who cannot give genuinely informed consent.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E8A020"/>
          </a:solidFill>
          <a:ln/>
        </p:spPr>
        <p:txBody>
          <a:bodyPr/>
          <a:lstStyle/>
          <a:p>
            <a:endParaRPr lang="en-IE"/>
          </a:p>
        </p:txBody>
      </p:sp>
      <p:sp>
        <p:nvSpPr>
          <p:cNvPr id="3" name="Text 1"/>
          <p:cNvSpPr/>
          <p:nvPr/>
        </p:nvSpPr>
        <p:spPr>
          <a:xfrm>
            <a:off x="457200" y="91440"/>
            <a:ext cx="8229600" cy="640080"/>
          </a:xfrm>
          <a:prstGeom prst="rect">
            <a:avLst/>
          </a:prstGeom>
          <a:noFill/>
          <a:ln/>
        </p:spPr>
        <p:txBody>
          <a:bodyPr wrap="square" rtlCol="0" anchor="ctr"/>
          <a:lstStyle/>
          <a:p>
            <a:pPr marL="0" indent="0">
              <a:buNone/>
            </a:pPr>
            <a:r>
              <a:rPr lang="en-US" sz="2200" b="1" dirty="0">
                <a:solidFill>
                  <a:srgbClr val="1E293B"/>
                </a:solidFill>
              </a:rPr>
              <a:t>Discussion Topic 3: Bias &amp; Feedback Effects</a:t>
            </a:r>
            <a:endParaRPr lang="en-US" sz="2200" dirty="0"/>
          </a:p>
        </p:txBody>
      </p:sp>
      <p:sp>
        <p:nvSpPr>
          <p:cNvPr id="4" name="Shape 2"/>
          <p:cNvSpPr/>
          <p:nvPr/>
        </p:nvSpPr>
        <p:spPr>
          <a:xfrm>
            <a:off x="274320" y="914400"/>
            <a:ext cx="4114800" cy="3931920"/>
          </a:xfrm>
          <a:prstGeom prst="roundRect">
            <a:avLst>
              <a:gd name="adj" fmla="val 2326"/>
            </a:avLst>
          </a:prstGeom>
          <a:solidFill>
            <a:srgbClr val="F1F5F9"/>
          </a:solidFill>
          <a:ln/>
        </p:spPr>
        <p:txBody>
          <a:bodyPr/>
          <a:lstStyle/>
          <a:p>
            <a:endParaRPr lang="en-IE"/>
          </a:p>
        </p:txBody>
      </p:sp>
      <p:sp>
        <p:nvSpPr>
          <p:cNvPr id="5" name="Text 3"/>
          <p:cNvSpPr/>
          <p:nvPr/>
        </p:nvSpPr>
        <p:spPr>
          <a:xfrm>
            <a:off x="457200" y="1005840"/>
            <a:ext cx="3749040" cy="365760"/>
          </a:xfrm>
          <a:prstGeom prst="rect">
            <a:avLst/>
          </a:prstGeom>
          <a:noFill/>
          <a:ln/>
        </p:spPr>
        <p:txBody>
          <a:bodyPr wrap="square" rtlCol="0" anchor="ctr"/>
          <a:lstStyle/>
          <a:p>
            <a:pPr marL="0" indent="0">
              <a:buNone/>
            </a:pPr>
            <a:r>
              <a:rPr lang="en-US" sz="1300" b="1" dirty="0">
                <a:solidFill>
                  <a:srgbClr val="0D3349"/>
                </a:solidFill>
              </a:rPr>
              <a:t>Strava Bias Example</a:t>
            </a:r>
            <a:endParaRPr lang="en-US" sz="1300" dirty="0"/>
          </a:p>
        </p:txBody>
      </p:sp>
      <p:sp>
        <p:nvSpPr>
          <p:cNvPr id="6" name="Text 4"/>
          <p:cNvSpPr/>
          <p:nvPr/>
        </p:nvSpPr>
        <p:spPr>
          <a:xfrm>
            <a:off x="457200" y="1417320"/>
            <a:ext cx="3749040" cy="3200400"/>
          </a:xfrm>
          <a:prstGeom prst="rect">
            <a:avLst/>
          </a:prstGeom>
          <a:noFill/>
          <a:ln/>
        </p:spPr>
        <p:txBody>
          <a:bodyPr wrap="square" rtlCol="0" anchor="ctr"/>
          <a:lstStyle/>
          <a:p>
            <a:pPr marL="0" indent="0">
              <a:buNone/>
            </a:pPr>
            <a:r>
              <a:rPr lang="en-US" sz="1100" b="1" dirty="0">
                <a:solidFill>
                  <a:srgbClr val="C0392B"/>
                </a:solidFill>
              </a:rPr>
              <a:t>~90%</a:t>
            </a:r>
            <a:r>
              <a:rPr lang="en-US" sz="1100" dirty="0">
                <a:solidFill>
                  <a:srgbClr val="1E293B"/>
                </a:solidFill>
              </a:rPr>
              <a:t> of Strava users are male
</a:t>
            </a:r>
            <a:endParaRPr lang="en-US" sz="1100" dirty="0"/>
          </a:p>
          <a:p>
            <a:pPr marL="0" indent="0">
              <a:buNone/>
            </a:pPr>
            <a:r>
              <a:rPr lang="en-US" sz="1100" dirty="0">
                <a:solidFill>
                  <a:srgbClr val="1E293B"/>
                </a:solidFill>
              </a:rPr>
              <a:t>Used by </a:t>
            </a:r>
            <a:r>
              <a:rPr lang="en-US" sz="1100" b="1" dirty="0">
                <a:solidFill>
                  <a:srgbClr val="1E293B"/>
                </a:solidFill>
              </a:rPr>
              <a:t>sports cyclists</a:t>
            </a:r>
            <a:r>
              <a:rPr lang="en-US" sz="1100" dirty="0">
                <a:solidFill>
                  <a:srgbClr val="1E293B"/>
                </a:solidFill>
              </a:rPr>
              <a:t> not commuters
</a:t>
            </a:r>
            <a:endParaRPr lang="en-US" sz="1100" dirty="0"/>
          </a:p>
          <a:p>
            <a:pPr marL="0" indent="0">
              <a:buNone/>
            </a:pPr>
            <a:r>
              <a:rPr lang="en-US" sz="1100" dirty="0">
                <a:solidFill>
                  <a:srgbClr val="1E293B"/>
                </a:solidFill>
              </a:rPr>
              <a:t>Over-represents </a:t>
            </a:r>
            <a:r>
              <a:rPr lang="en-US" sz="1100" b="1" dirty="0">
                <a:solidFill>
                  <a:srgbClr val="1E293B"/>
                </a:solidFill>
              </a:rPr>
              <a:t>affluent / safe areas</a:t>
            </a:r>
            <a:r>
              <a:rPr lang="en-US" sz="1100" dirty="0">
                <a:solidFill>
                  <a:srgbClr val="1E293B"/>
                </a:solidFill>
              </a:rPr>
              <a:t> (gated communities)
</a:t>
            </a:r>
            <a:endParaRPr lang="en-US" sz="1100" dirty="0"/>
          </a:p>
          <a:p>
            <a:pPr marL="0" indent="0">
              <a:buNone/>
            </a:pPr>
            <a:r>
              <a:rPr lang="en-US" sz="1100" b="1" dirty="0">
                <a:solidFill>
                  <a:srgbClr val="1E293B"/>
                </a:solidFill>
              </a:rPr>
              <a:t>Cambridge vs London: </a:t>
            </a:r>
            <a:r>
              <a:rPr lang="en-US" sz="1100" dirty="0">
                <a:solidFill>
                  <a:srgbClr val="1E293B"/>
                </a:solidFill>
              </a:rPr>
              <a:t>near gender parity vs 75% male cycle split
</a:t>
            </a:r>
            <a:endParaRPr lang="en-US" sz="1100" dirty="0"/>
          </a:p>
          <a:p>
            <a:pPr marL="0" indent="0">
              <a:buNone/>
            </a:pPr>
            <a:r>
              <a:rPr lang="en-US" sz="1100" b="1" dirty="0">
                <a:solidFill>
                  <a:srgbClr val="1E293B"/>
                </a:solidFill>
              </a:rPr>
              <a:t>Risk: </a:t>
            </a:r>
            <a:r>
              <a:rPr lang="en-US" sz="1100" dirty="0">
                <a:solidFill>
                  <a:srgbClr val="1E293B"/>
                </a:solidFill>
              </a:rPr>
              <a:t>Biased data → biased planning decisions for underrepresented groups</a:t>
            </a:r>
            <a:endParaRPr lang="en-US" sz="1100" dirty="0"/>
          </a:p>
        </p:txBody>
      </p:sp>
      <p:sp>
        <p:nvSpPr>
          <p:cNvPr id="7" name="Shape 5"/>
          <p:cNvSpPr/>
          <p:nvPr/>
        </p:nvSpPr>
        <p:spPr>
          <a:xfrm>
            <a:off x="4663440" y="914400"/>
            <a:ext cx="4114800" cy="3931920"/>
          </a:xfrm>
          <a:prstGeom prst="roundRect">
            <a:avLst>
              <a:gd name="adj" fmla="val 2326"/>
            </a:avLst>
          </a:prstGeom>
          <a:solidFill>
            <a:srgbClr val="FFF8F0"/>
          </a:solidFill>
          <a:ln/>
        </p:spPr>
        <p:txBody>
          <a:bodyPr/>
          <a:lstStyle/>
          <a:p>
            <a:endParaRPr lang="en-IE"/>
          </a:p>
        </p:txBody>
      </p:sp>
      <p:sp>
        <p:nvSpPr>
          <p:cNvPr id="8" name="Text 6"/>
          <p:cNvSpPr/>
          <p:nvPr/>
        </p:nvSpPr>
        <p:spPr>
          <a:xfrm>
            <a:off x="4846320" y="1005840"/>
            <a:ext cx="3749040" cy="365760"/>
          </a:xfrm>
          <a:prstGeom prst="rect">
            <a:avLst/>
          </a:prstGeom>
          <a:noFill/>
          <a:ln/>
        </p:spPr>
        <p:txBody>
          <a:bodyPr wrap="square" rtlCol="0" anchor="ctr"/>
          <a:lstStyle/>
          <a:p>
            <a:pPr marL="0" indent="0">
              <a:buNone/>
            </a:pPr>
            <a:r>
              <a:rPr lang="en-US" sz="1300" b="1" dirty="0">
                <a:solidFill>
                  <a:srgbClr val="0D3349"/>
                </a:solidFill>
              </a:rPr>
              <a:t>Waze Feedback Effects</a:t>
            </a:r>
            <a:endParaRPr lang="en-US" sz="1300" dirty="0"/>
          </a:p>
        </p:txBody>
      </p:sp>
      <p:sp>
        <p:nvSpPr>
          <p:cNvPr id="9" name="Text 7"/>
          <p:cNvSpPr/>
          <p:nvPr/>
        </p:nvSpPr>
        <p:spPr>
          <a:xfrm>
            <a:off x="4846320" y="1417320"/>
            <a:ext cx="3749040" cy="3200400"/>
          </a:xfrm>
          <a:prstGeom prst="rect">
            <a:avLst/>
          </a:prstGeom>
          <a:noFill/>
          <a:ln/>
        </p:spPr>
        <p:txBody>
          <a:bodyPr wrap="square" rtlCol="0" anchor="ctr"/>
          <a:lstStyle/>
          <a:p>
            <a:pPr marL="0" indent="0">
              <a:buNone/>
            </a:pPr>
            <a:r>
              <a:rPr lang="en-US" sz="1100" b="1" dirty="0">
                <a:solidFill>
                  <a:srgbClr val="1E293B"/>
                </a:solidFill>
              </a:rPr>
              <a:t>Selection bias: </a:t>
            </a:r>
            <a:r>
              <a:rPr lang="en-US" sz="1100" dirty="0">
                <a:solidFill>
                  <a:srgbClr val="1E293B"/>
                </a:solidFill>
              </a:rPr>
              <a:t>roads less used by Waze users have less data → worse routing
</a:t>
            </a:r>
            <a:endParaRPr lang="en-US" sz="1100" dirty="0"/>
          </a:p>
          <a:p>
            <a:pPr marL="0" indent="0">
              <a:buNone/>
            </a:pPr>
            <a:r>
              <a:rPr lang="en-US" sz="1100" b="1" dirty="0">
                <a:solidFill>
                  <a:srgbClr val="1E293B"/>
                </a:solidFill>
              </a:rPr>
              <a:t>Stigmatisation: </a:t>
            </a:r>
            <a:r>
              <a:rPr lang="en-US" sz="1100" dirty="0">
                <a:solidFill>
                  <a:srgbClr val="1E293B"/>
                </a:solidFill>
              </a:rPr>
              <a:t>Areas labelled 'dangerous' can be unfairly avoided
</a:t>
            </a:r>
            <a:endParaRPr lang="en-US" sz="1100" dirty="0"/>
          </a:p>
          <a:p>
            <a:pPr marL="0" indent="0">
              <a:buNone/>
            </a:pPr>
            <a:r>
              <a:rPr lang="en-US" sz="1100" b="1" dirty="0">
                <a:solidFill>
                  <a:srgbClr val="1E293B"/>
                </a:solidFill>
              </a:rPr>
              <a:t>Safety risk: </a:t>
            </a:r>
            <a:r>
              <a:rPr lang="en-US" sz="1100" dirty="0">
                <a:solidFill>
                  <a:srgbClr val="1E293B"/>
                </a:solidFill>
              </a:rPr>
              <a:t>LAPD flagged Waze for enabling tracking of police officers; one incident linked to officer deaths
</a:t>
            </a:r>
            <a:endParaRPr lang="en-US" sz="1100" dirty="0"/>
          </a:p>
          <a:p>
            <a:pPr marL="0" indent="0">
              <a:buNone/>
            </a:pPr>
            <a:r>
              <a:rPr lang="en-US" sz="1100" b="1" dirty="0">
                <a:solidFill>
                  <a:srgbClr val="1E293B"/>
                </a:solidFill>
              </a:rPr>
              <a:t>Gaming attacks: </a:t>
            </a:r>
            <a:r>
              <a:rPr lang="en-US" sz="1100" dirty="0">
                <a:solidFill>
                  <a:srgbClr val="1E293B"/>
                </a:solidFill>
              </a:rPr>
              <a:t>Fake traffic reports and fake vehicle data can reroute entire traffic flows for personal advantage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3349"/>
          </a:solidFill>
          <a:ln/>
        </p:spPr>
        <p:txBody>
          <a:bodyPr/>
          <a:lstStyle/>
          <a:p>
            <a:endParaRPr lang="en-IE"/>
          </a:p>
        </p:txBody>
      </p:sp>
      <p:sp>
        <p:nvSpPr>
          <p:cNvPr id="3" name="Text 1"/>
          <p:cNvSpPr/>
          <p:nvPr/>
        </p:nvSpPr>
        <p:spPr>
          <a:xfrm>
            <a:off x="457200" y="91440"/>
            <a:ext cx="8229600" cy="640080"/>
          </a:xfrm>
          <a:prstGeom prst="rect">
            <a:avLst/>
          </a:prstGeom>
          <a:noFill/>
          <a:ln/>
        </p:spPr>
        <p:txBody>
          <a:bodyPr wrap="square" rtlCol="0" anchor="ctr"/>
          <a:lstStyle/>
          <a:p>
            <a:pPr marL="0" indent="0">
              <a:buNone/>
            </a:pPr>
            <a:r>
              <a:rPr lang="en-US" sz="2400" b="1" dirty="0">
                <a:solidFill>
                  <a:srgbClr val="FFFFFF"/>
                </a:solidFill>
              </a:rPr>
              <a:t>Governance of Location Data</a:t>
            </a:r>
            <a:endParaRPr lang="en-US" sz="2400" dirty="0"/>
          </a:p>
        </p:txBody>
      </p:sp>
      <p:sp>
        <p:nvSpPr>
          <p:cNvPr id="4" name="Shape 2"/>
          <p:cNvSpPr/>
          <p:nvPr/>
        </p:nvSpPr>
        <p:spPr>
          <a:xfrm>
            <a:off x="274320" y="960120"/>
            <a:ext cx="4114800" cy="1737360"/>
          </a:xfrm>
          <a:prstGeom prst="roundRect">
            <a:avLst>
              <a:gd name="adj" fmla="val 5263"/>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5" name="Shape 3"/>
          <p:cNvSpPr/>
          <p:nvPr/>
        </p:nvSpPr>
        <p:spPr>
          <a:xfrm>
            <a:off x="274320" y="960120"/>
            <a:ext cx="4114800" cy="411480"/>
          </a:xfrm>
          <a:prstGeom prst="roundRect">
            <a:avLst>
              <a:gd name="adj" fmla="val 22222"/>
            </a:avLst>
          </a:prstGeom>
          <a:solidFill>
            <a:srgbClr val="0D7B6E"/>
          </a:solidFill>
          <a:ln/>
        </p:spPr>
        <p:txBody>
          <a:bodyPr/>
          <a:lstStyle/>
          <a:p>
            <a:endParaRPr lang="en-IE"/>
          </a:p>
        </p:txBody>
      </p:sp>
      <p:sp>
        <p:nvSpPr>
          <p:cNvPr id="6" name="Shape 4"/>
          <p:cNvSpPr/>
          <p:nvPr/>
        </p:nvSpPr>
        <p:spPr>
          <a:xfrm>
            <a:off x="274320" y="1188720"/>
            <a:ext cx="4114800" cy="182880"/>
          </a:xfrm>
          <a:prstGeom prst="rect">
            <a:avLst/>
          </a:prstGeom>
          <a:solidFill>
            <a:srgbClr val="0D7B6E"/>
          </a:solidFill>
          <a:ln/>
        </p:spPr>
        <p:txBody>
          <a:bodyPr/>
          <a:lstStyle/>
          <a:p>
            <a:endParaRPr lang="en-IE"/>
          </a:p>
        </p:txBody>
      </p:sp>
      <p:sp>
        <p:nvSpPr>
          <p:cNvPr id="7" name="Text 5"/>
          <p:cNvSpPr/>
          <p:nvPr/>
        </p:nvSpPr>
        <p:spPr>
          <a:xfrm>
            <a:off x="411480" y="1005840"/>
            <a:ext cx="3840480" cy="347472"/>
          </a:xfrm>
          <a:prstGeom prst="rect">
            <a:avLst/>
          </a:prstGeom>
          <a:noFill/>
          <a:ln/>
        </p:spPr>
        <p:txBody>
          <a:bodyPr wrap="square" lIns="0" tIns="0" rIns="0" bIns="0" rtlCol="0" anchor="ctr"/>
          <a:lstStyle/>
          <a:p>
            <a:pPr marL="0" indent="0">
              <a:buNone/>
            </a:pPr>
            <a:r>
              <a:rPr lang="en-US" sz="1300" b="1" dirty="0">
                <a:solidFill>
                  <a:srgbClr val="FFFFFF"/>
                </a:solidFill>
              </a:rPr>
              <a:t>GDPR (2018)</a:t>
            </a:r>
            <a:endParaRPr lang="en-US" sz="1300" dirty="0"/>
          </a:p>
        </p:txBody>
      </p:sp>
      <p:sp>
        <p:nvSpPr>
          <p:cNvPr id="8" name="Text 6"/>
          <p:cNvSpPr/>
          <p:nvPr/>
        </p:nvSpPr>
        <p:spPr>
          <a:xfrm>
            <a:off x="411480" y="1463040"/>
            <a:ext cx="3840480" cy="1143000"/>
          </a:xfrm>
          <a:prstGeom prst="rect">
            <a:avLst/>
          </a:prstGeom>
          <a:noFill/>
          <a:ln/>
        </p:spPr>
        <p:txBody>
          <a:bodyPr wrap="square" rtlCol="0" anchor="ctr"/>
          <a:lstStyle/>
          <a:p>
            <a:pPr marL="0" indent="0">
              <a:buNone/>
            </a:pPr>
            <a:r>
              <a:rPr lang="en-US" sz="1100" dirty="0">
                <a:solidFill>
                  <a:srgbClr val="1E293B"/>
                </a:solidFill>
              </a:rPr>
              <a:t>Classifies location data as personal data. Applies to all 'natural persons' in EU jurisdiction. Grounds for processing include health — creating a loophole for 'lifestyle' apps.</a:t>
            </a:r>
            <a:endParaRPr lang="en-US" sz="1100" dirty="0"/>
          </a:p>
        </p:txBody>
      </p:sp>
      <p:sp>
        <p:nvSpPr>
          <p:cNvPr id="9" name="Shape 7"/>
          <p:cNvSpPr/>
          <p:nvPr/>
        </p:nvSpPr>
        <p:spPr>
          <a:xfrm>
            <a:off x="4663440" y="960120"/>
            <a:ext cx="4114800" cy="1737360"/>
          </a:xfrm>
          <a:prstGeom prst="roundRect">
            <a:avLst>
              <a:gd name="adj" fmla="val 5263"/>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10" name="Shape 8"/>
          <p:cNvSpPr/>
          <p:nvPr/>
        </p:nvSpPr>
        <p:spPr>
          <a:xfrm>
            <a:off x="4663440" y="960120"/>
            <a:ext cx="4114800" cy="411480"/>
          </a:xfrm>
          <a:prstGeom prst="roundRect">
            <a:avLst>
              <a:gd name="adj" fmla="val 22222"/>
            </a:avLst>
          </a:prstGeom>
          <a:solidFill>
            <a:srgbClr val="0D7B6E"/>
          </a:solidFill>
          <a:ln/>
        </p:spPr>
        <p:txBody>
          <a:bodyPr/>
          <a:lstStyle/>
          <a:p>
            <a:endParaRPr lang="en-IE"/>
          </a:p>
        </p:txBody>
      </p:sp>
      <p:sp>
        <p:nvSpPr>
          <p:cNvPr id="11" name="Shape 9"/>
          <p:cNvSpPr/>
          <p:nvPr/>
        </p:nvSpPr>
        <p:spPr>
          <a:xfrm>
            <a:off x="4663440" y="1188720"/>
            <a:ext cx="4114800" cy="182880"/>
          </a:xfrm>
          <a:prstGeom prst="rect">
            <a:avLst/>
          </a:prstGeom>
          <a:solidFill>
            <a:srgbClr val="0D7B6E"/>
          </a:solidFill>
          <a:ln/>
        </p:spPr>
        <p:txBody>
          <a:bodyPr/>
          <a:lstStyle/>
          <a:p>
            <a:endParaRPr lang="en-IE"/>
          </a:p>
        </p:txBody>
      </p:sp>
      <p:sp>
        <p:nvSpPr>
          <p:cNvPr id="12" name="Text 10"/>
          <p:cNvSpPr/>
          <p:nvPr/>
        </p:nvSpPr>
        <p:spPr>
          <a:xfrm>
            <a:off x="4800600" y="1005840"/>
            <a:ext cx="3840480" cy="347472"/>
          </a:xfrm>
          <a:prstGeom prst="rect">
            <a:avLst/>
          </a:prstGeom>
          <a:noFill/>
          <a:ln/>
        </p:spPr>
        <p:txBody>
          <a:bodyPr wrap="square" lIns="0" tIns="0" rIns="0" bIns="0" rtlCol="0" anchor="ctr"/>
          <a:lstStyle/>
          <a:p>
            <a:pPr marL="0" indent="0">
              <a:buNone/>
            </a:pPr>
            <a:r>
              <a:rPr lang="en-US" sz="1300" b="1" dirty="0">
                <a:solidFill>
                  <a:srgbClr val="FFFFFF"/>
                </a:solidFill>
              </a:rPr>
              <a:t>Technical Solutions</a:t>
            </a:r>
            <a:endParaRPr lang="en-US" sz="1300" dirty="0"/>
          </a:p>
        </p:txBody>
      </p:sp>
      <p:sp>
        <p:nvSpPr>
          <p:cNvPr id="13" name="Text 11"/>
          <p:cNvSpPr/>
          <p:nvPr/>
        </p:nvSpPr>
        <p:spPr>
          <a:xfrm>
            <a:off x="4800600" y="1463040"/>
            <a:ext cx="3840480" cy="1143000"/>
          </a:xfrm>
          <a:prstGeom prst="rect">
            <a:avLst/>
          </a:prstGeom>
          <a:noFill/>
          <a:ln/>
        </p:spPr>
        <p:txBody>
          <a:bodyPr wrap="square" rtlCol="0" anchor="ctr"/>
          <a:lstStyle/>
          <a:p>
            <a:pPr marL="0" indent="0">
              <a:buNone/>
            </a:pPr>
            <a:r>
              <a:rPr lang="en-US" sz="1100" dirty="0">
                <a:solidFill>
                  <a:srgbClr val="1E293B"/>
                </a:solidFill>
              </a:rPr>
              <a:t>GPS spoofing layers, RFID-proof bags, blocker tags. These don't always work and can provide false security. Privacy-preserving alternatives need standardisation.</a:t>
            </a:r>
            <a:endParaRPr lang="en-US" sz="1100" dirty="0"/>
          </a:p>
        </p:txBody>
      </p:sp>
      <p:sp>
        <p:nvSpPr>
          <p:cNvPr id="14" name="Shape 12"/>
          <p:cNvSpPr/>
          <p:nvPr/>
        </p:nvSpPr>
        <p:spPr>
          <a:xfrm>
            <a:off x="274320" y="2926080"/>
            <a:ext cx="4114800" cy="1737360"/>
          </a:xfrm>
          <a:prstGeom prst="roundRect">
            <a:avLst>
              <a:gd name="adj" fmla="val 5263"/>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15" name="Shape 13"/>
          <p:cNvSpPr/>
          <p:nvPr/>
        </p:nvSpPr>
        <p:spPr>
          <a:xfrm>
            <a:off x="274320" y="2926080"/>
            <a:ext cx="4114800" cy="411480"/>
          </a:xfrm>
          <a:prstGeom prst="roundRect">
            <a:avLst>
              <a:gd name="adj" fmla="val 22222"/>
            </a:avLst>
          </a:prstGeom>
          <a:solidFill>
            <a:srgbClr val="8B0000"/>
          </a:solidFill>
          <a:ln/>
        </p:spPr>
        <p:txBody>
          <a:bodyPr/>
          <a:lstStyle/>
          <a:p>
            <a:endParaRPr lang="en-IE"/>
          </a:p>
        </p:txBody>
      </p:sp>
      <p:sp>
        <p:nvSpPr>
          <p:cNvPr id="16" name="Shape 14"/>
          <p:cNvSpPr/>
          <p:nvPr/>
        </p:nvSpPr>
        <p:spPr>
          <a:xfrm>
            <a:off x="274320" y="3154680"/>
            <a:ext cx="4114800" cy="182880"/>
          </a:xfrm>
          <a:prstGeom prst="rect">
            <a:avLst/>
          </a:prstGeom>
          <a:solidFill>
            <a:srgbClr val="8B0000"/>
          </a:solidFill>
          <a:ln/>
        </p:spPr>
        <p:txBody>
          <a:bodyPr/>
          <a:lstStyle/>
          <a:p>
            <a:endParaRPr lang="en-IE"/>
          </a:p>
        </p:txBody>
      </p:sp>
      <p:sp>
        <p:nvSpPr>
          <p:cNvPr id="17" name="Text 15"/>
          <p:cNvSpPr/>
          <p:nvPr/>
        </p:nvSpPr>
        <p:spPr>
          <a:xfrm>
            <a:off x="411480" y="2971800"/>
            <a:ext cx="3840480" cy="347472"/>
          </a:xfrm>
          <a:prstGeom prst="rect">
            <a:avLst/>
          </a:prstGeom>
          <a:noFill/>
          <a:ln/>
        </p:spPr>
        <p:txBody>
          <a:bodyPr wrap="square" lIns="0" tIns="0" rIns="0" bIns="0" rtlCol="0" anchor="ctr"/>
          <a:lstStyle/>
          <a:p>
            <a:pPr marL="0" indent="0">
              <a:buNone/>
            </a:pPr>
            <a:r>
              <a:rPr lang="en-US" sz="1300" b="1" dirty="0">
                <a:solidFill>
                  <a:srgbClr val="FFFFFF"/>
                </a:solidFill>
              </a:rPr>
              <a:t>Regulatory Gaps</a:t>
            </a:r>
            <a:endParaRPr lang="en-US" sz="1300" dirty="0"/>
          </a:p>
        </p:txBody>
      </p:sp>
      <p:sp>
        <p:nvSpPr>
          <p:cNvPr id="18" name="Text 16"/>
          <p:cNvSpPr/>
          <p:nvPr/>
        </p:nvSpPr>
        <p:spPr>
          <a:xfrm>
            <a:off x="411480" y="3429000"/>
            <a:ext cx="3840480" cy="1143000"/>
          </a:xfrm>
          <a:prstGeom prst="rect">
            <a:avLst/>
          </a:prstGeom>
          <a:noFill/>
          <a:ln/>
        </p:spPr>
        <p:txBody>
          <a:bodyPr wrap="square" rtlCol="0" anchor="ctr"/>
          <a:lstStyle/>
          <a:p>
            <a:pPr marL="0" indent="0">
              <a:buNone/>
            </a:pPr>
            <a:r>
              <a:rPr lang="en-US" sz="1100" dirty="0">
                <a:solidFill>
                  <a:srgbClr val="1E293B"/>
                </a:solidFill>
              </a:rPr>
              <a:t>Difficult to define 'meaningful consent' for data that infers attributes users didn't know they were sharing. Purpose limitation is too vague in practice.</a:t>
            </a:r>
            <a:endParaRPr lang="en-US" sz="1100" dirty="0"/>
          </a:p>
        </p:txBody>
      </p:sp>
      <p:sp>
        <p:nvSpPr>
          <p:cNvPr id="19" name="Shape 17"/>
          <p:cNvSpPr/>
          <p:nvPr/>
        </p:nvSpPr>
        <p:spPr>
          <a:xfrm>
            <a:off x="4663440" y="2926080"/>
            <a:ext cx="4114800" cy="1737360"/>
          </a:xfrm>
          <a:prstGeom prst="roundRect">
            <a:avLst>
              <a:gd name="adj" fmla="val 5263"/>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20" name="Shape 18"/>
          <p:cNvSpPr/>
          <p:nvPr/>
        </p:nvSpPr>
        <p:spPr>
          <a:xfrm>
            <a:off x="4663440" y="2926080"/>
            <a:ext cx="4114800" cy="411480"/>
          </a:xfrm>
          <a:prstGeom prst="roundRect">
            <a:avLst>
              <a:gd name="adj" fmla="val 22222"/>
            </a:avLst>
          </a:prstGeom>
          <a:solidFill>
            <a:srgbClr val="E8A020"/>
          </a:solidFill>
          <a:ln/>
        </p:spPr>
        <p:txBody>
          <a:bodyPr/>
          <a:lstStyle/>
          <a:p>
            <a:endParaRPr lang="en-IE"/>
          </a:p>
        </p:txBody>
      </p:sp>
      <p:sp>
        <p:nvSpPr>
          <p:cNvPr id="21" name="Shape 19"/>
          <p:cNvSpPr/>
          <p:nvPr/>
        </p:nvSpPr>
        <p:spPr>
          <a:xfrm>
            <a:off x="4663440" y="3154680"/>
            <a:ext cx="4114800" cy="182880"/>
          </a:xfrm>
          <a:prstGeom prst="rect">
            <a:avLst/>
          </a:prstGeom>
          <a:solidFill>
            <a:srgbClr val="E8A020"/>
          </a:solidFill>
          <a:ln/>
        </p:spPr>
        <p:txBody>
          <a:bodyPr/>
          <a:lstStyle/>
          <a:p>
            <a:endParaRPr lang="en-IE"/>
          </a:p>
        </p:txBody>
      </p:sp>
      <p:sp>
        <p:nvSpPr>
          <p:cNvPr id="22" name="Text 20"/>
          <p:cNvSpPr/>
          <p:nvPr/>
        </p:nvSpPr>
        <p:spPr>
          <a:xfrm>
            <a:off x="4800600" y="2971800"/>
            <a:ext cx="3840480" cy="347472"/>
          </a:xfrm>
          <a:prstGeom prst="rect">
            <a:avLst/>
          </a:prstGeom>
          <a:noFill/>
          <a:ln/>
        </p:spPr>
        <p:txBody>
          <a:bodyPr wrap="square" lIns="0" tIns="0" rIns="0" bIns="0" rtlCol="0" anchor="ctr"/>
          <a:lstStyle/>
          <a:p>
            <a:pPr marL="0" indent="0">
              <a:buNone/>
            </a:pPr>
            <a:r>
              <a:rPr lang="en-US" sz="1300" b="1" dirty="0">
                <a:solidFill>
                  <a:srgbClr val="FFFFFF"/>
                </a:solidFill>
              </a:rPr>
              <a:t>Self-Governance</a:t>
            </a:r>
            <a:endParaRPr lang="en-US" sz="1300" dirty="0"/>
          </a:p>
        </p:txBody>
      </p:sp>
      <p:sp>
        <p:nvSpPr>
          <p:cNvPr id="23" name="Text 21"/>
          <p:cNvSpPr/>
          <p:nvPr/>
        </p:nvSpPr>
        <p:spPr>
          <a:xfrm>
            <a:off x="4800600" y="3429000"/>
            <a:ext cx="3840480" cy="1143000"/>
          </a:xfrm>
          <a:prstGeom prst="rect">
            <a:avLst/>
          </a:prstGeom>
          <a:noFill/>
          <a:ln/>
        </p:spPr>
        <p:txBody>
          <a:bodyPr wrap="square" rtlCol="0" anchor="ctr"/>
          <a:lstStyle/>
          <a:p>
            <a:pPr marL="0" indent="0">
              <a:buNone/>
            </a:pPr>
            <a:r>
              <a:rPr lang="en-US" sz="1100" dirty="0">
                <a:solidFill>
                  <a:srgbClr val="1E293B"/>
                </a:solidFill>
              </a:rPr>
              <a:t>Strava provides demographic metadata. Uber offers Uber Movement. Waze partners with cities. All voluntary — effectiveness varies widely with company incentives.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3349"/>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4A090"/>
          </a:solidFill>
          <a:ln/>
        </p:spPr>
        <p:txBody>
          <a:bodyPr/>
          <a:lstStyle/>
          <a:p>
            <a:endParaRPr lang="en-IE"/>
          </a:p>
        </p:txBody>
      </p:sp>
      <p:sp>
        <p:nvSpPr>
          <p:cNvPr id="3" name="Text 1"/>
          <p:cNvSpPr/>
          <p:nvPr/>
        </p:nvSpPr>
        <p:spPr>
          <a:xfrm>
            <a:off x="457200" y="91440"/>
            <a:ext cx="8229600" cy="640080"/>
          </a:xfrm>
          <a:prstGeom prst="rect">
            <a:avLst/>
          </a:prstGeom>
          <a:noFill/>
          <a:ln/>
        </p:spPr>
        <p:txBody>
          <a:bodyPr wrap="square" rtlCol="0" anchor="ctr"/>
          <a:lstStyle/>
          <a:p>
            <a:pPr marL="0" indent="0">
              <a:buNone/>
            </a:pPr>
            <a:r>
              <a:rPr lang="en-US" sz="2200" b="1" dirty="0">
                <a:solidFill>
                  <a:srgbClr val="FFFFFF"/>
                </a:solidFill>
              </a:rPr>
              <a:t>Proposed Solutions to Ethical Challenges</a:t>
            </a:r>
            <a:endParaRPr lang="en-US" sz="2200" dirty="0"/>
          </a:p>
        </p:txBody>
      </p:sp>
      <p:sp>
        <p:nvSpPr>
          <p:cNvPr id="4" name="Shape 2"/>
          <p:cNvSpPr/>
          <p:nvPr/>
        </p:nvSpPr>
        <p:spPr>
          <a:xfrm>
            <a:off x="228600" y="1005840"/>
            <a:ext cx="4206240" cy="1234440"/>
          </a:xfrm>
          <a:prstGeom prst="roundRect">
            <a:avLst>
              <a:gd name="adj" fmla="val 7407"/>
            </a:avLst>
          </a:prstGeom>
          <a:solidFill>
            <a:srgbClr val="153A4A"/>
          </a:solidFill>
          <a:ln/>
          <a:effectLst>
            <a:outerShdw blurRad="76200" dist="25400" dir="2700000" algn="bl" rotWithShape="0">
              <a:srgbClr val="000000">
                <a:alpha val="12000"/>
              </a:srgbClr>
            </a:outerShdw>
          </a:effectLst>
        </p:spPr>
        <p:txBody>
          <a:bodyPr/>
          <a:lstStyle/>
          <a:p>
            <a:endParaRPr lang="en-IE"/>
          </a:p>
        </p:txBody>
      </p:sp>
      <p:sp>
        <p:nvSpPr>
          <p:cNvPr id="5" name="Shape 3"/>
          <p:cNvSpPr/>
          <p:nvPr/>
        </p:nvSpPr>
        <p:spPr>
          <a:xfrm>
            <a:off x="338328" y="1097280"/>
            <a:ext cx="1280160" cy="292608"/>
          </a:xfrm>
          <a:prstGeom prst="roundRect">
            <a:avLst>
              <a:gd name="adj" fmla="val 15625"/>
            </a:avLst>
          </a:prstGeom>
          <a:solidFill>
            <a:srgbClr val="14A090"/>
          </a:solidFill>
          <a:ln/>
        </p:spPr>
        <p:txBody>
          <a:bodyPr/>
          <a:lstStyle/>
          <a:p>
            <a:endParaRPr lang="en-IE"/>
          </a:p>
        </p:txBody>
      </p:sp>
      <p:sp>
        <p:nvSpPr>
          <p:cNvPr id="6" name="Text 4"/>
          <p:cNvSpPr/>
          <p:nvPr/>
        </p:nvSpPr>
        <p:spPr>
          <a:xfrm>
            <a:off x="365760" y="1097280"/>
            <a:ext cx="1280160" cy="292608"/>
          </a:xfrm>
          <a:prstGeom prst="rect">
            <a:avLst/>
          </a:prstGeom>
          <a:noFill/>
          <a:ln/>
        </p:spPr>
        <p:txBody>
          <a:bodyPr wrap="square" lIns="0" tIns="0" rIns="0" bIns="0" rtlCol="0" anchor="ctr"/>
          <a:lstStyle/>
          <a:p>
            <a:pPr marL="0" indent="0" algn="ctr">
              <a:buNone/>
            </a:pPr>
            <a:r>
              <a:rPr lang="en-US" sz="900" b="1" dirty="0">
                <a:solidFill>
                  <a:srgbClr val="FFFFFF"/>
                </a:solidFill>
              </a:rPr>
              <a:t>Re-identification</a:t>
            </a:r>
            <a:endParaRPr lang="en-US" sz="900" dirty="0"/>
          </a:p>
        </p:txBody>
      </p:sp>
      <p:sp>
        <p:nvSpPr>
          <p:cNvPr id="7" name="Text 5"/>
          <p:cNvSpPr/>
          <p:nvPr/>
        </p:nvSpPr>
        <p:spPr>
          <a:xfrm>
            <a:off x="365760" y="1463040"/>
            <a:ext cx="3931920" cy="713232"/>
          </a:xfrm>
          <a:prstGeom prst="rect">
            <a:avLst/>
          </a:prstGeom>
          <a:noFill/>
          <a:ln/>
        </p:spPr>
        <p:txBody>
          <a:bodyPr wrap="square" rtlCol="0" anchor="ctr"/>
          <a:lstStyle/>
          <a:p>
            <a:pPr marL="0" indent="0">
              <a:buNone/>
            </a:pPr>
            <a:r>
              <a:rPr lang="en-US" sz="950" dirty="0">
                <a:solidFill>
                  <a:srgbClr val="CADCDC"/>
                </a:solidFill>
              </a:rPr>
              <a:t>Mandate noise injection (differential privacy) for any public dataset derived from location data. Require Data Protection Impact Assessments before releasing aggregate insights.</a:t>
            </a:r>
            <a:endParaRPr lang="en-US" sz="950" dirty="0"/>
          </a:p>
        </p:txBody>
      </p:sp>
      <p:sp>
        <p:nvSpPr>
          <p:cNvPr id="8" name="Shape 6"/>
          <p:cNvSpPr/>
          <p:nvPr/>
        </p:nvSpPr>
        <p:spPr>
          <a:xfrm>
            <a:off x="4663440" y="1005840"/>
            <a:ext cx="4206240" cy="1234440"/>
          </a:xfrm>
          <a:prstGeom prst="roundRect">
            <a:avLst>
              <a:gd name="adj" fmla="val 7407"/>
            </a:avLst>
          </a:prstGeom>
          <a:solidFill>
            <a:srgbClr val="153A4A"/>
          </a:solidFill>
          <a:ln/>
          <a:effectLst>
            <a:outerShdw blurRad="76200" dist="25400" dir="2700000" algn="bl" rotWithShape="0">
              <a:srgbClr val="000000">
                <a:alpha val="12000"/>
              </a:srgbClr>
            </a:outerShdw>
          </a:effectLst>
        </p:spPr>
        <p:txBody>
          <a:bodyPr/>
          <a:lstStyle/>
          <a:p>
            <a:endParaRPr lang="en-IE"/>
          </a:p>
        </p:txBody>
      </p:sp>
      <p:sp>
        <p:nvSpPr>
          <p:cNvPr id="9" name="Shape 7"/>
          <p:cNvSpPr/>
          <p:nvPr/>
        </p:nvSpPr>
        <p:spPr>
          <a:xfrm>
            <a:off x="4773168" y="1097280"/>
            <a:ext cx="1280160" cy="292608"/>
          </a:xfrm>
          <a:prstGeom prst="roundRect">
            <a:avLst>
              <a:gd name="adj" fmla="val 15625"/>
            </a:avLst>
          </a:prstGeom>
          <a:solidFill>
            <a:srgbClr val="14A090"/>
          </a:solidFill>
          <a:ln/>
        </p:spPr>
        <p:txBody>
          <a:bodyPr/>
          <a:lstStyle/>
          <a:p>
            <a:endParaRPr lang="en-IE"/>
          </a:p>
        </p:txBody>
      </p:sp>
      <p:sp>
        <p:nvSpPr>
          <p:cNvPr id="10" name="Text 8"/>
          <p:cNvSpPr/>
          <p:nvPr/>
        </p:nvSpPr>
        <p:spPr>
          <a:xfrm>
            <a:off x="4800600" y="1097280"/>
            <a:ext cx="1280160" cy="292608"/>
          </a:xfrm>
          <a:prstGeom prst="rect">
            <a:avLst/>
          </a:prstGeom>
          <a:noFill/>
          <a:ln/>
        </p:spPr>
        <p:txBody>
          <a:bodyPr wrap="square" lIns="0" tIns="0" rIns="0" bIns="0" rtlCol="0" anchor="ctr"/>
          <a:lstStyle/>
          <a:p>
            <a:pPr marL="0" indent="0" algn="ctr">
              <a:buNone/>
            </a:pPr>
            <a:r>
              <a:rPr lang="en-US" sz="900" b="1" dirty="0">
                <a:solidFill>
                  <a:srgbClr val="FFFFFF"/>
                </a:solidFill>
              </a:rPr>
              <a:t>Consent</a:t>
            </a:r>
            <a:endParaRPr lang="en-US" sz="900" dirty="0"/>
          </a:p>
        </p:txBody>
      </p:sp>
      <p:sp>
        <p:nvSpPr>
          <p:cNvPr id="11" name="Text 9"/>
          <p:cNvSpPr/>
          <p:nvPr/>
        </p:nvSpPr>
        <p:spPr>
          <a:xfrm>
            <a:off x="4800600" y="1463040"/>
            <a:ext cx="3931920" cy="713232"/>
          </a:xfrm>
          <a:prstGeom prst="rect">
            <a:avLst/>
          </a:prstGeom>
          <a:noFill/>
          <a:ln/>
        </p:spPr>
        <p:txBody>
          <a:bodyPr wrap="square" rtlCol="0" anchor="ctr"/>
          <a:lstStyle/>
          <a:p>
            <a:pPr marL="0" indent="0">
              <a:buNone/>
            </a:pPr>
            <a:r>
              <a:rPr lang="en-US" sz="950" dirty="0">
                <a:solidFill>
                  <a:srgbClr val="CADCDC"/>
                </a:solidFill>
              </a:rPr>
              <a:t>Move beyond checkbox consent: require contextual notices at point of data capture (e.g. in-app alerts when location is being transmitted). Regulate financial coercion in 'pushed' tracking schemes.</a:t>
            </a:r>
            <a:endParaRPr lang="en-US" sz="950" dirty="0"/>
          </a:p>
        </p:txBody>
      </p:sp>
      <p:sp>
        <p:nvSpPr>
          <p:cNvPr id="12" name="Shape 10"/>
          <p:cNvSpPr/>
          <p:nvPr/>
        </p:nvSpPr>
        <p:spPr>
          <a:xfrm>
            <a:off x="228600" y="2377440"/>
            <a:ext cx="4206240" cy="1234440"/>
          </a:xfrm>
          <a:prstGeom prst="roundRect">
            <a:avLst>
              <a:gd name="adj" fmla="val 7407"/>
            </a:avLst>
          </a:prstGeom>
          <a:solidFill>
            <a:srgbClr val="153A4A"/>
          </a:solidFill>
          <a:ln/>
          <a:effectLst>
            <a:outerShdw blurRad="76200" dist="25400" dir="2700000" algn="bl" rotWithShape="0">
              <a:srgbClr val="000000">
                <a:alpha val="12000"/>
              </a:srgbClr>
            </a:outerShdw>
          </a:effectLst>
        </p:spPr>
        <p:txBody>
          <a:bodyPr/>
          <a:lstStyle/>
          <a:p>
            <a:endParaRPr lang="en-IE"/>
          </a:p>
        </p:txBody>
      </p:sp>
      <p:sp>
        <p:nvSpPr>
          <p:cNvPr id="13" name="Shape 11"/>
          <p:cNvSpPr/>
          <p:nvPr/>
        </p:nvSpPr>
        <p:spPr>
          <a:xfrm>
            <a:off x="338328" y="2468880"/>
            <a:ext cx="1280160" cy="292608"/>
          </a:xfrm>
          <a:prstGeom prst="roundRect">
            <a:avLst>
              <a:gd name="adj" fmla="val 15625"/>
            </a:avLst>
          </a:prstGeom>
          <a:solidFill>
            <a:srgbClr val="14A090"/>
          </a:solidFill>
          <a:ln/>
        </p:spPr>
        <p:txBody>
          <a:bodyPr/>
          <a:lstStyle/>
          <a:p>
            <a:endParaRPr lang="en-IE"/>
          </a:p>
        </p:txBody>
      </p:sp>
      <p:sp>
        <p:nvSpPr>
          <p:cNvPr id="14" name="Text 12"/>
          <p:cNvSpPr/>
          <p:nvPr/>
        </p:nvSpPr>
        <p:spPr>
          <a:xfrm>
            <a:off x="365760" y="2468880"/>
            <a:ext cx="1280160" cy="292608"/>
          </a:xfrm>
          <a:prstGeom prst="rect">
            <a:avLst/>
          </a:prstGeom>
          <a:noFill/>
          <a:ln/>
        </p:spPr>
        <p:txBody>
          <a:bodyPr wrap="square" lIns="0" tIns="0" rIns="0" bIns="0" rtlCol="0" anchor="ctr"/>
          <a:lstStyle/>
          <a:p>
            <a:pPr marL="0" indent="0" algn="ctr">
              <a:buNone/>
            </a:pPr>
            <a:r>
              <a:rPr lang="en-US" sz="900" b="1" dirty="0">
                <a:solidFill>
                  <a:srgbClr val="FFFFFF"/>
                </a:solidFill>
              </a:rPr>
              <a:t>Bias</a:t>
            </a:r>
            <a:endParaRPr lang="en-US" sz="900" dirty="0"/>
          </a:p>
        </p:txBody>
      </p:sp>
      <p:sp>
        <p:nvSpPr>
          <p:cNvPr id="15" name="Text 13"/>
          <p:cNvSpPr/>
          <p:nvPr/>
        </p:nvSpPr>
        <p:spPr>
          <a:xfrm>
            <a:off x="365760" y="2834640"/>
            <a:ext cx="3931920" cy="713232"/>
          </a:xfrm>
          <a:prstGeom prst="rect">
            <a:avLst/>
          </a:prstGeom>
          <a:noFill/>
          <a:ln/>
        </p:spPr>
        <p:txBody>
          <a:bodyPr wrap="square" rtlCol="0" anchor="ctr"/>
          <a:lstStyle/>
          <a:p>
            <a:pPr marL="0" indent="0">
              <a:buNone/>
            </a:pPr>
            <a:r>
              <a:rPr lang="en-US" sz="950" dirty="0">
                <a:solidFill>
                  <a:srgbClr val="CADCDC"/>
                </a:solidFill>
              </a:rPr>
              <a:t>Require demographic metadata disclosure for all location datasets sold or shared with public authorities. Fund representative counter-datasets for under-served demographics.</a:t>
            </a:r>
            <a:endParaRPr lang="en-US" sz="950" dirty="0"/>
          </a:p>
        </p:txBody>
      </p:sp>
      <p:sp>
        <p:nvSpPr>
          <p:cNvPr id="16" name="Shape 14"/>
          <p:cNvSpPr/>
          <p:nvPr/>
        </p:nvSpPr>
        <p:spPr>
          <a:xfrm>
            <a:off x="4663440" y="2377440"/>
            <a:ext cx="4206240" cy="1234440"/>
          </a:xfrm>
          <a:prstGeom prst="roundRect">
            <a:avLst>
              <a:gd name="adj" fmla="val 7407"/>
            </a:avLst>
          </a:prstGeom>
          <a:solidFill>
            <a:srgbClr val="153A4A"/>
          </a:solidFill>
          <a:ln/>
          <a:effectLst>
            <a:outerShdw blurRad="76200" dist="25400" dir="2700000" algn="bl" rotWithShape="0">
              <a:srgbClr val="000000">
                <a:alpha val="12000"/>
              </a:srgbClr>
            </a:outerShdw>
          </a:effectLst>
        </p:spPr>
        <p:txBody>
          <a:bodyPr/>
          <a:lstStyle/>
          <a:p>
            <a:endParaRPr lang="en-IE"/>
          </a:p>
        </p:txBody>
      </p:sp>
      <p:sp>
        <p:nvSpPr>
          <p:cNvPr id="17" name="Shape 15"/>
          <p:cNvSpPr/>
          <p:nvPr/>
        </p:nvSpPr>
        <p:spPr>
          <a:xfrm>
            <a:off x="4773168" y="2468880"/>
            <a:ext cx="1280160" cy="292608"/>
          </a:xfrm>
          <a:prstGeom prst="roundRect">
            <a:avLst>
              <a:gd name="adj" fmla="val 15625"/>
            </a:avLst>
          </a:prstGeom>
          <a:solidFill>
            <a:srgbClr val="14A090"/>
          </a:solidFill>
          <a:ln/>
        </p:spPr>
        <p:txBody>
          <a:bodyPr/>
          <a:lstStyle/>
          <a:p>
            <a:endParaRPr lang="en-IE"/>
          </a:p>
        </p:txBody>
      </p:sp>
      <p:sp>
        <p:nvSpPr>
          <p:cNvPr id="18" name="Text 16"/>
          <p:cNvSpPr/>
          <p:nvPr/>
        </p:nvSpPr>
        <p:spPr>
          <a:xfrm>
            <a:off x="4800600" y="2468880"/>
            <a:ext cx="1280160" cy="292608"/>
          </a:xfrm>
          <a:prstGeom prst="rect">
            <a:avLst/>
          </a:prstGeom>
          <a:noFill/>
          <a:ln/>
        </p:spPr>
        <p:txBody>
          <a:bodyPr wrap="square" lIns="0" tIns="0" rIns="0" bIns="0" rtlCol="0" anchor="ctr"/>
          <a:lstStyle/>
          <a:p>
            <a:pPr marL="0" indent="0" algn="ctr">
              <a:buNone/>
            </a:pPr>
            <a:r>
              <a:rPr lang="en-US" sz="900" b="1" dirty="0">
                <a:solidFill>
                  <a:srgbClr val="FFFFFF"/>
                </a:solidFill>
              </a:rPr>
              <a:t>Feedback Effects</a:t>
            </a:r>
            <a:endParaRPr lang="en-US" sz="900" dirty="0"/>
          </a:p>
        </p:txBody>
      </p:sp>
      <p:sp>
        <p:nvSpPr>
          <p:cNvPr id="19" name="Text 17"/>
          <p:cNvSpPr/>
          <p:nvPr/>
        </p:nvSpPr>
        <p:spPr>
          <a:xfrm>
            <a:off x="4800600" y="2834640"/>
            <a:ext cx="3931920" cy="713232"/>
          </a:xfrm>
          <a:prstGeom prst="rect">
            <a:avLst/>
          </a:prstGeom>
          <a:noFill/>
          <a:ln/>
        </p:spPr>
        <p:txBody>
          <a:bodyPr wrap="square" rtlCol="0" anchor="ctr"/>
          <a:lstStyle/>
          <a:p>
            <a:pPr marL="0" indent="0">
              <a:buNone/>
            </a:pPr>
            <a:r>
              <a:rPr lang="en-US" sz="950" dirty="0">
                <a:solidFill>
                  <a:srgbClr val="CADCDC"/>
                </a:solidFill>
              </a:rPr>
              <a:t>Platform operators must publish algorithmic transparency reports. Crowdsourced routing apps should undergo public safety audits before city deployments.</a:t>
            </a:r>
            <a:endParaRPr lang="en-US" sz="950" dirty="0"/>
          </a:p>
        </p:txBody>
      </p:sp>
      <p:sp>
        <p:nvSpPr>
          <p:cNvPr id="20" name="Shape 18"/>
          <p:cNvSpPr/>
          <p:nvPr/>
        </p:nvSpPr>
        <p:spPr>
          <a:xfrm>
            <a:off x="228600" y="3749040"/>
            <a:ext cx="4206240" cy="1234440"/>
          </a:xfrm>
          <a:prstGeom prst="roundRect">
            <a:avLst>
              <a:gd name="adj" fmla="val 7407"/>
            </a:avLst>
          </a:prstGeom>
          <a:solidFill>
            <a:srgbClr val="153A4A"/>
          </a:solidFill>
          <a:ln/>
          <a:effectLst>
            <a:outerShdw blurRad="76200" dist="25400" dir="2700000" algn="bl" rotWithShape="0">
              <a:srgbClr val="000000">
                <a:alpha val="12000"/>
              </a:srgbClr>
            </a:outerShdw>
          </a:effectLst>
        </p:spPr>
        <p:txBody>
          <a:bodyPr/>
          <a:lstStyle/>
          <a:p>
            <a:endParaRPr lang="en-IE"/>
          </a:p>
        </p:txBody>
      </p:sp>
      <p:sp>
        <p:nvSpPr>
          <p:cNvPr id="21" name="Shape 19"/>
          <p:cNvSpPr/>
          <p:nvPr/>
        </p:nvSpPr>
        <p:spPr>
          <a:xfrm>
            <a:off x="338328" y="3840480"/>
            <a:ext cx="1280160" cy="292608"/>
          </a:xfrm>
          <a:prstGeom prst="roundRect">
            <a:avLst>
              <a:gd name="adj" fmla="val 15625"/>
            </a:avLst>
          </a:prstGeom>
          <a:solidFill>
            <a:srgbClr val="14A090"/>
          </a:solidFill>
          <a:ln/>
        </p:spPr>
        <p:txBody>
          <a:bodyPr/>
          <a:lstStyle/>
          <a:p>
            <a:endParaRPr lang="en-IE"/>
          </a:p>
        </p:txBody>
      </p:sp>
      <p:sp>
        <p:nvSpPr>
          <p:cNvPr id="22" name="Text 20"/>
          <p:cNvSpPr/>
          <p:nvPr/>
        </p:nvSpPr>
        <p:spPr>
          <a:xfrm>
            <a:off x="365760" y="3840480"/>
            <a:ext cx="1280160" cy="292608"/>
          </a:xfrm>
          <a:prstGeom prst="rect">
            <a:avLst/>
          </a:prstGeom>
          <a:noFill/>
          <a:ln/>
        </p:spPr>
        <p:txBody>
          <a:bodyPr wrap="square" lIns="0" tIns="0" rIns="0" bIns="0" rtlCol="0" anchor="ctr"/>
          <a:lstStyle/>
          <a:p>
            <a:pPr marL="0" indent="0" algn="ctr">
              <a:buNone/>
            </a:pPr>
            <a:r>
              <a:rPr lang="en-US" sz="900" b="1" dirty="0">
                <a:solidFill>
                  <a:srgbClr val="FFFFFF"/>
                </a:solidFill>
              </a:rPr>
              <a:t>Interoperability &amp; Portability</a:t>
            </a:r>
            <a:endParaRPr lang="en-US" sz="900" dirty="0"/>
          </a:p>
        </p:txBody>
      </p:sp>
      <p:sp>
        <p:nvSpPr>
          <p:cNvPr id="23" name="Text 21"/>
          <p:cNvSpPr/>
          <p:nvPr/>
        </p:nvSpPr>
        <p:spPr>
          <a:xfrm>
            <a:off x="365760" y="4206240"/>
            <a:ext cx="3931920" cy="713232"/>
          </a:xfrm>
          <a:prstGeom prst="rect">
            <a:avLst/>
          </a:prstGeom>
          <a:noFill/>
          <a:ln/>
        </p:spPr>
        <p:txBody>
          <a:bodyPr wrap="square" rtlCol="0" anchor="ctr"/>
          <a:lstStyle/>
          <a:p>
            <a:pPr marL="0" indent="0">
              <a:buNone/>
            </a:pPr>
            <a:r>
              <a:rPr lang="en-US" sz="950" dirty="0">
                <a:solidFill>
                  <a:srgbClr val="CADCDC"/>
                </a:solidFill>
              </a:rPr>
              <a:t>Extend GDPR data portability to include derived inferences, not just raw data. Allow users to export and delete location profiles across services.</a:t>
            </a:r>
            <a:endParaRPr lang="en-US" sz="950" dirty="0"/>
          </a:p>
        </p:txBody>
      </p:sp>
      <p:sp>
        <p:nvSpPr>
          <p:cNvPr id="24" name="Shape 22"/>
          <p:cNvSpPr/>
          <p:nvPr/>
        </p:nvSpPr>
        <p:spPr>
          <a:xfrm>
            <a:off x="4663440" y="3749040"/>
            <a:ext cx="4206240" cy="1234440"/>
          </a:xfrm>
          <a:prstGeom prst="roundRect">
            <a:avLst>
              <a:gd name="adj" fmla="val 7407"/>
            </a:avLst>
          </a:prstGeom>
          <a:solidFill>
            <a:srgbClr val="153A4A"/>
          </a:solidFill>
          <a:ln/>
          <a:effectLst>
            <a:outerShdw blurRad="76200" dist="25400" dir="2700000" algn="bl" rotWithShape="0">
              <a:srgbClr val="000000">
                <a:alpha val="12000"/>
              </a:srgbClr>
            </a:outerShdw>
          </a:effectLst>
        </p:spPr>
        <p:txBody>
          <a:bodyPr/>
          <a:lstStyle/>
          <a:p>
            <a:endParaRPr lang="en-IE"/>
          </a:p>
        </p:txBody>
      </p:sp>
      <p:sp>
        <p:nvSpPr>
          <p:cNvPr id="25" name="Shape 23"/>
          <p:cNvSpPr/>
          <p:nvPr/>
        </p:nvSpPr>
        <p:spPr>
          <a:xfrm>
            <a:off x="4773168" y="3840480"/>
            <a:ext cx="1280160" cy="292608"/>
          </a:xfrm>
          <a:prstGeom prst="roundRect">
            <a:avLst>
              <a:gd name="adj" fmla="val 15625"/>
            </a:avLst>
          </a:prstGeom>
          <a:solidFill>
            <a:srgbClr val="14A090"/>
          </a:solidFill>
          <a:ln/>
        </p:spPr>
        <p:txBody>
          <a:bodyPr/>
          <a:lstStyle/>
          <a:p>
            <a:endParaRPr lang="en-IE"/>
          </a:p>
        </p:txBody>
      </p:sp>
      <p:sp>
        <p:nvSpPr>
          <p:cNvPr id="26" name="Text 24"/>
          <p:cNvSpPr/>
          <p:nvPr/>
        </p:nvSpPr>
        <p:spPr>
          <a:xfrm>
            <a:off x="4800600" y="3840480"/>
            <a:ext cx="1280160" cy="292608"/>
          </a:xfrm>
          <a:prstGeom prst="rect">
            <a:avLst/>
          </a:prstGeom>
          <a:noFill/>
          <a:ln/>
        </p:spPr>
        <p:txBody>
          <a:bodyPr wrap="square" lIns="0" tIns="0" rIns="0" bIns="0" rtlCol="0" anchor="ctr"/>
          <a:lstStyle/>
          <a:p>
            <a:pPr marL="0" indent="0" algn="ctr">
              <a:buNone/>
            </a:pPr>
            <a:r>
              <a:rPr lang="en-US" sz="900" b="1" dirty="0">
                <a:solidFill>
                  <a:srgbClr val="FFFFFF"/>
                </a:solidFill>
              </a:rPr>
              <a:t>Regulatory Clarity</a:t>
            </a:r>
            <a:endParaRPr lang="en-US" sz="900" dirty="0"/>
          </a:p>
        </p:txBody>
      </p:sp>
      <p:sp>
        <p:nvSpPr>
          <p:cNvPr id="27" name="Text 25"/>
          <p:cNvSpPr/>
          <p:nvPr/>
        </p:nvSpPr>
        <p:spPr>
          <a:xfrm>
            <a:off x="4800600" y="4206240"/>
            <a:ext cx="3931920" cy="713232"/>
          </a:xfrm>
          <a:prstGeom prst="rect">
            <a:avLst/>
          </a:prstGeom>
          <a:noFill/>
          <a:ln/>
        </p:spPr>
        <p:txBody>
          <a:bodyPr wrap="square" rtlCol="0" anchor="ctr"/>
          <a:lstStyle/>
          <a:p>
            <a:pPr marL="0" indent="0">
              <a:buNone/>
            </a:pPr>
            <a:r>
              <a:rPr lang="en-US" sz="950" dirty="0">
                <a:solidFill>
                  <a:srgbClr val="CADCDC"/>
                </a:solidFill>
              </a:rPr>
              <a:t>Establish a sector-specific code of practice for location data (similar to smart meter Data Access and Privacy Framework) to close 'health purpose' loopholes.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3349"/>
          </a:solidFill>
          <a:ln/>
        </p:spPr>
        <p:txBody>
          <a:bodyPr/>
          <a:lstStyle/>
          <a:p>
            <a:endParaRPr lang="en-IE"/>
          </a:p>
        </p:txBody>
      </p:sp>
      <p:sp>
        <p:nvSpPr>
          <p:cNvPr id="3" name="Text 1"/>
          <p:cNvSpPr/>
          <p:nvPr/>
        </p:nvSpPr>
        <p:spPr>
          <a:xfrm>
            <a:off x="457200" y="91440"/>
            <a:ext cx="8229600" cy="640080"/>
          </a:xfrm>
          <a:prstGeom prst="rect">
            <a:avLst/>
          </a:prstGeom>
          <a:noFill/>
          <a:ln/>
        </p:spPr>
        <p:txBody>
          <a:bodyPr wrap="square" rtlCol="0" anchor="ctr"/>
          <a:lstStyle/>
          <a:p>
            <a:pPr marL="0" indent="0">
              <a:buNone/>
            </a:pPr>
            <a:r>
              <a:rPr lang="en-US" sz="2400" b="1" dirty="0">
                <a:solidFill>
                  <a:srgbClr val="FFFFFF"/>
                </a:solidFill>
              </a:rPr>
              <a:t>Case Study Analysis</a:t>
            </a:r>
            <a:endParaRPr lang="en-US" sz="2400" dirty="0"/>
          </a:p>
        </p:txBody>
      </p:sp>
      <p:sp>
        <p:nvSpPr>
          <p:cNvPr id="4" name="Shape 2"/>
          <p:cNvSpPr/>
          <p:nvPr/>
        </p:nvSpPr>
        <p:spPr>
          <a:xfrm>
            <a:off x="182880" y="960120"/>
            <a:ext cx="2834640" cy="4023360"/>
          </a:xfrm>
          <a:prstGeom prst="roundRect">
            <a:avLst>
              <a:gd name="adj" fmla="val 3226"/>
            </a:avLst>
          </a:prstGeom>
          <a:solidFill>
            <a:srgbClr val="EAFAF1"/>
          </a:solidFill>
          <a:ln/>
          <a:effectLst>
            <a:outerShdw blurRad="76200" dist="25400" dir="2700000" algn="bl" rotWithShape="0">
              <a:srgbClr val="000000">
                <a:alpha val="12000"/>
              </a:srgbClr>
            </a:outerShdw>
          </a:effectLst>
        </p:spPr>
        <p:txBody>
          <a:bodyPr/>
          <a:lstStyle/>
          <a:p>
            <a:endParaRPr lang="en-IE"/>
          </a:p>
        </p:txBody>
      </p:sp>
      <p:sp>
        <p:nvSpPr>
          <p:cNvPr id="5" name="Shape 3"/>
          <p:cNvSpPr/>
          <p:nvPr/>
        </p:nvSpPr>
        <p:spPr>
          <a:xfrm>
            <a:off x="182880" y="960120"/>
            <a:ext cx="2834640" cy="411480"/>
          </a:xfrm>
          <a:prstGeom prst="roundRect">
            <a:avLst>
              <a:gd name="adj" fmla="val 22222"/>
            </a:avLst>
          </a:prstGeom>
          <a:solidFill>
            <a:srgbClr val="1B7A4A"/>
          </a:solidFill>
          <a:ln/>
        </p:spPr>
        <p:txBody>
          <a:bodyPr/>
          <a:lstStyle/>
          <a:p>
            <a:endParaRPr lang="en-IE"/>
          </a:p>
        </p:txBody>
      </p:sp>
      <p:sp>
        <p:nvSpPr>
          <p:cNvPr id="6" name="Shape 4"/>
          <p:cNvSpPr/>
          <p:nvPr/>
        </p:nvSpPr>
        <p:spPr>
          <a:xfrm>
            <a:off x="182880" y="1188720"/>
            <a:ext cx="2834640" cy="182880"/>
          </a:xfrm>
          <a:prstGeom prst="rect">
            <a:avLst/>
          </a:prstGeom>
          <a:solidFill>
            <a:srgbClr val="1B7A4A"/>
          </a:solidFill>
          <a:ln/>
        </p:spPr>
        <p:txBody>
          <a:bodyPr/>
          <a:lstStyle/>
          <a:p>
            <a:endParaRPr lang="en-IE"/>
          </a:p>
        </p:txBody>
      </p:sp>
      <p:sp>
        <p:nvSpPr>
          <p:cNvPr id="7" name="Text 5"/>
          <p:cNvSpPr/>
          <p:nvPr/>
        </p:nvSpPr>
        <p:spPr>
          <a:xfrm>
            <a:off x="274320" y="996696"/>
            <a:ext cx="2651760" cy="347472"/>
          </a:xfrm>
          <a:prstGeom prst="rect">
            <a:avLst/>
          </a:prstGeom>
          <a:noFill/>
          <a:ln/>
        </p:spPr>
        <p:txBody>
          <a:bodyPr wrap="square" lIns="0" tIns="0" rIns="0" bIns="0" rtlCol="0" anchor="ctr"/>
          <a:lstStyle/>
          <a:p>
            <a:pPr marL="0" indent="0" algn="ctr">
              <a:buNone/>
            </a:pPr>
            <a:r>
              <a:rPr lang="en-US" sz="1200" b="1" dirty="0">
                <a:solidFill>
                  <a:srgbClr val="FFFFFF"/>
                </a:solidFill>
              </a:rPr>
              <a:t>Done Right</a:t>
            </a:r>
            <a:endParaRPr lang="en-US" sz="1200" dirty="0"/>
          </a:p>
        </p:txBody>
      </p:sp>
      <p:sp>
        <p:nvSpPr>
          <p:cNvPr id="8" name="Text 6"/>
          <p:cNvSpPr/>
          <p:nvPr/>
        </p:nvSpPr>
        <p:spPr>
          <a:xfrm>
            <a:off x="292608" y="1463040"/>
            <a:ext cx="2624328" cy="3383280"/>
          </a:xfrm>
          <a:prstGeom prst="rect">
            <a:avLst/>
          </a:prstGeom>
          <a:noFill/>
          <a:ln/>
        </p:spPr>
        <p:txBody>
          <a:bodyPr wrap="square" rtlCol="0" anchor="ctr"/>
          <a:lstStyle/>
          <a:p>
            <a:pPr marL="342900" indent="-342900">
              <a:spcAft>
                <a:spcPts val="600"/>
              </a:spcAft>
              <a:buSzPct val="100000"/>
              <a:buChar char="•"/>
            </a:pPr>
            <a:r>
              <a:rPr lang="en-US" sz="1000" dirty="0">
                <a:solidFill>
                  <a:srgbClr val="1E293B"/>
                </a:solidFill>
              </a:rPr>
              <a:t>Strava provides demographic metadata to contextualise biased data</a:t>
            </a:r>
            <a:endParaRPr lang="en-US" sz="1000" dirty="0"/>
          </a:p>
          <a:p>
            <a:pPr marL="342900" indent="-342900">
              <a:spcAft>
                <a:spcPts val="600"/>
              </a:spcAft>
              <a:buSzPct val="100000"/>
              <a:buChar char="•"/>
            </a:pPr>
            <a:r>
              <a:rPr lang="en-US" sz="1000" dirty="0">
                <a:solidFill>
                  <a:srgbClr val="1E293B"/>
                </a:solidFill>
              </a:rPr>
              <a:t>Uber's 'Uber Movement' service shares journey summary data freely with planners</a:t>
            </a:r>
            <a:endParaRPr lang="en-US" sz="1000" dirty="0"/>
          </a:p>
          <a:p>
            <a:pPr marL="342900" indent="-342900">
              <a:spcAft>
                <a:spcPts val="600"/>
              </a:spcAft>
              <a:buSzPct val="100000"/>
              <a:buChar char="•"/>
            </a:pPr>
            <a:r>
              <a:rPr lang="en-US" sz="1000" dirty="0">
                <a:solidFill>
                  <a:srgbClr val="1E293B"/>
                </a:solidFill>
              </a:rPr>
              <a:t>Waze's city collaboration model creates feedback loops for road improvement</a:t>
            </a:r>
            <a:endParaRPr lang="en-US" sz="1000" dirty="0"/>
          </a:p>
          <a:p>
            <a:pPr marL="342900" indent="-342900">
              <a:spcAft>
                <a:spcPts val="600"/>
              </a:spcAft>
              <a:buSzPct val="100000"/>
              <a:buChar char="•"/>
            </a:pPr>
            <a:r>
              <a:rPr lang="en-US" sz="1000" dirty="0">
                <a:solidFill>
                  <a:srgbClr val="1E293B"/>
                </a:solidFill>
              </a:rPr>
              <a:t>GDPR classifies location as personal data — a significant baseline protection</a:t>
            </a:r>
            <a:endParaRPr lang="en-US" sz="1000" dirty="0"/>
          </a:p>
        </p:txBody>
      </p:sp>
      <p:sp>
        <p:nvSpPr>
          <p:cNvPr id="9" name="Shape 7"/>
          <p:cNvSpPr/>
          <p:nvPr/>
        </p:nvSpPr>
        <p:spPr>
          <a:xfrm>
            <a:off x="3108960" y="960120"/>
            <a:ext cx="2834640" cy="4023360"/>
          </a:xfrm>
          <a:prstGeom prst="roundRect">
            <a:avLst>
              <a:gd name="adj" fmla="val 3226"/>
            </a:avLst>
          </a:prstGeom>
          <a:solidFill>
            <a:srgbClr val="FDEDEC"/>
          </a:solidFill>
          <a:ln/>
          <a:effectLst>
            <a:outerShdw blurRad="76200" dist="25400" dir="2700000" algn="bl" rotWithShape="0">
              <a:srgbClr val="000000">
                <a:alpha val="12000"/>
              </a:srgbClr>
            </a:outerShdw>
          </a:effectLst>
        </p:spPr>
        <p:txBody>
          <a:bodyPr/>
          <a:lstStyle/>
          <a:p>
            <a:endParaRPr lang="en-IE"/>
          </a:p>
        </p:txBody>
      </p:sp>
      <p:sp>
        <p:nvSpPr>
          <p:cNvPr id="10" name="Shape 8"/>
          <p:cNvSpPr/>
          <p:nvPr/>
        </p:nvSpPr>
        <p:spPr>
          <a:xfrm>
            <a:off x="3108960" y="960120"/>
            <a:ext cx="2834640" cy="411480"/>
          </a:xfrm>
          <a:prstGeom prst="roundRect">
            <a:avLst>
              <a:gd name="adj" fmla="val 22222"/>
            </a:avLst>
          </a:prstGeom>
          <a:solidFill>
            <a:srgbClr val="A93226"/>
          </a:solidFill>
          <a:ln/>
        </p:spPr>
        <p:txBody>
          <a:bodyPr/>
          <a:lstStyle/>
          <a:p>
            <a:endParaRPr lang="en-IE"/>
          </a:p>
        </p:txBody>
      </p:sp>
      <p:sp>
        <p:nvSpPr>
          <p:cNvPr id="11" name="Shape 9"/>
          <p:cNvSpPr/>
          <p:nvPr/>
        </p:nvSpPr>
        <p:spPr>
          <a:xfrm>
            <a:off x="3108960" y="1188720"/>
            <a:ext cx="2834640" cy="182880"/>
          </a:xfrm>
          <a:prstGeom prst="rect">
            <a:avLst/>
          </a:prstGeom>
          <a:solidFill>
            <a:srgbClr val="A93226"/>
          </a:solidFill>
          <a:ln/>
        </p:spPr>
        <p:txBody>
          <a:bodyPr/>
          <a:lstStyle/>
          <a:p>
            <a:endParaRPr lang="en-IE"/>
          </a:p>
        </p:txBody>
      </p:sp>
      <p:sp>
        <p:nvSpPr>
          <p:cNvPr id="12" name="Text 10"/>
          <p:cNvSpPr/>
          <p:nvPr/>
        </p:nvSpPr>
        <p:spPr>
          <a:xfrm>
            <a:off x="3200400" y="996696"/>
            <a:ext cx="2651760" cy="347472"/>
          </a:xfrm>
          <a:prstGeom prst="rect">
            <a:avLst/>
          </a:prstGeom>
          <a:noFill/>
          <a:ln/>
        </p:spPr>
        <p:txBody>
          <a:bodyPr wrap="square" lIns="0" tIns="0" rIns="0" bIns="0" rtlCol="0" anchor="ctr"/>
          <a:lstStyle/>
          <a:p>
            <a:pPr marL="0" indent="0" algn="ctr">
              <a:buNone/>
            </a:pPr>
            <a:r>
              <a:rPr lang="en-US" sz="1200" b="1" dirty="0">
                <a:solidFill>
                  <a:srgbClr val="FFFFFF"/>
                </a:solidFill>
              </a:rPr>
              <a:t>Done Wrong / Missed</a:t>
            </a:r>
            <a:endParaRPr lang="en-US" sz="1200" dirty="0"/>
          </a:p>
        </p:txBody>
      </p:sp>
      <p:sp>
        <p:nvSpPr>
          <p:cNvPr id="13" name="Text 11"/>
          <p:cNvSpPr/>
          <p:nvPr/>
        </p:nvSpPr>
        <p:spPr>
          <a:xfrm>
            <a:off x="3218688" y="1463040"/>
            <a:ext cx="2624328" cy="3383280"/>
          </a:xfrm>
          <a:prstGeom prst="rect">
            <a:avLst/>
          </a:prstGeom>
          <a:noFill/>
          <a:ln/>
        </p:spPr>
        <p:txBody>
          <a:bodyPr wrap="square" rtlCol="0" anchor="ctr"/>
          <a:lstStyle/>
          <a:p>
            <a:pPr marL="342900" indent="-342900">
              <a:spcAft>
                <a:spcPts val="600"/>
              </a:spcAft>
              <a:buSzPct val="100000"/>
              <a:buChar char="•"/>
            </a:pPr>
            <a:r>
              <a:rPr lang="en-US" sz="1000" dirty="0">
                <a:solidFill>
                  <a:srgbClr val="1E293B"/>
                </a:solidFill>
              </a:rPr>
              <a:t>No mechanism to flag when 'health purpose' loophole is being exploited</a:t>
            </a:r>
            <a:endParaRPr lang="en-US" sz="1000" dirty="0"/>
          </a:p>
          <a:p>
            <a:pPr marL="342900" indent="-342900">
              <a:spcAft>
                <a:spcPts val="600"/>
              </a:spcAft>
              <a:buSzPct val="100000"/>
              <a:buChar char="•"/>
            </a:pPr>
            <a:r>
              <a:rPr lang="en-US" sz="1000" dirty="0">
                <a:solidFill>
                  <a:srgbClr val="1E293B"/>
                </a:solidFill>
              </a:rPr>
              <a:t>Consent is treated as a one-time event, ignoring contextual and third-party dimensions</a:t>
            </a:r>
            <a:endParaRPr lang="en-US" sz="1000" dirty="0"/>
          </a:p>
          <a:p>
            <a:pPr marL="342900" indent="-342900">
              <a:spcAft>
                <a:spcPts val="600"/>
              </a:spcAft>
              <a:buSzPct val="100000"/>
              <a:buChar char="•"/>
            </a:pPr>
            <a:r>
              <a:rPr lang="en-US" sz="1000" dirty="0">
                <a:solidFill>
                  <a:srgbClr val="1E293B"/>
                </a:solidFill>
              </a:rPr>
              <a:t>Location apps rarely disclose what inferences they derive from raw GPS data</a:t>
            </a:r>
            <a:endParaRPr lang="en-US" sz="1000" dirty="0"/>
          </a:p>
          <a:p>
            <a:pPr marL="342900" indent="-342900">
              <a:spcAft>
                <a:spcPts val="600"/>
              </a:spcAft>
              <a:buSzPct val="100000"/>
              <a:buChar char="•"/>
            </a:pPr>
            <a:r>
              <a:rPr lang="en-US" sz="1000" dirty="0">
                <a:solidFill>
                  <a:srgbClr val="1E293B"/>
                </a:solidFill>
              </a:rPr>
              <a:t>Demographic metadata is voluntary — no regulatory requirement to provide it</a:t>
            </a:r>
            <a:endParaRPr lang="en-US" sz="1000" dirty="0"/>
          </a:p>
        </p:txBody>
      </p:sp>
      <p:sp>
        <p:nvSpPr>
          <p:cNvPr id="14" name="Shape 12"/>
          <p:cNvSpPr/>
          <p:nvPr/>
        </p:nvSpPr>
        <p:spPr>
          <a:xfrm>
            <a:off x="6035040" y="960120"/>
            <a:ext cx="2834640" cy="4023360"/>
          </a:xfrm>
          <a:prstGeom prst="roundRect">
            <a:avLst>
              <a:gd name="adj" fmla="val 3226"/>
            </a:avLst>
          </a:prstGeom>
          <a:solidFill>
            <a:srgbClr val="FEF9E7"/>
          </a:solidFill>
          <a:ln/>
          <a:effectLst>
            <a:outerShdw blurRad="76200" dist="25400" dir="2700000" algn="bl" rotWithShape="0">
              <a:srgbClr val="000000">
                <a:alpha val="12000"/>
              </a:srgbClr>
            </a:outerShdw>
          </a:effectLst>
        </p:spPr>
        <p:txBody>
          <a:bodyPr/>
          <a:lstStyle/>
          <a:p>
            <a:endParaRPr lang="en-IE"/>
          </a:p>
        </p:txBody>
      </p:sp>
      <p:sp>
        <p:nvSpPr>
          <p:cNvPr id="15" name="Shape 13"/>
          <p:cNvSpPr/>
          <p:nvPr/>
        </p:nvSpPr>
        <p:spPr>
          <a:xfrm>
            <a:off x="6035040" y="960120"/>
            <a:ext cx="2834640" cy="411480"/>
          </a:xfrm>
          <a:prstGeom prst="roundRect">
            <a:avLst>
              <a:gd name="adj" fmla="val 22222"/>
            </a:avLst>
          </a:prstGeom>
          <a:solidFill>
            <a:srgbClr val="784212"/>
          </a:solidFill>
          <a:ln/>
        </p:spPr>
        <p:txBody>
          <a:bodyPr/>
          <a:lstStyle/>
          <a:p>
            <a:endParaRPr lang="en-IE"/>
          </a:p>
        </p:txBody>
      </p:sp>
      <p:sp>
        <p:nvSpPr>
          <p:cNvPr id="16" name="Shape 14"/>
          <p:cNvSpPr/>
          <p:nvPr/>
        </p:nvSpPr>
        <p:spPr>
          <a:xfrm>
            <a:off x="6035040" y="1188720"/>
            <a:ext cx="2834640" cy="182880"/>
          </a:xfrm>
          <a:prstGeom prst="rect">
            <a:avLst/>
          </a:prstGeom>
          <a:solidFill>
            <a:srgbClr val="784212"/>
          </a:solidFill>
          <a:ln/>
        </p:spPr>
        <p:txBody>
          <a:bodyPr/>
          <a:lstStyle/>
          <a:p>
            <a:endParaRPr lang="en-IE"/>
          </a:p>
        </p:txBody>
      </p:sp>
      <p:sp>
        <p:nvSpPr>
          <p:cNvPr id="17" name="Text 15"/>
          <p:cNvSpPr/>
          <p:nvPr/>
        </p:nvSpPr>
        <p:spPr>
          <a:xfrm>
            <a:off x="6126480" y="996696"/>
            <a:ext cx="2651760" cy="347472"/>
          </a:xfrm>
          <a:prstGeom prst="rect">
            <a:avLst/>
          </a:prstGeom>
          <a:noFill/>
          <a:ln/>
        </p:spPr>
        <p:txBody>
          <a:bodyPr wrap="square" lIns="0" tIns="0" rIns="0" bIns="0" rtlCol="0" anchor="ctr"/>
          <a:lstStyle/>
          <a:p>
            <a:pPr marL="0" indent="0" algn="ctr">
              <a:buNone/>
            </a:pPr>
            <a:r>
              <a:rPr lang="en-US" sz="1200" b="1" dirty="0">
                <a:solidFill>
                  <a:srgbClr val="FFFFFF"/>
                </a:solidFill>
              </a:rPr>
              <a:t>Could Be Improved</a:t>
            </a:r>
            <a:endParaRPr lang="en-US" sz="1200" dirty="0"/>
          </a:p>
        </p:txBody>
      </p:sp>
      <p:sp>
        <p:nvSpPr>
          <p:cNvPr id="18" name="Text 16"/>
          <p:cNvSpPr/>
          <p:nvPr/>
        </p:nvSpPr>
        <p:spPr>
          <a:xfrm>
            <a:off x="6144768" y="1463040"/>
            <a:ext cx="2624328" cy="3383280"/>
          </a:xfrm>
          <a:prstGeom prst="rect">
            <a:avLst/>
          </a:prstGeom>
          <a:noFill/>
          <a:ln/>
        </p:spPr>
        <p:txBody>
          <a:bodyPr wrap="square" rtlCol="0" anchor="ctr"/>
          <a:lstStyle/>
          <a:p>
            <a:pPr marL="342900" indent="-342900">
              <a:spcAft>
                <a:spcPts val="600"/>
              </a:spcAft>
              <a:buSzPct val="100000"/>
              <a:buChar char="•"/>
            </a:pPr>
            <a:r>
              <a:rPr lang="en-US" sz="1000" dirty="0">
                <a:solidFill>
                  <a:srgbClr val="1E293B"/>
                </a:solidFill>
              </a:rPr>
              <a:t>Mandatory bias reports before public bodies use commercial location datasets</a:t>
            </a:r>
            <a:endParaRPr lang="en-US" sz="1000" dirty="0"/>
          </a:p>
          <a:p>
            <a:pPr marL="342900" indent="-342900">
              <a:spcAft>
                <a:spcPts val="600"/>
              </a:spcAft>
              <a:buSzPct val="100000"/>
              <a:buChar char="•"/>
            </a:pPr>
            <a:r>
              <a:rPr lang="en-US" sz="1000" dirty="0">
                <a:solidFill>
                  <a:srgbClr val="1E293B"/>
                </a:solidFill>
              </a:rPr>
              <a:t>Standardised, privacy-preserving APIs for city planners (so they don't need raw data)</a:t>
            </a:r>
            <a:endParaRPr lang="en-US" sz="1000" dirty="0"/>
          </a:p>
          <a:p>
            <a:pPr marL="342900" indent="-342900">
              <a:spcAft>
                <a:spcPts val="600"/>
              </a:spcAft>
              <a:buSzPct val="100000"/>
              <a:buChar char="•"/>
            </a:pPr>
            <a:r>
              <a:rPr lang="en-US" sz="1000" dirty="0">
                <a:solidFill>
                  <a:srgbClr val="1E293B"/>
                </a:solidFill>
              </a:rPr>
              <a:t>Independent public safety audits for routing platforms (Waze, Google Maps)</a:t>
            </a:r>
            <a:endParaRPr lang="en-US" sz="1000" dirty="0"/>
          </a:p>
          <a:p>
            <a:pPr marL="342900" indent="-342900">
              <a:spcAft>
                <a:spcPts val="600"/>
              </a:spcAft>
              <a:buSzPct val="100000"/>
              <a:buChar char="•"/>
            </a:pPr>
            <a:r>
              <a:rPr lang="en-US" sz="1000" dirty="0">
                <a:solidFill>
                  <a:srgbClr val="1E293B"/>
                </a:solidFill>
              </a:rPr>
              <a:t>A cross-industry location data code of practice, akin to the Smart Energy Code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7B2D2D"/>
          </a:solidFill>
          <a:ln/>
        </p:spPr>
        <p:txBody>
          <a:bodyPr/>
          <a:lstStyle/>
          <a:p>
            <a:endParaRPr lang="en-IE"/>
          </a:p>
        </p:txBody>
      </p:sp>
      <p:sp>
        <p:nvSpPr>
          <p:cNvPr id="3" name="Text 1"/>
          <p:cNvSpPr/>
          <p:nvPr/>
        </p:nvSpPr>
        <p:spPr>
          <a:xfrm>
            <a:off x="274320" y="91440"/>
            <a:ext cx="8595360" cy="640080"/>
          </a:xfrm>
          <a:prstGeom prst="rect">
            <a:avLst/>
          </a:prstGeom>
          <a:noFill/>
          <a:ln/>
        </p:spPr>
        <p:txBody>
          <a:bodyPr wrap="square" rtlCol="0" anchor="ctr"/>
          <a:lstStyle/>
          <a:p>
            <a:pPr marL="0" indent="0">
              <a:buNone/>
            </a:pPr>
            <a:r>
              <a:rPr lang="en-US" sz="2000" b="1" dirty="0">
                <a:solidFill>
                  <a:srgbClr val="FFFFFF"/>
                </a:solidFill>
              </a:rPr>
              <a:t>Real-World Incidents: When Location Data Goes Wrong</a:t>
            </a:r>
            <a:endParaRPr lang="en-US" sz="2000" dirty="0"/>
          </a:p>
        </p:txBody>
      </p:sp>
      <p:sp>
        <p:nvSpPr>
          <p:cNvPr id="4" name="Shape 2"/>
          <p:cNvSpPr/>
          <p:nvPr/>
        </p:nvSpPr>
        <p:spPr>
          <a:xfrm>
            <a:off x="228600" y="960120"/>
            <a:ext cx="4160520" cy="1783080"/>
          </a:xfrm>
          <a:prstGeom prst="roundRect">
            <a:avLst>
              <a:gd name="adj" fmla="val 5128"/>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5" name="Shape 3"/>
          <p:cNvSpPr/>
          <p:nvPr/>
        </p:nvSpPr>
        <p:spPr>
          <a:xfrm>
            <a:off x="365760" y="1051560"/>
            <a:ext cx="1463040" cy="274320"/>
          </a:xfrm>
          <a:prstGeom prst="roundRect">
            <a:avLst>
              <a:gd name="adj" fmla="val 16667"/>
            </a:avLst>
          </a:prstGeom>
          <a:solidFill>
            <a:srgbClr val="C0392B"/>
          </a:solidFill>
          <a:ln/>
        </p:spPr>
        <p:txBody>
          <a:bodyPr/>
          <a:lstStyle/>
          <a:p>
            <a:endParaRPr lang="en-IE"/>
          </a:p>
        </p:txBody>
      </p:sp>
      <p:sp>
        <p:nvSpPr>
          <p:cNvPr id="6" name="Text 4"/>
          <p:cNvSpPr/>
          <p:nvPr/>
        </p:nvSpPr>
        <p:spPr>
          <a:xfrm>
            <a:off x="384048" y="1051560"/>
            <a:ext cx="1426464" cy="274320"/>
          </a:xfrm>
          <a:prstGeom prst="rect">
            <a:avLst/>
          </a:prstGeom>
          <a:noFill/>
          <a:ln/>
        </p:spPr>
        <p:txBody>
          <a:bodyPr wrap="square" lIns="0" tIns="0" rIns="0" bIns="0" rtlCol="0" anchor="ctr"/>
          <a:lstStyle/>
          <a:p>
            <a:pPr marL="0" indent="0" algn="ctr">
              <a:buNone/>
            </a:pPr>
            <a:r>
              <a:rPr lang="en-US" sz="850" b="1" dirty="0">
                <a:solidFill>
                  <a:srgbClr val="FFFFFF"/>
                </a:solidFill>
              </a:rPr>
              <a:t>Public Safety</a:t>
            </a:r>
            <a:endParaRPr lang="en-US" sz="850" dirty="0"/>
          </a:p>
        </p:txBody>
      </p:sp>
      <p:sp>
        <p:nvSpPr>
          <p:cNvPr id="7" name="Text 5"/>
          <p:cNvSpPr/>
          <p:nvPr/>
        </p:nvSpPr>
        <p:spPr>
          <a:xfrm>
            <a:off x="365760" y="1389888"/>
            <a:ext cx="3886200" cy="347472"/>
          </a:xfrm>
          <a:prstGeom prst="rect">
            <a:avLst/>
          </a:prstGeom>
          <a:noFill/>
          <a:ln/>
        </p:spPr>
        <p:txBody>
          <a:bodyPr wrap="square" lIns="0" tIns="0" rIns="0" bIns="0" rtlCol="0" anchor="ctr"/>
          <a:lstStyle/>
          <a:p>
            <a:pPr marL="0" indent="0">
              <a:buNone/>
            </a:pPr>
            <a:r>
              <a:rPr lang="en-US" sz="1200" b="1" dirty="0">
                <a:solidFill>
                  <a:srgbClr val="0D3349"/>
                </a:solidFill>
              </a:rPr>
              <a:t>Waze &amp; LAPD (2015)</a:t>
            </a:r>
            <a:endParaRPr lang="en-US" sz="1200" dirty="0"/>
          </a:p>
        </p:txBody>
      </p:sp>
      <p:sp>
        <p:nvSpPr>
          <p:cNvPr id="8" name="Text 6"/>
          <p:cNvSpPr/>
          <p:nvPr/>
        </p:nvSpPr>
        <p:spPr>
          <a:xfrm>
            <a:off x="365760" y="1764792"/>
            <a:ext cx="3886200" cy="896112"/>
          </a:xfrm>
          <a:prstGeom prst="rect">
            <a:avLst/>
          </a:prstGeom>
          <a:noFill/>
          <a:ln/>
        </p:spPr>
        <p:txBody>
          <a:bodyPr wrap="square" lIns="0" tIns="0" rIns="0" bIns="0" rtlCol="0" anchor="ctr"/>
          <a:lstStyle/>
          <a:p>
            <a:pPr marL="0" indent="0">
              <a:buNone/>
            </a:pPr>
            <a:r>
              <a:rPr lang="en-US" sz="950" dirty="0">
                <a:solidFill>
                  <a:srgbClr val="1E293B"/>
                </a:solidFill>
              </a:rPr>
              <a:t>The Los Angeles Police Dept wrote to Google flagging that Waze's police-tracking feature enabled threats against officers. Ismaaiyl Brinsley used the platform to track police before killing two NYPD officers. Raised the question: can open location data be weaponised?</a:t>
            </a:r>
            <a:endParaRPr lang="en-US" sz="950" dirty="0"/>
          </a:p>
        </p:txBody>
      </p:sp>
      <p:sp>
        <p:nvSpPr>
          <p:cNvPr id="9" name="Shape 7"/>
          <p:cNvSpPr/>
          <p:nvPr/>
        </p:nvSpPr>
        <p:spPr>
          <a:xfrm>
            <a:off x="4663440" y="960120"/>
            <a:ext cx="4160520" cy="1783080"/>
          </a:xfrm>
          <a:prstGeom prst="roundRect">
            <a:avLst>
              <a:gd name="adj" fmla="val 5128"/>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10" name="Shape 8"/>
          <p:cNvSpPr/>
          <p:nvPr/>
        </p:nvSpPr>
        <p:spPr>
          <a:xfrm>
            <a:off x="4800600" y="1051560"/>
            <a:ext cx="1463040" cy="274320"/>
          </a:xfrm>
          <a:prstGeom prst="roundRect">
            <a:avLst>
              <a:gd name="adj" fmla="val 16667"/>
            </a:avLst>
          </a:prstGeom>
          <a:solidFill>
            <a:srgbClr val="8E44AD"/>
          </a:solidFill>
          <a:ln/>
        </p:spPr>
        <p:txBody>
          <a:bodyPr/>
          <a:lstStyle/>
          <a:p>
            <a:endParaRPr lang="en-IE"/>
          </a:p>
        </p:txBody>
      </p:sp>
      <p:sp>
        <p:nvSpPr>
          <p:cNvPr id="11" name="Text 9"/>
          <p:cNvSpPr/>
          <p:nvPr/>
        </p:nvSpPr>
        <p:spPr>
          <a:xfrm>
            <a:off x="4818888" y="1051560"/>
            <a:ext cx="1426464" cy="274320"/>
          </a:xfrm>
          <a:prstGeom prst="rect">
            <a:avLst/>
          </a:prstGeom>
          <a:noFill/>
          <a:ln/>
        </p:spPr>
        <p:txBody>
          <a:bodyPr wrap="square" lIns="0" tIns="0" rIns="0" bIns="0" rtlCol="0" anchor="ctr"/>
          <a:lstStyle/>
          <a:p>
            <a:pPr marL="0" indent="0" algn="ctr">
              <a:buNone/>
            </a:pPr>
            <a:r>
              <a:rPr lang="en-US" sz="850" b="1" dirty="0">
                <a:solidFill>
                  <a:srgbClr val="FFFFFF"/>
                </a:solidFill>
              </a:rPr>
              <a:t>Contextual Integrity</a:t>
            </a:r>
            <a:endParaRPr lang="en-US" sz="850" dirty="0"/>
          </a:p>
        </p:txBody>
      </p:sp>
      <p:sp>
        <p:nvSpPr>
          <p:cNvPr id="12" name="Text 10"/>
          <p:cNvSpPr/>
          <p:nvPr/>
        </p:nvSpPr>
        <p:spPr>
          <a:xfrm>
            <a:off x="4800600" y="1389888"/>
            <a:ext cx="3886200" cy="347472"/>
          </a:xfrm>
          <a:prstGeom prst="rect">
            <a:avLst/>
          </a:prstGeom>
          <a:noFill/>
          <a:ln/>
        </p:spPr>
        <p:txBody>
          <a:bodyPr wrap="square" lIns="0" tIns="0" rIns="0" bIns="0" rtlCol="0" anchor="ctr"/>
          <a:lstStyle/>
          <a:p>
            <a:pPr marL="0" indent="0">
              <a:buNone/>
            </a:pPr>
            <a:r>
              <a:rPr lang="en-US" sz="1200" b="1" dirty="0">
                <a:solidFill>
                  <a:srgbClr val="0D3349"/>
                </a:solidFill>
              </a:rPr>
              <a:t>OkCupid Data Scrape (2016)</a:t>
            </a:r>
            <a:endParaRPr lang="en-US" sz="1200" dirty="0"/>
          </a:p>
        </p:txBody>
      </p:sp>
      <p:sp>
        <p:nvSpPr>
          <p:cNvPr id="13" name="Text 11"/>
          <p:cNvSpPr/>
          <p:nvPr/>
        </p:nvSpPr>
        <p:spPr>
          <a:xfrm>
            <a:off x="4800600" y="1764792"/>
            <a:ext cx="3886200" cy="896112"/>
          </a:xfrm>
          <a:prstGeom prst="rect">
            <a:avLst/>
          </a:prstGeom>
          <a:noFill/>
          <a:ln/>
        </p:spPr>
        <p:txBody>
          <a:bodyPr wrap="square" lIns="0" tIns="0" rIns="0" bIns="0" rtlCol="0" anchor="ctr"/>
          <a:lstStyle/>
          <a:p>
            <a:pPr marL="0" indent="0">
              <a:buNone/>
            </a:pPr>
            <a:r>
              <a:rPr lang="en-US" sz="950" dirty="0">
                <a:solidFill>
                  <a:srgbClr val="1E293B"/>
                </a:solidFill>
              </a:rPr>
              <a:t>A researcher released 70,000 OkCupid user profiles including location metadata scraped from the public site. Users had not consented to their data being compiled into a searchable dataset. Showed the gap between 'publicly posted' and 'publicly consented'.</a:t>
            </a:r>
            <a:endParaRPr lang="en-US" sz="950" dirty="0"/>
          </a:p>
        </p:txBody>
      </p:sp>
      <p:sp>
        <p:nvSpPr>
          <p:cNvPr id="14" name="Shape 12"/>
          <p:cNvSpPr/>
          <p:nvPr/>
        </p:nvSpPr>
        <p:spPr>
          <a:xfrm>
            <a:off x="228600" y="2926080"/>
            <a:ext cx="4160520" cy="1783080"/>
          </a:xfrm>
          <a:prstGeom prst="roundRect">
            <a:avLst>
              <a:gd name="adj" fmla="val 5128"/>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15" name="Shape 13"/>
          <p:cNvSpPr/>
          <p:nvPr/>
        </p:nvSpPr>
        <p:spPr>
          <a:xfrm>
            <a:off x="365760" y="3017520"/>
            <a:ext cx="1463040" cy="274320"/>
          </a:xfrm>
          <a:prstGeom prst="roundRect">
            <a:avLst>
              <a:gd name="adj" fmla="val 16667"/>
            </a:avLst>
          </a:prstGeom>
          <a:solidFill>
            <a:srgbClr val="D35400"/>
          </a:solidFill>
          <a:ln/>
        </p:spPr>
        <p:txBody>
          <a:bodyPr/>
          <a:lstStyle/>
          <a:p>
            <a:endParaRPr lang="en-IE"/>
          </a:p>
        </p:txBody>
      </p:sp>
      <p:sp>
        <p:nvSpPr>
          <p:cNvPr id="16" name="Text 14"/>
          <p:cNvSpPr/>
          <p:nvPr/>
        </p:nvSpPr>
        <p:spPr>
          <a:xfrm>
            <a:off x="384048" y="3017520"/>
            <a:ext cx="1426464" cy="274320"/>
          </a:xfrm>
          <a:prstGeom prst="rect">
            <a:avLst/>
          </a:prstGeom>
          <a:noFill/>
          <a:ln/>
        </p:spPr>
        <p:txBody>
          <a:bodyPr wrap="square" lIns="0" tIns="0" rIns="0" bIns="0" rtlCol="0" anchor="ctr"/>
          <a:lstStyle/>
          <a:p>
            <a:pPr marL="0" indent="0" algn="ctr">
              <a:buNone/>
            </a:pPr>
            <a:r>
              <a:rPr lang="en-US" sz="850" b="1" dirty="0">
                <a:solidFill>
                  <a:srgbClr val="FFFFFF"/>
                </a:solidFill>
              </a:rPr>
              <a:t>Unintended Disclosure</a:t>
            </a:r>
            <a:endParaRPr lang="en-US" sz="850" dirty="0"/>
          </a:p>
        </p:txBody>
      </p:sp>
      <p:sp>
        <p:nvSpPr>
          <p:cNvPr id="17" name="Text 15"/>
          <p:cNvSpPr/>
          <p:nvPr/>
        </p:nvSpPr>
        <p:spPr>
          <a:xfrm>
            <a:off x="365760" y="3355848"/>
            <a:ext cx="3886200" cy="347472"/>
          </a:xfrm>
          <a:prstGeom prst="rect">
            <a:avLst/>
          </a:prstGeom>
          <a:noFill/>
          <a:ln/>
        </p:spPr>
        <p:txBody>
          <a:bodyPr wrap="square" lIns="0" tIns="0" rIns="0" bIns="0" rtlCol="0" anchor="ctr"/>
          <a:lstStyle/>
          <a:p>
            <a:pPr marL="0" indent="0">
              <a:buNone/>
            </a:pPr>
            <a:r>
              <a:rPr lang="en-US" sz="1200" b="1" dirty="0">
                <a:solidFill>
                  <a:srgbClr val="0D3349"/>
                </a:solidFill>
              </a:rPr>
              <a:t>Strava Global Heatmap (2018)</a:t>
            </a:r>
            <a:endParaRPr lang="en-US" sz="1200" dirty="0"/>
          </a:p>
        </p:txBody>
      </p:sp>
      <p:sp>
        <p:nvSpPr>
          <p:cNvPr id="18" name="Text 16"/>
          <p:cNvSpPr/>
          <p:nvPr/>
        </p:nvSpPr>
        <p:spPr>
          <a:xfrm>
            <a:off x="365760" y="3730752"/>
            <a:ext cx="3886200" cy="896112"/>
          </a:xfrm>
          <a:prstGeom prst="rect">
            <a:avLst/>
          </a:prstGeom>
          <a:noFill/>
          <a:ln/>
        </p:spPr>
        <p:txBody>
          <a:bodyPr wrap="square" lIns="0" tIns="0" rIns="0" bIns="0" rtlCol="0" anchor="ctr"/>
          <a:lstStyle/>
          <a:p>
            <a:pPr marL="0" indent="0">
              <a:buNone/>
            </a:pPr>
            <a:r>
              <a:rPr lang="en-US" sz="950" dirty="0">
                <a:solidFill>
                  <a:srgbClr val="1E293B"/>
                </a:solidFill>
              </a:rPr>
              <a:t>Strava's global fitness heatmap inadvertently revealed the perimeters and patrol routes of secret US military bases in Syria and Afghanistan — because soldiers used Strava while on base. Illustrated how aggregated location data exposes things users never imagined they were sharing.</a:t>
            </a:r>
            <a:endParaRPr lang="en-US" sz="950" dirty="0"/>
          </a:p>
        </p:txBody>
      </p:sp>
      <p:sp>
        <p:nvSpPr>
          <p:cNvPr id="19" name="Shape 17"/>
          <p:cNvSpPr/>
          <p:nvPr/>
        </p:nvSpPr>
        <p:spPr>
          <a:xfrm>
            <a:off x="4663440" y="2926080"/>
            <a:ext cx="4160520" cy="1783080"/>
          </a:xfrm>
          <a:prstGeom prst="roundRect">
            <a:avLst>
              <a:gd name="adj" fmla="val 5128"/>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20" name="Shape 18"/>
          <p:cNvSpPr/>
          <p:nvPr/>
        </p:nvSpPr>
        <p:spPr>
          <a:xfrm>
            <a:off x="4800600" y="3017520"/>
            <a:ext cx="1463040" cy="274320"/>
          </a:xfrm>
          <a:prstGeom prst="roundRect">
            <a:avLst>
              <a:gd name="adj" fmla="val 16667"/>
            </a:avLst>
          </a:prstGeom>
          <a:solidFill>
            <a:srgbClr val="27AE60"/>
          </a:solidFill>
          <a:ln/>
        </p:spPr>
        <p:txBody>
          <a:bodyPr/>
          <a:lstStyle/>
          <a:p>
            <a:endParaRPr lang="en-IE"/>
          </a:p>
        </p:txBody>
      </p:sp>
      <p:sp>
        <p:nvSpPr>
          <p:cNvPr id="21" name="Text 19"/>
          <p:cNvSpPr/>
          <p:nvPr/>
        </p:nvSpPr>
        <p:spPr>
          <a:xfrm>
            <a:off x="4818888" y="3017520"/>
            <a:ext cx="1426464" cy="274320"/>
          </a:xfrm>
          <a:prstGeom prst="rect">
            <a:avLst/>
          </a:prstGeom>
          <a:noFill/>
          <a:ln/>
        </p:spPr>
        <p:txBody>
          <a:bodyPr wrap="square" lIns="0" tIns="0" rIns="0" bIns="0" rtlCol="0" anchor="ctr"/>
          <a:lstStyle/>
          <a:p>
            <a:pPr marL="0" indent="0" algn="ctr">
              <a:buNone/>
            </a:pPr>
            <a:r>
              <a:rPr lang="en-US" sz="850" b="1" dirty="0">
                <a:solidFill>
                  <a:srgbClr val="FFFFFF"/>
                </a:solidFill>
              </a:rPr>
              <a:t>Hidden Collection</a:t>
            </a:r>
            <a:endParaRPr lang="en-US" sz="850" dirty="0"/>
          </a:p>
        </p:txBody>
      </p:sp>
      <p:sp>
        <p:nvSpPr>
          <p:cNvPr id="22" name="Text 20"/>
          <p:cNvSpPr/>
          <p:nvPr/>
        </p:nvSpPr>
        <p:spPr>
          <a:xfrm>
            <a:off x="4800600" y="3355848"/>
            <a:ext cx="3886200" cy="347472"/>
          </a:xfrm>
          <a:prstGeom prst="rect">
            <a:avLst/>
          </a:prstGeom>
          <a:noFill/>
          <a:ln/>
        </p:spPr>
        <p:txBody>
          <a:bodyPr wrap="square" lIns="0" tIns="0" rIns="0" bIns="0" rtlCol="0" anchor="ctr"/>
          <a:lstStyle/>
          <a:p>
            <a:pPr marL="0" indent="0">
              <a:buNone/>
            </a:pPr>
            <a:r>
              <a:rPr lang="en-US" sz="1200" b="1" dirty="0">
                <a:solidFill>
                  <a:srgbClr val="0D3349"/>
                </a:solidFill>
              </a:rPr>
              <a:t>Apple/Google Location Tracking (2011)</a:t>
            </a:r>
            <a:endParaRPr lang="en-US" sz="1200" dirty="0"/>
          </a:p>
        </p:txBody>
      </p:sp>
      <p:sp>
        <p:nvSpPr>
          <p:cNvPr id="23" name="Text 21"/>
          <p:cNvSpPr/>
          <p:nvPr/>
        </p:nvSpPr>
        <p:spPr>
          <a:xfrm>
            <a:off x="4800600" y="3730752"/>
            <a:ext cx="3886200" cy="896112"/>
          </a:xfrm>
          <a:prstGeom prst="rect">
            <a:avLst/>
          </a:prstGeom>
          <a:noFill/>
          <a:ln/>
        </p:spPr>
        <p:txBody>
          <a:bodyPr wrap="square" lIns="0" tIns="0" rIns="0" bIns="0" rtlCol="0" anchor="ctr"/>
          <a:lstStyle/>
          <a:p>
            <a:pPr marL="0" indent="0">
              <a:buNone/>
            </a:pPr>
            <a:r>
              <a:rPr lang="en-US" sz="950" dirty="0">
                <a:solidFill>
                  <a:srgbClr val="1E293B"/>
                </a:solidFill>
              </a:rPr>
              <a:t>Media exposed that iPhones and Android phones were covertly logging location data even when GPS was disabled, using WiFi triangulation. Neither company had disclosed this clearly in user agreements. Led to Congressional hearings and policy changes on mobile location disclosure.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3349"/>
          </a:solidFill>
          <a:ln/>
        </p:spPr>
        <p:txBody>
          <a:bodyPr/>
          <a:lstStyle/>
          <a:p>
            <a:endParaRPr lang="en-IE"/>
          </a:p>
        </p:txBody>
      </p:sp>
      <p:sp>
        <p:nvSpPr>
          <p:cNvPr id="3" name="Text 1"/>
          <p:cNvSpPr/>
          <p:nvPr/>
        </p:nvSpPr>
        <p:spPr>
          <a:xfrm>
            <a:off x="274320" y="91440"/>
            <a:ext cx="8595360" cy="640080"/>
          </a:xfrm>
          <a:prstGeom prst="rect">
            <a:avLst/>
          </a:prstGeom>
          <a:noFill/>
          <a:ln/>
        </p:spPr>
        <p:txBody>
          <a:bodyPr wrap="square" rtlCol="0" anchor="ctr"/>
          <a:lstStyle/>
          <a:p>
            <a:pPr marL="0" indent="0">
              <a:buNone/>
            </a:pPr>
            <a:r>
              <a:rPr lang="en-US" sz="2200" b="1" dirty="0">
                <a:solidFill>
                  <a:srgbClr val="FFFFFF"/>
                </a:solidFill>
              </a:rPr>
              <a:t>Ethical Framework: Key Tensions in Location Data</a:t>
            </a:r>
            <a:endParaRPr lang="en-US" sz="2200" dirty="0"/>
          </a:p>
        </p:txBody>
      </p:sp>
      <p:sp>
        <p:nvSpPr>
          <p:cNvPr id="4" name="Shape 2"/>
          <p:cNvSpPr/>
          <p:nvPr/>
        </p:nvSpPr>
        <p:spPr>
          <a:xfrm>
            <a:off x="228600" y="1005840"/>
            <a:ext cx="3291840" cy="1143000"/>
          </a:xfrm>
          <a:prstGeom prst="roundRect">
            <a:avLst>
              <a:gd name="adj" fmla="val 8000"/>
            </a:avLst>
          </a:prstGeom>
          <a:solidFill>
            <a:srgbClr val="E8F4F2"/>
          </a:solidFill>
          <a:ln/>
          <a:effectLst>
            <a:outerShdw blurRad="76200" dist="25400" dir="2700000" algn="bl" rotWithShape="0">
              <a:srgbClr val="000000">
                <a:alpha val="12000"/>
              </a:srgbClr>
            </a:outerShdw>
          </a:effectLst>
        </p:spPr>
        <p:txBody>
          <a:bodyPr/>
          <a:lstStyle/>
          <a:p>
            <a:endParaRPr lang="en-IE"/>
          </a:p>
        </p:txBody>
      </p:sp>
      <p:sp>
        <p:nvSpPr>
          <p:cNvPr id="5" name="Text 3"/>
          <p:cNvSpPr/>
          <p:nvPr/>
        </p:nvSpPr>
        <p:spPr>
          <a:xfrm>
            <a:off x="365760" y="1078992"/>
            <a:ext cx="3017520" cy="347472"/>
          </a:xfrm>
          <a:prstGeom prst="rect">
            <a:avLst/>
          </a:prstGeom>
          <a:noFill/>
          <a:ln/>
        </p:spPr>
        <p:txBody>
          <a:bodyPr wrap="square" lIns="0" tIns="0" rIns="0" bIns="0" rtlCol="0" anchor="ctr"/>
          <a:lstStyle/>
          <a:p>
            <a:pPr marL="0" indent="0">
              <a:buNone/>
            </a:pPr>
            <a:r>
              <a:rPr lang="en-US" sz="1200" b="1" dirty="0">
                <a:solidFill>
                  <a:srgbClr val="0D7B6E"/>
                </a:solidFill>
              </a:rPr>
              <a:t>Public Benefit</a:t>
            </a:r>
            <a:endParaRPr lang="en-US" sz="1200" dirty="0"/>
          </a:p>
        </p:txBody>
      </p:sp>
      <p:sp>
        <p:nvSpPr>
          <p:cNvPr id="6" name="Text 4"/>
          <p:cNvSpPr/>
          <p:nvPr/>
        </p:nvSpPr>
        <p:spPr>
          <a:xfrm>
            <a:off x="365760" y="1463040"/>
            <a:ext cx="3017520" cy="594360"/>
          </a:xfrm>
          <a:prstGeom prst="rect">
            <a:avLst/>
          </a:prstGeom>
          <a:noFill/>
          <a:ln/>
        </p:spPr>
        <p:txBody>
          <a:bodyPr wrap="square" lIns="0" tIns="0" rIns="0" bIns="0" rtlCol="0" anchor="ctr"/>
          <a:lstStyle/>
          <a:p>
            <a:pPr marL="0" indent="0">
              <a:buNone/>
            </a:pPr>
            <a:r>
              <a:rPr lang="en-US" sz="1000" dirty="0">
                <a:solidFill>
                  <a:srgbClr val="1E293B"/>
                </a:solidFill>
              </a:rPr>
              <a:t>Evidence-based planning, smart cities, emergency response</a:t>
            </a:r>
            <a:endParaRPr lang="en-US" sz="1000" dirty="0"/>
          </a:p>
        </p:txBody>
      </p:sp>
      <p:sp>
        <p:nvSpPr>
          <p:cNvPr id="7" name="Shape 5"/>
          <p:cNvSpPr/>
          <p:nvPr/>
        </p:nvSpPr>
        <p:spPr>
          <a:xfrm>
            <a:off x="228600" y="2331720"/>
            <a:ext cx="3291840" cy="1143000"/>
          </a:xfrm>
          <a:prstGeom prst="roundRect">
            <a:avLst>
              <a:gd name="adj" fmla="val 8000"/>
            </a:avLst>
          </a:prstGeom>
          <a:solidFill>
            <a:srgbClr val="E8F4F2"/>
          </a:solidFill>
          <a:ln/>
          <a:effectLst>
            <a:outerShdw blurRad="76200" dist="25400" dir="2700000" algn="bl" rotWithShape="0">
              <a:srgbClr val="000000">
                <a:alpha val="12000"/>
              </a:srgbClr>
            </a:outerShdw>
          </a:effectLst>
        </p:spPr>
        <p:txBody>
          <a:bodyPr/>
          <a:lstStyle/>
          <a:p>
            <a:endParaRPr lang="en-IE"/>
          </a:p>
        </p:txBody>
      </p:sp>
      <p:sp>
        <p:nvSpPr>
          <p:cNvPr id="8" name="Text 6"/>
          <p:cNvSpPr/>
          <p:nvPr/>
        </p:nvSpPr>
        <p:spPr>
          <a:xfrm>
            <a:off x="365760" y="2404872"/>
            <a:ext cx="3017520" cy="347472"/>
          </a:xfrm>
          <a:prstGeom prst="rect">
            <a:avLst/>
          </a:prstGeom>
          <a:noFill/>
          <a:ln/>
        </p:spPr>
        <p:txBody>
          <a:bodyPr wrap="square" lIns="0" tIns="0" rIns="0" bIns="0" rtlCol="0" anchor="ctr"/>
          <a:lstStyle/>
          <a:p>
            <a:pPr marL="0" indent="0">
              <a:buNone/>
            </a:pPr>
            <a:r>
              <a:rPr lang="en-US" sz="1200" b="1" dirty="0">
                <a:solidFill>
                  <a:srgbClr val="0D7B6E"/>
                </a:solidFill>
              </a:rPr>
              <a:t>Commercial Value</a:t>
            </a:r>
            <a:endParaRPr lang="en-US" sz="1200" dirty="0"/>
          </a:p>
        </p:txBody>
      </p:sp>
      <p:sp>
        <p:nvSpPr>
          <p:cNvPr id="9" name="Text 7"/>
          <p:cNvSpPr/>
          <p:nvPr/>
        </p:nvSpPr>
        <p:spPr>
          <a:xfrm>
            <a:off x="365760" y="2788920"/>
            <a:ext cx="3017520" cy="594360"/>
          </a:xfrm>
          <a:prstGeom prst="rect">
            <a:avLst/>
          </a:prstGeom>
          <a:noFill/>
          <a:ln/>
        </p:spPr>
        <p:txBody>
          <a:bodyPr wrap="square" lIns="0" tIns="0" rIns="0" bIns="0" rtlCol="0" anchor="ctr"/>
          <a:lstStyle/>
          <a:p>
            <a:pPr marL="0" indent="0">
              <a:buNone/>
            </a:pPr>
            <a:r>
              <a:rPr lang="en-US" sz="1000" dirty="0">
                <a:solidFill>
                  <a:srgbClr val="1E293B"/>
                </a:solidFill>
              </a:rPr>
              <a:t>Revenue from data sales, targeted services, advertising</a:t>
            </a:r>
            <a:endParaRPr lang="en-US" sz="1000" dirty="0"/>
          </a:p>
        </p:txBody>
      </p:sp>
      <p:sp>
        <p:nvSpPr>
          <p:cNvPr id="10" name="Shape 8"/>
          <p:cNvSpPr/>
          <p:nvPr/>
        </p:nvSpPr>
        <p:spPr>
          <a:xfrm>
            <a:off x="228600" y="3657600"/>
            <a:ext cx="3291840" cy="1143000"/>
          </a:xfrm>
          <a:prstGeom prst="roundRect">
            <a:avLst>
              <a:gd name="adj" fmla="val 8000"/>
            </a:avLst>
          </a:prstGeom>
          <a:solidFill>
            <a:srgbClr val="E8F4F2"/>
          </a:solidFill>
          <a:ln/>
          <a:effectLst>
            <a:outerShdw blurRad="76200" dist="25400" dir="2700000" algn="bl" rotWithShape="0">
              <a:srgbClr val="000000">
                <a:alpha val="12000"/>
              </a:srgbClr>
            </a:outerShdw>
          </a:effectLst>
        </p:spPr>
        <p:txBody>
          <a:bodyPr/>
          <a:lstStyle/>
          <a:p>
            <a:endParaRPr lang="en-IE"/>
          </a:p>
        </p:txBody>
      </p:sp>
      <p:sp>
        <p:nvSpPr>
          <p:cNvPr id="11" name="Text 9"/>
          <p:cNvSpPr/>
          <p:nvPr/>
        </p:nvSpPr>
        <p:spPr>
          <a:xfrm>
            <a:off x="365760" y="3730752"/>
            <a:ext cx="3017520" cy="347472"/>
          </a:xfrm>
          <a:prstGeom prst="rect">
            <a:avLst/>
          </a:prstGeom>
          <a:noFill/>
          <a:ln/>
        </p:spPr>
        <p:txBody>
          <a:bodyPr wrap="square" lIns="0" tIns="0" rIns="0" bIns="0" rtlCol="0" anchor="ctr"/>
          <a:lstStyle/>
          <a:p>
            <a:pPr marL="0" indent="0">
              <a:buNone/>
            </a:pPr>
            <a:r>
              <a:rPr lang="en-US" sz="1200" b="1" dirty="0">
                <a:solidFill>
                  <a:srgbClr val="0D7B6E"/>
                </a:solidFill>
              </a:rPr>
              <a:t>Service Quality</a:t>
            </a:r>
            <a:endParaRPr lang="en-US" sz="1200" dirty="0"/>
          </a:p>
        </p:txBody>
      </p:sp>
      <p:sp>
        <p:nvSpPr>
          <p:cNvPr id="12" name="Text 10"/>
          <p:cNvSpPr/>
          <p:nvPr/>
        </p:nvSpPr>
        <p:spPr>
          <a:xfrm>
            <a:off x="365760" y="4114800"/>
            <a:ext cx="3017520" cy="594360"/>
          </a:xfrm>
          <a:prstGeom prst="rect">
            <a:avLst/>
          </a:prstGeom>
          <a:noFill/>
          <a:ln/>
        </p:spPr>
        <p:txBody>
          <a:bodyPr wrap="square" lIns="0" tIns="0" rIns="0" bIns="0" rtlCol="0" anchor="ctr"/>
          <a:lstStyle/>
          <a:p>
            <a:pPr marL="0" indent="0">
              <a:buNone/>
            </a:pPr>
            <a:r>
              <a:rPr lang="en-US" sz="1000" dirty="0">
                <a:solidFill>
                  <a:srgbClr val="1E293B"/>
                </a:solidFill>
              </a:rPr>
              <a:t>Better routing, personalised recommendations, efficiency</a:t>
            </a:r>
            <a:endParaRPr lang="en-US" sz="1000" dirty="0"/>
          </a:p>
        </p:txBody>
      </p:sp>
      <p:sp>
        <p:nvSpPr>
          <p:cNvPr id="13" name="Shape 11"/>
          <p:cNvSpPr/>
          <p:nvPr/>
        </p:nvSpPr>
        <p:spPr>
          <a:xfrm>
            <a:off x="3749040" y="960120"/>
            <a:ext cx="1645920" cy="3931920"/>
          </a:xfrm>
          <a:prstGeom prst="rect">
            <a:avLst/>
          </a:prstGeom>
          <a:solidFill>
            <a:srgbClr val="0D3349"/>
          </a:solidFill>
          <a:ln/>
        </p:spPr>
        <p:txBody>
          <a:bodyPr/>
          <a:lstStyle/>
          <a:p>
            <a:endParaRPr lang="en-IE"/>
          </a:p>
        </p:txBody>
      </p:sp>
      <p:sp>
        <p:nvSpPr>
          <p:cNvPr id="14" name="Text 12"/>
          <p:cNvSpPr/>
          <p:nvPr/>
        </p:nvSpPr>
        <p:spPr>
          <a:xfrm>
            <a:off x="3749040" y="2926080"/>
            <a:ext cx="1645920" cy="457200"/>
          </a:xfrm>
          <a:prstGeom prst="rect">
            <a:avLst/>
          </a:prstGeom>
          <a:noFill/>
          <a:ln/>
        </p:spPr>
        <p:txBody>
          <a:bodyPr wrap="square" rtlCol="0" anchor="ctr"/>
          <a:lstStyle/>
          <a:p>
            <a:pPr marL="0" indent="0" algn="ctr">
              <a:buNone/>
            </a:pPr>
            <a:r>
              <a:rPr lang="en-US" sz="1100" b="1" kern="0" spc="300" dirty="0">
                <a:solidFill>
                  <a:srgbClr val="E8A020"/>
                </a:solidFill>
              </a:rPr>
              <a:t>TENSION</a:t>
            </a:r>
            <a:endParaRPr lang="en-US" sz="1100" dirty="0"/>
          </a:p>
        </p:txBody>
      </p:sp>
      <p:sp>
        <p:nvSpPr>
          <p:cNvPr id="15" name="Text 13"/>
          <p:cNvSpPr/>
          <p:nvPr/>
        </p:nvSpPr>
        <p:spPr>
          <a:xfrm>
            <a:off x="3749040" y="1234440"/>
            <a:ext cx="1645920" cy="457200"/>
          </a:xfrm>
          <a:prstGeom prst="rect">
            <a:avLst/>
          </a:prstGeom>
          <a:noFill/>
          <a:ln/>
        </p:spPr>
        <p:txBody>
          <a:bodyPr wrap="square" rtlCol="0" anchor="ctr"/>
          <a:lstStyle/>
          <a:p>
            <a:pPr marL="0" indent="0" algn="ctr">
              <a:buNone/>
            </a:pPr>
            <a:r>
              <a:rPr lang="en-US" sz="2000" dirty="0">
                <a:solidFill>
                  <a:srgbClr val="FFFFFF"/>
                </a:solidFill>
              </a:rPr>
              <a:t>↔</a:t>
            </a:r>
            <a:endParaRPr lang="en-US" sz="2000" dirty="0"/>
          </a:p>
        </p:txBody>
      </p:sp>
      <p:sp>
        <p:nvSpPr>
          <p:cNvPr id="16" name="Text 14"/>
          <p:cNvSpPr/>
          <p:nvPr/>
        </p:nvSpPr>
        <p:spPr>
          <a:xfrm>
            <a:off x="3749040" y="2397838"/>
            <a:ext cx="1645920" cy="457200"/>
          </a:xfrm>
          <a:prstGeom prst="rect">
            <a:avLst/>
          </a:prstGeom>
          <a:noFill/>
          <a:ln/>
        </p:spPr>
        <p:txBody>
          <a:bodyPr wrap="square" rtlCol="0" anchor="ctr"/>
          <a:lstStyle/>
          <a:p>
            <a:pPr marL="0" indent="0" algn="ctr">
              <a:buNone/>
            </a:pPr>
            <a:r>
              <a:rPr lang="en-US" sz="2000" dirty="0">
                <a:solidFill>
                  <a:srgbClr val="FFFFFF"/>
                </a:solidFill>
              </a:rPr>
              <a:t>↔</a:t>
            </a:r>
            <a:endParaRPr lang="en-US" sz="2000" dirty="0"/>
          </a:p>
        </p:txBody>
      </p:sp>
      <p:sp>
        <p:nvSpPr>
          <p:cNvPr id="17" name="Text 15"/>
          <p:cNvSpPr/>
          <p:nvPr/>
        </p:nvSpPr>
        <p:spPr>
          <a:xfrm>
            <a:off x="3749040" y="3886200"/>
            <a:ext cx="1645920" cy="457200"/>
          </a:xfrm>
          <a:prstGeom prst="rect">
            <a:avLst/>
          </a:prstGeom>
          <a:noFill/>
          <a:ln/>
        </p:spPr>
        <p:txBody>
          <a:bodyPr wrap="square" rtlCol="0" anchor="ctr"/>
          <a:lstStyle/>
          <a:p>
            <a:pPr marL="0" indent="0" algn="ctr">
              <a:buNone/>
            </a:pPr>
            <a:r>
              <a:rPr lang="en-US" sz="2000" dirty="0">
                <a:solidFill>
                  <a:srgbClr val="FFFFFF"/>
                </a:solidFill>
              </a:rPr>
              <a:t>↔</a:t>
            </a:r>
            <a:endParaRPr lang="en-US" sz="2000" dirty="0"/>
          </a:p>
        </p:txBody>
      </p:sp>
      <p:sp>
        <p:nvSpPr>
          <p:cNvPr id="18" name="Shape 16"/>
          <p:cNvSpPr/>
          <p:nvPr/>
        </p:nvSpPr>
        <p:spPr>
          <a:xfrm>
            <a:off x="5623560" y="1005840"/>
            <a:ext cx="3291840" cy="1143000"/>
          </a:xfrm>
          <a:prstGeom prst="roundRect">
            <a:avLst>
              <a:gd name="adj" fmla="val 8000"/>
            </a:avLst>
          </a:prstGeom>
          <a:solidFill>
            <a:srgbClr val="FDEDEC"/>
          </a:solidFill>
          <a:ln/>
          <a:effectLst>
            <a:outerShdw blurRad="76200" dist="25400" dir="2700000" algn="bl" rotWithShape="0">
              <a:srgbClr val="000000">
                <a:alpha val="12000"/>
              </a:srgbClr>
            </a:outerShdw>
          </a:effectLst>
        </p:spPr>
        <p:txBody>
          <a:bodyPr/>
          <a:lstStyle/>
          <a:p>
            <a:endParaRPr lang="en-IE"/>
          </a:p>
        </p:txBody>
      </p:sp>
      <p:sp>
        <p:nvSpPr>
          <p:cNvPr id="19" name="Text 17"/>
          <p:cNvSpPr/>
          <p:nvPr/>
        </p:nvSpPr>
        <p:spPr>
          <a:xfrm>
            <a:off x="5760720" y="1078992"/>
            <a:ext cx="3017520" cy="347472"/>
          </a:xfrm>
          <a:prstGeom prst="rect">
            <a:avLst/>
          </a:prstGeom>
          <a:noFill/>
          <a:ln/>
        </p:spPr>
        <p:txBody>
          <a:bodyPr wrap="square" lIns="0" tIns="0" rIns="0" bIns="0" rtlCol="0" anchor="ctr"/>
          <a:lstStyle/>
          <a:p>
            <a:pPr marL="0" indent="0">
              <a:buNone/>
            </a:pPr>
            <a:r>
              <a:rPr lang="en-US" sz="1200" b="1" dirty="0">
                <a:solidFill>
                  <a:srgbClr val="A93226"/>
                </a:solidFill>
              </a:rPr>
              <a:t>Individual Privacy</a:t>
            </a:r>
            <a:endParaRPr lang="en-US" sz="1200" dirty="0"/>
          </a:p>
        </p:txBody>
      </p:sp>
      <p:sp>
        <p:nvSpPr>
          <p:cNvPr id="20" name="Text 18"/>
          <p:cNvSpPr/>
          <p:nvPr/>
        </p:nvSpPr>
        <p:spPr>
          <a:xfrm>
            <a:off x="5760720" y="1463040"/>
            <a:ext cx="3017520" cy="594360"/>
          </a:xfrm>
          <a:prstGeom prst="rect">
            <a:avLst/>
          </a:prstGeom>
          <a:noFill/>
          <a:ln/>
        </p:spPr>
        <p:txBody>
          <a:bodyPr wrap="square" lIns="0" tIns="0" rIns="0" bIns="0" rtlCol="0" anchor="ctr"/>
          <a:lstStyle/>
          <a:p>
            <a:pPr marL="0" indent="0">
              <a:buNone/>
            </a:pPr>
            <a:r>
              <a:rPr lang="en-US" sz="1000" dirty="0">
                <a:solidFill>
                  <a:srgbClr val="1E293B"/>
                </a:solidFill>
              </a:rPr>
              <a:t>Re-identification, inferred attributes, surveillance risk</a:t>
            </a:r>
            <a:endParaRPr lang="en-US" sz="1000" dirty="0"/>
          </a:p>
        </p:txBody>
      </p:sp>
      <p:sp>
        <p:nvSpPr>
          <p:cNvPr id="21" name="Shape 19"/>
          <p:cNvSpPr/>
          <p:nvPr/>
        </p:nvSpPr>
        <p:spPr>
          <a:xfrm>
            <a:off x="5623560" y="2331720"/>
            <a:ext cx="3291840" cy="1143000"/>
          </a:xfrm>
          <a:prstGeom prst="roundRect">
            <a:avLst>
              <a:gd name="adj" fmla="val 8000"/>
            </a:avLst>
          </a:prstGeom>
          <a:solidFill>
            <a:srgbClr val="FDEDEC"/>
          </a:solidFill>
          <a:ln/>
          <a:effectLst>
            <a:outerShdw blurRad="76200" dist="25400" dir="2700000" algn="bl" rotWithShape="0">
              <a:srgbClr val="000000">
                <a:alpha val="12000"/>
              </a:srgbClr>
            </a:outerShdw>
          </a:effectLst>
        </p:spPr>
        <p:txBody>
          <a:bodyPr/>
          <a:lstStyle/>
          <a:p>
            <a:endParaRPr lang="en-IE"/>
          </a:p>
        </p:txBody>
      </p:sp>
      <p:sp>
        <p:nvSpPr>
          <p:cNvPr id="22" name="Text 20"/>
          <p:cNvSpPr/>
          <p:nvPr/>
        </p:nvSpPr>
        <p:spPr>
          <a:xfrm>
            <a:off x="5760720" y="2404872"/>
            <a:ext cx="3017520" cy="347472"/>
          </a:xfrm>
          <a:prstGeom prst="rect">
            <a:avLst/>
          </a:prstGeom>
          <a:noFill/>
          <a:ln/>
        </p:spPr>
        <p:txBody>
          <a:bodyPr wrap="square" lIns="0" tIns="0" rIns="0" bIns="0" rtlCol="0" anchor="ctr"/>
          <a:lstStyle/>
          <a:p>
            <a:pPr marL="0" indent="0">
              <a:buNone/>
            </a:pPr>
            <a:r>
              <a:rPr lang="en-US" sz="1200" b="1" dirty="0">
                <a:solidFill>
                  <a:srgbClr val="A93226"/>
                </a:solidFill>
              </a:rPr>
              <a:t>Power Imbalance</a:t>
            </a:r>
            <a:endParaRPr lang="en-US" sz="1200" dirty="0"/>
          </a:p>
        </p:txBody>
      </p:sp>
      <p:sp>
        <p:nvSpPr>
          <p:cNvPr id="23" name="Text 21"/>
          <p:cNvSpPr/>
          <p:nvPr/>
        </p:nvSpPr>
        <p:spPr>
          <a:xfrm>
            <a:off x="5760720" y="2788920"/>
            <a:ext cx="3017520" cy="594360"/>
          </a:xfrm>
          <a:prstGeom prst="rect">
            <a:avLst/>
          </a:prstGeom>
          <a:noFill/>
          <a:ln/>
        </p:spPr>
        <p:txBody>
          <a:bodyPr wrap="square" lIns="0" tIns="0" rIns="0" bIns="0" rtlCol="0" anchor="ctr"/>
          <a:lstStyle/>
          <a:p>
            <a:pPr marL="0" indent="0">
              <a:buNone/>
            </a:pPr>
            <a:r>
              <a:rPr lang="en-US" sz="1000" dirty="0">
                <a:solidFill>
                  <a:srgbClr val="1E293B"/>
                </a:solidFill>
              </a:rPr>
              <a:t>Individuals cannot meaningfully audit what is inferred</a:t>
            </a:r>
            <a:endParaRPr lang="en-US" sz="1000" dirty="0"/>
          </a:p>
        </p:txBody>
      </p:sp>
      <p:sp>
        <p:nvSpPr>
          <p:cNvPr id="24" name="Shape 22"/>
          <p:cNvSpPr/>
          <p:nvPr/>
        </p:nvSpPr>
        <p:spPr>
          <a:xfrm>
            <a:off x="5623560" y="3657600"/>
            <a:ext cx="3291840" cy="1143000"/>
          </a:xfrm>
          <a:prstGeom prst="roundRect">
            <a:avLst>
              <a:gd name="adj" fmla="val 8000"/>
            </a:avLst>
          </a:prstGeom>
          <a:solidFill>
            <a:srgbClr val="FDEDEC"/>
          </a:solidFill>
          <a:ln/>
          <a:effectLst>
            <a:outerShdw blurRad="76200" dist="25400" dir="2700000" algn="bl" rotWithShape="0">
              <a:srgbClr val="000000">
                <a:alpha val="12000"/>
              </a:srgbClr>
            </a:outerShdw>
          </a:effectLst>
        </p:spPr>
        <p:txBody>
          <a:bodyPr/>
          <a:lstStyle/>
          <a:p>
            <a:endParaRPr lang="en-IE"/>
          </a:p>
        </p:txBody>
      </p:sp>
      <p:sp>
        <p:nvSpPr>
          <p:cNvPr id="25" name="Text 23"/>
          <p:cNvSpPr/>
          <p:nvPr/>
        </p:nvSpPr>
        <p:spPr>
          <a:xfrm>
            <a:off x="5760720" y="3730752"/>
            <a:ext cx="3017520" cy="347472"/>
          </a:xfrm>
          <a:prstGeom prst="rect">
            <a:avLst/>
          </a:prstGeom>
          <a:noFill/>
          <a:ln/>
        </p:spPr>
        <p:txBody>
          <a:bodyPr wrap="square" lIns="0" tIns="0" rIns="0" bIns="0" rtlCol="0" anchor="ctr"/>
          <a:lstStyle/>
          <a:p>
            <a:pPr marL="0" indent="0">
              <a:buNone/>
            </a:pPr>
            <a:r>
              <a:rPr lang="en-US" sz="1200" b="1" dirty="0">
                <a:solidFill>
                  <a:srgbClr val="A93226"/>
                </a:solidFill>
              </a:rPr>
              <a:t>Systemic Bias</a:t>
            </a:r>
            <a:endParaRPr lang="en-US" sz="1200" dirty="0"/>
          </a:p>
        </p:txBody>
      </p:sp>
      <p:sp>
        <p:nvSpPr>
          <p:cNvPr id="26" name="Text 24"/>
          <p:cNvSpPr/>
          <p:nvPr/>
        </p:nvSpPr>
        <p:spPr>
          <a:xfrm>
            <a:off x="5760720" y="4114800"/>
            <a:ext cx="3017520" cy="594360"/>
          </a:xfrm>
          <a:prstGeom prst="rect">
            <a:avLst/>
          </a:prstGeom>
          <a:noFill/>
          <a:ln/>
        </p:spPr>
        <p:txBody>
          <a:bodyPr wrap="square" lIns="0" tIns="0" rIns="0" bIns="0" rtlCol="0" anchor="ctr"/>
          <a:lstStyle/>
          <a:p>
            <a:pPr marL="0" indent="0">
              <a:buNone/>
            </a:pPr>
            <a:r>
              <a:rPr lang="en-US" sz="1000" dirty="0">
                <a:solidFill>
                  <a:srgbClr val="1E293B"/>
                </a:solidFill>
              </a:rPr>
              <a:t>Datasets skew wealthy, male, tech-savvy demographics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7B6E"/>
          </a:solidFill>
          <a:ln/>
        </p:spPr>
        <p:txBody>
          <a:bodyPr/>
          <a:lstStyle/>
          <a:p>
            <a:endParaRPr lang="en-IE"/>
          </a:p>
        </p:txBody>
      </p:sp>
      <p:sp>
        <p:nvSpPr>
          <p:cNvPr id="3" name="Text 1"/>
          <p:cNvSpPr/>
          <p:nvPr/>
        </p:nvSpPr>
        <p:spPr>
          <a:xfrm>
            <a:off x="274320" y="91440"/>
            <a:ext cx="8595360" cy="640080"/>
          </a:xfrm>
          <a:prstGeom prst="rect">
            <a:avLst/>
          </a:prstGeom>
          <a:noFill/>
          <a:ln/>
        </p:spPr>
        <p:txBody>
          <a:bodyPr wrap="square" rtlCol="0" anchor="ctr"/>
          <a:lstStyle/>
          <a:p>
            <a:pPr marL="0" indent="0">
              <a:buNone/>
            </a:pPr>
            <a:r>
              <a:rPr lang="en-US" sz="2200" b="1" dirty="0">
                <a:solidFill>
                  <a:srgbClr val="FFFFFF"/>
                </a:solidFill>
              </a:rPr>
              <a:t>Solutions: Technical &amp; Regulatory Approaches</a:t>
            </a:r>
            <a:endParaRPr lang="en-US" sz="2200" dirty="0"/>
          </a:p>
        </p:txBody>
      </p:sp>
      <p:sp>
        <p:nvSpPr>
          <p:cNvPr id="4" name="Shape 2"/>
          <p:cNvSpPr/>
          <p:nvPr/>
        </p:nvSpPr>
        <p:spPr>
          <a:xfrm>
            <a:off x="228600" y="914400"/>
            <a:ext cx="2743200" cy="365760"/>
          </a:xfrm>
          <a:prstGeom prst="rect">
            <a:avLst/>
          </a:prstGeom>
          <a:solidFill>
            <a:srgbClr val="0D3349"/>
          </a:solidFill>
          <a:ln/>
        </p:spPr>
        <p:txBody>
          <a:bodyPr/>
          <a:lstStyle/>
          <a:p>
            <a:endParaRPr lang="en-IE"/>
          </a:p>
        </p:txBody>
      </p:sp>
      <p:sp>
        <p:nvSpPr>
          <p:cNvPr id="5" name="Text 3"/>
          <p:cNvSpPr/>
          <p:nvPr/>
        </p:nvSpPr>
        <p:spPr>
          <a:xfrm>
            <a:off x="228600" y="914400"/>
            <a:ext cx="2743200" cy="365760"/>
          </a:xfrm>
          <a:prstGeom prst="rect">
            <a:avLst/>
          </a:prstGeom>
          <a:noFill/>
          <a:ln/>
        </p:spPr>
        <p:txBody>
          <a:bodyPr wrap="square" rtlCol="0" anchor="ctr"/>
          <a:lstStyle/>
          <a:p>
            <a:pPr marL="0" indent="0" algn="ctr">
              <a:buNone/>
            </a:pPr>
            <a:r>
              <a:rPr lang="en-US" sz="1100" b="1" dirty="0">
                <a:solidFill>
                  <a:srgbClr val="FFFFFF"/>
                </a:solidFill>
              </a:rPr>
              <a:t>Challenge</a:t>
            </a:r>
            <a:endParaRPr lang="en-US" sz="1100" dirty="0"/>
          </a:p>
        </p:txBody>
      </p:sp>
      <p:sp>
        <p:nvSpPr>
          <p:cNvPr id="6" name="Shape 4"/>
          <p:cNvSpPr/>
          <p:nvPr/>
        </p:nvSpPr>
        <p:spPr>
          <a:xfrm>
            <a:off x="3154680" y="914400"/>
            <a:ext cx="2743200" cy="365760"/>
          </a:xfrm>
          <a:prstGeom prst="rect">
            <a:avLst/>
          </a:prstGeom>
          <a:solidFill>
            <a:srgbClr val="0D7B6E"/>
          </a:solidFill>
          <a:ln/>
        </p:spPr>
        <p:txBody>
          <a:bodyPr/>
          <a:lstStyle/>
          <a:p>
            <a:endParaRPr lang="en-IE"/>
          </a:p>
        </p:txBody>
      </p:sp>
      <p:sp>
        <p:nvSpPr>
          <p:cNvPr id="7" name="Text 5"/>
          <p:cNvSpPr/>
          <p:nvPr/>
        </p:nvSpPr>
        <p:spPr>
          <a:xfrm>
            <a:off x="3154680" y="914400"/>
            <a:ext cx="2743200" cy="365760"/>
          </a:xfrm>
          <a:prstGeom prst="rect">
            <a:avLst/>
          </a:prstGeom>
          <a:noFill/>
          <a:ln/>
        </p:spPr>
        <p:txBody>
          <a:bodyPr wrap="square" rtlCol="0" anchor="ctr"/>
          <a:lstStyle/>
          <a:p>
            <a:pPr marL="0" indent="0" algn="ctr">
              <a:buNone/>
            </a:pPr>
            <a:r>
              <a:rPr lang="en-US" sz="1100" b="1" dirty="0">
                <a:solidFill>
                  <a:srgbClr val="FFFFFF"/>
                </a:solidFill>
              </a:rPr>
              <a:t>Technical Fix</a:t>
            </a:r>
            <a:endParaRPr lang="en-US" sz="1100" dirty="0"/>
          </a:p>
        </p:txBody>
      </p:sp>
      <p:sp>
        <p:nvSpPr>
          <p:cNvPr id="8" name="Shape 6"/>
          <p:cNvSpPr/>
          <p:nvPr/>
        </p:nvSpPr>
        <p:spPr>
          <a:xfrm>
            <a:off x="6080760" y="914400"/>
            <a:ext cx="2834640" cy="365760"/>
          </a:xfrm>
          <a:prstGeom prst="rect">
            <a:avLst/>
          </a:prstGeom>
          <a:solidFill>
            <a:srgbClr val="E8A020"/>
          </a:solidFill>
          <a:ln/>
        </p:spPr>
        <p:txBody>
          <a:bodyPr/>
          <a:lstStyle/>
          <a:p>
            <a:endParaRPr lang="en-IE"/>
          </a:p>
        </p:txBody>
      </p:sp>
      <p:sp>
        <p:nvSpPr>
          <p:cNvPr id="9" name="Text 7"/>
          <p:cNvSpPr/>
          <p:nvPr/>
        </p:nvSpPr>
        <p:spPr>
          <a:xfrm>
            <a:off x="6080760" y="914400"/>
            <a:ext cx="2834640" cy="365760"/>
          </a:xfrm>
          <a:prstGeom prst="rect">
            <a:avLst/>
          </a:prstGeom>
          <a:noFill/>
          <a:ln/>
        </p:spPr>
        <p:txBody>
          <a:bodyPr wrap="square" rtlCol="0" anchor="ctr"/>
          <a:lstStyle/>
          <a:p>
            <a:pPr marL="0" indent="0" algn="ctr">
              <a:buNone/>
            </a:pPr>
            <a:r>
              <a:rPr lang="en-US" sz="1100" b="1" dirty="0">
                <a:solidFill>
                  <a:srgbClr val="0D3349"/>
                </a:solidFill>
              </a:rPr>
              <a:t>Policy / Regulatory Fix</a:t>
            </a:r>
            <a:endParaRPr lang="en-US" sz="1100" dirty="0"/>
          </a:p>
        </p:txBody>
      </p:sp>
      <p:sp>
        <p:nvSpPr>
          <p:cNvPr id="10" name="Shape 8"/>
          <p:cNvSpPr/>
          <p:nvPr/>
        </p:nvSpPr>
        <p:spPr>
          <a:xfrm>
            <a:off x="228600" y="1371600"/>
            <a:ext cx="8686800" cy="713232"/>
          </a:xfrm>
          <a:prstGeom prst="rect">
            <a:avLst/>
          </a:prstGeom>
          <a:solidFill>
            <a:srgbClr val="F1F5F9"/>
          </a:solidFill>
          <a:ln/>
        </p:spPr>
        <p:txBody>
          <a:bodyPr/>
          <a:lstStyle/>
          <a:p>
            <a:endParaRPr lang="en-IE"/>
          </a:p>
        </p:txBody>
      </p:sp>
      <p:sp>
        <p:nvSpPr>
          <p:cNvPr id="11" name="Shape 9"/>
          <p:cNvSpPr/>
          <p:nvPr/>
        </p:nvSpPr>
        <p:spPr>
          <a:xfrm>
            <a:off x="228600" y="1371600"/>
            <a:ext cx="45720" cy="713232"/>
          </a:xfrm>
          <a:prstGeom prst="rect">
            <a:avLst/>
          </a:prstGeom>
          <a:solidFill>
            <a:srgbClr val="0D7B6E"/>
          </a:solidFill>
          <a:ln/>
        </p:spPr>
        <p:txBody>
          <a:bodyPr/>
          <a:lstStyle/>
          <a:p>
            <a:endParaRPr lang="en-IE"/>
          </a:p>
        </p:txBody>
      </p:sp>
      <p:sp>
        <p:nvSpPr>
          <p:cNvPr id="12" name="Text 10"/>
          <p:cNvSpPr/>
          <p:nvPr/>
        </p:nvSpPr>
        <p:spPr>
          <a:xfrm>
            <a:off x="320040" y="1508760"/>
            <a:ext cx="2651760" cy="411480"/>
          </a:xfrm>
          <a:prstGeom prst="rect">
            <a:avLst/>
          </a:prstGeom>
          <a:noFill/>
          <a:ln/>
        </p:spPr>
        <p:txBody>
          <a:bodyPr wrap="square" lIns="0" tIns="0" rIns="0" bIns="0" rtlCol="0" anchor="ctr"/>
          <a:lstStyle/>
          <a:p>
            <a:pPr marL="0" indent="0">
              <a:buNone/>
            </a:pPr>
            <a:r>
              <a:rPr lang="en-US" sz="1050" b="1" dirty="0">
                <a:solidFill>
                  <a:srgbClr val="0D3349"/>
                </a:solidFill>
              </a:rPr>
              <a:t>Re-identification</a:t>
            </a:r>
            <a:endParaRPr lang="en-US" sz="1050" dirty="0"/>
          </a:p>
        </p:txBody>
      </p:sp>
      <p:sp>
        <p:nvSpPr>
          <p:cNvPr id="13" name="Text 11"/>
          <p:cNvSpPr/>
          <p:nvPr/>
        </p:nvSpPr>
        <p:spPr>
          <a:xfrm>
            <a:off x="3154680" y="1444752"/>
            <a:ext cx="2743200" cy="566928"/>
          </a:xfrm>
          <a:prstGeom prst="rect">
            <a:avLst/>
          </a:prstGeom>
          <a:noFill/>
          <a:ln/>
        </p:spPr>
        <p:txBody>
          <a:bodyPr wrap="square" lIns="0" tIns="0" rIns="0" bIns="0" rtlCol="0" anchor="ctr"/>
          <a:lstStyle/>
          <a:p>
            <a:pPr marL="0" indent="0">
              <a:buNone/>
            </a:pPr>
            <a:r>
              <a:rPr lang="en-US" sz="950" dirty="0">
                <a:solidFill>
                  <a:srgbClr val="1E293B"/>
                </a:solidFill>
              </a:rPr>
              <a:t>Differential privacy / noise injection in published datasets</a:t>
            </a:r>
            <a:endParaRPr lang="en-US" sz="950" dirty="0"/>
          </a:p>
        </p:txBody>
      </p:sp>
      <p:sp>
        <p:nvSpPr>
          <p:cNvPr id="14" name="Text 12"/>
          <p:cNvSpPr/>
          <p:nvPr/>
        </p:nvSpPr>
        <p:spPr>
          <a:xfrm>
            <a:off x="6080760" y="1444752"/>
            <a:ext cx="2788920" cy="566928"/>
          </a:xfrm>
          <a:prstGeom prst="rect">
            <a:avLst/>
          </a:prstGeom>
          <a:noFill/>
          <a:ln/>
        </p:spPr>
        <p:txBody>
          <a:bodyPr wrap="square" lIns="0" tIns="0" rIns="0" bIns="0" rtlCol="0" anchor="ctr"/>
          <a:lstStyle/>
          <a:p>
            <a:pPr marL="0" indent="0">
              <a:buNone/>
            </a:pPr>
            <a:r>
              <a:rPr lang="en-US" sz="950" dirty="0">
                <a:solidFill>
                  <a:srgbClr val="1E293B"/>
                </a:solidFill>
              </a:rPr>
              <a:t>Mandate DPIAs before releasing aggregated location insights publicly</a:t>
            </a:r>
            <a:endParaRPr lang="en-US" sz="950" dirty="0"/>
          </a:p>
        </p:txBody>
      </p:sp>
      <p:sp>
        <p:nvSpPr>
          <p:cNvPr id="15" name="Shape 13"/>
          <p:cNvSpPr/>
          <p:nvPr/>
        </p:nvSpPr>
        <p:spPr>
          <a:xfrm>
            <a:off x="228600" y="2121408"/>
            <a:ext cx="8686800" cy="713232"/>
          </a:xfrm>
          <a:prstGeom prst="rect">
            <a:avLst/>
          </a:prstGeom>
          <a:solidFill>
            <a:srgbClr val="FFFFFF"/>
          </a:solidFill>
          <a:ln/>
        </p:spPr>
        <p:txBody>
          <a:bodyPr/>
          <a:lstStyle/>
          <a:p>
            <a:endParaRPr lang="en-IE"/>
          </a:p>
        </p:txBody>
      </p:sp>
      <p:sp>
        <p:nvSpPr>
          <p:cNvPr id="16" name="Shape 14"/>
          <p:cNvSpPr/>
          <p:nvPr/>
        </p:nvSpPr>
        <p:spPr>
          <a:xfrm>
            <a:off x="228600" y="2121408"/>
            <a:ext cx="45720" cy="713232"/>
          </a:xfrm>
          <a:prstGeom prst="rect">
            <a:avLst/>
          </a:prstGeom>
          <a:solidFill>
            <a:srgbClr val="0D7B6E"/>
          </a:solidFill>
          <a:ln/>
        </p:spPr>
        <p:txBody>
          <a:bodyPr/>
          <a:lstStyle/>
          <a:p>
            <a:endParaRPr lang="en-IE"/>
          </a:p>
        </p:txBody>
      </p:sp>
      <p:sp>
        <p:nvSpPr>
          <p:cNvPr id="17" name="Text 15"/>
          <p:cNvSpPr/>
          <p:nvPr/>
        </p:nvSpPr>
        <p:spPr>
          <a:xfrm>
            <a:off x="320040" y="2258568"/>
            <a:ext cx="2651760" cy="411480"/>
          </a:xfrm>
          <a:prstGeom prst="rect">
            <a:avLst/>
          </a:prstGeom>
          <a:noFill/>
          <a:ln/>
        </p:spPr>
        <p:txBody>
          <a:bodyPr wrap="square" lIns="0" tIns="0" rIns="0" bIns="0" rtlCol="0" anchor="ctr"/>
          <a:lstStyle/>
          <a:p>
            <a:pPr marL="0" indent="0">
              <a:buNone/>
            </a:pPr>
            <a:r>
              <a:rPr lang="en-US" sz="1050" b="1" dirty="0">
                <a:solidFill>
                  <a:srgbClr val="0D3349"/>
                </a:solidFill>
              </a:rPr>
              <a:t>Coercive consent</a:t>
            </a:r>
            <a:endParaRPr lang="en-US" sz="1050" dirty="0"/>
          </a:p>
        </p:txBody>
      </p:sp>
      <p:sp>
        <p:nvSpPr>
          <p:cNvPr id="18" name="Text 16"/>
          <p:cNvSpPr/>
          <p:nvPr/>
        </p:nvSpPr>
        <p:spPr>
          <a:xfrm>
            <a:off x="3154680" y="2194560"/>
            <a:ext cx="2743200" cy="566928"/>
          </a:xfrm>
          <a:prstGeom prst="rect">
            <a:avLst/>
          </a:prstGeom>
          <a:noFill/>
          <a:ln/>
        </p:spPr>
        <p:txBody>
          <a:bodyPr wrap="square" lIns="0" tIns="0" rIns="0" bIns="0" rtlCol="0" anchor="ctr"/>
          <a:lstStyle/>
          <a:p>
            <a:pPr marL="0" indent="0">
              <a:buNone/>
            </a:pPr>
            <a:r>
              <a:rPr lang="en-US" sz="950" dirty="0">
                <a:solidFill>
                  <a:srgbClr val="1E293B"/>
                </a:solidFill>
              </a:rPr>
              <a:t>Layered consent UIs with clear opt-out at each data use level</a:t>
            </a:r>
            <a:endParaRPr lang="en-US" sz="950" dirty="0"/>
          </a:p>
        </p:txBody>
      </p:sp>
      <p:sp>
        <p:nvSpPr>
          <p:cNvPr id="19" name="Text 17"/>
          <p:cNvSpPr/>
          <p:nvPr/>
        </p:nvSpPr>
        <p:spPr>
          <a:xfrm>
            <a:off x="6080760" y="2194560"/>
            <a:ext cx="2788920" cy="566928"/>
          </a:xfrm>
          <a:prstGeom prst="rect">
            <a:avLst/>
          </a:prstGeom>
          <a:noFill/>
          <a:ln/>
        </p:spPr>
        <p:txBody>
          <a:bodyPr wrap="square" lIns="0" tIns="0" rIns="0" bIns="0" rtlCol="0" anchor="ctr"/>
          <a:lstStyle/>
          <a:p>
            <a:pPr marL="0" indent="0">
              <a:buNone/>
            </a:pPr>
            <a:r>
              <a:rPr lang="en-US" sz="950" dirty="0">
                <a:solidFill>
                  <a:srgbClr val="1E293B"/>
                </a:solidFill>
              </a:rPr>
              <a:t>Regulate 'pushed' tracking: cap price difference vs non-tracked plans</a:t>
            </a:r>
            <a:endParaRPr lang="en-US" sz="950" dirty="0"/>
          </a:p>
        </p:txBody>
      </p:sp>
      <p:sp>
        <p:nvSpPr>
          <p:cNvPr id="20" name="Shape 18"/>
          <p:cNvSpPr/>
          <p:nvPr/>
        </p:nvSpPr>
        <p:spPr>
          <a:xfrm>
            <a:off x="228600" y="2871216"/>
            <a:ext cx="8686800" cy="713232"/>
          </a:xfrm>
          <a:prstGeom prst="rect">
            <a:avLst/>
          </a:prstGeom>
          <a:solidFill>
            <a:srgbClr val="F1F5F9"/>
          </a:solidFill>
          <a:ln/>
        </p:spPr>
        <p:txBody>
          <a:bodyPr/>
          <a:lstStyle/>
          <a:p>
            <a:endParaRPr lang="en-IE"/>
          </a:p>
        </p:txBody>
      </p:sp>
      <p:sp>
        <p:nvSpPr>
          <p:cNvPr id="21" name="Shape 19"/>
          <p:cNvSpPr/>
          <p:nvPr/>
        </p:nvSpPr>
        <p:spPr>
          <a:xfrm>
            <a:off x="228600" y="2871216"/>
            <a:ext cx="45720" cy="713232"/>
          </a:xfrm>
          <a:prstGeom prst="rect">
            <a:avLst/>
          </a:prstGeom>
          <a:solidFill>
            <a:srgbClr val="0D7B6E"/>
          </a:solidFill>
          <a:ln/>
        </p:spPr>
        <p:txBody>
          <a:bodyPr/>
          <a:lstStyle/>
          <a:p>
            <a:endParaRPr lang="en-IE"/>
          </a:p>
        </p:txBody>
      </p:sp>
      <p:sp>
        <p:nvSpPr>
          <p:cNvPr id="22" name="Text 20"/>
          <p:cNvSpPr/>
          <p:nvPr/>
        </p:nvSpPr>
        <p:spPr>
          <a:xfrm>
            <a:off x="320040" y="3008376"/>
            <a:ext cx="2651760" cy="411480"/>
          </a:xfrm>
          <a:prstGeom prst="rect">
            <a:avLst/>
          </a:prstGeom>
          <a:noFill/>
          <a:ln/>
        </p:spPr>
        <p:txBody>
          <a:bodyPr wrap="square" lIns="0" tIns="0" rIns="0" bIns="0" rtlCol="0" anchor="ctr"/>
          <a:lstStyle/>
          <a:p>
            <a:pPr marL="0" indent="0">
              <a:buNone/>
            </a:pPr>
            <a:r>
              <a:rPr lang="en-US" sz="1050" b="1" dirty="0">
                <a:solidFill>
                  <a:srgbClr val="0D3349"/>
                </a:solidFill>
              </a:rPr>
              <a:t>Hidden collection</a:t>
            </a:r>
            <a:endParaRPr lang="en-US" sz="1050" dirty="0"/>
          </a:p>
        </p:txBody>
      </p:sp>
      <p:sp>
        <p:nvSpPr>
          <p:cNvPr id="23" name="Text 21"/>
          <p:cNvSpPr/>
          <p:nvPr/>
        </p:nvSpPr>
        <p:spPr>
          <a:xfrm>
            <a:off x="3154680" y="2944368"/>
            <a:ext cx="2743200" cy="566928"/>
          </a:xfrm>
          <a:prstGeom prst="rect">
            <a:avLst/>
          </a:prstGeom>
          <a:noFill/>
          <a:ln/>
        </p:spPr>
        <p:txBody>
          <a:bodyPr wrap="square" lIns="0" tIns="0" rIns="0" bIns="0" rtlCol="0" anchor="ctr"/>
          <a:lstStyle/>
          <a:p>
            <a:pPr marL="0" indent="0">
              <a:buNone/>
            </a:pPr>
            <a:r>
              <a:rPr lang="en-US" sz="950" dirty="0">
                <a:solidFill>
                  <a:srgbClr val="1E293B"/>
                </a:solidFill>
              </a:rPr>
              <a:t>OS-level permission dashboards showing live data flows</a:t>
            </a:r>
            <a:endParaRPr lang="en-US" sz="950" dirty="0"/>
          </a:p>
        </p:txBody>
      </p:sp>
      <p:sp>
        <p:nvSpPr>
          <p:cNvPr id="24" name="Text 22"/>
          <p:cNvSpPr/>
          <p:nvPr/>
        </p:nvSpPr>
        <p:spPr>
          <a:xfrm>
            <a:off x="6080760" y="2944368"/>
            <a:ext cx="2788920" cy="566928"/>
          </a:xfrm>
          <a:prstGeom prst="rect">
            <a:avLst/>
          </a:prstGeom>
          <a:noFill/>
          <a:ln/>
        </p:spPr>
        <p:txBody>
          <a:bodyPr wrap="square" lIns="0" tIns="0" rIns="0" bIns="0" rtlCol="0" anchor="ctr"/>
          <a:lstStyle/>
          <a:p>
            <a:pPr marL="0" indent="0">
              <a:buNone/>
            </a:pPr>
            <a:r>
              <a:rPr lang="en-US" sz="950" dirty="0">
                <a:solidFill>
                  <a:srgbClr val="1E293B"/>
                </a:solidFill>
              </a:rPr>
              <a:t>Require in-app disclosure whenever location is actively transmitted</a:t>
            </a:r>
            <a:endParaRPr lang="en-US" sz="950" dirty="0"/>
          </a:p>
        </p:txBody>
      </p:sp>
      <p:sp>
        <p:nvSpPr>
          <p:cNvPr id="25" name="Shape 23"/>
          <p:cNvSpPr/>
          <p:nvPr/>
        </p:nvSpPr>
        <p:spPr>
          <a:xfrm>
            <a:off x="228600" y="3621024"/>
            <a:ext cx="8686800" cy="713232"/>
          </a:xfrm>
          <a:prstGeom prst="rect">
            <a:avLst/>
          </a:prstGeom>
          <a:solidFill>
            <a:srgbClr val="FFFFFF"/>
          </a:solidFill>
          <a:ln/>
        </p:spPr>
        <p:txBody>
          <a:bodyPr/>
          <a:lstStyle/>
          <a:p>
            <a:endParaRPr lang="en-IE"/>
          </a:p>
        </p:txBody>
      </p:sp>
      <p:sp>
        <p:nvSpPr>
          <p:cNvPr id="26" name="Shape 24"/>
          <p:cNvSpPr/>
          <p:nvPr/>
        </p:nvSpPr>
        <p:spPr>
          <a:xfrm>
            <a:off x="228600" y="3621024"/>
            <a:ext cx="45720" cy="713232"/>
          </a:xfrm>
          <a:prstGeom prst="rect">
            <a:avLst/>
          </a:prstGeom>
          <a:solidFill>
            <a:srgbClr val="0D7B6E"/>
          </a:solidFill>
          <a:ln/>
        </p:spPr>
        <p:txBody>
          <a:bodyPr/>
          <a:lstStyle/>
          <a:p>
            <a:endParaRPr lang="en-IE"/>
          </a:p>
        </p:txBody>
      </p:sp>
      <p:sp>
        <p:nvSpPr>
          <p:cNvPr id="27" name="Text 25"/>
          <p:cNvSpPr/>
          <p:nvPr/>
        </p:nvSpPr>
        <p:spPr>
          <a:xfrm>
            <a:off x="320040" y="3758184"/>
            <a:ext cx="2651760" cy="411480"/>
          </a:xfrm>
          <a:prstGeom prst="rect">
            <a:avLst/>
          </a:prstGeom>
          <a:noFill/>
          <a:ln/>
        </p:spPr>
        <p:txBody>
          <a:bodyPr wrap="square" lIns="0" tIns="0" rIns="0" bIns="0" rtlCol="0" anchor="ctr"/>
          <a:lstStyle/>
          <a:p>
            <a:pPr marL="0" indent="0">
              <a:buNone/>
            </a:pPr>
            <a:r>
              <a:rPr lang="en-US" sz="1050" b="1" dirty="0">
                <a:solidFill>
                  <a:srgbClr val="0D3349"/>
                </a:solidFill>
              </a:rPr>
              <a:t>Demographic bias</a:t>
            </a:r>
            <a:endParaRPr lang="en-US" sz="1050" dirty="0"/>
          </a:p>
        </p:txBody>
      </p:sp>
      <p:sp>
        <p:nvSpPr>
          <p:cNvPr id="28" name="Text 26"/>
          <p:cNvSpPr/>
          <p:nvPr/>
        </p:nvSpPr>
        <p:spPr>
          <a:xfrm>
            <a:off x="3154680" y="3694176"/>
            <a:ext cx="2743200" cy="566928"/>
          </a:xfrm>
          <a:prstGeom prst="rect">
            <a:avLst/>
          </a:prstGeom>
          <a:noFill/>
          <a:ln/>
        </p:spPr>
        <p:txBody>
          <a:bodyPr wrap="square" lIns="0" tIns="0" rIns="0" bIns="0" rtlCol="0" anchor="ctr"/>
          <a:lstStyle/>
          <a:p>
            <a:pPr marL="0" indent="0">
              <a:buNone/>
            </a:pPr>
            <a:r>
              <a:rPr lang="en-US" sz="950" dirty="0">
                <a:solidFill>
                  <a:srgbClr val="1E293B"/>
                </a:solidFill>
              </a:rPr>
              <a:t>Weighted sampling &amp; synthetic data to fill demographic gaps</a:t>
            </a:r>
            <a:endParaRPr lang="en-US" sz="950" dirty="0"/>
          </a:p>
        </p:txBody>
      </p:sp>
      <p:sp>
        <p:nvSpPr>
          <p:cNvPr id="29" name="Text 27"/>
          <p:cNvSpPr/>
          <p:nvPr/>
        </p:nvSpPr>
        <p:spPr>
          <a:xfrm>
            <a:off x="6080760" y="3694176"/>
            <a:ext cx="2788920" cy="566928"/>
          </a:xfrm>
          <a:prstGeom prst="rect">
            <a:avLst/>
          </a:prstGeom>
          <a:noFill/>
          <a:ln/>
        </p:spPr>
        <p:txBody>
          <a:bodyPr wrap="square" lIns="0" tIns="0" rIns="0" bIns="0" rtlCol="0" anchor="ctr"/>
          <a:lstStyle/>
          <a:p>
            <a:pPr marL="0" indent="0">
              <a:buNone/>
            </a:pPr>
            <a:r>
              <a:rPr lang="en-US" sz="950" dirty="0">
                <a:solidFill>
                  <a:srgbClr val="1E293B"/>
                </a:solidFill>
              </a:rPr>
              <a:t>Mandate demographic metadata disclosure for public-sector data purchases</a:t>
            </a:r>
            <a:endParaRPr lang="en-US" sz="950" dirty="0"/>
          </a:p>
        </p:txBody>
      </p:sp>
      <p:sp>
        <p:nvSpPr>
          <p:cNvPr id="30" name="Shape 28"/>
          <p:cNvSpPr/>
          <p:nvPr/>
        </p:nvSpPr>
        <p:spPr>
          <a:xfrm>
            <a:off x="228600" y="4370832"/>
            <a:ext cx="8686800" cy="713232"/>
          </a:xfrm>
          <a:prstGeom prst="rect">
            <a:avLst/>
          </a:prstGeom>
          <a:solidFill>
            <a:srgbClr val="F1F5F9"/>
          </a:solidFill>
          <a:ln/>
        </p:spPr>
        <p:txBody>
          <a:bodyPr/>
          <a:lstStyle/>
          <a:p>
            <a:endParaRPr lang="en-IE"/>
          </a:p>
        </p:txBody>
      </p:sp>
      <p:sp>
        <p:nvSpPr>
          <p:cNvPr id="31" name="Shape 29"/>
          <p:cNvSpPr/>
          <p:nvPr/>
        </p:nvSpPr>
        <p:spPr>
          <a:xfrm>
            <a:off x="228600" y="4370832"/>
            <a:ext cx="45720" cy="713232"/>
          </a:xfrm>
          <a:prstGeom prst="rect">
            <a:avLst/>
          </a:prstGeom>
          <a:solidFill>
            <a:srgbClr val="0D7B6E"/>
          </a:solidFill>
          <a:ln/>
        </p:spPr>
        <p:txBody>
          <a:bodyPr/>
          <a:lstStyle/>
          <a:p>
            <a:endParaRPr lang="en-IE"/>
          </a:p>
        </p:txBody>
      </p:sp>
      <p:sp>
        <p:nvSpPr>
          <p:cNvPr id="32" name="Text 30"/>
          <p:cNvSpPr/>
          <p:nvPr/>
        </p:nvSpPr>
        <p:spPr>
          <a:xfrm>
            <a:off x="320040" y="4507992"/>
            <a:ext cx="2651760" cy="411480"/>
          </a:xfrm>
          <a:prstGeom prst="rect">
            <a:avLst/>
          </a:prstGeom>
          <a:noFill/>
          <a:ln/>
        </p:spPr>
        <p:txBody>
          <a:bodyPr wrap="square" lIns="0" tIns="0" rIns="0" bIns="0" rtlCol="0" anchor="ctr"/>
          <a:lstStyle/>
          <a:p>
            <a:pPr marL="0" indent="0">
              <a:buNone/>
            </a:pPr>
            <a:r>
              <a:rPr lang="en-US" sz="1050" b="1" dirty="0">
                <a:solidFill>
                  <a:srgbClr val="0D3349"/>
                </a:solidFill>
              </a:rPr>
              <a:t>Feedback effects</a:t>
            </a:r>
            <a:endParaRPr lang="en-US" sz="1050" dirty="0"/>
          </a:p>
        </p:txBody>
      </p:sp>
      <p:sp>
        <p:nvSpPr>
          <p:cNvPr id="33" name="Text 31"/>
          <p:cNvSpPr/>
          <p:nvPr/>
        </p:nvSpPr>
        <p:spPr>
          <a:xfrm>
            <a:off x="3154680" y="4443984"/>
            <a:ext cx="2743200" cy="566928"/>
          </a:xfrm>
          <a:prstGeom prst="rect">
            <a:avLst/>
          </a:prstGeom>
          <a:noFill/>
          <a:ln/>
        </p:spPr>
        <p:txBody>
          <a:bodyPr wrap="square" lIns="0" tIns="0" rIns="0" bIns="0" rtlCol="0" anchor="ctr"/>
          <a:lstStyle/>
          <a:p>
            <a:pPr marL="0" indent="0">
              <a:buNone/>
            </a:pPr>
            <a:r>
              <a:rPr lang="en-US" sz="950" dirty="0">
                <a:solidFill>
                  <a:srgbClr val="1E293B"/>
                </a:solidFill>
              </a:rPr>
              <a:t>Simulation testing before deployment; red-team routing algorithms</a:t>
            </a:r>
            <a:endParaRPr lang="en-US" sz="950" dirty="0"/>
          </a:p>
        </p:txBody>
      </p:sp>
      <p:sp>
        <p:nvSpPr>
          <p:cNvPr id="34" name="Text 32"/>
          <p:cNvSpPr/>
          <p:nvPr/>
        </p:nvSpPr>
        <p:spPr>
          <a:xfrm>
            <a:off x="6080760" y="4443984"/>
            <a:ext cx="2788920" cy="566928"/>
          </a:xfrm>
          <a:prstGeom prst="rect">
            <a:avLst/>
          </a:prstGeom>
          <a:noFill/>
          <a:ln/>
        </p:spPr>
        <p:txBody>
          <a:bodyPr wrap="square" lIns="0" tIns="0" rIns="0" bIns="0" rtlCol="0" anchor="ctr"/>
          <a:lstStyle/>
          <a:p>
            <a:pPr marL="0" indent="0">
              <a:buNone/>
            </a:pPr>
            <a:r>
              <a:rPr lang="en-US" sz="950" dirty="0">
                <a:solidFill>
                  <a:srgbClr val="1E293B"/>
                </a:solidFill>
              </a:rPr>
              <a:t>Independent safety audits for navigation platforms; city veto rights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3D1A6E"/>
          </a:solidFill>
          <a:ln/>
        </p:spPr>
        <p:txBody>
          <a:bodyPr/>
          <a:lstStyle/>
          <a:p>
            <a:endParaRPr lang="en-IE"/>
          </a:p>
        </p:txBody>
      </p:sp>
      <p:sp>
        <p:nvSpPr>
          <p:cNvPr id="3" name="Text 1"/>
          <p:cNvSpPr/>
          <p:nvPr/>
        </p:nvSpPr>
        <p:spPr>
          <a:xfrm>
            <a:off x="274320" y="91440"/>
            <a:ext cx="8595360" cy="640080"/>
          </a:xfrm>
          <a:prstGeom prst="rect">
            <a:avLst/>
          </a:prstGeom>
          <a:noFill/>
          <a:ln/>
        </p:spPr>
        <p:txBody>
          <a:bodyPr wrap="square" rtlCol="0" anchor="ctr"/>
          <a:lstStyle/>
          <a:p>
            <a:pPr marL="0" indent="0">
              <a:buNone/>
            </a:pPr>
            <a:r>
              <a:rPr lang="en-US" sz="1900" b="1" dirty="0">
                <a:solidFill>
                  <a:srgbClr val="FFFFFF"/>
                </a:solidFill>
              </a:rPr>
              <a:t>Comparative Analysis: How Different Actors Govern Location Data</a:t>
            </a:r>
            <a:endParaRPr lang="en-US" sz="1900" dirty="0"/>
          </a:p>
        </p:txBody>
      </p:sp>
      <p:sp>
        <p:nvSpPr>
          <p:cNvPr id="4" name="Shape 2"/>
          <p:cNvSpPr/>
          <p:nvPr/>
        </p:nvSpPr>
        <p:spPr>
          <a:xfrm>
            <a:off x="228600" y="1005840"/>
            <a:ext cx="4160520" cy="1828800"/>
          </a:xfrm>
          <a:prstGeom prst="roundRect">
            <a:avLst>
              <a:gd name="adj" fmla="val 5000"/>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5" name="Shape 3"/>
          <p:cNvSpPr/>
          <p:nvPr/>
        </p:nvSpPr>
        <p:spPr>
          <a:xfrm>
            <a:off x="228600" y="1005840"/>
            <a:ext cx="4160520" cy="384048"/>
          </a:xfrm>
          <a:prstGeom prst="roundRect">
            <a:avLst>
              <a:gd name="adj" fmla="val 23810"/>
            </a:avLst>
          </a:prstGeom>
          <a:solidFill>
            <a:srgbClr val="1A5276"/>
          </a:solidFill>
          <a:ln/>
        </p:spPr>
        <p:txBody>
          <a:bodyPr/>
          <a:lstStyle/>
          <a:p>
            <a:endParaRPr lang="en-IE"/>
          </a:p>
        </p:txBody>
      </p:sp>
      <p:sp>
        <p:nvSpPr>
          <p:cNvPr id="6" name="Shape 4"/>
          <p:cNvSpPr/>
          <p:nvPr/>
        </p:nvSpPr>
        <p:spPr>
          <a:xfrm>
            <a:off x="228600" y="1207008"/>
            <a:ext cx="4160520" cy="182880"/>
          </a:xfrm>
          <a:prstGeom prst="rect">
            <a:avLst/>
          </a:prstGeom>
          <a:solidFill>
            <a:srgbClr val="1A5276"/>
          </a:solidFill>
          <a:ln/>
        </p:spPr>
        <p:txBody>
          <a:bodyPr/>
          <a:lstStyle/>
          <a:p>
            <a:endParaRPr lang="en-IE"/>
          </a:p>
        </p:txBody>
      </p:sp>
      <p:sp>
        <p:nvSpPr>
          <p:cNvPr id="7" name="Text 5"/>
          <p:cNvSpPr/>
          <p:nvPr/>
        </p:nvSpPr>
        <p:spPr>
          <a:xfrm>
            <a:off x="365760" y="1051560"/>
            <a:ext cx="3886200" cy="310896"/>
          </a:xfrm>
          <a:prstGeom prst="rect">
            <a:avLst/>
          </a:prstGeom>
          <a:noFill/>
          <a:ln/>
        </p:spPr>
        <p:txBody>
          <a:bodyPr wrap="square" lIns="0" tIns="0" rIns="0" bIns="0" rtlCol="0" anchor="ctr"/>
          <a:lstStyle/>
          <a:p>
            <a:pPr marL="0" indent="0">
              <a:buNone/>
            </a:pPr>
            <a:r>
              <a:rPr lang="en-US" sz="1200" b="1" dirty="0">
                <a:solidFill>
                  <a:srgbClr val="FFFFFF"/>
                </a:solidFill>
              </a:rPr>
              <a:t>Industry (Self-Regulation)</a:t>
            </a:r>
            <a:endParaRPr lang="en-US" sz="1200" dirty="0"/>
          </a:p>
        </p:txBody>
      </p:sp>
      <p:sp>
        <p:nvSpPr>
          <p:cNvPr id="8" name="Text 6"/>
          <p:cNvSpPr/>
          <p:nvPr/>
        </p:nvSpPr>
        <p:spPr>
          <a:xfrm>
            <a:off x="365760" y="1481328"/>
            <a:ext cx="3886200" cy="1280160"/>
          </a:xfrm>
          <a:prstGeom prst="rect">
            <a:avLst/>
          </a:prstGeom>
          <a:noFill/>
          <a:ln/>
        </p:spPr>
        <p:txBody>
          <a:bodyPr wrap="square" rtlCol="0" anchor="ctr"/>
          <a:lstStyle/>
          <a:p>
            <a:pPr marL="342900" indent="-342900">
              <a:spcAft>
                <a:spcPts val="200"/>
              </a:spcAft>
              <a:buSzPct val="100000"/>
              <a:buChar char="•"/>
            </a:pPr>
            <a:r>
              <a:rPr lang="en-US" sz="1000" dirty="0">
                <a:solidFill>
                  <a:srgbClr val="1E293B"/>
                </a:solidFill>
              </a:rPr>
              <a:t>Strava: demographic metadata add-on</a:t>
            </a:r>
            <a:endParaRPr lang="en-US" sz="1000" dirty="0"/>
          </a:p>
          <a:p>
            <a:pPr marL="342900" indent="-342900">
              <a:spcAft>
                <a:spcPts val="200"/>
              </a:spcAft>
              <a:buSzPct val="100000"/>
              <a:buChar char="•"/>
            </a:pPr>
            <a:r>
              <a:rPr lang="en-US" sz="1000" dirty="0">
                <a:solidFill>
                  <a:srgbClr val="1E293B"/>
                </a:solidFill>
              </a:rPr>
              <a:t>Uber Movement: free planning data</a:t>
            </a:r>
            <a:endParaRPr lang="en-US" sz="1000" dirty="0"/>
          </a:p>
          <a:p>
            <a:pPr marL="342900" indent="-342900">
              <a:spcAft>
                <a:spcPts val="200"/>
              </a:spcAft>
              <a:buSzPct val="100000"/>
              <a:buChar char="•"/>
            </a:pPr>
            <a:r>
              <a:rPr lang="en-US" sz="1000" dirty="0">
                <a:solidFill>
                  <a:srgbClr val="1E293B"/>
                </a:solidFill>
              </a:rPr>
              <a:t>Waze: city partnerships</a:t>
            </a:r>
            <a:endParaRPr lang="en-US" sz="1000" dirty="0"/>
          </a:p>
          <a:p>
            <a:pPr marL="342900" indent="-342900">
              <a:spcAft>
                <a:spcPts val="200"/>
              </a:spcAft>
              <a:buSzPct val="100000"/>
              <a:buChar char="•"/>
            </a:pPr>
            <a:r>
              <a:rPr lang="en-US" sz="1000" dirty="0">
                <a:solidFill>
                  <a:srgbClr val="1E293B"/>
                </a:solidFill>
              </a:rPr>
              <a:t>❌ All voluntary, patchy, incentive-driven</a:t>
            </a:r>
            <a:endParaRPr lang="en-US" sz="1000" dirty="0"/>
          </a:p>
        </p:txBody>
      </p:sp>
      <p:sp>
        <p:nvSpPr>
          <p:cNvPr id="9" name="Shape 7"/>
          <p:cNvSpPr/>
          <p:nvPr/>
        </p:nvSpPr>
        <p:spPr>
          <a:xfrm>
            <a:off x="4663440" y="1005840"/>
            <a:ext cx="4160520" cy="1828800"/>
          </a:xfrm>
          <a:prstGeom prst="roundRect">
            <a:avLst>
              <a:gd name="adj" fmla="val 5000"/>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10" name="Shape 8"/>
          <p:cNvSpPr/>
          <p:nvPr/>
        </p:nvSpPr>
        <p:spPr>
          <a:xfrm>
            <a:off x="4663440" y="1005840"/>
            <a:ext cx="4160520" cy="384048"/>
          </a:xfrm>
          <a:prstGeom prst="roundRect">
            <a:avLst>
              <a:gd name="adj" fmla="val 23810"/>
            </a:avLst>
          </a:prstGeom>
          <a:solidFill>
            <a:srgbClr val="117A65"/>
          </a:solidFill>
          <a:ln/>
        </p:spPr>
        <p:txBody>
          <a:bodyPr/>
          <a:lstStyle/>
          <a:p>
            <a:endParaRPr lang="en-IE"/>
          </a:p>
        </p:txBody>
      </p:sp>
      <p:sp>
        <p:nvSpPr>
          <p:cNvPr id="11" name="Shape 9"/>
          <p:cNvSpPr/>
          <p:nvPr/>
        </p:nvSpPr>
        <p:spPr>
          <a:xfrm>
            <a:off x="4663440" y="1207008"/>
            <a:ext cx="4160520" cy="182880"/>
          </a:xfrm>
          <a:prstGeom prst="rect">
            <a:avLst/>
          </a:prstGeom>
          <a:solidFill>
            <a:srgbClr val="117A65"/>
          </a:solidFill>
          <a:ln/>
        </p:spPr>
        <p:txBody>
          <a:bodyPr/>
          <a:lstStyle/>
          <a:p>
            <a:endParaRPr lang="en-IE"/>
          </a:p>
        </p:txBody>
      </p:sp>
      <p:sp>
        <p:nvSpPr>
          <p:cNvPr id="12" name="Text 10"/>
          <p:cNvSpPr/>
          <p:nvPr/>
        </p:nvSpPr>
        <p:spPr>
          <a:xfrm>
            <a:off x="4800600" y="1051560"/>
            <a:ext cx="3886200" cy="310896"/>
          </a:xfrm>
          <a:prstGeom prst="rect">
            <a:avLst/>
          </a:prstGeom>
          <a:noFill/>
          <a:ln/>
        </p:spPr>
        <p:txBody>
          <a:bodyPr wrap="square" lIns="0" tIns="0" rIns="0" bIns="0" rtlCol="0" anchor="ctr"/>
          <a:lstStyle/>
          <a:p>
            <a:pPr marL="0" indent="0">
              <a:buNone/>
            </a:pPr>
            <a:r>
              <a:rPr lang="en-US" sz="1200" b="1" dirty="0">
                <a:solidFill>
                  <a:srgbClr val="FFFFFF"/>
                </a:solidFill>
              </a:rPr>
              <a:t>Regulators (GDPR / ICO)</a:t>
            </a:r>
            <a:endParaRPr lang="en-US" sz="1200" dirty="0"/>
          </a:p>
        </p:txBody>
      </p:sp>
      <p:sp>
        <p:nvSpPr>
          <p:cNvPr id="13" name="Text 11"/>
          <p:cNvSpPr/>
          <p:nvPr/>
        </p:nvSpPr>
        <p:spPr>
          <a:xfrm>
            <a:off x="4800600" y="1481328"/>
            <a:ext cx="3886200" cy="1280160"/>
          </a:xfrm>
          <a:prstGeom prst="rect">
            <a:avLst/>
          </a:prstGeom>
          <a:noFill/>
          <a:ln/>
        </p:spPr>
        <p:txBody>
          <a:bodyPr wrap="square" rtlCol="0" anchor="ctr"/>
          <a:lstStyle/>
          <a:p>
            <a:pPr marL="342900" indent="-342900">
              <a:spcAft>
                <a:spcPts val="200"/>
              </a:spcAft>
              <a:buSzPct val="100000"/>
              <a:buChar char="•"/>
            </a:pPr>
            <a:r>
              <a:rPr lang="en-US" sz="1000" dirty="0">
                <a:solidFill>
                  <a:srgbClr val="1E293B"/>
                </a:solidFill>
              </a:rPr>
              <a:t>Location = personal data (Article 4)</a:t>
            </a:r>
            <a:endParaRPr lang="en-US" sz="1000" dirty="0"/>
          </a:p>
          <a:p>
            <a:pPr marL="342900" indent="-342900">
              <a:spcAft>
                <a:spcPts val="200"/>
              </a:spcAft>
              <a:buSzPct val="100000"/>
              <a:buChar char="•"/>
            </a:pPr>
            <a:r>
              <a:rPr lang="en-US" sz="1000" dirty="0">
                <a:solidFill>
                  <a:srgbClr val="1E293B"/>
                </a:solidFill>
              </a:rPr>
              <a:t>Purpose limitation principle</a:t>
            </a:r>
            <a:endParaRPr lang="en-US" sz="1000" dirty="0"/>
          </a:p>
          <a:p>
            <a:pPr marL="342900" indent="-342900">
              <a:spcAft>
                <a:spcPts val="200"/>
              </a:spcAft>
              <a:buSzPct val="100000"/>
              <a:buChar char="•"/>
            </a:pPr>
            <a:r>
              <a:rPr lang="en-US" sz="1000" dirty="0">
                <a:solidFill>
                  <a:srgbClr val="1E293B"/>
                </a:solidFill>
              </a:rPr>
              <a:t>Right to erasure &amp; portability</a:t>
            </a:r>
            <a:endParaRPr lang="en-US" sz="1000" dirty="0"/>
          </a:p>
          <a:p>
            <a:pPr marL="342900" indent="-342900">
              <a:spcAft>
                <a:spcPts val="200"/>
              </a:spcAft>
              <a:buSzPct val="100000"/>
              <a:buChar char="•"/>
            </a:pPr>
            <a:r>
              <a:rPr lang="en-US" sz="1000" dirty="0">
                <a:solidFill>
                  <a:srgbClr val="1E293B"/>
                </a:solidFill>
              </a:rPr>
              <a:t>❌ 'Health purpose' loophole unresolved</a:t>
            </a:r>
            <a:endParaRPr lang="en-US" sz="1000" dirty="0"/>
          </a:p>
        </p:txBody>
      </p:sp>
      <p:sp>
        <p:nvSpPr>
          <p:cNvPr id="14" name="Shape 12"/>
          <p:cNvSpPr/>
          <p:nvPr/>
        </p:nvSpPr>
        <p:spPr>
          <a:xfrm>
            <a:off x="228600" y="3063240"/>
            <a:ext cx="4160520" cy="1828800"/>
          </a:xfrm>
          <a:prstGeom prst="roundRect">
            <a:avLst>
              <a:gd name="adj" fmla="val 5000"/>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15" name="Shape 13"/>
          <p:cNvSpPr/>
          <p:nvPr/>
        </p:nvSpPr>
        <p:spPr>
          <a:xfrm>
            <a:off x="228600" y="3063240"/>
            <a:ext cx="4160520" cy="384048"/>
          </a:xfrm>
          <a:prstGeom prst="roundRect">
            <a:avLst>
              <a:gd name="adj" fmla="val 23810"/>
            </a:avLst>
          </a:prstGeom>
          <a:solidFill>
            <a:srgbClr val="784212"/>
          </a:solidFill>
          <a:ln/>
        </p:spPr>
        <p:txBody>
          <a:bodyPr/>
          <a:lstStyle/>
          <a:p>
            <a:endParaRPr lang="en-IE"/>
          </a:p>
        </p:txBody>
      </p:sp>
      <p:sp>
        <p:nvSpPr>
          <p:cNvPr id="16" name="Shape 14"/>
          <p:cNvSpPr/>
          <p:nvPr/>
        </p:nvSpPr>
        <p:spPr>
          <a:xfrm>
            <a:off x="228600" y="3264408"/>
            <a:ext cx="4160520" cy="182880"/>
          </a:xfrm>
          <a:prstGeom prst="rect">
            <a:avLst/>
          </a:prstGeom>
          <a:solidFill>
            <a:srgbClr val="784212"/>
          </a:solidFill>
          <a:ln/>
        </p:spPr>
        <p:txBody>
          <a:bodyPr/>
          <a:lstStyle/>
          <a:p>
            <a:endParaRPr lang="en-IE"/>
          </a:p>
        </p:txBody>
      </p:sp>
      <p:sp>
        <p:nvSpPr>
          <p:cNvPr id="17" name="Text 15"/>
          <p:cNvSpPr/>
          <p:nvPr/>
        </p:nvSpPr>
        <p:spPr>
          <a:xfrm>
            <a:off x="365760" y="3108960"/>
            <a:ext cx="3886200" cy="310896"/>
          </a:xfrm>
          <a:prstGeom prst="rect">
            <a:avLst/>
          </a:prstGeom>
          <a:noFill/>
          <a:ln/>
        </p:spPr>
        <p:txBody>
          <a:bodyPr wrap="square" lIns="0" tIns="0" rIns="0" bIns="0" rtlCol="0" anchor="ctr"/>
          <a:lstStyle/>
          <a:p>
            <a:pPr marL="0" indent="0">
              <a:buNone/>
            </a:pPr>
            <a:r>
              <a:rPr lang="en-US" sz="1200" b="1" dirty="0">
                <a:solidFill>
                  <a:srgbClr val="FFFFFF"/>
                </a:solidFill>
              </a:rPr>
              <a:t>Civil Society &amp; Academia</a:t>
            </a:r>
            <a:endParaRPr lang="en-US" sz="1200" dirty="0"/>
          </a:p>
        </p:txBody>
      </p:sp>
      <p:sp>
        <p:nvSpPr>
          <p:cNvPr id="18" name="Text 16"/>
          <p:cNvSpPr/>
          <p:nvPr/>
        </p:nvSpPr>
        <p:spPr>
          <a:xfrm>
            <a:off x="365760" y="3538728"/>
            <a:ext cx="3886200" cy="1280160"/>
          </a:xfrm>
          <a:prstGeom prst="rect">
            <a:avLst/>
          </a:prstGeom>
          <a:noFill/>
          <a:ln/>
        </p:spPr>
        <p:txBody>
          <a:bodyPr wrap="square" rtlCol="0" anchor="ctr"/>
          <a:lstStyle/>
          <a:p>
            <a:pPr marL="342900" indent="-342900">
              <a:spcAft>
                <a:spcPts val="200"/>
              </a:spcAft>
              <a:buSzPct val="100000"/>
              <a:buChar char="•"/>
            </a:pPr>
            <a:r>
              <a:rPr lang="en-US" sz="1000" dirty="0">
                <a:solidFill>
                  <a:srgbClr val="1E293B"/>
                </a:solidFill>
              </a:rPr>
              <a:t>De Montjoye: re-identification proofs</a:t>
            </a:r>
            <a:endParaRPr lang="en-US" sz="1000" dirty="0"/>
          </a:p>
          <a:p>
            <a:pPr marL="342900" indent="-342900">
              <a:spcAft>
                <a:spcPts val="200"/>
              </a:spcAft>
              <a:buSzPct val="100000"/>
              <a:buChar char="•"/>
            </a:pPr>
            <a:r>
              <a:rPr lang="en-US" sz="1000" dirty="0">
                <a:solidFill>
                  <a:srgbClr val="1E293B"/>
                </a:solidFill>
              </a:rPr>
              <a:t>Crawford: hidden bias in big data</a:t>
            </a:r>
            <a:endParaRPr lang="en-US" sz="1000" dirty="0"/>
          </a:p>
          <a:p>
            <a:pPr marL="342900" indent="-342900">
              <a:spcAft>
                <a:spcPts val="200"/>
              </a:spcAft>
              <a:buSzPct val="100000"/>
              <a:buChar char="•"/>
            </a:pPr>
            <a:r>
              <a:rPr lang="en-US" sz="1000" dirty="0">
                <a:solidFill>
                  <a:srgbClr val="1E293B"/>
                </a:solidFill>
              </a:rPr>
              <a:t>Nissenbaum: contextual integrity</a:t>
            </a:r>
            <a:endParaRPr lang="en-US" sz="1000" dirty="0"/>
          </a:p>
          <a:p>
            <a:pPr marL="342900" indent="-342900">
              <a:spcAft>
                <a:spcPts val="200"/>
              </a:spcAft>
              <a:buSzPct val="100000"/>
              <a:buChar char="•"/>
            </a:pPr>
            <a:r>
              <a:rPr lang="en-US" sz="1000" dirty="0">
                <a:solidFill>
                  <a:srgbClr val="1E293B"/>
                </a:solidFill>
              </a:rPr>
              <a:t>❌ Research → policy pipeline is slow</a:t>
            </a:r>
            <a:endParaRPr lang="en-US" sz="1000" dirty="0"/>
          </a:p>
        </p:txBody>
      </p:sp>
      <p:sp>
        <p:nvSpPr>
          <p:cNvPr id="19" name="Shape 17"/>
          <p:cNvSpPr/>
          <p:nvPr/>
        </p:nvSpPr>
        <p:spPr>
          <a:xfrm>
            <a:off x="4663440" y="3063240"/>
            <a:ext cx="4160520" cy="1828800"/>
          </a:xfrm>
          <a:prstGeom prst="roundRect">
            <a:avLst>
              <a:gd name="adj" fmla="val 5000"/>
            </a:avLst>
          </a:prstGeom>
          <a:solidFill>
            <a:srgbClr val="F1F5F9"/>
          </a:solidFill>
          <a:ln/>
          <a:effectLst>
            <a:outerShdw blurRad="76200" dist="25400" dir="2700000" algn="bl" rotWithShape="0">
              <a:srgbClr val="000000">
                <a:alpha val="12000"/>
              </a:srgbClr>
            </a:outerShdw>
          </a:effectLst>
        </p:spPr>
        <p:txBody>
          <a:bodyPr/>
          <a:lstStyle/>
          <a:p>
            <a:endParaRPr lang="en-IE"/>
          </a:p>
        </p:txBody>
      </p:sp>
      <p:sp>
        <p:nvSpPr>
          <p:cNvPr id="20" name="Shape 18"/>
          <p:cNvSpPr/>
          <p:nvPr/>
        </p:nvSpPr>
        <p:spPr>
          <a:xfrm>
            <a:off x="4663440" y="3063240"/>
            <a:ext cx="4160520" cy="384048"/>
          </a:xfrm>
          <a:prstGeom prst="roundRect">
            <a:avLst>
              <a:gd name="adj" fmla="val 23810"/>
            </a:avLst>
          </a:prstGeom>
          <a:solidFill>
            <a:srgbClr val="7D3C98"/>
          </a:solidFill>
          <a:ln/>
        </p:spPr>
        <p:txBody>
          <a:bodyPr/>
          <a:lstStyle/>
          <a:p>
            <a:endParaRPr lang="en-IE"/>
          </a:p>
        </p:txBody>
      </p:sp>
      <p:sp>
        <p:nvSpPr>
          <p:cNvPr id="21" name="Shape 19"/>
          <p:cNvSpPr/>
          <p:nvPr/>
        </p:nvSpPr>
        <p:spPr>
          <a:xfrm>
            <a:off x="4663440" y="3264408"/>
            <a:ext cx="4160520" cy="182880"/>
          </a:xfrm>
          <a:prstGeom prst="rect">
            <a:avLst/>
          </a:prstGeom>
          <a:solidFill>
            <a:srgbClr val="7D3C98"/>
          </a:solidFill>
          <a:ln/>
        </p:spPr>
        <p:txBody>
          <a:bodyPr/>
          <a:lstStyle/>
          <a:p>
            <a:endParaRPr lang="en-IE"/>
          </a:p>
        </p:txBody>
      </p:sp>
      <p:sp>
        <p:nvSpPr>
          <p:cNvPr id="22" name="Text 20"/>
          <p:cNvSpPr/>
          <p:nvPr/>
        </p:nvSpPr>
        <p:spPr>
          <a:xfrm>
            <a:off x="4800600" y="3108960"/>
            <a:ext cx="3886200" cy="310896"/>
          </a:xfrm>
          <a:prstGeom prst="rect">
            <a:avLst/>
          </a:prstGeom>
          <a:noFill/>
          <a:ln/>
        </p:spPr>
        <p:txBody>
          <a:bodyPr wrap="square" lIns="0" tIns="0" rIns="0" bIns="0" rtlCol="0" anchor="ctr"/>
          <a:lstStyle/>
          <a:p>
            <a:pPr marL="0" indent="0">
              <a:buNone/>
            </a:pPr>
            <a:r>
              <a:rPr lang="en-US" sz="1200" b="1" dirty="0">
                <a:solidFill>
                  <a:srgbClr val="FFFFFF"/>
                </a:solidFill>
              </a:rPr>
              <a:t>Technical Community</a:t>
            </a:r>
            <a:endParaRPr lang="en-US" sz="1200" dirty="0"/>
          </a:p>
        </p:txBody>
      </p:sp>
      <p:sp>
        <p:nvSpPr>
          <p:cNvPr id="23" name="Text 21"/>
          <p:cNvSpPr/>
          <p:nvPr/>
        </p:nvSpPr>
        <p:spPr>
          <a:xfrm>
            <a:off x="4800600" y="3538728"/>
            <a:ext cx="3886200" cy="1280160"/>
          </a:xfrm>
          <a:prstGeom prst="rect">
            <a:avLst/>
          </a:prstGeom>
          <a:noFill/>
          <a:ln/>
        </p:spPr>
        <p:txBody>
          <a:bodyPr wrap="square" rtlCol="0" anchor="ctr"/>
          <a:lstStyle/>
          <a:p>
            <a:pPr marL="342900" indent="-342900">
              <a:spcAft>
                <a:spcPts val="200"/>
              </a:spcAft>
              <a:buSzPct val="100000"/>
              <a:buChar char="•"/>
            </a:pPr>
            <a:r>
              <a:rPr lang="en-US" sz="1000" dirty="0">
                <a:solidFill>
                  <a:srgbClr val="1E293B"/>
                </a:solidFill>
              </a:rPr>
              <a:t>Differential privacy tools (Apple, Google)</a:t>
            </a:r>
            <a:endParaRPr lang="en-US" sz="1000" dirty="0"/>
          </a:p>
          <a:p>
            <a:pPr marL="342900" indent="-342900">
              <a:spcAft>
                <a:spcPts val="200"/>
              </a:spcAft>
              <a:buSzPct val="100000"/>
              <a:buChar char="•"/>
            </a:pPr>
            <a:r>
              <a:rPr lang="en-US" sz="1000" dirty="0">
                <a:solidFill>
                  <a:srgbClr val="1E293B"/>
                </a:solidFill>
              </a:rPr>
              <a:t>RFID blockers / GPS spoofing layers</a:t>
            </a:r>
            <a:endParaRPr lang="en-US" sz="1000" dirty="0"/>
          </a:p>
          <a:p>
            <a:pPr marL="342900" indent="-342900">
              <a:spcAft>
                <a:spcPts val="200"/>
              </a:spcAft>
              <a:buSzPct val="100000"/>
              <a:buChar char="•"/>
            </a:pPr>
            <a:r>
              <a:rPr lang="en-US" sz="1000" dirty="0">
                <a:solidFill>
                  <a:srgbClr val="1E293B"/>
                </a:solidFill>
              </a:rPr>
              <a:t>Privacy-preserving city APIs</a:t>
            </a:r>
            <a:endParaRPr lang="en-US" sz="1000" dirty="0"/>
          </a:p>
          <a:p>
            <a:pPr marL="342900" indent="-342900">
              <a:spcAft>
                <a:spcPts val="200"/>
              </a:spcAft>
              <a:buSzPct val="100000"/>
              <a:buChar char="•"/>
            </a:pPr>
            <a:r>
              <a:rPr lang="en-US" sz="1000" dirty="0">
                <a:solidFill>
                  <a:srgbClr val="1E293B"/>
                </a:solidFill>
              </a:rPr>
              <a:t>❌ Adoption is optional, not mandated</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3349"/>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D7B6E"/>
          </a:solidFill>
          <a:ln/>
        </p:spPr>
        <p:txBody>
          <a:bodyPr/>
          <a:lstStyle/>
          <a:p>
            <a:endParaRPr lang="en-IE"/>
          </a:p>
        </p:txBody>
      </p:sp>
      <p:sp>
        <p:nvSpPr>
          <p:cNvPr id="3" name="Text 1"/>
          <p:cNvSpPr/>
          <p:nvPr/>
        </p:nvSpPr>
        <p:spPr>
          <a:xfrm>
            <a:off x="457200" y="91440"/>
            <a:ext cx="8229600" cy="640080"/>
          </a:xfrm>
          <a:prstGeom prst="rect">
            <a:avLst/>
          </a:prstGeom>
          <a:noFill/>
          <a:ln/>
        </p:spPr>
        <p:txBody>
          <a:bodyPr wrap="square" rtlCol="0" anchor="ctr"/>
          <a:lstStyle/>
          <a:p>
            <a:pPr marL="0" indent="0">
              <a:buNone/>
            </a:pPr>
            <a:r>
              <a:rPr lang="en-US" sz="2800" b="1" dirty="0">
                <a:solidFill>
                  <a:srgbClr val="FFFFFF"/>
                </a:solidFill>
              </a:rPr>
              <a:t>Conclusion</a:t>
            </a:r>
            <a:endParaRPr lang="en-US" sz="2800" dirty="0"/>
          </a:p>
        </p:txBody>
      </p:sp>
      <p:sp>
        <p:nvSpPr>
          <p:cNvPr id="4" name="Text 2"/>
          <p:cNvSpPr/>
          <p:nvPr/>
        </p:nvSpPr>
        <p:spPr>
          <a:xfrm>
            <a:off x="457200" y="960120"/>
            <a:ext cx="8229600" cy="457200"/>
          </a:xfrm>
          <a:prstGeom prst="rect">
            <a:avLst/>
          </a:prstGeom>
          <a:noFill/>
          <a:ln/>
        </p:spPr>
        <p:txBody>
          <a:bodyPr wrap="square" rtlCol="0" anchor="ctr"/>
          <a:lstStyle/>
          <a:p>
            <a:pPr marL="0" indent="0">
              <a:buNone/>
            </a:pPr>
            <a:r>
              <a:rPr lang="en-US" sz="1600" b="1" dirty="0">
                <a:solidFill>
                  <a:srgbClr val="14A090"/>
                </a:solidFill>
              </a:rPr>
              <a:t>Summary of Scholarly Response</a:t>
            </a:r>
            <a:endParaRPr lang="en-US" sz="1600" dirty="0"/>
          </a:p>
        </p:txBody>
      </p:sp>
      <p:sp>
        <p:nvSpPr>
          <p:cNvPr id="5" name="Text 3"/>
          <p:cNvSpPr/>
          <p:nvPr/>
        </p:nvSpPr>
        <p:spPr>
          <a:xfrm>
            <a:off x="457200" y="1463040"/>
            <a:ext cx="8229600" cy="1645920"/>
          </a:xfrm>
          <a:prstGeom prst="rect">
            <a:avLst/>
          </a:prstGeom>
          <a:noFill/>
          <a:ln/>
        </p:spPr>
        <p:txBody>
          <a:bodyPr wrap="square" rtlCol="0" anchor="ctr"/>
          <a:lstStyle/>
          <a:p>
            <a:pPr marL="0" indent="0">
              <a:buNone/>
            </a:pPr>
            <a:r>
              <a:rPr lang="en-US" sz="1200" dirty="0">
                <a:solidFill>
                  <a:srgbClr val="CADCDC"/>
                </a:solidFill>
              </a:rPr>
              <a:t>The Royal Society case study adopts a critical realist approach — acknowledging the genuine public benefit of location data while cataloguing the structural failures that allow privacy harm to accumulate quietly.</a:t>
            </a:r>
            <a:endParaRPr lang="en-US" sz="1200" dirty="0"/>
          </a:p>
          <a:p>
            <a:pPr marL="0" indent="0">
              <a:buNone/>
            </a:pPr>
            <a:endParaRPr lang="en-US" sz="1200" dirty="0"/>
          </a:p>
          <a:p>
            <a:pPr marL="0" indent="0">
              <a:buNone/>
            </a:pPr>
            <a:r>
              <a:rPr lang="en-US" sz="1200" dirty="0">
                <a:solidFill>
                  <a:srgbClr val="CADCDC"/>
                </a:solidFill>
              </a:rPr>
              <a:t>The paper's core argument is that the biggest risks are not from malicious actors but from ordinary, commercially motivated data collection that — through aggregation, linkage and inference — exceeds what individuals ever consented to.</a:t>
            </a:r>
            <a:endParaRPr lang="en-US" sz="1200" dirty="0"/>
          </a:p>
        </p:txBody>
      </p:sp>
      <p:sp>
        <p:nvSpPr>
          <p:cNvPr id="6" name="Shape 4"/>
          <p:cNvSpPr/>
          <p:nvPr/>
        </p:nvSpPr>
        <p:spPr>
          <a:xfrm>
            <a:off x="365760" y="3246120"/>
            <a:ext cx="4023360" cy="777240"/>
          </a:xfrm>
          <a:prstGeom prst="roundRect">
            <a:avLst>
              <a:gd name="adj" fmla="val 9412"/>
            </a:avLst>
          </a:prstGeom>
          <a:solidFill>
            <a:srgbClr val="153A4A"/>
          </a:solidFill>
          <a:ln/>
        </p:spPr>
        <p:txBody>
          <a:bodyPr/>
          <a:lstStyle/>
          <a:p>
            <a:endParaRPr lang="en-IE"/>
          </a:p>
        </p:txBody>
      </p:sp>
      <p:sp>
        <p:nvSpPr>
          <p:cNvPr id="7" name="Text 5"/>
          <p:cNvSpPr/>
          <p:nvPr/>
        </p:nvSpPr>
        <p:spPr>
          <a:xfrm>
            <a:off x="502920" y="3300984"/>
            <a:ext cx="3749040" cy="292608"/>
          </a:xfrm>
          <a:prstGeom prst="rect">
            <a:avLst/>
          </a:prstGeom>
          <a:noFill/>
          <a:ln/>
        </p:spPr>
        <p:txBody>
          <a:bodyPr wrap="square" lIns="0" tIns="0" rIns="0" bIns="0" rtlCol="0" anchor="ctr"/>
          <a:lstStyle/>
          <a:p>
            <a:pPr marL="0" indent="0">
              <a:buNone/>
            </a:pPr>
            <a:r>
              <a:rPr lang="en-US" sz="1100" b="1" dirty="0">
                <a:solidFill>
                  <a:srgbClr val="14A090"/>
                </a:solidFill>
              </a:rPr>
              <a:t>Governance must be proactive</a:t>
            </a:r>
            <a:endParaRPr lang="en-US" sz="1100" dirty="0"/>
          </a:p>
        </p:txBody>
      </p:sp>
      <p:sp>
        <p:nvSpPr>
          <p:cNvPr id="8" name="Text 6"/>
          <p:cNvSpPr/>
          <p:nvPr/>
        </p:nvSpPr>
        <p:spPr>
          <a:xfrm>
            <a:off x="502920" y="3630168"/>
            <a:ext cx="3749040" cy="320040"/>
          </a:xfrm>
          <a:prstGeom prst="rect">
            <a:avLst/>
          </a:prstGeom>
          <a:noFill/>
          <a:ln/>
        </p:spPr>
        <p:txBody>
          <a:bodyPr wrap="square" lIns="0" tIns="0" rIns="0" bIns="0" rtlCol="0" anchor="ctr"/>
          <a:lstStyle/>
          <a:p>
            <a:pPr marL="0" indent="0">
              <a:buNone/>
            </a:pPr>
            <a:r>
              <a:rPr lang="en-US" sz="1000" dirty="0">
                <a:solidFill>
                  <a:srgbClr val="A0C4BE"/>
                </a:solidFill>
              </a:rPr>
              <a:t>Waiting for GDPR to mature is not enough; sector codes are needed now</a:t>
            </a:r>
            <a:endParaRPr lang="en-US" sz="1000" dirty="0"/>
          </a:p>
        </p:txBody>
      </p:sp>
      <p:sp>
        <p:nvSpPr>
          <p:cNvPr id="9" name="Shape 7"/>
          <p:cNvSpPr/>
          <p:nvPr/>
        </p:nvSpPr>
        <p:spPr>
          <a:xfrm>
            <a:off x="4663440" y="3246120"/>
            <a:ext cx="4023360" cy="777240"/>
          </a:xfrm>
          <a:prstGeom prst="roundRect">
            <a:avLst>
              <a:gd name="adj" fmla="val 9412"/>
            </a:avLst>
          </a:prstGeom>
          <a:solidFill>
            <a:srgbClr val="153A4A"/>
          </a:solidFill>
          <a:ln/>
        </p:spPr>
        <p:txBody>
          <a:bodyPr/>
          <a:lstStyle/>
          <a:p>
            <a:endParaRPr lang="en-IE"/>
          </a:p>
        </p:txBody>
      </p:sp>
      <p:sp>
        <p:nvSpPr>
          <p:cNvPr id="10" name="Text 8"/>
          <p:cNvSpPr/>
          <p:nvPr/>
        </p:nvSpPr>
        <p:spPr>
          <a:xfrm>
            <a:off x="4800600" y="3300984"/>
            <a:ext cx="3749040" cy="292608"/>
          </a:xfrm>
          <a:prstGeom prst="rect">
            <a:avLst/>
          </a:prstGeom>
          <a:noFill/>
          <a:ln/>
        </p:spPr>
        <p:txBody>
          <a:bodyPr wrap="square" lIns="0" tIns="0" rIns="0" bIns="0" rtlCol="0" anchor="ctr"/>
          <a:lstStyle/>
          <a:p>
            <a:pPr marL="0" indent="0">
              <a:buNone/>
            </a:pPr>
            <a:r>
              <a:rPr lang="en-US" sz="1100" b="1" dirty="0">
                <a:solidFill>
                  <a:srgbClr val="14A090"/>
                </a:solidFill>
              </a:rPr>
              <a:t>Consent is a process, not a checkbox</a:t>
            </a:r>
            <a:endParaRPr lang="en-US" sz="1100" dirty="0"/>
          </a:p>
        </p:txBody>
      </p:sp>
      <p:sp>
        <p:nvSpPr>
          <p:cNvPr id="11" name="Text 9"/>
          <p:cNvSpPr/>
          <p:nvPr/>
        </p:nvSpPr>
        <p:spPr>
          <a:xfrm>
            <a:off x="4800600" y="3630168"/>
            <a:ext cx="3749040" cy="320040"/>
          </a:xfrm>
          <a:prstGeom prst="rect">
            <a:avLst/>
          </a:prstGeom>
          <a:noFill/>
          <a:ln/>
        </p:spPr>
        <p:txBody>
          <a:bodyPr wrap="square" lIns="0" tIns="0" rIns="0" bIns="0" rtlCol="0" anchor="ctr"/>
          <a:lstStyle/>
          <a:p>
            <a:pPr marL="0" indent="0">
              <a:buNone/>
            </a:pPr>
            <a:r>
              <a:rPr lang="en-US" sz="1000" dirty="0">
                <a:solidFill>
                  <a:srgbClr val="A0C4BE"/>
                </a:solidFill>
              </a:rPr>
              <a:t>Context, coercion, and third-party effects must be regulated</a:t>
            </a:r>
            <a:endParaRPr lang="en-US" sz="1000" dirty="0"/>
          </a:p>
        </p:txBody>
      </p:sp>
      <p:sp>
        <p:nvSpPr>
          <p:cNvPr id="12" name="Shape 10"/>
          <p:cNvSpPr/>
          <p:nvPr/>
        </p:nvSpPr>
        <p:spPr>
          <a:xfrm>
            <a:off x="365760" y="4114800"/>
            <a:ext cx="4023360" cy="777240"/>
          </a:xfrm>
          <a:prstGeom prst="roundRect">
            <a:avLst>
              <a:gd name="adj" fmla="val 9412"/>
            </a:avLst>
          </a:prstGeom>
          <a:solidFill>
            <a:srgbClr val="153A4A"/>
          </a:solidFill>
          <a:ln/>
        </p:spPr>
        <p:txBody>
          <a:bodyPr/>
          <a:lstStyle/>
          <a:p>
            <a:endParaRPr lang="en-IE"/>
          </a:p>
        </p:txBody>
      </p:sp>
      <p:sp>
        <p:nvSpPr>
          <p:cNvPr id="13" name="Text 11"/>
          <p:cNvSpPr/>
          <p:nvPr/>
        </p:nvSpPr>
        <p:spPr>
          <a:xfrm>
            <a:off x="502920" y="4169664"/>
            <a:ext cx="3749040" cy="292608"/>
          </a:xfrm>
          <a:prstGeom prst="rect">
            <a:avLst/>
          </a:prstGeom>
          <a:noFill/>
          <a:ln/>
        </p:spPr>
        <p:txBody>
          <a:bodyPr wrap="square" lIns="0" tIns="0" rIns="0" bIns="0" rtlCol="0" anchor="ctr"/>
          <a:lstStyle/>
          <a:p>
            <a:pPr marL="0" indent="0">
              <a:buNone/>
            </a:pPr>
            <a:r>
              <a:rPr lang="en-US" sz="1100" b="1" dirty="0">
                <a:solidFill>
                  <a:srgbClr val="14A090"/>
                </a:solidFill>
              </a:rPr>
              <a:t>Bias is a governance issue</a:t>
            </a:r>
            <a:endParaRPr lang="en-US" sz="1100" dirty="0"/>
          </a:p>
        </p:txBody>
      </p:sp>
      <p:sp>
        <p:nvSpPr>
          <p:cNvPr id="14" name="Text 12"/>
          <p:cNvSpPr/>
          <p:nvPr/>
        </p:nvSpPr>
        <p:spPr>
          <a:xfrm>
            <a:off x="502920" y="4498848"/>
            <a:ext cx="3749040" cy="320040"/>
          </a:xfrm>
          <a:prstGeom prst="rect">
            <a:avLst/>
          </a:prstGeom>
          <a:noFill/>
          <a:ln/>
        </p:spPr>
        <p:txBody>
          <a:bodyPr wrap="square" lIns="0" tIns="0" rIns="0" bIns="0" rtlCol="0" anchor="ctr"/>
          <a:lstStyle/>
          <a:p>
            <a:pPr marL="0" indent="0">
              <a:buNone/>
            </a:pPr>
            <a:r>
              <a:rPr lang="en-US" sz="1000" dirty="0">
                <a:solidFill>
                  <a:srgbClr val="A0C4BE"/>
                </a:solidFill>
              </a:rPr>
              <a:t>Not just a technical flaw — representative data should be mandated</a:t>
            </a:r>
            <a:endParaRPr lang="en-US" sz="1000" dirty="0"/>
          </a:p>
        </p:txBody>
      </p:sp>
      <p:sp>
        <p:nvSpPr>
          <p:cNvPr id="15" name="Shape 13"/>
          <p:cNvSpPr/>
          <p:nvPr/>
        </p:nvSpPr>
        <p:spPr>
          <a:xfrm>
            <a:off x="4663440" y="4114800"/>
            <a:ext cx="4023360" cy="777240"/>
          </a:xfrm>
          <a:prstGeom prst="roundRect">
            <a:avLst>
              <a:gd name="adj" fmla="val 9412"/>
            </a:avLst>
          </a:prstGeom>
          <a:solidFill>
            <a:srgbClr val="153A4A"/>
          </a:solidFill>
          <a:ln/>
        </p:spPr>
        <p:txBody>
          <a:bodyPr/>
          <a:lstStyle/>
          <a:p>
            <a:endParaRPr lang="en-IE"/>
          </a:p>
        </p:txBody>
      </p:sp>
      <p:sp>
        <p:nvSpPr>
          <p:cNvPr id="16" name="Text 14"/>
          <p:cNvSpPr/>
          <p:nvPr/>
        </p:nvSpPr>
        <p:spPr>
          <a:xfrm>
            <a:off x="4800600" y="4169664"/>
            <a:ext cx="3749040" cy="292608"/>
          </a:xfrm>
          <a:prstGeom prst="rect">
            <a:avLst/>
          </a:prstGeom>
          <a:noFill/>
          <a:ln/>
        </p:spPr>
        <p:txBody>
          <a:bodyPr wrap="square" lIns="0" tIns="0" rIns="0" bIns="0" rtlCol="0" anchor="ctr"/>
          <a:lstStyle/>
          <a:p>
            <a:pPr marL="0" indent="0">
              <a:buNone/>
            </a:pPr>
            <a:r>
              <a:rPr lang="en-US" sz="1100" b="1" dirty="0">
                <a:solidFill>
                  <a:srgbClr val="14A090"/>
                </a:solidFill>
              </a:rPr>
              <a:t>Transparency creates accountability</a:t>
            </a:r>
            <a:endParaRPr lang="en-US" sz="1100" dirty="0"/>
          </a:p>
        </p:txBody>
      </p:sp>
      <p:sp>
        <p:nvSpPr>
          <p:cNvPr id="17" name="Text 15"/>
          <p:cNvSpPr/>
          <p:nvPr/>
        </p:nvSpPr>
        <p:spPr>
          <a:xfrm>
            <a:off x="4800600" y="4498848"/>
            <a:ext cx="3749040" cy="320040"/>
          </a:xfrm>
          <a:prstGeom prst="rect">
            <a:avLst/>
          </a:prstGeom>
          <a:noFill/>
          <a:ln/>
        </p:spPr>
        <p:txBody>
          <a:bodyPr wrap="square" lIns="0" tIns="0" rIns="0" bIns="0" rtlCol="0" anchor="ctr"/>
          <a:lstStyle/>
          <a:p>
            <a:pPr marL="0" indent="0">
              <a:buNone/>
            </a:pPr>
            <a:r>
              <a:rPr lang="en-US" sz="1000" dirty="0">
                <a:solidFill>
                  <a:srgbClr val="A0C4BE"/>
                </a:solidFill>
              </a:rPr>
              <a:t>Algorithmic audits and demographic disclosures are achievable today</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7B6E"/>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7B6E"/>
          </a:solidFill>
          <a:ln/>
        </p:spPr>
        <p:txBody>
          <a:bodyPr/>
          <a:lstStyle/>
          <a:p>
            <a:endParaRPr lang="en-IE"/>
          </a:p>
        </p:txBody>
      </p:sp>
      <p:sp>
        <p:nvSpPr>
          <p:cNvPr id="3" name="Text 1"/>
          <p:cNvSpPr/>
          <p:nvPr/>
        </p:nvSpPr>
        <p:spPr>
          <a:xfrm>
            <a:off x="457200" y="1371600"/>
            <a:ext cx="8229600" cy="1097280"/>
          </a:xfrm>
          <a:prstGeom prst="rect">
            <a:avLst/>
          </a:prstGeom>
          <a:noFill/>
          <a:ln/>
        </p:spPr>
        <p:txBody>
          <a:bodyPr wrap="square" rtlCol="0" anchor="ctr"/>
          <a:lstStyle/>
          <a:p>
            <a:pPr marL="0" indent="0" algn="ctr">
              <a:buNone/>
            </a:pPr>
            <a:r>
              <a:rPr lang="en-US" sz="4200" b="1" dirty="0">
                <a:solidFill>
                  <a:srgbClr val="FFFFFF"/>
                </a:solidFill>
              </a:rPr>
              <a:t>Questions &amp; Discussion</a:t>
            </a:r>
            <a:endParaRPr lang="en-US" sz="4200" dirty="0"/>
          </a:p>
        </p:txBody>
      </p:sp>
      <p:sp>
        <p:nvSpPr>
          <p:cNvPr id="4" name="Shape 2"/>
          <p:cNvSpPr/>
          <p:nvPr/>
        </p:nvSpPr>
        <p:spPr>
          <a:xfrm>
            <a:off x="2743200" y="2651760"/>
            <a:ext cx="3657600" cy="45720"/>
          </a:xfrm>
          <a:prstGeom prst="rect">
            <a:avLst/>
          </a:prstGeom>
          <a:solidFill>
            <a:srgbClr val="E8A020"/>
          </a:solidFill>
          <a:ln/>
        </p:spPr>
        <p:txBody>
          <a:bodyPr/>
          <a:lstStyle/>
          <a:p>
            <a:endParaRPr lang="en-IE"/>
          </a:p>
        </p:txBody>
      </p:sp>
      <p:sp>
        <p:nvSpPr>
          <p:cNvPr id="5" name="Text 3"/>
          <p:cNvSpPr/>
          <p:nvPr/>
        </p:nvSpPr>
        <p:spPr>
          <a:xfrm>
            <a:off x="914400" y="2834640"/>
            <a:ext cx="7315200" cy="1097280"/>
          </a:xfrm>
          <a:prstGeom prst="rect">
            <a:avLst/>
          </a:prstGeom>
          <a:noFill/>
          <a:ln/>
        </p:spPr>
        <p:txBody>
          <a:bodyPr wrap="square" rtlCol="0" anchor="ctr"/>
          <a:lstStyle/>
          <a:p>
            <a:pPr marL="0" indent="0" algn="ctr">
              <a:buNone/>
            </a:pPr>
            <a:r>
              <a:rPr lang="en-US" sz="1300" i="1" dirty="0">
                <a:solidFill>
                  <a:srgbClr val="D0ECEA"/>
                </a:solidFill>
              </a:rPr>
              <a:t>"Location data governance is ultimately about high-quality general data governance that does not break apart when individuals are made vulnerable."</a:t>
            </a:r>
            <a:endParaRPr lang="en-US" sz="1300" dirty="0"/>
          </a:p>
        </p:txBody>
      </p:sp>
      <p:sp>
        <p:nvSpPr>
          <p:cNvPr id="6" name="Text 4"/>
          <p:cNvSpPr/>
          <p:nvPr/>
        </p:nvSpPr>
        <p:spPr>
          <a:xfrm>
            <a:off x="914400" y="3977640"/>
            <a:ext cx="7315200" cy="365760"/>
          </a:xfrm>
          <a:prstGeom prst="rect">
            <a:avLst/>
          </a:prstGeom>
          <a:noFill/>
          <a:ln/>
        </p:spPr>
        <p:txBody>
          <a:bodyPr wrap="square" rtlCol="0" anchor="ctr"/>
          <a:lstStyle/>
          <a:p>
            <a:pPr marL="0" indent="0" algn="ctr">
              <a:buNone/>
            </a:pPr>
            <a:r>
              <a:rPr lang="en-US" sz="1100" dirty="0">
                <a:solidFill>
                  <a:srgbClr val="A0D4CC"/>
                </a:solidFill>
              </a:rPr>
              <a:t>— Royal Society Case Studies, 2017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2003</Words>
  <Application>Microsoft Office PowerPoint</Application>
  <PresentationFormat>On-screen Show (16:9)</PresentationFormat>
  <Paragraphs>260</Paragraphs>
  <Slides>17</Slides>
  <Notes>17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17</vt:i4>
      </vt:variant>
    </vt:vector>
  </HeadingPairs>
  <TitlesOfParts>
    <vt:vector size="1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Location Data: Ethics &amp; Governance</dc:title>
  <dc:subject/>
  <dc:creator>Prayas Sharma</dc:creator>
  <cp:lastModifiedBy>Prayas Sharma</cp:lastModifiedBy>
  <cp:revision>3</cp:revision>
  <dcterms:created xsi:type="dcterms:W3CDTF">2026-06-27T22:17:31Z</dcterms:created>
  <dcterms:modified xsi:type="dcterms:W3CDTF">2026-06-27T22:29:25Z</dcterms:modified>
</cp:coreProperties>
</file>