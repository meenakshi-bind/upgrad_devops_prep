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0" r:id="rId2"/>
    <p:sldId id="257" r:id="rId3"/>
    <p:sldId id="273" r:id="rId4"/>
    <p:sldId id="259" r:id="rId5"/>
    <p:sldId id="260" r:id="rId6"/>
    <p:sldId id="261" r:id="rId7"/>
    <p:sldId id="274" r:id="rId8"/>
    <p:sldId id="262" r:id="rId9"/>
    <p:sldId id="275" r:id="rId10"/>
    <p:sldId id="276" r:id="rId11"/>
    <p:sldId id="277" r:id="rId12"/>
    <p:sldId id="263" r:id="rId13"/>
    <p:sldId id="268" r:id="rId14"/>
    <p:sldId id="269" r:id="rId15"/>
    <p:sldId id="270" r:id="rId16"/>
    <p:sldId id="267" r:id="rId17"/>
    <p:sldId id="27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DBDBDB"/>
    <a:srgbClr val="0D3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20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90E67-741D-D268-48E8-7A89E4E9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3E542-AE1E-CC81-1587-1775606B6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5F582-CBCA-0E81-C963-845E419EC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4A76C-D5D7-8633-825C-0C9F3BB23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5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F319-1DD5-ABB8-502E-3CEAB1E9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20F60-677E-69A7-7735-33EC598FA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9AE45-01DF-01A9-7405-68294C841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69051-76A0-0EDB-F88E-CD2D5BEAA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15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3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1BCB7-0802-4045-522D-505CBCED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B72A7BE-3C58-F87C-D4B1-703A427D42EC}"/>
              </a:ext>
            </a:extLst>
          </p:cNvPr>
          <p:cNvSpPr/>
          <p:nvPr/>
        </p:nvSpPr>
        <p:spPr>
          <a:xfrm>
            <a:off x="0" y="1097280"/>
            <a:ext cx="9144000" cy="4046220"/>
          </a:xfrm>
          <a:prstGeom prst="rect">
            <a:avLst/>
          </a:prstGeom>
          <a:solidFill>
            <a:srgbClr val="F5F5F5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0E73DFE-522E-E137-6072-1A58244612AF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9C61A8-6858-796E-BFEE-30BB7E877B9E}"/>
              </a:ext>
            </a:extLst>
          </p:cNvPr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PERSONAL LOCATION DATA</a:t>
            </a:r>
            <a:endParaRPr lang="en-US" sz="1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AEE606-9FEE-398D-9672-81EF25FE78A0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Ethics, Challenges &amp; Governance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992DBA-BB39-1CA0-2CA8-14BF72035957}"/>
              </a:ext>
            </a:extLst>
          </p:cNvPr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Based on: Royal Society &amp; British Academy</a:t>
            </a:r>
          </a:p>
          <a:p>
            <a:pPr marL="0" indent="0" algn="l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and Use: Governance in the 21st Century</a:t>
            </a:r>
          </a:p>
          <a:p>
            <a:pPr marL="0" indent="0" algn="l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Study 6 - Section 6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BDEFEF-7975-7391-B981-874BCC620A28}"/>
              </a:ext>
            </a:extLst>
          </p:cNvPr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Governance &amp; Ethics | Group 1</a:t>
            </a:r>
            <a:b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Lecturer: Vikas Sahni </a:t>
            </a:r>
            <a:b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Members: Prayas Sharma (24280585), Meenakshi (24235415), Anushya Selvaraju (24277410), Jeevanjot Singh (24231584), Kishore Ramesh (24236462) , Suriya Satishkumar (24243213)</a:t>
            </a:r>
          </a:p>
        </p:txBody>
      </p:sp>
    </p:spTree>
    <p:extLst>
      <p:ext uri="{BB962C8B-B14F-4D97-AF65-F5344CB8AC3E}">
        <p14:creationId xmlns:p14="http://schemas.microsoft.com/office/powerpoint/2010/main" val="165725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Agenda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83464" y="109728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9692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 &amp; Paper Overview</a:t>
            </a:r>
          </a:p>
        </p:txBody>
      </p:sp>
      <p:sp>
        <p:nvSpPr>
          <p:cNvPr id="8" name="Text 6"/>
          <p:cNvSpPr/>
          <p:nvPr/>
        </p:nvSpPr>
        <p:spPr>
          <a:xfrm>
            <a:off x="749808" y="1389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Who wrote it, in what context, and why it matters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3209544" y="109728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02</a:t>
            </a:r>
          </a:p>
        </p:txBody>
      </p:sp>
      <p:sp>
        <p:nvSpPr>
          <p:cNvPr id="12" name="Text 10"/>
          <p:cNvSpPr/>
          <p:nvPr/>
        </p:nvSpPr>
        <p:spPr>
          <a:xfrm>
            <a:off x="3675888" y="9692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Self-Tracking Modes</a:t>
            </a:r>
          </a:p>
        </p:txBody>
      </p:sp>
      <p:sp>
        <p:nvSpPr>
          <p:cNvPr id="13" name="Text 11"/>
          <p:cNvSpPr/>
          <p:nvPr/>
        </p:nvSpPr>
        <p:spPr>
          <a:xfrm>
            <a:off x="3675888" y="1389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Five categories of location tracking &amp; their implications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6117336" y="901739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6135624" y="109728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03</a:t>
            </a:r>
          </a:p>
        </p:txBody>
      </p:sp>
      <p:sp>
        <p:nvSpPr>
          <p:cNvPr id="17" name="Text 15"/>
          <p:cNvSpPr/>
          <p:nvPr/>
        </p:nvSpPr>
        <p:spPr>
          <a:xfrm>
            <a:off x="6601968" y="9692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Opportunities</a:t>
            </a:r>
          </a:p>
        </p:txBody>
      </p:sp>
      <p:sp>
        <p:nvSpPr>
          <p:cNvPr id="18" name="Text 16"/>
          <p:cNvSpPr/>
          <p:nvPr/>
        </p:nvSpPr>
        <p:spPr>
          <a:xfrm>
            <a:off x="6601968" y="1389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Evidence-based planning, smart cities &amp; data-driven services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9202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283464" y="210312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</a:t>
            </a:r>
          </a:p>
        </p:txBody>
      </p:sp>
      <p:sp>
        <p:nvSpPr>
          <p:cNvPr id="22" name="Text 20"/>
          <p:cNvSpPr/>
          <p:nvPr/>
        </p:nvSpPr>
        <p:spPr>
          <a:xfrm>
            <a:off x="749808" y="19751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Three Core Discussion Topics</a:t>
            </a:r>
          </a:p>
        </p:txBody>
      </p:sp>
      <p:sp>
        <p:nvSpPr>
          <p:cNvPr id="23" name="Text 21"/>
          <p:cNvSpPr/>
          <p:nvPr/>
        </p:nvSpPr>
        <p:spPr>
          <a:xfrm>
            <a:off x="7498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Re-identification, consent, and feedback effects / bias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19202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3200400" y="192024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3209544" y="210312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</a:t>
            </a:r>
          </a:p>
        </p:txBody>
      </p:sp>
      <p:sp>
        <p:nvSpPr>
          <p:cNvPr id="27" name="Text 25"/>
          <p:cNvSpPr/>
          <p:nvPr/>
        </p:nvSpPr>
        <p:spPr>
          <a:xfrm>
            <a:off x="3675888" y="19751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Governance Landscape</a:t>
            </a:r>
          </a:p>
        </p:txBody>
      </p:sp>
      <p:sp>
        <p:nvSpPr>
          <p:cNvPr id="28" name="Text 26"/>
          <p:cNvSpPr/>
          <p:nvPr/>
        </p:nvSpPr>
        <p:spPr>
          <a:xfrm>
            <a:off x="367588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GDPR, technical tools &amp; regulatory challenges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19202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6126480" y="192024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6135624" y="210312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06</a:t>
            </a:r>
          </a:p>
        </p:txBody>
      </p:sp>
      <p:sp>
        <p:nvSpPr>
          <p:cNvPr id="32" name="Text 30"/>
          <p:cNvSpPr/>
          <p:nvPr/>
        </p:nvSpPr>
        <p:spPr>
          <a:xfrm>
            <a:off x="6601968" y="19751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Solutions Overview</a:t>
            </a:r>
          </a:p>
        </p:txBody>
      </p:sp>
      <p:sp>
        <p:nvSpPr>
          <p:cNvPr id="33" name="Text 31"/>
          <p:cNvSpPr/>
          <p:nvPr/>
        </p:nvSpPr>
        <p:spPr>
          <a:xfrm>
            <a:off x="66019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Six proposed approaches mapped to each ethical challenge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92608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274320" y="292608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6" name="Text 34"/>
          <p:cNvSpPr/>
          <p:nvPr/>
        </p:nvSpPr>
        <p:spPr>
          <a:xfrm>
            <a:off x="283464" y="310896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07</a:t>
            </a:r>
          </a:p>
        </p:txBody>
      </p:sp>
      <p:sp>
        <p:nvSpPr>
          <p:cNvPr id="37" name="Text 35"/>
          <p:cNvSpPr/>
          <p:nvPr/>
        </p:nvSpPr>
        <p:spPr>
          <a:xfrm>
            <a:off x="749808" y="2980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Real-World Incidents</a:t>
            </a:r>
          </a:p>
        </p:txBody>
      </p:sp>
      <p:sp>
        <p:nvSpPr>
          <p:cNvPr id="38" name="Text 36"/>
          <p:cNvSpPr/>
          <p:nvPr/>
        </p:nvSpPr>
        <p:spPr>
          <a:xfrm>
            <a:off x="749808" y="3401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Waze, OkCupid, Strava heatmap &amp; Apple location scandals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292608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3200400" y="292608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1" name="Text 39"/>
          <p:cNvSpPr/>
          <p:nvPr/>
        </p:nvSpPr>
        <p:spPr>
          <a:xfrm>
            <a:off x="3209544" y="310896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08</a:t>
            </a:r>
          </a:p>
        </p:txBody>
      </p:sp>
      <p:sp>
        <p:nvSpPr>
          <p:cNvPr id="42" name="Text 40"/>
          <p:cNvSpPr/>
          <p:nvPr/>
        </p:nvSpPr>
        <p:spPr>
          <a:xfrm>
            <a:off x="3675888" y="2980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Ethical Framework</a:t>
            </a:r>
          </a:p>
        </p:txBody>
      </p:sp>
      <p:sp>
        <p:nvSpPr>
          <p:cNvPr id="43" name="Text 41"/>
          <p:cNvSpPr/>
          <p:nvPr/>
        </p:nvSpPr>
        <p:spPr>
          <a:xfrm>
            <a:off x="3675888" y="3401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Key tensions: public benefit vs individual privacy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292608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6126480" y="292608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/>
          <p:nvPr/>
        </p:nvSpPr>
        <p:spPr>
          <a:xfrm>
            <a:off x="6135624" y="310896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09</a:t>
            </a:r>
          </a:p>
        </p:txBody>
      </p:sp>
      <p:sp>
        <p:nvSpPr>
          <p:cNvPr id="47" name="Text 45"/>
          <p:cNvSpPr/>
          <p:nvPr/>
        </p:nvSpPr>
        <p:spPr>
          <a:xfrm>
            <a:off x="6601968" y="2980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Solutions Deep Dive</a:t>
            </a:r>
          </a:p>
        </p:txBody>
      </p:sp>
      <p:sp>
        <p:nvSpPr>
          <p:cNvPr id="48" name="Text 46"/>
          <p:cNvSpPr/>
          <p:nvPr/>
        </p:nvSpPr>
        <p:spPr>
          <a:xfrm>
            <a:off x="6601968" y="3401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Technical vs regulatory fixes - a comparison table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393192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274320" y="393192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1" name="Text 49"/>
          <p:cNvSpPr/>
          <p:nvPr/>
        </p:nvSpPr>
        <p:spPr>
          <a:xfrm>
            <a:off x="283464" y="411480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52" name="Text 50"/>
          <p:cNvSpPr/>
          <p:nvPr/>
        </p:nvSpPr>
        <p:spPr>
          <a:xfrm>
            <a:off x="749808" y="39867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Comparative Analysis</a:t>
            </a:r>
          </a:p>
        </p:txBody>
      </p:sp>
      <p:sp>
        <p:nvSpPr>
          <p:cNvPr id="53" name="Text 51"/>
          <p:cNvSpPr/>
          <p:nvPr/>
        </p:nvSpPr>
        <p:spPr>
          <a:xfrm>
            <a:off x="749808" y="44074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How industry, regulators, academia &amp; tech govern data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0" y="393192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5" name="Shape 53"/>
          <p:cNvSpPr/>
          <p:nvPr/>
        </p:nvSpPr>
        <p:spPr>
          <a:xfrm>
            <a:off x="3200400" y="393192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/>
          <p:nvPr/>
        </p:nvSpPr>
        <p:spPr>
          <a:xfrm>
            <a:off x="3209544" y="411480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sp>
        <p:nvSpPr>
          <p:cNvPr id="57" name="Text 55"/>
          <p:cNvSpPr/>
          <p:nvPr/>
        </p:nvSpPr>
        <p:spPr>
          <a:xfrm>
            <a:off x="3675888" y="39867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Study Analysis</a:t>
            </a:r>
          </a:p>
        </p:txBody>
      </p:sp>
      <p:sp>
        <p:nvSpPr>
          <p:cNvPr id="58" name="Text 56"/>
          <p:cNvSpPr/>
          <p:nvPr/>
        </p:nvSpPr>
        <p:spPr>
          <a:xfrm>
            <a:off x="3675888" y="44074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What was done right, wrong &amp; how it could be improved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26480" y="393192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0" name="Shape 58"/>
          <p:cNvSpPr/>
          <p:nvPr/>
        </p:nvSpPr>
        <p:spPr>
          <a:xfrm>
            <a:off x="6126480" y="3931920"/>
            <a:ext cx="411480" cy="8412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/>
          <p:nvPr/>
        </p:nvSpPr>
        <p:spPr>
          <a:xfrm>
            <a:off x="6135624" y="4114800"/>
            <a:ext cx="393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62" name="Text 60"/>
          <p:cNvSpPr/>
          <p:nvPr/>
        </p:nvSpPr>
        <p:spPr>
          <a:xfrm>
            <a:off x="6601968" y="39867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 &amp; Q&amp;A</a:t>
            </a:r>
          </a:p>
        </p:txBody>
      </p:sp>
      <p:sp>
        <p:nvSpPr>
          <p:cNvPr id="63" name="Text 61"/>
          <p:cNvSpPr/>
          <p:nvPr/>
        </p:nvSpPr>
        <p:spPr>
          <a:xfrm>
            <a:off x="6601968" y="44074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Scholarly response, key takeaways, open discussion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Who wrote it?</a:t>
            </a:r>
          </a:p>
        </p:txBody>
      </p:sp>
      <p:sp>
        <p:nvSpPr>
          <p:cNvPr id="7" name="Text 5"/>
          <p:cNvSpPr/>
          <p:nvPr/>
        </p:nvSpPr>
        <p:spPr>
          <a:xfrm>
            <a:off x="2468880" y="10515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Michael Veale (UCL), for the British Academy and Royal Society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When?</a:t>
            </a:r>
          </a:p>
        </p:txBody>
      </p:sp>
      <p:sp>
        <p:nvSpPr>
          <p:cNvPr id="10" name="Text 8"/>
          <p:cNvSpPr/>
          <p:nvPr/>
        </p:nvSpPr>
        <p:spPr>
          <a:xfrm>
            <a:off x="2468880" y="18562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2017 - before GDPR came into force in Europe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23744"/>
            <a:ext cx="859536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365760" y="2660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problem?</a:t>
            </a:r>
          </a:p>
        </p:txBody>
      </p:sp>
      <p:sp>
        <p:nvSpPr>
          <p:cNvPr id="13" name="Text 11"/>
          <p:cNvSpPr/>
          <p:nvPr/>
        </p:nvSpPr>
        <p:spPr>
          <a:xfrm>
            <a:off x="2468880" y="26609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Location data is very useful, but it creates big privacy risks that are not well governed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28416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365760" y="346557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does it matter?</a:t>
            </a:r>
          </a:p>
        </p:txBody>
      </p:sp>
      <p:sp>
        <p:nvSpPr>
          <p:cNvPr id="16" name="Text 14"/>
          <p:cNvSpPr/>
          <p:nvPr/>
        </p:nvSpPr>
        <p:spPr>
          <a:xfrm>
            <a:off x="2468880" y="346557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Smartphones, apps and fitness trackers collect location data from millions of people every 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365760" y="4270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 question?</a:t>
            </a:r>
          </a:p>
        </p:txBody>
      </p:sp>
      <p:sp>
        <p:nvSpPr>
          <p:cNvPr id="19" name="Text 17"/>
          <p:cNvSpPr/>
          <p:nvPr/>
        </p:nvSpPr>
        <p:spPr>
          <a:xfrm>
            <a:off x="2468880" y="42702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How do we get the benefits of location data without harming people's privacy?</a:t>
            </a:r>
            <a:endParaRPr lang="en-US" sz="1100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A05DD2A1-AA12-EC9E-C660-991E3E60F80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365760" y="140677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is This Paper About?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8FA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320040" y="1124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Private</a:t>
            </a:r>
          </a:p>
        </p:txBody>
      </p:sp>
      <p:sp>
        <p:nvSpPr>
          <p:cNvPr id="7" name="Text 5"/>
          <p:cNvSpPr/>
          <p:nvPr/>
        </p:nvSpPr>
        <p:spPr>
          <a:xfrm>
            <a:off x="1600200" y="11247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</a:rPr>
              <a:t>Self-chosen tracking for personal reflection (e.g. fitness wearables)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8FA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320040" y="19293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Pushed</a:t>
            </a:r>
          </a:p>
        </p:txBody>
      </p:sp>
      <p:sp>
        <p:nvSpPr>
          <p:cNvPr id="11" name="Text 9"/>
          <p:cNvSpPr/>
          <p:nvPr/>
        </p:nvSpPr>
        <p:spPr>
          <a:xfrm>
            <a:off x="1600200" y="192938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</a:rPr>
              <a:t>Incentivised by another actor - e.g. insurance telematics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694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8FA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74320" y="2569464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320040" y="27340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Imposed</a:t>
            </a:r>
          </a:p>
        </p:txBody>
      </p:sp>
      <p:sp>
        <p:nvSpPr>
          <p:cNvPr id="15" name="Text 13"/>
          <p:cNvSpPr/>
          <p:nvPr/>
        </p:nvSpPr>
        <p:spPr>
          <a:xfrm>
            <a:off x="1600200" y="27340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Coercively enforced - user must accept to access the 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8FA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274320" y="3374136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320040" y="3538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Communal</a:t>
            </a:r>
          </a:p>
        </p:txBody>
      </p:sp>
      <p:sp>
        <p:nvSpPr>
          <p:cNvPr id="19" name="Text 17"/>
          <p:cNvSpPr/>
          <p:nvPr/>
        </p:nvSpPr>
        <p:spPr>
          <a:xfrm>
            <a:off x="1600200" y="35387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</a:rPr>
              <a:t>Pooled self-tracking data e.g. </a:t>
            </a:r>
            <a:r>
              <a:rPr lang="en-US" sz="1200" dirty="0" err="1">
                <a:solidFill>
                  <a:srgbClr val="1E293B"/>
                </a:solidFill>
              </a:rPr>
              <a:t>CleanSpace</a:t>
            </a:r>
            <a:r>
              <a:rPr lang="en-US" sz="1200" dirty="0">
                <a:solidFill>
                  <a:srgbClr val="1E293B"/>
                </a:solidFill>
              </a:rPr>
              <a:t> air quality tags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17880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8FA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320040" y="4343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Exploited</a:t>
            </a:r>
          </a:p>
        </p:txBody>
      </p:sp>
      <p:sp>
        <p:nvSpPr>
          <p:cNvPr id="23" name="Text 21"/>
          <p:cNvSpPr/>
          <p:nvPr/>
        </p:nvSpPr>
        <p:spPr>
          <a:xfrm>
            <a:off x="16002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</a:rPr>
              <a:t>Self-tracking data used commercially - e.g. </a:t>
            </a:r>
            <a:r>
              <a:rPr lang="en-US" sz="1200" dirty="0" err="1">
                <a:solidFill>
                  <a:srgbClr val="1E293B"/>
                </a:solidFill>
              </a:rPr>
              <a:t>Pokemon</a:t>
            </a:r>
            <a:r>
              <a:rPr lang="en-US" sz="1200" dirty="0">
                <a:solidFill>
                  <a:srgbClr val="1E293B"/>
                </a:solidFill>
              </a:rPr>
              <a:t> Go location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Lupton (2014), cited in Royal Society Case Studies</a:t>
            </a:r>
            <a:endParaRPr lang="en-US" sz="90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22B299CA-97E7-85C7-81DB-05E35C77770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Five Modes of Location Self-Tracking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Opportunities: Using Location Data for Good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oundRect">
            <a:avLst>
              <a:gd name="adj" fmla="val 2326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Evidence-Based Urban Planning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Strava Metro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7M+ cycle journeys uploaded in London (2015-16). Sold to local authorities for planning.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Uber Movement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Free summary journey data for city planners.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Waze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Collaborates with cities for road planning &amp; traffic management.</a:t>
            </a:r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3931920"/>
          </a:xfrm>
          <a:prstGeom prst="roundRect">
            <a:avLst>
              <a:gd name="adj" fmla="val 2326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Broader Benefits</a:t>
            </a:r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Cheaper &amp; richer data than traditional volunteer counts or surveys.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Transferable methodologies for regions with low analytical capacity.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Public health monitoring of elderly individuals to extend independent living.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Smart city infrastructure optimisation through real-time sensor feeds.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74320" y="914400"/>
            <a:ext cx="2743200" cy="2560320"/>
          </a:xfrm>
          <a:prstGeom prst="roundRect">
            <a:avLst>
              <a:gd name="adj" fmla="val 4286"/>
            </a:avLst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95%</a:t>
            </a:r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5577840" cy="256032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347472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Can Be Inferred from Location Data?</a:t>
            </a:r>
          </a:p>
        </p:txBody>
      </p:sp>
      <p:sp>
        <p:nvSpPr>
          <p:cNvPr id="9" name="Text 7"/>
          <p:cNvSpPr/>
          <p:nvPr/>
        </p:nvSpPr>
        <p:spPr>
          <a:xfrm>
            <a:off x="3474720" y="141732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Identity: Home/work pairs are often sufficient to uniquely identify a person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Behaviour: Spending patterns, education, leisure, transport mode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Income: Inferred from location clusters and areas visited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Personality: Machine learning predicts personality from mobility patterns
</a:t>
            </a:r>
          </a:p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location: Predictability ceiling of 88%</a:t>
            </a:r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Paper Example: </a:t>
            </a:r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Montjoye et al. (2013) showed that even making datasets significantly coarser barely reduces re-identifiability - and for home/work pairs, the risk may be even higher. Open data (social media, landmarks, news) creates easy auxiliary linkage without specialist resources.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C8CB7E7-3EDA-E16A-43CD-25287750E9CA}"/>
              </a:ext>
            </a:extLst>
          </p:cNvPr>
          <p:cNvSpPr/>
          <p:nvPr/>
        </p:nvSpPr>
        <p:spPr>
          <a:xfrm>
            <a:off x="182880" y="21945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people can be identified</a:t>
            </a:r>
          </a:p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from just 4 location points</a:t>
            </a:r>
          </a:p>
          <a:p>
            <a:pPr marL="0" indent="0" algn="ctr">
              <a:buNone/>
            </a:pPr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(De Montjoye et al., 2013)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D337785E-BDB7-3090-13DE-2EFC8DE319B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74320" y="228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Issue 1: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Location Can Reveal Who You Are</a:t>
            </a: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'Consent' is often not real, here is why: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6583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You do not always know it is happening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Bluetooth, WiFi and ultrasound signals can track you without using GPS - even if location is 'off' on your phone.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You are financially forced into it</a:t>
            </a:r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If normal car insurance costs too much, you have to accept a tracking box to get a cheaper price. That is not a free choice.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34056"/>
            <a:ext cx="8595360" cy="6583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11480" y="27797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Others consent for you</a:t>
            </a:r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Someone travelling with you who shares their location can reveal your location too- even if you said no.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483864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Public != Consented</a:t>
            </a:r>
          </a:p>
        </p:txBody>
      </p:sp>
      <p:sp>
        <p:nvSpPr>
          <p:cNvPr id="17" name="Text 15"/>
          <p:cNvSpPr/>
          <p:nvPr/>
        </p:nvSpPr>
        <p:spPr>
          <a:xfrm>
            <a:off x="411480" y="38221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In 2016, a student released 70,000 OkCupid profiles scraped from the public site. Users felt this was a privacy breach, even though the data was 'public'.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233672"/>
            <a:ext cx="8595360" cy="6583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411480" y="42793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Elderly people cannot truly consent</a:t>
            </a:r>
          </a:p>
        </p:txBody>
      </p:sp>
      <p:sp>
        <p:nvSpPr>
          <p:cNvPr id="20" name="Text 18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Health monitoring apps for older people often involve people who cannot fully understand what they are agreeing to.</a:t>
            </a:r>
            <a:endParaRPr lang="en-US" sz="100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9EFFC675-D5E8-8A9A-97BF-72A10CB5044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74320" y="160723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Issue 2: People Do Not Really Consent to Location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Strava (Cycling App) Bias: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90% of Strava users are male- so planning based on Strava data ignores female cyclists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It is mostly used by sports cyclists, not everyday commuters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85416"/>
            <a:ext cx="859536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Rich and safe areas have more data- poorer areas are underrepresented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660904"/>
            <a:ext cx="859536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11480" y="26883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Problem: if a council uses this data, they may build bike lanes in already well-served areas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1501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Waze (Navigation App) Problems:</a:t>
            </a:r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411480" y="35753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LAPD warned Google that Waze let criminals track police- one case linked to officer killings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859536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222222"/>
                </a:solidFill>
              </a:rPr>
              <a:t>• It routes traffic through quiet streets, causing noise and danger </a:t>
            </a:r>
            <a:r>
              <a:rPr lang="en-IE" sz="1050" dirty="0"/>
              <a:t>for local residents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498848"/>
            <a:ext cx="859536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11480" y="45262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Fake traffic reports can be submitted to reroute drivers- easy to abuse</a:t>
            </a:r>
            <a:endParaRPr lang="en-US" sz="105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7C6E8BE0-B98F-6142-F328-95E232BDC18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74320" y="14173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Issue 3: Location Data is Biased and Can Cause Harm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C858-9F79-6384-24E3-6D2A5B25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F0E2DCC8-A768-E766-959B-55EB39BA4C81}"/>
              </a:ext>
            </a:extLst>
          </p:cNvPr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233798-6879-A961-7B16-63F59E25F308}"/>
              </a:ext>
            </a:extLst>
          </p:cNvPr>
          <p:cNvSpPr/>
          <p:nvPr/>
        </p:nvSpPr>
        <p:spPr>
          <a:xfrm>
            <a:off x="36576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GDPR (2018)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7B75F5-D84A-EB30-2BCE-E024B83AC0E6}"/>
              </a:ext>
            </a:extLst>
          </p:cNvPr>
          <p:cNvSpPr/>
          <p:nvPr/>
        </p:nvSpPr>
        <p:spPr>
          <a:xfrm>
            <a:off x="2468880" y="10058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EU law that classes location data as personal data. Gives people the right to access, delete and move their data. But there are loopholes.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1DC5AB-3DF2-A565-A7C0-3127E5DC822B}"/>
              </a:ext>
            </a:extLst>
          </p:cNvPr>
          <p:cNvSpPr/>
          <p:nvPr/>
        </p:nvSpPr>
        <p:spPr>
          <a:xfrm>
            <a:off x="274320" y="1709928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F0D7EA-E5AE-862E-0D0B-D25656406364}"/>
              </a:ext>
            </a:extLst>
          </p:cNvPr>
          <p:cNvSpPr/>
          <p:nvPr/>
        </p:nvSpPr>
        <p:spPr>
          <a:xfrm>
            <a:off x="365760" y="18470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GDPR Loophole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A47933-2820-4C02-F424-0EDA2C65830C}"/>
              </a:ext>
            </a:extLst>
          </p:cNvPr>
          <p:cNvSpPr/>
          <p:nvPr/>
        </p:nvSpPr>
        <p:spPr>
          <a:xfrm>
            <a:off x="2468880" y="180136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Apps can collect location data for health purposes with fewer restrictions. Lifestyle apps abuse this to gather more data than they need.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9DE36F-F118-2BAE-D7D3-1D362D83A06B}"/>
              </a:ext>
            </a:extLst>
          </p:cNvPr>
          <p:cNvSpPr/>
          <p:nvPr/>
        </p:nvSpPr>
        <p:spPr>
          <a:xfrm>
            <a:off x="274320" y="2505456"/>
            <a:ext cx="859536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52A60E-0ABA-8193-C01E-ADB88E324362}"/>
              </a:ext>
            </a:extLst>
          </p:cNvPr>
          <p:cNvSpPr/>
          <p:nvPr/>
        </p:nvSpPr>
        <p:spPr>
          <a:xfrm>
            <a:off x="365760" y="26426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 Tools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F5E3CF4-8813-71B9-E623-1602E37B4C67}"/>
              </a:ext>
            </a:extLst>
          </p:cNvPr>
          <p:cNvSpPr/>
          <p:nvPr/>
        </p:nvSpPr>
        <p:spPr>
          <a:xfrm>
            <a:off x="2468880" y="25968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GPS blockers, RFID bags, phone settings. These help but do not always work, and many people do not know about them.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ED3067D-2DA7-E946-F407-0693F635FE78}"/>
              </a:ext>
            </a:extLst>
          </p:cNvPr>
          <p:cNvSpPr/>
          <p:nvPr/>
        </p:nvSpPr>
        <p:spPr>
          <a:xfrm>
            <a:off x="274320" y="3300984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DE9344-3700-4CFC-1DB4-95C9346A591C}"/>
              </a:ext>
            </a:extLst>
          </p:cNvPr>
          <p:cNvSpPr/>
          <p:nvPr/>
        </p:nvSpPr>
        <p:spPr>
          <a:xfrm>
            <a:off x="365760" y="34381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Self-Regulation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D0904F-B876-84E2-DBD1-2ABB883BA17F}"/>
              </a:ext>
            </a:extLst>
          </p:cNvPr>
          <p:cNvSpPr/>
          <p:nvPr/>
        </p:nvSpPr>
        <p:spPr>
          <a:xfrm>
            <a:off x="2468880" y="33924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Strava adds demographic notes to its data. Uber shares journey summaries for free. Waze partners with cities. All of this is voluntary, not required by law.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1554D88-BD4D-25FB-F8A3-25A5C379C388}"/>
              </a:ext>
            </a:extLst>
          </p:cNvPr>
          <p:cNvSpPr/>
          <p:nvPr/>
        </p:nvSpPr>
        <p:spPr>
          <a:xfrm>
            <a:off x="274320" y="4096512"/>
            <a:ext cx="859536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66C30AA-DDD7-90B7-3FB1-C4BEE63093B2}"/>
              </a:ext>
            </a:extLst>
          </p:cNvPr>
          <p:cNvSpPr/>
          <p:nvPr/>
        </p:nvSpPr>
        <p:spPr>
          <a:xfrm>
            <a:off x="365760" y="4233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Gap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F3328C0-ABFC-4E80-7B13-718BF0C6F4AB}"/>
              </a:ext>
            </a:extLst>
          </p:cNvPr>
          <p:cNvSpPr/>
          <p:nvPr/>
        </p:nvSpPr>
        <p:spPr>
          <a:xfrm>
            <a:off x="2468880" y="41879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There is no sector specific law for location data (unlike smart meters which have a detailed code). Companies mostly decide their own rules.</a:t>
            </a:r>
            <a:endParaRPr lang="en-US" sz="105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5063BBB4-9438-9F32-42AA-63D97DECD1D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D07812-0691-BC3A-49EB-CB39436A75C6}"/>
              </a:ext>
            </a:extLst>
          </p:cNvPr>
          <p:cNvSpPr/>
          <p:nvPr/>
        </p:nvSpPr>
        <p:spPr>
          <a:xfrm>
            <a:off x="182880" y="1600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is Location Data Governed Today?</a:t>
            </a:r>
          </a:p>
        </p:txBody>
      </p:sp>
    </p:spTree>
    <p:extLst>
      <p:ext uri="{BB962C8B-B14F-4D97-AF65-F5344CB8AC3E}">
        <p14:creationId xmlns:p14="http://schemas.microsoft.com/office/powerpoint/2010/main" val="303887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74320" y="1170432"/>
            <a:ext cx="859536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5720" cy="5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Re-identification</a:t>
            </a:r>
          </a:p>
        </p:txBody>
      </p:sp>
      <p:sp>
        <p:nvSpPr>
          <p:cNvPr id="9" name="Text 7"/>
          <p:cNvSpPr/>
          <p:nvPr/>
        </p:nvSpPr>
        <p:spPr>
          <a:xfrm>
            <a:off x="2423160" y="1243584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Add noise to datasets before sharing (differential privacy). Do a privacy impact check before publishing location insights.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45720" cy="5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11480" y="19110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Forced consent</a:t>
            </a:r>
          </a:p>
        </p:txBody>
      </p:sp>
      <p:sp>
        <p:nvSpPr>
          <p:cNvPr id="13" name="Text 11"/>
          <p:cNvSpPr/>
          <p:nvPr/>
        </p:nvSpPr>
        <p:spPr>
          <a:xfrm>
            <a:off x="2423160" y="1874520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Cap how much cheaper a tracked insurance plan can be vs a normal one. Limit financial coercion.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859536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45720" cy="5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Hidden tracking</a:t>
            </a:r>
          </a:p>
        </p:txBody>
      </p:sp>
      <p:sp>
        <p:nvSpPr>
          <p:cNvPr id="17" name="Text 15"/>
          <p:cNvSpPr/>
          <p:nvPr/>
        </p:nvSpPr>
        <p:spPr>
          <a:xfrm>
            <a:off x="2423160" y="2505456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Require apps to show a clear alert whenever your location is being sent. Make it visible, not buried in settings.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5720" cy="5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11480" y="3172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Biased data</a:t>
            </a:r>
          </a:p>
        </p:txBody>
      </p:sp>
      <p:sp>
        <p:nvSpPr>
          <p:cNvPr id="21" name="Text 19"/>
          <p:cNvSpPr/>
          <p:nvPr/>
        </p:nvSpPr>
        <p:spPr>
          <a:xfrm>
            <a:off x="2423160" y="3136392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Make companies publish who uses their platform (age, gender). Fund alternative datasets from under-represented groups.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694176"/>
            <a:ext cx="859536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274320" y="3694176"/>
            <a:ext cx="45720" cy="5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411480" y="38039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Waze-type risks</a:t>
            </a:r>
          </a:p>
        </p:txBody>
      </p:sp>
      <p:sp>
        <p:nvSpPr>
          <p:cNvPr id="25" name="Text 23"/>
          <p:cNvSpPr/>
          <p:nvPr/>
        </p:nvSpPr>
        <p:spPr>
          <a:xfrm>
            <a:off x="2423160" y="3767328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Require routing apps to do independent safety checks before launching in a city. Give councils the right to request changes.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325112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Shape 25"/>
          <p:cNvSpPr/>
          <p:nvPr/>
        </p:nvSpPr>
        <p:spPr>
          <a:xfrm>
            <a:off x="274320" y="4325112"/>
            <a:ext cx="45720" cy="5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/>
          <p:nvPr/>
        </p:nvSpPr>
        <p:spPr>
          <a:xfrm>
            <a:off x="41148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Regulatory gap</a:t>
            </a:r>
          </a:p>
        </p:txBody>
      </p:sp>
      <p:sp>
        <p:nvSpPr>
          <p:cNvPr id="29" name="Text 27"/>
          <p:cNvSpPr/>
          <p:nvPr/>
        </p:nvSpPr>
        <p:spPr>
          <a:xfrm>
            <a:off x="2423160" y="4398264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Create a Location Data Code of Practice similar to the Smart Energy Code for smart meters with clear rules for all companies.</a:t>
            </a:r>
            <a:endParaRPr lang="en-US" sz="1050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157AF53A-8209-6875-8A5A-CD3AEF4E1DB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320040" y="1600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Solutions: How Can We Fix These Problems?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82880" y="960120"/>
            <a:ext cx="2834640" cy="3931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2834640" cy="384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Done Right </a:t>
            </a:r>
          </a:p>
        </p:txBody>
      </p:sp>
      <p:sp>
        <p:nvSpPr>
          <p:cNvPr id="8" name="Text 6"/>
          <p:cNvSpPr/>
          <p:nvPr/>
        </p:nvSpPr>
        <p:spPr>
          <a:xfrm>
            <a:off x="292608" y="144475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Strava adds gender notes to data so councils know it is biased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22199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Uber gives free data to planners through Uber Movement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299923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Waze works with cities to improve roads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377647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GDPR made location data legally personal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960120"/>
            <a:ext cx="2834640" cy="3931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108960" y="960120"/>
            <a:ext cx="2834640" cy="384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3200400" y="9875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Done Wrong </a:t>
            </a:r>
          </a:p>
        </p:txBody>
      </p:sp>
      <p:sp>
        <p:nvSpPr>
          <p:cNvPr id="15" name="Text 13"/>
          <p:cNvSpPr/>
          <p:nvPr/>
        </p:nvSpPr>
        <p:spPr>
          <a:xfrm>
            <a:off x="3218688" y="144475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Companies do not tell you what they infer from your location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18688" y="222199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Consent is a tick-box not real informed agreement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8688" y="299923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The health purpose loophole in GDPR is widely abused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18688" y="377647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Demographic metadata from apps is optional, not required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834640" cy="3931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6035040" y="960120"/>
            <a:ext cx="2834640" cy="384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6126480" y="9875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Could Improve </a:t>
            </a:r>
          </a:p>
        </p:txBody>
      </p:sp>
      <p:sp>
        <p:nvSpPr>
          <p:cNvPr id="22" name="Text 20"/>
          <p:cNvSpPr/>
          <p:nvPr/>
        </p:nvSpPr>
        <p:spPr>
          <a:xfrm>
            <a:off x="6144768" y="144475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Mandatory bias reports before councils use commercial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44768" y="222199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Safety audits for navigation apps like Waze and Google Maps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299923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Extend GDPR portability to include inferences, not just raw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3776472"/>
            <a:ext cx="2624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A Location Data Code of Practice (like Smart Energy Code)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65CB048F-A0E8-1CF8-8FF0-B2BBF408395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28600" y="186397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Study Analysis: What Was Done Right and Wrong?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74320" y="914400"/>
            <a:ext cx="4160520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Waze &amp; LAPD (2015)</a:t>
            </a:r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Waze showed where police officers were. A gunman used this to track and kill two NYPD officers. LAPD wrote to Google asking them to remove the feature.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3474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818888" y="950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OkCupid Data (2016)</a:t>
            </a:r>
          </a:p>
        </p:txBody>
      </p:sp>
      <p:sp>
        <p:nvSpPr>
          <p:cNvPr id="12" name="Text 10"/>
          <p:cNvSpPr/>
          <p:nvPr/>
        </p:nvSpPr>
        <p:spPr>
          <a:xfrm>
            <a:off x="4818888" y="135331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A researcher scraped 70,000 dating profiles including location data and published them online. Users had not agreed to this, even though the profiles were public.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60520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3474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384048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Strava Military Map (2018)</a:t>
            </a:r>
          </a:p>
        </p:txBody>
      </p:sp>
      <p:sp>
        <p:nvSpPr>
          <p:cNvPr id="16" name="Text 14"/>
          <p:cNvSpPr/>
          <p:nvPr/>
        </p:nvSpPr>
        <p:spPr>
          <a:xfrm>
            <a:off x="384048" y="336499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Strava published a global heatmap of workouts. It accidentally showed the patrol routes of secret US military bases in Syria and Afghanistan.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60520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60520" cy="3474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4818888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Apple &amp; Google (2011)</a:t>
            </a:r>
          </a:p>
        </p:txBody>
      </p:sp>
      <p:sp>
        <p:nvSpPr>
          <p:cNvPr id="20" name="Text 18"/>
          <p:cNvSpPr/>
          <p:nvPr/>
        </p:nvSpPr>
        <p:spPr>
          <a:xfrm>
            <a:off x="4818888" y="336499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Media found that iPhones and Android phones were secretly logging your location even with GPS turned off. This led to investigations in the US Congress.</a:t>
            </a:r>
            <a:endParaRPr lang="en-US" sz="105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496074B9-FCEF-19B9-BE38-5E075459D52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137160" y="15087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World Examples of Location Data Going Wrong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Ethical Framework: Key Tensions in Location Data</a:t>
            </a:r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Public Benefit</a:t>
            </a:r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Evidence-based planning, smart cities, emergency response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23317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365760" y="2404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Commercial Value</a:t>
            </a:r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Revenue from data sales, targeted services, advertising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365760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365760" y="3730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Service Quality</a:t>
            </a:r>
          </a:p>
        </p:txBody>
      </p:sp>
      <p:sp>
        <p:nvSpPr>
          <p:cNvPr id="12" name="Text 10"/>
          <p:cNvSpPr/>
          <p:nvPr/>
        </p:nvSpPr>
        <p:spPr>
          <a:xfrm>
            <a:off x="365760" y="4114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Better routing, personalised recommendations, efficiency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960120"/>
            <a:ext cx="1645920" cy="3931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374904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TENSION</a:t>
            </a:r>
            <a:endParaRPr 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23560" y="100584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576072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Individual Privacy</a:t>
            </a:r>
          </a:p>
        </p:txBody>
      </p:sp>
      <p:sp>
        <p:nvSpPr>
          <p:cNvPr id="20" name="Text 18"/>
          <p:cNvSpPr/>
          <p:nvPr/>
        </p:nvSpPr>
        <p:spPr>
          <a:xfrm>
            <a:off x="5760720" y="1463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Re-identification, inferred attributes, surveillance risk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23317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5760720" y="2404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 Imbalance</a:t>
            </a:r>
          </a:p>
        </p:txBody>
      </p:sp>
      <p:sp>
        <p:nvSpPr>
          <p:cNvPr id="23" name="Text 21"/>
          <p:cNvSpPr/>
          <p:nvPr/>
        </p:nvSpPr>
        <p:spPr>
          <a:xfrm>
            <a:off x="5760720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Individuals cannot meaningfully audit what is inferred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365760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5760720" y="3730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Systemic Bias</a:t>
            </a:r>
          </a:p>
        </p:txBody>
      </p:sp>
      <p:sp>
        <p:nvSpPr>
          <p:cNvPr id="26" name="Text 24"/>
          <p:cNvSpPr/>
          <p:nvPr/>
        </p:nvSpPr>
        <p:spPr>
          <a:xfrm>
            <a:off x="5760720" y="4114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Datasets skew wealthy, male, tech-savvy demographics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914400"/>
            <a:ext cx="2743200" cy="36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Challenge</a:t>
            </a:r>
          </a:p>
        </p:txBody>
      </p:sp>
      <p:sp>
        <p:nvSpPr>
          <p:cNvPr id="6" name="Shape 4"/>
          <p:cNvSpPr/>
          <p:nvPr/>
        </p:nvSpPr>
        <p:spPr>
          <a:xfrm>
            <a:off x="3154680" y="914400"/>
            <a:ext cx="2743200" cy="36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31546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 Fix</a:t>
            </a:r>
          </a:p>
        </p:txBody>
      </p:sp>
      <p:sp>
        <p:nvSpPr>
          <p:cNvPr id="8" name="Shape 6"/>
          <p:cNvSpPr/>
          <p:nvPr/>
        </p:nvSpPr>
        <p:spPr>
          <a:xfrm>
            <a:off x="6080760" y="914400"/>
            <a:ext cx="2834640" cy="365760"/>
          </a:xfrm>
          <a:prstGeom prst="rect">
            <a:avLst/>
          </a:prstGeom>
          <a:solidFill>
            <a:srgbClr val="0D3349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6080760" y="914400"/>
            <a:ext cx="2834640" cy="36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Policy / Regulatory Fix</a:t>
            </a:r>
          </a:p>
        </p:txBody>
      </p:sp>
      <p:sp>
        <p:nvSpPr>
          <p:cNvPr id="10" name="Shape 8"/>
          <p:cNvSpPr/>
          <p:nvPr/>
        </p:nvSpPr>
        <p:spPr>
          <a:xfrm>
            <a:off x="228600" y="1371600"/>
            <a:ext cx="8686800" cy="7132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45720" cy="7132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32004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Re-identification</a:t>
            </a:r>
          </a:p>
        </p:txBody>
      </p:sp>
      <p:sp>
        <p:nvSpPr>
          <p:cNvPr id="13" name="Text 11"/>
          <p:cNvSpPr/>
          <p:nvPr/>
        </p:nvSpPr>
        <p:spPr>
          <a:xfrm>
            <a:off x="3154680" y="1444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Differential privacy / noise injection in published datasets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80760" y="144475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Mandate DPIAs before releasing aggregated location insights publicly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21408"/>
            <a:ext cx="868680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228600" y="2121408"/>
            <a:ext cx="45720" cy="7132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320040" y="2258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Coercive consent</a:t>
            </a:r>
          </a:p>
        </p:txBody>
      </p:sp>
      <p:sp>
        <p:nvSpPr>
          <p:cNvPr id="18" name="Text 16"/>
          <p:cNvSpPr/>
          <p:nvPr/>
        </p:nvSpPr>
        <p:spPr>
          <a:xfrm>
            <a:off x="3154680" y="2194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Layered consent UIs with clear opt-out at each data use level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21945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Regulate 'pushed' tracking: cap price difference vs non-tracked plans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71216"/>
            <a:ext cx="8686800" cy="7132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228600" y="2871216"/>
            <a:ext cx="45720" cy="7132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320040" y="30083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Hidden collection</a:t>
            </a:r>
          </a:p>
        </p:txBody>
      </p:sp>
      <p:sp>
        <p:nvSpPr>
          <p:cNvPr id="23" name="Text 21"/>
          <p:cNvSpPr/>
          <p:nvPr/>
        </p:nvSpPr>
        <p:spPr>
          <a:xfrm>
            <a:off x="3154680" y="29443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OS-level permission dashboards showing live data flows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29443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Require in-app disclosure whenever location is actively transmitted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621024"/>
            <a:ext cx="868680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228600" y="3621024"/>
            <a:ext cx="45720" cy="7132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320040" y="37581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Demographic bias</a:t>
            </a:r>
          </a:p>
        </p:txBody>
      </p:sp>
      <p:sp>
        <p:nvSpPr>
          <p:cNvPr id="28" name="Text 26"/>
          <p:cNvSpPr/>
          <p:nvPr/>
        </p:nvSpPr>
        <p:spPr>
          <a:xfrm>
            <a:off x="3154680" y="36941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Weighted sampling &amp; synthetic data to fill demographic gaps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Mandate demographic metadata disclosure for public-sector data purchases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370832"/>
            <a:ext cx="8686800" cy="7132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228600" y="4370832"/>
            <a:ext cx="45720" cy="7132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/>
          <p:nvPr/>
        </p:nvSpPr>
        <p:spPr>
          <a:xfrm>
            <a:off x="320040" y="4507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 effects</a:t>
            </a:r>
          </a:p>
        </p:txBody>
      </p:sp>
      <p:sp>
        <p:nvSpPr>
          <p:cNvPr id="33" name="Text 31"/>
          <p:cNvSpPr/>
          <p:nvPr/>
        </p:nvSpPr>
        <p:spPr>
          <a:xfrm>
            <a:off x="3154680" y="44439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Simulation testing before deployment; red-team routing algorithms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444398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Independent safety audits for navigation platforms; city veto rights</a:t>
            </a:r>
            <a:endParaRPr lang="en-US" sz="95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9E269F05-9758-69D1-10B3-336A355D94B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168812" y="8053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Solutions: Technical &amp; Regulatory Approaches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10058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4160520" cy="18288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Industry (Self-Regulation)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Strava: demographic metadata add-on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Uber Movement: free planning data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Waze: city partnerships</a:t>
            </a:r>
            <a:endParaRPr lang="en-US" sz="1000" dirty="0"/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1E293B"/>
                </a:solidFill>
              </a:rPr>
              <a:t> All voluntary, patchy, incentive-driven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4663440" y="1207008"/>
            <a:ext cx="4160520" cy="18288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Regulators (GDPR / ICO)</a:t>
            </a:r>
          </a:p>
        </p:txBody>
      </p:sp>
      <p:sp>
        <p:nvSpPr>
          <p:cNvPr id="13" name="Text 11"/>
          <p:cNvSpPr/>
          <p:nvPr/>
        </p:nvSpPr>
        <p:spPr>
          <a:xfrm>
            <a:off x="4800600" y="1481328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Location = personal data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Purpose limitation principle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Right to erasure &amp; portability</a:t>
            </a:r>
            <a:endParaRPr lang="en-US" sz="1000" dirty="0"/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1E293B"/>
                </a:solidFill>
              </a:rPr>
              <a:t> 'Health purpose' loophole unresolved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0632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228600" y="306324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228600" y="3264408"/>
            <a:ext cx="4160520" cy="18288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Civil Society &amp; Academia</a:t>
            </a:r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 Montjoye: re-identification proofs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Crawford: hidden bias in big data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Nissenbaum: contextual integrity</a:t>
            </a:r>
            <a:endParaRPr lang="en-US" sz="1000" dirty="0"/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1E293B"/>
                </a:solidFill>
              </a:rPr>
              <a:t> Research policy pipeline is slow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4663440" y="3264408"/>
            <a:ext cx="4160520" cy="18288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4800600" y="31089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 Community</a:t>
            </a:r>
          </a:p>
        </p:txBody>
      </p:sp>
      <p:sp>
        <p:nvSpPr>
          <p:cNvPr id="23" name="Text 21"/>
          <p:cNvSpPr/>
          <p:nvPr/>
        </p:nvSpPr>
        <p:spPr>
          <a:xfrm>
            <a:off x="4800600" y="3538728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Differential privacy tools (Apple, Google)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RFID blockers / GPS spoofing layers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Privacy-preserving city APIs</a:t>
            </a:r>
            <a:endParaRPr lang="en-US" sz="1000" dirty="0"/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1E293B"/>
                </a:solidFill>
              </a:rPr>
              <a:t> Adoption is optional, not mandated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511E8D60-3A8F-D99F-3C75-81A2D1DDC40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2860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Comparative Analysis: How Different Actors Govern Location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84124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The Royal Society paper says the biggest risks from location data are NOT from hackers they come from normal, everyday data collection by companies that slowly builds up a detailed picture of your life without you realising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160520" cy="1234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160520" cy="4572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Governance must be active</a:t>
            </a:r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Waiting for GDPR to do all the work is not enough. A specific code for location data is needed.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160520" cy="1234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160520" cy="4572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Consent is broken</a:t>
            </a:r>
          </a:p>
        </p:txBody>
      </p:sp>
      <p:sp>
        <p:nvSpPr>
          <p:cNvPr id="13" name="Text 11"/>
          <p:cNvSpPr/>
          <p:nvPr/>
        </p:nvSpPr>
        <p:spPr>
          <a:xfrm>
            <a:off x="4800600" y="228600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People are financially pushed into tracking. Third parties can expose your location. This needs regulation.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160520" cy="1234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160520" cy="4572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Bias is a governance issue</a:t>
            </a:r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If councils make decisions based on biased apps like Strava, they will ignore poorer areas. This must be fixed by law, not good will.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160520" cy="1234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160520" cy="4572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Transparency is key</a:t>
            </a:r>
          </a:p>
        </p:txBody>
      </p:sp>
      <p:sp>
        <p:nvSpPr>
          <p:cNvPr id="21" name="Text 19"/>
          <p:cNvSpPr/>
          <p:nvPr/>
        </p:nvSpPr>
        <p:spPr>
          <a:xfrm>
            <a:off x="4800600" y="370332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Companies must tell users what they infer. Safety audits for navigation apps should be required before going live.</a:t>
            </a:r>
            <a:endParaRPr lang="en-US" sz="1050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8400A84C-F4A4-47DA-624F-98DA6A6158D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228600" y="1600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D163B5-30F7-6BF1-718A-5DE16CFDBE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DB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i="0" u="none" strike="noStrike" kern="120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1989</Words>
  <Application>Microsoft Office PowerPoint</Application>
  <PresentationFormat>On-screen Show (16:9)</PresentationFormat>
  <Paragraphs>246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Location Data: Ethics &amp; Governance</dc:title>
  <dc:subject/>
  <dc:creator>Prayas Sharma</dc:creator>
  <cp:lastModifiedBy>Prayas Sharma</cp:lastModifiedBy>
  <cp:revision>12</cp:revision>
  <dcterms:created xsi:type="dcterms:W3CDTF">2026-06-27T22:17:31Z</dcterms:created>
  <dcterms:modified xsi:type="dcterms:W3CDTF">2026-06-29T11:43:19Z</dcterms:modified>
</cp:coreProperties>
</file>